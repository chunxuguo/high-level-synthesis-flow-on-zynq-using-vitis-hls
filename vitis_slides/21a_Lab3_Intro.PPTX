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12"/>
  </p:notesMasterIdLst>
  <p:handoutMasterIdLst>
    <p:handoutMasterId r:id="rId13"/>
  </p:handoutMasterIdLst>
  <p:sldIdLst>
    <p:sldId id="1052" r:id="rId5"/>
    <p:sldId id="960" r:id="rId6"/>
    <p:sldId id="961" r:id="rId7"/>
    <p:sldId id="962" r:id="rId8"/>
    <p:sldId id="963" r:id="rId9"/>
    <p:sldId id="911" r:id="rId10"/>
    <p:sldId id="3731" r:id="rId11"/>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18"/>
    <p:restoredTop sz="94694"/>
  </p:normalViewPr>
  <p:slideViewPr>
    <p:cSldViewPr snapToGrid="0">
      <p:cViewPr varScale="1">
        <p:scale>
          <a:sx n="70" d="100"/>
          <a:sy n="70" d="100"/>
        </p:scale>
        <p:origin x="82" y="293"/>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4/14/2022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4/14/2022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
        <p:nvSpPr>
          <p:cNvPr id="7" name="Slide Number Placeholder 7">
            <a:extLst>
              <a:ext uri="{FF2B5EF4-FFF2-40B4-BE49-F238E27FC236}">
                <a16:creationId xmlns:a16="http://schemas.microsoft.com/office/drawing/2014/main" id="{76736C50-46B6-4372-BA8B-233455F56C5A}"/>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Slide Number Placeholder 7">
            <a:extLst>
              <a:ext uri="{FF2B5EF4-FFF2-40B4-BE49-F238E27FC236}">
                <a16:creationId xmlns:a16="http://schemas.microsoft.com/office/drawing/2014/main" id="{789D404A-C791-4B27-B942-E49E403CF89F}"/>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Slide Number Placeholder 7">
            <a:extLst>
              <a:ext uri="{FF2B5EF4-FFF2-40B4-BE49-F238E27FC236}">
                <a16:creationId xmlns:a16="http://schemas.microsoft.com/office/drawing/2014/main" id="{821B4DFC-EDE2-4B21-AB06-8AECBF1DEBC9}"/>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Slide Number Placeholder 7">
            <a:extLst>
              <a:ext uri="{FF2B5EF4-FFF2-40B4-BE49-F238E27FC236}">
                <a16:creationId xmlns:a16="http://schemas.microsoft.com/office/drawing/2014/main" id="{08CD7C78-F48E-4B52-A34C-C9AE120BDBF6}"/>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a:xfrm>
            <a:off x="579121" y="6325606"/>
            <a:ext cx="975360" cy="365125"/>
          </a:xfrm>
          <a:prstGeom prst="rect">
            <a:avLst/>
          </a:prstGeom>
        </p:spPr>
        <p:txBody>
          <a:bodyPr/>
          <a:lstStyle/>
          <a:p>
            <a:pPr>
              <a:defRPr/>
            </a:pPr>
            <a:r>
              <a:rPr lang="en-US"/>
              <a:t>Lab3 Intro 21a-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956692179"/>
      </p:ext>
    </p:extLst>
  </p:cSld>
  <p:clrMapOvr>
    <a:masterClrMapping/>
  </p:clrMapOvr>
  <p:hf hd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2"/>
          <a:stretch>
            <a:fillRect/>
          </a:stretch>
        </p:blipFill>
        <p:spPr>
          <a:xfrm>
            <a:off x="11028823" y="6279370"/>
            <a:ext cx="576531" cy="357077"/>
          </a:xfrm>
          <a:prstGeom prst="rect">
            <a:avLst/>
          </a:prstGeom>
        </p:spPr>
      </p:pic>
      <p:sp>
        <p:nvSpPr>
          <p:cNvPr id="8" name="fc" descr="&#10;© Copyright 2022 AMD">
            <a:extLst>
              <a:ext uri="{FF2B5EF4-FFF2-40B4-BE49-F238E27FC236}">
                <a16:creationId xmlns:a16="http://schemas.microsoft.com/office/drawing/2014/main" id="{F142A9D2-5F55-470C-8197-83991E4D674D}"/>
              </a:ext>
            </a:extLst>
          </p:cNvPr>
          <p:cNvSpPr txBox="1"/>
          <p:nvPr userDrawn="1"/>
        </p:nvSpPr>
        <p:spPr>
          <a:xfrm>
            <a:off x="0" y="6512560"/>
            <a:ext cx="12192000" cy="230832"/>
          </a:xfrm>
          <a:prstGeom prst="rect">
            <a:avLst/>
          </a:prstGeom>
          <a:noFill/>
        </p:spPr>
        <p:txBody>
          <a:bodyPr vert="horz" rtlCol="0">
            <a:spAutoFit/>
          </a:bodyPr>
          <a:lstStyle/>
          <a:p>
            <a:pPr algn="ctr"/>
            <a:r>
              <a:rPr lang="en-US" sz="900" b="0" i="0" u="none" strike="noStrike" kern="1200" baseline="0" dirty="0">
                <a:solidFill>
                  <a:schemeClr val="tx1"/>
                </a:solidFill>
                <a:latin typeface="+mn-lt"/>
                <a:ea typeface="+mn-ea"/>
                <a:cs typeface="+mn-cs"/>
              </a:rPr>
              <a:t>©2022 Advanced Micro Devices, Inc.</a:t>
            </a:r>
            <a:endParaRPr lang="en-US" sz="850" b="0" i="0" u="none" baseline="0" dirty="0">
              <a:solidFill>
                <a:srgbClr val="000000"/>
              </a:solidFill>
              <a:latin typeface="Microsoft Sans Serif" panose="020B0604020202020204" pitchFamily="34" charset="0"/>
            </a:endParaRPr>
          </a:p>
        </p:txBody>
      </p:sp>
      <p:sp>
        <p:nvSpPr>
          <p:cNvPr id="9" name="Slide Number Placeholder 7">
            <a:extLst>
              <a:ext uri="{FF2B5EF4-FFF2-40B4-BE49-F238E27FC236}">
                <a16:creationId xmlns:a16="http://schemas.microsoft.com/office/drawing/2014/main" id="{C183EEDF-FFF5-493D-BA14-431A82673147}"/>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Lab3 Intro</a:t>
            </a:r>
            <a:br>
              <a:rPr lang="en-US" altLang="zh-CN" dirty="0">
                <a:ea typeface="SimSun" pitchFamily="2" charset="-122"/>
              </a:rPr>
            </a:br>
            <a:r>
              <a:rPr lang="en-US" altLang="zh-CN" dirty="0">
                <a:ea typeface="SimSun" pitchFamily="2" charset="-122"/>
              </a:rPr>
              <a:t>Improving Area and Resources</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endParaRPr lang="en-US" dirty="0"/>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lab, you will be able to:</a:t>
            </a:r>
          </a:p>
          <a:p>
            <a:pPr>
              <a:lnSpc>
                <a:spcPts val="1000"/>
              </a:lnSpc>
              <a:buNone/>
            </a:pPr>
            <a:endParaRPr lang="en-US" altLang="zh-CN" dirty="0">
              <a:solidFill>
                <a:schemeClr val="tx1"/>
              </a:solidFill>
            </a:endParaRPr>
          </a:p>
          <a:p>
            <a:pPr lvl="1"/>
            <a:r>
              <a:rPr lang="en-US" dirty="0"/>
              <a:t>Manage BRAM and DSP48 resource utilization</a:t>
            </a:r>
          </a:p>
          <a:p>
            <a:pPr lvl="1"/>
            <a:r>
              <a:rPr lang="en-US" dirty="0"/>
              <a:t>Improve memory bandwidth</a:t>
            </a:r>
          </a:p>
          <a:p>
            <a:pPr lvl="1"/>
            <a:r>
              <a:rPr lang="en-US" dirty="0"/>
              <a:t>Balance resource utilization and performance</a:t>
            </a:r>
          </a:p>
          <a:p>
            <a:pPr lvl="1"/>
            <a:r>
              <a:rPr lang="en-US" dirty="0"/>
              <a:t>Distinguish between DATAFLOW directive and Configuration Command functionality</a:t>
            </a:r>
          </a:p>
        </p:txBody>
      </p:sp>
      <p:sp>
        <p:nvSpPr>
          <p:cNvPr id="8" name="Slide Number Placeholder 7"/>
          <p:cNvSpPr>
            <a:spLocks noGrp="1"/>
          </p:cNvSpPr>
          <p:nvPr>
            <p:ph type="sldNum" sz="quarter" idx="4"/>
          </p:nvPr>
        </p:nvSpPr>
        <p:spPr/>
        <p:txBody>
          <a:bodyPr/>
          <a:lstStyle/>
          <a:p>
            <a:pPr>
              <a:defRPr/>
            </a:pPr>
            <a:r>
              <a:rPr lang="en-US" dirty="0"/>
              <a:t>Lab3 Intro 21a- </a:t>
            </a:r>
            <a:fld id="{060BD193-E118-4B16-863C-C8C12C675E3E}" type="slidenum">
              <a:rPr lang="en-US" smtClean="0"/>
              <a:pPr>
                <a:defRPr/>
              </a:pPr>
              <a:t>2</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Design</a:t>
            </a:r>
          </a:p>
        </p:txBody>
      </p:sp>
      <p:sp>
        <p:nvSpPr>
          <p:cNvPr id="3" name="Content Placeholder 2"/>
          <p:cNvSpPr>
            <a:spLocks noGrp="1"/>
          </p:cNvSpPr>
          <p:nvPr>
            <p:ph idx="1"/>
          </p:nvPr>
        </p:nvSpPr>
        <p:spPr/>
        <p:txBody>
          <a:bodyPr>
            <a:normAutofit/>
          </a:bodyPr>
          <a:lstStyle/>
          <a:p>
            <a:r>
              <a:rPr lang="en-US" sz="1800" dirty="0"/>
              <a:t>The design under consideration is a Discrete Cosine Transformation (DCT) function on a 8x8 block of data</a:t>
            </a:r>
          </a:p>
          <a:p>
            <a:pPr lvl="1"/>
            <a:r>
              <a:rPr lang="en-US" sz="1600" dirty="0"/>
              <a:t>The top-level function </a:t>
            </a:r>
            <a:r>
              <a:rPr lang="en-US" sz="1600" dirty="0" err="1"/>
              <a:t>dct</a:t>
            </a:r>
            <a:r>
              <a:rPr lang="en-US" sz="1600" dirty="0"/>
              <a:t> implements 2D DCT algorithm </a:t>
            </a:r>
            <a:br>
              <a:rPr lang="en-US" sz="1600" dirty="0"/>
            </a:br>
            <a:r>
              <a:rPr lang="en-US" sz="1600" dirty="0"/>
              <a:t>by first processing each row of the input array via a 1D</a:t>
            </a:r>
            <a:br>
              <a:rPr lang="en-US" sz="1600" dirty="0"/>
            </a:br>
            <a:r>
              <a:rPr lang="en-US" sz="1600" dirty="0"/>
              <a:t>DCT then processing the columns of the resulting array</a:t>
            </a:r>
            <a:br>
              <a:rPr lang="en-US" sz="1600" dirty="0"/>
            </a:br>
            <a:r>
              <a:rPr lang="en-US" sz="1600" dirty="0"/>
              <a:t>through the same 1D DCT.  It calls </a:t>
            </a:r>
            <a:r>
              <a:rPr lang="en-US" sz="1600" dirty="0" err="1"/>
              <a:t>read_data</a:t>
            </a:r>
            <a:r>
              <a:rPr lang="en-US" sz="1600" dirty="0"/>
              <a:t>, dct_2d, </a:t>
            </a:r>
            <a:br>
              <a:rPr lang="en-US" sz="1600" dirty="0"/>
            </a:br>
            <a:r>
              <a:rPr lang="en-US" sz="1600" dirty="0"/>
              <a:t>and </a:t>
            </a:r>
            <a:r>
              <a:rPr lang="en-US" sz="1600" dirty="0" err="1"/>
              <a:t>write_data</a:t>
            </a:r>
            <a:r>
              <a:rPr lang="en-US" sz="1600" dirty="0"/>
              <a:t> functions. </a:t>
            </a:r>
          </a:p>
          <a:p>
            <a:pPr lvl="1"/>
            <a:r>
              <a:rPr lang="en-US" sz="1600" dirty="0"/>
              <a:t>The </a:t>
            </a:r>
            <a:r>
              <a:rPr lang="en-US" sz="1600" dirty="0" err="1"/>
              <a:t>read_data</a:t>
            </a:r>
            <a:r>
              <a:rPr lang="en-US" sz="1600" dirty="0"/>
              <a:t> function consists of two loops – </a:t>
            </a:r>
            <a:br>
              <a:rPr lang="en-US" sz="1600" dirty="0"/>
            </a:br>
            <a:r>
              <a:rPr lang="en-US" sz="1600" dirty="0" err="1"/>
              <a:t>RD_Loop_Row</a:t>
            </a:r>
            <a:r>
              <a:rPr lang="en-US" sz="1600" dirty="0"/>
              <a:t> and </a:t>
            </a:r>
            <a:r>
              <a:rPr lang="en-US" sz="1600" dirty="0" err="1"/>
              <a:t>RD_Loop_Col</a:t>
            </a:r>
            <a:r>
              <a:rPr lang="en-US" sz="1600" dirty="0"/>
              <a:t>. </a:t>
            </a:r>
          </a:p>
          <a:p>
            <a:pPr lvl="1"/>
            <a:r>
              <a:rPr lang="en-US" sz="1600" dirty="0"/>
              <a:t>The </a:t>
            </a:r>
            <a:r>
              <a:rPr lang="en-US" sz="1600" dirty="0" err="1"/>
              <a:t>write_data</a:t>
            </a:r>
            <a:r>
              <a:rPr lang="en-US" sz="1600" dirty="0"/>
              <a:t> function is defined consists of two loops</a:t>
            </a:r>
            <a:br>
              <a:rPr lang="en-US" sz="1600" dirty="0"/>
            </a:br>
            <a:r>
              <a:rPr lang="en-US" sz="1600" dirty="0"/>
              <a:t>to perform writing the result.  </a:t>
            </a:r>
            <a:endParaRPr lang="en-US" dirty="0"/>
          </a:p>
          <a:p>
            <a:endParaRPr lang="en-US" dirty="0"/>
          </a:p>
        </p:txBody>
      </p:sp>
      <p:sp>
        <p:nvSpPr>
          <p:cNvPr id="8" name="Slide Number Placeholder 7"/>
          <p:cNvSpPr>
            <a:spLocks noGrp="1"/>
          </p:cNvSpPr>
          <p:nvPr>
            <p:ph type="sldNum" sz="quarter" idx="4"/>
          </p:nvPr>
        </p:nvSpPr>
        <p:spPr>
          <a:prstGeom prst="rect">
            <a:avLst/>
          </a:prstGeom>
        </p:spPr>
        <p:txBody>
          <a:bodyPr/>
          <a:lstStyle/>
          <a:p>
            <a:r>
              <a:rPr lang="en-US" dirty="0"/>
              <a:t>Lab3 Intro 21a- </a:t>
            </a:r>
            <a:fld id="{0E88F696-905B-490D-9D4B-033243675593}" type="slidenum">
              <a:rPr lang="en-US" smtClean="0"/>
              <a:pPr/>
              <a:t>3</a:t>
            </a:fld>
            <a:endParaRPr lang="en-US" dirty="0"/>
          </a:p>
        </p:txBody>
      </p:sp>
      <p:pic>
        <p:nvPicPr>
          <p:cNvPr id="9" name="Picture 8" descr="lab3_5.png"/>
          <p:cNvPicPr/>
          <p:nvPr/>
        </p:nvPicPr>
        <p:blipFill>
          <a:blip r:embed="rId2" cstate="print"/>
          <a:stretch>
            <a:fillRect/>
          </a:stretch>
        </p:blipFill>
        <p:spPr>
          <a:xfrm>
            <a:off x="7697807" y="2037595"/>
            <a:ext cx="4095152" cy="4274305"/>
          </a:xfrm>
          <a:prstGeom prst="rect">
            <a:avLst/>
          </a:prstGeom>
          <a:noFill/>
          <a:ln>
            <a:noFill/>
          </a:ln>
        </p:spPr>
      </p:pic>
      <p:pic>
        <p:nvPicPr>
          <p:cNvPr id="11" name="Picture 10"/>
          <p:cNvPicPr/>
          <p:nvPr/>
        </p:nvPicPr>
        <p:blipFill>
          <a:blip r:embed="rId3" cstate="print"/>
          <a:srcRect/>
          <a:stretch>
            <a:fillRect/>
          </a:stretch>
        </p:blipFill>
        <p:spPr bwMode="auto">
          <a:xfrm>
            <a:off x="3113482" y="4352760"/>
            <a:ext cx="3964547" cy="1733493"/>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Procedure</a:t>
            </a:r>
          </a:p>
        </p:txBody>
      </p:sp>
      <p:sp>
        <p:nvSpPr>
          <p:cNvPr id="24" name="Content Placeholder 23"/>
          <p:cNvSpPr>
            <a:spLocks noGrp="1"/>
          </p:cNvSpPr>
          <p:nvPr>
            <p:ph idx="1"/>
          </p:nvPr>
        </p:nvSpPr>
        <p:spPr/>
        <p:txBody>
          <a:bodyPr>
            <a:normAutofit/>
          </a:bodyPr>
          <a:lstStyle/>
          <a:p>
            <a:r>
              <a:rPr lang="en-US" dirty="0"/>
              <a:t>Compile the design in command mode and perform C-verification</a:t>
            </a:r>
          </a:p>
          <a:p>
            <a:r>
              <a:rPr lang="en-US" dirty="0"/>
              <a:t>Open the project in Vitis HLS GUI, synthesize, and review results</a:t>
            </a:r>
          </a:p>
          <a:p>
            <a:r>
              <a:rPr lang="en-US" dirty="0"/>
              <a:t>Simulate the design</a:t>
            </a:r>
          </a:p>
          <a:p>
            <a:r>
              <a:rPr lang="en-US" dirty="0"/>
              <a:t>Improve performance using pipeline</a:t>
            </a:r>
          </a:p>
          <a:p>
            <a:r>
              <a:rPr lang="en-US" dirty="0"/>
              <a:t>Optimize fine-grained parallelism</a:t>
            </a:r>
          </a:p>
          <a:p>
            <a:r>
              <a:rPr lang="en-US" dirty="0"/>
              <a:t>Improve memory bandwidth</a:t>
            </a:r>
          </a:p>
          <a:p>
            <a:r>
              <a:rPr lang="en-US" dirty="0"/>
              <a:t>Apply DATAFLOW directive to improve performance</a:t>
            </a:r>
          </a:p>
          <a:p>
            <a:r>
              <a:rPr lang="en-US" dirty="0"/>
              <a:t>Apply RESHAPE directive and analyze</a:t>
            </a:r>
          </a:p>
          <a:p>
            <a:endParaRPr lang="en-US" dirty="0"/>
          </a:p>
        </p:txBody>
      </p:sp>
      <p:sp>
        <p:nvSpPr>
          <p:cNvPr id="26" name="Slide Number Placeholder 25"/>
          <p:cNvSpPr>
            <a:spLocks noGrp="1"/>
          </p:cNvSpPr>
          <p:nvPr>
            <p:ph type="sldNum" sz="quarter" idx="4"/>
          </p:nvPr>
        </p:nvSpPr>
        <p:spPr>
          <a:prstGeom prst="rect">
            <a:avLst/>
          </a:prstGeom>
        </p:spPr>
        <p:txBody>
          <a:bodyPr/>
          <a:lstStyle/>
          <a:p>
            <a:r>
              <a:rPr lang="en-US" dirty="0"/>
              <a:t>Lab3 Intro 21a- </a:t>
            </a:r>
            <a:fld id="{0E88F696-905B-490D-9D4B-033243675593}" type="slidenum">
              <a:rPr lang="en-US" smtClean="0"/>
              <a:pPr/>
              <a:t>4</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sz="2000" dirty="0"/>
              <a:t>In this lab, you learned various techniques to improve the performance and balance resource utilization. PIPELINE directive when applied to outer loop will automatically cause the inner loop to unroll. When a loop is unrolled, resources utilization increases as operations are done concurrently.  Partitioning memory may improve performance but will increase BRAM utilization.  When INLINE directive is applied to a function, the lower level hierarchy is automatically dissolved.  When DATAFLOW directive is applied, the default memory buffers (of ping-pong type) are automatically inserted between the top-level functions and loops. The RESHAPE directive will allow multiple accesses to BRAM, however, care should be taken if a single element requires modification as it will result in read-modify-write operation for the entire word. </a:t>
            </a:r>
            <a:r>
              <a:rPr lang="en-US" sz="2000"/>
              <a:t>The console </a:t>
            </a:r>
            <a:r>
              <a:rPr lang="en-US" sz="2000" dirty="0"/>
              <a:t>logs can provide insight on what is going on. </a:t>
            </a:r>
          </a:p>
        </p:txBody>
      </p:sp>
      <p:sp>
        <p:nvSpPr>
          <p:cNvPr id="19" name="Slide Number Placeholder 18"/>
          <p:cNvSpPr>
            <a:spLocks noGrp="1"/>
          </p:cNvSpPr>
          <p:nvPr>
            <p:ph type="sldNum" sz="quarter" idx="4"/>
          </p:nvPr>
        </p:nvSpPr>
        <p:spPr>
          <a:prstGeom prst="rect">
            <a:avLst/>
          </a:prstGeom>
        </p:spPr>
        <p:txBody>
          <a:bodyPr/>
          <a:lstStyle/>
          <a:p>
            <a:r>
              <a:rPr lang="en-US" dirty="0"/>
              <a:t>Lab3 Intro 21a- </a:t>
            </a:r>
            <a:fld id="{0E88F696-905B-490D-9D4B-033243675593}" type="slidenum">
              <a:rPr lang="en-US" smtClean="0"/>
              <a:pPr/>
              <a:t>5</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1547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0253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2.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0</TotalTime>
  <Words>369</Words>
  <Application>Microsoft Office PowerPoint</Application>
  <PresentationFormat>宽屏</PresentationFormat>
  <Paragraphs>28</Paragraphs>
  <Slides>7</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7</vt:i4>
      </vt:variant>
    </vt:vector>
  </HeadingPairs>
  <TitlesOfParts>
    <vt:vector size="12" baseType="lpstr">
      <vt:lpstr>Arial</vt:lpstr>
      <vt:lpstr>Microsoft Sans Serif</vt:lpstr>
      <vt:lpstr>Webdings</vt:lpstr>
      <vt:lpstr>Wingdings 3</vt:lpstr>
      <vt:lpstr>Xilinx-5</vt:lpstr>
      <vt:lpstr>Lab3 Intro Improving Area and Resources</vt:lpstr>
      <vt:lpstr>Objectives</vt:lpstr>
      <vt:lpstr>The Design</vt:lpstr>
      <vt:lpstr>Procedure</vt:lpstr>
      <vt:lpstr>Summary</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2022-04-13T18:34:20Z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cf9ff01a-8e04-4175-a293-3a509756a35d</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