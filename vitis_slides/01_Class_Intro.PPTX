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3"/>
  </p:notesMasterIdLst>
  <p:handoutMasterIdLst>
    <p:handoutMasterId r:id="rId14"/>
  </p:handoutMasterIdLst>
  <p:sldIdLst>
    <p:sldId id="1052" r:id="rId5"/>
    <p:sldId id="939" r:id="rId6"/>
    <p:sldId id="934" r:id="rId7"/>
    <p:sldId id="935" r:id="rId8"/>
    <p:sldId id="937" r:id="rId9"/>
    <p:sldId id="936" r:id="rId10"/>
    <p:sldId id="941" r:id="rId11"/>
    <p:sldId id="1053" r:id="rId12"/>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151" d="100"/>
          <a:sy n="151" d="100"/>
        </p:scale>
        <p:origin x="100" y="124"/>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8"/>
          <p:cNvSpPr>
            <a:spLocks noGrp="1" noRot="1" noChangeAspect="1" noChangeArrowheads="1" noTextEdit="1"/>
          </p:cNvSpPr>
          <p:nvPr>
            <p:ph type="sldImg"/>
          </p:nvPr>
        </p:nvSpPr>
        <p:spPr>
          <a:xfrm>
            <a:off x="236538" y="504825"/>
            <a:ext cx="6843712" cy="3849688"/>
          </a:xfrm>
          <a:ln/>
        </p:spPr>
      </p:sp>
      <p:sp>
        <p:nvSpPr>
          <p:cNvPr id="11267"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35461656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8"/>
          <p:cNvSpPr>
            <a:spLocks noGrp="1" noRot="1" noChangeAspect="1" noChangeArrowheads="1" noTextEdit="1"/>
          </p:cNvSpPr>
          <p:nvPr>
            <p:ph type="sldImg"/>
          </p:nvPr>
        </p:nvSpPr>
        <p:spPr>
          <a:xfrm>
            <a:off x="236538" y="504825"/>
            <a:ext cx="6843712" cy="3849688"/>
          </a:xfrm>
          <a:ln/>
        </p:spPr>
      </p:sp>
      <p:sp>
        <p:nvSpPr>
          <p:cNvPr id="12291"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17824233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8"/>
          <p:cNvSpPr>
            <a:spLocks noGrp="1" noRot="1" noChangeAspect="1" noChangeArrowheads="1" noTextEdit="1"/>
          </p:cNvSpPr>
          <p:nvPr>
            <p:ph type="sldImg"/>
          </p:nvPr>
        </p:nvSpPr>
        <p:spPr>
          <a:xfrm>
            <a:off x="236538" y="504825"/>
            <a:ext cx="6843712" cy="3849688"/>
          </a:xfrm>
          <a:ln/>
        </p:spPr>
      </p:sp>
      <p:sp>
        <p:nvSpPr>
          <p:cNvPr id="13315" name="Rectangle 9"/>
          <p:cNvSpPr>
            <a:spLocks noGrp="1" noChangeArrowheads="1"/>
          </p:cNvSpPr>
          <p:nvPr>
            <p:ph type="body" idx="1"/>
          </p:nvPr>
        </p:nvSpPr>
        <p:spPr>
          <a:xfrm>
            <a:off x="1030289" y="4983165"/>
            <a:ext cx="5241925" cy="3883025"/>
          </a:xfrm>
          <a:noFill/>
          <a:ln/>
        </p:spPr>
        <p:txBody>
          <a:bodyPr lIns="98472" tIns="49237" rIns="98472" bIns="49237"/>
          <a:lstStyle/>
          <a:p>
            <a:endParaRPr lang="en-US" dirty="0"/>
          </a:p>
        </p:txBody>
      </p:sp>
    </p:spTree>
    <p:extLst>
      <p:ext uri="{BB962C8B-B14F-4D97-AF65-F5344CB8AC3E}">
        <p14:creationId xmlns:p14="http://schemas.microsoft.com/office/powerpoint/2010/main" val="213326250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4">
            <a:extLst>
              <a:ext uri="{FF2B5EF4-FFF2-40B4-BE49-F238E27FC236}">
                <a16:creationId xmlns:a16="http://schemas.microsoft.com/office/drawing/2014/main" id="{73800D0F-7330-4AAB-80F1-A5DD666D784A}"/>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4">
            <a:extLst>
              <a:ext uri="{FF2B5EF4-FFF2-40B4-BE49-F238E27FC236}">
                <a16:creationId xmlns:a16="http://schemas.microsoft.com/office/drawing/2014/main" id="{5810DA13-1FEC-4A47-8053-24D913BBA3EF}"/>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4">
            <a:extLst>
              <a:ext uri="{FF2B5EF4-FFF2-40B4-BE49-F238E27FC236}">
                <a16:creationId xmlns:a16="http://schemas.microsoft.com/office/drawing/2014/main" id="{CB35CF91-F63E-4029-A54E-3F06E63D1F01}"/>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4">
            <a:extLst>
              <a:ext uri="{FF2B5EF4-FFF2-40B4-BE49-F238E27FC236}">
                <a16:creationId xmlns:a16="http://schemas.microsoft.com/office/drawing/2014/main" id="{5E629C60-3208-4F54-9E39-3627F24239CB}"/>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8" name="Slide Number Placeholder 4">
            <a:extLst>
              <a:ext uri="{FF2B5EF4-FFF2-40B4-BE49-F238E27FC236}">
                <a16:creationId xmlns:a16="http://schemas.microsoft.com/office/drawing/2014/main" id="{6E148E7D-3F76-4B20-9BBA-F265A3556958}"/>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8" name="Slide Number Placeholder 4">
            <a:extLst>
              <a:ext uri="{FF2B5EF4-FFF2-40B4-BE49-F238E27FC236}">
                <a16:creationId xmlns:a16="http://schemas.microsoft.com/office/drawing/2014/main" id="{A6EAAEA5-8C48-420D-AFF7-883B9D1B37F5}"/>
              </a:ext>
            </a:extLst>
          </p:cNvPr>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2022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1713200" cy="365125"/>
          </a:xfrm>
          <a:prstGeom prst="rect">
            <a:avLst/>
          </a:prstGeom>
        </p:spPr>
        <p:txBody>
          <a:bodyPr vert="horz" lIns="91440" tIns="45720" rIns="91440" bIns="45720" rtlCol="0" anchor="ctr"/>
          <a:lstStyle>
            <a:lvl1pPr marL="0" indent="0" algn="l">
              <a:buFont typeface="Arial" panose="020B0604020202020204" pitchFamily="34" charset="0"/>
              <a:buNone/>
              <a:defRPr sz="1200" b="0">
                <a:solidFill>
                  <a:schemeClr val="tx1"/>
                </a:solidFill>
              </a:defRPr>
            </a:lvl1pPr>
          </a:lstStyle>
          <a:p>
            <a:r>
              <a:rPr lang="en-US" dirty="0"/>
              <a:t>Course Intro 01- </a:t>
            </a:r>
            <a:fld id="{060BD193-E118-4B16-863C-C8C12C675E3E}" type="slidenum">
              <a:rPr lang="en-US" smtClean="0"/>
              <a:pPr/>
              <a:t>‹#›</a:t>
            </a:fld>
            <a:endParaRPr lang="en-US" dirty="0"/>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1"/>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843C25D3-8609-4518-B637-F0B7114E85EA}"/>
              </a:ext>
            </a:extLst>
          </p:cNvPr>
          <p:cNvSpPr txBox="1"/>
          <p:nvPr userDrawn="1"/>
        </p:nvSpPr>
        <p:spPr>
          <a:xfrm>
            <a:off x="0" y="6512560"/>
            <a:ext cx="12192000" cy="246221"/>
          </a:xfrm>
          <a:prstGeom prst="rect">
            <a:avLst/>
          </a:prstGeom>
          <a:noFill/>
        </p:spPr>
        <p:txBody>
          <a:bodyPr vert="horz" rtlCol="0">
            <a:spAutoFit/>
          </a:bodyPr>
          <a:lstStyle/>
          <a:p>
            <a:pPr algn="ctr"/>
            <a:r>
              <a:rPr lang="en-US" sz="1000" b="0" i="0" u="none" strike="noStrike" kern="1200" baseline="0" dirty="0">
                <a:solidFill>
                  <a:schemeClr val="tx1"/>
                </a:solidFill>
                <a:latin typeface="+mn-lt"/>
                <a:ea typeface="+mn-ea"/>
                <a:cs typeface="+mn-cs"/>
              </a:rPr>
              <a:t>©2022 Advanced Micro Devices, Inc.</a:t>
            </a:r>
            <a:endParaRPr lang="en-US" sz="1000" b="0" i="0" u="none" baseline="0" dirty="0">
              <a:solidFill>
                <a:srgbClr val="000000"/>
              </a:solidFill>
              <a:latin typeface="Arial" panose="020B0604020202020204" pitchFamily="34" charset="0"/>
            </a:endParaRP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a:xfrm>
            <a:off x="579121" y="2700534"/>
            <a:ext cx="10263050" cy="975360"/>
          </a:xfrm>
        </p:spPr>
        <p:txBody>
          <a:bodyPr/>
          <a:lstStyle/>
          <a:p>
            <a:r>
              <a:rPr lang="en-US" altLang="zh-CN" dirty="0"/>
              <a:t>High-Level Synthesis using </a:t>
            </a:r>
            <a:r>
              <a:rPr lang="en-US" altLang="zh-CN" dirty="0" err="1"/>
              <a:t>Vitis</a:t>
            </a:r>
            <a:r>
              <a:rPr lang="en-US" altLang="zh-CN" dirty="0"/>
              <a:t> HLS</a:t>
            </a:r>
            <a:br>
              <a:rPr lang="en-US" altLang="zh-CN" dirty="0"/>
            </a:br>
            <a:r>
              <a:rPr lang="en-US" altLang="zh-CN" dirty="0"/>
              <a:t>2021.2</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Course Objectives</a:t>
            </a:r>
          </a:p>
        </p:txBody>
      </p:sp>
      <p:sp>
        <p:nvSpPr>
          <p:cNvPr id="2" name="Content Placeholder 1"/>
          <p:cNvSpPr>
            <a:spLocks noGrp="1"/>
          </p:cNvSpPr>
          <p:nvPr>
            <p:ph idx="1"/>
          </p:nvPr>
        </p:nvSpPr>
        <p:spPr/>
        <p:txBody>
          <a:bodyPr/>
          <a:lstStyle/>
          <a:p>
            <a:r>
              <a:rPr lang="en-US" altLang="zh-CN" dirty="0">
                <a:solidFill>
                  <a:schemeClr val="tx1"/>
                </a:solidFill>
                <a:cs typeface="Arial" pitchFamily="34" charset="0"/>
              </a:rPr>
              <a:t>After completing this course, you will be able to:</a:t>
            </a:r>
          </a:p>
          <a:p>
            <a:pPr lvl="1"/>
            <a:r>
              <a:rPr lang="en-US" dirty="0"/>
              <a:t>Describe the high level synthesis flow</a:t>
            </a:r>
          </a:p>
          <a:p>
            <a:pPr lvl="1"/>
            <a:r>
              <a:rPr lang="en-US" dirty="0"/>
              <a:t>Understand the control and </a:t>
            </a:r>
            <a:r>
              <a:rPr lang="en-US" dirty="0" err="1"/>
              <a:t>datapath</a:t>
            </a:r>
            <a:r>
              <a:rPr lang="en-US" dirty="0"/>
              <a:t> extraction </a:t>
            </a:r>
          </a:p>
          <a:p>
            <a:pPr lvl="1"/>
            <a:r>
              <a:rPr lang="en-US" dirty="0"/>
              <a:t>Describe scheduling and binding phases of the HLS flow</a:t>
            </a:r>
          </a:p>
          <a:p>
            <a:pPr lvl="1"/>
            <a:r>
              <a:rPr lang="en-US" dirty="0"/>
              <a:t>Identify steps involved in validation and verification flows</a:t>
            </a:r>
          </a:p>
          <a:p>
            <a:pPr lvl="1"/>
            <a:r>
              <a:rPr lang="en-US" dirty="0"/>
              <a:t>State various directives which can be helpful in improving performance and resource utilization</a:t>
            </a:r>
          </a:p>
          <a:p>
            <a:pPr lvl="1"/>
            <a:r>
              <a:rPr lang="en-US" dirty="0"/>
              <a:t>Describe how to use OpenCV functions in the Vitis HLS tool</a:t>
            </a:r>
          </a:p>
          <a:p>
            <a:pPr lvl="1"/>
            <a:r>
              <a:rPr lang="en-US" dirty="0"/>
              <a:t>Perform system-level integration of blocks generated by the Vitis HLS tool</a:t>
            </a:r>
          </a:p>
        </p:txBody>
      </p:sp>
      <p:sp>
        <p:nvSpPr>
          <p:cNvPr id="3" name="Slide Number Placeholder 2">
            <a:extLst>
              <a:ext uri="{FF2B5EF4-FFF2-40B4-BE49-F238E27FC236}">
                <a16:creationId xmlns:a16="http://schemas.microsoft.com/office/drawing/2014/main" id="{CE4E5179-A6D4-426B-A13C-9B7045C6738B}"/>
              </a:ext>
            </a:extLst>
          </p:cNvPr>
          <p:cNvSpPr>
            <a:spLocks noGrp="1"/>
          </p:cNvSpPr>
          <p:nvPr>
            <p:ph type="sldNum" sz="quarter" idx="4"/>
          </p:nvPr>
        </p:nvSpPr>
        <p:spPr/>
        <p:txBody>
          <a:bodyPr/>
          <a:lstStyle/>
          <a:p>
            <a:r>
              <a:rPr lang="en-US"/>
              <a:t>Course Intro 01- </a:t>
            </a:r>
            <a:fld id="{060BD193-E118-4B16-863C-C8C12C675E3E}" type="slidenum">
              <a:rPr lang="en-US" smtClean="0"/>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Course Outline</a:t>
            </a:r>
            <a:br>
              <a:rPr lang="en-US" dirty="0"/>
            </a:br>
            <a:r>
              <a:rPr lang="en-US" dirty="0"/>
              <a:t>Day 1</a:t>
            </a:r>
          </a:p>
        </p:txBody>
      </p:sp>
      <p:sp>
        <p:nvSpPr>
          <p:cNvPr id="5123" name="Rectangle 3"/>
          <p:cNvSpPr>
            <a:spLocks noGrp="1" noChangeArrowheads="1"/>
          </p:cNvSpPr>
          <p:nvPr>
            <p:ph idx="1"/>
          </p:nvPr>
        </p:nvSpPr>
        <p:spPr/>
        <p:txBody>
          <a:bodyPr/>
          <a:lstStyle/>
          <a:p>
            <a:pPr>
              <a:buFont typeface="Arial" charset="0"/>
              <a:buNone/>
            </a:pPr>
            <a:r>
              <a:rPr lang="en-US" b="1" dirty="0"/>
              <a:t>The course consists of the following modules:</a:t>
            </a:r>
          </a:p>
          <a:p>
            <a:r>
              <a:rPr lang="en-US" dirty="0"/>
              <a:t>Introduction to High-Level Synthesis (HLS)</a:t>
            </a:r>
          </a:p>
          <a:p>
            <a:r>
              <a:rPr lang="en-US" dirty="0"/>
              <a:t>Using Vitis HLS</a:t>
            </a:r>
          </a:p>
          <a:p>
            <a:r>
              <a:rPr lang="en-US" dirty="0"/>
              <a:t>Lab 1: Creating Project and Understanding Reports</a:t>
            </a:r>
          </a:p>
          <a:p>
            <a:r>
              <a:rPr lang="en-US" dirty="0"/>
              <a:t>Improving Performance</a:t>
            </a:r>
          </a:p>
          <a:p>
            <a:r>
              <a:rPr lang="en-US" dirty="0"/>
              <a:t>Lab 2: Optimizing Performance through Pipelining</a:t>
            </a:r>
          </a:p>
          <a:p>
            <a:r>
              <a:rPr lang="en-US" dirty="0"/>
              <a:t>Data Types</a:t>
            </a:r>
          </a:p>
        </p:txBody>
      </p:sp>
      <p:sp>
        <p:nvSpPr>
          <p:cNvPr id="3" name="Slide Number Placeholder 2">
            <a:extLst>
              <a:ext uri="{FF2B5EF4-FFF2-40B4-BE49-F238E27FC236}">
                <a16:creationId xmlns:a16="http://schemas.microsoft.com/office/drawing/2014/main" id="{78B1C6E2-444B-44EF-A35E-E5DD893AC247}"/>
              </a:ext>
            </a:extLst>
          </p:cNvPr>
          <p:cNvSpPr>
            <a:spLocks noGrp="1"/>
          </p:cNvSpPr>
          <p:nvPr>
            <p:ph type="sldNum" sz="quarter" idx="4"/>
          </p:nvPr>
        </p:nvSpPr>
        <p:spPr/>
        <p:txBody>
          <a:bodyPr/>
          <a:lstStyle/>
          <a:p>
            <a:r>
              <a:rPr lang="en-US"/>
              <a:t>Course Intro 01- </a:t>
            </a:r>
            <a:fld id="{060BD193-E118-4B16-863C-C8C12C675E3E}" type="slidenum">
              <a:rPr lang="en-US" smtClean="0"/>
              <a:pPr/>
              <a:t>3</a:t>
            </a:fld>
            <a:endParaRPr lang="en-US" dirty="0"/>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Course Outline </a:t>
            </a:r>
            <a:br>
              <a:rPr lang="en-US" dirty="0"/>
            </a:br>
            <a:r>
              <a:rPr lang="en-US" dirty="0"/>
              <a:t>Day 2</a:t>
            </a:r>
          </a:p>
        </p:txBody>
      </p:sp>
      <p:sp>
        <p:nvSpPr>
          <p:cNvPr id="6147" name="Rectangle 3"/>
          <p:cNvSpPr>
            <a:spLocks noGrp="1" noChangeArrowheads="1"/>
          </p:cNvSpPr>
          <p:nvPr>
            <p:ph idx="1"/>
          </p:nvPr>
        </p:nvSpPr>
        <p:spPr/>
        <p:txBody>
          <a:bodyPr/>
          <a:lstStyle/>
          <a:p>
            <a:r>
              <a:rPr lang="en-US" dirty="0"/>
              <a:t>Improving Area and Resources Utilization</a:t>
            </a:r>
          </a:p>
          <a:p>
            <a:r>
              <a:rPr lang="en-US" dirty="0"/>
              <a:t>Lab 3: Improving Area and Resources Utilization</a:t>
            </a:r>
          </a:p>
          <a:p>
            <a:r>
              <a:rPr lang="en-US" dirty="0"/>
              <a:t>Handling Block- and Ports- Level Protocols</a:t>
            </a:r>
          </a:p>
          <a:p>
            <a:r>
              <a:rPr lang="en-US" dirty="0"/>
              <a:t>Coding Considerations</a:t>
            </a:r>
          </a:p>
          <a:p>
            <a:r>
              <a:rPr lang="en-US" dirty="0"/>
              <a:t>Creating a Processor System</a:t>
            </a:r>
          </a:p>
          <a:p>
            <a:r>
              <a:rPr lang="en-US" dirty="0"/>
              <a:t>Lab 4: Creating a Processor System to filter Audio Signal</a:t>
            </a:r>
          </a:p>
        </p:txBody>
      </p:sp>
      <p:sp>
        <p:nvSpPr>
          <p:cNvPr id="3" name="Slide Number Placeholder 2">
            <a:extLst>
              <a:ext uri="{FF2B5EF4-FFF2-40B4-BE49-F238E27FC236}">
                <a16:creationId xmlns:a16="http://schemas.microsoft.com/office/drawing/2014/main" id="{5B135F8A-2920-4DB5-B98B-21207CC8F23B}"/>
              </a:ext>
            </a:extLst>
          </p:cNvPr>
          <p:cNvSpPr>
            <a:spLocks noGrp="1"/>
          </p:cNvSpPr>
          <p:nvPr>
            <p:ph type="sldNum" sz="quarter" idx="4"/>
          </p:nvPr>
        </p:nvSpPr>
        <p:spPr/>
        <p:txBody>
          <a:bodyPr/>
          <a:lstStyle/>
          <a:p>
            <a:r>
              <a:rPr lang="en-US"/>
              <a:t>Course Intro 01- </a:t>
            </a:r>
            <a:fld id="{060BD193-E118-4B16-863C-C8C12C675E3E}" type="slidenum">
              <a:rPr lang="en-US" smtClean="0"/>
              <a:pPr/>
              <a:t>4</a:t>
            </a:fld>
            <a:endParaRPr lang="en-US" dirty="0"/>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4"/>
          <p:cNvSpPr>
            <a:spLocks noGrp="1" noChangeArrowheads="1"/>
          </p:cNvSpPr>
          <p:nvPr>
            <p:ph type="title"/>
          </p:nvPr>
        </p:nvSpPr>
        <p:spPr/>
        <p:txBody>
          <a:bodyPr/>
          <a:lstStyle/>
          <a:p>
            <a:r>
              <a:rPr lang="en-US" dirty="0"/>
              <a:t>Prerequisites</a:t>
            </a:r>
          </a:p>
        </p:txBody>
      </p:sp>
      <p:sp>
        <p:nvSpPr>
          <p:cNvPr id="7171" name="Rectangle 5"/>
          <p:cNvSpPr>
            <a:spLocks noGrp="1" noChangeArrowheads="1"/>
          </p:cNvSpPr>
          <p:nvPr>
            <p:ph idx="1"/>
          </p:nvPr>
        </p:nvSpPr>
        <p:spPr/>
        <p:txBody>
          <a:bodyPr/>
          <a:lstStyle/>
          <a:p>
            <a:r>
              <a:rPr lang="en-US" dirty="0"/>
              <a:t>Familiarity with the Xilinx Vitis Design Suite tool set</a:t>
            </a:r>
          </a:p>
          <a:p>
            <a:r>
              <a:rPr lang="en-US" dirty="0"/>
              <a:t>Basic C programming</a:t>
            </a:r>
          </a:p>
          <a:p>
            <a:r>
              <a:rPr lang="en-US" dirty="0"/>
              <a:t>Basic understanding of a processor-based system</a:t>
            </a:r>
          </a:p>
        </p:txBody>
      </p:sp>
      <p:sp>
        <p:nvSpPr>
          <p:cNvPr id="3" name="Slide Number Placeholder 2">
            <a:extLst>
              <a:ext uri="{FF2B5EF4-FFF2-40B4-BE49-F238E27FC236}">
                <a16:creationId xmlns:a16="http://schemas.microsoft.com/office/drawing/2014/main" id="{55A23F98-A49D-4903-8B0B-7B2257A66355}"/>
              </a:ext>
            </a:extLst>
          </p:cNvPr>
          <p:cNvSpPr>
            <a:spLocks noGrp="1"/>
          </p:cNvSpPr>
          <p:nvPr>
            <p:ph type="sldNum" sz="quarter" idx="4"/>
          </p:nvPr>
        </p:nvSpPr>
        <p:spPr/>
        <p:txBody>
          <a:bodyPr/>
          <a:lstStyle/>
          <a:p>
            <a:r>
              <a:rPr lang="en-US"/>
              <a:t>Course Intro 01- </a:t>
            </a:r>
            <a:fld id="{060BD193-E118-4B16-863C-C8C12C675E3E}" type="slidenum">
              <a:rPr lang="en-US" smtClean="0"/>
              <a:pPr/>
              <a:t>5</a:t>
            </a:fld>
            <a:endParaRPr lang="en-US" dirty="0"/>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标题 1"/>
          <p:cNvSpPr>
            <a:spLocks noGrp="1"/>
          </p:cNvSpPr>
          <p:nvPr>
            <p:ph type="title"/>
          </p:nvPr>
        </p:nvSpPr>
        <p:spPr/>
        <p:txBody>
          <a:bodyPr/>
          <a:lstStyle/>
          <a:p>
            <a:r>
              <a:rPr lang="en-US" altLang="zh-CN" dirty="0">
                <a:ea typeface="宋体" charset="-122"/>
              </a:rPr>
              <a:t>Platform Support</a:t>
            </a:r>
            <a:endParaRPr lang="zh-CN" altLang="en-US" dirty="0">
              <a:ea typeface="宋体" charset="-122"/>
            </a:endParaRPr>
          </a:p>
        </p:txBody>
      </p:sp>
      <p:sp>
        <p:nvSpPr>
          <p:cNvPr id="8195" name="内容占位符 2"/>
          <p:cNvSpPr>
            <a:spLocks noGrp="1"/>
          </p:cNvSpPr>
          <p:nvPr>
            <p:ph idx="1"/>
          </p:nvPr>
        </p:nvSpPr>
        <p:spPr/>
        <p:txBody>
          <a:bodyPr/>
          <a:lstStyle/>
          <a:p>
            <a:r>
              <a:rPr lang="en-US" altLang="zh-CN" dirty="0">
                <a:solidFill>
                  <a:schemeClr val="tx1"/>
                </a:solidFill>
                <a:ea typeface="宋体" charset="-122"/>
              </a:rPr>
              <a:t>Vitis Design Suite: Vitis HLS 2021.2</a:t>
            </a:r>
          </a:p>
          <a:p>
            <a:r>
              <a:rPr lang="en-US" altLang="zh-CN" dirty="0">
                <a:solidFill>
                  <a:schemeClr val="tx1"/>
                </a:solidFill>
                <a:ea typeface="宋体" charset="-122"/>
              </a:rPr>
              <a:t>Xilinx University board</a:t>
            </a:r>
          </a:p>
          <a:p>
            <a:pPr lvl="1"/>
            <a:r>
              <a:rPr lang="en-US" altLang="zh-CN" dirty="0">
                <a:ea typeface="宋体" charset="-122"/>
              </a:rPr>
              <a:t>PYNQ-Z2, PYNQ-Z1</a:t>
            </a:r>
          </a:p>
          <a:p>
            <a:r>
              <a:rPr lang="en-US" altLang="zh-CN" dirty="0">
                <a:solidFill>
                  <a:schemeClr val="tx1"/>
                </a:solidFill>
                <a:ea typeface="宋体" charset="-122"/>
              </a:rPr>
              <a:t>Supported </a:t>
            </a:r>
            <a:r>
              <a:rPr lang="en-US" altLang="zh-CN">
                <a:solidFill>
                  <a:schemeClr val="tx1"/>
                </a:solidFill>
                <a:ea typeface="宋体" charset="-122"/>
              </a:rPr>
              <a:t>Operating Systems</a:t>
            </a:r>
            <a:endParaRPr lang="en-US" altLang="zh-CN" dirty="0">
              <a:ea typeface="宋体" charset="-122"/>
            </a:endParaRPr>
          </a:p>
          <a:p>
            <a:pPr lvl="1"/>
            <a:r>
              <a:rPr lang="en-US" sz="1800" dirty="0"/>
              <a:t>Windows 10 Professional (64-bit)</a:t>
            </a:r>
          </a:p>
          <a:p>
            <a:pPr lvl="1"/>
            <a:r>
              <a:rPr lang="en-US" altLang="zh-CN" dirty="0">
                <a:ea typeface="宋体" charset="-122"/>
              </a:rPr>
              <a:t>Red Hat Enterprise Linux 7.8, 7.9, 8.1, 8.2, 8.3, 8.4 (64 Bit)</a:t>
            </a:r>
          </a:p>
          <a:p>
            <a:pPr lvl="1"/>
            <a:r>
              <a:rPr lang="en-US" altLang="zh-CN" dirty="0">
                <a:ea typeface="宋体" charset="-122"/>
              </a:rPr>
              <a:t>Cent OS 7.8, 7.9, 8.1, 8.2, 8.3 (64 Bit)</a:t>
            </a:r>
          </a:p>
          <a:p>
            <a:pPr lvl="1"/>
            <a:r>
              <a:rPr lang="en-US" altLang="zh-CN" dirty="0">
                <a:ea typeface="宋体" charset="-122"/>
              </a:rPr>
              <a:t>Ubuntu Linux 18.04.4 LTS, 18.04.5 LTS, 20.04 LTS, 20.04.1 LTS, 20.04.2 LTS (64 Bit)</a:t>
            </a:r>
          </a:p>
          <a:p>
            <a:pPr lvl="1"/>
            <a:r>
              <a:rPr lang="en-US" altLang="zh-CN" dirty="0">
                <a:ea typeface="宋体" charset="-122"/>
              </a:rPr>
              <a:t>Amazon Linux 2 AL2 LTS</a:t>
            </a:r>
          </a:p>
        </p:txBody>
      </p:sp>
      <p:sp>
        <p:nvSpPr>
          <p:cNvPr id="3" name="Slide Number Placeholder 2">
            <a:extLst>
              <a:ext uri="{FF2B5EF4-FFF2-40B4-BE49-F238E27FC236}">
                <a16:creationId xmlns:a16="http://schemas.microsoft.com/office/drawing/2014/main" id="{11497C78-2E0D-40F9-B4CC-DBBB0A956C91}"/>
              </a:ext>
            </a:extLst>
          </p:cNvPr>
          <p:cNvSpPr>
            <a:spLocks noGrp="1"/>
          </p:cNvSpPr>
          <p:nvPr>
            <p:ph type="sldNum" sz="quarter" idx="4"/>
          </p:nvPr>
        </p:nvSpPr>
        <p:spPr/>
        <p:txBody>
          <a:bodyPr/>
          <a:lstStyle/>
          <a:p>
            <a:r>
              <a:rPr lang="en-US"/>
              <a:t>Course Intro 01- </a:t>
            </a:r>
            <a:fld id="{060BD193-E118-4B16-863C-C8C12C675E3E}" type="slidenum">
              <a:rPr lang="en-US" smtClean="0"/>
              <a:pPr/>
              <a:t>6</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7938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289</Words>
  <Application>Microsoft Office PowerPoint</Application>
  <PresentationFormat>Widescreen</PresentationFormat>
  <Paragraphs>44</Paragraphs>
  <Slides>8</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Webdings</vt:lpstr>
      <vt:lpstr>Wingdings 3</vt:lpstr>
      <vt:lpstr>Xilinx-5</vt:lpstr>
      <vt:lpstr>High-Level Synthesis using Vitis HLS 2021.2</vt:lpstr>
      <vt:lpstr>Course Objectives</vt:lpstr>
      <vt:lpstr>Course Outline Day 1</vt:lpstr>
      <vt:lpstr>Course Outline  Day 2</vt:lpstr>
      <vt:lpstr>Prerequisites</vt:lpstr>
      <vt:lpstr>Platform Support</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2022-04-09T00:51:54Z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