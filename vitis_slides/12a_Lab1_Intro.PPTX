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12"/>
  </p:notesMasterIdLst>
  <p:handoutMasterIdLst>
    <p:handoutMasterId r:id="rId13"/>
  </p:handoutMasterIdLst>
  <p:sldIdLst>
    <p:sldId id="1052" r:id="rId5"/>
    <p:sldId id="960" r:id="rId6"/>
    <p:sldId id="961" r:id="rId7"/>
    <p:sldId id="962" r:id="rId8"/>
    <p:sldId id="963" r:id="rId9"/>
    <p:sldId id="911" r:id="rId10"/>
    <p:sldId id="1053" r:id="rId11"/>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8"/>
    <p:restoredTop sz="94694"/>
  </p:normalViewPr>
  <p:slideViewPr>
    <p:cSldViewPr snapToGrid="0">
      <p:cViewPr varScale="1">
        <p:scale>
          <a:sx n="81" d="100"/>
          <a:sy n="81" d="100"/>
        </p:scale>
        <p:origin x="307" y="5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4/14/2022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4/14/2022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
        <p:nvSpPr>
          <p:cNvPr id="7" name="Slide Number Placeholder 7">
            <a:extLst>
              <a:ext uri="{FF2B5EF4-FFF2-40B4-BE49-F238E27FC236}">
                <a16:creationId xmlns:a16="http://schemas.microsoft.com/office/drawing/2014/main" id="{CC8F8C1B-FAD1-48DE-BE6E-930140A63A19}"/>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7">
            <a:extLst>
              <a:ext uri="{FF2B5EF4-FFF2-40B4-BE49-F238E27FC236}">
                <a16:creationId xmlns:a16="http://schemas.microsoft.com/office/drawing/2014/main" id="{6AA16EBC-C3C7-46ED-898B-F122228B6C6B}"/>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Slide Number Placeholder 7">
            <a:extLst>
              <a:ext uri="{FF2B5EF4-FFF2-40B4-BE49-F238E27FC236}">
                <a16:creationId xmlns:a16="http://schemas.microsoft.com/office/drawing/2014/main" id="{E9631264-129C-4831-9195-87D91E42E374}"/>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Slide Number Placeholder 7">
            <a:extLst>
              <a:ext uri="{FF2B5EF4-FFF2-40B4-BE49-F238E27FC236}">
                <a16:creationId xmlns:a16="http://schemas.microsoft.com/office/drawing/2014/main" id="{4D212AB8-3722-4BD0-BD38-BCB7177B6AD1}"/>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579121" y="6325606"/>
            <a:ext cx="975360" cy="365125"/>
          </a:xfrm>
          <a:prstGeom prst="rect">
            <a:avLst/>
          </a:prstGeom>
        </p:spPr>
        <p:txBody>
          <a:bodyPr/>
          <a:lstStyle/>
          <a:p>
            <a:pPr>
              <a:defRPr/>
            </a:pPr>
            <a:r>
              <a:rPr lang="en-US"/>
              <a:t>Lab1 Intro 12a-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7652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2"/>
          <a:stretch>
            <a:fillRect/>
          </a:stretch>
        </p:blipFill>
        <p:spPr>
          <a:xfrm>
            <a:off x="11028823" y="6279370"/>
            <a:ext cx="576531" cy="357077"/>
          </a:xfrm>
          <a:prstGeom prst="rect">
            <a:avLst/>
          </a:prstGeom>
        </p:spPr>
      </p:pic>
      <p:sp>
        <p:nvSpPr>
          <p:cNvPr id="9" name="Slide Number Placeholder 7">
            <a:extLst>
              <a:ext uri="{FF2B5EF4-FFF2-40B4-BE49-F238E27FC236}">
                <a16:creationId xmlns:a16="http://schemas.microsoft.com/office/drawing/2014/main" id="{54478BED-A7DB-42BB-9907-0B669586DBCC}"/>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
        <p:nvSpPr>
          <p:cNvPr id="10" name="fc" descr="&#10;© Copyright 2022 AMD">
            <a:extLst>
              <a:ext uri="{FF2B5EF4-FFF2-40B4-BE49-F238E27FC236}">
                <a16:creationId xmlns:a16="http://schemas.microsoft.com/office/drawing/2014/main" id="{26C31B43-A645-4752-93C3-2054B000BDD5}"/>
              </a:ext>
            </a:extLst>
          </p:cNvPr>
          <p:cNvSpPr txBox="1"/>
          <p:nvPr userDrawn="1"/>
        </p:nvSpPr>
        <p:spPr>
          <a:xfrm>
            <a:off x="0" y="6512560"/>
            <a:ext cx="12192000" cy="230832"/>
          </a:xfrm>
          <a:prstGeom prst="rect">
            <a:avLst/>
          </a:prstGeom>
          <a:noFill/>
        </p:spPr>
        <p:txBody>
          <a:bodyPr vert="horz" rtlCol="0">
            <a:spAutoFit/>
          </a:bodyPr>
          <a:lstStyle/>
          <a:p>
            <a:pPr algn="ctr"/>
            <a:r>
              <a:rPr lang="en-US" sz="900" b="0" i="0" u="none" strike="noStrike" kern="1200" baseline="0" dirty="0">
                <a:solidFill>
                  <a:schemeClr val="tx1"/>
                </a:solidFill>
                <a:latin typeface="+mn-lt"/>
                <a:ea typeface="+mn-ea"/>
                <a:cs typeface="+mn-cs"/>
              </a:rPr>
              <a:t>©2022 Advanced Micro Devices, Inc.</a:t>
            </a:r>
            <a:endParaRPr lang="en-US" sz="850" b="0" i="0" u="none" baseline="0" dirty="0">
              <a:solidFill>
                <a:srgbClr val="000000"/>
              </a:solidFill>
              <a:latin typeface="Microsoft Sans Serif" panose="020B0604020202020204" pitchFamily="34" charset="0"/>
            </a:endParaRPr>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Lab1 Intro</a:t>
            </a:r>
            <a:br>
              <a:rPr lang="en-US" altLang="zh-CN" dirty="0">
                <a:ea typeface="SimSun" pitchFamily="2" charset="-122"/>
              </a:rPr>
            </a:br>
            <a:r>
              <a:rPr lang="en-US" altLang="zh-CN" dirty="0">
                <a:ea typeface="SimSun" pitchFamily="2" charset="-122"/>
              </a:rPr>
              <a:t>Vitis HLS Design Flow</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endParaRPr lang="en-US" dirty="0"/>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lab, you will be able to:</a:t>
            </a:r>
          </a:p>
          <a:p>
            <a:pPr>
              <a:lnSpc>
                <a:spcPts val="1000"/>
              </a:lnSpc>
              <a:buNone/>
            </a:pPr>
            <a:endParaRPr lang="en-US" altLang="zh-CN" dirty="0">
              <a:solidFill>
                <a:schemeClr val="tx1"/>
              </a:solidFill>
            </a:endParaRPr>
          </a:p>
          <a:p>
            <a:pPr lvl="1"/>
            <a:r>
              <a:rPr lang="en-US" dirty="0"/>
              <a:t>Create a project in Vi</a:t>
            </a:r>
            <a:r>
              <a:rPr lang="en-US" altLang="zh-CN" dirty="0"/>
              <a:t>tis</a:t>
            </a:r>
            <a:r>
              <a:rPr lang="en-US" dirty="0"/>
              <a:t> HLS</a:t>
            </a:r>
          </a:p>
          <a:p>
            <a:pPr lvl="1"/>
            <a:r>
              <a:rPr lang="en-US" dirty="0"/>
              <a:t>Run C-simulation </a:t>
            </a:r>
          </a:p>
          <a:p>
            <a:pPr lvl="1"/>
            <a:r>
              <a:rPr lang="en-US" dirty="0"/>
              <a:t>Use debugger</a:t>
            </a:r>
          </a:p>
          <a:p>
            <a:pPr lvl="1"/>
            <a:r>
              <a:rPr lang="en-US" dirty="0"/>
              <a:t>Synthesize and implement the design using the default options</a:t>
            </a:r>
          </a:p>
          <a:p>
            <a:pPr lvl="1"/>
            <a:r>
              <a:rPr lang="en-US" dirty="0"/>
              <a:t>Use design analysis perspective to see what is going on under the hood</a:t>
            </a:r>
          </a:p>
          <a:p>
            <a:pPr lvl="1"/>
            <a:r>
              <a:rPr lang="en-US" dirty="0"/>
              <a:t>Understand and analyze the generated output</a:t>
            </a:r>
          </a:p>
        </p:txBody>
      </p:sp>
      <p:sp>
        <p:nvSpPr>
          <p:cNvPr id="3" name="Slide Number Placeholder 2">
            <a:extLst>
              <a:ext uri="{FF2B5EF4-FFF2-40B4-BE49-F238E27FC236}">
                <a16:creationId xmlns:a16="http://schemas.microsoft.com/office/drawing/2014/main" id="{46F2791D-388D-4149-8236-3AF56EB829AB}"/>
              </a:ext>
            </a:extLst>
          </p:cNvPr>
          <p:cNvSpPr>
            <a:spLocks noGrp="1"/>
          </p:cNvSpPr>
          <p:nvPr>
            <p:ph type="sldNum" sz="quarter" idx="4"/>
          </p:nvPr>
        </p:nvSpPr>
        <p:spPr/>
        <p:txBody>
          <a:bodyPr/>
          <a:lstStyle/>
          <a:p>
            <a:r>
              <a:rPr lang="en-US"/>
              <a:t>Lab1 Intro 12a- </a:t>
            </a:r>
            <a:fld id="{0E88F696-905B-490D-9D4B-033243675593}" type="slidenum">
              <a:rPr lang="en-US" smtClean="0"/>
              <a:pPr/>
              <a:t>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Design</a:t>
            </a:r>
          </a:p>
        </p:txBody>
      </p:sp>
      <p:sp>
        <p:nvSpPr>
          <p:cNvPr id="3" name="Content Placeholder 2"/>
          <p:cNvSpPr>
            <a:spLocks noGrp="1"/>
          </p:cNvSpPr>
          <p:nvPr>
            <p:ph idx="1"/>
          </p:nvPr>
        </p:nvSpPr>
        <p:spPr/>
        <p:txBody>
          <a:bodyPr>
            <a:normAutofit/>
          </a:bodyPr>
          <a:lstStyle/>
          <a:p>
            <a:r>
              <a:rPr lang="en-US" sz="2000" dirty="0"/>
              <a:t>This lab uses a simple matrix multiplication example to walk you through the Vitis HLS project creation and analysis steps.  The design consists of three nested loops.  The Product loop is the inner most loop performing the actual elements product.  The Col loop is the outer-loop which feeds next column element data with the passed row element data to the Product loop.  Finally, Row is the outer-most loop.  The res[</a:t>
            </a:r>
            <a:r>
              <a:rPr lang="en-US" sz="2000" dirty="0" err="1"/>
              <a:t>i</a:t>
            </a:r>
            <a:r>
              <a:rPr lang="en-US" sz="2000" dirty="0"/>
              <a:t>][j]=0 (line 79) resets the result every time a new row element is passed and new column element is used</a:t>
            </a:r>
          </a:p>
        </p:txBody>
      </p:sp>
      <p:sp>
        <p:nvSpPr>
          <p:cNvPr id="5" name="Slide Number Placeholder 4">
            <a:extLst>
              <a:ext uri="{FF2B5EF4-FFF2-40B4-BE49-F238E27FC236}">
                <a16:creationId xmlns:a16="http://schemas.microsoft.com/office/drawing/2014/main" id="{57148CC7-BDC1-4C7B-ADFB-73E4A750A34B}"/>
              </a:ext>
            </a:extLst>
          </p:cNvPr>
          <p:cNvSpPr>
            <a:spLocks noGrp="1"/>
          </p:cNvSpPr>
          <p:nvPr>
            <p:ph type="sldNum" sz="quarter" idx="4"/>
          </p:nvPr>
        </p:nvSpPr>
        <p:spPr/>
        <p:txBody>
          <a:bodyPr/>
          <a:lstStyle/>
          <a:p>
            <a:r>
              <a:rPr lang="en-US"/>
              <a:t>Lab1 Intro 12a- </a:t>
            </a:r>
            <a:fld id="{0E88F696-905B-490D-9D4B-033243675593}" type="slidenum">
              <a:rPr lang="en-US" smtClean="0"/>
              <a:pPr/>
              <a:t>3</a:t>
            </a:fld>
            <a:endParaRPr lang="en-US" dirty="0"/>
          </a:p>
        </p:txBody>
      </p:sp>
      <p:pic>
        <p:nvPicPr>
          <p:cNvPr id="4" name="Picture 3">
            <a:extLst>
              <a:ext uri="{FF2B5EF4-FFF2-40B4-BE49-F238E27FC236}">
                <a16:creationId xmlns:a16="http://schemas.microsoft.com/office/drawing/2014/main" id="{382ECE04-48B0-4880-BB75-3D41FCA15650}"/>
              </a:ext>
            </a:extLst>
          </p:cNvPr>
          <p:cNvPicPr>
            <a:picLocks noChangeAspect="1"/>
          </p:cNvPicPr>
          <p:nvPr/>
        </p:nvPicPr>
        <p:blipFill>
          <a:blip r:embed="rId2"/>
          <a:stretch>
            <a:fillRect/>
          </a:stretch>
        </p:blipFill>
        <p:spPr>
          <a:xfrm>
            <a:off x="4016819" y="3602297"/>
            <a:ext cx="4038600" cy="2743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sp>
        <p:nvSpPr>
          <p:cNvPr id="24" name="Content Placeholder 23"/>
          <p:cNvSpPr>
            <a:spLocks noGrp="1"/>
          </p:cNvSpPr>
          <p:nvPr>
            <p:ph idx="1"/>
          </p:nvPr>
        </p:nvSpPr>
        <p:spPr/>
        <p:txBody>
          <a:bodyPr>
            <a:normAutofit fontScale="92500" lnSpcReduction="20000"/>
          </a:bodyPr>
          <a:lstStyle/>
          <a:p>
            <a:r>
              <a:rPr lang="en-US" sz="2200" dirty="0"/>
              <a:t>Create a project after starting Vitis HLS in GUI mode</a:t>
            </a:r>
          </a:p>
          <a:p>
            <a:r>
              <a:rPr lang="en-US" sz="2200" dirty="0"/>
              <a:t>Run C simulation </a:t>
            </a:r>
          </a:p>
          <a:p>
            <a:pPr lvl="1"/>
            <a:r>
              <a:rPr lang="en-US" sz="1900" dirty="0"/>
              <a:t>to understand the design behavior </a:t>
            </a:r>
          </a:p>
          <a:p>
            <a:r>
              <a:rPr lang="en-US" sz="2200" dirty="0"/>
              <a:t>Run the debugger</a:t>
            </a:r>
          </a:p>
          <a:p>
            <a:pPr lvl="1"/>
            <a:r>
              <a:rPr lang="en-US" sz="1900" dirty="0"/>
              <a:t>to see how the top-level module works</a:t>
            </a:r>
          </a:p>
          <a:p>
            <a:r>
              <a:rPr lang="en-US" sz="2200" dirty="0"/>
              <a:t>Synthesize the design </a:t>
            </a:r>
          </a:p>
          <a:p>
            <a:r>
              <a:rPr lang="en-US" sz="2200" dirty="0"/>
              <a:t>Analyze the generated output using the Analysis perspective</a:t>
            </a:r>
          </a:p>
          <a:p>
            <a:r>
              <a:rPr lang="en-US" sz="2200" dirty="0"/>
              <a:t>Run C/RTL </a:t>
            </a:r>
            <a:r>
              <a:rPr lang="en-US" sz="2200" dirty="0" err="1"/>
              <a:t>cosimulation</a:t>
            </a:r>
            <a:endParaRPr lang="en-US" sz="2200" dirty="0"/>
          </a:p>
          <a:p>
            <a:pPr lvl="1"/>
            <a:r>
              <a:rPr lang="en-US" sz="1900" dirty="0"/>
              <a:t>to perform RTL simulation</a:t>
            </a:r>
          </a:p>
          <a:p>
            <a:r>
              <a:rPr lang="en-US" sz="2200" dirty="0"/>
              <a:t>View simulation results in Vitis</a:t>
            </a:r>
          </a:p>
          <a:p>
            <a:pPr lvl="1"/>
            <a:r>
              <a:rPr lang="en-US" sz="1900" dirty="0"/>
              <a:t>to understand the IO protocol</a:t>
            </a:r>
          </a:p>
          <a:p>
            <a:r>
              <a:rPr lang="en-US" sz="2200" dirty="0"/>
              <a:t>Export RTL in the Evaluate mode and run the implementation</a:t>
            </a:r>
          </a:p>
          <a:p>
            <a:endParaRPr lang="en-US" dirty="0"/>
          </a:p>
        </p:txBody>
      </p:sp>
      <p:sp>
        <p:nvSpPr>
          <p:cNvPr id="3" name="Slide Number Placeholder 2">
            <a:extLst>
              <a:ext uri="{FF2B5EF4-FFF2-40B4-BE49-F238E27FC236}">
                <a16:creationId xmlns:a16="http://schemas.microsoft.com/office/drawing/2014/main" id="{1C1AFD59-D4BC-4306-A19A-0A92ECF8E286}"/>
              </a:ext>
            </a:extLst>
          </p:cNvPr>
          <p:cNvSpPr>
            <a:spLocks noGrp="1"/>
          </p:cNvSpPr>
          <p:nvPr>
            <p:ph type="sldNum" sz="quarter" idx="4"/>
          </p:nvPr>
        </p:nvSpPr>
        <p:spPr/>
        <p:txBody>
          <a:bodyPr/>
          <a:lstStyle/>
          <a:p>
            <a:r>
              <a:rPr lang="en-US"/>
              <a:t>Lab1 Intro 12a- </a:t>
            </a:r>
            <a:fld id="{0E88F696-905B-490D-9D4B-033243675593}" type="slidenum">
              <a:rPr lang="en-US" smtClean="0"/>
              <a:pPr/>
              <a:t>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dirty="0"/>
              <a:t>In this lab, you completed the major steps of the high-level synthesis design flow </a:t>
            </a:r>
            <a:r>
              <a:rPr lang="en-US"/>
              <a:t>using Vitis HLS</a:t>
            </a:r>
            <a:r>
              <a:rPr lang="en-US" dirty="0"/>
              <a:t>. You created a project, added source files, synthesized the design, simulated the design, and implemented the design. You also learned that how to use the Analysis perspective to understand the scheduling</a:t>
            </a:r>
          </a:p>
        </p:txBody>
      </p:sp>
      <p:sp>
        <p:nvSpPr>
          <p:cNvPr id="4" name="Slide Number Placeholder 3">
            <a:extLst>
              <a:ext uri="{FF2B5EF4-FFF2-40B4-BE49-F238E27FC236}">
                <a16:creationId xmlns:a16="http://schemas.microsoft.com/office/drawing/2014/main" id="{5D63D41E-FF2C-426F-B3F8-BACEA2C6444C}"/>
              </a:ext>
            </a:extLst>
          </p:cNvPr>
          <p:cNvSpPr>
            <a:spLocks noGrp="1"/>
          </p:cNvSpPr>
          <p:nvPr>
            <p:ph type="sldNum" sz="quarter" idx="4"/>
          </p:nvPr>
        </p:nvSpPr>
        <p:spPr/>
        <p:txBody>
          <a:bodyPr/>
          <a:lstStyle/>
          <a:p>
            <a:r>
              <a:rPr lang="en-US"/>
              <a:t>Lab1 Intro 12a- </a:t>
            </a:r>
            <a:fld id="{0E88F696-905B-490D-9D4B-033243675593}" type="slidenum">
              <a:rPr lang="en-US" smtClean="0"/>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4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25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2.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303</Words>
  <Application>Microsoft Office PowerPoint</Application>
  <PresentationFormat>宽屏</PresentationFormat>
  <Paragraphs>31</Paragraphs>
  <Slides>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Arial</vt:lpstr>
      <vt:lpstr>Microsoft Sans Serif</vt:lpstr>
      <vt:lpstr>Webdings</vt:lpstr>
      <vt:lpstr>Wingdings 3</vt:lpstr>
      <vt:lpstr>Xilinx-5</vt:lpstr>
      <vt:lpstr>Lab1 Intro Vitis HLS Design Flow</vt:lpstr>
      <vt:lpstr>Objectives</vt:lpstr>
      <vt:lpstr>The Design</vt:lpstr>
      <vt:lpstr>Procedure</vt:lpstr>
      <vt:lpstr>Summary</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2022-04-13T18:17:20Z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10c6aecc-de88-47b4-a4ba-2046382b16e8</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