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81" d="100"/>
          <a:sy n="81" d="100"/>
        </p:scale>
        <p:origin x="307" y="4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3/28/2022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3/28/2022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Lab4 Intro 24a-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953161676"/>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7FC7395F-BE89-40F0-8690-16EF048DA23A}"/>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Lab4 Intro</a:t>
            </a:r>
            <a:br>
              <a:rPr lang="en-US" altLang="zh-CN" dirty="0">
                <a:ea typeface="SimSun" pitchFamily="2" charset="-122"/>
              </a:rPr>
            </a:br>
            <a:r>
              <a:rPr lang="en-US" altLang="zh-CN" dirty="0">
                <a:ea typeface="SimSun" pitchFamily="2" charset="-122"/>
              </a:rPr>
              <a:t>Creating a Processor System</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Understand the steps and directives involved in creating an </a:t>
            </a:r>
            <a:r>
              <a:rPr lang="en-US" dirty="0" err="1"/>
              <a:t>s_axilite</a:t>
            </a:r>
            <a:r>
              <a:rPr lang="en-US" dirty="0"/>
              <a:t> IP-XACT hardware accelerator from a synthesized design in Vitis HLS</a:t>
            </a:r>
          </a:p>
          <a:p>
            <a:pPr lvl="1"/>
            <a:r>
              <a:rPr lang="en-US" dirty="0"/>
              <a:t>Create a processor system using IP Integrator in Vivado</a:t>
            </a:r>
          </a:p>
          <a:p>
            <a:pPr lvl="1"/>
            <a:r>
              <a:rPr lang="en-US" dirty="0"/>
              <a:t>Integrate the generated </a:t>
            </a:r>
            <a:r>
              <a:rPr lang="en-US" dirty="0" err="1"/>
              <a:t>s_axilite</a:t>
            </a:r>
            <a:r>
              <a:rPr lang="en-US" dirty="0"/>
              <a:t> IP-XACT hardware accelerator into the created processor system</a:t>
            </a:r>
          </a:p>
        </p:txBody>
      </p:sp>
      <p:sp>
        <p:nvSpPr>
          <p:cNvPr id="8" name="Slide Number Placeholder 7"/>
          <p:cNvSpPr>
            <a:spLocks noGrp="1"/>
          </p:cNvSpPr>
          <p:nvPr>
            <p:ph type="sldNum" sz="quarter" idx="10"/>
          </p:nvPr>
        </p:nvSpPr>
        <p:spPr/>
        <p:txBody>
          <a:bodyPr/>
          <a:lstStyle/>
          <a:p>
            <a:pPr>
              <a:defRPr/>
            </a:pPr>
            <a:r>
              <a:rPr lang="en-US" dirty="0"/>
              <a:t>Lab4 Intro 24a-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GB" dirty="0"/>
              <a:t>The design consists of a FIR filter to filter a 4 KHz tone added to a CD quality (48 KHz) music. This lab requires you to develop a peripheral core of the designed filter that can be instantiated in a processor system.  The processor system will acquire a stereo music using on-board ADAU1761 CODEC chip from </a:t>
            </a:r>
            <a:r>
              <a:rPr lang="en-GB" dirty="0" err="1"/>
              <a:t>Analog</a:t>
            </a:r>
            <a:r>
              <a:rPr lang="en-GB" dirty="0"/>
              <a:t> Devices and I</a:t>
            </a:r>
            <a:r>
              <a:rPr lang="en-GB" baseline="30000" dirty="0"/>
              <a:t>2</a:t>
            </a:r>
            <a:r>
              <a:rPr lang="en-GB" dirty="0"/>
              <a:t>S controller, process (</a:t>
            </a:r>
            <a:r>
              <a:rPr lang="en-GB" dirty="0" err="1"/>
              <a:t>bandstop</a:t>
            </a:r>
            <a:r>
              <a:rPr lang="en-GB" dirty="0"/>
              <a:t> filter) it through the designed filter, and output back to the speaker</a:t>
            </a:r>
          </a:p>
        </p:txBody>
      </p:sp>
      <p:sp>
        <p:nvSpPr>
          <p:cNvPr id="8" name="Slide Number Placeholder 7"/>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fontScale="92500" lnSpcReduction="20000"/>
          </a:bodyPr>
          <a:lstStyle/>
          <a:p>
            <a:r>
              <a:rPr lang="en-US" altLang="zh-CN" dirty="0">
                <a:ea typeface="SimSun" pitchFamily="2" charset="-122"/>
              </a:rPr>
              <a:t>Create a Vitis HLS project for the FIR filter</a:t>
            </a:r>
          </a:p>
          <a:p>
            <a:r>
              <a:rPr lang="en-US" altLang="zh-CN" dirty="0">
                <a:ea typeface="SimSun" pitchFamily="2" charset="-122"/>
              </a:rPr>
              <a:t>Run simulation and verify functionality</a:t>
            </a:r>
          </a:p>
          <a:p>
            <a:r>
              <a:rPr lang="en-US" altLang="zh-CN" dirty="0">
                <a:ea typeface="SimSun" pitchFamily="2" charset="-122"/>
              </a:rPr>
              <a:t>Synthesize the design</a:t>
            </a:r>
          </a:p>
          <a:p>
            <a:r>
              <a:rPr lang="en-US" altLang="zh-CN" dirty="0">
                <a:ea typeface="SimSun" pitchFamily="2" charset="-122"/>
              </a:rPr>
              <a:t>Run RTL/C Co-simulation</a:t>
            </a:r>
          </a:p>
          <a:p>
            <a:r>
              <a:rPr lang="en-US" altLang="zh-CN" dirty="0">
                <a:ea typeface="SimSun" pitchFamily="2" charset="-122"/>
              </a:rPr>
              <a:t>Setup IP-XACT hardware accelerator</a:t>
            </a:r>
          </a:p>
          <a:p>
            <a:r>
              <a:rPr lang="en-US" altLang="zh-CN" dirty="0">
                <a:ea typeface="SimSun" pitchFamily="2" charset="-122"/>
              </a:rPr>
              <a:t>Generate the IP-XACT hardware accelerator</a:t>
            </a:r>
          </a:p>
          <a:p>
            <a:r>
              <a:rPr lang="en-US" altLang="zh-CN" dirty="0">
                <a:ea typeface="SimSun" pitchFamily="2" charset="-122"/>
              </a:rPr>
              <a:t>Create a Vitis project</a:t>
            </a:r>
          </a:p>
          <a:p>
            <a:r>
              <a:rPr lang="en-US" altLang="zh-CN" dirty="0">
                <a:ea typeface="SimSun" pitchFamily="2" charset="-122"/>
              </a:rPr>
              <a:t>Generate </a:t>
            </a:r>
            <a:r>
              <a:rPr lang="en-US" altLang="zh-CN" dirty="0" err="1">
                <a:ea typeface="SimSun" pitchFamily="2" charset="-122"/>
              </a:rPr>
              <a:t>bitstream</a:t>
            </a:r>
            <a:r>
              <a:rPr lang="en-US" altLang="zh-CN" dirty="0">
                <a:ea typeface="SimSun" pitchFamily="2" charset="-122"/>
              </a:rPr>
              <a:t> and export to SDK</a:t>
            </a:r>
          </a:p>
          <a:p>
            <a:r>
              <a:rPr lang="en-US" altLang="zh-CN" dirty="0">
                <a:ea typeface="SimSun" pitchFamily="2" charset="-122"/>
              </a:rPr>
              <a:t>Generate an application</a:t>
            </a:r>
          </a:p>
          <a:p>
            <a:r>
              <a:rPr lang="en-US" altLang="zh-CN" dirty="0">
                <a:ea typeface="SimSun" pitchFamily="2" charset="-122"/>
              </a:rPr>
              <a:t>Verify in hardware</a:t>
            </a:r>
            <a:endParaRPr lang="en-US" dirty="0"/>
          </a:p>
        </p:txBody>
      </p:sp>
      <p:sp>
        <p:nvSpPr>
          <p:cNvPr id="26" name="Slide Number Placeholder 25"/>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added RESOURCE directive to create an </a:t>
            </a:r>
            <a:r>
              <a:rPr lang="en-US" dirty="0" err="1"/>
              <a:t>s_axilite</a:t>
            </a:r>
            <a:r>
              <a:rPr lang="en-US" dirty="0"/>
              <a:t> IP-XACT hardware accelerator.  You generated the </a:t>
            </a:r>
            <a:r>
              <a:rPr lang="en-US" dirty="0" err="1"/>
              <a:t>s_axilite</a:t>
            </a:r>
            <a:r>
              <a:rPr lang="en-US" dirty="0"/>
              <a:t> IP-XACT hardware accelerator. You then created a processor system using IP Integrator, integrated the generated </a:t>
            </a:r>
            <a:r>
              <a:rPr lang="en-US" dirty="0" err="1"/>
              <a:t>ip</a:t>
            </a:r>
            <a:r>
              <a:rPr lang="en-US" dirty="0"/>
              <a:t> core, and tested the system with the provided application</a:t>
            </a:r>
            <a:endParaRPr lang="en-US" sz="1800" dirty="0"/>
          </a:p>
        </p:txBody>
      </p:sp>
      <p:sp>
        <p:nvSpPr>
          <p:cNvPr id="19" name="Slide Number Placeholder 18"/>
          <p:cNvSpPr>
            <a:spLocks noGrp="1"/>
          </p:cNvSpPr>
          <p:nvPr>
            <p:ph type="sldNum" sz="quarter" idx="10"/>
          </p:nvPr>
        </p:nvSpPr>
        <p:spPr>
          <a:prstGeom prst="rect">
            <a:avLst/>
          </a:prstGeom>
        </p:spPr>
        <p:txBody>
          <a:bodyPr/>
          <a:lstStyle/>
          <a:p>
            <a:r>
              <a:rPr lang="en-US" dirty="0"/>
              <a:t>Lab4 Intro 24a- </a:t>
            </a:r>
            <a:fld id="{0E88F696-905B-490D-9D4B-033243675593}"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ABE94A12-9E97-40EB-A974-3BC9F5C181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267</Words>
  <Application>Microsoft Office PowerPoint</Application>
  <PresentationFormat>宽屏</PresentationFormat>
  <Paragraphs>27</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Lab4 Intro Creating a Processor System</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2022-03-28T08:17:24Z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