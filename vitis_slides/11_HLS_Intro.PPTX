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930" r:id="rId4"/>
  </p:sldMasterIdLst>
  <p:notesMasterIdLst>
    <p:notesMasterId r:id="rId57"/>
  </p:notesMasterIdLst>
  <p:handoutMasterIdLst>
    <p:handoutMasterId r:id="rId58"/>
  </p:handoutMasterIdLst>
  <p:sldIdLst>
    <p:sldId id="1052" r:id="rId5"/>
    <p:sldId id="960" r:id="rId6"/>
    <p:sldId id="1008" r:id="rId7"/>
    <p:sldId id="1004" r:id="rId8"/>
    <p:sldId id="962" r:id="rId9"/>
    <p:sldId id="970" r:id="rId10"/>
    <p:sldId id="964" r:id="rId11"/>
    <p:sldId id="1000" r:id="rId12"/>
    <p:sldId id="1001" r:id="rId13"/>
    <p:sldId id="973" r:id="rId14"/>
    <p:sldId id="974" r:id="rId15"/>
    <p:sldId id="969" r:id="rId16"/>
    <p:sldId id="1009" r:id="rId17"/>
    <p:sldId id="1006" r:id="rId18"/>
    <p:sldId id="999" r:id="rId19"/>
    <p:sldId id="1002" r:id="rId20"/>
    <p:sldId id="1003" r:id="rId21"/>
    <p:sldId id="976" r:id="rId22"/>
    <p:sldId id="977" r:id="rId23"/>
    <p:sldId id="978" r:id="rId24"/>
    <p:sldId id="979" r:id="rId25"/>
    <p:sldId id="1013" r:id="rId26"/>
    <p:sldId id="980" r:id="rId27"/>
    <p:sldId id="981" r:id="rId28"/>
    <p:sldId id="982" r:id="rId29"/>
    <p:sldId id="983" r:id="rId30"/>
    <p:sldId id="984" r:id="rId31"/>
    <p:sldId id="985" r:id="rId32"/>
    <p:sldId id="986" r:id="rId33"/>
    <p:sldId id="987" r:id="rId34"/>
    <p:sldId id="1010" r:id="rId35"/>
    <p:sldId id="990" r:id="rId36"/>
    <p:sldId id="991" r:id="rId37"/>
    <p:sldId id="1011" r:id="rId38"/>
    <p:sldId id="998" r:id="rId39"/>
    <p:sldId id="994" r:id="rId40"/>
    <p:sldId id="995" r:id="rId41"/>
    <p:sldId id="1053" r:id="rId42"/>
    <p:sldId id="3714" r:id="rId43"/>
    <p:sldId id="3718" r:id="rId44"/>
    <p:sldId id="3715" r:id="rId45"/>
    <p:sldId id="3716" r:id="rId46"/>
    <p:sldId id="3717" r:id="rId47"/>
    <p:sldId id="3719" r:id="rId48"/>
    <p:sldId id="3729" r:id="rId49"/>
    <p:sldId id="1012" r:id="rId50"/>
    <p:sldId id="3710" r:id="rId51"/>
    <p:sldId id="3713" r:id="rId52"/>
    <p:sldId id="3721" r:id="rId53"/>
    <p:sldId id="3730" r:id="rId54"/>
    <p:sldId id="996" r:id="rId55"/>
    <p:sldId id="997" r:id="rId56"/>
  </p:sldIdLst>
  <p:sldSz cx="12192000" cy="6858000"/>
  <p:notesSz cx="6858000" cy="9144000"/>
  <p:defaultTextStyle>
    <a:defPPr>
      <a:defRPr lang="en-US"/>
    </a:defPPr>
    <a:lvl1pPr marL="0" algn="l" defTabSz="914240" rtl="0" eaLnBrk="1" latinLnBrk="0" hangingPunct="1">
      <a:defRPr sz="1800" kern="1200">
        <a:solidFill>
          <a:schemeClr val="tx1"/>
        </a:solidFill>
        <a:latin typeface="+mn-lt"/>
        <a:ea typeface="+mn-ea"/>
        <a:cs typeface="+mn-cs"/>
      </a:defRPr>
    </a:lvl1pPr>
    <a:lvl2pPr marL="457120" algn="l" defTabSz="914240" rtl="0" eaLnBrk="1" latinLnBrk="0" hangingPunct="1">
      <a:defRPr sz="1800" kern="1200">
        <a:solidFill>
          <a:schemeClr val="tx1"/>
        </a:solidFill>
        <a:latin typeface="+mn-lt"/>
        <a:ea typeface="+mn-ea"/>
        <a:cs typeface="+mn-cs"/>
      </a:defRPr>
    </a:lvl2pPr>
    <a:lvl3pPr marL="914240" algn="l" defTabSz="914240" rtl="0" eaLnBrk="1" latinLnBrk="0" hangingPunct="1">
      <a:defRPr sz="1800" kern="1200">
        <a:solidFill>
          <a:schemeClr val="tx1"/>
        </a:solidFill>
        <a:latin typeface="+mn-lt"/>
        <a:ea typeface="+mn-ea"/>
        <a:cs typeface="+mn-cs"/>
      </a:defRPr>
    </a:lvl3pPr>
    <a:lvl4pPr marL="1371360" algn="l" defTabSz="914240" rtl="0" eaLnBrk="1" latinLnBrk="0" hangingPunct="1">
      <a:defRPr sz="1800" kern="1200">
        <a:solidFill>
          <a:schemeClr val="tx1"/>
        </a:solidFill>
        <a:latin typeface="+mn-lt"/>
        <a:ea typeface="+mn-ea"/>
        <a:cs typeface="+mn-cs"/>
      </a:defRPr>
    </a:lvl4pPr>
    <a:lvl5pPr marL="1828480" algn="l" defTabSz="914240" rtl="0" eaLnBrk="1" latinLnBrk="0" hangingPunct="1">
      <a:defRPr sz="1800" kern="1200">
        <a:solidFill>
          <a:schemeClr val="tx1"/>
        </a:solidFill>
        <a:latin typeface="+mn-lt"/>
        <a:ea typeface="+mn-ea"/>
        <a:cs typeface="+mn-cs"/>
      </a:defRPr>
    </a:lvl5pPr>
    <a:lvl6pPr marL="2285600" algn="l" defTabSz="914240" rtl="0" eaLnBrk="1" latinLnBrk="0" hangingPunct="1">
      <a:defRPr sz="1800" kern="1200">
        <a:solidFill>
          <a:schemeClr val="tx1"/>
        </a:solidFill>
        <a:latin typeface="+mn-lt"/>
        <a:ea typeface="+mn-ea"/>
        <a:cs typeface="+mn-cs"/>
      </a:defRPr>
    </a:lvl6pPr>
    <a:lvl7pPr marL="2742720" algn="l" defTabSz="914240" rtl="0" eaLnBrk="1" latinLnBrk="0" hangingPunct="1">
      <a:defRPr sz="1800" kern="1200">
        <a:solidFill>
          <a:schemeClr val="tx1"/>
        </a:solidFill>
        <a:latin typeface="+mn-lt"/>
        <a:ea typeface="+mn-ea"/>
        <a:cs typeface="+mn-cs"/>
      </a:defRPr>
    </a:lvl7pPr>
    <a:lvl8pPr marL="3199840" algn="l" defTabSz="914240" rtl="0" eaLnBrk="1" latinLnBrk="0" hangingPunct="1">
      <a:defRPr sz="1800" kern="1200">
        <a:solidFill>
          <a:schemeClr val="tx1"/>
        </a:solidFill>
        <a:latin typeface="+mn-lt"/>
        <a:ea typeface="+mn-ea"/>
        <a:cs typeface="+mn-cs"/>
      </a:defRPr>
    </a:lvl8pPr>
    <a:lvl9pPr marL="3656960" algn="l" defTabSz="91424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177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7E7"/>
    <a:srgbClr val="A21820"/>
    <a:srgbClr val="171C2D"/>
    <a:srgbClr val="F5811F"/>
    <a:srgbClr val="045C99"/>
    <a:srgbClr val="EB1C23"/>
    <a:srgbClr val="7F7F7F"/>
    <a:srgbClr val="0C0C0C"/>
    <a:srgbClr val="00B2BA"/>
    <a:srgbClr val="8D91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73A0DAA-6AF3-43AB-8588-CEC1D06C72B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718"/>
    <p:restoredTop sz="94694"/>
  </p:normalViewPr>
  <p:slideViewPr>
    <p:cSldViewPr snapToGrid="0">
      <p:cViewPr varScale="1">
        <p:scale>
          <a:sx n="81" d="100"/>
          <a:sy n="81" d="100"/>
        </p:scale>
        <p:origin x="307" y="48"/>
      </p:cViewPr>
      <p:guideLst>
        <p:guide orient="horz" pos="2160"/>
        <p:guide pos="3840"/>
        <p:guide orient="horz" pos="1776"/>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notesMaster" Target="notesMasters/notesMaster1.xml"/><Relationship Id="rId61"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9EEC3C-A001-4107-B54E-3DA93EFF18E7}" type="datetimeFigureOut">
              <a:rPr lang="en-US" smtClean="0"/>
              <a:t>3/28/2022</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6F9C473-A00E-481E-A6E8-16CFC626F81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F16447F-F8B4-4CE6-9C1A-CBB4604770CA}" type="slidenum">
              <a:rPr lang="en-US" smtClean="0"/>
              <a:t>‹#›</a:t>
            </a:fld>
            <a:endParaRPr lang="en-US"/>
          </a:p>
        </p:txBody>
      </p:sp>
    </p:spTree>
    <p:extLst>
      <p:ext uri="{BB962C8B-B14F-4D97-AF65-F5344CB8AC3E}">
        <p14:creationId xmlns:p14="http://schemas.microsoft.com/office/powerpoint/2010/main" val="1929677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cs typeface="Arial" panose="020B0604020202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cs typeface="Arial" panose="020B0604020202020204" pitchFamily="34" charset="0"/>
              </a:defRPr>
            </a:lvl1pPr>
          </a:lstStyle>
          <a:p>
            <a:fld id="{396E16B4-3FB2-4CDC-BEBF-CD70C72EF480}" type="datetimeFigureOut">
              <a:rPr lang="en-US" smtClean="0"/>
              <a:pPr/>
              <a:t>3/28/2022</a:t>
            </a:fld>
            <a:endParaRPr lang="en-US"/>
          </a:p>
        </p:txBody>
      </p:sp>
      <p:sp>
        <p:nvSpPr>
          <p:cNvPr id="4" name="Slide Image Placeholder 3"/>
          <p:cNvSpPr>
            <a:spLocks noGrp="1" noRot="1" noChangeAspect="1"/>
          </p:cNvSpPr>
          <p:nvPr>
            <p:ph type="sldImg" idx="2"/>
          </p:nvPr>
        </p:nvSpPr>
        <p:spPr>
          <a:xfrm>
            <a:off x="381000" y="8382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cs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cs typeface="Arial" panose="020B0604020202020204" pitchFamily="34" charset="0"/>
              </a:defRPr>
            </a:lvl1pPr>
          </a:lstStyle>
          <a:p>
            <a:fld id="{A9D42829-8409-4711-B36D-25AE5703B863}" type="slidenum">
              <a:rPr lang="en-US" smtClean="0"/>
              <a:pPr/>
              <a:t>‹#›</a:t>
            </a:fld>
            <a:endParaRPr lang="en-US"/>
          </a:p>
        </p:txBody>
      </p:sp>
    </p:spTree>
    <p:extLst>
      <p:ext uri="{BB962C8B-B14F-4D97-AF65-F5344CB8AC3E}">
        <p14:creationId xmlns:p14="http://schemas.microsoft.com/office/powerpoint/2010/main" val="3364622551"/>
      </p:ext>
    </p:extLst>
  </p:cSld>
  <p:clrMap bg1="lt1" tx1="dk1" bg2="lt2" tx2="dk2" accent1="accent1" accent2="accent2" accent3="accent3" accent4="accent4" accent5="accent5" accent6="accent6" hlink="hlink" folHlink="folHlink"/>
  <p:notesStyle>
    <a:lvl1pPr marL="0" algn="l" defTabSz="91424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457120" algn="l" defTabSz="91424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914240" algn="l" defTabSz="91424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371360" algn="l" defTabSz="91424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1828480" algn="l" defTabSz="91424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2285600" algn="l" defTabSz="914240" rtl="0" eaLnBrk="1" latinLnBrk="0" hangingPunct="1">
      <a:defRPr sz="1200" kern="1200">
        <a:solidFill>
          <a:schemeClr val="tx1"/>
        </a:solidFill>
        <a:latin typeface="+mn-lt"/>
        <a:ea typeface="+mn-ea"/>
        <a:cs typeface="+mn-cs"/>
      </a:defRPr>
    </a:lvl6pPr>
    <a:lvl7pPr marL="2742720" algn="l" defTabSz="914240" rtl="0" eaLnBrk="1" latinLnBrk="0" hangingPunct="1">
      <a:defRPr sz="1200" kern="1200">
        <a:solidFill>
          <a:schemeClr val="tx1"/>
        </a:solidFill>
        <a:latin typeface="+mn-lt"/>
        <a:ea typeface="+mn-ea"/>
        <a:cs typeface="+mn-cs"/>
      </a:defRPr>
    </a:lvl7pPr>
    <a:lvl8pPr marL="3199840" algn="l" defTabSz="914240" rtl="0" eaLnBrk="1" latinLnBrk="0" hangingPunct="1">
      <a:defRPr sz="1200" kern="1200">
        <a:solidFill>
          <a:schemeClr val="tx1"/>
        </a:solidFill>
        <a:latin typeface="+mn-lt"/>
        <a:ea typeface="+mn-ea"/>
        <a:cs typeface="+mn-cs"/>
      </a:defRPr>
    </a:lvl8pPr>
    <a:lvl9pPr marL="3656960" algn="l" defTabSz="91424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4302459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extLst>
      <p:ext uri="{BB962C8B-B14F-4D97-AF65-F5344CB8AC3E}">
        <p14:creationId xmlns:p14="http://schemas.microsoft.com/office/powerpoint/2010/main" val="30672843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a:xfrm>
            <a:off x="4143587" y="9119474"/>
            <a:ext cx="3169920" cy="480060"/>
          </a:xfrm>
          <a:prstGeom prst="rect">
            <a:avLst/>
          </a:prstGeom>
        </p:spPr>
        <p:txBody>
          <a:bodyPr/>
          <a:lstStyle/>
          <a:p>
            <a:pPr>
              <a:defRPr/>
            </a:pPr>
            <a:fld id="{0306E2F6-ADDE-49E1-9923-76418EAA3B24}" type="slidenum">
              <a:rPr lang="en-US" smtClean="0">
                <a:solidFill>
                  <a:prstClr val="black"/>
                </a:solidFill>
              </a:rPr>
              <a:pPr>
                <a:defRPr/>
              </a:pPr>
              <a:t>6</a:t>
            </a:fld>
            <a:endParaRPr lang="en-US" dirty="0">
              <a:solidFill>
                <a:prstClr val="black"/>
              </a:solidFill>
            </a:endParaRPr>
          </a:p>
        </p:txBody>
      </p:sp>
    </p:spTree>
    <p:extLst>
      <p:ext uri="{BB962C8B-B14F-4D97-AF65-F5344CB8AC3E}">
        <p14:creationId xmlns:p14="http://schemas.microsoft.com/office/powerpoint/2010/main" val="18215793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Arial" charset="0"/>
                <a:ea typeface="+mn-ea"/>
                <a:cs typeface="+mn-cs"/>
              </a:rPr>
              <a:t>RTL design cycles typically consist of verification and design closure iterations for each block, as well as for the entire design. As a consequence of this methodology, the platform connectivity design never stabilizes, as any change in the differentiated logic can cause an I/O interface (e.g. DDR memory, Ethernet, or </a:t>
            </a:r>
            <a:r>
              <a:rPr lang="en-US" sz="1200" kern="1200" dirty="0" err="1">
                <a:solidFill>
                  <a:schemeClr val="tx1"/>
                </a:solidFill>
                <a:effectLst/>
                <a:latin typeface="Arial" charset="0"/>
                <a:ea typeface="+mn-ea"/>
                <a:cs typeface="+mn-cs"/>
              </a:rPr>
              <a:t>PCIe</a:t>
            </a:r>
            <a:r>
              <a:rPr lang="en-US" sz="1200" kern="1200" dirty="0">
                <a:solidFill>
                  <a:schemeClr val="tx1"/>
                </a:solidFill>
                <a:effectLst/>
                <a:latin typeface="Arial" charset="0"/>
                <a:ea typeface="+mn-ea"/>
                <a:cs typeface="+mn-cs"/>
              </a:rPr>
              <a:t>® core) to fail timing requirements. Also, RTL verification cycles no longer allow for exhaustive functional tests prior to hardware bring up.</a:t>
            </a:r>
          </a:p>
          <a:p>
            <a:r>
              <a:rPr lang="en-US" sz="1200" kern="1200" dirty="0">
                <a:solidFill>
                  <a:schemeClr val="tx1"/>
                </a:solidFill>
                <a:effectLst/>
                <a:latin typeface="Arial" charset="0"/>
                <a:ea typeface="+mn-ea"/>
                <a:cs typeface="+mn-cs"/>
              </a:rPr>
              <a:t>A high-level design methodology turns the development effort on its head, allowing designers to spend more time designing the value-add logic and less time trying to make it work. This flow provides a 15X reduction in design cycle compared to an RTL design flow.</a:t>
            </a:r>
          </a:p>
          <a:p>
            <a:r>
              <a:rPr lang="en-US" sz="1200" kern="1200" dirty="0">
                <a:solidFill>
                  <a:schemeClr val="tx1"/>
                </a:solidFill>
                <a:effectLst/>
                <a:latin typeface="Arial" charset="0"/>
                <a:ea typeface="+mn-ea"/>
                <a:cs typeface="+mn-cs"/>
              </a:rPr>
              <a:t>The main attributes of a high-level methodology are:</a:t>
            </a:r>
          </a:p>
          <a:p>
            <a:pPr lvl="0"/>
            <a:r>
              <a:rPr lang="en-US" sz="1200" kern="1200" dirty="0">
                <a:solidFill>
                  <a:schemeClr val="tx1"/>
                </a:solidFill>
                <a:effectLst/>
                <a:latin typeface="Arial" charset="0"/>
                <a:ea typeface="+mn-ea"/>
                <a:cs typeface="+mn-cs"/>
              </a:rPr>
              <a:t>Separation of platform development and differentiated logic, allowing designers to focus on the company’s high-value functionality.</a:t>
            </a:r>
          </a:p>
          <a:p>
            <a:pPr lvl="0"/>
            <a:r>
              <a:rPr lang="en-US" sz="1200" kern="1200" dirty="0">
                <a:solidFill>
                  <a:schemeClr val="tx1"/>
                </a:solidFill>
                <a:effectLst/>
                <a:latin typeface="Arial" charset="0"/>
                <a:ea typeface="+mn-ea"/>
                <a:cs typeface="+mn-cs"/>
              </a:rPr>
              <a:t>Rapid configuration, generation and closure of the platform connectivity, using the </a:t>
            </a:r>
            <a:r>
              <a:rPr lang="en-US" sz="1200" kern="1200" dirty="0" err="1">
                <a:solidFill>
                  <a:schemeClr val="tx1"/>
                </a:solidFill>
                <a:effectLst/>
                <a:latin typeface="Arial" charset="0"/>
                <a:ea typeface="+mn-ea"/>
                <a:cs typeface="+mn-cs"/>
              </a:rPr>
              <a:t>Vivado</a:t>
            </a:r>
            <a:r>
              <a:rPr lang="en-US" sz="1200" kern="1200" dirty="0">
                <a:solidFill>
                  <a:schemeClr val="tx1"/>
                </a:solidFill>
                <a:effectLst/>
                <a:latin typeface="Arial" charset="0"/>
                <a:ea typeface="+mn-ea"/>
                <a:cs typeface="+mn-cs"/>
              </a:rPr>
              <a:t>® IP Integrator with board awareness, as well as the </a:t>
            </a:r>
            <a:r>
              <a:rPr lang="en-US" sz="1200" kern="1200" dirty="0" err="1">
                <a:solidFill>
                  <a:schemeClr val="tx1"/>
                </a:solidFill>
                <a:effectLst/>
                <a:latin typeface="Arial" charset="0"/>
                <a:ea typeface="+mn-ea"/>
                <a:cs typeface="+mn-cs"/>
              </a:rPr>
              <a:t>Vivado</a:t>
            </a:r>
            <a:r>
              <a:rPr lang="en-US" sz="1200" kern="1200" dirty="0">
                <a:solidFill>
                  <a:schemeClr val="tx1"/>
                </a:solidFill>
                <a:effectLst/>
                <a:latin typeface="Arial" charset="0"/>
                <a:ea typeface="+mn-ea"/>
                <a:cs typeface="+mn-cs"/>
              </a:rPr>
              <a:t> IP systems.</a:t>
            </a:r>
          </a:p>
          <a:p>
            <a:pPr lvl="0"/>
            <a:r>
              <a:rPr lang="en-US" sz="1200" kern="1200" dirty="0">
                <a:solidFill>
                  <a:schemeClr val="tx1"/>
                </a:solidFill>
                <a:effectLst/>
                <a:latin typeface="Arial" charset="0"/>
                <a:ea typeface="+mn-ea"/>
                <a:cs typeface="+mn-cs"/>
              </a:rPr>
              <a:t>C-based simulation for the differentiated logic, decreasing simulation times by orders of magnitude over traditional RTL simulation.</a:t>
            </a:r>
          </a:p>
          <a:p>
            <a:pPr lvl="0"/>
            <a:r>
              <a:rPr lang="en-US" sz="1200" kern="1200" dirty="0">
                <a:solidFill>
                  <a:schemeClr val="tx1"/>
                </a:solidFill>
                <a:effectLst/>
                <a:latin typeface="Arial" charset="0"/>
                <a:ea typeface="+mn-ea"/>
                <a:cs typeface="+mn-cs"/>
              </a:rPr>
              <a:t>High-level synthesis with the </a:t>
            </a:r>
            <a:r>
              <a:rPr lang="en-US" sz="1200" kern="1200" dirty="0" err="1">
                <a:solidFill>
                  <a:schemeClr val="tx1"/>
                </a:solidFill>
                <a:effectLst/>
                <a:latin typeface="Arial" charset="0"/>
                <a:ea typeface="+mn-ea"/>
                <a:cs typeface="+mn-cs"/>
              </a:rPr>
              <a:t>Vivado</a:t>
            </a:r>
            <a:r>
              <a:rPr lang="en-US" sz="1200" kern="1200" dirty="0">
                <a:solidFill>
                  <a:schemeClr val="tx1"/>
                </a:solidFill>
                <a:effectLst/>
                <a:latin typeface="Arial" charset="0"/>
                <a:ea typeface="+mn-ea"/>
                <a:cs typeface="+mn-cs"/>
              </a:rPr>
              <a:t> HLS tool and C/C++ libraries, as well as the </a:t>
            </a:r>
            <a:r>
              <a:rPr lang="en-US" sz="1200" kern="1200" dirty="0" err="1">
                <a:solidFill>
                  <a:schemeClr val="tx1"/>
                </a:solidFill>
                <a:effectLst/>
                <a:latin typeface="Arial" charset="0"/>
                <a:ea typeface="+mn-ea"/>
                <a:cs typeface="+mn-cs"/>
              </a:rPr>
              <a:t>Vivado</a:t>
            </a:r>
            <a:r>
              <a:rPr lang="en-US" sz="1200" kern="1200" dirty="0">
                <a:solidFill>
                  <a:schemeClr val="tx1"/>
                </a:solidFill>
                <a:effectLst/>
                <a:latin typeface="Arial" charset="0"/>
                <a:ea typeface="+mn-ea"/>
                <a:cs typeface="+mn-cs"/>
              </a:rPr>
              <a:t> IP integrator for rapid implementation and system integration from C to silicon.</a:t>
            </a:r>
          </a:p>
          <a:p>
            <a:r>
              <a:rPr lang="en-AU" sz="1200" kern="1200" dirty="0">
                <a:solidFill>
                  <a:schemeClr val="tx1"/>
                </a:solidFill>
                <a:effectLst/>
                <a:latin typeface="Arial" charset="0"/>
                <a:ea typeface="+mn-ea"/>
                <a:cs typeface="+mn-cs"/>
              </a:rPr>
              <a:t> </a:t>
            </a:r>
            <a:endParaRPr lang="en-US" sz="1200" kern="1200" dirty="0">
              <a:solidFill>
                <a:schemeClr val="tx1"/>
              </a:solidFill>
              <a:effectLst/>
              <a:latin typeface="Arial" charset="0"/>
              <a:ea typeface="+mn-ea"/>
              <a:cs typeface="+mn-cs"/>
            </a:endParaRPr>
          </a:p>
          <a:p>
            <a:br>
              <a:rPr lang="en-US" sz="1200" kern="1200" dirty="0">
                <a:solidFill>
                  <a:schemeClr val="tx1"/>
                </a:solidFill>
                <a:effectLst/>
                <a:latin typeface="Arial" charset="0"/>
                <a:ea typeface="+mn-ea"/>
                <a:cs typeface="+mn-cs"/>
              </a:rPr>
            </a:br>
            <a:endParaRPr lang="en-US" dirty="0"/>
          </a:p>
        </p:txBody>
      </p:sp>
    </p:spTree>
    <p:extLst>
      <p:ext uri="{BB962C8B-B14F-4D97-AF65-F5344CB8AC3E}">
        <p14:creationId xmlns:p14="http://schemas.microsoft.com/office/powerpoint/2010/main" val="6398598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0776422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0147470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normAutofit/>
          </a:bodyPr>
          <a:lstStyle/>
          <a:p>
            <a:endParaRPr lang="en-US" baseline="0" dirty="0"/>
          </a:p>
        </p:txBody>
      </p:sp>
      <p:sp>
        <p:nvSpPr>
          <p:cNvPr id="4" name="Slide Number Placeholder 3"/>
          <p:cNvSpPr>
            <a:spLocks noGrp="1"/>
          </p:cNvSpPr>
          <p:nvPr>
            <p:ph type="sldNum" sz="quarter" idx="10"/>
          </p:nvPr>
        </p:nvSpPr>
        <p:spPr>
          <a:xfrm>
            <a:off x="4143587" y="9119474"/>
            <a:ext cx="3169920" cy="480060"/>
          </a:xfrm>
          <a:prstGeom prst="rect">
            <a:avLst/>
          </a:prstGeom>
        </p:spPr>
        <p:txBody>
          <a:bodyPr/>
          <a:lstStyle/>
          <a:p>
            <a:pPr>
              <a:defRPr/>
            </a:pPr>
            <a:fld id="{0306E2F6-ADDE-49E1-9923-76418EAA3B24}" type="slidenum">
              <a:rPr lang="en-US" smtClean="0">
                <a:solidFill>
                  <a:prstClr val="black"/>
                </a:solidFill>
              </a:rPr>
              <a:pPr>
                <a:defRPr/>
              </a:pPr>
              <a:t>21</a:t>
            </a:fld>
            <a:endParaRPr lang="en-US" dirty="0">
              <a:solidFill>
                <a:prstClr val="black"/>
              </a:solidFill>
            </a:endParaRPr>
          </a:p>
        </p:txBody>
      </p:sp>
    </p:spTree>
    <p:extLst>
      <p:ext uri="{BB962C8B-B14F-4D97-AF65-F5344CB8AC3E}">
        <p14:creationId xmlns:p14="http://schemas.microsoft.com/office/powerpoint/2010/main" val="26715340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normAutofit/>
          </a:bodyPr>
          <a:lstStyle/>
          <a:p>
            <a:endParaRPr lang="en-US" baseline="0" dirty="0"/>
          </a:p>
        </p:txBody>
      </p:sp>
      <p:sp>
        <p:nvSpPr>
          <p:cNvPr id="4" name="Slide Number Placeholder 3"/>
          <p:cNvSpPr>
            <a:spLocks noGrp="1"/>
          </p:cNvSpPr>
          <p:nvPr>
            <p:ph type="sldNum" sz="quarter" idx="10"/>
          </p:nvPr>
        </p:nvSpPr>
        <p:spPr>
          <a:xfrm>
            <a:off x="4143587" y="9119474"/>
            <a:ext cx="3169920" cy="480060"/>
          </a:xfrm>
          <a:prstGeom prst="rect">
            <a:avLst/>
          </a:prstGeom>
        </p:spPr>
        <p:txBody>
          <a:bodyPr/>
          <a:lstStyle/>
          <a:p>
            <a:pPr>
              <a:defRPr/>
            </a:pPr>
            <a:fld id="{0306E2F6-ADDE-49E1-9923-76418EAA3B24}" type="slidenum">
              <a:rPr lang="en-US" smtClean="0">
                <a:solidFill>
                  <a:prstClr val="black"/>
                </a:solidFill>
              </a:rPr>
              <a:pPr>
                <a:defRPr/>
              </a:pPr>
              <a:t>22</a:t>
            </a:fld>
            <a:endParaRPr lang="en-US" dirty="0">
              <a:solidFill>
                <a:prstClr val="black"/>
              </a:solidFill>
            </a:endParaRPr>
          </a:p>
        </p:txBody>
      </p:sp>
    </p:spTree>
    <p:extLst>
      <p:ext uri="{BB962C8B-B14F-4D97-AF65-F5344CB8AC3E}">
        <p14:creationId xmlns:p14="http://schemas.microsoft.com/office/powerpoint/2010/main" val="22117838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0149690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7453301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5460809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D36CB97-8324-8440-AF83-FDCF5C83423C}"/>
              </a:ext>
            </a:extLst>
          </p:cNvPr>
          <p:cNvSpPr/>
          <p:nvPr userDrawn="1"/>
        </p:nvSpPr>
        <p:spPr>
          <a:xfrm>
            <a:off x="10210800" y="6119691"/>
            <a:ext cx="1752600" cy="6621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1">
            <a:extLst>
              <a:ext uri="{FF2B5EF4-FFF2-40B4-BE49-F238E27FC236}">
                <a16:creationId xmlns:a16="http://schemas.microsoft.com/office/drawing/2014/main" id="{92695751-8148-D44C-819F-19AC107A8E9D}"/>
              </a:ext>
            </a:extLst>
          </p:cNvPr>
          <p:cNvSpPr>
            <a:spLocks noGrp="1"/>
          </p:cNvSpPr>
          <p:nvPr>
            <p:ph type="title" hasCustomPrompt="1"/>
          </p:nvPr>
        </p:nvSpPr>
        <p:spPr>
          <a:xfrm>
            <a:off x="579121" y="2700534"/>
            <a:ext cx="8945879" cy="975360"/>
          </a:xfrm>
        </p:spPr>
        <p:txBody>
          <a:bodyPr/>
          <a:lstStyle>
            <a:lvl1pPr>
              <a:defRPr sz="4400"/>
            </a:lvl1pPr>
          </a:lstStyle>
          <a:p>
            <a:pPr>
              <a:lnSpc>
                <a:spcPct val="85000"/>
              </a:lnSpc>
            </a:pPr>
            <a:r>
              <a:rPr lang="en-US">
                <a:solidFill>
                  <a:schemeClr val="tx1"/>
                </a:solidFill>
              </a:rPr>
              <a:t>Presentation Title</a:t>
            </a:r>
          </a:p>
        </p:txBody>
      </p:sp>
      <p:sp>
        <p:nvSpPr>
          <p:cNvPr id="32" name="Name, Title, Date">
            <a:extLst>
              <a:ext uri="{FF2B5EF4-FFF2-40B4-BE49-F238E27FC236}">
                <a16:creationId xmlns:a16="http://schemas.microsoft.com/office/drawing/2014/main" id="{2396738D-B05F-FC45-B1A8-82AA1CB933D0}"/>
              </a:ext>
            </a:extLst>
          </p:cNvPr>
          <p:cNvSpPr>
            <a:spLocks noGrp="1"/>
          </p:cNvSpPr>
          <p:nvPr>
            <p:ph type="subTitle" idx="1" hasCustomPrompt="1"/>
          </p:nvPr>
        </p:nvSpPr>
        <p:spPr>
          <a:xfrm>
            <a:off x="579121" y="4490866"/>
            <a:ext cx="7417990" cy="1092607"/>
          </a:xfrm>
        </p:spPr>
        <p:txBody>
          <a:bodyPr wrap="square">
            <a:spAutoFit/>
          </a:bodyPr>
          <a:lstStyle>
            <a:lvl1pPr marL="0" indent="0" algn="l">
              <a:spcBef>
                <a:spcPts val="300"/>
              </a:spcBef>
              <a:buNone/>
              <a:defRPr lang="en-US" sz="2000" b="0" i="0" kern="1200" baseline="0" dirty="0">
                <a:solidFill>
                  <a:schemeClr val="tx1"/>
                </a:solidFill>
                <a:latin typeface="Arial" charset="0"/>
                <a:ea typeface="Arial" charset="0"/>
                <a:cs typeface="Arial"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Name</a:t>
            </a:r>
          </a:p>
          <a:p>
            <a:r>
              <a:rPr lang="en-US"/>
              <a:t>Title</a:t>
            </a:r>
          </a:p>
          <a:p>
            <a:r>
              <a:rPr lang="en-US"/>
              <a:t>Date</a:t>
            </a:r>
          </a:p>
        </p:txBody>
      </p:sp>
      <p:pic>
        <p:nvPicPr>
          <p:cNvPr id="3" name="Picture 2">
            <a:extLst>
              <a:ext uri="{FF2B5EF4-FFF2-40B4-BE49-F238E27FC236}">
                <a16:creationId xmlns:a16="http://schemas.microsoft.com/office/drawing/2014/main" id="{E2C59811-BED7-2645-B53F-2ABD7993559A}"/>
              </a:ext>
            </a:extLst>
          </p:cNvPr>
          <p:cNvPicPr>
            <a:picLocks noChangeAspect="1"/>
          </p:cNvPicPr>
          <p:nvPr userDrawn="1"/>
        </p:nvPicPr>
        <p:blipFill>
          <a:blip r:embed="rId2"/>
          <a:stretch>
            <a:fillRect/>
          </a:stretch>
        </p:blipFill>
        <p:spPr>
          <a:xfrm>
            <a:off x="693414" y="498870"/>
            <a:ext cx="1092729" cy="676787"/>
          </a:xfrm>
          <a:prstGeom prst="rect">
            <a:avLst/>
          </a:prstGeom>
        </p:spPr>
      </p:pic>
    </p:spTree>
    <p:extLst>
      <p:ext uri="{BB962C8B-B14F-4D97-AF65-F5344CB8AC3E}">
        <p14:creationId xmlns:p14="http://schemas.microsoft.com/office/powerpoint/2010/main" val="327324659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EAD77-0876-4647-97DC-D93085BB1334}"/>
              </a:ext>
            </a:extLst>
          </p:cNvPr>
          <p:cNvSpPr>
            <a:spLocks noGrp="1"/>
          </p:cNvSpPr>
          <p:nvPr>
            <p:ph type="title" hasCustomPrompt="1"/>
          </p:nvPr>
        </p:nvSpPr>
        <p:spPr>
          <a:xfrm>
            <a:off x="579121" y="304800"/>
            <a:ext cx="7421878" cy="975360"/>
          </a:xfrm>
        </p:spPr>
        <p:txBody>
          <a:bodyPr/>
          <a:lstStyle>
            <a:lvl1pPr>
              <a:defRPr>
                <a:solidFill>
                  <a:schemeClr val="tx1"/>
                </a:solidFill>
              </a:defRPr>
            </a:lvl1pPr>
          </a:lstStyle>
          <a:p>
            <a:r>
              <a:rPr lang="en-US"/>
              <a:t>Agenda</a:t>
            </a:r>
          </a:p>
        </p:txBody>
      </p:sp>
      <p:sp>
        <p:nvSpPr>
          <p:cNvPr id="3" name="Slide Number Placeholder 2">
            <a:extLst>
              <a:ext uri="{FF2B5EF4-FFF2-40B4-BE49-F238E27FC236}">
                <a16:creationId xmlns:a16="http://schemas.microsoft.com/office/drawing/2014/main" id="{470F2BAF-0E03-9146-9CEF-EF57A7048199}"/>
              </a:ext>
            </a:extLst>
          </p:cNvPr>
          <p:cNvSpPr>
            <a:spLocks noGrp="1"/>
          </p:cNvSpPr>
          <p:nvPr>
            <p:ph type="sldNum" sz="quarter" idx="10"/>
          </p:nvPr>
        </p:nvSpPr>
        <p:spPr/>
        <p:txBody>
          <a:bodyPr/>
          <a:lstStyle>
            <a:lvl1pPr>
              <a:defRPr>
                <a:solidFill>
                  <a:schemeClr val="tx1"/>
                </a:solidFill>
              </a:defRPr>
            </a:lvl1pPr>
          </a:lstStyle>
          <a:p>
            <a:fld id="{626C978B-826E-438C-909A-E9C381D3FF04}" type="slidenum">
              <a:rPr lang="en-US" smtClean="0"/>
              <a:pPr/>
              <a:t>‹#›</a:t>
            </a:fld>
            <a:endParaRPr lang="en-US"/>
          </a:p>
        </p:txBody>
      </p:sp>
      <p:sp>
        <p:nvSpPr>
          <p:cNvPr id="6" name="Rectangle 5"/>
          <p:cNvSpPr/>
          <p:nvPr userDrawn="1"/>
        </p:nvSpPr>
        <p:spPr>
          <a:xfrm>
            <a:off x="1" y="0"/>
            <a:ext cx="12192000" cy="853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 name="Content Placeholder 2"/>
          <p:cNvSpPr>
            <a:spLocks noGrp="1"/>
          </p:cNvSpPr>
          <p:nvPr>
            <p:ph idx="1"/>
          </p:nvPr>
        </p:nvSpPr>
        <p:spPr>
          <a:xfrm>
            <a:off x="579120" y="1733296"/>
            <a:ext cx="7421879" cy="3753104"/>
          </a:xfrm>
        </p:spPr>
        <p:txBody>
          <a:bodyPr/>
          <a:lstStyle>
            <a:lvl1pPr>
              <a:defRPr>
                <a:solidFill>
                  <a:schemeClr val="tx1"/>
                </a:solidFill>
              </a:defRPr>
            </a:lvl1pPr>
          </a:lstStyle>
          <a:p>
            <a:r>
              <a:rPr lang="en-US"/>
              <a:t>Agenda Item 1</a:t>
            </a:r>
          </a:p>
          <a:p>
            <a:r>
              <a:rPr lang="en-US"/>
              <a:t>Agenda Item 2</a:t>
            </a:r>
          </a:p>
          <a:p>
            <a:r>
              <a:rPr lang="en-US"/>
              <a:t>Agenda Item 3</a:t>
            </a:r>
          </a:p>
          <a:p>
            <a:r>
              <a:rPr lang="en-US"/>
              <a:t>Agenda Item 4</a:t>
            </a:r>
          </a:p>
          <a:p>
            <a:r>
              <a:rPr lang="en-US"/>
              <a:t>Agenda Item 5</a:t>
            </a:r>
          </a:p>
          <a:p>
            <a:r>
              <a:rPr lang="en-US"/>
              <a:t>Agenda Item 6</a:t>
            </a:r>
          </a:p>
        </p:txBody>
      </p:sp>
    </p:spTree>
    <p:extLst>
      <p:ext uri="{BB962C8B-B14F-4D97-AF65-F5344CB8AC3E}">
        <p14:creationId xmlns:p14="http://schemas.microsoft.com/office/powerpoint/2010/main" val="1518320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EAD77-0876-4647-97DC-D93085BB1334}"/>
              </a:ext>
            </a:extLst>
          </p:cNvPr>
          <p:cNvSpPr>
            <a:spLocks noGrp="1"/>
          </p:cNvSpPr>
          <p:nvPr>
            <p:ph type="title"/>
          </p:nvPr>
        </p:nvSpPr>
        <p:spPr>
          <a:xfrm>
            <a:off x="579121" y="304800"/>
            <a:ext cx="11033760" cy="975360"/>
          </a:xfrm>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470F2BAF-0E03-9146-9CEF-EF57A7048199}"/>
              </a:ext>
            </a:extLst>
          </p:cNvPr>
          <p:cNvSpPr>
            <a:spLocks noGrp="1"/>
          </p:cNvSpPr>
          <p:nvPr>
            <p:ph type="sldNum" sz="quarter" idx="10"/>
          </p:nvPr>
        </p:nvSpPr>
        <p:spPr/>
        <p:txBody>
          <a:bodyPr/>
          <a:lstStyle/>
          <a:p>
            <a:fld id="{626C978B-826E-438C-909A-E9C381D3FF04}" type="slidenum">
              <a:rPr lang="en-US" smtClean="0"/>
              <a:pPr/>
              <a:t>‹#›</a:t>
            </a:fld>
            <a:endParaRPr lang="en-US"/>
          </a:p>
        </p:txBody>
      </p:sp>
      <p:sp>
        <p:nvSpPr>
          <p:cNvPr id="6" name="Rectangle 5"/>
          <p:cNvSpPr/>
          <p:nvPr userDrawn="1"/>
        </p:nvSpPr>
        <p:spPr>
          <a:xfrm>
            <a:off x="1" y="0"/>
            <a:ext cx="12192000" cy="853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3400497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EAD77-0876-4647-97DC-D93085BB1334}"/>
              </a:ext>
            </a:extLst>
          </p:cNvPr>
          <p:cNvSpPr>
            <a:spLocks noGrp="1"/>
          </p:cNvSpPr>
          <p:nvPr>
            <p:ph type="title"/>
          </p:nvPr>
        </p:nvSpPr>
        <p:spPr>
          <a:xfrm>
            <a:off x="579121" y="304800"/>
            <a:ext cx="11033760" cy="975360"/>
          </a:xfrm>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470F2BAF-0E03-9146-9CEF-EF57A7048199}"/>
              </a:ext>
            </a:extLst>
          </p:cNvPr>
          <p:cNvSpPr>
            <a:spLocks noGrp="1"/>
          </p:cNvSpPr>
          <p:nvPr>
            <p:ph type="sldNum" sz="quarter" idx="10"/>
          </p:nvPr>
        </p:nvSpPr>
        <p:spPr/>
        <p:txBody>
          <a:bodyPr/>
          <a:lstStyle/>
          <a:p>
            <a:fld id="{626C978B-826E-438C-909A-E9C381D3FF04}" type="slidenum">
              <a:rPr lang="en-US" smtClean="0"/>
              <a:pPr/>
              <a:t>‹#›</a:t>
            </a:fld>
            <a:endParaRPr lang="en-US"/>
          </a:p>
        </p:txBody>
      </p:sp>
      <p:sp>
        <p:nvSpPr>
          <p:cNvPr id="4" name="Text Placeholder 2">
            <a:extLst>
              <a:ext uri="{FF2B5EF4-FFF2-40B4-BE49-F238E27FC236}">
                <a16:creationId xmlns:a16="http://schemas.microsoft.com/office/drawing/2014/main" id="{3A824BE7-9859-7240-83D5-846AECA2353C}"/>
              </a:ext>
            </a:extLst>
          </p:cNvPr>
          <p:cNvSpPr>
            <a:spLocks noGrp="1"/>
          </p:cNvSpPr>
          <p:nvPr>
            <p:ph idx="1"/>
          </p:nvPr>
        </p:nvSpPr>
        <p:spPr>
          <a:xfrm>
            <a:off x="579121" y="1470401"/>
            <a:ext cx="11033760" cy="4632960"/>
          </a:xfrm>
          <a:prstGeom prst="rect">
            <a:avLst/>
          </a:prstGeom>
        </p:spPr>
        <p:txBody>
          <a:bodyPr vert="horz" lIns="91440" tIns="45720" rIns="91440" bIns="45720" rtlCol="0">
            <a:noAutofit/>
          </a:bodyPr>
          <a:lstStyle>
            <a:lvl1pPr marL="234962" indent="-234962">
              <a:buSzPct val="80000"/>
              <a:buFont typeface="Webdings" panose="05030102010509060703" pitchFamily="18" charset="2"/>
              <a:buChar char=""/>
              <a:defRPr lang="en-US" dirty="0" smtClean="0"/>
            </a:lvl1pPr>
            <a:lvl2pPr marL="452989" indent="-220144">
              <a:buSzPct val="80000"/>
              <a:buFont typeface="Wingdings 3" panose="05040102010807070707" pitchFamily="18" charset="2"/>
              <a:buChar char=""/>
              <a:defRPr sz="2000"/>
            </a:lvl2pPr>
            <a:lvl3pPr marL="685835" indent="-232845">
              <a:buSzPct val="80000"/>
              <a:buFont typeface="Wingdings 3" panose="05040102010807070707" pitchFamily="18" charset="2"/>
              <a:buChar char="¬"/>
              <a:defRPr sz="1600"/>
            </a:lvl3pPr>
            <a:lvl4pPr marL="916563" indent="-230729">
              <a:buSzPct val="80000"/>
              <a:buFont typeface="Wingdings 3" panose="05040102010807070707" pitchFamily="18" charset="2"/>
              <a:buChar char="¬"/>
              <a:defRPr/>
            </a:lvl4pPr>
            <a:lvl5pPr marL="1138824" indent="-222262">
              <a:buSzPct val="80000"/>
              <a:buFont typeface="Wingdings 3" panose="05040102010807070707" pitchFamily="18" charset="2"/>
              <a:buChar cha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p:cNvSpPr/>
          <p:nvPr userDrawn="1"/>
        </p:nvSpPr>
        <p:spPr>
          <a:xfrm>
            <a:off x="1" y="0"/>
            <a:ext cx="12192000" cy="853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839187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79121" y="304800"/>
            <a:ext cx="11033760" cy="975360"/>
          </a:xfrm>
        </p:spPr>
        <p:txBody>
          <a:bodyPr/>
          <a:lstStyle/>
          <a:p>
            <a:r>
              <a:rPr lang="en-US"/>
              <a:t>Click to edit Master title style</a:t>
            </a:r>
          </a:p>
        </p:txBody>
      </p:sp>
      <p:sp>
        <p:nvSpPr>
          <p:cNvPr id="3" name="Content Placeholder 2"/>
          <p:cNvSpPr>
            <a:spLocks noGrp="1"/>
          </p:cNvSpPr>
          <p:nvPr>
            <p:ph sz="half" idx="1"/>
          </p:nvPr>
        </p:nvSpPr>
        <p:spPr>
          <a:xfrm>
            <a:off x="579120" y="1463041"/>
            <a:ext cx="5364480" cy="4632960"/>
          </a:xfrm>
          <a:prstGeom prst="rect">
            <a:avLst/>
          </a:prstGeom>
        </p:spPr>
        <p:txBody>
          <a:bodyPr>
            <a:noAutofit/>
          </a:bodyPr>
          <a:lstStyle>
            <a:lvl1pPr>
              <a:defRPr sz="2400">
                <a:solidFill>
                  <a:schemeClr val="tx1"/>
                </a:solidFill>
              </a:defRPr>
            </a:lvl1pPr>
            <a:lvl2pPr>
              <a:defRPr sz="20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48401" y="1463041"/>
            <a:ext cx="5364480" cy="4632960"/>
          </a:xfrm>
          <a:prstGeom prst="rect">
            <a:avLst/>
          </a:prstGeom>
        </p:spPr>
        <p:txBody>
          <a:bodyPr>
            <a:noAutofit/>
          </a:bodyPr>
          <a:lstStyle>
            <a:lvl1pPr>
              <a:defRPr sz="2400">
                <a:solidFill>
                  <a:schemeClr val="tx1"/>
                </a:solidFill>
              </a:defRPr>
            </a:lvl1pPr>
            <a:lvl2pPr>
              <a:defRPr sz="20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4">
            <a:extLst>
              <a:ext uri="{FF2B5EF4-FFF2-40B4-BE49-F238E27FC236}">
                <a16:creationId xmlns:a16="http://schemas.microsoft.com/office/drawing/2014/main" id="{1A8B06E9-672B-49AA-8789-D576D5680872}"/>
              </a:ext>
            </a:extLst>
          </p:cNvPr>
          <p:cNvSpPr>
            <a:spLocks noGrp="1"/>
          </p:cNvSpPr>
          <p:nvPr>
            <p:ph type="sldNum" sz="quarter" idx="4"/>
          </p:nvPr>
        </p:nvSpPr>
        <p:spPr>
          <a:xfrm>
            <a:off x="586646" y="6363709"/>
            <a:ext cx="975360" cy="365125"/>
          </a:xfrm>
          <a:prstGeom prst="rect">
            <a:avLst/>
          </a:prstGeom>
        </p:spPr>
        <p:txBody>
          <a:bodyPr vert="horz" lIns="91440" tIns="45720" rIns="91440" bIns="45720" rtlCol="0" anchor="b"/>
          <a:lstStyle>
            <a:lvl1pPr marL="0" indent="0" algn="l">
              <a:buFont typeface="Arial" panose="020B0604020202020204" pitchFamily="34" charset="0"/>
              <a:buNone/>
              <a:defRPr sz="1133" b="1">
                <a:solidFill>
                  <a:schemeClr val="tx1"/>
                </a:solidFill>
              </a:defRPr>
            </a:lvl1pPr>
          </a:lstStyle>
          <a:p>
            <a:fld id="{626C978B-826E-438C-909A-E9C381D3FF04}" type="slidenum">
              <a:rPr lang="en-US" smtClean="0"/>
              <a:pPr/>
              <a:t>‹#›</a:t>
            </a:fld>
            <a:endParaRPr lang="en-US"/>
          </a:p>
        </p:txBody>
      </p:sp>
      <p:sp>
        <p:nvSpPr>
          <p:cNvPr id="9" name="Rectangle 8"/>
          <p:cNvSpPr/>
          <p:nvPr userDrawn="1"/>
        </p:nvSpPr>
        <p:spPr>
          <a:xfrm>
            <a:off x="1" y="0"/>
            <a:ext cx="12192000" cy="853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4223070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tx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5D42470-3AEB-A94C-96B8-18E2C7C25164}"/>
              </a:ext>
            </a:extLst>
          </p:cNvPr>
          <p:cNvSpPr/>
          <p:nvPr userDrawn="1"/>
        </p:nvSpPr>
        <p:spPr>
          <a:xfrm>
            <a:off x="10058400" y="6109945"/>
            <a:ext cx="1752600" cy="6621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BC665AB6-C348-1649-BCA3-AB4427CB838C}"/>
              </a:ext>
            </a:extLst>
          </p:cNvPr>
          <p:cNvPicPr>
            <a:picLocks noChangeAspect="1"/>
          </p:cNvPicPr>
          <p:nvPr userDrawn="1"/>
        </p:nvPicPr>
        <p:blipFill>
          <a:blip r:embed="rId2"/>
          <a:stretch>
            <a:fillRect/>
          </a:stretch>
        </p:blipFill>
        <p:spPr>
          <a:xfrm>
            <a:off x="11028822" y="6279369"/>
            <a:ext cx="576532" cy="357078"/>
          </a:xfrm>
          <a:prstGeom prst="rect">
            <a:avLst/>
          </a:prstGeom>
        </p:spPr>
      </p:pic>
      <p:sp>
        <p:nvSpPr>
          <p:cNvPr id="6" name="Title 1">
            <a:extLst>
              <a:ext uri="{FF2B5EF4-FFF2-40B4-BE49-F238E27FC236}">
                <a16:creationId xmlns:a16="http://schemas.microsoft.com/office/drawing/2014/main" id="{61320318-DA78-471F-8076-1A95C5254529}"/>
              </a:ext>
            </a:extLst>
          </p:cNvPr>
          <p:cNvSpPr>
            <a:spLocks noGrp="1"/>
          </p:cNvSpPr>
          <p:nvPr>
            <p:ph type="title" hasCustomPrompt="1"/>
          </p:nvPr>
        </p:nvSpPr>
        <p:spPr>
          <a:xfrm>
            <a:off x="428807" y="3124200"/>
            <a:ext cx="11093827" cy="701040"/>
          </a:xfrm>
        </p:spPr>
        <p:txBody>
          <a:bodyPr anchor="b">
            <a:noAutofit/>
          </a:bodyPr>
          <a:lstStyle>
            <a:lvl1pPr>
              <a:defRPr lang="en-US" sz="4201" b="1" i="0" kern="1200" dirty="0">
                <a:solidFill>
                  <a:schemeClr val="bg1"/>
                </a:solidFill>
                <a:latin typeface="Arial" charset="0"/>
                <a:ea typeface="+mj-ea"/>
                <a:cs typeface="Arial" charset="0"/>
              </a:defRPr>
            </a:lvl1pPr>
          </a:lstStyle>
          <a:p>
            <a:r>
              <a:rPr lang="en-US"/>
              <a:t>Simple Statement</a:t>
            </a:r>
          </a:p>
        </p:txBody>
      </p:sp>
      <p:sp>
        <p:nvSpPr>
          <p:cNvPr id="7" name="Slide Number Placeholder 4">
            <a:extLst>
              <a:ext uri="{FF2B5EF4-FFF2-40B4-BE49-F238E27FC236}">
                <a16:creationId xmlns:a16="http://schemas.microsoft.com/office/drawing/2014/main" id="{1E052772-3EFC-D34C-AA1A-1135DE3C5541}"/>
              </a:ext>
            </a:extLst>
          </p:cNvPr>
          <p:cNvSpPr>
            <a:spLocks noGrp="1"/>
          </p:cNvSpPr>
          <p:nvPr>
            <p:ph type="sldNum" sz="quarter" idx="4"/>
          </p:nvPr>
        </p:nvSpPr>
        <p:spPr>
          <a:xfrm>
            <a:off x="586646" y="6325609"/>
            <a:ext cx="975360" cy="365125"/>
          </a:xfrm>
          <a:prstGeom prst="rect">
            <a:avLst/>
          </a:prstGeom>
        </p:spPr>
        <p:txBody>
          <a:bodyPr vert="horz" lIns="91440" tIns="45720" rIns="91440" bIns="45720" rtlCol="0" anchor="ctr"/>
          <a:lstStyle>
            <a:lvl1pPr marL="0" indent="0" algn="l">
              <a:buFont typeface="Arial" panose="020B0604020202020204" pitchFamily="34" charset="0"/>
              <a:buNone/>
              <a:defRPr sz="1133" b="1">
                <a:solidFill>
                  <a:schemeClr val="bg1"/>
                </a:solidFill>
              </a:defRPr>
            </a:lvl1pPr>
          </a:lstStyle>
          <a:p>
            <a:fld id="{626C978B-826E-438C-909A-E9C381D3FF04}" type="slidenum">
              <a:rPr lang="en-US" smtClean="0"/>
              <a:pPr/>
              <a:t>‹#›</a:t>
            </a:fld>
            <a:endParaRPr lang="en-US"/>
          </a:p>
        </p:txBody>
      </p:sp>
    </p:spTree>
    <p:extLst>
      <p:ext uri="{BB962C8B-B14F-4D97-AF65-F5344CB8AC3E}">
        <p14:creationId xmlns:p14="http://schemas.microsoft.com/office/powerpoint/2010/main" val="3449519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Header (with Picture)">
    <p:bg>
      <p:bgPr>
        <a:solidFill>
          <a:schemeClr val="tx2"/>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6512AD6E-7A81-4D46-A4DC-BC3429D8CFF8}"/>
              </a:ext>
            </a:extLst>
          </p:cNvPr>
          <p:cNvSpPr>
            <a:spLocks noGrp="1"/>
          </p:cNvSpPr>
          <p:nvPr>
            <p:ph type="title" hasCustomPrompt="1"/>
          </p:nvPr>
        </p:nvSpPr>
        <p:spPr>
          <a:xfrm>
            <a:off x="428807" y="3124200"/>
            <a:ext cx="5514793" cy="701040"/>
          </a:xfrm>
        </p:spPr>
        <p:txBody>
          <a:bodyPr anchor="b">
            <a:noAutofit/>
          </a:bodyPr>
          <a:lstStyle>
            <a:lvl1pPr>
              <a:defRPr lang="en-US" sz="4201" b="1" i="0" kern="1200" dirty="0">
                <a:solidFill>
                  <a:schemeClr val="bg1"/>
                </a:solidFill>
                <a:latin typeface="Arial" charset="0"/>
                <a:ea typeface="+mj-ea"/>
                <a:cs typeface="Arial" charset="0"/>
              </a:defRPr>
            </a:lvl1pPr>
          </a:lstStyle>
          <a:p>
            <a:r>
              <a:rPr lang="en-US"/>
              <a:t>Simple Statement</a:t>
            </a:r>
          </a:p>
        </p:txBody>
      </p:sp>
      <p:sp>
        <p:nvSpPr>
          <p:cNvPr id="6" name="Picture Placeholder 14">
            <a:extLst>
              <a:ext uri="{FF2B5EF4-FFF2-40B4-BE49-F238E27FC236}">
                <a16:creationId xmlns:a16="http://schemas.microsoft.com/office/drawing/2014/main" id="{89EAEFDD-B284-E94B-8F1D-D7E1627370F6}"/>
              </a:ext>
            </a:extLst>
          </p:cNvPr>
          <p:cNvSpPr>
            <a:spLocks noGrp="1"/>
          </p:cNvSpPr>
          <p:nvPr>
            <p:ph type="pic" sz="quarter" idx="13" hasCustomPrompt="1"/>
          </p:nvPr>
        </p:nvSpPr>
        <p:spPr>
          <a:xfrm>
            <a:off x="6581768" y="1558290"/>
            <a:ext cx="4457700" cy="3741422"/>
          </a:xfrm>
          <a:prstGeom prst="rect">
            <a:avLst/>
          </a:prstGeom>
          <a:noFill/>
        </p:spPr>
        <p:txBody>
          <a:bodyPr vert="horz" lIns="91440" tIns="1371600" rIns="91440" bIns="0" rtlCol="0" anchor="ctr" anchorCtr="0">
            <a:noAutofit/>
          </a:bodyPr>
          <a:lstStyle>
            <a:lvl1pPr marL="309026" indent="-309026" algn="ctr">
              <a:buNone/>
              <a:defRPr lang="en-US" sz="1867" dirty="0">
                <a:solidFill>
                  <a:schemeClr val="bg1"/>
                </a:solidFill>
              </a:defRPr>
            </a:lvl1pPr>
          </a:lstStyle>
          <a:p>
            <a:pPr marL="0" marR="0" lvl="0" indent="0" algn="ctr" defTabSz="1219170" rtl="0" eaLnBrk="1" fontAlgn="auto" latinLnBrk="0" hangingPunct="1">
              <a:lnSpc>
                <a:spcPct val="100000"/>
              </a:lnSpc>
              <a:spcBef>
                <a:spcPts val="1600"/>
              </a:spcBef>
              <a:spcAft>
                <a:spcPts val="0"/>
              </a:spcAft>
              <a:buClr>
                <a:schemeClr val="accent1"/>
              </a:buClr>
              <a:buSzPct val="100000"/>
              <a:tabLst/>
              <a:defRPr/>
            </a:pPr>
            <a:r>
              <a:rPr lang="en-US"/>
              <a:t>Click icon to add picture</a:t>
            </a:r>
          </a:p>
        </p:txBody>
      </p:sp>
      <p:sp>
        <p:nvSpPr>
          <p:cNvPr id="7" name="Rectangle 6">
            <a:extLst>
              <a:ext uri="{FF2B5EF4-FFF2-40B4-BE49-F238E27FC236}">
                <a16:creationId xmlns:a16="http://schemas.microsoft.com/office/drawing/2014/main" id="{645E7C71-1267-7F46-A82A-631E19E556BC}"/>
              </a:ext>
            </a:extLst>
          </p:cNvPr>
          <p:cNvSpPr/>
          <p:nvPr userDrawn="1"/>
        </p:nvSpPr>
        <p:spPr>
          <a:xfrm>
            <a:off x="10058400" y="6109945"/>
            <a:ext cx="1752600" cy="6621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4">
            <a:extLst>
              <a:ext uri="{FF2B5EF4-FFF2-40B4-BE49-F238E27FC236}">
                <a16:creationId xmlns:a16="http://schemas.microsoft.com/office/drawing/2014/main" id="{5B8CD8B4-2837-BA4D-9DA4-67F8481F164B}"/>
              </a:ext>
            </a:extLst>
          </p:cNvPr>
          <p:cNvSpPr>
            <a:spLocks noGrp="1"/>
          </p:cNvSpPr>
          <p:nvPr>
            <p:ph type="sldNum" sz="quarter" idx="4"/>
          </p:nvPr>
        </p:nvSpPr>
        <p:spPr>
          <a:xfrm>
            <a:off x="586646" y="6325609"/>
            <a:ext cx="975360" cy="365125"/>
          </a:xfrm>
          <a:prstGeom prst="rect">
            <a:avLst/>
          </a:prstGeom>
        </p:spPr>
        <p:txBody>
          <a:bodyPr vert="horz" lIns="91440" tIns="45720" rIns="91440" bIns="45720" rtlCol="0" anchor="ctr"/>
          <a:lstStyle>
            <a:lvl1pPr marL="0" indent="0" algn="l">
              <a:buFont typeface="Arial" panose="020B0604020202020204" pitchFamily="34" charset="0"/>
              <a:buNone/>
              <a:defRPr sz="1133" b="1">
                <a:solidFill>
                  <a:schemeClr val="bg1"/>
                </a:solidFill>
              </a:defRPr>
            </a:lvl1pPr>
          </a:lstStyle>
          <a:p>
            <a:fld id="{626C978B-826E-438C-909A-E9C381D3FF04}" type="slidenum">
              <a:rPr lang="en-US" smtClean="0"/>
              <a:pPr/>
              <a:t>‹#›</a:t>
            </a:fld>
            <a:endParaRPr lang="en-US"/>
          </a:p>
        </p:txBody>
      </p:sp>
      <p:pic>
        <p:nvPicPr>
          <p:cNvPr id="12" name="Picture 11">
            <a:extLst>
              <a:ext uri="{FF2B5EF4-FFF2-40B4-BE49-F238E27FC236}">
                <a16:creationId xmlns:a16="http://schemas.microsoft.com/office/drawing/2014/main" id="{E1AC8721-E11C-7940-A173-0F10C27BA8A2}"/>
              </a:ext>
            </a:extLst>
          </p:cNvPr>
          <p:cNvPicPr>
            <a:picLocks noChangeAspect="1"/>
          </p:cNvPicPr>
          <p:nvPr userDrawn="1"/>
        </p:nvPicPr>
        <p:blipFill>
          <a:blip r:embed="rId2"/>
          <a:stretch>
            <a:fillRect/>
          </a:stretch>
        </p:blipFill>
        <p:spPr>
          <a:xfrm>
            <a:off x="11028822" y="6279369"/>
            <a:ext cx="576532" cy="357078"/>
          </a:xfrm>
          <a:prstGeom prst="rect">
            <a:avLst/>
          </a:prstGeom>
        </p:spPr>
      </p:pic>
    </p:spTree>
    <p:extLst>
      <p:ext uri="{BB962C8B-B14F-4D97-AF65-F5344CB8AC3E}">
        <p14:creationId xmlns:p14="http://schemas.microsoft.com/office/powerpoint/2010/main" val="1578451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End Slide">
    <p:bg>
      <p:bgPr>
        <a:solidFill>
          <a:schemeClr val="tx2"/>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62F0434C-4CE7-42D1-965D-0265C29B04F3}"/>
              </a:ext>
            </a:extLst>
          </p:cNvPr>
          <p:cNvGrpSpPr/>
          <p:nvPr/>
        </p:nvGrpSpPr>
        <p:grpSpPr>
          <a:xfrm>
            <a:off x="640118" y="3628208"/>
            <a:ext cx="5608321" cy="1019992"/>
            <a:chOff x="480089" y="2568756"/>
            <a:chExt cx="4206240" cy="764994"/>
          </a:xfrm>
        </p:grpSpPr>
        <p:sp>
          <p:nvSpPr>
            <p:cNvPr id="13" name="Rectangle 12">
              <a:extLst>
                <a:ext uri="{FF2B5EF4-FFF2-40B4-BE49-F238E27FC236}">
                  <a16:creationId xmlns:a16="http://schemas.microsoft.com/office/drawing/2014/main" id="{5E88497C-C551-4465-9953-8BC43D9E0208}"/>
                </a:ext>
              </a:extLst>
            </p:cNvPr>
            <p:cNvSpPr/>
            <p:nvPr/>
          </p:nvSpPr>
          <p:spPr>
            <a:xfrm>
              <a:off x="480089" y="2841307"/>
              <a:ext cx="4206240" cy="492443"/>
            </a:xfrm>
            <a:prstGeom prst="rect">
              <a:avLst/>
            </a:prstGeom>
          </p:spPr>
          <p:txBody>
            <a:bodyPr vert="horz" lIns="91440" tIns="45720" rIns="91440" bIns="45720" rtlCol="0" anchor="ctr">
              <a:noAutofit/>
            </a:bodyPr>
            <a:lstStyle/>
            <a:p>
              <a:r>
                <a:rPr lang="en-US" sz="4800" b="1" spc="100">
                  <a:solidFill>
                    <a:schemeClr val="bg1"/>
                  </a:solidFill>
                </a:rPr>
                <a:t>Thank You</a:t>
              </a:r>
            </a:p>
          </p:txBody>
        </p:sp>
        <p:cxnSp>
          <p:nvCxnSpPr>
            <p:cNvPr id="15" name="Straight Connector 14">
              <a:extLst>
                <a:ext uri="{FF2B5EF4-FFF2-40B4-BE49-F238E27FC236}">
                  <a16:creationId xmlns:a16="http://schemas.microsoft.com/office/drawing/2014/main" id="{1AF6007A-E1A7-46F3-B830-C81E32C3CF47}"/>
                </a:ext>
              </a:extLst>
            </p:cNvPr>
            <p:cNvCxnSpPr>
              <a:cxnSpLocks/>
            </p:cNvCxnSpPr>
            <p:nvPr/>
          </p:nvCxnSpPr>
          <p:spPr>
            <a:xfrm>
              <a:off x="520059" y="2568756"/>
              <a:ext cx="825801" cy="0"/>
            </a:xfrm>
            <a:prstGeom prst="line">
              <a:avLst/>
            </a:prstGeom>
            <a:ln w="22225"/>
          </p:spPr>
          <p:style>
            <a:lnRef idx="1">
              <a:schemeClr val="accent1"/>
            </a:lnRef>
            <a:fillRef idx="0">
              <a:schemeClr val="accent1"/>
            </a:fillRef>
            <a:effectRef idx="0">
              <a:schemeClr val="accent1"/>
            </a:effectRef>
            <a:fontRef idx="minor">
              <a:schemeClr val="tx1"/>
            </a:fontRef>
          </p:style>
        </p:cxnSp>
      </p:grpSp>
      <p:sp>
        <p:nvSpPr>
          <p:cNvPr id="7" name="Rectangle 6">
            <a:extLst>
              <a:ext uri="{FF2B5EF4-FFF2-40B4-BE49-F238E27FC236}">
                <a16:creationId xmlns:a16="http://schemas.microsoft.com/office/drawing/2014/main" id="{592EA454-74F4-0847-8EA2-1E94A436814E}"/>
              </a:ext>
            </a:extLst>
          </p:cNvPr>
          <p:cNvSpPr/>
          <p:nvPr userDrawn="1"/>
        </p:nvSpPr>
        <p:spPr>
          <a:xfrm>
            <a:off x="10058400" y="6109945"/>
            <a:ext cx="1752600" cy="6621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D042C449-64BB-9849-8FF2-4E5299BD1AF1}"/>
              </a:ext>
            </a:extLst>
          </p:cNvPr>
          <p:cNvPicPr>
            <a:picLocks noChangeAspect="1"/>
          </p:cNvPicPr>
          <p:nvPr userDrawn="1"/>
        </p:nvPicPr>
        <p:blipFill>
          <a:blip r:embed="rId2"/>
          <a:stretch>
            <a:fillRect/>
          </a:stretch>
        </p:blipFill>
        <p:spPr>
          <a:xfrm>
            <a:off x="693411" y="2176340"/>
            <a:ext cx="1569578" cy="972126"/>
          </a:xfrm>
          <a:prstGeom prst="rect">
            <a:avLst/>
          </a:prstGeom>
        </p:spPr>
      </p:pic>
    </p:spTree>
    <p:extLst>
      <p:ext uri="{BB962C8B-B14F-4D97-AF65-F5344CB8AC3E}">
        <p14:creationId xmlns:p14="http://schemas.microsoft.com/office/powerpoint/2010/main" val="3634648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sclaimer and Attribution">
    <p:bg>
      <p:bgPr>
        <a:solidFill>
          <a:schemeClr val="tx2"/>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E88497C-C551-4465-9953-8BC43D9E0208}"/>
              </a:ext>
            </a:extLst>
          </p:cNvPr>
          <p:cNvSpPr/>
          <p:nvPr/>
        </p:nvSpPr>
        <p:spPr>
          <a:xfrm>
            <a:off x="622291" y="2393810"/>
            <a:ext cx="5608321" cy="656591"/>
          </a:xfrm>
          <a:prstGeom prst="rect">
            <a:avLst/>
          </a:prstGeom>
        </p:spPr>
        <p:txBody>
          <a:bodyPr vert="horz" lIns="91440" tIns="45720" rIns="91440" bIns="45720" rtlCol="0" anchor="ctr">
            <a:noAutofit/>
          </a:bodyPr>
          <a:lstStyle/>
          <a:p>
            <a:r>
              <a:rPr lang="en-US" sz="2400" b="1" i="0" u="none" strike="noStrike" kern="1200" dirty="0">
                <a:solidFill>
                  <a:schemeClr val="bg1"/>
                </a:solidFill>
                <a:effectLst/>
                <a:latin typeface="+mn-lt"/>
                <a:ea typeface="+mn-ea"/>
                <a:cs typeface="+mn-cs"/>
              </a:rPr>
              <a:t>Disclaimer and Attribution</a:t>
            </a:r>
            <a:endParaRPr lang="en-US" sz="2400" b="0" i="0" u="none" strike="noStrike" kern="1200" dirty="0">
              <a:solidFill>
                <a:schemeClr val="bg1"/>
              </a:solidFill>
              <a:effectLst/>
              <a:latin typeface="+mn-lt"/>
              <a:ea typeface="+mn-ea"/>
              <a:cs typeface="+mn-cs"/>
            </a:endParaRPr>
          </a:p>
        </p:txBody>
      </p:sp>
      <p:sp>
        <p:nvSpPr>
          <p:cNvPr id="7" name="Rectangle 6">
            <a:extLst>
              <a:ext uri="{FF2B5EF4-FFF2-40B4-BE49-F238E27FC236}">
                <a16:creationId xmlns:a16="http://schemas.microsoft.com/office/drawing/2014/main" id="{592EA454-74F4-0847-8EA2-1E94A436814E}"/>
              </a:ext>
            </a:extLst>
          </p:cNvPr>
          <p:cNvSpPr/>
          <p:nvPr userDrawn="1"/>
        </p:nvSpPr>
        <p:spPr>
          <a:xfrm>
            <a:off x="10058400" y="6109945"/>
            <a:ext cx="1752600" cy="6621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D042C449-64BB-9849-8FF2-4E5299BD1AF1}"/>
              </a:ext>
            </a:extLst>
          </p:cNvPr>
          <p:cNvPicPr>
            <a:picLocks noChangeAspect="1"/>
          </p:cNvPicPr>
          <p:nvPr userDrawn="1"/>
        </p:nvPicPr>
        <p:blipFill>
          <a:blip r:embed="rId2"/>
          <a:stretch>
            <a:fillRect/>
          </a:stretch>
        </p:blipFill>
        <p:spPr>
          <a:xfrm>
            <a:off x="693411" y="5892800"/>
            <a:ext cx="885113" cy="548199"/>
          </a:xfrm>
          <a:prstGeom prst="rect">
            <a:avLst/>
          </a:prstGeom>
        </p:spPr>
      </p:pic>
      <p:sp>
        <p:nvSpPr>
          <p:cNvPr id="11" name="Rectangle 10">
            <a:extLst>
              <a:ext uri="{FF2B5EF4-FFF2-40B4-BE49-F238E27FC236}">
                <a16:creationId xmlns:a16="http://schemas.microsoft.com/office/drawing/2014/main" id="{1E782F75-D84E-E645-83B8-15BBE61BA1E7}"/>
              </a:ext>
            </a:extLst>
          </p:cNvPr>
          <p:cNvSpPr/>
          <p:nvPr userDrawn="1"/>
        </p:nvSpPr>
        <p:spPr>
          <a:xfrm>
            <a:off x="622291" y="3172950"/>
            <a:ext cx="11102349" cy="2238036"/>
          </a:xfrm>
          <a:prstGeom prst="rect">
            <a:avLst/>
          </a:prstGeom>
        </p:spPr>
        <p:txBody>
          <a:bodyPr vert="horz" lIns="91440" tIns="45720" rIns="91440" bIns="45720" rtlCol="0" anchor="ctr">
            <a:noAutofit/>
          </a:bodyPr>
          <a:lstStyle/>
          <a:p>
            <a:pPr marL="0" marR="0" lvl="0" indent="0" algn="l" defTabSz="1219261" rtl="0" eaLnBrk="1" fontAlgn="auto" latinLnBrk="0" hangingPunct="1">
              <a:lnSpc>
                <a:spcPct val="100000"/>
              </a:lnSpc>
              <a:spcBef>
                <a:spcPts val="300"/>
              </a:spcBef>
              <a:spcAft>
                <a:spcPts val="0"/>
              </a:spcAft>
              <a:buClr>
                <a:srgbClr val="E20000"/>
              </a:buClr>
              <a:buSzPct val="80000"/>
              <a:buFont typeface="Webdings" panose="05030102010509060703" pitchFamily="18" charset="2"/>
              <a:buNone/>
              <a:tabLst/>
              <a:defRPr/>
            </a:pPr>
            <a:r>
              <a:rPr kumimoji="0" lang="en-US" sz="1200" b="0" i="0" u="none" strike="noStrike" kern="1200" cap="none" spc="0" normalizeH="0" baseline="0" noProof="0" dirty="0">
                <a:ln>
                  <a:noFill/>
                </a:ln>
                <a:solidFill>
                  <a:srgbClr val="FFFFFF"/>
                </a:solidFill>
                <a:effectLst/>
                <a:uLnTx/>
                <a:uFillTx/>
                <a:latin typeface="Arial" charset="0"/>
                <a:cs typeface="Arial" charset="0"/>
              </a:rPr>
              <a:t>The information contained herein is for informational purposes only and is subject to change without notice. While every precaution has been taken in the preparation of this document, it may contain technical inaccuracies, omissions and typographical errors, and AMD is under no obligation to update or otherwise correct this information. Advanced Micro Devices, Inc. makes no representations or warranties with respect to the accuracy or completeness of the contents of this document, and assumes no liability of any kind, including the implied warranties of noninfringement, merchantability or fitness for particular purposes, with respect to the operation or use of AMD hardware, software or other products described herein. No license, including implied or arising by estoppel, to any intellectual property rights is granted by this document. Terms and limitations applicable to the purchase or use of AMD’s products are as set forth in a signed agreement between the parties or in AMD's Standard Terms and Conditions of Sale. GD-18</a:t>
            </a:r>
          </a:p>
          <a:p>
            <a:pPr marL="0" marR="0" lvl="0" indent="0" algn="l" defTabSz="1219261" rtl="0" eaLnBrk="1" fontAlgn="auto" latinLnBrk="0" hangingPunct="1">
              <a:lnSpc>
                <a:spcPct val="100000"/>
              </a:lnSpc>
              <a:spcBef>
                <a:spcPts val="1600"/>
              </a:spcBef>
              <a:spcAft>
                <a:spcPts val="0"/>
              </a:spcAft>
              <a:buClr>
                <a:srgbClr val="E20000"/>
              </a:buClr>
              <a:buSzPct val="80000"/>
              <a:buFont typeface="Webdings" panose="05030102010509060703" pitchFamily="18" charset="2"/>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Copyright 2021 Advanced Micro Devices, Inc.  All rights reserved.  Xilinx, the Xilinx logo, AMD, the AMD Arrow logo, </a:t>
            </a:r>
            <a:r>
              <a:rPr kumimoji="0" lang="en-US" sz="1200" b="0"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Alveo</a:t>
            </a: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1200" b="0"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Artix</a:t>
            </a: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1200" b="0"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Kintex</a:t>
            </a: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1200" b="0"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Kria</a:t>
            </a: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Spartan, Versal, Vitis, </a:t>
            </a:r>
            <a:r>
              <a:rPr kumimoji="0" lang="en-US" sz="1200" b="0"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Virtex</a:t>
            </a: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1200" b="0"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Vivado</a:t>
            </a: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Zynq, and other designated brands included herein are trademarks of Advanced Micro Devices, Inc.  Other product names used in this publication are for identification purposes only and may be trademarks of their respective companies.  </a:t>
            </a:r>
            <a:endParaRPr kumimoji="0" lang="en-US" sz="1200" b="0" i="0" u="none" strike="noStrike" kern="1200" cap="none" spc="0" normalizeH="0" baseline="0" noProof="0" dirty="0">
              <a:ln>
                <a:noFill/>
              </a:ln>
              <a:solidFill>
                <a:srgbClr val="00B2BA"/>
              </a:solidFill>
              <a:effectLst/>
              <a:uLnTx/>
              <a:uFillTx/>
              <a:latin typeface="Arial" panose="020B0604020202020204" pitchFamily="34" charset="0"/>
              <a:ea typeface="+mn-ea"/>
              <a:cs typeface="Arial" panose="020B0604020202020204" pitchFamily="34" charset="0"/>
            </a:endParaRPr>
          </a:p>
          <a:p>
            <a:pPr marL="0" marR="0" lvl="0" indent="0" algn="l" defTabSz="1219261" rtl="0" eaLnBrk="1" fontAlgn="auto" latinLnBrk="0" hangingPunct="1">
              <a:lnSpc>
                <a:spcPct val="100000"/>
              </a:lnSpc>
              <a:spcBef>
                <a:spcPts val="300"/>
              </a:spcBef>
              <a:spcAft>
                <a:spcPts val="0"/>
              </a:spcAft>
              <a:buClr>
                <a:srgbClr val="E20000"/>
              </a:buClr>
              <a:buSzPct val="80000"/>
              <a:buFont typeface="Webdings" panose="05030102010509060703" pitchFamily="18" charset="2"/>
              <a:buNone/>
              <a:tabLst/>
              <a:defRPr/>
            </a:pPr>
            <a:endParaRPr kumimoji="0" lang="en-US" sz="1200" b="0" i="0" u="none" strike="noStrike" kern="1200" cap="none" spc="0" normalizeH="0" baseline="0" noProof="0" dirty="0">
              <a:ln>
                <a:noFill/>
              </a:ln>
              <a:solidFill>
                <a:srgbClr val="FFFFFF"/>
              </a:solidFill>
              <a:effectLst/>
              <a:uLnTx/>
              <a:uFillTx/>
              <a:latin typeface="Arial" charset="0"/>
              <a:cs typeface="Arial" charset="0"/>
            </a:endParaRPr>
          </a:p>
        </p:txBody>
      </p:sp>
    </p:spTree>
    <p:extLst>
      <p:ext uri="{BB962C8B-B14F-4D97-AF65-F5344CB8AC3E}">
        <p14:creationId xmlns:p14="http://schemas.microsoft.com/office/powerpoint/2010/main" val="3320308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Title and Content (WHI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Content Placeholder 2"/>
          <p:cNvSpPr>
            <a:spLocks noGrp="1"/>
          </p:cNvSpPr>
          <p:nvPr>
            <p:ph idx="1"/>
          </p:nvPr>
        </p:nvSpPr>
        <p:spPr>
          <a:xfrm>
            <a:off x="647700" y="1463040"/>
            <a:ext cx="10515600" cy="4759404"/>
          </a:xfrm>
        </p:spPr>
        <p:txBody>
          <a:bodyPr/>
          <a:lstStyle>
            <a:lvl1pPr>
              <a:defRPr>
                <a:solidFill>
                  <a:schemeClr val="tx1"/>
                </a:solidFill>
              </a:defRPr>
            </a:lvl1pPr>
            <a:lvl2pPr>
              <a:defRPr>
                <a:solidFill>
                  <a:schemeClr val="tx1"/>
                </a:solidFill>
              </a:defRPr>
            </a:lvl2pPr>
            <a:lvl3pPr>
              <a:defRPr sz="1600">
                <a:solidFill>
                  <a:schemeClr val="tx1"/>
                </a:solidFill>
              </a:defRPr>
            </a:lvl3pPr>
            <a:lvl4pPr>
              <a:defRPr sz="1400">
                <a:solidFill>
                  <a:schemeClr val="tx1"/>
                </a:solidFill>
              </a:defRPr>
            </a:lvl4pPr>
            <a:lvl5pPr>
              <a:tabLst>
                <a:tab pos="2626525" algn="l"/>
              </a:tabLst>
              <a:defRPr sz="1400">
                <a:solidFill>
                  <a:schemeClr val="tx1"/>
                </a:solidFill>
              </a:defRPr>
            </a:lvl5p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9" name="Slide Number Placeholder 8"/>
          <p:cNvSpPr>
            <a:spLocks noGrp="1"/>
          </p:cNvSpPr>
          <p:nvPr>
            <p:ph type="sldNum" sz="quarter" idx="10"/>
          </p:nvPr>
        </p:nvSpPr>
        <p:spPr/>
        <p:txBody>
          <a:bodyPr/>
          <a:lstStyle/>
          <a:p>
            <a:pPr>
              <a:defRPr/>
            </a:pPr>
            <a:r>
              <a:rPr lang="en-US"/>
              <a:t>Intro to HLS 11- </a:t>
            </a:r>
            <a:fld id="{060BD193-E118-4B16-863C-C8C12C675E3E}" type="slidenum">
              <a:rPr lang="en-US" smtClean="0"/>
              <a:pPr>
                <a:defRPr/>
              </a:pPr>
              <a:t>‹#›</a:t>
            </a:fld>
            <a:endParaRPr lang="en-US" dirty="0"/>
          </a:p>
        </p:txBody>
      </p:sp>
    </p:spTree>
    <p:extLst>
      <p:ext uri="{BB962C8B-B14F-4D97-AF65-F5344CB8AC3E}">
        <p14:creationId xmlns:p14="http://schemas.microsoft.com/office/powerpoint/2010/main" val="3700320362"/>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Two Content (WHI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Content Placeholder 2"/>
          <p:cNvSpPr>
            <a:spLocks noGrp="1"/>
          </p:cNvSpPr>
          <p:nvPr>
            <p:ph sz="half" idx="1"/>
          </p:nvPr>
        </p:nvSpPr>
        <p:spPr>
          <a:xfrm>
            <a:off x="621793" y="1463042"/>
            <a:ext cx="5181600" cy="4835843"/>
          </a:xfrm>
        </p:spPr>
        <p:txBody>
          <a:bodyPr/>
          <a:lstStyle>
            <a:lvl1pPr>
              <a:defRPr sz="1799">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5955793" y="1463042"/>
            <a:ext cx="5181600" cy="4835843"/>
          </a:xfrm>
        </p:spPr>
        <p:txBody>
          <a:bodyPr/>
          <a:lstStyle>
            <a:lvl1pPr>
              <a:defRPr sz="1799">
                <a:solidFill>
                  <a:schemeClr val="tx1"/>
                </a:solidFill>
              </a:defRPr>
            </a:lvl1pPr>
            <a:lvl2pPr>
              <a:defRPr sz="1600">
                <a:solidFill>
                  <a:schemeClr val="tx1"/>
                </a:solidFill>
              </a:defRPr>
            </a:lvl2pPr>
            <a:lvl3pPr>
              <a:defRPr sz="1799">
                <a:solidFill>
                  <a:schemeClr val="tx1"/>
                </a:solidFill>
              </a:defRPr>
            </a:lvl3pPr>
            <a:lvl4pPr>
              <a:defRPr sz="1600">
                <a:solidFill>
                  <a:schemeClr val="tx1"/>
                </a:solidFill>
              </a:defRPr>
            </a:lvl4pPr>
            <a:lvl5pPr>
              <a:defRPr sz="1600">
                <a:solidFill>
                  <a:schemeClr val="tx1"/>
                </a:solidFill>
              </a:defRPr>
            </a:lvl5p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9" name="Slide Number Placeholder 8"/>
          <p:cNvSpPr>
            <a:spLocks noGrp="1"/>
          </p:cNvSpPr>
          <p:nvPr>
            <p:ph type="sldNum" sz="quarter" idx="10"/>
          </p:nvPr>
        </p:nvSpPr>
        <p:spPr/>
        <p:txBody>
          <a:bodyPr/>
          <a:lstStyle/>
          <a:p>
            <a:pPr>
              <a:defRPr/>
            </a:pPr>
            <a:r>
              <a:rPr lang="en-US"/>
              <a:t>Intro to HLS 11- </a:t>
            </a:r>
            <a:fld id="{060BD193-E118-4B16-863C-C8C12C675E3E}" type="slidenum">
              <a:rPr lang="en-US" smtClean="0"/>
              <a:pPr>
                <a:defRPr/>
              </a:pPr>
              <a:t>‹#›</a:t>
            </a:fld>
            <a:endParaRPr lang="en-US" dirty="0"/>
          </a:p>
        </p:txBody>
      </p:sp>
    </p:spTree>
    <p:extLst>
      <p:ext uri="{BB962C8B-B14F-4D97-AF65-F5344CB8AC3E}">
        <p14:creationId xmlns:p14="http://schemas.microsoft.com/office/powerpoint/2010/main" val="4252055960"/>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 Only (WHI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8" name="Slide Number Placeholder 7"/>
          <p:cNvSpPr>
            <a:spLocks noGrp="1"/>
          </p:cNvSpPr>
          <p:nvPr>
            <p:ph type="sldNum" sz="quarter" idx="10"/>
          </p:nvPr>
        </p:nvSpPr>
        <p:spPr/>
        <p:txBody>
          <a:bodyPr/>
          <a:lstStyle/>
          <a:p>
            <a:pPr>
              <a:defRPr/>
            </a:pPr>
            <a:r>
              <a:rPr lang="en-US"/>
              <a:t>Intro to HLS 11- </a:t>
            </a:r>
            <a:fld id="{060BD193-E118-4B16-863C-C8C12C675E3E}" type="slidenum">
              <a:rPr lang="en-US" smtClean="0"/>
              <a:pPr>
                <a:defRPr/>
              </a:pPr>
              <a:t>‹#›</a:t>
            </a:fld>
            <a:endParaRPr lang="en-US" dirty="0"/>
          </a:p>
        </p:txBody>
      </p:sp>
    </p:spTree>
    <p:extLst>
      <p:ext uri="{BB962C8B-B14F-4D97-AF65-F5344CB8AC3E}">
        <p14:creationId xmlns:p14="http://schemas.microsoft.com/office/powerpoint/2010/main" val="3937379988"/>
      </p:ext>
    </p:extLst>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9121" y="234696"/>
            <a:ext cx="11033760" cy="975360"/>
          </a:xfrm>
          <a:prstGeom prst="rect">
            <a:avLst/>
          </a:prstGeom>
        </p:spPr>
        <p:txBody>
          <a:bodyPr vert="horz" lIns="91440" tIns="45720" rIns="91440" bIns="45720" rtlCol="0" anchor="t" anchorCtr="0">
            <a:noAutofit/>
          </a:bodyPr>
          <a:lstStyle/>
          <a:p>
            <a:r>
              <a:rPr lang="en-US"/>
              <a:t>Click to edit Master title style</a:t>
            </a:r>
          </a:p>
        </p:txBody>
      </p:sp>
      <p:sp>
        <p:nvSpPr>
          <p:cNvPr id="5" name="Slide Number Placeholder 4"/>
          <p:cNvSpPr>
            <a:spLocks noGrp="1"/>
          </p:cNvSpPr>
          <p:nvPr>
            <p:ph type="sldNum" sz="quarter" idx="4"/>
          </p:nvPr>
        </p:nvSpPr>
        <p:spPr>
          <a:xfrm>
            <a:off x="579121" y="6325606"/>
            <a:ext cx="975360" cy="365125"/>
          </a:xfrm>
          <a:prstGeom prst="rect">
            <a:avLst/>
          </a:prstGeom>
        </p:spPr>
        <p:txBody>
          <a:bodyPr vert="horz" lIns="91440" tIns="45720" rIns="91440" bIns="45720" rtlCol="0" anchor="ctr"/>
          <a:lstStyle>
            <a:lvl1pPr marL="0" indent="0" algn="l">
              <a:buFont typeface="Arial" panose="020B0604020202020204" pitchFamily="34" charset="0"/>
              <a:buNone/>
              <a:defRPr sz="1133" b="1">
                <a:solidFill>
                  <a:schemeClr val="tx1"/>
                </a:solidFill>
              </a:defRPr>
            </a:lvl1pPr>
          </a:lstStyle>
          <a:p>
            <a:fld id="{626C978B-826E-438C-909A-E9C381D3FF04}" type="slidenum">
              <a:rPr lang="en-US" smtClean="0"/>
              <a:pPr/>
              <a:t>‹#›</a:t>
            </a:fld>
            <a:endParaRPr lang="en-US"/>
          </a:p>
        </p:txBody>
      </p:sp>
      <p:sp>
        <p:nvSpPr>
          <p:cNvPr id="3" name="Text Placeholder 2"/>
          <p:cNvSpPr>
            <a:spLocks noGrp="1"/>
          </p:cNvSpPr>
          <p:nvPr>
            <p:ph type="body" idx="1"/>
          </p:nvPr>
        </p:nvSpPr>
        <p:spPr>
          <a:xfrm>
            <a:off x="579121" y="1470401"/>
            <a:ext cx="11033760" cy="4632960"/>
          </a:xfrm>
          <a:prstGeom prst="rect">
            <a:avLst/>
          </a:prstGeom>
        </p:spPr>
        <p:txBody>
          <a:bodyPr vert="horz" lIns="91440" tIns="45720" rIns="91440" bIns="4572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a:extLst>
              <a:ext uri="{FF2B5EF4-FFF2-40B4-BE49-F238E27FC236}">
                <a16:creationId xmlns:a16="http://schemas.microsoft.com/office/drawing/2014/main" id="{BCBBAE11-7273-0744-B2EB-4D22266C9B89}"/>
              </a:ext>
            </a:extLst>
          </p:cNvPr>
          <p:cNvPicPr>
            <a:picLocks noChangeAspect="1"/>
          </p:cNvPicPr>
          <p:nvPr userDrawn="1"/>
        </p:nvPicPr>
        <p:blipFill>
          <a:blip r:embed="rId14"/>
          <a:stretch>
            <a:fillRect/>
          </a:stretch>
        </p:blipFill>
        <p:spPr>
          <a:xfrm>
            <a:off x="11028823" y="6279370"/>
            <a:ext cx="576531" cy="357077"/>
          </a:xfrm>
          <a:prstGeom prst="rect">
            <a:avLst/>
          </a:prstGeom>
        </p:spPr>
      </p:pic>
      <p:sp>
        <p:nvSpPr>
          <p:cNvPr id="6" name="fc" descr="&#10;© Copyright 2022 AMD">
            <a:extLst>
              <a:ext uri="{FF2B5EF4-FFF2-40B4-BE49-F238E27FC236}">
                <a16:creationId xmlns:a16="http://schemas.microsoft.com/office/drawing/2014/main" id="{D9BDFE48-89C9-4607-916A-D04E2C595CE6}"/>
              </a:ext>
            </a:extLst>
          </p:cNvPr>
          <p:cNvSpPr txBox="1"/>
          <p:nvPr userDrawn="1"/>
        </p:nvSpPr>
        <p:spPr>
          <a:xfrm>
            <a:off x="0" y="6512560"/>
            <a:ext cx="12192000" cy="377026"/>
          </a:xfrm>
          <a:prstGeom prst="rect">
            <a:avLst/>
          </a:prstGeom>
          <a:noFill/>
        </p:spPr>
        <p:txBody>
          <a:bodyPr vert="horz" rtlCol="0">
            <a:spAutoFit/>
          </a:bodyPr>
          <a:lstStyle/>
          <a:p>
            <a:pPr algn="ctr"/>
            <a:endParaRPr lang="en-US" sz="850" b="0" i="0" u="none" baseline="0">
              <a:solidFill>
                <a:srgbClr val="000000"/>
              </a:solidFill>
              <a:latin typeface="Microsoft Sans Serif" panose="020B0604020202020204" pitchFamily="34" charset="0"/>
            </a:endParaRPr>
          </a:p>
          <a:p>
            <a:pPr algn="ctr"/>
            <a:r>
              <a:rPr lang="en-US" sz="1000" b="0" i="0" u="none" baseline="0">
                <a:solidFill>
                  <a:srgbClr val="000000"/>
                </a:solidFill>
                <a:latin typeface="Arial" panose="020B0604020202020204" pitchFamily="34" charset="0"/>
              </a:rPr>
              <a:t>© Copyright 2022 AMD</a:t>
            </a:r>
          </a:p>
        </p:txBody>
      </p:sp>
    </p:spTree>
    <p:extLst>
      <p:ext uri="{BB962C8B-B14F-4D97-AF65-F5344CB8AC3E}">
        <p14:creationId xmlns:p14="http://schemas.microsoft.com/office/powerpoint/2010/main" val="3868898160"/>
      </p:ext>
    </p:extLst>
  </p:cSld>
  <p:clrMap bg1="lt1" tx1="dk1" bg2="lt2" tx2="dk2" accent1="accent1" accent2="accent2" accent3="accent3" accent4="accent4" accent5="accent5" accent6="accent6" hlink="hlink" folHlink="folHlink"/>
  <p:sldLayoutIdLst>
    <p:sldLayoutId id="2147483985" r:id="rId1"/>
    <p:sldLayoutId id="2147483983" r:id="rId2"/>
    <p:sldLayoutId id="2147483979" r:id="rId3"/>
    <p:sldLayoutId id="2147483973" r:id="rId4"/>
    <p:sldLayoutId id="2147483938" r:id="rId5"/>
    <p:sldLayoutId id="2147483961" r:id="rId6"/>
    <p:sldLayoutId id="2147483982" r:id="rId7"/>
    <p:sldLayoutId id="2147483986" r:id="rId8"/>
    <p:sldLayoutId id="2147483964" r:id="rId9"/>
    <p:sldLayoutId id="2147483988" r:id="rId10"/>
    <p:sldLayoutId id="2147483989" r:id="rId11"/>
    <p:sldLayoutId id="2147483990"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45" rtl="0" eaLnBrk="1" latinLnBrk="0" hangingPunct="1">
        <a:lnSpc>
          <a:spcPct val="90000"/>
        </a:lnSpc>
        <a:spcBef>
          <a:spcPct val="0"/>
        </a:spcBef>
        <a:buNone/>
        <a:defRPr lang="en-US" sz="3200" b="1" i="0" kern="1200" dirty="0" smtClean="0">
          <a:solidFill>
            <a:schemeClr val="tx1"/>
          </a:solidFill>
          <a:latin typeface="Arial" charset="0"/>
          <a:ea typeface="+mj-ea"/>
          <a:cs typeface="Arial" charset="0"/>
        </a:defRPr>
      </a:lvl1pPr>
    </p:titleStyle>
    <p:bodyStyle>
      <a:lvl1pPr marL="234962" indent="-234962" algn="l" defTabSz="1219261" rtl="0" eaLnBrk="1" latinLnBrk="0" hangingPunct="1">
        <a:lnSpc>
          <a:spcPct val="100000"/>
        </a:lnSpc>
        <a:spcBef>
          <a:spcPts val="1600"/>
        </a:spcBef>
        <a:buClr>
          <a:schemeClr val="accent1"/>
        </a:buClr>
        <a:buSzPct val="80000"/>
        <a:buFont typeface="Webdings" panose="05030102010509060703" pitchFamily="18" charset="2"/>
        <a:buChar char="4"/>
        <a:defRPr lang="en-US" sz="2400" b="0" kern="1200" dirty="0" smtClean="0">
          <a:solidFill>
            <a:schemeClr val="tx1"/>
          </a:solidFill>
          <a:latin typeface="Arial" panose="020B0604020202020204" pitchFamily="34" charset="0"/>
          <a:ea typeface="+mn-ea"/>
          <a:cs typeface="Arial" panose="020B0604020202020204" pitchFamily="34" charset="0"/>
        </a:defRPr>
      </a:lvl1pPr>
      <a:lvl2pPr marL="452989" indent="-220144" algn="l" defTabSz="914445" rtl="0" eaLnBrk="1" latinLnBrk="0" hangingPunct="1">
        <a:lnSpc>
          <a:spcPct val="95000"/>
        </a:lnSpc>
        <a:spcBef>
          <a:spcPts val="600"/>
        </a:spcBef>
        <a:buClr>
          <a:schemeClr val="accent1"/>
        </a:buClr>
        <a:buSzPct val="80000"/>
        <a:buFont typeface="Wingdings 3" panose="05040102010807070707" pitchFamily="18" charset="2"/>
        <a:buChar char="¬"/>
        <a:defRPr lang="en-US" sz="2000" kern="1200" dirty="0" smtClean="0">
          <a:solidFill>
            <a:schemeClr val="tx1"/>
          </a:solidFill>
          <a:latin typeface="Arial" panose="020B0604020202020204" pitchFamily="34" charset="0"/>
          <a:ea typeface="+mn-ea"/>
          <a:cs typeface="Arial" panose="020B0604020202020204" pitchFamily="34" charset="0"/>
        </a:defRPr>
      </a:lvl2pPr>
      <a:lvl3pPr marL="685835" indent="-232845" algn="l" defTabSz="914445" rtl="0" eaLnBrk="1" latinLnBrk="0" hangingPunct="1">
        <a:lnSpc>
          <a:spcPct val="95000"/>
        </a:lnSpc>
        <a:spcBef>
          <a:spcPts val="833"/>
        </a:spcBef>
        <a:buClr>
          <a:schemeClr val="tx1"/>
        </a:buClr>
        <a:buSzPct val="80000"/>
        <a:buFont typeface="Wingdings 3" panose="05040102010807070707" pitchFamily="18" charset="2"/>
        <a:buChar char="¬"/>
        <a:defRPr lang="en-US" sz="1600" kern="1200" dirty="0" smtClean="0">
          <a:solidFill>
            <a:schemeClr val="tx1"/>
          </a:solidFill>
          <a:latin typeface="Arial" panose="020B0604020202020204" pitchFamily="34" charset="0"/>
          <a:ea typeface="+mn-ea"/>
          <a:cs typeface="Arial" panose="020B0604020202020204" pitchFamily="34" charset="0"/>
        </a:defRPr>
      </a:lvl3pPr>
      <a:lvl4pPr marL="916563" indent="-230729" algn="l" defTabSz="914445" rtl="0" eaLnBrk="1" latinLnBrk="0" hangingPunct="1">
        <a:lnSpc>
          <a:spcPct val="95000"/>
        </a:lnSpc>
        <a:spcBef>
          <a:spcPts val="833"/>
        </a:spcBef>
        <a:buClr>
          <a:schemeClr val="tx1"/>
        </a:buClr>
        <a:buSzPct val="80000"/>
        <a:buFont typeface="Wingdings 3" panose="05040102010807070707" pitchFamily="18" charset="2"/>
        <a:buChar char="¬"/>
        <a:defRPr lang="en-US" sz="1600" kern="1200" dirty="0" smtClean="0">
          <a:solidFill>
            <a:schemeClr val="tx1"/>
          </a:solidFill>
          <a:latin typeface="Arial" panose="020B0604020202020204" pitchFamily="34" charset="0"/>
          <a:ea typeface="+mn-ea"/>
          <a:cs typeface="Arial" panose="020B0604020202020204" pitchFamily="34" charset="0"/>
        </a:defRPr>
      </a:lvl4pPr>
      <a:lvl5pPr marL="1138824" indent="-222262" algn="l" defTabSz="914445" rtl="0" eaLnBrk="1" latinLnBrk="0" hangingPunct="1">
        <a:lnSpc>
          <a:spcPct val="95000"/>
        </a:lnSpc>
        <a:spcBef>
          <a:spcPts val="833"/>
        </a:spcBef>
        <a:buClr>
          <a:schemeClr val="tx1"/>
        </a:buClr>
        <a:buSzPct val="80000"/>
        <a:buFont typeface="Wingdings 3" panose="05040102010807070707" pitchFamily="18" charset="2"/>
        <a:buChar char="¬"/>
        <a:tabLst/>
        <a:defRPr lang="en-US" sz="1600" kern="1200" dirty="0">
          <a:solidFill>
            <a:schemeClr val="tx1"/>
          </a:solidFill>
          <a:latin typeface="Arial" panose="020B0604020202020204" pitchFamily="34" charset="0"/>
          <a:ea typeface="+mn-ea"/>
          <a:cs typeface="Arial" panose="020B0604020202020204" pitchFamily="34" charset="0"/>
        </a:defRPr>
      </a:lvl5pPr>
      <a:lvl6pPr marL="2514725" indent="-228612" algn="l" defTabSz="914445"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948" indent="-228612" algn="l" defTabSz="914445"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171" indent="-228612" algn="l" defTabSz="914445"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394" indent="-228612" algn="l" defTabSz="914445"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p:bodyStyle>
    <p:otherStyle>
      <a:defPPr>
        <a:defRPr lang="en-US"/>
      </a:defPPr>
      <a:lvl1pPr marL="0" algn="l" defTabSz="914445" rtl="0" eaLnBrk="1" latinLnBrk="0" hangingPunct="1">
        <a:defRPr sz="1801" kern="1200">
          <a:solidFill>
            <a:schemeClr val="tx1"/>
          </a:solidFill>
          <a:latin typeface="+mn-lt"/>
          <a:ea typeface="+mn-ea"/>
          <a:cs typeface="+mn-cs"/>
        </a:defRPr>
      </a:lvl1pPr>
      <a:lvl2pPr marL="457223" algn="l" defTabSz="914445" rtl="0" eaLnBrk="1" latinLnBrk="0" hangingPunct="1">
        <a:defRPr sz="1801" kern="1200">
          <a:solidFill>
            <a:schemeClr val="tx1"/>
          </a:solidFill>
          <a:latin typeface="+mn-lt"/>
          <a:ea typeface="+mn-ea"/>
          <a:cs typeface="+mn-cs"/>
        </a:defRPr>
      </a:lvl2pPr>
      <a:lvl3pPr marL="914445" algn="l" defTabSz="914445" rtl="0" eaLnBrk="1" latinLnBrk="0" hangingPunct="1">
        <a:defRPr sz="1801" kern="1200">
          <a:solidFill>
            <a:schemeClr val="tx1"/>
          </a:solidFill>
          <a:latin typeface="+mn-lt"/>
          <a:ea typeface="+mn-ea"/>
          <a:cs typeface="+mn-cs"/>
        </a:defRPr>
      </a:lvl3pPr>
      <a:lvl4pPr marL="1371668" algn="l" defTabSz="914445" rtl="0" eaLnBrk="1" latinLnBrk="0" hangingPunct="1">
        <a:defRPr sz="1801" kern="1200">
          <a:solidFill>
            <a:schemeClr val="tx1"/>
          </a:solidFill>
          <a:latin typeface="+mn-lt"/>
          <a:ea typeface="+mn-ea"/>
          <a:cs typeface="+mn-cs"/>
        </a:defRPr>
      </a:lvl4pPr>
      <a:lvl5pPr marL="1828892" algn="l" defTabSz="914445" rtl="0" eaLnBrk="1" latinLnBrk="0" hangingPunct="1">
        <a:defRPr sz="1801" kern="1200">
          <a:solidFill>
            <a:schemeClr val="tx1"/>
          </a:solidFill>
          <a:latin typeface="+mn-lt"/>
          <a:ea typeface="+mn-ea"/>
          <a:cs typeface="+mn-cs"/>
        </a:defRPr>
      </a:lvl5pPr>
      <a:lvl6pPr marL="2286115" algn="l" defTabSz="914445" rtl="0" eaLnBrk="1" latinLnBrk="0" hangingPunct="1">
        <a:defRPr sz="1801" kern="1200">
          <a:solidFill>
            <a:schemeClr val="tx1"/>
          </a:solidFill>
          <a:latin typeface="+mn-lt"/>
          <a:ea typeface="+mn-ea"/>
          <a:cs typeface="+mn-cs"/>
        </a:defRPr>
      </a:lvl6pPr>
      <a:lvl7pPr marL="2743337" algn="l" defTabSz="914445" rtl="0" eaLnBrk="1" latinLnBrk="0" hangingPunct="1">
        <a:defRPr sz="1801" kern="1200">
          <a:solidFill>
            <a:schemeClr val="tx1"/>
          </a:solidFill>
          <a:latin typeface="+mn-lt"/>
          <a:ea typeface="+mn-ea"/>
          <a:cs typeface="+mn-cs"/>
        </a:defRPr>
      </a:lvl7pPr>
      <a:lvl8pPr marL="3200560" algn="l" defTabSz="914445" rtl="0" eaLnBrk="1" latinLnBrk="0" hangingPunct="1">
        <a:defRPr sz="1801" kern="1200">
          <a:solidFill>
            <a:schemeClr val="tx1"/>
          </a:solidFill>
          <a:latin typeface="+mn-lt"/>
          <a:ea typeface="+mn-ea"/>
          <a:cs typeface="+mn-cs"/>
        </a:defRPr>
      </a:lvl8pPr>
      <a:lvl9pPr marL="3657783" algn="l" defTabSz="914445" rtl="0" eaLnBrk="1" latinLnBrk="0" hangingPunct="1">
        <a:defRPr sz="180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orient="horz" pos="4176" userDrawn="1">
          <p15:clr>
            <a:srgbClr val="F26B43"/>
          </p15:clr>
        </p15:guide>
        <p15:guide id="4" pos="448" userDrawn="1">
          <p15:clr>
            <a:srgbClr val="F26B43"/>
          </p15:clr>
        </p15:guide>
        <p15:guide id="5" pos="7232" userDrawn="1">
          <p15:clr>
            <a:srgbClr val="F26B43"/>
          </p15:clr>
        </p15:guide>
        <p15:guide id="6" orient="horz" pos="208" userDrawn="1">
          <p15:clr>
            <a:srgbClr val="F26B43"/>
          </p15:clr>
        </p15:guide>
        <p15:guide id="7" orient="horz" pos="97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image" Target="../media/image7.jpeg"/><Relationship Id="rId7"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11.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 Id="rId9" Type="http://schemas.openxmlformats.org/officeDocument/2006/relationships/image" Target="../media/image13.jpeg"/></Relationships>
</file>

<file path=ppt/slides/_rels/slide1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E05BA-2C7D-4921-982A-84A30B5EE55B}"/>
              </a:ext>
            </a:extLst>
          </p:cNvPr>
          <p:cNvSpPr>
            <a:spLocks noGrp="1"/>
          </p:cNvSpPr>
          <p:nvPr>
            <p:ph type="title"/>
          </p:nvPr>
        </p:nvSpPr>
        <p:spPr/>
        <p:txBody>
          <a:bodyPr/>
          <a:lstStyle/>
          <a:p>
            <a:r>
              <a:rPr lang="en-US" altLang="zh-CN" dirty="0">
                <a:ea typeface="SimSun" pitchFamily="2" charset="-122"/>
              </a:rPr>
              <a:t>Introduction to High-Level Synthesis with Vitis HLS</a:t>
            </a:r>
            <a:endParaRPr lang="zh-CN" altLang="en-US" dirty="0"/>
          </a:p>
        </p:txBody>
      </p:sp>
      <p:sp>
        <p:nvSpPr>
          <p:cNvPr id="4" name="Subtitle 3">
            <a:extLst>
              <a:ext uri="{FF2B5EF4-FFF2-40B4-BE49-F238E27FC236}">
                <a16:creationId xmlns:a16="http://schemas.microsoft.com/office/drawing/2014/main" id="{7F7F1FE8-F7DE-4816-854E-F163AD6A1C9B}"/>
              </a:ext>
            </a:extLst>
          </p:cNvPr>
          <p:cNvSpPr>
            <a:spLocks noGrp="1"/>
          </p:cNvSpPr>
          <p:nvPr>
            <p:ph type="subTitle" idx="1"/>
          </p:nvPr>
        </p:nvSpPr>
        <p:spPr>
          <a:xfrm>
            <a:off x="579121" y="4490866"/>
            <a:ext cx="7417990" cy="400110"/>
          </a:xfrm>
        </p:spPr>
        <p:txBody>
          <a:bodyPr/>
          <a:lstStyle/>
          <a:p>
            <a:r>
              <a:rPr lang="en-US" dirty="0"/>
              <a:t>XUP</a:t>
            </a:r>
          </a:p>
        </p:txBody>
      </p:sp>
    </p:spTree>
    <p:extLst>
      <p:ext uri="{BB962C8B-B14F-4D97-AF65-F5344CB8AC3E}">
        <p14:creationId xmlns:p14="http://schemas.microsoft.com/office/powerpoint/2010/main" val="1176036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Objectives</a:t>
            </a:r>
          </a:p>
        </p:txBody>
      </p:sp>
      <p:sp>
        <p:nvSpPr>
          <p:cNvPr id="2" name="Content Placeholder 1"/>
          <p:cNvSpPr>
            <a:spLocks noGrp="1"/>
          </p:cNvSpPr>
          <p:nvPr>
            <p:ph idx="1"/>
          </p:nvPr>
        </p:nvSpPr>
        <p:spPr/>
        <p:txBody>
          <a:bodyPr/>
          <a:lstStyle/>
          <a:p>
            <a:pPr>
              <a:lnSpc>
                <a:spcPts val="2200"/>
              </a:lnSpc>
              <a:tabLst>
                <a:tab pos="228600" algn="l"/>
              </a:tabLst>
            </a:pPr>
            <a:r>
              <a:rPr lang="en-US" altLang="zh-CN" dirty="0">
                <a:solidFill>
                  <a:schemeClr val="tx1"/>
                </a:solidFill>
                <a:cs typeface="Arial" pitchFamily="34" charset="0"/>
              </a:rPr>
              <a:t>After completing this module, you will be able to:</a:t>
            </a:r>
          </a:p>
          <a:p>
            <a:pPr>
              <a:lnSpc>
                <a:spcPts val="1000"/>
              </a:lnSpc>
              <a:buNone/>
            </a:pPr>
            <a:endParaRPr lang="en-US" altLang="zh-CN" dirty="0">
              <a:solidFill>
                <a:schemeClr val="tx1"/>
              </a:solidFill>
            </a:endParaRPr>
          </a:p>
          <a:p>
            <a:pPr lvl="1"/>
            <a:r>
              <a:rPr lang="en-US" dirty="0"/>
              <a:t>Describe the high level synthesis flow</a:t>
            </a:r>
          </a:p>
          <a:p>
            <a:pPr lvl="1"/>
            <a:r>
              <a:rPr lang="en-US" dirty="0"/>
              <a:t>Understand the control and </a:t>
            </a:r>
            <a:r>
              <a:rPr lang="en-US" dirty="0" err="1"/>
              <a:t>datapath</a:t>
            </a:r>
            <a:r>
              <a:rPr lang="en-US" dirty="0"/>
              <a:t> extraction </a:t>
            </a:r>
          </a:p>
          <a:p>
            <a:pPr lvl="1"/>
            <a:r>
              <a:rPr lang="en-US" dirty="0"/>
              <a:t>Describe scheduling and binding phases of the HLS flow</a:t>
            </a:r>
          </a:p>
          <a:p>
            <a:pPr lvl="1"/>
            <a:r>
              <a:rPr lang="en-US" dirty="0"/>
              <a:t>List the priorities of directives set by Vitis HLS</a:t>
            </a:r>
          </a:p>
          <a:p>
            <a:pPr lvl="1"/>
            <a:r>
              <a:rPr lang="en-US" dirty="0"/>
              <a:t>List comprehensive language support in Vitis HLS</a:t>
            </a:r>
          </a:p>
          <a:p>
            <a:pPr lvl="1"/>
            <a:r>
              <a:rPr lang="en-US" dirty="0"/>
              <a:t>Identify steps involved in validation and verification flows</a:t>
            </a:r>
          </a:p>
        </p:txBody>
      </p:sp>
      <p:sp>
        <p:nvSpPr>
          <p:cNvPr id="3" name="Slide Number Placeholder 2"/>
          <p:cNvSpPr>
            <a:spLocks noGrp="1"/>
          </p:cNvSpPr>
          <p:nvPr>
            <p:ph type="sldNum" sz="quarter" idx="10"/>
          </p:nvPr>
        </p:nvSpPr>
        <p:spPr/>
        <p:txBody>
          <a:bodyPr/>
          <a:lstStyle/>
          <a:p>
            <a:pPr>
              <a:defRPr/>
            </a:pPr>
            <a:r>
              <a:rPr lang="en-US" dirty="0"/>
              <a:t>Intro to HLS 11- </a:t>
            </a:r>
            <a:fld id="{060BD193-E118-4B16-863C-C8C12C675E3E}" type="slidenum">
              <a:rPr lang="en-US" smtClean="0"/>
              <a:pPr>
                <a:defRPr/>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6607D-3DEA-4C04-927B-32F627901057}"/>
              </a:ext>
            </a:extLst>
          </p:cNvPr>
          <p:cNvSpPr>
            <a:spLocks noGrp="1"/>
          </p:cNvSpPr>
          <p:nvPr>
            <p:ph type="title"/>
          </p:nvPr>
        </p:nvSpPr>
        <p:spPr/>
        <p:txBody>
          <a:bodyPr/>
          <a:lstStyle/>
          <a:p>
            <a:r>
              <a:rPr lang="en-US" altLang="zh-CN" dirty="0"/>
              <a:t>Outline</a:t>
            </a:r>
            <a:endParaRPr lang="zh-CN" altLang="en-US" dirty="0"/>
          </a:p>
        </p:txBody>
      </p:sp>
      <p:sp>
        <p:nvSpPr>
          <p:cNvPr id="3" name="Content Placeholder 2">
            <a:extLst>
              <a:ext uri="{FF2B5EF4-FFF2-40B4-BE49-F238E27FC236}">
                <a16:creationId xmlns:a16="http://schemas.microsoft.com/office/drawing/2014/main" id="{88FB674D-DCB6-4F4D-A910-58714E0D0B8F}"/>
              </a:ext>
            </a:extLst>
          </p:cNvPr>
          <p:cNvSpPr>
            <a:spLocks noGrp="1"/>
          </p:cNvSpPr>
          <p:nvPr>
            <p:ph idx="1"/>
          </p:nvPr>
        </p:nvSpPr>
        <p:spPr/>
        <p:txBody>
          <a:bodyPr/>
          <a:lstStyle/>
          <a:p>
            <a:r>
              <a:rPr lang="en-US" altLang="zh-CN" i="1" dirty="0"/>
              <a:t>Introduction to High-Level Synthesis</a:t>
            </a:r>
          </a:p>
          <a:p>
            <a:r>
              <a:rPr lang="en-US" altLang="zh-CN" dirty="0"/>
              <a:t>High-Level Synthesis with Vitis HLS</a:t>
            </a:r>
          </a:p>
          <a:p>
            <a:r>
              <a:rPr lang="en-US" altLang="zh-CN" dirty="0"/>
              <a:t>Language Support</a:t>
            </a:r>
          </a:p>
          <a:p>
            <a:r>
              <a:rPr lang="en-US" altLang="zh-CN" dirty="0"/>
              <a:t>Validation Flow</a:t>
            </a:r>
          </a:p>
          <a:p>
            <a:r>
              <a:rPr lang="en-US" altLang="zh-CN" dirty="0"/>
              <a:t>Summary</a:t>
            </a:r>
            <a:endParaRPr lang="zh-CN" altLang="en-US" dirty="0"/>
          </a:p>
        </p:txBody>
      </p:sp>
    </p:spTree>
    <p:extLst>
      <p:ext uri="{BB962C8B-B14F-4D97-AF65-F5344CB8AC3E}">
        <p14:creationId xmlns:p14="http://schemas.microsoft.com/office/powerpoint/2010/main" val="1075828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Need for High-Level Synthesis</a:t>
            </a:r>
          </a:p>
        </p:txBody>
      </p:sp>
      <p:sp>
        <p:nvSpPr>
          <p:cNvPr id="2" name="Content Placeholder 1"/>
          <p:cNvSpPr>
            <a:spLocks noGrp="1"/>
          </p:cNvSpPr>
          <p:nvPr>
            <p:ph idx="1"/>
          </p:nvPr>
        </p:nvSpPr>
        <p:spPr>
          <a:xfrm>
            <a:off x="579119" y="974386"/>
            <a:ext cx="10515600" cy="4759404"/>
          </a:xfrm>
        </p:spPr>
        <p:txBody>
          <a:bodyPr/>
          <a:lstStyle/>
          <a:p>
            <a:pPr lvl="0"/>
            <a:r>
              <a:rPr lang="en-US" dirty="0"/>
              <a:t>Algorithmic-based approaches are getting popular due to accelerated design time and time to market (TTM)</a:t>
            </a:r>
          </a:p>
          <a:p>
            <a:pPr lvl="1"/>
            <a:r>
              <a:rPr lang="en-US" dirty="0"/>
              <a:t>Larger designs pose challenges in design and verification of hardware at HDL level</a:t>
            </a:r>
          </a:p>
          <a:p>
            <a:pPr lvl="0"/>
            <a:r>
              <a:rPr lang="en-US" dirty="0"/>
              <a:t>Industry trend is moving towards hardware acceleration to enhance performance and productivity</a:t>
            </a:r>
          </a:p>
          <a:p>
            <a:pPr lvl="1"/>
            <a:r>
              <a:rPr lang="en-US" dirty="0"/>
              <a:t>CPU-intensive tasks can be offloaded to hardware accelerator in FPGA</a:t>
            </a:r>
          </a:p>
          <a:p>
            <a:pPr lvl="1"/>
            <a:r>
              <a:rPr lang="en-US" dirty="0"/>
              <a:t>Hardware accelerators require a lot of time to understand and design</a:t>
            </a:r>
          </a:p>
          <a:p>
            <a:pPr lvl="0"/>
            <a:r>
              <a:rPr lang="en-US" dirty="0"/>
              <a:t>Vitis HLS tool converts algorithmic description written in C-based design flow into hardware description (RTL)</a:t>
            </a:r>
          </a:p>
          <a:p>
            <a:pPr lvl="1"/>
            <a:r>
              <a:rPr lang="en-US" dirty="0"/>
              <a:t>Elevates the abstraction level from RTL to algorithms</a:t>
            </a:r>
          </a:p>
          <a:p>
            <a:pPr lvl="0"/>
            <a:r>
              <a:rPr lang="en-US" dirty="0"/>
              <a:t>High-level synthesis is essential for maintaining design productivity for large designs</a:t>
            </a:r>
          </a:p>
          <a:p>
            <a:endParaRPr lang="en-US" dirty="0"/>
          </a:p>
        </p:txBody>
      </p:sp>
      <p:sp>
        <p:nvSpPr>
          <p:cNvPr id="6" name="Slide Number Placeholder 5"/>
          <p:cNvSpPr>
            <a:spLocks noGrp="1"/>
          </p:cNvSpPr>
          <p:nvPr>
            <p:ph type="sldNum" sz="quarter" idx="10"/>
          </p:nvPr>
        </p:nvSpPr>
        <p:spPr/>
        <p:txBody>
          <a:bodyPr/>
          <a:lstStyle/>
          <a:p>
            <a:pPr>
              <a:defRPr/>
            </a:pPr>
            <a:r>
              <a:rPr lang="en-US" dirty="0"/>
              <a:t>Intro to HLS 11- </a:t>
            </a:r>
            <a:fld id="{060BD193-E118-4B16-863C-C8C12C675E3E}" type="slidenum">
              <a:rPr lang="en-US" smtClean="0"/>
              <a:pPr>
                <a:defRPr/>
              </a:pPr>
              <a:t>4</a:t>
            </a:fld>
            <a:endParaRPr lang="en-US" dirty="0"/>
          </a:p>
        </p:txBody>
      </p:sp>
    </p:spTree>
    <p:extLst>
      <p:ext uri="{BB962C8B-B14F-4D97-AF65-F5344CB8AC3E}">
        <p14:creationId xmlns:p14="http://schemas.microsoft.com/office/powerpoint/2010/main" val="42124068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High-Level Synthesis: HLS</a:t>
            </a:r>
          </a:p>
        </p:txBody>
      </p:sp>
      <p:sp>
        <p:nvSpPr>
          <p:cNvPr id="3" name="Content Placeholder 2"/>
          <p:cNvSpPr>
            <a:spLocks noGrp="1"/>
          </p:cNvSpPr>
          <p:nvPr>
            <p:ph sz="half" idx="1"/>
          </p:nvPr>
        </p:nvSpPr>
        <p:spPr/>
        <p:txBody>
          <a:bodyPr>
            <a:normAutofit/>
          </a:bodyPr>
          <a:lstStyle/>
          <a:p>
            <a:r>
              <a:rPr lang="en-US" dirty="0"/>
              <a:t>High-Level Synthesis</a:t>
            </a:r>
          </a:p>
          <a:p>
            <a:pPr lvl="1"/>
            <a:r>
              <a:rPr lang="en-US" dirty="0"/>
              <a:t>Creates an RTL implementation from C, C++, OpenCL API C kernel code</a:t>
            </a:r>
          </a:p>
          <a:p>
            <a:pPr lvl="1"/>
            <a:r>
              <a:rPr lang="en-US" dirty="0"/>
              <a:t>Extracts control and dataflow from the source code</a:t>
            </a:r>
          </a:p>
          <a:p>
            <a:pPr lvl="1"/>
            <a:r>
              <a:rPr lang="en-US" dirty="0"/>
              <a:t>Implements the design based on defaults and user applied directives</a:t>
            </a:r>
          </a:p>
          <a:p>
            <a:r>
              <a:rPr lang="en-US" dirty="0"/>
              <a:t>Many implementation are possible from </a:t>
            </a:r>
            <a:br>
              <a:rPr lang="en-US" dirty="0"/>
            </a:br>
            <a:r>
              <a:rPr lang="en-US" dirty="0"/>
              <a:t>the same source description</a:t>
            </a:r>
          </a:p>
          <a:p>
            <a:pPr lvl="1"/>
            <a:r>
              <a:rPr lang="en-US" dirty="0"/>
              <a:t>Smaller designs, faster designs, optimal designs</a:t>
            </a:r>
          </a:p>
          <a:p>
            <a:pPr lvl="1"/>
            <a:r>
              <a:rPr lang="en-US" dirty="0"/>
              <a:t>Enables design exploration</a:t>
            </a:r>
          </a:p>
          <a:p>
            <a:pPr lvl="1"/>
            <a:endParaRPr lang="en-US" dirty="0"/>
          </a:p>
        </p:txBody>
      </p:sp>
      <p:sp>
        <p:nvSpPr>
          <p:cNvPr id="4" name="Slide Number Placeholder 3"/>
          <p:cNvSpPr>
            <a:spLocks noGrp="1"/>
          </p:cNvSpPr>
          <p:nvPr>
            <p:ph type="sldNum" sz="quarter" idx="10"/>
          </p:nvPr>
        </p:nvSpPr>
        <p:spPr/>
        <p:txBody>
          <a:bodyPr/>
          <a:lstStyle/>
          <a:p>
            <a:pPr>
              <a:defRPr/>
            </a:pPr>
            <a:r>
              <a:rPr lang="en-US" dirty="0"/>
              <a:t>Intro to HLS 11- </a:t>
            </a:r>
            <a:fld id="{060BD193-E118-4B16-863C-C8C12C675E3E}" type="slidenum">
              <a:rPr lang="en-US" smtClean="0"/>
              <a:pPr>
                <a:defRPr/>
              </a:pPr>
              <a:t>5</a:t>
            </a:fld>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92600" y="1609196"/>
            <a:ext cx="5783789" cy="3639609"/>
          </a:xfrm>
          <a:prstGeom prst="rect">
            <a:avLst/>
          </a:prstGeom>
        </p:spPr>
      </p:pic>
      <p:sp>
        <p:nvSpPr>
          <p:cNvPr id="7" name="矩形 6">
            <a:extLst>
              <a:ext uri="{FF2B5EF4-FFF2-40B4-BE49-F238E27FC236}">
                <a16:creationId xmlns:a16="http://schemas.microsoft.com/office/drawing/2014/main" id="{7E7FEA98-A844-4FB0-93AB-E9BB3EE71115}"/>
              </a:ext>
            </a:extLst>
          </p:cNvPr>
          <p:cNvSpPr/>
          <p:nvPr/>
        </p:nvSpPr>
        <p:spPr>
          <a:xfrm>
            <a:off x="6023264" y="2326211"/>
            <a:ext cx="1761114" cy="381271"/>
          </a:xfrm>
          <a:prstGeom prst="rect">
            <a:avLst/>
          </a:prstGeom>
          <a:solidFill>
            <a:srgbClr val="CA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BCBCB"/>
              </a:solidFill>
            </a:endParaRPr>
          </a:p>
        </p:txBody>
      </p:sp>
      <p:sp>
        <p:nvSpPr>
          <p:cNvPr id="6" name="文本框 5">
            <a:extLst>
              <a:ext uri="{FF2B5EF4-FFF2-40B4-BE49-F238E27FC236}">
                <a16:creationId xmlns:a16="http://schemas.microsoft.com/office/drawing/2014/main" id="{7F9497B1-CED4-4B90-97BE-46B730B6B974}"/>
              </a:ext>
            </a:extLst>
          </p:cNvPr>
          <p:cNvSpPr txBox="1"/>
          <p:nvPr/>
        </p:nvSpPr>
        <p:spPr>
          <a:xfrm>
            <a:off x="6009137" y="2377422"/>
            <a:ext cx="1761113" cy="278847"/>
          </a:xfrm>
          <a:prstGeom prst="rect">
            <a:avLst/>
          </a:prstGeom>
          <a:solidFill>
            <a:srgbClr val="CBCBCB"/>
          </a:solidFill>
          <a:ln>
            <a:solidFill>
              <a:srgbClr val="CBCBCB"/>
            </a:solidFill>
          </a:ln>
        </p:spPr>
        <p:txBody>
          <a:bodyPr wrap="square" rtlCol="0">
            <a:spAutoFit/>
          </a:bodyPr>
          <a:lstStyle/>
          <a:p>
            <a:r>
              <a:rPr lang="en-US" sz="1200" dirty="0"/>
              <a:t>C, C++, OpenCL API C</a:t>
            </a:r>
          </a:p>
        </p:txBody>
      </p:sp>
      <p:pic>
        <p:nvPicPr>
          <p:cNvPr id="8" name="Picture 13">
            <a:extLst>
              <a:ext uri="{FF2B5EF4-FFF2-40B4-BE49-F238E27FC236}">
                <a16:creationId xmlns:a16="http://schemas.microsoft.com/office/drawing/2014/main" id="{B0EE3C21-68EB-4BFE-AA83-76301A62C894}"/>
              </a:ext>
            </a:extLst>
          </p:cNvPr>
          <p:cNvPicPr>
            <a:picLocks noChangeAspect="1"/>
          </p:cNvPicPr>
          <p:nvPr/>
        </p:nvPicPr>
        <p:blipFill>
          <a:blip r:embed="rId4"/>
          <a:stretch>
            <a:fillRect/>
          </a:stretch>
        </p:blipFill>
        <p:spPr>
          <a:xfrm>
            <a:off x="5939872" y="3076487"/>
            <a:ext cx="1899642" cy="69469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 Exploration with Directives</a:t>
            </a:r>
          </a:p>
        </p:txBody>
      </p:sp>
      <p:sp>
        <p:nvSpPr>
          <p:cNvPr id="3" name="Slide Number Placeholder 2"/>
          <p:cNvSpPr>
            <a:spLocks noGrp="1"/>
          </p:cNvSpPr>
          <p:nvPr>
            <p:ph type="sldNum" sz="quarter" idx="10"/>
          </p:nvPr>
        </p:nvSpPr>
        <p:spPr/>
        <p:txBody>
          <a:bodyPr/>
          <a:lstStyle/>
          <a:p>
            <a:pPr>
              <a:defRPr/>
            </a:pPr>
            <a:r>
              <a:rPr lang="en-US" dirty="0"/>
              <a:t>Intro to HLS 11- </a:t>
            </a:r>
            <a:fld id="{060BD193-E118-4B16-863C-C8C12C675E3E}" type="slidenum">
              <a:rPr lang="en-US" smtClean="0"/>
              <a:pPr>
                <a:defRPr/>
              </a:pPr>
              <a:t>6</a:t>
            </a:fld>
            <a:endParaRPr lang="en-US" dirty="0"/>
          </a:p>
        </p:txBody>
      </p:sp>
      <p:sp>
        <p:nvSpPr>
          <p:cNvPr id="4" name="TextBox 3"/>
          <p:cNvSpPr txBox="1"/>
          <p:nvPr/>
        </p:nvSpPr>
        <p:spPr>
          <a:xfrm>
            <a:off x="515929" y="2474631"/>
            <a:ext cx="3225180" cy="861774"/>
          </a:xfrm>
          <a:prstGeom prst="rect">
            <a:avLst/>
          </a:prstGeom>
          <a:ln/>
        </p:spPr>
        <p:style>
          <a:lnRef idx="2">
            <a:schemeClr val="accent3"/>
          </a:lnRef>
          <a:fillRef idx="1">
            <a:schemeClr val="lt1"/>
          </a:fillRef>
          <a:effectRef idx="0">
            <a:schemeClr val="accent3"/>
          </a:effectRef>
          <a:fontRef idx="minor">
            <a:schemeClr val="dk1"/>
          </a:fontRef>
        </p:style>
        <p:txBody>
          <a:bodyPr wrap="square" rtlCol="0">
            <a:spAutoFit/>
          </a:bodyPr>
          <a:lstStyle/>
          <a:p>
            <a:pPr defTabSz="457200"/>
            <a:r>
              <a:rPr lang="en-US" sz="1000" b="1" dirty="0">
                <a:solidFill>
                  <a:prstClr val="black"/>
                </a:solidFill>
              </a:rPr>
              <a:t>The same hardware is used for each iteration of the loop:</a:t>
            </a:r>
          </a:p>
          <a:p>
            <a:pPr defTabSz="457200">
              <a:buFont typeface="Arial" pitchFamily="34" charset="0"/>
              <a:buChar char="•"/>
            </a:pPr>
            <a:r>
              <a:rPr lang="en-US" sz="1000" b="1" dirty="0">
                <a:solidFill>
                  <a:prstClr val="black"/>
                </a:solidFill>
              </a:rPr>
              <a:t>Small area</a:t>
            </a:r>
          </a:p>
          <a:p>
            <a:pPr defTabSz="457200">
              <a:buFont typeface="Arial" pitchFamily="34" charset="0"/>
              <a:buChar char="•"/>
            </a:pPr>
            <a:r>
              <a:rPr lang="en-US" sz="1000" b="1" dirty="0">
                <a:solidFill>
                  <a:prstClr val="black"/>
                </a:solidFill>
              </a:rPr>
              <a:t>Long latency </a:t>
            </a:r>
          </a:p>
          <a:p>
            <a:pPr defTabSz="457200">
              <a:buFont typeface="Arial" pitchFamily="34" charset="0"/>
              <a:buChar char="•"/>
            </a:pPr>
            <a:r>
              <a:rPr lang="en-US" sz="1000" b="1" dirty="0">
                <a:solidFill>
                  <a:prstClr val="black"/>
                </a:solidFill>
              </a:rPr>
              <a:t>Low throughput</a:t>
            </a:r>
          </a:p>
        </p:txBody>
      </p:sp>
      <p:sp>
        <p:nvSpPr>
          <p:cNvPr id="6" name="TextBox 5"/>
          <p:cNvSpPr txBox="1"/>
          <p:nvPr/>
        </p:nvSpPr>
        <p:spPr>
          <a:xfrm>
            <a:off x="8604474" y="2474631"/>
            <a:ext cx="3225180" cy="707886"/>
          </a:xfrm>
          <a:prstGeom prst="rect">
            <a:avLst/>
          </a:prstGeom>
          <a:ln/>
        </p:spPr>
        <p:style>
          <a:lnRef idx="2">
            <a:schemeClr val="accent3"/>
          </a:lnRef>
          <a:fillRef idx="1">
            <a:schemeClr val="lt1"/>
          </a:fillRef>
          <a:effectRef idx="0">
            <a:schemeClr val="accent3"/>
          </a:effectRef>
          <a:fontRef idx="minor">
            <a:schemeClr val="dk1"/>
          </a:fontRef>
        </p:style>
        <p:txBody>
          <a:bodyPr wrap="square" rtlCol="0">
            <a:spAutoFit/>
          </a:bodyPr>
          <a:lstStyle/>
          <a:p>
            <a:pPr defTabSz="457200"/>
            <a:r>
              <a:rPr lang="en-US" sz="1000" b="1" dirty="0">
                <a:solidFill>
                  <a:prstClr val="black"/>
                </a:solidFill>
              </a:rPr>
              <a:t>Different iterations are executed concurrently:</a:t>
            </a:r>
          </a:p>
          <a:p>
            <a:pPr defTabSz="457200">
              <a:buFont typeface="Arial" pitchFamily="34" charset="0"/>
              <a:buChar char="•"/>
            </a:pPr>
            <a:r>
              <a:rPr lang="en-US" sz="1000" b="1" dirty="0">
                <a:solidFill>
                  <a:prstClr val="black"/>
                </a:solidFill>
              </a:rPr>
              <a:t>Higher area</a:t>
            </a:r>
          </a:p>
          <a:p>
            <a:pPr defTabSz="457200">
              <a:buFont typeface="Arial" pitchFamily="34" charset="0"/>
              <a:buChar char="•"/>
            </a:pPr>
            <a:r>
              <a:rPr lang="en-US" sz="1000" b="1" dirty="0">
                <a:solidFill>
                  <a:prstClr val="black"/>
                </a:solidFill>
              </a:rPr>
              <a:t>Short latency </a:t>
            </a:r>
          </a:p>
          <a:p>
            <a:pPr defTabSz="457200">
              <a:buFont typeface="Arial" pitchFamily="34" charset="0"/>
              <a:buChar char="•"/>
            </a:pPr>
            <a:r>
              <a:rPr lang="en-US" sz="1000" b="1" dirty="0">
                <a:solidFill>
                  <a:prstClr val="black"/>
                </a:solidFill>
              </a:rPr>
              <a:t>Best throughput</a:t>
            </a:r>
          </a:p>
        </p:txBody>
      </p:sp>
      <p:sp>
        <p:nvSpPr>
          <p:cNvPr id="5" name="TextBox 4"/>
          <p:cNvSpPr txBox="1"/>
          <p:nvPr/>
        </p:nvSpPr>
        <p:spPr>
          <a:xfrm>
            <a:off x="4560201" y="2474631"/>
            <a:ext cx="3225180" cy="861774"/>
          </a:xfrm>
          <a:prstGeom prst="rect">
            <a:avLst/>
          </a:prstGeom>
          <a:ln/>
        </p:spPr>
        <p:style>
          <a:lnRef idx="2">
            <a:schemeClr val="accent3"/>
          </a:lnRef>
          <a:fillRef idx="1">
            <a:schemeClr val="lt1"/>
          </a:fillRef>
          <a:effectRef idx="0">
            <a:schemeClr val="accent3"/>
          </a:effectRef>
          <a:fontRef idx="minor">
            <a:schemeClr val="dk1"/>
          </a:fontRef>
        </p:style>
        <p:txBody>
          <a:bodyPr wrap="square" rtlCol="0">
            <a:spAutoFit/>
          </a:bodyPr>
          <a:lstStyle/>
          <a:p>
            <a:pPr defTabSz="457200"/>
            <a:r>
              <a:rPr lang="en-US" sz="1000" b="1" dirty="0">
                <a:solidFill>
                  <a:prstClr val="black"/>
                </a:solidFill>
              </a:rPr>
              <a:t>Different hardware is used for each iteration of the loop:</a:t>
            </a:r>
          </a:p>
          <a:p>
            <a:pPr defTabSz="457200">
              <a:buFont typeface="Arial" pitchFamily="34" charset="0"/>
              <a:buChar char="•"/>
            </a:pPr>
            <a:r>
              <a:rPr lang="en-US" sz="1000" b="1" dirty="0">
                <a:solidFill>
                  <a:prstClr val="black"/>
                </a:solidFill>
              </a:rPr>
              <a:t>Higher area</a:t>
            </a:r>
          </a:p>
          <a:p>
            <a:pPr defTabSz="457200">
              <a:buFont typeface="Arial" pitchFamily="34" charset="0"/>
              <a:buChar char="•"/>
            </a:pPr>
            <a:r>
              <a:rPr lang="en-US" sz="1000" b="1" dirty="0">
                <a:solidFill>
                  <a:prstClr val="black"/>
                </a:solidFill>
              </a:rPr>
              <a:t>Short latency </a:t>
            </a:r>
          </a:p>
          <a:p>
            <a:pPr defTabSz="457200">
              <a:buFont typeface="Arial" pitchFamily="34" charset="0"/>
              <a:buChar char="•"/>
            </a:pPr>
            <a:r>
              <a:rPr lang="en-US" sz="1000" b="1" dirty="0">
                <a:solidFill>
                  <a:prstClr val="black"/>
                </a:solidFill>
              </a:rPr>
              <a:t>Better throughput</a:t>
            </a:r>
          </a:p>
        </p:txBody>
      </p:sp>
      <p:pic>
        <p:nvPicPr>
          <p:cNvPr id="7" name="Picture 2"/>
          <p:cNvPicPr>
            <a:picLocks noChangeAspect="1" noChangeArrowheads="1"/>
          </p:cNvPicPr>
          <p:nvPr/>
        </p:nvPicPr>
        <p:blipFill>
          <a:blip r:embed="rId3" cstate="print"/>
          <a:srcRect/>
          <a:stretch>
            <a:fillRect/>
          </a:stretch>
        </p:blipFill>
        <p:spPr bwMode="auto">
          <a:xfrm>
            <a:off x="204735" y="3353809"/>
            <a:ext cx="11782531" cy="3185105"/>
          </a:xfrm>
          <a:prstGeom prst="rect">
            <a:avLst/>
          </a:prstGeom>
          <a:noFill/>
          <a:ln w="9525">
            <a:noFill/>
            <a:miter lim="800000"/>
            <a:headEnd/>
            <a:tailEnd/>
          </a:ln>
        </p:spPr>
      </p:pic>
      <p:sp>
        <p:nvSpPr>
          <p:cNvPr id="11" name="TextBox 10"/>
          <p:cNvSpPr txBox="1"/>
          <p:nvPr/>
        </p:nvSpPr>
        <p:spPr>
          <a:xfrm>
            <a:off x="8194928" y="1207266"/>
            <a:ext cx="3481147" cy="523220"/>
          </a:xfrm>
          <a:prstGeom prst="rect">
            <a:avLst/>
          </a:prstGeom>
          <a:solidFill>
            <a:srgbClr val="FFFF99"/>
          </a:solidFill>
          <a:ln>
            <a:solidFill>
              <a:schemeClr val="tx1"/>
            </a:solidFill>
          </a:ln>
          <a:effectLst>
            <a:innerShdw blurRad="63500" dist="50800" dir="2700000">
              <a:prstClr val="black">
                <a:alpha val="50000"/>
              </a:prstClr>
            </a:innerShdw>
          </a:effectLst>
        </p:spPr>
        <p:txBody>
          <a:bodyPr wrap="square" rtlCol="0">
            <a:spAutoFit/>
          </a:bodyPr>
          <a:lstStyle/>
          <a:p>
            <a:pPr defTabSz="457200"/>
            <a:r>
              <a:rPr lang="en-US" sz="1400" b="1" dirty="0">
                <a:solidFill>
                  <a:prstClr val="black"/>
                </a:solidFill>
                <a:ea typeface="ＭＳ Ｐゴシック" pitchFamily="34" charset="-128"/>
                <a:cs typeface="Arial" charset="0"/>
              </a:rPr>
              <a:t>Before we get into details, let’s look under the hood ….</a:t>
            </a:r>
          </a:p>
        </p:txBody>
      </p:sp>
      <p:sp>
        <p:nvSpPr>
          <p:cNvPr id="13" name="Bent Arrow 12"/>
          <p:cNvSpPr/>
          <p:nvPr/>
        </p:nvSpPr>
        <p:spPr>
          <a:xfrm rot="5400000">
            <a:off x="8559701" y="740470"/>
            <a:ext cx="729695" cy="2892425"/>
          </a:xfrm>
          <a:prstGeom prst="bentArrow">
            <a:avLst/>
          </a:prstGeom>
          <a:solidFill>
            <a:srgbClr val="0070C0"/>
          </a:solidFill>
        </p:spPr>
        <p:style>
          <a:lnRef idx="1">
            <a:schemeClr val="accent4"/>
          </a:lnRef>
          <a:fillRef idx="3">
            <a:schemeClr val="accent4"/>
          </a:fillRef>
          <a:effectRef idx="2">
            <a:schemeClr val="accent4"/>
          </a:effectRef>
          <a:fontRef idx="minor">
            <a:schemeClr val="lt1"/>
          </a:fontRef>
        </p:style>
        <p:txBody>
          <a:bodyPr rtlCol="0" anchor="ctr"/>
          <a:lstStyle/>
          <a:p>
            <a:pPr defTabSz="457200"/>
            <a:endParaRPr lang="en-US">
              <a:solidFill>
                <a:prstClr val="black"/>
              </a:solidFill>
            </a:endParaRPr>
          </a:p>
        </p:txBody>
      </p:sp>
      <p:sp>
        <p:nvSpPr>
          <p:cNvPr id="14" name="Bent Arrow 13"/>
          <p:cNvSpPr/>
          <p:nvPr/>
        </p:nvSpPr>
        <p:spPr>
          <a:xfrm rot="16200000" flipH="1">
            <a:off x="2902836" y="740468"/>
            <a:ext cx="729695" cy="2892425"/>
          </a:xfrm>
          <a:prstGeom prst="bentArrow">
            <a:avLst/>
          </a:prstGeom>
          <a:solidFill>
            <a:srgbClr val="0070C0"/>
          </a:solidFill>
        </p:spPr>
        <p:style>
          <a:lnRef idx="1">
            <a:schemeClr val="accent4"/>
          </a:lnRef>
          <a:fillRef idx="3">
            <a:schemeClr val="accent4"/>
          </a:fillRef>
          <a:effectRef idx="2">
            <a:schemeClr val="accent4"/>
          </a:effectRef>
          <a:fontRef idx="minor">
            <a:schemeClr val="lt1"/>
          </a:fontRef>
        </p:style>
        <p:txBody>
          <a:bodyPr rtlCol="0" anchor="ctr"/>
          <a:lstStyle/>
          <a:p>
            <a:pPr defTabSz="457200"/>
            <a:endParaRPr lang="en-US">
              <a:solidFill>
                <a:prstClr val="black"/>
              </a:solidFill>
            </a:endParaRPr>
          </a:p>
        </p:txBody>
      </p:sp>
      <p:sp>
        <p:nvSpPr>
          <p:cNvPr id="15" name="TextBox 14"/>
          <p:cNvSpPr txBox="1"/>
          <p:nvPr/>
        </p:nvSpPr>
        <p:spPr>
          <a:xfrm>
            <a:off x="618316" y="1207266"/>
            <a:ext cx="3481147" cy="523220"/>
          </a:xfrm>
          <a:prstGeom prst="rect">
            <a:avLst/>
          </a:prstGeom>
          <a:solidFill>
            <a:srgbClr val="FFFF99"/>
          </a:solidFill>
          <a:ln>
            <a:solidFill>
              <a:schemeClr val="tx1"/>
            </a:solidFill>
          </a:ln>
          <a:effectLst>
            <a:innerShdw blurRad="63500" dist="50800" dir="2700000">
              <a:prstClr val="black">
                <a:alpha val="50000"/>
              </a:prstClr>
            </a:innerShdw>
          </a:effectLst>
        </p:spPr>
        <p:txBody>
          <a:bodyPr wrap="square" rtlCol="0">
            <a:spAutoFit/>
          </a:bodyPr>
          <a:lstStyle/>
          <a:p>
            <a:pPr defTabSz="457200"/>
            <a:r>
              <a:rPr lang="en-US" sz="1400" b="1" dirty="0">
                <a:solidFill>
                  <a:prstClr val="black"/>
                </a:solidFill>
                <a:ea typeface="ＭＳ Ｐゴシック" pitchFamily="34" charset="-128"/>
                <a:cs typeface="Arial" charset="0"/>
              </a:rPr>
              <a:t>One body of code:</a:t>
            </a:r>
          </a:p>
          <a:p>
            <a:pPr defTabSz="457200"/>
            <a:r>
              <a:rPr lang="en-US" sz="1400" b="1" dirty="0">
                <a:solidFill>
                  <a:prstClr val="black"/>
                </a:solidFill>
                <a:ea typeface="ＭＳ Ｐゴシック" pitchFamily="34" charset="-128"/>
                <a:cs typeface="Arial" charset="0"/>
              </a:rPr>
              <a:t> Many hardware outcomes</a:t>
            </a:r>
          </a:p>
        </p:txBody>
      </p:sp>
      <p:sp>
        <p:nvSpPr>
          <p:cNvPr id="16" name="TextBox 15">
            <a:extLst>
              <a:ext uri="{FF2B5EF4-FFF2-40B4-BE49-F238E27FC236}">
                <a16:creationId xmlns:a16="http://schemas.microsoft.com/office/drawing/2014/main" id="{EA1B7E11-B705-43A2-8DD9-5D6A5E49A893}"/>
              </a:ext>
            </a:extLst>
          </p:cNvPr>
          <p:cNvSpPr txBox="1"/>
          <p:nvPr/>
        </p:nvSpPr>
        <p:spPr>
          <a:xfrm>
            <a:off x="4816169" y="900026"/>
            <a:ext cx="2559668" cy="1446550"/>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p:spPr>
        <p:txBody>
          <a:bodyPr wrap="square" rtlCol="0">
            <a:spAutoFit/>
          </a:bodyPr>
          <a:lstStyle/>
          <a:p>
            <a:pPr defTabSz="457200" fontAlgn="base">
              <a:spcBef>
                <a:spcPct val="0"/>
              </a:spcBef>
              <a:spcAft>
                <a:spcPct val="0"/>
              </a:spcAft>
              <a:defRPr/>
            </a:pPr>
            <a:r>
              <a:rPr lang="en-US" sz="800" kern="0" dirty="0">
                <a:solidFill>
                  <a:prstClr val="black"/>
                </a:solidFill>
                <a:latin typeface="Arial"/>
              </a:rPr>
              <a:t>  …</a:t>
            </a:r>
          </a:p>
          <a:p>
            <a:pPr defTabSz="457200" fontAlgn="base">
              <a:spcBef>
                <a:spcPct val="0"/>
              </a:spcBef>
              <a:spcAft>
                <a:spcPct val="0"/>
              </a:spcAft>
              <a:defRPr/>
            </a:pPr>
            <a:r>
              <a:rPr lang="en-US" sz="800" kern="0" dirty="0">
                <a:solidFill>
                  <a:prstClr val="black"/>
                </a:solidFill>
                <a:latin typeface="Arial"/>
              </a:rPr>
              <a:t>  loop: for (</a:t>
            </a:r>
            <a:r>
              <a:rPr lang="en-US" sz="800" kern="0" dirty="0" err="1">
                <a:solidFill>
                  <a:prstClr val="black"/>
                </a:solidFill>
                <a:latin typeface="Arial"/>
              </a:rPr>
              <a:t>i</a:t>
            </a:r>
            <a:r>
              <a:rPr lang="en-US" sz="800" kern="0" dirty="0">
                <a:solidFill>
                  <a:prstClr val="black"/>
                </a:solidFill>
                <a:latin typeface="Arial"/>
              </a:rPr>
              <a:t>=3;i&gt;=0;i--) {</a:t>
            </a:r>
          </a:p>
          <a:p>
            <a:pPr defTabSz="457200" fontAlgn="base">
              <a:spcBef>
                <a:spcPct val="0"/>
              </a:spcBef>
              <a:spcAft>
                <a:spcPct val="0"/>
              </a:spcAft>
              <a:defRPr/>
            </a:pPr>
            <a:r>
              <a:rPr lang="en-US" sz="800" kern="0" dirty="0">
                <a:solidFill>
                  <a:prstClr val="black"/>
                </a:solidFill>
                <a:latin typeface="Arial"/>
              </a:rPr>
              <a:t>     if (</a:t>
            </a:r>
            <a:r>
              <a:rPr lang="en-US" sz="800" kern="0" dirty="0" err="1">
                <a:solidFill>
                  <a:prstClr val="black"/>
                </a:solidFill>
                <a:latin typeface="Arial"/>
              </a:rPr>
              <a:t>i</a:t>
            </a:r>
            <a:r>
              <a:rPr lang="en-US" sz="800" kern="0" dirty="0">
                <a:solidFill>
                  <a:prstClr val="black"/>
                </a:solidFill>
                <a:latin typeface="Arial"/>
              </a:rPr>
              <a:t>==0) {</a:t>
            </a:r>
          </a:p>
          <a:p>
            <a:pPr defTabSz="457200" fontAlgn="base">
              <a:spcBef>
                <a:spcPct val="0"/>
              </a:spcBef>
              <a:spcAft>
                <a:spcPct val="0"/>
              </a:spcAft>
              <a:defRPr/>
            </a:pPr>
            <a:r>
              <a:rPr lang="en-US" sz="800" kern="0" dirty="0">
                <a:solidFill>
                  <a:prstClr val="black"/>
                </a:solidFill>
                <a:latin typeface="Arial"/>
              </a:rPr>
              <a:t>       acc+=x*c[0];</a:t>
            </a:r>
          </a:p>
          <a:p>
            <a:pPr defTabSz="457200" fontAlgn="base">
              <a:spcBef>
                <a:spcPct val="0"/>
              </a:spcBef>
              <a:spcAft>
                <a:spcPct val="0"/>
              </a:spcAft>
              <a:defRPr/>
            </a:pPr>
            <a:r>
              <a:rPr lang="en-US" sz="800" kern="0" dirty="0">
                <a:solidFill>
                  <a:prstClr val="black"/>
                </a:solidFill>
                <a:latin typeface="Arial"/>
              </a:rPr>
              <a:t>       </a:t>
            </a:r>
            <a:r>
              <a:rPr lang="en-US" sz="800" kern="0" dirty="0" err="1">
                <a:solidFill>
                  <a:prstClr val="black"/>
                </a:solidFill>
                <a:latin typeface="Arial"/>
              </a:rPr>
              <a:t>shift_reg</a:t>
            </a:r>
            <a:r>
              <a:rPr lang="en-US" sz="800" kern="0" dirty="0">
                <a:solidFill>
                  <a:prstClr val="black"/>
                </a:solidFill>
                <a:latin typeface="Arial"/>
              </a:rPr>
              <a:t>[0]=x;</a:t>
            </a:r>
          </a:p>
          <a:p>
            <a:pPr defTabSz="457200" fontAlgn="base">
              <a:spcBef>
                <a:spcPct val="0"/>
              </a:spcBef>
              <a:spcAft>
                <a:spcPct val="0"/>
              </a:spcAft>
              <a:defRPr/>
            </a:pPr>
            <a:r>
              <a:rPr lang="en-US" sz="800" kern="0" dirty="0">
                <a:solidFill>
                  <a:prstClr val="black"/>
                </a:solidFill>
                <a:latin typeface="Arial"/>
              </a:rPr>
              <a:t>     } else {</a:t>
            </a:r>
          </a:p>
          <a:p>
            <a:pPr defTabSz="457200" fontAlgn="base">
              <a:spcBef>
                <a:spcPct val="0"/>
              </a:spcBef>
              <a:spcAft>
                <a:spcPct val="0"/>
              </a:spcAft>
              <a:defRPr/>
            </a:pPr>
            <a:r>
              <a:rPr lang="en-US" sz="800" kern="0" dirty="0">
                <a:solidFill>
                  <a:prstClr val="black"/>
                </a:solidFill>
                <a:latin typeface="Arial"/>
              </a:rPr>
              <a:t>        </a:t>
            </a:r>
            <a:r>
              <a:rPr lang="en-US" sz="800" kern="0" dirty="0" err="1">
                <a:solidFill>
                  <a:prstClr val="black"/>
                </a:solidFill>
                <a:latin typeface="Arial"/>
              </a:rPr>
              <a:t>shift_reg</a:t>
            </a:r>
            <a:r>
              <a:rPr lang="en-US" sz="800" kern="0" dirty="0">
                <a:solidFill>
                  <a:prstClr val="black"/>
                </a:solidFill>
                <a:latin typeface="Arial"/>
              </a:rPr>
              <a:t>[</a:t>
            </a:r>
            <a:r>
              <a:rPr lang="en-US" sz="800" kern="0" dirty="0" err="1">
                <a:solidFill>
                  <a:prstClr val="black"/>
                </a:solidFill>
                <a:latin typeface="Arial"/>
              </a:rPr>
              <a:t>i</a:t>
            </a:r>
            <a:r>
              <a:rPr lang="en-US" sz="800" kern="0" dirty="0">
                <a:solidFill>
                  <a:prstClr val="black"/>
                </a:solidFill>
                <a:latin typeface="Arial"/>
              </a:rPr>
              <a:t>]=</a:t>
            </a:r>
            <a:r>
              <a:rPr lang="en-US" sz="800" kern="0" dirty="0" err="1">
                <a:solidFill>
                  <a:prstClr val="black"/>
                </a:solidFill>
                <a:latin typeface="Arial"/>
              </a:rPr>
              <a:t>shift_reg</a:t>
            </a:r>
            <a:r>
              <a:rPr lang="en-US" sz="800" kern="0" dirty="0">
                <a:solidFill>
                  <a:prstClr val="black"/>
                </a:solidFill>
                <a:latin typeface="Arial"/>
              </a:rPr>
              <a:t>[i-1];   </a:t>
            </a:r>
          </a:p>
          <a:p>
            <a:pPr defTabSz="457200" fontAlgn="base">
              <a:spcBef>
                <a:spcPct val="0"/>
              </a:spcBef>
              <a:spcAft>
                <a:spcPct val="0"/>
              </a:spcAft>
              <a:defRPr/>
            </a:pPr>
            <a:r>
              <a:rPr lang="en-US" sz="800" kern="0" dirty="0">
                <a:solidFill>
                  <a:prstClr val="black"/>
                </a:solidFill>
                <a:latin typeface="Arial"/>
              </a:rPr>
              <a:t>        acc+=</a:t>
            </a:r>
            <a:r>
              <a:rPr lang="en-US" sz="800" kern="0" dirty="0" err="1">
                <a:solidFill>
                  <a:prstClr val="black"/>
                </a:solidFill>
                <a:latin typeface="Arial"/>
              </a:rPr>
              <a:t>shift_reg</a:t>
            </a:r>
            <a:r>
              <a:rPr lang="en-US" sz="800" kern="0" dirty="0">
                <a:solidFill>
                  <a:prstClr val="black"/>
                </a:solidFill>
                <a:latin typeface="Arial"/>
              </a:rPr>
              <a:t>[</a:t>
            </a:r>
            <a:r>
              <a:rPr lang="en-US" sz="800" kern="0" dirty="0" err="1">
                <a:solidFill>
                  <a:prstClr val="black"/>
                </a:solidFill>
                <a:latin typeface="Arial"/>
              </a:rPr>
              <a:t>i</a:t>
            </a:r>
            <a:r>
              <a:rPr lang="en-US" sz="800" kern="0" dirty="0">
                <a:solidFill>
                  <a:prstClr val="black"/>
                </a:solidFill>
                <a:latin typeface="Arial"/>
              </a:rPr>
              <a:t>]*c[</a:t>
            </a:r>
            <a:r>
              <a:rPr lang="en-US" sz="800" kern="0" dirty="0" err="1">
                <a:solidFill>
                  <a:prstClr val="black"/>
                </a:solidFill>
                <a:latin typeface="Arial"/>
              </a:rPr>
              <a:t>i</a:t>
            </a:r>
            <a:r>
              <a:rPr lang="en-US" sz="800" kern="0" dirty="0">
                <a:solidFill>
                  <a:prstClr val="black"/>
                </a:solidFill>
                <a:latin typeface="Arial"/>
              </a:rPr>
              <a:t>];</a:t>
            </a:r>
          </a:p>
          <a:p>
            <a:pPr defTabSz="457200" fontAlgn="base">
              <a:spcBef>
                <a:spcPct val="0"/>
              </a:spcBef>
              <a:spcAft>
                <a:spcPct val="0"/>
              </a:spcAft>
              <a:defRPr/>
            </a:pPr>
            <a:r>
              <a:rPr lang="en-US" sz="800" kern="0" dirty="0">
                <a:solidFill>
                  <a:prstClr val="black"/>
                </a:solidFill>
                <a:latin typeface="Arial"/>
              </a:rPr>
              <a:t>     }</a:t>
            </a:r>
          </a:p>
          <a:p>
            <a:pPr defTabSz="457200" fontAlgn="base">
              <a:spcBef>
                <a:spcPct val="0"/>
              </a:spcBef>
              <a:spcAft>
                <a:spcPct val="0"/>
              </a:spcAft>
              <a:defRPr/>
            </a:pPr>
            <a:r>
              <a:rPr lang="en-US" sz="800" kern="0" dirty="0">
                <a:solidFill>
                  <a:prstClr val="black"/>
                </a:solidFill>
                <a:latin typeface="Arial"/>
              </a:rPr>
              <a:t>  }</a:t>
            </a:r>
          </a:p>
          <a:p>
            <a:pPr defTabSz="457200" fontAlgn="base">
              <a:spcBef>
                <a:spcPct val="0"/>
              </a:spcBef>
              <a:spcAft>
                <a:spcPct val="0"/>
              </a:spcAft>
              <a:defRPr/>
            </a:pPr>
            <a:r>
              <a:rPr lang="en-US" sz="800" kern="0" dirty="0">
                <a:solidFill>
                  <a:prstClr val="black"/>
                </a:solidFill>
                <a:latin typeface="Arial"/>
              </a:rPr>
              <a:t>….</a:t>
            </a:r>
          </a:p>
        </p:txBody>
      </p:sp>
      <p:sp>
        <p:nvSpPr>
          <p:cNvPr id="12" name="Down Arrow 11"/>
          <p:cNvSpPr/>
          <p:nvPr/>
        </p:nvSpPr>
        <p:spPr>
          <a:xfrm>
            <a:off x="5788841" y="2129160"/>
            <a:ext cx="460740" cy="422455"/>
          </a:xfrm>
          <a:prstGeom prst="downArrow">
            <a:avLst/>
          </a:prstGeom>
          <a:solidFill>
            <a:srgbClr val="0070C0"/>
          </a:solidFill>
        </p:spPr>
        <p:style>
          <a:lnRef idx="1">
            <a:schemeClr val="accent4"/>
          </a:lnRef>
          <a:fillRef idx="3">
            <a:schemeClr val="accent4"/>
          </a:fillRef>
          <a:effectRef idx="2">
            <a:schemeClr val="accent4"/>
          </a:effectRef>
          <a:fontRef idx="minor">
            <a:schemeClr val="lt1"/>
          </a:fontRef>
        </p:style>
        <p:txBody>
          <a:bodyPr rtlCol="0" anchor="ctr"/>
          <a:lstStyle/>
          <a:p>
            <a:pPr defTabSz="457200"/>
            <a:endParaRPr lang="en-US">
              <a:solidFill>
                <a:prstClr val="white"/>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to High-Level Synthesis</a:t>
            </a:r>
          </a:p>
        </p:txBody>
      </p:sp>
      <p:sp>
        <p:nvSpPr>
          <p:cNvPr id="3" name="Content Placeholder 2"/>
          <p:cNvSpPr>
            <a:spLocks noGrp="1"/>
          </p:cNvSpPr>
          <p:nvPr>
            <p:ph idx="1"/>
          </p:nvPr>
        </p:nvSpPr>
        <p:spPr/>
        <p:txBody>
          <a:bodyPr>
            <a:normAutofit/>
          </a:bodyPr>
          <a:lstStyle/>
          <a:p>
            <a:r>
              <a:rPr lang="en-US" dirty="0"/>
              <a:t>How is hardware extracted from C code?</a:t>
            </a:r>
          </a:p>
          <a:p>
            <a:pPr lvl="1"/>
            <a:r>
              <a:rPr lang="en-US" dirty="0"/>
              <a:t>Control and datapath can be extracted from C code at the top level</a:t>
            </a:r>
          </a:p>
          <a:p>
            <a:pPr lvl="1"/>
            <a:r>
              <a:rPr lang="en-US" dirty="0"/>
              <a:t>The same principles used in the example can be applied to sub-functions</a:t>
            </a:r>
          </a:p>
          <a:p>
            <a:pPr lvl="2"/>
            <a:r>
              <a:rPr lang="en-US" dirty="0"/>
              <a:t>At some point in the top-level control flow, control is passed to a sub-function</a:t>
            </a:r>
          </a:p>
          <a:p>
            <a:pPr lvl="2"/>
            <a:r>
              <a:rPr lang="en-US" dirty="0"/>
              <a:t>Sub-function may be implemented to execute concurrently with the top-level and or other sub-functions</a:t>
            </a:r>
          </a:p>
          <a:p>
            <a:r>
              <a:rPr lang="en-US" dirty="0"/>
              <a:t>How is this control and dataflow turned into a hardware design?</a:t>
            </a:r>
          </a:p>
          <a:p>
            <a:pPr lvl="1"/>
            <a:r>
              <a:rPr lang="en-US" dirty="0"/>
              <a:t>Vitis HLS maps this to hardware through scheduling and binding processes</a:t>
            </a:r>
          </a:p>
          <a:p>
            <a:r>
              <a:rPr lang="en-US" dirty="0"/>
              <a:t>How is my design created?</a:t>
            </a:r>
          </a:p>
          <a:p>
            <a:pPr lvl="1"/>
            <a:r>
              <a:rPr lang="en-US" dirty="0"/>
              <a:t>How functions, loops, arrays and IO ports are mapped?</a:t>
            </a:r>
          </a:p>
        </p:txBody>
      </p:sp>
      <p:sp>
        <p:nvSpPr>
          <p:cNvPr id="4" name="Slide Number Placeholder 3"/>
          <p:cNvSpPr>
            <a:spLocks noGrp="1"/>
          </p:cNvSpPr>
          <p:nvPr>
            <p:ph type="sldNum" sz="quarter" idx="10"/>
          </p:nvPr>
        </p:nvSpPr>
        <p:spPr/>
        <p:txBody>
          <a:bodyPr/>
          <a:lstStyle/>
          <a:p>
            <a:pPr>
              <a:defRPr/>
            </a:pPr>
            <a:r>
              <a:rPr lang="en-US" dirty="0"/>
              <a:t>Intro to HLS 11- </a:t>
            </a:r>
            <a:fld id="{060BD193-E118-4B16-863C-C8C12C675E3E}" type="slidenum">
              <a:rPr lang="en-US" smtClean="0"/>
              <a:pPr>
                <a:defRPr/>
              </a:pPr>
              <a:t>7</a:t>
            </a:fld>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HLS: Control Extraction</a:t>
            </a:r>
          </a:p>
        </p:txBody>
      </p:sp>
      <p:sp>
        <p:nvSpPr>
          <p:cNvPr id="3" name="Slide Number Placeholder 2"/>
          <p:cNvSpPr>
            <a:spLocks noGrp="1"/>
          </p:cNvSpPr>
          <p:nvPr>
            <p:ph type="sldNum" sz="quarter" idx="10"/>
          </p:nvPr>
        </p:nvSpPr>
        <p:spPr/>
        <p:txBody>
          <a:bodyPr/>
          <a:lstStyle/>
          <a:p>
            <a:pPr>
              <a:defRPr/>
            </a:pPr>
            <a:r>
              <a:rPr lang="en-US" dirty="0"/>
              <a:t>Intro to HLS 11- </a:t>
            </a:r>
            <a:fld id="{060BD193-E118-4B16-863C-C8C12C675E3E}" type="slidenum">
              <a:rPr lang="en-US" smtClean="0"/>
              <a:pPr>
                <a:defRPr/>
              </a:pPr>
              <a:t>8</a:t>
            </a:fld>
            <a:endParaRPr lang="en-US" dirty="0"/>
          </a:p>
        </p:txBody>
      </p:sp>
      <p:sp>
        <p:nvSpPr>
          <p:cNvPr id="36" name="TextBox 35">
            <a:extLst>
              <a:ext uri="{FF2B5EF4-FFF2-40B4-BE49-F238E27FC236}">
                <a16:creationId xmlns:a16="http://schemas.microsoft.com/office/drawing/2014/main" id="{CF25A9D9-DFEC-4588-88C1-7E62B2EB3C07}"/>
              </a:ext>
            </a:extLst>
          </p:cNvPr>
          <p:cNvSpPr txBox="1"/>
          <p:nvPr/>
        </p:nvSpPr>
        <p:spPr>
          <a:xfrm>
            <a:off x="259961" y="2161637"/>
            <a:ext cx="3532340" cy="3477875"/>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r>
              <a:rPr lang="en-US" sz="1000" kern="0" dirty="0">
                <a:solidFill>
                  <a:srgbClr val="000000"/>
                </a:solidFill>
                <a:latin typeface="Arial"/>
              </a:rPr>
              <a:t>void fir (</a:t>
            </a:r>
          </a:p>
          <a:p>
            <a:pPr defTabSz="914400" fontAlgn="base">
              <a:spcBef>
                <a:spcPct val="0"/>
              </a:spcBef>
              <a:spcAft>
                <a:spcPct val="0"/>
              </a:spcAft>
              <a:defRPr/>
            </a:pPr>
            <a:r>
              <a:rPr lang="en-US" sz="1000" kern="0" dirty="0">
                <a:solidFill>
                  <a:srgbClr val="000000"/>
                </a:solidFill>
                <a:latin typeface="Arial"/>
              </a:rPr>
              <a:t>  </a:t>
            </a:r>
            <a:r>
              <a:rPr lang="en-US" sz="1000" kern="0" dirty="0" err="1">
                <a:solidFill>
                  <a:srgbClr val="000000"/>
                </a:solidFill>
                <a:latin typeface="Arial"/>
              </a:rPr>
              <a:t>data_t</a:t>
            </a:r>
            <a:r>
              <a:rPr lang="en-US" sz="1000" kern="0" dirty="0">
                <a:solidFill>
                  <a:srgbClr val="000000"/>
                </a:solidFill>
                <a:latin typeface="Arial"/>
              </a:rPr>
              <a:t> *y,</a:t>
            </a:r>
          </a:p>
          <a:p>
            <a:pPr defTabSz="914400" fontAlgn="base">
              <a:spcBef>
                <a:spcPct val="0"/>
              </a:spcBef>
              <a:spcAft>
                <a:spcPct val="0"/>
              </a:spcAft>
              <a:defRPr/>
            </a:pPr>
            <a:r>
              <a:rPr lang="en-US" sz="1000" kern="0" dirty="0">
                <a:solidFill>
                  <a:srgbClr val="000000"/>
                </a:solidFill>
                <a:latin typeface="Arial"/>
              </a:rPr>
              <a:t>  </a:t>
            </a:r>
            <a:r>
              <a:rPr lang="en-US" sz="1000" kern="0" dirty="0" err="1">
                <a:solidFill>
                  <a:srgbClr val="000000"/>
                </a:solidFill>
                <a:latin typeface="Arial"/>
              </a:rPr>
              <a:t>coef_t</a:t>
            </a:r>
            <a:r>
              <a:rPr lang="en-US" sz="1000" kern="0" dirty="0">
                <a:solidFill>
                  <a:srgbClr val="000000"/>
                </a:solidFill>
                <a:latin typeface="Arial"/>
              </a:rPr>
              <a:t> c[4],</a:t>
            </a:r>
          </a:p>
          <a:p>
            <a:pPr defTabSz="914400" fontAlgn="base">
              <a:spcBef>
                <a:spcPct val="0"/>
              </a:spcBef>
              <a:spcAft>
                <a:spcPct val="0"/>
              </a:spcAft>
              <a:defRPr/>
            </a:pPr>
            <a:r>
              <a:rPr lang="en-US" sz="1000" kern="0" dirty="0">
                <a:solidFill>
                  <a:srgbClr val="000000"/>
                </a:solidFill>
                <a:latin typeface="Arial"/>
              </a:rPr>
              <a:t>  </a:t>
            </a:r>
            <a:r>
              <a:rPr lang="en-US" sz="1000" kern="0" dirty="0" err="1">
                <a:solidFill>
                  <a:srgbClr val="000000"/>
                </a:solidFill>
                <a:latin typeface="Arial"/>
              </a:rPr>
              <a:t>data_t</a:t>
            </a:r>
            <a:r>
              <a:rPr lang="en-US" sz="1000" kern="0" dirty="0">
                <a:solidFill>
                  <a:srgbClr val="000000"/>
                </a:solidFill>
                <a:latin typeface="Arial"/>
              </a:rPr>
              <a:t> x</a:t>
            </a:r>
          </a:p>
          <a:p>
            <a:pPr defTabSz="914400" fontAlgn="base">
              <a:spcBef>
                <a:spcPct val="0"/>
              </a:spcBef>
              <a:spcAft>
                <a:spcPct val="0"/>
              </a:spcAft>
              <a:defRPr/>
            </a:pPr>
            <a:r>
              <a:rPr lang="en-US" sz="1000" kern="0" dirty="0">
                <a:solidFill>
                  <a:srgbClr val="000000"/>
                </a:solidFill>
                <a:latin typeface="Arial"/>
              </a:rPr>
              <a:t>  ) {</a:t>
            </a:r>
          </a:p>
          <a:p>
            <a:pPr defTabSz="914400" fontAlgn="base">
              <a:spcBef>
                <a:spcPct val="0"/>
              </a:spcBef>
              <a:spcAft>
                <a:spcPct val="0"/>
              </a:spcAft>
              <a:defRPr/>
            </a:pPr>
            <a:endParaRPr lang="en-US" sz="1000" kern="0" dirty="0">
              <a:solidFill>
                <a:srgbClr val="000000"/>
              </a:solidFill>
              <a:latin typeface="Arial"/>
            </a:endParaRPr>
          </a:p>
          <a:p>
            <a:pPr defTabSz="914400" fontAlgn="base">
              <a:spcBef>
                <a:spcPct val="0"/>
              </a:spcBef>
              <a:spcAft>
                <a:spcPct val="0"/>
              </a:spcAft>
              <a:defRPr/>
            </a:pPr>
            <a:r>
              <a:rPr lang="en-US" sz="1000" kern="0" dirty="0">
                <a:solidFill>
                  <a:srgbClr val="000000"/>
                </a:solidFill>
                <a:latin typeface="Arial"/>
              </a:rPr>
              <a:t>  static </a:t>
            </a:r>
            <a:r>
              <a:rPr lang="en-US" sz="1000" kern="0" dirty="0" err="1">
                <a:solidFill>
                  <a:srgbClr val="000000"/>
                </a:solidFill>
                <a:latin typeface="Arial"/>
              </a:rPr>
              <a:t>data_t</a:t>
            </a:r>
            <a:r>
              <a:rPr lang="en-US" sz="1000" kern="0" dirty="0">
                <a:solidFill>
                  <a:srgbClr val="000000"/>
                </a:solidFill>
                <a:latin typeface="Arial"/>
              </a:rPr>
              <a:t> </a:t>
            </a:r>
            <a:r>
              <a:rPr lang="en-US" sz="1000" kern="0" dirty="0" err="1">
                <a:solidFill>
                  <a:srgbClr val="000000"/>
                </a:solidFill>
                <a:latin typeface="Arial"/>
              </a:rPr>
              <a:t>shift_reg</a:t>
            </a:r>
            <a:r>
              <a:rPr lang="en-US" sz="1000" kern="0" dirty="0">
                <a:solidFill>
                  <a:srgbClr val="000000"/>
                </a:solidFill>
                <a:latin typeface="Arial"/>
              </a:rPr>
              <a:t>[4];</a:t>
            </a:r>
          </a:p>
          <a:p>
            <a:pPr defTabSz="914400" fontAlgn="base">
              <a:spcBef>
                <a:spcPct val="0"/>
              </a:spcBef>
              <a:spcAft>
                <a:spcPct val="0"/>
              </a:spcAft>
              <a:defRPr/>
            </a:pPr>
            <a:r>
              <a:rPr lang="en-US" sz="1000" kern="0" dirty="0">
                <a:solidFill>
                  <a:srgbClr val="000000"/>
                </a:solidFill>
                <a:latin typeface="Arial"/>
              </a:rPr>
              <a:t>  </a:t>
            </a:r>
            <a:r>
              <a:rPr lang="en-US" sz="1000" kern="0" dirty="0" err="1">
                <a:solidFill>
                  <a:srgbClr val="000000"/>
                </a:solidFill>
                <a:latin typeface="Arial"/>
              </a:rPr>
              <a:t>acc_t</a:t>
            </a:r>
            <a:r>
              <a:rPr lang="en-US" sz="1000" kern="0" dirty="0">
                <a:solidFill>
                  <a:srgbClr val="000000"/>
                </a:solidFill>
                <a:latin typeface="Arial"/>
              </a:rPr>
              <a:t> acc;</a:t>
            </a:r>
          </a:p>
          <a:p>
            <a:pPr defTabSz="914400" fontAlgn="base">
              <a:spcBef>
                <a:spcPct val="0"/>
              </a:spcBef>
              <a:spcAft>
                <a:spcPct val="0"/>
              </a:spcAft>
              <a:defRPr/>
            </a:pPr>
            <a:r>
              <a:rPr lang="en-US" sz="1000" kern="0" dirty="0">
                <a:solidFill>
                  <a:srgbClr val="000000"/>
                </a:solidFill>
                <a:latin typeface="Arial"/>
              </a:rPr>
              <a:t>  </a:t>
            </a:r>
            <a:r>
              <a:rPr lang="en-US" sz="1000" kern="0" dirty="0" err="1">
                <a:solidFill>
                  <a:srgbClr val="000000"/>
                </a:solidFill>
                <a:latin typeface="Arial"/>
              </a:rPr>
              <a:t>int</a:t>
            </a:r>
            <a:r>
              <a:rPr lang="en-US" sz="1000" kern="0" dirty="0">
                <a:solidFill>
                  <a:srgbClr val="000000"/>
                </a:solidFill>
                <a:latin typeface="Arial"/>
              </a:rPr>
              <a:t> </a:t>
            </a:r>
            <a:r>
              <a:rPr lang="en-US" sz="1000" kern="0" dirty="0" err="1">
                <a:solidFill>
                  <a:srgbClr val="000000"/>
                </a:solidFill>
                <a:latin typeface="Arial"/>
              </a:rPr>
              <a:t>i</a:t>
            </a:r>
            <a:r>
              <a:rPr lang="en-US" sz="1000" kern="0" dirty="0">
                <a:solidFill>
                  <a:srgbClr val="000000"/>
                </a:solidFill>
                <a:latin typeface="Arial"/>
              </a:rPr>
              <a:t>;</a:t>
            </a:r>
          </a:p>
          <a:p>
            <a:pPr defTabSz="914400" fontAlgn="base">
              <a:spcBef>
                <a:spcPct val="0"/>
              </a:spcBef>
              <a:spcAft>
                <a:spcPct val="0"/>
              </a:spcAft>
              <a:defRPr/>
            </a:pPr>
            <a:r>
              <a:rPr lang="en-US" sz="1000" kern="0" dirty="0">
                <a:solidFill>
                  <a:srgbClr val="000000"/>
                </a:solidFill>
                <a:latin typeface="Arial"/>
              </a:rPr>
              <a:t>  </a:t>
            </a:r>
          </a:p>
          <a:p>
            <a:pPr defTabSz="914400" fontAlgn="base">
              <a:spcBef>
                <a:spcPct val="0"/>
              </a:spcBef>
              <a:spcAft>
                <a:spcPct val="0"/>
              </a:spcAft>
              <a:defRPr/>
            </a:pPr>
            <a:r>
              <a:rPr lang="en-US" sz="1000" kern="0" dirty="0">
                <a:solidFill>
                  <a:srgbClr val="000000"/>
                </a:solidFill>
                <a:latin typeface="Arial"/>
              </a:rPr>
              <a:t>  acc=0;</a:t>
            </a:r>
          </a:p>
          <a:p>
            <a:pPr defTabSz="914400" fontAlgn="base">
              <a:spcBef>
                <a:spcPct val="0"/>
              </a:spcBef>
              <a:spcAft>
                <a:spcPct val="0"/>
              </a:spcAft>
              <a:defRPr/>
            </a:pPr>
            <a:r>
              <a:rPr lang="en-US" sz="1000" kern="0" dirty="0">
                <a:solidFill>
                  <a:srgbClr val="000000"/>
                </a:solidFill>
                <a:latin typeface="Arial"/>
              </a:rPr>
              <a:t>  loop: for (</a:t>
            </a:r>
            <a:r>
              <a:rPr lang="en-US" sz="1000" kern="0" dirty="0" err="1">
                <a:solidFill>
                  <a:srgbClr val="000000"/>
                </a:solidFill>
                <a:latin typeface="Arial"/>
              </a:rPr>
              <a:t>i</a:t>
            </a:r>
            <a:r>
              <a:rPr lang="en-US" sz="1000" kern="0" dirty="0">
                <a:solidFill>
                  <a:srgbClr val="000000"/>
                </a:solidFill>
                <a:latin typeface="Arial"/>
              </a:rPr>
              <a:t>=3;i&gt;=0;i--) {</a:t>
            </a:r>
          </a:p>
          <a:p>
            <a:pPr defTabSz="914400" fontAlgn="base">
              <a:spcBef>
                <a:spcPct val="0"/>
              </a:spcBef>
              <a:spcAft>
                <a:spcPct val="0"/>
              </a:spcAft>
              <a:defRPr/>
            </a:pPr>
            <a:r>
              <a:rPr lang="en-US" sz="1000" kern="0" dirty="0">
                <a:solidFill>
                  <a:srgbClr val="000000"/>
                </a:solidFill>
                <a:latin typeface="Arial"/>
              </a:rPr>
              <a:t>     if (</a:t>
            </a:r>
            <a:r>
              <a:rPr lang="en-US" sz="1000" kern="0" dirty="0" err="1">
                <a:solidFill>
                  <a:srgbClr val="000000"/>
                </a:solidFill>
                <a:latin typeface="Arial"/>
              </a:rPr>
              <a:t>i</a:t>
            </a:r>
            <a:r>
              <a:rPr lang="en-US" sz="1000" kern="0" dirty="0">
                <a:solidFill>
                  <a:srgbClr val="000000"/>
                </a:solidFill>
                <a:latin typeface="Arial"/>
              </a:rPr>
              <a:t>==0) {</a:t>
            </a:r>
          </a:p>
          <a:p>
            <a:pPr defTabSz="914400" fontAlgn="base">
              <a:spcBef>
                <a:spcPct val="0"/>
              </a:spcBef>
              <a:spcAft>
                <a:spcPct val="0"/>
              </a:spcAft>
              <a:defRPr/>
            </a:pPr>
            <a:r>
              <a:rPr lang="en-US" sz="1000" kern="0" dirty="0">
                <a:solidFill>
                  <a:srgbClr val="000000"/>
                </a:solidFill>
                <a:latin typeface="Arial"/>
              </a:rPr>
              <a:t>       acc+=x*c[0];</a:t>
            </a:r>
          </a:p>
          <a:p>
            <a:pPr defTabSz="914400" fontAlgn="base">
              <a:spcBef>
                <a:spcPct val="0"/>
              </a:spcBef>
              <a:spcAft>
                <a:spcPct val="0"/>
              </a:spcAft>
              <a:defRPr/>
            </a:pPr>
            <a:r>
              <a:rPr lang="en-US" sz="1000" kern="0" dirty="0">
                <a:solidFill>
                  <a:srgbClr val="000000"/>
                </a:solidFill>
                <a:latin typeface="Arial"/>
              </a:rPr>
              <a:t>       </a:t>
            </a:r>
            <a:r>
              <a:rPr lang="en-US" sz="1000" kern="0" dirty="0" err="1">
                <a:solidFill>
                  <a:srgbClr val="000000"/>
                </a:solidFill>
                <a:latin typeface="Arial"/>
              </a:rPr>
              <a:t>shift_reg</a:t>
            </a:r>
            <a:r>
              <a:rPr lang="en-US" sz="1000" kern="0" dirty="0">
                <a:solidFill>
                  <a:srgbClr val="000000"/>
                </a:solidFill>
                <a:latin typeface="Arial"/>
              </a:rPr>
              <a:t>[0]=x;</a:t>
            </a:r>
          </a:p>
          <a:p>
            <a:pPr defTabSz="914400" fontAlgn="base">
              <a:spcBef>
                <a:spcPct val="0"/>
              </a:spcBef>
              <a:spcAft>
                <a:spcPct val="0"/>
              </a:spcAft>
              <a:defRPr/>
            </a:pPr>
            <a:r>
              <a:rPr lang="en-US" sz="1000" kern="0" dirty="0">
                <a:solidFill>
                  <a:srgbClr val="000000"/>
                </a:solidFill>
                <a:latin typeface="Arial"/>
              </a:rPr>
              <a:t>     } else {</a:t>
            </a:r>
          </a:p>
          <a:p>
            <a:pPr defTabSz="914400" fontAlgn="base">
              <a:spcBef>
                <a:spcPct val="0"/>
              </a:spcBef>
              <a:spcAft>
                <a:spcPct val="0"/>
              </a:spcAft>
              <a:defRPr/>
            </a:pPr>
            <a:r>
              <a:rPr lang="en-US" sz="1000" kern="0" dirty="0">
                <a:solidFill>
                  <a:srgbClr val="000000"/>
                </a:solidFill>
                <a:latin typeface="Arial"/>
              </a:rPr>
              <a:t>        </a:t>
            </a:r>
            <a:r>
              <a:rPr lang="en-US" sz="1000" kern="0" dirty="0" err="1">
                <a:solidFill>
                  <a:srgbClr val="000000"/>
                </a:solidFill>
                <a:latin typeface="Arial"/>
              </a:rPr>
              <a:t>shift_reg</a:t>
            </a:r>
            <a:r>
              <a:rPr lang="en-US" sz="1000" kern="0" dirty="0">
                <a:solidFill>
                  <a:srgbClr val="000000"/>
                </a:solidFill>
                <a:latin typeface="Arial"/>
              </a:rPr>
              <a:t>[</a:t>
            </a:r>
            <a:r>
              <a:rPr lang="en-US" sz="1000" kern="0" dirty="0" err="1">
                <a:solidFill>
                  <a:srgbClr val="000000"/>
                </a:solidFill>
                <a:latin typeface="Arial"/>
              </a:rPr>
              <a:t>i</a:t>
            </a:r>
            <a:r>
              <a:rPr lang="en-US" sz="1000" kern="0" dirty="0">
                <a:solidFill>
                  <a:srgbClr val="000000"/>
                </a:solidFill>
                <a:latin typeface="Arial"/>
              </a:rPr>
              <a:t>]=</a:t>
            </a:r>
            <a:r>
              <a:rPr lang="en-US" sz="1000" kern="0" dirty="0" err="1">
                <a:solidFill>
                  <a:srgbClr val="000000"/>
                </a:solidFill>
                <a:latin typeface="Arial"/>
              </a:rPr>
              <a:t>shift_reg</a:t>
            </a:r>
            <a:r>
              <a:rPr lang="en-US" sz="1000" kern="0" dirty="0">
                <a:solidFill>
                  <a:srgbClr val="000000"/>
                </a:solidFill>
                <a:latin typeface="Arial"/>
              </a:rPr>
              <a:t>[i-1];	        </a:t>
            </a:r>
          </a:p>
          <a:p>
            <a:pPr defTabSz="914400" fontAlgn="base">
              <a:spcBef>
                <a:spcPct val="0"/>
              </a:spcBef>
              <a:spcAft>
                <a:spcPct val="0"/>
              </a:spcAft>
              <a:defRPr/>
            </a:pPr>
            <a:r>
              <a:rPr lang="en-US" sz="1000" kern="0" dirty="0">
                <a:solidFill>
                  <a:srgbClr val="000000"/>
                </a:solidFill>
                <a:latin typeface="Arial"/>
              </a:rPr>
              <a:t>        acc+=</a:t>
            </a:r>
            <a:r>
              <a:rPr lang="en-US" sz="1000" kern="0" dirty="0" err="1">
                <a:solidFill>
                  <a:srgbClr val="000000"/>
                </a:solidFill>
                <a:latin typeface="Arial"/>
              </a:rPr>
              <a:t>shift_reg</a:t>
            </a:r>
            <a:r>
              <a:rPr lang="en-US" sz="1000" kern="0" dirty="0">
                <a:solidFill>
                  <a:srgbClr val="000000"/>
                </a:solidFill>
                <a:latin typeface="Arial"/>
              </a:rPr>
              <a:t>[</a:t>
            </a:r>
            <a:r>
              <a:rPr lang="en-US" sz="1000" kern="0" dirty="0" err="1">
                <a:solidFill>
                  <a:srgbClr val="000000"/>
                </a:solidFill>
                <a:latin typeface="Arial"/>
              </a:rPr>
              <a:t>i</a:t>
            </a:r>
            <a:r>
              <a:rPr lang="en-US" sz="1000" kern="0" dirty="0">
                <a:solidFill>
                  <a:srgbClr val="000000"/>
                </a:solidFill>
                <a:latin typeface="Arial"/>
              </a:rPr>
              <a:t>]*c[</a:t>
            </a:r>
            <a:r>
              <a:rPr lang="en-US" sz="1000" kern="0" dirty="0" err="1">
                <a:solidFill>
                  <a:srgbClr val="000000"/>
                </a:solidFill>
                <a:latin typeface="Arial"/>
              </a:rPr>
              <a:t>i</a:t>
            </a:r>
            <a:r>
              <a:rPr lang="en-US" sz="1000" kern="0" dirty="0">
                <a:solidFill>
                  <a:srgbClr val="000000"/>
                </a:solidFill>
                <a:latin typeface="Arial"/>
              </a:rPr>
              <a:t>];</a:t>
            </a:r>
          </a:p>
          <a:p>
            <a:pPr defTabSz="914400" fontAlgn="base">
              <a:spcBef>
                <a:spcPct val="0"/>
              </a:spcBef>
              <a:spcAft>
                <a:spcPct val="0"/>
              </a:spcAft>
              <a:defRPr/>
            </a:pPr>
            <a:r>
              <a:rPr lang="en-US" sz="1000" kern="0" dirty="0">
                <a:solidFill>
                  <a:srgbClr val="000000"/>
                </a:solidFill>
                <a:latin typeface="Arial"/>
              </a:rPr>
              <a:t>     }</a:t>
            </a:r>
          </a:p>
          <a:p>
            <a:pPr defTabSz="914400" fontAlgn="base">
              <a:spcBef>
                <a:spcPct val="0"/>
              </a:spcBef>
              <a:spcAft>
                <a:spcPct val="0"/>
              </a:spcAft>
              <a:defRPr/>
            </a:pPr>
            <a:r>
              <a:rPr lang="en-US" sz="1000" kern="0" dirty="0">
                <a:solidFill>
                  <a:srgbClr val="000000"/>
                </a:solidFill>
                <a:latin typeface="Arial"/>
              </a:rPr>
              <a:t>  }</a:t>
            </a:r>
          </a:p>
          <a:p>
            <a:pPr defTabSz="914400" fontAlgn="base">
              <a:spcBef>
                <a:spcPct val="0"/>
              </a:spcBef>
              <a:spcAft>
                <a:spcPct val="0"/>
              </a:spcAft>
              <a:defRPr/>
            </a:pPr>
            <a:r>
              <a:rPr lang="en-US" sz="1000" kern="0" dirty="0">
                <a:solidFill>
                  <a:srgbClr val="000000"/>
                </a:solidFill>
                <a:latin typeface="Arial"/>
              </a:rPr>
              <a:t>  *y=acc;</a:t>
            </a:r>
          </a:p>
          <a:p>
            <a:pPr defTabSz="914400" fontAlgn="base">
              <a:spcBef>
                <a:spcPct val="0"/>
              </a:spcBef>
              <a:spcAft>
                <a:spcPct val="0"/>
              </a:spcAft>
              <a:defRPr/>
            </a:pPr>
            <a:r>
              <a:rPr lang="en-US" sz="1000" kern="0" dirty="0">
                <a:solidFill>
                  <a:srgbClr val="000000"/>
                </a:solidFill>
                <a:latin typeface="Arial"/>
              </a:rPr>
              <a:t>}</a:t>
            </a:r>
          </a:p>
        </p:txBody>
      </p:sp>
      <p:sp>
        <p:nvSpPr>
          <p:cNvPr id="37" name="TextBox 36">
            <a:extLst>
              <a:ext uri="{FF2B5EF4-FFF2-40B4-BE49-F238E27FC236}">
                <a16:creationId xmlns:a16="http://schemas.microsoft.com/office/drawing/2014/main" id="{AC5DE847-C561-4BDC-BD16-83EEC881DA8B}"/>
              </a:ext>
            </a:extLst>
          </p:cNvPr>
          <p:cNvSpPr txBox="1"/>
          <p:nvPr/>
        </p:nvSpPr>
        <p:spPr>
          <a:xfrm>
            <a:off x="823089" y="1623429"/>
            <a:ext cx="2182081" cy="307777"/>
          </a:xfrm>
          <a:prstGeom prst="rect">
            <a:avLst/>
          </a:prstGeom>
          <a:noFill/>
        </p:spPr>
        <p:txBody>
          <a:bodyPr wrap="square" rtlCol="0">
            <a:spAutoFit/>
          </a:bodyPr>
          <a:lstStyle/>
          <a:p>
            <a:pPr algn="ctr" defTabSz="914400" fontAlgn="base">
              <a:spcBef>
                <a:spcPct val="0"/>
              </a:spcBef>
              <a:spcAft>
                <a:spcPct val="0"/>
              </a:spcAft>
              <a:defRPr/>
            </a:pPr>
            <a:r>
              <a:rPr lang="en-US" sz="1400" b="1" u="sng" kern="0" dirty="0">
                <a:solidFill>
                  <a:srgbClr val="000000"/>
                </a:solidFill>
              </a:rPr>
              <a:t>Code </a:t>
            </a:r>
          </a:p>
        </p:txBody>
      </p:sp>
      <p:sp>
        <p:nvSpPr>
          <p:cNvPr id="38" name="TextBox 37">
            <a:extLst>
              <a:ext uri="{FF2B5EF4-FFF2-40B4-BE49-F238E27FC236}">
                <a16:creationId xmlns:a16="http://schemas.microsoft.com/office/drawing/2014/main" id="{3B3292AC-9944-410E-AE6C-D0CC689F527F}"/>
              </a:ext>
            </a:extLst>
          </p:cNvPr>
          <p:cNvSpPr txBox="1"/>
          <p:nvPr/>
        </p:nvSpPr>
        <p:spPr>
          <a:xfrm>
            <a:off x="823088" y="5810112"/>
            <a:ext cx="2354892" cy="276999"/>
          </a:xfrm>
          <a:prstGeom prst="rect">
            <a:avLst/>
          </a:prstGeom>
          <a:solidFill>
            <a:srgbClr val="FFFF99"/>
          </a:solidFill>
          <a:ln w="19050">
            <a:solidFill>
              <a:srgbClr val="000000"/>
            </a:solidFill>
          </a:ln>
          <a:effectLst>
            <a:innerShdw blurRad="63500" dist="50800" dir="2700000">
              <a:prstClr val="black">
                <a:alpha val="50000"/>
              </a:prstClr>
            </a:innerShdw>
          </a:effectLst>
        </p:spPr>
        <p:txBody>
          <a:bodyPr wrap="square" rtlCol="0">
            <a:spAutoFit/>
          </a:bodyPr>
          <a:lstStyle/>
          <a:p>
            <a:pPr algn="ctr" defTabSz="914400" fontAlgn="base">
              <a:spcBef>
                <a:spcPct val="0"/>
              </a:spcBef>
              <a:spcAft>
                <a:spcPct val="0"/>
              </a:spcAft>
              <a:defRPr/>
            </a:pPr>
            <a:r>
              <a:rPr lang="en-US" sz="1200" b="1" kern="0" dirty="0">
                <a:solidFill>
                  <a:srgbClr val="000000"/>
                </a:solidFill>
              </a:rPr>
              <a:t>From any C code example ..</a:t>
            </a:r>
          </a:p>
        </p:txBody>
      </p:sp>
      <p:grpSp>
        <p:nvGrpSpPr>
          <p:cNvPr id="39" name="Group 54">
            <a:extLst>
              <a:ext uri="{FF2B5EF4-FFF2-40B4-BE49-F238E27FC236}">
                <a16:creationId xmlns:a16="http://schemas.microsoft.com/office/drawing/2014/main" id="{E701D365-2670-43F5-811E-09EC325679EB}"/>
              </a:ext>
            </a:extLst>
          </p:cNvPr>
          <p:cNvGrpSpPr/>
          <p:nvPr/>
        </p:nvGrpSpPr>
        <p:grpSpPr>
          <a:xfrm>
            <a:off x="720701" y="2776115"/>
            <a:ext cx="6859906" cy="3495660"/>
            <a:chOff x="539475" y="2776115"/>
            <a:chExt cx="5146270" cy="3495660"/>
          </a:xfrm>
        </p:grpSpPr>
        <p:sp>
          <p:nvSpPr>
            <p:cNvPr id="40" name="TextBox 39">
              <a:extLst>
                <a:ext uri="{FF2B5EF4-FFF2-40B4-BE49-F238E27FC236}">
                  <a16:creationId xmlns:a16="http://schemas.microsoft.com/office/drawing/2014/main" id="{5A29C16D-9744-44EE-956E-CC6B2594087D}"/>
                </a:ext>
              </a:extLst>
            </p:cNvPr>
            <p:cNvSpPr txBox="1"/>
            <p:nvPr/>
          </p:nvSpPr>
          <p:spPr>
            <a:xfrm>
              <a:off x="3151015" y="5810110"/>
              <a:ext cx="2534730" cy="461665"/>
            </a:xfrm>
            <a:prstGeom prst="rect">
              <a:avLst/>
            </a:prstGeom>
            <a:solidFill>
              <a:srgbClr val="FFFF99"/>
            </a:solidFill>
            <a:ln w="19050">
              <a:solidFill>
                <a:srgbClr val="000000"/>
              </a:solidFill>
            </a:ln>
            <a:effectLst>
              <a:innerShdw blurRad="63500" dist="50800" dir="2700000">
                <a:prstClr val="black">
                  <a:alpha val="50000"/>
                </a:prstClr>
              </a:innerShdw>
            </a:effectLst>
          </p:spPr>
          <p:txBody>
            <a:bodyPr wrap="square" rtlCol="0">
              <a:spAutoFit/>
            </a:bodyPr>
            <a:lstStyle/>
            <a:p>
              <a:pPr algn="ctr" defTabSz="914400" fontAlgn="base">
                <a:spcBef>
                  <a:spcPct val="0"/>
                </a:spcBef>
                <a:spcAft>
                  <a:spcPct val="0"/>
                </a:spcAft>
                <a:defRPr/>
              </a:pPr>
              <a:r>
                <a:rPr lang="en-US" sz="1200" b="1" kern="0" dirty="0">
                  <a:solidFill>
                    <a:srgbClr val="000000"/>
                  </a:solidFill>
                </a:rPr>
                <a:t>The loops in the C code correlated to states of behavior</a:t>
              </a:r>
            </a:p>
          </p:txBody>
        </p:sp>
        <p:grpSp>
          <p:nvGrpSpPr>
            <p:cNvPr id="41" name="Group 52">
              <a:extLst>
                <a:ext uri="{FF2B5EF4-FFF2-40B4-BE49-F238E27FC236}">
                  <a16:creationId xmlns:a16="http://schemas.microsoft.com/office/drawing/2014/main" id="{8F6DECFC-559D-4454-BA3D-09CE426C84CA}"/>
                </a:ext>
              </a:extLst>
            </p:cNvPr>
            <p:cNvGrpSpPr/>
            <p:nvPr/>
          </p:nvGrpSpPr>
          <p:grpSpPr>
            <a:xfrm>
              <a:off x="539475" y="2776115"/>
              <a:ext cx="4382191" cy="2895764"/>
              <a:chOff x="539475" y="2776115"/>
              <a:chExt cx="4382191" cy="2895764"/>
            </a:xfrm>
          </p:grpSpPr>
          <p:cxnSp>
            <p:nvCxnSpPr>
              <p:cNvPr id="42" name="Straight Connector 41">
                <a:extLst>
                  <a:ext uri="{FF2B5EF4-FFF2-40B4-BE49-F238E27FC236}">
                    <a16:creationId xmlns:a16="http://schemas.microsoft.com/office/drawing/2014/main" id="{C20D7AE6-4BD7-49A4-845F-1513AC023528}"/>
                  </a:ext>
                </a:extLst>
              </p:cNvPr>
              <p:cNvCxnSpPr/>
              <p:nvPr/>
            </p:nvCxnSpPr>
            <p:spPr>
              <a:xfrm>
                <a:off x="539475" y="5502870"/>
                <a:ext cx="3302830" cy="0"/>
              </a:xfrm>
              <a:prstGeom prst="line">
                <a:avLst/>
              </a:prstGeom>
              <a:noFill/>
              <a:ln w="25400" cap="flat" cmpd="sng" algn="ctr">
                <a:solidFill>
                  <a:srgbClr val="008CA8"/>
                </a:solidFill>
                <a:prstDash val="dash"/>
              </a:ln>
              <a:effectLst>
                <a:outerShdw blurRad="40000" dist="20000" dir="5400000" rotWithShape="0">
                  <a:srgbClr val="000000">
                    <a:alpha val="38000"/>
                  </a:srgbClr>
                </a:outerShdw>
              </a:effectLst>
            </p:spPr>
          </p:cxnSp>
          <p:cxnSp>
            <p:nvCxnSpPr>
              <p:cNvPr id="43" name="Straight Connector 42">
                <a:extLst>
                  <a:ext uri="{FF2B5EF4-FFF2-40B4-BE49-F238E27FC236}">
                    <a16:creationId xmlns:a16="http://schemas.microsoft.com/office/drawing/2014/main" id="{19174BE1-527D-49AC-9A41-897BB8778CC5}"/>
                  </a:ext>
                </a:extLst>
              </p:cNvPr>
              <p:cNvCxnSpPr/>
              <p:nvPr/>
            </p:nvCxnSpPr>
            <p:spPr>
              <a:xfrm>
                <a:off x="654690" y="5195630"/>
                <a:ext cx="3187615" cy="0"/>
              </a:xfrm>
              <a:prstGeom prst="line">
                <a:avLst/>
              </a:prstGeom>
              <a:noFill/>
              <a:ln w="25400" cap="flat" cmpd="sng" algn="ctr">
                <a:solidFill>
                  <a:srgbClr val="008CA8"/>
                </a:solidFill>
                <a:prstDash val="dash"/>
              </a:ln>
              <a:effectLst>
                <a:outerShdw blurRad="40000" dist="20000" dir="5400000" rotWithShape="0">
                  <a:srgbClr val="000000">
                    <a:alpha val="38000"/>
                  </a:srgbClr>
                </a:outerShdw>
              </a:effectLst>
            </p:spPr>
          </p:cxnSp>
          <p:cxnSp>
            <p:nvCxnSpPr>
              <p:cNvPr id="44" name="Straight Connector 43">
                <a:extLst>
                  <a:ext uri="{FF2B5EF4-FFF2-40B4-BE49-F238E27FC236}">
                    <a16:creationId xmlns:a16="http://schemas.microsoft.com/office/drawing/2014/main" id="{4250ACA3-818C-4F18-BDF1-86AA0B272417}"/>
                  </a:ext>
                </a:extLst>
              </p:cNvPr>
              <p:cNvCxnSpPr/>
              <p:nvPr/>
            </p:nvCxnSpPr>
            <p:spPr>
              <a:xfrm>
                <a:off x="1730030" y="4005075"/>
                <a:ext cx="2112275" cy="1"/>
              </a:xfrm>
              <a:prstGeom prst="line">
                <a:avLst/>
              </a:prstGeom>
              <a:noFill/>
              <a:ln w="25400" cap="flat" cmpd="sng" algn="ctr">
                <a:solidFill>
                  <a:srgbClr val="008CA8"/>
                </a:solidFill>
                <a:prstDash val="dash"/>
              </a:ln>
              <a:effectLst>
                <a:outerShdw blurRad="40000" dist="20000" dir="5400000" rotWithShape="0">
                  <a:srgbClr val="000000">
                    <a:alpha val="38000"/>
                  </a:srgbClr>
                </a:outerShdw>
              </a:effectLst>
            </p:spPr>
          </p:cxnSp>
          <p:cxnSp>
            <p:nvCxnSpPr>
              <p:cNvPr id="45" name="Straight Connector 44">
                <a:extLst>
                  <a:ext uri="{FF2B5EF4-FFF2-40B4-BE49-F238E27FC236}">
                    <a16:creationId xmlns:a16="http://schemas.microsoft.com/office/drawing/2014/main" id="{DF979A20-CD1E-4BB2-A85E-5F463F8E21DA}"/>
                  </a:ext>
                </a:extLst>
              </p:cNvPr>
              <p:cNvCxnSpPr/>
              <p:nvPr/>
            </p:nvCxnSpPr>
            <p:spPr>
              <a:xfrm>
                <a:off x="885120" y="2891330"/>
                <a:ext cx="2957185" cy="0"/>
              </a:xfrm>
              <a:prstGeom prst="line">
                <a:avLst/>
              </a:prstGeom>
              <a:noFill/>
              <a:ln w="25400" cap="flat" cmpd="sng" algn="ctr">
                <a:solidFill>
                  <a:srgbClr val="008CA8"/>
                </a:solidFill>
                <a:prstDash val="dash"/>
              </a:ln>
              <a:effectLst>
                <a:outerShdw blurRad="40000" dist="20000" dir="5400000" rotWithShape="0">
                  <a:srgbClr val="000000">
                    <a:alpha val="38000"/>
                  </a:srgbClr>
                </a:outerShdw>
              </a:effectLst>
            </p:spPr>
          </p:cxnSp>
          <p:sp>
            <p:nvSpPr>
              <p:cNvPr id="46" name="TextBox 45">
                <a:extLst>
                  <a:ext uri="{FF2B5EF4-FFF2-40B4-BE49-F238E27FC236}">
                    <a16:creationId xmlns:a16="http://schemas.microsoft.com/office/drawing/2014/main" id="{5637CCC7-86CC-4800-A773-2852B23D9D68}"/>
                  </a:ext>
                </a:extLst>
              </p:cNvPr>
              <p:cNvSpPr txBox="1"/>
              <p:nvPr/>
            </p:nvSpPr>
            <p:spPr>
              <a:xfrm>
                <a:off x="3989434" y="2776115"/>
                <a:ext cx="922608" cy="276999"/>
              </a:xfrm>
              <a:prstGeom prst="rect">
                <a:avLst/>
              </a:prstGeom>
              <a:noFill/>
            </p:spPr>
            <p:txBody>
              <a:bodyPr wrap="none" rtlCol="0">
                <a:spAutoFit/>
              </a:bodyPr>
              <a:lstStyle/>
              <a:p>
                <a:pPr algn="ctr" defTabSz="914400" fontAlgn="base">
                  <a:spcBef>
                    <a:spcPct val="0"/>
                  </a:spcBef>
                  <a:spcAft>
                    <a:spcPct val="0"/>
                  </a:spcAft>
                  <a:defRPr/>
                </a:pPr>
                <a:r>
                  <a:rPr lang="en-US" sz="1200" b="1" kern="0" dirty="0">
                    <a:solidFill>
                      <a:srgbClr val="000000"/>
                    </a:solidFill>
                  </a:rPr>
                  <a:t>Function Start</a:t>
                </a:r>
              </a:p>
            </p:txBody>
          </p:sp>
          <p:sp>
            <p:nvSpPr>
              <p:cNvPr id="47" name="TextBox 46">
                <a:extLst>
                  <a:ext uri="{FF2B5EF4-FFF2-40B4-BE49-F238E27FC236}">
                    <a16:creationId xmlns:a16="http://schemas.microsoft.com/office/drawing/2014/main" id="{E6BAB51D-0838-4A57-AC79-0F912821D1B0}"/>
                  </a:ext>
                </a:extLst>
              </p:cNvPr>
              <p:cNvSpPr txBox="1"/>
              <p:nvPr/>
            </p:nvSpPr>
            <p:spPr>
              <a:xfrm>
                <a:off x="3979817" y="3858680"/>
                <a:ext cx="941849" cy="276999"/>
              </a:xfrm>
              <a:prstGeom prst="rect">
                <a:avLst/>
              </a:prstGeom>
              <a:noFill/>
            </p:spPr>
            <p:txBody>
              <a:bodyPr wrap="none" rtlCol="0">
                <a:spAutoFit/>
              </a:bodyPr>
              <a:lstStyle/>
              <a:p>
                <a:pPr algn="ctr" defTabSz="914400" fontAlgn="base">
                  <a:spcBef>
                    <a:spcPct val="0"/>
                  </a:spcBef>
                  <a:spcAft>
                    <a:spcPct val="0"/>
                  </a:spcAft>
                  <a:defRPr/>
                </a:pPr>
                <a:r>
                  <a:rPr lang="en-US" sz="1200" b="1" kern="0" dirty="0">
                    <a:solidFill>
                      <a:srgbClr val="000000"/>
                    </a:solidFill>
                  </a:rPr>
                  <a:t>For-Loop Start</a:t>
                </a:r>
              </a:p>
            </p:txBody>
          </p:sp>
          <p:sp>
            <p:nvSpPr>
              <p:cNvPr id="48" name="TextBox 47">
                <a:extLst>
                  <a:ext uri="{FF2B5EF4-FFF2-40B4-BE49-F238E27FC236}">
                    <a16:creationId xmlns:a16="http://schemas.microsoft.com/office/drawing/2014/main" id="{C03A7C7A-0A1E-4EF0-AD12-9BC5EAC98CFD}"/>
                  </a:ext>
                </a:extLst>
              </p:cNvPr>
              <p:cNvSpPr txBox="1"/>
              <p:nvPr/>
            </p:nvSpPr>
            <p:spPr>
              <a:xfrm>
                <a:off x="4001462" y="5042010"/>
                <a:ext cx="898557" cy="276999"/>
              </a:xfrm>
              <a:prstGeom prst="rect">
                <a:avLst/>
              </a:prstGeom>
              <a:noFill/>
            </p:spPr>
            <p:txBody>
              <a:bodyPr wrap="none" rtlCol="0">
                <a:spAutoFit/>
              </a:bodyPr>
              <a:lstStyle/>
              <a:p>
                <a:pPr algn="ctr" defTabSz="914400" fontAlgn="base">
                  <a:spcBef>
                    <a:spcPct val="0"/>
                  </a:spcBef>
                  <a:spcAft>
                    <a:spcPct val="0"/>
                  </a:spcAft>
                  <a:defRPr/>
                </a:pPr>
                <a:r>
                  <a:rPr lang="en-US" sz="1200" b="1" kern="0" dirty="0">
                    <a:solidFill>
                      <a:srgbClr val="000000"/>
                    </a:solidFill>
                  </a:rPr>
                  <a:t>For-Loop End</a:t>
                </a:r>
              </a:p>
            </p:txBody>
          </p:sp>
          <p:sp>
            <p:nvSpPr>
              <p:cNvPr id="49" name="TextBox 48">
                <a:extLst>
                  <a:ext uri="{FF2B5EF4-FFF2-40B4-BE49-F238E27FC236}">
                    <a16:creationId xmlns:a16="http://schemas.microsoft.com/office/drawing/2014/main" id="{A99B3263-A483-4696-926D-DA5E83DE412A}"/>
                  </a:ext>
                </a:extLst>
              </p:cNvPr>
              <p:cNvSpPr txBox="1"/>
              <p:nvPr/>
            </p:nvSpPr>
            <p:spPr>
              <a:xfrm>
                <a:off x="4011081" y="5394880"/>
                <a:ext cx="879316" cy="276999"/>
              </a:xfrm>
              <a:prstGeom prst="rect">
                <a:avLst/>
              </a:prstGeom>
              <a:noFill/>
            </p:spPr>
            <p:txBody>
              <a:bodyPr wrap="none" rtlCol="0">
                <a:spAutoFit/>
              </a:bodyPr>
              <a:lstStyle/>
              <a:p>
                <a:pPr algn="ctr" defTabSz="914400" fontAlgn="base">
                  <a:spcBef>
                    <a:spcPct val="0"/>
                  </a:spcBef>
                  <a:spcAft>
                    <a:spcPct val="0"/>
                  </a:spcAft>
                  <a:defRPr/>
                </a:pPr>
                <a:r>
                  <a:rPr lang="en-US" sz="1200" b="1" kern="0" dirty="0">
                    <a:solidFill>
                      <a:srgbClr val="000000"/>
                    </a:solidFill>
                  </a:rPr>
                  <a:t>Function End</a:t>
                </a:r>
              </a:p>
            </p:txBody>
          </p:sp>
        </p:grpSp>
      </p:grpSp>
      <p:grpSp>
        <p:nvGrpSpPr>
          <p:cNvPr id="50" name="Group 53">
            <a:extLst>
              <a:ext uri="{FF2B5EF4-FFF2-40B4-BE49-F238E27FC236}">
                <a16:creationId xmlns:a16="http://schemas.microsoft.com/office/drawing/2014/main" id="{965549FA-06C1-4904-AAAD-7D0D13CC7910}"/>
              </a:ext>
            </a:extLst>
          </p:cNvPr>
          <p:cNvGrpSpPr/>
          <p:nvPr/>
        </p:nvGrpSpPr>
        <p:grpSpPr>
          <a:xfrm>
            <a:off x="6659129" y="1623430"/>
            <a:ext cx="4658593" cy="4648347"/>
            <a:chOff x="4994455" y="1623428"/>
            <a:chExt cx="3494855" cy="4648347"/>
          </a:xfrm>
        </p:grpSpPr>
        <p:sp>
          <p:nvSpPr>
            <p:cNvPr id="51" name="Rectangle 50">
              <a:extLst>
                <a:ext uri="{FF2B5EF4-FFF2-40B4-BE49-F238E27FC236}">
                  <a16:creationId xmlns:a16="http://schemas.microsoft.com/office/drawing/2014/main" id="{36B966CB-7E82-4BE8-827C-02F71912E206}"/>
                </a:ext>
              </a:extLst>
            </p:cNvPr>
            <p:cNvSpPr/>
            <p:nvPr/>
          </p:nvSpPr>
          <p:spPr>
            <a:xfrm>
              <a:off x="6093772" y="2161635"/>
              <a:ext cx="1651415" cy="3456450"/>
            </a:xfrm>
            <a:prstGeom prst="rect">
              <a:avLst/>
            </a:prstGeom>
            <a:gradFill flip="none" rotWithShape="1">
              <a:gsLst>
                <a:gs pos="0">
                  <a:srgbClr val="663300">
                    <a:tint val="66000"/>
                    <a:satMod val="160000"/>
                  </a:srgbClr>
                </a:gs>
                <a:gs pos="50000">
                  <a:srgbClr val="663300">
                    <a:tint val="44500"/>
                    <a:satMod val="160000"/>
                  </a:srgbClr>
                </a:gs>
                <a:gs pos="100000">
                  <a:srgbClr val="663300">
                    <a:tint val="23500"/>
                    <a:satMod val="160000"/>
                  </a:srgbClr>
                </a:gs>
              </a:gsLst>
              <a:lin ang="10800000" scaled="1"/>
              <a:tileRect/>
            </a:gradFill>
            <a:ln w="9525" cap="flat" cmpd="sng" algn="ctr">
              <a:solidFill>
                <a:srgbClr val="000000"/>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endParaRPr lang="en-US" kern="0">
                <a:solidFill>
                  <a:srgbClr val="FFFFFF"/>
                </a:solidFill>
                <a:latin typeface="Arial"/>
              </a:endParaRPr>
            </a:p>
          </p:txBody>
        </p:sp>
        <p:sp>
          <p:nvSpPr>
            <p:cNvPr id="52" name="Oval 6">
              <a:extLst>
                <a:ext uri="{FF2B5EF4-FFF2-40B4-BE49-F238E27FC236}">
                  <a16:creationId xmlns:a16="http://schemas.microsoft.com/office/drawing/2014/main" id="{385975C5-D38D-47FF-B853-D2FF5352672F}"/>
                </a:ext>
              </a:extLst>
            </p:cNvPr>
            <p:cNvSpPr/>
            <p:nvPr/>
          </p:nvSpPr>
          <p:spPr>
            <a:xfrm>
              <a:off x="6593889" y="3178465"/>
              <a:ext cx="304800" cy="304800"/>
            </a:xfrm>
            <a:prstGeom prst="ellipse">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r>
                <a:rPr lang="en-US" kern="0" dirty="0">
                  <a:solidFill>
                    <a:srgbClr val="FFFFFF"/>
                  </a:solidFill>
                  <a:latin typeface="Arial"/>
                </a:rPr>
                <a:t>0</a:t>
              </a:r>
            </a:p>
          </p:txBody>
        </p:sp>
        <p:sp>
          <p:nvSpPr>
            <p:cNvPr id="53" name="Oval 52">
              <a:extLst>
                <a:ext uri="{FF2B5EF4-FFF2-40B4-BE49-F238E27FC236}">
                  <a16:creationId xmlns:a16="http://schemas.microsoft.com/office/drawing/2014/main" id="{780A4317-EDEC-4FC4-A635-59B96EA1FDDA}"/>
                </a:ext>
              </a:extLst>
            </p:cNvPr>
            <p:cNvSpPr/>
            <p:nvPr/>
          </p:nvSpPr>
          <p:spPr>
            <a:xfrm>
              <a:off x="6593889" y="5159665"/>
              <a:ext cx="304800" cy="304800"/>
            </a:xfrm>
            <a:prstGeom prst="ellipse">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r>
                <a:rPr lang="en-US" kern="0" dirty="0">
                  <a:solidFill>
                    <a:srgbClr val="FFFFFF"/>
                  </a:solidFill>
                  <a:latin typeface="Arial"/>
                </a:rPr>
                <a:t>2</a:t>
              </a:r>
            </a:p>
          </p:txBody>
        </p:sp>
        <p:cxnSp>
          <p:nvCxnSpPr>
            <p:cNvPr id="54" name="Straight Arrow Connector 53">
              <a:extLst>
                <a:ext uri="{FF2B5EF4-FFF2-40B4-BE49-F238E27FC236}">
                  <a16:creationId xmlns:a16="http://schemas.microsoft.com/office/drawing/2014/main" id="{41930FC2-D6E9-4BE6-A0B1-D16C88BD4072}"/>
                </a:ext>
              </a:extLst>
            </p:cNvPr>
            <p:cNvCxnSpPr/>
            <p:nvPr/>
          </p:nvCxnSpPr>
          <p:spPr>
            <a:xfrm rot="5400000">
              <a:off x="6555790" y="2987966"/>
              <a:ext cx="380998" cy="1588"/>
            </a:xfrm>
            <a:prstGeom prst="straightConnector1">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cxnSp>
          <p:nvCxnSpPr>
            <p:cNvPr id="55" name="Curved Connector 20">
              <a:extLst>
                <a:ext uri="{FF2B5EF4-FFF2-40B4-BE49-F238E27FC236}">
                  <a16:creationId xmlns:a16="http://schemas.microsoft.com/office/drawing/2014/main" id="{A02D9B0D-5A66-4E5A-88C4-369806CCF0C7}"/>
                </a:ext>
              </a:extLst>
            </p:cNvPr>
            <p:cNvCxnSpPr>
              <a:stCxn id="53" idx="6"/>
            </p:cNvCxnSpPr>
            <p:nvPr/>
          </p:nvCxnSpPr>
          <p:spPr>
            <a:xfrm flipV="1">
              <a:off x="6898689" y="3330865"/>
              <a:ext cx="1588" cy="1981200"/>
            </a:xfrm>
            <a:prstGeom prst="curvedConnector3">
              <a:avLst>
                <a:gd name="adj1" fmla="val 24519781"/>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sp>
          <p:nvSpPr>
            <p:cNvPr id="56" name="TextBox 55">
              <a:extLst>
                <a:ext uri="{FF2B5EF4-FFF2-40B4-BE49-F238E27FC236}">
                  <a16:creationId xmlns:a16="http://schemas.microsoft.com/office/drawing/2014/main" id="{9BFEFF22-3A40-4E52-9E77-293B7463A17E}"/>
                </a:ext>
              </a:extLst>
            </p:cNvPr>
            <p:cNvSpPr txBox="1"/>
            <p:nvPr/>
          </p:nvSpPr>
          <p:spPr>
            <a:xfrm>
              <a:off x="6069795" y="1623428"/>
              <a:ext cx="1636987" cy="307777"/>
            </a:xfrm>
            <a:prstGeom prst="rect">
              <a:avLst/>
            </a:prstGeom>
            <a:noFill/>
          </p:spPr>
          <p:txBody>
            <a:bodyPr wrap="square" rtlCol="0">
              <a:spAutoFit/>
            </a:bodyPr>
            <a:lstStyle/>
            <a:p>
              <a:pPr algn="ctr" defTabSz="914400" fontAlgn="base">
                <a:spcBef>
                  <a:spcPct val="0"/>
                </a:spcBef>
                <a:spcAft>
                  <a:spcPct val="0"/>
                </a:spcAft>
                <a:defRPr/>
              </a:pPr>
              <a:r>
                <a:rPr lang="en-US" sz="1400" b="1" u="sng" kern="0" dirty="0">
                  <a:solidFill>
                    <a:srgbClr val="000000"/>
                  </a:solidFill>
                </a:rPr>
                <a:t>Control Behavior</a:t>
              </a:r>
            </a:p>
          </p:txBody>
        </p:sp>
        <p:sp>
          <p:nvSpPr>
            <p:cNvPr id="57" name="Oval 56">
              <a:extLst>
                <a:ext uri="{FF2B5EF4-FFF2-40B4-BE49-F238E27FC236}">
                  <a16:creationId xmlns:a16="http://schemas.microsoft.com/office/drawing/2014/main" id="{E56EF90B-79BE-4544-A24B-7D8EB634511C}"/>
                </a:ext>
              </a:extLst>
            </p:cNvPr>
            <p:cNvSpPr/>
            <p:nvPr/>
          </p:nvSpPr>
          <p:spPr>
            <a:xfrm>
              <a:off x="6593889" y="4107200"/>
              <a:ext cx="304800" cy="304800"/>
            </a:xfrm>
            <a:prstGeom prst="ellipse">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r>
                <a:rPr lang="en-US" kern="0" dirty="0">
                  <a:solidFill>
                    <a:srgbClr val="FFFFFF"/>
                  </a:solidFill>
                  <a:latin typeface="Arial"/>
                </a:rPr>
                <a:t>1</a:t>
              </a:r>
            </a:p>
          </p:txBody>
        </p:sp>
        <p:cxnSp>
          <p:nvCxnSpPr>
            <p:cNvPr id="58" name="Curved Connector 20">
              <a:extLst>
                <a:ext uri="{FF2B5EF4-FFF2-40B4-BE49-F238E27FC236}">
                  <a16:creationId xmlns:a16="http://schemas.microsoft.com/office/drawing/2014/main" id="{980E9186-A61D-4105-86B4-BBE7C64E16B7}"/>
                </a:ext>
              </a:extLst>
            </p:cNvPr>
            <p:cNvCxnSpPr>
              <a:stCxn id="57" idx="4"/>
              <a:endCxn id="57" idx="6"/>
            </p:cNvCxnSpPr>
            <p:nvPr/>
          </p:nvCxnSpPr>
          <p:spPr>
            <a:xfrm rot="5400000" flipH="1" flipV="1">
              <a:off x="6746289" y="4259600"/>
              <a:ext cx="152400" cy="152400"/>
            </a:xfrm>
            <a:prstGeom prst="curvedConnector4">
              <a:avLst>
                <a:gd name="adj1" fmla="val -150000"/>
                <a:gd name="adj2" fmla="val 250000"/>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cxnSp>
          <p:nvCxnSpPr>
            <p:cNvPr id="59" name="Straight Arrow Connector 58">
              <a:extLst>
                <a:ext uri="{FF2B5EF4-FFF2-40B4-BE49-F238E27FC236}">
                  <a16:creationId xmlns:a16="http://schemas.microsoft.com/office/drawing/2014/main" id="{E3BABD35-BCE4-4AE7-915E-8851039489ED}"/>
                </a:ext>
              </a:extLst>
            </p:cNvPr>
            <p:cNvCxnSpPr/>
            <p:nvPr/>
          </p:nvCxnSpPr>
          <p:spPr>
            <a:xfrm rot="5400000">
              <a:off x="6441489" y="3788065"/>
              <a:ext cx="609600" cy="1588"/>
            </a:xfrm>
            <a:prstGeom prst="straightConnector1">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cxnSp>
          <p:nvCxnSpPr>
            <p:cNvPr id="60" name="Straight Arrow Connector 59">
              <a:extLst>
                <a:ext uri="{FF2B5EF4-FFF2-40B4-BE49-F238E27FC236}">
                  <a16:creationId xmlns:a16="http://schemas.microsoft.com/office/drawing/2014/main" id="{E8FFD429-4E03-4BEF-894F-5E11CF54FA35}"/>
                </a:ext>
              </a:extLst>
            </p:cNvPr>
            <p:cNvCxnSpPr>
              <a:endCxn id="53" idx="0"/>
            </p:cNvCxnSpPr>
            <p:nvPr/>
          </p:nvCxnSpPr>
          <p:spPr>
            <a:xfrm rot="5400000">
              <a:off x="6365289" y="4778665"/>
              <a:ext cx="762000" cy="1588"/>
            </a:xfrm>
            <a:prstGeom prst="straightConnector1">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sp>
          <p:nvSpPr>
            <p:cNvPr id="61" name="TextBox 60">
              <a:extLst>
                <a:ext uri="{FF2B5EF4-FFF2-40B4-BE49-F238E27FC236}">
                  <a16:creationId xmlns:a16="http://schemas.microsoft.com/office/drawing/2014/main" id="{BD6FF395-2A4D-4EBB-83AA-0C4DF91FD08F}"/>
                </a:ext>
              </a:extLst>
            </p:cNvPr>
            <p:cNvSpPr txBox="1"/>
            <p:nvPr/>
          </p:nvSpPr>
          <p:spPr>
            <a:xfrm>
              <a:off x="6170582" y="2200040"/>
              <a:ext cx="1497795" cy="400110"/>
            </a:xfrm>
            <a:prstGeom prst="rect">
              <a:avLst/>
            </a:prstGeom>
            <a:noFill/>
          </p:spPr>
          <p:txBody>
            <a:bodyPr wrap="square" rtlCol="0">
              <a:spAutoFit/>
            </a:bodyPr>
            <a:lstStyle/>
            <a:p>
              <a:pPr algn="ctr" defTabSz="914400" fontAlgn="base">
                <a:spcBef>
                  <a:spcPct val="0"/>
                </a:spcBef>
                <a:spcAft>
                  <a:spcPct val="0"/>
                </a:spcAft>
                <a:defRPr/>
              </a:pPr>
              <a:r>
                <a:rPr lang="en-US" sz="1000" b="1" kern="0" dirty="0">
                  <a:solidFill>
                    <a:srgbClr val="000000"/>
                  </a:solidFill>
                </a:rPr>
                <a:t>Finite State Machine (FSM) states</a:t>
              </a:r>
            </a:p>
          </p:txBody>
        </p:sp>
        <p:sp>
          <p:nvSpPr>
            <p:cNvPr id="62" name="TextBox 61">
              <a:extLst>
                <a:ext uri="{FF2B5EF4-FFF2-40B4-BE49-F238E27FC236}">
                  <a16:creationId xmlns:a16="http://schemas.microsoft.com/office/drawing/2014/main" id="{EAF16CCF-871A-4801-9E0A-99F89F0B0502}"/>
                </a:ext>
              </a:extLst>
            </p:cNvPr>
            <p:cNvSpPr txBox="1"/>
            <p:nvPr/>
          </p:nvSpPr>
          <p:spPr>
            <a:xfrm>
              <a:off x="5877770" y="5810110"/>
              <a:ext cx="2611540" cy="461665"/>
            </a:xfrm>
            <a:prstGeom prst="rect">
              <a:avLst/>
            </a:prstGeom>
            <a:solidFill>
              <a:srgbClr val="FFFF99"/>
            </a:solidFill>
            <a:ln w="19050">
              <a:solidFill>
                <a:srgbClr val="000000"/>
              </a:solidFill>
            </a:ln>
            <a:effectLst>
              <a:innerShdw blurRad="63500" dist="50800" dir="2700000">
                <a:prstClr val="black">
                  <a:alpha val="50000"/>
                </a:prstClr>
              </a:innerShdw>
            </a:effectLst>
          </p:spPr>
          <p:txBody>
            <a:bodyPr wrap="square" rtlCol="0">
              <a:spAutoFit/>
            </a:bodyPr>
            <a:lstStyle/>
            <a:p>
              <a:pPr algn="ctr" defTabSz="914400" fontAlgn="base">
                <a:spcBef>
                  <a:spcPct val="0"/>
                </a:spcBef>
                <a:spcAft>
                  <a:spcPct val="0"/>
                </a:spcAft>
                <a:defRPr/>
              </a:pPr>
              <a:r>
                <a:rPr lang="en-US" sz="1200" b="1" kern="0" dirty="0">
                  <a:solidFill>
                    <a:srgbClr val="000000"/>
                  </a:solidFill>
                </a:rPr>
                <a:t>This behavior is extracted into a hardware state machine</a:t>
              </a:r>
            </a:p>
          </p:txBody>
        </p:sp>
        <p:cxnSp>
          <p:nvCxnSpPr>
            <p:cNvPr id="63" name="Straight Connector 62">
              <a:extLst>
                <a:ext uri="{FF2B5EF4-FFF2-40B4-BE49-F238E27FC236}">
                  <a16:creationId xmlns:a16="http://schemas.microsoft.com/office/drawing/2014/main" id="{5651C133-F1DE-477A-AD54-88477E3AB7A0}"/>
                </a:ext>
              </a:extLst>
            </p:cNvPr>
            <p:cNvCxnSpPr/>
            <p:nvPr/>
          </p:nvCxnSpPr>
          <p:spPr>
            <a:xfrm>
              <a:off x="4994455" y="2891330"/>
              <a:ext cx="1382580" cy="0"/>
            </a:xfrm>
            <a:prstGeom prst="line">
              <a:avLst/>
            </a:prstGeom>
            <a:noFill/>
            <a:ln w="25400" cap="flat" cmpd="sng" algn="ctr">
              <a:solidFill>
                <a:srgbClr val="008CA8"/>
              </a:solidFill>
              <a:prstDash val="dash"/>
            </a:ln>
            <a:effectLst>
              <a:outerShdw blurRad="40000" dist="20000" dir="5400000" rotWithShape="0">
                <a:srgbClr val="000000">
                  <a:alpha val="38000"/>
                </a:srgbClr>
              </a:outerShdw>
            </a:effectLst>
          </p:spPr>
        </p:cxnSp>
        <p:cxnSp>
          <p:nvCxnSpPr>
            <p:cNvPr id="64" name="Straight Connector 63">
              <a:extLst>
                <a:ext uri="{FF2B5EF4-FFF2-40B4-BE49-F238E27FC236}">
                  <a16:creationId xmlns:a16="http://schemas.microsoft.com/office/drawing/2014/main" id="{C82B0B45-8331-419A-A3C8-A15CEA926CBD}"/>
                </a:ext>
              </a:extLst>
            </p:cNvPr>
            <p:cNvCxnSpPr/>
            <p:nvPr/>
          </p:nvCxnSpPr>
          <p:spPr>
            <a:xfrm>
              <a:off x="5032860" y="5502870"/>
              <a:ext cx="1305770" cy="0"/>
            </a:xfrm>
            <a:prstGeom prst="line">
              <a:avLst/>
            </a:prstGeom>
            <a:noFill/>
            <a:ln w="25400" cap="flat" cmpd="sng" algn="ctr">
              <a:solidFill>
                <a:srgbClr val="008CA8"/>
              </a:solidFill>
              <a:prstDash val="dash"/>
            </a:ln>
            <a:effectLst>
              <a:outerShdw blurRad="40000" dist="20000" dir="5400000" rotWithShape="0">
                <a:srgbClr val="000000">
                  <a:alpha val="38000"/>
                </a:srgbClr>
              </a:outerShdw>
            </a:effectLst>
          </p:spPr>
        </p:cxnSp>
        <p:cxnSp>
          <p:nvCxnSpPr>
            <p:cNvPr id="65" name="Straight Connector 64">
              <a:extLst>
                <a:ext uri="{FF2B5EF4-FFF2-40B4-BE49-F238E27FC236}">
                  <a16:creationId xmlns:a16="http://schemas.microsoft.com/office/drawing/2014/main" id="{CA14B1CF-4CAA-4BE9-8177-329B86C27A42}"/>
                </a:ext>
              </a:extLst>
            </p:cNvPr>
            <p:cNvCxnSpPr/>
            <p:nvPr/>
          </p:nvCxnSpPr>
          <p:spPr>
            <a:xfrm>
              <a:off x="5032860" y="5157225"/>
              <a:ext cx="1305770" cy="0"/>
            </a:xfrm>
            <a:prstGeom prst="line">
              <a:avLst/>
            </a:prstGeom>
            <a:noFill/>
            <a:ln w="25400" cap="flat" cmpd="sng" algn="ctr">
              <a:solidFill>
                <a:srgbClr val="008CA8"/>
              </a:solidFill>
              <a:prstDash val="dash"/>
            </a:ln>
            <a:effectLst>
              <a:outerShdw blurRad="40000" dist="20000" dir="5400000" rotWithShape="0">
                <a:srgbClr val="000000">
                  <a:alpha val="38000"/>
                </a:srgbClr>
              </a:outerShdw>
            </a:effectLst>
          </p:spPr>
        </p:cxnSp>
        <p:cxnSp>
          <p:nvCxnSpPr>
            <p:cNvPr id="66" name="Straight Connector 65">
              <a:extLst>
                <a:ext uri="{FF2B5EF4-FFF2-40B4-BE49-F238E27FC236}">
                  <a16:creationId xmlns:a16="http://schemas.microsoft.com/office/drawing/2014/main" id="{FFF1DB58-47D7-47C3-A28F-D713FA93A35C}"/>
                </a:ext>
              </a:extLst>
            </p:cNvPr>
            <p:cNvCxnSpPr/>
            <p:nvPr/>
          </p:nvCxnSpPr>
          <p:spPr>
            <a:xfrm>
              <a:off x="5032860" y="4005075"/>
              <a:ext cx="1305770" cy="0"/>
            </a:xfrm>
            <a:prstGeom prst="line">
              <a:avLst/>
            </a:prstGeom>
            <a:noFill/>
            <a:ln w="25400" cap="flat" cmpd="sng" algn="ctr">
              <a:solidFill>
                <a:srgbClr val="008CA8"/>
              </a:solidFill>
              <a:prstDash val="dash"/>
            </a:ln>
            <a:effectLst>
              <a:outerShdw blurRad="40000" dist="20000" dir="5400000" rotWithShape="0">
                <a:srgbClr val="000000">
                  <a:alpha val="38000"/>
                </a:srgbClr>
              </a:outerShdw>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wipe(left)">
                                      <p:cBhvr>
                                        <p:cTn id="7" dur="500"/>
                                        <p:tgtEl>
                                          <p:spTgt spid="3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0"/>
                                        </p:tgtEl>
                                        <p:attrNameLst>
                                          <p:attrName>style.visibility</p:attrName>
                                        </p:attrNameLst>
                                      </p:cBhvr>
                                      <p:to>
                                        <p:strVal val="visible"/>
                                      </p:to>
                                    </p:set>
                                    <p:animEffect transition="in" filter="wipe(left)">
                                      <p:cBhvr>
                                        <p:cTn id="12"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HLS: Control &amp; </a:t>
            </a:r>
            <a:r>
              <a:rPr lang="en-US" dirty="0" err="1"/>
              <a:t>Datapath</a:t>
            </a:r>
            <a:r>
              <a:rPr lang="en-US" dirty="0"/>
              <a:t> Extraction</a:t>
            </a:r>
          </a:p>
        </p:txBody>
      </p:sp>
      <p:sp>
        <p:nvSpPr>
          <p:cNvPr id="3" name="Slide Number Placeholder 2"/>
          <p:cNvSpPr>
            <a:spLocks noGrp="1"/>
          </p:cNvSpPr>
          <p:nvPr>
            <p:ph type="sldNum" sz="quarter" idx="10"/>
          </p:nvPr>
        </p:nvSpPr>
        <p:spPr/>
        <p:txBody>
          <a:bodyPr/>
          <a:lstStyle/>
          <a:p>
            <a:pPr>
              <a:defRPr/>
            </a:pPr>
            <a:r>
              <a:rPr lang="en-US" dirty="0"/>
              <a:t>Intro to HLS 11- </a:t>
            </a:r>
            <a:fld id="{060BD193-E118-4B16-863C-C8C12C675E3E}" type="slidenum">
              <a:rPr lang="en-US" smtClean="0"/>
              <a:pPr>
                <a:defRPr/>
              </a:pPr>
              <a:t>9</a:t>
            </a:fld>
            <a:endParaRPr lang="en-US" dirty="0"/>
          </a:p>
        </p:txBody>
      </p:sp>
      <p:sp>
        <p:nvSpPr>
          <p:cNvPr id="66" name="TextBox 65">
            <a:extLst>
              <a:ext uri="{FF2B5EF4-FFF2-40B4-BE49-F238E27FC236}">
                <a16:creationId xmlns:a16="http://schemas.microsoft.com/office/drawing/2014/main" id="{C65E4C9B-569F-4E3C-A9AB-69B18BF6F278}"/>
              </a:ext>
            </a:extLst>
          </p:cNvPr>
          <p:cNvSpPr txBox="1"/>
          <p:nvPr/>
        </p:nvSpPr>
        <p:spPr>
          <a:xfrm>
            <a:off x="259961" y="2161637"/>
            <a:ext cx="3532340" cy="3477875"/>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63500" dir="2700000" algn="tl" rotWithShape="0">
              <a:prstClr val="black">
                <a:alpha val="40000"/>
              </a:prstClr>
            </a:outerShdw>
          </a:effectLst>
        </p:spPr>
        <p:txBody>
          <a:bodyPr wrap="square" rtlCol="0">
            <a:spAutoFit/>
          </a:bodyPr>
          <a:lstStyle/>
          <a:p>
            <a:pPr defTabSz="914400" fontAlgn="base">
              <a:spcBef>
                <a:spcPct val="0"/>
              </a:spcBef>
              <a:spcAft>
                <a:spcPct val="0"/>
              </a:spcAft>
              <a:defRPr/>
            </a:pPr>
            <a:r>
              <a:rPr lang="en-US" sz="1000" kern="0" dirty="0">
                <a:solidFill>
                  <a:srgbClr val="000000"/>
                </a:solidFill>
                <a:latin typeface="Arial"/>
              </a:rPr>
              <a:t>void fir (</a:t>
            </a:r>
          </a:p>
          <a:p>
            <a:pPr defTabSz="914400" fontAlgn="base">
              <a:spcBef>
                <a:spcPct val="0"/>
              </a:spcBef>
              <a:spcAft>
                <a:spcPct val="0"/>
              </a:spcAft>
              <a:defRPr/>
            </a:pPr>
            <a:r>
              <a:rPr lang="en-US" sz="1000" kern="0" dirty="0">
                <a:solidFill>
                  <a:srgbClr val="000000"/>
                </a:solidFill>
                <a:latin typeface="Arial"/>
              </a:rPr>
              <a:t>  </a:t>
            </a:r>
            <a:r>
              <a:rPr lang="en-US" sz="1000" kern="0" dirty="0" err="1">
                <a:solidFill>
                  <a:srgbClr val="000000"/>
                </a:solidFill>
                <a:latin typeface="Arial"/>
              </a:rPr>
              <a:t>data_t</a:t>
            </a:r>
            <a:r>
              <a:rPr lang="en-US" sz="1000" kern="0" dirty="0">
                <a:solidFill>
                  <a:srgbClr val="000000"/>
                </a:solidFill>
                <a:latin typeface="Arial"/>
              </a:rPr>
              <a:t> *y,</a:t>
            </a:r>
          </a:p>
          <a:p>
            <a:pPr defTabSz="914400" fontAlgn="base">
              <a:spcBef>
                <a:spcPct val="0"/>
              </a:spcBef>
              <a:spcAft>
                <a:spcPct val="0"/>
              </a:spcAft>
              <a:defRPr/>
            </a:pPr>
            <a:r>
              <a:rPr lang="en-US" sz="1000" kern="0" dirty="0">
                <a:solidFill>
                  <a:srgbClr val="000000"/>
                </a:solidFill>
                <a:latin typeface="Arial"/>
              </a:rPr>
              <a:t>  </a:t>
            </a:r>
            <a:r>
              <a:rPr lang="en-US" sz="1000" kern="0" dirty="0" err="1">
                <a:solidFill>
                  <a:srgbClr val="000000"/>
                </a:solidFill>
                <a:latin typeface="Arial"/>
              </a:rPr>
              <a:t>coef_t</a:t>
            </a:r>
            <a:r>
              <a:rPr lang="en-US" sz="1000" kern="0" dirty="0">
                <a:solidFill>
                  <a:srgbClr val="000000"/>
                </a:solidFill>
                <a:latin typeface="Arial"/>
              </a:rPr>
              <a:t> c[4],</a:t>
            </a:r>
          </a:p>
          <a:p>
            <a:pPr defTabSz="914400" fontAlgn="base">
              <a:spcBef>
                <a:spcPct val="0"/>
              </a:spcBef>
              <a:spcAft>
                <a:spcPct val="0"/>
              </a:spcAft>
              <a:defRPr/>
            </a:pPr>
            <a:r>
              <a:rPr lang="en-US" sz="1000" kern="0" dirty="0">
                <a:solidFill>
                  <a:srgbClr val="000000"/>
                </a:solidFill>
                <a:latin typeface="Arial"/>
              </a:rPr>
              <a:t>  </a:t>
            </a:r>
            <a:r>
              <a:rPr lang="en-US" sz="1000" kern="0" dirty="0" err="1">
                <a:solidFill>
                  <a:srgbClr val="000000"/>
                </a:solidFill>
                <a:latin typeface="Arial"/>
              </a:rPr>
              <a:t>data_t</a:t>
            </a:r>
            <a:r>
              <a:rPr lang="en-US" sz="1000" kern="0" dirty="0">
                <a:solidFill>
                  <a:srgbClr val="000000"/>
                </a:solidFill>
                <a:latin typeface="Arial"/>
              </a:rPr>
              <a:t> x</a:t>
            </a:r>
          </a:p>
          <a:p>
            <a:pPr defTabSz="914400" fontAlgn="base">
              <a:spcBef>
                <a:spcPct val="0"/>
              </a:spcBef>
              <a:spcAft>
                <a:spcPct val="0"/>
              </a:spcAft>
              <a:defRPr/>
            </a:pPr>
            <a:r>
              <a:rPr lang="en-US" sz="1000" kern="0" dirty="0">
                <a:solidFill>
                  <a:srgbClr val="000000"/>
                </a:solidFill>
                <a:latin typeface="Arial"/>
              </a:rPr>
              <a:t>  ) {</a:t>
            </a:r>
          </a:p>
          <a:p>
            <a:pPr defTabSz="914400" fontAlgn="base">
              <a:spcBef>
                <a:spcPct val="0"/>
              </a:spcBef>
              <a:spcAft>
                <a:spcPct val="0"/>
              </a:spcAft>
              <a:defRPr/>
            </a:pPr>
            <a:endParaRPr lang="en-US" sz="1000" kern="0" dirty="0">
              <a:solidFill>
                <a:srgbClr val="000000"/>
              </a:solidFill>
              <a:latin typeface="Arial"/>
            </a:endParaRPr>
          </a:p>
          <a:p>
            <a:pPr defTabSz="914400" fontAlgn="base">
              <a:spcBef>
                <a:spcPct val="0"/>
              </a:spcBef>
              <a:spcAft>
                <a:spcPct val="0"/>
              </a:spcAft>
              <a:defRPr/>
            </a:pPr>
            <a:r>
              <a:rPr lang="en-US" sz="1000" kern="0" dirty="0">
                <a:solidFill>
                  <a:srgbClr val="000000"/>
                </a:solidFill>
                <a:latin typeface="Arial"/>
              </a:rPr>
              <a:t>  static </a:t>
            </a:r>
            <a:r>
              <a:rPr lang="en-US" sz="1000" kern="0" dirty="0" err="1">
                <a:solidFill>
                  <a:srgbClr val="000000"/>
                </a:solidFill>
                <a:latin typeface="Arial"/>
              </a:rPr>
              <a:t>data_t</a:t>
            </a:r>
            <a:r>
              <a:rPr lang="en-US" sz="1000" kern="0" dirty="0">
                <a:solidFill>
                  <a:srgbClr val="000000"/>
                </a:solidFill>
                <a:latin typeface="Arial"/>
              </a:rPr>
              <a:t> </a:t>
            </a:r>
            <a:r>
              <a:rPr lang="en-US" sz="1000" kern="0" dirty="0" err="1">
                <a:solidFill>
                  <a:srgbClr val="000000"/>
                </a:solidFill>
                <a:latin typeface="Arial"/>
              </a:rPr>
              <a:t>shift_reg</a:t>
            </a:r>
            <a:r>
              <a:rPr lang="en-US" sz="1000" kern="0" dirty="0">
                <a:solidFill>
                  <a:srgbClr val="000000"/>
                </a:solidFill>
                <a:latin typeface="Arial"/>
              </a:rPr>
              <a:t>[4];</a:t>
            </a:r>
          </a:p>
          <a:p>
            <a:pPr defTabSz="914400" fontAlgn="base">
              <a:spcBef>
                <a:spcPct val="0"/>
              </a:spcBef>
              <a:spcAft>
                <a:spcPct val="0"/>
              </a:spcAft>
              <a:defRPr/>
            </a:pPr>
            <a:r>
              <a:rPr lang="en-US" sz="1000" kern="0" dirty="0">
                <a:solidFill>
                  <a:srgbClr val="000000"/>
                </a:solidFill>
                <a:latin typeface="Arial"/>
              </a:rPr>
              <a:t>  </a:t>
            </a:r>
            <a:r>
              <a:rPr lang="en-US" sz="1000" kern="0" dirty="0" err="1">
                <a:solidFill>
                  <a:srgbClr val="000000"/>
                </a:solidFill>
                <a:latin typeface="Arial"/>
              </a:rPr>
              <a:t>acc_t</a:t>
            </a:r>
            <a:r>
              <a:rPr lang="en-US" sz="1000" kern="0" dirty="0">
                <a:solidFill>
                  <a:srgbClr val="000000"/>
                </a:solidFill>
                <a:latin typeface="Arial"/>
              </a:rPr>
              <a:t> acc;</a:t>
            </a:r>
          </a:p>
          <a:p>
            <a:pPr defTabSz="914400" fontAlgn="base">
              <a:spcBef>
                <a:spcPct val="0"/>
              </a:spcBef>
              <a:spcAft>
                <a:spcPct val="0"/>
              </a:spcAft>
              <a:defRPr/>
            </a:pPr>
            <a:r>
              <a:rPr lang="en-US" sz="1000" kern="0" dirty="0">
                <a:solidFill>
                  <a:srgbClr val="000000"/>
                </a:solidFill>
                <a:latin typeface="Arial"/>
              </a:rPr>
              <a:t>  </a:t>
            </a:r>
            <a:r>
              <a:rPr lang="en-US" sz="1000" kern="0" dirty="0" err="1">
                <a:solidFill>
                  <a:srgbClr val="000000"/>
                </a:solidFill>
                <a:latin typeface="Arial"/>
              </a:rPr>
              <a:t>int</a:t>
            </a:r>
            <a:r>
              <a:rPr lang="en-US" sz="1000" kern="0" dirty="0">
                <a:solidFill>
                  <a:srgbClr val="000000"/>
                </a:solidFill>
                <a:latin typeface="Arial"/>
              </a:rPr>
              <a:t> </a:t>
            </a:r>
            <a:r>
              <a:rPr lang="en-US" sz="1000" kern="0" dirty="0" err="1">
                <a:solidFill>
                  <a:srgbClr val="000000"/>
                </a:solidFill>
                <a:latin typeface="Arial"/>
              </a:rPr>
              <a:t>i</a:t>
            </a:r>
            <a:r>
              <a:rPr lang="en-US" sz="1000" kern="0" dirty="0">
                <a:solidFill>
                  <a:srgbClr val="000000"/>
                </a:solidFill>
                <a:latin typeface="Arial"/>
              </a:rPr>
              <a:t>;</a:t>
            </a:r>
          </a:p>
          <a:p>
            <a:pPr defTabSz="914400" fontAlgn="base">
              <a:spcBef>
                <a:spcPct val="0"/>
              </a:spcBef>
              <a:spcAft>
                <a:spcPct val="0"/>
              </a:spcAft>
              <a:defRPr/>
            </a:pPr>
            <a:r>
              <a:rPr lang="en-US" sz="1000" kern="0" dirty="0">
                <a:solidFill>
                  <a:srgbClr val="000000"/>
                </a:solidFill>
                <a:latin typeface="Arial"/>
              </a:rPr>
              <a:t>  </a:t>
            </a:r>
          </a:p>
          <a:p>
            <a:pPr defTabSz="914400" fontAlgn="base">
              <a:spcBef>
                <a:spcPct val="0"/>
              </a:spcBef>
              <a:spcAft>
                <a:spcPct val="0"/>
              </a:spcAft>
              <a:defRPr/>
            </a:pPr>
            <a:r>
              <a:rPr lang="en-US" sz="1000" kern="0" dirty="0">
                <a:solidFill>
                  <a:srgbClr val="000000"/>
                </a:solidFill>
                <a:latin typeface="Arial"/>
              </a:rPr>
              <a:t>  acc=0;</a:t>
            </a:r>
          </a:p>
          <a:p>
            <a:pPr defTabSz="914400" fontAlgn="base">
              <a:spcBef>
                <a:spcPct val="0"/>
              </a:spcBef>
              <a:spcAft>
                <a:spcPct val="0"/>
              </a:spcAft>
              <a:defRPr/>
            </a:pPr>
            <a:r>
              <a:rPr lang="en-US" sz="1000" kern="0" dirty="0">
                <a:solidFill>
                  <a:srgbClr val="000000"/>
                </a:solidFill>
                <a:latin typeface="Arial"/>
              </a:rPr>
              <a:t>  loop: for (</a:t>
            </a:r>
            <a:r>
              <a:rPr lang="en-US" sz="1000" kern="0" dirty="0" err="1">
                <a:solidFill>
                  <a:srgbClr val="000000"/>
                </a:solidFill>
                <a:latin typeface="Arial"/>
              </a:rPr>
              <a:t>i</a:t>
            </a:r>
            <a:r>
              <a:rPr lang="en-US" sz="1000" kern="0" dirty="0">
                <a:solidFill>
                  <a:srgbClr val="000000"/>
                </a:solidFill>
                <a:latin typeface="Arial"/>
              </a:rPr>
              <a:t>=3;i&gt;=0;i--) {</a:t>
            </a:r>
          </a:p>
          <a:p>
            <a:pPr defTabSz="914400" fontAlgn="base">
              <a:spcBef>
                <a:spcPct val="0"/>
              </a:spcBef>
              <a:spcAft>
                <a:spcPct val="0"/>
              </a:spcAft>
              <a:defRPr/>
            </a:pPr>
            <a:r>
              <a:rPr lang="en-US" sz="1000" kern="0" dirty="0">
                <a:solidFill>
                  <a:srgbClr val="000000"/>
                </a:solidFill>
                <a:latin typeface="Arial"/>
              </a:rPr>
              <a:t>     if (</a:t>
            </a:r>
            <a:r>
              <a:rPr lang="en-US" sz="1000" kern="0" dirty="0" err="1">
                <a:solidFill>
                  <a:srgbClr val="000000"/>
                </a:solidFill>
                <a:latin typeface="Arial"/>
              </a:rPr>
              <a:t>i</a:t>
            </a:r>
            <a:r>
              <a:rPr lang="en-US" sz="1000" kern="0" dirty="0">
                <a:solidFill>
                  <a:srgbClr val="000000"/>
                </a:solidFill>
                <a:latin typeface="Arial"/>
              </a:rPr>
              <a:t>==0) {</a:t>
            </a:r>
          </a:p>
          <a:p>
            <a:pPr defTabSz="914400" fontAlgn="base">
              <a:spcBef>
                <a:spcPct val="0"/>
              </a:spcBef>
              <a:spcAft>
                <a:spcPct val="0"/>
              </a:spcAft>
              <a:defRPr/>
            </a:pPr>
            <a:r>
              <a:rPr lang="en-US" sz="1000" kern="0" dirty="0">
                <a:solidFill>
                  <a:srgbClr val="000000"/>
                </a:solidFill>
                <a:latin typeface="Arial"/>
              </a:rPr>
              <a:t>       acc+=x*c[0];</a:t>
            </a:r>
          </a:p>
          <a:p>
            <a:pPr defTabSz="914400" fontAlgn="base">
              <a:spcBef>
                <a:spcPct val="0"/>
              </a:spcBef>
              <a:spcAft>
                <a:spcPct val="0"/>
              </a:spcAft>
              <a:defRPr/>
            </a:pPr>
            <a:r>
              <a:rPr lang="en-US" sz="1000" kern="0" dirty="0">
                <a:solidFill>
                  <a:srgbClr val="000000"/>
                </a:solidFill>
                <a:latin typeface="Arial"/>
              </a:rPr>
              <a:t>       </a:t>
            </a:r>
            <a:r>
              <a:rPr lang="en-US" sz="1000" kern="0" dirty="0" err="1">
                <a:solidFill>
                  <a:srgbClr val="000000"/>
                </a:solidFill>
                <a:latin typeface="Arial"/>
              </a:rPr>
              <a:t>shift_reg</a:t>
            </a:r>
            <a:r>
              <a:rPr lang="en-US" sz="1000" kern="0" dirty="0">
                <a:solidFill>
                  <a:srgbClr val="000000"/>
                </a:solidFill>
                <a:latin typeface="Arial"/>
              </a:rPr>
              <a:t>[0]=x;</a:t>
            </a:r>
          </a:p>
          <a:p>
            <a:pPr defTabSz="914400" fontAlgn="base">
              <a:spcBef>
                <a:spcPct val="0"/>
              </a:spcBef>
              <a:spcAft>
                <a:spcPct val="0"/>
              </a:spcAft>
              <a:defRPr/>
            </a:pPr>
            <a:r>
              <a:rPr lang="en-US" sz="1000" kern="0" dirty="0">
                <a:solidFill>
                  <a:srgbClr val="000000"/>
                </a:solidFill>
                <a:latin typeface="Arial"/>
              </a:rPr>
              <a:t>     } else {</a:t>
            </a:r>
          </a:p>
          <a:p>
            <a:pPr defTabSz="914400" fontAlgn="base">
              <a:spcBef>
                <a:spcPct val="0"/>
              </a:spcBef>
              <a:spcAft>
                <a:spcPct val="0"/>
              </a:spcAft>
              <a:defRPr/>
            </a:pPr>
            <a:r>
              <a:rPr lang="en-US" sz="1000" kern="0" dirty="0">
                <a:solidFill>
                  <a:srgbClr val="000000"/>
                </a:solidFill>
                <a:latin typeface="Arial"/>
              </a:rPr>
              <a:t>        </a:t>
            </a:r>
            <a:r>
              <a:rPr lang="en-US" sz="1000" kern="0" dirty="0" err="1">
                <a:solidFill>
                  <a:srgbClr val="000000"/>
                </a:solidFill>
                <a:latin typeface="Arial"/>
              </a:rPr>
              <a:t>shift_reg</a:t>
            </a:r>
            <a:r>
              <a:rPr lang="en-US" sz="1000" kern="0" dirty="0">
                <a:solidFill>
                  <a:srgbClr val="000000"/>
                </a:solidFill>
                <a:latin typeface="Arial"/>
              </a:rPr>
              <a:t>[</a:t>
            </a:r>
            <a:r>
              <a:rPr lang="en-US" sz="1000" kern="0" dirty="0" err="1">
                <a:solidFill>
                  <a:srgbClr val="000000"/>
                </a:solidFill>
                <a:latin typeface="Arial"/>
              </a:rPr>
              <a:t>i</a:t>
            </a:r>
            <a:r>
              <a:rPr lang="en-US" sz="1000" kern="0" dirty="0">
                <a:solidFill>
                  <a:srgbClr val="000000"/>
                </a:solidFill>
                <a:latin typeface="Arial"/>
              </a:rPr>
              <a:t>]=</a:t>
            </a:r>
            <a:r>
              <a:rPr lang="en-US" sz="1000" kern="0" dirty="0" err="1">
                <a:solidFill>
                  <a:srgbClr val="000000"/>
                </a:solidFill>
                <a:latin typeface="Arial"/>
              </a:rPr>
              <a:t>shift_reg</a:t>
            </a:r>
            <a:r>
              <a:rPr lang="en-US" sz="1000" kern="0" dirty="0">
                <a:solidFill>
                  <a:srgbClr val="000000"/>
                </a:solidFill>
                <a:latin typeface="Arial"/>
              </a:rPr>
              <a:t>[i-1];	        </a:t>
            </a:r>
          </a:p>
          <a:p>
            <a:pPr defTabSz="914400" fontAlgn="base">
              <a:spcBef>
                <a:spcPct val="0"/>
              </a:spcBef>
              <a:spcAft>
                <a:spcPct val="0"/>
              </a:spcAft>
              <a:defRPr/>
            </a:pPr>
            <a:r>
              <a:rPr lang="en-US" sz="1000" kern="0" dirty="0">
                <a:solidFill>
                  <a:srgbClr val="000000"/>
                </a:solidFill>
                <a:latin typeface="Arial"/>
              </a:rPr>
              <a:t>        acc+=</a:t>
            </a:r>
            <a:r>
              <a:rPr lang="en-US" sz="1000" kern="0" dirty="0" err="1">
                <a:solidFill>
                  <a:srgbClr val="000000"/>
                </a:solidFill>
                <a:latin typeface="Arial"/>
              </a:rPr>
              <a:t>shift_reg</a:t>
            </a:r>
            <a:r>
              <a:rPr lang="en-US" sz="1000" kern="0" dirty="0">
                <a:solidFill>
                  <a:srgbClr val="000000"/>
                </a:solidFill>
                <a:latin typeface="Arial"/>
              </a:rPr>
              <a:t>[</a:t>
            </a:r>
            <a:r>
              <a:rPr lang="en-US" sz="1000" kern="0" dirty="0" err="1">
                <a:solidFill>
                  <a:srgbClr val="000000"/>
                </a:solidFill>
                <a:latin typeface="Arial"/>
              </a:rPr>
              <a:t>i</a:t>
            </a:r>
            <a:r>
              <a:rPr lang="en-US" sz="1000" kern="0" dirty="0">
                <a:solidFill>
                  <a:srgbClr val="000000"/>
                </a:solidFill>
                <a:latin typeface="Arial"/>
              </a:rPr>
              <a:t>]*c[</a:t>
            </a:r>
            <a:r>
              <a:rPr lang="en-US" sz="1000" kern="0" dirty="0" err="1">
                <a:solidFill>
                  <a:srgbClr val="000000"/>
                </a:solidFill>
                <a:latin typeface="Arial"/>
              </a:rPr>
              <a:t>i</a:t>
            </a:r>
            <a:r>
              <a:rPr lang="en-US" sz="1000" kern="0" dirty="0">
                <a:solidFill>
                  <a:srgbClr val="000000"/>
                </a:solidFill>
                <a:latin typeface="Arial"/>
              </a:rPr>
              <a:t>];</a:t>
            </a:r>
          </a:p>
          <a:p>
            <a:pPr defTabSz="914400" fontAlgn="base">
              <a:spcBef>
                <a:spcPct val="0"/>
              </a:spcBef>
              <a:spcAft>
                <a:spcPct val="0"/>
              </a:spcAft>
              <a:defRPr/>
            </a:pPr>
            <a:r>
              <a:rPr lang="en-US" sz="1000" kern="0" dirty="0">
                <a:solidFill>
                  <a:srgbClr val="000000"/>
                </a:solidFill>
                <a:latin typeface="Arial"/>
              </a:rPr>
              <a:t>     }</a:t>
            </a:r>
          </a:p>
          <a:p>
            <a:pPr defTabSz="914400" fontAlgn="base">
              <a:spcBef>
                <a:spcPct val="0"/>
              </a:spcBef>
              <a:spcAft>
                <a:spcPct val="0"/>
              </a:spcAft>
              <a:defRPr/>
            </a:pPr>
            <a:r>
              <a:rPr lang="en-US" sz="1000" kern="0" dirty="0">
                <a:solidFill>
                  <a:srgbClr val="000000"/>
                </a:solidFill>
                <a:latin typeface="Arial"/>
              </a:rPr>
              <a:t>  }</a:t>
            </a:r>
          </a:p>
          <a:p>
            <a:pPr defTabSz="914400" fontAlgn="base">
              <a:spcBef>
                <a:spcPct val="0"/>
              </a:spcBef>
              <a:spcAft>
                <a:spcPct val="0"/>
              </a:spcAft>
              <a:defRPr/>
            </a:pPr>
            <a:r>
              <a:rPr lang="en-US" sz="1000" kern="0" dirty="0">
                <a:solidFill>
                  <a:srgbClr val="000000"/>
                </a:solidFill>
                <a:latin typeface="Arial"/>
              </a:rPr>
              <a:t>  *y=acc;</a:t>
            </a:r>
          </a:p>
          <a:p>
            <a:pPr defTabSz="914400" fontAlgn="base">
              <a:spcBef>
                <a:spcPct val="0"/>
              </a:spcBef>
              <a:spcAft>
                <a:spcPct val="0"/>
              </a:spcAft>
              <a:defRPr/>
            </a:pPr>
            <a:r>
              <a:rPr lang="en-US" sz="1000" kern="0" dirty="0">
                <a:solidFill>
                  <a:srgbClr val="000000"/>
                </a:solidFill>
                <a:latin typeface="Arial"/>
              </a:rPr>
              <a:t>}</a:t>
            </a:r>
          </a:p>
        </p:txBody>
      </p:sp>
      <p:sp>
        <p:nvSpPr>
          <p:cNvPr id="67" name="TextBox 66">
            <a:extLst>
              <a:ext uri="{FF2B5EF4-FFF2-40B4-BE49-F238E27FC236}">
                <a16:creationId xmlns:a16="http://schemas.microsoft.com/office/drawing/2014/main" id="{CF834B53-22F7-4465-86A6-25D253778C19}"/>
              </a:ext>
            </a:extLst>
          </p:cNvPr>
          <p:cNvSpPr txBox="1"/>
          <p:nvPr/>
        </p:nvSpPr>
        <p:spPr>
          <a:xfrm>
            <a:off x="823089" y="1623967"/>
            <a:ext cx="2182081" cy="307777"/>
          </a:xfrm>
          <a:prstGeom prst="rect">
            <a:avLst/>
          </a:prstGeom>
          <a:noFill/>
        </p:spPr>
        <p:txBody>
          <a:bodyPr wrap="square" rtlCol="0">
            <a:spAutoFit/>
          </a:bodyPr>
          <a:lstStyle/>
          <a:p>
            <a:pPr algn="ctr" defTabSz="914400" fontAlgn="base">
              <a:spcBef>
                <a:spcPct val="0"/>
              </a:spcBef>
              <a:spcAft>
                <a:spcPct val="0"/>
              </a:spcAft>
              <a:defRPr/>
            </a:pPr>
            <a:r>
              <a:rPr lang="en-US" sz="1400" b="1" u="sng" kern="0" dirty="0">
                <a:solidFill>
                  <a:srgbClr val="000000"/>
                </a:solidFill>
              </a:rPr>
              <a:t>Code </a:t>
            </a:r>
          </a:p>
        </p:txBody>
      </p:sp>
      <p:sp>
        <p:nvSpPr>
          <p:cNvPr id="68" name="TextBox 67">
            <a:extLst>
              <a:ext uri="{FF2B5EF4-FFF2-40B4-BE49-F238E27FC236}">
                <a16:creationId xmlns:a16="http://schemas.microsoft.com/office/drawing/2014/main" id="{4F4DCC14-32F0-4430-9FF5-D0E7FF6E8265}"/>
              </a:ext>
            </a:extLst>
          </p:cNvPr>
          <p:cNvSpPr txBox="1"/>
          <p:nvPr/>
        </p:nvSpPr>
        <p:spPr>
          <a:xfrm>
            <a:off x="823088" y="5810112"/>
            <a:ext cx="2354892" cy="276999"/>
          </a:xfrm>
          <a:prstGeom prst="rect">
            <a:avLst/>
          </a:prstGeom>
          <a:solidFill>
            <a:srgbClr val="FFFF99"/>
          </a:solidFill>
          <a:ln w="19050">
            <a:solidFill>
              <a:srgbClr val="000000"/>
            </a:solidFill>
          </a:ln>
          <a:effectLst>
            <a:innerShdw blurRad="63500" dist="50800" dir="2700000">
              <a:prstClr val="black">
                <a:alpha val="50000"/>
              </a:prstClr>
            </a:innerShdw>
          </a:effectLst>
        </p:spPr>
        <p:txBody>
          <a:bodyPr wrap="square" rtlCol="0">
            <a:spAutoFit/>
          </a:bodyPr>
          <a:lstStyle/>
          <a:p>
            <a:pPr algn="ctr" defTabSz="914400" fontAlgn="base">
              <a:spcBef>
                <a:spcPct val="0"/>
              </a:spcBef>
              <a:spcAft>
                <a:spcPct val="0"/>
              </a:spcAft>
              <a:defRPr/>
            </a:pPr>
            <a:r>
              <a:rPr lang="en-US" sz="1200" b="1" kern="0" dirty="0">
                <a:solidFill>
                  <a:srgbClr val="000000"/>
                </a:solidFill>
              </a:rPr>
              <a:t>From any C code example ..</a:t>
            </a:r>
          </a:p>
        </p:txBody>
      </p:sp>
      <p:grpSp>
        <p:nvGrpSpPr>
          <p:cNvPr id="69" name="Group 133">
            <a:extLst>
              <a:ext uri="{FF2B5EF4-FFF2-40B4-BE49-F238E27FC236}">
                <a16:creationId xmlns:a16="http://schemas.microsoft.com/office/drawing/2014/main" id="{56E31CE8-EDFC-4302-828E-A66B64DDDACB}"/>
              </a:ext>
            </a:extLst>
          </p:cNvPr>
          <p:cNvGrpSpPr/>
          <p:nvPr/>
        </p:nvGrpSpPr>
        <p:grpSpPr>
          <a:xfrm>
            <a:off x="6166426" y="1623430"/>
            <a:ext cx="2233274" cy="4648347"/>
            <a:chOff x="4624833" y="1623428"/>
            <a:chExt cx="1675392" cy="4648347"/>
          </a:xfrm>
        </p:grpSpPr>
        <p:sp>
          <p:nvSpPr>
            <p:cNvPr id="70" name="Rectangle 69">
              <a:extLst>
                <a:ext uri="{FF2B5EF4-FFF2-40B4-BE49-F238E27FC236}">
                  <a16:creationId xmlns:a16="http://schemas.microsoft.com/office/drawing/2014/main" id="{2BF34D13-3157-401C-AB1D-15E53CECAE0E}"/>
                </a:ext>
              </a:extLst>
            </p:cNvPr>
            <p:cNvSpPr/>
            <p:nvPr/>
          </p:nvSpPr>
          <p:spPr>
            <a:xfrm>
              <a:off x="4648810" y="2161635"/>
              <a:ext cx="1651415" cy="3456450"/>
            </a:xfrm>
            <a:prstGeom prst="rect">
              <a:avLst/>
            </a:prstGeom>
            <a:gradFill flip="none" rotWithShape="1">
              <a:gsLst>
                <a:gs pos="0">
                  <a:srgbClr val="663300">
                    <a:tint val="66000"/>
                    <a:satMod val="160000"/>
                  </a:srgbClr>
                </a:gs>
                <a:gs pos="50000">
                  <a:srgbClr val="663300">
                    <a:tint val="44500"/>
                    <a:satMod val="160000"/>
                  </a:srgbClr>
                </a:gs>
                <a:gs pos="100000">
                  <a:srgbClr val="663300">
                    <a:tint val="23500"/>
                    <a:satMod val="160000"/>
                  </a:srgbClr>
                </a:gs>
              </a:gsLst>
              <a:lin ang="10800000" scaled="1"/>
              <a:tileRect/>
            </a:gradFill>
            <a:ln w="9525" cap="flat" cmpd="sng" algn="ctr">
              <a:solidFill>
                <a:srgbClr val="000000"/>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endParaRPr lang="en-US" kern="0">
                <a:solidFill>
                  <a:srgbClr val="FFFFFF"/>
                </a:solidFill>
                <a:latin typeface="Arial"/>
              </a:endParaRPr>
            </a:p>
          </p:txBody>
        </p:sp>
        <p:sp>
          <p:nvSpPr>
            <p:cNvPr id="71" name="Oval 70">
              <a:extLst>
                <a:ext uri="{FF2B5EF4-FFF2-40B4-BE49-F238E27FC236}">
                  <a16:creationId xmlns:a16="http://schemas.microsoft.com/office/drawing/2014/main" id="{CE0E41DA-8521-4D6C-98A6-DBC397C35BAD}"/>
                </a:ext>
              </a:extLst>
            </p:cNvPr>
            <p:cNvSpPr/>
            <p:nvPr/>
          </p:nvSpPr>
          <p:spPr>
            <a:xfrm>
              <a:off x="5148927" y="3178465"/>
              <a:ext cx="304800" cy="304800"/>
            </a:xfrm>
            <a:prstGeom prst="ellipse">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r>
                <a:rPr lang="en-US" kern="0" dirty="0">
                  <a:solidFill>
                    <a:srgbClr val="FFFFFF"/>
                  </a:solidFill>
                  <a:latin typeface="Arial"/>
                </a:rPr>
                <a:t>0</a:t>
              </a:r>
            </a:p>
          </p:txBody>
        </p:sp>
        <p:sp>
          <p:nvSpPr>
            <p:cNvPr id="72" name="Oval 71">
              <a:extLst>
                <a:ext uri="{FF2B5EF4-FFF2-40B4-BE49-F238E27FC236}">
                  <a16:creationId xmlns:a16="http://schemas.microsoft.com/office/drawing/2014/main" id="{A7E9717E-9B2C-45F9-807D-5C02E764DFEF}"/>
                </a:ext>
              </a:extLst>
            </p:cNvPr>
            <p:cNvSpPr/>
            <p:nvPr/>
          </p:nvSpPr>
          <p:spPr>
            <a:xfrm>
              <a:off x="5148927" y="5159665"/>
              <a:ext cx="304800" cy="304800"/>
            </a:xfrm>
            <a:prstGeom prst="ellipse">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r>
                <a:rPr lang="en-US" kern="0" dirty="0">
                  <a:solidFill>
                    <a:srgbClr val="FFFFFF"/>
                  </a:solidFill>
                  <a:latin typeface="Arial"/>
                </a:rPr>
                <a:t>2</a:t>
              </a:r>
            </a:p>
          </p:txBody>
        </p:sp>
        <p:cxnSp>
          <p:nvCxnSpPr>
            <p:cNvPr id="73" name="Straight Arrow Connector 72">
              <a:extLst>
                <a:ext uri="{FF2B5EF4-FFF2-40B4-BE49-F238E27FC236}">
                  <a16:creationId xmlns:a16="http://schemas.microsoft.com/office/drawing/2014/main" id="{B1F5EA7F-1F06-4003-AA18-A4190BC0D575}"/>
                </a:ext>
              </a:extLst>
            </p:cNvPr>
            <p:cNvCxnSpPr>
              <a:endCxn id="71" idx="0"/>
            </p:cNvCxnSpPr>
            <p:nvPr/>
          </p:nvCxnSpPr>
          <p:spPr>
            <a:xfrm rot="5400000">
              <a:off x="5110828" y="2987966"/>
              <a:ext cx="380998" cy="1588"/>
            </a:xfrm>
            <a:prstGeom prst="straightConnector1">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cxnSp>
          <p:nvCxnSpPr>
            <p:cNvPr id="74" name="Curved Connector 20">
              <a:extLst>
                <a:ext uri="{FF2B5EF4-FFF2-40B4-BE49-F238E27FC236}">
                  <a16:creationId xmlns:a16="http://schemas.microsoft.com/office/drawing/2014/main" id="{7BAB5542-026B-4D99-B0E3-D6607872A6A9}"/>
                </a:ext>
              </a:extLst>
            </p:cNvPr>
            <p:cNvCxnSpPr>
              <a:stCxn id="72" idx="6"/>
              <a:endCxn id="71" idx="6"/>
            </p:cNvCxnSpPr>
            <p:nvPr/>
          </p:nvCxnSpPr>
          <p:spPr>
            <a:xfrm flipV="1">
              <a:off x="5453727" y="3330865"/>
              <a:ext cx="1588" cy="1981200"/>
            </a:xfrm>
            <a:prstGeom prst="curvedConnector3">
              <a:avLst>
                <a:gd name="adj1" fmla="val 24519781"/>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sp>
          <p:nvSpPr>
            <p:cNvPr id="75" name="TextBox 74">
              <a:extLst>
                <a:ext uri="{FF2B5EF4-FFF2-40B4-BE49-F238E27FC236}">
                  <a16:creationId xmlns:a16="http://schemas.microsoft.com/office/drawing/2014/main" id="{F14473B6-E903-4CA8-85C4-C4C44641E2B9}"/>
                </a:ext>
              </a:extLst>
            </p:cNvPr>
            <p:cNvSpPr txBox="1"/>
            <p:nvPr/>
          </p:nvSpPr>
          <p:spPr>
            <a:xfrm>
              <a:off x="4624833" y="1623428"/>
              <a:ext cx="1636987" cy="307777"/>
            </a:xfrm>
            <a:prstGeom prst="rect">
              <a:avLst/>
            </a:prstGeom>
            <a:noFill/>
          </p:spPr>
          <p:txBody>
            <a:bodyPr wrap="square" rtlCol="0">
              <a:spAutoFit/>
            </a:bodyPr>
            <a:lstStyle/>
            <a:p>
              <a:pPr algn="ctr" defTabSz="914400" fontAlgn="base">
                <a:spcBef>
                  <a:spcPct val="0"/>
                </a:spcBef>
                <a:spcAft>
                  <a:spcPct val="0"/>
                </a:spcAft>
                <a:defRPr/>
              </a:pPr>
              <a:r>
                <a:rPr lang="en-US" sz="1400" b="1" u="sng" kern="0" dirty="0">
                  <a:solidFill>
                    <a:srgbClr val="000000"/>
                  </a:solidFill>
                </a:rPr>
                <a:t>Control Behavior</a:t>
              </a:r>
            </a:p>
          </p:txBody>
        </p:sp>
        <p:sp>
          <p:nvSpPr>
            <p:cNvPr id="76" name="Oval 75">
              <a:extLst>
                <a:ext uri="{FF2B5EF4-FFF2-40B4-BE49-F238E27FC236}">
                  <a16:creationId xmlns:a16="http://schemas.microsoft.com/office/drawing/2014/main" id="{2E7548AF-A00D-4781-A361-03754981DB0C}"/>
                </a:ext>
              </a:extLst>
            </p:cNvPr>
            <p:cNvSpPr/>
            <p:nvPr/>
          </p:nvSpPr>
          <p:spPr>
            <a:xfrm>
              <a:off x="5148927" y="4107200"/>
              <a:ext cx="304800" cy="304800"/>
            </a:xfrm>
            <a:prstGeom prst="ellipse">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r>
                <a:rPr lang="en-US" kern="0" dirty="0">
                  <a:solidFill>
                    <a:srgbClr val="FFFFFF"/>
                  </a:solidFill>
                  <a:latin typeface="Arial"/>
                </a:rPr>
                <a:t>1</a:t>
              </a:r>
            </a:p>
          </p:txBody>
        </p:sp>
        <p:cxnSp>
          <p:nvCxnSpPr>
            <p:cNvPr id="77" name="Curved Connector 20">
              <a:extLst>
                <a:ext uri="{FF2B5EF4-FFF2-40B4-BE49-F238E27FC236}">
                  <a16:creationId xmlns:a16="http://schemas.microsoft.com/office/drawing/2014/main" id="{90BB55CE-3300-4E96-941A-5D536D47CCBE}"/>
                </a:ext>
              </a:extLst>
            </p:cNvPr>
            <p:cNvCxnSpPr>
              <a:stCxn id="76" idx="4"/>
              <a:endCxn id="76" idx="6"/>
            </p:cNvCxnSpPr>
            <p:nvPr/>
          </p:nvCxnSpPr>
          <p:spPr>
            <a:xfrm rot="5400000" flipH="1" flipV="1">
              <a:off x="5301327" y="4259600"/>
              <a:ext cx="152400" cy="152400"/>
            </a:xfrm>
            <a:prstGeom prst="curvedConnector4">
              <a:avLst>
                <a:gd name="adj1" fmla="val -150000"/>
                <a:gd name="adj2" fmla="val 250000"/>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cxnSp>
          <p:nvCxnSpPr>
            <p:cNvPr id="78" name="Straight Arrow Connector 77">
              <a:extLst>
                <a:ext uri="{FF2B5EF4-FFF2-40B4-BE49-F238E27FC236}">
                  <a16:creationId xmlns:a16="http://schemas.microsoft.com/office/drawing/2014/main" id="{8424A110-619F-4228-AD2A-A498614E81F2}"/>
                </a:ext>
              </a:extLst>
            </p:cNvPr>
            <p:cNvCxnSpPr>
              <a:stCxn id="71" idx="4"/>
            </p:cNvCxnSpPr>
            <p:nvPr/>
          </p:nvCxnSpPr>
          <p:spPr>
            <a:xfrm rot="5400000">
              <a:off x="4996527" y="3788065"/>
              <a:ext cx="609600" cy="1588"/>
            </a:xfrm>
            <a:prstGeom prst="straightConnector1">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cxnSp>
          <p:nvCxnSpPr>
            <p:cNvPr id="79" name="Straight Arrow Connector 78">
              <a:extLst>
                <a:ext uri="{FF2B5EF4-FFF2-40B4-BE49-F238E27FC236}">
                  <a16:creationId xmlns:a16="http://schemas.microsoft.com/office/drawing/2014/main" id="{F052F04D-E9BF-4D9F-A450-0C4A2FD21791}"/>
                </a:ext>
              </a:extLst>
            </p:cNvPr>
            <p:cNvCxnSpPr>
              <a:endCxn id="72" idx="0"/>
            </p:cNvCxnSpPr>
            <p:nvPr/>
          </p:nvCxnSpPr>
          <p:spPr>
            <a:xfrm rot="5400000">
              <a:off x="4920327" y="4778665"/>
              <a:ext cx="762000" cy="1588"/>
            </a:xfrm>
            <a:prstGeom prst="straightConnector1">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sp>
          <p:nvSpPr>
            <p:cNvPr id="80" name="TextBox 79">
              <a:extLst>
                <a:ext uri="{FF2B5EF4-FFF2-40B4-BE49-F238E27FC236}">
                  <a16:creationId xmlns:a16="http://schemas.microsoft.com/office/drawing/2014/main" id="{434983BC-3250-4082-BF33-52D06A93FE3E}"/>
                </a:ext>
              </a:extLst>
            </p:cNvPr>
            <p:cNvSpPr txBox="1"/>
            <p:nvPr/>
          </p:nvSpPr>
          <p:spPr>
            <a:xfrm>
              <a:off x="4725620" y="2200040"/>
              <a:ext cx="1497795" cy="400110"/>
            </a:xfrm>
            <a:prstGeom prst="rect">
              <a:avLst/>
            </a:prstGeom>
            <a:noFill/>
          </p:spPr>
          <p:txBody>
            <a:bodyPr wrap="square" rtlCol="0">
              <a:spAutoFit/>
            </a:bodyPr>
            <a:lstStyle/>
            <a:p>
              <a:pPr algn="ctr" defTabSz="914400" fontAlgn="base">
                <a:spcBef>
                  <a:spcPct val="0"/>
                </a:spcBef>
                <a:spcAft>
                  <a:spcPct val="0"/>
                </a:spcAft>
                <a:defRPr/>
              </a:pPr>
              <a:r>
                <a:rPr lang="en-US" sz="1000" b="1" kern="0" dirty="0">
                  <a:solidFill>
                    <a:srgbClr val="000000"/>
                  </a:solidFill>
                </a:rPr>
                <a:t>Finite State Machine (FSM) states</a:t>
              </a:r>
            </a:p>
          </p:txBody>
        </p:sp>
        <p:sp>
          <p:nvSpPr>
            <p:cNvPr id="81" name="TextBox 80">
              <a:extLst>
                <a:ext uri="{FF2B5EF4-FFF2-40B4-BE49-F238E27FC236}">
                  <a16:creationId xmlns:a16="http://schemas.microsoft.com/office/drawing/2014/main" id="{3E1626BD-1A00-42EF-81EC-0706471CB63A}"/>
                </a:ext>
              </a:extLst>
            </p:cNvPr>
            <p:cNvSpPr txBox="1"/>
            <p:nvPr/>
          </p:nvSpPr>
          <p:spPr>
            <a:xfrm>
              <a:off x="4855262" y="5810110"/>
              <a:ext cx="1228961" cy="461665"/>
            </a:xfrm>
            <a:prstGeom prst="rect">
              <a:avLst/>
            </a:prstGeom>
            <a:solidFill>
              <a:srgbClr val="FFFF99"/>
            </a:solidFill>
            <a:ln w="19050">
              <a:solidFill>
                <a:srgbClr val="000000"/>
              </a:solidFill>
            </a:ln>
            <a:effectLst>
              <a:innerShdw blurRad="63500" dist="50800" dir="2700000">
                <a:prstClr val="black">
                  <a:alpha val="50000"/>
                </a:prstClr>
              </a:innerShdw>
            </a:effectLst>
          </p:spPr>
          <p:txBody>
            <a:bodyPr wrap="square" rtlCol="0">
              <a:spAutoFit/>
            </a:bodyPr>
            <a:lstStyle/>
            <a:p>
              <a:pPr algn="ctr" defTabSz="914400" fontAlgn="base">
                <a:spcBef>
                  <a:spcPct val="0"/>
                </a:spcBef>
                <a:spcAft>
                  <a:spcPct val="0"/>
                </a:spcAft>
                <a:defRPr/>
              </a:pPr>
              <a:r>
                <a:rPr lang="en-US" sz="1200" b="1" kern="0" dirty="0">
                  <a:solidFill>
                    <a:srgbClr val="000000"/>
                  </a:solidFill>
                </a:rPr>
                <a:t>The control is known</a:t>
              </a:r>
            </a:p>
          </p:txBody>
        </p:sp>
      </p:grpSp>
      <p:grpSp>
        <p:nvGrpSpPr>
          <p:cNvPr id="82" name="Group 151">
            <a:extLst>
              <a:ext uri="{FF2B5EF4-FFF2-40B4-BE49-F238E27FC236}">
                <a16:creationId xmlns:a16="http://schemas.microsoft.com/office/drawing/2014/main" id="{715ED09C-F930-4E7E-9F9F-0335593F979E}"/>
              </a:ext>
            </a:extLst>
          </p:cNvPr>
          <p:cNvGrpSpPr/>
          <p:nvPr/>
        </p:nvGrpSpPr>
        <p:grpSpPr>
          <a:xfrm>
            <a:off x="1590988" y="1623430"/>
            <a:ext cx="4709787" cy="4648347"/>
            <a:chOff x="1192360" y="1623428"/>
            <a:chExt cx="3533260" cy="4648347"/>
          </a:xfrm>
        </p:grpSpPr>
        <p:sp>
          <p:nvSpPr>
            <p:cNvPr id="83" name="TextBox 82">
              <a:extLst>
                <a:ext uri="{FF2B5EF4-FFF2-40B4-BE49-F238E27FC236}">
                  <a16:creationId xmlns:a16="http://schemas.microsoft.com/office/drawing/2014/main" id="{27463F4B-D36B-40D0-A8C7-D9DD8044E867}"/>
                </a:ext>
              </a:extLst>
            </p:cNvPr>
            <p:cNvSpPr txBox="1"/>
            <p:nvPr/>
          </p:nvSpPr>
          <p:spPr>
            <a:xfrm>
              <a:off x="3088633" y="1623428"/>
              <a:ext cx="1636987" cy="307777"/>
            </a:xfrm>
            <a:prstGeom prst="rect">
              <a:avLst/>
            </a:prstGeom>
            <a:noFill/>
          </p:spPr>
          <p:txBody>
            <a:bodyPr wrap="square" rtlCol="0">
              <a:spAutoFit/>
            </a:bodyPr>
            <a:lstStyle/>
            <a:p>
              <a:pPr algn="ctr" defTabSz="914400" fontAlgn="base">
                <a:spcBef>
                  <a:spcPct val="0"/>
                </a:spcBef>
                <a:spcAft>
                  <a:spcPct val="0"/>
                </a:spcAft>
                <a:defRPr/>
              </a:pPr>
              <a:r>
                <a:rPr lang="en-US" sz="1400" b="1" u="sng" kern="0" dirty="0">
                  <a:solidFill>
                    <a:srgbClr val="000000"/>
                  </a:solidFill>
                </a:rPr>
                <a:t>Operations</a:t>
              </a:r>
            </a:p>
          </p:txBody>
        </p:sp>
        <p:grpSp>
          <p:nvGrpSpPr>
            <p:cNvPr id="84" name="Group 149">
              <a:extLst>
                <a:ext uri="{FF2B5EF4-FFF2-40B4-BE49-F238E27FC236}">
                  <a16:creationId xmlns:a16="http://schemas.microsoft.com/office/drawing/2014/main" id="{81AFBFC0-3FDD-42D0-840E-5C21D2398F95}"/>
                </a:ext>
              </a:extLst>
            </p:cNvPr>
            <p:cNvGrpSpPr/>
            <p:nvPr/>
          </p:nvGrpSpPr>
          <p:grpSpPr>
            <a:xfrm>
              <a:off x="1192360" y="2545685"/>
              <a:ext cx="3341235" cy="3726090"/>
              <a:chOff x="1192360" y="2545685"/>
              <a:chExt cx="3341235" cy="3726090"/>
            </a:xfrm>
          </p:grpSpPr>
          <p:cxnSp>
            <p:nvCxnSpPr>
              <p:cNvPr id="85" name="Curved Connector 24">
                <a:extLst>
                  <a:ext uri="{FF2B5EF4-FFF2-40B4-BE49-F238E27FC236}">
                    <a16:creationId xmlns:a16="http://schemas.microsoft.com/office/drawing/2014/main" id="{465229D8-0250-4B65-8A24-F43F7F3A0478}"/>
                  </a:ext>
                </a:extLst>
              </p:cNvPr>
              <p:cNvCxnSpPr/>
              <p:nvPr/>
            </p:nvCxnSpPr>
            <p:spPr>
              <a:xfrm rot="5400000" flipH="1" flipV="1">
                <a:off x="2008466" y="2209642"/>
                <a:ext cx="940922" cy="2342705"/>
              </a:xfrm>
              <a:prstGeom prst="curvedConnector2">
                <a:avLst/>
              </a:prstGeom>
              <a:noFill/>
              <a:ln w="25400" cap="flat" cmpd="sng" algn="ctr">
                <a:solidFill>
                  <a:srgbClr val="008CA8"/>
                </a:solidFill>
                <a:prstDash val="solid"/>
                <a:tailEnd type="arrow"/>
              </a:ln>
              <a:effectLst>
                <a:outerShdw blurRad="40000" dist="20000" dir="5400000" rotWithShape="0">
                  <a:srgbClr val="000000">
                    <a:alpha val="38000"/>
                  </a:srgbClr>
                </a:outerShdw>
              </a:effectLst>
            </p:spPr>
          </p:cxnSp>
          <p:cxnSp>
            <p:nvCxnSpPr>
              <p:cNvPr id="86" name="Curved Connector 24">
                <a:extLst>
                  <a:ext uri="{FF2B5EF4-FFF2-40B4-BE49-F238E27FC236}">
                    <a16:creationId xmlns:a16="http://schemas.microsoft.com/office/drawing/2014/main" id="{7C6A6DAB-1DA6-4B42-80E3-8F07268F4D49}"/>
                  </a:ext>
                </a:extLst>
              </p:cNvPr>
              <p:cNvCxnSpPr/>
              <p:nvPr/>
            </p:nvCxnSpPr>
            <p:spPr>
              <a:xfrm rot="5400000" flipH="1" flipV="1">
                <a:off x="2399988" y="2629284"/>
                <a:ext cx="623398" cy="1877186"/>
              </a:xfrm>
              <a:prstGeom prst="curvedConnector2">
                <a:avLst/>
              </a:prstGeom>
              <a:noFill/>
              <a:ln w="25400" cap="flat" cmpd="sng" algn="ctr">
                <a:solidFill>
                  <a:srgbClr val="008CA8"/>
                </a:solidFill>
                <a:prstDash val="solid"/>
                <a:tailEnd type="arrow"/>
              </a:ln>
              <a:effectLst>
                <a:outerShdw blurRad="40000" dist="20000" dir="5400000" rotWithShape="0">
                  <a:srgbClr val="000000">
                    <a:alpha val="38000"/>
                  </a:srgbClr>
                </a:outerShdw>
              </a:effectLst>
            </p:spPr>
          </p:cxnSp>
          <p:cxnSp>
            <p:nvCxnSpPr>
              <p:cNvPr id="87" name="Straight Arrow Connector 86">
                <a:extLst>
                  <a:ext uri="{FF2B5EF4-FFF2-40B4-BE49-F238E27FC236}">
                    <a16:creationId xmlns:a16="http://schemas.microsoft.com/office/drawing/2014/main" id="{00FC1D93-4CC0-4154-AF8F-A1B6D28BEC43}"/>
                  </a:ext>
                </a:extLst>
              </p:cNvPr>
              <p:cNvCxnSpPr/>
              <p:nvPr/>
            </p:nvCxnSpPr>
            <p:spPr>
              <a:xfrm>
                <a:off x="3035800" y="4888390"/>
                <a:ext cx="576075" cy="1588"/>
              </a:xfrm>
              <a:prstGeom prst="straightConnector1">
                <a:avLst/>
              </a:prstGeom>
              <a:noFill/>
              <a:ln w="25400" cap="flat" cmpd="sng" algn="ctr">
                <a:solidFill>
                  <a:srgbClr val="008CA8"/>
                </a:solidFill>
                <a:prstDash val="solid"/>
                <a:tailEnd type="arrow"/>
              </a:ln>
              <a:effectLst>
                <a:outerShdw blurRad="40000" dist="20000" dir="5400000" rotWithShape="0">
                  <a:srgbClr val="000000">
                    <a:alpha val="38000"/>
                  </a:srgbClr>
                </a:outerShdw>
              </a:effectLst>
            </p:spPr>
          </p:cxnSp>
          <p:cxnSp>
            <p:nvCxnSpPr>
              <p:cNvPr id="88" name="Straight Arrow Connector 87">
                <a:extLst>
                  <a:ext uri="{FF2B5EF4-FFF2-40B4-BE49-F238E27FC236}">
                    <a16:creationId xmlns:a16="http://schemas.microsoft.com/office/drawing/2014/main" id="{A93A2ED4-FDA7-4DDE-8507-4D736130083D}"/>
                  </a:ext>
                </a:extLst>
              </p:cNvPr>
              <p:cNvCxnSpPr/>
              <p:nvPr/>
            </p:nvCxnSpPr>
            <p:spPr>
              <a:xfrm>
                <a:off x="3035800" y="4579562"/>
                <a:ext cx="576075" cy="1588"/>
              </a:xfrm>
              <a:prstGeom prst="straightConnector1">
                <a:avLst/>
              </a:prstGeom>
              <a:noFill/>
              <a:ln w="25400" cap="flat" cmpd="sng" algn="ctr">
                <a:solidFill>
                  <a:srgbClr val="008CA8"/>
                </a:solidFill>
                <a:prstDash val="solid"/>
                <a:tailEnd type="arrow"/>
              </a:ln>
              <a:effectLst>
                <a:outerShdw blurRad="40000" dist="20000" dir="5400000" rotWithShape="0">
                  <a:srgbClr val="000000">
                    <a:alpha val="38000"/>
                  </a:srgbClr>
                </a:outerShdw>
              </a:effectLst>
            </p:spPr>
          </p:cxnSp>
          <p:cxnSp>
            <p:nvCxnSpPr>
              <p:cNvPr id="89" name="Straight Arrow Connector 88">
                <a:extLst>
                  <a:ext uri="{FF2B5EF4-FFF2-40B4-BE49-F238E27FC236}">
                    <a16:creationId xmlns:a16="http://schemas.microsoft.com/office/drawing/2014/main" id="{B747008D-649F-48B5-AB66-43D048E19E41}"/>
                  </a:ext>
                </a:extLst>
              </p:cNvPr>
              <p:cNvCxnSpPr/>
              <p:nvPr/>
            </p:nvCxnSpPr>
            <p:spPr>
              <a:xfrm>
                <a:off x="3035800" y="4197100"/>
                <a:ext cx="576075" cy="1588"/>
              </a:xfrm>
              <a:prstGeom prst="straightConnector1">
                <a:avLst/>
              </a:prstGeom>
              <a:noFill/>
              <a:ln w="25400" cap="flat" cmpd="sng" algn="ctr">
                <a:solidFill>
                  <a:srgbClr val="008CA8"/>
                </a:solidFill>
                <a:prstDash val="solid"/>
                <a:tailEnd type="arrow"/>
              </a:ln>
              <a:effectLst>
                <a:outerShdw blurRad="40000" dist="20000" dir="5400000" rotWithShape="0">
                  <a:srgbClr val="000000">
                    <a:alpha val="38000"/>
                  </a:srgbClr>
                </a:outerShdw>
              </a:effectLst>
            </p:spPr>
          </p:cxnSp>
          <p:cxnSp>
            <p:nvCxnSpPr>
              <p:cNvPr id="90" name="Straight Arrow Connector 89">
                <a:extLst>
                  <a:ext uri="{FF2B5EF4-FFF2-40B4-BE49-F238E27FC236}">
                    <a16:creationId xmlns:a16="http://schemas.microsoft.com/office/drawing/2014/main" id="{544EEBA6-A633-4300-8F7F-6123B4474E3B}"/>
                  </a:ext>
                </a:extLst>
              </p:cNvPr>
              <p:cNvCxnSpPr/>
              <p:nvPr/>
            </p:nvCxnSpPr>
            <p:spPr>
              <a:xfrm>
                <a:off x="3035800" y="3889860"/>
                <a:ext cx="576075" cy="1588"/>
              </a:xfrm>
              <a:prstGeom prst="straightConnector1">
                <a:avLst/>
              </a:prstGeom>
              <a:noFill/>
              <a:ln w="25400" cap="flat" cmpd="sng" algn="ctr">
                <a:solidFill>
                  <a:srgbClr val="008CA8"/>
                </a:solidFill>
                <a:prstDash val="solid"/>
                <a:tailEnd type="arrow"/>
              </a:ln>
              <a:effectLst>
                <a:outerShdw blurRad="40000" dist="20000" dir="5400000" rotWithShape="0">
                  <a:srgbClr val="000000">
                    <a:alpha val="38000"/>
                  </a:srgbClr>
                </a:outerShdw>
              </a:effectLst>
            </p:spPr>
          </p:cxnSp>
          <p:cxnSp>
            <p:nvCxnSpPr>
              <p:cNvPr id="91" name="Straight Arrow Connector 90">
                <a:extLst>
                  <a:ext uri="{FF2B5EF4-FFF2-40B4-BE49-F238E27FC236}">
                    <a16:creationId xmlns:a16="http://schemas.microsoft.com/office/drawing/2014/main" id="{67225877-40BD-4013-B1FF-3176A6A55F97}"/>
                  </a:ext>
                </a:extLst>
              </p:cNvPr>
              <p:cNvCxnSpPr/>
              <p:nvPr/>
            </p:nvCxnSpPr>
            <p:spPr>
              <a:xfrm>
                <a:off x="3035800" y="3544215"/>
                <a:ext cx="576075" cy="1588"/>
              </a:xfrm>
              <a:prstGeom prst="straightConnector1">
                <a:avLst/>
              </a:prstGeom>
              <a:noFill/>
              <a:ln w="25400" cap="flat" cmpd="sng" algn="ctr">
                <a:solidFill>
                  <a:srgbClr val="008CA8"/>
                </a:solidFill>
                <a:prstDash val="solid"/>
                <a:tailEnd type="arrow"/>
              </a:ln>
              <a:effectLst>
                <a:outerShdw blurRad="40000" dist="20000" dir="5400000" rotWithShape="0">
                  <a:srgbClr val="000000">
                    <a:alpha val="38000"/>
                  </a:srgbClr>
                </a:outerShdw>
              </a:effectLst>
            </p:spPr>
          </p:cxnSp>
          <p:cxnSp>
            <p:nvCxnSpPr>
              <p:cNvPr id="92" name="Straight Arrow Connector 91">
                <a:extLst>
                  <a:ext uri="{FF2B5EF4-FFF2-40B4-BE49-F238E27FC236}">
                    <a16:creationId xmlns:a16="http://schemas.microsoft.com/office/drawing/2014/main" id="{4A27CD69-6192-42DC-8342-5E574227A4BD}"/>
                  </a:ext>
                </a:extLst>
              </p:cNvPr>
              <p:cNvCxnSpPr/>
              <p:nvPr/>
            </p:nvCxnSpPr>
            <p:spPr>
              <a:xfrm>
                <a:off x="1192360" y="5234035"/>
                <a:ext cx="2419515" cy="1588"/>
              </a:xfrm>
              <a:prstGeom prst="straightConnector1">
                <a:avLst/>
              </a:prstGeom>
              <a:noFill/>
              <a:ln w="25400" cap="flat" cmpd="sng" algn="ctr">
                <a:solidFill>
                  <a:srgbClr val="008CA8"/>
                </a:solidFill>
                <a:prstDash val="solid"/>
                <a:tailEnd type="arrow"/>
              </a:ln>
              <a:effectLst>
                <a:outerShdw blurRad="40000" dist="20000" dir="5400000" rotWithShape="0">
                  <a:srgbClr val="000000">
                    <a:alpha val="38000"/>
                  </a:srgbClr>
                </a:outerShdw>
              </a:effectLst>
            </p:spPr>
          </p:cxnSp>
          <p:sp>
            <p:nvSpPr>
              <p:cNvPr id="93" name="TextBox 92">
                <a:extLst>
                  <a:ext uri="{FF2B5EF4-FFF2-40B4-BE49-F238E27FC236}">
                    <a16:creationId xmlns:a16="http://schemas.microsoft.com/office/drawing/2014/main" id="{A607B20F-47B3-49A7-BF17-3C1373E42024}"/>
                  </a:ext>
                </a:extLst>
              </p:cNvPr>
              <p:cNvSpPr txBox="1"/>
              <p:nvPr/>
            </p:nvSpPr>
            <p:spPr>
              <a:xfrm>
                <a:off x="3266229" y="5810110"/>
                <a:ext cx="1267366" cy="461665"/>
              </a:xfrm>
              <a:prstGeom prst="rect">
                <a:avLst/>
              </a:prstGeom>
              <a:solidFill>
                <a:srgbClr val="FFFF99"/>
              </a:solidFill>
              <a:ln w="19050">
                <a:solidFill>
                  <a:srgbClr val="000000"/>
                </a:solidFill>
              </a:ln>
              <a:effectLst>
                <a:innerShdw blurRad="63500" dist="50800" dir="2700000">
                  <a:prstClr val="black">
                    <a:alpha val="50000"/>
                  </a:prstClr>
                </a:innerShdw>
              </a:effectLst>
            </p:spPr>
            <p:txBody>
              <a:bodyPr wrap="square" rtlCol="0">
                <a:spAutoFit/>
              </a:bodyPr>
              <a:lstStyle/>
              <a:p>
                <a:pPr algn="ctr" defTabSz="914400" fontAlgn="base">
                  <a:spcBef>
                    <a:spcPct val="0"/>
                  </a:spcBef>
                  <a:spcAft>
                    <a:spcPct val="0"/>
                  </a:spcAft>
                  <a:defRPr/>
                </a:pPr>
                <a:r>
                  <a:rPr lang="en-US" sz="1200" b="1" kern="0" dirty="0">
                    <a:solidFill>
                      <a:srgbClr val="000000"/>
                    </a:solidFill>
                  </a:rPr>
                  <a:t>Operations are extracted…</a:t>
                </a:r>
              </a:p>
            </p:txBody>
          </p:sp>
          <p:sp>
            <p:nvSpPr>
              <p:cNvPr id="94" name="Rectangle 93">
                <a:extLst>
                  <a:ext uri="{FF2B5EF4-FFF2-40B4-BE49-F238E27FC236}">
                    <a16:creationId xmlns:a16="http://schemas.microsoft.com/office/drawing/2014/main" id="{BE8FD9D2-7CF6-4B8F-BC82-B7014A5BBF56}"/>
                  </a:ext>
                </a:extLst>
              </p:cNvPr>
              <p:cNvSpPr/>
              <p:nvPr/>
            </p:nvSpPr>
            <p:spPr>
              <a:xfrm>
                <a:off x="3688685" y="3467405"/>
                <a:ext cx="537670" cy="268835"/>
              </a:xfrm>
              <a:prstGeom prst="rect">
                <a:avLst/>
              </a:prstGeom>
              <a:solidFill>
                <a:srgbClr val="D9DA56"/>
              </a:solidFill>
              <a:ln w="25400" cap="flat" cmpd="sng" algn="ctr">
                <a:solidFill>
                  <a:srgbClr val="D9DA56">
                    <a:shade val="50000"/>
                  </a:srgbClr>
                </a:solidFill>
                <a:prstDash val="solid"/>
              </a:ln>
              <a:effectLst/>
            </p:spPr>
            <p:txBody>
              <a:bodyPr rtlCol="0" anchor="ctr"/>
              <a:lstStyle/>
              <a:p>
                <a:pPr algn="ctr" defTabSz="914400" fontAlgn="base">
                  <a:spcBef>
                    <a:spcPct val="0"/>
                  </a:spcBef>
                  <a:spcAft>
                    <a:spcPct val="0"/>
                  </a:spcAft>
                  <a:defRPr/>
                </a:pPr>
                <a:r>
                  <a:rPr lang="en-US" kern="0" dirty="0">
                    <a:solidFill>
                      <a:sysClr val="windowText" lastClr="000000"/>
                    </a:solidFill>
                    <a:latin typeface="Arial"/>
                  </a:rPr>
                  <a:t>-</a:t>
                </a:r>
              </a:p>
            </p:txBody>
          </p:sp>
          <p:sp>
            <p:nvSpPr>
              <p:cNvPr id="95" name="Rectangle 94">
                <a:extLst>
                  <a:ext uri="{FF2B5EF4-FFF2-40B4-BE49-F238E27FC236}">
                    <a16:creationId xmlns:a16="http://schemas.microsoft.com/office/drawing/2014/main" id="{496836D9-6845-402B-987A-A4BBF24355A1}"/>
                  </a:ext>
                </a:extLst>
              </p:cNvPr>
              <p:cNvSpPr/>
              <p:nvPr/>
            </p:nvSpPr>
            <p:spPr>
              <a:xfrm>
                <a:off x="3688685" y="3774645"/>
                <a:ext cx="537670" cy="268835"/>
              </a:xfrm>
              <a:prstGeom prst="rect">
                <a:avLst/>
              </a:prstGeom>
              <a:solidFill>
                <a:srgbClr val="D9DA56"/>
              </a:solidFill>
              <a:ln w="25400" cap="flat" cmpd="sng" algn="ctr">
                <a:solidFill>
                  <a:srgbClr val="D9DA56">
                    <a:shade val="50000"/>
                  </a:srgbClr>
                </a:solidFill>
                <a:prstDash val="solid"/>
              </a:ln>
              <a:effectLst/>
            </p:spPr>
            <p:txBody>
              <a:bodyPr rtlCol="0" anchor="ctr"/>
              <a:lstStyle/>
              <a:p>
                <a:pPr algn="ctr" defTabSz="914400" fontAlgn="base">
                  <a:spcBef>
                    <a:spcPct val="0"/>
                  </a:spcBef>
                  <a:spcAft>
                    <a:spcPct val="0"/>
                  </a:spcAft>
                  <a:defRPr/>
                </a:pPr>
                <a:r>
                  <a:rPr lang="en-US" kern="0" dirty="0">
                    <a:solidFill>
                      <a:sysClr val="windowText" lastClr="000000"/>
                    </a:solidFill>
                    <a:latin typeface="Arial"/>
                  </a:rPr>
                  <a:t>==</a:t>
                </a:r>
              </a:p>
            </p:txBody>
          </p:sp>
          <p:sp>
            <p:nvSpPr>
              <p:cNvPr id="96" name="Rectangle 95">
                <a:extLst>
                  <a:ext uri="{FF2B5EF4-FFF2-40B4-BE49-F238E27FC236}">
                    <a16:creationId xmlns:a16="http://schemas.microsoft.com/office/drawing/2014/main" id="{D7B31826-83E3-4141-BB5A-49FD711C6BA2}"/>
                  </a:ext>
                </a:extLst>
              </p:cNvPr>
              <p:cNvSpPr/>
              <p:nvPr/>
            </p:nvSpPr>
            <p:spPr>
              <a:xfrm>
                <a:off x="3688685" y="4081885"/>
                <a:ext cx="537670" cy="268835"/>
              </a:xfrm>
              <a:prstGeom prst="rect">
                <a:avLst/>
              </a:prstGeom>
              <a:solidFill>
                <a:srgbClr val="D9DA56"/>
              </a:solidFill>
              <a:ln w="25400" cap="flat" cmpd="sng" algn="ctr">
                <a:solidFill>
                  <a:srgbClr val="D9DA56">
                    <a:shade val="50000"/>
                  </a:srgbClr>
                </a:solidFill>
                <a:prstDash val="solid"/>
              </a:ln>
              <a:effectLst/>
            </p:spPr>
            <p:txBody>
              <a:bodyPr rtlCol="0" anchor="ctr"/>
              <a:lstStyle/>
              <a:p>
                <a:pPr algn="ctr" defTabSz="914400" fontAlgn="base">
                  <a:spcBef>
                    <a:spcPct val="0"/>
                  </a:spcBef>
                  <a:spcAft>
                    <a:spcPct val="0"/>
                  </a:spcAft>
                  <a:defRPr/>
                </a:pPr>
                <a:r>
                  <a:rPr lang="en-US" kern="0" dirty="0">
                    <a:solidFill>
                      <a:sysClr val="windowText" lastClr="000000"/>
                    </a:solidFill>
                    <a:latin typeface="Arial"/>
                  </a:rPr>
                  <a:t>+</a:t>
                </a:r>
              </a:p>
            </p:txBody>
          </p:sp>
          <p:sp>
            <p:nvSpPr>
              <p:cNvPr id="97" name="Rectangle 96">
                <a:extLst>
                  <a:ext uri="{FF2B5EF4-FFF2-40B4-BE49-F238E27FC236}">
                    <a16:creationId xmlns:a16="http://schemas.microsoft.com/office/drawing/2014/main" id="{F68D5D25-ABD3-419C-B1FF-C64467152799}"/>
                  </a:ext>
                </a:extLst>
              </p:cNvPr>
              <p:cNvSpPr/>
              <p:nvPr/>
            </p:nvSpPr>
            <p:spPr>
              <a:xfrm>
                <a:off x="3688685" y="3160165"/>
                <a:ext cx="537670" cy="268835"/>
              </a:xfrm>
              <a:prstGeom prst="rect">
                <a:avLst/>
              </a:prstGeom>
              <a:solidFill>
                <a:srgbClr val="D9DA56"/>
              </a:solidFill>
              <a:ln w="25400" cap="flat" cmpd="sng" algn="ctr">
                <a:solidFill>
                  <a:srgbClr val="D9DA56">
                    <a:shade val="50000"/>
                  </a:srgbClr>
                </a:solidFill>
                <a:prstDash val="solid"/>
              </a:ln>
              <a:effectLst/>
            </p:spPr>
            <p:txBody>
              <a:bodyPr rtlCol="0" anchor="ctr"/>
              <a:lstStyle/>
              <a:p>
                <a:pPr algn="ctr" defTabSz="914400" fontAlgn="base">
                  <a:spcBef>
                    <a:spcPct val="0"/>
                  </a:spcBef>
                  <a:spcAft>
                    <a:spcPct val="0"/>
                  </a:spcAft>
                  <a:defRPr/>
                </a:pPr>
                <a:r>
                  <a:rPr lang="en-US" kern="0" dirty="0">
                    <a:solidFill>
                      <a:sysClr val="windowText" lastClr="000000"/>
                    </a:solidFill>
                    <a:latin typeface="Arial"/>
                  </a:rPr>
                  <a:t>&gt;=</a:t>
                </a:r>
              </a:p>
            </p:txBody>
          </p:sp>
          <p:sp>
            <p:nvSpPr>
              <p:cNvPr id="98" name="Rectangle 97">
                <a:extLst>
                  <a:ext uri="{FF2B5EF4-FFF2-40B4-BE49-F238E27FC236}">
                    <a16:creationId xmlns:a16="http://schemas.microsoft.com/office/drawing/2014/main" id="{572F1B63-D130-492D-BF42-CA63E32A9775}"/>
                  </a:ext>
                </a:extLst>
              </p:cNvPr>
              <p:cNvSpPr/>
              <p:nvPr/>
            </p:nvSpPr>
            <p:spPr>
              <a:xfrm>
                <a:off x="3688685" y="4389125"/>
                <a:ext cx="537670" cy="268835"/>
              </a:xfrm>
              <a:prstGeom prst="rect">
                <a:avLst/>
              </a:prstGeom>
              <a:solidFill>
                <a:srgbClr val="D9DA56"/>
              </a:solidFill>
              <a:ln w="25400" cap="flat" cmpd="sng" algn="ctr">
                <a:solidFill>
                  <a:srgbClr val="D9DA56">
                    <a:shade val="50000"/>
                  </a:srgbClr>
                </a:solidFill>
                <a:prstDash val="solid"/>
              </a:ln>
              <a:effectLst/>
            </p:spPr>
            <p:txBody>
              <a:bodyPr rtlCol="0" anchor="ctr"/>
              <a:lstStyle/>
              <a:p>
                <a:pPr algn="ctr" defTabSz="914400" fontAlgn="base">
                  <a:spcBef>
                    <a:spcPct val="0"/>
                  </a:spcBef>
                  <a:spcAft>
                    <a:spcPct val="0"/>
                  </a:spcAft>
                  <a:defRPr/>
                </a:pPr>
                <a:r>
                  <a:rPr lang="en-US" kern="0" dirty="0">
                    <a:solidFill>
                      <a:sysClr val="windowText" lastClr="000000"/>
                    </a:solidFill>
                    <a:latin typeface="Arial"/>
                  </a:rPr>
                  <a:t>*</a:t>
                </a:r>
              </a:p>
            </p:txBody>
          </p:sp>
          <p:sp>
            <p:nvSpPr>
              <p:cNvPr id="99" name="Rectangle 98">
                <a:extLst>
                  <a:ext uri="{FF2B5EF4-FFF2-40B4-BE49-F238E27FC236}">
                    <a16:creationId xmlns:a16="http://schemas.microsoft.com/office/drawing/2014/main" id="{9AB36EA3-BCE4-41B7-9782-0EBF04F30314}"/>
                  </a:ext>
                </a:extLst>
              </p:cNvPr>
              <p:cNvSpPr/>
              <p:nvPr/>
            </p:nvSpPr>
            <p:spPr>
              <a:xfrm>
                <a:off x="3686880" y="4696365"/>
                <a:ext cx="537670" cy="268835"/>
              </a:xfrm>
              <a:prstGeom prst="rect">
                <a:avLst/>
              </a:prstGeom>
              <a:solidFill>
                <a:srgbClr val="D9DA56"/>
              </a:solidFill>
              <a:ln w="25400" cap="flat" cmpd="sng" algn="ctr">
                <a:solidFill>
                  <a:srgbClr val="D9DA56">
                    <a:shade val="50000"/>
                  </a:srgbClr>
                </a:solidFill>
                <a:prstDash val="solid"/>
              </a:ln>
              <a:effectLst/>
            </p:spPr>
            <p:txBody>
              <a:bodyPr rtlCol="0" anchor="ctr"/>
              <a:lstStyle/>
              <a:p>
                <a:pPr algn="ctr" defTabSz="914400" fontAlgn="base">
                  <a:spcBef>
                    <a:spcPct val="0"/>
                  </a:spcBef>
                  <a:spcAft>
                    <a:spcPct val="0"/>
                  </a:spcAft>
                  <a:defRPr/>
                </a:pPr>
                <a:r>
                  <a:rPr lang="en-US" kern="0" dirty="0">
                    <a:solidFill>
                      <a:sysClr val="windowText" lastClr="000000"/>
                    </a:solidFill>
                    <a:latin typeface="Arial"/>
                  </a:rPr>
                  <a:t>+</a:t>
                </a:r>
              </a:p>
            </p:txBody>
          </p:sp>
          <p:sp>
            <p:nvSpPr>
              <p:cNvPr id="100" name="Rectangle 99">
                <a:extLst>
                  <a:ext uri="{FF2B5EF4-FFF2-40B4-BE49-F238E27FC236}">
                    <a16:creationId xmlns:a16="http://schemas.microsoft.com/office/drawing/2014/main" id="{616F6DBC-48EA-4AC9-ABA1-53E1E2FED93C}"/>
                  </a:ext>
                </a:extLst>
              </p:cNvPr>
              <p:cNvSpPr/>
              <p:nvPr/>
            </p:nvSpPr>
            <p:spPr>
              <a:xfrm>
                <a:off x="3686880" y="5003605"/>
                <a:ext cx="537670" cy="268835"/>
              </a:xfrm>
              <a:prstGeom prst="rect">
                <a:avLst/>
              </a:prstGeom>
              <a:solidFill>
                <a:srgbClr val="D9DA56"/>
              </a:solidFill>
              <a:ln w="25400" cap="flat" cmpd="sng" algn="ctr">
                <a:solidFill>
                  <a:srgbClr val="D9DA56">
                    <a:shade val="50000"/>
                  </a:srgbClr>
                </a:solidFill>
                <a:prstDash val="solid"/>
              </a:ln>
              <a:effectLst/>
            </p:spPr>
            <p:txBody>
              <a:bodyPr rtlCol="0" anchor="ctr"/>
              <a:lstStyle/>
              <a:p>
                <a:pPr algn="ctr" defTabSz="914400" fontAlgn="base">
                  <a:spcBef>
                    <a:spcPct val="0"/>
                  </a:spcBef>
                  <a:spcAft>
                    <a:spcPct val="0"/>
                  </a:spcAft>
                  <a:defRPr/>
                </a:pPr>
                <a:r>
                  <a:rPr lang="en-US" kern="0" dirty="0">
                    <a:solidFill>
                      <a:sysClr val="windowText" lastClr="000000"/>
                    </a:solidFill>
                    <a:latin typeface="Arial"/>
                  </a:rPr>
                  <a:t>*</a:t>
                </a:r>
              </a:p>
            </p:txBody>
          </p:sp>
          <p:sp>
            <p:nvSpPr>
              <p:cNvPr id="101" name="Rectangle 100">
                <a:extLst>
                  <a:ext uri="{FF2B5EF4-FFF2-40B4-BE49-F238E27FC236}">
                    <a16:creationId xmlns:a16="http://schemas.microsoft.com/office/drawing/2014/main" id="{A0D83673-C0B4-4782-94D8-28724676598F}"/>
                  </a:ext>
                </a:extLst>
              </p:cNvPr>
              <p:cNvSpPr/>
              <p:nvPr/>
            </p:nvSpPr>
            <p:spPr>
              <a:xfrm>
                <a:off x="3688685" y="2545685"/>
                <a:ext cx="537670" cy="268835"/>
              </a:xfrm>
              <a:prstGeom prst="rect">
                <a:avLst/>
              </a:prstGeom>
              <a:solidFill>
                <a:srgbClr val="D9DA56"/>
              </a:solidFill>
              <a:ln w="25400" cap="flat" cmpd="sng" algn="ctr">
                <a:solidFill>
                  <a:srgbClr val="D9DA56">
                    <a:shade val="50000"/>
                  </a:srgbClr>
                </a:solidFill>
                <a:prstDash val="solid"/>
              </a:ln>
              <a:effectLst/>
            </p:spPr>
            <p:txBody>
              <a:bodyPr rtlCol="0" anchor="ctr"/>
              <a:lstStyle/>
              <a:p>
                <a:pPr algn="ctr" defTabSz="914400" fontAlgn="base">
                  <a:spcBef>
                    <a:spcPct val="0"/>
                  </a:spcBef>
                  <a:spcAft>
                    <a:spcPct val="0"/>
                  </a:spcAft>
                  <a:defRPr/>
                </a:pPr>
                <a:r>
                  <a:rPr lang="en-US" sz="1200" kern="0" dirty="0" err="1">
                    <a:solidFill>
                      <a:sysClr val="windowText" lastClr="000000"/>
                    </a:solidFill>
                    <a:latin typeface="Arial"/>
                  </a:rPr>
                  <a:t>RDx</a:t>
                </a:r>
                <a:endParaRPr lang="en-US" sz="1200" kern="0" dirty="0">
                  <a:solidFill>
                    <a:sysClr val="windowText" lastClr="000000"/>
                  </a:solidFill>
                  <a:latin typeface="Arial"/>
                </a:endParaRPr>
              </a:p>
            </p:txBody>
          </p:sp>
          <p:sp>
            <p:nvSpPr>
              <p:cNvPr id="102" name="Rectangle 101">
                <a:extLst>
                  <a:ext uri="{FF2B5EF4-FFF2-40B4-BE49-F238E27FC236}">
                    <a16:creationId xmlns:a16="http://schemas.microsoft.com/office/drawing/2014/main" id="{29F536A3-35FA-4C5D-BD23-BC02B0CB0224}"/>
                  </a:ext>
                </a:extLst>
              </p:cNvPr>
              <p:cNvSpPr/>
              <p:nvPr/>
            </p:nvSpPr>
            <p:spPr>
              <a:xfrm>
                <a:off x="3688685" y="5310845"/>
                <a:ext cx="537670" cy="268835"/>
              </a:xfrm>
              <a:prstGeom prst="rect">
                <a:avLst/>
              </a:prstGeom>
              <a:solidFill>
                <a:srgbClr val="D9DA56"/>
              </a:solidFill>
              <a:ln w="25400" cap="flat" cmpd="sng" algn="ctr">
                <a:solidFill>
                  <a:srgbClr val="D9DA56">
                    <a:shade val="50000"/>
                  </a:srgbClr>
                </a:solidFill>
                <a:prstDash val="solid"/>
              </a:ln>
              <a:effectLst/>
            </p:spPr>
            <p:txBody>
              <a:bodyPr rtlCol="0" anchor="ctr"/>
              <a:lstStyle/>
              <a:p>
                <a:pPr algn="ctr" defTabSz="914400" fontAlgn="base">
                  <a:spcBef>
                    <a:spcPct val="0"/>
                  </a:spcBef>
                  <a:spcAft>
                    <a:spcPct val="0"/>
                  </a:spcAft>
                  <a:defRPr/>
                </a:pPr>
                <a:r>
                  <a:rPr lang="en-US" sz="1200" kern="0" dirty="0" err="1">
                    <a:solidFill>
                      <a:sysClr val="windowText" lastClr="000000"/>
                    </a:solidFill>
                    <a:latin typeface="Arial"/>
                  </a:rPr>
                  <a:t>WRy</a:t>
                </a:r>
                <a:endParaRPr lang="en-US" sz="1200" kern="0" dirty="0">
                  <a:solidFill>
                    <a:sysClr val="windowText" lastClr="000000"/>
                  </a:solidFill>
                  <a:latin typeface="Arial"/>
                </a:endParaRPr>
              </a:p>
            </p:txBody>
          </p:sp>
          <p:sp>
            <p:nvSpPr>
              <p:cNvPr id="103" name="Rectangle 102">
                <a:extLst>
                  <a:ext uri="{FF2B5EF4-FFF2-40B4-BE49-F238E27FC236}">
                    <a16:creationId xmlns:a16="http://schemas.microsoft.com/office/drawing/2014/main" id="{33D150FF-94E7-4737-BFC4-1FC2259CDB30}"/>
                  </a:ext>
                </a:extLst>
              </p:cNvPr>
              <p:cNvSpPr/>
              <p:nvPr/>
            </p:nvSpPr>
            <p:spPr>
              <a:xfrm>
                <a:off x="3688685" y="2852925"/>
                <a:ext cx="537670" cy="268835"/>
              </a:xfrm>
              <a:prstGeom prst="rect">
                <a:avLst/>
              </a:prstGeom>
              <a:solidFill>
                <a:srgbClr val="D9DA56"/>
              </a:solidFill>
              <a:ln w="25400" cap="flat" cmpd="sng" algn="ctr">
                <a:solidFill>
                  <a:srgbClr val="D9DA56">
                    <a:shade val="50000"/>
                  </a:srgbClr>
                </a:solidFill>
                <a:prstDash val="solid"/>
              </a:ln>
              <a:effectLst/>
            </p:spPr>
            <p:txBody>
              <a:bodyPr rtlCol="0" anchor="ctr"/>
              <a:lstStyle/>
              <a:p>
                <a:pPr algn="ctr" defTabSz="914400" fontAlgn="base">
                  <a:spcBef>
                    <a:spcPct val="0"/>
                  </a:spcBef>
                  <a:spcAft>
                    <a:spcPct val="0"/>
                  </a:spcAft>
                  <a:defRPr/>
                </a:pPr>
                <a:r>
                  <a:rPr lang="en-US" sz="1200" kern="0" dirty="0" err="1">
                    <a:solidFill>
                      <a:sysClr val="windowText" lastClr="000000"/>
                    </a:solidFill>
                    <a:latin typeface="Arial"/>
                  </a:rPr>
                  <a:t>RDc</a:t>
                </a:r>
                <a:endParaRPr lang="en-US" sz="1200" kern="0" dirty="0">
                  <a:solidFill>
                    <a:sysClr val="windowText" lastClr="000000"/>
                  </a:solidFill>
                  <a:latin typeface="Arial"/>
                </a:endParaRPr>
              </a:p>
            </p:txBody>
          </p:sp>
        </p:grpSp>
      </p:grpSp>
      <p:grpSp>
        <p:nvGrpSpPr>
          <p:cNvPr id="104" name="Group 150">
            <a:extLst>
              <a:ext uri="{FF2B5EF4-FFF2-40B4-BE49-F238E27FC236}">
                <a16:creationId xmlns:a16="http://schemas.microsoft.com/office/drawing/2014/main" id="{71A25755-F22E-453E-AB86-D2AA7F24D64C}"/>
              </a:ext>
            </a:extLst>
          </p:cNvPr>
          <p:cNvGrpSpPr/>
          <p:nvPr/>
        </p:nvGrpSpPr>
        <p:grpSpPr>
          <a:xfrm>
            <a:off x="8758056" y="1623965"/>
            <a:ext cx="2918019" cy="4647810"/>
            <a:chOff x="6569061" y="1623965"/>
            <a:chExt cx="2189084" cy="4647810"/>
          </a:xfrm>
        </p:grpSpPr>
        <p:sp>
          <p:nvSpPr>
            <p:cNvPr id="105" name="Rectangle 104">
              <a:extLst>
                <a:ext uri="{FF2B5EF4-FFF2-40B4-BE49-F238E27FC236}">
                  <a16:creationId xmlns:a16="http://schemas.microsoft.com/office/drawing/2014/main" id="{19DAE3EF-47C4-40B2-A274-6E6942AD38EF}"/>
                </a:ext>
              </a:extLst>
            </p:cNvPr>
            <p:cNvSpPr/>
            <p:nvPr/>
          </p:nvSpPr>
          <p:spPr>
            <a:xfrm>
              <a:off x="6684276" y="2161635"/>
              <a:ext cx="1958654" cy="3456450"/>
            </a:xfrm>
            <a:prstGeom prst="rect">
              <a:avLst/>
            </a:prstGeom>
            <a:gradFill flip="none" rotWithShape="1">
              <a:gsLst>
                <a:gs pos="0">
                  <a:srgbClr val="663300">
                    <a:tint val="66000"/>
                    <a:satMod val="160000"/>
                  </a:srgbClr>
                </a:gs>
                <a:gs pos="50000">
                  <a:srgbClr val="663300">
                    <a:tint val="44500"/>
                    <a:satMod val="160000"/>
                  </a:srgbClr>
                </a:gs>
                <a:gs pos="100000">
                  <a:srgbClr val="663300">
                    <a:tint val="23500"/>
                    <a:satMod val="160000"/>
                  </a:srgbClr>
                </a:gs>
              </a:gsLst>
              <a:lin ang="10800000" scaled="1"/>
              <a:tileRect/>
            </a:gradFill>
            <a:ln w="9525" cap="flat" cmpd="sng" algn="ctr">
              <a:solidFill>
                <a:srgbClr val="000000"/>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endParaRPr lang="en-US" kern="0">
                <a:solidFill>
                  <a:srgbClr val="FFFFFF"/>
                </a:solidFill>
                <a:latin typeface="Arial"/>
              </a:endParaRPr>
            </a:p>
          </p:txBody>
        </p:sp>
        <p:sp>
          <p:nvSpPr>
            <p:cNvPr id="106" name="TextBox 105">
              <a:extLst>
                <a:ext uri="{FF2B5EF4-FFF2-40B4-BE49-F238E27FC236}">
                  <a16:creationId xmlns:a16="http://schemas.microsoft.com/office/drawing/2014/main" id="{453AE920-F95B-44F8-9CED-E31D0318DFFE}"/>
                </a:ext>
              </a:extLst>
            </p:cNvPr>
            <p:cNvSpPr txBox="1"/>
            <p:nvPr/>
          </p:nvSpPr>
          <p:spPr>
            <a:xfrm>
              <a:off x="6645871" y="1623965"/>
              <a:ext cx="1997059" cy="307777"/>
            </a:xfrm>
            <a:prstGeom prst="rect">
              <a:avLst/>
            </a:prstGeom>
            <a:noFill/>
          </p:spPr>
          <p:txBody>
            <a:bodyPr wrap="square" rtlCol="0">
              <a:spAutoFit/>
            </a:bodyPr>
            <a:lstStyle/>
            <a:p>
              <a:pPr algn="ctr" defTabSz="914400" fontAlgn="base">
                <a:spcBef>
                  <a:spcPct val="0"/>
                </a:spcBef>
                <a:spcAft>
                  <a:spcPct val="0"/>
                </a:spcAft>
                <a:defRPr/>
              </a:pPr>
              <a:r>
                <a:rPr lang="en-US" sz="1400" b="1" u="sng" kern="0" dirty="0">
                  <a:solidFill>
                    <a:srgbClr val="000000"/>
                  </a:solidFill>
                </a:rPr>
                <a:t>Control &amp; Datapath Behavior</a:t>
              </a:r>
            </a:p>
          </p:txBody>
        </p:sp>
        <p:sp>
          <p:nvSpPr>
            <p:cNvPr id="107" name="TextBox 106">
              <a:extLst>
                <a:ext uri="{FF2B5EF4-FFF2-40B4-BE49-F238E27FC236}">
                  <a16:creationId xmlns:a16="http://schemas.microsoft.com/office/drawing/2014/main" id="{331C6A04-3F61-4467-8BA7-7E02D7060E77}"/>
                </a:ext>
              </a:extLst>
            </p:cNvPr>
            <p:cNvSpPr txBox="1"/>
            <p:nvPr/>
          </p:nvSpPr>
          <p:spPr>
            <a:xfrm>
              <a:off x="6569061" y="5810110"/>
              <a:ext cx="2189084" cy="461665"/>
            </a:xfrm>
            <a:prstGeom prst="rect">
              <a:avLst/>
            </a:prstGeom>
            <a:solidFill>
              <a:srgbClr val="FFFF99"/>
            </a:solidFill>
            <a:ln w="19050">
              <a:solidFill>
                <a:srgbClr val="000000"/>
              </a:solidFill>
            </a:ln>
            <a:effectLst>
              <a:innerShdw blurRad="63500" dist="50800" dir="2700000">
                <a:prstClr val="black">
                  <a:alpha val="50000"/>
                </a:prstClr>
              </a:innerShdw>
            </a:effectLst>
          </p:spPr>
          <p:txBody>
            <a:bodyPr wrap="square" rtlCol="0">
              <a:spAutoFit/>
            </a:bodyPr>
            <a:lstStyle/>
            <a:p>
              <a:pPr algn="ctr" defTabSz="914400" fontAlgn="base">
                <a:spcBef>
                  <a:spcPct val="0"/>
                </a:spcBef>
                <a:spcAft>
                  <a:spcPct val="0"/>
                </a:spcAft>
                <a:defRPr/>
              </a:pPr>
              <a:r>
                <a:rPr lang="en-US" sz="1200" b="1" kern="0" dirty="0">
                  <a:solidFill>
                    <a:srgbClr val="000000"/>
                  </a:solidFill>
                </a:rPr>
                <a:t>A unified control dataflow behavior is created.</a:t>
              </a:r>
            </a:p>
          </p:txBody>
        </p:sp>
        <p:sp>
          <p:nvSpPr>
            <p:cNvPr id="108" name="Rectangle 107">
              <a:extLst>
                <a:ext uri="{FF2B5EF4-FFF2-40B4-BE49-F238E27FC236}">
                  <a16:creationId xmlns:a16="http://schemas.microsoft.com/office/drawing/2014/main" id="{06475B35-035C-422B-90B5-F68A5276BDA6}"/>
                </a:ext>
              </a:extLst>
            </p:cNvPr>
            <p:cNvSpPr/>
            <p:nvPr/>
          </p:nvSpPr>
          <p:spPr>
            <a:xfrm>
              <a:off x="6914706" y="3275381"/>
              <a:ext cx="1075340" cy="1382580"/>
            </a:xfrm>
            <a:prstGeom prst="rect">
              <a:avLst/>
            </a:prstGeom>
            <a:noFill/>
            <a:ln w="19050" cap="flat" cmpd="sng" algn="ctr">
              <a:solidFill>
                <a:srgbClr val="008CA8"/>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endParaRPr lang="en-US" kern="0">
                <a:solidFill>
                  <a:srgbClr val="FFFFFF"/>
                </a:solidFill>
                <a:latin typeface="Arial"/>
              </a:endParaRPr>
            </a:p>
          </p:txBody>
        </p:sp>
        <p:cxnSp>
          <p:nvCxnSpPr>
            <p:cNvPr id="109" name="Straight Arrow Connector 108">
              <a:extLst>
                <a:ext uri="{FF2B5EF4-FFF2-40B4-BE49-F238E27FC236}">
                  <a16:creationId xmlns:a16="http://schemas.microsoft.com/office/drawing/2014/main" id="{E7B578B7-B3AC-491B-85B4-8A628B37101D}"/>
                </a:ext>
              </a:extLst>
            </p:cNvPr>
            <p:cNvCxnSpPr>
              <a:stCxn id="114" idx="2"/>
              <a:endCxn id="108" idx="0"/>
            </p:cNvCxnSpPr>
            <p:nvPr/>
          </p:nvCxnSpPr>
          <p:spPr>
            <a:xfrm rot="5400000">
              <a:off x="7337161" y="3160165"/>
              <a:ext cx="230431" cy="1588"/>
            </a:xfrm>
            <a:prstGeom prst="straightConnector1">
              <a:avLst/>
            </a:prstGeom>
            <a:noFill/>
            <a:ln w="25400" cap="flat" cmpd="sng" algn="ctr">
              <a:solidFill>
                <a:srgbClr val="008CA8"/>
              </a:solidFill>
              <a:prstDash val="solid"/>
              <a:tailEnd type="arrow"/>
            </a:ln>
            <a:effectLst>
              <a:outerShdw blurRad="40000" dist="20000" dir="5400000" rotWithShape="0">
                <a:srgbClr val="000000">
                  <a:alpha val="38000"/>
                </a:srgbClr>
              </a:outerShdw>
            </a:effectLst>
          </p:spPr>
        </p:cxnSp>
        <p:cxnSp>
          <p:nvCxnSpPr>
            <p:cNvPr id="110" name="Straight Arrow Connector 109">
              <a:extLst>
                <a:ext uri="{FF2B5EF4-FFF2-40B4-BE49-F238E27FC236}">
                  <a16:creationId xmlns:a16="http://schemas.microsoft.com/office/drawing/2014/main" id="{41FBE13F-BAB5-45F8-9AE4-B03579DBC848}"/>
                </a:ext>
              </a:extLst>
            </p:cNvPr>
            <p:cNvCxnSpPr>
              <a:stCxn id="108" idx="2"/>
              <a:endCxn id="111" idx="0"/>
            </p:cNvCxnSpPr>
            <p:nvPr/>
          </p:nvCxnSpPr>
          <p:spPr>
            <a:xfrm rot="5400000">
              <a:off x="7241149" y="4869188"/>
              <a:ext cx="422454" cy="1588"/>
            </a:xfrm>
            <a:prstGeom prst="straightConnector1">
              <a:avLst/>
            </a:prstGeom>
            <a:noFill/>
            <a:ln w="25400" cap="flat" cmpd="sng" algn="ctr">
              <a:solidFill>
                <a:srgbClr val="008CA8"/>
              </a:solidFill>
              <a:prstDash val="solid"/>
              <a:tailEnd type="arrow"/>
            </a:ln>
            <a:effectLst>
              <a:outerShdw blurRad="40000" dist="20000" dir="5400000" rotWithShape="0">
                <a:srgbClr val="000000">
                  <a:alpha val="38000"/>
                </a:srgbClr>
              </a:outerShdw>
            </a:effectLst>
          </p:spPr>
        </p:cxnSp>
        <p:sp>
          <p:nvSpPr>
            <p:cNvPr id="111" name="Rectangle 110">
              <a:extLst>
                <a:ext uri="{FF2B5EF4-FFF2-40B4-BE49-F238E27FC236}">
                  <a16:creationId xmlns:a16="http://schemas.microsoft.com/office/drawing/2014/main" id="{95985A67-9B96-4604-B95B-455C92ECBE4D}"/>
                </a:ext>
              </a:extLst>
            </p:cNvPr>
            <p:cNvSpPr/>
            <p:nvPr/>
          </p:nvSpPr>
          <p:spPr>
            <a:xfrm>
              <a:off x="6914705" y="5080415"/>
              <a:ext cx="1075341" cy="422455"/>
            </a:xfrm>
            <a:prstGeom prst="rect">
              <a:avLst/>
            </a:prstGeom>
            <a:noFill/>
            <a:ln w="19050" cap="flat" cmpd="sng" algn="ctr">
              <a:solidFill>
                <a:srgbClr val="008CA8"/>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endParaRPr lang="en-US" kern="0">
                <a:solidFill>
                  <a:srgbClr val="FFFFFF"/>
                </a:solidFill>
                <a:latin typeface="Arial"/>
              </a:endParaRPr>
            </a:p>
          </p:txBody>
        </p:sp>
        <p:cxnSp>
          <p:nvCxnSpPr>
            <p:cNvPr id="112" name="Elbow Connector 125">
              <a:extLst>
                <a:ext uri="{FF2B5EF4-FFF2-40B4-BE49-F238E27FC236}">
                  <a16:creationId xmlns:a16="http://schemas.microsoft.com/office/drawing/2014/main" id="{ED056E93-B305-4FA2-938D-D501C542BDD0}"/>
                </a:ext>
              </a:extLst>
            </p:cNvPr>
            <p:cNvCxnSpPr>
              <a:stCxn id="108" idx="2"/>
              <a:endCxn id="108" idx="3"/>
            </p:cNvCxnSpPr>
            <p:nvPr/>
          </p:nvCxnSpPr>
          <p:spPr>
            <a:xfrm rot="5400000" flipH="1" flipV="1">
              <a:off x="7375566" y="4043481"/>
              <a:ext cx="691290" cy="537670"/>
            </a:xfrm>
            <a:prstGeom prst="bentConnector4">
              <a:avLst>
                <a:gd name="adj1" fmla="val -33069"/>
                <a:gd name="adj2" fmla="val 142517"/>
              </a:avLst>
            </a:prstGeom>
            <a:noFill/>
            <a:ln w="25400" cap="flat" cmpd="sng" algn="ctr">
              <a:solidFill>
                <a:srgbClr val="008CA8"/>
              </a:solidFill>
              <a:prstDash val="solid"/>
              <a:tailEnd type="arrow"/>
            </a:ln>
            <a:effectLst>
              <a:outerShdw blurRad="40000" dist="20000" dir="5400000" rotWithShape="0">
                <a:srgbClr val="000000">
                  <a:alpha val="38000"/>
                </a:srgbClr>
              </a:outerShdw>
            </a:effectLst>
          </p:spPr>
        </p:cxnSp>
        <p:sp>
          <p:nvSpPr>
            <p:cNvPr id="113" name="TextBox 112">
              <a:extLst>
                <a:ext uri="{FF2B5EF4-FFF2-40B4-BE49-F238E27FC236}">
                  <a16:creationId xmlns:a16="http://schemas.microsoft.com/office/drawing/2014/main" id="{A7BF6582-05F4-45EE-83DD-0748776E2842}"/>
                </a:ext>
              </a:extLst>
            </p:cNvPr>
            <p:cNvSpPr txBox="1"/>
            <p:nvPr/>
          </p:nvSpPr>
          <p:spPr>
            <a:xfrm>
              <a:off x="6684275" y="2200040"/>
              <a:ext cx="1497795" cy="246221"/>
            </a:xfrm>
            <a:prstGeom prst="rect">
              <a:avLst/>
            </a:prstGeom>
            <a:noFill/>
          </p:spPr>
          <p:txBody>
            <a:bodyPr wrap="square" rtlCol="0">
              <a:spAutoFit/>
            </a:bodyPr>
            <a:lstStyle/>
            <a:p>
              <a:pPr algn="ctr" defTabSz="914400" fontAlgn="base">
                <a:spcBef>
                  <a:spcPct val="0"/>
                </a:spcBef>
                <a:spcAft>
                  <a:spcPct val="0"/>
                </a:spcAft>
                <a:defRPr/>
              </a:pPr>
              <a:r>
                <a:rPr lang="en-US" sz="1000" b="1" kern="0" dirty="0">
                  <a:solidFill>
                    <a:srgbClr val="000000"/>
                  </a:solidFill>
                </a:rPr>
                <a:t>Control Dataflow</a:t>
              </a:r>
            </a:p>
          </p:txBody>
        </p:sp>
        <p:sp>
          <p:nvSpPr>
            <p:cNvPr id="114" name="Rectangle 113">
              <a:extLst>
                <a:ext uri="{FF2B5EF4-FFF2-40B4-BE49-F238E27FC236}">
                  <a16:creationId xmlns:a16="http://schemas.microsoft.com/office/drawing/2014/main" id="{DFA94BB8-32A1-4362-A337-BB9051129DF1}"/>
                </a:ext>
              </a:extLst>
            </p:cNvPr>
            <p:cNvSpPr/>
            <p:nvPr/>
          </p:nvSpPr>
          <p:spPr>
            <a:xfrm>
              <a:off x="6914705" y="2776115"/>
              <a:ext cx="1075341" cy="268835"/>
            </a:xfrm>
            <a:prstGeom prst="rect">
              <a:avLst/>
            </a:prstGeom>
            <a:noFill/>
            <a:ln w="19050" cap="flat" cmpd="sng" algn="ctr">
              <a:solidFill>
                <a:srgbClr val="008CA8"/>
              </a:solidFill>
              <a:prstDash val="solid"/>
            </a:ln>
            <a:effectLst>
              <a:outerShdw blurRad="40000" dist="23000" dir="5400000" rotWithShape="0">
                <a:srgbClr val="000000">
                  <a:alpha val="35000"/>
                </a:srgbClr>
              </a:outerShdw>
            </a:effectLst>
          </p:spPr>
          <p:txBody>
            <a:bodyPr rtlCol="0" anchor="ctr"/>
            <a:lstStyle/>
            <a:p>
              <a:pPr algn="ctr" defTabSz="914400" fontAlgn="base">
                <a:spcBef>
                  <a:spcPct val="0"/>
                </a:spcBef>
                <a:spcAft>
                  <a:spcPct val="0"/>
                </a:spcAft>
                <a:defRPr/>
              </a:pPr>
              <a:endParaRPr lang="en-US" kern="0">
                <a:solidFill>
                  <a:srgbClr val="FFFFFF"/>
                </a:solidFill>
                <a:latin typeface="Arial"/>
              </a:endParaRPr>
            </a:p>
          </p:txBody>
        </p:sp>
        <p:cxnSp>
          <p:nvCxnSpPr>
            <p:cNvPr id="115" name="Elbow Connector 125">
              <a:extLst>
                <a:ext uri="{FF2B5EF4-FFF2-40B4-BE49-F238E27FC236}">
                  <a16:creationId xmlns:a16="http://schemas.microsoft.com/office/drawing/2014/main" id="{05AB6951-CD77-443F-BC28-0F40DDBAFF1C}"/>
                </a:ext>
              </a:extLst>
            </p:cNvPr>
            <p:cNvCxnSpPr>
              <a:stCxn id="111" idx="3"/>
              <a:endCxn id="114" idx="3"/>
            </p:cNvCxnSpPr>
            <p:nvPr/>
          </p:nvCxnSpPr>
          <p:spPr>
            <a:xfrm flipV="1">
              <a:off x="7990046" y="2910533"/>
              <a:ext cx="1588" cy="2381110"/>
            </a:xfrm>
            <a:prstGeom prst="bentConnector3">
              <a:avLst>
                <a:gd name="adj1" fmla="val 25192073"/>
              </a:avLst>
            </a:prstGeom>
            <a:noFill/>
            <a:ln w="25400" cap="flat" cmpd="sng" algn="ctr">
              <a:solidFill>
                <a:srgbClr val="008CA8"/>
              </a:solidFill>
              <a:prstDash val="solid"/>
              <a:tailEnd type="arrow"/>
            </a:ln>
            <a:effectLst>
              <a:outerShdw blurRad="40000" dist="20000" dir="5400000" rotWithShape="0">
                <a:srgbClr val="000000">
                  <a:alpha val="38000"/>
                </a:srgbClr>
              </a:outerShdw>
            </a:effectLst>
          </p:spPr>
        </p:cxnSp>
        <p:sp>
          <p:nvSpPr>
            <p:cNvPr id="116" name="Rectangle 115">
              <a:extLst>
                <a:ext uri="{FF2B5EF4-FFF2-40B4-BE49-F238E27FC236}">
                  <a16:creationId xmlns:a16="http://schemas.microsoft.com/office/drawing/2014/main" id="{B5A96EED-D479-4BEF-B927-65C561644B71}"/>
                </a:ext>
              </a:extLst>
            </p:cNvPr>
            <p:cNvSpPr/>
            <p:nvPr/>
          </p:nvSpPr>
          <p:spPr>
            <a:xfrm>
              <a:off x="7028115" y="3659430"/>
              <a:ext cx="385855" cy="192025"/>
            </a:xfrm>
            <a:prstGeom prst="rect">
              <a:avLst/>
            </a:prstGeom>
            <a:solidFill>
              <a:srgbClr val="D9DA56"/>
            </a:solidFill>
            <a:ln w="25400" cap="flat" cmpd="sng" algn="ctr">
              <a:solidFill>
                <a:srgbClr val="D9DA56">
                  <a:shade val="50000"/>
                </a:srgbClr>
              </a:solidFill>
              <a:prstDash val="solid"/>
            </a:ln>
            <a:effectLst/>
          </p:spPr>
          <p:txBody>
            <a:bodyPr rtlCol="0" anchor="ctr"/>
            <a:lstStyle/>
            <a:p>
              <a:pPr algn="ctr" defTabSz="914400" fontAlgn="base">
                <a:spcBef>
                  <a:spcPct val="0"/>
                </a:spcBef>
                <a:spcAft>
                  <a:spcPct val="0"/>
                </a:spcAft>
                <a:defRPr/>
              </a:pPr>
              <a:r>
                <a:rPr lang="en-US" sz="1200" b="1" kern="0" dirty="0">
                  <a:solidFill>
                    <a:sysClr val="windowText" lastClr="000000"/>
                  </a:solidFill>
                  <a:latin typeface="Arial"/>
                </a:rPr>
                <a:t>&gt;=</a:t>
              </a:r>
            </a:p>
          </p:txBody>
        </p:sp>
        <p:sp>
          <p:nvSpPr>
            <p:cNvPr id="117" name="Rectangle 116">
              <a:extLst>
                <a:ext uri="{FF2B5EF4-FFF2-40B4-BE49-F238E27FC236}">
                  <a16:creationId xmlns:a16="http://schemas.microsoft.com/office/drawing/2014/main" id="{DC81FCA0-4F18-4635-BB0B-DD5CEFABE17F}"/>
                </a:ext>
              </a:extLst>
            </p:cNvPr>
            <p:cNvSpPr/>
            <p:nvPr/>
          </p:nvSpPr>
          <p:spPr>
            <a:xfrm>
              <a:off x="7452375" y="3889860"/>
              <a:ext cx="385855" cy="192025"/>
            </a:xfrm>
            <a:prstGeom prst="rect">
              <a:avLst/>
            </a:prstGeom>
            <a:solidFill>
              <a:srgbClr val="D9DA56"/>
            </a:solidFill>
            <a:ln w="25400" cap="flat" cmpd="sng" algn="ctr">
              <a:solidFill>
                <a:srgbClr val="D9DA56">
                  <a:shade val="50000"/>
                </a:srgbClr>
              </a:solidFill>
              <a:prstDash val="solid"/>
            </a:ln>
            <a:effectLst/>
          </p:spPr>
          <p:txBody>
            <a:bodyPr rtlCol="0" anchor="ctr"/>
            <a:lstStyle/>
            <a:p>
              <a:pPr algn="ctr" defTabSz="914400" fontAlgn="base">
                <a:spcBef>
                  <a:spcPct val="0"/>
                </a:spcBef>
                <a:spcAft>
                  <a:spcPct val="0"/>
                </a:spcAft>
                <a:defRPr/>
              </a:pPr>
              <a:r>
                <a:rPr lang="en-US" sz="1200" b="1" kern="0" dirty="0">
                  <a:solidFill>
                    <a:sysClr val="windowText" lastClr="000000"/>
                  </a:solidFill>
                  <a:latin typeface="Arial"/>
                </a:rPr>
                <a:t>-</a:t>
              </a:r>
            </a:p>
          </p:txBody>
        </p:sp>
        <p:sp>
          <p:nvSpPr>
            <p:cNvPr id="118" name="Rectangle 117">
              <a:extLst>
                <a:ext uri="{FF2B5EF4-FFF2-40B4-BE49-F238E27FC236}">
                  <a16:creationId xmlns:a16="http://schemas.microsoft.com/office/drawing/2014/main" id="{8A0517F9-616D-4A9A-9616-12EAF2A2555C}"/>
                </a:ext>
              </a:extLst>
            </p:cNvPr>
            <p:cNvSpPr/>
            <p:nvPr/>
          </p:nvSpPr>
          <p:spPr>
            <a:xfrm>
              <a:off x="7029920" y="4158695"/>
              <a:ext cx="385855" cy="192025"/>
            </a:xfrm>
            <a:prstGeom prst="rect">
              <a:avLst/>
            </a:prstGeom>
            <a:solidFill>
              <a:srgbClr val="D9DA56"/>
            </a:solidFill>
            <a:ln w="25400" cap="flat" cmpd="sng" algn="ctr">
              <a:solidFill>
                <a:srgbClr val="D9DA56">
                  <a:shade val="50000"/>
                </a:srgbClr>
              </a:solidFill>
              <a:prstDash val="solid"/>
            </a:ln>
            <a:effectLst/>
          </p:spPr>
          <p:txBody>
            <a:bodyPr rtlCol="0" anchor="ctr"/>
            <a:lstStyle/>
            <a:p>
              <a:pPr algn="ctr" defTabSz="914400" fontAlgn="base">
                <a:spcBef>
                  <a:spcPct val="0"/>
                </a:spcBef>
                <a:spcAft>
                  <a:spcPct val="0"/>
                </a:spcAft>
                <a:defRPr/>
              </a:pPr>
              <a:r>
                <a:rPr lang="en-US" sz="1200" b="1" kern="0" dirty="0">
                  <a:solidFill>
                    <a:sysClr val="windowText" lastClr="000000"/>
                  </a:solidFill>
                  <a:latin typeface="Arial"/>
                </a:rPr>
                <a:t>+</a:t>
              </a:r>
            </a:p>
          </p:txBody>
        </p:sp>
        <p:sp>
          <p:nvSpPr>
            <p:cNvPr id="119" name="Rectangle 118">
              <a:extLst>
                <a:ext uri="{FF2B5EF4-FFF2-40B4-BE49-F238E27FC236}">
                  <a16:creationId xmlns:a16="http://schemas.microsoft.com/office/drawing/2014/main" id="{4EFF22E8-35B8-41FD-97BC-70ADB51EE454}"/>
                </a:ext>
              </a:extLst>
            </p:cNvPr>
            <p:cNvSpPr/>
            <p:nvPr/>
          </p:nvSpPr>
          <p:spPr>
            <a:xfrm>
              <a:off x="7029920" y="3889860"/>
              <a:ext cx="385855" cy="192025"/>
            </a:xfrm>
            <a:prstGeom prst="rect">
              <a:avLst/>
            </a:prstGeom>
            <a:solidFill>
              <a:srgbClr val="D9DA56"/>
            </a:solidFill>
            <a:ln w="25400" cap="flat" cmpd="sng" algn="ctr">
              <a:solidFill>
                <a:srgbClr val="D9DA56">
                  <a:shade val="50000"/>
                </a:srgbClr>
              </a:solidFill>
              <a:prstDash val="solid"/>
            </a:ln>
            <a:effectLst/>
          </p:spPr>
          <p:txBody>
            <a:bodyPr rtlCol="0" anchor="ctr"/>
            <a:lstStyle/>
            <a:p>
              <a:pPr algn="ctr" defTabSz="914400" fontAlgn="base">
                <a:spcBef>
                  <a:spcPct val="0"/>
                </a:spcBef>
                <a:spcAft>
                  <a:spcPct val="0"/>
                </a:spcAft>
                <a:defRPr/>
              </a:pPr>
              <a:r>
                <a:rPr lang="en-US" sz="1200" b="1" kern="0" dirty="0">
                  <a:solidFill>
                    <a:sysClr val="windowText" lastClr="000000"/>
                  </a:solidFill>
                  <a:latin typeface="Arial"/>
                </a:rPr>
                <a:t>==</a:t>
              </a:r>
            </a:p>
          </p:txBody>
        </p:sp>
        <p:sp>
          <p:nvSpPr>
            <p:cNvPr id="120" name="Rectangle 119">
              <a:extLst>
                <a:ext uri="{FF2B5EF4-FFF2-40B4-BE49-F238E27FC236}">
                  <a16:creationId xmlns:a16="http://schemas.microsoft.com/office/drawing/2014/main" id="{B01B78AE-C41B-40C7-9372-0728827FBF92}"/>
                </a:ext>
              </a:extLst>
            </p:cNvPr>
            <p:cNvSpPr/>
            <p:nvPr/>
          </p:nvSpPr>
          <p:spPr>
            <a:xfrm>
              <a:off x="7452375" y="4158695"/>
              <a:ext cx="385855" cy="192025"/>
            </a:xfrm>
            <a:prstGeom prst="rect">
              <a:avLst/>
            </a:prstGeom>
            <a:solidFill>
              <a:srgbClr val="D9DA56"/>
            </a:solidFill>
            <a:ln w="25400" cap="flat" cmpd="sng" algn="ctr">
              <a:solidFill>
                <a:srgbClr val="D9DA56">
                  <a:shade val="50000"/>
                </a:srgbClr>
              </a:solidFill>
              <a:prstDash val="solid"/>
            </a:ln>
            <a:effectLst/>
          </p:spPr>
          <p:txBody>
            <a:bodyPr rtlCol="0" anchor="ctr"/>
            <a:lstStyle/>
            <a:p>
              <a:pPr algn="ctr" defTabSz="914400" fontAlgn="base">
                <a:spcBef>
                  <a:spcPct val="0"/>
                </a:spcBef>
                <a:spcAft>
                  <a:spcPct val="0"/>
                </a:spcAft>
                <a:defRPr/>
              </a:pPr>
              <a:r>
                <a:rPr lang="en-US" sz="1200" b="1" kern="0" dirty="0">
                  <a:solidFill>
                    <a:sysClr val="windowText" lastClr="000000"/>
                  </a:solidFill>
                  <a:latin typeface="Arial"/>
                </a:rPr>
                <a:t>*</a:t>
              </a:r>
            </a:p>
          </p:txBody>
        </p:sp>
        <p:sp>
          <p:nvSpPr>
            <p:cNvPr id="121" name="Rectangle 120">
              <a:extLst>
                <a:ext uri="{FF2B5EF4-FFF2-40B4-BE49-F238E27FC236}">
                  <a16:creationId xmlns:a16="http://schemas.microsoft.com/office/drawing/2014/main" id="{2005ED42-65CC-4F20-BA8F-9800A0A1C69B}"/>
                </a:ext>
              </a:extLst>
            </p:cNvPr>
            <p:cNvSpPr/>
            <p:nvPr/>
          </p:nvSpPr>
          <p:spPr>
            <a:xfrm>
              <a:off x="7029920" y="4427530"/>
              <a:ext cx="385855" cy="192025"/>
            </a:xfrm>
            <a:prstGeom prst="rect">
              <a:avLst/>
            </a:prstGeom>
            <a:solidFill>
              <a:srgbClr val="D9DA56"/>
            </a:solidFill>
            <a:ln w="25400" cap="flat" cmpd="sng" algn="ctr">
              <a:solidFill>
                <a:srgbClr val="D9DA56">
                  <a:shade val="50000"/>
                </a:srgbClr>
              </a:solidFill>
              <a:prstDash val="solid"/>
            </a:ln>
            <a:effectLst/>
          </p:spPr>
          <p:txBody>
            <a:bodyPr rtlCol="0" anchor="ctr"/>
            <a:lstStyle/>
            <a:p>
              <a:pPr algn="ctr" defTabSz="914400" fontAlgn="base">
                <a:spcBef>
                  <a:spcPct val="0"/>
                </a:spcBef>
                <a:spcAft>
                  <a:spcPct val="0"/>
                </a:spcAft>
                <a:defRPr/>
              </a:pPr>
              <a:r>
                <a:rPr lang="en-US" sz="1200" b="1" kern="0" dirty="0">
                  <a:solidFill>
                    <a:sysClr val="windowText" lastClr="000000"/>
                  </a:solidFill>
                  <a:latin typeface="Arial"/>
                </a:rPr>
                <a:t>+</a:t>
              </a:r>
            </a:p>
          </p:txBody>
        </p:sp>
        <p:sp>
          <p:nvSpPr>
            <p:cNvPr id="122" name="Rectangle 121">
              <a:extLst>
                <a:ext uri="{FF2B5EF4-FFF2-40B4-BE49-F238E27FC236}">
                  <a16:creationId xmlns:a16="http://schemas.microsoft.com/office/drawing/2014/main" id="{C6A6FDD0-7976-4638-B62E-97B0DE711C5B}"/>
                </a:ext>
              </a:extLst>
            </p:cNvPr>
            <p:cNvSpPr/>
            <p:nvPr/>
          </p:nvSpPr>
          <p:spPr>
            <a:xfrm>
              <a:off x="7452375" y="4427530"/>
              <a:ext cx="385855" cy="192025"/>
            </a:xfrm>
            <a:prstGeom prst="rect">
              <a:avLst/>
            </a:prstGeom>
            <a:solidFill>
              <a:srgbClr val="D9DA56"/>
            </a:solidFill>
            <a:ln w="25400" cap="flat" cmpd="sng" algn="ctr">
              <a:solidFill>
                <a:srgbClr val="D9DA56">
                  <a:shade val="50000"/>
                </a:srgbClr>
              </a:solidFill>
              <a:prstDash val="solid"/>
            </a:ln>
            <a:effectLst/>
          </p:spPr>
          <p:txBody>
            <a:bodyPr rtlCol="0" anchor="ctr"/>
            <a:lstStyle/>
            <a:p>
              <a:pPr algn="ctr" defTabSz="914400" fontAlgn="base">
                <a:spcBef>
                  <a:spcPct val="0"/>
                </a:spcBef>
                <a:spcAft>
                  <a:spcPct val="0"/>
                </a:spcAft>
                <a:defRPr/>
              </a:pPr>
              <a:r>
                <a:rPr lang="en-US" sz="1200" b="1" kern="0" dirty="0">
                  <a:solidFill>
                    <a:sysClr val="windowText" lastClr="000000"/>
                  </a:solidFill>
                  <a:latin typeface="Arial"/>
                </a:rPr>
                <a:t>*</a:t>
              </a:r>
            </a:p>
          </p:txBody>
        </p:sp>
        <p:sp>
          <p:nvSpPr>
            <p:cNvPr id="123" name="Rectangle 122">
              <a:extLst>
                <a:ext uri="{FF2B5EF4-FFF2-40B4-BE49-F238E27FC236}">
                  <a16:creationId xmlns:a16="http://schemas.microsoft.com/office/drawing/2014/main" id="{3993F229-9D6A-4E9A-9C6C-C5E2EE3EAB14}"/>
                </a:ext>
              </a:extLst>
            </p:cNvPr>
            <p:cNvSpPr/>
            <p:nvPr/>
          </p:nvSpPr>
          <p:spPr>
            <a:xfrm>
              <a:off x="7183540" y="5195629"/>
              <a:ext cx="460860" cy="230431"/>
            </a:xfrm>
            <a:prstGeom prst="rect">
              <a:avLst/>
            </a:prstGeom>
            <a:solidFill>
              <a:srgbClr val="D9DA56"/>
            </a:solidFill>
            <a:ln w="25400" cap="flat" cmpd="sng" algn="ctr">
              <a:solidFill>
                <a:srgbClr val="D9DA56">
                  <a:shade val="50000"/>
                </a:srgbClr>
              </a:solidFill>
              <a:prstDash val="solid"/>
            </a:ln>
            <a:effectLst/>
          </p:spPr>
          <p:txBody>
            <a:bodyPr rtlCol="0" anchor="ctr"/>
            <a:lstStyle/>
            <a:p>
              <a:pPr algn="ctr" defTabSz="914400" fontAlgn="base">
                <a:spcBef>
                  <a:spcPct val="0"/>
                </a:spcBef>
                <a:spcAft>
                  <a:spcPct val="0"/>
                </a:spcAft>
                <a:defRPr/>
              </a:pPr>
              <a:r>
                <a:rPr lang="en-US" sz="800" b="1" kern="0" dirty="0" err="1">
                  <a:solidFill>
                    <a:sysClr val="windowText" lastClr="000000"/>
                  </a:solidFill>
                  <a:latin typeface="Arial"/>
                </a:rPr>
                <a:t>WRy</a:t>
              </a:r>
              <a:endParaRPr lang="en-US" sz="800" b="1" kern="0" dirty="0">
                <a:solidFill>
                  <a:sysClr val="windowText" lastClr="000000"/>
                </a:solidFill>
                <a:latin typeface="Arial"/>
              </a:endParaRPr>
            </a:p>
          </p:txBody>
        </p:sp>
        <p:sp>
          <p:nvSpPr>
            <p:cNvPr id="124" name="Rectangle 123">
              <a:extLst>
                <a:ext uri="{FF2B5EF4-FFF2-40B4-BE49-F238E27FC236}">
                  <a16:creationId xmlns:a16="http://schemas.microsoft.com/office/drawing/2014/main" id="{BE1B3233-821E-4ACC-8710-B9BA335B38F8}"/>
                </a:ext>
              </a:extLst>
            </p:cNvPr>
            <p:cNvSpPr/>
            <p:nvPr/>
          </p:nvSpPr>
          <p:spPr>
            <a:xfrm>
              <a:off x="7450570" y="3659430"/>
              <a:ext cx="385855" cy="192025"/>
            </a:xfrm>
            <a:prstGeom prst="rect">
              <a:avLst/>
            </a:prstGeom>
            <a:solidFill>
              <a:srgbClr val="D9DA56"/>
            </a:solidFill>
            <a:ln w="25400" cap="flat" cmpd="sng" algn="ctr">
              <a:solidFill>
                <a:srgbClr val="D9DA56">
                  <a:shade val="50000"/>
                </a:srgbClr>
              </a:solidFill>
              <a:prstDash val="solid"/>
            </a:ln>
            <a:effectLst/>
          </p:spPr>
          <p:txBody>
            <a:bodyPr rtlCol="0" anchor="ctr"/>
            <a:lstStyle/>
            <a:p>
              <a:pPr algn="ctr" defTabSz="914400" fontAlgn="base">
                <a:spcBef>
                  <a:spcPct val="0"/>
                </a:spcBef>
                <a:spcAft>
                  <a:spcPct val="0"/>
                </a:spcAft>
                <a:defRPr/>
              </a:pPr>
              <a:r>
                <a:rPr lang="en-US" sz="1200" b="1" kern="0" dirty="0">
                  <a:solidFill>
                    <a:sysClr val="windowText" lastClr="000000"/>
                  </a:solidFill>
                  <a:latin typeface="Arial"/>
                </a:rPr>
                <a:t>-</a:t>
              </a:r>
            </a:p>
          </p:txBody>
        </p:sp>
        <p:sp>
          <p:nvSpPr>
            <p:cNvPr id="125" name="Rectangle 124">
              <a:extLst>
                <a:ext uri="{FF2B5EF4-FFF2-40B4-BE49-F238E27FC236}">
                  <a16:creationId xmlns:a16="http://schemas.microsoft.com/office/drawing/2014/main" id="{7B40896B-A400-49D5-8041-EF9C7A1B9B80}"/>
                </a:ext>
              </a:extLst>
            </p:cNvPr>
            <p:cNvSpPr/>
            <p:nvPr/>
          </p:nvSpPr>
          <p:spPr>
            <a:xfrm>
              <a:off x="7029920" y="3429000"/>
              <a:ext cx="385855" cy="192025"/>
            </a:xfrm>
            <a:prstGeom prst="rect">
              <a:avLst/>
            </a:prstGeom>
            <a:solidFill>
              <a:srgbClr val="D9DA56"/>
            </a:solidFill>
            <a:ln w="25400" cap="flat" cmpd="sng" algn="ctr">
              <a:solidFill>
                <a:srgbClr val="D9DA56">
                  <a:shade val="50000"/>
                </a:srgbClr>
              </a:solidFill>
              <a:prstDash val="solid"/>
            </a:ln>
            <a:effectLst/>
          </p:spPr>
          <p:txBody>
            <a:bodyPr rtlCol="0" anchor="ctr"/>
            <a:lstStyle/>
            <a:p>
              <a:pPr algn="ctr" defTabSz="914400" fontAlgn="base">
                <a:spcBef>
                  <a:spcPct val="0"/>
                </a:spcBef>
                <a:spcAft>
                  <a:spcPct val="0"/>
                </a:spcAft>
                <a:defRPr/>
              </a:pPr>
              <a:r>
                <a:rPr lang="en-US" sz="700" b="1" kern="0" dirty="0" err="1">
                  <a:solidFill>
                    <a:sysClr val="windowText" lastClr="000000"/>
                  </a:solidFill>
                  <a:latin typeface="Arial"/>
                </a:rPr>
                <a:t>RDx</a:t>
              </a:r>
              <a:endParaRPr lang="en-US" sz="700" b="1" kern="0" dirty="0">
                <a:solidFill>
                  <a:sysClr val="windowText" lastClr="000000"/>
                </a:solidFill>
                <a:latin typeface="Arial"/>
              </a:endParaRPr>
            </a:p>
          </p:txBody>
        </p:sp>
        <p:sp>
          <p:nvSpPr>
            <p:cNvPr id="126" name="Rectangle 125">
              <a:extLst>
                <a:ext uri="{FF2B5EF4-FFF2-40B4-BE49-F238E27FC236}">
                  <a16:creationId xmlns:a16="http://schemas.microsoft.com/office/drawing/2014/main" id="{17B44F98-4911-47EE-9D62-AF2403483FA1}"/>
                </a:ext>
              </a:extLst>
            </p:cNvPr>
            <p:cNvSpPr/>
            <p:nvPr/>
          </p:nvSpPr>
          <p:spPr>
            <a:xfrm>
              <a:off x="7452375" y="3429000"/>
              <a:ext cx="385855" cy="192025"/>
            </a:xfrm>
            <a:prstGeom prst="rect">
              <a:avLst/>
            </a:prstGeom>
            <a:solidFill>
              <a:srgbClr val="D9DA56"/>
            </a:solidFill>
            <a:ln w="25400" cap="flat" cmpd="sng" algn="ctr">
              <a:solidFill>
                <a:srgbClr val="D9DA56">
                  <a:shade val="50000"/>
                </a:srgbClr>
              </a:solidFill>
              <a:prstDash val="solid"/>
            </a:ln>
            <a:effectLst/>
          </p:spPr>
          <p:txBody>
            <a:bodyPr rtlCol="0" anchor="ctr"/>
            <a:lstStyle/>
            <a:p>
              <a:pPr algn="ctr" defTabSz="914400" fontAlgn="base">
                <a:spcBef>
                  <a:spcPct val="0"/>
                </a:spcBef>
                <a:spcAft>
                  <a:spcPct val="0"/>
                </a:spcAft>
                <a:defRPr/>
              </a:pPr>
              <a:r>
                <a:rPr lang="en-US" sz="700" b="1" kern="0" dirty="0" err="1">
                  <a:solidFill>
                    <a:sysClr val="windowText" lastClr="000000"/>
                  </a:solidFill>
                  <a:latin typeface="Arial"/>
                </a:rPr>
                <a:t>RDc</a:t>
              </a:r>
              <a:endParaRPr lang="en-US" sz="700" b="1" kern="0" dirty="0">
                <a:solidFill>
                  <a:sysClr val="windowText" lastClr="000000"/>
                </a:solidFill>
                <a:latin typeface="Aria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2"/>
                                        </p:tgtEl>
                                        <p:attrNameLst>
                                          <p:attrName>style.visibility</p:attrName>
                                        </p:attrNameLst>
                                      </p:cBhvr>
                                      <p:to>
                                        <p:strVal val="visible"/>
                                      </p:to>
                                    </p:set>
                                    <p:animEffect transition="in" filter="wipe(left)">
                                      <p:cBhvr>
                                        <p:cTn id="7" dur="500"/>
                                        <p:tgtEl>
                                          <p:spTgt spid="8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9"/>
                                        </p:tgtEl>
                                        <p:attrNameLst>
                                          <p:attrName>style.visibility</p:attrName>
                                        </p:attrNameLst>
                                      </p:cBhvr>
                                      <p:to>
                                        <p:strVal val="visible"/>
                                      </p:to>
                                    </p:set>
                                    <p:animEffect transition="in" filter="wipe(left)">
                                      <p:cBhvr>
                                        <p:cTn id="12" dur="500"/>
                                        <p:tgtEl>
                                          <p:spTgt spid="6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4"/>
                                        </p:tgtEl>
                                        <p:attrNameLst>
                                          <p:attrName>style.visibility</p:attrName>
                                        </p:attrNameLst>
                                      </p:cBhvr>
                                      <p:to>
                                        <p:strVal val="visible"/>
                                      </p:to>
                                    </p:set>
                                    <p:animEffect transition="in" filter="wipe(left)">
                                      <p:cBhvr>
                                        <p:cTn id="17" dur="500"/>
                                        <p:tgtEl>
                                          <p:spTgt spid="1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High-Level Synthesis: Scheduling &amp; Binding</a:t>
            </a:r>
          </a:p>
        </p:txBody>
      </p:sp>
      <p:sp>
        <p:nvSpPr>
          <p:cNvPr id="3" name="Content Placeholder 2"/>
          <p:cNvSpPr>
            <a:spLocks noGrp="1"/>
          </p:cNvSpPr>
          <p:nvPr>
            <p:ph idx="1"/>
          </p:nvPr>
        </p:nvSpPr>
        <p:spPr>
          <a:xfrm>
            <a:off x="579119" y="1017653"/>
            <a:ext cx="10515600" cy="4759404"/>
          </a:xfrm>
        </p:spPr>
        <p:txBody>
          <a:bodyPr/>
          <a:lstStyle/>
          <a:p>
            <a:r>
              <a:rPr lang="en-US" dirty="0"/>
              <a:t>Scheduling &amp; Binding</a:t>
            </a:r>
          </a:p>
          <a:p>
            <a:pPr lvl="1"/>
            <a:r>
              <a:rPr lang="en-US" dirty="0"/>
              <a:t>Scheduling and Binding are at the heart of HLS</a:t>
            </a:r>
          </a:p>
          <a:p>
            <a:r>
              <a:rPr lang="en-US" dirty="0"/>
              <a:t>Scheduling determines in which clock cycle an operation will occur</a:t>
            </a:r>
          </a:p>
          <a:p>
            <a:pPr lvl="1"/>
            <a:r>
              <a:rPr lang="en-US" dirty="0"/>
              <a:t>Takes into account the control, dataflow and user directives</a:t>
            </a:r>
          </a:p>
          <a:p>
            <a:pPr lvl="1"/>
            <a:r>
              <a:rPr lang="en-US" dirty="0"/>
              <a:t>The allocation of resources can be constrained</a:t>
            </a:r>
          </a:p>
          <a:p>
            <a:r>
              <a:rPr lang="en-US" dirty="0"/>
              <a:t>Binding determines which library cell is used for each operation</a:t>
            </a:r>
          </a:p>
          <a:p>
            <a:pPr lvl="1"/>
            <a:r>
              <a:rPr lang="en-US" dirty="0"/>
              <a:t>Takes into account component delays, user directives </a:t>
            </a:r>
          </a:p>
        </p:txBody>
      </p:sp>
      <p:sp>
        <p:nvSpPr>
          <p:cNvPr id="4" name="Slide Number Placeholder 3"/>
          <p:cNvSpPr>
            <a:spLocks noGrp="1"/>
          </p:cNvSpPr>
          <p:nvPr>
            <p:ph type="sldNum" sz="quarter" idx="10"/>
          </p:nvPr>
        </p:nvSpPr>
        <p:spPr/>
        <p:txBody>
          <a:bodyPr/>
          <a:lstStyle/>
          <a:p>
            <a:pPr>
              <a:defRPr/>
            </a:pPr>
            <a:r>
              <a:rPr lang="en-US" dirty="0"/>
              <a:t>Intro to HLS 11- </a:t>
            </a:r>
            <a:fld id="{060BD193-E118-4B16-863C-C8C12C675E3E}" type="slidenum">
              <a:rPr lang="en-US" smtClean="0"/>
              <a:pPr>
                <a:defRPr/>
              </a:pPr>
              <a:t>10</a:t>
            </a:fld>
            <a:endParaRPr lang="en-US" dirty="0"/>
          </a:p>
        </p:txBody>
      </p:sp>
      <p:sp>
        <p:nvSpPr>
          <p:cNvPr id="19" name="Rounded Rectangle 5">
            <a:extLst>
              <a:ext uri="{FF2B5EF4-FFF2-40B4-BE49-F238E27FC236}">
                <a16:creationId xmlns:a16="http://schemas.microsoft.com/office/drawing/2014/main" id="{4F583F48-4B80-40DC-9B8F-0972263BD6D1}"/>
              </a:ext>
            </a:extLst>
          </p:cNvPr>
          <p:cNvSpPr/>
          <p:nvPr/>
        </p:nvSpPr>
        <p:spPr bwMode="auto">
          <a:xfrm>
            <a:off x="1283829" y="4291767"/>
            <a:ext cx="1999206" cy="511770"/>
          </a:xfrm>
          <a:prstGeom prst="roundRect">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a:noFill/>
            <a:headEnd type="none" w="med" len="med"/>
            <a:tailEnd type="none" w="med" len="med"/>
          </a:ln>
          <a:effectLst/>
          <a:scene3d>
            <a:camera prst="orthographicFront">
              <a:rot lat="0" lon="0" rev="0"/>
            </a:camera>
            <a:lightRig rig="threePt" dir="t">
              <a:rot lat="0" lon="0" rev="1200000"/>
            </a:lightRig>
          </a:scene3d>
          <a:sp3d>
            <a:bevelT w="63500" h="25400"/>
          </a:sp3d>
        </p:spPr>
        <p:txBody>
          <a:bodyPr vert="horz" wrap="none" lIns="91440" tIns="45720" rIns="91440" bIns="45720" numCol="1" rtlCol="0" anchor="ctr" anchorCtr="0" compatLnSpc="1">
            <a:prstTxWarp prst="textNoShape">
              <a:avLst/>
            </a:prstTxWarp>
            <a:normAutofit/>
          </a:bodyPr>
          <a:lstStyle/>
          <a:p>
            <a:pPr algn="ctr" defTabSz="914400" fontAlgn="base">
              <a:spcBef>
                <a:spcPct val="0"/>
              </a:spcBef>
              <a:spcAft>
                <a:spcPct val="0"/>
              </a:spcAft>
              <a:defRPr/>
            </a:pPr>
            <a:r>
              <a:rPr lang="en-US" sz="1400" b="1" kern="0" dirty="0">
                <a:solidFill>
                  <a:prstClr val="black"/>
                </a:solidFill>
                <a:latin typeface="Arial"/>
              </a:rPr>
              <a:t>Design Source</a:t>
            </a:r>
          </a:p>
          <a:p>
            <a:pPr algn="ctr" defTabSz="914400" fontAlgn="base">
              <a:spcBef>
                <a:spcPct val="0"/>
              </a:spcBef>
              <a:spcAft>
                <a:spcPct val="0"/>
              </a:spcAft>
              <a:defRPr/>
            </a:pPr>
            <a:r>
              <a:rPr lang="en-US" sz="1000" b="1" kern="0" dirty="0">
                <a:solidFill>
                  <a:prstClr val="white"/>
                </a:solidFill>
                <a:latin typeface="Arial"/>
              </a:rPr>
              <a:t>(C, C++)</a:t>
            </a:r>
          </a:p>
        </p:txBody>
      </p:sp>
      <p:sp>
        <p:nvSpPr>
          <p:cNvPr id="20" name="Round Diagonal Corner Rectangle 6">
            <a:extLst>
              <a:ext uri="{FF2B5EF4-FFF2-40B4-BE49-F238E27FC236}">
                <a16:creationId xmlns:a16="http://schemas.microsoft.com/office/drawing/2014/main" id="{06AC05DF-7130-49F6-B110-672DB14EC3FC}"/>
              </a:ext>
            </a:extLst>
          </p:cNvPr>
          <p:cNvSpPr/>
          <p:nvPr/>
        </p:nvSpPr>
        <p:spPr bwMode="auto">
          <a:xfrm>
            <a:off x="3386486" y="5020686"/>
            <a:ext cx="1825362" cy="511770"/>
          </a:xfrm>
          <a:prstGeom prst="round2DiagRect">
            <a:avLst>
              <a:gd name="adj1" fmla="val 39000"/>
              <a:gd name="adj2" fmla="val 0"/>
            </a:avLst>
          </a:prstGeom>
          <a:solidFill>
            <a:srgbClr val="EE3424">
              <a:lumMod val="40000"/>
              <a:lumOff val="60000"/>
            </a:srgbClr>
          </a:solidFill>
          <a:ln>
            <a:noFill/>
            <a:headEnd type="none" w="med" len="med"/>
            <a:tailEnd type="none" w="med" len="med"/>
          </a:ln>
          <a:effectLst/>
          <a:scene3d>
            <a:camera prst="orthographicFront">
              <a:rot lat="0" lon="0" rev="0"/>
            </a:camera>
            <a:lightRig rig="threePt" dir="t">
              <a:rot lat="0" lon="0" rev="1200000"/>
            </a:lightRig>
          </a:scene3d>
          <a:sp3d>
            <a:bevelT w="63500" h="25400"/>
          </a:sp3d>
        </p:spPr>
        <p:txBody>
          <a:bodyPr vert="horz" wrap="none" lIns="91440" tIns="45720" rIns="91440" bIns="45720" numCol="1" rtlCol="0" anchor="ctr" anchorCtr="0" compatLnSpc="1">
            <a:prstTxWarp prst="textNoShape">
              <a:avLst/>
            </a:prstTxWarp>
            <a:normAutofit/>
          </a:bodyPr>
          <a:lstStyle/>
          <a:p>
            <a:pPr algn="ctr" defTabSz="914400" fontAlgn="base">
              <a:spcBef>
                <a:spcPct val="0"/>
              </a:spcBef>
              <a:spcAft>
                <a:spcPct val="0"/>
              </a:spcAft>
              <a:defRPr/>
            </a:pPr>
            <a:r>
              <a:rPr lang="en-US" sz="1400" b="1" kern="0" dirty="0">
                <a:solidFill>
                  <a:prstClr val="black"/>
                </a:solidFill>
                <a:latin typeface="Arial"/>
              </a:rPr>
              <a:t>Scheduling</a:t>
            </a:r>
          </a:p>
        </p:txBody>
      </p:sp>
      <p:sp>
        <p:nvSpPr>
          <p:cNvPr id="21" name="Round Diagonal Corner Rectangle 7">
            <a:extLst>
              <a:ext uri="{FF2B5EF4-FFF2-40B4-BE49-F238E27FC236}">
                <a16:creationId xmlns:a16="http://schemas.microsoft.com/office/drawing/2014/main" id="{64B55031-E5A0-458F-81CE-1D998F1B7F00}"/>
              </a:ext>
            </a:extLst>
          </p:cNvPr>
          <p:cNvSpPr/>
          <p:nvPr/>
        </p:nvSpPr>
        <p:spPr bwMode="auto">
          <a:xfrm>
            <a:off x="7124133" y="5020686"/>
            <a:ext cx="1825362" cy="511770"/>
          </a:xfrm>
          <a:prstGeom prst="round2DiagRect">
            <a:avLst>
              <a:gd name="adj1" fmla="val 39000"/>
              <a:gd name="adj2" fmla="val 0"/>
            </a:avLst>
          </a:prstGeom>
          <a:solidFill>
            <a:srgbClr val="EE3424">
              <a:lumMod val="40000"/>
              <a:lumOff val="60000"/>
            </a:srgbClr>
          </a:solidFill>
          <a:ln>
            <a:noFill/>
            <a:headEnd type="none" w="med" len="med"/>
            <a:tailEnd type="none" w="med" len="med"/>
          </a:ln>
          <a:effectLst/>
          <a:scene3d>
            <a:camera prst="orthographicFront">
              <a:rot lat="0" lon="0" rev="0"/>
            </a:camera>
            <a:lightRig rig="threePt" dir="t">
              <a:rot lat="0" lon="0" rev="1200000"/>
            </a:lightRig>
          </a:scene3d>
          <a:sp3d>
            <a:bevelT w="63500" h="25400"/>
          </a:sp3d>
        </p:spPr>
        <p:txBody>
          <a:bodyPr vert="horz" wrap="none" lIns="91440" tIns="45720" rIns="91440" bIns="45720" numCol="1" rtlCol="0" anchor="ctr" anchorCtr="0" compatLnSpc="1">
            <a:prstTxWarp prst="textNoShape">
              <a:avLst/>
            </a:prstTxWarp>
            <a:normAutofit/>
          </a:bodyPr>
          <a:lstStyle/>
          <a:p>
            <a:pPr algn="ctr" defTabSz="914400" fontAlgn="base">
              <a:spcBef>
                <a:spcPct val="0"/>
              </a:spcBef>
              <a:spcAft>
                <a:spcPct val="0"/>
              </a:spcAft>
              <a:defRPr/>
            </a:pPr>
            <a:r>
              <a:rPr lang="en-US" sz="1400" b="1" kern="0" dirty="0">
                <a:solidFill>
                  <a:prstClr val="black"/>
                </a:solidFill>
                <a:latin typeface="Arial"/>
              </a:rPr>
              <a:t>Binding</a:t>
            </a:r>
          </a:p>
        </p:txBody>
      </p:sp>
      <p:sp>
        <p:nvSpPr>
          <p:cNvPr id="22" name="Rounded Rectangle 8">
            <a:extLst>
              <a:ext uri="{FF2B5EF4-FFF2-40B4-BE49-F238E27FC236}">
                <a16:creationId xmlns:a16="http://schemas.microsoft.com/office/drawing/2014/main" id="{B7F1E589-9BD3-4724-9255-D8B37A126C88}"/>
              </a:ext>
            </a:extLst>
          </p:cNvPr>
          <p:cNvSpPr/>
          <p:nvPr/>
        </p:nvSpPr>
        <p:spPr bwMode="auto">
          <a:xfrm>
            <a:off x="9062548" y="5777057"/>
            <a:ext cx="1999206" cy="511770"/>
          </a:xfrm>
          <a:prstGeom prst="roundRect">
            <a:avLst/>
          </a:prstGeom>
          <a:solidFill>
            <a:srgbClr val="EE3424">
              <a:lumMod val="40000"/>
              <a:lumOff val="60000"/>
            </a:srgbClr>
          </a:solidFill>
          <a:ln>
            <a:noFill/>
            <a:headEnd type="none" w="med" len="med"/>
            <a:tailEnd type="none" w="med" len="med"/>
          </a:ln>
          <a:effectLst/>
          <a:scene3d>
            <a:camera prst="orthographicFront">
              <a:rot lat="0" lon="0" rev="0"/>
            </a:camera>
            <a:lightRig rig="threePt" dir="t">
              <a:rot lat="0" lon="0" rev="1200000"/>
            </a:lightRig>
          </a:scene3d>
          <a:sp3d>
            <a:bevelT w="63500" h="25400"/>
          </a:sp3d>
        </p:spPr>
        <p:txBody>
          <a:bodyPr vert="horz" wrap="none" lIns="91440" tIns="45720" rIns="91440" bIns="45720" numCol="1" rtlCol="0" anchor="ctr" anchorCtr="0" compatLnSpc="1">
            <a:prstTxWarp prst="textNoShape">
              <a:avLst/>
            </a:prstTxWarp>
            <a:normAutofit/>
          </a:bodyPr>
          <a:lstStyle/>
          <a:p>
            <a:pPr algn="ctr" defTabSz="914400" fontAlgn="base">
              <a:spcBef>
                <a:spcPct val="0"/>
              </a:spcBef>
              <a:spcAft>
                <a:spcPct val="0"/>
              </a:spcAft>
              <a:defRPr/>
            </a:pPr>
            <a:r>
              <a:rPr lang="en-US" sz="1200" kern="0" dirty="0">
                <a:solidFill>
                  <a:srgbClr val="000000"/>
                </a:solidFill>
                <a:latin typeface="Arial"/>
              </a:rPr>
              <a:t>RTL</a:t>
            </a:r>
          </a:p>
          <a:p>
            <a:pPr algn="ctr" defTabSz="457200" fontAlgn="base">
              <a:spcBef>
                <a:spcPct val="0"/>
              </a:spcBef>
              <a:spcAft>
                <a:spcPct val="0"/>
              </a:spcAft>
              <a:defRPr/>
            </a:pPr>
            <a:r>
              <a:rPr lang="en-US" sz="900" b="1" kern="0" dirty="0">
                <a:solidFill>
                  <a:srgbClr val="000000"/>
                </a:solidFill>
                <a:latin typeface="Arial"/>
              </a:rPr>
              <a:t>(Verilog, VHDL)</a:t>
            </a:r>
          </a:p>
        </p:txBody>
      </p:sp>
      <p:sp>
        <p:nvSpPr>
          <p:cNvPr id="23" name="Bent Arrow 9">
            <a:extLst>
              <a:ext uri="{FF2B5EF4-FFF2-40B4-BE49-F238E27FC236}">
                <a16:creationId xmlns:a16="http://schemas.microsoft.com/office/drawing/2014/main" id="{136AD178-D0A9-41B9-B19F-43A109D9ACB4}"/>
              </a:ext>
            </a:extLst>
          </p:cNvPr>
          <p:cNvSpPr/>
          <p:nvPr/>
        </p:nvSpPr>
        <p:spPr bwMode="auto">
          <a:xfrm flipV="1">
            <a:off x="2517266" y="4868021"/>
            <a:ext cx="782298" cy="600645"/>
          </a:xfrm>
          <a:prstGeom prst="bentArrow">
            <a:avLst/>
          </a:prstGeom>
          <a:solidFill>
            <a:srgbClr val="008CA8">
              <a:lumMod val="60000"/>
              <a:lumOff val="40000"/>
            </a:srgbClr>
          </a:solidFill>
          <a:ln w="9525" cap="flat" cmpd="sng" algn="ctr">
            <a:solidFill>
              <a:srgbClr val="FFFF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rmAutofit/>
          </a:bodyPr>
          <a:lstStyle/>
          <a:p>
            <a:pPr algn="ctr" defTabSz="914400" fontAlgn="base">
              <a:spcBef>
                <a:spcPct val="0"/>
              </a:spcBef>
              <a:spcAft>
                <a:spcPct val="0"/>
              </a:spcAft>
              <a:defRPr/>
            </a:pPr>
            <a:endParaRPr lang="en-US" sz="1000" kern="0">
              <a:solidFill>
                <a:prstClr val="black"/>
              </a:solidFill>
              <a:ea typeface="ＭＳ Ｐゴシック" pitchFamily="34" charset="-128"/>
              <a:cs typeface="Arial" charset="0"/>
            </a:endParaRPr>
          </a:p>
        </p:txBody>
      </p:sp>
      <p:sp>
        <p:nvSpPr>
          <p:cNvPr id="24" name="Bent Arrow 10">
            <a:extLst>
              <a:ext uri="{FF2B5EF4-FFF2-40B4-BE49-F238E27FC236}">
                <a16:creationId xmlns:a16="http://schemas.microsoft.com/office/drawing/2014/main" id="{3638D20D-096F-431D-862C-0EBA8B9070F6}"/>
              </a:ext>
            </a:extLst>
          </p:cNvPr>
          <p:cNvSpPr/>
          <p:nvPr/>
        </p:nvSpPr>
        <p:spPr bwMode="auto">
          <a:xfrm rot="16200000" flipH="1" flipV="1">
            <a:off x="9178422" y="5006927"/>
            <a:ext cx="564123" cy="847887"/>
          </a:xfrm>
          <a:prstGeom prst="bentArrow">
            <a:avLst/>
          </a:prstGeom>
          <a:solidFill>
            <a:srgbClr val="008CA8">
              <a:lumMod val="60000"/>
              <a:lumOff val="40000"/>
            </a:srgbClr>
          </a:solidFill>
          <a:ln w="9525" cap="flat" cmpd="sng" algn="ctr">
            <a:solidFill>
              <a:srgbClr val="FFFF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rmAutofit/>
          </a:bodyPr>
          <a:lstStyle/>
          <a:p>
            <a:pPr algn="ctr" defTabSz="914400" fontAlgn="base">
              <a:spcBef>
                <a:spcPct val="0"/>
              </a:spcBef>
              <a:spcAft>
                <a:spcPct val="0"/>
              </a:spcAft>
              <a:defRPr/>
            </a:pPr>
            <a:endParaRPr lang="en-US" sz="1000" kern="0">
              <a:solidFill>
                <a:prstClr val="black"/>
              </a:solidFill>
              <a:ea typeface="ＭＳ Ｐゴシック" pitchFamily="34" charset="-128"/>
              <a:cs typeface="Arial" charset="0"/>
            </a:endParaRPr>
          </a:p>
        </p:txBody>
      </p:sp>
      <p:sp>
        <p:nvSpPr>
          <p:cNvPr id="25" name="Rounded Rectangle 11">
            <a:extLst>
              <a:ext uri="{FF2B5EF4-FFF2-40B4-BE49-F238E27FC236}">
                <a16:creationId xmlns:a16="http://schemas.microsoft.com/office/drawing/2014/main" id="{D861A51C-7E12-4CC8-AD5B-FE4900E8956F}"/>
              </a:ext>
            </a:extLst>
          </p:cNvPr>
          <p:cNvSpPr/>
          <p:nvPr/>
        </p:nvSpPr>
        <p:spPr bwMode="auto">
          <a:xfrm>
            <a:off x="5559538" y="4253030"/>
            <a:ext cx="1303830" cy="511770"/>
          </a:xfrm>
          <a:prstGeom prst="roundRect">
            <a:avLst/>
          </a:prstGeom>
          <a:gradFill rotWithShape="1">
            <a:gsLst>
              <a:gs pos="0">
                <a:srgbClr val="6D7076">
                  <a:shade val="51000"/>
                  <a:satMod val="130000"/>
                </a:srgbClr>
              </a:gs>
              <a:gs pos="80000">
                <a:srgbClr val="6D7076">
                  <a:shade val="93000"/>
                  <a:satMod val="130000"/>
                </a:srgbClr>
              </a:gs>
              <a:gs pos="100000">
                <a:srgbClr val="6D7076">
                  <a:shade val="94000"/>
                  <a:satMod val="135000"/>
                </a:srgbClr>
              </a:gs>
            </a:gsLst>
            <a:lin ang="16200000" scaled="0"/>
          </a:gradFill>
          <a:ln>
            <a:noFill/>
            <a:headEnd type="none" w="med" len="med"/>
            <a:tailEnd type="none" w="med" len="med"/>
          </a:ln>
          <a:effectLst/>
          <a:scene3d>
            <a:camera prst="orthographicFront">
              <a:rot lat="0" lon="0" rev="0"/>
            </a:camera>
            <a:lightRig rig="threePt" dir="t">
              <a:rot lat="0" lon="0" rev="1200000"/>
            </a:lightRig>
          </a:scene3d>
          <a:sp3d>
            <a:bevelT w="63500" h="25400"/>
          </a:sp3d>
        </p:spPr>
        <p:txBody>
          <a:bodyPr vert="horz" wrap="none" lIns="91440" tIns="45720" rIns="91440" bIns="45720" numCol="1" rtlCol="0" anchor="ctr" anchorCtr="0" compatLnSpc="1">
            <a:prstTxWarp prst="textNoShape">
              <a:avLst/>
            </a:prstTxWarp>
            <a:noAutofit/>
          </a:bodyPr>
          <a:lstStyle/>
          <a:p>
            <a:pPr algn="ctr" defTabSz="914400" fontAlgn="base">
              <a:spcBef>
                <a:spcPct val="0"/>
              </a:spcBef>
              <a:spcAft>
                <a:spcPct val="0"/>
              </a:spcAft>
              <a:defRPr/>
            </a:pPr>
            <a:r>
              <a:rPr lang="en-US" sz="1050" b="1" kern="0" dirty="0">
                <a:solidFill>
                  <a:prstClr val="black"/>
                </a:solidFill>
                <a:latin typeface="Arial"/>
              </a:rPr>
              <a:t>Technology </a:t>
            </a:r>
          </a:p>
          <a:p>
            <a:pPr algn="ctr" defTabSz="914400" fontAlgn="base">
              <a:spcBef>
                <a:spcPct val="0"/>
              </a:spcBef>
              <a:spcAft>
                <a:spcPct val="0"/>
              </a:spcAft>
              <a:defRPr/>
            </a:pPr>
            <a:r>
              <a:rPr lang="en-US" sz="1050" b="1" kern="0" dirty="0">
                <a:solidFill>
                  <a:prstClr val="black"/>
                </a:solidFill>
                <a:latin typeface="Arial"/>
              </a:rPr>
              <a:t>Library</a:t>
            </a:r>
          </a:p>
        </p:txBody>
      </p:sp>
      <p:sp>
        <p:nvSpPr>
          <p:cNvPr id="26" name="Rounded Rectangle 12">
            <a:extLst>
              <a:ext uri="{FF2B5EF4-FFF2-40B4-BE49-F238E27FC236}">
                <a16:creationId xmlns:a16="http://schemas.microsoft.com/office/drawing/2014/main" id="{DB3A6BE2-4D4E-4DFE-A9C2-03B0B84386DD}"/>
              </a:ext>
            </a:extLst>
          </p:cNvPr>
          <p:cNvSpPr/>
          <p:nvPr/>
        </p:nvSpPr>
        <p:spPr bwMode="auto">
          <a:xfrm>
            <a:off x="5559538" y="5852315"/>
            <a:ext cx="1303830" cy="511770"/>
          </a:xfrm>
          <a:prstGeom prst="roundRect">
            <a:avLst/>
          </a:prstGeom>
          <a:gradFill rotWithShape="1">
            <a:gsLst>
              <a:gs pos="0">
                <a:srgbClr val="6D7076">
                  <a:shade val="51000"/>
                  <a:satMod val="130000"/>
                </a:srgbClr>
              </a:gs>
              <a:gs pos="80000">
                <a:srgbClr val="6D7076">
                  <a:shade val="93000"/>
                  <a:satMod val="130000"/>
                </a:srgbClr>
              </a:gs>
              <a:gs pos="100000">
                <a:srgbClr val="6D7076">
                  <a:shade val="94000"/>
                  <a:satMod val="135000"/>
                </a:srgbClr>
              </a:gs>
            </a:gsLst>
            <a:lin ang="16200000" scaled="0"/>
          </a:gradFill>
          <a:ln>
            <a:noFill/>
            <a:headEnd type="none" w="med" len="med"/>
            <a:tailEnd type="none" w="med" len="med"/>
          </a:ln>
          <a:effectLst/>
          <a:scene3d>
            <a:camera prst="orthographicFront">
              <a:rot lat="0" lon="0" rev="0"/>
            </a:camera>
            <a:lightRig rig="threePt" dir="t">
              <a:rot lat="0" lon="0" rev="1200000"/>
            </a:lightRig>
          </a:scene3d>
          <a:sp3d>
            <a:bevelT w="63500" h="25400"/>
          </a:sp3d>
        </p:spPr>
        <p:txBody>
          <a:bodyPr vert="horz" wrap="none" lIns="91440" tIns="45720" rIns="91440" bIns="45720" numCol="1" rtlCol="0" anchor="ctr" anchorCtr="0" compatLnSpc="1">
            <a:prstTxWarp prst="textNoShape">
              <a:avLst/>
            </a:prstTxWarp>
            <a:noAutofit/>
          </a:bodyPr>
          <a:lstStyle/>
          <a:p>
            <a:pPr algn="ctr" defTabSz="914400" fontAlgn="base">
              <a:spcBef>
                <a:spcPct val="0"/>
              </a:spcBef>
              <a:spcAft>
                <a:spcPct val="0"/>
              </a:spcAft>
              <a:defRPr/>
            </a:pPr>
            <a:r>
              <a:rPr lang="en-US" sz="1050" b="1" kern="0" dirty="0">
                <a:solidFill>
                  <a:prstClr val="black"/>
                </a:solidFill>
                <a:latin typeface="Arial"/>
              </a:rPr>
              <a:t>User </a:t>
            </a:r>
          </a:p>
          <a:p>
            <a:pPr algn="ctr" defTabSz="914400" fontAlgn="base">
              <a:spcBef>
                <a:spcPct val="0"/>
              </a:spcBef>
              <a:spcAft>
                <a:spcPct val="0"/>
              </a:spcAft>
              <a:defRPr/>
            </a:pPr>
            <a:r>
              <a:rPr lang="en-US" sz="1050" b="1" kern="0" dirty="0">
                <a:solidFill>
                  <a:prstClr val="black"/>
                </a:solidFill>
                <a:latin typeface="Arial"/>
              </a:rPr>
              <a:t>Directives</a:t>
            </a:r>
          </a:p>
        </p:txBody>
      </p:sp>
      <p:sp>
        <p:nvSpPr>
          <p:cNvPr id="27" name="Bent Arrow 13">
            <a:extLst>
              <a:ext uri="{FF2B5EF4-FFF2-40B4-BE49-F238E27FC236}">
                <a16:creationId xmlns:a16="http://schemas.microsoft.com/office/drawing/2014/main" id="{1EFEE590-D936-4FF9-9F7C-7D973A2E430C}"/>
              </a:ext>
            </a:extLst>
          </p:cNvPr>
          <p:cNvSpPr/>
          <p:nvPr/>
        </p:nvSpPr>
        <p:spPr bwMode="auto">
          <a:xfrm rot="16200000" flipH="1" flipV="1">
            <a:off x="7097149" y="4234325"/>
            <a:ext cx="575743" cy="869219"/>
          </a:xfrm>
          <a:prstGeom prst="bentArrow">
            <a:avLst/>
          </a:prstGeom>
          <a:solidFill>
            <a:srgbClr val="008CA8">
              <a:lumMod val="60000"/>
              <a:lumOff val="40000"/>
            </a:srgbClr>
          </a:solidFill>
          <a:ln w="9525" cap="flat" cmpd="sng" algn="ctr">
            <a:solidFill>
              <a:srgbClr val="FFFF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rmAutofit/>
          </a:bodyPr>
          <a:lstStyle/>
          <a:p>
            <a:pPr algn="ctr" defTabSz="914400" fontAlgn="base">
              <a:spcBef>
                <a:spcPct val="0"/>
              </a:spcBef>
              <a:spcAft>
                <a:spcPct val="0"/>
              </a:spcAft>
              <a:defRPr/>
            </a:pPr>
            <a:endParaRPr lang="en-US" sz="1000" kern="0">
              <a:solidFill>
                <a:prstClr val="black"/>
              </a:solidFill>
              <a:ea typeface="ＭＳ Ｐゴシック" pitchFamily="34" charset="-128"/>
              <a:cs typeface="Arial" charset="0"/>
            </a:endParaRPr>
          </a:p>
        </p:txBody>
      </p:sp>
      <p:sp>
        <p:nvSpPr>
          <p:cNvPr id="28" name="Bent Arrow 14">
            <a:extLst>
              <a:ext uri="{FF2B5EF4-FFF2-40B4-BE49-F238E27FC236}">
                <a16:creationId xmlns:a16="http://schemas.microsoft.com/office/drawing/2014/main" id="{636459BD-538A-4D0E-9395-80DE3DE394E8}"/>
              </a:ext>
            </a:extLst>
          </p:cNvPr>
          <p:cNvSpPr/>
          <p:nvPr/>
        </p:nvSpPr>
        <p:spPr bwMode="auto">
          <a:xfrm rot="5400000" flipV="1">
            <a:off x="4750255" y="4234327"/>
            <a:ext cx="575743" cy="869219"/>
          </a:xfrm>
          <a:prstGeom prst="bentArrow">
            <a:avLst/>
          </a:prstGeom>
          <a:solidFill>
            <a:srgbClr val="008CA8">
              <a:lumMod val="60000"/>
              <a:lumOff val="40000"/>
            </a:srgbClr>
          </a:solidFill>
          <a:ln w="9525" cap="flat" cmpd="sng" algn="ctr">
            <a:solidFill>
              <a:srgbClr val="FFFF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rmAutofit/>
          </a:bodyPr>
          <a:lstStyle/>
          <a:p>
            <a:pPr algn="ctr" defTabSz="914400" fontAlgn="base">
              <a:spcBef>
                <a:spcPct val="0"/>
              </a:spcBef>
              <a:spcAft>
                <a:spcPct val="0"/>
              </a:spcAft>
              <a:defRPr/>
            </a:pPr>
            <a:endParaRPr lang="en-US" sz="1000" kern="0">
              <a:solidFill>
                <a:prstClr val="black"/>
              </a:solidFill>
              <a:ea typeface="ＭＳ Ｐゴシック" pitchFamily="34" charset="-128"/>
              <a:cs typeface="Arial" charset="0"/>
            </a:endParaRPr>
          </a:p>
        </p:txBody>
      </p:sp>
      <p:sp>
        <p:nvSpPr>
          <p:cNvPr id="29" name="Bent Arrow 15">
            <a:extLst>
              <a:ext uri="{FF2B5EF4-FFF2-40B4-BE49-F238E27FC236}">
                <a16:creationId xmlns:a16="http://schemas.microsoft.com/office/drawing/2014/main" id="{5E0DDBA6-8B93-43ED-90EA-709E7895AE6E}"/>
              </a:ext>
            </a:extLst>
          </p:cNvPr>
          <p:cNvSpPr/>
          <p:nvPr/>
        </p:nvSpPr>
        <p:spPr bwMode="auto">
          <a:xfrm rot="5400000" flipH="1">
            <a:off x="7097150" y="5385811"/>
            <a:ext cx="575743" cy="869219"/>
          </a:xfrm>
          <a:prstGeom prst="bentArrow">
            <a:avLst/>
          </a:prstGeom>
          <a:solidFill>
            <a:srgbClr val="008CA8">
              <a:lumMod val="60000"/>
              <a:lumOff val="40000"/>
            </a:srgbClr>
          </a:solidFill>
          <a:ln w="9525" cap="flat" cmpd="sng" algn="ctr">
            <a:solidFill>
              <a:srgbClr val="FFFF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rmAutofit/>
          </a:bodyPr>
          <a:lstStyle/>
          <a:p>
            <a:pPr algn="ctr" defTabSz="914400" fontAlgn="base">
              <a:spcBef>
                <a:spcPct val="0"/>
              </a:spcBef>
              <a:spcAft>
                <a:spcPct val="0"/>
              </a:spcAft>
              <a:defRPr/>
            </a:pPr>
            <a:endParaRPr lang="en-US" sz="1000" kern="0">
              <a:solidFill>
                <a:prstClr val="black"/>
              </a:solidFill>
              <a:ea typeface="ＭＳ Ｐゴシック" pitchFamily="34" charset="-128"/>
              <a:cs typeface="Arial" charset="0"/>
            </a:endParaRPr>
          </a:p>
        </p:txBody>
      </p:sp>
      <p:sp>
        <p:nvSpPr>
          <p:cNvPr id="30" name="Bent Arrow 16">
            <a:extLst>
              <a:ext uri="{FF2B5EF4-FFF2-40B4-BE49-F238E27FC236}">
                <a16:creationId xmlns:a16="http://schemas.microsoft.com/office/drawing/2014/main" id="{EB92D312-CF20-41CF-8E29-B55C774195F5}"/>
              </a:ext>
            </a:extLst>
          </p:cNvPr>
          <p:cNvSpPr/>
          <p:nvPr/>
        </p:nvSpPr>
        <p:spPr bwMode="auto">
          <a:xfrm rot="16200000">
            <a:off x="4750256" y="5385813"/>
            <a:ext cx="575743" cy="869219"/>
          </a:xfrm>
          <a:prstGeom prst="bentArrow">
            <a:avLst/>
          </a:prstGeom>
          <a:solidFill>
            <a:srgbClr val="008CA8">
              <a:lumMod val="60000"/>
              <a:lumOff val="40000"/>
            </a:srgbClr>
          </a:solidFill>
          <a:ln w="9525" cap="flat" cmpd="sng" algn="ctr">
            <a:solidFill>
              <a:srgbClr val="FFFF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rmAutofit/>
          </a:bodyPr>
          <a:lstStyle/>
          <a:p>
            <a:pPr algn="ctr" defTabSz="914400" fontAlgn="base">
              <a:spcBef>
                <a:spcPct val="0"/>
              </a:spcBef>
              <a:spcAft>
                <a:spcPct val="0"/>
              </a:spcAft>
              <a:defRPr/>
            </a:pPr>
            <a:endParaRPr lang="en-US" sz="1000" kern="0">
              <a:solidFill>
                <a:prstClr val="black"/>
              </a:solidFill>
              <a:ea typeface="ＭＳ Ｐゴシック" pitchFamily="34" charset="-128"/>
              <a:cs typeface="Arial" charset="0"/>
            </a:endParaRPr>
          </a:p>
        </p:txBody>
      </p:sp>
      <p:sp>
        <p:nvSpPr>
          <p:cNvPr id="31" name="Right Arrow 17">
            <a:extLst>
              <a:ext uri="{FF2B5EF4-FFF2-40B4-BE49-F238E27FC236}">
                <a16:creationId xmlns:a16="http://schemas.microsoft.com/office/drawing/2014/main" id="{77091AFA-90D7-4631-9C98-CF9833D78049}"/>
              </a:ext>
            </a:extLst>
          </p:cNvPr>
          <p:cNvSpPr/>
          <p:nvPr/>
        </p:nvSpPr>
        <p:spPr bwMode="auto">
          <a:xfrm>
            <a:off x="5385695" y="5020869"/>
            <a:ext cx="1564598" cy="383829"/>
          </a:xfrm>
          <a:prstGeom prst="rightArrow">
            <a:avLst/>
          </a:prstGeom>
          <a:solidFill>
            <a:srgbClr val="008CA8">
              <a:lumMod val="60000"/>
              <a:lumOff val="40000"/>
            </a:srgbClr>
          </a:solidFill>
          <a:ln w="9525" cap="flat" cmpd="sng" algn="ctr">
            <a:solidFill>
              <a:srgbClr val="FFFF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normAutofit/>
          </a:bodyPr>
          <a:lstStyle/>
          <a:p>
            <a:pPr algn="ctr" defTabSz="914400" fontAlgn="base">
              <a:spcBef>
                <a:spcPct val="0"/>
              </a:spcBef>
              <a:spcAft>
                <a:spcPct val="0"/>
              </a:spcAft>
              <a:defRPr/>
            </a:pPr>
            <a:endParaRPr lang="en-US" sz="100" kern="0">
              <a:solidFill>
                <a:prstClr val="black"/>
              </a:solidFill>
              <a:ea typeface="ＭＳ Ｐゴシック" pitchFamily="34" charset="-128"/>
              <a:cs typeface="Arial"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Scheduling</a:t>
            </a:r>
          </a:p>
        </p:txBody>
      </p:sp>
      <p:sp>
        <p:nvSpPr>
          <p:cNvPr id="3" name="Content Placeholder 2"/>
          <p:cNvSpPr>
            <a:spLocks noGrp="1"/>
          </p:cNvSpPr>
          <p:nvPr>
            <p:ph idx="1"/>
          </p:nvPr>
        </p:nvSpPr>
        <p:spPr>
          <a:xfrm>
            <a:off x="649119" y="1349845"/>
            <a:ext cx="10512862" cy="4759404"/>
          </a:xfrm>
        </p:spPr>
        <p:txBody>
          <a:bodyPr>
            <a:normAutofit fontScale="85000" lnSpcReduction="20000"/>
          </a:bodyPr>
          <a:lstStyle/>
          <a:p>
            <a:r>
              <a:rPr lang="en-US" sz="2200" dirty="0"/>
              <a:t>The operations in the control flow graph are mapped into clock cycles</a:t>
            </a:r>
          </a:p>
          <a:p>
            <a:pPr lvl="1"/>
            <a:endParaRPr lang="en-US" dirty="0"/>
          </a:p>
          <a:p>
            <a:pPr lvl="1"/>
            <a:endParaRPr lang="en-US" sz="1900" dirty="0"/>
          </a:p>
          <a:p>
            <a:pPr lvl="1"/>
            <a:endParaRPr lang="en-US" sz="1900" dirty="0"/>
          </a:p>
          <a:p>
            <a:pPr lvl="1"/>
            <a:endParaRPr lang="en-US" sz="1900" dirty="0"/>
          </a:p>
          <a:p>
            <a:pPr lvl="1"/>
            <a:endParaRPr lang="en-US" sz="1900" dirty="0"/>
          </a:p>
          <a:p>
            <a:pPr lvl="1"/>
            <a:endParaRPr lang="en-US" sz="1900" dirty="0"/>
          </a:p>
          <a:p>
            <a:pPr>
              <a:buNone/>
            </a:pPr>
            <a:br>
              <a:rPr lang="en-US" sz="1900" dirty="0"/>
            </a:br>
            <a:endParaRPr lang="en-US" sz="1900" dirty="0"/>
          </a:p>
          <a:p>
            <a:r>
              <a:rPr lang="en-US" sz="2200" dirty="0"/>
              <a:t>The technology and user constraints impact the schedule</a:t>
            </a:r>
          </a:p>
          <a:p>
            <a:pPr lvl="1"/>
            <a:r>
              <a:rPr lang="en-US" sz="1900" dirty="0"/>
              <a:t>A faster technology (or slower clock) may allow more operations to occur in the same clock cycle </a:t>
            </a:r>
          </a:p>
          <a:p>
            <a:pPr lvl="1"/>
            <a:endParaRPr lang="en-US" sz="1900" dirty="0"/>
          </a:p>
          <a:p>
            <a:pPr lvl="1"/>
            <a:endParaRPr lang="en-US" dirty="0"/>
          </a:p>
          <a:p>
            <a:pPr lvl="1"/>
            <a:endParaRPr lang="en-US" dirty="0"/>
          </a:p>
          <a:p>
            <a:r>
              <a:rPr lang="en-US" sz="2200" dirty="0"/>
              <a:t>The code also impacts the schedule</a:t>
            </a:r>
          </a:p>
          <a:p>
            <a:pPr lvl="1"/>
            <a:r>
              <a:rPr lang="en-US" sz="1900" dirty="0"/>
              <a:t>Code implications and data dependencies must be obeyed</a:t>
            </a:r>
            <a:endParaRPr lang="en-US" sz="1700" dirty="0"/>
          </a:p>
        </p:txBody>
      </p:sp>
      <p:sp>
        <p:nvSpPr>
          <p:cNvPr id="4" name="Slide Number Placeholder 3"/>
          <p:cNvSpPr>
            <a:spLocks noGrp="1"/>
          </p:cNvSpPr>
          <p:nvPr>
            <p:ph type="sldNum" sz="quarter" idx="10"/>
          </p:nvPr>
        </p:nvSpPr>
        <p:spPr/>
        <p:txBody>
          <a:bodyPr/>
          <a:lstStyle/>
          <a:p>
            <a:pPr>
              <a:defRPr/>
            </a:pPr>
            <a:r>
              <a:rPr lang="en-US" dirty="0"/>
              <a:t>Intro to HLS 11- </a:t>
            </a:r>
            <a:fld id="{060BD193-E118-4B16-863C-C8C12C675E3E}" type="slidenum">
              <a:rPr lang="en-US" smtClean="0"/>
              <a:pPr>
                <a:defRPr/>
              </a:pPr>
              <a:t>11</a:t>
            </a:fld>
            <a:endParaRPr lang="en-US" dirty="0"/>
          </a:p>
        </p:txBody>
      </p:sp>
      <p:sp>
        <p:nvSpPr>
          <p:cNvPr id="67" name="TextBox 66">
            <a:extLst>
              <a:ext uri="{FF2B5EF4-FFF2-40B4-BE49-F238E27FC236}">
                <a16:creationId xmlns:a16="http://schemas.microsoft.com/office/drawing/2014/main" id="{2BFC8364-0762-429A-B5F4-AD799B572957}"/>
              </a:ext>
            </a:extLst>
          </p:cNvPr>
          <p:cNvSpPr txBox="1"/>
          <p:nvPr/>
        </p:nvSpPr>
        <p:spPr>
          <a:xfrm>
            <a:off x="2410081" y="1655854"/>
            <a:ext cx="1689380" cy="1384995"/>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p:spPr>
        <p:txBody>
          <a:bodyPr wrap="square" rtlCol="0">
            <a:spAutoFit/>
          </a:bodyPr>
          <a:lstStyle/>
          <a:p>
            <a:pPr defTabSz="457200" fontAlgn="base">
              <a:spcBef>
                <a:spcPct val="0"/>
              </a:spcBef>
              <a:spcAft>
                <a:spcPct val="0"/>
              </a:spcAft>
              <a:defRPr/>
            </a:pPr>
            <a:r>
              <a:rPr lang="en-US" sz="1200" kern="0" dirty="0">
                <a:solidFill>
                  <a:prstClr val="black"/>
                </a:solidFill>
                <a:latin typeface="Arial"/>
              </a:rPr>
              <a:t>void </a:t>
            </a:r>
            <a:r>
              <a:rPr lang="en-US" sz="1200" kern="0" dirty="0" err="1">
                <a:solidFill>
                  <a:prstClr val="black"/>
                </a:solidFill>
                <a:latin typeface="Arial"/>
              </a:rPr>
              <a:t>foo</a:t>
            </a:r>
            <a:r>
              <a:rPr lang="en-US" sz="1200" kern="0" dirty="0">
                <a:solidFill>
                  <a:prstClr val="black"/>
                </a:solidFill>
                <a:latin typeface="Arial"/>
              </a:rPr>
              <a:t> (</a:t>
            </a:r>
          </a:p>
          <a:p>
            <a:pPr defTabSz="457200" fontAlgn="base">
              <a:spcBef>
                <a:spcPct val="0"/>
              </a:spcBef>
              <a:spcAft>
                <a:spcPct val="0"/>
              </a:spcAft>
              <a:defRPr/>
            </a:pPr>
            <a:r>
              <a:rPr lang="en-US" sz="1200" kern="0" dirty="0">
                <a:solidFill>
                  <a:prstClr val="black"/>
                </a:solidFill>
                <a:latin typeface="Arial"/>
              </a:rPr>
              <a:t> …</a:t>
            </a:r>
          </a:p>
          <a:p>
            <a:pPr defTabSz="457200" fontAlgn="base">
              <a:spcBef>
                <a:spcPct val="0"/>
              </a:spcBef>
              <a:spcAft>
                <a:spcPct val="0"/>
              </a:spcAft>
              <a:defRPr/>
            </a:pPr>
            <a:r>
              <a:rPr lang="en-US" sz="1200" kern="0" dirty="0">
                <a:solidFill>
                  <a:prstClr val="black"/>
                </a:solidFill>
                <a:latin typeface="Arial"/>
              </a:rPr>
              <a:t>  t1 = a * b;</a:t>
            </a:r>
          </a:p>
          <a:p>
            <a:pPr defTabSz="457200" fontAlgn="base">
              <a:spcBef>
                <a:spcPct val="0"/>
              </a:spcBef>
              <a:spcAft>
                <a:spcPct val="0"/>
              </a:spcAft>
              <a:defRPr/>
            </a:pPr>
            <a:r>
              <a:rPr lang="en-US" sz="1200" kern="0" dirty="0">
                <a:solidFill>
                  <a:prstClr val="black"/>
                </a:solidFill>
                <a:latin typeface="Arial"/>
              </a:rPr>
              <a:t>  t2 = c + t1;</a:t>
            </a:r>
          </a:p>
          <a:p>
            <a:pPr defTabSz="457200" fontAlgn="base">
              <a:spcBef>
                <a:spcPct val="0"/>
              </a:spcBef>
              <a:spcAft>
                <a:spcPct val="0"/>
              </a:spcAft>
              <a:defRPr/>
            </a:pPr>
            <a:r>
              <a:rPr lang="en-US" sz="1200" kern="0" dirty="0">
                <a:solidFill>
                  <a:prstClr val="black"/>
                </a:solidFill>
                <a:latin typeface="Arial"/>
              </a:rPr>
              <a:t>  t3 = d * t2;</a:t>
            </a:r>
          </a:p>
          <a:p>
            <a:pPr defTabSz="457200" fontAlgn="base">
              <a:spcBef>
                <a:spcPct val="0"/>
              </a:spcBef>
              <a:spcAft>
                <a:spcPct val="0"/>
              </a:spcAft>
              <a:defRPr/>
            </a:pPr>
            <a:r>
              <a:rPr lang="en-US" sz="1200" kern="0" dirty="0">
                <a:solidFill>
                  <a:prstClr val="black"/>
                </a:solidFill>
                <a:latin typeface="Arial"/>
              </a:rPr>
              <a:t>  out = t3 – e; </a:t>
            </a:r>
          </a:p>
          <a:p>
            <a:pPr defTabSz="457200" fontAlgn="base">
              <a:spcBef>
                <a:spcPct val="0"/>
              </a:spcBef>
              <a:spcAft>
                <a:spcPct val="0"/>
              </a:spcAft>
              <a:defRPr/>
            </a:pPr>
            <a:r>
              <a:rPr lang="en-US" sz="1200" kern="0" dirty="0">
                <a:solidFill>
                  <a:prstClr val="black"/>
                </a:solidFill>
                <a:latin typeface="Arial"/>
              </a:rPr>
              <a:t>}</a:t>
            </a:r>
          </a:p>
        </p:txBody>
      </p:sp>
      <p:sp>
        <p:nvSpPr>
          <p:cNvPr id="68" name="Rectangle 67">
            <a:extLst>
              <a:ext uri="{FF2B5EF4-FFF2-40B4-BE49-F238E27FC236}">
                <a16:creationId xmlns:a16="http://schemas.microsoft.com/office/drawing/2014/main" id="{020B7E1B-672F-4119-8B84-5837E6053BAC}"/>
              </a:ext>
            </a:extLst>
          </p:cNvPr>
          <p:cNvSpPr/>
          <p:nvPr/>
        </p:nvSpPr>
        <p:spPr>
          <a:xfrm>
            <a:off x="6861618" y="2116714"/>
            <a:ext cx="514339" cy="192025"/>
          </a:xfrm>
          <a:prstGeom prst="rect">
            <a:avLst/>
          </a:prstGeom>
          <a:solidFill>
            <a:srgbClr val="91B8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200" b="1" kern="0" dirty="0">
                <a:solidFill>
                  <a:sysClr val="windowText" lastClr="000000"/>
                </a:solidFill>
                <a:latin typeface="Arial"/>
              </a:rPr>
              <a:t>+</a:t>
            </a:r>
          </a:p>
        </p:txBody>
      </p:sp>
      <p:sp>
        <p:nvSpPr>
          <p:cNvPr id="69" name="Rectangle 68">
            <a:extLst>
              <a:ext uri="{FF2B5EF4-FFF2-40B4-BE49-F238E27FC236}">
                <a16:creationId xmlns:a16="http://schemas.microsoft.com/office/drawing/2014/main" id="{CBBD27CE-3015-468F-87A9-FD347166BC19}"/>
              </a:ext>
            </a:extLst>
          </p:cNvPr>
          <p:cNvSpPr/>
          <p:nvPr/>
        </p:nvSpPr>
        <p:spPr>
          <a:xfrm>
            <a:off x="6044930" y="1847702"/>
            <a:ext cx="514339" cy="192025"/>
          </a:xfrm>
          <a:prstGeom prst="rect">
            <a:avLst/>
          </a:prstGeom>
          <a:solidFill>
            <a:srgbClr val="91B8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600" b="1" kern="0" dirty="0">
                <a:solidFill>
                  <a:sysClr val="windowText" lastClr="000000"/>
                </a:solidFill>
                <a:latin typeface="Arial"/>
              </a:rPr>
              <a:t>*</a:t>
            </a:r>
          </a:p>
        </p:txBody>
      </p:sp>
      <p:cxnSp>
        <p:nvCxnSpPr>
          <p:cNvPr id="70" name="Straight Arrow Connector 69">
            <a:extLst>
              <a:ext uri="{FF2B5EF4-FFF2-40B4-BE49-F238E27FC236}">
                <a16:creationId xmlns:a16="http://schemas.microsoft.com/office/drawing/2014/main" id="{F4DC8AAF-EB35-4838-B06D-0DCF8BEC61C8}"/>
              </a:ext>
            </a:extLst>
          </p:cNvPr>
          <p:cNvCxnSpPr>
            <a:stCxn id="72" idx="3"/>
          </p:cNvCxnSpPr>
          <p:nvPr/>
        </p:nvCxnSpPr>
        <p:spPr>
          <a:xfrm>
            <a:off x="5641007" y="1801933"/>
            <a:ext cx="403802" cy="85758"/>
          </a:xfrm>
          <a:prstGeom prst="straightConnector1">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cxnSp>
        <p:nvCxnSpPr>
          <p:cNvPr id="71" name="Straight Arrow Connector 70">
            <a:extLst>
              <a:ext uri="{FF2B5EF4-FFF2-40B4-BE49-F238E27FC236}">
                <a16:creationId xmlns:a16="http://schemas.microsoft.com/office/drawing/2014/main" id="{DE76D08A-3435-4EC4-85C8-0B0A54FBF452}"/>
              </a:ext>
            </a:extLst>
          </p:cNvPr>
          <p:cNvCxnSpPr>
            <a:stCxn id="73" idx="3"/>
          </p:cNvCxnSpPr>
          <p:nvPr/>
        </p:nvCxnSpPr>
        <p:spPr>
          <a:xfrm flipV="1">
            <a:off x="5641007" y="2002911"/>
            <a:ext cx="403802" cy="44170"/>
          </a:xfrm>
          <a:prstGeom prst="straightConnector1">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sp>
        <p:nvSpPr>
          <p:cNvPr id="72" name="TextBox 71">
            <a:extLst>
              <a:ext uri="{FF2B5EF4-FFF2-40B4-BE49-F238E27FC236}">
                <a16:creationId xmlns:a16="http://schemas.microsoft.com/office/drawing/2014/main" id="{4D373AB3-51D3-4C63-A11C-C9F120EF1166}"/>
              </a:ext>
            </a:extLst>
          </p:cNvPr>
          <p:cNvSpPr txBox="1"/>
          <p:nvPr/>
        </p:nvSpPr>
        <p:spPr>
          <a:xfrm>
            <a:off x="5328101" y="1617267"/>
            <a:ext cx="312906" cy="369332"/>
          </a:xfrm>
          <a:prstGeom prst="rect">
            <a:avLst/>
          </a:prstGeom>
          <a:noFill/>
        </p:spPr>
        <p:txBody>
          <a:bodyPr wrap="none" rtlCol="0">
            <a:spAutoFit/>
          </a:bodyPr>
          <a:lstStyle/>
          <a:p>
            <a:pPr defTabSz="457200" fontAlgn="base">
              <a:spcBef>
                <a:spcPct val="0"/>
              </a:spcBef>
              <a:spcAft>
                <a:spcPct val="0"/>
              </a:spcAft>
            </a:pPr>
            <a:r>
              <a:rPr lang="en-US" dirty="0">
                <a:solidFill>
                  <a:prstClr val="black"/>
                </a:solidFill>
                <a:ea typeface="ＭＳ Ｐゴシック" pitchFamily="34" charset="-128"/>
                <a:cs typeface="Arial" charset="0"/>
              </a:rPr>
              <a:t>a</a:t>
            </a:r>
          </a:p>
        </p:txBody>
      </p:sp>
      <p:sp>
        <p:nvSpPr>
          <p:cNvPr id="73" name="TextBox 72">
            <a:extLst>
              <a:ext uri="{FF2B5EF4-FFF2-40B4-BE49-F238E27FC236}">
                <a16:creationId xmlns:a16="http://schemas.microsoft.com/office/drawing/2014/main" id="{354EA80C-F2D9-484B-AFD7-1C5785C02546}"/>
              </a:ext>
            </a:extLst>
          </p:cNvPr>
          <p:cNvSpPr txBox="1"/>
          <p:nvPr/>
        </p:nvSpPr>
        <p:spPr>
          <a:xfrm>
            <a:off x="5328101" y="1862415"/>
            <a:ext cx="312906" cy="369332"/>
          </a:xfrm>
          <a:prstGeom prst="rect">
            <a:avLst/>
          </a:prstGeom>
          <a:noFill/>
        </p:spPr>
        <p:txBody>
          <a:bodyPr wrap="none" rtlCol="0">
            <a:spAutoFit/>
          </a:bodyPr>
          <a:lstStyle/>
          <a:p>
            <a:pPr defTabSz="457200" fontAlgn="base">
              <a:spcBef>
                <a:spcPct val="0"/>
              </a:spcBef>
              <a:spcAft>
                <a:spcPct val="0"/>
              </a:spcAft>
            </a:pPr>
            <a:r>
              <a:rPr lang="en-US" dirty="0">
                <a:solidFill>
                  <a:prstClr val="black"/>
                </a:solidFill>
                <a:ea typeface="ＭＳ Ｐゴシック" pitchFamily="34" charset="-128"/>
                <a:cs typeface="Arial" charset="0"/>
              </a:rPr>
              <a:t>b</a:t>
            </a:r>
          </a:p>
        </p:txBody>
      </p:sp>
      <p:cxnSp>
        <p:nvCxnSpPr>
          <p:cNvPr id="74" name="Straight Arrow Connector 73">
            <a:extLst>
              <a:ext uri="{FF2B5EF4-FFF2-40B4-BE49-F238E27FC236}">
                <a16:creationId xmlns:a16="http://schemas.microsoft.com/office/drawing/2014/main" id="{354DB989-2191-448D-8CFA-E4847DC5F75E}"/>
              </a:ext>
            </a:extLst>
          </p:cNvPr>
          <p:cNvCxnSpPr>
            <a:endCxn id="68" idx="1"/>
          </p:cNvCxnSpPr>
          <p:nvPr/>
        </p:nvCxnSpPr>
        <p:spPr>
          <a:xfrm rot="16200000" flipH="1">
            <a:off x="6583631" y="1934649"/>
            <a:ext cx="251221" cy="304753"/>
          </a:xfrm>
          <a:prstGeom prst="straightConnector1">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cxnSp>
        <p:nvCxnSpPr>
          <p:cNvPr id="75" name="Straight Arrow Connector 74">
            <a:extLst>
              <a:ext uri="{FF2B5EF4-FFF2-40B4-BE49-F238E27FC236}">
                <a16:creationId xmlns:a16="http://schemas.microsoft.com/office/drawing/2014/main" id="{E87B92F7-4CF8-4DA5-9BC8-B7E595029CF3}"/>
              </a:ext>
            </a:extLst>
          </p:cNvPr>
          <p:cNvCxnSpPr/>
          <p:nvPr/>
        </p:nvCxnSpPr>
        <p:spPr>
          <a:xfrm>
            <a:off x="5788843" y="2270334"/>
            <a:ext cx="1075061" cy="1"/>
          </a:xfrm>
          <a:prstGeom prst="straightConnector1">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sp>
        <p:nvSpPr>
          <p:cNvPr id="76" name="TextBox 75">
            <a:extLst>
              <a:ext uri="{FF2B5EF4-FFF2-40B4-BE49-F238E27FC236}">
                <a16:creationId xmlns:a16="http://schemas.microsoft.com/office/drawing/2014/main" id="{23508340-F79A-4672-A9AF-012AE3582247}"/>
              </a:ext>
            </a:extLst>
          </p:cNvPr>
          <p:cNvSpPr txBox="1"/>
          <p:nvPr/>
        </p:nvSpPr>
        <p:spPr>
          <a:xfrm>
            <a:off x="5328101" y="2078127"/>
            <a:ext cx="300082" cy="369332"/>
          </a:xfrm>
          <a:prstGeom prst="rect">
            <a:avLst/>
          </a:prstGeom>
          <a:noFill/>
        </p:spPr>
        <p:txBody>
          <a:bodyPr wrap="none" rtlCol="0">
            <a:spAutoFit/>
          </a:bodyPr>
          <a:lstStyle/>
          <a:p>
            <a:pPr defTabSz="457200" fontAlgn="base">
              <a:spcBef>
                <a:spcPct val="0"/>
              </a:spcBef>
              <a:spcAft>
                <a:spcPct val="0"/>
              </a:spcAft>
            </a:pPr>
            <a:r>
              <a:rPr lang="en-US" dirty="0">
                <a:solidFill>
                  <a:prstClr val="black"/>
                </a:solidFill>
                <a:ea typeface="ＭＳ Ｐゴシック" pitchFamily="34" charset="-128"/>
                <a:cs typeface="Arial" charset="0"/>
              </a:rPr>
              <a:t>c</a:t>
            </a:r>
          </a:p>
        </p:txBody>
      </p:sp>
      <p:sp>
        <p:nvSpPr>
          <p:cNvPr id="77" name="Rectangle 76">
            <a:extLst>
              <a:ext uri="{FF2B5EF4-FFF2-40B4-BE49-F238E27FC236}">
                <a16:creationId xmlns:a16="http://schemas.microsoft.com/office/drawing/2014/main" id="{77F5603C-ACDF-4EBA-B002-5A36263279EA}"/>
              </a:ext>
            </a:extLst>
          </p:cNvPr>
          <p:cNvSpPr/>
          <p:nvPr/>
        </p:nvSpPr>
        <p:spPr>
          <a:xfrm>
            <a:off x="8499804" y="2654384"/>
            <a:ext cx="514339" cy="192025"/>
          </a:xfrm>
          <a:prstGeom prst="rect">
            <a:avLst/>
          </a:prstGeom>
          <a:solidFill>
            <a:srgbClr val="91B8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200" b="1" kern="0" dirty="0">
                <a:solidFill>
                  <a:sysClr val="windowText" lastClr="000000"/>
                </a:solidFill>
                <a:latin typeface="Arial"/>
              </a:rPr>
              <a:t>-</a:t>
            </a:r>
          </a:p>
        </p:txBody>
      </p:sp>
      <p:sp>
        <p:nvSpPr>
          <p:cNvPr id="78" name="Rectangle 77">
            <a:extLst>
              <a:ext uri="{FF2B5EF4-FFF2-40B4-BE49-F238E27FC236}">
                <a16:creationId xmlns:a16="http://schemas.microsoft.com/office/drawing/2014/main" id="{B33A6BC9-6F9C-4D3D-8726-B109B5F72D92}"/>
              </a:ext>
            </a:extLst>
          </p:cNvPr>
          <p:cNvSpPr/>
          <p:nvPr/>
        </p:nvSpPr>
        <p:spPr>
          <a:xfrm>
            <a:off x="7683117" y="2385549"/>
            <a:ext cx="514339" cy="192025"/>
          </a:xfrm>
          <a:prstGeom prst="rect">
            <a:avLst/>
          </a:prstGeom>
          <a:solidFill>
            <a:srgbClr val="91B8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600" b="1" kern="0" dirty="0">
                <a:solidFill>
                  <a:sysClr val="windowText" lastClr="000000"/>
                </a:solidFill>
                <a:latin typeface="Arial"/>
              </a:rPr>
              <a:t>*</a:t>
            </a:r>
          </a:p>
        </p:txBody>
      </p:sp>
      <p:cxnSp>
        <p:nvCxnSpPr>
          <p:cNvPr id="79" name="Straight Arrow Connector 78">
            <a:extLst>
              <a:ext uri="{FF2B5EF4-FFF2-40B4-BE49-F238E27FC236}">
                <a16:creationId xmlns:a16="http://schemas.microsoft.com/office/drawing/2014/main" id="{51C931B9-D234-4426-A91C-BB7126F19843}"/>
              </a:ext>
            </a:extLst>
          </p:cNvPr>
          <p:cNvCxnSpPr>
            <a:endCxn id="77" idx="1"/>
          </p:cNvCxnSpPr>
          <p:nvPr/>
        </p:nvCxnSpPr>
        <p:spPr>
          <a:xfrm rot="16200000" flipH="1">
            <a:off x="8221818" y="2472319"/>
            <a:ext cx="251221" cy="304753"/>
          </a:xfrm>
          <a:prstGeom prst="straightConnector1">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cxnSp>
        <p:nvCxnSpPr>
          <p:cNvPr id="80" name="Straight Arrow Connector 79">
            <a:extLst>
              <a:ext uri="{FF2B5EF4-FFF2-40B4-BE49-F238E27FC236}">
                <a16:creationId xmlns:a16="http://schemas.microsoft.com/office/drawing/2014/main" id="{7DFACF1F-8327-47FA-849E-CA3A30C546D5}"/>
              </a:ext>
            </a:extLst>
          </p:cNvPr>
          <p:cNvCxnSpPr/>
          <p:nvPr/>
        </p:nvCxnSpPr>
        <p:spPr>
          <a:xfrm rot="16200000" flipH="1">
            <a:off x="7402723" y="2184281"/>
            <a:ext cx="251221" cy="304753"/>
          </a:xfrm>
          <a:prstGeom prst="straightConnector1">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cxnSp>
        <p:nvCxnSpPr>
          <p:cNvPr id="81" name="Straight Arrow Connector 80">
            <a:extLst>
              <a:ext uri="{FF2B5EF4-FFF2-40B4-BE49-F238E27FC236}">
                <a16:creationId xmlns:a16="http://schemas.microsoft.com/office/drawing/2014/main" id="{A0D4A64C-B99A-412E-A3C7-C149804AADBD}"/>
              </a:ext>
            </a:extLst>
          </p:cNvPr>
          <p:cNvCxnSpPr/>
          <p:nvPr/>
        </p:nvCxnSpPr>
        <p:spPr>
          <a:xfrm>
            <a:off x="5788841" y="2500764"/>
            <a:ext cx="1894155" cy="11845"/>
          </a:xfrm>
          <a:prstGeom prst="straightConnector1">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sp>
        <p:nvSpPr>
          <p:cNvPr id="82" name="TextBox 81">
            <a:extLst>
              <a:ext uri="{FF2B5EF4-FFF2-40B4-BE49-F238E27FC236}">
                <a16:creationId xmlns:a16="http://schemas.microsoft.com/office/drawing/2014/main" id="{261D40E1-E1CD-4265-A906-AC5D63F694A2}"/>
              </a:ext>
            </a:extLst>
          </p:cNvPr>
          <p:cNvSpPr txBox="1"/>
          <p:nvPr/>
        </p:nvSpPr>
        <p:spPr>
          <a:xfrm>
            <a:off x="5328101" y="2323275"/>
            <a:ext cx="312906" cy="369332"/>
          </a:xfrm>
          <a:prstGeom prst="rect">
            <a:avLst/>
          </a:prstGeom>
          <a:noFill/>
        </p:spPr>
        <p:txBody>
          <a:bodyPr wrap="none" rtlCol="0">
            <a:spAutoFit/>
          </a:bodyPr>
          <a:lstStyle/>
          <a:p>
            <a:pPr defTabSz="457200" fontAlgn="base">
              <a:spcBef>
                <a:spcPct val="0"/>
              </a:spcBef>
              <a:spcAft>
                <a:spcPct val="0"/>
              </a:spcAft>
            </a:pPr>
            <a:r>
              <a:rPr lang="en-US" dirty="0">
                <a:solidFill>
                  <a:prstClr val="black"/>
                </a:solidFill>
                <a:ea typeface="ＭＳ Ｐゴシック" pitchFamily="34" charset="-128"/>
                <a:cs typeface="Arial" charset="0"/>
              </a:rPr>
              <a:t>d</a:t>
            </a:r>
          </a:p>
        </p:txBody>
      </p:sp>
      <p:cxnSp>
        <p:nvCxnSpPr>
          <p:cNvPr id="83" name="Straight Arrow Connector 82">
            <a:extLst>
              <a:ext uri="{FF2B5EF4-FFF2-40B4-BE49-F238E27FC236}">
                <a16:creationId xmlns:a16="http://schemas.microsoft.com/office/drawing/2014/main" id="{DC7419D4-14B5-4D28-82CA-E130CBF5B97D}"/>
              </a:ext>
            </a:extLst>
          </p:cNvPr>
          <p:cNvCxnSpPr/>
          <p:nvPr/>
        </p:nvCxnSpPr>
        <p:spPr>
          <a:xfrm>
            <a:off x="5788841" y="2769599"/>
            <a:ext cx="2710842" cy="28173"/>
          </a:xfrm>
          <a:prstGeom prst="straightConnector1">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sp>
        <p:nvSpPr>
          <p:cNvPr id="84" name="TextBox 83">
            <a:extLst>
              <a:ext uri="{FF2B5EF4-FFF2-40B4-BE49-F238E27FC236}">
                <a16:creationId xmlns:a16="http://schemas.microsoft.com/office/drawing/2014/main" id="{2FA25D04-56DE-4134-BC83-0C2A10DDAC90}"/>
              </a:ext>
            </a:extLst>
          </p:cNvPr>
          <p:cNvSpPr txBox="1"/>
          <p:nvPr/>
        </p:nvSpPr>
        <p:spPr>
          <a:xfrm>
            <a:off x="5328101" y="2615797"/>
            <a:ext cx="312906" cy="369332"/>
          </a:xfrm>
          <a:prstGeom prst="rect">
            <a:avLst/>
          </a:prstGeom>
          <a:noFill/>
        </p:spPr>
        <p:txBody>
          <a:bodyPr wrap="none" rtlCol="0">
            <a:spAutoFit/>
          </a:bodyPr>
          <a:lstStyle/>
          <a:p>
            <a:pPr defTabSz="457200" fontAlgn="base">
              <a:spcBef>
                <a:spcPct val="0"/>
              </a:spcBef>
              <a:spcAft>
                <a:spcPct val="0"/>
              </a:spcAft>
            </a:pPr>
            <a:r>
              <a:rPr lang="en-US" dirty="0">
                <a:solidFill>
                  <a:prstClr val="black"/>
                </a:solidFill>
                <a:ea typeface="ＭＳ Ｐゴシック" pitchFamily="34" charset="-128"/>
                <a:cs typeface="Arial" charset="0"/>
              </a:rPr>
              <a:t>e</a:t>
            </a:r>
          </a:p>
        </p:txBody>
      </p:sp>
      <p:cxnSp>
        <p:nvCxnSpPr>
          <p:cNvPr id="85" name="Straight Arrow Connector 84">
            <a:extLst>
              <a:ext uri="{FF2B5EF4-FFF2-40B4-BE49-F238E27FC236}">
                <a16:creationId xmlns:a16="http://schemas.microsoft.com/office/drawing/2014/main" id="{CB5159F7-B490-4D66-9E7C-62B654A2EB0D}"/>
              </a:ext>
            </a:extLst>
          </p:cNvPr>
          <p:cNvCxnSpPr/>
          <p:nvPr/>
        </p:nvCxnSpPr>
        <p:spPr>
          <a:xfrm>
            <a:off x="9014021" y="2769417"/>
            <a:ext cx="409548" cy="1588"/>
          </a:xfrm>
          <a:prstGeom prst="straightConnector1">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sp>
        <p:nvSpPr>
          <p:cNvPr id="86" name="TextBox 85">
            <a:extLst>
              <a:ext uri="{FF2B5EF4-FFF2-40B4-BE49-F238E27FC236}">
                <a16:creationId xmlns:a16="http://schemas.microsoft.com/office/drawing/2014/main" id="{CAC6CEE0-456A-48A0-9238-C0698E0D3CD9}"/>
              </a:ext>
            </a:extLst>
          </p:cNvPr>
          <p:cNvSpPr txBox="1"/>
          <p:nvPr/>
        </p:nvSpPr>
        <p:spPr>
          <a:xfrm>
            <a:off x="9526076" y="2577392"/>
            <a:ext cx="972673" cy="369332"/>
          </a:xfrm>
          <a:prstGeom prst="rect">
            <a:avLst/>
          </a:prstGeom>
          <a:noFill/>
        </p:spPr>
        <p:txBody>
          <a:bodyPr wrap="square" rtlCol="0">
            <a:spAutoFit/>
          </a:bodyPr>
          <a:lstStyle/>
          <a:p>
            <a:pPr defTabSz="457200" fontAlgn="base">
              <a:spcBef>
                <a:spcPct val="0"/>
              </a:spcBef>
              <a:spcAft>
                <a:spcPct val="0"/>
              </a:spcAft>
            </a:pPr>
            <a:r>
              <a:rPr lang="en-US" dirty="0">
                <a:solidFill>
                  <a:prstClr val="black"/>
                </a:solidFill>
                <a:ea typeface="ＭＳ Ｐゴシック" pitchFamily="34" charset="-128"/>
                <a:cs typeface="Arial" charset="0"/>
              </a:rPr>
              <a:t>out</a:t>
            </a:r>
          </a:p>
        </p:txBody>
      </p:sp>
      <p:sp>
        <p:nvSpPr>
          <p:cNvPr id="87" name="Rectangle 86">
            <a:extLst>
              <a:ext uri="{FF2B5EF4-FFF2-40B4-BE49-F238E27FC236}">
                <a16:creationId xmlns:a16="http://schemas.microsoft.com/office/drawing/2014/main" id="{35E1AFB3-3598-469A-835A-9963E688F4E4}"/>
              </a:ext>
            </a:extLst>
          </p:cNvPr>
          <p:cNvSpPr/>
          <p:nvPr/>
        </p:nvSpPr>
        <p:spPr>
          <a:xfrm>
            <a:off x="6198388" y="3537525"/>
            <a:ext cx="514339" cy="192025"/>
          </a:xfrm>
          <a:prstGeom prst="rect">
            <a:avLst/>
          </a:prstGeom>
          <a:solidFill>
            <a:srgbClr val="91B8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600" b="1" kern="0" dirty="0">
                <a:solidFill>
                  <a:sysClr val="windowText" lastClr="000000"/>
                </a:solidFill>
                <a:latin typeface="Arial"/>
              </a:rPr>
              <a:t>*</a:t>
            </a:r>
          </a:p>
        </p:txBody>
      </p:sp>
      <p:grpSp>
        <p:nvGrpSpPr>
          <p:cNvPr id="88" name="Group 71">
            <a:extLst>
              <a:ext uri="{FF2B5EF4-FFF2-40B4-BE49-F238E27FC236}">
                <a16:creationId xmlns:a16="http://schemas.microsoft.com/office/drawing/2014/main" id="{9299D26C-4A7F-452F-A493-B1F4D67CB606}"/>
              </a:ext>
            </a:extLst>
          </p:cNvPr>
          <p:cNvGrpSpPr/>
          <p:nvPr/>
        </p:nvGrpSpPr>
        <p:grpSpPr>
          <a:xfrm>
            <a:off x="6198388" y="3345500"/>
            <a:ext cx="563125" cy="115214"/>
            <a:chOff x="-66694" y="1130300"/>
            <a:chExt cx="533401" cy="228600"/>
          </a:xfrm>
          <a:effectLst>
            <a:outerShdw blurRad="50800" dist="38100" dir="2700000" algn="tl" rotWithShape="0">
              <a:prstClr val="black">
                <a:alpha val="40000"/>
              </a:prstClr>
            </a:outerShdw>
          </a:effectLst>
        </p:grpSpPr>
        <p:cxnSp>
          <p:nvCxnSpPr>
            <p:cNvPr id="89" name="Straight Connector 88">
              <a:extLst>
                <a:ext uri="{FF2B5EF4-FFF2-40B4-BE49-F238E27FC236}">
                  <a16:creationId xmlns:a16="http://schemas.microsoft.com/office/drawing/2014/main" id="{E9087A43-4552-4349-A9E1-62FB4D07768B}"/>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90" name="Straight Connector 89">
              <a:extLst>
                <a:ext uri="{FF2B5EF4-FFF2-40B4-BE49-F238E27FC236}">
                  <a16:creationId xmlns:a16="http://schemas.microsoft.com/office/drawing/2014/main" id="{EE009374-4518-4A8F-85BF-86F46082343F}"/>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91" name="Straight Connector 90">
              <a:extLst>
                <a:ext uri="{FF2B5EF4-FFF2-40B4-BE49-F238E27FC236}">
                  <a16:creationId xmlns:a16="http://schemas.microsoft.com/office/drawing/2014/main" id="{892D4813-39DE-4F7D-B4C1-B5A8BD2C84D7}"/>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92" name="Straight Connector 91">
              <a:extLst>
                <a:ext uri="{FF2B5EF4-FFF2-40B4-BE49-F238E27FC236}">
                  <a16:creationId xmlns:a16="http://schemas.microsoft.com/office/drawing/2014/main" id="{4FDDDE86-5F6F-4E66-8741-C6E20EC1F96E}"/>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93" name="Group 71">
            <a:extLst>
              <a:ext uri="{FF2B5EF4-FFF2-40B4-BE49-F238E27FC236}">
                <a16:creationId xmlns:a16="http://schemas.microsoft.com/office/drawing/2014/main" id="{D8BBD0DB-D629-4AB8-B2E0-0C983C782B0A}"/>
              </a:ext>
            </a:extLst>
          </p:cNvPr>
          <p:cNvGrpSpPr/>
          <p:nvPr/>
        </p:nvGrpSpPr>
        <p:grpSpPr>
          <a:xfrm>
            <a:off x="6761512" y="3345501"/>
            <a:ext cx="563125" cy="115214"/>
            <a:chOff x="-66694" y="1130300"/>
            <a:chExt cx="533401" cy="228600"/>
          </a:xfrm>
          <a:effectLst>
            <a:outerShdw blurRad="50800" dist="38100" dir="2700000" algn="tl" rotWithShape="0">
              <a:prstClr val="black">
                <a:alpha val="40000"/>
              </a:prstClr>
            </a:outerShdw>
          </a:effectLst>
        </p:grpSpPr>
        <p:cxnSp>
          <p:nvCxnSpPr>
            <p:cNvPr id="94" name="Straight Connector 93">
              <a:extLst>
                <a:ext uri="{FF2B5EF4-FFF2-40B4-BE49-F238E27FC236}">
                  <a16:creationId xmlns:a16="http://schemas.microsoft.com/office/drawing/2014/main" id="{2B9DA281-5EB0-40B0-9AFD-BFDD685963B8}"/>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95" name="Straight Connector 94">
              <a:extLst>
                <a:ext uri="{FF2B5EF4-FFF2-40B4-BE49-F238E27FC236}">
                  <a16:creationId xmlns:a16="http://schemas.microsoft.com/office/drawing/2014/main" id="{0E88EB0B-B99F-46F4-9826-D1D275A514D2}"/>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96" name="Straight Connector 95">
              <a:extLst>
                <a:ext uri="{FF2B5EF4-FFF2-40B4-BE49-F238E27FC236}">
                  <a16:creationId xmlns:a16="http://schemas.microsoft.com/office/drawing/2014/main" id="{07C0885B-7626-41CF-B149-39D5F175D5A6}"/>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97" name="Straight Connector 96">
              <a:extLst>
                <a:ext uri="{FF2B5EF4-FFF2-40B4-BE49-F238E27FC236}">
                  <a16:creationId xmlns:a16="http://schemas.microsoft.com/office/drawing/2014/main" id="{11FD835D-FE26-40A5-A2CF-B0DA893457EC}"/>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98" name="Group 71">
            <a:extLst>
              <a:ext uri="{FF2B5EF4-FFF2-40B4-BE49-F238E27FC236}">
                <a16:creationId xmlns:a16="http://schemas.microsoft.com/office/drawing/2014/main" id="{23366075-6B5A-4A88-B99A-C70CC8D31079}"/>
              </a:ext>
            </a:extLst>
          </p:cNvPr>
          <p:cNvGrpSpPr/>
          <p:nvPr/>
        </p:nvGrpSpPr>
        <p:grpSpPr>
          <a:xfrm>
            <a:off x="7324636" y="3345502"/>
            <a:ext cx="563125" cy="115214"/>
            <a:chOff x="-66694" y="1130300"/>
            <a:chExt cx="533401" cy="228600"/>
          </a:xfrm>
          <a:effectLst>
            <a:outerShdw blurRad="50800" dist="38100" dir="2700000" algn="tl" rotWithShape="0">
              <a:prstClr val="black">
                <a:alpha val="40000"/>
              </a:prstClr>
            </a:outerShdw>
          </a:effectLst>
        </p:grpSpPr>
        <p:cxnSp>
          <p:nvCxnSpPr>
            <p:cNvPr id="99" name="Straight Connector 98">
              <a:extLst>
                <a:ext uri="{FF2B5EF4-FFF2-40B4-BE49-F238E27FC236}">
                  <a16:creationId xmlns:a16="http://schemas.microsoft.com/office/drawing/2014/main" id="{5D0D61F8-CC92-488B-B06B-D5A9A940BC74}"/>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00" name="Straight Connector 99">
              <a:extLst>
                <a:ext uri="{FF2B5EF4-FFF2-40B4-BE49-F238E27FC236}">
                  <a16:creationId xmlns:a16="http://schemas.microsoft.com/office/drawing/2014/main" id="{A882159F-5EF7-4528-AE0E-4FCA3D19DAA0}"/>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01" name="Straight Connector 100">
              <a:extLst>
                <a:ext uri="{FF2B5EF4-FFF2-40B4-BE49-F238E27FC236}">
                  <a16:creationId xmlns:a16="http://schemas.microsoft.com/office/drawing/2014/main" id="{D18D80DD-02D4-4BF3-A7E2-B2E4047707FF}"/>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02" name="Straight Connector 101">
              <a:extLst>
                <a:ext uri="{FF2B5EF4-FFF2-40B4-BE49-F238E27FC236}">
                  <a16:creationId xmlns:a16="http://schemas.microsoft.com/office/drawing/2014/main" id="{ADAC2190-6E6E-4DFB-8BD5-027450AAC663}"/>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sp>
        <p:nvSpPr>
          <p:cNvPr id="103" name="Rectangle 102">
            <a:extLst>
              <a:ext uri="{FF2B5EF4-FFF2-40B4-BE49-F238E27FC236}">
                <a16:creationId xmlns:a16="http://schemas.microsoft.com/office/drawing/2014/main" id="{9748B654-C894-4184-8C0A-EAA3592B46CB}"/>
              </a:ext>
            </a:extLst>
          </p:cNvPr>
          <p:cNvSpPr/>
          <p:nvPr/>
        </p:nvSpPr>
        <p:spPr>
          <a:xfrm>
            <a:off x="7887775" y="3537523"/>
            <a:ext cx="514339" cy="192025"/>
          </a:xfrm>
          <a:prstGeom prst="rect">
            <a:avLst/>
          </a:prstGeom>
          <a:solidFill>
            <a:srgbClr val="91B8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200" b="1" kern="0" dirty="0">
                <a:solidFill>
                  <a:sysClr val="windowText" lastClr="000000"/>
                </a:solidFill>
                <a:latin typeface="Arial"/>
              </a:rPr>
              <a:t>-</a:t>
            </a:r>
          </a:p>
        </p:txBody>
      </p:sp>
      <p:sp>
        <p:nvSpPr>
          <p:cNvPr id="104" name="Rectangle 103">
            <a:extLst>
              <a:ext uri="{FF2B5EF4-FFF2-40B4-BE49-F238E27FC236}">
                <a16:creationId xmlns:a16="http://schemas.microsoft.com/office/drawing/2014/main" id="{E7D8851C-B120-4FD2-8891-7C039D001133}"/>
              </a:ext>
            </a:extLst>
          </p:cNvPr>
          <p:cNvSpPr/>
          <p:nvPr/>
        </p:nvSpPr>
        <p:spPr>
          <a:xfrm>
            <a:off x="7324641" y="3537524"/>
            <a:ext cx="514339" cy="192025"/>
          </a:xfrm>
          <a:prstGeom prst="rect">
            <a:avLst/>
          </a:prstGeom>
          <a:solidFill>
            <a:srgbClr val="91B8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600" b="1" kern="0" dirty="0">
                <a:solidFill>
                  <a:sysClr val="windowText" lastClr="000000"/>
                </a:solidFill>
                <a:latin typeface="Arial"/>
              </a:rPr>
              <a:t>*</a:t>
            </a:r>
          </a:p>
        </p:txBody>
      </p:sp>
      <p:grpSp>
        <p:nvGrpSpPr>
          <p:cNvPr id="105" name="Group 71">
            <a:extLst>
              <a:ext uri="{FF2B5EF4-FFF2-40B4-BE49-F238E27FC236}">
                <a16:creationId xmlns:a16="http://schemas.microsoft.com/office/drawing/2014/main" id="{0A569F62-EE9B-4C8E-B56A-5E6AFBDAE433}"/>
              </a:ext>
            </a:extLst>
          </p:cNvPr>
          <p:cNvGrpSpPr/>
          <p:nvPr/>
        </p:nvGrpSpPr>
        <p:grpSpPr>
          <a:xfrm>
            <a:off x="7887775" y="3345499"/>
            <a:ext cx="563125" cy="115214"/>
            <a:chOff x="-66694" y="1130300"/>
            <a:chExt cx="533401" cy="228600"/>
          </a:xfrm>
          <a:effectLst>
            <a:outerShdw blurRad="50800" dist="38100" dir="2700000" algn="tl" rotWithShape="0">
              <a:prstClr val="black">
                <a:alpha val="40000"/>
              </a:prstClr>
            </a:outerShdw>
          </a:effectLst>
        </p:grpSpPr>
        <p:cxnSp>
          <p:nvCxnSpPr>
            <p:cNvPr id="106" name="Straight Connector 105">
              <a:extLst>
                <a:ext uri="{FF2B5EF4-FFF2-40B4-BE49-F238E27FC236}">
                  <a16:creationId xmlns:a16="http://schemas.microsoft.com/office/drawing/2014/main" id="{AC32299A-F7EF-4A83-8E82-6B2C421B95DC}"/>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07" name="Straight Connector 106">
              <a:extLst>
                <a:ext uri="{FF2B5EF4-FFF2-40B4-BE49-F238E27FC236}">
                  <a16:creationId xmlns:a16="http://schemas.microsoft.com/office/drawing/2014/main" id="{4DC1F77B-821E-45F7-8654-427353729A88}"/>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08" name="Straight Connector 107">
              <a:extLst>
                <a:ext uri="{FF2B5EF4-FFF2-40B4-BE49-F238E27FC236}">
                  <a16:creationId xmlns:a16="http://schemas.microsoft.com/office/drawing/2014/main" id="{18D7153B-0008-4511-963A-75B4169BBE61}"/>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09" name="Straight Connector 108">
              <a:extLst>
                <a:ext uri="{FF2B5EF4-FFF2-40B4-BE49-F238E27FC236}">
                  <a16:creationId xmlns:a16="http://schemas.microsoft.com/office/drawing/2014/main" id="{A6A559B0-65ED-4C71-ABA2-FFC3C9229371}"/>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sp>
        <p:nvSpPr>
          <p:cNvPr id="110" name="Rectangle 109">
            <a:extLst>
              <a:ext uri="{FF2B5EF4-FFF2-40B4-BE49-F238E27FC236}">
                <a16:creationId xmlns:a16="http://schemas.microsoft.com/office/drawing/2014/main" id="{76BA152B-E06D-40B9-BBC5-D5FA72A2765C}"/>
              </a:ext>
            </a:extLst>
          </p:cNvPr>
          <p:cNvSpPr/>
          <p:nvPr/>
        </p:nvSpPr>
        <p:spPr>
          <a:xfrm>
            <a:off x="6761515" y="3537523"/>
            <a:ext cx="514339" cy="192025"/>
          </a:xfrm>
          <a:prstGeom prst="rect">
            <a:avLst/>
          </a:prstGeom>
          <a:solidFill>
            <a:srgbClr val="91B8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200" b="1" kern="0" dirty="0">
                <a:solidFill>
                  <a:sysClr val="windowText" lastClr="000000"/>
                </a:solidFill>
                <a:latin typeface="Arial"/>
              </a:rPr>
              <a:t>+</a:t>
            </a:r>
          </a:p>
        </p:txBody>
      </p:sp>
      <p:sp>
        <p:nvSpPr>
          <p:cNvPr id="111" name="Bent Arrow 385">
            <a:extLst>
              <a:ext uri="{FF2B5EF4-FFF2-40B4-BE49-F238E27FC236}">
                <a16:creationId xmlns:a16="http://schemas.microsoft.com/office/drawing/2014/main" id="{A2FE4F99-C644-4DAA-B2E4-6B2AD038DE34}"/>
              </a:ext>
            </a:extLst>
          </p:cNvPr>
          <p:cNvSpPr/>
          <p:nvPr/>
        </p:nvSpPr>
        <p:spPr>
          <a:xfrm rot="10800000" flipH="1">
            <a:off x="3126788" y="3115069"/>
            <a:ext cx="2354893" cy="691289"/>
          </a:xfrm>
          <a:prstGeom prst="bentArrow">
            <a:avLst>
              <a:gd name="adj1" fmla="val 42170"/>
              <a:gd name="adj2" fmla="val 44078"/>
              <a:gd name="adj3" fmla="val 25000"/>
              <a:gd name="adj4" fmla="val 43750"/>
            </a:avLst>
          </a:prstGeom>
          <a:solidFill>
            <a:srgbClr val="00B0F0"/>
          </a:soli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endParaRPr lang="en-US" kern="0">
              <a:solidFill>
                <a:prstClr val="black"/>
              </a:solidFill>
              <a:latin typeface="Arial"/>
            </a:endParaRPr>
          </a:p>
        </p:txBody>
      </p:sp>
      <p:sp>
        <p:nvSpPr>
          <p:cNvPr id="112" name="TextBox 111">
            <a:extLst>
              <a:ext uri="{FF2B5EF4-FFF2-40B4-BE49-F238E27FC236}">
                <a16:creationId xmlns:a16="http://schemas.microsoft.com/office/drawing/2014/main" id="{7C0C9EBB-655A-4DF7-8E0B-C52A6C241133}"/>
              </a:ext>
            </a:extLst>
          </p:cNvPr>
          <p:cNvSpPr txBox="1"/>
          <p:nvPr/>
        </p:nvSpPr>
        <p:spPr>
          <a:xfrm>
            <a:off x="3485141" y="3307094"/>
            <a:ext cx="1338829" cy="369332"/>
          </a:xfrm>
          <a:prstGeom prst="rect">
            <a:avLst/>
          </a:prstGeom>
          <a:noFill/>
        </p:spPr>
        <p:txBody>
          <a:bodyPr wrap="none" rtlCol="0">
            <a:spAutoFit/>
          </a:bodyPr>
          <a:lstStyle/>
          <a:p>
            <a:pPr defTabSz="457200" fontAlgn="base">
              <a:spcBef>
                <a:spcPct val="0"/>
              </a:spcBef>
              <a:spcAft>
                <a:spcPct val="0"/>
              </a:spcAft>
            </a:pPr>
            <a:r>
              <a:rPr lang="en-US" dirty="0">
                <a:solidFill>
                  <a:prstClr val="black"/>
                </a:solidFill>
                <a:ea typeface="ＭＳ Ｐゴシック" pitchFamily="34" charset="-128"/>
                <a:cs typeface="Arial" charset="0"/>
              </a:rPr>
              <a:t>Schedule 1</a:t>
            </a:r>
          </a:p>
        </p:txBody>
      </p:sp>
      <p:sp>
        <p:nvSpPr>
          <p:cNvPr id="113" name="Right Arrow 447">
            <a:extLst>
              <a:ext uri="{FF2B5EF4-FFF2-40B4-BE49-F238E27FC236}">
                <a16:creationId xmlns:a16="http://schemas.microsoft.com/office/drawing/2014/main" id="{56B8F42A-CF4C-4A95-8269-D94A77B85DF4}"/>
              </a:ext>
            </a:extLst>
          </p:cNvPr>
          <p:cNvSpPr/>
          <p:nvPr/>
        </p:nvSpPr>
        <p:spPr>
          <a:xfrm>
            <a:off x="3126788" y="4611631"/>
            <a:ext cx="2354893" cy="614480"/>
          </a:xfrm>
          <a:prstGeom prst="rightArrow">
            <a:avLst>
              <a:gd name="adj1" fmla="val 50000"/>
              <a:gd name="adj2" fmla="val 31812"/>
            </a:avLst>
          </a:prstGeom>
          <a:solidFill>
            <a:srgbClr val="00B0F0"/>
          </a:soli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endParaRPr lang="en-US" kern="0">
              <a:solidFill>
                <a:prstClr val="white"/>
              </a:solidFill>
              <a:latin typeface="Arial"/>
            </a:endParaRPr>
          </a:p>
        </p:txBody>
      </p:sp>
      <p:sp>
        <p:nvSpPr>
          <p:cNvPr id="114" name="Rectangle 113">
            <a:extLst>
              <a:ext uri="{FF2B5EF4-FFF2-40B4-BE49-F238E27FC236}">
                <a16:creationId xmlns:a16="http://schemas.microsoft.com/office/drawing/2014/main" id="{114086CC-0421-45FD-B2BE-9555E9BC9A5B}"/>
              </a:ext>
            </a:extLst>
          </p:cNvPr>
          <p:cNvSpPr/>
          <p:nvPr/>
        </p:nvSpPr>
        <p:spPr>
          <a:xfrm>
            <a:off x="6198387" y="4918872"/>
            <a:ext cx="514339" cy="192025"/>
          </a:xfrm>
          <a:prstGeom prst="rect">
            <a:avLst/>
          </a:prstGeom>
          <a:solidFill>
            <a:srgbClr val="91B8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600" b="1" kern="0" dirty="0">
                <a:solidFill>
                  <a:sysClr val="windowText" lastClr="000000"/>
                </a:solidFill>
                <a:latin typeface="Arial"/>
              </a:rPr>
              <a:t>*</a:t>
            </a:r>
          </a:p>
        </p:txBody>
      </p:sp>
      <p:grpSp>
        <p:nvGrpSpPr>
          <p:cNvPr id="115" name="Group 71">
            <a:extLst>
              <a:ext uri="{FF2B5EF4-FFF2-40B4-BE49-F238E27FC236}">
                <a16:creationId xmlns:a16="http://schemas.microsoft.com/office/drawing/2014/main" id="{1450C2FA-D31B-4204-B6E7-5C993A430F4F}"/>
              </a:ext>
            </a:extLst>
          </p:cNvPr>
          <p:cNvGrpSpPr/>
          <p:nvPr/>
        </p:nvGrpSpPr>
        <p:grpSpPr>
          <a:xfrm>
            <a:off x="6198385" y="4726846"/>
            <a:ext cx="1638189" cy="115214"/>
            <a:chOff x="-66694" y="1130300"/>
            <a:chExt cx="533401" cy="228600"/>
          </a:xfrm>
          <a:effectLst>
            <a:outerShdw blurRad="50800" dist="38100" dir="2700000" algn="tl" rotWithShape="0">
              <a:prstClr val="black">
                <a:alpha val="40000"/>
              </a:prstClr>
            </a:outerShdw>
          </a:effectLst>
        </p:grpSpPr>
        <p:cxnSp>
          <p:nvCxnSpPr>
            <p:cNvPr id="116" name="Straight Connector 115">
              <a:extLst>
                <a:ext uri="{FF2B5EF4-FFF2-40B4-BE49-F238E27FC236}">
                  <a16:creationId xmlns:a16="http://schemas.microsoft.com/office/drawing/2014/main" id="{78BD71B4-EBAF-43AC-94FE-6685F2E92E75}"/>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17" name="Straight Connector 116">
              <a:extLst>
                <a:ext uri="{FF2B5EF4-FFF2-40B4-BE49-F238E27FC236}">
                  <a16:creationId xmlns:a16="http://schemas.microsoft.com/office/drawing/2014/main" id="{92D82871-0B9D-4802-A9EE-8AF843E4A5A5}"/>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18" name="Straight Connector 117">
              <a:extLst>
                <a:ext uri="{FF2B5EF4-FFF2-40B4-BE49-F238E27FC236}">
                  <a16:creationId xmlns:a16="http://schemas.microsoft.com/office/drawing/2014/main" id="{50187207-CF37-4D7D-B09A-35A58BD4E6EB}"/>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19" name="Straight Connector 118">
              <a:extLst>
                <a:ext uri="{FF2B5EF4-FFF2-40B4-BE49-F238E27FC236}">
                  <a16:creationId xmlns:a16="http://schemas.microsoft.com/office/drawing/2014/main" id="{ED9A06D2-A79C-4573-A41A-34217823254F}"/>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sp>
        <p:nvSpPr>
          <p:cNvPr id="120" name="Rectangle 119">
            <a:extLst>
              <a:ext uri="{FF2B5EF4-FFF2-40B4-BE49-F238E27FC236}">
                <a16:creationId xmlns:a16="http://schemas.microsoft.com/office/drawing/2014/main" id="{62FA756A-5A9D-4C71-A74C-5490280411D6}"/>
              </a:ext>
            </a:extLst>
          </p:cNvPr>
          <p:cNvSpPr/>
          <p:nvPr/>
        </p:nvSpPr>
        <p:spPr>
          <a:xfrm>
            <a:off x="7885362" y="4918870"/>
            <a:ext cx="514339" cy="192025"/>
          </a:xfrm>
          <a:prstGeom prst="rect">
            <a:avLst/>
          </a:prstGeom>
          <a:solidFill>
            <a:srgbClr val="91B8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200" b="1" kern="0" dirty="0">
                <a:solidFill>
                  <a:sysClr val="windowText" lastClr="000000"/>
                </a:solidFill>
                <a:latin typeface="Arial"/>
              </a:rPr>
              <a:t>-</a:t>
            </a:r>
          </a:p>
        </p:txBody>
      </p:sp>
      <p:sp>
        <p:nvSpPr>
          <p:cNvPr id="121" name="Rectangle 120">
            <a:extLst>
              <a:ext uri="{FF2B5EF4-FFF2-40B4-BE49-F238E27FC236}">
                <a16:creationId xmlns:a16="http://schemas.microsoft.com/office/drawing/2014/main" id="{E78859E1-BF9B-482A-93FA-9C7CDE736D8F}"/>
              </a:ext>
            </a:extLst>
          </p:cNvPr>
          <p:cNvSpPr/>
          <p:nvPr/>
        </p:nvSpPr>
        <p:spPr>
          <a:xfrm>
            <a:off x="7222255" y="4918871"/>
            <a:ext cx="514339" cy="192025"/>
          </a:xfrm>
          <a:prstGeom prst="rect">
            <a:avLst/>
          </a:prstGeom>
          <a:solidFill>
            <a:srgbClr val="91B8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600" b="1" kern="0" dirty="0">
                <a:solidFill>
                  <a:sysClr val="windowText" lastClr="000000"/>
                </a:solidFill>
                <a:latin typeface="Arial"/>
              </a:rPr>
              <a:t>*</a:t>
            </a:r>
          </a:p>
        </p:txBody>
      </p:sp>
      <p:sp>
        <p:nvSpPr>
          <p:cNvPr id="122" name="Rectangle 121">
            <a:extLst>
              <a:ext uri="{FF2B5EF4-FFF2-40B4-BE49-F238E27FC236}">
                <a16:creationId xmlns:a16="http://schemas.microsoft.com/office/drawing/2014/main" id="{A09A232A-BFAF-4C9D-AECA-989BC1DA50F5}"/>
              </a:ext>
            </a:extLst>
          </p:cNvPr>
          <p:cNvSpPr/>
          <p:nvPr/>
        </p:nvSpPr>
        <p:spPr>
          <a:xfrm>
            <a:off x="6710321" y="4918870"/>
            <a:ext cx="514339" cy="192027"/>
          </a:xfrm>
          <a:prstGeom prst="rect">
            <a:avLst/>
          </a:prstGeom>
          <a:solidFill>
            <a:srgbClr val="91B8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200" b="1" kern="0" dirty="0">
                <a:solidFill>
                  <a:sysClr val="windowText" lastClr="000000"/>
                </a:solidFill>
                <a:latin typeface="Arial"/>
              </a:rPr>
              <a:t>+</a:t>
            </a:r>
          </a:p>
        </p:txBody>
      </p:sp>
      <p:grpSp>
        <p:nvGrpSpPr>
          <p:cNvPr id="123" name="Group 71">
            <a:extLst>
              <a:ext uri="{FF2B5EF4-FFF2-40B4-BE49-F238E27FC236}">
                <a16:creationId xmlns:a16="http://schemas.microsoft.com/office/drawing/2014/main" id="{2EA4EE7F-B769-44D1-841B-8EDFBC62AAE1}"/>
              </a:ext>
            </a:extLst>
          </p:cNvPr>
          <p:cNvGrpSpPr/>
          <p:nvPr/>
        </p:nvGrpSpPr>
        <p:grpSpPr>
          <a:xfrm>
            <a:off x="7836575" y="4726846"/>
            <a:ext cx="1638189" cy="115214"/>
            <a:chOff x="-66694" y="1130300"/>
            <a:chExt cx="533401" cy="228600"/>
          </a:xfrm>
          <a:effectLst>
            <a:outerShdw blurRad="50800" dist="38100" dir="2700000" algn="tl" rotWithShape="0">
              <a:prstClr val="black">
                <a:alpha val="40000"/>
              </a:prstClr>
            </a:outerShdw>
          </a:effectLst>
        </p:grpSpPr>
        <p:cxnSp>
          <p:nvCxnSpPr>
            <p:cNvPr id="124" name="Straight Connector 123">
              <a:extLst>
                <a:ext uri="{FF2B5EF4-FFF2-40B4-BE49-F238E27FC236}">
                  <a16:creationId xmlns:a16="http://schemas.microsoft.com/office/drawing/2014/main" id="{6EDFA0B6-A906-43A1-95BD-7B3BBB2F286A}"/>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25" name="Straight Connector 124">
              <a:extLst>
                <a:ext uri="{FF2B5EF4-FFF2-40B4-BE49-F238E27FC236}">
                  <a16:creationId xmlns:a16="http://schemas.microsoft.com/office/drawing/2014/main" id="{9A348CA6-FA57-4C5B-B1CC-09D2D4B5E031}"/>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26" name="Straight Connector 125">
              <a:extLst>
                <a:ext uri="{FF2B5EF4-FFF2-40B4-BE49-F238E27FC236}">
                  <a16:creationId xmlns:a16="http://schemas.microsoft.com/office/drawing/2014/main" id="{A2EAB335-66A5-480A-85DB-22BAF52D8CF4}"/>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27" name="Straight Connector 126">
              <a:extLst>
                <a:ext uri="{FF2B5EF4-FFF2-40B4-BE49-F238E27FC236}">
                  <a16:creationId xmlns:a16="http://schemas.microsoft.com/office/drawing/2014/main" id="{1E586328-D6B7-447B-92FC-D335E562CE4F}"/>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sp>
        <p:nvSpPr>
          <p:cNvPr id="128" name="TextBox 127">
            <a:extLst>
              <a:ext uri="{FF2B5EF4-FFF2-40B4-BE49-F238E27FC236}">
                <a16:creationId xmlns:a16="http://schemas.microsoft.com/office/drawing/2014/main" id="{766D6CB8-8982-4306-975D-6B92CE6C5F84}"/>
              </a:ext>
            </a:extLst>
          </p:cNvPr>
          <p:cNvSpPr txBox="1"/>
          <p:nvPr/>
        </p:nvSpPr>
        <p:spPr>
          <a:xfrm>
            <a:off x="3536335" y="4726847"/>
            <a:ext cx="1338829" cy="369332"/>
          </a:xfrm>
          <a:prstGeom prst="rect">
            <a:avLst/>
          </a:prstGeom>
          <a:noFill/>
        </p:spPr>
        <p:txBody>
          <a:bodyPr wrap="none" rtlCol="0">
            <a:spAutoFit/>
          </a:bodyPr>
          <a:lstStyle/>
          <a:p>
            <a:pPr defTabSz="457200" fontAlgn="base">
              <a:spcBef>
                <a:spcPct val="0"/>
              </a:spcBef>
              <a:spcAft>
                <a:spcPct val="0"/>
              </a:spcAft>
            </a:pPr>
            <a:r>
              <a:rPr lang="en-US" dirty="0">
                <a:solidFill>
                  <a:prstClr val="black"/>
                </a:solidFill>
                <a:ea typeface="ＭＳ Ｐゴシック" pitchFamily="34" charset="-128"/>
                <a:cs typeface="Arial" charset="0"/>
              </a:rPr>
              <a:t>Schedule 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Binding</a:t>
            </a:r>
          </a:p>
        </p:txBody>
      </p:sp>
      <p:sp>
        <p:nvSpPr>
          <p:cNvPr id="3" name="Content Placeholder 2"/>
          <p:cNvSpPr>
            <a:spLocks noGrp="1"/>
          </p:cNvSpPr>
          <p:nvPr>
            <p:ph idx="1"/>
          </p:nvPr>
        </p:nvSpPr>
        <p:spPr>
          <a:xfrm>
            <a:off x="649119" y="1463040"/>
            <a:ext cx="10512862" cy="4759404"/>
          </a:xfrm>
        </p:spPr>
        <p:txBody>
          <a:bodyPr>
            <a:normAutofit fontScale="55000" lnSpcReduction="20000"/>
          </a:bodyPr>
          <a:lstStyle/>
          <a:p>
            <a:r>
              <a:rPr lang="en-US" sz="3600" dirty="0"/>
              <a:t>Binding is where operations are mapped to cores from the hardware library</a:t>
            </a:r>
          </a:p>
          <a:p>
            <a:pPr lvl="1"/>
            <a:r>
              <a:rPr lang="en-US" sz="3300" dirty="0"/>
              <a:t>Operators map to cores</a:t>
            </a:r>
          </a:p>
          <a:p>
            <a:pPr lvl="1"/>
            <a:endParaRPr lang="en-US" sz="3300" dirty="0"/>
          </a:p>
          <a:p>
            <a:r>
              <a:rPr lang="en-US" sz="3600" dirty="0"/>
              <a:t>Binding Decision: to share</a:t>
            </a:r>
          </a:p>
          <a:p>
            <a:pPr lvl="1"/>
            <a:r>
              <a:rPr lang="en-US" sz="3300" dirty="0"/>
              <a:t>Given this schedule:</a:t>
            </a:r>
          </a:p>
          <a:p>
            <a:pPr lvl="1"/>
            <a:endParaRPr lang="en-US" sz="3300" dirty="0"/>
          </a:p>
          <a:p>
            <a:pPr lvl="2"/>
            <a:r>
              <a:rPr lang="en-US" sz="2900" dirty="0"/>
              <a:t>Binding must use 2 multipliers, since both are in the same cycle</a:t>
            </a:r>
          </a:p>
          <a:p>
            <a:pPr lvl="2"/>
            <a:r>
              <a:rPr lang="en-US" sz="2900" dirty="0"/>
              <a:t>It can decide to use an adder </a:t>
            </a:r>
            <a:r>
              <a:rPr lang="en-US" sz="2900" u="sng" dirty="0"/>
              <a:t>and</a:t>
            </a:r>
            <a:r>
              <a:rPr lang="en-US" sz="2900" dirty="0"/>
              <a:t> </a:t>
            </a:r>
            <a:r>
              <a:rPr lang="en-US" sz="2900" dirty="0" err="1"/>
              <a:t>subtractor</a:t>
            </a:r>
            <a:r>
              <a:rPr lang="en-US" sz="2900" dirty="0"/>
              <a:t> </a:t>
            </a:r>
            <a:r>
              <a:rPr lang="en-US" sz="2900" u="sng" dirty="0"/>
              <a:t>or</a:t>
            </a:r>
            <a:r>
              <a:rPr lang="en-US" sz="2900" dirty="0"/>
              <a:t> </a:t>
            </a:r>
            <a:r>
              <a:rPr lang="en-US" sz="2900" i="1" dirty="0"/>
              <a:t>share</a:t>
            </a:r>
            <a:r>
              <a:rPr lang="en-US" sz="2900" dirty="0"/>
              <a:t> one </a:t>
            </a:r>
            <a:r>
              <a:rPr lang="en-US" sz="2900" dirty="0" err="1"/>
              <a:t>addsub</a:t>
            </a:r>
            <a:endParaRPr lang="en-US" sz="2900" dirty="0"/>
          </a:p>
          <a:p>
            <a:pPr lvl="2"/>
            <a:endParaRPr lang="en-US" sz="2900" dirty="0"/>
          </a:p>
          <a:p>
            <a:r>
              <a:rPr lang="en-US" sz="3600" dirty="0"/>
              <a:t>Binding Decision: or not to share</a:t>
            </a:r>
          </a:p>
          <a:p>
            <a:pPr lvl="1"/>
            <a:r>
              <a:rPr lang="en-US" sz="3300" dirty="0"/>
              <a:t>Given this schedule:</a:t>
            </a:r>
          </a:p>
          <a:p>
            <a:pPr lvl="2">
              <a:buNone/>
            </a:pPr>
            <a:r>
              <a:rPr lang="en-US" sz="2900" dirty="0"/>
              <a:t>	</a:t>
            </a:r>
          </a:p>
          <a:p>
            <a:pPr lvl="2"/>
            <a:r>
              <a:rPr lang="en-US" sz="2900" dirty="0">
                <a:sym typeface="Wingdings" pitchFamily="2" charset="2"/>
              </a:rPr>
              <a:t>Binding may decide to share the multipliers (each is used in a different cycle)</a:t>
            </a:r>
          </a:p>
          <a:p>
            <a:pPr lvl="2"/>
            <a:r>
              <a:rPr lang="en-US" sz="2900" dirty="0">
                <a:sym typeface="Wingdings" pitchFamily="2" charset="2"/>
              </a:rPr>
              <a:t>Or it may decide the cost of sharing (muxing) would impact timing and it may decide </a:t>
            </a:r>
            <a:r>
              <a:rPr lang="en-US" sz="2900" i="1" dirty="0">
                <a:sym typeface="Wingdings" pitchFamily="2" charset="2"/>
              </a:rPr>
              <a:t>not to share</a:t>
            </a:r>
            <a:r>
              <a:rPr lang="en-US" sz="2900" dirty="0">
                <a:sym typeface="Wingdings" pitchFamily="2" charset="2"/>
              </a:rPr>
              <a:t> them</a:t>
            </a:r>
          </a:p>
          <a:p>
            <a:pPr lvl="2"/>
            <a:r>
              <a:rPr lang="en-US" sz="2900" dirty="0">
                <a:sym typeface="Wingdings" pitchFamily="2" charset="2"/>
              </a:rPr>
              <a:t>It may make this same decision in the first example above too</a:t>
            </a:r>
          </a:p>
          <a:p>
            <a:pPr lvl="2"/>
            <a:endParaRPr lang="en-US" dirty="0">
              <a:sym typeface="Wingdings" pitchFamily="2" charset="2"/>
            </a:endParaRPr>
          </a:p>
          <a:p>
            <a:pPr>
              <a:buNone/>
            </a:pPr>
            <a:endParaRPr lang="en-US" dirty="0"/>
          </a:p>
        </p:txBody>
      </p:sp>
      <p:sp>
        <p:nvSpPr>
          <p:cNvPr id="9" name="Slide Number Placeholder 8"/>
          <p:cNvSpPr>
            <a:spLocks noGrp="1"/>
          </p:cNvSpPr>
          <p:nvPr>
            <p:ph type="sldNum" sz="quarter" idx="10"/>
          </p:nvPr>
        </p:nvSpPr>
        <p:spPr/>
        <p:txBody>
          <a:bodyPr/>
          <a:lstStyle/>
          <a:p>
            <a:pPr>
              <a:defRPr/>
            </a:pPr>
            <a:r>
              <a:rPr lang="en-US" dirty="0"/>
              <a:t>Intro to HLS 11- </a:t>
            </a:r>
            <a:fld id="{060BD193-E118-4B16-863C-C8C12C675E3E}" type="slidenum">
              <a:rPr lang="en-US" smtClean="0"/>
              <a:pPr>
                <a:defRPr/>
              </a:pPr>
              <a:t>12</a:t>
            </a:fld>
            <a:endParaRPr lang="en-US" dirty="0"/>
          </a:p>
        </p:txBody>
      </p:sp>
      <p:sp>
        <p:nvSpPr>
          <p:cNvPr id="42" name="Rectangle 41">
            <a:extLst>
              <a:ext uri="{FF2B5EF4-FFF2-40B4-BE49-F238E27FC236}">
                <a16:creationId xmlns:a16="http://schemas.microsoft.com/office/drawing/2014/main" id="{33332C9F-67C9-440E-A9A7-1F3FF1F87F2D}"/>
              </a:ext>
            </a:extLst>
          </p:cNvPr>
          <p:cNvSpPr/>
          <p:nvPr/>
        </p:nvSpPr>
        <p:spPr>
          <a:xfrm>
            <a:off x="4457928" y="4488511"/>
            <a:ext cx="548640" cy="192025"/>
          </a:xfrm>
          <a:prstGeom prst="rect">
            <a:avLst/>
          </a:prstGeom>
          <a:solidFill>
            <a:srgbClr val="91B8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914400" fontAlgn="base">
              <a:spcBef>
                <a:spcPct val="0"/>
              </a:spcBef>
              <a:spcAft>
                <a:spcPct val="0"/>
              </a:spcAft>
              <a:defRPr/>
            </a:pPr>
            <a:r>
              <a:rPr lang="en-US" sz="1600" b="1" kern="0" dirty="0">
                <a:solidFill>
                  <a:sysClr val="windowText" lastClr="000000"/>
                </a:solidFill>
                <a:latin typeface="Arial"/>
              </a:rPr>
              <a:t>*</a:t>
            </a:r>
          </a:p>
        </p:txBody>
      </p:sp>
      <p:grpSp>
        <p:nvGrpSpPr>
          <p:cNvPr id="49" name="Group 71">
            <a:extLst>
              <a:ext uri="{FF2B5EF4-FFF2-40B4-BE49-F238E27FC236}">
                <a16:creationId xmlns:a16="http://schemas.microsoft.com/office/drawing/2014/main" id="{867329E3-CFEF-428B-8C1C-B2A9D0E78937}"/>
              </a:ext>
            </a:extLst>
          </p:cNvPr>
          <p:cNvGrpSpPr/>
          <p:nvPr/>
        </p:nvGrpSpPr>
        <p:grpSpPr>
          <a:xfrm>
            <a:off x="4457816" y="4296315"/>
            <a:ext cx="563125" cy="115214"/>
            <a:chOff x="-66694" y="1130300"/>
            <a:chExt cx="533401" cy="228600"/>
          </a:xfrm>
          <a:effectLst/>
        </p:grpSpPr>
        <p:cxnSp>
          <p:nvCxnSpPr>
            <p:cNvPr id="55" name="Straight Connector 54">
              <a:extLst>
                <a:ext uri="{FF2B5EF4-FFF2-40B4-BE49-F238E27FC236}">
                  <a16:creationId xmlns:a16="http://schemas.microsoft.com/office/drawing/2014/main" id="{44D95408-3C0B-4AE1-9349-E6E040FC4117}"/>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57" name="Straight Connector 56">
              <a:extLst>
                <a:ext uri="{FF2B5EF4-FFF2-40B4-BE49-F238E27FC236}">
                  <a16:creationId xmlns:a16="http://schemas.microsoft.com/office/drawing/2014/main" id="{DF039093-A904-4334-A41A-0B404D52AE4F}"/>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65" name="Straight Connector 64">
              <a:extLst>
                <a:ext uri="{FF2B5EF4-FFF2-40B4-BE49-F238E27FC236}">
                  <a16:creationId xmlns:a16="http://schemas.microsoft.com/office/drawing/2014/main" id="{D6FC1757-2E67-4C1D-948F-5E87D9400B11}"/>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70" name="Straight Connector 69">
              <a:extLst>
                <a:ext uri="{FF2B5EF4-FFF2-40B4-BE49-F238E27FC236}">
                  <a16:creationId xmlns:a16="http://schemas.microsoft.com/office/drawing/2014/main" id="{D37AC5B6-BE58-4A91-9318-464CBA38726F}"/>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71" name="Group 71">
            <a:extLst>
              <a:ext uri="{FF2B5EF4-FFF2-40B4-BE49-F238E27FC236}">
                <a16:creationId xmlns:a16="http://schemas.microsoft.com/office/drawing/2014/main" id="{A5668806-261F-4471-8705-6342413C89BC}"/>
              </a:ext>
            </a:extLst>
          </p:cNvPr>
          <p:cNvGrpSpPr/>
          <p:nvPr/>
        </p:nvGrpSpPr>
        <p:grpSpPr>
          <a:xfrm>
            <a:off x="5020940" y="4296316"/>
            <a:ext cx="563125" cy="115214"/>
            <a:chOff x="-66694" y="1130300"/>
            <a:chExt cx="533401" cy="228600"/>
          </a:xfrm>
          <a:effectLst/>
        </p:grpSpPr>
        <p:cxnSp>
          <p:nvCxnSpPr>
            <p:cNvPr id="72" name="Straight Connector 71">
              <a:extLst>
                <a:ext uri="{FF2B5EF4-FFF2-40B4-BE49-F238E27FC236}">
                  <a16:creationId xmlns:a16="http://schemas.microsoft.com/office/drawing/2014/main" id="{2ED4C822-5478-4E46-877B-34167C84ABB8}"/>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73" name="Straight Connector 72">
              <a:extLst>
                <a:ext uri="{FF2B5EF4-FFF2-40B4-BE49-F238E27FC236}">
                  <a16:creationId xmlns:a16="http://schemas.microsoft.com/office/drawing/2014/main" id="{27B753CE-354D-4BF4-A008-B0D157913B9C}"/>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74" name="Straight Connector 73">
              <a:extLst>
                <a:ext uri="{FF2B5EF4-FFF2-40B4-BE49-F238E27FC236}">
                  <a16:creationId xmlns:a16="http://schemas.microsoft.com/office/drawing/2014/main" id="{DAF8A0D0-D552-4A78-B855-E3B998194421}"/>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75" name="Straight Connector 74">
              <a:extLst>
                <a:ext uri="{FF2B5EF4-FFF2-40B4-BE49-F238E27FC236}">
                  <a16:creationId xmlns:a16="http://schemas.microsoft.com/office/drawing/2014/main" id="{F27CF857-72EE-49DC-812F-C3F34B8022D4}"/>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76" name="Group 71">
            <a:extLst>
              <a:ext uri="{FF2B5EF4-FFF2-40B4-BE49-F238E27FC236}">
                <a16:creationId xmlns:a16="http://schemas.microsoft.com/office/drawing/2014/main" id="{89205A3E-512E-4183-BF28-129E5E4FB8AF}"/>
              </a:ext>
            </a:extLst>
          </p:cNvPr>
          <p:cNvGrpSpPr/>
          <p:nvPr/>
        </p:nvGrpSpPr>
        <p:grpSpPr>
          <a:xfrm>
            <a:off x="5584064" y="4296317"/>
            <a:ext cx="563125" cy="115214"/>
            <a:chOff x="-66694" y="1130300"/>
            <a:chExt cx="533401" cy="228600"/>
          </a:xfrm>
          <a:effectLst/>
        </p:grpSpPr>
        <p:cxnSp>
          <p:nvCxnSpPr>
            <p:cNvPr id="77" name="Straight Connector 76">
              <a:extLst>
                <a:ext uri="{FF2B5EF4-FFF2-40B4-BE49-F238E27FC236}">
                  <a16:creationId xmlns:a16="http://schemas.microsoft.com/office/drawing/2014/main" id="{8C58CE6C-FE71-4539-B279-C0A6B37AB059}"/>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78" name="Straight Connector 77">
              <a:extLst>
                <a:ext uri="{FF2B5EF4-FFF2-40B4-BE49-F238E27FC236}">
                  <a16:creationId xmlns:a16="http://schemas.microsoft.com/office/drawing/2014/main" id="{E30A8B17-CB13-492F-96B7-3D11DCC4AA49}"/>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79" name="Straight Connector 78">
              <a:extLst>
                <a:ext uri="{FF2B5EF4-FFF2-40B4-BE49-F238E27FC236}">
                  <a16:creationId xmlns:a16="http://schemas.microsoft.com/office/drawing/2014/main" id="{8823D7DC-D3EF-4EE7-8B39-4AE65CCB9770}"/>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80" name="Straight Connector 79">
              <a:extLst>
                <a:ext uri="{FF2B5EF4-FFF2-40B4-BE49-F238E27FC236}">
                  <a16:creationId xmlns:a16="http://schemas.microsoft.com/office/drawing/2014/main" id="{B5CD2E24-1517-482E-A5B6-271B77CFAD64}"/>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sp>
        <p:nvSpPr>
          <p:cNvPr id="81" name="Rectangle 80">
            <a:extLst>
              <a:ext uri="{FF2B5EF4-FFF2-40B4-BE49-F238E27FC236}">
                <a16:creationId xmlns:a16="http://schemas.microsoft.com/office/drawing/2014/main" id="{4B1F316F-E8C7-46F0-95E0-C069162D1846}"/>
              </a:ext>
            </a:extLst>
          </p:cNvPr>
          <p:cNvSpPr/>
          <p:nvPr/>
        </p:nvSpPr>
        <p:spPr>
          <a:xfrm>
            <a:off x="6147315" y="4488509"/>
            <a:ext cx="548640" cy="192025"/>
          </a:xfrm>
          <a:prstGeom prst="rect">
            <a:avLst/>
          </a:prstGeom>
          <a:solidFill>
            <a:srgbClr val="91B8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914400" fontAlgn="base">
              <a:spcBef>
                <a:spcPct val="0"/>
              </a:spcBef>
              <a:spcAft>
                <a:spcPct val="0"/>
              </a:spcAft>
              <a:defRPr/>
            </a:pPr>
            <a:r>
              <a:rPr lang="en-US" sz="1200" b="1" kern="0" dirty="0">
                <a:solidFill>
                  <a:sysClr val="windowText" lastClr="000000"/>
                </a:solidFill>
                <a:latin typeface="Arial"/>
              </a:rPr>
              <a:t>-</a:t>
            </a:r>
          </a:p>
        </p:txBody>
      </p:sp>
      <p:sp>
        <p:nvSpPr>
          <p:cNvPr id="82" name="Rectangle 81">
            <a:extLst>
              <a:ext uri="{FF2B5EF4-FFF2-40B4-BE49-F238E27FC236}">
                <a16:creationId xmlns:a16="http://schemas.microsoft.com/office/drawing/2014/main" id="{8B737D3B-7F84-41C4-B718-FB28BAA93E29}"/>
              </a:ext>
            </a:extLst>
          </p:cNvPr>
          <p:cNvSpPr/>
          <p:nvPr/>
        </p:nvSpPr>
        <p:spPr>
          <a:xfrm>
            <a:off x="5584182" y="4488510"/>
            <a:ext cx="548640" cy="192025"/>
          </a:xfrm>
          <a:prstGeom prst="rect">
            <a:avLst/>
          </a:prstGeom>
          <a:solidFill>
            <a:srgbClr val="91B8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914400" fontAlgn="base">
              <a:spcBef>
                <a:spcPct val="0"/>
              </a:spcBef>
              <a:spcAft>
                <a:spcPct val="0"/>
              </a:spcAft>
              <a:defRPr/>
            </a:pPr>
            <a:r>
              <a:rPr lang="en-US" sz="1600" b="1" kern="0" dirty="0">
                <a:solidFill>
                  <a:sysClr val="windowText" lastClr="000000"/>
                </a:solidFill>
                <a:latin typeface="Arial"/>
              </a:rPr>
              <a:t>*</a:t>
            </a:r>
          </a:p>
        </p:txBody>
      </p:sp>
      <p:grpSp>
        <p:nvGrpSpPr>
          <p:cNvPr id="83" name="Group 71">
            <a:extLst>
              <a:ext uri="{FF2B5EF4-FFF2-40B4-BE49-F238E27FC236}">
                <a16:creationId xmlns:a16="http://schemas.microsoft.com/office/drawing/2014/main" id="{8138D71A-6826-471E-BD2C-646E9E822B32}"/>
              </a:ext>
            </a:extLst>
          </p:cNvPr>
          <p:cNvGrpSpPr/>
          <p:nvPr/>
        </p:nvGrpSpPr>
        <p:grpSpPr>
          <a:xfrm>
            <a:off x="6147203" y="4296314"/>
            <a:ext cx="563125" cy="115214"/>
            <a:chOff x="-66694" y="1130300"/>
            <a:chExt cx="533401" cy="228600"/>
          </a:xfrm>
          <a:effectLst/>
        </p:grpSpPr>
        <p:cxnSp>
          <p:nvCxnSpPr>
            <p:cNvPr id="84" name="Straight Connector 83">
              <a:extLst>
                <a:ext uri="{FF2B5EF4-FFF2-40B4-BE49-F238E27FC236}">
                  <a16:creationId xmlns:a16="http://schemas.microsoft.com/office/drawing/2014/main" id="{C23AF097-AE02-44BB-B68E-79BB629CC3C1}"/>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85" name="Straight Connector 84">
              <a:extLst>
                <a:ext uri="{FF2B5EF4-FFF2-40B4-BE49-F238E27FC236}">
                  <a16:creationId xmlns:a16="http://schemas.microsoft.com/office/drawing/2014/main" id="{69C193D2-2598-4561-B354-EC68B89D587E}"/>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86" name="Straight Connector 85">
              <a:extLst>
                <a:ext uri="{FF2B5EF4-FFF2-40B4-BE49-F238E27FC236}">
                  <a16:creationId xmlns:a16="http://schemas.microsoft.com/office/drawing/2014/main" id="{281ADE10-D6DD-4833-BBEB-874949C15C13}"/>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87" name="Straight Connector 86">
              <a:extLst>
                <a:ext uri="{FF2B5EF4-FFF2-40B4-BE49-F238E27FC236}">
                  <a16:creationId xmlns:a16="http://schemas.microsoft.com/office/drawing/2014/main" id="{682B7AD4-ABD5-4FB7-8BC1-8A9BCAB83406}"/>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sp>
        <p:nvSpPr>
          <p:cNvPr id="88" name="Rectangle 87">
            <a:extLst>
              <a:ext uri="{FF2B5EF4-FFF2-40B4-BE49-F238E27FC236}">
                <a16:creationId xmlns:a16="http://schemas.microsoft.com/office/drawing/2014/main" id="{D770103C-A6C6-4DE5-81D1-98C7B1018CC6}"/>
              </a:ext>
            </a:extLst>
          </p:cNvPr>
          <p:cNvSpPr/>
          <p:nvPr/>
        </p:nvSpPr>
        <p:spPr>
          <a:xfrm>
            <a:off x="5021055" y="4488509"/>
            <a:ext cx="548640" cy="192025"/>
          </a:xfrm>
          <a:prstGeom prst="rect">
            <a:avLst/>
          </a:prstGeom>
          <a:solidFill>
            <a:srgbClr val="91B8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914400" fontAlgn="base">
              <a:spcBef>
                <a:spcPct val="0"/>
              </a:spcBef>
              <a:spcAft>
                <a:spcPct val="0"/>
              </a:spcAft>
              <a:defRPr/>
            </a:pPr>
            <a:r>
              <a:rPr lang="en-US" sz="1200" b="1" kern="0" dirty="0">
                <a:solidFill>
                  <a:sysClr val="windowText" lastClr="000000"/>
                </a:solidFill>
                <a:latin typeface="Arial"/>
              </a:rPr>
              <a:t>+</a:t>
            </a:r>
          </a:p>
        </p:txBody>
      </p:sp>
      <p:sp>
        <p:nvSpPr>
          <p:cNvPr id="89" name="Rectangle 88">
            <a:extLst>
              <a:ext uri="{FF2B5EF4-FFF2-40B4-BE49-F238E27FC236}">
                <a16:creationId xmlns:a16="http://schemas.microsoft.com/office/drawing/2014/main" id="{0E08C95D-3898-48AA-B950-77A15DB33EC7}"/>
              </a:ext>
            </a:extLst>
          </p:cNvPr>
          <p:cNvSpPr/>
          <p:nvPr/>
        </p:nvSpPr>
        <p:spPr>
          <a:xfrm>
            <a:off x="4457930" y="2757365"/>
            <a:ext cx="514339" cy="192025"/>
          </a:xfrm>
          <a:prstGeom prst="rect">
            <a:avLst/>
          </a:prstGeom>
          <a:solidFill>
            <a:srgbClr val="91B8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914400" fontAlgn="base">
              <a:spcBef>
                <a:spcPct val="0"/>
              </a:spcBef>
              <a:spcAft>
                <a:spcPct val="0"/>
              </a:spcAft>
              <a:defRPr/>
            </a:pPr>
            <a:r>
              <a:rPr lang="en-US" sz="1600" b="1" kern="0" dirty="0">
                <a:solidFill>
                  <a:sysClr val="windowText" lastClr="000000"/>
                </a:solidFill>
                <a:latin typeface="Arial"/>
              </a:rPr>
              <a:t>*</a:t>
            </a:r>
          </a:p>
        </p:txBody>
      </p:sp>
      <p:grpSp>
        <p:nvGrpSpPr>
          <p:cNvPr id="90" name="Group 71">
            <a:extLst>
              <a:ext uri="{FF2B5EF4-FFF2-40B4-BE49-F238E27FC236}">
                <a16:creationId xmlns:a16="http://schemas.microsoft.com/office/drawing/2014/main" id="{E03F056A-C8F5-4E82-927F-DCD37CD27813}"/>
              </a:ext>
            </a:extLst>
          </p:cNvPr>
          <p:cNvGrpSpPr/>
          <p:nvPr/>
        </p:nvGrpSpPr>
        <p:grpSpPr>
          <a:xfrm>
            <a:off x="4457815" y="2565168"/>
            <a:ext cx="1548593" cy="115386"/>
            <a:chOff x="-66694" y="1130300"/>
            <a:chExt cx="533401" cy="228600"/>
          </a:xfrm>
          <a:effectLst/>
        </p:grpSpPr>
        <p:cxnSp>
          <p:nvCxnSpPr>
            <p:cNvPr id="91" name="Straight Connector 90">
              <a:extLst>
                <a:ext uri="{FF2B5EF4-FFF2-40B4-BE49-F238E27FC236}">
                  <a16:creationId xmlns:a16="http://schemas.microsoft.com/office/drawing/2014/main" id="{729BFB9B-035E-40F8-A958-D65F00C14059}"/>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92" name="Straight Connector 91">
              <a:extLst>
                <a:ext uri="{FF2B5EF4-FFF2-40B4-BE49-F238E27FC236}">
                  <a16:creationId xmlns:a16="http://schemas.microsoft.com/office/drawing/2014/main" id="{5199AA76-61DA-4102-BD89-CF13A172DCDE}"/>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93" name="Straight Connector 92">
              <a:extLst>
                <a:ext uri="{FF2B5EF4-FFF2-40B4-BE49-F238E27FC236}">
                  <a16:creationId xmlns:a16="http://schemas.microsoft.com/office/drawing/2014/main" id="{1E1760D0-1052-44C1-8455-3DA3603B78D3}"/>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94" name="Straight Connector 93">
              <a:extLst>
                <a:ext uri="{FF2B5EF4-FFF2-40B4-BE49-F238E27FC236}">
                  <a16:creationId xmlns:a16="http://schemas.microsoft.com/office/drawing/2014/main" id="{B5AA7E46-75AB-4529-AA13-F8C1CFE3F679}"/>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sp>
        <p:nvSpPr>
          <p:cNvPr id="95" name="Rectangle 94">
            <a:extLst>
              <a:ext uri="{FF2B5EF4-FFF2-40B4-BE49-F238E27FC236}">
                <a16:creationId xmlns:a16="http://schemas.microsoft.com/office/drawing/2014/main" id="{B8E8D9A9-FB2A-4EF4-AEDD-B55AE73FD660}"/>
              </a:ext>
            </a:extLst>
          </p:cNvPr>
          <p:cNvSpPr/>
          <p:nvPr/>
        </p:nvSpPr>
        <p:spPr>
          <a:xfrm>
            <a:off x="6000967" y="2757363"/>
            <a:ext cx="514339" cy="192025"/>
          </a:xfrm>
          <a:prstGeom prst="rect">
            <a:avLst/>
          </a:prstGeom>
          <a:solidFill>
            <a:srgbClr val="91B8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914400" fontAlgn="base">
              <a:spcBef>
                <a:spcPct val="0"/>
              </a:spcBef>
              <a:spcAft>
                <a:spcPct val="0"/>
              </a:spcAft>
              <a:defRPr/>
            </a:pPr>
            <a:r>
              <a:rPr lang="en-US" sz="1200" b="1" kern="0" dirty="0">
                <a:solidFill>
                  <a:sysClr val="windowText" lastClr="000000"/>
                </a:solidFill>
                <a:latin typeface="Arial"/>
              </a:rPr>
              <a:t>-</a:t>
            </a:r>
          </a:p>
        </p:txBody>
      </p:sp>
      <p:sp>
        <p:nvSpPr>
          <p:cNvPr id="96" name="Rectangle 95">
            <a:extLst>
              <a:ext uri="{FF2B5EF4-FFF2-40B4-BE49-F238E27FC236}">
                <a16:creationId xmlns:a16="http://schemas.microsoft.com/office/drawing/2014/main" id="{5C187B24-B116-4814-90F1-3559B40CEEC5}"/>
              </a:ext>
            </a:extLst>
          </p:cNvPr>
          <p:cNvSpPr/>
          <p:nvPr/>
        </p:nvSpPr>
        <p:spPr>
          <a:xfrm>
            <a:off x="5481798" y="2757364"/>
            <a:ext cx="514339" cy="192025"/>
          </a:xfrm>
          <a:prstGeom prst="rect">
            <a:avLst/>
          </a:prstGeom>
          <a:solidFill>
            <a:srgbClr val="91B8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914400" fontAlgn="base">
              <a:spcBef>
                <a:spcPct val="0"/>
              </a:spcBef>
              <a:spcAft>
                <a:spcPct val="0"/>
              </a:spcAft>
              <a:defRPr/>
            </a:pPr>
            <a:r>
              <a:rPr lang="en-US" sz="1600" b="1" kern="0" dirty="0">
                <a:solidFill>
                  <a:sysClr val="windowText" lastClr="000000"/>
                </a:solidFill>
                <a:latin typeface="Arial"/>
              </a:rPr>
              <a:t>*</a:t>
            </a:r>
          </a:p>
        </p:txBody>
      </p:sp>
      <p:sp>
        <p:nvSpPr>
          <p:cNvPr id="97" name="Rectangle 96">
            <a:extLst>
              <a:ext uri="{FF2B5EF4-FFF2-40B4-BE49-F238E27FC236}">
                <a16:creationId xmlns:a16="http://schemas.microsoft.com/office/drawing/2014/main" id="{4821D820-C6AD-48ED-82E0-FDE1A750AB94}"/>
              </a:ext>
            </a:extLst>
          </p:cNvPr>
          <p:cNvSpPr/>
          <p:nvPr/>
        </p:nvSpPr>
        <p:spPr>
          <a:xfrm>
            <a:off x="4969865" y="2757363"/>
            <a:ext cx="514339" cy="192027"/>
          </a:xfrm>
          <a:prstGeom prst="rect">
            <a:avLst/>
          </a:prstGeom>
          <a:solidFill>
            <a:srgbClr val="91B8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914400" fontAlgn="base">
              <a:spcBef>
                <a:spcPct val="0"/>
              </a:spcBef>
              <a:spcAft>
                <a:spcPct val="0"/>
              </a:spcAft>
              <a:defRPr/>
            </a:pPr>
            <a:r>
              <a:rPr lang="en-US" sz="1200" b="1" kern="0" dirty="0">
                <a:solidFill>
                  <a:sysClr val="windowText" lastClr="000000"/>
                </a:solidFill>
                <a:latin typeface="Arial"/>
              </a:rPr>
              <a:t>+</a:t>
            </a:r>
          </a:p>
        </p:txBody>
      </p:sp>
      <p:cxnSp>
        <p:nvCxnSpPr>
          <p:cNvPr id="98" name="Straight Connector 97">
            <a:extLst>
              <a:ext uri="{FF2B5EF4-FFF2-40B4-BE49-F238E27FC236}">
                <a16:creationId xmlns:a16="http://schemas.microsoft.com/office/drawing/2014/main" id="{6DFB9749-5A35-4040-ACCF-5412B3712112}"/>
              </a:ext>
            </a:extLst>
          </p:cNvPr>
          <p:cNvCxnSpPr/>
          <p:nvPr/>
        </p:nvCxnSpPr>
        <p:spPr>
          <a:xfrm>
            <a:off x="6002870" y="2565168"/>
            <a:ext cx="819093"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99" name="Straight Connector 98">
            <a:extLst>
              <a:ext uri="{FF2B5EF4-FFF2-40B4-BE49-F238E27FC236}">
                <a16:creationId xmlns:a16="http://schemas.microsoft.com/office/drawing/2014/main" id="{1FD9D994-F2EF-4146-A7B0-4C84C6D48808}"/>
              </a:ext>
            </a:extLst>
          </p:cNvPr>
          <p:cNvCxnSpPr/>
          <p:nvPr/>
        </p:nvCxnSpPr>
        <p:spPr>
          <a:xfrm rot="5400000">
            <a:off x="6764355" y="2622775"/>
            <a:ext cx="115214"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00" name="Straight Connector 99">
            <a:extLst>
              <a:ext uri="{FF2B5EF4-FFF2-40B4-BE49-F238E27FC236}">
                <a16:creationId xmlns:a16="http://schemas.microsoft.com/office/drawing/2014/main" id="{9B294690-EDE7-4992-B3DA-77F4428A3D3F}"/>
              </a:ext>
            </a:extLst>
          </p:cNvPr>
          <p:cNvCxnSpPr/>
          <p:nvPr/>
        </p:nvCxnSpPr>
        <p:spPr>
          <a:xfrm rot="5400000">
            <a:off x="5945259" y="2622775"/>
            <a:ext cx="115214"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01" name="Straight Connector 100">
            <a:extLst>
              <a:ext uri="{FF2B5EF4-FFF2-40B4-BE49-F238E27FC236}">
                <a16:creationId xmlns:a16="http://schemas.microsoft.com/office/drawing/2014/main" id="{D8E2EE4C-B0E9-46CE-BAE5-A0CB5ACADCF2}"/>
              </a:ext>
            </a:extLst>
          </p:cNvPr>
          <p:cNvCxnSpPr/>
          <p:nvPr/>
        </p:nvCxnSpPr>
        <p:spPr>
          <a:xfrm>
            <a:off x="6822077" y="2680554"/>
            <a:ext cx="358351" cy="1"/>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7FAE0-C85A-41AD-BA43-A3D06319F95C}"/>
              </a:ext>
            </a:extLst>
          </p:cNvPr>
          <p:cNvSpPr>
            <a:spLocks noGrp="1"/>
          </p:cNvSpPr>
          <p:nvPr>
            <p:ph type="title"/>
          </p:nvPr>
        </p:nvSpPr>
        <p:spPr>
          <a:xfrm>
            <a:off x="873932" y="2971081"/>
            <a:ext cx="5994124" cy="761747"/>
          </a:xfrm>
        </p:spPr>
        <p:txBody>
          <a:bodyPr/>
          <a:lstStyle/>
          <a:p>
            <a:r>
              <a:rPr lang="en-US" altLang="zh-CN" dirty="0"/>
              <a:t>High-Level Synthesis with Vitis HLS</a:t>
            </a:r>
            <a:endParaRPr lang="zh-CN" altLang="en-US" dirty="0"/>
          </a:p>
        </p:txBody>
      </p:sp>
    </p:spTree>
    <p:extLst>
      <p:ext uri="{BB962C8B-B14F-4D97-AF65-F5344CB8AC3E}">
        <p14:creationId xmlns:p14="http://schemas.microsoft.com/office/powerpoint/2010/main" val="4068809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RTL vs High-Level Language</a:t>
            </a:r>
          </a:p>
        </p:txBody>
      </p:sp>
      <p:sp>
        <p:nvSpPr>
          <p:cNvPr id="2" name="Slide Number Placeholder 1"/>
          <p:cNvSpPr>
            <a:spLocks noGrp="1"/>
          </p:cNvSpPr>
          <p:nvPr>
            <p:ph type="sldNum" sz="quarter" idx="10"/>
          </p:nvPr>
        </p:nvSpPr>
        <p:spPr/>
        <p:txBody>
          <a:bodyPr/>
          <a:lstStyle/>
          <a:p>
            <a:pPr>
              <a:defRPr/>
            </a:pPr>
            <a:r>
              <a:rPr lang="en-US" dirty="0"/>
              <a:t>Intro to HLS 11- </a:t>
            </a:r>
            <a:fld id="{060BD193-E118-4B16-863C-C8C12C675E3E}" type="slidenum">
              <a:rPr lang="en-US" smtClean="0"/>
              <a:pPr>
                <a:defRPr/>
              </a:pPr>
              <a:t>14</a:t>
            </a:fld>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9335" y="1248048"/>
            <a:ext cx="9533333" cy="4361905"/>
          </a:xfrm>
          <a:prstGeom prst="rect">
            <a:avLst/>
          </a:prstGeom>
        </p:spPr>
      </p:pic>
      <p:sp>
        <p:nvSpPr>
          <p:cNvPr id="6" name="矩形 5">
            <a:extLst>
              <a:ext uri="{FF2B5EF4-FFF2-40B4-BE49-F238E27FC236}">
                <a16:creationId xmlns:a16="http://schemas.microsoft.com/office/drawing/2014/main" id="{8B50F398-2AD5-4F7F-A7E5-42EEA93A367C}"/>
              </a:ext>
            </a:extLst>
          </p:cNvPr>
          <p:cNvSpPr/>
          <p:nvPr/>
        </p:nvSpPr>
        <p:spPr>
          <a:xfrm>
            <a:off x="1716480" y="1225267"/>
            <a:ext cx="981333" cy="32211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文本框 3">
            <a:extLst>
              <a:ext uri="{FF2B5EF4-FFF2-40B4-BE49-F238E27FC236}">
                <a16:creationId xmlns:a16="http://schemas.microsoft.com/office/drawing/2014/main" id="{F2C44364-F33E-4141-B48D-12DA78AEE6A9}"/>
              </a:ext>
            </a:extLst>
          </p:cNvPr>
          <p:cNvSpPr txBox="1"/>
          <p:nvPr/>
        </p:nvSpPr>
        <p:spPr>
          <a:xfrm>
            <a:off x="2035089" y="1186271"/>
            <a:ext cx="1153391" cy="400110"/>
          </a:xfrm>
          <a:prstGeom prst="rect">
            <a:avLst/>
          </a:prstGeom>
          <a:noFill/>
        </p:spPr>
        <p:txBody>
          <a:bodyPr wrap="square" rtlCol="0">
            <a:spAutoFit/>
          </a:bodyPr>
          <a:lstStyle/>
          <a:p>
            <a:r>
              <a:rPr lang="en-US" sz="2000" b="1" i="1" dirty="0">
                <a:solidFill>
                  <a:schemeClr val="tx1">
                    <a:lumMod val="75000"/>
                    <a:lumOff val="25000"/>
                  </a:schemeClr>
                </a:solidFill>
              </a:rPr>
              <a:t>Vitis</a:t>
            </a:r>
          </a:p>
        </p:txBody>
      </p:sp>
      <p:sp>
        <p:nvSpPr>
          <p:cNvPr id="7" name="矩形 6">
            <a:extLst>
              <a:ext uri="{FF2B5EF4-FFF2-40B4-BE49-F238E27FC236}">
                <a16:creationId xmlns:a16="http://schemas.microsoft.com/office/drawing/2014/main" id="{E2C7F370-A39D-41A8-9710-C58F151C2700}"/>
              </a:ext>
            </a:extLst>
          </p:cNvPr>
          <p:cNvSpPr/>
          <p:nvPr/>
        </p:nvSpPr>
        <p:spPr>
          <a:xfrm>
            <a:off x="6044240" y="1264263"/>
            <a:ext cx="981333" cy="322118"/>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文本框 7">
            <a:extLst>
              <a:ext uri="{FF2B5EF4-FFF2-40B4-BE49-F238E27FC236}">
                <a16:creationId xmlns:a16="http://schemas.microsoft.com/office/drawing/2014/main" id="{3D0BE9D0-AB07-4486-8328-507FDBACDE80}"/>
              </a:ext>
            </a:extLst>
          </p:cNvPr>
          <p:cNvSpPr txBox="1"/>
          <p:nvPr/>
        </p:nvSpPr>
        <p:spPr>
          <a:xfrm>
            <a:off x="6375026" y="1194458"/>
            <a:ext cx="1153391" cy="400110"/>
          </a:xfrm>
          <a:prstGeom prst="rect">
            <a:avLst/>
          </a:prstGeom>
          <a:noFill/>
        </p:spPr>
        <p:txBody>
          <a:bodyPr wrap="square" rtlCol="0">
            <a:spAutoFit/>
          </a:bodyPr>
          <a:lstStyle/>
          <a:p>
            <a:r>
              <a:rPr lang="en-US" sz="2000" b="1" i="1" dirty="0">
                <a:solidFill>
                  <a:schemeClr val="tx1">
                    <a:lumMod val="75000"/>
                    <a:lumOff val="25000"/>
                  </a:schemeClr>
                </a:solidFill>
              </a:rPr>
              <a:t>Vitis</a:t>
            </a:r>
          </a:p>
        </p:txBody>
      </p:sp>
    </p:spTree>
    <p:extLst>
      <p:ext uri="{BB962C8B-B14F-4D97-AF65-F5344CB8AC3E}">
        <p14:creationId xmlns:p14="http://schemas.microsoft.com/office/powerpoint/2010/main" val="25398088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Vitis HLS Benefits</a:t>
            </a:r>
          </a:p>
        </p:txBody>
      </p:sp>
      <p:sp>
        <p:nvSpPr>
          <p:cNvPr id="2" name="Content Placeholder 1"/>
          <p:cNvSpPr>
            <a:spLocks noGrp="1"/>
          </p:cNvSpPr>
          <p:nvPr>
            <p:ph idx="1"/>
          </p:nvPr>
        </p:nvSpPr>
        <p:spPr/>
        <p:txBody>
          <a:bodyPr/>
          <a:lstStyle/>
          <a:p>
            <a:r>
              <a:rPr lang="en-US" dirty="0">
                <a:solidFill>
                  <a:schemeClr val="tx1"/>
                </a:solidFill>
              </a:rPr>
              <a:t>Productivity</a:t>
            </a:r>
          </a:p>
          <a:p>
            <a:pPr lvl="1"/>
            <a:r>
              <a:rPr lang="en-US" dirty="0"/>
              <a:t>Verification</a:t>
            </a:r>
          </a:p>
          <a:p>
            <a:pPr lvl="2"/>
            <a:r>
              <a:rPr lang="en-US" dirty="0"/>
              <a:t>Functional</a:t>
            </a:r>
          </a:p>
          <a:p>
            <a:pPr lvl="2"/>
            <a:r>
              <a:rPr lang="en-US" dirty="0"/>
              <a:t>Architectural</a:t>
            </a:r>
          </a:p>
          <a:p>
            <a:pPr lvl="1"/>
            <a:r>
              <a:rPr lang="en-US" dirty="0"/>
              <a:t>Abstraction</a:t>
            </a:r>
          </a:p>
          <a:p>
            <a:pPr lvl="2"/>
            <a:r>
              <a:rPr lang="en-US" dirty="0" err="1"/>
              <a:t>Datatypes</a:t>
            </a:r>
            <a:endParaRPr lang="en-US" dirty="0"/>
          </a:p>
          <a:p>
            <a:pPr lvl="2"/>
            <a:r>
              <a:rPr lang="en-US" dirty="0"/>
              <a:t>Interface</a:t>
            </a:r>
          </a:p>
          <a:p>
            <a:pPr lvl="2"/>
            <a:r>
              <a:rPr lang="en-US" dirty="0"/>
              <a:t>Classes</a:t>
            </a:r>
          </a:p>
          <a:p>
            <a:pPr lvl="1"/>
            <a:r>
              <a:rPr lang="en-US" dirty="0"/>
              <a:t>Automation</a:t>
            </a:r>
          </a:p>
          <a:p>
            <a:pPr lvl="1"/>
            <a:endParaRPr lang="en-US" dirty="0"/>
          </a:p>
          <a:p>
            <a:pPr lvl="1"/>
            <a:endParaRPr lang="en-US" dirty="0"/>
          </a:p>
          <a:p>
            <a:r>
              <a:rPr lang="en-US" dirty="0">
                <a:solidFill>
                  <a:schemeClr val="tx1"/>
                </a:solidFill>
              </a:rPr>
              <a:t>Block level specification AND verification </a:t>
            </a:r>
            <a:r>
              <a:rPr lang="en-US" i="1" u="sng" dirty="0">
                <a:solidFill>
                  <a:schemeClr val="tx1"/>
                </a:solidFill>
              </a:rPr>
              <a:t>significantly</a:t>
            </a:r>
            <a:r>
              <a:rPr lang="en-US" dirty="0">
                <a:solidFill>
                  <a:schemeClr val="tx1"/>
                </a:solidFill>
              </a:rPr>
              <a:t> reduced </a:t>
            </a:r>
          </a:p>
          <a:p>
            <a:endParaRPr lang="en-US" dirty="0"/>
          </a:p>
        </p:txBody>
      </p:sp>
      <p:sp>
        <p:nvSpPr>
          <p:cNvPr id="3" name="Slide Number Placeholder 2"/>
          <p:cNvSpPr>
            <a:spLocks noGrp="1"/>
          </p:cNvSpPr>
          <p:nvPr>
            <p:ph type="sldNum" sz="quarter" idx="10"/>
          </p:nvPr>
        </p:nvSpPr>
        <p:spPr/>
        <p:txBody>
          <a:bodyPr/>
          <a:lstStyle/>
          <a:p>
            <a:pPr>
              <a:defRPr/>
            </a:pPr>
            <a:r>
              <a:rPr lang="en-US" dirty="0"/>
              <a:t>Intro to HLS 11- </a:t>
            </a:r>
            <a:fld id="{060BD193-E118-4B16-863C-C8C12C675E3E}" type="slidenum">
              <a:rPr lang="en-US" smtClean="0"/>
              <a:pPr>
                <a:defRPr/>
              </a:pPr>
              <a:t>15</a:t>
            </a:fld>
            <a:endParaRPr lang="en-US" dirty="0"/>
          </a:p>
        </p:txBody>
      </p:sp>
      <p:graphicFrame>
        <p:nvGraphicFramePr>
          <p:cNvPr id="16" name="Picture Placeholder 6">
            <a:extLst>
              <a:ext uri="{FF2B5EF4-FFF2-40B4-BE49-F238E27FC236}">
                <a16:creationId xmlns:a16="http://schemas.microsoft.com/office/drawing/2014/main" id="{455226C8-C6A6-426A-9880-553311AFD658}"/>
              </a:ext>
            </a:extLst>
          </p:cNvPr>
          <p:cNvGraphicFramePr>
            <a:graphicFrameLocks/>
          </p:cNvGraphicFramePr>
          <p:nvPr/>
        </p:nvGraphicFramePr>
        <p:xfrm>
          <a:off x="5803469" y="1727377"/>
          <a:ext cx="5095116" cy="1198880"/>
        </p:xfrm>
        <a:graphic>
          <a:graphicData uri="http://schemas.openxmlformats.org/drawingml/2006/table">
            <a:tbl>
              <a:tblPr firstRow="1"/>
              <a:tblGrid>
                <a:gridCol w="894971">
                  <a:extLst>
                    <a:ext uri="{9D8B030D-6E8A-4147-A177-3AD203B41FA5}">
                      <a16:colId xmlns:a16="http://schemas.microsoft.com/office/drawing/2014/main" val="20000"/>
                    </a:ext>
                  </a:extLst>
                </a:gridCol>
                <a:gridCol w="1458786">
                  <a:extLst>
                    <a:ext uri="{9D8B030D-6E8A-4147-A177-3AD203B41FA5}">
                      <a16:colId xmlns:a16="http://schemas.microsoft.com/office/drawing/2014/main" val="20001"/>
                    </a:ext>
                  </a:extLst>
                </a:gridCol>
                <a:gridCol w="1628204">
                  <a:extLst>
                    <a:ext uri="{9D8B030D-6E8A-4147-A177-3AD203B41FA5}">
                      <a16:colId xmlns:a16="http://schemas.microsoft.com/office/drawing/2014/main" val="20002"/>
                    </a:ext>
                  </a:extLst>
                </a:gridCol>
                <a:gridCol w="1113155">
                  <a:extLst>
                    <a:ext uri="{9D8B030D-6E8A-4147-A177-3AD203B41FA5}">
                      <a16:colId xmlns:a16="http://schemas.microsoft.com/office/drawing/2014/main" val="20003"/>
                    </a:ext>
                  </a:extLst>
                </a:gridCol>
              </a:tblGrid>
              <a:tr h="370840">
                <a:tc gridSpan="4">
                  <a:txBody>
                    <a:bodyPr/>
                    <a:lstStyle>
                      <a:lvl1pPr marL="0" algn="l" defTabSz="914126" rtl="0" eaLnBrk="1" latinLnBrk="0" hangingPunct="1">
                        <a:defRPr sz="1799" b="1" kern="1200">
                          <a:solidFill>
                            <a:schemeClr val="lt1"/>
                          </a:solidFill>
                          <a:latin typeface="Arial"/>
                        </a:defRPr>
                      </a:lvl1pPr>
                      <a:lvl2pPr marL="457063" algn="l" defTabSz="914126" rtl="0" eaLnBrk="1" latinLnBrk="0" hangingPunct="1">
                        <a:defRPr sz="1799" b="1" kern="1200">
                          <a:solidFill>
                            <a:schemeClr val="lt1"/>
                          </a:solidFill>
                          <a:latin typeface="Arial"/>
                        </a:defRPr>
                      </a:lvl2pPr>
                      <a:lvl3pPr marL="914126" algn="l" defTabSz="914126" rtl="0" eaLnBrk="1" latinLnBrk="0" hangingPunct="1">
                        <a:defRPr sz="1799" b="1" kern="1200">
                          <a:solidFill>
                            <a:schemeClr val="lt1"/>
                          </a:solidFill>
                          <a:latin typeface="Arial"/>
                        </a:defRPr>
                      </a:lvl3pPr>
                      <a:lvl4pPr marL="1371189" algn="l" defTabSz="914126" rtl="0" eaLnBrk="1" latinLnBrk="0" hangingPunct="1">
                        <a:defRPr sz="1799" b="1" kern="1200">
                          <a:solidFill>
                            <a:schemeClr val="lt1"/>
                          </a:solidFill>
                          <a:latin typeface="Arial"/>
                        </a:defRPr>
                      </a:lvl4pPr>
                      <a:lvl5pPr marL="1828251" algn="l" defTabSz="914126" rtl="0" eaLnBrk="1" latinLnBrk="0" hangingPunct="1">
                        <a:defRPr sz="1799" b="1" kern="1200">
                          <a:solidFill>
                            <a:schemeClr val="lt1"/>
                          </a:solidFill>
                          <a:latin typeface="Arial"/>
                        </a:defRPr>
                      </a:lvl5pPr>
                      <a:lvl6pPr marL="2285314" algn="l" defTabSz="914126" rtl="0" eaLnBrk="1" latinLnBrk="0" hangingPunct="1">
                        <a:defRPr sz="1799" b="1" kern="1200">
                          <a:solidFill>
                            <a:schemeClr val="lt1"/>
                          </a:solidFill>
                          <a:latin typeface="Arial"/>
                        </a:defRPr>
                      </a:lvl6pPr>
                      <a:lvl7pPr marL="2742377" algn="l" defTabSz="914126" rtl="0" eaLnBrk="1" latinLnBrk="0" hangingPunct="1">
                        <a:defRPr sz="1799" b="1" kern="1200">
                          <a:solidFill>
                            <a:schemeClr val="lt1"/>
                          </a:solidFill>
                          <a:latin typeface="Arial"/>
                        </a:defRPr>
                      </a:lvl7pPr>
                      <a:lvl8pPr marL="3199440" algn="l" defTabSz="914126" rtl="0" eaLnBrk="1" latinLnBrk="0" hangingPunct="1">
                        <a:defRPr sz="1799" b="1" kern="1200">
                          <a:solidFill>
                            <a:schemeClr val="lt1"/>
                          </a:solidFill>
                          <a:latin typeface="Arial"/>
                        </a:defRPr>
                      </a:lvl8pPr>
                      <a:lvl9pPr marL="3656503" algn="l" defTabSz="914126" rtl="0" eaLnBrk="1" latinLnBrk="0" hangingPunct="1">
                        <a:defRPr sz="1799" b="1" kern="1200">
                          <a:solidFill>
                            <a:schemeClr val="lt1"/>
                          </a:solidFill>
                          <a:latin typeface="Arial"/>
                        </a:defRPr>
                      </a:lvl9pPr>
                    </a:lstStyle>
                    <a:p>
                      <a:pPr algn="ctr"/>
                      <a:r>
                        <a:rPr lang="en-US" sz="1200" dirty="0"/>
                        <a:t>Video Design Example</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cell3D prstMaterial="dkEdge">
                      <a:bevel prst="coolSlant"/>
                      <a:lightRig rig="flood" dir="t"/>
                    </a:cell3D>
                    <a:solidFill>
                      <a:srgbClr val="008CA8"/>
                    </a:solidFill>
                  </a:tcPr>
                </a:tc>
                <a:tc hMerge="1">
                  <a:txBody>
                    <a:bodyPr/>
                    <a:lstStyle/>
                    <a:p>
                      <a:endParaRPr lang="en-US" sz="1200" dirty="0"/>
                    </a:p>
                  </a:txBody>
                  <a:tcPr>
                    <a:cell3D prstMaterial="dkEdge">
                      <a:bevel prst="coolSlant"/>
                      <a:lightRig rig="flood" dir="t"/>
                    </a:cell3D>
                  </a:tcPr>
                </a:tc>
                <a:tc hMerge="1">
                  <a:txBody>
                    <a:bodyPr/>
                    <a:lstStyle/>
                    <a:p>
                      <a:pPr marL="285750" indent="-285750">
                        <a:buFont typeface="Arial" pitchFamily="34" charset="0"/>
                        <a:buNone/>
                      </a:pPr>
                      <a:endParaRPr lang="en-US" sz="1200" dirty="0"/>
                    </a:p>
                  </a:txBody>
                  <a:tcPr>
                    <a:cell3D prstMaterial="dkEdge">
                      <a:bevel prst="coolSlant"/>
                      <a:lightRig rig="flood" dir="t"/>
                    </a:cell3D>
                  </a:tcPr>
                </a:tc>
                <a:tc hMerge="1">
                  <a:txBody>
                    <a:bodyPr/>
                    <a:lstStyle/>
                    <a:p>
                      <a:pPr marL="285750" indent="-285750">
                        <a:buFont typeface="Arial" pitchFamily="34" charset="0"/>
                        <a:buNone/>
                      </a:pPr>
                      <a:endParaRPr lang="en-US" sz="1200" dirty="0"/>
                    </a:p>
                  </a:txBody>
                  <a:tcPr>
                    <a:cell3D prstMaterial="dkEdge">
                      <a:bevel prst="coolSlant"/>
                      <a:lightRig rig="flood" dir="t"/>
                    </a:cell3D>
                  </a:tcPr>
                </a:tc>
                <a:extLst>
                  <a:ext uri="{0D108BD9-81ED-4DB2-BD59-A6C34878D82A}">
                    <a16:rowId xmlns:a16="http://schemas.microsoft.com/office/drawing/2014/main" val="10000"/>
                  </a:ext>
                </a:extLst>
              </a:tr>
              <a:tr h="370840">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r>
                        <a:rPr lang="en-US" sz="1200" dirty="0"/>
                        <a:t>Input</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cell3D prstMaterial="dkEdge">
                      <a:bevel prst="coolSlant"/>
                      <a:lightRig rig="flood" dir="t"/>
                    </a:cell3D>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r>
                        <a:rPr lang="en-US" sz="1200" dirty="0"/>
                        <a:t>C</a:t>
                      </a:r>
                      <a:r>
                        <a:rPr lang="en-US" sz="1200" baseline="0" dirty="0"/>
                        <a:t> Simulation Time</a:t>
                      </a:r>
                      <a:endParaRPr lang="en-US" sz="1200" dirty="0"/>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cell3D prstMaterial="dkEdge">
                      <a:bevel prst="coolSlant"/>
                      <a:lightRig rig="flood" dir="t"/>
                    </a:cell3D>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285750" indent="-285750">
                        <a:buFont typeface="Arial" pitchFamily="34" charset="0"/>
                        <a:buNone/>
                      </a:pPr>
                      <a:r>
                        <a:rPr lang="en-US" sz="1200" dirty="0"/>
                        <a:t>RTL</a:t>
                      </a:r>
                      <a:r>
                        <a:rPr lang="en-US" sz="1200" baseline="0" dirty="0"/>
                        <a:t> Simulation Time</a:t>
                      </a:r>
                      <a:endParaRPr lang="en-US" sz="1200" dirty="0"/>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cell3D prstMaterial="dkEdge">
                      <a:bevel prst="coolSlant"/>
                      <a:lightRig rig="flood" dir="t"/>
                    </a:cell3D>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285750" indent="-285750">
                        <a:buFont typeface="Arial" pitchFamily="34" charset="0"/>
                        <a:buNone/>
                      </a:pPr>
                      <a:r>
                        <a:rPr lang="en-US" sz="1200" dirty="0"/>
                        <a:t>Improvement</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cell3D prstMaterial="dkEdge">
                      <a:bevel prst="coolSlant"/>
                      <a:lightRig rig="flood" dir="t"/>
                    </a:cell3D>
                    <a:solidFill>
                      <a:srgbClr val="008CA8">
                        <a:tint val="20000"/>
                      </a:srgbClr>
                    </a:solidFill>
                  </a:tcPr>
                </a:tc>
                <a:extLst>
                  <a:ext uri="{0D108BD9-81ED-4DB2-BD59-A6C34878D82A}">
                    <a16:rowId xmlns:a16="http://schemas.microsoft.com/office/drawing/2014/main" val="10001"/>
                  </a:ext>
                </a:extLst>
              </a:tr>
              <a:tr h="370840">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r>
                        <a:rPr lang="en-US" sz="1200" dirty="0"/>
                        <a:t>10 frames</a:t>
                      </a:r>
                    </a:p>
                    <a:p>
                      <a:r>
                        <a:rPr lang="en-US" sz="1200" dirty="0"/>
                        <a:t>1280x720</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cell3D prstMaterial="dkEdge">
                      <a:bevel prst="coolSlant"/>
                      <a:lightRig rig="flood" dir="t"/>
                    </a:cell3D>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r>
                        <a:rPr lang="en-US" sz="1200" dirty="0"/>
                        <a:t>10s</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cell3D prstMaterial="dkEdge">
                      <a:bevel prst="coolSlant"/>
                      <a:lightRig rig="flood" dir="t"/>
                    </a:cell3D>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285750" indent="-285750">
                        <a:buFont typeface="Arial" pitchFamily="34" charset="0"/>
                        <a:buNone/>
                      </a:pPr>
                      <a:r>
                        <a:rPr lang="en-US" sz="1200" dirty="0"/>
                        <a:t>~2 days</a:t>
                      </a:r>
                    </a:p>
                    <a:p>
                      <a:pPr marL="285750" indent="-285750">
                        <a:buFont typeface="Arial" pitchFamily="34" charset="0"/>
                        <a:buNone/>
                      </a:pPr>
                      <a:r>
                        <a:rPr lang="en-US" sz="1200" dirty="0"/>
                        <a:t>(</a:t>
                      </a:r>
                      <a:r>
                        <a:rPr lang="en-US" sz="1200" dirty="0" err="1"/>
                        <a:t>ModelSim</a:t>
                      </a:r>
                      <a:r>
                        <a:rPr lang="en-US" sz="1200" dirty="0"/>
                        <a:t>)</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cell3D prstMaterial="dkEdge">
                      <a:bevel prst="coolSlant"/>
                      <a:lightRig rig="flood" dir="t"/>
                    </a:cell3D>
                    <a:solidFill>
                      <a:srgbClr val="008CA8">
                        <a:tint val="20000"/>
                      </a:srgbClr>
                    </a:solidFill>
                  </a:tcPr>
                </a:tc>
                <a:tc>
                  <a:txBody>
                    <a:bodyPr/>
                    <a:lstStyle>
                      <a:lvl1pPr marL="0" algn="l" defTabSz="914126" rtl="0" eaLnBrk="1" latinLnBrk="0" hangingPunct="1">
                        <a:defRPr sz="1799" kern="1200">
                          <a:solidFill>
                            <a:schemeClr val="dk1"/>
                          </a:solidFill>
                          <a:latin typeface="Arial"/>
                        </a:defRPr>
                      </a:lvl1pPr>
                      <a:lvl2pPr marL="457063" algn="l" defTabSz="914126" rtl="0" eaLnBrk="1" latinLnBrk="0" hangingPunct="1">
                        <a:defRPr sz="1799" kern="1200">
                          <a:solidFill>
                            <a:schemeClr val="dk1"/>
                          </a:solidFill>
                          <a:latin typeface="Arial"/>
                        </a:defRPr>
                      </a:lvl2pPr>
                      <a:lvl3pPr marL="914126" algn="l" defTabSz="914126" rtl="0" eaLnBrk="1" latinLnBrk="0" hangingPunct="1">
                        <a:defRPr sz="1799" kern="1200">
                          <a:solidFill>
                            <a:schemeClr val="dk1"/>
                          </a:solidFill>
                          <a:latin typeface="Arial"/>
                        </a:defRPr>
                      </a:lvl3pPr>
                      <a:lvl4pPr marL="1371189" algn="l" defTabSz="914126" rtl="0" eaLnBrk="1" latinLnBrk="0" hangingPunct="1">
                        <a:defRPr sz="1799" kern="1200">
                          <a:solidFill>
                            <a:schemeClr val="dk1"/>
                          </a:solidFill>
                          <a:latin typeface="Arial"/>
                        </a:defRPr>
                      </a:lvl4pPr>
                      <a:lvl5pPr marL="1828251" algn="l" defTabSz="914126" rtl="0" eaLnBrk="1" latinLnBrk="0" hangingPunct="1">
                        <a:defRPr sz="1799" kern="1200">
                          <a:solidFill>
                            <a:schemeClr val="dk1"/>
                          </a:solidFill>
                          <a:latin typeface="Arial"/>
                        </a:defRPr>
                      </a:lvl5pPr>
                      <a:lvl6pPr marL="2285314" algn="l" defTabSz="914126" rtl="0" eaLnBrk="1" latinLnBrk="0" hangingPunct="1">
                        <a:defRPr sz="1799" kern="1200">
                          <a:solidFill>
                            <a:schemeClr val="dk1"/>
                          </a:solidFill>
                          <a:latin typeface="Arial"/>
                        </a:defRPr>
                      </a:lvl6pPr>
                      <a:lvl7pPr marL="2742377" algn="l" defTabSz="914126" rtl="0" eaLnBrk="1" latinLnBrk="0" hangingPunct="1">
                        <a:defRPr sz="1799" kern="1200">
                          <a:solidFill>
                            <a:schemeClr val="dk1"/>
                          </a:solidFill>
                          <a:latin typeface="Arial"/>
                        </a:defRPr>
                      </a:lvl7pPr>
                      <a:lvl8pPr marL="3199440" algn="l" defTabSz="914126" rtl="0" eaLnBrk="1" latinLnBrk="0" hangingPunct="1">
                        <a:defRPr sz="1799" kern="1200">
                          <a:solidFill>
                            <a:schemeClr val="dk1"/>
                          </a:solidFill>
                          <a:latin typeface="Arial"/>
                        </a:defRPr>
                      </a:lvl8pPr>
                      <a:lvl9pPr marL="3656503" algn="l" defTabSz="914126" rtl="0" eaLnBrk="1" latinLnBrk="0" hangingPunct="1">
                        <a:defRPr sz="1799" kern="1200">
                          <a:solidFill>
                            <a:schemeClr val="dk1"/>
                          </a:solidFill>
                          <a:latin typeface="Arial"/>
                        </a:defRPr>
                      </a:lvl9pPr>
                    </a:lstStyle>
                    <a:p>
                      <a:pPr marL="285750" indent="-285750">
                        <a:buFont typeface="Arial" pitchFamily="34" charset="0"/>
                        <a:buNone/>
                      </a:pPr>
                      <a:r>
                        <a:rPr lang="en-US" sz="1200" dirty="0"/>
                        <a:t>~12000x</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cell3D prstMaterial="dkEdge">
                      <a:bevel prst="coolSlant"/>
                      <a:lightRig rig="flood" dir="t"/>
                    </a:cell3D>
                    <a:solidFill>
                      <a:srgbClr val="008CA8">
                        <a:tint val="20000"/>
                      </a:srgbClr>
                    </a:solidFill>
                  </a:tcPr>
                </a:tc>
                <a:extLst>
                  <a:ext uri="{0D108BD9-81ED-4DB2-BD59-A6C34878D82A}">
                    <a16:rowId xmlns:a16="http://schemas.microsoft.com/office/drawing/2014/main" val="10002"/>
                  </a:ext>
                </a:extLst>
              </a:tr>
            </a:tbl>
          </a:graphicData>
        </a:graphic>
      </p:graphicFrame>
      <p:grpSp>
        <p:nvGrpSpPr>
          <p:cNvPr id="17" name="Group 14">
            <a:extLst>
              <a:ext uri="{FF2B5EF4-FFF2-40B4-BE49-F238E27FC236}">
                <a16:creationId xmlns:a16="http://schemas.microsoft.com/office/drawing/2014/main" id="{C35AC53A-2B58-40D2-97A2-158DD8E7CCB7}"/>
              </a:ext>
            </a:extLst>
          </p:cNvPr>
          <p:cNvGrpSpPr/>
          <p:nvPr/>
        </p:nvGrpSpPr>
        <p:grpSpPr>
          <a:xfrm>
            <a:off x="5829125" y="3425527"/>
            <a:ext cx="5069460" cy="683931"/>
            <a:chOff x="3650280" y="3321144"/>
            <a:chExt cx="5069460" cy="683931"/>
          </a:xfrm>
        </p:grpSpPr>
        <p:sp>
          <p:nvSpPr>
            <p:cNvPr id="18" name="Freeform 9">
              <a:extLst>
                <a:ext uri="{FF2B5EF4-FFF2-40B4-BE49-F238E27FC236}">
                  <a16:creationId xmlns:a16="http://schemas.microsoft.com/office/drawing/2014/main" id="{B1C983DE-52F1-4B6A-90A4-9EE0DD576EE0}"/>
                </a:ext>
              </a:extLst>
            </p:cNvPr>
            <p:cNvSpPr/>
            <p:nvPr/>
          </p:nvSpPr>
          <p:spPr bwMode="auto">
            <a:xfrm>
              <a:off x="6092645" y="3474705"/>
              <a:ext cx="184730" cy="369332"/>
            </a:xfrm>
            <a:custGeom>
              <a:avLst/>
              <a:gdLst>
                <a:gd name="connsiteX0" fmla="*/ 0 w 3683000"/>
                <a:gd name="connsiteY0" fmla="*/ 0 h 323850"/>
                <a:gd name="connsiteX1" fmla="*/ 3683000 w 3683000"/>
                <a:gd name="connsiteY1" fmla="*/ 6350 h 323850"/>
                <a:gd name="connsiteX2" fmla="*/ 1289050 w 3683000"/>
                <a:gd name="connsiteY2" fmla="*/ 323850 h 323850"/>
                <a:gd name="connsiteX3" fmla="*/ 6350 w 3683000"/>
                <a:gd name="connsiteY3" fmla="*/ 311150 h 323850"/>
                <a:gd name="connsiteX4" fmla="*/ 0 w 3683000"/>
                <a:gd name="connsiteY4" fmla="*/ 0 h 323850"/>
                <a:gd name="connsiteX0" fmla="*/ 970 w 3683970"/>
                <a:gd name="connsiteY0" fmla="*/ 0 h 323850"/>
                <a:gd name="connsiteX1" fmla="*/ 3683970 w 3683970"/>
                <a:gd name="connsiteY1" fmla="*/ 6350 h 323850"/>
                <a:gd name="connsiteX2" fmla="*/ 1290020 w 3683970"/>
                <a:gd name="connsiteY2" fmla="*/ 323850 h 323850"/>
                <a:gd name="connsiteX3" fmla="*/ 0 w 3683970"/>
                <a:gd name="connsiteY3" fmla="*/ 322075 h 323850"/>
                <a:gd name="connsiteX4" fmla="*/ 970 w 3683970"/>
                <a:gd name="connsiteY4" fmla="*/ 0 h 323850"/>
                <a:gd name="connsiteX0" fmla="*/ 970 w 5069460"/>
                <a:gd name="connsiteY0" fmla="*/ 0 h 323850"/>
                <a:gd name="connsiteX1" fmla="*/ 5069460 w 5069460"/>
                <a:gd name="connsiteY1" fmla="*/ 7476 h 323850"/>
                <a:gd name="connsiteX2" fmla="*/ 1290020 w 5069460"/>
                <a:gd name="connsiteY2" fmla="*/ 323850 h 323850"/>
                <a:gd name="connsiteX3" fmla="*/ 0 w 5069460"/>
                <a:gd name="connsiteY3" fmla="*/ 322075 h 323850"/>
                <a:gd name="connsiteX4" fmla="*/ 970 w 5069460"/>
                <a:gd name="connsiteY4" fmla="*/ 0 h 323850"/>
                <a:gd name="connsiteX0" fmla="*/ 970 w 5069460"/>
                <a:gd name="connsiteY0" fmla="*/ 0 h 322075"/>
                <a:gd name="connsiteX1" fmla="*/ 5069460 w 5069460"/>
                <a:gd name="connsiteY1" fmla="*/ 7476 h 322075"/>
                <a:gd name="connsiteX2" fmla="*/ 1036935 w 5069460"/>
                <a:gd name="connsiteY2" fmla="*/ 314716 h 322075"/>
                <a:gd name="connsiteX3" fmla="*/ 0 w 5069460"/>
                <a:gd name="connsiteY3" fmla="*/ 322075 h 322075"/>
                <a:gd name="connsiteX4" fmla="*/ 970 w 5069460"/>
                <a:gd name="connsiteY4" fmla="*/ 0 h 322075"/>
                <a:gd name="connsiteX0" fmla="*/ 970 w 5069460"/>
                <a:gd name="connsiteY0" fmla="*/ 0 h 322075"/>
                <a:gd name="connsiteX1" fmla="*/ 5069460 w 5069460"/>
                <a:gd name="connsiteY1" fmla="*/ 7476 h 322075"/>
                <a:gd name="connsiteX2" fmla="*/ 0 w 5069460"/>
                <a:gd name="connsiteY2" fmla="*/ 322075 h 322075"/>
                <a:gd name="connsiteX3" fmla="*/ 970 w 5069460"/>
                <a:gd name="connsiteY3" fmla="*/ 0 h 322075"/>
                <a:gd name="connsiteX0" fmla="*/ 970 w 5069460"/>
                <a:gd name="connsiteY0" fmla="*/ 0 h 322075"/>
                <a:gd name="connsiteX1" fmla="*/ 5069460 w 5069460"/>
                <a:gd name="connsiteY1" fmla="*/ 7476 h 322075"/>
                <a:gd name="connsiteX2" fmla="*/ 936960 w 5069460"/>
                <a:gd name="connsiteY2" fmla="*/ 265947 h 322075"/>
                <a:gd name="connsiteX3" fmla="*/ 0 w 5069460"/>
                <a:gd name="connsiteY3" fmla="*/ 322075 h 322075"/>
                <a:gd name="connsiteX4" fmla="*/ 970 w 5069460"/>
                <a:gd name="connsiteY4" fmla="*/ 0 h 322075"/>
                <a:gd name="connsiteX0" fmla="*/ 970 w 5069460"/>
                <a:gd name="connsiteY0" fmla="*/ 0 h 322075"/>
                <a:gd name="connsiteX1" fmla="*/ 5069460 w 5069460"/>
                <a:gd name="connsiteY1" fmla="*/ 7476 h 322075"/>
                <a:gd name="connsiteX2" fmla="*/ 921720 w 5069460"/>
                <a:gd name="connsiteY2" fmla="*/ 314717 h 322075"/>
                <a:gd name="connsiteX3" fmla="*/ 0 w 5069460"/>
                <a:gd name="connsiteY3" fmla="*/ 322075 h 322075"/>
                <a:gd name="connsiteX4" fmla="*/ 970 w 5069460"/>
                <a:gd name="connsiteY4" fmla="*/ 0 h 322075"/>
                <a:gd name="connsiteX0" fmla="*/ 970 w 5069460"/>
                <a:gd name="connsiteY0" fmla="*/ 0 h 322075"/>
                <a:gd name="connsiteX1" fmla="*/ 5069460 w 5069460"/>
                <a:gd name="connsiteY1" fmla="*/ 7476 h 322075"/>
                <a:gd name="connsiteX2" fmla="*/ 1036935 w 5069460"/>
                <a:gd name="connsiteY2" fmla="*/ 314717 h 322075"/>
                <a:gd name="connsiteX3" fmla="*/ 0 w 5069460"/>
                <a:gd name="connsiteY3" fmla="*/ 322075 h 322075"/>
                <a:gd name="connsiteX4" fmla="*/ 970 w 5069460"/>
                <a:gd name="connsiteY4" fmla="*/ 0 h 322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69460" h="322075">
                  <a:moveTo>
                    <a:pt x="970" y="0"/>
                  </a:moveTo>
                  <a:lnTo>
                    <a:pt x="5069460" y="7476"/>
                  </a:lnTo>
                  <a:lnTo>
                    <a:pt x="1036935" y="314717"/>
                  </a:lnTo>
                  <a:lnTo>
                    <a:pt x="0" y="322075"/>
                  </a:lnTo>
                  <a:cubicBezTo>
                    <a:pt x="323" y="214717"/>
                    <a:pt x="647" y="107358"/>
                    <a:pt x="970" y="0"/>
                  </a:cubicBezTo>
                  <a:close/>
                </a:path>
              </a:pathLst>
            </a:cu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noFill/>
              <a:prstDash val="solid"/>
              <a:headEnd type="none" w="med" len="med"/>
              <a:tailEnd type="none" w="med" len="med"/>
            </a:ln>
            <a:effectLst>
              <a:outerShdw blurRad="40000" dist="20000" dir="5400000" rotWithShape="0">
                <a:srgbClr val="000000">
                  <a:alpha val="38000"/>
                </a:srgbClr>
              </a:outerShdw>
            </a:effectLst>
          </p:spPr>
          <p:txBody>
            <a:bodyPr vert="horz" wrap="none" lIns="91440" tIns="45720" rIns="91440" bIns="45720" numCol="1" rtlCol="0" anchor="ctr" anchorCtr="0" compatLnSpc="1">
              <a:prstTxWarp prst="textNoShape">
                <a:avLst/>
              </a:prstTxWarp>
              <a:spAutoFit/>
            </a:bodyPr>
            <a:lstStyle/>
            <a:p>
              <a:pPr algn="ctr" defTabSz="914400" fontAlgn="base">
                <a:spcBef>
                  <a:spcPct val="0"/>
                </a:spcBef>
                <a:spcAft>
                  <a:spcPct val="0"/>
                </a:spcAft>
                <a:defRPr/>
              </a:pPr>
              <a:endParaRPr lang="en-US" kern="0">
                <a:solidFill>
                  <a:srgbClr val="000000"/>
                </a:solidFill>
                <a:latin typeface="Arial"/>
              </a:endParaRPr>
            </a:p>
          </p:txBody>
        </p:sp>
        <p:sp>
          <p:nvSpPr>
            <p:cNvPr id="19" name="Rectangle 18">
              <a:extLst>
                <a:ext uri="{FF2B5EF4-FFF2-40B4-BE49-F238E27FC236}">
                  <a16:creationId xmlns:a16="http://schemas.microsoft.com/office/drawing/2014/main" id="{B4ECE9FE-CE7C-4558-80D3-25705097F875}"/>
                </a:ext>
              </a:extLst>
            </p:cNvPr>
            <p:cNvSpPr/>
            <p:nvPr/>
          </p:nvSpPr>
          <p:spPr bwMode="auto">
            <a:xfrm>
              <a:off x="3650280" y="3321144"/>
              <a:ext cx="3686880" cy="184666"/>
            </a:xfrm>
            <a:prstGeom prst="rect">
              <a:avLst/>
            </a:prstGeom>
            <a:solidFill>
              <a:srgbClr val="8B8D09"/>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balanced" dir="t">
                <a:rot lat="0" lon="0" rev="8700000"/>
              </a:lightRig>
            </a:scene3d>
            <a:sp3d>
              <a:bevelT w="190500" h="38100"/>
            </a:sp3d>
          </p:spPr>
          <p:txBody>
            <a:bodyPr vert="horz" wrap="none" lIns="91440" tIns="45720" rIns="91440" bIns="45720" numCol="1" rtlCol="0" anchor="ctr" anchorCtr="0" compatLnSpc="1">
              <a:prstTxWarp prst="textNoShape">
                <a:avLst/>
              </a:prstTxWarp>
              <a:noAutofit/>
            </a:bodyPr>
            <a:lstStyle/>
            <a:p>
              <a:pPr algn="ctr" defTabSz="914400" fontAlgn="base">
                <a:spcBef>
                  <a:spcPct val="0"/>
                </a:spcBef>
                <a:spcAft>
                  <a:spcPct val="0"/>
                </a:spcAft>
                <a:defRPr/>
              </a:pPr>
              <a:r>
                <a:rPr lang="en-US" sz="1100" kern="0" dirty="0">
                  <a:solidFill>
                    <a:srgbClr val="FFFFFF"/>
                  </a:solidFill>
                  <a:latin typeface="Arial"/>
                </a:rPr>
                <a:t>RTL (Spec)</a:t>
              </a:r>
            </a:p>
          </p:txBody>
        </p:sp>
        <p:sp>
          <p:nvSpPr>
            <p:cNvPr id="20" name="Rectangle 19">
              <a:extLst>
                <a:ext uri="{FF2B5EF4-FFF2-40B4-BE49-F238E27FC236}">
                  <a16:creationId xmlns:a16="http://schemas.microsoft.com/office/drawing/2014/main" id="{5F79137D-96A4-4A55-ADF7-7EAD264B2A00}"/>
                </a:ext>
              </a:extLst>
            </p:cNvPr>
            <p:cNvSpPr/>
            <p:nvPr/>
          </p:nvSpPr>
          <p:spPr bwMode="auto">
            <a:xfrm>
              <a:off x="7335940" y="3321144"/>
              <a:ext cx="1383800" cy="184666"/>
            </a:xfrm>
            <a:prstGeom prst="rect">
              <a:avLst/>
            </a:prstGeom>
            <a:solidFill>
              <a:srgbClr val="3F3F3F">
                <a:lumMod val="85000"/>
                <a:lumOff val="15000"/>
              </a:srgbClr>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balanced" dir="t">
                <a:rot lat="0" lon="0" rev="8700000"/>
              </a:lightRig>
            </a:scene3d>
            <a:sp3d>
              <a:bevelT w="190500" h="38100"/>
            </a:sp3d>
          </p:spPr>
          <p:txBody>
            <a:bodyPr vert="horz" wrap="none" lIns="91440" tIns="45720" rIns="91440" bIns="45720" numCol="1" rtlCol="0" anchor="ctr" anchorCtr="0" compatLnSpc="1">
              <a:prstTxWarp prst="textNoShape">
                <a:avLst/>
              </a:prstTxWarp>
              <a:noAutofit/>
            </a:bodyPr>
            <a:lstStyle/>
            <a:p>
              <a:pPr algn="ctr" defTabSz="914400" fontAlgn="base">
                <a:spcBef>
                  <a:spcPct val="0"/>
                </a:spcBef>
                <a:spcAft>
                  <a:spcPct val="0"/>
                </a:spcAft>
                <a:defRPr/>
              </a:pPr>
              <a:r>
                <a:rPr lang="en-US" sz="1100" kern="0" dirty="0">
                  <a:solidFill>
                    <a:srgbClr val="FFFFFF"/>
                  </a:solidFill>
                  <a:latin typeface="Arial"/>
                </a:rPr>
                <a:t>RTL (</a:t>
              </a:r>
              <a:r>
                <a:rPr lang="en-US" sz="1100" kern="0" dirty="0" err="1">
                  <a:solidFill>
                    <a:srgbClr val="FFFFFF"/>
                  </a:solidFill>
                  <a:latin typeface="Arial"/>
                </a:rPr>
                <a:t>Sim</a:t>
              </a:r>
              <a:r>
                <a:rPr lang="en-US" sz="1100" kern="0" dirty="0">
                  <a:solidFill>
                    <a:srgbClr val="FFFFFF"/>
                  </a:solidFill>
                  <a:latin typeface="Arial"/>
                </a:rPr>
                <a:t>)</a:t>
              </a:r>
            </a:p>
          </p:txBody>
        </p:sp>
        <p:sp>
          <p:nvSpPr>
            <p:cNvPr id="21" name="Rectangle 20">
              <a:extLst>
                <a:ext uri="{FF2B5EF4-FFF2-40B4-BE49-F238E27FC236}">
                  <a16:creationId xmlns:a16="http://schemas.microsoft.com/office/drawing/2014/main" id="{A62EA6FB-DFDA-4F4D-AC93-06F4D10A4856}"/>
                </a:ext>
              </a:extLst>
            </p:cNvPr>
            <p:cNvSpPr/>
            <p:nvPr/>
          </p:nvSpPr>
          <p:spPr bwMode="auto">
            <a:xfrm>
              <a:off x="3650281" y="3820409"/>
              <a:ext cx="921720" cy="184666"/>
            </a:xfrm>
            <a:prstGeom prst="rect">
              <a:avLst/>
            </a:prstGeom>
            <a:solidFill>
              <a:srgbClr val="0070C0"/>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balanced" dir="t">
                <a:rot lat="0" lon="0" rev="8700000"/>
              </a:lightRig>
            </a:scene3d>
            <a:sp3d>
              <a:bevelT w="190500" h="38100"/>
            </a:sp3d>
          </p:spPr>
          <p:txBody>
            <a:bodyPr vert="horz" wrap="none" lIns="91440" tIns="45720" rIns="91440" bIns="45720" numCol="1" rtlCol="0" anchor="ctr" anchorCtr="0" compatLnSpc="1">
              <a:prstTxWarp prst="textNoShape">
                <a:avLst/>
              </a:prstTxWarp>
              <a:noAutofit/>
            </a:bodyPr>
            <a:lstStyle/>
            <a:p>
              <a:pPr algn="ctr" defTabSz="914400" fontAlgn="base">
                <a:spcBef>
                  <a:spcPct val="0"/>
                </a:spcBef>
                <a:spcAft>
                  <a:spcPct val="0"/>
                </a:spcAft>
                <a:defRPr/>
              </a:pPr>
              <a:r>
                <a:rPr lang="en-US" sz="1100" kern="0" dirty="0">
                  <a:solidFill>
                    <a:srgbClr val="FFFFFF"/>
                  </a:solidFill>
                  <a:latin typeface="Arial"/>
                </a:rPr>
                <a:t>C (Spec/</a:t>
              </a:r>
              <a:r>
                <a:rPr lang="en-US" sz="1100" kern="0" dirty="0" err="1">
                  <a:solidFill>
                    <a:srgbClr val="FFFFFF"/>
                  </a:solidFill>
                  <a:latin typeface="Arial"/>
                </a:rPr>
                <a:t>Sim</a:t>
              </a:r>
              <a:r>
                <a:rPr lang="en-US" sz="1100" kern="0" dirty="0">
                  <a:solidFill>
                    <a:srgbClr val="FFFFFF"/>
                  </a:solidFill>
                  <a:latin typeface="Arial"/>
                </a:rPr>
                <a:t>)</a:t>
              </a:r>
            </a:p>
          </p:txBody>
        </p:sp>
        <p:sp>
          <p:nvSpPr>
            <p:cNvPr id="22" name="Rectangle 21">
              <a:extLst>
                <a:ext uri="{FF2B5EF4-FFF2-40B4-BE49-F238E27FC236}">
                  <a16:creationId xmlns:a16="http://schemas.microsoft.com/office/drawing/2014/main" id="{43E9DB24-7474-448D-8728-261C90912AE8}"/>
                </a:ext>
              </a:extLst>
            </p:cNvPr>
            <p:cNvSpPr/>
            <p:nvPr/>
          </p:nvSpPr>
          <p:spPr bwMode="auto">
            <a:xfrm>
              <a:off x="4572000" y="3820409"/>
              <a:ext cx="116435" cy="184666"/>
            </a:xfrm>
            <a:prstGeom prst="rect">
              <a:avLst/>
            </a:prstGeom>
            <a:solidFill>
              <a:srgbClr val="8B8D09"/>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balanced" dir="t">
                <a:rot lat="0" lon="0" rev="8700000"/>
              </a:lightRig>
            </a:scene3d>
            <a:sp3d>
              <a:bevelT w="190500" h="38100"/>
            </a:sp3d>
          </p:spPr>
          <p:txBody>
            <a:bodyPr vert="horz" wrap="none" lIns="91440" tIns="45720" rIns="91440" bIns="45720" numCol="1" rtlCol="0" anchor="ctr" anchorCtr="0" compatLnSpc="1">
              <a:prstTxWarp prst="textNoShape">
                <a:avLst/>
              </a:prstTxWarp>
              <a:noAutofit/>
            </a:bodyPr>
            <a:lstStyle/>
            <a:p>
              <a:pPr algn="ctr" defTabSz="914400" fontAlgn="base">
                <a:spcBef>
                  <a:spcPct val="0"/>
                </a:spcBef>
                <a:spcAft>
                  <a:spcPct val="0"/>
                </a:spcAft>
                <a:defRPr/>
              </a:pPr>
              <a:endParaRPr lang="en-US" sz="1100" kern="0" dirty="0">
                <a:solidFill>
                  <a:srgbClr val="FFFFFF"/>
                </a:solidFill>
                <a:latin typeface="Arial"/>
              </a:endParaRPr>
            </a:p>
          </p:txBody>
        </p:sp>
        <p:sp>
          <p:nvSpPr>
            <p:cNvPr id="23" name="Rectangle 22">
              <a:extLst>
                <a:ext uri="{FF2B5EF4-FFF2-40B4-BE49-F238E27FC236}">
                  <a16:creationId xmlns:a16="http://schemas.microsoft.com/office/drawing/2014/main" id="{C4D37210-9042-49F8-BA6E-11857830E452}"/>
                </a:ext>
              </a:extLst>
            </p:cNvPr>
            <p:cNvSpPr/>
            <p:nvPr/>
          </p:nvSpPr>
          <p:spPr bwMode="auto">
            <a:xfrm>
              <a:off x="4687215" y="3820409"/>
              <a:ext cx="1383800" cy="184666"/>
            </a:xfrm>
            <a:prstGeom prst="rect">
              <a:avLst/>
            </a:prstGeom>
            <a:solidFill>
              <a:srgbClr val="3F3F3F">
                <a:lumMod val="85000"/>
                <a:lumOff val="15000"/>
              </a:srgbClr>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balanced" dir="t">
                <a:rot lat="0" lon="0" rev="8700000"/>
              </a:lightRig>
            </a:scene3d>
            <a:sp3d>
              <a:bevelT w="190500" h="38100"/>
            </a:sp3d>
          </p:spPr>
          <p:txBody>
            <a:bodyPr vert="horz" wrap="none" lIns="91440" tIns="45720" rIns="91440" bIns="45720" numCol="1" rtlCol="0" anchor="ctr" anchorCtr="0" compatLnSpc="1">
              <a:prstTxWarp prst="textNoShape">
                <a:avLst/>
              </a:prstTxWarp>
              <a:noAutofit/>
            </a:bodyPr>
            <a:lstStyle/>
            <a:p>
              <a:pPr algn="ctr" defTabSz="914400" fontAlgn="base">
                <a:spcBef>
                  <a:spcPct val="0"/>
                </a:spcBef>
                <a:spcAft>
                  <a:spcPct val="0"/>
                </a:spcAft>
                <a:defRPr/>
              </a:pPr>
              <a:r>
                <a:rPr lang="en-US" sz="1100" kern="0" dirty="0">
                  <a:solidFill>
                    <a:srgbClr val="FFFFFF"/>
                  </a:solidFill>
                  <a:latin typeface="Arial"/>
                </a:rPr>
                <a:t>RTL (</a:t>
              </a:r>
              <a:r>
                <a:rPr lang="en-US" sz="1100" kern="0" dirty="0" err="1">
                  <a:solidFill>
                    <a:srgbClr val="FFFFFF"/>
                  </a:solidFill>
                  <a:latin typeface="Arial"/>
                </a:rPr>
                <a:t>Sim</a:t>
              </a:r>
              <a:r>
                <a:rPr lang="en-US" sz="1100" kern="0" dirty="0">
                  <a:solidFill>
                    <a:srgbClr val="FFFFFF"/>
                  </a:solidFill>
                  <a:latin typeface="Arial"/>
                </a:rPr>
                <a:t>)</a:t>
              </a: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Vitis HLS Benefits</a:t>
            </a:r>
          </a:p>
        </p:txBody>
      </p:sp>
      <p:sp>
        <p:nvSpPr>
          <p:cNvPr id="2" name="Content Placeholder 1"/>
          <p:cNvSpPr>
            <a:spLocks noGrp="1"/>
          </p:cNvSpPr>
          <p:nvPr>
            <p:ph sz="half" idx="1"/>
          </p:nvPr>
        </p:nvSpPr>
        <p:spPr/>
        <p:txBody>
          <a:bodyPr/>
          <a:lstStyle/>
          <a:p>
            <a:r>
              <a:rPr lang="en-US" dirty="0">
                <a:solidFill>
                  <a:schemeClr val="tx1"/>
                </a:solidFill>
              </a:rPr>
              <a:t>Portability</a:t>
            </a:r>
          </a:p>
          <a:p>
            <a:pPr lvl="1"/>
            <a:r>
              <a:rPr lang="en-US" dirty="0"/>
              <a:t>Processors and FPGAs</a:t>
            </a:r>
          </a:p>
          <a:p>
            <a:pPr lvl="1"/>
            <a:r>
              <a:rPr lang="en-US" dirty="0"/>
              <a:t>Technology migration</a:t>
            </a:r>
          </a:p>
          <a:p>
            <a:pPr lvl="1"/>
            <a:r>
              <a:rPr lang="en-US" dirty="0"/>
              <a:t>Cost reduction</a:t>
            </a:r>
          </a:p>
          <a:p>
            <a:pPr lvl="1"/>
            <a:r>
              <a:rPr lang="en-US" dirty="0"/>
              <a:t>Power reduction</a:t>
            </a:r>
          </a:p>
          <a:p>
            <a:endParaRPr lang="en-US" dirty="0"/>
          </a:p>
          <a:p>
            <a:endParaRPr lang="en-US" dirty="0"/>
          </a:p>
          <a:p>
            <a:endParaRPr lang="en-US" dirty="0"/>
          </a:p>
          <a:p>
            <a:endParaRPr lang="en-US" dirty="0"/>
          </a:p>
          <a:p>
            <a:endParaRPr lang="en-US" dirty="0"/>
          </a:p>
          <a:p>
            <a:r>
              <a:rPr lang="en-US" dirty="0">
                <a:solidFill>
                  <a:schemeClr val="tx1"/>
                </a:solidFill>
              </a:rPr>
              <a:t>Design and IP reuse</a:t>
            </a:r>
          </a:p>
          <a:p>
            <a:endParaRPr lang="en-US" dirty="0">
              <a:solidFill>
                <a:schemeClr val="tx1"/>
              </a:solidFill>
            </a:endParaRPr>
          </a:p>
        </p:txBody>
      </p:sp>
      <p:sp>
        <p:nvSpPr>
          <p:cNvPr id="26" name="Slide Number Placeholder 25"/>
          <p:cNvSpPr>
            <a:spLocks noGrp="1"/>
          </p:cNvSpPr>
          <p:nvPr>
            <p:ph type="sldNum" sz="quarter" idx="10"/>
          </p:nvPr>
        </p:nvSpPr>
        <p:spPr/>
        <p:txBody>
          <a:bodyPr/>
          <a:lstStyle/>
          <a:p>
            <a:pPr>
              <a:defRPr/>
            </a:pPr>
            <a:r>
              <a:rPr lang="en-US" dirty="0"/>
              <a:t>Intro to HLS 11- </a:t>
            </a:r>
            <a:fld id="{060BD193-E118-4B16-863C-C8C12C675E3E}" type="slidenum">
              <a:rPr lang="en-US" smtClean="0"/>
              <a:pPr>
                <a:defRPr/>
              </a:pPr>
              <a:t>16</a:t>
            </a:fld>
            <a:endParaRPr lang="en-US" dirty="0"/>
          </a:p>
        </p:txBody>
      </p:sp>
      <p:grpSp>
        <p:nvGrpSpPr>
          <p:cNvPr id="101" name="Group 100">
            <a:extLst>
              <a:ext uri="{FF2B5EF4-FFF2-40B4-BE49-F238E27FC236}">
                <a16:creationId xmlns:a16="http://schemas.microsoft.com/office/drawing/2014/main" id="{029436F6-75D5-43CF-960A-357256AA9930}"/>
              </a:ext>
            </a:extLst>
          </p:cNvPr>
          <p:cNvGrpSpPr/>
          <p:nvPr/>
        </p:nvGrpSpPr>
        <p:grpSpPr>
          <a:xfrm>
            <a:off x="6096001" y="1201510"/>
            <a:ext cx="4647005" cy="4454980"/>
            <a:chOff x="4811165" y="1316725"/>
            <a:chExt cx="4647005" cy="4454980"/>
          </a:xfrm>
        </p:grpSpPr>
        <p:sp>
          <p:nvSpPr>
            <p:cNvPr id="102" name="Folded Corner 5">
              <a:extLst>
                <a:ext uri="{FF2B5EF4-FFF2-40B4-BE49-F238E27FC236}">
                  <a16:creationId xmlns:a16="http://schemas.microsoft.com/office/drawing/2014/main" id="{313C7658-65C5-44CF-A107-B16BE1CA2E08}"/>
                </a:ext>
              </a:extLst>
            </p:cNvPr>
            <p:cNvSpPr/>
            <p:nvPr/>
          </p:nvSpPr>
          <p:spPr bwMode="auto">
            <a:xfrm>
              <a:off x="6413195" y="2858757"/>
              <a:ext cx="430752" cy="531838"/>
            </a:xfrm>
            <a:prstGeom prst="foldedCorner">
              <a:avLst/>
            </a:prstGeom>
            <a:gradFill rotWithShape="1">
              <a:gsLst>
                <a:gs pos="0">
                  <a:srgbClr val="B20838">
                    <a:tint val="50000"/>
                    <a:satMod val="300000"/>
                  </a:srgbClr>
                </a:gs>
                <a:gs pos="35000">
                  <a:srgbClr val="B20838">
                    <a:tint val="37000"/>
                    <a:satMod val="300000"/>
                  </a:srgbClr>
                </a:gs>
                <a:gs pos="100000">
                  <a:srgbClr val="B20838">
                    <a:tint val="15000"/>
                    <a:satMod val="350000"/>
                  </a:srgbClr>
                </a:gs>
              </a:gsLst>
              <a:lin ang="16200000" scaled="1"/>
            </a:gradFill>
            <a:ln w="9525" cap="flat" cmpd="sng" algn="ctr">
              <a:solidFill>
                <a:srgbClr val="B20838">
                  <a:shade val="95000"/>
                  <a:satMod val="105000"/>
                </a:srgbClr>
              </a:solidFill>
              <a:prstDash val="solid"/>
              <a:headEnd type="none" w="med" len="med"/>
              <a:tailEnd type="none" w="med" len="med"/>
            </a:ln>
            <a:effectLst>
              <a:outerShdw blurRad="40000" dist="20000" dir="5400000" rotWithShape="0">
                <a:srgbClr val="000000">
                  <a:alpha val="38000"/>
                </a:srgbClr>
              </a:outerShdw>
            </a:effectLst>
            <a:scene3d>
              <a:camera prst="isometricOffAxis2Left"/>
              <a:lightRig rig="threePt" dir="t"/>
            </a:scene3d>
          </p:spPr>
          <p:txBody>
            <a:bodyPr vert="horz" wrap="none" lIns="91440" tIns="45720" rIns="91440" bIns="45720" numCol="1" rtlCol="0" anchor="ctr" anchorCtr="0" compatLnSpc="1">
              <a:prstTxWarp prst="textNoShape">
                <a:avLst/>
              </a:prstTxWarp>
              <a:noAutofit/>
            </a:bodyPr>
            <a:lstStyle/>
            <a:p>
              <a:pPr algn="ctr" defTabSz="914400" fontAlgn="base">
                <a:spcBef>
                  <a:spcPct val="0"/>
                </a:spcBef>
                <a:spcAft>
                  <a:spcPct val="0"/>
                </a:spcAft>
                <a:defRPr/>
              </a:pPr>
              <a:r>
                <a:rPr lang="en-US" sz="900" kern="0" dirty="0">
                  <a:solidFill>
                    <a:srgbClr val="000000"/>
                  </a:solidFill>
                  <a:latin typeface="Arial"/>
                </a:rPr>
                <a:t>RTL</a:t>
              </a:r>
            </a:p>
          </p:txBody>
        </p:sp>
        <p:sp>
          <p:nvSpPr>
            <p:cNvPr id="103" name="Folded Corner 6">
              <a:extLst>
                <a:ext uri="{FF2B5EF4-FFF2-40B4-BE49-F238E27FC236}">
                  <a16:creationId xmlns:a16="http://schemas.microsoft.com/office/drawing/2014/main" id="{8966B7C2-5625-4994-A7C9-1230AA6A0807}"/>
                </a:ext>
              </a:extLst>
            </p:cNvPr>
            <p:cNvSpPr/>
            <p:nvPr/>
          </p:nvSpPr>
          <p:spPr bwMode="auto">
            <a:xfrm>
              <a:off x="6193745" y="4318147"/>
              <a:ext cx="430752" cy="531838"/>
            </a:xfrm>
            <a:prstGeom prst="foldedCorner">
              <a:avLst/>
            </a:prstGeom>
            <a:gradFill rotWithShape="1">
              <a:gsLst>
                <a:gs pos="0">
                  <a:srgbClr val="B20838">
                    <a:tint val="50000"/>
                    <a:satMod val="300000"/>
                  </a:srgbClr>
                </a:gs>
                <a:gs pos="35000">
                  <a:srgbClr val="B20838">
                    <a:tint val="37000"/>
                    <a:satMod val="300000"/>
                  </a:srgbClr>
                </a:gs>
                <a:gs pos="100000">
                  <a:srgbClr val="B20838">
                    <a:tint val="15000"/>
                    <a:satMod val="350000"/>
                  </a:srgbClr>
                </a:gs>
              </a:gsLst>
              <a:lin ang="16200000" scaled="1"/>
            </a:gradFill>
            <a:ln w="9525" cap="flat" cmpd="sng" algn="ctr">
              <a:solidFill>
                <a:srgbClr val="B20838">
                  <a:shade val="95000"/>
                  <a:satMod val="105000"/>
                </a:srgbClr>
              </a:solidFill>
              <a:prstDash val="solid"/>
              <a:headEnd type="none" w="med" len="med"/>
              <a:tailEnd type="none" w="med" len="med"/>
            </a:ln>
            <a:effectLst>
              <a:outerShdw blurRad="40000" dist="20000" dir="5400000" rotWithShape="0">
                <a:srgbClr val="000000">
                  <a:alpha val="38000"/>
                </a:srgbClr>
              </a:outerShdw>
            </a:effectLst>
            <a:scene3d>
              <a:camera prst="isometricOffAxis2Left"/>
              <a:lightRig rig="threePt" dir="t"/>
            </a:scene3d>
          </p:spPr>
          <p:txBody>
            <a:bodyPr vert="horz" wrap="none" lIns="91440" tIns="45720" rIns="91440" bIns="45720" numCol="1" rtlCol="0" anchor="ctr" anchorCtr="0" compatLnSpc="1">
              <a:prstTxWarp prst="textNoShape">
                <a:avLst/>
              </a:prstTxWarp>
              <a:noAutofit/>
            </a:bodyPr>
            <a:lstStyle/>
            <a:p>
              <a:pPr algn="ctr" defTabSz="914400" fontAlgn="base">
                <a:spcBef>
                  <a:spcPct val="0"/>
                </a:spcBef>
                <a:spcAft>
                  <a:spcPct val="0"/>
                </a:spcAft>
                <a:defRPr/>
              </a:pPr>
              <a:r>
                <a:rPr lang="en-US" sz="900" kern="0" dirty="0">
                  <a:solidFill>
                    <a:srgbClr val="000000"/>
                  </a:solidFill>
                  <a:latin typeface="Arial"/>
                </a:rPr>
                <a:t>RTL</a:t>
              </a:r>
            </a:p>
          </p:txBody>
        </p:sp>
        <p:sp>
          <p:nvSpPr>
            <p:cNvPr id="104" name="Folded Corner 7">
              <a:extLst>
                <a:ext uri="{FF2B5EF4-FFF2-40B4-BE49-F238E27FC236}">
                  <a16:creationId xmlns:a16="http://schemas.microsoft.com/office/drawing/2014/main" id="{5C9AF947-A320-45A6-9652-34509B66EAB2}"/>
                </a:ext>
              </a:extLst>
            </p:cNvPr>
            <p:cNvSpPr/>
            <p:nvPr/>
          </p:nvSpPr>
          <p:spPr bwMode="auto">
            <a:xfrm>
              <a:off x="6070233" y="3550047"/>
              <a:ext cx="430752" cy="531838"/>
            </a:xfrm>
            <a:prstGeom prst="foldedCorner">
              <a:avLst/>
            </a:prstGeom>
            <a:gradFill rotWithShape="1">
              <a:gsLst>
                <a:gs pos="0">
                  <a:srgbClr val="B20838">
                    <a:tint val="50000"/>
                    <a:satMod val="300000"/>
                  </a:srgbClr>
                </a:gs>
                <a:gs pos="35000">
                  <a:srgbClr val="B20838">
                    <a:tint val="37000"/>
                    <a:satMod val="300000"/>
                  </a:srgbClr>
                </a:gs>
                <a:gs pos="100000">
                  <a:srgbClr val="B20838">
                    <a:tint val="15000"/>
                    <a:satMod val="350000"/>
                  </a:srgbClr>
                </a:gs>
              </a:gsLst>
              <a:lin ang="16200000" scaled="1"/>
            </a:gradFill>
            <a:ln w="9525" cap="flat" cmpd="sng" algn="ctr">
              <a:solidFill>
                <a:srgbClr val="B20838">
                  <a:shade val="95000"/>
                  <a:satMod val="105000"/>
                </a:srgbClr>
              </a:solidFill>
              <a:prstDash val="solid"/>
              <a:headEnd type="none" w="med" len="med"/>
              <a:tailEnd type="none" w="med" len="med"/>
            </a:ln>
            <a:effectLst>
              <a:outerShdw blurRad="40000" dist="20000" dir="5400000" rotWithShape="0">
                <a:srgbClr val="000000">
                  <a:alpha val="38000"/>
                </a:srgbClr>
              </a:outerShdw>
            </a:effectLst>
            <a:scene3d>
              <a:camera prst="isometricOffAxis2Left"/>
              <a:lightRig rig="threePt" dir="t"/>
            </a:scene3d>
          </p:spPr>
          <p:txBody>
            <a:bodyPr vert="horz" wrap="none" lIns="91440" tIns="45720" rIns="91440" bIns="45720" numCol="1" rtlCol="0" anchor="ctr" anchorCtr="0" compatLnSpc="1">
              <a:prstTxWarp prst="textNoShape">
                <a:avLst/>
              </a:prstTxWarp>
              <a:noAutofit/>
            </a:bodyPr>
            <a:lstStyle/>
            <a:p>
              <a:pPr algn="ctr" defTabSz="914400" fontAlgn="base">
                <a:spcBef>
                  <a:spcPct val="0"/>
                </a:spcBef>
                <a:spcAft>
                  <a:spcPct val="0"/>
                </a:spcAft>
                <a:defRPr/>
              </a:pPr>
              <a:r>
                <a:rPr lang="en-US" sz="900" kern="0" dirty="0">
                  <a:solidFill>
                    <a:srgbClr val="000000"/>
                  </a:solidFill>
                  <a:latin typeface="Arial"/>
                </a:rPr>
                <a:t>RTL</a:t>
              </a:r>
            </a:p>
          </p:txBody>
        </p:sp>
        <p:sp>
          <p:nvSpPr>
            <p:cNvPr id="105" name="Folded Corner 8">
              <a:extLst>
                <a:ext uri="{FF2B5EF4-FFF2-40B4-BE49-F238E27FC236}">
                  <a16:creationId xmlns:a16="http://schemas.microsoft.com/office/drawing/2014/main" id="{1C272F3A-B0B2-48CC-9607-162B8A16901E}"/>
                </a:ext>
              </a:extLst>
            </p:cNvPr>
            <p:cNvSpPr/>
            <p:nvPr/>
          </p:nvSpPr>
          <p:spPr bwMode="auto">
            <a:xfrm>
              <a:off x="8972770" y="4504340"/>
              <a:ext cx="430752" cy="531838"/>
            </a:xfrm>
            <a:prstGeom prst="foldedCorner">
              <a:avLst/>
            </a:prstGeom>
            <a:gradFill rotWithShape="1">
              <a:gsLst>
                <a:gs pos="0">
                  <a:srgbClr val="B20838">
                    <a:tint val="50000"/>
                    <a:satMod val="300000"/>
                  </a:srgbClr>
                </a:gs>
                <a:gs pos="35000">
                  <a:srgbClr val="B20838">
                    <a:tint val="37000"/>
                    <a:satMod val="300000"/>
                  </a:srgbClr>
                </a:gs>
                <a:gs pos="100000">
                  <a:srgbClr val="B20838">
                    <a:tint val="15000"/>
                    <a:satMod val="350000"/>
                  </a:srgbClr>
                </a:gs>
              </a:gsLst>
              <a:lin ang="16200000" scaled="1"/>
            </a:gradFill>
            <a:ln w="9525" cap="flat" cmpd="sng" algn="ctr">
              <a:solidFill>
                <a:srgbClr val="B20838">
                  <a:shade val="95000"/>
                  <a:satMod val="105000"/>
                </a:srgbClr>
              </a:solidFill>
              <a:prstDash val="solid"/>
              <a:headEnd type="none" w="med" len="med"/>
              <a:tailEnd type="none" w="med" len="med"/>
            </a:ln>
            <a:effectLst>
              <a:outerShdw blurRad="40000" dist="20000" dir="5400000" rotWithShape="0">
                <a:srgbClr val="000000">
                  <a:alpha val="38000"/>
                </a:srgbClr>
              </a:outerShdw>
            </a:effectLst>
            <a:scene3d>
              <a:camera prst="isometricOffAxis2Left"/>
              <a:lightRig rig="threePt" dir="t"/>
            </a:scene3d>
          </p:spPr>
          <p:txBody>
            <a:bodyPr vert="horz" wrap="none" lIns="91440" tIns="45720" rIns="91440" bIns="45720" numCol="1" rtlCol="0" anchor="ctr" anchorCtr="0" compatLnSpc="1">
              <a:prstTxWarp prst="textNoShape">
                <a:avLst/>
              </a:prstTxWarp>
              <a:noAutofit/>
            </a:bodyPr>
            <a:lstStyle/>
            <a:p>
              <a:pPr algn="ctr" defTabSz="914400" fontAlgn="base">
                <a:spcBef>
                  <a:spcPct val="0"/>
                </a:spcBef>
                <a:spcAft>
                  <a:spcPct val="0"/>
                </a:spcAft>
                <a:defRPr/>
              </a:pPr>
              <a:r>
                <a:rPr lang="en-US" sz="900" kern="0" dirty="0">
                  <a:solidFill>
                    <a:srgbClr val="000000"/>
                  </a:solidFill>
                  <a:latin typeface="Arial"/>
                </a:rPr>
                <a:t>RTL</a:t>
              </a:r>
            </a:p>
          </p:txBody>
        </p:sp>
        <p:sp>
          <p:nvSpPr>
            <p:cNvPr id="106" name="Folded Corner 9">
              <a:extLst>
                <a:ext uri="{FF2B5EF4-FFF2-40B4-BE49-F238E27FC236}">
                  <a16:creationId xmlns:a16="http://schemas.microsoft.com/office/drawing/2014/main" id="{44099D15-3F48-4A5F-A5DC-84CC56CC0B65}"/>
                </a:ext>
              </a:extLst>
            </p:cNvPr>
            <p:cNvSpPr/>
            <p:nvPr/>
          </p:nvSpPr>
          <p:spPr bwMode="auto">
            <a:xfrm>
              <a:off x="8067293" y="5118820"/>
              <a:ext cx="430752" cy="531838"/>
            </a:xfrm>
            <a:prstGeom prst="foldedCorner">
              <a:avLst/>
            </a:prstGeom>
            <a:gradFill rotWithShape="1">
              <a:gsLst>
                <a:gs pos="0">
                  <a:srgbClr val="B20838">
                    <a:tint val="50000"/>
                    <a:satMod val="300000"/>
                  </a:srgbClr>
                </a:gs>
                <a:gs pos="35000">
                  <a:srgbClr val="B20838">
                    <a:tint val="37000"/>
                    <a:satMod val="300000"/>
                  </a:srgbClr>
                </a:gs>
                <a:gs pos="100000">
                  <a:srgbClr val="B20838">
                    <a:tint val="15000"/>
                    <a:satMod val="350000"/>
                  </a:srgbClr>
                </a:gs>
              </a:gsLst>
              <a:lin ang="16200000" scaled="1"/>
            </a:gradFill>
            <a:ln w="9525" cap="flat" cmpd="sng" algn="ctr">
              <a:solidFill>
                <a:srgbClr val="B20838">
                  <a:shade val="95000"/>
                  <a:satMod val="105000"/>
                </a:srgbClr>
              </a:solidFill>
              <a:prstDash val="solid"/>
              <a:headEnd type="none" w="med" len="med"/>
              <a:tailEnd type="none" w="med" len="med"/>
            </a:ln>
            <a:effectLst>
              <a:outerShdw blurRad="40000" dist="20000" dir="5400000" rotWithShape="0">
                <a:srgbClr val="000000">
                  <a:alpha val="38000"/>
                </a:srgbClr>
              </a:outerShdw>
            </a:effectLst>
            <a:scene3d>
              <a:camera prst="isometricOffAxis2Left"/>
              <a:lightRig rig="threePt" dir="t"/>
            </a:scene3d>
          </p:spPr>
          <p:txBody>
            <a:bodyPr vert="horz" wrap="none" lIns="91440" tIns="45720" rIns="91440" bIns="45720" numCol="1" rtlCol="0" anchor="ctr" anchorCtr="0" compatLnSpc="1">
              <a:prstTxWarp prst="textNoShape">
                <a:avLst/>
              </a:prstTxWarp>
              <a:noAutofit/>
            </a:bodyPr>
            <a:lstStyle/>
            <a:p>
              <a:pPr algn="ctr" defTabSz="914400" fontAlgn="base">
                <a:spcBef>
                  <a:spcPct val="0"/>
                </a:spcBef>
                <a:spcAft>
                  <a:spcPct val="0"/>
                </a:spcAft>
                <a:defRPr/>
              </a:pPr>
              <a:r>
                <a:rPr lang="en-US" sz="900" kern="0" dirty="0">
                  <a:solidFill>
                    <a:srgbClr val="000000"/>
                  </a:solidFill>
                  <a:latin typeface="Arial"/>
                </a:rPr>
                <a:t>RTL</a:t>
              </a:r>
            </a:p>
          </p:txBody>
        </p:sp>
        <p:sp>
          <p:nvSpPr>
            <p:cNvPr id="107" name="Folded Corner 10">
              <a:extLst>
                <a:ext uri="{FF2B5EF4-FFF2-40B4-BE49-F238E27FC236}">
                  <a16:creationId xmlns:a16="http://schemas.microsoft.com/office/drawing/2014/main" id="{CB098295-2FAA-4D2A-8F7B-39D2759DC613}"/>
                </a:ext>
              </a:extLst>
            </p:cNvPr>
            <p:cNvSpPr/>
            <p:nvPr/>
          </p:nvSpPr>
          <p:spPr bwMode="auto">
            <a:xfrm>
              <a:off x="7735513" y="4394957"/>
              <a:ext cx="430752" cy="531838"/>
            </a:xfrm>
            <a:prstGeom prst="foldedCorner">
              <a:avLst/>
            </a:prstGeom>
            <a:gradFill rotWithShape="1">
              <a:gsLst>
                <a:gs pos="0">
                  <a:srgbClr val="B20838">
                    <a:tint val="50000"/>
                    <a:satMod val="300000"/>
                  </a:srgbClr>
                </a:gs>
                <a:gs pos="35000">
                  <a:srgbClr val="B20838">
                    <a:tint val="37000"/>
                    <a:satMod val="300000"/>
                  </a:srgbClr>
                </a:gs>
                <a:gs pos="100000">
                  <a:srgbClr val="B20838">
                    <a:tint val="15000"/>
                    <a:satMod val="350000"/>
                  </a:srgbClr>
                </a:gs>
              </a:gsLst>
              <a:lin ang="16200000" scaled="1"/>
            </a:gradFill>
            <a:ln w="9525" cap="flat" cmpd="sng" algn="ctr">
              <a:solidFill>
                <a:srgbClr val="B20838">
                  <a:shade val="95000"/>
                  <a:satMod val="105000"/>
                </a:srgbClr>
              </a:solidFill>
              <a:prstDash val="solid"/>
              <a:headEnd type="none" w="med" len="med"/>
              <a:tailEnd type="none" w="med" len="med"/>
            </a:ln>
            <a:effectLst>
              <a:outerShdw blurRad="40000" dist="20000" dir="5400000" rotWithShape="0">
                <a:srgbClr val="000000">
                  <a:alpha val="38000"/>
                </a:srgbClr>
              </a:outerShdw>
            </a:effectLst>
            <a:scene3d>
              <a:camera prst="isometricOffAxis2Left"/>
              <a:lightRig rig="threePt" dir="t"/>
            </a:scene3d>
          </p:spPr>
          <p:txBody>
            <a:bodyPr vert="horz" wrap="none" lIns="91440" tIns="45720" rIns="91440" bIns="45720" numCol="1" rtlCol="0" anchor="ctr" anchorCtr="0" compatLnSpc="1">
              <a:prstTxWarp prst="textNoShape">
                <a:avLst/>
              </a:prstTxWarp>
              <a:noAutofit/>
            </a:bodyPr>
            <a:lstStyle/>
            <a:p>
              <a:pPr algn="ctr" defTabSz="914400" fontAlgn="base">
                <a:spcBef>
                  <a:spcPct val="0"/>
                </a:spcBef>
                <a:spcAft>
                  <a:spcPct val="0"/>
                </a:spcAft>
                <a:defRPr/>
              </a:pPr>
              <a:r>
                <a:rPr lang="en-US" sz="900" kern="0" dirty="0">
                  <a:solidFill>
                    <a:srgbClr val="000000"/>
                  </a:solidFill>
                  <a:latin typeface="Arial"/>
                </a:rPr>
                <a:t>RTL</a:t>
              </a:r>
            </a:p>
          </p:txBody>
        </p:sp>
        <p:pic>
          <p:nvPicPr>
            <p:cNvPr id="108" name="Picture 6" descr="http://www.xilinx.com/images/product-images/th_k7_chip_300ppi.jpg.jpg">
              <a:extLst>
                <a:ext uri="{FF2B5EF4-FFF2-40B4-BE49-F238E27FC236}">
                  <a16:creationId xmlns:a16="http://schemas.microsoft.com/office/drawing/2014/main" id="{B9596DA7-B976-4891-8FA0-3CB089797716}"/>
                </a:ext>
              </a:extLst>
            </p:cNvPr>
            <p:cNvPicPr>
              <a:picLocks noChangeAspect="1" noChangeArrowheads="1"/>
            </p:cNvPicPr>
            <p:nvPr/>
          </p:nvPicPr>
          <p:blipFill>
            <a:blip r:embed="rId3" cstate="print"/>
            <a:srcRect/>
            <a:stretch>
              <a:fillRect/>
            </a:stretch>
          </p:blipFill>
          <p:spPr bwMode="auto">
            <a:xfrm>
              <a:off x="7192275" y="4403835"/>
              <a:ext cx="666750" cy="638175"/>
            </a:xfrm>
            <a:prstGeom prst="rect">
              <a:avLst/>
            </a:prstGeom>
            <a:ln>
              <a:noFill/>
            </a:ln>
            <a:effectLst>
              <a:outerShdw blurRad="292100" dist="139700" dir="2700000" algn="tl" rotWithShape="0">
                <a:srgbClr val="333333">
                  <a:alpha val="65000"/>
                </a:srgbClr>
              </a:outerShdw>
            </a:effectLst>
            <a:scene3d>
              <a:camera prst="perspectiveContrastingLeftFacing"/>
              <a:lightRig rig="threePt" dir="t"/>
            </a:scene3d>
          </p:spPr>
        </p:pic>
        <p:pic>
          <p:nvPicPr>
            <p:cNvPr id="109" name="Picture 10" descr="http://images-eu.amazon.com/images/P/0131103628.03.LZZZZZZZ.jpg">
              <a:extLst>
                <a:ext uri="{FF2B5EF4-FFF2-40B4-BE49-F238E27FC236}">
                  <a16:creationId xmlns:a16="http://schemas.microsoft.com/office/drawing/2014/main" id="{0061453F-789F-4940-B4ED-2AD44A646D2E}"/>
                </a:ext>
              </a:extLst>
            </p:cNvPr>
            <p:cNvPicPr>
              <a:picLocks noChangeAspect="1" noChangeArrowheads="1"/>
            </p:cNvPicPr>
            <p:nvPr/>
          </p:nvPicPr>
          <p:blipFill>
            <a:blip r:embed="rId4" cstate="print"/>
            <a:srcRect/>
            <a:stretch>
              <a:fillRect/>
            </a:stretch>
          </p:blipFill>
          <p:spPr bwMode="auto">
            <a:xfrm>
              <a:off x="8301822" y="1316725"/>
              <a:ext cx="1156348" cy="1525525"/>
            </a:xfrm>
            <a:prstGeom prst="rect">
              <a:avLst/>
            </a:prstGeom>
            <a:ln>
              <a:noFill/>
            </a:ln>
            <a:effectLst>
              <a:outerShdw blurRad="292100" dist="139700" dir="2700000" algn="tl" rotWithShape="0">
                <a:srgbClr val="333333">
                  <a:alpha val="65000"/>
                </a:srgbClr>
              </a:outerShdw>
            </a:effectLst>
            <a:scene3d>
              <a:camera prst="isometricOffAxis2Left"/>
              <a:lightRig rig="threePt" dir="t"/>
            </a:scene3d>
          </p:spPr>
        </p:pic>
        <p:pic>
          <p:nvPicPr>
            <p:cNvPr id="110" name="Picture 14" descr="http://www.em.avnet.com/img_shared/fea/df2df2usa/xlx-virtex-4_logo.jpg">
              <a:extLst>
                <a:ext uri="{FF2B5EF4-FFF2-40B4-BE49-F238E27FC236}">
                  <a16:creationId xmlns:a16="http://schemas.microsoft.com/office/drawing/2014/main" id="{AE700494-40E4-42C3-BA90-9D3B902DAE55}"/>
                </a:ext>
              </a:extLst>
            </p:cNvPr>
            <p:cNvPicPr>
              <a:picLocks noChangeAspect="1" noChangeArrowheads="1"/>
            </p:cNvPicPr>
            <p:nvPr/>
          </p:nvPicPr>
          <p:blipFill>
            <a:blip r:embed="rId5" cstate="print"/>
            <a:srcRect/>
            <a:stretch>
              <a:fillRect/>
            </a:stretch>
          </p:blipFill>
          <p:spPr bwMode="auto">
            <a:xfrm>
              <a:off x="5195215" y="2647134"/>
              <a:ext cx="1371600" cy="672483"/>
            </a:xfrm>
            <a:prstGeom prst="rect">
              <a:avLst/>
            </a:prstGeom>
            <a:ln>
              <a:noFill/>
            </a:ln>
            <a:effectLst>
              <a:outerShdw blurRad="292100" dist="139700" dir="2700000" algn="tl" rotWithShape="0">
                <a:srgbClr val="333333">
                  <a:alpha val="65000"/>
                </a:srgbClr>
              </a:outerShdw>
            </a:effectLst>
            <a:scene3d>
              <a:camera prst="isometricOffAxis2Left"/>
              <a:lightRig rig="threePt" dir="t"/>
            </a:scene3d>
          </p:spPr>
        </p:pic>
        <p:pic>
          <p:nvPicPr>
            <p:cNvPr id="111" name="Picture 16" descr="http://www.nuhorizons.com/xilinx/images/v5logo.jpg">
              <a:extLst>
                <a:ext uri="{FF2B5EF4-FFF2-40B4-BE49-F238E27FC236}">
                  <a16:creationId xmlns:a16="http://schemas.microsoft.com/office/drawing/2014/main" id="{8DCAD48D-1A07-4F09-B958-44F922845F86}"/>
                </a:ext>
              </a:extLst>
            </p:cNvPr>
            <p:cNvPicPr>
              <a:picLocks noChangeAspect="1" noChangeArrowheads="1"/>
            </p:cNvPicPr>
            <p:nvPr/>
          </p:nvPicPr>
          <p:blipFill>
            <a:blip r:embed="rId6" cstate="print"/>
            <a:srcRect/>
            <a:stretch>
              <a:fillRect/>
            </a:stretch>
          </p:blipFill>
          <p:spPr bwMode="auto">
            <a:xfrm>
              <a:off x="4811165" y="3313785"/>
              <a:ext cx="1371600" cy="718073"/>
            </a:xfrm>
            <a:prstGeom prst="rect">
              <a:avLst/>
            </a:prstGeom>
            <a:ln>
              <a:noFill/>
            </a:ln>
            <a:effectLst>
              <a:outerShdw blurRad="292100" dist="139700" dir="2700000" algn="tl" rotWithShape="0">
                <a:srgbClr val="333333">
                  <a:alpha val="65000"/>
                </a:srgbClr>
              </a:outerShdw>
            </a:effectLst>
            <a:scene3d>
              <a:camera prst="isometricOffAxis2Left"/>
              <a:lightRig rig="threePt" dir="t"/>
            </a:scene3d>
          </p:spPr>
        </p:pic>
        <p:pic>
          <p:nvPicPr>
            <p:cNvPr id="112" name="Picture 20" descr="http://www.silica.com/fileadmin/02_Products/Productdetails/LiveServerOld/05_Product-News/09_PLD/XLX_Virtex6_logo.jpg">
              <a:extLst>
                <a:ext uri="{FF2B5EF4-FFF2-40B4-BE49-F238E27FC236}">
                  <a16:creationId xmlns:a16="http://schemas.microsoft.com/office/drawing/2014/main" id="{20A42DEF-2C7A-482A-B615-3FBB1AF8D10A}"/>
                </a:ext>
              </a:extLst>
            </p:cNvPr>
            <p:cNvPicPr>
              <a:picLocks noChangeAspect="1" noChangeArrowheads="1"/>
            </p:cNvPicPr>
            <p:nvPr/>
          </p:nvPicPr>
          <p:blipFill>
            <a:blip r:embed="rId7" cstate="print"/>
            <a:srcRect t="27690" b="30675"/>
            <a:stretch>
              <a:fillRect/>
            </a:stretch>
          </p:blipFill>
          <p:spPr bwMode="auto">
            <a:xfrm>
              <a:off x="4964785" y="4158695"/>
              <a:ext cx="1371600" cy="571066"/>
            </a:xfrm>
            <a:prstGeom prst="rect">
              <a:avLst/>
            </a:prstGeom>
            <a:ln>
              <a:noFill/>
            </a:ln>
            <a:effectLst>
              <a:outerShdw blurRad="292100" dist="139700" dir="2700000" algn="tl" rotWithShape="0">
                <a:srgbClr val="333333">
                  <a:alpha val="65000"/>
                </a:srgbClr>
              </a:outerShdw>
            </a:effectLst>
            <a:scene3d>
              <a:camera prst="isometricOffAxis2Left"/>
              <a:lightRig rig="threePt" dir="t"/>
            </a:scene3d>
          </p:spPr>
        </p:pic>
        <p:pic>
          <p:nvPicPr>
            <p:cNvPr id="113" name="Picture 4" descr="http://www.xilinx.com/images/product-images/th_v7_chip_300ppi.jpg.jpg">
              <a:extLst>
                <a:ext uri="{FF2B5EF4-FFF2-40B4-BE49-F238E27FC236}">
                  <a16:creationId xmlns:a16="http://schemas.microsoft.com/office/drawing/2014/main" id="{95C3DA83-9D26-4CBA-AD0C-E3B7C922B04B}"/>
                </a:ext>
              </a:extLst>
            </p:cNvPr>
            <p:cNvPicPr>
              <a:picLocks noChangeAspect="1" noChangeArrowheads="1"/>
            </p:cNvPicPr>
            <p:nvPr/>
          </p:nvPicPr>
          <p:blipFill>
            <a:blip r:embed="rId8" cstate="print"/>
            <a:srcRect/>
            <a:stretch>
              <a:fillRect/>
            </a:stretch>
          </p:blipFill>
          <p:spPr bwMode="auto">
            <a:xfrm>
              <a:off x="8421235" y="4519050"/>
              <a:ext cx="666750" cy="638175"/>
            </a:xfrm>
            <a:prstGeom prst="rect">
              <a:avLst/>
            </a:prstGeom>
            <a:ln>
              <a:noFill/>
            </a:ln>
            <a:effectLst>
              <a:outerShdw blurRad="292100" dist="139700" dir="2700000" algn="tl" rotWithShape="0">
                <a:srgbClr val="333333">
                  <a:alpha val="65000"/>
                </a:srgbClr>
              </a:outerShdw>
            </a:effectLst>
            <a:scene3d>
              <a:camera prst="isometricOffAxis2Left"/>
              <a:lightRig rig="threePt" dir="t"/>
            </a:scene3d>
          </p:spPr>
        </p:pic>
        <p:pic>
          <p:nvPicPr>
            <p:cNvPr id="114" name="Picture 2" descr="http://www.xilinx.com/images/product-images/th_a7_chip_300ppi.jpg.jpg">
              <a:extLst>
                <a:ext uri="{FF2B5EF4-FFF2-40B4-BE49-F238E27FC236}">
                  <a16:creationId xmlns:a16="http://schemas.microsoft.com/office/drawing/2014/main" id="{473A740E-9818-41E0-B325-5725D97C2EA6}"/>
                </a:ext>
              </a:extLst>
            </p:cNvPr>
            <p:cNvPicPr>
              <a:picLocks noChangeAspect="1" noChangeArrowheads="1"/>
            </p:cNvPicPr>
            <p:nvPr/>
          </p:nvPicPr>
          <p:blipFill>
            <a:blip r:embed="rId9" cstate="print"/>
            <a:srcRect/>
            <a:stretch>
              <a:fillRect/>
            </a:stretch>
          </p:blipFill>
          <p:spPr bwMode="auto">
            <a:xfrm>
              <a:off x="7524055" y="5133530"/>
              <a:ext cx="666750" cy="638175"/>
            </a:xfrm>
            <a:prstGeom prst="rect">
              <a:avLst/>
            </a:prstGeom>
            <a:ln>
              <a:noFill/>
            </a:ln>
            <a:effectLst>
              <a:outerShdw blurRad="292100" dist="139700" dir="2700000" algn="tl" rotWithShape="0">
                <a:srgbClr val="333333">
                  <a:alpha val="65000"/>
                </a:srgbClr>
              </a:outerShdw>
            </a:effectLst>
            <a:scene3d>
              <a:camera prst="perspectiveContrastingLeftFacing"/>
              <a:lightRig rig="threePt" dir="t"/>
            </a:scene3d>
          </p:spPr>
        </p:pic>
        <p:cxnSp>
          <p:nvCxnSpPr>
            <p:cNvPr id="115" name="Straight Arrow Connector 114">
              <a:extLst>
                <a:ext uri="{FF2B5EF4-FFF2-40B4-BE49-F238E27FC236}">
                  <a16:creationId xmlns:a16="http://schemas.microsoft.com/office/drawing/2014/main" id="{2CA8B658-9683-4AD0-801B-8E333AE77A9E}"/>
                </a:ext>
              </a:extLst>
            </p:cNvPr>
            <p:cNvCxnSpPr>
              <a:stCxn id="109" idx="2"/>
              <a:endCxn id="102" idx="3"/>
            </p:cNvCxnSpPr>
            <p:nvPr/>
          </p:nvCxnSpPr>
          <p:spPr bwMode="auto">
            <a:xfrm rot="5400000">
              <a:off x="7720759" y="1965439"/>
              <a:ext cx="282426" cy="2036049"/>
            </a:xfrm>
            <a:prstGeom prst="straightConnector1">
              <a:avLst/>
            </a:prstGeom>
            <a:solidFill>
              <a:srgbClr val="EC891D"/>
            </a:solidFill>
            <a:ln w="9525" cap="flat" cmpd="sng" algn="ctr">
              <a:solidFill>
                <a:srgbClr val="C00000"/>
              </a:solidFill>
              <a:prstDash val="solid"/>
              <a:round/>
              <a:headEnd type="none" w="med" len="med"/>
              <a:tailEnd type="stealth"/>
            </a:ln>
            <a:effectLst/>
          </p:spPr>
        </p:cxnSp>
        <p:cxnSp>
          <p:nvCxnSpPr>
            <p:cNvPr id="116" name="Straight Arrow Connector 115">
              <a:extLst>
                <a:ext uri="{FF2B5EF4-FFF2-40B4-BE49-F238E27FC236}">
                  <a16:creationId xmlns:a16="http://schemas.microsoft.com/office/drawing/2014/main" id="{6C5ACD30-D02F-4D34-8D95-A214889C5BC2}"/>
                </a:ext>
              </a:extLst>
            </p:cNvPr>
            <p:cNvCxnSpPr>
              <a:stCxn id="109" idx="2"/>
              <a:endCxn id="104" idx="3"/>
            </p:cNvCxnSpPr>
            <p:nvPr/>
          </p:nvCxnSpPr>
          <p:spPr bwMode="auto">
            <a:xfrm rot="5400000">
              <a:off x="7203633" y="2139603"/>
              <a:ext cx="973716" cy="2379011"/>
            </a:xfrm>
            <a:prstGeom prst="straightConnector1">
              <a:avLst/>
            </a:prstGeom>
            <a:solidFill>
              <a:srgbClr val="EC891D"/>
            </a:solidFill>
            <a:ln w="9525" cap="flat" cmpd="sng" algn="ctr">
              <a:solidFill>
                <a:srgbClr val="C00000"/>
              </a:solidFill>
              <a:prstDash val="solid"/>
              <a:round/>
              <a:headEnd type="none" w="med" len="med"/>
              <a:tailEnd type="stealth"/>
            </a:ln>
            <a:effectLst/>
          </p:spPr>
        </p:cxnSp>
        <p:cxnSp>
          <p:nvCxnSpPr>
            <p:cNvPr id="117" name="Straight Arrow Connector 116">
              <a:extLst>
                <a:ext uri="{FF2B5EF4-FFF2-40B4-BE49-F238E27FC236}">
                  <a16:creationId xmlns:a16="http://schemas.microsoft.com/office/drawing/2014/main" id="{BEB492D2-9787-4299-9ED6-A14E4C4FADCA}"/>
                </a:ext>
              </a:extLst>
            </p:cNvPr>
            <p:cNvCxnSpPr>
              <a:stCxn id="109" idx="2"/>
              <a:endCxn id="103" idx="3"/>
            </p:cNvCxnSpPr>
            <p:nvPr/>
          </p:nvCxnSpPr>
          <p:spPr bwMode="auto">
            <a:xfrm rot="5400000">
              <a:off x="6881339" y="2585409"/>
              <a:ext cx="1741816" cy="2255499"/>
            </a:xfrm>
            <a:prstGeom prst="straightConnector1">
              <a:avLst/>
            </a:prstGeom>
            <a:solidFill>
              <a:srgbClr val="EC891D"/>
            </a:solidFill>
            <a:ln w="9525" cap="flat" cmpd="sng" algn="ctr">
              <a:solidFill>
                <a:srgbClr val="C00000"/>
              </a:solidFill>
              <a:prstDash val="solid"/>
              <a:round/>
              <a:headEnd type="none" w="med" len="med"/>
              <a:tailEnd type="stealth"/>
            </a:ln>
            <a:effectLst/>
          </p:spPr>
        </p:cxnSp>
        <p:cxnSp>
          <p:nvCxnSpPr>
            <p:cNvPr id="118" name="Straight Arrow Connector 117">
              <a:extLst>
                <a:ext uri="{FF2B5EF4-FFF2-40B4-BE49-F238E27FC236}">
                  <a16:creationId xmlns:a16="http://schemas.microsoft.com/office/drawing/2014/main" id="{B8AE15EA-35EF-49EF-AB17-08E389C4A9AE}"/>
                </a:ext>
              </a:extLst>
            </p:cNvPr>
            <p:cNvCxnSpPr>
              <a:stCxn id="109" idx="2"/>
              <a:endCxn id="107" idx="0"/>
            </p:cNvCxnSpPr>
            <p:nvPr/>
          </p:nvCxnSpPr>
          <p:spPr bwMode="auto">
            <a:xfrm rot="5400000">
              <a:off x="7639090" y="3154050"/>
              <a:ext cx="1552707" cy="929107"/>
            </a:xfrm>
            <a:prstGeom prst="straightConnector1">
              <a:avLst/>
            </a:prstGeom>
            <a:solidFill>
              <a:srgbClr val="EC891D"/>
            </a:solidFill>
            <a:ln w="9525" cap="flat" cmpd="sng" algn="ctr">
              <a:solidFill>
                <a:srgbClr val="C00000"/>
              </a:solidFill>
              <a:prstDash val="solid"/>
              <a:round/>
              <a:headEnd type="none" w="med" len="med"/>
              <a:tailEnd type="stealth"/>
            </a:ln>
            <a:effectLst/>
          </p:spPr>
        </p:cxnSp>
        <p:cxnSp>
          <p:nvCxnSpPr>
            <p:cNvPr id="119" name="Straight Arrow Connector 118">
              <a:extLst>
                <a:ext uri="{FF2B5EF4-FFF2-40B4-BE49-F238E27FC236}">
                  <a16:creationId xmlns:a16="http://schemas.microsoft.com/office/drawing/2014/main" id="{0125108A-A0B3-4109-A1E0-DD6D9677AFC5}"/>
                </a:ext>
              </a:extLst>
            </p:cNvPr>
            <p:cNvCxnSpPr>
              <a:stCxn id="109" idx="2"/>
              <a:endCxn id="105" idx="0"/>
            </p:cNvCxnSpPr>
            <p:nvPr/>
          </p:nvCxnSpPr>
          <p:spPr bwMode="auto">
            <a:xfrm rot="16200000" flipH="1">
              <a:off x="8203026" y="3519220"/>
              <a:ext cx="1662090" cy="308150"/>
            </a:xfrm>
            <a:prstGeom prst="straightConnector1">
              <a:avLst/>
            </a:prstGeom>
            <a:solidFill>
              <a:srgbClr val="EC891D"/>
            </a:solidFill>
            <a:ln w="9525" cap="flat" cmpd="sng" algn="ctr">
              <a:solidFill>
                <a:srgbClr val="C00000"/>
              </a:solidFill>
              <a:prstDash val="solid"/>
              <a:round/>
              <a:headEnd type="none" w="med" len="med"/>
              <a:tailEnd type="stealth"/>
            </a:ln>
            <a:effectLst/>
          </p:spPr>
        </p:cxnSp>
        <p:cxnSp>
          <p:nvCxnSpPr>
            <p:cNvPr id="120" name="Straight Arrow Connector 119">
              <a:extLst>
                <a:ext uri="{FF2B5EF4-FFF2-40B4-BE49-F238E27FC236}">
                  <a16:creationId xmlns:a16="http://schemas.microsoft.com/office/drawing/2014/main" id="{9680FE71-0BE7-4321-902C-56AF899FDE43}"/>
                </a:ext>
              </a:extLst>
            </p:cNvPr>
            <p:cNvCxnSpPr>
              <a:stCxn id="109" idx="2"/>
              <a:endCxn id="106" idx="0"/>
            </p:cNvCxnSpPr>
            <p:nvPr/>
          </p:nvCxnSpPr>
          <p:spPr bwMode="auto">
            <a:xfrm rot="5400000">
              <a:off x="7443048" y="3681872"/>
              <a:ext cx="2276570" cy="597327"/>
            </a:xfrm>
            <a:prstGeom prst="straightConnector1">
              <a:avLst/>
            </a:prstGeom>
            <a:solidFill>
              <a:srgbClr val="EC891D"/>
            </a:solidFill>
            <a:ln w="9525" cap="flat" cmpd="sng" algn="ctr">
              <a:solidFill>
                <a:srgbClr val="C00000"/>
              </a:solidFill>
              <a:prstDash val="solid"/>
              <a:round/>
              <a:headEnd type="none" w="med" len="med"/>
              <a:tailEnd type="stealth"/>
            </a:ln>
            <a:effectLst/>
          </p:spPr>
        </p:cxn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Vitis HLS Benefits</a:t>
            </a:r>
          </a:p>
        </p:txBody>
      </p:sp>
      <p:sp>
        <p:nvSpPr>
          <p:cNvPr id="2" name="Content Placeholder 1"/>
          <p:cNvSpPr>
            <a:spLocks noGrp="1"/>
          </p:cNvSpPr>
          <p:nvPr>
            <p:ph sz="half" idx="1"/>
          </p:nvPr>
        </p:nvSpPr>
        <p:spPr/>
        <p:txBody>
          <a:bodyPr/>
          <a:lstStyle/>
          <a:p>
            <a:r>
              <a:rPr lang="en-US" dirty="0"/>
              <a:t>Permutability</a:t>
            </a:r>
          </a:p>
          <a:p>
            <a:pPr lvl="1"/>
            <a:r>
              <a:rPr lang="en-US" dirty="0"/>
              <a:t>Architecture Exploration</a:t>
            </a:r>
          </a:p>
          <a:p>
            <a:pPr lvl="2"/>
            <a:r>
              <a:rPr lang="en-US" dirty="0"/>
              <a:t>Timing</a:t>
            </a:r>
          </a:p>
          <a:p>
            <a:pPr lvl="3"/>
            <a:r>
              <a:rPr lang="en-US" dirty="0"/>
              <a:t>Parallelization</a:t>
            </a:r>
          </a:p>
          <a:p>
            <a:pPr lvl="3"/>
            <a:r>
              <a:rPr lang="en-US" dirty="0"/>
              <a:t>Pipelining</a:t>
            </a:r>
          </a:p>
          <a:p>
            <a:pPr lvl="2"/>
            <a:r>
              <a:rPr lang="en-US" dirty="0"/>
              <a:t>Resources</a:t>
            </a:r>
          </a:p>
          <a:p>
            <a:pPr lvl="3"/>
            <a:r>
              <a:rPr lang="en-US" dirty="0"/>
              <a:t>Sharing</a:t>
            </a:r>
          </a:p>
          <a:p>
            <a:pPr lvl="1"/>
            <a:r>
              <a:rPr lang="en-US" dirty="0"/>
              <a:t>Better </a:t>
            </a:r>
            <a:r>
              <a:rPr lang="en-US" dirty="0" err="1"/>
              <a:t>QoR</a:t>
            </a:r>
            <a:endParaRPr lang="en-US" dirty="0"/>
          </a:p>
          <a:p>
            <a:pPr lvl="1"/>
            <a:endParaRPr lang="en-US" dirty="0"/>
          </a:p>
          <a:p>
            <a:endParaRPr lang="en-US" dirty="0"/>
          </a:p>
          <a:p>
            <a:endParaRPr lang="en-US" dirty="0"/>
          </a:p>
          <a:p>
            <a:r>
              <a:rPr lang="en-US" dirty="0">
                <a:solidFill>
                  <a:schemeClr val="tx1"/>
                </a:solidFill>
              </a:rPr>
              <a:t>Rapid design exploration delivers </a:t>
            </a:r>
            <a:r>
              <a:rPr lang="en-US" dirty="0" err="1">
                <a:solidFill>
                  <a:schemeClr val="tx1"/>
                </a:solidFill>
              </a:rPr>
              <a:t>QoR</a:t>
            </a:r>
            <a:r>
              <a:rPr lang="en-US" dirty="0">
                <a:solidFill>
                  <a:schemeClr val="tx1"/>
                </a:solidFill>
              </a:rPr>
              <a:t> </a:t>
            </a:r>
            <a:br>
              <a:rPr lang="en-US" dirty="0">
                <a:solidFill>
                  <a:schemeClr val="tx1"/>
                </a:solidFill>
              </a:rPr>
            </a:br>
            <a:r>
              <a:rPr lang="en-US" dirty="0">
                <a:solidFill>
                  <a:schemeClr val="tx1"/>
                </a:solidFill>
              </a:rPr>
              <a:t>rivaling hand-coded RTL</a:t>
            </a:r>
          </a:p>
        </p:txBody>
      </p:sp>
      <p:sp>
        <p:nvSpPr>
          <p:cNvPr id="80" name="Slide Number Placeholder 79"/>
          <p:cNvSpPr>
            <a:spLocks noGrp="1"/>
          </p:cNvSpPr>
          <p:nvPr>
            <p:ph type="sldNum" sz="quarter" idx="10"/>
          </p:nvPr>
        </p:nvSpPr>
        <p:spPr/>
        <p:txBody>
          <a:bodyPr/>
          <a:lstStyle/>
          <a:p>
            <a:pPr>
              <a:defRPr/>
            </a:pPr>
            <a:r>
              <a:rPr lang="en-US" dirty="0"/>
              <a:t>Intro to HLS 11- </a:t>
            </a:r>
            <a:fld id="{060BD193-E118-4B16-863C-C8C12C675E3E}" type="slidenum">
              <a:rPr lang="en-US" smtClean="0"/>
              <a:pPr>
                <a:defRPr/>
              </a:pPr>
              <a:t>17</a:t>
            </a:fld>
            <a:endParaRPr lang="en-US" dirty="0"/>
          </a:p>
        </p:txBody>
      </p:sp>
      <p:grpSp>
        <p:nvGrpSpPr>
          <p:cNvPr id="81" name="Group 80">
            <a:extLst>
              <a:ext uri="{FF2B5EF4-FFF2-40B4-BE49-F238E27FC236}">
                <a16:creationId xmlns:a16="http://schemas.microsoft.com/office/drawing/2014/main" id="{00EF51CE-8838-42D9-B196-5242C486BE34}"/>
              </a:ext>
            </a:extLst>
          </p:cNvPr>
          <p:cNvGrpSpPr/>
          <p:nvPr/>
        </p:nvGrpSpPr>
        <p:grpSpPr>
          <a:xfrm>
            <a:off x="5882798" y="1377679"/>
            <a:ext cx="5837560" cy="4482710"/>
            <a:chOff x="3112610" y="1327400"/>
            <a:chExt cx="5837560" cy="4482710"/>
          </a:xfrm>
        </p:grpSpPr>
        <p:cxnSp>
          <p:nvCxnSpPr>
            <p:cNvPr id="82" name="Straight Arrow Connector 81">
              <a:extLst>
                <a:ext uri="{FF2B5EF4-FFF2-40B4-BE49-F238E27FC236}">
                  <a16:creationId xmlns:a16="http://schemas.microsoft.com/office/drawing/2014/main" id="{DDDD7F98-78C7-4047-AC7C-51297A930B80}"/>
                </a:ext>
              </a:extLst>
            </p:cNvPr>
            <p:cNvCxnSpPr>
              <a:stCxn id="87" idx="2"/>
              <a:endCxn id="99" idx="0"/>
            </p:cNvCxnSpPr>
            <p:nvPr/>
          </p:nvCxnSpPr>
          <p:spPr bwMode="auto">
            <a:xfrm rot="5400000">
              <a:off x="5758543" y="768014"/>
              <a:ext cx="581907" cy="2831479"/>
            </a:xfrm>
            <a:prstGeom prst="straightConnector1">
              <a:avLst/>
            </a:prstGeom>
            <a:solidFill>
              <a:srgbClr val="EC891D"/>
            </a:solidFill>
            <a:ln w="9525" cap="flat" cmpd="sng" algn="ctr">
              <a:solidFill>
                <a:srgbClr val="C00000"/>
              </a:solidFill>
              <a:prstDash val="solid"/>
              <a:round/>
              <a:headEnd type="none" w="med" len="med"/>
              <a:tailEnd type="stealth"/>
            </a:ln>
            <a:effectLst/>
          </p:spPr>
        </p:cxnSp>
        <p:cxnSp>
          <p:nvCxnSpPr>
            <p:cNvPr id="83" name="Straight Arrow Connector 82">
              <a:extLst>
                <a:ext uri="{FF2B5EF4-FFF2-40B4-BE49-F238E27FC236}">
                  <a16:creationId xmlns:a16="http://schemas.microsoft.com/office/drawing/2014/main" id="{14CE0317-7CE0-4294-9E1E-806CC4FBD5DD}"/>
                </a:ext>
              </a:extLst>
            </p:cNvPr>
            <p:cNvCxnSpPr>
              <a:stCxn id="87" idx="2"/>
              <a:endCxn id="97" idx="3"/>
            </p:cNvCxnSpPr>
            <p:nvPr/>
          </p:nvCxnSpPr>
          <p:spPr bwMode="auto">
            <a:xfrm rot="5400000">
              <a:off x="4603239" y="1639428"/>
              <a:ext cx="2608624" cy="3115368"/>
            </a:xfrm>
            <a:prstGeom prst="straightConnector1">
              <a:avLst/>
            </a:prstGeom>
            <a:solidFill>
              <a:srgbClr val="EC891D"/>
            </a:solidFill>
            <a:ln w="9525" cap="flat" cmpd="sng" algn="ctr">
              <a:solidFill>
                <a:srgbClr val="C00000"/>
              </a:solidFill>
              <a:prstDash val="solid"/>
              <a:round/>
              <a:headEnd type="none" w="med" len="med"/>
              <a:tailEnd type="stealth"/>
            </a:ln>
            <a:effectLst/>
          </p:spPr>
        </p:cxnSp>
        <p:cxnSp>
          <p:nvCxnSpPr>
            <p:cNvPr id="84" name="Straight Arrow Connector 83">
              <a:extLst>
                <a:ext uri="{FF2B5EF4-FFF2-40B4-BE49-F238E27FC236}">
                  <a16:creationId xmlns:a16="http://schemas.microsoft.com/office/drawing/2014/main" id="{5DFB1170-BE61-4FD5-B724-617FB18064E5}"/>
                </a:ext>
              </a:extLst>
            </p:cNvPr>
            <p:cNvCxnSpPr>
              <a:stCxn id="87" idx="2"/>
              <a:endCxn id="93" idx="0"/>
            </p:cNvCxnSpPr>
            <p:nvPr/>
          </p:nvCxnSpPr>
          <p:spPr bwMode="auto">
            <a:xfrm rot="5400000">
              <a:off x="5127776" y="1974855"/>
              <a:ext cx="2419515" cy="2255404"/>
            </a:xfrm>
            <a:prstGeom prst="straightConnector1">
              <a:avLst/>
            </a:prstGeom>
            <a:solidFill>
              <a:srgbClr val="EC891D"/>
            </a:solidFill>
            <a:ln w="9525" cap="flat" cmpd="sng" algn="ctr">
              <a:solidFill>
                <a:srgbClr val="C00000"/>
              </a:solidFill>
              <a:prstDash val="solid"/>
              <a:round/>
              <a:headEnd type="none" w="med" len="med"/>
              <a:tailEnd type="stealth"/>
            </a:ln>
            <a:effectLst/>
          </p:spPr>
        </p:cxnSp>
        <p:cxnSp>
          <p:nvCxnSpPr>
            <p:cNvPr id="85" name="Straight Arrow Connector 84">
              <a:extLst>
                <a:ext uri="{FF2B5EF4-FFF2-40B4-BE49-F238E27FC236}">
                  <a16:creationId xmlns:a16="http://schemas.microsoft.com/office/drawing/2014/main" id="{8026F022-D11A-47FD-85EA-7FCFE1534877}"/>
                </a:ext>
              </a:extLst>
            </p:cNvPr>
            <p:cNvCxnSpPr>
              <a:stCxn id="87" idx="2"/>
              <a:endCxn id="91" idx="0"/>
            </p:cNvCxnSpPr>
            <p:nvPr/>
          </p:nvCxnSpPr>
          <p:spPr bwMode="auto">
            <a:xfrm rot="5400000">
              <a:off x="5819066" y="2128475"/>
              <a:ext cx="1881845" cy="1410494"/>
            </a:xfrm>
            <a:prstGeom prst="straightConnector1">
              <a:avLst/>
            </a:prstGeom>
            <a:solidFill>
              <a:srgbClr val="EC891D"/>
            </a:solidFill>
            <a:ln w="9525" cap="flat" cmpd="sng" algn="ctr">
              <a:solidFill>
                <a:srgbClr val="C00000"/>
              </a:solidFill>
              <a:prstDash val="solid"/>
              <a:round/>
              <a:headEnd type="none" w="med" len="med"/>
              <a:tailEnd type="stealth"/>
            </a:ln>
            <a:effectLst/>
          </p:spPr>
        </p:cxnSp>
        <p:cxnSp>
          <p:nvCxnSpPr>
            <p:cNvPr id="86" name="Straight Arrow Connector 85">
              <a:extLst>
                <a:ext uri="{FF2B5EF4-FFF2-40B4-BE49-F238E27FC236}">
                  <a16:creationId xmlns:a16="http://schemas.microsoft.com/office/drawing/2014/main" id="{772AE285-3335-48B8-A0D0-557FCCD7EC42}"/>
                </a:ext>
              </a:extLst>
            </p:cNvPr>
            <p:cNvCxnSpPr>
              <a:stCxn id="87" idx="2"/>
              <a:endCxn id="89" idx="0"/>
            </p:cNvCxnSpPr>
            <p:nvPr/>
          </p:nvCxnSpPr>
          <p:spPr bwMode="auto">
            <a:xfrm rot="5400000">
              <a:off x="6395141" y="2781360"/>
              <a:ext cx="1958655" cy="181534"/>
            </a:xfrm>
            <a:prstGeom prst="straightConnector1">
              <a:avLst/>
            </a:prstGeom>
            <a:solidFill>
              <a:srgbClr val="EC891D"/>
            </a:solidFill>
            <a:ln w="9525" cap="flat" cmpd="sng" algn="ctr">
              <a:solidFill>
                <a:srgbClr val="C00000"/>
              </a:solidFill>
              <a:prstDash val="solid"/>
              <a:round/>
              <a:headEnd type="none" w="med" len="med"/>
              <a:tailEnd type="stealth"/>
            </a:ln>
            <a:effectLst/>
          </p:spPr>
        </p:cxnSp>
        <p:sp>
          <p:nvSpPr>
            <p:cNvPr id="87" name="Folded Corner 10">
              <a:extLst>
                <a:ext uri="{FF2B5EF4-FFF2-40B4-BE49-F238E27FC236}">
                  <a16:creationId xmlns:a16="http://schemas.microsoft.com/office/drawing/2014/main" id="{A4B18D31-FD10-4F7F-82FB-0BEB003D6ADB}"/>
                </a:ext>
              </a:extLst>
            </p:cNvPr>
            <p:cNvSpPr/>
            <p:nvPr/>
          </p:nvSpPr>
          <p:spPr bwMode="auto">
            <a:xfrm>
              <a:off x="6748400" y="1513630"/>
              <a:ext cx="1433670" cy="379170"/>
            </a:xfrm>
            <a:prstGeom prst="foldedCorner">
              <a:avLst/>
            </a:prstGeom>
            <a:gradFill rotWithShape="1">
              <a:gsLst>
                <a:gs pos="0">
                  <a:srgbClr val="6D7076">
                    <a:shade val="51000"/>
                    <a:satMod val="130000"/>
                  </a:srgbClr>
                </a:gs>
                <a:gs pos="80000">
                  <a:srgbClr val="6D7076">
                    <a:shade val="93000"/>
                    <a:satMod val="130000"/>
                  </a:srgbClr>
                </a:gs>
                <a:gs pos="100000">
                  <a:srgbClr val="6D7076">
                    <a:shade val="94000"/>
                    <a:satMod val="135000"/>
                  </a:srgbClr>
                </a:gs>
              </a:gsLst>
              <a:lin ang="16200000" scaled="0"/>
            </a:gradFill>
            <a:ln>
              <a:noFill/>
            </a:ln>
            <a:effectLst>
              <a:outerShdw blurRad="40000" dist="23000" dir="5400000" rotWithShape="0">
                <a:srgbClr val="000000">
                  <a:alpha val="35000"/>
                </a:srgbClr>
              </a:outerShdw>
            </a:effectLst>
            <a:scene3d>
              <a:camera prst="isometricOffAxis2Left"/>
              <a:lightRig rig="threePt" dir="t">
                <a:rot lat="0" lon="0" rev="1200000"/>
              </a:lightRig>
            </a:scene3d>
            <a:sp3d>
              <a:bevelT w="63500" h="25400"/>
            </a:sp3d>
          </p:spPr>
          <p:txBody>
            <a:bodyPr anchor="ctr"/>
            <a:lstStyle/>
            <a:p>
              <a:pPr algn="ctr" defTabSz="914400" fontAlgn="base">
                <a:spcBef>
                  <a:spcPct val="0"/>
                </a:spcBef>
                <a:spcAft>
                  <a:spcPct val="0"/>
                </a:spcAft>
                <a:defRPr/>
              </a:pPr>
              <a:r>
                <a:rPr lang="en-US" sz="900" b="1" kern="0" dirty="0">
                  <a:solidFill>
                    <a:srgbClr val="000000"/>
                  </a:solidFill>
                  <a:latin typeface="Arial"/>
                </a:rPr>
                <a:t>Untimed C</a:t>
              </a:r>
            </a:p>
            <a:p>
              <a:pPr algn="ctr" defTabSz="914400" fontAlgn="base">
                <a:spcBef>
                  <a:spcPct val="0"/>
                </a:spcBef>
                <a:spcAft>
                  <a:spcPct val="0"/>
                </a:spcAft>
                <a:defRPr/>
              </a:pPr>
              <a:r>
                <a:rPr lang="en-US" sz="900" b="1" kern="0" dirty="0">
                  <a:solidFill>
                    <a:srgbClr val="000000"/>
                  </a:solidFill>
                  <a:latin typeface="Arial"/>
                </a:rPr>
                <a:t>Specification</a:t>
              </a:r>
            </a:p>
          </p:txBody>
        </p:sp>
        <p:grpSp>
          <p:nvGrpSpPr>
            <p:cNvPr id="88" name="Group 173">
              <a:extLst>
                <a:ext uri="{FF2B5EF4-FFF2-40B4-BE49-F238E27FC236}">
                  <a16:creationId xmlns:a16="http://schemas.microsoft.com/office/drawing/2014/main" id="{A08012F7-AF30-4D1D-8535-534910493CE5}"/>
                </a:ext>
              </a:extLst>
            </p:cNvPr>
            <p:cNvGrpSpPr/>
            <p:nvPr/>
          </p:nvGrpSpPr>
          <p:grpSpPr>
            <a:xfrm>
              <a:off x="3227825" y="1934968"/>
              <a:ext cx="4612261" cy="3729686"/>
              <a:chOff x="4034330" y="1613010"/>
              <a:chExt cx="4612261" cy="3729686"/>
            </a:xfrm>
            <a:scene3d>
              <a:camera prst="isometricOffAxis2Left"/>
              <a:lightRig rig="threePt" dir="t"/>
            </a:scene3d>
          </p:grpSpPr>
          <p:sp>
            <p:nvSpPr>
              <p:cNvPr id="101" name="TextBox 100">
                <a:extLst>
                  <a:ext uri="{FF2B5EF4-FFF2-40B4-BE49-F238E27FC236}">
                    <a16:creationId xmlns:a16="http://schemas.microsoft.com/office/drawing/2014/main" id="{89D87B36-CB95-4787-A96F-45378026554C}"/>
                  </a:ext>
                </a:extLst>
              </p:cNvPr>
              <p:cNvSpPr txBox="1"/>
              <p:nvPr/>
            </p:nvSpPr>
            <p:spPr>
              <a:xfrm rot="16200000">
                <a:off x="3910578" y="1771404"/>
                <a:ext cx="524503" cy="276999"/>
              </a:xfrm>
              <a:prstGeom prst="rect">
                <a:avLst/>
              </a:prstGeom>
              <a:noFill/>
            </p:spPr>
            <p:txBody>
              <a:bodyPr wrap="none" rtlCol="0">
                <a:spAutoFit/>
              </a:bodyPr>
              <a:lstStyle/>
              <a:p>
                <a:pPr algn="ctr" defTabSz="914400" fontAlgn="base">
                  <a:spcBef>
                    <a:spcPct val="0"/>
                  </a:spcBef>
                  <a:spcAft>
                    <a:spcPct val="0"/>
                  </a:spcAft>
                  <a:defRPr/>
                </a:pPr>
                <a:r>
                  <a:rPr lang="en-US" sz="1200" kern="0" dirty="0">
                    <a:solidFill>
                      <a:srgbClr val="000000"/>
                    </a:solidFill>
                    <a:latin typeface="Consolas" pitchFamily="49" charset="0"/>
                    <a:cs typeface="Consolas" pitchFamily="49" charset="0"/>
                  </a:rPr>
                  <a:t>Area</a:t>
                </a:r>
              </a:p>
            </p:txBody>
          </p:sp>
          <p:sp>
            <p:nvSpPr>
              <p:cNvPr id="102" name="TextBox 101">
                <a:extLst>
                  <a:ext uri="{FF2B5EF4-FFF2-40B4-BE49-F238E27FC236}">
                    <a16:creationId xmlns:a16="http://schemas.microsoft.com/office/drawing/2014/main" id="{3330493D-22A6-40E0-9BEE-A53C0A395C46}"/>
                  </a:ext>
                </a:extLst>
              </p:cNvPr>
              <p:cNvSpPr txBox="1"/>
              <p:nvPr/>
            </p:nvSpPr>
            <p:spPr>
              <a:xfrm>
                <a:off x="7490780" y="5065697"/>
                <a:ext cx="1119216" cy="276999"/>
              </a:xfrm>
              <a:prstGeom prst="rect">
                <a:avLst/>
              </a:prstGeom>
              <a:noFill/>
            </p:spPr>
            <p:txBody>
              <a:bodyPr wrap="none" rtlCol="0">
                <a:spAutoFit/>
              </a:bodyPr>
              <a:lstStyle/>
              <a:p>
                <a:pPr algn="ctr" defTabSz="914400" fontAlgn="base">
                  <a:spcBef>
                    <a:spcPct val="0"/>
                  </a:spcBef>
                  <a:spcAft>
                    <a:spcPct val="0"/>
                  </a:spcAft>
                  <a:defRPr/>
                </a:pPr>
                <a:r>
                  <a:rPr lang="en-US" sz="1200" kern="0" dirty="0">
                    <a:solidFill>
                      <a:srgbClr val="000000"/>
                    </a:solidFill>
                    <a:latin typeface="Consolas" pitchFamily="49" charset="0"/>
                    <a:cs typeface="Consolas" pitchFamily="49" charset="0"/>
                  </a:rPr>
                  <a:t>Performance</a:t>
                </a:r>
              </a:p>
            </p:txBody>
          </p:sp>
          <p:grpSp>
            <p:nvGrpSpPr>
              <p:cNvPr id="103" name="Group 172">
                <a:extLst>
                  <a:ext uri="{FF2B5EF4-FFF2-40B4-BE49-F238E27FC236}">
                    <a16:creationId xmlns:a16="http://schemas.microsoft.com/office/drawing/2014/main" id="{29A5A0E7-4410-4540-9708-B6FBD8EDC447}"/>
                  </a:ext>
                </a:extLst>
              </p:cNvPr>
              <p:cNvGrpSpPr/>
              <p:nvPr/>
            </p:nvGrpSpPr>
            <p:grpSpPr>
              <a:xfrm>
                <a:off x="4376314" y="1814160"/>
                <a:ext cx="4266616" cy="3202230"/>
                <a:chOff x="4376314" y="1814160"/>
                <a:chExt cx="4266616" cy="3202230"/>
              </a:xfrm>
            </p:grpSpPr>
            <p:cxnSp>
              <p:nvCxnSpPr>
                <p:cNvPr id="106" name="Straight Connector 105">
                  <a:extLst>
                    <a:ext uri="{FF2B5EF4-FFF2-40B4-BE49-F238E27FC236}">
                      <a16:creationId xmlns:a16="http://schemas.microsoft.com/office/drawing/2014/main" id="{D3B9719F-0AD9-4DD2-A5A4-2EED128047F0}"/>
                    </a:ext>
                  </a:extLst>
                </p:cNvPr>
                <p:cNvCxnSpPr/>
                <p:nvPr/>
              </p:nvCxnSpPr>
              <p:spPr bwMode="auto">
                <a:xfrm>
                  <a:off x="4376314" y="4862160"/>
                  <a:ext cx="4266616" cy="0"/>
                </a:xfrm>
                <a:prstGeom prst="line">
                  <a:avLst/>
                </a:prstGeom>
                <a:solidFill>
                  <a:srgbClr val="EC891D"/>
                </a:solidFill>
                <a:ln w="9525" cap="flat" cmpd="sng" algn="ctr">
                  <a:solidFill>
                    <a:srgbClr val="FFFFFF">
                      <a:lumMod val="85000"/>
                    </a:srgbClr>
                  </a:solidFill>
                  <a:prstDash val="solid"/>
                  <a:round/>
                  <a:headEnd type="none" w="med" len="med"/>
                  <a:tailEnd type="none" w="med" len="med"/>
                </a:ln>
                <a:effectLst/>
              </p:spPr>
            </p:cxnSp>
            <p:cxnSp>
              <p:nvCxnSpPr>
                <p:cNvPr id="107" name="Straight Connector 106">
                  <a:extLst>
                    <a:ext uri="{FF2B5EF4-FFF2-40B4-BE49-F238E27FC236}">
                      <a16:creationId xmlns:a16="http://schemas.microsoft.com/office/drawing/2014/main" id="{D8B4DD85-8490-4707-9446-7611C6E8E322}"/>
                    </a:ext>
                  </a:extLst>
                </p:cNvPr>
                <p:cNvCxnSpPr/>
                <p:nvPr/>
              </p:nvCxnSpPr>
              <p:spPr bwMode="auto">
                <a:xfrm>
                  <a:off x="4376314" y="4709760"/>
                  <a:ext cx="4266616" cy="0"/>
                </a:xfrm>
                <a:prstGeom prst="line">
                  <a:avLst/>
                </a:prstGeom>
                <a:solidFill>
                  <a:srgbClr val="EC891D"/>
                </a:solidFill>
                <a:ln w="9525" cap="flat" cmpd="sng" algn="ctr">
                  <a:solidFill>
                    <a:srgbClr val="FFFFFF">
                      <a:lumMod val="85000"/>
                    </a:srgbClr>
                  </a:solidFill>
                  <a:prstDash val="solid"/>
                  <a:round/>
                  <a:headEnd type="none" w="med" len="med"/>
                  <a:tailEnd type="none" w="med" len="med"/>
                </a:ln>
                <a:effectLst/>
              </p:spPr>
            </p:cxnSp>
            <p:cxnSp>
              <p:nvCxnSpPr>
                <p:cNvPr id="108" name="Straight Connector 107">
                  <a:extLst>
                    <a:ext uri="{FF2B5EF4-FFF2-40B4-BE49-F238E27FC236}">
                      <a16:creationId xmlns:a16="http://schemas.microsoft.com/office/drawing/2014/main" id="{935E3B0B-F9E0-4B50-9AF9-5229DA10C386}"/>
                    </a:ext>
                  </a:extLst>
                </p:cNvPr>
                <p:cNvCxnSpPr/>
                <p:nvPr/>
              </p:nvCxnSpPr>
              <p:spPr bwMode="auto">
                <a:xfrm>
                  <a:off x="4376314" y="4557360"/>
                  <a:ext cx="4266616" cy="0"/>
                </a:xfrm>
                <a:prstGeom prst="line">
                  <a:avLst/>
                </a:prstGeom>
                <a:solidFill>
                  <a:srgbClr val="EC891D"/>
                </a:solidFill>
                <a:ln w="9525" cap="flat" cmpd="sng" algn="ctr">
                  <a:solidFill>
                    <a:srgbClr val="FFFFFF">
                      <a:lumMod val="85000"/>
                    </a:srgbClr>
                  </a:solidFill>
                  <a:prstDash val="solid"/>
                  <a:round/>
                  <a:headEnd type="none" w="med" len="med"/>
                  <a:tailEnd type="none" w="med" len="med"/>
                </a:ln>
                <a:effectLst/>
              </p:spPr>
            </p:cxnSp>
            <p:cxnSp>
              <p:nvCxnSpPr>
                <p:cNvPr id="109" name="Straight Connector 108">
                  <a:extLst>
                    <a:ext uri="{FF2B5EF4-FFF2-40B4-BE49-F238E27FC236}">
                      <a16:creationId xmlns:a16="http://schemas.microsoft.com/office/drawing/2014/main" id="{EAB362B9-3D3F-43E1-BC8E-3225547692F0}"/>
                    </a:ext>
                  </a:extLst>
                </p:cNvPr>
                <p:cNvCxnSpPr/>
                <p:nvPr/>
              </p:nvCxnSpPr>
              <p:spPr bwMode="auto">
                <a:xfrm>
                  <a:off x="4376314" y="4404960"/>
                  <a:ext cx="4266616" cy="0"/>
                </a:xfrm>
                <a:prstGeom prst="line">
                  <a:avLst/>
                </a:prstGeom>
                <a:solidFill>
                  <a:srgbClr val="EC891D"/>
                </a:solidFill>
                <a:ln w="9525" cap="flat" cmpd="sng" algn="ctr">
                  <a:solidFill>
                    <a:srgbClr val="FFFFFF">
                      <a:lumMod val="85000"/>
                    </a:srgbClr>
                  </a:solidFill>
                  <a:prstDash val="solid"/>
                  <a:round/>
                  <a:headEnd type="none" w="med" len="med"/>
                  <a:tailEnd type="none" w="med" len="med"/>
                </a:ln>
                <a:effectLst/>
              </p:spPr>
            </p:cxnSp>
            <p:cxnSp>
              <p:nvCxnSpPr>
                <p:cNvPr id="110" name="Straight Connector 109">
                  <a:extLst>
                    <a:ext uri="{FF2B5EF4-FFF2-40B4-BE49-F238E27FC236}">
                      <a16:creationId xmlns:a16="http://schemas.microsoft.com/office/drawing/2014/main" id="{EE81C4D0-BC97-45A9-84C4-F135308456D3}"/>
                    </a:ext>
                  </a:extLst>
                </p:cNvPr>
                <p:cNvCxnSpPr/>
                <p:nvPr/>
              </p:nvCxnSpPr>
              <p:spPr bwMode="auto">
                <a:xfrm>
                  <a:off x="4376314" y="4252560"/>
                  <a:ext cx="4266616" cy="0"/>
                </a:xfrm>
                <a:prstGeom prst="line">
                  <a:avLst/>
                </a:prstGeom>
                <a:solidFill>
                  <a:srgbClr val="EC891D"/>
                </a:solidFill>
                <a:ln w="9525" cap="flat" cmpd="sng" algn="ctr">
                  <a:solidFill>
                    <a:srgbClr val="FFFFFF">
                      <a:lumMod val="85000"/>
                    </a:srgbClr>
                  </a:solidFill>
                  <a:prstDash val="solid"/>
                  <a:round/>
                  <a:headEnd type="none" w="med" len="med"/>
                  <a:tailEnd type="none" w="med" len="med"/>
                </a:ln>
                <a:effectLst/>
              </p:spPr>
            </p:cxnSp>
            <p:cxnSp>
              <p:nvCxnSpPr>
                <p:cNvPr id="111" name="Straight Connector 110">
                  <a:extLst>
                    <a:ext uri="{FF2B5EF4-FFF2-40B4-BE49-F238E27FC236}">
                      <a16:creationId xmlns:a16="http://schemas.microsoft.com/office/drawing/2014/main" id="{3A66157E-6A4C-41E3-AD09-8439DCD5D8EA}"/>
                    </a:ext>
                  </a:extLst>
                </p:cNvPr>
                <p:cNvCxnSpPr/>
                <p:nvPr/>
              </p:nvCxnSpPr>
              <p:spPr bwMode="auto">
                <a:xfrm>
                  <a:off x="4376314" y="4100160"/>
                  <a:ext cx="4266616" cy="0"/>
                </a:xfrm>
                <a:prstGeom prst="line">
                  <a:avLst/>
                </a:prstGeom>
                <a:solidFill>
                  <a:srgbClr val="EC891D"/>
                </a:solidFill>
                <a:ln w="9525" cap="flat" cmpd="sng" algn="ctr">
                  <a:solidFill>
                    <a:srgbClr val="FFFFFF">
                      <a:lumMod val="85000"/>
                    </a:srgbClr>
                  </a:solidFill>
                  <a:prstDash val="solid"/>
                  <a:round/>
                  <a:headEnd type="none" w="med" len="med"/>
                  <a:tailEnd type="none" w="med" len="med"/>
                </a:ln>
                <a:effectLst/>
              </p:spPr>
            </p:cxnSp>
            <p:cxnSp>
              <p:nvCxnSpPr>
                <p:cNvPr id="112" name="Straight Connector 111">
                  <a:extLst>
                    <a:ext uri="{FF2B5EF4-FFF2-40B4-BE49-F238E27FC236}">
                      <a16:creationId xmlns:a16="http://schemas.microsoft.com/office/drawing/2014/main" id="{B5755483-A740-49BC-B1CC-CDB11FF476D1}"/>
                    </a:ext>
                  </a:extLst>
                </p:cNvPr>
                <p:cNvCxnSpPr/>
                <p:nvPr/>
              </p:nvCxnSpPr>
              <p:spPr bwMode="auto">
                <a:xfrm>
                  <a:off x="4376314" y="3947760"/>
                  <a:ext cx="4266616" cy="0"/>
                </a:xfrm>
                <a:prstGeom prst="line">
                  <a:avLst/>
                </a:prstGeom>
                <a:solidFill>
                  <a:srgbClr val="EC891D"/>
                </a:solidFill>
                <a:ln w="9525" cap="flat" cmpd="sng" algn="ctr">
                  <a:solidFill>
                    <a:srgbClr val="FFFFFF">
                      <a:lumMod val="85000"/>
                    </a:srgbClr>
                  </a:solidFill>
                  <a:prstDash val="solid"/>
                  <a:round/>
                  <a:headEnd type="none" w="med" len="med"/>
                  <a:tailEnd type="none" w="med" len="med"/>
                </a:ln>
                <a:effectLst/>
              </p:spPr>
            </p:cxnSp>
            <p:cxnSp>
              <p:nvCxnSpPr>
                <p:cNvPr id="113" name="Straight Connector 112">
                  <a:extLst>
                    <a:ext uri="{FF2B5EF4-FFF2-40B4-BE49-F238E27FC236}">
                      <a16:creationId xmlns:a16="http://schemas.microsoft.com/office/drawing/2014/main" id="{007293D7-C1BD-445F-B612-928D1297D7F3}"/>
                    </a:ext>
                  </a:extLst>
                </p:cNvPr>
                <p:cNvCxnSpPr/>
                <p:nvPr/>
              </p:nvCxnSpPr>
              <p:spPr bwMode="auto">
                <a:xfrm>
                  <a:off x="4376314" y="3795360"/>
                  <a:ext cx="4266616" cy="0"/>
                </a:xfrm>
                <a:prstGeom prst="line">
                  <a:avLst/>
                </a:prstGeom>
                <a:solidFill>
                  <a:srgbClr val="EC891D"/>
                </a:solidFill>
                <a:ln w="9525" cap="flat" cmpd="sng" algn="ctr">
                  <a:solidFill>
                    <a:srgbClr val="FFFFFF">
                      <a:lumMod val="85000"/>
                    </a:srgbClr>
                  </a:solidFill>
                  <a:prstDash val="solid"/>
                  <a:round/>
                  <a:headEnd type="none" w="med" len="med"/>
                  <a:tailEnd type="none" w="med" len="med"/>
                </a:ln>
                <a:effectLst/>
              </p:spPr>
            </p:cxnSp>
            <p:cxnSp>
              <p:nvCxnSpPr>
                <p:cNvPr id="114" name="Straight Connector 113">
                  <a:extLst>
                    <a:ext uri="{FF2B5EF4-FFF2-40B4-BE49-F238E27FC236}">
                      <a16:creationId xmlns:a16="http://schemas.microsoft.com/office/drawing/2014/main" id="{3C7614F8-DC48-43EE-AE20-C6B03B3DE609}"/>
                    </a:ext>
                  </a:extLst>
                </p:cNvPr>
                <p:cNvCxnSpPr/>
                <p:nvPr/>
              </p:nvCxnSpPr>
              <p:spPr bwMode="auto">
                <a:xfrm>
                  <a:off x="4376314" y="3642960"/>
                  <a:ext cx="4266616" cy="0"/>
                </a:xfrm>
                <a:prstGeom prst="line">
                  <a:avLst/>
                </a:prstGeom>
                <a:solidFill>
                  <a:srgbClr val="EC891D"/>
                </a:solidFill>
                <a:ln w="9525" cap="flat" cmpd="sng" algn="ctr">
                  <a:solidFill>
                    <a:srgbClr val="FFFFFF">
                      <a:lumMod val="85000"/>
                    </a:srgbClr>
                  </a:solidFill>
                  <a:prstDash val="solid"/>
                  <a:round/>
                  <a:headEnd type="none" w="med" len="med"/>
                  <a:tailEnd type="none" w="med" len="med"/>
                </a:ln>
                <a:effectLst/>
              </p:spPr>
            </p:cxnSp>
            <p:cxnSp>
              <p:nvCxnSpPr>
                <p:cNvPr id="115" name="Straight Connector 114">
                  <a:extLst>
                    <a:ext uri="{FF2B5EF4-FFF2-40B4-BE49-F238E27FC236}">
                      <a16:creationId xmlns:a16="http://schemas.microsoft.com/office/drawing/2014/main" id="{29CB0083-6319-4CBF-BC26-70CD337B632E}"/>
                    </a:ext>
                  </a:extLst>
                </p:cNvPr>
                <p:cNvCxnSpPr/>
                <p:nvPr/>
              </p:nvCxnSpPr>
              <p:spPr bwMode="auto">
                <a:xfrm>
                  <a:off x="4376314" y="3490560"/>
                  <a:ext cx="4266616" cy="0"/>
                </a:xfrm>
                <a:prstGeom prst="line">
                  <a:avLst/>
                </a:prstGeom>
                <a:solidFill>
                  <a:srgbClr val="EC891D"/>
                </a:solidFill>
                <a:ln w="9525" cap="flat" cmpd="sng" algn="ctr">
                  <a:solidFill>
                    <a:srgbClr val="FFFFFF">
                      <a:lumMod val="85000"/>
                    </a:srgbClr>
                  </a:solidFill>
                  <a:prstDash val="solid"/>
                  <a:round/>
                  <a:headEnd type="none" w="med" len="med"/>
                  <a:tailEnd type="none" w="med" len="med"/>
                </a:ln>
                <a:effectLst/>
              </p:spPr>
            </p:cxnSp>
            <p:cxnSp>
              <p:nvCxnSpPr>
                <p:cNvPr id="116" name="Straight Connector 115">
                  <a:extLst>
                    <a:ext uri="{FF2B5EF4-FFF2-40B4-BE49-F238E27FC236}">
                      <a16:creationId xmlns:a16="http://schemas.microsoft.com/office/drawing/2014/main" id="{80941E32-2A61-4869-A247-9FE6C568F5C3}"/>
                    </a:ext>
                  </a:extLst>
                </p:cNvPr>
                <p:cNvCxnSpPr/>
                <p:nvPr/>
              </p:nvCxnSpPr>
              <p:spPr bwMode="auto">
                <a:xfrm>
                  <a:off x="4376314" y="3338160"/>
                  <a:ext cx="4266616" cy="0"/>
                </a:xfrm>
                <a:prstGeom prst="line">
                  <a:avLst/>
                </a:prstGeom>
                <a:solidFill>
                  <a:srgbClr val="EC891D"/>
                </a:solidFill>
                <a:ln w="9525" cap="flat" cmpd="sng" algn="ctr">
                  <a:solidFill>
                    <a:srgbClr val="FFFFFF">
                      <a:lumMod val="85000"/>
                    </a:srgbClr>
                  </a:solidFill>
                  <a:prstDash val="solid"/>
                  <a:round/>
                  <a:headEnd type="none" w="med" len="med"/>
                  <a:tailEnd type="none" w="med" len="med"/>
                </a:ln>
                <a:effectLst/>
              </p:spPr>
            </p:cxnSp>
            <p:cxnSp>
              <p:nvCxnSpPr>
                <p:cNvPr id="117" name="Straight Connector 116">
                  <a:extLst>
                    <a:ext uri="{FF2B5EF4-FFF2-40B4-BE49-F238E27FC236}">
                      <a16:creationId xmlns:a16="http://schemas.microsoft.com/office/drawing/2014/main" id="{78F26750-B2EB-413B-9BF2-9E9D4A2E9CC4}"/>
                    </a:ext>
                  </a:extLst>
                </p:cNvPr>
                <p:cNvCxnSpPr/>
                <p:nvPr/>
              </p:nvCxnSpPr>
              <p:spPr bwMode="auto">
                <a:xfrm>
                  <a:off x="4376314" y="3185760"/>
                  <a:ext cx="4266616" cy="0"/>
                </a:xfrm>
                <a:prstGeom prst="line">
                  <a:avLst/>
                </a:prstGeom>
                <a:solidFill>
                  <a:srgbClr val="EC891D"/>
                </a:solidFill>
                <a:ln w="9525" cap="flat" cmpd="sng" algn="ctr">
                  <a:solidFill>
                    <a:srgbClr val="FFFFFF">
                      <a:lumMod val="85000"/>
                    </a:srgbClr>
                  </a:solidFill>
                  <a:prstDash val="solid"/>
                  <a:round/>
                  <a:headEnd type="none" w="med" len="med"/>
                  <a:tailEnd type="none" w="med" len="med"/>
                </a:ln>
                <a:effectLst/>
              </p:spPr>
            </p:cxnSp>
            <p:cxnSp>
              <p:nvCxnSpPr>
                <p:cNvPr id="118" name="Straight Connector 117">
                  <a:extLst>
                    <a:ext uri="{FF2B5EF4-FFF2-40B4-BE49-F238E27FC236}">
                      <a16:creationId xmlns:a16="http://schemas.microsoft.com/office/drawing/2014/main" id="{85C0288D-8354-446B-9A52-21E3404482A7}"/>
                    </a:ext>
                  </a:extLst>
                </p:cNvPr>
                <p:cNvCxnSpPr/>
                <p:nvPr/>
              </p:nvCxnSpPr>
              <p:spPr bwMode="auto">
                <a:xfrm>
                  <a:off x="4376314" y="3033360"/>
                  <a:ext cx="4266616" cy="0"/>
                </a:xfrm>
                <a:prstGeom prst="line">
                  <a:avLst/>
                </a:prstGeom>
                <a:solidFill>
                  <a:srgbClr val="EC891D"/>
                </a:solidFill>
                <a:ln w="9525" cap="flat" cmpd="sng" algn="ctr">
                  <a:solidFill>
                    <a:srgbClr val="FFFFFF">
                      <a:lumMod val="85000"/>
                    </a:srgbClr>
                  </a:solidFill>
                  <a:prstDash val="solid"/>
                  <a:round/>
                  <a:headEnd type="none" w="med" len="med"/>
                  <a:tailEnd type="none" w="med" len="med"/>
                </a:ln>
                <a:effectLst/>
              </p:spPr>
            </p:cxnSp>
            <p:cxnSp>
              <p:nvCxnSpPr>
                <p:cNvPr id="119" name="Straight Connector 118">
                  <a:extLst>
                    <a:ext uri="{FF2B5EF4-FFF2-40B4-BE49-F238E27FC236}">
                      <a16:creationId xmlns:a16="http://schemas.microsoft.com/office/drawing/2014/main" id="{5194D96A-6ECD-4AEB-81FB-9162D4C838F8}"/>
                    </a:ext>
                  </a:extLst>
                </p:cNvPr>
                <p:cNvCxnSpPr/>
                <p:nvPr/>
              </p:nvCxnSpPr>
              <p:spPr bwMode="auto">
                <a:xfrm>
                  <a:off x="4376314" y="2880960"/>
                  <a:ext cx="4266616" cy="0"/>
                </a:xfrm>
                <a:prstGeom prst="line">
                  <a:avLst/>
                </a:prstGeom>
                <a:solidFill>
                  <a:srgbClr val="EC891D"/>
                </a:solidFill>
                <a:ln w="9525" cap="flat" cmpd="sng" algn="ctr">
                  <a:solidFill>
                    <a:srgbClr val="FFFFFF">
                      <a:lumMod val="85000"/>
                    </a:srgbClr>
                  </a:solidFill>
                  <a:prstDash val="solid"/>
                  <a:round/>
                  <a:headEnd type="none" w="med" len="med"/>
                  <a:tailEnd type="none" w="med" len="med"/>
                </a:ln>
                <a:effectLst/>
              </p:spPr>
            </p:cxnSp>
            <p:cxnSp>
              <p:nvCxnSpPr>
                <p:cNvPr id="120" name="Straight Connector 119">
                  <a:extLst>
                    <a:ext uri="{FF2B5EF4-FFF2-40B4-BE49-F238E27FC236}">
                      <a16:creationId xmlns:a16="http://schemas.microsoft.com/office/drawing/2014/main" id="{B9C62CE8-FEC2-4DBE-9ABE-DC1E4C156DBC}"/>
                    </a:ext>
                  </a:extLst>
                </p:cNvPr>
                <p:cNvCxnSpPr/>
                <p:nvPr/>
              </p:nvCxnSpPr>
              <p:spPr bwMode="auto">
                <a:xfrm>
                  <a:off x="4376314" y="2728560"/>
                  <a:ext cx="4266616" cy="0"/>
                </a:xfrm>
                <a:prstGeom prst="line">
                  <a:avLst/>
                </a:prstGeom>
                <a:solidFill>
                  <a:srgbClr val="EC891D"/>
                </a:solidFill>
                <a:ln w="9525" cap="flat" cmpd="sng" algn="ctr">
                  <a:solidFill>
                    <a:srgbClr val="FFFFFF">
                      <a:lumMod val="85000"/>
                    </a:srgbClr>
                  </a:solidFill>
                  <a:prstDash val="solid"/>
                  <a:round/>
                  <a:headEnd type="none" w="med" len="med"/>
                  <a:tailEnd type="none" w="med" len="med"/>
                </a:ln>
                <a:effectLst/>
              </p:spPr>
            </p:cxnSp>
            <p:cxnSp>
              <p:nvCxnSpPr>
                <p:cNvPr id="121" name="Straight Connector 120">
                  <a:extLst>
                    <a:ext uri="{FF2B5EF4-FFF2-40B4-BE49-F238E27FC236}">
                      <a16:creationId xmlns:a16="http://schemas.microsoft.com/office/drawing/2014/main" id="{F2416A29-3503-47E2-AD66-B779BA60BF09}"/>
                    </a:ext>
                  </a:extLst>
                </p:cNvPr>
                <p:cNvCxnSpPr/>
                <p:nvPr/>
              </p:nvCxnSpPr>
              <p:spPr bwMode="auto">
                <a:xfrm>
                  <a:off x="4376314" y="2576160"/>
                  <a:ext cx="4266616" cy="0"/>
                </a:xfrm>
                <a:prstGeom prst="line">
                  <a:avLst/>
                </a:prstGeom>
                <a:solidFill>
                  <a:srgbClr val="EC891D"/>
                </a:solidFill>
                <a:ln w="9525" cap="flat" cmpd="sng" algn="ctr">
                  <a:solidFill>
                    <a:srgbClr val="FFFFFF">
                      <a:lumMod val="85000"/>
                    </a:srgbClr>
                  </a:solidFill>
                  <a:prstDash val="solid"/>
                  <a:round/>
                  <a:headEnd type="none" w="med" len="med"/>
                  <a:tailEnd type="none" w="med" len="med"/>
                </a:ln>
                <a:effectLst/>
              </p:spPr>
            </p:cxnSp>
            <p:cxnSp>
              <p:nvCxnSpPr>
                <p:cNvPr id="122" name="Straight Connector 121">
                  <a:extLst>
                    <a:ext uri="{FF2B5EF4-FFF2-40B4-BE49-F238E27FC236}">
                      <a16:creationId xmlns:a16="http://schemas.microsoft.com/office/drawing/2014/main" id="{A3A21E83-107B-4E28-8385-16AB17A5248D}"/>
                    </a:ext>
                  </a:extLst>
                </p:cNvPr>
                <p:cNvCxnSpPr/>
                <p:nvPr/>
              </p:nvCxnSpPr>
              <p:spPr bwMode="auto">
                <a:xfrm>
                  <a:off x="4376314" y="2423760"/>
                  <a:ext cx="4266616" cy="0"/>
                </a:xfrm>
                <a:prstGeom prst="line">
                  <a:avLst/>
                </a:prstGeom>
                <a:solidFill>
                  <a:srgbClr val="EC891D"/>
                </a:solidFill>
                <a:ln w="9525" cap="flat" cmpd="sng" algn="ctr">
                  <a:solidFill>
                    <a:srgbClr val="FFFFFF">
                      <a:lumMod val="85000"/>
                    </a:srgbClr>
                  </a:solidFill>
                  <a:prstDash val="solid"/>
                  <a:round/>
                  <a:headEnd type="none" w="med" len="med"/>
                  <a:tailEnd type="none" w="med" len="med"/>
                </a:ln>
                <a:effectLst/>
              </p:spPr>
            </p:cxnSp>
            <p:cxnSp>
              <p:nvCxnSpPr>
                <p:cNvPr id="123" name="Straight Connector 122">
                  <a:extLst>
                    <a:ext uri="{FF2B5EF4-FFF2-40B4-BE49-F238E27FC236}">
                      <a16:creationId xmlns:a16="http://schemas.microsoft.com/office/drawing/2014/main" id="{17651559-208A-414C-890C-84DB6EA289A1}"/>
                    </a:ext>
                  </a:extLst>
                </p:cNvPr>
                <p:cNvCxnSpPr/>
                <p:nvPr/>
              </p:nvCxnSpPr>
              <p:spPr bwMode="auto">
                <a:xfrm>
                  <a:off x="4376314" y="2271360"/>
                  <a:ext cx="4266616" cy="0"/>
                </a:xfrm>
                <a:prstGeom prst="line">
                  <a:avLst/>
                </a:prstGeom>
                <a:solidFill>
                  <a:srgbClr val="EC891D"/>
                </a:solidFill>
                <a:ln w="9525" cap="flat" cmpd="sng" algn="ctr">
                  <a:solidFill>
                    <a:srgbClr val="FFFFFF">
                      <a:lumMod val="85000"/>
                    </a:srgbClr>
                  </a:solidFill>
                  <a:prstDash val="solid"/>
                  <a:round/>
                  <a:headEnd type="none" w="med" len="med"/>
                  <a:tailEnd type="none" w="med" len="med"/>
                </a:ln>
                <a:effectLst/>
              </p:spPr>
            </p:cxnSp>
            <p:cxnSp>
              <p:nvCxnSpPr>
                <p:cNvPr id="124" name="Straight Connector 123">
                  <a:extLst>
                    <a:ext uri="{FF2B5EF4-FFF2-40B4-BE49-F238E27FC236}">
                      <a16:creationId xmlns:a16="http://schemas.microsoft.com/office/drawing/2014/main" id="{7F873D69-9E02-41C5-967C-2A3723059E97}"/>
                    </a:ext>
                  </a:extLst>
                </p:cNvPr>
                <p:cNvCxnSpPr/>
                <p:nvPr/>
              </p:nvCxnSpPr>
              <p:spPr bwMode="auto">
                <a:xfrm>
                  <a:off x="4376314" y="2118960"/>
                  <a:ext cx="4266616" cy="0"/>
                </a:xfrm>
                <a:prstGeom prst="line">
                  <a:avLst/>
                </a:prstGeom>
                <a:solidFill>
                  <a:srgbClr val="EC891D"/>
                </a:solidFill>
                <a:ln w="9525" cap="flat" cmpd="sng" algn="ctr">
                  <a:solidFill>
                    <a:srgbClr val="FFFFFF">
                      <a:lumMod val="85000"/>
                    </a:srgbClr>
                  </a:solidFill>
                  <a:prstDash val="solid"/>
                  <a:round/>
                  <a:headEnd type="none" w="med" len="med"/>
                  <a:tailEnd type="none" w="med" len="med"/>
                </a:ln>
                <a:effectLst/>
              </p:spPr>
            </p:cxnSp>
            <p:cxnSp>
              <p:nvCxnSpPr>
                <p:cNvPr id="125" name="Straight Connector 124">
                  <a:extLst>
                    <a:ext uri="{FF2B5EF4-FFF2-40B4-BE49-F238E27FC236}">
                      <a16:creationId xmlns:a16="http://schemas.microsoft.com/office/drawing/2014/main" id="{25BC79DE-3C67-423D-B335-846022178BB9}"/>
                    </a:ext>
                  </a:extLst>
                </p:cNvPr>
                <p:cNvCxnSpPr/>
                <p:nvPr/>
              </p:nvCxnSpPr>
              <p:spPr bwMode="auto">
                <a:xfrm>
                  <a:off x="4376314" y="1966560"/>
                  <a:ext cx="4266616" cy="0"/>
                </a:xfrm>
                <a:prstGeom prst="line">
                  <a:avLst/>
                </a:prstGeom>
                <a:solidFill>
                  <a:srgbClr val="EC891D"/>
                </a:solidFill>
                <a:ln w="9525" cap="flat" cmpd="sng" algn="ctr">
                  <a:solidFill>
                    <a:srgbClr val="FFFFFF">
                      <a:lumMod val="85000"/>
                    </a:srgbClr>
                  </a:solidFill>
                  <a:prstDash val="solid"/>
                  <a:round/>
                  <a:headEnd type="none" w="med" len="med"/>
                  <a:tailEnd type="none" w="med" len="med"/>
                </a:ln>
                <a:effectLst/>
              </p:spPr>
            </p:cxnSp>
            <p:cxnSp>
              <p:nvCxnSpPr>
                <p:cNvPr id="126" name="Straight Connector 125">
                  <a:extLst>
                    <a:ext uri="{FF2B5EF4-FFF2-40B4-BE49-F238E27FC236}">
                      <a16:creationId xmlns:a16="http://schemas.microsoft.com/office/drawing/2014/main" id="{F67DC8D1-D4F9-4866-AA2A-A99D170C2431}"/>
                    </a:ext>
                  </a:extLst>
                </p:cNvPr>
                <p:cNvCxnSpPr/>
                <p:nvPr/>
              </p:nvCxnSpPr>
              <p:spPr bwMode="auto">
                <a:xfrm>
                  <a:off x="4376314" y="1814160"/>
                  <a:ext cx="4266616" cy="0"/>
                </a:xfrm>
                <a:prstGeom prst="line">
                  <a:avLst/>
                </a:prstGeom>
                <a:solidFill>
                  <a:srgbClr val="EC891D"/>
                </a:solidFill>
                <a:ln w="9525" cap="flat" cmpd="sng" algn="ctr">
                  <a:solidFill>
                    <a:srgbClr val="FFFFFF">
                      <a:lumMod val="85000"/>
                    </a:srgbClr>
                  </a:solidFill>
                  <a:prstDash val="solid"/>
                  <a:round/>
                  <a:headEnd type="none" w="med" len="med"/>
                  <a:tailEnd type="none" w="med" len="med"/>
                </a:ln>
                <a:effectLst/>
              </p:spPr>
            </p:cxnSp>
            <p:cxnSp>
              <p:nvCxnSpPr>
                <p:cNvPr id="127" name="Straight Connector 126">
                  <a:extLst>
                    <a:ext uri="{FF2B5EF4-FFF2-40B4-BE49-F238E27FC236}">
                      <a16:creationId xmlns:a16="http://schemas.microsoft.com/office/drawing/2014/main" id="{81CE8AF8-9472-48A5-93C8-06C21BAA7303}"/>
                    </a:ext>
                  </a:extLst>
                </p:cNvPr>
                <p:cNvCxnSpPr/>
                <p:nvPr/>
              </p:nvCxnSpPr>
              <p:spPr bwMode="auto">
                <a:xfrm rot="5400000">
                  <a:off x="2928514" y="3414360"/>
                  <a:ext cx="3200400" cy="0"/>
                </a:xfrm>
                <a:prstGeom prst="line">
                  <a:avLst/>
                </a:prstGeom>
                <a:solidFill>
                  <a:srgbClr val="EC891D"/>
                </a:solidFill>
                <a:ln w="9525" cap="flat" cmpd="sng" algn="ctr">
                  <a:solidFill>
                    <a:srgbClr val="FFFFFF">
                      <a:lumMod val="85000"/>
                    </a:srgbClr>
                  </a:solidFill>
                  <a:prstDash val="solid"/>
                  <a:round/>
                  <a:headEnd type="none" w="med" len="med"/>
                  <a:tailEnd type="none" w="med" len="med"/>
                </a:ln>
                <a:effectLst/>
              </p:spPr>
            </p:cxnSp>
            <p:cxnSp>
              <p:nvCxnSpPr>
                <p:cNvPr id="128" name="Straight Connector 127">
                  <a:extLst>
                    <a:ext uri="{FF2B5EF4-FFF2-40B4-BE49-F238E27FC236}">
                      <a16:creationId xmlns:a16="http://schemas.microsoft.com/office/drawing/2014/main" id="{6AD7D322-E021-4321-B1FA-C059DA63F3C7}"/>
                    </a:ext>
                  </a:extLst>
                </p:cNvPr>
                <p:cNvCxnSpPr/>
                <p:nvPr/>
              </p:nvCxnSpPr>
              <p:spPr bwMode="auto">
                <a:xfrm rot="5400000">
                  <a:off x="3080914" y="3414360"/>
                  <a:ext cx="3200400" cy="0"/>
                </a:xfrm>
                <a:prstGeom prst="line">
                  <a:avLst/>
                </a:prstGeom>
                <a:solidFill>
                  <a:srgbClr val="EC891D"/>
                </a:solidFill>
                <a:ln w="9525" cap="flat" cmpd="sng" algn="ctr">
                  <a:solidFill>
                    <a:srgbClr val="FFFFFF">
                      <a:lumMod val="85000"/>
                    </a:srgbClr>
                  </a:solidFill>
                  <a:prstDash val="solid"/>
                  <a:round/>
                  <a:headEnd type="none" w="med" len="med"/>
                  <a:tailEnd type="none" w="med" len="med"/>
                </a:ln>
                <a:effectLst/>
              </p:spPr>
            </p:cxnSp>
            <p:cxnSp>
              <p:nvCxnSpPr>
                <p:cNvPr id="129" name="Straight Connector 128">
                  <a:extLst>
                    <a:ext uri="{FF2B5EF4-FFF2-40B4-BE49-F238E27FC236}">
                      <a16:creationId xmlns:a16="http://schemas.microsoft.com/office/drawing/2014/main" id="{1B05570D-E14B-4955-A7EA-0F52652D78AD}"/>
                    </a:ext>
                  </a:extLst>
                </p:cNvPr>
                <p:cNvCxnSpPr/>
                <p:nvPr/>
              </p:nvCxnSpPr>
              <p:spPr bwMode="auto">
                <a:xfrm rot="5400000">
                  <a:off x="3233314" y="3414360"/>
                  <a:ext cx="3200400" cy="0"/>
                </a:xfrm>
                <a:prstGeom prst="line">
                  <a:avLst/>
                </a:prstGeom>
                <a:solidFill>
                  <a:srgbClr val="EC891D"/>
                </a:solidFill>
                <a:ln w="9525" cap="flat" cmpd="sng" algn="ctr">
                  <a:solidFill>
                    <a:srgbClr val="FFFFFF">
                      <a:lumMod val="85000"/>
                    </a:srgbClr>
                  </a:solidFill>
                  <a:prstDash val="solid"/>
                  <a:round/>
                  <a:headEnd type="none" w="med" len="med"/>
                  <a:tailEnd type="none" w="med" len="med"/>
                </a:ln>
                <a:effectLst/>
              </p:spPr>
            </p:cxnSp>
            <p:cxnSp>
              <p:nvCxnSpPr>
                <p:cNvPr id="130" name="Straight Connector 129">
                  <a:extLst>
                    <a:ext uri="{FF2B5EF4-FFF2-40B4-BE49-F238E27FC236}">
                      <a16:creationId xmlns:a16="http://schemas.microsoft.com/office/drawing/2014/main" id="{75349AA1-1C97-4C6C-9141-5BFF309ABF60}"/>
                    </a:ext>
                  </a:extLst>
                </p:cNvPr>
                <p:cNvCxnSpPr/>
                <p:nvPr/>
              </p:nvCxnSpPr>
              <p:spPr bwMode="auto">
                <a:xfrm rot="5400000">
                  <a:off x="3385714" y="3414360"/>
                  <a:ext cx="3200400" cy="0"/>
                </a:xfrm>
                <a:prstGeom prst="line">
                  <a:avLst/>
                </a:prstGeom>
                <a:solidFill>
                  <a:srgbClr val="EC891D"/>
                </a:solidFill>
                <a:ln w="9525" cap="flat" cmpd="sng" algn="ctr">
                  <a:solidFill>
                    <a:srgbClr val="FFFFFF">
                      <a:lumMod val="85000"/>
                    </a:srgbClr>
                  </a:solidFill>
                  <a:prstDash val="solid"/>
                  <a:round/>
                  <a:headEnd type="none" w="med" len="med"/>
                  <a:tailEnd type="none" w="med" len="med"/>
                </a:ln>
                <a:effectLst/>
              </p:spPr>
            </p:cxnSp>
            <p:cxnSp>
              <p:nvCxnSpPr>
                <p:cNvPr id="131" name="Straight Connector 130">
                  <a:extLst>
                    <a:ext uri="{FF2B5EF4-FFF2-40B4-BE49-F238E27FC236}">
                      <a16:creationId xmlns:a16="http://schemas.microsoft.com/office/drawing/2014/main" id="{D8DD7A85-270D-4BFE-9636-16D0F5E875F0}"/>
                    </a:ext>
                  </a:extLst>
                </p:cNvPr>
                <p:cNvCxnSpPr/>
                <p:nvPr/>
              </p:nvCxnSpPr>
              <p:spPr bwMode="auto">
                <a:xfrm rot="5400000">
                  <a:off x="3538114" y="3414360"/>
                  <a:ext cx="3200400" cy="0"/>
                </a:xfrm>
                <a:prstGeom prst="line">
                  <a:avLst/>
                </a:prstGeom>
                <a:solidFill>
                  <a:srgbClr val="EC891D"/>
                </a:solidFill>
                <a:ln w="9525" cap="flat" cmpd="sng" algn="ctr">
                  <a:solidFill>
                    <a:srgbClr val="FFFFFF">
                      <a:lumMod val="85000"/>
                    </a:srgbClr>
                  </a:solidFill>
                  <a:prstDash val="solid"/>
                  <a:round/>
                  <a:headEnd type="none" w="med" len="med"/>
                  <a:tailEnd type="none" w="med" len="med"/>
                </a:ln>
                <a:effectLst/>
              </p:spPr>
            </p:cxnSp>
            <p:cxnSp>
              <p:nvCxnSpPr>
                <p:cNvPr id="132" name="Straight Connector 131">
                  <a:extLst>
                    <a:ext uri="{FF2B5EF4-FFF2-40B4-BE49-F238E27FC236}">
                      <a16:creationId xmlns:a16="http://schemas.microsoft.com/office/drawing/2014/main" id="{CA65B08B-2335-495B-B504-B74AC5AAA546}"/>
                    </a:ext>
                  </a:extLst>
                </p:cNvPr>
                <p:cNvCxnSpPr/>
                <p:nvPr/>
              </p:nvCxnSpPr>
              <p:spPr bwMode="auto">
                <a:xfrm rot="5400000">
                  <a:off x="3690514" y="3414360"/>
                  <a:ext cx="3200400" cy="0"/>
                </a:xfrm>
                <a:prstGeom prst="line">
                  <a:avLst/>
                </a:prstGeom>
                <a:solidFill>
                  <a:srgbClr val="EC891D"/>
                </a:solidFill>
                <a:ln w="9525" cap="flat" cmpd="sng" algn="ctr">
                  <a:solidFill>
                    <a:srgbClr val="FFFFFF">
                      <a:lumMod val="85000"/>
                    </a:srgbClr>
                  </a:solidFill>
                  <a:prstDash val="solid"/>
                  <a:round/>
                  <a:headEnd type="none" w="med" len="med"/>
                  <a:tailEnd type="none" w="med" len="med"/>
                </a:ln>
                <a:effectLst/>
              </p:spPr>
            </p:cxnSp>
            <p:cxnSp>
              <p:nvCxnSpPr>
                <p:cNvPr id="133" name="Straight Connector 132">
                  <a:extLst>
                    <a:ext uri="{FF2B5EF4-FFF2-40B4-BE49-F238E27FC236}">
                      <a16:creationId xmlns:a16="http://schemas.microsoft.com/office/drawing/2014/main" id="{2FA8CB97-3703-4CC5-9C2F-5EFF2449FFFA}"/>
                    </a:ext>
                  </a:extLst>
                </p:cNvPr>
                <p:cNvCxnSpPr/>
                <p:nvPr/>
              </p:nvCxnSpPr>
              <p:spPr bwMode="auto">
                <a:xfrm rot="5400000">
                  <a:off x="3842914" y="3414360"/>
                  <a:ext cx="3200400" cy="0"/>
                </a:xfrm>
                <a:prstGeom prst="line">
                  <a:avLst/>
                </a:prstGeom>
                <a:solidFill>
                  <a:srgbClr val="EC891D"/>
                </a:solidFill>
                <a:ln w="9525" cap="flat" cmpd="sng" algn="ctr">
                  <a:solidFill>
                    <a:srgbClr val="FFFFFF">
                      <a:lumMod val="85000"/>
                    </a:srgbClr>
                  </a:solidFill>
                  <a:prstDash val="solid"/>
                  <a:round/>
                  <a:headEnd type="none" w="med" len="med"/>
                  <a:tailEnd type="none" w="med" len="med"/>
                </a:ln>
                <a:effectLst/>
              </p:spPr>
            </p:cxnSp>
            <p:cxnSp>
              <p:nvCxnSpPr>
                <p:cNvPr id="134" name="Straight Connector 133">
                  <a:extLst>
                    <a:ext uri="{FF2B5EF4-FFF2-40B4-BE49-F238E27FC236}">
                      <a16:creationId xmlns:a16="http://schemas.microsoft.com/office/drawing/2014/main" id="{5D8E9085-91E0-4499-83E9-DE4E051E144D}"/>
                    </a:ext>
                  </a:extLst>
                </p:cNvPr>
                <p:cNvCxnSpPr/>
                <p:nvPr/>
              </p:nvCxnSpPr>
              <p:spPr bwMode="auto">
                <a:xfrm rot="5400000">
                  <a:off x="3995314" y="3414360"/>
                  <a:ext cx="3200400" cy="0"/>
                </a:xfrm>
                <a:prstGeom prst="line">
                  <a:avLst/>
                </a:prstGeom>
                <a:solidFill>
                  <a:srgbClr val="EC891D"/>
                </a:solidFill>
                <a:ln w="9525" cap="flat" cmpd="sng" algn="ctr">
                  <a:solidFill>
                    <a:srgbClr val="FFFFFF">
                      <a:lumMod val="85000"/>
                    </a:srgbClr>
                  </a:solidFill>
                  <a:prstDash val="solid"/>
                  <a:round/>
                  <a:headEnd type="none" w="med" len="med"/>
                  <a:tailEnd type="none" w="med" len="med"/>
                </a:ln>
                <a:effectLst/>
              </p:spPr>
            </p:cxnSp>
            <p:cxnSp>
              <p:nvCxnSpPr>
                <p:cNvPr id="135" name="Straight Connector 134">
                  <a:extLst>
                    <a:ext uri="{FF2B5EF4-FFF2-40B4-BE49-F238E27FC236}">
                      <a16:creationId xmlns:a16="http://schemas.microsoft.com/office/drawing/2014/main" id="{1DA2188F-1432-4EF1-80E0-7507FB07301D}"/>
                    </a:ext>
                  </a:extLst>
                </p:cNvPr>
                <p:cNvCxnSpPr/>
                <p:nvPr/>
              </p:nvCxnSpPr>
              <p:spPr bwMode="auto">
                <a:xfrm rot="5400000">
                  <a:off x="4147714" y="3414360"/>
                  <a:ext cx="3200400" cy="0"/>
                </a:xfrm>
                <a:prstGeom prst="line">
                  <a:avLst/>
                </a:prstGeom>
                <a:solidFill>
                  <a:srgbClr val="EC891D"/>
                </a:solidFill>
                <a:ln w="9525" cap="flat" cmpd="sng" algn="ctr">
                  <a:solidFill>
                    <a:srgbClr val="FFFFFF">
                      <a:lumMod val="85000"/>
                    </a:srgbClr>
                  </a:solidFill>
                  <a:prstDash val="solid"/>
                  <a:round/>
                  <a:headEnd type="none" w="med" len="med"/>
                  <a:tailEnd type="none" w="med" len="med"/>
                </a:ln>
                <a:effectLst/>
              </p:spPr>
            </p:cxnSp>
            <p:cxnSp>
              <p:nvCxnSpPr>
                <p:cNvPr id="136" name="Straight Connector 135">
                  <a:extLst>
                    <a:ext uri="{FF2B5EF4-FFF2-40B4-BE49-F238E27FC236}">
                      <a16:creationId xmlns:a16="http://schemas.microsoft.com/office/drawing/2014/main" id="{9134AA05-F01C-4E1A-B2E9-C0AD293953EC}"/>
                    </a:ext>
                  </a:extLst>
                </p:cNvPr>
                <p:cNvCxnSpPr/>
                <p:nvPr/>
              </p:nvCxnSpPr>
              <p:spPr bwMode="auto">
                <a:xfrm rot="5400000">
                  <a:off x="4300114" y="3414360"/>
                  <a:ext cx="3200400" cy="0"/>
                </a:xfrm>
                <a:prstGeom prst="line">
                  <a:avLst/>
                </a:prstGeom>
                <a:solidFill>
                  <a:srgbClr val="EC891D"/>
                </a:solidFill>
                <a:ln w="9525" cap="flat" cmpd="sng" algn="ctr">
                  <a:solidFill>
                    <a:srgbClr val="FFFFFF">
                      <a:lumMod val="85000"/>
                    </a:srgbClr>
                  </a:solidFill>
                  <a:prstDash val="solid"/>
                  <a:round/>
                  <a:headEnd type="none" w="med" len="med"/>
                  <a:tailEnd type="none" w="med" len="med"/>
                </a:ln>
                <a:effectLst/>
              </p:spPr>
            </p:cxnSp>
            <p:cxnSp>
              <p:nvCxnSpPr>
                <p:cNvPr id="137" name="Straight Connector 136">
                  <a:extLst>
                    <a:ext uri="{FF2B5EF4-FFF2-40B4-BE49-F238E27FC236}">
                      <a16:creationId xmlns:a16="http://schemas.microsoft.com/office/drawing/2014/main" id="{A82AB0A7-0B77-4FF2-8772-6E7F9FBFC2DE}"/>
                    </a:ext>
                  </a:extLst>
                </p:cNvPr>
                <p:cNvCxnSpPr/>
                <p:nvPr/>
              </p:nvCxnSpPr>
              <p:spPr bwMode="auto">
                <a:xfrm rot="5400000">
                  <a:off x="4452514" y="3414360"/>
                  <a:ext cx="3200400" cy="0"/>
                </a:xfrm>
                <a:prstGeom prst="line">
                  <a:avLst/>
                </a:prstGeom>
                <a:solidFill>
                  <a:srgbClr val="EC891D"/>
                </a:solidFill>
                <a:ln w="9525" cap="flat" cmpd="sng" algn="ctr">
                  <a:solidFill>
                    <a:srgbClr val="FFFFFF">
                      <a:lumMod val="85000"/>
                    </a:srgbClr>
                  </a:solidFill>
                  <a:prstDash val="solid"/>
                  <a:round/>
                  <a:headEnd type="none" w="med" len="med"/>
                  <a:tailEnd type="none" w="med" len="med"/>
                </a:ln>
                <a:effectLst/>
              </p:spPr>
            </p:cxnSp>
            <p:cxnSp>
              <p:nvCxnSpPr>
                <p:cNvPr id="138" name="Straight Connector 137">
                  <a:extLst>
                    <a:ext uri="{FF2B5EF4-FFF2-40B4-BE49-F238E27FC236}">
                      <a16:creationId xmlns:a16="http://schemas.microsoft.com/office/drawing/2014/main" id="{CB642FC6-156D-48CF-8DC2-AFC5919F7A37}"/>
                    </a:ext>
                  </a:extLst>
                </p:cNvPr>
                <p:cNvCxnSpPr/>
                <p:nvPr/>
              </p:nvCxnSpPr>
              <p:spPr bwMode="auto">
                <a:xfrm rot="5400000">
                  <a:off x="4604914" y="3414360"/>
                  <a:ext cx="3200400" cy="0"/>
                </a:xfrm>
                <a:prstGeom prst="line">
                  <a:avLst/>
                </a:prstGeom>
                <a:solidFill>
                  <a:srgbClr val="EC891D"/>
                </a:solidFill>
                <a:ln w="9525" cap="flat" cmpd="sng" algn="ctr">
                  <a:solidFill>
                    <a:srgbClr val="FFFFFF">
                      <a:lumMod val="85000"/>
                    </a:srgbClr>
                  </a:solidFill>
                  <a:prstDash val="solid"/>
                  <a:round/>
                  <a:headEnd type="none" w="med" len="med"/>
                  <a:tailEnd type="none" w="med" len="med"/>
                </a:ln>
                <a:effectLst/>
              </p:spPr>
            </p:cxnSp>
            <p:cxnSp>
              <p:nvCxnSpPr>
                <p:cNvPr id="139" name="Straight Connector 138">
                  <a:extLst>
                    <a:ext uri="{FF2B5EF4-FFF2-40B4-BE49-F238E27FC236}">
                      <a16:creationId xmlns:a16="http://schemas.microsoft.com/office/drawing/2014/main" id="{7E895C6A-9B86-4E95-836A-1C27A91ADE02}"/>
                    </a:ext>
                  </a:extLst>
                </p:cNvPr>
                <p:cNvCxnSpPr/>
                <p:nvPr/>
              </p:nvCxnSpPr>
              <p:spPr bwMode="auto">
                <a:xfrm rot="5400000">
                  <a:off x="4757314" y="3414360"/>
                  <a:ext cx="3200400" cy="0"/>
                </a:xfrm>
                <a:prstGeom prst="line">
                  <a:avLst/>
                </a:prstGeom>
                <a:solidFill>
                  <a:srgbClr val="EC891D"/>
                </a:solidFill>
                <a:ln w="9525" cap="flat" cmpd="sng" algn="ctr">
                  <a:solidFill>
                    <a:srgbClr val="FFFFFF">
                      <a:lumMod val="85000"/>
                    </a:srgbClr>
                  </a:solidFill>
                  <a:prstDash val="solid"/>
                  <a:round/>
                  <a:headEnd type="none" w="med" len="med"/>
                  <a:tailEnd type="none" w="med" len="med"/>
                </a:ln>
                <a:effectLst/>
              </p:spPr>
            </p:cxnSp>
            <p:cxnSp>
              <p:nvCxnSpPr>
                <p:cNvPr id="140" name="Straight Connector 139">
                  <a:extLst>
                    <a:ext uri="{FF2B5EF4-FFF2-40B4-BE49-F238E27FC236}">
                      <a16:creationId xmlns:a16="http://schemas.microsoft.com/office/drawing/2014/main" id="{BE122BAD-8010-43FC-9FC4-B54276FD7203}"/>
                    </a:ext>
                  </a:extLst>
                </p:cNvPr>
                <p:cNvCxnSpPr/>
                <p:nvPr/>
              </p:nvCxnSpPr>
              <p:spPr bwMode="auto">
                <a:xfrm rot="5400000">
                  <a:off x="4909714" y="3414360"/>
                  <a:ext cx="3200400" cy="0"/>
                </a:xfrm>
                <a:prstGeom prst="line">
                  <a:avLst/>
                </a:prstGeom>
                <a:solidFill>
                  <a:srgbClr val="EC891D"/>
                </a:solidFill>
                <a:ln w="9525" cap="flat" cmpd="sng" algn="ctr">
                  <a:solidFill>
                    <a:srgbClr val="FFFFFF">
                      <a:lumMod val="85000"/>
                    </a:srgbClr>
                  </a:solidFill>
                  <a:prstDash val="solid"/>
                  <a:round/>
                  <a:headEnd type="none" w="med" len="med"/>
                  <a:tailEnd type="none" w="med" len="med"/>
                </a:ln>
                <a:effectLst/>
              </p:spPr>
            </p:cxnSp>
            <p:cxnSp>
              <p:nvCxnSpPr>
                <p:cNvPr id="141" name="Straight Connector 140">
                  <a:extLst>
                    <a:ext uri="{FF2B5EF4-FFF2-40B4-BE49-F238E27FC236}">
                      <a16:creationId xmlns:a16="http://schemas.microsoft.com/office/drawing/2014/main" id="{9A1286AC-628E-4540-914D-85202D438F41}"/>
                    </a:ext>
                  </a:extLst>
                </p:cNvPr>
                <p:cNvCxnSpPr/>
                <p:nvPr/>
              </p:nvCxnSpPr>
              <p:spPr bwMode="auto">
                <a:xfrm rot="5400000">
                  <a:off x="5052567" y="3416190"/>
                  <a:ext cx="3200400" cy="0"/>
                </a:xfrm>
                <a:prstGeom prst="line">
                  <a:avLst/>
                </a:prstGeom>
                <a:solidFill>
                  <a:srgbClr val="EC891D"/>
                </a:solidFill>
                <a:ln w="9525" cap="flat" cmpd="sng" algn="ctr">
                  <a:solidFill>
                    <a:srgbClr val="FFFFFF">
                      <a:lumMod val="85000"/>
                    </a:srgbClr>
                  </a:solidFill>
                  <a:prstDash val="solid"/>
                  <a:round/>
                  <a:headEnd type="none" w="med" len="med"/>
                  <a:tailEnd type="none" w="med" len="med"/>
                </a:ln>
                <a:effectLst/>
              </p:spPr>
            </p:cxnSp>
            <p:cxnSp>
              <p:nvCxnSpPr>
                <p:cNvPr id="142" name="Straight Connector 141">
                  <a:extLst>
                    <a:ext uri="{FF2B5EF4-FFF2-40B4-BE49-F238E27FC236}">
                      <a16:creationId xmlns:a16="http://schemas.microsoft.com/office/drawing/2014/main" id="{D667EE46-7507-4A92-B3E7-9BCC04B2731B}"/>
                    </a:ext>
                  </a:extLst>
                </p:cNvPr>
                <p:cNvCxnSpPr/>
                <p:nvPr/>
              </p:nvCxnSpPr>
              <p:spPr bwMode="auto">
                <a:xfrm rot="5400000">
                  <a:off x="5204967" y="3416190"/>
                  <a:ext cx="3200400" cy="0"/>
                </a:xfrm>
                <a:prstGeom prst="line">
                  <a:avLst/>
                </a:prstGeom>
                <a:solidFill>
                  <a:srgbClr val="EC891D"/>
                </a:solidFill>
                <a:ln w="9525" cap="flat" cmpd="sng" algn="ctr">
                  <a:solidFill>
                    <a:srgbClr val="FFFFFF">
                      <a:lumMod val="85000"/>
                    </a:srgbClr>
                  </a:solidFill>
                  <a:prstDash val="solid"/>
                  <a:round/>
                  <a:headEnd type="none" w="med" len="med"/>
                  <a:tailEnd type="none" w="med" len="med"/>
                </a:ln>
                <a:effectLst/>
              </p:spPr>
            </p:cxnSp>
            <p:cxnSp>
              <p:nvCxnSpPr>
                <p:cNvPr id="143" name="Straight Connector 142">
                  <a:extLst>
                    <a:ext uri="{FF2B5EF4-FFF2-40B4-BE49-F238E27FC236}">
                      <a16:creationId xmlns:a16="http://schemas.microsoft.com/office/drawing/2014/main" id="{F7D5C6AD-E2CB-40D5-BE77-F5A59A14D83C}"/>
                    </a:ext>
                  </a:extLst>
                </p:cNvPr>
                <p:cNvCxnSpPr/>
                <p:nvPr/>
              </p:nvCxnSpPr>
              <p:spPr bwMode="auto">
                <a:xfrm rot="5400000">
                  <a:off x="5357367" y="3416190"/>
                  <a:ext cx="3200400" cy="0"/>
                </a:xfrm>
                <a:prstGeom prst="line">
                  <a:avLst/>
                </a:prstGeom>
                <a:solidFill>
                  <a:srgbClr val="EC891D"/>
                </a:solidFill>
                <a:ln w="9525" cap="flat" cmpd="sng" algn="ctr">
                  <a:solidFill>
                    <a:srgbClr val="FFFFFF">
                      <a:lumMod val="85000"/>
                    </a:srgbClr>
                  </a:solidFill>
                  <a:prstDash val="solid"/>
                  <a:round/>
                  <a:headEnd type="none" w="med" len="med"/>
                  <a:tailEnd type="none" w="med" len="med"/>
                </a:ln>
                <a:effectLst/>
              </p:spPr>
            </p:cxnSp>
            <p:cxnSp>
              <p:nvCxnSpPr>
                <p:cNvPr id="144" name="Straight Connector 143">
                  <a:extLst>
                    <a:ext uri="{FF2B5EF4-FFF2-40B4-BE49-F238E27FC236}">
                      <a16:creationId xmlns:a16="http://schemas.microsoft.com/office/drawing/2014/main" id="{027EE992-B8AC-40D8-8FB2-3FCB2B751B64}"/>
                    </a:ext>
                  </a:extLst>
                </p:cNvPr>
                <p:cNvCxnSpPr/>
                <p:nvPr/>
              </p:nvCxnSpPr>
              <p:spPr bwMode="auto">
                <a:xfrm rot="5400000">
                  <a:off x="5509767" y="3416190"/>
                  <a:ext cx="3200400" cy="0"/>
                </a:xfrm>
                <a:prstGeom prst="line">
                  <a:avLst/>
                </a:prstGeom>
                <a:solidFill>
                  <a:srgbClr val="EC891D"/>
                </a:solidFill>
                <a:ln w="9525" cap="flat" cmpd="sng" algn="ctr">
                  <a:solidFill>
                    <a:srgbClr val="FFFFFF">
                      <a:lumMod val="85000"/>
                    </a:srgbClr>
                  </a:solidFill>
                  <a:prstDash val="solid"/>
                  <a:round/>
                  <a:headEnd type="none" w="med" len="med"/>
                  <a:tailEnd type="none" w="med" len="med"/>
                </a:ln>
                <a:effectLst/>
              </p:spPr>
            </p:cxnSp>
            <p:cxnSp>
              <p:nvCxnSpPr>
                <p:cNvPr id="145" name="Straight Connector 144">
                  <a:extLst>
                    <a:ext uri="{FF2B5EF4-FFF2-40B4-BE49-F238E27FC236}">
                      <a16:creationId xmlns:a16="http://schemas.microsoft.com/office/drawing/2014/main" id="{27911CBF-1D25-486C-B3AC-275E754E6295}"/>
                    </a:ext>
                  </a:extLst>
                </p:cNvPr>
                <p:cNvCxnSpPr/>
                <p:nvPr/>
              </p:nvCxnSpPr>
              <p:spPr bwMode="auto">
                <a:xfrm rot="5400000">
                  <a:off x="5662167" y="3416190"/>
                  <a:ext cx="3200400" cy="0"/>
                </a:xfrm>
                <a:prstGeom prst="line">
                  <a:avLst/>
                </a:prstGeom>
                <a:solidFill>
                  <a:srgbClr val="EC891D"/>
                </a:solidFill>
                <a:ln w="9525" cap="flat" cmpd="sng" algn="ctr">
                  <a:solidFill>
                    <a:srgbClr val="FFFFFF">
                      <a:lumMod val="85000"/>
                    </a:srgbClr>
                  </a:solidFill>
                  <a:prstDash val="solid"/>
                  <a:round/>
                  <a:headEnd type="none" w="med" len="med"/>
                  <a:tailEnd type="none" w="med" len="med"/>
                </a:ln>
                <a:effectLst/>
              </p:spPr>
            </p:cxnSp>
            <p:cxnSp>
              <p:nvCxnSpPr>
                <p:cNvPr id="146" name="Straight Connector 145">
                  <a:extLst>
                    <a:ext uri="{FF2B5EF4-FFF2-40B4-BE49-F238E27FC236}">
                      <a16:creationId xmlns:a16="http://schemas.microsoft.com/office/drawing/2014/main" id="{6ED79263-B451-4E16-8783-D6FFD94E47A9}"/>
                    </a:ext>
                  </a:extLst>
                </p:cNvPr>
                <p:cNvCxnSpPr/>
                <p:nvPr/>
              </p:nvCxnSpPr>
              <p:spPr bwMode="auto">
                <a:xfrm rot="5400000">
                  <a:off x="5814567" y="3416190"/>
                  <a:ext cx="3200400" cy="0"/>
                </a:xfrm>
                <a:prstGeom prst="line">
                  <a:avLst/>
                </a:prstGeom>
                <a:solidFill>
                  <a:srgbClr val="EC891D"/>
                </a:solidFill>
                <a:ln w="9525" cap="flat" cmpd="sng" algn="ctr">
                  <a:solidFill>
                    <a:srgbClr val="FFFFFF">
                      <a:lumMod val="85000"/>
                    </a:srgbClr>
                  </a:solidFill>
                  <a:prstDash val="solid"/>
                  <a:round/>
                  <a:headEnd type="none" w="med" len="med"/>
                  <a:tailEnd type="none" w="med" len="med"/>
                </a:ln>
                <a:effectLst/>
              </p:spPr>
            </p:cxnSp>
            <p:cxnSp>
              <p:nvCxnSpPr>
                <p:cNvPr id="147" name="Straight Connector 146">
                  <a:extLst>
                    <a:ext uri="{FF2B5EF4-FFF2-40B4-BE49-F238E27FC236}">
                      <a16:creationId xmlns:a16="http://schemas.microsoft.com/office/drawing/2014/main" id="{A72EEF5B-2298-4434-84B0-65820D5DC0FE}"/>
                    </a:ext>
                  </a:extLst>
                </p:cNvPr>
                <p:cNvCxnSpPr/>
                <p:nvPr/>
              </p:nvCxnSpPr>
              <p:spPr bwMode="auto">
                <a:xfrm rot="5400000">
                  <a:off x="5966967" y="3416190"/>
                  <a:ext cx="3200400" cy="0"/>
                </a:xfrm>
                <a:prstGeom prst="line">
                  <a:avLst/>
                </a:prstGeom>
                <a:solidFill>
                  <a:srgbClr val="EC891D"/>
                </a:solidFill>
                <a:ln w="9525" cap="flat" cmpd="sng" algn="ctr">
                  <a:solidFill>
                    <a:srgbClr val="FFFFFF">
                      <a:lumMod val="85000"/>
                    </a:srgbClr>
                  </a:solidFill>
                  <a:prstDash val="solid"/>
                  <a:round/>
                  <a:headEnd type="none" w="med" len="med"/>
                  <a:tailEnd type="none" w="med" len="med"/>
                </a:ln>
                <a:effectLst/>
              </p:spPr>
            </p:cxnSp>
            <p:cxnSp>
              <p:nvCxnSpPr>
                <p:cNvPr id="148" name="Straight Connector 147">
                  <a:extLst>
                    <a:ext uri="{FF2B5EF4-FFF2-40B4-BE49-F238E27FC236}">
                      <a16:creationId xmlns:a16="http://schemas.microsoft.com/office/drawing/2014/main" id="{526469D0-CB42-4FAD-8482-A8E55F134544}"/>
                    </a:ext>
                  </a:extLst>
                </p:cNvPr>
                <p:cNvCxnSpPr/>
                <p:nvPr/>
              </p:nvCxnSpPr>
              <p:spPr bwMode="auto">
                <a:xfrm rot="5400000">
                  <a:off x="6119367" y="3416190"/>
                  <a:ext cx="3200400" cy="0"/>
                </a:xfrm>
                <a:prstGeom prst="line">
                  <a:avLst/>
                </a:prstGeom>
                <a:solidFill>
                  <a:srgbClr val="EC891D"/>
                </a:solidFill>
                <a:ln w="9525" cap="flat" cmpd="sng" algn="ctr">
                  <a:solidFill>
                    <a:srgbClr val="FFFFFF">
                      <a:lumMod val="85000"/>
                    </a:srgbClr>
                  </a:solidFill>
                  <a:prstDash val="solid"/>
                  <a:round/>
                  <a:headEnd type="none" w="med" len="med"/>
                  <a:tailEnd type="none" w="med" len="med"/>
                </a:ln>
                <a:effectLst/>
              </p:spPr>
            </p:cxnSp>
            <p:cxnSp>
              <p:nvCxnSpPr>
                <p:cNvPr id="149" name="Straight Connector 148">
                  <a:extLst>
                    <a:ext uri="{FF2B5EF4-FFF2-40B4-BE49-F238E27FC236}">
                      <a16:creationId xmlns:a16="http://schemas.microsoft.com/office/drawing/2014/main" id="{8B026C5D-0A59-4EBE-8CCE-1BE1B1D172D0}"/>
                    </a:ext>
                  </a:extLst>
                </p:cNvPr>
                <p:cNvCxnSpPr/>
                <p:nvPr/>
              </p:nvCxnSpPr>
              <p:spPr bwMode="auto">
                <a:xfrm rot="5400000">
                  <a:off x="6271767" y="3416190"/>
                  <a:ext cx="3200400" cy="0"/>
                </a:xfrm>
                <a:prstGeom prst="line">
                  <a:avLst/>
                </a:prstGeom>
                <a:solidFill>
                  <a:srgbClr val="EC891D"/>
                </a:solidFill>
                <a:ln w="9525" cap="flat" cmpd="sng" algn="ctr">
                  <a:solidFill>
                    <a:srgbClr val="FFFFFF">
                      <a:lumMod val="85000"/>
                    </a:srgbClr>
                  </a:solidFill>
                  <a:prstDash val="solid"/>
                  <a:round/>
                  <a:headEnd type="none" w="med" len="med"/>
                  <a:tailEnd type="none" w="med" len="med"/>
                </a:ln>
                <a:effectLst/>
              </p:spPr>
            </p:cxnSp>
            <p:cxnSp>
              <p:nvCxnSpPr>
                <p:cNvPr id="150" name="Straight Connector 149">
                  <a:extLst>
                    <a:ext uri="{FF2B5EF4-FFF2-40B4-BE49-F238E27FC236}">
                      <a16:creationId xmlns:a16="http://schemas.microsoft.com/office/drawing/2014/main" id="{A337C172-2CE4-43D6-808E-7D297F7B113E}"/>
                    </a:ext>
                  </a:extLst>
                </p:cNvPr>
                <p:cNvCxnSpPr/>
                <p:nvPr/>
              </p:nvCxnSpPr>
              <p:spPr bwMode="auto">
                <a:xfrm rot="5400000">
                  <a:off x="6424167" y="3416190"/>
                  <a:ext cx="3200400" cy="0"/>
                </a:xfrm>
                <a:prstGeom prst="line">
                  <a:avLst/>
                </a:prstGeom>
                <a:solidFill>
                  <a:srgbClr val="EC891D"/>
                </a:solidFill>
                <a:ln w="9525" cap="flat" cmpd="sng" algn="ctr">
                  <a:solidFill>
                    <a:srgbClr val="FFFFFF">
                      <a:lumMod val="85000"/>
                    </a:srgbClr>
                  </a:solidFill>
                  <a:prstDash val="solid"/>
                  <a:round/>
                  <a:headEnd type="none" w="med" len="med"/>
                  <a:tailEnd type="none" w="med" len="med"/>
                </a:ln>
                <a:effectLst/>
              </p:spPr>
            </p:cxnSp>
            <p:cxnSp>
              <p:nvCxnSpPr>
                <p:cNvPr id="151" name="Straight Connector 150">
                  <a:extLst>
                    <a:ext uri="{FF2B5EF4-FFF2-40B4-BE49-F238E27FC236}">
                      <a16:creationId xmlns:a16="http://schemas.microsoft.com/office/drawing/2014/main" id="{98E0965C-BEAB-4230-8B3B-4CBC501376D1}"/>
                    </a:ext>
                  </a:extLst>
                </p:cNvPr>
                <p:cNvCxnSpPr/>
                <p:nvPr/>
              </p:nvCxnSpPr>
              <p:spPr bwMode="auto">
                <a:xfrm rot="5400000">
                  <a:off x="6576567" y="3416190"/>
                  <a:ext cx="3200400" cy="0"/>
                </a:xfrm>
                <a:prstGeom prst="line">
                  <a:avLst/>
                </a:prstGeom>
                <a:solidFill>
                  <a:srgbClr val="EC891D"/>
                </a:solidFill>
                <a:ln w="9525" cap="flat" cmpd="sng" algn="ctr">
                  <a:solidFill>
                    <a:srgbClr val="FFFFFF">
                      <a:lumMod val="85000"/>
                    </a:srgbClr>
                  </a:solidFill>
                  <a:prstDash val="solid"/>
                  <a:round/>
                  <a:headEnd type="none" w="med" len="med"/>
                  <a:tailEnd type="none" w="med" len="med"/>
                </a:ln>
                <a:effectLst/>
              </p:spPr>
            </p:cxnSp>
            <p:cxnSp>
              <p:nvCxnSpPr>
                <p:cNvPr id="152" name="Straight Connector 151">
                  <a:extLst>
                    <a:ext uri="{FF2B5EF4-FFF2-40B4-BE49-F238E27FC236}">
                      <a16:creationId xmlns:a16="http://schemas.microsoft.com/office/drawing/2014/main" id="{2D7073AC-19D3-4969-A259-88F79988D3EC}"/>
                    </a:ext>
                  </a:extLst>
                </p:cNvPr>
                <p:cNvCxnSpPr/>
                <p:nvPr/>
              </p:nvCxnSpPr>
              <p:spPr bwMode="auto">
                <a:xfrm rot="5400000">
                  <a:off x="6728967" y="3416190"/>
                  <a:ext cx="3200400" cy="0"/>
                </a:xfrm>
                <a:prstGeom prst="line">
                  <a:avLst/>
                </a:prstGeom>
                <a:solidFill>
                  <a:srgbClr val="EC891D"/>
                </a:solidFill>
                <a:ln w="9525" cap="flat" cmpd="sng" algn="ctr">
                  <a:solidFill>
                    <a:srgbClr val="FFFFFF">
                      <a:lumMod val="85000"/>
                    </a:srgbClr>
                  </a:solidFill>
                  <a:prstDash val="solid"/>
                  <a:round/>
                  <a:headEnd type="none" w="med" len="med"/>
                  <a:tailEnd type="none" w="med" len="med"/>
                </a:ln>
                <a:effectLst/>
              </p:spPr>
            </p:cxnSp>
            <p:cxnSp>
              <p:nvCxnSpPr>
                <p:cNvPr id="153" name="Straight Connector 152">
                  <a:extLst>
                    <a:ext uri="{FF2B5EF4-FFF2-40B4-BE49-F238E27FC236}">
                      <a16:creationId xmlns:a16="http://schemas.microsoft.com/office/drawing/2014/main" id="{56FC5926-B6F2-4E9F-B786-CB789AD0FC63}"/>
                    </a:ext>
                  </a:extLst>
                </p:cNvPr>
                <p:cNvCxnSpPr/>
                <p:nvPr/>
              </p:nvCxnSpPr>
              <p:spPr bwMode="auto">
                <a:xfrm rot="5400000">
                  <a:off x="6881367" y="3416190"/>
                  <a:ext cx="3200400" cy="0"/>
                </a:xfrm>
                <a:prstGeom prst="line">
                  <a:avLst/>
                </a:prstGeom>
                <a:solidFill>
                  <a:srgbClr val="EC891D"/>
                </a:solidFill>
                <a:ln w="9525" cap="flat" cmpd="sng" algn="ctr">
                  <a:solidFill>
                    <a:srgbClr val="FFFFFF">
                      <a:lumMod val="85000"/>
                    </a:srgbClr>
                  </a:solidFill>
                  <a:prstDash val="solid"/>
                  <a:round/>
                  <a:headEnd type="none" w="med" len="med"/>
                  <a:tailEnd type="none" w="med" len="med"/>
                </a:ln>
                <a:effectLst/>
              </p:spPr>
            </p:cxnSp>
            <p:cxnSp>
              <p:nvCxnSpPr>
                <p:cNvPr id="154" name="Straight Connector 153">
                  <a:extLst>
                    <a:ext uri="{FF2B5EF4-FFF2-40B4-BE49-F238E27FC236}">
                      <a16:creationId xmlns:a16="http://schemas.microsoft.com/office/drawing/2014/main" id="{3E3CCA06-4B9B-4F8E-B037-612931AB800D}"/>
                    </a:ext>
                  </a:extLst>
                </p:cNvPr>
                <p:cNvCxnSpPr/>
                <p:nvPr/>
              </p:nvCxnSpPr>
              <p:spPr bwMode="auto">
                <a:xfrm rot="5400000">
                  <a:off x="7033767" y="3416190"/>
                  <a:ext cx="3200400" cy="0"/>
                </a:xfrm>
                <a:prstGeom prst="line">
                  <a:avLst/>
                </a:prstGeom>
                <a:solidFill>
                  <a:srgbClr val="EC891D"/>
                </a:solidFill>
                <a:ln w="9525" cap="flat" cmpd="sng" algn="ctr">
                  <a:solidFill>
                    <a:srgbClr val="FFFFFF">
                      <a:lumMod val="85000"/>
                    </a:srgbClr>
                  </a:solidFill>
                  <a:prstDash val="solid"/>
                  <a:round/>
                  <a:headEnd type="none" w="med" len="med"/>
                  <a:tailEnd type="none" w="med" len="med"/>
                </a:ln>
                <a:effectLst/>
              </p:spPr>
            </p:cxnSp>
          </p:grpSp>
          <p:cxnSp>
            <p:nvCxnSpPr>
              <p:cNvPr id="104" name="Straight Arrow Connector 103">
                <a:extLst>
                  <a:ext uri="{FF2B5EF4-FFF2-40B4-BE49-F238E27FC236}">
                    <a16:creationId xmlns:a16="http://schemas.microsoft.com/office/drawing/2014/main" id="{92895B51-7E48-4CB0-9792-D6D64E2A72DE}"/>
                  </a:ext>
                </a:extLst>
              </p:cNvPr>
              <p:cNvCxnSpPr/>
              <p:nvPr/>
            </p:nvCxnSpPr>
            <p:spPr bwMode="auto">
              <a:xfrm>
                <a:off x="4379975" y="5042010"/>
                <a:ext cx="4266616" cy="1588"/>
              </a:xfrm>
              <a:prstGeom prst="straightConnector1">
                <a:avLst/>
              </a:prstGeom>
              <a:solidFill>
                <a:srgbClr val="EC891D"/>
              </a:solidFill>
              <a:ln w="38100" cap="flat" cmpd="sng" algn="ctr">
                <a:solidFill>
                  <a:srgbClr val="8B8D09"/>
                </a:solidFill>
                <a:prstDash val="solid"/>
                <a:round/>
                <a:headEnd type="none" w="med" len="med"/>
                <a:tailEnd type="triangle" w="med" len="med"/>
              </a:ln>
              <a:effectLst/>
            </p:spPr>
          </p:cxnSp>
          <p:cxnSp>
            <p:nvCxnSpPr>
              <p:cNvPr id="105" name="Straight Arrow Connector 104">
                <a:extLst>
                  <a:ext uri="{FF2B5EF4-FFF2-40B4-BE49-F238E27FC236}">
                    <a16:creationId xmlns:a16="http://schemas.microsoft.com/office/drawing/2014/main" id="{E5234813-C8AB-482C-B7B4-7F403F55165E}"/>
                  </a:ext>
                </a:extLst>
              </p:cNvPr>
              <p:cNvCxnSpPr/>
              <p:nvPr/>
            </p:nvCxnSpPr>
            <p:spPr bwMode="auto">
              <a:xfrm rot="16200000" flipV="1">
                <a:off x="2662608" y="3326716"/>
                <a:ext cx="3429000" cy="1588"/>
              </a:xfrm>
              <a:prstGeom prst="straightConnector1">
                <a:avLst/>
              </a:prstGeom>
              <a:solidFill>
                <a:srgbClr val="EC891D"/>
              </a:solidFill>
              <a:ln w="38100" cap="flat" cmpd="sng" algn="ctr">
                <a:solidFill>
                  <a:srgbClr val="8B8D09"/>
                </a:solidFill>
                <a:prstDash val="solid"/>
                <a:round/>
                <a:headEnd type="none" w="med" len="med"/>
                <a:tailEnd type="triangle" w="med" len="med"/>
              </a:ln>
              <a:effectLst/>
            </p:spPr>
          </p:cxnSp>
        </p:grpSp>
        <p:sp>
          <p:nvSpPr>
            <p:cNvPr id="89" name="Folded Corner 66">
              <a:extLst>
                <a:ext uri="{FF2B5EF4-FFF2-40B4-BE49-F238E27FC236}">
                  <a16:creationId xmlns:a16="http://schemas.microsoft.com/office/drawing/2014/main" id="{A5CC9A9D-90BD-4D9D-8257-29486D66859F}"/>
                </a:ext>
              </a:extLst>
            </p:cNvPr>
            <p:cNvSpPr/>
            <p:nvPr/>
          </p:nvSpPr>
          <p:spPr bwMode="auto">
            <a:xfrm>
              <a:off x="7068325" y="3851455"/>
              <a:ext cx="430752" cy="531838"/>
            </a:xfrm>
            <a:prstGeom prst="foldedCorner">
              <a:avLst/>
            </a:prstGeom>
            <a:gradFill rotWithShape="1">
              <a:gsLst>
                <a:gs pos="0">
                  <a:srgbClr val="B20838">
                    <a:tint val="50000"/>
                    <a:satMod val="300000"/>
                  </a:srgbClr>
                </a:gs>
                <a:gs pos="35000">
                  <a:srgbClr val="B20838">
                    <a:tint val="37000"/>
                    <a:satMod val="300000"/>
                  </a:srgbClr>
                </a:gs>
                <a:gs pos="100000">
                  <a:srgbClr val="B20838">
                    <a:tint val="15000"/>
                    <a:satMod val="350000"/>
                  </a:srgbClr>
                </a:gs>
              </a:gsLst>
              <a:lin ang="16200000" scaled="1"/>
            </a:gradFill>
            <a:ln w="9525" cap="flat" cmpd="sng" algn="ctr">
              <a:solidFill>
                <a:srgbClr val="B20838">
                  <a:shade val="95000"/>
                  <a:satMod val="105000"/>
                </a:srgbClr>
              </a:solidFill>
              <a:prstDash val="solid"/>
              <a:headEnd type="none" w="med" len="med"/>
              <a:tailEnd type="none" w="med" len="med"/>
            </a:ln>
            <a:effectLst>
              <a:outerShdw blurRad="40000" dist="20000" dir="5400000" rotWithShape="0">
                <a:srgbClr val="000000">
                  <a:alpha val="38000"/>
                </a:srgbClr>
              </a:outerShdw>
            </a:effectLst>
            <a:scene3d>
              <a:camera prst="isometricOffAxis2Left"/>
              <a:lightRig rig="threePt" dir="t"/>
            </a:scene3d>
          </p:spPr>
          <p:txBody>
            <a:bodyPr vert="horz" wrap="none" lIns="91440" tIns="45720" rIns="91440" bIns="45720" numCol="1" rtlCol="0" anchor="ctr" anchorCtr="0" compatLnSpc="1">
              <a:prstTxWarp prst="textNoShape">
                <a:avLst/>
              </a:prstTxWarp>
              <a:noAutofit/>
            </a:bodyPr>
            <a:lstStyle/>
            <a:p>
              <a:pPr algn="ctr" defTabSz="914400" fontAlgn="base">
                <a:spcBef>
                  <a:spcPct val="0"/>
                </a:spcBef>
                <a:spcAft>
                  <a:spcPct val="0"/>
                </a:spcAft>
                <a:defRPr/>
              </a:pPr>
              <a:r>
                <a:rPr lang="en-US" sz="900" kern="0" dirty="0">
                  <a:solidFill>
                    <a:srgbClr val="000000"/>
                  </a:solidFill>
                  <a:latin typeface="Arial"/>
                </a:rPr>
                <a:t>RTL</a:t>
              </a:r>
            </a:p>
          </p:txBody>
        </p:sp>
        <p:sp>
          <p:nvSpPr>
            <p:cNvPr id="90" name="Right Arrow 67">
              <a:extLst>
                <a:ext uri="{FF2B5EF4-FFF2-40B4-BE49-F238E27FC236}">
                  <a16:creationId xmlns:a16="http://schemas.microsoft.com/office/drawing/2014/main" id="{88EE7EEC-DA40-4719-8A3A-C1DFE4814675}"/>
                </a:ext>
              </a:extLst>
            </p:cNvPr>
            <p:cNvSpPr/>
            <p:nvPr/>
          </p:nvSpPr>
          <p:spPr bwMode="auto">
            <a:xfrm rot="21435356">
              <a:off x="5963283" y="4034940"/>
              <a:ext cx="1412894" cy="397401"/>
            </a:xfrm>
            <a:prstGeom prst="rightArrow">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a:noFill/>
              <a:headEnd type="none" w="med" len="med"/>
              <a:tailEnd type="none" w="med" len="med"/>
            </a:ln>
            <a:effectLst>
              <a:outerShdw blurRad="40000" dist="23000" dir="5400000" rotWithShape="0">
                <a:srgbClr val="000000">
                  <a:alpha val="35000"/>
                </a:srgbClr>
              </a:outerShdw>
            </a:effectLst>
            <a:scene3d>
              <a:camera prst="isometricOffAxis2Left"/>
              <a:lightRig rig="threePt" dir="t"/>
            </a:scene3d>
            <a:sp3d>
              <a:bevelT w="63500" h="25400"/>
            </a:sp3d>
          </p:spPr>
          <p:txBody>
            <a:bodyPr vert="horz" wrap="square" lIns="91440" tIns="45720" rIns="91440" bIns="45720" numCol="1" rtlCol="0" anchor="ctr" anchorCtr="0" compatLnSpc="1">
              <a:prstTxWarp prst="textNoShape">
                <a:avLst/>
              </a:prstTxWarp>
              <a:spAutoFit/>
            </a:bodyPr>
            <a:lstStyle/>
            <a:p>
              <a:pPr algn="ctr" defTabSz="914400" fontAlgn="base">
                <a:spcBef>
                  <a:spcPct val="0"/>
                </a:spcBef>
                <a:spcAft>
                  <a:spcPct val="0"/>
                </a:spcAft>
                <a:defRPr/>
              </a:pPr>
              <a:r>
                <a:rPr lang="en-US" sz="700" kern="0" dirty="0">
                  <a:solidFill>
                    <a:srgbClr val="000000"/>
                  </a:solidFill>
                  <a:latin typeface="Arial"/>
                </a:rPr>
                <a:t>Insert Pipelines</a:t>
              </a:r>
            </a:p>
          </p:txBody>
        </p:sp>
        <p:sp>
          <p:nvSpPr>
            <p:cNvPr id="91" name="Folded Corner 68">
              <a:extLst>
                <a:ext uri="{FF2B5EF4-FFF2-40B4-BE49-F238E27FC236}">
                  <a16:creationId xmlns:a16="http://schemas.microsoft.com/office/drawing/2014/main" id="{BBB930A2-AA6F-47CC-9216-1DF48AAD6438}"/>
                </a:ext>
              </a:extLst>
            </p:cNvPr>
            <p:cNvSpPr/>
            <p:nvPr/>
          </p:nvSpPr>
          <p:spPr bwMode="auto">
            <a:xfrm>
              <a:off x="5839365" y="3774645"/>
              <a:ext cx="430752" cy="531838"/>
            </a:xfrm>
            <a:prstGeom prst="foldedCorner">
              <a:avLst/>
            </a:prstGeom>
            <a:gradFill rotWithShape="1">
              <a:gsLst>
                <a:gs pos="0">
                  <a:srgbClr val="B20838">
                    <a:tint val="50000"/>
                    <a:satMod val="300000"/>
                  </a:srgbClr>
                </a:gs>
                <a:gs pos="35000">
                  <a:srgbClr val="B20838">
                    <a:tint val="37000"/>
                    <a:satMod val="300000"/>
                  </a:srgbClr>
                </a:gs>
                <a:gs pos="100000">
                  <a:srgbClr val="B20838">
                    <a:tint val="15000"/>
                    <a:satMod val="350000"/>
                  </a:srgbClr>
                </a:gs>
              </a:gsLst>
              <a:lin ang="16200000" scaled="1"/>
            </a:gradFill>
            <a:ln w="9525" cap="flat" cmpd="sng" algn="ctr">
              <a:solidFill>
                <a:srgbClr val="B20838">
                  <a:shade val="95000"/>
                  <a:satMod val="105000"/>
                </a:srgbClr>
              </a:solidFill>
              <a:prstDash val="solid"/>
              <a:headEnd type="none" w="med" len="med"/>
              <a:tailEnd type="none" w="med" len="med"/>
            </a:ln>
            <a:effectLst>
              <a:outerShdw blurRad="40000" dist="20000" dir="5400000" rotWithShape="0">
                <a:srgbClr val="000000">
                  <a:alpha val="38000"/>
                </a:srgbClr>
              </a:outerShdw>
            </a:effectLst>
            <a:scene3d>
              <a:camera prst="isometricOffAxis2Left"/>
              <a:lightRig rig="threePt" dir="t"/>
            </a:scene3d>
          </p:spPr>
          <p:txBody>
            <a:bodyPr vert="horz" wrap="none" lIns="91440" tIns="45720" rIns="91440" bIns="45720" numCol="1" rtlCol="0" anchor="ctr" anchorCtr="0" compatLnSpc="1">
              <a:prstTxWarp prst="textNoShape">
                <a:avLst/>
              </a:prstTxWarp>
              <a:noAutofit/>
            </a:bodyPr>
            <a:lstStyle/>
            <a:p>
              <a:pPr algn="ctr" defTabSz="914400" fontAlgn="base">
                <a:spcBef>
                  <a:spcPct val="0"/>
                </a:spcBef>
                <a:spcAft>
                  <a:spcPct val="0"/>
                </a:spcAft>
                <a:defRPr/>
              </a:pPr>
              <a:r>
                <a:rPr lang="en-US" sz="900" kern="0" dirty="0">
                  <a:solidFill>
                    <a:srgbClr val="000000"/>
                  </a:solidFill>
                  <a:latin typeface="Arial"/>
                </a:rPr>
                <a:t>RTL</a:t>
              </a:r>
            </a:p>
          </p:txBody>
        </p:sp>
        <p:sp>
          <p:nvSpPr>
            <p:cNvPr id="92" name="Right Arrow 69">
              <a:extLst>
                <a:ext uri="{FF2B5EF4-FFF2-40B4-BE49-F238E27FC236}">
                  <a16:creationId xmlns:a16="http://schemas.microsoft.com/office/drawing/2014/main" id="{11F804CA-E67C-40FF-9CC9-3F254997D066}"/>
                </a:ext>
              </a:extLst>
            </p:cNvPr>
            <p:cNvSpPr/>
            <p:nvPr/>
          </p:nvSpPr>
          <p:spPr bwMode="auto">
            <a:xfrm rot="19252070">
              <a:off x="5191265" y="4261471"/>
              <a:ext cx="1075470" cy="397401"/>
            </a:xfrm>
            <a:prstGeom prst="rightArrow">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a:noFill/>
              <a:headEnd type="none" w="med" len="med"/>
              <a:tailEnd type="none" w="med" len="med"/>
            </a:ln>
            <a:effectLst>
              <a:outerShdw blurRad="40000" dist="23000" dir="5400000" rotWithShape="0">
                <a:srgbClr val="000000">
                  <a:alpha val="35000"/>
                </a:srgbClr>
              </a:outerShdw>
            </a:effectLst>
            <a:scene3d>
              <a:camera prst="isometricOffAxis2Left"/>
              <a:lightRig rig="threePt" dir="t"/>
            </a:scene3d>
            <a:sp3d>
              <a:bevelT w="63500" h="25400"/>
            </a:sp3d>
          </p:spPr>
          <p:txBody>
            <a:bodyPr vert="horz" wrap="square" lIns="91440" tIns="45720" rIns="91440" bIns="45720" numCol="1" rtlCol="0" anchor="ctr" anchorCtr="0" compatLnSpc="1">
              <a:prstTxWarp prst="textNoShape">
                <a:avLst/>
              </a:prstTxWarp>
              <a:spAutoFit/>
            </a:bodyPr>
            <a:lstStyle/>
            <a:p>
              <a:pPr algn="ctr" defTabSz="914400" fontAlgn="base">
                <a:spcBef>
                  <a:spcPct val="0"/>
                </a:spcBef>
                <a:spcAft>
                  <a:spcPct val="0"/>
                </a:spcAft>
                <a:defRPr/>
              </a:pPr>
              <a:r>
                <a:rPr lang="en-US" sz="700" kern="0" dirty="0">
                  <a:solidFill>
                    <a:srgbClr val="000000"/>
                  </a:solidFill>
                  <a:latin typeface="Arial"/>
                </a:rPr>
                <a:t>Unroll Loops</a:t>
              </a:r>
            </a:p>
          </p:txBody>
        </p:sp>
        <p:sp>
          <p:nvSpPr>
            <p:cNvPr id="93" name="Folded Corner 70">
              <a:extLst>
                <a:ext uri="{FF2B5EF4-FFF2-40B4-BE49-F238E27FC236}">
                  <a16:creationId xmlns:a16="http://schemas.microsoft.com/office/drawing/2014/main" id="{02C159D1-EFC7-4A94-AD0D-7EAED7A7C315}"/>
                </a:ext>
              </a:extLst>
            </p:cNvPr>
            <p:cNvSpPr/>
            <p:nvPr/>
          </p:nvSpPr>
          <p:spPr bwMode="auto">
            <a:xfrm>
              <a:off x="4994455" y="4312315"/>
              <a:ext cx="430752" cy="531838"/>
            </a:xfrm>
            <a:prstGeom prst="foldedCorner">
              <a:avLst/>
            </a:prstGeom>
            <a:gradFill rotWithShape="1">
              <a:gsLst>
                <a:gs pos="0">
                  <a:srgbClr val="B20838">
                    <a:tint val="50000"/>
                    <a:satMod val="300000"/>
                  </a:srgbClr>
                </a:gs>
                <a:gs pos="35000">
                  <a:srgbClr val="B20838">
                    <a:tint val="37000"/>
                    <a:satMod val="300000"/>
                  </a:srgbClr>
                </a:gs>
                <a:gs pos="100000">
                  <a:srgbClr val="B20838">
                    <a:tint val="15000"/>
                    <a:satMod val="350000"/>
                  </a:srgbClr>
                </a:gs>
              </a:gsLst>
              <a:lin ang="16200000" scaled="1"/>
            </a:gradFill>
            <a:ln w="9525" cap="flat" cmpd="sng" algn="ctr">
              <a:solidFill>
                <a:srgbClr val="B20838">
                  <a:shade val="95000"/>
                  <a:satMod val="105000"/>
                </a:srgbClr>
              </a:solidFill>
              <a:prstDash val="solid"/>
              <a:headEnd type="none" w="med" len="med"/>
              <a:tailEnd type="none" w="med" len="med"/>
            </a:ln>
            <a:effectLst>
              <a:outerShdw blurRad="40000" dist="20000" dir="5400000" rotWithShape="0">
                <a:srgbClr val="000000">
                  <a:alpha val="38000"/>
                </a:srgbClr>
              </a:outerShdw>
            </a:effectLst>
            <a:scene3d>
              <a:camera prst="isometricOffAxis2Left"/>
              <a:lightRig rig="threePt" dir="t"/>
            </a:scene3d>
          </p:spPr>
          <p:txBody>
            <a:bodyPr vert="horz" wrap="none" lIns="91440" tIns="45720" rIns="91440" bIns="45720" numCol="1" rtlCol="0" anchor="ctr" anchorCtr="0" compatLnSpc="1">
              <a:prstTxWarp prst="textNoShape">
                <a:avLst/>
              </a:prstTxWarp>
              <a:noAutofit/>
            </a:bodyPr>
            <a:lstStyle/>
            <a:p>
              <a:pPr algn="ctr" defTabSz="914400" fontAlgn="base">
                <a:spcBef>
                  <a:spcPct val="0"/>
                </a:spcBef>
                <a:spcAft>
                  <a:spcPct val="0"/>
                </a:spcAft>
                <a:defRPr/>
              </a:pPr>
              <a:r>
                <a:rPr lang="en-US" sz="900" kern="0" dirty="0">
                  <a:solidFill>
                    <a:srgbClr val="000000"/>
                  </a:solidFill>
                  <a:latin typeface="Arial"/>
                </a:rPr>
                <a:t>RTL</a:t>
              </a:r>
            </a:p>
          </p:txBody>
        </p:sp>
        <p:sp>
          <p:nvSpPr>
            <p:cNvPr id="94" name="Right Arrow 71">
              <a:extLst>
                <a:ext uri="{FF2B5EF4-FFF2-40B4-BE49-F238E27FC236}">
                  <a16:creationId xmlns:a16="http://schemas.microsoft.com/office/drawing/2014/main" id="{7661C518-EF9A-4A36-8355-8C57F40FE75B}"/>
                </a:ext>
              </a:extLst>
            </p:cNvPr>
            <p:cNvSpPr/>
            <p:nvPr/>
          </p:nvSpPr>
          <p:spPr bwMode="auto">
            <a:xfrm rot="21297475">
              <a:off x="4203364" y="4522022"/>
              <a:ext cx="1059206" cy="397401"/>
            </a:xfrm>
            <a:prstGeom prst="rightArrow">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a:noFill/>
              <a:headEnd type="none" w="med" len="med"/>
              <a:tailEnd type="none" w="med" len="med"/>
            </a:ln>
            <a:effectLst>
              <a:outerShdw blurRad="40000" dist="23000" dir="5400000" rotWithShape="0">
                <a:srgbClr val="000000">
                  <a:alpha val="35000"/>
                </a:srgbClr>
              </a:outerShdw>
            </a:effectLst>
            <a:scene3d>
              <a:camera prst="isometricOffAxis2Left"/>
              <a:lightRig rig="threePt" dir="t"/>
            </a:scene3d>
            <a:sp3d>
              <a:bevelT w="63500" h="25400"/>
            </a:sp3d>
          </p:spPr>
          <p:txBody>
            <a:bodyPr vert="horz" wrap="square" lIns="91440" tIns="45720" rIns="91440" bIns="45720" numCol="1" rtlCol="0" anchor="ctr" anchorCtr="0" compatLnSpc="1">
              <a:prstTxWarp prst="textNoShape">
                <a:avLst/>
              </a:prstTxWarp>
              <a:spAutoFit/>
            </a:bodyPr>
            <a:lstStyle/>
            <a:p>
              <a:pPr algn="ctr" defTabSz="914400" fontAlgn="base">
                <a:spcBef>
                  <a:spcPct val="0"/>
                </a:spcBef>
                <a:spcAft>
                  <a:spcPct val="0"/>
                </a:spcAft>
                <a:defRPr/>
              </a:pPr>
              <a:r>
                <a:rPr lang="en-US" sz="700" kern="0" dirty="0">
                  <a:solidFill>
                    <a:srgbClr val="000000"/>
                  </a:solidFill>
                  <a:latin typeface="Arial"/>
                </a:rPr>
                <a:t>Partition Arrays</a:t>
              </a:r>
            </a:p>
          </p:txBody>
        </p:sp>
        <p:sp>
          <p:nvSpPr>
            <p:cNvPr id="95" name="Folded Corner 72">
              <a:extLst>
                <a:ext uri="{FF2B5EF4-FFF2-40B4-BE49-F238E27FC236}">
                  <a16:creationId xmlns:a16="http://schemas.microsoft.com/office/drawing/2014/main" id="{6E72608F-0EAD-4916-B516-FDCA5D88F82D}"/>
                </a:ext>
              </a:extLst>
            </p:cNvPr>
            <p:cNvSpPr/>
            <p:nvPr/>
          </p:nvSpPr>
          <p:spPr bwMode="auto">
            <a:xfrm>
              <a:off x="3112610" y="4849985"/>
              <a:ext cx="1433670" cy="379170"/>
            </a:xfrm>
            <a:prstGeom prst="foldedCorner">
              <a:avLst/>
            </a:prstGeom>
            <a:gradFill rotWithShape="1">
              <a:gsLst>
                <a:gs pos="0">
                  <a:srgbClr val="6D7076">
                    <a:shade val="51000"/>
                    <a:satMod val="130000"/>
                  </a:srgbClr>
                </a:gs>
                <a:gs pos="80000">
                  <a:srgbClr val="6D7076">
                    <a:shade val="93000"/>
                    <a:satMod val="130000"/>
                  </a:srgbClr>
                </a:gs>
                <a:gs pos="100000">
                  <a:srgbClr val="6D7076">
                    <a:shade val="94000"/>
                    <a:satMod val="135000"/>
                  </a:srgbClr>
                </a:gs>
              </a:gsLst>
              <a:lin ang="16200000" scaled="0"/>
            </a:gradFill>
            <a:ln>
              <a:noFill/>
            </a:ln>
            <a:effectLst>
              <a:outerShdw blurRad="40000" dist="23000" dir="5400000" rotWithShape="0">
                <a:srgbClr val="000000">
                  <a:alpha val="35000"/>
                </a:srgbClr>
              </a:outerShdw>
            </a:effectLst>
            <a:scene3d>
              <a:camera prst="isometricOffAxis2Left"/>
              <a:lightRig rig="threePt" dir="t">
                <a:rot lat="0" lon="0" rev="1200000"/>
              </a:lightRig>
            </a:scene3d>
            <a:sp3d>
              <a:bevelT w="63500" h="25400"/>
            </a:sp3d>
          </p:spPr>
          <p:txBody>
            <a:bodyPr anchor="ctr"/>
            <a:lstStyle/>
            <a:p>
              <a:pPr algn="ctr" defTabSz="914400" fontAlgn="base">
                <a:spcBef>
                  <a:spcPct val="0"/>
                </a:spcBef>
                <a:spcAft>
                  <a:spcPct val="0"/>
                </a:spcAft>
                <a:defRPr/>
              </a:pPr>
              <a:r>
                <a:rPr lang="en-US" sz="900" b="1" kern="0" dirty="0">
                  <a:solidFill>
                    <a:srgbClr val="000000"/>
                  </a:solidFill>
                  <a:latin typeface="Arial"/>
                </a:rPr>
                <a:t>Timed RTL</a:t>
              </a:r>
            </a:p>
            <a:p>
              <a:pPr algn="ctr" defTabSz="914400" fontAlgn="base">
                <a:spcBef>
                  <a:spcPct val="0"/>
                </a:spcBef>
                <a:spcAft>
                  <a:spcPct val="0"/>
                </a:spcAft>
                <a:defRPr/>
              </a:pPr>
              <a:r>
                <a:rPr lang="en-US" sz="900" b="1" kern="0" dirty="0">
                  <a:solidFill>
                    <a:srgbClr val="000000"/>
                  </a:solidFill>
                  <a:latin typeface="Arial"/>
                </a:rPr>
                <a:t>Architectures</a:t>
              </a:r>
            </a:p>
          </p:txBody>
        </p:sp>
        <p:pic>
          <p:nvPicPr>
            <p:cNvPr id="96" name="Picture 6" descr="http://www.xilinx.com/images/product-images/th_k7_chip_300ppi.jpg.jpg">
              <a:extLst>
                <a:ext uri="{FF2B5EF4-FFF2-40B4-BE49-F238E27FC236}">
                  <a16:creationId xmlns:a16="http://schemas.microsoft.com/office/drawing/2014/main" id="{9E92B3C4-859E-41C0-BA1B-61C493186066}"/>
                </a:ext>
              </a:extLst>
            </p:cNvPr>
            <p:cNvPicPr>
              <a:picLocks noChangeAspect="1" noChangeArrowheads="1"/>
            </p:cNvPicPr>
            <p:nvPr/>
          </p:nvPicPr>
          <p:blipFill>
            <a:blip r:embed="rId2" cstate="print"/>
            <a:srcRect/>
            <a:stretch>
              <a:fillRect/>
            </a:stretch>
          </p:blipFill>
          <p:spPr bwMode="auto">
            <a:xfrm>
              <a:off x="4250895" y="5171935"/>
              <a:ext cx="666750" cy="638175"/>
            </a:xfrm>
            <a:prstGeom prst="rect">
              <a:avLst/>
            </a:prstGeom>
            <a:ln>
              <a:noFill/>
            </a:ln>
            <a:effectLst>
              <a:outerShdw blurRad="292100" dist="139700" dir="2700000" algn="tl" rotWithShape="0">
                <a:srgbClr val="333333">
                  <a:alpha val="65000"/>
                </a:srgbClr>
              </a:outerShdw>
            </a:effectLst>
            <a:scene3d>
              <a:camera prst="isometricOffAxis2Left"/>
              <a:lightRig rig="threePt" dir="t"/>
            </a:scene3d>
          </p:spPr>
        </p:pic>
        <p:sp>
          <p:nvSpPr>
            <p:cNvPr id="97" name="Folded Corner 74">
              <a:extLst>
                <a:ext uri="{FF2B5EF4-FFF2-40B4-BE49-F238E27FC236}">
                  <a16:creationId xmlns:a16="http://schemas.microsoft.com/office/drawing/2014/main" id="{D9AC9E24-9293-4757-ABF2-FB4D376029DE}"/>
                </a:ext>
              </a:extLst>
            </p:cNvPr>
            <p:cNvSpPr/>
            <p:nvPr/>
          </p:nvSpPr>
          <p:spPr bwMode="auto">
            <a:xfrm>
              <a:off x="3919115" y="4235505"/>
              <a:ext cx="430752" cy="531838"/>
            </a:xfrm>
            <a:prstGeom prst="foldedCorner">
              <a:avLst/>
            </a:prstGeom>
            <a:gradFill rotWithShape="1">
              <a:gsLst>
                <a:gs pos="0">
                  <a:srgbClr val="B20838">
                    <a:tint val="50000"/>
                    <a:satMod val="300000"/>
                  </a:srgbClr>
                </a:gs>
                <a:gs pos="35000">
                  <a:srgbClr val="B20838">
                    <a:tint val="37000"/>
                    <a:satMod val="300000"/>
                  </a:srgbClr>
                </a:gs>
                <a:gs pos="100000">
                  <a:srgbClr val="B20838">
                    <a:tint val="15000"/>
                    <a:satMod val="350000"/>
                  </a:srgbClr>
                </a:gs>
              </a:gsLst>
              <a:lin ang="16200000" scaled="1"/>
            </a:gradFill>
            <a:ln w="9525" cap="flat" cmpd="sng" algn="ctr">
              <a:solidFill>
                <a:srgbClr val="B20838">
                  <a:shade val="95000"/>
                  <a:satMod val="105000"/>
                </a:srgbClr>
              </a:solidFill>
              <a:prstDash val="solid"/>
              <a:headEnd type="none" w="med" len="med"/>
              <a:tailEnd type="none" w="med" len="med"/>
            </a:ln>
            <a:effectLst>
              <a:outerShdw blurRad="40000" dist="20000" dir="5400000" rotWithShape="0">
                <a:srgbClr val="000000">
                  <a:alpha val="38000"/>
                </a:srgbClr>
              </a:outerShdw>
            </a:effectLst>
            <a:scene3d>
              <a:camera prst="isometricOffAxis2Left"/>
              <a:lightRig rig="threePt" dir="t"/>
            </a:scene3d>
          </p:spPr>
          <p:txBody>
            <a:bodyPr vert="horz" wrap="none" lIns="91440" tIns="45720" rIns="91440" bIns="45720" numCol="1" rtlCol="0" anchor="ctr" anchorCtr="0" compatLnSpc="1">
              <a:prstTxWarp prst="textNoShape">
                <a:avLst/>
              </a:prstTxWarp>
              <a:noAutofit/>
            </a:bodyPr>
            <a:lstStyle/>
            <a:p>
              <a:pPr algn="ctr" defTabSz="914400" fontAlgn="base">
                <a:spcBef>
                  <a:spcPct val="0"/>
                </a:spcBef>
                <a:spcAft>
                  <a:spcPct val="0"/>
                </a:spcAft>
                <a:defRPr/>
              </a:pPr>
              <a:r>
                <a:rPr lang="en-US" sz="900" kern="0" dirty="0">
                  <a:solidFill>
                    <a:srgbClr val="000000"/>
                  </a:solidFill>
                  <a:latin typeface="Arial"/>
                </a:rPr>
                <a:t>RTL</a:t>
              </a:r>
            </a:p>
          </p:txBody>
        </p:sp>
        <p:sp>
          <p:nvSpPr>
            <p:cNvPr id="98" name="Right Arrow 75">
              <a:extLst>
                <a:ext uri="{FF2B5EF4-FFF2-40B4-BE49-F238E27FC236}">
                  <a16:creationId xmlns:a16="http://schemas.microsoft.com/office/drawing/2014/main" id="{417DF830-92C0-4394-BEBB-7D172432399B}"/>
                </a:ext>
              </a:extLst>
            </p:cNvPr>
            <p:cNvSpPr/>
            <p:nvPr/>
          </p:nvSpPr>
          <p:spPr bwMode="auto">
            <a:xfrm rot="16960918" flipH="1">
              <a:off x="3398083" y="3463396"/>
              <a:ext cx="1692148" cy="397401"/>
            </a:xfrm>
            <a:prstGeom prst="rightArrow">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a:noFill/>
              <a:headEnd type="none" w="med" len="med"/>
              <a:tailEnd type="none" w="med" len="med"/>
            </a:ln>
            <a:effectLst>
              <a:outerShdw blurRad="40000" dist="23000" dir="5400000" rotWithShape="0">
                <a:srgbClr val="000000">
                  <a:alpha val="35000"/>
                </a:srgbClr>
              </a:outerShdw>
            </a:effectLst>
            <a:scene3d>
              <a:camera prst="isometricOffAxis2Left"/>
              <a:lightRig rig="threePt" dir="t"/>
            </a:scene3d>
            <a:sp3d>
              <a:bevelT w="63500" h="25400"/>
            </a:sp3d>
          </p:spPr>
          <p:txBody>
            <a:bodyPr vert="horz" wrap="square" lIns="91440" tIns="45720" rIns="91440" bIns="45720" numCol="1" rtlCol="0" anchor="ctr" anchorCtr="0" compatLnSpc="1">
              <a:prstTxWarp prst="textNoShape">
                <a:avLst/>
              </a:prstTxWarp>
              <a:spAutoFit/>
            </a:bodyPr>
            <a:lstStyle/>
            <a:p>
              <a:pPr algn="ctr" defTabSz="914400" fontAlgn="base">
                <a:spcBef>
                  <a:spcPct val="0"/>
                </a:spcBef>
                <a:spcAft>
                  <a:spcPct val="0"/>
                </a:spcAft>
                <a:defRPr/>
              </a:pPr>
              <a:r>
                <a:rPr lang="en-US" sz="700" kern="0" dirty="0">
                  <a:solidFill>
                    <a:srgbClr val="000000"/>
                  </a:solidFill>
                  <a:latin typeface="Arial"/>
                </a:rPr>
                <a:t>Share Resources</a:t>
              </a:r>
            </a:p>
          </p:txBody>
        </p:sp>
        <p:sp>
          <p:nvSpPr>
            <p:cNvPr id="99" name="Folded Corner 76">
              <a:extLst>
                <a:ext uri="{FF2B5EF4-FFF2-40B4-BE49-F238E27FC236}">
                  <a16:creationId xmlns:a16="http://schemas.microsoft.com/office/drawing/2014/main" id="{0725E08F-797A-4B84-A07A-A570C2A35EDF}"/>
                </a:ext>
              </a:extLst>
            </p:cNvPr>
            <p:cNvSpPr/>
            <p:nvPr/>
          </p:nvSpPr>
          <p:spPr bwMode="auto">
            <a:xfrm>
              <a:off x="4418380" y="2474707"/>
              <a:ext cx="430752" cy="531838"/>
            </a:xfrm>
            <a:prstGeom prst="foldedCorner">
              <a:avLst/>
            </a:prstGeom>
            <a:gradFill rotWithShape="1">
              <a:gsLst>
                <a:gs pos="0">
                  <a:srgbClr val="B20838">
                    <a:tint val="50000"/>
                    <a:satMod val="300000"/>
                  </a:srgbClr>
                </a:gs>
                <a:gs pos="35000">
                  <a:srgbClr val="B20838">
                    <a:tint val="37000"/>
                    <a:satMod val="300000"/>
                  </a:srgbClr>
                </a:gs>
                <a:gs pos="100000">
                  <a:srgbClr val="B20838">
                    <a:tint val="15000"/>
                    <a:satMod val="350000"/>
                  </a:srgbClr>
                </a:gs>
              </a:gsLst>
              <a:lin ang="16200000" scaled="1"/>
            </a:gradFill>
            <a:ln w="9525" cap="flat" cmpd="sng" algn="ctr">
              <a:solidFill>
                <a:srgbClr val="B20838">
                  <a:shade val="95000"/>
                  <a:satMod val="105000"/>
                </a:srgbClr>
              </a:solidFill>
              <a:prstDash val="solid"/>
              <a:headEnd type="none" w="med" len="med"/>
              <a:tailEnd type="none" w="med" len="med"/>
            </a:ln>
            <a:effectLst>
              <a:outerShdw blurRad="40000" dist="20000" dir="5400000" rotWithShape="0">
                <a:srgbClr val="000000">
                  <a:alpha val="38000"/>
                </a:srgbClr>
              </a:outerShdw>
            </a:effectLst>
            <a:scene3d>
              <a:camera prst="isometricOffAxis2Left"/>
              <a:lightRig rig="threePt" dir="t"/>
            </a:scene3d>
          </p:spPr>
          <p:txBody>
            <a:bodyPr vert="horz" wrap="none" lIns="91440" tIns="45720" rIns="91440" bIns="45720" numCol="1" rtlCol="0" anchor="ctr" anchorCtr="0" compatLnSpc="1">
              <a:prstTxWarp prst="textNoShape">
                <a:avLst/>
              </a:prstTxWarp>
              <a:noAutofit/>
            </a:bodyPr>
            <a:lstStyle/>
            <a:p>
              <a:pPr algn="ctr" defTabSz="914400" fontAlgn="base">
                <a:spcBef>
                  <a:spcPct val="0"/>
                </a:spcBef>
                <a:spcAft>
                  <a:spcPct val="0"/>
                </a:spcAft>
                <a:defRPr/>
              </a:pPr>
              <a:r>
                <a:rPr lang="en-US" sz="900" kern="0" dirty="0">
                  <a:solidFill>
                    <a:srgbClr val="000000"/>
                  </a:solidFill>
                  <a:latin typeface="Arial"/>
                </a:rPr>
                <a:t>RTL</a:t>
              </a:r>
            </a:p>
          </p:txBody>
        </p:sp>
        <p:pic>
          <p:nvPicPr>
            <p:cNvPr id="100" name="Picture 10" descr="http://images-eu.amazon.com/images/P/0131103628.03.LZZZZZZZ.jpg">
              <a:extLst>
                <a:ext uri="{FF2B5EF4-FFF2-40B4-BE49-F238E27FC236}">
                  <a16:creationId xmlns:a16="http://schemas.microsoft.com/office/drawing/2014/main" id="{62D5AD1A-9674-44D8-80B8-D16683A1222E}"/>
                </a:ext>
              </a:extLst>
            </p:cNvPr>
            <p:cNvPicPr>
              <a:picLocks noChangeAspect="1" noChangeArrowheads="1"/>
            </p:cNvPicPr>
            <p:nvPr/>
          </p:nvPicPr>
          <p:blipFill>
            <a:blip r:embed="rId3" cstate="print"/>
            <a:srcRect/>
            <a:stretch>
              <a:fillRect/>
            </a:stretch>
          </p:blipFill>
          <p:spPr bwMode="auto">
            <a:xfrm>
              <a:off x="7793822" y="1327400"/>
              <a:ext cx="1156348" cy="1525525"/>
            </a:xfrm>
            <a:prstGeom prst="rect">
              <a:avLst/>
            </a:prstGeom>
            <a:ln>
              <a:noFill/>
            </a:ln>
            <a:effectLst>
              <a:outerShdw blurRad="292100" dist="139700" dir="2700000" algn="tl" rotWithShape="0">
                <a:srgbClr val="333333">
                  <a:alpha val="65000"/>
                </a:srgbClr>
              </a:outerShdw>
            </a:effectLst>
            <a:scene3d>
              <a:camera prst="isometricOffAxis2Left"/>
              <a:lightRig rig="threePt" dir="t"/>
            </a:scene3d>
          </p:spPr>
        </p:pic>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Understanding Vitis HLS Synthesis</a:t>
            </a:r>
          </a:p>
        </p:txBody>
      </p:sp>
      <p:sp>
        <p:nvSpPr>
          <p:cNvPr id="3" name="Content Placeholder 2"/>
          <p:cNvSpPr>
            <a:spLocks noGrp="1"/>
          </p:cNvSpPr>
          <p:nvPr>
            <p:ph idx="1"/>
          </p:nvPr>
        </p:nvSpPr>
        <p:spPr/>
        <p:txBody>
          <a:bodyPr>
            <a:noAutofit/>
          </a:bodyPr>
          <a:lstStyle/>
          <a:p>
            <a:r>
              <a:rPr lang="en-US" sz="1800" dirty="0"/>
              <a:t>Vitis HLS</a:t>
            </a:r>
          </a:p>
          <a:p>
            <a:pPr lvl="1"/>
            <a:r>
              <a:rPr lang="en-US" sz="1600" dirty="0"/>
              <a:t>Determines in which cycle operations should occur (scheduling)</a:t>
            </a:r>
          </a:p>
          <a:p>
            <a:pPr lvl="1"/>
            <a:r>
              <a:rPr lang="en-US" sz="1600" dirty="0"/>
              <a:t>Determines which hardware units to use for each operation (binding)</a:t>
            </a:r>
          </a:p>
          <a:p>
            <a:pPr lvl="1"/>
            <a:r>
              <a:rPr lang="en-US" sz="1600" dirty="0"/>
              <a:t>Performs high-level synthesis by :</a:t>
            </a:r>
          </a:p>
          <a:p>
            <a:pPr lvl="2"/>
            <a:r>
              <a:rPr lang="en-US" sz="1400" dirty="0"/>
              <a:t>Obeying built-in defaults</a:t>
            </a:r>
          </a:p>
          <a:p>
            <a:pPr lvl="2"/>
            <a:r>
              <a:rPr lang="en-US" sz="1400" dirty="0"/>
              <a:t>Obeying user directives &amp; constraints to override defaults</a:t>
            </a:r>
          </a:p>
          <a:p>
            <a:pPr lvl="2"/>
            <a:r>
              <a:rPr lang="en-US" sz="1400" dirty="0"/>
              <a:t>Calculating delays and area using the specified technology/device</a:t>
            </a:r>
          </a:p>
          <a:p>
            <a:r>
              <a:rPr lang="en-US" sz="1800" dirty="0"/>
              <a:t>Priority of directives in Vitis HLS</a:t>
            </a:r>
          </a:p>
          <a:p>
            <a:pPr marL="800100" lvl="1" indent="-342900">
              <a:buFont typeface="+mj-lt"/>
              <a:buAutoNum type="arabicPeriod"/>
            </a:pPr>
            <a:r>
              <a:rPr lang="en-US" sz="1600" dirty="0"/>
              <a:t>Meet Performance (clock &amp; throughput)</a:t>
            </a:r>
          </a:p>
          <a:p>
            <a:pPr marL="1200150" lvl="2" indent="-342900"/>
            <a:r>
              <a:rPr lang="en-US" sz="1400" dirty="0"/>
              <a:t>Vitis HLS will allow a local clock path to fail if this is required to meet throughput</a:t>
            </a:r>
          </a:p>
          <a:p>
            <a:pPr marL="1200150" lvl="2" indent="-342900"/>
            <a:r>
              <a:rPr lang="en-US" sz="1400" dirty="0"/>
              <a:t>Often possible the timing can be met after logic synthesis</a:t>
            </a:r>
          </a:p>
          <a:p>
            <a:pPr marL="800100" lvl="1" indent="-342900">
              <a:buFont typeface="+mj-lt"/>
              <a:buAutoNum type="arabicPeriod"/>
            </a:pPr>
            <a:r>
              <a:rPr lang="en-US" sz="1600" dirty="0"/>
              <a:t>Then minimize latency</a:t>
            </a:r>
          </a:p>
          <a:p>
            <a:pPr marL="800100" lvl="1" indent="-342900">
              <a:buFont typeface="+mj-lt"/>
              <a:buAutoNum type="arabicPeriod"/>
            </a:pPr>
            <a:r>
              <a:rPr lang="en-US" sz="1600" dirty="0"/>
              <a:t>Then minimize area</a:t>
            </a:r>
          </a:p>
        </p:txBody>
      </p:sp>
      <p:sp>
        <p:nvSpPr>
          <p:cNvPr id="4" name="Slide Number Placeholder 3"/>
          <p:cNvSpPr>
            <a:spLocks noGrp="1"/>
          </p:cNvSpPr>
          <p:nvPr>
            <p:ph type="sldNum" sz="quarter" idx="10"/>
          </p:nvPr>
        </p:nvSpPr>
        <p:spPr/>
        <p:txBody>
          <a:bodyPr/>
          <a:lstStyle/>
          <a:p>
            <a:pPr>
              <a:defRPr/>
            </a:pPr>
            <a:r>
              <a:rPr lang="en-US" dirty="0"/>
              <a:t>Intro to HLS 11- </a:t>
            </a:r>
            <a:fld id="{060BD193-E118-4B16-863C-C8C12C675E3E}" type="slidenum">
              <a:rPr lang="en-US" smtClean="0"/>
              <a:pPr>
                <a:defRPr/>
              </a:pPr>
              <a:t>18</a:t>
            </a:fld>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Key Attributes of C code</a:t>
            </a:r>
          </a:p>
        </p:txBody>
      </p:sp>
      <p:sp>
        <p:nvSpPr>
          <p:cNvPr id="3" name="Slide Number Placeholder 2"/>
          <p:cNvSpPr>
            <a:spLocks noGrp="1"/>
          </p:cNvSpPr>
          <p:nvPr>
            <p:ph type="sldNum" sz="quarter" idx="10"/>
          </p:nvPr>
        </p:nvSpPr>
        <p:spPr/>
        <p:txBody>
          <a:bodyPr/>
          <a:lstStyle/>
          <a:p>
            <a:pPr>
              <a:defRPr/>
            </a:pPr>
            <a:r>
              <a:rPr lang="en-US" dirty="0"/>
              <a:t>Intro to HLS 11- </a:t>
            </a:r>
            <a:fld id="{060BD193-E118-4B16-863C-C8C12C675E3E}" type="slidenum">
              <a:rPr lang="en-US" smtClean="0"/>
              <a:pPr>
                <a:defRPr/>
              </a:pPr>
              <a:t>19</a:t>
            </a:fld>
            <a:endParaRPr lang="en-US" dirty="0"/>
          </a:p>
        </p:txBody>
      </p:sp>
      <p:sp>
        <p:nvSpPr>
          <p:cNvPr id="56" name="TextBox 55"/>
          <p:cNvSpPr txBox="1"/>
          <p:nvPr/>
        </p:nvSpPr>
        <p:spPr>
          <a:xfrm>
            <a:off x="5020941" y="1431940"/>
            <a:ext cx="6245586" cy="523220"/>
          </a:xfrm>
          <a:prstGeom prst="rect">
            <a:avLst/>
          </a:prstGeom>
          <a:noFill/>
        </p:spPr>
        <p:txBody>
          <a:bodyPr wrap="square" rtlCol="0">
            <a:spAutoFit/>
          </a:bodyPr>
          <a:lstStyle/>
          <a:p>
            <a:pPr defTabSz="457200"/>
            <a:r>
              <a:rPr lang="en-US" sz="1400" b="1" u="sng" dirty="0">
                <a:solidFill>
                  <a:prstClr val="black"/>
                </a:solidFill>
                <a:ea typeface="ＭＳ Ｐゴシック" pitchFamily="34" charset="-128"/>
                <a:cs typeface="Arial" charset="0"/>
              </a:rPr>
              <a:t>Functions</a:t>
            </a:r>
            <a:r>
              <a:rPr lang="en-US" sz="1400" b="1" dirty="0">
                <a:solidFill>
                  <a:prstClr val="black"/>
                </a:solidFill>
                <a:ea typeface="ＭＳ Ｐゴシック" pitchFamily="34" charset="-128"/>
                <a:cs typeface="Arial" charset="0"/>
              </a:rPr>
              <a:t>:  </a:t>
            </a:r>
            <a:r>
              <a:rPr lang="en-US" sz="1400" dirty="0">
                <a:solidFill>
                  <a:prstClr val="black"/>
                </a:solidFill>
                <a:ea typeface="ＭＳ Ｐゴシック" pitchFamily="34" charset="-128"/>
                <a:cs typeface="Arial" charset="0"/>
              </a:rPr>
              <a:t>All code is made up of functions which represent the design hierarchy: the same in hardware</a:t>
            </a:r>
            <a:endParaRPr lang="en-US" sz="1400" b="1" dirty="0">
              <a:solidFill>
                <a:prstClr val="black"/>
              </a:solidFill>
              <a:ea typeface="ＭＳ Ｐゴシック" pitchFamily="34" charset="-128"/>
              <a:cs typeface="Arial" charset="0"/>
            </a:endParaRPr>
          </a:p>
        </p:txBody>
      </p:sp>
      <p:sp>
        <p:nvSpPr>
          <p:cNvPr id="70" name="TextBox 69"/>
          <p:cNvSpPr txBox="1"/>
          <p:nvPr/>
        </p:nvSpPr>
        <p:spPr>
          <a:xfrm>
            <a:off x="5020943" y="3388838"/>
            <a:ext cx="6655133" cy="523220"/>
          </a:xfrm>
          <a:prstGeom prst="rect">
            <a:avLst/>
          </a:prstGeom>
          <a:noFill/>
        </p:spPr>
        <p:txBody>
          <a:bodyPr wrap="square" rtlCol="0">
            <a:spAutoFit/>
          </a:bodyPr>
          <a:lstStyle/>
          <a:p>
            <a:pPr defTabSz="457200"/>
            <a:r>
              <a:rPr lang="en-US" sz="1400" b="1" u="sng" dirty="0">
                <a:solidFill>
                  <a:prstClr val="black"/>
                </a:solidFill>
                <a:ea typeface="ＭＳ Ｐゴシック" pitchFamily="34" charset="-128"/>
                <a:cs typeface="Arial" charset="0"/>
              </a:rPr>
              <a:t>Loops</a:t>
            </a:r>
            <a:r>
              <a:rPr lang="en-US" sz="1400" b="1" dirty="0">
                <a:solidFill>
                  <a:prstClr val="black"/>
                </a:solidFill>
                <a:ea typeface="ＭＳ Ｐゴシック" pitchFamily="34" charset="-128"/>
                <a:cs typeface="Arial" charset="0"/>
              </a:rPr>
              <a:t>:  </a:t>
            </a:r>
            <a:r>
              <a:rPr lang="en-US" sz="1400" dirty="0">
                <a:solidFill>
                  <a:prstClr val="black"/>
                </a:solidFill>
                <a:ea typeface="ＭＳ Ｐゴシック" pitchFamily="34" charset="-128"/>
                <a:cs typeface="Arial" charset="0"/>
              </a:rPr>
              <a:t>Functions typically contain loops. How these are handled can have a major impact on area and performance</a:t>
            </a:r>
            <a:endParaRPr lang="en-US" sz="1400" b="1" dirty="0">
              <a:solidFill>
                <a:prstClr val="black"/>
              </a:solidFill>
              <a:ea typeface="ＭＳ Ｐゴシック" pitchFamily="34" charset="-128"/>
              <a:cs typeface="Arial" charset="0"/>
            </a:endParaRPr>
          </a:p>
        </p:txBody>
      </p:sp>
      <p:sp>
        <p:nvSpPr>
          <p:cNvPr id="80" name="TextBox 79"/>
          <p:cNvSpPr txBox="1"/>
          <p:nvPr/>
        </p:nvSpPr>
        <p:spPr>
          <a:xfrm>
            <a:off x="5020941" y="4109564"/>
            <a:ext cx="6245586" cy="523220"/>
          </a:xfrm>
          <a:prstGeom prst="rect">
            <a:avLst/>
          </a:prstGeom>
          <a:noFill/>
        </p:spPr>
        <p:txBody>
          <a:bodyPr wrap="square" rtlCol="0">
            <a:spAutoFit/>
          </a:bodyPr>
          <a:lstStyle/>
          <a:p>
            <a:pPr defTabSz="457200"/>
            <a:r>
              <a:rPr lang="en-US" sz="1400" b="1" u="sng" dirty="0">
                <a:solidFill>
                  <a:prstClr val="black"/>
                </a:solidFill>
                <a:ea typeface="ＭＳ Ｐゴシック" pitchFamily="34" charset="-128"/>
                <a:cs typeface="Arial" charset="0"/>
              </a:rPr>
              <a:t>Arrays</a:t>
            </a:r>
            <a:r>
              <a:rPr lang="en-US" sz="1400" b="1" dirty="0">
                <a:solidFill>
                  <a:prstClr val="black"/>
                </a:solidFill>
                <a:ea typeface="ＭＳ Ｐゴシック" pitchFamily="34" charset="-128"/>
                <a:cs typeface="Arial" charset="0"/>
              </a:rPr>
              <a:t>:  </a:t>
            </a:r>
            <a:r>
              <a:rPr lang="en-US" sz="1400" dirty="0">
                <a:solidFill>
                  <a:prstClr val="black"/>
                </a:solidFill>
                <a:ea typeface="ＭＳ Ｐゴシック" pitchFamily="34" charset="-128"/>
                <a:cs typeface="Arial" charset="0"/>
              </a:rPr>
              <a:t>Arrays are used often in C code. They can influence the device IO and become performance bottlenecks</a:t>
            </a:r>
            <a:endParaRPr lang="en-US" sz="1400" b="1" dirty="0">
              <a:solidFill>
                <a:prstClr val="black"/>
              </a:solidFill>
              <a:ea typeface="ＭＳ Ｐゴシック" pitchFamily="34" charset="-128"/>
              <a:cs typeface="Arial" charset="0"/>
            </a:endParaRPr>
          </a:p>
        </p:txBody>
      </p:sp>
      <p:sp>
        <p:nvSpPr>
          <p:cNvPr id="83" name="TextBox 82"/>
          <p:cNvSpPr txBox="1"/>
          <p:nvPr/>
        </p:nvSpPr>
        <p:spPr>
          <a:xfrm>
            <a:off x="5020941" y="4956231"/>
            <a:ext cx="6245586" cy="523220"/>
          </a:xfrm>
          <a:prstGeom prst="rect">
            <a:avLst/>
          </a:prstGeom>
          <a:noFill/>
        </p:spPr>
        <p:txBody>
          <a:bodyPr wrap="square" rtlCol="0">
            <a:spAutoFit/>
          </a:bodyPr>
          <a:lstStyle/>
          <a:p>
            <a:pPr defTabSz="457200"/>
            <a:r>
              <a:rPr lang="en-US" sz="1400" b="1" u="sng" dirty="0">
                <a:solidFill>
                  <a:prstClr val="black"/>
                </a:solidFill>
                <a:ea typeface="ＭＳ Ｐゴシック" pitchFamily="34" charset="-128"/>
                <a:cs typeface="Arial" charset="0"/>
              </a:rPr>
              <a:t>Operators</a:t>
            </a:r>
            <a:r>
              <a:rPr lang="en-US" sz="1400" b="1" dirty="0">
                <a:solidFill>
                  <a:prstClr val="black"/>
                </a:solidFill>
                <a:ea typeface="ＭＳ Ｐゴシック" pitchFamily="34" charset="-128"/>
                <a:cs typeface="Arial" charset="0"/>
              </a:rPr>
              <a:t>:  </a:t>
            </a:r>
            <a:r>
              <a:rPr lang="en-US" sz="1400" dirty="0">
                <a:solidFill>
                  <a:prstClr val="black"/>
                </a:solidFill>
                <a:ea typeface="ＭＳ Ｐゴシック" pitchFamily="34" charset="-128"/>
                <a:cs typeface="Arial" charset="0"/>
              </a:rPr>
              <a:t>Operators in the C code may require sharing to control area or specific hardware implementations to meet performance</a:t>
            </a:r>
            <a:endParaRPr lang="en-US" sz="1400" b="1" dirty="0">
              <a:solidFill>
                <a:prstClr val="black"/>
              </a:solidFill>
              <a:ea typeface="ＭＳ Ｐゴシック" pitchFamily="34" charset="-128"/>
              <a:cs typeface="Arial" charset="0"/>
            </a:endParaRPr>
          </a:p>
        </p:txBody>
      </p:sp>
      <p:sp>
        <p:nvSpPr>
          <p:cNvPr id="84" name="TextBox 83"/>
          <p:cNvSpPr txBox="1"/>
          <p:nvPr/>
        </p:nvSpPr>
        <p:spPr>
          <a:xfrm>
            <a:off x="5020941" y="2697548"/>
            <a:ext cx="6245586" cy="523220"/>
          </a:xfrm>
          <a:prstGeom prst="rect">
            <a:avLst/>
          </a:prstGeom>
          <a:noFill/>
        </p:spPr>
        <p:txBody>
          <a:bodyPr wrap="square" rtlCol="0">
            <a:spAutoFit/>
          </a:bodyPr>
          <a:lstStyle/>
          <a:p>
            <a:pPr defTabSz="457200"/>
            <a:r>
              <a:rPr lang="en-US" sz="1400" b="1" u="sng" dirty="0">
                <a:solidFill>
                  <a:prstClr val="black"/>
                </a:solidFill>
                <a:ea typeface="ＭＳ Ｐゴシック" pitchFamily="34" charset="-128"/>
                <a:cs typeface="Arial" charset="0"/>
              </a:rPr>
              <a:t>Types</a:t>
            </a:r>
            <a:r>
              <a:rPr lang="en-US" sz="1400" b="1" dirty="0">
                <a:solidFill>
                  <a:prstClr val="black"/>
                </a:solidFill>
                <a:ea typeface="ＭＳ Ｐゴシック" pitchFamily="34" charset="-128"/>
                <a:cs typeface="Arial" charset="0"/>
              </a:rPr>
              <a:t>:  </a:t>
            </a:r>
            <a:r>
              <a:rPr lang="en-US" sz="1400" dirty="0">
                <a:solidFill>
                  <a:prstClr val="black"/>
                </a:solidFill>
                <a:ea typeface="ＭＳ Ｐゴシック" pitchFamily="34" charset="-128"/>
                <a:cs typeface="Arial" charset="0"/>
              </a:rPr>
              <a:t>All variables are of a defined type. The type can influence the area and performance</a:t>
            </a:r>
            <a:endParaRPr lang="en-US" sz="1400" b="1" dirty="0">
              <a:solidFill>
                <a:prstClr val="black"/>
              </a:solidFill>
              <a:ea typeface="ＭＳ Ｐゴシック" pitchFamily="34" charset="-128"/>
              <a:cs typeface="Arial" charset="0"/>
            </a:endParaRPr>
          </a:p>
        </p:txBody>
      </p:sp>
      <p:sp>
        <p:nvSpPr>
          <p:cNvPr id="21" name="TextBox 20"/>
          <p:cNvSpPr txBox="1"/>
          <p:nvPr/>
        </p:nvSpPr>
        <p:spPr>
          <a:xfrm>
            <a:off x="2205308" y="5817201"/>
            <a:ext cx="7781386" cy="338554"/>
          </a:xfrm>
          <a:prstGeom prst="rect">
            <a:avLst/>
          </a:prstGeom>
          <a:solidFill>
            <a:srgbClr val="FFFF99"/>
          </a:solidFill>
          <a:ln>
            <a:solidFill>
              <a:schemeClr val="tx1"/>
            </a:solidFill>
          </a:ln>
          <a:effectLst>
            <a:innerShdw blurRad="63500" dist="50800" dir="2700000">
              <a:prstClr val="black">
                <a:alpha val="50000"/>
              </a:prstClr>
            </a:innerShdw>
          </a:effectLst>
        </p:spPr>
        <p:txBody>
          <a:bodyPr wrap="square" rtlCol="0">
            <a:spAutoFit/>
          </a:bodyPr>
          <a:lstStyle/>
          <a:p>
            <a:pPr defTabSz="457200"/>
            <a:r>
              <a:rPr lang="en-US" sz="1600" b="1" dirty="0">
                <a:solidFill>
                  <a:prstClr val="black"/>
                </a:solidFill>
                <a:ea typeface="ＭＳ Ｐゴシック" pitchFamily="34" charset="-128"/>
                <a:cs typeface="Arial" charset="0"/>
              </a:rPr>
              <a:t>Let’s examine the default synthesis behavior of these …</a:t>
            </a:r>
          </a:p>
        </p:txBody>
      </p:sp>
      <p:sp>
        <p:nvSpPr>
          <p:cNvPr id="22" name="TextBox 21"/>
          <p:cNvSpPr txBox="1"/>
          <p:nvPr/>
        </p:nvSpPr>
        <p:spPr>
          <a:xfrm>
            <a:off x="5020941" y="2060870"/>
            <a:ext cx="6245586" cy="523220"/>
          </a:xfrm>
          <a:prstGeom prst="rect">
            <a:avLst/>
          </a:prstGeom>
          <a:noFill/>
        </p:spPr>
        <p:txBody>
          <a:bodyPr wrap="square" rtlCol="0">
            <a:spAutoFit/>
          </a:bodyPr>
          <a:lstStyle/>
          <a:p>
            <a:pPr defTabSz="457200"/>
            <a:r>
              <a:rPr lang="en-US" sz="1400" b="1" u="sng" dirty="0">
                <a:solidFill>
                  <a:prstClr val="black"/>
                </a:solidFill>
                <a:ea typeface="ＭＳ Ｐゴシック" pitchFamily="34" charset="-128"/>
                <a:cs typeface="Arial" charset="0"/>
              </a:rPr>
              <a:t>Top Level IO </a:t>
            </a:r>
            <a:r>
              <a:rPr lang="en-US" sz="1400" b="1" dirty="0">
                <a:solidFill>
                  <a:prstClr val="black"/>
                </a:solidFill>
                <a:ea typeface="ＭＳ Ｐゴシック" pitchFamily="34" charset="-128"/>
                <a:cs typeface="Arial" charset="0"/>
              </a:rPr>
              <a:t>:  </a:t>
            </a:r>
            <a:r>
              <a:rPr lang="en-US" sz="1400" dirty="0">
                <a:solidFill>
                  <a:prstClr val="black"/>
                </a:solidFill>
                <a:ea typeface="ＭＳ Ｐゴシック" pitchFamily="34" charset="-128"/>
                <a:cs typeface="Arial" charset="0"/>
              </a:rPr>
              <a:t>The arguments of the top-level function determine the hardware RTL interface ports</a:t>
            </a:r>
            <a:endParaRPr lang="en-US" sz="1400" b="1" dirty="0">
              <a:solidFill>
                <a:prstClr val="black"/>
              </a:solidFill>
              <a:ea typeface="ＭＳ Ｐゴシック" pitchFamily="34" charset="-128"/>
              <a:cs typeface="Arial" charset="0"/>
            </a:endParaRPr>
          </a:p>
        </p:txBody>
      </p:sp>
      <p:sp>
        <p:nvSpPr>
          <p:cNvPr id="24" name="TextBox 23">
            <a:extLst>
              <a:ext uri="{FF2B5EF4-FFF2-40B4-BE49-F238E27FC236}">
                <a16:creationId xmlns:a16="http://schemas.microsoft.com/office/drawing/2014/main" id="{465CD51B-E9B5-4614-BF39-A70D6D44B432}"/>
              </a:ext>
            </a:extLst>
          </p:cNvPr>
          <p:cNvSpPr txBox="1"/>
          <p:nvPr/>
        </p:nvSpPr>
        <p:spPr>
          <a:xfrm>
            <a:off x="259963" y="1700782"/>
            <a:ext cx="3799277" cy="3477875"/>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p:spPr>
        <p:txBody>
          <a:bodyPr wrap="square" rtlCol="0">
            <a:spAutoFit/>
          </a:bodyPr>
          <a:lstStyle/>
          <a:p>
            <a:pPr marL="57150" defTabSz="457200" fontAlgn="base">
              <a:spcBef>
                <a:spcPct val="0"/>
              </a:spcBef>
              <a:spcAft>
                <a:spcPct val="0"/>
              </a:spcAft>
              <a:defRPr/>
            </a:pPr>
            <a:r>
              <a:rPr lang="en-US" sz="1000" kern="0" dirty="0">
                <a:solidFill>
                  <a:prstClr val="black"/>
                </a:solidFill>
                <a:latin typeface="Arial"/>
              </a:rPr>
              <a:t>void </a:t>
            </a:r>
            <a:r>
              <a:rPr lang="en-US" sz="1000" b="1" kern="0" dirty="0">
                <a:solidFill>
                  <a:prstClr val="black"/>
                </a:solidFill>
                <a:latin typeface="Arial"/>
              </a:rPr>
              <a:t>fir</a:t>
            </a:r>
            <a:r>
              <a:rPr lang="en-US" sz="1000" kern="0" dirty="0">
                <a:solidFill>
                  <a:prstClr val="black"/>
                </a:solidFill>
                <a:latin typeface="Arial"/>
              </a:rPr>
              <a:t> (</a:t>
            </a:r>
          </a:p>
          <a:p>
            <a:pPr marL="57150" defTabSz="457200" fontAlgn="base">
              <a:spcBef>
                <a:spcPct val="0"/>
              </a:spcBef>
              <a:spcAft>
                <a:spcPct val="0"/>
              </a:spcAft>
              <a:defRPr/>
            </a:pPr>
            <a:r>
              <a:rPr lang="en-US" sz="1000" kern="0" dirty="0">
                <a:solidFill>
                  <a:prstClr val="black"/>
                </a:solidFill>
                <a:latin typeface="Arial"/>
              </a:rPr>
              <a:t>  </a:t>
            </a:r>
            <a:r>
              <a:rPr lang="en-US" sz="1000" kern="0" dirty="0" err="1">
                <a:solidFill>
                  <a:prstClr val="black"/>
                </a:solidFill>
                <a:latin typeface="Arial"/>
              </a:rPr>
              <a:t>data_t</a:t>
            </a:r>
            <a:r>
              <a:rPr lang="en-US" sz="1000" kern="0" dirty="0">
                <a:solidFill>
                  <a:prstClr val="black"/>
                </a:solidFill>
                <a:latin typeface="Arial"/>
              </a:rPr>
              <a:t> *y,</a:t>
            </a:r>
          </a:p>
          <a:p>
            <a:pPr marL="57150" defTabSz="457200" fontAlgn="base">
              <a:spcBef>
                <a:spcPct val="0"/>
              </a:spcBef>
              <a:spcAft>
                <a:spcPct val="0"/>
              </a:spcAft>
              <a:defRPr/>
            </a:pPr>
            <a:r>
              <a:rPr lang="en-US" sz="1000" kern="0" dirty="0">
                <a:solidFill>
                  <a:prstClr val="black"/>
                </a:solidFill>
                <a:latin typeface="Arial"/>
              </a:rPr>
              <a:t>  </a:t>
            </a:r>
            <a:r>
              <a:rPr lang="en-US" sz="1000" kern="0" dirty="0" err="1">
                <a:solidFill>
                  <a:prstClr val="black"/>
                </a:solidFill>
                <a:latin typeface="Arial"/>
              </a:rPr>
              <a:t>coef_t</a:t>
            </a:r>
            <a:r>
              <a:rPr lang="en-US" sz="1000" kern="0" dirty="0">
                <a:solidFill>
                  <a:prstClr val="black"/>
                </a:solidFill>
                <a:latin typeface="Arial"/>
              </a:rPr>
              <a:t> c[4],</a:t>
            </a:r>
          </a:p>
          <a:p>
            <a:pPr marL="57150" defTabSz="457200" fontAlgn="base">
              <a:spcBef>
                <a:spcPct val="0"/>
              </a:spcBef>
              <a:spcAft>
                <a:spcPct val="0"/>
              </a:spcAft>
              <a:defRPr/>
            </a:pPr>
            <a:r>
              <a:rPr lang="en-US" sz="1000" kern="0" dirty="0">
                <a:solidFill>
                  <a:prstClr val="black"/>
                </a:solidFill>
                <a:latin typeface="Arial"/>
              </a:rPr>
              <a:t>  </a:t>
            </a:r>
            <a:r>
              <a:rPr lang="en-US" sz="1000" kern="0" dirty="0" err="1">
                <a:solidFill>
                  <a:prstClr val="black"/>
                </a:solidFill>
                <a:latin typeface="Arial"/>
              </a:rPr>
              <a:t>data_t</a:t>
            </a:r>
            <a:r>
              <a:rPr lang="en-US" sz="1000" kern="0" dirty="0">
                <a:solidFill>
                  <a:prstClr val="black"/>
                </a:solidFill>
                <a:latin typeface="Arial"/>
              </a:rPr>
              <a:t> x</a:t>
            </a:r>
          </a:p>
          <a:p>
            <a:pPr marL="57150" defTabSz="457200" fontAlgn="base">
              <a:spcBef>
                <a:spcPct val="0"/>
              </a:spcBef>
              <a:spcAft>
                <a:spcPct val="0"/>
              </a:spcAft>
              <a:defRPr/>
            </a:pPr>
            <a:r>
              <a:rPr lang="en-US" sz="1000" kern="0" dirty="0">
                <a:solidFill>
                  <a:prstClr val="black"/>
                </a:solidFill>
                <a:latin typeface="Arial"/>
              </a:rPr>
              <a:t>  ) {</a:t>
            </a:r>
          </a:p>
          <a:p>
            <a:pPr marL="57150" defTabSz="457200" fontAlgn="base">
              <a:spcBef>
                <a:spcPct val="0"/>
              </a:spcBef>
              <a:spcAft>
                <a:spcPct val="0"/>
              </a:spcAft>
              <a:defRPr/>
            </a:pPr>
            <a:endParaRPr lang="en-US" sz="1000" kern="0" dirty="0">
              <a:solidFill>
                <a:prstClr val="black"/>
              </a:solidFill>
              <a:latin typeface="Arial"/>
            </a:endParaRPr>
          </a:p>
          <a:p>
            <a:pPr marL="57150" defTabSz="457200" fontAlgn="base">
              <a:spcBef>
                <a:spcPct val="0"/>
              </a:spcBef>
              <a:spcAft>
                <a:spcPct val="0"/>
              </a:spcAft>
              <a:defRPr/>
            </a:pPr>
            <a:r>
              <a:rPr lang="en-US" sz="1000" kern="0" dirty="0">
                <a:solidFill>
                  <a:prstClr val="black"/>
                </a:solidFill>
                <a:latin typeface="Arial"/>
              </a:rPr>
              <a:t>  static </a:t>
            </a:r>
            <a:r>
              <a:rPr lang="en-US" sz="1000" kern="0" dirty="0" err="1">
                <a:solidFill>
                  <a:prstClr val="black"/>
                </a:solidFill>
                <a:latin typeface="Arial"/>
              </a:rPr>
              <a:t>data_t</a:t>
            </a:r>
            <a:r>
              <a:rPr lang="en-US" sz="1000" kern="0" dirty="0">
                <a:solidFill>
                  <a:prstClr val="black"/>
                </a:solidFill>
                <a:latin typeface="Arial"/>
              </a:rPr>
              <a:t> </a:t>
            </a:r>
            <a:r>
              <a:rPr lang="en-US" sz="1000" kern="0" dirty="0" err="1">
                <a:solidFill>
                  <a:prstClr val="black"/>
                </a:solidFill>
                <a:latin typeface="Arial"/>
              </a:rPr>
              <a:t>shift_reg</a:t>
            </a:r>
            <a:r>
              <a:rPr lang="en-US" sz="1000" kern="0" dirty="0">
                <a:solidFill>
                  <a:prstClr val="black"/>
                </a:solidFill>
                <a:latin typeface="Arial"/>
              </a:rPr>
              <a:t>[4];</a:t>
            </a:r>
          </a:p>
          <a:p>
            <a:pPr marL="57150" defTabSz="457200" fontAlgn="base">
              <a:spcBef>
                <a:spcPct val="0"/>
              </a:spcBef>
              <a:spcAft>
                <a:spcPct val="0"/>
              </a:spcAft>
              <a:defRPr/>
            </a:pPr>
            <a:r>
              <a:rPr lang="en-US" sz="1000" kern="0" dirty="0">
                <a:solidFill>
                  <a:prstClr val="black"/>
                </a:solidFill>
                <a:latin typeface="Arial"/>
              </a:rPr>
              <a:t>  </a:t>
            </a:r>
            <a:r>
              <a:rPr lang="en-US" sz="1000" kern="0" dirty="0" err="1">
                <a:solidFill>
                  <a:prstClr val="black"/>
                </a:solidFill>
                <a:latin typeface="Arial"/>
              </a:rPr>
              <a:t>acc_t</a:t>
            </a:r>
            <a:r>
              <a:rPr lang="en-US" sz="1000" kern="0" dirty="0">
                <a:solidFill>
                  <a:prstClr val="black"/>
                </a:solidFill>
                <a:latin typeface="Arial"/>
              </a:rPr>
              <a:t> acc;</a:t>
            </a:r>
          </a:p>
          <a:p>
            <a:pPr marL="57150" defTabSz="457200" fontAlgn="base">
              <a:spcBef>
                <a:spcPct val="0"/>
              </a:spcBef>
              <a:spcAft>
                <a:spcPct val="0"/>
              </a:spcAft>
              <a:defRPr/>
            </a:pPr>
            <a:r>
              <a:rPr lang="en-US" sz="1000" kern="0" dirty="0">
                <a:solidFill>
                  <a:prstClr val="black"/>
                </a:solidFill>
                <a:latin typeface="Arial"/>
              </a:rPr>
              <a:t>  </a:t>
            </a:r>
            <a:r>
              <a:rPr lang="en-US" sz="1000" b="1" kern="0" dirty="0" err="1">
                <a:solidFill>
                  <a:prstClr val="black"/>
                </a:solidFill>
                <a:latin typeface="Arial"/>
              </a:rPr>
              <a:t>int</a:t>
            </a:r>
            <a:r>
              <a:rPr lang="en-US" sz="1000" kern="0" dirty="0">
                <a:solidFill>
                  <a:prstClr val="black"/>
                </a:solidFill>
                <a:latin typeface="Arial"/>
              </a:rPr>
              <a:t> </a:t>
            </a:r>
            <a:r>
              <a:rPr lang="en-US" sz="1000" kern="0" dirty="0" err="1">
                <a:solidFill>
                  <a:prstClr val="black"/>
                </a:solidFill>
                <a:latin typeface="Arial"/>
              </a:rPr>
              <a:t>i</a:t>
            </a:r>
            <a:r>
              <a:rPr lang="en-US" sz="1000" kern="0" dirty="0">
                <a:solidFill>
                  <a:prstClr val="black"/>
                </a:solidFill>
                <a:latin typeface="Arial"/>
              </a:rPr>
              <a:t>;</a:t>
            </a:r>
          </a:p>
          <a:p>
            <a:pPr marL="57150" defTabSz="457200" fontAlgn="base">
              <a:spcBef>
                <a:spcPct val="0"/>
              </a:spcBef>
              <a:spcAft>
                <a:spcPct val="0"/>
              </a:spcAft>
              <a:defRPr/>
            </a:pPr>
            <a:r>
              <a:rPr lang="en-US" sz="1000" kern="0" dirty="0">
                <a:solidFill>
                  <a:prstClr val="black"/>
                </a:solidFill>
                <a:latin typeface="Arial"/>
              </a:rPr>
              <a:t>  </a:t>
            </a:r>
          </a:p>
          <a:p>
            <a:pPr marL="57150" defTabSz="457200" fontAlgn="base">
              <a:spcBef>
                <a:spcPct val="0"/>
              </a:spcBef>
              <a:spcAft>
                <a:spcPct val="0"/>
              </a:spcAft>
              <a:defRPr/>
            </a:pPr>
            <a:r>
              <a:rPr lang="en-US" sz="1000" kern="0" dirty="0">
                <a:solidFill>
                  <a:prstClr val="black"/>
                </a:solidFill>
                <a:latin typeface="Arial"/>
              </a:rPr>
              <a:t>  acc=0;</a:t>
            </a:r>
          </a:p>
          <a:p>
            <a:pPr marL="57150" defTabSz="457200" fontAlgn="base">
              <a:spcBef>
                <a:spcPct val="0"/>
              </a:spcBef>
              <a:spcAft>
                <a:spcPct val="0"/>
              </a:spcAft>
              <a:defRPr/>
            </a:pPr>
            <a:r>
              <a:rPr lang="en-US" sz="1000" kern="0" dirty="0">
                <a:solidFill>
                  <a:prstClr val="black"/>
                </a:solidFill>
                <a:latin typeface="Arial"/>
              </a:rPr>
              <a:t>  loop: </a:t>
            </a:r>
            <a:r>
              <a:rPr lang="en-US" sz="1000" b="1" kern="0" dirty="0">
                <a:solidFill>
                  <a:prstClr val="black"/>
                </a:solidFill>
                <a:latin typeface="Arial"/>
              </a:rPr>
              <a:t>for</a:t>
            </a:r>
            <a:r>
              <a:rPr lang="en-US" sz="1000" kern="0" dirty="0">
                <a:solidFill>
                  <a:prstClr val="black"/>
                </a:solidFill>
                <a:latin typeface="Arial"/>
              </a:rPr>
              <a:t> (</a:t>
            </a:r>
            <a:r>
              <a:rPr lang="en-US" sz="1000" kern="0" dirty="0" err="1">
                <a:solidFill>
                  <a:prstClr val="black"/>
                </a:solidFill>
                <a:latin typeface="Arial"/>
              </a:rPr>
              <a:t>i</a:t>
            </a:r>
            <a:r>
              <a:rPr lang="en-US" sz="1000" kern="0" dirty="0">
                <a:solidFill>
                  <a:prstClr val="black"/>
                </a:solidFill>
                <a:latin typeface="Arial"/>
              </a:rPr>
              <a:t>=3;i&gt;=0;i--) {</a:t>
            </a:r>
          </a:p>
          <a:p>
            <a:pPr marL="57150" defTabSz="457200" fontAlgn="base">
              <a:spcBef>
                <a:spcPct val="0"/>
              </a:spcBef>
              <a:spcAft>
                <a:spcPct val="0"/>
              </a:spcAft>
              <a:defRPr/>
            </a:pPr>
            <a:r>
              <a:rPr lang="en-US" sz="1000" kern="0" dirty="0">
                <a:solidFill>
                  <a:prstClr val="black"/>
                </a:solidFill>
                <a:latin typeface="Arial"/>
              </a:rPr>
              <a:t>     if (</a:t>
            </a:r>
            <a:r>
              <a:rPr lang="en-US" sz="1000" kern="0" dirty="0" err="1">
                <a:solidFill>
                  <a:prstClr val="black"/>
                </a:solidFill>
                <a:latin typeface="Arial"/>
              </a:rPr>
              <a:t>i</a:t>
            </a:r>
            <a:r>
              <a:rPr lang="en-US" sz="1000" kern="0" dirty="0">
                <a:solidFill>
                  <a:prstClr val="black"/>
                </a:solidFill>
                <a:latin typeface="Arial"/>
              </a:rPr>
              <a:t>==0) {</a:t>
            </a:r>
          </a:p>
          <a:p>
            <a:pPr marL="57150" defTabSz="457200" fontAlgn="base">
              <a:spcBef>
                <a:spcPct val="0"/>
              </a:spcBef>
              <a:spcAft>
                <a:spcPct val="0"/>
              </a:spcAft>
              <a:defRPr/>
            </a:pPr>
            <a:r>
              <a:rPr lang="en-US" sz="1000" kern="0" dirty="0">
                <a:solidFill>
                  <a:prstClr val="black"/>
                </a:solidFill>
                <a:latin typeface="Arial"/>
              </a:rPr>
              <a:t>       acc+=x*c[0];</a:t>
            </a:r>
          </a:p>
          <a:p>
            <a:pPr marL="57150" defTabSz="457200" fontAlgn="base">
              <a:spcBef>
                <a:spcPct val="0"/>
              </a:spcBef>
              <a:spcAft>
                <a:spcPct val="0"/>
              </a:spcAft>
              <a:defRPr/>
            </a:pPr>
            <a:r>
              <a:rPr lang="en-US" sz="1000" kern="0" dirty="0">
                <a:solidFill>
                  <a:prstClr val="black"/>
                </a:solidFill>
                <a:latin typeface="Arial"/>
              </a:rPr>
              <a:t>       </a:t>
            </a:r>
            <a:r>
              <a:rPr lang="en-US" sz="1000" b="1" kern="0" dirty="0" err="1">
                <a:solidFill>
                  <a:prstClr val="black"/>
                </a:solidFill>
                <a:latin typeface="Arial"/>
              </a:rPr>
              <a:t>shift_reg</a:t>
            </a:r>
            <a:r>
              <a:rPr lang="en-US" sz="1000" b="1" kern="0" dirty="0">
                <a:solidFill>
                  <a:prstClr val="black"/>
                </a:solidFill>
                <a:latin typeface="Arial"/>
              </a:rPr>
              <a:t>[0</a:t>
            </a:r>
            <a:r>
              <a:rPr lang="en-US" sz="1000" kern="0" dirty="0">
                <a:solidFill>
                  <a:prstClr val="black"/>
                </a:solidFill>
                <a:latin typeface="Arial"/>
              </a:rPr>
              <a:t>]=x;</a:t>
            </a:r>
          </a:p>
          <a:p>
            <a:pPr marL="57150" defTabSz="457200" fontAlgn="base">
              <a:spcBef>
                <a:spcPct val="0"/>
              </a:spcBef>
              <a:spcAft>
                <a:spcPct val="0"/>
              </a:spcAft>
              <a:defRPr/>
            </a:pPr>
            <a:r>
              <a:rPr lang="en-US" sz="1000" kern="0" dirty="0">
                <a:solidFill>
                  <a:prstClr val="black"/>
                </a:solidFill>
                <a:latin typeface="Arial"/>
              </a:rPr>
              <a:t>     } else {</a:t>
            </a:r>
          </a:p>
          <a:p>
            <a:pPr marL="57150" defTabSz="457200" fontAlgn="base">
              <a:spcBef>
                <a:spcPct val="0"/>
              </a:spcBef>
              <a:spcAft>
                <a:spcPct val="0"/>
              </a:spcAft>
              <a:defRPr/>
            </a:pPr>
            <a:r>
              <a:rPr lang="en-US" sz="1000" kern="0" dirty="0">
                <a:solidFill>
                  <a:prstClr val="black"/>
                </a:solidFill>
                <a:latin typeface="Arial"/>
              </a:rPr>
              <a:t>       </a:t>
            </a:r>
            <a:r>
              <a:rPr lang="en-US" sz="1000" kern="0" dirty="0" err="1">
                <a:solidFill>
                  <a:prstClr val="black"/>
                </a:solidFill>
                <a:latin typeface="Arial"/>
              </a:rPr>
              <a:t>shift_reg</a:t>
            </a:r>
            <a:r>
              <a:rPr lang="en-US" sz="1000" kern="0" dirty="0">
                <a:solidFill>
                  <a:prstClr val="black"/>
                </a:solidFill>
                <a:latin typeface="Arial"/>
              </a:rPr>
              <a:t>[</a:t>
            </a:r>
            <a:r>
              <a:rPr lang="en-US" sz="1000" kern="0" dirty="0" err="1">
                <a:solidFill>
                  <a:prstClr val="black"/>
                </a:solidFill>
                <a:latin typeface="Arial"/>
              </a:rPr>
              <a:t>i</a:t>
            </a:r>
            <a:r>
              <a:rPr lang="en-US" sz="1000" kern="0" dirty="0">
                <a:solidFill>
                  <a:prstClr val="black"/>
                </a:solidFill>
                <a:latin typeface="Arial"/>
              </a:rPr>
              <a:t>]=</a:t>
            </a:r>
            <a:r>
              <a:rPr lang="en-US" sz="1000" kern="0" dirty="0" err="1">
                <a:solidFill>
                  <a:prstClr val="black"/>
                </a:solidFill>
                <a:latin typeface="Arial"/>
              </a:rPr>
              <a:t>shift_reg</a:t>
            </a:r>
            <a:r>
              <a:rPr lang="en-US" sz="1000" kern="0" dirty="0">
                <a:solidFill>
                  <a:prstClr val="black"/>
                </a:solidFill>
                <a:latin typeface="Arial"/>
              </a:rPr>
              <a:t>[i-1];  </a:t>
            </a:r>
          </a:p>
          <a:p>
            <a:pPr marL="57150" defTabSz="457200" fontAlgn="base">
              <a:spcBef>
                <a:spcPct val="0"/>
              </a:spcBef>
              <a:spcAft>
                <a:spcPct val="0"/>
              </a:spcAft>
              <a:defRPr/>
            </a:pPr>
            <a:r>
              <a:rPr lang="en-US" sz="1000" kern="0" dirty="0">
                <a:solidFill>
                  <a:prstClr val="black"/>
                </a:solidFill>
                <a:latin typeface="Arial"/>
              </a:rPr>
              <a:t>       acc+=</a:t>
            </a:r>
            <a:r>
              <a:rPr lang="en-US" sz="1000" kern="0" dirty="0" err="1">
                <a:solidFill>
                  <a:prstClr val="black"/>
                </a:solidFill>
                <a:latin typeface="Arial"/>
              </a:rPr>
              <a:t>shift_reg</a:t>
            </a:r>
            <a:r>
              <a:rPr lang="en-US" sz="1000" kern="0" dirty="0">
                <a:solidFill>
                  <a:prstClr val="black"/>
                </a:solidFill>
                <a:latin typeface="Arial"/>
              </a:rPr>
              <a:t>[</a:t>
            </a:r>
            <a:r>
              <a:rPr lang="en-US" sz="1000" kern="0" dirty="0" err="1">
                <a:solidFill>
                  <a:prstClr val="black"/>
                </a:solidFill>
                <a:latin typeface="Arial"/>
              </a:rPr>
              <a:t>i</a:t>
            </a:r>
            <a:r>
              <a:rPr lang="en-US" sz="1000" kern="0" dirty="0">
                <a:solidFill>
                  <a:prstClr val="black"/>
                </a:solidFill>
                <a:latin typeface="Arial"/>
              </a:rPr>
              <a:t>]  </a:t>
            </a:r>
            <a:r>
              <a:rPr lang="en-US" sz="1000" b="1" kern="0" dirty="0">
                <a:solidFill>
                  <a:prstClr val="black"/>
                </a:solidFill>
                <a:latin typeface="Arial"/>
              </a:rPr>
              <a:t>*   </a:t>
            </a:r>
            <a:r>
              <a:rPr lang="en-US" sz="1000" kern="0" dirty="0">
                <a:solidFill>
                  <a:prstClr val="black"/>
                </a:solidFill>
                <a:latin typeface="Arial"/>
              </a:rPr>
              <a:t>c[</a:t>
            </a:r>
            <a:r>
              <a:rPr lang="en-US" sz="1000" kern="0" dirty="0" err="1">
                <a:solidFill>
                  <a:prstClr val="black"/>
                </a:solidFill>
                <a:latin typeface="Arial"/>
              </a:rPr>
              <a:t>i</a:t>
            </a:r>
            <a:r>
              <a:rPr lang="en-US" sz="1000" kern="0" dirty="0">
                <a:solidFill>
                  <a:prstClr val="black"/>
                </a:solidFill>
                <a:latin typeface="Arial"/>
              </a:rPr>
              <a:t>];</a:t>
            </a:r>
          </a:p>
          <a:p>
            <a:pPr marL="57150" defTabSz="457200" fontAlgn="base">
              <a:spcBef>
                <a:spcPct val="0"/>
              </a:spcBef>
              <a:spcAft>
                <a:spcPct val="0"/>
              </a:spcAft>
              <a:defRPr/>
            </a:pPr>
            <a:r>
              <a:rPr lang="en-US" sz="1000" kern="0" dirty="0">
                <a:solidFill>
                  <a:prstClr val="black"/>
                </a:solidFill>
                <a:latin typeface="Arial"/>
              </a:rPr>
              <a:t>}</a:t>
            </a:r>
          </a:p>
          <a:p>
            <a:pPr marL="57150" defTabSz="457200" fontAlgn="base">
              <a:spcBef>
                <a:spcPct val="0"/>
              </a:spcBef>
              <a:spcAft>
                <a:spcPct val="0"/>
              </a:spcAft>
              <a:defRPr/>
            </a:pPr>
            <a:r>
              <a:rPr lang="en-US" sz="1000" kern="0" dirty="0">
                <a:solidFill>
                  <a:prstClr val="black"/>
                </a:solidFill>
                <a:latin typeface="Arial"/>
              </a:rPr>
              <a:t>  }</a:t>
            </a:r>
          </a:p>
          <a:p>
            <a:pPr marL="57150" defTabSz="457200" fontAlgn="base">
              <a:spcBef>
                <a:spcPct val="0"/>
              </a:spcBef>
              <a:spcAft>
                <a:spcPct val="0"/>
              </a:spcAft>
              <a:defRPr/>
            </a:pPr>
            <a:r>
              <a:rPr lang="en-US" sz="1000" kern="0" dirty="0">
                <a:solidFill>
                  <a:prstClr val="black"/>
                </a:solidFill>
                <a:latin typeface="Arial"/>
              </a:rPr>
              <a:t>  *y=acc;</a:t>
            </a:r>
          </a:p>
          <a:p>
            <a:pPr marL="57150" defTabSz="457200" fontAlgn="base">
              <a:spcBef>
                <a:spcPct val="0"/>
              </a:spcBef>
              <a:spcAft>
                <a:spcPct val="0"/>
              </a:spcAft>
              <a:defRPr/>
            </a:pPr>
            <a:r>
              <a:rPr lang="en-US" sz="1000" kern="0" dirty="0">
                <a:solidFill>
                  <a:prstClr val="black"/>
                </a:solidFill>
                <a:latin typeface="Arial"/>
              </a:rPr>
              <a:t>}</a:t>
            </a:r>
          </a:p>
        </p:txBody>
      </p:sp>
      <p:sp>
        <p:nvSpPr>
          <p:cNvPr id="25" name="Rounded Rectangle 70">
            <a:extLst>
              <a:ext uri="{FF2B5EF4-FFF2-40B4-BE49-F238E27FC236}">
                <a16:creationId xmlns:a16="http://schemas.microsoft.com/office/drawing/2014/main" id="{CEE1C25E-2DEC-43CF-9474-3B1AF1E5C86C}"/>
              </a:ext>
            </a:extLst>
          </p:cNvPr>
          <p:cNvSpPr/>
          <p:nvPr/>
        </p:nvSpPr>
        <p:spPr>
          <a:xfrm>
            <a:off x="311155" y="1700777"/>
            <a:ext cx="819093" cy="192025"/>
          </a:xfrm>
          <a:prstGeom prst="roundRect">
            <a:avLst/>
          </a:prstGeom>
          <a:noFill/>
          <a:ln w="28575" cap="flat" cmpd="sng" algn="ctr">
            <a:solidFill>
              <a:srgbClr val="FF0000"/>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endParaRPr lang="en-US" kern="0">
              <a:solidFill>
                <a:prstClr val="white"/>
              </a:solidFill>
              <a:latin typeface="Arial"/>
            </a:endParaRPr>
          </a:p>
        </p:txBody>
      </p:sp>
      <p:sp>
        <p:nvSpPr>
          <p:cNvPr id="26" name="Rounded Rectangle 74">
            <a:extLst>
              <a:ext uri="{FF2B5EF4-FFF2-40B4-BE49-F238E27FC236}">
                <a16:creationId xmlns:a16="http://schemas.microsoft.com/office/drawing/2014/main" id="{71677D69-54FF-4B50-A367-7431BD23ED4F}"/>
              </a:ext>
            </a:extLst>
          </p:cNvPr>
          <p:cNvSpPr/>
          <p:nvPr/>
        </p:nvSpPr>
        <p:spPr>
          <a:xfrm>
            <a:off x="770715" y="3361721"/>
            <a:ext cx="914400" cy="268835"/>
          </a:xfrm>
          <a:prstGeom prst="roundRect">
            <a:avLst/>
          </a:prstGeom>
          <a:noFill/>
          <a:ln w="28575" cap="flat" cmpd="sng" algn="ctr">
            <a:solidFill>
              <a:srgbClr val="FF0000"/>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endParaRPr lang="en-US" kern="0">
              <a:solidFill>
                <a:prstClr val="white"/>
              </a:solidFill>
              <a:latin typeface="Arial"/>
            </a:endParaRPr>
          </a:p>
        </p:txBody>
      </p:sp>
      <p:sp>
        <p:nvSpPr>
          <p:cNvPr id="27" name="Rounded Rectangle 77">
            <a:extLst>
              <a:ext uri="{FF2B5EF4-FFF2-40B4-BE49-F238E27FC236}">
                <a16:creationId xmlns:a16="http://schemas.microsoft.com/office/drawing/2014/main" id="{3C7CC6AA-1E89-436C-86EE-0C0B55B246D8}"/>
              </a:ext>
            </a:extLst>
          </p:cNvPr>
          <p:cNvSpPr/>
          <p:nvPr/>
        </p:nvSpPr>
        <p:spPr>
          <a:xfrm>
            <a:off x="618436" y="3860679"/>
            <a:ext cx="972673" cy="182880"/>
          </a:xfrm>
          <a:prstGeom prst="roundRect">
            <a:avLst/>
          </a:prstGeom>
          <a:noFill/>
          <a:ln w="28575" cap="flat" cmpd="sng" algn="ctr">
            <a:solidFill>
              <a:srgbClr val="FF0000"/>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endParaRPr lang="en-US" kern="0">
              <a:solidFill>
                <a:prstClr val="white"/>
              </a:solidFill>
              <a:latin typeface="Arial"/>
            </a:endParaRPr>
          </a:p>
        </p:txBody>
      </p:sp>
      <p:sp>
        <p:nvSpPr>
          <p:cNvPr id="28" name="Rounded Rectangle 81">
            <a:extLst>
              <a:ext uri="{FF2B5EF4-FFF2-40B4-BE49-F238E27FC236}">
                <a16:creationId xmlns:a16="http://schemas.microsoft.com/office/drawing/2014/main" id="{226FC528-F57C-4AB2-B5A3-51C9E7BDF49F}"/>
              </a:ext>
            </a:extLst>
          </p:cNvPr>
          <p:cNvSpPr/>
          <p:nvPr/>
        </p:nvSpPr>
        <p:spPr>
          <a:xfrm>
            <a:off x="1736225" y="4331229"/>
            <a:ext cx="409547" cy="182880"/>
          </a:xfrm>
          <a:prstGeom prst="roundRect">
            <a:avLst/>
          </a:prstGeom>
          <a:noFill/>
          <a:ln w="28575" cap="flat" cmpd="sng" algn="ctr">
            <a:solidFill>
              <a:srgbClr val="FF0000"/>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endParaRPr lang="en-US" kern="0">
              <a:solidFill>
                <a:prstClr val="white"/>
              </a:solidFill>
              <a:latin typeface="Arial"/>
            </a:endParaRPr>
          </a:p>
        </p:txBody>
      </p:sp>
      <p:sp>
        <p:nvSpPr>
          <p:cNvPr id="29" name="Rounded Rectangle 84">
            <a:extLst>
              <a:ext uri="{FF2B5EF4-FFF2-40B4-BE49-F238E27FC236}">
                <a16:creationId xmlns:a16="http://schemas.microsoft.com/office/drawing/2014/main" id="{88EE6AB9-6BB2-4258-9950-BAF1E5419642}"/>
              </a:ext>
            </a:extLst>
          </p:cNvPr>
          <p:cNvSpPr/>
          <p:nvPr/>
        </p:nvSpPr>
        <p:spPr>
          <a:xfrm>
            <a:off x="362349" y="2968324"/>
            <a:ext cx="615948" cy="192025"/>
          </a:xfrm>
          <a:prstGeom prst="roundRect">
            <a:avLst/>
          </a:prstGeom>
          <a:noFill/>
          <a:ln w="28575" cap="flat" cmpd="sng" algn="ctr">
            <a:solidFill>
              <a:srgbClr val="FF0000"/>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endParaRPr lang="en-US" kern="0">
              <a:solidFill>
                <a:prstClr val="white"/>
              </a:solidFill>
              <a:latin typeface="Arial"/>
            </a:endParaRPr>
          </a:p>
        </p:txBody>
      </p:sp>
      <p:sp>
        <p:nvSpPr>
          <p:cNvPr id="30" name="Rounded Rectangle 22">
            <a:extLst>
              <a:ext uri="{FF2B5EF4-FFF2-40B4-BE49-F238E27FC236}">
                <a16:creationId xmlns:a16="http://schemas.microsoft.com/office/drawing/2014/main" id="{8E786654-BC46-4921-A213-964FAB8D3D99}"/>
              </a:ext>
            </a:extLst>
          </p:cNvPr>
          <p:cNvSpPr/>
          <p:nvPr/>
        </p:nvSpPr>
        <p:spPr>
          <a:xfrm>
            <a:off x="413662" y="1892800"/>
            <a:ext cx="972673" cy="460860"/>
          </a:xfrm>
          <a:prstGeom prst="roundRect">
            <a:avLst/>
          </a:prstGeom>
          <a:noFill/>
          <a:ln w="28575" cap="flat" cmpd="sng" algn="ctr">
            <a:solidFill>
              <a:srgbClr val="FF0000"/>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endParaRPr lang="en-US" kern="0">
              <a:solidFill>
                <a:prstClr val="white"/>
              </a:solidFill>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500"/>
                                        <p:tgtEl>
                                          <p:spTgt spid="21"/>
                                        </p:tgtEl>
                                      </p:cBhvr>
                                    </p:animEffect>
                                  </p:childTnLst>
                                </p:cTn>
                              </p:par>
                            </p:childTnLst>
                          </p:cTn>
                        </p:par>
                        <p:par>
                          <p:cTn id="8" fill="hold">
                            <p:stCondLst>
                              <p:cond delay="500"/>
                            </p:stCondLst>
                            <p:childTnLst>
                              <p:par>
                                <p:cTn id="9" presetID="12" presetClass="entr" presetSubtype="8" fill="hold" grpId="0" nodeType="afterEffect">
                                  <p:stCondLst>
                                    <p:cond delay="1500"/>
                                  </p:stCondLst>
                                  <p:childTnLst>
                                    <p:set>
                                      <p:cBhvr>
                                        <p:cTn id="10" dur="1" fill="hold">
                                          <p:stCondLst>
                                            <p:cond delay="0"/>
                                          </p:stCondLst>
                                        </p:cTn>
                                        <p:tgtEl>
                                          <p:spTgt spid="25"/>
                                        </p:tgtEl>
                                        <p:attrNameLst>
                                          <p:attrName>style.visibility</p:attrName>
                                        </p:attrNameLst>
                                      </p:cBhvr>
                                      <p:to>
                                        <p:strVal val="visible"/>
                                      </p:to>
                                    </p:set>
                                    <p:animEffect transition="in" filter="slide(fromLeft)">
                                      <p:cBhvr>
                                        <p:cTn id="11" dur="500"/>
                                        <p:tgtEl>
                                          <p:spTgt spid="25"/>
                                        </p:tgtEl>
                                      </p:cBhvr>
                                    </p:animEffect>
                                  </p:childTnLst>
                                </p:cTn>
                              </p:par>
                            </p:childTnLst>
                          </p:cTn>
                        </p:par>
                        <p:par>
                          <p:cTn id="12" fill="hold">
                            <p:stCondLst>
                              <p:cond delay="2500"/>
                            </p:stCondLst>
                            <p:childTnLst>
                              <p:par>
                                <p:cTn id="13" presetID="12" presetClass="entr" presetSubtype="8" fill="hold" grpId="0" nodeType="after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slide(fromLeft)">
                                      <p:cBhvr>
                                        <p:cTn id="15" dur="500"/>
                                        <p:tgtEl>
                                          <p:spTgt spid="30"/>
                                        </p:tgtEl>
                                      </p:cBhvr>
                                    </p:animEffect>
                                  </p:childTnLst>
                                </p:cTn>
                              </p:par>
                            </p:childTnLst>
                          </p:cTn>
                        </p:par>
                        <p:par>
                          <p:cTn id="16" fill="hold">
                            <p:stCondLst>
                              <p:cond delay="3000"/>
                            </p:stCondLst>
                            <p:childTnLst>
                              <p:par>
                                <p:cTn id="17" presetID="12" presetClass="entr" presetSubtype="8" fill="hold" grpId="0" nodeType="after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slide(fromLeft)">
                                      <p:cBhvr>
                                        <p:cTn id="19" dur="500"/>
                                        <p:tgtEl>
                                          <p:spTgt spid="29"/>
                                        </p:tgtEl>
                                      </p:cBhvr>
                                    </p:animEffect>
                                  </p:childTnLst>
                                </p:cTn>
                              </p:par>
                            </p:childTnLst>
                          </p:cTn>
                        </p:par>
                        <p:par>
                          <p:cTn id="20" fill="hold">
                            <p:stCondLst>
                              <p:cond delay="3500"/>
                            </p:stCondLst>
                            <p:childTnLst>
                              <p:par>
                                <p:cTn id="21" presetID="12" presetClass="entr" presetSubtype="8" fill="hold" grpId="0" nodeType="after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slide(fromLeft)">
                                      <p:cBhvr>
                                        <p:cTn id="23" dur="500"/>
                                        <p:tgtEl>
                                          <p:spTgt spid="26"/>
                                        </p:tgtEl>
                                      </p:cBhvr>
                                    </p:animEffect>
                                  </p:childTnLst>
                                </p:cTn>
                              </p:par>
                            </p:childTnLst>
                          </p:cTn>
                        </p:par>
                        <p:par>
                          <p:cTn id="24" fill="hold">
                            <p:stCondLst>
                              <p:cond delay="4000"/>
                            </p:stCondLst>
                            <p:childTnLst>
                              <p:par>
                                <p:cTn id="25" presetID="12" presetClass="entr" presetSubtype="8" fill="hold" grpId="0" nodeType="after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slide(fromLeft)">
                                      <p:cBhvr>
                                        <p:cTn id="27" dur="500"/>
                                        <p:tgtEl>
                                          <p:spTgt spid="27"/>
                                        </p:tgtEl>
                                      </p:cBhvr>
                                    </p:animEffect>
                                  </p:childTnLst>
                                </p:cTn>
                              </p:par>
                            </p:childTnLst>
                          </p:cTn>
                        </p:par>
                        <p:par>
                          <p:cTn id="28" fill="hold">
                            <p:stCondLst>
                              <p:cond delay="4500"/>
                            </p:stCondLst>
                            <p:childTnLst>
                              <p:par>
                                <p:cTn id="29" presetID="12" presetClass="entr" presetSubtype="8" fill="hold" grpId="0" nodeType="after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slide(fromLeft)">
                                      <p:cBhvr>
                                        <p:cTn id="31"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5" grpId="0" animBg="1"/>
      <p:bldP spid="26" grpId="0" animBg="1"/>
      <p:bldP spid="27" grpId="0" animBg="1"/>
      <p:bldP spid="28" grpId="0" animBg="1"/>
      <p:bldP spid="29" grpId="0" animBg="1"/>
      <p:bldP spid="30"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Functions &amp; RTL Hierarchy</a:t>
            </a:r>
          </a:p>
        </p:txBody>
      </p:sp>
      <p:sp>
        <p:nvSpPr>
          <p:cNvPr id="3" name="Content Placeholder 2"/>
          <p:cNvSpPr>
            <a:spLocks noGrp="1"/>
          </p:cNvSpPr>
          <p:nvPr>
            <p:ph idx="1"/>
          </p:nvPr>
        </p:nvSpPr>
        <p:spPr>
          <a:xfrm>
            <a:off x="649119" y="1293700"/>
            <a:ext cx="10512862" cy="4759404"/>
          </a:xfrm>
        </p:spPr>
        <p:txBody>
          <a:bodyPr>
            <a:normAutofit fontScale="70000" lnSpcReduction="20000"/>
          </a:bodyPr>
          <a:lstStyle/>
          <a:p>
            <a:r>
              <a:rPr lang="en-US" sz="2600" dirty="0"/>
              <a:t>Each function is translated into an RTL block</a:t>
            </a:r>
          </a:p>
          <a:p>
            <a:pPr lvl="1"/>
            <a:r>
              <a:rPr lang="en-US" dirty="0"/>
              <a:t>Verilog module, VHDL entity</a:t>
            </a:r>
            <a:br>
              <a:rPr lang="en-US" dirty="0"/>
            </a:br>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buNone/>
            </a:pPr>
            <a:endParaRPr lang="en-US" sz="1200" dirty="0"/>
          </a:p>
          <a:p>
            <a:pPr lvl="1"/>
            <a:endParaRPr lang="en-US" dirty="0"/>
          </a:p>
          <a:p>
            <a:pPr lvl="1"/>
            <a:endParaRPr lang="en-US" dirty="0"/>
          </a:p>
          <a:p>
            <a:pPr lvl="1"/>
            <a:r>
              <a:rPr lang="en-US" dirty="0"/>
              <a:t>By default, each function is implemented using a common instance</a:t>
            </a:r>
          </a:p>
          <a:p>
            <a:pPr lvl="1"/>
            <a:r>
              <a:rPr lang="en-US" dirty="0"/>
              <a:t>Functions may be inlined to dissolve their hierarchy</a:t>
            </a:r>
          </a:p>
          <a:p>
            <a:pPr lvl="2"/>
            <a:r>
              <a:rPr lang="en-US" dirty="0"/>
              <a:t>Small functions may be automatically inlined</a:t>
            </a:r>
          </a:p>
        </p:txBody>
      </p:sp>
      <p:sp>
        <p:nvSpPr>
          <p:cNvPr id="4" name="Slide Number Placeholder 3"/>
          <p:cNvSpPr>
            <a:spLocks noGrp="1"/>
          </p:cNvSpPr>
          <p:nvPr>
            <p:ph type="sldNum" sz="quarter" idx="10"/>
          </p:nvPr>
        </p:nvSpPr>
        <p:spPr/>
        <p:txBody>
          <a:bodyPr/>
          <a:lstStyle/>
          <a:p>
            <a:pPr>
              <a:defRPr/>
            </a:pPr>
            <a:r>
              <a:rPr lang="en-US" dirty="0"/>
              <a:t>Intro to HLS 11- </a:t>
            </a:r>
            <a:fld id="{060BD193-E118-4B16-863C-C8C12C675E3E}" type="slidenum">
              <a:rPr lang="en-US" smtClean="0"/>
              <a:pPr>
                <a:defRPr/>
              </a:pPr>
              <a:t>20</a:t>
            </a:fld>
            <a:endParaRPr lang="en-US" dirty="0"/>
          </a:p>
        </p:txBody>
      </p:sp>
      <p:sp>
        <p:nvSpPr>
          <p:cNvPr id="29" name="Rectangle 28">
            <a:extLst>
              <a:ext uri="{FF2B5EF4-FFF2-40B4-BE49-F238E27FC236}">
                <a16:creationId xmlns:a16="http://schemas.microsoft.com/office/drawing/2014/main" id="{E59244E3-3D0B-4949-AF53-4332AFF42CB8}"/>
              </a:ext>
            </a:extLst>
          </p:cNvPr>
          <p:cNvSpPr/>
          <p:nvPr/>
        </p:nvSpPr>
        <p:spPr>
          <a:xfrm>
            <a:off x="6307671" y="2283772"/>
            <a:ext cx="5068140" cy="2189085"/>
          </a:xfrm>
          <a:prstGeom prst="rect">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p:spPr>
        <p:txBody>
          <a:bodyPr rtlCol="0" anchor="ctr"/>
          <a:lstStyle/>
          <a:p>
            <a:pPr algn="ctr" defTabSz="457200" fontAlgn="base">
              <a:spcBef>
                <a:spcPct val="0"/>
              </a:spcBef>
              <a:spcAft>
                <a:spcPct val="0"/>
              </a:spcAft>
              <a:defRPr/>
            </a:pPr>
            <a:endParaRPr lang="en-US" kern="0" dirty="0">
              <a:solidFill>
                <a:prstClr val="white"/>
              </a:solidFill>
              <a:latin typeface="Arial"/>
            </a:endParaRPr>
          </a:p>
        </p:txBody>
      </p:sp>
      <p:sp>
        <p:nvSpPr>
          <p:cNvPr id="30" name="Rectangle 29">
            <a:extLst>
              <a:ext uri="{FF2B5EF4-FFF2-40B4-BE49-F238E27FC236}">
                <a16:creationId xmlns:a16="http://schemas.microsoft.com/office/drawing/2014/main" id="{EBCDB43F-AC16-4F01-B657-0050237F2524}"/>
              </a:ext>
            </a:extLst>
          </p:cNvPr>
          <p:cNvSpPr/>
          <p:nvPr/>
        </p:nvSpPr>
        <p:spPr>
          <a:xfrm>
            <a:off x="6570741" y="2840629"/>
            <a:ext cx="1511830" cy="902518"/>
          </a:xfrm>
          <a:prstGeom prst="rect">
            <a:avLst/>
          </a:prstGeom>
          <a:gradFill rotWithShape="1">
            <a:gsLst>
              <a:gs pos="0">
                <a:srgbClr val="D9DA56">
                  <a:shade val="51000"/>
                  <a:satMod val="130000"/>
                </a:srgbClr>
              </a:gs>
              <a:gs pos="80000">
                <a:srgbClr val="D9DA56">
                  <a:shade val="93000"/>
                  <a:satMod val="130000"/>
                </a:srgbClr>
              </a:gs>
              <a:gs pos="100000">
                <a:srgbClr val="D9DA56">
                  <a:shade val="94000"/>
                  <a:satMod val="135000"/>
                </a:srgbClr>
              </a:gs>
            </a:gsLst>
            <a:lin ang="16200000" scaled="0"/>
          </a:gradFill>
          <a:ln w="9525" cap="flat" cmpd="sng" algn="ctr">
            <a:solidFill>
              <a:srgbClr val="D9DA56">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endParaRPr lang="en-US" kern="0" dirty="0">
              <a:solidFill>
                <a:prstClr val="white"/>
              </a:solidFill>
              <a:latin typeface="Arial"/>
            </a:endParaRPr>
          </a:p>
        </p:txBody>
      </p:sp>
      <p:sp>
        <p:nvSpPr>
          <p:cNvPr id="31" name="Rectangle 30">
            <a:extLst>
              <a:ext uri="{FF2B5EF4-FFF2-40B4-BE49-F238E27FC236}">
                <a16:creationId xmlns:a16="http://schemas.microsoft.com/office/drawing/2014/main" id="{8790997A-E9C3-470B-B61F-5581D63EE7C0}"/>
              </a:ext>
            </a:extLst>
          </p:cNvPr>
          <p:cNvSpPr/>
          <p:nvPr/>
        </p:nvSpPr>
        <p:spPr>
          <a:xfrm>
            <a:off x="8968096" y="2398971"/>
            <a:ext cx="2047733" cy="902518"/>
          </a:xfrm>
          <a:prstGeom prst="rect">
            <a:avLst/>
          </a:prstGeom>
          <a:gradFill rotWithShape="1">
            <a:gsLst>
              <a:gs pos="0">
                <a:srgbClr val="D9DA56">
                  <a:shade val="51000"/>
                  <a:satMod val="130000"/>
                </a:srgbClr>
              </a:gs>
              <a:gs pos="80000">
                <a:srgbClr val="D9DA56">
                  <a:shade val="93000"/>
                  <a:satMod val="130000"/>
                </a:srgbClr>
              </a:gs>
              <a:gs pos="100000">
                <a:srgbClr val="D9DA56">
                  <a:shade val="94000"/>
                  <a:satMod val="135000"/>
                </a:srgbClr>
              </a:gs>
            </a:gsLst>
            <a:lin ang="16200000" scaled="0"/>
          </a:gradFill>
          <a:ln w="9525" cap="flat" cmpd="sng" algn="ctr">
            <a:solidFill>
              <a:srgbClr val="D9DA56">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endParaRPr lang="en-US" kern="0" dirty="0">
              <a:solidFill>
                <a:prstClr val="white"/>
              </a:solidFill>
              <a:latin typeface="Arial"/>
            </a:endParaRPr>
          </a:p>
        </p:txBody>
      </p:sp>
      <p:sp>
        <p:nvSpPr>
          <p:cNvPr id="32" name="Rectangle 31">
            <a:extLst>
              <a:ext uri="{FF2B5EF4-FFF2-40B4-BE49-F238E27FC236}">
                <a16:creationId xmlns:a16="http://schemas.microsoft.com/office/drawing/2014/main" id="{9E6B9FE3-A767-49A7-B39E-46F4AC05B8DB}"/>
              </a:ext>
            </a:extLst>
          </p:cNvPr>
          <p:cNvSpPr/>
          <p:nvPr/>
        </p:nvSpPr>
        <p:spPr>
          <a:xfrm>
            <a:off x="9632795" y="2610381"/>
            <a:ext cx="923106" cy="500485"/>
          </a:xfrm>
          <a:prstGeom prst="rect">
            <a:avLst/>
          </a:prstGeom>
          <a:gradFill rotWithShape="1">
            <a:gsLst>
              <a:gs pos="0">
                <a:srgbClr val="6D7076">
                  <a:shade val="51000"/>
                  <a:satMod val="130000"/>
                </a:srgbClr>
              </a:gs>
              <a:gs pos="80000">
                <a:srgbClr val="6D7076">
                  <a:shade val="93000"/>
                  <a:satMod val="130000"/>
                </a:srgbClr>
              </a:gs>
              <a:gs pos="100000">
                <a:srgbClr val="6D7076">
                  <a:shade val="94000"/>
                  <a:satMod val="135000"/>
                </a:srgbClr>
              </a:gs>
            </a:gsLst>
            <a:lin ang="16200000" scaled="0"/>
          </a:gradFill>
          <a:ln w="9525" cap="flat" cmpd="sng" algn="ctr">
            <a:solidFill>
              <a:srgbClr val="6D7076">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endParaRPr lang="en-US" kern="0" dirty="0">
              <a:solidFill>
                <a:prstClr val="white"/>
              </a:solidFill>
              <a:latin typeface="Arial"/>
            </a:endParaRPr>
          </a:p>
        </p:txBody>
      </p:sp>
      <p:sp>
        <p:nvSpPr>
          <p:cNvPr id="33" name="TextBox 32">
            <a:extLst>
              <a:ext uri="{FF2B5EF4-FFF2-40B4-BE49-F238E27FC236}">
                <a16:creationId xmlns:a16="http://schemas.microsoft.com/office/drawing/2014/main" id="{A3FFA251-46CE-4692-AF5E-7C7C09844E0D}"/>
              </a:ext>
            </a:extLst>
          </p:cNvPr>
          <p:cNvSpPr txBox="1"/>
          <p:nvPr/>
        </p:nvSpPr>
        <p:spPr>
          <a:xfrm>
            <a:off x="1027865" y="2154686"/>
            <a:ext cx="3276372" cy="2862322"/>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p:spPr>
        <p:txBody>
          <a:bodyPr wrap="square" rtlCol="0">
            <a:spAutoFit/>
          </a:bodyPr>
          <a:lstStyle/>
          <a:p>
            <a:pPr defTabSz="457200" fontAlgn="base">
              <a:spcBef>
                <a:spcPct val="0"/>
              </a:spcBef>
              <a:spcAft>
                <a:spcPct val="0"/>
              </a:spcAft>
              <a:defRPr/>
            </a:pPr>
            <a:r>
              <a:rPr lang="en-US" sz="1200" kern="0" dirty="0">
                <a:solidFill>
                  <a:prstClr val="black"/>
                </a:solidFill>
                <a:latin typeface="Arial"/>
              </a:rPr>
              <a:t>void A() { ..body A..}</a:t>
            </a:r>
          </a:p>
          <a:p>
            <a:pPr defTabSz="457200" fontAlgn="base">
              <a:spcBef>
                <a:spcPct val="0"/>
              </a:spcBef>
              <a:spcAft>
                <a:spcPct val="0"/>
              </a:spcAft>
              <a:defRPr/>
            </a:pPr>
            <a:r>
              <a:rPr lang="en-US" sz="1200" kern="0" dirty="0">
                <a:solidFill>
                  <a:prstClr val="black"/>
                </a:solidFill>
                <a:latin typeface="Arial"/>
              </a:rPr>
              <a:t>void B() { ..body B..}</a:t>
            </a:r>
          </a:p>
          <a:p>
            <a:pPr defTabSz="457200" fontAlgn="base">
              <a:spcBef>
                <a:spcPct val="0"/>
              </a:spcBef>
              <a:spcAft>
                <a:spcPct val="0"/>
              </a:spcAft>
              <a:defRPr/>
            </a:pPr>
            <a:r>
              <a:rPr lang="en-US" sz="1200" kern="0" dirty="0">
                <a:solidFill>
                  <a:prstClr val="black"/>
                </a:solidFill>
                <a:latin typeface="Arial"/>
              </a:rPr>
              <a:t>void C() {</a:t>
            </a:r>
          </a:p>
          <a:p>
            <a:pPr defTabSz="457200" fontAlgn="base">
              <a:spcBef>
                <a:spcPct val="0"/>
              </a:spcBef>
              <a:spcAft>
                <a:spcPct val="0"/>
              </a:spcAft>
              <a:defRPr/>
            </a:pPr>
            <a:r>
              <a:rPr lang="en-US" sz="1200" kern="0" dirty="0">
                <a:solidFill>
                  <a:prstClr val="black"/>
                </a:solidFill>
                <a:latin typeface="Arial"/>
              </a:rPr>
              <a:t>	B();</a:t>
            </a:r>
          </a:p>
          <a:p>
            <a:pPr defTabSz="457200" fontAlgn="base">
              <a:spcBef>
                <a:spcPct val="0"/>
              </a:spcBef>
              <a:spcAft>
                <a:spcPct val="0"/>
              </a:spcAft>
              <a:defRPr/>
            </a:pPr>
            <a:r>
              <a:rPr lang="en-US" sz="1200" kern="0" dirty="0">
                <a:solidFill>
                  <a:prstClr val="black"/>
                </a:solidFill>
                <a:latin typeface="Arial"/>
              </a:rPr>
              <a:t>}</a:t>
            </a:r>
          </a:p>
          <a:p>
            <a:pPr defTabSz="457200" fontAlgn="base">
              <a:spcBef>
                <a:spcPct val="0"/>
              </a:spcBef>
              <a:spcAft>
                <a:spcPct val="0"/>
              </a:spcAft>
              <a:defRPr/>
            </a:pPr>
            <a:r>
              <a:rPr lang="en-US" sz="1200" kern="0" dirty="0">
                <a:solidFill>
                  <a:prstClr val="black"/>
                </a:solidFill>
                <a:latin typeface="Arial"/>
              </a:rPr>
              <a:t>void D() {</a:t>
            </a:r>
          </a:p>
          <a:p>
            <a:pPr defTabSz="457200" fontAlgn="base">
              <a:spcBef>
                <a:spcPct val="0"/>
              </a:spcBef>
              <a:spcAft>
                <a:spcPct val="0"/>
              </a:spcAft>
              <a:defRPr/>
            </a:pPr>
            <a:r>
              <a:rPr lang="en-US" sz="1200" kern="0" dirty="0">
                <a:solidFill>
                  <a:prstClr val="black"/>
                </a:solidFill>
                <a:latin typeface="Arial"/>
              </a:rPr>
              <a:t>	B();</a:t>
            </a:r>
          </a:p>
          <a:p>
            <a:pPr defTabSz="457200" fontAlgn="base">
              <a:spcBef>
                <a:spcPct val="0"/>
              </a:spcBef>
              <a:spcAft>
                <a:spcPct val="0"/>
              </a:spcAft>
              <a:defRPr/>
            </a:pPr>
            <a:r>
              <a:rPr lang="en-US" sz="1200" kern="0" dirty="0">
                <a:solidFill>
                  <a:prstClr val="black"/>
                </a:solidFill>
                <a:latin typeface="Arial"/>
              </a:rPr>
              <a:t>}</a:t>
            </a:r>
          </a:p>
          <a:p>
            <a:pPr defTabSz="457200" fontAlgn="base">
              <a:spcBef>
                <a:spcPct val="0"/>
              </a:spcBef>
              <a:spcAft>
                <a:spcPct val="0"/>
              </a:spcAft>
              <a:defRPr/>
            </a:pPr>
            <a:endParaRPr lang="en-US" sz="1200" kern="0" dirty="0">
              <a:solidFill>
                <a:prstClr val="black"/>
              </a:solidFill>
              <a:latin typeface="Arial"/>
            </a:endParaRPr>
          </a:p>
          <a:p>
            <a:pPr defTabSz="457200" fontAlgn="base">
              <a:spcBef>
                <a:spcPct val="0"/>
              </a:spcBef>
              <a:spcAft>
                <a:spcPct val="0"/>
              </a:spcAft>
              <a:defRPr/>
            </a:pPr>
            <a:endParaRPr lang="en-US" sz="1200" kern="0" dirty="0">
              <a:solidFill>
                <a:prstClr val="black"/>
              </a:solidFill>
              <a:latin typeface="Arial"/>
            </a:endParaRPr>
          </a:p>
          <a:p>
            <a:pPr defTabSz="457200" fontAlgn="base">
              <a:spcBef>
                <a:spcPct val="0"/>
              </a:spcBef>
              <a:spcAft>
                <a:spcPct val="0"/>
              </a:spcAft>
              <a:defRPr/>
            </a:pPr>
            <a:r>
              <a:rPr lang="en-US" sz="1200" kern="0" dirty="0">
                <a:solidFill>
                  <a:prstClr val="black"/>
                </a:solidFill>
                <a:latin typeface="Arial"/>
              </a:rPr>
              <a:t>void foo_top() {</a:t>
            </a:r>
          </a:p>
          <a:p>
            <a:pPr defTabSz="457200" fontAlgn="base">
              <a:spcBef>
                <a:spcPct val="0"/>
              </a:spcBef>
              <a:spcAft>
                <a:spcPct val="0"/>
              </a:spcAft>
              <a:defRPr/>
            </a:pPr>
            <a:r>
              <a:rPr lang="en-US" sz="1200" kern="0" dirty="0">
                <a:solidFill>
                  <a:prstClr val="black"/>
                </a:solidFill>
                <a:latin typeface="Arial"/>
              </a:rPr>
              <a:t>	A(…);	</a:t>
            </a:r>
          </a:p>
          <a:p>
            <a:pPr defTabSz="457200" fontAlgn="base">
              <a:spcBef>
                <a:spcPct val="0"/>
              </a:spcBef>
              <a:spcAft>
                <a:spcPct val="0"/>
              </a:spcAft>
              <a:defRPr/>
            </a:pPr>
            <a:r>
              <a:rPr lang="en-US" sz="1200" kern="0" dirty="0">
                <a:solidFill>
                  <a:prstClr val="black"/>
                </a:solidFill>
                <a:latin typeface="Arial"/>
              </a:rPr>
              <a:t>  	C(…);</a:t>
            </a:r>
          </a:p>
          <a:p>
            <a:pPr defTabSz="457200" fontAlgn="base">
              <a:spcBef>
                <a:spcPct val="0"/>
              </a:spcBef>
              <a:spcAft>
                <a:spcPct val="0"/>
              </a:spcAft>
              <a:defRPr/>
            </a:pPr>
            <a:r>
              <a:rPr lang="en-US" sz="1200" kern="0" dirty="0">
                <a:solidFill>
                  <a:prstClr val="black"/>
                </a:solidFill>
                <a:latin typeface="Arial"/>
              </a:rPr>
              <a:t>	D(…)</a:t>
            </a:r>
          </a:p>
          <a:p>
            <a:pPr defTabSz="457200" fontAlgn="base">
              <a:spcBef>
                <a:spcPct val="0"/>
              </a:spcBef>
              <a:spcAft>
                <a:spcPct val="0"/>
              </a:spcAft>
              <a:defRPr/>
            </a:pPr>
            <a:r>
              <a:rPr lang="en-US" sz="1200" kern="0" dirty="0">
                <a:solidFill>
                  <a:prstClr val="black"/>
                </a:solidFill>
                <a:latin typeface="Arial"/>
              </a:rPr>
              <a:t>}</a:t>
            </a:r>
          </a:p>
        </p:txBody>
      </p:sp>
      <p:sp>
        <p:nvSpPr>
          <p:cNvPr id="34" name="TextBox 33">
            <a:extLst>
              <a:ext uri="{FF2B5EF4-FFF2-40B4-BE49-F238E27FC236}">
                <a16:creationId xmlns:a16="http://schemas.microsoft.com/office/drawing/2014/main" id="{69C97C4F-378B-4ED1-8434-91F2B3A5BD80}"/>
              </a:ext>
            </a:extLst>
          </p:cNvPr>
          <p:cNvSpPr txBox="1"/>
          <p:nvPr/>
        </p:nvSpPr>
        <p:spPr>
          <a:xfrm>
            <a:off x="6307790" y="2283756"/>
            <a:ext cx="954107" cy="369332"/>
          </a:xfrm>
          <a:prstGeom prst="rect">
            <a:avLst/>
          </a:prstGeom>
          <a:noFill/>
        </p:spPr>
        <p:txBody>
          <a:bodyPr wrap="none" rtlCol="0">
            <a:spAutoFit/>
          </a:bodyPr>
          <a:lstStyle/>
          <a:p>
            <a:pPr defTabSz="457200" fontAlgn="base">
              <a:spcBef>
                <a:spcPct val="0"/>
              </a:spcBef>
              <a:spcAft>
                <a:spcPct val="0"/>
              </a:spcAft>
            </a:pPr>
            <a:r>
              <a:rPr lang="en-US" dirty="0">
                <a:solidFill>
                  <a:prstClr val="black"/>
                </a:solidFill>
                <a:ea typeface="ＭＳ Ｐゴシック" pitchFamily="34" charset="-128"/>
                <a:cs typeface="Arial" charset="0"/>
              </a:rPr>
              <a:t>foo_top</a:t>
            </a:r>
          </a:p>
        </p:txBody>
      </p:sp>
      <p:sp>
        <p:nvSpPr>
          <p:cNvPr id="35" name="TextBox 34">
            <a:extLst>
              <a:ext uri="{FF2B5EF4-FFF2-40B4-BE49-F238E27FC236}">
                <a16:creationId xmlns:a16="http://schemas.microsoft.com/office/drawing/2014/main" id="{47B2B4CD-BDD2-4D88-9509-53507F6800B2}"/>
              </a:ext>
            </a:extLst>
          </p:cNvPr>
          <p:cNvSpPr txBox="1"/>
          <p:nvPr/>
        </p:nvSpPr>
        <p:spPr>
          <a:xfrm>
            <a:off x="6570030" y="2805488"/>
            <a:ext cx="338554" cy="369332"/>
          </a:xfrm>
          <a:prstGeom prst="rect">
            <a:avLst/>
          </a:prstGeom>
          <a:noFill/>
        </p:spPr>
        <p:txBody>
          <a:bodyPr wrap="none" rtlCol="0">
            <a:spAutoFit/>
          </a:bodyPr>
          <a:lstStyle/>
          <a:p>
            <a:pPr defTabSz="457200" fontAlgn="base">
              <a:spcBef>
                <a:spcPct val="0"/>
              </a:spcBef>
              <a:spcAft>
                <a:spcPct val="0"/>
              </a:spcAft>
            </a:pPr>
            <a:r>
              <a:rPr lang="en-US" dirty="0">
                <a:solidFill>
                  <a:prstClr val="black"/>
                </a:solidFill>
                <a:ea typeface="ＭＳ Ｐゴシック" pitchFamily="34" charset="-128"/>
                <a:cs typeface="Arial" charset="0"/>
              </a:rPr>
              <a:t>A</a:t>
            </a:r>
          </a:p>
        </p:txBody>
      </p:sp>
      <p:sp>
        <p:nvSpPr>
          <p:cNvPr id="36" name="TextBox 35">
            <a:extLst>
              <a:ext uri="{FF2B5EF4-FFF2-40B4-BE49-F238E27FC236}">
                <a16:creationId xmlns:a16="http://schemas.microsoft.com/office/drawing/2014/main" id="{FDCF6F19-66B8-41C8-ADB7-F7844DDE0270}"/>
              </a:ext>
            </a:extLst>
          </p:cNvPr>
          <p:cNvSpPr txBox="1"/>
          <p:nvPr/>
        </p:nvSpPr>
        <p:spPr>
          <a:xfrm>
            <a:off x="8962827" y="2422658"/>
            <a:ext cx="351378" cy="369332"/>
          </a:xfrm>
          <a:prstGeom prst="rect">
            <a:avLst/>
          </a:prstGeom>
          <a:noFill/>
        </p:spPr>
        <p:txBody>
          <a:bodyPr wrap="none" rtlCol="0">
            <a:spAutoFit/>
          </a:bodyPr>
          <a:lstStyle/>
          <a:p>
            <a:pPr defTabSz="457200" fontAlgn="base">
              <a:spcBef>
                <a:spcPct val="0"/>
              </a:spcBef>
              <a:spcAft>
                <a:spcPct val="0"/>
              </a:spcAft>
            </a:pPr>
            <a:r>
              <a:rPr lang="en-US" dirty="0">
                <a:solidFill>
                  <a:prstClr val="black"/>
                </a:solidFill>
                <a:ea typeface="ＭＳ Ｐゴシック" pitchFamily="34" charset="-128"/>
                <a:cs typeface="Arial" charset="0"/>
              </a:rPr>
              <a:t>C</a:t>
            </a:r>
          </a:p>
        </p:txBody>
      </p:sp>
      <p:sp>
        <p:nvSpPr>
          <p:cNvPr id="37" name="TextBox 36">
            <a:extLst>
              <a:ext uri="{FF2B5EF4-FFF2-40B4-BE49-F238E27FC236}">
                <a16:creationId xmlns:a16="http://schemas.microsoft.com/office/drawing/2014/main" id="{40F69732-87BE-4256-86F0-E12FF41BB697}"/>
              </a:ext>
            </a:extLst>
          </p:cNvPr>
          <p:cNvSpPr txBox="1"/>
          <p:nvPr/>
        </p:nvSpPr>
        <p:spPr>
          <a:xfrm>
            <a:off x="9625966" y="2575058"/>
            <a:ext cx="338554" cy="369332"/>
          </a:xfrm>
          <a:prstGeom prst="rect">
            <a:avLst/>
          </a:prstGeom>
          <a:noFill/>
        </p:spPr>
        <p:txBody>
          <a:bodyPr wrap="none" rtlCol="0">
            <a:spAutoFit/>
          </a:bodyPr>
          <a:lstStyle/>
          <a:p>
            <a:pPr defTabSz="457200" fontAlgn="base">
              <a:spcBef>
                <a:spcPct val="0"/>
              </a:spcBef>
              <a:spcAft>
                <a:spcPct val="0"/>
              </a:spcAft>
            </a:pPr>
            <a:r>
              <a:rPr lang="en-US" dirty="0">
                <a:solidFill>
                  <a:prstClr val="black"/>
                </a:solidFill>
                <a:ea typeface="ＭＳ Ｐゴシック" pitchFamily="34" charset="-128"/>
                <a:cs typeface="Arial" charset="0"/>
              </a:rPr>
              <a:t>B</a:t>
            </a:r>
          </a:p>
        </p:txBody>
      </p:sp>
      <p:sp>
        <p:nvSpPr>
          <p:cNvPr id="38" name="Rectangle 37">
            <a:extLst>
              <a:ext uri="{FF2B5EF4-FFF2-40B4-BE49-F238E27FC236}">
                <a16:creationId xmlns:a16="http://schemas.microsoft.com/office/drawing/2014/main" id="{B570BF35-1462-471D-B21C-73713E9A2E59}"/>
              </a:ext>
            </a:extLst>
          </p:cNvPr>
          <p:cNvSpPr/>
          <p:nvPr/>
        </p:nvSpPr>
        <p:spPr>
          <a:xfrm>
            <a:off x="8968096" y="3378298"/>
            <a:ext cx="2047733" cy="902518"/>
          </a:xfrm>
          <a:prstGeom prst="rect">
            <a:avLst/>
          </a:prstGeom>
          <a:gradFill rotWithShape="1">
            <a:gsLst>
              <a:gs pos="0">
                <a:srgbClr val="D9DA56">
                  <a:shade val="51000"/>
                  <a:satMod val="130000"/>
                </a:srgbClr>
              </a:gs>
              <a:gs pos="80000">
                <a:srgbClr val="D9DA56">
                  <a:shade val="93000"/>
                  <a:satMod val="130000"/>
                </a:srgbClr>
              </a:gs>
              <a:gs pos="100000">
                <a:srgbClr val="D9DA56">
                  <a:shade val="94000"/>
                  <a:satMod val="135000"/>
                </a:srgbClr>
              </a:gs>
            </a:gsLst>
            <a:lin ang="16200000" scaled="0"/>
          </a:gradFill>
          <a:ln w="9525" cap="flat" cmpd="sng" algn="ctr">
            <a:solidFill>
              <a:srgbClr val="D9DA56">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endParaRPr lang="en-US" kern="0" dirty="0">
              <a:solidFill>
                <a:prstClr val="white"/>
              </a:solidFill>
              <a:latin typeface="Arial"/>
            </a:endParaRPr>
          </a:p>
        </p:txBody>
      </p:sp>
      <p:sp>
        <p:nvSpPr>
          <p:cNvPr id="39" name="Rectangle 38">
            <a:extLst>
              <a:ext uri="{FF2B5EF4-FFF2-40B4-BE49-F238E27FC236}">
                <a16:creationId xmlns:a16="http://schemas.microsoft.com/office/drawing/2014/main" id="{B81E6DF4-14A5-43FD-A3B8-CE5A52A868F4}"/>
              </a:ext>
            </a:extLst>
          </p:cNvPr>
          <p:cNvSpPr/>
          <p:nvPr/>
        </p:nvSpPr>
        <p:spPr>
          <a:xfrm>
            <a:off x="9632795" y="3589547"/>
            <a:ext cx="923106" cy="500485"/>
          </a:xfrm>
          <a:prstGeom prst="rect">
            <a:avLst/>
          </a:prstGeom>
          <a:gradFill rotWithShape="1">
            <a:gsLst>
              <a:gs pos="0">
                <a:srgbClr val="6D7076">
                  <a:shade val="51000"/>
                  <a:satMod val="130000"/>
                </a:srgbClr>
              </a:gs>
              <a:gs pos="80000">
                <a:srgbClr val="6D7076">
                  <a:shade val="93000"/>
                  <a:satMod val="130000"/>
                </a:srgbClr>
              </a:gs>
              <a:gs pos="100000">
                <a:srgbClr val="6D7076">
                  <a:shade val="94000"/>
                  <a:satMod val="135000"/>
                </a:srgbClr>
              </a:gs>
            </a:gsLst>
            <a:lin ang="16200000" scaled="0"/>
          </a:gradFill>
          <a:ln w="9525" cap="flat" cmpd="sng" algn="ctr">
            <a:solidFill>
              <a:srgbClr val="6D7076">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endParaRPr lang="en-US" kern="0" dirty="0">
              <a:solidFill>
                <a:prstClr val="white"/>
              </a:solidFill>
              <a:latin typeface="Arial"/>
            </a:endParaRPr>
          </a:p>
        </p:txBody>
      </p:sp>
      <p:sp>
        <p:nvSpPr>
          <p:cNvPr id="40" name="TextBox 39">
            <a:extLst>
              <a:ext uri="{FF2B5EF4-FFF2-40B4-BE49-F238E27FC236}">
                <a16:creationId xmlns:a16="http://schemas.microsoft.com/office/drawing/2014/main" id="{58CF6A49-9F75-41EE-B807-5FC8102CB627}"/>
              </a:ext>
            </a:extLst>
          </p:cNvPr>
          <p:cNvSpPr txBox="1"/>
          <p:nvPr/>
        </p:nvSpPr>
        <p:spPr>
          <a:xfrm>
            <a:off x="8962827" y="3401985"/>
            <a:ext cx="351378" cy="369332"/>
          </a:xfrm>
          <a:prstGeom prst="rect">
            <a:avLst/>
          </a:prstGeom>
          <a:noFill/>
        </p:spPr>
        <p:txBody>
          <a:bodyPr wrap="none" rtlCol="0">
            <a:spAutoFit/>
          </a:bodyPr>
          <a:lstStyle/>
          <a:p>
            <a:pPr defTabSz="457200" fontAlgn="base">
              <a:spcBef>
                <a:spcPct val="0"/>
              </a:spcBef>
              <a:spcAft>
                <a:spcPct val="0"/>
              </a:spcAft>
            </a:pPr>
            <a:r>
              <a:rPr lang="en-US" dirty="0">
                <a:solidFill>
                  <a:prstClr val="black"/>
                </a:solidFill>
                <a:ea typeface="ＭＳ Ｐゴシック" pitchFamily="34" charset="-128"/>
                <a:cs typeface="Arial" charset="0"/>
              </a:rPr>
              <a:t>D</a:t>
            </a:r>
          </a:p>
        </p:txBody>
      </p:sp>
      <p:sp>
        <p:nvSpPr>
          <p:cNvPr id="41" name="TextBox 40">
            <a:extLst>
              <a:ext uri="{FF2B5EF4-FFF2-40B4-BE49-F238E27FC236}">
                <a16:creationId xmlns:a16="http://schemas.microsoft.com/office/drawing/2014/main" id="{C8F7B397-310E-45F8-A0B1-72CBF8E2ED08}"/>
              </a:ext>
            </a:extLst>
          </p:cNvPr>
          <p:cNvSpPr txBox="1"/>
          <p:nvPr/>
        </p:nvSpPr>
        <p:spPr>
          <a:xfrm>
            <a:off x="9625966" y="3554385"/>
            <a:ext cx="338554" cy="369332"/>
          </a:xfrm>
          <a:prstGeom prst="rect">
            <a:avLst/>
          </a:prstGeom>
          <a:noFill/>
        </p:spPr>
        <p:txBody>
          <a:bodyPr wrap="none" rtlCol="0">
            <a:spAutoFit/>
          </a:bodyPr>
          <a:lstStyle/>
          <a:p>
            <a:pPr defTabSz="457200" fontAlgn="base">
              <a:spcBef>
                <a:spcPct val="0"/>
              </a:spcBef>
              <a:spcAft>
                <a:spcPct val="0"/>
              </a:spcAft>
            </a:pPr>
            <a:r>
              <a:rPr lang="en-US" dirty="0">
                <a:solidFill>
                  <a:prstClr val="black"/>
                </a:solidFill>
                <a:ea typeface="ＭＳ Ｐゴシック" pitchFamily="34" charset="-128"/>
                <a:cs typeface="Arial" charset="0"/>
              </a:rPr>
              <a:t>B</a:t>
            </a:r>
          </a:p>
        </p:txBody>
      </p:sp>
      <p:sp>
        <p:nvSpPr>
          <p:cNvPr id="42" name="TextBox 41">
            <a:extLst>
              <a:ext uri="{FF2B5EF4-FFF2-40B4-BE49-F238E27FC236}">
                <a16:creationId xmlns:a16="http://schemas.microsoft.com/office/drawing/2014/main" id="{453577B9-0DB8-4D90-ABB1-E9689D169458}"/>
              </a:ext>
            </a:extLst>
          </p:cNvPr>
          <p:cNvSpPr txBox="1"/>
          <p:nvPr/>
        </p:nvSpPr>
        <p:spPr>
          <a:xfrm>
            <a:off x="1597611" y="1816219"/>
            <a:ext cx="1608133" cy="369332"/>
          </a:xfrm>
          <a:prstGeom prst="rect">
            <a:avLst/>
          </a:prstGeom>
          <a:noFill/>
        </p:spPr>
        <p:txBody>
          <a:bodyPr wrap="none" rtlCol="0">
            <a:spAutoFit/>
          </a:bodyPr>
          <a:lstStyle/>
          <a:p>
            <a:pPr defTabSz="457200" fontAlgn="base">
              <a:spcBef>
                <a:spcPct val="0"/>
              </a:spcBef>
              <a:spcAft>
                <a:spcPct val="0"/>
              </a:spcAft>
            </a:pPr>
            <a:r>
              <a:rPr lang="en-US" b="1" u="sng" dirty="0">
                <a:solidFill>
                  <a:prstClr val="black"/>
                </a:solidFill>
                <a:ea typeface="ＭＳ Ｐゴシック" pitchFamily="34" charset="-128"/>
                <a:cs typeface="Arial" charset="0"/>
              </a:rPr>
              <a:t>Source Code</a:t>
            </a:r>
          </a:p>
        </p:txBody>
      </p:sp>
      <p:sp>
        <p:nvSpPr>
          <p:cNvPr id="43" name="TextBox 42">
            <a:extLst>
              <a:ext uri="{FF2B5EF4-FFF2-40B4-BE49-F238E27FC236}">
                <a16:creationId xmlns:a16="http://schemas.microsoft.com/office/drawing/2014/main" id="{D08DAFCC-B16E-4EBC-88ED-AE8015A56E5C}"/>
              </a:ext>
            </a:extLst>
          </p:cNvPr>
          <p:cNvSpPr txBox="1"/>
          <p:nvPr/>
        </p:nvSpPr>
        <p:spPr>
          <a:xfrm>
            <a:off x="7536036" y="1898527"/>
            <a:ext cx="1732205" cy="369332"/>
          </a:xfrm>
          <a:prstGeom prst="rect">
            <a:avLst/>
          </a:prstGeom>
          <a:noFill/>
        </p:spPr>
        <p:txBody>
          <a:bodyPr wrap="none" rtlCol="0">
            <a:spAutoFit/>
          </a:bodyPr>
          <a:lstStyle/>
          <a:p>
            <a:pPr defTabSz="457200" fontAlgn="base">
              <a:spcBef>
                <a:spcPct val="0"/>
              </a:spcBef>
              <a:spcAft>
                <a:spcPct val="0"/>
              </a:spcAft>
            </a:pPr>
            <a:r>
              <a:rPr lang="en-US" b="1" u="sng" dirty="0">
                <a:solidFill>
                  <a:prstClr val="black"/>
                </a:solidFill>
                <a:ea typeface="ＭＳ Ｐゴシック" pitchFamily="34" charset="-128"/>
                <a:cs typeface="Arial" charset="0"/>
              </a:rPr>
              <a:t>RTL hierarchy</a:t>
            </a:r>
          </a:p>
        </p:txBody>
      </p:sp>
      <p:sp>
        <p:nvSpPr>
          <p:cNvPr id="44" name="Right Arrow 25">
            <a:extLst>
              <a:ext uri="{FF2B5EF4-FFF2-40B4-BE49-F238E27FC236}">
                <a16:creationId xmlns:a16="http://schemas.microsoft.com/office/drawing/2014/main" id="{60124B50-F193-4961-93AC-6EF45D5DEC08}"/>
              </a:ext>
            </a:extLst>
          </p:cNvPr>
          <p:cNvSpPr/>
          <p:nvPr/>
        </p:nvSpPr>
        <p:spPr>
          <a:xfrm>
            <a:off x="5072134" y="2944401"/>
            <a:ext cx="921480" cy="609995"/>
          </a:xfrm>
          <a:prstGeom prst="rightArrow">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endParaRPr lang="en-US" kern="0" dirty="0">
              <a:solidFill>
                <a:prstClr val="white"/>
              </a:solidFill>
              <a:latin typeface="Arial"/>
            </a:endParaRPr>
          </a:p>
        </p:txBody>
      </p:sp>
      <p:sp>
        <p:nvSpPr>
          <p:cNvPr id="45" name="TextBox 44">
            <a:extLst>
              <a:ext uri="{FF2B5EF4-FFF2-40B4-BE49-F238E27FC236}">
                <a16:creationId xmlns:a16="http://schemas.microsoft.com/office/drawing/2014/main" id="{9B6464A2-A11E-4BDA-9617-53D95B4CC276}"/>
              </a:ext>
            </a:extLst>
          </p:cNvPr>
          <p:cNvSpPr txBox="1"/>
          <p:nvPr/>
        </p:nvSpPr>
        <p:spPr>
          <a:xfrm>
            <a:off x="5379295" y="4602496"/>
            <a:ext cx="6552746" cy="461665"/>
          </a:xfrm>
          <a:prstGeom prst="rect">
            <a:avLst/>
          </a:prstGeom>
          <a:solidFill>
            <a:srgbClr val="FFFF99"/>
          </a:solidFill>
          <a:ln>
            <a:solidFill>
              <a:srgbClr val="000000"/>
            </a:solidFill>
          </a:ln>
          <a:effectLst>
            <a:innerShdw blurRad="63500" dist="50800" dir="2700000">
              <a:prstClr val="black">
                <a:alpha val="50000"/>
              </a:prstClr>
            </a:innerShdw>
          </a:effectLst>
        </p:spPr>
        <p:txBody>
          <a:bodyPr wrap="square" rtlCol="0">
            <a:spAutoFit/>
          </a:bodyPr>
          <a:lstStyle/>
          <a:p>
            <a:pPr algn="ctr" defTabSz="457200" fontAlgn="base">
              <a:spcBef>
                <a:spcPct val="0"/>
              </a:spcBef>
              <a:spcAft>
                <a:spcPct val="0"/>
              </a:spcAft>
              <a:defRPr/>
            </a:pPr>
            <a:r>
              <a:rPr lang="en-US" sz="1200" b="1" kern="0" dirty="0">
                <a:solidFill>
                  <a:prstClr val="black"/>
                </a:solidFill>
                <a:ea typeface="ＭＳ Ｐゴシック" pitchFamily="34" charset="-128"/>
                <a:cs typeface="Arial" charset="0"/>
              </a:rPr>
              <a:t>Each function/block can be shared like any other component (add, sub, etc) </a:t>
            </a:r>
            <a:r>
              <a:rPr lang="en-US" sz="1200" b="1" u="sng" kern="0" dirty="0">
                <a:solidFill>
                  <a:prstClr val="black"/>
                </a:solidFill>
                <a:ea typeface="ＭＳ Ｐゴシック" pitchFamily="34" charset="-128"/>
                <a:cs typeface="Arial" charset="0"/>
              </a:rPr>
              <a:t>provided</a:t>
            </a:r>
            <a:r>
              <a:rPr lang="en-US" sz="1200" b="1" kern="0" dirty="0">
                <a:solidFill>
                  <a:prstClr val="black"/>
                </a:solidFill>
                <a:ea typeface="ＭＳ Ｐゴシック" pitchFamily="34" charset="-128"/>
                <a:cs typeface="Arial" charset="0"/>
              </a:rPr>
              <a:t> it’s not in use at the same time </a:t>
            </a:r>
          </a:p>
        </p:txBody>
      </p:sp>
      <p:sp>
        <p:nvSpPr>
          <p:cNvPr id="46" name="TextBox 45">
            <a:extLst>
              <a:ext uri="{FF2B5EF4-FFF2-40B4-BE49-F238E27FC236}">
                <a16:creationId xmlns:a16="http://schemas.microsoft.com/office/drawing/2014/main" id="{1D14640C-7CD9-4DEB-8C75-4C75D7EC2693}"/>
              </a:ext>
            </a:extLst>
          </p:cNvPr>
          <p:cNvSpPr txBox="1"/>
          <p:nvPr/>
        </p:nvSpPr>
        <p:spPr>
          <a:xfrm>
            <a:off x="2870823" y="4679124"/>
            <a:ext cx="881973" cy="253916"/>
          </a:xfrm>
          <a:prstGeom prst="rect">
            <a:avLst/>
          </a:prstGeom>
          <a:solidFill>
            <a:srgbClr val="91B800"/>
          </a:solidFill>
          <a:ln w="9525" cap="flat" cmpd="sng" algn="ctr">
            <a:solidFill>
              <a:srgbClr val="3F3F3F">
                <a:shade val="95000"/>
                <a:satMod val="105000"/>
              </a:srgbClr>
            </a:solidFill>
            <a:prstDash val="solid"/>
          </a:ln>
          <a:effectLst>
            <a:outerShdw blurRad="40000" dist="23000" dir="5400000" rotWithShape="0">
              <a:srgbClr val="000000">
                <a:alpha val="35000"/>
              </a:srgbClr>
            </a:outerShdw>
          </a:effectLst>
        </p:spPr>
        <p:txBody>
          <a:bodyPr wrap="none" rtlCol="0">
            <a:spAutoFit/>
          </a:bodyPr>
          <a:lstStyle/>
          <a:p>
            <a:pPr defTabSz="457200" fontAlgn="base">
              <a:spcBef>
                <a:spcPct val="0"/>
              </a:spcBef>
              <a:spcAft>
                <a:spcPct val="0"/>
              </a:spcAft>
              <a:defRPr/>
            </a:pPr>
            <a:r>
              <a:rPr lang="en-US" sz="1050" b="1" kern="0" dirty="0">
                <a:solidFill>
                  <a:prstClr val="white"/>
                </a:solidFill>
                <a:latin typeface="Arial"/>
              </a:rPr>
              <a:t>my_code.c</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 Operator Bit-sizes</a:t>
            </a:r>
          </a:p>
        </p:txBody>
      </p:sp>
      <p:sp>
        <p:nvSpPr>
          <p:cNvPr id="7" name="Slide Number Placeholder 6"/>
          <p:cNvSpPr>
            <a:spLocks noGrp="1"/>
          </p:cNvSpPr>
          <p:nvPr>
            <p:ph type="sldNum" sz="quarter" idx="10"/>
          </p:nvPr>
        </p:nvSpPr>
        <p:spPr/>
        <p:txBody>
          <a:bodyPr/>
          <a:lstStyle/>
          <a:p>
            <a:pPr>
              <a:defRPr/>
            </a:pPr>
            <a:r>
              <a:rPr lang="en-US" dirty="0"/>
              <a:t>Intro to HLS 11- </a:t>
            </a:r>
            <a:fld id="{060BD193-E118-4B16-863C-C8C12C675E3E}" type="slidenum">
              <a:rPr lang="en-US" smtClean="0"/>
              <a:pPr>
                <a:defRPr/>
              </a:pPr>
              <a:t>21</a:t>
            </a:fld>
            <a:endParaRPr lang="en-US" dirty="0"/>
          </a:p>
        </p:txBody>
      </p:sp>
      <p:sp>
        <p:nvSpPr>
          <p:cNvPr id="50" name="TextBox 49">
            <a:extLst>
              <a:ext uri="{FF2B5EF4-FFF2-40B4-BE49-F238E27FC236}">
                <a16:creationId xmlns:a16="http://schemas.microsoft.com/office/drawing/2014/main" id="{C546381A-C7FD-4FCA-BCEF-DE31530C375B}"/>
              </a:ext>
            </a:extLst>
          </p:cNvPr>
          <p:cNvSpPr txBox="1"/>
          <p:nvPr/>
        </p:nvSpPr>
        <p:spPr>
          <a:xfrm>
            <a:off x="259961" y="2161641"/>
            <a:ext cx="3532340" cy="3477875"/>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p:spPr>
        <p:txBody>
          <a:bodyPr wrap="square" rtlCol="0">
            <a:spAutoFit/>
          </a:bodyPr>
          <a:lstStyle/>
          <a:p>
            <a:pPr defTabSz="457200" fontAlgn="base">
              <a:spcBef>
                <a:spcPct val="0"/>
              </a:spcBef>
              <a:spcAft>
                <a:spcPct val="0"/>
              </a:spcAft>
              <a:defRPr/>
            </a:pPr>
            <a:r>
              <a:rPr lang="en-US" sz="1000" kern="0" dirty="0">
                <a:solidFill>
                  <a:prstClr val="black"/>
                </a:solidFill>
                <a:latin typeface="Arial"/>
              </a:rPr>
              <a:t>void fir (</a:t>
            </a:r>
          </a:p>
          <a:p>
            <a:pPr defTabSz="457200" fontAlgn="base">
              <a:spcBef>
                <a:spcPct val="0"/>
              </a:spcBef>
              <a:spcAft>
                <a:spcPct val="0"/>
              </a:spcAft>
              <a:defRPr/>
            </a:pPr>
            <a:r>
              <a:rPr lang="en-US" sz="1000" kern="0" dirty="0">
                <a:solidFill>
                  <a:prstClr val="black"/>
                </a:solidFill>
                <a:latin typeface="Arial"/>
              </a:rPr>
              <a:t>  </a:t>
            </a:r>
            <a:r>
              <a:rPr lang="en-US" sz="1000" kern="0" dirty="0" err="1">
                <a:solidFill>
                  <a:prstClr val="black"/>
                </a:solidFill>
                <a:latin typeface="Arial"/>
              </a:rPr>
              <a:t>data_t</a:t>
            </a:r>
            <a:r>
              <a:rPr lang="en-US" sz="1000" kern="0" dirty="0">
                <a:solidFill>
                  <a:prstClr val="black"/>
                </a:solidFill>
                <a:latin typeface="Arial"/>
              </a:rPr>
              <a:t> *y,</a:t>
            </a:r>
          </a:p>
          <a:p>
            <a:pPr defTabSz="457200" fontAlgn="base">
              <a:spcBef>
                <a:spcPct val="0"/>
              </a:spcBef>
              <a:spcAft>
                <a:spcPct val="0"/>
              </a:spcAft>
              <a:defRPr/>
            </a:pPr>
            <a:r>
              <a:rPr lang="en-US" sz="1000" kern="0" dirty="0">
                <a:solidFill>
                  <a:prstClr val="black"/>
                </a:solidFill>
                <a:latin typeface="Arial"/>
              </a:rPr>
              <a:t>  </a:t>
            </a:r>
            <a:r>
              <a:rPr lang="en-US" sz="1000" kern="0" dirty="0" err="1">
                <a:solidFill>
                  <a:prstClr val="black"/>
                </a:solidFill>
                <a:latin typeface="Arial"/>
              </a:rPr>
              <a:t>coef_t</a:t>
            </a:r>
            <a:r>
              <a:rPr lang="en-US" sz="1000" kern="0" dirty="0">
                <a:solidFill>
                  <a:prstClr val="black"/>
                </a:solidFill>
                <a:latin typeface="Arial"/>
              </a:rPr>
              <a:t> c[4],</a:t>
            </a:r>
          </a:p>
          <a:p>
            <a:pPr defTabSz="457200" fontAlgn="base">
              <a:spcBef>
                <a:spcPct val="0"/>
              </a:spcBef>
              <a:spcAft>
                <a:spcPct val="0"/>
              </a:spcAft>
              <a:defRPr/>
            </a:pPr>
            <a:r>
              <a:rPr lang="en-US" sz="1000" kern="0" dirty="0">
                <a:solidFill>
                  <a:prstClr val="black"/>
                </a:solidFill>
                <a:latin typeface="Arial"/>
              </a:rPr>
              <a:t>  </a:t>
            </a:r>
            <a:r>
              <a:rPr lang="en-US" sz="1000" kern="0" dirty="0" err="1">
                <a:solidFill>
                  <a:prstClr val="black"/>
                </a:solidFill>
                <a:latin typeface="Arial"/>
              </a:rPr>
              <a:t>data_t</a:t>
            </a:r>
            <a:r>
              <a:rPr lang="en-US" sz="1000" kern="0" dirty="0">
                <a:solidFill>
                  <a:prstClr val="black"/>
                </a:solidFill>
                <a:latin typeface="Arial"/>
              </a:rPr>
              <a:t> x</a:t>
            </a:r>
          </a:p>
          <a:p>
            <a:pPr defTabSz="457200" fontAlgn="base">
              <a:spcBef>
                <a:spcPct val="0"/>
              </a:spcBef>
              <a:spcAft>
                <a:spcPct val="0"/>
              </a:spcAft>
              <a:defRPr/>
            </a:pPr>
            <a:r>
              <a:rPr lang="en-US" sz="1000" kern="0" dirty="0">
                <a:solidFill>
                  <a:prstClr val="black"/>
                </a:solidFill>
                <a:latin typeface="Arial"/>
              </a:rPr>
              <a:t>  ) {</a:t>
            </a:r>
          </a:p>
          <a:p>
            <a:pPr defTabSz="457200" fontAlgn="base">
              <a:spcBef>
                <a:spcPct val="0"/>
              </a:spcBef>
              <a:spcAft>
                <a:spcPct val="0"/>
              </a:spcAft>
              <a:defRPr/>
            </a:pPr>
            <a:endParaRPr lang="en-US" sz="1000" kern="0" dirty="0">
              <a:solidFill>
                <a:prstClr val="black"/>
              </a:solidFill>
              <a:latin typeface="Arial"/>
            </a:endParaRPr>
          </a:p>
          <a:p>
            <a:pPr defTabSz="457200" fontAlgn="base">
              <a:spcBef>
                <a:spcPct val="0"/>
              </a:spcBef>
              <a:spcAft>
                <a:spcPct val="0"/>
              </a:spcAft>
              <a:defRPr/>
            </a:pPr>
            <a:r>
              <a:rPr lang="en-US" sz="1000" kern="0" dirty="0">
                <a:solidFill>
                  <a:prstClr val="black"/>
                </a:solidFill>
                <a:latin typeface="Arial"/>
              </a:rPr>
              <a:t>  static </a:t>
            </a:r>
            <a:r>
              <a:rPr lang="en-US" sz="1000" kern="0" dirty="0" err="1">
                <a:solidFill>
                  <a:prstClr val="black"/>
                </a:solidFill>
                <a:latin typeface="Arial"/>
              </a:rPr>
              <a:t>data_t</a:t>
            </a:r>
            <a:r>
              <a:rPr lang="en-US" sz="1000" kern="0" dirty="0">
                <a:solidFill>
                  <a:prstClr val="black"/>
                </a:solidFill>
                <a:latin typeface="Arial"/>
              </a:rPr>
              <a:t> </a:t>
            </a:r>
            <a:r>
              <a:rPr lang="en-US" sz="1000" kern="0" dirty="0" err="1">
                <a:solidFill>
                  <a:prstClr val="black"/>
                </a:solidFill>
                <a:latin typeface="Arial"/>
              </a:rPr>
              <a:t>shift_reg</a:t>
            </a:r>
            <a:r>
              <a:rPr lang="en-US" sz="1000" kern="0" dirty="0">
                <a:solidFill>
                  <a:prstClr val="black"/>
                </a:solidFill>
                <a:latin typeface="Arial"/>
              </a:rPr>
              <a:t>[4];</a:t>
            </a:r>
          </a:p>
          <a:p>
            <a:pPr defTabSz="457200" fontAlgn="base">
              <a:spcBef>
                <a:spcPct val="0"/>
              </a:spcBef>
              <a:spcAft>
                <a:spcPct val="0"/>
              </a:spcAft>
              <a:defRPr/>
            </a:pPr>
            <a:r>
              <a:rPr lang="en-US" sz="1000" kern="0" dirty="0">
                <a:solidFill>
                  <a:prstClr val="black"/>
                </a:solidFill>
                <a:latin typeface="Arial"/>
              </a:rPr>
              <a:t>  </a:t>
            </a:r>
            <a:r>
              <a:rPr lang="en-US" sz="1000" kern="0" dirty="0" err="1">
                <a:solidFill>
                  <a:prstClr val="black"/>
                </a:solidFill>
                <a:latin typeface="Arial"/>
              </a:rPr>
              <a:t>acc_t</a:t>
            </a:r>
            <a:r>
              <a:rPr lang="en-US" sz="1000" kern="0" dirty="0">
                <a:solidFill>
                  <a:prstClr val="black"/>
                </a:solidFill>
                <a:latin typeface="Arial"/>
              </a:rPr>
              <a:t> acc;</a:t>
            </a:r>
          </a:p>
          <a:p>
            <a:pPr defTabSz="457200" fontAlgn="base">
              <a:spcBef>
                <a:spcPct val="0"/>
              </a:spcBef>
              <a:spcAft>
                <a:spcPct val="0"/>
              </a:spcAft>
              <a:defRPr/>
            </a:pPr>
            <a:r>
              <a:rPr lang="en-US" sz="1000" kern="0" dirty="0">
                <a:solidFill>
                  <a:prstClr val="black"/>
                </a:solidFill>
                <a:latin typeface="Arial"/>
              </a:rPr>
              <a:t>  </a:t>
            </a:r>
            <a:r>
              <a:rPr lang="en-US" sz="1000" kern="0" dirty="0" err="1">
                <a:solidFill>
                  <a:prstClr val="black"/>
                </a:solidFill>
                <a:latin typeface="Arial"/>
              </a:rPr>
              <a:t>int</a:t>
            </a:r>
            <a:r>
              <a:rPr lang="en-US" sz="1000" kern="0" dirty="0">
                <a:solidFill>
                  <a:prstClr val="black"/>
                </a:solidFill>
                <a:latin typeface="Arial"/>
              </a:rPr>
              <a:t> </a:t>
            </a:r>
            <a:r>
              <a:rPr lang="en-US" sz="1000" kern="0" dirty="0" err="1">
                <a:solidFill>
                  <a:prstClr val="black"/>
                </a:solidFill>
                <a:latin typeface="Arial"/>
              </a:rPr>
              <a:t>i</a:t>
            </a:r>
            <a:r>
              <a:rPr lang="en-US" sz="1000" kern="0" dirty="0">
                <a:solidFill>
                  <a:prstClr val="black"/>
                </a:solidFill>
                <a:latin typeface="Arial"/>
              </a:rPr>
              <a:t>;</a:t>
            </a:r>
          </a:p>
          <a:p>
            <a:pPr defTabSz="457200" fontAlgn="base">
              <a:spcBef>
                <a:spcPct val="0"/>
              </a:spcBef>
              <a:spcAft>
                <a:spcPct val="0"/>
              </a:spcAft>
              <a:defRPr/>
            </a:pPr>
            <a:r>
              <a:rPr lang="en-US" sz="1000" kern="0" dirty="0">
                <a:solidFill>
                  <a:prstClr val="black"/>
                </a:solidFill>
                <a:latin typeface="Arial"/>
              </a:rPr>
              <a:t>  </a:t>
            </a:r>
          </a:p>
          <a:p>
            <a:pPr defTabSz="457200" fontAlgn="base">
              <a:spcBef>
                <a:spcPct val="0"/>
              </a:spcBef>
              <a:spcAft>
                <a:spcPct val="0"/>
              </a:spcAft>
              <a:defRPr/>
            </a:pPr>
            <a:r>
              <a:rPr lang="en-US" sz="1000" kern="0" dirty="0">
                <a:solidFill>
                  <a:prstClr val="black"/>
                </a:solidFill>
                <a:latin typeface="Arial"/>
              </a:rPr>
              <a:t>  acc=0;</a:t>
            </a:r>
          </a:p>
          <a:p>
            <a:pPr defTabSz="457200" fontAlgn="base">
              <a:spcBef>
                <a:spcPct val="0"/>
              </a:spcBef>
              <a:spcAft>
                <a:spcPct val="0"/>
              </a:spcAft>
              <a:defRPr/>
            </a:pPr>
            <a:r>
              <a:rPr lang="en-US" sz="1000" kern="0" dirty="0">
                <a:solidFill>
                  <a:prstClr val="black"/>
                </a:solidFill>
                <a:latin typeface="Arial"/>
              </a:rPr>
              <a:t>  loop: for (</a:t>
            </a:r>
            <a:r>
              <a:rPr lang="en-US" sz="1000" kern="0" dirty="0" err="1">
                <a:solidFill>
                  <a:prstClr val="black"/>
                </a:solidFill>
                <a:latin typeface="Arial"/>
              </a:rPr>
              <a:t>i</a:t>
            </a:r>
            <a:r>
              <a:rPr lang="en-US" sz="1000" kern="0" dirty="0">
                <a:solidFill>
                  <a:prstClr val="black"/>
                </a:solidFill>
                <a:latin typeface="Arial"/>
              </a:rPr>
              <a:t>=3;i&gt;=0;i--) {</a:t>
            </a:r>
          </a:p>
          <a:p>
            <a:pPr defTabSz="457200" fontAlgn="base">
              <a:spcBef>
                <a:spcPct val="0"/>
              </a:spcBef>
              <a:spcAft>
                <a:spcPct val="0"/>
              </a:spcAft>
              <a:defRPr/>
            </a:pPr>
            <a:r>
              <a:rPr lang="en-US" sz="1000" kern="0" dirty="0">
                <a:solidFill>
                  <a:prstClr val="black"/>
                </a:solidFill>
                <a:latin typeface="Arial"/>
              </a:rPr>
              <a:t>     if (</a:t>
            </a:r>
            <a:r>
              <a:rPr lang="en-US" sz="1000" kern="0" dirty="0" err="1">
                <a:solidFill>
                  <a:prstClr val="black"/>
                </a:solidFill>
                <a:latin typeface="Arial"/>
              </a:rPr>
              <a:t>i</a:t>
            </a:r>
            <a:r>
              <a:rPr lang="en-US" sz="1000" kern="0" dirty="0">
                <a:solidFill>
                  <a:prstClr val="black"/>
                </a:solidFill>
                <a:latin typeface="Arial"/>
              </a:rPr>
              <a:t>==0) {</a:t>
            </a:r>
          </a:p>
          <a:p>
            <a:pPr defTabSz="457200" fontAlgn="base">
              <a:spcBef>
                <a:spcPct val="0"/>
              </a:spcBef>
              <a:spcAft>
                <a:spcPct val="0"/>
              </a:spcAft>
              <a:defRPr/>
            </a:pPr>
            <a:r>
              <a:rPr lang="en-US" sz="1000" kern="0" dirty="0">
                <a:solidFill>
                  <a:prstClr val="black"/>
                </a:solidFill>
                <a:latin typeface="Arial"/>
              </a:rPr>
              <a:t>       acc+=x*c[0];</a:t>
            </a:r>
          </a:p>
          <a:p>
            <a:pPr defTabSz="457200" fontAlgn="base">
              <a:spcBef>
                <a:spcPct val="0"/>
              </a:spcBef>
              <a:spcAft>
                <a:spcPct val="0"/>
              </a:spcAft>
              <a:defRPr/>
            </a:pPr>
            <a:r>
              <a:rPr lang="en-US" sz="1000" kern="0" dirty="0">
                <a:solidFill>
                  <a:prstClr val="black"/>
                </a:solidFill>
                <a:latin typeface="Arial"/>
              </a:rPr>
              <a:t>       </a:t>
            </a:r>
            <a:r>
              <a:rPr lang="en-US" sz="1000" kern="0" dirty="0" err="1">
                <a:solidFill>
                  <a:prstClr val="black"/>
                </a:solidFill>
                <a:latin typeface="Arial"/>
              </a:rPr>
              <a:t>shift_reg</a:t>
            </a:r>
            <a:r>
              <a:rPr lang="en-US" sz="1000" kern="0" dirty="0">
                <a:solidFill>
                  <a:prstClr val="black"/>
                </a:solidFill>
                <a:latin typeface="Arial"/>
              </a:rPr>
              <a:t>[0]=x;</a:t>
            </a:r>
          </a:p>
          <a:p>
            <a:pPr defTabSz="457200" fontAlgn="base">
              <a:spcBef>
                <a:spcPct val="0"/>
              </a:spcBef>
              <a:spcAft>
                <a:spcPct val="0"/>
              </a:spcAft>
              <a:defRPr/>
            </a:pPr>
            <a:r>
              <a:rPr lang="en-US" sz="1000" kern="0" dirty="0">
                <a:solidFill>
                  <a:prstClr val="black"/>
                </a:solidFill>
                <a:latin typeface="Arial"/>
              </a:rPr>
              <a:t>     } else {</a:t>
            </a:r>
          </a:p>
          <a:p>
            <a:pPr defTabSz="457200" fontAlgn="base">
              <a:spcBef>
                <a:spcPct val="0"/>
              </a:spcBef>
              <a:spcAft>
                <a:spcPct val="0"/>
              </a:spcAft>
              <a:defRPr/>
            </a:pPr>
            <a:r>
              <a:rPr lang="en-US" sz="1000" kern="0" dirty="0">
                <a:solidFill>
                  <a:prstClr val="black"/>
                </a:solidFill>
                <a:latin typeface="Arial"/>
              </a:rPr>
              <a:t>        </a:t>
            </a:r>
            <a:r>
              <a:rPr lang="en-US" sz="1000" kern="0" dirty="0" err="1">
                <a:solidFill>
                  <a:prstClr val="black"/>
                </a:solidFill>
                <a:latin typeface="Arial"/>
              </a:rPr>
              <a:t>shift_reg</a:t>
            </a:r>
            <a:r>
              <a:rPr lang="en-US" sz="1000" kern="0" dirty="0">
                <a:solidFill>
                  <a:prstClr val="black"/>
                </a:solidFill>
                <a:latin typeface="Arial"/>
              </a:rPr>
              <a:t>[</a:t>
            </a:r>
            <a:r>
              <a:rPr lang="en-US" sz="1000" kern="0" dirty="0" err="1">
                <a:solidFill>
                  <a:prstClr val="black"/>
                </a:solidFill>
                <a:latin typeface="Arial"/>
              </a:rPr>
              <a:t>i</a:t>
            </a:r>
            <a:r>
              <a:rPr lang="en-US" sz="1000" kern="0" dirty="0">
                <a:solidFill>
                  <a:prstClr val="black"/>
                </a:solidFill>
                <a:latin typeface="Arial"/>
              </a:rPr>
              <a:t>]=</a:t>
            </a:r>
            <a:r>
              <a:rPr lang="en-US" sz="1000" kern="0" dirty="0" err="1">
                <a:solidFill>
                  <a:prstClr val="black"/>
                </a:solidFill>
                <a:latin typeface="Arial"/>
              </a:rPr>
              <a:t>shift_reg</a:t>
            </a:r>
            <a:r>
              <a:rPr lang="en-US" sz="1000" kern="0" dirty="0">
                <a:solidFill>
                  <a:prstClr val="black"/>
                </a:solidFill>
                <a:latin typeface="Arial"/>
              </a:rPr>
              <a:t>[i-1];	        </a:t>
            </a:r>
          </a:p>
          <a:p>
            <a:pPr defTabSz="457200" fontAlgn="base">
              <a:spcBef>
                <a:spcPct val="0"/>
              </a:spcBef>
              <a:spcAft>
                <a:spcPct val="0"/>
              </a:spcAft>
              <a:defRPr/>
            </a:pPr>
            <a:r>
              <a:rPr lang="en-US" sz="1000" kern="0" dirty="0">
                <a:solidFill>
                  <a:prstClr val="black"/>
                </a:solidFill>
                <a:latin typeface="Arial"/>
              </a:rPr>
              <a:t>        acc+=</a:t>
            </a:r>
            <a:r>
              <a:rPr lang="en-US" sz="1000" kern="0" dirty="0" err="1">
                <a:solidFill>
                  <a:prstClr val="black"/>
                </a:solidFill>
                <a:latin typeface="Arial"/>
              </a:rPr>
              <a:t>shift_reg</a:t>
            </a:r>
            <a:r>
              <a:rPr lang="en-US" sz="1000" kern="0" dirty="0">
                <a:solidFill>
                  <a:prstClr val="black"/>
                </a:solidFill>
                <a:latin typeface="Arial"/>
              </a:rPr>
              <a:t>[</a:t>
            </a:r>
            <a:r>
              <a:rPr lang="en-US" sz="1000" kern="0" dirty="0" err="1">
                <a:solidFill>
                  <a:prstClr val="black"/>
                </a:solidFill>
                <a:latin typeface="Arial"/>
              </a:rPr>
              <a:t>i</a:t>
            </a:r>
            <a:r>
              <a:rPr lang="en-US" sz="1000" kern="0" dirty="0">
                <a:solidFill>
                  <a:prstClr val="black"/>
                </a:solidFill>
                <a:latin typeface="Arial"/>
              </a:rPr>
              <a:t>]*c[</a:t>
            </a:r>
            <a:r>
              <a:rPr lang="en-US" sz="1000" kern="0" dirty="0" err="1">
                <a:solidFill>
                  <a:prstClr val="black"/>
                </a:solidFill>
                <a:latin typeface="Arial"/>
              </a:rPr>
              <a:t>i</a:t>
            </a:r>
            <a:r>
              <a:rPr lang="en-US" sz="1000" kern="0" dirty="0">
                <a:solidFill>
                  <a:prstClr val="black"/>
                </a:solidFill>
                <a:latin typeface="Arial"/>
              </a:rPr>
              <a:t>];</a:t>
            </a:r>
          </a:p>
          <a:p>
            <a:pPr defTabSz="457200" fontAlgn="base">
              <a:spcBef>
                <a:spcPct val="0"/>
              </a:spcBef>
              <a:spcAft>
                <a:spcPct val="0"/>
              </a:spcAft>
              <a:defRPr/>
            </a:pPr>
            <a:r>
              <a:rPr lang="en-US" sz="1000" kern="0" dirty="0">
                <a:solidFill>
                  <a:prstClr val="black"/>
                </a:solidFill>
                <a:latin typeface="Arial"/>
              </a:rPr>
              <a:t>     }</a:t>
            </a:r>
          </a:p>
          <a:p>
            <a:pPr defTabSz="457200" fontAlgn="base">
              <a:spcBef>
                <a:spcPct val="0"/>
              </a:spcBef>
              <a:spcAft>
                <a:spcPct val="0"/>
              </a:spcAft>
              <a:defRPr/>
            </a:pPr>
            <a:r>
              <a:rPr lang="en-US" sz="1000" kern="0" dirty="0">
                <a:solidFill>
                  <a:prstClr val="black"/>
                </a:solidFill>
                <a:latin typeface="Arial"/>
              </a:rPr>
              <a:t>  }</a:t>
            </a:r>
          </a:p>
          <a:p>
            <a:pPr defTabSz="457200" fontAlgn="base">
              <a:spcBef>
                <a:spcPct val="0"/>
              </a:spcBef>
              <a:spcAft>
                <a:spcPct val="0"/>
              </a:spcAft>
              <a:defRPr/>
            </a:pPr>
            <a:r>
              <a:rPr lang="en-US" sz="1000" kern="0" dirty="0">
                <a:solidFill>
                  <a:prstClr val="black"/>
                </a:solidFill>
                <a:latin typeface="Arial"/>
              </a:rPr>
              <a:t>  *y=acc;</a:t>
            </a:r>
          </a:p>
          <a:p>
            <a:pPr defTabSz="457200" fontAlgn="base">
              <a:spcBef>
                <a:spcPct val="0"/>
              </a:spcBef>
              <a:spcAft>
                <a:spcPct val="0"/>
              </a:spcAft>
              <a:defRPr/>
            </a:pPr>
            <a:r>
              <a:rPr lang="en-US" sz="1000" kern="0" dirty="0">
                <a:solidFill>
                  <a:prstClr val="black"/>
                </a:solidFill>
                <a:latin typeface="Arial"/>
              </a:rPr>
              <a:t>}</a:t>
            </a:r>
          </a:p>
        </p:txBody>
      </p:sp>
      <p:sp>
        <p:nvSpPr>
          <p:cNvPr id="52" name="TextBox 51">
            <a:extLst>
              <a:ext uri="{FF2B5EF4-FFF2-40B4-BE49-F238E27FC236}">
                <a16:creationId xmlns:a16="http://schemas.microsoft.com/office/drawing/2014/main" id="{2595C3D8-E2AA-42CD-A5B9-4CF7CDFA5FE7}"/>
              </a:ext>
            </a:extLst>
          </p:cNvPr>
          <p:cNvSpPr txBox="1"/>
          <p:nvPr/>
        </p:nvSpPr>
        <p:spPr>
          <a:xfrm>
            <a:off x="823206" y="1623970"/>
            <a:ext cx="2182081" cy="307777"/>
          </a:xfrm>
          <a:prstGeom prst="rect">
            <a:avLst/>
          </a:prstGeom>
          <a:noFill/>
        </p:spPr>
        <p:txBody>
          <a:bodyPr wrap="square" rtlCol="0">
            <a:spAutoFit/>
          </a:bodyPr>
          <a:lstStyle/>
          <a:p>
            <a:pPr algn="ctr" defTabSz="457200" fontAlgn="base">
              <a:spcBef>
                <a:spcPct val="0"/>
              </a:spcBef>
              <a:spcAft>
                <a:spcPct val="0"/>
              </a:spcAft>
            </a:pPr>
            <a:r>
              <a:rPr lang="en-US" sz="1400" b="1" u="sng" dirty="0">
                <a:solidFill>
                  <a:prstClr val="black"/>
                </a:solidFill>
                <a:ea typeface="ＭＳ Ｐゴシック" pitchFamily="34" charset="-128"/>
                <a:cs typeface="Arial" charset="0"/>
              </a:rPr>
              <a:t>Code </a:t>
            </a:r>
          </a:p>
        </p:txBody>
      </p:sp>
      <p:sp>
        <p:nvSpPr>
          <p:cNvPr id="53" name="TextBox 52">
            <a:extLst>
              <a:ext uri="{FF2B5EF4-FFF2-40B4-BE49-F238E27FC236}">
                <a16:creationId xmlns:a16="http://schemas.microsoft.com/office/drawing/2014/main" id="{BAF9D324-5933-42E5-899A-A1EAA316DE42}"/>
              </a:ext>
            </a:extLst>
          </p:cNvPr>
          <p:cNvSpPr txBox="1"/>
          <p:nvPr/>
        </p:nvSpPr>
        <p:spPr>
          <a:xfrm>
            <a:off x="823089" y="5810288"/>
            <a:ext cx="2354892" cy="276999"/>
          </a:xfrm>
          <a:prstGeom prst="rect">
            <a:avLst/>
          </a:prstGeom>
          <a:solidFill>
            <a:srgbClr val="FFFF99"/>
          </a:solidFill>
          <a:ln w="19050">
            <a:solidFill>
              <a:srgbClr val="000000"/>
            </a:solidFill>
          </a:ln>
          <a:effectLst>
            <a:innerShdw blurRad="63500" dist="50800" dir="2700000">
              <a:prstClr val="black">
                <a:alpha val="50000"/>
              </a:prstClr>
            </a:innerShdw>
          </a:effectLst>
        </p:spPr>
        <p:txBody>
          <a:bodyPr wrap="square" rtlCol="0">
            <a:spAutoFit/>
          </a:bodyPr>
          <a:lstStyle/>
          <a:p>
            <a:pPr algn="ctr" defTabSz="457200" fontAlgn="base">
              <a:spcBef>
                <a:spcPct val="0"/>
              </a:spcBef>
              <a:spcAft>
                <a:spcPct val="0"/>
              </a:spcAft>
              <a:defRPr/>
            </a:pPr>
            <a:r>
              <a:rPr lang="en-US" sz="1200" b="1" kern="0" dirty="0">
                <a:solidFill>
                  <a:prstClr val="black"/>
                </a:solidFill>
                <a:ea typeface="ＭＳ Ｐゴシック" pitchFamily="34" charset="-128"/>
                <a:cs typeface="Arial" charset="0"/>
              </a:rPr>
              <a:t>From any C code example ...</a:t>
            </a:r>
          </a:p>
        </p:txBody>
      </p:sp>
      <p:grpSp>
        <p:nvGrpSpPr>
          <p:cNvPr id="54" name="Group 151">
            <a:extLst>
              <a:ext uri="{FF2B5EF4-FFF2-40B4-BE49-F238E27FC236}">
                <a16:creationId xmlns:a16="http://schemas.microsoft.com/office/drawing/2014/main" id="{C7517D21-56D8-4867-A949-8E7593C3F659}"/>
              </a:ext>
            </a:extLst>
          </p:cNvPr>
          <p:cNvGrpSpPr/>
          <p:nvPr/>
        </p:nvGrpSpPr>
        <p:grpSpPr>
          <a:xfrm>
            <a:off x="1590988" y="1623437"/>
            <a:ext cx="4709787" cy="4648347"/>
            <a:chOff x="1192360" y="1623428"/>
            <a:chExt cx="3533260" cy="4648347"/>
          </a:xfrm>
        </p:grpSpPr>
        <p:sp>
          <p:nvSpPr>
            <p:cNvPr id="55" name="TextBox 54">
              <a:extLst>
                <a:ext uri="{FF2B5EF4-FFF2-40B4-BE49-F238E27FC236}">
                  <a16:creationId xmlns:a16="http://schemas.microsoft.com/office/drawing/2014/main" id="{8CD73558-818F-4741-9573-34F8BA5B96F5}"/>
                </a:ext>
              </a:extLst>
            </p:cNvPr>
            <p:cNvSpPr txBox="1"/>
            <p:nvPr/>
          </p:nvSpPr>
          <p:spPr>
            <a:xfrm>
              <a:off x="3088633" y="1623428"/>
              <a:ext cx="1636987" cy="307777"/>
            </a:xfrm>
            <a:prstGeom prst="rect">
              <a:avLst/>
            </a:prstGeom>
            <a:noFill/>
          </p:spPr>
          <p:txBody>
            <a:bodyPr wrap="square" rtlCol="0">
              <a:spAutoFit/>
            </a:bodyPr>
            <a:lstStyle/>
            <a:p>
              <a:pPr algn="ctr" defTabSz="457200" fontAlgn="base">
                <a:spcBef>
                  <a:spcPct val="0"/>
                </a:spcBef>
                <a:spcAft>
                  <a:spcPct val="0"/>
                </a:spcAft>
                <a:defRPr/>
              </a:pPr>
              <a:r>
                <a:rPr lang="en-US" sz="1400" b="1" u="sng" kern="0" dirty="0">
                  <a:solidFill>
                    <a:prstClr val="black"/>
                  </a:solidFill>
                  <a:ea typeface="ＭＳ Ｐゴシック" pitchFamily="34" charset="-128"/>
                  <a:cs typeface="Arial" charset="0"/>
                </a:rPr>
                <a:t>Operations</a:t>
              </a:r>
            </a:p>
          </p:txBody>
        </p:sp>
        <p:grpSp>
          <p:nvGrpSpPr>
            <p:cNvPr id="56" name="Group 149">
              <a:extLst>
                <a:ext uri="{FF2B5EF4-FFF2-40B4-BE49-F238E27FC236}">
                  <a16:creationId xmlns:a16="http://schemas.microsoft.com/office/drawing/2014/main" id="{080CF18E-8B3A-4E29-9DF7-862022B47B62}"/>
                </a:ext>
              </a:extLst>
            </p:cNvPr>
            <p:cNvGrpSpPr/>
            <p:nvPr/>
          </p:nvGrpSpPr>
          <p:grpSpPr>
            <a:xfrm>
              <a:off x="1192360" y="2545685"/>
              <a:ext cx="3341235" cy="3726090"/>
              <a:chOff x="1192360" y="2545685"/>
              <a:chExt cx="3341235" cy="3726090"/>
            </a:xfrm>
          </p:grpSpPr>
          <p:cxnSp>
            <p:nvCxnSpPr>
              <p:cNvPr id="57" name="Curved Connector 24">
                <a:extLst>
                  <a:ext uri="{FF2B5EF4-FFF2-40B4-BE49-F238E27FC236}">
                    <a16:creationId xmlns:a16="http://schemas.microsoft.com/office/drawing/2014/main" id="{A97ECBA6-356A-4617-97EE-1C87F8B31010}"/>
                  </a:ext>
                </a:extLst>
              </p:cNvPr>
              <p:cNvCxnSpPr/>
              <p:nvPr/>
            </p:nvCxnSpPr>
            <p:spPr>
              <a:xfrm rot="5400000" flipH="1" flipV="1">
                <a:off x="2008466" y="2209642"/>
                <a:ext cx="940922" cy="2342705"/>
              </a:xfrm>
              <a:prstGeom prst="curvedConnector2">
                <a:avLst/>
              </a:prstGeom>
              <a:noFill/>
              <a:ln w="25400" cap="flat" cmpd="sng" algn="ctr">
                <a:solidFill>
                  <a:srgbClr val="008CA8"/>
                </a:solidFill>
                <a:prstDash val="solid"/>
                <a:tailEnd type="arrow"/>
              </a:ln>
              <a:effectLst>
                <a:outerShdw blurRad="40000" dist="20000" dir="5400000" rotWithShape="0">
                  <a:srgbClr val="000000">
                    <a:alpha val="38000"/>
                  </a:srgbClr>
                </a:outerShdw>
              </a:effectLst>
            </p:spPr>
          </p:cxnSp>
          <p:cxnSp>
            <p:nvCxnSpPr>
              <p:cNvPr id="58" name="Curved Connector 24">
                <a:extLst>
                  <a:ext uri="{FF2B5EF4-FFF2-40B4-BE49-F238E27FC236}">
                    <a16:creationId xmlns:a16="http://schemas.microsoft.com/office/drawing/2014/main" id="{50516390-8BFD-4141-A873-1ED6B4EBC37A}"/>
                  </a:ext>
                </a:extLst>
              </p:cNvPr>
              <p:cNvCxnSpPr/>
              <p:nvPr/>
            </p:nvCxnSpPr>
            <p:spPr>
              <a:xfrm rot="5400000" flipH="1" flipV="1">
                <a:off x="2399988" y="2629284"/>
                <a:ext cx="623398" cy="1877186"/>
              </a:xfrm>
              <a:prstGeom prst="curvedConnector2">
                <a:avLst/>
              </a:prstGeom>
              <a:noFill/>
              <a:ln w="25400" cap="flat" cmpd="sng" algn="ctr">
                <a:solidFill>
                  <a:srgbClr val="008CA8"/>
                </a:solidFill>
                <a:prstDash val="solid"/>
                <a:tailEnd type="arrow"/>
              </a:ln>
              <a:effectLst>
                <a:outerShdw blurRad="40000" dist="20000" dir="5400000" rotWithShape="0">
                  <a:srgbClr val="000000">
                    <a:alpha val="38000"/>
                  </a:srgbClr>
                </a:outerShdw>
              </a:effectLst>
            </p:spPr>
          </p:cxnSp>
          <p:cxnSp>
            <p:nvCxnSpPr>
              <p:cNvPr id="59" name="Straight Arrow Connector 58">
                <a:extLst>
                  <a:ext uri="{FF2B5EF4-FFF2-40B4-BE49-F238E27FC236}">
                    <a16:creationId xmlns:a16="http://schemas.microsoft.com/office/drawing/2014/main" id="{95E31849-70C9-4A62-84C7-B9F01CCE24E0}"/>
                  </a:ext>
                </a:extLst>
              </p:cNvPr>
              <p:cNvCxnSpPr/>
              <p:nvPr/>
            </p:nvCxnSpPr>
            <p:spPr>
              <a:xfrm>
                <a:off x="3035800" y="4888390"/>
                <a:ext cx="576075" cy="1588"/>
              </a:xfrm>
              <a:prstGeom prst="straightConnector1">
                <a:avLst/>
              </a:prstGeom>
              <a:noFill/>
              <a:ln w="25400" cap="flat" cmpd="sng" algn="ctr">
                <a:solidFill>
                  <a:srgbClr val="008CA8"/>
                </a:solidFill>
                <a:prstDash val="solid"/>
                <a:tailEnd type="arrow"/>
              </a:ln>
              <a:effectLst>
                <a:outerShdw blurRad="40000" dist="20000" dir="5400000" rotWithShape="0">
                  <a:srgbClr val="000000">
                    <a:alpha val="38000"/>
                  </a:srgbClr>
                </a:outerShdw>
              </a:effectLst>
            </p:spPr>
          </p:cxnSp>
          <p:cxnSp>
            <p:nvCxnSpPr>
              <p:cNvPr id="60" name="Straight Arrow Connector 59">
                <a:extLst>
                  <a:ext uri="{FF2B5EF4-FFF2-40B4-BE49-F238E27FC236}">
                    <a16:creationId xmlns:a16="http://schemas.microsoft.com/office/drawing/2014/main" id="{16DF431D-0A3C-49FE-86DA-7865AC49C3F4}"/>
                  </a:ext>
                </a:extLst>
              </p:cNvPr>
              <p:cNvCxnSpPr/>
              <p:nvPr/>
            </p:nvCxnSpPr>
            <p:spPr>
              <a:xfrm>
                <a:off x="3035800" y="4579562"/>
                <a:ext cx="576075" cy="1588"/>
              </a:xfrm>
              <a:prstGeom prst="straightConnector1">
                <a:avLst/>
              </a:prstGeom>
              <a:noFill/>
              <a:ln w="25400" cap="flat" cmpd="sng" algn="ctr">
                <a:solidFill>
                  <a:srgbClr val="008CA8"/>
                </a:solidFill>
                <a:prstDash val="solid"/>
                <a:tailEnd type="arrow"/>
              </a:ln>
              <a:effectLst>
                <a:outerShdw blurRad="40000" dist="20000" dir="5400000" rotWithShape="0">
                  <a:srgbClr val="000000">
                    <a:alpha val="38000"/>
                  </a:srgbClr>
                </a:outerShdw>
              </a:effectLst>
            </p:spPr>
          </p:cxnSp>
          <p:cxnSp>
            <p:nvCxnSpPr>
              <p:cNvPr id="61" name="Straight Arrow Connector 60">
                <a:extLst>
                  <a:ext uri="{FF2B5EF4-FFF2-40B4-BE49-F238E27FC236}">
                    <a16:creationId xmlns:a16="http://schemas.microsoft.com/office/drawing/2014/main" id="{E3E0C8FC-C78E-40CE-8C8A-337EBE56C6DE}"/>
                  </a:ext>
                </a:extLst>
              </p:cNvPr>
              <p:cNvCxnSpPr/>
              <p:nvPr/>
            </p:nvCxnSpPr>
            <p:spPr>
              <a:xfrm>
                <a:off x="3035800" y="4197100"/>
                <a:ext cx="576075" cy="1588"/>
              </a:xfrm>
              <a:prstGeom prst="straightConnector1">
                <a:avLst/>
              </a:prstGeom>
              <a:noFill/>
              <a:ln w="25400" cap="flat" cmpd="sng" algn="ctr">
                <a:solidFill>
                  <a:srgbClr val="008CA8"/>
                </a:solidFill>
                <a:prstDash val="solid"/>
                <a:tailEnd type="arrow"/>
              </a:ln>
              <a:effectLst>
                <a:outerShdw blurRad="40000" dist="20000" dir="5400000" rotWithShape="0">
                  <a:srgbClr val="000000">
                    <a:alpha val="38000"/>
                  </a:srgbClr>
                </a:outerShdw>
              </a:effectLst>
            </p:spPr>
          </p:cxnSp>
          <p:cxnSp>
            <p:nvCxnSpPr>
              <p:cNvPr id="62" name="Straight Arrow Connector 61">
                <a:extLst>
                  <a:ext uri="{FF2B5EF4-FFF2-40B4-BE49-F238E27FC236}">
                    <a16:creationId xmlns:a16="http://schemas.microsoft.com/office/drawing/2014/main" id="{B069D18C-2CE1-4C8C-B441-724E012B596A}"/>
                  </a:ext>
                </a:extLst>
              </p:cNvPr>
              <p:cNvCxnSpPr/>
              <p:nvPr/>
            </p:nvCxnSpPr>
            <p:spPr>
              <a:xfrm>
                <a:off x="3035800" y="3889860"/>
                <a:ext cx="576075" cy="1588"/>
              </a:xfrm>
              <a:prstGeom prst="straightConnector1">
                <a:avLst/>
              </a:prstGeom>
              <a:noFill/>
              <a:ln w="25400" cap="flat" cmpd="sng" algn="ctr">
                <a:solidFill>
                  <a:srgbClr val="008CA8"/>
                </a:solidFill>
                <a:prstDash val="solid"/>
                <a:tailEnd type="arrow"/>
              </a:ln>
              <a:effectLst>
                <a:outerShdw blurRad="40000" dist="20000" dir="5400000" rotWithShape="0">
                  <a:srgbClr val="000000">
                    <a:alpha val="38000"/>
                  </a:srgbClr>
                </a:outerShdw>
              </a:effectLst>
            </p:spPr>
          </p:cxnSp>
          <p:cxnSp>
            <p:nvCxnSpPr>
              <p:cNvPr id="63" name="Straight Arrow Connector 62">
                <a:extLst>
                  <a:ext uri="{FF2B5EF4-FFF2-40B4-BE49-F238E27FC236}">
                    <a16:creationId xmlns:a16="http://schemas.microsoft.com/office/drawing/2014/main" id="{A65B9EEA-5730-4133-B398-5B12A5A36E4B}"/>
                  </a:ext>
                </a:extLst>
              </p:cNvPr>
              <p:cNvCxnSpPr/>
              <p:nvPr/>
            </p:nvCxnSpPr>
            <p:spPr>
              <a:xfrm>
                <a:off x="3035800" y="3544215"/>
                <a:ext cx="576075" cy="1588"/>
              </a:xfrm>
              <a:prstGeom prst="straightConnector1">
                <a:avLst/>
              </a:prstGeom>
              <a:noFill/>
              <a:ln w="25400" cap="flat" cmpd="sng" algn="ctr">
                <a:solidFill>
                  <a:srgbClr val="008CA8"/>
                </a:solidFill>
                <a:prstDash val="solid"/>
                <a:tailEnd type="arrow"/>
              </a:ln>
              <a:effectLst>
                <a:outerShdw blurRad="40000" dist="20000" dir="5400000" rotWithShape="0">
                  <a:srgbClr val="000000">
                    <a:alpha val="38000"/>
                  </a:srgbClr>
                </a:outerShdw>
              </a:effectLst>
            </p:spPr>
          </p:cxnSp>
          <p:cxnSp>
            <p:nvCxnSpPr>
              <p:cNvPr id="64" name="Straight Arrow Connector 63">
                <a:extLst>
                  <a:ext uri="{FF2B5EF4-FFF2-40B4-BE49-F238E27FC236}">
                    <a16:creationId xmlns:a16="http://schemas.microsoft.com/office/drawing/2014/main" id="{00403DDB-023A-4C2F-93E9-192726493E41}"/>
                  </a:ext>
                </a:extLst>
              </p:cNvPr>
              <p:cNvCxnSpPr/>
              <p:nvPr/>
            </p:nvCxnSpPr>
            <p:spPr>
              <a:xfrm>
                <a:off x="1192360" y="5234035"/>
                <a:ext cx="2419515" cy="1588"/>
              </a:xfrm>
              <a:prstGeom prst="straightConnector1">
                <a:avLst/>
              </a:prstGeom>
              <a:noFill/>
              <a:ln w="25400" cap="flat" cmpd="sng" algn="ctr">
                <a:solidFill>
                  <a:srgbClr val="008CA8"/>
                </a:solidFill>
                <a:prstDash val="solid"/>
                <a:tailEnd type="arrow"/>
              </a:ln>
              <a:effectLst>
                <a:outerShdw blurRad="40000" dist="20000" dir="5400000" rotWithShape="0">
                  <a:srgbClr val="000000">
                    <a:alpha val="38000"/>
                  </a:srgbClr>
                </a:outerShdw>
              </a:effectLst>
            </p:spPr>
          </p:cxnSp>
          <p:sp>
            <p:nvSpPr>
              <p:cNvPr id="65" name="TextBox 64">
                <a:extLst>
                  <a:ext uri="{FF2B5EF4-FFF2-40B4-BE49-F238E27FC236}">
                    <a16:creationId xmlns:a16="http://schemas.microsoft.com/office/drawing/2014/main" id="{01B255F1-9006-4CC9-98AB-67554E8D09D3}"/>
                  </a:ext>
                </a:extLst>
              </p:cNvPr>
              <p:cNvSpPr txBox="1"/>
              <p:nvPr/>
            </p:nvSpPr>
            <p:spPr>
              <a:xfrm>
                <a:off x="3266229" y="5810110"/>
                <a:ext cx="1267366" cy="461665"/>
              </a:xfrm>
              <a:prstGeom prst="rect">
                <a:avLst/>
              </a:prstGeom>
              <a:solidFill>
                <a:srgbClr val="FFFF99"/>
              </a:solidFill>
              <a:ln w="19050">
                <a:solidFill>
                  <a:srgbClr val="000000"/>
                </a:solidFill>
              </a:ln>
              <a:effectLst>
                <a:innerShdw blurRad="63500" dist="50800" dir="2700000">
                  <a:prstClr val="black">
                    <a:alpha val="50000"/>
                  </a:prstClr>
                </a:innerShdw>
              </a:effectLst>
            </p:spPr>
            <p:txBody>
              <a:bodyPr wrap="square" rtlCol="0">
                <a:spAutoFit/>
              </a:bodyPr>
              <a:lstStyle/>
              <a:p>
                <a:pPr algn="ctr" defTabSz="457200" fontAlgn="base">
                  <a:spcBef>
                    <a:spcPct val="0"/>
                  </a:spcBef>
                  <a:spcAft>
                    <a:spcPct val="0"/>
                  </a:spcAft>
                  <a:defRPr/>
                </a:pPr>
                <a:r>
                  <a:rPr lang="en-US" sz="1200" b="1" kern="0" dirty="0">
                    <a:solidFill>
                      <a:prstClr val="black"/>
                    </a:solidFill>
                    <a:ea typeface="ＭＳ Ｐゴシック" pitchFamily="34" charset="-128"/>
                    <a:cs typeface="Arial" charset="0"/>
                  </a:rPr>
                  <a:t>Operations are extracted…</a:t>
                </a:r>
              </a:p>
            </p:txBody>
          </p:sp>
          <p:sp>
            <p:nvSpPr>
              <p:cNvPr id="66" name="Rectangle 65">
                <a:extLst>
                  <a:ext uri="{FF2B5EF4-FFF2-40B4-BE49-F238E27FC236}">
                    <a16:creationId xmlns:a16="http://schemas.microsoft.com/office/drawing/2014/main" id="{2645BEA5-AA3E-4CC0-BE7C-D9923BC6EB0F}"/>
                  </a:ext>
                </a:extLst>
              </p:cNvPr>
              <p:cNvSpPr/>
              <p:nvPr/>
            </p:nvSpPr>
            <p:spPr>
              <a:xfrm>
                <a:off x="3688685" y="3467405"/>
                <a:ext cx="537670" cy="26883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kern="0" dirty="0">
                    <a:solidFill>
                      <a:sysClr val="windowText" lastClr="000000"/>
                    </a:solidFill>
                    <a:latin typeface="Arial"/>
                  </a:rPr>
                  <a:t>-</a:t>
                </a:r>
              </a:p>
            </p:txBody>
          </p:sp>
          <p:sp>
            <p:nvSpPr>
              <p:cNvPr id="67" name="Rectangle 66">
                <a:extLst>
                  <a:ext uri="{FF2B5EF4-FFF2-40B4-BE49-F238E27FC236}">
                    <a16:creationId xmlns:a16="http://schemas.microsoft.com/office/drawing/2014/main" id="{7E387BA6-1405-43A0-97C7-8F603659CDAE}"/>
                  </a:ext>
                </a:extLst>
              </p:cNvPr>
              <p:cNvSpPr/>
              <p:nvPr/>
            </p:nvSpPr>
            <p:spPr>
              <a:xfrm>
                <a:off x="3688685" y="3774645"/>
                <a:ext cx="537670" cy="26883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kern="0" dirty="0">
                    <a:solidFill>
                      <a:sysClr val="windowText" lastClr="000000"/>
                    </a:solidFill>
                    <a:latin typeface="Arial"/>
                  </a:rPr>
                  <a:t>==</a:t>
                </a:r>
              </a:p>
            </p:txBody>
          </p:sp>
          <p:sp>
            <p:nvSpPr>
              <p:cNvPr id="68" name="Rectangle 67">
                <a:extLst>
                  <a:ext uri="{FF2B5EF4-FFF2-40B4-BE49-F238E27FC236}">
                    <a16:creationId xmlns:a16="http://schemas.microsoft.com/office/drawing/2014/main" id="{2D4DA51C-4284-4B15-A075-1CE7CC9B38FB}"/>
                  </a:ext>
                </a:extLst>
              </p:cNvPr>
              <p:cNvSpPr/>
              <p:nvPr/>
            </p:nvSpPr>
            <p:spPr>
              <a:xfrm>
                <a:off x="3688685" y="4081885"/>
                <a:ext cx="537670" cy="26883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kern="0" dirty="0">
                    <a:solidFill>
                      <a:sysClr val="windowText" lastClr="000000"/>
                    </a:solidFill>
                    <a:latin typeface="Arial"/>
                  </a:rPr>
                  <a:t>+</a:t>
                </a:r>
              </a:p>
            </p:txBody>
          </p:sp>
          <p:sp>
            <p:nvSpPr>
              <p:cNvPr id="69" name="Rectangle 68">
                <a:extLst>
                  <a:ext uri="{FF2B5EF4-FFF2-40B4-BE49-F238E27FC236}">
                    <a16:creationId xmlns:a16="http://schemas.microsoft.com/office/drawing/2014/main" id="{6DFDFE35-8A47-4541-A65A-8F9EEC4BB6A9}"/>
                  </a:ext>
                </a:extLst>
              </p:cNvPr>
              <p:cNvSpPr/>
              <p:nvPr/>
            </p:nvSpPr>
            <p:spPr>
              <a:xfrm>
                <a:off x="3688685" y="3160165"/>
                <a:ext cx="537670" cy="26883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kern="0" dirty="0">
                    <a:solidFill>
                      <a:sysClr val="windowText" lastClr="000000"/>
                    </a:solidFill>
                    <a:latin typeface="Arial"/>
                  </a:rPr>
                  <a:t>&gt;=</a:t>
                </a:r>
              </a:p>
            </p:txBody>
          </p:sp>
          <p:sp>
            <p:nvSpPr>
              <p:cNvPr id="70" name="Rectangle 69">
                <a:extLst>
                  <a:ext uri="{FF2B5EF4-FFF2-40B4-BE49-F238E27FC236}">
                    <a16:creationId xmlns:a16="http://schemas.microsoft.com/office/drawing/2014/main" id="{E1690C78-5C7D-4B80-B093-052F485E74E5}"/>
                  </a:ext>
                </a:extLst>
              </p:cNvPr>
              <p:cNvSpPr/>
              <p:nvPr/>
            </p:nvSpPr>
            <p:spPr>
              <a:xfrm>
                <a:off x="3688685" y="4389125"/>
                <a:ext cx="537670" cy="26883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kern="0" dirty="0">
                    <a:solidFill>
                      <a:sysClr val="windowText" lastClr="000000"/>
                    </a:solidFill>
                    <a:latin typeface="Arial"/>
                  </a:rPr>
                  <a:t>*</a:t>
                </a:r>
              </a:p>
            </p:txBody>
          </p:sp>
          <p:sp>
            <p:nvSpPr>
              <p:cNvPr id="71" name="Rectangle 70">
                <a:extLst>
                  <a:ext uri="{FF2B5EF4-FFF2-40B4-BE49-F238E27FC236}">
                    <a16:creationId xmlns:a16="http://schemas.microsoft.com/office/drawing/2014/main" id="{573F8AFC-CA61-4C56-A613-9A44DDC0497F}"/>
                  </a:ext>
                </a:extLst>
              </p:cNvPr>
              <p:cNvSpPr/>
              <p:nvPr/>
            </p:nvSpPr>
            <p:spPr>
              <a:xfrm>
                <a:off x="3686880" y="4696365"/>
                <a:ext cx="537670" cy="26883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kern="0" dirty="0">
                    <a:solidFill>
                      <a:sysClr val="windowText" lastClr="000000"/>
                    </a:solidFill>
                    <a:latin typeface="Arial"/>
                  </a:rPr>
                  <a:t>+</a:t>
                </a:r>
              </a:p>
            </p:txBody>
          </p:sp>
          <p:sp>
            <p:nvSpPr>
              <p:cNvPr id="72" name="Rectangle 71">
                <a:extLst>
                  <a:ext uri="{FF2B5EF4-FFF2-40B4-BE49-F238E27FC236}">
                    <a16:creationId xmlns:a16="http://schemas.microsoft.com/office/drawing/2014/main" id="{9ABF8D3A-BD98-4BB7-8C02-3A6C7C1697AD}"/>
                  </a:ext>
                </a:extLst>
              </p:cNvPr>
              <p:cNvSpPr/>
              <p:nvPr/>
            </p:nvSpPr>
            <p:spPr>
              <a:xfrm>
                <a:off x="3686880" y="5003605"/>
                <a:ext cx="537670" cy="26883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kern="0" dirty="0">
                    <a:solidFill>
                      <a:sysClr val="windowText" lastClr="000000"/>
                    </a:solidFill>
                    <a:latin typeface="Arial"/>
                  </a:rPr>
                  <a:t>*</a:t>
                </a:r>
              </a:p>
            </p:txBody>
          </p:sp>
          <p:sp>
            <p:nvSpPr>
              <p:cNvPr id="77" name="Rectangle 76">
                <a:extLst>
                  <a:ext uri="{FF2B5EF4-FFF2-40B4-BE49-F238E27FC236}">
                    <a16:creationId xmlns:a16="http://schemas.microsoft.com/office/drawing/2014/main" id="{A4CF89A5-3146-4478-9CA5-DFA169DCA7F8}"/>
                  </a:ext>
                </a:extLst>
              </p:cNvPr>
              <p:cNvSpPr/>
              <p:nvPr/>
            </p:nvSpPr>
            <p:spPr>
              <a:xfrm>
                <a:off x="3688685" y="2545685"/>
                <a:ext cx="537670" cy="26883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200" kern="0" dirty="0" err="1">
                    <a:solidFill>
                      <a:sysClr val="windowText" lastClr="000000"/>
                    </a:solidFill>
                    <a:latin typeface="Arial"/>
                  </a:rPr>
                  <a:t>RDx</a:t>
                </a:r>
                <a:endParaRPr lang="en-US" sz="1200" kern="0" dirty="0">
                  <a:solidFill>
                    <a:sysClr val="windowText" lastClr="000000"/>
                  </a:solidFill>
                  <a:latin typeface="Arial"/>
                </a:endParaRPr>
              </a:p>
            </p:txBody>
          </p:sp>
          <p:sp>
            <p:nvSpPr>
              <p:cNvPr id="79" name="Rectangle 78">
                <a:extLst>
                  <a:ext uri="{FF2B5EF4-FFF2-40B4-BE49-F238E27FC236}">
                    <a16:creationId xmlns:a16="http://schemas.microsoft.com/office/drawing/2014/main" id="{6E00CE76-C8A5-4F72-9865-E46FA1073BD6}"/>
                  </a:ext>
                </a:extLst>
              </p:cNvPr>
              <p:cNvSpPr/>
              <p:nvPr/>
            </p:nvSpPr>
            <p:spPr>
              <a:xfrm>
                <a:off x="3688685" y="5310845"/>
                <a:ext cx="537670" cy="26883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200" kern="0" dirty="0" err="1">
                    <a:solidFill>
                      <a:sysClr val="windowText" lastClr="000000"/>
                    </a:solidFill>
                    <a:latin typeface="Arial"/>
                  </a:rPr>
                  <a:t>WRy</a:t>
                </a:r>
                <a:endParaRPr lang="en-US" sz="1200" kern="0" dirty="0">
                  <a:solidFill>
                    <a:sysClr val="windowText" lastClr="000000"/>
                  </a:solidFill>
                  <a:latin typeface="Arial"/>
                </a:endParaRPr>
              </a:p>
            </p:txBody>
          </p:sp>
          <p:sp>
            <p:nvSpPr>
              <p:cNvPr id="84" name="Rectangle 83">
                <a:extLst>
                  <a:ext uri="{FF2B5EF4-FFF2-40B4-BE49-F238E27FC236}">
                    <a16:creationId xmlns:a16="http://schemas.microsoft.com/office/drawing/2014/main" id="{5A2610AE-DAF3-43EC-B43A-A0764579666D}"/>
                  </a:ext>
                </a:extLst>
              </p:cNvPr>
              <p:cNvSpPr/>
              <p:nvPr/>
            </p:nvSpPr>
            <p:spPr>
              <a:xfrm>
                <a:off x="3688685" y="2852925"/>
                <a:ext cx="537670" cy="26883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200" kern="0" dirty="0" err="1">
                    <a:solidFill>
                      <a:sysClr val="windowText" lastClr="000000"/>
                    </a:solidFill>
                    <a:latin typeface="Arial"/>
                  </a:rPr>
                  <a:t>RDc</a:t>
                </a:r>
                <a:endParaRPr lang="en-US" sz="1200" kern="0" dirty="0">
                  <a:solidFill>
                    <a:sysClr val="windowText" lastClr="000000"/>
                  </a:solidFill>
                  <a:latin typeface="Arial"/>
                </a:endParaRPr>
              </a:p>
            </p:txBody>
          </p:sp>
        </p:grpSp>
      </p:grpSp>
      <p:grpSp>
        <p:nvGrpSpPr>
          <p:cNvPr id="90" name="Group 106">
            <a:extLst>
              <a:ext uri="{FF2B5EF4-FFF2-40B4-BE49-F238E27FC236}">
                <a16:creationId xmlns:a16="http://schemas.microsoft.com/office/drawing/2014/main" id="{C0FC98F9-6B7F-44E8-B67C-D6A73ED4E8AA}"/>
              </a:ext>
            </a:extLst>
          </p:cNvPr>
          <p:cNvGrpSpPr/>
          <p:nvPr/>
        </p:nvGrpSpPr>
        <p:grpSpPr>
          <a:xfrm>
            <a:off x="6249582" y="1623970"/>
            <a:ext cx="5206056" cy="4647005"/>
            <a:chOff x="4687215" y="1623965"/>
            <a:chExt cx="3905559" cy="4647005"/>
          </a:xfrm>
        </p:grpSpPr>
        <p:sp>
          <p:nvSpPr>
            <p:cNvPr id="91" name="Left Brace 90">
              <a:extLst>
                <a:ext uri="{FF2B5EF4-FFF2-40B4-BE49-F238E27FC236}">
                  <a16:creationId xmlns:a16="http://schemas.microsoft.com/office/drawing/2014/main" id="{EEC7E47B-59CA-4295-8D68-03E55C67F6A2}"/>
                </a:ext>
              </a:extLst>
            </p:cNvPr>
            <p:cNvSpPr/>
            <p:nvPr/>
          </p:nvSpPr>
          <p:spPr>
            <a:xfrm>
              <a:off x="4687215" y="2084825"/>
              <a:ext cx="268835" cy="3571665"/>
            </a:xfrm>
            <a:prstGeom prst="leftBrace">
              <a:avLst/>
            </a:prstGeom>
            <a:noFill/>
            <a:ln w="25400" cap="flat" cmpd="sng" algn="ctr">
              <a:solidFill>
                <a:srgbClr val="008CA8"/>
              </a:solidFill>
              <a:prstDash val="solid"/>
            </a:ln>
            <a:effectLst>
              <a:outerShdw blurRad="40000" dist="20000" dir="5400000" rotWithShape="0">
                <a:srgbClr val="000000">
                  <a:alpha val="38000"/>
                </a:srgbClr>
              </a:outerShdw>
            </a:effectLst>
          </p:spPr>
          <p:txBody>
            <a:bodyPr rtlCol="0" anchor="ctr"/>
            <a:lstStyle/>
            <a:p>
              <a:pPr algn="ctr" defTabSz="457200" fontAlgn="base">
                <a:spcBef>
                  <a:spcPct val="0"/>
                </a:spcBef>
                <a:spcAft>
                  <a:spcPct val="0"/>
                </a:spcAft>
                <a:defRPr/>
              </a:pPr>
              <a:endParaRPr lang="en-US" kern="0">
                <a:solidFill>
                  <a:prstClr val="black"/>
                </a:solidFill>
                <a:latin typeface="Arial"/>
              </a:endParaRPr>
            </a:p>
          </p:txBody>
        </p:sp>
        <p:sp>
          <p:nvSpPr>
            <p:cNvPr id="92" name="TextBox 91">
              <a:extLst>
                <a:ext uri="{FF2B5EF4-FFF2-40B4-BE49-F238E27FC236}">
                  <a16:creationId xmlns:a16="http://schemas.microsoft.com/office/drawing/2014/main" id="{5D16BEE1-F3A5-4233-8BA2-40113843F9DD}"/>
                </a:ext>
              </a:extLst>
            </p:cNvPr>
            <p:cNvSpPr txBox="1"/>
            <p:nvPr/>
          </p:nvSpPr>
          <p:spPr>
            <a:xfrm>
              <a:off x="6045818" y="1623965"/>
              <a:ext cx="1636987" cy="307777"/>
            </a:xfrm>
            <a:prstGeom prst="rect">
              <a:avLst/>
            </a:prstGeom>
            <a:noFill/>
          </p:spPr>
          <p:txBody>
            <a:bodyPr wrap="square" rtlCol="0">
              <a:spAutoFit/>
            </a:bodyPr>
            <a:lstStyle/>
            <a:p>
              <a:pPr algn="ctr" defTabSz="457200" fontAlgn="base">
                <a:spcBef>
                  <a:spcPct val="0"/>
                </a:spcBef>
                <a:spcAft>
                  <a:spcPct val="0"/>
                </a:spcAft>
                <a:defRPr/>
              </a:pPr>
              <a:r>
                <a:rPr lang="en-US" sz="1400" b="1" u="sng" kern="0" dirty="0">
                  <a:solidFill>
                    <a:prstClr val="black"/>
                  </a:solidFill>
                  <a:ea typeface="ＭＳ Ｐゴシック" pitchFamily="34" charset="-128"/>
                  <a:cs typeface="Arial" charset="0"/>
                </a:rPr>
                <a:t>Types</a:t>
              </a:r>
            </a:p>
          </p:txBody>
        </p:sp>
        <p:sp>
          <p:nvSpPr>
            <p:cNvPr id="93" name="TextBox 92">
              <a:extLst>
                <a:ext uri="{FF2B5EF4-FFF2-40B4-BE49-F238E27FC236}">
                  <a16:creationId xmlns:a16="http://schemas.microsoft.com/office/drawing/2014/main" id="{62490D7A-A8CA-4518-A258-18AA0EC52EA6}"/>
                </a:ext>
              </a:extLst>
            </p:cNvPr>
            <p:cNvSpPr txBox="1"/>
            <p:nvPr/>
          </p:nvSpPr>
          <p:spPr>
            <a:xfrm>
              <a:off x="5263290" y="5809305"/>
              <a:ext cx="3110805" cy="461665"/>
            </a:xfrm>
            <a:prstGeom prst="rect">
              <a:avLst/>
            </a:prstGeom>
            <a:solidFill>
              <a:srgbClr val="FFFF99"/>
            </a:solidFill>
            <a:ln w="19050">
              <a:solidFill>
                <a:srgbClr val="000000"/>
              </a:solidFill>
            </a:ln>
            <a:effectLst>
              <a:innerShdw blurRad="63500" dist="50800" dir="2700000">
                <a:prstClr val="black">
                  <a:alpha val="50000"/>
                </a:prstClr>
              </a:innerShdw>
            </a:effectLst>
          </p:spPr>
          <p:txBody>
            <a:bodyPr wrap="square" rtlCol="0">
              <a:spAutoFit/>
            </a:bodyPr>
            <a:lstStyle/>
            <a:p>
              <a:pPr algn="ctr" defTabSz="457200" fontAlgn="base">
                <a:spcBef>
                  <a:spcPct val="0"/>
                </a:spcBef>
                <a:spcAft>
                  <a:spcPct val="0"/>
                </a:spcAft>
                <a:defRPr/>
              </a:pPr>
              <a:r>
                <a:rPr lang="en-US" sz="1200" b="1" kern="0" dirty="0">
                  <a:solidFill>
                    <a:prstClr val="black"/>
                  </a:solidFill>
                  <a:ea typeface="ＭＳ Ｐゴシック" pitchFamily="34" charset="-128"/>
                  <a:cs typeface="Arial" charset="0"/>
                </a:rPr>
                <a:t>The C types define the size of the hardware used: handled automatically </a:t>
              </a:r>
            </a:p>
          </p:txBody>
        </p:sp>
        <p:sp>
          <p:nvSpPr>
            <p:cNvPr id="95" name="TextBox 94">
              <a:extLst>
                <a:ext uri="{FF2B5EF4-FFF2-40B4-BE49-F238E27FC236}">
                  <a16:creationId xmlns:a16="http://schemas.microsoft.com/office/drawing/2014/main" id="{63110BDD-6764-496C-89A8-217D9A50D28F}"/>
                </a:ext>
              </a:extLst>
            </p:cNvPr>
            <p:cNvSpPr txBox="1"/>
            <p:nvPr/>
          </p:nvSpPr>
          <p:spPr>
            <a:xfrm>
              <a:off x="5174769" y="2460711"/>
              <a:ext cx="1000775" cy="276999"/>
            </a:xfrm>
            <a:prstGeom prst="rect">
              <a:avLst/>
            </a:prstGeom>
            <a:noFill/>
          </p:spPr>
          <p:txBody>
            <a:bodyPr wrap="none" rtlCol="0">
              <a:spAutoFit/>
            </a:bodyPr>
            <a:lstStyle/>
            <a:p>
              <a:pPr algn="ctr" defTabSz="457200" fontAlgn="base">
                <a:spcBef>
                  <a:spcPct val="0"/>
                </a:spcBef>
                <a:spcAft>
                  <a:spcPct val="0"/>
                </a:spcAft>
                <a:defRPr/>
              </a:pPr>
              <a:r>
                <a:rPr lang="en-US" sz="1200" kern="0" dirty="0">
                  <a:solidFill>
                    <a:prstClr val="black"/>
                  </a:solidFill>
                  <a:ea typeface="ＭＳ Ｐゴシック" pitchFamily="34" charset="-128"/>
                  <a:cs typeface="Arial" charset="0"/>
                </a:rPr>
                <a:t>long </a:t>
              </a:r>
              <a:r>
                <a:rPr lang="en-US" sz="1200" kern="0" dirty="0" err="1">
                  <a:solidFill>
                    <a:prstClr val="black"/>
                  </a:solidFill>
                  <a:ea typeface="ＭＳ Ｐゴシック" pitchFamily="34" charset="-128"/>
                  <a:cs typeface="Arial" charset="0"/>
                </a:rPr>
                <a:t>long</a:t>
              </a:r>
              <a:r>
                <a:rPr lang="en-US" sz="1200" kern="0" dirty="0">
                  <a:solidFill>
                    <a:prstClr val="black"/>
                  </a:solidFill>
                  <a:ea typeface="ＭＳ Ｐゴシック" pitchFamily="34" charset="-128"/>
                  <a:cs typeface="Arial" charset="0"/>
                </a:rPr>
                <a:t> (64-bit)</a:t>
              </a:r>
            </a:p>
          </p:txBody>
        </p:sp>
        <p:sp>
          <p:nvSpPr>
            <p:cNvPr id="99" name="TextBox 98">
              <a:extLst>
                <a:ext uri="{FF2B5EF4-FFF2-40B4-BE49-F238E27FC236}">
                  <a16:creationId xmlns:a16="http://schemas.microsoft.com/office/drawing/2014/main" id="{9E9BB591-F6DB-4EA2-B3FA-DE2DF8ABDC38}"/>
                </a:ext>
              </a:extLst>
            </p:cNvPr>
            <p:cNvSpPr txBox="1"/>
            <p:nvPr/>
          </p:nvSpPr>
          <p:spPr>
            <a:xfrm>
              <a:off x="5103902" y="2737710"/>
              <a:ext cx="656842" cy="276999"/>
            </a:xfrm>
            <a:prstGeom prst="rect">
              <a:avLst/>
            </a:prstGeom>
            <a:noFill/>
          </p:spPr>
          <p:txBody>
            <a:bodyPr wrap="none" rtlCol="0">
              <a:spAutoFit/>
            </a:bodyPr>
            <a:lstStyle/>
            <a:p>
              <a:pPr algn="ctr" defTabSz="457200" fontAlgn="base">
                <a:spcBef>
                  <a:spcPct val="0"/>
                </a:spcBef>
                <a:spcAft>
                  <a:spcPct val="0"/>
                </a:spcAft>
                <a:defRPr/>
              </a:pPr>
              <a:r>
                <a:rPr lang="en-US" sz="1200" kern="0" dirty="0" err="1">
                  <a:solidFill>
                    <a:prstClr val="black"/>
                  </a:solidFill>
                  <a:ea typeface="ＭＳ Ｐゴシック" pitchFamily="34" charset="-128"/>
                  <a:cs typeface="Arial" charset="0"/>
                </a:rPr>
                <a:t>int</a:t>
              </a:r>
              <a:r>
                <a:rPr lang="en-US" sz="1200" kern="0" dirty="0">
                  <a:solidFill>
                    <a:prstClr val="black"/>
                  </a:solidFill>
                  <a:ea typeface="ＭＳ Ｐゴシック" pitchFamily="34" charset="-128"/>
                  <a:cs typeface="Arial" charset="0"/>
                </a:rPr>
                <a:t> (32-bit)</a:t>
              </a:r>
            </a:p>
          </p:txBody>
        </p:sp>
        <p:sp>
          <p:nvSpPr>
            <p:cNvPr id="102" name="TextBox 101">
              <a:extLst>
                <a:ext uri="{FF2B5EF4-FFF2-40B4-BE49-F238E27FC236}">
                  <a16:creationId xmlns:a16="http://schemas.microsoft.com/office/drawing/2014/main" id="{4D172562-9D3C-4196-B474-5669590DCD68}"/>
                </a:ext>
              </a:extLst>
            </p:cNvPr>
            <p:cNvSpPr txBox="1"/>
            <p:nvPr/>
          </p:nvSpPr>
          <p:spPr>
            <a:xfrm>
              <a:off x="6452254" y="2460711"/>
              <a:ext cx="791528" cy="276999"/>
            </a:xfrm>
            <a:prstGeom prst="rect">
              <a:avLst/>
            </a:prstGeom>
            <a:noFill/>
          </p:spPr>
          <p:txBody>
            <a:bodyPr wrap="none" rtlCol="0">
              <a:spAutoFit/>
            </a:bodyPr>
            <a:lstStyle/>
            <a:p>
              <a:pPr algn="ctr" defTabSz="457200" fontAlgn="base">
                <a:spcBef>
                  <a:spcPct val="0"/>
                </a:spcBef>
                <a:spcAft>
                  <a:spcPct val="0"/>
                </a:spcAft>
                <a:defRPr/>
              </a:pPr>
              <a:r>
                <a:rPr lang="en-US" sz="1200" kern="0" dirty="0">
                  <a:solidFill>
                    <a:prstClr val="black"/>
                  </a:solidFill>
                  <a:ea typeface="ＭＳ Ｐゴシック" pitchFamily="34" charset="-128"/>
                  <a:cs typeface="Arial" charset="0"/>
                </a:rPr>
                <a:t>short (16-bit)</a:t>
              </a:r>
            </a:p>
          </p:txBody>
        </p:sp>
        <p:sp>
          <p:nvSpPr>
            <p:cNvPr id="104" name="TextBox 103">
              <a:extLst>
                <a:ext uri="{FF2B5EF4-FFF2-40B4-BE49-F238E27FC236}">
                  <a16:creationId xmlns:a16="http://schemas.microsoft.com/office/drawing/2014/main" id="{3575DCD7-DED4-48DD-A7F1-5CCECDFEDDED}"/>
                </a:ext>
              </a:extLst>
            </p:cNvPr>
            <p:cNvSpPr txBox="1"/>
            <p:nvPr/>
          </p:nvSpPr>
          <p:spPr>
            <a:xfrm>
              <a:off x="6483589" y="2729546"/>
              <a:ext cx="695324" cy="276999"/>
            </a:xfrm>
            <a:prstGeom prst="rect">
              <a:avLst/>
            </a:prstGeom>
            <a:noFill/>
          </p:spPr>
          <p:txBody>
            <a:bodyPr wrap="none" rtlCol="0">
              <a:spAutoFit/>
            </a:bodyPr>
            <a:lstStyle/>
            <a:p>
              <a:pPr algn="ctr" defTabSz="457200" fontAlgn="base">
                <a:spcBef>
                  <a:spcPct val="0"/>
                </a:spcBef>
                <a:spcAft>
                  <a:spcPct val="0"/>
                </a:spcAft>
                <a:defRPr/>
              </a:pPr>
              <a:r>
                <a:rPr lang="en-US" sz="1200" kern="0" dirty="0">
                  <a:solidFill>
                    <a:prstClr val="black"/>
                  </a:solidFill>
                  <a:ea typeface="ＭＳ Ｐゴシック" pitchFamily="34" charset="-128"/>
                  <a:cs typeface="Arial" charset="0"/>
                </a:rPr>
                <a:t>char (8-bit)</a:t>
              </a:r>
            </a:p>
          </p:txBody>
        </p:sp>
        <p:sp>
          <p:nvSpPr>
            <p:cNvPr id="107" name="TextBox 106">
              <a:extLst>
                <a:ext uri="{FF2B5EF4-FFF2-40B4-BE49-F238E27FC236}">
                  <a16:creationId xmlns:a16="http://schemas.microsoft.com/office/drawing/2014/main" id="{3C2A8A55-167C-4CB9-B306-E08447F160A6}"/>
                </a:ext>
              </a:extLst>
            </p:cNvPr>
            <p:cNvSpPr txBox="1"/>
            <p:nvPr/>
          </p:nvSpPr>
          <p:spPr>
            <a:xfrm>
              <a:off x="6485030" y="3036786"/>
              <a:ext cx="879316" cy="276999"/>
            </a:xfrm>
            <a:prstGeom prst="rect">
              <a:avLst/>
            </a:prstGeom>
            <a:noFill/>
          </p:spPr>
          <p:txBody>
            <a:bodyPr wrap="none" rtlCol="0">
              <a:spAutoFit/>
            </a:bodyPr>
            <a:lstStyle/>
            <a:p>
              <a:pPr algn="ctr" defTabSz="457200" fontAlgn="base">
                <a:spcBef>
                  <a:spcPct val="0"/>
                </a:spcBef>
                <a:spcAft>
                  <a:spcPct val="0"/>
                </a:spcAft>
                <a:defRPr/>
              </a:pPr>
              <a:r>
                <a:rPr lang="en-US" sz="1200" kern="0" dirty="0">
                  <a:solidFill>
                    <a:prstClr val="black"/>
                  </a:solidFill>
                  <a:ea typeface="ＭＳ Ｐゴシック" pitchFamily="34" charset="-128"/>
                  <a:cs typeface="Arial" charset="0"/>
                </a:rPr>
                <a:t>double (64-bit)</a:t>
              </a:r>
            </a:p>
          </p:txBody>
        </p:sp>
        <p:sp>
          <p:nvSpPr>
            <p:cNvPr id="108" name="TextBox 107">
              <a:extLst>
                <a:ext uri="{FF2B5EF4-FFF2-40B4-BE49-F238E27FC236}">
                  <a16:creationId xmlns:a16="http://schemas.microsoft.com/office/drawing/2014/main" id="{BCAF2B10-ABF9-40FE-AF11-1E119CCBD91E}"/>
                </a:ext>
              </a:extLst>
            </p:cNvPr>
            <p:cNvSpPr txBox="1"/>
            <p:nvPr/>
          </p:nvSpPr>
          <p:spPr>
            <a:xfrm>
              <a:off x="5119832" y="3044950"/>
              <a:ext cx="753047" cy="276999"/>
            </a:xfrm>
            <a:prstGeom prst="rect">
              <a:avLst/>
            </a:prstGeom>
            <a:noFill/>
          </p:spPr>
          <p:txBody>
            <a:bodyPr wrap="none" rtlCol="0">
              <a:spAutoFit/>
            </a:bodyPr>
            <a:lstStyle/>
            <a:p>
              <a:pPr algn="ctr" defTabSz="457200" fontAlgn="base">
                <a:spcBef>
                  <a:spcPct val="0"/>
                </a:spcBef>
                <a:spcAft>
                  <a:spcPct val="0"/>
                </a:spcAft>
                <a:defRPr/>
              </a:pPr>
              <a:r>
                <a:rPr lang="en-US" sz="1200" kern="0" dirty="0">
                  <a:solidFill>
                    <a:prstClr val="black"/>
                  </a:solidFill>
                  <a:ea typeface="ＭＳ Ｐゴシック" pitchFamily="34" charset="-128"/>
                  <a:cs typeface="Arial" charset="0"/>
                </a:rPr>
                <a:t>float (32-bit)</a:t>
              </a:r>
            </a:p>
          </p:txBody>
        </p:sp>
        <p:sp>
          <p:nvSpPr>
            <p:cNvPr id="109" name="TextBox 108">
              <a:extLst>
                <a:ext uri="{FF2B5EF4-FFF2-40B4-BE49-F238E27FC236}">
                  <a16:creationId xmlns:a16="http://schemas.microsoft.com/office/drawing/2014/main" id="{268074BE-BF90-4C60-87EA-1D8A1EF8F197}"/>
                </a:ext>
              </a:extLst>
            </p:cNvPr>
            <p:cNvSpPr txBox="1"/>
            <p:nvPr/>
          </p:nvSpPr>
          <p:spPr>
            <a:xfrm>
              <a:off x="7680990" y="2460711"/>
              <a:ext cx="911784" cy="276999"/>
            </a:xfrm>
            <a:prstGeom prst="rect">
              <a:avLst/>
            </a:prstGeom>
            <a:noFill/>
          </p:spPr>
          <p:txBody>
            <a:bodyPr wrap="none" rtlCol="0">
              <a:spAutoFit/>
            </a:bodyPr>
            <a:lstStyle/>
            <a:p>
              <a:pPr algn="ctr" defTabSz="457200" fontAlgn="base">
                <a:spcBef>
                  <a:spcPct val="0"/>
                </a:spcBef>
                <a:spcAft>
                  <a:spcPct val="0"/>
                </a:spcAft>
                <a:defRPr/>
              </a:pPr>
              <a:r>
                <a:rPr lang="en-US" sz="1200" kern="0" dirty="0">
                  <a:solidFill>
                    <a:prstClr val="black"/>
                  </a:solidFill>
                  <a:ea typeface="ＭＳ Ｐゴシック" pitchFamily="34" charset="-128"/>
                  <a:cs typeface="Arial" charset="0"/>
                </a:rPr>
                <a:t>unsigned types</a:t>
              </a:r>
            </a:p>
          </p:txBody>
        </p:sp>
        <p:sp>
          <p:nvSpPr>
            <p:cNvPr id="110" name="TextBox 109">
              <a:extLst>
                <a:ext uri="{FF2B5EF4-FFF2-40B4-BE49-F238E27FC236}">
                  <a16:creationId xmlns:a16="http://schemas.microsoft.com/office/drawing/2014/main" id="{57F1CE7A-CD26-4EA6-A8CF-96E5AB053DF7}"/>
                </a:ext>
              </a:extLst>
            </p:cNvPr>
            <p:cNvSpPr txBox="1"/>
            <p:nvPr/>
          </p:nvSpPr>
          <p:spPr>
            <a:xfrm>
              <a:off x="4917645" y="2084825"/>
              <a:ext cx="1087360" cy="276999"/>
            </a:xfrm>
            <a:prstGeom prst="rect">
              <a:avLst/>
            </a:prstGeom>
            <a:noFill/>
          </p:spPr>
          <p:txBody>
            <a:bodyPr wrap="none" rtlCol="0">
              <a:spAutoFit/>
            </a:bodyPr>
            <a:lstStyle/>
            <a:p>
              <a:pPr defTabSz="457200" fontAlgn="base">
                <a:spcBef>
                  <a:spcPct val="0"/>
                </a:spcBef>
                <a:spcAft>
                  <a:spcPct val="0"/>
                </a:spcAft>
                <a:defRPr/>
              </a:pPr>
              <a:r>
                <a:rPr lang="en-US" sz="1200" b="1" u="sng" kern="0" dirty="0">
                  <a:solidFill>
                    <a:prstClr val="black"/>
                  </a:solidFill>
                  <a:ea typeface="ＭＳ Ｐゴシック" pitchFamily="34" charset="-128"/>
                  <a:cs typeface="Arial" charset="0"/>
                </a:rPr>
                <a:t>Standard C types</a:t>
              </a:r>
            </a:p>
          </p:txBody>
        </p:sp>
      </p:grpSp>
      <p:grpSp>
        <p:nvGrpSpPr>
          <p:cNvPr id="111" name="Group 108">
            <a:extLst>
              <a:ext uri="{FF2B5EF4-FFF2-40B4-BE49-F238E27FC236}">
                <a16:creationId xmlns:a16="http://schemas.microsoft.com/office/drawing/2014/main" id="{4DA513E9-F9C4-4FA9-B51A-69A2AF6D5098}"/>
              </a:ext>
            </a:extLst>
          </p:cNvPr>
          <p:cNvGrpSpPr/>
          <p:nvPr/>
        </p:nvGrpSpPr>
        <p:grpSpPr>
          <a:xfrm>
            <a:off x="6556743" y="3843469"/>
            <a:ext cx="5426493" cy="1890009"/>
            <a:chOff x="4917645" y="3843291"/>
            <a:chExt cx="4070930" cy="1890009"/>
          </a:xfrm>
        </p:grpSpPr>
        <p:sp>
          <p:nvSpPr>
            <p:cNvPr id="112" name="TextBox 111">
              <a:extLst>
                <a:ext uri="{FF2B5EF4-FFF2-40B4-BE49-F238E27FC236}">
                  <a16:creationId xmlns:a16="http://schemas.microsoft.com/office/drawing/2014/main" id="{DD1A3416-416E-4B3D-BED9-50F11D9E66D5}"/>
                </a:ext>
              </a:extLst>
            </p:cNvPr>
            <p:cNvSpPr txBox="1"/>
            <p:nvPr/>
          </p:nvSpPr>
          <p:spPr>
            <a:xfrm>
              <a:off x="4917645" y="3843291"/>
              <a:ext cx="1952779" cy="276999"/>
            </a:xfrm>
            <a:prstGeom prst="rect">
              <a:avLst/>
            </a:prstGeom>
            <a:noFill/>
          </p:spPr>
          <p:txBody>
            <a:bodyPr wrap="square" rtlCol="0">
              <a:spAutoFit/>
            </a:bodyPr>
            <a:lstStyle/>
            <a:p>
              <a:pPr defTabSz="457200" fontAlgn="base">
                <a:spcBef>
                  <a:spcPct val="0"/>
                </a:spcBef>
                <a:spcAft>
                  <a:spcPct val="0"/>
                </a:spcAft>
              </a:pPr>
              <a:r>
                <a:rPr lang="en-US" sz="1200" b="1" u="sng" dirty="0" err="1">
                  <a:solidFill>
                    <a:prstClr val="black"/>
                  </a:solidFill>
                  <a:ea typeface="ＭＳ Ｐゴシック" pitchFamily="34" charset="-128"/>
                  <a:cs typeface="Arial" charset="0"/>
                </a:rPr>
                <a:t>Arbitary</a:t>
              </a:r>
              <a:r>
                <a:rPr lang="en-US" sz="1200" b="1" u="sng" dirty="0">
                  <a:solidFill>
                    <a:prstClr val="black"/>
                  </a:solidFill>
                  <a:ea typeface="ＭＳ Ｐゴシック" pitchFamily="34" charset="-128"/>
                  <a:cs typeface="Arial" charset="0"/>
                </a:rPr>
                <a:t> Precision types</a:t>
              </a:r>
            </a:p>
          </p:txBody>
        </p:sp>
        <p:sp>
          <p:nvSpPr>
            <p:cNvPr id="114" name="TextBox 113">
              <a:extLst>
                <a:ext uri="{FF2B5EF4-FFF2-40B4-BE49-F238E27FC236}">
                  <a16:creationId xmlns:a16="http://schemas.microsoft.com/office/drawing/2014/main" id="{4DB2888F-BBEB-43D7-AC8D-4273A11FFD88}"/>
                </a:ext>
              </a:extLst>
            </p:cNvPr>
            <p:cNvSpPr txBox="1"/>
            <p:nvPr/>
          </p:nvSpPr>
          <p:spPr>
            <a:xfrm>
              <a:off x="4994455" y="4418656"/>
              <a:ext cx="3286477" cy="461665"/>
            </a:xfrm>
            <a:prstGeom prst="rect">
              <a:avLst/>
            </a:prstGeom>
            <a:noFill/>
          </p:spPr>
          <p:txBody>
            <a:bodyPr wrap="square" rtlCol="0">
              <a:spAutoFit/>
            </a:bodyPr>
            <a:lstStyle/>
            <a:p>
              <a:pPr defTabSz="457200" fontAlgn="base">
                <a:spcBef>
                  <a:spcPct val="0"/>
                </a:spcBef>
                <a:spcAft>
                  <a:spcPct val="0"/>
                </a:spcAft>
              </a:pPr>
              <a:r>
                <a:rPr lang="en-US" sz="1200" b="1" dirty="0">
                  <a:solidFill>
                    <a:prstClr val="black"/>
                  </a:solidFill>
                  <a:ea typeface="ＭＳ Ｐゴシック" pitchFamily="34" charset="-128"/>
                  <a:cs typeface="Arial" charset="0"/>
                </a:rPr>
                <a:t>C++: </a:t>
              </a:r>
              <a:r>
                <a:rPr lang="en-US" sz="1200" dirty="0">
                  <a:solidFill>
                    <a:prstClr val="black"/>
                  </a:solidFill>
                  <a:ea typeface="ＭＳ Ｐゴシック" pitchFamily="34" charset="-128"/>
                  <a:cs typeface="Arial" charset="0"/>
                </a:rPr>
                <a:t>			</a:t>
              </a:r>
              <a:r>
                <a:rPr lang="en-US" sz="1200" dirty="0" err="1">
                  <a:solidFill>
                    <a:prstClr val="black"/>
                  </a:solidFill>
                  <a:ea typeface="ＭＳ Ｐゴシック" pitchFamily="34" charset="-128"/>
                  <a:cs typeface="Arial" charset="0"/>
                </a:rPr>
                <a:t>ap</a:t>
              </a:r>
              <a:r>
                <a:rPr lang="en-US" sz="1200" dirty="0">
                  <a:solidFill>
                    <a:prstClr val="black"/>
                  </a:solidFill>
                  <a:ea typeface="ＭＳ Ｐゴシック" pitchFamily="34" charset="-128"/>
                  <a:cs typeface="Arial" charset="0"/>
                </a:rPr>
                <a:t>_(u)</a:t>
              </a:r>
              <a:r>
                <a:rPr lang="en-US" sz="1200" dirty="0" err="1">
                  <a:solidFill>
                    <a:prstClr val="black"/>
                  </a:solidFill>
                  <a:ea typeface="ＭＳ Ｐゴシック" pitchFamily="34" charset="-128"/>
                  <a:cs typeface="Arial" charset="0"/>
                </a:rPr>
                <a:t>int</a:t>
              </a:r>
              <a:r>
                <a:rPr lang="en-US" sz="1200" dirty="0">
                  <a:solidFill>
                    <a:prstClr val="black"/>
                  </a:solidFill>
                  <a:ea typeface="ＭＳ Ｐゴシック" pitchFamily="34" charset="-128"/>
                  <a:cs typeface="Arial" charset="0"/>
                </a:rPr>
                <a:t> types (1-1024)</a:t>
              </a:r>
            </a:p>
            <a:p>
              <a:pPr defTabSz="457200" fontAlgn="base">
                <a:spcBef>
                  <a:spcPct val="0"/>
                </a:spcBef>
                <a:spcAft>
                  <a:spcPct val="0"/>
                </a:spcAft>
              </a:pPr>
              <a:r>
                <a:rPr lang="en-US" sz="1200" dirty="0">
                  <a:solidFill>
                    <a:prstClr val="black"/>
                  </a:solidFill>
                  <a:ea typeface="ＭＳ Ｐゴシック" pitchFamily="34" charset="-128"/>
                  <a:cs typeface="Arial" charset="0"/>
                </a:rPr>
                <a:t>                                </a:t>
              </a:r>
              <a:r>
                <a:rPr lang="en-US" sz="1200" dirty="0" err="1">
                  <a:solidFill>
                    <a:prstClr val="black"/>
                  </a:solidFill>
                  <a:ea typeface="ＭＳ Ｐゴシック" pitchFamily="34" charset="-128"/>
                  <a:cs typeface="Arial" charset="0"/>
                </a:rPr>
                <a:t>ap_fixed</a:t>
              </a:r>
              <a:r>
                <a:rPr lang="en-US" sz="1200" dirty="0">
                  <a:solidFill>
                    <a:prstClr val="black"/>
                  </a:solidFill>
                  <a:ea typeface="ＭＳ Ｐゴシック" pitchFamily="34" charset="-128"/>
                  <a:cs typeface="Arial" charset="0"/>
                </a:rPr>
                <a:t> types </a:t>
              </a:r>
            </a:p>
          </p:txBody>
        </p:sp>
        <p:sp>
          <p:nvSpPr>
            <p:cNvPr id="118" name="TextBox 117">
              <a:extLst>
                <a:ext uri="{FF2B5EF4-FFF2-40B4-BE49-F238E27FC236}">
                  <a16:creationId xmlns:a16="http://schemas.microsoft.com/office/drawing/2014/main" id="{CCF61C0F-7F6D-4241-B014-470344599EF0}"/>
                </a:ext>
              </a:extLst>
            </p:cNvPr>
            <p:cNvSpPr txBox="1"/>
            <p:nvPr/>
          </p:nvSpPr>
          <p:spPr>
            <a:xfrm>
              <a:off x="4994455" y="5271635"/>
              <a:ext cx="3994120" cy="461665"/>
            </a:xfrm>
            <a:prstGeom prst="rect">
              <a:avLst/>
            </a:prstGeom>
            <a:noFill/>
          </p:spPr>
          <p:txBody>
            <a:bodyPr wrap="square" rtlCol="0">
              <a:spAutoFit/>
            </a:bodyPr>
            <a:lstStyle/>
            <a:p>
              <a:pPr defTabSz="457200" fontAlgn="base">
                <a:spcBef>
                  <a:spcPct val="0"/>
                </a:spcBef>
                <a:spcAft>
                  <a:spcPct val="0"/>
                </a:spcAft>
              </a:pPr>
              <a:r>
                <a:rPr lang="en-US" sz="1200" dirty="0">
                  <a:solidFill>
                    <a:prstClr val="black"/>
                  </a:solidFill>
                  <a:ea typeface="ＭＳ Ｐゴシック" pitchFamily="34" charset="-128"/>
                  <a:cs typeface="Arial" charset="0"/>
                </a:rPr>
                <a:t>Can be used to define any variable to be a specific bit-width (e.g. 17-bit, 47-bit etc).</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wipe(left)">
                                      <p:cBhvr>
                                        <p:cTn id="7" dur="500"/>
                                        <p:tgtEl>
                                          <p:spTgt spid="5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0"/>
                                        </p:tgtEl>
                                        <p:attrNameLst>
                                          <p:attrName>style.visibility</p:attrName>
                                        </p:attrNameLst>
                                      </p:cBhvr>
                                      <p:to>
                                        <p:strVal val="visible"/>
                                      </p:to>
                                    </p:set>
                                    <p:animEffect transition="in" filter="wipe(left)">
                                      <p:cBhvr>
                                        <p:cTn id="12" dur="500"/>
                                        <p:tgtEl>
                                          <p:spTgt spid="9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11"/>
                                        </p:tgtEl>
                                        <p:attrNameLst>
                                          <p:attrName>style.visibility</p:attrName>
                                        </p:attrNameLst>
                                      </p:cBhvr>
                                      <p:to>
                                        <p:strVal val="visible"/>
                                      </p:to>
                                    </p:set>
                                    <p:animEffect transition="in" filter="wipe(up)">
                                      <p:cBhvr>
                                        <p:cTn id="17" dur="500"/>
                                        <p:tgtEl>
                                          <p:spTgt spid="1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 Operator Bit-sizes</a:t>
            </a:r>
          </a:p>
        </p:txBody>
      </p:sp>
      <p:sp>
        <p:nvSpPr>
          <p:cNvPr id="7" name="Slide Number Placeholder 6"/>
          <p:cNvSpPr>
            <a:spLocks noGrp="1"/>
          </p:cNvSpPr>
          <p:nvPr>
            <p:ph type="sldNum" sz="quarter" idx="10"/>
          </p:nvPr>
        </p:nvSpPr>
        <p:spPr/>
        <p:txBody>
          <a:bodyPr/>
          <a:lstStyle/>
          <a:p>
            <a:pPr>
              <a:defRPr/>
            </a:pPr>
            <a:r>
              <a:rPr lang="en-US" dirty="0"/>
              <a:t>Intro to HLS 11- </a:t>
            </a:r>
            <a:fld id="{060BD193-E118-4B16-863C-C8C12C675E3E}" type="slidenum">
              <a:rPr lang="en-US" smtClean="0"/>
              <a:pPr>
                <a:defRPr/>
              </a:pPr>
              <a:t>22</a:t>
            </a:fld>
            <a:endParaRPr lang="en-US" dirty="0"/>
          </a:p>
        </p:txBody>
      </p:sp>
      <p:sp>
        <p:nvSpPr>
          <p:cNvPr id="50" name="TextBox 49">
            <a:extLst>
              <a:ext uri="{FF2B5EF4-FFF2-40B4-BE49-F238E27FC236}">
                <a16:creationId xmlns:a16="http://schemas.microsoft.com/office/drawing/2014/main" id="{C546381A-C7FD-4FCA-BCEF-DE31530C375B}"/>
              </a:ext>
            </a:extLst>
          </p:cNvPr>
          <p:cNvSpPr txBox="1"/>
          <p:nvPr/>
        </p:nvSpPr>
        <p:spPr>
          <a:xfrm>
            <a:off x="259961" y="2161641"/>
            <a:ext cx="3532340" cy="3477875"/>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p:spPr>
        <p:txBody>
          <a:bodyPr wrap="square" rtlCol="0">
            <a:spAutoFit/>
          </a:bodyPr>
          <a:lstStyle/>
          <a:p>
            <a:pPr defTabSz="457200" fontAlgn="base">
              <a:spcBef>
                <a:spcPct val="0"/>
              </a:spcBef>
              <a:spcAft>
                <a:spcPct val="0"/>
              </a:spcAft>
              <a:defRPr/>
            </a:pPr>
            <a:r>
              <a:rPr lang="en-US" sz="1000" kern="0" dirty="0">
                <a:solidFill>
                  <a:prstClr val="black"/>
                </a:solidFill>
                <a:latin typeface="Arial"/>
              </a:rPr>
              <a:t>void fir (</a:t>
            </a:r>
          </a:p>
          <a:p>
            <a:pPr defTabSz="457200" fontAlgn="base">
              <a:spcBef>
                <a:spcPct val="0"/>
              </a:spcBef>
              <a:spcAft>
                <a:spcPct val="0"/>
              </a:spcAft>
              <a:defRPr/>
            </a:pPr>
            <a:r>
              <a:rPr lang="en-US" sz="1000" kern="0" dirty="0">
                <a:solidFill>
                  <a:prstClr val="black"/>
                </a:solidFill>
                <a:latin typeface="Arial"/>
              </a:rPr>
              <a:t>  </a:t>
            </a:r>
            <a:r>
              <a:rPr lang="en-US" sz="1000" kern="0" dirty="0" err="1">
                <a:solidFill>
                  <a:prstClr val="black"/>
                </a:solidFill>
                <a:latin typeface="Arial"/>
              </a:rPr>
              <a:t>data_t</a:t>
            </a:r>
            <a:r>
              <a:rPr lang="en-US" sz="1000" kern="0" dirty="0">
                <a:solidFill>
                  <a:prstClr val="black"/>
                </a:solidFill>
                <a:latin typeface="Arial"/>
              </a:rPr>
              <a:t> *y,</a:t>
            </a:r>
          </a:p>
          <a:p>
            <a:pPr defTabSz="457200" fontAlgn="base">
              <a:spcBef>
                <a:spcPct val="0"/>
              </a:spcBef>
              <a:spcAft>
                <a:spcPct val="0"/>
              </a:spcAft>
              <a:defRPr/>
            </a:pPr>
            <a:r>
              <a:rPr lang="en-US" sz="1000" kern="0" dirty="0">
                <a:solidFill>
                  <a:prstClr val="black"/>
                </a:solidFill>
                <a:latin typeface="Arial"/>
              </a:rPr>
              <a:t>  </a:t>
            </a:r>
            <a:r>
              <a:rPr lang="en-US" sz="1000" kern="0" dirty="0" err="1">
                <a:solidFill>
                  <a:prstClr val="black"/>
                </a:solidFill>
                <a:latin typeface="Arial"/>
              </a:rPr>
              <a:t>coef_t</a:t>
            </a:r>
            <a:r>
              <a:rPr lang="en-US" sz="1000" kern="0" dirty="0">
                <a:solidFill>
                  <a:prstClr val="black"/>
                </a:solidFill>
                <a:latin typeface="Arial"/>
              </a:rPr>
              <a:t> c[4],</a:t>
            </a:r>
          </a:p>
          <a:p>
            <a:pPr defTabSz="457200" fontAlgn="base">
              <a:spcBef>
                <a:spcPct val="0"/>
              </a:spcBef>
              <a:spcAft>
                <a:spcPct val="0"/>
              </a:spcAft>
              <a:defRPr/>
            </a:pPr>
            <a:r>
              <a:rPr lang="en-US" sz="1000" kern="0" dirty="0">
                <a:solidFill>
                  <a:prstClr val="black"/>
                </a:solidFill>
                <a:latin typeface="Arial"/>
              </a:rPr>
              <a:t>  </a:t>
            </a:r>
            <a:r>
              <a:rPr lang="en-US" sz="1000" kern="0" dirty="0" err="1">
                <a:solidFill>
                  <a:prstClr val="black"/>
                </a:solidFill>
                <a:latin typeface="Arial"/>
              </a:rPr>
              <a:t>data_t</a:t>
            </a:r>
            <a:r>
              <a:rPr lang="en-US" sz="1000" kern="0" dirty="0">
                <a:solidFill>
                  <a:prstClr val="black"/>
                </a:solidFill>
                <a:latin typeface="Arial"/>
              </a:rPr>
              <a:t> x</a:t>
            </a:r>
          </a:p>
          <a:p>
            <a:pPr defTabSz="457200" fontAlgn="base">
              <a:spcBef>
                <a:spcPct val="0"/>
              </a:spcBef>
              <a:spcAft>
                <a:spcPct val="0"/>
              </a:spcAft>
              <a:defRPr/>
            </a:pPr>
            <a:r>
              <a:rPr lang="en-US" sz="1000" kern="0" dirty="0">
                <a:solidFill>
                  <a:prstClr val="black"/>
                </a:solidFill>
                <a:latin typeface="Arial"/>
              </a:rPr>
              <a:t>  ) {</a:t>
            </a:r>
          </a:p>
          <a:p>
            <a:pPr defTabSz="457200" fontAlgn="base">
              <a:spcBef>
                <a:spcPct val="0"/>
              </a:spcBef>
              <a:spcAft>
                <a:spcPct val="0"/>
              </a:spcAft>
              <a:defRPr/>
            </a:pPr>
            <a:endParaRPr lang="en-US" sz="1000" kern="0" dirty="0">
              <a:solidFill>
                <a:prstClr val="black"/>
              </a:solidFill>
              <a:latin typeface="Arial"/>
            </a:endParaRPr>
          </a:p>
          <a:p>
            <a:pPr defTabSz="457200" fontAlgn="base">
              <a:spcBef>
                <a:spcPct val="0"/>
              </a:spcBef>
              <a:spcAft>
                <a:spcPct val="0"/>
              </a:spcAft>
              <a:defRPr/>
            </a:pPr>
            <a:r>
              <a:rPr lang="en-US" sz="1000" kern="0" dirty="0">
                <a:solidFill>
                  <a:prstClr val="black"/>
                </a:solidFill>
                <a:latin typeface="Arial"/>
              </a:rPr>
              <a:t>  static </a:t>
            </a:r>
            <a:r>
              <a:rPr lang="en-US" sz="1000" kern="0" dirty="0" err="1">
                <a:solidFill>
                  <a:prstClr val="black"/>
                </a:solidFill>
                <a:latin typeface="Arial"/>
              </a:rPr>
              <a:t>data_t</a:t>
            </a:r>
            <a:r>
              <a:rPr lang="en-US" sz="1000" kern="0" dirty="0">
                <a:solidFill>
                  <a:prstClr val="black"/>
                </a:solidFill>
                <a:latin typeface="Arial"/>
              </a:rPr>
              <a:t> </a:t>
            </a:r>
            <a:r>
              <a:rPr lang="en-US" sz="1000" kern="0" dirty="0" err="1">
                <a:solidFill>
                  <a:prstClr val="black"/>
                </a:solidFill>
                <a:latin typeface="Arial"/>
              </a:rPr>
              <a:t>shift_reg</a:t>
            </a:r>
            <a:r>
              <a:rPr lang="en-US" sz="1000" kern="0" dirty="0">
                <a:solidFill>
                  <a:prstClr val="black"/>
                </a:solidFill>
                <a:latin typeface="Arial"/>
              </a:rPr>
              <a:t>[4];</a:t>
            </a:r>
          </a:p>
          <a:p>
            <a:pPr defTabSz="457200" fontAlgn="base">
              <a:spcBef>
                <a:spcPct val="0"/>
              </a:spcBef>
              <a:spcAft>
                <a:spcPct val="0"/>
              </a:spcAft>
              <a:defRPr/>
            </a:pPr>
            <a:r>
              <a:rPr lang="en-US" sz="1000" kern="0" dirty="0">
                <a:solidFill>
                  <a:prstClr val="black"/>
                </a:solidFill>
                <a:latin typeface="Arial"/>
              </a:rPr>
              <a:t>  </a:t>
            </a:r>
            <a:r>
              <a:rPr lang="en-US" sz="1000" kern="0" dirty="0" err="1">
                <a:solidFill>
                  <a:prstClr val="black"/>
                </a:solidFill>
                <a:latin typeface="Arial"/>
              </a:rPr>
              <a:t>acc_t</a:t>
            </a:r>
            <a:r>
              <a:rPr lang="en-US" sz="1000" kern="0" dirty="0">
                <a:solidFill>
                  <a:prstClr val="black"/>
                </a:solidFill>
                <a:latin typeface="Arial"/>
              </a:rPr>
              <a:t> acc;</a:t>
            </a:r>
          </a:p>
          <a:p>
            <a:pPr defTabSz="457200" fontAlgn="base">
              <a:spcBef>
                <a:spcPct val="0"/>
              </a:spcBef>
              <a:spcAft>
                <a:spcPct val="0"/>
              </a:spcAft>
              <a:defRPr/>
            </a:pPr>
            <a:r>
              <a:rPr lang="en-US" sz="1000" kern="0" dirty="0">
                <a:solidFill>
                  <a:prstClr val="black"/>
                </a:solidFill>
                <a:latin typeface="Arial"/>
              </a:rPr>
              <a:t>  </a:t>
            </a:r>
            <a:r>
              <a:rPr lang="en-US" sz="1000" kern="0" dirty="0" err="1">
                <a:solidFill>
                  <a:prstClr val="black"/>
                </a:solidFill>
                <a:latin typeface="Arial"/>
              </a:rPr>
              <a:t>int</a:t>
            </a:r>
            <a:r>
              <a:rPr lang="en-US" sz="1000" kern="0" dirty="0">
                <a:solidFill>
                  <a:prstClr val="black"/>
                </a:solidFill>
                <a:latin typeface="Arial"/>
              </a:rPr>
              <a:t> </a:t>
            </a:r>
            <a:r>
              <a:rPr lang="en-US" sz="1000" kern="0" dirty="0" err="1">
                <a:solidFill>
                  <a:prstClr val="black"/>
                </a:solidFill>
                <a:latin typeface="Arial"/>
              </a:rPr>
              <a:t>i</a:t>
            </a:r>
            <a:r>
              <a:rPr lang="en-US" sz="1000" kern="0" dirty="0">
                <a:solidFill>
                  <a:prstClr val="black"/>
                </a:solidFill>
                <a:latin typeface="Arial"/>
              </a:rPr>
              <a:t>;</a:t>
            </a:r>
          </a:p>
          <a:p>
            <a:pPr defTabSz="457200" fontAlgn="base">
              <a:spcBef>
                <a:spcPct val="0"/>
              </a:spcBef>
              <a:spcAft>
                <a:spcPct val="0"/>
              </a:spcAft>
              <a:defRPr/>
            </a:pPr>
            <a:r>
              <a:rPr lang="en-US" sz="1000" kern="0" dirty="0">
                <a:solidFill>
                  <a:prstClr val="black"/>
                </a:solidFill>
                <a:latin typeface="Arial"/>
              </a:rPr>
              <a:t>  </a:t>
            </a:r>
          </a:p>
          <a:p>
            <a:pPr defTabSz="457200" fontAlgn="base">
              <a:spcBef>
                <a:spcPct val="0"/>
              </a:spcBef>
              <a:spcAft>
                <a:spcPct val="0"/>
              </a:spcAft>
              <a:defRPr/>
            </a:pPr>
            <a:r>
              <a:rPr lang="en-US" sz="1000" kern="0" dirty="0">
                <a:solidFill>
                  <a:prstClr val="black"/>
                </a:solidFill>
                <a:latin typeface="Arial"/>
              </a:rPr>
              <a:t>  acc=0;</a:t>
            </a:r>
          </a:p>
          <a:p>
            <a:pPr defTabSz="457200" fontAlgn="base">
              <a:spcBef>
                <a:spcPct val="0"/>
              </a:spcBef>
              <a:spcAft>
                <a:spcPct val="0"/>
              </a:spcAft>
              <a:defRPr/>
            </a:pPr>
            <a:r>
              <a:rPr lang="en-US" sz="1000" kern="0" dirty="0">
                <a:solidFill>
                  <a:prstClr val="black"/>
                </a:solidFill>
                <a:latin typeface="Arial"/>
              </a:rPr>
              <a:t>  loop: for (</a:t>
            </a:r>
            <a:r>
              <a:rPr lang="en-US" sz="1000" kern="0" dirty="0" err="1">
                <a:solidFill>
                  <a:prstClr val="black"/>
                </a:solidFill>
                <a:latin typeface="Arial"/>
              </a:rPr>
              <a:t>i</a:t>
            </a:r>
            <a:r>
              <a:rPr lang="en-US" sz="1000" kern="0" dirty="0">
                <a:solidFill>
                  <a:prstClr val="black"/>
                </a:solidFill>
                <a:latin typeface="Arial"/>
              </a:rPr>
              <a:t>=3;i&gt;=0;i--) {</a:t>
            </a:r>
          </a:p>
          <a:p>
            <a:pPr defTabSz="457200" fontAlgn="base">
              <a:spcBef>
                <a:spcPct val="0"/>
              </a:spcBef>
              <a:spcAft>
                <a:spcPct val="0"/>
              </a:spcAft>
              <a:defRPr/>
            </a:pPr>
            <a:r>
              <a:rPr lang="en-US" sz="1000" kern="0" dirty="0">
                <a:solidFill>
                  <a:prstClr val="black"/>
                </a:solidFill>
                <a:latin typeface="Arial"/>
              </a:rPr>
              <a:t>     if (</a:t>
            </a:r>
            <a:r>
              <a:rPr lang="en-US" sz="1000" kern="0" dirty="0" err="1">
                <a:solidFill>
                  <a:prstClr val="black"/>
                </a:solidFill>
                <a:latin typeface="Arial"/>
              </a:rPr>
              <a:t>i</a:t>
            </a:r>
            <a:r>
              <a:rPr lang="en-US" sz="1000" kern="0" dirty="0">
                <a:solidFill>
                  <a:prstClr val="black"/>
                </a:solidFill>
                <a:latin typeface="Arial"/>
              </a:rPr>
              <a:t>==0) {</a:t>
            </a:r>
          </a:p>
          <a:p>
            <a:pPr defTabSz="457200" fontAlgn="base">
              <a:spcBef>
                <a:spcPct val="0"/>
              </a:spcBef>
              <a:spcAft>
                <a:spcPct val="0"/>
              </a:spcAft>
              <a:defRPr/>
            </a:pPr>
            <a:r>
              <a:rPr lang="en-US" sz="1000" kern="0" dirty="0">
                <a:solidFill>
                  <a:prstClr val="black"/>
                </a:solidFill>
                <a:latin typeface="Arial"/>
              </a:rPr>
              <a:t>       acc+=x*c[0];</a:t>
            </a:r>
          </a:p>
          <a:p>
            <a:pPr defTabSz="457200" fontAlgn="base">
              <a:spcBef>
                <a:spcPct val="0"/>
              </a:spcBef>
              <a:spcAft>
                <a:spcPct val="0"/>
              </a:spcAft>
              <a:defRPr/>
            </a:pPr>
            <a:r>
              <a:rPr lang="en-US" sz="1000" kern="0" dirty="0">
                <a:solidFill>
                  <a:prstClr val="black"/>
                </a:solidFill>
                <a:latin typeface="Arial"/>
              </a:rPr>
              <a:t>       </a:t>
            </a:r>
            <a:r>
              <a:rPr lang="en-US" sz="1000" kern="0" dirty="0" err="1">
                <a:solidFill>
                  <a:prstClr val="black"/>
                </a:solidFill>
                <a:latin typeface="Arial"/>
              </a:rPr>
              <a:t>shift_reg</a:t>
            </a:r>
            <a:r>
              <a:rPr lang="en-US" sz="1000" kern="0" dirty="0">
                <a:solidFill>
                  <a:prstClr val="black"/>
                </a:solidFill>
                <a:latin typeface="Arial"/>
              </a:rPr>
              <a:t>[0]=x;</a:t>
            </a:r>
          </a:p>
          <a:p>
            <a:pPr defTabSz="457200" fontAlgn="base">
              <a:spcBef>
                <a:spcPct val="0"/>
              </a:spcBef>
              <a:spcAft>
                <a:spcPct val="0"/>
              </a:spcAft>
              <a:defRPr/>
            </a:pPr>
            <a:r>
              <a:rPr lang="en-US" sz="1000" kern="0" dirty="0">
                <a:solidFill>
                  <a:prstClr val="black"/>
                </a:solidFill>
                <a:latin typeface="Arial"/>
              </a:rPr>
              <a:t>     } else {</a:t>
            </a:r>
          </a:p>
          <a:p>
            <a:pPr defTabSz="457200" fontAlgn="base">
              <a:spcBef>
                <a:spcPct val="0"/>
              </a:spcBef>
              <a:spcAft>
                <a:spcPct val="0"/>
              </a:spcAft>
              <a:defRPr/>
            </a:pPr>
            <a:r>
              <a:rPr lang="en-US" sz="1000" kern="0" dirty="0">
                <a:solidFill>
                  <a:prstClr val="black"/>
                </a:solidFill>
                <a:latin typeface="Arial"/>
              </a:rPr>
              <a:t>        </a:t>
            </a:r>
            <a:r>
              <a:rPr lang="en-US" sz="1000" kern="0" dirty="0" err="1">
                <a:solidFill>
                  <a:prstClr val="black"/>
                </a:solidFill>
                <a:latin typeface="Arial"/>
              </a:rPr>
              <a:t>shift_reg</a:t>
            </a:r>
            <a:r>
              <a:rPr lang="en-US" sz="1000" kern="0" dirty="0">
                <a:solidFill>
                  <a:prstClr val="black"/>
                </a:solidFill>
                <a:latin typeface="Arial"/>
              </a:rPr>
              <a:t>[</a:t>
            </a:r>
            <a:r>
              <a:rPr lang="en-US" sz="1000" kern="0" dirty="0" err="1">
                <a:solidFill>
                  <a:prstClr val="black"/>
                </a:solidFill>
                <a:latin typeface="Arial"/>
              </a:rPr>
              <a:t>i</a:t>
            </a:r>
            <a:r>
              <a:rPr lang="en-US" sz="1000" kern="0" dirty="0">
                <a:solidFill>
                  <a:prstClr val="black"/>
                </a:solidFill>
                <a:latin typeface="Arial"/>
              </a:rPr>
              <a:t>]=</a:t>
            </a:r>
            <a:r>
              <a:rPr lang="en-US" sz="1000" kern="0" dirty="0" err="1">
                <a:solidFill>
                  <a:prstClr val="black"/>
                </a:solidFill>
                <a:latin typeface="Arial"/>
              </a:rPr>
              <a:t>shift_reg</a:t>
            </a:r>
            <a:r>
              <a:rPr lang="en-US" sz="1000" kern="0" dirty="0">
                <a:solidFill>
                  <a:prstClr val="black"/>
                </a:solidFill>
                <a:latin typeface="Arial"/>
              </a:rPr>
              <a:t>[i-1];	        </a:t>
            </a:r>
          </a:p>
          <a:p>
            <a:pPr defTabSz="457200" fontAlgn="base">
              <a:spcBef>
                <a:spcPct val="0"/>
              </a:spcBef>
              <a:spcAft>
                <a:spcPct val="0"/>
              </a:spcAft>
              <a:defRPr/>
            </a:pPr>
            <a:r>
              <a:rPr lang="en-US" sz="1000" kern="0" dirty="0">
                <a:solidFill>
                  <a:prstClr val="black"/>
                </a:solidFill>
                <a:latin typeface="Arial"/>
              </a:rPr>
              <a:t>        acc+=</a:t>
            </a:r>
            <a:r>
              <a:rPr lang="en-US" sz="1000" kern="0" dirty="0" err="1">
                <a:solidFill>
                  <a:prstClr val="black"/>
                </a:solidFill>
                <a:latin typeface="Arial"/>
              </a:rPr>
              <a:t>shift_reg</a:t>
            </a:r>
            <a:r>
              <a:rPr lang="en-US" sz="1000" kern="0" dirty="0">
                <a:solidFill>
                  <a:prstClr val="black"/>
                </a:solidFill>
                <a:latin typeface="Arial"/>
              </a:rPr>
              <a:t>[</a:t>
            </a:r>
            <a:r>
              <a:rPr lang="en-US" sz="1000" kern="0" dirty="0" err="1">
                <a:solidFill>
                  <a:prstClr val="black"/>
                </a:solidFill>
                <a:latin typeface="Arial"/>
              </a:rPr>
              <a:t>i</a:t>
            </a:r>
            <a:r>
              <a:rPr lang="en-US" sz="1000" kern="0" dirty="0">
                <a:solidFill>
                  <a:prstClr val="black"/>
                </a:solidFill>
                <a:latin typeface="Arial"/>
              </a:rPr>
              <a:t>]*c[</a:t>
            </a:r>
            <a:r>
              <a:rPr lang="en-US" sz="1000" kern="0" dirty="0" err="1">
                <a:solidFill>
                  <a:prstClr val="black"/>
                </a:solidFill>
                <a:latin typeface="Arial"/>
              </a:rPr>
              <a:t>i</a:t>
            </a:r>
            <a:r>
              <a:rPr lang="en-US" sz="1000" kern="0" dirty="0">
                <a:solidFill>
                  <a:prstClr val="black"/>
                </a:solidFill>
                <a:latin typeface="Arial"/>
              </a:rPr>
              <a:t>];</a:t>
            </a:r>
          </a:p>
          <a:p>
            <a:pPr defTabSz="457200" fontAlgn="base">
              <a:spcBef>
                <a:spcPct val="0"/>
              </a:spcBef>
              <a:spcAft>
                <a:spcPct val="0"/>
              </a:spcAft>
              <a:defRPr/>
            </a:pPr>
            <a:r>
              <a:rPr lang="en-US" sz="1000" kern="0" dirty="0">
                <a:solidFill>
                  <a:prstClr val="black"/>
                </a:solidFill>
                <a:latin typeface="Arial"/>
              </a:rPr>
              <a:t>     }</a:t>
            </a:r>
          </a:p>
          <a:p>
            <a:pPr defTabSz="457200" fontAlgn="base">
              <a:spcBef>
                <a:spcPct val="0"/>
              </a:spcBef>
              <a:spcAft>
                <a:spcPct val="0"/>
              </a:spcAft>
              <a:defRPr/>
            </a:pPr>
            <a:r>
              <a:rPr lang="en-US" sz="1000" kern="0" dirty="0">
                <a:solidFill>
                  <a:prstClr val="black"/>
                </a:solidFill>
                <a:latin typeface="Arial"/>
              </a:rPr>
              <a:t>  }</a:t>
            </a:r>
          </a:p>
          <a:p>
            <a:pPr defTabSz="457200" fontAlgn="base">
              <a:spcBef>
                <a:spcPct val="0"/>
              </a:spcBef>
              <a:spcAft>
                <a:spcPct val="0"/>
              </a:spcAft>
              <a:defRPr/>
            </a:pPr>
            <a:r>
              <a:rPr lang="en-US" sz="1000" kern="0" dirty="0">
                <a:solidFill>
                  <a:prstClr val="black"/>
                </a:solidFill>
                <a:latin typeface="Arial"/>
              </a:rPr>
              <a:t>  *y=acc;</a:t>
            </a:r>
          </a:p>
          <a:p>
            <a:pPr defTabSz="457200" fontAlgn="base">
              <a:spcBef>
                <a:spcPct val="0"/>
              </a:spcBef>
              <a:spcAft>
                <a:spcPct val="0"/>
              </a:spcAft>
              <a:defRPr/>
            </a:pPr>
            <a:r>
              <a:rPr lang="en-US" sz="1000" kern="0" dirty="0">
                <a:solidFill>
                  <a:prstClr val="black"/>
                </a:solidFill>
                <a:latin typeface="Arial"/>
              </a:rPr>
              <a:t>}</a:t>
            </a:r>
          </a:p>
        </p:txBody>
      </p:sp>
      <p:sp>
        <p:nvSpPr>
          <p:cNvPr id="52" name="TextBox 51">
            <a:extLst>
              <a:ext uri="{FF2B5EF4-FFF2-40B4-BE49-F238E27FC236}">
                <a16:creationId xmlns:a16="http://schemas.microsoft.com/office/drawing/2014/main" id="{2595C3D8-E2AA-42CD-A5B9-4CF7CDFA5FE7}"/>
              </a:ext>
            </a:extLst>
          </p:cNvPr>
          <p:cNvSpPr txBox="1"/>
          <p:nvPr/>
        </p:nvSpPr>
        <p:spPr>
          <a:xfrm>
            <a:off x="823206" y="1623970"/>
            <a:ext cx="2182081" cy="307777"/>
          </a:xfrm>
          <a:prstGeom prst="rect">
            <a:avLst/>
          </a:prstGeom>
          <a:noFill/>
        </p:spPr>
        <p:txBody>
          <a:bodyPr wrap="square" rtlCol="0">
            <a:spAutoFit/>
          </a:bodyPr>
          <a:lstStyle/>
          <a:p>
            <a:pPr algn="ctr" defTabSz="457200" fontAlgn="base">
              <a:spcBef>
                <a:spcPct val="0"/>
              </a:spcBef>
              <a:spcAft>
                <a:spcPct val="0"/>
              </a:spcAft>
            </a:pPr>
            <a:r>
              <a:rPr lang="en-US" sz="1400" b="1" u="sng" dirty="0">
                <a:solidFill>
                  <a:prstClr val="black"/>
                </a:solidFill>
                <a:ea typeface="ＭＳ Ｐゴシック" pitchFamily="34" charset="-128"/>
                <a:cs typeface="Arial" charset="0"/>
              </a:rPr>
              <a:t>Code </a:t>
            </a:r>
          </a:p>
        </p:txBody>
      </p:sp>
      <p:sp>
        <p:nvSpPr>
          <p:cNvPr id="53" name="TextBox 52">
            <a:extLst>
              <a:ext uri="{FF2B5EF4-FFF2-40B4-BE49-F238E27FC236}">
                <a16:creationId xmlns:a16="http://schemas.microsoft.com/office/drawing/2014/main" id="{BAF9D324-5933-42E5-899A-A1EAA316DE42}"/>
              </a:ext>
            </a:extLst>
          </p:cNvPr>
          <p:cNvSpPr txBox="1"/>
          <p:nvPr/>
        </p:nvSpPr>
        <p:spPr>
          <a:xfrm>
            <a:off x="823089" y="5810288"/>
            <a:ext cx="2354892" cy="276999"/>
          </a:xfrm>
          <a:prstGeom prst="rect">
            <a:avLst/>
          </a:prstGeom>
          <a:solidFill>
            <a:srgbClr val="FFFF99"/>
          </a:solidFill>
          <a:ln w="19050">
            <a:solidFill>
              <a:srgbClr val="000000"/>
            </a:solidFill>
          </a:ln>
          <a:effectLst>
            <a:innerShdw blurRad="63500" dist="50800" dir="2700000">
              <a:prstClr val="black">
                <a:alpha val="50000"/>
              </a:prstClr>
            </a:innerShdw>
          </a:effectLst>
        </p:spPr>
        <p:txBody>
          <a:bodyPr wrap="square" rtlCol="0">
            <a:spAutoFit/>
          </a:bodyPr>
          <a:lstStyle/>
          <a:p>
            <a:pPr algn="ctr" defTabSz="457200" fontAlgn="base">
              <a:spcBef>
                <a:spcPct val="0"/>
              </a:spcBef>
              <a:spcAft>
                <a:spcPct val="0"/>
              </a:spcAft>
              <a:defRPr/>
            </a:pPr>
            <a:r>
              <a:rPr lang="en-US" sz="1200" b="1" kern="0" dirty="0">
                <a:solidFill>
                  <a:prstClr val="black"/>
                </a:solidFill>
                <a:ea typeface="ＭＳ Ｐゴシック" pitchFamily="34" charset="-128"/>
                <a:cs typeface="Arial" charset="0"/>
              </a:rPr>
              <a:t>From any C code example ...</a:t>
            </a:r>
          </a:p>
        </p:txBody>
      </p:sp>
      <p:grpSp>
        <p:nvGrpSpPr>
          <p:cNvPr id="54" name="Group 151">
            <a:extLst>
              <a:ext uri="{FF2B5EF4-FFF2-40B4-BE49-F238E27FC236}">
                <a16:creationId xmlns:a16="http://schemas.microsoft.com/office/drawing/2014/main" id="{C7517D21-56D8-4867-A949-8E7593C3F659}"/>
              </a:ext>
            </a:extLst>
          </p:cNvPr>
          <p:cNvGrpSpPr/>
          <p:nvPr/>
        </p:nvGrpSpPr>
        <p:grpSpPr>
          <a:xfrm>
            <a:off x="1590988" y="1623437"/>
            <a:ext cx="4709787" cy="4648347"/>
            <a:chOff x="1192360" y="1623428"/>
            <a:chExt cx="3533260" cy="4648347"/>
          </a:xfrm>
        </p:grpSpPr>
        <p:sp>
          <p:nvSpPr>
            <p:cNvPr id="55" name="TextBox 54">
              <a:extLst>
                <a:ext uri="{FF2B5EF4-FFF2-40B4-BE49-F238E27FC236}">
                  <a16:creationId xmlns:a16="http://schemas.microsoft.com/office/drawing/2014/main" id="{8CD73558-818F-4741-9573-34F8BA5B96F5}"/>
                </a:ext>
              </a:extLst>
            </p:cNvPr>
            <p:cNvSpPr txBox="1"/>
            <p:nvPr/>
          </p:nvSpPr>
          <p:spPr>
            <a:xfrm>
              <a:off x="3088633" y="1623428"/>
              <a:ext cx="1636987" cy="307777"/>
            </a:xfrm>
            <a:prstGeom prst="rect">
              <a:avLst/>
            </a:prstGeom>
            <a:noFill/>
          </p:spPr>
          <p:txBody>
            <a:bodyPr wrap="square" rtlCol="0">
              <a:spAutoFit/>
            </a:bodyPr>
            <a:lstStyle/>
            <a:p>
              <a:pPr algn="ctr" defTabSz="457200" fontAlgn="base">
                <a:spcBef>
                  <a:spcPct val="0"/>
                </a:spcBef>
                <a:spcAft>
                  <a:spcPct val="0"/>
                </a:spcAft>
                <a:defRPr/>
              </a:pPr>
              <a:r>
                <a:rPr lang="en-US" sz="1400" b="1" u="sng" kern="0" dirty="0">
                  <a:solidFill>
                    <a:prstClr val="black"/>
                  </a:solidFill>
                  <a:ea typeface="ＭＳ Ｐゴシック" pitchFamily="34" charset="-128"/>
                  <a:cs typeface="Arial" charset="0"/>
                </a:rPr>
                <a:t>Operations</a:t>
              </a:r>
            </a:p>
          </p:txBody>
        </p:sp>
        <p:grpSp>
          <p:nvGrpSpPr>
            <p:cNvPr id="56" name="Group 149">
              <a:extLst>
                <a:ext uri="{FF2B5EF4-FFF2-40B4-BE49-F238E27FC236}">
                  <a16:creationId xmlns:a16="http://schemas.microsoft.com/office/drawing/2014/main" id="{080CF18E-8B3A-4E29-9DF7-862022B47B62}"/>
                </a:ext>
              </a:extLst>
            </p:cNvPr>
            <p:cNvGrpSpPr/>
            <p:nvPr/>
          </p:nvGrpSpPr>
          <p:grpSpPr>
            <a:xfrm>
              <a:off x="1192360" y="2545685"/>
              <a:ext cx="3341235" cy="3726090"/>
              <a:chOff x="1192360" y="2545685"/>
              <a:chExt cx="3341235" cy="3726090"/>
            </a:xfrm>
          </p:grpSpPr>
          <p:cxnSp>
            <p:nvCxnSpPr>
              <p:cNvPr id="57" name="Curved Connector 24">
                <a:extLst>
                  <a:ext uri="{FF2B5EF4-FFF2-40B4-BE49-F238E27FC236}">
                    <a16:creationId xmlns:a16="http://schemas.microsoft.com/office/drawing/2014/main" id="{A97ECBA6-356A-4617-97EE-1C87F8B31010}"/>
                  </a:ext>
                </a:extLst>
              </p:cNvPr>
              <p:cNvCxnSpPr/>
              <p:nvPr/>
            </p:nvCxnSpPr>
            <p:spPr>
              <a:xfrm rot="5400000" flipH="1" flipV="1">
                <a:off x="2008466" y="2209642"/>
                <a:ext cx="940922" cy="2342705"/>
              </a:xfrm>
              <a:prstGeom prst="curvedConnector2">
                <a:avLst/>
              </a:prstGeom>
              <a:noFill/>
              <a:ln w="25400" cap="flat" cmpd="sng" algn="ctr">
                <a:solidFill>
                  <a:srgbClr val="008CA8"/>
                </a:solidFill>
                <a:prstDash val="solid"/>
                <a:tailEnd type="arrow"/>
              </a:ln>
              <a:effectLst>
                <a:outerShdw blurRad="40000" dist="20000" dir="5400000" rotWithShape="0">
                  <a:srgbClr val="000000">
                    <a:alpha val="38000"/>
                  </a:srgbClr>
                </a:outerShdw>
              </a:effectLst>
            </p:spPr>
          </p:cxnSp>
          <p:cxnSp>
            <p:nvCxnSpPr>
              <p:cNvPr id="58" name="Curved Connector 24">
                <a:extLst>
                  <a:ext uri="{FF2B5EF4-FFF2-40B4-BE49-F238E27FC236}">
                    <a16:creationId xmlns:a16="http://schemas.microsoft.com/office/drawing/2014/main" id="{50516390-8BFD-4141-A873-1ED6B4EBC37A}"/>
                  </a:ext>
                </a:extLst>
              </p:cNvPr>
              <p:cNvCxnSpPr/>
              <p:nvPr/>
            </p:nvCxnSpPr>
            <p:spPr>
              <a:xfrm rot="5400000" flipH="1" flipV="1">
                <a:off x="2399988" y="2629284"/>
                <a:ext cx="623398" cy="1877186"/>
              </a:xfrm>
              <a:prstGeom prst="curvedConnector2">
                <a:avLst/>
              </a:prstGeom>
              <a:noFill/>
              <a:ln w="25400" cap="flat" cmpd="sng" algn="ctr">
                <a:solidFill>
                  <a:srgbClr val="008CA8"/>
                </a:solidFill>
                <a:prstDash val="solid"/>
                <a:tailEnd type="arrow"/>
              </a:ln>
              <a:effectLst>
                <a:outerShdw blurRad="40000" dist="20000" dir="5400000" rotWithShape="0">
                  <a:srgbClr val="000000">
                    <a:alpha val="38000"/>
                  </a:srgbClr>
                </a:outerShdw>
              </a:effectLst>
            </p:spPr>
          </p:cxnSp>
          <p:cxnSp>
            <p:nvCxnSpPr>
              <p:cNvPr id="59" name="Straight Arrow Connector 58">
                <a:extLst>
                  <a:ext uri="{FF2B5EF4-FFF2-40B4-BE49-F238E27FC236}">
                    <a16:creationId xmlns:a16="http://schemas.microsoft.com/office/drawing/2014/main" id="{95E31849-70C9-4A62-84C7-B9F01CCE24E0}"/>
                  </a:ext>
                </a:extLst>
              </p:cNvPr>
              <p:cNvCxnSpPr/>
              <p:nvPr/>
            </p:nvCxnSpPr>
            <p:spPr>
              <a:xfrm>
                <a:off x="3035800" y="4888390"/>
                <a:ext cx="576075" cy="1588"/>
              </a:xfrm>
              <a:prstGeom prst="straightConnector1">
                <a:avLst/>
              </a:prstGeom>
              <a:noFill/>
              <a:ln w="25400" cap="flat" cmpd="sng" algn="ctr">
                <a:solidFill>
                  <a:srgbClr val="008CA8"/>
                </a:solidFill>
                <a:prstDash val="solid"/>
                <a:tailEnd type="arrow"/>
              </a:ln>
              <a:effectLst>
                <a:outerShdw blurRad="40000" dist="20000" dir="5400000" rotWithShape="0">
                  <a:srgbClr val="000000">
                    <a:alpha val="38000"/>
                  </a:srgbClr>
                </a:outerShdw>
              </a:effectLst>
            </p:spPr>
          </p:cxnSp>
          <p:cxnSp>
            <p:nvCxnSpPr>
              <p:cNvPr id="60" name="Straight Arrow Connector 59">
                <a:extLst>
                  <a:ext uri="{FF2B5EF4-FFF2-40B4-BE49-F238E27FC236}">
                    <a16:creationId xmlns:a16="http://schemas.microsoft.com/office/drawing/2014/main" id="{16DF431D-0A3C-49FE-86DA-7865AC49C3F4}"/>
                  </a:ext>
                </a:extLst>
              </p:cNvPr>
              <p:cNvCxnSpPr/>
              <p:nvPr/>
            </p:nvCxnSpPr>
            <p:spPr>
              <a:xfrm>
                <a:off x="3035800" y="4579562"/>
                <a:ext cx="576075" cy="1588"/>
              </a:xfrm>
              <a:prstGeom prst="straightConnector1">
                <a:avLst/>
              </a:prstGeom>
              <a:noFill/>
              <a:ln w="25400" cap="flat" cmpd="sng" algn="ctr">
                <a:solidFill>
                  <a:srgbClr val="008CA8"/>
                </a:solidFill>
                <a:prstDash val="solid"/>
                <a:tailEnd type="arrow"/>
              </a:ln>
              <a:effectLst>
                <a:outerShdw blurRad="40000" dist="20000" dir="5400000" rotWithShape="0">
                  <a:srgbClr val="000000">
                    <a:alpha val="38000"/>
                  </a:srgbClr>
                </a:outerShdw>
              </a:effectLst>
            </p:spPr>
          </p:cxnSp>
          <p:cxnSp>
            <p:nvCxnSpPr>
              <p:cNvPr id="61" name="Straight Arrow Connector 60">
                <a:extLst>
                  <a:ext uri="{FF2B5EF4-FFF2-40B4-BE49-F238E27FC236}">
                    <a16:creationId xmlns:a16="http://schemas.microsoft.com/office/drawing/2014/main" id="{E3E0C8FC-C78E-40CE-8C8A-337EBE56C6DE}"/>
                  </a:ext>
                </a:extLst>
              </p:cNvPr>
              <p:cNvCxnSpPr/>
              <p:nvPr/>
            </p:nvCxnSpPr>
            <p:spPr>
              <a:xfrm>
                <a:off x="3035800" y="4197100"/>
                <a:ext cx="576075" cy="1588"/>
              </a:xfrm>
              <a:prstGeom prst="straightConnector1">
                <a:avLst/>
              </a:prstGeom>
              <a:noFill/>
              <a:ln w="25400" cap="flat" cmpd="sng" algn="ctr">
                <a:solidFill>
                  <a:srgbClr val="008CA8"/>
                </a:solidFill>
                <a:prstDash val="solid"/>
                <a:tailEnd type="arrow"/>
              </a:ln>
              <a:effectLst>
                <a:outerShdw blurRad="40000" dist="20000" dir="5400000" rotWithShape="0">
                  <a:srgbClr val="000000">
                    <a:alpha val="38000"/>
                  </a:srgbClr>
                </a:outerShdw>
              </a:effectLst>
            </p:spPr>
          </p:cxnSp>
          <p:cxnSp>
            <p:nvCxnSpPr>
              <p:cNvPr id="62" name="Straight Arrow Connector 61">
                <a:extLst>
                  <a:ext uri="{FF2B5EF4-FFF2-40B4-BE49-F238E27FC236}">
                    <a16:creationId xmlns:a16="http://schemas.microsoft.com/office/drawing/2014/main" id="{B069D18C-2CE1-4C8C-B441-724E012B596A}"/>
                  </a:ext>
                </a:extLst>
              </p:cNvPr>
              <p:cNvCxnSpPr/>
              <p:nvPr/>
            </p:nvCxnSpPr>
            <p:spPr>
              <a:xfrm>
                <a:off x="3035800" y="3889860"/>
                <a:ext cx="576075" cy="1588"/>
              </a:xfrm>
              <a:prstGeom prst="straightConnector1">
                <a:avLst/>
              </a:prstGeom>
              <a:noFill/>
              <a:ln w="25400" cap="flat" cmpd="sng" algn="ctr">
                <a:solidFill>
                  <a:srgbClr val="008CA8"/>
                </a:solidFill>
                <a:prstDash val="solid"/>
                <a:tailEnd type="arrow"/>
              </a:ln>
              <a:effectLst>
                <a:outerShdw blurRad="40000" dist="20000" dir="5400000" rotWithShape="0">
                  <a:srgbClr val="000000">
                    <a:alpha val="38000"/>
                  </a:srgbClr>
                </a:outerShdw>
              </a:effectLst>
            </p:spPr>
          </p:cxnSp>
          <p:cxnSp>
            <p:nvCxnSpPr>
              <p:cNvPr id="63" name="Straight Arrow Connector 62">
                <a:extLst>
                  <a:ext uri="{FF2B5EF4-FFF2-40B4-BE49-F238E27FC236}">
                    <a16:creationId xmlns:a16="http://schemas.microsoft.com/office/drawing/2014/main" id="{A65B9EEA-5730-4133-B398-5B12A5A36E4B}"/>
                  </a:ext>
                </a:extLst>
              </p:cNvPr>
              <p:cNvCxnSpPr/>
              <p:nvPr/>
            </p:nvCxnSpPr>
            <p:spPr>
              <a:xfrm>
                <a:off x="3035800" y="3544215"/>
                <a:ext cx="576075" cy="1588"/>
              </a:xfrm>
              <a:prstGeom prst="straightConnector1">
                <a:avLst/>
              </a:prstGeom>
              <a:noFill/>
              <a:ln w="25400" cap="flat" cmpd="sng" algn="ctr">
                <a:solidFill>
                  <a:srgbClr val="008CA8"/>
                </a:solidFill>
                <a:prstDash val="solid"/>
                <a:tailEnd type="arrow"/>
              </a:ln>
              <a:effectLst>
                <a:outerShdw blurRad="40000" dist="20000" dir="5400000" rotWithShape="0">
                  <a:srgbClr val="000000">
                    <a:alpha val="38000"/>
                  </a:srgbClr>
                </a:outerShdw>
              </a:effectLst>
            </p:spPr>
          </p:cxnSp>
          <p:cxnSp>
            <p:nvCxnSpPr>
              <p:cNvPr id="64" name="Straight Arrow Connector 63">
                <a:extLst>
                  <a:ext uri="{FF2B5EF4-FFF2-40B4-BE49-F238E27FC236}">
                    <a16:creationId xmlns:a16="http://schemas.microsoft.com/office/drawing/2014/main" id="{00403DDB-023A-4C2F-93E9-192726493E41}"/>
                  </a:ext>
                </a:extLst>
              </p:cNvPr>
              <p:cNvCxnSpPr/>
              <p:nvPr/>
            </p:nvCxnSpPr>
            <p:spPr>
              <a:xfrm>
                <a:off x="1192360" y="5234035"/>
                <a:ext cx="2419515" cy="1588"/>
              </a:xfrm>
              <a:prstGeom prst="straightConnector1">
                <a:avLst/>
              </a:prstGeom>
              <a:noFill/>
              <a:ln w="25400" cap="flat" cmpd="sng" algn="ctr">
                <a:solidFill>
                  <a:srgbClr val="008CA8"/>
                </a:solidFill>
                <a:prstDash val="solid"/>
                <a:tailEnd type="arrow"/>
              </a:ln>
              <a:effectLst>
                <a:outerShdw blurRad="40000" dist="20000" dir="5400000" rotWithShape="0">
                  <a:srgbClr val="000000">
                    <a:alpha val="38000"/>
                  </a:srgbClr>
                </a:outerShdw>
              </a:effectLst>
            </p:spPr>
          </p:cxnSp>
          <p:sp>
            <p:nvSpPr>
              <p:cNvPr id="65" name="TextBox 64">
                <a:extLst>
                  <a:ext uri="{FF2B5EF4-FFF2-40B4-BE49-F238E27FC236}">
                    <a16:creationId xmlns:a16="http://schemas.microsoft.com/office/drawing/2014/main" id="{01B255F1-9006-4CC9-98AB-67554E8D09D3}"/>
                  </a:ext>
                </a:extLst>
              </p:cNvPr>
              <p:cNvSpPr txBox="1"/>
              <p:nvPr/>
            </p:nvSpPr>
            <p:spPr>
              <a:xfrm>
                <a:off x="3266229" y="5810110"/>
                <a:ext cx="1267366" cy="461665"/>
              </a:xfrm>
              <a:prstGeom prst="rect">
                <a:avLst/>
              </a:prstGeom>
              <a:solidFill>
                <a:srgbClr val="FFFF99"/>
              </a:solidFill>
              <a:ln w="19050">
                <a:solidFill>
                  <a:srgbClr val="000000"/>
                </a:solidFill>
              </a:ln>
              <a:effectLst>
                <a:innerShdw blurRad="63500" dist="50800" dir="2700000">
                  <a:prstClr val="black">
                    <a:alpha val="50000"/>
                  </a:prstClr>
                </a:innerShdw>
              </a:effectLst>
            </p:spPr>
            <p:txBody>
              <a:bodyPr wrap="square" rtlCol="0">
                <a:spAutoFit/>
              </a:bodyPr>
              <a:lstStyle/>
              <a:p>
                <a:pPr algn="ctr" defTabSz="457200" fontAlgn="base">
                  <a:spcBef>
                    <a:spcPct val="0"/>
                  </a:spcBef>
                  <a:spcAft>
                    <a:spcPct val="0"/>
                  </a:spcAft>
                  <a:defRPr/>
                </a:pPr>
                <a:r>
                  <a:rPr lang="en-US" sz="1200" b="1" kern="0" dirty="0">
                    <a:solidFill>
                      <a:prstClr val="black"/>
                    </a:solidFill>
                    <a:ea typeface="ＭＳ Ｐゴシック" pitchFamily="34" charset="-128"/>
                    <a:cs typeface="Arial" charset="0"/>
                  </a:rPr>
                  <a:t>Operations are extracted…</a:t>
                </a:r>
              </a:p>
            </p:txBody>
          </p:sp>
          <p:sp>
            <p:nvSpPr>
              <p:cNvPr id="66" name="Rectangle 65">
                <a:extLst>
                  <a:ext uri="{FF2B5EF4-FFF2-40B4-BE49-F238E27FC236}">
                    <a16:creationId xmlns:a16="http://schemas.microsoft.com/office/drawing/2014/main" id="{2645BEA5-AA3E-4CC0-BE7C-D9923BC6EB0F}"/>
                  </a:ext>
                </a:extLst>
              </p:cNvPr>
              <p:cNvSpPr/>
              <p:nvPr/>
            </p:nvSpPr>
            <p:spPr>
              <a:xfrm>
                <a:off x="3688685" y="3467405"/>
                <a:ext cx="537670" cy="26883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kern="0" dirty="0">
                    <a:solidFill>
                      <a:sysClr val="windowText" lastClr="000000"/>
                    </a:solidFill>
                    <a:latin typeface="Arial"/>
                  </a:rPr>
                  <a:t>-</a:t>
                </a:r>
              </a:p>
            </p:txBody>
          </p:sp>
          <p:sp>
            <p:nvSpPr>
              <p:cNvPr id="67" name="Rectangle 66">
                <a:extLst>
                  <a:ext uri="{FF2B5EF4-FFF2-40B4-BE49-F238E27FC236}">
                    <a16:creationId xmlns:a16="http://schemas.microsoft.com/office/drawing/2014/main" id="{7E387BA6-1405-43A0-97C7-8F603659CDAE}"/>
                  </a:ext>
                </a:extLst>
              </p:cNvPr>
              <p:cNvSpPr/>
              <p:nvPr/>
            </p:nvSpPr>
            <p:spPr>
              <a:xfrm>
                <a:off x="3688685" y="3774645"/>
                <a:ext cx="537670" cy="26883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kern="0" dirty="0">
                    <a:solidFill>
                      <a:sysClr val="windowText" lastClr="000000"/>
                    </a:solidFill>
                    <a:latin typeface="Arial"/>
                  </a:rPr>
                  <a:t>==</a:t>
                </a:r>
              </a:p>
            </p:txBody>
          </p:sp>
          <p:sp>
            <p:nvSpPr>
              <p:cNvPr id="68" name="Rectangle 67">
                <a:extLst>
                  <a:ext uri="{FF2B5EF4-FFF2-40B4-BE49-F238E27FC236}">
                    <a16:creationId xmlns:a16="http://schemas.microsoft.com/office/drawing/2014/main" id="{2D4DA51C-4284-4B15-A075-1CE7CC9B38FB}"/>
                  </a:ext>
                </a:extLst>
              </p:cNvPr>
              <p:cNvSpPr/>
              <p:nvPr/>
            </p:nvSpPr>
            <p:spPr>
              <a:xfrm>
                <a:off x="3688685" y="4081885"/>
                <a:ext cx="537670" cy="26883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kern="0" dirty="0">
                    <a:solidFill>
                      <a:sysClr val="windowText" lastClr="000000"/>
                    </a:solidFill>
                    <a:latin typeface="Arial"/>
                  </a:rPr>
                  <a:t>+</a:t>
                </a:r>
              </a:p>
            </p:txBody>
          </p:sp>
          <p:sp>
            <p:nvSpPr>
              <p:cNvPr id="69" name="Rectangle 68">
                <a:extLst>
                  <a:ext uri="{FF2B5EF4-FFF2-40B4-BE49-F238E27FC236}">
                    <a16:creationId xmlns:a16="http://schemas.microsoft.com/office/drawing/2014/main" id="{6DFDFE35-8A47-4541-A65A-8F9EEC4BB6A9}"/>
                  </a:ext>
                </a:extLst>
              </p:cNvPr>
              <p:cNvSpPr/>
              <p:nvPr/>
            </p:nvSpPr>
            <p:spPr>
              <a:xfrm>
                <a:off x="3688685" y="3160165"/>
                <a:ext cx="537670" cy="26883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kern="0" dirty="0">
                    <a:solidFill>
                      <a:sysClr val="windowText" lastClr="000000"/>
                    </a:solidFill>
                    <a:latin typeface="Arial"/>
                  </a:rPr>
                  <a:t>&gt;=</a:t>
                </a:r>
              </a:p>
            </p:txBody>
          </p:sp>
          <p:sp>
            <p:nvSpPr>
              <p:cNvPr id="70" name="Rectangle 69">
                <a:extLst>
                  <a:ext uri="{FF2B5EF4-FFF2-40B4-BE49-F238E27FC236}">
                    <a16:creationId xmlns:a16="http://schemas.microsoft.com/office/drawing/2014/main" id="{E1690C78-5C7D-4B80-B093-052F485E74E5}"/>
                  </a:ext>
                </a:extLst>
              </p:cNvPr>
              <p:cNvSpPr/>
              <p:nvPr/>
            </p:nvSpPr>
            <p:spPr>
              <a:xfrm>
                <a:off x="3688685" y="4389125"/>
                <a:ext cx="537670" cy="26883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kern="0" dirty="0">
                    <a:solidFill>
                      <a:sysClr val="windowText" lastClr="000000"/>
                    </a:solidFill>
                    <a:latin typeface="Arial"/>
                  </a:rPr>
                  <a:t>*</a:t>
                </a:r>
              </a:p>
            </p:txBody>
          </p:sp>
          <p:sp>
            <p:nvSpPr>
              <p:cNvPr id="71" name="Rectangle 70">
                <a:extLst>
                  <a:ext uri="{FF2B5EF4-FFF2-40B4-BE49-F238E27FC236}">
                    <a16:creationId xmlns:a16="http://schemas.microsoft.com/office/drawing/2014/main" id="{573F8AFC-CA61-4C56-A613-9A44DDC0497F}"/>
                  </a:ext>
                </a:extLst>
              </p:cNvPr>
              <p:cNvSpPr/>
              <p:nvPr/>
            </p:nvSpPr>
            <p:spPr>
              <a:xfrm>
                <a:off x="3686880" y="4696365"/>
                <a:ext cx="537670" cy="26883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kern="0" dirty="0">
                    <a:solidFill>
                      <a:sysClr val="windowText" lastClr="000000"/>
                    </a:solidFill>
                    <a:latin typeface="Arial"/>
                  </a:rPr>
                  <a:t>+</a:t>
                </a:r>
              </a:p>
            </p:txBody>
          </p:sp>
          <p:sp>
            <p:nvSpPr>
              <p:cNvPr id="72" name="Rectangle 71">
                <a:extLst>
                  <a:ext uri="{FF2B5EF4-FFF2-40B4-BE49-F238E27FC236}">
                    <a16:creationId xmlns:a16="http://schemas.microsoft.com/office/drawing/2014/main" id="{9ABF8D3A-BD98-4BB7-8C02-3A6C7C1697AD}"/>
                  </a:ext>
                </a:extLst>
              </p:cNvPr>
              <p:cNvSpPr/>
              <p:nvPr/>
            </p:nvSpPr>
            <p:spPr>
              <a:xfrm>
                <a:off x="3686880" y="5003605"/>
                <a:ext cx="537670" cy="26883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kern="0" dirty="0">
                    <a:solidFill>
                      <a:sysClr val="windowText" lastClr="000000"/>
                    </a:solidFill>
                    <a:latin typeface="Arial"/>
                  </a:rPr>
                  <a:t>*</a:t>
                </a:r>
              </a:p>
            </p:txBody>
          </p:sp>
          <p:sp>
            <p:nvSpPr>
              <p:cNvPr id="77" name="Rectangle 76">
                <a:extLst>
                  <a:ext uri="{FF2B5EF4-FFF2-40B4-BE49-F238E27FC236}">
                    <a16:creationId xmlns:a16="http://schemas.microsoft.com/office/drawing/2014/main" id="{A4CF89A5-3146-4478-9CA5-DFA169DCA7F8}"/>
                  </a:ext>
                </a:extLst>
              </p:cNvPr>
              <p:cNvSpPr/>
              <p:nvPr/>
            </p:nvSpPr>
            <p:spPr>
              <a:xfrm>
                <a:off x="3688685" y="2545685"/>
                <a:ext cx="537670" cy="26883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200" kern="0" dirty="0" err="1">
                    <a:solidFill>
                      <a:sysClr val="windowText" lastClr="000000"/>
                    </a:solidFill>
                    <a:latin typeface="Arial"/>
                  </a:rPr>
                  <a:t>RDx</a:t>
                </a:r>
                <a:endParaRPr lang="en-US" sz="1200" kern="0" dirty="0">
                  <a:solidFill>
                    <a:sysClr val="windowText" lastClr="000000"/>
                  </a:solidFill>
                  <a:latin typeface="Arial"/>
                </a:endParaRPr>
              </a:p>
            </p:txBody>
          </p:sp>
          <p:sp>
            <p:nvSpPr>
              <p:cNvPr id="79" name="Rectangle 78">
                <a:extLst>
                  <a:ext uri="{FF2B5EF4-FFF2-40B4-BE49-F238E27FC236}">
                    <a16:creationId xmlns:a16="http://schemas.microsoft.com/office/drawing/2014/main" id="{6E00CE76-C8A5-4F72-9865-E46FA1073BD6}"/>
                  </a:ext>
                </a:extLst>
              </p:cNvPr>
              <p:cNvSpPr/>
              <p:nvPr/>
            </p:nvSpPr>
            <p:spPr>
              <a:xfrm>
                <a:off x="3688685" y="5310845"/>
                <a:ext cx="537670" cy="26883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200" kern="0" dirty="0" err="1">
                    <a:solidFill>
                      <a:sysClr val="windowText" lastClr="000000"/>
                    </a:solidFill>
                    <a:latin typeface="Arial"/>
                  </a:rPr>
                  <a:t>WRy</a:t>
                </a:r>
                <a:endParaRPr lang="en-US" sz="1200" kern="0" dirty="0">
                  <a:solidFill>
                    <a:sysClr val="windowText" lastClr="000000"/>
                  </a:solidFill>
                  <a:latin typeface="Arial"/>
                </a:endParaRPr>
              </a:p>
            </p:txBody>
          </p:sp>
          <p:sp>
            <p:nvSpPr>
              <p:cNvPr id="84" name="Rectangle 83">
                <a:extLst>
                  <a:ext uri="{FF2B5EF4-FFF2-40B4-BE49-F238E27FC236}">
                    <a16:creationId xmlns:a16="http://schemas.microsoft.com/office/drawing/2014/main" id="{5A2610AE-DAF3-43EC-B43A-A0764579666D}"/>
                  </a:ext>
                </a:extLst>
              </p:cNvPr>
              <p:cNvSpPr/>
              <p:nvPr/>
            </p:nvSpPr>
            <p:spPr>
              <a:xfrm>
                <a:off x="3688685" y="2852925"/>
                <a:ext cx="537670" cy="26883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200" kern="0" dirty="0" err="1">
                    <a:solidFill>
                      <a:sysClr val="windowText" lastClr="000000"/>
                    </a:solidFill>
                    <a:latin typeface="Arial"/>
                  </a:rPr>
                  <a:t>RDc</a:t>
                </a:r>
                <a:endParaRPr lang="en-US" sz="1200" kern="0" dirty="0">
                  <a:solidFill>
                    <a:sysClr val="windowText" lastClr="000000"/>
                  </a:solidFill>
                  <a:latin typeface="Arial"/>
                </a:endParaRPr>
              </a:p>
            </p:txBody>
          </p:sp>
        </p:grpSp>
      </p:grpSp>
      <p:grpSp>
        <p:nvGrpSpPr>
          <p:cNvPr id="90" name="Group 106">
            <a:extLst>
              <a:ext uri="{FF2B5EF4-FFF2-40B4-BE49-F238E27FC236}">
                <a16:creationId xmlns:a16="http://schemas.microsoft.com/office/drawing/2014/main" id="{C0FC98F9-6B7F-44E8-B67C-D6A73ED4E8AA}"/>
              </a:ext>
            </a:extLst>
          </p:cNvPr>
          <p:cNvGrpSpPr/>
          <p:nvPr/>
        </p:nvGrpSpPr>
        <p:grpSpPr>
          <a:xfrm>
            <a:off x="6249582" y="1623970"/>
            <a:ext cx="5206056" cy="4647005"/>
            <a:chOff x="4687215" y="1623965"/>
            <a:chExt cx="3905559" cy="4647005"/>
          </a:xfrm>
        </p:grpSpPr>
        <p:sp>
          <p:nvSpPr>
            <p:cNvPr id="91" name="Left Brace 90">
              <a:extLst>
                <a:ext uri="{FF2B5EF4-FFF2-40B4-BE49-F238E27FC236}">
                  <a16:creationId xmlns:a16="http://schemas.microsoft.com/office/drawing/2014/main" id="{EEC7E47B-59CA-4295-8D68-03E55C67F6A2}"/>
                </a:ext>
              </a:extLst>
            </p:cNvPr>
            <p:cNvSpPr/>
            <p:nvPr/>
          </p:nvSpPr>
          <p:spPr>
            <a:xfrm>
              <a:off x="4687215" y="2084825"/>
              <a:ext cx="268835" cy="3571665"/>
            </a:xfrm>
            <a:prstGeom prst="leftBrace">
              <a:avLst/>
            </a:prstGeom>
            <a:noFill/>
            <a:ln w="25400" cap="flat" cmpd="sng" algn="ctr">
              <a:solidFill>
                <a:srgbClr val="008CA8"/>
              </a:solidFill>
              <a:prstDash val="solid"/>
            </a:ln>
            <a:effectLst>
              <a:outerShdw blurRad="40000" dist="20000" dir="5400000" rotWithShape="0">
                <a:srgbClr val="000000">
                  <a:alpha val="38000"/>
                </a:srgbClr>
              </a:outerShdw>
            </a:effectLst>
          </p:spPr>
          <p:txBody>
            <a:bodyPr rtlCol="0" anchor="ctr"/>
            <a:lstStyle/>
            <a:p>
              <a:pPr algn="ctr" defTabSz="457200" fontAlgn="base">
                <a:spcBef>
                  <a:spcPct val="0"/>
                </a:spcBef>
                <a:spcAft>
                  <a:spcPct val="0"/>
                </a:spcAft>
                <a:defRPr/>
              </a:pPr>
              <a:endParaRPr lang="en-US" kern="0">
                <a:solidFill>
                  <a:prstClr val="black"/>
                </a:solidFill>
                <a:latin typeface="Arial"/>
              </a:endParaRPr>
            </a:p>
          </p:txBody>
        </p:sp>
        <p:sp>
          <p:nvSpPr>
            <p:cNvPr id="92" name="TextBox 91">
              <a:extLst>
                <a:ext uri="{FF2B5EF4-FFF2-40B4-BE49-F238E27FC236}">
                  <a16:creationId xmlns:a16="http://schemas.microsoft.com/office/drawing/2014/main" id="{5D16BEE1-F3A5-4233-8BA2-40113843F9DD}"/>
                </a:ext>
              </a:extLst>
            </p:cNvPr>
            <p:cNvSpPr txBox="1"/>
            <p:nvPr/>
          </p:nvSpPr>
          <p:spPr>
            <a:xfrm>
              <a:off x="6045818" y="1623965"/>
              <a:ext cx="1636987" cy="307777"/>
            </a:xfrm>
            <a:prstGeom prst="rect">
              <a:avLst/>
            </a:prstGeom>
            <a:noFill/>
          </p:spPr>
          <p:txBody>
            <a:bodyPr wrap="square" rtlCol="0">
              <a:spAutoFit/>
            </a:bodyPr>
            <a:lstStyle/>
            <a:p>
              <a:pPr algn="ctr" defTabSz="457200" fontAlgn="base">
                <a:spcBef>
                  <a:spcPct val="0"/>
                </a:spcBef>
                <a:spcAft>
                  <a:spcPct val="0"/>
                </a:spcAft>
                <a:defRPr/>
              </a:pPr>
              <a:r>
                <a:rPr lang="en-US" sz="1400" b="1" u="sng" kern="0" dirty="0">
                  <a:solidFill>
                    <a:prstClr val="black"/>
                  </a:solidFill>
                  <a:ea typeface="ＭＳ Ｐゴシック" pitchFamily="34" charset="-128"/>
                  <a:cs typeface="Arial" charset="0"/>
                </a:rPr>
                <a:t>Types</a:t>
              </a:r>
            </a:p>
          </p:txBody>
        </p:sp>
        <p:sp>
          <p:nvSpPr>
            <p:cNvPr id="93" name="TextBox 92">
              <a:extLst>
                <a:ext uri="{FF2B5EF4-FFF2-40B4-BE49-F238E27FC236}">
                  <a16:creationId xmlns:a16="http://schemas.microsoft.com/office/drawing/2014/main" id="{62490D7A-A8CA-4518-A258-18AA0EC52EA6}"/>
                </a:ext>
              </a:extLst>
            </p:cNvPr>
            <p:cNvSpPr txBox="1"/>
            <p:nvPr/>
          </p:nvSpPr>
          <p:spPr>
            <a:xfrm>
              <a:off x="5263290" y="5809305"/>
              <a:ext cx="3110805" cy="461665"/>
            </a:xfrm>
            <a:prstGeom prst="rect">
              <a:avLst/>
            </a:prstGeom>
            <a:solidFill>
              <a:srgbClr val="FFFF99"/>
            </a:solidFill>
            <a:ln w="19050">
              <a:solidFill>
                <a:srgbClr val="000000"/>
              </a:solidFill>
            </a:ln>
            <a:effectLst>
              <a:innerShdw blurRad="63500" dist="50800" dir="2700000">
                <a:prstClr val="black">
                  <a:alpha val="50000"/>
                </a:prstClr>
              </a:innerShdw>
            </a:effectLst>
          </p:spPr>
          <p:txBody>
            <a:bodyPr wrap="square" rtlCol="0">
              <a:spAutoFit/>
            </a:bodyPr>
            <a:lstStyle/>
            <a:p>
              <a:pPr algn="ctr" defTabSz="457200" fontAlgn="base">
                <a:spcBef>
                  <a:spcPct val="0"/>
                </a:spcBef>
                <a:spcAft>
                  <a:spcPct val="0"/>
                </a:spcAft>
                <a:defRPr/>
              </a:pPr>
              <a:r>
                <a:rPr lang="en-US" sz="1200" b="1" kern="0" dirty="0">
                  <a:solidFill>
                    <a:prstClr val="black"/>
                  </a:solidFill>
                  <a:ea typeface="ＭＳ Ｐゴシック" pitchFamily="34" charset="-128"/>
                  <a:cs typeface="Arial" charset="0"/>
                </a:rPr>
                <a:t>The C types define the size of the hardware used: handled automatically </a:t>
              </a:r>
            </a:p>
          </p:txBody>
        </p:sp>
        <p:sp>
          <p:nvSpPr>
            <p:cNvPr id="95" name="TextBox 94">
              <a:extLst>
                <a:ext uri="{FF2B5EF4-FFF2-40B4-BE49-F238E27FC236}">
                  <a16:creationId xmlns:a16="http://schemas.microsoft.com/office/drawing/2014/main" id="{63110BDD-6764-496C-89A8-217D9A50D28F}"/>
                </a:ext>
              </a:extLst>
            </p:cNvPr>
            <p:cNvSpPr txBox="1"/>
            <p:nvPr/>
          </p:nvSpPr>
          <p:spPr>
            <a:xfrm>
              <a:off x="5174769" y="2460711"/>
              <a:ext cx="1000775" cy="276999"/>
            </a:xfrm>
            <a:prstGeom prst="rect">
              <a:avLst/>
            </a:prstGeom>
            <a:noFill/>
          </p:spPr>
          <p:txBody>
            <a:bodyPr wrap="none" rtlCol="0">
              <a:spAutoFit/>
            </a:bodyPr>
            <a:lstStyle/>
            <a:p>
              <a:pPr algn="ctr" defTabSz="457200" fontAlgn="base">
                <a:spcBef>
                  <a:spcPct val="0"/>
                </a:spcBef>
                <a:spcAft>
                  <a:spcPct val="0"/>
                </a:spcAft>
                <a:defRPr/>
              </a:pPr>
              <a:r>
                <a:rPr lang="en-US" sz="1200" kern="0" dirty="0">
                  <a:solidFill>
                    <a:prstClr val="black"/>
                  </a:solidFill>
                  <a:ea typeface="ＭＳ Ｐゴシック" pitchFamily="34" charset="-128"/>
                  <a:cs typeface="Arial" charset="0"/>
                </a:rPr>
                <a:t>long </a:t>
              </a:r>
              <a:r>
                <a:rPr lang="en-US" sz="1200" kern="0" dirty="0" err="1">
                  <a:solidFill>
                    <a:prstClr val="black"/>
                  </a:solidFill>
                  <a:ea typeface="ＭＳ Ｐゴシック" pitchFamily="34" charset="-128"/>
                  <a:cs typeface="Arial" charset="0"/>
                </a:rPr>
                <a:t>long</a:t>
              </a:r>
              <a:r>
                <a:rPr lang="en-US" sz="1200" kern="0" dirty="0">
                  <a:solidFill>
                    <a:prstClr val="black"/>
                  </a:solidFill>
                  <a:ea typeface="ＭＳ Ｐゴシック" pitchFamily="34" charset="-128"/>
                  <a:cs typeface="Arial" charset="0"/>
                </a:rPr>
                <a:t> (64-bit)</a:t>
              </a:r>
            </a:p>
          </p:txBody>
        </p:sp>
        <p:sp>
          <p:nvSpPr>
            <p:cNvPr id="99" name="TextBox 98">
              <a:extLst>
                <a:ext uri="{FF2B5EF4-FFF2-40B4-BE49-F238E27FC236}">
                  <a16:creationId xmlns:a16="http://schemas.microsoft.com/office/drawing/2014/main" id="{9E9BB591-F6DB-4EA2-B3FA-DE2DF8ABDC38}"/>
                </a:ext>
              </a:extLst>
            </p:cNvPr>
            <p:cNvSpPr txBox="1"/>
            <p:nvPr/>
          </p:nvSpPr>
          <p:spPr>
            <a:xfrm>
              <a:off x="5103902" y="2737710"/>
              <a:ext cx="656842" cy="276999"/>
            </a:xfrm>
            <a:prstGeom prst="rect">
              <a:avLst/>
            </a:prstGeom>
            <a:noFill/>
          </p:spPr>
          <p:txBody>
            <a:bodyPr wrap="none" rtlCol="0">
              <a:spAutoFit/>
            </a:bodyPr>
            <a:lstStyle/>
            <a:p>
              <a:pPr algn="ctr" defTabSz="457200" fontAlgn="base">
                <a:spcBef>
                  <a:spcPct val="0"/>
                </a:spcBef>
                <a:spcAft>
                  <a:spcPct val="0"/>
                </a:spcAft>
                <a:defRPr/>
              </a:pPr>
              <a:r>
                <a:rPr lang="en-US" sz="1200" kern="0" dirty="0" err="1">
                  <a:solidFill>
                    <a:prstClr val="black"/>
                  </a:solidFill>
                  <a:ea typeface="ＭＳ Ｐゴシック" pitchFamily="34" charset="-128"/>
                  <a:cs typeface="Arial" charset="0"/>
                </a:rPr>
                <a:t>int</a:t>
              </a:r>
              <a:r>
                <a:rPr lang="en-US" sz="1200" kern="0" dirty="0">
                  <a:solidFill>
                    <a:prstClr val="black"/>
                  </a:solidFill>
                  <a:ea typeface="ＭＳ Ｐゴシック" pitchFamily="34" charset="-128"/>
                  <a:cs typeface="Arial" charset="0"/>
                </a:rPr>
                <a:t> (32-bit)</a:t>
              </a:r>
            </a:p>
          </p:txBody>
        </p:sp>
        <p:sp>
          <p:nvSpPr>
            <p:cNvPr id="102" name="TextBox 101">
              <a:extLst>
                <a:ext uri="{FF2B5EF4-FFF2-40B4-BE49-F238E27FC236}">
                  <a16:creationId xmlns:a16="http://schemas.microsoft.com/office/drawing/2014/main" id="{4D172562-9D3C-4196-B474-5669590DCD68}"/>
                </a:ext>
              </a:extLst>
            </p:cNvPr>
            <p:cNvSpPr txBox="1"/>
            <p:nvPr/>
          </p:nvSpPr>
          <p:spPr>
            <a:xfrm>
              <a:off x="6452254" y="2460711"/>
              <a:ext cx="791528" cy="276999"/>
            </a:xfrm>
            <a:prstGeom prst="rect">
              <a:avLst/>
            </a:prstGeom>
            <a:noFill/>
          </p:spPr>
          <p:txBody>
            <a:bodyPr wrap="none" rtlCol="0">
              <a:spAutoFit/>
            </a:bodyPr>
            <a:lstStyle/>
            <a:p>
              <a:pPr algn="ctr" defTabSz="457200" fontAlgn="base">
                <a:spcBef>
                  <a:spcPct val="0"/>
                </a:spcBef>
                <a:spcAft>
                  <a:spcPct val="0"/>
                </a:spcAft>
                <a:defRPr/>
              </a:pPr>
              <a:r>
                <a:rPr lang="en-US" sz="1200" kern="0" dirty="0">
                  <a:solidFill>
                    <a:prstClr val="black"/>
                  </a:solidFill>
                  <a:ea typeface="ＭＳ Ｐゴシック" pitchFamily="34" charset="-128"/>
                  <a:cs typeface="Arial" charset="0"/>
                </a:rPr>
                <a:t>short (16-bit)</a:t>
              </a:r>
            </a:p>
          </p:txBody>
        </p:sp>
        <p:sp>
          <p:nvSpPr>
            <p:cNvPr id="104" name="TextBox 103">
              <a:extLst>
                <a:ext uri="{FF2B5EF4-FFF2-40B4-BE49-F238E27FC236}">
                  <a16:creationId xmlns:a16="http://schemas.microsoft.com/office/drawing/2014/main" id="{3575DCD7-DED4-48DD-A7F1-5CCECDFEDDED}"/>
                </a:ext>
              </a:extLst>
            </p:cNvPr>
            <p:cNvSpPr txBox="1"/>
            <p:nvPr/>
          </p:nvSpPr>
          <p:spPr>
            <a:xfrm>
              <a:off x="6483589" y="2729546"/>
              <a:ext cx="695324" cy="276999"/>
            </a:xfrm>
            <a:prstGeom prst="rect">
              <a:avLst/>
            </a:prstGeom>
            <a:noFill/>
          </p:spPr>
          <p:txBody>
            <a:bodyPr wrap="none" rtlCol="0">
              <a:spAutoFit/>
            </a:bodyPr>
            <a:lstStyle/>
            <a:p>
              <a:pPr algn="ctr" defTabSz="457200" fontAlgn="base">
                <a:spcBef>
                  <a:spcPct val="0"/>
                </a:spcBef>
                <a:spcAft>
                  <a:spcPct val="0"/>
                </a:spcAft>
                <a:defRPr/>
              </a:pPr>
              <a:r>
                <a:rPr lang="en-US" sz="1200" kern="0" dirty="0">
                  <a:solidFill>
                    <a:prstClr val="black"/>
                  </a:solidFill>
                  <a:ea typeface="ＭＳ Ｐゴシック" pitchFamily="34" charset="-128"/>
                  <a:cs typeface="Arial" charset="0"/>
                </a:rPr>
                <a:t>char (8-bit)</a:t>
              </a:r>
            </a:p>
          </p:txBody>
        </p:sp>
        <p:sp>
          <p:nvSpPr>
            <p:cNvPr id="107" name="TextBox 106">
              <a:extLst>
                <a:ext uri="{FF2B5EF4-FFF2-40B4-BE49-F238E27FC236}">
                  <a16:creationId xmlns:a16="http://schemas.microsoft.com/office/drawing/2014/main" id="{3C2A8A55-167C-4CB9-B306-E08447F160A6}"/>
                </a:ext>
              </a:extLst>
            </p:cNvPr>
            <p:cNvSpPr txBox="1"/>
            <p:nvPr/>
          </p:nvSpPr>
          <p:spPr>
            <a:xfrm>
              <a:off x="6485030" y="3036786"/>
              <a:ext cx="879316" cy="276999"/>
            </a:xfrm>
            <a:prstGeom prst="rect">
              <a:avLst/>
            </a:prstGeom>
            <a:noFill/>
          </p:spPr>
          <p:txBody>
            <a:bodyPr wrap="none" rtlCol="0">
              <a:spAutoFit/>
            </a:bodyPr>
            <a:lstStyle/>
            <a:p>
              <a:pPr algn="ctr" defTabSz="457200" fontAlgn="base">
                <a:spcBef>
                  <a:spcPct val="0"/>
                </a:spcBef>
                <a:spcAft>
                  <a:spcPct val="0"/>
                </a:spcAft>
                <a:defRPr/>
              </a:pPr>
              <a:r>
                <a:rPr lang="en-US" sz="1200" kern="0" dirty="0">
                  <a:solidFill>
                    <a:prstClr val="black"/>
                  </a:solidFill>
                  <a:ea typeface="ＭＳ Ｐゴシック" pitchFamily="34" charset="-128"/>
                  <a:cs typeface="Arial" charset="0"/>
                </a:rPr>
                <a:t>double (64-bit)</a:t>
              </a:r>
            </a:p>
          </p:txBody>
        </p:sp>
        <p:sp>
          <p:nvSpPr>
            <p:cNvPr id="108" name="TextBox 107">
              <a:extLst>
                <a:ext uri="{FF2B5EF4-FFF2-40B4-BE49-F238E27FC236}">
                  <a16:creationId xmlns:a16="http://schemas.microsoft.com/office/drawing/2014/main" id="{BCAF2B10-ABF9-40FE-AF11-1E119CCBD91E}"/>
                </a:ext>
              </a:extLst>
            </p:cNvPr>
            <p:cNvSpPr txBox="1"/>
            <p:nvPr/>
          </p:nvSpPr>
          <p:spPr>
            <a:xfrm>
              <a:off x="5119832" y="3044950"/>
              <a:ext cx="753047" cy="276999"/>
            </a:xfrm>
            <a:prstGeom prst="rect">
              <a:avLst/>
            </a:prstGeom>
            <a:noFill/>
          </p:spPr>
          <p:txBody>
            <a:bodyPr wrap="none" rtlCol="0">
              <a:spAutoFit/>
            </a:bodyPr>
            <a:lstStyle/>
            <a:p>
              <a:pPr algn="ctr" defTabSz="457200" fontAlgn="base">
                <a:spcBef>
                  <a:spcPct val="0"/>
                </a:spcBef>
                <a:spcAft>
                  <a:spcPct val="0"/>
                </a:spcAft>
                <a:defRPr/>
              </a:pPr>
              <a:r>
                <a:rPr lang="en-US" sz="1200" kern="0" dirty="0">
                  <a:solidFill>
                    <a:prstClr val="black"/>
                  </a:solidFill>
                  <a:ea typeface="ＭＳ Ｐゴシック" pitchFamily="34" charset="-128"/>
                  <a:cs typeface="Arial" charset="0"/>
                </a:rPr>
                <a:t>float (32-bit)</a:t>
              </a:r>
            </a:p>
          </p:txBody>
        </p:sp>
        <p:sp>
          <p:nvSpPr>
            <p:cNvPr id="109" name="TextBox 108">
              <a:extLst>
                <a:ext uri="{FF2B5EF4-FFF2-40B4-BE49-F238E27FC236}">
                  <a16:creationId xmlns:a16="http://schemas.microsoft.com/office/drawing/2014/main" id="{268074BE-BF90-4C60-87EA-1D8A1EF8F197}"/>
                </a:ext>
              </a:extLst>
            </p:cNvPr>
            <p:cNvSpPr txBox="1"/>
            <p:nvPr/>
          </p:nvSpPr>
          <p:spPr>
            <a:xfrm>
              <a:off x="7680990" y="2460711"/>
              <a:ext cx="911784" cy="276999"/>
            </a:xfrm>
            <a:prstGeom prst="rect">
              <a:avLst/>
            </a:prstGeom>
            <a:noFill/>
          </p:spPr>
          <p:txBody>
            <a:bodyPr wrap="none" rtlCol="0">
              <a:spAutoFit/>
            </a:bodyPr>
            <a:lstStyle/>
            <a:p>
              <a:pPr algn="ctr" defTabSz="457200" fontAlgn="base">
                <a:spcBef>
                  <a:spcPct val="0"/>
                </a:spcBef>
                <a:spcAft>
                  <a:spcPct val="0"/>
                </a:spcAft>
                <a:defRPr/>
              </a:pPr>
              <a:r>
                <a:rPr lang="en-US" sz="1200" kern="0" dirty="0">
                  <a:solidFill>
                    <a:prstClr val="black"/>
                  </a:solidFill>
                  <a:ea typeface="ＭＳ Ｐゴシック" pitchFamily="34" charset="-128"/>
                  <a:cs typeface="Arial" charset="0"/>
                </a:rPr>
                <a:t>unsigned types</a:t>
              </a:r>
            </a:p>
          </p:txBody>
        </p:sp>
        <p:sp>
          <p:nvSpPr>
            <p:cNvPr id="110" name="TextBox 109">
              <a:extLst>
                <a:ext uri="{FF2B5EF4-FFF2-40B4-BE49-F238E27FC236}">
                  <a16:creationId xmlns:a16="http://schemas.microsoft.com/office/drawing/2014/main" id="{57F1CE7A-CD26-4EA6-A8CF-96E5AB053DF7}"/>
                </a:ext>
              </a:extLst>
            </p:cNvPr>
            <p:cNvSpPr txBox="1"/>
            <p:nvPr/>
          </p:nvSpPr>
          <p:spPr>
            <a:xfrm>
              <a:off x="4917645" y="2084825"/>
              <a:ext cx="1087360" cy="276999"/>
            </a:xfrm>
            <a:prstGeom prst="rect">
              <a:avLst/>
            </a:prstGeom>
            <a:noFill/>
          </p:spPr>
          <p:txBody>
            <a:bodyPr wrap="none" rtlCol="0">
              <a:spAutoFit/>
            </a:bodyPr>
            <a:lstStyle/>
            <a:p>
              <a:pPr defTabSz="457200" fontAlgn="base">
                <a:spcBef>
                  <a:spcPct val="0"/>
                </a:spcBef>
                <a:spcAft>
                  <a:spcPct val="0"/>
                </a:spcAft>
                <a:defRPr/>
              </a:pPr>
              <a:r>
                <a:rPr lang="en-US" sz="1200" b="1" u="sng" kern="0" dirty="0">
                  <a:solidFill>
                    <a:prstClr val="black"/>
                  </a:solidFill>
                  <a:ea typeface="ＭＳ Ｐゴシック" pitchFamily="34" charset="-128"/>
                  <a:cs typeface="Arial" charset="0"/>
                </a:rPr>
                <a:t>Standard C types</a:t>
              </a:r>
            </a:p>
          </p:txBody>
        </p:sp>
      </p:grpSp>
      <p:grpSp>
        <p:nvGrpSpPr>
          <p:cNvPr id="111" name="Group 108">
            <a:extLst>
              <a:ext uri="{FF2B5EF4-FFF2-40B4-BE49-F238E27FC236}">
                <a16:creationId xmlns:a16="http://schemas.microsoft.com/office/drawing/2014/main" id="{4DA513E9-F9C4-4FA9-B51A-69A2AF6D5098}"/>
              </a:ext>
            </a:extLst>
          </p:cNvPr>
          <p:cNvGrpSpPr/>
          <p:nvPr/>
        </p:nvGrpSpPr>
        <p:grpSpPr>
          <a:xfrm>
            <a:off x="6556743" y="3843469"/>
            <a:ext cx="5426493" cy="1890009"/>
            <a:chOff x="4917645" y="3843291"/>
            <a:chExt cx="4070930" cy="1890009"/>
          </a:xfrm>
        </p:grpSpPr>
        <p:sp>
          <p:nvSpPr>
            <p:cNvPr id="112" name="TextBox 111">
              <a:extLst>
                <a:ext uri="{FF2B5EF4-FFF2-40B4-BE49-F238E27FC236}">
                  <a16:creationId xmlns:a16="http://schemas.microsoft.com/office/drawing/2014/main" id="{DD1A3416-416E-4B3D-BED9-50F11D9E66D5}"/>
                </a:ext>
              </a:extLst>
            </p:cNvPr>
            <p:cNvSpPr txBox="1"/>
            <p:nvPr/>
          </p:nvSpPr>
          <p:spPr>
            <a:xfrm>
              <a:off x="4917645" y="3843291"/>
              <a:ext cx="1952779" cy="276999"/>
            </a:xfrm>
            <a:prstGeom prst="rect">
              <a:avLst/>
            </a:prstGeom>
            <a:noFill/>
          </p:spPr>
          <p:txBody>
            <a:bodyPr wrap="square" rtlCol="0">
              <a:spAutoFit/>
            </a:bodyPr>
            <a:lstStyle/>
            <a:p>
              <a:pPr defTabSz="457200" fontAlgn="base">
                <a:spcBef>
                  <a:spcPct val="0"/>
                </a:spcBef>
                <a:spcAft>
                  <a:spcPct val="0"/>
                </a:spcAft>
              </a:pPr>
              <a:r>
                <a:rPr lang="en-US" sz="1200" b="1" u="sng" dirty="0" err="1">
                  <a:solidFill>
                    <a:prstClr val="black"/>
                  </a:solidFill>
                  <a:ea typeface="ＭＳ Ｐゴシック" pitchFamily="34" charset="-128"/>
                  <a:cs typeface="Arial" charset="0"/>
                </a:rPr>
                <a:t>Arbitary</a:t>
              </a:r>
              <a:r>
                <a:rPr lang="en-US" sz="1200" b="1" u="sng" dirty="0">
                  <a:solidFill>
                    <a:prstClr val="black"/>
                  </a:solidFill>
                  <a:ea typeface="ＭＳ Ｐゴシック" pitchFamily="34" charset="-128"/>
                  <a:cs typeface="Arial" charset="0"/>
                </a:rPr>
                <a:t> Precision types</a:t>
              </a:r>
            </a:p>
          </p:txBody>
        </p:sp>
        <p:sp>
          <p:nvSpPr>
            <p:cNvPr id="113" name="TextBox 112">
              <a:extLst>
                <a:ext uri="{FF2B5EF4-FFF2-40B4-BE49-F238E27FC236}">
                  <a16:creationId xmlns:a16="http://schemas.microsoft.com/office/drawing/2014/main" id="{9507F91B-7597-4D23-AB17-99EF09FF54FF}"/>
                </a:ext>
              </a:extLst>
            </p:cNvPr>
            <p:cNvSpPr txBox="1"/>
            <p:nvPr/>
          </p:nvSpPr>
          <p:spPr>
            <a:xfrm>
              <a:off x="5032860" y="4120290"/>
              <a:ext cx="3201517" cy="276999"/>
            </a:xfrm>
            <a:prstGeom prst="rect">
              <a:avLst/>
            </a:prstGeom>
            <a:noFill/>
          </p:spPr>
          <p:txBody>
            <a:bodyPr wrap="square" rtlCol="0">
              <a:spAutoFit/>
            </a:bodyPr>
            <a:lstStyle/>
            <a:p>
              <a:pPr defTabSz="457200" fontAlgn="base">
                <a:spcBef>
                  <a:spcPct val="0"/>
                </a:spcBef>
                <a:spcAft>
                  <a:spcPct val="0"/>
                </a:spcAft>
              </a:pPr>
              <a:r>
                <a:rPr lang="en-US" sz="1200" b="1" dirty="0">
                  <a:solidFill>
                    <a:prstClr val="black"/>
                  </a:solidFill>
                  <a:ea typeface="ＭＳ Ｐゴシック" pitchFamily="34" charset="-128"/>
                  <a:cs typeface="Arial" charset="0"/>
                </a:rPr>
                <a:t>C: </a:t>
              </a:r>
              <a:r>
                <a:rPr lang="en-US" sz="1200" dirty="0">
                  <a:solidFill>
                    <a:prstClr val="black"/>
                  </a:solidFill>
                  <a:ea typeface="ＭＳ Ｐゴシック" pitchFamily="34" charset="-128"/>
                  <a:cs typeface="Arial" charset="0"/>
                </a:rPr>
                <a:t>			</a:t>
              </a:r>
              <a:r>
                <a:rPr lang="en-US" sz="1200" dirty="0" err="1">
                  <a:solidFill>
                    <a:prstClr val="black"/>
                  </a:solidFill>
                  <a:ea typeface="ＭＳ Ｐゴシック" pitchFamily="34" charset="-128"/>
                  <a:cs typeface="Arial" charset="0"/>
                </a:rPr>
                <a:t>ap</a:t>
              </a:r>
              <a:r>
                <a:rPr lang="en-US" sz="1200" dirty="0">
                  <a:solidFill>
                    <a:prstClr val="black"/>
                  </a:solidFill>
                  <a:ea typeface="ＭＳ Ｐゴシック" pitchFamily="34" charset="-128"/>
                  <a:cs typeface="Arial" charset="0"/>
                </a:rPr>
                <a:t>(u)</a:t>
              </a:r>
              <a:r>
                <a:rPr lang="en-US" sz="1200" dirty="0" err="1">
                  <a:solidFill>
                    <a:prstClr val="black"/>
                  </a:solidFill>
                  <a:ea typeface="ＭＳ Ｐゴシック" pitchFamily="34" charset="-128"/>
                  <a:cs typeface="Arial" charset="0"/>
                </a:rPr>
                <a:t>int</a:t>
              </a:r>
              <a:r>
                <a:rPr lang="en-US" sz="1200" dirty="0">
                  <a:solidFill>
                    <a:prstClr val="black"/>
                  </a:solidFill>
                  <a:ea typeface="ＭＳ Ｐゴシック" pitchFamily="34" charset="-128"/>
                  <a:cs typeface="Arial" charset="0"/>
                </a:rPr>
                <a:t> types (1-1024)</a:t>
              </a:r>
            </a:p>
          </p:txBody>
        </p:sp>
        <p:sp>
          <p:nvSpPr>
            <p:cNvPr id="114" name="TextBox 113">
              <a:extLst>
                <a:ext uri="{FF2B5EF4-FFF2-40B4-BE49-F238E27FC236}">
                  <a16:creationId xmlns:a16="http://schemas.microsoft.com/office/drawing/2014/main" id="{4DB2888F-BBEB-43D7-AC8D-4273A11FFD88}"/>
                </a:ext>
              </a:extLst>
            </p:cNvPr>
            <p:cNvSpPr txBox="1"/>
            <p:nvPr/>
          </p:nvSpPr>
          <p:spPr>
            <a:xfrm>
              <a:off x="5032860" y="4350720"/>
              <a:ext cx="3286477" cy="461665"/>
            </a:xfrm>
            <a:prstGeom prst="rect">
              <a:avLst/>
            </a:prstGeom>
            <a:noFill/>
          </p:spPr>
          <p:txBody>
            <a:bodyPr wrap="square" rtlCol="0">
              <a:spAutoFit/>
            </a:bodyPr>
            <a:lstStyle/>
            <a:p>
              <a:pPr defTabSz="457200" fontAlgn="base">
                <a:spcBef>
                  <a:spcPct val="0"/>
                </a:spcBef>
                <a:spcAft>
                  <a:spcPct val="0"/>
                </a:spcAft>
              </a:pPr>
              <a:r>
                <a:rPr lang="en-US" sz="1200" b="1" dirty="0">
                  <a:solidFill>
                    <a:prstClr val="black"/>
                  </a:solidFill>
                  <a:ea typeface="ＭＳ Ｐゴシック" pitchFamily="34" charset="-128"/>
                  <a:cs typeface="Arial" charset="0"/>
                </a:rPr>
                <a:t>C++: </a:t>
              </a:r>
              <a:r>
                <a:rPr lang="en-US" sz="1200" dirty="0">
                  <a:solidFill>
                    <a:prstClr val="black"/>
                  </a:solidFill>
                  <a:ea typeface="ＭＳ Ｐゴシック" pitchFamily="34" charset="-128"/>
                  <a:cs typeface="Arial" charset="0"/>
                </a:rPr>
                <a:t>			</a:t>
              </a:r>
              <a:r>
                <a:rPr lang="en-US" sz="1200" dirty="0" err="1">
                  <a:solidFill>
                    <a:prstClr val="black"/>
                  </a:solidFill>
                  <a:ea typeface="ＭＳ Ｐゴシック" pitchFamily="34" charset="-128"/>
                  <a:cs typeface="Arial" charset="0"/>
                </a:rPr>
                <a:t>ap</a:t>
              </a:r>
              <a:r>
                <a:rPr lang="en-US" sz="1200" dirty="0">
                  <a:solidFill>
                    <a:prstClr val="black"/>
                  </a:solidFill>
                  <a:ea typeface="ＭＳ Ｐゴシック" pitchFamily="34" charset="-128"/>
                  <a:cs typeface="Arial" charset="0"/>
                </a:rPr>
                <a:t>_(u)</a:t>
              </a:r>
              <a:r>
                <a:rPr lang="en-US" sz="1200" dirty="0" err="1">
                  <a:solidFill>
                    <a:prstClr val="black"/>
                  </a:solidFill>
                  <a:ea typeface="ＭＳ Ｐゴシック" pitchFamily="34" charset="-128"/>
                  <a:cs typeface="Arial" charset="0"/>
                </a:rPr>
                <a:t>int</a:t>
              </a:r>
              <a:r>
                <a:rPr lang="en-US" sz="1200" dirty="0">
                  <a:solidFill>
                    <a:prstClr val="black"/>
                  </a:solidFill>
                  <a:ea typeface="ＭＳ Ｐゴシック" pitchFamily="34" charset="-128"/>
                  <a:cs typeface="Arial" charset="0"/>
                </a:rPr>
                <a:t> types (1-1024)</a:t>
              </a:r>
            </a:p>
            <a:p>
              <a:pPr defTabSz="457200" fontAlgn="base">
                <a:spcBef>
                  <a:spcPct val="0"/>
                </a:spcBef>
                <a:spcAft>
                  <a:spcPct val="0"/>
                </a:spcAft>
              </a:pPr>
              <a:r>
                <a:rPr lang="en-US" sz="1200" dirty="0">
                  <a:solidFill>
                    <a:prstClr val="black"/>
                  </a:solidFill>
                  <a:ea typeface="ＭＳ Ｐゴシック" pitchFamily="34" charset="-128"/>
                  <a:cs typeface="Arial" charset="0"/>
                </a:rPr>
                <a:t>                                </a:t>
              </a:r>
              <a:r>
                <a:rPr lang="en-US" sz="1200" dirty="0" err="1">
                  <a:solidFill>
                    <a:prstClr val="black"/>
                  </a:solidFill>
                  <a:ea typeface="ＭＳ Ｐゴシック" pitchFamily="34" charset="-128"/>
                  <a:cs typeface="Arial" charset="0"/>
                </a:rPr>
                <a:t>ap_fixed</a:t>
              </a:r>
              <a:r>
                <a:rPr lang="en-US" sz="1200" dirty="0">
                  <a:solidFill>
                    <a:prstClr val="black"/>
                  </a:solidFill>
                  <a:ea typeface="ＭＳ Ｐゴシック" pitchFamily="34" charset="-128"/>
                  <a:cs typeface="Arial" charset="0"/>
                </a:rPr>
                <a:t> types </a:t>
              </a:r>
            </a:p>
          </p:txBody>
        </p:sp>
        <p:sp>
          <p:nvSpPr>
            <p:cNvPr id="116" name="TextBox 115">
              <a:extLst>
                <a:ext uri="{FF2B5EF4-FFF2-40B4-BE49-F238E27FC236}">
                  <a16:creationId xmlns:a16="http://schemas.microsoft.com/office/drawing/2014/main" id="{D0CC190D-FD9B-4DCD-9049-FFE122DE2C08}"/>
                </a:ext>
              </a:extLst>
            </p:cNvPr>
            <p:cNvSpPr txBox="1"/>
            <p:nvPr/>
          </p:nvSpPr>
          <p:spPr>
            <a:xfrm>
              <a:off x="5032860" y="4811580"/>
              <a:ext cx="3276859" cy="461665"/>
            </a:xfrm>
            <a:prstGeom prst="rect">
              <a:avLst/>
            </a:prstGeom>
            <a:noFill/>
          </p:spPr>
          <p:txBody>
            <a:bodyPr wrap="square" rtlCol="0">
              <a:spAutoFit/>
            </a:bodyPr>
            <a:lstStyle/>
            <a:p>
              <a:pPr defTabSz="457200" fontAlgn="base">
                <a:spcBef>
                  <a:spcPct val="0"/>
                </a:spcBef>
                <a:spcAft>
                  <a:spcPct val="0"/>
                </a:spcAft>
              </a:pPr>
              <a:r>
                <a:rPr lang="en-US" sz="1200" b="1" dirty="0">
                  <a:solidFill>
                    <a:prstClr val="black"/>
                  </a:solidFill>
                  <a:ea typeface="ＭＳ Ｐゴシック" pitchFamily="34" charset="-128"/>
                  <a:cs typeface="Arial" charset="0"/>
                </a:rPr>
                <a:t>C++/SystemC: </a:t>
              </a:r>
              <a:r>
                <a:rPr lang="en-US" sz="1200" dirty="0">
                  <a:solidFill>
                    <a:prstClr val="black"/>
                  </a:solidFill>
                  <a:ea typeface="ＭＳ Ｐゴシック" pitchFamily="34" charset="-128"/>
                  <a:cs typeface="Arial" charset="0"/>
                </a:rPr>
                <a:t>	sc_(u)</a:t>
              </a:r>
              <a:r>
                <a:rPr lang="en-US" sz="1200" dirty="0" err="1">
                  <a:solidFill>
                    <a:prstClr val="black"/>
                  </a:solidFill>
                  <a:ea typeface="ＭＳ Ｐゴシック" pitchFamily="34" charset="-128"/>
                  <a:cs typeface="Arial" charset="0"/>
                </a:rPr>
                <a:t>int</a:t>
              </a:r>
              <a:r>
                <a:rPr lang="en-US" sz="1200" dirty="0">
                  <a:solidFill>
                    <a:prstClr val="black"/>
                  </a:solidFill>
                  <a:ea typeface="ＭＳ Ｐゴシック" pitchFamily="34" charset="-128"/>
                  <a:cs typeface="Arial" charset="0"/>
                </a:rPr>
                <a:t> types (1-1024)</a:t>
              </a:r>
            </a:p>
            <a:p>
              <a:pPr defTabSz="457200" fontAlgn="base">
                <a:spcBef>
                  <a:spcPct val="0"/>
                </a:spcBef>
                <a:spcAft>
                  <a:spcPct val="0"/>
                </a:spcAft>
              </a:pPr>
              <a:r>
                <a:rPr lang="en-US" sz="1200" dirty="0">
                  <a:solidFill>
                    <a:prstClr val="black"/>
                  </a:solidFill>
                  <a:ea typeface="ＭＳ Ｐゴシック" pitchFamily="34" charset="-128"/>
                  <a:cs typeface="Arial" charset="0"/>
                </a:rPr>
                <a:t>			</a:t>
              </a:r>
              <a:r>
                <a:rPr lang="en-US" sz="1200" dirty="0" err="1">
                  <a:solidFill>
                    <a:prstClr val="black"/>
                  </a:solidFill>
                  <a:ea typeface="ＭＳ Ｐゴシック" pitchFamily="34" charset="-128"/>
                  <a:cs typeface="Arial" charset="0"/>
                </a:rPr>
                <a:t>sc_fixed</a:t>
              </a:r>
              <a:r>
                <a:rPr lang="en-US" sz="1200" dirty="0">
                  <a:solidFill>
                    <a:prstClr val="black"/>
                  </a:solidFill>
                  <a:ea typeface="ＭＳ Ｐゴシック" pitchFamily="34" charset="-128"/>
                  <a:cs typeface="Arial" charset="0"/>
                </a:rPr>
                <a:t> types</a:t>
              </a:r>
            </a:p>
          </p:txBody>
        </p:sp>
        <p:sp>
          <p:nvSpPr>
            <p:cNvPr id="118" name="TextBox 117">
              <a:extLst>
                <a:ext uri="{FF2B5EF4-FFF2-40B4-BE49-F238E27FC236}">
                  <a16:creationId xmlns:a16="http://schemas.microsoft.com/office/drawing/2014/main" id="{CCF61C0F-7F6D-4241-B014-470344599EF0}"/>
                </a:ext>
              </a:extLst>
            </p:cNvPr>
            <p:cNvSpPr txBox="1"/>
            <p:nvPr/>
          </p:nvSpPr>
          <p:spPr>
            <a:xfrm>
              <a:off x="4994455" y="5271635"/>
              <a:ext cx="3994120" cy="461665"/>
            </a:xfrm>
            <a:prstGeom prst="rect">
              <a:avLst/>
            </a:prstGeom>
            <a:noFill/>
          </p:spPr>
          <p:txBody>
            <a:bodyPr wrap="square" rtlCol="0">
              <a:spAutoFit/>
            </a:bodyPr>
            <a:lstStyle/>
            <a:p>
              <a:pPr defTabSz="457200" fontAlgn="base">
                <a:spcBef>
                  <a:spcPct val="0"/>
                </a:spcBef>
                <a:spcAft>
                  <a:spcPct val="0"/>
                </a:spcAft>
              </a:pPr>
              <a:r>
                <a:rPr lang="en-US" sz="1200" dirty="0">
                  <a:solidFill>
                    <a:prstClr val="black"/>
                  </a:solidFill>
                  <a:ea typeface="ＭＳ Ｐゴシック" pitchFamily="34" charset="-128"/>
                  <a:cs typeface="Arial" charset="0"/>
                </a:rPr>
                <a:t>Can be used to define any variable to be a specific bit-width (e.g. 17-bit, 47-bit etc).</a:t>
              </a:r>
            </a:p>
          </p:txBody>
        </p:sp>
      </p:grpSp>
    </p:spTree>
    <p:extLst>
      <p:ext uri="{BB962C8B-B14F-4D97-AF65-F5344CB8AC3E}">
        <p14:creationId xmlns:p14="http://schemas.microsoft.com/office/powerpoint/2010/main" val="1061626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wipe(left)">
                                      <p:cBhvr>
                                        <p:cTn id="7" dur="500"/>
                                        <p:tgtEl>
                                          <p:spTgt spid="5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0"/>
                                        </p:tgtEl>
                                        <p:attrNameLst>
                                          <p:attrName>style.visibility</p:attrName>
                                        </p:attrNameLst>
                                      </p:cBhvr>
                                      <p:to>
                                        <p:strVal val="visible"/>
                                      </p:to>
                                    </p:set>
                                    <p:animEffect transition="in" filter="wipe(left)">
                                      <p:cBhvr>
                                        <p:cTn id="12" dur="500"/>
                                        <p:tgtEl>
                                          <p:spTgt spid="9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11"/>
                                        </p:tgtEl>
                                        <p:attrNameLst>
                                          <p:attrName>style.visibility</p:attrName>
                                        </p:attrNameLst>
                                      </p:cBhvr>
                                      <p:to>
                                        <p:strVal val="visible"/>
                                      </p:to>
                                    </p:set>
                                    <p:animEffect transition="in" filter="wipe(up)">
                                      <p:cBhvr>
                                        <p:cTn id="17" dur="500"/>
                                        <p:tgtEl>
                                          <p:spTgt spid="1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Loops </a:t>
            </a:r>
          </a:p>
        </p:txBody>
      </p:sp>
      <p:sp>
        <p:nvSpPr>
          <p:cNvPr id="3" name="Content Placeholder 2"/>
          <p:cNvSpPr>
            <a:spLocks noGrp="1"/>
          </p:cNvSpPr>
          <p:nvPr>
            <p:ph idx="1"/>
          </p:nvPr>
        </p:nvSpPr>
        <p:spPr/>
        <p:txBody>
          <a:bodyPr>
            <a:normAutofit fontScale="70000" lnSpcReduction="20000"/>
          </a:bodyPr>
          <a:lstStyle/>
          <a:p>
            <a:r>
              <a:rPr lang="en-US" dirty="0"/>
              <a:t>By default, loops are rolled</a:t>
            </a:r>
          </a:p>
          <a:p>
            <a:pPr lvl="1"/>
            <a:r>
              <a:rPr lang="en-US" dirty="0"/>
              <a:t>Each C loop iteration </a:t>
            </a:r>
            <a:r>
              <a:rPr lang="en-US" dirty="0">
                <a:sym typeface="Wingdings" pitchFamily="2" charset="2"/>
              </a:rPr>
              <a:t> Implemented in the same state </a:t>
            </a:r>
          </a:p>
          <a:p>
            <a:pPr lvl="1"/>
            <a:r>
              <a:rPr lang="en-US" dirty="0">
                <a:sym typeface="Wingdings" pitchFamily="2" charset="2"/>
              </a:rPr>
              <a:t>Each C loop iteration  Implemented with same resources</a:t>
            </a:r>
            <a:endParaRPr lang="en-US" dirty="0"/>
          </a:p>
          <a:p>
            <a:endParaRPr lang="en-US" dirty="0"/>
          </a:p>
          <a:p>
            <a:endParaRPr lang="en-US" dirty="0"/>
          </a:p>
          <a:p>
            <a:endParaRPr lang="en-US" dirty="0"/>
          </a:p>
          <a:p>
            <a:endParaRPr lang="en-US" dirty="0"/>
          </a:p>
          <a:p>
            <a:endParaRPr lang="en-US" dirty="0"/>
          </a:p>
          <a:p>
            <a:endParaRPr lang="en-US" dirty="0"/>
          </a:p>
          <a:p>
            <a:pPr>
              <a:buNone/>
            </a:pPr>
            <a:endParaRPr lang="en-US" dirty="0"/>
          </a:p>
          <a:p>
            <a:pPr lvl="1"/>
            <a:r>
              <a:rPr lang="en-US" dirty="0"/>
              <a:t>Loops can be unrolled if their indices are statically determinable at elaboration time</a:t>
            </a:r>
          </a:p>
          <a:p>
            <a:pPr lvl="2"/>
            <a:r>
              <a:rPr lang="en-US" dirty="0"/>
              <a:t>Not when the number of iterations is variable</a:t>
            </a:r>
          </a:p>
          <a:p>
            <a:pPr lvl="1"/>
            <a:r>
              <a:rPr lang="en-US" dirty="0"/>
              <a:t>Unrolled loops result in more elements to schedule but greater operator mobility</a:t>
            </a:r>
          </a:p>
          <a:p>
            <a:pPr lvl="2"/>
            <a:r>
              <a:rPr lang="en-US" dirty="0"/>
              <a:t>Let’s look at an example ….</a:t>
            </a:r>
          </a:p>
        </p:txBody>
      </p:sp>
      <p:sp>
        <p:nvSpPr>
          <p:cNvPr id="4" name="Slide Number Placeholder 3"/>
          <p:cNvSpPr>
            <a:spLocks noGrp="1"/>
          </p:cNvSpPr>
          <p:nvPr>
            <p:ph type="sldNum" sz="quarter" idx="10"/>
          </p:nvPr>
        </p:nvSpPr>
        <p:spPr/>
        <p:txBody>
          <a:bodyPr/>
          <a:lstStyle/>
          <a:p>
            <a:pPr>
              <a:defRPr/>
            </a:pPr>
            <a:r>
              <a:rPr lang="en-US" dirty="0"/>
              <a:t>Intro to HLS 11- </a:t>
            </a:r>
            <a:fld id="{060BD193-E118-4B16-863C-C8C12C675E3E}" type="slidenum">
              <a:rPr lang="en-US" smtClean="0"/>
              <a:pPr>
                <a:defRPr/>
              </a:pPr>
              <a:t>23</a:t>
            </a:fld>
            <a:endParaRPr lang="en-US" dirty="0"/>
          </a:p>
        </p:txBody>
      </p:sp>
      <p:sp>
        <p:nvSpPr>
          <p:cNvPr id="28" name="TextBox 27">
            <a:extLst>
              <a:ext uri="{FF2B5EF4-FFF2-40B4-BE49-F238E27FC236}">
                <a16:creationId xmlns:a16="http://schemas.microsoft.com/office/drawing/2014/main" id="{1BB458F2-D383-4BDB-A283-C6D27BC236F2}"/>
              </a:ext>
            </a:extLst>
          </p:cNvPr>
          <p:cNvSpPr txBox="1"/>
          <p:nvPr/>
        </p:nvSpPr>
        <p:spPr>
          <a:xfrm>
            <a:off x="515928" y="2599366"/>
            <a:ext cx="4402627" cy="1061829"/>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p:spPr>
        <p:txBody>
          <a:bodyPr wrap="square" rtlCol="0">
            <a:spAutoFit/>
          </a:bodyPr>
          <a:lstStyle/>
          <a:p>
            <a:pPr defTabSz="457200" fontAlgn="base">
              <a:spcBef>
                <a:spcPct val="0"/>
              </a:spcBef>
              <a:spcAft>
                <a:spcPct val="0"/>
              </a:spcAft>
              <a:defRPr/>
            </a:pPr>
            <a:r>
              <a:rPr lang="en-US" sz="1050" b="1" kern="0" dirty="0">
                <a:solidFill>
                  <a:prstClr val="black"/>
                </a:solidFill>
                <a:latin typeface="Consolas" pitchFamily="49" charset="0"/>
              </a:rPr>
              <a:t>void foo_top (…) {</a:t>
            </a:r>
          </a:p>
          <a:p>
            <a:pPr defTabSz="457200" fontAlgn="base">
              <a:spcBef>
                <a:spcPct val="0"/>
              </a:spcBef>
              <a:spcAft>
                <a:spcPct val="0"/>
              </a:spcAft>
              <a:defRPr/>
            </a:pPr>
            <a:r>
              <a:rPr lang="en-US" sz="1050" b="1" kern="0" dirty="0">
                <a:solidFill>
                  <a:prstClr val="black"/>
                </a:solidFill>
                <a:latin typeface="Consolas" pitchFamily="49" charset="0"/>
              </a:rPr>
              <a:t>  ...</a:t>
            </a:r>
          </a:p>
          <a:p>
            <a:pPr defTabSz="457200" fontAlgn="base">
              <a:spcBef>
                <a:spcPct val="0"/>
              </a:spcBef>
              <a:spcAft>
                <a:spcPct val="0"/>
              </a:spcAft>
              <a:defRPr/>
            </a:pPr>
            <a:r>
              <a:rPr lang="en-US" sz="1050" b="1" kern="0" dirty="0">
                <a:solidFill>
                  <a:prstClr val="black"/>
                </a:solidFill>
                <a:latin typeface="Consolas" pitchFamily="49" charset="0"/>
              </a:rPr>
              <a:t>  Add: for (i=3;i&gt;=0;i--) {</a:t>
            </a:r>
          </a:p>
          <a:p>
            <a:pPr defTabSz="457200" fontAlgn="base">
              <a:spcBef>
                <a:spcPct val="0"/>
              </a:spcBef>
              <a:spcAft>
                <a:spcPct val="0"/>
              </a:spcAft>
              <a:defRPr/>
            </a:pPr>
            <a:r>
              <a:rPr lang="en-US" sz="1050" b="1" kern="0" dirty="0">
                <a:solidFill>
                  <a:prstClr val="black"/>
                </a:solidFill>
                <a:latin typeface="Consolas" pitchFamily="49" charset="0"/>
              </a:rPr>
              <a:t>	b = a[i] + b;</a:t>
            </a:r>
          </a:p>
          <a:p>
            <a:pPr defTabSz="457200" fontAlgn="base">
              <a:spcBef>
                <a:spcPct val="0"/>
              </a:spcBef>
              <a:spcAft>
                <a:spcPct val="0"/>
              </a:spcAft>
              <a:defRPr/>
            </a:pPr>
            <a:r>
              <a:rPr lang="en-US" sz="1050" b="1" kern="0" dirty="0">
                <a:solidFill>
                  <a:prstClr val="black"/>
                </a:solidFill>
                <a:latin typeface="Consolas" pitchFamily="49" charset="0"/>
              </a:rPr>
              <a:t>  ...</a:t>
            </a:r>
          </a:p>
          <a:p>
            <a:pPr defTabSz="457200" fontAlgn="base">
              <a:spcBef>
                <a:spcPct val="0"/>
              </a:spcBef>
              <a:spcAft>
                <a:spcPct val="0"/>
              </a:spcAft>
              <a:defRPr/>
            </a:pPr>
            <a:r>
              <a:rPr lang="en-US" sz="1050" b="1" kern="0" dirty="0">
                <a:solidFill>
                  <a:prstClr val="black"/>
                </a:solidFill>
                <a:latin typeface="Consolas" pitchFamily="49" charset="0"/>
              </a:rPr>
              <a:t>  }	</a:t>
            </a:r>
          </a:p>
        </p:txBody>
      </p:sp>
      <p:sp>
        <p:nvSpPr>
          <p:cNvPr id="29" name="Rectangle 28">
            <a:extLst>
              <a:ext uri="{FF2B5EF4-FFF2-40B4-BE49-F238E27FC236}">
                <a16:creationId xmlns:a16="http://schemas.microsoft.com/office/drawing/2014/main" id="{F4B038D8-1CC6-4FCA-8F80-96768780F5CC}"/>
              </a:ext>
            </a:extLst>
          </p:cNvPr>
          <p:cNvSpPr/>
          <p:nvPr/>
        </p:nvSpPr>
        <p:spPr>
          <a:xfrm>
            <a:off x="7166148" y="2714417"/>
            <a:ext cx="3537252" cy="1689820"/>
          </a:xfrm>
          <a:prstGeom prst="rect">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endParaRPr lang="en-US" kern="0" dirty="0">
              <a:solidFill>
                <a:prstClr val="white"/>
              </a:solidFill>
              <a:latin typeface="Arial"/>
            </a:endParaRPr>
          </a:p>
        </p:txBody>
      </p:sp>
      <p:sp>
        <p:nvSpPr>
          <p:cNvPr id="34" name="TextBox 33">
            <a:extLst>
              <a:ext uri="{FF2B5EF4-FFF2-40B4-BE49-F238E27FC236}">
                <a16:creationId xmlns:a16="http://schemas.microsoft.com/office/drawing/2014/main" id="{2F581C01-C972-4B02-822D-BFE3F0D6C7FF}"/>
              </a:ext>
            </a:extLst>
          </p:cNvPr>
          <p:cNvSpPr txBox="1"/>
          <p:nvPr/>
        </p:nvSpPr>
        <p:spPr>
          <a:xfrm>
            <a:off x="7166147" y="2714588"/>
            <a:ext cx="750526" cy="276999"/>
          </a:xfrm>
          <a:prstGeom prst="rect">
            <a:avLst/>
          </a:prstGeom>
          <a:noFill/>
        </p:spPr>
        <p:txBody>
          <a:bodyPr wrap="none" rtlCol="0">
            <a:spAutoFit/>
          </a:bodyPr>
          <a:lstStyle/>
          <a:p>
            <a:pPr defTabSz="457200" fontAlgn="base">
              <a:spcBef>
                <a:spcPct val="0"/>
              </a:spcBef>
              <a:spcAft>
                <a:spcPct val="0"/>
              </a:spcAft>
            </a:pPr>
            <a:r>
              <a:rPr lang="en-US" sz="1200" b="1" dirty="0">
                <a:solidFill>
                  <a:prstClr val="black"/>
                </a:solidFill>
                <a:ea typeface="ＭＳ Ｐゴシック" pitchFamily="34" charset="-128"/>
                <a:cs typeface="Arial" charset="0"/>
              </a:rPr>
              <a:t>foo_top</a:t>
            </a:r>
          </a:p>
        </p:txBody>
      </p:sp>
      <p:sp>
        <p:nvSpPr>
          <p:cNvPr id="37" name="Trapezoid 36">
            <a:extLst>
              <a:ext uri="{FF2B5EF4-FFF2-40B4-BE49-F238E27FC236}">
                <a16:creationId xmlns:a16="http://schemas.microsoft.com/office/drawing/2014/main" id="{6621E054-1380-41FE-A6FC-3901C07AD615}"/>
              </a:ext>
            </a:extLst>
          </p:cNvPr>
          <p:cNvSpPr/>
          <p:nvPr/>
        </p:nvSpPr>
        <p:spPr>
          <a:xfrm rot="5400000">
            <a:off x="8392222" y="3379504"/>
            <a:ext cx="460860" cy="358353"/>
          </a:xfrm>
          <a:prstGeom prst="trapezoid">
            <a:avLst/>
          </a:prstGeom>
          <a:gradFill rotWithShape="1">
            <a:gsLst>
              <a:gs pos="0">
                <a:srgbClr val="8B8D09">
                  <a:shade val="51000"/>
                  <a:satMod val="130000"/>
                </a:srgbClr>
              </a:gs>
              <a:gs pos="80000">
                <a:srgbClr val="8B8D09">
                  <a:shade val="93000"/>
                  <a:satMod val="130000"/>
                </a:srgbClr>
              </a:gs>
              <a:gs pos="100000">
                <a:srgbClr val="8B8D09">
                  <a:shade val="94000"/>
                  <a:satMod val="135000"/>
                </a:srgbClr>
              </a:gs>
            </a:gsLst>
            <a:lin ang="16200000" scaled="0"/>
          </a:gradFill>
          <a:ln w="9525" cap="flat" cmpd="sng" algn="ctr">
            <a:solidFill>
              <a:srgbClr val="8B8D09">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r>
              <a:rPr lang="en-US" b="1" kern="0" dirty="0">
                <a:solidFill>
                  <a:prstClr val="white"/>
                </a:solidFill>
                <a:latin typeface="Arial"/>
              </a:rPr>
              <a:t>+</a:t>
            </a:r>
          </a:p>
        </p:txBody>
      </p:sp>
      <p:cxnSp>
        <p:nvCxnSpPr>
          <p:cNvPr id="38" name="Straight Arrow Connector 37">
            <a:extLst>
              <a:ext uri="{FF2B5EF4-FFF2-40B4-BE49-F238E27FC236}">
                <a16:creationId xmlns:a16="http://schemas.microsoft.com/office/drawing/2014/main" id="{385F9E55-A201-4347-8EE5-07BF10359342}"/>
              </a:ext>
            </a:extLst>
          </p:cNvPr>
          <p:cNvCxnSpPr/>
          <p:nvPr/>
        </p:nvCxnSpPr>
        <p:spPr>
          <a:xfrm>
            <a:off x="8085237" y="3481712"/>
            <a:ext cx="358353" cy="1588"/>
          </a:xfrm>
          <a:prstGeom prst="straightConnector1">
            <a:avLst/>
          </a:prstGeom>
          <a:noFill/>
          <a:ln w="25400" cap="flat" cmpd="sng" algn="ctr">
            <a:solidFill>
              <a:srgbClr val="B20838">
                <a:lumMod val="75000"/>
              </a:srgbClr>
            </a:solidFill>
            <a:prstDash val="solid"/>
            <a:tailEnd type="arrow"/>
          </a:ln>
          <a:effectLst>
            <a:outerShdw blurRad="40000" dist="20000" dir="5400000" rotWithShape="0">
              <a:srgbClr val="000000">
                <a:alpha val="38000"/>
              </a:srgbClr>
            </a:outerShdw>
          </a:effectLst>
        </p:spPr>
      </p:cxnSp>
      <p:cxnSp>
        <p:nvCxnSpPr>
          <p:cNvPr id="39" name="Straight Arrow Connector 38">
            <a:extLst>
              <a:ext uri="{FF2B5EF4-FFF2-40B4-BE49-F238E27FC236}">
                <a16:creationId xmlns:a16="http://schemas.microsoft.com/office/drawing/2014/main" id="{C3262E20-8950-4DD7-BC71-308C0FC540EA}"/>
              </a:ext>
            </a:extLst>
          </p:cNvPr>
          <p:cNvCxnSpPr/>
          <p:nvPr/>
        </p:nvCxnSpPr>
        <p:spPr>
          <a:xfrm>
            <a:off x="8033930" y="3673737"/>
            <a:ext cx="409547" cy="1588"/>
          </a:xfrm>
          <a:prstGeom prst="straightConnector1">
            <a:avLst/>
          </a:prstGeom>
          <a:noFill/>
          <a:ln w="25400" cap="flat" cmpd="sng" algn="ctr">
            <a:solidFill>
              <a:srgbClr val="B20838">
                <a:lumMod val="75000"/>
              </a:srgbClr>
            </a:solidFill>
            <a:prstDash val="solid"/>
            <a:tailEnd type="arrow"/>
          </a:ln>
          <a:effectLst>
            <a:outerShdw blurRad="40000" dist="20000" dir="5400000" rotWithShape="0">
              <a:srgbClr val="000000">
                <a:alpha val="38000"/>
              </a:srgbClr>
            </a:outerShdw>
          </a:effectLst>
        </p:spPr>
      </p:cxnSp>
      <p:sp>
        <p:nvSpPr>
          <p:cNvPr id="40" name="Rectangle 39">
            <a:extLst>
              <a:ext uri="{FF2B5EF4-FFF2-40B4-BE49-F238E27FC236}">
                <a16:creationId xmlns:a16="http://schemas.microsoft.com/office/drawing/2014/main" id="{EDA9C439-38C2-40B3-8E98-F194136C91C2}"/>
              </a:ext>
            </a:extLst>
          </p:cNvPr>
          <p:cNvSpPr/>
          <p:nvPr/>
        </p:nvSpPr>
        <p:spPr>
          <a:xfrm>
            <a:off x="9213997" y="3405707"/>
            <a:ext cx="358353" cy="460860"/>
          </a:xfrm>
          <a:prstGeom prst="rect">
            <a:avLst/>
          </a:prstGeom>
          <a:gradFill rotWithShape="1">
            <a:gsLst>
              <a:gs pos="0">
                <a:srgbClr val="8B8D09">
                  <a:shade val="51000"/>
                  <a:satMod val="130000"/>
                </a:srgbClr>
              </a:gs>
              <a:gs pos="80000">
                <a:srgbClr val="8B8D09">
                  <a:shade val="93000"/>
                  <a:satMod val="130000"/>
                </a:srgbClr>
              </a:gs>
              <a:gs pos="100000">
                <a:srgbClr val="8B8D09">
                  <a:shade val="94000"/>
                  <a:satMod val="135000"/>
                </a:srgbClr>
              </a:gs>
            </a:gsLst>
            <a:lin ang="16200000" scaled="0"/>
          </a:gradFill>
          <a:ln w="9525" cap="flat" cmpd="sng" algn="ctr">
            <a:solidFill>
              <a:srgbClr val="8B8D09">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endParaRPr lang="en-US" kern="0" dirty="0">
              <a:solidFill>
                <a:prstClr val="white"/>
              </a:solidFill>
              <a:latin typeface="Arial"/>
            </a:endParaRPr>
          </a:p>
        </p:txBody>
      </p:sp>
      <p:sp>
        <p:nvSpPr>
          <p:cNvPr id="41" name="Isosceles Triangle 40">
            <a:extLst>
              <a:ext uri="{FF2B5EF4-FFF2-40B4-BE49-F238E27FC236}">
                <a16:creationId xmlns:a16="http://schemas.microsoft.com/office/drawing/2014/main" id="{30241435-EFDB-4B14-B3DB-8D666394C9C2}"/>
              </a:ext>
            </a:extLst>
          </p:cNvPr>
          <p:cNvSpPr/>
          <p:nvPr/>
        </p:nvSpPr>
        <p:spPr>
          <a:xfrm rot="5400000">
            <a:off x="9233178" y="3693771"/>
            <a:ext cx="115215" cy="153580"/>
          </a:xfrm>
          <a:prstGeom prst="triangle">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endParaRPr lang="en-US" kern="0" dirty="0">
              <a:solidFill>
                <a:prstClr val="white"/>
              </a:solidFill>
              <a:latin typeface="Arial"/>
            </a:endParaRPr>
          </a:p>
        </p:txBody>
      </p:sp>
      <p:cxnSp>
        <p:nvCxnSpPr>
          <p:cNvPr id="42" name="Straight Arrow Connector 41">
            <a:extLst>
              <a:ext uri="{FF2B5EF4-FFF2-40B4-BE49-F238E27FC236}">
                <a16:creationId xmlns:a16="http://schemas.microsoft.com/office/drawing/2014/main" id="{AA01EEAE-2571-4E36-8779-24F288EC8383}"/>
              </a:ext>
            </a:extLst>
          </p:cNvPr>
          <p:cNvCxnSpPr/>
          <p:nvPr/>
        </p:nvCxnSpPr>
        <p:spPr>
          <a:xfrm>
            <a:off x="8804336" y="3559327"/>
            <a:ext cx="409547" cy="1588"/>
          </a:xfrm>
          <a:prstGeom prst="straightConnector1">
            <a:avLst/>
          </a:prstGeom>
          <a:noFill/>
          <a:ln w="25400" cap="flat" cmpd="sng" algn="ctr">
            <a:solidFill>
              <a:srgbClr val="B20838">
                <a:lumMod val="75000"/>
              </a:srgbClr>
            </a:solidFill>
            <a:prstDash val="solid"/>
            <a:tailEnd type="arrow"/>
          </a:ln>
          <a:effectLst>
            <a:outerShdw blurRad="40000" dist="20000" dir="5400000" rotWithShape="0">
              <a:srgbClr val="000000">
                <a:alpha val="38000"/>
              </a:srgbClr>
            </a:outerShdw>
          </a:effectLst>
        </p:spPr>
      </p:cxnSp>
      <p:cxnSp>
        <p:nvCxnSpPr>
          <p:cNvPr id="43" name="Straight Arrow Connector 42">
            <a:extLst>
              <a:ext uri="{FF2B5EF4-FFF2-40B4-BE49-F238E27FC236}">
                <a16:creationId xmlns:a16="http://schemas.microsoft.com/office/drawing/2014/main" id="{C8C7AE42-84FA-4C3A-9397-B097CD798430}"/>
              </a:ext>
            </a:extLst>
          </p:cNvPr>
          <p:cNvCxnSpPr/>
          <p:nvPr/>
        </p:nvCxnSpPr>
        <p:spPr>
          <a:xfrm>
            <a:off x="9572237" y="3559327"/>
            <a:ext cx="409547" cy="1588"/>
          </a:xfrm>
          <a:prstGeom prst="straightConnector1">
            <a:avLst/>
          </a:prstGeom>
          <a:noFill/>
          <a:ln w="25400" cap="flat" cmpd="sng" algn="ctr">
            <a:solidFill>
              <a:srgbClr val="B20838">
                <a:lumMod val="75000"/>
              </a:srgbClr>
            </a:solidFill>
            <a:prstDash val="solid"/>
            <a:tailEnd type="arrow"/>
          </a:ln>
          <a:effectLst>
            <a:outerShdw blurRad="40000" dist="20000" dir="5400000" rotWithShape="0">
              <a:srgbClr val="000000">
                <a:alpha val="38000"/>
              </a:srgbClr>
            </a:outerShdw>
          </a:effectLst>
        </p:spPr>
      </p:cxnSp>
      <p:cxnSp>
        <p:nvCxnSpPr>
          <p:cNvPr id="44" name="Straight Connector 43">
            <a:extLst>
              <a:ext uri="{FF2B5EF4-FFF2-40B4-BE49-F238E27FC236}">
                <a16:creationId xmlns:a16="http://schemas.microsoft.com/office/drawing/2014/main" id="{C5158C19-BB30-4671-87CF-46CD1137A88E}"/>
              </a:ext>
            </a:extLst>
          </p:cNvPr>
          <p:cNvCxnSpPr/>
          <p:nvPr/>
        </p:nvCxnSpPr>
        <p:spPr>
          <a:xfrm rot="16200000" flipV="1">
            <a:off x="9482715" y="3367460"/>
            <a:ext cx="384047" cy="1"/>
          </a:xfrm>
          <a:prstGeom prst="line">
            <a:avLst/>
          </a:prstGeom>
          <a:noFill/>
          <a:ln w="25400" cap="flat" cmpd="sng" algn="ctr">
            <a:solidFill>
              <a:srgbClr val="B20838">
                <a:lumMod val="75000"/>
              </a:srgbClr>
            </a:solidFill>
            <a:prstDash val="solid"/>
          </a:ln>
          <a:effectLst>
            <a:outerShdw blurRad="40000" dist="20000" dir="5400000" rotWithShape="0">
              <a:srgbClr val="000000">
                <a:alpha val="38000"/>
              </a:srgbClr>
            </a:outerShdw>
          </a:effectLst>
        </p:spPr>
      </p:cxnSp>
      <p:cxnSp>
        <p:nvCxnSpPr>
          <p:cNvPr id="45" name="Straight Connector 44">
            <a:extLst>
              <a:ext uri="{FF2B5EF4-FFF2-40B4-BE49-F238E27FC236}">
                <a16:creationId xmlns:a16="http://schemas.microsoft.com/office/drawing/2014/main" id="{8FE44EB5-59BB-4E9B-8E6E-E3A02178153D}"/>
              </a:ext>
            </a:extLst>
          </p:cNvPr>
          <p:cNvCxnSpPr/>
          <p:nvPr/>
        </p:nvCxnSpPr>
        <p:spPr>
          <a:xfrm rot="10800000">
            <a:off x="8085239" y="3174638"/>
            <a:ext cx="1589499" cy="805"/>
          </a:xfrm>
          <a:prstGeom prst="line">
            <a:avLst/>
          </a:prstGeom>
          <a:noFill/>
          <a:ln w="25400" cap="flat" cmpd="sng" algn="ctr">
            <a:solidFill>
              <a:srgbClr val="B20838">
                <a:lumMod val="75000"/>
              </a:srgbClr>
            </a:solidFill>
            <a:prstDash val="solid"/>
          </a:ln>
          <a:effectLst>
            <a:outerShdw blurRad="40000" dist="20000" dir="5400000" rotWithShape="0">
              <a:srgbClr val="000000">
                <a:alpha val="38000"/>
              </a:srgbClr>
            </a:outerShdw>
          </a:effectLst>
        </p:spPr>
      </p:cxnSp>
      <p:cxnSp>
        <p:nvCxnSpPr>
          <p:cNvPr id="46" name="Straight Connector 45">
            <a:extLst>
              <a:ext uri="{FF2B5EF4-FFF2-40B4-BE49-F238E27FC236}">
                <a16:creationId xmlns:a16="http://schemas.microsoft.com/office/drawing/2014/main" id="{04080C91-F17D-477E-911F-688BEF671514}"/>
              </a:ext>
            </a:extLst>
          </p:cNvPr>
          <p:cNvCxnSpPr/>
          <p:nvPr/>
        </p:nvCxnSpPr>
        <p:spPr>
          <a:xfrm rot="16200000" flipV="1">
            <a:off x="7931505" y="3328249"/>
            <a:ext cx="307240" cy="1"/>
          </a:xfrm>
          <a:prstGeom prst="line">
            <a:avLst/>
          </a:prstGeom>
          <a:noFill/>
          <a:ln w="25400" cap="flat" cmpd="sng" algn="ctr">
            <a:solidFill>
              <a:srgbClr val="B20838">
                <a:lumMod val="75000"/>
              </a:srgbClr>
            </a:solidFill>
            <a:prstDash val="solid"/>
          </a:ln>
          <a:effectLst>
            <a:outerShdw blurRad="40000" dist="20000" dir="5400000" rotWithShape="0">
              <a:srgbClr val="000000">
                <a:alpha val="38000"/>
              </a:srgbClr>
            </a:outerShdw>
          </a:effectLst>
        </p:spPr>
      </p:cxnSp>
      <p:sp>
        <p:nvSpPr>
          <p:cNvPr id="47" name="Right Arrow 26">
            <a:extLst>
              <a:ext uri="{FF2B5EF4-FFF2-40B4-BE49-F238E27FC236}">
                <a16:creationId xmlns:a16="http://schemas.microsoft.com/office/drawing/2014/main" id="{E7CA4991-657C-4441-901A-988C63CD1FCF}"/>
              </a:ext>
            </a:extLst>
          </p:cNvPr>
          <p:cNvSpPr/>
          <p:nvPr/>
        </p:nvSpPr>
        <p:spPr>
          <a:xfrm>
            <a:off x="5225716" y="3290491"/>
            <a:ext cx="1638187" cy="460860"/>
          </a:xfrm>
          <a:prstGeom prst="rightArrow">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r>
              <a:rPr lang="en-US" sz="1400" kern="0" dirty="0">
                <a:solidFill>
                  <a:prstClr val="white"/>
                </a:solidFill>
                <a:latin typeface="Arial"/>
              </a:rPr>
              <a:t>Synthesis</a:t>
            </a:r>
          </a:p>
        </p:txBody>
      </p:sp>
      <p:sp>
        <p:nvSpPr>
          <p:cNvPr id="48" name="Oval 47">
            <a:extLst>
              <a:ext uri="{FF2B5EF4-FFF2-40B4-BE49-F238E27FC236}">
                <a16:creationId xmlns:a16="http://schemas.microsoft.com/office/drawing/2014/main" id="{419CDCA7-5AB6-463B-AE32-10FC1A75AB58}"/>
              </a:ext>
            </a:extLst>
          </p:cNvPr>
          <p:cNvSpPr/>
          <p:nvPr/>
        </p:nvSpPr>
        <p:spPr>
          <a:xfrm>
            <a:off x="8615036" y="1719851"/>
            <a:ext cx="406294" cy="304800"/>
          </a:xfrm>
          <a:prstGeom prst="ellipse">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r>
              <a:rPr lang="en-US" kern="0" dirty="0">
                <a:solidFill>
                  <a:prstClr val="white"/>
                </a:solidFill>
                <a:latin typeface="Arial"/>
              </a:rPr>
              <a:t>N</a:t>
            </a:r>
          </a:p>
        </p:txBody>
      </p:sp>
      <p:cxnSp>
        <p:nvCxnSpPr>
          <p:cNvPr id="49" name="Curved Connector 20">
            <a:extLst>
              <a:ext uri="{FF2B5EF4-FFF2-40B4-BE49-F238E27FC236}">
                <a16:creationId xmlns:a16="http://schemas.microsoft.com/office/drawing/2014/main" id="{E574FCDF-CC05-4F56-9D8F-B4C0198C76D7}"/>
              </a:ext>
            </a:extLst>
          </p:cNvPr>
          <p:cNvCxnSpPr>
            <a:stCxn id="48" idx="5"/>
            <a:endCxn id="48" idx="7"/>
          </p:cNvCxnSpPr>
          <p:nvPr/>
        </p:nvCxnSpPr>
        <p:spPr>
          <a:xfrm rot="5400000" flipH="1">
            <a:off x="8854068" y="1872073"/>
            <a:ext cx="215526" cy="2117"/>
          </a:xfrm>
          <a:prstGeom prst="curvedConnector5">
            <a:avLst>
              <a:gd name="adj1" fmla="val -44874"/>
              <a:gd name="adj2" fmla="val -15460269"/>
              <a:gd name="adj3" fmla="val 120397"/>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cxnSp>
        <p:nvCxnSpPr>
          <p:cNvPr id="50" name="Straight Arrow Connector 49">
            <a:extLst>
              <a:ext uri="{FF2B5EF4-FFF2-40B4-BE49-F238E27FC236}">
                <a16:creationId xmlns:a16="http://schemas.microsoft.com/office/drawing/2014/main" id="{C6BA6F92-CD74-4F05-8D52-352A696C41DD}"/>
              </a:ext>
            </a:extLst>
          </p:cNvPr>
          <p:cNvCxnSpPr>
            <a:endCxn id="48" idx="0"/>
          </p:cNvCxnSpPr>
          <p:nvPr/>
        </p:nvCxnSpPr>
        <p:spPr>
          <a:xfrm rot="16200000" flipH="1">
            <a:off x="8659442" y="1561109"/>
            <a:ext cx="267918" cy="49567"/>
          </a:xfrm>
          <a:prstGeom prst="straightConnector1">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cxnSp>
        <p:nvCxnSpPr>
          <p:cNvPr id="51" name="Straight Arrow Connector 50">
            <a:extLst>
              <a:ext uri="{FF2B5EF4-FFF2-40B4-BE49-F238E27FC236}">
                <a16:creationId xmlns:a16="http://schemas.microsoft.com/office/drawing/2014/main" id="{25C55230-31A8-4A42-86A9-173ED7BC068F}"/>
              </a:ext>
            </a:extLst>
          </p:cNvPr>
          <p:cNvCxnSpPr/>
          <p:nvPr/>
        </p:nvCxnSpPr>
        <p:spPr>
          <a:xfrm rot="16200000" flipH="1">
            <a:off x="8708461" y="2172673"/>
            <a:ext cx="310597" cy="52822"/>
          </a:xfrm>
          <a:prstGeom prst="straightConnector1">
            <a:avLst/>
          </a:prstGeom>
          <a:noFill/>
          <a:ln w="25400" cap="flat" cmpd="sng" algn="ctr">
            <a:solidFill>
              <a:srgbClr val="008CA8"/>
            </a:solidFill>
            <a:prstDash val="solid"/>
            <a:headEnd type="none" w="med" len="med"/>
            <a:tailEnd type="triangle" w="med" len="med"/>
          </a:ln>
          <a:effectLst>
            <a:outerShdw blurRad="40000" dist="20000" dir="5400000" rotWithShape="0">
              <a:srgbClr val="000000">
                <a:alpha val="38000"/>
              </a:srgbClr>
            </a:outerShdw>
          </a:effectLst>
        </p:spPr>
      </p:cxnSp>
      <p:sp>
        <p:nvSpPr>
          <p:cNvPr id="52" name="TextBox 51">
            <a:extLst>
              <a:ext uri="{FF2B5EF4-FFF2-40B4-BE49-F238E27FC236}">
                <a16:creationId xmlns:a16="http://schemas.microsoft.com/office/drawing/2014/main" id="{42D57A7C-10B8-4F60-A6A9-C47CE19AF9DE}"/>
              </a:ext>
            </a:extLst>
          </p:cNvPr>
          <p:cNvSpPr txBox="1"/>
          <p:nvPr/>
        </p:nvSpPr>
        <p:spPr>
          <a:xfrm>
            <a:off x="7587801" y="3520935"/>
            <a:ext cx="482824" cy="276999"/>
          </a:xfrm>
          <a:prstGeom prst="rect">
            <a:avLst/>
          </a:prstGeom>
          <a:noFill/>
        </p:spPr>
        <p:txBody>
          <a:bodyPr wrap="none" rtlCol="0">
            <a:spAutoFit/>
          </a:bodyPr>
          <a:lstStyle/>
          <a:p>
            <a:pPr algn="r" defTabSz="457200" fontAlgn="base">
              <a:spcBef>
                <a:spcPct val="0"/>
              </a:spcBef>
              <a:spcAft>
                <a:spcPct val="0"/>
              </a:spcAft>
            </a:pPr>
            <a:r>
              <a:rPr lang="en-US" sz="1200" b="1" dirty="0">
                <a:solidFill>
                  <a:prstClr val="black"/>
                </a:solidFill>
                <a:ea typeface="ＭＳ Ｐゴシック" pitchFamily="34" charset="-128"/>
                <a:cs typeface="Arial" charset="0"/>
              </a:rPr>
              <a:t>a[N]</a:t>
            </a:r>
          </a:p>
        </p:txBody>
      </p:sp>
      <p:sp>
        <p:nvSpPr>
          <p:cNvPr id="53" name="TextBox 52">
            <a:extLst>
              <a:ext uri="{FF2B5EF4-FFF2-40B4-BE49-F238E27FC236}">
                <a16:creationId xmlns:a16="http://schemas.microsoft.com/office/drawing/2014/main" id="{0FCAFC44-B4E5-4173-B660-58F5419AEE6E}"/>
              </a:ext>
            </a:extLst>
          </p:cNvPr>
          <p:cNvSpPr txBox="1"/>
          <p:nvPr/>
        </p:nvSpPr>
        <p:spPr>
          <a:xfrm>
            <a:off x="10011483" y="3405864"/>
            <a:ext cx="279243" cy="276999"/>
          </a:xfrm>
          <a:prstGeom prst="rect">
            <a:avLst/>
          </a:prstGeom>
          <a:noFill/>
        </p:spPr>
        <p:txBody>
          <a:bodyPr wrap="none" rtlCol="0">
            <a:spAutoFit/>
          </a:bodyPr>
          <a:lstStyle/>
          <a:p>
            <a:pPr algn="r" defTabSz="457200" fontAlgn="base">
              <a:spcBef>
                <a:spcPct val="0"/>
              </a:spcBef>
              <a:spcAft>
                <a:spcPct val="0"/>
              </a:spcAft>
            </a:pPr>
            <a:r>
              <a:rPr lang="en-US" sz="1200" b="1" dirty="0">
                <a:solidFill>
                  <a:prstClr val="black"/>
                </a:solidFill>
                <a:ea typeface="ＭＳ Ｐゴシック" pitchFamily="34" charset="-128"/>
                <a:cs typeface="Arial" charset="0"/>
              </a:rPr>
              <a:t>b</a:t>
            </a:r>
          </a:p>
        </p:txBody>
      </p:sp>
      <p:sp>
        <p:nvSpPr>
          <p:cNvPr id="54" name="TextBox 53">
            <a:extLst>
              <a:ext uri="{FF2B5EF4-FFF2-40B4-BE49-F238E27FC236}">
                <a16:creationId xmlns:a16="http://schemas.microsoft.com/office/drawing/2014/main" id="{D0E113F2-003C-4D26-80FE-4AE462700FEC}"/>
              </a:ext>
            </a:extLst>
          </p:cNvPr>
          <p:cNvSpPr txBox="1"/>
          <p:nvPr/>
        </p:nvSpPr>
        <p:spPr>
          <a:xfrm>
            <a:off x="669622" y="3828179"/>
            <a:ext cx="4249047" cy="646331"/>
          </a:xfrm>
          <a:prstGeom prst="rect">
            <a:avLst/>
          </a:prstGeom>
          <a:solidFill>
            <a:srgbClr val="FFFF99"/>
          </a:solidFill>
          <a:ln w="19050">
            <a:solidFill>
              <a:srgbClr val="000000"/>
            </a:solidFill>
          </a:ln>
          <a:effectLst>
            <a:innerShdw blurRad="63500" dist="50800" dir="2700000">
              <a:prstClr val="black">
                <a:alpha val="50000"/>
              </a:prstClr>
            </a:innerShdw>
          </a:effectLst>
        </p:spPr>
        <p:txBody>
          <a:bodyPr wrap="square" rtlCol="0">
            <a:spAutoFit/>
          </a:bodyPr>
          <a:lstStyle/>
          <a:p>
            <a:pPr algn="ctr" defTabSz="457200" fontAlgn="base">
              <a:spcBef>
                <a:spcPct val="0"/>
              </a:spcBef>
              <a:spcAft>
                <a:spcPct val="0"/>
              </a:spcAft>
              <a:defRPr/>
            </a:pPr>
            <a:r>
              <a:rPr lang="en-US" sz="1200" b="1" kern="0" dirty="0">
                <a:solidFill>
                  <a:prstClr val="black"/>
                </a:solidFill>
                <a:ea typeface="ＭＳ Ｐゴシック" pitchFamily="34" charset="-128"/>
                <a:cs typeface="Arial" charset="0"/>
              </a:rPr>
              <a:t>Loops require labels if they are to be referenced  by Tcl directives </a:t>
            </a:r>
          </a:p>
          <a:p>
            <a:pPr algn="ctr" defTabSz="457200" fontAlgn="base">
              <a:spcBef>
                <a:spcPct val="0"/>
              </a:spcBef>
              <a:spcAft>
                <a:spcPct val="0"/>
              </a:spcAft>
              <a:defRPr/>
            </a:pPr>
            <a:r>
              <a:rPr lang="en-US" sz="1200" b="1" kern="0" dirty="0">
                <a:solidFill>
                  <a:prstClr val="black"/>
                </a:solidFill>
                <a:ea typeface="ＭＳ Ｐゴシック" pitchFamily="34" charset="-128"/>
                <a:cs typeface="Arial" charset="0"/>
              </a:rPr>
              <a:t>(GUI will auto-add labels)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Dependencies: Good </a:t>
            </a:r>
          </a:p>
        </p:txBody>
      </p:sp>
      <p:sp>
        <p:nvSpPr>
          <p:cNvPr id="3" name="Content Placeholder 2"/>
          <p:cNvSpPr>
            <a:spLocks noGrp="1"/>
          </p:cNvSpPr>
          <p:nvPr>
            <p:ph idx="1"/>
          </p:nvPr>
        </p:nvSpPr>
        <p:spPr/>
        <p:txBody>
          <a:bodyPr>
            <a:normAutofit fontScale="70000" lnSpcReduction="20000"/>
          </a:bodyPr>
          <a:lstStyle/>
          <a:p>
            <a:endParaRPr lang="en-US" dirty="0"/>
          </a:p>
          <a:p>
            <a:endParaRPr lang="en-US" dirty="0"/>
          </a:p>
          <a:p>
            <a:endParaRPr lang="en-US" dirty="0"/>
          </a:p>
          <a:p>
            <a:endParaRPr lang="en-US" dirty="0"/>
          </a:p>
          <a:p>
            <a:pPr marL="0" indent="0">
              <a:buNone/>
            </a:pPr>
            <a:br>
              <a:rPr lang="en-US" dirty="0"/>
            </a:br>
            <a:endParaRPr lang="en-US" dirty="0"/>
          </a:p>
          <a:p>
            <a:endParaRPr lang="en-US" dirty="0"/>
          </a:p>
          <a:p>
            <a:r>
              <a:rPr lang="en-US" dirty="0"/>
              <a:t>Example of good mobility</a:t>
            </a:r>
          </a:p>
          <a:p>
            <a:pPr lvl="1"/>
            <a:r>
              <a:rPr lang="en-US" dirty="0"/>
              <a:t>The read on data port X can occur anywhere from the start to iteration 4</a:t>
            </a:r>
          </a:p>
          <a:p>
            <a:pPr lvl="2"/>
            <a:r>
              <a:rPr lang="en-US" dirty="0"/>
              <a:t>The only constraint on </a:t>
            </a:r>
            <a:r>
              <a:rPr lang="en-US" dirty="0" err="1"/>
              <a:t>RDx</a:t>
            </a:r>
            <a:r>
              <a:rPr lang="en-US" dirty="0"/>
              <a:t> is that it occur before the final multiplication</a:t>
            </a:r>
          </a:p>
          <a:p>
            <a:pPr lvl="1"/>
            <a:r>
              <a:rPr lang="en-US" dirty="0"/>
              <a:t>Vitis HLS has a lot of freedom with this operation</a:t>
            </a:r>
          </a:p>
          <a:p>
            <a:pPr lvl="2"/>
            <a:r>
              <a:rPr lang="en-US" dirty="0"/>
              <a:t>It waits until the read is required, saving a register</a:t>
            </a:r>
          </a:p>
          <a:p>
            <a:pPr lvl="2"/>
            <a:r>
              <a:rPr lang="en-US" dirty="0"/>
              <a:t>There are no advantages to reading any earlier (unless you want it registered)</a:t>
            </a:r>
          </a:p>
          <a:p>
            <a:pPr lvl="2"/>
            <a:r>
              <a:rPr lang="en-US" dirty="0"/>
              <a:t>Input reads can be optionally registered</a:t>
            </a:r>
          </a:p>
          <a:p>
            <a:pPr lvl="1"/>
            <a:r>
              <a:rPr lang="en-US" dirty="0"/>
              <a:t>The final multiplication is very constrained… </a:t>
            </a:r>
          </a:p>
        </p:txBody>
      </p:sp>
      <p:sp>
        <p:nvSpPr>
          <p:cNvPr id="62" name="Slide Number Placeholder 61"/>
          <p:cNvSpPr>
            <a:spLocks noGrp="1"/>
          </p:cNvSpPr>
          <p:nvPr>
            <p:ph type="sldNum" sz="quarter" idx="10"/>
          </p:nvPr>
        </p:nvSpPr>
        <p:spPr/>
        <p:txBody>
          <a:bodyPr/>
          <a:lstStyle/>
          <a:p>
            <a:pPr>
              <a:defRPr/>
            </a:pPr>
            <a:r>
              <a:rPr lang="en-US" dirty="0"/>
              <a:t>Intro to HLS 11- </a:t>
            </a:r>
            <a:fld id="{060BD193-E118-4B16-863C-C8C12C675E3E}" type="slidenum">
              <a:rPr lang="en-US" smtClean="0"/>
              <a:pPr>
                <a:defRPr/>
              </a:pPr>
              <a:t>24</a:t>
            </a:fld>
            <a:endParaRPr lang="en-US" dirty="0"/>
          </a:p>
        </p:txBody>
      </p:sp>
      <p:sp>
        <p:nvSpPr>
          <p:cNvPr id="114" name="TextBox 113">
            <a:extLst>
              <a:ext uri="{FF2B5EF4-FFF2-40B4-BE49-F238E27FC236}">
                <a16:creationId xmlns:a16="http://schemas.microsoft.com/office/drawing/2014/main" id="{CC23B24D-DFD8-4F6D-B0AA-2DCDE507CCF6}"/>
              </a:ext>
            </a:extLst>
          </p:cNvPr>
          <p:cNvSpPr txBox="1"/>
          <p:nvPr/>
        </p:nvSpPr>
        <p:spPr>
          <a:xfrm>
            <a:off x="259961" y="1432104"/>
            <a:ext cx="3532340" cy="2246769"/>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p:spPr>
        <p:txBody>
          <a:bodyPr wrap="square" rtlCol="0">
            <a:spAutoFit/>
          </a:bodyPr>
          <a:lstStyle/>
          <a:p>
            <a:pPr defTabSz="457200" fontAlgn="base">
              <a:spcBef>
                <a:spcPct val="0"/>
              </a:spcBef>
              <a:spcAft>
                <a:spcPct val="0"/>
              </a:spcAft>
              <a:defRPr/>
            </a:pPr>
            <a:r>
              <a:rPr lang="en-US" sz="1000" kern="0" dirty="0">
                <a:solidFill>
                  <a:prstClr val="black"/>
                </a:solidFill>
                <a:latin typeface="Arial"/>
              </a:rPr>
              <a:t>void fir (</a:t>
            </a:r>
          </a:p>
          <a:p>
            <a:pPr defTabSz="457200" fontAlgn="base">
              <a:spcBef>
                <a:spcPct val="0"/>
              </a:spcBef>
              <a:spcAft>
                <a:spcPct val="0"/>
              </a:spcAft>
              <a:defRPr/>
            </a:pPr>
            <a:r>
              <a:rPr lang="en-US" sz="1000" kern="0" dirty="0">
                <a:solidFill>
                  <a:prstClr val="black"/>
                </a:solidFill>
                <a:latin typeface="Arial"/>
              </a:rPr>
              <a:t> …</a:t>
            </a:r>
          </a:p>
          <a:p>
            <a:pPr defTabSz="457200" fontAlgn="base">
              <a:spcBef>
                <a:spcPct val="0"/>
              </a:spcBef>
              <a:spcAft>
                <a:spcPct val="0"/>
              </a:spcAft>
              <a:defRPr/>
            </a:pPr>
            <a:r>
              <a:rPr lang="en-US" sz="1000" kern="0" dirty="0">
                <a:solidFill>
                  <a:prstClr val="black"/>
                </a:solidFill>
                <a:latin typeface="Arial"/>
              </a:rPr>
              <a:t>acc=0;</a:t>
            </a:r>
          </a:p>
          <a:p>
            <a:pPr defTabSz="457200" fontAlgn="base">
              <a:spcBef>
                <a:spcPct val="0"/>
              </a:spcBef>
              <a:spcAft>
                <a:spcPct val="0"/>
              </a:spcAft>
              <a:defRPr/>
            </a:pPr>
            <a:r>
              <a:rPr lang="en-US" sz="1000" kern="0" dirty="0">
                <a:solidFill>
                  <a:prstClr val="black"/>
                </a:solidFill>
                <a:latin typeface="Arial"/>
              </a:rPr>
              <a:t>  loop: for (</a:t>
            </a:r>
            <a:r>
              <a:rPr lang="en-US" sz="1000" kern="0" dirty="0" err="1">
                <a:solidFill>
                  <a:prstClr val="black"/>
                </a:solidFill>
                <a:latin typeface="Arial"/>
              </a:rPr>
              <a:t>i</a:t>
            </a:r>
            <a:r>
              <a:rPr lang="en-US" sz="1000" kern="0" dirty="0">
                <a:solidFill>
                  <a:prstClr val="black"/>
                </a:solidFill>
                <a:latin typeface="Arial"/>
              </a:rPr>
              <a:t>=3;i&gt;=0;i--) {</a:t>
            </a:r>
          </a:p>
          <a:p>
            <a:pPr defTabSz="457200" fontAlgn="base">
              <a:spcBef>
                <a:spcPct val="0"/>
              </a:spcBef>
              <a:spcAft>
                <a:spcPct val="0"/>
              </a:spcAft>
              <a:defRPr/>
            </a:pPr>
            <a:r>
              <a:rPr lang="en-US" sz="1000" kern="0" dirty="0">
                <a:solidFill>
                  <a:prstClr val="black"/>
                </a:solidFill>
                <a:latin typeface="Arial"/>
              </a:rPr>
              <a:t>     if (</a:t>
            </a:r>
            <a:r>
              <a:rPr lang="en-US" sz="1000" kern="0" dirty="0" err="1">
                <a:solidFill>
                  <a:prstClr val="black"/>
                </a:solidFill>
                <a:latin typeface="Arial"/>
              </a:rPr>
              <a:t>i</a:t>
            </a:r>
            <a:r>
              <a:rPr lang="en-US" sz="1000" kern="0" dirty="0">
                <a:solidFill>
                  <a:prstClr val="black"/>
                </a:solidFill>
                <a:latin typeface="Arial"/>
              </a:rPr>
              <a:t>==0) {</a:t>
            </a:r>
          </a:p>
          <a:p>
            <a:pPr defTabSz="457200" fontAlgn="base">
              <a:spcBef>
                <a:spcPct val="0"/>
              </a:spcBef>
              <a:spcAft>
                <a:spcPct val="0"/>
              </a:spcAft>
              <a:defRPr/>
            </a:pPr>
            <a:r>
              <a:rPr lang="en-US" sz="1000" kern="0" dirty="0">
                <a:solidFill>
                  <a:prstClr val="black"/>
                </a:solidFill>
                <a:latin typeface="Arial"/>
              </a:rPr>
              <a:t>       acc+=</a:t>
            </a:r>
            <a:r>
              <a:rPr lang="en-US" sz="1050" b="1" kern="0" dirty="0">
                <a:solidFill>
                  <a:prstClr val="black"/>
                </a:solidFill>
                <a:latin typeface="Arial"/>
              </a:rPr>
              <a:t>x</a:t>
            </a:r>
            <a:r>
              <a:rPr lang="en-US" sz="1000" kern="0" dirty="0">
                <a:solidFill>
                  <a:prstClr val="black"/>
                </a:solidFill>
                <a:latin typeface="Arial"/>
              </a:rPr>
              <a:t>*c[0];</a:t>
            </a:r>
          </a:p>
          <a:p>
            <a:pPr defTabSz="457200" fontAlgn="base">
              <a:spcBef>
                <a:spcPct val="0"/>
              </a:spcBef>
              <a:spcAft>
                <a:spcPct val="0"/>
              </a:spcAft>
              <a:defRPr/>
            </a:pPr>
            <a:r>
              <a:rPr lang="en-US" sz="1000" kern="0" dirty="0">
                <a:solidFill>
                  <a:prstClr val="black"/>
                </a:solidFill>
                <a:latin typeface="Arial"/>
              </a:rPr>
              <a:t>       </a:t>
            </a:r>
            <a:r>
              <a:rPr lang="en-US" sz="1000" kern="0" dirty="0" err="1">
                <a:solidFill>
                  <a:prstClr val="black"/>
                </a:solidFill>
                <a:latin typeface="Arial"/>
              </a:rPr>
              <a:t>shift_reg</a:t>
            </a:r>
            <a:r>
              <a:rPr lang="en-US" sz="1000" kern="0" dirty="0">
                <a:solidFill>
                  <a:prstClr val="black"/>
                </a:solidFill>
                <a:latin typeface="Arial"/>
              </a:rPr>
              <a:t>[0]=x;</a:t>
            </a:r>
          </a:p>
          <a:p>
            <a:pPr defTabSz="457200" fontAlgn="base">
              <a:spcBef>
                <a:spcPct val="0"/>
              </a:spcBef>
              <a:spcAft>
                <a:spcPct val="0"/>
              </a:spcAft>
              <a:defRPr/>
            </a:pPr>
            <a:r>
              <a:rPr lang="en-US" sz="1000" kern="0" dirty="0">
                <a:solidFill>
                  <a:prstClr val="black"/>
                </a:solidFill>
                <a:latin typeface="Arial"/>
              </a:rPr>
              <a:t>     } else {</a:t>
            </a:r>
          </a:p>
          <a:p>
            <a:pPr defTabSz="457200" fontAlgn="base">
              <a:spcBef>
                <a:spcPct val="0"/>
              </a:spcBef>
              <a:spcAft>
                <a:spcPct val="0"/>
              </a:spcAft>
              <a:defRPr/>
            </a:pPr>
            <a:r>
              <a:rPr lang="en-US" sz="1000" kern="0" dirty="0">
                <a:solidFill>
                  <a:prstClr val="black"/>
                </a:solidFill>
                <a:latin typeface="Arial"/>
              </a:rPr>
              <a:t>        </a:t>
            </a:r>
            <a:r>
              <a:rPr lang="en-US" sz="1000" kern="0" dirty="0" err="1">
                <a:solidFill>
                  <a:prstClr val="black"/>
                </a:solidFill>
                <a:latin typeface="Arial"/>
              </a:rPr>
              <a:t>shift_reg</a:t>
            </a:r>
            <a:r>
              <a:rPr lang="en-US" sz="1000" kern="0" dirty="0">
                <a:solidFill>
                  <a:prstClr val="black"/>
                </a:solidFill>
                <a:latin typeface="Arial"/>
              </a:rPr>
              <a:t>[</a:t>
            </a:r>
            <a:r>
              <a:rPr lang="en-US" sz="1000" kern="0" dirty="0" err="1">
                <a:solidFill>
                  <a:prstClr val="black"/>
                </a:solidFill>
                <a:latin typeface="Arial"/>
              </a:rPr>
              <a:t>i</a:t>
            </a:r>
            <a:r>
              <a:rPr lang="en-US" sz="1000" kern="0" dirty="0">
                <a:solidFill>
                  <a:prstClr val="black"/>
                </a:solidFill>
                <a:latin typeface="Arial"/>
              </a:rPr>
              <a:t>]=</a:t>
            </a:r>
            <a:r>
              <a:rPr lang="en-US" sz="1000" kern="0" dirty="0" err="1">
                <a:solidFill>
                  <a:prstClr val="black"/>
                </a:solidFill>
                <a:latin typeface="Arial"/>
              </a:rPr>
              <a:t>shift_reg</a:t>
            </a:r>
            <a:r>
              <a:rPr lang="en-US" sz="1000" kern="0" dirty="0">
                <a:solidFill>
                  <a:prstClr val="black"/>
                </a:solidFill>
                <a:latin typeface="Arial"/>
              </a:rPr>
              <a:t>[i-1];	        </a:t>
            </a:r>
          </a:p>
          <a:p>
            <a:pPr defTabSz="457200" fontAlgn="base">
              <a:spcBef>
                <a:spcPct val="0"/>
              </a:spcBef>
              <a:spcAft>
                <a:spcPct val="0"/>
              </a:spcAft>
              <a:defRPr/>
            </a:pPr>
            <a:r>
              <a:rPr lang="en-US" sz="1000" kern="0" dirty="0">
                <a:solidFill>
                  <a:prstClr val="black"/>
                </a:solidFill>
                <a:latin typeface="Arial"/>
              </a:rPr>
              <a:t>        acc+=</a:t>
            </a:r>
            <a:r>
              <a:rPr lang="en-US" sz="1000" kern="0" dirty="0" err="1">
                <a:solidFill>
                  <a:prstClr val="black"/>
                </a:solidFill>
                <a:latin typeface="Arial"/>
              </a:rPr>
              <a:t>shift_reg</a:t>
            </a:r>
            <a:r>
              <a:rPr lang="en-US" sz="1000" kern="0" dirty="0">
                <a:solidFill>
                  <a:prstClr val="black"/>
                </a:solidFill>
                <a:latin typeface="Arial"/>
              </a:rPr>
              <a:t>[</a:t>
            </a:r>
            <a:r>
              <a:rPr lang="en-US" sz="1000" kern="0" dirty="0" err="1">
                <a:solidFill>
                  <a:prstClr val="black"/>
                </a:solidFill>
                <a:latin typeface="Arial"/>
              </a:rPr>
              <a:t>i</a:t>
            </a:r>
            <a:r>
              <a:rPr lang="en-US" sz="1000" kern="0" dirty="0">
                <a:solidFill>
                  <a:prstClr val="black"/>
                </a:solidFill>
                <a:latin typeface="Arial"/>
              </a:rPr>
              <a:t>]*c[</a:t>
            </a:r>
            <a:r>
              <a:rPr lang="en-US" sz="1000" kern="0" dirty="0" err="1">
                <a:solidFill>
                  <a:prstClr val="black"/>
                </a:solidFill>
                <a:latin typeface="Arial"/>
              </a:rPr>
              <a:t>i</a:t>
            </a:r>
            <a:r>
              <a:rPr lang="en-US" sz="1000" kern="0" dirty="0">
                <a:solidFill>
                  <a:prstClr val="black"/>
                </a:solidFill>
                <a:latin typeface="Arial"/>
              </a:rPr>
              <a:t>];</a:t>
            </a:r>
          </a:p>
          <a:p>
            <a:pPr defTabSz="457200" fontAlgn="base">
              <a:spcBef>
                <a:spcPct val="0"/>
              </a:spcBef>
              <a:spcAft>
                <a:spcPct val="0"/>
              </a:spcAft>
              <a:defRPr/>
            </a:pPr>
            <a:r>
              <a:rPr lang="en-US" sz="1000" kern="0" dirty="0">
                <a:solidFill>
                  <a:prstClr val="black"/>
                </a:solidFill>
                <a:latin typeface="Arial"/>
              </a:rPr>
              <a:t>     }</a:t>
            </a:r>
          </a:p>
          <a:p>
            <a:pPr defTabSz="457200" fontAlgn="base">
              <a:spcBef>
                <a:spcPct val="0"/>
              </a:spcBef>
              <a:spcAft>
                <a:spcPct val="0"/>
              </a:spcAft>
              <a:defRPr/>
            </a:pPr>
            <a:r>
              <a:rPr lang="en-US" sz="1000" kern="0" dirty="0">
                <a:solidFill>
                  <a:prstClr val="black"/>
                </a:solidFill>
                <a:latin typeface="Arial"/>
              </a:rPr>
              <a:t>  }</a:t>
            </a:r>
          </a:p>
          <a:p>
            <a:pPr defTabSz="457200" fontAlgn="base">
              <a:spcBef>
                <a:spcPct val="0"/>
              </a:spcBef>
              <a:spcAft>
                <a:spcPct val="0"/>
              </a:spcAft>
              <a:defRPr/>
            </a:pPr>
            <a:r>
              <a:rPr lang="en-US" sz="1000" kern="0" dirty="0">
                <a:solidFill>
                  <a:prstClr val="black"/>
                </a:solidFill>
                <a:latin typeface="Arial"/>
              </a:rPr>
              <a:t>  *y=acc;</a:t>
            </a:r>
          </a:p>
          <a:p>
            <a:pPr defTabSz="457200" fontAlgn="base">
              <a:spcBef>
                <a:spcPct val="0"/>
              </a:spcBef>
              <a:spcAft>
                <a:spcPct val="0"/>
              </a:spcAft>
              <a:defRPr/>
            </a:pPr>
            <a:r>
              <a:rPr lang="en-US" sz="1000" kern="0" dirty="0">
                <a:solidFill>
                  <a:prstClr val="black"/>
                </a:solidFill>
                <a:latin typeface="Arial"/>
              </a:rPr>
              <a:t>}</a:t>
            </a:r>
          </a:p>
        </p:txBody>
      </p:sp>
      <p:sp>
        <p:nvSpPr>
          <p:cNvPr id="117" name="Rectangle 116">
            <a:extLst>
              <a:ext uri="{FF2B5EF4-FFF2-40B4-BE49-F238E27FC236}">
                <a16:creationId xmlns:a16="http://schemas.microsoft.com/office/drawing/2014/main" id="{CD4BA4DF-3D95-467C-86F0-8D8EDC202571}"/>
              </a:ext>
            </a:extLst>
          </p:cNvPr>
          <p:cNvSpPr/>
          <p:nvPr/>
        </p:nvSpPr>
        <p:spPr>
          <a:xfrm>
            <a:off x="5532984" y="2065710"/>
            <a:ext cx="514339" cy="19202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200" b="1" kern="0" dirty="0">
                <a:solidFill>
                  <a:sysClr val="windowText" lastClr="000000"/>
                </a:solidFill>
                <a:latin typeface="Arial"/>
              </a:rPr>
              <a:t>+</a:t>
            </a:r>
          </a:p>
        </p:txBody>
      </p:sp>
      <p:sp>
        <p:nvSpPr>
          <p:cNvPr id="119" name="Rectangle 118">
            <a:extLst>
              <a:ext uri="{FF2B5EF4-FFF2-40B4-BE49-F238E27FC236}">
                <a16:creationId xmlns:a16="http://schemas.microsoft.com/office/drawing/2014/main" id="{3937D3A7-0EFC-4EFC-97F4-5D3E6E9D90DB}"/>
              </a:ext>
            </a:extLst>
          </p:cNvPr>
          <p:cNvSpPr/>
          <p:nvPr/>
        </p:nvSpPr>
        <p:spPr>
          <a:xfrm>
            <a:off x="4406730" y="1835120"/>
            <a:ext cx="514339" cy="19202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200" b="1" kern="0" dirty="0">
                <a:solidFill>
                  <a:sysClr val="windowText" lastClr="000000"/>
                </a:solidFill>
                <a:latin typeface="Arial"/>
              </a:rPr>
              <a:t>==</a:t>
            </a:r>
          </a:p>
        </p:txBody>
      </p:sp>
      <p:sp>
        <p:nvSpPr>
          <p:cNvPr id="120" name="Rectangle 119">
            <a:extLst>
              <a:ext uri="{FF2B5EF4-FFF2-40B4-BE49-F238E27FC236}">
                <a16:creationId xmlns:a16="http://schemas.microsoft.com/office/drawing/2014/main" id="{89FFAC4F-793B-4B28-BF38-EB29CE4361CD}"/>
              </a:ext>
            </a:extLst>
          </p:cNvPr>
          <p:cNvSpPr/>
          <p:nvPr/>
        </p:nvSpPr>
        <p:spPr>
          <a:xfrm>
            <a:off x="4406730" y="2065710"/>
            <a:ext cx="514339" cy="19202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200" b="1" kern="0" dirty="0">
                <a:solidFill>
                  <a:sysClr val="windowText" lastClr="000000"/>
                </a:solidFill>
                <a:latin typeface="Arial"/>
              </a:rPr>
              <a:t>-</a:t>
            </a:r>
          </a:p>
        </p:txBody>
      </p:sp>
      <p:sp>
        <p:nvSpPr>
          <p:cNvPr id="121" name="Rectangle 120">
            <a:extLst>
              <a:ext uri="{FF2B5EF4-FFF2-40B4-BE49-F238E27FC236}">
                <a16:creationId xmlns:a16="http://schemas.microsoft.com/office/drawing/2014/main" id="{3BACA0AD-E36E-42BB-B883-FF0E140D99EE}"/>
              </a:ext>
            </a:extLst>
          </p:cNvPr>
          <p:cNvSpPr/>
          <p:nvPr/>
        </p:nvSpPr>
        <p:spPr>
          <a:xfrm>
            <a:off x="5530558" y="1835120"/>
            <a:ext cx="514339" cy="19202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200" b="1" kern="0" dirty="0">
                <a:solidFill>
                  <a:sysClr val="windowText" lastClr="000000"/>
                </a:solidFill>
                <a:latin typeface="Arial"/>
              </a:rPr>
              <a:t>&gt;=</a:t>
            </a:r>
          </a:p>
        </p:txBody>
      </p:sp>
      <p:sp>
        <p:nvSpPr>
          <p:cNvPr id="122" name="Rectangle 121">
            <a:extLst>
              <a:ext uri="{FF2B5EF4-FFF2-40B4-BE49-F238E27FC236}">
                <a16:creationId xmlns:a16="http://schemas.microsoft.com/office/drawing/2014/main" id="{E1CBDCA4-0F6F-45A2-9ABF-3F574551E61F}"/>
              </a:ext>
            </a:extLst>
          </p:cNvPr>
          <p:cNvSpPr/>
          <p:nvPr/>
        </p:nvSpPr>
        <p:spPr>
          <a:xfrm>
            <a:off x="10037997" y="2065710"/>
            <a:ext cx="514339" cy="192025"/>
          </a:xfrm>
          <a:prstGeom prst="rect">
            <a:avLst/>
          </a:prstGeom>
          <a:solidFill>
            <a:srgbClr val="FFFF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700" b="1" kern="0" dirty="0" err="1">
                <a:solidFill>
                  <a:sysClr val="windowText" lastClr="000000"/>
                </a:solidFill>
                <a:latin typeface="Arial"/>
              </a:rPr>
              <a:t>RDx</a:t>
            </a:r>
            <a:endParaRPr lang="en-US" sz="700" b="1" kern="0" dirty="0">
              <a:solidFill>
                <a:sysClr val="windowText" lastClr="000000"/>
              </a:solidFill>
              <a:latin typeface="Arial"/>
            </a:endParaRPr>
          </a:p>
        </p:txBody>
      </p:sp>
      <p:sp>
        <p:nvSpPr>
          <p:cNvPr id="123" name="Rectangle 122">
            <a:extLst>
              <a:ext uri="{FF2B5EF4-FFF2-40B4-BE49-F238E27FC236}">
                <a16:creationId xmlns:a16="http://schemas.microsoft.com/office/drawing/2014/main" id="{B9B44ADB-D0E1-424D-99B0-2EC4CCA951FE}"/>
              </a:ext>
            </a:extLst>
          </p:cNvPr>
          <p:cNvSpPr/>
          <p:nvPr/>
        </p:nvSpPr>
        <p:spPr>
          <a:xfrm>
            <a:off x="4969857" y="1835120"/>
            <a:ext cx="514339" cy="19202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600" b="1" kern="0" dirty="0">
                <a:solidFill>
                  <a:sysClr val="windowText" lastClr="000000"/>
                </a:solidFill>
                <a:latin typeface="Arial"/>
              </a:rPr>
              <a:t>*</a:t>
            </a:r>
          </a:p>
        </p:txBody>
      </p:sp>
      <p:grpSp>
        <p:nvGrpSpPr>
          <p:cNvPr id="124" name="Group 71">
            <a:extLst>
              <a:ext uri="{FF2B5EF4-FFF2-40B4-BE49-F238E27FC236}">
                <a16:creationId xmlns:a16="http://schemas.microsoft.com/office/drawing/2014/main" id="{EF4C76F1-F361-4553-B022-C788787E24B3}"/>
              </a:ext>
            </a:extLst>
          </p:cNvPr>
          <p:cNvGrpSpPr/>
          <p:nvPr/>
        </p:nvGrpSpPr>
        <p:grpSpPr>
          <a:xfrm>
            <a:off x="4406623" y="1643094"/>
            <a:ext cx="563125" cy="115214"/>
            <a:chOff x="-66694" y="1130300"/>
            <a:chExt cx="533401" cy="228600"/>
          </a:xfrm>
          <a:effectLst>
            <a:outerShdw blurRad="50800" dist="38100" dir="2700000" algn="tl" rotWithShape="0">
              <a:prstClr val="black">
                <a:alpha val="40000"/>
              </a:prstClr>
            </a:outerShdw>
          </a:effectLst>
        </p:grpSpPr>
        <p:cxnSp>
          <p:nvCxnSpPr>
            <p:cNvPr id="125" name="Straight Connector 124">
              <a:extLst>
                <a:ext uri="{FF2B5EF4-FFF2-40B4-BE49-F238E27FC236}">
                  <a16:creationId xmlns:a16="http://schemas.microsoft.com/office/drawing/2014/main" id="{5AAB4C0D-302A-43E1-AA7F-659538EBB2BE}"/>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26" name="Straight Connector 125">
              <a:extLst>
                <a:ext uri="{FF2B5EF4-FFF2-40B4-BE49-F238E27FC236}">
                  <a16:creationId xmlns:a16="http://schemas.microsoft.com/office/drawing/2014/main" id="{DE1E8CC9-0996-4A4C-B5CC-B45AFD0F4807}"/>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27" name="Straight Connector 126">
              <a:extLst>
                <a:ext uri="{FF2B5EF4-FFF2-40B4-BE49-F238E27FC236}">
                  <a16:creationId xmlns:a16="http://schemas.microsoft.com/office/drawing/2014/main" id="{A39FFCB4-4864-4878-8986-F27C1D1FFD17}"/>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28" name="Straight Connector 127">
              <a:extLst>
                <a:ext uri="{FF2B5EF4-FFF2-40B4-BE49-F238E27FC236}">
                  <a16:creationId xmlns:a16="http://schemas.microsoft.com/office/drawing/2014/main" id="{446B27EB-F99A-4EB3-B991-598EAA49998E}"/>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129" name="Group 71">
            <a:extLst>
              <a:ext uri="{FF2B5EF4-FFF2-40B4-BE49-F238E27FC236}">
                <a16:creationId xmlns:a16="http://schemas.microsoft.com/office/drawing/2014/main" id="{B815BB11-C921-4E95-B8A1-6D8E30FC4842}"/>
              </a:ext>
            </a:extLst>
          </p:cNvPr>
          <p:cNvGrpSpPr/>
          <p:nvPr/>
        </p:nvGrpSpPr>
        <p:grpSpPr>
          <a:xfrm>
            <a:off x="4969747" y="1643095"/>
            <a:ext cx="563125" cy="115214"/>
            <a:chOff x="-66694" y="1130300"/>
            <a:chExt cx="533401" cy="228600"/>
          </a:xfrm>
          <a:effectLst>
            <a:outerShdw blurRad="50800" dist="38100" dir="2700000" algn="tl" rotWithShape="0">
              <a:prstClr val="black">
                <a:alpha val="40000"/>
              </a:prstClr>
            </a:outerShdw>
          </a:effectLst>
        </p:grpSpPr>
        <p:cxnSp>
          <p:nvCxnSpPr>
            <p:cNvPr id="130" name="Straight Connector 129">
              <a:extLst>
                <a:ext uri="{FF2B5EF4-FFF2-40B4-BE49-F238E27FC236}">
                  <a16:creationId xmlns:a16="http://schemas.microsoft.com/office/drawing/2014/main" id="{87D6087D-5BF1-4C2D-A128-F1E838851FF7}"/>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31" name="Straight Connector 130">
              <a:extLst>
                <a:ext uri="{FF2B5EF4-FFF2-40B4-BE49-F238E27FC236}">
                  <a16:creationId xmlns:a16="http://schemas.microsoft.com/office/drawing/2014/main" id="{DDD89BED-D40D-4C90-96EB-5E4C421DDFC2}"/>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32" name="Straight Connector 131">
              <a:extLst>
                <a:ext uri="{FF2B5EF4-FFF2-40B4-BE49-F238E27FC236}">
                  <a16:creationId xmlns:a16="http://schemas.microsoft.com/office/drawing/2014/main" id="{30CFD5D9-80B4-4E55-948B-0F2EE629CE22}"/>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33" name="Straight Connector 132">
              <a:extLst>
                <a:ext uri="{FF2B5EF4-FFF2-40B4-BE49-F238E27FC236}">
                  <a16:creationId xmlns:a16="http://schemas.microsoft.com/office/drawing/2014/main" id="{F302DDE6-820F-4855-BD1C-B14E346FC40E}"/>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134" name="Group 71">
            <a:extLst>
              <a:ext uri="{FF2B5EF4-FFF2-40B4-BE49-F238E27FC236}">
                <a16:creationId xmlns:a16="http://schemas.microsoft.com/office/drawing/2014/main" id="{A28C0F18-3D43-4AB8-8E73-9D5844D2CD1F}"/>
              </a:ext>
            </a:extLst>
          </p:cNvPr>
          <p:cNvGrpSpPr/>
          <p:nvPr/>
        </p:nvGrpSpPr>
        <p:grpSpPr>
          <a:xfrm>
            <a:off x="5532871" y="1643096"/>
            <a:ext cx="563125" cy="115214"/>
            <a:chOff x="-66694" y="1130300"/>
            <a:chExt cx="533401" cy="228600"/>
          </a:xfrm>
          <a:effectLst>
            <a:outerShdw blurRad="50800" dist="38100" dir="2700000" algn="tl" rotWithShape="0">
              <a:prstClr val="black">
                <a:alpha val="40000"/>
              </a:prstClr>
            </a:outerShdw>
          </a:effectLst>
        </p:grpSpPr>
        <p:cxnSp>
          <p:nvCxnSpPr>
            <p:cNvPr id="135" name="Straight Connector 134">
              <a:extLst>
                <a:ext uri="{FF2B5EF4-FFF2-40B4-BE49-F238E27FC236}">
                  <a16:creationId xmlns:a16="http://schemas.microsoft.com/office/drawing/2014/main" id="{18C1070A-7ED5-4AE0-AAEF-ACAF89E6DFED}"/>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36" name="Straight Connector 135">
              <a:extLst>
                <a:ext uri="{FF2B5EF4-FFF2-40B4-BE49-F238E27FC236}">
                  <a16:creationId xmlns:a16="http://schemas.microsoft.com/office/drawing/2014/main" id="{EF580D1A-3F3D-49FF-B37D-FD1405F216B6}"/>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37" name="Straight Connector 136">
              <a:extLst>
                <a:ext uri="{FF2B5EF4-FFF2-40B4-BE49-F238E27FC236}">
                  <a16:creationId xmlns:a16="http://schemas.microsoft.com/office/drawing/2014/main" id="{C7658055-D7AF-4727-B416-AB2B51B2D25D}"/>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38" name="Straight Connector 137">
              <a:extLst>
                <a:ext uri="{FF2B5EF4-FFF2-40B4-BE49-F238E27FC236}">
                  <a16:creationId xmlns:a16="http://schemas.microsoft.com/office/drawing/2014/main" id="{C4D346CD-2866-45B9-A80A-14F652AF693D}"/>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sp>
        <p:nvSpPr>
          <p:cNvPr id="139" name="Rectangle 138">
            <a:extLst>
              <a:ext uri="{FF2B5EF4-FFF2-40B4-BE49-F238E27FC236}">
                <a16:creationId xmlns:a16="http://schemas.microsoft.com/office/drawing/2014/main" id="{F18B95C2-4CB4-43EC-ACF7-0966C164B97C}"/>
              </a:ext>
            </a:extLst>
          </p:cNvPr>
          <p:cNvSpPr/>
          <p:nvPr/>
        </p:nvSpPr>
        <p:spPr>
          <a:xfrm>
            <a:off x="7222370" y="2065709"/>
            <a:ext cx="514339" cy="19202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200" b="1" kern="0" dirty="0">
                <a:solidFill>
                  <a:sysClr val="windowText" lastClr="000000"/>
                </a:solidFill>
                <a:latin typeface="Arial"/>
              </a:rPr>
              <a:t>+</a:t>
            </a:r>
          </a:p>
        </p:txBody>
      </p:sp>
      <p:sp>
        <p:nvSpPr>
          <p:cNvPr id="140" name="Rectangle 139">
            <a:extLst>
              <a:ext uri="{FF2B5EF4-FFF2-40B4-BE49-F238E27FC236}">
                <a16:creationId xmlns:a16="http://schemas.microsoft.com/office/drawing/2014/main" id="{3CA19CEA-ABEF-4FEA-A7C8-AFBEB6F5419F}"/>
              </a:ext>
            </a:extLst>
          </p:cNvPr>
          <p:cNvSpPr/>
          <p:nvPr/>
        </p:nvSpPr>
        <p:spPr>
          <a:xfrm>
            <a:off x="6096117" y="1835120"/>
            <a:ext cx="514339" cy="19202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200" b="1" kern="0" dirty="0">
                <a:solidFill>
                  <a:sysClr val="windowText" lastClr="000000"/>
                </a:solidFill>
                <a:latin typeface="Arial"/>
              </a:rPr>
              <a:t>==</a:t>
            </a:r>
          </a:p>
        </p:txBody>
      </p:sp>
      <p:sp>
        <p:nvSpPr>
          <p:cNvPr id="141" name="Rectangle 140">
            <a:extLst>
              <a:ext uri="{FF2B5EF4-FFF2-40B4-BE49-F238E27FC236}">
                <a16:creationId xmlns:a16="http://schemas.microsoft.com/office/drawing/2014/main" id="{BA517C35-2872-474A-8991-0B4E1FD0B31D}"/>
              </a:ext>
            </a:extLst>
          </p:cNvPr>
          <p:cNvSpPr/>
          <p:nvPr/>
        </p:nvSpPr>
        <p:spPr>
          <a:xfrm>
            <a:off x="6096117" y="2065709"/>
            <a:ext cx="514339" cy="19202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200" b="1" kern="0" dirty="0">
                <a:solidFill>
                  <a:sysClr val="windowText" lastClr="000000"/>
                </a:solidFill>
                <a:latin typeface="Arial"/>
              </a:rPr>
              <a:t>-</a:t>
            </a:r>
          </a:p>
        </p:txBody>
      </p:sp>
      <p:sp>
        <p:nvSpPr>
          <p:cNvPr id="142" name="Rectangle 141">
            <a:extLst>
              <a:ext uri="{FF2B5EF4-FFF2-40B4-BE49-F238E27FC236}">
                <a16:creationId xmlns:a16="http://schemas.microsoft.com/office/drawing/2014/main" id="{465EA366-DD55-43A5-BE2F-4AC2BE10C1A0}"/>
              </a:ext>
            </a:extLst>
          </p:cNvPr>
          <p:cNvSpPr/>
          <p:nvPr/>
        </p:nvSpPr>
        <p:spPr>
          <a:xfrm>
            <a:off x="7219944" y="1835120"/>
            <a:ext cx="514339" cy="19202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200" b="1" kern="0" dirty="0">
                <a:solidFill>
                  <a:sysClr val="windowText" lastClr="000000"/>
                </a:solidFill>
                <a:latin typeface="Arial"/>
              </a:rPr>
              <a:t>&gt;=</a:t>
            </a:r>
          </a:p>
        </p:txBody>
      </p:sp>
      <p:sp>
        <p:nvSpPr>
          <p:cNvPr id="143" name="Rectangle 142">
            <a:extLst>
              <a:ext uri="{FF2B5EF4-FFF2-40B4-BE49-F238E27FC236}">
                <a16:creationId xmlns:a16="http://schemas.microsoft.com/office/drawing/2014/main" id="{2190E9ED-16CF-4B5A-B759-D9424F5B1CEB}"/>
              </a:ext>
            </a:extLst>
          </p:cNvPr>
          <p:cNvSpPr/>
          <p:nvPr/>
        </p:nvSpPr>
        <p:spPr>
          <a:xfrm>
            <a:off x="6659244" y="1835120"/>
            <a:ext cx="514339" cy="19202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600" b="1" kern="0" dirty="0">
                <a:solidFill>
                  <a:sysClr val="windowText" lastClr="000000"/>
                </a:solidFill>
                <a:latin typeface="Arial"/>
              </a:rPr>
              <a:t>*</a:t>
            </a:r>
          </a:p>
        </p:txBody>
      </p:sp>
      <p:grpSp>
        <p:nvGrpSpPr>
          <p:cNvPr id="144" name="Group 71">
            <a:extLst>
              <a:ext uri="{FF2B5EF4-FFF2-40B4-BE49-F238E27FC236}">
                <a16:creationId xmlns:a16="http://schemas.microsoft.com/office/drawing/2014/main" id="{9ED2E601-673D-4DD8-B744-02AF21399046}"/>
              </a:ext>
            </a:extLst>
          </p:cNvPr>
          <p:cNvGrpSpPr/>
          <p:nvPr/>
        </p:nvGrpSpPr>
        <p:grpSpPr>
          <a:xfrm>
            <a:off x="6096008" y="1643093"/>
            <a:ext cx="563125" cy="115214"/>
            <a:chOff x="-66694" y="1130300"/>
            <a:chExt cx="533401" cy="228600"/>
          </a:xfrm>
          <a:effectLst>
            <a:outerShdw blurRad="50800" dist="38100" dir="2700000" algn="tl" rotWithShape="0">
              <a:prstClr val="black">
                <a:alpha val="40000"/>
              </a:prstClr>
            </a:outerShdw>
          </a:effectLst>
        </p:grpSpPr>
        <p:cxnSp>
          <p:nvCxnSpPr>
            <p:cNvPr id="145" name="Straight Connector 144">
              <a:extLst>
                <a:ext uri="{FF2B5EF4-FFF2-40B4-BE49-F238E27FC236}">
                  <a16:creationId xmlns:a16="http://schemas.microsoft.com/office/drawing/2014/main" id="{3E8BB9EA-F7A9-4B64-8936-5457C4E01CDC}"/>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46" name="Straight Connector 145">
              <a:extLst>
                <a:ext uri="{FF2B5EF4-FFF2-40B4-BE49-F238E27FC236}">
                  <a16:creationId xmlns:a16="http://schemas.microsoft.com/office/drawing/2014/main" id="{BD89F04F-D768-4910-9283-4660915B448A}"/>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47" name="Straight Connector 146">
              <a:extLst>
                <a:ext uri="{FF2B5EF4-FFF2-40B4-BE49-F238E27FC236}">
                  <a16:creationId xmlns:a16="http://schemas.microsoft.com/office/drawing/2014/main" id="{31686BDA-EF71-4239-AE4F-457F461AB5E6}"/>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48" name="Straight Connector 147">
              <a:extLst>
                <a:ext uri="{FF2B5EF4-FFF2-40B4-BE49-F238E27FC236}">
                  <a16:creationId xmlns:a16="http://schemas.microsoft.com/office/drawing/2014/main" id="{D90F0D6B-5CB0-453A-820A-845257E2A851}"/>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149" name="Group 71">
            <a:extLst>
              <a:ext uri="{FF2B5EF4-FFF2-40B4-BE49-F238E27FC236}">
                <a16:creationId xmlns:a16="http://schemas.microsoft.com/office/drawing/2014/main" id="{1A5348D2-901F-4F13-95FD-2E29884DE562}"/>
              </a:ext>
            </a:extLst>
          </p:cNvPr>
          <p:cNvGrpSpPr/>
          <p:nvPr/>
        </p:nvGrpSpPr>
        <p:grpSpPr>
          <a:xfrm>
            <a:off x="6659132" y="1643094"/>
            <a:ext cx="563125" cy="115214"/>
            <a:chOff x="-66694" y="1130300"/>
            <a:chExt cx="533401" cy="228600"/>
          </a:xfrm>
          <a:effectLst>
            <a:outerShdw blurRad="50800" dist="38100" dir="2700000" algn="tl" rotWithShape="0">
              <a:prstClr val="black">
                <a:alpha val="40000"/>
              </a:prstClr>
            </a:outerShdw>
          </a:effectLst>
        </p:grpSpPr>
        <p:cxnSp>
          <p:nvCxnSpPr>
            <p:cNvPr id="150" name="Straight Connector 149">
              <a:extLst>
                <a:ext uri="{FF2B5EF4-FFF2-40B4-BE49-F238E27FC236}">
                  <a16:creationId xmlns:a16="http://schemas.microsoft.com/office/drawing/2014/main" id="{33B3C1B2-D4B3-4863-A3A3-07A286E58606}"/>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51" name="Straight Connector 150">
              <a:extLst>
                <a:ext uri="{FF2B5EF4-FFF2-40B4-BE49-F238E27FC236}">
                  <a16:creationId xmlns:a16="http://schemas.microsoft.com/office/drawing/2014/main" id="{CF7DDF8B-677C-4DC0-AA2E-F4810E34AEE0}"/>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52" name="Straight Connector 151">
              <a:extLst>
                <a:ext uri="{FF2B5EF4-FFF2-40B4-BE49-F238E27FC236}">
                  <a16:creationId xmlns:a16="http://schemas.microsoft.com/office/drawing/2014/main" id="{49FEE2F6-93F1-45F1-9AB6-259E0710ADDC}"/>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53" name="Straight Connector 152">
              <a:extLst>
                <a:ext uri="{FF2B5EF4-FFF2-40B4-BE49-F238E27FC236}">
                  <a16:creationId xmlns:a16="http://schemas.microsoft.com/office/drawing/2014/main" id="{71311CF0-B7BA-4194-A5ED-527448734DF9}"/>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154" name="Group 71">
            <a:extLst>
              <a:ext uri="{FF2B5EF4-FFF2-40B4-BE49-F238E27FC236}">
                <a16:creationId xmlns:a16="http://schemas.microsoft.com/office/drawing/2014/main" id="{2506C63B-C0E6-422A-9130-A6664A38A879}"/>
              </a:ext>
            </a:extLst>
          </p:cNvPr>
          <p:cNvGrpSpPr/>
          <p:nvPr/>
        </p:nvGrpSpPr>
        <p:grpSpPr>
          <a:xfrm>
            <a:off x="7222256" y="1643095"/>
            <a:ext cx="563125" cy="115214"/>
            <a:chOff x="-66694" y="1130300"/>
            <a:chExt cx="533401" cy="228600"/>
          </a:xfrm>
          <a:effectLst>
            <a:outerShdw blurRad="50800" dist="38100" dir="2700000" algn="tl" rotWithShape="0">
              <a:prstClr val="black">
                <a:alpha val="40000"/>
              </a:prstClr>
            </a:outerShdw>
          </a:effectLst>
        </p:grpSpPr>
        <p:cxnSp>
          <p:nvCxnSpPr>
            <p:cNvPr id="155" name="Straight Connector 154">
              <a:extLst>
                <a:ext uri="{FF2B5EF4-FFF2-40B4-BE49-F238E27FC236}">
                  <a16:creationId xmlns:a16="http://schemas.microsoft.com/office/drawing/2014/main" id="{10AC6AAC-4C13-413D-8C4A-BE563533FC45}"/>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56" name="Straight Connector 155">
              <a:extLst>
                <a:ext uri="{FF2B5EF4-FFF2-40B4-BE49-F238E27FC236}">
                  <a16:creationId xmlns:a16="http://schemas.microsoft.com/office/drawing/2014/main" id="{9860F8CA-0CF5-48BA-A7B6-3C7C606DD0A5}"/>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57" name="Straight Connector 156">
              <a:extLst>
                <a:ext uri="{FF2B5EF4-FFF2-40B4-BE49-F238E27FC236}">
                  <a16:creationId xmlns:a16="http://schemas.microsoft.com/office/drawing/2014/main" id="{12B4965D-6F31-4D6D-BD85-6CF10B661F46}"/>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58" name="Straight Connector 157">
              <a:extLst>
                <a:ext uri="{FF2B5EF4-FFF2-40B4-BE49-F238E27FC236}">
                  <a16:creationId xmlns:a16="http://schemas.microsoft.com/office/drawing/2014/main" id="{3BCDD17A-D148-4638-A4FF-6EFF51514B06}"/>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sp>
        <p:nvSpPr>
          <p:cNvPr id="159" name="Rectangle 158">
            <a:extLst>
              <a:ext uri="{FF2B5EF4-FFF2-40B4-BE49-F238E27FC236}">
                <a16:creationId xmlns:a16="http://schemas.microsoft.com/office/drawing/2014/main" id="{DFD6C982-9530-43A6-AD91-AB476FE55133}"/>
              </a:ext>
            </a:extLst>
          </p:cNvPr>
          <p:cNvSpPr/>
          <p:nvPr/>
        </p:nvSpPr>
        <p:spPr>
          <a:xfrm>
            <a:off x="8911757" y="2065708"/>
            <a:ext cx="514339" cy="19202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200" b="1" kern="0" dirty="0">
                <a:solidFill>
                  <a:sysClr val="windowText" lastClr="000000"/>
                </a:solidFill>
                <a:latin typeface="Arial"/>
              </a:rPr>
              <a:t>+</a:t>
            </a:r>
          </a:p>
        </p:txBody>
      </p:sp>
      <p:sp>
        <p:nvSpPr>
          <p:cNvPr id="160" name="Rectangle 159">
            <a:extLst>
              <a:ext uri="{FF2B5EF4-FFF2-40B4-BE49-F238E27FC236}">
                <a16:creationId xmlns:a16="http://schemas.microsoft.com/office/drawing/2014/main" id="{0ED402B8-FE9D-4E9C-91DE-52639C715C02}"/>
              </a:ext>
            </a:extLst>
          </p:cNvPr>
          <p:cNvSpPr/>
          <p:nvPr/>
        </p:nvSpPr>
        <p:spPr>
          <a:xfrm>
            <a:off x="7785504" y="1835120"/>
            <a:ext cx="514339" cy="19202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200" b="1" kern="0" dirty="0">
                <a:solidFill>
                  <a:sysClr val="windowText" lastClr="000000"/>
                </a:solidFill>
                <a:latin typeface="Arial"/>
              </a:rPr>
              <a:t>==</a:t>
            </a:r>
          </a:p>
        </p:txBody>
      </p:sp>
      <p:sp>
        <p:nvSpPr>
          <p:cNvPr id="161" name="Rectangle 160">
            <a:extLst>
              <a:ext uri="{FF2B5EF4-FFF2-40B4-BE49-F238E27FC236}">
                <a16:creationId xmlns:a16="http://schemas.microsoft.com/office/drawing/2014/main" id="{9BD3C6C1-A3ED-405B-8843-408F61AD4E59}"/>
              </a:ext>
            </a:extLst>
          </p:cNvPr>
          <p:cNvSpPr/>
          <p:nvPr/>
        </p:nvSpPr>
        <p:spPr>
          <a:xfrm>
            <a:off x="7785504" y="2065708"/>
            <a:ext cx="514339" cy="19202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200" b="1" kern="0" dirty="0">
                <a:solidFill>
                  <a:sysClr val="windowText" lastClr="000000"/>
                </a:solidFill>
                <a:latin typeface="Arial"/>
              </a:rPr>
              <a:t>-</a:t>
            </a:r>
          </a:p>
        </p:txBody>
      </p:sp>
      <p:sp>
        <p:nvSpPr>
          <p:cNvPr id="162" name="Rectangle 161">
            <a:extLst>
              <a:ext uri="{FF2B5EF4-FFF2-40B4-BE49-F238E27FC236}">
                <a16:creationId xmlns:a16="http://schemas.microsoft.com/office/drawing/2014/main" id="{035A2265-FFD8-48DC-9F35-D401DEB1EDE3}"/>
              </a:ext>
            </a:extLst>
          </p:cNvPr>
          <p:cNvSpPr/>
          <p:nvPr/>
        </p:nvSpPr>
        <p:spPr>
          <a:xfrm>
            <a:off x="8909331" y="1835120"/>
            <a:ext cx="514339" cy="19202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200" b="1" kern="0" dirty="0">
                <a:solidFill>
                  <a:sysClr val="windowText" lastClr="000000"/>
                </a:solidFill>
                <a:latin typeface="Arial"/>
              </a:rPr>
              <a:t>&gt;=</a:t>
            </a:r>
          </a:p>
        </p:txBody>
      </p:sp>
      <p:sp>
        <p:nvSpPr>
          <p:cNvPr id="163" name="Rectangle 162">
            <a:extLst>
              <a:ext uri="{FF2B5EF4-FFF2-40B4-BE49-F238E27FC236}">
                <a16:creationId xmlns:a16="http://schemas.microsoft.com/office/drawing/2014/main" id="{244DA3A8-817E-4EB5-8660-039119CD3011}"/>
              </a:ext>
            </a:extLst>
          </p:cNvPr>
          <p:cNvSpPr/>
          <p:nvPr/>
        </p:nvSpPr>
        <p:spPr>
          <a:xfrm>
            <a:off x="8348630" y="1835120"/>
            <a:ext cx="514339" cy="19202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600" b="1" kern="0" dirty="0">
                <a:solidFill>
                  <a:sysClr val="windowText" lastClr="000000"/>
                </a:solidFill>
                <a:latin typeface="Arial"/>
              </a:rPr>
              <a:t>*</a:t>
            </a:r>
            <a:endParaRPr lang="en-US" sz="1200" b="1" kern="0" dirty="0">
              <a:solidFill>
                <a:sysClr val="windowText" lastClr="000000"/>
              </a:solidFill>
              <a:latin typeface="Arial"/>
            </a:endParaRPr>
          </a:p>
        </p:txBody>
      </p:sp>
      <p:grpSp>
        <p:nvGrpSpPr>
          <p:cNvPr id="164" name="Group 71">
            <a:extLst>
              <a:ext uri="{FF2B5EF4-FFF2-40B4-BE49-F238E27FC236}">
                <a16:creationId xmlns:a16="http://schemas.microsoft.com/office/drawing/2014/main" id="{1539FC3C-1C23-41EF-ADE0-958502261E5D}"/>
              </a:ext>
            </a:extLst>
          </p:cNvPr>
          <p:cNvGrpSpPr/>
          <p:nvPr/>
        </p:nvGrpSpPr>
        <p:grpSpPr>
          <a:xfrm>
            <a:off x="7785395" y="1643092"/>
            <a:ext cx="563125" cy="115214"/>
            <a:chOff x="-66694" y="1130300"/>
            <a:chExt cx="533401" cy="228600"/>
          </a:xfrm>
          <a:effectLst>
            <a:outerShdw blurRad="50800" dist="38100" dir="2700000" algn="tl" rotWithShape="0">
              <a:prstClr val="black">
                <a:alpha val="40000"/>
              </a:prstClr>
            </a:outerShdw>
          </a:effectLst>
        </p:grpSpPr>
        <p:cxnSp>
          <p:nvCxnSpPr>
            <p:cNvPr id="165" name="Straight Connector 164">
              <a:extLst>
                <a:ext uri="{FF2B5EF4-FFF2-40B4-BE49-F238E27FC236}">
                  <a16:creationId xmlns:a16="http://schemas.microsoft.com/office/drawing/2014/main" id="{D0B9D35D-9237-4E43-9AED-2138EC0F651B}"/>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66" name="Straight Connector 165">
              <a:extLst>
                <a:ext uri="{FF2B5EF4-FFF2-40B4-BE49-F238E27FC236}">
                  <a16:creationId xmlns:a16="http://schemas.microsoft.com/office/drawing/2014/main" id="{804182FF-B39A-4428-B5F1-080B329D2376}"/>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67" name="Straight Connector 166">
              <a:extLst>
                <a:ext uri="{FF2B5EF4-FFF2-40B4-BE49-F238E27FC236}">
                  <a16:creationId xmlns:a16="http://schemas.microsoft.com/office/drawing/2014/main" id="{1F7B544C-D461-4420-8EBA-D58F51C2A2FB}"/>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68" name="Straight Connector 167">
              <a:extLst>
                <a:ext uri="{FF2B5EF4-FFF2-40B4-BE49-F238E27FC236}">
                  <a16:creationId xmlns:a16="http://schemas.microsoft.com/office/drawing/2014/main" id="{82AAC9CE-5865-4089-9B4A-F10BEF95B6A5}"/>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169" name="Group 71">
            <a:extLst>
              <a:ext uri="{FF2B5EF4-FFF2-40B4-BE49-F238E27FC236}">
                <a16:creationId xmlns:a16="http://schemas.microsoft.com/office/drawing/2014/main" id="{DFCBDCEC-C873-4017-9899-127B64E40D84}"/>
              </a:ext>
            </a:extLst>
          </p:cNvPr>
          <p:cNvGrpSpPr/>
          <p:nvPr/>
        </p:nvGrpSpPr>
        <p:grpSpPr>
          <a:xfrm>
            <a:off x="8348519" y="1643093"/>
            <a:ext cx="563125" cy="115214"/>
            <a:chOff x="-66694" y="1130300"/>
            <a:chExt cx="533401" cy="228600"/>
          </a:xfrm>
          <a:effectLst>
            <a:outerShdw blurRad="50800" dist="38100" dir="2700000" algn="tl" rotWithShape="0">
              <a:prstClr val="black">
                <a:alpha val="40000"/>
              </a:prstClr>
            </a:outerShdw>
          </a:effectLst>
        </p:grpSpPr>
        <p:cxnSp>
          <p:nvCxnSpPr>
            <p:cNvPr id="170" name="Straight Connector 169">
              <a:extLst>
                <a:ext uri="{FF2B5EF4-FFF2-40B4-BE49-F238E27FC236}">
                  <a16:creationId xmlns:a16="http://schemas.microsoft.com/office/drawing/2014/main" id="{8BC3DB3B-B608-4472-BF0B-86877B77F311}"/>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71" name="Straight Connector 170">
              <a:extLst>
                <a:ext uri="{FF2B5EF4-FFF2-40B4-BE49-F238E27FC236}">
                  <a16:creationId xmlns:a16="http://schemas.microsoft.com/office/drawing/2014/main" id="{576FC232-D61C-4A04-B019-9A55A996352D}"/>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72" name="Straight Connector 171">
              <a:extLst>
                <a:ext uri="{FF2B5EF4-FFF2-40B4-BE49-F238E27FC236}">
                  <a16:creationId xmlns:a16="http://schemas.microsoft.com/office/drawing/2014/main" id="{945FCA16-DB32-4A42-B83A-4998DEDC3830}"/>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73" name="Straight Connector 172">
              <a:extLst>
                <a:ext uri="{FF2B5EF4-FFF2-40B4-BE49-F238E27FC236}">
                  <a16:creationId xmlns:a16="http://schemas.microsoft.com/office/drawing/2014/main" id="{EC18D760-9279-40BD-990D-8D1FF5B565A9}"/>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174" name="Group 71">
            <a:extLst>
              <a:ext uri="{FF2B5EF4-FFF2-40B4-BE49-F238E27FC236}">
                <a16:creationId xmlns:a16="http://schemas.microsoft.com/office/drawing/2014/main" id="{31127378-DEC1-45E7-99D0-E992F8CBAA15}"/>
              </a:ext>
            </a:extLst>
          </p:cNvPr>
          <p:cNvGrpSpPr/>
          <p:nvPr/>
        </p:nvGrpSpPr>
        <p:grpSpPr>
          <a:xfrm>
            <a:off x="8911643" y="1643094"/>
            <a:ext cx="563125" cy="115214"/>
            <a:chOff x="-66694" y="1130300"/>
            <a:chExt cx="533401" cy="228600"/>
          </a:xfrm>
          <a:effectLst>
            <a:outerShdw blurRad="50800" dist="38100" dir="2700000" algn="tl" rotWithShape="0">
              <a:prstClr val="black">
                <a:alpha val="40000"/>
              </a:prstClr>
            </a:outerShdw>
          </a:effectLst>
        </p:grpSpPr>
        <p:cxnSp>
          <p:nvCxnSpPr>
            <p:cNvPr id="175" name="Straight Connector 174">
              <a:extLst>
                <a:ext uri="{FF2B5EF4-FFF2-40B4-BE49-F238E27FC236}">
                  <a16:creationId xmlns:a16="http://schemas.microsoft.com/office/drawing/2014/main" id="{F8C30A81-57E5-4EC7-841B-0942FBA3B7A9}"/>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76" name="Straight Connector 175">
              <a:extLst>
                <a:ext uri="{FF2B5EF4-FFF2-40B4-BE49-F238E27FC236}">
                  <a16:creationId xmlns:a16="http://schemas.microsoft.com/office/drawing/2014/main" id="{236317B4-0865-484E-83F1-0DDB68AF8ACE}"/>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77" name="Straight Connector 176">
              <a:extLst>
                <a:ext uri="{FF2B5EF4-FFF2-40B4-BE49-F238E27FC236}">
                  <a16:creationId xmlns:a16="http://schemas.microsoft.com/office/drawing/2014/main" id="{EBAC5783-528D-4EEE-8EE3-54D9060FD5A4}"/>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78" name="Straight Connector 177">
              <a:extLst>
                <a:ext uri="{FF2B5EF4-FFF2-40B4-BE49-F238E27FC236}">
                  <a16:creationId xmlns:a16="http://schemas.microsoft.com/office/drawing/2014/main" id="{1F58F1C6-5E30-4F80-8EE6-E53A30B46D4B}"/>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sp>
        <p:nvSpPr>
          <p:cNvPr id="179" name="Rectangle 178">
            <a:extLst>
              <a:ext uri="{FF2B5EF4-FFF2-40B4-BE49-F238E27FC236}">
                <a16:creationId xmlns:a16="http://schemas.microsoft.com/office/drawing/2014/main" id="{C533307F-8A9C-40CE-9B42-F02227CCBB80}"/>
              </a:ext>
            </a:extLst>
          </p:cNvPr>
          <p:cNvSpPr/>
          <p:nvPr/>
        </p:nvSpPr>
        <p:spPr>
          <a:xfrm>
            <a:off x="10601143" y="2065707"/>
            <a:ext cx="514339" cy="19202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200" b="1" kern="0" dirty="0">
                <a:solidFill>
                  <a:sysClr val="windowText" lastClr="000000"/>
                </a:solidFill>
                <a:latin typeface="Arial"/>
              </a:rPr>
              <a:t>+</a:t>
            </a:r>
          </a:p>
        </p:txBody>
      </p:sp>
      <p:sp>
        <p:nvSpPr>
          <p:cNvPr id="180" name="Rectangle 179">
            <a:extLst>
              <a:ext uri="{FF2B5EF4-FFF2-40B4-BE49-F238E27FC236}">
                <a16:creationId xmlns:a16="http://schemas.microsoft.com/office/drawing/2014/main" id="{02711605-07F4-450E-ADCF-F749C45E557F}"/>
              </a:ext>
            </a:extLst>
          </p:cNvPr>
          <p:cNvSpPr/>
          <p:nvPr/>
        </p:nvSpPr>
        <p:spPr>
          <a:xfrm>
            <a:off x="9474890" y="1835120"/>
            <a:ext cx="514339" cy="19202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200" b="1" kern="0" dirty="0">
                <a:solidFill>
                  <a:sysClr val="windowText" lastClr="000000"/>
                </a:solidFill>
                <a:latin typeface="Arial"/>
              </a:rPr>
              <a:t>==</a:t>
            </a:r>
          </a:p>
        </p:txBody>
      </p:sp>
      <p:sp>
        <p:nvSpPr>
          <p:cNvPr id="181" name="Rectangle 180">
            <a:extLst>
              <a:ext uri="{FF2B5EF4-FFF2-40B4-BE49-F238E27FC236}">
                <a16:creationId xmlns:a16="http://schemas.microsoft.com/office/drawing/2014/main" id="{87E35351-AA9E-4356-924A-3B0CC7AC2BE3}"/>
              </a:ext>
            </a:extLst>
          </p:cNvPr>
          <p:cNvSpPr/>
          <p:nvPr/>
        </p:nvSpPr>
        <p:spPr>
          <a:xfrm>
            <a:off x="9474890" y="2065707"/>
            <a:ext cx="514339" cy="19202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200" b="1" kern="0" dirty="0">
                <a:solidFill>
                  <a:sysClr val="windowText" lastClr="000000"/>
                </a:solidFill>
                <a:latin typeface="Arial"/>
              </a:rPr>
              <a:t>-</a:t>
            </a:r>
          </a:p>
        </p:txBody>
      </p:sp>
      <p:sp>
        <p:nvSpPr>
          <p:cNvPr id="182" name="Rectangle 181">
            <a:extLst>
              <a:ext uri="{FF2B5EF4-FFF2-40B4-BE49-F238E27FC236}">
                <a16:creationId xmlns:a16="http://schemas.microsoft.com/office/drawing/2014/main" id="{97E8B55E-C94F-4492-BE95-F5903AB2F8D7}"/>
              </a:ext>
            </a:extLst>
          </p:cNvPr>
          <p:cNvSpPr/>
          <p:nvPr/>
        </p:nvSpPr>
        <p:spPr>
          <a:xfrm>
            <a:off x="10598717" y="1835120"/>
            <a:ext cx="514339" cy="19202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200" b="1" kern="0" dirty="0">
                <a:solidFill>
                  <a:sysClr val="windowText" lastClr="000000"/>
                </a:solidFill>
                <a:latin typeface="Arial"/>
              </a:rPr>
              <a:t>&gt;=</a:t>
            </a:r>
          </a:p>
        </p:txBody>
      </p:sp>
      <p:sp>
        <p:nvSpPr>
          <p:cNvPr id="183" name="Rectangle 182">
            <a:extLst>
              <a:ext uri="{FF2B5EF4-FFF2-40B4-BE49-F238E27FC236}">
                <a16:creationId xmlns:a16="http://schemas.microsoft.com/office/drawing/2014/main" id="{39B596EC-F313-4018-9EC7-7D02D4DD661C}"/>
              </a:ext>
            </a:extLst>
          </p:cNvPr>
          <p:cNvSpPr/>
          <p:nvPr/>
        </p:nvSpPr>
        <p:spPr>
          <a:xfrm>
            <a:off x="10038017" y="1835120"/>
            <a:ext cx="514339" cy="19202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600" b="1" kern="0" dirty="0">
                <a:solidFill>
                  <a:sysClr val="windowText" lastClr="000000"/>
                </a:solidFill>
                <a:latin typeface="Arial"/>
              </a:rPr>
              <a:t>*</a:t>
            </a:r>
          </a:p>
        </p:txBody>
      </p:sp>
      <p:grpSp>
        <p:nvGrpSpPr>
          <p:cNvPr id="184" name="Group 71">
            <a:extLst>
              <a:ext uri="{FF2B5EF4-FFF2-40B4-BE49-F238E27FC236}">
                <a16:creationId xmlns:a16="http://schemas.microsoft.com/office/drawing/2014/main" id="{8FBF5A4B-348E-4251-9E89-B2224B5C8723}"/>
              </a:ext>
            </a:extLst>
          </p:cNvPr>
          <p:cNvGrpSpPr/>
          <p:nvPr/>
        </p:nvGrpSpPr>
        <p:grpSpPr>
          <a:xfrm>
            <a:off x="9474783" y="1643091"/>
            <a:ext cx="563125" cy="115214"/>
            <a:chOff x="-66694" y="1130300"/>
            <a:chExt cx="533401" cy="228600"/>
          </a:xfrm>
          <a:effectLst>
            <a:outerShdw blurRad="50800" dist="38100" dir="2700000" algn="tl" rotWithShape="0">
              <a:prstClr val="black">
                <a:alpha val="40000"/>
              </a:prstClr>
            </a:outerShdw>
          </a:effectLst>
        </p:grpSpPr>
        <p:cxnSp>
          <p:nvCxnSpPr>
            <p:cNvPr id="185" name="Straight Connector 184">
              <a:extLst>
                <a:ext uri="{FF2B5EF4-FFF2-40B4-BE49-F238E27FC236}">
                  <a16:creationId xmlns:a16="http://schemas.microsoft.com/office/drawing/2014/main" id="{68349052-FD01-4114-AB0A-19B00432033C}"/>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86" name="Straight Connector 185">
              <a:extLst>
                <a:ext uri="{FF2B5EF4-FFF2-40B4-BE49-F238E27FC236}">
                  <a16:creationId xmlns:a16="http://schemas.microsoft.com/office/drawing/2014/main" id="{77DFA31F-2166-404A-A150-9564FB2BB17D}"/>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87" name="Straight Connector 186">
              <a:extLst>
                <a:ext uri="{FF2B5EF4-FFF2-40B4-BE49-F238E27FC236}">
                  <a16:creationId xmlns:a16="http://schemas.microsoft.com/office/drawing/2014/main" id="{B099E240-E82D-4504-A1A7-9B28E43C87C4}"/>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88" name="Straight Connector 187">
              <a:extLst>
                <a:ext uri="{FF2B5EF4-FFF2-40B4-BE49-F238E27FC236}">
                  <a16:creationId xmlns:a16="http://schemas.microsoft.com/office/drawing/2014/main" id="{8E04921B-D3E0-47CB-AE0E-C132F3E30A3B}"/>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189" name="Group 71">
            <a:extLst>
              <a:ext uri="{FF2B5EF4-FFF2-40B4-BE49-F238E27FC236}">
                <a16:creationId xmlns:a16="http://schemas.microsoft.com/office/drawing/2014/main" id="{B38FDE79-BDB0-4AB4-9C80-FFCC5152C08D}"/>
              </a:ext>
            </a:extLst>
          </p:cNvPr>
          <p:cNvGrpSpPr/>
          <p:nvPr/>
        </p:nvGrpSpPr>
        <p:grpSpPr>
          <a:xfrm>
            <a:off x="10037907" y="1643092"/>
            <a:ext cx="563125" cy="115214"/>
            <a:chOff x="-66694" y="1130300"/>
            <a:chExt cx="533401" cy="228600"/>
          </a:xfrm>
          <a:effectLst>
            <a:outerShdw blurRad="50800" dist="38100" dir="2700000" algn="tl" rotWithShape="0">
              <a:prstClr val="black">
                <a:alpha val="40000"/>
              </a:prstClr>
            </a:outerShdw>
          </a:effectLst>
        </p:grpSpPr>
        <p:cxnSp>
          <p:nvCxnSpPr>
            <p:cNvPr id="190" name="Straight Connector 189">
              <a:extLst>
                <a:ext uri="{FF2B5EF4-FFF2-40B4-BE49-F238E27FC236}">
                  <a16:creationId xmlns:a16="http://schemas.microsoft.com/office/drawing/2014/main" id="{5AB3CF0E-861E-4543-A027-5A1060E13AA3}"/>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91" name="Straight Connector 190">
              <a:extLst>
                <a:ext uri="{FF2B5EF4-FFF2-40B4-BE49-F238E27FC236}">
                  <a16:creationId xmlns:a16="http://schemas.microsoft.com/office/drawing/2014/main" id="{63084D1F-FFED-4ECA-B054-4DB28DD0927D}"/>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92" name="Straight Connector 191">
              <a:extLst>
                <a:ext uri="{FF2B5EF4-FFF2-40B4-BE49-F238E27FC236}">
                  <a16:creationId xmlns:a16="http://schemas.microsoft.com/office/drawing/2014/main" id="{AEC1DCE7-0E29-4500-B5D3-512A841A0324}"/>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93" name="Straight Connector 192">
              <a:extLst>
                <a:ext uri="{FF2B5EF4-FFF2-40B4-BE49-F238E27FC236}">
                  <a16:creationId xmlns:a16="http://schemas.microsoft.com/office/drawing/2014/main" id="{64D4AD66-499C-4866-9128-6E8F21A380DE}"/>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194" name="Group 71">
            <a:extLst>
              <a:ext uri="{FF2B5EF4-FFF2-40B4-BE49-F238E27FC236}">
                <a16:creationId xmlns:a16="http://schemas.microsoft.com/office/drawing/2014/main" id="{7884A255-60EA-49EB-8C24-DAA2E7907186}"/>
              </a:ext>
            </a:extLst>
          </p:cNvPr>
          <p:cNvGrpSpPr/>
          <p:nvPr/>
        </p:nvGrpSpPr>
        <p:grpSpPr>
          <a:xfrm>
            <a:off x="10601031" y="1643093"/>
            <a:ext cx="563125" cy="115214"/>
            <a:chOff x="-66694" y="1130300"/>
            <a:chExt cx="533401" cy="228600"/>
          </a:xfrm>
          <a:effectLst>
            <a:outerShdw blurRad="50800" dist="38100" dir="2700000" algn="tl" rotWithShape="0">
              <a:prstClr val="black">
                <a:alpha val="40000"/>
              </a:prstClr>
            </a:outerShdw>
          </a:effectLst>
        </p:grpSpPr>
        <p:cxnSp>
          <p:nvCxnSpPr>
            <p:cNvPr id="195" name="Straight Connector 194">
              <a:extLst>
                <a:ext uri="{FF2B5EF4-FFF2-40B4-BE49-F238E27FC236}">
                  <a16:creationId xmlns:a16="http://schemas.microsoft.com/office/drawing/2014/main" id="{E30CE596-CD46-4904-BA36-BF65E7E353F8}"/>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96" name="Straight Connector 195">
              <a:extLst>
                <a:ext uri="{FF2B5EF4-FFF2-40B4-BE49-F238E27FC236}">
                  <a16:creationId xmlns:a16="http://schemas.microsoft.com/office/drawing/2014/main" id="{55E9CBDC-F4AF-455B-9F0A-61FDCEF16C6D}"/>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97" name="Straight Connector 196">
              <a:extLst>
                <a:ext uri="{FF2B5EF4-FFF2-40B4-BE49-F238E27FC236}">
                  <a16:creationId xmlns:a16="http://schemas.microsoft.com/office/drawing/2014/main" id="{900B9E28-50DC-4D9B-B58C-A9980EC3BD11}"/>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98" name="Straight Connector 197">
              <a:extLst>
                <a:ext uri="{FF2B5EF4-FFF2-40B4-BE49-F238E27FC236}">
                  <a16:creationId xmlns:a16="http://schemas.microsoft.com/office/drawing/2014/main" id="{022C0022-4D5D-4A29-BBA7-346D97FC0FDF}"/>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sp>
        <p:nvSpPr>
          <p:cNvPr id="199" name="Rectangle 198">
            <a:extLst>
              <a:ext uri="{FF2B5EF4-FFF2-40B4-BE49-F238E27FC236}">
                <a16:creationId xmlns:a16="http://schemas.microsoft.com/office/drawing/2014/main" id="{73E98A42-6455-4394-8F69-9850A0D5AB23}"/>
              </a:ext>
            </a:extLst>
          </p:cNvPr>
          <p:cNvSpPr/>
          <p:nvPr/>
        </p:nvSpPr>
        <p:spPr>
          <a:xfrm>
            <a:off x="11164250" y="1835120"/>
            <a:ext cx="514339" cy="19202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700" b="1" kern="0" dirty="0" err="1">
                <a:solidFill>
                  <a:sysClr val="windowText" lastClr="000000"/>
                </a:solidFill>
                <a:latin typeface="Arial"/>
              </a:rPr>
              <a:t>WRy</a:t>
            </a:r>
            <a:endParaRPr lang="en-US" sz="700" b="1" kern="0" dirty="0">
              <a:solidFill>
                <a:sysClr val="windowText" lastClr="000000"/>
              </a:solidFill>
              <a:latin typeface="Arial"/>
            </a:endParaRPr>
          </a:p>
        </p:txBody>
      </p:sp>
      <p:grpSp>
        <p:nvGrpSpPr>
          <p:cNvPr id="200" name="Group 71">
            <a:extLst>
              <a:ext uri="{FF2B5EF4-FFF2-40B4-BE49-F238E27FC236}">
                <a16:creationId xmlns:a16="http://schemas.microsoft.com/office/drawing/2014/main" id="{59449D6C-569F-4458-AA49-CA64602492ED}"/>
              </a:ext>
            </a:extLst>
          </p:cNvPr>
          <p:cNvGrpSpPr/>
          <p:nvPr/>
        </p:nvGrpSpPr>
        <p:grpSpPr>
          <a:xfrm>
            <a:off x="11164144" y="1643093"/>
            <a:ext cx="563125" cy="115214"/>
            <a:chOff x="-66694" y="1130300"/>
            <a:chExt cx="533401" cy="228600"/>
          </a:xfrm>
          <a:effectLst>
            <a:outerShdw blurRad="50800" dist="38100" dir="2700000" algn="tl" rotWithShape="0">
              <a:prstClr val="black">
                <a:alpha val="40000"/>
              </a:prstClr>
            </a:outerShdw>
          </a:effectLst>
        </p:grpSpPr>
        <p:cxnSp>
          <p:nvCxnSpPr>
            <p:cNvPr id="201" name="Straight Connector 200">
              <a:extLst>
                <a:ext uri="{FF2B5EF4-FFF2-40B4-BE49-F238E27FC236}">
                  <a16:creationId xmlns:a16="http://schemas.microsoft.com/office/drawing/2014/main" id="{85380724-F533-49C0-8ABC-EBBCC5FAA727}"/>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202" name="Straight Connector 201">
              <a:extLst>
                <a:ext uri="{FF2B5EF4-FFF2-40B4-BE49-F238E27FC236}">
                  <a16:creationId xmlns:a16="http://schemas.microsoft.com/office/drawing/2014/main" id="{EE4DA9F0-2D40-449F-A761-75B0E430646A}"/>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203" name="Straight Connector 202">
              <a:extLst>
                <a:ext uri="{FF2B5EF4-FFF2-40B4-BE49-F238E27FC236}">
                  <a16:creationId xmlns:a16="http://schemas.microsoft.com/office/drawing/2014/main" id="{7E4405B5-F657-41BD-8E14-1ECA2255E9EF}"/>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204" name="Straight Connector 203">
              <a:extLst>
                <a:ext uri="{FF2B5EF4-FFF2-40B4-BE49-F238E27FC236}">
                  <a16:creationId xmlns:a16="http://schemas.microsoft.com/office/drawing/2014/main" id="{8678CB3A-244C-47D3-9346-3F5C1705BA97}"/>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cxnSp>
        <p:nvCxnSpPr>
          <p:cNvPr id="205" name="Straight Arrow Connector 204">
            <a:extLst>
              <a:ext uri="{FF2B5EF4-FFF2-40B4-BE49-F238E27FC236}">
                <a16:creationId xmlns:a16="http://schemas.microsoft.com/office/drawing/2014/main" id="{499BF9EA-198F-40BF-A337-08EBF8BD5423}"/>
              </a:ext>
            </a:extLst>
          </p:cNvPr>
          <p:cNvCxnSpPr/>
          <p:nvPr/>
        </p:nvCxnSpPr>
        <p:spPr>
          <a:xfrm>
            <a:off x="4406621" y="2610441"/>
            <a:ext cx="1689380" cy="1588"/>
          </a:xfrm>
          <a:prstGeom prst="straightConnector1">
            <a:avLst/>
          </a:prstGeom>
          <a:noFill/>
          <a:ln w="25400" cap="flat" cmpd="sng" algn="ctr">
            <a:solidFill>
              <a:srgbClr val="D9DA56"/>
            </a:solidFill>
            <a:prstDash val="solid"/>
            <a:tailEnd type="arrow"/>
          </a:ln>
          <a:effectLst>
            <a:outerShdw blurRad="40000" dist="20000" dir="5400000" rotWithShape="0">
              <a:srgbClr val="000000">
                <a:alpha val="38000"/>
              </a:srgbClr>
            </a:outerShdw>
          </a:effectLst>
        </p:spPr>
      </p:cxnSp>
      <p:sp>
        <p:nvSpPr>
          <p:cNvPr id="206" name="TextBox 205">
            <a:extLst>
              <a:ext uri="{FF2B5EF4-FFF2-40B4-BE49-F238E27FC236}">
                <a16:creationId xmlns:a16="http://schemas.microsoft.com/office/drawing/2014/main" id="{0EBA2047-F5A6-4E8C-8797-AE39C0E6E6EE}"/>
              </a:ext>
            </a:extLst>
          </p:cNvPr>
          <p:cNvSpPr txBox="1"/>
          <p:nvPr/>
        </p:nvSpPr>
        <p:spPr>
          <a:xfrm>
            <a:off x="4698674" y="2648846"/>
            <a:ext cx="827471" cy="253916"/>
          </a:xfrm>
          <a:prstGeom prst="rect">
            <a:avLst/>
          </a:prstGeom>
          <a:noFill/>
        </p:spPr>
        <p:txBody>
          <a:bodyPr wrap="none" rtlCol="0">
            <a:spAutoFit/>
          </a:bodyPr>
          <a:lstStyle/>
          <a:p>
            <a:pPr defTabSz="457200" fontAlgn="base">
              <a:spcBef>
                <a:spcPct val="0"/>
              </a:spcBef>
              <a:spcAft>
                <a:spcPct val="0"/>
              </a:spcAft>
            </a:pPr>
            <a:r>
              <a:rPr lang="en-US" sz="1050" b="1" dirty="0">
                <a:solidFill>
                  <a:prstClr val="black"/>
                </a:solidFill>
                <a:ea typeface="ＭＳ Ｐゴシック" pitchFamily="34" charset="-128"/>
                <a:cs typeface="Arial" charset="0"/>
              </a:rPr>
              <a:t>Iteration 1</a:t>
            </a:r>
          </a:p>
        </p:txBody>
      </p:sp>
      <p:cxnSp>
        <p:nvCxnSpPr>
          <p:cNvPr id="207" name="Straight Arrow Connector 206">
            <a:extLst>
              <a:ext uri="{FF2B5EF4-FFF2-40B4-BE49-F238E27FC236}">
                <a16:creationId xmlns:a16="http://schemas.microsoft.com/office/drawing/2014/main" id="{7D352AFE-C662-43D1-9B7E-16AAB522311F}"/>
              </a:ext>
            </a:extLst>
          </p:cNvPr>
          <p:cNvCxnSpPr/>
          <p:nvPr/>
        </p:nvCxnSpPr>
        <p:spPr>
          <a:xfrm>
            <a:off x="6096001" y="2610441"/>
            <a:ext cx="1689380" cy="1588"/>
          </a:xfrm>
          <a:prstGeom prst="straightConnector1">
            <a:avLst/>
          </a:prstGeom>
          <a:noFill/>
          <a:ln w="25400" cap="flat" cmpd="sng" algn="ctr">
            <a:solidFill>
              <a:srgbClr val="D9DA56"/>
            </a:solidFill>
            <a:prstDash val="solid"/>
            <a:tailEnd type="arrow"/>
          </a:ln>
          <a:effectLst>
            <a:outerShdw blurRad="40000" dist="20000" dir="5400000" rotWithShape="0">
              <a:srgbClr val="000000">
                <a:alpha val="38000"/>
              </a:srgbClr>
            </a:outerShdw>
          </a:effectLst>
        </p:spPr>
      </p:cxnSp>
      <p:sp>
        <p:nvSpPr>
          <p:cNvPr id="208" name="TextBox 207">
            <a:extLst>
              <a:ext uri="{FF2B5EF4-FFF2-40B4-BE49-F238E27FC236}">
                <a16:creationId xmlns:a16="http://schemas.microsoft.com/office/drawing/2014/main" id="{55EF74BE-C6BB-4A8D-A617-03A36A1C6B19}"/>
              </a:ext>
            </a:extLst>
          </p:cNvPr>
          <p:cNvSpPr txBox="1"/>
          <p:nvPr/>
        </p:nvSpPr>
        <p:spPr>
          <a:xfrm>
            <a:off x="6388054" y="2648846"/>
            <a:ext cx="827471" cy="253916"/>
          </a:xfrm>
          <a:prstGeom prst="rect">
            <a:avLst/>
          </a:prstGeom>
          <a:noFill/>
        </p:spPr>
        <p:txBody>
          <a:bodyPr wrap="none" rtlCol="0">
            <a:spAutoFit/>
          </a:bodyPr>
          <a:lstStyle/>
          <a:p>
            <a:pPr defTabSz="457200" fontAlgn="base">
              <a:spcBef>
                <a:spcPct val="0"/>
              </a:spcBef>
              <a:spcAft>
                <a:spcPct val="0"/>
              </a:spcAft>
            </a:pPr>
            <a:r>
              <a:rPr lang="en-US" sz="1050" b="1" dirty="0">
                <a:solidFill>
                  <a:prstClr val="black"/>
                </a:solidFill>
                <a:ea typeface="ＭＳ Ｐゴシック" pitchFamily="34" charset="-128"/>
                <a:cs typeface="Arial" charset="0"/>
              </a:rPr>
              <a:t>Iteration 2</a:t>
            </a:r>
          </a:p>
        </p:txBody>
      </p:sp>
      <p:cxnSp>
        <p:nvCxnSpPr>
          <p:cNvPr id="209" name="Straight Arrow Connector 208">
            <a:extLst>
              <a:ext uri="{FF2B5EF4-FFF2-40B4-BE49-F238E27FC236}">
                <a16:creationId xmlns:a16="http://schemas.microsoft.com/office/drawing/2014/main" id="{5DCA2805-1C96-4A24-B731-4EB968982948}"/>
              </a:ext>
            </a:extLst>
          </p:cNvPr>
          <p:cNvCxnSpPr/>
          <p:nvPr/>
        </p:nvCxnSpPr>
        <p:spPr>
          <a:xfrm>
            <a:off x="7785381" y="2610441"/>
            <a:ext cx="1689380" cy="1588"/>
          </a:xfrm>
          <a:prstGeom prst="straightConnector1">
            <a:avLst/>
          </a:prstGeom>
          <a:noFill/>
          <a:ln w="25400" cap="flat" cmpd="sng" algn="ctr">
            <a:solidFill>
              <a:srgbClr val="D9DA56"/>
            </a:solidFill>
            <a:prstDash val="solid"/>
            <a:tailEnd type="arrow"/>
          </a:ln>
          <a:effectLst>
            <a:outerShdw blurRad="40000" dist="20000" dir="5400000" rotWithShape="0">
              <a:srgbClr val="000000">
                <a:alpha val="38000"/>
              </a:srgbClr>
            </a:outerShdw>
          </a:effectLst>
        </p:spPr>
      </p:cxnSp>
      <p:sp>
        <p:nvSpPr>
          <p:cNvPr id="210" name="TextBox 209">
            <a:extLst>
              <a:ext uri="{FF2B5EF4-FFF2-40B4-BE49-F238E27FC236}">
                <a16:creationId xmlns:a16="http://schemas.microsoft.com/office/drawing/2014/main" id="{6E632CAC-DF2D-4920-899C-485151440A3F}"/>
              </a:ext>
            </a:extLst>
          </p:cNvPr>
          <p:cNvSpPr txBox="1"/>
          <p:nvPr/>
        </p:nvSpPr>
        <p:spPr>
          <a:xfrm>
            <a:off x="8077434" y="2648846"/>
            <a:ext cx="827471" cy="253916"/>
          </a:xfrm>
          <a:prstGeom prst="rect">
            <a:avLst/>
          </a:prstGeom>
          <a:noFill/>
        </p:spPr>
        <p:txBody>
          <a:bodyPr wrap="none" rtlCol="0">
            <a:spAutoFit/>
          </a:bodyPr>
          <a:lstStyle/>
          <a:p>
            <a:pPr defTabSz="457200" fontAlgn="base">
              <a:spcBef>
                <a:spcPct val="0"/>
              </a:spcBef>
              <a:spcAft>
                <a:spcPct val="0"/>
              </a:spcAft>
            </a:pPr>
            <a:r>
              <a:rPr lang="en-US" sz="1050" b="1" dirty="0">
                <a:solidFill>
                  <a:prstClr val="black"/>
                </a:solidFill>
                <a:ea typeface="ＭＳ Ｐゴシック" pitchFamily="34" charset="-128"/>
                <a:cs typeface="Arial" charset="0"/>
              </a:rPr>
              <a:t>Iteration 3</a:t>
            </a:r>
          </a:p>
        </p:txBody>
      </p:sp>
      <p:cxnSp>
        <p:nvCxnSpPr>
          <p:cNvPr id="211" name="Straight Arrow Connector 210">
            <a:extLst>
              <a:ext uri="{FF2B5EF4-FFF2-40B4-BE49-F238E27FC236}">
                <a16:creationId xmlns:a16="http://schemas.microsoft.com/office/drawing/2014/main" id="{8546148D-22EB-430E-A9A2-07449956E49C}"/>
              </a:ext>
            </a:extLst>
          </p:cNvPr>
          <p:cNvCxnSpPr/>
          <p:nvPr/>
        </p:nvCxnSpPr>
        <p:spPr>
          <a:xfrm>
            <a:off x="9474761" y="2610441"/>
            <a:ext cx="1689380" cy="1588"/>
          </a:xfrm>
          <a:prstGeom prst="straightConnector1">
            <a:avLst/>
          </a:prstGeom>
          <a:noFill/>
          <a:ln w="25400" cap="flat" cmpd="sng" algn="ctr">
            <a:solidFill>
              <a:srgbClr val="D9DA56"/>
            </a:solidFill>
            <a:prstDash val="solid"/>
            <a:tailEnd type="arrow"/>
          </a:ln>
          <a:effectLst>
            <a:outerShdw blurRad="40000" dist="20000" dir="5400000" rotWithShape="0">
              <a:srgbClr val="000000">
                <a:alpha val="38000"/>
              </a:srgbClr>
            </a:outerShdw>
          </a:effectLst>
        </p:spPr>
      </p:cxnSp>
      <p:sp>
        <p:nvSpPr>
          <p:cNvPr id="212" name="TextBox 211">
            <a:extLst>
              <a:ext uri="{FF2B5EF4-FFF2-40B4-BE49-F238E27FC236}">
                <a16:creationId xmlns:a16="http://schemas.microsoft.com/office/drawing/2014/main" id="{67518091-C948-406E-9A9C-09EFCDBB8229}"/>
              </a:ext>
            </a:extLst>
          </p:cNvPr>
          <p:cNvSpPr txBox="1"/>
          <p:nvPr/>
        </p:nvSpPr>
        <p:spPr>
          <a:xfrm>
            <a:off x="9766814" y="2648846"/>
            <a:ext cx="827471" cy="253916"/>
          </a:xfrm>
          <a:prstGeom prst="rect">
            <a:avLst/>
          </a:prstGeom>
          <a:noFill/>
        </p:spPr>
        <p:txBody>
          <a:bodyPr wrap="none" rtlCol="0">
            <a:spAutoFit/>
          </a:bodyPr>
          <a:lstStyle/>
          <a:p>
            <a:pPr defTabSz="457200" fontAlgn="base">
              <a:spcBef>
                <a:spcPct val="0"/>
              </a:spcBef>
              <a:spcAft>
                <a:spcPct val="0"/>
              </a:spcAft>
            </a:pPr>
            <a:r>
              <a:rPr lang="en-US" sz="1050" b="1" dirty="0">
                <a:solidFill>
                  <a:prstClr val="black"/>
                </a:solidFill>
                <a:ea typeface="ＭＳ Ｐゴシック" pitchFamily="34" charset="-128"/>
                <a:cs typeface="Arial" charset="0"/>
              </a:rPr>
              <a:t>Iteration 4</a:t>
            </a:r>
          </a:p>
        </p:txBody>
      </p:sp>
      <p:sp>
        <p:nvSpPr>
          <p:cNvPr id="213" name="Rectangle 212">
            <a:extLst>
              <a:ext uri="{FF2B5EF4-FFF2-40B4-BE49-F238E27FC236}">
                <a16:creationId xmlns:a16="http://schemas.microsoft.com/office/drawing/2014/main" id="{F85CCEDA-FEF2-42B9-8744-9889A96918C1}"/>
              </a:ext>
            </a:extLst>
          </p:cNvPr>
          <p:cNvSpPr/>
          <p:nvPr/>
        </p:nvSpPr>
        <p:spPr>
          <a:xfrm>
            <a:off x="4969857" y="2065713"/>
            <a:ext cx="514339" cy="19202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200" b="1" kern="0" dirty="0">
                <a:solidFill>
                  <a:sysClr val="windowText" lastClr="000000"/>
                </a:solidFill>
                <a:latin typeface="Arial"/>
              </a:rPr>
              <a:t>-</a:t>
            </a:r>
          </a:p>
        </p:txBody>
      </p:sp>
      <p:sp>
        <p:nvSpPr>
          <p:cNvPr id="214" name="Rectangle 213">
            <a:extLst>
              <a:ext uri="{FF2B5EF4-FFF2-40B4-BE49-F238E27FC236}">
                <a16:creationId xmlns:a16="http://schemas.microsoft.com/office/drawing/2014/main" id="{4752C840-4EBF-4CA6-A00B-16F9B400BAD4}"/>
              </a:ext>
            </a:extLst>
          </p:cNvPr>
          <p:cNvSpPr/>
          <p:nvPr/>
        </p:nvSpPr>
        <p:spPr>
          <a:xfrm>
            <a:off x="6659244" y="2065712"/>
            <a:ext cx="514339" cy="19202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200" b="1" kern="0" dirty="0">
                <a:solidFill>
                  <a:sysClr val="windowText" lastClr="000000"/>
                </a:solidFill>
                <a:latin typeface="Arial"/>
              </a:rPr>
              <a:t>-</a:t>
            </a:r>
          </a:p>
        </p:txBody>
      </p:sp>
      <p:sp>
        <p:nvSpPr>
          <p:cNvPr id="215" name="Rectangle 214">
            <a:extLst>
              <a:ext uri="{FF2B5EF4-FFF2-40B4-BE49-F238E27FC236}">
                <a16:creationId xmlns:a16="http://schemas.microsoft.com/office/drawing/2014/main" id="{226E86EA-66AF-4565-91D3-5F60177F89CC}"/>
              </a:ext>
            </a:extLst>
          </p:cNvPr>
          <p:cNvSpPr/>
          <p:nvPr/>
        </p:nvSpPr>
        <p:spPr>
          <a:xfrm>
            <a:off x="8348630" y="2065711"/>
            <a:ext cx="514339" cy="19202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200" b="1" kern="0" dirty="0">
                <a:solidFill>
                  <a:sysClr val="windowText" lastClr="000000"/>
                </a:solidFill>
                <a:latin typeface="Arial"/>
              </a:rPr>
              <a:t>-</a:t>
            </a:r>
          </a:p>
        </p:txBody>
      </p:sp>
      <p:sp>
        <p:nvSpPr>
          <p:cNvPr id="216" name="Rectangle 215">
            <a:extLst>
              <a:ext uri="{FF2B5EF4-FFF2-40B4-BE49-F238E27FC236}">
                <a16:creationId xmlns:a16="http://schemas.microsoft.com/office/drawing/2014/main" id="{068BD388-CDA2-4F08-ABDE-C69D70CD874F}"/>
              </a:ext>
            </a:extLst>
          </p:cNvPr>
          <p:cNvSpPr/>
          <p:nvPr/>
        </p:nvSpPr>
        <p:spPr>
          <a:xfrm>
            <a:off x="10037997" y="2296140"/>
            <a:ext cx="514339" cy="19202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700" b="1" kern="0" dirty="0" err="1">
                <a:solidFill>
                  <a:sysClr val="windowText" lastClr="000000"/>
                </a:solidFill>
                <a:latin typeface="Arial"/>
              </a:rPr>
              <a:t>RDc</a:t>
            </a:r>
            <a:endParaRPr lang="en-US" sz="700" b="1" kern="0" dirty="0">
              <a:solidFill>
                <a:sysClr val="windowText" lastClr="000000"/>
              </a:solidFill>
              <a:latin typeface="Arial"/>
            </a:endParaRPr>
          </a:p>
        </p:txBody>
      </p:sp>
      <p:sp>
        <p:nvSpPr>
          <p:cNvPr id="217" name="Rectangle 216">
            <a:extLst>
              <a:ext uri="{FF2B5EF4-FFF2-40B4-BE49-F238E27FC236}">
                <a16:creationId xmlns:a16="http://schemas.microsoft.com/office/drawing/2014/main" id="{3B83D5AA-6E33-4083-B6E8-9F860BEFEDB7}"/>
              </a:ext>
            </a:extLst>
          </p:cNvPr>
          <p:cNvSpPr/>
          <p:nvPr/>
        </p:nvSpPr>
        <p:spPr>
          <a:xfrm>
            <a:off x="8346211" y="2296140"/>
            <a:ext cx="514339" cy="19202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700" b="1" kern="0" dirty="0" err="1">
                <a:solidFill>
                  <a:sysClr val="windowText" lastClr="000000"/>
                </a:solidFill>
                <a:latin typeface="Arial"/>
              </a:rPr>
              <a:t>RDc</a:t>
            </a:r>
            <a:endParaRPr lang="en-US" sz="700" b="1" kern="0" dirty="0">
              <a:solidFill>
                <a:sysClr val="windowText" lastClr="000000"/>
              </a:solidFill>
              <a:latin typeface="Arial"/>
            </a:endParaRPr>
          </a:p>
        </p:txBody>
      </p:sp>
      <p:sp>
        <p:nvSpPr>
          <p:cNvPr id="218" name="Rectangle 217">
            <a:extLst>
              <a:ext uri="{FF2B5EF4-FFF2-40B4-BE49-F238E27FC236}">
                <a16:creationId xmlns:a16="http://schemas.microsoft.com/office/drawing/2014/main" id="{DDC17238-5930-4012-B093-663D4B895DCC}"/>
              </a:ext>
            </a:extLst>
          </p:cNvPr>
          <p:cNvSpPr/>
          <p:nvPr/>
        </p:nvSpPr>
        <p:spPr>
          <a:xfrm>
            <a:off x="6654425" y="2296140"/>
            <a:ext cx="514339" cy="19202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700" b="1" kern="0" dirty="0" err="1">
                <a:solidFill>
                  <a:sysClr val="windowText" lastClr="000000"/>
                </a:solidFill>
                <a:latin typeface="Arial"/>
              </a:rPr>
              <a:t>RDc</a:t>
            </a:r>
            <a:endParaRPr lang="en-US" sz="700" b="1" kern="0" dirty="0">
              <a:solidFill>
                <a:sysClr val="windowText" lastClr="000000"/>
              </a:solidFill>
              <a:latin typeface="Arial"/>
            </a:endParaRPr>
          </a:p>
        </p:txBody>
      </p:sp>
      <p:sp>
        <p:nvSpPr>
          <p:cNvPr id="219" name="Rectangle 218">
            <a:extLst>
              <a:ext uri="{FF2B5EF4-FFF2-40B4-BE49-F238E27FC236}">
                <a16:creationId xmlns:a16="http://schemas.microsoft.com/office/drawing/2014/main" id="{D6F7607D-3C6F-4B57-B34A-585884C32318}"/>
              </a:ext>
            </a:extLst>
          </p:cNvPr>
          <p:cNvSpPr/>
          <p:nvPr/>
        </p:nvSpPr>
        <p:spPr>
          <a:xfrm>
            <a:off x="4962639" y="2296140"/>
            <a:ext cx="514339" cy="19202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700" b="1" kern="0" dirty="0" err="1">
                <a:solidFill>
                  <a:sysClr val="windowText" lastClr="000000"/>
                </a:solidFill>
                <a:latin typeface="Arial"/>
              </a:rPr>
              <a:t>RDc</a:t>
            </a:r>
            <a:endParaRPr lang="en-US" sz="700" b="1" kern="0" dirty="0">
              <a:solidFill>
                <a:sysClr val="windowText" lastClr="000000"/>
              </a:solidFill>
              <a:latin typeface="Arial"/>
            </a:endParaRPr>
          </a:p>
        </p:txBody>
      </p:sp>
      <p:cxnSp>
        <p:nvCxnSpPr>
          <p:cNvPr id="220" name="Straight Arrow Connector 219">
            <a:extLst>
              <a:ext uri="{FF2B5EF4-FFF2-40B4-BE49-F238E27FC236}">
                <a16:creationId xmlns:a16="http://schemas.microsoft.com/office/drawing/2014/main" id="{1183BF6C-68EE-4A59-8A22-0F6C839031E6}"/>
              </a:ext>
            </a:extLst>
          </p:cNvPr>
          <p:cNvCxnSpPr/>
          <p:nvPr/>
        </p:nvCxnSpPr>
        <p:spPr>
          <a:xfrm>
            <a:off x="4457814" y="3083355"/>
            <a:ext cx="5528880" cy="1588"/>
          </a:xfrm>
          <a:prstGeom prst="straightConnector1">
            <a:avLst/>
          </a:prstGeom>
          <a:noFill/>
          <a:ln w="25400" cap="flat" cmpd="sng" algn="ctr">
            <a:solidFill>
              <a:srgbClr val="3F3F3F"/>
            </a:solidFill>
            <a:prstDash val="solid"/>
            <a:headEnd type="triangle" w="med" len="med"/>
            <a:tailEnd type="triangle" w="med" len="med"/>
          </a:ln>
          <a:effectLst>
            <a:outerShdw blurRad="40000" dist="20000" dir="5400000" rotWithShape="0">
              <a:srgbClr val="000000">
                <a:alpha val="38000"/>
              </a:srgbClr>
            </a:outerShdw>
          </a:effectLst>
        </p:spPr>
      </p:cxnSp>
      <p:sp>
        <p:nvSpPr>
          <p:cNvPr id="221" name="TextBox 220">
            <a:extLst>
              <a:ext uri="{FF2B5EF4-FFF2-40B4-BE49-F238E27FC236}">
                <a16:creationId xmlns:a16="http://schemas.microsoft.com/office/drawing/2014/main" id="{20B04944-FF70-42BD-A9F2-B5530AA17892}"/>
              </a:ext>
            </a:extLst>
          </p:cNvPr>
          <p:cNvSpPr txBox="1"/>
          <p:nvPr/>
        </p:nvSpPr>
        <p:spPr>
          <a:xfrm>
            <a:off x="6044809" y="3160329"/>
            <a:ext cx="2354892" cy="461665"/>
          </a:xfrm>
          <a:prstGeom prst="rect">
            <a:avLst/>
          </a:prstGeom>
          <a:solidFill>
            <a:srgbClr val="FFFF99"/>
          </a:solidFill>
          <a:ln w="19050">
            <a:solidFill>
              <a:srgbClr val="000000"/>
            </a:solidFill>
          </a:ln>
          <a:effectLst>
            <a:innerShdw blurRad="63500" dist="50800" dir="2700000">
              <a:prstClr val="black">
                <a:alpha val="50000"/>
              </a:prstClr>
            </a:innerShdw>
          </a:effectLst>
        </p:spPr>
        <p:txBody>
          <a:bodyPr wrap="square" rtlCol="0">
            <a:spAutoFit/>
          </a:bodyPr>
          <a:lstStyle/>
          <a:p>
            <a:pPr algn="ctr" defTabSz="457200" fontAlgn="base">
              <a:spcBef>
                <a:spcPct val="0"/>
              </a:spcBef>
              <a:spcAft>
                <a:spcPct val="0"/>
              </a:spcAft>
              <a:defRPr/>
            </a:pPr>
            <a:r>
              <a:rPr lang="en-US" sz="1200" b="1" kern="0" dirty="0">
                <a:solidFill>
                  <a:prstClr val="black"/>
                </a:solidFill>
                <a:ea typeface="ＭＳ Ｐゴシック" pitchFamily="34" charset="-128"/>
                <a:cs typeface="Arial" charset="0"/>
              </a:rPr>
              <a:t>The read X operation has good mobility</a:t>
            </a:r>
          </a:p>
        </p:txBody>
      </p:sp>
      <p:sp>
        <p:nvSpPr>
          <p:cNvPr id="222" name="Right Arrow 115">
            <a:extLst>
              <a:ext uri="{FF2B5EF4-FFF2-40B4-BE49-F238E27FC236}">
                <a16:creationId xmlns:a16="http://schemas.microsoft.com/office/drawing/2014/main" id="{CD40E333-0D0E-48F2-AEFA-9C4C9A988658}"/>
              </a:ext>
            </a:extLst>
          </p:cNvPr>
          <p:cNvSpPr/>
          <p:nvPr/>
        </p:nvSpPr>
        <p:spPr>
          <a:xfrm>
            <a:off x="1898148" y="1201510"/>
            <a:ext cx="2354893" cy="614480"/>
          </a:xfrm>
          <a:prstGeom prst="rightArrow">
            <a:avLst>
              <a:gd name="adj1" fmla="val 50000"/>
              <a:gd name="adj2" fmla="val 31812"/>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endParaRPr lang="en-US" kern="0">
              <a:solidFill>
                <a:prstClr val="white"/>
              </a:solidFill>
              <a:latin typeface="Arial"/>
            </a:endParaRPr>
          </a:p>
        </p:txBody>
      </p:sp>
      <p:sp>
        <p:nvSpPr>
          <p:cNvPr id="223" name="TextBox 222">
            <a:extLst>
              <a:ext uri="{FF2B5EF4-FFF2-40B4-BE49-F238E27FC236}">
                <a16:creationId xmlns:a16="http://schemas.microsoft.com/office/drawing/2014/main" id="{58D99D88-C55C-4F90-AE64-D4C5601CA24F}"/>
              </a:ext>
            </a:extLst>
          </p:cNvPr>
          <p:cNvSpPr txBox="1"/>
          <p:nvPr/>
        </p:nvSpPr>
        <p:spPr>
          <a:xfrm>
            <a:off x="1983709" y="1354758"/>
            <a:ext cx="1548822" cy="307777"/>
          </a:xfrm>
          <a:prstGeom prst="rect">
            <a:avLst/>
          </a:prstGeom>
          <a:noFill/>
        </p:spPr>
        <p:txBody>
          <a:bodyPr wrap="none" rtlCol="0">
            <a:spAutoFit/>
          </a:bodyPr>
          <a:lstStyle/>
          <a:p>
            <a:pPr defTabSz="457200" fontAlgn="base">
              <a:spcBef>
                <a:spcPct val="0"/>
              </a:spcBef>
              <a:spcAft>
                <a:spcPct val="0"/>
              </a:spcAft>
            </a:pPr>
            <a:r>
              <a:rPr lang="en-US" sz="1400" dirty="0">
                <a:solidFill>
                  <a:prstClr val="black"/>
                </a:solidFill>
                <a:ea typeface="ＭＳ Ｐゴシック" pitchFamily="34" charset="-128"/>
                <a:cs typeface="Arial" charset="0"/>
              </a:rPr>
              <a:t>Default Schedule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Dependencies: Bad</a:t>
            </a:r>
          </a:p>
        </p:txBody>
      </p:sp>
      <p:sp>
        <p:nvSpPr>
          <p:cNvPr id="3" name="Content Placeholder 2"/>
          <p:cNvSpPr>
            <a:spLocks noGrp="1"/>
          </p:cNvSpPr>
          <p:nvPr>
            <p:ph idx="1"/>
          </p:nvPr>
        </p:nvSpPr>
        <p:spPr/>
        <p:txBody>
          <a:bodyPr>
            <a:normAutofit fontScale="62500" lnSpcReduction="20000"/>
          </a:bodyPr>
          <a:lstStyle/>
          <a:p>
            <a:endParaRPr lang="en-US" dirty="0"/>
          </a:p>
          <a:p>
            <a:endParaRPr lang="en-US" dirty="0"/>
          </a:p>
          <a:p>
            <a:endParaRPr lang="en-US" dirty="0"/>
          </a:p>
          <a:p>
            <a:pPr marL="0" indent="0">
              <a:buNone/>
            </a:pPr>
            <a:br>
              <a:rPr lang="en-US" dirty="0"/>
            </a:br>
            <a:endParaRPr lang="en-US" dirty="0"/>
          </a:p>
          <a:p>
            <a:endParaRPr lang="en-US" dirty="0"/>
          </a:p>
          <a:p>
            <a:endParaRPr lang="en-US" dirty="0"/>
          </a:p>
          <a:p>
            <a:r>
              <a:rPr lang="en-US" sz="2200" dirty="0"/>
              <a:t>Example of bad mobility</a:t>
            </a:r>
          </a:p>
          <a:p>
            <a:pPr lvl="1"/>
            <a:r>
              <a:rPr lang="en-US" sz="1900" dirty="0"/>
              <a:t>The final multiplication must occur before the read and final addition</a:t>
            </a:r>
          </a:p>
          <a:p>
            <a:pPr lvl="2"/>
            <a:r>
              <a:rPr lang="en-US" sz="1700" dirty="0"/>
              <a:t>It could occur in the same cycle if timing allows</a:t>
            </a:r>
          </a:p>
          <a:p>
            <a:pPr lvl="1"/>
            <a:r>
              <a:rPr lang="en-US" sz="1900" dirty="0"/>
              <a:t>Loops are rolled by default</a:t>
            </a:r>
          </a:p>
          <a:p>
            <a:pPr lvl="2"/>
            <a:r>
              <a:rPr lang="en-US" sz="1700" dirty="0"/>
              <a:t>Each iteration cannot start till the previous iteration completes</a:t>
            </a:r>
          </a:p>
          <a:p>
            <a:pPr lvl="2"/>
            <a:r>
              <a:rPr lang="en-US" sz="1700" dirty="0"/>
              <a:t>The final multiplication (in iteration 4) must wait for earlier iterations to complete</a:t>
            </a:r>
          </a:p>
          <a:p>
            <a:pPr lvl="1"/>
            <a:r>
              <a:rPr lang="en-US" sz="1900" dirty="0"/>
              <a:t>The structure of the code is forcing a particular schedule </a:t>
            </a:r>
          </a:p>
          <a:p>
            <a:pPr lvl="2"/>
            <a:r>
              <a:rPr lang="en-US" sz="1700" dirty="0"/>
              <a:t>There is little mobility for most operations</a:t>
            </a:r>
          </a:p>
          <a:p>
            <a:pPr lvl="1"/>
            <a:r>
              <a:rPr lang="en-US" sz="1900" dirty="0"/>
              <a:t>Optimizations allow loops to be unrolled giving greater freedom</a:t>
            </a:r>
            <a:endParaRPr lang="en-US" dirty="0"/>
          </a:p>
          <a:p>
            <a:pPr lvl="2"/>
            <a:endParaRPr lang="en-US" dirty="0"/>
          </a:p>
        </p:txBody>
      </p:sp>
      <p:sp>
        <p:nvSpPr>
          <p:cNvPr id="62" name="Slide Number Placeholder 61"/>
          <p:cNvSpPr>
            <a:spLocks noGrp="1"/>
          </p:cNvSpPr>
          <p:nvPr>
            <p:ph type="sldNum" sz="quarter" idx="10"/>
          </p:nvPr>
        </p:nvSpPr>
        <p:spPr/>
        <p:txBody>
          <a:bodyPr/>
          <a:lstStyle/>
          <a:p>
            <a:pPr>
              <a:defRPr/>
            </a:pPr>
            <a:r>
              <a:rPr lang="en-US" dirty="0"/>
              <a:t>Intro to HLS 11- </a:t>
            </a:r>
            <a:fld id="{060BD193-E118-4B16-863C-C8C12C675E3E}" type="slidenum">
              <a:rPr lang="en-US" smtClean="0"/>
              <a:pPr>
                <a:defRPr/>
              </a:pPr>
              <a:t>25</a:t>
            </a:fld>
            <a:endParaRPr lang="en-US" dirty="0"/>
          </a:p>
        </p:txBody>
      </p:sp>
      <p:sp>
        <p:nvSpPr>
          <p:cNvPr id="114" name="TextBox 113">
            <a:extLst>
              <a:ext uri="{FF2B5EF4-FFF2-40B4-BE49-F238E27FC236}">
                <a16:creationId xmlns:a16="http://schemas.microsoft.com/office/drawing/2014/main" id="{EE042BBD-E955-47C0-BACA-CE31B4821CCB}"/>
              </a:ext>
            </a:extLst>
          </p:cNvPr>
          <p:cNvSpPr txBox="1"/>
          <p:nvPr/>
        </p:nvSpPr>
        <p:spPr>
          <a:xfrm>
            <a:off x="259961" y="1432094"/>
            <a:ext cx="3532340" cy="2246769"/>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p:spPr>
        <p:txBody>
          <a:bodyPr wrap="square" rtlCol="0">
            <a:spAutoFit/>
          </a:bodyPr>
          <a:lstStyle/>
          <a:p>
            <a:pPr defTabSz="457200" fontAlgn="base">
              <a:spcBef>
                <a:spcPct val="0"/>
              </a:spcBef>
              <a:spcAft>
                <a:spcPct val="0"/>
              </a:spcAft>
              <a:defRPr/>
            </a:pPr>
            <a:r>
              <a:rPr lang="en-US" sz="1000" kern="0" dirty="0">
                <a:solidFill>
                  <a:prstClr val="black"/>
                </a:solidFill>
                <a:latin typeface="Arial"/>
              </a:rPr>
              <a:t>void fir (</a:t>
            </a:r>
          </a:p>
          <a:p>
            <a:pPr defTabSz="457200" fontAlgn="base">
              <a:spcBef>
                <a:spcPct val="0"/>
              </a:spcBef>
              <a:spcAft>
                <a:spcPct val="0"/>
              </a:spcAft>
              <a:defRPr/>
            </a:pPr>
            <a:r>
              <a:rPr lang="en-US" sz="1000" kern="0" dirty="0">
                <a:solidFill>
                  <a:prstClr val="black"/>
                </a:solidFill>
                <a:latin typeface="Arial"/>
              </a:rPr>
              <a:t> …</a:t>
            </a:r>
          </a:p>
          <a:p>
            <a:pPr defTabSz="457200" fontAlgn="base">
              <a:spcBef>
                <a:spcPct val="0"/>
              </a:spcBef>
              <a:spcAft>
                <a:spcPct val="0"/>
              </a:spcAft>
              <a:defRPr/>
            </a:pPr>
            <a:r>
              <a:rPr lang="en-US" sz="1000" kern="0" dirty="0">
                <a:solidFill>
                  <a:prstClr val="black"/>
                </a:solidFill>
                <a:latin typeface="Arial"/>
              </a:rPr>
              <a:t>acc=0;</a:t>
            </a:r>
          </a:p>
          <a:p>
            <a:pPr defTabSz="457200" fontAlgn="base">
              <a:spcBef>
                <a:spcPct val="0"/>
              </a:spcBef>
              <a:spcAft>
                <a:spcPct val="0"/>
              </a:spcAft>
              <a:defRPr/>
            </a:pPr>
            <a:r>
              <a:rPr lang="en-US" sz="1000" kern="0" dirty="0">
                <a:solidFill>
                  <a:prstClr val="black"/>
                </a:solidFill>
                <a:latin typeface="Arial"/>
              </a:rPr>
              <a:t>  loop: for (</a:t>
            </a:r>
            <a:r>
              <a:rPr lang="en-US" sz="1000" kern="0" dirty="0" err="1">
                <a:solidFill>
                  <a:prstClr val="black"/>
                </a:solidFill>
                <a:latin typeface="Arial"/>
              </a:rPr>
              <a:t>i</a:t>
            </a:r>
            <a:r>
              <a:rPr lang="en-US" sz="1000" kern="0" dirty="0">
                <a:solidFill>
                  <a:prstClr val="black"/>
                </a:solidFill>
                <a:latin typeface="Arial"/>
              </a:rPr>
              <a:t>=3;i&gt;=0;i--) {</a:t>
            </a:r>
          </a:p>
          <a:p>
            <a:pPr defTabSz="457200" fontAlgn="base">
              <a:spcBef>
                <a:spcPct val="0"/>
              </a:spcBef>
              <a:spcAft>
                <a:spcPct val="0"/>
              </a:spcAft>
              <a:defRPr/>
            </a:pPr>
            <a:r>
              <a:rPr lang="en-US" sz="1000" kern="0" dirty="0">
                <a:solidFill>
                  <a:prstClr val="black"/>
                </a:solidFill>
                <a:latin typeface="Arial"/>
              </a:rPr>
              <a:t>     if (</a:t>
            </a:r>
            <a:r>
              <a:rPr lang="en-US" sz="1000" kern="0" dirty="0" err="1">
                <a:solidFill>
                  <a:prstClr val="black"/>
                </a:solidFill>
                <a:latin typeface="Arial"/>
              </a:rPr>
              <a:t>i</a:t>
            </a:r>
            <a:r>
              <a:rPr lang="en-US" sz="1000" kern="0" dirty="0">
                <a:solidFill>
                  <a:prstClr val="black"/>
                </a:solidFill>
                <a:latin typeface="Arial"/>
              </a:rPr>
              <a:t>==0) {</a:t>
            </a:r>
          </a:p>
          <a:p>
            <a:pPr defTabSz="457200" fontAlgn="base">
              <a:spcBef>
                <a:spcPct val="0"/>
              </a:spcBef>
              <a:spcAft>
                <a:spcPct val="0"/>
              </a:spcAft>
              <a:defRPr/>
            </a:pPr>
            <a:r>
              <a:rPr lang="en-US" sz="1000" kern="0" dirty="0">
                <a:solidFill>
                  <a:prstClr val="black"/>
                </a:solidFill>
                <a:latin typeface="Arial"/>
              </a:rPr>
              <a:t>       acc+=</a:t>
            </a:r>
            <a:r>
              <a:rPr lang="en-US" sz="1050" b="1" kern="0" dirty="0">
                <a:solidFill>
                  <a:prstClr val="black"/>
                </a:solidFill>
                <a:latin typeface="Arial"/>
              </a:rPr>
              <a:t>x</a:t>
            </a:r>
            <a:r>
              <a:rPr lang="en-US" sz="1000" kern="0" dirty="0">
                <a:solidFill>
                  <a:prstClr val="black"/>
                </a:solidFill>
                <a:latin typeface="Arial"/>
              </a:rPr>
              <a:t>*c[0];</a:t>
            </a:r>
          </a:p>
          <a:p>
            <a:pPr defTabSz="457200" fontAlgn="base">
              <a:spcBef>
                <a:spcPct val="0"/>
              </a:spcBef>
              <a:spcAft>
                <a:spcPct val="0"/>
              </a:spcAft>
              <a:defRPr/>
            </a:pPr>
            <a:r>
              <a:rPr lang="en-US" sz="1000" kern="0" dirty="0">
                <a:solidFill>
                  <a:prstClr val="black"/>
                </a:solidFill>
                <a:latin typeface="Arial"/>
              </a:rPr>
              <a:t>       </a:t>
            </a:r>
            <a:r>
              <a:rPr lang="en-US" sz="1000" kern="0" dirty="0" err="1">
                <a:solidFill>
                  <a:prstClr val="black"/>
                </a:solidFill>
                <a:latin typeface="Arial"/>
              </a:rPr>
              <a:t>shift_reg</a:t>
            </a:r>
            <a:r>
              <a:rPr lang="en-US" sz="1000" kern="0" dirty="0">
                <a:solidFill>
                  <a:prstClr val="black"/>
                </a:solidFill>
                <a:latin typeface="Arial"/>
              </a:rPr>
              <a:t>[0]=x;</a:t>
            </a:r>
          </a:p>
          <a:p>
            <a:pPr defTabSz="457200" fontAlgn="base">
              <a:spcBef>
                <a:spcPct val="0"/>
              </a:spcBef>
              <a:spcAft>
                <a:spcPct val="0"/>
              </a:spcAft>
              <a:defRPr/>
            </a:pPr>
            <a:r>
              <a:rPr lang="en-US" sz="1000" kern="0" dirty="0">
                <a:solidFill>
                  <a:prstClr val="black"/>
                </a:solidFill>
                <a:latin typeface="Arial"/>
              </a:rPr>
              <a:t>     } else {</a:t>
            </a:r>
          </a:p>
          <a:p>
            <a:pPr defTabSz="457200" fontAlgn="base">
              <a:spcBef>
                <a:spcPct val="0"/>
              </a:spcBef>
              <a:spcAft>
                <a:spcPct val="0"/>
              </a:spcAft>
              <a:defRPr/>
            </a:pPr>
            <a:r>
              <a:rPr lang="en-US" sz="1000" kern="0" dirty="0">
                <a:solidFill>
                  <a:prstClr val="black"/>
                </a:solidFill>
                <a:latin typeface="Arial"/>
              </a:rPr>
              <a:t>        </a:t>
            </a:r>
            <a:r>
              <a:rPr lang="en-US" sz="1000" kern="0" dirty="0" err="1">
                <a:solidFill>
                  <a:prstClr val="black"/>
                </a:solidFill>
                <a:latin typeface="Arial"/>
              </a:rPr>
              <a:t>shift_reg</a:t>
            </a:r>
            <a:r>
              <a:rPr lang="en-US" sz="1000" kern="0" dirty="0">
                <a:solidFill>
                  <a:prstClr val="black"/>
                </a:solidFill>
                <a:latin typeface="Arial"/>
              </a:rPr>
              <a:t>[</a:t>
            </a:r>
            <a:r>
              <a:rPr lang="en-US" sz="1000" kern="0" dirty="0" err="1">
                <a:solidFill>
                  <a:prstClr val="black"/>
                </a:solidFill>
                <a:latin typeface="Arial"/>
              </a:rPr>
              <a:t>i</a:t>
            </a:r>
            <a:r>
              <a:rPr lang="en-US" sz="1000" kern="0" dirty="0">
                <a:solidFill>
                  <a:prstClr val="black"/>
                </a:solidFill>
                <a:latin typeface="Arial"/>
              </a:rPr>
              <a:t>]=</a:t>
            </a:r>
            <a:r>
              <a:rPr lang="en-US" sz="1000" kern="0" dirty="0" err="1">
                <a:solidFill>
                  <a:prstClr val="black"/>
                </a:solidFill>
                <a:latin typeface="Arial"/>
              </a:rPr>
              <a:t>shift_reg</a:t>
            </a:r>
            <a:r>
              <a:rPr lang="en-US" sz="1000" kern="0" dirty="0">
                <a:solidFill>
                  <a:prstClr val="black"/>
                </a:solidFill>
                <a:latin typeface="Arial"/>
              </a:rPr>
              <a:t>[i-1];	        </a:t>
            </a:r>
          </a:p>
          <a:p>
            <a:pPr defTabSz="457200" fontAlgn="base">
              <a:spcBef>
                <a:spcPct val="0"/>
              </a:spcBef>
              <a:spcAft>
                <a:spcPct val="0"/>
              </a:spcAft>
              <a:defRPr/>
            </a:pPr>
            <a:r>
              <a:rPr lang="en-US" sz="1000" kern="0" dirty="0">
                <a:solidFill>
                  <a:prstClr val="black"/>
                </a:solidFill>
                <a:latin typeface="Arial"/>
              </a:rPr>
              <a:t>        acc+=</a:t>
            </a:r>
            <a:r>
              <a:rPr lang="en-US" sz="1000" kern="0" dirty="0" err="1">
                <a:solidFill>
                  <a:prstClr val="black"/>
                </a:solidFill>
                <a:latin typeface="Arial"/>
              </a:rPr>
              <a:t>shift_reg</a:t>
            </a:r>
            <a:r>
              <a:rPr lang="en-US" sz="1000" kern="0" dirty="0">
                <a:solidFill>
                  <a:prstClr val="black"/>
                </a:solidFill>
                <a:latin typeface="Arial"/>
              </a:rPr>
              <a:t>[</a:t>
            </a:r>
            <a:r>
              <a:rPr lang="en-US" sz="1000" kern="0" dirty="0" err="1">
                <a:solidFill>
                  <a:prstClr val="black"/>
                </a:solidFill>
                <a:latin typeface="Arial"/>
              </a:rPr>
              <a:t>i</a:t>
            </a:r>
            <a:r>
              <a:rPr lang="en-US" sz="1000" kern="0" dirty="0">
                <a:solidFill>
                  <a:prstClr val="black"/>
                </a:solidFill>
                <a:latin typeface="Arial"/>
              </a:rPr>
              <a:t>]*c[</a:t>
            </a:r>
            <a:r>
              <a:rPr lang="en-US" sz="1000" kern="0" dirty="0" err="1">
                <a:solidFill>
                  <a:prstClr val="black"/>
                </a:solidFill>
                <a:latin typeface="Arial"/>
              </a:rPr>
              <a:t>i</a:t>
            </a:r>
            <a:r>
              <a:rPr lang="en-US" sz="1000" kern="0" dirty="0">
                <a:solidFill>
                  <a:prstClr val="black"/>
                </a:solidFill>
                <a:latin typeface="Arial"/>
              </a:rPr>
              <a:t>];</a:t>
            </a:r>
          </a:p>
          <a:p>
            <a:pPr defTabSz="457200" fontAlgn="base">
              <a:spcBef>
                <a:spcPct val="0"/>
              </a:spcBef>
              <a:spcAft>
                <a:spcPct val="0"/>
              </a:spcAft>
              <a:defRPr/>
            </a:pPr>
            <a:r>
              <a:rPr lang="en-US" sz="1000" kern="0" dirty="0">
                <a:solidFill>
                  <a:prstClr val="black"/>
                </a:solidFill>
                <a:latin typeface="Arial"/>
              </a:rPr>
              <a:t>     }</a:t>
            </a:r>
          </a:p>
          <a:p>
            <a:pPr defTabSz="457200" fontAlgn="base">
              <a:spcBef>
                <a:spcPct val="0"/>
              </a:spcBef>
              <a:spcAft>
                <a:spcPct val="0"/>
              </a:spcAft>
              <a:defRPr/>
            </a:pPr>
            <a:r>
              <a:rPr lang="en-US" sz="1000" kern="0" dirty="0">
                <a:solidFill>
                  <a:prstClr val="black"/>
                </a:solidFill>
                <a:latin typeface="Arial"/>
              </a:rPr>
              <a:t>  }</a:t>
            </a:r>
          </a:p>
          <a:p>
            <a:pPr defTabSz="457200" fontAlgn="base">
              <a:spcBef>
                <a:spcPct val="0"/>
              </a:spcBef>
              <a:spcAft>
                <a:spcPct val="0"/>
              </a:spcAft>
              <a:defRPr/>
            </a:pPr>
            <a:r>
              <a:rPr lang="en-US" sz="1000" kern="0" dirty="0">
                <a:solidFill>
                  <a:prstClr val="black"/>
                </a:solidFill>
                <a:latin typeface="Arial"/>
              </a:rPr>
              <a:t>  *y=acc;</a:t>
            </a:r>
          </a:p>
          <a:p>
            <a:pPr defTabSz="457200" fontAlgn="base">
              <a:spcBef>
                <a:spcPct val="0"/>
              </a:spcBef>
              <a:spcAft>
                <a:spcPct val="0"/>
              </a:spcAft>
              <a:defRPr/>
            </a:pPr>
            <a:r>
              <a:rPr lang="en-US" sz="1000" kern="0" dirty="0">
                <a:solidFill>
                  <a:prstClr val="black"/>
                </a:solidFill>
                <a:latin typeface="Arial"/>
              </a:rPr>
              <a:t>}</a:t>
            </a:r>
          </a:p>
        </p:txBody>
      </p:sp>
      <p:sp>
        <p:nvSpPr>
          <p:cNvPr id="117" name="Rectangle 116">
            <a:extLst>
              <a:ext uri="{FF2B5EF4-FFF2-40B4-BE49-F238E27FC236}">
                <a16:creationId xmlns:a16="http://schemas.microsoft.com/office/drawing/2014/main" id="{907D6AD9-6180-4EAF-A3E6-502DBC5B5FB4}"/>
              </a:ext>
            </a:extLst>
          </p:cNvPr>
          <p:cNvSpPr/>
          <p:nvPr/>
        </p:nvSpPr>
        <p:spPr>
          <a:xfrm>
            <a:off x="5532977" y="2065700"/>
            <a:ext cx="514339" cy="19202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200" b="1" kern="0" dirty="0">
                <a:solidFill>
                  <a:sysClr val="windowText" lastClr="000000"/>
                </a:solidFill>
                <a:latin typeface="Arial"/>
              </a:rPr>
              <a:t>+</a:t>
            </a:r>
          </a:p>
        </p:txBody>
      </p:sp>
      <p:sp>
        <p:nvSpPr>
          <p:cNvPr id="119" name="Rectangle 118">
            <a:extLst>
              <a:ext uri="{FF2B5EF4-FFF2-40B4-BE49-F238E27FC236}">
                <a16:creationId xmlns:a16="http://schemas.microsoft.com/office/drawing/2014/main" id="{C1A6576E-CDD2-47D6-B24B-4932C16C9AC5}"/>
              </a:ext>
            </a:extLst>
          </p:cNvPr>
          <p:cNvSpPr/>
          <p:nvPr/>
        </p:nvSpPr>
        <p:spPr>
          <a:xfrm>
            <a:off x="4406724" y="1835120"/>
            <a:ext cx="514339" cy="19202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200" b="1" kern="0" dirty="0">
                <a:solidFill>
                  <a:sysClr val="windowText" lastClr="000000"/>
                </a:solidFill>
                <a:latin typeface="Arial"/>
              </a:rPr>
              <a:t>==</a:t>
            </a:r>
          </a:p>
        </p:txBody>
      </p:sp>
      <p:sp>
        <p:nvSpPr>
          <p:cNvPr id="120" name="Rectangle 119">
            <a:extLst>
              <a:ext uri="{FF2B5EF4-FFF2-40B4-BE49-F238E27FC236}">
                <a16:creationId xmlns:a16="http://schemas.microsoft.com/office/drawing/2014/main" id="{786E0012-8F77-4B96-B5D7-4C6892A4E8B5}"/>
              </a:ext>
            </a:extLst>
          </p:cNvPr>
          <p:cNvSpPr/>
          <p:nvPr/>
        </p:nvSpPr>
        <p:spPr>
          <a:xfrm>
            <a:off x="4406724" y="2065700"/>
            <a:ext cx="514339" cy="19202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200" b="1" kern="0" dirty="0">
                <a:solidFill>
                  <a:sysClr val="windowText" lastClr="000000"/>
                </a:solidFill>
                <a:latin typeface="Arial"/>
              </a:rPr>
              <a:t>-</a:t>
            </a:r>
          </a:p>
        </p:txBody>
      </p:sp>
      <p:sp>
        <p:nvSpPr>
          <p:cNvPr id="121" name="Rectangle 120">
            <a:extLst>
              <a:ext uri="{FF2B5EF4-FFF2-40B4-BE49-F238E27FC236}">
                <a16:creationId xmlns:a16="http://schemas.microsoft.com/office/drawing/2014/main" id="{81D45D4D-8FE4-426E-A822-392C78CBB808}"/>
              </a:ext>
            </a:extLst>
          </p:cNvPr>
          <p:cNvSpPr/>
          <p:nvPr/>
        </p:nvSpPr>
        <p:spPr>
          <a:xfrm>
            <a:off x="5530551" y="1835120"/>
            <a:ext cx="514339" cy="19202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200" b="1" kern="0" dirty="0">
                <a:solidFill>
                  <a:sysClr val="windowText" lastClr="000000"/>
                </a:solidFill>
                <a:latin typeface="Arial"/>
              </a:rPr>
              <a:t>&gt;=</a:t>
            </a:r>
          </a:p>
        </p:txBody>
      </p:sp>
      <p:sp>
        <p:nvSpPr>
          <p:cNvPr id="122" name="Rectangle 121">
            <a:extLst>
              <a:ext uri="{FF2B5EF4-FFF2-40B4-BE49-F238E27FC236}">
                <a16:creationId xmlns:a16="http://schemas.microsoft.com/office/drawing/2014/main" id="{84CA332E-A8DD-4727-82D9-E042D362FEE0}"/>
              </a:ext>
            </a:extLst>
          </p:cNvPr>
          <p:cNvSpPr/>
          <p:nvPr/>
        </p:nvSpPr>
        <p:spPr>
          <a:xfrm>
            <a:off x="10037990" y="2065700"/>
            <a:ext cx="514339" cy="19202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700" b="1" kern="0" dirty="0" err="1">
                <a:solidFill>
                  <a:sysClr val="windowText" lastClr="000000"/>
                </a:solidFill>
                <a:latin typeface="Arial"/>
              </a:rPr>
              <a:t>RDx</a:t>
            </a:r>
            <a:endParaRPr lang="en-US" sz="700" b="1" kern="0" dirty="0">
              <a:solidFill>
                <a:sysClr val="windowText" lastClr="000000"/>
              </a:solidFill>
              <a:latin typeface="Arial"/>
            </a:endParaRPr>
          </a:p>
        </p:txBody>
      </p:sp>
      <p:sp>
        <p:nvSpPr>
          <p:cNvPr id="123" name="Rectangle 122">
            <a:extLst>
              <a:ext uri="{FF2B5EF4-FFF2-40B4-BE49-F238E27FC236}">
                <a16:creationId xmlns:a16="http://schemas.microsoft.com/office/drawing/2014/main" id="{210E93E5-96BE-4033-A071-BCA5C9B91228}"/>
              </a:ext>
            </a:extLst>
          </p:cNvPr>
          <p:cNvSpPr/>
          <p:nvPr/>
        </p:nvSpPr>
        <p:spPr>
          <a:xfrm>
            <a:off x="4969850" y="1835120"/>
            <a:ext cx="514339" cy="19202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600" b="1" kern="0" dirty="0">
                <a:solidFill>
                  <a:sysClr val="windowText" lastClr="000000"/>
                </a:solidFill>
                <a:latin typeface="Arial"/>
              </a:rPr>
              <a:t>*</a:t>
            </a:r>
          </a:p>
        </p:txBody>
      </p:sp>
      <p:grpSp>
        <p:nvGrpSpPr>
          <p:cNvPr id="125" name="Group 71">
            <a:extLst>
              <a:ext uri="{FF2B5EF4-FFF2-40B4-BE49-F238E27FC236}">
                <a16:creationId xmlns:a16="http://schemas.microsoft.com/office/drawing/2014/main" id="{7B650229-074F-4580-960D-71FB11FB94DA}"/>
              </a:ext>
            </a:extLst>
          </p:cNvPr>
          <p:cNvGrpSpPr/>
          <p:nvPr/>
        </p:nvGrpSpPr>
        <p:grpSpPr>
          <a:xfrm>
            <a:off x="4406623" y="1643094"/>
            <a:ext cx="563125" cy="115214"/>
            <a:chOff x="-66694" y="1130300"/>
            <a:chExt cx="533401" cy="228600"/>
          </a:xfrm>
          <a:effectLst>
            <a:outerShdw blurRad="50800" dist="38100" dir="2700000" algn="tl" rotWithShape="0">
              <a:prstClr val="black">
                <a:alpha val="40000"/>
              </a:prstClr>
            </a:outerShdw>
          </a:effectLst>
        </p:grpSpPr>
        <p:cxnSp>
          <p:nvCxnSpPr>
            <p:cNvPr id="126" name="Straight Connector 125">
              <a:extLst>
                <a:ext uri="{FF2B5EF4-FFF2-40B4-BE49-F238E27FC236}">
                  <a16:creationId xmlns:a16="http://schemas.microsoft.com/office/drawing/2014/main" id="{403F9FB8-C11C-4607-9A4A-EF6F70BAA3CB}"/>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27" name="Straight Connector 126">
              <a:extLst>
                <a:ext uri="{FF2B5EF4-FFF2-40B4-BE49-F238E27FC236}">
                  <a16:creationId xmlns:a16="http://schemas.microsoft.com/office/drawing/2014/main" id="{913DF008-6341-42DF-B797-67A08DBFE6D0}"/>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29" name="Straight Connector 128">
              <a:extLst>
                <a:ext uri="{FF2B5EF4-FFF2-40B4-BE49-F238E27FC236}">
                  <a16:creationId xmlns:a16="http://schemas.microsoft.com/office/drawing/2014/main" id="{B7C1EE4C-1429-432B-B650-7FB535902B9A}"/>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30" name="Straight Connector 129">
              <a:extLst>
                <a:ext uri="{FF2B5EF4-FFF2-40B4-BE49-F238E27FC236}">
                  <a16:creationId xmlns:a16="http://schemas.microsoft.com/office/drawing/2014/main" id="{B4C52B33-072B-46BA-8893-15DC3866D14B}"/>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131" name="Group 71">
            <a:extLst>
              <a:ext uri="{FF2B5EF4-FFF2-40B4-BE49-F238E27FC236}">
                <a16:creationId xmlns:a16="http://schemas.microsoft.com/office/drawing/2014/main" id="{7415A96D-2E4D-4F31-8382-72DF25414F47}"/>
              </a:ext>
            </a:extLst>
          </p:cNvPr>
          <p:cNvGrpSpPr/>
          <p:nvPr/>
        </p:nvGrpSpPr>
        <p:grpSpPr>
          <a:xfrm>
            <a:off x="4969747" y="1643095"/>
            <a:ext cx="563125" cy="115214"/>
            <a:chOff x="-66694" y="1130300"/>
            <a:chExt cx="533401" cy="228600"/>
          </a:xfrm>
          <a:effectLst>
            <a:outerShdw blurRad="50800" dist="38100" dir="2700000" algn="tl" rotWithShape="0">
              <a:prstClr val="black">
                <a:alpha val="40000"/>
              </a:prstClr>
            </a:outerShdw>
          </a:effectLst>
        </p:grpSpPr>
        <p:cxnSp>
          <p:nvCxnSpPr>
            <p:cNvPr id="132" name="Straight Connector 131">
              <a:extLst>
                <a:ext uri="{FF2B5EF4-FFF2-40B4-BE49-F238E27FC236}">
                  <a16:creationId xmlns:a16="http://schemas.microsoft.com/office/drawing/2014/main" id="{05568629-8119-402B-965D-29AF3640AFCF}"/>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33" name="Straight Connector 132">
              <a:extLst>
                <a:ext uri="{FF2B5EF4-FFF2-40B4-BE49-F238E27FC236}">
                  <a16:creationId xmlns:a16="http://schemas.microsoft.com/office/drawing/2014/main" id="{DA82EB23-11E8-45C2-83D7-AD567F8574DB}"/>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34" name="Straight Connector 133">
              <a:extLst>
                <a:ext uri="{FF2B5EF4-FFF2-40B4-BE49-F238E27FC236}">
                  <a16:creationId xmlns:a16="http://schemas.microsoft.com/office/drawing/2014/main" id="{18EBD700-713C-4164-981C-3A7CB66CBA02}"/>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35" name="Straight Connector 134">
              <a:extLst>
                <a:ext uri="{FF2B5EF4-FFF2-40B4-BE49-F238E27FC236}">
                  <a16:creationId xmlns:a16="http://schemas.microsoft.com/office/drawing/2014/main" id="{7F288BFD-92A9-4707-BC45-8AE4CFBE0270}"/>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136" name="Group 71">
            <a:extLst>
              <a:ext uri="{FF2B5EF4-FFF2-40B4-BE49-F238E27FC236}">
                <a16:creationId xmlns:a16="http://schemas.microsoft.com/office/drawing/2014/main" id="{CB6964FC-D2E4-4155-A29F-02A004501158}"/>
              </a:ext>
            </a:extLst>
          </p:cNvPr>
          <p:cNvGrpSpPr/>
          <p:nvPr/>
        </p:nvGrpSpPr>
        <p:grpSpPr>
          <a:xfrm>
            <a:off x="5532871" y="1643096"/>
            <a:ext cx="563125" cy="115214"/>
            <a:chOff x="-66694" y="1130300"/>
            <a:chExt cx="533401" cy="228600"/>
          </a:xfrm>
          <a:solidFill>
            <a:srgbClr val="92D050"/>
          </a:solidFill>
          <a:effectLst>
            <a:outerShdw blurRad="50800" dist="38100" dir="2700000" algn="tl" rotWithShape="0">
              <a:prstClr val="black">
                <a:alpha val="40000"/>
              </a:prstClr>
            </a:outerShdw>
          </a:effectLst>
        </p:grpSpPr>
        <p:cxnSp>
          <p:nvCxnSpPr>
            <p:cNvPr id="137" name="Straight Connector 136">
              <a:extLst>
                <a:ext uri="{FF2B5EF4-FFF2-40B4-BE49-F238E27FC236}">
                  <a16:creationId xmlns:a16="http://schemas.microsoft.com/office/drawing/2014/main" id="{938FE348-3A99-406C-BBCE-50DC3ED9A455}"/>
                </a:ext>
              </a:extLst>
            </p:cNvPr>
            <p:cNvCxnSpPr/>
            <p:nvPr/>
          </p:nvCxnSpPr>
          <p:spPr>
            <a:xfrm>
              <a:off x="-66693" y="1130300"/>
              <a:ext cx="266700" cy="0"/>
            </a:xfrm>
            <a:prstGeom prst="line">
              <a:avLst/>
            </a:prstGeom>
            <a:grp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38" name="Straight Connector 137">
              <a:extLst>
                <a:ext uri="{FF2B5EF4-FFF2-40B4-BE49-F238E27FC236}">
                  <a16:creationId xmlns:a16="http://schemas.microsoft.com/office/drawing/2014/main" id="{F5257EE2-12FA-4180-8D79-38DD3B4B8918}"/>
                </a:ext>
              </a:extLst>
            </p:cNvPr>
            <p:cNvCxnSpPr/>
            <p:nvPr/>
          </p:nvCxnSpPr>
          <p:spPr>
            <a:xfrm rot="5400000">
              <a:off x="85707" y="1244600"/>
              <a:ext cx="228600" cy="0"/>
            </a:xfrm>
            <a:prstGeom prst="line">
              <a:avLst/>
            </a:prstGeom>
            <a:grp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39" name="Straight Connector 138">
              <a:extLst>
                <a:ext uri="{FF2B5EF4-FFF2-40B4-BE49-F238E27FC236}">
                  <a16:creationId xmlns:a16="http://schemas.microsoft.com/office/drawing/2014/main" id="{F673DACD-77E3-4A8F-A99D-C90FC2CB8486}"/>
                </a:ext>
              </a:extLst>
            </p:cNvPr>
            <p:cNvCxnSpPr/>
            <p:nvPr/>
          </p:nvCxnSpPr>
          <p:spPr>
            <a:xfrm rot="5400000">
              <a:off x="-180994" y="1244600"/>
              <a:ext cx="228600" cy="0"/>
            </a:xfrm>
            <a:prstGeom prst="line">
              <a:avLst/>
            </a:prstGeom>
            <a:grp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40" name="Straight Connector 139">
              <a:extLst>
                <a:ext uri="{FF2B5EF4-FFF2-40B4-BE49-F238E27FC236}">
                  <a16:creationId xmlns:a16="http://schemas.microsoft.com/office/drawing/2014/main" id="{65559B05-66F8-4C0C-BF3C-DB976172E7D4}"/>
                </a:ext>
              </a:extLst>
            </p:cNvPr>
            <p:cNvCxnSpPr/>
            <p:nvPr/>
          </p:nvCxnSpPr>
          <p:spPr>
            <a:xfrm>
              <a:off x="200007" y="1358900"/>
              <a:ext cx="266700" cy="0"/>
            </a:xfrm>
            <a:prstGeom prst="line">
              <a:avLst/>
            </a:prstGeom>
            <a:grpFill/>
            <a:ln w="25400" cap="flat" cmpd="sng" algn="ctr">
              <a:solidFill>
                <a:srgbClr val="008CA8"/>
              </a:solidFill>
              <a:prstDash val="solid"/>
            </a:ln>
            <a:effectLst>
              <a:outerShdw blurRad="40000" dist="20000" dir="5400000" rotWithShape="0">
                <a:srgbClr val="000000">
                  <a:alpha val="38000"/>
                </a:srgbClr>
              </a:outerShdw>
            </a:effectLst>
          </p:spPr>
        </p:cxnSp>
      </p:grpSp>
      <p:sp>
        <p:nvSpPr>
          <p:cNvPr id="141" name="Rectangle 140">
            <a:extLst>
              <a:ext uri="{FF2B5EF4-FFF2-40B4-BE49-F238E27FC236}">
                <a16:creationId xmlns:a16="http://schemas.microsoft.com/office/drawing/2014/main" id="{44CEC109-97FD-4FA7-A848-4A8BE75E4F83}"/>
              </a:ext>
            </a:extLst>
          </p:cNvPr>
          <p:cNvSpPr/>
          <p:nvPr/>
        </p:nvSpPr>
        <p:spPr>
          <a:xfrm>
            <a:off x="7222364" y="2065699"/>
            <a:ext cx="514339" cy="19202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200" b="1" kern="0" dirty="0">
                <a:solidFill>
                  <a:sysClr val="windowText" lastClr="000000"/>
                </a:solidFill>
                <a:latin typeface="Arial"/>
              </a:rPr>
              <a:t>+</a:t>
            </a:r>
          </a:p>
        </p:txBody>
      </p:sp>
      <p:sp>
        <p:nvSpPr>
          <p:cNvPr id="142" name="Rectangle 141">
            <a:extLst>
              <a:ext uri="{FF2B5EF4-FFF2-40B4-BE49-F238E27FC236}">
                <a16:creationId xmlns:a16="http://schemas.microsoft.com/office/drawing/2014/main" id="{C1496333-192C-4051-B31E-C8481091EB31}"/>
              </a:ext>
            </a:extLst>
          </p:cNvPr>
          <p:cNvSpPr/>
          <p:nvPr/>
        </p:nvSpPr>
        <p:spPr>
          <a:xfrm>
            <a:off x="6096110" y="1835120"/>
            <a:ext cx="514339" cy="19202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200" b="1" kern="0" dirty="0">
                <a:solidFill>
                  <a:sysClr val="windowText" lastClr="000000"/>
                </a:solidFill>
                <a:latin typeface="Arial"/>
              </a:rPr>
              <a:t>==</a:t>
            </a:r>
          </a:p>
        </p:txBody>
      </p:sp>
      <p:sp>
        <p:nvSpPr>
          <p:cNvPr id="143" name="Rectangle 142">
            <a:extLst>
              <a:ext uri="{FF2B5EF4-FFF2-40B4-BE49-F238E27FC236}">
                <a16:creationId xmlns:a16="http://schemas.microsoft.com/office/drawing/2014/main" id="{B47B0FB5-B14B-42CA-9C72-D60142941598}"/>
              </a:ext>
            </a:extLst>
          </p:cNvPr>
          <p:cNvSpPr/>
          <p:nvPr/>
        </p:nvSpPr>
        <p:spPr>
          <a:xfrm>
            <a:off x="6096110" y="2065699"/>
            <a:ext cx="514339" cy="19202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200" b="1" kern="0" dirty="0">
                <a:solidFill>
                  <a:sysClr val="windowText" lastClr="000000"/>
                </a:solidFill>
                <a:latin typeface="Arial"/>
              </a:rPr>
              <a:t>-</a:t>
            </a:r>
          </a:p>
        </p:txBody>
      </p:sp>
      <p:sp>
        <p:nvSpPr>
          <p:cNvPr id="144" name="Rectangle 143">
            <a:extLst>
              <a:ext uri="{FF2B5EF4-FFF2-40B4-BE49-F238E27FC236}">
                <a16:creationId xmlns:a16="http://schemas.microsoft.com/office/drawing/2014/main" id="{485F20E2-D23D-4680-AAFE-5B3262339C0C}"/>
              </a:ext>
            </a:extLst>
          </p:cNvPr>
          <p:cNvSpPr/>
          <p:nvPr/>
        </p:nvSpPr>
        <p:spPr>
          <a:xfrm>
            <a:off x="7219938" y="1835120"/>
            <a:ext cx="514339" cy="19202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200" b="1" kern="0" dirty="0">
                <a:solidFill>
                  <a:sysClr val="windowText" lastClr="000000"/>
                </a:solidFill>
                <a:latin typeface="Arial"/>
              </a:rPr>
              <a:t>&gt;=</a:t>
            </a:r>
          </a:p>
        </p:txBody>
      </p:sp>
      <p:sp>
        <p:nvSpPr>
          <p:cNvPr id="145" name="Rectangle 144">
            <a:extLst>
              <a:ext uri="{FF2B5EF4-FFF2-40B4-BE49-F238E27FC236}">
                <a16:creationId xmlns:a16="http://schemas.microsoft.com/office/drawing/2014/main" id="{A0C8B3F9-0F9E-44E0-A1E9-ACE21CDD828A}"/>
              </a:ext>
            </a:extLst>
          </p:cNvPr>
          <p:cNvSpPr/>
          <p:nvPr/>
        </p:nvSpPr>
        <p:spPr>
          <a:xfrm>
            <a:off x="6659237" y="1835120"/>
            <a:ext cx="514339" cy="19202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600" b="1" kern="0" dirty="0">
                <a:solidFill>
                  <a:sysClr val="windowText" lastClr="000000"/>
                </a:solidFill>
                <a:latin typeface="Arial"/>
              </a:rPr>
              <a:t>*</a:t>
            </a:r>
          </a:p>
        </p:txBody>
      </p:sp>
      <p:grpSp>
        <p:nvGrpSpPr>
          <p:cNvPr id="146" name="Group 71">
            <a:extLst>
              <a:ext uri="{FF2B5EF4-FFF2-40B4-BE49-F238E27FC236}">
                <a16:creationId xmlns:a16="http://schemas.microsoft.com/office/drawing/2014/main" id="{1931A235-164F-4341-BB51-04E1517069B8}"/>
              </a:ext>
            </a:extLst>
          </p:cNvPr>
          <p:cNvGrpSpPr/>
          <p:nvPr/>
        </p:nvGrpSpPr>
        <p:grpSpPr>
          <a:xfrm>
            <a:off x="6096008" y="1643093"/>
            <a:ext cx="563125" cy="115214"/>
            <a:chOff x="-66694" y="1130300"/>
            <a:chExt cx="533401" cy="228600"/>
          </a:xfrm>
          <a:effectLst>
            <a:outerShdw blurRad="50800" dist="38100" dir="2700000" algn="tl" rotWithShape="0">
              <a:prstClr val="black">
                <a:alpha val="40000"/>
              </a:prstClr>
            </a:outerShdw>
          </a:effectLst>
        </p:grpSpPr>
        <p:cxnSp>
          <p:nvCxnSpPr>
            <p:cNvPr id="147" name="Straight Connector 146">
              <a:extLst>
                <a:ext uri="{FF2B5EF4-FFF2-40B4-BE49-F238E27FC236}">
                  <a16:creationId xmlns:a16="http://schemas.microsoft.com/office/drawing/2014/main" id="{B5029F70-9A63-4157-8136-7C2A4109B59C}"/>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48" name="Straight Connector 147">
              <a:extLst>
                <a:ext uri="{FF2B5EF4-FFF2-40B4-BE49-F238E27FC236}">
                  <a16:creationId xmlns:a16="http://schemas.microsoft.com/office/drawing/2014/main" id="{1D042C0A-82FB-4C03-94FB-8C730F7C8103}"/>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49" name="Straight Connector 148">
              <a:extLst>
                <a:ext uri="{FF2B5EF4-FFF2-40B4-BE49-F238E27FC236}">
                  <a16:creationId xmlns:a16="http://schemas.microsoft.com/office/drawing/2014/main" id="{E67C218C-7872-4ED6-AA17-24EA20F84FCF}"/>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50" name="Straight Connector 149">
              <a:extLst>
                <a:ext uri="{FF2B5EF4-FFF2-40B4-BE49-F238E27FC236}">
                  <a16:creationId xmlns:a16="http://schemas.microsoft.com/office/drawing/2014/main" id="{AE0AF191-BBCC-4FBC-B7C9-560956FCEFCD}"/>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151" name="Group 71">
            <a:extLst>
              <a:ext uri="{FF2B5EF4-FFF2-40B4-BE49-F238E27FC236}">
                <a16:creationId xmlns:a16="http://schemas.microsoft.com/office/drawing/2014/main" id="{B91EDCF9-76E1-4C7B-B4C7-2AABF594368C}"/>
              </a:ext>
            </a:extLst>
          </p:cNvPr>
          <p:cNvGrpSpPr/>
          <p:nvPr/>
        </p:nvGrpSpPr>
        <p:grpSpPr>
          <a:xfrm>
            <a:off x="6659132" y="1643094"/>
            <a:ext cx="563125" cy="115214"/>
            <a:chOff x="-66694" y="1130300"/>
            <a:chExt cx="533401" cy="228600"/>
          </a:xfrm>
          <a:effectLst>
            <a:outerShdw blurRad="50800" dist="38100" dir="2700000" algn="tl" rotWithShape="0">
              <a:prstClr val="black">
                <a:alpha val="40000"/>
              </a:prstClr>
            </a:outerShdw>
          </a:effectLst>
        </p:grpSpPr>
        <p:cxnSp>
          <p:nvCxnSpPr>
            <p:cNvPr id="152" name="Straight Connector 151">
              <a:extLst>
                <a:ext uri="{FF2B5EF4-FFF2-40B4-BE49-F238E27FC236}">
                  <a16:creationId xmlns:a16="http://schemas.microsoft.com/office/drawing/2014/main" id="{E47F549B-2F0E-4A92-A4C1-284E924E3391}"/>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53" name="Straight Connector 152">
              <a:extLst>
                <a:ext uri="{FF2B5EF4-FFF2-40B4-BE49-F238E27FC236}">
                  <a16:creationId xmlns:a16="http://schemas.microsoft.com/office/drawing/2014/main" id="{ABF627C0-96AD-4138-A65B-3EF7D36236C2}"/>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54" name="Straight Connector 153">
              <a:extLst>
                <a:ext uri="{FF2B5EF4-FFF2-40B4-BE49-F238E27FC236}">
                  <a16:creationId xmlns:a16="http://schemas.microsoft.com/office/drawing/2014/main" id="{6E2F4914-EB43-467E-BD67-BCD81EDEF0CD}"/>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55" name="Straight Connector 154">
              <a:extLst>
                <a:ext uri="{FF2B5EF4-FFF2-40B4-BE49-F238E27FC236}">
                  <a16:creationId xmlns:a16="http://schemas.microsoft.com/office/drawing/2014/main" id="{12793C84-B678-4E32-8A7F-C6B564D33D8D}"/>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156" name="Group 71">
            <a:extLst>
              <a:ext uri="{FF2B5EF4-FFF2-40B4-BE49-F238E27FC236}">
                <a16:creationId xmlns:a16="http://schemas.microsoft.com/office/drawing/2014/main" id="{88296FF0-D5B5-409F-A738-7D37DD308131}"/>
              </a:ext>
            </a:extLst>
          </p:cNvPr>
          <p:cNvGrpSpPr/>
          <p:nvPr/>
        </p:nvGrpSpPr>
        <p:grpSpPr>
          <a:xfrm>
            <a:off x="7222256" y="1643095"/>
            <a:ext cx="563125" cy="115214"/>
            <a:chOff x="-66694" y="1130300"/>
            <a:chExt cx="533401" cy="228600"/>
          </a:xfrm>
          <a:effectLst>
            <a:outerShdw blurRad="50800" dist="38100" dir="2700000" algn="tl" rotWithShape="0">
              <a:prstClr val="black">
                <a:alpha val="40000"/>
              </a:prstClr>
            </a:outerShdw>
          </a:effectLst>
        </p:grpSpPr>
        <p:cxnSp>
          <p:nvCxnSpPr>
            <p:cNvPr id="157" name="Straight Connector 156">
              <a:extLst>
                <a:ext uri="{FF2B5EF4-FFF2-40B4-BE49-F238E27FC236}">
                  <a16:creationId xmlns:a16="http://schemas.microsoft.com/office/drawing/2014/main" id="{9E35FE04-8F1A-46A9-A34B-5B398426436A}"/>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58" name="Straight Connector 157">
              <a:extLst>
                <a:ext uri="{FF2B5EF4-FFF2-40B4-BE49-F238E27FC236}">
                  <a16:creationId xmlns:a16="http://schemas.microsoft.com/office/drawing/2014/main" id="{E0824726-9016-4C8D-92E6-96BC9DEE15FA}"/>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59" name="Straight Connector 158">
              <a:extLst>
                <a:ext uri="{FF2B5EF4-FFF2-40B4-BE49-F238E27FC236}">
                  <a16:creationId xmlns:a16="http://schemas.microsoft.com/office/drawing/2014/main" id="{27ECE815-60B6-4129-B530-31BA41B1D8C4}"/>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60" name="Straight Connector 159">
              <a:extLst>
                <a:ext uri="{FF2B5EF4-FFF2-40B4-BE49-F238E27FC236}">
                  <a16:creationId xmlns:a16="http://schemas.microsoft.com/office/drawing/2014/main" id="{0C709F11-2884-442D-B126-A8B42E010278}"/>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sp>
        <p:nvSpPr>
          <p:cNvPr id="161" name="Rectangle 160">
            <a:extLst>
              <a:ext uri="{FF2B5EF4-FFF2-40B4-BE49-F238E27FC236}">
                <a16:creationId xmlns:a16="http://schemas.microsoft.com/office/drawing/2014/main" id="{FB47F75A-79FF-4E03-A4C5-5C5B220B2350}"/>
              </a:ext>
            </a:extLst>
          </p:cNvPr>
          <p:cNvSpPr/>
          <p:nvPr/>
        </p:nvSpPr>
        <p:spPr>
          <a:xfrm>
            <a:off x="8911750" y="2065698"/>
            <a:ext cx="514339" cy="19202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200" b="1" kern="0" dirty="0">
                <a:solidFill>
                  <a:sysClr val="windowText" lastClr="000000"/>
                </a:solidFill>
                <a:latin typeface="Arial"/>
              </a:rPr>
              <a:t>+</a:t>
            </a:r>
          </a:p>
        </p:txBody>
      </p:sp>
      <p:sp>
        <p:nvSpPr>
          <p:cNvPr id="162" name="Rectangle 161">
            <a:extLst>
              <a:ext uri="{FF2B5EF4-FFF2-40B4-BE49-F238E27FC236}">
                <a16:creationId xmlns:a16="http://schemas.microsoft.com/office/drawing/2014/main" id="{C6DD5875-EC4D-4764-9ECE-22E186E70831}"/>
              </a:ext>
            </a:extLst>
          </p:cNvPr>
          <p:cNvSpPr/>
          <p:nvPr/>
        </p:nvSpPr>
        <p:spPr>
          <a:xfrm>
            <a:off x="7785497" y="1835120"/>
            <a:ext cx="514339" cy="19202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200" b="1" kern="0" dirty="0">
                <a:solidFill>
                  <a:sysClr val="windowText" lastClr="000000"/>
                </a:solidFill>
                <a:latin typeface="Arial"/>
              </a:rPr>
              <a:t>==</a:t>
            </a:r>
          </a:p>
        </p:txBody>
      </p:sp>
      <p:sp>
        <p:nvSpPr>
          <p:cNvPr id="163" name="Rectangle 162">
            <a:extLst>
              <a:ext uri="{FF2B5EF4-FFF2-40B4-BE49-F238E27FC236}">
                <a16:creationId xmlns:a16="http://schemas.microsoft.com/office/drawing/2014/main" id="{498E01C1-7E3A-4B6D-AE4A-9BE44B70D903}"/>
              </a:ext>
            </a:extLst>
          </p:cNvPr>
          <p:cNvSpPr/>
          <p:nvPr/>
        </p:nvSpPr>
        <p:spPr>
          <a:xfrm>
            <a:off x="7785497" y="2065698"/>
            <a:ext cx="514339" cy="19202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200" b="1" kern="0" dirty="0">
                <a:solidFill>
                  <a:sysClr val="windowText" lastClr="000000"/>
                </a:solidFill>
                <a:latin typeface="Arial"/>
              </a:rPr>
              <a:t>-</a:t>
            </a:r>
          </a:p>
        </p:txBody>
      </p:sp>
      <p:sp>
        <p:nvSpPr>
          <p:cNvPr id="164" name="Rectangle 163">
            <a:extLst>
              <a:ext uri="{FF2B5EF4-FFF2-40B4-BE49-F238E27FC236}">
                <a16:creationId xmlns:a16="http://schemas.microsoft.com/office/drawing/2014/main" id="{81C4F368-E01B-4834-9107-0D09B45E5166}"/>
              </a:ext>
            </a:extLst>
          </p:cNvPr>
          <p:cNvSpPr/>
          <p:nvPr/>
        </p:nvSpPr>
        <p:spPr>
          <a:xfrm>
            <a:off x="8909324" y="1835120"/>
            <a:ext cx="514339" cy="19202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200" b="1" kern="0" dirty="0">
                <a:solidFill>
                  <a:sysClr val="windowText" lastClr="000000"/>
                </a:solidFill>
                <a:latin typeface="Arial"/>
              </a:rPr>
              <a:t>&gt;=</a:t>
            </a:r>
          </a:p>
        </p:txBody>
      </p:sp>
      <p:sp>
        <p:nvSpPr>
          <p:cNvPr id="165" name="Rectangle 164">
            <a:extLst>
              <a:ext uri="{FF2B5EF4-FFF2-40B4-BE49-F238E27FC236}">
                <a16:creationId xmlns:a16="http://schemas.microsoft.com/office/drawing/2014/main" id="{B100EE40-91F0-4DD7-8EC0-1A8E1D79A4F4}"/>
              </a:ext>
            </a:extLst>
          </p:cNvPr>
          <p:cNvSpPr/>
          <p:nvPr/>
        </p:nvSpPr>
        <p:spPr>
          <a:xfrm>
            <a:off x="8348624" y="1835120"/>
            <a:ext cx="514339" cy="19202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600" b="1" kern="0" dirty="0">
                <a:solidFill>
                  <a:sysClr val="windowText" lastClr="000000"/>
                </a:solidFill>
                <a:latin typeface="Arial"/>
              </a:rPr>
              <a:t>*</a:t>
            </a:r>
            <a:endParaRPr lang="en-US" sz="1200" b="1" kern="0" dirty="0">
              <a:solidFill>
                <a:sysClr val="windowText" lastClr="000000"/>
              </a:solidFill>
              <a:latin typeface="Arial"/>
            </a:endParaRPr>
          </a:p>
        </p:txBody>
      </p:sp>
      <p:grpSp>
        <p:nvGrpSpPr>
          <p:cNvPr id="166" name="Group 71">
            <a:extLst>
              <a:ext uri="{FF2B5EF4-FFF2-40B4-BE49-F238E27FC236}">
                <a16:creationId xmlns:a16="http://schemas.microsoft.com/office/drawing/2014/main" id="{9FFA950B-F1E7-47EE-A4D2-76DBCA710220}"/>
              </a:ext>
            </a:extLst>
          </p:cNvPr>
          <p:cNvGrpSpPr/>
          <p:nvPr/>
        </p:nvGrpSpPr>
        <p:grpSpPr>
          <a:xfrm>
            <a:off x="7785395" y="1643092"/>
            <a:ext cx="563125" cy="115214"/>
            <a:chOff x="-66694" y="1130300"/>
            <a:chExt cx="533401" cy="228600"/>
          </a:xfrm>
          <a:effectLst>
            <a:outerShdw blurRad="50800" dist="38100" dir="2700000" algn="tl" rotWithShape="0">
              <a:prstClr val="black">
                <a:alpha val="40000"/>
              </a:prstClr>
            </a:outerShdw>
          </a:effectLst>
        </p:grpSpPr>
        <p:cxnSp>
          <p:nvCxnSpPr>
            <p:cNvPr id="167" name="Straight Connector 166">
              <a:extLst>
                <a:ext uri="{FF2B5EF4-FFF2-40B4-BE49-F238E27FC236}">
                  <a16:creationId xmlns:a16="http://schemas.microsoft.com/office/drawing/2014/main" id="{B79285C2-4CB9-41F0-A238-3A58460F4CCA}"/>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68" name="Straight Connector 167">
              <a:extLst>
                <a:ext uri="{FF2B5EF4-FFF2-40B4-BE49-F238E27FC236}">
                  <a16:creationId xmlns:a16="http://schemas.microsoft.com/office/drawing/2014/main" id="{6251DBCD-A251-4576-B915-15582A423979}"/>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69" name="Straight Connector 168">
              <a:extLst>
                <a:ext uri="{FF2B5EF4-FFF2-40B4-BE49-F238E27FC236}">
                  <a16:creationId xmlns:a16="http://schemas.microsoft.com/office/drawing/2014/main" id="{B9CBB749-A940-428C-BF47-9693C056F443}"/>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70" name="Straight Connector 169">
              <a:extLst>
                <a:ext uri="{FF2B5EF4-FFF2-40B4-BE49-F238E27FC236}">
                  <a16:creationId xmlns:a16="http://schemas.microsoft.com/office/drawing/2014/main" id="{DDCB256F-E13E-48F6-9186-C7E935B290A8}"/>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171" name="Group 71">
            <a:extLst>
              <a:ext uri="{FF2B5EF4-FFF2-40B4-BE49-F238E27FC236}">
                <a16:creationId xmlns:a16="http://schemas.microsoft.com/office/drawing/2014/main" id="{6B807D3D-3517-4D46-9F09-55AB69B4AC42}"/>
              </a:ext>
            </a:extLst>
          </p:cNvPr>
          <p:cNvGrpSpPr/>
          <p:nvPr/>
        </p:nvGrpSpPr>
        <p:grpSpPr>
          <a:xfrm>
            <a:off x="8348519" y="1643093"/>
            <a:ext cx="563125" cy="115214"/>
            <a:chOff x="-66694" y="1130300"/>
            <a:chExt cx="533401" cy="228600"/>
          </a:xfrm>
          <a:effectLst>
            <a:outerShdw blurRad="50800" dist="38100" dir="2700000" algn="tl" rotWithShape="0">
              <a:prstClr val="black">
                <a:alpha val="40000"/>
              </a:prstClr>
            </a:outerShdw>
          </a:effectLst>
        </p:grpSpPr>
        <p:cxnSp>
          <p:nvCxnSpPr>
            <p:cNvPr id="172" name="Straight Connector 171">
              <a:extLst>
                <a:ext uri="{FF2B5EF4-FFF2-40B4-BE49-F238E27FC236}">
                  <a16:creationId xmlns:a16="http://schemas.microsoft.com/office/drawing/2014/main" id="{4659033E-1C1F-4BF5-ABD1-102F4840B190}"/>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73" name="Straight Connector 172">
              <a:extLst>
                <a:ext uri="{FF2B5EF4-FFF2-40B4-BE49-F238E27FC236}">
                  <a16:creationId xmlns:a16="http://schemas.microsoft.com/office/drawing/2014/main" id="{DFA79A6E-C700-4879-A6B8-DBDDA52FE671}"/>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74" name="Straight Connector 173">
              <a:extLst>
                <a:ext uri="{FF2B5EF4-FFF2-40B4-BE49-F238E27FC236}">
                  <a16:creationId xmlns:a16="http://schemas.microsoft.com/office/drawing/2014/main" id="{F01AFC12-C2B7-410F-8ECF-27BC0A364542}"/>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75" name="Straight Connector 174">
              <a:extLst>
                <a:ext uri="{FF2B5EF4-FFF2-40B4-BE49-F238E27FC236}">
                  <a16:creationId xmlns:a16="http://schemas.microsoft.com/office/drawing/2014/main" id="{3D1D4856-CD44-4166-86B9-2DE3D4D42424}"/>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176" name="Group 71">
            <a:extLst>
              <a:ext uri="{FF2B5EF4-FFF2-40B4-BE49-F238E27FC236}">
                <a16:creationId xmlns:a16="http://schemas.microsoft.com/office/drawing/2014/main" id="{56C244DB-28CF-4BB4-870D-0F7EEC6DC0FB}"/>
              </a:ext>
            </a:extLst>
          </p:cNvPr>
          <p:cNvGrpSpPr/>
          <p:nvPr/>
        </p:nvGrpSpPr>
        <p:grpSpPr>
          <a:xfrm>
            <a:off x="8911643" y="1643094"/>
            <a:ext cx="563125" cy="115214"/>
            <a:chOff x="-66694" y="1130300"/>
            <a:chExt cx="533401" cy="228600"/>
          </a:xfrm>
          <a:effectLst>
            <a:outerShdw blurRad="50800" dist="38100" dir="2700000" algn="tl" rotWithShape="0">
              <a:prstClr val="black">
                <a:alpha val="40000"/>
              </a:prstClr>
            </a:outerShdw>
          </a:effectLst>
        </p:grpSpPr>
        <p:cxnSp>
          <p:nvCxnSpPr>
            <p:cNvPr id="177" name="Straight Connector 176">
              <a:extLst>
                <a:ext uri="{FF2B5EF4-FFF2-40B4-BE49-F238E27FC236}">
                  <a16:creationId xmlns:a16="http://schemas.microsoft.com/office/drawing/2014/main" id="{71F3C069-5F6E-4F7C-A58B-DC67F9E356B7}"/>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78" name="Straight Connector 177">
              <a:extLst>
                <a:ext uri="{FF2B5EF4-FFF2-40B4-BE49-F238E27FC236}">
                  <a16:creationId xmlns:a16="http://schemas.microsoft.com/office/drawing/2014/main" id="{F73270B9-CDCC-4C8C-9DF1-35E6750E81E3}"/>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79" name="Straight Connector 178">
              <a:extLst>
                <a:ext uri="{FF2B5EF4-FFF2-40B4-BE49-F238E27FC236}">
                  <a16:creationId xmlns:a16="http://schemas.microsoft.com/office/drawing/2014/main" id="{4160874F-8A01-40CB-B5C6-5D68D59CECF2}"/>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80" name="Straight Connector 179">
              <a:extLst>
                <a:ext uri="{FF2B5EF4-FFF2-40B4-BE49-F238E27FC236}">
                  <a16:creationId xmlns:a16="http://schemas.microsoft.com/office/drawing/2014/main" id="{A465D585-509D-40F8-A5AC-9BF8224A48F1}"/>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sp>
        <p:nvSpPr>
          <p:cNvPr id="181" name="Rectangle 180">
            <a:extLst>
              <a:ext uri="{FF2B5EF4-FFF2-40B4-BE49-F238E27FC236}">
                <a16:creationId xmlns:a16="http://schemas.microsoft.com/office/drawing/2014/main" id="{179B9633-C4E0-4E9D-A0B2-C6926545B8FB}"/>
              </a:ext>
            </a:extLst>
          </p:cNvPr>
          <p:cNvSpPr/>
          <p:nvPr/>
        </p:nvSpPr>
        <p:spPr>
          <a:xfrm>
            <a:off x="10601137" y="2065697"/>
            <a:ext cx="514339" cy="19202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200" b="1" kern="0" dirty="0">
                <a:solidFill>
                  <a:sysClr val="windowText" lastClr="000000"/>
                </a:solidFill>
                <a:latin typeface="Arial"/>
              </a:rPr>
              <a:t>+</a:t>
            </a:r>
          </a:p>
        </p:txBody>
      </p:sp>
      <p:sp>
        <p:nvSpPr>
          <p:cNvPr id="182" name="Rectangle 181">
            <a:extLst>
              <a:ext uri="{FF2B5EF4-FFF2-40B4-BE49-F238E27FC236}">
                <a16:creationId xmlns:a16="http://schemas.microsoft.com/office/drawing/2014/main" id="{C5652AA3-D52A-4EF5-8C43-6BB3151B334A}"/>
              </a:ext>
            </a:extLst>
          </p:cNvPr>
          <p:cNvSpPr/>
          <p:nvPr/>
        </p:nvSpPr>
        <p:spPr>
          <a:xfrm>
            <a:off x="9474884" y="1835120"/>
            <a:ext cx="514339" cy="19202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200" b="1" kern="0" dirty="0">
                <a:solidFill>
                  <a:sysClr val="windowText" lastClr="000000"/>
                </a:solidFill>
                <a:latin typeface="Arial"/>
              </a:rPr>
              <a:t>==</a:t>
            </a:r>
          </a:p>
        </p:txBody>
      </p:sp>
      <p:sp>
        <p:nvSpPr>
          <p:cNvPr id="183" name="Rectangle 182">
            <a:extLst>
              <a:ext uri="{FF2B5EF4-FFF2-40B4-BE49-F238E27FC236}">
                <a16:creationId xmlns:a16="http://schemas.microsoft.com/office/drawing/2014/main" id="{4B66E073-3C68-49E4-BBA0-019EE4DFE339}"/>
              </a:ext>
            </a:extLst>
          </p:cNvPr>
          <p:cNvSpPr/>
          <p:nvPr/>
        </p:nvSpPr>
        <p:spPr>
          <a:xfrm>
            <a:off x="9474884" y="2065697"/>
            <a:ext cx="514339" cy="19202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200" b="1" kern="0" dirty="0">
                <a:solidFill>
                  <a:sysClr val="windowText" lastClr="000000"/>
                </a:solidFill>
                <a:latin typeface="Arial"/>
              </a:rPr>
              <a:t>-</a:t>
            </a:r>
          </a:p>
        </p:txBody>
      </p:sp>
      <p:sp>
        <p:nvSpPr>
          <p:cNvPr id="184" name="Rectangle 183">
            <a:extLst>
              <a:ext uri="{FF2B5EF4-FFF2-40B4-BE49-F238E27FC236}">
                <a16:creationId xmlns:a16="http://schemas.microsoft.com/office/drawing/2014/main" id="{05E33A51-CBFC-4589-AA51-F008C4DE9B08}"/>
              </a:ext>
            </a:extLst>
          </p:cNvPr>
          <p:cNvSpPr/>
          <p:nvPr/>
        </p:nvSpPr>
        <p:spPr>
          <a:xfrm>
            <a:off x="10598711" y="1835120"/>
            <a:ext cx="514339" cy="19202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200" b="1" kern="0" dirty="0">
                <a:solidFill>
                  <a:sysClr val="windowText" lastClr="000000"/>
                </a:solidFill>
                <a:latin typeface="Arial"/>
              </a:rPr>
              <a:t>&gt;=</a:t>
            </a:r>
          </a:p>
        </p:txBody>
      </p:sp>
      <p:sp>
        <p:nvSpPr>
          <p:cNvPr id="185" name="Rectangle 184">
            <a:extLst>
              <a:ext uri="{FF2B5EF4-FFF2-40B4-BE49-F238E27FC236}">
                <a16:creationId xmlns:a16="http://schemas.microsoft.com/office/drawing/2014/main" id="{E18C374C-FA36-4155-B4AB-9332F9EFA3FC}"/>
              </a:ext>
            </a:extLst>
          </p:cNvPr>
          <p:cNvSpPr/>
          <p:nvPr/>
        </p:nvSpPr>
        <p:spPr>
          <a:xfrm>
            <a:off x="10038010" y="1835120"/>
            <a:ext cx="514339" cy="192025"/>
          </a:xfrm>
          <a:prstGeom prst="rect">
            <a:avLst/>
          </a:prstGeom>
          <a:solidFill>
            <a:srgbClr val="EE3424">
              <a:lumMod val="60000"/>
              <a:lumOff val="40000"/>
            </a:srgbClr>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600" b="1" kern="0" dirty="0">
                <a:solidFill>
                  <a:sysClr val="windowText" lastClr="000000"/>
                </a:solidFill>
                <a:latin typeface="Arial"/>
              </a:rPr>
              <a:t>*</a:t>
            </a:r>
          </a:p>
        </p:txBody>
      </p:sp>
      <p:grpSp>
        <p:nvGrpSpPr>
          <p:cNvPr id="186" name="Group 71">
            <a:extLst>
              <a:ext uri="{FF2B5EF4-FFF2-40B4-BE49-F238E27FC236}">
                <a16:creationId xmlns:a16="http://schemas.microsoft.com/office/drawing/2014/main" id="{B3258620-727A-4C16-BBFF-BC6AC50F556F}"/>
              </a:ext>
            </a:extLst>
          </p:cNvPr>
          <p:cNvGrpSpPr/>
          <p:nvPr/>
        </p:nvGrpSpPr>
        <p:grpSpPr>
          <a:xfrm>
            <a:off x="9474783" y="1643091"/>
            <a:ext cx="563125" cy="115214"/>
            <a:chOff x="-66694" y="1130300"/>
            <a:chExt cx="533401" cy="228600"/>
          </a:xfrm>
          <a:effectLst>
            <a:outerShdw blurRad="50800" dist="38100" dir="2700000" algn="tl" rotWithShape="0">
              <a:prstClr val="black">
                <a:alpha val="40000"/>
              </a:prstClr>
            </a:outerShdw>
          </a:effectLst>
        </p:grpSpPr>
        <p:cxnSp>
          <p:nvCxnSpPr>
            <p:cNvPr id="187" name="Straight Connector 186">
              <a:extLst>
                <a:ext uri="{FF2B5EF4-FFF2-40B4-BE49-F238E27FC236}">
                  <a16:creationId xmlns:a16="http://schemas.microsoft.com/office/drawing/2014/main" id="{B4D13470-F213-4AE8-BF28-CFD52BE83D3F}"/>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88" name="Straight Connector 187">
              <a:extLst>
                <a:ext uri="{FF2B5EF4-FFF2-40B4-BE49-F238E27FC236}">
                  <a16:creationId xmlns:a16="http://schemas.microsoft.com/office/drawing/2014/main" id="{194512AD-3CB8-4CEC-B89A-425BF45C5C06}"/>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89" name="Straight Connector 188">
              <a:extLst>
                <a:ext uri="{FF2B5EF4-FFF2-40B4-BE49-F238E27FC236}">
                  <a16:creationId xmlns:a16="http://schemas.microsoft.com/office/drawing/2014/main" id="{3C7E6ECE-CB19-4A93-BB56-80F1CAD05B86}"/>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90" name="Straight Connector 189">
              <a:extLst>
                <a:ext uri="{FF2B5EF4-FFF2-40B4-BE49-F238E27FC236}">
                  <a16:creationId xmlns:a16="http://schemas.microsoft.com/office/drawing/2014/main" id="{51937E1D-2811-4D5E-BA0B-3D4F721E9B96}"/>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191" name="Group 71">
            <a:extLst>
              <a:ext uri="{FF2B5EF4-FFF2-40B4-BE49-F238E27FC236}">
                <a16:creationId xmlns:a16="http://schemas.microsoft.com/office/drawing/2014/main" id="{70B553A0-FD43-479F-A429-1B90E8FFC5B3}"/>
              </a:ext>
            </a:extLst>
          </p:cNvPr>
          <p:cNvGrpSpPr/>
          <p:nvPr/>
        </p:nvGrpSpPr>
        <p:grpSpPr>
          <a:xfrm>
            <a:off x="10037907" y="1643092"/>
            <a:ext cx="563125" cy="115214"/>
            <a:chOff x="-66694" y="1130300"/>
            <a:chExt cx="533401" cy="228600"/>
          </a:xfrm>
          <a:effectLst>
            <a:outerShdw blurRad="50800" dist="38100" dir="2700000" algn="tl" rotWithShape="0">
              <a:prstClr val="black">
                <a:alpha val="40000"/>
              </a:prstClr>
            </a:outerShdw>
          </a:effectLst>
        </p:grpSpPr>
        <p:cxnSp>
          <p:nvCxnSpPr>
            <p:cNvPr id="192" name="Straight Connector 191">
              <a:extLst>
                <a:ext uri="{FF2B5EF4-FFF2-40B4-BE49-F238E27FC236}">
                  <a16:creationId xmlns:a16="http://schemas.microsoft.com/office/drawing/2014/main" id="{1F235AED-E63D-4B31-A941-56716DFFBEEA}"/>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93" name="Straight Connector 192">
              <a:extLst>
                <a:ext uri="{FF2B5EF4-FFF2-40B4-BE49-F238E27FC236}">
                  <a16:creationId xmlns:a16="http://schemas.microsoft.com/office/drawing/2014/main" id="{E7FB2A54-65B4-42F9-B651-D0DE1D7905DD}"/>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94" name="Straight Connector 193">
              <a:extLst>
                <a:ext uri="{FF2B5EF4-FFF2-40B4-BE49-F238E27FC236}">
                  <a16:creationId xmlns:a16="http://schemas.microsoft.com/office/drawing/2014/main" id="{FC86793A-BF99-4950-B368-EE879BDD0EE7}"/>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95" name="Straight Connector 194">
              <a:extLst>
                <a:ext uri="{FF2B5EF4-FFF2-40B4-BE49-F238E27FC236}">
                  <a16:creationId xmlns:a16="http://schemas.microsoft.com/office/drawing/2014/main" id="{8DEB4ED2-4362-4599-810E-A38CA351616E}"/>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196" name="Group 71">
            <a:extLst>
              <a:ext uri="{FF2B5EF4-FFF2-40B4-BE49-F238E27FC236}">
                <a16:creationId xmlns:a16="http://schemas.microsoft.com/office/drawing/2014/main" id="{EB1A4D69-7AA1-4970-ABD5-4C7AD9787A31}"/>
              </a:ext>
            </a:extLst>
          </p:cNvPr>
          <p:cNvGrpSpPr/>
          <p:nvPr/>
        </p:nvGrpSpPr>
        <p:grpSpPr>
          <a:xfrm>
            <a:off x="10601031" y="1643093"/>
            <a:ext cx="563125" cy="115214"/>
            <a:chOff x="-66694" y="1130300"/>
            <a:chExt cx="533401" cy="228600"/>
          </a:xfrm>
          <a:effectLst>
            <a:outerShdw blurRad="50800" dist="38100" dir="2700000" algn="tl" rotWithShape="0">
              <a:prstClr val="black">
                <a:alpha val="40000"/>
              </a:prstClr>
            </a:outerShdw>
          </a:effectLst>
        </p:grpSpPr>
        <p:cxnSp>
          <p:nvCxnSpPr>
            <p:cNvPr id="197" name="Straight Connector 196">
              <a:extLst>
                <a:ext uri="{FF2B5EF4-FFF2-40B4-BE49-F238E27FC236}">
                  <a16:creationId xmlns:a16="http://schemas.microsoft.com/office/drawing/2014/main" id="{1F826A62-F10F-4DCF-AF6E-CAE786C57260}"/>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98" name="Straight Connector 197">
              <a:extLst>
                <a:ext uri="{FF2B5EF4-FFF2-40B4-BE49-F238E27FC236}">
                  <a16:creationId xmlns:a16="http://schemas.microsoft.com/office/drawing/2014/main" id="{9CEC2755-C93A-47F8-B798-AE388F993EA4}"/>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99" name="Straight Connector 198">
              <a:extLst>
                <a:ext uri="{FF2B5EF4-FFF2-40B4-BE49-F238E27FC236}">
                  <a16:creationId xmlns:a16="http://schemas.microsoft.com/office/drawing/2014/main" id="{10CEFF46-5F2C-4752-8F32-2AEB56B897F5}"/>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200" name="Straight Connector 199">
              <a:extLst>
                <a:ext uri="{FF2B5EF4-FFF2-40B4-BE49-F238E27FC236}">
                  <a16:creationId xmlns:a16="http://schemas.microsoft.com/office/drawing/2014/main" id="{5AD79F87-C8CF-451D-84F4-8CA34F301162}"/>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sp>
        <p:nvSpPr>
          <p:cNvPr id="201" name="Rectangle 200">
            <a:extLst>
              <a:ext uri="{FF2B5EF4-FFF2-40B4-BE49-F238E27FC236}">
                <a16:creationId xmlns:a16="http://schemas.microsoft.com/office/drawing/2014/main" id="{AD35F38F-AF7D-42E6-81D2-8367B9A95A64}"/>
              </a:ext>
            </a:extLst>
          </p:cNvPr>
          <p:cNvSpPr/>
          <p:nvPr/>
        </p:nvSpPr>
        <p:spPr>
          <a:xfrm>
            <a:off x="11164243" y="1835120"/>
            <a:ext cx="514339" cy="19202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700" b="1" kern="0" dirty="0" err="1">
                <a:solidFill>
                  <a:sysClr val="windowText" lastClr="000000"/>
                </a:solidFill>
                <a:latin typeface="Arial"/>
              </a:rPr>
              <a:t>WRy</a:t>
            </a:r>
            <a:endParaRPr lang="en-US" sz="700" b="1" kern="0" dirty="0">
              <a:solidFill>
                <a:sysClr val="windowText" lastClr="000000"/>
              </a:solidFill>
              <a:latin typeface="Arial"/>
            </a:endParaRPr>
          </a:p>
        </p:txBody>
      </p:sp>
      <p:grpSp>
        <p:nvGrpSpPr>
          <p:cNvPr id="202" name="Group 71">
            <a:extLst>
              <a:ext uri="{FF2B5EF4-FFF2-40B4-BE49-F238E27FC236}">
                <a16:creationId xmlns:a16="http://schemas.microsoft.com/office/drawing/2014/main" id="{3579D5BA-A216-4152-B50A-AD0F0D9CA2D6}"/>
              </a:ext>
            </a:extLst>
          </p:cNvPr>
          <p:cNvGrpSpPr/>
          <p:nvPr/>
        </p:nvGrpSpPr>
        <p:grpSpPr>
          <a:xfrm>
            <a:off x="11164144" y="1643093"/>
            <a:ext cx="563125" cy="115214"/>
            <a:chOff x="-66694" y="1130300"/>
            <a:chExt cx="533401" cy="228600"/>
          </a:xfrm>
          <a:effectLst>
            <a:outerShdw blurRad="50800" dist="38100" dir="2700000" algn="tl" rotWithShape="0">
              <a:prstClr val="black">
                <a:alpha val="40000"/>
              </a:prstClr>
            </a:outerShdw>
          </a:effectLst>
        </p:grpSpPr>
        <p:cxnSp>
          <p:nvCxnSpPr>
            <p:cNvPr id="203" name="Straight Connector 202">
              <a:extLst>
                <a:ext uri="{FF2B5EF4-FFF2-40B4-BE49-F238E27FC236}">
                  <a16:creationId xmlns:a16="http://schemas.microsoft.com/office/drawing/2014/main" id="{0DCB4F11-425A-4B73-B2B0-164DF81F8708}"/>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204" name="Straight Connector 203">
              <a:extLst>
                <a:ext uri="{FF2B5EF4-FFF2-40B4-BE49-F238E27FC236}">
                  <a16:creationId xmlns:a16="http://schemas.microsoft.com/office/drawing/2014/main" id="{697144FA-BC28-409D-8C4E-DD0DB59FF93E}"/>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205" name="Straight Connector 204">
              <a:extLst>
                <a:ext uri="{FF2B5EF4-FFF2-40B4-BE49-F238E27FC236}">
                  <a16:creationId xmlns:a16="http://schemas.microsoft.com/office/drawing/2014/main" id="{4B7A62B7-BB07-409C-A18F-C2F7303B1A37}"/>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206" name="Straight Connector 205">
              <a:extLst>
                <a:ext uri="{FF2B5EF4-FFF2-40B4-BE49-F238E27FC236}">
                  <a16:creationId xmlns:a16="http://schemas.microsoft.com/office/drawing/2014/main" id="{52C9A052-6C21-4FB7-A99C-6501F096B788}"/>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cxnSp>
        <p:nvCxnSpPr>
          <p:cNvPr id="207" name="Straight Arrow Connector 206">
            <a:extLst>
              <a:ext uri="{FF2B5EF4-FFF2-40B4-BE49-F238E27FC236}">
                <a16:creationId xmlns:a16="http://schemas.microsoft.com/office/drawing/2014/main" id="{E89F7D81-794B-458F-9ECB-B4C21796BF0A}"/>
              </a:ext>
            </a:extLst>
          </p:cNvPr>
          <p:cNvCxnSpPr/>
          <p:nvPr/>
        </p:nvCxnSpPr>
        <p:spPr>
          <a:xfrm>
            <a:off x="4406621" y="2610441"/>
            <a:ext cx="1689380" cy="1588"/>
          </a:xfrm>
          <a:prstGeom prst="straightConnector1">
            <a:avLst/>
          </a:prstGeom>
          <a:noFill/>
          <a:ln w="25400" cap="flat" cmpd="sng" algn="ctr">
            <a:solidFill>
              <a:srgbClr val="D9DA56"/>
            </a:solidFill>
            <a:prstDash val="solid"/>
            <a:tailEnd type="arrow"/>
          </a:ln>
          <a:effectLst>
            <a:outerShdw blurRad="40000" dist="20000" dir="5400000" rotWithShape="0">
              <a:srgbClr val="000000">
                <a:alpha val="38000"/>
              </a:srgbClr>
            </a:outerShdw>
          </a:effectLst>
        </p:spPr>
      </p:cxnSp>
      <p:sp>
        <p:nvSpPr>
          <p:cNvPr id="208" name="TextBox 207">
            <a:extLst>
              <a:ext uri="{FF2B5EF4-FFF2-40B4-BE49-F238E27FC236}">
                <a16:creationId xmlns:a16="http://schemas.microsoft.com/office/drawing/2014/main" id="{1FF9B8AE-13AC-4CC6-AB3F-E12840B33395}"/>
              </a:ext>
            </a:extLst>
          </p:cNvPr>
          <p:cNvSpPr txBox="1"/>
          <p:nvPr/>
        </p:nvSpPr>
        <p:spPr>
          <a:xfrm>
            <a:off x="4698668" y="2648846"/>
            <a:ext cx="827471" cy="253916"/>
          </a:xfrm>
          <a:prstGeom prst="rect">
            <a:avLst/>
          </a:prstGeom>
          <a:noFill/>
        </p:spPr>
        <p:txBody>
          <a:bodyPr wrap="none" rtlCol="0">
            <a:spAutoFit/>
          </a:bodyPr>
          <a:lstStyle/>
          <a:p>
            <a:pPr defTabSz="457200" fontAlgn="base">
              <a:spcBef>
                <a:spcPct val="0"/>
              </a:spcBef>
              <a:spcAft>
                <a:spcPct val="0"/>
              </a:spcAft>
            </a:pPr>
            <a:r>
              <a:rPr lang="en-US" sz="1050" b="1" dirty="0">
                <a:solidFill>
                  <a:prstClr val="black"/>
                </a:solidFill>
                <a:ea typeface="ＭＳ Ｐゴシック" pitchFamily="34" charset="-128"/>
                <a:cs typeface="Arial" charset="0"/>
              </a:rPr>
              <a:t>Iteration 1</a:t>
            </a:r>
          </a:p>
        </p:txBody>
      </p:sp>
      <p:cxnSp>
        <p:nvCxnSpPr>
          <p:cNvPr id="209" name="Straight Arrow Connector 208">
            <a:extLst>
              <a:ext uri="{FF2B5EF4-FFF2-40B4-BE49-F238E27FC236}">
                <a16:creationId xmlns:a16="http://schemas.microsoft.com/office/drawing/2014/main" id="{58EB4701-3C8A-4E03-B0EB-605DFB3FF148}"/>
              </a:ext>
            </a:extLst>
          </p:cNvPr>
          <p:cNvCxnSpPr/>
          <p:nvPr/>
        </p:nvCxnSpPr>
        <p:spPr>
          <a:xfrm>
            <a:off x="6096001" y="2610441"/>
            <a:ext cx="1689380" cy="1588"/>
          </a:xfrm>
          <a:prstGeom prst="straightConnector1">
            <a:avLst/>
          </a:prstGeom>
          <a:noFill/>
          <a:ln w="25400" cap="flat" cmpd="sng" algn="ctr">
            <a:solidFill>
              <a:srgbClr val="D9DA56"/>
            </a:solidFill>
            <a:prstDash val="solid"/>
            <a:tailEnd type="arrow"/>
          </a:ln>
          <a:effectLst>
            <a:outerShdw blurRad="40000" dist="20000" dir="5400000" rotWithShape="0">
              <a:srgbClr val="000000">
                <a:alpha val="38000"/>
              </a:srgbClr>
            </a:outerShdw>
          </a:effectLst>
        </p:spPr>
      </p:cxnSp>
      <p:sp>
        <p:nvSpPr>
          <p:cNvPr id="210" name="TextBox 209">
            <a:extLst>
              <a:ext uri="{FF2B5EF4-FFF2-40B4-BE49-F238E27FC236}">
                <a16:creationId xmlns:a16="http://schemas.microsoft.com/office/drawing/2014/main" id="{45D059C1-C27A-4BE7-87B5-39937C3DEA5A}"/>
              </a:ext>
            </a:extLst>
          </p:cNvPr>
          <p:cNvSpPr txBox="1"/>
          <p:nvPr/>
        </p:nvSpPr>
        <p:spPr>
          <a:xfrm>
            <a:off x="6388048" y="2648846"/>
            <a:ext cx="827471" cy="253916"/>
          </a:xfrm>
          <a:prstGeom prst="rect">
            <a:avLst/>
          </a:prstGeom>
          <a:noFill/>
        </p:spPr>
        <p:txBody>
          <a:bodyPr wrap="none" rtlCol="0">
            <a:spAutoFit/>
          </a:bodyPr>
          <a:lstStyle/>
          <a:p>
            <a:pPr defTabSz="457200" fontAlgn="base">
              <a:spcBef>
                <a:spcPct val="0"/>
              </a:spcBef>
              <a:spcAft>
                <a:spcPct val="0"/>
              </a:spcAft>
            </a:pPr>
            <a:r>
              <a:rPr lang="en-US" sz="1050" b="1" dirty="0">
                <a:solidFill>
                  <a:prstClr val="black"/>
                </a:solidFill>
                <a:ea typeface="ＭＳ Ｐゴシック" pitchFamily="34" charset="-128"/>
                <a:cs typeface="Arial" charset="0"/>
              </a:rPr>
              <a:t>Iteration 2</a:t>
            </a:r>
          </a:p>
        </p:txBody>
      </p:sp>
      <p:cxnSp>
        <p:nvCxnSpPr>
          <p:cNvPr id="211" name="Straight Arrow Connector 210">
            <a:extLst>
              <a:ext uri="{FF2B5EF4-FFF2-40B4-BE49-F238E27FC236}">
                <a16:creationId xmlns:a16="http://schemas.microsoft.com/office/drawing/2014/main" id="{D1FF106B-7FDC-4C99-B720-B99CCDEAD3D3}"/>
              </a:ext>
            </a:extLst>
          </p:cNvPr>
          <p:cNvCxnSpPr/>
          <p:nvPr/>
        </p:nvCxnSpPr>
        <p:spPr>
          <a:xfrm>
            <a:off x="7785381" y="2610441"/>
            <a:ext cx="1689380" cy="1588"/>
          </a:xfrm>
          <a:prstGeom prst="straightConnector1">
            <a:avLst/>
          </a:prstGeom>
          <a:noFill/>
          <a:ln w="25400" cap="flat" cmpd="sng" algn="ctr">
            <a:solidFill>
              <a:srgbClr val="D9DA56"/>
            </a:solidFill>
            <a:prstDash val="solid"/>
            <a:tailEnd type="arrow"/>
          </a:ln>
          <a:effectLst>
            <a:outerShdw blurRad="40000" dist="20000" dir="5400000" rotWithShape="0">
              <a:srgbClr val="000000">
                <a:alpha val="38000"/>
              </a:srgbClr>
            </a:outerShdw>
          </a:effectLst>
        </p:spPr>
      </p:cxnSp>
      <p:sp>
        <p:nvSpPr>
          <p:cNvPr id="212" name="TextBox 211">
            <a:extLst>
              <a:ext uri="{FF2B5EF4-FFF2-40B4-BE49-F238E27FC236}">
                <a16:creationId xmlns:a16="http://schemas.microsoft.com/office/drawing/2014/main" id="{8CCA3F49-4C48-45D6-9094-86D186EDDACA}"/>
              </a:ext>
            </a:extLst>
          </p:cNvPr>
          <p:cNvSpPr txBox="1"/>
          <p:nvPr/>
        </p:nvSpPr>
        <p:spPr>
          <a:xfrm>
            <a:off x="8077428" y="2648846"/>
            <a:ext cx="827471" cy="253916"/>
          </a:xfrm>
          <a:prstGeom prst="rect">
            <a:avLst/>
          </a:prstGeom>
          <a:noFill/>
        </p:spPr>
        <p:txBody>
          <a:bodyPr wrap="none" rtlCol="0">
            <a:spAutoFit/>
          </a:bodyPr>
          <a:lstStyle/>
          <a:p>
            <a:pPr defTabSz="457200" fontAlgn="base">
              <a:spcBef>
                <a:spcPct val="0"/>
              </a:spcBef>
              <a:spcAft>
                <a:spcPct val="0"/>
              </a:spcAft>
            </a:pPr>
            <a:r>
              <a:rPr lang="en-US" sz="1050" b="1" dirty="0">
                <a:solidFill>
                  <a:prstClr val="black"/>
                </a:solidFill>
                <a:ea typeface="ＭＳ Ｐゴシック" pitchFamily="34" charset="-128"/>
                <a:cs typeface="Arial" charset="0"/>
              </a:rPr>
              <a:t>Iteration 3</a:t>
            </a:r>
          </a:p>
        </p:txBody>
      </p:sp>
      <p:cxnSp>
        <p:nvCxnSpPr>
          <p:cNvPr id="213" name="Straight Arrow Connector 212">
            <a:extLst>
              <a:ext uri="{FF2B5EF4-FFF2-40B4-BE49-F238E27FC236}">
                <a16:creationId xmlns:a16="http://schemas.microsoft.com/office/drawing/2014/main" id="{81F3BE0C-F365-4C74-9F0C-140866B52CAA}"/>
              </a:ext>
            </a:extLst>
          </p:cNvPr>
          <p:cNvCxnSpPr/>
          <p:nvPr/>
        </p:nvCxnSpPr>
        <p:spPr>
          <a:xfrm>
            <a:off x="9474761" y="2610441"/>
            <a:ext cx="1689380" cy="1588"/>
          </a:xfrm>
          <a:prstGeom prst="straightConnector1">
            <a:avLst/>
          </a:prstGeom>
          <a:noFill/>
          <a:ln w="25400" cap="flat" cmpd="sng" algn="ctr">
            <a:solidFill>
              <a:srgbClr val="D9DA56"/>
            </a:solidFill>
            <a:prstDash val="solid"/>
            <a:tailEnd type="arrow"/>
          </a:ln>
          <a:effectLst>
            <a:outerShdw blurRad="40000" dist="20000" dir="5400000" rotWithShape="0">
              <a:srgbClr val="000000">
                <a:alpha val="38000"/>
              </a:srgbClr>
            </a:outerShdw>
          </a:effectLst>
        </p:spPr>
      </p:cxnSp>
      <p:sp>
        <p:nvSpPr>
          <p:cNvPr id="214" name="TextBox 213">
            <a:extLst>
              <a:ext uri="{FF2B5EF4-FFF2-40B4-BE49-F238E27FC236}">
                <a16:creationId xmlns:a16="http://schemas.microsoft.com/office/drawing/2014/main" id="{9DE09121-2E54-4974-A29E-455B20F83404}"/>
              </a:ext>
            </a:extLst>
          </p:cNvPr>
          <p:cNvSpPr txBox="1"/>
          <p:nvPr/>
        </p:nvSpPr>
        <p:spPr>
          <a:xfrm>
            <a:off x="9766807" y="2648846"/>
            <a:ext cx="827471" cy="253916"/>
          </a:xfrm>
          <a:prstGeom prst="rect">
            <a:avLst/>
          </a:prstGeom>
          <a:noFill/>
        </p:spPr>
        <p:txBody>
          <a:bodyPr wrap="none" rtlCol="0">
            <a:spAutoFit/>
          </a:bodyPr>
          <a:lstStyle/>
          <a:p>
            <a:pPr defTabSz="457200" fontAlgn="base">
              <a:spcBef>
                <a:spcPct val="0"/>
              </a:spcBef>
              <a:spcAft>
                <a:spcPct val="0"/>
              </a:spcAft>
            </a:pPr>
            <a:r>
              <a:rPr lang="en-US" sz="1050" b="1" dirty="0">
                <a:solidFill>
                  <a:prstClr val="black"/>
                </a:solidFill>
                <a:ea typeface="ＭＳ Ｐゴシック" pitchFamily="34" charset="-128"/>
                <a:cs typeface="Arial" charset="0"/>
              </a:rPr>
              <a:t>Iteration 4</a:t>
            </a:r>
          </a:p>
        </p:txBody>
      </p:sp>
      <p:sp>
        <p:nvSpPr>
          <p:cNvPr id="215" name="Rectangle 214">
            <a:extLst>
              <a:ext uri="{FF2B5EF4-FFF2-40B4-BE49-F238E27FC236}">
                <a16:creationId xmlns:a16="http://schemas.microsoft.com/office/drawing/2014/main" id="{5289ED92-3ED6-4110-A27E-F695B3F55656}"/>
              </a:ext>
            </a:extLst>
          </p:cNvPr>
          <p:cNvSpPr/>
          <p:nvPr/>
        </p:nvSpPr>
        <p:spPr>
          <a:xfrm>
            <a:off x="4969850" y="2065703"/>
            <a:ext cx="514339" cy="19202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200" b="1" kern="0" dirty="0">
                <a:solidFill>
                  <a:sysClr val="windowText" lastClr="000000"/>
                </a:solidFill>
                <a:latin typeface="Arial"/>
              </a:rPr>
              <a:t>-</a:t>
            </a:r>
          </a:p>
        </p:txBody>
      </p:sp>
      <p:sp>
        <p:nvSpPr>
          <p:cNvPr id="216" name="Rectangle 215">
            <a:extLst>
              <a:ext uri="{FF2B5EF4-FFF2-40B4-BE49-F238E27FC236}">
                <a16:creationId xmlns:a16="http://schemas.microsoft.com/office/drawing/2014/main" id="{B2C72571-C446-4415-A65B-25A81D30DB85}"/>
              </a:ext>
            </a:extLst>
          </p:cNvPr>
          <p:cNvSpPr/>
          <p:nvPr/>
        </p:nvSpPr>
        <p:spPr>
          <a:xfrm>
            <a:off x="6659237" y="2065702"/>
            <a:ext cx="514339" cy="19202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200" b="1" kern="0" dirty="0">
                <a:solidFill>
                  <a:sysClr val="windowText" lastClr="000000"/>
                </a:solidFill>
                <a:latin typeface="Arial"/>
              </a:rPr>
              <a:t>-</a:t>
            </a:r>
          </a:p>
        </p:txBody>
      </p:sp>
      <p:sp>
        <p:nvSpPr>
          <p:cNvPr id="217" name="Rectangle 216">
            <a:extLst>
              <a:ext uri="{FF2B5EF4-FFF2-40B4-BE49-F238E27FC236}">
                <a16:creationId xmlns:a16="http://schemas.microsoft.com/office/drawing/2014/main" id="{E4AC2861-E43F-4362-8402-4905B7CB628E}"/>
              </a:ext>
            </a:extLst>
          </p:cNvPr>
          <p:cNvSpPr/>
          <p:nvPr/>
        </p:nvSpPr>
        <p:spPr>
          <a:xfrm>
            <a:off x="8348624" y="2065701"/>
            <a:ext cx="514339" cy="19202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200" b="1" kern="0" dirty="0">
                <a:solidFill>
                  <a:sysClr val="windowText" lastClr="000000"/>
                </a:solidFill>
                <a:latin typeface="Arial"/>
              </a:rPr>
              <a:t>-</a:t>
            </a:r>
          </a:p>
        </p:txBody>
      </p:sp>
      <p:sp>
        <p:nvSpPr>
          <p:cNvPr id="218" name="Rectangle 217">
            <a:extLst>
              <a:ext uri="{FF2B5EF4-FFF2-40B4-BE49-F238E27FC236}">
                <a16:creationId xmlns:a16="http://schemas.microsoft.com/office/drawing/2014/main" id="{1F628640-C205-47F2-B17A-8F806B8927B0}"/>
              </a:ext>
            </a:extLst>
          </p:cNvPr>
          <p:cNvSpPr/>
          <p:nvPr/>
        </p:nvSpPr>
        <p:spPr>
          <a:xfrm>
            <a:off x="10037990" y="2296130"/>
            <a:ext cx="514339" cy="19202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700" b="1" kern="0" dirty="0" err="1">
                <a:solidFill>
                  <a:sysClr val="windowText" lastClr="000000"/>
                </a:solidFill>
                <a:latin typeface="Arial"/>
              </a:rPr>
              <a:t>RDc</a:t>
            </a:r>
            <a:endParaRPr lang="en-US" sz="700" b="1" kern="0" dirty="0">
              <a:solidFill>
                <a:sysClr val="windowText" lastClr="000000"/>
              </a:solidFill>
              <a:latin typeface="Arial"/>
            </a:endParaRPr>
          </a:p>
        </p:txBody>
      </p:sp>
      <p:sp>
        <p:nvSpPr>
          <p:cNvPr id="219" name="Rectangle 218">
            <a:extLst>
              <a:ext uri="{FF2B5EF4-FFF2-40B4-BE49-F238E27FC236}">
                <a16:creationId xmlns:a16="http://schemas.microsoft.com/office/drawing/2014/main" id="{EE453D46-F127-4586-BFAB-748F05C4E778}"/>
              </a:ext>
            </a:extLst>
          </p:cNvPr>
          <p:cNvSpPr/>
          <p:nvPr/>
        </p:nvSpPr>
        <p:spPr>
          <a:xfrm>
            <a:off x="8346204" y="2296130"/>
            <a:ext cx="514339" cy="19202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700" b="1" kern="0" dirty="0" err="1">
                <a:solidFill>
                  <a:sysClr val="windowText" lastClr="000000"/>
                </a:solidFill>
                <a:latin typeface="Arial"/>
              </a:rPr>
              <a:t>RDc</a:t>
            </a:r>
            <a:endParaRPr lang="en-US" sz="700" b="1" kern="0" dirty="0">
              <a:solidFill>
                <a:sysClr val="windowText" lastClr="000000"/>
              </a:solidFill>
              <a:latin typeface="Arial"/>
            </a:endParaRPr>
          </a:p>
        </p:txBody>
      </p:sp>
      <p:sp>
        <p:nvSpPr>
          <p:cNvPr id="220" name="Rectangle 219">
            <a:extLst>
              <a:ext uri="{FF2B5EF4-FFF2-40B4-BE49-F238E27FC236}">
                <a16:creationId xmlns:a16="http://schemas.microsoft.com/office/drawing/2014/main" id="{6710A71C-FD17-4191-BAF5-989260EC2BA1}"/>
              </a:ext>
            </a:extLst>
          </p:cNvPr>
          <p:cNvSpPr/>
          <p:nvPr/>
        </p:nvSpPr>
        <p:spPr>
          <a:xfrm>
            <a:off x="6654418" y="2296130"/>
            <a:ext cx="514339" cy="19202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700" b="1" kern="0" dirty="0" err="1">
                <a:solidFill>
                  <a:sysClr val="windowText" lastClr="000000"/>
                </a:solidFill>
                <a:latin typeface="Arial"/>
              </a:rPr>
              <a:t>RDc</a:t>
            </a:r>
            <a:endParaRPr lang="en-US" sz="700" b="1" kern="0" dirty="0">
              <a:solidFill>
                <a:sysClr val="windowText" lastClr="000000"/>
              </a:solidFill>
              <a:latin typeface="Arial"/>
            </a:endParaRPr>
          </a:p>
        </p:txBody>
      </p:sp>
      <p:sp>
        <p:nvSpPr>
          <p:cNvPr id="221" name="Rectangle 220">
            <a:extLst>
              <a:ext uri="{FF2B5EF4-FFF2-40B4-BE49-F238E27FC236}">
                <a16:creationId xmlns:a16="http://schemas.microsoft.com/office/drawing/2014/main" id="{D8DED3D6-C4C1-416B-A861-FE88FEBA2A54}"/>
              </a:ext>
            </a:extLst>
          </p:cNvPr>
          <p:cNvSpPr/>
          <p:nvPr/>
        </p:nvSpPr>
        <p:spPr>
          <a:xfrm>
            <a:off x="4962632" y="2296130"/>
            <a:ext cx="514339" cy="192025"/>
          </a:xfrm>
          <a:prstGeom prst="rect">
            <a:avLst/>
          </a:prstGeom>
          <a:solidFill>
            <a:srgbClr val="92D05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700" b="1" kern="0" dirty="0" err="1">
                <a:solidFill>
                  <a:sysClr val="windowText" lastClr="000000"/>
                </a:solidFill>
                <a:latin typeface="Arial"/>
              </a:rPr>
              <a:t>RDc</a:t>
            </a:r>
            <a:endParaRPr lang="en-US" sz="700" b="1" kern="0" dirty="0">
              <a:solidFill>
                <a:sysClr val="windowText" lastClr="000000"/>
              </a:solidFill>
              <a:latin typeface="Arial"/>
            </a:endParaRPr>
          </a:p>
        </p:txBody>
      </p:sp>
      <p:cxnSp>
        <p:nvCxnSpPr>
          <p:cNvPr id="222" name="Straight Arrow Connector 221">
            <a:extLst>
              <a:ext uri="{FF2B5EF4-FFF2-40B4-BE49-F238E27FC236}">
                <a16:creationId xmlns:a16="http://schemas.microsoft.com/office/drawing/2014/main" id="{440ED166-904E-4B7C-8CCA-685F55D25DE9}"/>
              </a:ext>
            </a:extLst>
          </p:cNvPr>
          <p:cNvCxnSpPr/>
          <p:nvPr/>
        </p:nvCxnSpPr>
        <p:spPr>
          <a:xfrm>
            <a:off x="9372477" y="3083355"/>
            <a:ext cx="1177447" cy="1588"/>
          </a:xfrm>
          <a:prstGeom prst="straightConnector1">
            <a:avLst/>
          </a:prstGeom>
          <a:noFill/>
          <a:ln w="25400" cap="flat" cmpd="sng" algn="ctr">
            <a:solidFill>
              <a:srgbClr val="3F3F3F"/>
            </a:solidFill>
            <a:prstDash val="solid"/>
            <a:headEnd type="triangle" w="med" len="med"/>
            <a:tailEnd type="triangle" w="med" len="med"/>
          </a:ln>
          <a:effectLst>
            <a:outerShdw blurRad="40000" dist="20000" dir="5400000" rotWithShape="0">
              <a:srgbClr val="000000">
                <a:alpha val="38000"/>
              </a:srgbClr>
            </a:outerShdw>
          </a:effectLst>
        </p:spPr>
      </p:cxnSp>
      <p:sp>
        <p:nvSpPr>
          <p:cNvPr id="223" name="TextBox 222">
            <a:extLst>
              <a:ext uri="{FF2B5EF4-FFF2-40B4-BE49-F238E27FC236}">
                <a16:creationId xmlns:a16="http://schemas.microsoft.com/office/drawing/2014/main" id="{D6F31F1F-5C32-4692-8588-241A420B7B22}"/>
              </a:ext>
            </a:extLst>
          </p:cNvPr>
          <p:cNvSpPr txBox="1"/>
          <p:nvPr/>
        </p:nvSpPr>
        <p:spPr>
          <a:xfrm>
            <a:off x="9116509" y="3160319"/>
            <a:ext cx="1791767" cy="461665"/>
          </a:xfrm>
          <a:prstGeom prst="rect">
            <a:avLst/>
          </a:prstGeom>
          <a:solidFill>
            <a:srgbClr val="FFFF99"/>
          </a:solidFill>
          <a:ln w="19050">
            <a:solidFill>
              <a:srgbClr val="000000"/>
            </a:solidFill>
          </a:ln>
          <a:effectLst>
            <a:innerShdw blurRad="63500" dist="50800" dir="2700000">
              <a:prstClr val="black">
                <a:alpha val="50000"/>
              </a:prstClr>
            </a:innerShdw>
          </a:effectLst>
        </p:spPr>
        <p:txBody>
          <a:bodyPr wrap="square" rtlCol="0">
            <a:spAutoFit/>
          </a:bodyPr>
          <a:lstStyle/>
          <a:p>
            <a:pPr algn="ctr" defTabSz="457200" fontAlgn="base">
              <a:spcBef>
                <a:spcPct val="0"/>
              </a:spcBef>
              <a:spcAft>
                <a:spcPct val="0"/>
              </a:spcAft>
              <a:defRPr/>
            </a:pPr>
            <a:r>
              <a:rPr lang="en-US" sz="1200" b="1" kern="0" dirty="0">
                <a:solidFill>
                  <a:prstClr val="black"/>
                </a:solidFill>
                <a:ea typeface="ＭＳ Ｐゴシック" pitchFamily="34" charset="-128"/>
                <a:cs typeface="Arial" charset="0"/>
              </a:rPr>
              <a:t>Mult is very constrained</a:t>
            </a:r>
          </a:p>
        </p:txBody>
      </p:sp>
      <p:sp>
        <p:nvSpPr>
          <p:cNvPr id="224" name="Right Arrow 115">
            <a:extLst>
              <a:ext uri="{FF2B5EF4-FFF2-40B4-BE49-F238E27FC236}">
                <a16:creationId xmlns:a16="http://schemas.microsoft.com/office/drawing/2014/main" id="{F46F4EF5-E317-4613-8AD2-CD270D8D3CC8}"/>
              </a:ext>
            </a:extLst>
          </p:cNvPr>
          <p:cNvSpPr/>
          <p:nvPr/>
        </p:nvSpPr>
        <p:spPr>
          <a:xfrm>
            <a:off x="1898148" y="1201510"/>
            <a:ext cx="2354893" cy="614480"/>
          </a:xfrm>
          <a:prstGeom prst="rightArrow">
            <a:avLst>
              <a:gd name="adj1" fmla="val 50000"/>
              <a:gd name="adj2" fmla="val 31812"/>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endParaRPr lang="en-US" kern="0">
              <a:solidFill>
                <a:prstClr val="white"/>
              </a:solidFill>
              <a:latin typeface="Arial"/>
            </a:endParaRPr>
          </a:p>
        </p:txBody>
      </p:sp>
      <p:sp>
        <p:nvSpPr>
          <p:cNvPr id="225" name="TextBox 224">
            <a:extLst>
              <a:ext uri="{FF2B5EF4-FFF2-40B4-BE49-F238E27FC236}">
                <a16:creationId xmlns:a16="http://schemas.microsoft.com/office/drawing/2014/main" id="{6FC4B4DA-617D-4329-9465-20049D679EEC}"/>
              </a:ext>
            </a:extLst>
          </p:cNvPr>
          <p:cNvSpPr txBox="1"/>
          <p:nvPr/>
        </p:nvSpPr>
        <p:spPr>
          <a:xfrm>
            <a:off x="1983709" y="1354748"/>
            <a:ext cx="1548822" cy="307777"/>
          </a:xfrm>
          <a:prstGeom prst="rect">
            <a:avLst/>
          </a:prstGeom>
          <a:noFill/>
        </p:spPr>
        <p:txBody>
          <a:bodyPr wrap="none" rtlCol="0">
            <a:spAutoFit/>
          </a:bodyPr>
          <a:lstStyle/>
          <a:p>
            <a:pPr defTabSz="457200" fontAlgn="base">
              <a:spcBef>
                <a:spcPct val="0"/>
              </a:spcBef>
              <a:spcAft>
                <a:spcPct val="0"/>
              </a:spcAft>
            </a:pPr>
            <a:r>
              <a:rPr lang="en-US" sz="1400" dirty="0">
                <a:solidFill>
                  <a:prstClr val="black"/>
                </a:solidFill>
                <a:ea typeface="ＭＳ Ｐゴシック" pitchFamily="34" charset="-128"/>
                <a:cs typeface="Arial" charset="0"/>
              </a:rPr>
              <a:t>Default Schedule</a:t>
            </a:r>
          </a:p>
        </p:txBody>
      </p:sp>
      <p:cxnSp>
        <p:nvCxnSpPr>
          <p:cNvPr id="226" name="Straight Arrow Connector 225">
            <a:extLst>
              <a:ext uri="{FF2B5EF4-FFF2-40B4-BE49-F238E27FC236}">
                <a16:creationId xmlns:a16="http://schemas.microsoft.com/office/drawing/2014/main" id="{C9617542-BE51-4B58-A52B-30A36C6C668F}"/>
              </a:ext>
            </a:extLst>
          </p:cNvPr>
          <p:cNvCxnSpPr/>
          <p:nvPr/>
        </p:nvCxnSpPr>
        <p:spPr>
          <a:xfrm>
            <a:off x="4355427" y="3083355"/>
            <a:ext cx="5016946" cy="1588"/>
          </a:xfrm>
          <a:prstGeom prst="straightConnector1">
            <a:avLst/>
          </a:prstGeom>
          <a:noFill/>
          <a:ln w="25400" cap="flat" cmpd="sng" algn="ctr">
            <a:solidFill>
              <a:srgbClr val="B20838"/>
            </a:solidFill>
            <a:prstDash val="solid"/>
            <a:headEnd type="none" w="med" len="med"/>
            <a:tailEnd type="triangle" w="med" len="med"/>
          </a:ln>
          <a:effectLst>
            <a:outerShdw blurRad="40000" dist="20000" dir="5400000" rotWithShape="0">
              <a:srgbClr val="000000">
                <a:alpha val="38000"/>
              </a:srgbClr>
            </a:outerShdw>
          </a:effectLst>
        </p:spPr>
      </p:cxnSp>
      <p:cxnSp>
        <p:nvCxnSpPr>
          <p:cNvPr id="227" name="Straight Arrow Connector 226">
            <a:extLst>
              <a:ext uri="{FF2B5EF4-FFF2-40B4-BE49-F238E27FC236}">
                <a16:creationId xmlns:a16="http://schemas.microsoft.com/office/drawing/2014/main" id="{163F487A-6B44-4B0E-B1CD-08E0A0A7ED06}"/>
              </a:ext>
            </a:extLst>
          </p:cNvPr>
          <p:cNvCxnSpPr/>
          <p:nvPr/>
        </p:nvCxnSpPr>
        <p:spPr>
          <a:xfrm rot="10800000">
            <a:off x="10601015" y="3083355"/>
            <a:ext cx="511933" cy="1588"/>
          </a:xfrm>
          <a:prstGeom prst="straightConnector1">
            <a:avLst/>
          </a:prstGeom>
          <a:noFill/>
          <a:ln w="25400" cap="flat" cmpd="sng" algn="ctr">
            <a:solidFill>
              <a:srgbClr val="B20838"/>
            </a:solidFill>
            <a:prstDash val="solid"/>
            <a:headEnd type="none" w="med" len="med"/>
            <a:tailEnd type="triangle" w="med" len="med"/>
          </a:ln>
          <a:effectLst>
            <a:outerShdw blurRad="40000" dist="20000" dir="5400000" rotWithShape="0">
              <a:srgbClr val="000000">
                <a:alpha val="38000"/>
              </a:srgbClr>
            </a:outerShdw>
          </a:effectLst>
        </p:spPr>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Schedule after Loop Optimization</a:t>
            </a:r>
          </a:p>
        </p:txBody>
      </p:sp>
      <p:sp>
        <p:nvSpPr>
          <p:cNvPr id="3" name="Content Placeholder 2"/>
          <p:cNvSpPr>
            <a:spLocks noGrp="1"/>
          </p:cNvSpPr>
          <p:nvPr>
            <p:ph idx="1"/>
          </p:nvPr>
        </p:nvSpPr>
        <p:spPr/>
        <p:txBody>
          <a:bodyPr>
            <a:normAutofit fontScale="92500" lnSpcReduction="10000"/>
          </a:bodyPr>
          <a:lstStyle/>
          <a:p>
            <a:r>
              <a:rPr lang="en-US" dirty="0"/>
              <a:t>With the loop unrolled (completely)</a:t>
            </a:r>
          </a:p>
          <a:p>
            <a:pPr lvl="1"/>
            <a:r>
              <a:rPr lang="en-US" dirty="0"/>
              <a:t>The dependency on loop iterations is gone</a:t>
            </a:r>
          </a:p>
          <a:p>
            <a:pPr lvl="1"/>
            <a:r>
              <a:rPr lang="en-US" dirty="0"/>
              <a:t>Operations can now occur in parallel</a:t>
            </a:r>
          </a:p>
          <a:p>
            <a:pPr lvl="2"/>
            <a:r>
              <a:rPr lang="en-US" dirty="0"/>
              <a:t>If data dependencies allow</a:t>
            </a:r>
          </a:p>
          <a:p>
            <a:pPr lvl="2"/>
            <a:r>
              <a:rPr lang="en-US" dirty="0"/>
              <a:t>If operator timing allows</a:t>
            </a:r>
          </a:p>
          <a:p>
            <a:pPr lvl="1"/>
            <a:r>
              <a:rPr lang="en-US" dirty="0"/>
              <a:t>Design finished faster but uses more operators</a:t>
            </a:r>
          </a:p>
          <a:p>
            <a:pPr lvl="2"/>
            <a:r>
              <a:rPr lang="en-US" dirty="0"/>
              <a:t>2 multipliers &amp; 2 Adders</a:t>
            </a:r>
          </a:p>
          <a:p>
            <a:r>
              <a:rPr lang="en-US" dirty="0"/>
              <a:t>Schedule Summary</a:t>
            </a:r>
          </a:p>
          <a:p>
            <a:pPr lvl="1"/>
            <a:r>
              <a:rPr lang="en-US" dirty="0"/>
              <a:t>All the logic associated with the loop counters and index checking are </a:t>
            </a:r>
            <a:br>
              <a:rPr lang="en-US" dirty="0"/>
            </a:br>
            <a:r>
              <a:rPr lang="en-US" dirty="0"/>
              <a:t>now gone</a:t>
            </a:r>
          </a:p>
          <a:p>
            <a:pPr lvl="1"/>
            <a:r>
              <a:rPr lang="en-US" dirty="0"/>
              <a:t>Two multiplications can occur at the same time</a:t>
            </a:r>
          </a:p>
          <a:p>
            <a:pPr lvl="2"/>
            <a:r>
              <a:rPr lang="en-US" dirty="0"/>
              <a:t>All 4 could, but it’s limited by the number of input reads (2) on coefficient port C</a:t>
            </a:r>
          </a:p>
          <a:p>
            <a:pPr lvl="1"/>
            <a:r>
              <a:rPr lang="en-US" dirty="0"/>
              <a:t>Why 2 reads on port C? </a:t>
            </a:r>
          </a:p>
          <a:p>
            <a:pPr lvl="2"/>
            <a:r>
              <a:rPr lang="en-US" dirty="0"/>
              <a:t>The default behavior for arrays now limits the schedule…</a:t>
            </a:r>
          </a:p>
        </p:txBody>
      </p:sp>
      <p:sp>
        <p:nvSpPr>
          <p:cNvPr id="6" name="Slide Number Placeholder 5"/>
          <p:cNvSpPr>
            <a:spLocks noGrp="1"/>
          </p:cNvSpPr>
          <p:nvPr>
            <p:ph type="sldNum" sz="quarter" idx="10"/>
          </p:nvPr>
        </p:nvSpPr>
        <p:spPr/>
        <p:txBody>
          <a:bodyPr/>
          <a:lstStyle/>
          <a:p>
            <a:pPr>
              <a:defRPr/>
            </a:pPr>
            <a:r>
              <a:rPr lang="en-US" dirty="0"/>
              <a:t>Intro to HLS 11- </a:t>
            </a:r>
            <a:fld id="{060BD193-E118-4B16-863C-C8C12C675E3E}" type="slidenum">
              <a:rPr lang="en-US" smtClean="0"/>
              <a:pPr>
                <a:defRPr/>
              </a:pPr>
              <a:t>26</a:t>
            </a:fld>
            <a:endParaRPr lang="en-US" dirty="0"/>
          </a:p>
        </p:txBody>
      </p:sp>
      <p:sp>
        <p:nvSpPr>
          <p:cNvPr id="29" name="Rectangle 28">
            <a:extLst>
              <a:ext uri="{FF2B5EF4-FFF2-40B4-BE49-F238E27FC236}">
                <a16:creationId xmlns:a16="http://schemas.microsoft.com/office/drawing/2014/main" id="{1A894F00-3F7F-4520-8328-5857B9632483}"/>
              </a:ext>
            </a:extLst>
          </p:cNvPr>
          <p:cNvSpPr/>
          <p:nvPr/>
        </p:nvSpPr>
        <p:spPr>
          <a:xfrm>
            <a:off x="10345149" y="3352188"/>
            <a:ext cx="514339" cy="192025"/>
          </a:xfrm>
          <a:prstGeom prst="rect">
            <a:avLst/>
          </a:prstGeom>
          <a:solidFill>
            <a:srgbClr val="91B8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200" b="1" kern="0" dirty="0">
                <a:solidFill>
                  <a:sysClr val="windowText" lastClr="000000"/>
                </a:solidFill>
                <a:latin typeface="Arial"/>
              </a:rPr>
              <a:t>+</a:t>
            </a:r>
          </a:p>
        </p:txBody>
      </p:sp>
      <p:sp>
        <p:nvSpPr>
          <p:cNvPr id="30" name="Rectangle 29">
            <a:extLst>
              <a:ext uri="{FF2B5EF4-FFF2-40B4-BE49-F238E27FC236}">
                <a16:creationId xmlns:a16="http://schemas.microsoft.com/office/drawing/2014/main" id="{61B02F3A-1D38-4A42-90B7-E3DB5D7EBACF}"/>
              </a:ext>
            </a:extLst>
          </p:cNvPr>
          <p:cNvSpPr/>
          <p:nvPr/>
        </p:nvSpPr>
        <p:spPr>
          <a:xfrm>
            <a:off x="10342743" y="2430608"/>
            <a:ext cx="514339" cy="192025"/>
          </a:xfrm>
          <a:prstGeom prst="rect">
            <a:avLst/>
          </a:prstGeom>
          <a:solidFill>
            <a:srgbClr val="91B8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700" b="1" kern="0" dirty="0" err="1">
                <a:solidFill>
                  <a:sysClr val="windowText" lastClr="000000"/>
                </a:solidFill>
                <a:latin typeface="Arial"/>
              </a:rPr>
              <a:t>RDx</a:t>
            </a:r>
            <a:endParaRPr lang="en-US" sz="700" b="1" kern="0" dirty="0">
              <a:solidFill>
                <a:sysClr val="windowText" lastClr="000000"/>
              </a:solidFill>
              <a:latin typeface="Arial"/>
            </a:endParaRPr>
          </a:p>
        </p:txBody>
      </p:sp>
      <p:sp>
        <p:nvSpPr>
          <p:cNvPr id="31" name="Rectangle 30">
            <a:extLst>
              <a:ext uri="{FF2B5EF4-FFF2-40B4-BE49-F238E27FC236}">
                <a16:creationId xmlns:a16="http://schemas.microsoft.com/office/drawing/2014/main" id="{F2E62AB3-8D2A-4C2C-B7A3-2E650715FB5C}"/>
              </a:ext>
            </a:extLst>
          </p:cNvPr>
          <p:cNvSpPr/>
          <p:nvPr/>
        </p:nvSpPr>
        <p:spPr>
          <a:xfrm>
            <a:off x="9782022" y="2661038"/>
            <a:ext cx="514339" cy="192025"/>
          </a:xfrm>
          <a:prstGeom prst="rect">
            <a:avLst/>
          </a:prstGeom>
          <a:solidFill>
            <a:srgbClr val="91B8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600" b="1" kern="0" dirty="0">
                <a:solidFill>
                  <a:sysClr val="windowText" lastClr="000000"/>
                </a:solidFill>
                <a:latin typeface="Arial"/>
              </a:rPr>
              <a:t>*</a:t>
            </a:r>
          </a:p>
        </p:txBody>
      </p:sp>
      <p:grpSp>
        <p:nvGrpSpPr>
          <p:cNvPr id="32" name="Group 71">
            <a:extLst>
              <a:ext uri="{FF2B5EF4-FFF2-40B4-BE49-F238E27FC236}">
                <a16:creationId xmlns:a16="http://schemas.microsoft.com/office/drawing/2014/main" id="{48AB3B0D-39AC-4A55-970E-48799D56DB6F}"/>
              </a:ext>
            </a:extLst>
          </p:cNvPr>
          <p:cNvGrpSpPr/>
          <p:nvPr/>
        </p:nvGrpSpPr>
        <p:grpSpPr>
          <a:xfrm>
            <a:off x="9781927" y="1777585"/>
            <a:ext cx="563125" cy="115214"/>
            <a:chOff x="-66694" y="1130300"/>
            <a:chExt cx="533401" cy="228600"/>
          </a:xfrm>
          <a:effectLst>
            <a:outerShdw blurRad="50800" dist="38100" dir="2700000" algn="tl" rotWithShape="0">
              <a:prstClr val="black">
                <a:alpha val="40000"/>
              </a:prstClr>
            </a:outerShdw>
          </a:effectLst>
        </p:grpSpPr>
        <p:cxnSp>
          <p:nvCxnSpPr>
            <p:cNvPr id="33" name="Straight Connector 32">
              <a:extLst>
                <a:ext uri="{FF2B5EF4-FFF2-40B4-BE49-F238E27FC236}">
                  <a16:creationId xmlns:a16="http://schemas.microsoft.com/office/drawing/2014/main" id="{7E288620-B745-4FAF-A5C7-BAD6BBA0BF6E}"/>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34" name="Straight Connector 33">
              <a:extLst>
                <a:ext uri="{FF2B5EF4-FFF2-40B4-BE49-F238E27FC236}">
                  <a16:creationId xmlns:a16="http://schemas.microsoft.com/office/drawing/2014/main" id="{94281A11-5525-4681-BF2D-F4015D525123}"/>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35" name="Straight Connector 34">
              <a:extLst>
                <a:ext uri="{FF2B5EF4-FFF2-40B4-BE49-F238E27FC236}">
                  <a16:creationId xmlns:a16="http://schemas.microsoft.com/office/drawing/2014/main" id="{2FCB2D18-2232-4538-850A-3A176D4B1FFD}"/>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36" name="Straight Connector 35">
              <a:extLst>
                <a:ext uri="{FF2B5EF4-FFF2-40B4-BE49-F238E27FC236}">
                  <a16:creationId xmlns:a16="http://schemas.microsoft.com/office/drawing/2014/main" id="{F78943C3-7E22-4B69-961F-4C727B4DB76B}"/>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37" name="Group 71">
            <a:extLst>
              <a:ext uri="{FF2B5EF4-FFF2-40B4-BE49-F238E27FC236}">
                <a16:creationId xmlns:a16="http://schemas.microsoft.com/office/drawing/2014/main" id="{02480E52-2B24-4679-A1E2-7443B8E4176A}"/>
              </a:ext>
            </a:extLst>
          </p:cNvPr>
          <p:cNvGrpSpPr/>
          <p:nvPr/>
        </p:nvGrpSpPr>
        <p:grpSpPr>
          <a:xfrm>
            <a:off x="10345051" y="1777586"/>
            <a:ext cx="563125" cy="115214"/>
            <a:chOff x="-66694" y="1130300"/>
            <a:chExt cx="533401" cy="228600"/>
          </a:xfrm>
          <a:effectLst>
            <a:outerShdw blurRad="50800" dist="38100" dir="2700000" algn="tl" rotWithShape="0">
              <a:prstClr val="black">
                <a:alpha val="40000"/>
              </a:prstClr>
            </a:outerShdw>
          </a:effectLst>
        </p:grpSpPr>
        <p:cxnSp>
          <p:nvCxnSpPr>
            <p:cNvPr id="38" name="Straight Connector 37">
              <a:extLst>
                <a:ext uri="{FF2B5EF4-FFF2-40B4-BE49-F238E27FC236}">
                  <a16:creationId xmlns:a16="http://schemas.microsoft.com/office/drawing/2014/main" id="{01A0BC80-4FAE-4713-AD58-734384ECB9F0}"/>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39" name="Straight Connector 38">
              <a:extLst>
                <a:ext uri="{FF2B5EF4-FFF2-40B4-BE49-F238E27FC236}">
                  <a16:creationId xmlns:a16="http://schemas.microsoft.com/office/drawing/2014/main" id="{431466DF-337C-485A-820E-BA0EB0189886}"/>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40" name="Straight Connector 39">
              <a:extLst>
                <a:ext uri="{FF2B5EF4-FFF2-40B4-BE49-F238E27FC236}">
                  <a16:creationId xmlns:a16="http://schemas.microsoft.com/office/drawing/2014/main" id="{E4319B25-9128-47AE-8E2D-FA0C2DB4D653}"/>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41" name="Straight Connector 40">
              <a:extLst>
                <a:ext uri="{FF2B5EF4-FFF2-40B4-BE49-F238E27FC236}">
                  <a16:creationId xmlns:a16="http://schemas.microsoft.com/office/drawing/2014/main" id="{01223F8B-50F0-49D8-8500-5D79110E2903}"/>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sp>
        <p:nvSpPr>
          <p:cNvPr id="42" name="Rectangle 41">
            <a:extLst>
              <a:ext uri="{FF2B5EF4-FFF2-40B4-BE49-F238E27FC236}">
                <a16:creationId xmlns:a16="http://schemas.microsoft.com/office/drawing/2014/main" id="{5A102F31-AC8C-4DCC-BC6E-BA5378B98704}"/>
              </a:ext>
            </a:extLst>
          </p:cNvPr>
          <p:cNvSpPr/>
          <p:nvPr/>
        </p:nvSpPr>
        <p:spPr>
          <a:xfrm>
            <a:off x="10345149" y="3121898"/>
            <a:ext cx="514339" cy="192025"/>
          </a:xfrm>
          <a:prstGeom prst="rect">
            <a:avLst/>
          </a:prstGeom>
          <a:solidFill>
            <a:srgbClr val="91B8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200" b="1" kern="0" dirty="0">
                <a:solidFill>
                  <a:sysClr val="windowText" lastClr="000000"/>
                </a:solidFill>
                <a:latin typeface="Arial"/>
              </a:rPr>
              <a:t>+</a:t>
            </a:r>
          </a:p>
        </p:txBody>
      </p:sp>
      <p:sp>
        <p:nvSpPr>
          <p:cNvPr id="43" name="Rectangle 42">
            <a:extLst>
              <a:ext uri="{FF2B5EF4-FFF2-40B4-BE49-F238E27FC236}">
                <a16:creationId xmlns:a16="http://schemas.microsoft.com/office/drawing/2014/main" id="{B0BAAAEC-0C01-4A2F-AD83-BF29962DACDC}"/>
              </a:ext>
            </a:extLst>
          </p:cNvPr>
          <p:cNvSpPr/>
          <p:nvPr/>
        </p:nvSpPr>
        <p:spPr>
          <a:xfrm>
            <a:off x="9782022" y="2891468"/>
            <a:ext cx="514339" cy="192025"/>
          </a:xfrm>
          <a:prstGeom prst="rect">
            <a:avLst/>
          </a:prstGeom>
          <a:solidFill>
            <a:srgbClr val="91B8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600" b="1" kern="0" dirty="0">
                <a:solidFill>
                  <a:sysClr val="windowText" lastClr="000000"/>
                </a:solidFill>
                <a:latin typeface="Arial"/>
              </a:rPr>
              <a:t>*</a:t>
            </a:r>
          </a:p>
        </p:txBody>
      </p:sp>
      <p:sp>
        <p:nvSpPr>
          <p:cNvPr id="44" name="Rectangle 43">
            <a:extLst>
              <a:ext uri="{FF2B5EF4-FFF2-40B4-BE49-F238E27FC236}">
                <a16:creationId xmlns:a16="http://schemas.microsoft.com/office/drawing/2014/main" id="{85873C61-007C-45C1-B6A1-8E48152FFC41}"/>
              </a:ext>
            </a:extLst>
          </p:cNvPr>
          <p:cNvSpPr/>
          <p:nvPr/>
        </p:nvSpPr>
        <p:spPr>
          <a:xfrm>
            <a:off x="10345149" y="2661038"/>
            <a:ext cx="514339" cy="192025"/>
          </a:xfrm>
          <a:prstGeom prst="rect">
            <a:avLst/>
          </a:prstGeom>
          <a:solidFill>
            <a:srgbClr val="91B8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600" b="1" kern="0" dirty="0">
                <a:solidFill>
                  <a:sysClr val="windowText" lastClr="000000"/>
                </a:solidFill>
                <a:latin typeface="Arial"/>
              </a:rPr>
              <a:t>*</a:t>
            </a:r>
            <a:endParaRPr lang="en-US" sz="1200" b="1" kern="0" dirty="0">
              <a:solidFill>
                <a:sysClr val="windowText" lastClr="000000"/>
              </a:solidFill>
              <a:latin typeface="Arial"/>
            </a:endParaRPr>
          </a:p>
        </p:txBody>
      </p:sp>
      <p:sp>
        <p:nvSpPr>
          <p:cNvPr id="45" name="Rectangle 44">
            <a:extLst>
              <a:ext uri="{FF2B5EF4-FFF2-40B4-BE49-F238E27FC236}">
                <a16:creationId xmlns:a16="http://schemas.microsoft.com/office/drawing/2014/main" id="{FDD61FC6-0903-4B51-9868-706B6AEE1F6E}"/>
              </a:ext>
            </a:extLst>
          </p:cNvPr>
          <p:cNvSpPr/>
          <p:nvPr/>
        </p:nvSpPr>
        <p:spPr>
          <a:xfrm>
            <a:off x="10345149" y="2891468"/>
            <a:ext cx="514339" cy="192025"/>
          </a:xfrm>
          <a:prstGeom prst="rect">
            <a:avLst/>
          </a:prstGeom>
          <a:solidFill>
            <a:srgbClr val="91B8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600" b="1" kern="0" dirty="0">
                <a:solidFill>
                  <a:sysClr val="windowText" lastClr="000000"/>
                </a:solidFill>
                <a:latin typeface="Arial"/>
              </a:rPr>
              <a:t>*</a:t>
            </a:r>
          </a:p>
        </p:txBody>
      </p:sp>
      <p:sp>
        <p:nvSpPr>
          <p:cNvPr id="46" name="Rectangle 45">
            <a:extLst>
              <a:ext uri="{FF2B5EF4-FFF2-40B4-BE49-F238E27FC236}">
                <a16:creationId xmlns:a16="http://schemas.microsoft.com/office/drawing/2014/main" id="{124B39F2-4B53-432A-A6E9-442F59654F47}"/>
              </a:ext>
            </a:extLst>
          </p:cNvPr>
          <p:cNvSpPr/>
          <p:nvPr/>
        </p:nvSpPr>
        <p:spPr>
          <a:xfrm>
            <a:off x="10345149" y="3582618"/>
            <a:ext cx="514339" cy="192025"/>
          </a:xfrm>
          <a:prstGeom prst="rect">
            <a:avLst/>
          </a:prstGeom>
          <a:solidFill>
            <a:srgbClr val="91B8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700" b="1" kern="0" dirty="0" err="1">
                <a:solidFill>
                  <a:sysClr val="windowText" lastClr="000000"/>
                </a:solidFill>
                <a:latin typeface="Arial"/>
              </a:rPr>
              <a:t>WRy</a:t>
            </a:r>
            <a:endParaRPr lang="en-US" sz="700" b="1" kern="0" dirty="0">
              <a:solidFill>
                <a:sysClr val="windowText" lastClr="000000"/>
              </a:solidFill>
              <a:latin typeface="Arial"/>
            </a:endParaRPr>
          </a:p>
        </p:txBody>
      </p:sp>
      <p:sp>
        <p:nvSpPr>
          <p:cNvPr id="47" name="Rectangle 46">
            <a:extLst>
              <a:ext uri="{FF2B5EF4-FFF2-40B4-BE49-F238E27FC236}">
                <a16:creationId xmlns:a16="http://schemas.microsoft.com/office/drawing/2014/main" id="{71530DF4-0656-47CF-BDF8-5F5DD922609E}"/>
              </a:ext>
            </a:extLst>
          </p:cNvPr>
          <p:cNvSpPr/>
          <p:nvPr/>
        </p:nvSpPr>
        <p:spPr>
          <a:xfrm>
            <a:off x="9779616" y="1969610"/>
            <a:ext cx="514339" cy="192025"/>
          </a:xfrm>
          <a:prstGeom prst="rect">
            <a:avLst/>
          </a:prstGeom>
          <a:solidFill>
            <a:srgbClr val="91B8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700" b="1" kern="0" dirty="0" err="1">
                <a:solidFill>
                  <a:sysClr val="windowText" lastClr="000000"/>
                </a:solidFill>
                <a:latin typeface="Arial"/>
              </a:rPr>
              <a:t>RDc</a:t>
            </a:r>
            <a:endParaRPr lang="en-US" sz="700" b="1" kern="0" dirty="0">
              <a:solidFill>
                <a:sysClr val="windowText" lastClr="000000"/>
              </a:solidFill>
              <a:latin typeface="Arial"/>
            </a:endParaRPr>
          </a:p>
        </p:txBody>
      </p:sp>
      <p:sp>
        <p:nvSpPr>
          <p:cNvPr id="48" name="Rectangle 47">
            <a:extLst>
              <a:ext uri="{FF2B5EF4-FFF2-40B4-BE49-F238E27FC236}">
                <a16:creationId xmlns:a16="http://schemas.microsoft.com/office/drawing/2014/main" id="{C3F4CDF7-4DAC-4DBC-8BC2-606C1B4A55F6}"/>
              </a:ext>
            </a:extLst>
          </p:cNvPr>
          <p:cNvSpPr/>
          <p:nvPr/>
        </p:nvSpPr>
        <p:spPr>
          <a:xfrm>
            <a:off x="9779616" y="2200178"/>
            <a:ext cx="514339" cy="192025"/>
          </a:xfrm>
          <a:prstGeom prst="rect">
            <a:avLst/>
          </a:prstGeom>
          <a:solidFill>
            <a:srgbClr val="91B8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700" b="1" kern="0" dirty="0" err="1">
                <a:solidFill>
                  <a:sysClr val="windowText" lastClr="000000"/>
                </a:solidFill>
                <a:latin typeface="Arial"/>
              </a:rPr>
              <a:t>RDc</a:t>
            </a:r>
            <a:endParaRPr lang="en-US" sz="700" b="1" kern="0" dirty="0">
              <a:solidFill>
                <a:sysClr val="windowText" lastClr="000000"/>
              </a:solidFill>
              <a:latin typeface="Arial"/>
            </a:endParaRPr>
          </a:p>
        </p:txBody>
      </p:sp>
      <p:sp>
        <p:nvSpPr>
          <p:cNvPr id="49" name="Rectangle 48">
            <a:extLst>
              <a:ext uri="{FF2B5EF4-FFF2-40B4-BE49-F238E27FC236}">
                <a16:creationId xmlns:a16="http://schemas.microsoft.com/office/drawing/2014/main" id="{150D0005-ED43-4675-B9A2-A73519447F4E}"/>
              </a:ext>
            </a:extLst>
          </p:cNvPr>
          <p:cNvSpPr/>
          <p:nvPr/>
        </p:nvSpPr>
        <p:spPr>
          <a:xfrm>
            <a:off x="9782022" y="3121898"/>
            <a:ext cx="514339" cy="192025"/>
          </a:xfrm>
          <a:prstGeom prst="rect">
            <a:avLst/>
          </a:prstGeom>
          <a:solidFill>
            <a:srgbClr val="91B8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200" b="1" kern="0" dirty="0">
                <a:solidFill>
                  <a:sysClr val="windowText" lastClr="000000"/>
                </a:solidFill>
                <a:latin typeface="Arial"/>
              </a:rPr>
              <a:t>+</a:t>
            </a:r>
          </a:p>
        </p:txBody>
      </p:sp>
      <p:sp>
        <p:nvSpPr>
          <p:cNvPr id="50" name="Rectangle 49">
            <a:extLst>
              <a:ext uri="{FF2B5EF4-FFF2-40B4-BE49-F238E27FC236}">
                <a16:creationId xmlns:a16="http://schemas.microsoft.com/office/drawing/2014/main" id="{AA4E62F3-DEC8-4A2A-BC66-4D25238FB3C0}"/>
              </a:ext>
            </a:extLst>
          </p:cNvPr>
          <p:cNvSpPr/>
          <p:nvPr/>
        </p:nvSpPr>
        <p:spPr>
          <a:xfrm>
            <a:off x="10342743" y="1969610"/>
            <a:ext cx="514339" cy="192025"/>
          </a:xfrm>
          <a:prstGeom prst="rect">
            <a:avLst/>
          </a:prstGeom>
          <a:solidFill>
            <a:srgbClr val="91B8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700" b="1" kern="0" dirty="0" err="1">
                <a:solidFill>
                  <a:sysClr val="windowText" lastClr="000000"/>
                </a:solidFill>
                <a:latin typeface="Arial"/>
              </a:rPr>
              <a:t>RDc</a:t>
            </a:r>
            <a:endParaRPr lang="en-US" sz="700" b="1" kern="0" dirty="0">
              <a:solidFill>
                <a:sysClr val="windowText" lastClr="000000"/>
              </a:solidFill>
              <a:latin typeface="Arial"/>
            </a:endParaRPr>
          </a:p>
        </p:txBody>
      </p:sp>
      <p:sp>
        <p:nvSpPr>
          <p:cNvPr id="51" name="Rectangle 50">
            <a:extLst>
              <a:ext uri="{FF2B5EF4-FFF2-40B4-BE49-F238E27FC236}">
                <a16:creationId xmlns:a16="http://schemas.microsoft.com/office/drawing/2014/main" id="{C9AA544F-4AAB-428A-8107-15E9998CBE47}"/>
              </a:ext>
            </a:extLst>
          </p:cNvPr>
          <p:cNvSpPr/>
          <p:nvPr/>
        </p:nvSpPr>
        <p:spPr>
          <a:xfrm>
            <a:off x="10342743" y="2200178"/>
            <a:ext cx="514339" cy="192025"/>
          </a:xfrm>
          <a:prstGeom prst="rect">
            <a:avLst/>
          </a:prstGeom>
          <a:solidFill>
            <a:srgbClr val="91B8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700" b="1" kern="0" dirty="0" err="1">
                <a:solidFill>
                  <a:sysClr val="windowText" lastClr="000000"/>
                </a:solidFill>
                <a:latin typeface="Arial"/>
              </a:rPr>
              <a:t>RDc</a:t>
            </a:r>
            <a:endParaRPr lang="en-US" sz="700" b="1" kern="0" dirty="0">
              <a:solidFill>
                <a:sysClr val="windowText" lastClr="000000"/>
              </a:solidFill>
              <a:latin typeface="Arial"/>
            </a:endParaRPr>
          </a:p>
        </p:txBody>
      </p:sp>
      <p:sp>
        <p:nvSpPr>
          <p:cNvPr id="52" name="TextBox 51">
            <a:extLst>
              <a:ext uri="{FF2B5EF4-FFF2-40B4-BE49-F238E27FC236}">
                <a16:creationId xmlns:a16="http://schemas.microsoft.com/office/drawing/2014/main" id="{B73D443A-171E-4381-A1CD-CF8F8D60A955}"/>
              </a:ext>
            </a:extLst>
          </p:cNvPr>
          <p:cNvSpPr txBox="1"/>
          <p:nvPr/>
        </p:nvSpPr>
        <p:spPr>
          <a:xfrm>
            <a:off x="9014024" y="3890002"/>
            <a:ext cx="2918019" cy="2254463"/>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p:spPr>
        <p:txBody>
          <a:bodyPr wrap="square" rtlCol="0">
            <a:spAutoFit/>
          </a:bodyPr>
          <a:lstStyle/>
          <a:p>
            <a:pPr defTabSz="457200" fontAlgn="base">
              <a:spcBef>
                <a:spcPct val="0"/>
              </a:spcBef>
              <a:spcAft>
                <a:spcPct val="0"/>
              </a:spcAft>
              <a:defRPr/>
            </a:pPr>
            <a:r>
              <a:rPr lang="en-US" sz="1000" kern="0" dirty="0">
                <a:solidFill>
                  <a:prstClr val="black"/>
                </a:solidFill>
                <a:latin typeface="Arial"/>
              </a:rPr>
              <a:t>void fir (</a:t>
            </a:r>
          </a:p>
          <a:p>
            <a:pPr defTabSz="457200" fontAlgn="base">
              <a:spcBef>
                <a:spcPct val="0"/>
              </a:spcBef>
              <a:spcAft>
                <a:spcPct val="0"/>
              </a:spcAft>
              <a:defRPr/>
            </a:pPr>
            <a:r>
              <a:rPr lang="en-US" sz="1000" kern="0" dirty="0">
                <a:solidFill>
                  <a:prstClr val="black"/>
                </a:solidFill>
                <a:latin typeface="Arial"/>
              </a:rPr>
              <a:t> …</a:t>
            </a:r>
          </a:p>
          <a:p>
            <a:pPr defTabSz="457200" fontAlgn="base">
              <a:spcBef>
                <a:spcPct val="0"/>
              </a:spcBef>
              <a:spcAft>
                <a:spcPct val="0"/>
              </a:spcAft>
              <a:defRPr/>
            </a:pPr>
            <a:r>
              <a:rPr lang="en-US" sz="1000" kern="0" dirty="0">
                <a:solidFill>
                  <a:prstClr val="black"/>
                </a:solidFill>
                <a:latin typeface="Arial"/>
              </a:rPr>
              <a:t>acc=0;</a:t>
            </a:r>
          </a:p>
          <a:p>
            <a:pPr defTabSz="457200" fontAlgn="base">
              <a:spcBef>
                <a:spcPct val="0"/>
              </a:spcBef>
              <a:spcAft>
                <a:spcPct val="0"/>
              </a:spcAft>
              <a:defRPr/>
            </a:pPr>
            <a:r>
              <a:rPr lang="en-US" sz="1000" kern="0" dirty="0">
                <a:solidFill>
                  <a:prstClr val="black"/>
                </a:solidFill>
                <a:latin typeface="Arial"/>
              </a:rPr>
              <a:t>  loop: for (</a:t>
            </a:r>
            <a:r>
              <a:rPr lang="en-US" sz="1000" kern="0" dirty="0" err="1">
                <a:solidFill>
                  <a:prstClr val="black"/>
                </a:solidFill>
                <a:latin typeface="Arial"/>
              </a:rPr>
              <a:t>i</a:t>
            </a:r>
            <a:r>
              <a:rPr lang="en-US" sz="1000" kern="0" dirty="0">
                <a:solidFill>
                  <a:prstClr val="black"/>
                </a:solidFill>
                <a:latin typeface="Arial"/>
              </a:rPr>
              <a:t>=3;i&gt;=0;i--) {</a:t>
            </a:r>
          </a:p>
          <a:p>
            <a:pPr defTabSz="457200" fontAlgn="base">
              <a:spcBef>
                <a:spcPct val="0"/>
              </a:spcBef>
              <a:spcAft>
                <a:spcPct val="0"/>
              </a:spcAft>
              <a:defRPr/>
            </a:pPr>
            <a:r>
              <a:rPr lang="en-US" sz="1000" kern="0" dirty="0">
                <a:solidFill>
                  <a:prstClr val="black"/>
                </a:solidFill>
                <a:latin typeface="Arial"/>
              </a:rPr>
              <a:t>     if (</a:t>
            </a:r>
            <a:r>
              <a:rPr lang="en-US" sz="1000" kern="0" dirty="0" err="1">
                <a:solidFill>
                  <a:prstClr val="black"/>
                </a:solidFill>
                <a:latin typeface="Arial"/>
              </a:rPr>
              <a:t>i</a:t>
            </a:r>
            <a:r>
              <a:rPr lang="en-US" sz="1000" kern="0" dirty="0">
                <a:solidFill>
                  <a:prstClr val="black"/>
                </a:solidFill>
                <a:latin typeface="Arial"/>
              </a:rPr>
              <a:t>==0) {</a:t>
            </a:r>
          </a:p>
          <a:p>
            <a:pPr defTabSz="457200" fontAlgn="base">
              <a:spcBef>
                <a:spcPct val="0"/>
              </a:spcBef>
              <a:spcAft>
                <a:spcPct val="0"/>
              </a:spcAft>
              <a:defRPr/>
            </a:pPr>
            <a:r>
              <a:rPr lang="en-US" sz="1000" kern="0" dirty="0">
                <a:solidFill>
                  <a:prstClr val="black"/>
                </a:solidFill>
                <a:latin typeface="Arial"/>
              </a:rPr>
              <a:t>       acc+=</a:t>
            </a:r>
            <a:r>
              <a:rPr lang="en-US" sz="1050" b="1" kern="0" dirty="0">
                <a:solidFill>
                  <a:prstClr val="black"/>
                </a:solidFill>
                <a:latin typeface="Arial"/>
              </a:rPr>
              <a:t>x</a:t>
            </a:r>
            <a:r>
              <a:rPr lang="en-US" sz="1000" kern="0" dirty="0">
                <a:solidFill>
                  <a:prstClr val="black"/>
                </a:solidFill>
                <a:latin typeface="Arial"/>
              </a:rPr>
              <a:t>*c[0];</a:t>
            </a:r>
          </a:p>
          <a:p>
            <a:pPr defTabSz="457200" fontAlgn="base">
              <a:spcBef>
                <a:spcPct val="0"/>
              </a:spcBef>
              <a:spcAft>
                <a:spcPct val="0"/>
              </a:spcAft>
              <a:defRPr/>
            </a:pPr>
            <a:r>
              <a:rPr lang="en-US" sz="1000" kern="0" dirty="0">
                <a:solidFill>
                  <a:prstClr val="black"/>
                </a:solidFill>
                <a:latin typeface="Arial"/>
              </a:rPr>
              <a:t>       </a:t>
            </a:r>
            <a:r>
              <a:rPr lang="en-US" sz="1000" kern="0" dirty="0" err="1">
                <a:solidFill>
                  <a:prstClr val="black"/>
                </a:solidFill>
                <a:latin typeface="Arial"/>
              </a:rPr>
              <a:t>shift_reg</a:t>
            </a:r>
            <a:r>
              <a:rPr lang="en-US" sz="1000" kern="0" dirty="0">
                <a:solidFill>
                  <a:prstClr val="black"/>
                </a:solidFill>
                <a:latin typeface="Arial"/>
              </a:rPr>
              <a:t>[0]=x;</a:t>
            </a:r>
          </a:p>
          <a:p>
            <a:pPr defTabSz="457200" fontAlgn="base">
              <a:spcBef>
                <a:spcPct val="0"/>
              </a:spcBef>
              <a:spcAft>
                <a:spcPct val="0"/>
              </a:spcAft>
              <a:defRPr/>
            </a:pPr>
            <a:r>
              <a:rPr lang="en-US" sz="1000" kern="0" dirty="0">
                <a:solidFill>
                  <a:prstClr val="black"/>
                </a:solidFill>
                <a:latin typeface="Arial"/>
              </a:rPr>
              <a:t>     } else {</a:t>
            </a:r>
          </a:p>
          <a:p>
            <a:pPr defTabSz="457200" fontAlgn="base">
              <a:spcBef>
                <a:spcPct val="0"/>
              </a:spcBef>
              <a:spcAft>
                <a:spcPct val="0"/>
              </a:spcAft>
              <a:defRPr/>
            </a:pPr>
            <a:r>
              <a:rPr lang="en-US" sz="1000" kern="0" dirty="0">
                <a:solidFill>
                  <a:prstClr val="black"/>
                </a:solidFill>
                <a:latin typeface="Arial"/>
              </a:rPr>
              <a:t>        </a:t>
            </a:r>
            <a:r>
              <a:rPr lang="en-US" sz="1000" kern="0" dirty="0" err="1">
                <a:solidFill>
                  <a:prstClr val="black"/>
                </a:solidFill>
                <a:latin typeface="Arial"/>
              </a:rPr>
              <a:t>shift_reg</a:t>
            </a:r>
            <a:r>
              <a:rPr lang="en-US" sz="1000" kern="0" dirty="0">
                <a:solidFill>
                  <a:prstClr val="black"/>
                </a:solidFill>
                <a:latin typeface="Arial"/>
              </a:rPr>
              <a:t>[</a:t>
            </a:r>
            <a:r>
              <a:rPr lang="en-US" sz="1000" kern="0" dirty="0" err="1">
                <a:solidFill>
                  <a:prstClr val="black"/>
                </a:solidFill>
                <a:latin typeface="Arial"/>
              </a:rPr>
              <a:t>i</a:t>
            </a:r>
            <a:r>
              <a:rPr lang="en-US" sz="1000" kern="0" dirty="0">
                <a:solidFill>
                  <a:prstClr val="black"/>
                </a:solidFill>
                <a:latin typeface="Arial"/>
              </a:rPr>
              <a:t>]=</a:t>
            </a:r>
            <a:r>
              <a:rPr lang="en-US" sz="1000" kern="0" dirty="0" err="1">
                <a:solidFill>
                  <a:prstClr val="black"/>
                </a:solidFill>
                <a:latin typeface="Arial"/>
              </a:rPr>
              <a:t>shift_reg</a:t>
            </a:r>
            <a:r>
              <a:rPr lang="en-US" sz="1000" kern="0" dirty="0">
                <a:solidFill>
                  <a:prstClr val="black"/>
                </a:solidFill>
                <a:latin typeface="Arial"/>
              </a:rPr>
              <a:t>[i-1];	        </a:t>
            </a:r>
          </a:p>
          <a:p>
            <a:pPr defTabSz="457200" fontAlgn="base">
              <a:spcBef>
                <a:spcPct val="0"/>
              </a:spcBef>
              <a:spcAft>
                <a:spcPct val="0"/>
              </a:spcAft>
              <a:defRPr/>
            </a:pPr>
            <a:r>
              <a:rPr lang="en-US" sz="1000" kern="0" dirty="0">
                <a:solidFill>
                  <a:prstClr val="black"/>
                </a:solidFill>
                <a:latin typeface="Arial"/>
              </a:rPr>
              <a:t>        acc+=</a:t>
            </a:r>
            <a:r>
              <a:rPr lang="en-US" sz="1000" kern="0" dirty="0" err="1">
                <a:solidFill>
                  <a:prstClr val="black"/>
                </a:solidFill>
                <a:latin typeface="Arial"/>
              </a:rPr>
              <a:t>shift_reg</a:t>
            </a:r>
            <a:r>
              <a:rPr lang="en-US" sz="1000" kern="0" dirty="0">
                <a:solidFill>
                  <a:prstClr val="black"/>
                </a:solidFill>
                <a:latin typeface="Arial"/>
              </a:rPr>
              <a:t>[</a:t>
            </a:r>
            <a:r>
              <a:rPr lang="en-US" sz="1000" kern="0" dirty="0" err="1">
                <a:solidFill>
                  <a:prstClr val="black"/>
                </a:solidFill>
                <a:latin typeface="Arial"/>
              </a:rPr>
              <a:t>i</a:t>
            </a:r>
            <a:r>
              <a:rPr lang="en-US" sz="1000" kern="0" dirty="0">
                <a:solidFill>
                  <a:prstClr val="black"/>
                </a:solidFill>
                <a:latin typeface="Arial"/>
              </a:rPr>
              <a:t>]*c[</a:t>
            </a:r>
            <a:r>
              <a:rPr lang="en-US" sz="1000" kern="0" dirty="0" err="1">
                <a:solidFill>
                  <a:prstClr val="black"/>
                </a:solidFill>
                <a:latin typeface="Arial"/>
              </a:rPr>
              <a:t>i</a:t>
            </a:r>
            <a:r>
              <a:rPr lang="en-US" sz="1000" kern="0" dirty="0">
                <a:solidFill>
                  <a:prstClr val="black"/>
                </a:solidFill>
                <a:latin typeface="Arial"/>
              </a:rPr>
              <a:t>];</a:t>
            </a:r>
          </a:p>
          <a:p>
            <a:pPr defTabSz="457200" fontAlgn="base">
              <a:spcBef>
                <a:spcPct val="0"/>
              </a:spcBef>
              <a:spcAft>
                <a:spcPct val="0"/>
              </a:spcAft>
              <a:defRPr/>
            </a:pPr>
            <a:r>
              <a:rPr lang="en-US" sz="1000" kern="0" dirty="0">
                <a:solidFill>
                  <a:prstClr val="black"/>
                </a:solidFill>
                <a:latin typeface="Arial"/>
              </a:rPr>
              <a:t>     }</a:t>
            </a:r>
          </a:p>
          <a:p>
            <a:pPr defTabSz="457200" fontAlgn="base">
              <a:spcBef>
                <a:spcPct val="0"/>
              </a:spcBef>
              <a:spcAft>
                <a:spcPct val="0"/>
              </a:spcAft>
              <a:defRPr/>
            </a:pPr>
            <a:r>
              <a:rPr lang="en-US" sz="1000" kern="0" dirty="0">
                <a:solidFill>
                  <a:prstClr val="black"/>
                </a:solidFill>
                <a:latin typeface="Arial"/>
              </a:rPr>
              <a:t>  }</a:t>
            </a:r>
          </a:p>
          <a:p>
            <a:pPr defTabSz="457200" fontAlgn="base">
              <a:spcBef>
                <a:spcPct val="0"/>
              </a:spcBef>
              <a:spcAft>
                <a:spcPct val="0"/>
              </a:spcAft>
              <a:defRPr/>
            </a:pPr>
            <a:r>
              <a:rPr lang="en-US" sz="1000" kern="0" dirty="0">
                <a:solidFill>
                  <a:prstClr val="black"/>
                </a:solidFill>
                <a:latin typeface="Arial"/>
              </a:rPr>
              <a:t>  *y=acc;</a:t>
            </a:r>
          </a:p>
          <a:p>
            <a:pPr defTabSz="457200" fontAlgn="base">
              <a:spcBef>
                <a:spcPct val="0"/>
              </a:spcBef>
              <a:spcAft>
                <a:spcPct val="0"/>
              </a:spcAft>
              <a:defRPr/>
            </a:pPr>
            <a:r>
              <a:rPr lang="en-US" sz="1000" kern="0" dirty="0">
                <a:solidFill>
                  <a:prstClr val="black"/>
                </a:solidFill>
                <a:latin typeface="Arial"/>
              </a:rPr>
              <a: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Arrays in HLS</a:t>
            </a:r>
          </a:p>
        </p:txBody>
      </p:sp>
      <p:sp>
        <p:nvSpPr>
          <p:cNvPr id="3" name="Content Placeholder 2"/>
          <p:cNvSpPr>
            <a:spLocks noGrp="1"/>
          </p:cNvSpPr>
          <p:nvPr>
            <p:ph idx="1"/>
          </p:nvPr>
        </p:nvSpPr>
        <p:spPr>
          <a:xfrm>
            <a:off x="633471" y="1049298"/>
            <a:ext cx="10515600" cy="4759404"/>
          </a:xfrm>
        </p:spPr>
        <p:txBody>
          <a:bodyPr>
            <a:noAutofit/>
          </a:bodyPr>
          <a:lstStyle/>
          <a:p>
            <a:r>
              <a:rPr lang="en-US" sz="2000" dirty="0"/>
              <a:t>An array in C code is implemented by a memory in the RTL</a:t>
            </a:r>
          </a:p>
          <a:p>
            <a:pPr lvl="1"/>
            <a:r>
              <a:rPr lang="en-US" sz="1800" dirty="0"/>
              <a:t>By default, arrays are implemented as RAMs, optionally a FIFO</a:t>
            </a:r>
          </a:p>
          <a:p>
            <a:pPr lvl="1"/>
            <a:endParaRPr lang="en-US" sz="1800" dirty="0"/>
          </a:p>
          <a:p>
            <a:pPr lvl="1"/>
            <a:endParaRPr lang="en-US" sz="1800" dirty="0"/>
          </a:p>
          <a:p>
            <a:pPr lvl="1"/>
            <a:endParaRPr lang="en-US" sz="1800" dirty="0"/>
          </a:p>
          <a:p>
            <a:pPr lvl="1"/>
            <a:endParaRPr lang="en-US" sz="1800" dirty="0"/>
          </a:p>
          <a:p>
            <a:r>
              <a:rPr lang="en-US" sz="2000" dirty="0"/>
              <a:t>The array can be targeted to any memory resource in the library</a:t>
            </a:r>
          </a:p>
          <a:p>
            <a:pPr lvl="1"/>
            <a:r>
              <a:rPr lang="en-US" sz="1800" dirty="0"/>
              <a:t>The ports (Address, CE active high, etc.) and sequential operation (clocks from address to data out) are defined by the library model</a:t>
            </a:r>
          </a:p>
          <a:p>
            <a:pPr lvl="1"/>
            <a:r>
              <a:rPr lang="en-US" sz="1800" dirty="0"/>
              <a:t>All RAMs are listed in the Vitis HLS Library Guide</a:t>
            </a:r>
          </a:p>
          <a:p>
            <a:r>
              <a:rPr lang="en-US" sz="2000" dirty="0"/>
              <a:t>Arrays can be merged with other arrays and reconfigured</a:t>
            </a:r>
          </a:p>
          <a:p>
            <a:pPr lvl="1"/>
            <a:r>
              <a:rPr lang="en-US" sz="1800" dirty="0"/>
              <a:t>To implement them in the same memory or one of different widths &amp; sizes</a:t>
            </a:r>
          </a:p>
          <a:p>
            <a:r>
              <a:rPr lang="en-US" sz="2000" dirty="0"/>
              <a:t>Arrays can be partitioned into individual elements</a:t>
            </a:r>
          </a:p>
          <a:p>
            <a:pPr lvl="1"/>
            <a:r>
              <a:rPr lang="en-US" sz="1800" dirty="0"/>
              <a:t>Implemented as smaller RAMs or registers</a:t>
            </a:r>
          </a:p>
        </p:txBody>
      </p:sp>
      <p:sp>
        <p:nvSpPr>
          <p:cNvPr id="5" name="Slide Number Placeholder 4"/>
          <p:cNvSpPr>
            <a:spLocks noGrp="1"/>
          </p:cNvSpPr>
          <p:nvPr>
            <p:ph type="sldNum" sz="quarter" idx="10"/>
          </p:nvPr>
        </p:nvSpPr>
        <p:spPr/>
        <p:txBody>
          <a:bodyPr/>
          <a:lstStyle/>
          <a:p>
            <a:pPr>
              <a:defRPr/>
            </a:pPr>
            <a:r>
              <a:rPr lang="en-US"/>
              <a:t>Intro to HLS 11- </a:t>
            </a:r>
            <a:fld id="{060BD193-E118-4B16-863C-C8C12C675E3E}" type="slidenum">
              <a:rPr lang="en-US" smtClean="0"/>
              <a:pPr>
                <a:defRPr/>
              </a:pPr>
              <a:t>27</a:t>
            </a:fld>
            <a:endParaRPr lang="en-US" dirty="0"/>
          </a:p>
        </p:txBody>
      </p:sp>
      <p:sp>
        <p:nvSpPr>
          <p:cNvPr id="31" name="TextBox 30">
            <a:extLst>
              <a:ext uri="{FF2B5EF4-FFF2-40B4-BE49-F238E27FC236}">
                <a16:creationId xmlns:a16="http://schemas.microsoft.com/office/drawing/2014/main" id="{17621F45-26B4-4FC4-8CD0-87ADB5140571}"/>
              </a:ext>
            </a:extLst>
          </p:cNvPr>
          <p:cNvSpPr txBox="1"/>
          <p:nvPr/>
        </p:nvSpPr>
        <p:spPr>
          <a:xfrm>
            <a:off x="669509" y="2180991"/>
            <a:ext cx="2918020" cy="1061829"/>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p:spPr>
        <p:txBody>
          <a:bodyPr wrap="square" rtlCol="0">
            <a:spAutoFit/>
          </a:bodyPr>
          <a:lstStyle/>
          <a:p>
            <a:pPr defTabSz="457200" fontAlgn="base">
              <a:spcBef>
                <a:spcPct val="0"/>
              </a:spcBef>
              <a:spcAft>
                <a:spcPct val="0"/>
              </a:spcAft>
              <a:defRPr/>
            </a:pPr>
            <a:r>
              <a:rPr lang="en-US" sz="900" b="1" kern="0" dirty="0">
                <a:solidFill>
                  <a:prstClr val="black"/>
                </a:solidFill>
                <a:latin typeface="Arial"/>
              </a:rPr>
              <a:t>void foo_top(int x, …)</a:t>
            </a:r>
          </a:p>
          <a:p>
            <a:pPr defTabSz="457200" fontAlgn="base">
              <a:spcBef>
                <a:spcPct val="0"/>
              </a:spcBef>
              <a:spcAft>
                <a:spcPct val="0"/>
              </a:spcAft>
              <a:defRPr/>
            </a:pPr>
            <a:r>
              <a:rPr lang="en-US" sz="900" b="1" kern="0" dirty="0">
                <a:solidFill>
                  <a:prstClr val="black"/>
                </a:solidFill>
                <a:latin typeface="Arial"/>
              </a:rPr>
              <a:t>{</a:t>
            </a:r>
          </a:p>
          <a:p>
            <a:pPr defTabSz="457200" fontAlgn="base">
              <a:spcBef>
                <a:spcPct val="0"/>
              </a:spcBef>
              <a:spcAft>
                <a:spcPct val="0"/>
              </a:spcAft>
              <a:defRPr/>
            </a:pPr>
            <a:r>
              <a:rPr lang="en-US" sz="900" b="1" kern="0" dirty="0">
                <a:solidFill>
                  <a:prstClr val="black"/>
                </a:solidFill>
                <a:latin typeface="Arial"/>
              </a:rPr>
              <a:t>   int A[N];</a:t>
            </a:r>
          </a:p>
          <a:p>
            <a:pPr defTabSz="457200" fontAlgn="base">
              <a:spcBef>
                <a:spcPct val="0"/>
              </a:spcBef>
              <a:spcAft>
                <a:spcPct val="0"/>
              </a:spcAft>
              <a:defRPr/>
            </a:pPr>
            <a:r>
              <a:rPr lang="en-US" sz="900" b="1" kern="0" dirty="0">
                <a:solidFill>
                  <a:prstClr val="black"/>
                </a:solidFill>
                <a:latin typeface="Arial"/>
              </a:rPr>
              <a:t>   L1: for (i = 0; i &lt; N; i++)</a:t>
            </a:r>
          </a:p>
          <a:p>
            <a:pPr defTabSz="457200" fontAlgn="base">
              <a:spcBef>
                <a:spcPct val="0"/>
              </a:spcBef>
              <a:spcAft>
                <a:spcPct val="0"/>
              </a:spcAft>
              <a:defRPr/>
            </a:pPr>
            <a:r>
              <a:rPr lang="en-US" sz="900" b="1" kern="0" dirty="0">
                <a:solidFill>
                  <a:prstClr val="black"/>
                </a:solidFill>
                <a:latin typeface="Arial"/>
              </a:rPr>
              <a:t>           A[i+x] = A[i] + i; </a:t>
            </a:r>
          </a:p>
          <a:p>
            <a:pPr defTabSz="457200" fontAlgn="base">
              <a:spcBef>
                <a:spcPct val="0"/>
              </a:spcBef>
              <a:spcAft>
                <a:spcPct val="0"/>
              </a:spcAft>
              <a:defRPr/>
            </a:pPr>
            <a:r>
              <a:rPr lang="en-US" sz="900" b="1" kern="0" dirty="0">
                <a:solidFill>
                  <a:prstClr val="black"/>
                </a:solidFill>
                <a:latin typeface="Arial"/>
              </a:rPr>
              <a:t>}</a:t>
            </a:r>
          </a:p>
          <a:p>
            <a:pPr defTabSz="457200" fontAlgn="base">
              <a:spcBef>
                <a:spcPct val="0"/>
              </a:spcBef>
              <a:spcAft>
                <a:spcPct val="0"/>
              </a:spcAft>
              <a:defRPr/>
            </a:pPr>
            <a:endParaRPr lang="en-US" sz="900" b="1" kern="0" dirty="0">
              <a:solidFill>
                <a:prstClr val="black"/>
              </a:solidFill>
              <a:latin typeface="Arial"/>
            </a:endParaRPr>
          </a:p>
        </p:txBody>
      </p:sp>
      <p:grpSp>
        <p:nvGrpSpPr>
          <p:cNvPr id="35" name="Group 169">
            <a:extLst>
              <a:ext uri="{FF2B5EF4-FFF2-40B4-BE49-F238E27FC236}">
                <a16:creationId xmlns:a16="http://schemas.microsoft.com/office/drawing/2014/main" id="{1EC3ADEE-B218-423B-992E-60C88967597B}"/>
              </a:ext>
            </a:extLst>
          </p:cNvPr>
          <p:cNvGrpSpPr/>
          <p:nvPr/>
        </p:nvGrpSpPr>
        <p:grpSpPr>
          <a:xfrm>
            <a:off x="4977881" y="2104053"/>
            <a:ext cx="1015735" cy="1137498"/>
            <a:chOff x="7848446" y="4033987"/>
            <a:chExt cx="762000" cy="1137498"/>
          </a:xfrm>
          <a:solidFill>
            <a:srgbClr val="00B0F0"/>
          </a:solidFill>
        </p:grpSpPr>
        <p:sp>
          <p:nvSpPr>
            <p:cNvPr id="36" name="Rectangle 35">
              <a:extLst>
                <a:ext uri="{FF2B5EF4-FFF2-40B4-BE49-F238E27FC236}">
                  <a16:creationId xmlns:a16="http://schemas.microsoft.com/office/drawing/2014/main" id="{3FF24C6F-738E-4CE9-BBDE-F3B0CC9238AA}"/>
                </a:ext>
              </a:extLst>
            </p:cNvPr>
            <p:cNvSpPr/>
            <p:nvPr/>
          </p:nvSpPr>
          <p:spPr>
            <a:xfrm>
              <a:off x="7848446" y="4033987"/>
              <a:ext cx="762000" cy="228600"/>
            </a:xfrm>
            <a:prstGeom prst="rect">
              <a:avLst/>
            </a:prstGeom>
            <a:grp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r>
                <a:rPr lang="en-US" sz="1000" kern="0" dirty="0">
                  <a:solidFill>
                    <a:srgbClr val="000000"/>
                  </a:solidFill>
                  <a:latin typeface="Arial"/>
                </a:rPr>
                <a:t>N-1</a:t>
              </a:r>
            </a:p>
          </p:txBody>
        </p:sp>
        <p:sp>
          <p:nvSpPr>
            <p:cNvPr id="38" name="Rectangle 37">
              <a:extLst>
                <a:ext uri="{FF2B5EF4-FFF2-40B4-BE49-F238E27FC236}">
                  <a16:creationId xmlns:a16="http://schemas.microsoft.com/office/drawing/2014/main" id="{55BC4233-2182-45EE-8163-58BDAFE44665}"/>
                </a:ext>
              </a:extLst>
            </p:cNvPr>
            <p:cNvSpPr/>
            <p:nvPr/>
          </p:nvSpPr>
          <p:spPr>
            <a:xfrm>
              <a:off x="7848446" y="4271372"/>
              <a:ext cx="762000" cy="228600"/>
            </a:xfrm>
            <a:prstGeom prst="rect">
              <a:avLst/>
            </a:prstGeom>
            <a:grp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r>
                <a:rPr lang="en-US" sz="1000" kern="0" dirty="0">
                  <a:solidFill>
                    <a:srgbClr val="000000"/>
                  </a:solidFill>
                  <a:latin typeface="Arial"/>
                </a:rPr>
                <a:t>N-2</a:t>
              </a:r>
            </a:p>
          </p:txBody>
        </p:sp>
        <p:sp>
          <p:nvSpPr>
            <p:cNvPr id="39" name="Rectangle 38">
              <a:extLst>
                <a:ext uri="{FF2B5EF4-FFF2-40B4-BE49-F238E27FC236}">
                  <a16:creationId xmlns:a16="http://schemas.microsoft.com/office/drawing/2014/main" id="{5FF129DE-DAC3-4BF7-94AA-C9750269D742}"/>
                </a:ext>
              </a:extLst>
            </p:cNvPr>
            <p:cNvSpPr/>
            <p:nvPr/>
          </p:nvSpPr>
          <p:spPr>
            <a:xfrm>
              <a:off x="7848446" y="4499972"/>
              <a:ext cx="762000" cy="228600"/>
            </a:xfrm>
            <a:prstGeom prst="rect">
              <a:avLst/>
            </a:prstGeom>
            <a:grp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r>
                <a:rPr lang="en-US" sz="1000" kern="0" dirty="0">
                  <a:solidFill>
                    <a:srgbClr val="000000"/>
                  </a:solidFill>
                  <a:latin typeface="Arial"/>
                </a:rPr>
                <a:t>…</a:t>
              </a:r>
            </a:p>
          </p:txBody>
        </p:sp>
        <p:sp>
          <p:nvSpPr>
            <p:cNvPr id="40" name="Rectangle 39">
              <a:extLst>
                <a:ext uri="{FF2B5EF4-FFF2-40B4-BE49-F238E27FC236}">
                  <a16:creationId xmlns:a16="http://schemas.microsoft.com/office/drawing/2014/main" id="{E87D7FB9-3FC8-41A1-8C35-8B6804C97D93}"/>
                </a:ext>
              </a:extLst>
            </p:cNvPr>
            <p:cNvSpPr/>
            <p:nvPr/>
          </p:nvSpPr>
          <p:spPr>
            <a:xfrm>
              <a:off x="7848446" y="4728572"/>
              <a:ext cx="762000" cy="228600"/>
            </a:xfrm>
            <a:prstGeom prst="rect">
              <a:avLst/>
            </a:prstGeom>
            <a:grp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r>
                <a:rPr lang="en-US" sz="1000" kern="0" dirty="0">
                  <a:solidFill>
                    <a:srgbClr val="000000"/>
                  </a:solidFill>
                  <a:latin typeface="Arial"/>
                </a:rPr>
                <a:t>1</a:t>
              </a:r>
            </a:p>
          </p:txBody>
        </p:sp>
        <p:sp>
          <p:nvSpPr>
            <p:cNvPr id="50" name="Rectangle 49">
              <a:extLst>
                <a:ext uri="{FF2B5EF4-FFF2-40B4-BE49-F238E27FC236}">
                  <a16:creationId xmlns:a16="http://schemas.microsoft.com/office/drawing/2014/main" id="{5C424382-4806-43CD-B6C8-67F5F276B91A}"/>
                </a:ext>
              </a:extLst>
            </p:cNvPr>
            <p:cNvSpPr/>
            <p:nvPr/>
          </p:nvSpPr>
          <p:spPr>
            <a:xfrm>
              <a:off x="7848446" y="4942885"/>
              <a:ext cx="762000" cy="228600"/>
            </a:xfrm>
            <a:prstGeom prst="rect">
              <a:avLst/>
            </a:prstGeom>
            <a:grp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r>
                <a:rPr lang="en-US" sz="1000" kern="0" dirty="0">
                  <a:solidFill>
                    <a:srgbClr val="000000"/>
                  </a:solidFill>
                  <a:latin typeface="Arial"/>
                </a:rPr>
                <a:t>0</a:t>
              </a:r>
            </a:p>
          </p:txBody>
        </p:sp>
      </p:grpSp>
      <p:sp>
        <p:nvSpPr>
          <p:cNvPr id="52" name="Right Arrow 24">
            <a:extLst>
              <a:ext uri="{FF2B5EF4-FFF2-40B4-BE49-F238E27FC236}">
                <a16:creationId xmlns:a16="http://schemas.microsoft.com/office/drawing/2014/main" id="{F2B96D13-334F-4BAC-BDED-6B286FD385D5}"/>
              </a:ext>
            </a:extLst>
          </p:cNvPr>
          <p:cNvSpPr/>
          <p:nvPr/>
        </p:nvSpPr>
        <p:spPr>
          <a:xfrm>
            <a:off x="3843496" y="2411293"/>
            <a:ext cx="716707" cy="384050"/>
          </a:xfrm>
          <a:prstGeom prst="rightArrow">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endParaRPr lang="en-US" kern="0" dirty="0">
              <a:solidFill>
                <a:prstClr val="white"/>
              </a:solidFill>
              <a:latin typeface="Arial"/>
            </a:endParaRPr>
          </a:p>
        </p:txBody>
      </p:sp>
      <p:sp>
        <p:nvSpPr>
          <p:cNvPr id="53" name="Right Arrow 28">
            <a:extLst>
              <a:ext uri="{FF2B5EF4-FFF2-40B4-BE49-F238E27FC236}">
                <a16:creationId xmlns:a16="http://schemas.microsoft.com/office/drawing/2014/main" id="{15D04BB6-456C-474D-A54A-9B4A188E05DE}"/>
              </a:ext>
            </a:extLst>
          </p:cNvPr>
          <p:cNvSpPr/>
          <p:nvPr/>
        </p:nvSpPr>
        <p:spPr>
          <a:xfrm>
            <a:off x="6249583" y="2435046"/>
            <a:ext cx="1740573" cy="384050"/>
          </a:xfrm>
          <a:prstGeom prst="rightArrow">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r>
              <a:rPr lang="en-US" sz="1400" kern="0" dirty="0">
                <a:solidFill>
                  <a:prstClr val="white"/>
                </a:solidFill>
                <a:latin typeface="Arial"/>
              </a:rPr>
              <a:t>Synthesis</a:t>
            </a:r>
          </a:p>
        </p:txBody>
      </p:sp>
      <p:sp>
        <p:nvSpPr>
          <p:cNvPr id="54" name="Rectangle 53">
            <a:extLst>
              <a:ext uri="{FF2B5EF4-FFF2-40B4-BE49-F238E27FC236}">
                <a16:creationId xmlns:a16="http://schemas.microsoft.com/office/drawing/2014/main" id="{DA4A3E5B-72C3-4893-B911-81F5C784CFCE}"/>
              </a:ext>
            </a:extLst>
          </p:cNvPr>
          <p:cNvSpPr/>
          <p:nvPr/>
        </p:nvSpPr>
        <p:spPr>
          <a:xfrm>
            <a:off x="8195013" y="1879064"/>
            <a:ext cx="3481145" cy="1420985"/>
          </a:xfrm>
          <a:prstGeom prst="rect">
            <a:avLst/>
          </a:prstGeom>
          <a:solidFill>
            <a:srgbClr val="00B0F0"/>
          </a:soli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endParaRPr lang="en-US" kern="0" dirty="0">
              <a:solidFill>
                <a:prstClr val="white"/>
              </a:solidFill>
              <a:latin typeface="Arial"/>
            </a:endParaRPr>
          </a:p>
        </p:txBody>
      </p:sp>
      <p:cxnSp>
        <p:nvCxnSpPr>
          <p:cNvPr id="55" name="Straight Arrow Connector 54">
            <a:extLst>
              <a:ext uri="{FF2B5EF4-FFF2-40B4-BE49-F238E27FC236}">
                <a16:creationId xmlns:a16="http://schemas.microsoft.com/office/drawing/2014/main" id="{225096A4-3A48-4CCD-B7E2-6262B33E46DE}"/>
              </a:ext>
            </a:extLst>
          </p:cNvPr>
          <p:cNvCxnSpPr/>
          <p:nvPr/>
        </p:nvCxnSpPr>
        <p:spPr>
          <a:xfrm>
            <a:off x="8755634" y="2647037"/>
            <a:ext cx="358353" cy="1588"/>
          </a:xfrm>
          <a:prstGeom prst="straightConnector1">
            <a:avLst/>
          </a:prstGeom>
          <a:noFill/>
          <a:ln w="25400" cap="flat" cmpd="sng" algn="ctr">
            <a:solidFill>
              <a:srgbClr val="B20838">
                <a:lumMod val="75000"/>
              </a:srgbClr>
            </a:solidFill>
            <a:prstDash val="solid"/>
            <a:tailEnd type="arrow"/>
          </a:ln>
          <a:effectLst>
            <a:outerShdw blurRad="40000" dist="20000" dir="5400000" rotWithShape="0">
              <a:srgbClr val="000000">
                <a:alpha val="38000"/>
              </a:srgbClr>
            </a:outerShdw>
          </a:effectLst>
        </p:spPr>
      </p:cxnSp>
      <p:cxnSp>
        <p:nvCxnSpPr>
          <p:cNvPr id="56" name="Straight Arrow Connector 55">
            <a:extLst>
              <a:ext uri="{FF2B5EF4-FFF2-40B4-BE49-F238E27FC236}">
                <a16:creationId xmlns:a16="http://schemas.microsoft.com/office/drawing/2014/main" id="{A8475E8A-D82F-4B23-A7C0-57799B9727ED}"/>
              </a:ext>
            </a:extLst>
          </p:cNvPr>
          <p:cNvCxnSpPr/>
          <p:nvPr/>
        </p:nvCxnSpPr>
        <p:spPr>
          <a:xfrm>
            <a:off x="8704355" y="2915067"/>
            <a:ext cx="409547" cy="1588"/>
          </a:xfrm>
          <a:prstGeom prst="straightConnector1">
            <a:avLst/>
          </a:prstGeom>
          <a:noFill/>
          <a:ln w="25400" cap="flat" cmpd="sng" algn="ctr">
            <a:solidFill>
              <a:srgbClr val="B20838">
                <a:lumMod val="75000"/>
              </a:srgbClr>
            </a:solidFill>
            <a:prstDash val="solid"/>
            <a:tailEnd type="arrow"/>
          </a:ln>
          <a:effectLst>
            <a:outerShdw blurRad="40000" dist="20000" dir="5400000" rotWithShape="0">
              <a:srgbClr val="000000">
                <a:alpha val="38000"/>
              </a:srgbClr>
            </a:outerShdw>
          </a:effectLst>
        </p:spPr>
      </p:cxnSp>
      <p:sp>
        <p:nvSpPr>
          <p:cNvPr id="59" name="Rectangle 58">
            <a:extLst>
              <a:ext uri="{FF2B5EF4-FFF2-40B4-BE49-F238E27FC236}">
                <a16:creationId xmlns:a16="http://schemas.microsoft.com/office/drawing/2014/main" id="{E83AA1E5-5A63-44BD-BAF7-7BCEB804D282}"/>
              </a:ext>
            </a:extLst>
          </p:cNvPr>
          <p:cNvSpPr/>
          <p:nvPr/>
        </p:nvSpPr>
        <p:spPr>
          <a:xfrm>
            <a:off x="9116411" y="2147900"/>
            <a:ext cx="1433413" cy="1075339"/>
          </a:xfrm>
          <a:prstGeom prst="rect">
            <a:avLst/>
          </a:prstGeom>
          <a:gradFill rotWithShape="1">
            <a:gsLst>
              <a:gs pos="0">
                <a:srgbClr val="8B8D09">
                  <a:shade val="51000"/>
                  <a:satMod val="130000"/>
                </a:srgbClr>
              </a:gs>
              <a:gs pos="80000">
                <a:srgbClr val="8B8D09">
                  <a:shade val="93000"/>
                  <a:satMod val="130000"/>
                </a:srgbClr>
              </a:gs>
              <a:gs pos="100000">
                <a:srgbClr val="8B8D09">
                  <a:shade val="94000"/>
                  <a:satMod val="135000"/>
                </a:srgbClr>
              </a:gs>
            </a:gsLst>
            <a:lin ang="16200000" scaled="0"/>
          </a:gradFill>
          <a:ln w="9525" cap="flat" cmpd="sng" algn="ctr">
            <a:solidFill>
              <a:srgbClr val="8B8D09">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endParaRPr lang="en-US" kern="0" dirty="0">
              <a:solidFill>
                <a:prstClr val="white"/>
              </a:solidFill>
              <a:latin typeface="Arial"/>
            </a:endParaRPr>
          </a:p>
        </p:txBody>
      </p:sp>
      <p:cxnSp>
        <p:nvCxnSpPr>
          <p:cNvPr id="60" name="Straight Arrow Connector 59">
            <a:extLst>
              <a:ext uri="{FF2B5EF4-FFF2-40B4-BE49-F238E27FC236}">
                <a16:creationId xmlns:a16="http://schemas.microsoft.com/office/drawing/2014/main" id="{C245D763-462D-4201-A115-27DF07E17635}"/>
              </a:ext>
            </a:extLst>
          </p:cNvPr>
          <p:cNvCxnSpPr/>
          <p:nvPr/>
        </p:nvCxnSpPr>
        <p:spPr>
          <a:xfrm>
            <a:off x="10549821" y="2455012"/>
            <a:ext cx="409547" cy="1588"/>
          </a:xfrm>
          <a:prstGeom prst="straightConnector1">
            <a:avLst/>
          </a:prstGeom>
          <a:noFill/>
          <a:ln w="25400" cap="flat" cmpd="sng" algn="ctr">
            <a:solidFill>
              <a:srgbClr val="B20838">
                <a:lumMod val="75000"/>
              </a:srgbClr>
            </a:solidFill>
            <a:prstDash val="solid"/>
            <a:tailEnd type="arrow"/>
          </a:ln>
          <a:effectLst>
            <a:outerShdw blurRad="40000" dist="20000" dir="5400000" rotWithShape="0">
              <a:srgbClr val="000000">
                <a:alpha val="38000"/>
              </a:srgbClr>
            </a:outerShdw>
          </a:effectLst>
        </p:spPr>
      </p:cxnSp>
      <p:sp>
        <p:nvSpPr>
          <p:cNvPr id="61" name="TextBox 60">
            <a:extLst>
              <a:ext uri="{FF2B5EF4-FFF2-40B4-BE49-F238E27FC236}">
                <a16:creationId xmlns:a16="http://schemas.microsoft.com/office/drawing/2014/main" id="{8A70B43F-7956-4AF3-9856-47CE94C0F74E}"/>
              </a:ext>
            </a:extLst>
          </p:cNvPr>
          <p:cNvSpPr txBox="1"/>
          <p:nvPr/>
        </p:nvSpPr>
        <p:spPr>
          <a:xfrm>
            <a:off x="10066967" y="2339925"/>
            <a:ext cx="548547" cy="246221"/>
          </a:xfrm>
          <a:prstGeom prst="rect">
            <a:avLst/>
          </a:prstGeom>
          <a:noFill/>
        </p:spPr>
        <p:txBody>
          <a:bodyPr wrap="none" rtlCol="0">
            <a:spAutoFit/>
          </a:bodyPr>
          <a:lstStyle/>
          <a:p>
            <a:pPr algn="r" defTabSz="457200" fontAlgn="base">
              <a:spcBef>
                <a:spcPct val="0"/>
              </a:spcBef>
              <a:spcAft>
                <a:spcPct val="0"/>
              </a:spcAft>
            </a:pPr>
            <a:r>
              <a:rPr lang="en-US" sz="1000" b="1" dirty="0">
                <a:solidFill>
                  <a:prstClr val="black"/>
                </a:solidFill>
                <a:ea typeface="ＭＳ Ｐゴシック" pitchFamily="34" charset="-128"/>
                <a:cs typeface="Arial" charset="0"/>
              </a:rPr>
              <a:t>DOUT</a:t>
            </a:r>
          </a:p>
        </p:txBody>
      </p:sp>
      <p:sp>
        <p:nvSpPr>
          <p:cNvPr id="62" name="TextBox 61">
            <a:extLst>
              <a:ext uri="{FF2B5EF4-FFF2-40B4-BE49-F238E27FC236}">
                <a16:creationId xmlns:a16="http://schemas.microsoft.com/office/drawing/2014/main" id="{CAE232D1-B59F-43A0-A679-A8EEDEFF554B}"/>
              </a:ext>
            </a:extLst>
          </p:cNvPr>
          <p:cNvSpPr txBox="1"/>
          <p:nvPr/>
        </p:nvSpPr>
        <p:spPr>
          <a:xfrm>
            <a:off x="9014022" y="2339925"/>
            <a:ext cx="405880" cy="246221"/>
          </a:xfrm>
          <a:prstGeom prst="rect">
            <a:avLst/>
          </a:prstGeom>
          <a:noFill/>
        </p:spPr>
        <p:txBody>
          <a:bodyPr wrap="none" rtlCol="0">
            <a:spAutoFit/>
          </a:bodyPr>
          <a:lstStyle/>
          <a:p>
            <a:pPr defTabSz="457200" fontAlgn="base">
              <a:spcBef>
                <a:spcPct val="0"/>
              </a:spcBef>
              <a:spcAft>
                <a:spcPct val="0"/>
              </a:spcAft>
            </a:pPr>
            <a:r>
              <a:rPr lang="en-US" sz="1000" b="1" dirty="0">
                <a:solidFill>
                  <a:prstClr val="black"/>
                </a:solidFill>
                <a:ea typeface="ＭＳ Ｐゴシック" pitchFamily="34" charset="-128"/>
                <a:cs typeface="Arial" charset="0"/>
              </a:rPr>
              <a:t>DIN</a:t>
            </a:r>
          </a:p>
        </p:txBody>
      </p:sp>
      <p:sp>
        <p:nvSpPr>
          <p:cNvPr id="63" name="TextBox 62">
            <a:extLst>
              <a:ext uri="{FF2B5EF4-FFF2-40B4-BE49-F238E27FC236}">
                <a16:creationId xmlns:a16="http://schemas.microsoft.com/office/drawing/2014/main" id="{A1E41738-62B2-4086-9C00-456735F07226}"/>
              </a:ext>
            </a:extLst>
          </p:cNvPr>
          <p:cNvSpPr txBox="1"/>
          <p:nvPr/>
        </p:nvSpPr>
        <p:spPr>
          <a:xfrm>
            <a:off x="9014106" y="2516159"/>
            <a:ext cx="556563" cy="246221"/>
          </a:xfrm>
          <a:prstGeom prst="rect">
            <a:avLst/>
          </a:prstGeom>
          <a:noFill/>
        </p:spPr>
        <p:txBody>
          <a:bodyPr wrap="none" rtlCol="0">
            <a:spAutoFit/>
          </a:bodyPr>
          <a:lstStyle/>
          <a:p>
            <a:pPr defTabSz="457200" fontAlgn="base">
              <a:spcBef>
                <a:spcPct val="0"/>
              </a:spcBef>
              <a:spcAft>
                <a:spcPct val="0"/>
              </a:spcAft>
            </a:pPr>
            <a:r>
              <a:rPr lang="en-US" sz="1000" b="1" dirty="0">
                <a:solidFill>
                  <a:prstClr val="black"/>
                </a:solidFill>
                <a:ea typeface="ＭＳ Ｐゴシック" pitchFamily="34" charset="-128"/>
                <a:cs typeface="Arial" charset="0"/>
              </a:rPr>
              <a:t>ADDR</a:t>
            </a:r>
          </a:p>
        </p:txBody>
      </p:sp>
      <p:sp>
        <p:nvSpPr>
          <p:cNvPr id="64" name="TextBox 63">
            <a:extLst>
              <a:ext uri="{FF2B5EF4-FFF2-40B4-BE49-F238E27FC236}">
                <a16:creationId xmlns:a16="http://schemas.microsoft.com/office/drawing/2014/main" id="{99534839-C289-48D6-8ABD-BEDE856D1299}"/>
              </a:ext>
            </a:extLst>
          </p:cNvPr>
          <p:cNvSpPr txBox="1"/>
          <p:nvPr/>
        </p:nvSpPr>
        <p:spPr>
          <a:xfrm>
            <a:off x="9014020" y="2784994"/>
            <a:ext cx="362600" cy="246221"/>
          </a:xfrm>
          <a:prstGeom prst="rect">
            <a:avLst/>
          </a:prstGeom>
          <a:noFill/>
        </p:spPr>
        <p:txBody>
          <a:bodyPr wrap="none" rtlCol="0">
            <a:spAutoFit/>
          </a:bodyPr>
          <a:lstStyle/>
          <a:p>
            <a:pPr defTabSz="457200" fontAlgn="base">
              <a:spcBef>
                <a:spcPct val="0"/>
              </a:spcBef>
              <a:spcAft>
                <a:spcPct val="0"/>
              </a:spcAft>
            </a:pPr>
            <a:r>
              <a:rPr lang="en-US" sz="1000" b="1" dirty="0">
                <a:solidFill>
                  <a:prstClr val="black"/>
                </a:solidFill>
                <a:ea typeface="ＭＳ Ｐゴシック" pitchFamily="34" charset="-128"/>
                <a:cs typeface="Arial" charset="0"/>
              </a:rPr>
              <a:t>CE</a:t>
            </a:r>
          </a:p>
        </p:txBody>
      </p:sp>
      <p:cxnSp>
        <p:nvCxnSpPr>
          <p:cNvPr id="65" name="Straight Arrow Connector 64">
            <a:extLst>
              <a:ext uri="{FF2B5EF4-FFF2-40B4-BE49-F238E27FC236}">
                <a16:creationId xmlns:a16="http://schemas.microsoft.com/office/drawing/2014/main" id="{23A20D59-204F-49AF-ACCC-96FE3BF70621}"/>
              </a:ext>
            </a:extLst>
          </p:cNvPr>
          <p:cNvCxnSpPr/>
          <p:nvPr/>
        </p:nvCxnSpPr>
        <p:spPr>
          <a:xfrm>
            <a:off x="8706861" y="3084478"/>
            <a:ext cx="409547" cy="1588"/>
          </a:xfrm>
          <a:prstGeom prst="straightConnector1">
            <a:avLst/>
          </a:prstGeom>
          <a:noFill/>
          <a:ln w="25400" cap="flat" cmpd="sng" algn="ctr">
            <a:solidFill>
              <a:srgbClr val="B20838">
                <a:lumMod val="75000"/>
              </a:srgbClr>
            </a:solidFill>
            <a:prstDash val="solid"/>
            <a:tailEnd type="arrow"/>
          </a:ln>
          <a:effectLst>
            <a:outerShdw blurRad="40000" dist="20000" dir="5400000" rotWithShape="0">
              <a:srgbClr val="000000">
                <a:alpha val="38000"/>
              </a:srgbClr>
            </a:outerShdw>
          </a:effectLst>
        </p:spPr>
      </p:cxnSp>
      <p:sp>
        <p:nvSpPr>
          <p:cNvPr id="66" name="TextBox 65">
            <a:extLst>
              <a:ext uri="{FF2B5EF4-FFF2-40B4-BE49-F238E27FC236}">
                <a16:creationId xmlns:a16="http://schemas.microsoft.com/office/drawing/2014/main" id="{157725CE-5422-49FC-8A3F-ADAF55C68840}"/>
              </a:ext>
            </a:extLst>
          </p:cNvPr>
          <p:cNvSpPr txBox="1"/>
          <p:nvPr/>
        </p:nvSpPr>
        <p:spPr>
          <a:xfrm>
            <a:off x="9016526" y="2954405"/>
            <a:ext cx="391454" cy="246221"/>
          </a:xfrm>
          <a:prstGeom prst="rect">
            <a:avLst/>
          </a:prstGeom>
          <a:noFill/>
        </p:spPr>
        <p:txBody>
          <a:bodyPr wrap="none" rtlCol="0">
            <a:spAutoFit/>
          </a:bodyPr>
          <a:lstStyle/>
          <a:p>
            <a:pPr defTabSz="457200" fontAlgn="base">
              <a:spcBef>
                <a:spcPct val="0"/>
              </a:spcBef>
              <a:spcAft>
                <a:spcPct val="0"/>
              </a:spcAft>
            </a:pPr>
            <a:r>
              <a:rPr lang="en-US" sz="1000" b="1" dirty="0">
                <a:solidFill>
                  <a:prstClr val="black"/>
                </a:solidFill>
                <a:ea typeface="ＭＳ Ｐゴシック" pitchFamily="34" charset="-128"/>
                <a:cs typeface="Arial" charset="0"/>
              </a:rPr>
              <a:t>WE</a:t>
            </a:r>
          </a:p>
        </p:txBody>
      </p:sp>
      <p:cxnSp>
        <p:nvCxnSpPr>
          <p:cNvPr id="67" name="Straight Arrow Connector 66">
            <a:extLst>
              <a:ext uri="{FF2B5EF4-FFF2-40B4-BE49-F238E27FC236}">
                <a16:creationId xmlns:a16="http://schemas.microsoft.com/office/drawing/2014/main" id="{ECE2A6DF-0D7F-4347-8B5E-DDA7EB062392}"/>
              </a:ext>
            </a:extLst>
          </p:cNvPr>
          <p:cNvCxnSpPr/>
          <p:nvPr/>
        </p:nvCxnSpPr>
        <p:spPr>
          <a:xfrm>
            <a:off x="8758140" y="2491829"/>
            <a:ext cx="358353" cy="1588"/>
          </a:xfrm>
          <a:prstGeom prst="straightConnector1">
            <a:avLst/>
          </a:prstGeom>
          <a:noFill/>
          <a:ln w="25400" cap="flat" cmpd="sng" algn="ctr">
            <a:solidFill>
              <a:srgbClr val="B20838">
                <a:lumMod val="75000"/>
              </a:srgbClr>
            </a:solidFill>
            <a:prstDash val="solid"/>
            <a:tailEnd type="arrow"/>
          </a:ln>
          <a:effectLst>
            <a:outerShdw blurRad="40000" dist="20000" dir="5400000" rotWithShape="0">
              <a:srgbClr val="000000">
                <a:alpha val="38000"/>
              </a:srgbClr>
            </a:outerShdw>
          </a:effectLst>
        </p:spPr>
      </p:cxnSp>
      <p:sp>
        <p:nvSpPr>
          <p:cNvPr id="68" name="TextBox 67">
            <a:extLst>
              <a:ext uri="{FF2B5EF4-FFF2-40B4-BE49-F238E27FC236}">
                <a16:creationId xmlns:a16="http://schemas.microsoft.com/office/drawing/2014/main" id="{BBE6A41E-8476-4638-97E0-F0442CEDE970}"/>
              </a:ext>
            </a:extLst>
          </p:cNvPr>
          <p:cNvSpPr txBox="1"/>
          <p:nvPr/>
        </p:nvSpPr>
        <p:spPr>
          <a:xfrm>
            <a:off x="9552999" y="2109494"/>
            <a:ext cx="849912" cy="276999"/>
          </a:xfrm>
          <a:prstGeom prst="rect">
            <a:avLst/>
          </a:prstGeom>
          <a:noFill/>
        </p:spPr>
        <p:txBody>
          <a:bodyPr wrap="none" rtlCol="0">
            <a:spAutoFit/>
          </a:bodyPr>
          <a:lstStyle/>
          <a:p>
            <a:pPr algn="r" defTabSz="457200" fontAlgn="base">
              <a:spcBef>
                <a:spcPct val="0"/>
              </a:spcBef>
              <a:spcAft>
                <a:spcPct val="0"/>
              </a:spcAft>
            </a:pPr>
            <a:r>
              <a:rPr lang="en-US" sz="1200" b="1" dirty="0">
                <a:solidFill>
                  <a:prstClr val="black"/>
                </a:solidFill>
                <a:ea typeface="ＭＳ Ｐゴシック" pitchFamily="34" charset="-128"/>
                <a:cs typeface="Arial" charset="0"/>
              </a:rPr>
              <a:t>SPRAMB</a:t>
            </a:r>
          </a:p>
        </p:txBody>
      </p:sp>
      <p:sp>
        <p:nvSpPr>
          <p:cNvPr id="69" name="TextBox 68">
            <a:extLst>
              <a:ext uri="{FF2B5EF4-FFF2-40B4-BE49-F238E27FC236}">
                <a16:creationId xmlns:a16="http://schemas.microsoft.com/office/drawing/2014/main" id="{94D8E12A-16FF-4D52-AC57-9408BBB5C0EF}"/>
              </a:ext>
            </a:extLst>
          </p:cNvPr>
          <p:cNvSpPr txBox="1"/>
          <p:nvPr/>
        </p:nvSpPr>
        <p:spPr>
          <a:xfrm>
            <a:off x="6059310" y="2144738"/>
            <a:ext cx="508473" cy="276999"/>
          </a:xfrm>
          <a:prstGeom prst="rect">
            <a:avLst/>
          </a:prstGeom>
          <a:noFill/>
        </p:spPr>
        <p:txBody>
          <a:bodyPr wrap="none" rtlCol="0">
            <a:spAutoFit/>
          </a:bodyPr>
          <a:lstStyle/>
          <a:p>
            <a:pPr algn="ctr" defTabSz="457200" fontAlgn="base">
              <a:spcBef>
                <a:spcPct val="0"/>
              </a:spcBef>
              <a:spcAft>
                <a:spcPct val="0"/>
              </a:spcAft>
            </a:pPr>
            <a:r>
              <a:rPr lang="en-US" sz="1200" b="1" dirty="0">
                <a:solidFill>
                  <a:prstClr val="black"/>
                </a:solidFill>
                <a:ea typeface="ＭＳ Ｐゴシック" pitchFamily="34" charset="-128"/>
                <a:cs typeface="Arial" charset="0"/>
              </a:rPr>
              <a:t>A[N]</a:t>
            </a:r>
          </a:p>
        </p:txBody>
      </p:sp>
      <p:sp>
        <p:nvSpPr>
          <p:cNvPr id="70" name="TextBox 69">
            <a:extLst>
              <a:ext uri="{FF2B5EF4-FFF2-40B4-BE49-F238E27FC236}">
                <a16:creationId xmlns:a16="http://schemas.microsoft.com/office/drawing/2014/main" id="{52FD2DD0-403F-4DAA-B167-F790B0202BB9}"/>
              </a:ext>
            </a:extLst>
          </p:cNvPr>
          <p:cNvSpPr txBox="1"/>
          <p:nvPr/>
        </p:nvSpPr>
        <p:spPr>
          <a:xfrm>
            <a:off x="10857108" y="2301391"/>
            <a:ext cx="566181" cy="253916"/>
          </a:xfrm>
          <a:prstGeom prst="rect">
            <a:avLst/>
          </a:prstGeom>
          <a:noFill/>
        </p:spPr>
        <p:txBody>
          <a:bodyPr wrap="none" rtlCol="0">
            <a:spAutoFit/>
          </a:bodyPr>
          <a:lstStyle/>
          <a:p>
            <a:pPr defTabSz="457200" fontAlgn="base">
              <a:spcBef>
                <a:spcPct val="0"/>
              </a:spcBef>
              <a:spcAft>
                <a:spcPct val="0"/>
              </a:spcAft>
            </a:pPr>
            <a:r>
              <a:rPr lang="en-US" sz="1050" b="1" dirty="0">
                <a:solidFill>
                  <a:prstClr val="black"/>
                </a:solidFill>
                <a:ea typeface="ＭＳ Ｐゴシック" pitchFamily="34" charset="-128"/>
                <a:cs typeface="Arial" charset="0"/>
              </a:rPr>
              <a:t>A_out</a:t>
            </a:r>
          </a:p>
        </p:txBody>
      </p:sp>
      <p:sp>
        <p:nvSpPr>
          <p:cNvPr id="71" name="TextBox 70">
            <a:extLst>
              <a:ext uri="{FF2B5EF4-FFF2-40B4-BE49-F238E27FC236}">
                <a16:creationId xmlns:a16="http://schemas.microsoft.com/office/drawing/2014/main" id="{AFBFB8D2-73F1-4AA5-BE69-690118F386B5}"/>
              </a:ext>
            </a:extLst>
          </p:cNvPr>
          <p:cNvSpPr txBox="1"/>
          <p:nvPr/>
        </p:nvSpPr>
        <p:spPr>
          <a:xfrm>
            <a:off x="8361762" y="2339924"/>
            <a:ext cx="461985" cy="246221"/>
          </a:xfrm>
          <a:prstGeom prst="rect">
            <a:avLst/>
          </a:prstGeom>
          <a:noFill/>
        </p:spPr>
        <p:txBody>
          <a:bodyPr wrap="none" rtlCol="0">
            <a:spAutoFit/>
          </a:bodyPr>
          <a:lstStyle/>
          <a:p>
            <a:pPr algn="r" defTabSz="457200" fontAlgn="base">
              <a:spcBef>
                <a:spcPct val="0"/>
              </a:spcBef>
              <a:spcAft>
                <a:spcPct val="0"/>
              </a:spcAft>
            </a:pPr>
            <a:r>
              <a:rPr lang="en-US" sz="1000" b="1" dirty="0">
                <a:solidFill>
                  <a:prstClr val="black"/>
                </a:solidFill>
                <a:ea typeface="ＭＳ Ｐゴシック" pitchFamily="34" charset="-128"/>
                <a:cs typeface="Arial" charset="0"/>
              </a:rPr>
              <a:t>A_in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Top-Level IO Ports</a:t>
            </a:r>
          </a:p>
        </p:txBody>
      </p:sp>
      <p:sp>
        <p:nvSpPr>
          <p:cNvPr id="3" name="Content Placeholder 2"/>
          <p:cNvSpPr>
            <a:spLocks noGrp="1"/>
          </p:cNvSpPr>
          <p:nvPr>
            <p:ph idx="1"/>
          </p:nvPr>
        </p:nvSpPr>
        <p:spPr/>
        <p:txBody>
          <a:bodyPr>
            <a:normAutofit fontScale="77500" lnSpcReduction="20000"/>
          </a:bodyPr>
          <a:lstStyle/>
          <a:p>
            <a:r>
              <a:rPr lang="en-US" dirty="0"/>
              <a:t>Top-level function arguments</a:t>
            </a:r>
          </a:p>
          <a:p>
            <a:pPr lvl="1"/>
            <a:r>
              <a:rPr lang="en-US" dirty="0"/>
              <a:t>All top-level function arguments have a default hardware port type</a:t>
            </a:r>
          </a:p>
          <a:p>
            <a:r>
              <a:rPr lang="en-US" dirty="0"/>
              <a:t>When the array is an argument of the top-level function</a:t>
            </a:r>
          </a:p>
          <a:p>
            <a:pPr lvl="1"/>
            <a:r>
              <a:rPr lang="en-US" dirty="0"/>
              <a:t>The array/RAM is “off-chip”</a:t>
            </a:r>
          </a:p>
          <a:p>
            <a:pPr lvl="1"/>
            <a:r>
              <a:rPr lang="en-US" dirty="0"/>
              <a:t>The type of memory resource determines the top-level IO ports</a:t>
            </a:r>
          </a:p>
          <a:p>
            <a:pPr lvl="1"/>
            <a:r>
              <a:rPr lang="en-US" dirty="0"/>
              <a:t>Arrays on the interface can be mapped &amp; partitioned</a:t>
            </a:r>
          </a:p>
          <a:p>
            <a:pPr lvl="2"/>
            <a:r>
              <a:rPr lang="en-US" dirty="0"/>
              <a:t>E.g. partitioned into separate ports for each element in the array</a:t>
            </a:r>
          </a:p>
          <a:p>
            <a:pPr marL="914126" lvl="2" indent="0">
              <a:buNone/>
            </a:pPr>
            <a:endParaRPr lang="en-US" dirty="0"/>
          </a:p>
          <a:p>
            <a:pPr lvl="2"/>
            <a:endParaRPr lang="en-US" dirty="0"/>
          </a:p>
          <a:p>
            <a:pPr lvl="2"/>
            <a:endParaRPr lang="en-US" dirty="0"/>
          </a:p>
          <a:p>
            <a:pPr lvl="2"/>
            <a:endParaRPr lang="en-US" dirty="0"/>
          </a:p>
          <a:p>
            <a:pPr lvl="2"/>
            <a:endParaRPr lang="en-US" dirty="0"/>
          </a:p>
          <a:p>
            <a:pPr lvl="2"/>
            <a:endParaRPr lang="en-US" dirty="0"/>
          </a:p>
          <a:p>
            <a:pPr lvl="2"/>
            <a:endParaRPr lang="en-US" dirty="0"/>
          </a:p>
          <a:p>
            <a:pPr lvl="2"/>
            <a:endParaRPr lang="en-US" dirty="0"/>
          </a:p>
          <a:p>
            <a:r>
              <a:rPr lang="en-US" dirty="0"/>
              <a:t>Default RAM resource</a:t>
            </a:r>
          </a:p>
          <a:p>
            <a:pPr lvl="1"/>
            <a:r>
              <a:rPr lang="en-US" dirty="0"/>
              <a:t>Dual port RAM if performance can be improved otherwise Single Port RAM</a:t>
            </a:r>
          </a:p>
        </p:txBody>
      </p:sp>
      <p:sp>
        <p:nvSpPr>
          <p:cNvPr id="4" name="Slide Number Placeholder 3"/>
          <p:cNvSpPr>
            <a:spLocks noGrp="1"/>
          </p:cNvSpPr>
          <p:nvPr>
            <p:ph type="sldNum" sz="quarter" idx="10"/>
          </p:nvPr>
        </p:nvSpPr>
        <p:spPr/>
        <p:txBody>
          <a:bodyPr/>
          <a:lstStyle/>
          <a:p>
            <a:pPr>
              <a:defRPr/>
            </a:pPr>
            <a:r>
              <a:rPr lang="en-US" dirty="0"/>
              <a:t>Intro to HLS 11- </a:t>
            </a:r>
            <a:fld id="{060BD193-E118-4B16-863C-C8C12C675E3E}" type="slidenum">
              <a:rPr lang="en-US" smtClean="0"/>
              <a:pPr>
                <a:defRPr/>
              </a:pPr>
              <a:t>28</a:t>
            </a:fld>
            <a:endParaRPr lang="en-US" dirty="0"/>
          </a:p>
        </p:txBody>
      </p:sp>
      <p:sp>
        <p:nvSpPr>
          <p:cNvPr id="46" name="Right Arrow 61">
            <a:extLst>
              <a:ext uri="{FF2B5EF4-FFF2-40B4-BE49-F238E27FC236}">
                <a16:creationId xmlns:a16="http://schemas.microsoft.com/office/drawing/2014/main" id="{8AE186D6-0489-4B11-A93E-7C0B4F01F280}"/>
              </a:ext>
            </a:extLst>
          </p:cNvPr>
          <p:cNvSpPr/>
          <p:nvPr/>
        </p:nvSpPr>
        <p:spPr>
          <a:xfrm>
            <a:off x="3177983" y="4098021"/>
            <a:ext cx="1740573" cy="384050"/>
          </a:xfrm>
          <a:prstGeom prst="rightArrow">
            <a:avLst/>
          </a:prstGeom>
          <a:gradFill rotWithShape="1">
            <a:gsLst>
              <a:gs pos="0">
                <a:srgbClr val="008CA8">
                  <a:shade val="51000"/>
                  <a:satMod val="130000"/>
                </a:srgbClr>
              </a:gs>
              <a:gs pos="80000">
                <a:srgbClr val="008CA8">
                  <a:shade val="93000"/>
                  <a:satMod val="130000"/>
                </a:srgbClr>
              </a:gs>
              <a:gs pos="100000">
                <a:srgbClr val="008CA8">
                  <a:shade val="94000"/>
                  <a:satMod val="135000"/>
                </a:srgbClr>
              </a:gs>
            </a:gsLst>
            <a:lin ang="16200000" scaled="0"/>
          </a:gra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r>
              <a:rPr lang="en-US" sz="1400" kern="0" dirty="0">
                <a:solidFill>
                  <a:prstClr val="white"/>
                </a:solidFill>
                <a:latin typeface="Arial"/>
              </a:rPr>
              <a:t>Synthesis</a:t>
            </a:r>
          </a:p>
        </p:txBody>
      </p:sp>
      <p:sp>
        <p:nvSpPr>
          <p:cNvPr id="48" name="Rectangle 47">
            <a:extLst>
              <a:ext uri="{FF2B5EF4-FFF2-40B4-BE49-F238E27FC236}">
                <a16:creationId xmlns:a16="http://schemas.microsoft.com/office/drawing/2014/main" id="{13E748D3-8FCB-4601-B5F8-2E4600497952}"/>
              </a:ext>
            </a:extLst>
          </p:cNvPr>
          <p:cNvSpPr/>
          <p:nvPr/>
        </p:nvSpPr>
        <p:spPr>
          <a:xfrm>
            <a:off x="5584067" y="3906107"/>
            <a:ext cx="3393908" cy="1805035"/>
          </a:xfrm>
          <a:prstGeom prst="rect">
            <a:avLst/>
          </a:prstGeom>
          <a:solidFill>
            <a:srgbClr val="00B0F0"/>
          </a:solidFill>
          <a:ln w="9525" cap="flat" cmpd="sng" algn="ctr">
            <a:solidFill>
              <a:srgbClr val="008CA8">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endParaRPr lang="en-US" kern="0" dirty="0">
              <a:solidFill>
                <a:prstClr val="white"/>
              </a:solidFill>
              <a:latin typeface="Arial"/>
            </a:endParaRPr>
          </a:p>
        </p:txBody>
      </p:sp>
      <p:cxnSp>
        <p:nvCxnSpPr>
          <p:cNvPr id="50" name="Straight Arrow Connector 49">
            <a:extLst>
              <a:ext uri="{FF2B5EF4-FFF2-40B4-BE49-F238E27FC236}">
                <a16:creationId xmlns:a16="http://schemas.microsoft.com/office/drawing/2014/main" id="{FDFFE6E0-831A-42B8-9D46-515D2E06A407}"/>
              </a:ext>
            </a:extLst>
          </p:cNvPr>
          <p:cNvCxnSpPr/>
          <p:nvPr/>
        </p:nvCxnSpPr>
        <p:spPr>
          <a:xfrm>
            <a:off x="8092615" y="4290046"/>
            <a:ext cx="1226133" cy="1588"/>
          </a:xfrm>
          <a:prstGeom prst="straightConnector1">
            <a:avLst/>
          </a:prstGeom>
          <a:noFill/>
          <a:ln w="25400" cap="flat" cmpd="sng" algn="ctr">
            <a:solidFill>
              <a:srgbClr val="B20838"/>
            </a:solidFill>
            <a:prstDash val="solid"/>
            <a:tailEnd type="arrow"/>
          </a:ln>
          <a:effectLst>
            <a:outerShdw blurRad="40000" dist="20000" dir="5400000" rotWithShape="0">
              <a:srgbClr val="000000">
                <a:alpha val="38000"/>
              </a:srgbClr>
            </a:outerShdw>
          </a:effectLst>
        </p:spPr>
      </p:cxnSp>
      <p:cxnSp>
        <p:nvCxnSpPr>
          <p:cNvPr id="53" name="Straight Arrow Connector 52">
            <a:extLst>
              <a:ext uri="{FF2B5EF4-FFF2-40B4-BE49-F238E27FC236}">
                <a16:creationId xmlns:a16="http://schemas.microsoft.com/office/drawing/2014/main" id="{FDB735EB-D450-456B-8C20-1507E7828899}"/>
              </a:ext>
            </a:extLst>
          </p:cNvPr>
          <p:cNvCxnSpPr/>
          <p:nvPr/>
        </p:nvCxnSpPr>
        <p:spPr>
          <a:xfrm>
            <a:off x="8041347" y="4558993"/>
            <a:ext cx="1277326" cy="783"/>
          </a:xfrm>
          <a:prstGeom prst="straightConnector1">
            <a:avLst/>
          </a:prstGeom>
          <a:noFill/>
          <a:ln w="25400" cap="flat" cmpd="sng" algn="ctr">
            <a:solidFill>
              <a:srgbClr val="B20838"/>
            </a:solidFill>
            <a:prstDash val="solid"/>
            <a:tailEnd type="arrow"/>
          </a:ln>
          <a:effectLst>
            <a:outerShdw blurRad="40000" dist="20000" dir="5400000" rotWithShape="0">
              <a:srgbClr val="000000">
                <a:alpha val="38000"/>
              </a:srgbClr>
            </a:outerShdw>
          </a:effectLst>
        </p:spPr>
      </p:cxnSp>
      <p:sp>
        <p:nvSpPr>
          <p:cNvPr id="54" name="Rectangle 53">
            <a:extLst>
              <a:ext uri="{FF2B5EF4-FFF2-40B4-BE49-F238E27FC236}">
                <a16:creationId xmlns:a16="http://schemas.microsoft.com/office/drawing/2014/main" id="{8878E265-0CEB-4111-A0F8-0FB38D127138}"/>
              </a:ext>
            </a:extLst>
          </p:cNvPr>
          <p:cNvSpPr/>
          <p:nvPr/>
        </p:nvSpPr>
        <p:spPr>
          <a:xfrm>
            <a:off x="9321183" y="3790893"/>
            <a:ext cx="1433413" cy="2112275"/>
          </a:xfrm>
          <a:prstGeom prst="rect">
            <a:avLst/>
          </a:prstGeom>
          <a:solidFill>
            <a:srgbClr val="91B800"/>
          </a:solidFill>
          <a:ln w="9525" cap="flat" cmpd="sng" algn="ctr">
            <a:solidFill>
              <a:srgbClr val="8B8D09">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endParaRPr lang="en-US" kern="0" dirty="0">
              <a:solidFill>
                <a:prstClr val="white"/>
              </a:solidFill>
              <a:latin typeface="Arial"/>
            </a:endParaRPr>
          </a:p>
        </p:txBody>
      </p:sp>
      <p:cxnSp>
        <p:nvCxnSpPr>
          <p:cNvPr id="55" name="Straight Arrow Connector 54">
            <a:extLst>
              <a:ext uri="{FF2B5EF4-FFF2-40B4-BE49-F238E27FC236}">
                <a16:creationId xmlns:a16="http://schemas.microsoft.com/office/drawing/2014/main" id="{2155704E-DB10-4494-A726-307954716D95}"/>
              </a:ext>
            </a:extLst>
          </p:cNvPr>
          <p:cNvCxnSpPr/>
          <p:nvPr/>
        </p:nvCxnSpPr>
        <p:spPr>
          <a:xfrm>
            <a:off x="10754593" y="4098021"/>
            <a:ext cx="409547" cy="1588"/>
          </a:xfrm>
          <a:prstGeom prst="straightConnector1">
            <a:avLst/>
          </a:prstGeom>
          <a:noFill/>
          <a:ln w="25400" cap="flat" cmpd="sng" algn="ctr">
            <a:solidFill>
              <a:srgbClr val="B20838"/>
            </a:solidFill>
            <a:prstDash val="solid"/>
            <a:tailEnd type="arrow"/>
          </a:ln>
          <a:effectLst>
            <a:outerShdw blurRad="40000" dist="20000" dir="5400000" rotWithShape="0">
              <a:srgbClr val="000000">
                <a:alpha val="38000"/>
              </a:srgbClr>
            </a:outerShdw>
          </a:effectLst>
        </p:spPr>
      </p:cxnSp>
      <p:sp>
        <p:nvSpPr>
          <p:cNvPr id="56" name="TextBox 55">
            <a:extLst>
              <a:ext uri="{FF2B5EF4-FFF2-40B4-BE49-F238E27FC236}">
                <a16:creationId xmlns:a16="http://schemas.microsoft.com/office/drawing/2014/main" id="{9CAF5E78-3F45-4B5B-A781-BDD8D77E2552}"/>
              </a:ext>
            </a:extLst>
          </p:cNvPr>
          <p:cNvSpPr txBox="1"/>
          <p:nvPr/>
        </p:nvSpPr>
        <p:spPr>
          <a:xfrm>
            <a:off x="5885177" y="3906016"/>
            <a:ext cx="750525" cy="276999"/>
          </a:xfrm>
          <a:prstGeom prst="rect">
            <a:avLst/>
          </a:prstGeom>
          <a:noFill/>
        </p:spPr>
        <p:txBody>
          <a:bodyPr wrap="none" rtlCol="0">
            <a:spAutoFit/>
          </a:bodyPr>
          <a:lstStyle/>
          <a:p>
            <a:pPr algn="r" defTabSz="457200" fontAlgn="base">
              <a:spcBef>
                <a:spcPct val="0"/>
              </a:spcBef>
              <a:spcAft>
                <a:spcPct val="0"/>
              </a:spcAft>
            </a:pPr>
            <a:r>
              <a:rPr lang="en-US" sz="1200" b="1" dirty="0">
                <a:solidFill>
                  <a:prstClr val="black"/>
                </a:solidFill>
                <a:ea typeface="ＭＳ Ｐゴシック" pitchFamily="34" charset="-128"/>
                <a:cs typeface="Arial" charset="0"/>
              </a:rPr>
              <a:t>foo_top</a:t>
            </a:r>
          </a:p>
        </p:txBody>
      </p:sp>
      <p:sp>
        <p:nvSpPr>
          <p:cNvPr id="57" name="TextBox 56">
            <a:extLst>
              <a:ext uri="{FF2B5EF4-FFF2-40B4-BE49-F238E27FC236}">
                <a16:creationId xmlns:a16="http://schemas.microsoft.com/office/drawing/2014/main" id="{4F7CD848-9EC5-4E69-83A5-F0B9AD7912D9}"/>
              </a:ext>
            </a:extLst>
          </p:cNvPr>
          <p:cNvSpPr txBox="1"/>
          <p:nvPr/>
        </p:nvSpPr>
        <p:spPr>
          <a:xfrm>
            <a:off x="10201208" y="3982918"/>
            <a:ext cx="619079" cy="246221"/>
          </a:xfrm>
          <a:prstGeom prst="rect">
            <a:avLst/>
          </a:prstGeom>
          <a:noFill/>
        </p:spPr>
        <p:txBody>
          <a:bodyPr wrap="none" rtlCol="0">
            <a:spAutoFit/>
          </a:bodyPr>
          <a:lstStyle/>
          <a:p>
            <a:pPr algn="r" defTabSz="457200" fontAlgn="base">
              <a:spcBef>
                <a:spcPct val="0"/>
              </a:spcBef>
              <a:spcAft>
                <a:spcPct val="0"/>
              </a:spcAft>
            </a:pPr>
            <a:r>
              <a:rPr lang="en-US" sz="1000" b="1" dirty="0">
                <a:solidFill>
                  <a:prstClr val="black"/>
                </a:solidFill>
                <a:ea typeface="ＭＳ Ｐゴシック" pitchFamily="34" charset="-128"/>
                <a:cs typeface="Arial" charset="0"/>
              </a:rPr>
              <a:t>DOUT0</a:t>
            </a:r>
          </a:p>
        </p:txBody>
      </p:sp>
      <p:sp>
        <p:nvSpPr>
          <p:cNvPr id="58" name="TextBox 57">
            <a:extLst>
              <a:ext uri="{FF2B5EF4-FFF2-40B4-BE49-F238E27FC236}">
                <a16:creationId xmlns:a16="http://schemas.microsoft.com/office/drawing/2014/main" id="{89EFEFD4-13BB-4219-B675-DE561EA85A6B}"/>
              </a:ext>
            </a:extLst>
          </p:cNvPr>
          <p:cNvSpPr txBox="1"/>
          <p:nvPr/>
        </p:nvSpPr>
        <p:spPr>
          <a:xfrm>
            <a:off x="9218792" y="3982918"/>
            <a:ext cx="476412" cy="246221"/>
          </a:xfrm>
          <a:prstGeom prst="rect">
            <a:avLst/>
          </a:prstGeom>
          <a:noFill/>
        </p:spPr>
        <p:txBody>
          <a:bodyPr wrap="none" rtlCol="0">
            <a:spAutoFit/>
          </a:bodyPr>
          <a:lstStyle/>
          <a:p>
            <a:pPr defTabSz="457200" fontAlgn="base">
              <a:spcBef>
                <a:spcPct val="0"/>
              </a:spcBef>
              <a:spcAft>
                <a:spcPct val="0"/>
              </a:spcAft>
            </a:pPr>
            <a:r>
              <a:rPr lang="en-US" sz="1000" b="1" dirty="0">
                <a:solidFill>
                  <a:prstClr val="black"/>
                </a:solidFill>
                <a:ea typeface="ＭＳ Ｐゴシック" pitchFamily="34" charset="-128"/>
                <a:cs typeface="Arial" charset="0"/>
              </a:rPr>
              <a:t>DIN0</a:t>
            </a:r>
          </a:p>
        </p:txBody>
      </p:sp>
      <p:sp>
        <p:nvSpPr>
          <p:cNvPr id="59" name="TextBox 58">
            <a:extLst>
              <a:ext uri="{FF2B5EF4-FFF2-40B4-BE49-F238E27FC236}">
                <a16:creationId xmlns:a16="http://schemas.microsoft.com/office/drawing/2014/main" id="{EBA62DF1-B5BB-432C-81E3-FF6A8956955C}"/>
              </a:ext>
            </a:extLst>
          </p:cNvPr>
          <p:cNvSpPr txBox="1"/>
          <p:nvPr/>
        </p:nvSpPr>
        <p:spPr>
          <a:xfrm>
            <a:off x="9218795" y="4159152"/>
            <a:ext cx="627095" cy="246221"/>
          </a:xfrm>
          <a:prstGeom prst="rect">
            <a:avLst/>
          </a:prstGeom>
          <a:noFill/>
        </p:spPr>
        <p:txBody>
          <a:bodyPr wrap="none" rtlCol="0">
            <a:spAutoFit/>
          </a:bodyPr>
          <a:lstStyle/>
          <a:p>
            <a:pPr defTabSz="457200" fontAlgn="base">
              <a:spcBef>
                <a:spcPct val="0"/>
              </a:spcBef>
              <a:spcAft>
                <a:spcPct val="0"/>
              </a:spcAft>
            </a:pPr>
            <a:r>
              <a:rPr lang="en-US" sz="1000" b="1" dirty="0">
                <a:solidFill>
                  <a:prstClr val="black"/>
                </a:solidFill>
                <a:ea typeface="ＭＳ Ｐゴシック" pitchFamily="34" charset="-128"/>
                <a:cs typeface="Arial" charset="0"/>
              </a:rPr>
              <a:t>ADDR0</a:t>
            </a:r>
          </a:p>
        </p:txBody>
      </p:sp>
      <p:sp>
        <p:nvSpPr>
          <p:cNvPr id="60" name="TextBox 59">
            <a:extLst>
              <a:ext uri="{FF2B5EF4-FFF2-40B4-BE49-F238E27FC236}">
                <a16:creationId xmlns:a16="http://schemas.microsoft.com/office/drawing/2014/main" id="{7663B179-FAF1-4011-88F0-E1015A47EA8E}"/>
              </a:ext>
            </a:extLst>
          </p:cNvPr>
          <p:cNvSpPr txBox="1"/>
          <p:nvPr/>
        </p:nvSpPr>
        <p:spPr>
          <a:xfrm>
            <a:off x="9218792" y="4427987"/>
            <a:ext cx="433132" cy="246221"/>
          </a:xfrm>
          <a:prstGeom prst="rect">
            <a:avLst/>
          </a:prstGeom>
          <a:noFill/>
        </p:spPr>
        <p:txBody>
          <a:bodyPr wrap="none" rtlCol="0">
            <a:spAutoFit/>
          </a:bodyPr>
          <a:lstStyle/>
          <a:p>
            <a:pPr defTabSz="457200" fontAlgn="base">
              <a:spcBef>
                <a:spcPct val="0"/>
              </a:spcBef>
              <a:spcAft>
                <a:spcPct val="0"/>
              </a:spcAft>
            </a:pPr>
            <a:r>
              <a:rPr lang="en-US" sz="1000" b="1" dirty="0">
                <a:solidFill>
                  <a:prstClr val="black"/>
                </a:solidFill>
                <a:ea typeface="ＭＳ Ｐゴシック" pitchFamily="34" charset="-128"/>
                <a:cs typeface="Arial" charset="0"/>
              </a:rPr>
              <a:t>CE0</a:t>
            </a:r>
          </a:p>
        </p:txBody>
      </p:sp>
      <p:cxnSp>
        <p:nvCxnSpPr>
          <p:cNvPr id="61" name="Straight Arrow Connector 60">
            <a:extLst>
              <a:ext uri="{FF2B5EF4-FFF2-40B4-BE49-F238E27FC236}">
                <a16:creationId xmlns:a16="http://schemas.microsoft.com/office/drawing/2014/main" id="{A2E3ECB4-0F01-49AB-9EBF-0EF5E2FA844F}"/>
              </a:ext>
            </a:extLst>
          </p:cNvPr>
          <p:cNvCxnSpPr/>
          <p:nvPr/>
        </p:nvCxnSpPr>
        <p:spPr>
          <a:xfrm>
            <a:off x="8041347" y="4712501"/>
            <a:ext cx="1279832" cy="16574"/>
          </a:xfrm>
          <a:prstGeom prst="straightConnector1">
            <a:avLst/>
          </a:prstGeom>
          <a:noFill/>
          <a:ln w="25400" cap="flat" cmpd="sng" algn="ctr">
            <a:solidFill>
              <a:srgbClr val="B20838"/>
            </a:solidFill>
            <a:prstDash val="solid"/>
            <a:tailEnd type="arrow"/>
          </a:ln>
          <a:effectLst>
            <a:outerShdw blurRad="40000" dist="20000" dir="5400000" rotWithShape="0">
              <a:srgbClr val="000000">
                <a:alpha val="38000"/>
              </a:srgbClr>
            </a:outerShdw>
          </a:effectLst>
        </p:spPr>
      </p:cxnSp>
      <p:sp>
        <p:nvSpPr>
          <p:cNvPr id="77" name="TextBox 76">
            <a:extLst>
              <a:ext uri="{FF2B5EF4-FFF2-40B4-BE49-F238E27FC236}">
                <a16:creationId xmlns:a16="http://schemas.microsoft.com/office/drawing/2014/main" id="{42269F04-D34C-405A-9B27-BBD9FDBB6D70}"/>
              </a:ext>
            </a:extLst>
          </p:cNvPr>
          <p:cNvSpPr txBox="1"/>
          <p:nvPr/>
        </p:nvSpPr>
        <p:spPr>
          <a:xfrm>
            <a:off x="9221298" y="4597398"/>
            <a:ext cx="461986" cy="246221"/>
          </a:xfrm>
          <a:prstGeom prst="rect">
            <a:avLst/>
          </a:prstGeom>
          <a:noFill/>
        </p:spPr>
        <p:txBody>
          <a:bodyPr wrap="none" rtlCol="0">
            <a:spAutoFit/>
          </a:bodyPr>
          <a:lstStyle/>
          <a:p>
            <a:pPr defTabSz="457200" fontAlgn="base">
              <a:spcBef>
                <a:spcPct val="0"/>
              </a:spcBef>
              <a:spcAft>
                <a:spcPct val="0"/>
              </a:spcAft>
            </a:pPr>
            <a:r>
              <a:rPr lang="en-US" sz="1000" b="1" dirty="0">
                <a:solidFill>
                  <a:prstClr val="black"/>
                </a:solidFill>
                <a:ea typeface="ＭＳ Ｐゴシック" pitchFamily="34" charset="-128"/>
                <a:cs typeface="Arial" charset="0"/>
              </a:rPr>
              <a:t>WE0</a:t>
            </a:r>
          </a:p>
        </p:txBody>
      </p:sp>
      <p:cxnSp>
        <p:nvCxnSpPr>
          <p:cNvPr id="78" name="Straight Arrow Connector 77">
            <a:extLst>
              <a:ext uri="{FF2B5EF4-FFF2-40B4-BE49-F238E27FC236}">
                <a16:creationId xmlns:a16="http://schemas.microsoft.com/office/drawing/2014/main" id="{6E09C3BA-8CDF-482E-A07E-F735CAB5D476}"/>
              </a:ext>
            </a:extLst>
          </p:cNvPr>
          <p:cNvCxnSpPr/>
          <p:nvPr/>
        </p:nvCxnSpPr>
        <p:spPr>
          <a:xfrm>
            <a:off x="8194929" y="4136426"/>
            <a:ext cx="1126252" cy="1588"/>
          </a:xfrm>
          <a:prstGeom prst="straightConnector1">
            <a:avLst/>
          </a:prstGeom>
          <a:noFill/>
          <a:ln w="25400" cap="flat" cmpd="sng" algn="ctr">
            <a:solidFill>
              <a:srgbClr val="B20838"/>
            </a:solidFill>
            <a:prstDash val="solid"/>
            <a:tailEnd type="arrow"/>
          </a:ln>
          <a:effectLst>
            <a:outerShdw blurRad="40000" dist="20000" dir="5400000" rotWithShape="0">
              <a:srgbClr val="000000">
                <a:alpha val="38000"/>
              </a:srgbClr>
            </a:outerShdw>
          </a:effectLst>
        </p:spPr>
      </p:cxnSp>
      <p:sp>
        <p:nvSpPr>
          <p:cNvPr id="79" name="TextBox 78">
            <a:extLst>
              <a:ext uri="{FF2B5EF4-FFF2-40B4-BE49-F238E27FC236}">
                <a16:creationId xmlns:a16="http://schemas.microsoft.com/office/drawing/2014/main" id="{1698FF8C-809C-4531-B3E7-2FF24194555D}"/>
              </a:ext>
            </a:extLst>
          </p:cNvPr>
          <p:cNvSpPr txBox="1"/>
          <p:nvPr/>
        </p:nvSpPr>
        <p:spPr>
          <a:xfrm>
            <a:off x="9698637" y="3752393"/>
            <a:ext cx="857927" cy="276999"/>
          </a:xfrm>
          <a:prstGeom prst="rect">
            <a:avLst/>
          </a:prstGeom>
          <a:noFill/>
        </p:spPr>
        <p:txBody>
          <a:bodyPr wrap="none" rtlCol="0">
            <a:spAutoFit/>
          </a:bodyPr>
          <a:lstStyle/>
          <a:p>
            <a:pPr algn="r" defTabSz="457200" fontAlgn="base">
              <a:spcBef>
                <a:spcPct val="0"/>
              </a:spcBef>
              <a:spcAft>
                <a:spcPct val="0"/>
              </a:spcAft>
            </a:pPr>
            <a:r>
              <a:rPr lang="en-US" sz="1200" b="1" dirty="0">
                <a:solidFill>
                  <a:prstClr val="black"/>
                </a:solidFill>
                <a:ea typeface="ＭＳ Ｐゴシック" pitchFamily="34" charset="-128"/>
                <a:cs typeface="Arial" charset="0"/>
              </a:rPr>
              <a:t>DPRAMB</a:t>
            </a:r>
          </a:p>
        </p:txBody>
      </p:sp>
      <p:sp>
        <p:nvSpPr>
          <p:cNvPr id="80" name="TextBox 79">
            <a:extLst>
              <a:ext uri="{FF2B5EF4-FFF2-40B4-BE49-F238E27FC236}">
                <a16:creationId xmlns:a16="http://schemas.microsoft.com/office/drawing/2014/main" id="{C9B8F1B8-AEAA-4327-AFD3-794F49190E3C}"/>
              </a:ext>
            </a:extLst>
          </p:cNvPr>
          <p:cNvSpPr txBox="1"/>
          <p:nvPr/>
        </p:nvSpPr>
        <p:spPr>
          <a:xfrm>
            <a:off x="362349" y="3752376"/>
            <a:ext cx="2969212" cy="923330"/>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p:spPr>
        <p:txBody>
          <a:bodyPr wrap="square" rtlCol="0">
            <a:spAutoFit/>
          </a:bodyPr>
          <a:lstStyle/>
          <a:p>
            <a:pPr defTabSz="457200" fontAlgn="base">
              <a:spcBef>
                <a:spcPct val="0"/>
              </a:spcBef>
              <a:spcAft>
                <a:spcPct val="0"/>
              </a:spcAft>
              <a:defRPr/>
            </a:pPr>
            <a:r>
              <a:rPr lang="en-US" sz="900" kern="0" dirty="0">
                <a:solidFill>
                  <a:prstClr val="black"/>
                </a:solidFill>
                <a:latin typeface="Arial"/>
              </a:rPr>
              <a:t>void foo_top( </a:t>
            </a:r>
            <a:r>
              <a:rPr lang="en-US" sz="900" b="1" kern="0" dirty="0">
                <a:solidFill>
                  <a:prstClr val="black"/>
                </a:solidFill>
                <a:latin typeface="Arial"/>
              </a:rPr>
              <a:t>int A[3*N]</a:t>
            </a:r>
            <a:r>
              <a:rPr lang="en-US" sz="900" kern="0" dirty="0">
                <a:solidFill>
                  <a:prstClr val="black"/>
                </a:solidFill>
                <a:latin typeface="Arial"/>
              </a:rPr>
              <a:t> , int x)</a:t>
            </a:r>
          </a:p>
          <a:p>
            <a:pPr defTabSz="457200" fontAlgn="base">
              <a:spcBef>
                <a:spcPct val="0"/>
              </a:spcBef>
              <a:spcAft>
                <a:spcPct val="0"/>
              </a:spcAft>
              <a:defRPr/>
            </a:pPr>
            <a:r>
              <a:rPr lang="en-US" sz="900" kern="0" dirty="0">
                <a:solidFill>
                  <a:prstClr val="black"/>
                </a:solidFill>
                <a:latin typeface="Arial"/>
              </a:rPr>
              <a:t>{</a:t>
            </a:r>
          </a:p>
          <a:p>
            <a:pPr defTabSz="457200" fontAlgn="base">
              <a:spcBef>
                <a:spcPct val="0"/>
              </a:spcBef>
              <a:spcAft>
                <a:spcPct val="0"/>
              </a:spcAft>
              <a:defRPr/>
            </a:pPr>
            <a:r>
              <a:rPr lang="en-US" sz="900" kern="0" dirty="0">
                <a:solidFill>
                  <a:prstClr val="black"/>
                </a:solidFill>
                <a:latin typeface="Arial"/>
              </a:rPr>
              <a:t>   L1: for (i = 0; i &lt; N; i++)</a:t>
            </a:r>
          </a:p>
          <a:p>
            <a:pPr defTabSz="457200" fontAlgn="base">
              <a:spcBef>
                <a:spcPct val="0"/>
              </a:spcBef>
              <a:spcAft>
                <a:spcPct val="0"/>
              </a:spcAft>
              <a:defRPr/>
            </a:pPr>
            <a:r>
              <a:rPr lang="en-US" sz="900" kern="0" dirty="0">
                <a:solidFill>
                  <a:prstClr val="black"/>
                </a:solidFill>
                <a:latin typeface="Arial"/>
              </a:rPr>
              <a:t>           A[i+x] = A[i] + i; </a:t>
            </a:r>
          </a:p>
          <a:p>
            <a:pPr defTabSz="457200" fontAlgn="base">
              <a:spcBef>
                <a:spcPct val="0"/>
              </a:spcBef>
              <a:spcAft>
                <a:spcPct val="0"/>
              </a:spcAft>
              <a:defRPr/>
            </a:pPr>
            <a:r>
              <a:rPr lang="en-US" sz="900" kern="0" dirty="0">
                <a:solidFill>
                  <a:prstClr val="black"/>
                </a:solidFill>
                <a:latin typeface="Arial"/>
              </a:rPr>
              <a:t>}</a:t>
            </a:r>
          </a:p>
          <a:p>
            <a:pPr defTabSz="457200" fontAlgn="base">
              <a:spcBef>
                <a:spcPct val="0"/>
              </a:spcBef>
              <a:spcAft>
                <a:spcPct val="0"/>
              </a:spcAft>
              <a:defRPr/>
            </a:pPr>
            <a:endParaRPr lang="en-US" sz="900" kern="0" dirty="0">
              <a:solidFill>
                <a:prstClr val="black"/>
              </a:solidFill>
              <a:latin typeface="Arial"/>
            </a:endParaRPr>
          </a:p>
        </p:txBody>
      </p:sp>
      <p:sp>
        <p:nvSpPr>
          <p:cNvPr id="81" name="Trapezoid 80">
            <a:extLst>
              <a:ext uri="{FF2B5EF4-FFF2-40B4-BE49-F238E27FC236}">
                <a16:creationId xmlns:a16="http://schemas.microsoft.com/office/drawing/2014/main" id="{515BCCF5-C423-4359-A3E2-21196F9A4629}"/>
              </a:ext>
            </a:extLst>
          </p:cNvPr>
          <p:cNvSpPr/>
          <p:nvPr/>
        </p:nvSpPr>
        <p:spPr>
          <a:xfrm rot="5400000">
            <a:off x="6966226" y="4226197"/>
            <a:ext cx="460860" cy="358353"/>
          </a:xfrm>
          <a:prstGeom prst="trapezoid">
            <a:avLst/>
          </a:prstGeom>
          <a:gradFill rotWithShape="1">
            <a:gsLst>
              <a:gs pos="0">
                <a:srgbClr val="8B8D09">
                  <a:shade val="51000"/>
                  <a:satMod val="130000"/>
                </a:srgbClr>
              </a:gs>
              <a:gs pos="80000">
                <a:srgbClr val="8B8D09">
                  <a:shade val="93000"/>
                  <a:satMod val="130000"/>
                </a:srgbClr>
              </a:gs>
              <a:gs pos="100000">
                <a:srgbClr val="8B8D09">
                  <a:shade val="94000"/>
                  <a:satMod val="135000"/>
                </a:srgbClr>
              </a:gs>
            </a:gsLst>
            <a:lin ang="16200000" scaled="0"/>
          </a:gradFill>
          <a:ln w="9525" cap="flat" cmpd="sng" algn="ctr">
            <a:solidFill>
              <a:srgbClr val="8B8D09">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r>
              <a:rPr lang="en-US" b="1" kern="0" dirty="0">
                <a:solidFill>
                  <a:prstClr val="white"/>
                </a:solidFill>
                <a:latin typeface="Arial"/>
              </a:rPr>
              <a:t>+</a:t>
            </a:r>
          </a:p>
        </p:txBody>
      </p:sp>
      <p:cxnSp>
        <p:nvCxnSpPr>
          <p:cNvPr id="82" name="Straight Arrow Connector 81">
            <a:extLst>
              <a:ext uri="{FF2B5EF4-FFF2-40B4-BE49-F238E27FC236}">
                <a16:creationId xmlns:a16="http://schemas.microsoft.com/office/drawing/2014/main" id="{BA186C46-FB2B-4320-98D4-859D654BD16D}"/>
              </a:ext>
            </a:extLst>
          </p:cNvPr>
          <p:cNvCxnSpPr/>
          <p:nvPr/>
        </p:nvCxnSpPr>
        <p:spPr>
          <a:xfrm>
            <a:off x="6454429" y="4328451"/>
            <a:ext cx="563127" cy="1588"/>
          </a:xfrm>
          <a:prstGeom prst="straightConnector1">
            <a:avLst/>
          </a:prstGeom>
          <a:noFill/>
          <a:ln w="25400" cap="flat" cmpd="sng" algn="ctr">
            <a:solidFill>
              <a:srgbClr val="B20838">
                <a:lumMod val="75000"/>
              </a:srgbClr>
            </a:solidFill>
            <a:prstDash val="solid"/>
            <a:tailEnd type="arrow"/>
          </a:ln>
          <a:effectLst>
            <a:outerShdw blurRad="40000" dist="20000" dir="5400000" rotWithShape="0">
              <a:srgbClr val="000000">
                <a:alpha val="38000"/>
              </a:srgbClr>
            </a:outerShdw>
          </a:effectLst>
        </p:spPr>
      </p:cxnSp>
      <p:cxnSp>
        <p:nvCxnSpPr>
          <p:cNvPr id="83" name="Straight Arrow Connector 82">
            <a:extLst>
              <a:ext uri="{FF2B5EF4-FFF2-40B4-BE49-F238E27FC236}">
                <a16:creationId xmlns:a16="http://schemas.microsoft.com/office/drawing/2014/main" id="{7754095B-0F8F-479F-B58F-02C77CE90BD1}"/>
              </a:ext>
            </a:extLst>
          </p:cNvPr>
          <p:cNvCxnSpPr/>
          <p:nvPr/>
        </p:nvCxnSpPr>
        <p:spPr>
          <a:xfrm>
            <a:off x="7375836" y="4405261"/>
            <a:ext cx="409547" cy="1588"/>
          </a:xfrm>
          <a:prstGeom prst="straightConnector1">
            <a:avLst/>
          </a:prstGeom>
          <a:noFill/>
          <a:ln w="25400" cap="flat" cmpd="sng" algn="ctr">
            <a:solidFill>
              <a:srgbClr val="B20838">
                <a:lumMod val="75000"/>
              </a:srgbClr>
            </a:solidFill>
            <a:prstDash val="solid"/>
            <a:tailEnd type="arrow"/>
          </a:ln>
          <a:effectLst>
            <a:outerShdw blurRad="40000" dist="20000" dir="5400000" rotWithShape="0">
              <a:srgbClr val="000000">
                <a:alpha val="38000"/>
              </a:srgbClr>
            </a:outerShdw>
          </a:effectLst>
        </p:spPr>
      </p:cxnSp>
      <p:cxnSp>
        <p:nvCxnSpPr>
          <p:cNvPr id="84" name="Straight Arrow Connector 83">
            <a:extLst>
              <a:ext uri="{FF2B5EF4-FFF2-40B4-BE49-F238E27FC236}">
                <a16:creationId xmlns:a16="http://schemas.microsoft.com/office/drawing/2014/main" id="{F4B55307-1D27-4FBF-9822-D2D4FE507727}"/>
              </a:ext>
            </a:extLst>
          </p:cNvPr>
          <p:cNvCxnSpPr>
            <a:stCxn id="85" idx="20"/>
          </p:cNvCxnSpPr>
          <p:nvPr/>
        </p:nvCxnSpPr>
        <p:spPr>
          <a:xfrm flipV="1">
            <a:off x="6604075" y="4520588"/>
            <a:ext cx="413406" cy="11603"/>
          </a:xfrm>
          <a:prstGeom prst="straightConnector1">
            <a:avLst/>
          </a:prstGeom>
          <a:noFill/>
          <a:ln w="25400" cap="flat" cmpd="sng" algn="ctr">
            <a:solidFill>
              <a:srgbClr val="B20838">
                <a:lumMod val="75000"/>
              </a:srgbClr>
            </a:solidFill>
            <a:prstDash val="solid"/>
            <a:tailEnd type="arrow"/>
          </a:ln>
          <a:effectLst>
            <a:outerShdw blurRad="40000" dist="20000" dir="5400000" rotWithShape="0">
              <a:srgbClr val="000000">
                <a:alpha val="38000"/>
              </a:srgbClr>
            </a:outerShdw>
          </a:effectLst>
        </p:spPr>
      </p:cxnSp>
      <p:sp>
        <p:nvSpPr>
          <p:cNvPr id="85" name="Freeform 100">
            <a:extLst>
              <a:ext uri="{FF2B5EF4-FFF2-40B4-BE49-F238E27FC236}">
                <a16:creationId xmlns:a16="http://schemas.microsoft.com/office/drawing/2014/main" id="{A3276CF2-AC4B-464C-B6B2-6948B4F9BBA8}"/>
              </a:ext>
            </a:extLst>
          </p:cNvPr>
          <p:cNvSpPr/>
          <p:nvPr/>
        </p:nvSpPr>
        <p:spPr>
          <a:xfrm>
            <a:off x="6096001" y="4136538"/>
            <a:ext cx="603552" cy="567211"/>
          </a:xfrm>
          <a:custGeom>
            <a:avLst/>
            <a:gdLst>
              <a:gd name="connsiteX0" fmla="*/ 205309 w 452782"/>
              <a:gd name="connsiteY0" fmla="*/ 0 h 567211"/>
              <a:gd name="connsiteX1" fmla="*/ 205309 w 452782"/>
              <a:gd name="connsiteY1" fmla="*/ 0 h 567211"/>
              <a:gd name="connsiteX2" fmla="*/ 170139 w 452782"/>
              <a:gd name="connsiteY2" fmla="*/ 70338 h 567211"/>
              <a:gd name="connsiteX3" fmla="*/ 38255 w 452782"/>
              <a:gd name="connsiteY3" fmla="*/ 105507 h 567211"/>
              <a:gd name="connsiteX4" fmla="*/ 47047 w 452782"/>
              <a:gd name="connsiteY4" fmla="*/ 131884 h 567211"/>
              <a:gd name="connsiteX5" fmla="*/ 55839 w 452782"/>
              <a:gd name="connsiteY5" fmla="*/ 184638 h 567211"/>
              <a:gd name="connsiteX6" fmla="*/ 29463 w 452782"/>
              <a:gd name="connsiteY6" fmla="*/ 202223 h 567211"/>
              <a:gd name="connsiteX7" fmla="*/ 20670 w 452782"/>
              <a:gd name="connsiteY7" fmla="*/ 290146 h 567211"/>
              <a:gd name="connsiteX8" fmla="*/ 47047 w 452782"/>
              <a:gd name="connsiteY8" fmla="*/ 307730 h 567211"/>
              <a:gd name="connsiteX9" fmla="*/ 55839 w 452782"/>
              <a:gd name="connsiteY9" fmla="*/ 422030 h 567211"/>
              <a:gd name="connsiteX10" fmla="*/ 82216 w 452782"/>
              <a:gd name="connsiteY10" fmla="*/ 439615 h 567211"/>
              <a:gd name="connsiteX11" fmla="*/ 99801 w 452782"/>
              <a:gd name="connsiteY11" fmla="*/ 465992 h 567211"/>
              <a:gd name="connsiteX12" fmla="*/ 91009 w 452782"/>
              <a:gd name="connsiteY12" fmla="*/ 492369 h 567211"/>
              <a:gd name="connsiteX13" fmla="*/ 99801 w 452782"/>
              <a:gd name="connsiteY13" fmla="*/ 536330 h 567211"/>
              <a:gd name="connsiteX14" fmla="*/ 126178 w 452782"/>
              <a:gd name="connsiteY14" fmla="*/ 545123 h 567211"/>
              <a:gd name="connsiteX15" fmla="*/ 187724 w 452782"/>
              <a:gd name="connsiteY15" fmla="*/ 562707 h 567211"/>
              <a:gd name="connsiteX16" fmla="*/ 214101 w 452782"/>
              <a:gd name="connsiteY16" fmla="*/ 545123 h 567211"/>
              <a:gd name="connsiteX17" fmla="*/ 354778 w 452782"/>
              <a:gd name="connsiteY17" fmla="*/ 527538 h 567211"/>
              <a:gd name="connsiteX18" fmla="*/ 363570 w 452782"/>
              <a:gd name="connsiteY18" fmla="*/ 492369 h 567211"/>
              <a:gd name="connsiteX19" fmla="*/ 416324 w 452782"/>
              <a:gd name="connsiteY19" fmla="*/ 483576 h 567211"/>
              <a:gd name="connsiteX20" fmla="*/ 381155 w 452782"/>
              <a:gd name="connsiteY20" fmla="*/ 395653 h 567211"/>
              <a:gd name="connsiteX21" fmla="*/ 372363 w 452782"/>
              <a:gd name="connsiteY21" fmla="*/ 369276 h 567211"/>
              <a:gd name="connsiteX22" fmla="*/ 381155 w 452782"/>
              <a:gd name="connsiteY22" fmla="*/ 334107 h 567211"/>
              <a:gd name="connsiteX23" fmla="*/ 407532 w 452782"/>
              <a:gd name="connsiteY23" fmla="*/ 281353 h 567211"/>
              <a:gd name="connsiteX24" fmla="*/ 389947 w 452782"/>
              <a:gd name="connsiteY24" fmla="*/ 237392 h 567211"/>
              <a:gd name="connsiteX25" fmla="*/ 425116 w 452782"/>
              <a:gd name="connsiteY25" fmla="*/ 184638 h 567211"/>
              <a:gd name="connsiteX26" fmla="*/ 416324 w 452782"/>
              <a:gd name="connsiteY26" fmla="*/ 105507 h 567211"/>
              <a:gd name="connsiteX27" fmla="*/ 363570 w 452782"/>
              <a:gd name="connsiteY27" fmla="*/ 87923 h 567211"/>
              <a:gd name="connsiteX28" fmla="*/ 345986 w 452782"/>
              <a:gd name="connsiteY28" fmla="*/ 35169 h 567211"/>
              <a:gd name="connsiteX29" fmla="*/ 293232 w 452782"/>
              <a:gd name="connsiteY29" fmla="*/ 17584 h 567211"/>
              <a:gd name="connsiteX30" fmla="*/ 266855 w 452782"/>
              <a:gd name="connsiteY30" fmla="*/ 8792 h 567211"/>
              <a:gd name="connsiteX31" fmla="*/ 205309 w 452782"/>
              <a:gd name="connsiteY31" fmla="*/ 0 h 567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52782" h="567211">
                <a:moveTo>
                  <a:pt x="205309" y="0"/>
                </a:moveTo>
                <a:lnTo>
                  <a:pt x="205309" y="0"/>
                </a:lnTo>
                <a:cubicBezTo>
                  <a:pt x="193586" y="23446"/>
                  <a:pt x="193585" y="58615"/>
                  <a:pt x="170139" y="70338"/>
                </a:cubicBezTo>
                <a:cubicBezTo>
                  <a:pt x="15118" y="147848"/>
                  <a:pt x="65166" y="24772"/>
                  <a:pt x="38255" y="105507"/>
                </a:cubicBezTo>
                <a:cubicBezTo>
                  <a:pt x="41186" y="114299"/>
                  <a:pt x="42902" y="123595"/>
                  <a:pt x="47047" y="131884"/>
                </a:cubicBezTo>
                <a:cubicBezTo>
                  <a:pt x="58828" y="155445"/>
                  <a:pt x="77574" y="157469"/>
                  <a:pt x="55839" y="184638"/>
                </a:cubicBezTo>
                <a:cubicBezTo>
                  <a:pt x="49238" y="192889"/>
                  <a:pt x="38255" y="196361"/>
                  <a:pt x="29463" y="202223"/>
                </a:cubicBezTo>
                <a:cubicBezTo>
                  <a:pt x="19381" y="232469"/>
                  <a:pt x="0" y="259141"/>
                  <a:pt x="20670" y="290146"/>
                </a:cubicBezTo>
                <a:cubicBezTo>
                  <a:pt x="26531" y="298938"/>
                  <a:pt x="38255" y="301869"/>
                  <a:pt x="47047" y="307730"/>
                </a:cubicBezTo>
                <a:cubicBezTo>
                  <a:pt x="49978" y="345830"/>
                  <a:pt x="45993" y="385108"/>
                  <a:pt x="55839" y="422030"/>
                </a:cubicBezTo>
                <a:cubicBezTo>
                  <a:pt x="58562" y="432240"/>
                  <a:pt x="74744" y="432143"/>
                  <a:pt x="82216" y="439615"/>
                </a:cubicBezTo>
                <a:cubicBezTo>
                  <a:pt x="89688" y="447087"/>
                  <a:pt x="93939" y="457200"/>
                  <a:pt x="99801" y="465992"/>
                </a:cubicBezTo>
                <a:cubicBezTo>
                  <a:pt x="96870" y="474784"/>
                  <a:pt x="91009" y="483101"/>
                  <a:pt x="91009" y="492369"/>
                </a:cubicBezTo>
                <a:cubicBezTo>
                  <a:pt x="91009" y="507313"/>
                  <a:pt x="91512" y="523896"/>
                  <a:pt x="99801" y="536330"/>
                </a:cubicBezTo>
                <a:cubicBezTo>
                  <a:pt x="104942" y="544041"/>
                  <a:pt x="117267" y="542577"/>
                  <a:pt x="126178" y="545123"/>
                </a:cubicBezTo>
                <a:cubicBezTo>
                  <a:pt x="203485" y="567211"/>
                  <a:pt x="124461" y="541620"/>
                  <a:pt x="187724" y="562707"/>
                </a:cubicBezTo>
                <a:cubicBezTo>
                  <a:pt x="196516" y="556846"/>
                  <a:pt x="203715" y="547070"/>
                  <a:pt x="214101" y="545123"/>
                </a:cubicBezTo>
                <a:cubicBezTo>
                  <a:pt x="431319" y="504395"/>
                  <a:pt x="269429" y="555987"/>
                  <a:pt x="354778" y="527538"/>
                </a:cubicBezTo>
                <a:cubicBezTo>
                  <a:pt x="357709" y="515815"/>
                  <a:pt x="353737" y="499393"/>
                  <a:pt x="363570" y="492369"/>
                </a:cubicBezTo>
                <a:cubicBezTo>
                  <a:pt x="378077" y="482007"/>
                  <a:pt x="408351" y="499521"/>
                  <a:pt x="416324" y="483576"/>
                </a:cubicBezTo>
                <a:cubicBezTo>
                  <a:pt x="452782" y="410660"/>
                  <a:pt x="416549" y="407452"/>
                  <a:pt x="381155" y="395653"/>
                </a:cubicBezTo>
                <a:cubicBezTo>
                  <a:pt x="378224" y="386861"/>
                  <a:pt x="372363" y="378544"/>
                  <a:pt x="372363" y="369276"/>
                </a:cubicBezTo>
                <a:cubicBezTo>
                  <a:pt x="372363" y="357192"/>
                  <a:pt x="377835" y="345726"/>
                  <a:pt x="381155" y="334107"/>
                </a:cubicBezTo>
                <a:cubicBezTo>
                  <a:pt x="390255" y="302255"/>
                  <a:pt x="388264" y="310254"/>
                  <a:pt x="407532" y="281353"/>
                </a:cubicBezTo>
                <a:cubicBezTo>
                  <a:pt x="429631" y="215053"/>
                  <a:pt x="412673" y="294205"/>
                  <a:pt x="389947" y="237392"/>
                </a:cubicBezTo>
                <a:cubicBezTo>
                  <a:pt x="382676" y="219214"/>
                  <a:pt x="419012" y="190742"/>
                  <a:pt x="425116" y="184638"/>
                </a:cubicBezTo>
                <a:cubicBezTo>
                  <a:pt x="422185" y="158261"/>
                  <a:pt x="430572" y="127897"/>
                  <a:pt x="416324" y="105507"/>
                </a:cubicBezTo>
                <a:cubicBezTo>
                  <a:pt x="406373" y="89869"/>
                  <a:pt x="363570" y="87923"/>
                  <a:pt x="363570" y="87923"/>
                </a:cubicBezTo>
                <a:cubicBezTo>
                  <a:pt x="357709" y="70338"/>
                  <a:pt x="363571" y="41031"/>
                  <a:pt x="345986" y="35169"/>
                </a:cubicBezTo>
                <a:lnTo>
                  <a:pt x="293232" y="17584"/>
                </a:lnTo>
                <a:lnTo>
                  <a:pt x="266855" y="8792"/>
                </a:lnTo>
                <a:cubicBezTo>
                  <a:pt x="234917" y="19438"/>
                  <a:pt x="215567" y="1465"/>
                  <a:pt x="205309" y="0"/>
                </a:cubicBezTo>
                <a:close/>
              </a:path>
            </a:pathLst>
          </a:custGeom>
          <a:gradFill rotWithShape="1">
            <a:gsLst>
              <a:gs pos="0">
                <a:srgbClr val="6D7076">
                  <a:shade val="51000"/>
                  <a:satMod val="130000"/>
                </a:srgbClr>
              </a:gs>
              <a:gs pos="80000">
                <a:srgbClr val="6D7076">
                  <a:shade val="93000"/>
                  <a:satMod val="130000"/>
                </a:srgbClr>
              </a:gs>
              <a:gs pos="100000">
                <a:srgbClr val="6D7076">
                  <a:shade val="94000"/>
                  <a:satMod val="135000"/>
                </a:srgbClr>
              </a:gs>
            </a:gsLst>
            <a:lin ang="16200000" scaled="0"/>
          </a:gradFill>
          <a:ln w="9525" cap="flat" cmpd="sng" algn="ctr">
            <a:solidFill>
              <a:srgbClr val="6D7076">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endParaRPr lang="en-US" kern="0" dirty="0">
              <a:solidFill>
                <a:prstClr val="white"/>
              </a:solidFill>
              <a:latin typeface="Arial"/>
            </a:endParaRPr>
          </a:p>
        </p:txBody>
      </p:sp>
      <p:cxnSp>
        <p:nvCxnSpPr>
          <p:cNvPr id="86" name="Straight Arrow Connector 85">
            <a:extLst>
              <a:ext uri="{FF2B5EF4-FFF2-40B4-BE49-F238E27FC236}">
                <a16:creationId xmlns:a16="http://schemas.microsoft.com/office/drawing/2014/main" id="{739AAB8C-C873-4A69-AE34-01A651C874C1}"/>
              </a:ext>
            </a:extLst>
          </p:cNvPr>
          <p:cNvCxnSpPr/>
          <p:nvPr/>
        </p:nvCxnSpPr>
        <p:spPr>
          <a:xfrm>
            <a:off x="5328101" y="4443666"/>
            <a:ext cx="819092" cy="1588"/>
          </a:xfrm>
          <a:prstGeom prst="straightConnector1">
            <a:avLst/>
          </a:prstGeom>
          <a:noFill/>
          <a:ln w="25400" cap="flat" cmpd="sng" algn="ctr">
            <a:solidFill>
              <a:srgbClr val="B20838"/>
            </a:solidFill>
            <a:prstDash val="solid"/>
            <a:tailEnd type="arrow"/>
          </a:ln>
          <a:effectLst>
            <a:outerShdw blurRad="40000" dist="20000" dir="5400000" rotWithShape="0">
              <a:srgbClr val="000000">
                <a:alpha val="38000"/>
              </a:srgbClr>
            </a:outerShdw>
          </a:effectLst>
        </p:spPr>
      </p:cxnSp>
      <p:cxnSp>
        <p:nvCxnSpPr>
          <p:cNvPr id="87" name="Straight Connector 86">
            <a:extLst>
              <a:ext uri="{FF2B5EF4-FFF2-40B4-BE49-F238E27FC236}">
                <a16:creationId xmlns:a16="http://schemas.microsoft.com/office/drawing/2014/main" id="{5EDF6C99-0CF0-44C0-8E07-E620FE955585}"/>
              </a:ext>
            </a:extLst>
          </p:cNvPr>
          <p:cNvCxnSpPr/>
          <p:nvPr/>
        </p:nvCxnSpPr>
        <p:spPr>
          <a:xfrm rot="5400000" flipH="1" flipV="1">
            <a:off x="4905646" y="4021211"/>
            <a:ext cx="844910" cy="0"/>
          </a:xfrm>
          <a:prstGeom prst="line">
            <a:avLst/>
          </a:prstGeom>
          <a:noFill/>
          <a:ln w="25400" cap="flat" cmpd="sng" algn="ctr">
            <a:solidFill>
              <a:srgbClr val="B20838"/>
            </a:solidFill>
            <a:prstDash val="solid"/>
          </a:ln>
          <a:effectLst>
            <a:outerShdw blurRad="40000" dist="20000" dir="5400000" rotWithShape="0">
              <a:srgbClr val="000000">
                <a:alpha val="38000"/>
              </a:srgbClr>
            </a:outerShdw>
          </a:effectLst>
        </p:spPr>
      </p:cxnSp>
      <p:cxnSp>
        <p:nvCxnSpPr>
          <p:cNvPr id="88" name="Straight Connector 87">
            <a:extLst>
              <a:ext uri="{FF2B5EF4-FFF2-40B4-BE49-F238E27FC236}">
                <a16:creationId xmlns:a16="http://schemas.microsoft.com/office/drawing/2014/main" id="{E9C2E5DB-C42F-4905-80A0-F893DB452809}"/>
              </a:ext>
            </a:extLst>
          </p:cNvPr>
          <p:cNvCxnSpPr/>
          <p:nvPr/>
        </p:nvCxnSpPr>
        <p:spPr>
          <a:xfrm>
            <a:off x="5328101" y="3598756"/>
            <a:ext cx="5784846" cy="0"/>
          </a:xfrm>
          <a:prstGeom prst="line">
            <a:avLst/>
          </a:prstGeom>
          <a:noFill/>
          <a:ln w="25400" cap="flat" cmpd="sng" algn="ctr">
            <a:solidFill>
              <a:srgbClr val="B20838"/>
            </a:solidFill>
            <a:prstDash val="solid"/>
          </a:ln>
          <a:effectLst>
            <a:outerShdw blurRad="40000" dist="20000" dir="5400000" rotWithShape="0">
              <a:srgbClr val="000000">
                <a:alpha val="38000"/>
              </a:srgbClr>
            </a:outerShdw>
          </a:effectLst>
        </p:spPr>
      </p:cxnSp>
      <p:cxnSp>
        <p:nvCxnSpPr>
          <p:cNvPr id="91" name="Straight Connector 90">
            <a:extLst>
              <a:ext uri="{FF2B5EF4-FFF2-40B4-BE49-F238E27FC236}">
                <a16:creationId xmlns:a16="http://schemas.microsoft.com/office/drawing/2014/main" id="{365227ED-06ED-468F-B0E3-B6AB5452E1B5}"/>
              </a:ext>
            </a:extLst>
          </p:cNvPr>
          <p:cNvCxnSpPr/>
          <p:nvPr/>
        </p:nvCxnSpPr>
        <p:spPr>
          <a:xfrm rot="5400000">
            <a:off x="10863389" y="3848389"/>
            <a:ext cx="499267" cy="0"/>
          </a:xfrm>
          <a:prstGeom prst="line">
            <a:avLst/>
          </a:prstGeom>
          <a:noFill/>
          <a:ln w="25400" cap="flat" cmpd="sng" algn="ctr">
            <a:solidFill>
              <a:srgbClr val="B20838"/>
            </a:solidFill>
            <a:prstDash val="solid"/>
          </a:ln>
          <a:effectLst>
            <a:outerShdw blurRad="40000" dist="20000" dir="5400000" rotWithShape="0">
              <a:srgbClr val="000000">
                <a:alpha val="38000"/>
              </a:srgbClr>
            </a:outerShdw>
          </a:effectLst>
        </p:spPr>
      </p:cxnSp>
      <p:sp>
        <p:nvSpPr>
          <p:cNvPr id="93" name="TextBox 92">
            <a:extLst>
              <a:ext uri="{FF2B5EF4-FFF2-40B4-BE49-F238E27FC236}">
                <a16:creationId xmlns:a16="http://schemas.microsoft.com/office/drawing/2014/main" id="{845213B7-37ED-4286-9170-A1A3B1B88C6D}"/>
              </a:ext>
            </a:extLst>
          </p:cNvPr>
          <p:cNvSpPr txBox="1"/>
          <p:nvPr/>
        </p:nvSpPr>
        <p:spPr>
          <a:xfrm>
            <a:off x="2512543" y="4865428"/>
            <a:ext cx="2764439" cy="461665"/>
          </a:xfrm>
          <a:prstGeom prst="rect">
            <a:avLst/>
          </a:prstGeom>
          <a:solidFill>
            <a:srgbClr val="FFFF99"/>
          </a:solidFill>
          <a:ln w="19050">
            <a:solidFill>
              <a:srgbClr val="000000"/>
            </a:solidFill>
          </a:ln>
          <a:effectLst>
            <a:innerShdw blurRad="63500" dist="50800" dir="2700000">
              <a:prstClr val="black">
                <a:alpha val="50000"/>
              </a:prstClr>
            </a:innerShdw>
          </a:effectLst>
        </p:spPr>
        <p:txBody>
          <a:bodyPr wrap="square" rtlCol="0">
            <a:spAutoFit/>
          </a:bodyPr>
          <a:lstStyle/>
          <a:p>
            <a:pPr algn="ctr" defTabSz="457200" fontAlgn="base">
              <a:spcBef>
                <a:spcPct val="0"/>
              </a:spcBef>
              <a:spcAft>
                <a:spcPct val="0"/>
              </a:spcAft>
              <a:defRPr/>
            </a:pPr>
            <a:r>
              <a:rPr lang="en-US" sz="1200" b="1" kern="0" dirty="0">
                <a:solidFill>
                  <a:prstClr val="black"/>
                </a:solidFill>
                <a:ea typeface="ＭＳ Ｐゴシック" pitchFamily="34" charset="-128"/>
                <a:cs typeface="Arial" charset="0"/>
              </a:rPr>
              <a:t>Number of ports defined by the RAM resource </a:t>
            </a:r>
          </a:p>
        </p:txBody>
      </p:sp>
      <p:cxnSp>
        <p:nvCxnSpPr>
          <p:cNvPr id="95" name="Straight Arrow Connector 94">
            <a:extLst>
              <a:ext uri="{FF2B5EF4-FFF2-40B4-BE49-F238E27FC236}">
                <a16:creationId xmlns:a16="http://schemas.microsoft.com/office/drawing/2014/main" id="{69473583-7155-4B0D-9FA7-C0E184FB8322}"/>
              </a:ext>
            </a:extLst>
          </p:cNvPr>
          <p:cNvCxnSpPr/>
          <p:nvPr/>
        </p:nvCxnSpPr>
        <p:spPr>
          <a:xfrm>
            <a:off x="8092615" y="5211766"/>
            <a:ext cx="1226133" cy="1588"/>
          </a:xfrm>
          <a:prstGeom prst="straightConnector1">
            <a:avLst/>
          </a:prstGeom>
          <a:noFill/>
          <a:ln w="25400" cap="flat" cmpd="sng" algn="ctr">
            <a:solidFill>
              <a:srgbClr val="B20838"/>
            </a:solidFill>
            <a:prstDash val="solid"/>
            <a:tailEnd type="arrow"/>
          </a:ln>
          <a:effectLst>
            <a:outerShdw blurRad="40000" dist="20000" dir="5400000" rotWithShape="0">
              <a:srgbClr val="000000">
                <a:alpha val="38000"/>
              </a:srgbClr>
            </a:outerShdw>
          </a:effectLst>
        </p:spPr>
      </p:cxnSp>
      <p:cxnSp>
        <p:nvCxnSpPr>
          <p:cNvPr id="96" name="Straight Arrow Connector 95">
            <a:extLst>
              <a:ext uri="{FF2B5EF4-FFF2-40B4-BE49-F238E27FC236}">
                <a16:creationId xmlns:a16="http://schemas.microsoft.com/office/drawing/2014/main" id="{26C2DB56-3C97-43F0-B4E3-D43AB08BE39E}"/>
              </a:ext>
            </a:extLst>
          </p:cNvPr>
          <p:cNvCxnSpPr/>
          <p:nvPr/>
        </p:nvCxnSpPr>
        <p:spPr>
          <a:xfrm>
            <a:off x="8041347" y="5480713"/>
            <a:ext cx="1277326" cy="783"/>
          </a:xfrm>
          <a:prstGeom prst="straightConnector1">
            <a:avLst/>
          </a:prstGeom>
          <a:noFill/>
          <a:ln w="25400" cap="flat" cmpd="sng" algn="ctr">
            <a:solidFill>
              <a:srgbClr val="B20838"/>
            </a:solidFill>
            <a:prstDash val="solid"/>
            <a:tailEnd type="arrow"/>
          </a:ln>
          <a:effectLst>
            <a:outerShdw blurRad="40000" dist="20000" dir="5400000" rotWithShape="0">
              <a:srgbClr val="000000">
                <a:alpha val="38000"/>
              </a:srgbClr>
            </a:outerShdw>
          </a:effectLst>
        </p:spPr>
      </p:cxnSp>
      <p:sp>
        <p:nvSpPr>
          <p:cNvPr id="97" name="TextBox 96">
            <a:extLst>
              <a:ext uri="{FF2B5EF4-FFF2-40B4-BE49-F238E27FC236}">
                <a16:creationId xmlns:a16="http://schemas.microsoft.com/office/drawing/2014/main" id="{66AD4F17-C23D-4E62-9A2B-A2DB19BAA56B}"/>
              </a:ext>
            </a:extLst>
          </p:cNvPr>
          <p:cNvSpPr txBox="1"/>
          <p:nvPr/>
        </p:nvSpPr>
        <p:spPr>
          <a:xfrm>
            <a:off x="9218792" y="4904638"/>
            <a:ext cx="476412" cy="246221"/>
          </a:xfrm>
          <a:prstGeom prst="rect">
            <a:avLst/>
          </a:prstGeom>
          <a:noFill/>
        </p:spPr>
        <p:txBody>
          <a:bodyPr wrap="none" rtlCol="0">
            <a:spAutoFit/>
          </a:bodyPr>
          <a:lstStyle/>
          <a:p>
            <a:pPr defTabSz="457200" fontAlgn="base">
              <a:spcBef>
                <a:spcPct val="0"/>
              </a:spcBef>
              <a:spcAft>
                <a:spcPct val="0"/>
              </a:spcAft>
            </a:pPr>
            <a:r>
              <a:rPr lang="en-US" sz="1000" b="1" dirty="0">
                <a:solidFill>
                  <a:prstClr val="black"/>
                </a:solidFill>
                <a:ea typeface="ＭＳ Ｐゴシック" pitchFamily="34" charset="-128"/>
                <a:cs typeface="Arial" charset="0"/>
              </a:rPr>
              <a:t>DIN1</a:t>
            </a:r>
          </a:p>
        </p:txBody>
      </p:sp>
      <p:sp>
        <p:nvSpPr>
          <p:cNvPr id="98" name="TextBox 97">
            <a:extLst>
              <a:ext uri="{FF2B5EF4-FFF2-40B4-BE49-F238E27FC236}">
                <a16:creationId xmlns:a16="http://schemas.microsoft.com/office/drawing/2014/main" id="{1FD544CE-3811-4FEC-B2EC-A8966211663A}"/>
              </a:ext>
            </a:extLst>
          </p:cNvPr>
          <p:cNvSpPr txBox="1"/>
          <p:nvPr/>
        </p:nvSpPr>
        <p:spPr>
          <a:xfrm>
            <a:off x="9218795" y="5080872"/>
            <a:ext cx="627095" cy="246221"/>
          </a:xfrm>
          <a:prstGeom prst="rect">
            <a:avLst/>
          </a:prstGeom>
          <a:noFill/>
        </p:spPr>
        <p:txBody>
          <a:bodyPr wrap="none" rtlCol="0">
            <a:spAutoFit/>
          </a:bodyPr>
          <a:lstStyle/>
          <a:p>
            <a:pPr defTabSz="457200" fontAlgn="base">
              <a:spcBef>
                <a:spcPct val="0"/>
              </a:spcBef>
              <a:spcAft>
                <a:spcPct val="0"/>
              </a:spcAft>
            </a:pPr>
            <a:r>
              <a:rPr lang="en-US" sz="1000" b="1" dirty="0">
                <a:solidFill>
                  <a:prstClr val="black"/>
                </a:solidFill>
                <a:ea typeface="ＭＳ Ｐゴシック" pitchFamily="34" charset="-128"/>
                <a:cs typeface="Arial" charset="0"/>
              </a:rPr>
              <a:t>ADDR1</a:t>
            </a:r>
          </a:p>
        </p:txBody>
      </p:sp>
      <p:sp>
        <p:nvSpPr>
          <p:cNvPr id="99" name="TextBox 98">
            <a:extLst>
              <a:ext uri="{FF2B5EF4-FFF2-40B4-BE49-F238E27FC236}">
                <a16:creationId xmlns:a16="http://schemas.microsoft.com/office/drawing/2014/main" id="{D3237637-C242-4C51-8F8F-846BA9E83058}"/>
              </a:ext>
            </a:extLst>
          </p:cNvPr>
          <p:cNvSpPr txBox="1"/>
          <p:nvPr/>
        </p:nvSpPr>
        <p:spPr>
          <a:xfrm>
            <a:off x="9218792" y="5349707"/>
            <a:ext cx="433132" cy="246221"/>
          </a:xfrm>
          <a:prstGeom prst="rect">
            <a:avLst/>
          </a:prstGeom>
          <a:noFill/>
        </p:spPr>
        <p:txBody>
          <a:bodyPr wrap="none" rtlCol="0">
            <a:spAutoFit/>
          </a:bodyPr>
          <a:lstStyle/>
          <a:p>
            <a:pPr defTabSz="457200" fontAlgn="base">
              <a:spcBef>
                <a:spcPct val="0"/>
              </a:spcBef>
              <a:spcAft>
                <a:spcPct val="0"/>
              </a:spcAft>
            </a:pPr>
            <a:r>
              <a:rPr lang="en-US" sz="1000" b="1" dirty="0">
                <a:solidFill>
                  <a:prstClr val="black"/>
                </a:solidFill>
                <a:ea typeface="ＭＳ Ｐゴシック" pitchFamily="34" charset="-128"/>
                <a:cs typeface="Arial" charset="0"/>
              </a:rPr>
              <a:t>CE1</a:t>
            </a:r>
          </a:p>
        </p:txBody>
      </p:sp>
      <p:cxnSp>
        <p:nvCxnSpPr>
          <p:cNvPr id="103" name="Straight Arrow Connector 102">
            <a:extLst>
              <a:ext uri="{FF2B5EF4-FFF2-40B4-BE49-F238E27FC236}">
                <a16:creationId xmlns:a16="http://schemas.microsoft.com/office/drawing/2014/main" id="{205057F0-A03F-4996-87DE-ADB3BC1C58FD}"/>
              </a:ext>
            </a:extLst>
          </p:cNvPr>
          <p:cNvCxnSpPr/>
          <p:nvPr/>
        </p:nvCxnSpPr>
        <p:spPr>
          <a:xfrm>
            <a:off x="8041347" y="5634221"/>
            <a:ext cx="1279832" cy="16574"/>
          </a:xfrm>
          <a:prstGeom prst="straightConnector1">
            <a:avLst/>
          </a:prstGeom>
          <a:noFill/>
          <a:ln w="25400" cap="flat" cmpd="sng" algn="ctr">
            <a:solidFill>
              <a:srgbClr val="B20838"/>
            </a:solidFill>
            <a:prstDash val="solid"/>
            <a:tailEnd type="arrow"/>
          </a:ln>
          <a:effectLst>
            <a:outerShdw blurRad="40000" dist="20000" dir="5400000" rotWithShape="0">
              <a:srgbClr val="000000">
                <a:alpha val="38000"/>
              </a:srgbClr>
            </a:outerShdw>
          </a:effectLst>
        </p:spPr>
      </p:cxnSp>
      <p:sp>
        <p:nvSpPr>
          <p:cNvPr id="104" name="TextBox 103">
            <a:extLst>
              <a:ext uri="{FF2B5EF4-FFF2-40B4-BE49-F238E27FC236}">
                <a16:creationId xmlns:a16="http://schemas.microsoft.com/office/drawing/2014/main" id="{2625BD78-BBAB-4875-8754-97BE661DA60A}"/>
              </a:ext>
            </a:extLst>
          </p:cNvPr>
          <p:cNvSpPr txBox="1"/>
          <p:nvPr/>
        </p:nvSpPr>
        <p:spPr>
          <a:xfrm>
            <a:off x="9221298" y="5519118"/>
            <a:ext cx="461986" cy="246221"/>
          </a:xfrm>
          <a:prstGeom prst="rect">
            <a:avLst/>
          </a:prstGeom>
          <a:noFill/>
        </p:spPr>
        <p:txBody>
          <a:bodyPr wrap="none" rtlCol="0">
            <a:spAutoFit/>
          </a:bodyPr>
          <a:lstStyle/>
          <a:p>
            <a:pPr defTabSz="457200" fontAlgn="base">
              <a:spcBef>
                <a:spcPct val="0"/>
              </a:spcBef>
              <a:spcAft>
                <a:spcPct val="0"/>
              </a:spcAft>
            </a:pPr>
            <a:r>
              <a:rPr lang="en-US" sz="1000" b="1" dirty="0">
                <a:solidFill>
                  <a:prstClr val="black"/>
                </a:solidFill>
                <a:ea typeface="ＭＳ Ｐゴシック" pitchFamily="34" charset="-128"/>
                <a:cs typeface="Arial" charset="0"/>
              </a:rPr>
              <a:t>WE1</a:t>
            </a:r>
          </a:p>
        </p:txBody>
      </p:sp>
      <p:cxnSp>
        <p:nvCxnSpPr>
          <p:cNvPr id="105" name="Straight Arrow Connector 104">
            <a:extLst>
              <a:ext uri="{FF2B5EF4-FFF2-40B4-BE49-F238E27FC236}">
                <a16:creationId xmlns:a16="http://schemas.microsoft.com/office/drawing/2014/main" id="{25A903D6-85CD-4FF6-8342-1DE2C69CB986}"/>
              </a:ext>
            </a:extLst>
          </p:cNvPr>
          <p:cNvCxnSpPr/>
          <p:nvPr/>
        </p:nvCxnSpPr>
        <p:spPr>
          <a:xfrm>
            <a:off x="8194929" y="5058146"/>
            <a:ext cx="1126252" cy="1588"/>
          </a:xfrm>
          <a:prstGeom prst="straightConnector1">
            <a:avLst/>
          </a:prstGeom>
          <a:noFill/>
          <a:ln w="25400" cap="flat" cmpd="sng" algn="ctr">
            <a:solidFill>
              <a:srgbClr val="B20838"/>
            </a:solidFill>
            <a:prstDash val="solid"/>
            <a:tailEnd type="arrow"/>
          </a:ln>
          <a:effectLst>
            <a:outerShdw blurRad="40000" dist="20000" dir="5400000" rotWithShape="0">
              <a:srgbClr val="000000">
                <a:alpha val="38000"/>
              </a:srgbClr>
            </a:outerShdw>
          </a:effectLst>
        </p:spPr>
      </p:cxnSp>
      <p:sp>
        <p:nvSpPr>
          <p:cNvPr id="106" name="Freeform 101">
            <a:extLst>
              <a:ext uri="{FF2B5EF4-FFF2-40B4-BE49-F238E27FC236}">
                <a16:creationId xmlns:a16="http://schemas.microsoft.com/office/drawing/2014/main" id="{9508992F-AA0A-4CD2-BD3F-4285D0295A8B}"/>
              </a:ext>
            </a:extLst>
          </p:cNvPr>
          <p:cNvSpPr/>
          <p:nvPr/>
        </p:nvSpPr>
        <p:spPr>
          <a:xfrm>
            <a:off x="7734188" y="3982806"/>
            <a:ext cx="819093" cy="1689820"/>
          </a:xfrm>
          <a:custGeom>
            <a:avLst/>
            <a:gdLst>
              <a:gd name="connsiteX0" fmla="*/ 205309 w 452782"/>
              <a:gd name="connsiteY0" fmla="*/ 0 h 567211"/>
              <a:gd name="connsiteX1" fmla="*/ 205309 w 452782"/>
              <a:gd name="connsiteY1" fmla="*/ 0 h 567211"/>
              <a:gd name="connsiteX2" fmla="*/ 170139 w 452782"/>
              <a:gd name="connsiteY2" fmla="*/ 70338 h 567211"/>
              <a:gd name="connsiteX3" fmla="*/ 38255 w 452782"/>
              <a:gd name="connsiteY3" fmla="*/ 105507 h 567211"/>
              <a:gd name="connsiteX4" fmla="*/ 47047 w 452782"/>
              <a:gd name="connsiteY4" fmla="*/ 131884 h 567211"/>
              <a:gd name="connsiteX5" fmla="*/ 55839 w 452782"/>
              <a:gd name="connsiteY5" fmla="*/ 184638 h 567211"/>
              <a:gd name="connsiteX6" fmla="*/ 29463 w 452782"/>
              <a:gd name="connsiteY6" fmla="*/ 202223 h 567211"/>
              <a:gd name="connsiteX7" fmla="*/ 20670 w 452782"/>
              <a:gd name="connsiteY7" fmla="*/ 290146 h 567211"/>
              <a:gd name="connsiteX8" fmla="*/ 47047 w 452782"/>
              <a:gd name="connsiteY8" fmla="*/ 307730 h 567211"/>
              <a:gd name="connsiteX9" fmla="*/ 55839 w 452782"/>
              <a:gd name="connsiteY9" fmla="*/ 422030 h 567211"/>
              <a:gd name="connsiteX10" fmla="*/ 82216 w 452782"/>
              <a:gd name="connsiteY10" fmla="*/ 439615 h 567211"/>
              <a:gd name="connsiteX11" fmla="*/ 99801 w 452782"/>
              <a:gd name="connsiteY11" fmla="*/ 465992 h 567211"/>
              <a:gd name="connsiteX12" fmla="*/ 91009 w 452782"/>
              <a:gd name="connsiteY12" fmla="*/ 492369 h 567211"/>
              <a:gd name="connsiteX13" fmla="*/ 99801 w 452782"/>
              <a:gd name="connsiteY13" fmla="*/ 536330 h 567211"/>
              <a:gd name="connsiteX14" fmla="*/ 126178 w 452782"/>
              <a:gd name="connsiteY14" fmla="*/ 545123 h 567211"/>
              <a:gd name="connsiteX15" fmla="*/ 187724 w 452782"/>
              <a:gd name="connsiteY15" fmla="*/ 562707 h 567211"/>
              <a:gd name="connsiteX16" fmla="*/ 214101 w 452782"/>
              <a:gd name="connsiteY16" fmla="*/ 545123 h 567211"/>
              <a:gd name="connsiteX17" fmla="*/ 354778 w 452782"/>
              <a:gd name="connsiteY17" fmla="*/ 527538 h 567211"/>
              <a:gd name="connsiteX18" fmla="*/ 363570 w 452782"/>
              <a:gd name="connsiteY18" fmla="*/ 492369 h 567211"/>
              <a:gd name="connsiteX19" fmla="*/ 416324 w 452782"/>
              <a:gd name="connsiteY19" fmla="*/ 483576 h 567211"/>
              <a:gd name="connsiteX20" fmla="*/ 381155 w 452782"/>
              <a:gd name="connsiteY20" fmla="*/ 395653 h 567211"/>
              <a:gd name="connsiteX21" fmla="*/ 372363 w 452782"/>
              <a:gd name="connsiteY21" fmla="*/ 369276 h 567211"/>
              <a:gd name="connsiteX22" fmla="*/ 381155 w 452782"/>
              <a:gd name="connsiteY22" fmla="*/ 334107 h 567211"/>
              <a:gd name="connsiteX23" fmla="*/ 407532 w 452782"/>
              <a:gd name="connsiteY23" fmla="*/ 281353 h 567211"/>
              <a:gd name="connsiteX24" fmla="*/ 389947 w 452782"/>
              <a:gd name="connsiteY24" fmla="*/ 237392 h 567211"/>
              <a:gd name="connsiteX25" fmla="*/ 425116 w 452782"/>
              <a:gd name="connsiteY25" fmla="*/ 184638 h 567211"/>
              <a:gd name="connsiteX26" fmla="*/ 416324 w 452782"/>
              <a:gd name="connsiteY26" fmla="*/ 105507 h 567211"/>
              <a:gd name="connsiteX27" fmla="*/ 363570 w 452782"/>
              <a:gd name="connsiteY27" fmla="*/ 87923 h 567211"/>
              <a:gd name="connsiteX28" fmla="*/ 345986 w 452782"/>
              <a:gd name="connsiteY28" fmla="*/ 35169 h 567211"/>
              <a:gd name="connsiteX29" fmla="*/ 293232 w 452782"/>
              <a:gd name="connsiteY29" fmla="*/ 17584 h 567211"/>
              <a:gd name="connsiteX30" fmla="*/ 266855 w 452782"/>
              <a:gd name="connsiteY30" fmla="*/ 8792 h 567211"/>
              <a:gd name="connsiteX31" fmla="*/ 205309 w 452782"/>
              <a:gd name="connsiteY31" fmla="*/ 0 h 567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52782" h="567211">
                <a:moveTo>
                  <a:pt x="205309" y="0"/>
                </a:moveTo>
                <a:lnTo>
                  <a:pt x="205309" y="0"/>
                </a:lnTo>
                <a:cubicBezTo>
                  <a:pt x="193586" y="23446"/>
                  <a:pt x="193585" y="58615"/>
                  <a:pt x="170139" y="70338"/>
                </a:cubicBezTo>
                <a:cubicBezTo>
                  <a:pt x="15118" y="147848"/>
                  <a:pt x="65166" y="24772"/>
                  <a:pt x="38255" y="105507"/>
                </a:cubicBezTo>
                <a:cubicBezTo>
                  <a:pt x="41186" y="114299"/>
                  <a:pt x="42902" y="123595"/>
                  <a:pt x="47047" y="131884"/>
                </a:cubicBezTo>
                <a:cubicBezTo>
                  <a:pt x="58828" y="155445"/>
                  <a:pt x="77574" y="157469"/>
                  <a:pt x="55839" y="184638"/>
                </a:cubicBezTo>
                <a:cubicBezTo>
                  <a:pt x="49238" y="192889"/>
                  <a:pt x="38255" y="196361"/>
                  <a:pt x="29463" y="202223"/>
                </a:cubicBezTo>
                <a:cubicBezTo>
                  <a:pt x="19381" y="232469"/>
                  <a:pt x="0" y="259141"/>
                  <a:pt x="20670" y="290146"/>
                </a:cubicBezTo>
                <a:cubicBezTo>
                  <a:pt x="26531" y="298938"/>
                  <a:pt x="38255" y="301869"/>
                  <a:pt x="47047" y="307730"/>
                </a:cubicBezTo>
                <a:cubicBezTo>
                  <a:pt x="49978" y="345830"/>
                  <a:pt x="45993" y="385108"/>
                  <a:pt x="55839" y="422030"/>
                </a:cubicBezTo>
                <a:cubicBezTo>
                  <a:pt x="58562" y="432240"/>
                  <a:pt x="74744" y="432143"/>
                  <a:pt x="82216" y="439615"/>
                </a:cubicBezTo>
                <a:cubicBezTo>
                  <a:pt x="89688" y="447087"/>
                  <a:pt x="93939" y="457200"/>
                  <a:pt x="99801" y="465992"/>
                </a:cubicBezTo>
                <a:cubicBezTo>
                  <a:pt x="96870" y="474784"/>
                  <a:pt x="91009" y="483101"/>
                  <a:pt x="91009" y="492369"/>
                </a:cubicBezTo>
                <a:cubicBezTo>
                  <a:pt x="91009" y="507313"/>
                  <a:pt x="91512" y="523896"/>
                  <a:pt x="99801" y="536330"/>
                </a:cubicBezTo>
                <a:cubicBezTo>
                  <a:pt x="104942" y="544041"/>
                  <a:pt x="117267" y="542577"/>
                  <a:pt x="126178" y="545123"/>
                </a:cubicBezTo>
                <a:cubicBezTo>
                  <a:pt x="203485" y="567211"/>
                  <a:pt x="124461" y="541620"/>
                  <a:pt x="187724" y="562707"/>
                </a:cubicBezTo>
                <a:cubicBezTo>
                  <a:pt x="196516" y="556846"/>
                  <a:pt x="203715" y="547070"/>
                  <a:pt x="214101" y="545123"/>
                </a:cubicBezTo>
                <a:cubicBezTo>
                  <a:pt x="431319" y="504395"/>
                  <a:pt x="269429" y="555987"/>
                  <a:pt x="354778" y="527538"/>
                </a:cubicBezTo>
                <a:cubicBezTo>
                  <a:pt x="357709" y="515815"/>
                  <a:pt x="353737" y="499393"/>
                  <a:pt x="363570" y="492369"/>
                </a:cubicBezTo>
                <a:cubicBezTo>
                  <a:pt x="378077" y="482007"/>
                  <a:pt x="408351" y="499521"/>
                  <a:pt x="416324" y="483576"/>
                </a:cubicBezTo>
                <a:cubicBezTo>
                  <a:pt x="452782" y="410660"/>
                  <a:pt x="416549" y="407452"/>
                  <a:pt x="381155" y="395653"/>
                </a:cubicBezTo>
                <a:cubicBezTo>
                  <a:pt x="378224" y="386861"/>
                  <a:pt x="372363" y="378544"/>
                  <a:pt x="372363" y="369276"/>
                </a:cubicBezTo>
                <a:cubicBezTo>
                  <a:pt x="372363" y="357192"/>
                  <a:pt x="377835" y="345726"/>
                  <a:pt x="381155" y="334107"/>
                </a:cubicBezTo>
                <a:cubicBezTo>
                  <a:pt x="390255" y="302255"/>
                  <a:pt x="388264" y="310254"/>
                  <a:pt x="407532" y="281353"/>
                </a:cubicBezTo>
                <a:cubicBezTo>
                  <a:pt x="429631" y="215053"/>
                  <a:pt x="412673" y="294205"/>
                  <a:pt x="389947" y="237392"/>
                </a:cubicBezTo>
                <a:cubicBezTo>
                  <a:pt x="382676" y="219214"/>
                  <a:pt x="419012" y="190742"/>
                  <a:pt x="425116" y="184638"/>
                </a:cubicBezTo>
                <a:cubicBezTo>
                  <a:pt x="422185" y="158261"/>
                  <a:pt x="430572" y="127897"/>
                  <a:pt x="416324" y="105507"/>
                </a:cubicBezTo>
                <a:cubicBezTo>
                  <a:pt x="406373" y="89869"/>
                  <a:pt x="363570" y="87923"/>
                  <a:pt x="363570" y="87923"/>
                </a:cubicBezTo>
                <a:cubicBezTo>
                  <a:pt x="357709" y="70338"/>
                  <a:pt x="363571" y="41031"/>
                  <a:pt x="345986" y="35169"/>
                </a:cubicBezTo>
                <a:lnTo>
                  <a:pt x="293232" y="17584"/>
                </a:lnTo>
                <a:lnTo>
                  <a:pt x="266855" y="8792"/>
                </a:lnTo>
                <a:cubicBezTo>
                  <a:pt x="234917" y="19438"/>
                  <a:pt x="215567" y="1465"/>
                  <a:pt x="205309" y="0"/>
                </a:cubicBezTo>
                <a:close/>
              </a:path>
            </a:pathLst>
          </a:custGeom>
          <a:gradFill rotWithShape="1">
            <a:gsLst>
              <a:gs pos="0">
                <a:srgbClr val="6D7076">
                  <a:shade val="51000"/>
                  <a:satMod val="130000"/>
                </a:srgbClr>
              </a:gs>
              <a:gs pos="80000">
                <a:srgbClr val="6D7076">
                  <a:shade val="93000"/>
                  <a:satMod val="130000"/>
                </a:srgbClr>
              </a:gs>
              <a:gs pos="100000">
                <a:srgbClr val="6D7076">
                  <a:shade val="94000"/>
                  <a:satMod val="135000"/>
                </a:srgbClr>
              </a:gs>
            </a:gsLst>
            <a:lin ang="16200000" scaled="0"/>
          </a:gradFill>
          <a:ln w="9525" cap="flat" cmpd="sng" algn="ctr">
            <a:solidFill>
              <a:srgbClr val="6D7076">
                <a:shade val="95000"/>
                <a:satMod val="105000"/>
              </a:srgbClr>
            </a:solidFill>
            <a:prstDash val="solid"/>
          </a:ln>
          <a:effectLst>
            <a:outerShdw blurRad="40000" dist="23000" dir="5400000" rotWithShape="0">
              <a:srgbClr val="000000">
                <a:alpha val="35000"/>
              </a:srgbClr>
            </a:outerShdw>
          </a:effectLst>
        </p:spPr>
        <p:txBody>
          <a:bodyPr rtlCol="0" anchor="ctr"/>
          <a:lstStyle/>
          <a:p>
            <a:pPr algn="ctr" defTabSz="457200" fontAlgn="base">
              <a:spcBef>
                <a:spcPct val="0"/>
              </a:spcBef>
              <a:spcAft>
                <a:spcPct val="0"/>
              </a:spcAft>
              <a:defRPr/>
            </a:pPr>
            <a:endParaRPr lang="en-US" kern="0" dirty="0">
              <a:solidFill>
                <a:prstClr val="white"/>
              </a:solidFill>
              <a:latin typeface="Arial"/>
            </a:endParaRPr>
          </a:p>
        </p:txBody>
      </p:sp>
      <p:cxnSp>
        <p:nvCxnSpPr>
          <p:cNvPr id="107" name="Straight Arrow Connector 106">
            <a:extLst>
              <a:ext uri="{FF2B5EF4-FFF2-40B4-BE49-F238E27FC236}">
                <a16:creationId xmlns:a16="http://schemas.microsoft.com/office/drawing/2014/main" id="{DCE12B4A-34B5-4DB6-BF76-1D999BA5325D}"/>
              </a:ext>
            </a:extLst>
          </p:cNvPr>
          <p:cNvCxnSpPr/>
          <p:nvPr/>
        </p:nvCxnSpPr>
        <p:spPr>
          <a:xfrm>
            <a:off x="10746227" y="5042467"/>
            <a:ext cx="520300" cy="15791"/>
          </a:xfrm>
          <a:prstGeom prst="straightConnector1">
            <a:avLst/>
          </a:prstGeom>
          <a:noFill/>
          <a:ln w="25400" cap="flat" cmpd="sng" algn="ctr">
            <a:solidFill>
              <a:srgbClr val="B20838"/>
            </a:solidFill>
            <a:prstDash val="solid"/>
            <a:tailEnd type="arrow"/>
          </a:ln>
          <a:effectLst>
            <a:outerShdw blurRad="40000" dist="20000" dir="5400000" rotWithShape="0">
              <a:srgbClr val="000000">
                <a:alpha val="38000"/>
              </a:srgbClr>
            </a:outerShdw>
          </a:effectLst>
        </p:spPr>
      </p:cxnSp>
      <p:sp>
        <p:nvSpPr>
          <p:cNvPr id="108" name="TextBox 107">
            <a:extLst>
              <a:ext uri="{FF2B5EF4-FFF2-40B4-BE49-F238E27FC236}">
                <a16:creationId xmlns:a16="http://schemas.microsoft.com/office/drawing/2014/main" id="{ADC841E8-1E62-405C-B619-F333AA9A2624}"/>
              </a:ext>
            </a:extLst>
          </p:cNvPr>
          <p:cNvSpPr txBox="1"/>
          <p:nvPr/>
        </p:nvSpPr>
        <p:spPr>
          <a:xfrm>
            <a:off x="10192841" y="4927252"/>
            <a:ext cx="619079" cy="246221"/>
          </a:xfrm>
          <a:prstGeom prst="rect">
            <a:avLst/>
          </a:prstGeom>
          <a:noFill/>
        </p:spPr>
        <p:txBody>
          <a:bodyPr wrap="none" rtlCol="0">
            <a:spAutoFit/>
          </a:bodyPr>
          <a:lstStyle/>
          <a:p>
            <a:pPr algn="r" defTabSz="457200" fontAlgn="base">
              <a:spcBef>
                <a:spcPct val="0"/>
              </a:spcBef>
              <a:spcAft>
                <a:spcPct val="0"/>
              </a:spcAft>
            </a:pPr>
            <a:r>
              <a:rPr lang="en-US" sz="1000" b="1" dirty="0">
                <a:solidFill>
                  <a:prstClr val="black"/>
                </a:solidFill>
                <a:ea typeface="ＭＳ Ｐゴシック" pitchFamily="34" charset="-128"/>
                <a:cs typeface="Arial" charset="0"/>
              </a:rPr>
              <a:t>DOUT1</a:t>
            </a:r>
          </a:p>
        </p:txBody>
      </p:sp>
      <p:cxnSp>
        <p:nvCxnSpPr>
          <p:cNvPr id="109" name="Straight Connector 108">
            <a:extLst>
              <a:ext uri="{FF2B5EF4-FFF2-40B4-BE49-F238E27FC236}">
                <a16:creationId xmlns:a16="http://schemas.microsoft.com/office/drawing/2014/main" id="{26CC7D81-2682-4C51-834E-360FE1D87AC6}"/>
              </a:ext>
            </a:extLst>
          </p:cNvPr>
          <p:cNvCxnSpPr/>
          <p:nvPr/>
        </p:nvCxnSpPr>
        <p:spPr>
          <a:xfrm flipH="1">
            <a:off x="11266602" y="3483653"/>
            <a:ext cx="51193" cy="1574607"/>
          </a:xfrm>
          <a:prstGeom prst="line">
            <a:avLst/>
          </a:prstGeom>
          <a:noFill/>
          <a:ln w="25400" cap="flat" cmpd="sng" algn="ctr">
            <a:solidFill>
              <a:srgbClr val="B20838"/>
            </a:solidFill>
            <a:prstDash val="solid"/>
          </a:ln>
          <a:effectLst>
            <a:outerShdw blurRad="40000" dist="20000" dir="5400000" rotWithShape="0">
              <a:srgbClr val="000000">
                <a:alpha val="38000"/>
              </a:srgbClr>
            </a:outerShdw>
          </a:effectLst>
        </p:spPr>
      </p:cxnSp>
      <p:cxnSp>
        <p:nvCxnSpPr>
          <p:cNvPr id="110" name="Straight Connector 109">
            <a:extLst>
              <a:ext uri="{FF2B5EF4-FFF2-40B4-BE49-F238E27FC236}">
                <a16:creationId xmlns:a16="http://schemas.microsoft.com/office/drawing/2014/main" id="{56B9AE49-2892-4F7F-87A3-E6240D78EF7E}"/>
              </a:ext>
            </a:extLst>
          </p:cNvPr>
          <p:cNvCxnSpPr/>
          <p:nvPr/>
        </p:nvCxnSpPr>
        <p:spPr>
          <a:xfrm>
            <a:off x="5174520" y="3483541"/>
            <a:ext cx="6141574" cy="0"/>
          </a:xfrm>
          <a:prstGeom prst="line">
            <a:avLst/>
          </a:prstGeom>
          <a:noFill/>
          <a:ln w="25400" cap="flat" cmpd="sng" algn="ctr">
            <a:solidFill>
              <a:srgbClr val="B20838"/>
            </a:solidFill>
            <a:prstDash val="solid"/>
          </a:ln>
          <a:effectLst>
            <a:outerShdw blurRad="40000" dist="20000" dir="5400000" rotWithShape="0">
              <a:srgbClr val="000000">
                <a:alpha val="38000"/>
              </a:srgbClr>
            </a:outerShdw>
          </a:effectLst>
        </p:spPr>
      </p:cxnSp>
      <p:cxnSp>
        <p:nvCxnSpPr>
          <p:cNvPr id="111" name="Straight Arrow Connector 110">
            <a:extLst>
              <a:ext uri="{FF2B5EF4-FFF2-40B4-BE49-F238E27FC236}">
                <a16:creationId xmlns:a16="http://schemas.microsoft.com/office/drawing/2014/main" id="{1AEFC9A0-FD5A-4E12-B9CD-2C42627C902C}"/>
              </a:ext>
            </a:extLst>
          </p:cNvPr>
          <p:cNvCxnSpPr>
            <a:endCxn id="85" idx="11"/>
          </p:cNvCxnSpPr>
          <p:nvPr/>
        </p:nvCxnSpPr>
        <p:spPr>
          <a:xfrm>
            <a:off x="5174522" y="4596066"/>
            <a:ext cx="1054512" cy="6352"/>
          </a:xfrm>
          <a:prstGeom prst="straightConnector1">
            <a:avLst/>
          </a:prstGeom>
          <a:noFill/>
          <a:ln w="25400" cap="flat" cmpd="sng" algn="ctr">
            <a:solidFill>
              <a:srgbClr val="B20838"/>
            </a:solidFill>
            <a:prstDash val="solid"/>
            <a:tailEnd type="arrow"/>
          </a:ln>
          <a:effectLst>
            <a:outerShdw blurRad="40000" dist="20000" dir="5400000" rotWithShape="0">
              <a:srgbClr val="000000">
                <a:alpha val="38000"/>
              </a:srgbClr>
            </a:outerShdw>
          </a:effectLst>
        </p:spPr>
      </p:cxnSp>
      <p:cxnSp>
        <p:nvCxnSpPr>
          <p:cNvPr id="112" name="Straight Connector 111">
            <a:extLst>
              <a:ext uri="{FF2B5EF4-FFF2-40B4-BE49-F238E27FC236}">
                <a16:creationId xmlns:a16="http://schemas.microsoft.com/office/drawing/2014/main" id="{6D209694-7169-4185-B768-77F23C41756C}"/>
              </a:ext>
            </a:extLst>
          </p:cNvPr>
          <p:cNvCxnSpPr/>
          <p:nvPr/>
        </p:nvCxnSpPr>
        <p:spPr>
          <a:xfrm flipH="1" flipV="1">
            <a:off x="5174521" y="3483560"/>
            <a:ext cx="3" cy="1112525"/>
          </a:xfrm>
          <a:prstGeom prst="line">
            <a:avLst/>
          </a:prstGeom>
          <a:noFill/>
          <a:ln w="25400" cap="flat" cmpd="sng" algn="ctr">
            <a:solidFill>
              <a:srgbClr val="B20838"/>
            </a:solidFill>
            <a:prstDash val="solid"/>
          </a:ln>
          <a:effectLst>
            <a:outerShdw blurRad="40000" dist="20000" dir="5400000" rotWithShape="0">
              <a:srgbClr val="000000">
                <a:alpha val="38000"/>
              </a:srgbClr>
            </a:outerShdw>
          </a:effectLst>
        </p:spPr>
      </p:cxn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Schedule after an Array Optimization</a:t>
            </a:r>
          </a:p>
        </p:txBody>
      </p:sp>
      <p:sp>
        <p:nvSpPr>
          <p:cNvPr id="3" name="Content Placeholder 2"/>
          <p:cNvSpPr>
            <a:spLocks noGrp="1"/>
          </p:cNvSpPr>
          <p:nvPr>
            <p:ph idx="1"/>
          </p:nvPr>
        </p:nvSpPr>
        <p:spPr/>
        <p:txBody>
          <a:bodyPr>
            <a:normAutofit fontScale="92500" lnSpcReduction="20000"/>
          </a:bodyPr>
          <a:lstStyle/>
          <a:p>
            <a:r>
              <a:rPr lang="en-US" dirty="0"/>
              <a:t>With the existing code &amp; defaults</a:t>
            </a:r>
          </a:p>
          <a:p>
            <a:pPr lvl="1"/>
            <a:r>
              <a:rPr lang="en-US" dirty="0"/>
              <a:t>Port C is a dual port RAM</a:t>
            </a:r>
          </a:p>
          <a:p>
            <a:pPr lvl="1"/>
            <a:r>
              <a:rPr lang="en-US" dirty="0"/>
              <a:t>Allows 2 reads per clock cycles</a:t>
            </a:r>
          </a:p>
          <a:p>
            <a:pPr lvl="2"/>
            <a:r>
              <a:rPr lang="en-US" dirty="0"/>
              <a:t>IO behavior impacts performance</a:t>
            </a:r>
          </a:p>
          <a:p>
            <a:pPr>
              <a:buNone/>
            </a:pPr>
            <a:endParaRPr lang="en-US" dirty="0"/>
          </a:p>
          <a:p>
            <a:endParaRPr lang="en-US" dirty="0"/>
          </a:p>
          <a:p>
            <a:endParaRPr lang="en-US" dirty="0"/>
          </a:p>
          <a:p>
            <a:r>
              <a:rPr lang="en-US" dirty="0"/>
              <a:t>With the C port partitioned into (4) separate ports</a:t>
            </a:r>
          </a:p>
          <a:p>
            <a:pPr lvl="1"/>
            <a:r>
              <a:rPr lang="en-US" dirty="0"/>
              <a:t>All reads and </a:t>
            </a:r>
            <a:r>
              <a:rPr lang="en-US" dirty="0" err="1"/>
              <a:t>mults</a:t>
            </a:r>
            <a:r>
              <a:rPr lang="en-US" dirty="0"/>
              <a:t> can occur in one cycle</a:t>
            </a:r>
          </a:p>
          <a:p>
            <a:pPr lvl="1"/>
            <a:r>
              <a:rPr lang="en-US" dirty="0"/>
              <a:t>If the timing allows</a:t>
            </a:r>
          </a:p>
          <a:p>
            <a:pPr lvl="2"/>
            <a:r>
              <a:rPr lang="en-US" dirty="0"/>
              <a:t>The additions can also occur in the same cycle</a:t>
            </a:r>
          </a:p>
          <a:p>
            <a:pPr lvl="2"/>
            <a:r>
              <a:rPr lang="en-US" dirty="0"/>
              <a:t>The write can be performed in the same cycles</a:t>
            </a:r>
          </a:p>
          <a:p>
            <a:pPr lvl="2"/>
            <a:r>
              <a:rPr lang="en-US" dirty="0"/>
              <a:t>Optionally the port reads and writes could be registered</a:t>
            </a:r>
          </a:p>
          <a:p>
            <a:pPr lvl="1"/>
            <a:endParaRPr lang="en-US" dirty="0"/>
          </a:p>
        </p:txBody>
      </p:sp>
      <p:sp>
        <p:nvSpPr>
          <p:cNvPr id="7" name="Slide Number Placeholder 6"/>
          <p:cNvSpPr>
            <a:spLocks noGrp="1"/>
          </p:cNvSpPr>
          <p:nvPr>
            <p:ph type="sldNum" sz="quarter" idx="10"/>
          </p:nvPr>
        </p:nvSpPr>
        <p:spPr/>
        <p:txBody>
          <a:bodyPr/>
          <a:lstStyle/>
          <a:p>
            <a:pPr>
              <a:defRPr/>
            </a:pPr>
            <a:r>
              <a:rPr lang="en-US" dirty="0"/>
              <a:t>Intro to HLS 11- </a:t>
            </a:r>
            <a:fld id="{060BD193-E118-4B16-863C-C8C12C675E3E}" type="slidenum">
              <a:rPr lang="en-US" smtClean="0"/>
              <a:pPr>
                <a:defRPr/>
              </a:pPr>
              <a:t>29</a:t>
            </a:fld>
            <a:endParaRPr lang="en-US" dirty="0"/>
          </a:p>
        </p:txBody>
      </p:sp>
      <p:sp>
        <p:nvSpPr>
          <p:cNvPr id="54" name="TextBox 53"/>
          <p:cNvSpPr txBox="1"/>
          <p:nvPr/>
        </p:nvSpPr>
        <p:spPr>
          <a:xfrm>
            <a:off x="1191633" y="2813809"/>
            <a:ext cx="5800323" cy="461665"/>
          </a:xfrm>
          <a:prstGeom prst="rect">
            <a:avLst/>
          </a:prstGeom>
          <a:solidFill>
            <a:srgbClr val="FFFF99"/>
          </a:solidFill>
          <a:ln w="19050">
            <a:solidFill>
              <a:schemeClr val="tx1"/>
            </a:solidFill>
          </a:ln>
          <a:effectLst>
            <a:innerShdw blurRad="63500" dist="50800" dir="2700000">
              <a:prstClr val="black">
                <a:alpha val="50000"/>
              </a:prstClr>
            </a:innerShdw>
          </a:effectLst>
        </p:spPr>
        <p:txBody>
          <a:bodyPr wrap="square" rtlCol="0">
            <a:spAutoFit/>
          </a:bodyPr>
          <a:lstStyle/>
          <a:p>
            <a:pPr defTabSz="457200"/>
            <a:r>
              <a:rPr lang="en-US" sz="1200" b="1" u="sng" dirty="0">
                <a:solidFill>
                  <a:prstClr val="black"/>
                </a:solidFill>
                <a:ea typeface="ＭＳ Ｐゴシック" pitchFamily="34" charset="-128"/>
                <a:cs typeface="Arial" charset="0"/>
              </a:rPr>
              <a:t>Note</a:t>
            </a:r>
            <a:r>
              <a:rPr lang="en-US" sz="1200" b="1" dirty="0">
                <a:solidFill>
                  <a:prstClr val="black"/>
                </a:solidFill>
                <a:ea typeface="ＭＳ Ｐゴシック" pitchFamily="34" charset="-128"/>
                <a:cs typeface="Arial" charset="0"/>
              </a:rPr>
              <a:t>: It could have performed 2 reads in the original rolled design but there was no advantage since the rolled loop forced a single read per cycle</a:t>
            </a:r>
          </a:p>
        </p:txBody>
      </p:sp>
      <p:sp>
        <p:nvSpPr>
          <p:cNvPr id="94" name="Rectangle 93">
            <a:extLst>
              <a:ext uri="{FF2B5EF4-FFF2-40B4-BE49-F238E27FC236}">
                <a16:creationId xmlns:a16="http://schemas.microsoft.com/office/drawing/2014/main" id="{8EA877F6-444B-48FC-A58B-17B83E313FBE}"/>
              </a:ext>
            </a:extLst>
          </p:cNvPr>
          <p:cNvSpPr/>
          <p:nvPr/>
        </p:nvSpPr>
        <p:spPr>
          <a:xfrm>
            <a:off x="8348577" y="3083449"/>
            <a:ext cx="514339" cy="192025"/>
          </a:xfrm>
          <a:prstGeom prst="rect">
            <a:avLst/>
          </a:prstGeom>
          <a:solidFill>
            <a:srgbClr val="91B8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200" b="1" kern="0" dirty="0">
                <a:solidFill>
                  <a:sysClr val="windowText" lastClr="000000"/>
                </a:solidFill>
                <a:latin typeface="Arial"/>
              </a:rPr>
              <a:t>+</a:t>
            </a:r>
          </a:p>
        </p:txBody>
      </p:sp>
      <p:sp>
        <p:nvSpPr>
          <p:cNvPr id="95" name="Rectangle 94">
            <a:extLst>
              <a:ext uri="{FF2B5EF4-FFF2-40B4-BE49-F238E27FC236}">
                <a16:creationId xmlns:a16="http://schemas.microsoft.com/office/drawing/2014/main" id="{6D1AE2B9-F6CD-4EED-9278-12349004E0B4}"/>
              </a:ext>
            </a:extLst>
          </p:cNvPr>
          <p:cNvSpPr/>
          <p:nvPr/>
        </p:nvSpPr>
        <p:spPr>
          <a:xfrm>
            <a:off x="8346171" y="2161729"/>
            <a:ext cx="514339" cy="192025"/>
          </a:xfrm>
          <a:prstGeom prst="rect">
            <a:avLst/>
          </a:prstGeom>
          <a:solidFill>
            <a:srgbClr val="91B8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700" b="1" kern="0" dirty="0" err="1">
                <a:solidFill>
                  <a:sysClr val="windowText" lastClr="000000"/>
                </a:solidFill>
                <a:latin typeface="Arial"/>
              </a:rPr>
              <a:t>RDx</a:t>
            </a:r>
            <a:endParaRPr lang="en-US" sz="700" b="1" kern="0" dirty="0">
              <a:solidFill>
                <a:sysClr val="windowText" lastClr="000000"/>
              </a:solidFill>
              <a:latin typeface="Arial"/>
            </a:endParaRPr>
          </a:p>
        </p:txBody>
      </p:sp>
      <p:sp>
        <p:nvSpPr>
          <p:cNvPr id="96" name="Rectangle 95">
            <a:extLst>
              <a:ext uri="{FF2B5EF4-FFF2-40B4-BE49-F238E27FC236}">
                <a16:creationId xmlns:a16="http://schemas.microsoft.com/office/drawing/2014/main" id="{2075ED32-5160-4219-AABE-36C323685F90}"/>
              </a:ext>
            </a:extLst>
          </p:cNvPr>
          <p:cNvSpPr/>
          <p:nvPr/>
        </p:nvSpPr>
        <p:spPr>
          <a:xfrm>
            <a:off x="7785450" y="2392159"/>
            <a:ext cx="514339" cy="192025"/>
          </a:xfrm>
          <a:prstGeom prst="rect">
            <a:avLst/>
          </a:prstGeom>
          <a:solidFill>
            <a:srgbClr val="91B8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600" b="1" kern="0" dirty="0">
                <a:solidFill>
                  <a:sysClr val="windowText" lastClr="000000"/>
                </a:solidFill>
                <a:latin typeface="Arial"/>
              </a:rPr>
              <a:t>*</a:t>
            </a:r>
          </a:p>
        </p:txBody>
      </p:sp>
      <p:grpSp>
        <p:nvGrpSpPr>
          <p:cNvPr id="97" name="Group 71">
            <a:extLst>
              <a:ext uri="{FF2B5EF4-FFF2-40B4-BE49-F238E27FC236}">
                <a16:creationId xmlns:a16="http://schemas.microsoft.com/office/drawing/2014/main" id="{E725A2F9-E7D1-497E-AD49-31A09E0A09A7}"/>
              </a:ext>
            </a:extLst>
          </p:cNvPr>
          <p:cNvGrpSpPr/>
          <p:nvPr/>
        </p:nvGrpSpPr>
        <p:grpSpPr>
          <a:xfrm>
            <a:off x="7785387" y="1508754"/>
            <a:ext cx="563125" cy="115214"/>
            <a:chOff x="-66694" y="1130300"/>
            <a:chExt cx="533401" cy="228600"/>
          </a:xfrm>
          <a:effectLst>
            <a:outerShdw blurRad="50800" dist="38100" dir="2700000" algn="tl" rotWithShape="0">
              <a:prstClr val="black">
                <a:alpha val="40000"/>
              </a:prstClr>
            </a:outerShdw>
          </a:effectLst>
        </p:grpSpPr>
        <p:cxnSp>
          <p:nvCxnSpPr>
            <p:cNvPr id="98" name="Straight Connector 97">
              <a:extLst>
                <a:ext uri="{FF2B5EF4-FFF2-40B4-BE49-F238E27FC236}">
                  <a16:creationId xmlns:a16="http://schemas.microsoft.com/office/drawing/2014/main" id="{A4A7C257-40D0-4761-A798-571948E2A430}"/>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99" name="Straight Connector 98">
              <a:extLst>
                <a:ext uri="{FF2B5EF4-FFF2-40B4-BE49-F238E27FC236}">
                  <a16:creationId xmlns:a16="http://schemas.microsoft.com/office/drawing/2014/main" id="{428B0FFC-26BF-45E3-AACC-322220D9480D}"/>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00" name="Straight Connector 99">
              <a:extLst>
                <a:ext uri="{FF2B5EF4-FFF2-40B4-BE49-F238E27FC236}">
                  <a16:creationId xmlns:a16="http://schemas.microsoft.com/office/drawing/2014/main" id="{A8C34483-A0EC-4BEE-8833-091914EF9D64}"/>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01" name="Straight Connector 100">
              <a:extLst>
                <a:ext uri="{FF2B5EF4-FFF2-40B4-BE49-F238E27FC236}">
                  <a16:creationId xmlns:a16="http://schemas.microsoft.com/office/drawing/2014/main" id="{11691596-CC4B-464A-9D24-C8E49A67D304}"/>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102" name="Group 71">
            <a:extLst>
              <a:ext uri="{FF2B5EF4-FFF2-40B4-BE49-F238E27FC236}">
                <a16:creationId xmlns:a16="http://schemas.microsoft.com/office/drawing/2014/main" id="{057CBA19-5452-4873-9F5D-FF613342A4A9}"/>
              </a:ext>
            </a:extLst>
          </p:cNvPr>
          <p:cNvGrpSpPr/>
          <p:nvPr/>
        </p:nvGrpSpPr>
        <p:grpSpPr>
          <a:xfrm>
            <a:off x="8348511" y="1508755"/>
            <a:ext cx="563125" cy="115214"/>
            <a:chOff x="-66694" y="1130300"/>
            <a:chExt cx="533401" cy="228600"/>
          </a:xfrm>
          <a:effectLst>
            <a:outerShdw blurRad="50800" dist="38100" dir="2700000" algn="tl" rotWithShape="0">
              <a:prstClr val="black">
                <a:alpha val="40000"/>
              </a:prstClr>
            </a:outerShdw>
          </a:effectLst>
        </p:grpSpPr>
        <p:cxnSp>
          <p:nvCxnSpPr>
            <p:cNvPr id="103" name="Straight Connector 102">
              <a:extLst>
                <a:ext uri="{FF2B5EF4-FFF2-40B4-BE49-F238E27FC236}">
                  <a16:creationId xmlns:a16="http://schemas.microsoft.com/office/drawing/2014/main" id="{C9CE7F6A-7183-4D51-97B4-E7F89EE80E19}"/>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04" name="Straight Connector 103">
              <a:extLst>
                <a:ext uri="{FF2B5EF4-FFF2-40B4-BE49-F238E27FC236}">
                  <a16:creationId xmlns:a16="http://schemas.microsoft.com/office/drawing/2014/main" id="{D8AB75E5-2361-4896-9E57-7341A8F0615C}"/>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05" name="Straight Connector 104">
              <a:extLst>
                <a:ext uri="{FF2B5EF4-FFF2-40B4-BE49-F238E27FC236}">
                  <a16:creationId xmlns:a16="http://schemas.microsoft.com/office/drawing/2014/main" id="{82F1719B-6245-4DB8-86ED-55E6C1B6BBCC}"/>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06" name="Straight Connector 105">
              <a:extLst>
                <a:ext uri="{FF2B5EF4-FFF2-40B4-BE49-F238E27FC236}">
                  <a16:creationId xmlns:a16="http://schemas.microsoft.com/office/drawing/2014/main" id="{BFCAEA81-61A2-4180-B9FA-01A9A8B25C83}"/>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sp>
        <p:nvSpPr>
          <p:cNvPr id="111" name="Rectangle 110">
            <a:extLst>
              <a:ext uri="{FF2B5EF4-FFF2-40B4-BE49-F238E27FC236}">
                <a16:creationId xmlns:a16="http://schemas.microsoft.com/office/drawing/2014/main" id="{A3326E12-1532-4970-9998-F7C43089E9D4}"/>
              </a:ext>
            </a:extLst>
          </p:cNvPr>
          <p:cNvSpPr/>
          <p:nvPr/>
        </p:nvSpPr>
        <p:spPr>
          <a:xfrm>
            <a:off x="8348577" y="2853019"/>
            <a:ext cx="514339" cy="192025"/>
          </a:xfrm>
          <a:prstGeom prst="rect">
            <a:avLst/>
          </a:prstGeom>
          <a:solidFill>
            <a:srgbClr val="91B8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200" b="1" kern="0" dirty="0">
                <a:solidFill>
                  <a:sysClr val="windowText" lastClr="000000"/>
                </a:solidFill>
                <a:latin typeface="Arial"/>
              </a:rPr>
              <a:t>+</a:t>
            </a:r>
          </a:p>
        </p:txBody>
      </p:sp>
      <p:sp>
        <p:nvSpPr>
          <p:cNvPr id="112" name="Rectangle 111">
            <a:extLst>
              <a:ext uri="{FF2B5EF4-FFF2-40B4-BE49-F238E27FC236}">
                <a16:creationId xmlns:a16="http://schemas.microsoft.com/office/drawing/2014/main" id="{CB6F9BC4-F247-437B-9A7F-D44DE7D30BF0}"/>
              </a:ext>
            </a:extLst>
          </p:cNvPr>
          <p:cNvSpPr/>
          <p:nvPr/>
        </p:nvSpPr>
        <p:spPr>
          <a:xfrm>
            <a:off x="7785450" y="2622589"/>
            <a:ext cx="514339" cy="192025"/>
          </a:xfrm>
          <a:prstGeom prst="rect">
            <a:avLst/>
          </a:prstGeom>
          <a:solidFill>
            <a:srgbClr val="91B8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600" b="1" kern="0" dirty="0">
                <a:solidFill>
                  <a:sysClr val="windowText" lastClr="000000"/>
                </a:solidFill>
                <a:latin typeface="Arial"/>
              </a:rPr>
              <a:t>*</a:t>
            </a:r>
          </a:p>
        </p:txBody>
      </p:sp>
      <p:sp>
        <p:nvSpPr>
          <p:cNvPr id="113" name="Rectangle 112">
            <a:extLst>
              <a:ext uri="{FF2B5EF4-FFF2-40B4-BE49-F238E27FC236}">
                <a16:creationId xmlns:a16="http://schemas.microsoft.com/office/drawing/2014/main" id="{240D128D-3172-410D-8C62-DF6577198F70}"/>
              </a:ext>
            </a:extLst>
          </p:cNvPr>
          <p:cNvSpPr/>
          <p:nvPr/>
        </p:nvSpPr>
        <p:spPr>
          <a:xfrm>
            <a:off x="8348577" y="2392159"/>
            <a:ext cx="514339" cy="192025"/>
          </a:xfrm>
          <a:prstGeom prst="rect">
            <a:avLst/>
          </a:prstGeom>
          <a:solidFill>
            <a:srgbClr val="91B8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600" b="1" kern="0" dirty="0">
                <a:solidFill>
                  <a:sysClr val="windowText" lastClr="000000"/>
                </a:solidFill>
                <a:latin typeface="Arial"/>
              </a:rPr>
              <a:t>*</a:t>
            </a:r>
            <a:endParaRPr lang="en-US" sz="1200" b="1" kern="0" dirty="0">
              <a:solidFill>
                <a:sysClr val="windowText" lastClr="000000"/>
              </a:solidFill>
              <a:latin typeface="Arial"/>
            </a:endParaRPr>
          </a:p>
        </p:txBody>
      </p:sp>
      <p:sp>
        <p:nvSpPr>
          <p:cNvPr id="114" name="Rectangle 113">
            <a:extLst>
              <a:ext uri="{FF2B5EF4-FFF2-40B4-BE49-F238E27FC236}">
                <a16:creationId xmlns:a16="http://schemas.microsoft.com/office/drawing/2014/main" id="{189B9E00-6956-46AB-851F-BDB28255568F}"/>
              </a:ext>
            </a:extLst>
          </p:cNvPr>
          <p:cNvSpPr/>
          <p:nvPr/>
        </p:nvSpPr>
        <p:spPr>
          <a:xfrm>
            <a:off x="8348577" y="2622589"/>
            <a:ext cx="514339" cy="192025"/>
          </a:xfrm>
          <a:prstGeom prst="rect">
            <a:avLst/>
          </a:prstGeom>
          <a:solidFill>
            <a:srgbClr val="91B8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600" b="1" kern="0" dirty="0">
                <a:solidFill>
                  <a:sysClr val="windowText" lastClr="000000"/>
                </a:solidFill>
                <a:latin typeface="Arial"/>
              </a:rPr>
              <a:t>*</a:t>
            </a:r>
          </a:p>
        </p:txBody>
      </p:sp>
      <p:sp>
        <p:nvSpPr>
          <p:cNvPr id="115" name="Rectangle 114">
            <a:extLst>
              <a:ext uri="{FF2B5EF4-FFF2-40B4-BE49-F238E27FC236}">
                <a16:creationId xmlns:a16="http://schemas.microsoft.com/office/drawing/2014/main" id="{41D3A0A9-A051-4C13-83D7-D3C8D20B6F51}"/>
              </a:ext>
            </a:extLst>
          </p:cNvPr>
          <p:cNvSpPr/>
          <p:nvPr/>
        </p:nvSpPr>
        <p:spPr>
          <a:xfrm>
            <a:off x="8348577" y="3313879"/>
            <a:ext cx="514339" cy="192025"/>
          </a:xfrm>
          <a:prstGeom prst="rect">
            <a:avLst/>
          </a:prstGeom>
          <a:solidFill>
            <a:srgbClr val="91B8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700" b="1" kern="0" dirty="0" err="1">
                <a:solidFill>
                  <a:sysClr val="windowText" lastClr="000000"/>
                </a:solidFill>
                <a:latin typeface="Arial"/>
              </a:rPr>
              <a:t>WRy</a:t>
            </a:r>
            <a:endParaRPr lang="en-US" sz="700" b="1" kern="0" dirty="0">
              <a:solidFill>
                <a:sysClr val="windowText" lastClr="000000"/>
              </a:solidFill>
              <a:latin typeface="Arial"/>
            </a:endParaRPr>
          </a:p>
        </p:txBody>
      </p:sp>
      <p:sp>
        <p:nvSpPr>
          <p:cNvPr id="116" name="Rectangle 115">
            <a:extLst>
              <a:ext uri="{FF2B5EF4-FFF2-40B4-BE49-F238E27FC236}">
                <a16:creationId xmlns:a16="http://schemas.microsoft.com/office/drawing/2014/main" id="{21CA76CB-CE22-4286-844A-3E4CFE3D7FC4}"/>
              </a:ext>
            </a:extLst>
          </p:cNvPr>
          <p:cNvSpPr/>
          <p:nvPr/>
        </p:nvSpPr>
        <p:spPr>
          <a:xfrm>
            <a:off x="7783044" y="1700777"/>
            <a:ext cx="514339" cy="192025"/>
          </a:xfrm>
          <a:prstGeom prst="rect">
            <a:avLst/>
          </a:prstGeom>
          <a:solidFill>
            <a:srgbClr val="91B8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700" b="1" kern="0" dirty="0" err="1">
                <a:solidFill>
                  <a:sysClr val="windowText" lastClr="000000"/>
                </a:solidFill>
                <a:latin typeface="Arial"/>
              </a:rPr>
              <a:t>RDc</a:t>
            </a:r>
            <a:endParaRPr lang="en-US" sz="700" b="1" kern="0" dirty="0">
              <a:solidFill>
                <a:sysClr val="windowText" lastClr="000000"/>
              </a:solidFill>
              <a:latin typeface="Arial"/>
            </a:endParaRPr>
          </a:p>
        </p:txBody>
      </p:sp>
      <p:sp>
        <p:nvSpPr>
          <p:cNvPr id="117" name="Rectangle 116">
            <a:extLst>
              <a:ext uri="{FF2B5EF4-FFF2-40B4-BE49-F238E27FC236}">
                <a16:creationId xmlns:a16="http://schemas.microsoft.com/office/drawing/2014/main" id="{E1ECAF58-4D1F-4A4F-8EAC-F743B97397E7}"/>
              </a:ext>
            </a:extLst>
          </p:cNvPr>
          <p:cNvSpPr/>
          <p:nvPr/>
        </p:nvSpPr>
        <p:spPr>
          <a:xfrm>
            <a:off x="7783044" y="1931207"/>
            <a:ext cx="514339" cy="192025"/>
          </a:xfrm>
          <a:prstGeom prst="rect">
            <a:avLst/>
          </a:prstGeom>
          <a:solidFill>
            <a:srgbClr val="91B8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700" b="1" kern="0" dirty="0" err="1">
                <a:solidFill>
                  <a:sysClr val="windowText" lastClr="000000"/>
                </a:solidFill>
                <a:latin typeface="Arial"/>
              </a:rPr>
              <a:t>RDc</a:t>
            </a:r>
            <a:endParaRPr lang="en-US" sz="700" b="1" kern="0" dirty="0">
              <a:solidFill>
                <a:sysClr val="windowText" lastClr="000000"/>
              </a:solidFill>
              <a:latin typeface="Arial"/>
            </a:endParaRPr>
          </a:p>
        </p:txBody>
      </p:sp>
      <p:sp>
        <p:nvSpPr>
          <p:cNvPr id="118" name="Rectangle 117">
            <a:extLst>
              <a:ext uri="{FF2B5EF4-FFF2-40B4-BE49-F238E27FC236}">
                <a16:creationId xmlns:a16="http://schemas.microsoft.com/office/drawing/2014/main" id="{26290DCF-DAD6-4D07-A72B-C2619D4B9A82}"/>
              </a:ext>
            </a:extLst>
          </p:cNvPr>
          <p:cNvSpPr/>
          <p:nvPr/>
        </p:nvSpPr>
        <p:spPr>
          <a:xfrm>
            <a:off x="7785450" y="2853019"/>
            <a:ext cx="514339" cy="192025"/>
          </a:xfrm>
          <a:prstGeom prst="rect">
            <a:avLst/>
          </a:prstGeom>
          <a:solidFill>
            <a:srgbClr val="91B8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200" b="1" kern="0" dirty="0">
                <a:solidFill>
                  <a:sysClr val="windowText" lastClr="000000"/>
                </a:solidFill>
                <a:latin typeface="Arial"/>
              </a:rPr>
              <a:t>+</a:t>
            </a:r>
          </a:p>
        </p:txBody>
      </p:sp>
      <p:sp>
        <p:nvSpPr>
          <p:cNvPr id="119" name="Rectangle 118">
            <a:extLst>
              <a:ext uri="{FF2B5EF4-FFF2-40B4-BE49-F238E27FC236}">
                <a16:creationId xmlns:a16="http://schemas.microsoft.com/office/drawing/2014/main" id="{0D23B3D1-441B-4EEB-83CF-91A76107E741}"/>
              </a:ext>
            </a:extLst>
          </p:cNvPr>
          <p:cNvSpPr/>
          <p:nvPr/>
        </p:nvSpPr>
        <p:spPr>
          <a:xfrm>
            <a:off x="8346171" y="1700777"/>
            <a:ext cx="514339" cy="192025"/>
          </a:xfrm>
          <a:prstGeom prst="rect">
            <a:avLst/>
          </a:prstGeom>
          <a:solidFill>
            <a:srgbClr val="91B8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700" b="1" kern="0" dirty="0" err="1">
                <a:solidFill>
                  <a:sysClr val="windowText" lastClr="000000"/>
                </a:solidFill>
                <a:latin typeface="Arial"/>
              </a:rPr>
              <a:t>RDc</a:t>
            </a:r>
            <a:endParaRPr lang="en-US" sz="700" b="1" kern="0" dirty="0">
              <a:solidFill>
                <a:sysClr val="windowText" lastClr="000000"/>
              </a:solidFill>
              <a:latin typeface="Arial"/>
            </a:endParaRPr>
          </a:p>
        </p:txBody>
      </p:sp>
      <p:sp>
        <p:nvSpPr>
          <p:cNvPr id="120" name="Rectangle 119">
            <a:extLst>
              <a:ext uri="{FF2B5EF4-FFF2-40B4-BE49-F238E27FC236}">
                <a16:creationId xmlns:a16="http://schemas.microsoft.com/office/drawing/2014/main" id="{B4ED593C-78ED-4E7A-98AE-D83002F563D3}"/>
              </a:ext>
            </a:extLst>
          </p:cNvPr>
          <p:cNvSpPr/>
          <p:nvPr/>
        </p:nvSpPr>
        <p:spPr>
          <a:xfrm>
            <a:off x="8346171" y="1931207"/>
            <a:ext cx="514339" cy="192025"/>
          </a:xfrm>
          <a:prstGeom prst="rect">
            <a:avLst/>
          </a:prstGeom>
          <a:solidFill>
            <a:srgbClr val="91B8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700" b="1" kern="0" dirty="0" err="1">
                <a:solidFill>
                  <a:sysClr val="windowText" lastClr="000000"/>
                </a:solidFill>
                <a:latin typeface="Arial"/>
              </a:rPr>
              <a:t>RDc</a:t>
            </a:r>
            <a:endParaRPr lang="en-US" sz="700" b="1" kern="0" dirty="0">
              <a:solidFill>
                <a:sysClr val="windowText" lastClr="000000"/>
              </a:solidFill>
              <a:latin typeface="Arial"/>
            </a:endParaRPr>
          </a:p>
        </p:txBody>
      </p:sp>
      <p:sp>
        <p:nvSpPr>
          <p:cNvPr id="121" name="Rectangle 120">
            <a:extLst>
              <a:ext uri="{FF2B5EF4-FFF2-40B4-BE49-F238E27FC236}">
                <a16:creationId xmlns:a16="http://schemas.microsoft.com/office/drawing/2014/main" id="{9AF6B49F-DD76-45C6-B7A3-381A30319852}"/>
              </a:ext>
            </a:extLst>
          </p:cNvPr>
          <p:cNvSpPr/>
          <p:nvPr/>
        </p:nvSpPr>
        <p:spPr>
          <a:xfrm>
            <a:off x="9426030" y="6155853"/>
            <a:ext cx="514339" cy="192025"/>
          </a:xfrm>
          <a:prstGeom prst="rect">
            <a:avLst/>
          </a:prstGeom>
          <a:solidFill>
            <a:srgbClr val="91B8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200" b="1" kern="0" dirty="0">
                <a:solidFill>
                  <a:sysClr val="windowText" lastClr="000000"/>
                </a:solidFill>
                <a:latin typeface="Arial"/>
              </a:rPr>
              <a:t>+</a:t>
            </a:r>
          </a:p>
        </p:txBody>
      </p:sp>
      <p:sp>
        <p:nvSpPr>
          <p:cNvPr id="122" name="Rectangle 121">
            <a:extLst>
              <a:ext uri="{FF2B5EF4-FFF2-40B4-BE49-F238E27FC236}">
                <a16:creationId xmlns:a16="http://schemas.microsoft.com/office/drawing/2014/main" id="{8065E5F0-6173-4A52-814F-48C50F8A4C6B}"/>
              </a:ext>
            </a:extLst>
          </p:cNvPr>
          <p:cNvSpPr/>
          <p:nvPr/>
        </p:nvSpPr>
        <p:spPr>
          <a:xfrm>
            <a:off x="9426030" y="4581244"/>
            <a:ext cx="514339" cy="192025"/>
          </a:xfrm>
          <a:prstGeom prst="rect">
            <a:avLst/>
          </a:prstGeom>
          <a:solidFill>
            <a:srgbClr val="91B8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700" b="1" kern="0" dirty="0" err="1">
                <a:solidFill>
                  <a:sysClr val="windowText" lastClr="000000"/>
                </a:solidFill>
                <a:latin typeface="Arial"/>
              </a:rPr>
              <a:t>RDx</a:t>
            </a:r>
            <a:endParaRPr lang="en-US" sz="700" b="1" kern="0" dirty="0">
              <a:solidFill>
                <a:sysClr val="windowText" lastClr="000000"/>
              </a:solidFill>
              <a:latin typeface="Arial"/>
            </a:endParaRPr>
          </a:p>
        </p:txBody>
      </p:sp>
      <p:sp>
        <p:nvSpPr>
          <p:cNvPr id="123" name="Rectangle 122">
            <a:extLst>
              <a:ext uri="{FF2B5EF4-FFF2-40B4-BE49-F238E27FC236}">
                <a16:creationId xmlns:a16="http://schemas.microsoft.com/office/drawing/2014/main" id="{94BCF3D3-19C4-4FFC-91EA-02C0378F41E0}"/>
              </a:ext>
            </a:extLst>
          </p:cNvPr>
          <p:cNvSpPr/>
          <p:nvPr/>
        </p:nvSpPr>
        <p:spPr>
          <a:xfrm>
            <a:off x="9426036" y="4811674"/>
            <a:ext cx="514339" cy="192025"/>
          </a:xfrm>
          <a:prstGeom prst="rect">
            <a:avLst/>
          </a:prstGeom>
          <a:solidFill>
            <a:srgbClr val="91B8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600" b="1" kern="0" dirty="0">
                <a:solidFill>
                  <a:sysClr val="windowText" lastClr="000000"/>
                </a:solidFill>
                <a:latin typeface="Arial"/>
              </a:rPr>
              <a:t>*</a:t>
            </a:r>
          </a:p>
        </p:txBody>
      </p:sp>
      <p:grpSp>
        <p:nvGrpSpPr>
          <p:cNvPr id="124" name="Group 71">
            <a:extLst>
              <a:ext uri="{FF2B5EF4-FFF2-40B4-BE49-F238E27FC236}">
                <a16:creationId xmlns:a16="http://schemas.microsoft.com/office/drawing/2014/main" id="{254F25A1-F91D-4010-BBB2-9EF8E2B6BA07}"/>
              </a:ext>
            </a:extLst>
          </p:cNvPr>
          <p:cNvGrpSpPr/>
          <p:nvPr/>
        </p:nvGrpSpPr>
        <p:grpSpPr>
          <a:xfrm>
            <a:off x="9425973" y="3582620"/>
            <a:ext cx="563125" cy="115214"/>
            <a:chOff x="-66694" y="1130300"/>
            <a:chExt cx="533401" cy="228600"/>
          </a:xfrm>
          <a:effectLst>
            <a:outerShdw blurRad="50800" dist="38100" dir="2700000" algn="tl" rotWithShape="0">
              <a:prstClr val="black">
                <a:alpha val="40000"/>
              </a:prstClr>
            </a:outerShdw>
          </a:effectLst>
        </p:grpSpPr>
        <p:cxnSp>
          <p:nvCxnSpPr>
            <p:cNvPr id="125" name="Straight Connector 124">
              <a:extLst>
                <a:ext uri="{FF2B5EF4-FFF2-40B4-BE49-F238E27FC236}">
                  <a16:creationId xmlns:a16="http://schemas.microsoft.com/office/drawing/2014/main" id="{89780238-CCF4-4EAE-A636-A02496A825CB}"/>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26" name="Straight Connector 125">
              <a:extLst>
                <a:ext uri="{FF2B5EF4-FFF2-40B4-BE49-F238E27FC236}">
                  <a16:creationId xmlns:a16="http://schemas.microsoft.com/office/drawing/2014/main" id="{F8C77031-434F-4F57-B8BD-22F92C9338A4}"/>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27" name="Straight Connector 126">
              <a:extLst>
                <a:ext uri="{FF2B5EF4-FFF2-40B4-BE49-F238E27FC236}">
                  <a16:creationId xmlns:a16="http://schemas.microsoft.com/office/drawing/2014/main" id="{9AC54E20-CE36-491A-9514-2F53A86D30AB}"/>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28" name="Straight Connector 127">
              <a:extLst>
                <a:ext uri="{FF2B5EF4-FFF2-40B4-BE49-F238E27FC236}">
                  <a16:creationId xmlns:a16="http://schemas.microsoft.com/office/drawing/2014/main" id="{3759DC2C-6FB8-4DF4-96A6-005832AA9BEB}"/>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sp>
        <p:nvSpPr>
          <p:cNvPr id="129" name="Rectangle 128">
            <a:extLst>
              <a:ext uri="{FF2B5EF4-FFF2-40B4-BE49-F238E27FC236}">
                <a16:creationId xmlns:a16="http://schemas.microsoft.com/office/drawing/2014/main" id="{FCB3FCEC-7577-4766-9F06-207EEC50680E}"/>
              </a:ext>
            </a:extLst>
          </p:cNvPr>
          <p:cNvSpPr/>
          <p:nvPr/>
        </p:nvSpPr>
        <p:spPr>
          <a:xfrm>
            <a:off x="9426030" y="5925423"/>
            <a:ext cx="514339" cy="192025"/>
          </a:xfrm>
          <a:prstGeom prst="rect">
            <a:avLst/>
          </a:prstGeom>
          <a:solidFill>
            <a:srgbClr val="91B8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200" b="1" kern="0" dirty="0">
                <a:solidFill>
                  <a:sysClr val="windowText" lastClr="000000"/>
                </a:solidFill>
                <a:latin typeface="Arial"/>
              </a:rPr>
              <a:t>+</a:t>
            </a:r>
          </a:p>
        </p:txBody>
      </p:sp>
      <p:sp>
        <p:nvSpPr>
          <p:cNvPr id="130" name="Rectangle 129">
            <a:extLst>
              <a:ext uri="{FF2B5EF4-FFF2-40B4-BE49-F238E27FC236}">
                <a16:creationId xmlns:a16="http://schemas.microsoft.com/office/drawing/2014/main" id="{1BE3FDB4-80B1-4FE9-BC96-6BBCEB66C8DA}"/>
              </a:ext>
            </a:extLst>
          </p:cNvPr>
          <p:cNvSpPr/>
          <p:nvPr/>
        </p:nvSpPr>
        <p:spPr>
          <a:xfrm>
            <a:off x="9426036" y="5042104"/>
            <a:ext cx="514339" cy="192025"/>
          </a:xfrm>
          <a:prstGeom prst="rect">
            <a:avLst/>
          </a:prstGeom>
          <a:solidFill>
            <a:srgbClr val="91B8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600" b="1" kern="0" dirty="0">
                <a:solidFill>
                  <a:sysClr val="windowText" lastClr="000000"/>
                </a:solidFill>
                <a:latin typeface="Arial"/>
              </a:rPr>
              <a:t>*</a:t>
            </a:r>
          </a:p>
        </p:txBody>
      </p:sp>
      <p:sp>
        <p:nvSpPr>
          <p:cNvPr id="131" name="Rectangle 130">
            <a:extLst>
              <a:ext uri="{FF2B5EF4-FFF2-40B4-BE49-F238E27FC236}">
                <a16:creationId xmlns:a16="http://schemas.microsoft.com/office/drawing/2014/main" id="{DD6C61C0-1ACA-4AC7-BD1C-423EA7BB1205}"/>
              </a:ext>
            </a:extLst>
          </p:cNvPr>
          <p:cNvSpPr/>
          <p:nvPr/>
        </p:nvSpPr>
        <p:spPr>
          <a:xfrm>
            <a:off x="9426030" y="5272534"/>
            <a:ext cx="514339" cy="192025"/>
          </a:xfrm>
          <a:prstGeom prst="rect">
            <a:avLst/>
          </a:prstGeom>
          <a:solidFill>
            <a:srgbClr val="91B8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600" b="1" kern="0" dirty="0">
                <a:solidFill>
                  <a:sysClr val="windowText" lastClr="000000"/>
                </a:solidFill>
                <a:latin typeface="Arial"/>
              </a:rPr>
              <a:t>*</a:t>
            </a:r>
            <a:endParaRPr lang="en-US" sz="1200" b="1" kern="0" dirty="0">
              <a:solidFill>
                <a:sysClr val="windowText" lastClr="000000"/>
              </a:solidFill>
              <a:latin typeface="Arial"/>
            </a:endParaRPr>
          </a:p>
        </p:txBody>
      </p:sp>
      <p:sp>
        <p:nvSpPr>
          <p:cNvPr id="132" name="Rectangle 131">
            <a:extLst>
              <a:ext uri="{FF2B5EF4-FFF2-40B4-BE49-F238E27FC236}">
                <a16:creationId xmlns:a16="http://schemas.microsoft.com/office/drawing/2014/main" id="{6ABCA038-942C-45AD-B53B-7BA87986F531}"/>
              </a:ext>
            </a:extLst>
          </p:cNvPr>
          <p:cNvSpPr/>
          <p:nvPr/>
        </p:nvSpPr>
        <p:spPr>
          <a:xfrm>
            <a:off x="9426030" y="5502964"/>
            <a:ext cx="514339" cy="192025"/>
          </a:xfrm>
          <a:prstGeom prst="rect">
            <a:avLst/>
          </a:prstGeom>
          <a:solidFill>
            <a:srgbClr val="91B8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600" b="1" kern="0" dirty="0">
                <a:solidFill>
                  <a:sysClr val="windowText" lastClr="000000"/>
                </a:solidFill>
                <a:latin typeface="Arial"/>
              </a:rPr>
              <a:t>*</a:t>
            </a:r>
          </a:p>
        </p:txBody>
      </p:sp>
      <p:sp>
        <p:nvSpPr>
          <p:cNvPr id="133" name="Rectangle 132">
            <a:extLst>
              <a:ext uri="{FF2B5EF4-FFF2-40B4-BE49-F238E27FC236}">
                <a16:creationId xmlns:a16="http://schemas.microsoft.com/office/drawing/2014/main" id="{646B694A-BFCB-4DA4-8B7C-297A70777026}"/>
              </a:ext>
            </a:extLst>
          </p:cNvPr>
          <p:cNvSpPr/>
          <p:nvPr/>
        </p:nvSpPr>
        <p:spPr>
          <a:xfrm>
            <a:off x="9426030" y="6347874"/>
            <a:ext cx="514339" cy="192025"/>
          </a:xfrm>
          <a:prstGeom prst="rect">
            <a:avLst/>
          </a:prstGeom>
          <a:solidFill>
            <a:srgbClr val="91B8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700" b="1" kern="0" dirty="0" err="1">
                <a:solidFill>
                  <a:sysClr val="windowText" lastClr="000000"/>
                </a:solidFill>
                <a:latin typeface="Arial"/>
              </a:rPr>
              <a:t>WRy</a:t>
            </a:r>
            <a:endParaRPr lang="en-US" sz="700" b="1" kern="0" dirty="0">
              <a:solidFill>
                <a:sysClr val="windowText" lastClr="000000"/>
              </a:solidFill>
              <a:latin typeface="Arial"/>
            </a:endParaRPr>
          </a:p>
        </p:txBody>
      </p:sp>
      <p:sp>
        <p:nvSpPr>
          <p:cNvPr id="134" name="Rectangle 133">
            <a:extLst>
              <a:ext uri="{FF2B5EF4-FFF2-40B4-BE49-F238E27FC236}">
                <a16:creationId xmlns:a16="http://schemas.microsoft.com/office/drawing/2014/main" id="{3B90A619-1BC0-4231-ADCB-2EC0A832443D}"/>
              </a:ext>
            </a:extLst>
          </p:cNvPr>
          <p:cNvSpPr/>
          <p:nvPr/>
        </p:nvSpPr>
        <p:spPr>
          <a:xfrm>
            <a:off x="9423630" y="3774644"/>
            <a:ext cx="514339" cy="192025"/>
          </a:xfrm>
          <a:prstGeom prst="rect">
            <a:avLst/>
          </a:prstGeom>
          <a:solidFill>
            <a:srgbClr val="91B8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700" b="1" kern="0" dirty="0" err="1">
                <a:solidFill>
                  <a:sysClr val="windowText" lastClr="000000"/>
                </a:solidFill>
                <a:latin typeface="Arial"/>
              </a:rPr>
              <a:t>RDc</a:t>
            </a:r>
            <a:endParaRPr lang="en-US" sz="700" b="1" kern="0" dirty="0">
              <a:solidFill>
                <a:sysClr val="windowText" lastClr="000000"/>
              </a:solidFill>
              <a:latin typeface="Arial"/>
            </a:endParaRPr>
          </a:p>
        </p:txBody>
      </p:sp>
      <p:sp>
        <p:nvSpPr>
          <p:cNvPr id="135" name="Rectangle 134">
            <a:extLst>
              <a:ext uri="{FF2B5EF4-FFF2-40B4-BE49-F238E27FC236}">
                <a16:creationId xmlns:a16="http://schemas.microsoft.com/office/drawing/2014/main" id="{6B65FD59-D67E-4F84-9D8F-FB8D49DD9BC8}"/>
              </a:ext>
            </a:extLst>
          </p:cNvPr>
          <p:cNvSpPr/>
          <p:nvPr/>
        </p:nvSpPr>
        <p:spPr>
          <a:xfrm>
            <a:off x="9426036" y="5694989"/>
            <a:ext cx="514339" cy="192025"/>
          </a:xfrm>
          <a:prstGeom prst="rect">
            <a:avLst/>
          </a:prstGeom>
          <a:solidFill>
            <a:srgbClr val="91B8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1200" b="1" kern="0" dirty="0">
                <a:solidFill>
                  <a:sysClr val="windowText" lastClr="000000"/>
                </a:solidFill>
                <a:latin typeface="Arial"/>
              </a:rPr>
              <a:t>+</a:t>
            </a:r>
          </a:p>
        </p:txBody>
      </p:sp>
      <p:sp>
        <p:nvSpPr>
          <p:cNvPr id="136" name="Rectangle 135">
            <a:extLst>
              <a:ext uri="{FF2B5EF4-FFF2-40B4-BE49-F238E27FC236}">
                <a16:creationId xmlns:a16="http://schemas.microsoft.com/office/drawing/2014/main" id="{554D6E82-6AF0-46C1-80B7-D0B4B9D9E8E2}"/>
              </a:ext>
            </a:extLst>
          </p:cNvPr>
          <p:cNvSpPr/>
          <p:nvPr/>
        </p:nvSpPr>
        <p:spPr>
          <a:xfrm>
            <a:off x="9426030" y="3966671"/>
            <a:ext cx="514339" cy="192025"/>
          </a:xfrm>
          <a:prstGeom prst="rect">
            <a:avLst/>
          </a:prstGeom>
          <a:solidFill>
            <a:srgbClr val="91B8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700" b="1" kern="0" dirty="0" err="1">
                <a:solidFill>
                  <a:sysClr val="windowText" lastClr="000000"/>
                </a:solidFill>
                <a:latin typeface="Arial"/>
              </a:rPr>
              <a:t>RDc</a:t>
            </a:r>
            <a:endParaRPr lang="en-US" sz="700" b="1" kern="0" dirty="0">
              <a:solidFill>
                <a:sysClr val="windowText" lastClr="000000"/>
              </a:solidFill>
              <a:latin typeface="Arial"/>
            </a:endParaRPr>
          </a:p>
        </p:txBody>
      </p:sp>
      <p:sp>
        <p:nvSpPr>
          <p:cNvPr id="137" name="Rectangle 136">
            <a:extLst>
              <a:ext uri="{FF2B5EF4-FFF2-40B4-BE49-F238E27FC236}">
                <a16:creationId xmlns:a16="http://schemas.microsoft.com/office/drawing/2014/main" id="{314A29CB-433C-455E-9CA4-5570E58FE838}"/>
              </a:ext>
            </a:extLst>
          </p:cNvPr>
          <p:cNvSpPr/>
          <p:nvPr/>
        </p:nvSpPr>
        <p:spPr>
          <a:xfrm>
            <a:off x="9426030" y="4158789"/>
            <a:ext cx="514339" cy="192025"/>
          </a:xfrm>
          <a:prstGeom prst="rect">
            <a:avLst/>
          </a:prstGeom>
          <a:solidFill>
            <a:srgbClr val="91B8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700" b="1" kern="0" dirty="0" err="1">
                <a:solidFill>
                  <a:sysClr val="windowText" lastClr="000000"/>
                </a:solidFill>
                <a:latin typeface="Arial"/>
              </a:rPr>
              <a:t>RDc</a:t>
            </a:r>
            <a:endParaRPr lang="en-US" sz="700" b="1" kern="0" dirty="0">
              <a:solidFill>
                <a:sysClr val="windowText" lastClr="000000"/>
              </a:solidFill>
              <a:latin typeface="Arial"/>
            </a:endParaRPr>
          </a:p>
        </p:txBody>
      </p:sp>
      <p:sp>
        <p:nvSpPr>
          <p:cNvPr id="138" name="Rectangle 137">
            <a:extLst>
              <a:ext uri="{FF2B5EF4-FFF2-40B4-BE49-F238E27FC236}">
                <a16:creationId xmlns:a16="http://schemas.microsoft.com/office/drawing/2014/main" id="{D12CADB8-C6DA-4206-A82B-50F1B45BA540}"/>
              </a:ext>
            </a:extLst>
          </p:cNvPr>
          <p:cNvSpPr/>
          <p:nvPr/>
        </p:nvSpPr>
        <p:spPr>
          <a:xfrm>
            <a:off x="9428429" y="4350818"/>
            <a:ext cx="514339" cy="192025"/>
          </a:xfrm>
          <a:prstGeom prst="rect">
            <a:avLst/>
          </a:prstGeom>
          <a:solidFill>
            <a:srgbClr val="91B8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algn="ctr" defTabSz="457200" fontAlgn="base">
              <a:spcBef>
                <a:spcPct val="0"/>
              </a:spcBef>
              <a:spcAft>
                <a:spcPct val="0"/>
              </a:spcAft>
              <a:defRPr/>
            </a:pPr>
            <a:r>
              <a:rPr lang="en-US" sz="700" b="1" kern="0" dirty="0" err="1">
                <a:solidFill>
                  <a:sysClr val="windowText" lastClr="000000"/>
                </a:solidFill>
                <a:latin typeface="Arial"/>
              </a:rPr>
              <a:t>RDc</a:t>
            </a:r>
            <a:endParaRPr lang="en-US" sz="700" b="1" kern="0" dirty="0">
              <a:solidFill>
                <a:sysClr val="windowText" lastClr="000000"/>
              </a:solidFill>
              <a:latin typeface="Arial"/>
            </a:endParaRPr>
          </a:p>
        </p:txBody>
      </p:sp>
      <p:sp>
        <p:nvSpPr>
          <p:cNvPr id="139" name="TextBox 138">
            <a:extLst>
              <a:ext uri="{FF2B5EF4-FFF2-40B4-BE49-F238E27FC236}">
                <a16:creationId xmlns:a16="http://schemas.microsoft.com/office/drawing/2014/main" id="{D93BB1BD-F056-4476-A9BD-33A82C22FDD9}"/>
              </a:ext>
            </a:extLst>
          </p:cNvPr>
          <p:cNvSpPr txBox="1"/>
          <p:nvPr/>
        </p:nvSpPr>
        <p:spPr>
          <a:xfrm>
            <a:off x="9372374" y="1470392"/>
            <a:ext cx="2659646" cy="1792798"/>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p:spPr>
        <p:txBody>
          <a:bodyPr wrap="square" rtlCol="0">
            <a:spAutoFit/>
          </a:bodyPr>
          <a:lstStyle/>
          <a:p>
            <a:pPr defTabSz="457200" fontAlgn="base">
              <a:spcBef>
                <a:spcPct val="0"/>
              </a:spcBef>
              <a:spcAft>
                <a:spcPct val="0"/>
              </a:spcAft>
              <a:defRPr/>
            </a:pPr>
            <a:endParaRPr lang="en-US" sz="1000" kern="0" dirty="0">
              <a:solidFill>
                <a:prstClr val="black"/>
              </a:solidFill>
              <a:latin typeface="Arial"/>
            </a:endParaRPr>
          </a:p>
          <a:p>
            <a:pPr defTabSz="457200" fontAlgn="base">
              <a:spcBef>
                <a:spcPct val="0"/>
              </a:spcBef>
              <a:spcAft>
                <a:spcPct val="0"/>
              </a:spcAft>
              <a:defRPr/>
            </a:pPr>
            <a:r>
              <a:rPr lang="en-US" sz="1000" kern="0" dirty="0">
                <a:solidFill>
                  <a:prstClr val="black"/>
                </a:solidFill>
                <a:latin typeface="Arial"/>
              </a:rPr>
              <a:t>  loop: for (</a:t>
            </a:r>
            <a:r>
              <a:rPr lang="en-US" sz="1000" kern="0" dirty="0" err="1">
                <a:solidFill>
                  <a:prstClr val="black"/>
                </a:solidFill>
                <a:latin typeface="Arial"/>
              </a:rPr>
              <a:t>i</a:t>
            </a:r>
            <a:r>
              <a:rPr lang="en-US" sz="1000" kern="0" dirty="0">
                <a:solidFill>
                  <a:prstClr val="black"/>
                </a:solidFill>
                <a:latin typeface="Arial"/>
              </a:rPr>
              <a:t>=3;i&gt;=0;i--) {</a:t>
            </a:r>
          </a:p>
          <a:p>
            <a:pPr defTabSz="457200" fontAlgn="base">
              <a:spcBef>
                <a:spcPct val="0"/>
              </a:spcBef>
              <a:spcAft>
                <a:spcPct val="0"/>
              </a:spcAft>
              <a:defRPr/>
            </a:pPr>
            <a:r>
              <a:rPr lang="en-US" sz="1000" kern="0" dirty="0">
                <a:solidFill>
                  <a:prstClr val="black"/>
                </a:solidFill>
                <a:latin typeface="Arial"/>
              </a:rPr>
              <a:t>     if (</a:t>
            </a:r>
            <a:r>
              <a:rPr lang="en-US" sz="1000" kern="0" dirty="0" err="1">
                <a:solidFill>
                  <a:prstClr val="black"/>
                </a:solidFill>
                <a:latin typeface="Arial"/>
              </a:rPr>
              <a:t>i</a:t>
            </a:r>
            <a:r>
              <a:rPr lang="en-US" sz="1000" kern="0" dirty="0">
                <a:solidFill>
                  <a:prstClr val="black"/>
                </a:solidFill>
                <a:latin typeface="Arial"/>
              </a:rPr>
              <a:t>==0) {</a:t>
            </a:r>
          </a:p>
          <a:p>
            <a:pPr defTabSz="457200" fontAlgn="base">
              <a:spcBef>
                <a:spcPct val="0"/>
              </a:spcBef>
              <a:spcAft>
                <a:spcPct val="0"/>
              </a:spcAft>
              <a:defRPr/>
            </a:pPr>
            <a:r>
              <a:rPr lang="en-US" sz="1000" kern="0" dirty="0">
                <a:solidFill>
                  <a:prstClr val="black"/>
                </a:solidFill>
                <a:latin typeface="Arial"/>
              </a:rPr>
              <a:t>       acc+=</a:t>
            </a:r>
            <a:r>
              <a:rPr lang="en-US" sz="1050" b="1" kern="0" dirty="0">
                <a:solidFill>
                  <a:prstClr val="black"/>
                </a:solidFill>
                <a:latin typeface="Arial"/>
              </a:rPr>
              <a:t>x</a:t>
            </a:r>
            <a:r>
              <a:rPr lang="en-US" sz="1000" kern="0" dirty="0">
                <a:solidFill>
                  <a:prstClr val="black"/>
                </a:solidFill>
                <a:latin typeface="Arial"/>
              </a:rPr>
              <a:t>*c[0];</a:t>
            </a:r>
          </a:p>
          <a:p>
            <a:pPr defTabSz="457200" fontAlgn="base">
              <a:spcBef>
                <a:spcPct val="0"/>
              </a:spcBef>
              <a:spcAft>
                <a:spcPct val="0"/>
              </a:spcAft>
              <a:defRPr/>
            </a:pPr>
            <a:r>
              <a:rPr lang="en-US" sz="1000" kern="0" dirty="0">
                <a:solidFill>
                  <a:prstClr val="black"/>
                </a:solidFill>
                <a:latin typeface="Arial"/>
              </a:rPr>
              <a:t>       </a:t>
            </a:r>
            <a:r>
              <a:rPr lang="en-US" sz="1000" kern="0" dirty="0" err="1">
                <a:solidFill>
                  <a:prstClr val="black"/>
                </a:solidFill>
                <a:latin typeface="Arial"/>
              </a:rPr>
              <a:t>shift_reg</a:t>
            </a:r>
            <a:r>
              <a:rPr lang="en-US" sz="1000" kern="0" dirty="0">
                <a:solidFill>
                  <a:prstClr val="black"/>
                </a:solidFill>
                <a:latin typeface="Arial"/>
              </a:rPr>
              <a:t>[0]=x;</a:t>
            </a:r>
          </a:p>
          <a:p>
            <a:pPr defTabSz="457200" fontAlgn="base">
              <a:spcBef>
                <a:spcPct val="0"/>
              </a:spcBef>
              <a:spcAft>
                <a:spcPct val="0"/>
              </a:spcAft>
              <a:defRPr/>
            </a:pPr>
            <a:r>
              <a:rPr lang="en-US" sz="1000" kern="0" dirty="0">
                <a:solidFill>
                  <a:prstClr val="black"/>
                </a:solidFill>
                <a:latin typeface="Arial"/>
              </a:rPr>
              <a:t>     } else {</a:t>
            </a:r>
          </a:p>
          <a:p>
            <a:pPr defTabSz="457200" fontAlgn="base">
              <a:spcBef>
                <a:spcPct val="0"/>
              </a:spcBef>
              <a:spcAft>
                <a:spcPct val="0"/>
              </a:spcAft>
              <a:defRPr/>
            </a:pPr>
            <a:r>
              <a:rPr lang="en-US" sz="1000" kern="0" dirty="0">
                <a:solidFill>
                  <a:prstClr val="black"/>
                </a:solidFill>
                <a:latin typeface="Arial"/>
              </a:rPr>
              <a:t>        </a:t>
            </a:r>
            <a:r>
              <a:rPr lang="en-US" sz="1000" kern="0" dirty="0" err="1">
                <a:solidFill>
                  <a:prstClr val="black"/>
                </a:solidFill>
                <a:latin typeface="Arial"/>
              </a:rPr>
              <a:t>shift_reg</a:t>
            </a:r>
            <a:r>
              <a:rPr lang="en-US" sz="1000" kern="0" dirty="0">
                <a:solidFill>
                  <a:prstClr val="black"/>
                </a:solidFill>
                <a:latin typeface="Arial"/>
              </a:rPr>
              <a:t>[</a:t>
            </a:r>
            <a:r>
              <a:rPr lang="en-US" sz="1000" kern="0" dirty="0" err="1">
                <a:solidFill>
                  <a:prstClr val="black"/>
                </a:solidFill>
                <a:latin typeface="Arial"/>
              </a:rPr>
              <a:t>i</a:t>
            </a:r>
            <a:r>
              <a:rPr lang="en-US" sz="1000" kern="0" dirty="0">
                <a:solidFill>
                  <a:prstClr val="black"/>
                </a:solidFill>
                <a:latin typeface="Arial"/>
              </a:rPr>
              <a:t>]=</a:t>
            </a:r>
            <a:r>
              <a:rPr lang="en-US" sz="1000" kern="0" dirty="0" err="1">
                <a:solidFill>
                  <a:prstClr val="black"/>
                </a:solidFill>
                <a:latin typeface="Arial"/>
              </a:rPr>
              <a:t>shift_reg</a:t>
            </a:r>
            <a:r>
              <a:rPr lang="en-US" sz="1000" kern="0" dirty="0">
                <a:solidFill>
                  <a:prstClr val="black"/>
                </a:solidFill>
                <a:latin typeface="Arial"/>
              </a:rPr>
              <a:t>[i-1];	        </a:t>
            </a:r>
          </a:p>
          <a:p>
            <a:pPr defTabSz="457200" fontAlgn="base">
              <a:spcBef>
                <a:spcPct val="0"/>
              </a:spcBef>
              <a:spcAft>
                <a:spcPct val="0"/>
              </a:spcAft>
              <a:defRPr/>
            </a:pPr>
            <a:r>
              <a:rPr lang="en-US" sz="1000" kern="0" dirty="0">
                <a:solidFill>
                  <a:prstClr val="black"/>
                </a:solidFill>
                <a:latin typeface="Arial"/>
              </a:rPr>
              <a:t>        acc+=</a:t>
            </a:r>
            <a:r>
              <a:rPr lang="en-US" sz="1000" kern="0" dirty="0" err="1">
                <a:solidFill>
                  <a:prstClr val="black"/>
                </a:solidFill>
                <a:latin typeface="Arial"/>
              </a:rPr>
              <a:t>shift_reg</a:t>
            </a:r>
            <a:r>
              <a:rPr lang="en-US" sz="1000" kern="0" dirty="0">
                <a:solidFill>
                  <a:prstClr val="black"/>
                </a:solidFill>
                <a:latin typeface="Arial"/>
              </a:rPr>
              <a:t>[</a:t>
            </a:r>
            <a:r>
              <a:rPr lang="en-US" sz="1000" kern="0" dirty="0" err="1">
                <a:solidFill>
                  <a:prstClr val="black"/>
                </a:solidFill>
                <a:latin typeface="Arial"/>
              </a:rPr>
              <a:t>i</a:t>
            </a:r>
            <a:r>
              <a:rPr lang="en-US" sz="1000" kern="0" dirty="0">
                <a:solidFill>
                  <a:prstClr val="black"/>
                </a:solidFill>
                <a:latin typeface="Arial"/>
              </a:rPr>
              <a:t>]*c[</a:t>
            </a:r>
            <a:r>
              <a:rPr lang="en-US" sz="1000" kern="0" dirty="0" err="1">
                <a:solidFill>
                  <a:prstClr val="black"/>
                </a:solidFill>
                <a:latin typeface="Arial"/>
              </a:rPr>
              <a:t>i</a:t>
            </a:r>
            <a:r>
              <a:rPr lang="en-US" sz="1000" kern="0" dirty="0">
                <a:solidFill>
                  <a:prstClr val="black"/>
                </a:solidFill>
                <a:latin typeface="Arial"/>
              </a:rPr>
              <a:t>];</a:t>
            </a:r>
          </a:p>
          <a:p>
            <a:pPr defTabSz="457200" fontAlgn="base">
              <a:spcBef>
                <a:spcPct val="0"/>
              </a:spcBef>
              <a:spcAft>
                <a:spcPct val="0"/>
              </a:spcAft>
              <a:defRPr/>
            </a:pPr>
            <a:r>
              <a:rPr lang="en-US" sz="1000" kern="0" dirty="0">
                <a:solidFill>
                  <a:prstClr val="black"/>
                </a:solidFill>
                <a:latin typeface="Arial"/>
              </a:rPr>
              <a:t>     }</a:t>
            </a:r>
          </a:p>
          <a:p>
            <a:pPr defTabSz="457200" fontAlgn="base">
              <a:spcBef>
                <a:spcPct val="0"/>
              </a:spcBef>
              <a:spcAft>
                <a:spcPct val="0"/>
              </a:spcAft>
              <a:defRPr/>
            </a:pPr>
            <a:r>
              <a:rPr lang="en-US" sz="1000" kern="0" dirty="0">
                <a:solidFill>
                  <a:prstClr val="black"/>
                </a:solidFill>
                <a:latin typeface="Arial"/>
              </a:rPr>
              <a:t>  }</a:t>
            </a:r>
          </a:p>
          <a:p>
            <a:pPr defTabSz="457200" fontAlgn="base">
              <a:spcBef>
                <a:spcPct val="0"/>
              </a:spcBef>
              <a:spcAft>
                <a:spcPct val="0"/>
              </a:spcAft>
              <a:defRPr/>
            </a:pPr>
            <a:r>
              <a:rPr lang="en-US" sz="1000" kern="0" dirty="0">
                <a:solidFill>
                  <a:prstClr val="black"/>
                </a:solidFill>
                <a:latin typeface="Arial"/>
              </a:rPr>
              <a:t>  *y=acc;</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Operators</a:t>
            </a:r>
          </a:p>
        </p:txBody>
      </p:sp>
      <p:sp>
        <p:nvSpPr>
          <p:cNvPr id="3" name="Content Placeholder 2"/>
          <p:cNvSpPr>
            <a:spLocks noGrp="1"/>
          </p:cNvSpPr>
          <p:nvPr>
            <p:ph idx="1"/>
          </p:nvPr>
        </p:nvSpPr>
        <p:spPr>
          <a:xfrm>
            <a:off x="641027" y="1248460"/>
            <a:ext cx="10515600" cy="4759404"/>
          </a:xfrm>
        </p:spPr>
        <p:txBody>
          <a:bodyPr>
            <a:normAutofit/>
          </a:bodyPr>
          <a:lstStyle/>
          <a:p>
            <a:r>
              <a:rPr lang="en-US" sz="1800" dirty="0"/>
              <a:t>Operator sizes are defined by the type</a:t>
            </a:r>
          </a:p>
          <a:p>
            <a:pPr lvl="1"/>
            <a:r>
              <a:rPr lang="en-US" sz="1600" dirty="0"/>
              <a:t>The variable type defines the size of the operator</a:t>
            </a:r>
          </a:p>
          <a:p>
            <a:r>
              <a:rPr lang="en-US" sz="1800" dirty="0"/>
              <a:t>Vitis HLS will try to minimize the number of operators</a:t>
            </a:r>
          </a:p>
          <a:p>
            <a:pPr lvl="1"/>
            <a:r>
              <a:rPr lang="en-US" sz="1600" dirty="0"/>
              <a:t>By default Vitis HLS will seek to minimize area </a:t>
            </a:r>
            <a:r>
              <a:rPr lang="en-US" sz="1600" u="sng" dirty="0"/>
              <a:t>after</a:t>
            </a:r>
            <a:r>
              <a:rPr lang="en-US" sz="1600" dirty="0"/>
              <a:t> constraints are satisfied</a:t>
            </a:r>
          </a:p>
          <a:p>
            <a:r>
              <a:rPr lang="en-US" sz="1800" dirty="0"/>
              <a:t>User can set specific limits &amp; targets for the resources used</a:t>
            </a:r>
          </a:p>
          <a:p>
            <a:pPr lvl="1"/>
            <a:r>
              <a:rPr lang="en-US" sz="1600" dirty="0"/>
              <a:t>Allocation can be controlled</a:t>
            </a:r>
          </a:p>
          <a:p>
            <a:pPr lvl="2"/>
            <a:r>
              <a:rPr lang="en-US" sz="1400" dirty="0"/>
              <a:t>An upper limit can be set on the number of operators or cores allocated for the design: This can be used to force sharing</a:t>
            </a:r>
          </a:p>
          <a:p>
            <a:pPr lvl="2"/>
            <a:r>
              <a:rPr lang="en-US" sz="1400" dirty="0" err="1"/>
              <a:t>e.g</a:t>
            </a:r>
            <a:r>
              <a:rPr lang="en-US" sz="1400" dirty="0"/>
              <a:t> limit the number of multipliers to 1 will force Vitis HLS to share</a:t>
            </a:r>
          </a:p>
          <a:p>
            <a:pPr lvl="2"/>
            <a:endParaRPr lang="en-US" dirty="0"/>
          </a:p>
          <a:p>
            <a:pPr lvl="2"/>
            <a:endParaRPr lang="en-US" dirty="0"/>
          </a:p>
          <a:p>
            <a:pPr lvl="1"/>
            <a:r>
              <a:rPr lang="en-US" sz="1600" dirty="0"/>
              <a:t>Resources can be specified</a:t>
            </a:r>
          </a:p>
          <a:p>
            <a:pPr lvl="2"/>
            <a:r>
              <a:rPr lang="en-US" sz="1400" dirty="0"/>
              <a:t>The cores used to implement each operator can be specified</a:t>
            </a:r>
          </a:p>
          <a:p>
            <a:pPr lvl="2"/>
            <a:r>
              <a:rPr lang="en-US" sz="1400" dirty="0"/>
              <a:t>e.g.  Implement each multiplier using a 2 stage pipelined core (hardware)</a:t>
            </a:r>
            <a:endParaRPr lang="en-US" dirty="0"/>
          </a:p>
        </p:txBody>
      </p:sp>
      <p:sp>
        <p:nvSpPr>
          <p:cNvPr id="49" name="Slide Number Placeholder 48"/>
          <p:cNvSpPr>
            <a:spLocks noGrp="1"/>
          </p:cNvSpPr>
          <p:nvPr>
            <p:ph type="sldNum" sz="quarter" idx="10"/>
          </p:nvPr>
        </p:nvSpPr>
        <p:spPr/>
        <p:txBody>
          <a:bodyPr/>
          <a:lstStyle/>
          <a:p>
            <a:pPr>
              <a:defRPr/>
            </a:pPr>
            <a:r>
              <a:rPr lang="en-US" dirty="0"/>
              <a:t>Intro to HLS 11- </a:t>
            </a:r>
            <a:fld id="{060BD193-E118-4B16-863C-C8C12C675E3E}" type="slidenum">
              <a:rPr lang="en-US" smtClean="0"/>
              <a:pPr>
                <a:defRPr/>
              </a:pPr>
              <a:t>30</a:t>
            </a:fld>
            <a:endParaRPr lang="en-US" dirty="0"/>
          </a:p>
        </p:txBody>
      </p:sp>
      <p:grpSp>
        <p:nvGrpSpPr>
          <p:cNvPr id="55" name="Group 71">
            <a:extLst>
              <a:ext uri="{FF2B5EF4-FFF2-40B4-BE49-F238E27FC236}">
                <a16:creationId xmlns:a16="http://schemas.microsoft.com/office/drawing/2014/main" id="{0E7EBB39-8608-4FF7-A429-C79DE84FE51C}"/>
              </a:ext>
            </a:extLst>
          </p:cNvPr>
          <p:cNvGrpSpPr/>
          <p:nvPr/>
        </p:nvGrpSpPr>
        <p:grpSpPr>
          <a:xfrm>
            <a:off x="2563710" y="4290622"/>
            <a:ext cx="972673" cy="230430"/>
            <a:chOff x="-66694" y="1130300"/>
            <a:chExt cx="533401" cy="228600"/>
          </a:xfrm>
          <a:effectLst>
            <a:outerShdw blurRad="50800" dist="38100" dir="2700000" algn="tl" rotWithShape="0">
              <a:prstClr val="black">
                <a:alpha val="40000"/>
              </a:prstClr>
            </a:outerShdw>
          </a:effectLst>
        </p:grpSpPr>
        <p:cxnSp>
          <p:nvCxnSpPr>
            <p:cNvPr id="56" name="Straight Connector 55">
              <a:extLst>
                <a:ext uri="{FF2B5EF4-FFF2-40B4-BE49-F238E27FC236}">
                  <a16:creationId xmlns:a16="http://schemas.microsoft.com/office/drawing/2014/main" id="{2C5FAE4E-9679-43AB-A2CA-05B33B6EE1CD}"/>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57" name="Straight Connector 56">
              <a:extLst>
                <a:ext uri="{FF2B5EF4-FFF2-40B4-BE49-F238E27FC236}">
                  <a16:creationId xmlns:a16="http://schemas.microsoft.com/office/drawing/2014/main" id="{7AF3C2EA-3496-40A5-9BA8-2A9390EE5F9E}"/>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58" name="Straight Connector 57">
              <a:extLst>
                <a:ext uri="{FF2B5EF4-FFF2-40B4-BE49-F238E27FC236}">
                  <a16:creationId xmlns:a16="http://schemas.microsoft.com/office/drawing/2014/main" id="{F183E16B-DD60-48E0-BFC9-4AF3470D1103}"/>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59" name="Straight Connector 58">
              <a:extLst>
                <a:ext uri="{FF2B5EF4-FFF2-40B4-BE49-F238E27FC236}">
                  <a16:creationId xmlns:a16="http://schemas.microsoft.com/office/drawing/2014/main" id="{8493320C-732F-4DF0-9438-2EADBB9D1A33}"/>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sp>
        <p:nvSpPr>
          <p:cNvPr id="60" name="Rounded Rectangle 9">
            <a:extLst>
              <a:ext uri="{FF2B5EF4-FFF2-40B4-BE49-F238E27FC236}">
                <a16:creationId xmlns:a16="http://schemas.microsoft.com/office/drawing/2014/main" id="{C9F24AA4-0076-41A3-B822-ED5CB09FFFAA}"/>
              </a:ext>
            </a:extLst>
          </p:cNvPr>
          <p:cNvSpPr/>
          <p:nvPr/>
        </p:nvSpPr>
        <p:spPr>
          <a:xfrm>
            <a:off x="2512875" y="4557948"/>
            <a:ext cx="223472" cy="189874"/>
          </a:xfrm>
          <a:prstGeom prst="round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3</a:t>
            </a:r>
            <a:endParaRPr lang="en-US" sz="1100" b="1" kern="0" dirty="0">
              <a:solidFill>
                <a:prstClr val="black"/>
              </a:solidFill>
              <a:latin typeface="Arial"/>
            </a:endParaRPr>
          </a:p>
        </p:txBody>
      </p:sp>
      <p:sp>
        <p:nvSpPr>
          <p:cNvPr id="61" name="Rounded Rectangle 10">
            <a:extLst>
              <a:ext uri="{FF2B5EF4-FFF2-40B4-BE49-F238E27FC236}">
                <a16:creationId xmlns:a16="http://schemas.microsoft.com/office/drawing/2014/main" id="{7CA321F2-4671-4454-B0F7-C811B7D8C480}"/>
              </a:ext>
            </a:extLst>
          </p:cNvPr>
          <p:cNvSpPr/>
          <p:nvPr/>
        </p:nvSpPr>
        <p:spPr>
          <a:xfrm>
            <a:off x="3536335" y="4557948"/>
            <a:ext cx="223472" cy="189874"/>
          </a:xfrm>
          <a:prstGeom prst="roundRect">
            <a:avLst/>
          </a:prstGeom>
          <a:gradFill rotWithShape="1">
            <a:gsLst>
              <a:gs pos="0">
                <a:srgbClr val="6D7076">
                  <a:tint val="50000"/>
                  <a:satMod val="300000"/>
                </a:srgbClr>
              </a:gs>
              <a:gs pos="35000">
                <a:srgbClr val="6D7076">
                  <a:tint val="37000"/>
                  <a:satMod val="300000"/>
                </a:srgbClr>
              </a:gs>
              <a:gs pos="100000">
                <a:srgbClr val="6D7076">
                  <a:tint val="15000"/>
                  <a:satMod val="350000"/>
                </a:srgbClr>
              </a:gs>
            </a:gsLst>
            <a:lin ang="16200000" scaled="1"/>
          </a:gradFill>
          <a:ln w="9525" cap="flat" cmpd="sng" algn="ctr">
            <a:solidFill>
              <a:srgbClr val="6D7076">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2</a:t>
            </a:r>
            <a:endParaRPr lang="en-US" sz="800" kern="0" dirty="0">
              <a:solidFill>
                <a:prstClr val="black"/>
              </a:solidFill>
              <a:latin typeface="Arial"/>
            </a:endParaRPr>
          </a:p>
        </p:txBody>
      </p:sp>
      <p:sp>
        <p:nvSpPr>
          <p:cNvPr id="62" name="Rounded Rectangle 11">
            <a:extLst>
              <a:ext uri="{FF2B5EF4-FFF2-40B4-BE49-F238E27FC236}">
                <a16:creationId xmlns:a16="http://schemas.microsoft.com/office/drawing/2014/main" id="{FC1935AA-96E7-486E-B64F-530BC8AA51ED}"/>
              </a:ext>
            </a:extLst>
          </p:cNvPr>
          <p:cNvSpPr/>
          <p:nvPr/>
        </p:nvSpPr>
        <p:spPr>
          <a:xfrm>
            <a:off x="4509007" y="4557948"/>
            <a:ext cx="223472" cy="189874"/>
          </a:xfrm>
          <a:prstGeom prst="roundRect">
            <a:avLst/>
          </a:prstGeom>
          <a:gradFill rotWithShape="1">
            <a:gsLst>
              <a:gs pos="0">
                <a:srgbClr val="3F3F3F">
                  <a:tint val="50000"/>
                  <a:satMod val="300000"/>
                </a:srgbClr>
              </a:gs>
              <a:gs pos="35000">
                <a:srgbClr val="3F3F3F">
                  <a:tint val="37000"/>
                  <a:satMod val="300000"/>
                </a:srgbClr>
              </a:gs>
              <a:gs pos="100000">
                <a:srgbClr val="3F3F3F">
                  <a:tint val="15000"/>
                  <a:satMod val="350000"/>
                </a:srgbClr>
              </a:gs>
            </a:gsLst>
            <a:lin ang="16200000" scaled="1"/>
          </a:gradFill>
          <a:ln w="9525" cap="flat" cmpd="sng" algn="ctr">
            <a:solidFill>
              <a:srgbClr val="3F3F3F">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1</a:t>
            </a:r>
            <a:endParaRPr lang="en-US" sz="800" kern="0" dirty="0">
              <a:solidFill>
                <a:prstClr val="black"/>
              </a:solidFill>
              <a:latin typeface="Arial"/>
            </a:endParaRPr>
          </a:p>
        </p:txBody>
      </p:sp>
      <p:sp>
        <p:nvSpPr>
          <p:cNvPr id="63" name="Rounded Rectangle 12">
            <a:extLst>
              <a:ext uri="{FF2B5EF4-FFF2-40B4-BE49-F238E27FC236}">
                <a16:creationId xmlns:a16="http://schemas.microsoft.com/office/drawing/2014/main" id="{9C07B160-180E-4495-86E2-ED8BCD45284D}"/>
              </a:ext>
            </a:extLst>
          </p:cNvPr>
          <p:cNvSpPr/>
          <p:nvPr/>
        </p:nvSpPr>
        <p:spPr>
          <a:xfrm>
            <a:off x="5514176" y="4557948"/>
            <a:ext cx="223472" cy="189874"/>
          </a:xfrm>
          <a:prstGeom prst="roundRect">
            <a:avLst/>
          </a:prstGeom>
          <a:gradFill rotWithShape="1">
            <a:gsLst>
              <a:gs pos="0">
                <a:srgbClr val="B20838">
                  <a:tint val="50000"/>
                  <a:satMod val="300000"/>
                </a:srgbClr>
              </a:gs>
              <a:gs pos="35000">
                <a:srgbClr val="B20838">
                  <a:tint val="37000"/>
                  <a:satMod val="300000"/>
                </a:srgbClr>
              </a:gs>
              <a:gs pos="100000">
                <a:srgbClr val="B20838">
                  <a:tint val="15000"/>
                  <a:satMod val="350000"/>
                </a:srgbClr>
              </a:gs>
            </a:gsLst>
            <a:lin ang="16200000" scaled="1"/>
          </a:gradFill>
          <a:ln w="9525" cap="flat" cmpd="sng" algn="ctr">
            <a:solidFill>
              <a:srgbClr val="B20838">
                <a:shade val="95000"/>
                <a:satMod val="105000"/>
              </a:srgbClr>
            </a:solidFill>
            <a:prstDash val="solid"/>
          </a:ln>
          <a:effectLst>
            <a:outerShdw blurRad="40000" dist="20000" dir="5400000" rotWithShape="0">
              <a:srgbClr val="000000">
                <a:alpha val="38000"/>
              </a:srgb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0</a:t>
            </a:r>
            <a:endParaRPr lang="en-US" sz="800" kern="0" dirty="0">
              <a:solidFill>
                <a:prstClr val="black"/>
              </a:solidFill>
              <a:latin typeface="Arial"/>
            </a:endParaRPr>
          </a:p>
        </p:txBody>
      </p:sp>
      <p:grpSp>
        <p:nvGrpSpPr>
          <p:cNvPr id="64" name="Group 71">
            <a:extLst>
              <a:ext uri="{FF2B5EF4-FFF2-40B4-BE49-F238E27FC236}">
                <a16:creationId xmlns:a16="http://schemas.microsoft.com/office/drawing/2014/main" id="{40A3AC78-6E4D-4645-AE64-E3AC565394E6}"/>
              </a:ext>
            </a:extLst>
          </p:cNvPr>
          <p:cNvGrpSpPr/>
          <p:nvPr/>
        </p:nvGrpSpPr>
        <p:grpSpPr>
          <a:xfrm>
            <a:off x="3536384" y="4290622"/>
            <a:ext cx="972673" cy="230430"/>
            <a:chOff x="-66694" y="1130300"/>
            <a:chExt cx="533401" cy="228600"/>
          </a:xfrm>
          <a:effectLst>
            <a:outerShdw blurRad="50800" dist="38100" dir="2700000" algn="tl" rotWithShape="0">
              <a:prstClr val="black">
                <a:alpha val="40000"/>
              </a:prstClr>
            </a:outerShdw>
          </a:effectLst>
        </p:grpSpPr>
        <p:cxnSp>
          <p:nvCxnSpPr>
            <p:cNvPr id="65" name="Straight Connector 64">
              <a:extLst>
                <a:ext uri="{FF2B5EF4-FFF2-40B4-BE49-F238E27FC236}">
                  <a16:creationId xmlns:a16="http://schemas.microsoft.com/office/drawing/2014/main" id="{6FCCEBBA-4AFA-44B0-9B1B-06BFF11DD819}"/>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66" name="Straight Connector 65">
              <a:extLst>
                <a:ext uri="{FF2B5EF4-FFF2-40B4-BE49-F238E27FC236}">
                  <a16:creationId xmlns:a16="http://schemas.microsoft.com/office/drawing/2014/main" id="{7EFF91A3-7D22-40DE-A450-C007C555DDCB}"/>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67" name="Straight Connector 66">
              <a:extLst>
                <a:ext uri="{FF2B5EF4-FFF2-40B4-BE49-F238E27FC236}">
                  <a16:creationId xmlns:a16="http://schemas.microsoft.com/office/drawing/2014/main" id="{F0734302-30AB-47DF-836B-F33405B45478}"/>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68" name="Straight Connector 67">
              <a:extLst>
                <a:ext uri="{FF2B5EF4-FFF2-40B4-BE49-F238E27FC236}">
                  <a16:creationId xmlns:a16="http://schemas.microsoft.com/office/drawing/2014/main" id="{87F1C731-BE4D-4EA0-AD0D-14C10B102500}"/>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69" name="Group 71">
            <a:extLst>
              <a:ext uri="{FF2B5EF4-FFF2-40B4-BE49-F238E27FC236}">
                <a16:creationId xmlns:a16="http://schemas.microsoft.com/office/drawing/2014/main" id="{C5CF949C-3DC5-4B86-A2C2-6177410CE434}"/>
              </a:ext>
            </a:extLst>
          </p:cNvPr>
          <p:cNvGrpSpPr/>
          <p:nvPr/>
        </p:nvGrpSpPr>
        <p:grpSpPr>
          <a:xfrm>
            <a:off x="4518405" y="4288792"/>
            <a:ext cx="972673" cy="230430"/>
            <a:chOff x="-66694" y="1130300"/>
            <a:chExt cx="533401" cy="228600"/>
          </a:xfrm>
          <a:effectLst>
            <a:outerShdw blurRad="50800" dist="38100" dir="2700000" algn="tl" rotWithShape="0">
              <a:prstClr val="black">
                <a:alpha val="40000"/>
              </a:prstClr>
            </a:outerShdw>
          </a:effectLst>
        </p:grpSpPr>
        <p:cxnSp>
          <p:nvCxnSpPr>
            <p:cNvPr id="70" name="Straight Connector 69">
              <a:extLst>
                <a:ext uri="{FF2B5EF4-FFF2-40B4-BE49-F238E27FC236}">
                  <a16:creationId xmlns:a16="http://schemas.microsoft.com/office/drawing/2014/main" id="{51720D0F-E378-4CA2-9AE1-395CB703A280}"/>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71" name="Straight Connector 70">
              <a:extLst>
                <a:ext uri="{FF2B5EF4-FFF2-40B4-BE49-F238E27FC236}">
                  <a16:creationId xmlns:a16="http://schemas.microsoft.com/office/drawing/2014/main" id="{DA5ECB5E-8C5D-46ED-93B1-DBA89D7CB884}"/>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72" name="Straight Connector 71">
              <a:extLst>
                <a:ext uri="{FF2B5EF4-FFF2-40B4-BE49-F238E27FC236}">
                  <a16:creationId xmlns:a16="http://schemas.microsoft.com/office/drawing/2014/main" id="{296F5C80-DDDB-40F5-B8B3-A4D7B4950B66}"/>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73" name="Straight Connector 72">
              <a:extLst>
                <a:ext uri="{FF2B5EF4-FFF2-40B4-BE49-F238E27FC236}">
                  <a16:creationId xmlns:a16="http://schemas.microsoft.com/office/drawing/2014/main" id="{CBCB1ADF-677A-4528-8610-792FC3B8C913}"/>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74" name="Group 71">
            <a:extLst>
              <a:ext uri="{FF2B5EF4-FFF2-40B4-BE49-F238E27FC236}">
                <a16:creationId xmlns:a16="http://schemas.microsoft.com/office/drawing/2014/main" id="{BC7568BE-96C1-4F61-BC89-344418CB2700}"/>
              </a:ext>
            </a:extLst>
          </p:cNvPr>
          <p:cNvGrpSpPr/>
          <p:nvPr/>
        </p:nvGrpSpPr>
        <p:grpSpPr>
          <a:xfrm>
            <a:off x="5481730" y="4286962"/>
            <a:ext cx="972673" cy="230430"/>
            <a:chOff x="-66694" y="1130300"/>
            <a:chExt cx="533401" cy="228600"/>
          </a:xfrm>
          <a:effectLst>
            <a:outerShdw blurRad="50800" dist="38100" dir="2700000" algn="tl" rotWithShape="0">
              <a:prstClr val="black">
                <a:alpha val="40000"/>
              </a:prstClr>
            </a:outerShdw>
          </a:effectLst>
        </p:grpSpPr>
        <p:cxnSp>
          <p:nvCxnSpPr>
            <p:cNvPr id="75" name="Straight Connector 74">
              <a:extLst>
                <a:ext uri="{FF2B5EF4-FFF2-40B4-BE49-F238E27FC236}">
                  <a16:creationId xmlns:a16="http://schemas.microsoft.com/office/drawing/2014/main" id="{9A34CC99-1CCC-4A50-9192-8A1F956EAC27}"/>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76" name="Straight Connector 75">
              <a:extLst>
                <a:ext uri="{FF2B5EF4-FFF2-40B4-BE49-F238E27FC236}">
                  <a16:creationId xmlns:a16="http://schemas.microsoft.com/office/drawing/2014/main" id="{6E910AE7-08A6-4FD5-8768-5D2B773F73A5}"/>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77" name="Straight Connector 76">
              <a:extLst>
                <a:ext uri="{FF2B5EF4-FFF2-40B4-BE49-F238E27FC236}">
                  <a16:creationId xmlns:a16="http://schemas.microsoft.com/office/drawing/2014/main" id="{331FB136-0A35-430C-A498-960381F5EF95}"/>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78" name="Straight Connector 77">
              <a:extLst>
                <a:ext uri="{FF2B5EF4-FFF2-40B4-BE49-F238E27FC236}">
                  <a16:creationId xmlns:a16="http://schemas.microsoft.com/office/drawing/2014/main" id="{2475AD62-365F-4C8A-9CD6-0E266B640D3F}"/>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sp>
        <p:nvSpPr>
          <p:cNvPr id="79" name="TextBox 78">
            <a:extLst>
              <a:ext uri="{FF2B5EF4-FFF2-40B4-BE49-F238E27FC236}">
                <a16:creationId xmlns:a16="http://schemas.microsoft.com/office/drawing/2014/main" id="{D67E4BC5-0BA0-4BD0-A98C-A2EDF95DE234}"/>
              </a:ext>
            </a:extLst>
          </p:cNvPr>
          <p:cNvSpPr txBox="1"/>
          <p:nvPr/>
        </p:nvSpPr>
        <p:spPr>
          <a:xfrm>
            <a:off x="6761516" y="4210226"/>
            <a:ext cx="4095467" cy="461665"/>
          </a:xfrm>
          <a:prstGeom prst="rect">
            <a:avLst/>
          </a:prstGeom>
          <a:solidFill>
            <a:srgbClr val="FFFF99"/>
          </a:solidFill>
          <a:ln w="19050">
            <a:solidFill>
              <a:srgbClr val="000000"/>
            </a:solidFill>
          </a:ln>
          <a:effectLst>
            <a:innerShdw blurRad="63500" dist="50800" dir="2700000">
              <a:prstClr val="black">
                <a:alpha val="50000"/>
              </a:prstClr>
            </a:innerShdw>
          </a:effectLst>
        </p:spPr>
        <p:txBody>
          <a:bodyPr wrap="square" rtlCol="0">
            <a:spAutoFit/>
          </a:bodyPr>
          <a:lstStyle/>
          <a:p>
            <a:pPr algn="ctr" defTabSz="457200" fontAlgn="base">
              <a:spcBef>
                <a:spcPct val="0"/>
              </a:spcBef>
              <a:spcAft>
                <a:spcPct val="0"/>
              </a:spcAft>
              <a:defRPr/>
            </a:pPr>
            <a:r>
              <a:rPr lang="en-US" sz="1200" b="1" kern="0" dirty="0">
                <a:solidFill>
                  <a:prstClr val="black"/>
                </a:solidFill>
                <a:ea typeface="ＭＳ Ｐゴシック" pitchFamily="34" charset="-128"/>
                <a:cs typeface="Arial" charset="0"/>
              </a:rPr>
              <a:t>Use 1 mult, but take 4 cycle even if it could be done in 1 cycle using 4 </a:t>
            </a:r>
            <a:r>
              <a:rPr lang="en-US" sz="1200" b="1" kern="0" dirty="0" err="1">
                <a:solidFill>
                  <a:prstClr val="black"/>
                </a:solidFill>
                <a:ea typeface="ＭＳ Ｐゴシック" pitchFamily="34" charset="-128"/>
                <a:cs typeface="Arial" charset="0"/>
              </a:rPr>
              <a:t>mults</a:t>
            </a:r>
            <a:endParaRPr lang="en-US" sz="1200" b="1" kern="0" dirty="0">
              <a:solidFill>
                <a:prstClr val="black"/>
              </a:solidFill>
              <a:ea typeface="ＭＳ Ｐゴシック" pitchFamily="34" charset="-128"/>
              <a:cs typeface="Arial" charset="0"/>
            </a:endParaRPr>
          </a:p>
        </p:txBody>
      </p:sp>
      <p:grpSp>
        <p:nvGrpSpPr>
          <p:cNvPr id="80" name="Group 71">
            <a:extLst>
              <a:ext uri="{FF2B5EF4-FFF2-40B4-BE49-F238E27FC236}">
                <a16:creationId xmlns:a16="http://schemas.microsoft.com/office/drawing/2014/main" id="{45A16555-9AC5-4E61-B305-8BF8031D5323}"/>
              </a:ext>
            </a:extLst>
          </p:cNvPr>
          <p:cNvGrpSpPr/>
          <p:nvPr/>
        </p:nvGrpSpPr>
        <p:grpSpPr>
          <a:xfrm>
            <a:off x="2563662" y="5654178"/>
            <a:ext cx="563535" cy="230430"/>
            <a:chOff x="-66694" y="1130300"/>
            <a:chExt cx="533401" cy="228600"/>
          </a:xfrm>
          <a:effectLst>
            <a:outerShdw blurRad="50800" dist="38100" dir="2700000" algn="tl" rotWithShape="0">
              <a:prstClr val="black">
                <a:alpha val="40000"/>
              </a:prstClr>
            </a:outerShdw>
          </a:effectLst>
        </p:grpSpPr>
        <p:cxnSp>
          <p:nvCxnSpPr>
            <p:cNvPr id="81" name="Straight Connector 80">
              <a:extLst>
                <a:ext uri="{FF2B5EF4-FFF2-40B4-BE49-F238E27FC236}">
                  <a16:creationId xmlns:a16="http://schemas.microsoft.com/office/drawing/2014/main" id="{7A522248-45F9-4756-A513-BE70D6FA7F70}"/>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82" name="Straight Connector 81">
              <a:extLst>
                <a:ext uri="{FF2B5EF4-FFF2-40B4-BE49-F238E27FC236}">
                  <a16:creationId xmlns:a16="http://schemas.microsoft.com/office/drawing/2014/main" id="{7D3A3B91-6C97-447A-AED6-50170E66E2AC}"/>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83" name="Straight Connector 82">
              <a:extLst>
                <a:ext uri="{FF2B5EF4-FFF2-40B4-BE49-F238E27FC236}">
                  <a16:creationId xmlns:a16="http://schemas.microsoft.com/office/drawing/2014/main" id="{AA0A4248-144C-474E-BB2D-6BB850C00546}"/>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84" name="Straight Connector 83">
              <a:extLst>
                <a:ext uri="{FF2B5EF4-FFF2-40B4-BE49-F238E27FC236}">
                  <a16:creationId xmlns:a16="http://schemas.microsoft.com/office/drawing/2014/main" id="{9C93B67E-567C-4A60-A89C-6F1AB3A8BEC1}"/>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sp>
        <p:nvSpPr>
          <p:cNvPr id="85" name="Rounded Rectangle 34">
            <a:extLst>
              <a:ext uri="{FF2B5EF4-FFF2-40B4-BE49-F238E27FC236}">
                <a16:creationId xmlns:a16="http://schemas.microsoft.com/office/drawing/2014/main" id="{1030788F-C858-4289-B7E0-ACEE234B30E6}"/>
              </a:ext>
            </a:extLst>
          </p:cNvPr>
          <p:cNvSpPr/>
          <p:nvPr/>
        </p:nvSpPr>
        <p:spPr>
          <a:xfrm>
            <a:off x="2512876" y="5925237"/>
            <a:ext cx="1156729" cy="228279"/>
          </a:xfrm>
          <a:prstGeom prst="round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3</a:t>
            </a:r>
            <a:endParaRPr lang="en-US" sz="1100" b="1" kern="0" dirty="0">
              <a:solidFill>
                <a:prstClr val="black"/>
              </a:solidFill>
              <a:latin typeface="Arial"/>
            </a:endParaRPr>
          </a:p>
        </p:txBody>
      </p:sp>
      <p:sp>
        <p:nvSpPr>
          <p:cNvPr id="86" name="Rounded Rectangle 36">
            <a:extLst>
              <a:ext uri="{FF2B5EF4-FFF2-40B4-BE49-F238E27FC236}">
                <a16:creationId xmlns:a16="http://schemas.microsoft.com/office/drawing/2014/main" id="{2E433BDB-87C5-4271-AF1E-9969226CBD04}"/>
              </a:ext>
            </a:extLst>
          </p:cNvPr>
          <p:cNvSpPr/>
          <p:nvPr/>
        </p:nvSpPr>
        <p:spPr>
          <a:xfrm>
            <a:off x="3673340" y="5923013"/>
            <a:ext cx="1143000" cy="230430"/>
          </a:xfrm>
          <a:prstGeom prst="roundRect">
            <a:avLst/>
          </a:prstGeom>
          <a:gradFill rotWithShape="1">
            <a:gsLst>
              <a:gs pos="0">
                <a:srgbClr val="3F3F3F">
                  <a:tint val="50000"/>
                  <a:satMod val="300000"/>
                </a:srgbClr>
              </a:gs>
              <a:gs pos="35000">
                <a:srgbClr val="3F3F3F">
                  <a:tint val="37000"/>
                  <a:satMod val="300000"/>
                </a:srgbClr>
              </a:gs>
              <a:gs pos="100000">
                <a:srgbClr val="3F3F3F">
                  <a:tint val="15000"/>
                  <a:satMod val="350000"/>
                </a:srgbClr>
              </a:gs>
            </a:gsLst>
            <a:lin ang="16200000" scaled="1"/>
          </a:gradFill>
          <a:ln w="9525" cap="flat" cmpd="sng" algn="ctr">
            <a:solidFill>
              <a:srgbClr val="3F3F3F">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1</a:t>
            </a:r>
            <a:endParaRPr lang="en-US" sz="800" kern="0" dirty="0">
              <a:solidFill>
                <a:prstClr val="black"/>
              </a:solidFill>
              <a:latin typeface="Arial"/>
            </a:endParaRPr>
          </a:p>
        </p:txBody>
      </p:sp>
      <p:grpSp>
        <p:nvGrpSpPr>
          <p:cNvPr id="87" name="Group 71">
            <a:extLst>
              <a:ext uri="{FF2B5EF4-FFF2-40B4-BE49-F238E27FC236}">
                <a16:creationId xmlns:a16="http://schemas.microsoft.com/office/drawing/2014/main" id="{80D6A841-9810-436E-B816-D9C81D24C23D}"/>
              </a:ext>
            </a:extLst>
          </p:cNvPr>
          <p:cNvGrpSpPr/>
          <p:nvPr/>
        </p:nvGrpSpPr>
        <p:grpSpPr>
          <a:xfrm>
            <a:off x="3127197" y="5654178"/>
            <a:ext cx="563535" cy="230430"/>
            <a:chOff x="-66694" y="1130300"/>
            <a:chExt cx="533401" cy="228600"/>
          </a:xfrm>
          <a:effectLst>
            <a:outerShdw blurRad="50800" dist="38100" dir="2700000" algn="tl" rotWithShape="0">
              <a:prstClr val="black">
                <a:alpha val="40000"/>
              </a:prstClr>
            </a:outerShdw>
          </a:effectLst>
        </p:grpSpPr>
        <p:cxnSp>
          <p:nvCxnSpPr>
            <p:cNvPr id="88" name="Straight Connector 87">
              <a:extLst>
                <a:ext uri="{FF2B5EF4-FFF2-40B4-BE49-F238E27FC236}">
                  <a16:creationId xmlns:a16="http://schemas.microsoft.com/office/drawing/2014/main" id="{ADD11DEC-BE7E-46AE-8D5E-29B4B0716620}"/>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89" name="Straight Connector 88">
              <a:extLst>
                <a:ext uri="{FF2B5EF4-FFF2-40B4-BE49-F238E27FC236}">
                  <a16:creationId xmlns:a16="http://schemas.microsoft.com/office/drawing/2014/main" id="{5739EF9B-AEC8-4132-A463-D13DF761EEF6}"/>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90" name="Straight Connector 89">
              <a:extLst>
                <a:ext uri="{FF2B5EF4-FFF2-40B4-BE49-F238E27FC236}">
                  <a16:creationId xmlns:a16="http://schemas.microsoft.com/office/drawing/2014/main" id="{D9C13656-E666-4A6A-B46B-C267E3BE0DA1}"/>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91" name="Straight Connector 90">
              <a:extLst>
                <a:ext uri="{FF2B5EF4-FFF2-40B4-BE49-F238E27FC236}">
                  <a16:creationId xmlns:a16="http://schemas.microsoft.com/office/drawing/2014/main" id="{DC34359C-340B-42F4-A3DB-3F68CD303927}"/>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92" name="Group 71">
            <a:extLst>
              <a:ext uri="{FF2B5EF4-FFF2-40B4-BE49-F238E27FC236}">
                <a16:creationId xmlns:a16="http://schemas.microsoft.com/office/drawing/2014/main" id="{68DDB17B-091E-4244-83D5-7F405B71568E}"/>
              </a:ext>
            </a:extLst>
          </p:cNvPr>
          <p:cNvGrpSpPr/>
          <p:nvPr/>
        </p:nvGrpSpPr>
        <p:grpSpPr>
          <a:xfrm>
            <a:off x="3699673" y="5652348"/>
            <a:ext cx="563535" cy="230430"/>
            <a:chOff x="-66694" y="1130300"/>
            <a:chExt cx="533401" cy="228600"/>
          </a:xfrm>
          <a:effectLst>
            <a:outerShdw blurRad="50800" dist="38100" dir="2700000" algn="tl" rotWithShape="0">
              <a:prstClr val="black">
                <a:alpha val="40000"/>
              </a:prstClr>
            </a:outerShdw>
          </a:effectLst>
        </p:grpSpPr>
        <p:cxnSp>
          <p:nvCxnSpPr>
            <p:cNvPr id="93" name="Straight Connector 92">
              <a:extLst>
                <a:ext uri="{FF2B5EF4-FFF2-40B4-BE49-F238E27FC236}">
                  <a16:creationId xmlns:a16="http://schemas.microsoft.com/office/drawing/2014/main" id="{587E0EE6-5CD4-49AA-A187-85B0B4DD03D0}"/>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94" name="Straight Connector 93">
              <a:extLst>
                <a:ext uri="{FF2B5EF4-FFF2-40B4-BE49-F238E27FC236}">
                  <a16:creationId xmlns:a16="http://schemas.microsoft.com/office/drawing/2014/main" id="{944ED57A-5700-4FCB-B42A-57CF79A5B648}"/>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95" name="Straight Connector 94">
              <a:extLst>
                <a:ext uri="{FF2B5EF4-FFF2-40B4-BE49-F238E27FC236}">
                  <a16:creationId xmlns:a16="http://schemas.microsoft.com/office/drawing/2014/main" id="{67571FF8-B86C-468B-9E4D-28A200F4E3C1}"/>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96" name="Straight Connector 95">
              <a:extLst>
                <a:ext uri="{FF2B5EF4-FFF2-40B4-BE49-F238E27FC236}">
                  <a16:creationId xmlns:a16="http://schemas.microsoft.com/office/drawing/2014/main" id="{945C27A0-B9E0-4D08-99D2-24A5CD4BC102}"/>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grpSp>
        <p:nvGrpSpPr>
          <p:cNvPr id="97" name="Group 71">
            <a:extLst>
              <a:ext uri="{FF2B5EF4-FFF2-40B4-BE49-F238E27FC236}">
                <a16:creationId xmlns:a16="http://schemas.microsoft.com/office/drawing/2014/main" id="{3D549985-12C6-44F7-9467-BF2519200D5D}"/>
              </a:ext>
            </a:extLst>
          </p:cNvPr>
          <p:cNvGrpSpPr/>
          <p:nvPr/>
        </p:nvGrpSpPr>
        <p:grpSpPr>
          <a:xfrm>
            <a:off x="4253450" y="5650518"/>
            <a:ext cx="563535" cy="230430"/>
            <a:chOff x="-66694" y="1130300"/>
            <a:chExt cx="533401" cy="228600"/>
          </a:xfrm>
          <a:effectLst>
            <a:outerShdw blurRad="50800" dist="38100" dir="2700000" algn="tl" rotWithShape="0">
              <a:prstClr val="black">
                <a:alpha val="40000"/>
              </a:prstClr>
            </a:outerShdw>
          </a:effectLst>
        </p:grpSpPr>
        <p:cxnSp>
          <p:nvCxnSpPr>
            <p:cNvPr id="98" name="Straight Connector 97">
              <a:extLst>
                <a:ext uri="{FF2B5EF4-FFF2-40B4-BE49-F238E27FC236}">
                  <a16:creationId xmlns:a16="http://schemas.microsoft.com/office/drawing/2014/main" id="{62E4EC4E-F7F1-48D1-B608-80EA0C4327E5}"/>
                </a:ext>
              </a:extLst>
            </p:cNvPr>
            <p:cNvCxnSpPr/>
            <p:nvPr/>
          </p:nvCxnSpPr>
          <p:spPr>
            <a:xfrm>
              <a:off x="-66693" y="11303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99" name="Straight Connector 98">
              <a:extLst>
                <a:ext uri="{FF2B5EF4-FFF2-40B4-BE49-F238E27FC236}">
                  <a16:creationId xmlns:a16="http://schemas.microsoft.com/office/drawing/2014/main" id="{3D7D8003-F35C-4360-A1CB-8C51C257EB61}"/>
                </a:ext>
              </a:extLst>
            </p:cNvPr>
            <p:cNvCxnSpPr/>
            <p:nvPr/>
          </p:nvCxnSpPr>
          <p:spPr>
            <a:xfrm rot="5400000">
              <a:off x="85707"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00" name="Straight Connector 99">
              <a:extLst>
                <a:ext uri="{FF2B5EF4-FFF2-40B4-BE49-F238E27FC236}">
                  <a16:creationId xmlns:a16="http://schemas.microsoft.com/office/drawing/2014/main" id="{B4B0C3D6-1AB3-43CC-A4C3-CB92972D5BAB}"/>
                </a:ext>
              </a:extLst>
            </p:cNvPr>
            <p:cNvCxnSpPr/>
            <p:nvPr/>
          </p:nvCxnSpPr>
          <p:spPr>
            <a:xfrm rot="5400000">
              <a:off x="-180994" y="1244600"/>
              <a:ext cx="2286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cxnSp>
          <p:nvCxnSpPr>
            <p:cNvPr id="101" name="Straight Connector 100">
              <a:extLst>
                <a:ext uri="{FF2B5EF4-FFF2-40B4-BE49-F238E27FC236}">
                  <a16:creationId xmlns:a16="http://schemas.microsoft.com/office/drawing/2014/main" id="{4CE7CA15-B102-4700-B605-7A2D1D694A3C}"/>
                </a:ext>
              </a:extLst>
            </p:cNvPr>
            <p:cNvCxnSpPr/>
            <p:nvPr/>
          </p:nvCxnSpPr>
          <p:spPr>
            <a:xfrm>
              <a:off x="200007" y="1358900"/>
              <a:ext cx="266700" cy="0"/>
            </a:xfrm>
            <a:prstGeom prst="line">
              <a:avLst/>
            </a:prstGeom>
            <a:noFill/>
            <a:ln w="25400" cap="flat" cmpd="sng" algn="ctr">
              <a:solidFill>
                <a:srgbClr val="008CA8"/>
              </a:solidFill>
              <a:prstDash val="solid"/>
            </a:ln>
            <a:effectLst>
              <a:outerShdw blurRad="40000" dist="20000" dir="5400000" rotWithShape="0">
                <a:srgbClr val="000000">
                  <a:alpha val="38000"/>
                </a:srgbClr>
              </a:outerShdw>
            </a:effectLst>
          </p:spPr>
        </p:cxnSp>
      </p:grpSp>
      <p:sp>
        <p:nvSpPr>
          <p:cNvPr id="102" name="TextBox 101">
            <a:extLst>
              <a:ext uri="{FF2B5EF4-FFF2-40B4-BE49-F238E27FC236}">
                <a16:creationId xmlns:a16="http://schemas.microsoft.com/office/drawing/2014/main" id="{486E6362-9E83-409E-BB19-632B67050FA3}"/>
              </a:ext>
            </a:extLst>
          </p:cNvPr>
          <p:cNvSpPr txBox="1"/>
          <p:nvPr/>
        </p:nvSpPr>
        <p:spPr>
          <a:xfrm>
            <a:off x="6761468" y="5691852"/>
            <a:ext cx="4213281" cy="461665"/>
          </a:xfrm>
          <a:prstGeom prst="rect">
            <a:avLst/>
          </a:prstGeom>
          <a:solidFill>
            <a:srgbClr val="FFFF99"/>
          </a:solidFill>
          <a:ln w="19050">
            <a:solidFill>
              <a:srgbClr val="000000"/>
            </a:solidFill>
          </a:ln>
          <a:effectLst>
            <a:innerShdw blurRad="63500" dist="50800" dir="2700000">
              <a:prstClr val="black">
                <a:alpha val="50000"/>
              </a:prstClr>
            </a:innerShdw>
          </a:effectLst>
        </p:spPr>
        <p:txBody>
          <a:bodyPr wrap="square" rtlCol="0">
            <a:spAutoFit/>
          </a:bodyPr>
          <a:lstStyle/>
          <a:p>
            <a:pPr algn="ctr" defTabSz="457200" fontAlgn="base">
              <a:spcBef>
                <a:spcPct val="0"/>
              </a:spcBef>
              <a:spcAft>
                <a:spcPct val="0"/>
              </a:spcAft>
              <a:defRPr/>
            </a:pPr>
            <a:r>
              <a:rPr lang="en-US" sz="1200" b="1" kern="0" dirty="0">
                <a:solidFill>
                  <a:prstClr val="black"/>
                </a:solidFill>
                <a:ea typeface="ＭＳ Ｐゴシック" pitchFamily="34" charset="-128"/>
                <a:cs typeface="Arial" charset="0"/>
              </a:rPr>
              <a:t>Same 4 mult operations could be done with 2 pipelined </a:t>
            </a:r>
            <a:r>
              <a:rPr lang="en-US" sz="1200" b="1" kern="0" dirty="0" err="1">
                <a:solidFill>
                  <a:prstClr val="black"/>
                </a:solidFill>
                <a:ea typeface="ＭＳ Ｐゴシック" pitchFamily="34" charset="-128"/>
                <a:cs typeface="Arial" charset="0"/>
              </a:rPr>
              <a:t>mults</a:t>
            </a:r>
            <a:r>
              <a:rPr lang="en-US" sz="1200" b="1" kern="0" dirty="0">
                <a:solidFill>
                  <a:prstClr val="black"/>
                </a:solidFill>
                <a:ea typeface="ＭＳ Ｐゴシック" pitchFamily="34" charset="-128"/>
                <a:cs typeface="Arial" charset="0"/>
              </a:rPr>
              <a:t> (with allocation limiting the </a:t>
            </a:r>
            <a:r>
              <a:rPr lang="en-US" sz="1200" b="1" kern="0" dirty="0" err="1">
                <a:solidFill>
                  <a:prstClr val="black"/>
                </a:solidFill>
                <a:ea typeface="ＭＳ Ｐゴシック" pitchFamily="34" charset="-128"/>
                <a:cs typeface="Arial" charset="0"/>
              </a:rPr>
              <a:t>mults</a:t>
            </a:r>
            <a:r>
              <a:rPr lang="en-US" sz="1200" b="1" kern="0" dirty="0">
                <a:solidFill>
                  <a:prstClr val="black"/>
                </a:solidFill>
                <a:ea typeface="ＭＳ Ｐゴシック" pitchFamily="34" charset="-128"/>
                <a:cs typeface="Arial" charset="0"/>
              </a:rPr>
              <a:t> to 2)</a:t>
            </a:r>
          </a:p>
        </p:txBody>
      </p:sp>
      <p:sp>
        <p:nvSpPr>
          <p:cNvPr id="103" name="Rounded Rectangle 35">
            <a:extLst>
              <a:ext uri="{FF2B5EF4-FFF2-40B4-BE49-F238E27FC236}">
                <a16:creationId xmlns:a16="http://schemas.microsoft.com/office/drawing/2014/main" id="{A02E0A73-2D87-47D9-9FDD-9FC5CB17DED8}"/>
              </a:ext>
            </a:extLst>
          </p:cNvPr>
          <p:cNvSpPr/>
          <p:nvPr/>
        </p:nvSpPr>
        <p:spPr>
          <a:xfrm>
            <a:off x="2512877" y="6155668"/>
            <a:ext cx="1156729" cy="228279"/>
          </a:xfrm>
          <a:prstGeom prst="roundRect">
            <a:avLst/>
          </a:prstGeom>
          <a:gradFill rotWithShape="1">
            <a:gsLst>
              <a:gs pos="0">
                <a:srgbClr val="6D7076">
                  <a:tint val="50000"/>
                  <a:satMod val="300000"/>
                </a:srgbClr>
              </a:gs>
              <a:gs pos="35000">
                <a:srgbClr val="6D7076">
                  <a:tint val="37000"/>
                  <a:satMod val="300000"/>
                </a:srgbClr>
              </a:gs>
              <a:gs pos="100000">
                <a:srgbClr val="6D7076">
                  <a:tint val="15000"/>
                  <a:satMod val="350000"/>
                </a:srgbClr>
              </a:gs>
            </a:gsLst>
            <a:lin ang="16200000" scaled="1"/>
          </a:gradFill>
          <a:ln w="9525" cap="flat" cmpd="sng" algn="ctr">
            <a:solidFill>
              <a:srgbClr val="6D7076">
                <a:shade val="95000"/>
                <a:satMod val="105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2</a:t>
            </a:r>
            <a:endParaRPr lang="en-US" sz="800" kern="0" dirty="0">
              <a:solidFill>
                <a:prstClr val="black"/>
              </a:solidFill>
              <a:latin typeface="Arial"/>
            </a:endParaRPr>
          </a:p>
        </p:txBody>
      </p:sp>
      <p:sp>
        <p:nvSpPr>
          <p:cNvPr id="104" name="Rounded Rectangle 37">
            <a:extLst>
              <a:ext uri="{FF2B5EF4-FFF2-40B4-BE49-F238E27FC236}">
                <a16:creationId xmlns:a16="http://schemas.microsoft.com/office/drawing/2014/main" id="{2BC5A2A6-D478-443E-94E0-A2EC451FFF7C}"/>
              </a:ext>
            </a:extLst>
          </p:cNvPr>
          <p:cNvSpPr/>
          <p:nvPr/>
        </p:nvSpPr>
        <p:spPr>
          <a:xfrm>
            <a:off x="3671575" y="6153443"/>
            <a:ext cx="1144952" cy="230430"/>
          </a:xfrm>
          <a:prstGeom prst="roundRect">
            <a:avLst/>
          </a:prstGeom>
          <a:gradFill rotWithShape="1">
            <a:gsLst>
              <a:gs pos="0">
                <a:srgbClr val="B20838">
                  <a:tint val="50000"/>
                  <a:satMod val="300000"/>
                </a:srgbClr>
              </a:gs>
              <a:gs pos="35000">
                <a:srgbClr val="B20838">
                  <a:tint val="37000"/>
                  <a:satMod val="300000"/>
                </a:srgbClr>
              </a:gs>
              <a:gs pos="100000">
                <a:srgbClr val="B20838">
                  <a:tint val="15000"/>
                  <a:satMod val="350000"/>
                </a:srgbClr>
              </a:gs>
            </a:gsLst>
            <a:lin ang="16200000" scaled="1"/>
          </a:gradFill>
          <a:ln w="9525" cap="flat" cmpd="sng" algn="ctr">
            <a:solidFill>
              <a:srgbClr val="B20838">
                <a:shade val="95000"/>
                <a:satMod val="105000"/>
              </a:srgbClr>
            </a:solidFill>
            <a:prstDash val="solid"/>
          </a:ln>
          <a:effectLst>
            <a:outerShdw blurRad="40000" dist="20000" dir="5400000" rotWithShape="0">
              <a:srgbClr val="000000">
                <a:alpha val="38000"/>
              </a:srgbClr>
            </a:outerShdw>
          </a:effectLst>
        </p:spPr>
        <p:txBody>
          <a:bodyPr rtlCol="0" anchor="ctr"/>
          <a:lstStyle/>
          <a:p>
            <a:pPr algn="ctr" defTabSz="457200" fontAlgn="base">
              <a:spcBef>
                <a:spcPct val="0"/>
              </a:spcBef>
              <a:spcAft>
                <a:spcPct val="0"/>
              </a:spcAft>
              <a:defRPr/>
            </a:pPr>
            <a:r>
              <a:rPr lang="en-US" sz="800" b="1" kern="0" dirty="0">
                <a:solidFill>
                  <a:prstClr val="black"/>
                </a:solidFill>
                <a:latin typeface="Arial"/>
              </a:rPr>
              <a:t>0</a:t>
            </a:r>
            <a:endParaRPr lang="en-US" sz="800" kern="0" dirty="0">
              <a:solidFill>
                <a:prstClr val="black"/>
              </a:solidFill>
              <a:latin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59BEF-98DC-4D43-A84F-158306F20BA1}"/>
              </a:ext>
            </a:extLst>
          </p:cNvPr>
          <p:cNvSpPr>
            <a:spLocks noGrp="1"/>
          </p:cNvSpPr>
          <p:nvPr>
            <p:ph type="title"/>
          </p:nvPr>
        </p:nvSpPr>
        <p:spPr/>
        <p:txBody>
          <a:bodyPr/>
          <a:lstStyle/>
          <a:p>
            <a:r>
              <a:rPr lang="en-US" altLang="zh-CN" dirty="0"/>
              <a:t>Language Support</a:t>
            </a:r>
            <a:endParaRPr lang="zh-CN" altLang="en-US" dirty="0"/>
          </a:p>
        </p:txBody>
      </p:sp>
    </p:spTree>
    <p:extLst>
      <p:ext uri="{BB962C8B-B14F-4D97-AF65-F5344CB8AC3E}">
        <p14:creationId xmlns:p14="http://schemas.microsoft.com/office/powerpoint/2010/main" val="3398426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Comprehensive C Support</a:t>
            </a:r>
          </a:p>
        </p:txBody>
      </p:sp>
      <p:sp>
        <p:nvSpPr>
          <p:cNvPr id="3" name="Content Placeholder 2"/>
          <p:cNvSpPr>
            <a:spLocks noGrp="1"/>
          </p:cNvSpPr>
          <p:nvPr>
            <p:ph idx="1"/>
          </p:nvPr>
        </p:nvSpPr>
        <p:spPr>
          <a:xfrm>
            <a:off x="579119" y="1210056"/>
            <a:ext cx="10515600" cy="4759404"/>
          </a:xfrm>
        </p:spPr>
        <p:txBody>
          <a:bodyPr/>
          <a:lstStyle/>
          <a:p>
            <a:r>
              <a:rPr lang="en-US" sz="1800" dirty="0"/>
              <a:t>A Complete C Validation &amp; Verification Environment</a:t>
            </a:r>
            <a:endParaRPr lang="en-US" sz="2000" dirty="0"/>
          </a:p>
          <a:p>
            <a:pPr lvl="1"/>
            <a:r>
              <a:rPr lang="en-US" sz="1600" dirty="0"/>
              <a:t>Vitis HLS supports complete bit-accurate validation of the C model</a:t>
            </a:r>
          </a:p>
          <a:p>
            <a:pPr lvl="1"/>
            <a:r>
              <a:rPr lang="en-US" sz="1600" dirty="0"/>
              <a:t>Vitis HLS provides a productive C-RTL co-simulation verification solution </a:t>
            </a:r>
          </a:p>
          <a:p>
            <a:r>
              <a:rPr lang="en-US" sz="1800" dirty="0"/>
              <a:t>Vitis HLS supports C, C++ and OpenCL API C kernel</a:t>
            </a:r>
          </a:p>
          <a:p>
            <a:pPr lvl="1"/>
            <a:r>
              <a:rPr lang="en-US" sz="1600" dirty="0"/>
              <a:t>Functions can be written in C and C++</a:t>
            </a:r>
          </a:p>
          <a:p>
            <a:pPr lvl="1"/>
            <a:r>
              <a:rPr lang="en-US" sz="1600" dirty="0"/>
              <a:t>Wide support for coding constructs in C and C++</a:t>
            </a:r>
          </a:p>
          <a:p>
            <a:r>
              <a:rPr lang="en-US" sz="1800" dirty="0"/>
              <a:t>Modeling with bit-accuracy</a:t>
            </a:r>
          </a:p>
          <a:p>
            <a:pPr lvl="1"/>
            <a:r>
              <a:rPr lang="en-US" sz="1600" dirty="0"/>
              <a:t>Supports arbitrary precision types for all input languages</a:t>
            </a:r>
          </a:p>
          <a:p>
            <a:pPr lvl="1"/>
            <a:r>
              <a:rPr lang="en-US" sz="1600" dirty="0"/>
              <a:t>Allowing the exact bit-widths to be modeled and synthesized</a:t>
            </a:r>
          </a:p>
          <a:p>
            <a:r>
              <a:rPr lang="en-US" sz="1800" dirty="0"/>
              <a:t>Floating point support</a:t>
            </a:r>
          </a:p>
          <a:p>
            <a:pPr lvl="1"/>
            <a:r>
              <a:rPr lang="en-US" sz="1600" dirty="0"/>
              <a:t>Support for the use of float and double in the code</a:t>
            </a:r>
          </a:p>
          <a:p>
            <a:pPr lvl="0"/>
            <a:r>
              <a:rPr lang="en-US" sz="1800" dirty="0"/>
              <a:t>Support for OpenCV functions</a:t>
            </a:r>
          </a:p>
          <a:p>
            <a:pPr lvl="1"/>
            <a:r>
              <a:rPr lang="en-US" sz="1600" dirty="0"/>
              <a:t>Enable migration of OpenCV designs into Xilinx FPGA</a:t>
            </a:r>
          </a:p>
          <a:p>
            <a:pPr lvl="1"/>
            <a:r>
              <a:rPr lang="en-US" sz="1600" dirty="0"/>
              <a:t>Libraries target real-time full HD video processing</a:t>
            </a:r>
          </a:p>
          <a:p>
            <a:endParaRPr lang="en-US" dirty="0"/>
          </a:p>
        </p:txBody>
      </p:sp>
      <p:sp>
        <p:nvSpPr>
          <p:cNvPr id="4" name="Slide Number Placeholder 3"/>
          <p:cNvSpPr>
            <a:spLocks noGrp="1"/>
          </p:cNvSpPr>
          <p:nvPr>
            <p:ph type="sldNum" sz="quarter" idx="10"/>
          </p:nvPr>
        </p:nvSpPr>
        <p:spPr/>
        <p:txBody>
          <a:bodyPr/>
          <a:lstStyle/>
          <a:p>
            <a:pPr>
              <a:defRPr/>
            </a:pPr>
            <a:r>
              <a:rPr lang="en-US" dirty="0"/>
              <a:t>Intro to HLS 11- </a:t>
            </a:r>
            <a:fld id="{060BD193-E118-4B16-863C-C8C12C675E3E}" type="slidenum">
              <a:rPr lang="en-US" smtClean="0"/>
              <a:pPr>
                <a:defRPr/>
              </a:pPr>
              <a:t>32</a:t>
            </a:fld>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 and C++ Support</a:t>
            </a:r>
          </a:p>
        </p:txBody>
      </p:sp>
      <p:sp>
        <p:nvSpPr>
          <p:cNvPr id="3" name="Content Placeholder 2"/>
          <p:cNvSpPr>
            <a:spLocks noGrp="1"/>
          </p:cNvSpPr>
          <p:nvPr>
            <p:ph idx="1"/>
          </p:nvPr>
        </p:nvSpPr>
        <p:spPr/>
        <p:txBody>
          <a:bodyPr/>
          <a:lstStyle/>
          <a:p>
            <a:r>
              <a:rPr lang="en-US" dirty="0"/>
              <a:t>The vast majority of C and C++ is supported</a:t>
            </a:r>
          </a:p>
          <a:p>
            <a:pPr lvl="1"/>
            <a:r>
              <a:rPr lang="en-US" dirty="0"/>
              <a:t>Provided it is statically defined at </a:t>
            </a:r>
            <a:r>
              <a:rPr lang="en-US" b="1" u="sng" dirty="0"/>
              <a:t>compile time</a:t>
            </a:r>
          </a:p>
          <a:p>
            <a:pPr lvl="1"/>
            <a:r>
              <a:rPr lang="en-US" dirty="0"/>
              <a:t>If it’s not defined until </a:t>
            </a:r>
            <a:r>
              <a:rPr lang="en-US" b="1" u="sng" dirty="0"/>
              <a:t>run time</a:t>
            </a:r>
            <a:r>
              <a:rPr lang="en-US" dirty="0"/>
              <a:t>, it won’ be synthesizable</a:t>
            </a:r>
          </a:p>
          <a:p>
            <a:endParaRPr lang="en-US" dirty="0"/>
          </a:p>
          <a:p>
            <a:r>
              <a:rPr lang="en-US" dirty="0"/>
              <a:t>Any of the two variants of C can be used</a:t>
            </a:r>
          </a:p>
          <a:p>
            <a:pPr lvl="1"/>
            <a:r>
              <a:rPr lang="en-US" dirty="0"/>
              <a:t>If C is used, Vitis HLS expects the file extensions to be .c</a:t>
            </a:r>
          </a:p>
          <a:p>
            <a:pPr lvl="1"/>
            <a:r>
              <a:rPr lang="en-US" dirty="0"/>
              <a:t>For C++ it expects file extensions .</a:t>
            </a:r>
            <a:r>
              <a:rPr lang="en-US" dirty="0" err="1"/>
              <a:t>cpp</a:t>
            </a:r>
            <a:endParaRPr lang="en-US" dirty="0"/>
          </a:p>
          <a:p>
            <a:endParaRPr lang="en-US" dirty="0"/>
          </a:p>
          <a:p>
            <a:endParaRPr lang="en-US" dirty="0"/>
          </a:p>
          <a:p>
            <a:pPr lvl="1"/>
            <a:endParaRPr lang="en-US" dirty="0"/>
          </a:p>
          <a:p>
            <a:pPr lvl="1"/>
            <a:endParaRPr lang="en-US" dirty="0"/>
          </a:p>
        </p:txBody>
      </p:sp>
      <p:sp>
        <p:nvSpPr>
          <p:cNvPr id="4" name="Slide Number Placeholder 3"/>
          <p:cNvSpPr>
            <a:spLocks noGrp="1"/>
          </p:cNvSpPr>
          <p:nvPr>
            <p:ph type="sldNum" sz="quarter" idx="10"/>
          </p:nvPr>
        </p:nvSpPr>
        <p:spPr/>
        <p:txBody>
          <a:bodyPr/>
          <a:lstStyle/>
          <a:p>
            <a:pPr>
              <a:defRPr/>
            </a:pPr>
            <a:r>
              <a:rPr lang="en-US" dirty="0"/>
              <a:t>Intro to HLS 11- </a:t>
            </a:r>
            <a:fld id="{060BD193-E118-4B16-863C-C8C12C675E3E}" type="slidenum">
              <a:rPr lang="en-US" smtClean="0"/>
              <a:pPr>
                <a:defRPr/>
              </a:pPr>
              <a:t>33</a:t>
            </a:fld>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179F2-D4FD-4732-9C24-20CBFDE8F675}"/>
              </a:ext>
            </a:extLst>
          </p:cNvPr>
          <p:cNvSpPr>
            <a:spLocks noGrp="1"/>
          </p:cNvSpPr>
          <p:nvPr>
            <p:ph type="title"/>
          </p:nvPr>
        </p:nvSpPr>
        <p:spPr/>
        <p:txBody>
          <a:bodyPr/>
          <a:lstStyle/>
          <a:p>
            <a:pPr>
              <a:spcBef>
                <a:spcPts val="600"/>
              </a:spcBef>
            </a:pPr>
            <a:r>
              <a:rPr lang="en-US" altLang="zh-CN" dirty="0">
                <a:solidFill>
                  <a:srgbClr val="FFFFFF"/>
                </a:solidFill>
              </a:rPr>
              <a:t>Validation Flow</a:t>
            </a:r>
          </a:p>
        </p:txBody>
      </p:sp>
    </p:spTree>
    <p:extLst>
      <p:ext uri="{BB962C8B-B14F-4D97-AF65-F5344CB8AC3E}">
        <p14:creationId xmlns:p14="http://schemas.microsoft.com/office/powerpoint/2010/main" val="256153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88533" y="1621556"/>
            <a:ext cx="5344920" cy="4518812"/>
          </a:xfrm>
          <a:prstGeom prst="rect">
            <a:avLst/>
          </a:prstGeom>
        </p:spPr>
      </p:pic>
      <p:sp>
        <p:nvSpPr>
          <p:cNvPr id="4" name="Title 3"/>
          <p:cNvSpPr>
            <a:spLocks noGrp="1"/>
          </p:cNvSpPr>
          <p:nvPr>
            <p:ph type="title"/>
          </p:nvPr>
        </p:nvSpPr>
        <p:spPr/>
        <p:txBody>
          <a:bodyPr/>
          <a:lstStyle/>
          <a:p>
            <a:r>
              <a:rPr lang="en-US" dirty="0"/>
              <a:t>C Validation and RTL Verification</a:t>
            </a:r>
          </a:p>
        </p:txBody>
      </p:sp>
      <p:sp>
        <p:nvSpPr>
          <p:cNvPr id="2" name="Content Placeholder 1"/>
          <p:cNvSpPr>
            <a:spLocks noGrp="1"/>
          </p:cNvSpPr>
          <p:nvPr>
            <p:ph sz="half" idx="1"/>
          </p:nvPr>
        </p:nvSpPr>
        <p:spPr/>
        <p:txBody>
          <a:bodyPr/>
          <a:lstStyle/>
          <a:p>
            <a:r>
              <a:rPr lang="en-US" dirty="0">
                <a:solidFill>
                  <a:srgbClr val="008CA8"/>
                </a:solidFill>
                <a:ea typeface="ＭＳ Ｐゴシック" pitchFamily="24" charset="-128"/>
                <a:cs typeface="ＭＳ Ｐゴシック" pitchFamily="24" charset="-128"/>
              </a:rPr>
              <a:t>There are two steps to verifying the design</a:t>
            </a:r>
          </a:p>
          <a:p>
            <a:pPr marL="742950" lvl="1" indent="-285750" defTabSz="457200">
              <a:buFont typeface="Arial" charset="0"/>
              <a:buChar char="–"/>
              <a:defRPr/>
            </a:pPr>
            <a:r>
              <a:rPr lang="en-US" dirty="0">
                <a:solidFill>
                  <a:prstClr val="black"/>
                </a:solidFill>
                <a:ea typeface="ＭＳ Ｐゴシック" pitchFamily="24" charset="-128"/>
                <a:cs typeface="Arial" charset="0"/>
              </a:rPr>
              <a:t>Pre-synthesis: C </a:t>
            </a:r>
            <a:r>
              <a:rPr lang="en-US" b="1" i="1" dirty="0">
                <a:solidFill>
                  <a:prstClr val="black"/>
                </a:solidFill>
                <a:ea typeface="ＭＳ Ｐゴシック" pitchFamily="24" charset="-128"/>
                <a:cs typeface="Arial" charset="0"/>
              </a:rPr>
              <a:t>Validation</a:t>
            </a:r>
          </a:p>
          <a:p>
            <a:pPr marL="1143000" lvl="2" indent="-228600" defTabSz="457200">
              <a:buFont typeface="Arial" charset="0"/>
              <a:buChar char="•"/>
              <a:defRPr/>
            </a:pPr>
            <a:r>
              <a:rPr lang="en-US" dirty="0">
                <a:solidFill>
                  <a:prstClr val="black"/>
                </a:solidFill>
                <a:ea typeface="ＭＳ Ｐゴシック" pitchFamily="24" charset="-128"/>
                <a:cs typeface="Arial" charset="0"/>
              </a:rPr>
              <a:t>Validate the algorithm is correct</a:t>
            </a:r>
          </a:p>
          <a:p>
            <a:pPr marL="742950" lvl="1" indent="-285750" defTabSz="457200">
              <a:buFont typeface="Arial" charset="0"/>
              <a:buChar char="–"/>
              <a:defRPr/>
            </a:pPr>
            <a:r>
              <a:rPr lang="en-US" dirty="0">
                <a:solidFill>
                  <a:prstClr val="black"/>
                </a:solidFill>
                <a:ea typeface="ＭＳ Ｐゴシック" pitchFamily="24" charset="-128"/>
                <a:cs typeface="Arial" charset="0"/>
              </a:rPr>
              <a:t>Post-synthesis: RTL </a:t>
            </a:r>
            <a:r>
              <a:rPr lang="en-US" b="1" i="1" dirty="0">
                <a:solidFill>
                  <a:prstClr val="black"/>
                </a:solidFill>
                <a:ea typeface="ＭＳ Ｐゴシック" pitchFamily="24" charset="-128"/>
                <a:cs typeface="Arial" charset="0"/>
              </a:rPr>
              <a:t>Verification</a:t>
            </a:r>
          </a:p>
          <a:p>
            <a:pPr marL="1143000" lvl="2" indent="-228600" defTabSz="457200">
              <a:buFont typeface="Arial" charset="0"/>
              <a:buChar char="•"/>
              <a:defRPr/>
            </a:pPr>
            <a:r>
              <a:rPr lang="en-US" dirty="0">
                <a:solidFill>
                  <a:prstClr val="black"/>
                </a:solidFill>
                <a:ea typeface="ＭＳ Ｐゴシック" pitchFamily="24" charset="-128"/>
                <a:cs typeface="Arial" charset="0"/>
              </a:rPr>
              <a:t>Verify the RTL is correct</a:t>
            </a:r>
          </a:p>
          <a:p>
            <a:r>
              <a:rPr lang="en-US" dirty="0">
                <a:solidFill>
                  <a:srgbClr val="008CA8"/>
                </a:solidFill>
                <a:ea typeface="ＭＳ Ｐゴシック" pitchFamily="24" charset="-128"/>
                <a:cs typeface="ＭＳ Ｐゴシック" pitchFamily="24" charset="-128"/>
              </a:rPr>
              <a:t>C validation</a:t>
            </a:r>
          </a:p>
          <a:p>
            <a:pPr marL="742950" lvl="1" indent="-285750" defTabSz="457200">
              <a:buFont typeface="Arial" charset="0"/>
              <a:buChar char="–"/>
              <a:defRPr/>
            </a:pPr>
            <a:r>
              <a:rPr lang="en-US" dirty="0">
                <a:solidFill>
                  <a:prstClr val="black"/>
                </a:solidFill>
                <a:ea typeface="ＭＳ Ｐゴシック" pitchFamily="24" charset="-128"/>
                <a:cs typeface="Arial" charset="0"/>
              </a:rPr>
              <a:t>A </a:t>
            </a:r>
            <a:r>
              <a:rPr lang="en-US" b="1" dirty="0">
                <a:solidFill>
                  <a:prstClr val="black"/>
                </a:solidFill>
                <a:ea typeface="ＭＳ Ｐゴシック" pitchFamily="24" charset="-128"/>
                <a:cs typeface="Arial" charset="0"/>
              </a:rPr>
              <a:t>HUGE</a:t>
            </a:r>
            <a:r>
              <a:rPr lang="en-US" dirty="0">
                <a:solidFill>
                  <a:prstClr val="black"/>
                </a:solidFill>
                <a:ea typeface="ＭＳ Ｐゴシック" pitchFamily="24" charset="-128"/>
                <a:cs typeface="Arial" charset="0"/>
              </a:rPr>
              <a:t> reason users want to use HLS</a:t>
            </a:r>
          </a:p>
          <a:p>
            <a:pPr marL="1143000" lvl="2" indent="-228600" defTabSz="457200">
              <a:buFont typeface="Arial" charset="0"/>
              <a:buChar char="•"/>
              <a:defRPr/>
            </a:pPr>
            <a:r>
              <a:rPr lang="en-US" dirty="0">
                <a:solidFill>
                  <a:prstClr val="black"/>
                </a:solidFill>
                <a:ea typeface="ＭＳ Ｐゴシック" pitchFamily="24" charset="-128"/>
                <a:cs typeface="Arial" charset="0"/>
              </a:rPr>
              <a:t>Fast, free verification</a:t>
            </a:r>
          </a:p>
          <a:p>
            <a:pPr marL="685800" lvl="1" defTabSz="457200">
              <a:buFont typeface="Arial" pitchFamily="34" charset="0"/>
              <a:buChar char="−"/>
            </a:pPr>
            <a:r>
              <a:rPr lang="en-US" dirty="0">
                <a:solidFill>
                  <a:prstClr val="black"/>
                </a:solidFill>
                <a:ea typeface="ＭＳ Ｐゴシック" pitchFamily="24" charset="-128"/>
                <a:cs typeface="Arial" charset="0"/>
              </a:rPr>
              <a:t>Validate the algorithm is correct </a:t>
            </a:r>
            <a:r>
              <a:rPr lang="en-US" b="1" u="sng" dirty="0">
                <a:solidFill>
                  <a:prstClr val="black"/>
                </a:solidFill>
                <a:ea typeface="ＭＳ Ｐゴシック" pitchFamily="24" charset="-128"/>
                <a:cs typeface="Arial" charset="0"/>
              </a:rPr>
              <a:t>before</a:t>
            </a:r>
            <a:r>
              <a:rPr lang="en-US" dirty="0">
                <a:solidFill>
                  <a:prstClr val="black"/>
                </a:solidFill>
                <a:ea typeface="ＭＳ Ｐゴシック" pitchFamily="24" charset="-128"/>
                <a:cs typeface="Arial" charset="0"/>
              </a:rPr>
              <a:t> synthesis</a:t>
            </a:r>
          </a:p>
          <a:p>
            <a:pPr marL="1143000" lvl="2" indent="-228600" defTabSz="457200">
              <a:buFont typeface="Arial" pitchFamily="34" charset="0"/>
              <a:buChar char="•"/>
            </a:pPr>
            <a:r>
              <a:rPr lang="en-US" dirty="0">
                <a:solidFill>
                  <a:prstClr val="black"/>
                </a:solidFill>
                <a:ea typeface="ＭＳ Ｐゴシック" pitchFamily="24" charset="-128"/>
                <a:cs typeface="Arial" charset="0"/>
              </a:rPr>
              <a:t>Follow the test bench tips given over</a:t>
            </a:r>
          </a:p>
          <a:p>
            <a:r>
              <a:rPr lang="en-US" dirty="0">
                <a:solidFill>
                  <a:srgbClr val="008CA8"/>
                </a:solidFill>
                <a:ea typeface="ＭＳ Ｐゴシック" pitchFamily="24" charset="-128"/>
                <a:cs typeface="ＭＳ Ｐゴシック" pitchFamily="24" charset="-128"/>
              </a:rPr>
              <a:t>RTL Verification</a:t>
            </a:r>
          </a:p>
          <a:p>
            <a:pPr lvl="1"/>
            <a:r>
              <a:rPr lang="en-US" dirty="0">
                <a:solidFill>
                  <a:prstClr val="black"/>
                </a:solidFill>
                <a:ea typeface="ＭＳ Ｐゴシック" pitchFamily="24" charset="-128"/>
                <a:cs typeface="Arial" charset="0"/>
              </a:rPr>
              <a:t>Vitis HLS can co-simulate the RTL with the </a:t>
            </a:r>
            <a:br>
              <a:rPr lang="en-US" dirty="0">
                <a:solidFill>
                  <a:prstClr val="black"/>
                </a:solidFill>
                <a:ea typeface="ＭＳ Ｐゴシック" pitchFamily="24" charset="-128"/>
                <a:cs typeface="Arial" charset="0"/>
              </a:rPr>
            </a:br>
            <a:r>
              <a:rPr lang="en-US" dirty="0">
                <a:solidFill>
                  <a:prstClr val="black"/>
                </a:solidFill>
                <a:ea typeface="ＭＳ Ｐゴシック" pitchFamily="24" charset="-128"/>
                <a:cs typeface="Arial" charset="0"/>
              </a:rPr>
              <a:t>original test bench</a:t>
            </a:r>
          </a:p>
          <a:p>
            <a:pPr lvl="1"/>
            <a:endParaRPr lang="en-US" dirty="0"/>
          </a:p>
        </p:txBody>
      </p:sp>
      <p:sp>
        <p:nvSpPr>
          <p:cNvPr id="3" name="Slide Number Placeholder 2"/>
          <p:cNvSpPr>
            <a:spLocks noGrp="1"/>
          </p:cNvSpPr>
          <p:nvPr>
            <p:ph type="sldNum" sz="quarter" idx="10"/>
          </p:nvPr>
        </p:nvSpPr>
        <p:spPr/>
        <p:txBody>
          <a:bodyPr/>
          <a:lstStyle/>
          <a:p>
            <a:pPr>
              <a:defRPr/>
            </a:pPr>
            <a:r>
              <a:rPr lang="en-US" dirty="0"/>
              <a:t>Intro to HLS 11- </a:t>
            </a:r>
            <a:fld id="{060BD193-E118-4B16-863C-C8C12C675E3E}" type="slidenum">
              <a:rPr lang="en-US" smtClean="0"/>
              <a:pPr>
                <a:defRPr/>
              </a:pPr>
              <a:t>35</a:t>
            </a:fld>
            <a:endParaRPr lang="en-US" dirty="0"/>
          </a:p>
        </p:txBody>
      </p:sp>
      <p:sp>
        <p:nvSpPr>
          <p:cNvPr id="28" name="TextBox 27"/>
          <p:cNvSpPr txBox="1"/>
          <p:nvPr/>
        </p:nvSpPr>
        <p:spPr>
          <a:xfrm>
            <a:off x="8543356" y="3429001"/>
            <a:ext cx="1035275" cy="307777"/>
          </a:xfrm>
          <a:prstGeom prst="rect">
            <a:avLst/>
          </a:prstGeom>
          <a:solidFill>
            <a:srgbClr val="FFFF00"/>
          </a:solidFill>
          <a:ln>
            <a:solidFill>
              <a:schemeClr val="tx1"/>
            </a:solidFill>
          </a:ln>
        </p:spPr>
        <p:txBody>
          <a:bodyPr wrap="square" rtlCol="0">
            <a:spAutoFit/>
          </a:bodyPr>
          <a:lstStyle/>
          <a:p>
            <a:r>
              <a:rPr lang="en-US" sz="1400" b="1" dirty="0"/>
              <a:t>Validate C</a:t>
            </a:r>
          </a:p>
        </p:txBody>
      </p:sp>
      <p:sp>
        <p:nvSpPr>
          <p:cNvPr id="30" name="TextBox 29"/>
          <p:cNvSpPr txBox="1"/>
          <p:nvPr/>
        </p:nvSpPr>
        <p:spPr>
          <a:xfrm>
            <a:off x="8503502" y="5082556"/>
            <a:ext cx="1114981" cy="307777"/>
          </a:xfrm>
          <a:prstGeom prst="rect">
            <a:avLst/>
          </a:prstGeom>
          <a:solidFill>
            <a:srgbClr val="FFFF00"/>
          </a:solidFill>
          <a:ln>
            <a:solidFill>
              <a:schemeClr val="tx1"/>
            </a:solidFill>
          </a:ln>
        </p:spPr>
        <p:txBody>
          <a:bodyPr wrap="square" rtlCol="0">
            <a:spAutoFit/>
          </a:bodyPr>
          <a:lstStyle/>
          <a:p>
            <a:r>
              <a:rPr lang="en-US" sz="1400" b="1" dirty="0"/>
              <a:t>Verify RTL</a:t>
            </a:r>
          </a:p>
        </p:txBody>
      </p:sp>
      <p:sp>
        <p:nvSpPr>
          <p:cNvPr id="7" name="矩形 6">
            <a:extLst>
              <a:ext uri="{FF2B5EF4-FFF2-40B4-BE49-F238E27FC236}">
                <a16:creationId xmlns:a16="http://schemas.microsoft.com/office/drawing/2014/main" id="{CC10E091-97D0-4713-8FC5-BE1ABBD92005}"/>
              </a:ext>
            </a:extLst>
          </p:cNvPr>
          <p:cNvSpPr/>
          <p:nvPr/>
        </p:nvSpPr>
        <p:spPr>
          <a:xfrm>
            <a:off x="8829349" y="2042445"/>
            <a:ext cx="504246" cy="153824"/>
          </a:xfrm>
          <a:prstGeom prst="rect">
            <a:avLst/>
          </a:prstGeom>
          <a:solidFill>
            <a:srgbClr val="4F81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矩形 11">
            <a:extLst>
              <a:ext uri="{FF2B5EF4-FFF2-40B4-BE49-F238E27FC236}">
                <a16:creationId xmlns:a16="http://schemas.microsoft.com/office/drawing/2014/main" id="{6F030F10-5134-4821-8467-F28292F845DC}"/>
              </a:ext>
            </a:extLst>
          </p:cNvPr>
          <p:cNvSpPr/>
          <p:nvPr/>
        </p:nvSpPr>
        <p:spPr>
          <a:xfrm>
            <a:off x="8634720" y="3992052"/>
            <a:ext cx="510869" cy="218655"/>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2F2F2"/>
              </a:solidFill>
            </a:endParaRPr>
          </a:p>
        </p:txBody>
      </p:sp>
      <p:sp>
        <p:nvSpPr>
          <p:cNvPr id="13" name="文本框 12">
            <a:extLst>
              <a:ext uri="{FF2B5EF4-FFF2-40B4-BE49-F238E27FC236}">
                <a16:creationId xmlns:a16="http://schemas.microsoft.com/office/drawing/2014/main" id="{CE251DB7-5188-4D25-9CFD-957506D8E7CB}"/>
              </a:ext>
            </a:extLst>
          </p:cNvPr>
          <p:cNvSpPr txBox="1"/>
          <p:nvPr/>
        </p:nvSpPr>
        <p:spPr>
          <a:xfrm>
            <a:off x="8707672" y="3973930"/>
            <a:ext cx="809522" cy="276999"/>
          </a:xfrm>
          <a:prstGeom prst="rect">
            <a:avLst/>
          </a:prstGeom>
          <a:noFill/>
        </p:spPr>
        <p:txBody>
          <a:bodyPr wrap="square" rtlCol="0">
            <a:spAutoFit/>
          </a:bodyPr>
          <a:lstStyle/>
          <a:p>
            <a:r>
              <a:rPr lang="en-US" sz="1200" b="1" dirty="0">
                <a:solidFill>
                  <a:srgbClr val="322E2B"/>
                </a:solidFill>
              </a:rPr>
              <a:t>Vitis</a:t>
            </a:r>
          </a:p>
        </p:txBody>
      </p:sp>
      <p:sp>
        <p:nvSpPr>
          <p:cNvPr id="15" name="矩形 14">
            <a:extLst>
              <a:ext uri="{FF2B5EF4-FFF2-40B4-BE49-F238E27FC236}">
                <a16:creationId xmlns:a16="http://schemas.microsoft.com/office/drawing/2014/main" id="{4B958721-3179-45CD-A8CC-D9DC4A47C738}"/>
              </a:ext>
            </a:extLst>
          </p:cNvPr>
          <p:cNvSpPr/>
          <p:nvPr/>
        </p:nvSpPr>
        <p:spPr>
          <a:xfrm>
            <a:off x="10107304" y="5576383"/>
            <a:ext cx="823633" cy="429563"/>
          </a:xfrm>
          <a:prstGeom prst="rect">
            <a:avLst/>
          </a:prstGeom>
          <a:solidFill>
            <a:srgbClr val="FDEA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矩形 16">
            <a:extLst>
              <a:ext uri="{FF2B5EF4-FFF2-40B4-BE49-F238E27FC236}">
                <a16:creationId xmlns:a16="http://schemas.microsoft.com/office/drawing/2014/main" id="{F470F7B4-4558-4BB3-9FAD-11BB43421615}"/>
              </a:ext>
            </a:extLst>
          </p:cNvPr>
          <p:cNvSpPr/>
          <p:nvPr/>
        </p:nvSpPr>
        <p:spPr>
          <a:xfrm>
            <a:off x="11003889" y="5576383"/>
            <a:ext cx="559436" cy="484627"/>
          </a:xfrm>
          <a:prstGeom prst="rect">
            <a:avLst/>
          </a:prstGeom>
          <a:solidFill>
            <a:srgbClr val="FDEA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文本框 17">
            <a:extLst>
              <a:ext uri="{FF2B5EF4-FFF2-40B4-BE49-F238E27FC236}">
                <a16:creationId xmlns:a16="http://schemas.microsoft.com/office/drawing/2014/main" id="{26D3F1E8-D7F8-4FBE-8A20-F8511CF53F09}"/>
              </a:ext>
            </a:extLst>
          </p:cNvPr>
          <p:cNvSpPr txBox="1"/>
          <p:nvPr/>
        </p:nvSpPr>
        <p:spPr>
          <a:xfrm>
            <a:off x="10859273" y="5616195"/>
            <a:ext cx="910657" cy="369332"/>
          </a:xfrm>
          <a:prstGeom prst="rect">
            <a:avLst/>
          </a:prstGeom>
          <a:noFill/>
        </p:spPr>
        <p:txBody>
          <a:bodyPr wrap="square" rtlCol="0">
            <a:spAutoFit/>
          </a:bodyPr>
          <a:lstStyle/>
          <a:p>
            <a:pPr algn="ctr"/>
            <a:r>
              <a:rPr lang="en-US" sz="900" b="1" dirty="0">
                <a:solidFill>
                  <a:srgbClr val="322E2B"/>
                </a:solidFill>
              </a:rPr>
              <a:t>Vitis Model Composer</a:t>
            </a:r>
          </a:p>
        </p:txBody>
      </p:sp>
      <p:sp>
        <p:nvSpPr>
          <p:cNvPr id="19" name="文本框 18">
            <a:extLst>
              <a:ext uri="{FF2B5EF4-FFF2-40B4-BE49-F238E27FC236}">
                <a16:creationId xmlns:a16="http://schemas.microsoft.com/office/drawing/2014/main" id="{A21A12C5-5F54-4014-BE48-C8281028F573}"/>
              </a:ext>
            </a:extLst>
          </p:cNvPr>
          <p:cNvSpPr txBox="1"/>
          <p:nvPr/>
        </p:nvSpPr>
        <p:spPr>
          <a:xfrm>
            <a:off x="10035161" y="5534045"/>
            <a:ext cx="910657" cy="507831"/>
          </a:xfrm>
          <a:prstGeom prst="rect">
            <a:avLst/>
          </a:prstGeom>
          <a:noFill/>
        </p:spPr>
        <p:txBody>
          <a:bodyPr wrap="square" rtlCol="0">
            <a:spAutoFit/>
          </a:bodyPr>
          <a:lstStyle/>
          <a:p>
            <a:pPr algn="ctr"/>
            <a:r>
              <a:rPr lang="en-US" sz="900" b="1" dirty="0">
                <a:solidFill>
                  <a:srgbClr val="322E2B"/>
                </a:solidFill>
              </a:rPr>
              <a:t>Vitis Development</a:t>
            </a:r>
          </a:p>
          <a:p>
            <a:pPr algn="ctr"/>
            <a:r>
              <a:rPr lang="en-US" sz="900" b="1" dirty="0">
                <a:solidFill>
                  <a:srgbClr val="322E2B"/>
                </a:solidFill>
              </a:rPr>
              <a:t>Environment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 Function Test Bench</a:t>
            </a:r>
          </a:p>
        </p:txBody>
      </p:sp>
      <p:sp>
        <p:nvSpPr>
          <p:cNvPr id="3" name="Content Placeholder 2"/>
          <p:cNvSpPr>
            <a:spLocks noGrp="1"/>
          </p:cNvSpPr>
          <p:nvPr>
            <p:ph idx="1"/>
          </p:nvPr>
        </p:nvSpPr>
        <p:spPr>
          <a:xfrm>
            <a:off x="647700" y="1049298"/>
            <a:ext cx="10515600" cy="4759404"/>
          </a:xfrm>
        </p:spPr>
        <p:txBody>
          <a:bodyPr/>
          <a:lstStyle/>
          <a:p>
            <a:r>
              <a:rPr lang="en-US" dirty="0"/>
              <a:t>The test bench is the level above the function</a:t>
            </a:r>
          </a:p>
          <a:p>
            <a:pPr lvl="1"/>
            <a:r>
              <a:rPr lang="en-US" dirty="0"/>
              <a:t>The main() function is </a:t>
            </a:r>
            <a:r>
              <a:rPr lang="en-US" u="sng" dirty="0"/>
              <a:t>above</a:t>
            </a:r>
            <a:r>
              <a:rPr lang="en-US" dirty="0"/>
              <a:t> the function to be synthesized</a:t>
            </a:r>
          </a:p>
          <a:p>
            <a:r>
              <a:rPr lang="en-US" dirty="0"/>
              <a:t>Good Practices</a:t>
            </a:r>
          </a:p>
          <a:p>
            <a:pPr lvl="1"/>
            <a:r>
              <a:rPr lang="en-US" dirty="0"/>
              <a:t>The test bench should compare the results with golden data</a:t>
            </a:r>
          </a:p>
          <a:p>
            <a:pPr lvl="2"/>
            <a:r>
              <a:rPr lang="en-US" dirty="0"/>
              <a:t>Automatically confirms any changes to the C are validated and verifies the RTL is correct</a:t>
            </a:r>
          </a:p>
          <a:p>
            <a:pPr lvl="1"/>
            <a:r>
              <a:rPr lang="en-US" dirty="0"/>
              <a:t>The test bench should return a 0 if the self-checking is correct</a:t>
            </a:r>
          </a:p>
          <a:p>
            <a:pPr lvl="2"/>
            <a:r>
              <a:rPr lang="en-US" dirty="0"/>
              <a:t>Anything but a 0 (zero) will cause RTL verification to issue a FAIL message</a:t>
            </a:r>
          </a:p>
          <a:p>
            <a:pPr lvl="2"/>
            <a:r>
              <a:rPr lang="en-US" dirty="0"/>
              <a:t>Function main() should expect an integer return (non-void)</a:t>
            </a:r>
          </a:p>
          <a:p>
            <a:pPr lvl="1"/>
            <a:endParaRPr lang="en-US" dirty="0"/>
          </a:p>
        </p:txBody>
      </p:sp>
      <p:sp>
        <p:nvSpPr>
          <p:cNvPr id="4" name="Slide Number Placeholder 3"/>
          <p:cNvSpPr>
            <a:spLocks noGrp="1"/>
          </p:cNvSpPr>
          <p:nvPr>
            <p:ph type="sldNum" sz="quarter" idx="10"/>
          </p:nvPr>
        </p:nvSpPr>
        <p:spPr/>
        <p:txBody>
          <a:bodyPr/>
          <a:lstStyle/>
          <a:p>
            <a:pPr>
              <a:defRPr/>
            </a:pPr>
            <a:r>
              <a:rPr lang="en-US" dirty="0"/>
              <a:t>Intro to HLS 11- </a:t>
            </a:r>
            <a:fld id="{060BD193-E118-4B16-863C-C8C12C675E3E}" type="slidenum">
              <a:rPr lang="en-US" smtClean="0"/>
              <a:pPr>
                <a:defRPr/>
              </a:pPr>
              <a:t>36</a:t>
            </a:fld>
            <a:endParaRPr lang="en-US" dirty="0"/>
          </a:p>
        </p:txBody>
      </p:sp>
      <p:sp>
        <p:nvSpPr>
          <p:cNvPr id="6" name="TextBox 5">
            <a:extLst>
              <a:ext uri="{FF2B5EF4-FFF2-40B4-BE49-F238E27FC236}">
                <a16:creationId xmlns:a16="http://schemas.microsoft.com/office/drawing/2014/main" id="{EB8330CE-2530-4588-90E9-C1945DD909F3}"/>
              </a:ext>
            </a:extLst>
          </p:cNvPr>
          <p:cNvSpPr txBox="1"/>
          <p:nvPr/>
        </p:nvSpPr>
        <p:spPr>
          <a:xfrm>
            <a:off x="3027999" y="4341084"/>
            <a:ext cx="6296780" cy="2092881"/>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p:spPr>
        <p:txBody>
          <a:bodyPr wrap="square" rtlCol="0">
            <a:spAutoFit/>
          </a:bodyPr>
          <a:lstStyle/>
          <a:p>
            <a:pPr defTabSz="457200" fontAlgn="base">
              <a:spcBef>
                <a:spcPct val="0"/>
              </a:spcBef>
              <a:spcAft>
                <a:spcPct val="0"/>
              </a:spcAft>
              <a:defRPr/>
            </a:pPr>
            <a:r>
              <a:rPr lang="en-US" sz="1000" b="1" kern="0" dirty="0" err="1">
                <a:solidFill>
                  <a:prstClr val="black"/>
                </a:solidFill>
                <a:latin typeface="Arial"/>
              </a:rPr>
              <a:t>int</a:t>
            </a:r>
            <a:r>
              <a:rPr lang="en-US" sz="1000" b="1" kern="0" dirty="0">
                <a:solidFill>
                  <a:prstClr val="black"/>
                </a:solidFill>
                <a:latin typeface="Arial"/>
              </a:rPr>
              <a:t> main </a:t>
            </a:r>
            <a:r>
              <a:rPr lang="en-US" sz="1000" kern="0" dirty="0">
                <a:solidFill>
                  <a:prstClr val="black"/>
                </a:solidFill>
                <a:latin typeface="Arial"/>
              </a:rPr>
              <a:t>() { </a:t>
            </a:r>
          </a:p>
          <a:p>
            <a:pPr defTabSz="457200" fontAlgn="base">
              <a:spcBef>
                <a:spcPct val="0"/>
              </a:spcBef>
              <a:spcAft>
                <a:spcPct val="0"/>
              </a:spcAft>
              <a:defRPr/>
            </a:pPr>
            <a:r>
              <a:rPr lang="en-US" sz="1000" b="1" kern="0" dirty="0">
                <a:solidFill>
                  <a:prstClr val="black"/>
                </a:solidFill>
                <a:latin typeface="Arial"/>
              </a:rPr>
              <a:t>  int ret=0;</a:t>
            </a:r>
          </a:p>
          <a:p>
            <a:pPr defTabSz="457200" fontAlgn="base">
              <a:spcBef>
                <a:spcPct val="0"/>
              </a:spcBef>
              <a:spcAft>
                <a:spcPct val="0"/>
              </a:spcAft>
              <a:defRPr/>
            </a:pPr>
            <a:r>
              <a:rPr lang="en-US" sz="1000" b="1" kern="0" dirty="0">
                <a:solidFill>
                  <a:prstClr val="black"/>
                </a:solidFill>
                <a:latin typeface="Arial"/>
              </a:rPr>
              <a:t>  …</a:t>
            </a:r>
          </a:p>
          <a:p>
            <a:pPr defTabSz="457200" fontAlgn="base">
              <a:spcBef>
                <a:spcPct val="0"/>
              </a:spcBef>
              <a:spcAft>
                <a:spcPct val="0"/>
              </a:spcAft>
              <a:defRPr/>
            </a:pPr>
            <a:r>
              <a:rPr lang="en-US" sz="1000" b="1" kern="0" dirty="0">
                <a:solidFill>
                  <a:prstClr val="black"/>
                </a:solidFill>
                <a:latin typeface="Arial"/>
              </a:rPr>
              <a:t>  ret = system("diff --brief  -w output.dat </a:t>
            </a:r>
            <a:r>
              <a:rPr lang="en-US" sz="1000" b="1" kern="0" dirty="0" err="1">
                <a:solidFill>
                  <a:prstClr val="black"/>
                </a:solidFill>
                <a:latin typeface="Arial"/>
              </a:rPr>
              <a:t>output.golden.dat</a:t>
            </a:r>
            <a:r>
              <a:rPr lang="en-US" sz="1000" b="1" kern="0" dirty="0">
                <a:solidFill>
                  <a:prstClr val="black"/>
                </a:solidFill>
                <a:latin typeface="Arial"/>
              </a:rPr>
              <a:t>"); </a:t>
            </a:r>
          </a:p>
          <a:p>
            <a:pPr defTabSz="457200" fontAlgn="base">
              <a:spcBef>
                <a:spcPct val="0"/>
              </a:spcBef>
              <a:spcAft>
                <a:spcPct val="0"/>
              </a:spcAft>
              <a:defRPr/>
            </a:pPr>
            <a:r>
              <a:rPr lang="en-US" sz="1000" kern="0" dirty="0">
                <a:solidFill>
                  <a:prstClr val="black"/>
                </a:solidFill>
                <a:latin typeface="Arial"/>
              </a:rPr>
              <a:t>  if (ret != 0) {</a:t>
            </a:r>
          </a:p>
          <a:p>
            <a:pPr defTabSz="457200" fontAlgn="base">
              <a:spcBef>
                <a:spcPct val="0"/>
              </a:spcBef>
              <a:spcAft>
                <a:spcPct val="0"/>
              </a:spcAft>
              <a:defRPr/>
            </a:pPr>
            <a:r>
              <a:rPr lang="en-US" sz="1000" kern="0" dirty="0">
                <a:solidFill>
                  <a:prstClr val="black"/>
                </a:solidFill>
                <a:latin typeface="Arial"/>
              </a:rPr>
              <a:t>        printf("Test failed  !!!\n"); </a:t>
            </a:r>
          </a:p>
          <a:p>
            <a:pPr defTabSz="457200" fontAlgn="base">
              <a:spcBef>
                <a:spcPct val="0"/>
              </a:spcBef>
              <a:spcAft>
                <a:spcPct val="0"/>
              </a:spcAft>
              <a:defRPr/>
            </a:pPr>
            <a:r>
              <a:rPr lang="en-US" sz="1000" b="1" kern="0" dirty="0">
                <a:solidFill>
                  <a:prstClr val="black"/>
                </a:solidFill>
                <a:latin typeface="Arial"/>
              </a:rPr>
              <a:t>        ret=1;</a:t>
            </a:r>
          </a:p>
          <a:p>
            <a:pPr defTabSz="457200" fontAlgn="base">
              <a:spcBef>
                <a:spcPct val="0"/>
              </a:spcBef>
              <a:spcAft>
                <a:spcPct val="0"/>
              </a:spcAft>
              <a:defRPr/>
            </a:pPr>
            <a:r>
              <a:rPr lang="en-US" sz="1000" kern="0" dirty="0">
                <a:solidFill>
                  <a:prstClr val="black"/>
                </a:solidFill>
                <a:latin typeface="Arial"/>
              </a:rPr>
              <a:t>  } else {</a:t>
            </a:r>
          </a:p>
          <a:p>
            <a:pPr defTabSz="457200" fontAlgn="base">
              <a:spcBef>
                <a:spcPct val="0"/>
              </a:spcBef>
              <a:spcAft>
                <a:spcPct val="0"/>
              </a:spcAft>
              <a:defRPr/>
            </a:pPr>
            <a:r>
              <a:rPr lang="en-US" sz="1000" kern="0" dirty="0">
                <a:solidFill>
                  <a:prstClr val="black"/>
                </a:solidFill>
                <a:latin typeface="Arial"/>
              </a:rPr>
              <a:t>        printf("Test passed !\n");</a:t>
            </a:r>
            <a:endParaRPr lang="en-US" sz="1000" b="1" kern="0" dirty="0">
              <a:solidFill>
                <a:prstClr val="black"/>
              </a:solidFill>
              <a:latin typeface="Arial"/>
            </a:endParaRPr>
          </a:p>
          <a:p>
            <a:pPr defTabSz="457200" fontAlgn="base">
              <a:spcBef>
                <a:spcPct val="0"/>
              </a:spcBef>
              <a:spcAft>
                <a:spcPct val="0"/>
              </a:spcAft>
              <a:defRPr/>
            </a:pPr>
            <a:r>
              <a:rPr lang="en-US" sz="1000" kern="0" dirty="0">
                <a:solidFill>
                  <a:prstClr val="black"/>
                </a:solidFill>
                <a:latin typeface="Arial"/>
              </a:rPr>
              <a:t>  }</a:t>
            </a:r>
          </a:p>
          <a:p>
            <a:pPr defTabSz="457200" fontAlgn="base">
              <a:spcBef>
                <a:spcPct val="0"/>
              </a:spcBef>
              <a:spcAft>
                <a:spcPct val="0"/>
              </a:spcAft>
              <a:defRPr/>
            </a:pPr>
            <a:r>
              <a:rPr lang="en-US" sz="1000" kern="0" dirty="0">
                <a:solidFill>
                  <a:prstClr val="black"/>
                </a:solidFill>
                <a:latin typeface="Arial"/>
              </a:rPr>
              <a:t>  …</a:t>
            </a:r>
          </a:p>
          <a:p>
            <a:pPr defTabSz="457200" fontAlgn="base">
              <a:spcBef>
                <a:spcPct val="0"/>
              </a:spcBef>
              <a:spcAft>
                <a:spcPct val="0"/>
              </a:spcAft>
              <a:defRPr/>
            </a:pPr>
            <a:r>
              <a:rPr lang="en-US" sz="1000" kern="0" dirty="0">
                <a:solidFill>
                  <a:prstClr val="black"/>
                </a:solidFill>
                <a:latin typeface="Arial"/>
              </a:rPr>
              <a:t>  return ret;</a:t>
            </a:r>
          </a:p>
          <a:p>
            <a:pPr defTabSz="457200" fontAlgn="base">
              <a:spcBef>
                <a:spcPct val="0"/>
              </a:spcBef>
              <a:spcAft>
                <a:spcPct val="0"/>
              </a:spcAft>
              <a:defRPr/>
            </a:pPr>
            <a:r>
              <a:rPr lang="en-US" sz="1000" kern="0" dirty="0">
                <a:solidFill>
                  <a:prstClr val="black"/>
                </a:solidFill>
                <a:latin typeface="Arial"/>
              </a:rPr>
              <a: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Determine or Create the Top-level Function</a:t>
            </a:r>
          </a:p>
        </p:txBody>
      </p:sp>
      <p:sp>
        <p:nvSpPr>
          <p:cNvPr id="3" name="Content Placeholder 2"/>
          <p:cNvSpPr>
            <a:spLocks noGrp="1"/>
          </p:cNvSpPr>
          <p:nvPr>
            <p:ph idx="1"/>
          </p:nvPr>
        </p:nvSpPr>
        <p:spPr>
          <a:xfrm>
            <a:off x="657127" y="1210056"/>
            <a:ext cx="10515600" cy="4759404"/>
          </a:xfrm>
        </p:spPr>
        <p:txBody>
          <a:bodyPr/>
          <a:lstStyle/>
          <a:p>
            <a:r>
              <a:rPr lang="en-US" dirty="0"/>
              <a:t>Determine the top-level function for synthesis</a:t>
            </a:r>
          </a:p>
          <a:p>
            <a:r>
              <a:rPr lang="en-US" dirty="0"/>
              <a:t>If there are Multiple functions, they must be merged</a:t>
            </a:r>
          </a:p>
          <a:p>
            <a:pPr lvl="1"/>
            <a:r>
              <a:rPr lang="en-US" dirty="0"/>
              <a:t>There can only be 1 top-level function for synthesis</a:t>
            </a:r>
          </a:p>
          <a:p>
            <a:pPr lvl="1"/>
            <a:endParaRPr lang="en-US" dirty="0"/>
          </a:p>
        </p:txBody>
      </p:sp>
      <p:sp>
        <p:nvSpPr>
          <p:cNvPr id="4" name="Slide Number Placeholder 3"/>
          <p:cNvSpPr>
            <a:spLocks noGrp="1"/>
          </p:cNvSpPr>
          <p:nvPr>
            <p:ph type="sldNum" sz="quarter" idx="10"/>
          </p:nvPr>
        </p:nvSpPr>
        <p:spPr/>
        <p:txBody>
          <a:bodyPr/>
          <a:lstStyle/>
          <a:p>
            <a:pPr>
              <a:defRPr/>
            </a:pPr>
            <a:r>
              <a:rPr lang="en-US" dirty="0"/>
              <a:t>Intro to HLS 11- </a:t>
            </a:r>
            <a:fld id="{060BD193-E118-4B16-863C-C8C12C675E3E}" type="slidenum">
              <a:rPr lang="en-US" smtClean="0"/>
              <a:pPr>
                <a:defRPr/>
              </a:pPr>
              <a:t>37</a:t>
            </a:fld>
            <a:endParaRPr lang="en-US" dirty="0"/>
          </a:p>
        </p:txBody>
      </p:sp>
      <p:sp>
        <p:nvSpPr>
          <p:cNvPr id="23" name="TextBox 22">
            <a:extLst>
              <a:ext uri="{FF2B5EF4-FFF2-40B4-BE49-F238E27FC236}">
                <a16:creationId xmlns:a16="http://schemas.microsoft.com/office/drawing/2014/main" id="{C005D628-1FFC-4664-B2AC-C937C05AE2EB}"/>
              </a:ext>
            </a:extLst>
          </p:cNvPr>
          <p:cNvSpPr txBox="1"/>
          <p:nvPr/>
        </p:nvSpPr>
        <p:spPr>
          <a:xfrm>
            <a:off x="1130283" y="3572848"/>
            <a:ext cx="3327567" cy="1200329"/>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p:spPr>
        <p:txBody>
          <a:bodyPr wrap="square" rtlCol="0">
            <a:spAutoFit/>
          </a:bodyPr>
          <a:lstStyle/>
          <a:p>
            <a:pPr defTabSz="457200" fontAlgn="base">
              <a:spcBef>
                <a:spcPct val="0"/>
              </a:spcBef>
              <a:spcAft>
                <a:spcPct val="0"/>
              </a:spcAft>
              <a:defRPr/>
            </a:pPr>
            <a:r>
              <a:rPr lang="en-US" sz="900" b="1" kern="0" dirty="0">
                <a:solidFill>
                  <a:prstClr val="black"/>
                </a:solidFill>
                <a:latin typeface="Arial"/>
              </a:rPr>
              <a:t>int main () {</a:t>
            </a:r>
          </a:p>
          <a:p>
            <a:pPr marL="0" lvl="1" defTabSz="457200" fontAlgn="base">
              <a:spcBef>
                <a:spcPct val="0"/>
              </a:spcBef>
              <a:spcAft>
                <a:spcPct val="0"/>
              </a:spcAft>
              <a:defRPr/>
            </a:pPr>
            <a:r>
              <a:rPr lang="en-US" sz="900" b="1" kern="0" dirty="0">
                <a:solidFill>
                  <a:prstClr val="black"/>
                </a:solidFill>
                <a:latin typeface="Arial"/>
              </a:rPr>
              <a:t>  ...</a:t>
            </a:r>
          </a:p>
          <a:p>
            <a:pPr marL="0" lvl="1" defTabSz="457200" fontAlgn="base">
              <a:spcBef>
                <a:spcPct val="0"/>
              </a:spcBef>
              <a:spcAft>
                <a:spcPct val="0"/>
              </a:spcAft>
              <a:defRPr/>
            </a:pPr>
            <a:r>
              <a:rPr lang="en-US" sz="900" b="1" kern="0" dirty="0">
                <a:solidFill>
                  <a:prstClr val="black"/>
                </a:solidFill>
                <a:latin typeface="Arial"/>
              </a:rPr>
              <a:t>  </a:t>
            </a:r>
            <a:r>
              <a:rPr lang="en-US" sz="900" b="1" kern="0" dirty="0" err="1">
                <a:solidFill>
                  <a:prstClr val="black"/>
                </a:solidFill>
                <a:latin typeface="Arial"/>
              </a:rPr>
              <a:t>func_A</a:t>
            </a:r>
            <a:r>
              <a:rPr lang="en-US" sz="900" b="1" kern="0" dirty="0">
                <a:solidFill>
                  <a:prstClr val="black"/>
                </a:solidFill>
                <a:latin typeface="Arial"/>
              </a:rPr>
              <a:t>(</a:t>
            </a:r>
            <a:r>
              <a:rPr lang="en-US" sz="900" b="1" kern="0" dirty="0" err="1">
                <a:solidFill>
                  <a:prstClr val="black"/>
                </a:solidFill>
                <a:latin typeface="Arial"/>
              </a:rPr>
              <a:t>a,b</a:t>
            </a:r>
            <a:r>
              <a:rPr lang="en-US" sz="900" b="1" kern="0" dirty="0">
                <a:solidFill>
                  <a:prstClr val="black"/>
                </a:solidFill>
                <a:latin typeface="Arial"/>
              </a:rPr>
              <a:t>,*i1);</a:t>
            </a:r>
          </a:p>
          <a:p>
            <a:pPr marL="0" lvl="1" defTabSz="457200" fontAlgn="base">
              <a:spcBef>
                <a:spcPct val="0"/>
              </a:spcBef>
              <a:spcAft>
                <a:spcPct val="0"/>
              </a:spcAft>
              <a:defRPr/>
            </a:pPr>
            <a:r>
              <a:rPr lang="en-US" sz="900" b="1" kern="0" dirty="0">
                <a:solidFill>
                  <a:prstClr val="black"/>
                </a:solidFill>
                <a:latin typeface="Arial"/>
              </a:rPr>
              <a:t>  </a:t>
            </a:r>
            <a:r>
              <a:rPr lang="en-US" sz="900" b="1" kern="0" dirty="0" err="1">
                <a:solidFill>
                  <a:prstClr val="black"/>
                </a:solidFill>
                <a:latin typeface="Arial"/>
              </a:rPr>
              <a:t>func_B</a:t>
            </a:r>
            <a:r>
              <a:rPr lang="en-US" sz="900" b="1" kern="0" dirty="0">
                <a:solidFill>
                  <a:prstClr val="black"/>
                </a:solidFill>
                <a:latin typeface="Arial"/>
              </a:rPr>
              <a:t>(c,*i1,*i2);</a:t>
            </a:r>
          </a:p>
          <a:p>
            <a:pPr marL="0" lvl="1" defTabSz="457200" fontAlgn="base">
              <a:spcBef>
                <a:spcPct val="0"/>
              </a:spcBef>
              <a:spcAft>
                <a:spcPct val="0"/>
              </a:spcAft>
              <a:defRPr/>
            </a:pPr>
            <a:r>
              <a:rPr lang="en-US" sz="900" b="1" kern="0" dirty="0">
                <a:solidFill>
                  <a:prstClr val="black"/>
                </a:solidFill>
                <a:latin typeface="Arial"/>
              </a:rPr>
              <a:t>  </a:t>
            </a:r>
            <a:r>
              <a:rPr lang="en-US" sz="900" b="1" kern="0" dirty="0" err="1">
                <a:solidFill>
                  <a:prstClr val="black"/>
                </a:solidFill>
                <a:latin typeface="Arial"/>
              </a:rPr>
              <a:t>func_C</a:t>
            </a:r>
            <a:r>
              <a:rPr lang="en-US" sz="900" b="1" kern="0" dirty="0">
                <a:solidFill>
                  <a:prstClr val="black"/>
                </a:solidFill>
                <a:latin typeface="Arial"/>
              </a:rPr>
              <a:t>(*i2,ret)</a:t>
            </a:r>
          </a:p>
          <a:p>
            <a:pPr marL="0" lvl="1" defTabSz="457200" fontAlgn="base">
              <a:spcBef>
                <a:spcPct val="0"/>
              </a:spcBef>
              <a:spcAft>
                <a:spcPct val="0"/>
              </a:spcAft>
              <a:defRPr/>
            </a:pPr>
            <a:endParaRPr lang="en-US" sz="900" b="1" kern="0" dirty="0">
              <a:solidFill>
                <a:prstClr val="black"/>
              </a:solidFill>
              <a:latin typeface="Arial"/>
            </a:endParaRPr>
          </a:p>
          <a:p>
            <a:pPr marL="0" lvl="1" defTabSz="457200" fontAlgn="base">
              <a:spcBef>
                <a:spcPct val="0"/>
              </a:spcBef>
              <a:spcAft>
                <a:spcPct val="0"/>
              </a:spcAft>
              <a:defRPr/>
            </a:pPr>
            <a:r>
              <a:rPr lang="en-US" sz="900" b="1" kern="0" dirty="0">
                <a:solidFill>
                  <a:prstClr val="black"/>
                </a:solidFill>
                <a:latin typeface="Arial"/>
              </a:rPr>
              <a:t>  return ret;</a:t>
            </a:r>
          </a:p>
          <a:p>
            <a:pPr defTabSz="457200" fontAlgn="base">
              <a:spcBef>
                <a:spcPct val="0"/>
              </a:spcBef>
              <a:spcAft>
                <a:spcPct val="0"/>
              </a:spcAft>
              <a:defRPr/>
            </a:pPr>
            <a:r>
              <a:rPr lang="en-US" sz="900" b="1" kern="0" dirty="0">
                <a:solidFill>
                  <a:prstClr val="black"/>
                </a:solidFill>
                <a:latin typeface="Arial"/>
              </a:rPr>
              <a:t>}</a:t>
            </a:r>
          </a:p>
        </p:txBody>
      </p:sp>
      <p:sp>
        <p:nvSpPr>
          <p:cNvPr id="24" name="Rounded Rectangle 5">
            <a:extLst>
              <a:ext uri="{FF2B5EF4-FFF2-40B4-BE49-F238E27FC236}">
                <a16:creationId xmlns:a16="http://schemas.microsoft.com/office/drawing/2014/main" id="{D08D1C35-2BCD-4599-A818-D84F97E48EF1}"/>
              </a:ext>
            </a:extLst>
          </p:cNvPr>
          <p:cNvSpPr/>
          <p:nvPr/>
        </p:nvSpPr>
        <p:spPr>
          <a:xfrm>
            <a:off x="3382754" y="3882526"/>
            <a:ext cx="812588" cy="152400"/>
          </a:xfrm>
          <a:prstGeom prst="roundRect">
            <a:avLst/>
          </a:prstGeom>
          <a:solidFill>
            <a:srgbClr val="008CA8"/>
          </a:solidFill>
          <a:ln w="25400" cap="flat" cmpd="sng" algn="ctr">
            <a:solidFill>
              <a:srgbClr val="008CA8">
                <a:shade val="50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white"/>
                </a:solidFill>
                <a:latin typeface="Arial"/>
              </a:rPr>
              <a:t>func_A</a:t>
            </a:r>
          </a:p>
        </p:txBody>
      </p:sp>
      <p:sp>
        <p:nvSpPr>
          <p:cNvPr id="25" name="Rounded Rectangle 6">
            <a:extLst>
              <a:ext uri="{FF2B5EF4-FFF2-40B4-BE49-F238E27FC236}">
                <a16:creationId xmlns:a16="http://schemas.microsoft.com/office/drawing/2014/main" id="{FA4CE19C-EF31-49E8-A330-94D7E46EB6ED}"/>
              </a:ext>
            </a:extLst>
          </p:cNvPr>
          <p:cNvSpPr/>
          <p:nvPr/>
        </p:nvSpPr>
        <p:spPr>
          <a:xfrm>
            <a:off x="3382754" y="4034926"/>
            <a:ext cx="812588" cy="152400"/>
          </a:xfrm>
          <a:prstGeom prst="roundRect">
            <a:avLst/>
          </a:prstGeom>
          <a:solidFill>
            <a:srgbClr val="91B800"/>
          </a:solidFill>
          <a:ln w="25400" cap="flat" cmpd="sng" algn="ctr">
            <a:solidFill>
              <a:srgbClr val="6D7076">
                <a:shade val="50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white"/>
                </a:solidFill>
                <a:latin typeface="Arial"/>
              </a:rPr>
              <a:t>func_B</a:t>
            </a:r>
          </a:p>
        </p:txBody>
      </p:sp>
      <p:sp>
        <p:nvSpPr>
          <p:cNvPr id="26" name="Rounded Rectangle 7">
            <a:extLst>
              <a:ext uri="{FF2B5EF4-FFF2-40B4-BE49-F238E27FC236}">
                <a16:creationId xmlns:a16="http://schemas.microsoft.com/office/drawing/2014/main" id="{95FFD602-5690-4828-AF7C-BC35E09FB48B}"/>
              </a:ext>
            </a:extLst>
          </p:cNvPr>
          <p:cNvSpPr/>
          <p:nvPr/>
        </p:nvSpPr>
        <p:spPr>
          <a:xfrm>
            <a:off x="3382754" y="4187326"/>
            <a:ext cx="812588" cy="152400"/>
          </a:xfrm>
          <a:prstGeom prst="roundRect">
            <a:avLst/>
          </a:prstGeom>
          <a:solidFill>
            <a:srgbClr val="00B050"/>
          </a:solidFill>
          <a:ln w="25400" cap="flat" cmpd="sng" algn="ctr">
            <a:solidFill>
              <a:srgbClr val="3F3F3F">
                <a:shade val="50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white"/>
                </a:solidFill>
                <a:latin typeface="Arial"/>
              </a:rPr>
              <a:t>func_C</a:t>
            </a:r>
          </a:p>
        </p:txBody>
      </p:sp>
      <p:sp>
        <p:nvSpPr>
          <p:cNvPr id="27" name="TextBox 26">
            <a:extLst>
              <a:ext uri="{FF2B5EF4-FFF2-40B4-BE49-F238E27FC236}">
                <a16:creationId xmlns:a16="http://schemas.microsoft.com/office/drawing/2014/main" id="{2C690A39-B15A-467F-A0E8-F7BF21F7C6B7}"/>
              </a:ext>
            </a:extLst>
          </p:cNvPr>
          <p:cNvSpPr txBox="1"/>
          <p:nvPr/>
        </p:nvSpPr>
        <p:spPr>
          <a:xfrm>
            <a:off x="1187986" y="3333140"/>
            <a:ext cx="611065" cy="253916"/>
          </a:xfrm>
          <a:prstGeom prst="rect">
            <a:avLst/>
          </a:prstGeom>
          <a:solidFill>
            <a:srgbClr val="91B800"/>
          </a:solidFill>
          <a:ln w="9525" cap="flat" cmpd="sng" algn="ctr">
            <a:solidFill>
              <a:srgbClr val="3F3F3F">
                <a:shade val="95000"/>
                <a:satMod val="105000"/>
              </a:srgbClr>
            </a:solidFill>
            <a:prstDash val="solid"/>
          </a:ln>
          <a:effectLst>
            <a:outerShdw blurRad="40000" dist="23000" dir="5400000" rotWithShape="0">
              <a:srgbClr val="000000">
                <a:alpha val="35000"/>
              </a:srgbClr>
            </a:outerShdw>
          </a:effectLst>
        </p:spPr>
        <p:txBody>
          <a:bodyPr wrap="none" rtlCol="0">
            <a:spAutoFit/>
          </a:bodyPr>
          <a:lstStyle/>
          <a:p>
            <a:pPr defTabSz="457200" fontAlgn="base">
              <a:spcBef>
                <a:spcPct val="0"/>
              </a:spcBef>
              <a:spcAft>
                <a:spcPct val="0"/>
              </a:spcAft>
              <a:defRPr/>
            </a:pPr>
            <a:r>
              <a:rPr lang="en-US" sz="1050" b="1" kern="0" dirty="0" err="1">
                <a:solidFill>
                  <a:prstClr val="white"/>
                </a:solidFill>
                <a:latin typeface="Arial"/>
              </a:rPr>
              <a:t>main.c</a:t>
            </a:r>
            <a:endParaRPr lang="en-US" sz="1050" b="1" kern="0" dirty="0">
              <a:solidFill>
                <a:prstClr val="white"/>
              </a:solidFill>
              <a:latin typeface="Arial"/>
            </a:endParaRPr>
          </a:p>
        </p:txBody>
      </p:sp>
      <p:sp>
        <p:nvSpPr>
          <p:cNvPr id="28" name="TextBox 27">
            <a:extLst>
              <a:ext uri="{FF2B5EF4-FFF2-40B4-BE49-F238E27FC236}">
                <a16:creationId xmlns:a16="http://schemas.microsoft.com/office/drawing/2014/main" id="{A15C415B-07F4-4840-B1EA-DB3199668DD9}"/>
              </a:ext>
            </a:extLst>
          </p:cNvPr>
          <p:cNvSpPr txBox="1"/>
          <p:nvPr/>
        </p:nvSpPr>
        <p:spPr>
          <a:xfrm>
            <a:off x="7068710" y="5219170"/>
            <a:ext cx="3327567" cy="1061829"/>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p:spPr>
        <p:txBody>
          <a:bodyPr wrap="square" rtlCol="0">
            <a:spAutoFit/>
          </a:bodyPr>
          <a:lstStyle/>
          <a:p>
            <a:pPr defTabSz="457200" fontAlgn="base">
              <a:spcBef>
                <a:spcPct val="0"/>
              </a:spcBef>
              <a:spcAft>
                <a:spcPct val="0"/>
              </a:spcAft>
              <a:defRPr/>
            </a:pPr>
            <a:r>
              <a:rPr lang="en-US" sz="900" b="1" kern="0" dirty="0">
                <a:solidFill>
                  <a:prstClr val="black"/>
                </a:solidFill>
                <a:latin typeface="Arial"/>
              </a:rPr>
              <a:t>#include </a:t>
            </a:r>
            <a:r>
              <a:rPr lang="en-US" sz="900" b="1" kern="0" dirty="0" err="1">
                <a:solidFill>
                  <a:prstClr val="black"/>
                </a:solidFill>
                <a:latin typeface="Arial"/>
              </a:rPr>
              <a:t>func_AB.h</a:t>
            </a:r>
            <a:endParaRPr lang="en-US" sz="900" b="1" kern="0" dirty="0">
              <a:solidFill>
                <a:prstClr val="black"/>
              </a:solidFill>
              <a:latin typeface="Arial"/>
            </a:endParaRPr>
          </a:p>
          <a:p>
            <a:pPr defTabSz="457200" fontAlgn="base">
              <a:spcBef>
                <a:spcPct val="0"/>
              </a:spcBef>
              <a:spcAft>
                <a:spcPct val="0"/>
              </a:spcAft>
              <a:defRPr/>
            </a:pPr>
            <a:r>
              <a:rPr lang="en-US" sz="900" b="1" kern="0" dirty="0" err="1">
                <a:solidFill>
                  <a:prstClr val="black"/>
                </a:solidFill>
                <a:latin typeface="Arial"/>
              </a:rPr>
              <a:t>func_AB</a:t>
            </a:r>
            <a:r>
              <a:rPr lang="en-US" sz="900" b="1" kern="0" dirty="0">
                <a:solidFill>
                  <a:prstClr val="black"/>
                </a:solidFill>
                <a:latin typeface="Arial"/>
              </a:rPr>
              <a:t>(</a:t>
            </a:r>
            <a:r>
              <a:rPr lang="en-US" sz="900" b="1" kern="0" dirty="0" err="1">
                <a:solidFill>
                  <a:prstClr val="black"/>
                </a:solidFill>
                <a:latin typeface="Arial"/>
              </a:rPr>
              <a:t>a,b,c</a:t>
            </a:r>
            <a:r>
              <a:rPr lang="en-US" sz="900" b="1" kern="0" dirty="0">
                <a:solidFill>
                  <a:prstClr val="black"/>
                </a:solidFill>
                <a:latin typeface="Arial"/>
              </a:rPr>
              <a:t>, *i1, *i2) {</a:t>
            </a:r>
          </a:p>
          <a:p>
            <a:pPr marL="0" lvl="1" defTabSz="457200" fontAlgn="base">
              <a:spcBef>
                <a:spcPct val="0"/>
              </a:spcBef>
              <a:spcAft>
                <a:spcPct val="0"/>
              </a:spcAft>
              <a:defRPr/>
            </a:pPr>
            <a:r>
              <a:rPr lang="en-US" sz="900" b="1" kern="0" dirty="0">
                <a:solidFill>
                  <a:prstClr val="black"/>
                </a:solidFill>
                <a:latin typeface="Arial"/>
              </a:rPr>
              <a:t> ...</a:t>
            </a:r>
          </a:p>
          <a:p>
            <a:pPr marL="0" lvl="1" defTabSz="457200" fontAlgn="base">
              <a:spcBef>
                <a:spcPct val="0"/>
              </a:spcBef>
              <a:spcAft>
                <a:spcPct val="0"/>
              </a:spcAft>
              <a:defRPr/>
            </a:pPr>
            <a:r>
              <a:rPr lang="en-US" sz="900" b="1" kern="0" dirty="0">
                <a:solidFill>
                  <a:prstClr val="black"/>
                </a:solidFill>
                <a:latin typeface="Arial"/>
              </a:rPr>
              <a:t> </a:t>
            </a:r>
            <a:r>
              <a:rPr lang="en-US" sz="900" b="1" kern="0" dirty="0" err="1">
                <a:solidFill>
                  <a:prstClr val="black"/>
                </a:solidFill>
                <a:latin typeface="Arial"/>
              </a:rPr>
              <a:t>func_A</a:t>
            </a:r>
            <a:r>
              <a:rPr lang="en-US" sz="900" b="1" kern="0" dirty="0">
                <a:solidFill>
                  <a:prstClr val="black"/>
                </a:solidFill>
                <a:latin typeface="Arial"/>
              </a:rPr>
              <a:t>(</a:t>
            </a:r>
            <a:r>
              <a:rPr lang="en-US" sz="900" b="1" kern="0" dirty="0" err="1">
                <a:solidFill>
                  <a:prstClr val="black"/>
                </a:solidFill>
                <a:latin typeface="Arial"/>
              </a:rPr>
              <a:t>a,b</a:t>
            </a:r>
            <a:r>
              <a:rPr lang="en-US" sz="900" b="1" kern="0" dirty="0">
                <a:solidFill>
                  <a:prstClr val="black"/>
                </a:solidFill>
                <a:latin typeface="Arial"/>
              </a:rPr>
              <a:t>,*i1);</a:t>
            </a:r>
          </a:p>
          <a:p>
            <a:pPr marL="0" lvl="1" defTabSz="457200" fontAlgn="base">
              <a:spcBef>
                <a:spcPct val="0"/>
              </a:spcBef>
              <a:spcAft>
                <a:spcPct val="0"/>
              </a:spcAft>
              <a:defRPr/>
            </a:pPr>
            <a:r>
              <a:rPr lang="en-US" sz="900" b="1" kern="0" dirty="0">
                <a:solidFill>
                  <a:prstClr val="black"/>
                </a:solidFill>
                <a:latin typeface="Arial"/>
              </a:rPr>
              <a:t> </a:t>
            </a:r>
            <a:r>
              <a:rPr lang="en-US" sz="900" b="1" kern="0" dirty="0" err="1">
                <a:solidFill>
                  <a:prstClr val="black"/>
                </a:solidFill>
                <a:latin typeface="Arial"/>
              </a:rPr>
              <a:t>func_B</a:t>
            </a:r>
            <a:r>
              <a:rPr lang="en-US" sz="900" b="1" kern="0" dirty="0">
                <a:solidFill>
                  <a:prstClr val="black"/>
                </a:solidFill>
                <a:latin typeface="Arial"/>
              </a:rPr>
              <a:t>(c,*i1,*i2); </a:t>
            </a:r>
          </a:p>
          <a:p>
            <a:pPr marL="0" lvl="1" defTabSz="457200" fontAlgn="base">
              <a:spcBef>
                <a:spcPct val="0"/>
              </a:spcBef>
              <a:spcAft>
                <a:spcPct val="0"/>
              </a:spcAft>
              <a:defRPr/>
            </a:pPr>
            <a:r>
              <a:rPr lang="en-US" sz="900" b="1" kern="0" dirty="0">
                <a:solidFill>
                  <a:prstClr val="black"/>
                </a:solidFill>
                <a:latin typeface="Arial"/>
              </a:rPr>
              <a:t> …</a:t>
            </a:r>
          </a:p>
          <a:p>
            <a:pPr defTabSz="457200" fontAlgn="base">
              <a:spcBef>
                <a:spcPct val="0"/>
              </a:spcBef>
              <a:spcAft>
                <a:spcPct val="0"/>
              </a:spcAft>
              <a:defRPr/>
            </a:pPr>
            <a:r>
              <a:rPr lang="en-US" sz="900" b="1" kern="0" dirty="0">
                <a:solidFill>
                  <a:prstClr val="black"/>
                </a:solidFill>
                <a:latin typeface="Arial"/>
              </a:rPr>
              <a:t>}</a:t>
            </a:r>
          </a:p>
        </p:txBody>
      </p:sp>
      <p:sp>
        <p:nvSpPr>
          <p:cNvPr id="29" name="TextBox 28">
            <a:extLst>
              <a:ext uri="{FF2B5EF4-FFF2-40B4-BE49-F238E27FC236}">
                <a16:creationId xmlns:a16="http://schemas.microsoft.com/office/drawing/2014/main" id="{CBC5FE70-7ABF-47FE-AF37-EE7271A5B666}"/>
              </a:ext>
            </a:extLst>
          </p:cNvPr>
          <p:cNvSpPr txBox="1"/>
          <p:nvPr/>
        </p:nvSpPr>
        <p:spPr>
          <a:xfrm>
            <a:off x="7068711" y="3505810"/>
            <a:ext cx="3327567" cy="1477328"/>
          </a:xfrm>
          <a:prstGeom prst="rect">
            <a:avLst/>
          </a:prstGeom>
          <a:gradFill rotWithShape="1">
            <a:gsLst>
              <a:gs pos="0">
                <a:srgbClr val="008CA8">
                  <a:tint val="50000"/>
                  <a:satMod val="300000"/>
                </a:srgbClr>
              </a:gs>
              <a:gs pos="35000">
                <a:srgbClr val="008CA8">
                  <a:tint val="37000"/>
                  <a:satMod val="300000"/>
                </a:srgbClr>
              </a:gs>
              <a:gs pos="100000">
                <a:srgbClr val="008CA8">
                  <a:tint val="15000"/>
                  <a:satMod val="350000"/>
                </a:srgbClr>
              </a:gs>
            </a:gsLst>
            <a:lin ang="16200000" scaled="1"/>
          </a:gradFill>
          <a:ln w="9525" cap="flat" cmpd="sng" algn="ctr">
            <a:solidFill>
              <a:srgbClr val="008CA8">
                <a:shade val="95000"/>
                <a:satMod val="105000"/>
              </a:srgbClr>
            </a:solidFill>
            <a:prstDash val="solid"/>
          </a:ln>
          <a:effectLst/>
        </p:spPr>
        <p:txBody>
          <a:bodyPr wrap="square" rtlCol="0">
            <a:spAutoFit/>
          </a:bodyPr>
          <a:lstStyle/>
          <a:p>
            <a:pPr defTabSz="457200" fontAlgn="base">
              <a:spcBef>
                <a:spcPct val="0"/>
              </a:spcBef>
              <a:spcAft>
                <a:spcPct val="0"/>
              </a:spcAft>
              <a:defRPr/>
            </a:pPr>
            <a:r>
              <a:rPr lang="en-US" sz="900" b="1" kern="0" dirty="0">
                <a:solidFill>
                  <a:prstClr val="black"/>
                </a:solidFill>
                <a:latin typeface="Arial"/>
              </a:rPr>
              <a:t>#include </a:t>
            </a:r>
            <a:r>
              <a:rPr lang="en-US" sz="900" b="1" kern="0" dirty="0" err="1">
                <a:solidFill>
                  <a:prstClr val="black"/>
                </a:solidFill>
                <a:latin typeface="Arial"/>
              </a:rPr>
              <a:t>func_AB.h</a:t>
            </a:r>
            <a:endParaRPr lang="en-US" sz="900" b="1" kern="0" dirty="0">
              <a:solidFill>
                <a:prstClr val="black"/>
              </a:solidFill>
              <a:latin typeface="Arial"/>
            </a:endParaRPr>
          </a:p>
          <a:p>
            <a:pPr defTabSz="457200" fontAlgn="base">
              <a:spcBef>
                <a:spcPct val="0"/>
              </a:spcBef>
              <a:spcAft>
                <a:spcPct val="0"/>
              </a:spcAft>
              <a:defRPr/>
            </a:pPr>
            <a:r>
              <a:rPr lang="en-US" sz="900" b="1" kern="0" dirty="0" err="1">
                <a:solidFill>
                  <a:prstClr val="black"/>
                </a:solidFill>
                <a:latin typeface="Arial"/>
              </a:rPr>
              <a:t>int</a:t>
            </a:r>
            <a:r>
              <a:rPr lang="en-US" sz="900" b="1" kern="0" dirty="0">
                <a:solidFill>
                  <a:prstClr val="black"/>
                </a:solidFill>
                <a:latin typeface="Arial"/>
              </a:rPr>
              <a:t> main (</a:t>
            </a:r>
            <a:r>
              <a:rPr lang="en-US" sz="900" b="1" kern="0" dirty="0" err="1">
                <a:solidFill>
                  <a:prstClr val="black"/>
                </a:solidFill>
                <a:latin typeface="Arial"/>
              </a:rPr>
              <a:t>a,b,c,d</a:t>
            </a:r>
            <a:r>
              <a:rPr lang="en-US" sz="900" b="1" kern="0" dirty="0">
                <a:solidFill>
                  <a:prstClr val="black"/>
                </a:solidFill>
                <a:latin typeface="Arial"/>
              </a:rPr>
              <a:t>) {</a:t>
            </a:r>
          </a:p>
          <a:p>
            <a:pPr marL="0" lvl="1" defTabSz="457200" fontAlgn="base">
              <a:spcBef>
                <a:spcPct val="0"/>
              </a:spcBef>
              <a:spcAft>
                <a:spcPct val="0"/>
              </a:spcAft>
              <a:defRPr/>
            </a:pPr>
            <a:r>
              <a:rPr lang="en-US" sz="900" b="1" kern="0" dirty="0">
                <a:solidFill>
                  <a:prstClr val="black"/>
                </a:solidFill>
                <a:latin typeface="Arial"/>
              </a:rPr>
              <a:t>  ...</a:t>
            </a:r>
          </a:p>
          <a:p>
            <a:pPr marL="0" lvl="1" defTabSz="457200" fontAlgn="base">
              <a:spcBef>
                <a:spcPct val="0"/>
              </a:spcBef>
              <a:spcAft>
                <a:spcPct val="0"/>
              </a:spcAft>
              <a:defRPr/>
            </a:pPr>
            <a:r>
              <a:rPr lang="en-US" sz="900" b="1" kern="0" dirty="0">
                <a:solidFill>
                  <a:prstClr val="white">
                    <a:lumMod val="65000"/>
                  </a:prstClr>
                </a:solidFill>
                <a:latin typeface="Arial"/>
              </a:rPr>
              <a:t> // func_A(a,b,i1);</a:t>
            </a:r>
          </a:p>
          <a:p>
            <a:pPr marL="0" lvl="1" defTabSz="457200" fontAlgn="base">
              <a:spcBef>
                <a:spcPct val="0"/>
              </a:spcBef>
              <a:spcAft>
                <a:spcPct val="0"/>
              </a:spcAft>
              <a:defRPr/>
            </a:pPr>
            <a:r>
              <a:rPr lang="en-US" sz="900" b="1" kern="0" dirty="0">
                <a:solidFill>
                  <a:prstClr val="white">
                    <a:lumMod val="65000"/>
                  </a:prstClr>
                </a:solidFill>
                <a:latin typeface="Arial"/>
              </a:rPr>
              <a:t> // </a:t>
            </a:r>
            <a:r>
              <a:rPr lang="en-US" sz="900" b="1" kern="0" dirty="0" err="1">
                <a:solidFill>
                  <a:prstClr val="white">
                    <a:lumMod val="65000"/>
                  </a:prstClr>
                </a:solidFill>
                <a:latin typeface="Arial"/>
              </a:rPr>
              <a:t>func_B</a:t>
            </a:r>
            <a:r>
              <a:rPr lang="en-US" sz="900" b="1" kern="0" dirty="0">
                <a:solidFill>
                  <a:prstClr val="white">
                    <a:lumMod val="65000"/>
                  </a:prstClr>
                </a:solidFill>
                <a:latin typeface="Arial"/>
              </a:rPr>
              <a:t>(c,i1,i2);</a:t>
            </a:r>
          </a:p>
          <a:p>
            <a:pPr marL="0" lvl="1" defTabSz="457200" fontAlgn="base">
              <a:spcBef>
                <a:spcPct val="0"/>
              </a:spcBef>
              <a:spcAft>
                <a:spcPct val="0"/>
              </a:spcAft>
              <a:defRPr/>
            </a:pPr>
            <a:r>
              <a:rPr lang="en-US" sz="900" b="1" kern="0" dirty="0">
                <a:solidFill>
                  <a:prstClr val="black"/>
                </a:solidFill>
                <a:latin typeface="Arial"/>
              </a:rPr>
              <a:t>  </a:t>
            </a:r>
            <a:r>
              <a:rPr lang="en-US" sz="900" b="1" kern="0" dirty="0" err="1">
                <a:solidFill>
                  <a:prstClr val="black"/>
                </a:solidFill>
                <a:latin typeface="Arial"/>
              </a:rPr>
              <a:t>func_AB</a:t>
            </a:r>
            <a:r>
              <a:rPr lang="en-US" sz="900" b="1" kern="0" dirty="0">
                <a:solidFill>
                  <a:prstClr val="black"/>
                </a:solidFill>
                <a:latin typeface="Arial"/>
              </a:rPr>
              <a:t> (</a:t>
            </a:r>
            <a:r>
              <a:rPr lang="en-US" sz="900" b="1" kern="0" dirty="0" err="1">
                <a:solidFill>
                  <a:prstClr val="black"/>
                </a:solidFill>
                <a:latin typeface="Arial"/>
              </a:rPr>
              <a:t>a,b,c</a:t>
            </a:r>
            <a:r>
              <a:rPr lang="en-US" sz="900" b="1" kern="0" dirty="0">
                <a:solidFill>
                  <a:prstClr val="black"/>
                </a:solidFill>
                <a:latin typeface="Arial"/>
              </a:rPr>
              <a:t>, *i1, *i2); </a:t>
            </a:r>
          </a:p>
          <a:p>
            <a:pPr marL="0" lvl="1" defTabSz="457200" fontAlgn="base">
              <a:spcBef>
                <a:spcPct val="0"/>
              </a:spcBef>
              <a:spcAft>
                <a:spcPct val="0"/>
              </a:spcAft>
              <a:defRPr/>
            </a:pPr>
            <a:r>
              <a:rPr lang="en-US" sz="900" b="1" kern="0" dirty="0">
                <a:solidFill>
                  <a:prstClr val="black"/>
                </a:solidFill>
                <a:latin typeface="Arial"/>
              </a:rPr>
              <a:t>  </a:t>
            </a:r>
            <a:r>
              <a:rPr lang="en-US" sz="900" b="1" kern="0" dirty="0" err="1">
                <a:solidFill>
                  <a:prstClr val="black"/>
                </a:solidFill>
                <a:latin typeface="Arial"/>
              </a:rPr>
              <a:t>func_C</a:t>
            </a:r>
            <a:r>
              <a:rPr lang="en-US" sz="900" b="1" kern="0" dirty="0">
                <a:solidFill>
                  <a:prstClr val="black"/>
                </a:solidFill>
                <a:latin typeface="Arial"/>
              </a:rPr>
              <a:t>(*i2,ret)</a:t>
            </a:r>
          </a:p>
          <a:p>
            <a:pPr marL="0" lvl="1" defTabSz="457200" fontAlgn="base">
              <a:spcBef>
                <a:spcPct val="0"/>
              </a:spcBef>
              <a:spcAft>
                <a:spcPct val="0"/>
              </a:spcAft>
              <a:defRPr/>
            </a:pPr>
            <a:endParaRPr lang="en-US" sz="900" b="1" kern="0" dirty="0">
              <a:solidFill>
                <a:prstClr val="black"/>
              </a:solidFill>
              <a:latin typeface="Arial"/>
            </a:endParaRPr>
          </a:p>
          <a:p>
            <a:pPr marL="0" lvl="1" defTabSz="457200" fontAlgn="base">
              <a:spcBef>
                <a:spcPct val="0"/>
              </a:spcBef>
              <a:spcAft>
                <a:spcPct val="0"/>
              </a:spcAft>
              <a:defRPr/>
            </a:pPr>
            <a:r>
              <a:rPr lang="en-US" sz="900" b="1" kern="0" dirty="0">
                <a:solidFill>
                  <a:prstClr val="black"/>
                </a:solidFill>
                <a:latin typeface="Arial"/>
              </a:rPr>
              <a:t>  return ret;</a:t>
            </a:r>
          </a:p>
          <a:p>
            <a:pPr defTabSz="457200" fontAlgn="base">
              <a:spcBef>
                <a:spcPct val="0"/>
              </a:spcBef>
              <a:spcAft>
                <a:spcPct val="0"/>
              </a:spcAft>
              <a:defRPr/>
            </a:pPr>
            <a:r>
              <a:rPr lang="en-US" sz="900" b="1" kern="0" dirty="0">
                <a:solidFill>
                  <a:prstClr val="black"/>
                </a:solidFill>
                <a:latin typeface="Arial"/>
              </a:rPr>
              <a:t>}</a:t>
            </a:r>
          </a:p>
        </p:txBody>
      </p:sp>
      <p:sp>
        <p:nvSpPr>
          <p:cNvPr id="30" name="Rounded Rectangle 12">
            <a:extLst>
              <a:ext uri="{FF2B5EF4-FFF2-40B4-BE49-F238E27FC236}">
                <a16:creationId xmlns:a16="http://schemas.microsoft.com/office/drawing/2014/main" id="{F4CFD267-A4D2-4B9C-8294-ECFC5DD2FD6A}"/>
              </a:ext>
            </a:extLst>
          </p:cNvPr>
          <p:cNvSpPr/>
          <p:nvPr/>
        </p:nvSpPr>
        <p:spPr>
          <a:xfrm>
            <a:off x="9884308" y="5642791"/>
            <a:ext cx="921480" cy="153620"/>
          </a:xfrm>
          <a:prstGeom prst="roundRect">
            <a:avLst/>
          </a:prstGeom>
          <a:solidFill>
            <a:srgbClr val="008CA8"/>
          </a:solidFill>
          <a:ln w="25400" cap="flat" cmpd="sng" algn="ctr">
            <a:solidFill>
              <a:srgbClr val="008CA8">
                <a:shade val="50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white"/>
                </a:solidFill>
                <a:latin typeface="Arial"/>
              </a:rPr>
              <a:t>func_A</a:t>
            </a:r>
          </a:p>
        </p:txBody>
      </p:sp>
      <p:sp>
        <p:nvSpPr>
          <p:cNvPr id="31" name="Rounded Rectangle 13">
            <a:extLst>
              <a:ext uri="{FF2B5EF4-FFF2-40B4-BE49-F238E27FC236}">
                <a16:creationId xmlns:a16="http://schemas.microsoft.com/office/drawing/2014/main" id="{A1E6E9B5-C145-4717-8350-BA7427565423}"/>
              </a:ext>
            </a:extLst>
          </p:cNvPr>
          <p:cNvSpPr/>
          <p:nvPr/>
        </p:nvSpPr>
        <p:spPr>
          <a:xfrm>
            <a:off x="9884308" y="5795191"/>
            <a:ext cx="921480" cy="153620"/>
          </a:xfrm>
          <a:prstGeom prst="roundRect">
            <a:avLst/>
          </a:prstGeom>
          <a:solidFill>
            <a:srgbClr val="91B800"/>
          </a:solidFill>
          <a:ln w="25400" cap="flat" cmpd="sng" algn="ctr">
            <a:solidFill>
              <a:srgbClr val="6D7076">
                <a:shade val="50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white"/>
                </a:solidFill>
                <a:latin typeface="Arial"/>
              </a:rPr>
              <a:t>func_B</a:t>
            </a:r>
          </a:p>
        </p:txBody>
      </p:sp>
      <p:sp>
        <p:nvSpPr>
          <p:cNvPr id="32" name="Rounded Rectangle 14">
            <a:extLst>
              <a:ext uri="{FF2B5EF4-FFF2-40B4-BE49-F238E27FC236}">
                <a16:creationId xmlns:a16="http://schemas.microsoft.com/office/drawing/2014/main" id="{FC89C3A4-FFA8-41DC-B872-699990E1A1E9}"/>
              </a:ext>
            </a:extLst>
          </p:cNvPr>
          <p:cNvSpPr/>
          <p:nvPr/>
        </p:nvSpPr>
        <p:spPr>
          <a:xfrm>
            <a:off x="9884308" y="4235505"/>
            <a:ext cx="921480" cy="153620"/>
          </a:xfrm>
          <a:prstGeom prst="roundRect">
            <a:avLst/>
          </a:prstGeom>
          <a:solidFill>
            <a:srgbClr val="EE3424">
              <a:lumMod val="75000"/>
            </a:srgbClr>
          </a:solidFill>
          <a:ln w="25400" cap="flat" cmpd="sng" algn="ctr">
            <a:solidFill>
              <a:srgbClr val="EE3424">
                <a:lumMod val="50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err="1">
                <a:solidFill>
                  <a:prstClr val="white"/>
                </a:solidFill>
                <a:latin typeface="Arial"/>
              </a:rPr>
              <a:t>func_AB</a:t>
            </a:r>
            <a:endParaRPr lang="en-US" sz="800" b="1" kern="0" dirty="0">
              <a:solidFill>
                <a:prstClr val="white"/>
              </a:solidFill>
              <a:latin typeface="Arial"/>
            </a:endParaRPr>
          </a:p>
        </p:txBody>
      </p:sp>
      <p:sp>
        <p:nvSpPr>
          <p:cNvPr id="33" name="Rounded Rectangle 15">
            <a:extLst>
              <a:ext uri="{FF2B5EF4-FFF2-40B4-BE49-F238E27FC236}">
                <a16:creationId xmlns:a16="http://schemas.microsoft.com/office/drawing/2014/main" id="{65456889-4FEE-400B-A0E1-B0C1674AC8ED}"/>
              </a:ext>
            </a:extLst>
          </p:cNvPr>
          <p:cNvSpPr/>
          <p:nvPr/>
        </p:nvSpPr>
        <p:spPr>
          <a:xfrm>
            <a:off x="9884308" y="4387905"/>
            <a:ext cx="921480" cy="153620"/>
          </a:xfrm>
          <a:prstGeom prst="roundRect">
            <a:avLst/>
          </a:prstGeom>
          <a:solidFill>
            <a:srgbClr val="91B800"/>
          </a:solidFill>
          <a:ln w="25400" cap="flat" cmpd="sng" algn="ctr">
            <a:solidFill>
              <a:srgbClr val="3F3F3F">
                <a:shade val="50000"/>
              </a:srgbClr>
            </a:solidFill>
            <a:prstDash val="solid"/>
          </a:ln>
          <a:effectLst>
            <a:outerShdw blurRad="50800" dist="38100" dir="2700000" algn="tl" rotWithShape="0">
              <a:prstClr val="black">
                <a:alpha val="40000"/>
              </a:prstClr>
            </a:outerShdw>
          </a:effectLst>
        </p:spPr>
        <p:txBody>
          <a:bodyPr rtlCol="0" anchor="ctr"/>
          <a:lstStyle/>
          <a:p>
            <a:pPr algn="ctr" defTabSz="457200" fontAlgn="base">
              <a:spcBef>
                <a:spcPct val="0"/>
              </a:spcBef>
              <a:spcAft>
                <a:spcPct val="0"/>
              </a:spcAft>
              <a:defRPr/>
            </a:pPr>
            <a:r>
              <a:rPr lang="en-US" sz="800" b="1" kern="0" dirty="0">
                <a:solidFill>
                  <a:prstClr val="white"/>
                </a:solidFill>
                <a:latin typeface="Arial"/>
              </a:rPr>
              <a:t>func_C</a:t>
            </a:r>
          </a:p>
        </p:txBody>
      </p:sp>
      <p:sp>
        <p:nvSpPr>
          <p:cNvPr id="34" name="TextBox 33">
            <a:extLst>
              <a:ext uri="{FF2B5EF4-FFF2-40B4-BE49-F238E27FC236}">
                <a16:creationId xmlns:a16="http://schemas.microsoft.com/office/drawing/2014/main" id="{7C8D452C-1974-4897-A621-FED9BA3DAE7F}"/>
              </a:ext>
            </a:extLst>
          </p:cNvPr>
          <p:cNvSpPr txBox="1"/>
          <p:nvPr/>
        </p:nvSpPr>
        <p:spPr>
          <a:xfrm>
            <a:off x="7272188" y="3275380"/>
            <a:ext cx="611065" cy="253916"/>
          </a:xfrm>
          <a:prstGeom prst="rect">
            <a:avLst/>
          </a:prstGeom>
          <a:solidFill>
            <a:srgbClr val="91B800"/>
          </a:solidFill>
          <a:ln w="9525" cap="flat" cmpd="sng" algn="ctr">
            <a:solidFill>
              <a:srgbClr val="3F3F3F">
                <a:shade val="95000"/>
                <a:satMod val="105000"/>
              </a:srgbClr>
            </a:solidFill>
            <a:prstDash val="solid"/>
          </a:ln>
          <a:effectLst>
            <a:outerShdw blurRad="40000" dist="23000" dir="5400000" rotWithShape="0">
              <a:srgbClr val="000000">
                <a:alpha val="35000"/>
              </a:srgbClr>
            </a:outerShdw>
          </a:effectLst>
        </p:spPr>
        <p:txBody>
          <a:bodyPr wrap="none" rtlCol="0">
            <a:spAutoFit/>
          </a:bodyPr>
          <a:lstStyle/>
          <a:p>
            <a:pPr algn="r" defTabSz="457200" fontAlgn="base">
              <a:spcBef>
                <a:spcPct val="0"/>
              </a:spcBef>
              <a:spcAft>
                <a:spcPct val="0"/>
              </a:spcAft>
              <a:defRPr/>
            </a:pPr>
            <a:r>
              <a:rPr lang="en-US" sz="1050" b="1" kern="0" dirty="0" err="1">
                <a:solidFill>
                  <a:prstClr val="white"/>
                </a:solidFill>
                <a:latin typeface="Arial"/>
              </a:rPr>
              <a:t>main.c</a:t>
            </a:r>
            <a:endParaRPr lang="en-US" sz="1050" b="1" kern="0" dirty="0">
              <a:solidFill>
                <a:prstClr val="white"/>
              </a:solidFill>
              <a:latin typeface="Arial"/>
            </a:endParaRPr>
          </a:p>
        </p:txBody>
      </p:sp>
      <p:sp>
        <p:nvSpPr>
          <p:cNvPr id="35" name="TextBox 34">
            <a:extLst>
              <a:ext uri="{FF2B5EF4-FFF2-40B4-BE49-F238E27FC236}">
                <a16:creationId xmlns:a16="http://schemas.microsoft.com/office/drawing/2014/main" id="{4811A8E1-C1DB-428E-9DD4-80493B6E4B27}"/>
              </a:ext>
            </a:extLst>
          </p:cNvPr>
          <p:cNvSpPr txBox="1"/>
          <p:nvPr/>
        </p:nvSpPr>
        <p:spPr>
          <a:xfrm>
            <a:off x="9218799" y="5042010"/>
            <a:ext cx="851515" cy="253916"/>
          </a:xfrm>
          <a:prstGeom prst="rect">
            <a:avLst/>
          </a:prstGeom>
          <a:solidFill>
            <a:srgbClr val="91B800"/>
          </a:solidFill>
          <a:ln w="9525" cap="flat" cmpd="sng" algn="ctr">
            <a:solidFill>
              <a:srgbClr val="3F3F3F">
                <a:shade val="95000"/>
                <a:satMod val="105000"/>
              </a:srgbClr>
            </a:solidFill>
            <a:prstDash val="solid"/>
          </a:ln>
          <a:effectLst>
            <a:outerShdw blurRad="40000" dist="23000" dir="5400000" rotWithShape="0">
              <a:srgbClr val="000000">
                <a:alpha val="35000"/>
              </a:srgbClr>
            </a:outerShdw>
          </a:effectLst>
        </p:spPr>
        <p:txBody>
          <a:bodyPr wrap="none" rtlCol="0">
            <a:spAutoFit/>
          </a:bodyPr>
          <a:lstStyle/>
          <a:p>
            <a:pPr defTabSz="457200" fontAlgn="base">
              <a:spcBef>
                <a:spcPct val="0"/>
              </a:spcBef>
              <a:spcAft>
                <a:spcPct val="0"/>
              </a:spcAft>
              <a:defRPr/>
            </a:pPr>
            <a:r>
              <a:rPr lang="en-US" sz="1050" b="1" kern="0" dirty="0" err="1">
                <a:solidFill>
                  <a:prstClr val="white"/>
                </a:solidFill>
                <a:latin typeface="Arial"/>
              </a:rPr>
              <a:t>func_AB.c</a:t>
            </a:r>
            <a:endParaRPr lang="en-US" sz="1050" b="1" kern="0" dirty="0">
              <a:solidFill>
                <a:prstClr val="white"/>
              </a:solidFill>
              <a:latin typeface="Arial"/>
            </a:endParaRPr>
          </a:p>
        </p:txBody>
      </p:sp>
      <p:sp>
        <p:nvSpPr>
          <p:cNvPr id="36" name="TextBox 35">
            <a:extLst>
              <a:ext uri="{FF2B5EF4-FFF2-40B4-BE49-F238E27FC236}">
                <a16:creationId xmlns:a16="http://schemas.microsoft.com/office/drawing/2014/main" id="{45F0704C-4190-4E75-B16D-2089253AE4FC}"/>
              </a:ext>
            </a:extLst>
          </p:cNvPr>
          <p:cNvSpPr txBox="1"/>
          <p:nvPr/>
        </p:nvSpPr>
        <p:spPr>
          <a:xfrm>
            <a:off x="874317" y="2793030"/>
            <a:ext cx="4044273" cy="523220"/>
          </a:xfrm>
          <a:prstGeom prst="rect">
            <a:avLst/>
          </a:prstGeom>
          <a:solidFill>
            <a:srgbClr val="6D7076">
              <a:lumMod val="20000"/>
              <a:lumOff val="80000"/>
            </a:srgbClr>
          </a:solidFill>
          <a:ln w="9525" cap="flat" cmpd="sng" algn="ctr">
            <a:solidFill>
              <a:srgbClr val="B20838">
                <a:shade val="95000"/>
                <a:satMod val="105000"/>
              </a:srgbClr>
            </a:solidFill>
            <a:prstDash val="solid"/>
          </a:ln>
          <a:effectLst>
            <a:outerShdw blurRad="40000" dist="20000" dir="5400000" rotWithShape="0">
              <a:srgbClr val="000000">
                <a:alpha val="38000"/>
              </a:srgbClr>
            </a:outerShdw>
          </a:effectLst>
        </p:spPr>
        <p:txBody>
          <a:bodyPr wrap="square" rtlCol="0">
            <a:spAutoFit/>
          </a:bodyPr>
          <a:lstStyle/>
          <a:p>
            <a:pPr algn="ctr" defTabSz="457200" fontAlgn="base">
              <a:spcBef>
                <a:spcPct val="0"/>
              </a:spcBef>
              <a:spcAft>
                <a:spcPct val="0"/>
              </a:spcAft>
              <a:defRPr/>
            </a:pPr>
            <a:r>
              <a:rPr lang="en-US" sz="1400" kern="0" dirty="0">
                <a:solidFill>
                  <a:prstClr val="black"/>
                </a:solidFill>
                <a:latin typeface="Arial"/>
              </a:rPr>
              <a:t>Given a case where functions </a:t>
            </a:r>
            <a:r>
              <a:rPr lang="en-US" sz="1400" kern="0" dirty="0" err="1">
                <a:solidFill>
                  <a:prstClr val="black"/>
                </a:solidFill>
                <a:latin typeface="Arial"/>
              </a:rPr>
              <a:t>func_A</a:t>
            </a:r>
            <a:r>
              <a:rPr lang="en-US" sz="1400" kern="0" dirty="0">
                <a:solidFill>
                  <a:prstClr val="black"/>
                </a:solidFill>
                <a:latin typeface="Arial"/>
              </a:rPr>
              <a:t> and </a:t>
            </a:r>
            <a:r>
              <a:rPr lang="en-US" sz="1400" kern="0" dirty="0" err="1">
                <a:solidFill>
                  <a:prstClr val="black"/>
                </a:solidFill>
                <a:latin typeface="Arial"/>
              </a:rPr>
              <a:t>func_B</a:t>
            </a:r>
            <a:r>
              <a:rPr lang="en-US" sz="1400" kern="0" dirty="0">
                <a:solidFill>
                  <a:prstClr val="black"/>
                </a:solidFill>
                <a:latin typeface="Arial"/>
              </a:rPr>
              <a:t> are to be implemented in FPGA</a:t>
            </a:r>
          </a:p>
        </p:txBody>
      </p:sp>
      <p:sp>
        <p:nvSpPr>
          <p:cNvPr id="37" name="TextBox 36">
            <a:extLst>
              <a:ext uri="{FF2B5EF4-FFF2-40B4-BE49-F238E27FC236}">
                <a16:creationId xmlns:a16="http://schemas.microsoft.com/office/drawing/2014/main" id="{0101EB70-C229-404C-8371-0B75113669E9}"/>
              </a:ext>
            </a:extLst>
          </p:cNvPr>
          <p:cNvSpPr txBox="1"/>
          <p:nvPr/>
        </p:nvSpPr>
        <p:spPr>
          <a:xfrm>
            <a:off x="6710357" y="2793030"/>
            <a:ext cx="4044273" cy="523220"/>
          </a:xfrm>
          <a:prstGeom prst="rect">
            <a:avLst/>
          </a:prstGeom>
          <a:solidFill>
            <a:srgbClr val="6D7076">
              <a:lumMod val="20000"/>
              <a:lumOff val="80000"/>
            </a:srgbClr>
          </a:solidFill>
          <a:ln w="9525" cap="flat" cmpd="sng" algn="ctr">
            <a:solidFill>
              <a:srgbClr val="B20838">
                <a:shade val="95000"/>
                <a:satMod val="105000"/>
              </a:srgbClr>
            </a:solidFill>
            <a:prstDash val="solid"/>
          </a:ln>
          <a:effectLst>
            <a:outerShdw blurRad="40000" dist="20000" dir="5400000" rotWithShape="0">
              <a:srgbClr val="000000">
                <a:alpha val="38000"/>
              </a:srgbClr>
            </a:outerShdw>
          </a:effectLst>
        </p:spPr>
        <p:txBody>
          <a:bodyPr wrap="square" rtlCol="0">
            <a:spAutoFit/>
          </a:bodyPr>
          <a:lstStyle/>
          <a:p>
            <a:pPr algn="ctr" defTabSz="457200" fontAlgn="base">
              <a:spcBef>
                <a:spcPct val="0"/>
              </a:spcBef>
              <a:spcAft>
                <a:spcPct val="0"/>
              </a:spcAft>
              <a:defRPr/>
            </a:pPr>
            <a:r>
              <a:rPr lang="en-US" sz="1400" kern="0" dirty="0">
                <a:solidFill>
                  <a:prstClr val="black"/>
                </a:solidFill>
                <a:latin typeface="Arial"/>
              </a:rPr>
              <a:t>Re-partition the design to create a </a:t>
            </a:r>
            <a:r>
              <a:rPr lang="en-US" sz="1400" b="1" kern="0" dirty="0">
                <a:solidFill>
                  <a:prstClr val="black"/>
                </a:solidFill>
                <a:latin typeface="Arial"/>
              </a:rPr>
              <a:t>new</a:t>
            </a:r>
            <a:r>
              <a:rPr lang="en-US" sz="1400" kern="0" dirty="0">
                <a:solidFill>
                  <a:prstClr val="black"/>
                </a:solidFill>
                <a:latin typeface="Arial"/>
              </a:rPr>
              <a:t> single top-level function inside main()</a:t>
            </a:r>
          </a:p>
        </p:txBody>
      </p:sp>
      <p:sp>
        <p:nvSpPr>
          <p:cNvPr id="38" name="TextBox 37">
            <a:extLst>
              <a:ext uri="{FF2B5EF4-FFF2-40B4-BE49-F238E27FC236}">
                <a16:creationId xmlns:a16="http://schemas.microsoft.com/office/drawing/2014/main" id="{59071664-5BFB-41E6-9DF7-1D61746F6E7C}"/>
              </a:ext>
            </a:extLst>
          </p:cNvPr>
          <p:cNvSpPr txBox="1"/>
          <p:nvPr/>
        </p:nvSpPr>
        <p:spPr>
          <a:xfrm>
            <a:off x="4048303" y="5694922"/>
            <a:ext cx="2713247" cy="430887"/>
          </a:xfrm>
          <a:prstGeom prst="rect">
            <a:avLst/>
          </a:prstGeom>
          <a:solidFill>
            <a:srgbClr val="FFFF99"/>
          </a:solidFill>
          <a:ln w="28575">
            <a:solidFill>
              <a:srgbClr val="000000"/>
            </a:solidFill>
          </a:ln>
          <a:effectLst>
            <a:innerShdw blurRad="63500" dist="50800" dir="2700000">
              <a:prstClr val="black">
                <a:alpha val="50000"/>
              </a:prstClr>
            </a:innerShdw>
          </a:effectLst>
        </p:spPr>
        <p:txBody>
          <a:bodyPr wrap="square" rtlCol="0">
            <a:spAutoFit/>
          </a:bodyPr>
          <a:lstStyle/>
          <a:p>
            <a:pPr algn="ctr" defTabSz="457200" fontAlgn="base">
              <a:spcBef>
                <a:spcPct val="0"/>
              </a:spcBef>
              <a:spcAft>
                <a:spcPct val="0"/>
              </a:spcAft>
              <a:defRPr/>
            </a:pPr>
            <a:r>
              <a:rPr lang="en-US" sz="1100" b="1" kern="0" dirty="0">
                <a:solidFill>
                  <a:prstClr val="black"/>
                </a:solidFill>
                <a:ea typeface="ＭＳ Ｐゴシック" pitchFamily="34" charset="-128"/>
                <a:cs typeface="Arial" charset="0"/>
              </a:rPr>
              <a:t>Recommendation is to separate test bench and design files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179F2-D4FD-4732-9C24-20CBFDE8F675}"/>
              </a:ext>
            </a:extLst>
          </p:cNvPr>
          <p:cNvSpPr>
            <a:spLocks noGrp="1"/>
          </p:cNvSpPr>
          <p:nvPr>
            <p:ph type="title"/>
          </p:nvPr>
        </p:nvSpPr>
        <p:spPr/>
        <p:txBody>
          <a:bodyPr/>
          <a:lstStyle/>
          <a:p>
            <a:pPr>
              <a:spcBef>
                <a:spcPts val="600"/>
              </a:spcBef>
            </a:pPr>
            <a:r>
              <a:rPr lang="en-US" altLang="zh-CN" dirty="0" err="1">
                <a:solidFill>
                  <a:srgbClr val="FFFFFF"/>
                </a:solidFill>
              </a:rPr>
              <a:t>Vitis</a:t>
            </a:r>
            <a:r>
              <a:rPr lang="en-US" altLang="zh-CN" dirty="0">
                <a:solidFill>
                  <a:srgbClr val="FFFFFF"/>
                </a:solidFill>
              </a:rPr>
              <a:t> Flow and Vivado Flow</a:t>
            </a:r>
          </a:p>
        </p:txBody>
      </p:sp>
    </p:spTree>
    <p:extLst>
      <p:ext uri="{BB962C8B-B14F-4D97-AF65-F5344CB8AC3E}">
        <p14:creationId xmlns:p14="http://schemas.microsoft.com/office/powerpoint/2010/main" val="19695831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4F5015-F324-48D2-8BDF-C153A94443EC}"/>
              </a:ext>
            </a:extLst>
          </p:cNvPr>
          <p:cNvSpPr>
            <a:spLocks noGrp="1"/>
          </p:cNvSpPr>
          <p:nvPr>
            <p:ph type="title"/>
          </p:nvPr>
        </p:nvSpPr>
        <p:spPr/>
        <p:txBody>
          <a:bodyPr/>
          <a:lstStyle/>
          <a:p>
            <a:r>
              <a:rPr lang="en-US" altLang="zh-CN" dirty="0" err="1"/>
              <a:t>Vitis</a:t>
            </a:r>
            <a:r>
              <a:rPr lang="en-US" altLang="zh-CN" dirty="0"/>
              <a:t> Flow (Kernel Mode)</a:t>
            </a:r>
          </a:p>
        </p:txBody>
      </p:sp>
      <p:sp>
        <p:nvSpPr>
          <p:cNvPr id="3" name="灯片编号占位符 2">
            <a:extLst>
              <a:ext uri="{FF2B5EF4-FFF2-40B4-BE49-F238E27FC236}">
                <a16:creationId xmlns:a16="http://schemas.microsoft.com/office/drawing/2014/main" id="{078A0A71-C5AE-4621-A463-739AC2B5EC04}"/>
              </a:ext>
            </a:extLst>
          </p:cNvPr>
          <p:cNvSpPr>
            <a:spLocks noGrp="1"/>
          </p:cNvSpPr>
          <p:nvPr>
            <p:ph type="sldNum" sz="quarter" idx="10"/>
          </p:nvPr>
        </p:nvSpPr>
        <p:spPr/>
        <p:txBody>
          <a:bodyPr/>
          <a:lstStyle/>
          <a:p>
            <a:fld id="{626C978B-826E-438C-909A-E9C381D3FF04}" type="slidenum">
              <a:rPr lang="en-US" smtClean="0"/>
              <a:pPr/>
              <a:t>39</a:t>
            </a:fld>
            <a:endParaRPr lang="en-US"/>
          </a:p>
        </p:txBody>
      </p:sp>
      <p:sp>
        <p:nvSpPr>
          <p:cNvPr id="4" name="内容占位符 3">
            <a:extLst>
              <a:ext uri="{FF2B5EF4-FFF2-40B4-BE49-F238E27FC236}">
                <a16:creationId xmlns:a16="http://schemas.microsoft.com/office/drawing/2014/main" id="{C7699B48-5A6D-4E5C-B98C-63E87AECF928}"/>
              </a:ext>
            </a:extLst>
          </p:cNvPr>
          <p:cNvSpPr>
            <a:spLocks noGrp="1"/>
          </p:cNvSpPr>
          <p:nvPr>
            <p:ph idx="1"/>
          </p:nvPr>
        </p:nvSpPr>
        <p:spPr>
          <a:xfrm>
            <a:off x="586646" y="1920240"/>
            <a:ext cx="10061172" cy="4632960"/>
          </a:xfrm>
        </p:spPr>
        <p:txBody>
          <a:bodyPr/>
          <a:lstStyle/>
          <a:p>
            <a:r>
              <a:rPr lang="en-US" dirty="0" err="1"/>
              <a:t>open_solution</a:t>
            </a:r>
            <a:r>
              <a:rPr lang="en-US" dirty="0"/>
              <a:t> -</a:t>
            </a:r>
            <a:r>
              <a:rPr lang="en-US" dirty="0" err="1"/>
              <a:t>flow_target</a:t>
            </a:r>
            <a:r>
              <a:rPr lang="en-US" dirty="0"/>
              <a:t> </a:t>
            </a:r>
            <a:r>
              <a:rPr lang="en-US" dirty="0" err="1"/>
              <a:t>vitis</a:t>
            </a:r>
            <a:endParaRPr lang="en-US" dirty="0"/>
          </a:p>
          <a:p>
            <a:r>
              <a:rPr lang="en-US" dirty="0"/>
              <a:t>Infer interfaces for the function arguments</a:t>
            </a:r>
          </a:p>
          <a:p>
            <a:r>
              <a:rPr lang="en-US" dirty="0"/>
              <a:t>Without the need to specify the INTERFACE pragma or directive</a:t>
            </a:r>
          </a:p>
          <a:p>
            <a:r>
              <a:rPr lang="en-US" dirty="0"/>
              <a:t>Output the synthesized RTL code as a </a:t>
            </a:r>
            <a:r>
              <a:rPr lang="en-US" dirty="0" err="1"/>
              <a:t>Vitis</a:t>
            </a:r>
            <a:r>
              <a:rPr lang="en-US" dirty="0"/>
              <a:t> kernel object file (.xo)</a:t>
            </a:r>
          </a:p>
        </p:txBody>
      </p:sp>
    </p:spTree>
    <p:extLst>
      <p:ext uri="{BB962C8B-B14F-4D97-AF65-F5344CB8AC3E}">
        <p14:creationId xmlns:p14="http://schemas.microsoft.com/office/powerpoint/2010/main" val="275793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4F5015-F324-48D2-8BDF-C153A94443EC}"/>
              </a:ext>
            </a:extLst>
          </p:cNvPr>
          <p:cNvSpPr>
            <a:spLocks noGrp="1"/>
          </p:cNvSpPr>
          <p:nvPr>
            <p:ph type="title"/>
          </p:nvPr>
        </p:nvSpPr>
        <p:spPr/>
        <p:txBody>
          <a:bodyPr/>
          <a:lstStyle/>
          <a:p>
            <a:r>
              <a:rPr lang="en-US" altLang="zh-CN" dirty="0" err="1"/>
              <a:t>Vitis</a:t>
            </a:r>
            <a:r>
              <a:rPr lang="en-US" altLang="zh-CN" dirty="0"/>
              <a:t> Flow (Kernel Mode)</a:t>
            </a:r>
          </a:p>
        </p:txBody>
      </p:sp>
      <p:sp>
        <p:nvSpPr>
          <p:cNvPr id="3" name="灯片编号占位符 2">
            <a:extLst>
              <a:ext uri="{FF2B5EF4-FFF2-40B4-BE49-F238E27FC236}">
                <a16:creationId xmlns:a16="http://schemas.microsoft.com/office/drawing/2014/main" id="{078A0A71-C5AE-4621-A463-739AC2B5EC04}"/>
              </a:ext>
            </a:extLst>
          </p:cNvPr>
          <p:cNvSpPr>
            <a:spLocks noGrp="1"/>
          </p:cNvSpPr>
          <p:nvPr>
            <p:ph type="sldNum" sz="quarter" idx="10"/>
          </p:nvPr>
        </p:nvSpPr>
        <p:spPr/>
        <p:txBody>
          <a:bodyPr/>
          <a:lstStyle/>
          <a:p>
            <a:fld id="{626C978B-826E-438C-909A-E9C381D3FF04}" type="slidenum">
              <a:rPr lang="en-US" smtClean="0"/>
              <a:pPr/>
              <a:t>40</a:t>
            </a:fld>
            <a:endParaRPr lang="en-US"/>
          </a:p>
        </p:txBody>
      </p:sp>
      <p:graphicFrame>
        <p:nvGraphicFramePr>
          <p:cNvPr id="6" name="表格 5">
            <a:extLst>
              <a:ext uri="{FF2B5EF4-FFF2-40B4-BE49-F238E27FC236}">
                <a16:creationId xmlns:a16="http://schemas.microsoft.com/office/drawing/2014/main" id="{59EA3AE2-38BE-4E2E-94FC-3DA8EC6F81F6}"/>
              </a:ext>
            </a:extLst>
          </p:cNvPr>
          <p:cNvGraphicFramePr>
            <a:graphicFrameLocks noGrp="1"/>
          </p:cNvGraphicFramePr>
          <p:nvPr/>
        </p:nvGraphicFramePr>
        <p:xfrm>
          <a:off x="2080130" y="1791292"/>
          <a:ext cx="8464001" cy="3704717"/>
        </p:xfrm>
        <a:graphic>
          <a:graphicData uri="http://schemas.openxmlformats.org/drawingml/2006/table">
            <a:tbl>
              <a:tblPr/>
              <a:tblGrid>
                <a:gridCol w="1209143">
                  <a:extLst>
                    <a:ext uri="{9D8B030D-6E8A-4147-A177-3AD203B41FA5}">
                      <a16:colId xmlns:a16="http://schemas.microsoft.com/office/drawing/2014/main" val="1167923369"/>
                    </a:ext>
                  </a:extLst>
                </a:gridCol>
                <a:gridCol w="1209143">
                  <a:extLst>
                    <a:ext uri="{9D8B030D-6E8A-4147-A177-3AD203B41FA5}">
                      <a16:colId xmlns:a16="http://schemas.microsoft.com/office/drawing/2014/main" val="685230650"/>
                    </a:ext>
                  </a:extLst>
                </a:gridCol>
                <a:gridCol w="1209143">
                  <a:extLst>
                    <a:ext uri="{9D8B030D-6E8A-4147-A177-3AD203B41FA5}">
                      <a16:colId xmlns:a16="http://schemas.microsoft.com/office/drawing/2014/main" val="2649601812"/>
                    </a:ext>
                  </a:extLst>
                </a:gridCol>
                <a:gridCol w="1209143">
                  <a:extLst>
                    <a:ext uri="{9D8B030D-6E8A-4147-A177-3AD203B41FA5}">
                      <a16:colId xmlns:a16="http://schemas.microsoft.com/office/drawing/2014/main" val="3901028684"/>
                    </a:ext>
                  </a:extLst>
                </a:gridCol>
                <a:gridCol w="1209143">
                  <a:extLst>
                    <a:ext uri="{9D8B030D-6E8A-4147-A177-3AD203B41FA5}">
                      <a16:colId xmlns:a16="http://schemas.microsoft.com/office/drawing/2014/main" val="2151274461"/>
                    </a:ext>
                  </a:extLst>
                </a:gridCol>
                <a:gridCol w="1209143">
                  <a:extLst>
                    <a:ext uri="{9D8B030D-6E8A-4147-A177-3AD203B41FA5}">
                      <a16:colId xmlns:a16="http://schemas.microsoft.com/office/drawing/2014/main" val="263081018"/>
                    </a:ext>
                  </a:extLst>
                </a:gridCol>
                <a:gridCol w="1209143">
                  <a:extLst>
                    <a:ext uri="{9D8B030D-6E8A-4147-A177-3AD203B41FA5}">
                      <a16:colId xmlns:a16="http://schemas.microsoft.com/office/drawing/2014/main" val="3107668031"/>
                    </a:ext>
                  </a:extLst>
                </a:gridCol>
              </a:tblGrid>
              <a:tr h="641979">
                <a:tc>
                  <a:txBody>
                    <a:bodyPr/>
                    <a:lstStyle/>
                    <a:p>
                      <a:pPr algn="ctr" fontAlgn="t"/>
                      <a:r>
                        <a:rPr lang="en-US" dirty="0">
                          <a:solidFill>
                            <a:srgbClr val="FFFFFF"/>
                          </a:solidFill>
                          <a:effectLst/>
                        </a:rPr>
                        <a:t>Argument Type</a:t>
                      </a:r>
                    </a:p>
                  </a:txBody>
                  <a:tcPr marL="76200" marR="76200" marT="76200" marB="7620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696969"/>
                    </a:solidFill>
                  </a:tcPr>
                </a:tc>
                <a:tc gridSpan="2">
                  <a:txBody>
                    <a:bodyPr/>
                    <a:lstStyle/>
                    <a:p>
                      <a:pPr algn="ctr" fontAlgn="t"/>
                      <a:r>
                        <a:rPr lang="en-US" dirty="0">
                          <a:solidFill>
                            <a:srgbClr val="FFFFFF"/>
                          </a:solidFill>
                          <a:effectLst/>
                        </a:rPr>
                        <a:t>Scalar</a:t>
                      </a:r>
                    </a:p>
                  </a:txBody>
                  <a:tcPr marL="76200" marR="76200" marT="76200" marB="7620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696969"/>
                    </a:solidFill>
                  </a:tcPr>
                </a:tc>
                <a:tc hMerge="1">
                  <a:txBody>
                    <a:bodyPr/>
                    <a:lstStyle/>
                    <a:p>
                      <a:endParaRPr lang="zh-CN" altLang="en-US"/>
                    </a:p>
                  </a:txBody>
                  <a:tcPr/>
                </a:tc>
                <a:tc gridSpan="3">
                  <a:txBody>
                    <a:bodyPr/>
                    <a:lstStyle/>
                    <a:p>
                      <a:pPr algn="ctr" fontAlgn="t"/>
                      <a:r>
                        <a:rPr lang="en-US" dirty="0">
                          <a:solidFill>
                            <a:srgbClr val="FFFFFF"/>
                          </a:solidFill>
                          <a:effectLst/>
                        </a:rPr>
                        <a:t>Pointer to an Array</a:t>
                      </a:r>
                    </a:p>
                  </a:txBody>
                  <a:tcPr marL="76200" marR="76200" marT="76200" marB="7620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696969"/>
                    </a:solidFill>
                  </a:tcPr>
                </a:tc>
                <a:tc hMerge="1">
                  <a:txBody>
                    <a:bodyPr/>
                    <a:lstStyle/>
                    <a:p>
                      <a:endParaRPr lang="zh-CN" altLang="en-US"/>
                    </a:p>
                  </a:txBody>
                  <a:tcPr/>
                </a:tc>
                <a:tc hMerge="1">
                  <a:txBody>
                    <a:bodyPr/>
                    <a:lstStyle/>
                    <a:p>
                      <a:endParaRPr lang="zh-CN" altLang="en-US"/>
                    </a:p>
                  </a:txBody>
                  <a:tcPr/>
                </a:tc>
                <a:tc>
                  <a:txBody>
                    <a:bodyPr/>
                    <a:lstStyle/>
                    <a:p>
                      <a:pPr algn="ctr" fontAlgn="t"/>
                      <a:r>
                        <a:rPr lang="en-US">
                          <a:solidFill>
                            <a:srgbClr val="FFFFFF"/>
                          </a:solidFill>
                          <a:effectLst/>
                        </a:rPr>
                        <a:t>Hls::stream</a:t>
                      </a:r>
                    </a:p>
                  </a:txBody>
                  <a:tcPr marL="76200" marR="76200" marT="76200" marB="7620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696969"/>
                    </a:solidFill>
                  </a:tcPr>
                </a:tc>
                <a:extLst>
                  <a:ext uri="{0D108BD9-81ED-4DB2-BD59-A6C34878D82A}">
                    <a16:rowId xmlns:a16="http://schemas.microsoft.com/office/drawing/2014/main" val="2664143234"/>
                  </a:ext>
                </a:extLst>
              </a:tr>
              <a:tr h="641979">
                <a:tc>
                  <a:txBody>
                    <a:bodyPr/>
                    <a:lstStyle/>
                    <a:p>
                      <a:pPr algn="ctr" fontAlgn="t"/>
                      <a:r>
                        <a:rPr lang="en-US">
                          <a:solidFill>
                            <a:srgbClr val="FFFFFF"/>
                          </a:solidFill>
                          <a:effectLst/>
                        </a:rPr>
                        <a:t>Interface Mode</a:t>
                      </a:r>
                    </a:p>
                  </a:txBody>
                  <a:tcPr marL="76200" marR="76200" marT="76200" marB="7620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696969"/>
                    </a:solidFill>
                  </a:tcPr>
                </a:tc>
                <a:tc>
                  <a:txBody>
                    <a:bodyPr/>
                    <a:lstStyle/>
                    <a:p>
                      <a:pPr algn="ctr" fontAlgn="t"/>
                      <a:r>
                        <a:rPr lang="en-US">
                          <a:solidFill>
                            <a:srgbClr val="FFFFFF"/>
                          </a:solidFill>
                          <a:effectLst/>
                        </a:rPr>
                        <a:t>Input</a:t>
                      </a:r>
                    </a:p>
                  </a:txBody>
                  <a:tcPr marL="76200" marR="76200" marT="76200" marB="7620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696969"/>
                    </a:solidFill>
                  </a:tcPr>
                </a:tc>
                <a:tc>
                  <a:txBody>
                    <a:bodyPr/>
                    <a:lstStyle/>
                    <a:p>
                      <a:pPr algn="ctr" fontAlgn="t"/>
                      <a:r>
                        <a:rPr lang="en-US" dirty="0">
                          <a:solidFill>
                            <a:srgbClr val="FFFFFF"/>
                          </a:solidFill>
                          <a:effectLst/>
                        </a:rPr>
                        <a:t>Return</a:t>
                      </a:r>
                    </a:p>
                  </a:txBody>
                  <a:tcPr marL="76200" marR="76200" marT="76200" marB="7620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696969"/>
                    </a:solidFill>
                  </a:tcPr>
                </a:tc>
                <a:tc>
                  <a:txBody>
                    <a:bodyPr/>
                    <a:lstStyle/>
                    <a:p>
                      <a:pPr algn="ctr" fontAlgn="t"/>
                      <a:r>
                        <a:rPr lang="en-US">
                          <a:solidFill>
                            <a:srgbClr val="FFFFFF"/>
                          </a:solidFill>
                          <a:effectLst/>
                        </a:rPr>
                        <a:t>I</a:t>
                      </a:r>
                    </a:p>
                  </a:txBody>
                  <a:tcPr marL="76200" marR="76200" marT="76200" marB="7620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696969"/>
                    </a:solidFill>
                  </a:tcPr>
                </a:tc>
                <a:tc>
                  <a:txBody>
                    <a:bodyPr/>
                    <a:lstStyle/>
                    <a:p>
                      <a:pPr algn="ctr" fontAlgn="t"/>
                      <a:r>
                        <a:rPr lang="en-US">
                          <a:solidFill>
                            <a:srgbClr val="FFFFFF"/>
                          </a:solidFill>
                          <a:effectLst/>
                        </a:rPr>
                        <a:t>I/O</a:t>
                      </a:r>
                    </a:p>
                  </a:txBody>
                  <a:tcPr marL="76200" marR="76200" marT="76200" marB="7620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696969"/>
                    </a:solidFill>
                  </a:tcPr>
                </a:tc>
                <a:tc>
                  <a:txBody>
                    <a:bodyPr/>
                    <a:lstStyle/>
                    <a:p>
                      <a:pPr algn="ctr" fontAlgn="t"/>
                      <a:r>
                        <a:rPr lang="en-US">
                          <a:solidFill>
                            <a:srgbClr val="FFFFFF"/>
                          </a:solidFill>
                          <a:effectLst/>
                        </a:rPr>
                        <a:t>O</a:t>
                      </a:r>
                    </a:p>
                  </a:txBody>
                  <a:tcPr marL="76200" marR="76200" marT="76200" marB="7620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696969"/>
                    </a:solidFill>
                  </a:tcPr>
                </a:tc>
                <a:tc>
                  <a:txBody>
                    <a:bodyPr/>
                    <a:lstStyle/>
                    <a:p>
                      <a:pPr algn="ctr" fontAlgn="t"/>
                      <a:r>
                        <a:rPr lang="en-US">
                          <a:solidFill>
                            <a:srgbClr val="FFFFFF"/>
                          </a:solidFill>
                          <a:effectLst/>
                        </a:rPr>
                        <a:t>I and O</a:t>
                      </a:r>
                    </a:p>
                  </a:txBody>
                  <a:tcPr marL="76200" marR="76200" marT="76200" marB="7620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696969"/>
                    </a:solidFill>
                  </a:tcPr>
                </a:tc>
                <a:extLst>
                  <a:ext uri="{0D108BD9-81ED-4DB2-BD59-A6C34878D82A}">
                    <a16:rowId xmlns:a16="http://schemas.microsoft.com/office/drawing/2014/main" val="908536084"/>
                  </a:ext>
                </a:extLst>
              </a:tr>
              <a:tr h="572224">
                <a:tc>
                  <a:txBody>
                    <a:bodyPr/>
                    <a:lstStyle/>
                    <a:p>
                      <a:pPr fontAlgn="t">
                        <a:spcAft>
                          <a:spcPts val="400"/>
                        </a:spcAft>
                      </a:pPr>
                      <a:r>
                        <a:rPr lang="en-US">
                          <a:effectLst/>
                        </a:rPr>
                        <a:t>ap_ctrl_none</a:t>
                      </a:r>
                    </a:p>
                  </a:txBody>
                  <a:tcPr marL="38100" marR="38100" marT="38100" marB="3810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zh-CN" altLang="en-US">
                          <a:effectLst/>
                        </a:rPr>
                        <a:t> </a:t>
                      </a:r>
                    </a:p>
                  </a:txBody>
                  <a:tcPr marL="38100" marR="38100" marT="38100" marB="3810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zh-CN" altLang="en-US">
                          <a:effectLst/>
                        </a:rPr>
                        <a:t> </a:t>
                      </a:r>
                    </a:p>
                  </a:txBody>
                  <a:tcPr marL="38100" marR="38100" marT="38100" marB="3810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zh-CN" altLang="en-US">
                          <a:effectLst/>
                        </a:rPr>
                        <a:t> </a:t>
                      </a:r>
                    </a:p>
                  </a:txBody>
                  <a:tcPr marL="38100" marR="38100" marT="38100" marB="3810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zh-CN" altLang="en-US">
                          <a:effectLst/>
                        </a:rPr>
                        <a:t> </a:t>
                      </a:r>
                    </a:p>
                  </a:txBody>
                  <a:tcPr marL="38100" marR="38100" marT="38100" marB="3810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zh-CN" altLang="en-US">
                          <a:effectLst/>
                        </a:rPr>
                        <a:t> </a:t>
                      </a:r>
                    </a:p>
                  </a:txBody>
                  <a:tcPr marL="38100" marR="38100" marT="38100" marB="3810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zh-CN" altLang="en-US">
                          <a:effectLst/>
                        </a:rPr>
                        <a:t> </a:t>
                      </a:r>
                    </a:p>
                  </a:txBody>
                  <a:tcPr marL="38100" marR="38100" marT="38100" marB="3810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extLst>
                  <a:ext uri="{0D108BD9-81ED-4DB2-BD59-A6C34878D82A}">
                    <a16:rowId xmlns:a16="http://schemas.microsoft.com/office/drawing/2014/main" val="533362293"/>
                  </a:ext>
                </a:extLst>
              </a:tr>
              <a:tr h="320990">
                <a:tc>
                  <a:txBody>
                    <a:bodyPr/>
                    <a:lstStyle/>
                    <a:p>
                      <a:pPr fontAlgn="t">
                        <a:spcAft>
                          <a:spcPts val="400"/>
                        </a:spcAft>
                      </a:pPr>
                      <a:r>
                        <a:rPr lang="en-US">
                          <a:effectLst/>
                        </a:rPr>
                        <a:t>ap_ctrl_hs</a:t>
                      </a:r>
                    </a:p>
                  </a:txBody>
                  <a:tcPr marL="38100" marR="38100" marT="38100" marB="3810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zh-CN" altLang="en-US">
                          <a:effectLst/>
                        </a:rPr>
                        <a:t> </a:t>
                      </a:r>
                    </a:p>
                  </a:txBody>
                  <a:tcPr marL="38100" marR="38100" marT="38100" marB="3810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zh-CN" altLang="en-US">
                          <a:effectLst/>
                        </a:rPr>
                        <a:t> </a:t>
                      </a:r>
                    </a:p>
                  </a:txBody>
                  <a:tcPr marL="38100" marR="38100" marT="38100" marB="3810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zh-CN" altLang="en-US">
                          <a:effectLst/>
                        </a:rPr>
                        <a:t> </a:t>
                      </a:r>
                    </a:p>
                  </a:txBody>
                  <a:tcPr marL="38100" marR="38100" marT="38100" marB="3810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zh-CN" altLang="en-US">
                          <a:effectLst/>
                        </a:rPr>
                        <a:t> </a:t>
                      </a:r>
                    </a:p>
                  </a:txBody>
                  <a:tcPr marL="38100" marR="38100" marT="38100" marB="3810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zh-CN" altLang="en-US">
                          <a:effectLst/>
                        </a:rPr>
                        <a:t> </a:t>
                      </a:r>
                    </a:p>
                  </a:txBody>
                  <a:tcPr marL="38100" marR="38100" marT="38100" marB="3810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zh-CN" altLang="en-US">
                          <a:effectLst/>
                        </a:rPr>
                        <a:t> </a:t>
                      </a:r>
                    </a:p>
                  </a:txBody>
                  <a:tcPr marL="38100" marR="38100" marT="38100" marB="3810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extLst>
                  <a:ext uri="{0D108BD9-81ED-4DB2-BD59-A6C34878D82A}">
                    <a16:rowId xmlns:a16="http://schemas.microsoft.com/office/drawing/2014/main" val="2773023047"/>
                  </a:ext>
                </a:extLst>
              </a:tr>
              <a:tr h="572224">
                <a:tc>
                  <a:txBody>
                    <a:bodyPr/>
                    <a:lstStyle/>
                    <a:p>
                      <a:pPr fontAlgn="t">
                        <a:spcAft>
                          <a:spcPts val="400"/>
                        </a:spcAft>
                      </a:pPr>
                      <a:r>
                        <a:rPr lang="en-US">
                          <a:effectLst/>
                        </a:rPr>
                        <a:t>ap_ctrl_chain</a:t>
                      </a:r>
                    </a:p>
                  </a:txBody>
                  <a:tcPr marL="38100" marR="38100" marT="38100" marB="3810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zh-CN" altLang="en-US">
                          <a:effectLst/>
                        </a:rPr>
                        <a:t> </a:t>
                      </a:r>
                    </a:p>
                  </a:txBody>
                  <a:tcPr marL="38100" marR="38100" marT="38100" marB="3810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en-US">
                          <a:effectLst/>
                        </a:rPr>
                        <a:t>D</a:t>
                      </a:r>
                    </a:p>
                  </a:txBody>
                  <a:tcPr marL="38100" marR="38100" marT="38100" marB="3810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zh-CN" altLang="en-US">
                          <a:effectLst/>
                        </a:rPr>
                        <a:t> </a:t>
                      </a:r>
                    </a:p>
                  </a:txBody>
                  <a:tcPr marL="38100" marR="38100" marT="38100" marB="3810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zh-CN" altLang="en-US">
                          <a:effectLst/>
                        </a:rPr>
                        <a:t> </a:t>
                      </a:r>
                    </a:p>
                  </a:txBody>
                  <a:tcPr marL="38100" marR="38100" marT="38100" marB="3810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zh-CN" altLang="en-US">
                          <a:effectLst/>
                        </a:rPr>
                        <a:t> </a:t>
                      </a:r>
                    </a:p>
                  </a:txBody>
                  <a:tcPr marL="38100" marR="38100" marT="38100" marB="3810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zh-CN" altLang="en-US">
                          <a:effectLst/>
                        </a:rPr>
                        <a:t> </a:t>
                      </a:r>
                    </a:p>
                  </a:txBody>
                  <a:tcPr marL="38100" marR="38100" marT="38100" marB="3810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extLst>
                  <a:ext uri="{0D108BD9-81ED-4DB2-BD59-A6C34878D82A}">
                    <a16:rowId xmlns:a16="http://schemas.microsoft.com/office/drawing/2014/main" val="234243458"/>
                  </a:ext>
                </a:extLst>
              </a:tr>
              <a:tr h="320990">
                <a:tc>
                  <a:txBody>
                    <a:bodyPr/>
                    <a:lstStyle/>
                    <a:p>
                      <a:pPr fontAlgn="t">
                        <a:spcAft>
                          <a:spcPts val="400"/>
                        </a:spcAft>
                      </a:pPr>
                      <a:r>
                        <a:rPr lang="en-US">
                          <a:effectLst/>
                        </a:rPr>
                        <a:t>axis</a:t>
                      </a:r>
                    </a:p>
                  </a:txBody>
                  <a:tcPr marL="38100" marR="38100" marT="38100" marB="3810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zh-CN" altLang="en-US">
                          <a:effectLst/>
                        </a:rPr>
                        <a:t> </a:t>
                      </a:r>
                    </a:p>
                  </a:txBody>
                  <a:tcPr marL="38100" marR="38100" marT="38100" marB="3810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zh-CN" altLang="en-US">
                          <a:effectLst/>
                        </a:rPr>
                        <a:t> </a:t>
                      </a:r>
                    </a:p>
                  </a:txBody>
                  <a:tcPr marL="38100" marR="38100" marT="38100" marB="3810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zh-CN" altLang="en-US">
                          <a:effectLst/>
                        </a:rPr>
                        <a:t> </a:t>
                      </a:r>
                    </a:p>
                  </a:txBody>
                  <a:tcPr marL="38100" marR="38100" marT="38100" marB="3810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zh-CN" altLang="en-US">
                          <a:effectLst/>
                        </a:rPr>
                        <a:t> </a:t>
                      </a:r>
                    </a:p>
                  </a:txBody>
                  <a:tcPr marL="38100" marR="38100" marT="38100" marB="3810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zh-CN" altLang="en-US">
                          <a:effectLst/>
                        </a:rPr>
                        <a:t> </a:t>
                      </a:r>
                    </a:p>
                  </a:txBody>
                  <a:tcPr marL="38100" marR="38100" marT="38100" marB="3810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en-US">
                          <a:effectLst/>
                        </a:rPr>
                        <a:t>D</a:t>
                      </a:r>
                    </a:p>
                  </a:txBody>
                  <a:tcPr marL="38100" marR="38100" marT="38100" marB="3810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extLst>
                  <a:ext uri="{0D108BD9-81ED-4DB2-BD59-A6C34878D82A}">
                    <a16:rowId xmlns:a16="http://schemas.microsoft.com/office/drawing/2014/main" val="2664316917"/>
                  </a:ext>
                </a:extLst>
              </a:tr>
              <a:tr h="320990">
                <a:tc>
                  <a:txBody>
                    <a:bodyPr/>
                    <a:lstStyle/>
                    <a:p>
                      <a:pPr fontAlgn="t">
                        <a:spcAft>
                          <a:spcPts val="400"/>
                        </a:spcAft>
                      </a:pPr>
                      <a:r>
                        <a:rPr lang="en-US">
                          <a:effectLst/>
                        </a:rPr>
                        <a:t>m_axi</a:t>
                      </a:r>
                    </a:p>
                  </a:txBody>
                  <a:tcPr marL="38100" marR="38100" marT="38100" marB="3810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zh-CN" altLang="en-US">
                          <a:effectLst/>
                        </a:rPr>
                        <a:t> </a:t>
                      </a:r>
                    </a:p>
                  </a:txBody>
                  <a:tcPr marL="38100" marR="38100" marT="38100" marB="3810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zh-CN" altLang="en-US">
                          <a:effectLst/>
                        </a:rPr>
                        <a:t> </a:t>
                      </a:r>
                    </a:p>
                  </a:txBody>
                  <a:tcPr marL="38100" marR="38100" marT="38100" marB="3810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en-US" dirty="0">
                          <a:effectLst/>
                        </a:rPr>
                        <a:t>D</a:t>
                      </a:r>
                    </a:p>
                  </a:txBody>
                  <a:tcPr marL="38100" marR="38100" marT="38100" marB="3810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en-US">
                          <a:effectLst/>
                        </a:rPr>
                        <a:t>D</a:t>
                      </a:r>
                    </a:p>
                  </a:txBody>
                  <a:tcPr marL="38100" marR="38100" marT="38100" marB="3810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en-US">
                          <a:effectLst/>
                        </a:rPr>
                        <a:t>D</a:t>
                      </a:r>
                    </a:p>
                  </a:txBody>
                  <a:tcPr marL="38100" marR="38100" marT="38100" marB="3810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zh-CN" altLang="en-US" dirty="0">
                          <a:effectLst/>
                        </a:rPr>
                        <a:t> </a:t>
                      </a:r>
                    </a:p>
                  </a:txBody>
                  <a:tcPr marL="38100" marR="38100" marT="38100" marB="3810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extLst>
                  <a:ext uri="{0D108BD9-81ED-4DB2-BD59-A6C34878D82A}">
                    <a16:rowId xmlns:a16="http://schemas.microsoft.com/office/drawing/2014/main" val="3409874434"/>
                  </a:ext>
                </a:extLst>
              </a:tr>
            </a:tbl>
          </a:graphicData>
        </a:graphic>
      </p:graphicFrame>
    </p:spTree>
    <p:extLst>
      <p:ext uri="{BB962C8B-B14F-4D97-AF65-F5344CB8AC3E}">
        <p14:creationId xmlns:p14="http://schemas.microsoft.com/office/powerpoint/2010/main" val="536695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4F5015-F324-48D2-8BDF-C153A94443EC}"/>
              </a:ext>
            </a:extLst>
          </p:cNvPr>
          <p:cNvSpPr>
            <a:spLocks noGrp="1"/>
          </p:cNvSpPr>
          <p:nvPr>
            <p:ph type="title"/>
          </p:nvPr>
        </p:nvSpPr>
        <p:spPr/>
        <p:txBody>
          <a:bodyPr/>
          <a:lstStyle/>
          <a:p>
            <a:r>
              <a:rPr lang="en-US" altLang="zh-CN" dirty="0" err="1"/>
              <a:t>Vitis</a:t>
            </a:r>
            <a:r>
              <a:rPr lang="en-US" altLang="zh-CN" dirty="0"/>
              <a:t> Flow (Kernel Mode)</a:t>
            </a:r>
          </a:p>
        </p:txBody>
      </p:sp>
      <p:sp>
        <p:nvSpPr>
          <p:cNvPr id="3" name="灯片编号占位符 2">
            <a:extLst>
              <a:ext uri="{FF2B5EF4-FFF2-40B4-BE49-F238E27FC236}">
                <a16:creationId xmlns:a16="http://schemas.microsoft.com/office/drawing/2014/main" id="{078A0A71-C5AE-4621-A463-739AC2B5EC04}"/>
              </a:ext>
            </a:extLst>
          </p:cNvPr>
          <p:cNvSpPr>
            <a:spLocks noGrp="1"/>
          </p:cNvSpPr>
          <p:nvPr>
            <p:ph type="sldNum" sz="quarter" idx="10"/>
          </p:nvPr>
        </p:nvSpPr>
        <p:spPr/>
        <p:txBody>
          <a:bodyPr/>
          <a:lstStyle/>
          <a:p>
            <a:fld id="{626C978B-826E-438C-909A-E9C381D3FF04}" type="slidenum">
              <a:rPr lang="en-US" smtClean="0"/>
              <a:pPr/>
              <a:t>41</a:t>
            </a:fld>
            <a:endParaRPr lang="en-US"/>
          </a:p>
        </p:txBody>
      </p:sp>
      <p:sp>
        <p:nvSpPr>
          <p:cNvPr id="4" name="内容占位符 3">
            <a:extLst>
              <a:ext uri="{FF2B5EF4-FFF2-40B4-BE49-F238E27FC236}">
                <a16:creationId xmlns:a16="http://schemas.microsoft.com/office/drawing/2014/main" id="{C7699B48-5A6D-4E5C-B98C-63E87AECF928}"/>
              </a:ext>
            </a:extLst>
          </p:cNvPr>
          <p:cNvSpPr>
            <a:spLocks noGrp="1"/>
          </p:cNvSpPr>
          <p:nvPr>
            <p:ph idx="1"/>
          </p:nvPr>
        </p:nvSpPr>
        <p:spPr>
          <a:xfrm>
            <a:off x="586646" y="1730749"/>
            <a:ext cx="11033760" cy="4632960"/>
          </a:xfrm>
        </p:spPr>
        <p:txBody>
          <a:bodyPr/>
          <a:lstStyle/>
          <a:p>
            <a:r>
              <a:rPr lang="en-US" dirty="0" err="1"/>
              <a:t>config_interface</a:t>
            </a:r>
            <a:r>
              <a:rPr lang="en-US" dirty="0"/>
              <a:t> -</a:t>
            </a:r>
            <a:r>
              <a:rPr lang="en-US" dirty="0" err="1"/>
              <a:t>default_slave_interface</a:t>
            </a:r>
            <a:r>
              <a:rPr lang="en-US" dirty="0"/>
              <a:t> </a:t>
            </a:r>
            <a:r>
              <a:rPr lang="en-US" dirty="0" err="1"/>
              <a:t>s_axilite</a:t>
            </a:r>
            <a:endParaRPr lang="en-US" dirty="0"/>
          </a:p>
        </p:txBody>
      </p:sp>
      <p:graphicFrame>
        <p:nvGraphicFramePr>
          <p:cNvPr id="7" name="表格 6">
            <a:extLst>
              <a:ext uri="{FF2B5EF4-FFF2-40B4-BE49-F238E27FC236}">
                <a16:creationId xmlns:a16="http://schemas.microsoft.com/office/drawing/2014/main" id="{A6089AD2-8B42-4284-8CFF-61623DE004A7}"/>
              </a:ext>
            </a:extLst>
          </p:cNvPr>
          <p:cNvGraphicFramePr>
            <a:graphicFrameLocks noGrp="1"/>
          </p:cNvGraphicFramePr>
          <p:nvPr/>
        </p:nvGraphicFramePr>
        <p:xfrm>
          <a:off x="1864000" y="2910364"/>
          <a:ext cx="8464001" cy="1753235"/>
        </p:xfrm>
        <a:graphic>
          <a:graphicData uri="http://schemas.openxmlformats.org/drawingml/2006/table">
            <a:tbl>
              <a:tblPr/>
              <a:tblGrid>
                <a:gridCol w="1209143">
                  <a:extLst>
                    <a:ext uri="{9D8B030D-6E8A-4147-A177-3AD203B41FA5}">
                      <a16:colId xmlns:a16="http://schemas.microsoft.com/office/drawing/2014/main" val="62415723"/>
                    </a:ext>
                  </a:extLst>
                </a:gridCol>
                <a:gridCol w="1209143">
                  <a:extLst>
                    <a:ext uri="{9D8B030D-6E8A-4147-A177-3AD203B41FA5}">
                      <a16:colId xmlns:a16="http://schemas.microsoft.com/office/drawing/2014/main" val="1924135141"/>
                    </a:ext>
                  </a:extLst>
                </a:gridCol>
                <a:gridCol w="1209143">
                  <a:extLst>
                    <a:ext uri="{9D8B030D-6E8A-4147-A177-3AD203B41FA5}">
                      <a16:colId xmlns:a16="http://schemas.microsoft.com/office/drawing/2014/main" val="1857161566"/>
                    </a:ext>
                  </a:extLst>
                </a:gridCol>
                <a:gridCol w="1209143">
                  <a:extLst>
                    <a:ext uri="{9D8B030D-6E8A-4147-A177-3AD203B41FA5}">
                      <a16:colId xmlns:a16="http://schemas.microsoft.com/office/drawing/2014/main" val="4162629044"/>
                    </a:ext>
                  </a:extLst>
                </a:gridCol>
                <a:gridCol w="1209143">
                  <a:extLst>
                    <a:ext uri="{9D8B030D-6E8A-4147-A177-3AD203B41FA5}">
                      <a16:colId xmlns:a16="http://schemas.microsoft.com/office/drawing/2014/main" val="2405321966"/>
                    </a:ext>
                  </a:extLst>
                </a:gridCol>
                <a:gridCol w="1209143">
                  <a:extLst>
                    <a:ext uri="{9D8B030D-6E8A-4147-A177-3AD203B41FA5}">
                      <a16:colId xmlns:a16="http://schemas.microsoft.com/office/drawing/2014/main" val="1617936621"/>
                    </a:ext>
                  </a:extLst>
                </a:gridCol>
                <a:gridCol w="1209143">
                  <a:extLst>
                    <a:ext uri="{9D8B030D-6E8A-4147-A177-3AD203B41FA5}">
                      <a16:colId xmlns:a16="http://schemas.microsoft.com/office/drawing/2014/main" val="620478790"/>
                    </a:ext>
                  </a:extLst>
                </a:gridCol>
              </a:tblGrid>
              <a:tr h="0">
                <a:tc>
                  <a:txBody>
                    <a:bodyPr/>
                    <a:lstStyle/>
                    <a:p>
                      <a:pPr algn="ctr" fontAlgn="t"/>
                      <a:r>
                        <a:rPr lang="en-US">
                          <a:solidFill>
                            <a:srgbClr val="FFFFFF"/>
                          </a:solidFill>
                          <a:effectLst/>
                        </a:rPr>
                        <a:t>Argument Type</a:t>
                      </a:r>
                    </a:p>
                  </a:txBody>
                  <a:tcPr marL="76200" marR="76200" marT="76200" marB="7620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696969"/>
                    </a:solidFill>
                  </a:tcPr>
                </a:tc>
                <a:tc gridSpan="2">
                  <a:txBody>
                    <a:bodyPr/>
                    <a:lstStyle/>
                    <a:p>
                      <a:pPr algn="ctr" fontAlgn="t"/>
                      <a:r>
                        <a:rPr lang="en-US">
                          <a:solidFill>
                            <a:srgbClr val="FFFFFF"/>
                          </a:solidFill>
                          <a:effectLst/>
                        </a:rPr>
                        <a:t>Scalar</a:t>
                      </a:r>
                    </a:p>
                  </a:txBody>
                  <a:tcPr marL="76200" marR="76200" marT="76200" marB="7620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696969"/>
                    </a:solidFill>
                  </a:tcPr>
                </a:tc>
                <a:tc hMerge="1">
                  <a:txBody>
                    <a:bodyPr/>
                    <a:lstStyle/>
                    <a:p>
                      <a:endParaRPr lang="zh-CN" altLang="en-US"/>
                    </a:p>
                  </a:txBody>
                  <a:tcPr/>
                </a:tc>
                <a:tc gridSpan="3">
                  <a:txBody>
                    <a:bodyPr/>
                    <a:lstStyle/>
                    <a:p>
                      <a:pPr algn="ctr" fontAlgn="t"/>
                      <a:r>
                        <a:rPr lang="en-US">
                          <a:solidFill>
                            <a:srgbClr val="FFFFFF"/>
                          </a:solidFill>
                          <a:effectLst/>
                        </a:rPr>
                        <a:t>Pointer to an Array</a:t>
                      </a:r>
                    </a:p>
                  </a:txBody>
                  <a:tcPr marL="76200" marR="76200" marT="76200" marB="7620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696969"/>
                    </a:solidFill>
                  </a:tcPr>
                </a:tc>
                <a:tc hMerge="1">
                  <a:txBody>
                    <a:bodyPr/>
                    <a:lstStyle/>
                    <a:p>
                      <a:endParaRPr lang="zh-CN" altLang="en-US"/>
                    </a:p>
                  </a:txBody>
                  <a:tcPr/>
                </a:tc>
                <a:tc hMerge="1">
                  <a:txBody>
                    <a:bodyPr/>
                    <a:lstStyle/>
                    <a:p>
                      <a:endParaRPr lang="zh-CN" altLang="en-US"/>
                    </a:p>
                  </a:txBody>
                  <a:tcPr/>
                </a:tc>
                <a:tc>
                  <a:txBody>
                    <a:bodyPr/>
                    <a:lstStyle/>
                    <a:p>
                      <a:pPr algn="ctr" fontAlgn="t"/>
                      <a:r>
                        <a:rPr lang="en-US">
                          <a:solidFill>
                            <a:srgbClr val="FFFFFF"/>
                          </a:solidFill>
                          <a:effectLst/>
                        </a:rPr>
                        <a:t>Hls::stream</a:t>
                      </a:r>
                    </a:p>
                  </a:txBody>
                  <a:tcPr marL="76200" marR="76200" marT="76200" marB="7620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696969"/>
                    </a:solidFill>
                  </a:tcPr>
                </a:tc>
                <a:extLst>
                  <a:ext uri="{0D108BD9-81ED-4DB2-BD59-A6C34878D82A}">
                    <a16:rowId xmlns:a16="http://schemas.microsoft.com/office/drawing/2014/main" val="951884526"/>
                  </a:ext>
                </a:extLst>
              </a:tr>
              <a:tr h="0">
                <a:tc>
                  <a:txBody>
                    <a:bodyPr/>
                    <a:lstStyle/>
                    <a:p>
                      <a:pPr algn="ctr" fontAlgn="t"/>
                      <a:r>
                        <a:rPr lang="en-US">
                          <a:solidFill>
                            <a:srgbClr val="FFFFFF"/>
                          </a:solidFill>
                          <a:effectLst/>
                        </a:rPr>
                        <a:t>Interface Mode</a:t>
                      </a:r>
                    </a:p>
                  </a:txBody>
                  <a:tcPr marL="76200" marR="76200" marT="76200" marB="7620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696969"/>
                    </a:solidFill>
                  </a:tcPr>
                </a:tc>
                <a:tc>
                  <a:txBody>
                    <a:bodyPr/>
                    <a:lstStyle/>
                    <a:p>
                      <a:pPr algn="ctr" fontAlgn="t"/>
                      <a:r>
                        <a:rPr lang="en-US">
                          <a:solidFill>
                            <a:srgbClr val="FFFFFF"/>
                          </a:solidFill>
                          <a:effectLst/>
                        </a:rPr>
                        <a:t>Input</a:t>
                      </a:r>
                    </a:p>
                  </a:txBody>
                  <a:tcPr marL="76200" marR="76200" marT="76200" marB="7620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696969"/>
                    </a:solidFill>
                  </a:tcPr>
                </a:tc>
                <a:tc>
                  <a:txBody>
                    <a:bodyPr/>
                    <a:lstStyle/>
                    <a:p>
                      <a:pPr algn="ctr" fontAlgn="t"/>
                      <a:r>
                        <a:rPr lang="en-US">
                          <a:solidFill>
                            <a:srgbClr val="FFFFFF"/>
                          </a:solidFill>
                          <a:effectLst/>
                        </a:rPr>
                        <a:t>Return</a:t>
                      </a:r>
                    </a:p>
                  </a:txBody>
                  <a:tcPr marL="76200" marR="76200" marT="76200" marB="7620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696969"/>
                    </a:solidFill>
                  </a:tcPr>
                </a:tc>
                <a:tc>
                  <a:txBody>
                    <a:bodyPr/>
                    <a:lstStyle/>
                    <a:p>
                      <a:pPr algn="ctr" fontAlgn="t"/>
                      <a:r>
                        <a:rPr lang="en-US">
                          <a:solidFill>
                            <a:srgbClr val="FFFFFF"/>
                          </a:solidFill>
                          <a:effectLst/>
                        </a:rPr>
                        <a:t>I</a:t>
                      </a:r>
                    </a:p>
                  </a:txBody>
                  <a:tcPr marL="76200" marR="76200" marT="76200" marB="7620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696969"/>
                    </a:solidFill>
                  </a:tcPr>
                </a:tc>
                <a:tc>
                  <a:txBody>
                    <a:bodyPr/>
                    <a:lstStyle/>
                    <a:p>
                      <a:pPr algn="ctr" fontAlgn="t"/>
                      <a:r>
                        <a:rPr lang="en-US">
                          <a:solidFill>
                            <a:srgbClr val="FFFFFF"/>
                          </a:solidFill>
                          <a:effectLst/>
                        </a:rPr>
                        <a:t>I/O</a:t>
                      </a:r>
                    </a:p>
                  </a:txBody>
                  <a:tcPr marL="76200" marR="76200" marT="76200" marB="7620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696969"/>
                    </a:solidFill>
                  </a:tcPr>
                </a:tc>
                <a:tc>
                  <a:txBody>
                    <a:bodyPr/>
                    <a:lstStyle/>
                    <a:p>
                      <a:pPr algn="ctr" fontAlgn="t"/>
                      <a:r>
                        <a:rPr lang="en-US">
                          <a:solidFill>
                            <a:srgbClr val="FFFFFF"/>
                          </a:solidFill>
                          <a:effectLst/>
                        </a:rPr>
                        <a:t>O</a:t>
                      </a:r>
                    </a:p>
                  </a:txBody>
                  <a:tcPr marL="76200" marR="76200" marT="76200" marB="7620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696969"/>
                    </a:solidFill>
                  </a:tcPr>
                </a:tc>
                <a:tc>
                  <a:txBody>
                    <a:bodyPr/>
                    <a:lstStyle/>
                    <a:p>
                      <a:pPr algn="ctr" fontAlgn="t"/>
                      <a:r>
                        <a:rPr lang="en-US">
                          <a:solidFill>
                            <a:srgbClr val="FFFFFF"/>
                          </a:solidFill>
                          <a:effectLst/>
                        </a:rPr>
                        <a:t>I and O</a:t>
                      </a:r>
                    </a:p>
                  </a:txBody>
                  <a:tcPr marL="76200" marR="76200" marT="76200" marB="7620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696969"/>
                    </a:solidFill>
                  </a:tcPr>
                </a:tc>
                <a:extLst>
                  <a:ext uri="{0D108BD9-81ED-4DB2-BD59-A6C34878D82A}">
                    <a16:rowId xmlns:a16="http://schemas.microsoft.com/office/drawing/2014/main" val="3891656918"/>
                  </a:ext>
                </a:extLst>
              </a:tr>
              <a:tr h="0">
                <a:tc>
                  <a:txBody>
                    <a:bodyPr/>
                    <a:lstStyle/>
                    <a:p>
                      <a:pPr fontAlgn="t">
                        <a:spcAft>
                          <a:spcPts val="400"/>
                        </a:spcAft>
                      </a:pPr>
                      <a:r>
                        <a:rPr lang="en-US">
                          <a:effectLst/>
                        </a:rPr>
                        <a:t>s_axi_lite</a:t>
                      </a:r>
                    </a:p>
                  </a:txBody>
                  <a:tcPr marL="38100" marR="38100" marT="38100" marB="3810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en-US">
                          <a:effectLst/>
                        </a:rPr>
                        <a:t>D</a:t>
                      </a:r>
                    </a:p>
                  </a:txBody>
                  <a:tcPr marL="38100" marR="38100" marT="38100" marB="3810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en-US">
                          <a:effectLst/>
                        </a:rPr>
                        <a:t>D</a:t>
                      </a:r>
                    </a:p>
                  </a:txBody>
                  <a:tcPr marL="38100" marR="38100" marT="38100" marB="3810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en-US">
                          <a:effectLst/>
                        </a:rPr>
                        <a:t>D</a:t>
                      </a:r>
                    </a:p>
                  </a:txBody>
                  <a:tcPr marL="38100" marR="38100" marT="38100" marB="3810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en-US">
                          <a:effectLst/>
                        </a:rPr>
                        <a:t>D</a:t>
                      </a:r>
                    </a:p>
                  </a:txBody>
                  <a:tcPr marL="38100" marR="38100" marT="38100" marB="3810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en-US">
                          <a:effectLst/>
                        </a:rPr>
                        <a:t>D</a:t>
                      </a:r>
                    </a:p>
                  </a:txBody>
                  <a:tcPr marL="38100" marR="38100" marT="38100" marB="3810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zh-CN" altLang="en-US" dirty="0">
                          <a:effectLst/>
                        </a:rPr>
                        <a:t> </a:t>
                      </a:r>
                    </a:p>
                  </a:txBody>
                  <a:tcPr marL="38100" marR="38100" marT="38100" marB="3810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extLst>
                  <a:ext uri="{0D108BD9-81ED-4DB2-BD59-A6C34878D82A}">
                    <a16:rowId xmlns:a16="http://schemas.microsoft.com/office/drawing/2014/main" val="4263680781"/>
                  </a:ext>
                </a:extLst>
              </a:tr>
            </a:tbl>
          </a:graphicData>
        </a:graphic>
      </p:graphicFrame>
    </p:spTree>
    <p:extLst>
      <p:ext uri="{BB962C8B-B14F-4D97-AF65-F5344CB8AC3E}">
        <p14:creationId xmlns:p14="http://schemas.microsoft.com/office/powerpoint/2010/main" val="1610370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4F5015-F324-48D2-8BDF-C153A94443EC}"/>
              </a:ext>
            </a:extLst>
          </p:cNvPr>
          <p:cNvSpPr>
            <a:spLocks noGrp="1"/>
          </p:cNvSpPr>
          <p:nvPr>
            <p:ph type="title"/>
          </p:nvPr>
        </p:nvSpPr>
        <p:spPr/>
        <p:txBody>
          <a:bodyPr/>
          <a:lstStyle/>
          <a:p>
            <a:r>
              <a:rPr lang="en-US" altLang="zh-CN" dirty="0"/>
              <a:t>Vivado Flow (IP Mode)</a:t>
            </a:r>
          </a:p>
        </p:txBody>
      </p:sp>
      <p:sp>
        <p:nvSpPr>
          <p:cNvPr id="3" name="灯片编号占位符 2">
            <a:extLst>
              <a:ext uri="{FF2B5EF4-FFF2-40B4-BE49-F238E27FC236}">
                <a16:creationId xmlns:a16="http://schemas.microsoft.com/office/drawing/2014/main" id="{078A0A71-C5AE-4621-A463-739AC2B5EC04}"/>
              </a:ext>
            </a:extLst>
          </p:cNvPr>
          <p:cNvSpPr>
            <a:spLocks noGrp="1"/>
          </p:cNvSpPr>
          <p:nvPr>
            <p:ph type="sldNum" sz="quarter" idx="10"/>
          </p:nvPr>
        </p:nvSpPr>
        <p:spPr/>
        <p:txBody>
          <a:bodyPr/>
          <a:lstStyle/>
          <a:p>
            <a:fld id="{626C978B-826E-438C-909A-E9C381D3FF04}" type="slidenum">
              <a:rPr lang="en-US" smtClean="0"/>
              <a:pPr/>
              <a:t>42</a:t>
            </a:fld>
            <a:endParaRPr lang="en-US"/>
          </a:p>
        </p:txBody>
      </p:sp>
      <p:sp>
        <p:nvSpPr>
          <p:cNvPr id="4" name="内容占位符 3">
            <a:extLst>
              <a:ext uri="{FF2B5EF4-FFF2-40B4-BE49-F238E27FC236}">
                <a16:creationId xmlns:a16="http://schemas.microsoft.com/office/drawing/2014/main" id="{C7699B48-5A6D-4E5C-B98C-63E87AECF928}"/>
              </a:ext>
            </a:extLst>
          </p:cNvPr>
          <p:cNvSpPr>
            <a:spLocks noGrp="1"/>
          </p:cNvSpPr>
          <p:nvPr>
            <p:ph idx="1"/>
          </p:nvPr>
        </p:nvSpPr>
        <p:spPr>
          <a:xfrm>
            <a:off x="689627" y="1428908"/>
            <a:ext cx="11033760" cy="4632960"/>
          </a:xfrm>
        </p:spPr>
        <p:txBody>
          <a:bodyPr/>
          <a:lstStyle/>
          <a:p>
            <a:pPr marL="0" indent="0">
              <a:buNone/>
            </a:pPr>
            <a:r>
              <a:rPr lang="en-US" sz="2800" dirty="0"/>
              <a:t>The tool by default sets the following global options</a:t>
            </a:r>
            <a:endParaRPr lang="en-US" dirty="0"/>
          </a:p>
          <a:p>
            <a:r>
              <a:rPr lang="en-US" dirty="0" err="1"/>
              <a:t>open_solution</a:t>
            </a:r>
            <a:r>
              <a:rPr lang="en-US" dirty="0"/>
              <a:t> -</a:t>
            </a:r>
            <a:r>
              <a:rPr lang="en-US" dirty="0" err="1"/>
              <a:t>flow_target</a:t>
            </a:r>
            <a:r>
              <a:rPr lang="en-US" dirty="0"/>
              <a:t> </a:t>
            </a:r>
            <a:r>
              <a:rPr lang="en-US" dirty="0" err="1"/>
              <a:t>vivado</a:t>
            </a:r>
            <a:endParaRPr lang="en-US" dirty="0"/>
          </a:p>
          <a:p>
            <a:r>
              <a:rPr lang="en-US" dirty="0" err="1"/>
              <a:t>config_interface</a:t>
            </a:r>
            <a:r>
              <a:rPr lang="en-US" dirty="0"/>
              <a:t> -</a:t>
            </a:r>
            <a:r>
              <a:rPr lang="en-US" dirty="0" err="1"/>
              <a:t>default_slave_interface</a:t>
            </a:r>
            <a:r>
              <a:rPr lang="en-US" dirty="0"/>
              <a:t> </a:t>
            </a:r>
            <a:r>
              <a:rPr lang="en-US" dirty="0" err="1"/>
              <a:t>s_axilite</a:t>
            </a:r>
            <a:endParaRPr lang="en-US" dirty="0"/>
          </a:p>
          <a:p>
            <a:endParaRPr lang="en-US" dirty="0"/>
          </a:p>
          <a:p>
            <a:pPr marL="0" indent="0">
              <a:buNone/>
            </a:pPr>
            <a:r>
              <a:rPr lang="en-US" dirty="0"/>
              <a:t>Strict use of pragmas and directives</a:t>
            </a:r>
          </a:p>
          <a:p>
            <a:pPr marL="0" indent="0">
              <a:buNone/>
            </a:pPr>
            <a:r>
              <a:rPr lang="en-US" dirty="0"/>
              <a:t>Exporting the results as Vivado IP</a:t>
            </a:r>
          </a:p>
        </p:txBody>
      </p:sp>
    </p:spTree>
    <p:extLst>
      <p:ext uri="{BB962C8B-B14F-4D97-AF65-F5344CB8AC3E}">
        <p14:creationId xmlns:p14="http://schemas.microsoft.com/office/powerpoint/2010/main" val="32792129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4F5015-F324-48D2-8BDF-C153A94443EC}"/>
              </a:ext>
            </a:extLst>
          </p:cNvPr>
          <p:cNvSpPr>
            <a:spLocks noGrp="1"/>
          </p:cNvSpPr>
          <p:nvPr>
            <p:ph type="title"/>
          </p:nvPr>
        </p:nvSpPr>
        <p:spPr/>
        <p:txBody>
          <a:bodyPr/>
          <a:lstStyle/>
          <a:p>
            <a:r>
              <a:rPr lang="en-US" altLang="zh-CN" dirty="0"/>
              <a:t>Default Control Settings(Vivado flow)</a:t>
            </a:r>
          </a:p>
        </p:txBody>
      </p:sp>
      <p:sp>
        <p:nvSpPr>
          <p:cNvPr id="3" name="灯片编号占位符 2">
            <a:extLst>
              <a:ext uri="{FF2B5EF4-FFF2-40B4-BE49-F238E27FC236}">
                <a16:creationId xmlns:a16="http://schemas.microsoft.com/office/drawing/2014/main" id="{078A0A71-C5AE-4621-A463-739AC2B5EC04}"/>
              </a:ext>
            </a:extLst>
          </p:cNvPr>
          <p:cNvSpPr>
            <a:spLocks noGrp="1"/>
          </p:cNvSpPr>
          <p:nvPr>
            <p:ph type="sldNum" sz="quarter" idx="10"/>
          </p:nvPr>
        </p:nvSpPr>
        <p:spPr/>
        <p:txBody>
          <a:bodyPr/>
          <a:lstStyle/>
          <a:p>
            <a:fld id="{626C978B-826E-438C-909A-E9C381D3FF04}" type="slidenum">
              <a:rPr lang="en-US" smtClean="0"/>
              <a:pPr/>
              <a:t>43</a:t>
            </a:fld>
            <a:endParaRPr lang="en-US"/>
          </a:p>
        </p:txBody>
      </p:sp>
      <p:graphicFrame>
        <p:nvGraphicFramePr>
          <p:cNvPr id="8" name="表格 7">
            <a:extLst>
              <a:ext uri="{FF2B5EF4-FFF2-40B4-BE49-F238E27FC236}">
                <a16:creationId xmlns:a16="http://schemas.microsoft.com/office/drawing/2014/main" id="{DF4EAB22-AF85-47D4-A671-63B986D449C7}"/>
              </a:ext>
            </a:extLst>
          </p:cNvPr>
          <p:cNvGraphicFramePr>
            <a:graphicFrameLocks noGrp="1"/>
          </p:cNvGraphicFramePr>
          <p:nvPr/>
        </p:nvGraphicFramePr>
        <p:xfrm>
          <a:off x="2071291" y="949297"/>
          <a:ext cx="8049417" cy="4645560"/>
        </p:xfrm>
        <a:graphic>
          <a:graphicData uri="http://schemas.openxmlformats.org/drawingml/2006/table">
            <a:tbl>
              <a:tblPr/>
              <a:tblGrid>
                <a:gridCol w="2683139">
                  <a:extLst>
                    <a:ext uri="{9D8B030D-6E8A-4147-A177-3AD203B41FA5}">
                      <a16:colId xmlns:a16="http://schemas.microsoft.com/office/drawing/2014/main" val="3068629421"/>
                    </a:ext>
                  </a:extLst>
                </a:gridCol>
                <a:gridCol w="2683139">
                  <a:extLst>
                    <a:ext uri="{9D8B030D-6E8A-4147-A177-3AD203B41FA5}">
                      <a16:colId xmlns:a16="http://schemas.microsoft.com/office/drawing/2014/main" val="1681411691"/>
                    </a:ext>
                  </a:extLst>
                </a:gridCol>
                <a:gridCol w="2683139">
                  <a:extLst>
                    <a:ext uri="{9D8B030D-6E8A-4147-A177-3AD203B41FA5}">
                      <a16:colId xmlns:a16="http://schemas.microsoft.com/office/drawing/2014/main" val="3402658833"/>
                    </a:ext>
                  </a:extLst>
                </a:gridCol>
              </a:tblGrid>
              <a:tr h="354475">
                <a:tc>
                  <a:txBody>
                    <a:bodyPr/>
                    <a:lstStyle/>
                    <a:p>
                      <a:pPr algn="ctr" fontAlgn="t"/>
                      <a:r>
                        <a:rPr lang="en-US" sz="1500">
                          <a:solidFill>
                            <a:srgbClr val="FFFFFF"/>
                          </a:solidFill>
                          <a:effectLst/>
                        </a:rPr>
                        <a:t>Default Control Settings</a:t>
                      </a:r>
                    </a:p>
                  </a:txBody>
                  <a:tcPr marL="63280" marR="63280" marT="63280" marB="6328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696969"/>
                    </a:solidFill>
                  </a:tcPr>
                </a:tc>
                <a:tc>
                  <a:txBody>
                    <a:bodyPr/>
                    <a:lstStyle/>
                    <a:p>
                      <a:pPr algn="ctr" fontAlgn="t"/>
                      <a:r>
                        <a:rPr lang="en-US" sz="1500">
                          <a:solidFill>
                            <a:srgbClr val="FFFFFF"/>
                          </a:solidFill>
                          <a:effectLst/>
                        </a:rPr>
                        <a:t>Vivado HLS</a:t>
                      </a:r>
                    </a:p>
                  </a:txBody>
                  <a:tcPr marL="63280" marR="63280" marT="63280" marB="6328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696969"/>
                    </a:solidFill>
                  </a:tcPr>
                </a:tc>
                <a:tc>
                  <a:txBody>
                    <a:bodyPr/>
                    <a:lstStyle/>
                    <a:p>
                      <a:pPr algn="ctr" fontAlgn="t"/>
                      <a:r>
                        <a:rPr lang="en-US" sz="1500">
                          <a:solidFill>
                            <a:srgbClr val="FFFFFF"/>
                          </a:solidFill>
                          <a:effectLst/>
                        </a:rPr>
                        <a:t>Vitis HLS</a:t>
                      </a:r>
                    </a:p>
                  </a:txBody>
                  <a:tcPr marL="63280" marR="63280" marT="63280" marB="6328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696969"/>
                    </a:solidFill>
                  </a:tcPr>
                </a:tc>
                <a:extLst>
                  <a:ext uri="{0D108BD9-81ED-4DB2-BD59-A6C34878D82A}">
                    <a16:rowId xmlns:a16="http://schemas.microsoft.com/office/drawing/2014/main" val="2197687837"/>
                  </a:ext>
                </a:extLst>
              </a:tr>
              <a:tr h="291195">
                <a:tc>
                  <a:txBody>
                    <a:bodyPr/>
                    <a:lstStyle/>
                    <a:p>
                      <a:pPr fontAlgn="t">
                        <a:spcAft>
                          <a:spcPts val="400"/>
                        </a:spcAft>
                      </a:pPr>
                      <a:r>
                        <a:rPr lang="en-US" sz="1500">
                          <a:effectLst/>
                        </a:rPr>
                        <a:t>config_compile -pipeline_loops</a:t>
                      </a:r>
                    </a:p>
                  </a:txBody>
                  <a:tcPr marL="31640" marR="31640" marT="31640" marB="3164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en-US" altLang="zh-CN" sz="1500">
                          <a:effectLst/>
                        </a:rPr>
                        <a:t>0</a:t>
                      </a:r>
                    </a:p>
                  </a:txBody>
                  <a:tcPr marL="31640" marR="31640" marT="31640" marB="3164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en-US" altLang="zh-CN" sz="1500">
                          <a:effectLst/>
                        </a:rPr>
                        <a:t>64</a:t>
                      </a:r>
                    </a:p>
                  </a:txBody>
                  <a:tcPr marL="31640" marR="31640" marT="31640" marB="3164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extLst>
                  <a:ext uri="{0D108BD9-81ED-4DB2-BD59-A6C34878D82A}">
                    <a16:rowId xmlns:a16="http://schemas.microsoft.com/office/drawing/2014/main" val="3454628768"/>
                  </a:ext>
                </a:extLst>
              </a:tr>
              <a:tr h="519110">
                <a:tc>
                  <a:txBody>
                    <a:bodyPr/>
                    <a:lstStyle/>
                    <a:p>
                      <a:pPr fontAlgn="t">
                        <a:spcAft>
                          <a:spcPts val="400"/>
                        </a:spcAft>
                      </a:pPr>
                      <a:r>
                        <a:rPr lang="en-US" sz="1500">
                          <a:effectLst/>
                        </a:rPr>
                        <a:t>config_export -vivado_optimization_level</a:t>
                      </a:r>
                    </a:p>
                  </a:txBody>
                  <a:tcPr marL="31640" marR="31640" marT="31640" marB="3164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en-US" altLang="zh-CN" sz="1500">
                          <a:effectLst/>
                        </a:rPr>
                        <a:t>2</a:t>
                      </a:r>
                    </a:p>
                  </a:txBody>
                  <a:tcPr marL="31640" marR="31640" marT="31640" marB="3164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en-US" altLang="zh-CN" sz="1500">
                          <a:effectLst/>
                        </a:rPr>
                        <a:t>0</a:t>
                      </a:r>
                    </a:p>
                  </a:txBody>
                  <a:tcPr marL="31640" marR="31640" marT="31640" marB="3164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extLst>
                  <a:ext uri="{0D108BD9-81ED-4DB2-BD59-A6C34878D82A}">
                    <a16:rowId xmlns:a16="http://schemas.microsoft.com/office/drawing/2014/main" val="710875404"/>
                  </a:ext>
                </a:extLst>
              </a:tr>
              <a:tr h="291195">
                <a:tc>
                  <a:txBody>
                    <a:bodyPr/>
                    <a:lstStyle/>
                    <a:p>
                      <a:pPr fontAlgn="t">
                        <a:spcAft>
                          <a:spcPts val="400"/>
                        </a:spcAft>
                      </a:pPr>
                      <a:r>
                        <a:rPr lang="en-US" sz="1500">
                          <a:effectLst/>
                        </a:rPr>
                        <a:t>set_clock_uncertainty</a:t>
                      </a:r>
                    </a:p>
                  </a:txBody>
                  <a:tcPr marL="31640" marR="31640" marT="31640" marB="3164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en-US" altLang="zh-CN" sz="1500" dirty="0">
                          <a:effectLst/>
                        </a:rPr>
                        <a:t>12.5</a:t>
                      </a:r>
                    </a:p>
                  </a:txBody>
                  <a:tcPr marL="31640" marR="31640" marT="31640" marB="3164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en-US" altLang="zh-CN" sz="1500">
                          <a:effectLst/>
                        </a:rPr>
                        <a:t>27%</a:t>
                      </a:r>
                    </a:p>
                  </a:txBody>
                  <a:tcPr marL="31640" marR="31640" marT="31640" marB="3164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extLst>
                  <a:ext uri="{0D108BD9-81ED-4DB2-BD59-A6C34878D82A}">
                    <a16:rowId xmlns:a16="http://schemas.microsoft.com/office/drawing/2014/main" val="2204989440"/>
                  </a:ext>
                </a:extLst>
              </a:tr>
              <a:tr h="519110">
                <a:tc>
                  <a:txBody>
                    <a:bodyPr/>
                    <a:lstStyle/>
                    <a:p>
                      <a:pPr fontAlgn="t">
                        <a:spcAft>
                          <a:spcPts val="400"/>
                        </a:spcAft>
                      </a:pPr>
                      <a:r>
                        <a:rPr lang="en-US" sz="1500">
                          <a:effectLst/>
                        </a:rPr>
                        <a:t>config_interface -m_axi_alignment_byte_size</a:t>
                      </a:r>
                    </a:p>
                  </a:txBody>
                  <a:tcPr marL="31640" marR="31640" marT="31640" marB="3164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en-US" sz="1500">
                          <a:effectLst/>
                        </a:rPr>
                        <a:t>N/A</a:t>
                      </a:r>
                    </a:p>
                  </a:txBody>
                  <a:tcPr marL="31640" marR="31640" marT="31640" marB="3164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en-US" altLang="zh-CN" sz="1500">
                          <a:effectLst/>
                        </a:rPr>
                        <a:t>0</a:t>
                      </a:r>
                    </a:p>
                  </a:txBody>
                  <a:tcPr marL="31640" marR="31640" marT="31640" marB="3164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extLst>
                  <a:ext uri="{0D108BD9-81ED-4DB2-BD59-A6C34878D82A}">
                    <a16:rowId xmlns:a16="http://schemas.microsoft.com/office/drawing/2014/main" val="3965086796"/>
                  </a:ext>
                </a:extLst>
              </a:tr>
              <a:tr h="519110">
                <a:tc>
                  <a:txBody>
                    <a:bodyPr/>
                    <a:lstStyle/>
                    <a:p>
                      <a:pPr fontAlgn="t">
                        <a:spcAft>
                          <a:spcPts val="400"/>
                        </a:spcAft>
                      </a:pPr>
                      <a:r>
                        <a:rPr lang="en-US" sz="1500">
                          <a:effectLst/>
                        </a:rPr>
                        <a:t>config_interface -m_axi_max_widen_bitwidth</a:t>
                      </a:r>
                    </a:p>
                  </a:txBody>
                  <a:tcPr marL="31640" marR="31640" marT="31640" marB="3164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en-US" sz="1500">
                          <a:effectLst/>
                        </a:rPr>
                        <a:t>N/A</a:t>
                      </a:r>
                    </a:p>
                  </a:txBody>
                  <a:tcPr marL="31640" marR="31640" marT="31640" marB="3164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en-US" altLang="zh-CN" sz="1500">
                          <a:effectLst/>
                        </a:rPr>
                        <a:t>0</a:t>
                      </a:r>
                    </a:p>
                  </a:txBody>
                  <a:tcPr marL="31640" marR="31640" marT="31640" marB="3164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extLst>
                  <a:ext uri="{0D108BD9-81ED-4DB2-BD59-A6C34878D82A}">
                    <a16:rowId xmlns:a16="http://schemas.microsoft.com/office/drawing/2014/main" val="1295513056"/>
                  </a:ext>
                </a:extLst>
              </a:tr>
              <a:tr h="519110">
                <a:tc>
                  <a:txBody>
                    <a:bodyPr/>
                    <a:lstStyle/>
                    <a:p>
                      <a:pPr fontAlgn="t">
                        <a:spcAft>
                          <a:spcPts val="400"/>
                        </a:spcAft>
                      </a:pPr>
                      <a:r>
                        <a:rPr lang="en-US" sz="1500">
                          <a:effectLst/>
                        </a:rPr>
                        <a:t>config_export -vivado_phys_opt</a:t>
                      </a:r>
                    </a:p>
                  </a:txBody>
                  <a:tcPr marL="31640" marR="31640" marT="31640" marB="3164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en-US" sz="1500">
                          <a:effectLst/>
                        </a:rPr>
                        <a:t>place</a:t>
                      </a:r>
                    </a:p>
                  </a:txBody>
                  <a:tcPr marL="31640" marR="31640" marT="31640" marB="3164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en-US" sz="1500">
                          <a:effectLst/>
                        </a:rPr>
                        <a:t>none</a:t>
                      </a:r>
                    </a:p>
                  </a:txBody>
                  <a:tcPr marL="31640" marR="31640" marT="31640" marB="3164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extLst>
                  <a:ext uri="{0D108BD9-81ED-4DB2-BD59-A6C34878D82A}">
                    <a16:rowId xmlns:a16="http://schemas.microsoft.com/office/drawing/2014/main" val="2625177047"/>
                  </a:ext>
                </a:extLst>
              </a:tr>
              <a:tr h="519110">
                <a:tc>
                  <a:txBody>
                    <a:bodyPr/>
                    <a:lstStyle/>
                    <a:p>
                      <a:pPr fontAlgn="t">
                        <a:spcAft>
                          <a:spcPts val="400"/>
                        </a:spcAft>
                      </a:pPr>
                      <a:r>
                        <a:rPr lang="en-US" sz="1500">
                          <a:effectLst/>
                        </a:rPr>
                        <a:t>config_interface -m_axi_addr64</a:t>
                      </a:r>
                    </a:p>
                  </a:txBody>
                  <a:tcPr marL="31640" marR="31640" marT="31640" marB="3164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en-US" sz="1500">
                          <a:effectLst/>
                        </a:rPr>
                        <a:t>false</a:t>
                      </a:r>
                    </a:p>
                  </a:txBody>
                  <a:tcPr marL="31640" marR="31640" marT="31640" marB="3164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en-US" sz="1500">
                          <a:effectLst/>
                        </a:rPr>
                        <a:t>true</a:t>
                      </a:r>
                    </a:p>
                  </a:txBody>
                  <a:tcPr marL="31640" marR="31640" marT="31640" marB="3164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extLst>
                  <a:ext uri="{0D108BD9-81ED-4DB2-BD59-A6C34878D82A}">
                    <a16:rowId xmlns:a16="http://schemas.microsoft.com/office/drawing/2014/main" val="1304460039"/>
                  </a:ext>
                </a:extLst>
              </a:tr>
              <a:tr h="519110">
                <a:tc>
                  <a:txBody>
                    <a:bodyPr/>
                    <a:lstStyle/>
                    <a:p>
                      <a:pPr fontAlgn="t">
                        <a:spcAft>
                          <a:spcPts val="400"/>
                        </a:spcAft>
                      </a:pPr>
                      <a:r>
                        <a:rPr lang="en-US" sz="1500">
                          <a:effectLst/>
                        </a:rPr>
                        <a:t>config_schedule -enable_dsp_full_reg</a:t>
                      </a:r>
                    </a:p>
                  </a:txBody>
                  <a:tcPr marL="31640" marR="31640" marT="31640" marB="3164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en-US" sz="1500">
                          <a:effectLst/>
                        </a:rPr>
                        <a:t>false</a:t>
                      </a:r>
                    </a:p>
                  </a:txBody>
                  <a:tcPr marL="31640" marR="31640" marT="31640" marB="3164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en-US" sz="1500">
                          <a:effectLst/>
                        </a:rPr>
                        <a:t>true</a:t>
                      </a:r>
                    </a:p>
                  </a:txBody>
                  <a:tcPr marL="31640" marR="31640" marT="31640" marB="3164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extLst>
                  <a:ext uri="{0D108BD9-81ED-4DB2-BD59-A6C34878D82A}">
                    <a16:rowId xmlns:a16="http://schemas.microsoft.com/office/drawing/2014/main" val="2492660558"/>
                  </a:ext>
                </a:extLst>
              </a:tr>
              <a:tr h="291195">
                <a:tc>
                  <a:txBody>
                    <a:bodyPr/>
                    <a:lstStyle/>
                    <a:p>
                      <a:pPr fontAlgn="t">
                        <a:spcAft>
                          <a:spcPts val="400"/>
                        </a:spcAft>
                      </a:pPr>
                      <a:r>
                        <a:rPr lang="en-US" sz="1500">
                          <a:effectLst/>
                        </a:rPr>
                        <a:t>config_rtl -module_auto_prefix</a:t>
                      </a:r>
                    </a:p>
                  </a:txBody>
                  <a:tcPr marL="31640" marR="31640" marT="31640" marB="3164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en-US" sz="1500">
                          <a:effectLst/>
                        </a:rPr>
                        <a:t>false</a:t>
                      </a:r>
                    </a:p>
                  </a:txBody>
                  <a:tcPr marL="31640" marR="31640" marT="31640" marB="3164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en-US" sz="1500">
                          <a:effectLst/>
                        </a:rPr>
                        <a:t>true</a:t>
                      </a:r>
                    </a:p>
                  </a:txBody>
                  <a:tcPr marL="31640" marR="31640" marT="31640" marB="3164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extLst>
                  <a:ext uri="{0D108BD9-81ED-4DB2-BD59-A6C34878D82A}">
                    <a16:rowId xmlns:a16="http://schemas.microsoft.com/office/drawing/2014/main" val="132882192"/>
                  </a:ext>
                </a:extLst>
              </a:tr>
              <a:tr h="291195">
                <a:tc>
                  <a:txBody>
                    <a:bodyPr/>
                    <a:lstStyle/>
                    <a:p>
                      <a:pPr fontAlgn="t">
                        <a:spcAft>
                          <a:spcPts val="400"/>
                        </a:spcAft>
                      </a:pPr>
                      <a:r>
                        <a:rPr lang="en-US" sz="1500">
                          <a:effectLst/>
                        </a:rPr>
                        <a:t>interface pragma defaults</a:t>
                      </a:r>
                    </a:p>
                  </a:txBody>
                  <a:tcPr marL="31640" marR="31640" marT="31640" marB="3164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en-US" sz="1500">
                          <a:effectLst/>
                        </a:rPr>
                        <a:t>ip mode</a:t>
                      </a:r>
                    </a:p>
                  </a:txBody>
                  <a:tcPr marL="31640" marR="31640" marT="31640" marB="3164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en-US" sz="1500" dirty="0" err="1">
                          <a:effectLst/>
                        </a:rPr>
                        <a:t>ip</a:t>
                      </a:r>
                      <a:r>
                        <a:rPr lang="en-US" sz="1500" dirty="0">
                          <a:effectLst/>
                        </a:rPr>
                        <a:t> mode</a:t>
                      </a:r>
                    </a:p>
                  </a:txBody>
                  <a:tcPr marL="31640" marR="31640" marT="31640" marB="31640">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extLst>
                  <a:ext uri="{0D108BD9-81ED-4DB2-BD59-A6C34878D82A}">
                    <a16:rowId xmlns:a16="http://schemas.microsoft.com/office/drawing/2014/main" val="3130104835"/>
                  </a:ext>
                </a:extLst>
              </a:tr>
            </a:tbl>
          </a:graphicData>
        </a:graphic>
      </p:graphicFrame>
    </p:spTree>
    <p:extLst>
      <p:ext uri="{BB962C8B-B14F-4D97-AF65-F5344CB8AC3E}">
        <p14:creationId xmlns:p14="http://schemas.microsoft.com/office/powerpoint/2010/main" val="10698555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4F5015-F324-48D2-8BDF-C153A94443EC}"/>
              </a:ext>
            </a:extLst>
          </p:cNvPr>
          <p:cNvSpPr>
            <a:spLocks noGrp="1"/>
          </p:cNvSpPr>
          <p:nvPr>
            <p:ph type="title"/>
          </p:nvPr>
        </p:nvSpPr>
        <p:spPr/>
        <p:txBody>
          <a:bodyPr/>
          <a:lstStyle/>
          <a:p>
            <a:r>
              <a:rPr lang="en-US" altLang="zh-CN" dirty="0"/>
              <a:t>Default Control Settings(</a:t>
            </a:r>
            <a:r>
              <a:rPr lang="en-US" altLang="zh-CN" dirty="0" err="1"/>
              <a:t>Vitis</a:t>
            </a:r>
            <a:r>
              <a:rPr lang="en-US" altLang="zh-CN" dirty="0"/>
              <a:t> flow)</a:t>
            </a:r>
          </a:p>
        </p:txBody>
      </p:sp>
      <p:sp>
        <p:nvSpPr>
          <p:cNvPr id="3" name="灯片编号占位符 2">
            <a:extLst>
              <a:ext uri="{FF2B5EF4-FFF2-40B4-BE49-F238E27FC236}">
                <a16:creationId xmlns:a16="http://schemas.microsoft.com/office/drawing/2014/main" id="{078A0A71-C5AE-4621-A463-739AC2B5EC04}"/>
              </a:ext>
            </a:extLst>
          </p:cNvPr>
          <p:cNvSpPr>
            <a:spLocks noGrp="1"/>
          </p:cNvSpPr>
          <p:nvPr>
            <p:ph type="sldNum" sz="quarter" idx="10"/>
          </p:nvPr>
        </p:nvSpPr>
        <p:spPr/>
        <p:txBody>
          <a:bodyPr/>
          <a:lstStyle/>
          <a:p>
            <a:fld id="{626C978B-826E-438C-909A-E9C381D3FF04}" type="slidenum">
              <a:rPr lang="en-US" smtClean="0"/>
              <a:pPr/>
              <a:t>44</a:t>
            </a:fld>
            <a:endParaRPr lang="en-US"/>
          </a:p>
        </p:txBody>
      </p:sp>
      <p:graphicFrame>
        <p:nvGraphicFramePr>
          <p:cNvPr id="4" name="表格 3">
            <a:extLst>
              <a:ext uri="{FF2B5EF4-FFF2-40B4-BE49-F238E27FC236}">
                <a16:creationId xmlns:a16="http://schemas.microsoft.com/office/drawing/2014/main" id="{0577099D-15FB-4E0A-ABDC-AD4D333EBDE6}"/>
              </a:ext>
            </a:extLst>
          </p:cNvPr>
          <p:cNvGraphicFramePr>
            <a:graphicFrameLocks noGrp="1"/>
          </p:cNvGraphicFramePr>
          <p:nvPr/>
        </p:nvGraphicFramePr>
        <p:xfrm>
          <a:off x="1563548" y="1322390"/>
          <a:ext cx="9064905" cy="4929184"/>
        </p:xfrm>
        <a:graphic>
          <a:graphicData uri="http://schemas.openxmlformats.org/drawingml/2006/table">
            <a:tbl>
              <a:tblPr/>
              <a:tblGrid>
                <a:gridCol w="3021635">
                  <a:extLst>
                    <a:ext uri="{9D8B030D-6E8A-4147-A177-3AD203B41FA5}">
                      <a16:colId xmlns:a16="http://schemas.microsoft.com/office/drawing/2014/main" val="1039655854"/>
                    </a:ext>
                  </a:extLst>
                </a:gridCol>
                <a:gridCol w="3021635">
                  <a:extLst>
                    <a:ext uri="{9D8B030D-6E8A-4147-A177-3AD203B41FA5}">
                      <a16:colId xmlns:a16="http://schemas.microsoft.com/office/drawing/2014/main" val="2472954790"/>
                    </a:ext>
                  </a:extLst>
                </a:gridCol>
                <a:gridCol w="3021635">
                  <a:extLst>
                    <a:ext uri="{9D8B030D-6E8A-4147-A177-3AD203B41FA5}">
                      <a16:colId xmlns:a16="http://schemas.microsoft.com/office/drawing/2014/main" val="1266621246"/>
                    </a:ext>
                  </a:extLst>
                </a:gridCol>
              </a:tblGrid>
              <a:tr h="399195">
                <a:tc>
                  <a:txBody>
                    <a:bodyPr/>
                    <a:lstStyle/>
                    <a:p>
                      <a:pPr algn="ctr" fontAlgn="t"/>
                      <a:r>
                        <a:rPr lang="en-US" sz="1700">
                          <a:solidFill>
                            <a:srgbClr val="FFFFFF"/>
                          </a:solidFill>
                          <a:effectLst/>
                        </a:rPr>
                        <a:t>Default Control Settings</a:t>
                      </a:r>
                    </a:p>
                  </a:txBody>
                  <a:tcPr marL="71264" marR="71264" marT="71264" marB="71264">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696969"/>
                    </a:solidFill>
                  </a:tcPr>
                </a:tc>
                <a:tc>
                  <a:txBody>
                    <a:bodyPr/>
                    <a:lstStyle/>
                    <a:p>
                      <a:pPr algn="ctr" fontAlgn="t"/>
                      <a:r>
                        <a:rPr lang="en-US" sz="1700">
                          <a:solidFill>
                            <a:srgbClr val="FFFFFF"/>
                          </a:solidFill>
                          <a:effectLst/>
                        </a:rPr>
                        <a:t>Vivado HLS</a:t>
                      </a:r>
                    </a:p>
                  </a:txBody>
                  <a:tcPr marL="71264" marR="71264" marT="71264" marB="71264">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696969"/>
                    </a:solidFill>
                  </a:tcPr>
                </a:tc>
                <a:tc>
                  <a:txBody>
                    <a:bodyPr/>
                    <a:lstStyle/>
                    <a:p>
                      <a:pPr algn="ctr" fontAlgn="t"/>
                      <a:r>
                        <a:rPr lang="en-US" sz="1700">
                          <a:solidFill>
                            <a:srgbClr val="FFFFFF"/>
                          </a:solidFill>
                          <a:effectLst/>
                        </a:rPr>
                        <a:t>Vitis HLS</a:t>
                      </a:r>
                    </a:p>
                  </a:txBody>
                  <a:tcPr marL="71264" marR="71264" marT="71264" marB="71264">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696969"/>
                    </a:solidFill>
                  </a:tcPr>
                </a:tc>
                <a:extLst>
                  <a:ext uri="{0D108BD9-81ED-4DB2-BD59-A6C34878D82A}">
                    <a16:rowId xmlns:a16="http://schemas.microsoft.com/office/drawing/2014/main" val="3584069712"/>
                  </a:ext>
                </a:extLst>
              </a:tr>
              <a:tr h="584599">
                <a:tc>
                  <a:txBody>
                    <a:bodyPr/>
                    <a:lstStyle/>
                    <a:p>
                      <a:pPr fontAlgn="t">
                        <a:spcAft>
                          <a:spcPts val="400"/>
                        </a:spcAft>
                      </a:pPr>
                      <a:r>
                        <a:rPr lang="en-US" sz="1700">
                          <a:effectLst/>
                        </a:rPr>
                        <a:t>interface pragma defaults</a:t>
                      </a:r>
                    </a:p>
                  </a:txBody>
                  <a:tcPr marL="35632" marR="35632" marT="35632" marB="35632">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en-US" sz="1700">
                          <a:effectLst/>
                        </a:rPr>
                        <a:t>ip mode</a:t>
                      </a:r>
                    </a:p>
                  </a:txBody>
                  <a:tcPr marL="35632" marR="35632" marT="35632" marB="35632">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fr-FR" sz="1700">
                          <a:effectLst/>
                        </a:rPr>
                        <a:t>kernel mode (check default interfaces)</a:t>
                      </a:r>
                    </a:p>
                  </a:txBody>
                  <a:tcPr marL="35632" marR="35632" marT="35632" marB="35632">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extLst>
                  <a:ext uri="{0D108BD9-81ED-4DB2-BD59-A6C34878D82A}">
                    <a16:rowId xmlns:a16="http://schemas.microsoft.com/office/drawing/2014/main" val="1965998685"/>
                  </a:ext>
                </a:extLst>
              </a:tr>
              <a:tr h="327931">
                <a:tc>
                  <a:txBody>
                    <a:bodyPr/>
                    <a:lstStyle/>
                    <a:p>
                      <a:pPr fontAlgn="t">
                        <a:spcAft>
                          <a:spcPts val="400"/>
                        </a:spcAft>
                      </a:pPr>
                      <a:r>
                        <a:rPr lang="en-US" sz="1700">
                          <a:effectLst/>
                        </a:rPr>
                        <a:t>config_interface -m_axi_offset</a:t>
                      </a:r>
                    </a:p>
                  </a:txBody>
                  <a:tcPr marL="35632" marR="35632" marT="35632" marB="35632">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en-US" sz="1700">
                          <a:effectLst/>
                        </a:rPr>
                        <a:t>N/A</a:t>
                      </a:r>
                    </a:p>
                  </a:txBody>
                  <a:tcPr marL="35632" marR="35632" marT="35632" marB="35632">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en-US" sz="1700">
                          <a:effectLst/>
                        </a:rPr>
                        <a:t>direct</a:t>
                      </a:r>
                    </a:p>
                  </a:txBody>
                  <a:tcPr marL="35632" marR="35632" marT="35632" marB="35632">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extLst>
                  <a:ext uri="{0D108BD9-81ED-4DB2-BD59-A6C34878D82A}">
                    <a16:rowId xmlns:a16="http://schemas.microsoft.com/office/drawing/2014/main" val="3201065630"/>
                  </a:ext>
                </a:extLst>
              </a:tr>
              <a:tr h="584599">
                <a:tc>
                  <a:txBody>
                    <a:bodyPr/>
                    <a:lstStyle/>
                    <a:p>
                      <a:pPr fontAlgn="t">
                        <a:spcAft>
                          <a:spcPts val="400"/>
                        </a:spcAft>
                      </a:pPr>
                      <a:r>
                        <a:rPr lang="en-US" sz="1700">
                          <a:effectLst/>
                        </a:rPr>
                        <a:t>config_interface -m_axi_alignment_byte_size</a:t>
                      </a:r>
                    </a:p>
                  </a:txBody>
                  <a:tcPr marL="35632" marR="35632" marT="35632" marB="35632">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en-US" sz="1700">
                          <a:effectLst/>
                        </a:rPr>
                        <a:t>N/A</a:t>
                      </a:r>
                    </a:p>
                  </a:txBody>
                  <a:tcPr marL="35632" marR="35632" marT="35632" marB="35632">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en-US" altLang="zh-CN" sz="1700">
                          <a:effectLst/>
                        </a:rPr>
                        <a:t>64</a:t>
                      </a:r>
                    </a:p>
                  </a:txBody>
                  <a:tcPr marL="35632" marR="35632" marT="35632" marB="35632">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extLst>
                  <a:ext uri="{0D108BD9-81ED-4DB2-BD59-A6C34878D82A}">
                    <a16:rowId xmlns:a16="http://schemas.microsoft.com/office/drawing/2014/main" val="2598001282"/>
                  </a:ext>
                </a:extLst>
              </a:tr>
              <a:tr h="584599">
                <a:tc>
                  <a:txBody>
                    <a:bodyPr/>
                    <a:lstStyle/>
                    <a:p>
                      <a:pPr fontAlgn="t">
                        <a:spcAft>
                          <a:spcPts val="400"/>
                        </a:spcAft>
                      </a:pPr>
                      <a:r>
                        <a:rPr lang="en-US" sz="1700">
                          <a:effectLst/>
                        </a:rPr>
                        <a:t>config_interface -m_axi_max_widen_bitwidth</a:t>
                      </a:r>
                    </a:p>
                  </a:txBody>
                  <a:tcPr marL="35632" marR="35632" marT="35632" marB="35632">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en-US" sz="1700">
                          <a:effectLst/>
                        </a:rPr>
                        <a:t>N/A</a:t>
                      </a:r>
                    </a:p>
                  </a:txBody>
                  <a:tcPr marL="35632" marR="35632" marT="35632" marB="35632">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en-US" altLang="zh-CN" sz="1700">
                          <a:effectLst/>
                        </a:rPr>
                        <a:t>512</a:t>
                      </a:r>
                    </a:p>
                  </a:txBody>
                  <a:tcPr marL="35632" marR="35632" marT="35632" marB="35632">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extLst>
                  <a:ext uri="{0D108BD9-81ED-4DB2-BD59-A6C34878D82A}">
                    <a16:rowId xmlns:a16="http://schemas.microsoft.com/office/drawing/2014/main" val="228608096"/>
                  </a:ext>
                </a:extLst>
              </a:tr>
              <a:tr h="584599">
                <a:tc>
                  <a:txBody>
                    <a:bodyPr/>
                    <a:lstStyle/>
                    <a:p>
                      <a:pPr fontAlgn="t">
                        <a:spcAft>
                          <a:spcPts val="400"/>
                        </a:spcAft>
                      </a:pPr>
                      <a:r>
                        <a:rPr lang="en-US" sz="1700">
                          <a:effectLst/>
                        </a:rPr>
                        <a:t>config_compile -name_max_length</a:t>
                      </a:r>
                    </a:p>
                  </a:txBody>
                  <a:tcPr marL="35632" marR="35632" marT="35632" marB="35632">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en-US" altLang="zh-CN" sz="1700">
                          <a:effectLst/>
                        </a:rPr>
                        <a:t>256</a:t>
                      </a:r>
                    </a:p>
                  </a:txBody>
                  <a:tcPr marL="35632" marR="35632" marT="35632" marB="35632">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en-US" altLang="zh-CN" sz="1700">
                          <a:effectLst/>
                        </a:rPr>
                        <a:t>255</a:t>
                      </a:r>
                    </a:p>
                  </a:txBody>
                  <a:tcPr marL="35632" marR="35632" marT="35632" marB="35632">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extLst>
                  <a:ext uri="{0D108BD9-81ED-4DB2-BD59-A6C34878D82A}">
                    <a16:rowId xmlns:a16="http://schemas.microsoft.com/office/drawing/2014/main" val="360960658"/>
                  </a:ext>
                </a:extLst>
              </a:tr>
              <a:tr h="327931">
                <a:tc>
                  <a:txBody>
                    <a:bodyPr/>
                    <a:lstStyle/>
                    <a:p>
                      <a:pPr fontAlgn="t">
                        <a:spcAft>
                          <a:spcPts val="400"/>
                        </a:spcAft>
                      </a:pPr>
                      <a:r>
                        <a:rPr lang="en-US" sz="1700">
                          <a:effectLst/>
                        </a:rPr>
                        <a:t>config_compile -pipeline_loops</a:t>
                      </a:r>
                    </a:p>
                  </a:txBody>
                  <a:tcPr marL="35632" marR="35632" marT="35632" marB="35632">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en-US" altLang="zh-CN" sz="1700">
                          <a:effectLst/>
                        </a:rPr>
                        <a:t>64</a:t>
                      </a:r>
                    </a:p>
                  </a:txBody>
                  <a:tcPr marL="35632" marR="35632" marT="35632" marB="35632">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en-US" altLang="zh-CN" sz="1700">
                          <a:effectLst/>
                        </a:rPr>
                        <a:t>64</a:t>
                      </a:r>
                    </a:p>
                  </a:txBody>
                  <a:tcPr marL="35632" marR="35632" marT="35632" marB="35632">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extLst>
                  <a:ext uri="{0D108BD9-81ED-4DB2-BD59-A6C34878D82A}">
                    <a16:rowId xmlns:a16="http://schemas.microsoft.com/office/drawing/2014/main" val="687033009"/>
                  </a:ext>
                </a:extLst>
              </a:tr>
              <a:tr h="327931">
                <a:tc>
                  <a:txBody>
                    <a:bodyPr/>
                    <a:lstStyle/>
                    <a:p>
                      <a:pPr fontAlgn="t">
                        <a:spcAft>
                          <a:spcPts val="400"/>
                        </a:spcAft>
                      </a:pPr>
                      <a:r>
                        <a:rPr lang="en-US" sz="1700">
                          <a:effectLst/>
                        </a:rPr>
                        <a:t>set_clock_uncertainty</a:t>
                      </a:r>
                    </a:p>
                  </a:txBody>
                  <a:tcPr marL="35632" marR="35632" marT="35632" marB="35632">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en-US" altLang="zh-CN" sz="1700">
                          <a:effectLst/>
                        </a:rPr>
                        <a:t>27%</a:t>
                      </a:r>
                    </a:p>
                  </a:txBody>
                  <a:tcPr marL="35632" marR="35632" marT="35632" marB="35632">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en-US" altLang="zh-CN" sz="1700">
                          <a:effectLst/>
                        </a:rPr>
                        <a:t>27%</a:t>
                      </a:r>
                    </a:p>
                  </a:txBody>
                  <a:tcPr marL="35632" marR="35632" marT="35632" marB="35632">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extLst>
                  <a:ext uri="{0D108BD9-81ED-4DB2-BD59-A6C34878D82A}">
                    <a16:rowId xmlns:a16="http://schemas.microsoft.com/office/drawing/2014/main" val="4062925832"/>
                  </a:ext>
                </a:extLst>
              </a:tr>
              <a:tr h="327931">
                <a:tc>
                  <a:txBody>
                    <a:bodyPr/>
                    <a:lstStyle/>
                    <a:p>
                      <a:pPr fontAlgn="t">
                        <a:spcAft>
                          <a:spcPts val="400"/>
                        </a:spcAft>
                      </a:pPr>
                      <a:r>
                        <a:rPr lang="pt-BR" sz="1700">
                          <a:effectLst/>
                        </a:rPr>
                        <a:t>config_rtl -register_reset_num</a:t>
                      </a:r>
                    </a:p>
                  </a:txBody>
                  <a:tcPr marL="35632" marR="35632" marT="35632" marB="35632">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en-US" altLang="zh-CN" sz="1700">
                          <a:effectLst/>
                        </a:rPr>
                        <a:t>3</a:t>
                      </a:r>
                    </a:p>
                  </a:txBody>
                  <a:tcPr marL="35632" marR="35632" marT="35632" marB="35632">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en-US" altLang="zh-CN" sz="1700">
                          <a:effectLst/>
                        </a:rPr>
                        <a:t>3</a:t>
                      </a:r>
                    </a:p>
                  </a:txBody>
                  <a:tcPr marL="35632" marR="35632" marT="35632" marB="35632">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extLst>
                  <a:ext uri="{0D108BD9-81ED-4DB2-BD59-A6C34878D82A}">
                    <a16:rowId xmlns:a16="http://schemas.microsoft.com/office/drawing/2014/main" val="3046392714"/>
                  </a:ext>
                </a:extLst>
              </a:tr>
              <a:tr h="584599">
                <a:tc>
                  <a:txBody>
                    <a:bodyPr/>
                    <a:lstStyle/>
                    <a:p>
                      <a:pPr fontAlgn="t">
                        <a:spcAft>
                          <a:spcPts val="400"/>
                        </a:spcAft>
                      </a:pPr>
                      <a:r>
                        <a:rPr lang="en-US" sz="1700">
                          <a:effectLst/>
                        </a:rPr>
                        <a:t>config_interface -m_axi_latency</a:t>
                      </a:r>
                    </a:p>
                  </a:txBody>
                  <a:tcPr marL="35632" marR="35632" marT="35632" marB="35632">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en-US" altLang="zh-CN" sz="1700">
                          <a:effectLst/>
                        </a:rPr>
                        <a:t>0</a:t>
                      </a:r>
                    </a:p>
                  </a:txBody>
                  <a:tcPr marL="35632" marR="35632" marT="35632" marB="35632">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tc>
                  <a:txBody>
                    <a:bodyPr/>
                    <a:lstStyle/>
                    <a:p>
                      <a:pPr algn="ctr" fontAlgn="t">
                        <a:spcAft>
                          <a:spcPts val="400"/>
                        </a:spcAft>
                      </a:pPr>
                      <a:r>
                        <a:rPr lang="en-US" altLang="zh-CN" sz="1700" dirty="0">
                          <a:effectLst/>
                        </a:rPr>
                        <a:t>64</a:t>
                      </a:r>
                    </a:p>
                  </a:txBody>
                  <a:tcPr marL="35632" marR="35632" marT="35632" marB="35632">
                    <a:lnL w="9525" cap="flat" cmpd="sng" algn="ctr">
                      <a:solidFill>
                        <a:srgbClr val="D3D3D3"/>
                      </a:solidFill>
                      <a:prstDash val="solid"/>
                      <a:round/>
                      <a:headEnd type="none" w="med" len="med"/>
                      <a:tailEnd type="none" w="med" len="med"/>
                    </a:lnL>
                    <a:lnR w="9525" cap="flat" cmpd="sng" algn="ctr">
                      <a:solidFill>
                        <a:srgbClr val="D3D3D3"/>
                      </a:solidFill>
                      <a:prstDash val="solid"/>
                      <a:round/>
                      <a:headEnd type="none" w="med" len="med"/>
                      <a:tailEnd type="none" w="med" len="med"/>
                    </a:lnR>
                    <a:lnT w="9525" cap="flat" cmpd="sng" algn="ctr">
                      <a:solidFill>
                        <a:srgbClr val="D3D3D3"/>
                      </a:solidFill>
                      <a:prstDash val="solid"/>
                      <a:round/>
                      <a:headEnd type="none" w="med" len="med"/>
                      <a:tailEnd type="none" w="med" len="med"/>
                    </a:lnT>
                    <a:lnB w="9525" cap="flat" cmpd="sng" algn="ctr">
                      <a:solidFill>
                        <a:srgbClr val="D3D3D3"/>
                      </a:solidFill>
                      <a:prstDash val="solid"/>
                      <a:round/>
                      <a:headEnd type="none" w="med" len="med"/>
                      <a:tailEnd type="none" w="med" len="med"/>
                    </a:lnB>
                    <a:solidFill>
                      <a:srgbClr val="FFFFFF"/>
                    </a:solidFill>
                  </a:tcPr>
                </a:tc>
                <a:extLst>
                  <a:ext uri="{0D108BD9-81ED-4DB2-BD59-A6C34878D82A}">
                    <a16:rowId xmlns:a16="http://schemas.microsoft.com/office/drawing/2014/main" val="4172488493"/>
                  </a:ext>
                </a:extLst>
              </a:tr>
            </a:tbl>
          </a:graphicData>
        </a:graphic>
      </p:graphicFrame>
    </p:spTree>
    <p:extLst>
      <p:ext uri="{BB962C8B-B14F-4D97-AF65-F5344CB8AC3E}">
        <p14:creationId xmlns:p14="http://schemas.microsoft.com/office/powerpoint/2010/main" val="40364066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8E66894E-EF55-42CF-A583-0A6ACD681452}"/>
              </a:ext>
            </a:extLst>
          </p:cNvPr>
          <p:cNvPicPr>
            <a:picLocks noChangeAspect="1"/>
          </p:cNvPicPr>
          <p:nvPr/>
        </p:nvPicPr>
        <p:blipFill>
          <a:blip r:embed="rId2"/>
          <a:stretch>
            <a:fillRect/>
          </a:stretch>
        </p:blipFill>
        <p:spPr>
          <a:xfrm>
            <a:off x="5394548" y="240458"/>
            <a:ext cx="5431609" cy="3802915"/>
          </a:xfrm>
          <a:prstGeom prst="rect">
            <a:avLst/>
          </a:prstGeom>
        </p:spPr>
      </p:pic>
      <p:sp>
        <p:nvSpPr>
          <p:cNvPr id="2" name="标题 1">
            <a:extLst>
              <a:ext uri="{FF2B5EF4-FFF2-40B4-BE49-F238E27FC236}">
                <a16:creationId xmlns:a16="http://schemas.microsoft.com/office/drawing/2014/main" id="{EE021C62-8988-4EE9-8415-207148E6DA5B}"/>
              </a:ext>
            </a:extLst>
          </p:cNvPr>
          <p:cNvSpPr>
            <a:spLocks noGrp="1"/>
          </p:cNvSpPr>
          <p:nvPr>
            <p:ph type="title"/>
          </p:nvPr>
        </p:nvSpPr>
        <p:spPr>
          <a:xfrm>
            <a:off x="579121" y="304800"/>
            <a:ext cx="11033760" cy="975360"/>
          </a:xfrm>
        </p:spPr>
        <p:txBody>
          <a:bodyPr/>
          <a:lstStyle/>
          <a:p>
            <a:r>
              <a:rPr lang="en-US" altLang="zh-CN" dirty="0"/>
              <a:t>Example</a:t>
            </a:r>
            <a:endParaRPr lang="zh-CN" altLang="en-US" dirty="0"/>
          </a:p>
        </p:txBody>
      </p:sp>
      <p:sp>
        <p:nvSpPr>
          <p:cNvPr id="3" name="灯片编号占位符 2">
            <a:extLst>
              <a:ext uri="{FF2B5EF4-FFF2-40B4-BE49-F238E27FC236}">
                <a16:creationId xmlns:a16="http://schemas.microsoft.com/office/drawing/2014/main" id="{55CED41E-C591-4DB1-911A-6BBBFCA2C58B}"/>
              </a:ext>
            </a:extLst>
          </p:cNvPr>
          <p:cNvSpPr>
            <a:spLocks noGrp="1"/>
          </p:cNvSpPr>
          <p:nvPr>
            <p:ph type="sldNum" sz="quarter" idx="10"/>
          </p:nvPr>
        </p:nvSpPr>
        <p:spPr/>
        <p:txBody>
          <a:bodyPr/>
          <a:lstStyle/>
          <a:p>
            <a:fld id="{626C978B-826E-438C-909A-E9C381D3FF04}" type="slidenum">
              <a:rPr lang="en-US" smtClean="0"/>
              <a:pPr/>
              <a:t>45</a:t>
            </a:fld>
            <a:endParaRPr lang="en-US"/>
          </a:p>
        </p:txBody>
      </p:sp>
      <p:sp>
        <p:nvSpPr>
          <p:cNvPr id="9" name="矩形 8">
            <a:extLst>
              <a:ext uri="{FF2B5EF4-FFF2-40B4-BE49-F238E27FC236}">
                <a16:creationId xmlns:a16="http://schemas.microsoft.com/office/drawing/2014/main" id="{FDB4124C-2BCF-41DA-BF71-39E3648454AA}"/>
              </a:ext>
            </a:extLst>
          </p:cNvPr>
          <p:cNvSpPr/>
          <p:nvPr/>
        </p:nvSpPr>
        <p:spPr>
          <a:xfrm>
            <a:off x="7146256" y="890987"/>
            <a:ext cx="694785" cy="677226"/>
          </a:xfrm>
          <a:prstGeom prst="rect">
            <a:avLst/>
          </a:prstGeom>
          <a:noFill/>
          <a:ln w="25400">
            <a:solidFill>
              <a:schemeClr val="accent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72E7220E-0433-461E-8B2C-4F3CBC1133E2}"/>
              </a:ext>
            </a:extLst>
          </p:cNvPr>
          <p:cNvSpPr/>
          <p:nvPr/>
        </p:nvSpPr>
        <p:spPr>
          <a:xfrm>
            <a:off x="9854075" y="3357461"/>
            <a:ext cx="694785" cy="677226"/>
          </a:xfrm>
          <a:prstGeom prst="rect">
            <a:avLst/>
          </a:prstGeom>
          <a:noFill/>
          <a:ln w="25400">
            <a:solidFill>
              <a:schemeClr val="accent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pic>
        <p:nvPicPr>
          <p:cNvPr id="5" name="图片 4">
            <a:extLst>
              <a:ext uri="{FF2B5EF4-FFF2-40B4-BE49-F238E27FC236}">
                <a16:creationId xmlns:a16="http://schemas.microsoft.com/office/drawing/2014/main" id="{EF1CB4CB-8073-438E-A5CD-42863EC3D0ED}"/>
              </a:ext>
            </a:extLst>
          </p:cNvPr>
          <p:cNvPicPr>
            <a:picLocks noChangeAspect="1"/>
          </p:cNvPicPr>
          <p:nvPr/>
        </p:nvPicPr>
        <p:blipFill rotWithShape="1">
          <a:blip r:embed="rId3"/>
          <a:srcRect r="75403" b="62591"/>
          <a:stretch/>
        </p:blipFill>
        <p:spPr>
          <a:xfrm>
            <a:off x="1405084" y="1797416"/>
            <a:ext cx="2998839" cy="1394890"/>
          </a:xfrm>
          <a:prstGeom prst="rect">
            <a:avLst/>
          </a:prstGeom>
        </p:spPr>
      </p:pic>
      <p:sp>
        <p:nvSpPr>
          <p:cNvPr id="11" name="矩形 10">
            <a:extLst>
              <a:ext uri="{FF2B5EF4-FFF2-40B4-BE49-F238E27FC236}">
                <a16:creationId xmlns:a16="http://schemas.microsoft.com/office/drawing/2014/main" id="{B27AEDD7-75ED-4AE3-9D52-42EF73601C51}"/>
              </a:ext>
            </a:extLst>
          </p:cNvPr>
          <p:cNvSpPr/>
          <p:nvPr/>
        </p:nvSpPr>
        <p:spPr>
          <a:xfrm>
            <a:off x="2896226" y="2321976"/>
            <a:ext cx="1007180" cy="785017"/>
          </a:xfrm>
          <a:prstGeom prst="rect">
            <a:avLst/>
          </a:prstGeom>
          <a:noFill/>
          <a:ln w="25400">
            <a:solidFill>
              <a:schemeClr val="accent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pic>
        <p:nvPicPr>
          <p:cNvPr id="7" name="图片 6">
            <a:extLst>
              <a:ext uri="{FF2B5EF4-FFF2-40B4-BE49-F238E27FC236}">
                <a16:creationId xmlns:a16="http://schemas.microsoft.com/office/drawing/2014/main" id="{F403DE25-50C7-4A23-9FFF-D78C565EE728}"/>
              </a:ext>
            </a:extLst>
          </p:cNvPr>
          <p:cNvPicPr>
            <a:picLocks noChangeAspect="1"/>
          </p:cNvPicPr>
          <p:nvPr/>
        </p:nvPicPr>
        <p:blipFill rotWithShape="1">
          <a:blip r:embed="rId3"/>
          <a:srcRect t="36881"/>
          <a:stretch/>
        </p:blipFill>
        <p:spPr>
          <a:xfrm>
            <a:off x="579119" y="4043373"/>
            <a:ext cx="11033761" cy="2129950"/>
          </a:xfrm>
          <a:prstGeom prst="rect">
            <a:avLst/>
          </a:prstGeom>
        </p:spPr>
      </p:pic>
      <p:sp>
        <p:nvSpPr>
          <p:cNvPr id="13" name="矩形 12">
            <a:extLst>
              <a:ext uri="{FF2B5EF4-FFF2-40B4-BE49-F238E27FC236}">
                <a16:creationId xmlns:a16="http://schemas.microsoft.com/office/drawing/2014/main" id="{92E4C074-7681-468A-829C-C0BFE27D917D}"/>
              </a:ext>
            </a:extLst>
          </p:cNvPr>
          <p:cNvSpPr/>
          <p:nvPr/>
        </p:nvSpPr>
        <p:spPr>
          <a:xfrm>
            <a:off x="8865933" y="4798142"/>
            <a:ext cx="694785" cy="1508080"/>
          </a:xfrm>
          <a:prstGeom prst="rect">
            <a:avLst/>
          </a:prstGeom>
          <a:noFill/>
          <a:ln w="25400">
            <a:solidFill>
              <a:schemeClr val="accent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910292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179F2-D4FD-4732-9C24-20CBFDE8F675}"/>
              </a:ext>
            </a:extLst>
          </p:cNvPr>
          <p:cNvSpPr>
            <a:spLocks noGrp="1"/>
          </p:cNvSpPr>
          <p:nvPr>
            <p:ph type="title"/>
          </p:nvPr>
        </p:nvSpPr>
        <p:spPr/>
        <p:txBody>
          <a:bodyPr/>
          <a:lstStyle/>
          <a:p>
            <a:pPr>
              <a:spcBef>
                <a:spcPts val="600"/>
              </a:spcBef>
            </a:pPr>
            <a:r>
              <a:rPr lang="en-US" altLang="zh-CN" sz="3600" dirty="0"/>
              <a:t>Difference between </a:t>
            </a:r>
            <a:r>
              <a:rPr lang="en-US" altLang="zh-CN" sz="3600" dirty="0" err="1"/>
              <a:t>Vitis</a:t>
            </a:r>
            <a:r>
              <a:rPr lang="en-US" altLang="zh-CN" sz="3600" dirty="0"/>
              <a:t> HLS and Vivado HLS</a:t>
            </a:r>
          </a:p>
        </p:txBody>
      </p:sp>
    </p:spTree>
    <p:extLst>
      <p:ext uri="{BB962C8B-B14F-4D97-AF65-F5344CB8AC3E}">
        <p14:creationId xmlns:p14="http://schemas.microsoft.com/office/powerpoint/2010/main" val="7378983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4F5015-F324-48D2-8BDF-C153A94443EC}"/>
              </a:ext>
            </a:extLst>
          </p:cNvPr>
          <p:cNvSpPr>
            <a:spLocks noGrp="1"/>
          </p:cNvSpPr>
          <p:nvPr>
            <p:ph type="title"/>
          </p:nvPr>
        </p:nvSpPr>
        <p:spPr/>
        <p:txBody>
          <a:bodyPr/>
          <a:lstStyle/>
          <a:p>
            <a:r>
              <a:rPr lang="en-US" altLang="zh-CN" dirty="0"/>
              <a:t>Behavioral Differences</a:t>
            </a:r>
          </a:p>
        </p:txBody>
      </p:sp>
      <p:sp>
        <p:nvSpPr>
          <p:cNvPr id="3" name="灯片编号占位符 2">
            <a:extLst>
              <a:ext uri="{FF2B5EF4-FFF2-40B4-BE49-F238E27FC236}">
                <a16:creationId xmlns:a16="http://schemas.microsoft.com/office/drawing/2014/main" id="{078A0A71-C5AE-4621-A463-739AC2B5EC04}"/>
              </a:ext>
            </a:extLst>
          </p:cNvPr>
          <p:cNvSpPr>
            <a:spLocks noGrp="1"/>
          </p:cNvSpPr>
          <p:nvPr>
            <p:ph type="sldNum" sz="quarter" idx="10"/>
          </p:nvPr>
        </p:nvSpPr>
        <p:spPr/>
        <p:txBody>
          <a:bodyPr/>
          <a:lstStyle/>
          <a:p>
            <a:fld id="{626C978B-826E-438C-909A-E9C381D3FF04}" type="slidenum">
              <a:rPr lang="en-US" smtClean="0"/>
              <a:pPr/>
              <a:t>47</a:t>
            </a:fld>
            <a:endParaRPr lang="en-US"/>
          </a:p>
        </p:txBody>
      </p:sp>
      <p:sp>
        <p:nvSpPr>
          <p:cNvPr id="4" name="内容占位符 3">
            <a:extLst>
              <a:ext uri="{FF2B5EF4-FFF2-40B4-BE49-F238E27FC236}">
                <a16:creationId xmlns:a16="http://schemas.microsoft.com/office/drawing/2014/main" id="{C7699B48-5A6D-4E5C-B98C-63E87AECF928}"/>
              </a:ext>
            </a:extLst>
          </p:cNvPr>
          <p:cNvSpPr>
            <a:spLocks noGrp="1"/>
          </p:cNvSpPr>
          <p:nvPr>
            <p:ph idx="1"/>
          </p:nvPr>
        </p:nvSpPr>
        <p:spPr>
          <a:xfrm>
            <a:off x="571594" y="1920240"/>
            <a:ext cx="11033760" cy="4632960"/>
          </a:xfrm>
        </p:spPr>
        <p:txBody>
          <a:bodyPr/>
          <a:lstStyle/>
          <a:p>
            <a:r>
              <a:rPr lang="en-US" dirty="0"/>
              <a:t>New more strict syntax checking is provided in </a:t>
            </a:r>
            <a:r>
              <a:rPr lang="en-US" dirty="0" err="1"/>
              <a:t>Vitis</a:t>
            </a:r>
            <a:r>
              <a:rPr lang="en-US" dirty="0"/>
              <a:t> HLS for both source code and pragma usage:</a:t>
            </a:r>
          </a:p>
          <a:p>
            <a:endParaRPr lang="en-US" dirty="0"/>
          </a:p>
          <a:p>
            <a:pPr lvl="1"/>
            <a:r>
              <a:rPr lang="en-US" dirty="0"/>
              <a:t>Syntax Checker: The tool will error out for any incorrect/bad code fed to </a:t>
            </a:r>
            <a:r>
              <a:rPr lang="en-US" dirty="0" err="1"/>
              <a:t>csynth_design</a:t>
            </a:r>
            <a:endParaRPr lang="en-US" dirty="0"/>
          </a:p>
          <a:p>
            <a:pPr lvl="1"/>
            <a:r>
              <a:rPr lang="en-US" dirty="0"/>
              <a:t>Pragma Conflict Checker: New warnings and errors are reported for pragma conflicts</a:t>
            </a:r>
          </a:p>
        </p:txBody>
      </p:sp>
    </p:spTree>
    <p:extLst>
      <p:ext uri="{BB962C8B-B14F-4D97-AF65-F5344CB8AC3E}">
        <p14:creationId xmlns:p14="http://schemas.microsoft.com/office/powerpoint/2010/main" val="3128637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6CAA9C-B0C5-4AA1-882A-147357121CEF}"/>
              </a:ext>
            </a:extLst>
          </p:cNvPr>
          <p:cNvSpPr>
            <a:spLocks noGrp="1"/>
          </p:cNvSpPr>
          <p:nvPr>
            <p:ph type="title"/>
          </p:nvPr>
        </p:nvSpPr>
        <p:spPr/>
        <p:txBody>
          <a:bodyPr/>
          <a:lstStyle/>
          <a:p>
            <a:r>
              <a:rPr lang="en-US" altLang="zh-CN" dirty="0"/>
              <a:t>Assertions</a:t>
            </a:r>
            <a:endParaRPr lang="en-US" dirty="0"/>
          </a:p>
        </p:txBody>
      </p:sp>
      <p:sp>
        <p:nvSpPr>
          <p:cNvPr id="3" name="灯片编号占位符 2">
            <a:extLst>
              <a:ext uri="{FF2B5EF4-FFF2-40B4-BE49-F238E27FC236}">
                <a16:creationId xmlns:a16="http://schemas.microsoft.com/office/drawing/2014/main" id="{07E81C2B-A4E5-468D-B2F9-911AD4DA22EA}"/>
              </a:ext>
            </a:extLst>
          </p:cNvPr>
          <p:cNvSpPr>
            <a:spLocks noGrp="1"/>
          </p:cNvSpPr>
          <p:nvPr>
            <p:ph type="sldNum" sz="quarter" idx="10"/>
          </p:nvPr>
        </p:nvSpPr>
        <p:spPr/>
        <p:txBody>
          <a:bodyPr/>
          <a:lstStyle/>
          <a:p>
            <a:fld id="{626C978B-826E-438C-909A-E9C381D3FF04}" type="slidenum">
              <a:rPr lang="en-US" smtClean="0"/>
              <a:pPr/>
              <a:t>48</a:t>
            </a:fld>
            <a:endParaRPr lang="en-US"/>
          </a:p>
        </p:txBody>
      </p:sp>
      <p:sp>
        <p:nvSpPr>
          <p:cNvPr id="4" name="内容占位符 3">
            <a:extLst>
              <a:ext uri="{FF2B5EF4-FFF2-40B4-BE49-F238E27FC236}">
                <a16:creationId xmlns:a16="http://schemas.microsoft.com/office/drawing/2014/main" id="{883CE6E9-0506-44D4-9573-26BD5B9EBD83}"/>
              </a:ext>
            </a:extLst>
          </p:cNvPr>
          <p:cNvSpPr>
            <a:spLocks noGrp="1"/>
          </p:cNvSpPr>
          <p:nvPr>
            <p:ph idx="1"/>
          </p:nvPr>
        </p:nvSpPr>
        <p:spPr/>
        <p:txBody>
          <a:bodyPr/>
          <a:lstStyle/>
          <a:p>
            <a:r>
              <a:rPr lang="en-US" altLang="zh-CN" dirty="0"/>
              <a:t>The assert macro in C/C++ is not supported in </a:t>
            </a:r>
            <a:r>
              <a:rPr lang="en-US" altLang="zh-CN" dirty="0" err="1"/>
              <a:t>Vitis</a:t>
            </a:r>
            <a:r>
              <a:rPr lang="en-US" altLang="zh-CN" dirty="0"/>
              <a:t> HLS.</a:t>
            </a:r>
          </a:p>
          <a:p>
            <a:endParaRPr lang="en-US" altLang="zh-CN" dirty="0"/>
          </a:p>
          <a:p>
            <a:r>
              <a:rPr lang="en-US" altLang="zh-CN" dirty="0"/>
              <a:t>Usage of assertions can have unintended consequences that are not obvious to the user, causing bad logic to be created.</a:t>
            </a:r>
          </a:p>
          <a:p>
            <a:r>
              <a:rPr lang="en-US" altLang="zh-CN" dirty="0"/>
              <a:t>They can also prevent compiler optimizations depending on the complexity of the code.</a:t>
            </a:r>
            <a:endParaRPr lang="en-US" dirty="0"/>
          </a:p>
        </p:txBody>
      </p:sp>
    </p:spTree>
    <p:extLst>
      <p:ext uri="{BB962C8B-B14F-4D97-AF65-F5344CB8AC3E}">
        <p14:creationId xmlns:p14="http://schemas.microsoft.com/office/powerpoint/2010/main" val="1797938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6CAA9C-B0C5-4AA1-882A-147357121CEF}"/>
              </a:ext>
            </a:extLst>
          </p:cNvPr>
          <p:cNvSpPr>
            <a:spLocks noGrp="1"/>
          </p:cNvSpPr>
          <p:nvPr>
            <p:ph type="title"/>
          </p:nvPr>
        </p:nvSpPr>
        <p:spPr/>
        <p:txBody>
          <a:bodyPr/>
          <a:lstStyle/>
          <a:p>
            <a:r>
              <a:rPr lang="en-US" altLang="zh-CN" dirty="0"/>
              <a:t>C Arbitrary Precision Types</a:t>
            </a:r>
            <a:endParaRPr lang="en-US" dirty="0"/>
          </a:p>
        </p:txBody>
      </p:sp>
      <p:sp>
        <p:nvSpPr>
          <p:cNvPr id="3" name="灯片编号占位符 2">
            <a:extLst>
              <a:ext uri="{FF2B5EF4-FFF2-40B4-BE49-F238E27FC236}">
                <a16:creationId xmlns:a16="http://schemas.microsoft.com/office/drawing/2014/main" id="{07E81C2B-A4E5-468D-B2F9-911AD4DA22EA}"/>
              </a:ext>
            </a:extLst>
          </p:cNvPr>
          <p:cNvSpPr>
            <a:spLocks noGrp="1"/>
          </p:cNvSpPr>
          <p:nvPr>
            <p:ph type="sldNum" sz="quarter" idx="10"/>
          </p:nvPr>
        </p:nvSpPr>
        <p:spPr/>
        <p:txBody>
          <a:bodyPr/>
          <a:lstStyle/>
          <a:p>
            <a:fld id="{626C978B-826E-438C-909A-E9C381D3FF04}" type="slidenum">
              <a:rPr lang="en-US" smtClean="0"/>
              <a:pPr/>
              <a:t>49</a:t>
            </a:fld>
            <a:endParaRPr lang="en-US"/>
          </a:p>
        </p:txBody>
      </p:sp>
      <p:sp>
        <p:nvSpPr>
          <p:cNvPr id="4" name="内容占位符 3">
            <a:extLst>
              <a:ext uri="{FF2B5EF4-FFF2-40B4-BE49-F238E27FC236}">
                <a16:creationId xmlns:a16="http://schemas.microsoft.com/office/drawing/2014/main" id="{883CE6E9-0506-44D4-9573-26BD5B9EBD83}"/>
              </a:ext>
            </a:extLst>
          </p:cNvPr>
          <p:cNvSpPr>
            <a:spLocks noGrp="1"/>
          </p:cNvSpPr>
          <p:nvPr>
            <p:ph idx="1"/>
          </p:nvPr>
        </p:nvSpPr>
        <p:spPr>
          <a:xfrm>
            <a:off x="571594" y="1730749"/>
            <a:ext cx="11033760" cy="4632960"/>
          </a:xfrm>
        </p:spPr>
        <p:txBody>
          <a:bodyPr/>
          <a:lstStyle/>
          <a:p>
            <a:r>
              <a:rPr lang="en-US" altLang="zh-CN" dirty="0" err="1"/>
              <a:t>Vitis</a:t>
            </a:r>
            <a:r>
              <a:rPr lang="en-US" altLang="zh-CN" dirty="0"/>
              <a:t> HLS does not support C arbitrary precision types. Xilinx recommends using C++ types with arbitrary precision.</a:t>
            </a:r>
          </a:p>
          <a:p>
            <a:endParaRPr lang="en-US" altLang="zh-CN" dirty="0"/>
          </a:p>
          <a:p>
            <a:r>
              <a:rPr lang="en-US" altLang="zh-CN" dirty="0"/>
              <a:t>In addition, C++ arbitrary precision types in </a:t>
            </a:r>
            <a:r>
              <a:rPr lang="en-US" altLang="zh-CN" dirty="0" err="1"/>
              <a:t>Vitis</a:t>
            </a:r>
            <a:r>
              <a:rPr lang="en-US" altLang="zh-CN" dirty="0"/>
              <a:t> HLS are limited to a maximum width of 4096 bits, instead of 32K bits supported by Vivado HLS.</a:t>
            </a:r>
            <a:endParaRPr lang="en-US" dirty="0"/>
          </a:p>
        </p:txBody>
      </p:sp>
    </p:spTree>
    <p:extLst>
      <p:ext uri="{BB962C8B-B14F-4D97-AF65-F5344CB8AC3E}">
        <p14:creationId xmlns:p14="http://schemas.microsoft.com/office/powerpoint/2010/main" val="5322127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179F2-D4FD-4732-9C24-20CBFDE8F675}"/>
              </a:ext>
            </a:extLst>
          </p:cNvPr>
          <p:cNvSpPr>
            <a:spLocks noGrp="1"/>
          </p:cNvSpPr>
          <p:nvPr>
            <p:ph type="title"/>
          </p:nvPr>
        </p:nvSpPr>
        <p:spPr/>
        <p:txBody>
          <a:bodyPr/>
          <a:lstStyle/>
          <a:p>
            <a:pPr>
              <a:spcBef>
                <a:spcPts val="600"/>
              </a:spcBef>
            </a:pPr>
            <a:r>
              <a:rPr lang="en-US" altLang="zh-CN" dirty="0"/>
              <a:t>Summary</a:t>
            </a:r>
          </a:p>
        </p:txBody>
      </p:sp>
    </p:spTree>
    <p:extLst>
      <p:ext uri="{BB962C8B-B14F-4D97-AF65-F5344CB8AC3E}">
        <p14:creationId xmlns:p14="http://schemas.microsoft.com/office/powerpoint/2010/main" val="41950534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p:txBody>
          <a:bodyPr>
            <a:noAutofit/>
          </a:bodyPr>
          <a:lstStyle/>
          <a:p>
            <a:r>
              <a:rPr lang="en-US" dirty="0"/>
              <a:t>In HLS</a:t>
            </a:r>
          </a:p>
          <a:p>
            <a:pPr lvl="1"/>
            <a:r>
              <a:rPr lang="en-US" dirty="0"/>
              <a:t>C becomes RTL</a:t>
            </a:r>
          </a:p>
          <a:p>
            <a:pPr lvl="1"/>
            <a:r>
              <a:rPr lang="en-US" dirty="0"/>
              <a:t>Operations in the code map to hardware resources</a:t>
            </a:r>
          </a:p>
          <a:p>
            <a:pPr lvl="1"/>
            <a:r>
              <a:rPr lang="en-US" dirty="0"/>
              <a:t>Understand how constructs such as functions, loops and arrays are synthesized</a:t>
            </a:r>
          </a:p>
          <a:p>
            <a:r>
              <a:rPr lang="en-US" dirty="0"/>
              <a:t>HLS design involves</a:t>
            </a:r>
          </a:p>
          <a:p>
            <a:pPr lvl="1"/>
            <a:r>
              <a:rPr lang="en-US" dirty="0"/>
              <a:t>Synthesize the initial design</a:t>
            </a:r>
          </a:p>
          <a:p>
            <a:pPr lvl="1"/>
            <a:r>
              <a:rPr lang="en-US" dirty="0"/>
              <a:t>Analyze to see what limits the performance</a:t>
            </a:r>
          </a:p>
          <a:p>
            <a:pPr lvl="2"/>
            <a:r>
              <a:rPr lang="en-US" dirty="0"/>
              <a:t>User directives to change the default behaviors</a:t>
            </a:r>
          </a:p>
          <a:p>
            <a:pPr lvl="2"/>
            <a:r>
              <a:rPr lang="en-US" dirty="0"/>
              <a:t>Remove bottlenecks</a:t>
            </a:r>
          </a:p>
          <a:p>
            <a:pPr lvl="1"/>
            <a:r>
              <a:rPr lang="en-US" dirty="0"/>
              <a:t>Analyze to see what limits the area</a:t>
            </a:r>
          </a:p>
          <a:p>
            <a:pPr lvl="2"/>
            <a:r>
              <a:rPr lang="en-US" dirty="0"/>
              <a:t>The types used define the size of operators</a:t>
            </a:r>
          </a:p>
          <a:p>
            <a:pPr lvl="2"/>
            <a:r>
              <a:rPr lang="en-US" dirty="0"/>
              <a:t>This can have an impact on what operations can fit in a clock cycle </a:t>
            </a:r>
          </a:p>
        </p:txBody>
      </p:sp>
      <p:sp>
        <p:nvSpPr>
          <p:cNvPr id="4" name="Slide Number Placeholder 3"/>
          <p:cNvSpPr>
            <a:spLocks noGrp="1"/>
          </p:cNvSpPr>
          <p:nvPr>
            <p:ph type="sldNum" sz="quarter" idx="10"/>
          </p:nvPr>
        </p:nvSpPr>
        <p:spPr/>
        <p:txBody>
          <a:bodyPr/>
          <a:lstStyle/>
          <a:p>
            <a:pPr>
              <a:defRPr/>
            </a:pPr>
            <a:r>
              <a:rPr lang="en-US" dirty="0"/>
              <a:t>Intro to HLS 11- </a:t>
            </a:r>
            <a:fld id="{060BD193-E118-4B16-863C-C8C12C675E3E}" type="slidenum">
              <a:rPr lang="en-US" smtClean="0"/>
              <a:pPr>
                <a:defRPr/>
              </a:pPr>
              <a:t>51</a:t>
            </a:fld>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p:txBody>
          <a:bodyPr>
            <a:noAutofit/>
          </a:bodyPr>
          <a:lstStyle/>
          <a:p>
            <a:r>
              <a:rPr lang="en-US" dirty="0"/>
              <a:t>Use directives to shape the initial design to meet performance</a:t>
            </a:r>
          </a:p>
          <a:p>
            <a:pPr lvl="1"/>
            <a:r>
              <a:rPr lang="en-US" dirty="0"/>
              <a:t>Increase parallelism to improve performance</a:t>
            </a:r>
          </a:p>
          <a:p>
            <a:pPr lvl="1"/>
            <a:r>
              <a:rPr lang="en-US" dirty="0"/>
              <a:t>Refine bit sizes and sharing to reduce area</a:t>
            </a:r>
          </a:p>
          <a:p>
            <a:r>
              <a:rPr lang="en-US" dirty="0"/>
              <a:t>Vitis HLS benefits</a:t>
            </a:r>
          </a:p>
          <a:p>
            <a:pPr lvl="1"/>
            <a:r>
              <a:rPr lang="en-US" dirty="0"/>
              <a:t>Productivity</a:t>
            </a:r>
          </a:p>
          <a:p>
            <a:pPr lvl="1"/>
            <a:r>
              <a:rPr lang="en-US" dirty="0"/>
              <a:t>Portability</a:t>
            </a:r>
          </a:p>
          <a:p>
            <a:pPr lvl="1"/>
            <a:r>
              <a:rPr lang="en-US" dirty="0"/>
              <a:t>Permutability</a:t>
            </a:r>
          </a:p>
        </p:txBody>
      </p:sp>
      <p:sp>
        <p:nvSpPr>
          <p:cNvPr id="4" name="Slide Number Placeholder 3"/>
          <p:cNvSpPr>
            <a:spLocks noGrp="1"/>
          </p:cNvSpPr>
          <p:nvPr>
            <p:ph type="sldNum" sz="quarter" idx="10"/>
          </p:nvPr>
        </p:nvSpPr>
        <p:spPr/>
        <p:txBody>
          <a:bodyPr/>
          <a:lstStyle/>
          <a:p>
            <a:pPr>
              <a:defRPr/>
            </a:pPr>
            <a:r>
              <a:rPr lang="en-US" dirty="0"/>
              <a:t>Intro to HLS 11- </a:t>
            </a:r>
            <a:fld id="{060BD193-E118-4B16-863C-C8C12C675E3E}" type="slidenum">
              <a:rPr lang="en-US" smtClean="0"/>
              <a:pPr>
                <a:defRPr/>
              </a:pPr>
              <a:t>52</a:t>
            </a:fld>
            <a:endParaRPr lang="en-US" dirty="0"/>
          </a:p>
        </p:txBody>
      </p:sp>
    </p:spTree>
  </p:cSld>
  <p:clrMapOvr>
    <a:masterClrMapping/>
  </p:clrMapOvr>
</p:sld>
</file>

<file path=ppt/theme/theme1.xml><?xml version="1.0" encoding="utf-8"?>
<a:theme xmlns:a="http://schemas.openxmlformats.org/drawingml/2006/main" name="Xilinx-5">
  <a:themeElements>
    <a:clrScheme name="Custom 1">
      <a:dk1>
        <a:srgbClr val="0C0C0C"/>
      </a:dk1>
      <a:lt1>
        <a:srgbClr val="FFFFFF"/>
      </a:lt1>
      <a:dk2>
        <a:srgbClr val="161C2E"/>
      </a:dk2>
      <a:lt2>
        <a:srgbClr val="5F5F5F"/>
      </a:lt2>
      <a:accent1>
        <a:srgbClr val="E20000"/>
      </a:accent1>
      <a:accent2>
        <a:srgbClr val="282D3F"/>
      </a:accent2>
      <a:accent3>
        <a:srgbClr val="8D919A"/>
      </a:accent3>
      <a:accent4>
        <a:srgbClr val="055C99"/>
      </a:accent4>
      <a:accent5>
        <a:srgbClr val="0D9079"/>
      </a:accent5>
      <a:accent6>
        <a:srgbClr val="00B2BA"/>
      </a:accent6>
      <a:hlink>
        <a:srgbClr val="055C99"/>
      </a:hlink>
      <a:folHlink>
        <a:srgbClr val="5F5F5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xilinx-amd-corporate-ppt-template-2021" id="{7CC915E4-ED56-F440-A372-8A06D175C5EE}" vid="{9CD3E2E4-A2A3-2840-AEBD-8A66C252938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13AA4F4-3B34-2743-ACD6-F6D573A82AF7}">
  <we:reference id="f9ac8e4d-ed29-46df-aca6-61a4f7a9a1d6" version="1.0.0.1" store="developer" storeType="Registry"/>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8A00A9B6178BD498632E37D0AD5CC8E" ma:contentTypeVersion="3" ma:contentTypeDescription="Create a new document." ma:contentTypeScope="" ma:versionID="fbaca91dc24b034817257c3a25d93af0">
  <xsd:schema xmlns:xsd="http://www.w3.org/2001/XMLSchema" xmlns:xs="http://www.w3.org/2001/XMLSchema" xmlns:p="http://schemas.microsoft.com/office/2006/metadata/properties" xmlns:ns2="ee71d666-e06f-4bed-b53d-75a975332d6d" targetNamespace="http://schemas.microsoft.com/office/2006/metadata/properties" ma:root="true" ma:fieldsID="14a92504b4f4f9b68fc7bcdaff1e0a50" ns2:_="">
    <xsd:import namespace="ee71d666-e06f-4bed-b53d-75a975332d6d"/>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e71d666-e06f-4bed-b53d-75a975332d6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BE94A12-9E97-40EB-A974-3BC9F5C18103}">
  <ds:schemaRefs>
    <ds:schemaRef ds:uri="http://schemas.microsoft.com/sharepoint/v3/contenttype/forms"/>
  </ds:schemaRefs>
</ds:datastoreItem>
</file>

<file path=customXml/itemProps2.xml><?xml version="1.0" encoding="utf-8"?>
<ds:datastoreItem xmlns:ds="http://schemas.openxmlformats.org/officeDocument/2006/customXml" ds:itemID="{F4DF82DF-52AA-4D1D-AC7B-8F45A830CAF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e71d666-e06f-4bed-b53d-75a975332d6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60316F9-D49B-43D3-B1A5-38BBC2E7659C}">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ee71d666-e06f-4bed-b53d-75a975332d6d"/>
    <ds:schemaRef ds:uri="http://purl.org/dc/elements/1.1/"/>
    <ds:schemaRef ds:uri="http://schemas.microsoft.com/office/2006/metadata/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0</TotalTime>
  <Words>5803</Words>
  <Application>Microsoft Office PowerPoint</Application>
  <PresentationFormat>宽屏</PresentationFormat>
  <Paragraphs>1219</Paragraphs>
  <Slides>52</Slides>
  <Notes>11</Notes>
  <HiddenSlides>1</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52</vt:i4>
      </vt:variant>
    </vt:vector>
  </HeadingPairs>
  <TitlesOfParts>
    <vt:vector size="58" baseType="lpstr">
      <vt:lpstr>Arial</vt:lpstr>
      <vt:lpstr>Consolas</vt:lpstr>
      <vt:lpstr>Microsoft Sans Serif</vt:lpstr>
      <vt:lpstr>Webdings</vt:lpstr>
      <vt:lpstr>Wingdings 3</vt:lpstr>
      <vt:lpstr>Xilinx-5</vt:lpstr>
      <vt:lpstr>Introduction to High-Level Synthesis with Vitis HLS</vt:lpstr>
      <vt:lpstr>Objectives</vt:lpstr>
      <vt:lpstr>Outline</vt:lpstr>
      <vt:lpstr>Need for High-Level Synthesis</vt:lpstr>
      <vt:lpstr>High-Level Synthesis: HLS</vt:lpstr>
      <vt:lpstr>Design Exploration with Directives</vt:lpstr>
      <vt:lpstr>Introduction to High-Level Synthesis</vt:lpstr>
      <vt:lpstr>HLS: Control Extraction</vt:lpstr>
      <vt:lpstr>HLS: Control &amp; Datapath Extraction</vt:lpstr>
      <vt:lpstr>High-Level Synthesis: Scheduling &amp; Binding</vt:lpstr>
      <vt:lpstr>Scheduling</vt:lpstr>
      <vt:lpstr>Binding</vt:lpstr>
      <vt:lpstr>High-Level Synthesis with Vitis HLS</vt:lpstr>
      <vt:lpstr>RTL vs High-Level Language</vt:lpstr>
      <vt:lpstr>Vitis HLS Benefits</vt:lpstr>
      <vt:lpstr>Vitis HLS Benefits</vt:lpstr>
      <vt:lpstr>Vitis HLS Benefits</vt:lpstr>
      <vt:lpstr>Understanding Vitis HLS Synthesis</vt:lpstr>
      <vt:lpstr>The Key Attributes of C code</vt:lpstr>
      <vt:lpstr>Functions &amp; RTL Hierarchy</vt:lpstr>
      <vt:lpstr>Types = Operator Bit-sizes</vt:lpstr>
      <vt:lpstr>Types = Operator Bit-sizes</vt:lpstr>
      <vt:lpstr>Loops </vt:lpstr>
      <vt:lpstr>Data Dependencies: Good </vt:lpstr>
      <vt:lpstr>Data Dependencies: Bad</vt:lpstr>
      <vt:lpstr>Schedule after Loop Optimization</vt:lpstr>
      <vt:lpstr>Arrays in HLS</vt:lpstr>
      <vt:lpstr>Top-Level IO Ports</vt:lpstr>
      <vt:lpstr>Schedule after an Array Optimization</vt:lpstr>
      <vt:lpstr>Operators</vt:lpstr>
      <vt:lpstr>Language Support</vt:lpstr>
      <vt:lpstr>Comprehensive C Support</vt:lpstr>
      <vt:lpstr>C and C++ Support</vt:lpstr>
      <vt:lpstr>Validation Flow</vt:lpstr>
      <vt:lpstr>C Validation and RTL Verification</vt:lpstr>
      <vt:lpstr>C Function Test Bench</vt:lpstr>
      <vt:lpstr>Determine or Create the Top-level Function</vt:lpstr>
      <vt:lpstr>Vitis Flow and Vivado Flow</vt:lpstr>
      <vt:lpstr>Vitis Flow (Kernel Mode)</vt:lpstr>
      <vt:lpstr>Vitis Flow (Kernel Mode)</vt:lpstr>
      <vt:lpstr>Vitis Flow (Kernel Mode)</vt:lpstr>
      <vt:lpstr>Vivado Flow (IP Mode)</vt:lpstr>
      <vt:lpstr>Default Control Settings(Vivado flow)</vt:lpstr>
      <vt:lpstr>Default Control Settings(Vitis flow)</vt:lpstr>
      <vt:lpstr>Example</vt:lpstr>
      <vt:lpstr>Difference between Vitis HLS and Vivado HLS</vt:lpstr>
      <vt:lpstr>Behavioral Differences</vt:lpstr>
      <vt:lpstr>Assertions</vt:lpstr>
      <vt:lpstr>C Arbitrary Precision Types</vt:lpstr>
      <vt:lpstr>Summary</vt:lpstr>
      <vt:lpstr>Summary</vt:lpstr>
      <vt:lpstr>Summary</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STOP (Read Instructions Below)</dc:title>
  <dc:subject/>
  <dc:creator/>
  <cp:keywords>Public</cp:keywords>
  <dc:description/>
  <cp:revision>2</cp:revision>
  <dcterms:created xsi:type="dcterms:W3CDTF">2019-10-16T21:50:31Z</dcterms:created>
  <dcterms:modified xsi:type="dcterms:W3CDTF">2022-03-28T08:14:23Z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XilinxClassification">
    <vt:lpwstr>Public</vt:lpwstr>
  </property>
  <property fmtid="{D5CDD505-2E9C-101B-9397-08002B2CF9AE}" pid="3" name="IDENTIFIER">
    <vt:lpwstr>12B622CE-7949-4BC8-8A85-7A5041597B9E</vt:lpwstr>
  </property>
  <property fmtid="{D5CDD505-2E9C-101B-9397-08002B2CF9AE}" pid="4" name="TitusGUID">
    <vt:lpwstr>547f5642-c43a-4c38-900f-2e0358fc4abd</vt:lpwstr>
  </property>
  <property fmtid="{D5CDD505-2E9C-101B-9397-08002B2CF9AE}" pid="5" name="ContentTypeId">
    <vt:lpwstr>0x01010058A00A9B6178BD498632E37D0AD5CC8E</vt:lpwstr>
  </property>
  <property fmtid="{D5CDD505-2E9C-101B-9397-08002B2CF9AE}" pid="6" name="VisualMarkings">
    <vt:lpwstr>Yes</vt:lpwstr>
  </property>
  <property fmtid="{D5CDD505-2E9C-101B-9397-08002B2CF9AE}" pid="7" name="PublicationYear">
    <vt:lpwstr>2022</vt:lpwstr>
  </property>
</Properties>
</file>