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59"/>
  </p:notesMasterIdLst>
  <p:handoutMasterIdLst>
    <p:handoutMasterId r:id="rId60"/>
  </p:handoutMasterIdLst>
  <p:sldIdLst>
    <p:sldId id="1052" r:id="rId5"/>
    <p:sldId id="960" r:id="rId6"/>
    <p:sldId id="1008" r:id="rId7"/>
    <p:sldId id="1004" r:id="rId8"/>
    <p:sldId id="962" r:id="rId9"/>
    <p:sldId id="970" r:id="rId10"/>
    <p:sldId id="964" r:id="rId11"/>
    <p:sldId id="1000" r:id="rId12"/>
    <p:sldId id="1001" r:id="rId13"/>
    <p:sldId id="973" r:id="rId14"/>
    <p:sldId id="974" r:id="rId15"/>
    <p:sldId id="969" r:id="rId16"/>
    <p:sldId id="1009" r:id="rId17"/>
    <p:sldId id="1006" r:id="rId18"/>
    <p:sldId id="999" r:id="rId19"/>
    <p:sldId id="1002" r:id="rId20"/>
    <p:sldId id="1003" r:id="rId21"/>
    <p:sldId id="976" r:id="rId22"/>
    <p:sldId id="977" r:id="rId23"/>
    <p:sldId id="978" r:id="rId24"/>
    <p:sldId id="979" r:id="rId25"/>
    <p:sldId id="1013" r:id="rId26"/>
    <p:sldId id="980" r:id="rId27"/>
    <p:sldId id="981" r:id="rId28"/>
    <p:sldId id="982" r:id="rId29"/>
    <p:sldId id="983" r:id="rId30"/>
    <p:sldId id="984" r:id="rId31"/>
    <p:sldId id="985" r:id="rId32"/>
    <p:sldId id="986" r:id="rId33"/>
    <p:sldId id="987" r:id="rId34"/>
    <p:sldId id="1010" r:id="rId35"/>
    <p:sldId id="990" r:id="rId36"/>
    <p:sldId id="991" r:id="rId37"/>
    <p:sldId id="1011" r:id="rId38"/>
    <p:sldId id="998" r:id="rId39"/>
    <p:sldId id="994" r:id="rId40"/>
    <p:sldId id="995" r:id="rId41"/>
    <p:sldId id="1053" r:id="rId42"/>
    <p:sldId id="3714" r:id="rId43"/>
    <p:sldId id="3718" r:id="rId44"/>
    <p:sldId id="3715" r:id="rId45"/>
    <p:sldId id="3716" r:id="rId46"/>
    <p:sldId id="3717" r:id="rId47"/>
    <p:sldId id="3719" r:id="rId48"/>
    <p:sldId id="3729" r:id="rId49"/>
    <p:sldId id="1012" r:id="rId50"/>
    <p:sldId id="3710" r:id="rId51"/>
    <p:sldId id="3713" r:id="rId52"/>
    <p:sldId id="3721" r:id="rId53"/>
    <p:sldId id="3730" r:id="rId54"/>
    <p:sldId id="996" r:id="rId55"/>
    <p:sldId id="997" r:id="rId56"/>
    <p:sldId id="941" r:id="rId57"/>
    <p:sldId id="3731" r:id="rId58"/>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399" autoAdjust="0"/>
    <p:restoredTop sz="94694"/>
  </p:normalViewPr>
  <p:slideViewPr>
    <p:cSldViewPr snapToGrid="0">
      <p:cViewPr varScale="1">
        <p:scale>
          <a:sx n="81" d="100"/>
          <a:sy n="81" d="100"/>
        </p:scale>
        <p:origin x="322" y="5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61"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4/14/2022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4/14/2022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4302459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0672843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6</a:t>
            </a:fld>
            <a:endParaRPr lang="en-US" dirty="0">
              <a:solidFill>
                <a:prstClr val="black"/>
              </a:solidFill>
            </a:endParaRPr>
          </a:p>
        </p:txBody>
      </p:sp>
    </p:spTree>
    <p:extLst>
      <p:ext uri="{BB962C8B-B14F-4D97-AF65-F5344CB8AC3E}">
        <p14:creationId xmlns:p14="http://schemas.microsoft.com/office/powerpoint/2010/main" val="1821579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Arial" charset="0"/>
                <a:ea typeface="+mn-ea"/>
                <a:cs typeface="+mn-cs"/>
              </a:rPr>
              <a:t>RTL design cycles typically consist of verification and design closure iterations for each block, as well as for the entire design. As a consequence of this methodology, the platform connectivity design never stabilizes, as any change in the differentiated logic can cause an I/O interface (e.g. DDR memory, Ethernet, or </a:t>
            </a:r>
            <a:r>
              <a:rPr lang="en-US" sz="1200" kern="1200" dirty="0" err="1">
                <a:solidFill>
                  <a:schemeClr val="tx1"/>
                </a:solidFill>
                <a:effectLst/>
                <a:latin typeface="Arial" charset="0"/>
                <a:ea typeface="+mn-ea"/>
                <a:cs typeface="+mn-cs"/>
              </a:rPr>
              <a:t>PCIe</a:t>
            </a:r>
            <a:r>
              <a:rPr lang="en-US" sz="1200" kern="1200" dirty="0">
                <a:solidFill>
                  <a:schemeClr val="tx1"/>
                </a:solidFill>
                <a:effectLst/>
                <a:latin typeface="Arial" charset="0"/>
                <a:ea typeface="+mn-ea"/>
                <a:cs typeface="+mn-cs"/>
              </a:rPr>
              <a:t>® core) to fail timing requirements. Also, RTL verification cycles no longer allow for exhaustive functional tests prior to hardware bring up.</a:t>
            </a:r>
          </a:p>
          <a:p>
            <a:r>
              <a:rPr lang="en-US" sz="1200" kern="1200" dirty="0">
                <a:solidFill>
                  <a:schemeClr val="tx1"/>
                </a:solidFill>
                <a:effectLst/>
                <a:latin typeface="Arial" charset="0"/>
                <a:ea typeface="+mn-ea"/>
                <a:cs typeface="+mn-cs"/>
              </a:rPr>
              <a:t>A high-level design methodology turns the development effort on its head, allowing designers to spend more time designing the value-add logic and less time trying to make it work. This flow provides a 15X reduction in design cycle compared to an RTL design flow.</a:t>
            </a:r>
          </a:p>
          <a:p>
            <a:r>
              <a:rPr lang="en-US" sz="1200" kern="1200" dirty="0">
                <a:solidFill>
                  <a:schemeClr val="tx1"/>
                </a:solidFill>
                <a:effectLst/>
                <a:latin typeface="Arial" charset="0"/>
                <a:ea typeface="+mn-ea"/>
                <a:cs typeface="+mn-cs"/>
              </a:rPr>
              <a:t>The main attributes of a high-level methodology are:</a:t>
            </a:r>
          </a:p>
          <a:p>
            <a:pPr lvl="0"/>
            <a:r>
              <a:rPr lang="en-US" sz="1200" kern="1200" dirty="0">
                <a:solidFill>
                  <a:schemeClr val="tx1"/>
                </a:solidFill>
                <a:effectLst/>
                <a:latin typeface="Arial" charset="0"/>
                <a:ea typeface="+mn-ea"/>
                <a:cs typeface="+mn-cs"/>
              </a:rPr>
              <a:t>Separation of platform development and differentiated logic, allowing designers to focus on the company’s high-value functionality.</a:t>
            </a:r>
          </a:p>
          <a:p>
            <a:pPr lvl="0"/>
            <a:r>
              <a:rPr lang="en-US" sz="1200" kern="1200" dirty="0">
                <a:solidFill>
                  <a:schemeClr val="tx1"/>
                </a:solidFill>
                <a:effectLst/>
                <a:latin typeface="Arial" charset="0"/>
                <a:ea typeface="+mn-ea"/>
                <a:cs typeface="+mn-cs"/>
              </a:rPr>
              <a:t>Rapid configuration, generation and closure of the platform connectivity, using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IP Integrator with board awareness, as well as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IP systems.</a:t>
            </a:r>
          </a:p>
          <a:p>
            <a:pPr lvl="0"/>
            <a:r>
              <a:rPr lang="en-US" sz="1200" kern="1200" dirty="0">
                <a:solidFill>
                  <a:schemeClr val="tx1"/>
                </a:solidFill>
                <a:effectLst/>
                <a:latin typeface="Arial" charset="0"/>
                <a:ea typeface="+mn-ea"/>
                <a:cs typeface="+mn-cs"/>
              </a:rPr>
              <a:t>C-based simulation for the differentiated logic, decreasing simulation times by orders of magnitude over traditional RTL simulation.</a:t>
            </a:r>
          </a:p>
          <a:p>
            <a:pPr lvl="0"/>
            <a:r>
              <a:rPr lang="en-US" sz="1200" kern="1200" dirty="0">
                <a:solidFill>
                  <a:schemeClr val="tx1"/>
                </a:solidFill>
                <a:effectLst/>
                <a:latin typeface="Arial" charset="0"/>
                <a:ea typeface="+mn-ea"/>
                <a:cs typeface="+mn-cs"/>
              </a:rPr>
              <a:t>High-level synthesis with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HLS tool and C/C++ libraries, as well as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IP integrator for rapid implementation and system integration from C to silicon.</a:t>
            </a:r>
          </a:p>
          <a:p>
            <a:r>
              <a:rPr lang="en-AU" sz="1200" kern="1200" dirty="0">
                <a:solidFill>
                  <a:schemeClr val="tx1"/>
                </a:solidFill>
                <a:effectLst/>
                <a:latin typeface="Arial" charset="0"/>
                <a:ea typeface="+mn-ea"/>
                <a:cs typeface="+mn-cs"/>
              </a:rPr>
              <a:t> </a:t>
            </a:r>
            <a:endParaRPr lang="en-US" sz="1200" kern="1200" dirty="0">
              <a:solidFill>
                <a:schemeClr val="tx1"/>
              </a:solidFill>
              <a:effectLst/>
              <a:latin typeface="Arial" charset="0"/>
              <a:ea typeface="+mn-ea"/>
              <a:cs typeface="+mn-cs"/>
            </a:endParaRPr>
          </a:p>
          <a:p>
            <a:br>
              <a:rPr lang="en-US" sz="1200" kern="1200" dirty="0">
                <a:solidFill>
                  <a:schemeClr val="tx1"/>
                </a:solidFill>
                <a:effectLst/>
                <a:latin typeface="Arial" charset="0"/>
                <a:ea typeface="+mn-ea"/>
                <a:cs typeface="+mn-cs"/>
              </a:rPr>
            </a:br>
            <a:endParaRPr lang="en-US" dirty="0"/>
          </a:p>
        </p:txBody>
      </p:sp>
    </p:spTree>
    <p:extLst>
      <p:ext uri="{BB962C8B-B14F-4D97-AF65-F5344CB8AC3E}">
        <p14:creationId xmlns:p14="http://schemas.microsoft.com/office/powerpoint/2010/main" val="6398598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077642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14747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21</a:t>
            </a:fld>
            <a:endParaRPr lang="en-US" dirty="0">
              <a:solidFill>
                <a:prstClr val="black"/>
              </a:solidFill>
            </a:endParaRPr>
          </a:p>
        </p:txBody>
      </p:sp>
    </p:spTree>
    <p:extLst>
      <p:ext uri="{BB962C8B-B14F-4D97-AF65-F5344CB8AC3E}">
        <p14:creationId xmlns:p14="http://schemas.microsoft.com/office/powerpoint/2010/main" val="2671534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22</a:t>
            </a:fld>
            <a:endParaRPr lang="en-US" dirty="0">
              <a:solidFill>
                <a:prstClr val="black"/>
              </a:solidFill>
            </a:endParaRPr>
          </a:p>
        </p:txBody>
      </p:sp>
    </p:spTree>
    <p:extLst>
      <p:ext uri="{BB962C8B-B14F-4D97-AF65-F5344CB8AC3E}">
        <p14:creationId xmlns:p14="http://schemas.microsoft.com/office/powerpoint/2010/main" val="22117838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0149690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745330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54608092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
        <p:nvSpPr>
          <p:cNvPr id="7" name="Slide Number Placeholder 7">
            <a:extLst>
              <a:ext uri="{FF2B5EF4-FFF2-40B4-BE49-F238E27FC236}">
                <a16:creationId xmlns:a16="http://schemas.microsoft.com/office/drawing/2014/main" id="{235E4FDA-7C35-4094-98DB-D69483AD88F8}"/>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Slide Number Placeholder 7">
            <a:extLst>
              <a:ext uri="{FF2B5EF4-FFF2-40B4-BE49-F238E27FC236}">
                <a16:creationId xmlns:a16="http://schemas.microsoft.com/office/drawing/2014/main" id="{D2C26B13-711D-4F59-A1BB-653D2A2BEF91}"/>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Slide Number Placeholder 7">
            <a:extLst>
              <a:ext uri="{FF2B5EF4-FFF2-40B4-BE49-F238E27FC236}">
                <a16:creationId xmlns:a16="http://schemas.microsoft.com/office/drawing/2014/main" id="{09E850FD-E99E-4F5A-8F2D-750939D1A3E4}"/>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Slide Number Placeholder 7">
            <a:extLst>
              <a:ext uri="{FF2B5EF4-FFF2-40B4-BE49-F238E27FC236}">
                <a16:creationId xmlns:a16="http://schemas.microsoft.com/office/drawing/2014/main" id="{FA8555CE-9FF4-496B-B5E0-BEE9069B6094}"/>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8" name="Slide Number Placeholder 7">
            <a:extLst>
              <a:ext uri="{FF2B5EF4-FFF2-40B4-BE49-F238E27FC236}">
                <a16:creationId xmlns:a16="http://schemas.microsoft.com/office/drawing/2014/main" id="{B136F14A-8A8F-4A1E-83FA-73F908883EDD}"/>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8" name="Slide Number Placeholder 7">
            <a:extLst>
              <a:ext uri="{FF2B5EF4-FFF2-40B4-BE49-F238E27FC236}">
                <a16:creationId xmlns:a16="http://schemas.microsoft.com/office/drawing/2014/main" id="{97196426-342B-44D0-ADC2-C25DDACFA1D4}"/>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2022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a:xfrm>
            <a:off x="579121" y="6325606"/>
            <a:ext cx="975360" cy="365125"/>
          </a:xfrm>
          <a:prstGeom prst="rect">
            <a:avLst/>
          </a:prstGeom>
        </p:spPr>
        <p:txBody>
          <a:bodyPr/>
          <a:lstStyle/>
          <a:p>
            <a:pPr>
              <a:defRPr/>
            </a:pPr>
            <a:r>
              <a:rPr lang="en-US"/>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7003203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Two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a:xfrm>
            <a:off x="579121" y="6325606"/>
            <a:ext cx="975360" cy="365125"/>
          </a:xfrm>
          <a:prstGeom prst="rect">
            <a:avLst/>
          </a:prstGeom>
        </p:spPr>
        <p:txBody>
          <a:bodyPr/>
          <a:lstStyle/>
          <a:p>
            <a:pPr>
              <a:defRPr/>
            </a:pPr>
            <a:r>
              <a:rPr lang="en-US"/>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2520559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a:xfrm>
            <a:off x="579121" y="6325606"/>
            <a:ext cx="975360" cy="365125"/>
          </a:xfrm>
          <a:prstGeom prst="rect">
            <a:avLst/>
          </a:prstGeom>
        </p:spPr>
        <p:txBody>
          <a:bodyPr/>
          <a:lstStyle/>
          <a:p>
            <a:pPr>
              <a:defRPr/>
            </a:pPr>
            <a:r>
              <a:rPr lang="en-US"/>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937379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4"/>
          <a:stretch>
            <a:fillRect/>
          </a:stretch>
        </p:blipFill>
        <p:spPr>
          <a:xfrm>
            <a:off x="11028823" y="6279370"/>
            <a:ext cx="576531" cy="357077"/>
          </a:xfrm>
          <a:prstGeom prst="rect">
            <a:avLst/>
          </a:prstGeom>
        </p:spPr>
      </p:pic>
      <p:sp>
        <p:nvSpPr>
          <p:cNvPr id="6" name="fc" descr="&#10;© Copyright 2022 AMD">
            <a:extLst>
              <a:ext uri="{FF2B5EF4-FFF2-40B4-BE49-F238E27FC236}">
                <a16:creationId xmlns:a16="http://schemas.microsoft.com/office/drawing/2014/main" id="{D9BDFE48-89C9-4607-916A-D04E2C595CE6}"/>
              </a:ext>
            </a:extLst>
          </p:cNvPr>
          <p:cNvSpPr txBox="1"/>
          <p:nvPr userDrawn="1"/>
        </p:nvSpPr>
        <p:spPr>
          <a:xfrm>
            <a:off x="0" y="6512560"/>
            <a:ext cx="12192000" cy="230832"/>
          </a:xfrm>
          <a:prstGeom prst="rect">
            <a:avLst/>
          </a:prstGeom>
          <a:noFill/>
        </p:spPr>
        <p:txBody>
          <a:bodyPr vert="horz" rtlCol="0">
            <a:spAutoFit/>
          </a:bodyPr>
          <a:lstStyle/>
          <a:p>
            <a:pPr algn="ctr"/>
            <a:r>
              <a:rPr lang="en-US" sz="900" b="0" i="0" u="none" strike="noStrike" kern="1200" baseline="0" dirty="0">
                <a:solidFill>
                  <a:schemeClr val="tx1"/>
                </a:solidFill>
                <a:latin typeface="+mn-lt"/>
                <a:ea typeface="+mn-ea"/>
                <a:cs typeface="+mn-cs"/>
              </a:rPr>
              <a:t>©2022 Advanced Micro Devices, Inc.</a:t>
            </a:r>
            <a:endParaRPr lang="en-US" sz="850" b="0" i="0" u="none" baseline="0" dirty="0">
              <a:solidFill>
                <a:srgbClr val="000000"/>
              </a:solidFill>
              <a:latin typeface="Microsoft Sans Serif" panose="020B0604020202020204" pitchFamily="34" charset="0"/>
            </a:endParaRPr>
          </a:p>
        </p:txBody>
      </p:sp>
      <p:sp>
        <p:nvSpPr>
          <p:cNvPr id="8" name="Slide Number Placeholder 7">
            <a:extLst>
              <a:ext uri="{FF2B5EF4-FFF2-40B4-BE49-F238E27FC236}">
                <a16:creationId xmlns:a16="http://schemas.microsoft.com/office/drawing/2014/main" id="{5C8F9DE1-EC77-4EB7-8F4E-D16144D2ABE9}"/>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 id="2147483989" r:id="rId11"/>
    <p:sldLayoutId id="2147483990"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image" Target="../media/image7.jpeg"/><Relationship Id="rId7"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8.jpeg"/><Relationship Id="rId9" Type="http://schemas.openxmlformats.org/officeDocument/2006/relationships/image" Target="../media/image13.jpeg"/></Relationships>
</file>

<file path=ppt/slides/_rels/slide1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Introduction to High-Level Synthesis with Vitis HLS</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endParaRPr lang="en-US" dirty="0"/>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p>
          <a:p>
            <a:pPr>
              <a:lnSpc>
                <a:spcPts val="1000"/>
              </a:lnSpc>
              <a:buNone/>
            </a:pPr>
            <a:endParaRPr lang="en-US" altLang="zh-CN" dirty="0">
              <a:solidFill>
                <a:schemeClr val="tx1"/>
              </a:solidFill>
            </a:endParaRPr>
          </a:p>
          <a:p>
            <a:pPr lvl="1"/>
            <a:r>
              <a:rPr lang="en-US" dirty="0"/>
              <a:t>Describe the high level synthesis flow</a:t>
            </a:r>
          </a:p>
          <a:p>
            <a:pPr lvl="1"/>
            <a:r>
              <a:rPr lang="en-US" dirty="0"/>
              <a:t>Understand the control and </a:t>
            </a:r>
            <a:r>
              <a:rPr lang="en-US" dirty="0" err="1"/>
              <a:t>datapath</a:t>
            </a:r>
            <a:r>
              <a:rPr lang="en-US" dirty="0"/>
              <a:t> extraction </a:t>
            </a:r>
          </a:p>
          <a:p>
            <a:pPr lvl="1"/>
            <a:r>
              <a:rPr lang="en-US" dirty="0"/>
              <a:t>Describe scheduling and binding phases of the HLS flow</a:t>
            </a:r>
          </a:p>
          <a:p>
            <a:pPr lvl="1"/>
            <a:r>
              <a:rPr lang="en-US" dirty="0"/>
              <a:t>List the priorities of directives set by Vitis HLS</a:t>
            </a:r>
          </a:p>
          <a:p>
            <a:pPr lvl="1"/>
            <a:r>
              <a:rPr lang="en-US" dirty="0"/>
              <a:t>List comprehensive language support in Vitis HLS</a:t>
            </a:r>
          </a:p>
          <a:p>
            <a:pPr lvl="1"/>
            <a:r>
              <a:rPr lang="en-US" dirty="0"/>
              <a:t>Identify steps involved in validation and verification flows</a:t>
            </a:r>
          </a:p>
        </p:txBody>
      </p:sp>
      <p:sp>
        <p:nvSpPr>
          <p:cNvPr id="5" name="Slide Number Placeholder 4">
            <a:extLst>
              <a:ext uri="{FF2B5EF4-FFF2-40B4-BE49-F238E27FC236}">
                <a16:creationId xmlns:a16="http://schemas.microsoft.com/office/drawing/2014/main" id="{3ACD5632-CF98-4DF7-8D4D-27FABBA2110C}"/>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2</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6607D-3DEA-4C04-927B-32F627901057}"/>
              </a:ext>
            </a:extLst>
          </p:cNvPr>
          <p:cNvSpPr>
            <a:spLocks noGrp="1"/>
          </p:cNvSpPr>
          <p:nvPr>
            <p:ph type="title"/>
          </p:nvPr>
        </p:nvSpPr>
        <p:spPr/>
        <p:txBody>
          <a:bodyPr/>
          <a:lstStyle/>
          <a:p>
            <a:r>
              <a:rPr lang="en-US" altLang="zh-CN" dirty="0"/>
              <a:t>Outline</a:t>
            </a:r>
            <a:endParaRPr lang="zh-CN" altLang="en-US" dirty="0"/>
          </a:p>
        </p:txBody>
      </p:sp>
      <p:sp>
        <p:nvSpPr>
          <p:cNvPr id="3" name="Content Placeholder 2">
            <a:extLst>
              <a:ext uri="{FF2B5EF4-FFF2-40B4-BE49-F238E27FC236}">
                <a16:creationId xmlns:a16="http://schemas.microsoft.com/office/drawing/2014/main" id="{88FB674D-DCB6-4F4D-A910-58714E0D0B8F}"/>
              </a:ext>
            </a:extLst>
          </p:cNvPr>
          <p:cNvSpPr>
            <a:spLocks noGrp="1"/>
          </p:cNvSpPr>
          <p:nvPr>
            <p:ph idx="1"/>
          </p:nvPr>
        </p:nvSpPr>
        <p:spPr/>
        <p:txBody>
          <a:bodyPr/>
          <a:lstStyle/>
          <a:p>
            <a:r>
              <a:rPr lang="en-US" altLang="zh-CN" i="1" dirty="0"/>
              <a:t>Introduction to High-Level Synthesis</a:t>
            </a:r>
          </a:p>
          <a:p>
            <a:r>
              <a:rPr lang="en-US" altLang="zh-CN" dirty="0"/>
              <a:t>High-Level Synthesis with Vitis HLS</a:t>
            </a:r>
          </a:p>
          <a:p>
            <a:r>
              <a:rPr lang="en-US" altLang="zh-CN" dirty="0"/>
              <a:t>Language Support</a:t>
            </a:r>
          </a:p>
          <a:p>
            <a:r>
              <a:rPr lang="en-US" altLang="zh-CN" dirty="0"/>
              <a:t>Validation Flow</a:t>
            </a:r>
          </a:p>
          <a:p>
            <a:r>
              <a:rPr lang="en-US" altLang="zh-CN" dirty="0"/>
              <a:t>Summary</a:t>
            </a:r>
            <a:endParaRPr lang="zh-CN" altLang="en-US" dirty="0"/>
          </a:p>
        </p:txBody>
      </p:sp>
      <p:sp>
        <p:nvSpPr>
          <p:cNvPr id="4" name="Slide Number Placeholder 3">
            <a:extLst>
              <a:ext uri="{FF2B5EF4-FFF2-40B4-BE49-F238E27FC236}">
                <a16:creationId xmlns:a16="http://schemas.microsoft.com/office/drawing/2014/main" id="{956831F4-88DA-4B96-912D-A52E8B81C95D}"/>
              </a:ext>
            </a:extLst>
          </p:cNvPr>
          <p:cNvSpPr>
            <a:spLocks noGrp="1"/>
          </p:cNvSpPr>
          <p:nvPr>
            <p:ph type="sldNum" sz="quarter" idx="4"/>
          </p:nvPr>
        </p:nvSpPr>
        <p:spPr/>
        <p:txBody>
          <a:bodyPr/>
          <a:lstStyle/>
          <a:p>
            <a:pPr>
              <a:defRPr/>
            </a:pPr>
            <a:r>
              <a:rPr lang="en-US" dirty="0"/>
              <a:t>Intro to HLS 11- </a:t>
            </a:r>
            <a:fld id="{060BD193-E118-4B16-863C-C8C12C675E3E}" type="slidenum">
              <a:rPr lang="en-US" smtClean="0"/>
              <a:pPr>
                <a:defRPr/>
              </a:pPr>
              <a:t>3</a:t>
            </a:fld>
            <a:endParaRPr lang="en-US" dirty="0"/>
          </a:p>
        </p:txBody>
      </p:sp>
    </p:spTree>
    <p:extLst>
      <p:ext uri="{BB962C8B-B14F-4D97-AF65-F5344CB8AC3E}">
        <p14:creationId xmlns:p14="http://schemas.microsoft.com/office/powerpoint/2010/main" val="1075828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Need for High-Level Synthesis</a:t>
            </a:r>
          </a:p>
        </p:txBody>
      </p:sp>
      <p:sp>
        <p:nvSpPr>
          <p:cNvPr id="2" name="Content Placeholder 1"/>
          <p:cNvSpPr>
            <a:spLocks noGrp="1"/>
          </p:cNvSpPr>
          <p:nvPr>
            <p:ph idx="1"/>
          </p:nvPr>
        </p:nvSpPr>
        <p:spPr>
          <a:xfrm>
            <a:off x="579121" y="1112520"/>
            <a:ext cx="11033760" cy="4632960"/>
          </a:xfrm>
        </p:spPr>
        <p:txBody>
          <a:bodyPr/>
          <a:lstStyle/>
          <a:p>
            <a:pPr lvl="0"/>
            <a:r>
              <a:rPr lang="en-US" dirty="0"/>
              <a:t>Algorithmic-based approaches are getting popular due to accelerated design time and time to market (TTM)</a:t>
            </a:r>
          </a:p>
          <a:p>
            <a:pPr lvl="1"/>
            <a:r>
              <a:rPr lang="en-US" dirty="0"/>
              <a:t>Larger designs pose challenges in design and verification of hardware at HDL level</a:t>
            </a:r>
          </a:p>
          <a:p>
            <a:pPr lvl="0"/>
            <a:r>
              <a:rPr lang="en-US" dirty="0"/>
              <a:t>Industry trend is moving towards hardware acceleration to enhance performance and productivity</a:t>
            </a:r>
          </a:p>
          <a:p>
            <a:pPr lvl="1"/>
            <a:r>
              <a:rPr lang="en-US" dirty="0"/>
              <a:t>CPU-intensive tasks can be offloaded to hardware accelerator in FPGA</a:t>
            </a:r>
          </a:p>
          <a:p>
            <a:pPr lvl="1"/>
            <a:r>
              <a:rPr lang="en-US" dirty="0"/>
              <a:t>Hardware accelerators require a lot of time to understand and design</a:t>
            </a:r>
          </a:p>
          <a:p>
            <a:pPr lvl="0"/>
            <a:r>
              <a:rPr lang="en-US" dirty="0"/>
              <a:t>Vitis HLS tool converts algorithmic description written in C-based design flow into hardware description (RTL)</a:t>
            </a:r>
          </a:p>
          <a:p>
            <a:pPr lvl="1"/>
            <a:r>
              <a:rPr lang="en-US" dirty="0"/>
              <a:t>Elevates the abstraction level from RTL to algorithms</a:t>
            </a:r>
          </a:p>
          <a:p>
            <a:pPr lvl="0"/>
            <a:r>
              <a:rPr lang="en-US" dirty="0"/>
              <a:t>High-level synthesis is essential for maintaining design productivity for large designs</a:t>
            </a:r>
          </a:p>
          <a:p>
            <a:endParaRPr lang="en-US" dirty="0"/>
          </a:p>
        </p:txBody>
      </p:sp>
      <p:sp>
        <p:nvSpPr>
          <p:cNvPr id="3" name="Slide Number Placeholder 2">
            <a:extLst>
              <a:ext uri="{FF2B5EF4-FFF2-40B4-BE49-F238E27FC236}">
                <a16:creationId xmlns:a16="http://schemas.microsoft.com/office/drawing/2014/main" id="{988AC5D4-2EBC-4CEE-8715-F6B402C93015}"/>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4</a:t>
            </a:fld>
            <a:endParaRPr lang="en-US" dirty="0"/>
          </a:p>
        </p:txBody>
      </p:sp>
    </p:spTree>
    <p:extLst>
      <p:ext uri="{BB962C8B-B14F-4D97-AF65-F5344CB8AC3E}">
        <p14:creationId xmlns:p14="http://schemas.microsoft.com/office/powerpoint/2010/main" val="42124068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High-Level Synthesis: HLS</a:t>
            </a:r>
          </a:p>
        </p:txBody>
      </p:sp>
      <p:sp>
        <p:nvSpPr>
          <p:cNvPr id="3" name="Content Placeholder 2"/>
          <p:cNvSpPr>
            <a:spLocks noGrp="1"/>
          </p:cNvSpPr>
          <p:nvPr>
            <p:ph sz="half" idx="1"/>
          </p:nvPr>
        </p:nvSpPr>
        <p:spPr/>
        <p:txBody>
          <a:bodyPr>
            <a:normAutofit lnSpcReduction="10000"/>
          </a:bodyPr>
          <a:lstStyle/>
          <a:p>
            <a:r>
              <a:rPr lang="en-US" dirty="0"/>
              <a:t>High-Level Synthesis</a:t>
            </a:r>
          </a:p>
          <a:p>
            <a:pPr lvl="1"/>
            <a:r>
              <a:rPr lang="en-US" dirty="0"/>
              <a:t>Creates an RTL implementation from C, C++, OpenCL API C kernel code</a:t>
            </a:r>
          </a:p>
          <a:p>
            <a:pPr lvl="1"/>
            <a:r>
              <a:rPr lang="en-US" dirty="0"/>
              <a:t>Extracts control and dataflow from the source code</a:t>
            </a:r>
          </a:p>
          <a:p>
            <a:pPr lvl="1"/>
            <a:r>
              <a:rPr lang="en-US" dirty="0"/>
              <a:t>Implements the design based on defaults and user applied directives</a:t>
            </a:r>
          </a:p>
          <a:p>
            <a:r>
              <a:rPr lang="en-US" dirty="0"/>
              <a:t>Many implementation are possible from </a:t>
            </a:r>
            <a:br>
              <a:rPr lang="en-US" dirty="0"/>
            </a:br>
            <a:r>
              <a:rPr lang="en-US" dirty="0"/>
              <a:t>the same source description</a:t>
            </a:r>
          </a:p>
          <a:p>
            <a:pPr lvl="1"/>
            <a:r>
              <a:rPr lang="en-US" dirty="0"/>
              <a:t>Smaller designs, faster designs, optimal designs</a:t>
            </a:r>
          </a:p>
          <a:p>
            <a:pPr lvl="1"/>
            <a:r>
              <a:rPr lang="en-US" dirty="0"/>
              <a:t>Enables design exploration</a:t>
            </a:r>
          </a:p>
          <a:p>
            <a:pPr lvl="1"/>
            <a:endParaRPr lang="en-US" dirty="0"/>
          </a:p>
        </p:txBody>
      </p:sp>
      <p:sp>
        <p:nvSpPr>
          <p:cNvPr id="9" name="Slide Number Placeholder 8">
            <a:extLst>
              <a:ext uri="{FF2B5EF4-FFF2-40B4-BE49-F238E27FC236}">
                <a16:creationId xmlns:a16="http://schemas.microsoft.com/office/drawing/2014/main" id="{50B5B2AB-BA75-44F4-B6AB-18A4014C80AE}"/>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5</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92600" y="1609196"/>
            <a:ext cx="5783789" cy="3639609"/>
          </a:xfrm>
          <a:prstGeom prst="rect">
            <a:avLst/>
          </a:prstGeom>
        </p:spPr>
      </p:pic>
      <p:sp>
        <p:nvSpPr>
          <p:cNvPr id="7" name="矩形 6">
            <a:extLst>
              <a:ext uri="{FF2B5EF4-FFF2-40B4-BE49-F238E27FC236}">
                <a16:creationId xmlns:a16="http://schemas.microsoft.com/office/drawing/2014/main" id="{7E7FEA98-A844-4FB0-93AB-E9BB3EE71115}"/>
              </a:ext>
            </a:extLst>
          </p:cNvPr>
          <p:cNvSpPr/>
          <p:nvPr/>
        </p:nvSpPr>
        <p:spPr>
          <a:xfrm>
            <a:off x="6023264" y="2326211"/>
            <a:ext cx="1761114" cy="381271"/>
          </a:xfrm>
          <a:prstGeom prst="rect">
            <a:avLst/>
          </a:prstGeom>
          <a:solidFill>
            <a:srgbClr val="CA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CBCBCB"/>
              </a:solidFill>
            </a:endParaRPr>
          </a:p>
        </p:txBody>
      </p:sp>
      <p:sp>
        <p:nvSpPr>
          <p:cNvPr id="6" name="文本框 5">
            <a:extLst>
              <a:ext uri="{FF2B5EF4-FFF2-40B4-BE49-F238E27FC236}">
                <a16:creationId xmlns:a16="http://schemas.microsoft.com/office/drawing/2014/main" id="{7F9497B1-CED4-4B90-97BE-46B730B6B974}"/>
              </a:ext>
            </a:extLst>
          </p:cNvPr>
          <p:cNvSpPr txBox="1"/>
          <p:nvPr/>
        </p:nvSpPr>
        <p:spPr>
          <a:xfrm>
            <a:off x="6009137" y="2377422"/>
            <a:ext cx="1761113" cy="278847"/>
          </a:xfrm>
          <a:prstGeom prst="rect">
            <a:avLst/>
          </a:prstGeom>
          <a:solidFill>
            <a:srgbClr val="CBCBCB"/>
          </a:solidFill>
          <a:ln>
            <a:solidFill>
              <a:srgbClr val="CBCBCB"/>
            </a:solidFill>
          </a:ln>
        </p:spPr>
        <p:txBody>
          <a:bodyPr wrap="square" rtlCol="0">
            <a:spAutoFit/>
          </a:bodyPr>
          <a:lstStyle/>
          <a:p>
            <a:r>
              <a:rPr lang="en-US" sz="1200" dirty="0"/>
              <a:t>C, C++, OpenCL API C</a:t>
            </a:r>
          </a:p>
        </p:txBody>
      </p:sp>
      <p:pic>
        <p:nvPicPr>
          <p:cNvPr id="8" name="Picture 13">
            <a:extLst>
              <a:ext uri="{FF2B5EF4-FFF2-40B4-BE49-F238E27FC236}">
                <a16:creationId xmlns:a16="http://schemas.microsoft.com/office/drawing/2014/main" id="{B0EE3C21-68EB-4BFE-AA83-76301A62C894}"/>
              </a:ext>
            </a:extLst>
          </p:cNvPr>
          <p:cNvPicPr>
            <a:picLocks noChangeAspect="1"/>
          </p:cNvPicPr>
          <p:nvPr/>
        </p:nvPicPr>
        <p:blipFill>
          <a:blip r:embed="rId4"/>
          <a:stretch>
            <a:fillRect/>
          </a:stretch>
        </p:blipFill>
        <p:spPr>
          <a:xfrm>
            <a:off x="5939872" y="3076487"/>
            <a:ext cx="1899642" cy="69469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Design Exploration with Directives</a:t>
            </a:r>
          </a:p>
        </p:txBody>
      </p:sp>
      <p:sp>
        <p:nvSpPr>
          <p:cNvPr id="8" name="Slide Number Placeholder 7">
            <a:extLst>
              <a:ext uri="{FF2B5EF4-FFF2-40B4-BE49-F238E27FC236}">
                <a16:creationId xmlns:a16="http://schemas.microsoft.com/office/drawing/2014/main" id="{4B2999ED-A039-4515-A078-11966B2B3D29}"/>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6</a:t>
            </a:fld>
            <a:endParaRPr lang="en-US" dirty="0"/>
          </a:p>
        </p:txBody>
      </p:sp>
      <p:sp>
        <p:nvSpPr>
          <p:cNvPr id="4" name="TextBox 3"/>
          <p:cNvSpPr txBox="1"/>
          <p:nvPr/>
        </p:nvSpPr>
        <p:spPr>
          <a:xfrm>
            <a:off x="515926" y="2350721"/>
            <a:ext cx="3225180" cy="861774"/>
          </a:xfrm>
          <a:prstGeom prst="rect">
            <a:avLst/>
          </a:prstGeom>
          <a:ln/>
        </p:spPr>
        <p:style>
          <a:lnRef idx="2">
            <a:schemeClr val="accent3"/>
          </a:lnRef>
          <a:fillRef idx="1">
            <a:schemeClr val="lt1"/>
          </a:fillRef>
          <a:effectRef idx="0">
            <a:schemeClr val="accent3"/>
          </a:effectRef>
          <a:fontRef idx="minor">
            <a:schemeClr val="dk1"/>
          </a:fontRef>
        </p:style>
        <p:txBody>
          <a:bodyPr wrap="square" rtlCol="0">
            <a:spAutoFit/>
          </a:bodyPr>
          <a:lstStyle/>
          <a:p>
            <a:pPr defTabSz="457200"/>
            <a:r>
              <a:rPr lang="en-US" sz="1000" b="1" dirty="0">
                <a:solidFill>
                  <a:prstClr val="black"/>
                </a:solidFill>
              </a:rPr>
              <a:t>The same hardware is used for each iteration of the loop:</a:t>
            </a:r>
          </a:p>
          <a:p>
            <a:pPr defTabSz="457200">
              <a:buFont typeface="Arial" pitchFamily="34" charset="0"/>
              <a:buChar char="•"/>
            </a:pPr>
            <a:r>
              <a:rPr lang="en-US" sz="1000" b="1" dirty="0">
                <a:solidFill>
                  <a:prstClr val="black"/>
                </a:solidFill>
              </a:rPr>
              <a:t>Small area</a:t>
            </a:r>
          </a:p>
          <a:p>
            <a:pPr defTabSz="457200">
              <a:buFont typeface="Arial" pitchFamily="34" charset="0"/>
              <a:buChar char="•"/>
            </a:pPr>
            <a:r>
              <a:rPr lang="en-US" sz="1000" b="1" dirty="0">
                <a:solidFill>
                  <a:prstClr val="black"/>
                </a:solidFill>
              </a:rPr>
              <a:t>Long latency </a:t>
            </a:r>
          </a:p>
          <a:p>
            <a:pPr defTabSz="457200">
              <a:buFont typeface="Arial" pitchFamily="34" charset="0"/>
              <a:buChar char="•"/>
            </a:pPr>
            <a:r>
              <a:rPr lang="en-US" sz="1000" b="1" dirty="0">
                <a:solidFill>
                  <a:prstClr val="black"/>
                </a:solidFill>
              </a:rPr>
              <a:t>Low throughput</a:t>
            </a:r>
          </a:p>
        </p:txBody>
      </p:sp>
      <p:sp>
        <p:nvSpPr>
          <p:cNvPr id="6" name="TextBox 5"/>
          <p:cNvSpPr txBox="1"/>
          <p:nvPr/>
        </p:nvSpPr>
        <p:spPr>
          <a:xfrm>
            <a:off x="8604471" y="2350721"/>
            <a:ext cx="3225180" cy="707886"/>
          </a:xfrm>
          <a:prstGeom prst="rect">
            <a:avLst/>
          </a:prstGeom>
          <a:ln/>
        </p:spPr>
        <p:style>
          <a:lnRef idx="2">
            <a:schemeClr val="accent3"/>
          </a:lnRef>
          <a:fillRef idx="1">
            <a:schemeClr val="lt1"/>
          </a:fillRef>
          <a:effectRef idx="0">
            <a:schemeClr val="accent3"/>
          </a:effectRef>
          <a:fontRef idx="minor">
            <a:schemeClr val="dk1"/>
          </a:fontRef>
        </p:style>
        <p:txBody>
          <a:bodyPr wrap="square" rtlCol="0">
            <a:spAutoFit/>
          </a:bodyPr>
          <a:lstStyle/>
          <a:p>
            <a:pPr defTabSz="457200"/>
            <a:r>
              <a:rPr lang="en-US" sz="1000" b="1" dirty="0">
                <a:solidFill>
                  <a:prstClr val="black"/>
                </a:solidFill>
              </a:rPr>
              <a:t>Different iterations are executed concurrently:</a:t>
            </a:r>
          </a:p>
          <a:p>
            <a:pPr defTabSz="457200">
              <a:buFont typeface="Arial" pitchFamily="34" charset="0"/>
              <a:buChar char="•"/>
            </a:pPr>
            <a:r>
              <a:rPr lang="en-US" sz="1000" b="1" dirty="0">
                <a:solidFill>
                  <a:prstClr val="black"/>
                </a:solidFill>
              </a:rPr>
              <a:t>Higher area</a:t>
            </a:r>
          </a:p>
          <a:p>
            <a:pPr defTabSz="457200">
              <a:buFont typeface="Arial" pitchFamily="34" charset="0"/>
              <a:buChar char="•"/>
            </a:pPr>
            <a:r>
              <a:rPr lang="en-US" sz="1000" b="1" dirty="0">
                <a:solidFill>
                  <a:prstClr val="black"/>
                </a:solidFill>
              </a:rPr>
              <a:t>Short latency </a:t>
            </a:r>
          </a:p>
          <a:p>
            <a:pPr defTabSz="457200">
              <a:buFont typeface="Arial" pitchFamily="34" charset="0"/>
              <a:buChar char="•"/>
            </a:pPr>
            <a:r>
              <a:rPr lang="en-US" sz="1000" b="1" dirty="0">
                <a:solidFill>
                  <a:prstClr val="black"/>
                </a:solidFill>
              </a:rPr>
              <a:t>Best throughput</a:t>
            </a:r>
          </a:p>
        </p:txBody>
      </p:sp>
      <p:sp>
        <p:nvSpPr>
          <p:cNvPr id="5" name="TextBox 4"/>
          <p:cNvSpPr txBox="1"/>
          <p:nvPr/>
        </p:nvSpPr>
        <p:spPr>
          <a:xfrm>
            <a:off x="4560198" y="2350721"/>
            <a:ext cx="3225180" cy="861774"/>
          </a:xfrm>
          <a:prstGeom prst="rect">
            <a:avLst/>
          </a:prstGeom>
          <a:ln/>
        </p:spPr>
        <p:style>
          <a:lnRef idx="2">
            <a:schemeClr val="accent3"/>
          </a:lnRef>
          <a:fillRef idx="1">
            <a:schemeClr val="lt1"/>
          </a:fillRef>
          <a:effectRef idx="0">
            <a:schemeClr val="accent3"/>
          </a:effectRef>
          <a:fontRef idx="minor">
            <a:schemeClr val="dk1"/>
          </a:fontRef>
        </p:style>
        <p:txBody>
          <a:bodyPr wrap="square" rtlCol="0">
            <a:spAutoFit/>
          </a:bodyPr>
          <a:lstStyle/>
          <a:p>
            <a:pPr defTabSz="457200"/>
            <a:r>
              <a:rPr lang="en-US" sz="1000" b="1" dirty="0">
                <a:solidFill>
                  <a:prstClr val="black"/>
                </a:solidFill>
              </a:rPr>
              <a:t>Different hardware is used for each iteration of the loop:</a:t>
            </a:r>
          </a:p>
          <a:p>
            <a:pPr defTabSz="457200">
              <a:buFont typeface="Arial" pitchFamily="34" charset="0"/>
              <a:buChar char="•"/>
            </a:pPr>
            <a:r>
              <a:rPr lang="en-US" sz="1000" b="1" dirty="0">
                <a:solidFill>
                  <a:prstClr val="black"/>
                </a:solidFill>
              </a:rPr>
              <a:t>Higher area</a:t>
            </a:r>
          </a:p>
          <a:p>
            <a:pPr defTabSz="457200">
              <a:buFont typeface="Arial" pitchFamily="34" charset="0"/>
              <a:buChar char="•"/>
            </a:pPr>
            <a:r>
              <a:rPr lang="en-US" sz="1000" b="1" dirty="0">
                <a:solidFill>
                  <a:prstClr val="black"/>
                </a:solidFill>
              </a:rPr>
              <a:t>Short latency </a:t>
            </a:r>
          </a:p>
          <a:p>
            <a:pPr defTabSz="457200">
              <a:buFont typeface="Arial" pitchFamily="34" charset="0"/>
              <a:buChar char="•"/>
            </a:pPr>
            <a:r>
              <a:rPr lang="en-US" sz="1000" b="1" dirty="0">
                <a:solidFill>
                  <a:prstClr val="black"/>
                </a:solidFill>
              </a:rPr>
              <a:t>Better throughput</a:t>
            </a:r>
          </a:p>
        </p:txBody>
      </p:sp>
      <p:pic>
        <p:nvPicPr>
          <p:cNvPr id="7" name="Picture 2"/>
          <p:cNvPicPr>
            <a:picLocks noChangeAspect="1" noChangeArrowheads="1"/>
          </p:cNvPicPr>
          <p:nvPr/>
        </p:nvPicPr>
        <p:blipFill>
          <a:blip r:embed="rId3" cstate="print"/>
          <a:srcRect/>
          <a:stretch>
            <a:fillRect/>
          </a:stretch>
        </p:blipFill>
        <p:spPr bwMode="auto">
          <a:xfrm>
            <a:off x="618313" y="3293227"/>
            <a:ext cx="10972800" cy="2966215"/>
          </a:xfrm>
          <a:prstGeom prst="rect">
            <a:avLst/>
          </a:prstGeom>
          <a:noFill/>
          <a:ln w="9525">
            <a:noFill/>
            <a:miter lim="800000"/>
            <a:headEnd/>
            <a:tailEnd/>
          </a:ln>
        </p:spPr>
      </p:pic>
      <p:sp>
        <p:nvSpPr>
          <p:cNvPr id="11" name="TextBox 10"/>
          <p:cNvSpPr txBox="1"/>
          <p:nvPr/>
        </p:nvSpPr>
        <p:spPr>
          <a:xfrm>
            <a:off x="8194925" y="1083356"/>
            <a:ext cx="3481147" cy="523220"/>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400" b="1" dirty="0">
                <a:solidFill>
                  <a:prstClr val="black"/>
                </a:solidFill>
                <a:ea typeface="ＭＳ Ｐゴシック" pitchFamily="34" charset="-128"/>
                <a:cs typeface="Arial" charset="0"/>
              </a:rPr>
              <a:t>Before we get into details, let’s look under the hood ….</a:t>
            </a:r>
          </a:p>
        </p:txBody>
      </p:sp>
      <p:sp>
        <p:nvSpPr>
          <p:cNvPr id="13" name="Bent Arrow 12"/>
          <p:cNvSpPr/>
          <p:nvPr/>
        </p:nvSpPr>
        <p:spPr>
          <a:xfrm rot="5400000">
            <a:off x="8559698" y="616560"/>
            <a:ext cx="729695" cy="2892425"/>
          </a:xfrm>
          <a:prstGeom prst="bentArrow">
            <a:avLst/>
          </a:prstGeom>
          <a:solidFill>
            <a:srgbClr val="0070C0"/>
          </a:solidFill>
        </p:spPr>
        <p:style>
          <a:lnRef idx="1">
            <a:schemeClr val="accent4"/>
          </a:lnRef>
          <a:fillRef idx="3">
            <a:schemeClr val="accent4"/>
          </a:fillRef>
          <a:effectRef idx="2">
            <a:schemeClr val="accent4"/>
          </a:effectRef>
          <a:fontRef idx="minor">
            <a:schemeClr val="lt1"/>
          </a:fontRef>
        </p:style>
        <p:txBody>
          <a:bodyPr rtlCol="0" anchor="ctr"/>
          <a:lstStyle/>
          <a:p>
            <a:pPr defTabSz="457200"/>
            <a:endParaRPr lang="en-US">
              <a:solidFill>
                <a:prstClr val="black"/>
              </a:solidFill>
            </a:endParaRPr>
          </a:p>
        </p:txBody>
      </p:sp>
      <p:sp>
        <p:nvSpPr>
          <p:cNvPr id="14" name="Bent Arrow 13"/>
          <p:cNvSpPr/>
          <p:nvPr/>
        </p:nvSpPr>
        <p:spPr>
          <a:xfrm rot="16200000" flipH="1">
            <a:off x="2902833" y="616558"/>
            <a:ext cx="729695" cy="2892425"/>
          </a:xfrm>
          <a:prstGeom prst="bentArrow">
            <a:avLst/>
          </a:prstGeom>
          <a:solidFill>
            <a:srgbClr val="0070C0"/>
          </a:solidFill>
        </p:spPr>
        <p:style>
          <a:lnRef idx="1">
            <a:schemeClr val="accent4"/>
          </a:lnRef>
          <a:fillRef idx="3">
            <a:schemeClr val="accent4"/>
          </a:fillRef>
          <a:effectRef idx="2">
            <a:schemeClr val="accent4"/>
          </a:effectRef>
          <a:fontRef idx="minor">
            <a:schemeClr val="lt1"/>
          </a:fontRef>
        </p:style>
        <p:txBody>
          <a:bodyPr rtlCol="0" anchor="ctr"/>
          <a:lstStyle/>
          <a:p>
            <a:pPr defTabSz="457200"/>
            <a:endParaRPr lang="en-US">
              <a:solidFill>
                <a:prstClr val="black"/>
              </a:solidFill>
            </a:endParaRPr>
          </a:p>
        </p:txBody>
      </p:sp>
      <p:sp>
        <p:nvSpPr>
          <p:cNvPr id="15" name="TextBox 14"/>
          <p:cNvSpPr txBox="1"/>
          <p:nvPr/>
        </p:nvSpPr>
        <p:spPr>
          <a:xfrm>
            <a:off x="618313" y="1083356"/>
            <a:ext cx="3481147" cy="523220"/>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400" b="1" dirty="0">
                <a:solidFill>
                  <a:prstClr val="black"/>
                </a:solidFill>
                <a:ea typeface="ＭＳ Ｐゴシック" pitchFamily="34" charset="-128"/>
                <a:cs typeface="Arial" charset="0"/>
              </a:rPr>
              <a:t>One body of code:</a:t>
            </a:r>
          </a:p>
          <a:p>
            <a:pPr defTabSz="457200"/>
            <a:r>
              <a:rPr lang="en-US" sz="1400" b="1" dirty="0">
                <a:solidFill>
                  <a:prstClr val="black"/>
                </a:solidFill>
                <a:ea typeface="ＭＳ Ｐゴシック" pitchFamily="34" charset="-128"/>
                <a:cs typeface="Arial" charset="0"/>
              </a:rPr>
              <a:t> Many hardware outcomes</a:t>
            </a:r>
          </a:p>
        </p:txBody>
      </p:sp>
      <p:sp>
        <p:nvSpPr>
          <p:cNvPr id="16" name="TextBox 15">
            <a:extLst>
              <a:ext uri="{FF2B5EF4-FFF2-40B4-BE49-F238E27FC236}">
                <a16:creationId xmlns:a16="http://schemas.microsoft.com/office/drawing/2014/main" id="{EA1B7E11-B705-43A2-8DD9-5D6A5E49A893}"/>
              </a:ext>
            </a:extLst>
          </p:cNvPr>
          <p:cNvSpPr txBox="1"/>
          <p:nvPr/>
        </p:nvSpPr>
        <p:spPr>
          <a:xfrm>
            <a:off x="4816166" y="776116"/>
            <a:ext cx="2559668" cy="144655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800" kern="0" dirty="0">
                <a:solidFill>
                  <a:prstClr val="black"/>
                </a:solidFill>
                <a:latin typeface="Arial"/>
              </a:rPr>
              <a:t>  …</a:t>
            </a:r>
          </a:p>
          <a:p>
            <a:pPr defTabSz="457200" fontAlgn="base">
              <a:spcBef>
                <a:spcPct val="0"/>
              </a:spcBef>
              <a:spcAft>
                <a:spcPct val="0"/>
              </a:spcAft>
              <a:defRPr/>
            </a:pPr>
            <a:r>
              <a:rPr lang="en-US" sz="800" kern="0" dirty="0">
                <a:solidFill>
                  <a:prstClr val="black"/>
                </a:solidFill>
                <a:latin typeface="Arial"/>
              </a:rPr>
              <a:t>  loop: for (</a:t>
            </a:r>
            <a:r>
              <a:rPr lang="en-US" sz="800" kern="0" dirty="0" err="1">
                <a:solidFill>
                  <a:prstClr val="black"/>
                </a:solidFill>
                <a:latin typeface="Arial"/>
              </a:rPr>
              <a:t>i</a:t>
            </a:r>
            <a:r>
              <a:rPr lang="en-US" sz="800" kern="0" dirty="0">
                <a:solidFill>
                  <a:prstClr val="black"/>
                </a:solidFill>
                <a:latin typeface="Arial"/>
              </a:rPr>
              <a:t>=3;i&gt;=0;i--) {</a:t>
            </a:r>
          </a:p>
          <a:p>
            <a:pPr defTabSz="457200" fontAlgn="base">
              <a:spcBef>
                <a:spcPct val="0"/>
              </a:spcBef>
              <a:spcAft>
                <a:spcPct val="0"/>
              </a:spcAft>
              <a:defRPr/>
            </a:pPr>
            <a:r>
              <a:rPr lang="en-US" sz="800" kern="0" dirty="0">
                <a:solidFill>
                  <a:prstClr val="black"/>
                </a:solidFill>
                <a:latin typeface="Arial"/>
              </a:rPr>
              <a:t>     if (</a:t>
            </a:r>
            <a:r>
              <a:rPr lang="en-US" sz="800" kern="0" dirty="0" err="1">
                <a:solidFill>
                  <a:prstClr val="black"/>
                </a:solidFill>
                <a:latin typeface="Arial"/>
              </a:rPr>
              <a:t>i</a:t>
            </a:r>
            <a:r>
              <a:rPr lang="en-US" sz="800" kern="0" dirty="0">
                <a:solidFill>
                  <a:prstClr val="black"/>
                </a:solidFill>
                <a:latin typeface="Arial"/>
              </a:rPr>
              <a:t>==0) {</a:t>
            </a:r>
          </a:p>
          <a:p>
            <a:pPr defTabSz="457200" fontAlgn="base">
              <a:spcBef>
                <a:spcPct val="0"/>
              </a:spcBef>
              <a:spcAft>
                <a:spcPct val="0"/>
              </a:spcAft>
              <a:defRPr/>
            </a:pPr>
            <a:r>
              <a:rPr lang="en-US" sz="800" kern="0" dirty="0">
                <a:solidFill>
                  <a:prstClr val="black"/>
                </a:solidFill>
                <a:latin typeface="Arial"/>
              </a:rPr>
              <a:t>       acc+=x*c[0];</a:t>
            </a:r>
          </a:p>
          <a:p>
            <a:pPr defTabSz="457200" fontAlgn="base">
              <a:spcBef>
                <a:spcPct val="0"/>
              </a:spcBef>
              <a:spcAft>
                <a:spcPct val="0"/>
              </a:spcAft>
              <a:defRPr/>
            </a:pPr>
            <a:r>
              <a:rPr lang="en-US" sz="800" kern="0" dirty="0">
                <a:solidFill>
                  <a:prstClr val="black"/>
                </a:solidFill>
                <a:latin typeface="Arial"/>
              </a:rPr>
              <a:t>       </a:t>
            </a:r>
            <a:r>
              <a:rPr lang="en-US" sz="800" kern="0" dirty="0" err="1">
                <a:solidFill>
                  <a:prstClr val="black"/>
                </a:solidFill>
                <a:latin typeface="Arial"/>
              </a:rPr>
              <a:t>shift_reg</a:t>
            </a:r>
            <a:r>
              <a:rPr lang="en-US" sz="800" kern="0" dirty="0">
                <a:solidFill>
                  <a:prstClr val="black"/>
                </a:solidFill>
                <a:latin typeface="Arial"/>
              </a:rPr>
              <a:t>[0]=x;</a:t>
            </a:r>
          </a:p>
          <a:p>
            <a:pPr defTabSz="457200" fontAlgn="base">
              <a:spcBef>
                <a:spcPct val="0"/>
              </a:spcBef>
              <a:spcAft>
                <a:spcPct val="0"/>
              </a:spcAft>
              <a:defRPr/>
            </a:pPr>
            <a:r>
              <a:rPr lang="en-US" sz="800" kern="0" dirty="0">
                <a:solidFill>
                  <a:prstClr val="black"/>
                </a:solidFill>
                <a:latin typeface="Arial"/>
              </a:rPr>
              <a:t>     } else {</a:t>
            </a:r>
          </a:p>
          <a:p>
            <a:pPr defTabSz="457200" fontAlgn="base">
              <a:spcBef>
                <a:spcPct val="0"/>
              </a:spcBef>
              <a:spcAft>
                <a:spcPct val="0"/>
              </a:spcAft>
              <a:defRPr/>
            </a:pPr>
            <a:r>
              <a:rPr lang="en-US" sz="800" kern="0" dirty="0">
                <a:solidFill>
                  <a:prstClr val="black"/>
                </a:solidFill>
                <a:latin typeface="Arial"/>
              </a:rPr>
              <a:t>        </a:t>
            </a:r>
            <a:r>
              <a:rPr lang="en-US" sz="800" kern="0" dirty="0" err="1">
                <a:solidFill>
                  <a:prstClr val="black"/>
                </a:solidFill>
                <a:latin typeface="Arial"/>
              </a:rPr>
              <a:t>shift_reg</a:t>
            </a:r>
            <a:r>
              <a:rPr lang="en-US" sz="800" kern="0" dirty="0">
                <a:solidFill>
                  <a:prstClr val="black"/>
                </a:solidFill>
                <a:latin typeface="Arial"/>
              </a:rPr>
              <a:t>[</a:t>
            </a:r>
            <a:r>
              <a:rPr lang="en-US" sz="800" kern="0" dirty="0" err="1">
                <a:solidFill>
                  <a:prstClr val="black"/>
                </a:solidFill>
                <a:latin typeface="Arial"/>
              </a:rPr>
              <a:t>i</a:t>
            </a:r>
            <a:r>
              <a:rPr lang="en-US" sz="800" kern="0" dirty="0">
                <a:solidFill>
                  <a:prstClr val="black"/>
                </a:solidFill>
                <a:latin typeface="Arial"/>
              </a:rPr>
              <a:t>]=</a:t>
            </a:r>
            <a:r>
              <a:rPr lang="en-US" sz="800" kern="0" dirty="0" err="1">
                <a:solidFill>
                  <a:prstClr val="black"/>
                </a:solidFill>
                <a:latin typeface="Arial"/>
              </a:rPr>
              <a:t>shift_reg</a:t>
            </a:r>
            <a:r>
              <a:rPr lang="en-US" sz="800" kern="0" dirty="0">
                <a:solidFill>
                  <a:prstClr val="black"/>
                </a:solidFill>
                <a:latin typeface="Arial"/>
              </a:rPr>
              <a:t>[i-1];   </a:t>
            </a:r>
          </a:p>
          <a:p>
            <a:pPr defTabSz="457200" fontAlgn="base">
              <a:spcBef>
                <a:spcPct val="0"/>
              </a:spcBef>
              <a:spcAft>
                <a:spcPct val="0"/>
              </a:spcAft>
              <a:defRPr/>
            </a:pPr>
            <a:r>
              <a:rPr lang="en-US" sz="800" kern="0" dirty="0">
                <a:solidFill>
                  <a:prstClr val="black"/>
                </a:solidFill>
                <a:latin typeface="Arial"/>
              </a:rPr>
              <a:t>        acc+=</a:t>
            </a:r>
            <a:r>
              <a:rPr lang="en-US" sz="800" kern="0" dirty="0" err="1">
                <a:solidFill>
                  <a:prstClr val="black"/>
                </a:solidFill>
                <a:latin typeface="Arial"/>
              </a:rPr>
              <a:t>shift_reg</a:t>
            </a:r>
            <a:r>
              <a:rPr lang="en-US" sz="800" kern="0" dirty="0">
                <a:solidFill>
                  <a:prstClr val="black"/>
                </a:solidFill>
                <a:latin typeface="Arial"/>
              </a:rPr>
              <a:t>[</a:t>
            </a:r>
            <a:r>
              <a:rPr lang="en-US" sz="800" kern="0" dirty="0" err="1">
                <a:solidFill>
                  <a:prstClr val="black"/>
                </a:solidFill>
                <a:latin typeface="Arial"/>
              </a:rPr>
              <a:t>i</a:t>
            </a:r>
            <a:r>
              <a:rPr lang="en-US" sz="800" kern="0" dirty="0">
                <a:solidFill>
                  <a:prstClr val="black"/>
                </a:solidFill>
                <a:latin typeface="Arial"/>
              </a:rPr>
              <a:t>]*c[</a:t>
            </a:r>
            <a:r>
              <a:rPr lang="en-US" sz="800" kern="0" dirty="0" err="1">
                <a:solidFill>
                  <a:prstClr val="black"/>
                </a:solidFill>
                <a:latin typeface="Arial"/>
              </a:rPr>
              <a:t>i</a:t>
            </a:r>
            <a:r>
              <a:rPr lang="en-US" sz="800" kern="0" dirty="0">
                <a:solidFill>
                  <a:prstClr val="black"/>
                </a:solidFill>
                <a:latin typeface="Arial"/>
              </a:rPr>
              <a:t>];</a:t>
            </a:r>
          </a:p>
          <a:p>
            <a:pPr defTabSz="457200" fontAlgn="base">
              <a:spcBef>
                <a:spcPct val="0"/>
              </a:spcBef>
              <a:spcAft>
                <a:spcPct val="0"/>
              </a:spcAft>
              <a:defRPr/>
            </a:pPr>
            <a:r>
              <a:rPr lang="en-US" sz="800" kern="0" dirty="0">
                <a:solidFill>
                  <a:prstClr val="black"/>
                </a:solidFill>
                <a:latin typeface="Arial"/>
              </a:rPr>
              <a:t>     }</a:t>
            </a:r>
          </a:p>
          <a:p>
            <a:pPr defTabSz="457200" fontAlgn="base">
              <a:spcBef>
                <a:spcPct val="0"/>
              </a:spcBef>
              <a:spcAft>
                <a:spcPct val="0"/>
              </a:spcAft>
              <a:defRPr/>
            </a:pPr>
            <a:r>
              <a:rPr lang="en-US" sz="800" kern="0" dirty="0">
                <a:solidFill>
                  <a:prstClr val="black"/>
                </a:solidFill>
                <a:latin typeface="Arial"/>
              </a:rPr>
              <a:t>  }</a:t>
            </a:r>
          </a:p>
          <a:p>
            <a:pPr defTabSz="457200" fontAlgn="base">
              <a:spcBef>
                <a:spcPct val="0"/>
              </a:spcBef>
              <a:spcAft>
                <a:spcPct val="0"/>
              </a:spcAft>
              <a:defRPr/>
            </a:pPr>
            <a:r>
              <a:rPr lang="en-US" sz="800" kern="0" dirty="0">
                <a:solidFill>
                  <a:prstClr val="black"/>
                </a:solidFill>
                <a:latin typeface="Arial"/>
              </a:rPr>
              <a:t>….</a:t>
            </a:r>
          </a:p>
        </p:txBody>
      </p:sp>
      <p:sp>
        <p:nvSpPr>
          <p:cNvPr id="12" name="Down Arrow 11"/>
          <p:cNvSpPr/>
          <p:nvPr/>
        </p:nvSpPr>
        <p:spPr>
          <a:xfrm>
            <a:off x="5788838" y="2005250"/>
            <a:ext cx="460740" cy="422455"/>
          </a:xfrm>
          <a:prstGeom prst="downArrow">
            <a:avLst/>
          </a:prstGeom>
          <a:solidFill>
            <a:srgbClr val="0070C0"/>
          </a:solidFill>
        </p:spPr>
        <p:style>
          <a:lnRef idx="1">
            <a:schemeClr val="accent4"/>
          </a:lnRef>
          <a:fillRef idx="3">
            <a:schemeClr val="accent4"/>
          </a:fillRef>
          <a:effectRef idx="2">
            <a:schemeClr val="accent4"/>
          </a:effectRef>
          <a:fontRef idx="minor">
            <a:schemeClr val="lt1"/>
          </a:fontRef>
        </p:style>
        <p:txBody>
          <a:bodyPr rtlCol="0" anchor="ctr"/>
          <a:lstStyle/>
          <a:p>
            <a:pPr defTabSz="457200"/>
            <a:endParaRPr lang="en-US">
              <a:solidFill>
                <a:prstClr val="white"/>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 to High-Level Synthesis</a:t>
            </a:r>
          </a:p>
        </p:txBody>
      </p:sp>
      <p:sp>
        <p:nvSpPr>
          <p:cNvPr id="3" name="Content Placeholder 2"/>
          <p:cNvSpPr>
            <a:spLocks noGrp="1"/>
          </p:cNvSpPr>
          <p:nvPr>
            <p:ph idx="1"/>
          </p:nvPr>
        </p:nvSpPr>
        <p:spPr/>
        <p:txBody>
          <a:bodyPr>
            <a:normAutofit/>
          </a:bodyPr>
          <a:lstStyle/>
          <a:p>
            <a:r>
              <a:rPr lang="en-US" dirty="0"/>
              <a:t>How is hardware extracted from C code?</a:t>
            </a:r>
          </a:p>
          <a:p>
            <a:pPr lvl="1"/>
            <a:r>
              <a:rPr lang="en-US" dirty="0"/>
              <a:t>Control and datapath can be extracted from C code at the top level</a:t>
            </a:r>
          </a:p>
          <a:p>
            <a:pPr lvl="1"/>
            <a:r>
              <a:rPr lang="en-US" dirty="0"/>
              <a:t>The same principles used in the example can be applied to sub-functions</a:t>
            </a:r>
          </a:p>
          <a:p>
            <a:pPr lvl="2"/>
            <a:r>
              <a:rPr lang="en-US" dirty="0"/>
              <a:t>At some point in the top-level control flow, control is passed to a sub-function</a:t>
            </a:r>
          </a:p>
          <a:p>
            <a:pPr lvl="2"/>
            <a:r>
              <a:rPr lang="en-US" dirty="0"/>
              <a:t>Sub-function may be implemented to execute concurrently with the top-level and or other sub-functions</a:t>
            </a:r>
          </a:p>
          <a:p>
            <a:r>
              <a:rPr lang="en-US" dirty="0"/>
              <a:t>How is this control and dataflow turned into a hardware design?</a:t>
            </a:r>
          </a:p>
          <a:p>
            <a:pPr lvl="1"/>
            <a:r>
              <a:rPr lang="en-US" dirty="0"/>
              <a:t>Vitis HLS maps this to hardware through scheduling and binding processes</a:t>
            </a:r>
          </a:p>
          <a:p>
            <a:r>
              <a:rPr lang="en-US" dirty="0"/>
              <a:t>How is my design created?</a:t>
            </a:r>
          </a:p>
          <a:p>
            <a:pPr lvl="1"/>
            <a:r>
              <a:rPr lang="en-US" dirty="0"/>
              <a:t>How functions, loops, arrays and IO ports are mapped?</a:t>
            </a:r>
          </a:p>
        </p:txBody>
      </p:sp>
      <p:sp>
        <p:nvSpPr>
          <p:cNvPr id="5" name="Slide Number Placeholder 4">
            <a:extLst>
              <a:ext uri="{FF2B5EF4-FFF2-40B4-BE49-F238E27FC236}">
                <a16:creationId xmlns:a16="http://schemas.microsoft.com/office/drawing/2014/main" id="{C999C5F0-049E-4DC3-B42C-0040F647BB5A}"/>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7</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HLS: Control Extraction</a:t>
            </a:r>
          </a:p>
        </p:txBody>
      </p:sp>
      <p:sp>
        <p:nvSpPr>
          <p:cNvPr id="4" name="Slide Number Placeholder 3">
            <a:extLst>
              <a:ext uri="{FF2B5EF4-FFF2-40B4-BE49-F238E27FC236}">
                <a16:creationId xmlns:a16="http://schemas.microsoft.com/office/drawing/2014/main" id="{828DE62B-0FF3-44A4-8EA6-8DA667DACB8A}"/>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8</a:t>
            </a:fld>
            <a:endParaRPr lang="en-US" dirty="0"/>
          </a:p>
        </p:txBody>
      </p:sp>
      <p:sp>
        <p:nvSpPr>
          <p:cNvPr id="36" name="TextBox 35">
            <a:extLst>
              <a:ext uri="{FF2B5EF4-FFF2-40B4-BE49-F238E27FC236}">
                <a16:creationId xmlns:a16="http://schemas.microsoft.com/office/drawing/2014/main" id="{CF25A9D9-DFEC-4588-88C1-7E62B2EB3C07}"/>
              </a:ext>
            </a:extLst>
          </p:cNvPr>
          <p:cNvSpPr txBox="1"/>
          <p:nvPr/>
        </p:nvSpPr>
        <p:spPr>
          <a:xfrm>
            <a:off x="674740" y="1690062"/>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void fir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*y,</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coef_t</a:t>
            </a:r>
            <a:r>
              <a:rPr lang="en-US" sz="1000" kern="0" dirty="0">
                <a:solidFill>
                  <a:srgbClr val="000000"/>
                </a:solidFill>
                <a:latin typeface="Arial"/>
              </a:rPr>
              <a:t> c[4],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defRPr/>
            </a:pPr>
            <a:r>
              <a:rPr lang="en-US" sz="1000" kern="0" dirty="0">
                <a:solidFill>
                  <a:srgbClr val="000000"/>
                </a:solidFill>
                <a:latin typeface="Arial"/>
              </a:rPr>
              <a:t>  )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  static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 acc;</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int</a:t>
            </a:r>
            <a:r>
              <a:rPr lang="en-US" sz="1000" kern="0" dirty="0">
                <a:solidFill>
                  <a:srgbClr val="000000"/>
                </a:solidFill>
                <a:latin typeface="Arial"/>
              </a:rPr>
              <a:t>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acc=0;</a:t>
            </a:r>
          </a:p>
          <a:p>
            <a:pPr defTabSz="914400" fontAlgn="base">
              <a:spcBef>
                <a:spcPct val="0"/>
              </a:spcBef>
              <a:spcAft>
                <a:spcPct val="0"/>
              </a:spcAft>
              <a:defRPr/>
            </a:pPr>
            <a:r>
              <a:rPr lang="en-US" sz="1000" kern="0" dirty="0">
                <a:solidFill>
                  <a:srgbClr val="000000"/>
                </a:solidFill>
                <a:latin typeface="Arial"/>
              </a:rPr>
              <a:t>  loop: for (</a:t>
            </a:r>
            <a:r>
              <a:rPr lang="en-US" sz="1000" kern="0" dirty="0" err="1">
                <a:solidFill>
                  <a:srgbClr val="000000"/>
                </a:solidFill>
                <a:latin typeface="Arial"/>
              </a:rPr>
              <a:t>i</a:t>
            </a:r>
            <a:r>
              <a:rPr lang="en-US" sz="1000" kern="0" dirty="0">
                <a:solidFill>
                  <a:srgbClr val="000000"/>
                </a:solidFill>
                <a:latin typeface="Arial"/>
              </a:rPr>
              <a:t>=3;i&gt;=0;i--) {</a:t>
            </a:r>
          </a:p>
          <a:p>
            <a:pPr defTabSz="914400" fontAlgn="base">
              <a:spcBef>
                <a:spcPct val="0"/>
              </a:spcBef>
              <a:spcAft>
                <a:spcPct val="0"/>
              </a:spcAft>
              <a:defRPr/>
            </a:pPr>
            <a:r>
              <a:rPr lang="en-US" sz="1000" kern="0" dirty="0">
                <a:solidFill>
                  <a:srgbClr val="000000"/>
                </a:solidFill>
                <a:latin typeface="Arial"/>
              </a:rPr>
              <a:t>     if (</a:t>
            </a:r>
            <a:r>
              <a:rPr lang="en-US" sz="1000" kern="0" dirty="0" err="1">
                <a:solidFill>
                  <a:srgbClr val="000000"/>
                </a:solidFill>
                <a:latin typeface="Arial"/>
              </a:rPr>
              <a:t>i</a:t>
            </a:r>
            <a:r>
              <a:rPr lang="en-US" sz="1000" kern="0" dirty="0">
                <a:solidFill>
                  <a:srgbClr val="000000"/>
                </a:solidFill>
                <a:latin typeface="Arial"/>
              </a:rPr>
              <a:t>==0) {</a:t>
            </a:r>
          </a:p>
          <a:p>
            <a:pPr defTabSz="914400" fontAlgn="base">
              <a:spcBef>
                <a:spcPct val="0"/>
              </a:spcBef>
              <a:spcAft>
                <a:spcPct val="0"/>
              </a:spcAft>
              <a:defRPr/>
            </a:pPr>
            <a:r>
              <a:rPr lang="en-US" sz="1000" kern="0" dirty="0">
                <a:solidFill>
                  <a:srgbClr val="000000"/>
                </a:solidFill>
                <a:latin typeface="Arial"/>
              </a:rPr>
              <a:t>       acc+=x*c[0];</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[0]=x;</a:t>
            </a:r>
          </a:p>
          <a:p>
            <a:pPr defTabSz="914400" fontAlgn="base">
              <a:spcBef>
                <a:spcPct val="0"/>
              </a:spcBef>
              <a:spcAft>
                <a:spcPct val="0"/>
              </a:spcAft>
              <a:defRPr/>
            </a:pPr>
            <a:r>
              <a:rPr lang="en-US" sz="1000" kern="0" dirty="0">
                <a:solidFill>
                  <a:srgbClr val="000000"/>
                </a:solidFill>
                <a:latin typeface="Arial"/>
              </a:rPr>
              <a:t>     } else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a:t>
            </a:r>
            <a:r>
              <a:rPr lang="en-US" sz="1000" kern="0" dirty="0" err="1">
                <a:solidFill>
                  <a:srgbClr val="000000"/>
                </a:solidFill>
                <a:latin typeface="Arial"/>
              </a:rPr>
              <a:t>shift_reg</a:t>
            </a:r>
            <a:r>
              <a:rPr lang="en-US" sz="1000" kern="0" dirty="0">
                <a:solidFill>
                  <a:srgbClr val="000000"/>
                </a:solidFill>
                <a:latin typeface="Arial"/>
              </a:rPr>
              <a:t>[i-1];	        </a:t>
            </a:r>
          </a:p>
          <a:p>
            <a:pPr defTabSz="914400" fontAlgn="base">
              <a:spcBef>
                <a:spcPct val="0"/>
              </a:spcBef>
              <a:spcAft>
                <a:spcPct val="0"/>
              </a:spcAft>
              <a:defRPr/>
            </a:pPr>
            <a:r>
              <a:rPr lang="en-US" sz="1000" kern="0" dirty="0">
                <a:solidFill>
                  <a:srgbClr val="000000"/>
                </a:solidFill>
                <a:latin typeface="Arial"/>
              </a:rPr>
              <a:t>        acc+=</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]*c[</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*y=acc;</a:t>
            </a:r>
          </a:p>
          <a:p>
            <a:pPr defTabSz="914400" fontAlgn="base">
              <a:spcBef>
                <a:spcPct val="0"/>
              </a:spcBef>
              <a:spcAft>
                <a:spcPct val="0"/>
              </a:spcAft>
              <a:defRPr/>
            </a:pPr>
            <a:r>
              <a:rPr lang="en-US" sz="1000" kern="0" dirty="0">
                <a:solidFill>
                  <a:srgbClr val="000000"/>
                </a:solidFill>
                <a:latin typeface="Arial"/>
              </a:rPr>
              <a:t>}</a:t>
            </a:r>
          </a:p>
        </p:txBody>
      </p:sp>
      <p:sp>
        <p:nvSpPr>
          <p:cNvPr id="37" name="TextBox 36">
            <a:extLst>
              <a:ext uri="{FF2B5EF4-FFF2-40B4-BE49-F238E27FC236}">
                <a16:creationId xmlns:a16="http://schemas.microsoft.com/office/drawing/2014/main" id="{AC5DE847-C561-4BDC-BD16-83EEC881DA8B}"/>
              </a:ext>
            </a:extLst>
          </p:cNvPr>
          <p:cNvSpPr txBox="1"/>
          <p:nvPr/>
        </p:nvSpPr>
        <p:spPr>
          <a:xfrm>
            <a:off x="1237868" y="1151854"/>
            <a:ext cx="2182081"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Code </a:t>
            </a:r>
          </a:p>
        </p:txBody>
      </p:sp>
      <p:sp>
        <p:nvSpPr>
          <p:cNvPr id="38" name="TextBox 37">
            <a:extLst>
              <a:ext uri="{FF2B5EF4-FFF2-40B4-BE49-F238E27FC236}">
                <a16:creationId xmlns:a16="http://schemas.microsoft.com/office/drawing/2014/main" id="{3B3292AC-9944-410E-AE6C-D0CC689F527F}"/>
              </a:ext>
            </a:extLst>
          </p:cNvPr>
          <p:cNvSpPr txBox="1"/>
          <p:nvPr/>
        </p:nvSpPr>
        <p:spPr>
          <a:xfrm>
            <a:off x="1237867" y="5338537"/>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From any C code example ..</a:t>
            </a:r>
          </a:p>
        </p:txBody>
      </p:sp>
      <p:grpSp>
        <p:nvGrpSpPr>
          <p:cNvPr id="39" name="Group 54">
            <a:extLst>
              <a:ext uri="{FF2B5EF4-FFF2-40B4-BE49-F238E27FC236}">
                <a16:creationId xmlns:a16="http://schemas.microsoft.com/office/drawing/2014/main" id="{E701D365-2670-43F5-811E-09EC325679EB}"/>
              </a:ext>
            </a:extLst>
          </p:cNvPr>
          <p:cNvGrpSpPr/>
          <p:nvPr/>
        </p:nvGrpSpPr>
        <p:grpSpPr>
          <a:xfrm>
            <a:off x="1135480" y="2304540"/>
            <a:ext cx="6859906" cy="3495660"/>
            <a:chOff x="539475" y="2776115"/>
            <a:chExt cx="5146270" cy="3495660"/>
          </a:xfrm>
        </p:grpSpPr>
        <p:sp>
          <p:nvSpPr>
            <p:cNvPr id="40" name="TextBox 39">
              <a:extLst>
                <a:ext uri="{FF2B5EF4-FFF2-40B4-BE49-F238E27FC236}">
                  <a16:creationId xmlns:a16="http://schemas.microsoft.com/office/drawing/2014/main" id="{5A29C16D-9744-44EE-956E-CC6B2594087D}"/>
                </a:ext>
              </a:extLst>
            </p:cNvPr>
            <p:cNvSpPr txBox="1"/>
            <p:nvPr/>
          </p:nvSpPr>
          <p:spPr>
            <a:xfrm>
              <a:off x="3151015" y="5810110"/>
              <a:ext cx="2534730"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The loops in the C code correlated to states of behavior</a:t>
              </a:r>
            </a:p>
          </p:txBody>
        </p:sp>
        <p:grpSp>
          <p:nvGrpSpPr>
            <p:cNvPr id="41" name="Group 52">
              <a:extLst>
                <a:ext uri="{FF2B5EF4-FFF2-40B4-BE49-F238E27FC236}">
                  <a16:creationId xmlns:a16="http://schemas.microsoft.com/office/drawing/2014/main" id="{8F6DECFC-559D-4454-BA3D-09CE426C84CA}"/>
                </a:ext>
              </a:extLst>
            </p:cNvPr>
            <p:cNvGrpSpPr/>
            <p:nvPr/>
          </p:nvGrpSpPr>
          <p:grpSpPr>
            <a:xfrm>
              <a:off x="539475" y="2776115"/>
              <a:ext cx="4382191" cy="2895764"/>
              <a:chOff x="539475" y="2776115"/>
              <a:chExt cx="4382191" cy="2895764"/>
            </a:xfrm>
          </p:grpSpPr>
          <p:cxnSp>
            <p:nvCxnSpPr>
              <p:cNvPr id="42" name="Straight Connector 41">
                <a:extLst>
                  <a:ext uri="{FF2B5EF4-FFF2-40B4-BE49-F238E27FC236}">
                    <a16:creationId xmlns:a16="http://schemas.microsoft.com/office/drawing/2014/main" id="{C20D7AE6-4BD7-49A4-845F-1513AC023528}"/>
                  </a:ext>
                </a:extLst>
              </p:cNvPr>
              <p:cNvCxnSpPr/>
              <p:nvPr/>
            </p:nvCxnSpPr>
            <p:spPr>
              <a:xfrm>
                <a:off x="539475" y="5502870"/>
                <a:ext cx="330283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43" name="Straight Connector 42">
                <a:extLst>
                  <a:ext uri="{FF2B5EF4-FFF2-40B4-BE49-F238E27FC236}">
                    <a16:creationId xmlns:a16="http://schemas.microsoft.com/office/drawing/2014/main" id="{19174BE1-527D-49AC-9A41-897BB8778CC5}"/>
                  </a:ext>
                </a:extLst>
              </p:cNvPr>
              <p:cNvCxnSpPr/>
              <p:nvPr/>
            </p:nvCxnSpPr>
            <p:spPr>
              <a:xfrm>
                <a:off x="654690" y="5195630"/>
                <a:ext cx="3187615"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44" name="Straight Connector 43">
                <a:extLst>
                  <a:ext uri="{FF2B5EF4-FFF2-40B4-BE49-F238E27FC236}">
                    <a16:creationId xmlns:a16="http://schemas.microsoft.com/office/drawing/2014/main" id="{4250ACA3-818C-4F18-BDF1-86AA0B272417}"/>
                  </a:ext>
                </a:extLst>
              </p:cNvPr>
              <p:cNvCxnSpPr/>
              <p:nvPr/>
            </p:nvCxnSpPr>
            <p:spPr>
              <a:xfrm>
                <a:off x="1730030" y="4005075"/>
                <a:ext cx="2112275" cy="1"/>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45" name="Straight Connector 44">
                <a:extLst>
                  <a:ext uri="{FF2B5EF4-FFF2-40B4-BE49-F238E27FC236}">
                    <a16:creationId xmlns:a16="http://schemas.microsoft.com/office/drawing/2014/main" id="{DF979A20-CD1E-4BB2-A85E-5F463F8E21DA}"/>
                  </a:ext>
                </a:extLst>
              </p:cNvPr>
              <p:cNvCxnSpPr/>
              <p:nvPr/>
            </p:nvCxnSpPr>
            <p:spPr>
              <a:xfrm>
                <a:off x="885120" y="2891330"/>
                <a:ext cx="2957185"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sp>
            <p:nvSpPr>
              <p:cNvPr id="46" name="TextBox 45">
                <a:extLst>
                  <a:ext uri="{FF2B5EF4-FFF2-40B4-BE49-F238E27FC236}">
                    <a16:creationId xmlns:a16="http://schemas.microsoft.com/office/drawing/2014/main" id="{5637CCC7-86CC-4800-A773-2852B23D9D68}"/>
                  </a:ext>
                </a:extLst>
              </p:cNvPr>
              <p:cNvSpPr txBox="1"/>
              <p:nvPr/>
            </p:nvSpPr>
            <p:spPr>
              <a:xfrm>
                <a:off x="3989434" y="2776115"/>
                <a:ext cx="922608"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Function Start</a:t>
                </a:r>
              </a:p>
            </p:txBody>
          </p:sp>
          <p:sp>
            <p:nvSpPr>
              <p:cNvPr id="47" name="TextBox 46">
                <a:extLst>
                  <a:ext uri="{FF2B5EF4-FFF2-40B4-BE49-F238E27FC236}">
                    <a16:creationId xmlns:a16="http://schemas.microsoft.com/office/drawing/2014/main" id="{E6BAB51D-0838-4A57-AC79-0F912821D1B0}"/>
                  </a:ext>
                </a:extLst>
              </p:cNvPr>
              <p:cNvSpPr txBox="1"/>
              <p:nvPr/>
            </p:nvSpPr>
            <p:spPr>
              <a:xfrm>
                <a:off x="3979817" y="3858680"/>
                <a:ext cx="941849"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For-Loop Start</a:t>
                </a:r>
              </a:p>
            </p:txBody>
          </p:sp>
          <p:sp>
            <p:nvSpPr>
              <p:cNvPr id="48" name="TextBox 47">
                <a:extLst>
                  <a:ext uri="{FF2B5EF4-FFF2-40B4-BE49-F238E27FC236}">
                    <a16:creationId xmlns:a16="http://schemas.microsoft.com/office/drawing/2014/main" id="{C03A7C7A-0A1E-4EF0-AD12-9BC5EAC98CFD}"/>
                  </a:ext>
                </a:extLst>
              </p:cNvPr>
              <p:cNvSpPr txBox="1"/>
              <p:nvPr/>
            </p:nvSpPr>
            <p:spPr>
              <a:xfrm>
                <a:off x="4001462" y="5042010"/>
                <a:ext cx="898557"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For-Loop End</a:t>
                </a:r>
              </a:p>
            </p:txBody>
          </p:sp>
          <p:sp>
            <p:nvSpPr>
              <p:cNvPr id="49" name="TextBox 48">
                <a:extLst>
                  <a:ext uri="{FF2B5EF4-FFF2-40B4-BE49-F238E27FC236}">
                    <a16:creationId xmlns:a16="http://schemas.microsoft.com/office/drawing/2014/main" id="{A99B3263-A483-4696-926D-DA5E83DE412A}"/>
                  </a:ext>
                </a:extLst>
              </p:cNvPr>
              <p:cNvSpPr txBox="1"/>
              <p:nvPr/>
            </p:nvSpPr>
            <p:spPr>
              <a:xfrm>
                <a:off x="4011081" y="5394880"/>
                <a:ext cx="879316"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Function End</a:t>
                </a:r>
              </a:p>
            </p:txBody>
          </p:sp>
        </p:grpSp>
      </p:grpSp>
      <p:grpSp>
        <p:nvGrpSpPr>
          <p:cNvPr id="50" name="Group 53">
            <a:extLst>
              <a:ext uri="{FF2B5EF4-FFF2-40B4-BE49-F238E27FC236}">
                <a16:creationId xmlns:a16="http://schemas.microsoft.com/office/drawing/2014/main" id="{965549FA-06C1-4904-AAAD-7D0D13CC7910}"/>
              </a:ext>
            </a:extLst>
          </p:cNvPr>
          <p:cNvGrpSpPr/>
          <p:nvPr/>
        </p:nvGrpSpPr>
        <p:grpSpPr>
          <a:xfrm>
            <a:off x="7073908" y="1151855"/>
            <a:ext cx="4658593" cy="4648347"/>
            <a:chOff x="4994455" y="1623428"/>
            <a:chExt cx="3494855" cy="4648347"/>
          </a:xfrm>
        </p:grpSpPr>
        <p:sp>
          <p:nvSpPr>
            <p:cNvPr id="51" name="Rectangle 50">
              <a:extLst>
                <a:ext uri="{FF2B5EF4-FFF2-40B4-BE49-F238E27FC236}">
                  <a16:creationId xmlns:a16="http://schemas.microsoft.com/office/drawing/2014/main" id="{36B966CB-7E82-4BE8-827C-02F71912E206}"/>
                </a:ext>
              </a:extLst>
            </p:cNvPr>
            <p:cNvSpPr/>
            <p:nvPr/>
          </p:nvSpPr>
          <p:spPr>
            <a:xfrm>
              <a:off x="6093772" y="2161635"/>
              <a:ext cx="1651415" cy="3456450"/>
            </a:xfrm>
            <a:prstGeom prst="rect">
              <a:avLst/>
            </a:prstGeom>
            <a:gradFill flip="none" rotWithShape="1">
              <a:gsLst>
                <a:gs pos="0">
                  <a:srgbClr val="663300">
                    <a:tint val="66000"/>
                    <a:satMod val="160000"/>
                  </a:srgbClr>
                </a:gs>
                <a:gs pos="50000">
                  <a:srgbClr val="663300">
                    <a:tint val="44500"/>
                    <a:satMod val="160000"/>
                  </a:srgbClr>
                </a:gs>
                <a:gs pos="100000">
                  <a:srgbClr val="663300">
                    <a:tint val="23500"/>
                    <a:satMod val="160000"/>
                  </a:srgbClr>
                </a:gs>
              </a:gsLst>
              <a:lin ang="10800000" scaled="1"/>
              <a:tileRect/>
            </a:gradFill>
            <a:ln w="9525" cap="flat" cmpd="sng" algn="ctr">
              <a:solidFill>
                <a:srgbClr val="000000"/>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52" name="Oval 6">
              <a:extLst>
                <a:ext uri="{FF2B5EF4-FFF2-40B4-BE49-F238E27FC236}">
                  <a16:creationId xmlns:a16="http://schemas.microsoft.com/office/drawing/2014/main" id="{385975C5-D38D-47FF-B853-D2FF5352672F}"/>
                </a:ext>
              </a:extLst>
            </p:cNvPr>
            <p:cNvSpPr/>
            <p:nvPr/>
          </p:nvSpPr>
          <p:spPr>
            <a:xfrm>
              <a:off x="6593889" y="31784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0</a:t>
              </a:r>
            </a:p>
          </p:txBody>
        </p:sp>
        <p:sp>
          <p:nvSpPr>
            <p:cNvPr id="53" name="Oval 52">
              <a:extLst>
                <a:ext uri="{FF2B5EF4-FFF2-40B4-BE49-F238E27FC236}">
                  <a16:creationId xmlns:a16="http://schemas.microsoft.com/office/drawing/2014/main" id="{780A4317-EDEC-4FC4-A635-59B96EA1FDDA}"/>
                </a:ext>
              </a:extLst>
            </p:cNvPr>
            <p:cNvSpPr/>
            <p:nvPr/>
          </p:nvSpPr>
          <p:spPr>
            <a:xfrm>
              <a:off x="6593889" y="51596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2</a:t>
              </a:r>
            </a:p>
          </p:txBody>
        </p:sp>
        <p:cxnSp>
          <p:nvCxnSpPr>
            <p:cNvPr id="54" name="Straight Arrow Connector 53">
              <a:extLst>
                <a:ext uri="{FF2B5EF4-FFF2-40B4-BE49-F238E27FC236}">
                  <a16:creationId xmlns:a16="http://schemas.microsoft.com/office/drawing/2014/main" id="{41930FC2-D6E9-4BE6-A0B1-D16C88BD4072}"/>
                </a:ext>
              </a:extLst>
            </p:cNvPr>
            <p:cNvCxnSpPr/>
            <p:nvPr/>
          </p:nvCxnSpPr>
          <p:spPr>
            <a:xfrm rot="5400000">
              <a:off x="6555790" y="2987966"/>
              <a:ext cx="38099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5" name="Curved Connector 20">
              <a:extLst>
                <a:ext uri="{FF2B5EF4-FFF2-40B4-BE49-F238E27FC236}">
                  <a16:creationId xmlns:a16="http://schemas.microsoft.com/office/drawing/2014/main" id="{A02D9B0D-5A66-4E5A-88C4-369806CCF0C7}"/>
                </a:ext>
              </a:extLst>
            </p:cNvPr>
            <p:cNvCxnSpPr>
              <a:stCxn id="53" idx="6"/>
            </p:cNvCxnSpPr>
            <p:nvPr/>
          </p:nvCxnSpPr>
          <p:spPr>
            <a:xfrm flipV="1">
              <a:off x="6898689" y="3330865"/>
              <a:ext cx="1588" cy="1981200"/>
            </a:xfrm>
            <a:prstGeom prst="curvedConnector3">
              <a:avLst>
                <a:gd name="adj1" fmla="val 2451978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56" name="TextBox 55">
              <a:extLst>
                <a:ext uri="{FF2B5EF4-FFF2-40B4-BE49-F238E27FC236}">
                  <a16:creationId xmlns:a16="http://schemas.microsoft.com/office/drawing/2014/main" id="{9BFEFF22-3A40-4E52-9E77-293B7463A17E}"/>
                </a:ext>
              </a:extLst>
            </p:cNvPr>
            <p:cNvSpPr txBox="1"/>
            <p:nvPr/>
          </p:nvSpPr>
          <p:spPr>
            <a:xfrm>
              <a:off x="6069795" y="1623428"/>
              <a:ext cx="1636987"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Control Behavior</a:t>
              </a:r>
            </a:p>
          </p:txBody>
        </p:sp>
        <p:sp>
          <p:nvSpPr>
            <p:cNvPr id="57" name="Oval 56">
              <a:extLst>
                <a:ext uri="{FF2B5EF4-FFF2-40B4-BE49-F238E27FC236}">
                  <a16:creationId xmlns:a16="http://schemas.microsoft.com/office/drawing/2014/main" id="{E56EF90B-79BE-4544-A24B-7D8EB634511C}"/>
                </a:ext>
              </a:extLst>
            </p:cNvPr>
            <p:cNvSpPr/>
            <p:nvPr/>
          </p:nvSpPr>
          <p:spPr>
            <a:xfrm>
              <a:off x="6593889" y="410720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1</a:t>
              </a:r>
            </a:p>
          </p:txBody>
        </p:sp>
        <p:cxnSp>
          <p:nvCxnSpPr>
            <p:cNvPr id="58" name="Curved Connector 20">
              <a:extLst>
                <a:ext uri="{FF2B5EF4-FFF2-40B4-BE49-F238E27FC236}">
                  <a16:creationId xmlns:a16="http://schemas.microsoft.com/office/drawing/2014/main" id="{980E9186-A61D-4105-86B4-BBE7C64E16B7}"/>
                </a:ext>
              </a:extLst>
            </p:cNvPr>
            <p:cNvCxnSpPr>
              <a:stCxn id="57" idx="4"/>
              <a:endCxn id="57" idx="6"/>
            </p:cNvCxnSpPr>
            <p:nvPr/>
          </p:nvCxnSpPr>
          <p:spPr>
            <a:xfrm rot="5400000" flipH="1" flipV="1">
              <a:off x="6746289" y="425960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9" name="Straight Arrow Connector 58">
              <a:extLst>
                <a:ext uri="{FF2B5EF4-FFF2-40B4-BE49-F238E27FC236}">
                  <a16:creationId xmlns:a16="http://schemas.microsoft.com/office/drawing/2014/main" id="{E3BABD35-BCE4-4AE7-915E-8851039489ED}"/>
                </a:ext>
              </a:extLst>
            </p:cNvPr>
            <p:cNvCxnSpPr/>
            <p:nvPr/>
          </p:nvCxnSpPr>
          <p:spPr>
            <a:xfrm rot="5400000">
              <a:off x="6441489" y="3788065"/>
              <a:ext cx="6096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0" name="Straight Arrow Connector 59">
              <a:extLst>
                <a:ext uri="{FF2B5EF4-FFF2-40B4-BE49-F238E27FC236}">
                  <a16:creationId xmlns:a16="http://schemas.microsoft.com/office/drawing/2014/main" id="{E8FFD429-4E03-4BEF-894F-5E11CF54FA35}"/>
                </a:ext>
              </a:extLst>
            </p:cNvPr>
            <p:cNvCxnSpPr>
              <a:endCxn id="53" idx="0"/>
            </p:cNvCxnSpPr>
            <p:nvPr/>
          </p:nvCxnSpPr>
          <p:spPr>
            <a:xfrm rot="5400000">
              <a:off x="6365289" y="4778665"/>
              <a:ext cx="7620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61" name="TextBox 60">
              <a:extLst>
                <a:ext uri="{FF2B5EF4-FFF2-40B4-BE49-F238E27FC236}">
                  <a16:creationId xmlns:a16="http://schemas.microsoft.com/office/drawing/2014/main" id="{BD6FF395-2A4D-4EBB-83AA-0C4DF91FD08F}"/>
                </a:ext>
              </a:extLst>
            </p:cNvPr>
            <p:cNvSpPr txBox="1"/>
            <p:nvPr/>
          </p:nvSpPr>
          <p:spPr>
            <a:xfrm>
              <a:off x="6170582" y="2200040"/>
              <a:ext cx="1497795" cy="400110"/>
            </a:xfrm>
            <a:prstGeom prst="rect">
              <a:avLst/>
            </a:prstGeom>
            <a:noFill/>
          </p:spPr>
          <p:txBody>
            <a:bodyPr wrap="square" rtlCol="0">
              <a:spAutoFit/>
            </a:bodyPr>
            <a:lstStyle/>
            <a:p>
              <a:pPr algn="ctr" defTabSz="914400" fontAlgn="base">
                <a:spcBef>
                  <a:spcPct val="0"/>
                </a:spcBef>
                <a:spcAft>
                  <a:spcPct val="0"/>
                </a:spcAft>
                <a:defRPr/>
              </a:pPr>
              <a:r>
                <a:rPr lang="en-US" sz="1000" b="1" kern="0" dirty="0">
                  <a:solidFill>
                    <a:srgbClr val="000000"/>
                  </a:solidFill>
                </a:rPr>
                <a:t>Finite State Machine (FSM) states</a:t>
              </a:r>
            </a:p>
          </p:txBody>
        </p:sp>
        <p:sp>
          <p:nvSpPr>
            <p:cNvPr id="62" name="TextBox 61">
              <a:extLst>
                <a:ext uri="{FF2B5EF4-FFF2-40B4-BE49-F238E27FC236}">
                  <a16:creationId xmlns:a16="http://schemas.microsoft.com/office/drawing/2014/main" id="{EAF16CCF-871A-4801-9E0A-99F89F0B0502}"/>
                </a:ext>
              </a:extLst>
            </p:cNvPr>
            <p:cNvSpPr txBox="1"/>
            <p:nvPr/>
          </p:nvSpPr>
          <p:spPr>
            <a:xfrm>
              <a:off x="5877770" y="5810110"/>
              <a:ext cx="2611540"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This behavior is extracted into a hardware state machine</a:t>
              </a:r>
            </a:p>
          </p:txBody>
        </p:sp>
        <p:cxnSp>
          <p:nvCxnSpPr>
            <p:cNvPr id="63" name="Straight Connector 62">
              <a:extLst>
                <a:ext uri="{FF2B5EF4-FFF2-40B4-BE49-F238E27FC236}">
                  <a16:creationId xmlns:a16="http://schemas.microsoft.com/office/drawing/2014/main" id="{5651C133-F1DE-477A-AD54-88477E3AB7A0}"/>
                </a:ext>
              </a:extLst>
            </p:cNvPr>
            <p:cNvCxnSpPr/>
            <p:nvPr/>
          </p:nvCxnSpPr>
          <p:spPr>
            <a:xfrm>
              <a:off x="4994455" y="2891330"/>
              <a:ext cx="138258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64" name="Straight Connector 63">
              <a:extLst>
                <a:ext uri="{FF2B5EF4-FFF2-40B4-BE49-F238E27FC236}">
                  <a16:creationId xmlns:a16="http://schemas.microsoft.com/office/drawing/2014/main" id="{C82B0B45-8331-419A-A3C8-A15CEA926CBD}"/>
                </a:ext>
              </a:extLst>
            </p:cNvPr>
            <p:cNvCxnSpPr/>
            <p:nvPr/>
          </p:nvCxnSpPr>
          <p:spPr>
            <a:xfrm>
              <a:off x="5032860" y="5502870"/>
              <a:ext cx="130577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65" name="Straight Connector 64">
              <a:extLst>
                <a:ext uri="{FF2B5EF4-FFF2-40B4-BE49-F238E27FC236}">
                  <a16:creationId xmlns:a16="http://schemas.microsoft.com/office/drawing/2014/main" id="{CA14B1CF-4CAA-4BE9-8177-329B86C27A42}"/>
                </a:ext>
              </a:extLst>
            </p:cNvPr>
            <p:cNvCxnSpPr/>
            <p:nvPr/>
          </p:nvCxnSpPr>
          <p:spPr>
            <a:xfrm>
              <a:off x="5032860" y="5157225"/>
              <a:ext cx="130577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66" name="Straight Connector 65">
              <a:extLst>
                <a:ext uri="{FF2B5EF4-FFF2-40B4-BE49-F238E27FC236}">
                  <a16:creationId xmlns:a16="http://schemas.microsoft.com/office/drawing/2014/main" id="{FFF1DB58-47D7-47C3-A28F-D713FA93A35C}"/>
                </a:ext>
              </a:extLst>
            </p:cNvPr>
            <p:cNvCxnSpPr/>
            <p:nvPr/>
          </p:nvCxnSpPr>
          <p:spPr>
            <a:xfrm>
              <a:off x="5032860" y="4005075"/>
              <a:ext cx="130577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wipe(left)">
                                      <p:cBhvr>
                                        <p:cTn id="7" dur="500"/>
                                        <p:tgtEl>
                                          <p:spTgt spid="3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left)">
                                      <p:cBhvr>
                                        <p:cTn id="12"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HLS: Control &amp; </a:t>
            </a:r>
            <a:r>
              <a:rPr lang="en-US" dirty="0" err="1"/>
              <a:t>Datapath</a:t>
            </a:r>
            <a:r>
              <a:rPr lang="en-US" dirty="0"/>
              <a:t> Extraction</a:t>
            </a:r>
          </a:p>
        </p:txBody>
      </p:sp>
      <p:sp>
        <p:nvSpPr>
          <p:cNvPr id="4" name="Slide Number Placeholder 3">
            <a:extLst>
              <a:ext uri="{FF2B5EF4-FFF2-40B4-BE49-F238E27FC236}">
                <a16:creationId xmlns:a16="http://schemas.microsoft.com/office/drawing/2014/main" id="{29D8893D-809B-462A-B514-A159E6EFBB12}"/>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9</a:t>
            </a:fld>
            <a:endParaRPr lang="en-US" dirty="0"/>
          </a:p>
        </p:txBody>
      </p:sp>
      <p:sp>
        <p:nvSpPr>
          <p:cNvPr id="66" name="TextBox 65">
            <a:extLst>
              <a:ext uri="{FF2B5EF4-FFF2-40B4-BE49-F238E27FC236}">
                <a16:creationId xmlns:a16="http://schemas.microsoft.com/office/drawing/2014/main" id="{C65E4C9B-569F-4E3C-A9AB-69B18BF6F278}"/>
              </a:ext>
            </a:extLst>
          </p:cNvPr>
          <p:cNvSpPr txBox="1"/>
          <p:nvPr/>
        </p:nvSpPr>
        <p:spPr>
          <a:xfrm>
            <a:off x="410790" y="1690062"/>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void fir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*y,</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coef_t</a:t>
            </a:r>
            <a:r>
              <a:rPr lang="en-US" sz="1000" kern="0" dirty="0">
                <a:solidFill>
                  <a:srgbClr val="000000"/>
                </a:solidFill>
                <a:latin typeface="Arial"/>
              </a:rPr>
              <a:t> c[4],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defRPr/>
            </a:pPr>
            <a:r>
              <a:rPr lang="en-US" sz="1000" kern="0" dirty="0">
                <a:solidFill>
                  <a:srgbClr val="000000"/>
                </a:solidFill>
                <a:latin typeface="Arial"/>
              </a:rPr>
              <a:t>  )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  static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 acc;</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int</a:t>
            </a:r>
            <a:r>
              <a:rPr lang="en-US" sz="1000" kern="0" dirty="0">
                <a:solidFill>
                  <a:srgbClr val="000000"/>
                </a:solidFill>
                <a:latin typeface="Arial"/>
              </a:rPr>
              <a:t>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acc=0;</a:t>
            </a:r>
          </a:p>
          <a:p>
            <a:pPr defTabSz="914400" fontAlgn="base">
              <a:spcBef>
                <a:spcPct val="0"/>
              </a:spcBef>
              <a:spcAft>
                <a:spcPct val="0"/>
              </a:spcAft>
              <a:defRPr/>
            </a:pPr>
            <a:r>
              <a:rPr lang="en-US" sz="1000" kern="0" dirty="0">
                <a:solidFill>
                  <a:srgbClr val="000000"/>
                </a:solidFill>
                <a:latin typeface="Arial"/>
              </a:rPr>
              <a:t>  loop: for (</a:t>
            </a:r>
            <a:r>
              <a:rPr lang="en-US" sz="1000" kern="0" dirty="0" err="1">
                <a:solidFill>
                  <a:srgbClr val="000000"/>
                </a:solidFill>
                <a:latin typeface="Arial"/>
              </a:rPr>
              <a:t>i</a:t>
            </a:r>
            <a:r>
              <a:rPr lang="en-US" sz="1000" kern="0" dirty="0">
                <a:solidFill>
                  <a:srgbClr val="000000"/>
                </a:solidFill>
                <a:latin typeface="Arial"/>
              </a:rPr>
              <a:t>=3;i&gt;=0;i--) {</a:t>
            </a:r>
          </a:p>
          <a:p>
            <a:pPr defTabSz="914400" fontAlgn="base">
              <a:spcBef>
                <a:spcPct val="0"/>
              </a:spcBef>
              <a:spcAft>
                <a:spcPct val="0"/>
              </a:spcAft>
              <a:defRPr/>
            </a:pPr>
            <a:r>
              <a:rPr lang="en-US" sz="1000" kern="0" dirty="0">
                <a:solidFill>
                  <a:srgbClr val="000000"/>
                </a:solidFill>
                <a:latin typeface="Arial"/>
              </a:rPr>
              <a:t>     if (</a:t>
            </a:r>
            <a:r>
              <a:rPr lang="en-US" sz="1000" kern="0" dirty="0" err="1">
                <a:solidFill>
                  <a:srgbClr val="000000"/>
                </a:solidFill>
                <a:latin typeface="Arial"/>
              </a:rPr>
              <a:t>i</a:t>
            </a:r>
            <a:r>
              <a:rPr lang="en-US" sz="1000" kern="0" dirty="0">
                <a:solidFill>
                  <a:srgbClr val="000000"/>
                </a:solidFill>
                <a:latin typeface="Arial"/>
              </a:rPr>
              <a:t>==0) {</a:t>
            </a:r>
          </a:p>
          <a:p>
            <a:pPr defTabSz="914400" fontAlgn="base">
              <a:spcBef>
                <a:spcPct val="0"/>
              </a:spcBef>
              <a:spcAft>
                <a:spcPct val="0"/>
              </a:spcAft>
              <a:defRPr/>
            </a:pPr>
            <a:r>
              <a:rPr lang="en-US" sz="1000" kern="0" dirty="0">
                <a:solidFill>
                  <a:srgbClr val="000000"/>
                </a:solidFill>
                <a:latin typeface="Arial"/>
              </a:rPr>
              <a:t>       acc+=x*c[0];</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[0]=x;</a:t>
            </a:r>
          </a:p>
          <a:p>
            <a:pPr defTabSz="914400" fontAlgn="base">
              <a:spcBef>
                <a:spcPct val="0"/>
              </a:spcBef>
              <a:spcAft>
                <a:spcPct val="0"/>
              </a:spcAft>
              <a:defRPr/>
            </a:pPr>
            <a:r>
              <a:rPr lang="en-US" sz="1000" kern="0" dirty="0">
                <a:solidFill>
                  <a:srgbClr val="000000"/>
                </a:solidFill>
                <a:latin typeface="Arial"/>
              </a:rPr>
              <a:t>     } else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a:t>
            </a:r>
            <a:r>
              <a:rPr lang="en-US" sz="1000" kern="0" dirty="0" err="1">
                <a:solidFill>
                  <a:srgbClr val="000000"/>
                </a:solidFill>
                <a:latin typeface="Arial"/>
              </a:rPr>
              <a:t>shift_reg</a:t>
            </a:r>
            <a:r>
              <a:rPr lang="en-US" sz="1000" kern="0" dirty="0">
                <a:solidFill>
                  <a:srgbClr val="000000"/>
                </a:solidFill>
                <a:latin typeface="Arial"/>
              </a:rPr>
              <a:t>[i-1];	        </a:t>
            </a:r>
          </a:p>
          <a:p>
            <a:pPr defTabSz="914400" fontAlgn="base">
              <a:spcBef>
                <a:spcPct val="0"/>
              </a:spcBef>
              <a:spcAft>
                <a:spcPct val="0"/>
              </a:spcAft>
              <a:defRPr/>
            </a:pPr>
            <a:r>
              <a:rPr lang="en-US" sz="1000" kern="0" dirty="0">
                <a:solidFill>
                  <a:srgbClr val="000000"/>
                </a:solidFill>
                <a:latin typeface="Arial"/>
              </a:rPr>
              <a:t>        acc+=</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]*c[</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*y=acc;</a:t>
            </a:r>
          </a:p>
          <a:p>
            <a:pPr defTabSz="914400" fontAlgn="base">
              <a:spcBef>
                <a:spcPct val="0"/>
              </a:spcBef>
              <a:spcAft>
                <a:spcPct val="0"/>
              </a:spcAft>
              <a:defRPr/>
            </a:pPr>
            <a:r>
              <a:rPr lang="en-US" sz="1000" kern="0" dirty="0">
                <a:solidFill>
                  <a:srgbClr val="000000"/>
                </a:solidFill>
                <a:latin typeface="Arial"/>
              </a:rPr>
              <a:t>}</a:t>
            </a:r>
          </a:p>
        </p:txBody>
      </p:sp>
      <p:sp>
        <p:nvSpPr>
          <p:cNvPr id="67" name="TextBox 66">
            <a:extLst>
              <a:ext uri="{FF2B5EF4-FFF2-40B4-BE49-F238E27FC236}">
                <a16:creationId xmlns:a16="http://schemas.microsoft.com/office/drawing/2014/main" id="{CF834B53-22F7-4465-86A6-25D253778C19}"/>
              </a:ext>
            </a:extLst>
          </p:cNvPr>
          <p:cNvSpPr txBox="1"/>
          <p:nvPr/>
        </p:nvSpPr>
        <p:spPr>
          <a:xfrm>
            <a:off x="973918" y="1152392"/>
            <a:ext cx="2182081"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Code </a:t>
            </a:r>
          </a:p>
        </p:txBody>
      </p:sp>
      <p:sp>
        <p:nvSpPr>
          <p:cNvPr id="68" name="TextBox 67">
            <a:extLst>
              <a:ext uri="{FF2B5EF4-FFF2-40B4-BE49-F238E27FC236}">
                <a16:creationId xmlns:a16="http://schemas.microsoft.com/office/drawing/2014/main" id="{4F4DCC14-32F0-4430-9FF5-D0E7FF6E8265}"/>
              </a:ext>
            </a:extLst>
          </p:cNvPr>
          <p:cNvSpPr txBox="1"/>
          <p:nvPr/>
        </p:nvSpPr>
        <p:spPr>
          <a:xfrm>
            <a:off x="973917" y="5338537"/>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From any C code example ..</a:t>
            </a:r>
          </a:p>
        </p:txBody>
      </p:sp>
      <p:grpSp>
        <p:nvGrpSpPr>
          <p:cNvPr id="69" name="Group 133">
            <a:extLst>
              <a:ext uri="{FF2B5EF4-FFF2-40B4-BE49-F238E27FC236}">
                <a16:creationId xmlns:a16="http://schemas.microsoft.com/office/drawing/2014/main" id="{56E31CE8-EDFC-4302-828E-A66B64DDDACB}"/>
              </a:ext>
            </a:extLst>
          </p:cNvPr>
          <p:cNvGrpSpPr/>
          <p:nvPr/>
        </p:nvGrpSpPr>
        <p:grpSpPr>
          <a:xfrm>
            <a:off x="6317255" y="1151855"/>
            <a:ext cx="2233274" cy="4648347"/>
            <a:chOff x="4624833" y="1623428"/>
            <a:chExt cx="1675392" cy="4648347"/>
          </a:xfrm>
        </p:grpSpPr>
        <p:sp>
          <p:nvSpPr>
            <p:cNvPr id="70" name="Rectangle 69">
              <a:extLst>
                <a:ext uri="{FF2B5EF4-FFF2-40B4-BE49-F238E27FC236}">
                  <a16:creationId xmlns:a16="http://schemas.microsoft.com/office/drawing/2014/main" id="{2BF34D13-3157-401C-AB1D-15E53CECAE0E}"/>
                </a:ext>
              </a:extLst>
            </p:cNvPr>
            <p:cNvSpPr/>
            <p:nvPr/>
          </p:nvSpPr>
          <p:spPr>
            <a:xfrm>
              <a:off x="4648810" y="2161635"/>
              <a:ext cx="1651415" cy="3456450"/>
            </a:xfrm>
            <a:prstGeom prst="rect">
              <a:avLst/>
            </a:prstGeom>
            <a:gradFill flip="none" rotWithShape="1">
              <a:gsLst>
                <a:gs pos="0">
                  <a:srgbClr val="663300">
                    <a:tint val="66000"/>
                    <a:satMod val="160000"/>
                  </a:srgbClr>
                </a:gs>
                <a:gs pos="50000">
                  <a:srgbClr val="663300">
                    <a:tint val="44500"/>
                    <a:satMod val="160000"/>
                  </a:srgbClr>
                </a:gs>
                <a:gs pos="100000">
                  <a:srgbClr val="663300">
                    <a:tint val="23500"/>
                    <a:satMod val="160000"/>
                  </a:srgbClr>
                </a:gs>
              </a:gsLst>
              <a:lin ang="10800000" scaled="1"/>
              <a:tileRect/>
            </a:gradFill>
            <a:ln w="9525" cap="flat" cmpd="sng" algn="ctr">
              <a:solidFill>
                <a:srgbClr val="000000"/>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71" name="Oval 70">
              <a:extLst>
                <a:ext uri="{FF2B5EF4-FFF2-40B4-BE49-F238E27FC236}">
                  <a16:creationId xmlns:a16="http://schemas.microsoft.com/office/drawing/2014/main" id="{CE0E41DA-8521-4D6C-98A6-DBC397C35BAD}"/>
                </a:ext>
              </a:extLst>
            </p:cNvPr>
            <p:cNvSpPr/>
            <p:nvPr/>
          </p:nvSpPr>
          <p:spPr>
            <a:xfrm>
              <a:off x="5148927" y="31784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0</a:t>
              </a:r>
            </a:p>
          </p:txBody>
        </p:sp>
        <p:sp>
          <p:nvSpPr>
            <p:cNvPr id="72" name="Oval 71">
              <a:extLst>
                <a:ext uri="{FF2B5EF4-FFF2-40B4-BE49-F238E27FC236}">
                  <a16:creationId xmlns:a16="http://schemas.microsoft.com/office/drawing/2014/main" id="{A7E9717E-9B2C-45F9-807D-5C02E764DFEF}"/>
                </a:ext>
              </a:extLst>
            </p:cNvPr>
            <p:cNvSpPr/>
            <p:nvPr/>
          </p:nvSpPr>
          <p:spPr>
            <a:xfrm>
              <a:off x="5148927" y="51596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2</a:t>
              </a:r>
            </a:p>
          </p:txBody>
        </p:sp>
        <p:cxnSp>
          <p:nvCxnSpPr>
            <p:cNvPr id="73" name="Straight Arrow Connector 72">
              <a:extLst>
                <a:ext uri="{FF2B5EF4-FFF2-40B4-BE49-F238E27FC236}">
                  <a16:creationId xmlns:a16="http://schemas.microsoft.com/office/drawing/2014/main" id="{B1F5EA7F-1F06-4003-AA18-A4190BC0D575}"/>
                </a:ext>
              </a:extLst>
            </p:cNvPr>
            <p:cNvCxnSpPr>
              <a:endCxn id="71" idx="0"/>
            </p:cNvCxnSpPr>
            <p:nvPr/>
          </p:nvCxnSpPr>
          <p:spPr>
            <a:xfrm rot="5400000">
              <a:off x="5110828" y="2987966"/>
              <a:ext cx="38099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4" name="Curved Connector 20">
              <a:extLst>
                <a:ext uri="{FF2B5EF4-FFF2-40B4-BE49-F238E27FC236}">
                  <a16:creationId xmlns:a16="http://schemas.microsoft.com/office/drawing/2014/main" id="{7BAB5542-026B-4D99-B0E3-D6607872A6A9}"/>
                </a:ext>
              </a:extLst>
            </p:cNvPr>
            <p:cNvCxnSpPr>
              <a:stCxn id="72" idx="6"/>
              <a:endCxn id="71" idx="6"/>
            </p:cNvCxnSpPr>
            <p:nvPr/>
          </p:nvCxnSpPr>
          <p:spPr>
            <a:xfrm flipV="1">
              <a:off x="5453727" y="3330865"/>
              <a:ext cx="1588" cy="1981200"/>
            </a:xfrm>
            <a:prstGeom prst="curvedConnector3">
              <a:avLst>
                <a:gd name="adj1" fmla="val 2451978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5" name="TextBox 74">
              <a:extLst>
                <a:ext uri="{FF2B5EF4-FFF2-40B4-BE49-F238E27FC236}">
                  <a16:creationId xmlns:a16="http://schemas.microsoft.com/office/drawing/2014/main" id="{F14473B6-E903-4CA8-85C4-C4C44641E2B9}"/>
                </a:ext>
              </a:extLst>
            </p:cNvPr>
            <p:cNvSpPr txBox="1"/>
            <p:nvPr/>
          </p:nvSpPr>
          <p:spPr>
            <a:xfrm>
              <a:off x="4624833" y="1623428"/>
              <a:ext cx="1636987"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Control Behavior</a:t>
              </a:r>
            </a:p>
          </p:txBody>
        </p:sp>
        <p:sp>
          <p:nvSpPr>
            <p:cNvPr id="76" name="Oval 75">
              <a:extLst>
                <a:ext uri="{FF2B5EF4-FFF2-40B4-BE49-F238E27FC236}">
                  <a16:creationId xmlns:a16="http://schemas.microsoft.com/office/drawing/2014/main" id="{2E7548AF-A00D-4781-A361-03754981DB0C}"/>
                </a:ext>
              </a:extLst>
            </p:cNvPr>
            <p:cNvSpPr/>
            <p:nvPr/>
          </p:nvSpPr>
          <p:spPr>
            <a:xfrm>
              <a:off x="5148927" y="410720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1</a:t>
              </a:r>
            </a:p>
          </p:txBody>
        </p:sp>
        <p:cxnSp>
          <p:nvCxnSpPr>
            <p:cNvPr id="77" name="Curved Connector 20">
              <a:extLst>
                <a:ext uri="{FF2B5EF4-FFF2-40B4-BE49-F238E27FC236}">
                  <a16:creationId xmlns:a16="http://schemas.microsoft.com/office/drawing/2014/main" id="{90BB55CE-3300-4E96-941A-5D536D47CCBE}"/>
                </a:ext>
              </a:extLst>
            </p:cNvPr>
            <p:cNvCxnSpPr>
              <a:stCxn id="76" idx="4"/>
              <a:endCxn id="76" idx="6"/>
            </p:cNvCxnSpPr>
            <p:nvPr/>
          </p:nvCxnSpPr>
          <p:spPr>
            <a:xfrm rot="5400000" flipH="1" flipV="1">
              <a:off x="5301327" y="425960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8" name="Straight Arrow Connector 77">
              <a:extLst>
                <a:ext uri="{FF2B5EF4-FFF2-40B4-BE49-F238E27FC236}">
                  <a16:creationId xmlns:a16="http://schemas.microsoft.com/office/drawing/2014/main" id="{8424A110-619F-4228-AD2A-A498614E81F2}"/>
                </a:ext>
              </a:extLst>
            </p:cNvPr>
            <p:cNvCxnSpPr>
              <a:stCxn id="71" idx="4"/>
            </p:cNvCxnSpPr>
            <p:nvPr/>
          </p:nvCxnSpPr>
          <p:spPr>
            <a:xfrm rot="5400000">
              <a:off x="4996527" y="3788065"/>
              <a:ext cx="6096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9" name="Straight Arrow Connector 78">
              <a:extLst>
                <a:ext uri="{FF2B5EF4-FFF2-40B4-BE49-F238E27FC236}">
                  <a16:creationId xmlns:a16="http://schemas.microsoft.com/office/drawing/2014/main" id="{F052F04D-E9BF-4D9F-A450-0C4A2FD21791}"/>
                </a:ext>
              </a:extLst>
            </p:cNvPr>
            <p:cNvCxnSpPr>
              <a:endCxn id="72" idx="0"/>
            </p:cNvCxnSpPr>
            <p:nvPr/>
          </p:nvCxnSpPr>
          <p:spPr>
            <a:xfrm rot="5400000">
              <a:off x="4920327" y="4778665"/>
              <a:ext cx="7620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0" name="TextBox 79">
              <a:extLst>
                <a:ext uri="{FF2B5EF4-FFF2-40B4-BE49-F238E27FC236}">
                  <a16:creationId xmlns:a16="http://schemas.microsoft.com/office/drawing/2014/main" id="{434983BC-3250-4082-BF33-52D06A93FE3E}"/>
                </a:ext>
              </a:extLst>
            </p:cNvPr>
            <p:cNvSpPr txBox="1"/>
            <p:nvPr/>
          </p:nvSpPr>
          <p:spPr>
            <a:xfrm>
              <a:off x="4725620" y="2200040"/>
              <a:ext cx="1497795" cy="400110"/>
            </a:xfrm>
            <a:prstGeom prst="rect">
              <a:avLst/>
            </a:prstGeom>
            <a:noFill/>
          </p:spPr>
          <p:txBody>
            <a:bodyPr wrap="square" rtlCol="0">
              <a:spAutoFit/>
            </a:bodyPr>
            <a:lstStyle/>
            <a:p>
              <a:pPr algn="ctr" defTabSz="914400" fontAlgn="base">
                <a:spcBef>
                  <a:spcPct val="0"/>
                </a:spcBef>
                <a:spcAft>
                  <a:spcPct val="0"/>
                </a:spcAft>
                <a:defRPr/>
              </a:pPr>
              <a:r>
                <a:rPr lang="en-US" sz="1000" b="1" kern="0" dirty="0">
                  <a:solidFill>
                    <a:srgbClr val="000000"/>
                  </a:solidFill>
                </a:rPr>
                <a:t>Finite State Machine (FSM) states</a:t>
              </a:r>
            </a:p>
          </p:txBody>
        </p:sp>
        <p:sp>
          <p:nvSpPr>
            <p:cNvPr id="81" name="TextBox 80">
              <a:extLst>
                <a:ext uri="{FF2B5EF4-FFF2-40B4-BE49-F238E27FC236}">
                  <a16:creationId xmlns:a16="http://schemas.microsoft.com/office/drawing/2014/main" id="{3E1626BD-1A00-42EF-81EC-0706471CB63A}"/>
                </a:ext>
              </a:extLst>
            </p:cNvPr>
            <p:cNvSpPr txBox="1"/>
            <p:nvPr/>
          </p:nvSpPr>
          <p:spPr>
            <a:xfrm>
              <a:off x="4855262" y="5810110"/>
              <a:ext cx="1228961"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The control is known</a:t>
              </a:r>
            </a:p>
          </p:txBody>
        </p:sp>
      </p:grpSp>
      <p:grpSp>
        <p:nvGrpSpPr>
          <p:cNvPr id="82" name="Group 151">
            <a:extLst>
              <a:ext uri="{FF2B5EF4-FFF2-40B4-BE49-F238E27FC236}">
                <a16:creationId xmlns:a16="http://schemas.microsoft.com/office/drawing/2014/main" id="{715ED09C-F930-4E7E-9F9F-0335593F979E}"/>
              </a:ext>
            </a:extLst>
          </p:cNvPr>
          <p:cNvGrpSpPr/>
          <p:nvPr/>
        </p:nvGrpSpPr>
        <p:grpSpPr>
          <a:xfrm>
            <a:off x="1741817" y="1151855"/>
            <a:ext cx="4709787" cy="4648347"/>
            <a:chOff x="1192360" y="1623428"/>
            <a:chExt cx="3533260" cy="4648347"/>
          </a:xfrm>
        </p:grpSpPr>
        <p:sp>
          <p:nvSpPr>
            <p:cNvPr id="83" name="TextBox 82">
              <a:extLst>
                <a:ext uri="{FF2B5EF4-FFF2-40B4-BE49-F238E27FC236}">
                  <a16:creationId xmlns:a16="http://schemas.microsoft.com/office/drawing/2014/main" id="{27463F4B-D36B-40D0-A8C7-D9DD8044E867}"/>
                </a:ext>
              </a:extLst>
            </p:cNvPr>
            <p:cNvSpPr txBox="1"/>
            <p:nvPr/>
          </p:nvSpPr>
          <p:spPr>
            <a:xfrm>
              <a:off x="3088633" y="1623428"/>
              <a:ext cx="1636987"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Operations</a:t>
              </a:r>
            </a:p>
          </p:txBody>
        </p:sp>
        <p:grpSp>
          <p:nvGrpSpPr>
            <p:cNvPr id="84" name="Group 149">
              <a:extLst>
                <a:ext uri="{FF2B5EF4-FFF2-40B4-BE49-F238E27FC236}">
                  <a16:creationId xmlns:a16="http://schemas.microsoft.com/office/drawing/2014/main" id="{81AFBFC0-3FDD-42D0-840E-5C21D2398F95}"/>
                </a:ext>
              </a:extLst>
            </p:cNvPr>
            <p:cNvGrpSpPr/>
            <p:nvPr/>
          </p:nvGrpSpPr>
          <p:grpSpPr>
            <a:xfrm>
              <a:off x="1192360" y="2545685"/>
              <a:ext cx="3341235" cy="3726090"/>
              <a:chOff x="1192360" y="2545685"/>
              <a:chExt cx="3341235" cy="3726090"/>
            </a:xfrm>
          </p:grpSpPr>
          <p:cxnSp>
            <p:nvCxnSpPr>
              <p:cNvPr id="85" name="Curved Connector 24">
                <a:extLst>
                  <a:ext uri="{FF2B5EF4-FFF2-40B4-BE49-F238E27FC236}">
                    <a16:creationId xmlns:a16="http://schemas.microsoft.com/office/drawing/2014/main" id="{465229D8-0250-4B65-8A24-F43F7F3A0478}"/>
                  </a:ext>
                </a:extLst>
              </p:cNvPr>
              <p:cNvCxnSpPr/>
              <p:nvPr/>
            </p:nvCxnSpPr>
            <p:spPr>
              <a:xfrm rot="5400000" flipH="1" flipV="1">
                <a:off x="2008466" y="2209642"/>
                <a:ext cx="940922" cy="2342705"/>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6" name="Curved Connector 24">
                <a:extLst>
                  <a:ext uri="{FF2B5EF4-FFF2-40B4-BE49-F238E27FC236}">
                    <a16:creationId xmlns:a16="http://schemas.microsoft.com/office/drawing/2014/main" id="{7C6A6DAB-1DA6-4B42-80E3-8F07268F4D49}"/>
                  </a:ext>
                </a:extLst>
              </p:cNvPr>
              <p:cNvCxnSpPr/>
              <p:nvPr/>
            </p:nvCxnSpPr>
            <p:spPr>
              <a:xfrm rot="5400000" flipH="1" flipV="1">
                <a:off x="2399988" y="2629284"/>
                <a:ext cx="623398" cy="1877186"/>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7" name="Straight Arrow Connector 86">
                <a:extLst>
                  <a:ext uri="{FF2B5EF4-FFF2-40B4-BE49-F238E27FC236}">
                    <a16:creationId xmlns:a16="http://schemas.microsoft.com/office/drawing/2014/main" id="{00FC1D93-4CC0-4154-AF8F-A1B6D28BEC43}"/>
                  </a:ext>
                </a:extLst>
              </p:cNvPr>
              <p:cNvCxnSpPr/>
              <p:nvPr/>
            </p:nvCxnSpPr>
            <p:spPr>
              <a:xfrm>
                <a:off x="3035800" y="488839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8" name="Straight Arrow Connector 87">
                <a:extLst>
                  <a:ext uri="{FF2B5EF4-FFF2-40B4-BE49-F238E27FC236}">
                    <a16:creationId xmlns:a16="http://schemas.microsoft.com/office/drawing/2014/main" id="{A93A2ED4-FDA7-4DDE-8507-4D736130083D}"/>
                  </a:ext>
                </a:extLst>
              </p:cNvPr>
              <p:cNvCxnSpPr/>
              <p:nvPr/>
            </p:nvCxnSpPr>
            <p:spPr>
              <a:xfrm>
                <a:off x="3035800" y="4579562"/>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9" name="Straight Arrow Connector 88">
                <a:extLst>
                  <a:ext uri="{FF2B5EF4-FFF2-40B4-BE49-F238E27FC236}">
                    <a16:creationId xmlns:a16="http://schemas.microsoft.com/office/drawing/2014/main" id="{B747008D-649F-48B5-AB66-43D048E19E41}"/>
                  </a:ext>
                </a:extLst>
              </p:cNvPr>
              <p:cNvCxnSpPr/>
              <p:nvPr/>
            </p:nvCxnSpPr>
            <p:spPr>
              <a:xfrm>
                <a:off x="3035800" y="419710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90" name="Straight Arrow Connector 89">
                <a:extLst>
                  <a:ext uri="{FF2B5EF4-FFF2-40B4-BE49-F238E27FC236}">
                    <a16:creationId xmlns:a16="http://schemas.microsoft.com/office/drawing/2014/main" id="{544EEBA6-A633-4300-8F7F-6123B4474E3B}"/>
                  </a:ext>
                </a:extLst>
              </p:cNvPr>
              <p:cNvCxnSpPr/>
              <p:nvPr/>
            </p:nvCxnSpPr>
            <p:spPr>
              <a:xfrm>
                <a:off x="3035800" y="388986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91" name="Straight Arrow Connector 90">
                <a:extLst>
                  <a:ext uri="{FF2B5EF4-FFF2-40B4-BE49-F238E27FC236}">
                    <a16:creationId xmlns:a16="http://schemas.microsoft.com/office/drawing/2014/main" id="{67225877-40BD-4013-B1FF-3176A6A55F97}"/>
                  </a:ext>
                </a:extLst>
              </p:cNvPr>
              <p:cNvCxnSpPr/>
              <p:nvPr/>
            </p:nvCxnSpPr>
            <p:spPr>
              <a:xfrm>
                <a:off x="3035800" y="3544215"/>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92" name="Straight Arrow Connector 91">
                <a:extLst>
                  <a:ext uri="{FF2B5EF4-FFF2-40B4-BE49-F238E27FC236}">
                    <a16:creationId xmlns:a16="http://schemas.microsoft.com/office/drawing/2014/main" id="{4A27CD69-6192-42DC-8342-5E574227A4BD}"/>
                  </a:ext>
                </a:extLst>
              </p:cNvPr>
              <p:cNvCxnSpPr/>
              <p:nvPr/>
            </p:nvCxnSpPr>
            <p:spPr>
              <a:xfrm>
                <a:off x="1192360" y="5234035"/>
                <a:ext cx="241951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93" name="TextBox 92">
                <a:extLst>
                  <a:ext uri="{FF2B5EF4-FFF2-40B4-BE49-F238E27FC236}">
                    <a16:creationId xmlns:a16="http://schemas.microsoft.com/office/drawing/2014/main" id="{A607B20F-47B3-49A7-BF17-3C1373E42024}"/>
                  </a:ext>
                </a:extLst>
              </p:cNvPr>
              <p:cNvSpPr txBox="1"/>
              <p:nvPr/>
            </p:nvSpPr>
            <p:spPr>
              <a:xfrm>
                <a:off x="3266229" y="5810110"/>
                <a:ext cx="1267366"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Operations are extracted…</a:t>
                </a:r>
              </a:p>
            </p:txBody>
          </p:sp>
          <p:sp>
            <p:nvSpPr>
              <p:cNvPr id="94" name="Rectangle 93">
                <a:extLst>
                  <a:ext uri="{FF2B5EF4-FFF2-40B4-BE49-F238E27FC236}">
                    <a16:creationId xmlns:a16="http://schemas.microsoft.com/office/drawing/2014/main" id="{BE8FD9D2-7CF6-4B8F-BC82-B7014A5BBF56}"/>
                  </a:ext>
                </a:extLst>
              </p:cNvPr>
              <p:cNvSpPr/>
              <p:nvPr/>
            </p:nvSpPr>
            <p:spPr>
              <a:xfrm>
                <a:off x="3688685" y="346740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5" name="Rectangle 94">
                <a:extLst>
                  <a:ext uri="{FF2B5EF4-FFF2-40B4-BE49-F238E27FC236}">
                    <a16:creationId xmlns:a16="http://schemas.microsoft.com/office/drawing/2014/main" id="{496836D9-6845-402B-987A-A4BBF24355A1}"/>
                  </a:ext>
                </a:extLst>
              </p:cNvPr>
              <p:cNvSpPr/>
              <p:nvPr/>
            </p:nvSpPr>
            <p:spPr>
              <a:xfrm>
                <a:off x="3688685" y="377464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6" name="Rectangle 95">
                <a:extLst>
                  <a:ext uri="{FF2B5EF4-FFF2-40B4-BE49-F238E27FC236}">
                    <a16:creationId xmlns:a16="http://schemas.microsoft.com/office/drawing/2014/main" id="{D7B31826-83E3-4141-BB5A-49FD711C6BA2}"/>
                  </a:ext>
                </a:extLst>
              </p:cNvPr>
              <p:cNvSpPr/>
              <p:nvPr/>
            </p:nvSpPr>
            <p:spPr>
              <a:xfrm>
                <a:off x="3688685" y="408188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7" name="Rectangle 96">
                <a:extLst>
                  <a:ext uri="{FF2B5EF4-FFF2-40B4-BE49-F238E27FC236}">
                    <a16:creationId xmlns:a16="http://schemas.microsoft.com/office/drawing/2014/main" id="{F68D5D25-ABD3-419C-B1FF-C64467152799}"/>
                  </a:ext>
                </a:extLst>
              </p:cNvPr>
              <p:cNvSpPr/>
              <p:nvPr/>
            </p:nvSpPr>
            <p:spPr>
              <a:xfrm>
                <a:off x="3688685" y="316016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&gt;=</a:t>
                </a:r>
              </a:p>
            </p:txBody>
          </p:sp>
          <p:sp>
            <p:nvSpPr>
              <p:cNvPr id="98" name="Rectangle 97">
                <a:extLst>
                  <a:ext uri="{FF2B5EF4-FFF2-40B4-BE49-F238E27FC236}">
                    <a16:creationId xmlns:a16="http://schemas.microsoft.com/office/drawing/2014/main" id="{572F1B63-D130-492D-BF42-CA63E32A9775}"/>
                  </a:ext>
                </a:extLst>
              </p:cNvPr>
              <p:cNvSpPr/>
              <p:nvPr/>
            </p:nvSpPr>
            <p:spPr>
              <a:xfrm>
                <a:off x="3688685" y="438912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9" name="Rectangle 98">
                <a:extLst>
                  <a:ext uri="{FF2B5EF4-FFF2-40B4-BE49-F238E27FC236}">
                    <a16:creationId xmlns:a16="http://schemas.microsoft.com/office/drawing/2014/main" id="{9AB36EA3-BCE4-41B7-9782-0EBF04F30314}"/>
                  </a:ext>
                </a:extLst>
              </p:cNvPr>
              <p:cNvSpPr/>
              <p:nvPr/>
            </p:nvSpPr>
            <p:spPr>
              <a:xfrm>
                <a:off x="3686880" y="469636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100" name="Rectangle 99">
                <a:extLst>
                  <a:ext uri="{FF2B5EF4-FFF2-40B4-BE49-F238E27FC236}">
                    <a16:creationId xmlns:a16="http://schemas.microsoft.com/office/drawing/2014/main" id="{616F6DBC-48EA-4AC9-ABA1-53E1E2FED93C}"/>
                  </a:ext>
                </a:extLst>
              </p:cNvPr>
              <p:cNvSpPr/>
              <p:nvPr/>
            </p:nvSpPr>
            <p:spPr>
              <a:xfrm>
                <a:off x="3686880" y="500360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101" name="Rectangle 100">
                <a:extLst>
                  <a:ext uri="{FF2B5EF4-FFF2-40B4-BE49-F238E27FC236}">
                    <a16:creationId xmlns:a16="http://schemas.microsoft.com/office/drawing/2014/main" id="{A0D83673-C0B4-4782-94D8-28724676598F}"/>
                  </a:ext>
                </a:extLst>
              </p:cNvPr>
              <p:cNvSpPr/>
              <p:nvPr/>
            </p:nvSpPr>
            <p:spPr>
              <a:xfrm>
                <a:off x="3688685" y="254568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kern="0" dirty="0" err="1">
                    <a:solidFill>
                      <a:sysClr val="windowText" lastClr="000000"/>
                    </a:solidFill>
                    <a:latin typeface="Arial"/>
                  </a:rPr>
                  <a:t>RDx</a:t>
                </a:r>
                <a:endParaRPr lang="en-US" sz="1200" kern="0" dirty="0">
                  <a:solidFill>
                    <a:sysClr val="windowText" lastClr="000000"/>
                  </a:solidFill>
                  <a:latin typeface="Arial"/>
                </a:endParaRPr>
              </a:p>
            </p:txBody>
          </p:sp>
          <p:sp>
            <p:nvSpPr>
              <p:cNvPr id="102" name="Rectangle 101">
                <a:extLst>
                  <a:ext uri="{FF2B5EF4-FFF2-40B4-BE49-F238E27FC236}">
                    <a16:creationId xmlns:a16="http://schemas.microsoft.com/office/drawing/2014/main" id="{29F536A3-35FA-4C5D-BD23-BC02B0CB0224}"/>
                  </a:ext>
                </a:extLst>
              </p:cNvPr>
              <p:cNvSpPr/>
              <p:nvPr/>
            </p:nvSpPr>
            <p:spPr>
              <a:xfrm>
                <a:off x="3688685" y="531084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kern="0" dirty="0" err="1">
                    <a:solidFill>
                      <a:sysClr val="windowText" lastClr="000000"/>
                    </a:solidFill>
                    <a:latin typeface="Arial"/>
                  </a:rPr>
                  <a:t>WRy</a:t>
                </a:r>
                <a:endParaRPr lang="en-US" sz="1200" kern="0" dirty="0">
                  <a:solidFill>
                    <a:sysClr val="windowText" lastClr="000000"/>
                  </a:solidFill>
                  <a:latin typeface="Arial"/>
                </a:endParaRPr>
              </a:p>
            </p:txBody>
          </p:sp>
          <p:sp>
            <p:nvSpPr>
              <p:cNvPr id="103" name="Rectangle 102">
                <a:extLst>
                  <a:ext uri="{FF2B5EF4-FFF2-40B4-BE49-F238E27FC236}">
                    <a16:creationId xmlns:a16="http://schemas.microsoft.com/office/drawing/2014/main" id="{33D150FF-94E7-4737-BFC4-1FC2259CDB30}"/>
                  </a:ext>
                </a:extLst>
              </p:cNvPr>
              <p:cNvSpPr/>
              <p:nvPr/>
            </p:nvSpPr>
            <p:spPr>
              <a:xfrm>
                <a:off x="3688685" y="285292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kern="0" dirty="0" err="1">
                    <a:solidFill>
                      <a:sysClr val="windowText" lastClr="000000"/>
                    </a:solidFill>
                    <a:latin typeface="Arial"/>
                  </a:rPr>
                  <a:t>RDc</a:t>
                </a:r>
                <a:endParaRPr lang="en-US" sz="1200" kern="0" dirty="0">
                  <a:solidFill>
                    <a:sysClr val="windowText" lastClr="000000"/>
                  </a:solidFill>
                  <a:latin typeface="Arial"/>
                </a:endParaRPr>
              </a:p>
            </p:txBody>
          </p:sp>
        </p:grpSp>
      </p:grpSp>
      <p:grpSp>
        <p:nvGrpSpPr>
          <p:cNvPr id="104" name="Group 150">
            <a:extLst>
              <a:ext uri="{FF2B5EF4-FFF2-40B4-BE49-F238E27FC236}">
                <a16:creationId xmlns:a16="http://schemas.microsoft.com/office/drawing/2014/main" id="{71A25755-F22E-453E-AB86-D2AA7F24D64C}"/>
              </a:ext>
            </a:extLst>
          </p:cNvPr>
          <p:cNvGrpSpPr/>
          <p:nvPr/>
        </p:nvGrpSpPr>
        <p:grpSpPr>
          <a:xfrm>
            <a:off x="8908885" y="1152390"/>
            <a:ext cx="2918019" cy="4647810"/>
            <a:chOff x="6569061" y="1623965"/>
            <a:chExt cx="2189084" cy="4647810"/>
          </a:xfrm>
        </p:grpSpPr>
        <p:sp>
          <p:nvSpPr>
            <p:cNvPr id="105" name="Rectangle 104">
              <a:extLst>
                <a:ext uri="{FF2B5EF4-FFF2-40B4-BE49-F238E27FC236}">
                  <a16:creationId xmlns:a16="http://schemas.microsoft.com/office/drawing/2014/main" id="{19DAE3EF-47C4-40B2-A274-6E6942AD38EF}"/>
                </a:ext>
              </a:extLst>
            </p:cNvPr>
            <p:cNvSpPr/>
            <p:nvPr/>
          </p:nvSpPr>
          <p:spPr>
            <a:xfrm>
              <a:off x="6684276" y="2161635"/>
              <a:ext cx="1958654" cy="3456450"/>
            </a:xfrm>
            <a:prstGeom prst="rect">
              <a:avLst/>
            </a:prstGeom>
            <a:gradFill flip="none" rotWithShape="1">
              <a:gsLst>
                <a:gs pos="0">
                  <a:srgbClr val="663300">
                    <a:tint val="66000"/>
                    <a:satMod val="160000"/>
                  </a:srgbClr>
                </a:gs>
                <a:gs pos="50000">
                  <a:srgbClr val="663300">
                    <a:tint val="44500"/>
                    <a:satMod val="160000"/>
                  </a:srgbClr>
                </a:gs>
                <a:gs pos="100000">
                  <a:srgbClr val="663300">
                    <a:tint val="23500"/>
                    <a:satMod val="160000"/>
                  </a:srgbClr>
                </a:gs>
              </a:gsLst>
              <a:lin ang="10800000" scaled="1"/>
              <a:tileRect/>
            </a:gradFill>
            <a:ln w="9525" cap="flat" cmpd="sng" algn="ctr">
              <a:solidFill>
                <a:srgbClr val="000000"/>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106" name="TextBox 105">
              <a:extLst>
                <a:ext uri="{FF2B5EF4-FFF2-40B4-BE49-F238E27FC236}">
                  <a16:creationId xmlns:a16="http://schemas.microsoft.com/office/drawing/2014/main" id="{453AE920-F95B-44F8-9CED-E31D0318DFFE}"/>
                </a:ext>
              </a:extLst>
            </p:cNvPr>
            <p:cNvSpPr txBox="1"/>
            <p:nvPr/>
          </p:nvSpPr>
          <p:spPr>
            <a:xfrm>
              <a:off x="6645871" y="1623965"/>
              <a:ext cx="1997059"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Control &amp; Datapath Behavior</a:t>
              </a:r>
            </a:p>
          </p:txBody>
        </p:sp>
        <p:sp>
          <p:nvSpPr>
            <p:cNvPr id="107" name="TextBox 106">
              <a:extLst>
                <a:ext uri="{FF2B5EF4-FFF2-40B4-BE49-F238E27FC236}">
                  <a16:creationId xmlns:a16="http://schemas.microsoft.com/office/drawing/2014/main" id="{331C6A04-3F61-4467-8BA7-7E02D7060E77}"/>
                </a:ext>
              </a:extLst>
            </p:cNvPr>
            <p:cNvSpPr txBox="1"/>
            <p:nvPr/>
          </p:nvSpPr>
          <p:spPr>
            <a:xfrm>
              <a:off x="6569061" y="5810110"/>
              <a:ext cx="2189084"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A unified control dataflow behavior is created.</a:t>
              </a:r>
            </a:p>
          </p:txBody>
        </p:sp>
        <p:sp>
          <p:nvSpPr>
            <p:cNvPr id="108" name="Rectangle 107">
              <a:extLst>
                <a:ext uri="{FF2B5EF4-FFF2-40B4-BE49-F238E27FC236}">
                  <a16:creationId xmlns:a16="http://schemas.microsoft.com/office/drawing/2014/main" id="{06475B35-035C-422B-90B5-F68A5276BDA6}"/>
                </a:ext>
              </a:extLst>
            </p:cNvPr>
            <p:cNvSpPr/>
            <p:nvPr/>
          </p:nvSpPr>
          <p:spPr>
            <a:xfrm>
              <a:off x="6914706" y="3275381"/>
              <a:ext cx="1075340" cy="1382580"/>
            </a:xfrm>
            <a:prstGeom prst="rect">
              <a:avLst/>
            </a:prstGeom>
            <a:noFill/>
            <a:ln w="19050" cap="flat" cmpd="sng" algn="ctr">
              <a:solidFill>
                <a:srgbClr val="008CA8"/>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cxnSp>
          <p:nvCxnSpPr>
            <p:cNvPr id="109" name="Straight Arrow Connector 108">
              <a:extLst>
                <a:ext uri="{FF2B5EF4-FFF2-40B4-BE49-F238E27FC236}">
                  <a16:creationId xmlns:a16="http://schemas.microsoft.com/office/drawing/2014/main" id="{E7B578B7-B3AC-491B-85B4-8A628B37101D}"/>
                </a:ext>
              </a:extLst>
            </p:cNvPr>
            <p:cNvCxnSpPr>
              <a:stCxn id="114" idx="2"/>
              <a:endCxn id="108" idx="0"/>
            </p:cNvCxnSpPr>
            <p:nvPr/>
          </p:nvCxnSpPr>
          <p:spPr>
            <a:xfrm rot="5400000">
              <a:off x="7337161" y="3160165"/>
              <a:ext cx="230431"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110" name="Straight Arrow Connector 109">
              <a:extLst>
                <a:ext uri="{FF2B5EF4-FFF2-40B4-BE49-F238E27FC236}">
                  <a16:creationId xmlns:a16="http://schemas.microsoft.com/office/drawing/2014/main" id="{41FBE13F-BAB5-45F8-9AE4-B03579DBC848}"/>
                </a:ext>
              </a:extLst>
            </p:cNvPr>
            <p:cNvCxnSpPr>
              <a:stCxn id="108" idx="2"/>
              <a:endCxn id="111" idx="0"/>
            </p:cNvCxnSpPr>
            <p:nvPr/>
          </p:nvCxnSpPr>
          <p:spPr>
            <a:xfrm rot="5400000">
              <a:off x="7241149" y="4869188"/>
              <a:ext cx="422454"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111" name="Rectangle 110">
              <a:extLst>
                <a:ext uri="{FF2B5EF4-FFF2-40B4-BE49-F238E27FC236}">
                  <a16:creationId xmlns:a16="http://schemas.microsoft.com/office/drawing/2014/main" id="{95985A67-9B96-4604-B95B-455C92ECBE4D}"/>
                </a:ext>
              </a:extLst>
            </p:cNvPr>
            <p:cNvSpPr/>
            <p:nvPr/>
          </p:nvSpPr>
          <p:spPr>
            <a:xfrm>
              <a:off x="6914705" y="5080415"/>
              <a:ext cx="1075341" cy="422455"/>
            </a:xfrm>
            <a:prstGeom prst="rect">
              <a:avLst/>
            </a:prstGeom>
            <a:noFill/>
            <a:ln w="19050" cap="flat" cmpd="sng" algn="ctr">
              <a:solidFill>
                <a:srgbClr val="008CA8"/>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cxnSp>
          <p:nvCxnSpPr>
            <p:cNvPr id="112" name="Elbow Connector 125">
              <a:extLst>
                <a:ext uri="{FF2B5EF4-FFF2-40B4-BE49-F238E27FC236}">
                  <a16:creationId xmlns:a16="http://schemas.microsoft.com/office/drawing/2014/main" id="{ED056E93-B305-4FA2-938D-D501C542BDD0}"/>
                </a:ext>
              </a:extLst>
            </p:cNvPr>
            <p:cNvCxnSpPr>
              <a:stCxn id="108" idx="2"/>
              <a:endCxn id="108" idx="3"/>
            </p:cNvCxnSpPr>
            <p:nvPr/>
          </p:nvCxnSpPr>
          <p:spPr>
            <a:xfrm rot="5400000" flipH="1" flipV="1">
              <a:off x="7375566" y="4043481"/>
              <a:ext cx="691290" cy="537670"/>
            </a:xfrm>
            <a:prstGeom prst="bentConnector4">
              <a:avLst>
                <a:gd name="adj1" fmla="val -33069"/>
                <a:gd name="adj2" fmla="val 142517"/>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113" name="TextBox 112">
              <a:extLst>
                <a:ext uri="{FF2B5EF4-FFF2-40B4-BE49-F238E27FC236}">
                  <a16:creationId xmlns:a16="http://schemas.microsoft.com/office/drawing/2014/main" id="{A7BF6582-05F4-45EE-83DD-0748776E2842}"/>
                </a:ext>
              </a:extLst>
            </p:cNvPr>
            <p:cNvSpPr txBox="1"/>
            <p:nvPr/>
          </p:nvSpPr>
          <p:spPr>
            <a:xfrm>
              <a:off x="6684275" y="2200040"/>
              <a:ext cx="1497795" cy="246221"/>
            </a:xfrm>
            <a:prstGeom prst="rect">
              <a:avLst/>
            </a:prstGeom>
            <a:noFill/>
          </p:spPr>
          <p:txBody>
            <a:bodyPr wrap="square" rtlCol="0">
              <a:spAutoFit/>
            </a:bodyPr>
            <a:lstStyle/>
            <a:p>
              <a:pPr algn="ctr" defTabSz="914400" fontAlgn="base">
                <a:spcBef>
                  <a:spcPct val="0"/>
                </a:spcBef>
                <a:spcAft>
                  <a:spcPct val="0"/>
                </a:spcAft>
                <a:defRPr/>
              </a:pPr>
              <a:r>
                <a:rPr lang="en-US" sz="1000" b="1" kern="0" dirty="0">
                  <a:solidFill>
                    <a:srgbClr val="000000"/>
                  </a:solidFill>
                </a:rPr>
                <a:t>Control Dataflow</a:t>
              </a:r>
            </a:p>
          </p:txBody>
        </p:sp>
        <p:sp>
          <p:nvSpPr>
            <p:cNvPr id="114" name="Rectangle 113">
              <a:extLst>
                <a:ext uri="{FF2B5EF4-FFF2-40B4-BE49-F238E27FC236}">
                  <a16:creationId xmlns:a16="http://schemas.microsoft.com/office/drawing/2014/main" id="{DFA94BB8-32A1-4362-A337-BB9051129DF1}"/>
                </a:ext>
              </a:extLst>
            </p:cNvPr>
            <p:cNvSpPr/>
            <p:nvPr/>
          </p:nvSpPr>
          <p:spPr>
            <a:xfrm>
              <a:off x="6914705" y="2776115"/>
              <a:ext cx="1075341" cy="268835"/>
            </a:xfrm>
            <a:prstGeom prst="rect">
              <a:avLst/>
            </a:prstGeom>
            <a:noFill/>
            <a:ln w="19050" cap="flat" cmpd="sng" algn="ctr">
              <a:solidFill>
                <a:srgbClr val="008CA8"/>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cxnSp>
          <p:nvCxnSpPr>
            <p:cNvPr id="115" name="Elbow Connector 125">
              <a:extLst>
                <a:ext uri="{FF2B5EF4-FFF2-40B4-BE49-F238E27FC236}">
                  <a16:creationId xmlns:a16="http://schemas.microsoft.com/office/drawing/2014/main" id="{05AB6951-CD77-443F-BC28-0F40DDBAFF1C}"/>
                </a:ext>
              </a:extLst>
            </p:cNvPr>
            <p:cNvCxnSpPr>
              <a:stCxn id="111" idx="3"/>
              <a:endCxn id="114" idx="3"/>
            </p:cNvCxnSpPr>
            <p:nvPr/>
          </p:nvCxnSpPr>
          <p:spPr>
            <a:xfrm flipV="1">
              <a:off x="7990046" y="2910533"/>
              <a:ext cx="1588" cy="2381110"/>
            </a:xfrm>
            <a:prstGeom prst="bentConnector3">
              <a:avLst>
                <a:gd name="adj1" fmla="val 25192073"/>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116" name="Rectangle 115">
              <a:extLst>
                <a:ext uri="{FF2B5EF4-FFF2-40B4-BE49-F238E27FC236}">
                  <a16:creationId xmlns:a16="http://schemas.microsoft.com/office/drawing/2014/main" id="{B5A96EED-D479-4BEF-B927-65C561644B71}"/>
                </a:ext>
              </a:extLst>
            </p:cNvPr>
            <p:cNvSpPr/>
            <p:nvPr/>
          </p:nvSpPr>
          <p:spPr>
            <a:xfrm>
              <a:off x="7028115" y="36594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&gt;=</a:t>
              </a:r>
            </a:p>
          </p:txBody>
        </p:sp>
        <p:sp>
          <p:nvSpPr>
            <p:cNvPr id="117" name="Rectangle 116">
              <a:extLst>
                <a:ext uri="{FF2B5EF4-FFF2-40B4-BE49-F238E27FC236}">
                  <a16:creationId xmlns:a16="http://schemas.microsoft.com/office/drawing/2014/main" id="{DC81FCA0-4F18-4635-BB0B-DD5CEFABE17F}"/>
                </a:ext>
              </a:extLst>
            </p:cNvPr>
            <p:cNvSpPr/>
            <p:nvPr/>
          </p:nvSpPr>
          <p:spPr>
            <a:xfrm>
              <a:off x="7452375" y="388986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18" name="Rectangle 117">
              <a:extLst>
                <a:ext uri="{FF2B5EF4-FFF2-40B4-BE49-F238E27FC236}">
                  <a16:creationId xmlns:a16="http://schemas.microsoft.com/office/drawing/2014/main" id="{8A0517F9-616D-4A9A-9616-12EAF2A2555C}"/>
                </a:ext>
              </a:extLst>
            </p:cNvPr>
            <p:cNvSpPr/>
            <p:nvPr/>
          </p:nvSpPr>
          <p:spPr>
            <a:xfrm>
              <a:off x="7029920" y="4158695"/>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4EFF22E8-35B8-41FD-97BC-70ADB51EE454}"/>
                </a:ext>
              </a:extLst>
            </p:cNvPr>
            <p:cNvSpPr/>
            <p:nvPr/>
          </p:nvSpPr>
          <p:spPr>
            <a:xfrm>
              <a:off x="7029920" y="388986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0" name="Rectangle 119">
              <a:extLst>
                <a:ext uri="{FF2B5EF4-FFF2-40B4-BE49-F238E27FC236}">
                  <a16:creationId xmlns:a16="http://schemas.microsoft.com/office/drawing/2014/main" id="{B01B78AE-C41B-40C7-9372-0728827FBF92}"/>
                </a:ext>
              </a:extLst>
            </p:cNvPr>
            <p:cNvSpPr/>
            <p:nvPr/>
          </p:nvSpPr>
          <p:spPr>
            <a:xfrm>
              <a:off x="7452375" y="4158695"/>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2005ED42-65CC-4F20-BA8F-9800A0A1C69B}"/>
                </a:ext>
              </a:extLst>
            </p:cNvPr>
            <p:cNvSpPr/>
            <p:nvPr/>
          </p:nvSpPr>
          <p:spPr>
            <a:xfrm>
              <a:off x="7029920" y="44275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2" name="Rectangle 121">
              <a:extLst>
                <a:ext uri="{FF2B5EF4-FFF2-40B4-BE49-F238E27FC236}">
                  <a16:creationId xmlns:a16="http://schemas.microsoft.com/office/drawing/2014/main" id="{C6A6FDD0-7976-4638-B62E-97B0DE711C5B}"/>
                </a:ext>
              </a:extLst>
            </p:cNvPr>
            <p:cNvSpPr/>
            <p:nvPr/>
          </p:nvSpPr>
          <p:spPr>
            <a:xfrm>
              <a:off x="7452375" y="44275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3" name="Rectangle 122">
              <a:extLst>
                <a:ext uri="{FF2B5EF4-FFF2-40B4-BE49-F238E27FC236}">
                  <a16:creationId xmlns:a16="http://schemas.microsoft.com/office/drawing/2014/main" id="{3993F229-9D6A-4E9A-9C6C-C5E2EE3EAB14}"/>
                </a:ext>
              </a:extLst>
            </p:cNvPr>
            <p:cNvSpPr/>
            <p:nvPr/>
          </p:nvSpPr>
          <p:spPr>
            <a:xfrm>
              <a:off x="7183540" y="5195629"/>
              <a:ext cx="460860" cy="230431"/>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800" b="1" kern="0" dirty="0" err="1">
                  <a:solidFill>
                    <a:sysClr val="windowText" lastClr="000000"/>
                  </a:solidFill>
                  <a:latin typeface="Arial"/>
                </a:rPr>
                <a:t>WRy</a:t>
              </a:r>
              <a:endParaRPr lang="en-US" sz="800" b="1" kern="0" dirty="0">
                <a:solidFill>
                  <a:sysClr val="windowText" lastClr="000000"/>
                </a:solidFill>
                <a:latin typeface="Arial"/>
              </a:endParaRPr>
            </a:p>
          </p:txBody>
        </p:sp>
        <p:sp>
          <p:nvSpPr>
            <p:cNvPr id="124" name="Rectangle 123">
              <a:extLst>
                <a:ext uri="{FF2B5EF4-FFF2-40B4-BE49-F238E27FC236}">
                  <a16:creationId xmlns:a16="http://schemas.microsoft.com/office/drawing/2014/main" id="{BE1B3233-821E-4ACC-8710-B9BA335B38F8}"/>
                </a:ext>
              </a:extLst>
            </p:cNvPr>
            <p:cNvSpPr/>
            <p:nvPr/>
          </p:nvSpPr>
          <p:spPr>
            <a:xfrm>
              <a:off x="7450570" y="36594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5" name="Rectangle 124">
              <a:extLst>
                <a:ext uri="{FF2B5EF4-FFF2-40B4-BE49-F238E27FC236}">
                  <a16:creationId xmlns:a16="http://schemas.microsoft.com/office/drawing/2014/main" id="{7B40896B-A400-49D5-8041-EF9C7A1B9B80}"/>
                </a:ext>
              </a:extLst>
            </p:cNvPr>
            <p:cNvSpPr/>
            <p:nvPr/>
          </p:nvSpPr>
          <p:spPr>
            <a:xfrm>
              <a:off x="7029920" y="342900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6" name="Rectangle 125">
              <a:extLst>
                <a:ext uri="{FF2B5EF4-FFF2-40B4-BE49-F238E27FC236}">
                  <a16:creationId xmlns:a16="http://schemas.microsoft.com/office/drawing/2014/main" id="{17B44F98-4911-47EE-9D62-AF2403483FA1}"/>
                </a:ext>
              </a:extLst>
            </p:cNvPr>
            <p:cNvSpPr/>
            <p:nvPr/>
          </p:nvSpPr>
          <p:spPr>
            <a:xfrm>
              <a:off x="7452375" y="342900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left)">
                                      <p:cBhvr>
                                        <p:cTn id="7" dur="500"/>
                                        <p:tgtEl>
                                          <p:spTgt spid="8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9"/>
                                        </p:tgtEl>
                                        <p:attrNameLst>
                                          <p:attrName>style.visibility</p:attrName>
                                        </p:attrNameLst>
                                      </p:cBhvr>
                                      <p:to>
                                        <p:strVal val="visible"/>
                                      </p:to>
                                    </p:set>
                                    <p:animEffect transition="in" filter="wipe(left)">
                                      <p:cBhvr>
                                        <p:cTn id="12" dur="500"/>
                                        <p:tgtEl>
                                          <p:spTgt spid="6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04"/>
                                        </p:tgtEl>
                                        <p:attrNameLst>
                                          <p:attrName>style.visibility</p:attrName>
                                        </p:attrNameLst>
                                      </p:cBhvr>
                                      <p:to>
                                        <p:strVal val="visible"/>
                                      </p:to>
                                    </p:set>
                                    <p:animEffect transition="in" filter="wipe(left)">
                                      <p:cBhvr>
                                        <p:cTn id="17"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High-Level Synthesis: Scheduling &amp; Binding</a:t>
            </a:r>
          </a:p>
        </p:txBody>
      </p:sp>
      <p:sp>
        <p:nvSpPr>
          <p:cNvPr id="3" name="Content Placeholder 2"/>
          <p:cNvSpPr>
            <a:spLocks noGrp="1"/>
          </p:cNvSpPr>
          <p:nvPr>
            <p:ph idx="1"/>
          </p:nvPr>
        </p:nvSpPr>
        <p:spPr>
          <a:xfrm>
            <a:off x="579119" y="1014686"/>
            <a:ext cx="11033760" cy="4632960"/>
          </a:xfrm>
        </p:spPr>
        <p:txBody>
          <a:bodyPr/>
          <a:lstStyle/>
          <a:p>
            <a:r>
              <a:rPr lang="en-US" dirty="0"/>
              <a:t>Scheduling &amp; Binding</a:t>
            </a:r>
          </a:p>
          <a:p>
            <a:pPr lvl="1"/>
            <a:r>
              <a:rPr lang="en-US" dirty="0"/>
              <a:t>Scheduling and Binding are at the heart of HLS</a:t>
            </a:r>
          </a:p>
          <a:p>
            <a:r>
              <a:rPr lang="en-US" dirty="0"/>
              <a:t>Scheduling determines in which clock cycle an operation will occur</a:t>
            </a:r>
          </a:p>
          <a:p>
            <a:pPr lvl="1"/>
            <a:r>
              <a:rPr lang="en-US" dirty="0"/>
              <a:t>Takes into account the control, dataflow and user directives</a:t>
            </a:r>
          </a:p>
          <a:p>
            <a:pPr lvl="1"/>
            <a:r>
              <a:rPr lang="en-US" dirty="0"/>
              <a:t>The allocation of resources can be constrained</a:t>
            </a:r>
          </a:p>
          <a:p>
            <a:r>
              <a:rPr lang="en-US" dirty="0"/>
              <a:t>Binding determines which library cell is used for each operation</a:t>
            </a:r>
          </a:p>
          <a:p>
            <a:pPr lvl="1"/>
            <a:r>
              <a:rPr lang="en-US" dirty="0"/>
              <a:t>Takes into account component delays, user directives </a:t>
            </a:r>
          </a:p>
        </p:txBody>
      </p:sp>
      <p:sp>
        <p:nvSpPr>
          <p:cNvPr id="5" name="Slide Number Placeholder 4">
            <a:extLst>
              <a:ext uri="{FF2B5EF4-FFF2-40B4-BE49-F238E27FC236}">
                <a16:creationId xmlns:a16="http://schemas.microsoft.com/office/drawing/2014/main" id="{61387CFA-8440-4532-8E74-33735192D828}"/>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10</a:t>
            </a:fld>
            <a:endParaRPr lang="en-US" dirty="0"/>
          </a:p>
        </p:txBody>
      </p:sp>
      <p:sp>
        <p:nvSpPr>
          <p:cNvPr id="19" name="Rounded Rectangle 5">
            <a:extLst>
              <a:ext uri="{FF2B5EF4-FFF2-40B4-BE49-F238E27FC236}">
                <a16:creationId xmlns:a16="http://schemas.microsoft.com/office/drawing/2014/main" id="{4F583F48-4B80-40DC-9B8F-0972263BD6D1}"/>
              </a:ext>
            </a:extLst>
          </p:cNvPr>
          <p:cNvSpPr/>
          <p:nvPr/>
        </p:nvSpPr>
        <p:spPr bwMode="auto">
          <a:xfrm>
            <a:off x="1283829" y="4291767"/>
            <a:ext cx="1999206" cy="511770"/>
          </a:xfrm>
          <a:prstGeom prst="round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400" b="1" kern="0" dirty="0">
                <a:solidFill>
                  <a:prstClr val="black"/>
                </a:solidFill>
                <a:latin typeface="Arial"/>
              </a:rPr>
              <a:t>Design Source</a:t>
            </a:r>
          </a:p>
          <a:p>
            <a:pPr algn="ctr" defTabSz="914400" fontAlgn="base">
              <a:spcBef>
                <a:spcPct val="0"/>
              </a:spcBef>
              <a:spcAft>
                <a:spcPct val="0"/>
              </a:spcAft>
              <a:defRPr/>
            </a:pPr>
            <a:r>
              <a:rPr lang="en-US" sz="1000" b="1" kern="0" dirty="0">
                <a:solidFill>
                  <a:prstClr val="white"/>
                </a:solidFill>
                <a:latin typeface="Arial"/>
              </a:rPr>
              <a:t>(C, C++)</a:t>
            </a:r>
          </a:p>
        </p:txBody>
      </p:sp>
      <p:sp>
        <p:nvSpPr>
          <p:cNvPr id="20" name="Round Diagonal Corner Rectangle 6">
            <a:extLst>
              <a:ext uri="{FF2B5EF4-FFF2-40B4-BE49-F238E27FC236}">
                <a16:creationId xmlns:a16="http://schemas.microsoft.com/office/drawing/2014/main" id="{06AC05DF-7130-49F6-B110-672DB14EC3FC}"/>
              </a:ext>
            </a:extLst>
          </p:cNvPr>
          <p:cNvSpPr/>
          <p:nvPr/>
        </p:nvSpPr>
        <p:spPr bwMode="auto">
          <a:xfrm>
            <a:off x="3386486" y="5020686"/>
            <a:ext cx="1825362" cy="511770"/>
          </a:xfrm>
          <a:prstGeom prst="round2DiagRect">
            <a:avLst>
              <a:gd name="adj1" fmla="val 39000"/>
              <a:gd name="adj2" fmla="val 0"/>
            </a:avLst>
          </a:prstGeom>
          <a:solidFill>
            <a:srgbClr val="EE3424">
              <a:lumMod val="40000"/>
              <a:lumOff val="60000"/>
            </a:srgbClr>
          </a:soli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400" b="1" kern="0" dirty="0">
                <a:solidFill>
                  <a:prstClr val="black"/>
                </a:solidFill>
                <a:latin typeface="Arial"/>
              </a:rPr>
              <a:t>Scheduling</a:t>
            </a:r>
          </a:p>
        </p:txBody>
      </p:sp>
      <p:sp>
        <p:nvSpPr>
          <p:cNvPr id="21" name="Round Diagonal Corner Rectangle 7">
            <a:extLst>
              <a:ext uri="{FF2B5EF4-FFF2-40B4-BE49-F238E27FC236}">
                <a16:creationId xmlns:a16="http://schemas.microsoft.com/office/drawing/2014/main" id="{64B55031-E5A0-458F-81CE-1D998F1B7F00}"/>
              </a:ext>
            </a:extLst>
          </p:cNvPr>
          <p:cNvSpPr/>
          <p:nvPr/>
        </p:nvSpPr>
        <p:spPr bwMode="auto">
          <a:xfrm>
            <a:off x="7124133" y="5020686"/>
            <a:ext cx="1825362" cy="511770"/>
          </a:xfrm>
          <a:prstGeom prst="round2DiagRect">
            <a:avLst>
              <a:gd name="adj1" fmla="val 39000"/>
              <a:gd name="adj2" fmla="val 0"/>
            </a:avLst>
          </a:prstGeom>
          <a:solidFill>
            <a:srgbClr val="EE3424">
              <a:lumMod val="40000"/>
              <a:lumOff val="60000"/>
            </a:srgbClr>
          </a:soli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400" b="1" kern="0" dirty="0">
                <a:solidFill>
                  <a:prstClr val="black"/>
                </a:solidFill>
                <a:latin typeface="Arial"/>
              </a:rPr>
              <a:t>Binding</a:t>
            </a:r>
          </a:p>
        </p:txBody>
      </p:sp>
      <p:sp>
        <p:nvSpPr>
          <p:cNvPr id="22" name="Rounded Rectangle 8">
            <a:extLst>
              <a:ext uri="{FF2B5EF4-FFF2-40B4-BE49-F238E27FC236}">
                <a16:creationId xmlns:a16="http://schemas.microsoft.com/office/drawing/2014/main" id="{B7F1E589-9BD3-4724-9255-D8B37A126C88}"/>
              </a:ext>
            </a:extLst>
          </p:cNvPr>
          <p:cNvSpPr/>
          <p:nvPr/>
        </p:nvSpPr>
        <p:spPr bwMode="auto">
          <a:xfrm>
            <a:off x="9062548" y="5777057"/>
            <a:ext cx="1999206" cy="511770"/>
          </a:xfrm>
          <a:prstGeom prst="roundRect">
            <a:avLst/>
          </a:prstGeom>
          <a:solidFill>
            <a:srgbClr val="EE3424">
              <a:lumMod val="40000"/>
              <a:lumOff val="60000"/>
            </a:srgbClr>
          </a:soli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200" kern="0" dirty="0">
                <a:solidFill>
                  <a:srgbClr val="000000"/>
                </a:solidFill>
                <a:latin typeface="Arial"/>
              </a:rPr>
              <a:t>RTL</a:t>
            </a:r>
          </a:p>
          <a:p>
            <a:pPr algn="ctr" defTabSz="457200" fontAlgn="base">
              <a:spcBef>
                <a:spcPct val="0"/>
              </a:spcBef>
              <a:spcAft>
                <a:spcPct val="0"/>
              </a:spcAft>
              <a:defRPr/>
            </a:pPr>
            <a:r>
              <a:rPr lang="en-US" sz="900" b="1" kern="0" dirty="0">
                <a:solidFill>
                  <a:srgbClr val="000000"/>
                </a:solidFill>
                <a:latin typeface="Arial"/>
              </a:rPr>
              <a:t>(Verilog, VHDL)</a:t>
            </a:r>
          </a:p>
        </p:txBody>
      </p:sp>
      <p:sp>
        <p:nvSpPr>
          <p:cNvPr id="23" name="Bent Arrow 9">
            <a:extLst>
              <a:ext uri="{FF2B5EF4-FFF2-40B4-BE49-F238E27FC236}">
                <a16:creationId xmlns:a16="http://schemas.microsoft.com/office/drawing/2014/main" id="{136AD178-D0A9-41B9-B19F-43A109D9ACB4}"/>
              </a:ext>
            </a:extLst>
          </p:cNvPr>
          <p:cNvSpPr/>
          <p:nvPr/>
        </p:nvSpPr>
        <p:spPr bwMode="auto">
          <a:xfrm flipV="1">
            <a:off x="2517266" y="4868021"/>
            <a:ext cx="782298" cy="600645"/>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4" name="Bent Arrow 10">
            <a:extLst>
              <a:ext uri="{FF2B5EF4-FFF2-40B4-BE49-F238E27FC236}">
                <a16:creationId xmlns:a16="http://schemas.microsoft.com/office/drawing/2014/main" id="{3638D20D-096F-431D-862C-0EBA8B9070F6}"/>
              </a:ext>
            </a:extLst>
          </p:cNvPr>
          <p:cNvSpPr/>
          <p:nvPr/>
        </p:nvSpPr>
        <p:spPr bwMode="auto">
          <a:xfrm rot="16200000" flipH="1" flipV="1">
            <a:off x="9178422" y="5006927"/>
            <a:ext cx="564123" cy="847887"/>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5" name="Rounded Rectangle 11">
            <a:extLst>
              <a:ext uri="{FF2B5EF4-FFF2-40B4-BE49-F238E27FC236}">
                <a16:creationId xmlns:a16="http://schemas.microsoft.com/office/drawing/2014/main" id="{D861A51C-7E12-4CC8-AD5B-FE4900E8956F}"/>
              </a:ext>
            </a:extLst>
          </p:cNvPr>
          <p:cNvSpPr/>
          <p:nvPr/>
        </p:nvSpPr>
        <p:spPr bwMode="auto">
          <a:xfrm>
            <a:off x="5559538" y="4253030"/>
            <a:ext cx="1303830" cy="51177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050" b="1" kern="0" dirty="0">
                <a:solidFill>
                  <a:prstClr val="black"/>
                </a:solidFill>
                <a:latin typeface="Arial"/>
              </a:rPr>
              <a:t>Technology </a:t>
            </a:r>
          </a:p>
          <a:p>
            <a:pPr algn="ctr" defTabSz="914400" fontAlgn="base">
              <a:spcBef>
                <a:spcPct val="0"/>
              </a:spcBef>
              <a:spcAft>
                <a:spcPct val="0"/>
              </a:spcAft>
              <a:defRPr/>
            </a:pPr>
            <a:r>
              <a:rPr lang="en-US" sz="1050" b="1" kern="0" dirty="0">
                <a:solidFill>
                  <a:prstClr val="black"/>
                </a:solidFill>
                <a:latin typeface="Arial"/>
              </a:rPr>
              <a:t>Library</a:t>
            </a:r>
          </a:p>
        </p:txBody>
      </p:sp>
      <p:sp>
        <p:nvSpPr>
          <p:cNvPr id="26" name="Rounded Rectangle 12">
            <a:extLst>
              <a:ext uri="{FF2B5EF4-FFF2-40B4-BE49-F238E27FC236}">
                <a16:creationId xmlns:a16="http://schemas.microsoft.com/office/drawing/2014/main" id="{DB3A6BE2-4D4E-4DFE-A9C2-03B0B84386DD}"/>
              </a:ext>
            </a:extLst>
          </p:cNvPr>
          <p:cNvSpPr/>
          <p:nvPr/>
        </p:nvSpPr>
        <p:spPr bwMode="auto">
          <a:xfrm>
            <a:off x="5559538" y="5852315"/>
            <a:ext cx="1303830" cy="51177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050" b="1" kern="0" dirty="0">
                <a:solidFill>
                  <a:prstClr val="black"/>
                </a:solidFill>
                <a:latin typeface="Arial"/>
              </a:rPr>
              <a:t>User </a:t>
            </a:r>
          </a:p>
          <a:p>
            <a:pPr algn="ctr" defTabSz="914400" fontAlgn="base">
              <a:spcBef>
                <a:spcPct val="0"/>
              </a:spcBef>
              <a:spcAft>
                <a:spcPct val="0"/>
              </a:spcAft>
              <a:defRPr/>
            </a:pPr>
            <a:r>
              <a:rPr lang="en-US" sz="1050" b="1" kern="0" dirty="0">
                <a:solidFill>
                  <a:prstClr val="black"/>
                </a:solidFill>
                <a:latin typeface="Arial"/>
              </a:rPr>
              <a:t>Directives</a:t>
            </a:r>
          </a:p>
        </p:txBody>
      </p:sp>
      <p:sp>
        <p:nvSpPr>
          <p:cNvPr id="27" name="Bent Arrow 13">
            <a:extLst>
              <a:ext uri="{FF2B5EF4-FFF2-40B4-BE49-F238E27FC236}">
                <a16:creationId xmlns:a16="http://schemas.microsoft.com/office/drawing/2014/main" id="{1EFEE590-D936-4FF9-9F7C-7D973A2E430C}"/>
              </a:ext>
            </a:extLst>
          </p:cNvPr>
          <p:cNvSpPr/>
          <p:nvPr/>
        </p:nvSpPr>
        <p:spPr bwMode="auto">
          <a:xfrm rot="16200000" flipH="1" flipV="1">
            <a:off x="7097149" y="4234325"/>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8" name="Bent Arrow 14">
            <a:extLst>
              <a:ext uri="{FF2B5EF4-FFF2-40B4-BE49-F238E27FC236}">
                <a16:creationId xmlns:a16="http://schemas.microsoft.com/office/drawing/2014/main" id="{636459BD-538A-4D0E-9395-80DE3DE394E8}"/>
              </a:ext>
            </a:extLst>
          </p:cNvPr>
          <p:cNvSpPr/>
          <p:nvPr/>
        </p:nvSpPr>
        <p:spPr bwMode="auto">
          <a:xfrm rot="5400000" flipV="1">
            <a:off x="4750255" y="4234327"/>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9" name="Bent Arrow 15">
            <a:extLst>
              <a:ext uri="{FF2B5EF4-FFF2-40B4-BE49-F238E27FC236}">
                <a16:creationId xmlns:a16="http://schemas.microsoft.com/office/drawing/2014/main" id="{5E0DDBA6-8B93-43ED-90EA-709E7895AE6E}"/>
              </a:ext>
            </a:extLst>
          </p:cNvPr>
          <p:cNvSpPr/>
          <p:nvPr/>
        </p:nvSpPr>
        <p:spPr bwMode="auto">
          <a:xfrm rot="5400000" flipH="1">
            <a:off x="7097150" y="5385811"/>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30" name="Bent Arrow 16">
            <a:extLst>
              <a:ext uri="{FF2B5EF4-FFF2-40B4-BE49-F238E27FC236}">
                <a16:creationId xmlns:a16="http://schemas.microsoft.com/office/drawing/2014/main" id="{EB92D312-CF20-41CF-8E29-B55C774195F5}"/>
              </a:ext>
            </a:extLst>
          </p:cNvPr>
          <p:cNvSpPr/>
          <p:nvPr/>
        </p:nvSpPr>
        <p:spPr bwMode="auto">
          <a:xfrm rot="16200000">
            <a:off x="4750256" y="5385813"/>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31" name="Right Arrow 17">
            <a:extLst>
              <a:ext uri="{FF2B5EF4-FFF2-40B4-BE49-F238E27FC236}">
                <a16:creationId xmlns:a16="http://schemas.microsoft.com/office/drawing/2014/main" id="{77091AFA-90D7-4631-9C98-CF9833D78049}"/>
              </a:ext>
            </a:extLst>
          </p:cNvPr>
          <p:cNvSpPr/>
          <p:nvPr/>
        </p:nvSpPr>
        <p:spPr bwMode="auto">
          <a:xfrm>
            <a:off x="5385695" y="5020869"/>
            <a:ext cx="1564598" cy="383829"/>
          </a:xfrm>
          <a:prstGeom prst="righ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 kern="0">
              <a:solidFill>
                <a:prstClr val="black"/>
              </a:solidFill>
              <a:ea typeface="ＭＳ Ｐゴシック" pitchFamily="34" charset="-128"/>
              <a:cs typeface="Arial"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Scheduling</a:t>
            </a:r>
          </a:p>
        </p:txBody>
      </p:sp>
      <p:sp>
        <p:nvSpPr>
          <p:cNvPr id="3" name="Content Placeholder 2"/>
          <p:cNvSpPr>
            <a:spLocks noGrp="1"/>
          </p:cNvSpPr>
          <p:nvPr>
            <p:ph idx="1"/>
          </p:nvPr>
        </p:nvSpPr>
        <p:spPr/>
        <p:txBody>
          <a:bodyPr>
            <a:normAutofit fontScale="77500" lnSpcReduction="20000"/>
          </a:bodyPr>
          <a:lstStyle/>
          <a:p>
            <a:r>
              <a:rPr lang="en-US" sz="2200" dirty="0"/>
              <a:t>The operations in the control flow graph are mapped into clock cycles</a:t>
            </a:r>
          </a:p>
          <a:p>
            <a:pPr lvl="1"/>
            <a:endParaRPr lang="en-US" dirty="0"/>
          </a:p>
          <a:p>
            <a:pPr lvl="1"/>
            <a:endParaRPr lang="en-US" sz="1900" dirty="0"/>
          </a:p>
          <a:p>
            <a:pPr lvl="1"/>
            <a:endParaRPr lang="en-US" sz="1900" dirty="0"/>
          </a:p>
          <a:p>
            <a:pPr lvl="1"/>
            <a:endParaRPr lang="en-US" sz="1900" dirty="0"/>
          </a:p>
          <a:p>
            <a:pPr lvl="1"/>
            <a:endParaRPr lang="en-US" sz="1900" dirty="0"/>
          </a:p>
          <a:p>
            <a:pPr lvl="1"/>
            <a:endParaRPr lang="en-US" sz="1900" dirty="0"/>
          </a:p>
          <a:p>
            <a:pPr>
              <a:buNone/>
            </a:pPr>
            <a:br>
              <a:rPr lang="en-US" sz="1900" dirty="0"/>
            </a:br>
            <a:endParaRPr lang="en-US" sz="1900" dirty="0"/>
          </a:p>
          <a:p>
            <a:r>
              <a:rPr lang="en-US" sz="2200" dirty="0"/>
              <a:t>The technology and user constraints impact the schedule</a:t>
            </a:r>
          </a:p>
          <a:p>
            <a:pPr lvl="1"/>
            <a:r>
              <a:rPr lang="en-US" sz="1900" dirty="0"/>
              <a:t>A faster technology (or slower clock) may allow more operations to occur in the same clock cycle </a:t>
            </a:r>
          </a:p>
          <a:p>
            <a:pPr lvl="1"/>
            <a:endParaRPr lang="en-US" sz="1900" dirty="0"/>
          </a:p>
          <a:p>
            <a:pPr lvl="1"/>
            <a:endParaRPr lang="en-US" dirty="0"/>
          </a:p>
          <a:p>
            <a:pPr lvl="1"/>
            <a:endParaRPr lang="en-US" dirty="0"/>
          </a:p>
          <a:p>
            <a:r>
              <a:rPr lang="en-US" sz="2200" dirty="0"/>
              <a:t>The code also impacts the schedule</a:t>
            </a:r>
          </a:p>
          <a:p>
            <a:pPr lvl="1"/>
            <a:r>
              <a:rPr lang="en-US" sz="1900" dirty="0"/>
              <a:t>Code implications and data dependencies must be obeyed</a:t>
            </a:r>
            <a:endParaRPr lang="en-US" sz="1700" dirty="0"/>
          </a:p>
        </p:txBody>
      </p:sp>
      <p:sp>
        <p:nvSpPr>
          <p:cNvPr id="5" name="Slide Number Placeholder 4">
            <a:extLst>
              <a:ext uri="{FF2B5EF4-FFF2-40B4-BE49-F238E27FC236}">
                <a16:creationId xmlns:a16="http://schemas.microsoft.com/office/drawing/2014/main" id="{B373D903-3560-439F-BA74-34821272E1D9}"/>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11</a:t>
            </a:fld>
            <a:endParaRPr lang="en-US" dirty="0"/>
          </a:p>
        </p:txBody>
      </p:sp>
      <p:sp>
        <p:nvSpPr>
          <p:cNvPr id="67" name="TextBox 66">
            <a:extLst>
              <a:ext uri="{FF2B5EF4-FFF2-40B4-BE49-F238E27FC236}">
                <a16:creationId xmlns:a16="http://schemas.microsoft.com/office/drawing/2014/main" id="{2BFC8364-0762-429A-B5F4-AD799B572957}"/>
              </a:ext>
            </a:extLst>
          </p:cNvPr>
          <p:cNvSpPr txBox="1"/>
          <p:nvPr/>
        </p:nvSpPr>
        <p:spPr>
          <a:xfrm>
            <a:off x="2410081" y="1655854"/>
            <a:ext cx="1689380" cy="138499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black"/>
                </a:solidFill>
                <a:latin typeface="Arial"/>
              </a:rPr>
              <a:t>void </a:t>
            </a:r>
            <a:r>
              <a:rPr lang="en-US" sz="1200" kern="0" dirty="0" err="1">
                <a:solidFill>
                  <a:prstClr val="black"/>
                </a:solidFill>
                <a:latin typeface="Arial"/>
              </a:rPr>
              <a:t>foo</a:t>
            </a:r>
            <a:r>
              <a:rPr lang="en-US" sz="1200" kern="0" dirty="0">
                <a:solidFill>
                  <a:prstClr val="black"/>
                </a:solidFill>
                <a:latin typeface="Arial"/>
              </a:rPr>
              <a:t> (</a:t>
            </a:r>
          </a:p>
          <a:p>
            <a:pPr defTabSz="457200" fontAlgn="base">
              <a:spcBef>
                <a:spcPct val="0"/>
              </a:spcBef>
              <a:spcAft>
                <a:spcPct val="0"/>
              </a:spcAft>
              <a:defRPr/>
            </a:pPr>
            <a:r>
              <a:rPr lang="en-US" sz="1200" kern="0" dirty="0">
                <a:solidFill>
                  <a:prstClr val="black"/>
                </a:solidFill>
                <a:latin typeface="Arial"/>
              </a:rPr>
              <a:t> …</a:t>
            </a:r>
          </a:p>
          <a:p>
            <a:pPr defTabSz="457200" fontAlgn="base">
              <a:spcBef>
                <a:spcPct val="0"/>
              </a:spcBef>
              <a:spcAft>
                <a:spcPct val="0"/>
              </a:spcAft>
              <a:defRPr/>
            </a:pPr>
            <a:r>
              <a:rPr lang="en-US" sz="1200" kern="0" dirty="0">
                <a:solidFill>
                  <a:prstClr val="black"/>
                </a:solidFill>
                <a:latin typeface="Arial"/>
              </a:rPr>
              <a:t>  t1 = a * b;</a:t>
            </a:r>
          </a:p>
          <a:p>
            <a:pPr defTabSz="457200" fontAlgn="base">
              <a:spcBef>
                <a:spcPct val="0"/>
              </a:spcBef>
              <a:spcAft>
                <a:spcPct val="0"/>
              </a:spcAft>
              <a:defRPr/>
            </a:pPr>
            <a:r>
              <a:rPr lang="en-US" sz="1200" kern="0" dirty="0">
                <a:solidFill>
                  <a:prstClr val="black"/>
                </a:solidFill>
                <a:latin typeface="Arial"/>
              </a:rPr>
              <a:t>  t2 = c + t1;</a:t>
            </a:r>
          </a:p>
          <a:p>
            <a:pPr defTabSz="457200" fontAlgn="base">
              <a:spcBef>
                <a:spcPct val="0"/>
              </a:spcBef>
              <a:spcAft>
                <a:spcPct val="0"/>
              </a:spcAft>
              <a:defRPr/>
            </a:pPr>
            <a:r>
              <a:rPr lang="en-US" sz="1200" kern="0" dirty="0">
                <a:solidFill>
                  <a:prstClr val="black"/>
                </a:solidFill>
                <a:latin typeface="Arial"/>
              </a:rPr>
              <a:t>  t3 = d * t2;</a:t>
            </a:r>
          </a:p>
          <a:p>
            <a:pPr defTabSz="457200" fontAlgn="base">
              <a:spcBef>
                <a:spcPct val="0"/>
              </a:spcBef>
              <a:spcAft>
                <a:spcPct val="0"/>
              </a:spcAft>
              <a:defRPr/>
            </a:pPr>
            <a:r>
              <a:rPr lang="en-US" sz="1200" kern="0" dirty="0">
                <a:solidFill>
                  <a:prstClr val="black"/>
                </a:solidFill>
                <a:latin typeface="Arial"/>
              </a:rPr>
              <a:t>  out = t3 – e; </a:t>
            </a:r>
          </a:p>
          <a:p>
            <a:pPr defTabSz="457200" fontAlgn="base">
              <a:spcBef>
                <a:spcPct val="0"/>
              </a:spcBef>
              <a:spcAft>
                <a:spcPct val="0"/>
              </a:spcAft>
              <a:defRPr/>
            </a:pPr>
            <a:r>
              <a:rPr lang="en-US" sz="1200" kern="0" dirty="0">
                <a:solidFill>
                  <a:prstClr val="black"/>
                </a:solidFill>
                <a:latin typeface="Arial"/>
              </a:rPr>
              <a:t>}</a:t>
            </a:r>
          </a:p>
        </p:txBody>
      </p:sp>
      <p:sp>
        <p:nvSpPr>
          <p:cNvPr id="68" name="Rectangle 67">
            <a:extLst>
              <a:ext uri="{FF2B5EF4-FFF2-40B4-BE49-F238E27FC236}">
                <a16:creationId xmlns:a16="http://schemas.microsoft.com/office/drawing/2014/main" id="{020B7E1B-672F-4119-8B84-5837E6053BAC}"/>
              </a:ext>
            </a:extLst>
          </p:cNvPr>
          <p:cNvSpPr/>
          <p:nvPr/>
        </p:nvSpPr>
        <p:spPr>
          <a:xfrm>
            <a:off x="6861618" y="211671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69" name="Rectangle 68">
            <a:extLst>
              <a:ext uri="{FF2B5EF4-FFF2-40B4-BE49-F238E27FC236}">
                <a16:creationId xmlns:a16="http://schemas.microsoft.com/office/drawing/2014/main" id="{CBBD27CE-3015-468F-87A9-FD347166BC19}"/>
              </a:ext>
            </a:extLst>
          </p:cNvPr>
          <p:cNvSpPr/>
          <p:nvPr/>
        </p:nvSpPr>
        <p:spPr>
          <a:xfrm>
            <a:off x="6044930" y="1847702"/>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cxnSp>
        <p:nvCxnSpPr>
          <p:cNvPr id="70" name="Straight Arrow Connector 69">
            <a:extLst>
              <a:ext uri="{FF2B5EF4-FFF2-40B4-BE49-F238E27FC236}">
                <a16:creationId xmlns:a16="http://schemas.microsoft.com/office/drawing/2014/main" id="{F4DC8AAF-EB35-4838-B06D-0DCF8BEC61C8}"/>
              </a:ext>
            </a:extLst>
          </p:cNvPr>
          <p:cNvCxnSpPr>
            <a:stCxn id="72" idx="3"/>
          </p:cNvCxnSpPr>
          <p:nvPr/>
        </p:nvCxnSpPr>
        <p:spPr>
          <a:xfrm>
            <a:off x="5641007" y="1801933"/>
            <a:ext cx="403802" cy="8575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1" name="Straight Arrow Connector 70">
            <a:extLst>
              <a:ext uri="{FF2B5EF4-FFF2-40B4-BE49-F238E27FC236}">
                <a16:creationId xmlns:a16="http://schemas.microsoft.com/office/drawing/2014/main" id="{DE76D08A-3435-4EC4-85C8-0B0A54FBF452}"/>
              </a:ext>
            </a:extLst>
          </p:cNvPr>
          <p:cNvCxnSpPr>
            <a:stCxn id="73" idx="3"/>
          </p:cNvCxnSpPr>
          <p:nvPr/>
        </p:nvCxnSpPr>
        <p:spPr>
          <a:xfrm flipV="1">
            <a:off x="5641007" y="2002911"/>
            <a:ext cx="403802" cy="44170"/>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2" name="TextBox 71">
            <a:extLst>
              <a:ext uri="{FF2B5EF4-FFF2-40B4-BE49-F238E27FC236}">
                <a16:creationId xmlns:a16="http://schemas.microsoft.com/office/drawing/2014/main" id="{4D373AB3-51D3-4C63-A11C-C9F120EF1166}"/>
              </a:ext>
            </a:extLst>
          </p:cNvPr>
          <p:cNvSpPr txBox="1"/>
          <p:nvPr/>
        </p:nvSpPr>
        <p:spPr>
          <a:xfrm>
            <a:off x="5328101" y="1617267"/>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a</a:t>
            </a:r>
          </a:p>
        </p:txBody>
      </p:sp>
      <p:sp>
        <p:nvSpPr>
          <p:cNvPr id="73" name="TextBox 72">
            <a:extLst>
              <a:ext uri="{FF2B5EF4-FFF2-40B4-BE49-F238E27FC236}">
                <a16:creationId xmlns:a16="http://schemas.microsoft.com/office/drawing/2014/main" id="{354EA80C-F2D9-484B-AFD7-1C5785C02546}"/>
              </a:ext>
            </a:extLst>
          </p:cNvPr>
          <p:cNvSpPr txBox="1"/>
          <p:nvPr/>
        </p:nvSpPr>
        <p:spPr>
          <a:xfrm>
            <a:off x="5328101" y="1862415"/>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b</a:t>
            </a:r>
          </a:p>
        </p:txBody>
      </p:sp>
      <p:cxnSp>
        <p:nvCxnSpPr>
          <p:cNvPr id="74" name="Straight Arrow Connector 73">
            <a:extLst>
              <a:ext uri="{FF2B5EF4-FFF2-40B4-BE49-F238E27FC236}">
                <a16:creationId xmlns:a16="http://schemas.microsoft.com/office/drawing/2014/main" id="{354DB989-2191-448D-8CFA-E4847DC5F75E}"/>
              </a:ext>
            </a:extLst>
          </p:cNvPr>
          <p:cNvCxnSpPr>
            <a:endCxn id="68" idx="1"/>
          </p:cNvCxnSpPr>
          <p:nvPr/>
        </p:nvCxnSpPr>
        <p:spPr>
          <a:xfrm rot="16200000" flipH="1">
            <a:off x="6583631" y="1934649"/>
            <a:ext cx="251221" cy="30475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5" name="Straight Arrow Connector 74">
            <a:extLst>
              <a:ext uri="{FF2B5EF4-FFF2-40B4-BE49-F238E27FC236}">
                <a16:creationId xmlns:a16="http://schemas.microsoft.com/office/drawing/2014/main" id="{E87B92F7-4CF8-4DA5-9BC8-B7E595029CF3}"/>
              </a:ext>
            </a:extLst>
          </p:cNvPr>
          <p:cNvCxnSpPr/>
          <p:nvPr/>
        </p:nvCxnSpPr>
        <p:spPr>
          <a:xfrm>
            <a:off x="5788843" y="2270334"/>
            <a:ext cx="1075061" cy="1"/>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6" name="TextBox 75">
            <a:extLst>
              <a:ext uri="{FF2B5EF4-FFF2-40B4-BE49-F238E27FC236}">
                <a16:creationId xmlns:a16="http://schemas.microsoft.com/office/drawing/2014/main" id="{23508340-F79A-4672-A9AF-012AE3582247}"/>
              </a:ext>
            </a:extLst>
          </p:cNvPr>
          <p:cNvSpPr txBox="1"/>
          <p:nvPr/>
        </p:nvSpPr>
        <p:spPr>
          <a:xfrm>
            <a:off x="5328101" y="2078127"/>
            <a:ext cx="300082"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c</a:t>
            </a:r>
          </a:p>
        </p:txBody>
      </p:sp>
      <p:sp>
        <p:nvSpPr>
          <p:cNvPr id="77" name="Rectangle 76">
            <a:extLst>
              <a:ext uri="{FF2B5EF4-FFF2-40B4-BE49-F238E27FC236}">
                <a16:creationId xmlns:a16="http://schemas.microsoft.com/office/drawing/2014/main" id="{77F5603C-ACDF-4EBA-B002-5A36263279EA}"/>
              </a:ext>
            </a:extLst>
          </p:cNvPr>
          <p:cNvSpPr/>
          <p:nvPr/>
        </p:nvSpPr>
        <p:spPr>
          <a:xfrm>
            <a:off x="8499804" y="265438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78" name="Rectangle 77">
            <a:extLst>
              <a:ext uri="{FF2B5EF4-FFF2-40B4-BE49-F238E27FC236}">
                <a16:creationId xmlns:a16="http://schemas.microsoft.com/office/drawing/2014/main" id="{B33A6BC9-6F9C-4D3D-8726-B109B5F72D92}"/>
              </a:ext>
            </a:extLst>
          </p:cNvPr>
          <p:cNvSpPr/>
          <p:nvPr/>
        </p:nvSpPr>
        <p:spPr>
          <a:xfrm>
            <a:off x="7683117" y="238554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cxnSp>
        <p:nvCxnSpPr>
          <p:cNvPr id="79" name="Straight Arrow Connector 78">
            <a:extLst>
              <a:ext uri="{FF2B5EF4-FFF2-40B4-BE49-F238E27FC236}">
                <a16:creationId xmlns:a16="http://schemas.microsoft.com/office/drawing/2014/main" id="{51C931B9-D234-4426-A91C-BB7126F19843}"/>
              </a:ext>
            </a:extLst>
          </p:cNvPr>
          <p:cNvCxnSpPr>
            <a:endCxn id="77" idx="1"/>
          </p:cNvCxnSpPr>
          <p:nvPr/>
        </p:nvCxnSpPr>
        <p:spPr>
          <a:xfrm rot="16200000" flipH="1">
            <a:off x="8221818" y="2472319"/>
            <a:ext cx="251221" cy="30475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0" name="Straight Arrow Connector 79">
            <a:extLst>
              <a:ext uri="{FF2B5EF4-FFF2-40B4-BE49-F238E27FC236}">
                <a16:creationId xmlns:a16="http://schemas.microsoft.com/office/drawing/2014/main" id="{7DFACF1F-8327-47FA-849E-CA3A30C546D5}"/>
              </a:ext>
            </a:extLst>
          </p:cNvPr>
          <p:cNvCxnSpPr/>
          <p:nvPr/>
        </p:nvCxnSpPr>
        <p:spPr>
          <a:xfrm rot="16200000" flipH="1">
            <a:off x="7402723" y="2184281"/>
            <a:ext cx="251221" cy="30475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1" name="Straight Arrow Connector 80">
            <a:extLst>
              <a:ext uri="{FF2B5EF4-FFF2-40B4-BE49-F238E27FC236}">
                <a16:creationId xmlns:a16="http://schemas.microsoft.com/office/drawing/2014/main" id="{A0D4A64C-B99A-412E-A3C7-C149804AADBD}"/>
              </a:ext>
            </a:extLst>
          </p:cNvPr>
          <p:cNvCxnSpPr/>
          <p:nvPr/>
        </p:nvCxnSpPr>
        <p:spPr>
          <a:xfrm>
            <a:off x="5788841" y="2500764"/>
            <a:ext cx="1894155" cy="11845"/>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2" name="TextBox 81">
            <a:extLst>
              <a:ext uri="{FF2B5EF4-FFF2-40B4-BE49-F238E27FC236}">
                <a16:creationId xmlns:a16="http://schemas.microsoft.com/office/drawing/2014/main" id="{261D40E1-E1CD-4265-A906-AC5D63F694A2}"/>
              </a:ext>
            </a:extLst>
          </p:cNvPr>
          <p:cNvSpPr txBox="1"/>
          <p:nvPr/>
        </p:nvSpPr>
        <p:spPr>
          <a:xfrm>
            <a:off x="5328101" y="2323275"/>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d</a:t>
            </a:r>
          </a:p>
        </p:txBody>
      </p:sp>
      <p:cxnSp>
        <p:nvCxnSpPr>
          <p:cNvPr id="83" name="Straight Arrow Connector 82">
            <a:extLst>
              <a:ext uri="{FF2B5EF4-FFF2-40B4-BE49-F238E27FC236}">
                <a16:creationId xmlns:a16="http://schemas.microsoft.com/office/drawing/2014/main" id="{DC7419D4-14B5-4D28-82CA-E130CBF5B97D}"/>
              </a:ext>
            </a:extLst>
          </p:cNvPr>
          <p:cNvCxnSpPr/>
          <p:nvPr/>
        </p:nvCxnSpPr>
        <p:spPr>
          <a:xfrm>
            <a:off x="5788841" y="2769599"/>
            <a:ext cx="2710842" cy="2817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4" name="TextBox 83">
            <a:extLst>
              <a:ext uri="{FF2B5EF4-FFF2-40B4-BE49-F238E27FC236}">
                <a16:creationId xmlns:a16="http://schemas.microsoft.com/office/drawing/2014/main" id="{2FA25D04-56DE-4134-BC83-0C2A10DDAC90}"/>
              </a:ext>
            </a:extLst>
          </p:cNvPr>
          <p:cNvSpPr txBox="1"/>
          <p:nvPr/>
        </p:nvSpPr>
        <p:spPr>
          <a:xfrm>
            <a:off x="5328101" y="2615797"/>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e</a:t>
            </a:r>
          </a:p>
        </p:txBody>
      </p:sp>
      <p:cxnSp>
        <p:nvCxnSpPr>
          <p:cNvPr id="85" name="Straight Arrow Connector 84">
            <a:extLst>
              <a:ext uri="{FF2B5EF4-FFF2-40B4-BE49-F238E27FC236}">
                <a16:creationId xmlns:a16="http://schemas.microsoft.com/office/drawing/2014/main" id="{CB5159F7-B490-4D66-9E7C-62B654A2EB0D}"/>
              </a:ext>
            </a:extLst>
          </p:cNvPr>
          <p:cNvCxnSpPr/>
          <p:nvPr/>
        </p:nvCxnSpPr>
        <p:spPr>
          <a:xfrm>
            <a:off x="9014021" y="2769417"/>
            <a:ext cx="40954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6" name="TextBox 85">
            <a:extLst>
              <a:ext uri="{FF2B5EF4-FFF2-40B4-BE49-F238E27FC236}">
                <a16:creationId xmlns:a16="http://schemas.microsoft.com/office/drawing/2014/main" id="{CAC6CEE0-456A-48A0-9238-C0698E0D3CD9}"/>
              </a:ext>
            </a:extLst>
          </p:cNvPr>
          <p:cNvSpPr txBox="1"/>
          <p:nvPr/>
        </p:nvSpPr>
        <p:spPr>
          <a:xfrm>
            <a:off x="9526076" y="2577392"/>
            <a:ext cx="972673" cy="369332"/>
          </a:xfrm>
          <a:prstGeom prst="rect">
            <a:avLst/>
          </a:prstGeom>
          <a:noFill/>
        </p:spPr>
        <p:txBody>
          <a:bodyPr wrap="squar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out</a:t>
            </a:r>
          </a:p>
        </p:txBody>
      </p:sp>
      <p:sp>
        <p:nvSpPr>
          <p:cNvPr id="87" name="Rectangle 86">
            <a:extLst>
              <a:ext uri="{FF2B5EF4-FFF2-40B4-BE49-F238E27FC236}">
                <a16:creationId xmlns:a16="http://schemas.microsoft.com/office/drawing/2014/main" id="{35E1AFB3-3598-469A-835A-9963E688F4E4}"/>
              </a:ext>
            </a:extLst>
          </p:cNvPr>
          <p:cNvSpPr/>
          <p:nvPr/>
        </p:nvSpPr>
        <p:spPr>
          <a:xfrm>
            <a:off x="6198388" y="3537525"/>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88" name="Group 71">
            <a:extLst>
              <a:ext uri="{FF2B5EF4-FFF2-40B4-BE49-F238E27FC236}">
                <a16:creationId xmlns:a16="http://schemas.microsoft.com/office/drawing/2014/main" id="{9299D26C-4A7F-452F-A493-B1F4D67CB606}"/>
              </a:ext>
            </a:extLst>
          </p:cNvPr>
          <p:cNvGrpSpPr/>
          <p:nvPr/>
        </p:nvGrpSpPr>
        <p:grpSpPr>
          <a:xfrm>
            <a:off x="6198388" y="3345500"/>
            <a:ext cx="563125" cy="115214"/>
            <a:chOff x="-66694" y="1130300"/>
            <a:chExt cx="533401" cy="228600"/>
          </a:xfrm>
          <a:effectLst>
            <a:outerShdw blurRad="50800" dist="38100" dir="2700000" algn="tl" rotWithShape="0">
              <a:prstClr val="black">
                <a:alpha val="40000"/>
              </a:prstClr>
            </a:outerShdw>
          </a:effectLst>
        </p:grpSpPr>
        <p:cxnSp>
          <p:nvCxnSpPr>
            <p:cNvPr id="89" name="Straight Connector 88">
              <a:extLst>
                <a:ext uri="{FF2B5EF4-FFF2-40B4-BE49-F238E27FC236}">
                  <a16:creationId xmlns:a16="http://schemas.microsoft.com/office/drawing/2014/main" id="{E9087A43-4552-4349-A9E1-62FB4D07768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0" name="Straight Connector 89">
              <a:extLst>
                <a:ext uri="{FF2B5EF4-FFF2-40B4-BE49-F238E27FC236}">
                  <a16:creationId xmlns:a16="http://schemas.microsoft.com/office/drawing/2014/main" id="{EE009374-4518-4A8F-85BF-86F46082343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1" name="Straight Connector 90">
              <a:extLst>
                <a:ext uri="{FF2B5EF4-FFF2-40B4-BE49-F238E27FC236}">
                  <a16:creationId xmlns:a16="http://schemas.microsoft.com/office/drawing/2014/main" id="{892D4813-39DE-4F7D-B4C1-B5A8BD2C84D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2" name="Straight Connector 91">
              <a:extLst>
                <a:ext uri="{FF2B5EF4-FFF2-40B4-BE49-F238E27FC236}">
                  <a16:creationId xmlns:a16="http://schemas.microsoft.com/office/drawing/2014/main" id="{4FDDDE86-5F6F-4E66-8741-C6E20EC1F96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3" name="Group 71">
            <a:extLst>
              <a:ext uri="{FF2B5EF4-FFF2-40B4-BE49-F238E27FC236}">
                <a16:creationId xmlns:a16="http://schemas.microsoft.com/office/drawing/2014/main" id="{D8BBD0DB-D629-4AB8-B2E0-0C983C782B0A}"/>
              </a:ext>
            </a:extLst>
          </p:cNvPr>
          <p:cNvGrpSpPr/>
          <p:nvPr/>
        </p:nvGrpSpPr>
        <p:grpSpPr>
          <a:xfrm>
            <a:off x="6761512" y="3345501"/>
            <a:ext cx="563125" cy="115214"/>
            <a:chOff x="-66694" y="1130300"/>
            <a:chExt cx="533401" cy="228600"/>
          </a:xfrm>
          <a:effectLst>
            <a:outerShdw blurRad="50800" dist="38100" dir="2700000" algn="tl" rotWithShape="0">
              <a:prstClr val="black">
                <a:alpha val="40000"/>
              </a:prstClr>
            </a:outerShdw>
          </a:effectLst>
        </p:grpSpPr>
        <p:cxnSp>
          <p:nvCxnSpPr>
            <p:cNvPr id="94" name="Straight Connector 93">
              <a:extLst>
                <a:ext uri="{FF2B5EF4-FFF2-40B4-BE49-F238E27FC236}">
                  <a16:creationId xmlns:a16="http://schemas.microsoft.com/office/drawing/2014/main" id="{2B9DA281-5EB0-40B0-9AFD-BFDD685963B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5" name="Straight Connector 94">
              <a:extLst>
                <a:ext uri="{FF2B5EF4-FFF2-40B4-BE49-F238E27FC236}">
                  <a16:creationId xmlns:a16="http://schemas.microsoft.com/office/drawing/2014/main" id="{0E88EB0B-B99F-46F4-9826-D1D275A514D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6" name="Straight Connector 95">
              <a:extLst>
                <a:ext uri="{FF2B5EF4-FFF2-40B4-BE49-F238E27FC236}">
                  <a16:creationId xmlns:a16="http://schemas.microsoft.com/office/drawing/2014/main" id="{07C0885B-7626-41CF-B149-39D5F175D5A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7" name="Straight Connector 96">
              <a:extLst>
                <a:ext uri="{FF2B5EF4-FFF2-40B4-BE49-F238E27FC236}">
                  <a16:creationId xmlns:a16="http://schemas.microsoft.com/office/drawing/2014/main" id="{11FD835D-FE26-40A5-A2CF-B0DA893457E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8" name="Group 71">
            <a:extLst>
              <a:ext uri="{FF2B5EF4-FFF2-40B4-BE49-F238E27FC236}">
                <a16:creationId xmlns:a16="http://schemas.microsoft.com/office/drawing/2014/main" id="{23366075-6B5A-4A88-B99A-C70CC8D31079}"/>
              </a:ext>
            </a:extLst>
          </p:cNvPr>
          <p:cNvGrpSpPr/>
          <p:nvPr/>
        </p:nvGrpSpPr>
        <p:grpSpPr>
          <a:xfrm>
            <a:off x="7324636" y="3345502"/>
            <a:ext cx="563125" cy="115214"/>
            <a:chOff x="-66694" y="1130300"/>
            <a:chExt cx="533401" cy="228600"/>
          </a:xfrm>
          <a:effectLst>
            <a:outerShdw blurRad="50800" dist="38100" dir="2700000" algn="tl" rotWithShape="0">
              <a:prstClr val="black">
                <a:alpha val="40000"/>
              </a:prstClr>
            </a:outerShdw>
          </a:effectLst>
        </p:grpSpPr>
        <p:cxnSp>
          <p:nvCxnSpPr>
            <p:cNvPr id="99" name="Straight Connector 98">
              <a:extLst>
                <a:ext uri="{FF2B5EF4-FFF2-40B4-BE49-F238E27FC236}">
                  <a16:creationId xmlns:a16="http://schemas.microsoft.com/office/drawing/2014/main" id="{5D0D61F8-CC92-488B-B06B-D5A9A940BC7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A882159F-5EF7-4528-AE0E-4FCA3D19DAA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D18D80DD-02D4-4BF3-A7E2-B2E4047707F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2" name="Straight Connector 101">
              <a:extLst>
                <a:ext uri="{FF2B5EF4-FFF2-40B4-BE49-F238E27FC236}">
                  <a16:creationId xmlns:a16="http://schemas.microsoft.com/office/drawing/2014/main" id="{ADAC2190-6E6E-4DFB-8BD5-027450AAC66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03" name="Rectangle 102">
            <a:extLst>
              <a:ext uri="{FF2B5EF4-FFF2-40B4-BE49-F238E27FC236}">
                <a16:creationId xmlns:a16="http://schemas.microsoft.com/office/drawing/2014/main" id="{9748B654-C894-4184-8C0A-EAA3592B46CB}"/>
              </a:ext>
            </a:extLst>
          </p:cNvPr>
          <p:cNvSpPr/>
          <p:nvPr/>
        </p:nvSpPr>
        <p:spPr>
          <a:xfrm>
            <a:off x="7887775" y="353752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04" name="Rectangle 103">
            <a:extLst>
              <a:ext uri="{FF2B5EF4-FFF2-40B4-BE49-F238E27FC236}">
                <a16:creationId xmlns:a16="http://schemas.microsoft.com/office/drawing/2014/main" id="{E7D8851C-B120-4FD2-8891-7C039D001133}"/>
              </a:ext>
            </a:extLst>
          </p:cNvPr>
          <p:cNvSpPr/>
          <p:nvPr/>
        </p:nvSpPr>
        <p:spPr>
          <a:xfrm>
            <a:off x="7324641" y="353752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05" name="Group 71">
            <a:extLst>
              <a:ext uri="{FF2B5EF4-FFF2-40B4-BE49-F238E27FC236}">
                <a16:creationId xmlns:a16="http://schemas.microsoft.com/office/drawing/2014/main" id="{0A569F62-EE9B-4C8E-B56A-5E6AFBDAE433}"/>
              </a:ext>
            </a:extLst>
          </p:cNvPr>
          <p:cNvGrpSpPr/>
          <p:nvPr/>
        </p:nvGrpSpPr>
        <p:grpSpPr>
          <a:xfrm>
            <a:off x="7887775" y="3345499"/>
            <a:ext cx="563125" cy="115214"/>
            <a:chOff x="-66694" y="1130300"/>
            <a:chExt cx="533401" cy="228600"/>
          </a:xfrm>
          <a:effectLst>
            <a:outerShdw blurRad="50800" dist="38100" dir="2700000" algn="tl" rotWithShape="0">
              <a:prstClr val="black">
                <a:alpha val="40000"/>
              </a:prstClr>
            </a:outerShdw>
          </a:effectLst>
        </p:grpSpPr>
        <p:cxnSp>
          <p:nvCxnSpPr>
            <p:cNvPr id="106" name="Straight Connector 105">
              <a:extLst>
                <a:ext uri="{FF2B5EF4-FFF2-40B4-BE49-F238E27FC236}">
                  <a16:creationId xmlns:a16="http://schemas.microsoft.com/office/drawing/2014/main" id="{AC32299A-F7EF-4A83-8E82-6B2C421B95D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7" name="Straight Connector 106">
              <a:extLst>
                <a:ext uri="{FF2B5EF4-FFF2-40B4-BE49-F238E27FC236}">
                  <a16:creationId xmlns:a16="http://schemas.microsoft.com/office/drawing/2014/main" id="{4DC1F77B-821E-45F7-8654-427353729A8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8" name="Straight Connector 107">
              <a:extLst>
                <a:ext uri="{FF2B5EF4-FFF2-40B4-BE49-F238E27FC236}">
                  <a16:creationId xmlns:a16="http://schemas.microsoft.com/office/drawing/2014/main" id="{18D7153B-0008-4511-963A-75B4169BBE6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9" name="Straight Connector 108">
              <a:extLst>
                <a:ext uri="{FF2B5EF4-FFF2-40B4-BE49-F238E27FC236}">
                  <a16:creationId xmlns:a16="http://schemas.microsoft.com/office/drawing/2014/main" id="{A6A559B0-65ED-4C71-ABA2-FFC3C922937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10" name="Rectangle 109">
            <a:extLst>
              <a:ext uri="{FF2B5EF4-FFF2-40B4-BE49-F238E27FC236}">
                <a16:creationId xmlns:a16="http://schemas.microsoft.com/office/drawing/2014/main" id="{76BA152B-E06D-40B9-BBC5-D5FA72A2765C}"/>
              </a:ext>
            </a:extLst>
          </p:cNvPr>
          <p:cNvSpPr/>
          <p:nvPr/>
        </p:nvSpPr>
        <p:spPr>
          <a:xfrm>
            <a:off x="6761515" y="353752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1" name="Bent Arrow 385">
            <a:extLst>
              <a:ext uri="{FF2B5EF4-FFF2-40B4-BE49-F238E27FC236}">
                <a16:creationId xmlns:a16="http://schemas.microsoft.com/office/drawing/2014/main" id="{A2FE4F99-C644-4DAA-B2E4-6B2AD038DE34}"/>
              </a:ext>
            </a:extLst>
          </p:cNvPr>
          <p:cNvSpPr/>
          <p:nvPr/>
        </p:nvSpPr>
        <p:spPr>
          <a:xfrm rot="10800000" flipH="1">
            <a:off x="3126788" y="3115069"/>
            <a:ext cx="2354893" cy="691289"/>
          </a:xfrm>
          <a:prstGeom prst="bentArrow">
            <a:avLst>
              <a:gd name="adj1" fmla="val 42170"/>
              <a:gd name="adj2" fmla="val 44078"/>
              <a:gd name="adj3" fmla="val 25000"/>
              <a:gd name="adj4" fmla="val 43750"/>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112" name="TextBox 111">
            <a:extLst>
              <a:ext uri="{FF2B5EF4-FFF2-40B4-BE49-F238E27FC236}">
                <a16:creationId xmlns:a16="http://schemas.microsoft.com/office/drawing/2014/main" id="{7C0C9EBB-655A-4DF7-8E0B-C52A6C241133}"/>
              </a:ext>
            </a:extLst>
          </p:cNvPr>
          <p:cNvSpPr txBox="1"/>
          <p:nvPr/>
        </p:nvSpPr>
        <p:spPr>
          <a:xfrm>
            <a:off x="3485141" y="3307094"/>
            <a:ext cx="1338829"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Schedule 1</a:t>
            </a:r>
          </a:p>
        </p:txBody>
      </p:sp>
      <p:sp>
        <p:nvSpPr>
          <p:cNvPr id="113" name="Right Arrow 447">
            <a:extLst>
              <a:ext uri="{FF2B5EF4-FFF2-40B4-BE49-F238E27FC236}">
                <a16:creationId xmlns:a16="http://schemas.microsoft.com/office/drawing/2014/main" id="{56B8F42A-CF4C-4A95-8269-D94A77B85DF4}"/>
              </a:ext>
            </a:extLst>
          </p:cNvPr>
          <p:cNvSpPr/>
          <p:nvPr/>
        </p:nvSpPr>
        <p:spPr>
          <a:xfrm>
            <a:off x="3126788" y="4611631"/>
            <a:ext cx="2354893" cy="614480"/>
          </a:xfrm>
          <a:prstGeom prst="rightArrow">
            <a:avLst>
              <a:gd name="adj1" fmla="val 50000"/>
              <a:gd name="adj2" fmla="val 31812"/>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114" name="Rectangle 113">
            <a:extLst>
              <a:ext uri="{FF2B5EF4-FFF2-40B4-BE49-F238E27FC236}">
                <a16:creationId xmlns:a16="http://schemas.microsoft.com/office/drawing/2014/main" id="{114086CC-0421-45FD-B2BE-9555E9BC9A5B}"/>
              </a:ext>
            </a:extLst>
          </p:cNvPr>
          <p:cNvSpPr/>
          <p:nvPr/>
        </p:nvSpPr>
        <p:spPr>
          <a:xfrm>
            <a:off x="6198387" y="4918872"/>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15" name="Group 71">
            <a:extLst>
              <a:ext uri="{FF2B5EF4-FFF2-40B4-BE49-F238E27FC236}">
                <a16:creationId xmlns:a16="http://schemas.microsoft.com/office/drawing/2014/main" id="{1450C2FA-D31B-4204-B6E7-5C993A430F4F}"/>
              </a:ext>
            </a:extLst>
          </p:cNvPr>
          <p:cNvGrpSpPr/>
          <p:nvPr/>
        </p:nvGrpSpPr>
        <p:grpSpPr>
          <a:xfrm>
            <a:off x="6198385" y="4726846"/>
            <a:ext cx="1638189" cy="115214"/>
            <a:chOff x="-66694" y="1130300"/>
            <a:chExt cx="533401" cy="228600"/>
          </a:xfrm>
          <a:effectLst>
            <a:outerShdw blurRad="50800" dist="38100" dir="2700000" algn="tl" rotWithShape="0">
              <a:prstClr val="black">
                <a:alpha val="40000"/>
              </a:prstClr>
            </a:outerShdw>
          </a:effectLst>
        </p:grpSpPr>
        <p:cxnSp>
          <p:nvCxnSpPr>
            <p:cNvPr id="116" name="Straight Connector 115">
              <a:extLst>
                <a:ext uri="{FF2B5EF4-FFF2-40B4-BE49-F238E27FC236}">
                  <a16:creationId xmlns:a16="http://schemas.microsoft.com/office/drawing/2014/main" id="{78BD71B4-EBAF-43AC-94FE-6685F2E92E7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7" name="Straight Connector 116">
              <a:extLst>
                <a:ext uri="{FF2B5EF4-FFF2-40B4-BE49-F238E27FC236}">
                  <a16:creationId xmlns:a16="http://schemas.microsoft.com/office/drawing/2014/main" id="{92D82871-0B9D-4802-A9EE-8AF843E4A5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8" name="Straight Connector 117">
              <a:extLst>
                <a:ext uri="{FF2B5EF4-FFF2-40B4-BE49-F238E27FC236}">
                  <a16:creationId xmlns:a16="http://schemas.microsoft.com/office/drawing/2014/main" id="{50187207-CF37-4D7D-B09A-35A58BD4E6E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9" name="Straight Connector 118">
              <a:extLst>
                <a:ext uri="{FF2B5EF4-FFF2-40B4-BE49-F238E27FC236}">
                  <a16:creationId xmlns:a16="http://schemas.microsoft.com/office/drawing/2014/main" id="{ED9A06D2-A79C-4573-A41A-34217823254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20" name="Rectangle 119">
            <a:extLst>
              <a:ext uri="{FF2B5EF4-FFF2-40B4-BE49-F238E27FC236}">
                <a16:creationId xmlns:a16="http://schemas.microsoft.com/office/drawing/2014/main" id="{62FA756A-5A9D-4C71-A74C-5490280411D6}"/>
              </a:ext>
            </a:extLst>
          </p:cNvPr>
          <p:cNvSpPr/>
          <p:nvPr/>
        </p:nvSpPr>
        <p:spPr>
          <a:xfrm>
            <a:off x="7885362" y="4918870"/>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E78859E1-BF9B-482A-93FA-9C7CDE736D8F}"/>
              </a:ext>
            </a:extLst>
          </p:cNvPr>
          <p:cNvSpPr/>
          <p:nvPr/>
        </p:nvSpPr>
        <p:spPr>
          <a:xfrm>
            <a:off x="7222255" y="4918871"/>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22" name="Rectangle 121">
            <a:extLst>
              <a:ext uri="{FF2B5EF4-FFF2-40B4-BE49-F238E27FC236}">
                <a16:creationId xmlns:a16="http://schemas.microsoft.com/office/drawing/2014/main" id="{A09A232A-BFAF-4C9D-AECA-989BC1DA50F5}"/>
              </a:ext>
            </a:extLst>
          </p:cNvPr>
          <p:cNvSpPr/>
          <p:nvPr/>
        </p:nvSpPr>
        <p:spPr>
          <a:xfrm>
            <a:off x="6710321" y="4918870"/>
            <a:ext cx="514339" cy="192027"/>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grpSp>
        <p:nvGrpSpPr>
          <p:cNvPr id="123" name="Group 71">
            <a:extLst>
              <a:ext uri="{FF2B5EF4-FFF2-40B4-BE49-F238E27FC236}">
                <a16:creationId xmlns:a16="http://schemas.microsoft.com/office/drawing/2014/main" id="{2EA4EE7F-B769-44D1-841B-8EDFBC62AAE1}"/>
              </a:ext>
            </a:extLst>
          </p:cNvPr>
          <p:cNvGrpSpPr/>
          <p:nvPr/>
        </p:nvGrpSpPr>
        <p:grpSpPr>
          <a:xfrm>
            <a:off x="7836575" y="4726846"/>
            <a:ext cx="1638189" cy="115214"/>
            <a:chOff x="-66694" y="1130300"/>
            <a:chExt cx="533401" cy="228600"/>
          </a:xfrm>
          <a:effectLst>
            <a:outerShdw blurRad="50800" dist="38100" dir="2700000" algn="tl" rotWithShape="0">
              <a:prstClr val="black">
                <a:alpha val="40000"/>
              </a:prstClr>
            </a:outerShdw>
          </a:effectLst>
        </p:grpSpPr>
        <p:cxnSp>
          <p:nvCxnSpPr>
            <p:cNvPr id="124" name="Straight Connector 123">
              <a:extLst>
                <a:ext uri="{FF2B5EF4-FFF2-40B4-BE49-F238E27FC236}">
                  <a16:creationId xmlns:a16="http://schemas.microsoft.com/office/drawing/2014/main" id="{6EDFA0B6-A906-43A1-95BD-7B3BBB2F286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5" name="Straight Connector 124">
              <a:extLst>
                <a:ext uri="{FF2B5EF4-FFF2-40B4-BE49-F238E27FC236}">
                  <a16:creationId xmlns:a16="http://schemas.microsoft.com/office/drawing/2014/main" id="{9A348CA6-FA57-4C5B-B1CC-09D2D4B5E03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A2EAB335-66A5-480A-85DB-22BAF52D8CF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1E586328-D6B7-447B-92FC-D335E562CE4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28" name="TextBox 127">
            <a:extLst>
              <a:ext uri="{FF2B5EF4-FFF2-40B4-BE49-F238E27FC236}">
                <a16:creationId xmlns:a16="http://schemas.microsoft.com/office/drawing/2014/main" id="{766D6CB8-8982-4306-975D-6B92CE6C5F84}"/>
              </a:ext>
            </a:extLst>
          </p:cNvPr>
          <p:cNvSpPr txBox="1"/>
          <p:nvPr/>
        </p:nvSpPr>
        <p:spPr>
          <a:xfrm>
            <a:off x="3536335" y="4726847"/>
            <a:ext cx="1338829"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Schedule 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Binding</a:t>
            </a:r>
          </a:p>
        </p:txBody>
      </p:sp>
      <p:sp>
        <p:nvSpPr>
          <p:cNvPr id="3" name="Content Placeholder 2"/>
          <p:cNvSpPr>
            <a:spLocks noGrp="1"/>
          </p:cNvSpPr>
          <p:nvPr>
            <p:ph idx="1"/>
          </p:nvPr>
        </p:nvSpPr>
        <p:spPr/>
        <p:txBody>
          <a:bodyPr>
            <a:normAutofit fontScale="55000" lnSpcReduction="20000"/>
          </a:bodyPr>
          <a:lstStyle/>
          <a:p>
            <a:r>
              <a:rPr lang="en-US" sz="3600" dirty="0"/>
              <a:t>Binding is where operations are mapped to cores from the hardware library</a:t>
            </a:r>
          </a:p>
          <a:p>
            <a:pPr lvl="1"/>
            <a:r>
              <a:rPr lang="en-US" sz="3300" dirty="0"/>
              <a:t>Operators map to cores</a:t>
            </a:r>
          </a:p>
          <a:p>
            <a:pPr lvl="1"/>
            <a:endParaRPr lang="en-US" sz="3300" dirty="0"/>
          </a:p>
          <a:p>
            <a:r>
              <a:rPr lang="en-US" sz="3600" dirty="0"/>
              <a:t>Binding Decision: to share</a:t>
            </a:r>
          </a:p>
          <a:p>
            <a:pPr lvl="1"/>
            <a:r>
              <a:rPr lang="en-US" sz="3300" dirty="0"/>
              <a:t>Given this schedule:</a:t>
            </a:r>
          </a:p>
          <a:p>
            <a:pPr lvl="1"/>
            <a:endParaRPr lang="en-US" sz="3300" dirty="0"/>
          </a:p>
          <a:p>
            <a:pPr lvl="2"/>
            <a:r>
              <a:rPr lang="en-US" sz="2900" dirty="0"/>
              <a:t>Binding must use 2 multipliers, since both are in the same cycle</a:t>
            </a:r>
          </a:p>
          <a:p>
            <a:pPr lvl="2"/>
            <a:r>
              <a:rPr lang="en-US" sz="2900" dirty="0"/>
              <a:t>It can decide to use an adder </a:t>
            </a:r>
            <a:r>
              <a:rPr lang="en-US" sz="2900" u="sng" dirty="0"/>
              <a:t>and</a:t>
            </a:r>
            <a:r>
              <a:rPr lang="en-US" sz="2900" dirty="0"/>
              <a:t> </a:t>
            </a:r>
            <a:r>
              <a:rPr lang="en-US" sz="2900" dirty="0" err="1"/>
              <a:t>subtractor</a:t>
            </a:r>
            <a:r>
              <a:rPr lang="en-US" sz="2900" dirty="0"/>
              <a:t> </a:t>
            </a:r>
            <a:r>
              <a:rPr lang="en-US" sz="2900" u="sng" dirty="0"/>
              <a:t>or</a:t>
            </a:r>
            <a:r>
              <a:rPr lang="en-US" sz="2900" dirty="0"/>
              <a:t> </a:t>
            </a:r>
            <a:r>
              <a:rPr lang="en-US" sz="2900" i="1" dirty="0"/>
              <a:t>share</a:t>
            </a:r>
            <a:r>
              <a:rPr lang="en-US" sz="2900" dirty="0"/>
              <a:t> one </a:t>
            </a:r>
            <a:r>
              <a:rPr lang="en-US" sz="2900" dirty="0" err="1"/>
              <a:t>addsub</a:t>
            </a:r>
            <a:endParaRPr lang="en-US" sz="2900" dirty="0"/>
          </a:p>
          <a:p>
            <a:pPr lvl="2"/>
            <a:endParaRPr lang="en-US" sz="2900" dirty="0"/>
          </a:p>
          <a:p>
            <a:r>
              <a:rPr lang="en-US" sz="3600" dirty="0"/>
              <a:t>Binding Decision: or not to share</a:t>
            </a:r>
          </a:p>
          <a:p>
            <a:pPr lvl="1"/>
            <a:r>
              <a:rPr lang="en-US" sz="3300" dirty="0"/>
              <a:t>Given this schedule:</a:t>
            </a:r>
          </a:p>
          <a:p>
            <a:pPr lvl="2">
              <a:buNone/>
            </a:pPr>
            <a:r>
              <a:rPr lang="en-US" sz="2900" dirty="0"/>
              <a:t>	</a:t>
            </a:r>
          </a:p>
          <a:p>
            <a:pPr lvl="2"/>
            <a:r>
              <a:rPr lang="en-US" sz="2900" dirty="0">
                <a:sym typeface="Wingdings" pitchFamily="2" charset="2"/>
              </a:rPr>
              <a:t>Binding may decide to share the multipliers (each is used in a different cycle)</a:t>
            </a:r>
          </a:p>
          <a:p>
            <a:pPr lvl="2"/>
            <a:r>
              <a:rPr lang="en-US" sz="2900" dirty="0">
                <a:sym typeface="Wingdings" pitchFamily="2" charset="2"/>
              </a:rPr>
              <a:t>Or it may decide the cost of sharing (muxing) would impact timing and it may decide </a:t>
            </a:r>
            <a:r>
              <a:rPr lang="en-US" sz="2900" i="1" dirty="0">
                <a:sym typeface="Wingdings" pitchFamily="2" charset="2"/>
              </a:rPr>
              <a:t>not to share</a:t>
            </a:r>
            <a:r>
              <a:rPr lang="en-US" sz="2900" dirty="0">
                <a:sym typeface="Wingdings" pitchFamily="2" charset="2"/>
              </a:rPr>
              <a:t> them</a:t>
            </a:r>
          </a:p>
          <a:p>
            <a:pPr lvl="2"/>
            <a:r>
              <a:rPr lang="en-US" sz="2900" dirty="0">
                <a:sym typeface="Wingdings" pitchFamily="2" charset="2"/>
              </a:rPr>
              <a:t>It may make this same decision in the first example above too</a:t>
            </a:r>
          </a:p>
          <a:p>
            <a:pPr lvl="2"/>
            <a:endParaRPr lang="en-US" dirty="0">
              <a:sym typeface="Wingdings" pitchFamily="2" charset="2"/>
            </a:endParaRPr>
          </a:p>
          <a:p>
            <a:pPr>
              <a:buNone/>
            </a:pPr>
            <a:endParaRPr lang="en-US" dirty="0"/>
          </a:p>
        </p:txBody>
      </p:sp>
      <p:sp>
        <p:nvSpPr>
          <p:cNvPr id="4" name="Slide Number Placeholder 3">
            <a:extLst>
              <a:ext uri="{FF2B5EF4-FFF2-40B4-BE49-F238E27FC236}">
                <a16:creationId xmlns:a16="http://schemas.microsoft.com/office/drawing/2014/main" id="{0831C442-694D-4C3C-860C-EBAD5DD56213}"/>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12</a:t>
            </a:fld>
            <a:endParaRPr lang="en-US" dirty="0"/>
          </a:p>
        </p:txBody>
      </p:sp>
      <p:sp>
        <p:nvSpPr>
          <p:cNvPr id="42" name="Rectangle 41">
            <a:extLst>
              <a:ext uri="{FF2B5EF4-FFF2-40B4-BE49-F238E27FC236}">
                <a16:creationId xmlns:a16="http://schemas.microsoft.com/office/drawing/2014/main" id="{33332C9F-67C9-440E-A9A7-1F3FF1F87F2D}"/>
              </a:ext>
            </a:extLst>
          </p:cNvPr>
          <p:cNvSpPr/>
          <p:nvPr/>
        </p:nvSpPr>
        <p:spPr>
          <a:xfrm>
            <a:off x="4457928" y="4488511"/>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grpSp>
        <p:nvGrpSpPr>
          <p:cNvPr id="49" name="Group 71">
            <a:extLst>
              <a:ext uri="{FF2B5EF4-FFF2-40B4-BE49-F238E27FC236}">
                <a16:creationId xmlns:a16="http://schemas.microsoft.com/office/drawing/2014/main" id="{867329E3-CFEF-428B-8C1C-B2A9D0E78937}"/>
              </a:ext>
            </a:extLst>
          </p:cNvPr>
          <p:cNvGrpSpPr/>
          <p:nvPr/>
        </p:nvGrpSpPr>
        <p:grpSpPr>
          <a:xfrm>
            <a:off x="4457816" y="4296315"/>
            <a:ext cx="563125" cy="115214"/>
            <a:chOff x="-66694" y="1130300"/>
            <a:chExt cx="533401" cy="228600"/>
          </a:xfrm>
          <a:effectLst/>
        </p:grpSpPr>
        <p:cxnSp>
          <p:nvCxnSpPr>
            <p:cNvPr id="55" name="Straight Connector 54">
              <a:extLst>
                <a:ext uri="{FF2B5EF4-FFF2-40B4-BE49-F238E27FC236}">
                  <a16:creationId xmlns:a16="http://schemas.microsoft.com/office/drawing/2014/main" id="{44D95408-3C0B-4AE1-9349-E6E040FC411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7" name="Straight Connector 56">
              <a:extLst>
                <a:ext uri="{FF2B5EF4-FFF2-40B4-BE49-F238E27FC236}">
                  <a16:creationId xmlns:a16="http://schemas.microsoft.com/office/drawing/2014/main" id="{DF039093-A904-4334-A41A-0B404D52AE4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5" name="Straight Connector 64">
              <a:extLst>
                <a:ext uri="{FF2B5EF4-FFF2-40B4-BE49-F238E27FC236}">
                  <a16:creationId xmlns:a16="http://schemas.microsoft.com/office/drawing/2014/main" id="{D6FC1757-2E67-4C1D-948F-5E87D9400B1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0" name="Straight Connector 69">
              <a:extLst>
                <a:ext uri="{FF2B5EF4-FFF2-40B4-BE49-F238E27FC236}">
                  <a16:creationId xmlns:a16="http://schemas.microsoft.com/office/drawing/2014/main" id="{D37AC5B6-BE58-4A91-9318-464CBA38726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71" name="Group 71">
            <a:extLst>
              <a:ext uri="{FF2B5EF4-FFF2-40B4-BE49-F238E27FC236}">
                <a16:creationId xmlns:a16="http://schemas.microsoft.com/office/drawing/2014/main" id="{A5668806-261F-4471-8705-6342413C89BC}"/>
              </a:ext>
            </a:extLst>
          </p:cNvPr>
          <p:cNvGrpSpPr/>
          <p:nvPr/>
        </p:nvGrpSpPr>
        <p:grpSpPr>
          <a:xfrm>
            <a:off x="5020940" y="4296316"/>
            <a:ext cx="563125" cy="115214"/>
            <a:chOff x="-66694" y="1130300"/>
            <a:chExt cx="533401" cy="228600"/>
          </a:xfrm>
          <a:effectLst/>
        </p:grpSpPr>
        <p:cxnSp>
          <p:nvCxnSpPr>
            <p:cNvPr id="72" name="Straight Connector 71">
              <a:extLst>
                <a:ext uri="{FF2B5EF4-FFF2-40B4-BE49-F238E27FC236}">
                  <a16:creationId xmlns:a16="http://schemas.microsoft.com/office/drawing/2014/main" id="{2ED4C822-5478-4E46-877B-34167C84ABB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3" name="Straight Connector 72">
              <a:extLst>
                <a:ext uri="{FF2B5EF4-FFF2-40B4-BE49-F238E27FC236}">
                  <a16:creationId xmlns:a16="http://schemas.microsoft.com/office/drawing/2014/main" id="{27B753CE-354D-4BF4-A008-B0D157913B9C}"/>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4" name="Straight Connector 73">
              <a:extLst>
                <a:ext uri="{FF2B5EF4-FFF2-40B4-BE49-F238E27FC236}">
                  <a16:creationId xmlns:a16="http://schemas.microsoft.com/office/drawing/2014/main" id="{DAF8A0D0-D552-4A78-B855-E3B99819442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5" name="Straight Connector 74">
              <a:extLst>
                <a:ext uri="{FF2B5EF4-FFF2-40B4-BE49-F238E27FC236}">
                  <a16:creationId xmlns:a16="http://schemas.microsoft.com/office/drawing/2014/main" id="{F27CF857-72EE-49DC-812F-C3F34B8022D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76" name="Group 71">
            <a:extLst>
              <a:ext uri="{FF2B5EF4-FFF2-40B4-BE49-F238E27FC236}">
                <a16:creationId xmlns:a16="http://schemas.microsoft.com/office/drawing/2014/main" id="{89205A3E-512E-4183-BF28-129E5E4FB8AF}"/>
              </a:ext>
            </a:extLst>
          </p:cNvPr>
          <p:cNvGrpSpPr/>
          <p:nvPr/>
        </p:nvGrpSpPr>
        <p:grpSpPr>
          <a:xfrm>
            <a:off x="5584064" y="4296317"/>
            <a:ext cx="563125" cy="115214"/>
            <a:chOff x="-66694" y="1130300"/>
            <a:chExt cx="533401" cy="228600"/>
          </a:xfrm>
          <a:effectLst/>
        </p:grpSpPr>
        <p:cxnSp>
          <p:nvCxnSpPr>
            <p:cNvPr id="77" name="Straight Connector 76">
              <a:extLst>
                <a:ext uri="{FF2B5EF4-FFF2-40B4-BE49-F238E27FC236}">
                  <a16:creationId xmlns:a16="http://schemas.microsoft.com/office/drawing/2014/main" id="{8C58CE6C-FE71-4539-B279-C0A6B37AB05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8" name="Straight Connector 77">
              <a:extLst>
                <a:ext uri="{FF2B5EF4-FFF2-40B4-BE49-F238E27FC236}">
                  <a16:creationId xmlns:a16="http://schemas.microsoft.com/office/drawing/2014/main" id="{E30A8B17-CB13-492F-96B7-3D11DCC4AA4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9" name="Straight Connector 78">
              <a:extLst>
                <a:ext uri="{FF2B5EF4-FFF2-40B4-BE49-F238E27FC236}">
                  <a16:creationId xmlns:a16="http://schemas.microsoft.com/office/drawing/2014/main" id="{8823D7DC-D3EF-4EE7-8B39-4AE65CCB9770}"/>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0" name="Straight Connector 79">
              <a:extLst>
                <a:ext uri="{FF2B5EF4-FFF2-40B4-BE49-F238E27FC236}">
                  <a16:creationId xmlns:a16="http://schemas.microsoft.com/office/drawing/2014/main" id="{B5CD2E24-1517-482E-A5B6-271B77CFAD6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81" name="Rectangle 80">
            <a:extLst>
              <a:ext uri="{FF2B5EF4-FFF2-40B4-BE49-F238E27FC236}">
                <a16:creationId xmlns:a16="http://schemas.microsoft.com/office/drawing/2014/main" id="{4B1F316F-E8C7-46F0-95E0-C069162D1846}"/>
              </a:ext>
            </a:extLst>
          </p:cNvPr>
          <p:cNvSpPr/>
          <p:nvPr/>
        </p:nvSpPr>
        <p:spPr>
          <a:xfrm>
            <a:off x="6147315" y="4488509"/>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82" name="Rectangle 81">
            <a:extLst>
              <a:ext uri="{FF2B5EF4-FFF2-40B4-BE49-F238E27FC236}">
                <a16:creationId xmlns:a16="http://schemas.microsoft.com/office/drawing/2014/main" id="{8B737D3B-7F84-41C4-B718-FB28BAA93E29}"/>
              </a:ext>
            </a:extLst>
          </p:cNvPr>
          <p:cNvSpPr/>
          <p:nvPr/>
        </p:nvSpPr>
        <p:spPr>
          <a:xfrm>
            <a:off x="5584182" y="4488510"/>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grpSp>
        <p:nvGrpSpPr>
          <p:cNvPr id="83" name="Group 71">
            <a:extLst>
              <a:ext uri="{FF2B5EF4-FFF2-40B4-BE49-F238E27FC236}">
                <a16:creationId xmlns:a16="http://schemas.microsoft.com/office/drawing/2014/main" id="{8138D71A-6826-471E-BD2C-646E9E822B32}"/>
              </a:ext>
            </a:extLst>
          </p:cNvPr>
          <p:cNvGrpSpPr/>
          <p:nvPr/>
        </p:nvGrpSpPr>
        <p:grpSpPr>
          <a:xfrm>
            <a:off x="6147203" y="4296314"/>
            <a:ext cx="563125" cy="115214"/>
            <a:chOff x="-66694" y="1130300"/>
            <a:chExt cx="533401" cy="228600"/>
          </a:xfrm>
          <a:effectLst/>
        </p:grpSpPr>
        <p:cxnSp>
          <p:nvCxnSpPr>
            <p:cNvPr id="84" name="Straight Connector 83">
              <a:extLst>
                <a:ext uri="{FF2B5EF4-FFF2-40B4-BE49-F238E27FC236}">
                  <a16:creationId xmlns:a16="http://schemas.microsoft.com/office/drawing/2014/main" id="{C23AF097-AE02-44BB-B68E-79BB629CC3C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5" name="Straight Connector 84">
              <a:extLst>
                <a:ext uri="{FF2B5EF4-FFF2-40B4-BE49-F238E27FC236}">
                  <a16:creationId xmlns:a16="http://schemas.microsoft.com/office/drawing/2014/main" id="{69C193D2-2598-4561-B354-EC68B89D587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6" name="Straight Connector 85">
              <a:extLst>
                <a:ext uri="{FF2B5EF4-FFF2-40B4-BE49-F238E27FC236}">
                  <a16:creationId xmlns:a16="http://schemas.microsoft.com/office/drawing/2014/main" id="{281ADE10-D6DD-4833-BBEB-874949C15C1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7" name="Straight Connector 86">
              <a:extLst>
                <a:ext uri="{FF2B5EF4-FFF2-40B4-BE49-F238E27FC236}">
                  <a16:creationId xmlns:a16="http://schemas.microsoft.com/office/drawing/2014/main" id="{682B7AD4-ABD5-4FB7-8BC1-8A9BCAB8340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88" name="Rectangle 87">
            <a:extLst>
              <a:ext uri="{FF2B5EF4-FFF2-40B4-BE49-F238E27FC236}">
                <a16:creationId xmlns:a16="http://schemas.microsoft.com/office/drawing/2014/main" id="{D770103C-A6C6-4DE5-81D1-98C7B1018CC6}"/>
              </a:ext>
            </a:extLst>
          </p:cNvPr>
          <p:cNvSpPr/>
          <p:nvPr/>
        </p:nvSpPr>
        <p:spPr>
          <a:xfrm>
            <a:off x="5021055" y="4488509"/>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89" name="Rectangle 88">
            <a:extLst>
              <a:ext uri="{FF2B5EF4-FFF2-40B4-BE49-F238E27FC236}">
                <a16:creationId xmlns:a16="http://schemas.microsoft.com/office/drawing/2014/main" id="{0E08C95D-3898-48AA-B950-77A15DB33EC7}"/>
              </a:ext>
            </a:extLst>
          </p:cNvPr>
          <p:cNvSpPr/>
          <p:nvPr/>
        </p:nvSpPr>
        <p:spPr>
          <a:xfrm>
            <a:off x="4457930" y="2757365"/>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grpSp>
        <p:nvGrpSpPr>
          <p:cNvPr id="90" name="Group 71">
            <a:extLst>
              <a:ext uri="{FF2B5EF4-FFF2-40B4-BE49-F238E27FC236}">
                <a16:creationId xmlns:a16="http://schemas.microsoft.com/office/drawing/2014/main" id="{E03F056A-C8F5-4E82-927F-DCD37CD27813}"/>
              </a:ext>
            </a:extLst>
          </p:cNvPr>
          <p:cNvGrpSpPr/>
          <p:nvPr/>
        </p:nvGrpSpPr>
        <p:grpSpPr>
          <a:xfrm>
            <a:off x="4457815" y="2565168"/>
            <a:ext cx="1548593" cy="115386"/>
            <a:chOff x="-66694" y="1130300"/>
            <a:chExt cx="533401" cy="228600"/>
          </a:xfrm>
          <a:effectLst/>
        </p:grpSpPr>
        <p:cxnSp>
          <p:nvCxnSpPr>
            <p:cNvPr id="91" name="Straight Connector 90">
              <a:extLst>
                <a:ext uri="{FF2B5EF4-FFF2-40B4-BE49-F238E27FC236}">
                  <a16:creationId xmlns:a16="http://schemas.microsoft.com/office/drawing/2014/main" id="{729BFB9B-035E-40F8-A958-D65F00C1405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2" name="Straight Connector 91">
              <a:extLst>
                <a:ext uri="{FF2B5EF4-FFF2-40B4-BE49-F238E27FC236}">
                  <a16:creationId xmlns:a16="http://schemas.microsoft.com/office/drawing/2014/main" id="{5199AA76-61DA-4102-BD89-CF13A172DCD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3" name="Straight Connector 92">
              <a:extLst>
                <a:ext uri="{FF2B5EF4-FFF2-40B4-BE49-F238E27FC236}">
                  <a16:creationId xmlns:a16="http://schemas.microsoft.com/office/drawing/2014/main" id="{1E1760D0-1052-44C1-8455-3DA3603B78D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4" name="Straight Connector 93">
              <a:extLst>
                <a:ext uri="{FF2B5EF4-FFF2-40B4-BE49-F238E27FC236}">
                  <a16:creationId xmlns:a16="http://schemas.microsoft.com/office/drawing/2014/main" id="{B5AA7E46-75AB-4529-AA13-F8C1CFE3F67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95" name="Rectangle 94">
            <a:extLst>
              <a:ext uri="{FF2B5EF4-FFF2-40B4-BE49-F238E27FC236}">
                <a16:creationId xmlns:a16="http://schemas.microsoft.com/office/drawing/2014/main" id="{B8E8D9A9-FB2A-4EF4-AEDD-B55AE73FD660}"/>
              </a:ext>
            </a:extLst>
          </p:cNvPr>
          <p:cNvSpPr/>
          <p:nvPr/>
        </p:nvSpPr>
        <p:spPr>
          <a:xfrm>
            <a:off x="6000967" y="275736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96" name="Rectangle 95">
            <a:extLst>
              <a:ext uri="{FF2B5EF4-FFF2-40B4-BE49-F238E27FC236}">
                <a16:creationId xmlns:a16="http://schemas.microsoft.com/office/drawing/2014/main" id="{5C187B24-B116-4814-90F1-3559B40CEEC5}"/>
              </a:ext>
            </a:extLst>
          </p:cNvPr>
          <p:cNvSpPr/>
          <p:nvPr/>
        </p:nvSpPr>
        <p:spPr>
          <a:xfrm>
            <a:off x="5481798" y="275736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sp>
        <p:nvSpPr>
          <p:cNvPr id="97" name="Rectangle 96">
            <a:extLst>
              <a:ext uri="{FF2B5EF4-FFF2-40B4-BE49-F238E27FC236}">
                <a16:creationId xmlns:a16="http://schemas.microsoft.com/office/drawing/2014/main" id="{4821D820-C6AD-48ED-82E0-FDE1A750AB94}"/>
              </a:ext>
            </a:extLst>
          </p:cNvPr>
          <p:cNvSpPr/>
          <p:nvPr/>
        </p:nvSpPr>
        <p:spPr>
          <a:xfrm>
            <a:off x="4969865" y="2757363"/>
            <a:ext cx="514339" cy="192027"/>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cxnSp>
        <p:nvCxnSpPr>
          <p:cNvPr id="98" name="Straight Connector 97">
            <a:extLst>
              <a:ext uri="{FF2B5EF4-FFF2-40B4-BE49-F238E27FC236}">
                <a16:creationId xmlns:a16="http://schemas.microsoft.com/office/drawing/2014/main" id="{6DFB9749-5A35-4040-ACCF-5412B3712112}"/>
              </a:ext>
            </a:extLst>
          </p:cNvPr>
          <p:cNvCxnSpPr/>
          <p:nvPr/>
        </p:nvCxnSpPr>
        <p:spPr>
          <a:xfrm>
            <a:off x="6002870" y="2565168"/>
            <a:ext cx="819093"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9" name="Straight Connector 98">
            <a:extLst>
              <a:ext uri="{FF2B5EF4-FFF2-40B4-BE49-F238E27FC236}">
                <a16:creationId xmlns:a16="http://schemas.microsoft.com/office/drawing/2014/main" id="{1FD9D994-F2EF-4146-A7B0-4C84C6D48808}"/>
              </a:ext>
            </a:extLst>
          </p:cNvPr>
          <p:cNvCxnSpPr/>
          <p:nvPr/>
        </p:nvCxnSpPr>
        <p:spPr>
          <a:xfrm rot="5400000">
            <a:off x="6764355" y="2622775"/>
            <a:ext cx="115214"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9B294690-EDE7-4992-B3DA-77F4428A3D3F}"/>
              </a:ext>
            </a:extLst>
          </p:cNvPr>
          <p:cNvCxnSpPr/>
          <p:nvPr/>
        </p:nvCxnSpPr>
        <p:spPr>
          <a:xfrm rot="5400000">
            <a:off x="5945259" y="2622775"/>
            <a:ext cx="115214"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D8E2EE4C-B0E9-46CE-BAE5-A0CB5ACADCF2}"/>
              </a:ext>
            </a:extLst>
          </p:cNvPr>
          <p:cNvCxnSpPr/>
          <p:nvPr/>
        </p:nvCxnSpPr>
        <p:spPr>
          <a:xfrm>
            <a:off x="6822077" y="2680554"/>
            <a:ext cx="358351" cy="1"/>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7FAE0-C85A-41AD-BA43-A3D06319F95C}"/>
              </a:ext>
            </a:extLst>
          </p:cNvPr>
          <p:cNvSpPr>
            <a:spLocks noGrp="1"/>
          </p:cNvSpPr>
          <p:nvPr>
            <p:ph type="title"/>
          </p:nvPr>
        </p:nvSpPr>
        <p:spPr>
          <a:xfrm>
            <a:off x="873932" y="2971081"/>
            <a:ext cx="5994124" cy="761747"/>
          </a:xfrm>
        </p:spPr>
        <p:txBody>
          <a:bodyPr/>
          <a:lstStyle/>
          <a:p>
            <a:r>
              <a:rPr lang="en-US" altLang="zh-CN" dirty="0"/>
              <a:t>High-Level Synthesis with Vitis HLS</a:t>
            </a:r>
            <a:endParaRPr lang="zh-CN" altLang="en-US" dirty="0"/>
          </a:p>
        </p:txBody>
      </p:sp>
      <p:sp>
        <p:nvSpPr>
          <p:cNvPr id="3" name="Slide Number Placeholder 2">
            <a:extLst>
              <a:ext uri="{FF2B5EF4-FFF2-40B4-BE49-F238E27FC236}">
                <a16:creationId xmlns:a16="http://schemas.microsoft.com/office/drawing/2014/main" id="{929AC776-B9BF-43AE-A4AB-43F4507860C0}"/>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13</a:t>
            </a:fld>
            <a:endParaRPr lang="en-US" dirty="0"/>
          </a:p>
        </p:txBody>
      </p:sp>
    </p:spTree>
    <p:extLst>
      <p:ext uri="{BB962C8B-B14F-4D97-AF65-F5344CB8AC3E}">
        <p14:creationId xmlns:p14="http://schemas.microsoft.com/office/powerpoint/2010/main" val="4068809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RTL vs High-Level Language</a:t>
            </a:r>
          </a:p>
        </p:txBody>
      </p:sp>
      <p:sp>
        <p:nvSpPr>
          <p:cNvPr id="9" name="Slide Number Placeholder 8">
            <a:extLst>
              <a:ext uri="{FF2B5EF4-FFF2-40B4-BE49-F238E27FC236}">
                <a16:creationId xmlns:a16="http://schemas.microsoft.com/office/drawing/2014/main" id="{5ECFB87D-CD6D-47A1-BE09-4168B7A3E71E}"/>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14</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9335" y="1248048"/>
            <a:ext cx="9533333" cy="4361905"/>
          </a:xfrm>
          <a:prstGeom prst="rect">
            <a:avLst/>
          </a:prstGeom>
        </p:spPr>
      </p:pic>
      <p:sp>
        <p:nvSpPr>
          <p:cNvPr id="6" name="矩形 5">
            <a:extLst>
              <a:ext uri="{FF2B5EF4-FFF2-40B4-BE49-F238E27FC236}">
                <a16:creationId xmlns:a16="http://schemas.microsoft.com/office/drawing/2014/main" id="{8B50F398-2AD5-4F7F-A7E5-42EEA93A367C}"/>
              </a:ext>
            </a:extLst>
          </p:cNvPr>
          <p:cNvSpPr/>
          <p:nvPr/>
        </p:nvSpPr>
        <p:spPr>
          <a:xfrm>
            <a:off x="1716480" y="1225267"/>
            <a:ext cx="981333" cy="322118"/>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文本框 3">
            <a:extLst>
              <a:ext uri="{FF2B5EF4-FFF2-40B4-BE49-F238E27FC236}">
                <a16:creationId xmlns:a16="http://schemas.microsoft.com/office/drawing/2014/main" id="{F2C44364-F33E-4141-B48D-12DA78AEE6A9}"/>
              </a:ext>
            </a:extLst>
          </p:cNvPr>
          <p:cNvSpPr txBox="1"/>
          <p:nvPr/>
        </p:nvSpPr>
        <p:spPr>
          <a:xfrm>
            <a:off x="2035089" y="1186271"/>
            <a:ext cx="1153391" cy="400110"/>
          </a:xfrm>
          <a:prstGeom prst="rect">
            <a:avLst/>
          </a:prstGeom>
          <a:noFill/>
        </p:spPr>
        <p:txBody>
          <a:bodyPr wrap="square" rtlCol="0">
            <a:spAutoFit/>
          </a:bodyPr>
          <a:lstStyle/>
          <a:p>
            <a:r>
              <a:rPr lang="en-US" sz="2000" b="1" i="1" dirty="0">
                <a:solidFill>
                  <a:schemeClr val="tx1">
                    <a:lumMod val="75000"/>
                    <a:lumOff val="25000"/>
                  </a:schemeClr>
                </a:solidFill>
              </a:rPr>
              <a:t>Vitis</a:t>
            </a:r>
          </a:p>
        </p:txBody>
      </p:sp>
      <p:sp>
        <p:nvSpPr>
          <p:cNvPr id="7" name="矩形 6">
            <a:extLst>
              <a:ext uri="{FF2B5EF4-FFF2-40B4-BE49-F238E27FC236}">
                <a16:creationId xmlns:a16="http://schemas.microsoft.com/office/drawing/2014/main" id="{E2C7F370-A39D-41A8-9710-C58F151C2700}"/>
              </a:ext>
            </a:extLst>
          </p:cNvPr>
          <p:cNvSpPr/>
          <p:nvPr/>
        </p:nvSpPr>
        <p:spPr>
          <a:xfrm>
            <a:off x="6044240" y="1264263"/>
            <a:ext cx="981333" cy="322118"/>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文本框 7">
            <a:extLst>
              <a:ext uri="{FF2B5EF4-FFF2-40B4-BE49-F238E27FC236}">
                <a16:creationId xmlns:a16="http://schemas.microsoft.com/office/drawing/2014/main" id="{3D0BE9D0-AB07-4486-8328-507FDBACDE80}"/>
              </a:ext>
            </a:extLst>
          </p:cNvPr>
          <p:cNvSpPr txBox="1"/>
          <p:nvPr/>
        </p:nvSpPr>
        <p:spPr>
          <a:xfrm>
            <a:off x="6375026" y="1194458"/>
            <a:ext cx="1153391" cy="400110"/>
          </a:xfrm>
          <a:prstGeom prst="rect">
            <a:avLst/>
          </a:prstGeom>
          <a:noFill/>
        </p:spPr>
        <p:txBody>
          <a:bodyPr wrap="square" rtlCol="0">
            <a:spAutoFit/>
          </a:bodyPr>
          <a:lstStyle/>
          <a:p>
            <a:r>
              <a:rPr lang="en-US" sz="2000" b="1" i="1" dirty="0">
                <a:solidFill>
                  <a:schemeClr val="tx1">
                    <a:lumMod val="75000"/>
                    <a:lumOff val="25000"/>
                  </a:schemeClr>
                </a:solidFill>
              </a:rPr>
              <a:t>Vitis</a:t>
            </a:r>
          </a:p>
        </p:txBody>
      </p:sp>
    </p:spTree>
    <p:extLst>
      <p:ext uri="{BB962C8B-B14F-4D97-AF65-F5344CB8AC3E}">
        <p14:creationId xmlns:p14="http://schemas.microsoft.com/office/powerpoint/2010/main" val="25398088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Vitis HLS Benefits</a:t>
            </a:r>
          </a:p>
        </p:txBody>
      </p:sp>
      <p:sp>
        <p:nvSpPr>
          <p:cNvPr id="2" name="Content Placeholder 1"/>
          <p:cNvSpPr>
            <a:spLocks noGrp="1"/>
          </p:cNvSpPr>
          <p:nvPr>
            <p:ph idx="1"/>
          </p:nvPr>
        </p:nvSpPr>
        <p:spPr/>
        <p:txBody>
          <a:bodyPr/>
          <a:lstStyle/>
          <a:p>
            <a:r>
              <a:rPr lang="en-US" dirty="0">
                <a:solidFill>
                  <a:schemeClr val="tx1"/>
                </a:solidFill>
              </a:rPr>
              <a:t>Productivity</a:t>
            </a:r>
          </a:p>
          <a:p>
            <a:pPr lvl="1"/>
            <a:r>
              <a:rPr lang="en-US" dirty="0"/>
              <a:t>Verification</a:t>
            </a:r>
          </a:p>
          <a:p>
            <a:pPr lvl="2"/>
            <a:r>
              <a:rPr lang="en-US" dirty="0"/>
              <a:t>Functional</a:t>
            </a:r>
          </a:p>
          <a:p>
            <a:pPr lvl="2"/>
            <a:r>
              <a:rPr lang="en-US" dirty="0"/>
              <a:t>Architectural</a:t>
            </a:r>
          </a:p>
          <a:p>
            <a:pPr lvl="1"/>
            <a:r>
              <a:rPr lang="en-US" dirty="0"/>
              <a:t>Abstraction</a:t>
            </a:r>
          </a:p>
          <a:p>
            <a:pPr lvl="2"/>
            <a:r>
              <a:rPr lang="en-US" dirty="0" err="1"/>
              <a:t>Datatypes</a:t>
            </a:r>
            <a:endParaRPr lang="en-US" dirty="0"/>
          </a:p>
          <a:p>
            <a:pPr lvl="2"/>
            <a:r>
              <a:rPr lang="en-US" dirty="0"/>
              <a:t>Interface</a:t>
            </a:r>
          </a:p>
          <a:p>
            <a:pPr lvl="2"/>
            <a:r>
              <a:rPr lang="en-US" dirty="0"/>
              <a:t>Classes</a:t>
            </a:r>
          </a:p>
          <a:p>
            <a:pPr lvl="1"/>
            <a:r>
              <a:rPr lang="en-US" dirty="0"/>
              <a:t>Automation</a:t>
            </a:r>
          </a:p>
          <a:p>
            <a:pPr lvl="1"/>
            <a:endParaRPr lang="en-US" dirty="0"/>
          </a:p>
          <a:p>
            <a:r>
              <a:rPr lang="en-US" dirty="0">
                <a:solidFill>
                  <a:schemeClr val="tx1"/>
                </a:solidFill>
              </a:rPr>
              <a:t>Block level specification AND verification </a:t>
            </a:r>
            <a:r>
              <a:rPr lang="en-US" i="1" u="sng" dirty="0">
                <a:solidFill>
                  <a:schemeClr val="tx1"/>
                </a:solidFill>
              </a:rPr>
              <a:t>significantly</a:t>
            </a:r>
            <a:r>
              <a:rPr lang="en-US" dirty="0">
                <a:solidFill>
                  <a:schemeClr val="tx1"/>
                </a:solidFill>
              </a:rPr>
              <a:t> reduced </a:t>
            </a:r>
          </a:p>
          <a:p>
            <a:endParaRPr lang="en-US" dirty="0"/>
          </a:p>
        </p:txBody>
      </p:sp>
      <p:sp>
        <p:nvSpPr>
          <p:cNvPr id="5" name="Slide Number Placeholder 4">
            <a:extLst>
              <a:ext uri="{FF2B5EF4-FFF2-40B4-BE49-F238E27FC236}">
                <a16:creationId xmlns:a16="http://schemas.microsoft.com/office/drawing/2014/main" id="{52251851-9F62-4E16-9D53-13EE5EA663A1}"/>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15</a:t>
            </a:fld>
            <a:endParaRPr lang="en-US" dirty="0"/>
          </a:p>
        </p:txBody>
      </p:sp>
      <p:graphicFrame>
        <p:nvGraphicFramePr>
          <p:cNvPr id="16" name="Picture Placeholder 6">
            <a:extLst>
              <a:ext uri="{FF2B5EF4-FFF2-40B4-BE49-F238E27FC236}">
                <a16:creationId xmlns:a16="http://schemas.microsoft.com/office/drawing/2014/main" id="{455226C8-C6A6-426A-9880-553311AFD658}"/>
              </a:ext>
            </a:extLst>
          </p:cNvPr>
          <p:cNvGraphicFramePr>
            <a:graphicFrameLocks/>
          </p:cNvGraphicFramePr>
          <p:nvPr/>
        </p:nvGraphicFramePr>
        <p:xfrm>
          <a:off x="5803469" y="1727377"/>
          <a:ext cx="5095116" cy="1198880"/>
        </p:xfrm>
        <a:graphic>
          <a:graphicData uri="http://schemas.openxmlformats.org/drawingml/2006/table">
            <a:tbl>
              <a:tblPr firstRow="1"/>
              <a:tblGrid>
                <a:gridCol w="894971">
                  <a:extLst>
                    <a:ext uri="{9D8B030D-6E8A-4147-A177-3AD203B41FA5}">
                      <a16:colId xmlns:a16="http://schemas.microsoft.com/office/drawing/2014/main" val="20000"/>
                    </a:ext>
                  </a:extLst>
                </a:gridCol>
                <a:gridCol w="1458786">
                  <a:extLst>
                    <a:ext uri="{9D8B030D-6E8A-4147-A177-3AD203B41FA5}">
                      <a16:colId xmlns:a16="http://schemas.microsoft.com/office/drawing/2014/main" val="20001"/>
                    </a:ext>
                  </a:extLst>
                </a:gridCol>
                <a:gridCol w="1628204">
                  <a:extLst>
                    <a:ext uri="{9D8B030D-6E8A-4147-A177-3AD203B41FA5}">
                      <a16:colId xmlns:a16="http://schemas.microsoft.com/office/drawing/2014/main" val="20002"/>
                    </a:ext>
                  </a:extLst>
                </a:gridCol>
                <a:gridCol w="1113155">
                  <a:extLst>
                    <a:ext uri="{9D8B030D-6E8A-4147-A177-3AD203B41FA5}">
                      <a16:colId xmlns:a16="http://schemas.microsoft.com/office/drawing/2014/main" val="20003"/>
                    </a:ext>
                  </a:extLst>
                </a:gridCol>
              </a:tblGrid>
              <a:tr h="370840">
                <a:tc gridSpan="4">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algn="ctr"/>
                      <a:r>
                        <a:rPr lang="en-US" sz="1200" dirty="0"/>
                        <a:t>Video Design Example</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solidFill>
                  </a:tcPr>
                </a:tc>
                <a:tc hMerge="1">
                  <a:txBody>
                    <a:bodyPr/>
                    <a:lstStyle/>
                    <a:p>
                      <a:endParaRPr lang="en-US" sz="1200" dirty="0"/>
                    </a:p>
                  </a:txBody>
                  <a:tcPr>
                    <a:cell3D prstMaterial="dkEdge">
                      <a:bevel prst="coolSlant"/>
                      <a:lightRig rig="flood" dir="t"/>
                    </a:cell3D>
                  </a:tcPr>
                </a:tc>
                <a:tc hMerge="1">
                  <a:txBody>
                    <a:bodyPr/>
                    <a:lstStyle/>
                    <a:p>
                      <a:pPr marL="285750" indent="-285750">
                        <a:buFont typeface="Arial" pitchFamily="34" charset="0"/>
                        <a:buNone/>
                      </a:pPr>
                      <a:endParaRPr lang="en-US" sz="1200" dirty="0"/>
                    </a:p>
                  </a:txBody>
                  <a:tcPr>
                    <a:cell3D prstMaterial="dkEdge">
                      <a:bevel prst="coolSlant"/>
                      <a:lightRig rig="flood" dir="t"/>
                    </a:cell3D>
                  </a:tcPr>
                </a:tc>
                <a:tc hMerge="1">
                  <a:txBody>
                    <a:bodyPr/>
                    <a:lstStyle/>
                    <a:p>
                      <a:pPr marL="285750" indent="-285750">
                        <a:buFont typeface="Arial" pitchFamily="34" charset="0"/>
                        <a:buNone/>
                      </a:pPr>
                      <a:endParaRPr lang="en-US" sz="1200" dirty="0"/>
                    </a:p>
                  </a:txBody>
                  <a:tcPr>
                    <a:cell3D prstMaterial="dkEdge">
                      <a:bevel prst="coolSlant"/>
                      <a:lightRig rig="flood" dir="t"/>
                    </a:cell3D>
                  </a:tcPr>
                </a:tc>
                <a:extLst>
                  <a:ext uri="{0D108BD9-81ED-4DB2-BD59-A6C34878D82A}">
                    <a16:rowId xmlns:a16="http://schemas.microsoft.com/office/drawing/2014/main" val="10000"/>
                  </a:ext>
                </a:extLst>
              </a:tr>
              <a:tr h="370840">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Input</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a:t>
                      </a:r>
                      <a:r>
                        <a:rPr lang="en-US" sz="1200" baseline="0" dirty="0"/>
                        <a:t> Simulation Time</a:t>
                      </a:r>
                      <a:endParaRPr lang="en-US" sz="1200"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RTL</a:t>
                      </a:r>
                      <a:r>
                        <a:rPr lang="en-US" sz="1200" baseline="0" dirty="0"/>
                        <a:t> Simulation Time</a:t>
                      </a:r>
                      <a:endParaRPr lang="en-US" sz="1200"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Improvement</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extLst>
                  <a:ext uri="{0D108BD9-81ED-4DB2-BD59-A6C34878D82A}">
                    <a16:rowId xmlns:a16="http://schemas.microsoft.com/office/drawing/2014/main" val="10001"/>
                  </a:ext>
                </a:extLst>
              </a:tr>
              <a:tr h="370840">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10 frames</a:t>
                      </a:r>
                    </a:p>
                    <a:p>
                      <a:r>
                        <a:rPr lang="en-US" sz="1200" dirty="0"/>
                        <a:t>1280x720</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10s</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~2 days</a:t>
                      </a:r>
                    </a:p>
                    <a:p>
                      <a:pPr marL="285750" indent="-285750">
                        <a:buFont typeface="Arial" pitchFamily="34" charset="0"/>
                        <a:buNone/>
                      </a:pPr>
                      <a:r>
                        <a:rPr lang="en-US" sz="1200" dirty="0"/>
                        <a:t>(</a:t>
                      </a:r>
                      <a:r>
                        <a:rPr lang="en-US" sz="1200" dirty="0" err="1"/>
                        <a:t>ModelSim</a:t>
                      </a:r>
                      <a:r>
                        <a:rPr lang="en-US" sz="1200" dirty="0"/>
                        <a:t>)</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~12000x</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extLst>
                  <a:ext uri="{0D108BD9-81ED-4DB2-BD59-A6C34878D82A}">
                    <a16:rowId xmlns:a16="http://schemas.microsoft.com/office/drawing/2014/main" val="10002"/>
                  </a:ext>
                </a:extLst>
              </a:tr>
            </a:tbl>
          </a:graphicData>
        </a:graphic>
      </p:graphicFrame>
      <p:grpSp>
        <p:nvGrpSpPr>
          <p:cNvPr id="17" name="Group 14">
            <a:extLst>
              <a:ext uri="{FF2B5EF4-FFF2-40B4-BE49-F238E27FC236}">
                <a16:creationId xmlns:a16="http://schemas.microsoft.com/office/drawing/2014/main" id="{C35AC53A-2B58-40D2-97A2-158DD8E7CCB7}"/>
              </a:ext>
            </a:extLst>
          </p:cNvPr>
          <p:cNvGrpSpPr/>
          <p:nvPr/>
        </p:nvGrpSpPr>
        <p:grpSpPr>
          <a:xfrm>
            <a:off x="5829125" y="3425527"/>
            <a:ext cx="5069460" cy="683931"/>
            <a:chOff x="3650280" y="3321144"/>
            <a:chExt cx="5069460" cy="683931"/>
          </a:xfrm>
        </p:grpSpPr>
        <p:sp>
          <p:nvSpPr>
            <p:cNvPr id="18" name="Freeform 9">
              <a:extLst>
                <a:ext uri="{FF2B5EF4-FFF2-40B4-BE49-F238E27FC236}">
                  <a16:creationId xmlns:a16="http://schemas.microsoft.com/office/drawing/2014/main" id="{B1C983DE-52F1-4B6A-90A4-9EE0DD576EE0}"/>
                </a:ext>
              </a:extLst>
            </p:cNvPr>
            <p:cNvSpPr/>
            <p:nvPr/>
          </p:nvSpPr>
          <p:spPr bwMode="auto">
            <a:xfrm>
              <a:off x="6092645" y="3474705"/>
              <a:ext cx="184730" cy="369332"/>
            </a:xfrm>
            <a:custGeom>
              <a:avLst/>
              <a:gdLst>
                <a:gd name="connsiteX0" fmla="*/ 0 w 3683000"/>
                <a:gd name="connsiteY0" fmla="*/ 0 h 323850"/>
                <a:gd name="connsiteX1" fmla="*/ 3683000 w 3683000"/>
                <a:gd name="connsiteY1" fmla="*/ 6350 h 323850"/>
                <a:gd name="connsiteX2" fmla="*/ 1289050 w 3683000"/>
                <a:gd name="connsiteY2" fmla="*/ 323850 h 323850"/>
                <a:gd name="connsiteX3" fmla="*/ 6350 w 3683000"/>
                <a:gd name="connsiteY3" fmla="*/ 311150 h 323850"/>
                <a:gd name="connsiteX4" fmla="*/ 0 w 3683000"/>
                <a:gd name="connsiteY4" fmla="*/ 0 h 323850"/>
                <a:gd name="connsiteX0" fmla="*/ 970 w 3683970"/>
                <a:gd name="connsiteY0" fmla="*/ 0 h 323850"/>
                <a:gd name="connsiteX1" fmla="*/ 3683970 w 3683970"/>
                <a:gd name="connsiteY1" fmla="*/ 6350 h 323850"/>
                <a:gd name="connsiteX2" fmla="*/ 1290020 w 3683970"/>
                <a:gd name="connsiteY2" fmla="*/ 323850 h 323850"/>
                <a:gd name="connsiteX3" fmla="*/ 0 w 3683970"/>
                <a:gd name="connsiteY3" fmla="*/ 322075 h 323850"/>
                <a:gd name="connsiteX4" fmla="*/ 970 w 3683970"/>
                <a:gd name="connsiteY4" fmla="*/ 0 h 323850"/>
                <a:gd name="connsiteX0" fmla="*/ 970 w 5069460"/>
                <a:gd name="connsiteY0" fmla="*/ 0 h 323850"/>
                <a:gd name="connsiteX1" fmla="*/ 5069460 w 5069460"/>
                <a:gd name="connsiteY1" fmla="*/ 7476 h 323850"/>
                <a:gd name="connsiteX2" fmla="*/ 1290020 w 5069460"/>
                <a:gd name="connsiteY2" fmla="*/ 323850 h 323850"/>
                <a:gd name="connsiteX3" fmla="*/ 0 w 5069460"/>
                <a:gd name="connsiteY3" fmla="*/ 322075 h 323850"/>
                <a:gd name="connsiteX4" fmla="*/ 970 w 5069460"/>
                <a:gd name="connsiteY4" fmla="*/ 0 h 323850"/>
                <a:gd name="connsiteX0" fmla="*/ 970 w 5069460"/>
                <a:gd name="connsiteY0" fmla="*/ 0 h 322075"/>
                <a:gd name="connsiteX1" fmla="*/ 5069460 w 5069460"/>
                <a:gd name="connsiteY1" fmla="*/ 7476 h 322075"/>
                <a:gd name="connsiteX2" fmla="*/ 1036935 w 5069460"/>
                <a:gd name="connsiteY2" fmla="*/ 314716 h 322075"/>
                <a:gd name="connsiteX3" fmla="*/ 0 w 5069460"/>
                <a:gd name="connsiteY3" fmla="*/ 322075 h 322075"/>
                <a:gd name="connsiteX4" fmla="*/ 970 w 5069460"/>
                <a:gd name="connsiteY4" fmla="*/ 0 h 322075"/>
                <a:gd name="connsiteX0" fmla="*/ 970 w 5069460"/>
                <a:gd name="connsiteY0" fmla="*/ 0 h 322075"/>
                <a:gd name="connsiteX1" fmla="*/ 5069460 w 5069460"/>
                <a:gd name="connsiteY1" fmla="*/ 7476 h 322075"/>
                <a:gd name="connsiteX2" fmla="*/ 0 w 5069460"/>
                <a:gd name="connsiteY2" fmla="*/ 322075 h 322075"/>
                <a:gd name="connsiteX3" fmla="*/ 970 w 5069460"/>
                <a:gd name="connsiteY3" fmla="*/ 0 h 322075"/>
                <a:gd name="connsiteX0" fmla="*/ 970 w 5069460"/>
                <a:gd name="connsiteY0" fmla="*/ 0 h 322075"/>
                <a:gd name="connsiteX1" fmla="*/ 5069460 w 5069460"/>
                <a:gd name="connsiteY1" fmla="*/ 7476 h 322075"/>
                <a:gd name="connsiteX2" fmla="*/ 936960 w 5069460"/>
                <a:gd name="connsiteY2" fmla="*/ 265947 h 322075"/>
                <a:gd name="connsiteX3" fmla="*/ 0 w 5069460"/>
                <a:gd name="connsiteY3" fmla="*/ 322075 h 322075"/>
                <a:gd name="connsiteX4" fmla="*/ 970 w 5069460"/>
                <a:gd name="connsiteY4" fmla="*/ 0 h 322075"/>
                <a:gd name="connsiteX0" fmla="*/ 970 w 5069460"/>
                <a:gd name="connsiteY0" fmla="*/ 0 h 322075"/>
                <a:gd name="connsiteX1" fmla="*/ 5069460 w 5069460"/>
                <a:gd name="connsiteY1" fmla="*/ 7476 h 322075"/>
                <a:gd name="connsiteX2" fmla="*/ 921720 w 5069460"/>
                <a:gd name="connsiteY2" fmla="*/ 314717 h 322075"/>
                <a:gd name="connsiteX3" fmla="*/ 0 w 5069460"/>
                <a:gd name="connsiteY3" fmla="*/ 322075 h 322075"/>
                <a:gd name="connsiteX4" fmla="*/ 970 w 5069460"/>
                <a:gd name="connsiteY4" fmla="*/ 0 h 322075"/>
                <a:gd name="connsiteX0" fmla="*/ 970 w 5069460"/>
                <a:gd name="connsiteY0" fmla="*/ 0 h 322075"/>
                <a:gd name="connsiteX1" fmla="*/ 5069460 w 5069460"/>
                <a:gd name="connsiteY1" fmla="*/ 7476 h 322075"/>
                <a:gd name="connsiteX2" fmla="*/ 1036935 w 5069460"/>
                <a:gd name="connsiteY2" fmla="*/ 314717 h 322075"/>
                <a:gd name="connsiteX3" fmla="*/ 0 w 5069460"/>
                <a:gd name="connsiteY3" fmla="*/ 322075 h 322075"/>
                <a:gd name="connsiteX4" fmla="*/ 970 w 5069460"/>
                <a:gd name="connsiteY4" fmla="*/ 0 h 322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9460" h="322075">
                  <a:moveTo>
                    <a:pt x="970" y="0"/>
                  </a:moveTo>
                  <a:lnTo>
                    <a:pt x="5069460" y="7476"/>
                  </a:lnTo>
                  <a:lnTo>
                    <a:pt x="1036935" y="314717"/>
                  </a:lnTo>
                  <a:lnTo>
                    <a:pt x="0" y="322075"/>
                  </a:lnTo>
                  <a:cubicBezTo>
                    <a:pt x="323" y="214717"/>
                    <a:pt x="647" y="107358"/>
                    <a:pt x="970" y="0"/>
                  </a:cubicBezTo>
                  <a:close/>
                </a:path>
              </a:pathLst>
            </a:custGeom>
            <a:gradFill rotWithShape="1">
              <a:gsLst>
                <a:gs pos="0">
                  <a:srgbClr val="000000">
                    <a:tint val="50000"/>
                    <a:satMod val="300000"/>
                  </a:srgbClr>
                </a:gs>
                <a:gs pos="35000">
                  <a:srgbClr val="000000">
                    <a:tint val="37000"/>
                    <a:satMod val="300000"/>
                  </a:srgbClr>
                </a:gs>
                <a:gs pos="100000">
                  <a:srgbClr val="000000">
                    <a:tint val="15000"/>
                    <a:satMod val="350000"/>
                  </a:srgbClr>
                </a:gs>
              </a:gsLst>
              <a:lin ang="16200000" scaled="1"/>
            </a:gradFill>
            <a:ln w="9525" cap="flat" cmpd="sng" algn="ctr">
              <a:noFill/>
              <a:prstDash val="solid"/>
              <a:headEnd type="none" w="med" len="med"/>
              <a:tailEnd type="none" w="med" len="med"/>
            </a:ln>
            <a:effectLst>
              <a:outerShdw blurRad="40000" dist="20000" dir="5400000" rotWithShape="0">
                <a:srgbClr val="000000">
                  <a:alpha val="38000"/>
                </a:srgbClr>
              </a:outerShdw>
            </a:effectLst>
          </p:spPr>
          <p:txBody>
            <a:bodyPr vert="horz" wrap="non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endParaRPr lang="en-US" kern="0">
                <a:solidFill>
                  <a:srgbClr val="000000"/>
                </a:solidFill>
                <a:latin typeface="Arial"/>
              </a:endParaRPr>
            </a:p>
          </p:txBody>
        </p:sp>
        <p:sp>
          <p:nvSpPr>
            <p:cNvPr id="19" name="Rectangle 18">
              <a:extLst>
                <a:ext uri="{FF2B5EF4-FFF2-40B4-BE49-F238E27FC236}">
                  <a16:creationId xmlns:a16="http://schemas.microsoft.com/office/drawing/2014/main" id="{B4ECE9FE-CE7C-4558-80D3-25705097F875}"/>
                </a:ext>
              </a:extLst>
            </p:cNvPr>
            <p:cNvSpPr/>
            <p:nvPr/>
          </p:nvSpPr>
          <p:spPr bwMode="auto">
            <a:xfrm>
              <a:off x="3650280" y="3321144"/>
              <a:ext cx="3686880" cy="184666"/>
            </a:xfrm>
            <a:prstGeom prst="rect">
              <a:avLst/>
            </a:prstGeom>
            <a:solidFill>
              <a:srgbClr val="8B8D09"/>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RTL (Spec)</a:t>
              </a:r>
            </a:p>
          </p:txBody>
        </p:sp>
        <p:sp>
          <p:nvSpPr>
            <p:cNvPr id="20" name="Rectangle 19">
              <a:extLst>
                <a:ext uri="{FF2B5EF4-FFF2-40B4-BE49-F238E27FC236}">
                  <a16:creationId xmlns:a16="http://schemas.microsoft.com/office/drawing/2014/main" id="{5F79137D-96A4-4A55-ADF7-7EAD264B2A00}"/>
                </a:ext>
              </a:extLst>
            </p:cNvPr>
            <p:cNvSpPr/>
            <p:nvPr/>
          </p:nvSpPr>
          <p:spPr bwMode="auto">
            <a:xfrm>
              <a:off x="7335940" y="3321144"/>
              <a:ext cx="1383800" cy="184666"/>
            </a:xfrm>
            <a:prstGeom prst="rect">
              <a:avLst/>
            </a:prstGeom>
            <a:solidFill>
              <a:srgbClr val="3F3F3F">
                <a:lumMod val="85000"/>
                <a:lumOff val="15000"/>
              </a:srgbClr>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RTL (</a:t>
              </a:r>
              <a:r>
                <a:rPr lang="en-US" sz="1100" kern="0" dirty="0" err="1">
                  <a:solidFill>
                    <a:srgbClr val="FFFFFF"/>
                  </a:solidFill>
                  <a:latin typeface="Arial"/>
                </a:rPr>
                <a:t>Sim</a:t>
              </a:r>
              <a:r>
                <a:rPr lang="en-US" sz="1100" kern="0" dirty="0">
                  <a:solidFill>
                    <a:srgbClr val="FFFFFF"/>
                  </a:solidFill>
                  <a:latin typeface="Arial"/>
                </a:rPr>
                <a:t>)</a:t>
              </a:r>
            </a:p>
          </p:txBody>
        </p:sp>
        <p:sp>
          <p:nvSpPr>
            <p:cNvPr id="21" name="Rectangle 20">
              <a:extLst>
                <a:ext uri="{FF2B5EF4-FFF2-40B4-BE49-F238E27FC236}">
                  <a16:creationId xmlns:a16="http://schemas.microsoft.com/office/drawing/2014/main" id="{A62EA6FB-DFDA-4F4D-AC93-06F4D10A4856}"/>
                </a:ext>
              </a:extLst>
            </p:cNvPr>
            <p:cNvSpPr/>
            <p:nvPr/>
          </p:nvSpPr>
          <p:spPr bwMode="auto">
            <a:xfrm>
              <a:off x="3650281" y="3820409"/>
              <a:ext cx="921720" cy="184666"/>
            </a:xfrm>
            <a:prstGeom prst="rect">
              <a:avLst/>
            </a:prstGeom>
            <a:solidFill>
              <a:srgbClr val="0070C0"/>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C (Spec/</a:t>
              </a:r>
              <a:r>
                <a:rPr lang="en-US" sz="1100" kern="0" dirty="0" err="1">
                  <a:solidFill>
                    <a:srgbClr val="FFFFFF"/>
                  </a:solidFill>
                  <a:latin typeface="Arial"/>
                </a:rPr>
                <a:t>Sim</a:t>
              </a:r>
              <a:r>
                <a:rPr lang="en-US" sz="1100" kern="0" dirty="0">
                  <a:solidFill>
                    <a:srgbClr val="FFFFFF"/>
                  </a:solidFill>
                  <a:latin typeface="Arial"/>
                </a:rPr>
                <a:t>)</a:t>
              </a:r>
            </a:p>
          </p:txBody>
        </p:sp>
        <p:sp>
          <p:nvSpPr>
            <p:cNvPr id="22" name="Rectangle 21">
              <a:extLst>
                <a:ext uri="{FF2B5EF4-FFF2-40B4-BE49-F238E27FC236}">
                  <a16:creationId xmlns:a16="http://schemas.microsoft.com/office/drawing/2014/main" id="{43E9DB24-7474-448D-8728-261C90912AE8}"/>
                </a:ext>
              </a:extLst>
            </p:cNvPr>
            <p:cNvSpPr/>
            <p:nvPr/>
          </p:nvSpPr>
          <p:spPr bwMode="auto">
            <a:xfrm>
              <a:off x="4572000" y="3820409"/>
              <a:ext cx="116435" cy="184666"/>
            </a:xfrm>
            <a:prstGeom prst="rect">
              <a:avLst/>
            </a:prstGeom>
            <a:solidFill>
              <a:srgbClr val="8B8D09"/>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endParaRPr lang="en-US" sz="1100" kern="0" dirty="0">
                <a:solidFill>
                  <a:srgbClr val="FFFFFF"/>
                </a:solidFill>
                <a:latin typeface="Arial"/>
              </a:endParaRPr>
            </a:p>
          </p:txBody>
        </p:sp>
        <p:sp>
          <p:nvSpPr>
            <p:cNvPr id="23" name="Rectangle 22">
              <a:extLst>
                <a:ext uri="{FF2B5EF4-FFF2-40B4-BE49-F238E27FC236}">
                  <a16:creationId xmlns:a16="http://schemas.microsoft.com/office/drawing/2014/main" id="{C4D37210-9042-49F8-BA6E-11857830E452}"/>
                </a:ext>
              </a:extLst>
            </p:cNvPr>
            <p:cNvSpPr/>
            <p:nvPr/>
          </p:nvSpPr>
          <p:spPr bwMode="auto">
            <a:xfrm>
              <a:off x="4687215" y="3820409"/>
              <a:ext cx="1383800" cy="184666"/>
            </a:xfrm>
            <a:prstGeom prst="rect">
              <a:avLst/>
            </a:prstGeom>
            <a:solidFill>
              <a:srgbClr val="3F3F3F">
                <a:lumMod val="85000"/>
                <a:lumOff val="15000"/>
              </a:srgbClr>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RTL (</a:t>
              </a:r>
              <a:r>
                <a:rPr lang="en-US" sz="1100" kern="0" dirty="0" err="1">
                  <a:solidFill>
                    <a:srgbClr val="FFFFFF"/>
                  </a:solidFill>
                  <a:latin typeface="Arial"/>
                </a:rPr>
                <a:t>Sim</a:t>
              </a:r>
              <a:r>
                <a:rPr lang="en-US" sz="1100" kern="0" dirty="0">
                  <a:solidFill>
                    <a:srgbClr val="FFFFFF"/>
                  </a:solidFill>
                  <a:latin typeface="Arial"/>
                </a:rPr>
                <a:t>)</a:t>
              </a: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Vitis HLS Benefits</a:t>
            </a:r>
          </a:p>
        </p:txBody>
      </p:sp>
      <p:sp>
        <p:nvSpPr>
          <p:cNvPr id="2" name="Content Placeholder 1"/>
          <p:cNvSpPr>
            <a:spLocks noGrp="1"/>
          </p:cNvSpPr>
          <p:nvPr>
            <p:ph idx="1"/>
          </p:nvPr>
        </p:nvSpPr>
        <p:spPr/>
        <p:txBody>
          <a:bodyPr/>
          <a:lstStyle/>
          <a:p>
            <a:r>
              <a:rPr lang="en-US" dirty="0">
                <a:solidFill>
                  <a:schemeClr val="tx1"/>
                </a:solidFill>
              </a:rPr>
              <a:t>Portability</a:t>
            </a:r>
          </a:p>
          <a:p>
            <a:pPr lvl="1"/>
            <a:r>
              <a:rPr lang="en-US" dirty="0"/>
              <a:t>Processors and FPGAs</a:t>
            </a:r>
          </a:p>
          <a:p>
            <a:pPr lvl="1"/>
            <a:r>
              <a:rPr lang="en-US" dirty="0"/>
              <a:t>Technology migration</a:t>
            </a:r>
          </a:p>
          <a:p>
            <a:pPr lvl="1"/>
            <a:r>
              <a:rPr lang="en-US" dirty="0"/>
              <a:t>Cost reduction</a:t>
            </a:r>
          </a:p>
          <a:p>
            <a:pPr lvl="1"/>
            <a:r>
              <a:rPr lang="en-US" dirty="0"/>
              <a:t>Power reduction</a:t>
            </a:r>
          </a:p>
          <a:p>
            <a:pPr marL="0" indent="0">
              <a:buNone/>
            </a:pPr>
            <a:endParaRPr lang="en-US" dirty="0"/>
          </a:p>
          <a:p>
            <a:endParaRPr lang="en-US" dirty="0"/>
          </a:p>
          <a:p>
            <a:r>
              <a:rPr lang="en-US" dirty="0">
                <a:solidFill>
                  <a:schemeClr val="tx1"/>
                </a:solidFill>
              </a:rPr>
              <a:t>Design and IP reuse</a:t>
            </a:r>
          </a:p>
          <a:p>
            <a:endParaRPr lang="en-US" dirty="0">
              <a:solidFill>
                <a:schemeClr val="tx1"/>
              </a:solidFill>
            </a:endParaRPr>
          </a:p>
        </p:txBody>
      </p:sp>
      <p:sp>
        <p:nvSpPr>
          <p:cNvPr id="3" name="Slide Number Placeholder 2">
            <a:extLst>
              <a:ext uri="{FF2B5EF4-FFF2-40B4-BE49-F238E27FC236}">
                <a16:creationId xmlns:a16="http://schemas.microsoft.com/office/drawing/2014/main" id="{E685BD0F-AB2C-4BA2-AF16-9C7917CCA2BB}"/>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16</a:t>
            </a:fld>
            <a:endParaRPr lang="en-US" dirty="0"/>
          </a:p>
        </p:txBody>
      </p:sp>
      <p:grpSp>
        <p:nvGrpSpPr>
          <p:cNvPr id="101" name="Group 100">
            <a:extLst>
              <a:ext uri="{FF2B5EF4-FFF2-40B4-BE49-F238E27FC236}">
                <a16:creationId xmlns:a16="http://schemas.microsoft.com/office/drawing/2014/main" id="{029436F6-75D5-43CF-960A-357256AA9930}"/>
              </a:ext>
            </a:extLst>
          </p:cNvPr>
          <p:cNvGrpSpPr/>
          <p:nvPr/>
        </p:nvGrpSpPr>
        <p:grpSpPr>
          <a:xfrm>
            <a:off x="6096001" y="1201510"/>
            <a:ext cx="4647005" cy="4454980"/>
            <a:chOff x="4811165" y="1316725"/>
            <a:chExt cx="4647005" cy="4454980"/>
          </a:xfrm>
        </p:grpSpPr>
        <p:sp>
          <p:nvSpPr>
            <p:cNvPr id="102" name="Folded Corner 5">
              <a:extLst>
                <a:ext uri="{FF2B5EF4-FFF2-40B4-BE49-F238E27FC236}">
                  <a16:creationId xmlns:a16="http://schemas.microsoft.com/office/drawing/2014/main" id="{313C7658-65C5-44CF-A107-B16BE1CA2E08}"/>
                </a:ext>
              </a:extLst>
            </p:cNvPr>
            <p:cNvSpPr/>
            <p:nvPr/>
          </p:nvSpPr>
          <p:spPr bwMode="auto">
            <a:xfrm>
              <a:off x="6413195" y="285875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3" name="Folded Corner 6">
              <a:extLst>
                <a:ext uri="{FF2B5EF4-FFF2-40B4-BE49-F238E27FC236}">
                  <a16:creationId xmlns:a16="http://schemas.microsoft.com/office/drawing/2014/main" id="{8966B7C2-5625-4994-A7C9-1230AA6A0807}"/>
                </a:ext>
              </a:extLst>
            </p:cNvPr>
            <p:cNvSpPr/>
            <p:nvPr/>
          </p:nvSpPr>
          <p:spPr bwMode="auto">
            <a:xfrm>
              <a:off x="6193745" y="431814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4" name="Folded Corner 7">
              <a:extLst>
                <a:ext uri="{FF2B5EF4-FFF2-40B4-BE49-F238E27FC236}">
                  <a16:creationId xmlns:a16="http://schemas.microsoft.com/office/drawing/2014/main" id="{5C9AF947-A320-45A6-9652-34509B66EAB2}"/>
                </a:ext>
              </a:extLst>
            </p:cNvPr>
            <p:cNvSpPr/>
            <p:nvPr/>
          </p:nvSpPr>
          <p:spPr bwMode="auto">
            <a:xfrm>
              <a:off x="6070233" y="355004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5" name="Folded Corner 8">
              <a:extLst>
                <a:ext uri="{FF2B5EF4-FFF2-40B4-BE49-F238E27FC236}">
                  <a16:creationId xmlns:a16="http://schemas.microsoft.com/office/drawing/2014/main" id="{1C272F3A-B0B2-48CC-9607-162B8A16901E}"/>
                </a:ext>
              </a:extLst>
            </p:cNvPr>
            <p:cNvSpPr/>
            <p:nvPr/>
          </p:nvSpPr>
          <p:spPr bwMode="auto">
            <a:xfrm>
              <a:off x="8972770" y="4504340"/>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6" name="Folded Corner 9">
              <a:extLst>
                <a:ext uri="{FF2B5EF4-FFF2-40B4-BE49-F238E27FC236}">
                  <a16:creationId xmlns:a16="http://schemas.microsoft.com/office/drawing/2014/main" id="{44099D15-3F48-4A5F-A5DC-84CC56CC0B65}"/>
                </a:ext>
              </a:extLst>
            </p:cNvPr>
            <p:cNvSpPr/>
            <p:nvPr/>
          </p:nvSpPr>
          <p:spPr bwMode="auto">
            <a:xfrm>
              <a:off x="8067293" y="5118820"/>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7" name="Folded Corner 10">
              <a:extLst>
                <a:ext uri="{FF2B5EF4-FFF2-40B4-BE49-F238E27FC236}">
                  <a16:creationId xmlns:a16="http://schemas.microsoft.com/office/drawing/2014/main" id="{CB098295-2FAA-4D2A-8F7B-39D2759DC613}"/>
                </a:ext>
              </a:extLst>
            </p:cNvPr>
            <p:cNvSpPr/>
            <p:nvPr/>
          </p:nvSpPr>
          <p:spPr bwMode="auto">
            <a:xfrm>
              <a:off x="7735513" y="439495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pic>
          <p:nvPicPr>
            <p:cNvPr id="108" name="Picture 6" descr="http://www.xilinx.com/images/product-images/th_k7_chip_300ppi.jpg.jpg">
              <a:extLst>
                <a:ext uri="{FF2B5EF4-FFF2-40B4-BE49-F238E27FC236}">
                  <a16:creationId xmlns:a16="http://schemas.microsoft.com/office/drawing/2014/main" id="{B9596DA7-B976-4891-8FA0-3CB089797716}"/>
                </a:ext>
              </a:extLst>
            </p:cNvPr>
            <p:cNvPicPr>
              <a:picLocks noChangeAspect="1" noChangeArrowheads="1"/>
            </p:cNvPicPr>
            <p:nvPr/>
          </p:nvPicPr>
          <p:blipFill>
            <a:blip r:embed="rId3" cstate="print"/>
            <a:srcRect/>
            <a:stretch>
              <a:fillRect/>
            </a:stretch>
          </p:blipFill>
          <p:spPr bwMode="auto">
            <a:xfrm>
              <a:off x="7192275" y="4403835"/>
              <a:ext cx="666750" cy="638175"/>
            </a:xfrm>
            <a:prstGeom prst="rect">
              <a:avLst/>
            </a:prstGeom>
            <a:ln>
              <a:noFill/>
            </a:ln>
            <a:effectLst>
              <a:outerShdw blurRad="292100" dist="139700" dir="2700000" algn="tl" rotWithShape="0">
                <a:srgbClr val="333333">
                  <a:alpha val="65000"/>
                </a:srgbClr>
              </a:outerShdw>
            </a:effectLst>
            <a:scene3d>
              <a:camera prst="perspectiveContrastingLeftFacing"/>
              <a:lightRig rig="threePt" dir="t"/>
            </a:scene3d>
          </p:spPr>
        </p:pic>
        <p:pic>
          <p:nvPicPr>
            <p:cNvPr id="109" name="Picture 10" descr="http://images-eu.amazon.com/images/P/0131103628.03.LZZZZZZZ.jpg">
              <a:extLst>
                <a:ext uri="{FF2B5EF4-FFF2-40B4-BE49-F238E27FC236}">
                  <a16:creationId xmlns:a16="http://schemas.microsoft.com/office/drawing/2014/main" id="{0061453F-789F-4940-B4ED-2AD44A646D2E}"/>
                </a:ext>
              </a:extLst>
            </p:cNvPr>
            <p:cNvPicPr>
              <a:picLocks noChangeAspect="1" noChangeArrowheads="1"/>
            </p:cNvPicPr>
            <p:nvPr/>
          </p:nvPicPr>
          <p:blipFill>
            <a:blip r:embed="rId4" cstate="print"/>
            <a:srcRect/>
            <a:stretch>
              <a:fillRect/>
            </a:stretch>
          </p:blipFill>
          <p:spPr bwMode="auto">
            <a:xfrm>
              <a:off x="8301822" y="1316725"/>
              <a:ext cx="1156348" cy="152552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0" name="Picture 14" descr="http://www.em.avnet.com/img_shared/fea/df2df2usa/xlx-virtex-4_logo.jpg">
              <a:extLst>
                <a:ext uri="{FF2B5EF4-FFF2-40B4-BE49-F238E27FC236}">
                  <a16:creationId xmlns:a16="http://schemas.microsoft.com/office/drawing/2014/main" id="{AE700494-40E4-42C3-BA90-9D3B902DAE55}"/>
                </a:ext>
              </a:extLst>
            </p:cNvPr>
            <p:cNvPicPr>
              <a:picLocks noChangeAspect="1" noChangeArrowheads="1"/>
            </p:cNvPicPr>
            <p:nvPr/>
          </p:nvPicPr>
          <p:blipFill>
            <a:blip r:embed="rId5" cstate="print"/>
            <a:srcRect/>
            <a:stretch>
              <a:fillRect/>
            </a:stretch>
          </p:blipFill>
          <p:spPr bwMode="auto">
            <a:xfrm>
              <a:off x="5195215" y="2647134"/>
              <a:ext cx="1371600" cy="672483"/>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1" name="Picture 16" descr="http://www.nuhorizons.com/xilinx/images/v5logo.jpg">
              <a:extLst>
                <a:ext uri="{FF2B5EF4-FFF2-40B4-BE49-F238E27FC236}">
                  <a16:creationId xmlns:a16="http://schemas.microsoft.com/office/drawing/2014/main" id="{8DCAD48D-1A07-4F09-B958-44F922845F86}"/>
                </a:ext>
              </a:extLst>
            </p:cNvPr>
            <p:cNvPicPr>
              <a:picLocks noChangeAspect="1" noChangeArrowheads="1"/>
            </p:cNvPicPr>
            <p:nvPr/>
          </p:nvPicPr>
          <p:blipFill>
            <a:blip r:embed="rId6" cstate="print"/>
            <a:srcRect/>
            <a:stretch>
              <a:fillRect/>
            </a:stretch>
          </p:blipFill>
          <p:spPr bwMode="auto">
            <a:xfrm>
              <a:off x="4811165" y="3313785"/>
              <a:ext cx="1371600" cy="718073"/>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2" name="Picture 20" descr="http://www.silica.com/fileadmin/02_Products/Productdetails/LiveServerOld/05_Product-News/09_PLD/XLX_Virtex6_logo.jpg">
              <a:extLst>
                <a:ext uri="{FF2B5EF4-FFF2-40B4-BE49-F238E27FC236}">
                  <a16:creationId xmlns:a16="http://schemas.microsoft.com/office/drawing/2014/main" id="{20A42DEF-2C7A-482A-B615-3FBB1AF8D10A}"/>
                </a:ext>
              </a:extLst>
            </p:cNvPr>
            <p:cNvPicPr>
              <a:picLocks noChangeAspect="1" noChangeArrowheads="1"/>
            </p:cNvPicPr>
            <p:nvPr/>
          </p:nvPicPr>
          <p:blipFill>
            <a:blip r:embed="rId7" cstate="print"/>
            <a:srcRect t="27690" b="30675"/>
            <a:stretch>
              <a:fillRect/>
            </a:stretch>
          </p:blipFill>
          <p:spPr bwMode="auto">
            <a:xfrm>
              <a:off x="4964785" y="4158695"/>
              <a:ext cx="1371600" cy="571066"/>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3" name="Picture 4" descr="http://www.xilinx.com/images/product-images/th_v7_chip_300ppi.jpg.jpg">
              <a:extLst>
                <a:ext uri="{FF2B5EF4-FFF2-40B4-BE49-F238E27FC236}">
                  <a16:creationId xmlns:a16="http://schemas.microsoft.com/office/drawing/2014/main" id="{95C3DA83-9D26-4CBA-AD0C-E3B7C922B04B}"/>
                </a:ext>
              </a:extLst>
            </p:cNvPr>
            <p:cNvPicPr>
              <a:picLocks noChangeAspect="1" noChangeArrowheads="1"/>
            </p:cNvPicPr>
            <p:nvPr/>
          </p:nvPicPr>
          <p:blipFill>
            <a:blip r:embed="rId8" cstate="print"/>
            <a:srcRect/>
            <a:stretch>
              <a:fillRect/>
            </a:stretch>
          </p:blipFill>
          <p:spPr bwMode="auto">
            <a:xfrm>
              <a:off x="8421235" y="4519050"/>
              <a:ext cx="666750" cy="63817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4" name="Picture 2" descr="http://www.xilinx.com/images/product-images/th_a7_chip_300ppi.jpg.jpg">
              <a:extLst>
                <a:ext uri="{FF2B5EF4-FFF2-40B4-BE49-F238E27FC236}">
                  <a16:creationId xmlns:a16="http://schemas.microsoft.com/office/drawing/2014/main" id="{473A740E-9818-41E0-B325-5725D97C2EA6}"/>
                </a:ext>
              </a:extLst>
            </p:cNvPr>
            <p:cNvPicPr>
              <a:picLocks noChangeAspect="1" noChangeArrowheads="1"/>
            </p:cNvPicPr>
            <p:nvPr/>
          </p:nvPicPr>
          <p:blipFill>
            <a:blip r:embed="rId9" cstate="print"/>
            <a:srcRect/>
            <a:stretch>
              <a:fillRect/>
            </a:stretch>
          </p:blipFill>
          <p:spPr bwMode="auto">
            <a:xfrm>
              <a:off x="7524055" y="5133530"/>
              <a:ext cx="666750" cy="638175"/>
            </a:xfrm>
            <a:prstGeom prst="rect">
              <a:avLst/>
            </a:prstGeom>
            <a:ln>
              <a:noFill/>
            </a:ln>
            <a:effectLst>
              <a:outerShdw blurRad="292100" dist="139700" dir="2700000" algn="tl" rotWithShape="0">
                <a:srgbClr val="333333">
                  <a:alpha val="65000"/>
                </a:srgbClr>
              </a:outerShdw>
            </a:effectLst>
            <a:scene3d>
              <a:camera prst="perspectiveContrastingLeftFacing"/>
              <a:lightRig rig="threePt" dir="t"/>
            </a:scene3d>
          </p:spPr>
        </p:pic>
        <p:cxnSp>
          <p:nvCxnSpPr>
            <p:cNvPr id="115" name="Straight Arrow Connector 114">
              <a:extLst>
                <a:ext uri="{FF2B5EF4-FFF2-40B4-BE49-F238E27FC236}">
                  <a16:creationId xmlns:a16="http://schemas.microsoft.com/office/drawing/2014/main" id="{2CA8B658-9683-4AD0-801B-8E333AE77A9E}"/>
                </a:ext>
              </a:extLst>
            </p:cNvPr>
            <p:cNvCxnSpPr>
              <a:stCxn id="109" idx="2"/>
              <a:endCxn id="102" idx="3"/>
            </p:cNvCxnSpPr>
            <p:nvPr/>
          </p:nvCxnSpPr>
          <p:spPr bwMode="auto">
            <a:xfrm rot="5400000">
              <a:off x="7720759" y="1965439"/>
              <a:ext cx="282426" cy="2036049"/>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6" name="Straight Arrow Connector 115">
              <a:extLst>
                <a:ext uri="{FF2B5EF4-FFF2-40B4-BE49-F238E27FC236}">
                  <a16:creationId xmlns:a16="http://schemas.microsoft.com/office/drawing/2014/main" id="{6C5ACD30-D02F-4D34-8D95-A214889C5BC2}"/>
                </a:ext>
              </a:extLst>
            </p:cNvPr>
            <p:cNvCxnSpPr>
              <a:stCxn id="109" idx="2"/>
              <a:endCxn id="104" idx="3"/>
            </p:cNvCxnSpPr>
            <p:nvPr/>
          </p:nvCxnSpPr>
          <p:spPr bwMode="auto">
            <a:xfrm rot="5400000">
              <a:off x="7203633" y="2139603"/>
              <a:ext cx="973716" cy="2379011"/>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7" name="Straight Arrow Connector 116">
              <a:extLst>
                <a:ext uri="{FF2B5EF4-FFF2-40B4-BE49-F238E27FC236}">
                  <a16:creationId xmlns:a16="http://schemas.microsoft.com/office/drawing/2014/main" id="{BEB492D2-9787-4299-9ED6-A14E4C4FADCA}"/>
                </a:ext>
              </a:extLst>
            </p:cNvPr>
            <p:cNvCxnSpPr>
              <a:stCxn id="109" idx="2"/>
              <a:endCxn id="103" idx="3"/>
            </p:cNvCxnSpPr>
            <p:nvPr/>
          </p:nvCxnSpPr>
          <p:spPr bwMode="auto">
            <a:xfrm rot="5400000">
              <a:off x="6881339" y="2585409"/>
              <a:ext cx="1741816" cy="2255499"/>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8" name="Straight Arrow Connector 117">
              <a:extLst>
                <a:ext uri="{FF2B5EF4-FFF2-40B4-BE49-F238E27FC236}">
                  <a16:creationId xmlns:a16="http://schemas.microsoft.com/office/drawing/2014/main" id="{B8AE15EA-35EF-49EF-AB17-08E389C4A9AE}"/>
                </a:ext>
              </a:extLst>
            </p:cNvPr>
            <p:cNvCxnSpPr>
              <a:stCxn id="109" idx="2"/>
              <a:endCxn id="107" idx="0"/>
            </p:cNvCxnSpPr>
            <p:nvPr/>
          </p:nvCxnSpPr>
          <p:spPr bwMode="auto">
            <a:xfrm rot="5400000">
              <a:off x="7639090" y="3154050"/>
              <a:ext cx="1552707" cy="929107"/>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9" name="Straight Arrow Connector 118">
              <a:extLst>
                <a:ext uri="{FF2B5EF4-FFF2-40B4-BE49-F238E27FC236}">
                  <a16:creationId xmlns:a16="http://schemas.microsoft.com/office/drawing/2014/main" id="{0125108A-A0B3-4109-A1E0-DD6D9677AFC5}"/>
                </a:ext>
              </a:extLst>
            </p:cNvPr>
            <p:cNvCxnSpPr>
              <a:stCxn id="109" idx="2"/>
              <a:endCxn id="105" idx="0"/>
            </p:cNvCxnSpPr>
            <p:nvPr/>
          </p:nvCxnSpPr>
          <p:spPr bwMode="auto">
            <a:xfrm rot="16200000" flipH="1">
              <a:off x="8203026" y="3519220"/>
              <a:ext cx="1662090" cy="308150"/>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20" name="Straight Arrow Connector 119">
              <a:extLst>
                <a:ext uri="{FF2B5EF4-FFF2-40B4-BE49-F238E27FC236}">
                  <a16:creationId xmlns:a16="http://schemas.microsoft.com/office/drawing/2014/main" id="{9680FE71-0BE7-4321-902C-56AF899FDE43}"/>
                </a:ext>
              </a:extLst>
            </p:cNvPr>
            <p:cNvCxnSpPr>
              <a:stCxn id="109" idx="2"/>
              <a:endCxn id="106" idx="0"/>
            </p:cNvCxnSpPr>
            <p:nvPr/>
          </p:nvCxnSpPr>
          <p:spPr bwMode="auto">
            <a:xfrm rot="5400000">
              <a:off x="7443048" y="3681872"/>
              <a:ext cx="2276570" cy="597327"/>
            </a:xfrm>
            <a:prstGeom prst="straightConnector1">
              <a:avLst/>
            </a:prstGeom>
            <a:solidFill>
              <a:srgbClr val="EC891D"/>
            </a:solidFill>
            <a:ln w="9525" cap="flat" cmpd="sng" algn="ctr">
              <a:solidFill>
                <a:srgbClr val="C00000"/>
              </a:solidFill>
              <a:prstDash val="solid"/>
              <a:round/>
              <a:headEnd type="none" w="med" len="med"/>
              <a:tailEnd type="stealth"/>
            </a:ln>
            <a:effectLst/>
          </p:spPr>
        </p:cxn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Vitis HLS Benefits</a:t>
            </a:r>
          </a:p>
        </p:txBody>
      </p:sp>
      <p:sp>
        <p:nvSpPr>
          <p:cNvPr id="2" name="Content Placeholder 1"/>
          <p:cNvSpPr>
            <a:spLocks noGrp="1"/>
          </p:cNvSpPr>
          <p:nvPr>
            <p:ph idx="1"/>
          </p:nvPr>
        </p:nvSpPr>
        <p:spPr/>
        <p:txBody>
          <a:bodyPr/>
          <a:lstStyle/>
          <a:p>
            <a:r>
              <a:rPr lang="en-US" dirty="0"/>
              <a:t>Permutability</a:t>
            </a:r>
          </a:p>
          <a:p>
            <a:pPr lvl="1"/>
            <a:r>
              <a:rPr lang="en-US" dirty="0"/>
              <a:t>Architecture Exploration</a:t>
            </a:r>
          </a:p>
          <a:p>
            <a:pPr lvl="2"/>
            <a:r>
              <a:rPr lang="en-US" dirty="0"/>
              <a:t>Timing</a:t>
            </a:r>
          </a:p>
          <a:p>
            <a:pPr lvl="3"/>
            <a:r>
              <a:rPr lang="en-US" dirty="0"/>
              <a:t>Parallelization</a:t>
            </a:r>
          </a:p>
          <a:p>
            <a:pPr lvl="3"/>
            <a:r>
              <a:rPr lang="en-US" dirty="0"/>
              <a:t>Pipelining</a:t>
            </a:r>
          </a:p>
          <a:p>
            <a:pPr lvl="2"/>
            <a:r>
              <a:rPr lang="en-US" dirty="0"/>
              <a:t>Resources</a:t>
            </a:r>
          </a:p>
          <a:p>
            <a:pPr lvl="3"/>
            <a:r>
              <a:rPr lang="en-US" dirty="0"/>
              <a:t>Sharing</a:t>
            </a:r>
          </a:p>
          <a:p>
            <a:pPr lvl="1"/>
            <a:r>
              <a:rPr lang="en-US" dirty="0"/>
              <a:t>Better </a:t>
            </a:r>
            <a:r>
              <a:rPr lang="en-US" dirty="0" err="1"/>
              <a:t>QoR</a:t>
            </a:r>
            <a:endParaRPr lang="en-US" dirty="0"/>
          </a:p>
          <a:p>
            <a:pPr marL="0" indent="0">
              <a:buNone/>
            </a:pPr>
            <a:endParaRPr lang="en-US" dirty="0"/>
          </a:p>
          <a:p>
            <a:r>
              <a:rPr lang="en-US" dirty="0">
                <a:solidFill>
                  <a:schemeClr val="tx1"/>
                </a:solidFill>
              </a:rPr>
              <a:t>Rapid design exploration delivers </a:t>
            </a:r>
            <a:r>
              <a:rPr lang="en-US" dirty="0" err="1">
                <a:solidFill>
                  <a:schemeClr val="tx1"/>
                </a:solidFill>
              </a:rPr>
              <a:t>QoR</a:t>
            </a:r>
            <a:r>
              <a:rPr lang="en-US" dirty="0">
                <a:solidFill>
                  <a:schemeClr val="tx1"/>
                </a:solidFill>
              </a:rPr>
              <a:t> </a:t>
            </a:r>
            <a:br>
              <a:rPr lang="en-US" dirty="0">
                <a:solidFill>
                  <a:schemeClr val="tx1"/>
                </a:solidFill>
              </a:rPr>
            </a:br>
            <a:r>
              <a:rPr lang="en-US" dirty="0">
                <a:solidFill>
                  <a:schemeClr val="tx1"/>
                </a:solidFill>
              </a:rPr>
              <a:t>rivaling hand-coded RTL</a:t>
            </a:r>
          </a:p>
        </p:txBody>
      </p:sp>
      <p:sp>
        <p:nvSpPr>
          <p:cNvPr id="3" name="Slide Number Placeholder 2">
            <a:extLst>
              <a:ext uri="{FF2B5EF4-FFF2-40B4-BE49-F238E27FC236}">
                <a16:creationId xmlns:a16="http://schemas.microsoft.com/office/drawing/2014/main" id="{CE6354F9-1653-47FE-99C5-D26561AC73DB}"/>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17</a:t>
            </a:fld>
            <a:endParaRPr lang="en-US" dirty="0"/>
          </a:p>
        </p:txBody>
      </p:sp>
      <p:grpSp>
        <p:nvGrpSpPr>
          <p:cNvPr id="81" name="Group 80">
            <a:extLst>
              <a:ext uri="{FF2B5EF4-FFF2-40B4-BE49-F238E27FC236}">
                <a16:creationId xmlns:a16="http://schemas.microsoft.com/office/drawing/2014/main" id="{00EF51CE-8838-42D9-B196-5242C486BE34}"/>
              </a:ext>
            </a:extLst>
          </p:cNvPr>
          <p:cNvGrpSpPr/>
          <p:nvPr/>
        </p:nvGrpSpPr>
        <p:grpSpPr>
          <a:xfrm>
            <a:off x="5882798" y="1010034"/>
            <a:ext cx="5837560" cy="4482710"/>
            <a:chOff x="3112610" y="1327400"/>
            <a:chExt cx="5837560" cy="4482710"/>
          </a:xfrm>
        </p:grpSpPr>
        <p:cxnSp>
          <p:nvCxnSpPr>
            <p:cNvPr id="82" name="Straight Arrow Connector 81">
              <a:extLst>
                <a:ext uri="{FF2B5EF4-FFF2-40B4-BE49-F238E27FC236}">
                  <a16:creationId xmlns:a16="http://schemas.microsoft.com/office/drawing/2014/main" id="{DDDD7F98-78C7-4047-AC7C-51297A930B80}"/>
                </a:ext>
              </a:extLst>
            </p:cNvPr>
            <p:cNvCxnSpPr>
              <a:stCxn id="87" idx="2"/>
              <a:endCxn id="99" idx="0"/>
            </p:cNvCxnSpPr>
            <p:nvPr/>
          </p:nvCxnSpPr>
          <p:spPr bwMode="auto">
            <a:xfrm rot="5400000">
              <a:off x="5758543" y="768014"/>
              <a:ext cx="581907" cy="2831479"/>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3" name="Straight Arrow Connector 82">
              <a:extLst>
                <a:ext uri="{FF2B5EF4-FFF2-40B4-BE49-F238E27FC236}">
                  <a16:creationId xmlns:a16="http://schemas.microsoft.com/office/drawing/2014/main" id="{14CE0317-7CE0-4294-9E1E-806CC4FBD5DD}"/>
                </a:ext>
              </a:extLst>
            </p:cNvPr>
            <p:cNvCxnSpPr>
              <a:stCxn id="87" idx="2"/>
              <a:endCxn id="97" idx="3"/>
            </p:cNvCxnSpPr>
            <p:nvPr/>
          </p:nvCxnSpPr>
          <p:spPr bwMode="auto">
            <a:xfrm rot="5400000">
              <a:off x="4603239" y="1639428"/>
              <a:ext cx="2608624" cy="3115368"/>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4" name="Straight Arrow Connector 83">
              <a:extLst>
                <a:ext uri="{FF2B5EF4-FFF2-40B4-BE49-F238E27FC236}">
                  <a16:creationId xmlns:a16="http://schemas.microsoft.com/office/drawing/2014/main" id="{5DFB1170-BE61-4FD5-B724-617FB18064E5}"/>
                </a:ext>
              </a:extLst>
            </p:cNvPr>
            <p:cNvCxnSpPr>
              <a:stCxn id="87" idx="2"/>
              <a:endCxn id="93" idx="0"/>
            </p:cNvCxnSpPr>
            <p:nvPr/>
          </p:nvCxnSpPr>
          <p:spPr bwMode="auto">
            <a:xfrm rot="5400000">
              <a:off x="5127776" y="1974855"/>
              <a:ext cx="2419515" cy="2255404"/>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5" name="Straight Arrow Connector 84">
              <a:extLst>
                <a:ext uri="{FF2B5EF4-FFF2-40B4-BE49-F238E27FC236}">
                  <a16:creationId xmlns:a16="http://schemas.microsoft.com/office/drawing/2014/main" id="{8026F022-D11A-47FD-85EA-7FCFE1534877}"/>
                </a:ext>
              </a:extLst>
            </p:cNvPr>
            <p:cNvCxnSpPr>
              <a:stCxn id="87" idx="2"/>
              <a:endCxn id="91" idx="0"/>
            </p:cNvCxnSpPr>
            <p:nvPr/>
          </p:nvCxnSpPr>
          <p:spPr bwMode="auto">
            <a:xfrm rot="5400000">
              <a:off x="5819066" y="2128475"/>
              <a:ext cx="1881845" cy="1410494"/>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6" name="Straight Arrow Connector 85">
              <a:extLst>
                <a:ext uri="{FF2B5EF4-FFF2-40B4-BE49-F238E27FC236}">
                  <a16:creationId xmlns:a16="http://schemas.microsoft.com/office/drawing/2014/main" id="{772AE285-3335-48B8-A0D0-557FCCD7EC42}"/>
                </a:ext>
              </a:extLst>
            </p:cNvPr>
            <p:cNvCxnSpPr>
              <a:stCxn id="87" idx="2"/>
              <a:endCxn id="89" idx="0"/>
            </p:cNvCxnSpPr>
            <p:nvPr/>
          </p:nvCxnSpPr>
          <p:spPr bwMode="auto">
            <a:xfrm rot="5400000">
              <a:off x="6395141" y="2781360"/>
              <a:ext cx="1958655" cy="181534"/>
            </a:xfrm>
            <a:prstGeom prst="straightConnector1">
              <a:avLst/>
            </a:prstGeom>
            <a:solidFill>
              <a:srgbClr val="EC891D"/>
            </a:solidFill>
            <a:ln w="9525" cap="flat" cmpd="sng" algn="ctr">
              <a:solidFill>
                <a:srgbClr val="C00000"/>
              </a:solidFill>
              <a:prstDash val="solid"/>
              <a:round/>
              <a:headEnd type="none" w="med" len="med"/>
              <a:tailEnd type="stealth"/>
            </a:ln>
            <a:effectLst/>
          </p:spPr>
        </p:cxnSp>
        <p:sp>
          <p:nvSpPr>
            <p:cNvPr id="87" name="Folded Corner 10">
              <a:extLst>
                <a:ext uri="{FF2B5EF4-FFF2-40B4-BE49-F238E27FC236}">
                  <a16:creationId xmlns:a16="http://schemas.microsoft.com/office/drawing/2014/main" id="{A4B18D31-FD10-4F7F-82FB-0BEB003D6ADB}"/>
                </a:ext>
              </a:extLst>
            </p:cNvPr>
            <p:cNvSpPr/>
            <p:nvPr/>
          </p:nvSpPr>
          <p:spPr bwMode="auto">
            <a:xfrm>
              <a:off x="6748400" y="1513630"/>
              <a:ext cx="1433670" cy="379170"/>
            </a:xfrm>
            <a:prstGeom prst="foldedCorner">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ln>
            <a:effectLst>
              <a:outerShdw blurRad="40000" dist="23000" dir="5400000" rotWithShape="0">
                <a:srgbClr val="000000">
                  <a:alpha val="35000"/>
                </a:srgbClr>
              </a:outerShdw>
            </a:effectLst>
            <a:scene3d>
              <a:camera prst="isometricOffAxis2Left"/>
              <a:lightRig rig="threePt" dir="t">
                <a:rot lat="0" lon="0" rev="1200000"/>
              </a:lightRig>
            </a:scene3d>
            <a:sp3d>
              <a:bevelT w="63500" h="25400"/>
            </a:sp3d>
          </p:spPr>
          <p:txBody>
            <a:bodyPr anchor="ctr"/>
            <a:lstStyle/>
            <a:p>
              <a:pPr algn="ctr" defTabSz="914400" fontAlgn="base">
                <a:spcBef>
                  <a:spcPct val="0"/>
                </a:spcBef>
                <a:spcAft>
                  <a:spcPct val="0"/>
                </a:spcAft>
                <a:defRPr/>
              </a:pPr>
              <a:r>
                <a:rPr lang="en-US" sz="900" b="1" kern="0" dirty="0">
                  <a:solidFill>
                    <a:srgbClr val="000000"/>
                  </a:solidFill>
                  <a:latin typeface="Arial"/>
                </a:rPr>
                <a:t>Untimed C</a:t>
              </a:r>
            </a:p>
            <a:p>
              <a:pPr algn="ctr" defTabSz="914400" fontAlgn="base">
                <a:spcBef>
                  <a:spcPct val="0"/>
                </a:spcBef>
                <a:spcAft>
                  <a:spcPct val="0"/>
                </a:spcAft>
                <a:defRPr/>
              </a:pPr>
              <a:r>
                <a:rPr lang="en-US" sz="900" b="1" kern="0" dirty="0">
                  <a:solidFill>
                    <a:srgbClr val="000000"/>
                  </a:solidFill>
                  <a:latin typeface="Arial"/>
                </a:rPr>
                <a:t>Specification</a:t>
              </a:r>
            </a:p>
          </p:txBody>
        </p:sp>
        <p:grpSp>
          <p:nvGrpSpPr>
            <p:cNvPr id="88" name="Group 173">
              <a:extLst>
                <a:ext uri="{FF2B5EF4-FFF2-40B4-BE49-F238E27FC236}">
                  <a16:creationId xmlns:a16="http://schemas.microsoft.com/office/drawing/2014/main" id="{A08012F7-AF30-4D1D-8535-534910493CE5}"/>
                </a:ext>
              </a:extLst>
            </p:cNvPr>
            <p:cNvGrpSpPr/>
            <p:nvPr/>
          </p:nvGrpSpPr>
          <p:grpSpPr>
            <a:xfrm>
              <a:off x="3227825" y="1934968"/>
              <a:ext cx="4612261" cy="3729686"/>
              <a:chOff x="4034330" y="1613010"/>
              <a:chExt cx="4612261" cy="3729686"/>
            </a:xfrm>
            <a:scene3d>
              <a:camera prst="isometricOffAxis2Left"/>
              <a:lightRig rig="threePt" dir="t"/>
            </a:scene3d>
          </p:grpSpPr>
          <p:sp>
            <p:nvSpPr>
              <p:cNvPr id="101" name="TextBox 100">
                <a:extLst>
                  <a:ext uri="{FF2B5EF4-FFF2-40B4-BE49-F238E27FC236}">
                    <a16:creationId xmlns:a16="http://schemas.microsoft.com/office/drawing/2014/main" id="{89D87B36-CB95-4787-A96F-45378026554C}"/>
                  </a:ext>
                </a:extLst>
              </p:cNvPr>
              <p:cNvSpPr txBox="1"/>
              <p:nvPr/>
            </p:nvSpPr>
            <p:spPr>
              <a:xfrm rot="16200000">
                <a:off x="3910578" y="1771404"/>
                <a:ext cx="524503"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latin typeface="Consolas" pitchFamily="49" charset="0"/>
                    <a:cs typeface="Consolas" pitchFamily="49" charset="0"/>
                  </a:rPr>
                  <a:t>Area</a:t>
                </a:r>
              </a:p>
            </p:txBody>
          </p:sp>
          <p:sp>
            <p:nvSpPr>
              <p:cNvPr id="102" name="TextBox 101">
                <a:extLst>
                  <a:ext uri="{FF2B5EF4-FFF2-40B4-BE49-F238E27FC236}">
                    <a16:creationId xmlns:a16="http://schemas.microsoft.com/office/drawing/2014/main" id="{3330493D-22A6-40E0-9BEE-A53C0A395C46}"/>
                  </a:ext>
                </a:extLst>
              </p:cNvPr>
              <p:cNvSpPr txBox="1"/>
              <p:nvPr/>
            </p:nvSpPr>
            <p:spPr>
              <a:xfrm>
                <a:off x="7490780" y="5065697"/>
                <a:ext cx="1119216"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latin typeface="Consolas" pitchFamily="49" charset="0"/>
                    <a:cs typeface="Consolas" pitchFamily="49" charset="0"/>
                  </a:rPr>
                  <a:t>Performance</a:t>
                </a:r>
              </a:p>
            </p:txBody>
          </p:sp>
          <p:grpSp>
            <p:nvGrpSpPr>
              <p:cNvPr id="103" name="Group 172">
                <a:extLst>
                  <a:ext uri="{FF2B5EF4-FFF2-40B4-BE49-F238E27FC236}">
                    <a16:creationId xmlns:a16="http://schemas.microsoft.com/office/drawing/2014/main" id="{29A5A0E7-4410-4540-9708-B6FBD8EDC447}"/>
                  </a:ext>
                </a:extLst>
              </p:cNvPr>
              <p:cNvGrpSpPr/>
              <p:nvPr/>
            </p:nvGrpSpPr>
            <p:grpSpPr>
              <a:xfrm>
                <a:off x="4376314" y="1814160"/>
                <a:ext cx="4266616" cy="3202230"/>
                <a:chOff x="4376314" y="1814160"/>
                <a:chExt cx="4266616" cy="3202230"/>
              </a:xfrm>
            </p:grpSpPr>
            <p:cxnSp>
              <p:nvCxnSpPr>
                <p:cNvPr id="106" name="Straight Connector 105">
                  <a:extLst>
                    <a:ext uri="{FF2B5EF4-FFF2-40B4-BE49-F238E27FC236}">
                      <a16:creationId xmlns:a16="http://schemas.microsoft.com/office/drawing/2014/main" id="{D3B9719F-0AD9-4DD2-A5A4-2EED128047F0}"/>
                    </a:ext>
                  </a:extLst>
                </p:cNvPr>
                <p:cNvCxnSpPr/>
                <p:nvPr/>
              </p:nvCxnSpPr>
              <p:spPr bwMode="auto">
                <a:xfrm>
                  <a:off x="4376314" y="4862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07" name="Straight Connector 106">
                  <a:extLst>
                    <a:ext uri="{FF2B5EF4-FFF2-40B4-BE49-F238E27FC236}">
                      <a16:creationId xmlns:a16="http://schemas.microsoft.com/office/drawing/2014/main" id="{D8B4DD85-8490-4707-9446-7611C6E8E322}"/>
                    </a:ext>
                  </a:extLst>
                </p:cNvPr>
                <p:cNvCxnSpPr/>
                <p:nvPr/>
              </p:nvCxnSpPr>
              <p:spPr bwMode="auto">
                <a:xfrm>
                  <a:off x="4376314" y="4709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08" name="Straight Connector 107">
                  <a:extLst>
                    <a:ext uri="{FF2B5EF4-FFF2-40B4-BE49-F238E27FC236}">
                      <a16:creationId xmlns:a16="http://schemas.microsoft.com/office/drawing/2014/main" id="{935E3B0B-F9E0-4B50-9AF9-5229DA10C386}"/>
                    </a:ext>
                  </a:extLst>
                </p:cNvPr>
                <p:cNvCxnSpPr/>
                <p:nvPr/>
              </p:nvCxnSpPr>
              <p:spPr bwMode="auto">
                <a:xfrm>
                  <a:off x="4376314" y="4557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09" name="Straight Connector 108">
                  <a:extLst>
                    <a:ext uri="{FF2B5EF4-FFF2-40B4-BE49-F238E27FC236}">
                      <a16:creationId xmlns:a16="http://schemas.microsoft.com/office/drawing/2014/main" id="{EAB362B9-3D3F-43E1-BC8E-3225547692F0}"/>
                    </a:ext>
                  </a:extLst>
                </p:cNvPr>
                <p:cNvCxnSpPr/>
                <p:nvPr/>
              </p:nvCxnSpPr>
              <p:spPr bwMode="auto">
                <a:xfrm>
                  <a:off x="4376314" y="4404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0" name="Straight Connector 109">
                  <a:extLst>
                    <a:ext uri="{FF2B5EF4-FFF2-40B4-BE49-F238E27FC236}">
                      <a16:creationId xmlns:a16="http://schemas.microsoft.com/office/drawing/2014/main" id="{EE81C4D0-BC97-45A9-84C4-F135308456D3}"/>
                    </a:ext>
                  </a:extLst>
                </p:cNvPr>
                <p:cNvCxnSpPr/>
                <p:nvPr/>
              </p:nvCxnSpPr>
              <p:spPr bwMode="auto">
                <a:xfrm>
                  <a:off x="4376314" y="4252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1" name="Straight Connector 110">
                  <a:extLst>
                    <a:ext uri="{FF2B5EF4-FFF2-40B4-BE49-F238E27FC236}">
                      <a16:creationId xmlns:a16="http://schemas.microsoft.com/office/drawing/2014/main" id="{3A66157E-6A4C-41E3-AD09-8439DCD5D8EA}"/>
                    </a:ext>
                  </a:extLst>
                </p:cNvPr>
                <p:cNvCxnSpPr/>
                <p:nvPr/>
              </p:nvCxnSpPr>
              <p:spPr bwMode="auto">
                <a:xfrm>
                  <a:off x="4376314" y="4100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2" name="Straight Connector 111">
                  <a:extLst>
                    <a:ext uri="{FF2B5EF4-FFF2-40B4-BE49-F238E27FC236}">
                      <a16:creationId xmlns:a16="http://schemas.microsoft.com/office/drawing/2014/main" id="{B5755483-A740-49BC-B1CC-CDB11FF476D1}"/>
                    </a:ext>
                  </a:extLst>
                </p:cNvPr>
                <p:cNvCxnSpPr/>
                <p:nvPr/>
              </p:nvCxnSpPr>
              <p:spPr bwMode="auto">
                <a:xfrm>
                  <a:off x="4376314" y="3947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3" name="Straight Connector 112">
                  <a:extLst>
                    <a:ext uri="{FF2B5EF4-FFF2-40B4-BE49-F238E27FC236}">
                      <a16:creationId xmlns:a16="http://schemas.microsoft.com/office/drawing/2014/main" id="{007293D7-C1BD-445F-B612-928D1297D7F3}"/>
                    </a:ext>
                  </a:extLst>
                </p:cNvPr>
                <p:cNvCxnSpPr/>
                <p:nvPr/>
              </p:nvCxnSpPr>
              <p:spPr bwMode="auto">
                <a:xfrm>
                  <a:off x="4376314" y="3795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4" name="Straight Connector 113">
                  <a:extLst>
                    <a:ext uri="{FF2B5EF4-FFF2-40B4-BE49-F238E27FC236}">
                      <a16:creationId xmlns:a16="http://schemas.microsoft.com/office/drawing/2014/main" id="{3C7614F8-DC48-43EE-AE20-C6B03B3DE609}"/>
                    </a:ext>
                  </a:extLst>
                </p:cNvPr>
                <p:cNvCxnSpPr/>
                <p:nvPr/>
              </p:nvCxnSpPr>
              <p:spPr bwMode="auto">
                <a:xfrm>
                  <a:off x="4376314" y="3642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5" name="Straight Connector 114">
                  <a:extLst>
                    <a:ext uri="{FF2B5EF4-FFF2-40B4-BE49-F238E27FC236}">
                      <a16:creationId xmlns:a16="http://schemas.microsoft.com/office/drawing/2014/main" id="{29CB0083-6319-4CBF-BC26-70CD337B632E}"/>
                    </a:ext>
                  </a:extLst>
                </p:cNvPr>
                <p:cNvCxnSpPr/>
                <p:nvPr/>
              </p:nvCxnSpPr>
              <p:spPr bwMode="auto">
                <a:xfrm>
                  <a:off x="4376314" y="3490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6" name="Straight Connector 115">
                  <a:extLst>
                    <a:ext uri="{FF2B5EF4-FFF2-40B4-BE49-F238E27FC236}">
                      <a16:creationId xmlns:a16="http://schemas.microsoft.com/office/drawing/2014/main" id="{80941E32-2A61-4869-A247-9FE6C568F5C3}"/>
                    </a:ext>
                  </a:extLst>
                </p:cNvPr>
                <p:cNvCxnSpPr/>
                <p:nvPr/>
              </p:nvCxnSpPr>
              <p:spPr bwMode="auto">
                <a:xfrm>
                  <a:off x="4376314" y="3338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7" name="Straight Connector 116">
                  <a:extLst>
                    <a:ext uri="{FF2B5EF4-FFF2-40B4-BE49-F238E27FC236}">
                      <a16:creationId xmlns:a16="http://schemas.microsoft.com/office/drawing/2014/main" id="{78F26750-B2EB-413B-9BF2-9E9D4A2E9CC4}"/>
                    </a:ext>
                  </a:extLst>
                </p:cNvPr>
                <p:cNvCxnSpPr/>
                <p:nvPr/>
              </p:nvCxnSpPr>
              <p:spPr bwMode="auto">
                <a:xfrm>
                  <a:off x="4376314" y="3185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8" name="Straight Connector 117">
                  <a:extLst>
                    <a:ext uri="{FF2B5EF4-FFF2-40B4-BE49-F238E27FC236}">
                      <a16:creationId xmlns:a16="http://schemas.microsoft.com/office/drawing/2014/main" id="{85C0288D-8354-446B-9A52-21E3404482A7}"/>
                    </a:ext>
                  </a:extLst>
                </p:cNvPr>
                <p:cNvCxnSpPr/>
                <p:nvPr/>
              </p:nvCxnSpPr>
              <p:spPr bwMode="auto">
                <a:xfrm>
                  <a:off x="4376314" y="3033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9" name="Straight Connector 118">
                  <a:extLst>
                    <a:ext uri="{FF2B5EF4-FFF2-40B4-BE49-F238E27FC236}">
                      <a16:creationId xmlns:a16="http://schemas.microsoft.com/office/drawing/2014/main" id="{5194D96A-6ECD-4AEB-81FB-9162D4C838F8}"/>
                    </a:ext>
                  </a:extLst>
                </p:cNvPr>
                <p:cNvCxnSpPr/>
                <p:nvPr/>
              </p:nvCxnSpPr>
              <p:spPr bwMode="auto">
                <a:xfrm>
                  <a:off x="4376314" y="2880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0" name="Straight Connector 119">
                  <a:extLst>
                    <a:ext uri="{FF2B5EF4-FFF2-40B4-BE49-F238E27FC236}">
                      <a16:creationId xmlns:a16="http://schemas.microsoft.com/office/drawing/2014/main" id="{B9C62CE8-FEC2-4DBE-9ABE-DC1E4C156DBC}"/>
                    </a:ext>
                  </a:extLst>
                </p:cNvPr>
                <p:cNvCxnSpPr/>
                <p:nvPr/>
              </p:nvCxnSpPr>
              <p:spPr bwMode="auto">
                <a:xfrm>
                  <a:off x="4376314" y="2728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1" name="Straight Connector 120">
                  <a:extLst>
                    <a:ext uri="{FF2B5EF4-FFF2-40B4-BE49-F238E27FC236}">
                      <a16:creationId xmlns:a16="http://schemas.microsoft.com/office/drawing/2014/main" id="{F2416A29-3503-47E2-AD66-B779BA60BF09}"/>
                    </a:ext>
                  </a:extLst>
                </p:cNvPr>
                <p:cNvCxnSpPr/>
                <p:nvPr/>
              </p:nvCxnSpPr>
              <p:spPr bwMode="auto">
                <a:xfrm>
                  <a:off x="4376314" y="2576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2" name="Straight Connector 121">
                  <a:extLst>
                    <a:ext uri="{FF2B5EF4-FFF2-40B4-BE49-F238E27FC236}">
                      <a16:creationId xmlns:a16="http://schemas.microsoft.com/office/drawing/2014/main" id="{A3A21E83-107B-4E28-8385-16AB17A5248D}"/>
                    </a:ext>
                  </a:extLst>
                </p:cNvPr>
                <p:cNvCxnSpPr/>
                <p:nvPr/>
              </p:nvCxnSpPr>
              <p:spPr bwMode="auto">
                <a:xfrm>
                  <a:off x="4376314" y="2423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3" name="Straight Connector 122">
                  <a:extLst>
                    <a:ext uri="{FF2B5EF4-FFF2-40B4-BE49-F238E27FC236}">
                      <a16:creationId xmlns:a16="http://schemas.microsoft.com/office/drawing/2014/main" id="{17651559-208A-414C-890C-84DB6EA289A1}"/>
                    </a:ext>
                  </a:extLst>
                </p:cNvPr>
                <p:cNvCxnSpPr/>
                <p:nvPr/>
              </p:nvCxnSpPr>
              <p:spPr bwMode="auto">
                <a:xfrm>
                  <a:off x="4376314" y="2271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4" name="Straight Connector 123">
                  <a:extLst>
                    <a:ext uri="{FF2B5EF4-FFF2-40B4-BE49-F238E27FC236}">
                      <a16:creationId xmlns:a16="http://schemas.microsoft.com/office/drawing/2014/main" id="{7F873D69-9E02-41C5-967C-2A3723059E97}"/>
                    </a:ext>
                  </a:extLst>
                </p:cNvPr>
                <p:cNvCxnSpPr/>
                <p:nvPr/>
              </p:nvCxnSpPr>
              <p:spPr bwMode="auto">
                <a:xfrm>
                  <a:off x="4376314" y="2118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5" name="Straight Connector 124">
                  <a:extLst>
                    <a:ext uri="{FF2B5EF4-FFF2-40B4-BE49-F238E27FC236}">
                      <a16:creationId xmlns:a16="http://schemas.microsoft.com/office/drawing/2014/main" id="{25BC79DE-3C67-423D-B335-846022178BB9}"/>
                    </a:ext>
                  </a:extLst>
                </p:cNvPr>
                <p:cNvCxnSpPr/>
                <p:nvPr/>
              </p:nvCxnSpPr>
              <p:spPr bwMode="auto">
                <a:xfrm>
                  <a:off x="4376314" y="1966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6" name="Straight Connector 125">
                  <a:extLst>
                    <a:ext uri="{FF2B5EF4-FFF2-40B4-BE49-F238E27FC236}">
                      <a16:creationId xmlns:a16="http://schemas.microsoft.com/office/drawing/2014/main" id="{F67DC8D1-D4F9-4866-AA2A-A99D170C2431}"/>
                    </a:ext>
                  </a:extLst>
                </p:cNvPr>
                <p:cNvCxnSpPr/>
                <p:nvPr/>
              </p:nvCxnSpPr>
              <p:spPr bwMode="auto">
                <a:xfrm>
                  <a:off x="4376314" y="1814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7" name="Straight Connector 126">
                  <a:extLst>
                    <a:ext uri="{FF2B5EF4-FFF2-40B4-BE49-F238E27FC236}">
                      <a16:creationId xmlns:a16="http://schemas.microsoft.com/office/drawing/2014/main" id="{81CE8AF8-9472-48A5-93C8-06C21BAA7303}"/>
                    </a:ext>
                  </a:extLst>
                </p:cNvPr>
                <p:cNvCxnSpPr/>
                <p:nvPr/>
              </p:nvCxnSpPr>
              <p:spPr bwMode="auto">
                <a:xfrm rot="5400000">
                  <a:off x="29285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8" name="Straight Connector 127">
                  <a:extLst>
                    <a:ext uri="{FF2B5EF4-FFF2-40B4-BE49-F238E27FC236}">
                      <a16:creationId xmlns:a16="http://schemas.microsoft.com/office/drawing/2014/main" id="{6AD7D322-E021-4321-B1FA-C059DA63F3C7}"/>
                    </a:ext>
                  </a:extLst>
                </p:cNvPr>
                <p:cNvCxnSpPr/>
                <p:nvPr/>
              </p:nvCxnSpPr>
              <p:spPr bwMode="auto">
                <a:xfrm rot="5400000">
                  <a:off x="30809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9" name="Straight Connector 128">
                  <a:extLst>
                    <a:ext uri="{FF2B5EF4-FFF2-40B4-BE49-F238E27FC236}">
                      <a16:creationId xmlns:a16="http://schemas.microsoft.com/office/drawing/2014/main" id="{1B05570D-E14B-4955-A7EA-0F52652D78AD}"/>
                    </a:ext>
                  </a:extLst>
                </p:cNvPr>
                <p:cNvCxnSpPr/>
                <p:nvPr/>
              </p:nvCxnSpPr>
              <p:spPr bwMode="auto">
                <a:xfrm rot="5400000">
                  <a:off x="32333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0" name="Straight Connector 129">
                  <a:extLst>
                    <a:ext uri="{FF2B5EF4-FFF2-40B4-BE49-F238E27FC236}">
                      <a16:creationId xmlns:a16="http://schemas.microsoft.com/office/drawing/2014/main" id="{75349AA1-1C97-4C6C-9141-5BFF309ABF60}"/>
                    </a:ext>
                  </a:extLst>
                </p:cNvPr>
                <p:cNvCxnSpPr/>
                <p:nvPr/>
              </p:nvCxnSpPr>
              <p:spPr bwMode="auto">
                <a:xfrm rot="5400000">
                  <a:off x="33857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1" name="Straight Connector 130">
                  <a:extLst>
                    <a:ext uri="{FF2B5EF4-FFF2-40B4-BE49-F238E27FC236}">
                      <a16:creationId xmlns:a16="http://schemas.microsoft.com/office/drawing/2014/main" id="{D8DD7A85-270D-4BFE-9636-16D0F5E875F0}"/>
                    </a:ext>
                  </a:extLst>
                </p:cNvPr>
                <p:cNvCxnSpPr/>
                <p:nvPr/>
              </p:nvCxnSpPr>
              <p:spPr bwMode="auto">
                <a:xfrm rot="5400000">
                  <a:off x="35381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2" name="Straight Connector 131">
                  <a:extLst>
                    <a:ext uri="{FF2B5EF4-FFF2-40B4-BE49-F238E27FC236}">
                      <a16:creationId xmlns:a16="http://schemas.microsoft.com/office/drawing/2014/main" id="{CA65B08B-2335-495B-B504-B74AC5AAA546}"/>
                    </a:ext>
                  </a:extLst>
                </p:cNvPr>
                <p:cNvCxnSpPr/>
                <p:nvPr/>
              </p:nvCxnSpPr>
              <p:spPr bwMode="auto">
                <a:xfrm rot="5400000">
                  <a:off x="36905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3" name="Straight Connector 132">
                  <a:extLst>
                    <a:ext uri="{FF2B5EF4-FFF2-40B4-BE49-F238E27FC236}">
                      <a16:creationId xmlns:a16="http://schemas.microsoft.com/office/drawing/2014/main" id="{2FA8CB97-3703-4CC5-9C2F-5EFF2449FFFA}"/>
                    </a:ext>
                  </a:extLst>
                </p:cNvPr>
                <p:cNvCxnSpPr/>
                <p:nvPr/>
              </p:nvCxnSpPr>
              <p:spPr bwMode="auto">
                <a:xfrm rot="5400000">
                  <a:off x="38429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4" name="Straight Connector 133">
                  <a:extLst>
                    <a:ext uri="{FF2B5EF4-FFF2-40B4-BE49-F238E27FC236}">
                      <a16:creationId xmlns:a16="http://schemas.microsoft.com/office/drawing/2014/main" id="{5D8E9085-91E0-4499-83E9-DE4E051E144D}"/>
                    </a:ext>
                  </a:extLst>
                </p:cNvPr>
                <p:cNvCxnSpPr/>
                <p:nvPr/>
              </p:nvCxnSpPr>
              <p:spPr bwMode="auto">
                <a:xfrm rot="5400000">
                  <a:off x="39953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5" name="Straight Connector 134">
                  <a:extLst>
                    <a:ext uri="{FF2B5EF4-FFF2-40B4-BE49-F238E27FC236}">
                      <a16:creationId xmlns:a16="http://schemas.microsoft.com/office/drawing/2014/main" id="{1DA2188F-1432-4EF1-80E0-7507FB07301D}"/>
                    </a:ext>
                  </a:extLst>
                </p:cNvPr>
                <p:cNvCxnSpPr/>
                <p:nvPr/>
              </p:nvCxnSpPr>
              <p:spPr bwMode="auto">
                <a:xfrm rot="5400000">
                  <a:off x="41477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6" name="Straight Connector 135">
                  <a:extLst>
                    <a:ext uri="{FF2B5EF4-FFF2-40B4-BE49-F238E27FC236}">
                      <a16:creationId xmlns:a16="http://schemas.microsoft.com/office/drawing/2014/main" id="{9134AA05-F01C-4E1A-B2E9-C0AD293953EC}"/>
                    </a:ext>
                  </a:extLst>
                </p:cNvPr>
                <p:cNvCxnSpPr/>
                <p:nvPr/>
              </p:nvCxnSpPr>
              <p:spPr bwMode="auto">
                <a:xfrm rot="5400000">
                  <a:off x="43001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7" name="Straight Connector 136">
                  <a:extLst>
                    <a:ext uri="{FF2B5EF4-FFF2-40B4-BE49-F238E27FC236}">
                      <a16:creationId xmlns:a16="http://schemas.microsoft.com/office/drawing/2014/main" id="{A82AB0A7-0B77-4FF2-8772-6E7F9FBFC2DE}"/>
                    </a:ext>
                  </a:extLst>
                </p:cNvPr>
                <p:cNvCxnSpPr/>
                <p:nvPr/>
              </p:nvCxnSpPr>
              <p:spPr bwMode="auto">
                <a:xfrm rot="5400000">
                  <a:off x="44525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8" name="Straight Connector 137">
                  <a:extLst>
                    <a:ext uri="{FF2B5EF4-FFF2-40B4-BE49-F238E27FC236}">
                      <a16:creationId xmlns:a16="http://schemas.microsoft.com/office/drawing/2014/main" id="{CB642FC6-156D-48CF-8DC2-AFC5919F7A37}"/>
                    </a:ext>
                  </a:extLst>
                </p:cNvPr>
                <p:cNvCxnSpPr/>
                <p:nvPr/>
              </p:nvCxnSpPr>
              <p:spPr bwMode="auto">
                <a:xfrm rot="5400000">
                  <a:off x="46049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9" name="Straight Connector 138">
                  <a:extLst>
                    <a:ext uri="{FF2B5EF4-FFF2-40B4-BE49-F238E27FC236}">
                      <a16:creationId xmlns:a16="http://schemas.microsoft.com/office/drawing/2014/main" id="{7E895C6A-9B86-4E95-836A-1C27A91ADE02}"/>
                    </a:ext>
                  </a:extLst>
                </p:cNvPr>
                <p:cNvCxnSpPr/>
                <p:nvPr/>
              </p:nvCxnSpPr>
              <p:spPr bwMode="auto">
                <a:xfrm rot="5400000">
                  <a:off x="47573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0" name="Straight Connector 139">
                  <a:extLst>
                    <a:ext uri="{FF2B5EF4-FFF2-40B4-BE49-F238E27FC236}">
                      <a16:creationId xmlns:a16="http://schemas.microsoft.com/office/drawing/2014/main" id="{BE122BAD-8010-43FC-9FC4-B54276FD7203}"/>
                    </a:ext>
                  </a:extLst>
                </p:cNvPr>
                <p:cNvCxnSpPr/>
                <p:nvPr/>
              </p:nvCxnSpPr>
              <p:spPr bwMode="auto">
                <a:xfrm rot="5400000">
                  <a:off x="49097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1" name="Straight Connector 140">
                  <a:extLst>
                    <a:ext uri="{FF2B5EF4-FFF2-40B4-BE49-F238E27FC236}">
                      <a16:creationId xmlns:a16="http://schemas.microsoft.com/office/drawing/2014/main" id="{9A1286AC-628E-4540-914D-85202D438F41}"/>
                    </a:ext>
                  </a:extLst>
                </p:cNvPr>
                <p:cNvCxnSpPr/>
                <p:nvPr/>
              </p:nvCxnSpPr>
              <p:spPr bwMode="auto">
                <a:xfrm rot="5400000">
                  <a:off x="50525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2" name="Straight Connector 141">
                  <a:extLst>
                    <a:ext uri="{FF2B5EF4-FFF2-40B4-BE49-F238E27FC236}">
                      <a16:creationId xmlns:a16="http://schemas.microsoft.com/office/drawing/2014/main" id="{D667EE46-7507-4A92-B3E7-9BCC04B2731B}"/>
                    </a:ext>
                  </a:extLst>
                </p:cNvPr>
                <p:cNvCxnSpPr/>
                <p:nvPr/>
              </p:nvCxnSpPr>
              <p:spPr bwMode="auto">
                <a:xfrm rot="5400000">
                  <a:off x="52049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3" name="Straight Connector 142">
                  <a:extLst>
                    <a:ext uri="{FF2B5EF4-FFF2-40B4-BE49-F238E27FC236}">
                      <a16:creationId xmlns:a16="http://schemas.microsoft.com/office/drawing/2014/main" id="{F7D5C6AD-E2CB-40D5-BE77-F5A59A14D83C}"/>
                    </a:ext>
                  </a:extLst>
                </p:cNvPr>
                <p:cNvCxnSpPr/>
                <p:nvPr/>
              </p:nvCxnSpPr>
              <p:spPr bwMode="auto">
                <a:xfrm rot="5400000">
                  <a:off x="53573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4" name="Straight Connector 143">
                  <a:extLst>
                    <a:ext uri="{FF2B5EF4-FFF2-40B4-BE49-F238E27FC236}">
                      <a16:creationId xmlns:a16="http://schemas.microsoft.com/office/drawing/2014/main" id="{027EE992-B8AC-40D8-8FB2-3FCB2B751B64}"/>
                    </a:ext>
                  </a:extLst>
                </p:cNvPr>
                <p:cNvCxnSpPr/>
                <p:nvPr/>
              </p:nvCxnSpPr>
              <p:spPr bwMode="auto">
                <a:xfrm rot="5400000">
                  <a:off x="55097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5" name="Straight Connector 144">
                  <a:extLst>
                    <a:ext uri="{FF2B5EF4-FFF2-40B4-BE49-F238E27FC236}">
                      <a16:creationId xmlns:a16="http://schemas.microsoft.com/office/drawing/2014/main" id="{27911CBF-1D25-486C-B3AC-275E754E6295}"/>
                    </a:ext>
                  </a:extLst>
                </p:cNvPr>
                <p:cNvCxnSpPr/>
                <p:nvPr/>
              </p:nvCxnSpPr>
              <p:spPr bwMode="auto">
                <a:xfrm rot="5400000">
                  <a:off x="56621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6" name="Straight Connector 145">
                  <a:extLst>
                    <a:ext uri="{FF2B5EF4-FFF2-40B4-BE49-F238E27FC236}">
                      <a16:creationId xmlns:a16="http://schemas.microsoft.com/office/drawing/2014/main" id="{6ED79263-B451-4E16-8783-D6FFD94E47A9}"/>
                    </a:ext>
                  </a:extLst>
                </p:cNvPr>
                <p:cNvCxnSpPr/>
                <p:nvPr/>
              </p:nvCxnSpPr>
              <p:spPr bwMode="auto">
                <a:xfrm rot="5400000">
                  <a:off x="58145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7" name="Straight Connector 146">
                  <a:extLst>
                    <a:ext uri="{FF2B5EF4-FFF2-40B4-BE49-F238E27FC236}">
                      <a16:creationId xmlns:a16="http://schemas.microsoft.com/office/drawing/2014/main" id="{A72EEF5B-2298-4434-84B0-65820D5DC0FE}"/>
                    </a:ext>
                  </a:extLst>
                </p:cNvPr>
                <p:cNvCxnSpPr/>
                <p:nvPr/>
              </p:nvCxnSpPr>
              <p:spPr bwMode="auto">
                <a:xfrm rot="5400000">
                  <a:off x="59669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8" name="Straight Connector 147">
                  <a:extLst>
                    <a:ext uri="{FF2B5EF4-FFF2-40B4-BE49-F238E27FC236}">
                      <a16:creationId xmlns:a16="http://schemas.microsoft.com/office/drawing/2014/main" id="{526469D0-CB42-4FAD-8482-A8E55F134544}"/>
                    </a:ext>
                  </a:extLst>
                </p:cNvPr>
                <p:cNvCxnSpPr/>
                <p:nvPr/>
              </p:nvCxnSpPr>
              <p:spPr bwMode="auto">
                <a:xfrm rot="5400000">
                  <a:off x="61193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9" name="Straight Connector 148">
                  <a:extLst>
                    <a:ext uri="{FF2B5EF4-FFF2-40B4-BE49-F238E27FC236}">
                      <a16:creationId xmlns:a16="http://schemas.microsoft.com/office/drawing/2014/main" id="{8B026C5D-0A59-4EBE-8CCE-1BE1B1D172D0}"/>
                    </a:ext>
                  </a:extLst>
                </p:cNvPr>
                <p:cNvCxnSpPr/>
                <p:nvPr/>
              </p:nvCxnSpPr>
              <p:spPr bwMode="auto">
                <a:xfrm rot="5400000">
                  <a:off x="62717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0" name="Straight Connector 149">
                  <a:extLst>
                    <a:ext uri="{FF2B5EF4-FFF2-40B4-BE49-F238E27FC236}">
                      <a16:creationId xmlns:a16="http://schemas.microsoft.com/office/drawing/2014/main" id="{A337C172-2CE4-43D6-808E-7D297F7B113E}"/>
                    </a:ext>
                  </a:extLst>
                </p:cNvPr>
                <p:cNvCxnSpPr/>
                <p:nvPr/>
              </p:nvCxnSpPr>
              <p:spPr bwMode="auto">
                <a:xfrm rot="5400000">
                  <a:off x="64241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1" name="Straight Connector 150">
                  <a:extLst>
                    <a:ext uri="{FF2B5EF4-FFF2-40B4-BE49-F238E27FC236}">
                      <a16:creationId xmlns:a16="http://schemas.microsoft.com/office/drawing/2014/main" id="{98E0965C-BEAB-4230-8B3B-4CBC501376D1}"/>
                    </a:ext>
                  </a:extLst>
                </p:cNvPr>
                <p:cNvCxnSpPr/>
                <p:nvPr/>
              </p:nvCxnSpPr>
              <p:spPr bwMode="auto">
                <a:xfrm rot="5400000">
                  <a:off x="65765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2" name="Straight Connector 151">
                  <a:extLst>
                    <a:ext uri="{FF2B5EF4-FFF2-40B4-BE49-F238E27FC236}">
                      <a16:creationId xmlns:a16="http://schemas.microsoft.com/office/drawing/2014/main" id="{2D7073AC-19D3-4969-A259-88F79988D3EC}"/>
                    </a:ext>
                  </a:extLst>
                </p:cNvPr>
                <p:cNvCxnSpPr/>
                <p:nvPr/>
              </p:nvCxnSpPr>
              <p:spPr bwMode="auto">
                <a:xfrm rot="5400000">
                  <a:off x="67289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3" name="Straight Connector 152">
                  <a:extLst>
                    <a:ext uri="{FF2B5EF4-FFF2-40B4-BE49-F238E27FC236}">
                      <a16:creationId xmlns:a16="http://schemas.microsoft.com/office/drawing/2014/main" id="{56FC5926-B6F2-4E9F-B786-CB789AD0FC63}"/>
                    </a:ext>
                  </a:extLst>
                </p:cNvPr>
                <p:cNvCxnSpPr/>
                <p:nvPr/>
              </p:nvCxnSpPr>
              <p:spPr bwMode="auto">
                <a:xfrm rot="5400000">
                  <a:off x="68813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4" name="Straight Connector 153">
                  <a:extLst>
                    <a:ext uri="{FF2B5EF4-FFF2-40B4-BE49-F238E27FC236}">
                      <a16:creationId xmlns:a16="http://schemas.microsoft.com/office/drawing/2014/main" id="{3E3CCA06-4B9B-4F8E-B037-612931AB800D}"/>
                    </a:ext>
                  </a:extLst>
                </p:cNvPr>
                <p:cNvCxnSpPr/>
                <p:nvPr/>
              </p:nvCxnSpPr>
              <p:spPr bwMode="auto">
                <a:xfrm rot="5400000">
                  <a:off x="70337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grpSp>
          <p:cxnSp>
            <p:nvCxnSpPr>
              <p:cNvPr id="104" name="Straight Arrow Connector 103">
                <a:extLst>
                  <a:ext uri="{FF2B5EF4-FFF2-40B4-BE49-F238E27FC236}">
                    <a16:creationId xmlns:a16="http://schemas.microsoft.com/office/drawing/2014/main" id="{92895B51-7E48-4CB0-9792-D6D64E2A72DE}"/>
                  </a:ext>
                </a:extLst>
              </p:cNvPr>
              <p:cNvCxnSpPr/>
              <p:nvPr/>
            </p:nvCxnSpPr>
            <p:spPr bwMode="auto">
              <a:xfrm>
                <a:off x="4379975" y="5042010"/>
                <a:ext cx="4266616" cy="1588"/>
              </a:xfrm>
              <a:prstGeom prst="straightConnector1">
                <a:avLst/>
              </a:prstGeom>
              <a:solidFill>
                <a:srgbClr val="EC891D"/>
              </a:solidFill>
              <a:ln w="38100" cap="flat" cmpd="sng" algn="ctr">
                <a:solidFill>
                  <a:srgbClr val="8B8D09"/>
                </a:solidFill>
                <a:prstDash val="solid"/>
                <a:round/>
                <a:headEnd type="none" w="med" len="med"/>
                <a:tailEnd type="triangle" w="med" len="med"/>
              </a:ln>
              <a:effectLst/>
            </p:spPr>
          </p:cxnSp>
          <p:cxnSp>
            <p:nvCxnSpPr>
              <p:cNvPr id="105" name="Straight Arrow Connector 104">
                <a:extLst>
                  <a:ext uri="{FF2B5EF4-FFF2-40B4-BE49-F238E27FC236}">
                    <a16:creationId xmlns:a16="http://schemas.microsoft.com/office/drawing/2014/main" id="{E5234813-C8AB-482C-B7B4-7F403F55165E}"/>
                  </a:ext>
                </a:extLst>
              </p:cNvPr>
              <p:cNvCxnSpPr/>
              <p:nvPr/>
            </p:nvCxnSpPr>
            <p:spPr bwMode="auto">
              <a:xfrm rot="16200000" flipV="1">
                <a:off x="2662608" y="3326716"/>
                <a:ext cx="3429000" cy="1588"/>
              </a:xfrm>
              <a:prstGeom prst="straightConnector1">
                <a:avLst/>
              </a:prstGeom>
              <a:solidFill>
                <a:srgbClr val="EC891D"/>
              </a:solidFill>
              <a:ln w="38100" cap="flat" cmpd="sng" algn="ctr">
                <a:solidFill>
                  <a:srgbClr val="8B8D09"/>
                </a:solidFill>
                <a:prstDash val="solid"/>
                <a:round/>
                <a:headEnd type="none" w="med" len="med"/>
                <a:tailEnd type="triangle" w="med" len="med"/>
              </a:ln>
              <a:effectLst/>
            </p:spPr>
          </p:cxnSp>
        </p:grpSp>
        <p:sp>
          <p:nvSpPr>
            <p:cNvPr id="89" name="Folded Corner 66">
              <a:extLst>
                <a:ext uri="{FF2B5EF4-FFF2-40B4-BE49-F238E27FC236}">
                  <a16:creationId xmlns:a16="http://schemas.microsoft.com/office/drawing/2014/main" id="{A5CC9A9D-90BD-4D9D-8257-29486D66859F}"/>
                </a:ext>
              </a:extLst>
            </p:cNvPr>
            <p:cNvSpPr/>
            <p:nvPr/>
          </p:nvSpPr>
          <p:spPr bwMode="auto">
            <a:xfrm>
              <a:off x="7068325" y="385145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0" name="Right Arrow 67">
              <a:extLst>
                <a:ext uri="{FF2B5EF4-FFF2-40B4-BE49-F238E27FC236}">
                  <a16:creationId xmlns:a16="http://schemas.microsoft.com/office/drawing/2014/main" id="{88EE7EEC-DA40-4719-8A3A-C1DFE4814675}"/>
                </a:ext>
              </a:extLst>
            </p:cNvPr>
            <p:cNvSpPr/>
            <p:nvPr/>
          </p:nvSpPr>
          <p:spPr bwMode="auto">
            <a:xfrm rot="21435356">
              <a:off x="5963283" y="4034940"/>
              <a:ext cx="1412894"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Insert Pipelines</a:t>
              </a:r>
            </a:p>
          </p:txBody>
        </p:sp>
        <p:sp>
          <p:nvSpPr>
            <p:cNvPr id="91" name="Folded Corner 68">
              <a:extLst>
                <a:ext uri="{FF2B5EF4-FFF2-40B4-BE49-F238E27FC236}">
                  <a16:creationId xmlns:a16="http://schemas.microsoft.com/office/drawing/2014/main" id="{BBB930A2-AA6F-47CC-9216-1DF48AAD6438}"/>
                </a:ext>
              </a:extLst>
            </p:cNvPr>
            <p:cNvSpPr/>
            <p:nvPr/>
          </p:nvSpPr>
          <p:spPr bwMode="auto">
            <a:xfrm>
              <a:off x="5839365" y="377464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2" name="Right Arrow 69">
              <a:extLst>
                <a:ext uri="{FF2B5EF4-FFF2-40B4-BE49-F238E27FC236}">
                  <a16:creationId xmlns:a16="http://schemas.microsoft.com/office/drawing/2014/main" id="{11F804CA-E67C-40FF-9CC9-3F254997D066}"/>
                </a:ext>
              </a:extLst>
            </p:cNvPr>
            <p:cNvSpPr/>
            <p:nvPr/>
          </p:nvSpPr>
          <p:spPr bwMode="auto">
            <a:xfrm rot="19252070">
              <a:off x="5191265" y="4261471"/>
              <a:ext cx="1075470"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Unroll Loops</a:t>
              </a:r>
            </a:p>
          </p:txBody>
        </p:sp>
        <p:sp>
          <p:nvSpPr>
            <p:cNvPr id="93" name="Folded Corner 70">
              <a:extLst>
                <a:ext uri="{FF2B5EF4-FFF2-40B4-BE49-F238E27FC236}">
                  <a16:creationId xmlns:a16="http://schemas.microsoft.com/office/drawing/2014/main" id="{02C159D1-EFC7-4A94-AD0D-7EAED7A7C315}"/>
                </a:ext>
              </a:extLst>
            </p:cNvPr>
            <p:cNvSpPr/>
            <p:nvPr/>
          </p:nvSpPr>
          <p:spPr bwMode="auto">
            <a:xfrm>
              <a:off x="4994455" y="431231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4" name="Right Arrow 71">
              <a:extLst>
                <a:ext uri="{FF2B5EF4-FFF2-40B4-BE49-F238E27FC236}">
                  <a16:creationId xmlns:a16="http://schemas.microsoft.com/office/drawing/2014/main" id="{7661C518-EF9A-4A36-8355-8C57F40FE75B}"/>
                </a:ext>
              </a:extLst>
            </p:cNvPr>
            <p:cNvSpPr/>
            <p:nvPr/>
          </p:nvSpPr>
          <p:spPr bwMode="auto">
            <a:xfrm rot="21297475">
              <a:off x="4203364" y="4522022"/>
              <a:ext cx="1059206"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Partition Arrays</a:t>
              </a:r>
            </a:p>
          </p:txBody>
        </p:sp>
        <p:sp>
          <p:nvSpPr>
            <p:cNvPr id="95" name="Folded Corner 72">
              <a:extLst>
                <a:ext uri="{FF2B5EF4-FFF2-40B4-BE49-F238E27FC236}">
                  <a16:creationId xmlns:a16="http://schemas.microsoft.com/office/drawing/2014/main" id="{6E72608F-0EAD-4916-B516-FDCA5D88F82D}"/>
                </a:ext>
              </a:extLst>
            </p:cNvPr>
            <p:cNvSpPr/>
            <p:nvPr/>
          </p:nvSpPr>
          <p:spPr bwMode="auto">
            <a:xfrm>
              <a:off x="3112610" y="4849985"/>
              <a:ext cx="1433670" cy="379170"/>
            </a:xfrm>
            <a:prstGeom prst="foldedCorner">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ln>
            <a:effectLst>
              <a:outerShdw blurRad="40000" dist="23000" dir="5400000" rotWithShape="0">
                <a:srgbClr val="000000">
                  <a:alpha val="35000"/>
                </a:srgbClr>
              </a:outerShdw>
            </a:effectLst>
            <a:scene3d>
              <a:camera prst="isometricOffAxis2Left"/>
              <a:lightRig rig="threePt" dir="t">
                <a:rot lat="0" lon="0" rev="1200000"/>
              </a:lightRig>
            </a:scene3d>
            <a:sp3d>
              <a:bevelT w="63500" h="25400"/>
            </a:sp3d>
          </p:spPr>
          <p:txBody>
            <a:bodyPr anchor="ctr"/>
            <a:lstStyle/>
            <a:p>
              <a:pPr algn="ctr" defTabSz="914400" fontAlgn="base">
                <a:spcBef>
                  <a:spcPct val="0"/>
                </a:spcBef>
                <a:spcAft>
                  <a:spcPct val="0"/>
                </a:spcAft>
                <a:defRPr/>
              </a:pPr>
              <a:r>
                <a:rPr lang="en-US" sz="900" b="1" kern="0" dirty="0">
                  <a:solidFill>
                    <a:srgbClr val="000000"/>
                  </a:solidFill>
                  <a:latin typeface="Arial"/>
                </a:rPr>
                <a:t>Timed RTL</a:t>
              </a:r>
            </a:p>
            <a:p>
              <a:pPr algn="ctr" defTabSz="914400" fontAlgn="base">
                <a:spcBef>
                  <a:spcPct val="0"/>
                </a:spcBef>
                <a:spcAft>
                  <a:spcPct val="0"/>
                </a:spcAft>
                <a:defRPr/>
              </a:pPr>
              <a:r>
                <a:rPr lang="en-US" sz="900" b="1" kern="0" dirty="0">
                  <a:solidFill>
                    <a:srgbClr val="000000"/>
                  </a:solidFill>
                  <a:latin typeface="Arial"/>
                </a:rPr>
                <a:t>Architectures</a:t>
              </a:r>
            </a:p>
          </p:txBody>
        </p:sp>
        <p:pic>
          <p:nvPicPr>
            <p:cNvPr id="96" name="Picture 6" descr="http://www.xilinx.com/images/product-images/th_k7_chip_300ppi.jpg.jpg">
              <a:extLst>
                <a:ext uri="{FF2B5EF4-FFF2-40B4-BE49-F238E27FC236}">
                  <a16:creationId xmlns:a16="http://schemas.microsoft.com/office/drawing/2014/main" id="{9E92B3C4-859E-41C0-BA1B-61C493186066}"/>
                </a:ext>
              </a:extLst>
            </p:cNvPr>
            <p:cNvPicPr>
              <a:picLocks noChangeAspect="1" noChangeArrowheads="1"/>
            </p:cNvPicPr>
            <p:nvPr/>
          </p:nvPicPr>
          <p:blipFill>
            <a:blip r:embed="rId2" cstate="print"/>
            <a:srcRect/>
            <a:stretch>
              <a:fillRect/>
            </a:stretch>
          </p:blipFill>
          <p:spPr bwMode="auto">
            <a:xfrm>
              <a:off x="4250895" y="5171935"/>
              <a:ext cx="666750" cy="63817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sp>
          <p:nvSpPr>
            <p:cNvPr id="97" name="Folded Corner 74">
              <a:extLst>
                <a:ext uri="{FF2B5EF4-FFF2-40B4-BE49-F238E27FC236}">
                  <a16:creationId xmlns:a16="http://schemas.microsoft.com/office/drawing/2014/main" id="{D9AC9E24-9293-4757-ABF2-FB4D376029DE}"/>
                </a:ext>
              </a:extLst>
            </p:cNvPr>
            <p:cNvSpPr/>
            <p:nvPr/>
          </p:nvSpPr>
          <p:spPr bwMode="auto">
            <a:xfrm>
              <a:off x="3919115" y="423550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8" name="Right Arrow 75">
              <a:extLst>
                <a:ext uri="{FF2B5EF4-FFF2-40B4-BE49-F238E27FC236}">
                  <a16:creationId xmlns:a16="http://schemas.microsoft.com/office/drawing/2014/main" id="{417DF830-92C0-4394-BEBB-7D172432399B}"/>
                </a:ext>
              </a:extLst>
            </p:cNvPr>
            <p:cNvSpPr/>
            <p:nvPr/>
          </p:nvSpPr>
          <p:spPr bwMode="auto">
            <a:xfrm rot="16960918" flipH="1">
              <a:off x="3398083" y="3463396"/>
              <a:ext cx="1692148"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Share Resources</a:t>
              </a:r>
            </a:p>
          </p:txBody>
        </p:sp>
        <p:sp>
          <p:nvSpPr>
            <p:cNvPr id="99" name="Folded Corner 76">
              <a:extLst>
                <a:ext uri="{FF2B5EF4-FFF2-40B4-BE49-F238E27FC236}">
                  <a16:creationId xmlns:a16="http://schemas.microsoft.com/office/drawing/2014/main" id="{0725E08F-797A-4B84-A07A-A570C2A35EDF}"/>
                </a:ext>
              </a:extLst>
            </p:cNvPr>
            <p:cNvSpPr/>
            <p:nvPr/>
          </p:nvSpPr>
          <p:spPr bwMode="auto">
            <a:xfrm>
              <a:off x="4418380" y="247470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pic>
          <p:nvPicPr>
            <p:cNvPr id="100" name="Picture 10" descr="http://images-eu.amazon.com/images/P/0131103628.03.LZZZZZZZ.jpg">
              <a:extLst>
                <a:ext uri="{FF2B5EF4-FFF2-40B4-BE49-F238E27FC236}">
                  <a16:creationId xmlns:a16="http://schemas.microsoft.com/office/drawing/2014/main" id="{62D5AD1A-9674-44D8-80B8-D16683A1222E}"/>
                </a:ext>
              </a:extLst>
            </p:cNvPr>
            <p:cNvPicPr>
              <a:picLocks noChangeAspect="1" noChangeArrowheads="1"/>
            </p:cNvPicPr>
            <p:nvPr/>
          </p:nvPicPr>
          <p:blipFill>
            <a:blip r:embed="rId3" cstate="print"/>
            <a:srcRect/>
            <a:stretch>
              <a:fillRect/>
            </a:stretch>
          </p:blipFill>
          <p:spPr bwMode="auto">
            <a:xfrm>
              <a:off x="7793822" y="1327400"/>
              <a:ext cx="1156348" cy="152552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Understanding Vitis HLS Synthesis</a:t>
            </a:r>
          </a:p>
        </p:txBody>
      </p:sp>
      <p:sp>
        <p:nvSpPr>
          <p:cNvPr id="3" name="Content Placeholder 2"/>
          <p:cNvSpPr>
            <a:spLocks noGrp="1"/>
          </p:cNvSpPr>
          <p:nvPr>
            <p:ph idx="1"/>
          </p:nvPr>
        </p:nvSpPr>
        <p:spPr/>
        <p:txBody>
          <a:bodyPr>
            <a:noAutofit/>
          </a:bodyPr>
          <a:lstStyle/>
          <a:p>
            <a:r>
              <a:rPr lang="en-US" sz="1800" dirty="0"/>
              <a:t>Vitis HLS</a:t>
            </a:r>
          </a:p>
          <a:p>
            <a:pPr lvl="1"/>
            <a:r>
              <a:rPr lang="en-US" sz="1600" dirty="0"/>
              <a:t>Determines in which cycle operations should occur (scheduling)</a:t>
            </a:r>
          </a:p>
          <a:p>
            <a:pPr lvl="1"/>
            <a:r>
              <a:rPr lang="en-US" sz="1600" dirty="0"/>
              <a:t>Determines which hardware units to use for each operation (binding)</a:t>
            </a:r>
          </a:p>
          <a:p>
            <a:pPr lvl="1"/>
            <a:r>
              <a:rPr lang="en-US" sz="1600" dirty="0"/>
              <a:t>Performs high-level synthesis by :</a:t>
            </a:r>
          </a:p>
          <a:p>
            <a:pPr lvl="2"/>
            <a:r>
              <a:rPr lang="en-US" sz="1400" dirty="0"/>
              <a:t>Obeying built-in defaults</a:t>
            </a:r>
          </a:p>
          <a:p>
            <a:pPr lvl="2"/>
            <a:r>
              <a:rPr lang="en-US" sz="1400" dirty="0"/>
              <a:t>Obeying user directives &amp; constraints to override defaults</a:t>
            </a:r>
          </a:p>
          <a:p>
            <a:pPr lvl="2"/>
            <a:r>
              <a:rPr lang="en-US" sz="1400" dirty="0"/>
              <a:t>Calculating delays and area using the specified technology/device</a:t>
            </a:r>
          </a:p>
          <a:p>
            <a:r>
              <a:rPr lang="en-US" sz="1800" dirty="0"/>
              <a:t>Priority of directives in Vitis HLS</a:t>
            </a:r>
          </a:p>
          <a:p>
            <a:pPr marL="800100" lvl="1" indent="-342900">
              <a:buFont typeface="+mj-lt"/>
              <a:buAutoNum type="arabicPeriod"/>
            </a:pPr>
            <a:r>
              <a:rPr lang="en-US" sz="1600" dirty="0"/>
              <a:t>Meet Performance (clock &amp; throughput)</a:t>
            </a:r>
          </a:p>
          <a:p>
            <a:pPr marL="1200150" lvl="2" indent="-342900"/>
            <a:r>
              <a:rPr lang="en-US" sz="1400" dirty="0"/>
              <a:t>Vitis HLS will allow a local clock path to fail if this is required to meet throughput</a:t>
            </a:r>
          </a:p>
          <a:p>
            <a:pPr marL="1200150" lvl="2" indent="-342900"/>
            <a:r>
              <a:rPr lang="en-US" sz="1400" dirty="0"/>
              <a:t>Often possible the timing can be met after logic synthesis</a:t>
            </a:r>
          </a:p>
          <a:p>
            <a:pPr marL="800100" lvl="1" indent="-342900">
              <a:buFont typeface="+mj-lt"/>
              <a:buAutoNum type="arabicPeriod"/>
            </a:pPr>
            <a:r>
              <a:rPr lang="en-US" sz="1600" dirty="0"/>
              <a:t>Then minimize latency</a:t>
            </a:r>
          </a:p>
          <a:p>
            <a:pPr marL="800100" lvl="1" indent="-342900">
              <a:buFont typeface="+mj-lt"/>
              <a:buAutoNum type="arabicPeriod"/>
            </a:pPr>
            <a:r>
              <a:rPr lang="en-US" sz="1600" dirty="0"/>
              <a:t>Then minimize area</a:t>
            </a:r>
          </a:p>
        </p:txBody>
      </p:sp>
      <p:sp>
        <p:nvSpPr>
          <p:cNvPr id="5" name="Slide Number Placeholder 4">
            <a:extLst>
              <a:ext uri="{FF2B5EF4-FFF2-40B4-BE49-F238E27FC236}">
                <a16:creationId xmlns:a16="http://schemas.microsoft.com/office/drawing/2014/main" id="{819EC9EE-E4F0-4C0F-851C-4967D94A6F94}"/>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18</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Key Attributes of C code</a:t>
            </a:r>
          </a:p>
        </p:txBody>
      </p:sp>
      <p:sp>
        <p:nvSpPr>
          <p:cNvPr id="4" name="Slide Number Placeholder 3">
            <a:extLst>
              <a:ext uri="{FF2B5EF4-FFF2-40B4-BE49-F238E27FC236}">
                <a16:creationId xmlns:a16="http://schemas.microsoft.com/office/drawing/2014/main" id="{230437B7-0F42-44B1-9CAE-9F48F7D60DBA}"/>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19</a:t>
            </a:fld>
            <a:endParaRPr lang="en-US" dirty="0"/>
          </a:p>
        </p:txBody>
      </p:sp>
      <p:sp>
        <p:nvSpPr>
          <p:cNvPr id="56" name="TextBox 55"/>
          <p:cNvSpPr txBox="1"/>
          <p:nvPr/>
        </p:nvSpPr>
        <p:spPr>
          <a:xfrm>
            <a:off x="5020941" y="1431940"/>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Functions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All code is made up of functions which represent the design hierarchy: the same in hardware</a:t>
            </a:r>
            <a:endParaRPr lang="en-US" sz="1400" b="1" dirty="0">
              <a:solidFill>
                <a:prstClr val="black"/>
              </a:solidFill>
              <a:ea typeface="ＭＳ Ｐゴシック" pitchFamily="34" charset="-128"/>
              <a:cs typeface="Arial" charset="0"/>
            </a:endParaRPr>
          </a:p>
        </p:txBody>
      </p:sp>
      <p:sp>
        <p:nvSpPr>
          <p:cNvPr id="70" name="TextBox 69"/>
          <p:cNvSpPr txBox="1"/>
          <p:nvPr/>
        </p:nvSpPr>
        <p:spPr>
          <a:xfrm>
            <a:off x="5020943" y="3388838"/>
            <a:ext cx="6655133"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Loops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Functions typically contain loops. How these are handled can have a major impact on area and performance</a:t>
            </a:r>
            <a:endParaRPr lang="en-US" sz="1400" b="1" dirty="0">
              <a:solidFill>
                <a:prstClr val="black"/>
              </a:solidFill>
              <a:ea typeface="ＭＳ Ｐゴシック" pitchFamily="34" charset="-128"/>
              <a:cs typeface="Arial" charset="0"/>
            </a:endParaRPr>
          </a:p>
        </p:txBody>
      </p:sp>
      <p:sp>
        <p:nvSpPr>
          <p:cNvPr id="80" name="TextBox 79"/>
          <p:cNvSpPr txBox="1"/>
          <p:nvPr/>
        </p:nvSpPr>
        <p:spPr>
          <a:xfrm>
            <a:off x="5020941" y="4109564"/>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Arrays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Arrays are used often in C code. They can influence the device IO and become performance bottlenecks</a:t>
            </a:r>
            <a:endParaRPr lang="en-US" sz="1400" b="1" dirty="0">
              <a:solidFill>
                <a:prstClr val="black"/>
              </a:solidFill>
              <a:ea typeface="ＭＳ Ｐゴシック" pitchFamily="34" charset="-128"/>
              <a:cs typeface="Arial" charset="0"/>
            </a:endParaRPr>
          </a:p>
        </p:txBody>
      </p:sp>
      <p:sp>
        <p:nvSpPr>
          <p:cNvPr id="83" name="TextBox 82"/>
          <p:cNvSpPr txBox="1"/>
          <p:nvPr/>
        </p:nvSpPr>
        <p:spPr>
          <a:xfrm>
            <a:off x="5020941" y="4956231"/>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Operators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Operators in the C code may require sharing to control area or specific hardware implementations to meet performance</a:t>
            </a:r>
            <a:endParaRPr lang="en-US" sz="1400" b="1" dirty="0">
              <a:solidFill>
                <a:prstClr val="black"/>
              </a:solidFill>
              <a:ea typeface="ＭＳ Ｐゴシック" pitchFamily="34" charset="-128"/>
              <a:cs typeface="Arial" charset="0"/>
            </a:endParaRPr>
          </a:p>
        </p:txBody>
      </p:sp>
      <p:sp>
        <p:nvSpPr>
          <p:cNvPr id="84" name="TextBox 83"/>
          <p:cNvSpPr txBox="1"/>
          <p:nvPr/>
        </p:nvSpPr>
        <p:spPr>
          <a:xfrm>
            <a:off x="5020941" y="2697548"/>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Types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All variables are of a defined type. The type can influence the area and performance</a:t>
            </a:r>
            <a:endParaRPr lang="en-US" sz="1400" b="1" dirty="0">
              <a:solidFill>
                <a:prstClr val="black"/>
              </a:solidFill>
              <a:ea typeface="ＭＳ Ｐゴシック" pitchFamily="34" charset="-128"/>
              <a:cs typeface="Arial" charset="0"/>
            </a:endParaRPr>
          </a:p>
        </p:txBody>
      </p:sp>
      <p:sp>
        <p:nvSpPr>
          <p:cNvPr id="21" name="TextBox 20"/>
          <p:cNvSpPr txBox="1"/>
          <p:nvPr/>
        </p:nvSpPr>
        <p:spPr>
          <a:xfrm>
            <a:off x="2205308" y="5817201"/>
            <a:ext cx="7781386" cy="33855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600" b="1" dirty="0">
                <a:solidFill>
                  <a:prstClr val="black"/>
                </a:solidFill>
                <a:ea typeface="ＭＳ Ｐゴシック" pitchFamily="34" charset="-128"/>
                <a:cs typeface="Arial" charset="0"/>
              </a:rPr>
              <a:t>Let’s examine the default synthesis behavior of these …</a:t>
            </a:r>
          </a:p>
        </p:txBody>
      </p:sp>
      <p:sp>
        <p:nvSpPr>
          <p:cNvPr id="22" name="TextBox 21"/>
          <p:cNvSpPr txBox="1"/>
          <p:nvPr/>
        </p:nvSpPr>
        <p:spPr>
          <a:xfrm>
            <a:off x="5020941" y="2060870"/>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Top Level IO </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The arguments of the top-level function determine the hardware RTL interface ports</a:t>
            </a:r>
            <a:endParaRPr lang="en-US" sz="1400" b="1" dirty="0">
              <a:solidFill>
                <a:prstClr val="black"/>
              </a:solidFill>
              <a:ea typeface="ＭＳ Ｐゴシック" pitchFamily="34" charset="-128"/>
              <a:cs typeface="Arial" charset="0"/>
            </a:endParaRPr>
          </a:p>
        </p:txBody>
      </p:sp>
      <p:sp>
        <p:nvSpPr>
          <p:cNvPr id="24" name="TextBox 23">
            <a:extLst>
              <a:ext uri="{FF2B5EF4-FFF2-40B4-BE49-F238E27FC236}">
                <a16:creationId xmlns:a16="http://schemas.microsoft.com/office/drawing/2014/main" id="{465CD51B-E9B5-4614-BF39-A70D6D44B432}"/>
              </a:ext>
            </a:extLst>
          </p:cNvPr>
          <p:cNvSpPr txBox="1"/>
          <p:nvPr/>
        </p:nvSpPr>
        <p:spPr>
          <a:xfrm>
            <a:off x="259963" y="1700782"/>
            <a:ext cx="3799277"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marL="57150" defTabSz="457200" fontAlgn="base">
              <a:spcBef>
                <a:spcPct val="0"/>
              </a:spcBef>
              <a:spcAft>
                <a:spcPct val="0"/>
              </a:spcAft>
              <a:defRPr/>
            </a:pPr>
            <a:r>
              <a:rPr lang="en-US" sz="1000" kern="0" dirty="0">
                <a:solidFill>
                  <a:prstClr val="black"/>
                </a:solidFill>
                <a:latin typeface="Arial"/>
              </a:rPr>
              <a:t>void </a:t>
            </a:r>
            <a:r>
              <a:rPr lang="en-US" sz="1000" b="1" kern="0" dirty="0">
                <a:solidFill>
                  <a:prstClr val="black"/>
                </a:solidFill>
                <a:latin typeface="Arial"/>
              </a:rPr>
              <a:t>fir</a:t>
            </a:r>
            <a:r>
              <a:rPr lang="en-US" sz="1000" kern="0" dirty="0">
                <a:solidFill>
                  <a:prstClr val="black"/>
                </a:solidFill>
                <a:latin typeface="Arial"/>
              </a:rPr>
              <a:t> (</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*y,</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coef_t</a:t>
            </a:r>
            <a:r>
              <a:rPr lang="en-US" sz="1000" kern="0" dirty="0">
                <a:solidFill>
                  <a:prstClr val="black"/>
                </a:solidFill>
                <a:latin typeface="Arial"/>
              </a:rPr>
              <a:t> c[4],</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x</a:t>
            </a:r>
          </a:p>
          <a:p>
            <a:pPr marL="57150" defTabSz="457200" fontAlgn="base">
              <a:spcBef>
                <a:spcPct val="0"/>
              </a:spcBef>
              <a:spcAft>
                <a:spcPct val="0"/>
              </a:spcAft>
              <a:defRPr/>
            </a:pPr>
            <a:r>
              <a:rPr lang="en-US" sz="1000" kern="0" dirty="0">
                <a:solidFill>
                  <a:prstClr val="black"/>
                </a:solidFill>
                <a:latin typeface="Arial"/>
              </a:rPr>
              <a:t>  ) {</a:t>
            </a:r>
          </a:p>
          <a:p>
            <a:pPr marL="57150" defTabSz="457200" fontAlgn="base">
              <a:spcBef>
                <a:spcPct val="0"/>
              </a:spcBef>
              <a:spcAft>
                <a:spcPct val="0"/>
              </a:spcAft>
              <a:defRPr/>
            </a:pPr>
            <a:endParaRPr lang="en-US" sz="1000" kern="0" dirty="0">
              <a:solidFill>
                <a:prstClr val="black"/>
              </a:solidFill>
              <a:latin typeface="Arial"/>
            </a:endParaRPr>
          </a:p>
          <a:p>
            <a:pPr marL="57150" defTabSz="457200" fontAlgn="base">
              <a:spcBef>
                <a:spcPct val="0"/>
              </a:spcBef>
              <a:spcAft>
                <a:spcPct val="0"/>
              </a:spcAft>
              <a:defRPr/>
            </a:pPr>
            <a:r>
              <a:rPr lang="en-US" sz="1000" kern="0" dirty="0">
                <a:solidFill>
                  <a:prstClr val="black"/>
                </a:solidFill>
                <a:latin typeface="Arial"/>
              </a:rPr>
              <a:t>  static </a:t>
            </a:r>
            <a:r>
              <a:rPr lang="en-US" sz="1000" kern="0" dirty="0" err="1">
                <a:solidFill>
                  <a:prstClr val="black"/>
                </a:solidFill>
                <a:latin typeface="Arial"/>
              </a:rPr>
              <a:t>data_t</a:t>
            </a: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[4];</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acc_t</a:t>
            </a:r>
            <a:r>
              <a:rPr lang="en-US" sz="1000" kern="0" dirty="0">
                <a:solidFill>
                  <a:prstClr val="black"/>
                </a:solidFill>
                <a:latin typeface="Arial"/>
              </a:rPr>
              <a:t> acc;</a:t>
            </a:r>
          </a:p>
          <a:p>
            <a:pPr marL="57150" defTabSz="457200" fontAlgn="base">
              <a:spcBef>
                <a:spcPct val="0"/>
              </a:spcBef>
              <a:spcAft>
                <a:spcPct val="0"/>
              </a:spcAft>
              <a:defRPr/>
            </a:pPr>
            <a:r>
              <a:rPr lang="en-US" sz="1000" kern="0" dirty="0">
                <a:solidFill>
                  <a:prstClr val="black"/>
                </a:solidFill>
                <a:latin typeface="Arial"/>
              </a:rPr>
              <a:t>  </a:t>
            </a:r>
            <a:r>
              <a:rPr lang="en-US" sz="1000" b="1" kern="0" dirty="0" err="1">
                <a:solidFill>
                  <a:prstClr val="black"/>
                </a:solidFill>
                <a:latin typeface="Arial"/>
              </a:rPr>
              <a:t>int</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a:t>
            </a:r>
          </a:p>
          <a:p>
            <a:pPr marL="57150" defTabSz="457200" fontAlgn="base">
              <a:spcBef>
                <a:spcPct val="0"/>
              </a:spcBef>
              <a:spcAft>
                <a:spcPct val="0"/>
              </a:spcAft>
              <a:defRPr/>
            </a:pPr>
            <a:r>
              <a:rPr lang="en-US" sz="1000" kern="0" dirty="0">
                <a:solidFill>
                  <a:prstClr val="black"/>
                </a:solidFill>
                <a:latin typeface="Arial"/>
              </a:rPr>
              <a:t>  </a:t>
            </a:r>
          </a:p>
          <a:p>
            <a:pPr marL="57150" defTabSz="457200" fontAlgn="base">
              <a:spcBef>
                <a:spcPct val="0"/>
              </a:spcBef>
              <a:spcAft>
                <a:spcPct val="0"/>
              </a:spcAft>
              <a:defRPr/>
            </a:pPr>
            <a:r>
              <a:rPr lang="en-US" sz="1000" kern="0" dirty="0">
                <a:solidFill>
                  <a:prstClr val="black"/>
                </a:solidFill>
                <a:latin typeface="Arial"/>
              </a:rPr>
              <a:t>  acc=0;</a:t>
            </a:r>
          </a:p>
          <a:p>
            <a:pPr marL="57150" defTabSz="457200" fontAlgn="base">
              <a:spcBef>
                <a:spcPct val="0"/>
              </a:spcBef>
              <a:spcAft>
                <a:spcPct val="0"/>
              </a:spcAft>
              <a:defRPr/>
            </a:pPr>
            <a:r>
              <a:rPr lang="en-US" sz="1000" kern="0" dirty="0">
                <a:solidFill>
                  <a:prstClr val="black"/>
                </a:solidFill>
                <a:latin typeface="Arial"/>
              </a:rPr>
              <a:t>  loop: </a:t>
            </a:r>
            <a:r>
              <a:rPr lang="en-US" sz="1000" b="1" kern="0" dirty="0">
                <a:solidFill>
                  <a:prstClr val="black"/>
                </a:solidFill>
                <a:latin typeface="Arial"/>
              </a:rPr>
              <a:t>for</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=3;i&gt;=0;i--) {</a:t>
            </a:r>
          </a:p>
          <a:p>
            <a:pPr marL="57150"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marL="57150" defTabSz="457200" fontAlgn="base">
              <a:spcBef>
                <a:spcPct val="0"/>
              </a:spcBef>
              <a:spcAft>
                <a:spcPct val="0"/>
              </a:spcAft>
              <a:defRPr/>
            </a:pPr>
            <a:r>
              <a:rPr lang="en-US" sz="1000" kern="0" dirty="0">
                <a:solidFill>
                  <a:prstClr val="black"/>
                </a:solidFill>
                <a:latin typeface="Arial"/>
              </a:rPr>
              <a:t>       acc+=x*c[0];</a:t>
            </a:r>
          </a:p>
          <a:p>
            <a:pPr marL="57150" defTabSz="457200" fontAlgn="base">
              <a:spcBef>
                <a:spcPct val="0"/>
              </a:spcBef>
              <a:spcAft>
                <a:spcPct val="0"/>
              </a:spcAft>
              <a:defRPr/>
            </a:pPr>
            <a:r>
              <a:rPr lang="en-US" sz="1000" kern="0" dirty="0">
                <a:solidFill>
                  <a:prstClr val="black"/>
                </a:solidFill>
                <a:latin typeface="Arial"/>
              </a:rPr>
              <a:t>       </a:t>
            </a:r>
            <a:r>
              <a:rPr lang="en-US" sz="1000" b="1" kern="0" dirty="0" err="1">
                <a:solidFill>
                  <a:prstClr val="black"/>
                </a:solidFill>
                <a:latin typeface="Arial"/>
              </a:rPr>
              <a:t>shift_reg</a:t>
            </a:r>
            <a:r>
              <a:rPr lang="en-US" sz="1000" b="1" kern="0" dirty="0">
                <a:solidFill>
                  <a:prstClr val="black"/>
                </a:solidFill>
                <a:latin typeface="Arial"/>
              </a:rPr>
              <a:t>[0</a:t>
            </a:r>
            <a:r>
              <a:rPr lang="en-US" sz="1000" kern="0" dirty="0">
                <a:solidFill>
                  <a:prstClr val="black"/>
                </a:solidFill>
                <a:latin typeface="Arial"/>
              </a:rPr>
              <a:t>]=x;</a:t>
            </a:r>
          </a:p>
          <a:p>
            <a:pPr marL="57150" defTabSz="457200" fontAlgn="base">
              <a:spcBef>
                <a:spcPct val="0"/>
              </a:spcBef>
              <a:spcAft>
                <a:spcPct val="0"/>
              </a:spcAft>
              <a:defRPr/>
            </a:pPr>
            <a:r>
              <a:rPr lang="en-US" sz="1000" kern="0" dirty="0">
                <a:solidFill>
                  <a:prstClr val="black"/>
                </a:solidFill>
                <a:latin typeface="Arial"/>
              </a:rPr>
              <a:t>     } else {</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marL="57150"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  </a:t>
            </a:r>
            <a:r>
              <a:rPr lang="en-US" sz="1000" b="1" kern="0" dirty="0">
                <a:solidFill>
                  <a:prstClr val="black"/>
                </a:solidFill>
                <a:latin typeface="Arial"/>
              </a:rPr>
              <a:t>*   </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marL="57150" defTabSz="457200" fontAlgn="base">
              <a:spcBef>
                <a:spcPct val="0"/>
              </a:spcBef>
              <a:spcAft>
                <a:spcPct val="0"/>
              </a:spcAft>
              <a:defRPr/>
            </a:pPr>
            <a:r>
              <a:rPr lang="en-US" sz="1000" kern="0" dirty="0">
                <a:solidFill>
                  <a:prstClr val="black"/>
                </a:solidFill>
                <a:latin typeface="Arial"/>
              </a:rPr>
              <a:t>}</a:t>
            </a:r>
          </a:p>
          <a:p>
            <a:pPr marL="57150" defTabSz="457200" fontAlgn="base">
              <a:spcBef>
                <a:spcPct val="0"/>
              </a:spcBef>
              <a:spcAft>
                <a:spcPct val="0"/>
              </a:spcAft>
              <a:defRPr/>
            </a:pPr>
            <a:r>
              <a:rPr lang="en-US" sz="1000" kern="0" dirty="0">
                <a:solidFill>
                  <a:prstClr val="black"/>
                </a:solidFill>
                <a:latin typeface="Arial"/>
              </a:rPr>
              <a:t>  }</a:t>
            </a:r>
          </a:p>
          <a:p>
            <a:pPr marL="57150" defTabSz="457200" fontAlgn="base">
              <a:spcBef>
                <a:spcPct val="0"/>
              </a:spcBef>
              <a:spcAft>
                <a:spcPct val="0"/>
              </a:spcAft>
              <a:defRPr/>
            </a:pPr>
            <a:r>
              <a:rPr lang="en-US" sz="1000" kern="0" dirty="0">
                <a:solidFill>
                  <a:prstClr val="black"/>
                </a:solidFill>
                <a:latin typeface="Arial"/>
              </a:rPr>
              <a:t>  *y=acc;</a:t>
            </a:r>
          </a:p>
          <a:p>
            <a:pPr marL="57150" defTabSz="457200" fontAlgn="base">
              <a:spcBef>
                <a:spcPct val="0"/>
              </a:spcBef>
              <a:spcAft>
                <a:spcPct val="0"/>
              </a:spcAft>
              <a:defRPr/>
            </a:pPr>
            <a:r>
              <a:rPr lang="en-US" sz="1000" kern="0" dirty="0">
                <a:solidFill>
                  <a:prstClr val="black"/>
                </a:solidFill>
                <a:latin typeface="Arial"/>
              </a:rPr>
              <a:t>}</a:t>
            </a:r>
          </a:p>
        </p:txBody>
      </p:sp>
      <p:sp>
        <p:nvSpPr>
          <p:cNvPr id="25" name="Rounded Rectangle 70">
            <a:extLst>
              <a:ext uri="{FF2B5EF4-FFF2-40B4-BE49-F238E27FC236}">
                <a16:creationId xmlns:a16="http://schemas.microsoft.com/office/drawing/2014/main" id="{CEE1C25E-2DEC-43CF-9474-3B1AF1E5C86C}"/>
              </a:ext>
            </a:extLst>
          </p:cNvPr>
          <p:cNvSpPr/>
          <p:nvPr/>
        </p:nvSpPr>
        <p:spPr>
          <a:xfrm>
            <a:off x="311155" y="1700777"/>
            <a:ext cx="819093" cy="192025"/>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6" name="Rounded Rectangle 74">
            <a:extLst>
              <a:ext uri="{FF2B5EF4-FFF2-40B4-BE49-F238E27FC236}">
                <a16:creationId xmlns:a16="http://schemas.microsoft.com/office/drawing/2014/main" id="{71677D69-54FF-4B50-A367-7431BD23ED4F}"/>
              </a:ext>
            </a:extLst>
          </p:cNvPr>
          <p:cNvSpPr/>
          <p:nvPr/>
        </p:nvSpPr>
        <p:spPr>
          <a:xfrm>
            <a:off x="770715" y="3361721"/>
            <a:ext cx="914400" cy="268835"/>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7" name="Rounded Rectangle 77">
            <a:extLst>
              <a:ext uri="{FF2B5EF4-FFF2-40B4-BE49-F238E27FC236}">
                <a16:creationId xmlns:a16="http://schemas.microsoft.com/office/drawing/2014/main" id="{3C7CC6AA-1E89-436C-86EE-0C0B55B246D8}"/>
              </a:ext>
            </a:extLst>
          </p:cNvPr>
          <p:cNvSpPr/>
          <p:nvPr/>
        </p:nvSpPr>
        <p:spPr>
          <a:xfrm>
            <a:off x="618436" y="3860679"/>
            <a:ext cx="972673" cy="182880"/>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8" name="Rounded Rectangle 81">
            <a:extLst>
              <a:ext uri="{FF2B5EF4-FFF2-40B4-BE49-F238E27FC236}">
                <a16:creationId xmlns:a16="http://schemas.microsoft.com/office/drawing/2014/main" id="{226FC528-F57C-4AB2-B5A3-51C9E7BDF49F}"/>
              </a:ext>
            </a:extLst>
          </p:cNvPr>
          <p:cNvSpPr/>
          <p:nvPr/>
        </p:nvSpPr>
        <p:spPr>
          <a:xfrm>
            <a:off x="1736225" y="4331229"/>
            <a:ext cx="409547" cy="182880"/>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9" name="Rounded Rectangle 84">
            <a:extLst>
              <a:ext uri="{FF2B5EF4-FFF2-40B4-BE49-F238E27FC236}">
                <a16:creationId xmlns:a16="http://schemas.microsoft.com/office/drawing/2014/main" id="{88EE6AB9-6BB2-4258-9950-BAF1E5419642}"/>
              </a:ext>
            </a:extLst>
          </p:cNvPr>
          <p:cNvSpPr/>
          <p:nvPr/>
        </p:nvSpPr>
        <p:spPr>
          <a:xfrm>
            <a:off x="362349" y="2968324"/>
            <a:ext cx="615948" cy="192025"/>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30" name="Rounded Rectangle 22">
            <a:extLst>
              <a:ext uri="{FF2B5EF4-FFF2-40B4-BE49-F238E27FC236}">
                <a16:creationId xmlns:a16="http://schemas.microsoft.com/office/drawing/2014/main" id="{8E786654-BC46-4921-A213-964FAB8D3D99}"/>
              </a:ext>
            </a:extLst>
          </p:cNvPr>
          <p:cNvSpPr/>
          <p:nvPr/>
        </p:nvSpPr>
        <p:spPr>
          <a:xfrm>
            <a:off x="413662" y="1892800"/>
            <a:ext cx="972673" cy="460860"/>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500"/>
                                        <p:tgtEl>
                                          <p:spTgt spid="21"/>
                                        </p:tgtEl>
                                      </p:cBhvr>
                                    </p:animEffect>
                                  </p:childTnLst>
                                </p:cTn>
                              </p:par>
                            </p:childTnLst>
                          </p:cTn>
                        </p:par>
                        <p:par>
                          <p:cTn id="8" fill="hold">
                            <p:stCondLst>
                              <p:cond delay="500"/>
                            </p:stCondLst>
                            <p:childTnLst>
                              <p:par>
                                <p:cTn id="9" presetID="12" presetClass="entr" presetSubtype="8" fill="hold" grpId="0" nodeType="afterEffect">
                                  <p:stCondLst>
                                    <p:cond delay="1500"/>
                                  </p:stCondLst>
                                  <p:childTnLst>
                                    <p:set>
                                      <p:cBhvr>
                                        <p:cTn id="10" dur="1" fill="hold">
                                          <p:stCondLst>
                                            <p:cond delay="0"/>
                                          </p:stCondLst>
                                        </p:cTn>
                                        <p:tgtEl>
                                          <p:spTgt spid="25"/>
                                        </p:tgtEl>
                                        <p:attrNameLst>
                                          <p:attrName>style.visibility</p:attrName>
                                        </p:attrNameLst>
                                      </p:cBhvr>
                                      <p:to>
                                        <p:strVal val="visible"/>
                                      </p:to>
                                    </p:set>
                                    <p:animEffect transition="in" filter="slide(fromLeft)">
                                      <p:cBhvr>
                                        <p:cTn id="11" dur="500"/>
                                        <p:tgtEl>
                                          <p:spTgt spid="25"/>
                                        </p:tgtEl>
                                      </p:cBhvr>
                                    </p:animEffect>
                                  </p:childTnLst>
                                </p:cTn>
                              </p:par>
                            </p:childTnLst>
                          </p:cTn>
                        </p:par>
                        <p:par>
                          <p:cTn id="12" fill="hold">
                            <p:stCondLst>
                              <p:cond delay="2500"/>
                            </p:stCondLst>
                            <p:childTnLst>
                              <p:par>
                                <p:cTn id="13" presetID="12" presetClass="entr" presetSubtype="8" fill="hold" grpId="0"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slide(fromLeft)">
                                      <p:cBhvr>
                                        <p:cTn id="15" dur="500"/>
                                        <p:tgtEl>
                                          <p:spTgt spid="30"/>
                                        </p:tgtEl>
                                      </p:cBhvr>
                                    </p:animEffect>
                                  </p:childTnLst>
                                </p:cTn>
                              </p:par>
                            </p:childTnLst>
                          </p:cTn>
                        </p:par>
                        <p:par>
                          <p:cTn id="16" fill="hold">
                            <p:stCondLst>
                              <p:cond delay="3000"/>
                            </p:stCondLst>
                            <p:childTnLst>
                              <p:par>
                                <p:cTn id="17" presetID="12" presetClass="entr" presetSubtype="8" fill="hold" grpId="0" nodeType="after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slide(fromLeft)">
                                      <p:cBhvr>
                                        <p:cTn id="19" dur="500"/>
                                        <p:tgtEl>
                                          <p:spTgt spid="29"/>
                                        </p:tgtEl>
                                      </p:cBhvr>
                                    </p:animEffect>
                                  </p:childTnLst>
                                </p:cTn>
                              </p:par>
                            </p:childTnLst>
                          </p:cTn>
                        </p:par>
                        <p:par>
                          <p:cTn id="20" fill="hold">
                            <p:stCondLst>
                              <p:cond delay="3500"/>
                            </p:stCondLst>
                            <p:childTnLst>
                              <p:par>
                                <p:cTn id="21" presetID="12" presetClass="entr" presetSubtype="8" fill="hold" grpId="0" nodeType="after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slide(fromLeft)">
                                      <p:cBhvr>
                                        <p:cTn id="23" dur="500"/>
                                        <p:tgtEl>
                                          <p:spTgt spid="26"/>
                                        </p:tgtEl>
                                      </p:cBhvr>
                                    </p:animEffect>
                                  </p:childTnLst>
                                </p:cTn>
                              </p:par>
                            </p:childTnLst>
                          </p:cTn>
                        </p:par>
                        <p:par>
                          <p:cTn id="24" fill="hold">
                            <p:stCondLst>
                              <p:cond delay="4000"/>
                            </p:stCondLst>
                            <p:childTnLst>
                              <p:par>
                                <p:cTn id="25" presetID="12" presetClass="entr" presetSubtype="8"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slide(fromLeft)">
                                      <p:cBhvr>
                                        <p:cTn id="27" dur="500"/>
                                        <p:tgtEl>
                                          <p:spTgt spid="27"/>
                                        </p:tgtEl>
                                      </p:cBhvr>
                                    </p:animEffect>
                                  </p:childTnLst>
                                </p:cTn>
                              </p:par>
                            </p:childTnLst>
                          </p:cTn>
                        </p:par>
                        <p:par>
                          <p:cTn id="28" fill="hold">
                            <p:stCondLst>
                              <p:cond delay="4500"/>
                            </p:stCondLst>
                            <p:childTnLst>
                              <p:par>
                                <p:cTn id="29" presetID="12" presetClass="entr" presetSubtype="8"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slide(fromLeft)">
                                      <p:cBhvr>
                                        <p:cTn id="31"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animBg="1"/>
      <p:bldP spid="26" grpId="0" animBg="1"/>
      <p:bldP spid="27" grpId="0" animBg="1"/>
      <p:bldP spid="28" grpId="0" animBg="1"/>
      <p:bldP spid="29" grpId="0" animBg="1"/>
      <p:bldP spid="3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Functions &amp; RTL Hierarchy</a:t>
            </a:r>
          </a:p>
        </p:txBody>
      </p:sp>
      <p:sp>
        <p:nvSpPr>
          <p:cNvPr id="3" name="Content Placeholder 2"/>
          <p:cNvSpPr>
            <a:spLocks noGrp="1"/>
          </p:cNvSpPr>
          <p:nvPr>
            <p:ph idx="1"/>
          </p:nvPr>
        </p:nvSpPr>
        <p:spPr>
          <a:xfrm>
            <a:off x="579121" y="1237905"/>
            <a:ext cx="11033760" cy="4936652"/>
          </a:xfrm>
        </p:spPr>
        <p:txBody>
          <a:bodyPr>
            <a:normAutofit fontScale="70000" lnSpcReduction="20000"/>
          </a:bodyPr>
          <a:lstStyle/>
          <a:p>
            <a:r>
              <a:rPr lang="en-US" sz="2600" dirty="0"/>
              <a:t>Each function is translated into an RTL block</a:t>
            </a:r>
          </a:p>
          <a:p>
            <a:pPr lvl="1"/>
            <a:r>
              <a:rPr lang="en-US" dirty="0"/>
              <a:t>Verilog module, VHDL entity</a:t>
            </a:r>
            <a:br>
              <a:rPr lang="en-US" dirty="0"/>
            </a:br>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buNone/>
            </a:pPr>
            <a:endParaRPr lang="en-US" sz="1200" dirty="0"/>
          </a:p>
          <a:p>
            <a:pPr lvl="1"/>
            <a:endParaRPr lang="en-US" dirty="0"/>
          </a:p>
          <a:p>
            <a:pPr lvl="1"/>
            <a:endParaRPr lang="en-US" dirty="0"/>
          </a:p>
          <a:p>
            <a:pPr lvl="1"/>
            <a:r>
              <a:rPr lang="en-US" dirty="0"/>
              <a:t>By default, each function is implemented using a common instance</a:t>
            </a:r>
          </a:p>
          <a:p>
            <a:pPr lvl="1"/>
            <a:r>
              <a:rPr lang="en-US" dirty="0"/>
              <a:t>Functions may be inlined to dissolve their hierarchy</a:t>
            </a:r>
          </a:p>
          <a:p>
            <a:pPr lvl="2"/>
            <a:r>
              <a:rPr lang="en-US" dirty="0"/>
              <a:t>Small functions may be automatically inlined</a:t>
            </a:r>
          </a:p>
        </p:txBody>
      </p:sp>
      <p:sp>
        <p:nvSpPr>
          <p:cNvPr id="5" name="Slide Number Placeholder 4">
            <a:extLst>
              <a:ext uri="{FF2B5EF4-FFF2-40B4-BE49-F238E27FC236}">
                <a16:creationId xmlns:a16="http://schemas.microsoft.com/office/drawing/2014/main" id="{AF4F322F-1254-4544-A09E-8CC49C73CC40}"/>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20</a:t>
            </a:fld>
            <a:endParaRPr lang="en-US" dirty="0"/>
          </a:p>
        </p:txBody>
      </p:sp>
      <p:sp>
        <p:nvSpPr>
          <p:cNvPr id="29" name="Rectangle 28">
            <a:extLst>
              <a:ext uri="{FF2B5EF4-FFF2-40B4-BE49-F238E27FC236}">
                <a16:creationId xmlns:a16="http://schemas.microsoft.com/office/drawing/2014/main" id="{E59244E3-3D0B-4949-AF53-4332AFF42CB8}"/>
              </a:ext>
            </a:extLst>
          </p:cNvPr>
          <p:cNvSpPr/>
          <p:nvPr/>
        </p:nvSpPr>
        <p:spPr>
          <a:xfrm>
            <a:off x="6307671" y="2283772"/>
            <a:ext cx="5068140" cy="2189085"/>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0" name="Rectangle 29">
            <a:extLst>
              <a:ext uri="{FF2B5EF4-FFF2-40B4-BE49-F238E27FC236}">
                <a16:creationId xmlns:a16="http://schemas.microsoft.com/office/drawing/2014/main" id="{EBCDB43F-AC16-4F01-B657-0050237F2524}"/>
              </a:ext>
            </a:extLst>
          </p:cNvPr>
          <p:cNvSpPr/>
          <p:nvPr/>
        </p:nvSpPr>
        <p:spPr>
          <a:xfrm>
            <a:off x="6570741" y="2840629"/>
            <a:ext cx="1511830"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1" name="Rectangle 30">
            <a:extLst>
              <a:ext uri="{FF2B5EF4-FFF2-40B4-BE49-F238E27FC236}">
                <a16:creationId xmlns:a16="http://schemas.microsoft.com/office/drawing/2014/main" id="{8790997A-E9C3-470B-B61F-5581D63EE7C0}"/>
              </a:ext>
            </a:extLst>
          </p:cNvPr>
          <p:cNvSpPr/>
          <p:nvPr/>
        </p:nvSpPr>
        <p:spPr>
          <a:xfrm>
            <a:off x="8968096" y="2398971"/>
            <a:ext cx="2047733"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2" name="Rectangle 31">
            <a:extLst>
              <a:ext uri="{FF2B5EF4-FFF2-40B4-BE49-F238E27FC236}">
                <a16:creationId xmlns:a16="http://schemas.microsoft.com/office/drawing/2014/main" id="{9E6B9FE3-A767-49A7-B39E-46F4AC05B8DB}"/>
              </a:ext>
            </a:extLst>
          </p:cNvPr>
          <p:cNvSpPr/>
          <p:nvPr/>
        </p:nvSpPr>
        <p:spPr>
          <a:xfrm>
            <a:off x="9632795" y="2610381"/>
            <a:ext cx="923106" cy="500485"/>
          </a:xfrm>
          <a:prstGeom prst="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3" name="TextBox 32">
            <a:extLst>
              <a:ext uri="{FF2B5EF4-FFF2-40B4-BE49-F238E27FC236}">
                <a16:creationId xmlns:a16="http://schemas.microsoft.com/office/drawing/2014/main" id="{A3FFA251-46CE-4692-AF5E-7C7C09844E0D}"/>
              </a:ext>
            </a:extLst>
          </p:cNvPr>
          <p:cNvSpPr txBox="1"/>
          <p:nvPr/>
        </p:nvSpPr>
        <p:spPr>
          <a:xfrm>
            <a:off x="1027865" y="2154686"/>
            <a:ext cx="3276372" cy="2862322"/>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black"/>
                </a:solidFill>
                <a:latin typeface="Arial"/>
              </a:rPr>
              <a:t>void A() { ..body A..}</a:t>
            </a:r>
          </a:p>
          <a:p>
            <a:pPr defTabSz="457200" fontAlgn="base">
              <a:spcBef>
                <a:spcPct val="0"/>
              </a:spcBef>
              <a:spcAft>
                <a:spcPct val="0"/>
              </a:spcAft>
              <a:defRPr/>
            </a:pPr>
            <a:r>
              <a:rPr lang="en-US" sz="1200" kern="0" dirty="0">
                <a:solidFill>
                  <a:prstClr val="black"/>
                </a:solidFill>
                <a:latin typeface="Arial"/>
              </a:rPr>
              <a:t>void B() { ..body B..}</a:t>
            </a:r>
          </a:p>
          <a:p>
            <a:pPr defTabSz="457200" fontAlgn="base">
              <a:spcBef>
                <a:spcPct val="0"/>
              </a:spcBef>
              <a:spcAft>
                <a:spcPct val="0"/>
              </a:spcAft>
              <a:defRPr/>
            </a:pPr>
            <a:r>
              <a:rPr lang="en-US" sz="1200" kern="0" dirty="0">
                <a:solidFill>
                  <a:prstClr val="black"/>
                </a:solidFill>
                <a:latin typeface="Arial"/>
              </a:rPr>
              <a:t>void C() {</a:t>
            </a:r>
          </a:p>
          <a:p>
            <a:pPr defTabSz="457200" fontAlgn="base">
              <a:spcBef>
                <a:spcPct val="0"/>
              </a:spcBef>
              <a:spcAft>
                <a:spcPct val="0"/>
              </a:spcAft>
              <a:defRPr/>
            </a:pPr>
            <a:r>
              <a:rPr lang="en-US" sz="1200" kern="0" dirty="0">
                <a:solidFill>
                  <a:prstClr val="black"/>
                </a:solidFill>
                <a:latin typeface="Arial"/>
              </a:rPr>
              <a:t>	B();</a:t>
            </a:r>
          </a:p>
          <a:p>
            <a:pPr defTabSz="457200" fontAlgn="base">
              <a:spcBef>
                <a:spcPct val="0"/>
              </a:spcBef>
              <a:spcAft>
                <a:spcPct val="0"/>
              </a:spcAft>
              <a:defRPr/>
            </a:pPr>
            <a:r>
              <a:rPr lang="en-US" sz="1200" kern="0" dirty="0">
                <a:solidFill>
                  <a:prstClr val="black"/>
                </a:solidFill>
                <a:latin typeface="Arial"/>
              </a:rPr>
              <a:t>}</a:t>
            </a:r>
          </a:p>
          <a:p>
            <a:pPr defTabSz="457200" fontAlgn="base">
              <a:spcBef>
                <a:spcPct val="0"/>
              </a:spcBef>
              <a:spcAft>
                <a:spcPct val="0"/>
              </a:spcAft>
              <a:defRPr/>
            </a:pPr>
            <a:r>
              <a:rPr lang="en-US" sz="1200" kern="0" dirty="0">
                <a:solidFill>
                  <a:prstClr val="black"/>
                </a:solidFill>
                <a:latin typeface="Arial"/>
              </a:rPr>
              <a:t>void D() {</a:t>
            </a:r>
          </a:p>
          <a:p>
            <a:pPr defTabSz="457200" fontAlgn="base">
              <a:spcBef>
                <a:spcPct val="0"/>
              </a:spcBef>
              <a:spcAft>
                <a:spcPct val="0"/>
              </a:spcAft>
              <a:defRPr/>
            </a:pPr>
            <a:r>
              <a:rPr lang="en-US" sz="1200" kern="0" dirty="0">
                <a:solidFill>
                  <a:prstClr val="black"/>
                </a:solidFill>
                <a:latin typeface="Arial"/>
              </a:rPr>
              <a:t>	B();</a:t>
            </a:r>
          </a:p>
          <a:p>
            <a:pPr defTabSz="457200" fontAlgn="base">
              <a:spcBef>
                <a:spcPct val="0"/>
              </a:spcBef>
              <a:spcAft>
                <a:spcPct val="0"/>
              </a:spcAft>
              <a:defRPr/>
            </a:pPr>
            <a:r>
              <a:rPr lang="en-US" sz="1200" kern="0" dirty="0">
                <a:solidFill>
                  <a:prstClr val="black"/>
                </a:solidFill>
                <a:latin typeface="Arial"/>
              </a:rPr>
              <a:t>}</a:t>
            </a:r>
          </a:p>
          <a:p>
            <a:pPr defTabSz="457200" fontAlgn="base">
              <a:spcBef>
                <a:spcPct val="0"/>
              </a:spcBef>
              <a:spcAft>
                <a:spcPct val="0"/>
              </a:spcAft>
              <a:defRPr/>
            </a:pPr>
            <a:endParaRPr lang="en-US" sz="1200" kern="0" dirty="0">
              <a:solidFill>
                <a:prstClr val="black"/>
              </a:solidFill>
              <a:latin typeface="Arial"/>
            </a:endParaRPr>
          </a:p>
          <a:p>
            <a:pPr defTabSz="457200" fontAlgn="base">
              <a:spcBef>
                <a:spcPct val="0"/>
              </a:spcBef>
              <a:spcAft>
                <a:spcPct val="0"/>
              </a:spcAft>
              <a:defRPr/>
            </a:pPr>
            <a:endParaRPr lang="en-US" sz="1200" kern="0" dirty="0">
              <a:solidFill>
                <a:prstClr val="black"/>
              </a:solidFill>
              <a:latin typeface="Arial"/>
            </a:endParaRPr>
          </a:p>
          <a:p>
            <a:pPr defTabSz="457200" fontAlgn="base">
              <a:spcBef>
                <a:spcPct val="0"/>
              </a:spcBef>
              <a:spcAft>
                <a:spcPct val="0"/>
              </a:spcAft>
              <a:defRPr/>
            </a:pPr>
            <a:r>
              <a:rPr lang="en-US" sz="1200" kern="0" dirty="0">
                <a:solidFill>
                  <a:prstClr val="black"/>
                </a:solidFill>
                <a:latin typeface="Arial"/>
              </a:rPr>
              <a:t>void foo_top() {</a:t>
            </a:r>
          </a:p>
          <a:p>
            <a:pPr defTabSz="457200" fontAlgn="base">
              <a:spcBef>
                <a:spcPct val="0"/>
              </a:spcBef>
              <a:spcAft>
                <a:spcPct val="0"/>
              </a:spcAft>
              <a:defRPr/>
            </a:pPr>
            <a:r>
              <a:rPr lang="en-US" sz="1200" kern="0" dirty="0">
                <a:solidFill>
                  <a:prstClr val="black"/>
                </a:solidFill>
                <a:latin typeface="Arial"/>
              </a:rPr>
              <a:t>	A(…);	</a:t>
            </a:r>
          </a:p>
          <a:p>
            <a:pPr defTabSz="457200" fontAlgn="base">
              <a:spcBef>
                <a:spcPct val="0"/>
              </a:spcBef>
              <a:spcAft>
                <a:spcPct val="0"/>
              </a:spcAft>
              <a:defRPr/>
            </a:pPr>
            <a:r>
              <a:rPr lang="en-US" sz="1200" kern="0" dirty="0">
                <a:solidFill>
                  <a:prstClr val="black"/>
                </a:solidFill>
                <a:latin typeface="Arial"/>
              </a:rPr>
              <a:t>  	C(…);</a:t>
            </a:r>
          </a:p>
          <a:p>
            <a:pPr defTabSz="457200" fontAlgn="base">
              <a:spcBef>
                <a:spcPct val="0"/>
              </a:spcBef>
              <a:spcAft>
                <a:spcPct val="0"/>
              </a:spcAft>
              <a:defRPr/>
            </a:pPr>
            <a:r>
              <a:rPr lang="en-US" sz="1200" kern="0" dirty="0">
                <a:solidFill>
                  <a:prstClr val="black"/>
                </a:solidFill>
                <a:latin typeface="Arial"/>
              </a:rPr>
              <a:t>	D(…)</a:t>
            </a:r>
          </a:p>
          <a:p>
            <a:pPr defTabSz="457200" fontAlgn="base">
              <a:spcBef>
                <a:spcPct val="0"/>
              </a:spcBef>
              <a:spcAft>
                <a:spcPct val="0"/>
              </a:spcAft>
              <a:defRPr/>
            </a:pPr>
            <a:r>
              <a:rPr lang="en-US" sz="1200" kern="0" dirty="0">
                <a:solidFill>
                  <a:prstClr val="black"/>
                </a:solidFill>
                <a:latin typeface="Arial"/>
              </a:rPr>
              <a:t>}</a:t>
            </a:r>
          </a:p>
        </p:txBody>
      </p:sp>
      <p:sp>
        <p:nvSpPr>
          <p:cNvPr id="34" name="TextBox 33">
            <a:extLst>
              <a:ext uri="{FF2B5EF4-FFF2-40B4-BE49-F238E27FC236}">
                <a16:creationId xmlns:a16="http://schemas.microsoft.com/office/drawing/2014/main" id="{69C97C4F-378B-4ED1-8434-91F2B3A5BD80}"/>
              </a:ext>
            </a:extLst>
          </p:cNvPr>
          <p:cNvSpPr txBox="1"/>
          <p:nvPr/>
        </p:nvSpPr>
        <p:spPr>
          <a:xfrm>
            <a:off x="6307790" y="2283756"/>
            <a:ext cx="954107"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foo_top</a:t>
            </a:r>
          </a:p>
        </p:txBody>
      </p:sp>
      <p:sp>
        <p:nvSpPr>
          <p:cNvPr id="35" name="TextBox 34">
            <a:extLst>
              <a:ext uri="{FF2B5EF4-FFF2-40B4-BE49-F238E27FC236}">
                <a16:creationId xmlns:a16="http://schemas.microsoft.com/office/drawing/2014/main" id="{47B2B4CD-BDD2-4D88-9509-53507F6800B2}"/>
              </a:ext>
            </a:extLst>
          </p:cNvPr>
          <p:cNvSpPr txBox="1"/>
          <p:nvPr/>
        </p:nvSpPr>
        <p:spPr>
          <a:xfrm>
            <a:off x="6570030" y="2805488"/>
            <a:ext cx="338554"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A</a:t>
            </a:r>
          </a:p>
        </p:txBody>
      </p:sp>
      <p:sp>
        <p:nvSpPr>
          <p:cNvPr id="36" name="TextBox 35">
            <a:extLst>
              <a:ext uri="{FF2B5EF4-FFF2-40B4-BE49-F238E27FC236}">
                <a16:creationId xmlns:a16="http://schemas.microsoft.com/office/drawing/2014/main" id="{FDCF6F19-66B8-41C8-ADB7-F7844DDE0270}"/>
              </a:ext>
            </a:extLst>
          </p:cNvPr>
          <p:cNvSpPr txBox="1"/>
          <p:nvPr/>
        </p:nvSpPr>
        <p:spPr>
          <a:xfrm>
            <a:off x="8962827" y="2422658"/>
            <a:ext cx="351378"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C</a:t>
            </a:r>
          </a:p>
        </p:txBody>
      </p:sp>
      <p:sp>
        <p:nvSpPr>
          <p:cNvPr id="37" name="TextBox 36">
            <a:extLst>
              <a:ext uri="{FF2B5EF4-FFF2-40B4-BE49-F238E27FC236}">
                <a16:creationId xmlns:a16="http://schemas.microsoft.com/office/drawing/2014/main" id="{40F69732-87BE-4256-86F0-E12FF41BB697}"/>
              </a:ext>
            </a:extLst>
          </p:cNvPr>
          <p:cNvSpPr txBox="1"/>
          <p:nvPr/>
        </p:nvSpPr>
        <p:spPr>
          <a:xfrm>
            <a:off x="9625966" y="2575058"/>
            <a:ext cx="338554"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B</a:t>
            </a:r>
          </a:p>
        </p:txBody>
      </p:sp>
      <p:sp>
        <p:nvSpPr>
          <p:cNvPr id="38" name="Rectangle 37">
            <a:extLst>
              <a:ext uri="{FF2B5EF4-FFF2-40B4-BE49-F238E27FC236}">
                <a16:creationId xmlns:a16="http://schemas.microsoft.com/office/drawing/2014/main" id="{B570BF35-1462-471D-B21C-73713E9A2E59}"/>
              </a:ext>
            </a:extLst>
          </p:cNvPr>
          <p:cNvSpPr/>
          <p:nvPr/>
        </p:nvSpPr>
        <p:spPr>
          <a:xfrm>
            <a:off x="8968096" y="3378298"/>
            <a:ext cx="2047733"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9" name="Rectangle 38">
            <a:extLst>
              <a:ext uri="{FF2B5EF4-FFF2-40B4-BE49-F238E27FC236}">
                <a16:creationId xmlns:a16="http://schemas.microsoft.com/office/drawing/2014/main" id="{B81E6DF4-14A5-43FD-A3B8-CE5A52A868F4}"/>
              </a:ext>
            </a:extLst>
          </p:cNvPr>
          <p:cNvSpPr/>
          <p:nvPr/>
        </p:nvSpPr>
        <p:spPr>
          <a:xfrm>
            <a:off x="9632795" y="3589547"/>
            <a:ext cx="923106" cy="500485"/>
          </a:xfrm>
          <a:prstGeom prst="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40" name="TextBox 39">
            <a:extLst>
              <a:ext uri="{FF2B5EF4-FFF2-40B4-BE49-F238E27FC236}">
                <a16:creationId xmlns:a16="http://schemas.microsoft.com/office/drawing/2014/main" id="{58CF6A49-9F75-41EE-B807-5FC8102CB627}"/>
              </a:ext>
            </a:extLst>
          </p:cNvPr>
          <p:cNvSpPr txBox="1"/>
          <p:nvPr/>
        </p:nvSpPr>
        <p:spPr>
          <a:xfrm>
            <a:off x="8962827" y="3401985"/>
            <a:ext cx="351378"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D</a:t>
            </a:r>
          </a:p>
        </p:txBody>
      </p:sp>
      <p:sp>
        <p:nvSpPr>
          <p:cNvPr id="41" name="TextBox 40">
            <a:extLst>
              <a:ext uri="{FF2B5EF4-FFF2-40B4-BE49-F238E27FC236}">
                <a16:creationId xmlns:a16="http://schemas.microsoft.com/office/drawing/2014/main" id="{C8F7B397-310E-45F8-A0B1-72CBF8E2ED08}"/>
              </a:ext>
            </a:extLst>
          </p:cNvPr>
          <p:cNvSpPr txBox="1"/>
          <p:nvPr/>
        </p:nvSpPr>
        <p:spPr>
          <a:xfrm>
            <a:off x="9625966" y="3554385"/>
            <a:ext cx="338554"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B</a:t>
            </a:r>
          </a:p>
        </p:txBody>
      </p:sp>
      <p:sp>
        <p:nvSpPr>
          <p:cNvPr id="42" name="TextBox 41">
            <a:extLst>
              <a:ext uri="{FF2B5EF4-FFF2-40B4-BE49-F238E27FC236}">
                <a16:creationId xmlns:a16="http://schemas.microsoft.com/office/drawing/2014/main" id="{453577B9-0DB8-4D90-ABB1-E9689D169458}"/>
              </a:ext>
            </a:extLst>
          </p:cNvPr>
          <p:cNvSpPr txBox="1"/>
          <p:nvPr/>
        </p:nvSpPr>
        <p:spPr>
          <a:xfrm>
            <a:off x="1597611" y="1816219"/>
            <a:ext cx="1608133" cy="369332"/>
          </a:xfrm>
          <a:prstGeom prst="rect">
            <a:avLst/>
          </a:prstGeom>
          <a:noFill/>
        </p:spPr>
        <p:txBody>
          <a:bodyPr wrap="none" rtlCol="0">
            <a:spAutoFit/>
          </a:bodyPr>
          <a:lstStyle/>
          <a:p>
            <a:pPr defTabSz="457200" fontAlgn="base">
              <a:spcBef>
                <a:spcPct val="0"/>
              </a:spcBef>
              <a:spcAft>
                <a:spcPct val="0"/>
              </a:spcAft>
            </a:pPr>
            <a:r>
              <a:rPr lang="en-US" b="1" u="sng" dirty="0">
                <a:solidFill>
                  <a:prstClr val="black"/>
                </a:solidFill>
                <a:ea typeface="ＭＳ Ｐゴシック" pitchFamily="34" charset="-128"/>
                <a:cs typeface="Arial" charset="0"/>
              </a:rPr>
              <a:t>Source Code</a:t>
            </a:r>
          </a:p>
        </p:txBody>
      </p:sp>
      <p:sp>
        <p:nvSpPr>
          <p:cNvPr id="43" name="TextBox 42">
            <a:extLst>
              <a:ext uri="{FF2B5EF4-FFF2-40B4-BE49-F238E27FC236}">
                <a16:creationId xmlns:a16="http://schemas.microsoft.com/office/drawing/2014/main" id="{D08DAFCC-B16E-4EBC-88ED-AE8015A56E5C}"/>
              </a:ext>
            </a:extLst>
          </p:cNvPr>
          <p:cNvSpPr txBox="1"/>
          <p:nvPr/>
        </p:nvSpPr>
        <p:spPr>
          <a:xfrm>
            <a:off x="7536036" y="1898527"/>
            <a:ext cx="1732205" cy="369332"/>
          </a:xfrm>
          <a:prstGeom prst="rect">
            <a:avLst/>
          </a:prstGeom>
          <a:noFill/>
        </p:spPr>
        <p:txBody>
          <a:bodyPr wrap="none" rtlCol="0">
            <a:spAutoFit/>
          </a:bodyPr>
          <a:lstStyle/>
          <a:p>
            <a:pPr defTabSz="457200" fontAlgn="base">
              <a:spcBef>
                <a:spcPct val="0"/>
              </a:spcBef>
              <a:spcAft>
                <a:spcPct val="0"/>
              </a:spcAft>
            </a:pPr>
            <a:r>
              <a:rPr lang="en-US" b="1" u="sng" dirty="0">
                <a:solidFill>
                  <a:prstClr val="black"/>
                </a:solidFill>
                <a:ea typeface="ＭＳ Ｐゴシック" pitchFamily="34" charset="-128"/>
                <a:cs typeface="Arial" charset="0"/>
              </a:rPr>
              <a:t>RTL hierarchy</a:t>
            </a:r>
          </a:p>
        </p:txBody>
      </p:sp>
      <p:sp>
        <p:nvSpPr>
          <p:cNvPr id="44" name="Right Arrow 25">
            <a:extLst>
              <a:ext uri="{FF2B5EF4-FFF2-40B4-BE49-F238E27FC236}">
                <a16:creationId xmlns:a16="http://schemas.microsoft.com/office/drawing/2014/main" id="{60124B50-F193-4961-93AC-6EF45D5DEC08}"/>
              </a:ext>
            </a:extLst>
          </p:cNvPr>
          <p:cNvSpPr/>
          <p:nvPr/>
        </p:nvSpPr>
        <p:spPr>
          <a:xfrm>
            <a:off x="5072134" y="2944401"/>
            <a:ext cx="921480" cy="60999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45" name="TextBox 44">
            <a:extLst>
              <a:ext uri="{FF2B5EF4-FFF2-40B4-BE49-F238E27FC236}">
                <a16:creationId xmlns:a16="http://schemas.microsoft.com/office/drawing/2014/main" id="{9B6464A2-A11E-4BDA-9617-53D95B4CC276}"/>
              </a:ext>
            </a:extLst>
          </p:cNvPr>
          <p:cNvSpPr txBox="1"/>
          <p:nvPr/>
        </p:nvSpPr>
        <p:spPr>
          <a:xfrm>
            <a:off x="5379295" y="4602496"/>
            <a:ext cx="6552746" cy="461665"/>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Each function/block can be shared like any other component (add, sub, etc) </a:t>
            </a:r>
            <a:r>
              <a:rPr lang="en-US" sz="1200" b="1" u="sng" kern="0" dirty="0">
                <a:solidFill>
                  <a:prstClr val="black"/>
                </a:solidFill>
                <a:ea typeface="ＭＳ Ｐゴシック" pitchFamily="34" charset="-128"/>
                <a:cs typeface="Arial" charset="0"/>
              </a:rPr>
              <a:t>provided</a:t>
            </a:r>
            <a:r>
              <a:rPr lang="en-US" sz="1200" b="1" kern="0" dirty="0">
                <a:solidFill>
                  <a:prstClr val="black"/>
                </a:solidFill>
                <a:ea typeface="ＭＳ Ｐゴシック" pitchFamily="34" charset="-128"/>
                <a:cs typeface="Arial" charset="0"/>
              </a:rPr>
              <a:t> it’s not in use at the same time </a:t>
            </a:r>
          </a:p>
        </p:txBody>
      </p:sp>
      <p:sp>
        <p:nvSpPr>
          <p:cNvPr id="46" name="TextBox 45">
            <a:extLst>
              <a:ext uri="{FF2B5EF4-FFF2-40B4-BE49-F238E27FC236}">
                <a16:creationId xmlns:a16="http://schemas.microsoft.com/office/drawing/2014/main" id="{1D14640C-7CD9-4DEB-8C75-4C75D7EC2693}"/>
              </a:ext>
            </a:extLst>
          </p:cNvPr>
          <p:cNvSpPr txBox="1"/>
          <p:nvPr/>
        </p:nvSpPr>
        <p:spPr>
          <a:xfrm>
            <a:off x="2870823" y="4679124"/>
            <a:ext cx="881973"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defTabSz="457200" fontAlgn="base">
              <a:spcBef>
                <a:spcPct val="0"/>
              </a:spcBef>
              <a:spcAft>
                <a:spcPct val="0"/>
              </a:spcAft>
              <a:defRPr/>
            </a:pPr>
            <a:r>
              <a:rPr lang="en-US" sz="1050" b="1" kern="0" dirty="0">
                <a:solidFill>
                  <a:prstClr val="white"/>
                </a:solidFill>
                <a:latin typeface="Arial"/>
              </a:rPr>
              <a:t>my_code.c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 Operator Bit-sizes</a:t>
            </a:r>
          </a:p>
        </p:txBody>
      </p:sp>
      <p:sp>
        <p:nvSpPr>
          <p:cNvPr id="3" name="Slide Number Placeholder 2">
            <a:extLst>
              <a:ext uri="{FF2B5EF4-FFF2-40B4-BE49-F238E27FC236}">
                <a16:creationId xmlns:a16="http://schemas.microsoft.com/office/drawing/2014/main" id="{6335B206-CA49-4A5C-A36E-459A8891A9AF}"/>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21</a:t>
            </a:fld>
            <a:endParaRPr lang="en-US" dirty="0"/>
          </a:p>
        </p:txBody>
      </p:sp>
      <p:sp>
        <p:nvSpPr>
          <p:cNvPr id="50" name="TextBox 49">
            <a:extLst>
              <a:ext uri="{FF2B5EF4-FFF2-40B4-BE49-F238E27FC236}">
                <a16:creationId xmlns:a16="http://schemas.microsoft.com/office/drawing/2014/main" id="{C546381A-C7FD-4FCA-BCEF-DE31530C375B}"/>
              </a:ext>
            </a:extLst>
          </p:cNvPr>
          <p:cNvSpPr txBox="1"/>
          <p:nvPr/>
        </p:nvSpPr>
        <p:spPr>
          <a:xfrm>
            <a:off x="259961" y="2161641"/>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*y,</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coef_t</a:t>
            </a:r>
            <a:r>
              <a:rPr lang="en-US" sz="1000" kern="0" dirty="0">
                <a:solidFill>
                  <a:prstClr val="black"/>
                </a:solidFill>
                <a:latin typeface="Arial"/>
              </a:rPr>
              <a:t> c[4],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x</a:t>
            </a:r>
          </a:p>
          <a:p>
            <a:pPr defTabSz="457200" fontAlgn="base">
              <a:spcBef>
                <a:spcPct val="0"/>
              </a:spcBef>
              <a:spcAft>
                <a:spcPct val="0"/>
              </a:spcAft>
              <a:defRPr/>
            </a:pPr>
            <a:r>
              <a:rPr lang="en-US" sz="1000" kern="0" dirty="0">
                <a:solidFill>
                  <a:prstClr val="black"/>
                </a:solidFill>
                <a:latin typeface="Arial"/>
              </a:rPr>
              <a:t>  ) {</a:t>
            </a:r>
          </a:p>
          <a:p>
            <a:pPr defTabSz="457200" fontAlgn="base">
              <a:spcBef>
                <a:spcPct val="0"/>
              </a:spcBef>
              <a:spcAft>
                <a:spcPct val="0"/>
              </a:spcAft>
              <a:defRPr/>
            </a:pPr>
            <a:endParaRPr lang="en-US" sz="1000"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static </a:t>
            </a:r>
            <a:r>
              <a:rPr lang="en-US" sz="1000" kern="0" dirty="0" err="1">
                <a:solidFill>
                  <a:prstClr val="black"/>
                </a:solidFill>
                <a:latin typeface="Arial"/>
              </a:rPr>
              <a:t>data_t</a:t>
            </a: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acc_t</a:t>
            </a:r>
            <a:r>
              <a:rPr lang="en-US" sz="1000" kern="0" dirty="0">
                <a:solidFill>
                  <a:prstClr val="black"/>
                </a:solidFill>
                <a:latin typeface="Arial"/>
              </a:rPr>
              <a:t> acc;</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int</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acc+=x*c[0];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52" name="TextBox 51">
            <a:extLst>
              <a:ext uri="{FF2B5EF4-FFF2-40B4-BE49-F238E27FC236}">
                <a16:creationId xmlns:a16="http://schemas.microsoft.com/office/drawing/2014/main" id="{2595C3D8-E2AA-42CD-A5B9-4CF7CDFA5FE7}"/>
              </a:ext>
            </a:extLst>
          </p:cNvPr>
          <p:cNvSpPr txBox="1"/>
          <p:nvPr/>
        </p:nvSpPr>
        <p:spPr>
          <a:xfrm>
            <a:off x="823206" y="1623970"/>
            <a:ext cx="2182081" cy="307777"/>
          </a:xfrm>
          <a:prstGeom prst="rect">
            <a:avLst/>
          </a:prstGeom>
          <a:noFill/>
        </p:spPr>
        <p:txBody>
          <a:bodyPr wrap="square" rtlCol="0">
            <a:spAutoFit/>
          </a:bodyPr>
          <a:lstStyle/>
          <a:p>
            <a:pPr algn="ctr" defTabSz="457200" fontAlgn="base">
              <a:spcBef>
                <a:spcPct val="0"/>
              </a:spcBef>
              <a:spcAft>
                <a:spcPct val="0"/>
              </a:spcAft>
            </a:pPr>
            <a:r>
              <a:rPr lang="en-US" sz="1400" b="1" u="sng" dirty="0">
                <a:solidFill>
                  <a:prstClr val="black"/>
                </a:solidFill>
                <a:ea typeface="ＭＳ Ｐゴシック" pitchFamily="34" charset="-128"/>
                <a:cs typeface="Arial" charset="0"/>
              </a:rPr>
              <a:t>Code </a:t>
            </a:r>
          </a:p>
        </p:txBody>
      </p:sp>
      <p:sp>
        <p:nvSpPr>
          <p:cNvPr id="53" name="TextBox 52">
            <a:extLst>
              <a:ext uri="{FF2B5EF4-FFF2-40B4-BE49-F238E27FC236}">
                <a16:creationId xmlns:a16="http://schemas.microsoft.com/office/drawing/2014/main" id="{BAF9D324-5933-42E5-899A-A1EAA316DE42}"/>
              </a:ext>
            </a:extLst>
          </p:cNvPr>
          <p:cNvSpPr txBox="1"/>
          <p:nvPr/>
        </p:nvSpPr>
        <p:spPr>
          <a:xfrm>
            <a:off x="823089" y="5810288"/>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From any C code example ...</a:t>
            </a:r>
          </a:p>
        </p:txBody>
      </p:sp>
      <p:grpSp>
        <p:nvGrpSpPr>
          <p:cNvPr id="54" name="Group 151">
            <a:extLst>
              <a:ext uri="{FF2B5EF4-FFF2-40B4-BE49-F238E27FC236}">
                <a16:creationId xmlns:a16="http://schemas.microsoft.com/office/drawing/2014/main" id="{C7517D21-56D8-4867-A949-8E7593C3F659}"/>
              </a:ext>
            </a:extLst>
          </p:cNvPr>
          <p:cNvGrpSpPr/>
          <p:nvPr/>
        </p:nvGrpSpPr>
        <p:grpSpPr>
          <a:xfrm>
            <a:off x="1590988" y="1623437"/>
            <a:ext cx="4709787" cy="4648347"/>
            <a:chOff x="1192360" y="1623428"/>
            <a:chExt cx="3533260" cy="4648347"/>
          </a:xfrm>
        </p:grpSpPr>
        <p:sp>
          <p:nvSpPr>
            <p:cNvPr id="55" name="TextBox 54">
              <a:extLst>
                <a:ext uri="{FF2B5EF4-FFF2-40B4-BE49-F238E27FC236}">
                  <a16:creationId xmlns:a16="http://schemas.microsoft.com/office/drawing/2014/main" id="{8CD73558-818F-4741-9573-34F8BA5B96F5}"/>
                </a:ext>
              </a:extLst>
            </p:cNvPr>
            <p:cNvSpPr txBox="1"/>
            <p:nvPr/>
          </p:nvSpPr>
          <p:spPr>
            <a:xfrm>
              <a:off x="3088633" y="1623428"/>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Operations</a:t>
              </a:r>
            </a:p>
          </p:txBody>
        </p:sp>
        <p:grpSp>
          <p:nvGrpSpPr>
            <p:cNvPr id="56" name="Group 149">
              <a:extLst>
                <a:ext uri="{FF2B5EF4-FFF2-40B4-BE49-F238E27FC236}">
                  <a16:creationId xmlns:a16="http://schemas.microsoft.com/office/drawing/2014/main" id="{080CF18E-8B3A-4E29-9DF7-862022B47B62}"/>
                </a:ext>
              </a:extLst>
            </p:cNvPr>
            <p:cNvGrpSpPr/>
            <p:nvPr/>
          </p:nvGrpSpPr>
          <p:grpSpPr>
            <a:xfrm>
              <a:off x="1192360" y="2545685"/>
              <a:ext cx="3341235" cy="3726090"/>
              <a:chOff x="1192360" y="2545685"/>
              <a:chExt cx="3341235" cy="3726090"/>
            </a:xfrm>
          </p:grpSpPr>
          <p:cxnSp>
            <p:nvCxnSpPr>
              <p:cNvPr id="57" name="Curved Connector 24">
                <a:extLst>
                  <a:ext uri="{FF2B5EF4-FFF2-40B4-BE49-F238E27FC236}">
                    <a16:creationId xmlns:a16="http://schemas.microsoft.com/office/drawing/2014/main" id="{A97ECBA6-356A-4617-97EE-1C87F8B31010}"/>
                  </a:ext>
                </a:extLst>
              </p:cNvPr>
              <p:cNvCxnSpPr/>
              <p:nvPr/>
            </p:nvCxnSpPr>
            <p:spPr>
              <a:xfrm rot="5400000" flipH="1" flipV="1">
                <a:off x="2008466" y="2209642"/>
                <a:ext cx="940922" cy="2342705"/>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8" name="Curved Connector 24">
                <a:extLst>
                  <a:ext uri="{FF2B5EF4-FFF2-40B4-BE49-F238E27FC236}">
                    <a16:creationId xmlns:a16="http://schemas.microsoft.com/office/drawing/2014/main" id="{50516390-8BFD-4141-A873-1ED6B4EBC37A}"/>
                  </a:ext>
                </a:extLst>
              </p:cNvPr>
              <p:cNvCxnSpPr/>
              <p:nvPr/>
            </p:nvCxnSpPr>
            <p:spPr>
              <a:xfrm rot="5400000" flipH="1" flipV="1">
                <a:off x="2399988" y="2629284"/>
                <a:ext cx="623398" cy="1877186"/>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9" name="Straight Arrow Connector 58">
                <a:extLst>
                  <a:ext uri="{FF2B5EF4-FFF2-40B4-BE49-F238E27FC236}">
                    <a16:creationId xmlns:a16="http://schemas.microsoft.com/office/drawing/2014/main" id="{95E31849-70C9-4A62-84C7-B9F01CCE24E0}"/>
                  </a:ext>
                </a:extLst>
              </p:cNvPr>
              <p:cNvCxnSpPr/>
              <p:nvPr/>
            </p:nvCxnSpPr>
            <p:spPr>
              <a:xfrm>
                <a:off x="3035800" y="488839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0" name="Straight Arrow Connector 59">
                <a:extLst>
                  <a:ext uri="{FF2B5EF4-FFF2-40B4-BE49-F238E27FC236}">
                    <a16:creationId xmlns:a16="http://schemas.microsoft.com/office/drawing/2014/main" id="{16DF431D-0A3C-49FE-86DA-7865AC49C3F4}"/>
                  </a:ext>
                </a:extLst>
              </p:cNvPr>
              <p:cNvCxnSpPr/>
              <p:nvPr/>
            </p:nvCxnSpPr>
            <p:spPr>
              <a:xfrm>
                <a:off x="3035800" y="4579562"/>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1" name="Straight Arrow Connector 60">
                <a:extLst>
                  <a:ext uri="{FF2B5EF4-FFF2-40B4-BE49-F238E27FC236}">
                    <a16:creationId xmlns:a16="http://schemas.microsoft.com/office/drawing/2014/main" id="{E3E0C8FC-C78E-40CE-8C8A-337EBE56C6DE}"/>
                  </a:ext>
                </a:extLst>
              </p:cNvPr>
              <p:cNvCxnSpPr/>
              <p:nvPr/>
            </p:nvCxnSpPr>
            <p:spPr>
              <a:xfrm>
                <a:off x="3035800" y="419710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2" name="Straight Arrow Connector 61">
                <a:extLst>
                  <a:ext uri="{FF2B5EF4-FFF2-40B4-BE49-F238E27FC236}">
                    <a16:creationId xmlns:a16="http://schemas.microsoft.com/office/drawing/2014/main" id="{B069D18C-2CE1-4C8C-B441-724E012B596A}"/>
                  </a:ext>
                </a:extLst>
              </p:cNvPr>
              <p:cNvCxnSpPr/>
              <p:nvPr/>
            </p:nvCxnSpPr>
            <p:spPr>
              <a:xfrm>
                <a:off x="3035800" y="388986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3" name="Straight Arrow Connector 62">
                <a:extLst>
                  <a:ext uri="{FF2B5EF4-FFF2-40B4-BE49-F238E27FC236}">
                    <a16:creationId xmlns:a16="http://schemas.microsoft.com/office/drawing/2014/main" id="{A65B9EEA-5730-4133-B398-5B12A5A36E4B}"/>
                  </a:ext>
                </a:extLst>
              </p:cNvPr>
              <p:cNvCxnSpPr/>
              <p:nvPr/>
            </p:nvCxnSpPr>
            <p:spPr>
              <a:xfrm>
                <a:off x="3035800" y="3544215"/>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4" name="Straight Arrow Connector 63">
                <a:extLst>
                  <a:ext uri="{FF2B5EF4-FFF2-40B4-BE49-F238E27FC236}">
                    <a16:creationId xmlns:a16="http://schemas.microsoft.com/office/drawing/2014/main" id="{00403DDB-023A-4C2F-93E9-192726493E41}"/>
                  </a:ext>
                </a:extLst>
              </p:cNvPr>
              <p:cNvCxnSpPr/>
              <p:nvPr/>
            </p:nvCxnSpPr>
            <p:spPr>
              <a:xfrm>
                <a:off x="1192360" y="5234035"/>
                <a:ext cx="241951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65" name="TextBox 64">
                <a:extLst>
                  <a:ext uri="{FF2B5EF4-FFF2-40B4-BE49-F238E27FC236}">
                    <a16:creationId xmlns:a16="http://schemas.microsoft.com/office/drawing/2014/main" id="{01B255F1-9006-4CC9-98AB-67554E8D09D3}"/>
                  </a:ext>
                </a:extLst>
              </p:cNvPr>
              <p:cNvSpPr txBox="1"/>
              <p:nvPr/>
            </p:nvSpPr>
            <p:spPr>
              <a:xfrm>
                <a:off x="3266229" y="5810110"/>
                <a:ext cx="1267366"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Operations are extracted…</a:t>
                </a:r>
              </a:p>
            </p:txBody>
          </p:sp>
          <p:sp>
            <p:nvSpPr>
              <p:cNvPr id="66" name="Rectangle 65">
                <a:extLst>
                  <a:ext uri="{FF2B5EF4-FFF2-40B4-BE49-F238E27FC236}">
                    <a16:creationId xmlns:a16="http://schemas.microsoft.com/office/drawing/2014/main" id="{2645BEA5-AA3E-4CC0-BE7C-D9923BC6EB0F}"/>
                  </a:ext>
                </a:extLst>
              </p:cNvPr>
              <p:cNvSpPr/>
              <p:nvPr/>
            </p:nvSpPr>
            <p:spPr>
              <a:xfrm>
                <a:off x="3688685" y="34674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7" name="Rectangle 66">
                <a:extLst>
                  <a:ext uri="{FF2B5EF4-FFF2-40B4-BE49-F238E27FC236}">
                    <a16:creationId xmlns:a16="http://schemas.microsoft.com/office/drawing/2014/main" id="{7E387BA6-1405-43A0-97C7-8F603659CDAE}"/>
                  </a:ext>
                </a:extLst>
              </p:cNvPr>
              <p:cNvSpPr/>
              <p:nvPr/>
            </p:nvSpPr>
            <p:spPr>
              <a:xfrm>
                <a:off x="3688685" y="37746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8" name="Rectangle 67">
                <a:extLst>
                  <a:ext uri="{FF2B5EF4-FFF2-40B4-BE49-F238E27FC236}">
                    <a16:creationId xmlns:a16="http://schemas.microsoft.com/office/drawing/2014/main" id="{2D4DA51C-4284-4B15-A075-1CE7CC9B38FB}"/>
                  </a:ext>
                </a:extLst>
              </p:cNvPr>
              <p:cNvSpPr/>
              <p:nvPr/>
            </p:nvSpPr>
            <p:spPr>
              <a:xfrm>
                <a:off x="3688685" y="40818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9" name="Rectangle 68">
                <a:extLst>
                  <a:ext uri="{FF2B5EF4-FFF2-40B4-BE49-F238E27FC236}">
                    <a16:creationId xmlns:a16="http://schemas.microsoft.com/office/drawing/2014/main" id="{6DFDFE35-8A47-4541-A65A-8F9EEC4BB6A9}"/>
                  </a:ext>
                </a:extLst>
              </p:cNvPr>
              <p:cNvSpPr/>
              <p:nvPr/>
            </p:nvSpPr>
            <p:spPr>
              <a:xfrm>
                <a:off x="3688685" y="31601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&gt;=</a:t>
                </a:r>
              </a:p>
            </p:txBody>
          </p:sp>
          <p:sp>
            <p:nvSpPr>
              <p:cNvPr id="70" name="Rectangle 69">
                <a:extLst>
                  <a:ext uri="{FF2B5EF4-FFF2-40B4-BE49-F238E27FC236}">
                    <a16:creationId xmlns:a16="http://schemas.microsoft.com/office/drawing/2014/main" id="{E1690C78-5C7D-4B80-B093-052F485E74E5}"/>
                  </a:ext>
                </a:extLst>
              </p:cNvPr>
              <p:cNvSpPr/>
              <p:nvPr/>
            </p:nvSpPr>
            <p:spPr>
              <a:xfrm>
                <a:off x="3688685" y="43891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1" name="Rectangle 70">
                <a:extLst>
                  <a:ext uri="{FF2B5EF4-FFF2-40B4-BE49-F238E27FC236}">
                    <a16:creationId xmlns:a16="http://schemas.microsoft.com/office/drawing/2014/main" id="{573F8AFC-CA61-4C56-A613-9A44DDC0497F}"/>
                  </a:ext>
                </a:extLst>
              </p:cNvPr>
              <p:cNvSpPr/>
              <p:nvPr/>
            </p:nvSpPr>
            <p:spPr>
              <a:xfrm>
                <a:off x="3686880" y="46963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2" name="Rectangle 71">
                <a:extLst>
                  <a:ext uri="{FF2B5EF4-FFF2-40B4-BE49-F238E27FC236}">
                    <a16:creationId xmlns:a16="http://schemas.microsoft.com/office/drawing/2014/main" id="{9ABF8D3A-BD98-4BB7-8C02-3A6C7C1697AD}"/>
                  </a:ext>
                </a:extLst>
              </p:cNvPr>
              <p:cNvSpPr/>
              <p:nvPr/>
            </p:nvSpPr>
            <p:spPr>
              <a:xfrm>
                <a:off x="3686880" y="50036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7" name="Rectangle 76">
                <a:extLst>
                  <a:ext uri="{FF2B5EF4-FFF2-40B4-BE49-F238E27FC236}">
                    <a16:creationId xmlns:a16="http://schemas.microsoft.com/office/drawing/2014/main" id="{A4CF89A5-3146-4478-9CA5-DFA169DCA7F8}"/>
                  </a:ext>
                </a:extLst>
              </p:cNvPr>
              <p:cNvSpPr/>
              <p:nvPr/>
            </p:nvSpPr>
            <p:spPr>
              <a:xfrm>
                <a:off x="3688685" y="25456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RDx</a:t>
                </a:r>
                <a:endParaRPr lang="en-US" sz="1200" kern="0" dirty="0">
                  <a:solidFill>
                    <a:sysClr val="windowText" lastClr="000000"/>
                  </a:solidFill>
                  <a:latin typeface="Arial"/>
                </a:endParaRPr>
              </a:p>
            </p:txBody>
          </p:sp>
          <p:sp>
            <p:nvSpPr>
              <p:cNvPr id="79" name="Rectangle 78">
                <a:extLst>
                  <a:ext uri="{FF2B5EF4-FFF2-40B4-BE49-F238E27FC236}">
                    <a16:creationId xmlns:a16="http://schemas.microsoft.com/office/drawing/2014/main" id="{6E00CE76-C8A5-4F72-9865-E46FA1073BD6}"/>
                  </a:ext>
                </a:extLst>
              </p:cNvPr>
              <p:cNvSpPr/>
              <p:nvPr/>
            </p:nvSpPr>
            <p:spPr>
              <a:xfrm>
                <a:off x="3688685" y="53108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WRy</a:t>
                </a:r>
                <a:endParaRPr lang="en-US" sz="1200" kern="0" dirty="0">
                  <a:solidFill>
                    <a:sysClr val="windowText" lastClr="000000"/>
                  </a:solidFill>
                  <a:latin typeface="Arial"/>
                </a:endParaRPr>
              </a:p>
            </p:txBody>
          </p:sp>
          <p:sp>
            <p:nvSpPr>
              <p:cNvPr id="84" name="Rectangle 83">
                <a:extLst>
                  <a:ext uri="{FF2B5EF4-FFF2-40B4-BE49-F238E27FC236}">
                    <a16:creationId xmlns:a16="http://schemas.microsoft.com/office/drawing/2014/main" id="{5A2610AE-DAF3-43EC-B43A-A0764579666D}"/>
                  </a:ext>
                </a:extLst>
              </p:cNvPr>
              <p:cNvSpPr/>
              <p:nvPr/>
            </p:nvSpPr>
            <p:spPr>
              <a:xfrm>
                <a:off x="3688685" y="28529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RDc</a:t>
                </a:r>
                <a:endParaRPr lang="en-US" sz="1200" kern="0" dirty="0">
                  <a:solidFill>
                    <a:sysClr val="windowText" lastClr="000000"/>
                  </a:solidFill>
                  <a:latin typeface="Arial"/>
                </a:endParaRPr>
              </a:p>
            </p:txBody>
          </p:sp>
        </p:grpSp>
      </p:grpSp>
      <p:grpSp>
        <p:nvGrpSpPr>
          <p:cNvPr id="90" name="Group 106">
            <a:extLst>
              <a:ext uri="{FF2B5EF4-FFF2-40B4-BE49-F238E27FC236}">
                <a16:creationId xmlns:a16="http://schemas.microsoft.com/office/drawing/2014/main" id="{C0FC98F9-6B7F-44E8-B67C-D6A73ED4E8AA}"/>
              </a:ext>
            </a:extLst>
          </p:cNvPr>
          <p:cNvGrpSpPr/>
          <p:nvPr/>
        </p:nvGrpSpPr>
        <p:grpSpPr>
          <a:xfrm>
            <a:off x="6249582" y="1623970"/>
            <a:ext cx="5206056" cy="4647005"/>
            <a:chOff x="4687215" y="1623965"/>
            <a:chExt cx="3905559" cy="4647005"/>
          </a:xfrm>
        </p:grpSpPr>
        <p:sp>
          <p:nvSpPr>
            <p:cNvPr id="91" name="Left Brace 90">
              <a:extLst>
                <a:ext uri="{FF2B5EF4-FFF2-40B4-BE49-F238E27FC236}">
                  <a16:creationId xmlns:a16="http://schemas.microsoft.com/office/drawing/2014/main" id="{EEC7E47B-59CA-4295-8D68-03E55C67F6A2}"/>
                </a:ext>
              </a:extLst>
            </p:cNvPr>
            <p:cNvSpPr/>
            <p:nvPr/>
          </p:nvSpPr>
          <p:spPr>
            <a:xfrm>
              <a:off x="4687215" y="2084825"/>
              <a:ext cx="268835" cy="357166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92" name="TextBox 91">
              <a:extLst>
                <a:ext uri="{FF2B5EF4-FFF2-40B4-BE49-F238E27FC236}">
                  <a16:creationId xmlns:a16="http://schemas.microsoft.com/office/drawing/2014/main" id="{5D16BEE1-F3A5-4233-8BA2-40113843F9DD}"/>
                </a:ext>
              </a:extLst>
            </p:cNvPr>
            <p:cNvSpPr txBox="1"/>
            <p:nvPr/>
          </p:nvSpPr>
          <p:spPr>
            <a:xfrm>
              <a:off x="6045818" y="1623965"/>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Types</a:t>
              </a:r>
            </a:p>
          </p:txBody>
        </p:sp>
        <p:sp>
          <p:nvSpPr>
            <p:cNvPr id="93" name="TextBox 92">
              <a:extLst>
                <a:ext uri="{FF2B5EF4-FFF2-40B4-BE49-F238E27FC236}">
                  <a16:creationId xmlns:a16="http://schemas.microsoft.com/office/drawing/2014/main" id="{62490D7A-A8CA-4518-A258-18AA0EC52EA6}"/>
                </a:ext>
              </a:extLst>
            </p:cNvPr>
            <p:cNvSpPr txBox="1"/>
            <p:nvPr/>
          </p:nvSpPr>
          <p:spPr>
            <a:xfrm>
              <a:off x="5263290" y="5809305"/>
              <a:ext cx="3110805"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The C types define the size of the hardware used: handled automatically </a:t>
              </a:r>
            </a:p>
          </p:txBody>
        </p:sp>
        <p:sp>
          <p:nvSpPr>
            <p:cNvPr id="95" name="TextBox 94">
              <a:extLst>
                <a:ext uri="{FF2B5EF4-FFF2-40B4-BE49-F238E27FC236}">
                  <a16:creationId xmlns:a16="http://schemas.microsoft.com/office/drawing/2014/main" id="{63110BDD-6764-496C-89A8-217D9A50D28F}"/>
                </a:ext>
              </a:extLst>
            </p:cNvPr>
            <p:cNvSpPr txBox="1"/>
            <p:nvPr/>
          </p:nvSpPr>
          <p:spPr>
            <a:xfrm>
              <a:off x="5174769" y="2460711"/>
              <a:ext cx="1000775"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long </a:t>
              </a:r>
              <a:r>
                <a:rPr lang="en-US" sz="1200" kern="0" dirty="0" err="1">
                  <a:solidFill>
                    <a:prstClr val="black"/>
                  </a:solidFill>
                  <a:ea typeface="ＭＳ Ｐゴシック" pitchFamily="34" charset="-128"/>
                  <a:cs typeface="Arial" charset="0"/>
                </a:rPr>
                <a:t>long</a:t>
              </a:r>
              <a:r>
                <a:rPr lang="en-US" sz="1200" kern="0" dirty="0">
                  <a:solidFill>
                    <a:prstClr val="black"/>
                  </a:solidFill>
                  <a:ea typeface="ＭＳ Ｐゴシック" pitchFamily="34" charset="-128"/>
                  <a:cs typeface="Arial" charset="0"/>
                </a:rPr>
                <a:t> (64-bit)</a:t>
              </a:r>
            </a:p>
          </p:txBody>
        </p:sp>
        <p:sp>
          <p:nvSpPr>
            <p:cNvPr id="99" name="TextBox 98">
              <a:extLst>
                <a:ext uri="{FF2B5EF4-FFF2-40B4-BE49-F238E27FC236}">
                  <a16:creationId xmlns:a16="http://schemas.microsoft.com/office/drawing/2014/main" id="{9E9BB591-F6DB-4EA2-B3FA-DE2DF8ABDC38}"/>
                </a:ext>
              </a:extLst>
            </p:cNvPr>
            <p:cNvSpPr txBox="1"/>
            <p:nvPr/>
          </p:nvSpPr>
          <p:spPr>
            <a:xfrm>
              <a:off x="5103902" y="2737710"/>
              <a:ext cx="656842"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err="1">
                  <a:solidFill>
                    <a:prstClr val="black"/>
                  </a:solidFill>
                  <a:ea typeface="ＭＳ Ｐゴシック" pitchFamily="34" charset="-128"/>
                  <a:cs typeface="Arial" charset="0"/>
                </a:rPr>
                <a:t>int</a:t>
              </a:r>
              <a:r>
                <a:rPr lang="en-US" sz="1200" kern="0" dirty="0">
                  <a:solidFill>
                    <a:prstClr val="black"/>
                  </a:solidFill>
                  <a:ea typeface="ＭＳ Ｐゴシック" pitchFamily="34" charset="-128"/>
                  <a:cs typeface="Arial" charset="0"/>
                </a:rPr>
                <a:t> (32-bit)</a:t>
              </a:r>
            </a:p>
          </p:txBody>
        </p:sp>
        <p:sp>
          <p:nvSpPr>
            <p:cNvPr id="102" name="TextBox 101">
              <a:extLst>
                <a:ext uri="{FF2B5EF4-FFF2-40B4-BE49-F238E27FC236}">
                  <a16:creationId xmlns:a16="http://schemas.microsoft.com/office/drawing/2014/main" id="{4D172562-9D3C-4196-B474-5669590DCD68}"/>
                </a:ext>
              </a:extLst>
            </p:cNvPr>
            <p:cNvSpPr txBox="1"/>
            <p:nvPr/>
          </p:nvSpPr>
          <p:spPr>
            <a:xfrm>
              <a:off x="6452254" y="2460711"/>
              <a:ext cx="791528"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short (16-bit)</a:t>
              </a:r>
            </a:p>
          </p:txBody>
        </p:sp>
        <p:sp>
          <p:nvSpPr>
            <p:cNvPr id="104" name="TextBox 103">
              <a:extLst>
                <a:ext uri="{FF2B5EF4-FFF2-40B4-BE49-F238E27FC236}">
                  <a16:creationId xmlns:a16="http://schemas.microsoft.com/office/drawing/2014/main" id="{3575DCD7-DED4-48DD-A7F1-5CCECDFEDDED}"/>
                </a:ext>
              </a:extLst>
            </p:cNvPr>
            <p:cNvSpPr txBox="1"/>
            <p:nvPr/>
          </p:nvSpPr>
          <p:spPr>
            <a:xfrm>
              <a:off x="6483589" y="2729546"/>
              <a:ext cx="69532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char (8-bit)</a:t>
              </a:r>
            </a:p>
          </p:txBody>
        </p:sp>
        <p:sp>
          <p:nvSpPr>
            <p:cNvPr id="107" name="TextBox 106">
              <a:extLst>
                <a:ext uri="{FF2B5EF4-FFF2-40B4-BE49-F238E27FC236}">
                  <a16:creationId xmlns:a16="http://schemas.microsoft.com/office/drawing/2014/main" id="{3C2A8A55-167C-4CB9-B306-E08447F160A6}"/>
                </a:ext>
              </a:extLst>
            </p:cNvPr>
            <p:cNvSpPr txBox="1"/>
            <p:nvPr/>
          </p:nvSpPr>
          <p:spPr>
            <a:xfrm>
              <a:off x="6485030" y="3036786"/>
              <a:ext cx="879316"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double (64-bit)</a:t>
              </a:r>
            </a:p>
          </p:txBody>
        </p:sp>
        <p:sp>
          <p:nvSpPr>
            <p:cNvPr id="108" name="TextBox 107">
              <a:extLst>
                <a:ext uri="{FF2B5EF4-FFF2-40B4-BE49-F238E27FC236}">
                  <a16:creationId xmlns:a16="http://schemas.microsoft.com/office/drawing/2014/main" id="{BCAF2B10-ABF9-40FE-AF11-1E119CCBD91E}"/>
                </a:ext>
              </a:extLst>
            </p:cNvPr>
            <p:cNvSpPr txBox="1"/>
            <p:nvPr/>
          </p:nvSpPr>
          <p:spPr>
            <a:xfrm>
              <a:off x="5119832" y="3044950"/>
              <a:ext cx="753047"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float (32-bit)</a:t>
              </a:r>
            </a:p>
          </p:txBody>
        </p:sp>
        <p:sp>
          <p:nvSpPr>
            <p:cNvPr id="109" name="TextBox 108">
              <a:extLst>
                <a:ext uri="{FF2B5EF4-FFF2-40B4-BE49-F238E27FC236}">
                  <a16:creationId xmlns:a16="http://schemas.microsoft.com/office/drawing/2014/main" id="{268074BE-BF90-4C60-87EA-1D8A1EF8F197}"/>
                </a:ext>
              </a:extLst>
            </p:cNvPr>
            <p:cNvSpPr txBox="1"/>
            <p:nvPr/>
          </p:nvSpPr>
          <p:spPr>
            <a:xfrm>
              <a:off x="7680990" y="2460711"/>
              <a:ext cx="91178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unsigned types</a:t>
              </a:r>
            </a:p>
          </p:txBody>
        </p:sp>
        <p:sp>
          <p:nvSpPr>
            <p:cNvPr id="110" name="TextBox 109">
              <a:extLst>
                <a:ext uri="{FF2B5EF4-FFF2-40B4-BE49-F238E27FC236}">
                  <a16:creationId xmlns:a16="http://schemas.microsoft.com/office/drawing/2014/main" id="{57F1CE7A-CD26-4EA6-A8CF-96E5AB053DF7}"/>
                </a:ext>
              </a:extLst>
            </p:cNvPr>
            <p:cNvSpPr txBox="1"/>
            <p:nvPr/>
          </p:nvSpPr>
          <p:spPr>
            <a:xfrm>
              <a:off x="4917645" y="2084825"/>
              <a:ext cx="1087360" cy="276999"/>
            </a:xfrm>
            <a:prstGeom prst="rect">
              <a:avLst/>
            </a:prstGeom>
            <a:noFill/>
          </p:spPr>
          <p:txBody>
            <a:bodyPr wrap="none" rtlCol="0">
              <a:spAutoFit/>
            </a:bodyPr>
            <a:lstStyle/>
            <a:p>
              <a:pPr defTabSz="457200" fontAlgn="base">
                <a:spcBef>
                  <a:spcPct val="0"/>
                </a:spcBef>
                <a:spcAft>
                  <a:spcPct val="0"/>
                </a:spcAft>
                <a:defRPr/>
              </a:pPr>
              <a:r>
                <a:rPr lang="en-US" sz="1200" b="1" u="sng" kern="0" dirty="0">
                  <a:solidFill>
                    <a:prstClr val="black"/>
                  </a:solidFill>
                  <a:ea typeface="ＭＳ Ｐゴシック" pitchFamily="34" charset="-128"/>
                  <a:cs typeface="Arial" charset="0"/>
                </a:rPr>
                <a:t>Standard C types</a:t>
              </a:r>
            </a:p>
          </p:txBody>
        </p:sp>
      </p:grpSp>
      <p:grpSp>
        <p:nvGrpSpPr>
          <p:cNvPr id="111" name="Group 108">
            <a:extLst>
              <a:ext uri="{FF2B5EF4-FFF2-40B4-BE49-F238E27FC236}">
                <a16:creationId xmlns:a16="http://schemas.microsoft.com/office/drawing/2014/main" id="{4DA513E9-F9C4-4FA9-B51A-69A2AF6D5098}"/>
              </a:ext>
            </a:extLst>
          </p:cNvPr>
          <p:cNvGrpSpPr/>
          <p:nvPr/>
        </p:nvGrpSpPr>
        <p:grpSpPr>
          <a:xfrm>
            <a:off x="6556743" y="3843469"/>
            <a:ext cx="5426493" cy="1890009"/>
            <a:chOff x="4917645" y="3843291"/>
            <a:chExt cx="4070930" cy="1890009"/>
          </a:xfrm>
        </p:grpSpPr>
        <p:sp>
          <p:nvSpPr>
            <p:cNvPr id="112" name="TextBox 111">
              <a:extLst>
                <a:ext uri="{FF2B5EF4-FFF2-40B4-BE49-F238E27FC236}">
                  <a16:creationId xmlns:a16="http://schemas.microsoft.com/office/drawing/2014/main" id="{DD1A3416-416E-4B3D-BED9-50F11D9E66D5}"/>
                </a:ext>
              </a:extLst>
            </p:cNvPr>
            <p:cNvSpPr txBox="1"/>
            <p:nvPr/>
          </p:nvSpPr>
          <p:spPr>
            <a:xfrm>
              <a:off x="4917645" y="3843291"/>
              <a:ext cx="1952779" cy="276999"/>
            </a:xfrm>
            <a:prstGeom prst="rect">
              <a:avLst/>
            </a:prstGeom>
            <a:noFill/>
          </p:spPr>
          <p:txBody>
            <a:bodyPr wrap="square" rtlCol="0">
              <a:spAutoFit/>
            </a:bodyPr>
            <a:lstStyle/>
            <a:p>
              <a:pPr defTabSz="457200" fontAlgn="base">
                <a:spcBef>
                  <a:spcPct val="0"/>
                </a:spcBef>
                <a:spcAft>
                  <a:spcPct val="0"/>
                </a:spcAft>
              </a:pPr>
              <a:r>
                <a:rPr lang="en-US" sz="1200" b="1" u="sng" dirty="0" err="1">
                  <a:solidFill>
                    <a:prstClr val="black"/>
                  </a:solidFill>
                  <a:ea typeface="ＭＳ Ｐゴシック" pitchFamily="34" charset="-128"/>
                  <a:cs typeface="Arial" charset="0"/>
                </a:rPr>
                <a:t>Arbitary</a:t>
              </a:r>
              <a:r>
                <a:rPr lang="en-US" sz="1200" b="1" u="sng" dirty="0">
                  <a:solidFill>
                    <a:prstClr val="black"/>
                  </a:solidFill>
                  <a:ea typeface="ＭＳ Ｐゴシック" pitchFamily="34" charset="-128"/>
                  <a:cs typeface="Arial" charset="0"/>
                </a:rPr>
                <a:t> Precision types</a:t>
              </a:r>
            </a:p>
          </p:txBody>
        </p:sp>
        <p:sp>
          <p:nvSpPr>
            <p:cNvPr id="114" name="TextBox 113">
              <a:extLst>
                <a:ext uri="{FF2B5EF4-FFF2-40B4-BE49-F238E27FC236}">
                  <a16:creationId xmlns:a16="http://schemas.microsoft.com/office/drawing/2014/main" id="{4DB2888F-BBEB-43D7-AC8D-4273A11FFD88}"/>
                </a:ext>
              </a:extLst>
            </p:cNvPr>
            <p:cNvSpPr txBox="1"/>
            <p:nvPr/>
          </p:nvSpPr>
          <p:spPr>
            <a:xfrm>
              <a:off x="4994455" y="4418656"/>
              <a:ext cx="3286477" cy="461665"/>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 </a:t>
              </a: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a:t>
              </a:r>
              <a:r>
                <a:rPr lang="en-US" sz="1200" dirty="0">
                  <a:solidFill>
                    <a:prstClr val="black"/>
                  </a:solidFill>
                  <a:ea typeface="ＭＳ Ｐゴシック" pitchFamily="34" charset="-128"/>
                  <a:cs typeface="Arial" charset="0"/>
                </a:rPr>
                <a:t>_(u)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a:p>
              <a:pPr defTabSz="457200" fontAlgn="base">
                <a:spcBef>
                  <a:spcPct val="0"/>
                </a:spcBef>
                <a:spcAft>
                  <a:spcPct val="0"/>
                </a:spcAft>
              </a:pP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ap_fixed</a:t>
              </a:r>
              <a:r>
                <a:rPr lang="en-US" sz="1200" dirty="0">
                  <a:solidFill>
                    <a:prstClr val="black"/>
                  </a:solidFill>
                  <a:ea typeface="ＭＳ Ｐゴシック" pitchFamily="34" charset="-128"/>
                  <a:cs typeface="Arial" charset="0"/>
                </a:rPr>
                <a:t> types </a:t>
              </a:r>
            </a:p>
          </p:txBody>
        </p:sp>
        <p:sp>
          <p:nvSpPr>
            <p:cNvPr id="118" name="TextBox 117">
              <a:extLst>
                <a:ext uri="{FF2B5EF4-FFF2-40B4-BE49-F238E27FC236}">
                  <a16:creationId xmlns:a16="http://schemas.microsoft.com/office/drawing/2014/main" id="{CCF61C0F-7F6D-4241-B014-470344599EF0}"/>
                </a:ext>
              </a:extLst>
            </p:cNvPr>
            <p:cNvSpPr txBox="1"/>
            <p:nvPr/>
          </p:nvSpPr>
          <p:spPr>
            <a:xfrm>
              <a:off x="4994455" y="5271635"/>
              <a:ext cx="3994120" cy="461665"/>
            </a:xfrm>
            <a:prstGeom prst="rect">
              <a:avLst/>
            </a:prstGeom>
            <a:noFill/>
          </p:spPr>
          <p:txBody>
            <a:bodyPr wrap="square" rtlCol="0">
              <a:spAutoFit/>
            </a:bodyPr>
            <a:lstStyle/>
            <a:p>
              <a:pPr defTabSz="457200" fontAlgn="base">
                <a:spcBef>
                  <a:spcPct val="0"/>
                </a:spcBef>
                <a:spcAft>
                  <a:spcPct val="0"/>
                </a:spcAft>
              </a:pPr>
              <a:r>
                <a:rPr lang="en-US" sz="1200" dirty="0">
                  <a:solidFill>
                    <a:prstClr val="black"/>
                  </a:solidFill>
                  <a:ea typeface="ＭＳ Ｐゴシック" pitchFamily="34" charset="-128"/>
                  <a:cs typeface="Arial" charset="0"/>
                </a:rPr>
                <a:t>Can be used to define any variable to be a specific bit-width (e.g. 17-bit, 47-bit etc).</a:t>
              </a: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left)">
                                      <p:cBhvr>
                                        <p:cTn id="12" dur="5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11"/>
                                        </p:tgtEl>
                                        <p:attrNameLst>
                                          <p:attrName>style.visibility</p:attrName>
                                        </p:attrNameLst>
                                      </p:cBhvr>
                                      <p:to>
                                        <p:strVal val="visible"/>
                                      </p:to>
                                    </p:set>
                                    <p:animEffect transition="in" filter="wipe(up)">
                                      <p:cBhvr>
                                        <p:cTn id="17"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 Operator Bit-sizes</a:t>
            </a:r>
          </a:p>
        </p:txBody>
      </p:sp>
      <p:sp>
        <p:nvSpPr>
          <p:cNvPr id="50" name="TextBox 49">
            <a:extLst>
              <a:ext uri="{FF2B5EF4-FFF2-40B4-BE49-F238E27FC236}">
                <a16:creationId xmlns:a16="http://schemas.microsoft.com/office/drawing/2014/main" id="{C546381A-C7FD-4FCA-BCEF-DE31530C375B}"/>
              </a:ext>
            </a:extLst>
          </p:cNvPr>
          <p:cNvSpPr txBox="1"/>
          <p:nvPr/>
        </p:nvSpPr>
        <p:spPr>
          <a:xfrm>
            <a:off x="259961" y="2161641"/>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*y,</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coef_t</a:t>
            </a:r>
            <a:r>
              <a:rPr lang="en-US" sz="1000" kern="0" dirty="0">
                <a:solidFill>
                  <a:prstClr val="black"/>
                </a:solidFill>
                <a:latin typeface="Arial"/>
              </a:rPr>
              <a:t> c[4],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x</a:t>
            </a:r>
          </a:p>
          <a:p>
            <a:pPr defTabSz="457200" fontAlgn="base">
              <a:spcBef>
                <a:spcPct val="0"/>
              </a:spcBef>
              <a:spcAft>
                <a:spcPct val="0"/>
              </a:spcAft>
              <a:defRPr/>
            </a:pPr>
            <a:r>
              <a:rPr lang="en-US" sz="1000" kern="0" dirty="0">
                <a:solidFill>
                  <a:prstClr val="black"/>
                </a:solidFill>
                <a:latin typeface="Arial"/>
              </a:rPr>
              <a:t>  ) {</a:t>
            </a:r>
          </a:p>
          <a:p>
            <a:pPr defTabSz="457200" fontAlgn="base">
              <a:spcBef>
                <a:spcPct val="0"/>
              </a:spcBef>
              <a:spcAft>
                <a:spcPct val="0"/>
              </a:spcAft>
              <a:defRPr/>
            </a:pPr>
            <a:endParaRPr lang="en-US" sz="1000"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static </a:t>
            </a:r>
            <a:r>
              <a:rPr lang="en-US" sz="1000" kern="0" dirty="0" err="1">
                <a:solidFill>
                  <a:prstClr val="black"/>
                </a:solidFill>
                <a:latin typeface="Arial"/>
              </a:rPr>
              <a:t>data_t</a:t>
            </a: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acc_t</a:t>
            </a:r>
            <a:r>
              <a:rPr lang="en-US" sz="1000" kern="0" dirty="0">
                <a:solidFill>
                  <a:prstClr val="black"/>
                </a:solidFill>
                <a:latin typeface="Arial"/>
              </a:rPr>
              <a:t> acc;</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int</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acc+=x*c[0];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52" name="TextBox 51">
            <a:extLst>
              <a:ext uri="{FF2B5EF4-FFF2-40B4-BE49-F238E27FC236}">
                <a16:creationId xmlns:a16="http://schemas.microsoft.com/office/drawing/2014/main" id="{2595C3D8-E2AA-42CD-A5B9-4CF7CDFA5FE7}"/>
              </a:ext>
            </a:extLst>
          </p:cNvPr>
          <p:cNvSpPr txBox="1"/>
          <p:nvPr/>
        </p:nvSpPr>
        <p:spPr>
          <a:xfrm>
            <a:off x="823206" y="1623970"/>
            <a:ext cx="2182081" cy="307777"/>
          </a:xfrm>
          <a:prstGeom prst="rect">
            <a:avLst/>
          </a:prstGeom>
          <a:noFill/>
        </p:spPr>
        <p:txBody>
          <a:bodyPr wrap="square" rtlCol="0">
            <a:spAutoFit/>
          </a:bodyPr>
          <a:lstStyle/>
          <a:p>
            <a:pPr algn="ctr" defTabSz="457200" fontAlgn="base">
              <a:spcBef>
                <a:spcPct val="0"/>
              </a:spcBef>
              <a:spcAft>
                <a:spcPct val="0"/>
              </a:spcAft>
            </a:pPr>
            <a:r>
              <a:rPr lang="en-US" sz="1400" b="1" u="sng" dirty="0">
                <a:solidFill>
                  <a:prstClr val="black"/>
                </a:solidFill>
                <a:ea typeface="ＭＳ Ｐゴシック" pitchFamily="34" charset="-128"/>
                <a:cs typeface="Arial" charset="0"/>
              </a:rPr>
              <a:t>Code </a:t>
            </a:r>
          </a:p>
        </p:txBody>
      </p:sp>
      <p:sp>
        <p:nvSpPr>
          <p:cNvPr id="53" name="TextBox 52">
            <a:extLst>
              <a:ext uri="{FF2B5EF4-FFF2-40B4-BE49-F238E27FC236}">
                <a16:creationId xmlns:a16="http://schemas.microsoft.com/office/drawing/2014/main" id="{BAF9D324-5933-42E5-899A-A1EAA316DE42}"/>
              </a:ext>
            </a:extLst>
          </p:cNvPr>
          <p:cNvSpPr txBox="1"/>
          <p:nvPr/>
        </p:nvSpPr>
        <p:spPr>
          <a:xfrm>
            <a:off x="823089" y="5810288"/>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From any C code example ...</a:t>
            </a:r>
          </a:p>
        </p:txBody>
      </p:sp>
      <p:grpSp>
        <p:nvGrpSpPr>
          <p:cNvPr id="54" name="Group 151">
            <a:extLst>
              <a:ext uri="{FF2B5EF4-FFF2-40B4-BE49-F238E27FC236}">
                <a16:creationId xmlns:a16="http://schemas.microsoft.com/office/drawing/2014/main" id="{C7517D21-56D8-4867-A949-8E7593C3F659}"/>
              </a:ext>
            </a:extLst>
          </p:cNvPr>
          <p:cNvGrpSpPr/>
          <p:nvPr/>
        </p:nvGrpSpPr>
        <p:grpSpPr>
          <a:xfrm>
            <a:off x="1590988" y="1623437"/>
            <a:ext cx="4709787" cy="4648347"/>
            <a:chOff x="1192360" y="1623428"/>
            <a:chExt cx="3533260" cy="4648347"/>
          </a:xfrm>
        </p:grpSpPr>
        <p:sp>
          <p:nvSpPr>
            <p:cNvPr id="55" name="TextBox 54">
              <a:extLst>
                <a:ext uri="{FF2B5EF4-FFF2-40B4-BE49-F238E27FC236}">
                  <a16:creationId xmlns:a16="http://schemas.microsoft.com/office/drawing/2014/main" id="{8CD73558-818F-4741-9573-34F8BA5B96F5}"/>
                </a:ext>
              </a:extLst>
            </p:cNvPr>
            <p:cNvSpPr txBox="1"/>
            <p:nvPr/>
          </p:nvSpPr>
          <p:spPr>
            <a:xfrm>
              <a:off x="3088633" y="1623428"/>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Operations</a:t>
              </a:r>
            </a:p>
          </p:txBody>
        </p:sp>
        <p:grpSp>
          <p:nvGrpSpPr>
            <p:cNvPr id="56" name="Group 149">
              <a:extLst>
                <a:ext uri="{FF2B5EF4-FFF2-40B4-BE49-F238E27FC236}">
                  <a16:creationId xmlns:a16="http://schemas.microsoft.com/office/drawing/2014/main" id="{080CF18E-8B3A-4E29-9DF7-862022B47B62}"/>
                </a:ext>
              </a:extLst>
            </p:cNvPr>
            <p:cNvGrpSpPr/>
            <p:nvPr/>
          </p:nvGrpSpPr>
          <p:grpSpPr>
            <a:xfrm>
              <a:off x="1192360" y="2545685"/>
              <a:ext cx="3341235" cy="3726090"/>
              <a:chOff x="1192360" y="2545685"/>
              <a:chExt cx="3341235" cy="3726090"/>
            </a:xfrm>
          </p:grpSpPr>
          <p:cxnSp>
            <p:nvCxnSpPr>
              <p:cNvPr id="57" name="Curved Connector 24">
                <a:extLst>
                  <a:ext uri="{FF2B5EF4-FFF2-40B4-BE49-F238E27FC236}">
                    <a16:creationId xmlns:a16="http://schemas.microsoft.com/office/drawing/2014/main" id="{A97ECBA6-356A-4617-97EE-1C87F8B31010}"/>
                  </a:ext>
                </a:extLst>
              </p:cNvPr>
              <p:cNvCxnSpPr/>
              <p:nvPr/>
            </p:nvCxnSpPr>
            <p:spPr>
              <a:xfrm rot="5400000" flipH="1" flipV="1">
                <a:off x="2008466" y="2209642"/>
                <a:ext cx="940922" cy="2342705"/>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8" name="Curved Connector 24">
                <a:extLst>
                  <a:ext uri="{FF2B5EF4-FFF2-40B4-BE49-F238E27FC236}">
                    <a16:creationId xmlns:a16="http://schemas.microsoft.com/office/drawing/2014/main" id="{50516390-8BFD-4141-A873-1ED6B4EBC37A}"/>
                  </a:ext>
                </a:extLst>
              </p:cNvPr>
              <p:cNvCxnSpPr/>
              <p:nvPr/>
            </p:nvCxnSpPr>
            <p:spPr>
              <a:xfrm rot="5400000" flipH="1" flipV="1">
                <a:off x="2399988" y="2629284"/>
                <a:ext cx="623398" cy="1877186"/>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9" name="Straight Arrow Connector 58">
                <a:extLst>
                  <a:ext uri="{FF2B5EF4-FFF2-40B4-BE49-F238E27FC236}">
                    <a16:creationId xmlns:a16="http://schemas.microsoft.com/office/drawing/2014/main" id="{95E31849-70C9-4A62-84C7-B9F01CCE24E0}"/>
                  </a:ext>
                </a:extLst>
              </p:cNvPr>
              <p:cNvCxnSpPr/>
              <p:nvPr/>
            </p:nvCxnSpPr>
            <p:spPr>
              <a:xfrm>
                <a:off x="3035800" y="488839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0" name="Straight Arrow Connector 59">
                <a:extLst>
                  <a:ext uri="{FF2B5EF4-FFF2-40B4-BE49-F238E27FC236}">
                    <a16:creationId xmlns:a16="http://schemas.microsoft.com/office/drawing/2014/main" id="{16DF431D-0A3C-49FE-86DA-7865AC49C3F4}"/>
                  </a:ext>
                </a:extLst>
              </p:cNvPr>
              <p:cNvCxnSpPr/>
              <p:nvPr/>
            </p:nvCxnSpPr>
            <p:spPr>
              <a:xfrm>
                <a:off x="3035800" y="4579562"/>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1" name="Straight Arrow Connector 60">
                <a:extLst>
                  <a:ext uri="{FF2B5EF4-FFF2-40B4-BE49-F238E27FC236}">
                    <a16:creationId xmlns:a16="http://schemas.microsoft.com/office/drawing/2014/main" id="{E3E0C8FC-C78E-40CE-8C8A-337EBE56C6DE}"/>
                  </a:ext>
                </a:extLst>
              </p:cNvPr>
              <p:cNvCxnSpPr/>
              <p:nvPr/>
            </p:nvCxnSpPr>
            <p:spPr>
              <a:xfrm>
                <a:off x="3035800" y="419710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2" name="Straight Arrow Connector 61">
                <a:extLst>
                  <a:ext uri="{FF2B5EF4-FFF2-40B4-BE49-F238E27FC236}">
                    <a16:creationId xmlns:a16="http://schemas.microsoft.com/office/drawing/2014/main" id="{B069D18C-2CE1-4C8C-B441-724E012B596A}"/>
                  </a:ext>
                </a:extLst>
              </p:cNvPr>
              <p:cNvCxnSpPr/>
              <p:nvPr/>
            </p:nvCxnSpPr>
            <p:spPr>
              <a:xfrm>
                <a:off x="3035800" y="388986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3" name="Straight Arrow Connector 62">
                <a:extLst>
                  <a:ext uri="{FF2B5EF4-FFF2-40B4-BE49-F238E27FC236}">
                    <a16:creationId xmlns:a16="http://schemas.microsoft.com/office/drawing/2014/main" id="{A65B9EEA-5730-4133-B398-5B12A5A36E4B}"/>
                  </a:ext>
                </a:extLst>
              </p:cNvPr>
              <p:cNvCxnSpPr/>
              <p:nvPr/>
            </p:nvCxnSpPr>
            <p:spPr>
              <a:xfrm>
                <a:off x="3035800" y="3544215"/>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4" name="Straight Arrow Connector 63">
                <a:extLst>
                  <a:ext uri="{FF2B5EF4-FFF2-40B4-BE49-F238E27FC236}">
                    <a16:creationId xmlns:a16="http://schemas.microsoft.com/office/drawing/2014/main" id="{00403DDB-023A-4C2F-93E9-192726493E41}"/>
                  </a:ext>
                </a:extLst>
              </p:cNvPr>
              <p:cNvCxnSpPr/>
              <p:nvPr/>
            </p:nvCxnSpPr>
            <p:spPr>
              <a:xfrm>
                <a:off x="1192360" y="5234035"/>
                <a:ext cx="241951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65" name="TextBox 64">
                <a:extLst>
                  <a:ext uri="{FF2B5EF4-FFF2-40B4-BE49-F238E27FC236}">
                    <a16:creationId xmlns:a16="http://schemas.microsoft.com/office/drawing/2014/main" id="{01B255F1-9006-4CC9-98AB-67554E8D09D3}"/>
                  </a:ext>
                </a:extLst>
              </p:cNvPr>
              <p:cNvSpPr txBox="1"/>
              <p:nvPr/>
            </p:nvSpPr>
            <p:spPr>
              <a:xfrm>
                <a:off x="3266229" y="5810110"/>
                <a:ext cx="1267366"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Operations are extracted…</a:t>
                </a:r>
              </a:p>
            </p:txBody>
          </p:sp>
          <p:sp>
            <p:nvSpPr>
              <p:cNvPr id="66" name="Rectangle 65">
                <a:extLst>
                  <a:ext uri="{FF2B5EF4-FFF2-40B4-BE49-F238E27FC236}">
                    <a16:creationId xmlns:a16="http://schemas.microsoft.com/office/drawing/2014/main" id="{2645BEA5-AA3E-4CC0-BE7C-D9923BC6EB0F}"/>
                  </a:ext>
                </a:extLst>
              </p:cNvPr>
              <p:cNvSpPr/>
              <p:nvPr/>
            </p:nvSpPr>
            <p:spPr>
              <a:xfrm>
                <a:off x="3688685" y="34674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7" name="Rectangle 66">
                <a:extLst>
                  <a:ext uri="{FF2B5EF4-FFF2-40B4-BE49-F238E27FC236}">
                    <a16:creationId xmlns:a16="http://schemas.microsoft.com/office/drawing/2014/main" id="{7E387BA6-1405-43A0-97C7-8F603659CDAE}"/>
                  </a:ext>
                </a:extLst>
              </p:cNvPr>
              <p:cNvSpPr/>
              <p:nvPr/>
            </p:nvSpPr>
            <p:spPr>
              <a:xfrm>
                <a:off x="3688685" y="37746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8" name="Rectangle 67">
                <a:extLst>
                  <a:ext uri="{FF2B5EF4-FFF2-40B4-BE49-F238E27FC236}">
                    <a16:creationId xmlns:a16="http://schemas.microsoft.com/office/drawing/2014/main" id="{2D4DA51C-4284-4B15-A075-1CE7CC9B38FB}"/>
                  </a:ext>
                </a:extLst>
              </p:cNvPr>
              <p:cNvSpPr/>
              <p:nvPr/>
            </p:nvSpPr>
            <p:spPr>
              <a:xfrm>
                <a:off x="3688685" y="40818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9" name="Rectangle 68">
                <a:extLst>
                  <a:ext uri="{FF2B5EF4-FFF2-40B4-BE49-F238E27FC236}">
                    <a16:creationId xmlns:a16="http://schemas.microsoft.com/office/drawing/2014/main" id="{6DFDFE35-8A47-4541-A65A-8F9EEC4BB6A9}"/>
                  </a:ext>
                </a:extLst>
              </p:cNvPr>
              <p:cNvSpPr/>
              <p:nvPr/>
            </p:nvSpPr>
            <p:spPr>
              <a:xfrm>
                <a:off x="3688685" y="31601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&gt;=</a:t>
                </a:r>
              </a:p>
            </p:txBody>
          </p:sp>
          <p:sp>
            <p:nvSpPr>
              <p:cNvPr id="70" name="Rectangle 69">
                <a:extLst>
                  <a:ext uri="{FF2B5EF4-FFF2-40B4-BE49-F238E27FC236}">
                    <a16:creationId xmlns:a16="http://schemas.microsoft.com/office/drawing/2014/main" id="{E1690C78-5C7D-4B80-B093-052F485E74E5}"/>
                  </a:ext>
                </a:extLst>
              </p:cNvPr>
              <p:cNvSpPr/>
              <p:nvPr/>
            </p:nvSpPr>
            <p:spPr>
              <a:xfrm>
                <a:off x="3688685" y="43891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1" name="Rectangle 70">
                <a:extLst>
                  <a:ext uri="{FF2B5EF4-FFF2-40B4-BE49-F238E27FC236}">
                    <a16:creationId xmlns:a16="http://schemas.microsoft.com/office/drawing/2014/main" id="{573F8AFC-CA61-4C56-A613-9A44DDC0497F}"/>
                  </a:ext>
                </a:extLst>
              </p:cNvPr>
              <p:cNvSpPr/>
              <p:nvPr/>
            </p:nvSpPr>
            <p:spPr>
              <a:xfrm>
                <a:off x="3686880" y="46963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2" name="Rectangle 71">
                <a:extLst>
                  <a:ext uri="{FF2B5EF4-FFF2-40B4-BE49-F238E27FC236}">
                    <a16:creationId xmlns:a16="http://schemas.microsoft.com/office/drawing/2014/main" id="{9ABF8D3A-BD98-4BB7-8C02-3A6C7C1697AD}"/>
                  </a:ext>
                </a:extLst>
              </p:cNvPr>
              <p:cNvSpPr/>
              <p:nvPr/>
            </p:nvSpPr>
            <p:spPr>
              <a:xfrm>
                <a:off x="3686880" y="50036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7" name="Rectangle 76">
                <a:extLst>
                  <a:ext uri="{FF2B5EF4-FFF2-40B4-BE49-F238E27FC236}">
                    <a16:creationId xmlns:a16="http://schemas.microsoft.com/office/drawing/2014/main" id="{A4CF89A5-3146-4478-9CA5-DFA169DCA7F8}"/>
                  </a:ext>
                </a:extLst>
              </p:cNvPr>
              <p:cNvSpPr/>
              <p:nvPr/>
            </p:nvSpPr>
            <p:spPr>
              <a:xfrm>
                <a:off x="3688685" y="25456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RDx</a:t>
                </a:r>
                <a:endParaRPr lang="en-US" sz="1200" kern="0" dirty="0">
                  <a:solidFill>
                    <a:sysClr val="windowText" lastClr="000000"/>
                  </a:solidFill>
                  <a:latin typeface="Arial"/>
                </a:endParaRPr>
              </a:p>
            </p:txBody>
          </p:sp>
          <p:sp>
            <p:nvSpPr>
              <p:cNvPr id="79" name="Rectangle 78">
                <a:extLst>
                  <a:ext uri="{FF2B5EF4-FFF2-40B4-BE49-F238E27FC236}">
                    <a16:creationId xmlns:a16="http://schemas.microsoft.com/office/drawing/2014/main" id="{6E00CE76-C8A5-4F72-9865-E46FA1073BD6}"/>
                  </a:ext>
                </a:extLst>
              </p:cNvPr>
              <p:cNvSpPr/>
              <p:nvPr/>
            </p:nvSpPr>
            <p:spPr>
              <a:xfrm>
                <a:off x="3688685" y="53108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WRy</a:t>
                </a:r>
                <a:endParaRPr lang="en-US" sz="1200" kern="0" dirty="0">
                  <a:solidFill>
                    <a:sysClr val="windowText" lastClr="000000"/>
                  </a:solidFill>
                  <a:latin typeface="Arial"/>
                </a:endParaRPr>
              </a:p>
            </p:txBody>
          </p:sp>
          <p:sp>
            <p:nvSpPr>
              <p:cNvPr id="84" name="Rectangle 83">
                <a:extLst>
                  <a:ext uri="{FF2B5EF4-FFF2-40B4-BE49-F238E27FC236}">
                    <a16:creationId xmlns:a16="http://schemas.microsoft.com/office/drawing/2014/main" id="{5A2610AE-DAF3-43EC-B43A-A0764579666D}"/>
                  </a:ext>
                </a:extLst>
              </p:cNvPr>
              <p:cNvSpPr/>
              <p:nvPr/>
            </p:nvSpPr>
            <p:spPr>
              <a:xfrm>
                <a:off x="3688685" y="28529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RDc</a:t>
                </a:r>
                <a:endParaRPr lang="en-US" sz="1200" kern="0" dirty="0">
                  <a:solidFill>
                    <a:sysClr val="windowText" lastClr="000000"/>
                  </a:solidFill>
                  <a:latin typeface="Arial"/>
                </a:endParaRPr>
              </a:p>
            </p:txBody>
          </p:sp>
        </p:grpSp>
      </p:grpSp>
      <p:grpSp>
        <p:nvGrpSpPr>
          <p:cNvPr id="90" name="Group 106">
            <a:extLst>
              <a:ext uri="{FF2B5EF4-FFF2-40B4-BE49-F238E27FC236}">
                <a16:creationId xmlns:a16="http://schemas.microsoft.com/office/drawing/2014/main" id="{C0FC98F9-6B7F-44E8-B67C-D6A73ED4E8AA}"/>
              </a:ext>
            </a:extLst>
          </p:cNvPr>
          <p:cNvGrpSpPr/>
          <p:nvPr/>
        </p:nvGrpSpPr>
        <p:grpSpPr>
          <a:xfrm>
            <a:off x="6249582" y="1623970"/>
            <a:ext cx="5206056" cy="4647005"/>
            <a:chOff x="4687215" y="1623965"/>
            <a:chExt cx="3905559" cy="4647005"/>
          </a:xfrm>
        </p:grpSpPr>
        <p:sp>
          <p:nvSpPr>
            <p:cNvPr id="91" name="Left Brace 90">
              <a:extLst>
                <a:ext uri="{FF2B5EF4-FFF2-40B4-BE49-F238E27FC236}">
                  <a16:creationId xmlns:a16="http://schemas.microsoft.com/office/drawing/2014/main" id="{EEC7E47B-59CA-4295-8D68-03E55C67F6A2}"/>
                </a:ext>
              </a:extLst>
            </p:cNvPr>
            <p:cNvSpPr/>
            <p:nvPr/>
          </p:nvSpPr>
          <p:spPr>
            <a:xfrm>
              <a:off x="4687215" y="2084825"/>
              <a:ext cx="268835" cy="357166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92" name="TextBox 91">
              <a:extLst>
                <a:ext uri="{FF2B5EF4-FFF2-40B4-BE49-F238E27FC236}">
                  <a16:creationId xmlns:a16="http://schemas.microsoft.com/office/drawing/2014/main" id="{5D16BEE1-F3A5-4233-8BA2-40113843F9DD}"/>
                </a:ext>
              </a:extLst>
            </p:cNvPr>
            <p:cNvSpPr txBox="1"/>
            <p:nvPr/>
          </p:nvSpPr>
          <p:spPr>
            <a:xfrm>
              <a:off x="6045818" y="1623965"/>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Types</a:t>
              </a:r>
            </a:p>
          </p:txBody>
        </p:sp>
        <p:sp>
          <p:nvSpPr>
            <p:cNvPr id="93" name="TextBox 92">
              <a:extLst>
                <a:ext uri="{FF2B5EF4-FFF2-40B4-BE49-F238E27FC236}">
                  <a16:creationId xmlns:a16="http://schemas.microsoft.com/office/drawing/2014/main" id="{62490D7A-A8CA-4518-A258-18AA0EC52EA6}"/>
                </a:ext>
              </a:extLst>
            </p:cNvPr>
            <p:cNvSpPr txBox="1"/>
            <p:nvPr/>
          </p:nvSpPr>
          <p:spPr>
            <a:xfrm>
              <a:off x="5263290" y="5809305"/>
              <a:ext cx="3110805"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The C types define the size of the hardware used: handled automatically </a:t>
              </a:r>
            </a:p>
          </p:txBody>
        </p:sp>
        <p:sp>
          <p:nvSpPr>
            <p:cNvPr id="95" name="TextBox 94">
              <a:extLst>
                <a:ext uri="{FF2B5EF4-FFF2-40B4-BE49-F238E27FC236}">
                  <a16:creationId xmlns:a16="http://schemas.microsoft.com/office/drawing/2014/main" id="{63110BDD-6764-496C-89A8-217D9A50D28F}"/>
                </a:ext>
              </a:extLst>
            </p:cNvPr>
            <p:cNvSpPr txBox="1"/>
            <p:nvPr/>
          </p:nvSpPr>
          <p:spPr>
            <a:xfrm>
              <a:off x="5174769" y="2460711"/>
              <a:ext cx="1000775"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long </a:t>
              </a:r>
              <a:r>
                <a:rPr lang="en-US" sz="1200" kern="0" dirty="0" err="1">
                  <a:solidFill>
                    <a:prstClr val="black"/>
                  </a:solidFill>
                  <a:ea typeface="ＭＳ Ｐゴシック" pitchFamily="34" charset="-128"/>
                  <a:cs typeface="Arial" charset="0"/>
                </a:rPr>
                <a:t>long</a:t>
              </a:r>
              <a:r>
                <a:rPr lang="en-US" sz="1200" kern="0" dirty="0">
                  <a:solidFill>
                    <a:prstClr val="black"/>
                  </a:solidFill>
                  <a:ea typeface="ＭＳ Ｐゴシック" pitchFamily="34" charset="-128"/>
                  <a:cs typeface="Arial" charset="0"/>
                </a:rPr>
                <a:t> (64-bit)</a:t>
              </a:r>
            </a:p>
          </p:txBody>
        </p:sp>
        <p:sp>
          <p:nvSpPr>
            <p:cNvPr id="99" name="TextBox 98">
              <a:extLst>
                <a:ext uri="{FF2B5EF4-FFF2-40B4-BE49-F238E27FC236}">
                  <a16:creationId xmlns:a16="http://schemas.microsoft.com/office/drawing/2014/main" id="{9E9BB591-F6DB-4EA2-B3FA-DE2DF8ABDC38}"/>
                </a:ext>
              </a:extLst>
            </p:cNvPr>
            <p:cNvSpPr txBox="1"/>
            <p:nvPr/>
          </p:nvSpPr>
          <p:spPr>
            <a:xfrm>
              <a:off x="5103902" y="2737710"/>
              <a:ext cx="656842"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err="1">
                  <a:solidFill>
                    <a:prstClr val="black"/>
                  </a:solidFill>
                  <a:ea typeface="ＭＳ Ｐゴシック" pitchFamily="34" charset="-128"/>
                  <a:cs typeface="Arial" charset="0"/>
                </a:rPr>
                <a:t>int</a:t>
              </a:r>
              <a:r>
                <a:rPr lang="en-US" sz="1200" kern="0" dirty="0">
                  <a:solidFill>
                    <a:prstClr val="black"/>
                  </a:solidFill>
                  <a:ea typeface="ＭＳ Ｐゴシック" pitchFamily="34" charset="-128"/>
                  <a:cs typeface="Arial" charset="0"/>
                </a:rPr>
                <a:t> (32-bit)</a:t>
              </a:r>
            </a:p>
          </p:txBody>
        </p:sp>
        <p:sp>
          <p:nvSpPr>
            <p:cNvPr id="102" name="TextBox 101">
              <a:extLst>
                <a:ext uri="{FF2B5EF4-FFF2-40B4-BE49-F238E27FC236}">
                  <a16:creationId xmlns:a16="http://schemas.microsoft.com/office/drawing/2014/main" id="{4D172562-9D3C-4196-B474-5669590DCD68}"/>
                </a:ext>
              </a:extLst>
            </p:cNvPr>
            <p:cNvSpPr txBox="1"/>
            <p:nvPr/>
          </p:nvSpPr>
          <p:spPr>
            <a:xfrm>
              <a:off x="6452254" y="2460711"/>
              <a:ext cx="791528"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short (16-bit)</a:t>
              </a:r>
            </a:p>
          </p:txBody>
        </p:sp>
        <p:sp>
          <p:nvSpPr>
            <p:cNvPr id="104" name="TextBox 103">
              <a:extLst>
                <a:ext uri="{FF2B5EF4-FFF2-40B4-BE49-F238E27FC236}">
                  <a16:creationId xmlns:a16="http://schemas.microsoft.com/office/drawing/2014/main" id="{3575DCD7-DED4-48DD-A7F1-5CCECDFEDDED}"/>
                </a:ext>
              </a:extLst>
            </p:cNvPr>
            <p:cNvSpPr txBox="1"/>
            <p:nvPr/>
          </p:nvSpPr>
          <p:spPr>
            <a:xfrm>
              <a:off x="6483589" y="2729546"/>
              <a:ext cx="69532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char (8-bit)</a:t>
              </a:r>
            </a:p>
          </p:txBody>
        </p:sp>
        <p:sp>
          <p:nvSpPr>
            <p:cNvPr id="107" name="TextBox 106">
              <a:extLst>
                <a:ext uri="{FF2B5EF4-FFF2-40B4-BE49-F238E27FC236}">
                  <a16:creationId xmlns:a16="http://schemas.microsoft.com/office/drawing/2014/main" id="{3C2A8A55-167C-4CB9-B306-E08447F160A6}"/>
                </a:ext>
              </a:extLst>
            </p:cNvPr>
            <p:cNvSpPr txBox="1"/>
            <p:nvPr/>
          </p:nvSpPr>
          <p:spPr>
            <a:xfrm>
              <a:off x="6485030" y="3036786"/>
              <a:ext cx="879316"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double (64-bit)</a:t>
              </a:r>
            </a:p>
          </p:txBody>
        </p:sp>
        <p:sp>
          <p:nvSpPr>
            <p:cNvPr id="108" name="TextBox 107">
              <a:extLst>
                <a:ext uri="{FF2B5EF4-FFF2-40B4-BE49-F238E27FC236}">
                  <a16:creationId xmlns:a16="http://schemas.microsoft.com/office/drawing/2014/main" id="{BCAF2B10-ABF9-40FE-AF11-1E119CCBD91E}"/>
                </a:ext>
              </a:extLst>
            </p:cNvPr>
            <p:cNvSpPr txBox="1"/>
            <p:nvPr/>
          </p:nvSpPr>
          <p:spPr>
            <a:xfrm>
              <a:off x="5119832" y="3044950"/>
              <a:ext cx="753047"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float (32-bit)</a:t>
              </a:r>
            </a:p>
          </p:txBody>
        </p:sp>
        <p:sp>
          <p:nvSpPr>
            <p:cNvPr id="109" name="TextBox 108">
              <a:extLst>
                <a:ext uri="{FF2B5EF4-FFF2-40B4-BE49-F238E27FC236}">
                  <a16:creationId xmlns:a16="http://schemas.microsoft.com/office/drawing/2014/main" id="{268074BE-BF90-4C60-87EA-1D8A1EF8F197}"/>
                </a:ext>
              </a:extLst>
            </p:cNvPr>
            <p:cNvSpPr txBox="1"/>
            <p:nvPr/>
          </p:nvSpPr>
          <p:spPr>
            <a:xfrm>
              <a:off x="7680990" y="2460711"/>
              <a:ext cx="91178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unsigned types</a:t>
              </a:r>
            </a:p>
          </p:txBody>
        </p:sp>
        <p:sp>
          <p:nvSpPr>
            <p:cNvPr id="110" name="TextBox 109">
              <a:extLst>
                <a:ext uri="{FF2B5EF4-FFF2-40B4-BE49-F238E27FC236}">
                  <a16:creationId xmlns:a16="http://schemas.microsoft.com/office/drawing/2014/main" id="{57F1CE7A-CD26-4EA6-A8CF-96E5AB053DF7}"/>
                </a:ext>
              </a:extLst>
            </p:cNvPr>
            <p:cNvSpPr txBox="1"/>
            <p:nvPr/>
          </p:nvSpPr>
          <p:spPr>
            <a:xfrm>
              <a:off x="4917645" y="2084825"/>
              <a:ext cx="1087360" cy="276999"/>
            </a:xfrm>
            <a:prstGeom prst="rect">
              <a:avLst/>
            </a:prstGeom>
            <a:noFill/>
          </p:spPr>
          <p:txBody>
            <a:bodyPr wrap="none" rtlCol="0">
              <a:spAutoFit/>
            </a:bodyPr>
            <a:lstStyle/>
            <a:p>
              <a:pPr defTabSz="457200" fontAlgn="base">
                <a:spcBef>
                  <a:spcPct val="0"/>
                </a:spcBef>
                <a:spcAft>
                  <a:spcPct val="0"/>
                </a:spcAft>
                <a:defRPr/>
              </a:pPr>
              <a:r>
                <a:rPr lang="en-US" sz="1200" b="1" u="sng" kern="0" dirty="0">
                  <a:solidFill>
                    <a:prstClr val="black"/>
                  </a:solidFill>
                  <a:ea typeface="ＭＳ Ｐゴシック" pitchFamily="34" charset="-128"/>
                  <a:cs typeface="Arial" charset="0"/>
                </a:rPr>
                <a:t>Standard C types</a:t>
              </a:r>
            </a:p>
          </p:txBody>
        </p:sp>
      </p:grpSp>
      <p:grpSp>
        <p:nvGrpSpPr>
          <p:cNvPr id="111" name="Group 108">
            <a:extLst>
              <a:ext uri="{FF2B5EF4-FFF2-40B4-BE49-F238E27FC236}">
                <a16:creationId xmlns:a16="http://schemas.microsoft.com/office/drawing/2014/main" id="{4DA513E9-F9C4-4FA9-B51A-69A2AF6D5098}"/>
              </a:ext>
            </a:extLst>
          </p:cNvPr>
          <p:cNvGrpSpPr/>
          <p:nvPr/>
        </p:nvGrpSpPr>
        <p:grpSpPr>
          <a:xfrm>
            <a:off x="6556743" y="3843469"/>
            <a:ext cx="5426493" cy="1890009"/>
            <a:chOff x="4917645" y="3843291"/>
            <a:chExt cx="4070930" cy="1890009"/>
          </a:xfrm>
        </p:grpSpPr>
        <p:sp>
          <p:nvSpPr>
            <p:cNvPr id="112" name="TextBox 111">
              <a:extLst>
                <a:ext uri="{FF2B5EF4-FFF2-40B4-BE49-F238E27FC236}">
                  <a16:creationId xmlns:a16="http://schemas.microsoft.com/office/drawing/2014/main" id="{DD1A3416-416E-4B3D-BED9-50F11D9E66D5}"/>
                </a:ext>
              </a:extLst>
            </p:cNvPr>
            <p:cNvSpPr txBox="1"/>
            <p:nvPr/>
          </p:nvSpPr>
          <p:spPr>
            <a:xfrm>
              <a:off x="4917645" y="3843291"/>
              <a:ext cx="1952779" cy="276999"/>
            </a:xfrm>
            <a:prstGeom prst="rect">
              <a:avLst/>
            </a:prstGeom>
            <a:noFill/>
          </p:spPr>
          <p:txBody>
            <a:bodyPr wrap="square" rtlCol="0">
              <a:spAutoFit/>
            </a:bodyPr>
            <a:lstStyle/>
            <a:p>
              <a:pPr defTabSz="457200" fontAlgn="base">
                <a:spcBef>
                  <a:spcPct val="0"/>
                </a:spcBef>
                <a:spcAft>
                  <a:spcPct val="0"/>
                </a:spcAft>
              </a:pPr>
              <a:r>
                <a:rPr lang="en-US" sz="1200" b="1" u="sng" dirty="0" err="1">
                  <a:solidFill>
                    <a:prstClr val="black"/>
                  </a:solidFill>
                  <a:ea typeface="ＭＳ Ｐゴシック" pitchFamily="34" charset="-128"/>
                  <a:cs typeface="Arial" charset="0"/>
                </a:rPr>
                <a:t>Arbitary</a:t>
              </a:r>
              <a:r>
                <a:rPr lang="en-US" sz="1200" b="1" u="sng" dirty="0">
                  <a:solidFill>
                    <a:prstClr val="black"/>
                  </a:solidFill>
                  <a:ea typeface="ＭＳ Ｐゴシック" pitchFamily="34" charset="-128"/>
                  <a:cs typeface="Arial" charset="0"/>
                </a:rPr>
                <a:t> Precision types</a:t>
              </a:r>
            </a:p>
          </p:txBody>
        </p:sp>
        <p:sp>
          <p:nvSpPr>
            <p:cNvPr id="113" name="TextBox 112">
              <a:extLst>
                <a:ext uri="{FF2B5EF4-FFF2-40B4-BE49-F238E27FC236}">
                  <a16:creationId xmlns:a16="http://schemas.microsoft.com/office/drawing/2014/main" id="{9507F91B-7597-4D23-AB17-99EF09FF54FF}"/>
                </a:ext>
              </a:extLst>
            </p:cNvPr>
            <p:cNvSpPr txBox="1"/>
            <p:nvPr/>
          </p:nvSpPr>
          <p:spPr>
            <a:xfrm>
              <a:off x="5032860" y="4120290"/>
              <a:ext cx="3201517" cy="276999"/>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 </a:t>
              </a: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a:t>
              </a:r>
              <a:r>
                <a:rPr lang="en-US" sz="1200" dirty="0">
                  <a:solidFill>
                    <a:prstClr val="black"/>
                  </a:solidFill>
                  <a:ea typeface="ＭＳ Ｐゴシック" pitchFamily="34" charset="-128"/>
                  <a:cs typeface="Arial" charset="0"/>
                </a:rPr>
                <a:t>(u)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p:txBody>
        </p:sp>
        <p:sp>
          <p:nvSpPr>
            <p:cNvPr id="114" name="TextBox 113">
              <a:extLst>
                <a:ext uri="{FF2B5EF4-FFF2-40B4-BE49-F238E27FC236}">
                  <a16:creationId xmlns:a16="http://schemas.microsoft.com/office/drawing/2014/main" id="{4DB2888F-BBEB-43D7-AC8D-4273A11FFD88}"/>
                </a:ext>
              </a:extLst>
            </p:cNvPr>
            <p:cNvSpPr txBox="1"/>
            <p:nvPr/>
          </p:nvSpPr>
          <p:spPr>
            <a:xfrm>
              <a:off x="5032860" y="4350720"/>
              <a:ext cx="3286477" cy="461665"/>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 </a:t>
              </a: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a:t>
              </a:r>
              <a:r>
                <a:rPr lang="en-US" sz="1200" dirty="0">
                  <a:solidFill>
                    <a:prstClr val="black"/>
                  </a:solidFill>
                  <a:ea typeface="ＭＳ Ｐゴシック" pitchFamily="34" charset="-128"/>
                  <a:cs typeface="Arial" charset="0"/>
                </a:rPr>
                <a:t>_(u)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a:p>
              <a:pPr defTabSz="457200" fontAlgn="base">
                <a:spcBef>
                  <a:spcPct val="0"/>
                </a:spcBef>
                <a:spcAft>
                  <a:spcPct val="0"/>
                </a:spcAft>
              </a:pP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ap_fixed</a:t>
              </a:r>
              <a:r>
                <a:rPr lang="en-US" sz="1200" dirty="0">
                  <a:solidFill>
                    <a:prstClr val="black"/>
                  </a:solidFill>
                  <a:ea typeface="ＭＳ Ｐゴシック" pitchFamily="34" charset="-128"/>
                  <a:cs typeface="Arial" charset="0"/>
                </a:rPr>
                <a:t> types </a:t>
              </a:r>
            </a:p>
          </p:txBody>
        </p:sp>
        <p:sp>
          <p:nvSpPr>
            <p:cNvPr id="116" name="TextBox 115">
              <a:extLst>
                <a:ext uri="{FF2B5EF4-FFF2-40B4-BE49-F238E27FC236}">
                  <a16:creationId xmlns:a16="http://schemas.microsoft.com/office/drawing/2014/main" id="{D0CC190D-FD9B-4DCD-9049-FFE122DE2C08}"/>
                </a:ext>
              </a:extLst>
            </p:cNvPr>
            <p:cNvSpPr txBox="1"/>
            <p:nvPr/>
          </p:nvSpPr>
          <p:spPr>
            <a:xfrm>
              <a:off x="5032860" y="4811580"/>
              <a:ext cx="3276859" cy="461665"/>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C++/SystemC: </a:t>
              </a:r>
              <a:r>
                <a:rPr lang="en-US" sz="1200" dirty="0">
                  <a:solidFill>
                    <a:prstClr val="black"/>
                  </a:solidFill>
                  <a:ea typeface="ＭＳ Ｐゴシック" pitchFamily="34" charset="-128"/>
                  <a:cs typeface="Arial" charset="0"/>
                </a:rPr>
                <a:t>	sc_(u)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a:p>
              <a:pPr defTabSz="457200" fontAlgn="base">
                <a:spcBef>
                  <a:spcPct val="0"/>
                </a:spcBef>
                <a:spcAft>
                  <a:spcPct val="0"/>
                </a:spcAft>
              </a:pP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sc_fixed</a:t>
              </a:r>
              <a:r>
                <a:rPr lang="en-US" sz="1200" dirty="0">
                  <a:solidFill>
                    <a:prstClr val="black"/>
                  </a:solidFill>
                  <a:ea typeface="ＭＳ Ｐゴシック" pitchFamily="34" charset="-128"/>
                  <a:cs typeface="Arial" charset="0"/>
                </a:rPr>
                <a:t> types</a:t>
              </a:r>
            </a:p>
          </p:txBody>
        </p:sp>
        <p:sp>
          <p:nvSpPr>
            <p:cNvPr id="118" name="TextBox 117">
              <a:extLst>
                <a:ext uri="{FF2B5EF4-FFF2-40B4-BE49-F238E27FC236}">
                  <a16:creationId xmlns:a16="http://schemas.microsoft.com/office/drawing/2014/main" id="{CCF61C0F-7F6D-4241-B014-470344599EF0}"/>
                </a:ext>
              </a:extLst>
            </p:cNvPr>
            <p:cNvSpPr txBox="1"/>
            <p:nvPr/>
          </p:nvSpPr>
          <p:spPr>
            <a:xfrm>
              <a:off x="4994455" y="5271635"/>
              <a:ext cx="3994120" cy="461665"/>
            </a:xfrm>
            <a:prstGeom prst="rect">
              <a:avLst/>
            </a:prstGeom>
            <a:noFill/>
          </p:spPr>
          <p:txBody>
            <a:bodyPr wrap="square" rtlCol="0">
              <a:spAutoFit/>
            </a:bodyPr>
            <a:lstStyle/>
            <a:p>
              <a:pPr defTabSz="457200" fontAlgn="base">
                <a:spcBef>
                  <a:spcPct val="0"/>
                </a:spcBef>
                <a:spcAft>
                  <a:spcPct val="0"/>
                </a:spcAft>
              </a:pPr>
              <a:r>
                <a:rPr lang="en-US" sz="1200" dirty="0">
                  <a:solidFill>
                    <a:prstClr val="black"/>
                  </a:solidFill>
                  <a:ea typeface="ＭＳ Ｐゴシック" pitchFamily="34" charset="-128"/>
                  <a:cs typeface="Arial" charset="0"/>
                </a:rPr>
                <a:t>Can be used to define any variable to be a specific bit-width (e.g. 17-bit, 47-bit etc).</a:t>
              </a:r>
            </a:p>
          </p:txBody>
        </p:sp>
      </p:grpSp>
      <p:sp>
        <p:nvSpPr>
          <p:cNvPr id="3" name="Slide Number Placeholder 2">
            <a:extLst>
              <a:ext uri="{FF2B5EF4-FFF2-40B4-BE49-F238E27FC236}">
                <a16:creationId xmlns:a16="http://schemas.microsoft.com/office/drawing/2014/main" id="{3F727D4D-3C9B-4AD0-B52D-0D8FD7712BD3}"/>
              </a:ext>
            </a:extLst>
          </p:cNvPr>
          <p:cNvSpPr>
            <a:spLocks noGrp="1"/>
          </p:cNvSpPr>
          <p:nvPr>
            <p:ph type="sldNum" sz="quarter" idx="10"/>
          </p:nvPr>
        </p:nvSpPr>
        <p:spPr/>
        <p:txBody>
          <a:bodyPr/>
          <a:lstStyle/>
          <a:p>
            <a:pPr>
              <a:defRPr/>
            </a:pPr>
            <a:r>
              <a:rPr lang="en-US"/>
              <a:t>Intro to HLS 11- </a:t>
            </a:r>
            <a:fld id="{060BD193-E118-4B16-863C-C8C12C675E3E}" type="slidenum">
              <a:rPr lang="en-US" smtClean="0"/>
              <a:pPr>
                <a:defRPr/>
              </a:pPr>
              <a:t>22</a:t>
            </a:fld>
            <a:endParaRPr lang="en-US" dirty="0"/>
          </a:p>
        </p:txBody>
      </p:sp>
    </p:spTree>
    <p:extLst>
      <p:ext uri="{BB962C8B-B14F-4D97-AF65-F5344CB8AC3E}">
        <p14:creationId xmlns:p14="http://schemas.microsoft.com/office/powerpoint/2010/main" val="1061626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left)">
                                      <p:cBhvr>
                                        <p:cTn id="12" dur="5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11"/>
                                        </p:tgtEl>
                                        <p:attrNameLst>
                                          <p:attrName>style.visibility</p:attrName>
                                        </p:attrNameLst>
                                      </p:cBhvr>
                                      <p:to>
                                        <p:strVal val="visible"/>
                                      </p:to>
                                    </p:set>
                                    <p:animEffect transition="in" filter="wipe(up)">
                                      <p:cBhvr>
                                        <p:cTn id="17"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Loops </a:t>
            </a:r>
          </a:p>
        </p:txBody>
      </p:sp>
      <p:sp>
        <p:nvSpPr>
          <p:cNvPr id="3" name="Content Placeholder 2"/>
          <p:cNvSpPr>
            <a:spLocks noGrp="1"/>
          </p:cNvSpPr>
          <p:nvPr>
            <p:ph idx="1"/>
          </p:nvPr>
        </p:nvSpPr>
        <p:spPr/>
        <p:txBody>
          <a:bodyPr>
            <a:normAutofit fontScale="70000" lnSpcReduction="20000"/>
          </a:bodyPr>
          <a:lstStyle/>
          <a:p>
            <a:r>
              <a:rPr lang="en-US" dirty="0"/>
              <a:t>By default, loops are rolled</a:t>
            </a:r>
          </a:p>
          <a:p>
            <a:pPr lvl="1"/>
            <a:r>
              <a:rPr lang="en-US" dirty="0"/>
              <a:t>Each C loop iteration </a:t>
            </a:r>
            <a:r>
              <a:rPr lang="en-US" dirty="0">
                <a:sym typeface="Wingdings" pitchFamily="2" charset="2"/>
              </a:rPr>
              <a:t> Implemented in the same state </a:t>
            </a:r>
          </a:p>
          <a:p>
            <a:pPr lvl="1"/>
            <a:r>
              <a:rPr lang="en-US" dirty="0">
                <a:sym typeface="Wingdings" pitchFamily="2" charset="2"/>
              </a:rPr>
              <a:t>Each C loop iteration  Implemented with same resources</a:t>
            </a:r>
            <a:endParaRPr lang="en-US" dirty="0"/>
          </a:p>
          <a:p>
            <a:endParaRPr lang="en-US" dirty="0"/>
          </a:p>
          <a:p>
            <a:endParaRPr lang="en-US" dirty="0"/>
          </a:p>
          <a:p>
            <a:endParaRPr lang="en-US" dirty="0"/>
          </a:p>
          <a:p>
            <a:endParaRPr lang="en-US" dirty="0"/>
          </a:p>
          <a:p>
            <a:endParaRPr lang="en-US" dirty="0"/>
          </a:p>
          <a:p>
            <a:endParaRPr lang="en-US" dirty="0"/>
          </a:p>
          <a:p>
            <a:pPr>
              <a:buNone/>
            </a:pPr>
            <a:endParaRPr lang="en-US" dirty="0"/>
          </a:p>
          <a:p>
            <a:pPr lvl="1"/>
            <a:r>
              <a:rPr lang="en-US" dirty="0"/>
              <a:t>Loops can be unrolled if their indices are statically determinable at elaboration time</a:t>
            </a:r>
          </a:p>
          <a:p>
            <a:pPr lvl="2"/>
            <a:r>
              <a:rPr lang="en-US" dirty="0"/>
              <a:t>Not when the number of iterations is variable</a:t>
            </a:r>
          </a:p>
          <a:p>
            <a:pPr lvl="1"/>
            <a:r>
              <a:rPr lang="en-US" dirty="0"/>
              <a:t>Unrolled loops result in more elements to schedule but greater operator mobility</a:t>
            </a:r>
          </a:p>
          <a:p>
            <a:pPr lvl="2"/>
            <a:r>
              <a:rPr lang="en-US" dirty="0"/>
              <a:t>Let’s look at an example ….</a:t>
            </a:r>
          </a:p>
        </p:txBody>
      </p:sp>
      <p:sp>
        <p:nvSpPr>
          <p:cNvPr id="5" name="Slide Number Placeholder 4">
            <a:extLst>
              <a:ext uri="{FF2B5EF4-FFF2-40B4-BE49-F238E27FC236}">
                <a16:creationId xmlns:a16="http://schemas.microsoft.com/office/drawing/2014/main" id="{3A39265A-4B97-4A0F-AE64-BA6686DAF397}"/>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23</a:t>
            </a:fld>
            <a:endParaRPr lang="en-US" dirty="0"/>
          </a:p>
        </p:txBody>
      </p:sp>
      <p:sp>
        <p:nvSpPr>
          <p:cNvPr id="28" name="TextBox 27">
            <a:extLst>
              <a:ext uri="{FF2B5EF4-FFF2-40B4-BE49-F238E27FC236}">
                <a16:creationId xmlns:a16="http://schemas.microsoft.com/office/drawing/2014/main" id="{1BB458F2-D383-4BDB-A283-C6D27BC236F2}"/>
              </a:ext>
            </a:extLst>
          </p:cNvPr>
          <p:cNvSpPr txBox="1"/>
          <p:nvPr/>
        </p:nvSpPr>
        <p:spPr>
          <a:xfrm>
            <a:off x="515928" y="2599366"/>
            <a:ext cx="440262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Add: for (i=3;i&gt;=0;i--) {</a:t>
            </a:r>
          </a:p>
          <a:p>
            <a:pPr defTabSz="457200" fontAlgn="base">
              <a:spcBef>
                <a:spcPct val="0"/>
              </a:spcBef>
              <a:spcAft>
                <a:spcPct val="0"/>
              </a:spcAft>
              <a:defRPr/>
            </a:pPr>
            <a:r>
              <a:rPr lang="en-US" sz="1050" b="1" kern="0" dirty="0">
                <a:solidFill>
                  <a:prstClr val="black"/>
                </a:solidFill>
                <a:latin typeface="Consolas" pitchFamily="49" charset="0"/>
              </a:rPr>
              <a:t>	b = a[i] + b;</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	</a:t>
            </a:r>
          </a:p>
        </p:txBody>
      </p:sp>
      <p:sp>
        <p:nvSpPr>
          <p:cNvPr id="29" name="Rectangle 28">
            <a:extLst>
              <a:ext uri="{FF2B5EF4-FFF2-40B4-BE49-F238E27FC236}">
                <a16:creationId xmlns:a16="http://schemas.microsoft.com/office/drawing/2014/main" id="{F4B038D8-1CC6-4FCA-8F80-96768780F5CC}"/>
              </a:ext>
            </a:extLst>
          </p:cNvPr>
          <p:cNvSpPr/>
          <p:nvPr/>
        </p:nvSpPr>
        <p:spPr>
          <a:xfrm>
            <a:off x="7166148" y="2714417"/>
            <a:ext cx="3537252" cy="168982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4" name="TextBox 33">
            <a:extLst>
              <a:ext uri="{FF2B5EF4-FFF2-40B4-BE49-F238E27FC236}">
                <a16:creationId xmlns:a16="http://schemas.microsoft.com/office/drawing/2014/main" id="{2F581C01-C972-4B02-822D-BFE3F0D6C7FF}"/>
              </a:ext>
            </a:extLst>
          </p:cNvPr>
          <p:cNvSpPr txBox="1"/>
          <p:nvPr/>
        </p:nvSpPr>
        <p:spPr>
          <a:xfrm>
            <a:off x="7166147" y="2714588"/>
            <a:ext cx="750526" cy="276999"/>
          </a:xfrm>
          <a:prstGeom prst="rect">
            <a:avLst/>
          </a:prstGeom>
          <a:noFill/>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foo_top</a:t>
            </a:r>
          </a:p>
        </p:txBody>
      </p:sp>
      <p:sp>
        <p:nvSpPr>
          <p:cNvPr id="37" name="Trapezoid 36">
            <a:extLst>
              <a:ext uri="{FF2B5EF4-FFF2-40B4-BE49-F238E27FC236}">
                <a16:creationId xmlns:a16="http://schemas.microsoft.com/office/drawing/2014/main" id="{6621E054-1380-41FE-A6FC-3901C07AD615}"/>
              </a:ext>
            </a:extLst>
          </p:cNvPr>
          <p:cNvSpPr/>
          <p:nvPr/>
        </p:nvSpPr>
        <p:spPr>
          <a:xfrm rot="5400000">
            <a:off x="8392222" y="3379504"/>
            <a:ext cx="460860" cy="358353"/>
          </a:xfrm>
          <a:prstGeom prst="trapezoid">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b="1" kern="0" dirty="0">
                <a:solidFill>
                  <a:prstClr val="white"/>
                </a:solidFill>
                <a:latin typeface="Arial"/>
              </a:rPr>
              <a:t>+</a:t>
            </a:r>
          </a:p>
        </p:txBody>
      </p:sp>
      <p:cxnSp>
        <p:nvCxnSpPr>
          <p:cNvPr id="38" name="Straight Arrow Connector 37">
            <a:extLst>
              <a:ext uri="{FF2B5EF4-FFF2-40B4-BE49-F238E27FC236}">
                <a16:creationId xmlns:a16="http://schemas.microsoft.com/office/drawing/2014/main" id="{385F9E55-A201-4347-8EE5-07BF10359342}"/>
              </a:ext>
            </a:extLst>
          </p:cNvPr>
          <p:cNvCxnSpPr/>
          <p:nvPr/>
        </p:nvCxnSpPr>
        <p:spPr>
          <a:xfrm>
            <a:off x="8085237" y="3481712"/>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39" name="Straight Arrow Connector 38">
            <a:extLst>
              <a:ext uri="{FF2B5EF4-FFF2-40B4-BE49-F238E27FC236}">
                <a16:creationId xmlns:a16="http://schemas.microsoft.com/office/drawing/2014/main" id="{C3262E20-8950-4DD7-BC71-308C0FC540EA}"/>
              </a:ext>
            </a:extLst>
          </p:cNvPr>
          <p:cNvCxnSpPr/>
          <p:nvPr/>
        </p:nvCxnSpPr>
        <p:spPr>
          <a:xfrm>
            <a:off x="8033930" y="367373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40" name="Rectangle 39">
            <a:extLst>
              <a:ext uri="{FF2B5EF4-FFF2-40B4-BE49-F238E27FC236}">
                <a16:creationId xmlns:a16="http://schemas.microsoft.com/office/drawing/2014/main" id="{EDA9C439-38C2-40B3-8E98-F194136C91C2}"/>
              </a:ext>
            </a:extLst>
          </p:cNvPr>
          <p:cNvSpPr/>
          <p:nvPr/>
        </p:nvSpPr>
        <p:spPr>
          <a:xfrm>
            <a:off x="9213997" y="3405707"/>
            <a:ext cx="358353" cy="460860"/>
          </a:xfrm>
          <a:prstGeom prst="rect">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41" name="Isosceles Triangle 40">
            <a:extLst>
              <a:ext uri="{FF2B5EF4-FFF2-40B4-BE49-F238E27FC236}">
                <a16:creationId xmlns:a16="http://schemas.microsoft.com/office/drawing/2014/main" id="{30241435-EFDB-4B14-B3DB-8D666394C9C2}"/>
              </a:ext>
            </a:extLst>
          </p:cNvPr>
          <p:cNvSpPr/>
          <p:nvPr/>
        </p:nvSpPr>
        <p:spPr>
          <a:xfrm rot="5400000">
            <a:off x="9233178" y="3693771"/>
            <a:ext cx="115215" cy="153580"/>
          </a:xfrm>
          <a:prstGeom prst="triangl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42" name="Straight Arrow Connector 41">
            <a:extLst>
              <a:ext uri="{FF2B5EF4-FFF2-40B4-BE49-F238E27FC236}">
                <a16:creationId xmlns:a16="http://schemas.microsoft.com/office/drawing/2014/main" id="{AA01EEAE-2571-4E36-8779-24F288EC8383}"/>
              </a:ext>
            </a:extLst>
          </p:cNvPr>
          <p:cNvCxnSpPr/>
          <p:nvPr/>
        </p:nvCxnSpPr>
        <p:spPr>
          <a:xfrm>
            <a:off x="8804336" y="355932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3" name="Straight Arrow Connector 42">
            <a:extLst>
              <a:ext uri="{FF2B5EF4-FFF2-40B4-BE49-F238E27FC236}">
                <a16:creationId xmlns:a16="http://schemas.microsoft.com/office/drawing/2014/main" id="{C8C7AE42-84FA-4C3A-9397-B097CD798430}"/>
              </a:ext>
            </a:extLst>
          </p:cNvPr>
          <p:cNvCxnSpPr/>
          <p:nvPr/>
        </p:nvCxnSpPr>
        <p:spPr>
          <a:xfrm>
            <a:off x="9572237" y="355932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4" name="Straight Connector 43">
            <a:extLst>
              <a:ext uri="{FF2B5EF4-FFF2-40B4-BE49-F238E27FC236}">
                <a16:creationId xmlns:a16="http://schemas.microsoft.com/office/drawing/2014/main" id="{C5158C19-BB30-4671-87CF-46CD1137A88E}"/>
              </a:ext>
            </a:extLst>
          </p:cNvPr>
          <p:cNvCxnSpPr/>
          <p:nvPr/>
        </p:nvCxnSpPr>
        <p:spPr>
          <a:xfrm rot="16200000" flipV="1">
            <a:off x="9482715" y="3367460"/>
            <a:ext cx="384047"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5" name="Straight Connector 44">
            <a:extLst>
              <a:ext uri="{FF2B5EF4-FFF2-40B4-BE49-F238E27FC236}">
                <a16:creationId xmlns:a16="http://schemas.microsoft.com/office/drawing/2014/main" id="{8FE44EB5-59BB-4E9B-8E6E-E3A02178153D}"/>
              </a:ext>
            </a:extLst>
          </p:cNvPr>
          <p:cNvCxnSpPr/>
          <p:nvPr/>
        </p:nvCxnSpPr>
        <p:spPr>
          <a:xfrm rot="10800000">
            <a:off x="8085239" y="3174638"/>
            <a:ext cx="1589499" cy="805"/>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6" name="Straight Connector 45">
            <a:extLst>
              <a:ext uri="{FF2B5EF4-FFF2-40B4-BE49-F238E27FC236}">
                <a16:creationId xmlns:a16="http://schemas.microsoft.com/office/drawing/2014/main" id="{04080C91-F17D-477E-911F-688BEF671514}"/>
              </a:ext>
            </a:extLst>
          </p:cNvPr>
          <p:cNvCxnSpPr/>
          <p:nvPr/>
        </p:nvCxnSpPr>
        <p:spPr>
          <a:xfrm rot="16200000" flipV="1">
            <a:off x="7931505" y="3328249"/>
            <a:ext cx="307240"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sp>
        <p:nvSpPr>
          <p:cNvPr id="47" name="Right Arrow 26">
            <a:extLst>
              <a:ext uri="{FF2B5EF4-FFF2-40B4-BE49-F238E27FC236}">
                <a16:creationId xmlns:a16="http://schemas.microsoft.com/office/drawing/2014/main" id="{E7CA4991-657C-4441-901A-988C63CD1FCF}"/>
              </a:ext>
            </a:extLst>
          </p:cNvPr>
          <p:cNvSpPr/>
          <p:nvPr/>
        </p:nvSpPr>
        <p:spPr>
          <a:xfrm>
            <a:off x="5225716" y="3290491"/>
            <a:ext cx="1638187"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400" kern="0" dirty="0">
                <a:solidFill>
                  <a:prstClr val="white"/>
                </a:solidFill>
                <a:latin typeface="Arial"/>
              </a:rPr>
              <a:t>Synthesis</a:t>
            </a:r>
          </a:p>
        </p:txBody>
      </p:sp>
      <p:sp>
        <p:nvSpPr>
          <p:cNvPr id="48" name="Oval 47">
            <a:extLst>
              <a:ext uri="{FF2B5EF4-FFF2-40B4-BE49-F238E27FC236}">
                <a16:creationId xmlns:a16="http://schemas.microsoft.com/office/drawing/2014/main" id="{419CDCA7-5AB6-463B-AE32-10FC1A75AB58}"/>
              </a:ext>
            </a:extLst>
          </p:cNvPr>
          <p:cNvSpPr/>
          <p:nvPr/>
        </p:nvSpPr>
        <p:spPr>
          <a:xfrm>
            <a:off x="8615036" y="1719851"/>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N</a:t>
            </a:r>
          </a:p>
        </p:txBody>
      </p:sp>
      <p:cxnSp>
        <p:nvCxnSpPr>
          <p:cNvPr id="49" name="Curved Connector 20">
            <a:extLst>
              <a:ext uri="{FF2B5EF4-FFF2-40B4-BE49-F238E27FC236}">
                <a16:creationId xmlns:a16="http://schemas.microsoft.com/office/drawing/2014/main" id="{E574FCDF-CC05-4F56-9D8F-B4C0198C76D7}"/>
              </a:ext>
            </a:extLst>
          </p:cNvPr>
          <p:cNvCxnSpPr>
            <a:stCxn id="48" idx="5"/>
            <a:endCxn id="48" idx="7"/>
          </p:cNvCxnSpPr>
          <p:nvPr/>
        </p:nvCxnSpPr>
        <p:spPr>
          <a:xfrm rot="5400000" flipH="1">
            <a:off x="8854068" y="1872073"/>
            <a:ext cx="215526" cy="2117"/>
          </a:xfrm>
          <a:prstGeom prst="curvedConnector5">
            <a:avLst>
              <a:gd name="adj1" fmla="val -44874"/>
              <a:gd name="adj2" fmla="val -15460269"/>
              <a:gd name="adj3" fmla="val 120397"/>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0" name="Straight Arrow Connector 49">
            <a:extLst>
              <a:ext uri="{FF2B5EF4-FFF2-40B4-BE49-F238E27FC236}">
                <a16:creationId xmlns:a16="http://schemas.microsoft.com/office/drawing/2014/main" id="{C6BA6F92-CD74-4F05-8D52-352A696C41DD}"/>
              </a:ext>
            </a:extLst>
          </p:cNvPr>
          <p:cNvCxnSpPr>
            <a:endCxn id="48" idx="0"/>
          </p:cNvCxnSpPr>
          <p:nvPr/>
        </p:nvCxnSpPr>
        <p:spPr>
          <a:xfrm rot="16200000" flipH="1">
            <a:off x="8659442" y="1561109"/>
            <a:ext cx="267918" cy="4956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1" name="Straight Arrow Connector 50">
            <a:extLst>
              <a:ext uri="{FF2B5EF4-FFF2-40B4-BE49-F238E27FC236}">
                <a16:creationId xmlns:a16="http://schemas.microsoft.com/office/drawing/2014/main" id="{25C55230-31A8-4A42-86A9-173ED7BC068F}"/>
              </a:ext>
            </a:extLst>
          </p:cNvPr>
          <p:cNvCxnSpPr/>
          <p:nvPr/>
        </p:nvCxnSpPr>
        <p:spPr>
          <a:xfrm rot="16200000" flipH="1">
            <a:off x="8708461" y="2172673"/>
            <a:ext cx="310597" cy="52822"/>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52" name="TextBox 51">
            <a:extLst>
              <a:ext uri="{FF2B5EF4-FFF2-40B4-BE49-F238E27FC236}">
                <a16:creationId xmlns:a16="http://schemas.microsoft.com/office/drawing/2014/main" id="{42D57A7C-10B8-4F60-A6A9-C47CE19AF9DE}"/>
              </a:ext>
            </a:extLst>
          </p:cNvPr>
          <p:cNvSpPr txBox="1"/>
          <p:nvPr/>
        </p:nvSpPr>
        <p:spPr>
          <a:xfrm>
            <a:off x="7587801" y="3520935"/>
            <a:ext cx="482824"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a[N]</a:t>
            </a:r>
          </a:p>
        </p:txBody>
      </p:sp>
      <p:sp>
        <p:nvSpPr>
          <p:cNvPr id="53" name="TextBox 52">
            <a:extLst>
              <a:ext uri="{FF2B5EF4-FFF2-40B4-BE49-F238E27FC236}">
                <a16:creationId xmlns:a16="http://schemas.microsoft.com/office/drawing/2014/main" id="{0FCAFC44-B4E5-4173-B660-58F5419AEE6E}"/>
              </a:ext>
            </a:extLst>
          </p:cNvPr>
          <p:cNvSpPr txBox="1"/>
          <p:nvPr/>
        </p:nvSpPr>
        <p:spPr>
          <a:xfrm>
            <a:off x="10011483" y="3405864"/>
            <a:ext cx="279243"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b</a:t>
            </a:r>
          </a:p>
        </p:txBody>
      </p:sp>
      <p:sp>
        <p:nvSpPr>
          <p:cNvPr id="54" name="TextBox 53">
            <a:extLst>
              <a:ext uri="{FF2B5EF4-FFF2-40B4-BE49-F238E27FC236}">
                <a16:creationId xmlns:a16="http://schemas.microsoft.com/office/drawing/2014/main" id="{D0E113F2-003C-4D26-80FE-4AE462700FEC}"/>
              </a:ext>
            </a:extLst>
          </p:cNvPr>
          <p:cNvSpPr txBox="1"/>
          <p:nvPr/>
        </p:nvSpPr>
        <p:spPr>
          <a:xfrm>
            <a:off x="669622" y="3828179"/>
            <a:ext cx="4249047" cy="646331"/>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Loops require labels if they are to be referenced  by Tcl directives </a:t>
            </a:r>
          </a:p>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(GUI will auto-add labels)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Dependencies: Good </a:t>
            </a:r>
          </a:p>
        </p:txBody>
      </p:sp>
      <p:sp>
        <p:nvSpPr>
          <p:cNvPr id="3" name="Content Placeholder 2"/>
          <p:cNvSpPr>
            <a:spLocks noGrp="1"/>
          </p:cNvSpPr>
          <p:nvPr>
            <p:ph idx="1"/>
          </p:nvPr>
        </p:nvSpPr>
        <p:spPr/>
        <p:txBody>
          <a:bodyPr>
            <a:normAutofit fontScale="70000" lnSpcReduction="20000"/>
          </a:bodyPr>
          <a:lstStyle/>
          <a:p>
            <a:endParaRPr lang="en-US" dirty="0"/>
          </a:p>
          <a:p>
            <a:endParaRPr lang="en-US" dirty="0"/>
          </a:p>
          <a:p>
            <a:endParaRPr lang="en-US" dirty="0"/>
          </a:p>
          <a:p>
            <a:endParaRPr lang="en-US" dirty="0"/>
          </a:p>
          <a:p>
            <a:pPr marL="0" indent="0">
              <a:buNone/>
            </a:pPr>
            <a:br>
              <a:rPr lang="en-US" dirty="0"/>
            </a:br>
            <a:endParaRPr lang="en-US" dirty="0"/>
          </a:p>
          <a:p>
            <a:endParaRPr lang="en-US" dirty="0"/>
          </a:p>
          <a:p>
            <a:r>
              <a:rPr lang="en-US" dirty="0"/>
              <a:t>Example of good mobility</a:t>
            </a:r>
          </a:p>
          <a:p>
            <a:pPr lvl="1"/>
            <a:r>
              <a:rPr lang="en-US" dirty="0"/>
              <a:t>The read on data port X can occur anywhere from the start to iteration 4</a:t>
            </a:r>
          </a:p>
          <a:p>
            <a:pPr lvl="2"/>
            <a:r>
              <a:rPr lang="en-US" dirty="0"/>
              <a:t>The only constraint on </a:t>
            </a:r>
            <a:r>
              <a:rPr lang="en-US" dirty="0" err="1"/>
              <a:t>RDx</a:t>
            </a:r>
            <a:r>
              <a:rPr lang="en-US" dirty="0"/>
              <a:t> is that it occur before the final multiplication</a:t>
            </a:r>
          </a:p>
          <a:p>
            <a:pPr lvl="1"/>
            <a:r>
              <a:rPr lang="en-US" dirty="0"/>
              <a:t>Vitis HLS has a lot of freedom with this operation</a:t>
            </a:r>
          </a:p>
          <a:p>
            <a:pPr lvl="2"/>
            <a:r>
              <a:rPr lang="en-US" dirty="0"/>
              <a:t>It waits until the read is required, saving a register</a:t>
            </a:r>
          </a:p>
          <a:p>
            <a:pPr lvl="2"/>
            <a:r>
              <a:rPr lang="en-US" dirty="0"/>
              <a:t>There are no advantages to reading any earlier (unless you want it registered)</a:t>
            </a:r>
          </a:p>
          <a:p>
            <a:pPr lvl="2"/>
            <a:r>
              <a:rPr lang="en-US" dirty="0"/>
              <a:t>Input reads can be optionally registered</a:t>
            </a:r>
          </a:p>
          <a:p>
            <a:pPr lvl="1"/>
            <a:r>
              <a:rPr lang="en-US" dirty="0"/>
              <a:t>The final multiplication is very constrained… </a:t>
            </a:r>
          </a:p>
        </p:txBody>
      </p:sp>
      <p:sp>
        <p:nvSpPr>
          <p:cNvPr id="4" name="Slide Number Placeholder 3">
            <a:extLst>
              <a:ext uri="{FF2B5EF4-FFF2-40B4-BE49-F238E27FC236}">
                <a16:creationId xmlns:a16="http://schemas.microsoft.com/office/drawing/2014/main" id="{23D55BA9-A6A6-4536-A84A-AA6C07585BAC}"/>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24</a:t>
            </a:fld>
            <a:endParaRPr lang="en-US" dirty="0"/>
          </a:p>
        </p:txBody>
      </p:sp>
      <p:sp>
        <p:nvSpPr>
          <p:cNvPr id="114" name="TextBox 113">
            <a:extLst>
              <a:ext uri="{FF2B5EF4-FFF2-40B4-BE49-F238E27FC236}">
                <a16:creationId xmlns:a16="http://schemas.microsoft.com/office/drawing/2014/main" id="{CC23B24D-DFD8-4F6D-B0AA-2DCDE507CCF6}"/>
              </a:ext>
            </a:extLst>
          </p:cNvPr>
          <p:cNvSpPr txBox="1"/>
          <p:nvPr/>
        </p:nvSpPr>
        <p:spPr>
          <a:xfrm>
            <a:off x="259961" y="1432104"/>
            <a:ext cx="3532340" cy="224676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117" name="Rectangle 116">
            <a:extLst>
              <a:ext uri="{FF2B5EF4-FFF2-40B4-BE49-F238E27FC236}">
                <a16:creationId xmlns:a16="http://schemas.microsoft.com/office/drawing/2014/main" id="{CD4BA4DF-3D95-467C-86F0-8D8EDC202571}"/>
              </a:ext>
            </a:extLst>
          </p:cNvPr>
          <p:cNvSpPr/>
          <p:nvPr/>
        </p:nvSpPr>
        <p:spPr>
          <a:xfrm>
            <a:off x="5532984" y="206571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3937D3A7-0EFC-4EFC-97F4-5D3E6E9D90DB}"/>
              </a:ext>
            </a:extLst>
          </p:cNvPr>
          <p:cNvSpPr/>
          <p:nvPr/>
        </p:nvSpPr>
        <p:spPr>
          <a:xfrm>
            <a:off x="440673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0" name="Rectangle 119">
            <a:extLst>
              <a:ext uri="{FF2B5EF4-FFF2-40B4-BE49-F238E27FC236}">
                <a16:creationId xmlns:a16="http://schemas.microsoft.com/office/drawing/2014/main" id="{89FFAC4F-793B-4B28-BF38-EB29CE4361CD}"/>
              </a:ext>
            </a:extLst>
          </p:cNvPr>
          <p:cNvSpPr/>
          <p:nvPr/>
        </p:nvSpPr>
        <p:spPr>
          <a:xfrm>
            <a:off x="4406730" y="206571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3BACA0AD-E36E-42BB-B883-FF0E140D99EE}"/>
              </a:ext>
            </a:extLst>
          </p:cNvPr>
          <p:cNvSpPr/>
          <p:nvPr/>
        </p:nvSpPr>
        <p:spPr>
          <a:xfrm>
            <a:off x="5530558"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22" name="Rectangle 121">
            <a:extLst>
              <a:ext uri="{FF2B5EF4-FFF2-40B4-BE49-F238E27FC236}">
                <a16:creationId xmlns:a16="http://schemas.microsoft.com/office/drawing/2014/main" id="{E1CBDCA4-0F6F-45A2-9ABF-3F574551E61F}"/>
              </a:ext>
            </a:extLst>
          </p:cNvPr>
          <p:cNvSpPr/>
          <p:nvPr/>
        </p:nvSpPr>
        <p:spPr>
          <a:xfrm>
            <a:off x="10037997" y="2065710"/>
            <a:ext cx="514339" cy="192025"/>
          </a:xfrm>
          <a:prstGeom prst="rect">
            <a:avLst/>
          </a:prstGeom>
          <a:solidFill>
            <a:srgbClr val="FFFF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3" name="Rectangle 122">
            <a:extLst>
              <a:ext uri="{FF2B5EF4-FFF2-40B4-BE49-F238E27FC236}">
                <a16:creationId xmlns:a16="http://schemas.microsoft.com/office/drawing/2014/main" id="{B9B44ADB-D0E1-424D-99B0-2EC4CCA951FE}"/>
              </a:ext>
            </a:extLst>
          </p:cNvPr>
          <p:cNvSpPr/>
          <p:nvPr/>
        </p:nvSpPr>
        <p:spPr>
          <a:xfrm>
            <a:off x="496985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24" name="Group 71">
            <a:extLst>
              <a:ext uri="{FF2B5EF4-FFF2-40B4-BE49-F238E27FC236}">
                <a16:creationId xmlns:a16="http://schemas.microsoft.com/office/drawing/2014/main" id="{EF4C76F1-F361-4553-B022-C788787E24B3}"/>
              </a:ext>
            </a:extLst>
          </p:cNvPr>
          <p:cNvGrpSpPr/>
          <p:nvPr/>
        </p:nvGrpSpPr>
        <p:grpSpPr>
          <a:xfrm>
            <a:off x="4406623" y="1643094"/>
            <a:ext cx="563125" cy="115214"/>
            <a:chOff x="-66694" y="1130300"/>
            <a:chExt cx="533401" cy="228600"/>
          </a:xfrm>
          <a:effectLst>
            <a:outerShdw blurRad="50800" dist="38100" dir="2700000" algn="tl" rotWithShape="0">
              <a:prstClr val="black">
                <a:alpha val="40000"/>
              </a:prstClr>
            </a:outerShdw>
          </a:effectLst>
        </p:grpSpPr>
        <p:cxnSp>
          <p:nvCxnSpPr>
            <p:cNvPr id="125" name="Straight Connector 124">
              <a:extLst>
                <a:ext uri="{FF2B5EF4-FFF2-40B4-BE49-F238E27FC236}">
                  <a16:creationId xmlns:a16="http://schemas.microsoft.com/office/drawing/2014/main" id="{5AAB4C0D-302A-43E1-AA7F-659538EBB2BE}"/>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DE1E8CC9-0996-4A4C-B5CC-B45AFD0F480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A39FFCB4-4864-4878-8986-F27C1D1FFD1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8" name="Straight Connector 127">
              <a:extLst>
                <a:ext uri="{FF2B5EF4-FFF2-40B4-BE49-F238E27FC236}">
                  <a16:creationId xmlns:a16="http://schemas.microsoft.com/office/drawing/2014/main" id="{446B27EB-F99A-4EB3-B991-598EAA49998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29" name="Group 71">
            <a:extLst>
              <a:ext uri="{FF2B5EF4-FFF2-40B4-BE49-F238E27FC236}">
                <a16:creationId xmlns:a16="http://schemas.microsoft.com/office/drawing/2014/main" id="{B815BB11-C921-4E95-B8A1-6D8E30FC4842}"/>
              </a:ext>
            </a:extLst>
          </p:cNvPr>
          <p:cNvGrpSpPr/>
          <p:nvPr/>
        </p:nvGrpSpPr>
        <p:grpSpPr>
          <a:xfrm>
            <a:off x="4969747" y="1643095"/>
            <a:ext cx="563125" cy="115214"/>
            <a:chOff x="-66694" y="1130300"/>
            <a:chExt cx="533401" cy="228600"/>
          </a:xfrm>
          <a:effectLst>
            <a:outerShdw blurRad="50800" dist="38100" dir="2700000" algn="tl" rotWithShape="0">
              <a:prstClr val="black">
                <a:alpha val="40000"/>
              </a:prstClr>
            </a:outerShdw>
          </a:effectLst>
        </p:grpSpPr>
        <p:cxnSp>
          <p:nvCxnSpPr>
            <p:cNvPr id="130" name="Straight Connector 129">
              <a:extLst>
                <a:ext uri="{FF2B5EF4-FFF2-40B4-BE49-F238E27FC236}">
                  <a16:creationId xmlns:a16="http://schemas.microsoft.com/office/drawing/2014/main" id="{87D6087D-5BF1-4C2D-A128-F1E838851FF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1" name="Straight Connector 130">
              <a:extLst>
                <a:ext uri="{FF2B5EF4-FFF2-40B4-BE49-F238E27FC236}">
                  <a16:creationId xmlns:a16="http://schemas.microsoft.com/office/drawing/2014/main" id="{DDD89BED-D40D-4C90-96EB-5E4C421DDFC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2" name="Straight Connector 131">
              <a:extLst>
                <a:ext uri="{FF2B5EF4-FFF2-40B4-BE49-F238E27FC236}">
                  <a16:creationId xmlns:a16="http://schemas.microsoft.com/office/drawing/2014/main" id="{30CFD5D9-80B4-4E55-948B-0F2EE629CE2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3" name="Straight Connector 132">
              <a:extLst>
                <a:ext uri="{FF2B5EF4-FFF2-40B4-BE49-F238E27FC236}">
                  <a16:creationId xmlns:a16="http://schemas.microsoft.com/office/drawing/2014/main" id="{F302DDE6-820F-4855-BD1C-B14E346FC40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4" name="Group 71">
            <a:extLst>
              <a:ext uri="{FF2B5EF4-FFF2-40B4-BE49-F238E27FC236}">
                <a16:creationId xmlns:a16="http://schemas.microsoft.com/office/drawing/2014/main" id="{A28C0F18-3D43-4AB8-8E73-9D5844D2CD1F}"/>
              </a:ext>
            </a:extLst>
          </p:cNvPr>
          <p:cNvGrpSpPr/>
          <p:nvPr/>
        </p:nvGrpSpPr>
        <p:grpSpPr>
          <a:xfrm>
            <a:off x="5532871" y="1643096"/>
            <a:ext cx="563125" cy="115214"/>
            <a:chOff x="-66694" y="1130300"/>
            <a:chExt cx="533401" cy="228600"/>
          </a:xfrm>
          <a:effectLst>
            <a:outerShdw blurRad="50800" dist="38100" dir="2700000" algn="tl" rotWithShape="0">
              <a:prstClr val="black">
                <a:alpha val="40000"/>
              </a:prstClr>
            </a:outerShdw>
          </a:effectLst>
        </p:grpSpPr>
        <p:cxnSp>
          <p:nvCxnSpPr>
            <p:cNvPr id="135" name="Straight Connector 134">
              <a:extLst>
                <a:ext uri="{FF2B5EF4-FFF2-40B4-BE49-F238E27FC236}">
                  <a16:creationId xmlns:a16="http://schemas.microsoft.com/office/drawing/2014/main" id="{18C1070A-7ED5-4AE0-AAEF-ACAF89E6DFE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6" name="Straight Connector 135">
              <a:extLst>
                <a:ext uri="{FF2B5EF4-FFF2-40B4-BE49-F238E27FC236}">
                  <a16:creationId xmlns:a16="http://schemas.microsoft.com/office/drawing/2014/main" id="{EF580D1A-3F3D-49FF-B37D-FD1405F216B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7" name="Straight Connector 136">
              <a:extLst>
                <a:ext uri="{FF2B5EF4-FFF2-40B4-BE49-F238E27FC236}">
                  <a16:creationId xmlns:a16="http://schemas.microsoft.com/office/drawing/2014/main" id="{C7658055-D7AF-4727-B416-AB2B51B2D25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8" name="Straight Connector 137">
              <a:extLst>
                <a:ext uri="{FF2B5EF4-FFF2-40B4-BE49-F238E27FC236}">
                  <a16:creationId xmlns:a16="http://schemas.microsoft.com/office/drawing/2014/main" id="{C4D346CD-2866-45B9-A80A-14F652AF693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39" name="Rectangle 138">
            <a:extLst>
              <a:ext uri="{FF2B5EF4-FFF2-40B4-BE49-F238E27FC236}">
                <a16:creationId xmlns:a16="http://schemas.microsoft.com/office/drawing/2014/main" id="{F18B95C2-4CB4-43EC-ACF7-0966C164B97C}"/>
              </a:ext>
            </a:extLst>
          </p:cNvPr>
          <p:cNvSpPr/>
          <p:nvPr/>
        </p:nvSpPr>
        <p:spPr>
          <a:xfrm>
            <a:off x="7222370" y="206570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0" name="Rectangle 139">
            <a:extLst>
              <a:ext uri="{FF2B5EF4-FFF2-40B4-BE49-F238E27FC236}">
                <a16:creationId xmlns:a16="http://schemas.microsoft.com/office/drawing/2014/main" id="{3CA19CEA-ABEF-4FEA-A7C8-AFBEB6F5419F}"/>
              </a:ext>
            </a:extLst>
          </p:cNvPr>
          <p:cNvSpPr/>
          <p:nvPr/>
        </p:nvSpPr>
        <p:spPr>
          <a:xfrm>
            <a:off x="609611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1" name="Rectangle 140">
            <a:extLst>
              <a:ext uri="{FF2B5EF4-FFF2-40B4-BE49-F238E27FC236}">
                <a16:creationId xmlns:a16="http://schemas.microsoft.com/office/drawing/2014/main" id="{BA517C35-2872-474A-8991-0B4E1FD0B31D}"/>
              </a:ext>
            </a:extLst>
          </p:cNvPr>
          <p:cNvSpPr/>
          <p:nvPr/>
        </p:nvSpPr>
        <p:spPr>
          <a:xfrm>
            <a:off x="6096117" y="206570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2" name="Rectangle 141">
            <a:extLst>
              <a:ext uri="{FF2B5EF4-FFF2-40B4-BE49-F238E27FC236}">
                <a16:creationId xmlns:a16="http://schemas.microsoft.com/office/drawing/2014/main" id="{465EA366-DD55-43A5-BE2F-4AC2BE10C1A0}"/>
              </a:ext>
            </a:extLst>
          </p:cNvPr>
          <p:cNvSpPr/>
          <p:nvPr/>
        </p:nvSpPr>
        <p:spPr>
          <a:xfrm>
            <a:off x="721994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43" name="Rectangle 142">
            <a:extLst>
              <a:ext uri="{FF2B5EF4-FFF2-40B4-BE49-F238E27FC236}">
                <a16:creationId xmlns:a16="http://schemas.microsoft.com/office/drawing/2014/main" id="{2190E9ED-16CF-4B5A-B759-D9424F5B1CEB}"/>
              </a:ext>
            </a:extLst>
          </p:cNvPr>
          <p:cNvSpPr/>
          <p:nvPr/>
        </p:nvSpPr>
        <p:spPr>
          <a:xfrm>
            <a:off x="665924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44" name="Group 71">
            <a:extLst>
              <a:ext uri="{FF2B5EF4-FFF2-40B4-BE49-F238E27FC236}">
                <a16:creationId xmlns:a16="http://schemas.microsoft.com/office/drawing/2014/main" id="{9ED2E601-673D-4DD8-B744-02AF21399046}"/>
              </a:ext>
            </a:extLst>
          </p:cNvPr>
          <p:cNvGrpSpPr/>
          <p:nvPr/>
        </p:nvGrpSpPr>
        <p:grpSpPr>
          <a:xfrm>
            <a:off x="6096008" y="1643093"/>
            <a:ext cx="563125" cy="115214"/>
            <a:chOff x="-66694" y="1130300"/>
            <a:chExt cx="533401" cy="228600"/>
          </a:xfrm>
          <a:effectLst>
            <a:outerShdw blurRad="50800" dist="38100" dir="2700000" algn="tl" rotWithShape="0">
              <a:prstClr val="black">
                <a:alpha val="40000"/>
              </a:prstClr>
            </a:outerShdw>
          </a:effectLst>
        </p:grpSpPr>
        <p:cxnSp>
          <p:nvCxnSpPr>
            <p:cNvPr id="145" name="Straight Connector 144">
              <a:extLst>
                <a:ext uri="{FF2B5EF4-FFF2-40B4-BE49-F238E27FC236}">
                  <a16:creationId xmlns:a16="http://schemas.microsoft.com/office/drawing/2014/main" id="{3E8BB9EA-F7A9-4B64-8936-5457C4E01CD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6" name="Straight Connector 145">
              <a:extLst>
                <a:ext uri="{FF2B5EF4-FFF2-40B4-BE49-F238E27FC236}">
                  <a16:creationId xmlns:a16="http://schemas.microsoft.com/office/drawing/2014/main" id="{BD89F04F-D768-4910-9283-4660915B448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7" name="Straight Connector 146">
              <a:extLst>
                <a:ext uri="{FF2B5EF4-FFF2-40B4-BE49-F238E27FC236}">
                  <a16:creationId xmlns:a16="http://schemas.microsoft.com/office/drawing/2014/main" id="{31686BDA-EF71-4239-AE4F-457F461AB5E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8" name="Straight Connector 147">
              <a:extLst>
                <a:ext uri="{FF2B5EF4-FFF2-40B4-BE49-F238E27FC236}">
                  <a16:creationId xmlns:a16="http://schemas.microsoft.com/office/drawing/2014/main" id="{D90F0D6B-5CB0-453A-820A-845257E2A85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49" name="Group 71">
            <a:extLst>
              <a:ext uri="{FF2B5EF4-FFF2-40B4-BE49-F238E27FC236}">
                <a16:creationId xmlns:a16="http://schemas.microsoft.com/office/drawing/2014/main" id="{1A5348D2-901F-4F13-95FD-2E29884DE562}"/>
              </a:ext>
            </a:extLst>
          </p:cNvPr>
          <p:cNvGrpSpPr/>
          <p:nvPr/>
        </p:nvGrpSpPr>
        <p:grpSpPr>
          <a:xfrm>
            <a:off x="6659132" y="1643094"/>
            <a:ext cx="563125" cy="115214"/>
            <a:chOff x="-66694" y="1130300"/>
            <a:chExt cx="533401" cy="228600"/>
          </a:xfrm>
          <a:effectLst>
            <a:outerShdw blurRad="50800" dist="38100" dir="2700000" algn="tl" rotWithShape="0">
              <a:prstClr val="black">
                <a:alpha val="40000"/>
              </a:prstClr>
            </a:outerShdw>
          </a:effectLst>
        </p:grpSpPr>
        <p:cxnSp>
          <p:nvCxnSpPr>
            <p:cNvPr id="150" name="Straight Connector 149">
              <a:extLst>
                <a:ext uri="{FF2B5EF4-FFF2-40B4-BE49-F238E27FC236}">
                  <a16:creationId xmlns:a16="http://schemas.microsoft.com/office/drawing/2014/main" id="{33B3C1B2-D4B3-4863-A3A3-07A286E58606}"/>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1" name="Straight Connector 150">
              <a:extLst>
                <a:ext uri="{FF2B5EF4-FFF2-40B4-BE49-F238E27FC236}">
                  <a16:creationId xmlns:a16="http://schemas.microsoft.com/office/drawing/2014/main" id="{CF7DDF8B-677C-4DC0-AA2E-F4810E34AEE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2" name="Straight Connector 151">
              <a:extLst>
                <a:ext uri="{FF2B5EF4-FFF2-40B4-BE49-F238E27FC236}">
                  <a16:creationId xmlns:a16="http://schemas.microsoft.com/office/drawing/2014/main" id="{49FEE2F6-93F1-45F1-9AB6-259E0710ADD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3" name="Straight Connector 152">
              <a:extLst>
                <a:ext uri="{FF2B5EF4-FFF2-40B4-BE49-F238E27FC236}">
                  <a16:creationId xmlns:a16="http://schemas.microsoft.com/office/drawing/2014/main" id="{71311CF0-B7BA-4194-A5ED-527448734DF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4" name="Group 71">
            <a:extLst>
              <a:ext uri="{FF2B5EF4-FFF2-40B4-BE49-F238E27FC236}">
                <a16:creationId xmlns:a16="http://schemas.microsoft.com/office/drawing/2014/main" id="{2506C63B-C0E6-422A-9130-A6664A38A879}"/>
              </a:ext>
            </a:extLst>
          </p:cNvPr>
          <p:cNvGrpSpPr/>
          <p:nvPr/>
        </p:nvGrpSpPr>
        <p:grpSpPr>
          <a:xfrm>
            <a:off x="7222256" y="1643095"/>
            <a:ext cx="563125" cy="115214"/>
            <a:chOff x="-66694" y="1130300"/>
            <a:chExt cx="533401" cy="228600"/>
          </a:xfrm>
          <a:effectLst>
            <a:outerShdw blurRad="50800" dist="38100" dir="2700000" algn="tl" rotWithShape="0">
              <a:prstClr val="black">
                <a:alpha val="40000"/>
              </a:prstClr>
            </a:outerShdw>
          </a:effectLst>
        </p:grpSpPr>
        <p:cxnSp>
          <p:nvCxnSpPr>
            <p:cNvPr id="155" name="Straight Connector 154">
              <a:extLst>
                <a:ext uri="{FF2B5EF4-FFF2-40B4-BE49-F238E27FC236}">
                  <a16:creationId xmlns:a16="http://schemas.microsoft.com/office/drawing/2014/main" id="{10AC6AAC-4C13-413D-8C4A-BE563533FC4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6" name="Straight Connector 155">
              <a:extLst>
                <a:ext uri="{FF2B5EF4-FFF2-40B4-BE49-F238E27FC236}">
                  <a16:creationId xmlns:a16="http://schemas.microsoft.com/office/drawing/2014/main" id="{9860F8CA-0CF5-48BA-A7B6-3C7C606DD0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7" name="Straight Connector 156">
              <a:extLst>
                <a:ext uri="{FF2B5EF4-FFF2-40B4-BE49-F238E27FC236}">
                  <a16:creationId xmlns:a16="http://schemas.microsoft.com/office/drawing/2014/main" id="{12B4965D-6F31-4D6D-BD85-6CF10B661F4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8" name="Straight Connector 157">
              <a:extLst>
                <a:ext uri="{FF2B5EF4-FFF2-40B4-BE49-F238E27FC236}">
                  <a16:creationId xmlns:a16="http://schemas.microsoft.com/office/drawing/2014/main" id="{3BCDD17A-D148-4638-A4FF-6EFF51514B0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59" name="Rectangle 158">
            <a:extLst>
              <a:ext uri="{FF2B5EF4-FFF2-40B4-BE49-F238E27FC236}">
                <a16:creationId xmlns:a16="http://schemas.microsoft.com/office/drawing/2014/main" id="{DFD6C982-9530-43A6-AD91-AB476FE55133}"/>
              </a:ext>
            </a:extLst>
          </p:cNvPr>
          <p:cNvSpPr/>
          <p:nvPr/>
        </p:nvSpPr>
        <p:spPr>
          <a:xfrm>
            <a:off x="8911757" y="206570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0" name="Rectangle 159">
            <a:extLst>
              <a:ext uri="{FF2B5EF4-FFF2-40B4-BE49-F238E27FC236}">
                <a16:creationId xmlns:a16="http://schemas.microsoft.com/office/drawing/2014/main" id="{0ED402B8-FE9D-4E9C-91DE-52639C715C02}"/>
              </a:ext>
            </a:extLst>
          </p:cNvPr>
          <p:cNvSpPr/>
          <p:nvPr/>
        </p:nvSpPr>
        <p:spPr>
          <a:xfrm>
            <a:off x="778550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1" name="Rectangle 160">
            <a:extLst>
              <a:ext uri="{FF2B5EF4-FFF2-40B4-BE49-F238E27FC236}">
                <a16:creationId xmlns:a16="http://schemas.microsoft.com/office/drawing/2014/main" id="{9BD3C6C1-A3ED-405B-8843-408F61AD4E59}"/>
              </a:ext>
            </a:extLst>
          </p:cNvPr>
          <p:cNvSpPr/>
          <p:nvPr/>
        </p:nvSpPr>
        <p:spPr>
          <a:xfrm>
            <a:off x="7785504" y="206570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2" name="Rectangle 161">
            <a:extLst>
              <a:ext uri="{FF2B5EF4-FFF2-40B4-BE49-F238E27FC236}">
                <a16:creationId xmlns:a16="http://schemas.microsoft.com/office/drawing/2014/main" id="{035A2265-FFD8-48DC-9F35-D401DEB1EDE3}"/>
              </a:ext>
            </a:extLst>
          </p:cNvPr>
          <p:cNvSpPr/>
          <p:nvPr/>
        </p:nvSpPr>
        <p:spPr>
          <a:xfrm>
            <a:off x="8909331"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63" name="Rectangle 162">
            <a:extLst>
              <a:ext uri="{FF2B5EF4-FFF2-40B4-BE49-F238E27FC236}">
                <a16:creationId xmlns:a16="http://schemas.microsoft.com/office/drawing/2014/main" id="{244DA3A8-817E-4EB5-8660-039119CD3011}"/>
              </a:ext>
            </a:extLst>
          </p:cNvPr>
          <p:cNvSpPr/>
          <p:nvPr/>
        </p:nvSpPr>
        <p:spPr>
          <a:xfrm>
            <a:off x="834863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grpSp>
        <p:nvGrpSpPr>
          <p:cNvPr id="164" name="Group 71">
            <a:extLst>
              <a:ext uri="{FF2B5EF4-FFF2-40B4-BE49-F238E27FC236}">
                <a16:creationId xmlns:a16="http://schemas.microsoft.com/office/drawing/2014/main" id="{1539FC3C-1C23-41EF-ADE0-958502261E5D}"/>
              </a:ext>
            </a:extLst>
          </p:cNvPr>
          <p:cNvGrpSpPr/>
          <p:nvPr/>
        </p:nvGrpSpPr>
        <p:grpSpPr>
          <a:xfrm>
            <a:off x="7785395" y="1643092"/>
            <a:ext cx="563125" cy="115214"/>
            <a:chOff x="-66694" y="1130300"/>
            <a:chExt cx="533401" cy="228600"/>
          </a:xfrm>
          <a:effectLst>
            <a:outerShdw blurRad="50800" dist="38100" dir="2700000" algn="tl" rotWithShape="0">
              <a:prstClr val="black">
                <a:alpha val="40000"/>
              </a:prstClr>
            </a:outerShdw>
          </a:effectLst>
        </p:grpSpPr>
        <p:cxnSp>
          <p:nvCxnSpPr>
            <p:cNvPr id="165" name="Straight Connector 164">
              <a:extLst>
                <a:ext uri="{FF2B5EF4-FFF2-40B4-BE49-F238E27FC236}">
                  <a16:creationId xmlns:a16="http://schemas.microsoft.com/office/drawing/2014/main" id="{D0B9D35D-9237-4E43-9AED-2138EC0F651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6" name="Straight Connector 165">
              <a:extLst>
                <a:ext uri="{FF2B5EF4-FFF2-40B4-BE49-F238E27FC236}">
                  <a16:creationId xmlns:a16="http://schemas.microsoft.com/office/drawing/2014/main" id="{804182FF-B39A-4428-B5F1-080B329D237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7" name="Straight Connector 166">
              <a:extLst>
                <a:ext uri="{FF2B5EF4-FFF2-40B4-BE49-F238E27FC236}">
                  <a16:creationId xmlns:a16="http://schemas.microsoft.com/office/drawing/2014/main" id="{1F7B544C-D461-4420-8EBA-D58F51C2A2F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8" name="Straight Connector 167">
              <a:extLst>
                <a:ext uri="{FF2B5EF4-FFF2-40B4-BE49-F238E27FC236}">
                  <a16:creationId xmlns:a16="http://schemas.microsoft.com/office/drawing/2014/main" id="{82AAC9CE-5865-4089-9B4A-F10BEF95B6A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69" name="Group 71">
            <a:extLst>
              <a:ext uri="{FF2B5EF4-FFF2-40B4-BE49-F238E27FC236}">
                <a16:creationId xmlns:a16="http://schemas.microsoft.com/office/drawing/2014/main" id="{DFCBDCEC-C873-4017-9899-127B64E40D84}"/>
              </a:ext>
            </a:extLst>
          </p:cNvPr>
          <p:cNvGrpSpPr/>
          <p:nvPr/>
        </p:nvGrpSpPr>
        <p:grpSpPr>
          <a:xfrm>
            <a:off x="8348519" y="1643093"/>
            <a:ext cx="563125" cy="115214"/>
            <a:chOff x="-66694" y="1130300"/>
            <a:chExt cx="533401" cy="228600"/>
          </a:xfrm>
          <a:effectLst>
            <a:outerShdw blurRad="50800" dist="38100" dir="2700000" algn="tl" rotWithShape="0">
              <a:prstClr val="black">
                <a:alpha val="40000"/>
              </a:prstClr>
            </a:outerShdw>
          </a:effectLst>
        </p:grpSpPr>
        <p:cxnSp>
          <p:nvCxnSpPr>
            <p:cNvPr id="170" name="Straight Connector 169">
              <a:extLst>
                <a:ext uri="{FF2B5EF4-FFF2-40B4-BE49-F238E27FC236}">
                  <a16:creationId xmlns:a16="http://schemas.microsoft.com/office/drawing/2014/main" id="{8BC3DB3B-B608-4472-BF0B-86877B77F31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1" name="Straight Connector 170">
              <a:extLst>
                <a:ext uri="{FF2B5EF4-FFF2-40B4-BE49-F238E27FC236}">
                  <a16:creationId xmlns:a16="http://schemas.microsoft.com/office/drawing/2014/main" id="{576FC232-D61C-4A04-B019-9A55A996352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2" name="Straight Connector 171">
              <a:extLst>
                <a:ext uri="{FF2B5EF4-FFF2-40B4-BE49-F238E27FC236}">
                  <a16:creationId xmlns:a16="http://schemas.microsoft.com/office/drawing/2014/main" id="{945FCA16-DB32-4A42-B83A-4998DEDC3830}"/>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3" name="Straight Connector 172">
              <a:extLst>
                <a:ext uri="{FF2B5EF4-FFF2-40B4-BE49-F238E27FC236}">
                  <a16:creationId xmlns:a16="http://schemas.microsoft.com/office/drawing/2014/main" id="{EC18D760-9279-40BD-990D-8D1FF5B565A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4" name="Group 71">
            <a:extLst>
              <a:ext uri="{FF2B5EF4-FFF2-40B4-BE49-F238E27FC236}">
                <a16:creationId xmlns:a16="http://schemas.microsoft.com/office/drawing/2014/main" id="{31127378-DEC1-45E7-99D0-E992F8CBAA15}"/>
              </a:ext>
            </a:extLst>
          </p:cNvPr>
          <p:cNvGrpSpPr/>
          <p:nvPr/>
        </p:nvGrpSpPr>
        <p:grpSpPr>
          <a:xfrm>
            <a:off x="8911643" y="1643094"/>
            <a:ext cx="563125" cy="115214"/>
            <a:chOff x="-66694" y="1130300"/>
            <a:chExt cx="533401" cy="228600"/>
          </a:xfrm>
          <a:effectLst>
            <a:outerShdw blurRad="50800" dist="38100" dir="2700000" algn="tl" rotWithShape="0">
              <a:prstClr val="black">
                <a:alpha val="40000"/>
              </a:prstClr>
            </a:outerShdw>
          </a:effectLst>
        </p:grpSpPr>
        <p:cxnSp>
          <p:nvCxnSpPr>
            <p:cNvPr id="175" name="Straight Connector 174">
              <a:extLst>
                <a:ext uri="{FF2B5EF4-FFF2-40B4-BE49-F238E27FC236}">
                  <a16:creationId xmlns:a16="http://schemas.microsoft.com/office/drawing/2014/main" id="{F8C30A81-57E5-4EC7-841B-0942FBA3B7A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6" name="Straight Connector 175">
              <a:extLst>
                <a:ext uri="{FF2B5EF4-FFF2-40B4-BE49-F238E27FC236}">
                  <a16:creationId xmlns:a16="http://schemas.microsoft.com/office/drawing/2014/main" id="{236317B4-0865-484E-83F1-0DDB68AF8AC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7" name="Straight Connector 176">
              <a:extLst>
                <a:ext uri="{FF2B5EF4-FFF2-40B4-BE49-F238E27FC236}">
                  <a16:creationId xmlns:a16="http://schemas.microsoft.com/office/drawing/2014/main" id="{EBAC5783-528D-4EEE-8EE3-54D9060FD5A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8" name="Straight Connector 177">
              <a:extLst>
                <a:ext uri="{FF2B5EF4-FFF2-40B4-BE49-F238E27FC236}">
                  <a16:creationId xmlns:a16="http://schemas.microsoft.com/office/drawing/2014/main" id="{1F58F1C6-5E30-4F80-8EE6-E53A30B46D4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79" name="Rectangle 178">
            <a:extLst>
              <a:ext uri="{FF2B5EF4-FFF2-40B4-BE49-F238E27FC236}">
                <a16:creationId xmlns:a16="http://schemas.microsoft.com/office/drawing/2014/main" id="{C533307F-8A9C-40CE-9B42-F02227CCBB80}"/>
              </a:ext>
            </a:extLst>
          </p:cNvPr>
          <p:cNvSpPr/>
          <p:nvPr/>
        </p:nvSpPr>
        <p:spPr>
          <a:xfrm>
            <a:off x="10601143" y="206570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0" name="Rectangle 179">
            <a:extLst>
              <a:ext uri="{FF2B5EF4-FFF2-40B4-BE49-F238E27FC236}">
                <a16:creationId xmlns:a16="http://schemas.microsoft.com/office/drawing/2014/main" id="{02711605-07F4-450E-ADCF-F749C45E557F}"/>
              </a:ext>
            </a:extLst>
          </p:cNvPr>
          <p:cNvSpPr/>
          <p:nvPr/>
        </p:nvSpPr>
        <p:spPr>
          <a:xfrm>
            <a:off x="947489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1" name="Rectangle 180">
            <a:extLst>
              <a:ext uri="{FF2B5EF4-FFF2-40B4-BE49-F238E27FC236}">
                <a16:creationId xmlns:a16="http://schemas.microsoft.com/office/drawing/2014/main" id="{87E35351-AA9E-4356-924A-3B0CC7AC2BE3}"/>
              </a:ext>
            </a:extLst>
          </p:cNvPr>
          <p:cNvSpPr/>
          <p:nvPr/>
        </p:nvSpPr>
        <p:spPr>
          <a:xfrm>
            <a:off x="9474890" y="206570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2" name="Rectangle 181">
            <a:extLst>
              <a:ext uri="{FF2B5EF4-FFF2-40B4-BE49-F238E27FC236}">
                <a16:creationId xmlns:a16="http://schemas.microsoft.com/office/drawing/2014/main" id="{97E8B55E-C94F-4492-BE95-F5903AB2F8D7}"/>
              </a:ext>
            </a:extLst>
          </p:cNvPr>
          <p:cNvSpPr/>
          <p:nvPr/>
        </p:nvSpPr>
        <p:spPr>
          <a:xfrm>
            <a:off x="1059871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83" name="Rectangle 182">
            <a:extLst>
              <a:ext uri="{FF2B5EF4-FFF2-40B4-BE49-F238E27FC236}">
                <a16:creationId xmlns:a16="http://schemas.microsoft.com/office/drawing/2014/main" id="{39B596EC-F313-4018-9EC7-7D02D4DD661C}"/>
              </a:ext>
            </a:extLst>
          </p:cNvPr>
          <p:cNvSpPr/>
          <p:nvPr/>
        </p:nvSpPr>
        <p:spPr>
          <a:xfrm>
            <a:off x="1003801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84" name="Group 71">
            <a:extLst>
              <a:ext uri="{FF2B5EF4-FFF2-40B4-BE49-F238E27FC236}">
                <a16:creationId xmlns:a16="http://schemas.microsoft.com/office/drawing/2014/main" id="{8FBF5A4B-348E-4251-9E89-B2224B5C8723}"/>
              </a:ext>
            </a:extLst>
          </p:cNvPr>
          <p:cNvGrpSpPr/>
          <p:nvPr/>
        </p:nvGrpSpPr>
        <p:grpSpPr>
          <a:xfrm>
            <a:off x="9474783" y="1643091"/>
            <a:ext cx="563125" cy="115214"/>
            <a:chOff x="-66694" y="1130300"/>
            <a:chExt cx="533401" cy="228600"/>
          </a:xfrm>
          <a:effectLst>
            <a:outerShdw blurRad="50800" dist="38100" dir="2700000" algn="tl" rotWithShape="0">
              <a:prstClr val="black">
                <a:alpha val="40000"/>
              </a:prstClr>
            </a:outerShdw>
          </a:effectLst>
        </p:grpSpPr>
        <p:cxnSp>
          <p:nvCxnSpPr>
            <p:cNvPr id="185" name="Straight Connector 184">
              <a:extLst>
                <a:ext uri="{FF2B5EF4-FFF2-40B4-BE49-F238E27FC236}">
                  <a16:creationId xmlns:a16="http://schemas.microsoft.com/office/drawing/2014/main" id="{68349052-FD01-4114-AB0A-19B00432033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6" name="Straight Connector 185">
              <a:extLst>
                <a:ext uri="{FF2B5EF4-FFF2-40B4-BE49-F238E27FC236}">
                  <a16:creationId xmlns:a16="http://schemas.microsoft.com/office/drawing/2014/main" id="{77DFA31F-2166-404A-A150-9564FB2BB17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7" name="Straight Connector 186">
              <a:extLst>
                <a:ext uri="{FF2B5EF4-FFF2-40B4-BE49-F238E27FC236}">
                  <a16:creationId xmlns:a16="http://schemas.microsoft.com/office/drawing/2014/main" id="{B099E240-E82D-4504-A1A7-9B28E43C87C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8" name="Straight Connector 187">
              <a:extLst>
                <a:ext uri="{FF2B5EF4-FFF2-40B4-BE49-F238E27FC236}">
                  <a16:creationId xmlns:a16="http://schemas.microsoft.com/office/drawing/2014/main" id="{8E04921B-D3E0-47CB-AE0E-C132F3E30A3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89" name="Group 71">
            <a:extLst>
              <a:ext uri="{FF2B5EF4-FFF2-40B4-BE49-F238E27FC236}">
                <a16:creationId xmlns:a16="http://schemas.microsoft.com/office/drawing/2014/main" id="{B38FDE79-BDB0-4AB4-9C80-FFCC5152C08D}"/>
              </a:ext>
            </a:extLst>
          </p:cNvPr>
          <p:cNvGrpSpPr/>
          <p:nvPr/>
        </p:nvGrpSpPr>
        <p:grpSpPr>
          <a:xfrm>
            <a:off x="10037907" y="1643092"/>
            <a:ext cx="563125" cy="115214"/>
            <a:chOff x="-66694" y="1130300"/>
            <a:chExt cx="533401" cy="228600"/>
          </a:xfrm>
          <a:effectLst>
            <a:outerShdw blurRad="50800" dist="38100" dir="2700000" algn="tl" rotWithShape="0">
              <a:prstClr val="black">
                <a:alpha val="40000"/>
              </a:prstClr>
            </a:outerShdw>
          </a:effectLst>
        </p:grpSpPr>
        <p:cxnSp>
          <p:nvCxnSpPr>
            <p:cNvPr id="190" name="Straight Connector 189">
              <a:extLst>
                <a:ext uri="{FF2B5EF4-FFF2-40B4-BE49-F238E27FC236}">
                  <a16:creationId xmlns:a16="http://schemas.microsoft.com/office/drawing/2014/main" id="{5AB3CF0E-861E-4543-A027-5A1060E13AA3}"/>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1" name="Straight Connector 190">
              <a:extLst>
                <a:ext uri="{FF2B5EF4-FFF2-40B4-BE49-F238E27FC236}">
                  <a16:creationId xmlns:a16="http://schemas.microsoft.com/office/drawing/2014/main" id="{63084D1F-FFED-4ECA-B054-4DB28DD0927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2" name="Straight Connector 191">
              <a:extLst>
                <a:ext uri="{FF2B5EF4-FFF2-40B4-BE49-F238E27FC236}">
                  <a16:creationId xmlns:a16="http://schemas.microsoft.com/office/drawing/2014/main" id="{AEC1DCE7-0E29-4500-B5D3-512A841A032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3" name="Straight Connector 192">
              <a:extLst>
                <a:ext uri="{FF2B5EF4-FFF2-40B4-BE49-F238E27FC236}">
                  <a16:creationId xmlns:a16="http://schemas.microsoft.com/office/drawing/2014/main" id="{64D4AD66-499C-4866-9128-6E8F21A380D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94" name="Group 71">
            <a:extLst>
              <a:ext uri="{FF2B5EF4-FFF2-40B4-BE49-F238E27FC236}">
                <a16:creationId xmlns:a16="http://schemas.microsoft.com/office/drawing/2014/main" id="{7884A255-60EA-49EB-8C24-DAA2E7907186}"/>
              </a:ext>
            </a:extLst>
          </p:cNvPr>
          <p:cNvGrpSpPr/>
          <p:nvPr/>
        </p:nvGrpSpPr>
        <p:grpSpPr>
          <a:xfrm>
            <a:off x="10601031" y="1643093"/>
            <a:ext cx="563125" cy="115214"/>
            <a:chOff x="-66694" y="1130300"/>
            <a:chExt cx="533401" cy="228600"/>
          </a:xfrm>
          <a:effectLst>
            <a:outerShdw blurRad="50800" dist="38100" dir="2700000" algn="tl" rotWithShape="0">
              <a:prstClr val="black">
                <a:alpha val="40000"/>
              </a:prstClr>
            </a:outerShdw>
          </a:effectLst>
        </p:grpSpPr>
        <p:cxnSp>
          <p:nvCxnSpPr>
            <p:cNvPr id="195" name="Straight Connector 194">
              <a:extLst>
                <a:ext uri="{FF2B5EF4-FFF2-40B4-BE49-F238E27FC236}">
                  <a16:creationId xmlns:a16="http://schemas.microsoft.com/office/drawing/2014/main" id="{E30CE596-CD46-4904-BA36-BF65E7E353F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6" name="Straight Connector 195">
              <a:extLst>
                <a:ext uri="{FF2B5EF4-FFF2-40B4-BE49-F238E27FC236}">
                  <a16:creationId xmlns:a16="http://schemas.microsoft.com/office/drawing/2014/main" id="{55E9CBDC-F4AF-455B-9F0A-61FDCEF16C6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7" name="Straight Connector 196">
              <a:extLst>
                <a:ext uri="{FF2B5EF4-FFF2-40B4-BE49-F238E27FC236}">
                  <a16:creationId xmlns:a16="http://schemas.microsoft.com/office/drawing/2014/main" id="{900B9E28-50DC-4D9B-B58C-A9980EC3BD1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8" name="Straight Connector 197">
              <a:extLst>
                <a:ext uri="{FF2B5EF4-FFF2-40B4-BE49-F238E27FC236}">
                  <a16:creationId xmlns:a16="http://schemas.microsoft.com/office/drawing/2014/main" id="{022C0022-4D5D-4A29-BBA7-346D97FC0FD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99" name="Rectangle 198">
            <a:extLst>
              <a:ext uri="{FF2B5EF4-FFF2-40B4-BE49-F238E27FC236}">
                <a16:creationId xmlns:a16="http://schemas.microsoft.com/office/drawing/2014/main" id="{73E98A42-6455-4394-8F69-9850A0D5AB23}"/>
              </a:ext>
            </a:extLst>
          </p:cNvPr>
          <p:cNvSpPr/>
          <p:nvPr/>
        </p:nvSpPr>
        <p:spPr>
          <a:xfrm>
            <a:off x="1116425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grpSp>
        <p:nvGrpSpPr>
          <p:cNvPr id="200" name="Group 71">
            <a:extLst>
              <a:ext uri="{FF2B5EF4-FFF2-40B4-BE49-F238E27FC236}">
                <a16:creationId xmlns:a16="http://schemas.microsoft.com/office/drawing/2014/main" id="{59449D6C-569F-4458-AA49-CA64602492ED}"/>
              </a:ext>
            </a:extLst>
          </p:cNvPr>
          <p:cNvGrpSpPr/>
          <p:nvPr/>
        </p:nvGrpSpPr>
        <p:grpSpPr>
          <a:xfrm>
            <a:off x="11164144" y="1643093"/>
            <a:ext cx="563125" cy="115214"/>
            <a:chOff x="-66694" y="1130300"/>
            <a:chExt cx="533401" cy="228600"/>
          </a:xfrm>
          <a:effectLst>
            <a:outerShdw blurRad="50800" dist="38100" dir="2700000" algn="tl" rotWithShape="0">
              <a:prstClr val="black">
                <a:alpha val="40000"/>
              </a:prstClr>
            </a:outerShdw>
          </a:effectLst>
        </p:grpSpPr>
        <p:cxnSp>
          <p:nvCxnSpPr>
            <p:cNvPr id="201" name="Straight Connector 200">
              <a:extLst>
                <a:ext uri="{FF2B5EF4-FFF2-40B4-BE49-F238E27FC236}">
                  <a16:creationId xmlns:a16="http://schemas.microsoft.com/office/drawing/2014/main" id="{85380724-F533-49C0-8ABC-EBBCC5FAA72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2" name="Straight Connector 201">
              <a:extLst>
                <a:ext uri="{FF2B5EF4-FFF2-40B4-BE49-F238E27FC236}">
                  <a16:creationId xmlns:a16="http://schemas.microsoft.com/office/drawing/2014/main" id="{EE4DA9F0-2D40-449F-A761-75B0E430646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3" name="Straight Connector 202">
              <a:extLst>
                <a:ext uri="{FF2B5EF4-FFF2-40B4-BE49-F238E27FC236}">
                  <a16:creationId xmlns:a16="http://schemas.microsoft.com/office/drawing/2014/main" id="{7E4405B5-F657-41BD-8E14-1ECA2255E9E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4" name="Straight Connector 203">
              <a:extLst>
                <a:ext uri="{FF2B5EF4-FFF2-40B4-BE49-F238E27FC236}">
                  <a16:creationId xmlns:a16="http://schemas.microsoft.com/office/drawing/2014/main" id="{8678CB3A-244C-47D3-9346-3F5C1705BA9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cxnSp>
        <p:nvCxnSpPr>
          <p:cNvPr id="205" name="Straight Arrow Connector 204">
            <a:extLst>
              <a:ext uri="{FF2B5EF4-FFF2-40B4-BE49-F238E27FC236}">
                <a16:creationId xmlns:a16="http://schemas.microsoft.com/office/drawing/2014/main" id="{499BF9EA-198F-40BF-A337-08EBF8BD5423}"/>
              </a:ext>
            </a:extLst>
          </p:cNvPr>
          <p:cNvCxnSpPr/>
          <p:nvPr/>
        </p:nvCxnSpPr>
        <p:spPr>
          <a:xfrm>
            <a:off x="440662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06" name="TextBox 205">
            <a:extLst>
              <a:ext uri="{FF2B5EF4-FFF2-40B4-BE49-F238E27FC236}">
                <a16:creationId xmlns:a16="http://schemas.microsoft.com/office/drawing/2014/main" id="{0EBA2047-F5A6-4E8C-8797-AE39C0E6E6EE}"/>
              </a:ext>
            </a:extLst>
          </p:cNvPr>
          <p:cNvSpPr txBox="1"/>
          <p:nvPr/>
        </p:nvSpPr>
        <p:spPr>
          <a:xfrm>
            <a:off x="469867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1</a:t>
            </a:r>
          </a:p>
        </p:txBody>
      </p:sp>
      <p:cxnSp>
        <p:nvCxnSpPr>
          <p:cNvPr id="207" name="Straight Arrow Connector 206">
            <a:extLst>
              <a:ext uri="{FF2B5EF4-FFF2-40B4-BE49-F238E27FC236}">
                <a16:creationId xmlns:a16="http://schemas.microsoft.com/office/drawing/2014/main" id="{7D352AFE-C662-43D1-9B7E-16AAB522311F}"/>
              </a:ext>
            </a:extLst>
          </p:cNvPr>
          <p:cNvCxnSpPr/>
          <p:nvPr/>
        </p:nvCxnSpPr>
        <p:spPr>
          <a:xfrm>
            <a:off x="609600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08" name="TextBox 207">
            <a:extLst>
              <a:ext uri="{FF2B5EF4-FFF2-40B4-BE49-F238E27FC236}">
                <a16:creationId xmlns:a16="http://schemas.microsoft.com/office/drawing/2014/main" id="{55EF74BE-C6BB-4A8D-A617-03A36A1C6B19}"/>
              </a:ext>
            </a:extLst>
          </p:cNvPr>
          <p:cNvSpPr txBox="1"/>
          <p:nvPr/>
        </p:nvSpPr>
        <p:spPr>
          <a:xfrm>
            <a:off x="638805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2</a:t>
            </a:r>
          </a:p>
        </p:txBody>
      </p:sp>
      <p:cxnSp>
        <p:nvCxnSpPr>
          <p:cNvPr id="209" name="Straight Arrow Connector 208">
            <a:extLst>
              <a:ext uri="{FF2B5EF4-FFF2-40B4-BE49-F238E27FC236}">
                <a16:creationId xmlns:a16="http://schemas.microsoft.com/office/drawing/2014/main" id="{5DCA2805-1C96-4A24-B731-4EB968982948}"/>
              </a:ext>
            </a:extLst>
          </p:cNvPr>
          <p:cNvCxnSpPr/>
          <p:nvPr/>
        </p:nvCxnSpPr>
        <p:spPr>
          <a:xfrm>
            <a:off x="778538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0" name="TextBox 209">
            <a:extLst>
              <a:ext uri="{FF2B5EF4-FFF2-40B4-BE49-F238E27FC236}">
                <a16:creationId xmlns:a16="http://schemas.microsoft.com/office/drawing/2014/main" id="{6E632CAC-DF2D-4920-899C-485151440A3F}"/>
              </a:ext>
            </a:extLst>
          </p:cNvPr>
          <p:cNvSpPr txBox="1"/>
          <p:nvPr/>
        </p:nvSpPr>
        <p:spPr>
          <a:xfrm>
            <a:off x="807743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3</a:t>
            </a:r>
          </a:p>
        </p:txBody>
      </p:sp>
      <p:cxnSp>
        <p:nvCxnSpPr>
          <p:cNvPr id="211" name="Straight Arrow Connector 210">
            <a:extLst>
              <a:ext uri="{FF2B5EF4-FFF2-40B4-BE49-F238E27FC236}">
                <a16:creationId xmlns:a16="http://schemas.microsoft.com/office/drawing/2014/main" id="{8546148D-22EB-430E-A9A2-07449956E49C}"/>
              </a:ext>
            </a:extLst>
          </p:cNvPr>
          <p:cNvCxnSpPr/>
          <p:nvPr/>
        </p:nvCxnSpPr>
        <p:spPr>
          <a:xfrm>
            <a:off x="947476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2" name="TextBox 211">
            <a:extLst>
              <a:ext uri="{FF2B5EF4-FFF2-40B4-BE49-F238E27FC236}">
                <a16:creationId xmlns:a16="http://schemas.microsoft.com/office/drawing/2014/main" id="{67518091-C948-406E-9A9C-09EFCDBB8229}"/>
              </a:ext>
            </a:extLst>
          </p:cNvPr>
          <p:cNvSpPr txBox="1"/>
          <p:nvPr/>
        </p:nvSpPr>
        <p:spPr>
          <a:xfrm>
            <a:off x="976681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4</a:t>
            </a:r>
          </a:p>
        </p:txBody>
      </p:sp>
      <p:sp>
        <p:nvSpPr>
          <p:cNvPr id="213" name="Rectangle 212">
            <a:extLst>
              <a:ext uri="{FF2B5EF4-FFF2-40B4-BE49-F238E27FC236}">
                <a16:creationId xmlns:a16="http://schemas.microsoft.com/office/drawing/2014/main" id="{F85CCEDA-FEF2-42B9-8744-9889A96918C1}"/>
              </a:ext>
            </a:extLst>
          </p:cNvPr>
          <p:cNvSpPr/>
          <p:nvPr/>
        </p:nvSpPr>
        <p:spPr>
          <a:xfrm>
            <a:off x="4969857" y="2065713"/>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4" name="Rectangle 213">
            <a:extLst>
              <a:ext uri="{FF2B5EF4-FFF2-40B4-BE49-F238E27FC236}">
                <a16:creationId xmlns:a16="http://schemas.microsoft.com/office/drawing/2014/main" id="{4752C840-4EBF-4CA6-A00B-16F9B400BAD4}"/>
              </a:ext>
            </a:extLst>
          </p:cNvPr>
          <p:cNvSpPr/>
          <p:nvPr/>
        </p:nvSpPr>
        <p:spPr>
          <a:xfrm>
            <a:off x="6659244" y="2065712"/>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5" name="Rectangle 214">
            <a:extLst>
              <a:ext uri="{FF2B5EF4-FFF2-40B4-BE49-F238E27FC236}">
                <a16:creationId xmlns:a16="http://schemas.microsoft.com/office/drawing/2014/main" id="{226E86EA-66AF-4565-91D3-5F60177F89CC}"/>
              </a:ext>
            </a:extLst>
          </p:cNvPr>
          <p:cNvSpPr/>
          <p:nvPr/>
        </p:nvSpPr>
        <p:spPr>
          <a:xfrm>
            <a:off x="8348630" y="2065711"/>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6" name="Rectangle 215">
            <a:extLst>
              <a:ext uri="{FF2B5EF4-FFF2-40B4-BE49-F238E27FC236}">
                <a16:creationId xmlns:a16="http://schemas.microsoft.com/office/drawing/2014/main" id="{068BD388-CDA2-4F08-ABDE-C69D70CD874F}"/>
              </a:ext>
            </a:extLst>
          </p:cNvPr>
          <p:cNvSpPr/>
          <p:nvPr/>
        </p:nvSpPr>
        <p:spPr>
          <a:xfrm>
            <a:off x="10037997"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7" name="Rectangle 216">
            <a:extLst>
              <a:ext uri="{FF2B5EF4-FFF2-40B4-BE49-F238E27FC236}">
                <a16:creationId xmlns:a16="http://schemas.microsoft.com/office/drawing/2014/main" id="{3B83D5AA-6E33-4083-B6E8-9F860BEFEDB7}"/>
              </a:ext>
            </a:extLst>
          </p:cNvPr>
          <p:cNvSpPr/>
          <p:nvPr/>
        </p:nvSpPr>
        <p:spPr>
          <a:xfrm>
            <a:off x="8346211"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8" name="Rectangle 217">
            <a:extLst>
              <a:ext uri="{FF2B5EF4-FFF2-40B4-BE49-F238E27FC236}">
                <a16:creationId xmlns:a16="http://schemas.microsoft.com/office/drawing/2014/main" id="{DDC17238-5930-4012-B093-663D4B895DCC}"/>
              </a:ext>
            </a:extLst>
          </p:cNvPr>
          <p:cNvSpPr/>
          <p:nvPr/>
        </p:nvSpPr>
        <p:spPr>
          <a:xfrm>
            <a:off x="6654425"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9" name="Rectangle 218">
            <a:extLst>
              <a:ext uri="{FF2B5EF4-FFF2-40B4-BE49-F238E27FC236}">
                <a16:creationId xmlns:a16="http://schemas.microsoft.com/office/drawing/2014/main" id="{D6F7607D-3C6F-4B57-B34A-585884C32318}"/>
              </a:ext>
            </a:extLst>
          </p:cNvPr>
          <p:cNvSpPr/>
          <p:nvPr/>
        </p:nvSpPr>
        <p:spPr>
          <a:xfrm>
            <a:off x="4962639"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cxnSp>
        <p:nvCxnSpPr>
          <p:cNvPr id="220" name="Straight Arrow Connector 219">
            <a:extLst>
              <a:ext uri="{FF2B5EF4-FFF2-40B4-BE49-F238E27FC236}">
                <a16:creationId xmlns:a16="http://schemas.microsoft.com/office/drawing/2014/main" id="{1183BF6C-68EE-4A59-8A22-0F6C839031E6}"/>
              </a:ext>
            </a:extLst>
          </p:cNvPr>
          <p:cNvCxnSpPr/>
          <p:nvPr/>
        </p:nvCxnSpPr>
        <p:spPr>
          <a:xfrm>
            <a:off x="4457814" y="3083355"/>
            <a:ext cx="5528880" cy="1588"/>
          </a:xfrm>
          <a:prstGeom prst="straightConnector1">
            <a:avLst/>
          </a:prstGeom>
          <a:noFill/>
          <a:ln w="25400" cap="flat" cmpd="sng" algn="ctr">
            <a:solidFill>
              <a:srgbClr val="3F3F3F"/>
            </a:solidFill>
            <a:prstDash val="solid"/>
            <a:headEnd type="triangle" w="med" len="med"/>
            <a:tailEnd type="triangle" w="med" len="med"/>
          </a:ln>
          <a:effectLst>
            <a:outerShdw blurRad="40000" dist="20000" dir="5400000" rotWithShape="0">
              <a:srgbClr val="000000">
                <a:alpha val="38000"/>
              </a:srgbClr>
            </a:outerShdw>
          </a:effectLst>
        </p:spPr>
      </p:cxnSp>
      <p:sp>
        <p:nvSpPr>
          <p:cNvPr id="221" name="TextBox 220">
            <a:extLst>
              <a:ext uri="{FF2B5EF4-FFF2-40B4-BE49-F238E27FC236}">
                <a16:creationId xmlns:a16="http://schemas.microsoft.com/office/drawing/2014/main" id="{20B04944-FF70-42BD-A9F2-B5530AA17892}"/>
              </a:ext>
            </a:extLst>
          </p:cNvPr>
          <p:cNvSpPr txBox="1"/>
          <p:nvPr/>
        </p:nvSpPr>
        <p:spPr>
          <a:xfrm>
            <a:off x="6044809" y="3160329"/>
            <a:ext cx="2354892"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The read X operation has good mobility</a:t>
            </a:r>
          </a:p>
        </p:txBody>
      </p:sp>
      <p:sp>
        <p:nvSpPr>
          <p:cNvPr id="222" name="Right Arrow 115">
            <a:extLst>
              <a:ext uri="{FF2B5EF4-FFF2-40B4-BE49-F238E27FC236}">
                <a16:creationId xmlns:a16="http://schemas.microsoft.com/office/drawing/2014/main" id="{CD40E333-0D0E-48F2-AEFA-9C4C9A988658}"/>
              </a:ext>
            </a:extLst>
          </p:cNvPr>
          <p:cNvSpPr/>
          <p:nvPr/>
        </p:nvSpPr>
        <p:spPr>
          <a:xfrm>
            <a:off x="1898148" y="1201510"/>
            <a:ext cx="2354893" cy="614480"/>
          </a:xfrm>
          <a:prstGeom prst="rightArrow">
            <a:avLst>
              <a:gd name="adj1" fmla="val 50000"/>
              <a:gd name="adj2" fmla="val 31812"/>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23" name="TextBox 222">
            <a:extLst>
              <a:ext uri="{FF2B5EF4-FFF2-40B4-BE49-F238E27FC236}">
                <a16:creationId xmlns:a16="http://schemas.microsoft.com/office/drawing/2014/main" id="{58D99D88-C55C-4F90-AE64-D4C5601CA24F}"/>
              </a:ext>
            </a:extLst>
          </p:cNvPr>
          <p:cNvSpPr txBox="1"/>
          <p:nvPr/>
        </p:nvSpPr>
        <p:spPr>
          <a:xfrm>
            <a:off x="1983709" y="1354758"/>
            <a:ext cx="1548822" cy="307777"/>
          </a:xfrm>
          <a:prstGeom prst="rect">
            <a:avLst/>
          </a:prstGeom>
          <a:noFill/>
        </p:spPr>
        <p:txBody>
          <a:bodyPr wrap="none" rtlCol="0">
            <a:spAutoFit/>
          </a:bodyPr>
          <a:lstStyle/>
          <a:p>
            <a:pPr defTabSz="457200" fontAlgn="base">
              <a:spcBef>
                <a:spcPct val="0"/>
              </a:spcBef>
              <a:spcAft>
                <a:spcPct val="0"/>
              </a:spcAft>
            </a:pPr>
            <a:r>
              <a:rPr lang="en-US" sz="1400" dirty="0">
                <a:solidFill>
                  <a:prstClr val="black"/>
                </a:solidFill>
                <a:ea typeface="ＭＳ Ｐゴシック" pitchFamily="34" charset="-128"/>
                <a:cs typeface="Arial" charset="0"/>
              </a:rPr>
              <a:t>Default Schedule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Dependencies: Bad</a:t>
            </a:r>
          </a:p>
        </p:txBody>
      </p:sp>
      <p:sp>
        <p:nvSpPr>
          <p:cNvPr id="3" name="Content Placeholder 2"/>
          <p:cNvSpPr>
            <a:spLocks noGrp="1"/>
          </p:cNvSpPr>
          <p:nvPr>
            <p:ph idx="1"/>
          </p:nvPr>
        </p:nvSpPr>
        <p:spPr/>
        <p:txBody>
          <a:bodyPr>
            <a:normAutofit fontScale="62500" lnSpcReduction="20000"/>
          </a:bodyPr>
          <a:lstStyle/>
          <a:p>
            <a:endParaRPr lang="en-US" dirty="0"/>
          </a:p>
          <a:p>
            <a:endParaRPr lang="en-US" dirty="0"/>
          </a:p>
          <a:p>
            <a:endParaRPr lang="en-US" dirty="0"/>
          </a:p>
          <a:p>
            <a:pPr marL="0" indent="0">
              <a:buNone/>
            </a:pPr>
            <a:br>
              <a:rPr lang="en-US" dirty="0"/>
            </a:br>
            <a:endParaRPr lang="en-US" dirty="0"/>
          </a:p>
          <a:p>
            <a:endParaRPr lang="en-US" dirty="0"/>
          </a:p>
          <a:p>
            <a:endParaRPr lang="en-US" dirty="0"/>
          </a:p>
          <a:p>
            <a:r>
              <a:rPr lang="en-US" sz="2200" dirty="0"/>
              <a:t>Example of bad mobility</a:t>
            </a:r>
          </a:p>
          <a:p>
            <a:pPr lvl="1"/>
            <a:r>
              <a:rPr lang="en-US" sz="1900" dirty="0"/>
              <a:t>The final multiplication must occur before the read and final addition</a:t>
            </a:r>
          </a:p>
          <a:p>
            <a:pPr lvl="2"/>
            <a:r>
              <a:rPr lang="en-US" sz="1700" dirty="0"/>
              <a:t>It could occur in the same cycle if timing allows</a:t>
            </a:r>
          </a:p>
          <a:p>
            <a:pPr lvl="1"/>
            <a:r>
              <a:rPr lang="en-US" sz="1900" dirty="0"/>
              <a:t>Loops are rolled by default</a:t>
            </a:r>
          </a:p>
          <a:p>
            <a:pPr lvl="2"/>
            <a:r>
              <a:rPr lang="en-US" sz="1700" dirty="0"/>
              <a:t>Each iteration cannot start till the previous iteration completes</a:t>
            </a:r>
          </a:p>
          <a:p>
            <a:pPr lvl="2"/>
            <a:r>
              <a:rPr lang="en-US" sz="1700" dirty="0"/>
              <a:t>The final multiplication (in iteration 4) must wait for earlier iterations to complete</a:t>
            </a:r>
          </a:p>
          <a:p>
            <a:pPr lvl="1"/>
            <a:r>
              <a:rPr lang="en-US" sz="1900" dirty="0"/>
              <a:t>The structure of the code is forcing a particular schedule </a:t>
            </a:r>
          </a:p>
          <a:p>
            <a:pPr lvl="2"/>
            <a:r>
              <a:rPr lang="en-US" sz="1700" dirty="0"/>
              <a:t>There is little mobility for most operations</a:t>
            </a:r>
          </a:p>
          <a:p>
            <a:pPr lvl="1"/>
            <a:r>
              <a:rPr lang="en-US" sz="1900" dirty="0"/>
              <a:t>Optimizations allow loops to be unrolled giving greater freedom</a:t>
            </a:r>
            <a:endParaRPr lang="en-US" dirty="0"/>
          </a:p>
          <a:p>
            <a:pPr lvl="2"/>
            <a:endParaRPr lang="en-US" dirty="0"/>
          </a:p>
        </p:txBody>
      </p:sp>
      <p:sp>
        <p:nvSpPr>
          <p:cNvPr id="4" name="Slide Number Placeholder 3">
            <a:extLst>
              <a:ext uri="{FF2B5EF4-FFF2-40B4-BE49-F238E27FC236}">
                <a16:creationId xmlns:a16="http://schemas.microsoft.com/office/drawing/2014/main" id="{8683710A-9B6D-4276-ADE9-569CB11B30FB}"/>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25</a:t>
            </a:fld>
            <a:endParaRPr lang="en-US" dirty="0"/>
          </a:p>
        </p:txBody>
      </p:sp>
      <p:sp>
        <p:nvSpPr>
          <p:cNvPr id="114" name="TextBox 113">
            <a:extLst>
              <a:ext uri="{FF2B5EF4-FFF2-40B4-BE49-F238E27FC236}">
                <a16:creationId xmlns:a16="http://schemas.microsoft.com/office/drawing/2014/main" id="{EE042BBD-E955-47C0-BACA-CE31B4821CCB}"/>
              </a:ext>
            </a:extLst>
          </p:cNvPr>
          <p:cNvSpPr txBox="1"/>
          <p:nvPr/>
        </p:nvSpPr>
        <p:spPr>
          <a:xfrm>
            <a:off x="259961" y="1432094"/>
            <a:ext cx="3532340" cy="224676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117" name="Rectangle 116">
            <a:extLst>
              <a:ext uri="{FF2B5EF4-FFF2-40B4-BE49-F238E27FC236}">
                <a16:creationId xmlns:a16="http://schemas.microsoft.com/office/drawing/2014/main" id="{907D6AD9-6180-4EAF-A3E6-502DBC5B5FB4}"/>
              </a:ext>
            </a:extLst>
          </p:cNvPr>
          <p:cNvSpPr/>
          <p:nvPr/>
        </p:nvSpPr>
        <p:spPr>
          <a:xfrm>
            <a:off x="5532977" y="206570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C1A6576E-CDD2-47D6-B24B-4932C16C9AC5}"/>
              </a:ext>
            </a:extLst>
          </p:cNvPr>
          <p:cNvSpPr/>
          <p:nvPr/>
        </p:nvSpPr>
        <p:spPr>
          <a:xfrm>
            <a:off x="440672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0" name="Rectangle 119">
            <a:extLst>
              <a:ext uri="{FF2B5EF4-FFF2-40B4-BE49-F238E27FC236}">
                <a16:creationId xmlns:a16="http://schemas.microsoft.com/office/drawing/2014/main" id="{786E0012-8F77-4B96-B5D7-4C6892A4E8B5}"/>
              </a:ext>
            </a:extLst>
          </p:cNvPr>
          <p:cNvSpPr/>
          <p:nvPr/>
        </p:nvSpPr>
        <p:spPr>
          <a:xfrm>
            <a:off x="4406724" y="206570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81D45D4D-8FE4-426E-A822-392C78CBB808}"/>
              </a:ext>
            </a:extLst>
          </p:cNvPr>
          <p:cNvSpPr/>
          <p:nvPr/>
        </p:nvSpPr>
        <p:spPr>
          <a:xfrm>
            <a:off x="5530551"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22" name="Rectangle 121">
            <a:extLst>
              <a:ext uri="{FF2B5EF4-FFF2-40B4-BE49-F238E27FC236}">
                <a16:creationId xmlns:a16="http://schemas.microsoft.com/office/drawing/2014/main" id="{84CA332E-A8DD-4727-82D9-E042D362FEE0}"/>
              </a:ext>
            </a:extLst>
          </p:cNvPr>
          <p:cNvSpPr/>
          <p:nvPr/>
        </p:nvSpPr>
        <p:spPr>
          <a:xfrm>
            <a:off x="10037990" y="206570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3" name="Rectangle 122">
            <a:extLst>
              <a:ext uri="{FF2B5EF4-FFF2-40B4-BE49-F238E27FC236}">
                <a16:creationId xmlns:a16="http://schemas.microsoft.com/office/drawing/2014/main" id="{210E93E5-96BE-4033-A071-BCA5C9B91228}"/>
              </a:ext>
            </a:extLst>
          </p:cNvPr>
          <p:cNvSpPr/>
          <p:nvPr/>
        </p:nvSpPr>
        <p:spPr>
          <a:xfrm>
            <a:off x="496985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25" name="Group 71">
            <a:extLst>
              <a:ext uri="{FF2B5EF4-FFF2-40B4-BE49-F238E27FC236}">
                <a16:creationId xmlns:a16="http://schemas.microsoft.com/office/drawing/2014/main" id="{7B650229-074F-4580-960D-71FB11FB94DA}"/>
              </a:ext>
            </a:extLst>
          </p:cNvPr>
          <p:cNvGrpSpPr/>
          <p:nvPr/>
        </p:nvGrpSpPr>
        <p:grpSpPr>
          <a:xfrm>
            <a:off x="4406623" y="1643094"/>
            <a:ext cx="563125" cy="115214"/>
            <a:chOff x="-66694" y="1130300"/>
            <a:chExt cx="533401" cy="228600"/>
          </a:xfrm>
          <a:effectLst>
            <a:outerShdw blurRad="50800" dist="38100" dir="2700000" algn="tl" rotWithShape="0">
              <a:prstClr val="black">
                <a:alpha val="40000"/>
              </a:prstClr>
            </a:outerShdw>
          </a:effectLst>
        </p:grpSpPr>
        <p:cxnSp>
          <p:nvCxnSpPr>
            <p:cNvPr id="126" name="Straight Connector 125">
              <a:extLst>
                <a:ext uri="{FF2B5EF4-FFF2-40B4-BE49-F238E27FC236}">
                  <a16:creationId xmlns:a16="http://schemas.microsoft.com/office/drawing/2014/main" id="{403F9FB8-C11C-4607-9A4A-EF6F70BAA3C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913DF008-6341-42DF-B797-67A08DBFE6D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9" name="Straight Connector 128">
              <a:extLst>
                <a:ext uri="{FF2B5EF4-FFF2-40B4-BE49-F238E27FC236}">
                  <a16:creationId xmlns:a16="http://schemas.microsoft.com/office/drawing/2014/main" id="{B7C1EE4C-1429-432B-B650-7FB535902B9A}"/>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0" name="Straight Connector 129">
              <a:extLst>
                <a:ext uri="{FF2B5EF4-FFF2-40B4-BE49-F238E27FC236}">
                  <a16:creationId xmlns:a16="http://schemas.microsoft.com/office/drawing/2014/main" id="{B4C52B33-072B-46BA-8893-15DC3866D14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1" name="Group 71">
            <a:extLst>
              <a:ext uri="{FF2B5EF4-FFF2-40B4-BE49-F238E27FC236}">
                <a16:creationId xmlns:a16="http://schemas.microsoft.com/office/drawing/2014/main" id="{7415A96D-2E4D-4F31-8382-72DF25414F47}"/>
              </a:ext>
            </a:extLst>
          </p:cNvPr>
          <p:cNvGrpSpPr/>
          <p:nvPr/>
        </p:nvGrpSpPr>
        <p:grpSpPr>
          <a:xfrm>
            <a:off x="4969747" y="1643095"/>
            <a:ext cx="563125" cy="115214"/>
            <a:chOff x="-66694" y="1130300"/>
            <a:chExt cx="533401" cy="228600"/>
          </a:xfrm>
          <a:effectLst>
            <a:outerShdw blurRad="50800" dist="38100" dir="2700000" algn="tl" rotWithShape="0">
              <a:prstClr val="black">
                <a:alpha val="40000"/>
              </a:prstClr>
            </a:outerShdw>
          </a:effectLst>
        </p:grpSpPr>
        <p:cxnSp>
          <p:nvCxnSpPr>
            <p:cNvPr id="132" name="Straight Connector 131">
              <a:extLst>
                <a:ext uri="{FF2B5EF4-FFF2-40B4-BE49-F238E27FC236}">
                  <a16:creationId xmlns:a16="http://schemas.microsoft.com/office/drawing/2014/main" id="{05568629-8119-402B-965D-29AF3640AFCF}"/>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3" name="Straight Connector 132">
              <a:extLst>
                <a:ext uri="{FF2B5EF4-FFF2-40B4-BE49-F238E27FC236}">
                  <a16:creationId xmlns:a16="http://schemas.microsoft.com/office/drawing/2014/main" id="{DA82EB23-11E8-45C2-83D7-AD567F8574D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4" name="Straight Connector 133">
              <a:extLst>
                <a:ext uri="{FF2B5EF4-FFF2-40B4-BE49-F238E27FC236}">
                  <a16:creationId xmlns:a16="http://schemas.microsoft.com/office/drawing/2014/main" id="{18EBD700-713C-4164-981C-3A7CB66CBA0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5" name="Straight Connector 134">
              <a:extLst>
                <a:ext uri="{FF2B5EF4-FFF2-40B4-BE49-F238E27FC236}">
                  <a16:creationId xmlns:a16="http://schemas.microsoft.com/office/drawing/2014/main" id="{7F288BFD-92A9-4707-BC45-8AE4CFBE0270}"/>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6" name="Group 71">
            <a:extLst>
              <a:ext uri="{FF2B5EF4-FFF2-40B4-BE49-F238E27FC236}">
                <a16:creationId xmlns:a16="http://schemas.microsoft.com/office/drawing/2014/main" id="{CB6964FC-D2E4-4155-A29F-02A004501158}"/>
              </a:ext>
            </a:extLst>
          </p:cNvPr>
          <p:cNvGrpSpPr/>
          <p:nvPr/>
        </p:nvGrpSpPr>
        <p:grpSpPr>
          <a:xfrm>
            <a:off x="5532871" y="1643096"/>
            <a:ext cx="563125" cy="115214"/>
            <a:chOff x="-66694" y="1130300"/>
            <a:chExt cx="533401" cy="228600"/>
          </a:xfrm>
          <a:solidFill>
            <a:srgbClr val="92D050"/>
          </a:solidFill>
          <a:effectLst>
            <a:outerShdw blurRad="50800" dist="38100" dir="2700000" algn="tl" rotWithShape="0">
              <a:prstClr val="black">
                <a:alpha val="40000"/>
              </a:prstClr>
            </a:outerShdw>
          </a:effectLst>
        </p:grpSpPr>
        <p:cxnSp>
          <p:nvCxnSpPr>
            <p:cNvPr id="137" name="Straight Connector 136">
              <a:extLst>
                <a:ext uri="{FF2B5EF4-FFF2-40B4-BE49-F238E27FC236}">
                  <a16:creationId xmlns:a16="http://schemas.microsoft.com/office/drawing/2014/main" id="{938FE348-3A99-406C-BBCE-50DC3ED9A455}"/>
                </a:ext>
              </a:extLst>
            </p:cNvPr>
            <p:cNvCxnSpPr/>
            <p:nvPr/>
          </p:nvCxnSpPr>
          <p:spPr>
            <a:xfrm>
              <a:off x="-66693" y="1130300"/>
              <a:ext cx="2667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8" name="Straight Connector 137">
              <a:extLst>
                <a:ext uri="{FF2B5EF4-FFF2-40B4-BE49-F238E27FC236}">
                  <a16:creationId xmlns:a16="http://schemas.microsoft.com/office/drawing/2014/main" id="{F5257EE2-12FA-4180-8D79-38DD3B4B8918}"/>
                </a:ext>
              </a:extLst>
            </p:cNvPr>
            <p:cNvCxnSpPr/>
            <p:nvPr/>
          </p:nvCxnSpPr>
          <p:spPr>
            <a:xfrm rot="5400000">
              <a:off x="85707" y="1244600"/>
              <a:ext cx="2286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9" name="Straight Connector 138">
              <a:extLst>
                <a:ext uri="{FF2B5EF4-FFF2-40B4-BE49-F238E27FC236}">
                  <a16:creationId xmlns:a16="http://schemas.microsoft.com/office/drawing/2014/main" id="{F673DACD-77E3-4A8F-A99D-C90FC2CB8486}"/>
                </a:ext>
              </a:extLst>
            </p:cNvPr>
            <p:cNvCxnSpPr/>
            <p:nvPr/>
          </p:nvCxnSpPr>
          <p:spPr>
            <a:xfrm rot="5400000">
              <a:off x="-180994" y="1244600"/>
              <a:ext cx="2286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0" name="Straight Connector 139">
              <a:extLst>
                <a:ext uri="{FF2B5EF4-FFF2-40B4-BE49-F238E27FC236}">
                  <a16:creationId xmlns:a16="http://schemas.microsoft.com/office/drawing/2014/main" id="{65559B05-66F8-4C0C-BF3C-DB976172E7D4}"/>
                </a:ext>
              </a:extLst>
            </p:cNvPr>
            <p:cNvCxnSpPr/>
            <p:nvPr/>
          </p:nvCxnSpPr>
          <p:spPr>
            <a:xfrm>
              <a:off x="200007" y="1358900"/>
              <a:ext cx="2667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41" name="Rectangle 140">
            <a:extLst>
              <a:ext uri="{FF2B5EF4-FFF2-40B4-BE49-F238E27FC236}">
                <a16:creationId xmlns:a16="http://schemas.microsoft.com/office/drawing/2014/main" id="{44CEC109-97FD-4FA7-A848-4A8BE75E4F83}"/>
              </a:ext>
            </a:extLst>
          </p:cNvPr>
          <p:cNvSpPr/>
          <p:nvPr/>
        </p:nvSpPr>
        <p:spPr>
          <a:xfrm>
            <a:off x="7222364" y="206569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2" name="Rectangle 141">
            <a:extLst>
              <a:ext uri="{FF2B5EF4-FFF2-40B4-BE49-F238E27FC236}">
                <a16:creationId xmlns:a16="http://schemas.microsoft.com/office/drawing/2014/main" id="{C1496333-192C-4051-B31E-C8481091EB31}"/>
              </a:ext>
            </a:extLst>
          </p:cNvPr>
          <p:cNvSpPr/>
          <p:nvPr/>
        </p:nvSpPr>
        <p:spPr>
          <a:xfrm>
            <a:off x="609611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3" name="Rectangle 142">
            <a:extLst>
              <a:ext uri="{FF2B5EF4-FFF2-40B4-BE49-F238E27FC236}">
                <a16:creationId xmlns:a16="http://schemas.microsoft.com/office/drawing/2014/main" id="{B47B0FB5-B14B-42CA-9C72-D60142941598}"/>
              </a:ext>
            </a:extLst>
          </p:cNvPr>
          <p:cNvSpPr/>
          <p:nvPr/>
        </p:nvSpPr>
        <p:spPr>
          <a:xfrm>
            <a:off x="6096110" y="206569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4" name="Rectangle 143">
            <a:extLst>
              <a:ext uri="{FF2B5EF4-FFF2-40B4-BE49-F238E27FC236}">
                <a16:creationId xmlns:a16="http://schemas.microsoft.com/office/drawing/2014/main" id="{485F20E2-D23D-4680-AAFE-5B3262339C0C}"/>
              </a:ext>
            </a:extLst>
          </p:cNvPr>
          <p:cNvSpPr/>
          <p:nvPr/>
        </p:nvSpPr>
        <p:spPr>
          <a:xfrm>
            <a:off x="7219938"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45" name="Rectangle 144">
            <a:extLst>
              <a:ext uri="{FF2B5EF4-FFF2-40B4-BE49-F238E27FC236}">
                <a16:creationId xmlns:a16="http://schemas.microsoft.com/office/drawing/2014/main" id="{A0C8B3F9-0F9E-44E0-A1E9-ACE21CDD828A}"/>
              </a:ext>
            </a:extLst>
          </p:cNvPr>
          <p:cNvSpPr/>
          <p:nvPr/>
        </p:nvSpPr>
        <p:spPr>
          <a:xfrm>
            <a:off x="665923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46" name="Group 71">
            <a:extLst>
              <a:ext uri="{FF2B5EF4-FFF2-40B4-BE49-F238E27FC236}">
                <a16:creationId xmlns:a16="http://schemas.microsoft.com/office/drawing/2014/main" id="{1931A235-164F-4341-BB51-04E1517069B8}"/>
              </a:ext>
            </a:extLst>
          </p:cNvPr>
          <p:cNvGrpSpPr/>
          <p:nvPr/>
        </p:nvGrpSpPr>
        <p:grpSpPr>
          <a:xfrm>
            <a:off x="6096008" y="1643093"/>
            <a:ext cx="563125" cy="115214"/>
            <a:chOff x="-66694" y="1130300"/>
            <a:chExt cx="533401" cy="228600"/>
          </a:xfrm>
          <a:effectLst>
            <a:outerShdw blurRad="50800" dist="38100" dir="2700000" algn="tl" rotWithShape="0">
              <a:prstClr val="black">
                <a:alpha val="40000"/>
              </a:prstClr>
            </a:outerShdw>
          </a:effectLst>
        </p:grpSpPr>
        <p:cxnSp>
          <p:nvCxnSpPr>
            <p:cNvPr id="147" name="Straight Connector 146">
              <a:extLst>
                <a:ext uri="{FF2B5EF4-FFF2-40B4-BE49-F238E27FC236}">
                  <a16:creationId xmlns:a16="http://schemas.microsoft.com/office/drawing/2014/main" id="{B5029F70-9A63-4157-8136-7C2A4109B59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8" name="Straight Connector 147">
              <a:extLst>
                <a:ext uri="{FF2B5EF4-FFF2-40B4-BE49-F238E27FC236}">
                  <a16:creationId xmlns:a16="http://schemas.microsoft.com/office/drawing/2014/main" id="{1D042C0A-82FB-4C03-94FB-8C730F7C810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9" name="Straight Connector 148">
              <a:extLst>
                <a:ext uri="{FF2B5EF4-FFF2-40B4-BE49-F238E27FC236}">
                  <a16:creationId xmlns:a16="http://schemas.microsoft.com/office/drawing/2014/main" id="{E67C218C-7872-4ED6-AA17-24EA20F84FC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0" name="Straight Connector 149">
              <a:extLst>
                <a:ext uri="{FF2B5EF4-FFF2-40B4-BE49-F238E27FC236}">
                  <a16:creationId xmlns:a16="http://schemas.microsoft.com/office/drawing/2014/main" id="{AE0AF191-BBCC-4FBC-B7C9-560956FCEFC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1" name="Group 71">
            <a:extLst>
              <a:ext uri="{FF2B5EF4-FFF2-40B4-BE49-F238E27FC236}">
                <a16:creationId xmlns:a16="http://schemas.microsoft.com/office/drawing/2014/main" id="{B91EDCF9-76E1-4C7B-B4C7-2AABF594368C}"/>
              </a:ext>
            </a:extLst>
          </p:cNvPr>
          <p:cNvGrpSpPr/>
          <p:nvPr/>
        </p:nvGrpSpPr>
        <p:grpSpPr>
          <a:xfrm>
            <a:off x="6659132" y="1643094"/>
            <a:ext cx="563125" cy="115214"/>
            <a:chOff x="-66694" y="1130300"/>
            <a:chExt cx="533401" cy="228600"/>
          </a:xfrm>
          <a:effectLst>
            <a:outerShdw blurRad="50800" dist="38100" dir="2700000" algn="tl" rotWithShape="0">
              <a:prstClr val="black">
                <a:alpha val="40000"/>
              </a:prstClr>
            </a:outerShdw>
          </a:effectLst>
        </p:grpSpPr>
        <p:cxnSp>
          <p:nvCxnSpPr>
            <p:cNvPr id="152" name="Straight Connector 151">
              <a:extLst>
                <a:ext uri="{FF2B5EF4-FFF2-40B4-BE49-F238E27FC236}">
                  <a16:creationId xmlns:a16="http://schemas.microsoft.com/office/drawing/2014/main" id="{E47F549B-2F0E-4A92-A4C1-284E924E339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3" name="Straight Connector 152">
              <a:extLst>
                <a:ext uri="{FF2B5EF4-FFF2-40B4-BE49-F238E27FC236}">
                  <a16:creationId xmlns:a16="http://schemas.microsoft.com/office/drawing/2014/main" id="{ABF627C0-96AD-4138-A65B-3EF7D36236C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4" name="Straight Connector 153">
              <a:extLst>
                <a:ext uri="{FF2B5EF4-FFF2-40B4-BE49-F238E27FC236}">
                  <a16:creationId xmlns:a16="http://schemas.microsoft.com/office/drawing/2014/main" id="{6E2F4914-EB43-467E-BD67-BCD81EDEF0C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5" name="Straight Connector 154">
              <a:extLst>
                <a:ext uri="{FF2B5EF4-FFF2-40B4-BE49-F238E27FC236}">
                  <a16:creationId xmlns:a16="http://schemas.microsoft.com/office/drawing/2014/main" id="{12793C84-B678-4E32-8A7F-C6B564D33D8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6" name="Group 71">
            <a:extLst>
              <a:ext uri="{FF2B5EF4-FFF2-40B4-BE49-F238E27FC236}">
                <a16:creationId xmlns:a16="http://schemas.microsoft.com/office/drawing/2014/main" id="{88296FF0-D5B5-409F-A738-7D37DD308131}"/>
              </a:ext>
            </a:extLst>
          </p:cNvPr>
          <p:cNvGrpSpPr/>
          <p:nvPr/>
        </p:nvGrpSpPr>
        <p:grpSpPr>
          <a:xfrm>
            <a:off x="7222256" y="1643095"/>
            <a:ext cx="563125" cy="115214"/>
            <a:chOff x="-66694" y="1130300"/>
            <a:chExt cx="533401" cy="228600"/>
          </a:xfrm>
          <a:effectLst>
            <a:outerShdw blurRad="50800" dist="38100" dir="2700000" algn="tl" rotWithShape="0">
              <a:prstClr val="black">
                <a:alpha val="40000"/>
              </a:prstClr>
            </a:outerShdw>
          </a:effectLst>
        </p:grpSpPr>
        <p:cxnSp>
          <p:nvCxnSpPr>
            <p:cNvPr id="157" name="Straight Connector 156">
              <a:extLst>
                <a:ext uri="{FF2B5EF4-FFF2-40B4-BE49-F238E27FC236}">
                  <a16:creationId xmlns:a16="http://schemas.microsoft.com/office/drawing/2014/main" id="{9E35FE04-8F1A-46A9-A34B-5B398426436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8" name="Straight Connector 157">
              <a:extLst>
                <a:ext uri="{FF2B5EF4-FFF2-40B4-BE49-F238E27FC236}">
                  <a16:creationId xmlns:a16="http://schemas.microsoft.com/office/drawing/2014/main" id="{E0824726-9016-4C8D-92E6-96BC9DEE15F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9" name="Straight Connector 158">
              <a:extLst>
                <a:ext uri="{FF2B5EF4-FFF2-40B4-BE49-F238E27FC236}">
                  <a16:creationId xmlns:a16="http://schemas.microsoft.com/office/drawing/2014/main" id="{27ECE815-60B6-4129-B530-31BA41B1D8C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0" name="Straight Connector 159">
              <a:extLst>
                <a:ext uri="{FF2B5EF4-FFF2-40B4-BE49-F238E27FC236}">
                  <a16:creationId xmlns:a16="http://schemas.microsoft.com/office/drawing/2014/main" id="{0C709F11-2884-442D-B126-A8B42E01027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61" name="Rectangle 160">
            <a:extLst>
              <a:ext uri="{FF2B5EF4-FFF2-40B4-BE49-F238E27FC236}">
                <a16:creationId xmlns:a16="http://schemas.microsoft.com/office/drawing/2014/main" id="{FB47F75A-79FF-4E03-A4C5-5C5B220B2350}"/>
              </a:ext>
            </a:extLst>
          </p:cNvPr>
          <p:cNvSpPr/>
          <p:nvPr/>
        </p:nvSpPr>
        <p:spPr>
          <a:xfrm>
            <a:off x="8911750" y="206569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2" name="Rectangle 161">
            <a:extLst>
              <a:ext uri="{FF2B5EF4-FFF2-40B4-BE49-F238E27FC236}">
                <a16:creationId xmlns:a16="http://schemas.microsoft.com/office/drawing/2014/main" id="{C6DD5875-EC4D-4764-9ECE-22E186E70831}"/>
              </a:ext>
            </a:extLst>
          </p:cNvPr>
          <p:cNvSpPr/>
          <p:nvPr/>
        </p:nvSpPr>
        <p:spPr>
          <a:xfrm>
            <a:off x="778549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3" name="Rectangle 162">
            <a:extLst>
              <a:ext uri="{FF2B5EF4-FFF2-40B4-BE49-F238E27FC236}">
                <a16:creationId xmlns:a16="http://schemas.microsoft.com/office/drawing/2014/main" id="{498E01C1-7E3A-4B6D-AE4A-9BE44B70D903}"/>
              </a:ext>
            </a:extLst>
          </p:cNvPr>
          <p:cNvSpPr/>
          <p:nvPr/>
        </p:nvSpPr>
        <p:spPr>
          <a:xfrm>
            <a:off x="7785497" y="206569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4" name="Rectangle 163">
            <a:extLst>
              <a:ext uri="{FF2B5EF4-FFF2-40B4-BE49-F238E27FC236}">
                <a16:creationId xmlns:a16="http://schemas.microsoft.com/office/drawing/2014/main" id="{81C4F368-E01B-4834-9107-0D09B45E5166}"/>
              </a:ext>
            </a:extLst>
          </p:cNvPr>
          <p:cNvSpPr/>
          <p:nvPr/>
        </p:nvSpPr>
        <p:spPr>
          <a:xfrm>
            <a:off x="890932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65" name="Rectangle 164">
            <a:extLst>
              <a:ext uri="{FF2B5EF4-FFF2-40B4-BE49-F238E27FC236}">
                <a16:creationId xmlns:a16="http://schemas.microsoft.com/office/drawing/2014/main" id="{B100EE40-91F0-4DD7-8EC0-1A8E1D79A4F4}"/>
              </a:ext>
            </a:extLst>
          </p:cNvPr>
          <p:cNvSpPr/>
          <p:nvPr/>
        </p:nvSpPr>
        <p:spPr>
          <a:xfrm>
            <a:off x="834862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grpSp>
        <p:nvGrpSpPr>
          <p:cNvPr id="166" name="Group 71">
            <a:extLst>
              <a:ext uri="{FF2B5EF4-FFF2-40B4-BE49-F238E27FC236}">
                <a16:creationId xmlns:a16="http://schemas.microsoft.com/office/drawing/2014/main" id="{9FFA950B-F1E7-47EE-A4D2-76DBCA710220}"/>
              </a:ext>
            </a:extLst>
          </p:cNvPr>
          <p:cNvGrpSpPr/>
          <p:nvPr/>
        </p:nvGrpSpPr>
        <p:grpSpPr>
          <a:xfrm>
            <a:off x="7785395" y="1643092"/>
            <a:ext cx="563125" cy="115214"/>
            <a:chOff x="-66694" y="1130300"/>
            <a:chExt cx="533401" cy="228600"/>
          </a:xfrm>
          <a:effectLst>
            <a:outerShdw blurRad="50800" dist="38100" dir="2700000" algn="tl" rotWithShape="0">
              <a:prstClr val="black">
                <a:alpha val="40000"/>
              </a:prstClr>
            </a:outerShdw>
          </a:effectLst>
        </p:grpSpPr>
        <p:cxnSp>
          <p:nvCxnSpPr>
            <p:cNvPr id="167" name="Straight Connector 166">
              <a:extLst>
                <a:ext uri="{FF2B5EF4-FFF2-40B4-BE49-F238E27FC236}">
                  <a16:creationId xmlns:a16="http://schemas.microsoft.com/office/drawing/2014/main" id="{B79285C2-4CB9-41F0-A238-3A58460F4CC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8" name="Straight Connector 167">
              <a:extLst>
                <a:ext uri="{FF2B5EF4-FFF2-40B4-BE49-F238E27FC236}">
                  <a16:creationId xmlns:a16="http://schemas.microsoft.com/office/drawing/2014/main" id="{6251DBCD-A251-4576-B915-15582A42397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9" name="Straight Connector 168">
              <a:extLst>
                <a:ext uri="{FF2B5EF4-FFF2-40B4-BE49-F238E27FC236}">
                  <a16:creationId xmlns:a16="http://schemas.microsoft.com/office/drawing/2014/main" id="{B9CBB749-A940-428C-BF47-9693C056F44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0" name="Straight Connector 169">
              <a:extLst>
                <a:ext uri="{FF2B5EF4-FFF2-40B4-BE49-F238E27FC236}">
                  <a16:creationId xmlns:a16="http://schemas.microsoft.com/office/drawing/2014/main" id="{DDCB256F-E13E-48F6-9186-C7E935B290A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1" name="Group 71">
            <a:extLst>
              <a:ext uri="{FF2B5EF4-FFF2-40B4-BE49-F238E27FC236}">
                <a16:creationId xmlns:a16="http://schemas.microsoft.com/office/drawing/2014/main" id="{6B807D3D-3517-4D46-9F09-55AB69B4AC42}"/>
              </a:ext>
            </a:extLst>
          </p:cNvPr>
          <p:cNvGrpSpPr/>
          <p:nvPr/>
        </p:nvGrpSpPr>
        <p:grpSpPr>
          <a:xfrm>
            <a:off x="8348519" y="1643093"/>
            <a:ext cx="563125" cy="115214"/>
            <a:chOff x="-66694" y="1130300"/>
            <a:chExt cx="533401" cy="228600"/>
          </a:xfrm>
          <a:effectLst>
            <a:outerShdw blurRad="50800" dist="38100" dir="2700000" algn="tl" rotWithShape="0">
              <a:prstClr val="black">
                <a:alpha val="40000"/>
              </a:prstClr>
            </a:outerShdw>
          </a:effectLst>
        </p:grpSpPr>
        <p:cxnSp>
          <p:nvCxnSpPr>
            <p:cNvPr id="172" name="Straight Connector 171">
              <a:extLst>
                <a:ext uri="{FF2B5EF4-FFF2-40B4-BE49-F238E27FC236}">
                  <a16:creationId xmlns:a16="http://schemas.microsoft.com/office/drawing/2014/main" id="{4659033E-1C1F-4BF5-ABD1-102F4840B19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3" name="Straight Connector 172">
              <a:extLst>
                <a:ext uri="{FF2B5EF4-FFF2-40B4-BE49-F238E27FC236}">
                  <a16:creationId xmlns:a16="http://schemas.microsoft.com/office/drawing/2014/main" id="{DFA79A6E-C700-4879-A6B8-DBDDA52FE67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4" name="Straight Connector 173">
              <a:extLst>
                <a:ext uri="{FF2B5EF4-FFF2-40B4-BE49-F238E27FC236}">
                  <a16:creationId xmlns:a16="http://schemas.microsoft.com/office/drawing/2014/main" id="{F01AFC12-C2B7-410F-8ECF-27BC0A36454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5" name="Straight Connector 174">
              <a:extLst>
                <a:ext uri="{FF2B5EF4-FFF2-40B4-BE49-F238E27FC236}">
                  <a16:creationId xmlns:a16="http://schemas.microsoft.com/office/drawing/2014/main" id="{3D1D4856-CD44-4166-86B9-2DE3D4D4242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6" name="Group 71">
            <a:extLst>
              <a:ext uri="{FF2B5EF4-FFF2-40B4-BE49-F238E27FC236}">
                <a16:creationId xmlns:a16="http://schemas.microsoft.com/office/drawing/2014/main" id="{56C244DB-28CF-4BB4-870D-0F7EEC6DC0FB}"/>
              </a:ext>
            </a:extLst>
          </p:cNvPr>
          <p:cNvGrpSpPr/>
          <p:nvPr/>
        </p:nvGrpSpPr>
        <p:grpSpPr>
          <a:xfrm>
            <a:off x="8911643" y="1643094"/>
            <a:ext cx="563125" cy="115214"/>
            <a:chOff x="-66694" y="1130300"/>
            <a:chExt cx="533401" cy="228600"/>
          </a:xfrm>
          <a:effectLst>
            <a:outerShdw blurRad="50800" dist="38100" dir="2700000" algn="tl" rotWithShape="0">
              <a:prstClr val="black">
                <a:alpha val="40000"/>
              </a:prstClr>
            </a:outerShdw>
          </a:effectLst>
        </p:grpSpPr>
        <p:cxnSp>
          <p:nvCxnSpPr>
            <p:cNvPr id="177" name="Straight Connector 176">
              <a:extLst>
                <a:ext uri="{FF2B5EF4-FFF2-40B4-BE49-F238E27FC236}">
                  <a16:creationId xmlns:a16="http://schemas.microsoft.com/office/drawing/2014/main" id="{71F3C069-5F6E-4F7C-A58B-DC67F9E356B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8" name="Straight Connector 177">
              <a:extLst>
                <a:ext uri="{FF2B5EF4-FFF2-40B4-BE49-F238E27FC236}">
                  <a16:creationId xmlns:a16="http://schemas.microsoft.com/office/drawing/2014/main" id="{F73270B9-CDCC-4C8C-9DF1-35E6750E81E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9" name="Straight Connector 178">
              <a:extLst>
                <a:ext uri="{FF2B5EF4-FFF2-40B4-BE49-F238E27FC236}">
                  <a16:creationId xmlns:a16="http://schemas.microsoft.com/office/drawing/2014/main" id="{4160874F-8A01-40CB-B5C6-5D68D59CECF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0" name="Straight Connector 179">
              <a:extLst>
                <a:ext uri="{FF2B5EF4-FFF2-40B4-BE49-F238E27FC236}">
                  <a16:creationId xmlns:a16="http://schemas.microsoft.com/office/drawing/2014/main" id="{A465D585-509D-40F8-A5AC-9BF8224A48F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81" name="Rectangle 180">
            <a:extLst>
              <a:ext uri="{FF2B5EF4-FFF2-40B4-BE49-F238E27FC236}">
                <a16:creationId xmlns:a16="http://schemas.microsoft.com/office/drawing/2014/main" id="{179B9633-C4E0-4E9D-A0B2-C6926545B8FB}"/>
              </a:ext>
            </a:extLst>
          </p:cNvPr>
          <p:cNvSpPr/>
          <p:nvPr/>
        </p:nvSpPr>
        <p:spPr>
          <a:xfrm>
            <a:off x="10601137" y="206569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2" name="Rectangle 181">
            <a:extLst>
              <a:ext uri="{FF2B5EF4-FFF2-40B4-BE49-F238E27FC236}">
                <a16:creationId xmlns:a16="http://schemas.microsoft.com/office/drawing/2014/main" id="{C5652AA3-D52A-4EF5-8C43-6BB3151B334A}"/>
              </a:ext>
            </a:extLst>
          </p:cNvPr>
          <p:cNvSpPr/>
          <p:nvPr/>
        </p:nvSpPr>
        <p:spPr>
          <a:xfrm>
            <a:off x="947488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3" name="Rectangle 182">
            <a:extLst>
              <a:ext uri="{FF2B5EF4-FFF2-40B4-BE49-F238E27FC236}">
                <a16:creationId xmlns:a16="http://schemas.microsoft.com/office/drawing/2014/main" id="{4B66E073-3C68-49E4-BBA0-019EE4DFE339}"/>
              </a:ext>
            </a:extLst>
          </p:cNvPr>
          <p:cNvSpPr/>
          <p:nvPr/>
        </p:nvSpPr>
        <p:spPr>
          <a:xfrm>
            <a:off x="9474884" y="206569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4" name="Rectangle 183">
            <a:extLst>
              <a:ext uri="{FF2B5EF4-FFF2-40B4-BE49-F238E27FC236}">
                <a16:creationId xmlns:a16="http://schemas.microsoft.com/office/drawing/2014/main" id="{05E33A51-CBFC-4589-AA51-F008C4DE9B08}"/>
              </a:ext>
            </a:extLst>
          </p:cNvPr>
          <p:cNvSpPr/>
          <p:nvPr/>
        </p:nvSpPr>
        <p:spPr>
          <a:xfrm>
            <a:off x="10598711"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85" name="Rectangle 184">
            <a:extLst>
              <a:ext uri="{FF2B5EF4-FFF2-40B4-BE49-F238E27FC236}">
                <a16:creationId xmlns:a16="http://schemas.microsoft.com/office/drawing/2014/main" id="{E18C374C-FA36-4155-B4AB-9332F9EFA3FC}"/>
              </a:ext>
            </a:extLst>
          </p:cNvPr>
          <p:cNvSpPr/>
          <p:nvPr/>
        </p:nvSpPr>
        <p:spPr>
          <a:xfrm>
            <a:off x="10038010" y="1835120"/>
            <a:ext cx="514339" cy="192025"/>
          </a:xfrm>
          <a:prstGeom prst="rect">
            <a:avLst/>
          </a:prstGeom>
          <a:solidFill>
            <a:srgbClr val="EE3424">
              <a:lumMod val="60000"/>
              <a:lumOff val="40000"/>
            </a:srgbClr>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86" name="Group 71">
            <a:extLst>
              <a:ext uri="{FF2B5EF4-FFF2-40B4-BE49-F238E27FC236}">
                <a16:creationId xmlns:a16="http://schemas.microsoft.com/office/drawing/2014/main" id="{B3258620-727A-4C16-BBFF-BC6AC50F556F}"/>
              </a:ext>
            </a:extLst>
          </p:cNvPr>
          <p:cNvGrpSpPr/>
          <p:nvPr/>
        </p:nvGrpSpPr>
        <p:grpSpPr>
          <a:xfrm>
            <a:off x="9474783" y="1643091"/>
            <a:ext cx="563125" cy="115214"/>
            <a:chOff x="-66694" y="1130300"/>
            <a:chExt cx="533401" cy="228600"/>
          </a:xfrm>
          <a:effectLst>
            <a:outerShdw blurRad="50800" dist="38100" dir="2700000" algn="tl" rotWithShape="0">
              <a:prstClr val="black">
                <a:alpha val="40000"/>
              </a:prstClr>
            </a:outerShdw>
          </a:effectLst>
        </p:grpSpPr>
        <p:cxnSp>
          <p:nvCxnSpPr>
            <p:cNvPr id="187" name="Straight Connector 186">
              <a:extLst>
                <a:ext uri="{FF2B5EF4-FFF2-40B4-BE49-F238E27FC236}">
                  <a16:creationId xmlns:a16="http://schemas.microsoft.com/office/drawing/2014/main" id="{B4D13470-F213-4AE8-BF28-CFD52BE83D3F}"/>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8" name="Straight Connector 187">
              <a:extLst>
                <a:ext uri="{FF2B5EF4-FFF2-40B4-BE49-F238E27FC236}">
                  <a16:creationId xmlns:a16="http://schemas.microsoft.com/office/drawing/2014/main" id="{194512AD-3CB8-4CEC-B89A-425BF45C5C0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9" name="Straight Connector 188">
              <a:extLst>
                <a:ext uri="{FF2B5EF4-FFF2-40B4-BE49-F238E27FC236}">
                  <a16:creationId xmlns:a16="http://schemas.microsoft.com/office/drawing/2014/main" id="{3C7E6ECE-CB19-4A93-BB56-80F1CAD05B8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0" name="Straight Connector 189">
              <a:extLst>
                <a:ext uri="{FF2B5EF4-FFF2-40B4-BE49-F238E27FC236}">
                  <a16:creationId xmlns:a16="http://schemas.microsoft.com/office/drawing/2014/main" id="{51937E1D-2811-4D5E-BA0B-3D4F721E9B9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91" name="Group 71">
            <a:extLst>
              <a:ext uri="{FF2B5EF4-FFF2-40B4-BE49-F238E27FC236}">
                <a16:creationId xmlns:a16="http://schemas.microsoft.com/office/drawing/2014/main" id="{70B553A0-FD43-479F-A429-1B90E8FFC5B3}"/>
              </a:ext>
            </a:extLst>
          </p:cNvPr>
          <p:cNvGrpSpPr/>
          <p:nvPr/>
        </p:nvGrpSpPr>
        <p:grpSpPr>
          <a:xfrm>
            <a:off x="10037907" y="1643092"/>
            <a:ext cx="563125" cy="115214"/>
            <a:chOff x="-66694" y="1130300"/>
            <a:chExt cx="533401" cy="228600"/>
          </a:xfrm>
          <a:effectLst>
            <a:outerShdw blurRad="50800" dist="38100" dir="2700000" algn="tl" rotWithShape="0">
              <a:prstClr val="black">
                <a:alpha val="40000"/>
              </a:prstClr>
            </a:outerShdw>
          </a:effectLst>
        </p:grpSpPr>
        <p:cxnSp>
          <p:nvCxnSpPr>
            <p:cNvPr id="192" name="Straight Connector 191">
              <a:extLst>
                <a:ext uri="{FF2B5EF4-FFF2-40B4-BE49-F238E27FC236}">
                  <a16:creationId xmlns:a16="http://schemas.microsoft.com/office/drawing/2014/main" id="{1F235AED-E63D-4B31-A941-56716DFFBEE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3" name="Straight Connector 192">
              <a:extLst>
                <a:ext uri="{FF2B5EF4-FFF2-40B4-BE49-F238E27FC236}">
                  <a16:creationId xmlns:a16="http://schemas.microsoft.com/office/drawing/2014/main" id="{E7FB2A54-65B4-42F9-B651-D0DE1D7905D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4" name="Straight Connector 193">
              <a:extLst>
                <a:ext uri="{FF2B5EF4-FFF2-40B4-BE49-F238E27FC236}">
                  <a16:creationId xmlns:a16="http://schemas.microsoft.com/office/drawing/2014/main" id="{FC86793A-BF99-4950-B368-EE879BDD0EE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5" name="Straight Connector 194">
              <a:extLst>
                <a:ext uri="{FF2B5EF4-FFF2-40B4-BE49-F238E27FC236}">
                  <a16:creationId xmlns:a16="http://schemas.microsoft.com/office/drawing/2014/main" id="{8DEB4ED2-4362-4599-810E-A38CA351616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96" name="Group 71">
            <a:extLst>
              <a:ext uri="{FF2B5EF4-FFF2-40B4-BE49-F238E27FC236}">
                <a16:creationId xmlns:a16="http://schemas.microsoft.com/office/drawing/2014/main" id="{EB1A4D69-7AA1-4970-ABD5-4C7AD9787A31}"/>
              </a:ext>
            </a:extLst>
          </p:cNvPr>
          <p:cNvGrpSpPr/>
          <p:nvPr/>
        </p:nvGrpSpPr>
        <p:grpSpPr>
          <a:xfrm>
            <a:off x="10601031" y="1643093"/>
            <a:ext cx="563125" cy="115214"/>
            <a:chOff x="-66694" y="1130300"/>
            <a:chExt cx="533401" cy="228600"/>
          </a:xfrm>
          <a:effectLst>
            <a:outerShdw blurRad="50800" dist="38100" dir="2700000" algn="tl" rotWithShape="0">
              <a:prstClr val="black">
                <a:alpha val="40000"/>
              </a:prstClr>
            </a:outerShdw>
          </a:effectLst>
        </p:grpSpPr>
        <p:cxnSp>
          <p:nvCxnSpPr>
            <p:cNvPr id="197" name="Straight Connector 196">
              <a:extLst>
                <a:ext uri="{FF2B5EF4-FFF2-40B4-BE49-F238E27FC236}">
                  <a16:creationId xmlns:a16="http://schemas.microsoft.com/office/drawing/2014/main" id="{1F826A62-F10F-4DCF-AF6E-CAE786C5726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8" name="Straight Connector 197">
              <a:extLst>
                <a:ext uri="{FF2B5EF4-FFF2-40B4-BE49-F238E27FC236}">
                  <a16:creationId xmlns:a16="http://schemas.microsoft.com/office/drawing/2014/main" id="{9CEC2755-C93A-47F8-B798-AE388F993EA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9" name="Straight Connector 198">
              <a:extLst>
                <a:ext uri="{FF2B5EF4-FFF2-40B4-BE49-F238E27FC236}">
                  <a16:creationId xmlns:a16="http://schemas.microsoft.com/office/drawing/2014/main" id="{10CEFF46-5F2C-4752-8F32-2AEB56B897F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0" name="Straight Connector 199">
              <a:extLst>
                <a:ext uri="{FF2B5EF4-FFF2-40B4-BE49-F238E27FC236}">
                  <a16:creationId xmlns:a16="http://schemas.microsoft.com/office/drawing/2014/main" id="{5AD79F87-C8CF-451D-84F4-8CA34F30116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201" name="Rectangle 200">
            <a:extLst>
              <a:ext uri="{FF2B5EF4-FFF2-40B4-BE49-F238E27FC236}">
                <a16:creationId xmlns:a16="http://schemas.microsoft.com/office/drawing/2014/main" id="{AD35F38F-AF7D-42E6-81D2-8367B9A95A64}"/>
              </a:ext>
            </a:extLst>
          </p:cNvPr>
          <p:cNvSpPr/>
          <p:nvPr/>
        </p:nvSpPr>
        <p:spPr>
          <a:xfrm>
            <a:off x="11164243"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grpSp>
        <p:nvGrpSpPr>
          <p:cNvPr id="202" name="Group 71">
            <a:extLst>
              <a:ext uri="{FF2B5EF4-FFF2-40B4-BE49-F238E27FC236}">
                <a16:creationId xmlns:a16="http://schemas.microsoft.com/office/drawing/2014/main" id="{3579D5BA-A216-4152-B50A-AD0F0D9CA2D6}"/>
              </a:ext>
            </a:extLst>
          </p:cNvPr>
          <p:cNvGrpSpPr/>
          <p:nvPr/>
        </p:nvGrpSpPr>
        <p:grpSpPr>
          <a:xfrm>
            <a:off x="11164144" y="1643093"/>
            <a:ext cx="563125" cy="115214"/>
            <a:chOff x="-66694" y="1130300"/>
            <a:chExt cx="533401" cy="228600"/>
          </a:xfrm>
          <a:effectLst>
            <a:outerShdw blurRad="50800" dist="38100" dir="2700000" algn="tl" rotWithShape="0">
              <a:prstClr val="black">
                <a:alpha val="40000"/>
              </a:prstClr>
            </a:outerShdw>
          </a:effectLst>
        </p:grpSpPr>
        <p:cxnSp>
          <p:nvCxnSpPr>
            <p:cNvPr id="203" name="Straight Connector 202">
              <a:extLst>
                <a:ext uri="{FF2B5EF4-FFF2-40B4-BE49-F238E27FC236}">
                  <a16:creationId xmlns:a16="http://schemas.microsoft.com/office/drawing/2014/main" id="{0DCB4F11-425A-4B73-B2B0-164DF81F870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4" name="Straight Connector 203">
              <a:extLst>
                <a:ext uri="{FF2B5EF4-FFF2-40B4-BE49-F238E27FC236}">
                  <a16:creationId xmlns:a16="http://schemas.microsoft.com/office/drawing/2014/main" id="{697144FA-BC28-409D-8C4E-DD0DB59FF93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5" name="Straight Connector 204">
              <a:extLst>
                <a:ext uri="{FF2B5EF4-FFF2-40B4-BE49-F238E27FC236}">
                  <a16:creationId xmlns:a16="http://schemas.microsoft.com/office/drawing/2014/main" id="{4B7A62B7-BB07-409C-A18F-C2F7303B1A3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6" name="Straight Connector 205">
              <a:extLst>
                <a:ext uri="{FF2B5EF4-FFF2-40B4-BE49-F238E27FC236}">
                  <a16:creationId xmlns:a16="http://schemas.microsoft.com/office/drawing/2014/main" id="{52C9A052-6C21-4FB7-A99C-6501F096B78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cxnSp>
        <p:nvCxnSpPr>
          <p:cNvPr id="207" name="Straight Arrow Connector 206">
            <a:extLst>
              <a:ext uri="{FF2B5EF4-FFF2-40B4-BE49-F238E27FC236}">
                <a16:creationId xmlns:a16="http://schemas.microsoft.com/office/drawing/2014/main" id="{E89F7D81-794B-458F-9ECB-B4C21796BF0A}"/>
              </a:ext>
            </a:extLst>
          </p:cNvPr>
          <p:cNvCxnSpPr/>
          <p:nvPr/>
        </p:nvCxnSpPr>
        <p:spPr>
          <a:xfrm>
            <a:off x="440662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08" name="TextBox 207">
            <a:extLst>
              <a:ext uri="{FF2B5EF4-FFF2-40B4-BE49-F238E27FC236}">
                <a16:creationId xmlns:a16="http://schemas.microsoft.com/office/drawing/2014/main" id="{1FF9B8AE-13AC-4CC6-AB3F-E12840B33395}"/>
              </a:ext>
            </a:extLst>
          </p:cNvPr>
          <p:cNvSpPr txBox="1"/>
          <p:nvPr/>
        </p:nvSpPr>
        <p:spPr>
          <a:xfrm>
            <a:off x="4698668"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1</a:t>
            </a:r>
          </a:p>
        </p:txBody>
      </p:sp>
      <p:cxnSp>
        <p:nvCxnSpPr>
          <p:cNvPr id="209" name="Straight Arrow Connector 208">
            <a:extLst>
              <a:ext uri="{FF2B5EF4-FFF2-40B4-BE49-F238E27FC236}">
                <a16:creationId xmlns:a16="http://schemas.microsoft.com/office/drawing/2014/main" id="{58EB4701-3C8A-4E03-B0EB-605DFB3FF148}"/>
              </a:ext>
            </a:extLst>
          </p:cNvPr>
          <p:cNvCxnSpPr/>
          <p:nvPr/>
        </p:nvCxnSpPr>
        <p:spPr>
          <a:xfrm>
            <a:off x="609600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0" name="TextBox 209">
            <a:extLst>
              <a:ext uri="{FF2B5EF4-FFF2-40B4-BE49-F238E27FC236}">
                <a16:creationId xmlns:a16="http://schemas.microsoft.com/office/drawing/2014/main" id="{45D059C1-C27A-4BE7-87B5-39937C3DEA5A}"/>
              </a:ext>
            </a:extLst>
          </p:cNvPr>
          <p:cNvSpPr txBox="1"/>
          <p:nvPr/>
        </p:nvSpPr>
        <p:spPr>
          <a:xfrm>
            <a:off x="6388048"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2</a:t>
            </a:r>
          </a:p>
        </p:txBody>
      </p:sp>
      <p:cxnSp>
        <p:nvCxnSpPr>
          <p:cNvPr id="211" name="Straight Arrow Connector 210">
            <a:extLst>
              <a:ext uri="{FF2B5EF4-FFF2-40B4-BE49-F238E27FC236}">
                <a16:creationId xmlns:a16="http://schemas.microsoft.com/office/drawing/2014/main" id="{D1FF106B-7FDC-4C99-B720-B99CCDEAD3D3}"/>
              </a:ext>
            </a:extLst>
          </p:cNvPr>
          <p:cNvCxnSpPr/>
          <p:nvPr/>
        </p:nvCxnSpPr>
        <p:spPr>
          <a:xfrm>
            <a:off x="778538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2" name="TextBox 211">
            <a:extLst>
              <a:ext uri="{FF2B5EF4-FFF2-40B4-BE49-F238E27FC236}">
                <a16:creationId xmlns:a16="http://schemas.microsoft.com/office/drawing/2014/main" id="{8CCA3F49-4C48-45D6-9094-86D186EDDACA}"/>
              </a:ext>
            </a:extLst>
          </p:cNvPr>
          <p:cNvSpPr txBox="1"/>
          <p:nvPr/>
        </p:nvSpPr>
        <p:spPr>
          <a:xfrm>
            <a:off x="8077428"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3</a:t>
            </a:r>
          </a:p>
        </p:txBody>
      </p:sp>
      <p:cxnSp>
        <p:nvCxnSpPr>
          <p:cNvPr id="213" name="Straight Arrow Connector 212">
            <a:extLst>
              <a:ext uri="{FF2B5EF4-FFF2-40B4-BE49-F238E27FC236}">
                <a16:creationId xmlns:a16="http://schemas.microsoft.com/office/drawing/2014/main" id="{81F3BE0C-F365-4C74-9F0C-140866B52CAA}"/>
              </a:ext>
            </a:extLst>
          </p:cNvPr>
          <p:cNvCxnSpPr/>
          <p:nvPr/>
        </p:nvCxnSpPr>
        <p:spPr>
          <a:xfrm>
            <a:off x="947476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4" name="TextBox 213">
            <a:extLst>
              <a:ext uri="{FF2B5EF4-FFF2-40B4-BE49-F238E27FC236}">
                <a16:creationId xmlns:a16="http://schemas.microsoft.com/office/drawing/2014/main" id="{9DE09121-2E54-4974-A29E-455B20F83404}"/>
              </a:ext>
            </a:extLst>
          </p:cNvPr>
          <p:cNvSpPr txBox="1"/>
          <p:nvPr/>
        </p:nvSpPr>
        <p:spPr>
          <a:xfrm>
            <a:off x="9766807"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4</a:t>
            </a:r>
          </a:p>
        </p:txBody>
      </p:sp>
      <p:sp>
        <p:nvSpPr>
          <p:cNvPr id="215" name="Rectangle 214">
            <a:extLst>
              <a:ext uri="{FF2B5EF4-FFF2-40B4-BE49-F238E27FC236}">
                <a16:creationId xmlns:a16="http://schemas.microsoft.com/office/drawing/2014/main" id="{5289ED92-3ED6-4110-A27E-F695B3F55656}"/>
              </a:ext>
            </a:extLst>
          </p:cNvPr>
          <p:cNvSpPr/>
          <p:nvPr/>
        </p:nvSpPr>
        <p:spPr>
          <a:xfrm>
            <a:off x="4969850" y="2065703"/>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6" name="Rectangle 215">
            <a:extLst>
              <a:ext uri="{FF2B5EF4-FFF2-40B4-BE49-F238E27FC236}">
                <a16:creationId xmlns:a16="http://schemas.microsoft.com/office/drawing/2014/main" id="{B2C72571-C446-4415-A65B-25A81D30DB85}"/>
              </a:ext>
            </a:extLst>
          </p:cNvPr>
          <p:cNvSpPr/>
          <p:nvPr/>
        </p:nvSpPr>
        <p:spPr>
          <a:xfrm>
            <a:off x="6659237" y="2065702"/>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7" name="Rectangle 216">
            <a:extLst>
              <a:ext uri="{FF2B5EF4-FFF2-40B4-BE49-F238E27FC236}">
                <a16:creationId xmlns:a16="http://schemas.microsoft.com/office/drawing/2014/main" id="{E4AC2861-E43F-4362-8402-4905B7CB628E}"/>
              </a:ext>
            </a:extLst>
          </p:cNvPr>
          <p:cNvSpPr/>
          <p:nvPr/>
        </p:nvSpPr>
        <p:spPr>
          <a:xfrm>
            <a:off x="8348624" y="2065701"/>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8" name="Rectangle 217">
            <a:extLst>
              <a:ext uri="{FF2B5EF4-FFF2-40B4-BE49-F238E27FC236}">
                <a16:creationId xmlns:a16="http://schemas.microsoft.com/office/drawing/2014/main" id="{1F628640-C205-47F2-B17A-8F806B8927B0}"/>
              </a:ext>
            </a:extLst>
          </p:cNvPr>
          <p:cNvSpPr/>
          <p:nvPr/>
        </p:nvSpPr>
        <p:spPr>
          <a:xfrm>
            <a:off x="10037990"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9" name="Rectangle 218">
            <a:extLst>
              <a:ext uri="{FF2B5EF4-FFF2-40B4-BE49-F238E27FC236}">
                <a16:creationId xmlns:a16="http://schemas.microsoft.com/office/drawing/2014/main" id="{EE453D46-F127-4586-BFAB-748F05C4E778}"/>
              </a:ext>
            </a:extLst>
          </p:cNvPr>
          <p:cNvSpPr/>
          <p:nvPr/>
        </p:nvSpPr>
        <p:spPr>
          <a:xfrm>
            <a:off x="8346204"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20" name="Rectangle 219">
            <a:extLst>
              <a:ext uri="{FF2B5EF4-FFF2-40B4-BE49-F238E27FC236}">
                <a16:creationId xmlns:a16="http://schemas.microsoft.com/office/drawing/2014/main" id="{6710A71C-FD17-4191-BAF5-989260EC2BA1}"/>
              </a:ext>
            </a:extLst>
          </p:cNvPr>
          <p:cNvSpPr/>
          <p:nvPr/>
        </p:nvSpPr>
        <p:spPr>
          <a:xfrm>
            <a:off x="6654418"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21" name="Rectangle 220">
            <a:extLst>
              <a:ext uri="{FF2B5EF4-FFF2-40B4-BE49-F238E27FC236}">
                <a16:creationId xmlns:a16="http://schemas.microsoft.com/office/drawing/2014/main" id="{D8DED3D6-C4C1-416B-A861-FE88FEBA2A54}"/>
              </a:ext>
            </a:extLst>
          </p:cNvPr>
          <p:cNvSpPr/>
          <p:nvPr/>
        </p:nvSpPr>
        <p:spPr>
          <a:xfrm>
            <a:off x="4962632"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cxnSp>
        <p:nvCxnSpPr>
          <p:cNvPr id="222" name="Straight Arrow Connector 221">
            <a:extLst>
              <a:ext uri="{FF2B5EF4-FFF2-40B4-BE49-F238E27FC236}">
                <a16:creationId xmlns:a16="http://schemas.microsoft.com/office/drawing/2014/main" id="{440ED166-904E-4B7C-8CCA-685F55D25DE9}"/>
              </a:ext>
            </a:extLst>
          </p:cNvPr>
          <p:cNvCxnSpPr/>
          <p:nvPr/>
        </p:nvCxnSpPr>
        <p:spPr>
          <a:xfrm>
            <a:off x="9372477" y="3083355"/>
            <a:ext cx="1177447" cy="1588"/>
          </a:xfrm>
          <a:prstGeom prst="straightConnector1">
            <a:avLst/>
          </a:prstGeom>
          <a:noFill/>
          <a:ln w="25400" cap="flat" cmpd="sng" algn="ctr">
            <a:solidFill>
              <a:srgbClr val="3F3F3F"/>
            </a:solidFill>
            <a:prstDash val="solid"/>
            <a:headEnd type="triangle" w="med" len="med"/>
            <a:tailEnd type="triangle" w="med" len="med"/>
          </a:ln>
          <a:effectLst>
            <a:outerShdw blurRad="40000" dist="20000" dir="5400000" rotWithShape="0">
              <a:srgbClr val="000000">
                <a:alpha val="38000"/>
              </a:srgbClr>
            </a:outerShdw>
          </a:effectLst>
        </p:spPr>
      </p:cxnSp>
      <p:sp>
        <p:nvSpPr>
          <p:cNvPr id="223" name="TextBox 222">
            <a:extLst>
              <a:ext uri="{FF2B5EF4-FFF2-40B4-BE49-F238E27FC236}">
                <a16:creationId xmlns:a16="http://schemas.microsoft.com/office/drawing/2014/main" id="{D6F31F1F-5C32-4692-8588-241A420B7B22}"/>
              </a:ext>
            </a:extLst>
          </p:cNvPr>
          <p:cNvSpPr txBox="1"/>
          <p:nvPr/>
        </p:nvSpPr>
        <p:spPr>
          <a:xfrm>
            <a:off x="9116509" y="3160319"/>
            <a:ext cx="1791767"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Mult is very constrained</a:t>
            </a:r>
          </a:p>
        </p:txBody>
      </p:sp>
      <p:sp>
        <p:nvSpPr>
          <p:cNvPr id="224" name="Right Arrow 115">
            <a:extLst>
              <a:ext uri="{FF2B5EF4-FFF2-40B4-BE49-F238E27FC236}">
                <a16:creationId xmlns:a16="http://schemas.microsoft.com/office/drawing/2014/main" id="{F46F4EF5-E317-4613-8AD2-CD270D8D3CC8}"/>
              </a:ext>
            </a:extLst>
          </p:cNvPr>
          <p:cNvSpPr/>
          <p:nvPr/>
        </p:nvSpPr>
        <p:spPr>
          <a:xfrm>
            <a:off x="1898148" y="1201510"/>
            <a:ext cx="2354893" cy="614480"/>
          </a:xfrm>
          <a:prstGeom prst="rightArrow">
            <a:avLst>
              <a:gd name="adj1" fmla="val 50000"/>
              <a:gd name="adj2" fmla="val 31812"/>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25" name="TextBox 224">
            <a:extLst>
              <a:ext uri="{FF2B5EF4-FFF2-40B4-BE49-F238E27FC236}">
                <a16:creationId xmlns:a16="http://schemas.microsoft.com/office/drawing/2014/main" id="{6FC4B4DA-617D-4329-9465-20049D679EEC}"/>
              </a:ext>
            </a:extLst>
          </p:cNvPr>
          <p:cNvSpPr txBox="1"/>
          <p:nvPr/>
        </p:nvSpPr>
        <p:spPr>
          <a:xfrm>
            <a:off x="1983709" y="1354748"/>
            <a:ext cx="1548822" cy="307777"/>
          </a:xfrm>
          <a:prstGeom prst="rect">
            <a:avLst/>
          </a:prstGeom>
          <a:noFill/>
        </p:spPr>
        <p:txBody>
          <a:bodyPr wrap="none" rtlCol="0">
            <a:spAutoFit/>
          </a:bodyPr>
          <a:lstStyle/>
          <a:p>
            <a:pPr defTabSz="457200" fontAlgn="base">
              <a:spcBef>
                <a:spcPct val="0"/>
              </a:spcBef>
              <a:spcAft>
                <a:spcPct val="0"/>
              </a:spcAft>
            </a:pPr>
            <a:r>
              <a:rPr lang="en-US" sz="1400" dirty="0">
                <a:solidFill>
                  <a:prstClr val="black"/>
                </a:solidFill>
                <a:ea typeface="ＭＳ Ｐゴシック" pitchFamily="34" charset="-128"/>
                <a:cs typeface="Arial" charset="0"/>
              </a:rPr>
              <a:t>Default Schedule</a:t>
            </a:r>
          </a:p>
        </p:txBody>
      </p:sp>
      <p:cxnSp>
        <p:nvCxnSpPr>
          <p:cNvPr id="226" name="Straight Arrow Connector 225">
            <a:extLst>
              <a:ext uri="{FF2B5EF4-FFF2-40B4-BE49-F238E27FC236}">
                <a16:creationId xmlns:a16="http://schemas.microsoft.com/office/drawing/2014/main" id="{C9617542-BE51-4B58-A52B-30A36C6C668F}"/>
              </a:ext>
            </a:extLst>
          </p:cNvPr>
          <p:cNvCxnSpPr/>
          <p:nvPr/>
        </p:nvCxnSpPr>
        <p:spPr>
          <a:xfrm>
            <a:off x="4355427" y="3083355"/>
            <a:ext cx="5016946" cy="1588"/>
          </a:xfrm>
          <a:prstGeom prst="straightConnector1">
            <a:avLst/>
          </a:prstGeom>
          <a:noFill/>
          <a:ln w="25400" cap="flat" cmpd="sng" algn="ctr">
            <a:solidFill>
              <a:srgbClr val="B20838"/>
            </a:solidFill>
            <a:prstDash val="solid"/>
            <a:headEnd type="none" w="med" len="med"/>
            <a:tailEnd type="triangle" w="med" len="med"/>
          </a:ln>
          <a:effectLst>
            <a:outerShdw blurRad="40000" dist="20000" dir="5400000" rotWithShape="0">
              <a:srgbClr val="000000">
                <a:alpha val="38000"/>
              </a:srgbClr>
            </a:outerShdw>
          </a:effectLst>
        </p:spPr>
      </p:cxnSp>
      <p:cxnSp>
        <p:nvCxnSpPr>
          <p:cNvPr id="227" name="Straight Arrow Connector 226">
            <a:extLst>
              <a:ext uri="{FF2B5EF4-FFF2-40B4-BE49-F238E27FC236}">
                <a16:creationId xmlns:a16="http://schemas.microsoft.com/office/drawing/2014/main" id="{163F487A-6B44-4B0E-B1CD-08E0A0A7ED06}"/>
              </a:ext>
            </a:extLst>
          </p:cNvPr>
          <p:cNvCxnSpPr/>
          <p:nvPr/>
        </p:nvCxnSpPr>
        <p:spPr>
          <a:xfrm rot="10800000">
            <a:off x="10601015" y="3083355"/>
            <a:ext cx="511933" cy="1588"/>
          </a:xfrm>
          <a:prstGeom prst="straightConnector1">
            <a:avLst/>
          </a:prstGeom>
          <a:noFill/>
          <a:ln w="25400" cap="flat" cmpd="sng" algn="ctr">
            <a:solidFill>
              <a:srgbClr val="B20838"/>
            </a:solidFill>
            <a:prstDash val="solid"/>
            <a:headEnd type="none" w="med" len="med"/>
            <a:tailEnd type="triangle" w="med" len="med"/>
          </a:ln>
          <a:effectLst>
            <a:outerShdw blurRad="40000" dist="20000" dir="5400000" rotWithShape="0">
              <a:srgbClr val="000000">
                <a:alpha val="38000"/>
              </a:srgbClr>
            </a:outerShdw>
          </a:effectLst>
        </p:spPr>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Schedule after Loop Optimization</a:t>
            </a:r>
          </a:p>
        </p:txBody>
      </p:sp>
      <p:sp>
        <p:nvSpPr>
          <p:cNvPr id="3" name="Content Placeholder 2"/>
          <p:cNvSpPr>
            <a:spLocks noGrp="1"/>
          </p:cNvSpPr>
          <p:nvPr>
            <p:ph idx="1"/>
          </p:nvPr>
        </p:nvSpPr>
        <p:spPr/>
        <p:txBody>
          <a:bodyPr>
            <a:normAutofit fontScale="92500" lnSpcReduction="10000"/>
          </a:bodyPr>
          <a:lstStyle/>
          <a:p>
            <a:r>
              <a:rPr lang="en-US" dirty="0"/>
              <a:t>With the loop unrolled (completely)</a:t>
            </a:r>
          </a:p>
          <a:p>
            <a:pPr lvl="1"/>
            <a:r>
              <a:rPr lang="en-US" dirty="0"/>
              <a:t>The dependency on loop iterations is gone</a:t>
            </a:r>
          </a:p>
          <a:p>
            <a:pPr lvl="1"/>
            <a:r>
              <a:rPr lang="en-US" dirty="0"/>
              <a:t>Operations can now occur in parallel</a:t>
            </a:r>
          </a:p>
          <a:p>
            <a:pPr lvl="2"/>
            <a:r>
              <a:rPr lang="en-US" dirty="0"/>
              <a:t>If data dependencies allow</a:t>
            </a:r>
          </a:p>
          <a:p>
            <a:pPr lvl="2"/>
            <a:r>
              <a:rPr lang="en-US" dirty="0"/>
              <a:t>If operator timing allows</a:t>
            </a:r>
          </a:p>
          <a:p>
            <a:pPr lvl="1"/>
            <a:r>
              <a:rPr lang="en-US" dirty="0"/>
              <a:t>Design finished faster but uses more operators</a:t>
            </a:r>
          </a:p>
          <a:p>
            <a:pPr lvl="2"/>
            <a:r>
              <a:rPr lang="en-US" dirty="0"/>
              <a:t>2 multipliers &amp; 2 Adders</a:t>
            </a:r>
          </a:p>
          <a:p>
            <a:r>
              <a:rPr lang="en-US" dirty="0"/>
              <a:t>Schedule Summary</a:t>
            </a:r>
          </a:p>
          <a:p>
            <a:pPr lvl="1"/>
            <a:r>
              <a:rPr lang="en-US" dirty="0"/>
              <a:t>All the logic associated with the loop counters and index checking are </a:t>
            </a:r>
            <a:br>
              <a:rPr lang="en-US" dirty="0"/>
            </a:br>
            <a:r>
              <a:rPr lang="en-US" dirty="0"/>
              <a:t>now gone</a:t>
            </a:r>
          </a:p>
          <a:p>
            <a:pPr lvl="1"/>
            <a:r>
              <a:rPr lang="en-US" dirty="0"/>
              <a:t>Two multiplications can occur at the same time</a:t>
            </a:r>
          </a:p>
          <a:p>
            <a:pPr lvl="2"/>
            <a:r>
              <a:rPr lang="en-US" dirty="0"/>
              <a:t>All 4 could, but it’s limited by the number of input reads (2) on coefficient port C</a:t>
            </a:r>
          </a:p>
          <a:p>
            <a:pPr lvl="1"/>
            <a:r>
              <a:rPr lang="en-US" dirty="0"/>
              <a:t>Why 2 reads on port C? </a:t>
            </a:r>
          </a:p>
          <a:p>
            <a:pPr lvl="2"/>
            <a:r>
              <a:rPr lang="en-US" dirty="0"/>
              <a:t>The default behavior for arrays now limits the schedule…</a:t>
            </a:r>
          </a:p>
        </p:txBody>
      </p:sp>
      <p:sp>
        <p:nvSpPr>
          <p:cNvPr id="4" name="Slide Number Placeholder 3">
            <a:extLst>
              <a:ext uri="{FF2B5EF4-FFF2-40B4-BE49-F238E27FC236}">
                <a16:creationId xmlns:a16="http://schemas.microsoft.com/office/drawing/2014/main" id="{CD5693B3-E358-449A-A99A-617A2FE1F880}"/>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26</a:t>
            </a:fld>
            <a:endParaRPr lang="en-US" dirty="0"/>
          </a:p>
        </p:txBody>
      </p:sp>
      <p:sp>
        <p:nvSpPr>
          <p:cNvPr id="29" name="Rectangle 28">
            <a:extLst>
              <a:ext uri="{FF2B5EF4-FFF2-40B4-BE49-F238E27FC236}">
                <a16:creationId xmlns:a16="http://schemas.microsoft.com/office/drawing/2014/main" id="{1A894F00-3F7F-4520-8328-5857B9632483}"/>
              </a:ext>
            </a:extLst>
          </p:cNvPr>
          <p:cNvSpPr/>
          <p:nvPr/>
        </p:nvSpPr>
        <p:spPr>
          <a:xfrm>
            <a:off x="10345149" y="335218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30" name="Rectangle 29">
            <a:extLst>
              <a:ext uri="{FF2B5EF4-FFF2-40B4-BE49-F238E27FC236}">
                <a16:creationId xmlns:a16="http://schemas.microsoft.com/office/drawing/2014/main" id="{61B02F3A-1D38-4A42-90B7-E3DB5D7EBACF}"/>
              </a:ext>
            </a:extLst>
          </p:cNvPr>
          <p:cNvSpPr/>
          <p:nvPr/>
        </p:nvSpPr>
        <p:spPr>
          <a:xfrm>
            <a:off x="10342743" y="243060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31" name="Rectangle 30">
            <a:extLst>
              <a:ext uri="{FF2B5EF4-FFF2-40B4-BE49-F238E27FC236}">
                <a16:creationId xmlns:a16="http://schemas.microsoft.com/office/drawing/2014/main" id="{F2E62AB3-8D2A-4C2C-B7A3-2E650715FB5C}"/>
              </a:ext>
            </a:extLst>
          </p:cNvPr>
          <p:cNvSpPr/>
          <p:nvPr/>
        </p:nvSpPr>
        <p:spPr>
          <a:xfrm>
            <a:off x="9782022" y="266103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32" name="Group 71">
            <a:extLst>
              <a:ext uri="{FF2B5EF4-FFF2-40B4-BE49-F238E27FC236}">
                <a16:creationId xmlns:a16="http://schemas.microsoft.com/office/drawing/2014/main" id="{48AB3B0D-39AC-4A55-970E-48799D56DB6F}"/>
              </a:ext>
            </a:extLst>
          </p:cNvPr>
          <p:cNvGrpSpPr/>
          <p:nvPr/>
        </p:nvGrpSpPr>
        <p:grpSpPr>
          <a:xfrm>
            <a:off x="9781927" y="1777585"/>
            <a:ext cx="563125" cy="115214"/>
            <a:chOff x="-66694" y="1130300"/>
            <a:chExt cx="533401" cy="228600"/>
          </a:xfrm>
          <a:effectLst>
            <a:outerShdw blurRad="50800" dist="38100" dir="2700000" algn="tl" rotWithShape="0">
              <a:prstClr val="black">
                <a:alpha val="40000"/>
              </a:prstClr>
            </a:outerShdw>
          </a:effectLst>
        </p:grpSpPr>
        <p:cxnSp>
          <p:nvCxnSpPr>
            <p:cNvPr id="33" name="Straight Connector 32">
              <a:extLst>
                <a:ext uri="{FF2B5EF4-FFF2-40B4-BE49-F238E27FC236}">
                  <a16:creationId xmlns:a16="http://schemas.microsoft.com/office/drawing/2014/main" id="{7E288620-B745-4FAF-A5C7-BAD6BBA0BF6E}"/>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4" name="Straight Connector 33">
              <a:extLst>
                <a:ext uri="{FF2B5EF4-FFF2-40B4-BE49-F238E27FC236}">
                  <a16:creationId xmlns:a16="http://schemas.microsoft.com/office/drawing/2014/main" id="{94281A11-5525-4681-BF2D-F4015D52512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5" name="Straight Connector 34">
              <a:extLst>
                <a:ext uri="{FF2B5EF4-FFF2-40B4-BE49-F238E27FC236}">
                  <a16:creationId xmlns:a16="http://schemas.microsoft.com/office/drawing/2014/main" id="{2FCB2D18-2232-4538-850A-3A176D4B1FF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6" name="Straight Connector 35">
              <a:extLst>
                <a:ext uri="{FF2B5EF4-FFF2-40B4-BE49-F238E27FC236}">
                  <a16:creationId xmlns:a16="http://schemas.microsoft.com/office/drawing/2014/main" id="{F78943C3-7E22-4B69-961F-4C727B4DB76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7" name="Group 71">
            <a:extLst>
              <a:ext uri="{FF2B5EF4-FFF2-40B4-BE49-F238E27FC236}">
                <a16:creationId xmlns:a16="http://schemas.microsoft.com/office/drawing/2014/main" id="{02480E52-2B24-4679-A1E2-7443B8E4176A}"/>
              </a:ext>
            </a:extLst>
          </p:cNvPr>
          <p:cNvGrpSpPr/>
          <p:nvPr/>
        </p:nvGrpSpPr>
        <p:grpSpPr>
          <a:xfrm>
            <a:off x="10345051" y="1777586"/>
            <a:ext cx="563125" cy="115214"/>
            <a:chOff x="-66694" y="1130300"/>
            <a:chExt cx="533401" cy="228600"/>
          </a:xfrm>
          <a:effectLst>
            <a:outerShdw blurRad="50800" dist="38100" dir="2700000" algn="tl" rotWithShape="0">
              <a:prstClr val="black">
                <a:alpha val="40000"/>
              </a:prstClr>
            </a:outerShdw>
          </a:effectLst>
        </p:grpSpPr>
        <p:cxnSp>
          <p:nvCxnSpPr>
            <p:cNvPr id="38" name="Straight Connector 37">
              <a:extLst>
                <a:ext uri="{FF2B5EF4-FFF2-40B4-BE49-F238E27FC236}">
                  <a16:creationId xmlns:a16="http://schemas.microsoft.com/office/drawing/2014/main" id="{01A0BC80-4FAE-4713-AD58-734384ECB9F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9" name="Straight Connector 38">
              <a:extLst>
                <a:ext uri="{FF2B5EF4-FFF2-40B4-BE49-F238E27FC236}">
                  <a16:creationId xmlns:a16="http://schemas.microsoft.com/office/drawing/2014/main" id="{431466DF-337C-485A-820E-BA0EB018988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0" name="Straight Connector 39">
              <a:extLst>
                <a:ext uri="{FF2B5EF4-FFF2-40B4-BE49-F238E27FC236}">
                  <a16:creationId xmlns:a16="http://schemas.microsoft.com/office/drawing/2014/main" id="{E4319B25-9128-47AE-8E2D-FA0C2DB4D65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 name="Straight Connector 40">
              <a:extLst>
                <a:ext uri="{FF2B5EF4-FFF2-40B4-BE49-F238E27FC236}">
                  <a16:creationId xmlns:a16="http://schemas.microsoft.com/office/drawing/2014/main" id="{01223F8B-50F0-49D8-8500-5D79110E290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42" name="Rectangle 41">
            <a:extLst>
              <a:ext uri="{FF2B5EF4-FFF2-40B4-BE49-F238E27FC236}">
                <a16:creationId xmlns:a16="http://schemas.microsoft.com/office/drawing/2014/main" id="{5A102F31-AC8C-4DCC-BC6E-BA5378B98704}"/>
              </a:ext>
            </a:extLst>
          </p:cNvPr>
          <p:cNvSpPr/>
          <p:nvPr/>
        </p:nvSpPr>
        <p:spPr>
          <a:xfrm>
            <a:off x="10345149" y="312189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43" name="Rectangle 42">
            <a:extLst>
              <a:ext uri="{FF2B5EF4-FFF2-40B4-BE49-F238E27FC236}">
                <a16:creationId xmlns:a16="http://schemas.microsoft.com/office/drawing/2014/main" id="{B0BAAAEC-0C01-4A2F-AD83-BF29962DACDC}"/>
              </a:ext>
            </a:extLst>
          </p:cNvPr>
          <p:cNvSpPr/>
          <p:nvPr/>
        </p:nvSpPr>
        <p:spPr>
          <a:xfrm>
            <a:off x="9782022" y="289146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44" name="Rectangle 43">
            <a:extLst>
              <a:ext uri="{FF2B5EF4-FFF2-40B4-BE49-F238E27FC236}">
                <a16:creationId xmlns:a16="http://schemas.microsoft.com/office/drawing/2014/main" id="{85873C61-007C-45C1-B6A1-8E48152FFC41}"/>
              </a:ext>
            </a:extLst>
          </p:cNvPr>
          <p:cNvSpPr/>
          <p:nvPr/>
        </p:nvSpPr>
        <p:spPr>
          <a:xfrm>
            <a:off x="10345149" y="266103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sp>
        <p:nvSpPr>
          <p:cNvPr id="45" name="Rectangle 44">
            <a:extLst>
              <a:ext uri="{FF2B5EF4-FFF2-40B4-BE49-F238E27FC236}">
                <a16:creationId xmlns:a16="http://schemas.microsoft.com/office/drawing/2014/main" id="{FDD61FC6-0903-4B51-9868-706B6AEE1F6E}"/>
              </a:ext>
            </a:extLst>
          </p:cNvPr>
          <p:cNvSpPr/>
          <p:nvPr/>
        </p:nvSpPr>
        <p:spPr>
          <a:xfrm>
            <a:off x="10345149" y="289146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46" name="Rectangle 45">
            <a:extLst>
              <a:ext uri="{FF2B5EF4-FFF2-40B4-BE49-F238E27FC236}">
                <a16:creationId xmlns:a16="http://schemas.microsoft.com/office/drawing/2014/main" id="{124B39F2-4B53-432A-A6E9-442F59654F47}"/>
              </a:ext>
            </a:extLst>
          </p:cNvPr>
          <p:cNvSpPr/>
          <p:nvPr/>
        </p:nvSpPr>
        <p:spPr>
          <a:xfrm>
            <a:off x="10345149" y="358261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sp>
        <p:nvSpPr>
          <p:cNvPr id="47" name="Rectangle 46">
            <a:extLst>
              <a:ext uri="{FF2B5EF4-FFF2-40B4-BE49-F238E27FC236}">
                <a16:creationId xmlns:a16="http://schemas.microsoft.com/office/drawing/2014/main" id="{71530DF4-0656-47CF-BDF8-5F5DD922609E}"/>
              </a:ext>
            </a:extLst>
          </p:cNvPr>
          <p:cNvSpPr/>
          <p:nvPr/>
        </p:nvSpPr>
        <p:spPr>
          <a:xfrm>
            <a:off x="9779616" y="1969610"/>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48" name="Rectangle 47">
            <a:extLst>
              <a:ext uri="{FF2B5EF4-FFF2-40B4-BE49-F238E27FC236}">
                <a16:creationId xmlns:a16="http://schemas.microsoft.com/office/drawing/2014/main" id="{C3F4CDF7-4DAC-4DBC-8BC2-606C1B4A55F6}"/>
              </a:ext>
            </a:extLst>
          </p:cNvPr>
          <p:cNvSpPr/>
          <p:nvPr/>
        </p:nvSpPr>
        <p:spPr>
          <a:xfrm>
            <a:off x="9779616" y="220017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49" name="Rectangle 48">
            <a:extLst>
              <a:ext uri="{FF2B5EF4-FFF2-40B4-BE49-F238E27FC236}">
                <a16:creationId xmlns:a16="http://schemas.microsoft.com/office/drawing/2014/main" id="{150D0005-ED43-4675-B9A2-A73519447F4E}"/>
              </a:ext>
            </a:extLst>
          </p:cNvPr>
          <p:cNvSpPr/>
          <p:nvPr/>
        </p:nvSpPr>
        <p:spPr>
          <a:xfrm>
            <a:off x="9782022" y="312189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50" name="Rectangle 49">
            <a:extLst>
              <a:ext uri="{FF2B5EF4-FFF2-40B4-BE49-F238E27FC236}">
                <a16:creationId xmlns:a16="http://schemas.microsoft.com/office/drawing/2014/main" id="{AA4E62F3-DEC8-4A2A-BC66-4D25238FB3C0}"/>
              </a:ext>
            </a:extLst>
          </p:cNvPr>
          <p:cNvSpPr/>
          <p:nvPr/>
        </p:nvSpPr>
        <p:spPr>
          <a:xfrm>
            <a:off x="10342743" y="1969610"/>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51" name="Rectangle 50">
            <a:extLst>
              <a:ext uri="{FF2B5EF4-FFF2-40B4-BE49-F238E27FC236}">
                <a16:creationId xmlns:a16="http://schemas.microsoft.com/office/drawing/2014/main" id="{C9AA544F-4AAB-428A-8107-15E9998CBE47}"/>
              </a:ext>
            </a:extLst>
          </p:cNvPr>
          <p:cNvSpPr/>
          <p:nvPr/>
        </p:nvSpPr>
        <p:spPr>
          <a:xfrm>
            <a:off x="10342743" y="220017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52" name="TextBox 51">
            <a:extLst>
              <a:ext uri="{FF2B5EF4-FFF2-40B4-BE49-F238E27FC236}">
                <a16:creationId xmlns:a16="http://schemas.microsoft.com/office/drawing/2014/main" id="{B73D443A-171E-4381-A1CD-CF8F8D60A955}"/>
              </a:ext>
            </a:extLst>
          </p:cNvPr>
          <p:cNvSpPr txBox="1"/>
          <p:nvPr/>
        </p:nvSpPr>
        <p:spPr>
          <a:xfrm>
            <a:off x="9014024" y="3890002"/>
            <a:ext cx="2918019" cy="225446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 in HLS</a:t>
            </a:r>
          </a:p>
        </p:txBody>
      </p:sp>
      <p:sp>
        <p:nvSpPr>
          <p:cNvPr id="3" name="Content Placeholder 2"/>
          <p:cNvSpPr>
            <a:spLocks noGrp="1"/>
          </p:cNvSpPr>
          <p:nvPr>
            <p:ph idx="1"/>
          </p:nvPr>
        </p:nvSpPr>
        <p:spPr>
          <a:xfrm>
            <a:off x="584462" y="1112520"/>
            <a:ext cx="11033760" cy="4632960"/>
          </a:xfrm>
        </p:spPr>
        <p:txBody>
          <a:bodyPr>
            <a:noAutofit/>
          </a:bodyPr>
          <a:lstStyle/>
          <a:p>
            <a:r>
              <a:rPr lang="en-US" sz="2000" dirty="0"/>
              <a:t>An array in C code is implemented by a memory in the RTL</a:t>
            </a:r>
          </a:p>
          <a:p>
            <a:pPr lvl="1"/>
            <a:r>
              <a:rPr lang="en-US" sz="1800" dirty="0"/>
              <a:t>By default, arrays are implemented as RAMs, optionally a FIFO</a:t>
            </a:r>
          </a:p>
          <a:p>
            <a:pPr lvl="1"/>
            <a:endParaRPr lang="en-US" sz="1800" dirty="0"/>
          </a:p>
          <a:p>
            <a:pPr lvl="1"/>
            <a:endParaRPr lang="en-US" sz="1800" dirty="0"/>
          </a:p>
          <a:p>
            <a:pPr lvl="1"/>
            <a:endParaRPr lang="en-US" sz="1800" dirty="0"/>
          </a:p>
          <a:p>
            <a:pPr lvl="1"/>
            <a:endParaRPr lang="en-US" sz="1800" dirty="0"/>
          </a:p>
          <a:p>
            <a:r>
              <a:rPr lang="en-US" sz="2000" dirty="0"/>
              <a:t>The array can be targeted to any memory resource in the library</a:t>
            </a:r>
          </a:p>
          <a:p>
            <a:pPr lvl="1"/>
            <a:r>
              <a:rPr lang="en-US" sz="1800" dirty="0"/>
              <a:t>The ports (Address, CE active high, etc.) and sequential operation (clocks from address to data out) are defined by the library model</a:t>
            </a:r>
          </a:p>
          <a:p>
            <a:pPr lvl="1"/>
            <a:r>
              <a:rPr lang="en-US" sz="1800" dirty="0"/>
              <a:t>All RAMs are listed in the Vitis HLS Library Guide</a:t>
            </a:r>
          </a:p>
          <a:p>
            <a:r>
              <a:rPr lang="en-US" sz="2000" dirty="0"/>
              <a:t>Arrays can be merged with other arrays and reconfigured</a:t>
            </a:r>
          </a:p>
          <a:p>
            <a:pPr lvl="1"/>
            <a:r>
              <a:rPr lang="en-US" sz="1800" dirty="0"/>
              <a:t>To implement them in the same memory or one of different widths &amp; sizes</a:t>
            </a:r>
          </a:p>
          <a:p>
            <a:r>
              <a:rPr lang="en-US" sz="2000" dirty="0"/>
              <a:t>Arrays can be partitioned into individual elements</a:t>
            </a:r>
          </a:p>
          <a:p>
            <a:pPr lvl="1"/>
            <a:r>
              <a:rPr lang="en-US" sz="1800" dirty="0"/>
              <a:t>Implemented as smaller RAMs or registers</a:t>
            </a:r>
          </a:p>
        </p:txBody>
      </p:sp>
      <p:sp>
        <p:nvSpPr>
          <p:cNvPr id="4" name="Slide Number Placeholder 3">
            <a:extLst>
              <a:ext uri="{FF2B5EF4-FFF2-40B4-BE49-F238E27FC236}">
                <a16:creationId xmlns:a16="http://schemas.microsoft.com/office/drawing/2014/main" id="{F4F7F9A8-97A5-4CEC-970C-3FCF68489304}"/>
              </a:ext>
            </a:extLst>
          </p:cNvPr>
          <p:cNvSpPr>
            <a:spLocks noGrp="1"/>
          </p:cNvSpPr>
          <p:nvPr>
            <p:ph type="sldNum" sz="quarter" idx="4"/>
          </p:nvPr>
        </p:nvSpPr>
        <p:spPr/>
        <p:txBody>
          <a:bodyPr/>
          <a:lstStyle/>
          <a:p>
            <a:pPr>
              <a:defRPr/>
            </a:pPr>
            <a:r>
              <a:rPr lang="en-US" dirty="0"/>
              <a:t>Intro to HLS 11- </a:t>
            </a:r>
            <a:fld id="{060BD193-E118-4B16-863C-C8C12C675E3E}" type="slidenum">
              <a:rPr lang="en-US" smtClean="0"/>
              <a:pPr>
                <a:defRPr/>
              </a:pPr>
              <a:t>27</a:t>
            </a:fld>
            <a:endParaRPr lang="en-US" dirty="0"/>
          </a:p>
        </p:txBody>
      </p:sp>
      <p:sp>
        <p:nvSpPr>
          <p:cNvPr id="31" name="TextBox 30">
            <a:extLst>
              <a:ext uri="{FF2B5EF4-FFF2-40B4-BE49-F238E27FC236}">
                <a16:creationId xmlns:a16="http://schemas.microsoft.com/office/drawing/2014/main" id="{17621F45-26B4-4FC4-8CD0-87ADB5140571}"/>
              </a:ext>
            </a:extLst>
          </p:cNvPr>
          <p:cNvSpPr txBox="1"/>
          <p:nvPr/>
        </p:nvSpPr>
        <p:spPr>
          <a:xfrm>
            <a:off x="669509" y="2180991"/>
            <a:ext cx="2918020"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void foo_top(int x, …)</a:t>
            </a:r>
          </a:p>
          <a:p>
            <a:pPr defTabSz="457200" fontAlgn="base">
              <a:spcBef>
                <a:spcPct val="0"/>
              </a:spcBef>
              <a:spcAft>
                <a:spcPct val="0"/>
              </a:spcAft>
              <a:defRPr/>
            </a:pPr>
            <a:r>
              <a:rPr lang="en-US" sz="900" b="1" kern="0" dirty="0">
                <a:solidFill>
                  <a:prstClr val="black"/>
                </a:solidFill>
                <a:latin typeface="Arial"/>
              </a:rPr>
              <a:t>{</a:t>
            </a:r>
          </a:p>
          <a:p>
            <a:pPr defTabSz="457200" fontAlgn="base">
              <a:spcBef>
                <a:spcPct val="0"/>
              </a:spcBef>
              <a:spcAft>
                <a:spcPct val="0"/>
              </a:spcAft>
              <a:defRPr/>
            </a:pPr>
            <a:r>
              <a:rPr lang="en-US" sz="900" b="1" kern="0" dirty="0">
                <a:solidFill>
                  <a:prstClr val="black"/>
                </a:solidFill>
                <a:latin typeface="Arial"/>
              </a:rPr>
              <a:t>   int A[N];</a:t>
            </a:r>
          </a:p>
          <a:p>
            <a:pPr defTabSz="457200" fontAlgn="base">
              <a:spcBef>
                <a:spcPct val="0"/>
              </a:spcBef>
              <a:spcAft>
                <a:spcPct val="0"/>
              </a:spcAft>
              <a:defRPr/>
            </a:pPr>
            <a:r>
              <a:rPr lang="en-US" sz="900" b="1" kern="0" dirty="0">
                <a:solidFill>
                  <a:prstClr val="black"/>
                </a:solidFill>
                <a:latin typeface="Arial"/>
              </a:rPr>
              <a:t>   L1: for (i = 0; i &lt; N; i++)</a:t>
            </a:r>
          </a:p>
          <a:p>
            <a:pPr defTabSz="457200" fontAlgn="base">
              <a:spcBef>
                <a:spcPct val="0"/>
              </a:spcBef>
              <a:spcAft>
                <a:spcPct val="0"/>
              </a:spcAft>
              <a:defRPr/>
            </a:pPr>
            <a:r>
              <a:rPr lang="en-US" sz="900" b="1" kern="0" dirty="0">
                <a:solidFill>
                  <a:prstClr val="black"/>
                </a:solidFill>
                <a:latin typeface="Arial"/>
              </a:rPr>
              <a:t>           A[i+x] = A[i] + i; </a:t>
            </a:r>
          </a:p>
          <a:p>
            <a:pPr defTabSz="457200" fontAlgn="base">
              <a:spcBef>
                <a:spcPct val="0"/>
              </a:spcBef>
              <a:spcAft>
                <a:spcPct val="0"/>
              </a:spcAft>
              <a:defRPr/>
            </a:pPr>
            <a:r>
              <a:rPr lang="en-US" sz="900" b="1" kern="0" dirty="0">
                <a:solidFill>
                  <a:prstClr val="black"/>
                </a:solidFill>
                <a:latin typeface="Arial"/>
              </a:rPr>
              <a:t>}</a:t>
            </a:r>
          </a:p>
          <a:p>
            <a:pPr defTabSz="457200" fontAlgn="base">
              <a:spcBef>
                <a:spcPct val="0"/>
              </a:spcBef>
              <a:spcAft>
                <a:spcPct val="0"/>
              </a:spcAft>
              <a:defRPr/>
            </a:pPr>
            <a:endParaRPr lang="en-US" sz="900" b="1" kern="0" dirty="0">
              <a:solidFill>
                <a:prstClr val="black"/>
              </a:solidFill>
              <a:latin typeface="Arial"/>
            </a:endParaRPr>
          </a:p>
        </p:txBody>
      </p:sp>
      <p:grpSp>
        <p:nvGrpSpPr>
          <p:cNvPr id="35" name="Group 169">
            <a:extLst>
              <a:ext uri="{FF2B5EF4-FFF2-40B4-BE49-F238E27FC236}">
                <a16:creationId xmlns:a16="http://schemas.microsoft.com/office/drawing/2014/main" id="{1EC3ADEE-B218-423B-992E-60C88967597B}"/>
              </a:ext>
            </a:extLst>
          </p:cNvPr>
          <p:cNvGrpSpPr/>
          <p:nvPr/>
        </p:nvGrpSpPr>
        <p:grpSpPr>
          <a:xfrm>
            <a:off x="4977881" y="2104053"/>
            <a:ext cx="1015735" cy="1137498"/>
            <a:chOff x="7848446" y="4033987"/>
            <a:chExt cx="762000" cy="1137498"/>
          </a:xfrm>
          <a:solidFill>
            <a:srgbClr val="00B0F0"/>
          </a:solidFill>
        </p:grpSpPr>
        <p:sp>
          <p:nvSpPr>
            <p:cNvPr id="36" name="Rectangle 35">
              <a:extLst>
                <a:ext uri="{FF2B5EF4-FFF2-40B4-BE49-F238E27FC236}">
                  <a16:creationId xmlns:a16="http://schemas.microsoft.com/office/drawing/2014/main" id="{3FF24C6F-738E-4CE9-BBDE-F3B0CC9238AA}"/>
                </a:ext>
              </a:extLst>
            </p:cNvPr>
            <p:cNvSpPr/>
            <p:nvPr/>
          </p:nvSpPr>
          <p:spPr>
            <a:xfrm>
              <a:off x="7848446" y="4033987"/>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N-1</a:t>
              </a:r>
            </a:p>
          </p:txBody>
        </p:sp>
        <p:sp>
          <p:nvSpPr>
            <p:cNvPr id="38" name="Rectangle 37">
              <a:extLst>
                <a:ext uri="{FF2B5EF4-FFF2-40B4-BE49-F238E27FC236}">
                  <a16:creationId xmlns:a16="http://schemas.microsoft.com/office/drawing/2014/main" id="{55BC4233-2182-45EE-8163-58BDAFE44665}"/>
                </a:ext>
              </a:extLst>
            </p:cNvPr>
            <p:cNvSpPr/>
            <p:nvPr/>
          </p:nvSpPr>
          <p:spPr>
            <a:xfrm>
              <a:off x="7848446" y="4271372"/>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N-2</a:t>
              </a:r>
            </a:p>
          </p:txBody>
        </p:sp>
        <p:sp>
          <p:nvSpPr>
            <p:cNvPr id="39" name="Rectangle 38">
              <a:extLst>
                <a:ext uri="{FF2B5EF4-FFF2-40B4-BE49-F238E27FC236}">
                  <a16:creationId xmlns:a16="http://schemas.microsoft.com/office/drawing/2014/main" id="{5FF129DE-DAC3-4BF7-94AA-C9750269D742}"/>
                </a:ext>
              </a:extLst>
            </p:cNvPr>
            <p:cNvSpPr/>
            <p:nvPr/>
          </p:nvSpPr>
          <p:spPr>
            <a:xfrm>
              <a:off x="7848446" y="4499972"/>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a:t>
              </a:r>
            </a:p>
          </p:txBody>
        </p:sp>
        <p:sp>
          <p:nvSpPr>
            <p:cNvPr id="40" name="Rectangle 39">
              <a:extLst>
                <a:ext uri="{FF2B5EF4-FFF2-40B4-BE49-F238E27FC236}">
                  <a16:creationId xmlns:a16="http://schemas.microsoft.com/office/drawing/2014/main" id="{E87D7FB9-3FC8-41A1-8C35-8B6804C97D93}"/>
                </a:ext>
              </a:extLst>
            </p:cNvPr>
            <p:cNvSpPr/>
            <p:nvPr/>
          </p:nvSpPr>
          <p:spPr>
            <a:xfrm>
              <a:off x="7848446" y="4728572"/>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1</a:t>
              </a:r>
            </a:p>
          </p:txBody>
        </p:sp>
        <p:sp>
          <p:nvSpPr>
            <p:cNvPr id="50" name="Rectangle 49">
              <a:extLst>
                <a:ext uri="{FF2B5EF4-FFF2-40B4-BE49-F238E27FC236}">
                  <a16:creationId xmlns:a16="http://schemas.microsoft.com/office/drawing/2014/main" id="{5C424382-4806-43CD-B6C8-67F5F276B91A}"/>
                </a:ext>
              </a:extLst>
            </p:cNvPr>
            <p:cNvSpPr/>
            <p:nvPr/>
          </p:nvSpPr>
          <p:spPr>
            <a:xfrm>
              <a:off x="7848446" y="4942885"/>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0</a:t>
              </a:r>
            </a:p>
          </p:txBody>
        </p:sp>
      </p:grpSp>
      <p:sp>
        <p:nvSpPr>
          <p:cNvPr id="52" name="Right Arrow 24">
            <a:extLst>
              <a:ext uri="{FF2B5EF4-FFF2-40B4-BE49-F238E27FC236}">
                <a16:creationId xmlns:a16="http://schemas.microsoft.com/office/drawing/2014/main" id="{F2B96D13-334F-4BAC-BDED-6B286FD385D5}"/>
              </a:ext>
            </a:extLst>
          </p:cNvPr>
          <p:cNvSpPr/>
          <p:nvPr/>
        </p:nvSpPr>
        <p:spPr>
          <a:xfrm>
            <a:off x="3843496" y="2411293"/>
            <a:ext cx="716707"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53" name="Right Arrow 28">
            <a:extLst>
              <a:ext uri="{FF2B5EF4-FFF2-40B4-BE49-F238E27FC236}">
                <a16:creationId xmlns:a16="http://schemas.microsoft.com/office/drawing/2014/main" id="{15D04BB6-456C-474D-A54A-9B4A188E05DE}"/>
              </a:ext>
            </a:extLst>
          </p:cNvPr>
          <p:cNvSpPr/>
          <p:nvPr/>
        </p:nvSpPr>
        <p:spPr>
          <a:xfrm>
            <a:off x="6249583" y="2435046"/>
            <a:ext cx="1740573"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400" kern="0" dirty="0">
                <a:solidFill>
                  <a:prstClr val="white"/>
                </a:solidFill>
                <a:latin typeface="Arial"/>
              </a:rPr>
              <a:t>Synthesis</a:t>
            </a:r>
          </a:p>
        </p:txBody>
      </p:sp>
      <p:sp>
        <p:nvSpPr>
          <p:cNvPr id="54" name="Rectangle 53">
            <a:extLst>
              <a:ext uri="{FF2B5EF4-FFF2-40B4-BE49-F238E27FC236}">
                <a16:creationId xmlns:a16="http://schemas.microsoft.com/office/drawing/2014/main" id="{DA4A3E5B-72C3-4893-B911-81F5C784CFCE}"/>
              </a:ext>
            </a:extLst>
          </p:cNvPr>
          <p:cNvSpPr/>
          <p:nvPr/>
        </p:nvSpPr>
        <p:spPr>
          <a:xfrm>
            <a:off x="8195013" y="1879064"/>
            <a:ext cx="3481145" cy="1420985"/>
          </a:xfrm>
          <a:prstGeom prst="rect">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55" name="Straight Arrow Connector 54">
            <a:extLst>
              <a:ext uri="{FF2B5EF4-FFF2-40B4-BE49-F238E27FC236}">
                <a16:creationId xmlns:a16="http://schemas.microsoft.com/office/drawing/2014/main" id="{225096A4-3A48-4CCD-B7E2-6262B33E46DE}"/>
              </a:ext>
            </a:extLst>
          </p:cNvPr>
          <p:cNvCxnSpPr/>
          <p:nvPr/>
        </p:nvCxnSpPr>
        <p:spPr>
          <a:xfrm>
            <a:off x="8755634" y="2647037"/>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56" name="Straight Arrow Connector 55">
            <a:extLst>
              <a:ext uri="{FF2B5EF4-FFF2-40B4-BE49-F238E27FC236}">
                <a16:creationId xmlns:a16="http://schemas.microsoft.com/office/drawing/2014/main" id="{A8475E8A-D82F-4B23-A7C0-57799B9727ED}"/>
              </a:ext>
            </a:extLst>
          </p:cNvPr>
          <p:cNvCxnSpPr/>
          <p:nvPr/>
        </p:nvCxnSpPr>
        <p:spPr>
          <a:xfrm>
            <a:off x="8704355" y="291506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59" name="Rectangle 58">
            <a:extLst>
              <a:ext uri="{FF2B5EF4-FFF2-40B4-BE49-F238E27FC236}">
                <a16:creationId xmlns:a16="http://schemas.microsoft.com/office/drawing/2014/main" id="{E83AA1E5-5A63-44BD-BAF7-7BCEB804D282}"/>
              </a:ext>
            </a:extLst>
          </p:cNvPr>
          <p:cNvSpPr/>
          <p:nvPr/>
        </p:nvSpPr>
        <p:spPr>
          <a:xfrm>
            <a:off x="9116411" y="2147900"/>
            <a:ext cx="1433413" cy="1075339"/>
          </a:xfrm>
          <a:prstGeom prst="rect">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60" name="Straight Arrow Connector 59">
            <a:extLst>
              <a:ext uri="{FF2B5EF4-FFF2-40B4-BE49-F238E27FC236}">
                <a16:creationId xmlns:a16="http://schemas.microsoft.com/office/drawing/2014/main" id="{C245D763-462D-4201-A115-27DF07E17635}"/>
              </a:ext>
            </a:extLst>
          </p:cNvPr>
          <p:cNvCxnSpPr/>
          <p:nvPr/>
        </p:nvCxnSpPr>
        <p:spPr>
          <a:xfrm>
            <a:off x="10549821" y="2455012"/>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61" name="TextBox 60">
            <a:extLst>
              <a:ext uri="{FF2B5EF4-FFF2-40B4-BE49-F238E27FC236}">
                <a16:creationId xmlns:a16="http://schemas.microsoft.com/office/drawing/2014/main" id="{8A70B43F-7956-4AF3-9856-47CE94C0F74E}"/>
              </a:ext>
            </a:extLst>
          </p:cNvPr>
          <p:cNvSpPr txBox="1"/>
          <p:nvPr/>
        </p:nvSpPr>
        <p:spPr>
          <a:xfrm>
            <a:off x="10066967" y="2339925"/>
            <a:ext cx="548547"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DOUT</a:t>
            </a:r>
          </a:p>
        </p:txBody>
      </p:sp>
      <p:sp>
        <p:nvSpPr>
          <p:cNvPr id="62" name="TextBox 61">
            <a:extLst>
              <a:ext uri="{FF2B5EF4-FFF2-40B4-BE49-F238E27FC236}">
                <a16:creationId xmlns:a16="http://schemas.microsoft.com/office/drawing/2014/main" id="{CAE232D1-B59F-43A0-A679-A8EEDEFF554B}"/>
              </a:ext>
            </a:extLst>
          </p:cNvPr>
          <p:cNvSpPr txBox="1"/>
          <p:nvPr/>
        </p:nvSpPr>
        <p:spPr>
          <a:xfrm>
            <a:off x="9014022" y="2339925"/>
            <a:ext cx="405880"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DIN</a:t>
            </a:r>
          </a:p>
        </p:txBody>
      </p:sp>
      <p:sp>
        <p:nvSpPr>
          <p:cNvPr id="63" name="TextBox 62">
            <a:extLst>
              <a:ext uri="{FF2B5EF4-FFF2-40B4-BE49-F238E27FC236}">
                <a16:creationId xmlns:a16="http://schemas.microsoft.com/office/drawing/2014/main" id="{A1E41738-62B2-4086-9C00-456735F07226}"/>
              </a:ext>
            </a:extLst>
          </p:cNvPr>
          <p:cNvSpPr txBox="1"/>
          <p:nvPr/>
        </p:nvSpPr>
        <p:spPr>
          <a:xfrm>
            <a:off x="9014106" y="2516159"/>
            <a:ext cx="556563"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ADDR</a:t>
            </a:r>
          </a:p>
        </p:txBody>
      </p:sp>
      <p:sp>
        <p:nvSpPr>
          <p:cNvPr id="64" name="TextBox 63">
            <a:extLst>
              <a:ext uri="{FF2B5EF4-FFF2-40B4-BE49-F238E27FC236}">
                <a16:creationId xmlns:a16="http://schemas.microsoft.com/office/drawing/2014/main" id="{99534839-C289-48D6-8ABD-BEDE856D1299}"/>
              </a:ext>
            </a:extLst>
          </p:cNvPr>
          <p:cNvSpPr txBox="1"/>
          <p:nvPr/>
        </p:nvSpPr>
        <p:spPr>
          <a:xfrm>
            <a:off x="9014020" y="2784994"/>
            <a:ext cx="362600"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CE</a:t>
            </a:r>
          </a:p>
        </p:txBody>
      </p:sp>
      <p:cxnSp>
        <p:nvCxnSpPr>
          <p:cNvPr id="65" name="Straight Arrow Connector 64">
            <a:extLst>
              <a:ext uri="{FF2B5EF4-FFF2-40B4-BE49-F238E27FC236}">
                <a16:creationId xmlns:a16="http://schemas.microsoft.com/office/drawing/2014/main" id="{23A20D59-204F-49AF-ACCC-96FE3BF70621}"/>
              </a:ext>
            </a:extLst>
          </p:cNvPr>
          <p:cNvCxnSpPr/>
          <p:nvPr/>
        </p:nvCxnSpPr>
        <p:spPr>
          <a:xfrm>
            <a:off x="8706861" y="3084478"/>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66" name="TextBox 65">
            <a:extLst>
              <a:ext uri="{FF2B5EF4-FFF2-40B4-BE49-F238E27FC236}">
                <a16:creationId xmlns:a16="http://schemas.microsoft.com/office/drawing/2014/main" id="{157725CE-5422-49FC-8A3F-ADAF55C68840}"/>
              </a:ext>
            </a:extLst>
          </p:cNvPr>
          <p:cNvSpPr txBox="1"/>
          <p:nvPr/>
        </p:nvSpPr>
        <p:spPr>
          <a:xfrm>
            <a:off x="9016526" y="2954405"/>
            <a:ext cx="391454"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WE</a:t>
            </a:r>
          </a:p>
        </p:txBody>
      </p:sp>
      <p:cxnSp>
        <p:nvCxnSpPr>
          <p:cNvPr id="67" name="Straight Arrow Connector 66">
            <a:extLst>
              <a:ext uri="{FF2B5EF4-FFF2-40B4-BE49-F238E27FC236}">
                <a16:creationId xmlns:a16="http://schemas.microsoft.com/office/drawing/2014/main" id="{ECE2A6DF-0D7F-4347-8B5E-DDA7EB062392}"/>
              </a:ext>
            </a:extLst>
          </p:cNvPr>
          <p:cNvCxnSpPr/>
          <p:nvPr/>
        </p:nvCxnSpPr>
        <p:spPr>
          <a:xfrm>
            <a:off x="8758140" y="2491829"/>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68" name="TextBox 67">
            <a:extLst>
              <a:ext uri="{FF2B5EF4-FFF2-40B4-BE49-F238E27FC236}">
                <a16:creationId xmlns:a16="http://schemas.microsoft.com/office/drawing/2014/main" id="{BBE6A41E-8476-4638-97E0-F0442CEDE970}"/>
              </a:ext>
            </a:extLst>
          </p:cNvPr>
          <p:cNvSpPr txBox="1"/>
          <p:nvPr/>
        </p:nvSpPr>
        <p:spPr>
          <a:xfrm>
            <a:off x="9552999" y="2109494"/>
            <a:ext cx="849912"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SPRAMB</a:t>
            </a:r>
          </a:p>
        </p:txBody>
      </p:sp>
      <p:sp>
        <p:nvSpPr>
          <p:cNvPr id="69" name="TextBox 68">
            <a:extLst>
              <a:ext uri="{FF2B5EF4-FFF2-40B4-BE49-F238E27FC236}">
                <a16:creationId xmlns:a16="http://schemas.microsoft.com/office/drawing/2014/main" id="{94D8E12A-16FF-4D52-AC57-9408BBB5C0EF}"/>
              </a:ext>
            </a:extLst>
          </p:cNvPr>
          <p:cNvSpPr txBox="1"/>
          <p:nvPr/>
        </p:nvSpPr>
        <p:spPr>
          <a:xfrm>
            <a:off x="6059310" y="2144738"/>
            <a:ext cx="508473" cy="276999"/>
          </a:xfrm>
          <a:prstGeom prst="rect">
            <a:avLst/>
          </a:prstGeom>
          <a:noFill/>
        </p:spPr>
        <p:txBody>
          <a:bodyPr wrap="none" rtlCol="0">
            <a:spAutoFit/>
          </a:bodyPr>
          <a:lstStyle/>
          <a:p>
            <a:pPr algn="ctr" defTabSz="457200" fontAlgn="base">
              <a:spcBef>
                <a:spcPct val="0"/>
              </a:spcBef>
              <a:spcAft>
                <a:spcPct val="0"/>
              </a:spcAft>
            </a:pPr>
            <a:r>
              <a:rPr lang="en-US" sz="1200" b="1" dirty="0">
                <a:solidFill>
                  <a:prstClr val="black"/>
                </a:solidFill>
                <a:ea typeface="ＭＳ Ｐゴシック" pitchFamily="34" charset="-128"/>
                <a:cs typeface="Arial" charset="0"/>
              </a:rPr>
              <a:t>A[N]</a:t>
            </a:r>
          </a:p>
        </p:txBody>
      </p:sp>
      <p:sp>
        <p:nvSpPr>
          <p:cNvPr id="70" name="TextBox 69">
            <a:extLst>
              <a:ext uri="{FF2B5EF4-FFF2-40B4-BE49-F238E27FC236}">
                <a16:creationId xmlns:a16="http://schemas.microsoft.com/office/drawing/2014/main" id="{52FD2DD0-403F-4DAA-B167-F790B0202BB9}"/>
              </a:ext>
            </a:extLst>
          </p:cNvPr>
          <p:cNvSpPr txBox="1"/>
          <p:nvPr/>
        </p:nvSpPr>
        <p:spPr>
          <a:xfrm>
            <a:off x="10857108" y="2301391"/>
            <a:ext cx="56618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A_out</a:t>
            </a:r>
          </a:p>
        </p:txBody>
      </p:sp>
      <p:sp>
        <p:nvSpPr>
          <p:cNvPr id="71" name="TextBox 70">
            <a:extLst>
              <a:ext uri="{FF2B5EF4-FFF2-40B4-BE49-F238E27FC236}">
                <a16:creationId xmlns:a16="http://schemas.microsoft.com/office/drawing/2014/main" id="{AFBFB8D2-73F1-4AA5-BE69-690118F386B5}"/>
              </a:ext>
            </a:extLst>
          </p:cNvPr>
          <p:cNvSpPr txBox="1"/>
          <p:nvPr/>
        </p:nvSpPr>
        <p:spPr>
          <a:xfrm>
            <a:off x="8361762" y="2339924"/>
            <a:ext cx="461985"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A_in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Top-Level IO Ports</a:t>
            </a:r>
          </a:p>
        </p:txBody>
      </p:sp>
      <p:sp>
        <p:nvSpPr>
          <p:cNvPr id="3" name="Content Placeholder 2"/>
          <p:cNvSpPr>
            <a:spLocks noGrp="1"/>
          </p:cNvSpPr>
          <p:nvPr>
            <p:ph idx="1"/>
          </p:nvPr>
        </p:nvSpPr>
        <p:spPr>
          <a:xfrm>
            <a:off x="579121" y="1578849"/>
            <a:ext cx="11033760" cy="4632960"/>
          </a:xfrm>
        </p:spPr>
        <p:txBody>
          <a:bodyPr>
            <a:normAutofit fontScale="70000" lnSpcReduction="20000"/>
          </a:bodyPr>
          <a:lstStyle/>
          <a:p>
            <a:r>
              <a:rPr lang="en-US" dirty="0"/>
              <a:t>Top-level function arguments</a:t>
            </a:r>
          </a:p>
          <a:p>
            <a:pPr lvl="1"/>
            <a:r>
              <a:rPr lang="en-US" dirty="0"/>
              <a:t>All top-level function arguments have a default hardware port type</a:t>
            </a:r>
          </a:p>
          <a:p>
            <a:r>
              <a:rPr lang="en-US" dirty="0"/>
              <a:t>When the array is an argument of the top-level function</a:t>
            </a:r>
          </a:p>
          <a:p>
            <a:pPr lvl="1"/>
            <a:r>
              <a:rPr lang="en-US" dirty="0"/>
              <a:t>The array/RAM is “off-chip”</a:t>
            </a:r>
          </a:p>
          <a:p>
            <a:pPr lvl="1"/>
            <a:r>
              <a:rPr lang="en-US" dirty="0"/>
              <a:t>The type of memory resource determines the top-level IO ports</a:t>
            </a:r>
          </a:p>
          <a:p>
            <a:pPr lvl="1"/>
            <a:r>
              <a:rPr lang="en-US" dirty="0"/>
              <a:t>Arrays on the interface can be mapped &amp; partitioned</a:t>
            </a:r>
          </a:p>
          <a:p>
            <a:pPr lvl="2"/>
            <a:r>
              <a:rPr lang="en-US" dirty="0"/>
              <a:t>E.g. partitioned into separate ports for each element in the array</a:t>
            </a:r>
          </a:p>
          <a:p>
            <a:pPr marL="914126" lvl="2" indent="0">
              <a:buNone/>
            </a:pPr>
            <a:endParaRPr lang="en-US" dirty="0"/>
          </a:p>
          <a:p>
            <a:pPr lvl="2"/>
            <a:endParaRPr lang="en-US" dirty="0"/>
          </a:p>
          <a:p>
            <a:pPr lvl="2"/>
            <a:endParaRPr lang="en-US" dirty="0"/>
          </a:p>
          <a:p>
            <a:pPr lvl="2"/>
            <a:endParaRPr lang="en-US" dirty="0"/>
          </a:p>
          <a:p>
            <a:pPr lvl="2"/>
            <a:endParaRPr lang="en-US" dirty="0"/>
          </a:p>
          <a:p>
            <a:pPr lvl="2"/>
            <a:endParaRPr lang="en-US" dirty="0"/>
          </a:p>
          <a:p>
            <a:pPr lvl="2"/>
            <a:endParaRPr lang="en-US" dirty="0"/>
          </a:p>
          <a:p>
            <a:pPr lvl="2"/>
            <a:endParaRPr lang="en-US" dirty="0"/>
          </a:p>
          <a:p>
            <a:r>
              <a:rPr lang="en-US" dirty="0"/>
              <a:t>Default RAM resource</a:t>
            </a:r>
          </a:p>
          <a:p>
            <a:pPr lvl="1"/>
            <a:r>
              <a:rPr lang="en-US" dirty="0"/>
              <a:t>Dual port RAM if performance can be improved otherwise Single Port RAM</a:t>
            </a:r>
          </a:p>
        </p:txBody>
      </p:sp>
      <p:sp>
        <p:nvSpPr>
          <p:cNvPr id="5" name="Slide Number Placeholder 4">
            <a:extLst>
              <a:ext uri="{FF2B5EF4-FFF2-40B4-BE49-F238E27FC236}">
                <a16:creationId xmlns:a16="http://schemas.microsoft.com/office/drawing/2014/main" id="{BF7AD69D-AF7C-4C55-9DC5-7E6210FC9D89}"/>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28</a:t>
            </a:fld>
            <a:endParaRPr lang="en-US" dirty="0"/>
          </a:p>
        </p:txBody>
      </p:sp>
      <p:sp>
        <p:nvSpPr>
          <p:cNvPr id="46" name="Right Arrow 61">
            <a:extLst>
              <a:ext uri="{FF2B5EF4-FFF2-40B4-BE49-F238E27FC236}">
                <a16:creationId xmlns:a16="http://schemas.microsoft.com/office/drawing/2014/main" id="{8AE186D6-0489-4B11-A93E-7C0B4F01F280}"/>
              </a:ext>
            </a:extLst>
          </p:cNvPr>
          <p:cNvSpPr/>
          <p:nvPr/>
        </p:nvSpPr>
        <p:spPr>
          <a:xfrm>
            <a:off x="3187410" y="4043461"/>
            <a:ext cx="1740573"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400" kern="0" dirty="0">
                <a:solidFill>
                  <a:prstClr val="white"/>
                </a:solidFill>
                <a:latin typeface="Arial"/>
              </a:rPr>
              <a:t>Synthesis</a:t>
            </a:r>
          </a:p>
        </p:txBody>
      </p:sp>
      <p:sp>
        <p:nvSpPr>
          <p:cNvPr id="48" name="Rectangle 47">
            <a:extLst>
              <a:ext uri="{FF2B5EF4-FFF2-40B4-BE49-F238E27FC236}">
                <a16:creationId xmlns:a16="http://schemas.microsoft.com/office/drawing/2014/main" id="{13E748D3-8FCB-4601-B5F8-2E4600497952}"/>
              </a:ext>
            </a:extLst>
          </p:cNvPr>
          <p:cNvSpPr/>
          <p:nvPr/>
        </p:nvSpPr>
        <p:spPr>
          <a:xfrm>
            <a:off x="5593494" y="3851547"/>
            <a:ext cx="3393908" cy="1805035"/>
          </a:xfrm>
          <a:prstGeom prst="rect">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50" name="Straight Arrow Connector 49">
            <a:extLst>
              <a:ext uri="{FF2B5EF4-FFF2-40B4-BE49-F238E27FC236}">
                <a16:creationId xmlns:a16="http://schemas.microsoft.com/office/drawing/2014/main" id="{FDFFE6E0-831A-42B8-9D46-515D2E06A407}"/>
              </a:ext>
            </a:extLst>
          </p:cNvPr>
          <p:cNvCxnSpPr/>
          <p:nvPr/>
        </p:nvCxnSpPr>
        <p:spPr>
          <a:xfrm>
            <a:off x="8102042" y="4235486"/>
            <a:ext cx="1226133"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53" name="Straight Arrow Connector 52">
            <a:extLst>
              <a:ext uri="{FF2B5EF4-FFF2-40B4-BE49-F238E27FC236}">
                <a16:creationId xmlns:a16="http://schemas.microsoft.com/office/drawing/2014/main" id="{FDB735EB-D450-456B-8C20-1507E7828899}"/>
              </a:ext>
            </a:extLst>
          </p:cNvPr>
          <p:cNvCxnSpPr/>
          <p:nvPr/>
        </p:nvCxnSpPr>
        <p:spPr>
          <a:xfrm>
            <a:off x="8050774" y="4504433"/>
            <a:ext cx="1277326" cy="783"/>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54" name="Rectangle 53">
            <a:extLst>
              <a:ext uri="{FF2B5EF4-FFF2-40B4-BE49-F238E27FC236}">
                <a16:creationId xmlns:a16="http://schemas.microsoft.com/office/drawing/2014/main" id="{8878E265-0CEB-4111-A0F8-0FB38D127138}"/>
              </a:ext>
            </a:extLst>
          </p:cNvPr>
          <p:cNvSpPr/>
          <p:nvPr/>
        </p:nvSpPr>
        <p:spPr>
          <a:xfrm>
            <a:off x="9330610" y="3736333"/>
            <a:ext cx="1433413" cy="2112275"/>
          </a:xfrm>
          <a:prstGeom prst="rect">
            <a:avLst/>
          </a:prstGeom>
          <a:solidFill>
            <a:srgbClr val="91B800"/>
          </a:soli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55" name="Straight Arrow Connector 54">
            <a:extLst>
              <a:ext uri="{FF2B5EF4-FFF2-40B4-BE49-F238E27FC236}">
                <a16:creationId xmlns:a16="http://schemas.microsoft.com/office/drawing/2014/main" id="{2155704E-DB10-4494-A726-307954716D95}"/>
              </a:ext>
            </a:extLst>
          </p:cNvPr>
          <p:cNvCxnSpPr/>
          <p:nvPr/>
        </p:nvCxnSpPr>
        <p:spPr>
          <a:xfrm>
            <a:off x="10764020" y="4043461"/>
            <a:ext cx="409547"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56" name="TextBox 55">
            <a:extLst>
              <a:ext uri="{FF2B5EF4-FFF2-40B4-BE49-F238E27FC236}">
                <a16:creationId xmlns:a16="http://schemas.microsoft.com/office/drawing/2014/main" id="{9CAF5E78-3F45-4B5B-A781-BDD8D77E2552}"/>
              </a:ext>
            </a:extLst>
          </p:cNvPr>
          <p:cNvSpPr txBox="1"/>
          <p:nvPr/>
        </p:nvSpPr>
        <p:spPr>
          <a:xfrm>
            <a:off x="5894604" y="3851456"/>
            <a:ext cx="750525"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foo_top</a:t>
            </a:r>
          </a:p>
        </p:txBody>
      </p:sp>
      <p:sp>
        <p:nvSpPr>
          <p:cNvPr id="57" name="TextBox 56">
            <a:extLst>
              <a:ext uri="{FF2B5EF4-FFF2-40B4-BE49-F238E27FC236}">
                <a16:creationId xmlns:a16="http://schemas.microsoft.com/office/drawing/2014/main" id="{4F7CD848-9EC5-4E69-83A5-F0B9AD7912D9}"/>
              </a:ext>
            </a:extLst>
          </p:cNvPr>
          <p:cNvSpPr txBox="1"/>
          <p:nvPr/>
        </p:nvSpPr>
        <p:spPr>
          <a:xfrm>
            <a:off x="10210635" y="3928358"/>
            <a:ext cx="619079"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DOUT0</a:t>
            </a:r>
          </a:p>
        </p:txBody>
      </p:sp>
      <p:sp>
        <p:nvSpPr>
          <p:cNvPr id="58" name="TextBox 57">
            <a:extLst>
              <a:ext uri="{FF2B5EF4-FFF2-40B4-BE49-F238E27FC236}">
                <a16:creationId xmlns:a16="http://schemas.microsoft.com/office/drawing/2014/main" id="{89EFEFD4-13BB-4219-B675-DE561EA85A6B}"/>
              </a:ext>
            </a:extLst>
          </p:cNvPr>
          <p:cNvSpPr txBox="1"/>
          <p:nvPr/>
        </p:nvSpPr>
        <p:spPr>
          <a:xfrm>
            <a:off x="9228219" y="3928358"/>
            <a:ext cx="47641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DIN0</a:t>
            </a:r>
          </a:p>
        </p:txBody>
      </p:sp>
      <p:sp>
        <p:nvSpPr>
          <p:cNvPr id="59" name="TextBox 58">
            <a:extLst>
              <a:ext uri="{FF2B5EF4-FFF2-40B4-BE49-F238E27FC236}">
                <a16:creationId xmlns:a16="http://schemas.microsoft.com/office/drawing/2014/main" id="{EBA62DF1-B5BB-432C-81E3-FF6A8956955C}"/>
              </a:ext>
            </a:extLst>
          </p:cNvPr>
          <p:cNvSpPr txBox="1"/>
          <p:nvPr/>
        </p:nvSpPr>
        <p:spPr>
          <a:xfrm>
            <a:off x="9228222" y="4104592"/>
            <a:ext cx="627095"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ADDR0</a:t>
            </a:r>
          </a:p>
        </p:txBody>
      </p:sp>
      <p:sp>
        <p:nvSpPr>
          <p:cNvPr id="60" name="TextBox 59">
            <a:extLst>
              <a:ext uri="{FF2B5EF4-FFF2-40B4-BE49-F238E27FC236}">
                <a16:creationId xmlns:a16="http://schemas.microsoft.com/office/drawing/2014/main" id="{7663B179-FAF1-4011-88F0-E1015A47EA8E}"/>
              </a:ext>
            </a:extLst>
          </p:cNvPr>
          <p:cNvSpPr txBox="1"/>
          <p:nvPr/>
        </p:nvSpPr>
        <p:spPr>
          <a:xfrm>
            <a:off x="9228219" y="4373427"/>
            <a:ext cx="43313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CE0</a:t>
            </a:r>
          </a:p>
        </p:txBody>
      </p:sp>
      <p:cxnSp>
        <p:nvCxnSpPr>
          <p:cNvPr id="61" name="Straight Arrow Connector 60">
            <a:extLst>
              <a:ext uri="{FF2B5EF4-FFF2-40B4-BE49-F238E27FC236}">
                <a16:creationId xmlns:a16="http://schemas.microsoft.com/office/drawing/2014/main" id="{A2E3ECB4-0F01-49AB-9EBF-0EF5E2FA844F}"/>
              </a:ext>
            </a:extLst>
          </p:cNvPr>
          <p:cNvCxnSpPr/>
          <p:nvPr/>
        </p:nvCxnSpPr>
        <p:spPr>
          <a:xfrm>
            <a:off x="8050774" y="4657941"/>
            <a:ext cx="1279832" cy="16574"/>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77" name="TextBox 76">
            <a:extLst>
              <a:ext uri="{FF2B5EF4-FFF2-40B4-BE49-F238E27FC236}">
                <a16:creationId xmlns:a16="http://schemas.microsoft.com/office/drawing/2014/main" id="{42269F04-D34C-405A-9B27-BBD9FDBB6D70}"/>
              </a:ext>
            </a:extLst>
          </p:cNvPr>
          <p:cNvSpPr txBox="1"/>
          <p:nvPr/>
        </p:nvSpPr>
        <p:spPr>
          <a:xfrm>
            <a:off x="9230725" y="4542838"/>
            <a:ext cx="461986"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WE0</a:t>
            </a:r>
          </a:p>
        </p:txBody>
      </p:sp>
      <p:cxnSp>
        <p:nvCxnSpPr>
          <p:cNvPr id="78" name="Straight Arrow Connector 77">
            <a:extLst>
              <a:ext uri="{FF2B5EF4-FFF2-40B4-BE49-F238E27FC236}">
                <a16:creationId xmlns:a16="http://schemas.microsoft.com/office/drawing/2014/main" id="{6E09C3BA-8CDF-482E-A07E-F735CAB5D476}"/>
              </a:ext>
            </a:extLst>
          </p:cNvPr>
          <p:cNvCxnSpPr/>
          <p:nvPr/>
        </p:nvCxnSpPr>
        <p:spPr>
          <a:xfrm>
            <a:off x="8204356" y="4081866"/>
            <a:ext cx="1126252"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79" name="TextBox 78">
            <a:extLst>
              <a:ext uri="{FF2B5EF4-FFF2-40B4-BE49-F238E27FC236}">
                <a16:creationId xmlns:a16="http://schemas.microsoft.com/office/drawing/2014/main" id="{1698FF8C-809C-4531-B3E7-2FF24194555D}"/>
              </a:ext>
            </a:extLst>
          </p:cNvPr>
          <p:cNvSpPr txBox="1"/>
          <p:nvPr/>
        </p:nvSpPr>
        <p:spPr>
          <a:xfrm>
            <a:off x="9708064" y="3697833"/>
            <a:ext cx="857927"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DPRAMB</a:t>
            </a:r>
          </a:p>
        </p:txBody>
      </p:sp>
      <p:sp>
        <p:nvSpPr>
          <p:cNvPr id="80" name="TextBox 79">
            <a:extLst>
              <a:ext uri="{FF2B5EF4-FFF2-40B4-BE49-F238E27FC236}">
                <a16:creationId xmlns:a16="http://schemas.microsoft.com/office/drawing/2014/main" id="{C9B8F1B8-AEAA-4327-AFD3-794F49190E3C}"/>
              </a:ext>
            </a:extLst>
          </p:cNvPr>
          <p:cNvSpPr txBox="1"/>
          <p:nvPr/>
        </p:nvSpPr>
        <p:spPr>
          <a:xfrm>
            <a:off x="371776" y="3697816"/>
            <a:ext cx="2969212" cy="92333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kern="0" dirty="0">
                <a:solidFill>
                  <a:prstClr val="black"/>
                </a:solidFill>
                <a:latin typeface="Arial"/>
              </a:rPr>
              <a:t>void foo_top( </a:t>
            </a:r>
            <a:r>
              <a:rPr lang="en-US" sz="900" b="1" kern="0" dirty="0">
                <a:solidFill>
                  <a:prstClr val="black"/>
                </a:solidFill>
                <a:latin typeface="Arial"/>
              </a:rPr>
              <a:t>int A[3*N]</a:t>
            </a:r>
            <a:r>
              <a:rPr lang="en-US" sz="900" kern="0" dirty="0">
                <a:solidFill>
                  <a:prstClr val="black"/>
                </a:solidFill>
                <a:latin typeface="Arial"/>
              </a:rPr>
              <a:t> , int x)</a:t>
            </a:r>
          </a:p>
          <a:p>
            <a:pPr defTabSz="457200" fontAlgn="base">
              <a:spcBef>
                <a:spcPct val="0"/>
              </a:spcBef>
              <a:spcAft>
                <a:spcPct val="0"/>
              </a:spcAft>
              <a:defRPr/>
            </a:pPr>
            <a:r>
              <a:rPr lang="en-US" sz="900" kern="0" dirty="0">
                <a:solidFill>
                  <a:prstClr val="black"/>
                </a:solidFill>
                <a:latin typeface="Arial"/>
              </a:rPr>
              <a:t>{</a:t>
            </a:r>
          </a:p>
          <a:p>
            <a:pPr defTabSz="457200" fontAlgn="base">
              <a:spcBef>
                <a:spcPct val="0"/>
              </a:spcBef>
              <a:spcAft>
                <a:spcPct val="0"/>
              </a:spcAft>
              <a:defRPr/>
            </a:pPr>
            <a:r>
              <a:rPr lang="en-US" sz="900" kern="0" dirty="0">
                <a:solidFill>
                  <a:prstClr val="black"/>
                </a:solidFill>
                <a:latin typeface="Arial"/>
              </a:rPr>
              <a:t>   L1: for (i = 0; i &lt; N; i++)</a:t>
            </a:r>
          </a:p>
          <a:p>
            <a:pPr defTabSz="457200" fontAlgn="base">
              <a:spcBef>
                <a:spcPct val="0"/>
              </a:spcBef>
              <a:spcAft>
                <a:spcPct val="0"/>
              </a:spcAft>
              <a:defRPr/>
            </a:pPr>
            <a:r>
              <a:rPr lang="en-US" sz="900" kern="0" dirty="0">
                <a:solidFill>
                  <a:prstClr val="black"/>
                </a:solidFill>
                <a:latin typeface="Arial"/>
              </a:rPr>
              <a:t>           A[i+x] = A[i] + i; </a:t>
            </a:r>
          </a:p>
          <a:p>
            <a:pPr defTabSz="457200" fontAlgn="base">
              <a:spcBef>
                <a:spcPct val="0"/>
              </a:spcBef>
              <a:spcAft>
                <a:spcPct val="0"/>
              </a:spcAft>
              <a:defRPr/>
            </a:pPr>
            <a:r>
              <a:rPr lang="en-US" sz="900" kern="0" dirty="0">
                <a:solidFill>
                  <a:prstClr val="black"/>
                </a:solidFill>
                <a:latin typeface="Arial"/>
              </a:rPr>
              <a:t>}</a:t>
            </a:r>
          </a:p>
          <a:p>
            <a:pPr defTabSz="457200" fontAlgn="base">
              <a:spcBef>
                <a:spcPct val="0"/>
              </a:spcBef>
              <a:spcAft>
                <a:spcPct val="0"/>
              </a:spcAft>
              <a:defRPr/>
            </a:pPr>
            <a:endParaRPr lang="en-US" sz="900" kern="0" dirty="0">
              <a:solidFill>
                <a:prstClr val="black"/>
              </a:solidFill>
              <a:latin typeface="Arial"/>
            </a:endParaRPr>
          </a:p>
        </p:txBody>
      </p:sp>
      <p:sp>
        <p:nvSpPr>
          <p:cNvPr id="81" name="Trapezoid 80">
            <a:extLst>
              <a:ext uri="{FF2B5EF4-FFF2-40B4-BE49-F238E27FC236}">
                <a16:creationId xmlns:a16="http://schemas.microsoft.com/office/drawing/2014/main" id="{515BCCF5-C423-4359-A3E2-21196F9A4629}"/>
              </a:ext>
            </a:extLst>
          </p:cNvPr>
          <p:cNvSpPr/>
          <p:nvPr/>
        </p:nvSpPr>
        <p:spPr>
          <a:xfrm rot="5400000">
            <a:off x="6975653" y="4171637"/>
            <a:ext cx="460860" cy="358353"/>
          </a:xfrm>
          <a:prstGeom prst="trapezoid">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b="1" kern="0" dirty="0">
                <a:solidFill>
                  <a:prstClr val="white"/>
                </a:solidFill>
                <a:latin typeface="Arial"/>
              </a:rPr>
              <a:t>+</a:t>
            </a:r>
          </a:p>
        </p:txBody>
      </p:sp>
      <p:cxnSp>
        <p:nvCxnSpPr>
          <p:cNvPr id="82" name="Straight Arrow Connector 81">
            <a:extLst>
              <a:ext uri="{FF2B5EF4-FFF2-40B4-BE49-F238E27FC236}">
                <a16:creationId xmlns:a16="http://schemas.microsoft.com/office/drawing/2014/main" id="{BA186C46-FB2B-4320-98D4-859D654BD16D}"/>
              </a:ext>
            </a:extLst>
          </p:cNvPr>
          <p:cNvCxnSpPr/>
          <p:nvPr/>
        </p:nvCxnSpPr>
        <p:spPr>
          <a:xfrm>
            <a:off x="6463856" y="4273891"/>
            <a:ext cx="56312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83" name="Straight Arrow Connector 82">
            <a:extLst>
              <a:ext uri="{FF2B5EF4-FFF2-40B4-BE49-F238E27FC236}">
                <a16:creationId xmlns:a16="http://schemas.microsoft.com/office/drawing/2014/main" id="{7754095B-0F8F-479F-B58F-02C77CE90BD1}"/>
              </a:ext>
            </a:extLst>
          </p:cNvPr>
          <p:cNvCxnSpPr/>
          <p:nvPr/>
        </p:nvCxnSpPr>
        <p:spPr>
          <a:xfrm>
            <a:off x="7385263" y="4350701"/>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84" name="Straight Arrow Connector 83">
            <a:extLst>
              <a:ext uri="{FF2B5EF4-FFF2-40B4-BE49-F238E27FC236}">
                <a16:creationId xmlns:a16="http://schemas.microsoft.com/office/drawing/2014/main" id="{F4B55307-1D27-4FBF-9822-D2D4FE507727}"/>
              </a:ext>
            </a:extLst>
          </p:cNvPr>
          <p:cNvCxnSpPr>
            <a:stCxn id="85" idx="20"/>
          </p:cNvCxnSpPr>
          <p:nvPr/>
        </p:nvCxnSpPr>
        <p:spPr>
          <a:xfrm flipV="1">
            <a:off x="6613502" y="4466028"/>
            <a:ext cx="413406" cy="11603"/>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85" name="Freeform 100">
            <a:extLst>
              <a:ext uri="{FF2B5EF4-FFF2-40B4-BE49-F238E27FC236}">
                <a16:creationId xmlns:a16="http://schemas.microsoft.com/office/drawing/2014/main" id="{A3276CF2-AC4B-464C-B6B2-6948B4F9BBA8}"/>
              </a:ext>
            </a:extLst>
          </p:cNvPr>
          <p:cNvSpPr/>
          <p:nvPr/>
        </p:nvSpPr>
        <p:spPr>
          <a:xfrm>
            <a:off x="6105428" y="4081978"/>
            <a:ext cx="603552" cy="567211"/>
          </a:xfrm>
          <a:custGeom>
            <a:avLst/>
            <a:gdLst>
              <a:gd name="connsiteX0" fmla="*/ 205309 w 452782"/>
              <a:gd name="connsiteY0" fmla="*/ 0 h 567211"/>
              <a:gd name="connsiteX1" fmla="*/ 205309 w 452782"/>
              <a:gd name="connsiteY1" fmla="*/ 0 h 567211"/>
              <a:gd name="connsiteX2" fmla="*/ 170139 w 452782"/>
              <a:gd name="connsiteY2" fmla="*/ 70338 h 567211"/>
              <a:gd name="connsiteX3" fmla="*/ 38255 w 452782"/>
              <a:gd name="connsiteY3" fmla="*/ 105507 h 567211"/>
              <a:gd name="connsiteX4" fmla="*/ 47047 w 452782"/>
              <a:gd name="connsiteY4" fmla="*/ 131884 h 567211"/>
              <a:gd name="connsiteX5" fmla="*/ 55839 w 452782"/>
              <a:gd name="connsiteY5" fmla="*/ 184638 h 567211"/>
              <a:gd name="connsiteX6" fmla="*/ 29463 w 452782"/>
              <a:gd name="connsiteY6" fmla="*/ 202223 h 567211"/>
              <a:gd name="connsiteX7" fmla="*/ 20670 w 452782"/>
              <a:gd name="connsiteY7" fmla="*/ 290146 h 567211"/>
              <a:gd name="connsiteX8" fmla="*/ 47047 w 452782"/>
              <a:gd name="connsiteY8" fmla="*/ 307730 h 567211"/>
              <a:gd name="connsiteX9" fmla="*/ 55839 w 452782"/>
              <a:gd name="connsiteY9" fmla="*/ 422030 h 567211"/>
              <a:gd name="connsiteX10" fmla="*/ 82216 w 452782"/>
              <a:gd name="connsiteY10" fmla="*/ 439615 h 567211"/>
              <a:gd name="connsiteX11" fmla="*/ 99801 w 452782"/>
              <a:gd name="connsiteY11" fmla="*/ 465992 h 567211"/>
              <a:gd name="connsiteX12" fmla="*/ 91009 w 452782"/>
              <a:gd name="connsiteY12" fmla="*/ 492369 h 567211"/>
              <a:gd name="connsiteX13" fmla="*/ 99801 w 452782"/>
              <a:gd name="connsiteY13" fmla="*/ 536330 h 567211"/>
              <a:gd name="connsiteX14" fmla="*/ 126178 w 452782"/>
              <a:gd name="connsiteY14" fmla="*/ 545123 h 567211"/>
              <a:gd name="connsiteX15" fmla="*/ 187724 w 452782"/>
              <a:gd name="connsiteY15" fmla="*/ 562707 h 567211"/>
              <a:gd name="connsiteX16" fmla="*/ 214101 w 452782"/>
              <a:gd name="connsiteY16" fmla="*/ 545123 h 567211"/>
              <a:gd name="connsiteX17" fmla="*/ 354778 w 452782"/>
              <a:gd name="connsiteY17" fmla="*/ 527538 h 567211"/>
              <a:gd name="connsiteX18" fmla="*/ 363570 w 452782"/>
              <a:gd name="connsiteY18" fmla="*/ 492369 h 567211"/>
              <a:gd name="connsiteX19" fmla="*/ 416324 w 452782"/>
              <a:gd name="connsiteY19" fmla="*/ 483576 h 567211"/>
              <a:gd name="connsiteX20" fmla="*/ 381155 w 452782"/>
              <a:gd name="connsiteY20" fmla="*/ 395653 h 567211"/>
              <a:gd name="connsiteX21" fmla="*/ 372363 w 452782"/>
              <a:gd name="connsiteY21" fmla="*/ 369276 h 567211"/>
              <a:gd name="connsiteX22" fmla="*/ 381155 w 452782"/>
              <a:gd name="connsiteY22" fmla="*/ 334107 h 567211"/>
              <a:gd name="connsiteX23" fmla="*/ 407532 w 452782"/>
              <a:gd name="connsiteY23" fmla="*/ 281353 h 567211"/>
              <a:gd name="connsiteX24" fmla="*/ 389947 w 452782"/>
              <a:gd name="connsiteY24" fmla="*/ 237392 h 567211"/>
              <a:gd name="connsiteX25" fmla="*/ 425116 w 452782"/>
              <a:gd name="connsiteY25" fmla="*/ 184638 h 567211"/>
              <a:gd name="connsiteX26" fmla="*/ 416324 w 452782"/>
              <a:gd name="connsiteY26" fmla="*/ 105507 h 567211"/>
              <a:gd name="connsiteX27" fmla="*/ 363570 w 452782"/>
              <a:gd name="connsiteY27" fmla="*/ 87923 h 567211"/>
              <a:gd name="connsiteX28" fmla="*/ 345986 w 452782"/>
              <a:gd name="connsiteY28" fmla="*/ 35169 h 567211"/>
              <a:gd name="connsiteX29" fmla="*/ 293232 w 452782"/>
              <a:gd name="connsiteY29" fmla="*/ 17584 h 567211"/>
              <a:gd name="connsiteX30" fmla="*/ 266855 w 452782"/>
              <a:gd name="connsiteY30" fmla="*/ 8792 h 567211"/>
              <a:gd name="connsiteX31" fmla="*/ 205309 w 452782"/>
              <a:gd name="connsiteY31" fmla="*/ 0 h 567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52782" h="567211">
                <a:moveTo>
                  <a:pt x="205309" y="0"/>
                </a:moveTo>
                <a:lnTo>
                  <a:pt x="205309" y="0"/>
                </a:lnTo>
                <a:cubicBezTo>
                  <a:pt x="193586" y="23446"/>
                  <a:pt x="193585" y="58615"/>
                  <a:pt x="170139" y="70338"/>
                </a:cubicBezTo>
                <a:cubicBezTo>
                  <a:pt x="15118" y="147848"/>
                  <a:pt x="65166" y="24772"/>
                  <a:pt x="38255" y="105507"/>
                </a:cubicBezTo>
                <a:cubicBezTo>
                  <a:pt x="41186" y="114299"/>
                  <a:pt x="42902" y="123595"/>
                  <a:pt x="47047" y="131884"/>
                </a:cubicBezTo>
                <a:cubicBezTo>
                  <a:pt x="58828" y="155445"/>
                  <a:pt x="77574" y="157469"/>
                  <a:pt x="55839" y="184638"/>
                </a:cubicBezTo>
                <a:cubicBezTo>
                  <a:pt x="49238" y="192889"/>
                  <a:pt x="38255" y="196361"/>
                  <a:pt x="29463" y="202223"/>
                </a:cubicBezTo>
                <a:cubicBezTo>
                  <a:pt x="19381" y="232469"/>
                  <a:pt x="0" y="259141"/>
                  <a:pt x="20670" y="290146"/>
                </a:cubicBezTo>
                <a:cubicBezTo>
                  <a:pt x="26531" y="298938"/>
                  <a:pt x="38255" y="301869"/>
                  <a:pt x="47047" y="307730"/>
                </a:cubicBezTo>
                <a:cubicBezTo>
                  <a:pt x="49978" y="345830"/>
                  <a:pt x="45993" y="385108"/>
                  <a:pt x="55839" y="422030"/>
                </a:cubicBezTo>
                <a:cubicBezTo>
                  <a:pt x="58562" y="432240"/>
                  <a:pt x="74744" y="432143"/>
                  <a:pt x="82216" y="439615"/>
                </a:cubicBezTo>
                <a:cubicBezTo>
                  <a:pt x="89688" y="447087"/>
                  <a:pt x="93939" y="457200"/>
                  <a:pt x="99801" y="465992"/>
                </a:cubicBezTo>
                <a:cubicBezTo>
                  <a:pt x="96870" y="474784"/>
                  <a:pt x="91009" y="483101"/>
                  <a:pt x="91009" y="492369"/>
                </a:cubicBezTo>
                <a:cubicBezTo>
                  <a:pt x="91009" y="507313"/>
                  <a:pt x="91512" y="523896"/>
                  <a:pt x="99801" y="536330"/>
                </a:cubicBezTo>
                <a:cubicBezTo>
                  <a:pt x="104942" y="544041"/>
                  <a:pt x="117267" y="542577"/>
                  <a:pt x="126178" y="545123"/>
                </a:cubicBezTo>
                <a:cubicBezTo>
                  <a:pt x="203485" y="567211"/>
                  <a:pt x="124461" y="541620"/>
                  <a:pt x="187724" y="562707"/>
                </a:cubicBezTo>
                <a:cubicBezTo>
                  <a:pt x="196516" y="556846"/>
                  <a:pt x="203715" y="547070"/>
                  <a:pt x="214101" y="545123"/>
                </a:cubicBezTo>
                <a:cubicBezTo>
                  <a:pt x="431319" y="504395"/>
                  <a:pt x="269429" y="555987"/>
                  <a:pt x="354778" y="527538"/>
                </a:cubicBezTo>
                <a:cubicBezTo>
                  <a:pt x="357709" y="515815"/>
                  <a:pt x="353737" y="499393"/>
                  <a:pt x="363570" y="492369"/>
                </a:cubicBezTo>
                <a:cubicBezTo>
                  <a:pt x="378077" y="482007"/>
                  <a:pt x="408351" y="499521"/>
                  <a:pt x="416324" y="483576"/>
                </a:cubicBezTo>
                <a:cubicBezTo>
                  <a:pt x="452782" y="410660"/>
                  <a:pt x="416549" y="407452"/>
                  <a:pt x="381155" y="395653"/>
                </a:cubicBezTo>
                <a:cubicBezTo>
                  <a:pt x="378224" y="386861"/>
                  <a:pt x="372363" y="378544"/>
                  <a:pt x="372363" y="369276"/>
                </a:cubicBezTo>
                <a:cubicBezTo>
                  <a:pt x="372363" y="357192"/>
                  <a:pt x="377835" y="345726"/>
                  <a:pt x="381155" y="334107"/>
                </a:cubicBezTo>
                <a:cubicBezTo>
                  <a:pt x="390255" y="302255"/>
                  <a:pt x="388264" y="310254"/>
                  <a:pt x="407532" y="281353"/>
                </a:cubicBezTo>
                <a:cubicBezTo>
                  <a:pt x="429631" y="215053"/>
                  <a:pt x="412673" y="294205"/>
                  <a:pt x="389947" y="237392"/>
                </a:cubicBezTo>
                <a:cubicBezTo>
                  <a:pt x="382676" y="219214"/>
                  <a:pt x="419012" y="190742"/>
                  <a:pt x="425116" y="184638"/>
                </a:cubicBezTo>
                <a:cubicBezTo>
                  <a:pt x="422185" y="158261"/>
                  <a:pt x="430572" y="127897"/>
                  <a:pt x="416324" y="105507"/>
                </a:cubicBezTo>
                <a:cubicBezTo>
                  <a:pt x="406373" y="89869"/>
                  <a:pt x="363570" y="87923"/>
                  <a:pt x="363570" y="87923"/>
                </a:cubicBezTo>
                <a:cubicBezTo>
                  <a:pt x="357709" y="70338"/>
                  <a:pt x="363571" y="41031"/>
                  <a:pt x="345986" y="35169"/>
                </a:cubicBezTo>
                <a:lnTo>
                  <a:pt x="293232" y="17584"/>
                </a:lnTo>
                <a:lnTo>
                  <a:pt x="266855" y="8792"/>
                </a:lnTo>
                <a:cubicBezTo>
                  <a:pt x="234917" y="19438"/>
                  <a:pt x="215567" y="1465"/>
                  <a:pt x="205309" y="0"/>
                </a:cubicBezTo>
                <a:close/>
              </a:path>
            </a:pathLst>
          </a:cu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86" name="Straight Arrow Connector 85">
            <a:extLst>
              <a:ext uri="{FF2B5EF4-FFF2-40B4-BE49-F238E27FC236}">
                <a16:creationId xmlns:a16="http://schemas.microsoft.com/office/drawing/2014/main" id="{739AAB8C-C873-4A69-AE34-01A651C874C1}"/>
              </a:ext>
            </a:extLst>
          </p:cNvPr>
          <p:cNvCxnSpPr/>
          <p:nvPr/>
        </p:nvCxnSpPr>
        <p:spPr>
          <a:xfrm>
            <a:off x="5337528" y="4389106"/>
            <a:ext cx="819092"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87" name="Straight Connector 86">
            <a:extLst>
              <a:ext uri="{FF2B5EF4-FFF2-40B4-BE49-F238E27FC236}">
                <a16:creationId xmlns:a16="http://schemas.microsoft.com/office/drawing/2014/main" id="{5EDF6C99-0CF0-44C0-8E07-E620FE955585}"/>
              </a:ext>
            </a:extLst>
          </p:cNvPr>
          <p:cNvCxnSpPr/>
          <p:nvPr/>
        </p:nvCxnSpPr>
        <p:spPr>
          <a:xfrm rot="5400000" flipH="1" flipV="1">
            <a:off x="4915073" y="3966651"/>
            <a:ext cx="844910"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88" name="Straight Connector 87">
            <a:extLst>
              <a:ext uri="{FF2B5EF4-FFF2-40B4-BE49-F238E27FC236}">
                <a16:creationId xmlns:a16="http://schemas.microsoft.com/office/drawing/2014/main" id="{E9C2E5DB-C42F-4905-80A0-F893DB452809}"/>
              </a:ext>
            </a:extLst>
          </p:cNvPr>
          <p:cNvCxnSpPr/>
          <p:nvPr/>
        </p:nvCxnSpPr>
        <p:spPr>
          <a:xfrm>
            <a:off x="5337528" y="3544196"/>
            <a:ext cx="5784846"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91" name="Straight Connector 90">
            <a:extLst>
              <a:ext uri="{FF2B5EF4-FFF2-40B4-BE49-F238E27FC236}">
                <a16:creationId xmlns:a16="http://schemas.microsoft.com/office/drawing/2014/main" id="{365227ED-06ED-468F-B0E3-B6AB5452E1B5}"/>
              </a:ext>
            </a:extLst>
          </p:cNvPr>
          <p:cNvCxnSpPr/>
          <p:nvPr/>
        </p:nvCxnSpPr>
        <p:spPr>
          <a:xfrm rot="5400000">
            <a:off x="10872816" y="3793829"/>
            <a:ext cx="499267"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sp>
        <p:nvSpPr>
          <p:cNvPr id="93" name="TextBox 92">
            <a:extLst>
              <a:ext uri="{FF2B5EF4-FFF2-40B4-BE49-F238E27FC236}">
                <a16:creationId xmlns:a16="http://schemas.microsoft.com/office/drawing/2014/main" id="{845213B7-37ED-4286-9170-A1A3B1B88C6D}"/>
              </a:ext>
            </a:extLst>
          </p:cNvPr>
          <p:cNvSpPr txBox="1"/>
          <p:nvPr/>
        </p:nvSpPr>
        <p:spPr>
          <a:xfrm>
            <a:off x="2521970" y="4810868"/>
            <a:ext cx="2764439"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Number of ports defined by the RAM resource </a:t>
            </a:r>
          </a:p>
        </p:txBody>
      </p:sp>
      <p:cxnSp>
        <p:nvCxnSpPr>
          <p:cNvPr id="95" name="Straight Arrow Connector 94">
            <a:extLst>
              <a:ext uri="{FF2B5EF4-FFF2-40B4-BE49-F238E27FC236}">
                <a16:creationId xmlns:a16="http://schemas.microsoft.com/office/drawing/2014/main" id="{69473583-7155-4B0D-9FA7-C0E184FB8322}"/>
              </a:ext>
            </a:extLst>
          </p:cNvPr>
          <p:cNvCxnSpPr/>
          <p:nvPr/>
        </p:nvCxnSpPr>
        <p:spPr>
          <a:xfrm>
            <a:off x="8102042" y="5157206"/>
            <a:ext cx="1226133"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96" name="Straight Arrow Connector 95">
            <a:extLst>
              <a:ext uri="{FF2B5EF4-FFF2-40B4-BE49-F238E27FC236}">
                <a16:creationId xmlns:a16="http://schemas.microsoft.com/office/drawing/2014/main" id="{26C2DB56-3C97-43F0-B4E3-D43AB08BE39E}"/>
              </a:ext>
            </a:extLst>
          </p:cNvPr>
          <p:cNvCxnSpPr/>
          <p:nvPr/>
        </p:nvCxnSpPr>
        <p:spPr>
          <a:xfrm>
            <a:off x="8050774" y="5426153"/>
            <a:ext cx="1277326" cy="783"/>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97" name="TextBox 96">
            <a:extLst>
              <a:ext uri="{FF2B5EF4-FFF2-40B4-BE49-F238E27FC236}">
                <a16:creationId xmlns:a16="http://schemas.microsoft.com/office/drawing/2014/main" id="{66AD4F17-C23D-4E62-9A2B-A2DB19BAA56B}"/>
              </a:ext>
            </a:extLst>
          </p:cNvPr>
          <p:cNvSpPr txBox="1"/>
          <p:nvPr/>
        </p:nvSpPr>
        <p:spPr>
          <a:xfrm>
            <a:off x="9228219" y="4850078"/>
            <a:ext cx="47641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DIN1</a:t>
            </a:r>
          </a:p>
        </p:txBody>
      </p:sp>
      <p:sp>
        <p:nvSpPr>
          <p:cNvPr id="98" name="TextBox 97">
            <a:extLst>
              <a:ext uri="{FF2B5EF4-FFF2-40B4-BE49-F238E27FC236}">
                <a16:creationId xmlns:a16="http://schemas.microsoft.com/office/drawing/2014/main" id="{1FD544CE-3811-4FEC-B2EC-A8966211663A}"/>
              </a:ext>
            </a:extLst>
          </p:cNvPr>
          <p:cNvSpPr txBox="1"/>
          <p:nvPr/>
        </p:nvSpPr>
        <p:spPr>
          <a:xfrm>
            <a:off x="9228222" y="5026312"/>
            <a:ext cx="627095"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ADDR1</a:t>
            </a:r>
          </a:p>
        </p:txBody>
      </p:sp>
      <p:sp>
        <p:nvSpPr>
          <p:cNvPr id="99" name="TextBox 98">
            <a:extLst>
              <a:ext uri="{FF2B5EF4-FFF2-40B4-BE49-F238E27FC236}">
                <a16:creationId xmlns:a16="http://schemas.microsoft.com/office/drawing/2014/main" id="{D3237637-C242-4C51-8F8F-846BA9E83058}"/>
              </a:ext>
            </a:extLst>
          </p:cNvPr>
          <p:cNvSpPr txBox="1"/>
          <p:nvPr/>
        </p:nvSpPr>
        <p:spPr>
          <a:xfrm>
            <a:off x="9228219" y="5295147"/>
            <a:ext cx="43313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CE1</a:t>
            </a:r>
          </a:p>
        </p:txBody>
      </p:sp>
      <p:cxnSp>
        <p:nvCxnSpPr>
          <p:cNvPr id="103" name="Straight Arrow Connector 102">
            <a:extLst>
              <a:ext uri="{FF2B5EF4-FFF2-40B4-BE49-F238E27FC236}">
                <a16:creationId xmlns:a16="http://schemas.microsoft.com/office/drawing/2014/main" id="{205057F0-A03F-4996-87DE-ADB3BC1C58FD}"/>
              </a:ext>
            </a:extLst>
          </p:cNvPr>
          <p:cNvCxnSpPr/>
          <p:nvPr/>
        </p:nvCxnSpPr>
        <p:spPr>
          <a:xfrm>
            <a:off x="8050774" y="5579661"/>
            <a:ext cx="1279832" cy="16574"/>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104" name="TextBox 103">
            <a:extLst>
              <a:ext uri="{FF2B5EF4-FFF2-40B4-BE49-F238E27FC236}">
                <a16:creationId xmlns:a16="http://schemas.microsoft.com/office/drawing/2014/main" id="{2625BD78-BBAB-4875-8754-97BE661DA60A}"/>
              </a:ext>
            </a:extLst>
          </p:cNvPr>
          <p:cNvSpPr txBox="1"/>
          <p:nvPr/>
        </p:nvSpPr>
        <p:spPr>
          <a:xfrm>
            <a:off x="9230725" y="5464558"/>
            <a:ext cx="461986"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WE1</a:t>
            </a:r>
          </a:p>
        </p:txBody>
      </p:sp>
      <p:cxnSp>
        <p:nvCxnSpPr>
          <p:cNvPr id="105" name="Straight Arrow Connector 104">
            <a:extLst>
              <a:ext uri="{FF2B5EF4-FFF2-40B4-BE49-F238E27FC236}">
                <a16:creationId xmlns:a16="http://schemas.microsoft.com/office/drawing/2014/main" id="{25A903D6-85CD-4FF6-8342-1DE2C69CB986}"/>
              </a:ext>
            </a:extLst>
          </p:cNvPr>
          <p:cNvCxnSpPr/>
          <p:nvPr/>
        </p:nvCxnSpPr>
        <p:spPr>
          <a:xfrm>
            <a:off x="8204356" y="5003586"/>
            <a:ext cx="1126252"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106" name="Freeform 101">
            <a:extLst>
              <a:ext uri="{FF2B5EF4-FFF2-40B4-BE49-F238E27FC236}">
                <a16:creationId xmlns:a16="http://schemas.microsoft.com/office/drawing/2014/main" id="{9508992F-AA0A-4CD2-BD3F-4285D0295A8B}"/>
              </a:ext>
            </a:extLst>
          </p:cNvPr>
          <p:cNvSpPr/>
          <p:nvPr/>
        </p:nvSpPr>
        <p:spPr>
          <a:xfrm>
            <a:off x="7743615" y="3928246"/>
            <a:ext cx="819093" cy="1689820"/>
          </a:xfrm>
          <a:custGeom>
            <a:avLst/>
            <a:gdLst>
              <a:gd name="connsiteX0" fmla="*/ 205309 w 452782"/>
              <a:gd name="connsiteY0" fmla="*/ 0 h 567211"/>
              <a:gd name="connsiteX1" fmla="*/ 205309 w 452782"/>
              <a:gd name="connsiteY1" fmla="*/ 0 h 567211"/>
              <a:gd name="connsiteX2" fmla="*/ 170139 w 452782"/>
              <a:gd name="connsiteY2" fmla="*/ 70338 h 567211"/>
              <a:gd name="connsiteX3" fmla="*/ 38255 w 452782"/>
              <a:gd name="connsiteY3" fmla="*/ 105507 h 567211"/>
              <a:gd name="connsiteX4" fmla="*/ 47047 w 452782"/>
              <a:gd name="connsiteY4" fmla="*/ 131884 h 567211"/>
              <a:gd name="connsiteX5" fmla="*/ 55839 w 452782"/>
              <a:gd name="connsiteY5" fmla="*/ 184638 h 567211"/>
              <a:gd name="connsiteX6" fmla="*/ 29463 w 452782"/>
              <a:gd name="connsiteY6" fmla="*/ 202223 h 567211"/>
              <a:gd name="connsiteX7" fmla="*/ 20670 w 452782"/>
              <a:gd name="connsiteY7" fmla="*/ 290146 h 567211"/>
              <a:gd name="connsiteX8" fmla="*/ 47047 w 452782"/>
              <a:gd name="connsiteY8" fmla="*/ 307730 h 567211"/>
              <a:gd name="connsiteX9" fmla="*/ 55839 w 452782"/>
              <a:gd name="connsiteY9" fmla="*/ 422030 h 567211"/>
              <a:gd name="connsiteX10" fmla="*/ 82216 w 452782"/>
              <a:gd name="connsiteY10" fmla="*/ 439615 h 567211"/>
              <a:gd name="connsiteX11" fmla="*/ 99801 w 452782"/>
              <a:gd name="connsiteY11" fmla="*/ 465992 h 567211"/>
              <a:gd name="connsiteX12" fmla="*/ 91009 w 452782"/>
              <a:gd name="connsiteY12" fmla="*/ 492369 h 567211"/>
              <a:gd name="connsiteX13" fmla="*/ 99801 w 452782"/>
              <a:gd name="connsiteY13" fmla="*/ 536330 h 567211"/>
              <a:gd name="connsiteX14" fmla="*/ 126178 w 452782"/>
              <a:gd name="connsiteY14" fmla="*/ 545123 h 567211"/>
              <a:gd name="connsiteX15" fmla="*/ 187724 w 452782"/>
              <a:gd name="connsiteY15" fmla="*/ 562707 h 567211"/>
              <a:gd name="connsiteX16" fmla="*/ 214101 w 452782"/>
              <a:gd name="connsiteY16" fmla="*/ 545123 h 567211"/>
              <a:gd name="connsiteX17" fmla="*/ 354778 w 452782"/>
              <a:gd name="connsiteY17" fmla="*/ 527538 h 567211"/>
              <a:gd name="connsiteX18" fmla="*/ 363570 w 452782"/>
              <a:gd name="connsiteY18" fmla="*/ 492369 h 567211"/>
              <a:gd name="connsiteX19" fmla="*/ 416324 w 452782"/>
              <a:gd name="connsiteY19" fmla="*/ 483576 h 567211"/>
              <a:gd name="connsiteX20" fmla="*/ 381155 w 452782"/>
              <a:gd name="connsiteY20" fmla="*/ 395653 h 567211"/>
              <a:gd name="connsiteX21" fmla="*/ 372363 w 452782"/>
              <a:gd name="connsiteY21" fmla="*/ 369276 h 567211"/>
              <a:gd name="connsiteX22" fmla="*/ 381155 w 452782"/>
              <a:gd name="connsiteY22" fmla="*/ 334107 h 567211"/>
              <a:gd name="connsiteX23" fmla="*/ 407532 w 452782"/>
              <a:gd name="connsiteY23" fmla="*/ 281353 h 567211"/>
              <a:gd name="connsiteX24" fmla="*/ 389947 w 452782"/>
              <a:gd name="connsiteY24" fmla="*/ 237392 h 567211"/>
              <a:gd name="connsiteX25" fmla="*/ 425116 w 452782"/>
              <a:gd name="connsiteY25" fmla="*/ 184638 h 567211"/>
              <a:gd name="connsiteX26" fmla="*/ 416324 w 452782"/>
              <a:gd name="connsiteY26" fmla="*/ 105507 h 567211"/>
              <a:gd name="connsiteX27" fmla="*/ 363570 w 452782"/>
              <a:gd name="connsiteY27" fmla="*/ 87923 h 567211"/>
              <a:gd name="connsiteX28" fmla="*/ 345986 w 452782"/>
              <a:gd name="connsiteY28" fmla="*/ 35169 h 567211"/>
              <a:gd name="connsiteX29" fmla="*/ 293232 w 452782"/>
              <a:gd name="connsiteY29" fmla="*/ 17584 h 567211"/>
              <a:gd name="connsiteX30" fmla="*/ 266855 w 452782"/>
              <a:gd name="connsiteY30" fmla="*/ 8792 h 567211"/>
              <a:gd name="connsiteX31" fmla="*/ 205309 w 452782"/>
              <a:gd name="connsiteY31" fmla="*/ 0 h 567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52782" h="567211">
                <a:moveTo>
                  <a:pt x="205309" y="0"/>
                </a:moveTo>
                <a:lnTo>
                  <a:pt x="205309" y="0"/>
                </a:lnTo>
                <a:cubicBezTo>
                  <a:pt x="193586" y="23446"/>
                  <a:pt x="193585" y="58615"/>
                  <a:pt x="170139" y="70338"/>
                </a:cubicBezTo>
                <a:cubicBezTo>
                  <a:pt x="15118" y="147848"/>
                  <a:pt x="65166" y="24772"/>
                  <a:pt x="38255" y="105507"/>
                </a:cubicBezTo>
                <a:cubicBezTo>
                  <a:pt x="41186" y="114299"/>
                  <a:pt x="42902" y="123595"/>
                  <a:pt x="47047" y="131884"/>
                </a:cubicBezTo>
                <a:cubicBezTo>
                  <a:pt x="58828" y="155445"/>
                  <a:pt x="77574" y="157469"/>
                  <a:pt x="55839" y="184638"/>
                </a:cubicBezTo>
                <a:cubicBezTo>
                  <a:pt x="49238" y="192889"/>
                  <a:pt x="38255" y="196361"/>
                  <a:pt x="29463" y="202223"/>
                </a:cubicBezTo>
                <a:cubicBezTo>
                  <a:pt x="19381" y="232469"/>
                  <a:pt x="0" y="259141"/>
                  <a:pt x="20670" y="290146"/>
                </a:cubicBezTo>
                <a:cubicBezTo>
                  <a:pt x="26531" y="298938"/>
                  <a:pt x="38255" y="301869"/>
                  <a:pt x="47047" y="307730"/>
                </a:cubicBezTo>
                <a:cubicBezTo>
                  <a:pt x="49978" y="345830"/>
                  <a:pt x="45993" y="385108"/>
                  <a:pt x="55839" y="422030"/>
                </a:cubicBezTo>
                <a:cubicBezTo>
                  <a:pt x="58562" y="432240"/>
                  <a:pt x="74744" y="432143"/>
                  <a:pt x="82216" y="439615"/>
                </a:cubicBezTo>
                <a:cubicBezTo>
                  <a:pt x="89688" y="447087"/>
                  <a:pt x="93939" y="457200"/>
                  <a:pt x="99801" y="465992"/>
                </a:cubicBezTo>
                <a:cubicBezTo>
                  <a:pt x="96870" y="474784"/>
                  <a:pt x="91009" y="483101"/>
                  <a:pt x="91009" y="492369"/>
                </a:cubicBezTo>
                <a:cubicBezTo>
                  <a:pt x="91009" y="507313"/>
                  <a:pt x="91512" y="523896"/>
                  <a:pt x="99801" y="536330"/>
                </a:cubicBezTo>
                <a:cubicBezTo>
                  <a:pt x="104942" y="544041"/>
                  <a:pt x="117267" y="542577"/>
                  <a:pt x="126178" y="545123"/>
                </a:cubicBezTo>
                <a:cubicBezTo>
                  <a:pt x="203485" y="567211"/>
                  <a:pt x="124461" y="541620"/>
                  <a:pt x="187724" y="562707"/>
                </a:cubicBezTo>
                <a:cubicBezTo>
                  <a:pt x="196516" y="556846"/>
                  <a:pt x="203715" y="547070"/>
                  <a:pt x="214101" y="545123"/>
                </a:cubicBezTo>
                <a:cubicBezTo>
                  <a:pt x="431319" y="504395"/>
                  <a:pt x="269429" y="555987"/>
                  <a:pt x="354778" y="527538"/>
                </a:cubicBezTo>
                <a:cubicBezTo>
                  <a:pt x="357709" y="515815"/>
                  <a:pt x="353737" y="499393"/>
                  <a:pt x="363570" y="492369"/>
                </a:cubicBezTo>
                <a:cubicBezTo>
                  <a:pt x="378077" y="482007"/>
                  <a:pt x="408351" y="499521"/>
                  <a:pt x="416324" y="483576"/>
                </a:cubicBezTo>
                <a:cubicBezTo>
                  <a:pt x="452782" y="410660"/>
                  <a:pt x="416549" y="407452"/>
                  <a:pt x="381155" y="395653"/>
                </a:cubicBezTo>
                <a:cubicBezTo>
                  <a:pt x="378224" y="386861"/>
                  <a:pt x="372363" y="378544"/>
                  <a:pt x="372363" y="369276"/>
                </a:cubicBezTo>
                <a:cubicBezTo>
                  <a:pt x="372363" y="357192"/>
                  <a:pt x="377835" y="345726"/>
                  <a:pt x="381155" y="334107"/>
                </a:cubicBezTo>
                <a:cubicBezTo>
                  <a:pt x="390255" y="302255"/>
                  <a:pt x="388264" y="310254"/>
                  <a:pt x="407532" y="281353"/>
                </a:cubicBezTo>
                <a:cubicBezTo>
                  <a:pt x="429631" y="215053"/>
                  <a:pt x="412673" y="294205"/>
                  <a:pt x="389947" y="237392"/>
                </a:cubicBezTo>
                <a:cubicBezTo>
                  <a:pt x="382676" y="219214"/>
                  <a:pt x="419012" y="190742"/>
                  <a:pt x="425116" y="184638"/>
                </a:cubicBezTo>
                <a:cubicBezTo>
                  <a:pt x="422185" y="158261"/>
                  <a:pt x="430572" y="127897"/>
                  <a:pt x="416324" y="105507"/>
                </a:cubicBezTo>
                <a:cubicBezTo>
                  <a:pt x="406373" y="89869"/>
                  <a:pt x="363570" y="87923"/>
                  <a:pt x="363570" y="87923"/>
                </a:cubicBezTo>
                <a:cubicBezTo>
                  <a:pt x="357709" y="70338"/>
                  <a:pt x="363571" y="41031"/>
                  <a:pt x="345986" y="35169"/>
                </a:cubicBezTo>
                <a:lnTo>
                  <a:pt x="293232" y="17584"/>
                </a:lnTo>
                <a:lnTo>
                  <a:pt x="266855" y="8792"/>
                </a:lnTo>
                <a:cubicBezTo>
                  <a:pt x="234917" y="19438"/>
                  <a:pt x="215567" y="1465"/>
                  <a:pt x="205309" y="0"/>
                </a:cubicBezTo>
                <a:close/>
              </a:path>
            </a:pathLst>
          </a:cu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107" name="Straight Arrow Connector 106">
            <a:extLst>
              <a:ext uri="{FF2B5EF4-FFF2-40B4-BE49-F238E27FC236}">
                <a16:creationId xmlns:a16="http://schemas.microsoft.com/office/drawing/2014/main" id="{DCE12B4A-34B5-4DB6-BF76-1D999BA5325D}"/>
              </a:ext>
            </a:extLst>
          </p:cNvPr>
          <p:cNvCxnSpPr/>
          <p:nvPr/>
        </p:nvCxnSpPr>
        <p:spPr>
          <a:xfrm>
            <a:off x="10755654" y="4987907"/>
            <a:ext cx="520300" cy="15791"/>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108" name="TextBox 107">
            <a:extLst>
              <a:ext uri="{FF2B5EF4-FFF2-40B4-BE49-F238E27FC236}">
                <a16:creationId xmlns:a16="http://schemas.microsoft.com/office/drawing/2014/main" id="{ADC841E8-1E62-405C-B619-F333AA9A2624}"/>
              </a:ext>
            </a:extLst>
          </p:cNvPr>
          <p:cNvSpPr txBox="1"/>
          <p:nvPr/>
        </p:nvSpPr>
        <p:spPr>
          <a:xfrm>
            <a:off x="10202268" y="4872692"/>
            <a:ext cx="619079"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DOUT1</a:t>
            </a:r>
          </a:p>
        </p:txBody>
      </p:sp>
      <p:cxnSp>
        <p:nvCxnSpPr>
          <p:cNvPr id="109" name="Straight Connector 108">
            <a:extLst>
              <a:ext uri="{FF2B5EF4-FFF2-40B4-BE49-F238E27FC236}">
                <a16:creationId xmlns:a16="http://schemas.microsoft.com/office/drawing/2014/main" id="{26CC7D81-2682-4C51-834E-360FE1D87AC6}"/>
              </a:ext>
            </a:extLst>
          </p:cNvPr>
          <p:cNvCxnSpPr/>
          <p:nvPr/>
        </p:nvCxnSpPr>
        <p:spPr>
          <a:xfrm flipH="1">
            <a:off x="11276029" y="3429093"/>
            <a:ext cx="51193" cy="1574607"/>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110" name="Straight Connector 109">
            <a:extLst>
              <a:ext uri="{FF2B5EF4-FFF2-40B4-BE49-F238E27FC236}">
                <a16:creationId xmlns:a16="http://schemas.microsoft.com/office/drawing/2014/main" id="{56B9AE49-2892-4F7F-87A3-E6240D78EF7E}"/>
              </a:ext>
            </a:extLst>
          </p:cNvPr>
          <p:cNvCxnSpPr/>
          <p:nvPr/>
        </p:nvCxnSpPr>
        <p:spPr>
          <a:xfrm>
            <a:off x="5183947" y="3428981"/>
            <a:ext cx="6141574"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111" name="Straight Arrow Connector 110">
            <a:extLst>
              <a:ext uri="{FF2B5EF4-FFF2-40B4-BE49-F238E27FC236}">
                <a16:creationId xmlns:a16="http://schemas.microsoft.com/office/drawing/2014/main" id="{1AEFC9A0-FD5A-4E12-B9CD-2C42627C902C}"/>
              </a:ext>
            </a:extLst>
          </p:cNvPr>
          <p:cNvCxnSpPr>
            <a:endCxn id="85" idx="11"/>
          </p:cNvCxnSpPr>
          <p:nvPr/>
        </p:nvCxnSpPr>
        <p:spPr>
          <a:xfrm>
            <a:off x="5183949" y="4541506"/>
            <a:ext cx="1054512" cy="6352"/>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112" name="Straight Connector 111">
            <a:extLst>
              <a:ext uri="{FF2B5EF4-FFF2-40B4-BE49-F238E27FC236}">
                <a16:creationId xmlns:a16="http://schemas.microsoft.com/office/drawing/2014/main" id="{6D209694-7169-4185-B768-77F23C41756C}"/>
              </a:ext>
            </a:extLst>
          </p:cNvPr>
          <p:cNvCxnSpPr/>
          <p:nvPr/>
        </p:nvCxnSpPr>
        <p:spPr>
          <a:xfrm flipH="1" flipV="1">
            <a:off x="5183948" y="3429000"/>
            <a:ext cx="3" cy="1112525"/>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Schedule after an Array Optimization</a:t>
            </a:r>
          </a:p>
        </p:txBody>
      </p:sp>
      <p:sp>
        <p:nvSpPr>
          <p:cNvPr id="3" name="Content Placeholder 2"/>
          <p:cNvSpPr>
            <a:spLocks noGrp="1"/>
          </p:cNvSpPr>
          <p:nvPr>
            <p:ph idx="1"/>
          </p:nvPr>
        </p:nvSpPr>
        <p:spPr/>
        <p:txBody>
          <a:bodyPr>
            <a:normAutofit fontScale="92500" lnSpcReduction="20000"/>
          </a:bodyPr>
          <a:lstStyle/>
          <a:p>
            <a:r>
              <a:rPr lang="en-US" dirty="0"/>
              <a:t>With the existing code &amp; defaults</a:t>
            </a:r>
          </a:p>
          <a:p>
            <a:pPr lvl="1"/>
            <a:r>
              <a:rPr lang="en-US" dirty="0"/>
              <a:t>Port C is a dual port RAM</a:t>
            </a:r>
          </a:p>
          <a:p>
            <a:pPr lvl="1"/>
            <a:r>
              <a:rPr lang="en-US" dirty="0"/>
              <a:t>Allows 2 reads per clock cycles</a:t>
            </a:r>
          </a:p>
          <a:p>
            <a:pPr lvl="2"/>
            <a:r>
              <a:rPr lang="en-US" dirty="0"/>
              <a:t>IO behavior impacts performance</a:t>
            </a:r>
          </a:p>
          <a:p>
            <a:pPr>
              <a:buNone/>
            </a:pPr>
            <a:endParaRPr lang="en-US" dirty="0"/>
          </a:p>
          <a:p>
            <a:endParaRPr lang="en-US" dirty="0"/>
          </a:p>
          <a:p>
            <a:endParaRPr lang="en-US" dirty="0"/>
          </a:p>
          <a:p>
            <a:r>
              <a:rPr lang="en-US" dirty="0"/>
              <a:t>With the C port partitioned into (4) separate ports</a:t>
            </a:r>
          </a:p>
          <a:p>
            <a:pPr lvl="1"/>
            <a:r>
              <a:rPr lang="en-US" dirty="0"/>
              <a:t>All reads and </a:t>
            </a:r>
            <a:r>
              <a:rPr lang="en-US" dirty="0" err="1"/>
              <a:t>mults</a:t>
            </a:r>
            <a:r>
              <a:rPr lang="en-US" dirty="0"/>
              <a:t> can occur in one cycle</a:t>
            </a:r>
          </a:p>
          <a:p>
            <a:pPr lvl="1"/>
            <a:r>
              <a:rPr lang="en-US" dirty="0"/>
              <a:t>If the timing allows</a:t>
            </a:r>
          </a:p>
          <a:p>
            <a:pPr lvl="2"/>
            <a:r>
              <a:rPr lang="en-US" dirty="0"/>
              <a:t>The additions can also occur in the same cycle</a:t>
            </a:r>
          </a:p>
          <a:p>
            <a:pPr lvl="2"/>
            <a:r>
              <a:rPr lang="en-US" dirty="0"/>
              <a:t>The write can be performed in the same cycles</a:t>
            </a:r>
          </a:p>
          <a:p>
            <a:pPr lvl="2"/>
            <a:r>
              <a:rPr lang="en-US" dirty="0"/>
              <a:t>Optionally the port reads and writes could be registered</a:t>
            </a:r>
          </a:p>
          <a:p>
            <a:pPr lvl="1"/>
            <a:endParaRPr lang="en-US" dirty="0"/>
          </a:p>
        </p:txBody>
      </p:sp>
      <p:sp>
        <p:nvSpPr>
          <p:cNvPr id="4" name="Slide Number Placeholder 3">
            <a:extLst>
              <a:ext uri="{FF2B5EF4-FFF2-40B4-BE49-F238E27FC236}">
                <a16:creationId xmlns:a16="http://schemas.microsoft.com/office/drawing/2014/main" id="{1FBDDD62-E391-4619-9BA6-0FB296D5E20E}"/>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29</a:t>
            </a:fld>
            <a:endParaRPr lang="en-US" dirty="0"/>
          </a:p>
        </p:txBody>
      </p:sp>
      <p:sp>
        <p:nvSpPr>
          <p:cNvPr id="54" name="TextBox 53"/>
          <p:cNvSpPr txBox="1"/>
          <p:nvPr/>
        </p:nvSpPr>
        <p:spPr>
          <a:xfrm>
            <a:off x="1191633" y="2813809"/>
            <a:ext cx="5800323" cy="461665"/>
          </a:xfrm>
          <a:prstGeom prst="rect">
            <a:avLst/>
          </a:prstGeom>
          <a:solidFill>
            <a:srgbClr val="FFFF99"/>
          </a:solidFill>
          <a:ln w="19050">
            <a:solidFill>
              <a:schemeClr val="tx1"/>
            </a:solidFill>
          </a:ln>
          <a:effectLst>
            <a:innerShdw blurRad="63500" dist="50800" dir="2700000">
              <a:prstClr val="black">
                <a:alpha val="50000"/>
              </a:prstClr>
            </a:innerShdw>
          </a:effectLst>
        </p:spPr>
        <p:txBody>
          <a:bodyPr wrap="square" rtlCol="0">
            <a:spAutoFit/>
          </a:bodyPr>
          <a:lstStyle/>
          <a:p>
            <a:pPr defTabSz="457200"/>
            <a:r>
              <a:rPr lang="en-US" sz="1200" b="1" u="sng" dirty="0">
                <a:solidFill>
                  <a:prstClr val="black"/>
                </a:solidFill>
                <a:ea typeface="ＭＳ Ｐゴシック" pitchFamily="34" charset="-128"/>
                <a:cs typeface="Arial" charset="0"/>
              </a:rPr>
              <a:t>Note</a:t>
            </a:r>
            <a:r>
              <a:rPr lang="en-US" sz="1200" b="1" dirty="0">
                <a:solidFill>
                  <a:prstClr val="black"/>
                </a:solidFill>
                <a:ea typeface="ＭＳ Ｐゴシック" pitchFamily="34" charset="-128"/>
                <a:cs typeface="Arial" charset="0"/>
              </a:rPr>
              <a:t>: It could have performed 2 reads in the original rolled design but there was no advantage since the rolled loop forced a single read per cycle</a:t>
            </a:r>
          </a:p>
        </p:txBody>
      </p:sp>
      <p:sp>
        <p:nvSpPr>
          <p:cNvPr id="94" name="Rectangle 93">
            <a:extLst>
              <a:ext uri="{FF2B5EF4-FFF2-40B4-BE49-F238E27FC236}">
                <a16:creationId xmlns:a16="http://schemas.microsoft.com/office/drawing/2014/main" id="{8EA877F6-444B-48FC-A58B-17B83E313FBE}"/>
              </a:ext>
            </a:extLst>
          </p:cNvPr>
          <p:cNvSpPr/>
          <p:nvPr/>
        </p:nvSpPr>
        <p:spPr>
          <a:xfrm>
            <a:off x="8348577" y="308344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95" name="Rectangle 94">
            <a:extLst>
              <a:ext uri="{FF2B5EF4-FFF2-40B4-BE49-F238E27FC236}">
                <a16:creationId xmlns:a16="http://schemas.microsoft.com/office/drawing/2014/main" id="{6D1AE2B9-F6CD-4EED-9278-12349004E0B4}"/>
              </a:ext>
            </a:extLst>
          </p:cNvPr>
          <p:cNvSpPr/>
          <p:nvPr/>
        </p:nvSpPr>
        <p:spPr>
          <a:xfrm>
            <a:off x="8346171" y="216172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96" name="Rectangle 95">
            <a:extLst>
              <a:ext uri="{FF2B5EF4-FFF2-40B4-BE49-F238E27FC236}">
                <a16:creationId xmlns:a16="http://schemas.microsoft.com/office/drawing/2014/main" id="{2075ED32-5160-4219-AABE-36C323685F90}"/>
              </a:ext>
            </a:extLst>
          </p:cNvPr>
          <p:cNvSpPr/>
          <p:nvPr/>
        </p:nvSpPr>
        <p:spPr>
          <a:xfrm>
            <a:off x="7785450" y="239215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97" name="Group 71">
            <a:extLst>
              <a:ext uri="{FF2B5EF4-FFF2-40B4-BE49-F238E27FC236}">
                <a16:creationId xmlns:a16="http://schemas.microsoft.com/office/drawing/2014/main" id="{E725A2F9-E7D1-497E-AD49-31A09E0A09A7}"/>
              </a:ext>
            </a:extLst>
          </p:cNvPr>
          <p:cNvGrpSpPr/>
          <p:nvPr/>
        </p:nvGrpSpPr>
        <p:grpSpPr>
          <a:xfrm>
            <a:off x="7785387" y="1508754"/>
            <a:ext cx="563125" cy="115214"/>
            <a:chOff x="-66694" y="1130300"/>
            <a:chExt cx="533401" cy="228600"/>
          </a:xfrm>
          <a:effectLst>
            <a:outerShdw blurRad="50800" dist="38100" dir="2700000" algn="tl" rotWithShape="0">
              <a:prstClr val="black">
                <a:alpha val="40000"/>
              </a:prstClr>
            </a:outerShdw>
          </a:effectLst>
        </p:grpSpPr>
        <p:cxnSp>
          <p:nvCxnSpPr>
            <p:cNvPr id="98" name="Straight Connector 97">
              <a:extLst>
                <a:ext uri="{FF2B5EF4-FFF2-40B4-BE49-F238E27FC236}">
                  <a16:creationId xmlns:a16="http://schemas.microsoft.com/office/drawing/2014/main" id="{A4A7C257-40D0-4761-A798-571948E2A43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9" name="Straight Connector 98">
              <a:extLst>
                <a:ext uri="{FF2B5EF4-FFF2-40B4-BE49-F238E27FC236}">
                  <a16:creationId xmlns:a16="http://schemas.microsoft.com/office/drawing/2014/main" id="{428B0FFC-26BF-45E3-AACC-322220D9480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A8C34483-A0EC-4BEE-8833-091914EF9D6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11691596-CC4B-464A-9D24-C8E49A67D30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02" name="Group 71">
            <a:extLst>
              <a:ext uri="{FF2B5EF4-FFF2-40B4-BE49-F238E27FC236}">
                <a16:creationId xmlns:a16="http://schemas.microsoft.com/office/drawing/2014/main" id="{057CBA19-5452-4873-9F5D-FF613342A4A9}"/>
              </a:ext>
            </a:extLst>
          </p:cNvPr>
          <p:cNvGrpSpPr/>
          <p:nvPr/>
        </p:nvGrpSpPr>
        <p:grpSpPr>
          <a:xfrm>
            <a:off x="8348511" y="1508755"/>
            <a:ext cx="563125" cy="115214"/>
            <a:chOff x="-66694" y="1130300"/>
            <a:chExt cx="533401" cy="228600"/>
          </a:xfrm>
          <a:effectLst>
            <a:outerShdw blurRad="50800" dist="38100" dir="2700000" algn="tl" rotWithShape="0">
              <a:prstClr val="black">
                <a:alpha val="40000"/>
              </a:prstClr>
            </a:outerShdw>
          </a:effectLst>
        </p:grpSpPr>
        <p:cxnSp>
          <p:nvCxnSpPr>
            <p:cNvPr id="103" name="Straight Connector 102">
              <a:extLst>
                <a:ext uri="{FF2B5EF4-FFF2-40B4-BE49-F238E27FC236}">
                  <a16:creationId xmlns:a16="http://schemas.microsoft.com/office/drawing/2014/main" id="{C9CE7F6A-7183-4D51-97B4-E7F89EE80E1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4" name="Straight Connector 103">
              <a:extLst>
                <a:ext uri="{FF2B5EF4-FFF2-40B4-BE49-F238E27FC236}">
                  <a16:creationId xmlns:a16="http://schemas.microsoft.com/office/drawing/2014/main" id="{D8AB75E5-2361-4896-9E57-7341A8F0615C}"/>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5" name="Straight Connector 104">
              <a:extLst>
                <a:ext uri="{FF2B5EF4-FFF2-40B4-BE49-F238E27FC236}">
                  <a16:creationId xmlns:a16="http://schemas.microsoft.com/office/drawing/2014/main" id="{82F1719B-6245-4DB8-86ED-55E6C1B6BBC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6" name="Straight Connector 105">
              <a:extLst>
                <a:ext uri="{FF2B5EF4-FFF2-40B4-BE49-F238E27FC236}">
                  <a16:creationId xmlns:a16="http://schemas.microsoft.com/office/drawing/2014/main" id="{BFCAEA81-61A2-4180-B9FA-01A9A8B25C8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11" name="Rectangle 110">
            <a:extLst>
              <a:ext uri="{FF2B5EF4-FFF2-40B4-BE49-F238E27FC236}">
                <a16:creationId xmlns:a16="http://schemas.microsoft.com/office/drawing/2014/main" id="{A3326E12-1532-4970-9998-F7C43089E9D4}"/>
              </a:ext>
            </a:extLst>
          </p:cNvPr>
          <p:cNvSpPr/>
          <p:nvPr/>
        </p:nvSpPr>
        <p:spPr>
          <a:xfrm>
            <a:off x="8348577" y="285301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2" name="Rectangle 111">
            <a:extLst>
              <a:ext uri="{FF2B5EF4-FFF2-40B4-BE49-F238E27FC236}">
                <a16:creationId xmlns:a16="http://schemas.microsoft.com/office/drawing/2014/main" id="{CB6F9BC4-F247-437B-9A7F-D44DE7D30BF0}"/>
              </a:ext>
            </a:extLst>
          </p:cNvPr>
          <p:cNvSpPr/>
          <p:nvPr/>
        </p:nvSpPr>
        <p:spPr>
          <a:xfrm>
            <a:off x="7785450" y="26225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13" name="Rectangle 112">
            <a:extLst>
              <a:ext uri="{FF2B5EF4-FFF2-40B4-BE49-F238E27FC236}">
                <a16:creationId xmlns:a16="http://schemas.microsoft.com/office/drawing/2014/main" id="{240D128D-3172-410D-8C62-DF6577198F70}"/>
              </a:ext>
            </a:extLst>
          </p:cNvPr>
          <p:cNvSpPr/>
          <p:nvPr/>
        </p:nvSpPr>
        <p:spPr>
          <a:xfrm>
            <a:off x="8348577" y="239215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sp>
        <p:nvSpPr>
          <p:cNvPr id="114" name="Rectangle 113">
            <a:extLst>
              <a:ext uri="{FF2B5EF4-FFF2-40B4-BE49-F238E27FC236}">
                <a16:creationId xmlns:a16="http://schemas.microsoft.com/office/drawing/2014/main" id="{189B9E00-6956-46AB-851F-BDB28255568F}"/>
              </a:ext>
            </a:extLst>
          </p:cNvPr>
          <p:cNvSpPr/>
          <p:nvPr/>
        </p:nvSpPr>
        <p:spPr>
          <a:xfrm>
            <a:off x="8348577" y="26225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15" name="Rectangle 114">
            <a:extLst>
              <a:ext uri="{FF2B5EF4-FFF2-40B4-BE49-F238E27FC236}">
                <a16:creationId xmlns:a16="http://schemas.microsoft.com/office/drawing/2014/main" id="{41D3A0A9-A051-4C13-83D7-D3C8D20B6F51}"/>
              </a:ext>
            </a:extLst>
          </p:cNvPr>
          <p:cNvSpPr/>
          <p:nvPr/>
        </p:nvSpPr>
        <p:spPr>
          <a:xfrm>
            <a:off x="8348577" y="331387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sp>
        <p:nvSpPr>
          <p:cNvPr id="116" name="Rectangle 115">
            <a:extLst>
              <a:ext uri="{FF2B5EF4-FFF2-40B4-BE49-F238E27FC236}">
                <a16:creationId xmlns:a16="http://schemas.microsoft.com/office/drawing/2014/main" id="{21CA76CB-CE22-4286-844A-3E4CFE3D7FC4}"/>
              </a:ext>
            </a:extLst>
          </p:cNvPr>
          <p:cNvSpPr/>
          <p:nvPr/>
        </p:nvSpPr>
        <p:spPr>
          <a:xfrm>
            <a:off x="7783044" y="170077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17" name="Rectangle 116">
            <a:extLst>
              <a:ext uri="{FF2B5EF4-FFF2-40B4-BE49-F238E27FC236}">
                <a16:creationId xmlns:a16="http://schemas.microsoft.com/office/drawing/2014/main" id="{E1ECAF58-4D1F-4A4F-8EAC-F743B97397E7}"/>
              </a:ext>
            </a:extLst>
          </p:cNvPr>
          <p:cNvSpPr/>
          <p:nvPr/>
        </p:nvSpPr>
        <p:spPr>
          <a:xfrm>
            <a:off x="7783044" y="193120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18" name="Rectangle 117">
            <a:extLst>
              <a:ext uri="{FF2B5EF4-FFF2-40B4-BE49-F238E27FC236}">
                <a16:creationId xmlns:a16="http://schemas.microsoft.com/office/drawing/2014/main" id="{26290DCF-DAD6-4D07-A72B-C2619D4B9A82}"/>
              </a:ext>
            </a:extLst>
          </p:cNvPr>
          <p:cNvSpPr/>
          <p:nvPr/>
        </p:nvSpPr>
        <p:spPr>
          <a:xfrm>
            <a:off x="7785450" y="285301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0D23B3D1-441B-4EEB-83CF-91A76107E741}"/>
              </a:ext>
            </a:extLst>
          </p:cNvPr>
          <p:cNvSpPr/>
          <p:nvPr/>
        </p:nvSpPr>
        <p:spPr>
          <a:xfrm>
            <a:off x="8346171" y="170077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20" name="Rectangle 119">
            <a:extLst>
              <a:ext uri="{FF2B5EF4-FFF2-40B4-BE49-F238E27FC236}">
                <a16:creationId xmlns:a16="http://schemas.microsoft.com/office/drawing/2014/main" id="{B4ED593C-78ED-4E7A-98AE-D83002F563D3}"/>
              </a:ext>
            </a:extLst>
          </p:cNvPr>
          <p:cNvSpPr/>
          <p:nvPr/>
        </p:nvSpPr>
        <p:spPr>
          <a:xfrm>
            <a:off x="8346171" y="193120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21" name="Rectangle 120">
            <a:extLst>
              <a:ext uri="{FF2B5EF4-FFF2-40B4-BE49-F238E27FC236}">
                <a16:creationId xmlns:a16="http://schemas.microsoft.com/office/drawing/2014/main" id="{9AF6B49F-DD76-45C6-B7A3-381A30319852}"/>
              </a:ext>
            </a:extLst>
          </p:cNvPr>
          <p:cNvSpPr/>
          <p:nvPr/>
        </p:nvSpPr>
        <p:spPr>
          <a:xfrm>
            <a:off x="9426030" y="615585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2" name="Rectangle 121">
            <a:extLst>
              <a:ext uri="{FF2B5EF4-FFF2-40B4-BE49-F238E27FC236}">
                <a16:creationId xmlns:a16="http://schemas.microsoft.com/office/drawing/2014/main" id="{8065E5F0-6173-4A52-814F-48C50F8A4C6B}"/>
              </a:ext>
            </a:extLst>
          </p:cNvPr>
          <p:cNvSpPr/>
          <p:nvPr/>
        </p:nvSpPr>
        <p:spPr>
          <a:xfrm>
            <a:off x="9426030" y="458124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3" name="Rectangle 122">
            <a:extLst>
              <a:ext uri="{FF2B5EF4-FFF2-40B4-BE49-F238E27FC236}">
                <a16:creationId xmlns:a16="http://schemas.microsoft.com/office/drawing/2014/main" id="{94BCF3D3-19C4-4FFC-91EA-02C0378F41E0}"/>
              </a:ext>
            </a:extLst>
          </p:cNvPr>
          <p:cNvSpPr/>
          <p:nvPr/>
        </p:nvSpPr>
        <p:spPr>
          <a:xfrm>
            <a:off x="9426036" y="481167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24" name="Group 71">
            <a:extLst>
              <a:ext uri="{FF2B5EF4-FFF2-40B4-BE49-F238E27FC236}">
                <a16:creationId xmlns:a16="http://schemas.microsoft.com/office/drawing/2014/main" id="{254F25A1-F91D-4010-BBB2-9EF8E2B6BA07}"/>
              </a:ext>
            </a:extLst>
          </p:cNvPr>
          <p:cNvGrpSpPr/>
          <p:nvPr/>
        </p:nvGrpSpPr>
        <p:grpSpPr>
          <a:xfrm>
            <a:off x="9425973" y="3582620"/>
            <a:ext cx="563125" cy="115214"/>
            <a:chOff x="-66694" y="1130300"/>
            <a:chExt cx="533401" cy="228600"/>
          </a:xfrm>
          <a:effectLst>
            <a:outerShdw blurRad="50800" dist="38100" dir="2700000" algn="tl" rotWithShape="0">
              <a:prstClr val="black">
                <a:alpha val="40000"/>
              </a:prstClr>
            </a:outerShdw>
          </a:effectLst>
        </p:grpSpPr>
        <p:cxnSp>
          <p:nvCxnSpPr>
            <p:cNvPr id="125" name="Straight Connector 124">
              <a:extLst>
                <a:ext uri="{FF2B5EF4-FFF2-40B4-BE49-F238E27FC236}">
                  <a16:creationId xmlns:a16="http://schemas.microsoft.com/office/drawing/2014/main" id="{89780238-CCF4-4EAE-A636-A02496A825C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F8C77031-434F-4F57-B8BD-22F92C9338A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9AC54E20-CE36-491A-9514-2F53A86D30A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8" name="Straight Connector 127">
              <a:extLst>
                <a:ext uri="{FF2B5EF4-FFF2-40B4-BE49-F238E27FC236}">
                  <a16:creationId xmlns:a16="http://schemas.microsoft.com/office/drawing/2014/main" id="{3759DC2C-6FB8-4DF4-96A6-005832AA9BE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29" name="Rectangle 128">
            <a:extLst>
              <a:ext uri="{FF2B5EF4-FFF2-40B4-BE49-F238E27FC236}">
                <a16:creationId xmlns:a16="http://schemas.microsoft.com/office/drawing/2014/main" id="{FCB3FCEC-7577-4766-9F06-207EEC50680E}"/>
              </a:ext>
            </a:extLst>
          </p:cNvPr>
          <p:cNvSpPr/>
          <p:nvPr/>
        </p:nvSpPr>
        <p:spPr>
          <a:xfrm>
            <a:off x="9426030" y="592542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30" name="Rectangle 129">
            <a:extLst>
              <a:ext uri="{FF2B5EF4-FFF2-40B4-BE49-F238E27FC236}">
                <a16:creationId xmlns:a16="http://schemas.microsoft.com/office/drawing/2014/main" id="{1BE3FDB4-80B1-4FE9-BC96-6BBCEB66C8DA}"/>
              </a:ext>
            </a:extLst>
          </p:cNvPr>
          <p:cNvSpPr/>
          <p:nvPr/>
        </p:nvSpPr>
        <p:spPr>
          <a:xfrm>
            <a:off x="9426036" y="504210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31" name="Rectangle 130">
            <a:extLst>
              <a:ext uri="{FF2B5EF4-FFF2-40B4-BE49-F238E27FC236}">
                <a16:creationId xmlns:a16="http://schemas.microsoft.com/office/drawing/2014/main" id="{DD6C61C0-1ACA-4AC7-BD1C-423EA7BB1205}"/>
              </a:ext>
            </a:extLst>
          </p:cNvPr>
          <p:cNvSpPr/>
          <p:nvPr/>
        </p:nvSpPr>
        <p:spPr>
          <a:xfrm>
            <a:off x="9426030" y="527253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sp>
        <p:nvSpPr>
          <p:cNvPr id="132" name="Rectangle 131">
            <a:extLst>
              <a:ext uri="{FF2B5EF4-FFF2-40B4-BE49-F238E27FC236}">
                <a16:creationId xmlns:a16="http://schemas.microsoft.com/office/drawing/2014/main" id="{6ABCA038-942C-45AD-B53B-7BA87986F531}"/>
              </a:ext>
            </a:extLst>
          </p:cNvPr>
          <p:cNvSpPr/>
          <p:nvPr/>
        </p:nvSpPr>
        <p:spPr>
          <a:xfrm>
            <a:off x="9426030" y="550296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33" name="Rectangle 132">
            <a:extLst>
              <a:ext uri="{FF2B5EF4-FFF2-40B4-BE49-F238E27FC236}">
                <a16:creationId xmlns:a16="http://schemas.microsoft.com/office/drawing/2014/main" id="{646B694A-BFCB-4DA4-8B7C-297A70777026}"/>
              </a:ext>
            </a:extLst>
          </p:cNvPr>
          <p:cNvSpPr/>
          <p:nvPr/>
        </p:nvSpPr>
        <p:spPr>
          <a:xfrm>
            <a:off x="9426030" y="634787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sp>
        <p:nvSpPr>
          <p:cNvPr id="134" name="Rectangle 133">
            <a:extLst>
              <a:ext uri="{FF2B5EF4-FFF2-40B4-BE49-F238E27FC236}">
                <a16:creationId xmlns:a16="http://schemas.microsoft.com/office/drawing/2014/main" id="{3B90A619-1BC0-4231-ADCB-2EC0A832443D}"/>
              </a:ext>
            </a:extLst>
          </p:cNvPr>
          <p:cNvSpPr/>
          <p:nvPr/>
        </p:nvSpPr>
        <p:spPr>
          <a:xfrm>
            <a:off x="9423630" y="377464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5" name="Rectangle 134">
            <a:extLst>
              <a:ext uri="{FF2B5EF4-FFF2-40B4-BE49-F238E27FC236}">
                <a16:creationId xmlns:a16="http://schemas.microsoft.com/office/drawing/2014/main" id="{6B65FD59-D67E-4F84-9D8F-FB8D49DD9BC8}"/>
              </a:ext>
            </a:extLst>
          </p:cNvPr>
          <p:cNvSpPr/>
          <p:nvPr/>
        </p:nvSpPr>
        <p:spPr>
          <a:xfrm>
            <a:off x="9426036" y="56949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36" name="Rectangle 135">
            <a:extLst>
              <a:ext uri="{FF2B5EF4-FFF2-40B4-BE49-F238E27FC236}">
                <a16:creationId xmlns:a16="http://schemas.microsoft.com/office/drawing/2014/main" id="{554D6E82-6AF0-46C1-80B7-D0B4B9D9E8E2}"/>
              </a:ext>
            </a:extLst>
          </p:cNvPr>
          <p:cNvSpPr/>
          <p:nvPr/>
        </p:nvSpPr>
        <p:spPr>
          <a:xfrm>
            <a:off x="9426030" y="3966671"/>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7" name="Rectangle 136">
            <a:extLst>
              <a:ext uri="{FF2B5EF4-FFF2-40B4-BE49-F238E27FC236}">
                <a16:creationId xmlns:a16="http://schemas.microsoft.com/office/drawing/2014/main" id="{314A29CB-433C-455E-9CA4-5570E58FE838}"/>
              </a:ext>
            </a:extLst>
          </p:cNvPr>
          <p:cNvSpPr/>
          <p:nvPr/>
        </p:nvSpPr>
        <p:spPr>
          <a:xfrm>
            <a:off x="9426030" y="41587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8" name="Rectangle 137">
            <a:extLst>
              <a:ext uri="{FF2B5EF4-FFF2-40B4-BE49-F238E27FC236}">
                <a16:creationId xmlns:a16="http://schemas.microsoft.com/office/drawing/2014/main" id="{D12CADB8-C6DA-4206-A82B-50F1B45BA540}"/>
              </a:ext>
            </a:extLst>
          </p:cNvPr>
          <p:cNvSpPr/>
          <p:nvPr/>
        </p:nvSpPr>
        <p:spPr>
          <a:xfrm>
            <a:off x="9428429" y="435081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9" name="TextBox 138">
            <a:extLst>
              <a:ext uri="{FF2B5EF4-FFF2-40B4-BE49-F238E27FC236}">
                <a16:creationId xmlns:a16="http://schemas.microsoft.com/office/drawing/2014/main" id="{D93BB1BD-F056-4476-A9BD-33A82C22FDD9}"/>
              </a:ext>
            </a:extLst>
          </p:cNvPr>
          <p:cNvSpPr txBox="1"/>
          <p:nvPr/>
        </p:nvSpPr>
        <p:spPr>
          <a:xfrm>
            <a:off x="9372374" y="1470392"/>
            <a:ext cx="2659646" cy="179279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endParaRPr lang="en-US" sz="1000"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Operators</a:t>
            </a:r>
          </a:p>
        </p:txBody>
      </p:sp>
      <p:sp>
        <p:nvSpPr>
          <p:cNvPr id="3" name="Content Placeholder 2"/>
          <p:cNvSpPr>
            <a:spLocks noGrp="1"/>
          </p:cNvSpPr>
          <p:nvPr>
            <p:ph idx="1"/>
          </p:nvPr>
        </p:nvSpPr>
        <p:spPr>
          <a:xfrm>
            <a:off x="579119" y="1226956"/>
            <a:ext cx="11033760" cy="4632960"/>
          </a:xfrm>
        </p:spPr>
        <p:txBody>
          <a:bodyPr>
            <a:normAutofit/>
          </a:bodyPr>
          <a:lstStyle/>
          <a:p>
            <a:r>
              <a:rPr lang="en-US" sz="1800" dirty="0"/>
              <a:t>Operator sizes are defined by the type</a:t>
            </a:r>
          </a:p>
          <a:p>
            <a:pPr lvl="1"/>
            <a:r>
              <a:rPr lang="en-US" sz="1600" dirty="0"/>
              <a:t>The variable type defines the size of the operator</a:t>
            </a:r>
          </a:p>
          <a:p>
            <a:r>
              <a:rPr lang="en-US" sz="1800" dirty="0"/>
              <a:t>Vitis HLS will try to minimize the number of operators</a:t>
            </a:r>
          </a:p>
          <a:p>
            <a:pPr lvl="1"/>
            <a:r>
              <a:rPr lang="en-US" sz="1600" dirty="0"/>
              <a:t>By default Vitis HLS will seek to minimize area </a:t>
            </a:r>
            <a:r>
              <a:rPr lang="en-US" sz="1600" u="sng" dirty="0"/>
              <a:t>after</a:t>
            </a:r>
            <a:r>
              <a:rPr lang="en-US" sz="1600" dirty="0"/>
              <a:t> constraints are satisfied</a:t>
            </a:r>
          </a:p>
          <a:p>
            <a:r>
              <a:rPr lang="en-US" sz="1800" dirty="0"/>
              <a:t>User can set specific limits &amp; targets for the resources used</a:t>
            </a:r>
          </a:p>
          <a:p>
            <a:pPr lvl="1"/>
            <a:r>
              <a:rPr lang="en-US" sz="1600" dirty="0"/>
              <a:t>Allocation can be controlled</a:t>
            </a:r>
          </a:p>
          <a:p>
            <a:pPr lvl="2"/>
            <a:r>
              <a:rPr lang="en-US" sz="1400" dirty="0"/>
              <a:t>An upper limit can be set on the number of operators or cores allocated for the design: This can be used to force sharing</a:t>
            </a:r>
          </a:p>
          <a:p>
            <a:pPr lvl="2"/>
            <a:r>
              <a:rPr lang="en-US" sz="1400" dirty="0" err="1"/>
              <a:t>e.g</a:t>
            </a:r>
            <a:r>
              <a:rPr lang="en-US" sz="1400" dirty="0"/>
              <a:t> limit the number of multipliers to 1 will force Vitis HLS to share</a:t>
            </a:r>
          </a:p>
          <a:p>
            <a:pPr lvl="2"/>
            <a:endParaRPr lang="en-US" dirty="0"/>
          </a:p>
          <a:p>
            <a:pPr lvl="2"/>
            <a:endParaRPr lang="en-US" dirty="0"/>
          </a:p>
          <a:p>
            <a:pPr lvl="1"/>
            <a:r>
              <a:rPr lang="en-US" sz="1600" dirty="0"/>
              <a:t>Resources can be specified</a:t>
            </a:r>
          </a:p>
          <a:p>
            <a:pPr lvl="2"/>
            <a:r>
              <a:rPr lang="en-US" sz="1400" dirty="0"/>
              <a:t>The cores used to implement each operator can be specified</a:t>
            </a:r>
          </a:p>
          <a:p>
            <a:pPr lvl="2"/>
            <a:r>
              <a:rPr lang="en-US" sz="1400" dirty="0"/>
              <a:t>e.g.  Implement each multiplier using a 2 stage pipelined core (hardware)</a:t>
            </a:r>
            <a:endParaRPr lang="en-US" dirty="0"/>
          </a:p>
        </p:txBody>
      </p:sp>
      <p:sp>
        <p:nvSpPr>
          <p:cNvPr id="4" name="Slide Number Placeholder 3">
            <a:extLst>
              <a:ext uri="{FF2B5EF4-FFF2-40B4-BE49-F238E27FC236}">
                <a16:creationId xmlns:a16="http://schemas.microsoft.com/office/drawing/2014/main" id="{0986042F-8F7A-43D7-BA59-ABA06E8D7182}"/>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30</a:t>
            </a:fld>
            <a:endParaRPr lang="en-US" dirty="0"/>
          </a:p>
        </p:txBody>
      </p:sp>
      <p:grpSp>
        <p:nvGrpSpPr>
          <p:cNvPr id="55" name="Group 71">
            <a:extLst>
              <a:ext uri="{FF2B5EF4-FFF2-40B4-BE49-F238E27FC236}">
                <a16:creationId xmlns:a16="http://schemas.microsoft.com/office/drawing/2014/main" id="{0E7EBB39-8608-4FF7-A429-C79DE84FE51C}"/>
              </a:ext>
            </a:extLst>
          </p:cNvPr>
          <p:cNvGrpSpPr/>
          <p:nvPr/>
        </p:nvGrpSpPr>
        <p:grpSpPr>
          <a:xfrm>
            <a:off x="2563710" y="4290622"/>
            <a:ext cx="972673" cy="230430"/>
            <a:chOff x="-66694" y="1130300"/>
            <a:chExt cx="533401" cy="228600"/>
          </a:xfrm>
          <a:effectLst>
            <a:outerShdw blurRad="50800" dist="38100" dir="2700000" algn="tl" rotWithShape="0">
              <a:prstClr val="black">
                <a:alpha val="40000"/>
              </a:prstClr>
            </a:outerShdw>
          </a:effectLst>
        </p:grpSpPr>
        <p:cxnSp>
          <p:nvCxnSpPr>
            <p:cNvPr id="56" name="Straight Connector 55">
              <a:extLst>
                <a:ext uri="{FF2B5EF4-FFF2-40B4-BE49-F238E27FC236}">
                  <a16:creationId xmlns:a16="http://schemas.microsoft.com/office/drawing/2014/main" id="{2C5FAE4E-9679-43AB-A2CA-05B33B6EE1C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7" name="Straight Connector 56">
              <a:extLst>
                <a:ext uri="{FF2B5EF4-FFF2-40B4-BE49-F238E27FC236}">
                  <a16:creationId xmlns:a16="http://schemas.microsoft.com/office/drawing/2014/main" id="{7AF3C2EA-3496-40A5-9BA8-2A9390EE5F9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8" name="Straight Connector 57">
              <a:extLst>
                <a:ext uri="{FF2B5EF4-FFF2-40B4-BE49-F238E27FC236}">
                  <a16:creationId xmlns:a16="http://schemas.microsoft.com/office/drawing/2014/main" id="{F183E16B-DD60-48E0-BFC9-4AF3470D110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9" name="Straight Connector 58">
              <a:extLst>
                <a:ext uri="{FF2B5EF4-FFF2-40B4-BE49-F238E27FC236}">
                  <a16:creationId xmlns:a16="http://schemas.microsoft.com/office/drawing/2014/main" id="{8493320C-732F-4DF0-9438-2EADBB9D1A3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60" name="Rounded Rectangle 9">
            <a:extLst>
              <a:ext uri="{FF2B5EF4-FFF2-40B4-BE49-F238E27FC236}">
                <a16:creationId xmlns:a16="http://schemas.microsoft.com/office/drawing/2014/main" id="{C9F24AA4-0076-41A3-B822-ED5CB09FFFAA}"/>
              </a:ext>
            </a:extLst>
          </p:cNvPr>
          <p:cNvSpPr/>
          <p:nvPr/>
        </p:nvSpPr>
        <p:spPr>
          <a:xfrm>
            <a:off x="2512875" y="4557948"/>
            <a:ext cx="223472" cy="189874"/>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3</a:t>
            </a:r>
            <a:endParaRPr lang="en-US" sz="1100" b="1" kern="0" dirty="0">
              <a:solidFill>
                <a:prstClr val="black"/>
              </a:solidFill>
              <a:latin typeface="Arial"/>
            </a:endParaRPr>
          </a:p>
        </p:txBody>
      </p:sp>
      <p:sp>
        <p:nvSpPr>
          <p:cNvPr id="61" name="Rounded Rectangle 10">
            <a:extLst>
              <a:ext uri="{FF2B5EF4-FFF2-40B4-BE49-F238E27FC236}">
                <a16:creationId xmlns:a16="http://schemas.microsoft.com/office/drawing/2014/main" id="{7CA321F2-4671-4454-B0F7-C811B7D8C480}"/>
              </a:ext>
            </a:extLst>
          </p:cNvPr>
          <p:cNvSpPr/>
          <p:nvPr/>
        </p:nvSpPr>
        <p:spPr>
          <a:xfrm>
            <a:off x="3536335" y="4557948"/>
            <a:ext cx="223472" cy="189874"/>
          </a:xfrm>
          <a:prstGeom prst="roundRect">
            <a:avLst/>
          </a:prstGeom>
          <a:gradFill rotWithShape="1">
            <a:gsLst>
              <a:gs pos="0">
                <a:srgbClr val="6D7076">
                  <a:tint val="50000"/>
                  <a:satMod val="300000"/>
                </a:srgbClr>
              </a:gs>
              <a:gs pos="35000">
                <a:srgbClr val="6D7076">
                  <a:tint val="37000"/>
                  <a:satMod val="300000"/>
                </a:srgbClr>
              </a:gs>
              <a:gs pos="100000">
                <a:srgbClr val="6D7076">
                  <a:tint val="15000"/>
                  <a:satMod val="350000"/>
                </a:srgbClr>
              </a:gs>
            </a:gsLst>
            <a:lin ang="16200000" scaled="1"/>
          </a:gra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2</a:t>
            </a:r>
            <a:endParaRPr lang="en-US" sz="800" kern="0" dirty="0">
              <a:solidFill>
                <a:prstClr val="black"/>
              </a:solidFill>
              <a:latin typeface="Arial"/>
            </a:endParaRPr>
          </a:p>
        </p:txBody>
      </p:sp>
      <p:sp>
        <p:nvSpPr>
          <p:cNvPr id="62" name="Rounded Rectangle 11">
            <a:extLst>
              <a:ext uri="{FF2B5EF4-FFF2-40B4-BE49-F238E27FC236}">
                <a16:creationId xmlns:a16="http://schemas.microsoft.com/office/drawing/2014/main" id="{FC1935AA-96E7-486E-B64F-530BC8AA51ED}"/>
              </a:ext>
            </a:extLst>
          </p:cNvPr>
          <p:cNvSpPr/>
          <p:nvPr/>
        </p:nvSpPr>
        <p:spPr>
          <a:xfrm>
            <a:off x="4509007" y="4557948"/>
            <a:ext cx="223472" cy="189874"/>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1</a:t>
            </a:r>
            <a:endParaRPr lang="en-US" sz="800" kern="0" dirty="0">
              <a:solidFill>
                <a:prstClr val="black"/>
              </a:solidFill>
              <a:latin typeface="Arial"/>
            </a:endParaRPr>
          </a:p>
        </p:txBody>
      </p:sp>
      <p:sp>
        <p:nvSpPr>
          <p:cNvPr id="63" name="Rounded Rectangle 12">
            <a:extLst>
              <a:ext uri="{FF2B5EF4-FFF2-40B4-BE49-F238E27FC236}">
                <a16:creationId xmlns:a16="http://schemas.microsoft.com/office/drawing/2014/main" id="{9C07B160-180E-4495-86E2-ED8BCD45284D}"/>
              </a:ext>
            </a:extLst>
          </p:cNvPr>
          <p:cNvSpPr/>
          <p:nvPr/>
        </p:nvSpPr>
        <p:spPr>
          <a:xfrm>
            <a:off x="5514176" y="4557948"/>
            <a:ext cx="223472" cy="189874"/>
          </a:xfrm>
          <a:prstGeom prst="roundRect">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0</a:t>
            </a:r>
            <a:endParaRPr lang="en-US" sz="800" kern="0" dirty="0">
              <a:solidFill>
                <a:prstClr val="black"/>
              </a:solidFill>
              <a:latin typeface="Arial"/>
            </a:endParaRPr>
          </a:p>
        </p:txBody>
      </p:sp>
      <p:grpSp>
        <p:nvGrpSpPr>
          <p:cNvPr id="64" name="Group 71">
            <a:extLst>
              <a:ext uri="{FF2B5EF4-FFF2-40B4-BE49-F238E27FC236}">
                <a16:creationId xmlns:a16="http://schemas.microsoft.com/office/drawing/2014/main" id="{40A3AC78-6E4D-4645-AE64-E3AC565394E6}"/>
              </a:ext>
            </a:extLst>
          </p:cNvPr>
          <p:cNvGrpSpPr/>
          <p:nvPr/>
        </p:nvGrpSpPr>
        <p:grpSpPr>
          <a:xfrm>
            <a:off x="3536384" y="4290622"/>
            <a:ext cx="972673" cy="230430"/>
            <a:chOff x="-66694" y="1130300"/>
            <a:chExt cx="533401" cy="228600"/>
          </a:xfrm>
          <a:effectLst>
            <a:outerShdw blurRad="50800" dist="38100" dir="2700000" algn="tl" rotWithShape="0">
              <a:prstClr val="black">
                <a:alpha val="40000"/>
              </a:prstClr>
            </a:outerShdw>
          </a:effectLst>
        </p:grpSpPr>
        <p:cxnSp>
          <p:nvCxnSpPr>
            <p:cNvPr id="65" name="Straight Connector 64">
              <a:extLst>
                <a:ext uri="{FF2B5EF4-FFF2-40B4-BE49-F238E27FC236}">
                  <a16:creationId xmlns:a16="http://schemas.microsoft.com/office/drawing/2014/main" id="{6FCCEBBA-4AFA-44B0-9B1B-06BFF11DD81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6" name="Straight Connector 65">
              <a:extLst>
                <a:ext uri="{FF2B5EF4-FFF2-40B4-BE49-F238E27FC236}">
                  <a16:creationId xmlns:a16="http://schemas.microsoft.com/office/drawing/2014/main" id="{7EFF91A3-7D22-40DE-A450-C007C555DDC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7" name="Straight Connector 66">
              <a:extLst>
                <a:ext uri="{FF2B5EF4-FFF2-40B4-BE49-F238E27FC236}">
                  <a16:creationId xmlns:a16="http://schemas.microsoft.com/office/drawing/2014/main" id="{F0734302-30AB-47DF-836B-F33405B45478}"/>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8" name="Straight Connector 67">
              <a:extLst>
                <a:ext uri="{FF2B5EF4-FFF2-40B4-BE49-F238E27FC236}">
                  <a16:creationId xmlns:a16="http://schemas.microsoft.com/office/drawing/2014/main" id="{87F1C731-BE4D-4EA0-AD0D-14C10B102500}"/>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69" name="Group 71">
            <a:extLst>
              <a:ext uri="{FF2B5EF4-FFF2-40B4-BE49-F238E27FC236}">
                <a16:creationId xmlns:a16="http://schemas.microsoft.com/office/drawing/2014/main" id="{C5CF949C-3DC5-4B86-A2C2-6177410CE434}"/>
              </a:ext>
            </a:extLst>
          </p:cNvPr>
          <p:cNvGrpSpPr/>
          <p:nvPr/>
        </p:nvGrpSpPr>
        <p:grpSpPr>
          <a:xfrm>
            <a:off x="4518405" y="4288792"/>
            <a:ext cx="972673" cy="230430"/>
            <a:chOff x="-66694" y="1130300"/>
            <a:chExt cx="533401" cy="228600"/>
          </a:xfrm>
          <a:effectLst>
            <a:outerShdw blurRad="50800" dist="38100" dir="2700000" algn="tl" rotWithShape="0">
              <a:prstClr val="black">
                <a:alpha val="40000"/>
              </a:prstClr>
            </a:outerShdw>
          </a:effectLst>
        </p:grpSpPr>
        <p:cxnSp>
          <p:nvCxnSpPr>
            <p:cNvPr id="70" name="Straight Connector 69">
              <a:extLst>
                <a:ext uri="{FF2B5EF4-FFF2-40B4-BE49-F238E27FC236}">
                  <a16:creationId xmlns:a16="http://schemas.microsoft.com/office/drawing/2014/main" id="{51720D0F-E378-4CA2-9AE1-395CB703A28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1" name="Straight Connector 70">
              <a:extLst>
                <a:ext uri="{FF2B5EF4-FFF2-40B4-BE49-F238E27FC236}">
                  <a16:creationId xmlns:a16="http://schemas.microsoft.com/office/drawing/2014/main" id="{DA5ECB5E-8C5D-46ED-93B1-DBA89D7CB88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2" name="Straight Connector 71">
              <a:extLst>
                <a:ext uri="{FF2B5EF4-FFF2-40B4-BE49-F238E27FC236}">
                  <a16:creationId xmlns:a16="http://schemas.microsoft.com/office/drawing/2014/main" id="{296F5C80-DDDB-40F5-B8B3-A4D7B4950B6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3" name="Straight Connector 72">
              <a:extLst>
                <a:ext uri="{FF2B5EF4-FFF2-40B4-BE49-F238E27FC236}">
                  <a16:creationId xmlns:a16="http://schemas.microsoft.com/office/drawing/2014/main" id="{CBCB1ADF-677A-4528-8610-792FC3B8C91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74" name="Group 71">
            <a:extLst>
              <a:ext uri="{FF2B5EF4-FFF2-40B4-BE49-F238E27FC236}">
                <a16:creationId xmlns:a16="http://schemas.microsoft.com/office/drawing/2014/main" id="{BC7568BE-96C1-4F61-BC89-344418CB2700}"/>
              </a:ext>
            </a:extLst>
          </p:cNvPr>
          <p:cNvGrpSpPr/>
          <p:nvPr/>
        </p:nvGrpSpPr>
        <p:grpSpPr>
          <a:xfrm>
            <a:off x="5481730" y="4286962"/>
            <a:ext cx="972673" cy="230430"/>
            <a:chOff x="-66694" y="1130300"/>
            <a:chExt cx="533401" cy="228600"/>
          </a:xfrm>
          <a:effectLst>
            <a:outerShdw blurRad="50800" dist="38100" dir="2700000" algn="tl" rotWithShape="0">
              <a:prstClr val="black">
                <a:alpha val="40000"/>
              </a:prstClr>
            </a:outerShdw>
          </a:effectLst>
        </p:grpSpPr>
        <p:cxnSp>
          <p:nvCxnSpPr>
            <p:cNvPr id="75" name="Straight Connector 74">
              <a:extLst>
                <a:ext uri="{FF2B5EF4-FFF2-40B4-BE49-F238E27FC236}">
                  <a16:creationId xmlns:a16="http://schemas.microsoft.com/office/drawing/2014/main" id="{9A34CC99-1CCC-4A50-9192-8A1F956EAC2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6" name="Straight Connector 75">
              <a:extLst>
                <a:ext uri="{FF2B5EF4-FFF2-40B4-BE49-F238E27FC236}">
                  <a16:creationId xmlns:a16="http://schemas.microsoft.com/office/drawing/2014/main" id="{6E910AE7-08A6-4FD5-8768-5D2B773F73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7" name="Straight Connector 76">
              <a:extLst>
                <a:ext uri="{FF2B5EF4-FFF2-40B4-BE49-F238E27FC236}">
                  <a16:creationId xmlns:a16="http://schemas.microsoft.com/office/drawing/2014/main" id="{331FB136-0A35-430C-A498-960381F5EF9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8" name="Straight Connector 77">
              <a:extLst>
                <a:ext uri="{FF2B5EF4-FFF2-40B4-BE49-F238E27FC236}">
                  <a16:creationId xmlns:a16="http://schemas.microsoft.com/office/drawing/2014/main" id="{2475AD62-365F-4C8A-9CD6-0E266B640D3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79" name="TextBox 78">
            <a:extLst>
              <a:ext uri="{FF2B5EF4-FFF2-40B4-BE49-F238E27FC236}">
                <a16:creationId xmlns:a16="http://schemas.microsoft.com/office/drawing/2014/main" id="{D67E4BC5-0BA0-4BD0-A98C-A2EDF95DE234}"/>
              </a:ext>
            </a:extLst>
          </p:cNvPr>
          <p:cNvSpPr txBox="1"/>
          <p:nvPr/>
        </p:nvSpPr>
        <p:spPr>
          <a:xfrm>
            <a:off x="6761516" y="4210226"/>
            <a:ext cx="4095467"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Use 1 mult, but take 4 cycle even if it could be done in 1 cycle using 4 </a:t>
            </a:r>
            <a:r>
              <a:rPr lang="en-US" sz="1200" b="1" kern="0" dirty="0" err="1">
                <a:solidFill>
                  <a:prstClr val="black"/>
                </a:solidFill>
                <a:ea typeface="ＭＳ Ｐゴシック" pitchFamily="34" charset="-128"/>
                <a:cs typeface="Arial" charset="0"/>
              </a:rPr>
              <a:t>mults</a:t>
            </a:r>
            <a:endParaRPr lang="en-US" sz="1200" b="1" kern="0" dirty="0">
              <a:solidFill>
                <a:prstClr val="black"/>
              </a:solidFill>
              <a:ea typeface="ＭＳ Ｐゴシック" pitchFamily="34" charset="-128"/>
              <a:cs typeface="Arial" charset="0"/>
            </a:endParaRPr>
          </a:p>
        </p:txBody>
      </p:sp>
      <p:grpSp>
        <p:nvGrpSpPr>
          <p:cNvPr id="80" name="Group 71">
            <a:extLst>
              <a:ext uri="{FF2B5EF4-FFF2-40B4-BE49-F238E27FC236}">
                <a16:creationId xmlns:a16="http://schemas.microsoft.com/office/drawing/2014/main" id="{45A16555-9AC5-4E61-B305-8BF8031D5323}"/>
              </a:ext>
            </a:extLst>
          </p:cNvPr>
          <p:cNvGrpSpPr/>
          <p:nvPr/>
        </p:nvGrpSpPr>
        <p:grpSpPr>
          <a:xfrm>
            <a:off x="2563662" y="5654178"/>
            <a:ext cx="563535" cy="230430"/>
            <a:chOff x="-66694" y="1130300"/>
            <a:chExt cx="533401" cy="228600"/>
          </a:xfrm>
          <a:effectLst>
            <a:outerShdw blurRad="50800" dist="38100" dir="2700000" algn="tl" rotWithShape="0">
              <a:prstClr val="black">
                <a:alpha val="40000"/>
              </a:prstClr>
            </a:outerShdw>
          </a:effectLst>
        </p:grpSpPr>
        <p:cxnSp>
          <p:nvCxnSpPr>
            <p:cNvPr id="81" name="Straight Connector 80">
              <a:extLst>
                <a:ext uri="{FF2B5EF4-FFF2-40B4-BE49-F238E27FC236}">
                  <a16:creationId xmlns:a16="http://schemas.microsoft.com/office/drawing/2014/main" id="{7A522248-45F9-4756-A513-BE70D6FA7F7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2" name="Straight Connector 81">
              <a:extLst>
                <a:ext uri="{FF2B5EF4-FFF2-40B4-BE49-F238E27FC236}">
                  <a16:creationId xmlns:a16="http://schemas.microsoft.com/office/drawing/2014/main" id="{7D3A3B91-6C97-447A-AED6-50170E66E2AC}"/>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3" name="Straight Connector 82">
              <a:extLst>
                <a:ext uri="{FF2B5EF4-FFF2-40B4-BE49-F238E27FC236}">
                  <a16:creationId xmlns:a16="http://schemas.microsoft.com/office/drawing/2014/main" id="{AA0A4248-144C-474E-BB2D-6BB850C0054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4" name="Straight Connector 83">
              <a:extLst>
                <a:ext uri="{FF2B5EF4-FFF2-40B4-BE49-F238E27FC236}">
                  <a16:creationId xmlns:a16="http://schemas.microsoft.com/office/drawing/2014/main" id="{9C93B67E-567C-4A60-A89C-6F1AB3A8BEC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85" name="Rounded Rectangle 34">
            <a:extLst>
              <a:ext uri="{FF2B5EF4-FFF2-40B4-BE49-F238E27FC236}">
                <a16:creationId xmlns:a16="http://schemas.microsoft.com/office/drawing/2014/main" id="{1030788F-C858-4289-B7E0-ACEE234B30E6}"/>
              </a:ext>
            </a:extLst>
          </p:cNvPr>
          <p:cNvSpPr/>
          <p:nvPr/>
        </p:nvSpPr>
        <p:spPr>
          <a:xfrm>
            <a:off x="2512876" y="5925237"/>
            <a:ext cx="1156729" cy="228279"/>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3</a:t>
            </a:r>
            <a:endParaRPr lang="en-US" sz="1100" b="1" kern="0" dirty="0">
              <a:solidFill>
                <a:prstClr val="black"/>
              </a:solidFill>
              <a:latin typeface="Arial"/>
            </a:endParaRPr>
          </a:p>
        </p:txBody>
      </p:sp>
      <p:sp>
        <p:nvSpPr>
          <p:cNvPr id="86" name="Rounded Rectangle 36">
            <a:extLst>
              <a:ext uri="{FF2B5EF4-FFF2-40B4-BE49-F238E27FC236}">
                <a16:creationId xmlns:a16="http://schemas.microsoft.com/office/drawing/2014/main" id="{2E433BDB-87C5-4271-AF1E-9969226CBD04}"/>
              </a:ext>
            </a:extLst>
          </p:cNvPr>
          <p:cNvSpPr/>
          <p:nvPr/>
        </p:nvSpPr>
        <p:spPr>
          <a:xfrm>
            <a:off x="3673340" y="5923013"/>
            <a:ext cx="1143000" cy="23043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1</a:t>
            </a:r>
            <a:endParaRPr lang="en-US" sz="800" kern="0" dirty="0">
              <a:solidFill>
                <a:prstClr val="black"/>
              </a:solidFill>
              <a:latin typeface="Arial"/>
            </a:endParaRPr>
          </a:p>
        </p:txBody>
      </p:sp>
      <p:grpSp>
        <p:nvGrpSpPr>
          <p:cNvPr id="87" name="Group 71">
            <a:extLst>
              <a:ext uri="{FF2B5EF4-FFF2-40B4-BE49-F238E27FC236}">
                <a16:creationId xmlns:a16="http://schemas.microsoft.com/office/drawing/2014/main" id="{80D6A841-9810-436E-B816-D9C81D24C23D}"/>
              </a:ext>
            </a:extLst>
          </p:cNvPr>
          <p:cNvGrpSpPr/>
          <p:nvPr/>
        </p:nvGrpSpPr>
        <p:grpSpPr>
          <a:xfrm>
            <a:off x="3127197" y="5654178"/>
            <a:ext cx="563535" cy="230430"/>
            <a:chOff x="-66694" y="1130300"/>
            <a:chExt cx="533401" cy="228600"/>
          </a:xfrm>
          <a:effectLst>
            <a:outerShdw blurRad="50800" dist="38100" dir="2700000" algn="tl" rotWithShape="0">
              <a:prstClr val="black">
                <a:alpha val="40000"/>
              </a:prstClr>
            </a:outerShdw>
          </a:effectLst>
        </p:grpSpPr>
        <p:cxnSp>
          <p:nvCxnSpPr>
            <p:cNvPr id="88" name="Straight Connector 87">
              <a:extLst>
                <a:ext uri="{FF2B5EF4-FFF2-40B4-BE49-F238E27FC236}">
                  <a16:creationId xmlns:a16="http://schemas.microsoft.com/office/drawing/2014/main" id="{ADD11DEC-BE7E-46AE-8D5E-29B4B071662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9" name="Straight Connector 88">
              <a:extLst>
                <a:ext uri="{FF2B5EF4-FFF2-40B4-BE49-F238E27FC236}">
                  <a16:creationId xmlns:a16="http://schemas.microsoft.com/office/drawing/2014/main" id="{5739EF9B-AEC8-4132-A463-D13DF761EEF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0" name="Straight Connector 89">
              <a:extLst>
                <a:ext uri="{FF2B5EF4-FFF2-40B4-BE49-F238E27FC236}">
                  <a16:creationId xmlns:a16="http://schemas.microsoft.com/office/drawing/2014/main" id="{D9C13656-E666-4A6A-B46B-C267E3BE0DA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1" name="Straight Connector 90">
              <a:extLst>
                <a:ext uri="{FF2B5EF4-FFF2-40B4-BE49-F238E27FC236}">
                  <a16:creationId xmlns:a16="http://schemas.microsoft.com/office/drawing/2014/main" id="{DC34359C-340B-42F4-A3DB-3F68CD30392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2" name="Group 71">
            <a:extLst>
              <a:ext uri="{FF2B5EF4-FFF2-40B4-BE49-F238E27FC236}">
                <a16:creationId xmlns:a16="http://schemas.microsoft.com/office/drawing/2014/main" id="{68DDB17B-091E-4244-83D5-7F405B71568E}"/>
              </a:ext>
            </a:extLst>
          </p:cNvPr>
          <p:cNvGrpSpPr/>
          <p:nvPr/>
        </p:nvGrpSpPr>
        <p:grpSpPr>
          <a:xfrm>
            <a:off x="3699673" y="5652348"/>
            <a:ext cx="563535" cy="230430"/>
            <a:chOff x="-66694" y="1130300"/>
            <a:chExt cx="533401" cy="228600"/>
          </a:xfrm>
          <a:effectLst>
            <a:outerShdw blurRad="50800" dist="38100" dir="2700000" algn="tl" rotWithShape="0">
              <a:prstClr val="black">
                <a:alpha val="40000"/>
              </a:prstClr>
            </a:outerShdw>
          </a:effectLst>
        </p:grpSpPr>
        <p:cxnSp>
          <p:nvCxnSpPr>
            <p:cNvPr id="93" name="Straight Connector 92">
              <a:extLst>
                <a:ext uri="{FF2B5EF4-FFF2-40B4-BE49-F238E27FC236}">
                  <a16:creationId xmlns:a16="http://schemas.microsoft.com/office/drawing/2014/main" id="{587E0EE6-5CD4-49AA-A187-85B0B4DD03D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4" name="Straight Connector 93">
              <a:extLst>
                <a:ext uri="{FF2B5EF4-FFF2-40B4-BE49-F238E27FC236}">
                  <a16:creationId xmlns:a16="http://schemas.microsoft.com/office/drawing/2014/main" id="{944ED57A-5700-4FCB-B42A-57CF79A5B64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5" name="Straight Connector 94">
              <a:extLst>
                <a:ext uri="{FF2B5EF4-FFF2-40B4-BE49-F238E27FC236}">
                  <a16:creationId xmlns:a16="http://schemas.microsoft.com/office/drawing/2014/main" id="{67571FF8-B86C-468B-9E4D-28A200F4E3C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6" name="Straight Connector 95">
              <a:extLst>
                <a:ext uri="{FF2B5EF4-FFF2-40B4-BE49-F238E27FC236}">
                  <a16:creationId xmlns:a16="http://schemas.microsoft.com/office/drawing/2014/main" id="{945C27A0-B9E0-4D08-99D2-24A5CD4BC10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7" name="Group 71">
            <a:extLst>
              <a:ext uri="{FF2B5EF4-FFF2-40B4-BE49-F238E27FC236}">
                <a16:creationId xmlns:a16="http://schemas.microsoft.com/office/drawing/2014/main" id="{3D549985-12C6-44F7-9467-BF2519200D5D}"/>
              </a:ext>
            </a:extLst>
          </p:cNvPr>
          <p:cNvGrpSpPr/>
          <p:nvPr/>
        </p:nvGrpSpPr>
        <p:grpSpPr>
          <a:xfrm>
            <a:off x="4253450" y="5650518"/>
            <a:ext cx="563535" cy="230430"/>
            <a:chOff x="-66694" y="1130300"/>
            <a:chExt cx="533401" cy="228600"/>
          </a:xfrm>
          <a:effectLst>
            <a:outerShdw blurRad="50800" dist="38100" dir="2700000" algn="tl" rotWithShape="0">
              <a:prstClr val="black">
                <a:alpha val="40000"/>
              </a:prstClr>
            </a:outerShdw>
          </a:effectLst>
        </p:grpSpPr>
        <p:cxnSp>
          <p:nvCxnSpPr>
            <p:cNvPr id="98" name="Straight Connector 97">
              <a:extLst>
                <a:ext uri="{FF2B5EF4-FFF2-40B4-BE49-F238E27FC236}">
                  <a16:creationId xmlns:a16="http://schemas.microsoft.com/office/drawing/2014/main" id="{62E4EC4E-F7F1-48D1-B608-80EA0C4327E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9" name="Straight Connector 98">
              <a:extLst>
                <a:ext uri="{FF2B5EF4-FFF2-40B4-BE49-F238E27FC236}">
                  <a16:creationId xmlns:a16="http://schemas.microsoft.com/office/drawing/2014/main" id="{3D7D8003-F35C-4360-A1CB-8C51C257EB6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B4B0C3D6-1AB3-43CC-A4C3-CB92972D5BA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4CE7CA15-B102-4700-B605-7A2D1D694A3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02" name="TextBox 101">
            <a:extLst>
              <a:ext uri="{FF2B5EF4-FFF2-40B4-BE49-F238E27FC236}">
                <a16:creationId xmlns:a16="http://schemas.microsoft.com/office/drawing/2014/main" id="{486E6362-9E83-409E-BB19-632B67050FA3}"/>
              </a:ext>
            </a:extLst>
          </p:cNvPr>
          <p:cNvSpPr txBox="1"/>
          <p:nvPr/>
        </p:nvSpPr>
        <p:spPr>
          <a:xfrm>
            <a:off x="6761468" y="5691852"/>
            <a:ext cx="4213281"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Same 4 mult operations could be done with 2 pipelined </a:t>
            </a:r>
            <a:r>
              <a:rPr lang="en-US" sz="1200" b="1" kern="0" dirty="0" err="1">
                <a:solidFill>
                  <a:prstClr val="black"/>
                </a:solidFill>
                <a:ea typeface="ＭＳ Ｐゴシック" pitchFamily="34" charset="-128"/>
                <a:cs typeface="Arial" charset="0"/>
              </a:rPr>
              <a:t>mults</a:t>
            </a:r>
            <a:r>
              <a:rPr lang="en-US" sz="1200" b="1" kern="0" dirty="0">
                <a:solidFill>
                  <a:prstClr val="black"/>
                </a:solidFill>
                <a:ea typeface="ＭＳ Ｐゴシック" pitchFamily="34" charset="-128"/>
                <a:cs typeface="Arial" charset="0"/>
              </a:rPr>
              <a:t> (with allocation limiting the </a:t>
            </a:r>
            <a:r>
              <a:rPr lang="en-US" sz="1200" b="1" kern="0" dirty="0" err="1">
                <a:solidFill>
                  <a:prstClr val="black"/>
                </a:solidFill>
                <a:ea typeface="ＭＳ Ｐゴシック" pitchFamily="34" charset="-128"/>
                <a:cs typeface="Arial" charset="0"/>
              </a:rPr>
              <a:t>mults</a:t>
            </a:r>
            <a:r>
              <a:rPr lang="en-US" sz="1200" b="1" kern="0" dirty="0">
                <a:solidFill>
                  <a:prstClr val="black"/>
                </a:solidFill>
                <a:ea typeface="ＭＳ Ｐゴシック" pitchFamily="34" charset="-128"/>
                <a:cs typeface="Arial" charset="0"/>
              </a:rPr>
              <a:t> to 2)</a:t>
            </a:r>
          </a:p>
        </p:txBody>
      </p:sp>
      <p:sp>
        <p:nvSpPr>
          <p:cNvPr id="103" name="Rounded Rectangle 35">
            <a:extLst>
              <a:ext uri="{FF2B5EF4-FFF2-40B4-BE49-F238E27FC236}">
                <a16:creationId xmlns:a16="http://schemas.microsoft.com/office/drawing/2014/main" id="{A02E0A73-2D87-47D9-9FDD-9FC5CB17DED8}"/>
              </a:ext>
            </a:extLst>
          </p:cNvPr>
          <p:cNvSpPr/>
          <p:nvPr/>
        </p:nvSpPr>
        <p:spPr>
          <a:xfrm>
            <a:off x="2512877" y="6155668"/>
            <a:ext cx="1156729" cy="228279"/>
          </a:xfrm>
          <a:prstGeom prst="roundRect">
            <a:avLst/>
          </a:prstGeom>
          <a:gradFill rotWithShape="1">
            <a:gsLst>
              <a:gs pos="0">
                <a:srgbClr val="6D7076">
                  <a:tint val="50000"/>
                  <a:satMod val="300000"/>
                </a:srgbClr>
              </a:gs>
              <a:gs pos="35000">
                <a:srgbClr val="6D7076">
                  <a:tint val="37000"/>
                  <a:satMod val="300000"/>
                </a:srgbClr>
              </a:gs>
              <a:gs pos="100000">
                <a:srgbClr val="6D7076">
                  <a:tint val="15000"/>
                  <a:satMod val="350000"/>
                </a:srgbClr>
              </a:gs>
            </a:gsLst>
            <a:lin ang="16200000" scaled="1"/>
          </a:gra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2</a:t>
            </a:r>
            <a:endParaRPr lang="en-US" sz="800" kern="0" dirty="0">
              <a:solidFill>
                <a:prstClr val="black"/>
              </a:solidFill>
              <a:latin typeface="Arial"/>
            </a:endParaRPr>
          </a:p>
        </p:txBody>
      </p:sp>
      <p:sp>
        <p:nvSpPr>
          <p:cNvPr id="104" name="Rounded Rectangle 37">
            <a:extLst>
              <a:ext uri="{FF2B5EF4-FFF2-40B4-BE49-F238E27FC236}">
                <a16:creationId xmlns:a16="http://schemas.microsoft.com/office/drawing/2014/main" id="{2BC5A2A6-D478-443E-94E0-A2EC451FFF7C}"/>
              </a:ext>
            </a:extLst>
          </p:cNvPr>
          <p:cNvSpPr/>
          <p:nvPr/>
        </p:nvSpPr>
        <p:spPr>
          <a:xfrm>
            <a:off x="3671575" y="6153443"/>
            <a:ext cx="1144952" cy="230430"/>
          </a:xfrm>
          <a:prstGeom prst="roundRect">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0</a:t>
            </a:r>
            <a:endParaRPr lang="en-US" sz="800" kern="0" dirty="0">
              <a:solidFill>
                <a:prstClr val="black"/>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59BEF-98DC-4D43-A84F-158306F20BA1}"/>
              </a:ext>
            </a:extLst>
          </p:cNvPr>
          <p:cNvSpPr>
            <a:spLocks noGrp="1"/>
          </p:cNvSpPr>
          <p:nvPr>
            <p:ph type="title"/>
          </p:nvPr>
        </p:nvSpPr>
        <p:spPr/>
        <p:txBody>
          <a:bodyPr/>
          <a:lstStyle/>
          <a:p>
            <a:r>
              <a:rPr lang="en-US" altLang="zh-CN" dirty="0"/>
              <a:t>Language Support</a:t>
            </a:r>
            <a:endParaRPr lang="zh-CN" altLang="en-US" dirty="0"/>
          </a:p>
        </p:txBody>
      </p:sp>
      <p:sp>
        <p:nvSpPr>
          <p:cNvPr id="3" name="Slide Number Placeholder 2">
            <a:extLst>
              <a:ext uri="{FF2B5EF4-FFF2-40B4-BE49-F238E27FC236}">
                <a16:creationId xmlns:a16="http://schemas.microsoft.com/office/drawing/2014/main" id="{6C4D9A5A-4ADE-4156-B259-6E1C8A5EFF6A}"/>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31</a:t>
            </a:fld>
            <a:endParaRPr lang="en-US" dirty="0"/>
          </a:p>
        </p:txBody>
      </p:sp>
    </p:spTree>
    <p:extLst>
      <p:ext uri="{BB962C8B-B14F-4D97-AF65-F5344CB8AC3E}">
        <p14:creationId xmlns:p14="http://schemas.microsoft.com/office/powerpoint/2010/main" val="339842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Comprehensive C Support</a:t>
            </a:r>
          </a:p>
        </p:txBody>
      </p:sp>
      <p:sp>
        <p:nvSpPr>
          <p:cNvPr id="3" name="Content Placeholder 2"/>
          <p:cNvSpPr>
            <a:spLocks noGrp="1"/>
          </p:cNvSpPr>
          <p:nvPr>
            <p:ph idx="1"/>
          </p:nvPr>
        </p:nvSpPr>
        <p:spPr>
          <a:xfrm>
            <a:off x="579121" y="1112520"/>
            <a:ext cx="11033760" cy="4632960"/>
          </a:xfrm>
        </p:spPr>
        <p:txBody>
          <a:bodyPr/>
          <a:lstStyle/>
          <a:p>
            <a:r>
              <a:rPr lang="en-US" sz="1800" dirty="0"/>
              <a:t>A Complete C Validation &amp; Verification Environment</a:t>
            </a:r>
            <a:endParaRPr lang="en-US" sz="2000" dirty="0"/>
          </a:p>
          <a:p>
            <a:pPr lvl="1"/>
            <a:r>
              <a:rPr lang="en-US" sz="1600" dirty="0"/>
              <a:t>Vitis HLS supports complete bit-accurate validation of the C model</a:t>
            </a:r>
          </a:p>
          <a:p>
            <a:pPr lvl="1"/>
            <a:r>
              <a:rPr lang="en-US" sz="1600" dirty="0"/>
              <a:t>Vitis HLS provides a productive C-RTL co-simulation verification solution </a:t>
            </a:r>
          </a:p>
          <a:p>
            <a:r>
              <a:rPr lang="en-US" sz="1800" dirty="0"/>
              <a:t>Vitis HLS supports C, C++ and OpenCL API C kernel</a:t>
            </a:r>
          </a:p>
          <a:p>
            <a:pPr lvl="1"/>
            <a:r>
              <a:rPr lang="en-US" sz="1600" dirty="0"/>
              <a:t>Functions can be written in C and C++</a:t>
            </a:r>
          </a:p>
          <a:p>
            <a:pPr lvl="1"/>
            <a:r>
              <a:rPr lang="en-US" sz="1600" dirty="0"/>
              <a:t>Wide support for coding constructs in C and C++</a:t>
            </a:r>
          </a:p>
          <a:p>
            <a:r>
              <a:rPr lang="en-US" sz="1800" dirty="0"/>
              <a:t>Modeling with bit-accuracy</a:t>
            </a:r>
          </a:p>
          <a:p>
            <a:pPr lvl="1"/>
            <a:r>
              <a:rPr lang="en-US" sz="1600" dirty="0"/>
              <a:t>Supports arbitrary precision types for all input languages</a:t>
            </a:r>
          </a:p>
          <a:p>
            <a:pPr lvl="1"/>
            <a:r>
              <a:rPr lang="en-US" sz="1600" dirty="0"/>
              <a:t>Allowing the exact bit-widths to be modeled and synthesized</a:t>
            </a:r>
          </a:p>
          <a:p>
            <a:r>
              <a:rPr lang="en-US" sz="1800" dirty="0"/>
              <a:t>Floating point support</a:t>
            </a:r>
          </a:p>
          <a:p>
            <a:pPr lvl="1"/>
            <a:r>
              <a:rPr lang="en-US" sz="1600" dirty="0"/>
              <a:t>Support for the use of float and double in the code</a:t>
            </a:r>
          </a:p>
          <a:p>
            <a:pPr lvl="0"/>
            <a:r>
              <a:rPr lang="en-US" sz="1800" dirty="0"/>
              <a:t>Support for OpenCV functions</a:t>
            </a:r>
          </a:p>
          <a:p>
            <a:pPr lvl="1"/>
            <a:r>
              <a:rPr lang="en-US" sz="1600" dirty="0"/>
              <a:t>Enable migration of OpenCV designs into Xilinx FPGA</a:t>
            </a:r>
          </a:p>
          <a:p>
            <a:pPr lvl="1"/>
            <a:r>
              <a:rPr lang="en-US" sz="1600" dirty="0"/>
              <a:t>Libraries target real-time full HD video processing</a:t>
            </a:r>
          </a:p>
          <a:p>
            <a:endParaRPr lang="en-US" dirty="0"/>
          </a:p>
        </p:txBody>
      </p:sp>
      <p:sp>
        <p:nvSpPr>
          <p:cNvPr id="5" name="Slide Number Placeholder 4">
            <a:extLst>
              <a:ext uri="{FF2B5EF4-FFF2-40B4-BE49-F238E27FC236}">
                <a16:creationId xmlns:a16="http://schemas.microsoft.com/office/drawing/2014/main" id="{10CEAE81-D8AB-4A40-9045-985E09165639}"/>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32</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and C++ Support</a:t>
            </a:r>
          </a:p>
        </p:txBody>
      </p:sp>
      <p:sp>
        <p:nvSpPr>
          <p:cNvPr id="3" name="Content Placeholder 2"/>
          <p:cNvSpPr>
            <a:spLocks noGrp="1"/>
          </p:cNvSpPr>
          <p:nvPr>
            <p:ph idx="1"/>
          </p:nvPr>
        </p:nvSpPr>
        <p:spPr/>
        <p:txBody>
          <a:bodyPr/>
          <a:lstStyle/>
          <a:p>
            <a:r>
              <a:rPr lang="en-US" dirty="0"/>
              <a:t>The vast majority of C and C++ is supported</a:t>
            </a:r>
          </a:p>
          <a:p>
            <a:pPr lvl="1"/>
            <a:r>
              <a:rPr lang="en-US" dirty="0"/>
              <a:t>Provided it is statically defined at </a:t>
            </a:r>
            <a:r>
              <a:rPr lang="en-US" b="1" u="sng" dirty="0"/>
              <a:t>compile time</a:t>
            </a:r>
          </a:p>
          <a:p>
            <a:pPr lvl="1"/>
            <a:r>
              <a:rPr lang="en-US" dirty="0"/>
              <a:t>If it’s not defined until </a:t>
            </a:r>
            <a:r>
              <a:rPr lang="en-US" b="1" u="sng" dirty="0"/>
              <a:t>run time</a:t>
            </a:r>
            <a:r>
              <a:rPr lang="en-US" dirty="0"/>
              <a:t>, it won’ be synthesizable</a:t>
            </a:r>
          </a:p>
          <a:p>
            <a:endParaRPr lang="en-US" dirty="0"/>
          </a:p>
          <a:p>
            <a:r>
              <a:rPr lang="en-US" dirty="0"/>
              <a:t>Any of the two variants of C can be used</a:t>
            </a:r>
          </a:p>
          <a:p>
            <a:pPr lvl="1"/>
            <a:r>
              <a:rPr lang="en-US" dirty="0"/>
              <a:t>If C is used, Vitis HLS expects the file extensions to be .c</a:t>
            </a:r>
          </a:p>
          <a:p>
            <a:pPr lvl="1"/>
            <a:r>
              <a:rPr lang="en-US" dirty="0"/>
              <a:t>For C++ it expects file extensions .</a:t>
            </a:r>
            <a:r>
              <a:rPr lang="en-US" dirty="0" err="1"/>
              <a:t>cpp</a:t>
            </a:r>
            <a:endParaRPr lang="en-US" dirty="0"/>
          </a:p>
          <a:p>
            <a:endParaRPr lang="en-US" dirty="0"/>
          </a:p>
          <a:p>
            <a:endParaRPr lang="en-US" dirty="0"/>
          </a:p>
          <a:p>
            <a:pPr lvl="1"/>
            <a:endParaRPr lang="en-US" dirty="0"/>
          </a:p>
          <a:p>
            <a:pPr lvl="1"/>
            <a:endParaRPr lang="en-US" dirty="0"/>
          </a:p>
        </p:txBody>
      </p:sp>
      <p:sp>
        <p:nvSpPr>
          <p:cNvPr id="5" name="Slide Number Placeholder 4">
            <a:extLst>
              <a:ext uri="{FF2B5EF4-FFF2-40B4-BE49-F238E27FC236}">
                <a16:creationId xmlns:a16="http://schemas.microsoft.com/office/drawing/2014/main" id="{D132BBA0-329E-4544-82FE-D2FF82C3102E}"/>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33</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179F2-D4FD-4732-9C24-20CBFDE8F675}"/>
              </a:ext>
            </a:extLst>
          </p:cNvPr>
          <p:cNvSpPr>
            <a:spLocks noGrp="1"/>
          </p:cNvSpPr>
          <p:nvPr>
            <p:ph type="title"/>
          </p:nvPr>
        </p:nvSpPr>
        <p:spPr/>
        <p:txBody>
          <a:bodyPr/>
          <a:lstStyle/>
          <a:p>
            <a:pPr>
              <a:spcBef>
                <a:spcPts val="600"/>
              </a:spcBef>
            </a:pPr>
            <a:r>
              <a:rPr lang="en-US" altLang="zh-CN" dirty="0">
                <a:solidFill>
                  <a:srgbClr val="FFFFFF"/>
                </a:solidFill>
              </a:rPr>
              <a:t>Validation Flow</a:t>
            </a:r>
          </a:p>
        </p:txBody>
      </p:sp>
      <p:sp>
        <p:nvSpPr>
          <p:cNvPr id="3" name="Slide Number Placeholder 2">
            <a:extLst>
              <a:ext uri="{FF2B5EF4-FFF2-40B4-BE49-F238E27FC236}">
                <a16:creationId xmlns:a16="http://schemas.microsoft.com/office/drawing/2014/main" id="{B96E8051-8323-445B-A790-0A6519B523CA}"/>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34</a:t>
            </a:fld>
            <a:endParaRPr lang="en-US" dirty="0"/>
          </a:p>
        </p:txBody>
      </p:sp>
    </p:spTree>
    <p:extLst>
      <p:ext uri="{BB962C8B-B14F-4D97-AF65-F5344CB8AC3E}">
        <p14:creationId xmlns:p14="http://schemas.microsoft.com/office/powerpoint/2010/main" val="2561532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8533" y="1621556"/>
            <a:ext cx="5344920" cy="4518812"/>
          </a:xfrm>
          <a:prstGeom prst="rect">
            <a:avLst/>
          </a:prstGeom>
        </p:spPr>
      </p:pic>
      <p:sp>
        <p:nvSpPr>
          <p:cNvPr id="4" name="Title 3"/>
          <p:cNvSpPr>
            <a:spLocks noGrp="1"/>
          </p:cNvSpPr>
          <p:nvPr>
            <p:ph type="title"/>
          </p:nvPr>
        </p:nvSpPr>
        <p:spPr/>
        <p:txBody>
          <a:bodyPr/>
          <a:lstStyle/>
          <a:p>
            <a:r>
              <a:rPr lang="en-US" dirty="0"/>
              <a:t>C Validation and RTL Verification</a:t>
            </a:r>
          </a:p>
        </p:txBody>
      </p:sp>
      <p:sp>
        <p:nvSpPr>
          <p:cNvPr id="2" name="Content Placeholder 1"/>
          <p:cNvSpPr>
            <a:spLocks noGrp="1"/>
          </p:cNvSpPr>
          <p:nvPr>
            <p:ph sz="half" idx="1"/>
          </p:nvPr>
        </p:nvSpPr>
        <p:spPr>
          <a:xfrm>
            <a:off x="624476" y="1372986"/>
            <a:ext cx="5364480" cy="4632960"/>
          </a:xfrm>
        </p:spPr>
        <p:txBody>
          <a:bodyPr/>
          <a:lstStyle/>
          <a:p>
            <a:r>
              <a:rPr lang="en-US" sz="2000" dirty="0">
                <a:solidFill>
                  <a:srgbClr val="008CA8"/>
                </a:solidFill>
                <a:ea typeface="ＭＳ Ｐゴシック" pitchFamily="24" charset="-128"/>
                <a:cs typeface="ＭＳ Ｐゴシック" pitchFamily="24" charset="-128"/>
              </a:rPr>
              <a:t>There are two steps to verifying the design</a:t>
            </a:r>
          </a:p>
          <a:p>
            <a:pPr marL="742950" lvl="1" indent="-285750" defTabSz="457200">
              <a:buFont typeface="Arial" charset="0"/>
              <a:buChar char="–"/>
              <a:defRPr/>
            </a:pPr>
            <a:r>
              <a:rPr lang="en-US" sz="1800" dirty="0">
                <a:solidFill>
                  <a:prstClr val="black"/>
                </a:solidFill>
                <a:ea typeface="ＭＳ Ｐゴシック" pitchFamily="24" charset="-128"/>
                <a:cs typeface="Arial" charset="0"/>
              </a:rPr>
              <a:t>Pre-synthesis: C </a:t>
            </a:r>
            <a:r>
              <a:rPr lang="en-US" sz="1800" b="1" i="1" dirty="0">
                <a:solidFill>
                  <a:prstClr val="black"/>
                </a:solidFill>
                <a:ea typeface="ＭＳ Ｐゴシック" pitchFamily="24" charset="-128"/>
                <a:cs typeface="Arial" charset="0"/>
              </a:rPr>
              <a:t>Validation</a:t>
            </a:r>
          </a:p>
          <a:p>
            <a:pPr marL="1143000" lvl="2" indent="-228600" defTabSz="457200">
              <a:buFont typeface="Arial" charset="0"/>
              <a:buChar char="•"/>
              <a:defRPr/>
            </a:pPr>
            <a:r>
              <a:rPr lang="en-US" sz="1400" dirty="0">
                <a:solidFill>
                  <a:prstClr val="black"/>
                </a:solidFill>
                <a:ea typeface="ＭＳ Ｐゴシック" pitchFamily="24" charset="-128"/>
                <a:cs typeface="Arial" charset="0"/>
              </a:rPr>
              <a:t>Validate the algorithm is correct</a:t>
            </a:r>
          </a:p>
          <a:p>
            <a:pPr marL="742950" lvl="1" indent="-285750" defTabSz="457200">
              <a:buFont typeface="Arial" charset="0"/>
              <a:buChar char="–"/>
              <a:defRPr/>
            </a:pPr>
            <a:r>
              <a:rPr lang="en-US" sz="1800" dirty="0">
                <a:solidFill>
                  <a:prstClr val="black"/>
                </a:solidFill>
                <a:ea typeface="ＭＳ Ｐゴシック" pitchFamily="24" charset="-128"/>
                <a:cs typeface="Arial" charset="0"/>
              </a:rPr>
              <a:t>Post-synthesis: RTL </a:t>
            </a:r>
            <a:r>
              <a:rPr lang="en-US" sz="1800" b="1" i="1" dirty="0">
                <a:solidFill>
                  <a:prstClr val="black"/>
                </a:solidFill>
                <a:ea typeface="ＭＳ Ｐゴシック" pitchFamily="24" charset="-128"/>
                <a:cs typeface="Arial" charset="0"/>
              </a:rPr>
              <a:t>Verification</a:t>
            </a:r>
          </a:p>
          <a:p>
            <a:pPr marL="1143000" lvl="2" indent="-228600" defTabSz="457200">
              <a:buFont typeface="Arial" charset="0"/>
              <a:buChar char="•"/>
              <a:defRPr/>
            </a:pPr>
            <a:r>
              <a:rPr lang="en-US" sz="1400" dirty="0">
                <a:solidFill>
                  <a:prstClr val="black"/>
                </a:solidFill>
                <a:ea typeface="ＭＳ Ｐゴシック" pitchFamily="24" charset="-128"/>
                <a:cs typeface="Arial" charset="0"/>
              </a:rPr>
              <a:t>Verify the RTL is correct</a:t>
            </a:r>
          </a:p>
          <a:p>
            <a:r>
              <a:rPr lang="en-US" sz="2000" dirty="0">
                <a:solidFill>
                  <a:srgbClr val="008CA8"/>
                </a:solidFill>
                <a:ea typeface="ＭＳ Ｐゴシック" pitchFamily="24" charset="-128"/>
                <a:cs typeface="ＭＳ Ｐゴシック" pitchFamily="24" charset="-128"/>
              </a:rPr>
              <a:t>C validation</a:t>
            </a:r>
          </a:p>
          <a:p>
            <a:pPr marL="742950" lvl="1" indent="-285750" defTabSz="457200">
              <a:buFont typeface="Arial" charset="0"/>
              <a:buChar char="–"/>
              <a:defRPr/>
            </a:pPr>
            <a:r>
              <a:rPr lang="en-US" sz="1800" dirty="0">
                <a:solidFill>
                  <a:prstClr val="black"/>
                </a:solidFill>
                <a:ea typeface="ＭＳ Ｐゴシック" pitchFamily="24" charset="-128"/>
                <a:cs typeface="Arial" charset="0"/>
              </a:rPr>
              <a:t>A </a:t>
            </a:r>
            <a:r>
              <a:rPr lang="en-US" sz="1800" b="1" dirty="0">
                <a:solidFill>
                  <a:prstClr val="black"/>
                </a:solidFill>
                <a:ea typeface="ＭＳ Ｐゴシック" pitchFamily="24" charset="-128"/>
                <a:cs typeface="Arial" charset="0"/>
              </a:rPr>
              <a:t>HUGE</a:t>
            </a:r>
            <a:r>
              <a:rPr lang="en-US" sz="1800" dirty="0">
                <a:solidFill>
                  <a:prstClr val="black"/>
                </a:solidFill>
                <a:ea typeface="ＭＳ Ｐゴシック" pitchFamily="24" charset="-128"/>
                <a:cs typeface="Arial" charset="0"/>
              </a:rPr>
              <a:t> reason users want to use HLS</a:t>
            </a:r>
          </a:p>
          <a:p>
            <a:pPr marL="1143000" lvl="2" indent="-228600" defTabSz="457200">
              <a:buFont typeface="Arial" charset="0"/>
              <a:buChar char="•"/>
              <a:defRPr/>
            </a:pPr>
            <a:r>
              <a:rPr lang="en-US" sz="1400" dirty="0">
                <a:solidFill>
                  <a:prstClr val="black"/>
                </a:solidFill>
                <a:ea typeface="ＭＳ Ｐゴシック" pitchFamily="24" charset="-128"/>
                <a:cs typeface="Arial" charset="0"/>
              </a:rPr>
              <a:t>Fast, free verification</a:t>
            </a:r>
          </a:p>
          <a:p>
            <a:pPr marL="685800" lvl="1" defTabSz="457200">
              <a:buFont typeface="Arial" pitchFamily="34" charset="0"/>
              <a:buChar char="−"/>
            </a:pPr>
            <a:r>
              <a:rPr lang="en-US" sz="1800" dirty="0">
                <a:solidFill>
                  <a:prstClr val="black"/>
                </a:solidFill>
                <a:ea typeface="ＭＳ Ｐゴシック" pitchFamily="24" charset="-128"/>
                <a:cs typeface="Arial" charset="0"/>
              </a:rPr>
              <a:t>Validate the algorithm is correct </a:t>
            </a:r>
            <a:r>
              <a:rPr lang="en-US" sz="1800" b="1" u="sng" dirty="0">
                <a:solidFill>
                  <a:prstClr val="black"/>
                </a:solidFill>
                <a:ea typeface="ＭＳ Ｐゴシック" pitchFamily="24" charset="-128"/>
                <a:cs typeface="Arial" charset="0"/>
              </a:rPr>
              <a:t>before</a:t>
            </a:r>
            <a:r>
              <a:rPr lang="en-US" sz="1800" dirty="0">
                <a:solidFill>
                  <a:prstClr val="black"/>
                </a:solidFill>
                <a:ea typeface="ＭＳ Ｐゴシック" pitchFamily="24" charset="-128"/>
                <a:cs typeface="Arial" charset="0"/>
              </a:rPr>
              <a:t> synthesis</a:t>
            </a:r>
          </a:p>
          <a:p>
            <a:pPr marL="1143000" lvl="2" indent="-228600" defTabSz="457200">
              <a:buFont typeface="Arial" pitchFamily="34" charset="0"/>
              <a:buChar char="•"/>
            </a:pPr>
            <a:r>
              <a:rPr lang="en-US" sz="1400" dirty="0">
                <a:solidFill>
                  <a:prstClr val="black"/>
                </a:solidFill>
                <a:ea typeface="ＭＳ Ｐゴシック" pitchFamily="24" charset="-128"/>
                <a:cs typeface="Arial" charset="0"/>
              </a:rPr>
              <a:t>Follow the test bench tips given over</a:t>
            </a:r>
          </a:p>
          <a:p>
            <a:r>
              <a:rPr lang="en-US" sz="2000" dirty="0">
                <a:solidFill>
                  <a:srgbClr val="008CA8"/>
                </a:solidFill>
                <a:ea typeface="ＭＳ Ｐゴシック" pitchFamily="24" charset="-128"/>
                <a:cs typeface="ＭＳ Ｐゴシック" pitchFamily="24" charset="-128"/>
              </a:rPr>
              <a:t>RTL Verification</a:t>
            </a:r>
          </a:p>
          <a:p>
            <a:pPr lvl="1"/>
            <a:r>
              <a:rPr lang="en-US" sz="1800" dirty="0">
                <a:solidFill>
                  <a:prstClr val="black"/>
                </a:solidFill>
                <a:ea typeface="ＭＳ Ｐゴシック" pitchFamily="24" charset="-128"/>
                <a:cs typeface="Arial" charset="0"/>
              </a:rPr>
              <a:t>Vitis HLS can co-simulate the RTL with the </a:t>
            </a:r>
            <a:br>
              <a:rPr lang="en-US" sz="1800" dirty="0">
                <a:solidFill>
                  <a:prstClr val="black"/>
                </a:solidFill>
                <a:ea typeface="ＭＳ Ｐゴシック" pitchFamily="24" charset="-128"/>
                <a:cs typeface="Arial" charset="0"/>
              </a:rPr>
            </a:br>
            <a:r>
              <a:rPr lang="en-US" sz="1800" dirty="0">
                <a:solidFill>
                  <a:prstClr val="black"/>
                </a:solidFill>
                <a:ea typeface="ＭＳ Ｐゴシック" pitchFamily="24" charset="-128"/>
                <a:cs typeface="Arial" charset="0"/>
              </a:rPr>
              <a:t>original test bench</a:t>
            </a:r>
          </a:p>
          <a:p>
            <a:pPr lvl="1"/>
            <a:endParaRPr lang="en-US" dirty="0"/>
          </a:p>
        </p:txBody>
      </p:sp>
      <p:sp>
        <p:nvSpPr>
          <p:cNvPr id="6" name="Slide Number Placeholder 5">
            <a:extLst>
              <a:ext uri="{FF2B5EF4-FFF2-40B4-BE49-F238E27FC236}">
                <a16:creationId xmlns:a16="http://schemas.microsoft.com/office/drawing/2014/main" id="{C5DF1EA6-0F8E-460E-91F9-A4C4BCD3F404}"/>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35</a:t>
            </a:fld>
            <a:endParaRPr lang="en-US" dirty="0"/>
          </a:p>
        </p:txBody>
      </p:sp>
      <p:sp>
        <p:nvSpPr>
          <p:cNvPr id="28" name="TextBox 27"/>
          <p:cNvSpPr txBox="1"/>
          <p:nvPr/>
        </p:nvSpPr>
        <p:spPr>
          <a:xfrm>
            <a:off x="8543356" y="3429001"/>
            <a:ext cx="1035275" cy="307777"/>
          </a:xfrm>
          <a:prstGeom prst="rect">
            <a:avLst/>
          </a:prstGeom>
          <a:solidFill>
            <a:srgbClr val="FFFF00"/>
          </a:solidFill>
          <a:ln>
            <a:solidFill>
              <a:schemeClr val="tx1"/>
            </a:solidFill>
          </a:ln>
        </p:spPr>
        <p:txBody>
          <a:bodyPr wrap="square" rtlCol="0">
            <a:spAutoFit/>
          </a:bodyPr>
          <a:lstStyle/>
          <a:p>
            <a:r>
              <a:rPr lang="en-US" sz="1400" b="1" dirty="0"/>
              <a:t>Validate C</a:t>
            </a:r>
          </a:p>
        </p:txBody>
      </p:sp>
      <p:sp>
        <p:nvSpPr>
          <p:cNvPr id="30" name="TextBox 29"/>
          <p:cNvSpPr txBox="1"/>
          <p:nvPr/>
        </p:nvSpPr>
        <p:spPr>
          <a:xfrm>
            <a:off x="8503502" y="5082556"/>
            <a:ext cx="1114981" cy="307777"/>
          </a:xfrm>
          <a:prstGeom prst="rect">
            <a:avLst/>
          </a:prstGeom>
          <a:solidFill>
            <a:srgbClr val="FFFF00"/>
          </a:solidFill>
          <a:ln>
            <a:solidFill>
              <a:schemeClr val="tx1"/>
            </a:solidFill>
          </a:ln>
        </p:spPr>
        <p:txBody>
          <a:bodyPr wrap="square" rtlCol="0">
            <a:spAutoFit/>
          </a:bodyPr>
          <a:lstStyle/>
          <a:p>
            <a:r>
              <a:rPr lang="en-US" sz="1400" b="1" dirty="0"/>
              <a:t>Verify RTL</a:t>
            </a:r>
          </a:p>
        </p:txBody>
      </p:sp>
      <p:sp>
        <p:nvSpPr>
          <p:cNvPr id="7" name="矩形 6">
            <a:extLst>
              <a:ext uri="{FF2B5EF4-FFF2-40B4-BE49-F238E27FC236}">
                <a16:creationId xmlns:a16="http://schemas.microsoft.com/office/drawing/2014/main" id="{CC10E091-97D0-4713-8FC5-BE1ABBD92005}"/>
              </a:ext>
            </a:extLst>
          </p:cNvPr>
          <p:cNvSpPr/>
          <p:nvPr/>
        </p:nvSpPr>
        <p:spPr>
          <a:xfrm>
            <a:off x="8829349" y="2042445"/>
            <a:ext cx="504246" cy="153824"/>
          </a:xfrm>
          <a:prstGeom prst="rect">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矩形 11">
            <a:extLst>
              <a:ext uri="{FF2B5EF4-FFF2-40B4-BE49-F238E27FC236}">
                <a16:creationId xmlns:a16="http://schemas.microsoft.com/office/drawing/2014/main" id="{6F030F10-5134-4821-8467-F28292F845DC}"/>
              </a:ext>
            </a:extLst>
          </p:cNvPr>
          <p:cNvSpPr/>
          <p:nvPr/>
        </p:nvSpPr>
        <p:spPr>
          <a:xfrm>
            <a:off x="8634720" y="3992052"/>
            <a:ext cx="510869" cy="2186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2F2F2"/>
              </a:solidFill>
            </a:endParaRPr>
          </a:p>
        </p:txBody>
      </p:sp>
      <p:sp>
        <p:nvSpPr>
          <p:cNvPr id="13" name="文本框 12">
            <a:extLst>
              <a:ext uri="{FF2B5EF4-FFF2-40B4-BE49-F238E27FC236}">
                <a16:creationId xmlns:a16="http://schemas.microsoft.com/office/drawing/2014/main" id="{CE251DB7-5188-4D25-9CFD-957506D8E7CB}"/>
              </a:ext>
            </a:extLst>
          </p:cNvPr>
          <p:cNvSpPr txBox="1"/>
          <p:nvPr/>
        </p:nvSpPr>
        <p:spPr>
          <a:xfrm>
            <a:off x="8707672" y="3973930"/>
            <a:ext cx="809522" cy="276999"/>
          </a:xfrm>
          <a:prstGeom prst="rect">
            <a:avLst/>
          </a:prstGeom>
          <a:noFill/>
        </p:spPr>
        <p:txBody>
          <a:bodyPr wrap="square" rtlCol="0">
            <a:spAutoFit/>
          </a:bodyPr>
          <a:lstStyle/>
          <a:p>
            <a:r>
              <a:rPr lang="en-US" sz="1200" b="1" dirty="0">
                <a:solidFill>
                  <a:srgbClr val="322E2B"/>
                </a:solidFill>
              </a:rPr>
              <a:t>Vitis</a:t>
            </a:r>
          </a:p>
        </p:txBody>
      </p:sp>
      <p:sp>
        <p:nvSpPr>
          <p:cNvPr id="15" name="矩形 14">
            <a:extLst>
              <a:ext uri="{FF2B5EF4-FFF2-40B4-BE49-F238E27FC236}">
                <a16:creationId xmlns:a16="http://schemas.microsoft.com/office/drawing/2014/main" id="{4B958721-3179-45CD-A8CC-D9DC4A47C738}"/>
              </a:ext>
            </a:extLst>
          </p:cNvPr>
          <p:cNvSpPr/>
          <p:nvPr/>
        </p:nvSpPr>
        <p:spPr>
          <a:xfrm>
            <a:off x="10107304" y="5576383"/>
            <a:ext cx="823633" cy="429563"/>
          </a:xfrm>
          <a:prstGeom prst="rect">
            <a:avLst/>
          </a:prstGeom>
          <a:solidFill>
            <a:srgbClr val="FDEA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矩形 16">
            <a:extLst>
              <a:ext uri="{FF2B5EF4-FFF2-40B4-BE49-F238E27FC236}">
                <a16:creationId xmlns:a16="http://schemas.microsoft.com/office/drawing/2014/main" id="{F470F7B4-4558-4BB3-9FAD-11BB43421615}"/>
              </a:ext>
            </a:extLst>
          </p:cNvPr>
          <p:cNvSpPr/>
          <p:nvPr/>
        </p:nvSpPr>
        <p:spPr>
          <a:xfrm>
            <a:off x="11003889" y="5576383"/>
            <a:ext cx="559436" cy="484627"/>
          </a:xfrm>
          <a:prstGeom prst="rect">
            <a:avLst/>
          </a:prstGeom>
          <a:solidFill>
            <a:srgbClr val="FDEA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文本框 17">
            <a:extLst>
              <a:ext uri="{FF2B5EF4-FFF2-40B4-BE49-F238E27FC236}">
                <a16:creationId xmlns:a16="http://schemas.microsoft.com/office/drawing/2014/main" id="{26D3F1E8-D7F8-4FBE-8A20-F8511CF53F09}"/>
              </a:ext>
            </a:extLst>
          </p:cNvPr>
          <p:cNvSpPr txBox="1"/>
          <p:nvPr/>
        </p:nvSpPr>
        <p:spPr>
          <a:xfrm>
            <a:off x="10859273" y="5616195"/>
            <a:ext cx="910657" cy="369332"/>
          </a:xfrm>
          <a:prstGeom prst="rect">
            <a:avLst/>
          </a:prstGeom>
          <a:noFill/>
        </p:spPr>
        <p:txBody>
          <a:bodyPr wrap="square" rtlCol="0">
            <a:spAutoFit/>
          </a:bodyPr>
          <a:lstStyle/>
          <a:p>
            <a:pPr algn="ctr"/>
            <a:r>
              <a:rPr lang="en-US" sz="900" b="1" dirty="0">
                <a:solidFill>
                  <a:srgbClr val="322E2B"/>
                </a:solidFill>
              </a:rPr>
              <a:t>Vitis Model Composer</a:t>
            </a:r>
          </a:p>
        </p:txBody>
      </p:sp>
      <p:sp>
        <p:nvSpPr>
          <p:cNvPr id="19" name="文本框 18">
            <a:extLst>
              <a:ext uri="{FF2B5EF4-FFF2-40B4-BE49-F238E27FC236}">
                <a16:creationId xmlns:a16="http://schemas.microsoft.com/office/drawing/2014/main" id="{A21A12C5-5F54-4014-BE48-C8281028F573}"/>
              </a:ext>
            </a:extLst>
          </p:cNvPr>
          <p:cNvSpPr txBox="1"/>
          <p:nvPr/>
        </p:nvSpPr>
        <p:spPr>
          <a:xfrm>
            <a:off x="10035161" y="5534045"/>
            <a:ext cx="910657" cy="507831"/>
          </a:xfrm>
          <a:prstGeom prst="rect">
            <a:avLst/>
          </a:prstGeom>
          <a:noFill/>
        </p:spPr>
        <p:txBody>
          <a:bodyPr wrap="square" rtlCol="0">
            <a:spAutoFit/>
          </a:bodyPr>
          <a:lstStyle/>
          <a:p>
            <a:pPr algn="ctr"/>
            <a:r>
              <a:rPr lang="en-US" sz="900" b="1" dirty="0">
                <a:solidFill>
                  <a:srgbClr val="322E2B"/>
                </a:solidFill>
              </a:rPr>
              <a:t>Vitis Development</a:t>
            </a:r>
          </a:p>
          <a:p>
            <a:pPr algn="ctr"/>
            <a:r>
              <a:rPr lang="en-US" sz="900" b="1" dirty="0">
                <a:solidFill>
                  <a:srgbClr val="322E2B"/>
                </a:solidFill>
              </a:rPr>
              <a:t>Environment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Function Test Bench</a:t>
            </a:r>
          </a:p>
        </p:txBody>
      </p:sp>
      <p:sp>
        <p:nvSpPr>
          <p:cNvPr id="3" name="Content Placeholder 2"/>
          <p:cNvSpPr>
            <a:spLocks noGrp="1"/>
          </p:cNvSpPr>
          <p:nvPr>
            <p:ph idx="1"/>
          </p:nvPr>
        </p:nvSpPr>
        <p:spPr>
          <a:xfrm>
            <a:off x="579119" y="1112520"/>
            <a:ext cx="11033760" cy="4632960"/>
          </a:xfrm>
        </p:spPr>
        <p:txBody>
          <a:bodyPr/>
          <a:lstStyle/>
          <a:p>
            <a:r>
              <a:rPr lang="en-US" dirty="0"/>
              <a:t>The test bench is the level above the function</a:t>
            </a:r>
          </a:p>
          <a:p>
            <a:pPr lvl="1"/>
            <a:r>
              <a:rPr lang="en-US" dirty="0"/>
              <a:t>The main() function is </a:t>
            </a:r>
            <a:r>
              <a:rPr lang="en-US" u="sng" dirty="0"/>
              <a:t>above</a:t>
            </a:r>
            <a:r>
              <a:rPr lang="en-US" dirty="0"/>
              <a:t> the function to be synthesized</a:t>
            </a:r>
          </a:p>
          <a:p>
            <a:r>
              <a:rPr lang="en-US" dirty="0"/>
              <a:t>Good Practices</a:t>
            </a:r>
          </a:p>
          <a:p>
            <a:pPr lvl="1"/>
            <a:r>
              <a:rPr lang="en-US" dirty="0"/>
              <a:t>The test bench should compare the results with golden data</a:t>
            </a:r>
          </a:p>
          <a:p>
            <a:pPr lvl="2"/>
            <a:r>
              <a:rPr lang="en-US" dirty="0"/>
              <a:t>Automatically confirms any changes to the C are validated and verifies the RTL is correct</a:t>
            </a:r>
          </a:p>
          <a:p>
            <a:pPr lvl="1"/>
            <a:r>
              <a:rPr lang="en-US" dirty="0"/>
              <a:t>The test bench should return a 0 if the self-checking is correct</a:t>
            </a:r>
          </a:p>
          <a:p>
            <a:pPr lvl="2"/>
            <a:r>
              <a:rPr lang="en-US" dirty="0"/>
              <a:t>Anything but a 0 (zero) will cause RTL verification to issue a FAIL message</a:t>
            </a:r>
          </a:p>
          <a:p>
            <a:pPr lvl="2"/>
            <a:r>
              <a:rPr lang="en-US" dirty="0"/>
              <a:t>Function main() should expect an integer return (non-void)</a:t>
            </a:r>
          </a:p>
          <a:p>
            <a:pPr lvl="1"/>
            <a:endParaRPr lang="en-US" dirty="0"/>
          </a:p>
        </p:txBody>
      </p:sp>
      <p:sp>
        <p:nvSpPr>
          <p:cNvPr id="5" name="Slide Number Placeholder 4">
            <a:extLst>
              <a:ext uri="{FF2B5EF4-FFF2-40B4-BE49-F238E27FC236}">
                <a16:creationId xmlns:a16="http://schemas.microsoft.com/office/drawing/2014/main" id="{41BBE271-13D5-4B91-AA02-9525882E2A3F}"/>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36</a:t>
            </a:fld>
            <a:endParaRPr lang="en-US" dirty="0"/>
          </a:p>
        </p:txBody>
      </p:sp>
      <p:sp>
        <p:nvSpPr>
          <p:cNvPr id="6" name="TextBox 5">
            <a:extLst>
              <a:ext uri="{FF2B5EF4-FFF2-40B4-BE49-F238E27FC236}">
                <a16:creationId xmlns:a16="http://schemas.microsoft.com/office/drawing/2014/main" id="{EB8330CE-2530-4588-90E9-C1945DD909F3}"/>
              </a:ext>
            </a:extLst>
          </p:cNvPr>
          <p:cNvSpPr txBox="1"/>
          <p:nvPr/>
        </p:nvSpPr>
        <p:spPr>
          <a:xfrm>
            <a:off x="3027999" y="4341084"/>
            <a:ext cx="6296780" cy="209288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b="1" kern="0" dirty="0" err="1">
                <a:solidFill>
                  <a:prstClr val="black"/>
                </a:solidFill>
                <a:latin typeface="Arial"/>
              </a:rPr>
              <a:t>int</a:t>
            </a:r>
            <a:r>
              <a:rPr lang="en-US" sz="1000" b="1" kern="0" dirty="0">
                <a:solidFill>
                  <a:prstClr val="black"/>
                </a:solidFill>
                <a:latin typeface="Arial"/>
              </a:rPr>
              <a:t> main </a:t>
            </a:r>
            <a:r>
              <a:rPr lang="en-US" sz="1000" kern="0" dirty="0">
                <a:solidFill>
                  <a:prstClr val="black"/>
                </a:solidFill>
                <a:latin typeface="Arial"/>
              </a:rPr>
              <a:t>() { </a:t>
            </a:r>
          </a:p>
          <a:p>
            <a:pPr defTabSz="457200" fontAlgn="base">
              <a:spcBef>
                <a:spcPct val="0"/>
              </a:spcBef>
              <a:spcAft>
                <a:spcPct val="0"/>
              </a:spcAft>
              <a:defRPr/>
            </a:pPr>
            <a:r>
              <a:rPr lang="en-US" sz="1000" b="1" kern="0" dirty="0">
                <a:solidFill>
                  <a:prstClr val="black"/>
                </a:solidFill>
                <a:latin typeface="Arial"/>
              </a:rPr>
              <a:t>  int ret=0;</a:t>
            </a:r>
          </a:p>
          <a:p>
            <a:pPr defTabSz="457200" fontAlgn="base">
              <a:spcBef>
                <a:spcPct val="0"/>
              </a:spcBef>
              <a:spcAft>
                <a:spcPct val="0"/>
              </a:spcAft>
              <a:defRPr/>
            </a:pPr>
            <a:r>
              <a:rPr lang="en-US" sz="1000" b="1" kern="0" dirty="0">
                <a:solidFill>
                  <a:prstClr val="black"/>
                </a:solidFill>
                <a:latin typeface="Arial"/>
              </a:rPr>
              <a:t>  …</a:t>
            </a:r>
          </a:p>
          <a:p>
            <a:pPr defTabSz="457200" fontAlgn="base">
              <a:spcBef>
                <a:spcPct val="0"/>
              </a:spcBef>
              <a:spcAft>
                <a:spcPct val="0"/>
              </a:spcAft>
              <a:defRPr/>
            </a:pPr>
            <a:r>
              <a:rPr lang="en-US" sz="1000" b="1" kern="0" dirty="0">
                <a:solidFill>
                  <a:prstClr val="black"/>
                </a:solidFill>
                <a:latin typeface="Arial"/>
              </a:rPr>
              <a:t>  ret = system("diff --brief  -w output.dat </a:t>
            </a:r>
            <a:r>
              <a:rPr lang="en-US" sz="1000" b="1" kern="0" dirty="0" err="1">
                <a:solidFill>
                  <a:prstClr val="black"/>
                </a:solidFill>
                <a:latin typeface="Arial"/>
              </a:rPr>
              <a:t>output.golden.dat</a:t>
            </a:r>
            <a:r>
              <a:rPr lang="en-US" sz="1000" b="1"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if (ret != 0) {</a:t>
            </a:r>
          </a:p>
          <a:p>
            <a:pPr defTabSz="457200" fontAlgn="base">
              <a:spcBef>
                <a:spcPct val="0"/>
              </a:spcBef>
              <a:spcAft>
                <a:spcPct val="0"/>
              </a:spcAft>
              <a:defRPr/>
            </a:pPr>
            <a:r>
              <a:rPr lang="en-US" sz="1000" kern="0" dirty="0">
                <a:solidFill>
                  <a:prstClr val="black"/>
                </a:solidFill>
                <a:latin typeface="Arial"/>
              </a:rPr>
              <a:t>        printf("Test failed  !!!\n"); </a:t>
            </a:r>
          </a:p>
          <a:p>
            <a:pPr defTabSz="457200" fontAlgn="base">
              <a:spcBef>
                <a:spcPct val="0"/>
              </a:spcBef>
              <a:spcAft>
                <a:spcPct val="0"/>
              </a:spcAft>
              <a:defRPr/>
            </a:pPr>
            <a:r>
              <a:rPr lang="en-US" sz="1000" b="1" kern="0" dirty="0">
                <a:solidFill>
                  <a:prstClr val="black"/>
                </a:solidFill>
                <a:latin typeface="Arial"/>
              </a:rPr>
              <a:t>        ret=1;</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printf("Test passed !\n");</a:t>
            </a:r>
            <a:endParaRPr lang="en-US" sz="1000" b="1"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return ret;</a:t>
            </a:r>
          </a:p>
          <a:p>
            <a:pPr defTabSz="457200" fontAlgn="base">
              <a:spcBef>
                <a:spcPct val="0"/>
              </a:spcBef>
              <a:spcAft>
                <a:spcPct val="0"/>
              </a:spcAft>
              <a:defRPr/>
            </a:pPr>
            <a:r>
              <a:rPr lang="en-US" sz="1000" kern="0" dirty="0">
                <a:solidFill>
                  <a:prstClr val="black"/>
                </a:solidFill>
                <a:latin typeface="Arial"/>
              </a:rPr>
              <a: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Determine or Create the Top-level Function</a:t>
            </a:r>
          </a:p>
        </p:txBody>
      </p:sp>
      <p:sp>
        <p:nvSpPr>
          <p:cNvPr id="3" name="Content Placeholder 2"/>
          <p:cNvSpPr>
            <a:spLocks noGrp="1"/>
          </p:cNvSpPr>
          <p:nvPr>
            <p:ph idx="1"/>
          </p:nvPr>
        </p:nvSpPr>
        <p:spPr>
          <a:xfrm>
            <a:off x="579120" y="1189330"/>
            <a:ext cx="11033760" cy="4632960"/>
          </a:xfrm>
        </p:spPr>
        <p:txBody>
          <a:bodyPr/>
          <a:lstStyle/>
          <a:p>
            <a:r>
              <a:rPr lang="en-US" dirty="0"/>
              <a:t>Determine the top-level function for synthesis</a:t>
            </a:r>
          </a:p>
          <a:p>
            <a:r>
              <a:rPr lang="en-US" dirty="0"/>
              <a:t>If there are Multiple functions, they must be merged</a:t>
            </a:r>
          </a:p>
          <a:p>
            <a:pPr lvl="1"/>
            <a:r>
              <a:rPr lang="en-US" dirty="0"/>
              <a:t>There can only be 1 top-level function for synthesis</a:t>
            </a:r>
          </a:p>
          <a:p>
            <a:pPr lvl="1"/>
            <a:endParaRPr lang="en-US" dirty="0"/>
          </a:p>
        </p:txBody>
      </p:sp>
      <p:sp>
        <p:nvSpPr>
          <p:cNvPr id="5" name="Slide Number Placeholder 4">
            <a:extLst>
              <a:ext uri="{FF2B5EF4-FFF2-40B4-BE49-F238E27FC236}">
                <a16:creationId xmlns:a16="http://schemas.microsoft.com/office/drawing/2014/main" id="{6351ADE2-C6D9-44B4-B261-58ECEB220082}"/>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37</a:t>
            </a:fld>
            <a:endParaRPr lang="en-US" dirty="0"/>
          </a:p>
        </p:txBody>
      </p:sp>
      <p:sp>
        <p:nvSpPr>
          <p:cNvPr id="23" name="TextBox 22">
            <a:extLst>
              <a:ext uri="{FF2B5EF4-FFF2-40B4-BE49-F238E27FC236}">
                <a16:creationId xmlns:a16="http://schemas.microsoft.com/office/drawing/2014/main" id="{C005D628-1FFC-4664-B2AC-C937C05AE2EB}"/>
              </a:ext>
            </a:extLst>
          </p:cNvPr>
          <p:cNvSpPr txBox="1"/>
          <p:nvPr/>
        </p:nvSpPr>
        <p:spPr>
          <a:xfrm>
            <a:off x="1130283" y="3572848"/>
            <a:ext cx="3327567" cy="12003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int main () {</a:t>
            </a:r>
          </a:p>
          <a:p>
            <a:pPr marL="0" lvl="1" defTabSz="457200" fontAlgn="base">
              <a:spcBef>
                <a:spcPct val="0"/>
              </a:spcBef>
              <a:spcAft>
                <a:spcPct val="0"/>
              </a:spcAft>
              <a:defRPr/>
            </a:pP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func_A</a:t>
            </a:r>
            <a:r>
              <a:rPr lang="en-US" sz="900" b="1" kern="0" dirty="0">
                <a:solidFill>
                  <a:prstClr val="black"/>
                </a:solidFill>
                <a:latin typeface="Arial"/>
              </a:rPr>
              <a:t>(</a:t>
            </a:r>
            <a:r>
              <a:rPr lang="en-US" sz="900" b="1" kern="0" dirty="0" err="1">
                <a:solidFill>
                  <a:prstClr val="black"/>
                </a:solidFill>
                <a:latin typeface="Arial"/>
              </a:rPr>
              <a:t>a,b</a:t>
            </a:r>
            <a:r>
              <a:rPr lang="en-US" sz="900" b="1" kern="0" dirty="0">
                <a:solidFill>
                  <a:prstClr val="black"/>
                </a:solidFill>
                <a:latin typeface="Arial"/>
              </a:rPr>
              <a:t>,*i1);</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func_B</a:t>
            </a:r>
            <a:r>
              <a:rPr lang="en-US" sz="900" b="1" kern="0" dirty="0">
                <a:solidFill>
                  <a:prstClr val="black"/>
                </a:solidFill>
                <a:latin typeface="Arial"/>
              </a:rPr>
              <a:t>(c,*i1,*i2);</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func_C</a:t>
            </a:r>
            <a:r>
              <a:rPr lang="en-US" sz="900" b="1" kern="0" dirty="0">
                <a:solidFill>
                  <a:prstClr val="black"/>
                </a:solidFill>
                <a:latin typeface="Arial"/>
              </a:rPr>
              <a:t>(*i2,ret)</a:t>
            </a:r>
          </a:p>
          <a:p>
            <a:pPr marL="0" lvl="1" defTabSz="457200" fontAlgn="base">
              <a:spcBef>
                <a:spcPct val="0"/>
              </a:spcBef>
              <a:spcAft>
                <a:spcPct val="0"/>
              </a:spcAft>
              <a:defRPr/>
            </a:pPr>
            <a:endParaRPr lang="en-US" sz="900" b="1" kern="0" dirty="0">
              <a:solidFill>
                <a:prstClr val="black"/>
              </a:solidFill>
              <a:latin typeface="Arial"/>
            </a:endParaRPr>
          </a:p>
          <a:p>
            <a:pPr marL="0" lvl="1" defTabSz="457200" fontAlgn="base">
              <a:spcBef>
                <a:spcPct val="0"/>
              </a:spcBef>
              <a:spcAft>
                <a:spcPct val="0"/>
              </a:spcAft>
              <a:defRPr/>
            </a:pPr>
            <a:r>
              <a:rPr lang="en-US" sz="900" b="1" kern="0" dirty="0">
                <a:solidFill>
                  <a:prstClr val="black"/>
                </a:solidFill>
                <a:latin typeface="Arial"/>
              </a:rPr>
              <a:t>  return ret;</a:t>
            </a:r>
          </a:p>
          <a:p>
            <a:pPr defTabSz="457200" fontAlgn="base">
              <a:spcBef>
                <a:spcPct val="0"/>
              </a:spcBef>
              <a:spcAft>
                <a:spcPct val="0"/>
              </a:spcAft>
              <a:defRPr/>
            </a:pPr>
            <a:r>
              <a:rPr lang="en-US" sz="900" b="1" kern="0" dirty="0">
                <a:solidFill>
                  <a:prstClr val="black"/>
                </a:solidFill>
                <a:latin typeface="Arial"/>
              </a:rPr>
              <a:t>}</a:t>
            </a:r>
          </a:p>
        </p:txBody>
      </p:sp>
      <p:sp>
        <p:nvSpPr>
          <p:cNvPr id="24" name="Rounded Rectangle 5">
            <a:extLst>
              <a:ext uri="{FF2B5EF4-FFF2-40B4-BE49-F238E27FC236}">
                <a16:creationId xmlns:a16="http://schemas.microsoft.com/office/drawing/2014/main" id="{D08D1C35-2BCD-4599-A818-D84F97E48EF1}"/>
              </a:ext>
            </a:extLst>
          </p:cNvPr>
          <p:cNvSpPr/>
          <p:nvPr/>
        </p:nvSpPr>
        <p:spPr>
          <a:xfrm>
            <a:off x="3382754" y="3882526"/>
            <a:ext cx="812588" cy="152400"/>
          </a:xfrm>
          <a:prstGeom prst="roundRect">
            <a:avLst/>
          </a:prstGeom>
          <a:solidFill>
            <a:srgbClr val="008CA8"/>
          </a:solidFill>
          <a:ln w="25400" cap="flat" cmpd="sng" algn="ctr">
            <a:solidFill>
              <a:srgbClr val="008CA8">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func_A</a:t>
            </a:r>
          </a:p>
        </p:txBody>
      </p:sp>
      <p:sp>
        <p:nvSpPr>
          <p:cNvPr id="25" name="Rounded Rectangle 6">
            <a:extLst>
              <a:ext uri="{FF2B5EF4-FFF2-40B4-BE49-F238E27FC236}">
                <a16:creationId xmlns:a16="http://schemas.microsoft.com/office/drawing/2014/main" id="{FA4CE19C-EF31-49E8-A330-94D7E46EB6ED}"/>
              </a:ext>
            </a:extLst>
          </p:cNvPr>
          <p:cNvSpPr/>
          <p:nvPr/>
        </p:nvSpPr>
        <p:spPr>
          <a:xfrm>
            <a:off x="3382754" y="4034926"/>
            <a:ext cx="812588" cy="152400"/>
          </a:xfrm>
          <a:prstGeom prst="roundRect">
            <a:avLst/>
          </a:prstGeom>
          <a:solidFill>
            <a:srgbClr val="91B800"/>
          </a:solidFill>
          <a:ln w="25400" cap="flat" cmpd="sng" algn="ctr">
            <a:solidFill>
              <a:srgbClr val="6D7076">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func_B</a:t>
            </a:r>
          </a:p>
        </p:txBody>
      </p:sp>
      <p:sp>
        <p:nvSpPr>
          <p:cNvPr id="26" name="Rounded Rectangle 7">
            <a:extLst>
              <a:ext uri="{FF2B5EF4-FFF2-40B4-BE49-F238E27FC236}">
                <a16:creationId xmlns:a16="http://schemas.microsoft.com/office/drawing/2014/main" id="{95FFD602-5690-4828-AF7C-BC35E09FB48B}"/>
              </a:ext>
            </a:extLst>
          </p:cNvPr>
          <p:cNvSpPr/>
          <p:nvPr/>
        </p:nvSpPr>
        <p:spPr>
          <a:xfrm>
            <a:off x="3382754" y="4187326"/>
            <a:ext cx="812588" cy="152400"/>
          </a:xfrm>
          <a:prstGeom prst="roundRect">
            <a:avLst/>
          </a:prstGeom>
          <a:solidFill>
            <a:srgbClr val="00B050"/>
          </a:solidFill>
          <a:ln w="25400" cap="flat" cmpd="sng" algn="ctr">
            <a:solidFill>
              <a:srgbClr val="3F3F3F">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func_C</a:t>
            </a:r>
          </a:p>
        </p:txBody>
      </p:sp>
      <p:sp>
        <p:nvSpPr>
          <p:cNvPr id="27" name="TextBox 26">
            <a:extLst>
              <a:ext uri="{FF2B5EF4-FFF2-40B4-BE49-F238E27FC236}">
                <a16:creationId xmlns:a16="http://schemas.microsoft.com/office/drawing/2014/main" id="{2C690A39-B15A-467F-A0E8-F7BF21F7C6B7}"/>
              </a:ext>
            </a:extLst>
          </p:cNvPr>
          <p:cNvSpPr txBox="1"/>
          <p:nvPr/>
        </p:nvSpPr>
        <p:spPr>
          <a:xfrm>
            <a:off x="1187986" y="3333140"/>
            <a:ext cx="611065"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defTabSz="457200" fontAlgn="base">
              <a:spcBef>
                <a:spcPct val="0"/>
              </a:spcBef>
              <a:spcAft>
                <a:spcPct val="0"/>
              </a:spcAft>
              <a:defRPr/>
            </a:pPr>
            <a:r>
              <a:rPr lang="en-US" sz="1050" b="1" kern="0" dirty="0" err="1">
                <a:solidFill>
                  <a:prstClr val="white"/>
                </a:solidFill>
                <a:latin typeface="Arial"/>
              </a:rPr>
              <a:t>main.c</a:t>
            </a:r>
            <a:endParaRPr lang="en-US" sz="1050" b="1" kern="0" dirty="0">
              <a:solidFill>
                <a:prstClr val="white"/>
              </a:solidFill>
              <a:latin typeface="Arial"/>
            </a:endParaRPr>
          </a:p>
        </p:txBody>
      </p:sp>
      <p:sp>
        <p:nvSpPr>
          <p:cNvPr id="28" name="TextBox 27">
            <a:extLst>
              <a:ext uri="{FF2B5EF4-FFF2-40B4-BE49-F238E27FC236}">
                <a16:creationId xmlns:a16="http://schemas.microsoft.com/office/drawing/2014/main" id="{A15C415B-07F4-4840-B1EA-DB3199668DD9}"/>
              </a:ext>
            </a:extLst>
          </p:cNvPr>
          <p:cNvSpPr txBox="1"/>
          <p:nvPr/>
        </p:nvSpPr>
        <p:spPr>
          <a:xfrm>
            <a:off x="7068710" y="5219170"/>
            <a:ext cx="332756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#include </a:t>
            </a:r>
            <a:r>
              <a:rPr lang="en-US" sz="900" b="1" kern="0" dirty="0" err="1">
                <a:solidFill>
                  <a:prstClr val="black"/>
                </a:solidFill>
                <a:latin typeface="Arial"/>
              </a:rPr>
              <a:t>func_AB.h</a:t>
            </a:r>
            <a:endParaRPr lang="en-US" sz="900" b="1" kern="0" dirty="0">
              <a:solidFill>
                <a:prstClr val="black"/>
              </a:solidFill>
              <a:latin typeface="Arial"/>
            </a:endParaRPr>
          </a:p>
          <a:p>
            <a:pPr defTabSz="457200" fontAlgn="base">
              <a:spcBef>
                <a:spcPct val="0"/>
              </a:spcBef>
              <a:spcAft>
                <a:spcPct val="0"/>
              </a:spcAft>
              <a:defRPr/>
            </a:pPr>
            <a:r>
              <a:rPr lang="en-US" sz="900" b="1" kern="0" dirty="0" err="1">
                <a:solidFill>
                  <a:prstClr val="black"/>
                </a:solidFill>
                <a:latin typeface="Arial"/>
              </a:rPr>
              <a:t>func_AB</a:t>
            </a:r>
            <a:r>
              <a:rPr lang="en-US" sz="900" b="1" kern="0" dirty="0">
                <a:solidFill>
                  <a:prstClr val="black"/>
                </a:solidFill>
                <a:latin typeface="Arial"/>
              </a:rPr>
              <a:t>(</a:t>
            </a:r>
            <a:r>
              <a:rPr lang="en-US" sz="900" b="1" kern="0" dirty="0" err="1">
                <a:solidFill>
                  <a:prstClr val="black"/>
                </a:solidFill>
                <a:latin typeface="Arial"/>
              </a:rPr>
              <a:t>a,b,c</a:t>
            </a:r>
            <a:r>
              <a:rPr lang="en-US" sz="900" b="1" kern="0" dirty="0">
                <a:solidFill>
                  <a:prstClr val="black"/>
                </a:solidFill>
                <a:latin typeface="Arial"/>
              </a:rPr>
              <a:t>, *i1, *i2) {</a:t>
            </a:r>
          </a:p>
          <a:p>
            <a:pPr marL="0" lvl="1" defTabSz="457200" fontAlgn="base">
              <a:spcBef>
                <a:spcPct val="0"/>
              </a:spcBef>
              <a:spcAft>
                <a:spcPct val="0"/>
              </a:spcAft>
              <a:defRPr/>
            </a:pP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func_A</a:t>
            </a:r>
            <a:r>
              <a:rPr lang="en-US" sz="900" b="1" kern="0" dirty="0">
                <a:solidFill>
                  <a:prstClr val="black"/>
                </a:solidFill>
                <a:latin typeface="Arial"/>
              </a:rPr>
              <a:t>(</a:t>
            </a:r>
            <a:r>
              <a:rPr lang="en-US" sz="900" b="1" kern="0" dirty="0" err="1">
                <a:solidFill>
                  <a:prstClr val="black"/>
                </a:solidFill>
                <a:latin typeface="Arial"/>
              </a:rPr>
              <a:t>a,b</a:t>
            </a:r>
            <a:r>
              <a:rPr lang="en-US" sz="900" b="1" kern="0" dirty="0">
                <a:solidFill>
                  <a:prstClr val="black"/>
                </a:solidFill>
                <a:latin typeface="Arial"/>
              </a:rPr>
              <a:t>,*i1);</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func_B</a:t>
            </a:r>
            <a:r>
              <a:rPr lang="en-US" sz="900" b="1" kern="0" dirty="0">
                <a:solidFill>
                  <a:prstClr val="black"/>
                </a:solidFill>
                <a:latin typeface="Arial"/>
              </a:rPr>
              <a:t>(c,*i1,*i2); </a:t>
            </a:r>
          </a:p>
          <a:p>
            <a:pPr marL="0" lvl="1" defTabSz="457200" fontAlgn="base">
              <a:spcBef>
                <a:spcPct val="0"/>
              </a:spcBef>
              <a:spcAft>
                <a:spcPct val="0"/>
              </a:spcAft>
              <a:defRPr/>
            </a:pPr>
            <a:r>
              <a:rPr lang="en-US" sz="900" b="1" kern="0" dirty="0">
                <a:solidFill>
                  <a:prstClr val="black"/>
                </a:solidFill>
                <a:latin typeface="Arial"/>
              </a:rPr>
              <a:t> …</a:t>
            </a:r>
          </a:p>
          <a:p>
            <a:pPr defTabSz="457200" fontAlgn="base">
              <a:spcBef>
                <a:spcPct val="0"/>
              </a:spcBef>
              <a:spcAft>
                <a:spcPct val="0"/>
              </a:spcAft>
              <a:defRPr/>
            </a:pPr>
            <a:r>
              <a:rPr lang="en-US" sz="900" b="1" kern="0" dirty="0">
                <a:solidFill>
                  <a:prstClr val="black"/>
                </a:solidFill>
                <a:latin typeface="Arial"/>
              </a:rPr>
              <a:t>}</a:t>
            </a:r>
          </a:p>
        </p:txBody>
      </p:sp>
      <p:sp>
        <p:nvSpPr>
          <p:cNvPr id="29" name="TextBox 28">
            <a:extLst>
              <a:ext uri="{FF2B5EF4-FFF2-40B4-BE49-F238E27FC236}">
                <a16:creationId xmlns:a16="http://schemas.microsoft.com/office/drawing/2014/main" id="{CBC5FE70-7ABF-47FE-AF37-EE7271A5B666}"/>
              </a:ext>
            </a:extLst>
          </p:cNvPr>
          <p:cNvSpPr txBox="1"/>
          <p:nvPr/>
        </p:nvSpPr>
        <p:spPr>
          <a:xfrm>
            <a:off x="7068711" y="3505810"/>
            <a:ext cx="3327567" cy="147732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#include </a:t>
            </a:r>
            <a:r>
              <a:rPr lang="en-US" sz="900" b="1" kern="0" dirty="0" err="1">
                <a:solidFill>
                  <a:prstClr val="black"/>
                </a:solidFill>
                <a:latin typeface="Arial"/>
              </a:rPr>
              <a:t>func_AB.h</a:t>
            </a:r>
            <a:endParaRPr lang="en-US" sz="900" b="1" kern="0" dirty="0">
              <a:solidFill>
                <a:prstClr val="black"/>
              </a:solidFill>
              <a:latin typeface="Arial"/>
            </a:endParaRPr>
          </a:p>
          <a:p>
            <a:pPr defTabSz="457200" fontAlgn="base">
              <a:spcBef>
                <a:spcPct val="0"/>
              </a:spcBef>
              <a:spcAft>
                <a:spcPct val="0"/>
              </a:spcAft>
              <a:defRPr/>
            </a:pPr>
            <a:r>
              <a:rPr lang="en-US" sz="900" b="1" kern="0" dirty="0" err="1">
                <a:solidFill>
                  <a:prstClr val="black"/>
                </a:solidFill>
                <a:latin typeface="Arial"/>
              </a:rPr>
              <a:t>int</a:t>
            </a:r>
            <a:r>
              <a:rPr lang="en-US" sz="900" b="1" kern="0" dirty="0">
                <a:solidFill>
                  <a:prstClr val="black"/>
                </a:solidFill>
                <a:latin typeface="Arial"/>
              </a:rPr>
              <a:t> main (</a:t>
            </a:r>
            <a:r>
              <a:rPr lang="en-US" sz="900" b="1" kern="0" dirty="0" err="1">
                <a:solidFill>
                  <a:prstClr val="black"/>
                </a:solidFill>
                <a:latin typeface="Arial"/>
              </a:rPr>
              <a:t>a,b,c,d</a:t>
            </a: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white">
                    <a:lumMod val="65000"/>
                  </a:prstClr>
                </a:solidFill>
                <a:latin typeface="Arial"/>
              </a:rPr>
              <a:t> // func_A(a,b,i1);</a:t>
            </a:r>
          </a:p>
          <a:p>
            <a:pPr marL="0" lvl="1" defTabSz="457200" fontAlgn="base">
              <a:spcBef>
                <a:spcPct val="0"/>
              </a:spcBef>
              <a:spcAft>
                <a:spcPct val="0"/>
              </a:spcAft>
              <a:defRPr/>
            </a:pPr>
            <a:r>
              <a:rPr lang="en-US" sz="900" b="1" kern="0" dirty="0">
                <a:solidFill>
                  <a:prstClr val="white">
                    <a:lumMod val="65000"/>
                  </a:prstClr>
                </a:solidFill>
                <a:latin typeface="Arial"/>
              </a:rPr>
              <a:t> // </a:t>
            </a:r>
            <a:r>
              <a:rPr lang="en-US" sz="900" b="1" kern="0" dirty="0" err="1">
                <a:solidFill>
                  <a:prstClr val="white">
                    <a:lumMod val="65000"/>
                  </a:prstClr>
                </a:solidFill>
                <a:latin typeface="Arial"/>
              </a:rPr>
              <a:t>func_B</a:t>
            </a:r>
            <a:r>
              <a:rPr lang="en-US" sz="900" b="1" kern="0" dirty="0">
                <a:solidFill>
                  <a:prstClr val="white">
                    <a:lumMod val="65000"/>
                  </a:prstClr>
                </a:solidFill>
                <a:latin typeface="Arial"/>
              </a:rPr>
              <a:t>(c,i1,i2);</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func_AB</a:t>
            </a:r>
            <a:r>
              <a:rPr lang="en-US" sz="900" b="1" kern="0" dirty="0">
                <a:solidFill>
                  <a:prstClr val="black"/>
                </a:solidFill>
                <a:latin typeface="Arial"/>
              </a:rPr>
              <a:t> (</a:t>
            </a:r>
            <a:r>
              <a:rPr lang="en-US" sz="900" b="1" kern="0" dirty="0" err="1">
                <a:solidFill>
                  <a:prstClr val="black"/>
                </a:solidFill>
                <a:latin typeface="Arial"/>
              </a:rPr>
              <a:t>a,b,c</a:t>
            </a:r>
            <a:r>
              <a:rPr lang="en-US" sz="900" b="1" kern="0" dirty="0">
                <a:solidFill>
                  <a:prstClr val="black"/>
                </a:solidFill>
                <a:latin typeface="Arial"/>
              </a:rPr>
              <a:t>, *i1, *i2); </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func_C</a:t>
            </a:r>
            <a:r>
              <a:rPr lang="en-US" sz="900" b="1" kern="0" dirty="0">
                <a:solidFill>
                  <a:prstClr val="black"/>
                </a:solidFill>
                <a:latin typeface="Arial"/>
              </a:rPr>
              <a:t>(*i2,ret)</a:t>
            </a:r>
          </a:p>
          <a:p>
            <a:pPr marL="0" lvl="1" defTabSz="457200" fontAlgn="base">
              <a:spcBef>
                <a:spcPct val="0"/>
              </a:spcBef>
              <a:spcAft>
                <a:spcPct val="0"/>
              </a:spcAft>
              <a:defRPr/>
            </a:pPr>
            <a:endParaRPr lang="en-US" sz="900" b="1" kern="0" dirty="0">
              <a:solidFill>
                <a:prstClr val="black"/>
              </a:solidFill>
              <a:latin typeface="Arial"/>
            </a:endParaRPr>
          </a:p>
          <a:p>
            <a:pPr marL="0" lvl="1" defTabSz="457200" fontAlgn="base">
              <a:spcBef>
                <a:spcPct val="0"/>
              </a:spcBef>
              <a:spcAft>
                <a:spcPct val="0"/>
              </a:spcAft>
              <a:defRPr/>
            </a:pPr>
            <a:r>
              <a:rPr lang="en-US" sz="900" b="1" kern="0" dirty="0">
                <a:solidFill>
                  <a:prstClr val="black"/>
                </a:solidFill>
                <a:latin typeface="Arial"/>
              </a:rPr>
              <a:t>  return ret;</a:t>
            </a:r>
          </a:p>
          <a:p>
            <a:pPr defTabSz="457200" fontAlgn="base">
              <a:spcBef>
                <a:spcPct val="0"/>
              </a:spcBef>
              <a:spcAft>
                <a:spcPct val="0"/>
              </a:spcAft>
              <a:defRPr/>
            </a:pPr>
            <a:r>
              <a:rPr lang="en-US" sz="900" b="1" kern="0" dirty="0">
                <a:solidFill>
                  <a:prstClr val="black"/>
                </a:solidFill>
                <a:latin typeface="Arial"/>
              </a:rPr>
              <a:t>}</a:t>
            </a:r>
          </a:p>
        </p:txBody>
      </p:sp>
      <p:sp>
        <p:nvSpPr>
          <p:cNvPr id="30" name="Rounded Rectangle 12">
            <a:extLst>
              <a:ext uri="{FF2B5EF4-FFF2-40B4-BE49-F238E27FC236}">
                <a16:creationId xmlns:a16="http://schemas.microsoft.com/office/drawing/2014/main" id="{F4CFD267-A4D2-4B9C-8294-ECFC5DD2FD6A}"/>
              </a:ext>
            </a:extLst>
          </p:cNvPr>
          <p:cNvSpPr/>
          <p:nvPr/>
        </p:nvSpPr>
        <p:spPr>
          <a:xfrm>
            <a:off x="9884308" y="5642791"/>
            <a:ext cx="921480" cy="153620"/>
          </a:xfrm>
          <a:prstGeom prst="roundRect">
            <a:avLst/>
          </a:prstGeom>
          <a:solidFill>
            <a:srgbClr val="008CA8"/>
          </a:solidFill>
          <a:ln w="25400" cap="flat" cmpd="sng" algn="ctr">
            <a:solidFill>
              <a:srgbClr val="008CA8">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func_A</a:t>
            </a:r>
          </a:p>
        </p:txBody>
      </p:sp>
      <p:sp>
        <p:nvSpPr>
          <p:cNvPr id="31" name="Rounded Rectangle 13">
            <a:extLst>
              <a:ext uri="{FF2B5EF4-FFF2-40B4-BE49-F238E27FC236}">
                <a16:creationId xmlns:a16="http://schemas.microsoft.com/office/drawing/2014/main" id="{A1E6E9B5-C145-4717-8350-BA7427565423}"/>
              </a:ext>
            </a:extLst>
          </p:cNvPr>
          <p:cNvSpPr/>
          <p:nvPr/>
        </p:nvSpPr>
        <p:spPr>
          <a:xfrm>
            <a:off x="9884308" y="5795191"/>
            <a:ext cx="921480" cy="153620"/>
          </a:xfrm>
          <a:prstGeom prst="roundRect">
            <a:avLst/>
          </a:prstGeom>
          <a:solidFill>
            <a:srgbClr val="91B800"/>
          </a:solidFill>
          <a:ln w="25400" cap="flat" cmpd="sng" algn="ctr">
            <a:solidFill>
              <a:srgbClr val="6D7076">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func_B</a:t>
            </a:r>
          </a:p>
        </p:txBody>
      </p:sp>
      <p:sp>
        <p:nvSpPr>
          <p:cNvPr id="32" name="Rounded Rectangle 14">
            <a:extLst>
              <a:ext uri="{FF2B5EF4-FFF2-40B4-BE49-F238E27FC236}">
                <a16:creationId xmlns:a16="http://schemas.microsoft.com/office/drawing/2014/main" id="{FC89C3A4-FFA8-41DC-B872-699990E1A1E9}"/>
              </a:ext>
            </a:extLst>
          </p:cNvPr>
          <p:cNvSpPr/>
          <p:nvPr/>
        </p:nvSpPr>
        <p:spPr>
          <a:xfrm>
            <a:off x="9884308" y="4235505"/>
            <a:ext cx="921480" cy="153620"/>
          </a:xfrm>
          <a:prstGeom prst="roundRect">
            <a:avLst/>
          </a:prstGeom>
          <a:solidFill>
            <a:srgbClr val="EE3424">
              <a:lumMod val="75000"/>
            </a:srgbClr>
          </a:solidFill>
          <a:ln w="25400" cap="flat" cmpd="sng" algn="ctr">
            <a:solidFill>
              <a:srgbClr val="EE3424">
                <a:lumMod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err="1">
                <a:solidFill>
                  <a:prstClr val="white"/>
                </a:solidFill>
                <a:latin typeface="Arial"/>
              </a:rPr>
              <a:t>func_AB</a:t>
            </a:r>
            <a:endParaRPr lang="en-US" sz="800" b="1" kern="0" dirty="0">
              <a:solidFill>
                <a:prstClr val="white"/>
              </a:solidFill>
              <a:latin typeface="Arial"/>
            </a:endParaRPr>
          </a:p>
        </p:txBody>
      </p:sp>
      <p:sp>
        <p:nvSpPr>
          <p:cNvPr id="33" name="Rounded Rectangle 15">
            <a:extLst>
              <a:ext uri="{FF2B5EF4-FFF2-40B4-BE49-F238E27FC236}">
                <a16:creationId xmlns:a16="http://schemas.microsoft.com/office/drawing/2014/main" id="{65456889-4FEE-400B-A0E1-B0C1674AC8ED}"/>
              </a:ext>
            </a:extLst>
          </p:cNvPr>
          <p:cNvSpPr/>
          <p:nvPr/>
        </p:nvSpPr>
        <p:spPr>
          <a:xfrm>
            <a:off x="9884308" y="4387905"/>
            <a:ext cx="921480" cy="153620"/>
          </a:xfrm>
          <a:prstGeom prst="roundRect">
            <a:avLst/>
          </a:prstGeom>
          <a:solidFill>
            <a:srgbClr val="91B800"/>
          </a:solidFill>
          <a:ln w="25400" cap="flat" cmpd="sng" algn="ctr">
            <a:solidFill>
              <a:srgbClr val="3F3F3F">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func_C</a:t>
            </a:r>
          </a:p>
        </p:txBody>
      </p:sp>
      <p:sp>
        <p:nvSpPr>
          <p:cNvPr id="34" name="TextBox 33">
            <a:extLst>
              <a:ext uri="{FF2B5EF4-FFF2-40B4-BE49-F238E27FC236}">
                <a16:creationId xmlns:a16="http://schemas.microsoft.com/office/drawing/2014/main" id="{7C8D452C-1974-4897-A621-FED9BA3DAE7F}"/>
              </a:ext>
            </a:extLst>
          </p:cNvPr>
          <p:cNvSpPr txBox="1"/>
          <p:nvPr/>
        </p:nvSpPr>
        <p:spPr>
          <a:xfrm>
            <a:off x="7272188" y="3275380"/>
            <a:ext cx="611065"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algn="r" defTabSz="457200" fontAlgn="base">
              <a:spcBef>
                <a:spcPct val="0"/>
              </a:spcBef>
              <a:spcAft>
                <a:spcPct val="0"/>
              </a:spcAft>
              <a:defRPr/>
            </a:pPr>
            <a:r>
              <a:rPr lang="en-US" sz="1050" b="1" kern="0" dirty="0" err="1">
                <a:solidFill>
                  <a:prstClr val="white"/>
                </a:solidFill>
                <a:latin typeface="Arial"/>
              </a:rPr>
              <a:t>main.c</a:t>
            </a:r>
            <a:endParaRPr lang="en-US" sz="1050" b="1" kern="0" dirty="0">
              <a:solidFill>
                <a:prstClr val="white"/>
              </a:solidFill>
              <a:latin typeface="Arial"/>
            </a:endParaRPr>
          </a:p>
        </p:txBody>
      </p:sp>
      <p:sp>
        <p:nvSpPr>
          <p:cNvPr id="35" name="TextBox 34">
            <a:extLst>
              <a:ext uri="{FF2B5EF4-FFF2-40B4-BE49-F238E27FC236}">
                <a16:creationId xmlns:a16="http://schemas.microsoft.com/office/drawing/2014/main" id="{4811A8E1-C1DB-428E-9DD4-80493B6E4B27}"/>
              </a:ext>
            </a:extLst>
          </p:cNvPr>
          <p:cNvSpPr txBox="1"/>
          <p:nvPr/>
        </p:nvSpPr>
        <p:spPr>
          <a:xfrm>
            <a:off x="9218799" y="5042010"/>
            <a:ext cx="851515"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defTabSz="457200" fontAlgn="base">
              <a:spcBef>
                <a:spcPct val="0"/>
              </a:spcBef>
              <a:spcAft>
                <a:spcPct val="0"/>
              </a:spcAft>
              <a:defRPr/>
            </a:pPr>
            <a:r>
              <a:rPr lang="en-US" sz="1050" b="1" kern="0" dirty="0" err="1">
                <a:solidFill>
                  <a:prstClr val="white"/>
                </a:solidFill>
                <a:latin typeface="Arial"/>
              </a:rPr>
              <a:t>func_AB.c</a:t>
            </a:r>
            <a:endParaRPr lang="en-US" sz="1050" b="1" kern="0" dirty="0">
              <a:solidFill>
                <a:prstClr val="white"/>
              </a:solidFill>
              <a:latin typeface="Arial"/>
            </a:endParaRPr>
          </a:p>
        </p:txBody>
      </p:sp>
      <p:sp>
        <p:nvSpPr>
          <p:cNvPr id="36" name="TextBox 35">
            <a:extLst>
              <a:ext uri="{FF2B5EF4-FFF2-40B4-BE49-F238E27FC236}">
                <a16:creationId xmlns:a16="http://schemas.microsoft.com/office/drawing/2014/main" id="{45F0704C-4190-4E75-B16D-2089253AE4FC}"/>
              </a:ext>
            </a:extLst>
          </p:cNvPr>
          <p:cNvSpPr txBox="1"/>
          <p:nvPr/>
        </p:nvSpPr>
        <p:spPr>
          <a:xfrm>
            <a:off x="874317" y="2793030"/>
            <a:ext cx="4044273" cy="523220"/>
          </a:xfrm>
          <a:prstGeom prst="rect">
            <a:avLst/>
          </a:prstGeom>
          <a:solidFill>
            <a:srgbClr val="6D7076">
              <a:lumMod val="20000"/>
              <a:lumOff val="80000"/>
            </a:srgbClr>
          </a:soli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wrap="square" rtlCol="0">
            <a:spAutoFit/>
          </a:bodyPr>
          <a:lstStyle/>
          <a:p>
            <a:pPr algn="ctr" defTabSz="457200" fontAlgn="base">
              <a:spcBef>
                <a:spcPct val="0"/>
              </a:spcBef>
              <a:spcAft>
                <a:spcPct val="0"/>
              </a:spcAft>
              <a:defRPr/>
            </a:pPr>
            <a:r>
              <a:rPr lang="en-US" sz="1400" kern="0" dirty="0">
                <a:solidFill>
                  <a:prstClr val="black"/>
                </a:solidFill>
                <a:latin typeface="Arial"/>
              </a:rPr>
              <a:t>Given a case where functions </a:t>
            </a:r>
            <a:r>
              <a:rPr lang="en-US" sz="1400" kern="0" dirty="0" err="1">
                <a:solidFill>
                  <a:prstClr val="black"/>
                </a:solidFill>
                <a:latin typeface="Arial"/>
              </a:rPr>
              <a:t>func_A</a:t>
            </a:r>
            <a:r>
              <a:rPr lang="en-US" sz="1400" kern="0" dirty="0">
                <a:solidFill>
                  <a:prstClr val="black"/>
                </a:solidFill>
                <a:latin typeface="Arial"/>
              </a:rPr>
              <a:t> and </a:t>
            </a:r>
            <a:r>
              <a:rPr lang="en-US" sz="1400" kern="0" dirty="0" err="1">
                <a:solidFill>
                  <a:prstClr val="black"/>
                </a:solidFill>
                <a:latin typeface="Arial"/>
              </a:rPr>
              <a:t>func_B</a:t>
            </a:r>
            <a:r>
              <a:rPr lang="en-US" sz="1400" kern="0" dirty="0">
                <a:solidFill>
                  <a:prstClr val="black"/>
                </a:solidFill>
                <a:latin typeface="Arial"/>
              </a:rPr>
              <a:t> are to be implemented in FPGA</a:t>
            </a:r>
          </a:p>
        </p:txBody>
      </p:sp>
      <p:sp>
        <p:nvSpPr>
          <p:cNvPr id="37" name="TextBox 36">
            <a:extLst>
              <a:ext uri="{FF2B5EF4-FFF2-40B4-BE49-F238E27FC236}">
                <a16:creationId xmlns:a16="http://schemas.microsoft.com/office/drawing/2014/main" id="{0101EB70-C229-404C-8371-0B75113669E9}"/>
              </a:ext>
            </a:extLst>
          </p:cNvPr>
          <p:cNvSpPr txBox="1"/>
          <p:nvPr/>
        </p:nvSpPr>
        <p:spPr>
          <a:xfrm>
            <a:off x="6710357" y="2793030"/>
            <a:ext cx="4044273" cy="523220"/>
          </a:xfrm>
          <a:prstGeom prst="rect">
            <a:avLst/>
          </a:prstGeom>
          <a:solidFill>
            <a:srgbClr val="6D7076">
              <a:lumMod val="20000"/>
              <a:lumOff val="80000"/>
            </a:srgbClr>
          </a:soli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wrap="square" rtlCol="0">
            <a:spAutoFit/>
          </a:bodyPr>
          <a:lstStyle/>
          <a:p>
            <a:pPr algn="ctr" defTabSz="457200" fontAlgn="base">
              <a:spcBef>
                <a:spcPct val="0"/>
              </a:spcBef>
              <a:spcAft>
                <a:spcPct val="0"/>
              </a:spcAft>
              <a:defRPr/>
            </a:pPr>
            <a:r>
              <a:rPr lang="en-US" sz="1400" kern="0" dirty="0">
                <a:solidFill>
                  <a:prstClr val="black"/>
                </a:solidFill>
                <a:latin typeface="Arial"/>
              </a:rPr>
              <a:t>Re-partition the design to create a </a:t>
            </a:r>
            <a:r>
              <a:rPr lang="en-US" sz="1400" b="1" kern="0" dirty="0">
                <a:solidFill>
                  <a:prstClr val="black"/>
                </a:solidFill>
                <a:latin typeface="Arial"/>
              </a:rPr>
              <a:t>new</a:t>
            </a:r>
            <a:r>
              <a:rPr lang="en-US" sz="1400" kern="0" dirty="0">
                <a:solidFill>
                  <a:prstClr val="black"/>
                </a:solidFill>
                <a:latin typeface="Arial"/>
              </a:rPr>
              <a:t> single top-level function inside main()</a:t>
            </a:r>
          </a:p>
        </p:txBody>
      </p:sp>
      <p:sp>
        <p:nvSpPr>
          <p:cNvPr id="38" name="TextBox 37">
            <a:extLst>
              <a:ext uri="{FF2B5EF4-FFF2-40B4-BE49-F238E27FC236}">
                <a16:creationId xmlns:a16="http://schemas.microsoft.com/office/drawing/2014/main" id="{59071664-5BFB-41E6-9DF7-1D61746F6E7C}"/>
              </a:ext>
            </a:extLst>
          </p:cNvPr>
          <p:cNvSpPr txBox="1"/>
          <p:nvPr/>
        </p:nvSpPr>
        <p:spPr>
          <a:xfrm>
            <a:off x="4048303" y="5694922"/>
            <a:ext cx="2713247" cy="43088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Recommendation is to separate test bench and design files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179F2-D4FD-4732-9C24-20CBFDE8F675}"/>
              </a:ext>
            </a:extLst>
          </p:cNvPr>
          <p:cNvSpPr>
            <a:spLocks noGrp="1"/>
          </p:cNvSpPr>
          <p:nvPr>
            <p:ph type="title"/>
          </p:nvPr>
        </p:nvSpPr>
        <p:spPr/>
        <p:txBody>
          <a:bodyPr/>
          <a:lstStyle/>
          <a:p>
            <a:pPr>
              <a:spcBef>
                <a:spcPts val="600"/>
              </a:spcBef>
            </a:pPr>
            <a:r>
              <a:rPr lang="en-US" altLang="zh-CN" dirty="0" err="1">
                <a:solidFill>
                  <a:srgbClr val="FFFFFF"/>
                </a:solidFill>
              </a:rPr>
              <a:t>Vitis</a:t>
            </a:r>
            <a:r>
              <a:rPr lang="en-US" altLang="zh-CN" dirty="0">
                <a:solidFill>
                  <a:srgbClr val="FFFFFF"/>
                </a:solidFill>
              </a:rPr>
              <a:t> Flow and Vivado Flow</a:t>
            </a:r>
          </a:p>
        </p:txBody>
      </p:sp>
      <p:sp>
        <p:nvSpPr>
          <p:cNvPr id="3" name="Slide Number Placeholder 2">
            <a:extLst>
              <a:ext uri="{FF2B5EF4-FFF2-40B4-BE49-F238E27FC236}">
                <a16:creationId xmlns:a16="http://schemas.microsoft.com/office/drawing/2014/main" id="{479D0E0D-5640-490B-8620-CB55E8D244E6}"/>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38</a:t>
            </a:fld>
            <a:endParaRPr lang="en-US" dirty="0"/>
          </a:p>
        </p:txBody>
      </p:sp>
    </p:spTree>
    <p:extLst>
      <p:ext uri="{BB962C8B-B14F-4D97-AF65-F5344CB8AC3E}">
        <p14:creationId xmlns:p14="http://schemas.microsoft.com/office/powerpoint/2010/main" val="19695831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err="1"/>
              <a:t>Vitis</a:t>
            </a:r>
            <a:r>
              <a:rPr lang="en-US" altLang="zh-CN" dirty="0"/>
              <a:t> Flow (Kernel Mode)</a:t>
            </a:r>
          </a:p>
        </p:txBody>
      </p:sp>
      <p:sp>
        <p:nvSpPr>
          <p:cNvPr id="4" name="内容占位符 3">
            <a:extLst>
              <a:ext uri="{FF2B5EF4-FFF2-40B4-BE49-F238E27FC236}">
                <a16:creationId xmlns:a16="http://schemas.microsoft.com/office/drawing/2014/main" id="{C7699B48-5A6D-4E5C-B98C-63E87AECF928}"/>
              </a:ext>
            </a:extLst>
          </p:cNvPr>
          <p:cNvSpPr>
            <a:spLocks noGrp="1"/>
          </p:cNvSpPr>
          <p:nvPr>
            <p:ph idx="1"/>
          </p:nvPr>
        </p:nvSpPr>
        <p:spPr>
          <a:xfrm>
            <a:off x="586646" y="1920240"/>
            <a:ext cx="10061172" cy="4632960"/>
          </a:xfrm>
        </p:spPr>
        <p:txBody>
          <a:bodyPr/>
          <a:lstStyle/>
          <a:p>
            <a:r>
              <a:rPr lang="en-US" dirty="0" err="1"/>
              <a:t>open_solution</a:t>
            </a:r>
            <a:r>
              <a:rPr lang="en-US" dirty="0"/>
              <a:t> -</a:t>
            </a:r>
            <a:r>
              <a:rPr lang="en-US" dirty="0" err="1"/>
              <a:t>flow_target</a:t>
            </a:r>
            <a:r>
              <a:rPr lang="en-US" dirty="0"/>
              <a:t> </a:t>
            </a:r>
            <a:r>
              <a:rPr lang="en-US" dirty="0" err="1"/>
              <a:t>vitis</a:t>
            </a:r>
            <a:endParaRPr lang="en-US" dirty="0"/>
          </a:p>
          <a:p>
            <a:r>
              <a:rPr lang="en-US" dirty="0"/>
              <a:t>Infer interfaces for the function arguments</a:t>
            </a:r>
          </a:p>
          <a:p>
            <a:r>
              <a:rPr lang="en-US" dirty="0"/>
              <a:t>Without the need to specify the INTERFACE pragma or directive</a:t>
            </a:r>
          </a:p>
          <a:p>
            <a:r>
              <a:rPr lang="en-US" dirty="0"/>
              <a:t>Output the synthesized RTL code as a </a:t>
            </a:r>
            <a:r>
              <a:rPr lang="en-US" dirty="0" err="1"/>
              <a:t>Vitis</a:t>
            </a:r>
            <a:r>
              <a:rPr lang="en-US" dirty="0"/>
              <a:t> kernel object file (.xo)</a:t>
            </a:r>
          </a:p>
        </p:txBody>
      </p:sp>
      <p:sp>
        <p:nvSpPr>
          <p:cNvPr id="5" name="Slide Number Placeholder 4">
            <a:extLst>
              <a:ext uri="{FF2B5EF4-FFF2-40B4-BE49-F238E27FC236}">
                <a16:creationId xmlns:a16="http://schemas.microsoft.com/office/drawing/2014/main" id="{D8E88073-F5FA-4BF0-B812-E343BD915C93}"/>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39</a:t>
            </a:fld>
            <a:endParaRPr lang="en-US" dirty="0"/>
          </a:p>
        </p:txBody>
      </p:sp>
    </p:spTree>
    <p:extLst>
      <p:ext uri="{BB962C8B-B14F-4D97-AF65-F5344CB8AC3E}">
        <p14:creationId xmlns:p14="http://schemas.microsoft.com/office/powerpoint/2010/main" val="275793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err="1"/>
              <a:t>Vitis</a:t>
            </a:r>
            <a:r>
              <a:rPr lang="en-US" altLang="zh-CN" dirty="0"/>
              <a:t> Flow (Kernel Mode)</a:t>
            </a:r>
          </a:p>
        </p:txBody>
      </p:sp>
      <p:graphicFrame>
        <p:nvGraphicFramePr>
          <p:cNvPr id="6" name="表格 5">
            <a:extLst>
              <a:ext uri="{FF2B5EF4-FFF2-40B4-BE49-F238E27FC236}">
                <a16:creationId xmlns:a16="http://schemas.microsoft.com/office/drawing/2014/main" id="{59EA3AE2-38BE-4E2E-94FC-3DA8EC6F81F6}"/>
              </a:ext>
            </a:extLst>
          </p:cNvPr>
          <p:cNvGraphicFramePr>
            <a:graphicFrameLocks noGrp="1"/>
          </p:cNvGraphicFramePr>
          <p:nvPr/>
        </p:nvGraphicFramePr>
        <p:xfrm>
          <a:off x="2080130" y="1791292"/>
          <a:ext cx="8464001" cy="3704717"/>
        </p:xfrm>
        <a:graphic>
          <a:graphicData uri="http://schemas.openxmlformats.org/drawingml/2006/table">
            <a:tbl>
              <a:tblPr/>
              <a:tblGrid>
                <a:gridCol w="1209143">
                  <a:extLst>
                    <a:ext uri="{9D8B030D-6E8A-4147-A177-3AD203B41FA5}">
                      <a16:colId xmlns:a16="http://schemas.microsoft.com/office/drawing/2014/main" val="1167923369"/>
                    </a:ext>
                  </a:extLst>
                </a:gridCol>
                <a:gridCol w="1209143">
                  <a:extLst>
                    <a:ext uri="{9D8B030D-6E8A-4147-A177-3AD203B41FA5}">
                      <a16:colId xmlns:a16="http://schemas.microsoft.com/office/drawing/2014/main" val="685230650"/>
                    </a:ext>
                  </a:extLst>
                </a:gridCol>
                <a:gridCol w="1209143">
                  <a:extLst>
                    <a:ext uri="{9D8B030D-6E8A-4147-A177-3AD203B41FA5}">
                      <a16:colId xmlns:a16="http://schemas.microsoft.com/office/drawing/2014/main" val="2649601812"/>
                    </a:ext>
                  </a:extLst>
                </a:gridCol>
                <a:gridCol w="1209143">
                  <a:extLst>
                    <a:ext uri="{9D8B030D-6E8A-4147-A177-3AD203B41FA5}">
                      <a16:colId xmlns:a16="http://schemas.microsoft.com/office/drawing/2014/main" val="3901028684"/>
                    </a:ext>
                  </a:extLst>
                </a:gridCol>
                <a:gridCol w="1209143">
                  <a:extLst>
                    <a:ext uri="{9D8B030D-6E8A-4147-A177-3AD203B41FA5}">
                      <a16:colId xmlns:a16="http://schemas.microsoft.com/office/drawing/2014/main" val="2151274461"/>
                    </a:ext>
                  </a:extLst>
                </a:gridCol>
                <a:gridCol w="1209143">
                  <a:extLst>
                    <a:ext uri="{9D8B030D-6E8A-4147-A177-3AD203B41FA5}">
                      <a16:colId xmlns:a16="http://schemas.microsoft.com/office/drawing/2014/main" val="263081018"/>
                    </a:ext>
                  </a:extLst>
                </a:gridCol>
                <a:gridCol w="1209143">
                  <a:extLst>
                    <a:ext uri="{9D8B030D-6E8A-4147-A177-3AD203B41FA5}">
                      <a16:colId xmlns:a16="http://schemas.microsoft.com/office/drawing/2014/main" val="3107668031"/>
                    </a:ext>
                  </a:extLst>
                </a:gridCol>
              </a:tblGrid>
              <a:tr h="641979">
                <a:tc>
                  <a:txBody>
                    <a:bodyPr/>
                    <a:lstStyle/>
                    <a:p>
                      <a:pPr algn="ctr" fontAlgn="t"/>
                      <a:r>
                        <a:rPr lang="en-US" dirty="0">
                          <a:solidFill>
                            <a:srgbClr val="FFFFFF"/>
                          </a:solidFill>
                          <a:effectLst/>
                        </a:rPr>
                        <a:t>Argument Type</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gridSpan="2">
                  <a:txBody>
                    <a:bodyPr/>
                    <a:lstStyle/>
                    <a:p>
                      <a:pPr algn="ctr" fontAlgn="t"/>
                      <a:r>
                        <a:rPr lang="en-US" dirty="0">
                          <a:solidFill>
                            <a:srgbClr val="FFFFFF"/>
                          </a:solidFill>
                          <a:effectLst/>
                        </a:rPr>
                        <a:t>Scalar</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hMerge="1">
                  <a:txBody>
                    <a:bodyPr/>
                    <a:lstStyle/>
                    <a:p>
                      <a:endParaRPr lang="zh-CN" altLang="en-US"/>
                    </a:p>
                  </a:txBody>
                  <a:tcPr/>
                </a:tc>
                <a:tc gridSpan="3">
                  <a:txBody>
                    <a:bodyPr/>
                    <a:lstStyle/>
                    <a:p>
                      <a:pPr algn="ctr" fontAlgn="t"/>
                      <a:r>
                        <a:rPr lang="en-US" dirty="0">
                          <a:solidFill>
                            <a:srgbClr val="FFFFFF"/>
                          </a:solidFill>
                          <a:effectLst/>
                        </a:rPr>
                        <a:t>Pointer to an Array</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hMerge="1">
                  <a:txBody>
                    <a:bodyPr/>
                    <a:lstStyle/>
                    <a:p>
                      <a:endParaRPr lang="zh-CN" altLang="en-US"/>
                    </a:p>
                  </a:txBody>
                  <a:tcPr/>
                </a:tc>
                <a:tc hMerge="1">
                  <a:txBody>
                    <a:bodyPr/>
                    <a:lstStyle/>
                    <a:p>
                      <a:endParaRPr lang="zh-CN" altLang="en-US"/>
                    </a:p>
                  </a:txBody>
                  <a:tcPr/>
                </a:tc>
                <a:tc>
                  <a:txBody>
                    <a:bodyPr/>
                    <a:lstStyle/>
                    <a:p>
                      <a:pPr algn="ctr" fontAlgn="t"/>
                      <a:r>
                        <a:rPr lang="en-US">
                          <a:solidFill>
                            <a:srgbClr val="FFFFFF"/>
                          </a:solidFill>
                          <a:effectLst/>
                        </a:rPr>
                        <a:t>Hls::stream</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2664143234"/>
                  </a:ext>
                </a:extLst>
              </a:tr>
              <a:tr h="641979">
                <a:tc>
                  <a:txBody>
                    <a:bodyPr/>
                    <a:lstStyle/>
                    <a:p>
                      <a:pPr algn="ctr" fontAlgn="t"/>
                      <a:r>
                        <a:rPr lang="en-US">
                          <a:solidFill>
                            <a:srgbClr val="FFFFFF"/>
                          </a:solidFill>
                          <a:effectLst/>
                        </a:rPr>
                        <a:t>Interface Mode</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Input</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dirty="0">
                          <a:solidFill>
                            <a:srgbClr val="FFFFFF"/>
                          </a:solidFill>
                          <a:effectLst/>
                        </a:rPr>
                        <a:t>Return</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 and 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908536084"/>
                  </a:ext>
                </a:extLst>
              </a:tr>
              <a:tr h="572224">
                <a:tc>
                  <a:txBody>
                    <a:bodyPr/>
                    <a:lstStyle/>
                    <a:p>
                      <a:pPr fontAlgn="t">
                        <a:spcAft>
                          <a:spcPts val="400"/>
                        </a:spcAft>
                      </a:pPr>
                      <a:r>
                        <a:rPr lang="en-US">
                          <a:effectLst/>
                        </a:rPr>
                        <a:t>ap_ctrl_none</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533362293"/>
                  </a:ext>
                </a:extLst>
              </a:tr>
              <a:tr h="320990">
                <a:tc>
                  <a:txBody>
                    <a:bodyPr/>
                    <a:lstStyle/>
                    <a:p>
                      <a:pPr fontAlgn="t">
                        <a:spcAft>
                          <a:spcPts val="400"/>
                        </a:spcAft>
                      </a:pPr>
                      <a:r>
                        <a:rPr lang="en-US">
                          <a:effectLst/>
                        </a:rPr>
                        <a:t>ap_ctrl_hs</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773023047"/>
                  </a:ext>
                </a:extLst>
              </a:tr>
              <a:tr h="572224">
                <a:tc>
                  <a:txBody>
                    <a:bodyPr/>
                    <a:lstStyle/>
                    <a:p>
                      <a:pPr fontAlgn="t">
                        <a:spcAft>
                          <a:spcPts val="400"/>
                        </a:spcAft>
                      </a:pPr>
                      <a:r>
                        <a:rPr lang="en-US">
                          <a:effectLst/>
                        </a:rPr>
                        <a:t>ap_ctrl_chain</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34243458"/>
                  </a:ext>
                </a:extLst>
              </a:tr>
              <a:tr h="320990">
                <a:tc>
                  <a:txBody>
                    <a:bodyPr/>
                    <a:lstStyle/>
                    <a:p>
                      <a:pPr fontAlgn="t">
                        <a:spcAft>
                          <a:spcPts val="400"/>
                        </a:spcAft>
                      </a:pPr>
                      <a:r>
                        <a:rPr lang="en-US">
                          <a:effectLst/>
                        </a:rPr>
                        <a:t>axis</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664316917"/>
                  </a:ext>
                </a:extLst>
              </a:tr>
              <a:tr h="320990">
                <a:tc>
                  <a:txBody>
                    <a:bodyPr/>
                    <a:lstStyle/>
                    <a:p>
                      <a:pPr fontAlgn="t">
                        <a:spcAft>
                          <a:spcPts val="400"/>
                        </a:spcAft>
                      </a:pPr>
                      <a:r>
                        <a:rPr lang="en-US">
                          <a:effectLst/>
                        </a:rPr>
                        <a:t>m_axi</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dirty="0">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dirty="0">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409874434"/>
                  </a:ext>
                </a:extLst>
              </a:tr>
            </a:tbl>
          </a:graphicData>
        </a:graphic>
      </p:graphicFrame>
      <p:sp>
        <p:nvSpPr>
          <p:cNvPr id="4" name="Slide Number Placeholder 3">
            <a:extLst>
              <a:ext uri="{FF2B5EF4-FFF2-40B4-BE49-F238E27FC236}">
                <a16:creationId xmlns:a16="http://schemas.microsoft.com/office/drawing/2014/main" id="{CD554FB9-5184-47FE-848D-C19560D560BD}"/>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40</a:t>
            </a:fld>
            <a:endParaRPr lang="en-US" dirty="0"/>
          </a:p>
        </p:txBody>
      </p:sp>
    </p:spTree>
    <p:extLst>
      <p:ext uri="{BB962C8B-B14F-4D97-AF65-F5344CB8AC3E}">
        <p14:creationId xmlns:p14="http://schemas.microsoft.com/office/powerpoint/2010/main" val="5366957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err="1"/>
              <a:t>Vitis</a:t>
            </a:r>
            <a:r>
              <a:rPr lang="en-US" altLang="zh-CN" dirty="0"/>
              <a:t> Flow (Kernel Mode)</a:t>
            </a:r>
          </a:p>
        </p:txBody>
      </p:sp>
      <p:sp>
        <p:nvSpPr>
          <p:cNvPr id="4" name="内容占位符 3">
            <a:extLst>
              <a:ext uri="{FF2B5EF4-FFF2-40B4-BE49-F238E27FC236}">
                <a16:creationId xmlns:a16="http://schemas.microsoft.com/office/drawing/2014/main" id="{C7699B48-5A6D-4E5C-B98C-63E87AECF928}"/>
              </a:ext>
            </a:extLst>
          </p:cNvPr>
          <p:cNvSpPr>
            <a:spLocks noGrp="1"/>
          </p:cNvSpPr>
          <p:nvPr>
            <p:ph idx="1"/>
          </p:nvPr>
        </p:nvSpPr>
        <p:spPr>
          <a:xfrm>
            <a:off x="586646" y="1730749"/>
            <a:ext cx="11033760" cy="4632960"/>
          </a:xfrm>
        </p:spPr>
        <p:txBody>
          <a:bodyPr/>
          <a:lstStyle/>
          <a:p>
            <a:r>
              <a:rPr lang="en-US" dirty="0" err="1"/>
              <a:t>config_interface</a:t>
            </a:r>
            <a:r>
              <a:rPr lang="en-US" dirty="0"/>
              <a:t> -</a:t>
            </a:r>
            <a:r>
              <a:rPr lang="en-US" dirty="0" err="1"/>
              <a:t>default_slave_interface</a:t>
            </a:r>
            <a:r>
              <a:rPr lang="en-US" dirty="0"/>
              <a:t> </a:t>
            </a:r>
            <a:r>
              <a:rPr lang="en-US" dirty="0" err="1"/>
              <a:t>s_axilite</a:t>
            </a:r>
            <a:endParaRPr lang="en-US" dirty="0"/>
          </a:p>
        </p:txBody>
      </p:sp>
      <p:graphicFrame>
        <p:nvGraphicFramePr>
          <p:cNvPr id="7" name="表格 6">
            <a:extLst>
              <a:ext uri="{FF2B5EF4-FFF2-40B4-BE49-F238E27FC236}">
                <a16:creationId xmlns:a16="http://schemas.microsoft.com/office/drawing/2014/main" id="{A6089AD2-8B42-4284-8CFF-61623DE004A7}"/>
              </a:ext>
            </a:extLst>
          </p:cNvPr>
          <p:cNvGraphicFramePr>
            <a:graphicFrameLocks noGrp="1"/>
          </p:cNvGraphicFramePr>
          <p:nvPr/>
        </p:nvGraphicFramePr>
        <p:xfrm>
          <a:off x="1864000" y="2910364"/>
          <a:ext cx="8464001" cy="1753235"/>
        </p:xfrm>
        <a:graphic>
          <a:graphicData uri="http://schemas.openxmlformats.org/drawingml/2006/table">
            <a:tbl>
              <a:tblPr/>
              <a:tblGrid>
                <a:gridCol w="1209143">
                  <a:extLst>
                    <a:ext uri="{9D8B030D-6E8A-4147-A177-3AD203B41FA5}">
                      <a16:colId xmlns:a16="http://schemas.microsoft.com/office/drawing/2014/main" val="62415723"/>
                    </a:ext>
                  </a:extLst>
                </a:gridCol>
                <a:gridCol w="1209143">
                  <a:extLst>
                    <a:ext uri="{9D8B030D-6E8A-4147-A177-3AD203B41FA5}">
                      <a16:colId xmlns:a16="http://schemas.microsoft.com/office/drawing/2014/main" val="1924135141"/>
                    </a:ext>
                  </a:extLst>
                </a:gridCol>
                <a:gridCol w="1209143">
                  <a:extLst>
                    <a:ext uri="{9D8B030D-6E8A-4147-A177-3AD203B41FA5}">
                      <a16:colId xmlns:a16="http://schemas.microsoft.com/office/drawing/2014/main" val="1857161566"/>
                    </a:ext>
                  </a:extLst>
                </a:gridCol>
                <a:gridCol w="1209143">
                  <a:extLst>
                    <a:ext uri="{9D8B030D-6E8A-4147-A177-3AD203B41FA5}">
                      <a16:colId xmlns:a16="http://schemas.microsoft.com/office/drawing/2014/main" val="4162629044"/>
                    </a:ext>
                  </a:extLst>
                </a:gridCol>
                <a:gridCol w="1209143">
                  <a:extLst>
                    <a:ext uri="{9D8B030D-6E8A-4147-A177-3AD203B41FA5}">
                      <a16:colId xmlns:a16="http://schemas.microsoft.com/office/drawing/2014/main" val="2405321966"/>
                    </a:ext>
                  </a:extLst>
                </a:gridCol>
                <a:gridCol w="1209143">
                  <a:extLst>
                    <a:ext uri="{9D8B030D-6E8A-4147-A177-3AD203B41FA5}">
                      <a16:colId xmlns:a16="http://schemas.microsoft.com/office/drawing/2014/main" val="1617936621"/>
                    </a:ext>
                  </a:extLst>
                </a:gridCol>
                <a:gridCol w="1209143">
                  <a:extLst>
                    <a:ext uri="{9D8B030D-6E8A-4147-A177-3AD203B41FA5}">
                      <a16:colId xmlns:a16="http://schemas.microsoft.com/office/drawing/2014/main" val="620478790"/>
                    </a:ext>
                  </a:extLst>
                </a:gridCol>
              </a:tblGrid>
              <a:tr h="0">
                <a:tc>
                  <a:txBody>
                    <a:bodyPr/>
                    <a:lstStyle/>
                    <a:p>
                      <a:pPr algn="ctr" fontAlgn="t"/>
                      <a:r>
                        <a:rPr lang="en-US">
                          <a:solidFill>
                            <a:srgbClr val="FFFFFF"/>
                          </a:solidFill>
                          <a:effectLst/>
                        </a:rPr>
                        <a:t>Argument Type</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gridSpan="2">
                  <a:txBody>
                    <a:bodyPr/>
                    <a:lstStyle/>
                    <a:p>
                      <a:pPr algn="ctr" fontAlgn="t"/>
                      <a:r>
                        <a:rPr lang="en-US">
                          <a:solidFill>
                            <a:srgbClr val="FFFFFF"/>
                          </a:solidFill>
                          <a:effectLst/>
                        </a:rPr>
                        <a:t>Scalar</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hMerge="1">
                  <a:txBody>
                    <a:bodyPr/>
                    <a:lstStyle/>
                    <a:p>
                      <a:endParaRPr lang="zh-CN" altLang="en-US"/>
                    </a:p>
                  </a:txBody>
                  <a:tcPr/>
                </a:tc>
                <a:tc gridSpan="3">
                  <a:txBody>
                    <a:bodyPr/>
                    <a:lstStyle/>
                    <a:p>
                      <a:pPr algn="ctr" fontAlgn="t"/>
                      <a:r>
                        <a:rPr lang="en-US">
                          <a:solidFill>
                            <a:srgbClr val="FFFFFF"/>
                          </a:solidFill>
                          <a:effectLst/>
                        </a:rPr>
                        <a:t>Pointer to an Array</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hMerge="1">
                  <a:txBody>
                    <a:bodyPr/>
                    <a:lstStyle/>
                    <a:p>
                      <a:endParaRPr lang="zh-CN" altLang="en-US"/>
                    </a:p>
                  </a:txBody>
                  <a:tcPr/>
                </a:tc>
                <a:tc hMerge="1">
                  <a:txBody>
                    <a:bodyPr/>
                    <a:lstStyle/>
                    <a:p>
                      <a:endParaRPr lang="zh-CN" altLang="en-US"/>
                    </a:p>
                  </a:txBody>
                  <a:tcPr/>
                </a:tc>
                <a:tc>
                  <a:txBody>
                    <a:bodyPr/>
                    <a:lstStyle/>
                    <a:p>
                      <a:pPr algn="ctr" fontAlgn="t"/>
                      <a:r>
                        <a:rPr lang="en-US">
                          <a:solidFill>
                            <a:srgbClr val="FFFFFF"/>
                          </a:solidFill>
                          <a:effectLst/>
                        </a:rPr>
                        <a:t>Hls::stream</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951884526"/>
                  </a:ext>
                </a:extLst>
              </a:tr>
              <a:tr h="0">
                <a:tc>
                  <a:txBody>
                    <a:bodyPr/>
                    <a:lstStyle/>
                    <a:p>
                      <a:pPr algn="ctr" fontAlgn="t"/>
                      <a:r>
                        <a:rPr lang="en-US">
                          <a:solidFill>
                            <a:srgbClr val="FFFFFF"/>
                          </a:solidFill>
                          <a:effectLst/>
                        </a:rPr>
                        <a:t>Interface Mode</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Input</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Return</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 and 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3891656918"/>
                  </a:ext>
                </a:extLst>
              </a:tr>
              <a:tr h="0">
                <a:tc>
                  <a:txBody>
                    <a:bodyPr/>
                    <a:lstStyle/>
                    <a:p>
                      <a:pPr fontAlgn="t">
                        <a:spcAft>
                          <a:spcPts val="400"/>
                        </a:spcAft>
                      </a:pPr>
                      <a:r>
                        <a:rPr lang="en-US">
                          <a:effectLst/>
                        </a:rPr>
                        <a:t>s_axi_lite</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dirty="0">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4263680781"/>
                  </a:ext>
                </a:extLst>
              </a:tr>
            </a:tbl>
          </a:graphicData>
        </a:graphic>
      </p:graphicFrame>
      <p:sp>
        <p:nvSpPr>
          <p:cNvPr id="5" name="Slide Number Placeholder 4">
            <a:extLst>
              <a:ext uri="{FF2B5EF4-FFF2-40B4-BE49-F238E27FC236}">
                <a16:creationId xmlns:a16="http://schemas.microsoft.com/office/drawing/2014/main" id="{0A511B3C-9F9A-4300-815A-C1F1445E5D50}"/>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41</a:t>
            </a:fld>
            <a:endParaRPr lang="en-US" dirty="0"/>
          </a:p>
        </p:txBody>
      </p:sp>
    </p:spTree>
    <p:extLst>
      <p:ext uri="{BB962C8B-B14F-4D97-AF65-F5344CB8AC3E}">
        <p14:creationId xmlns:p14="http://schemas.microsoft.com/office/powerpoint/2010/main" val="1610370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a:t>Vivado Flow (IP Mode)</a:t>
            </a:r>
          </a:p>
        </p:txBody>
      </p:sp>
      <p:sp>
        <p:nvSpPr>
          <p:cNvPr id="4" name="内容占位符 3">
            <a:extLst>
              <a:ext uri="{FF2B5EF4-FFF2-40B4-BE49-F238E27FC236}">
                <a16:creationId xmlns:a16="http://schemas.microsoft.com/office/drawing/2014/main" id="{C7699B48-5A6D-4E5C-B98C-63E87AECF928}"/>
              </a:ext>
            </a:extLst>
          </p:cNvPr>
          <p:cNvSpPr>
            <a:spLocks noGrp="1"/>
          </p:cNvSpPr>
          <p:nvPr>
            <p:ph idx="1"/>
          </p:nvPr>
        </p:nvSpPr>
        <p:spPr>
          <a:xfrm>
            <a:off x="689627" y="1428908"/>
            <a:ext cx="11033760" cy="4632960"/>
          </a:xfrm>
        </p:spPr>
        <p:txBody>
          <a:bodyPr/>
          <a:lstStyle/>
          <a:p>
            <a:pPr marL="0" indent="0">
              <a:buNone/>
            </a:pPr>
            <a:r>
              <a:rPr lang="en-US" sz="2800" dirty="0"/>
              <a:t>The tool by default sets the following global options</a:t>
            </a:r>
            <a:endParaRPr lang="en-US" dirty="0"/>
          </a:p>
          <a:p>
            <a:r>
              <a:rPr lang="en-US" dirty="0" err="1"/>
              <a:t>open_solution</a:t>
            </a:r>
            <a:r>
              <a:rPr lang="en-US" dirty="0"/>
              <a:t> -</a:t>
            </a:r>
            <a:r>
              <a:rPr lang="en-US" dirty="0" err="1"/>
              <a:t>flow_target</a:t>
            </a:r>
            <a:r>
              <a:rPr lang="en-US" dirty="0"/>
              <a:t> </a:t>
            </a:r>
            <a:r>
              <a:rPr lang="en-US" dirty="0" err="1"/>
              <a:t>vivado</a:t>
            </a:r>
            <a:endParaRPr lang="en-US" dirty="0"/>
          </a:p>
          <a:p>
            <a:r>
              <a:rPr lang="en-US" dirty="0" err="1"/>
              <a:t>config_interface</a:t>
            </a:r>
            <a:r>
              <a:rPr lang="en-US" dirty="0"/>
              <a:t> -</a:t>
            </a:r>
            <a:r>
              <a:rPr lang="en-US" dirty="0" err="1"/>
              <a:t>default_slave_interface</a:t>
            </a:r>
            <a:r>
              <a:rPr lang="en-US" dirty="0"/>
              <a:t> </a:t>
            </a:r>
            <a:r>
              <a:rPr lang="en-US" dirty="0" err="1"/>
              <a:t>s_axilite</a:t>
            </a:r>
            <a:endParaRPr lang="en-US" dirty="0"/>
          </a:p>
          <a:p>
            <a:endParaRPr lang="en-US" dirty="0"/>
          </a:p>
          <a:p>
            <a:pPr marL="0" indent="0">
              <a:buNone/>
            </a:pPr>
            <a:r>
              <a:rPr lang="en-US" dirty="0"/>
              <a:t>Strict use of pragmas and directives</a:t>
            </a:r>
          </a:p>
          <a:p>
            <a:pPr marL="0" indent="0">
              <a:buNone/>
            </a:pPr>
            <a:r>
              <a:rPr lang="en-US" dirty="0"/>
              <a:t>Exporting the results as Vivado IP</a:t>
            </a:r>
          </a:p>
        </p:txBody>
      </p:sp>
      <p:sp>
        <p:nvSpPr>
          <p:cNvPr id="5" name="Slide Number Placeholder 4">
            <a:extLst>
              <a:ext uri="{FF2B5EF4-FFF2-40B4-BE49-F238E27FC236}">
                <a16:creationId xmlns:a16="http://schemas.microsoft.com/office/drawing/2014/main" id="{E57C36BF-6397-4EA0-BA5F-2D3A20F00437}"/>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42</a:t>
            </a:fld>
            <a:endParaRPr lang="en-US" dirty="0"/>
          </a:p>
        </p:txBody>
      </p:sp>
    </p:spTree>
    <p:extLst>
      <p:ext uri="{BB962C8B-B14F-4D97-AF65-F5344CB8AC3E}">
        <p14:creationId xmlns:p14="http://schemas.microsoft.com/office/powerpoint/2010/main" val="32792129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a:t>Default Control Settings(Vivado flow)</a:t>
            </a:r>
          </a:p>
        </p:txBody>
      </p:sp>
      <p:graphicFrame>
        <p:nvGraphicFramePr>
          <p:cNvPr id="8" name="表格 7">
            <a:extLst>
              <a:ext uri="{FF2B5EF4-FFF2-40B4-BE49-F238E27FC236}">
                <a16:creationId xmlns:a16="http://schemas.microsoft.com/office/drawing/2014/main" id="{DF4EAB22-AF85-47D4-A671-63B986D449C7}"/>
              </a:ext>
            </a:extLst>
          </p:cNvPr>
          <p:cNvGraphicFramePr>
            <a:graphicFrameLocks noGrp="1"/>
          </p:cNvGraphicFramePr>
          <p:nvPr/>
        </p:nvGraphicFramePr>
        <p:xfrm>
          <a:off x="2071291" y="949297"/>
          <a:ext cx="8049417" cy="4645560"/>
        </p:xfrm>
        <a:graphic>
          <a:graphicData uri="http://schemas.openxmlformats.org/drawingml/2006/table">
            <a:tbl>
              <a:tblPr/>
              <a:tblGrid>
                <a:gridCol w="2683139">
                  <a:extLst>
                    <a:ext uri="{9D8B030D-6E8A-4147-A177-3AD203B41FA5}">
                      <a16:colId xmlns:a16="http://schemas.microsoft.com/office/drawing/2014/main" val="3068629421"/>
                    </a:ext>
                  </a:extLst>
                </a:gridCol>
                <a:gridCol w="2683139">
                  <a:extLst>
                    <a:ext uri="{9D8B030D-6E8A-4147-A177-3AD203B41FA5}">
                      <a16:colId xmlns:a16="http://schemas.microsoft.com/office/drawing/2014/main" val="1681411691"/>
                    </a:ext>
                  </a:extLst>
                </a:gridCol>
                <a:gridCol w="2683139">
                  <a:extLst>
                    <a:ext uri="{9D8B030D-6E8A-4147-A177-3AD203B41FA5}">
                      <a16:colId xmlns:a16="http://schemas.microsoft.com/office/drawing/2014/main" val="3402658833"/>
                    </a:ext>
                  </a:extLst>
                </a:gridCol>
              </a:tblGrid>
              <a:tr h="354475">
                <a:tc>
                  <a:txBody>
                    <a:bodyPr/>
                    <a:lstStyle/>
                    <a:p>
                      <a:pPr algn="ctr" fontAlgn="t"/>
                      <a:r>
                        <a:rPr lang="en-US" sz="1500">
                          <a:solidFill>
                            <a:srgbClr val="FFFFFF"/>
                          </a:solidFill>
                          <a:effectLst/>
                        </a:rPr>
                        <a:t>Default Control Settings</a:t>
                      </a:r>
                    </a:p>
                  </a:txBody>
                  <a:tcPr marL="63280" marR="63280" marT="63280" marB="6328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sz="1500">
                          <a:solidFill>
                            <a:srgbClr val="FFFFFF"/>
                          </a:solidFill>
                          <a:effectLst/>
                        </a:rPr>
                        <a:t>Vivado HLS</a:t>
                      </a:r>
                    </a:p>
                  </a:txBody>
                  <a:tcPr marL="63280" marR="63280" marT="63280" marB="6328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sz="1500">
                          <a:solidFill>
                            <a:srgbClr val="FFFFFF"/>
                          </a:solidFill>
                          <a:effectLst/>
                        </a:rPr>
                        <a:t>Vitis HLS</a:t>
                      </a:r>
                    </a:p>
                  </a:txBody>
                  <a:tcPr marL="63280" marR="63280" marT="63280" marB="6328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2197687837"/>
                  </a:ext>
                </a:extLst>
              </a:tr>
              <a:tr h="291195">
                <a:tc>
                  <a:txBody>
                    <a:bodyPr/>
                    <a:lstStyle/>
                    <a:p>
                      <a:pPr fontAlgn="t">
                        <a:spcAft>
                          <a:spcPts val="400"/>
                        </a:spcAft>
                      </a:pPr>
                      <a:r>
                        <a:rPr lang="en-US" sz="1500">
                          <a:effectLst/>
                        </a:rPr>
                        <a:t>config_compile -pipeline_loops</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0</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64</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454628768"/>
                  </a:ext>
                </a:extLst>
              </a:tr>
              <a:tr h="519110">
                <a:tc>
                  <a:txBody>
                    <a:bodyPr/>
                    <a:lstStyle/>
                    <a:p>
                      <a:pPr fontAlgn="t">
                        <a:spcAft>
                          <a:spcPts val="400"/>
                        </a:spcAft>
                      </a:pPr>
                      <a:r>
                        <a:rPr lang="en-US" sz="1500">
                          <a:effectLst/>
                        </a:rPr>
                        <a:t>config_export -vivado_optimization_level</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2</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0</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710875404"/>
                  </a:ext>
                </a:extLst>
              </a:tr>
              <a:tr h="291195">
                <a:tc>
                  <a:txBody>
                    <a:bodyPr/>
                    <a:lstStyle/>
                    <a:p>
                      <a:pPr fontAlgn="t">
                        <a:spcAft>
                          <a:spcPts val="400"/>
                        </a:spcAft>
                      </a:pPr>
                      <a:r>
                        <a:rPr lang="en-US" sz="1500">
                          <a:effectLst/>
                        </a:rPr>
                        <a:t>set_clock_uncertainty</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dirty="0">
                          <a:effectLst/>
                        </a:rPr>
                        <a:t>12.5</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27%</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204989440"/>
                  </a:ext>
                </a:extLst>
              </a:tr>
              <a:tr h="519110">
                <a:tc>
                  <a:txBody>
                    <a:bodyPr/>
                    <a:lstStyle/>
                    <a:p>
                      <a:pPr fontAlgn="t">
                        <a:spcAft>
                          <a:spcPts val="400"/>
                        </a:spcAft>
                      </a:pPr>
                      <a:r>
                        <a:rPr lang="en-US" sz="1500">
                          <a:effectLst/>
                        </a:rPr>
                        <a:t>config_interface -m_axi_alignment_byte_size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N/A</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0</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965086796"/>
                  </a:ext>
                </a:extLst>
              </a:tr>
              <a:tr h="519110">
                <a:tc>
                  <a:txBody>
                    <a:bodyPr/>
                    <a:lstStyle/>
                    <a:p>
                      <a:pPr fontAlgn="t">
                        <a:spcAft>
                          <a:spcPts val="400"/>
                        </a:spcAft>
                      </a:pPr>
                      <a:r>
                        <a:rPr lang="en-US" sz="1500">
                          <a:effectLst/>
                        </a:rPr>
                        <a:t>config_interface -m_axi_max_widen_bitwidth</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N/A</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0</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1295513056"/>
                  </a:ext>
                </a:extLst>
              </a:tr>
              <a:tr h="519110">
                <a:tc>
                  <a:txBody>
                    <a:bodyPr/>
                    <a:lstStyle/>
                    <a:p>
                      <a:pPr fontAlgn="t">
                        <a:spcAft>
                          <a:spcPts val="400"/>
                        </a:spcAft>
                      </a:pPr>
                      <a:r>
                        <a:rPr lang="en-US" sz="1500">
                          <a:effectLst/>
                        </a:rPr>
                        <a:t>config_export -vivado_phys_opt</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place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none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625177047"/>
                  </a:ext>
                </a:extLst>
              </a:tr>
              <a:tr h="519110">
                <a:tc>
                  <a:txBody>
                    <a:bodyPr/>
                    <a:lstStyle/>
                    <a:p>
                      <a:pPr fontAlgn="t">
                        <a:spcAft>
                          <a:spcPts val="400"/>
                        </a:spcAft>
                      </a:pPr>
                      <a:r>
                        <a:rPr lang="en-US" sz="1500">
                          <a:effectLst/>
                        </a:rPr>
                        <a:t>config_interface -m_axi_addr64</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false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true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1304460039"/>
                  </a:ext>
                </a:extLst>
              </a:tr>
              <a:tr h="519110">
                <a:tc>
                  <a:txBody>
                    <a:bodyPr/>
                    <a:lstStyle/>
                    <a:p>
                      <a:pPr fontAlgn="t">
                        <a:spcAft>
                          <a:spcPts val="400"/>
                        </a:spcAft>
                      </a:pPr>
                      <a:r>
                        <a:rPr lang="en-US" sz="1500">
                          <a:effectLst/>
                        </a:rPr>
                        <a:t>config_schedule -enable_dsp_full_reg</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false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true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492660558"/>
                  </a:ext>
                </a:extLst>
              </a:tr>
              <a:tr h="291195">
                <a:tc>
                  <a:txBody>
                    <a:bodyPr/>
                    <a:lstStyle/>
                    <a:p>
                      <a:pPr fontAlgn="t">
                        <a:spcAft>
                          <a:spcPts val="400"/>
                        </a:spcAft>
                      </a:pPr>
                      <a:r>
                        <a:rPr lang="en-US" sz="1500">
                          <a:effectLst/>
                        </a:rPr>
                        <a:t>config_rtl -module_auto_prefix</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false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true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132882192"/>
                  </a:ext>
                </a:extLst>
              </a:tr>
              <a:tr h="291195">
                <a:tc>
                  <a:txBody>
                    <a:bodyPr/>
                    <a:lstStyle/>
                    <a:p>
                      <a:pPr fontAlgn="t">
                        <a:spcAft>
                          <a:spcPts val="400"/>
                        </a:spcAft>
                      </a:pPr>
                      <a:r>
                        <a:rPr lang="en-US" sz="1500">
                          <a:effectLst/>
                        </a:rPr>
                        <a:t>interface pragma defaults</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ip mode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dirty="0" err="1">
                          <a:effectLst/>
                        </a:rPr>
                        <a:t>ip</a:t>
                      </a:r>
                      <a:r>
                        <a:rPr lang="en-US" sz="1500" dirty="0">
                          <a:effectLst/>
                        </a:rPr>
                        <a:t> mode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130104835"/>
                  </a:ext>
                </a:extLst>
              </a:tr>
            </a:tbl>
          </a:graphicData>
        </a:graphic>
      </p:graphicFrame>
      <p:sp>
        <p:nvSpPr>
          <p:cNvPr id="4" name="Slide Number Placeholder 3">
            <a:extLst>
              <a:ext uri="{FF2B5EF4-FFF2-40B4-BE49-F238E27FC236}">
                <a16:creationId xmlns:a16="http://schemas.microsoft.com/office/drawing/2014/main" id="{6FB683C5-72CC-4DA9-9F2A-13EA0BFFE624}"/>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43</a:t>
            </a:fld>
            <a:endParaRPr lang="en-US" dirty="0"/>
          </a:p>
        </p:txBody>
      </p:sp>
    </p:spTree>
    <p:extLst>
      <p:ext uri="{BB962C8B-B14F-4D97-AF65-F5344CB8AC3E}">
        <p14:creationId xmlns:p14="http://schemas.microsoft.com/office/powerpoint/2010/main" val="10698555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a:t>Default Control Settings(</a:t>
            </a:r>
            <a:r>
              <a:rPr lang="en-US" altLang="zh-CN" dirty="0" err="1"/>
              <a:t>Vitis</a:t>
            </a:r>
            <a:r>
              <a:rPr lang="en-US" altLang="zh-CN" dirty="0"/>
              <a:t> flow)</a:t>
            </a:r>
          </a:p>
        </p:txBody>
      </p:sp>
      <p:graphicFrame>
        <p:nvGraphicFramePr>
          <p:cNvPr id="4" name="表格 3">
            <a:extLst>
              <a:ext uri="{FF2B5EF4-FFF2-40B4-BE49-F238E27FC236}">
                <a16:creationId xmlns:a16="http://schemas.microsoft.com/office/drawing/2014/main" id="{0577099D-15FB-4E0A-ABDC-AD4D333EBDE6}"/>
              </a:ext>
            </a:extLst>
          </p:cNvPr>
          <p:cNvGraphicFramePr>
            <a:graphicFrameLocks noGrp="1"/>
          </p:cNvGraphicFramePr>
          <p:nvPr/>
        </p:nvGraphicFramePr>
        <p:xfrm>
          <a:off x="1563548" y="1322390"/>
          <a:ext cx="9064905" cy="4929184"/>
        </p:xfrm>
        <a:graphic>
          <a:graphicData uri="http://schemas.openxmlformats.org/drawingml/2006/table">
            <a:tbl>
              <a:tblPr/>
              <a:tblGrid>
                <a:gridCol w="3021635">
                  <a:extLst>
                    <a:ext uri="{9D8B030D-6E8A-4147-A177-3AD203B41FA5}">
                      <a16:colId xmlns:a16="http://schemas.microsoft.com/office/drawing/2014/main" val="1039655854"/>
                    </a:ext>
                  </a:extLst>
                </a:gridCol>
                <a:gridCol w="3021635">
                  <a:extLst>
                    <a:ext uri="{9D8B030D-6E8A-4147-A177-3AD203B41FA5}">
                      <a16:colId xmlns:a16="http://schemas.microsoft.com/office/drawing/2014/main" val="2472954790"/>
                    </a:ext>
                  </a:extLst>
                </a:gridCol>
                <a:gridCol w="3021635">
                  <a:extLst>
                    <a:ext uri="{9D8B030D-6E8A-4147-A177-3AD203B41FA5}">
                      <a16:colId xmlns:a16="http://schemas.microsoft.com/office/drawing/2014/main" val="1266621246"/>
                    </a:ext>
                  </a:extLst>
                </a:gridCol>
              </a:tblGrid>
              <a:tr h="399195">
                <a:tc>
                  <a:txBody>
                    <a:bodyPr/>
                    <a:lstStyle/>
                    <a:p>
                      <a:pPr algn="ctr" fontAlgn="t"/>
                      <a:r>
                        <a:rPr lang="en-US" sz="1700">
                          <a:solidFill>
                            <a:srgbClr val="FFFFFF"/>
                          </a:solidFill>
                          <a:effectLst/>
                        </a:rPr>
                        <a:t>Default Control Settings</a:t>
                      </a:r>
                    </a:p>
                  </a:txBody>
                  <a:tcPr marL="71264" marR="71264" marT="71264" marB="71264">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sz="1700">
                          <a:solidFill>
                            <a:srgbClr val="FFFFFF"/>
                          </a:solidFill>
                          <a:effectLst/>
                        </a:rPr>
                        <a:t>Vivado HLS</a:t>
                      </a:r>
                    </a:p>
                  </a:txBody>
                  <a:tcPr marL="71264" marR="71264" marT="71264" marB="71264">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sz="1700">
                          <a:solidFill>
                            <a:srgbClr val="FFFFFF"/>
                          </a:solidFill>
                          <a:effectLst/>
                        </a:rPr>
                        <a:t>Vitis HLS</a:t>
                      </a:r>
                    </a:p>
                  </a:txBody>
                  <a:tcPr marL="71264" marR="71264" marT="71264" marB="71264">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3584069712"/>
                  </a:ext>
                </a:extLst>
              </a:tr>
              <a:tr h="584599">
                <a:tc>
                  <a:txBody>
                    <a:bodyPr/>
                    <a:lstStyle/>
                    <a:p>
                      <a:pPr fontAlgn="t">
                        <a:spcAft>
                          <a:spcPts val="400"/>
                        </a:spcAft>
                      </a:pPr>
                      <a:r>
                        <a:rPr lang="en-US" sz="1700">
                          <a:effectLst/>
                        </a:rPr>
                        <a:t>interface pragma defaults</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700">
                          <a:effectLst/>
                        </a:rPr>
                        <a:t>ip mode</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fr-FR" sz="1700">
                          <a:effectLst/>
                        </a:rPr>
                        <a:t>kernel mode (check default interfaces)</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1965998685"/>
                  </a:ext>
                </a:extLst>
              </a:tr>
              <a:tr h="327931">
                <a:tc>
                  <a:txBody>
                    <a:bodyPr/>
                    <a:lstStyle/>
                    <a:p>
                      <a:pPr fontAlgn="t">
                        <a:spcAft>
                          <a:spcPts val="400"/>
                        </a:spcAft>
                      </a:pPr>
                      <a:r>
                        <a:rPr lang="en-US" sz="1700">
                          <a:effectLst/>
                        </a:rPr>
                        <a:t>config_interface -m_axi_offset</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700">
                          <a:effectLst/>
                        </a:rPr>
                        <a:t>N/A</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700">
                          <a:effectLst/>
                        </a:rPr>
                        <a:t>direct</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201065630"/>
                  </a:ext>
                </a:extLst>
              </a:tr>
              <a:tr h="584599">
                <a:tc>
                  <a:txBody>
                    <a:bodyPr/>
                    <a:lstStyle/>
                    <a:p>
                      <a:pPr fontAlgn="t">
                        <a:spcAft>
                          <a:spcPts val="400"/>
                        </a:spcAft>
                      </a:pPr>
                      <a:r>
                        <a:rPr lang="en-US" sz="1700">
                          <a:effectLst/>
                        </a:rPr>
                        <a:t>config_interface -m_axi_alignment_byte_size</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700">
                          <a:effectLst/>
                        </a:rPr>
                        <a:t>N/A</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64</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598001282"/>
                  </a:ext>
                </a:extLst>
              </a:tr>
              <a:tr h="584599">
                <a:tc>
                  <a:txBody>
                    <a:bodyPr/>
                    <a:lstStyle/>
                    <a:p>
                      <a:pPr fontAlgn="t">
                        <a:spcAft>
                          <a:spcPts val="400"/>
                        </a:spcAft>
                      </a:pPr>
                      <a:r>
                        <a:rPr lang="en-US" sz="1700">
                          <a:effectLst/>
                        </a:rPr>
                        <a:t>config_interface -m_axi_max_widen_bitwidth</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700">
                          <a:effectLst/>
                        </a:rPr>
                        <a:t>N/A</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512</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28608096"/>
                  </a:ext>
                </a:extLst>
              </a:tr>
              <a:tr h="584599">
                <a:tc>
                  <a:txBody>
                    <a:bodyPr/>
                    <a:lstStyle/>
                    <a:p>
                      <a:pPr fontAlgn="t">
                        <a:spcAft>
                          <a:spcPts val="400"/>
                        </a:spcAft>
                      </a:pPr>
                      <a:r>
                        <a:rPr lang="en-US" sz="1700">
                          <a:effectLst/>
                        </a:rPr>
                        <a:t>config_compile -name_max_length</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256</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255</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60960658"/>
                  </a:ext>
                </a:extLst>
              </a:tr>
              <a:tr h="327931">
                <a:tc>
                  <a:txBody>
                    <a:bodyPr/>
                    <a:lstStyle/>
                    <a:p>
                      <a:pPr fontAlgn="t">
                        <a:spcAft>
                          <a:spcPts val="400"/>
                        </a:spcAft>
                      </a:pPr>
                      <a:r>
                        <a:rPr lang="en-US" sz="1700">
                          <a:effectLst/>
                        </a:rPr>
                        <a:t>config_compile -pipeline_loops</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64</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64</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687033009"/>
                  </a:ext>
                </a:extLst>
              </a:tr>
              <a:tr h="327931">
                <a:tc>
                  <a:txBody>
                    <a:bodyPr/>
                    <a:lstStyle/>
                    <a:p>
                      <a:pPr fontAlgn="t">
                        <a:spcAft>
                          <a:spcPts val="400"/>
                        </a:spcAft>
                      </a:pPr>
                      <a:r>
                        <a:rPr lang="en-US" sz="1700">
                          <a:effectLst/>
                        </a:rPr>
                        <a:t>set_clock_uncertainty</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27%</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27%</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4062925832"/>
                  </a:ext>
                </a:extLst>
              </a:tr>
              <a:tr h="327931">
                <a:tc>
                  <a:txBody>
                    <a:bodyPr/>
                    <a:lstStyle/>
                    <a:p>
                      <a:pPr fontAlgn="t">
                        <a:spcAft>
                          <a:spcPts val="400"/>
                        </a:spcAft>
                      </a:pPr>
                      <a:r>
                        <a:rPr lang="pt-BR" sz="1700">
                          <a:effectLst/>
                        </a:rPr>
                        <a:t>config_rtl -register_reset_num</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3</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3</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046392714"/>
                  </a:ext>
                </a:extLst>
              </a:tr>
              <a:tr h="584599">
                <a:tc>
                  <a:txBody>
                    <a:bodyPr/>
                    <a:lstStyle/>
                    <a:p>
                      <a:pPr fontAlgn="t">
                        <a:spcAft>
                          <a:spcPts val="400"/>
                        </a:spcAft>
                      </a:pPr>
                      <a:r>
                        <a:rPr lang="en-US" sz="1700">
                          <a:effectLst/>
                        </a:rPr>
                        <a:t>config_interface -m_axi_latency</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0</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dirty="0">
                          <a:effectLst/>
                        </a:rPr>
                        <a:t>64</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4172488493"/>
                  </a:ext>
                </a:extLst>
              </a:tr>
            </a:tbl>
          </a:graphicData>
        </a:graphic>
      </p:graphicFrame>
      <p:sp>
        <p:nvSpPr>
          <p:cNvPr id="5" name="Slide Number Placeholder 4">
            <a:extLst>
              <a:ext uri="{FF2B5EF4-FFF2-40B4-BE49-F238E27FC236}">
                <a16:creationId xmlns:a16="http://schemas.microsoft.com/office/drawing/2014/main" id="{63D2D2AC-296F-4838-AC6D-044315C801BF}"/>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44</a:t>
            </a:fld>
            <a:endParaRPr lang="en-US" dirty="0"/>
          </a:p>
        </p:txBody>
      </p:sp>
    </p:spTree>
    <p:extLst>
      <p:ext uri="{BB962C8B-B14F-4D97-AF65-F5344CB8AC3E}">
        <p14:creationId xmlns:p14="http://schemas.microsoft.com/office/powerpoint/2010/main" val="4036406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8E66894E-EF55-42CF-A583-0A6ACD681452}"/>
              </a:ext>
            </a:extLst>
          </p:cNvPr>
          <p:cNvPicPr>
            <a:picLocks noChangeAspect="1"/>
          </p:cNvPicPr>
          <p:nvPr/>
        </p:nvPicPr>
        <p:blipFill>
          <a:blip r:embed="rId2"/>
          <a:stretch>
            <a:fillRect/>
          </a:stretch>
        </p:blipFill>
        <p:spPr>
          <a:xfrm>
            <a:off x="5394548" y="240458"/>
            <a:ext cx="5431609" cy="3802915"/>
          </a:xfrm>
          <a:prstGeom prst="rect">
            <a:avLst/>
          </a:prstGeom>
        </p:spPr>
      </p:pic>
      <p:sp>
        <p:nvSpPr>
          <p:cNvPr id="2" name="标题 1">
            <a:extLst>
              <a:ext uri="{FF2B5EF4-FFF2-40B4-BE49-F238E27FC236}">
                <a16:creationId xmlns:a16="http://schemas.microsoft.com/office/drawing/2014/main" id="{EE021C62-8988-4EE9-8415-207148E6DA5B}"/>
              </a:ext>
            </a:extLst>
          </p:cNvPr>
          <p:cNvSpPr>
            <a:spLocks noGrp="1"/>
          </p:cNvSpPr>
          <p:nvPr>
            <p:ph type="title"/>
          </p:nvPr>
        </p:nvSpPr>
        <p:spPr>
          <a:xfrm>
            <a:off x="579121" y="304800"/>
            <a:ext cx="11033760" cy="975360"/>
          </a:xfrm>
        </p:spPr>
        <p:txBody>
          <a:bodyPr/>
          <a:lstStyle/>
          <a:p>
            <a:r>
              <a:rPr lang="en-US" altLang="zh-CN" dirty="0"/>
              <a:t>Example</a:t>
            </a:r>
            <a:endParaRPr lang="zh-CN" altLang="en-US" dirty="0"/>
          </a:p>
        </p:txBody>
      </p:sp>
      <p:sp>
        <p:nvSpPr>
          <p:cNvPr id="9" name="矩形 8">
            <a:extLst>
              <a:ext uri="{FF2B5EF4-FFF2-40B4-BE49-F238E27FC236}">
                <a16:creationId xmlns:a16="http://schemas.microsoft.com/office/drawing/2014/main" id="{FDB4124C-2BCF-41DA-BF71-39E3648454AA}"/>
              </a:ext>
            </a:extLst>
          </p:cNvPr>
          <p:cNvSpPr/>
          <p:nvPr/>
        </p:nvSpPr>
        <p:spPr>
          <a:xfrm>
            <a:off x="7146256" y="890987"/>
            <a:ext cx="694785" cy="677226"/>
          </a:xfrm>
          <a:prstGeom prst="rect">
            <a:avLst/>
          </a:prstGeom>
          <a:noFill/>
          <a:ln w="25400">
            <a:solidFill>
              <a:schemeClr val="accent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72E7220E-0433-461E-8B2C-4F3CBC1133E2}"/>
              </a:ext>
            </a:extLst>
          </p:cNvPr>
          <p:cNvSpPr/>
          <p:nvPr/>
        </p:nvSpPr>
        <p:spPr>
          <a:xfrm>
            <a:off x="9854075" y="3357461"/>
            <a:ext cx="694785" cy="677226"/>
          </a:xfrm>
          <a:prstGeom prst="rect">
            <a:avLst/>
          </a:prstGeom>
          <a:noFill/>
          <a:ln w="25400">
            <a:solidFill>
              <a:schemeClr val="accent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EF1CB4CB-8073-438E-A5CD-42863EC3D0ED}"/>
              </a:ext>
            </a:extLst>
          </p:cNvPr>
          <p:cNvPicPr>
            <a:picLocks noChangeAspect="1"/>
          </p:cNvPicPr>
          <p:nvPr/>
        </p:nvPicPr>
        <p:blipFill rotWithShape="1">
          <a:blip r:embed="rId3"/>
          <a:srcRect r="75403" b="62591"/>
          <a:stretch/>
        </p:blipFill>
        <p:spPr>
          <a:xfrm>
            <a:off x="1405084" y="1797416"/>
            <a:ext cx="2998839" cy="1394890"/>
          </a:xfrm>
          <a:prstGeom prst="rect">
            <a:avLst/>
          </a:prstGeom>
        </p:spPr>
      </p:pic>
      <p:sp>
        <p:nvSpPr>
          <p:cNvPr id="11" name="矩形 10">
            <a:extLst>
              <a:ext uri="{FF2B5EF4-FFF2-40B4-BE49-F238E27FC236}">
                <a16:creationId xmlns:a16="http://schemas.microsoft.com/office/drawing/2014/main" id="{B27AEDD7-75ED-4AE3-9D52-42EF73601C51}"/>
              </a:ext>
            </a:extLst>
          </p:cNvPr>
          <p:cNvSpPr/>
          <p:nvPr/>
        </p:nvSpPr>
        <p:spPr>
          <a:xfrm>
            <a:off x="2896226" y="2321976"/>
            <a:ext cx="1007180" cy="785017"/>
          </a:xfrm>
          <a:prstGeom prst="rect">
            <a:avLst/>
          </a:prstGeom>
          <a:noFill/>
          <a:ln w="25400">
            <a:solidFill>
              <a:schemeClr val="accent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pic>
        <p:nvPicPr>
          <p:cNvPr id="7" name="图片 6">
            <a:extLst>
              <a:ext uri="{FF2B5EF4-FFF2-40B4-BE49-F238E27FC236}">
                <a16:creationId xmlns:a16="http://schemas.microsoft.com/office/drawing/2014/main" id="{F403DE25-50C7-4A23-9FFF-D78C565EE728}"/>
              </a:ext>
            </a:extLst>
          </p:cNvPr>
          <p:cNvPicPr>
            <a:picLocks noChangeAspect="1"/>
          </p:cNvPicPr>
          <p:nvPr/>
        </p:nvPicPr>
        <p:blipFill rotWithShape="1">
          <a:blip r:embed="rId3"/>
          <a:srcRect t="36881"/>
          <a:stretch/>
        </p:blipFill>
        <p:spPr>
          <a:xfrm>
            <a:off x="579119" y="4043373"/>
            <a:ext cx="11033761" cy="2129950"/>
          </a:xfrm>
          <a:prstGeom prst="rect">
            <a:avLst/>
          </a:prstGeom>
        </p:spPr>
      </p:pic>
      <p:sp>
        <p:nvSpPr>
          <p:cNvPr id="13" name="矩形 12">
            <a:extLst>
              <a:ext uri="{FF2B5EF4-FFF2-40B4-BE49-F238E27FC236}">
                <a16:creationId xmlns:a16="http://schemas.microsoft.com/office/drawing/2014/main" id="{92E4C074-7681-468A-829C-C0BFE27D917D}"/>
              </a:ext>
            </a:extLst>
          </p:cNvPr>
          <p:cNvSpPr/>
          <p:nvPr/>
        </p:nvSpPr>
        <p:spPr>
          <a:xfrm>
            <a:off x="8865933" y="4798142"/>
            <a:ext cx="694785" cy="1508080"/>
          </a:xfrm>
          <a:prstGeom prst="rect">
            <a:avLst/>
          </a:prstGeom>
          <a:noFill/>
          <a:ln w="25400">
            <a:solidFill>
              <a:schemeClr val="accent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4" name="Slide Number Placeholder 3">
            <a:extLst>
              <a:ext uri="{FF2B5EF4-FFF2-40B4-BE49-F238E27FC236}">
                <a16:creationId xmlns:a16="http://schemas.microsoft.com/office/drawing/2014/main" id="{E516B131-06AE-4E88-B4A5-A2D48A21D6C1}"/>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45</a:t>
            </a:fld>
            <a:endParaRPr lang="en-US" dirty="0"/>
          </a:p>
        </p:txBody>
      </p:sp>
    </p:spTree>
    <p:extLst>
      <p:ext uri="{BB962C8B-B14F-4D97-AF65-F5344CB8AC3E}">
        <p14:creationId xmlns:p14="http://schemas.microsoft.com/office/powerpoint/2010/main" val="9102920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179F2-D4FD-4732-9C24-20CBFDE8F675}"/>
              </a:ext>
            </a:extLst>
          </p:cNvPr>
          <p:cNvSpPr>
            <a:spLocks noGrp="1"/>
          </p:cNvSpPr>
          <p:nvPr>
            <p:ph type="title"/>
          </p:nvPr>
        </p:nvSpPr>
        <p:spPr/>
        <p:txBody>
          <a:bodyPr/>
          <a:lstStyle/>
          <a:p>
            <a:pPr>
              <a:spcBef>
                <a:spcPts val="600"/>
              </a:spcBef>
            </a:pPr>
            <a:r>
              <a:rPr lang="en-US" altLang="zh-CN" sz="3600" dirty="0"/>
              <a:t>Difference between </a:t>
            </a:r>
            <a:r>
              <a:rPr lang="en-US" altLang="zh-CN" sz="3600" dirty="0" err="1"/>
              <a:t>Vitis</a:t>
            </a:r>
            <a:r>
              <a:rPr lang="en-US" altLang="zh-CN" sz="3600" dirty="0"/>
              <a:t> HLS and Vivado HLS</a:t>
            </a:r>
          </a:p>
        </p:txBody>
      </p:sp>
      <p:sp>
        <p:nvSpPr>
          <p:cNvPr id="3" name="Slide Number Placeholder 2">
            <a:extLst>
              <a:ext uri="{FF2B5EF4-FFF2-40B4-BE49-F238E27FC236}">
                <a16:creationId xmlns:a16="http://schemas.microsoft.com/office/drawing/2014/main" id="{9175C039-6943-41AC-A401-A1E8EC08BA8B}"/>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46</a:t>
            </a:fld>
            <a:endParaRPr lang="en-US" dirty="0"/>
          </a:p>
        </p:txBody>
      </p:sp>
    </p:spTree>
    <p:extLst>
      <p:ext uri="{BB962C8B-B14F-4D97-AF65-F5344CB8AC3E}">
        <p14:creationId xmlns:p14="http://schemas.microsoft.com/office/powerpoint/2010/main" val="7378983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a:t>Behavioral Differences</a:t>
            </a:r>
          </a:p>
        </p:txBody>
      </p:sp>
      <p:sp>
        <p:nvSpPr>
          <p:cNvPr id="4" name="内容占位符 3">
            <a:extLst>
              <a:ext uri="{FF2B5EF4-FFF2-40B4-BE49-F238E27FC236}">
                <a16:creationId xmlns:a16="http://schemas.microsoft.com/office/drawing/2014/main" id="{C7699B48-5A6D-4E5C-B98C-63E87AECF928}"/>
              </a:ext>
            </a:extLst>
          </p:cNvPr>
          <p:cNvSpPr>
            <a:spLocks noGrp="1"/>
          </p:cNvSpPr>
          <p:nvPr>
            <p:ph idx="1"/>
          </p:nvPr>
        </p:nvSpPr>
        <p:spPr>
          <a:xfrm>
            <a:off x="571594" y="1920240"/>
            <a:ext cx="11033760" cy="4632960"/>
          </a:xfrm>
        </p:spPr>
        <p:txBody>
          <a:bodyPr/>
          <a:lstStyle/>
          <a:p>
            <a:r>
              <a:rPr lang="en-US" dirty="0"/>
              <a:t>New more strict syntax checking is provided in </a:t>
            </a:r>
            <a:r>
              <a:rPr lang="en-US" dirty="0" err="1"/>
              <a:t>Vitis</a:t>
            </a:r>
            <a:r>
              <a:rPr lang="en-US" dirty="0"/>
              <a:t> HLS for both source code and pragma usage:</a:t>
            </a:r>
          </a:p>
          <a:p>
            <a:endParaRPr lang="en-US" dirty="0"/>
          </a:p>
          <a:p>
            <a:pPr lvl="1"/>
            <a:r>
              <a:rPr lang="en-US" dirty="0"/>
              <a:t>Syntax Checker: The tool will error out for any incorrect/bad code fed to </a:t>
            </a:r>
            <a:r>
              <a:rPr lang="en-US" dirty="0" err="1"/>
              <a:t>csynth_design</a:t>
            </a:r>
            <a:endParaRPr lang="en-US" dirty="0"/>
          </a:p>
          <a:p>
            <a:pPr lvl="1"/>
            <a:r>
              <a:rPr lang="en-US" dirty="0"/>
              <a:t>Pragma Conflict Checker: New warnings and errors are reported for pragma conflicts</a:t>
            </a:r>
          </a:p>
        </p:txBody>
      </p:sp>
      <p:sp>
        <p:nvSpPr>
          <p:cNvPr id="5" name="Slide Number Placeholder 4">
            <a:extLst>
              <a:ext uri="{FF2B5EF4-FFF2-40B4-BE49-F238E27FC236}">
                <a16:creationId xmlns:a16="http://schemas.microsoft.com/office/drawing/2014/main" id="{E18C3479-8DF5-4BF6-B11B-3C9E3F8E4E5F}"/>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47</a:t>
            </a:fld>
            <a:endParaRPr lang="en-US" dirty="0"/>
          </a:p>
        </p:txBody>
      </p:sp>
    </p:spTree>
    <p:extLst>
      <p:ext uri="{BB962C8B-B14F-4D97-AF65-F5344CB8AC3E}">
        <p14:creationId xmlns:p14="http://schemas.microsoft.com/office/powerpoint/2010/main" val="3128637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6CAA9C-B0C5-4AA1-882A-147357121CEF}"/>
              </a:ext>
            </a:extLst>
          </p:cNvPr>
          <p:cNvSpPr>
            <a:spLocks noGrp="1"/>
          </p:cNvSpPr>
          <p:nvPr>
            <p:ph type="title"/>
          </p:nvPr>
        </p:nvSpPr>
        <p:spPr/>
        <p:txBody>
          <a:bodyPr/>
          <a:lstStyle/>
          <a:p>
            <a:r>
              <a:rPr lang="en-US" altLang="zh-CN" dirty="0"/>
              <a:t>Assertions</a:t>
            </a:r>
            <a:endParaRPr lang="en-US" dirty="0"/>
          </a:p>
        </p:txBody>
      </p:sp>
      <p:sp>
        <p:nvSpPr>
          <p:cNvPr id="4" name="内容占位符 3">
            <a:extLst>
              <a:ext uri="{FF2B5EF4-FFF2-40B4-BE49-F238E27FC236}">
                <a16:creationId xmlns:a16="http://schemas.microsoft.com/office/drawing/2014/main" id="{883CE6E9-0506-44D4-9573-26BD5B9EBD83}"/>
              </a:ext>
            </a:extLst>
          </p:cNvPr>
          <p:cNvSpPr>
            <a:spLocks noGrp="1"/>
          </p:cNvSpPr>
          <p:nvPr>
            <p:ph idx="1"/>
          </p:nvPr>
        </p:nvSpPr>
        <p:spPr/>
        <p:txBody>
          <a:bodyPr/>
          <a:lstStyle/>
          <a:p>
            <a:r>
              <a:rPr lang="en-US" altLang="zh-CN" dirty="0"/>
              <a:t>The assert macro in C/C++ is not supported in </a:t>
            </a:r>
            <a:r>
              <a:rPr lang="en-US" altLang="zh-CN" dirty="0" err="1"/>
              <a:t>Vitis</a:t>
            </a:r>
            <a:r>
              <a:rPr lang="en-US" altLang="zh-CN" dirty="0"/>
              <a:t> HLS.</a:t>
            </a:r>
          </a:p>
          <a:p>
            <a:endParaRPr lang="en-US" altLang="zh-CN" dirty="0"/>
          </a:p>
          <a:p>
            <a:r>
              <a:rPr lang="en-US" altLang="zh-CN" dirty="0"/>
              <a:t>Usage of assertions can have unintended consequences that are not obvious to the user, causing bad logic to be created.</a:t>
            </a:r>
          </a:p>
          <a:p>
            <a:r>
              <a:rPr lang="en-US" altLang="zh-CN" dirty="0"/>
              <a:t>They can also prevent compiler optimizations depending on the complexity of the code.</a:t>
            </a:r>
            <a:endParaRPr lang="en-US" dirty="0"/>
          </a:p>
        </p:txBody>
      </p:sp>
      <p:sp>
        <p:nvSpPr>
          <p:cNvPr id="5" name="Slide Number Placeholder 4">
            <a:extLst>
              <a:ext uri="{FF2B5EF4-FFF2-40B4-BE49-F238E27FC236}">
                <a16:creationId xmlns:a16="http://schemas.microsoft.com/office/drawing/2014/main" id="{EB999479-29FE-465F-A75B-23A2CBBB9D20}"/>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48</a:t>
            </a:fld>
            <a:endParaRPr lang="en-US" dirty="0"/>
          </a:p>
        </p:txBody>
      </p:sp>
    </p:spTree>
    <p:extLst>
      <p:ext uri="{BB962C8B-B14F-4D97-AF65-F5344CB8AC3E}">
        <p14:creationId xmlns:p14="http://schemas.microsoft.com/office/powerpoint/2010/main" val="17979387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6CAA9C-B0C5-4AA1-882A-147357121CEF}"/>
              </a:ext>
            </a:extLst>
          </p:cNvPr>
          <p:cNvSpPr>
            <a:spLocks noGrp="1"/>
          </p:cNvSpPr>
          <p:nvPr>
            <p:ph type="title"/>
          </p:nvPr>
        </p:nvSpPr>
        <p:spPr/>
        <p:txBody>
          <a:bodyPr/>
          <a:lstStyle/>
          <a:p>
            <a:r>
              <a:rPr lang="en-US" altLang="zh-CN" dirty="0"/>
              <a:t>C Arbitrary Precision Types</a:t>
            </a:r>
            <a:endParaRPr lang="en-US" dirty="0"/>
          </a:p>
        </p:txBody>
      </p:sp>
      <p:sp>
        <p:nvSpPr>
          <p:cNvPr id="4" name="内容占位符 3">
            <a:extLst>
              <a:ext uri="{FF2B5EF4-FFF2-40B4-BE49-F238E27FC236}">
                <a16:creationId xmlns:a16="http://schemas.microsoft.com/office/drawing/2014/main" id="{883CE6E9-0506-44D4-9573-26BD5B9EBD83}"/>
              </a:ext>
            </a:extLst>
          </p:cNvPr>
          <p:cNvSpPr>
            <a:spLocks noGrp="1"/>
          </p:cNvSpPr>
          <p:nvPr>
            <p:ph idx="1"/>
          </p:nvPr>
        </p:nvSpPr>
        <p:spPr>
          <a:xfrm>
            <a:off x="571594" y="1730749"/>
            <a:ext cx="11033760" cy="4632960"/>
          </a:xfrm>
        </p:spPr>
        <p:txBody>
          <a:bodyPr/>
          <a:lstStyle/>
          <a:p>
            <a:r>
              <a:rPr lang="en-US" altLang="zh-CN" dirty="0" err="1"/>
              <a:t>Vitis</a:t>
            </a:r>
            <a:r>
              <a:rPr lang="en-US" altLang="zh-CN" dirty="0"/>
              <a:t> HLS does not support C arbitrary precision types. Xilinx recommends using C++ types with arbitrary precision.</a:t>
            </a:r>
          </a:p>
          <a:p>
            <a:endParaRPr lang="en-US" altLang="zh-CN" dirty="0"/>
          </a:p>
          <a:p>
            <a:r>
              <a:rPr lang="en-US" altLang="zh-CN" dirty="0"/>
              <a:t>In addition, C++ arbitrary precision types in </a:t>
            </a:r>
            <a:r>
              <a:rPr lang="en-US" altLang="zh-CN" dirty="0" err="1"/>
              <a:t>Vitis</a:t>
            </a:r>
            <a:r>
              <a:rPr lang="en-US" altLang="zh-CN" dirty="0"/>
              <a:t> HLS are limited to a maximum width of 4096 bits, instead of 32K bits supported by Vivado HLS.</a:t>
            </a:r>
            <a:endParaRPr lang="en-US" dirty="0"/>
          </a:p>
        </p:txBody>
      </p:sp>
      <p:sp>
        <p:nvSpPr>
          <p:cNvPr id="5" name="Slide Number Placeholder 4">
            <a:extLst>
              <a:ext uri="{FF2B5EF4-FFF2-40B4-BE49-F238E27FC236}">
                <a16:creationId xmlns:a16="http://schemas.microsoft.com/office/drawing/2014/main" id="{74C21C29-DD15-4C55-81D9-F988AD14B100}"/>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49</a:t>
            </a:fld>
            <a:endParaRPr lang="en-US" dirty="0"/>
          </a:p>
        </p:txBody>
      </p:sp>
    </p:spTree>
    <p:extLst>
      <p:ext uri="{BB962C8B-B14F-4D97-AF65-F5344CB8AC3E}">
        <p14:creationId xmlns:p14="http://schemas.microsoft.com/office/powerpoint/2010/main" val="532212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179F2-D4FD-4732-9C24-20CBFDE8F675}"/>
              </a:ext>
            </a:extLst>
          </p:cNvPr>
          <p:cNvSpPr>
            <a:spLocks noGrp="1"/>
          </p:cNvSpPr>
          <p:nvPr>
            <p:ph type="title"/>
          </p:nvPr>
        </p:nvSpPr>
        <p:spPr/>
        <p:txBody>
          <a:bodyPr/>
          <a:lstStyle/>
          <a:p>
            <a:pPr>
              <a:spcBef>
                <a:spcPts val="600"/>
              </a:spcBef>
            </a:pPr>
            <a:r>
              <a:rPr lang="en-US" altLang="zh-CN" dirty="0"/>
              <a:t>Summary</a:t>
            </a:r>
          </a:p>
        </p:txBody>
      </p:sp>
      <p:sp>
        <p:nvSpPr>
          <p:cNvPr id="3" name="Slide Number Placeholder 2">
            <a:extLst>
              <a:ext uri="{FF2B5EF4-FFF2-40B4-BE49-F238E27FC236}">
                <a16:creationId xmlns:a16="http://schemas.microsoft.com/office/drawing/2014/main" id="{688BDDAF-1A5D-4062-B687-370CF7500C0E}"/>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50</a:t>
            </a:fld>
            <a:endParaRPr lang="en-US" dirty="0"/>
          </a:p>
        </p:txBody>
      </p:sp>
    </p:spTree>
    <p:extLst>
      <p:ext uri="{BB962C8B-B14F-4D97-AF65-F5344CB8AC3E}">
        <p14:creationId xmlns:p14="http://schemas.microsoft.com/office/powerpoint/2010/main" val="4195053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In HLS</a:t>
            </a:r>
          </a:p>
          <a:p>
            <a:pPr lvl="1"/>
            <a:r>
              <a:rPr lang="en-US" dirty="0"/>
              <a:t>C becomes RTL</a:t>
            </a:r>
          </a:p>
          <a:p>
            <a:pPr lvl="1"/>
            <a:r>
              <a:rPr lang="en-US" dirty="0"/>
              <a:t>Operations in the code map to hardware resources</a:t>
            </a:r>
          </a:p>
          <a:p>
            <a:pPr lvl="1"/>
            <a:r>
              <a:rPr lang="en-US" dirty="0"/>
              <a:t>Understand how constructs such as functions, loops and arrays are synthesized</a:t>
            </a:r>
          </a:p>
          <a:p>
            <a:r>
              <a:rPr lang="en-US" dirty="0"/>
              <a:t>HLS design involves</a:t>
            </a:r>
          </a:p>
          <a:p>
            <a:pPr lvl="1"/>
            <a:r>
              <a:rPr lang="en-US" dirty="0"/>
              <a:t>Synthesize the initial design</a:t>
            </a:r>
          </a:p>
          <a:p>
            <a:pPr lvl="1"/>
            <a:r>
              <a:rPr lang="en-US" dirty="0"/>
              <a:t>Analyze to see what limits the performance</a:t>
            </a:r>
          </a:p>
          <a:p>
            <a:pPr lvl="2"/>
            <a:r>
              <a:rPr lang="en-US" dirty="0"/>
              <a:t>User directives to change the default behaviors</a:t>
            </a:r>
          </a:p>
          <a:p>
            <a:pPr lvl="2"/>
            <a:r>
              <a:rPr lang="en-US" dirty="0"/>
              <a:t>Remove bottlenecks</a:t>
            </a:r>
          </a:p>
          <a:p>
            <a:pPr lvl="1"/>
            <a:r>
              <a:rPr lang="en-US" dirty="0"/>
              <a:t>Analyze to see what limits the area</a:t>
            </a:r>
          </a:p>
          <a:p>
            <a:pPr lvl="2"/>
            <a:r>
              <a:rPr lang="en-US" dirty="0"/>
              <a:t>The types used define the size of operators</a:t>
            </a:r>
          </a:p>
          <a:p>
            <a:pPr lvl="2"/>
            <a:r>
              <a:rPr lang="en-US" dirty="0"/>
              <a:t>This can have an impact on what operations can fit in a clock cycle </a:t>
            </a:r>
          </a:p>
        </p:txBody>
      </p:sp>
      <p:sp>
        <p:nvSpPr>
          <p:cNvPr id="5" name="Slide Number Placeholder 4">
            <a:extLst>
              <a:ext uri="{FF2B5EF4-FFF2-40B4-BE49-F238E27FC236}">
                <a16:creationId xmlns:a16="http://schemas.microsoft.com/office/drawing/2014/main" id="{8B818EE0-A36B-4A30-9166-B6430AD8C4F7}"/>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51</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Use directives to shape the initial design to meet performance</a:t>
            </a:r>
          </a:p>
          <a:p>
            <a:pPr lvl="1"/>
            <a:r>
              <a:rPr lang="en-US" dirty="0"/>
              <a:t>Increase parallelism to improve performance</a:t>
            </a:r>
          </a:p>
          <a:p>
            <a:pPr lvl="1"/>
            <a:r>
              <a:rPr lang="en-US" dirty="0"/>
              <a:t>Refine bit sizes and sharing to reduce area</a:t>
            </a:r>
          </a:p>
          <a:p>
            <a:r>
              <a:rPr lang="en-US" dirty="0"/>
              <a:t>Vitis HLS benefits</a:t>
            </a:r>
          </a:p>
          <a:p>
            <a:pPr lvl="1"/>
            <a:r>
              <a:rPr lang="en-US" dirty="0"/>
              <a:t>Productivity</a:t>
            </a:r>
          </a:p>
          <a:p>
            <a:pPr lvl="1"/>
            <a:r>
              <a:rPr lang="en-US" dirty="0"/>
              <a:t>Portability</a:t>
            </a:r>
          </a:p>
          <a:p>
            <a:pPr lvl="1"/>
            <a:r>
              <a:rPr lang="en-US" dirty="0"/>
              <a:t>Permutability</a:t>
            </a:r>
          </a:p>
        </p:txBody>
      </p:sp>
      <p:sp>
        <p:nvSpPr>
          <p:cNvPr id="5" name="Slide Number Placeholder 4">
            <a:extLst>
              <a:ext uri="{FF2B5EF4-FFF2-40B4-BE49-F238E27FC236}">
                <a16:creationId xmlns:a16="http://schemas.microsoft.com/office/drawing/2014/main" id="{9366B074-5906-4672-8060-337908991AFA}"/>
              </a:ext>
            </a:extLst>
          </p:cNvPr>
          <p:cNvSpPr>
            <a:spLocks noGrp="1"/>
          </p:cNvSpPr>
          <p:nvPr>
            <p:ph type="sldNum" sz="quarter" idx="4"/>
          </p:nvPr>
        </p:nvSpPr>
        <p:spPr/>
        <p:txBody>
          <a:bodyPr/>
          <a:lstStyle/>
          <a:p>
            <a:pPr>
              <a:defRPr/>
            </a:pPr>
            <a:r>
              <a:rPr lang="en-US"/>
              <a:t>Intro to HLS 11- </a:t>
            </a:r>
            <a:fld id="{060BD193-E118-4B16-863C-C8C12C675E3E}" type="slidenum">
              <a:rPr lang="en-US" smtClean="0"/>
              <a:pPr>
                <a:defRPr/>
              </a:pPr>
              <a:t>52</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79385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0253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2.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0</TotalTime>
  <Words>5877</Words>
  <Application>Microsoft Office PowerPoint</Application>
  <PresentationFormat>宽屏</PresentationFormat>
  <Paragraphs>1219</Paragraphs>
  <Slides>54</Slides>
  <Notes>11</Notes>
  <HiddenSlides>1</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54</vt:i4>
      </vt:variant>
    </vt:vector>
  </HeadingPairs>
  <TitlesOfParts>
    <vt:vector size="60" baseType="lpstr">
      <vt:lpstr>Arial</vt:lpstr>
      <vt:lpstr>Consolas</vt:lpstr>
      <vt:lpstr>Microsoft Sans Serif</vt:lpstr>
      <vt:lpstr>Webdings</vt:lpstr>
      <vt:lpstr>Wingdings 3</vt:lpstr>
      <vt:lpstr>Xilinx-5</vt:lpstr>
      <vt:lpstr>Introduction to High-Level Synthesis with Vitis HLS</vt:lpstr>
      <vt:lpstr>Objectives</vt:lpstr>
      <vt:lpstr>Outline</vt:lpstr>
      <vt:lpstr>Need for High-Level Synthesis</vt:lpstr>
      <vt:lpstr>High-Level Synthesis: HLS</vt:lpstr>
      <vt:lpstr>Design Exploration with Directives</vt:lpstr>
      <vt:lpstr>Introduction to High-Level Synthesis</vt:lpstr>
      <vt:lpstr>HLS: Control Extraction</vt:lpstr>
      <vt:lpstr>HLS: Control &amp; Datapath Extraction</vt:lpstr>
      <vt:lpstr>High-Level Synthesis: Scheduling &amp; Binding</vt:lpstr>
      <vt:lpstr>Scheduling</vt:lpstr>
      <vt:lpstr>Binding</vt:lpstr>
      <vt:lpstr>High-Level Synthesis with Vitis HLS</vt:lpstr>
      <vt:lpstr>RTL vs High-Level Language</vt:lpstr>
      <vt:lpstr>Vitis HLS Benefits</vt:lpstr>
      <vt:lpstr>Vitis HLS Benefits</vt:lpstr>
      <vt:lpstr>Vitis HLS Benefits</vt:lpstr>
      <vt:lpstr>Understanding Vitis HLS Synthesis</vt:lpstr>
      <vt:lpstr>The Key Attributes of C code</vt:lpstr>
      <vt:lpstr>Functions &amp; RTL Hierarchy</vt:lpstr>
      <vt:lpstr>Types = Operator Bit-sizes</vt:lpstr>
      <vt:lpstr>Types = Operator Bit-sizes</vt:lpstr>
      <vt:lpstr>Loops </vt:lpstr>
      <vt:lpstr>Data Dependencies: Good </vt:lpstr>
      <vt:lpstr>Data Dependencies: Bad</vt:lpstr>
      <vt:lpstr>Schedule after Loop Optimization</vt:lpstr>
      <vt:lpstr>Arrays in HLS</vt:lpstr>
      <vt:lpstr>Top-Level IO Ports</vt:lpstr>
      <vt:lpstr>Schedule after an Array Optimization</vt:lpstr>
      <vt:lpstr>Operators</vt:lpstr>
      <vt:lpstr>Language Support</vt:lpstr>
      <vt:lpstr>Comprehensive C Support</vt:lpstr>
      <vt:lpstr>C and C++ Support</vt:lpstr>
      <vt:lpstr>Validation Flow</vt:lpstr>
      <vt:lpstr>C Validation and RTL Verification</vt:lpstr>
      <vt:lpstr>C Function Test Bench</vt:lpstr>
      <vt:lpstr>Determine or Create the Top-level Function</vt:lpstr>
      <vt:lpstr>Vitis Flow and Vivado Flow</vt:lpstr>
      <vt:lpstr>Vitis Flow (Kernel Mode)</vt:lpstr>
      <vt:lpstr>Vitis Flow (Kernel Mode)</vt:lpstr>
      <vt:lpstr>Vitis Flow (Kernel Mode)</vt:lpstr>
      <vt:lpstr>Vivado Flow (IP Mode)</vt:lpstr>
      <vt:lpstr>Default Control Settings(Vivado flow)</vt:lpstr>
      <vt:lpstr>Default Control Settings(Vitis flow)</vt:lpstr>
      <vt:lpstr>Example</vt:lpstr>
      <vt:lpstr>Difference between Vitis HLS and Vivado HLS</vt:lpstr>
      <vt:lpstr>Behavioral Differences</vt:lpstr>
      <vt:lpstr>Assertions</vt:lpstr>
      <vt:lpstr>C Arbitrary Precision Types</vt:lpstr>
      <vt:lpstr>Summary</vt:lpstr>
      <vt:lpstr>Summary</vt:lpstr>
      <vt:lpstr>Summary</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2022-04-13T18:15:31Z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547f5642-c43a-4c38-900f-2e0358fc4abd</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