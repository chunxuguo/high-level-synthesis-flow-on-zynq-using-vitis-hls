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Lst>
  <p:notesMasterIdLst>
    <p:notesMasterId r:id="rId90"/>
  </p:notesMasterIdLst>
  <p:handoutMasterIdLst>
    <p:handoutMasterId r:id="rId91"/>
  </p:handoutMasterIdLst>
  <p:sldIdLst>
    <p:sldId id="1057" r:id="rId5"/>
    <p:sldId id="960" r:id="rId6"/>
    <p:sldId id="1028" r:id="rId7"/>
    <p:sldId id="962" r:id="rId8"/>
    <p:sldId id="963" r:id="rId9"/>
    <p:sldId id="1036" r:id="rId10"/>
    <p:sldId id="964" r:id="rId11"/>
    <p:sldId id="1037" r:id="rId12"/>
    <p:sldId id="965" r:id="rId13"/>
    <p:sldId id="1038" r:id="rId14"/>
    <p:sldId id="966" r:id="rId15"/>
    <p:sldId id="1039" r:id="rId16"/>
    <p:sldId id="968" r:id="rId17"/>
    <p:sldId id="1040" r:id="rId18"/>
    <p:sldId id="1029" r:id="rId19"/>
    <p:sldId id="972" r:id="rId20"/>
    <p:sldId id="973" r:id="rId21"/>
    <p:sldId id="974" r:id="rId22"/>
    <p:sldId id="1021" r:id="rId23"/>
    <p:sldId id="975" r:id="rId24"/>
    <p:sldId id="976" r:id="rId25"/>
    <p:sldId id="1034" r:id="rId26"/>
    <p:sldId id="977" r:id="rId27"/>
    <p:sldId id="1035" r:id="rId28"/>
    <p:sldId id="1030" r:id="rId29"/>
    <p:sldId id="978" r:id="rId30"/>
    <p:sldId id="979" r:id="rId31"/>
    <p:sldId id="981" r:id="rId32"/>
    <p:sldId id="1041" r:id="rId33"/>
    <p:sldId id="982" r:id="rId34"/>
    <p:sldId id="983" r:id="rId35"/>
    <p:sldId id="1042" r:id="rId36"/>
    <p:sldId id="984" r:id="rId37"/>
    <p:sldId id="985" r:id="rId38"/>
    <p:sldId id="1043" r:id="rId39"/>
    <p:sldId id="986" r:id="rId40"/>
    <p:sldId id="987" r:id="rId41"/>
    <p:sldId id="1044" r:id="rId42"/>
    <p:sldId id="988" r:id="rId43"/>
    <p:sldId id="1031" r:id="rId44"/>
    <p:sldId id="990" r:id="rId45"/>
    <p:sldId id="991" r:id="rId46"/>
    <p:sldId id="992" r:id="rId47"/>
    <p:sldId id="1045" r:id="rId48"/>
    <p:sldId id="993" r:id="rId49"/>
    <p:sldId id="1046" r:id="rId50"/>
    <p:sldId id="994" r:id="rId51"/>
    <p:sldId id="1022" r:id="rId52"/>
    <p:sldId id="1023" r:id="rId53"/>
    <p:sldId id="995" r:id="rId54"/>
    <p:sldId id="996" r:id="rId55"/>
    <p:sldId id="997" r:id="rId56"/>
    <p:sldId id="998" r:id="rId57"/>
    <p:sldId id="999" r:id="rId58"/>
    <p:sldId id="1047" r:id="rId59"/>
    <p:sldId id="1000" r:id="rId60"/>
    <p:sldId id="1001" r:id="rId61"/>
    <p:sldId id="1002" r:id="rId62"/>
    <p:sldId id="1048" r:id="rId63"/>
    <p:sldId id="1003" r:id="rId64"/>
    <p:sldId id="1004" r:id="rId65"/>
    <p:sldId id="1032" r:id="rId66"/>
    <p:sldId id="1006" r:id="rId67"/>
    <p:sldId id="1007" r:id="rId68"/>
    <p:sldId id="1049" r:id="rId69"/>
    <p:sldId id="1018" r:id="rId70"/>
    <p:sldId id="1009" r:id="rId71"/>
    <p:sldId id="1050" r:id="rId72"/>
    <p:sldId id="1011" r:id="rId73"/>
    <p:sldId id="1051" r:id="rId74"/>
    <p:sldId id="1010" r:id="rId75"/>
    <p:sldId id="1052" r:id="rId76"/>
    <p:sldId id="1012" r:id="rId77"/>
    <p:sldId id="1053" r:id="rId78"/>
    <p:sldId id="1024" r:id="rId79"/>
    <p:sldId id="1025" r:id="rId80"/>
    <p:sldId id="1013" r:id="rId81"/>
    <p:sldId id="1056" r:id="rId82"/>
    <p:sldId id="1014" r:id="rId83"/>
    <p:sldId id="1054" r:id="rId84"/>
    <p:sldId id="1026" r:id="rId85"/>
    <p:sldId id="1055" r:id="rId86"/>
    <p:sldId id="1033" r:id="rId87"/>
    <p:sldId id="1019" r:id="rId88"/>
    <p:sldId id="1017" r:id="rId89"/>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18"/>
    <p:restoredTop sz="94694"/>
  </p:normalViewPr>
  <p:slideViewPr>
    <p:cSldViewPr snapToGrid="0">
      <p:cViewPr varScale="1">
        <p:scale>
          <a:sx n="81" d="100"/>
          <a:sy n="81" d="100"/>
        </p:scale>
        <p:origin x="307" y="48"/>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3/28/2022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3/28/2022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92216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solidFill>
                  <a:prstClr val="black"/>
                </a:solidFill>
              </a:rPr>
              <a:pPr>
                <a:defRPr/>
              </a:pPr>
              <a:t>16</a:t>
            </a:fld>
            <a:endParaRPr lang="en-US" dirty="0">
              <a:solidFill>
                <a:prstClr val="black"/>
              </a:solidFill>
            </a:endParaRPr>
          </a:p>
        </p:txBody>
      </p:sp>
    </p:spTree>
    <p:extLst>
      <p:ext uri="{BB962C8B-B14F-4D97-AF65-F5344CB8AC3E}">
        <p14:creationId xmlns:p14="http://schemas.microsoft.com/office/powerpoint/2010/main" val="383553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solidFill>
                  <a:prstClr val="black"/>
                </a:solidFill>
              </a:rPr>
              <a:pPr>
                <a:defRPr/>
              </a:pPr>
              <a:t>18</a:t>
            </a:fld>
            <a:endParaRPr lang="en-US" dirty="0">
              <a:solidFill>
                <a:prstClr val="black"/>
              </a:solidFill>
            </a:endParaRPr>
          </a:p>
        </p:txBody>
      </p:sp>
    </p:spTree>
    <p:extLst>
      <p:ext uri="{BB962C8B-B14F-4D97-AF65-F5344CB8AC3E}">
        <p14:creationId xmlns:p14="http://schemas.microsoft.com/office/powerpoint/2010/main" val="1090958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733437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dirty="0"/>
              <a:t>There is an adder for the loop iteration</a:t>
            </a:r>
            <a:r>
              <a:rPr lang="en-US" baseline="0" dirty="0"/>
              <a:t> count “i” itself.</a:t>
            </a:r>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solidFill>
                  <a:prstClr val="black"/>
                </a:solidFill>
              </a:rPr>
              <a:pPr>
                <a:defRPr/>
              </a:pPr>
              <a:t>30</a:t>
            </a:fld>
            <a:endParaRPr lang="en-US" dirty="0">
              <a:solidFill>
                <a:prstClr val="black"/>
              </a:solidFill>
            </a:endParaRPr>
          </a:p>
        </p:txBody>
      </p:sp>
    </p:spTree>
    <p:extLst>
      <p:ext uri="{BB962C8B-B14F-4D97-AF65-F5344CB8AC3E}">
        <p14:creationId xmlns:p14="http://schemas.microsoft.com/office/powerpoint/2010/main" val="2688457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solidFill>
                  <a:prstClr val="black"/>
                </a:solidFill>
              </a:rPr>
              <a:pPr>
                <a:defRPr/>
              </a:pPr>
              <a:t>41</a:t>
            </a:fld>
            <a:endParaRPr lang="en-US" dirty="0">
              <a:solidFill>
                <a:prstClr val="black"/>
              </a:solidFill>
            </a:endParaRPr>
          </a:p>
        </p:txBody>
      </p:sp>
    </p:spTree>
    <p:extLst>
      <p:ext uri="{BB962C8B-B14F-4D97-AF65-F5344CB8AC3E}">
        <p14:creationId xmlns:p14="http://schemas.microsoft.com/office/powerpoint/2010/main" val="621466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For the dataflow optimization to work, the data must flow through the design from one task to the next. The following coding styles prevent the </a:t>
            </a:r>
            <a:r>
              <a:rPr lang="en-US" sz="1200" kern="1200" dirty="0" err="1">
                <a:solidFill>
                  <a:schemeClr val="tx1"/>
                </a:solidFill>
                <a:effectLst/>
                <a:latin typeface="Arial" charset="0"/>
                <a:ea typeface="+mn-ea"/>
                <a:cs typeface="+mn-cs"/>
              </a:rPr>
              <a:t>Vivado</a:t>
            </a:r>
            <a:r>
              <a:rPr lang="en-US" sz="1200" kern="1200" dirty="0">
                <a:solidFill>
                  <a:schemeClr val="tx1"/>
                </a:solidFill>
                <a:effectLst/>
                <a:latin typeface="Arial" charset="0"/>
                <a:ea typeface="+mn-ea"/>
                <a:cs typeface="+mn-cs"/>
              </a:rPr>
              <a:t> HLS tool from performing the dataflow optimization:</a:t>
            </a:r>
          </a:p>
          <a:p>
            <a:pPr lvl="0"/>
            <a:r>
              <a:rPr lang="en-US" sz="1200" kern="1200" dirty="0">
                <a:solidFill>
                  <a:schemeClr val="tx1"/>
                </a:solidFill>
                <a:effectLst/>
                <a:latin typeface="Arial" charset="0"/>
                <a:ea typeface="+mn-ea"/>
                <a:cs typeface="+mn-cs"/>
              </a:rPr>
              <a:t>Single producer consumer violations</a:t>
            </a:r>
          </a:p>
          <a:p>
            <a:pPr lvl="0"/>
            <a:r>
              <a:rPr lang="en-US" sz="1200" kern="1200" dirty="0">
                <a:solidFill>
                  <a:schemeClr val="tx1"/>
                </a:solidFill>
                <a:effectLst/>
                <a:latin typeface="Arial" charset="0"/>
                <a:ea typeface="+mn-ea"/>
                <a:cs typeface="+mn-cs"/>
              </a:rPr>
              <a:t>Bypassing tasks</a:t>
            </a:r>
          </a:p>
          <a:p>
            <a:pPr lvl="0"/>
            <a:r>
              <a:rPr lang="en-US" sz="1200" kern="1200" dirty="0">
                <a:solidFill>
                  <a:schemeClr val="tx1"/>
                </a:solidFill>
                <a:effectLst/>
                <a:latin typeface="Arial" charset="0"/>
                <a:ea typeface="+mn-ea"/>
                <a:cs typeface="+mn-cs"/>
              </a:rPr>
              <a:t>Feedback between tasks</a:t>
            </a:r>
          </a:p>
          <a:p>
            <a:pPr lvl="0"/>
            <a:r>
              <a:rPr lang="en-US" sz="1200" kern="1200" dirty="0">
                <a:solidFill>
                  <a:schemeClr val="tx1"/>
                </a:solidFill>
                <a:effectLst/>
                <a:latin typeface="Arial" charset="0"/>
                <a:ea typeface="+mn-ea"/>
                <a:cs typeface="+mn-cs"/>
              </a:rPr>
              <a:t>Conditional execution of tasks</a:t>
            </a:r>
          </a:p>
          <a:p>
            <a:pPr lvl="0"/>
            <a:r>
              <a:rPr lang="en-US" sz="1200" kern="1200" dirty="0">
                <a:solidFill>
                  <a:schemeClr val="tx1"/>
                </a:solidFill>
                <a:effectLst/>
                <a:latin typeface="Arial" charset="0"/>
                <a:ea typeface="+mn-ea"/>
                <a:cs typeface="+mn-cs"/>
              </a:rPr>
              <a:t>Loop scopes with variable bounds</a:t>
            </a:r>
          </a:p>
          <a:p>
            <a:pPr lvl="0"/>
            <a:r>
              <a:rPr lang="en-US" sz="1200" kern="1200" dirty="0">
                <a:solidFill>
                  <a:schemeClr val="tx1"/>
                </a:solidFill>
                <a:effectLst/>
                <a:latin typeface="Arial" charset="0"/>
                <a:ea typeface="+mn-ea"/>
                <a:cs typeface="+mn-cs"/>
              </a:rPr>
              <a:t>Loops with multiple exit conditions</a:t>
            </a:r>
          </a:p>
          <a:p>
            <a:endParaRPr lang="en-US" dirty="0"/>
          </a:p>
        </p:txBody>
      </p:sp>
    </p:spTree>
    <p:extLst>
      <p:ext uri="{BB962C8B-B14F-4D97-AF65-F5344CB8AC3E}">
        <p14:creationId xmlns:p14="http://schemas.microsoft.com/office/powerpoint/2010/main" val="2576666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70659" name="Rectangle 3"/>
          <p:cNvSpPr>
            <a:spLocks noGrp="1" noChangeArrowheads="1"/>
          </p:cNvSpPr>
          <p:nvPr>
            <p:ph type="body" idx="1"/>
          </p:nvPr>
        </p:nvSpPr>
        <p:spPr>
          <a:solidFill>
            <a:srgbClr val="FFFFFF"/>
          </a:solidFill>
          <a:ln>
            <a:solidFill>
              <a:srgbClr val="000000"/>
            </a:solidFill>
          </a:ln>
        </p:spPr>
        <p:txBody>
          <a:bodyPr/>
          <a:lstStyle/>
          <a:p>
            <a:r>
              <a:rPr lang="en-US" b="1" dirty="0"/>
              <a:t>Transcript:</a:t>
            </a:r>
          </a:p>
          <a:p>
            <a:r>
              <a:rPr lang="en-US" dirty="0"/>
              <a:t> </a:t>
            </a:r>
          </a:p>
          <a:p>
            <a:r>
              <a:rPr lang="en-US" dirty="0"/>
              <a:t>memory would give the best performance. So that's why you'll see at the interfaces sometimes you expect a single port being consumed by </a:t>
            </a:r>
            <a:r>
              <a:rPr lang="en-US" dirty="0" err="1"/>
              <a:t>Vivado</a:t>
            </a:r>
            <a:r>
              <a:rPr lang="en-US" dirty="0"/>
              <a:t> HLS and you'll see both ports because the tool currently does not look at the system integration context. It just looks at the performance you want and what your resources are. You can also choose between a block RAM or distributed RAM. And then there's also, if you don't select anything, we'll leave RTL in a way that ISE can then have the freedom of choosing where it wants to map a memory component.</a:t>
            </a:r>
          </a:p>
          <a:p>
            <a:r>
              <a:rPr lang="en-US" dirty="0"/>
              <a:t> </a:t>
            </a:r>
          </a:p>
          <a:p>
            <a:r>
              <a:rPr lang="en-US" b="1" dirty="0"/>
              <a:t>Author's Original Notes:</a:t>
            </a:r>
          </a:p>
          <a:p>
            <a:r>
              <a:rPr lang="en-US" dirty="0"/>
              <a:t> </a:t>
            </a:r>
          </a:p>
          <a:p>
            <a:r>
              <a:rPr lang="en-US" dirty="0"/>
              <a:t> </a:t>
            </a:r>
          </a:p>
          <a:p>
            <a:r>
              <a:rPr lang="en-US" dirty="0"/>
              <a:t> </a:t>
            </a:r>
          </a:p>
        </p:txBody>
      </p:sp>
    </p:spTree>
    <p:extLst>
      <p:ext uri="{BB962C8B-B14F-4D97-AF65-F5344CB8AC3E}">
        <p14:creationId xmlns:p14="http://schemas.microsoft.com/office/powerpoint/2010/main" val="4207088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76803" name="Rectangle 3"/>
          <p:cNvSpPr>
            <a:spLocks noGrp="1" noChangeArrowheads="1"/>
          </p:cNvSpPr>
          <p:nvPr>
            <p:ph type="body" idx="1"/>
          </p:nvPr>
        </p:nvSpPr>
        <p:spPr>
          <a:solidFill>
            <a:srgbClr val="FFFFFF"/>
          </a:solidFill>
          <a:ln>
            <a:solidFill>
              <a:srgbClr val="000000"/>
            </a:solidFill>
          </a:ln>
        </p:spPr>
        <p:txBody>
          <a:bodyPr/>
          <a:lstStyle/>
          <a:p>
            <a:r>
              <a:rPr lang="en-US" b="1"/>
              <a:t>Transcript:</a:t>
            </a:r>
          </a:p>
          <a:p>
            <a:r>
              <a:rPr lang="en-US"/>
              <a:t> </a:t>
            </a:r>
          </a:p>
          <a:p>
            <a:r>
              <a:rPr lang="en-US"/>
              <a:t>So this will be dimension one, two, and three. If you say zero, it means everything. So for this 3D array where I'm partitioning on dimension three, it's the same as getting four new arrays that are 10 by six. And that's how the memory's going to look at in the hardware. If you partition it on dimension one, you're going to get 10 different memory that are six by four. And if you partition on zero, you're going to get 240 individual registers. So depending on where you put your partitioning is, yes, your memory bandwidth will go up, but also your resources will also go up. Any questions on this?</a:t>
            </a:r>
          </a:p>
          <a:p>
            <a:r>
              <a:rPr lang="en-US"/>
              <a:t> </a:t>
            </a:r>
          </a:p>
          <a:p>
            <a:r>
              <a:rPr lang="en-US" b="1"/>
              <a:t>Author's Original Notes:</a:t>
            </a:r>
          </a:p>
          <a:p>
            <a:r>
              <a:rPr lang="en-US"/>
              <a:t> </a:t>
            </a:r>
          </a:p>
          <a:p>
            <a:r>
              <a:rPr lang="en-US"/>
              <a:t> </a:t>
            </a:r>
          </a:p>
          <a:p>
            <a:r>
              <a:rPr lang="en-US"/>
              <a:t> </a:t>
            </a:r>
          </a:p>
        </p:txBody>
      </p:sp>
    </p:spTree>
    <p:extLst>
      <p:ext uri="{BB962C8B-B14F-4D97-AF65-F5344CB8AC3E}">
        <p14:creationId xmlns:p14="http://schemas.microsoft.com/office/powerpoint/2010/main" val="2277965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76803" name="Rectangle 3"/>
          <p:cNvSpPr>
            <a:spLocks noGrp="1" noChangeArrowheads="1"/>
          </p:cNvSpPr>
          <p:nvPr>
            <p:ph type="body" idx="1"/>
          </p:nvPr>
        </p:nvSpPr>
        <p:spPr>
          <a:solidFill>
            <a:srgbClr val="FFFFFF"/>
          </a:solidFill>
          <a:ln>
            <a:solidFill>
              <a:srgbClr val="000000"/>
            </a:solidFill>
          </a:ln>
        </p:spPr>
        <p:txBody>
          <a:bodyPr/>
          <a:lstStyle/>
          <a:p>
            <a:r>
              <a:rPr lang="en-US" b="1"/>
              <a:t>Transcript:</a:t>
            </a:r>
          </a:p>
          <a:p>
            <a:r>
              <a:rPr lang="en-US"/>
              <a:t> </a:t>
            </a:r>
          </a:p>
          <a:p>
            <a:r>
              <a:rPr lang="en-US"/>
              <a:t>So this will be dimension one, two, and three. If you say zero, it means everything. So for this 3D array where I'm partitioning on dimension three, it's the same as getting four new arrays that are 10 by six. And that's how the memory's going to look at in the hardware. If you partition it on dimension one, you're going to get 10 different memory that are six by four. And if you partition on zero, you're going to get 240 individual registers. So depending on where you put your partitioning is, yes, your memory bandwidth will go up, but also your resources will also go up. Any questions on this?</a:t>
            </a:r>
          </a:p>
          <a:p>
            <a:r>
              <a:rPr lang="en-US"/>
              <a:t> </a:t>
            </a:r>
          </a:p>
          <a:p>
            <a:r>
              <a:rPr lang="en-US" b="1"/>
              <a:t>Author's Original Notes:</a:t>
            </a:r>
          </a:p>
          <a:p>
            <a:r>
              <a:rPr lang="en-US"/>
              <a:t> </a:t>
            </a:r>
          </a:p>
          <a:p>
            <a:r>
              <a:rPr lang="en-US"/>
              <a:t> </a:t>
            </a:r>
          </a:p>
          <a:p>
            <a:r>
              <a:rPr lang="en-US"/>
              <a:t> </a:t>
            </a:r>
          </a:p>
        </p:txBody>
      </p:sp>
    </p:spTree>
    <p:extLst>
      <p:ext uri="{BB962C8B-B14F-4D97-AF65-F5344CB8AC3E}">
        <p14:creationId xmlns:p14="http://schemas.microsoft.com/office/powerpoint/2010/main" val="2816495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solidFill>
                  <a:prstClr val="black"/>
                </a:solidFill>
              </a:rPr>
              <a:pPr>
                <a:defRPr/>
              </a:pPr>
              <a:t>77</a:t>
            </a:fld>
            <a:endParaRPr lang="en-US" dirty="0">
              <a:solidFill>
                <a:prstClr val="black"/>
              </a:solidFill>
            </a:endParaRPr>
          </a:p>
        </p:txBody>
      </p:sp>
    </p:spTree>
    <p:extLst>
      <p:ext uri="{BB962C8B-B14F-4D97-AF65-F5344CB8AC3E}">
        <p14:creationId xmlns:p14="http://schemas.microsoft.com/office/powerpoint/2010/main" val="2561898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solidFill>
                  <a:prstClr val="black"/>
                </a:solidFill>
              </a:rPr>
              <a:pPr>
                <a:defRPr/>
              </a:pPr>
              <a:t>78</a:t>
            </a:fld>
            <a:endParaRPr lang="en-US" dirty="0">
              <a:solidFill>
                <a:prstClr val="black"/>
              </a:solidFill>
            </a:endParaRPr>
          </a:p>
        </p:txBody>
      </p:sp>
    </p:spTree>
    <p:extLst>
      <p:ext uri="{BB962C8B-B14F-4D97-AF65-F5344CB8AC3E}">
        <p14:creationId xmlns:p14="http://schemas.microsoft.com/office/powerpoint/2010/main" val="1825566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lvl1pPr>
              <a:defRPr>
                <a:solidFill>
                  <a:schemeClr val="tx1"/>
                </a:solidFill>
              </a:defRPr>
            </a:lvl1p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1A8B06E9-672B-49AA-8789-D576D5680872}"/>
              </a:ext>
            </a:extLst>
          </p:cNvPr>
          <p:cNvSpPr>
            <a:spLocks noGrp="1"/>
          </p:cNvSpPr>
          <p:nvPr>
            <p:ph type="sldNum" sz="quarter" idx="4"/>
          </p:nvPr>
        </p:nvSpPr>
        <p:spPr>
          <a:xfrm>
            <a:off x="586646" y="6363709"/>
            <a:ext cx="975360" cy="365125"/>
          </a:xfrm>
          <a:prstGeom prst="rect">
            <a:avLst/>
          </a:prstGeom>
        </p:spPr>
        <p:txBody>
          <a:bodyPr vert="horz" lIns="91440" tIns="45720" rIns="91440" bIns="45720" rtlCol="0" anchor="b"/>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7" name="Slide Number Placeholder 4">
            <a:extLst>
              <a:ext uri="{FF2B5EF4-FFF2-40B4-BE49-F238E27FC236}">
                <a16:creationId xmlns:a16="http://schemas.microsoft.com/office/drawing/2014/main" id="{1E052772-3EFC-D34C-AA1A-1135DE3C5541}"/>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4">
            <a:extLst>
              <a:ext uri="{FF2B5EF4-FFF2-40B4-BE49-F238E27FC236}">
                <a16:creationId xmlns:a16="http://schemas.microsoft.com/office/drawing/2014/main" id="{5B8CD8B4-2837-BA4D-9DA4-67F8481F164B}"/>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Improving Performance 13- </a:t>
            </a:r>
            <a:fld id="{99D29FBF-A473-46DA-BC14-675AC1C8F9A5}" type="slidenum">
              <a:rPr lang="en-US" smtClean="0"/>
              <a:pPr>
                <a:defRPr/>
              </a:pPr>
              <a:t>‹#›</a:t>
            </a:fld>
            <a:endParaRPr lang="en-US" dirty="0"/>
          </a:p>
        </p:txBody>
      </p:sp>
    </p:spTree>
    <p:extLst>
      <p:ext uri="{BB962C8B-B14F-4D97-AF65-F5344CB8AC3E}">
        <p14:creationId xmlns:p14="http://schemas.microsoft.com/office/powerpoint/2010/main" val="382307795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wo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21793" y="1463042"/>
            <a:ext cx="5181600" cy="4835843"/>
          </a:xfrm>
        </p:spPr>
        <p:txBody>
          <a:bodyPr/>
          <a:lstStyle>
            <a:lvl1pPr>
              <a:defRPr sz="1799">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5955793" y="1463042"/>
            <a:ext cx="5181600" cy="4835843"/>
          </a:xfrm>
        </p:spPr>
        <p:txBody>
          <a:bodyPr/>
          <a:lstStyle>
            <a:lvl1pPr>
              <a:defRPr sz="1799">
                <a:solidFill>
                  <a:schemeClr val="tx1"/>
                </a:solidFill>
              </a:defRPr>
            </a:lvl1pPr>
            <a:lvl2pPr>
              <a:defRPr sz="1600">
                <a:solidFill>
                  <a:schemeClr val="tx1"/>
                </a:solidFill>
              </a:defRPr>
            </a:lvl2pPr>
            <a:lvl3pPr>
              <a:defRPr sz="1799">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Improving Performance 13- </a:t>
            </a:r>
            <a:fld id="{99D29FBF-A473-46DA-BC14-675AC1C8F9A5}" type="slidenum">
              <a:rPr lang="en-US" smtClean="0"/>
              <a:pPr>
                <a:defRPr/>
              </a:pPr>
              <a:t>‹#›</a:t>
            </a:fld>
            <a:endParaRPr lang="en-US" dirty="0"/>
          </a:p>
        </p:txBody>
      </p:sp>
    </p:spTree>
    <p:extLst>
      <p:ext uri="{BB962C8B-B14F-4D97-AF65-F5344CB8AC3E}">
        <p14:creationId xmlns:p14="http://schemas.microsoft.com/office/powerpoint/2010/main" val="151746388"/>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Only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p:txBody>
          <a:bodyPr/>
          <a:lstStyle/>
          <a:p>
            <a:pPr>
              <a:defRPr/>
            </a:pPr>
            <a:r>
              <a:rPr lang="en-US"/>
              <a:t>Improving Performance 13- </a:t>
            </a:r>
            <a:fld id="{99D29FBF-A473-46DA-BC14-675AC1C8F9A5}" type="slidenum">
              <a:rPr lang="en-US" smtClean="0"/>
              <a:pPr>
                <a:defRPr/>
              </a:pPr>
              <a:t>‹#›</a:t>
            </a:fld>
            <a:endParaRPr lang="en-US" dirty="0"/>
          </a:p>
        </p:txBody>
      </p:sp>
    </p:spTree>
    <p:extLst>
      <p:ext uri="{BB962C8B-B14F-4D97-AF65-F5344CB8AC3E}">
        <p14:creationId xmlns:p14="http://schemas.microsoft.com/office/powerpoint/2010/main" val="111949538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5" name="Slide Number Placeholder 4"/>
          <p:cNvSpPr>
            <a:spLocks noGrp="1"/>
          </p:cNvSpPr>
          <p:nvPr>
            <p:ph type="sldNum" sz="quarter" idx="4"/>
          </p:nvPr>
        </p:nvSpPr>
        <p:spPr>
          <a:xfrm>
            <a:off x="579121" y="6325606"/>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4"/>
          <a:stretch>
            <a:fillRect/>
          </a:stretch>
        </p:blipFill>
        <p:spPr>
          <a:xfrm>
            <a:off x="11028823" y="6279370"/>
            <a:ext cx="576531" cy="357077"/>
          </a:xfrm>
          <a:prstGeom prst="rect">
            <a:avLst/>
          </a:prstGeom>
        </p:spPr>
      </p:pic>
      <p:sp>
        <p:nvSpPr>
          <p:cNvPr id="6" name="fc" descr="&#10;© Copyright 2022 AMD">
            <a:extLst>
              <a:ext uri="{FF2B5EF4-FFF2-40B4-BE49-F238E27FC236}">
                <a16:creationId xmlns:a16="http://schemas.microsoft.com/office/drawing/2014/main" id="{9E9819E1-20BF-4550-BCF2-20288C965EA4}"/>
              </a:ext>
            </a:extLst>
          </p:cNvPr>
          <p:cNvSpPr txBox="1"/>
          <p:nvPr userDrawn="1"/>
        </p:nvSpPr>
        <p:spPr>
          <a:xfrm>
            <a:off x="0" y="6512560"/>
            <a:ext cx="12192000" cy="377026"/>
          </a:xfrm>
          <a:prstGeom prst="rect">
            <a:avLst/>
          </a:prstGeom>
          <a:noFill/>
        </p:spPr>
        <p:txBody>
          <a:bodyPr vert="horz" rtlCol="0">
            <a:spAutoFit/>
          </a:bodyPr>
          <a:lstStyle/>
          <a:p>
            <a:pPr algn="ctr"/>
            <a:endParaRPr lang="en-US" sz="850" b="0" i="0" u="none" baseline="0">
              <a:solidFill>
                <a:srgbClr val="000000"/>
              </a:solidFill>
              <a:latin typeface="Microsoft Sans Serif" panose="020B0604020202020204" pitchFamily="34" charset="0"/>
            </a:endParaRPr>
          </a:p>
          <a:p>
            <a:pPr algn="ctr"/>
            <a:r>
              <a:rPr lang="en-US" sz="1000" b="0" i="0" u="none" baseline="0">
                <a:solidFill>
                  <a:srgbClr val="000000"/>
                </a:solidFill>
                <a:latin typeface="Arial" panose="020B0604020202020204" pitchFamily="34" charset="0"/>
              </a:rPr>
              <a:t>© Copyright 2022 AMD</a:t>
            </a:r>
          </a:p>
        </p:txBody>
      </p:sp>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8" r:id="rId10"/>
    <p:sldLayoutId id="2147483989" r:id="rId11"/>
    <p:sldLayoutId id="214748399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0.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0.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49.png"/><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5.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0.xml"/><Relationship Id="rId4" Type="http://schemas.openxmlformats.org/officeDocument/2006/relationships/image" Target="../media/image73.png"/></Relationships>
</file>

<file path=ppt/slides/_rels/slide6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4.png"/><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5.png"/><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2.png"/><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05BA-2C7D-4921-982A-84A30B5EE55B}"/>
              </a:ext>
            </a:extLst>
          </p:cNvPr>
          <p:cNvSpPr>
            <a:spLocks noGrp="1"/>
          </p:cNvSpPr>
          <p:nvPr>
            <p:ph type="title"/>
          </p:nvPr>
        </p:nvSpPr>
        <p:spPr/>
        <p:txBody>
          <a:bodyPr/>
          <a:lstStyle/>
          <a:p>
            <a:r>
              <a:rPr lang="en-US" altLang="zh-CN" dirty="0">
                <a:ea typeface="SimSun" pitchFamily="2" charset="-122"/>
              </a:rPr>
              <a:t>Improving Performance</a:t>
            </a:r>
            <a:endParaRPr lang="zh-CN" altLang="en-US" dirty="0"/>
          </a:p>
        </p:txBody>
      </p:sp>
      <p:sp>
        <p:nvSpPr>
          <p:cNvPr id="4" name="Subtitle 3">
            <a:extLst>
              <a:ext uri="{FF2B5EF4-FFF2-40B4-BE49-F238E27FC236}">
                <a16:creationId xmlns:a16="http://schemas.microsoft.com/office/drawing/2014/main" id="{7F7F1FE8-F7DE-4816-854E-F163AD6A1C9B}"/>
              </a:ext>
            </a:extLst>
          </p:cNvPr>
          <p:cNvSpPr>
            <a:spLocks noGrp="1"/>
          </p:cNvSpPr>
          <p:nvPr>
            <p:ph type="subTitle" idx="1"/>
          </p:nvPr>
        </p:nvSpPr>
        <p:spPr>
          <a:xfrm>
            <a:off x="579121" y="4490866"/>
            <a:ext cx="7417990" cy="400110"/>
          </a:xfrm>
        </p:spPr>
        <p:txBody>
          <a:bodyPr/>
          <a:lstStyle/>
          <a:p>
            <a:r>
              <a:rPr lang="en-US" dirty="0"/>
              <a:t>XUP</a:t>
            </a:r>
          </a:p>
        </p:txBody>
      </p:sp>
    </p:spTree>
    <p:extLst>
      <p:ext uri="{BB962C8B-B14F-4D97-AF65-F5344CB8AC3E}">
        <p14:creationId xmlns:p14="http://schemas.microsoft.com/office/powerpoint/2010/main" val="117603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module, you will be able to:</a:t>
            </a:r>
          </a:p>
          <a:p>
            <a:pPr>
              <a:lnSpc>
                <a:spcPts val="1000"/>
              </a:lnSpc>
              <a:buNone/>
            </a:pPr>
            <a:endParaRPr lang="en-US" altLang="zh-CN" dirty="0">
              <a:solidFill>
                <a:schemeClr val="tx1"/>
              </a:solidFill>
            </a:endParaRPr>
          </a:p>
          <a:p>
            <a:pPr lvl="1"/>
            <a:r>
              <a:rPr lang="en-US" dirty="0"/>
              <a:t>Add directives to your design</a:t>
            </a:r>
          </a:p>
          <a:p>
            <a:pPr lvl="1"/>
            <a:r>
              <a:rPr lang="en-US" dirty="0"/>
              <a:t>List number of ways to improve performance</a:t>
            </a:r>
          </a:p>
          <a:p>
            <a:pPr lvl="1"/>
            <a:r>
              <a:rPr lang="en-US" dirty="0"/>
              <a:t>State directives which are useful to improve latency</a:t>
            </a:r>
          </a:p>
          <a:p>
            <a:pPr lvl="1"/>
            <a:r>
              <a:rPr lang="en-US" dirty="0"/>
              <a:t>Describe how loops may be handled to improve latency </a:t>
            </a:r>
          </a:p>
          <a:p>
            <a:pPr lvl="1"/>
            <a:r>
              <a:rPr lang="en-US" dirty="0"/>
              <a:t>Recognize the dataflow technique that improves throughput of the design</a:t>
            </a:r>
          </a:p>
          <a:p>
            <a:pPr lvl="1"/>
            <a:r>
              <a:rPr lang="en-US" dirty="0"/>
              <a:t>Describe the pipelining technique that improves throughput of the design</a:t>
            </a:r>
          </a:p>
          <a:p>
            <a:pPr lvl="1"/>
            <a:r>
              <a:rPr lang="en-US" dirty="0"/>
              <a:t>Identify some of the bottlenecks that impact design performance </a:t>
            </a:r>
          </a:p>
          <a:p>
            <a:pPr marL="342900" lvl="1" indent="0">
              <a:buNone/>
            </a:pPr>
            <a:endParaRPr lang="en-US" dirty="0"/>
          </a:p>
        </p:txBody>
      </p:sp>
      <p:sp>
        <p:nvSpPr>
          <p:cNvPr id="10" name="Slide Number Placeholder 9"/>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15AE4-26A5-4D36-BE22-974DBF9D5B46}"/>
              </a:ext>
            </a:extLst>
          </p:cNvPr>
          <p:cNvSpPr>
            <a:spLocks noGrp="1"/>
          </p:cNvSpPr>
          <p:nvPr>
            <p:ph type="title"/>
          </p:nvPr>
        </p:nvSpPr>
        <p:spPr/>
        <p:txBody>
          <a:bodyPr/>
          <a:lstStyle/>
          <a:p>
            <a:r>
              <a:rPr lang="en-US" altLang="zh-CN" dirty="0"/>
              <a:t>Outline</a:t>
            </a:r>
            <a:endParaRPr lang="zh-CN" altLang="en-US" dirty="0"/>
          </a:p>
        </p:txBody>
      </p:sp>
      <p:sp>
        <p:nvSpPr>
          <p:cNvPr id="3" name="Content Placeholder 2">
            <a:extLst>
              <a:ext uri="{FF2B5EF4-FFF2-40B4-BE49-F238E27FC236}">
                <a16:creationId xmlns:a16="http://schemas.microsoft.com/office/drawing/2014/main" id="{5A7FD927-CD91-4D30-8F60-DEE5EDFF693F}"/>
              </a:ext>
            </a:extLst>
          </p:cNvPr>
          <p:cNvSpPr>
            <a:spLocks noGrp="1"/>
          </p:cNvSpPr>
          <p:nvPr>
            <p:ph idx="1"/>
          </p:nvPr>
        </p:nvSpPr>
        <p:spPr/>
        <p:txBody>
          <a:bodyPr/>
          <a:lstStyle/>
          <a:p>
            <a:r>
              <a:rPr lang="en-US" altLang="zh-CN" i="1" dirty="0"/>
              <a:t>Adding Directives</a:t>
            </a:r>
          </a:p>
          <a:p>
            <a:r>
              <a:rPr lang="en-US" altLang="zh-CN" dirty="0"/>
              <a:t>Improving </a:t>
            </a:r>
            <a:r>
              <a:rPr lang="en-US" altLang="zh-CN" dirty="0" err="1"/>
              <a:t>Latency</a:t>
            </a:r>
            <a:r>
              <a:rPr lang="en-US" altLang="zh-CN" dirty="0" err="1">
                <a:solidFill>
                  <a:srgbClr val="FFFFFF"/>
                </a:solidFill>
              </a:rPr>
              <a:t>Manipulating</a:t>
            </a:r>
            <a:r>
              <a:rPr lang="en-US" altLang="zh-CN" dirty="0">
                <a:solidFill>
                  <a:srgbClr val="FFFFFF"/>
                </a:solidFill>
              </a:rPr>
              <a:t> Loops </a:t>
            </a:r>
          </a:p>
          <a:p>
            <a:r>
              <a:rPr lang="en-US" altLang="zh-CN" dirty="0"/>
              <a:t>Improving Throughput</a:t>
            </a:r>
          </a:p>
          <a:p>
            <a:r>
              <a:rPr lang="en-US" altLang="zh-CN" dirty="0"/>
              <a:t>Performance Bottleneck</a:t>
            </a:r>
          </a:p>
          <a:p>
            <a:r>
              <a:rPr lang="en-US" altLang="zh-CN" dirty="0"/>
              <a:t>Summary</a:t>
            </a:r>
            <a:endParaRPr lang="zh-CN" altLang="en-US" dirty="0"/>
          </a:p>
        </p:txBody>
      </p:sp>
    </p:spTree>
    <p:extLst>
      <p:ext uri="{BB962C8B-B14F-4D97-AF65-F5344CB8AC3E}">
        <p14:creationId xmlns:p14="http://schemas.microsoft.com/office/powerpoint/2010/main" val="2592561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Performance</a:t>
            </a:r>
          </a:p>
        </p:txBody>
      </p:sp>
      <p:sp>
        <p:nvSpPr>
          <p:cNvPr id="3" name="Content Placeholder 2"/>
          <p:cNvSpPr>
            <a:spLocks noGrp="1"/>
          </p:cNvSpPr>
          <p:nvPr>
            <p:ph idx="1"/>
          </p:nvPr>
        </p:nvSpPr>
        <p:spPr/>
        <p:txBody>
          <a:bodyPr/>
          <a:lstStyle/>
          <a:p>
            <a:r>
              <a:rPr lang="en-US" dirty="0"/>
              <a:t>Vitis HLS has a number of ways to improve performance</a:t>
            </a:r>
          </a:p>
          <a:p>
            <a:pPr lvl="1"/>
            <a:r>
              <a:rPr lang="en-US" dirty="0"/>
              <a:t>Automatic (and default) optimizations</a:t>
            </a:r>
          </a:p>
          <a:p>
            <a:pPr lvl="1"/>
            <a:r>
              <a:rPr lang="en-US" dirty="0"/>
              <a:t>Latency directives</a:t>
            </a:r>
          </a:p>
          <a:p>
            <a:pPr lvl="1"/>
            <a:r>
              <a:rPr lang="en-US" dirty="0"/>
              <a:t>Pipelining to allow concurrent operations</a:t>
            </a:r>
          </a:p>
          <a:p>
            <a:r>
              <a:rPr lang="en-US" dirty="0"/>
              <a:t>Vitis HLS support techniques to remove performance bottlenecks</a:t>
            </a:r>
          </a:p>
          <a:p>
            <a:pPr lvl="1"/>
            <a:r>
              <a:rPr lang="en-US" dirty="0"/>
              <a:t>Manipulating loops</a:t>
            </a:r>
          </a:p>
          <a:p>
            <a:pPr lvl="1"/>
            <a:r>
              <a:rPr lang="en-US" dirty="0"/>
              <a:t>Partitioning and reshaping arrays</a:t>
            </a:r>
          </a:p>
          <a:p>
            <a:r>
              <a:rPr lang="en-US" dirty="0"/>
              <a:t>Optimizations are performed using directives</a:t>
            </a:r>
          </a:p>
          <a:p>
            <a:pPr lvl="1"/>
            <a:r>
              <a:rPr lang="en-US" dirty="0"/>
              <a:t>Let’s look first at how to apply and use directives </a:t>
            </a:r>
            <a:r>
              <a:rPr lang="en-US"/>
              <a:t>in Vitis </a:t>
            </a:r>
            <a:r>
              <a:rPr lang="en-US" dirty="0"/>
              <a:t>HLS</a:t>
            </a:r>
          </a:p>
        </p:txBody>
      </p:sp>
      <p:sp>
        <p:nvSpPr>
          <p:cNvPr id="6" name="Slide Number Placeholder 5"/>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FFE5E60F-B668-462E-B5BD-D3C372B89356}"/>
              </a:ext>
            </a:extLst>
          </p:cNvPr>
          <p:cNvPicPr>
            <a:picLocks noChangeAspect="1"/>
          </p:cNvPicPr>
          <p:nvPr/>
        </p:nvPicPr>
        <p:blipFill>
          <a:blip r:embed="rId2"/>
          <a:stretch>
            <a:fillRect/>
          </a:stretch>
        </p:blipFill>
        <p:spPr>
          <a:xfrm>
            <a:off x="5285599" y="3402089"/>
            <a:ext cx="5290260" cy="2786847"/>
          </a:xfrm>
          <a:prstGeom prst="rect">
            <a:avLst/>
          </a:prstGeom>
        </p:spPr>
      </p:pic>
      <p:sp>
        <p:nvSpPr>
          <p:cNvPr id="2" name="Title 1"/>
          <p:cNvSpPr>
            <a:spLocks noGrp="1"/>
          </p:cNvSpPr>
          <p:nvPr>
            <p:ph type="title"/>
          </p:nvPr>
        </p:nvSpPr>
        <p:spPr/>
        <p:txBody>
          <a:bodyPr/>
          <a:lstStyle/>
          <a:p>
            <a:r>
              <a:rPr lang="en-US" dirty="0"/>
              <a:t>Applying Directives</a:t>
            </a:r>
          </a:p>
        </p:txBody>
      </p:sp>
      <p:sp>
        <p:nvSpPr>
          <p:cNvPr id="3" name="Content Placeholder 2"/>
          <p:cNvSpPr>
            <a:spLocks noGrp="1"/>
          </p:cNvSpPr>
          <p:nvPr>
            <p:ph sz="half" idx="1"/>
          </p:nvPr>
        </p:nvSpPr>
        <p:spPr>
          <a:xfrm>
            <a:off x="579119" y="1029935"/>
            <a:ext cx="5181600" cy="4835843"/>
          </a:xfrm>
        </p:spPr>
        <p:txBody>
          <a:bodyPr/>
          <a:lstStyle/>
          <a:p>
            <a:r>
              <a:rPr lang="en-US" dirty="0"/>
              <a:t>If the source code is open in the GUI Information pane</a:t>
            </a:r>
          </a:p>
          <a:p>
            <a:pPr lvl="1"/>
            <a:r>
              <a:rPr lang="en-US" dirty="0"/>
              <a:t>The Directive tab in the Auxiliary pane shows all the locations and objects upon which directives can be applied (in the opened C file, not the whole design)</a:t>
            </a:r>
          </a:p>
          <a:p>
            <a:pPr lvl="2"/>
            <a:r>
              <a:rPr lang="en-US" dirty="0"/>
              <a:t>Functions, Loops, Regions, Arrays, Top-level arguments</a:t>
            </a:r>
          </a:p>
          <a:p>
            <a:pPr lvl="1"/>
            <a:r>
              <a:rPr lang="en-US" dirty="0"/>
              <a:t>Select the object in the Directive Tab</a:t>
            </a:r>
          </a:p>
          <a:p>
            <a:pPr lvl="2"/>
            <a:r>
              <a:rPr lang="en-US" dirty="0"/>
              <a:t>“</a:t>
            </a:r>
            <a:r>
              <a:rPr lang="en-US" dirty="0" err="1"/>
              <a:t>dct</a:t>
            </a:r>
            <a:r>
              <a:rPr lang="en-US" dirty="0"/>
              <a:t>” function is selected</a:t>
            </a:r>
          </a:p>
          <a:p>
            <a:pPr lvl="1"/>
            <a:r>
              <a:rPr lang="en-US" dirty="0"/>
              <a:t>Right-click to open the editor dialog box</a:t>
            </a:r>
          </a:p>
          <a:p>
            <a:pPr lvl="1"/>
            <a:r>
              <a:rPr lang="en-US" dirty="0"/>
              <a:t>Select a desired directive from the drop-</a:t>
            </a:r>
            <a:br>
              <a:rPr lang="en-US" dirty="0"/>
            </a:br>
            <a:r>
              <a:rPr lang="en-US" dirty="0"/>
              <a:t>down menu</a:t>
            </a:r>
          </a:p>
          <a:p>
            <a:pPr lvl="2"/>
            <a:r>
              <a:rPr lang="en-US" dirty="0"/>
              <a:t>“DATAFLOW” is selected</a:t>
            </a:r>
          </a:p>
          <a:p>
            <a:pPr lvl="1"/>
            <a:r>
              <a:rPr lang="en-US" dirty="0"/>
              <a:t>Specify the Destination</a:t>
            </a:r>
          </a:p>
          <a:p>
            <a:pPr lvl="2"/>
            <a:r>
              <a:rPr lang="en-US" dirty="0"/>
              <a:t>Source File</a:t>
            </a:r>
          </a:p>
          <a:p>
            <a:pPr lvl="2"/>
            <a:r>
              <a:rPr lang="en-US" dirty="0"/>
              <a:t>Directive File</a:t>
            </a:r>
          </a:p>
        </p:txBody>
      </p:sp>
      <p:sp>
        <p:nvSpPr>
          <p:cNvPr id="16" name="Slide Number Placeholder 15"/>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5</a:t>
            </a:fld>
            <a:endParaRPr lang="en-US" dirty="0"/>
          </a:p>
        </p:txBody>
      </p:sp>
      <p:sp>
        <p:nvSpPr>
          <p:cNvPr id="7" name="矩形 6">
            <a:extLst>
              <a:ext uri="{FF2B5EF4-FFF2-40B4-BE49-F238E27FC236}">
                <a16:creationId xmlns:a16="http://schemas.microsoft.com/office/drawing/2014/main" id="{0023005D-7055-4742-A72C-63422E93B302}"/>
              </a:ext>
            </a:extLst>
          </p:cNvPr>
          <p:cNvSpPr/>
          <p:nvPr/>
        </p:nvSpPr>
        <p:spPr>
          <a:xfrm>
            <a:off x="5416256" y="3976021"/>
            <a:ext cx="292531" cy="8754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09B96E1D-BBD1-4FDC-BE5F-01AB3DBB40E6}"/>
              </a:ext>
            </a:extLst>
          </p:cNvPr>
          <p:cNvSpPr/>
          <p:nvPr/>
        </p:nvSpPr>
        <p:spPr>
          <a:xfrm>
            <a:off x="7095899" y="3564217"/>
            <a:ext cx="292531" cy="8754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7E87DAC5-1834-482F-8247-C2C3D2604109}"/>
              </a:ext>
            </a:extLst>
          </p:cNvPr>
          <p:cNvSpPr/>
          <p:nvPr/>
        </p:nvSpPr>
        <p:spPr>
          <a:xfrm>
            <a:off x="9985012" y="3564217"/>
            <a:ext cx="378426" cy="8754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箭头: 右 14">
            <a:extLst>
              <a:ext uri="{FF2B5EF4-FFF2-40B4-BE49-F238E27FC236}">
                <a16:creationId xmlns:a16="http://schemas.microsoft.com/office/drawing/2014/main" id="{D8A284C4-7023-48F6-9FF6-9656C6F09106}"/>
              </a:ext>
            </a:extLst>
          </p:cNvPr>
          <p:cNvSpPr/>
          <p:nvPr/>
        </p:nvSpPr>
        <p:spPr>
          <a:xfrm>
            <a:off x="10264431" y="4951379"/>
            <a:ext cx="499763" cy="204281"/>
          </a:xfrm>
          <a:prstGeom prst="rightArrow">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图片 17">
            <a:extLst>
              <a:ext uri="{FF2B5EF4-FFF2-40B4-BE49-F238E27FC236}">
                <a16:creationId xmlns:a16="http://schemas.microsoft.com/office/drawing/2014/main" id="{7C2FF14A-E49E-43DF-B100-A9D17058605C}"/>
              </a:ext>
            </a:extLst>
          </p:cNvPr>
          <p:cNvPicPr>
            <a:picLocks noChangeAspect="1"/>
          </p:cNvPicPr>
          <p:nvPr/>
        </p:nvPicPr>
        <p:blipFill>
          <a:blip r:embed="rId3"/>
          <a:stretch>
            <a:fillRect/>
          </a:stretch>
        </p:blipFill>
        <p:spPr>
          <a:xfrm>
            <a:off x="10801212" y="4036978"/>
            <a:ext cx="1284173" cy="1828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Directives</a:t>
            </a:r>
          </a:p>
        </p:txBody>
      </p:sp>
      <p:sp>
        <p:nvSpPr>
          <p:cNvPr id="3" name="Content Placeholder 2"/>
          <p:cNvSpPr>
            <a:spLocks noGrp="1"/>
          </p:cNvSpPr>
          <p:nvPr>
            <p:ph sz="half" idx="1"/>
          </p:nvPr>
        </p:nvSpPr>
        <p:spPr/>
        <p:txBody>
          <a:bodyPr/>
          <a:lstStyle/>
          <a:p>
            <a:r>
              <a:rPr lang="en-US" dirty="0"/>
              <a:t>If the source code is open in the GUI Information pane</a:t>
            </a:r>
          </a:p>
          <a:p>
            <a:pPr lvl="1"/>
            <a:r>
              <a:rPr lang="en-US" dirty="0"/>
              <a:t>The Directive tab in the Auxiliary pane shows all the locations and objects upon which directives can be applied (in the opened C file, not the whole design)</a:t>
            </a:r>
          </a:p>
          <a:p>
            <a:pPr lvl="2"/>
            <a:r>
              <a:rPr lang="en-US" dirty="0"/>
              <a:t>Functions, Loops, Regions, Arrays, Top-level arguments</a:t>
            </a:r>
          </a:p>
          <a:p>
            <a:pPr lvl="1"/>
            <a:r>
              <a:rPr lang="en-US" dirty="0"/>
              <a:t>Select the object in the Directive Tab</a:t>
            </a:r>
          </a:p>
          <a:p>
            <a:pPr lvl="2"/>
            <a:r>
              <a:rPr lang="en-US" dirty="0"/>
              <a:t>“</a:t>
            </a:r>
            <a:r>
              <a:rPr lang="en-US" dirty="0" err="1"/>
              <a:t>dct</a:t>
            </a:r>
            <a:r>
              <a:rPr lang="en-US" dirty="0"/>
              <a:t>” function is selected</a:t>
            </a:r>
          </a:p>
          <a:p>
            <a:pPr lvl="1"/>
            <a:r>
              <a:rPr lang="en-US" dirty="0"/>
              <a:t>Right-click to open the editor dialog box</a:t>
            </a:r>
          </a:p>
          <a:p>
            <a:pPr lvl="1"/>
            <a:r>
              <a:rPr lang="en-US" dirty="0"/>
              <a:t>Select a desired directive from the drop-</a:t>
            </a:r>
            <a:br>
              <a:rPr lang="en-US" dirty="0"/>
            </a:br>
            <a:r>
              <a:rPr lang="en-US" dirty="0"/>
              <a:t>down menu</a:t>
            </a:r>
          </a:p>
          <a:p>
            <a:pPr lvl="2"/>
            <a:r>
              <a:rPr lang="en-US" dirty="0"/>
              <a:t>“DATAFLOW” is selected</a:t>
            </a:r>
          </a:p>
          <a:p>
            <a:pPr lvl="1"/>
            <a:r>
              <a:rPr lang="en-US" dirty="0"/>
              <a:t>Specify the Destination</a:t>
            </a:r>
          </a:p>
          <a:p>
            <a:pPr lvl="2"/>
            <a:r>
              <a:rPr lang="en-US" dirty="0"/>
              <a:t>Source File</a:t>
            </a:r>
          </a:p>
          <a:p>
            <a:pPr lvl="2"/>
            <a:r>
              <a:rPr lang="en-US" dirty="0"/>
              <a:t>Directive File</a:t>
            </a:r>
          </a:p>
        </p:txBody>
      </p:sp>
      <p:sp>
        <p:nvSpPr>
          <p:cNvPr id="16" name="Slide Number Placeholder 15"/>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6</a:t>
            </a:fld>
            <a:endParaRPr lang="en-US" dirty="0"/>
          </a:p>
        </p:txBody>
      </p:sp>
      <p:pic>
        <p:nvPicPr>
          <p:cNvPr id="5" name="Picture 4">
            <a:extLst>
              <a:ext uri="{FF2B5EF4-FFF2-40B4-BE49-F238E27FC236}">
                <a16:creationId xmlns:a16="http://schemas.microsoft.com/office/drawing/2014/main" id="{5B94D61A-C714-4F42-ACE9-7B7CBD0DD4AB}"/>
              </a:ext>
            </a:extLst>
          </p:cNvPr>
          <p:cNvPicPr>
            <a:picLocks noChangeAspect="1"/>
          </p:cNvPicPr>
          <p:nvPr/>
        </p:nvPicPr>
        <p:blipFill>
          <a:blip r:embed="rId2"/>
          <a:stretch>
            <a:fillRect/>
          </a:stretch>
        </p:blipFill>
        <p:spPr>
          <a:xfrm>
            <a:off x="5662439" y="2743200"/>
            <a:ext cx="6599537" cy="3183506"/>
          </a:xfrm>
          <a:prstGeom prst="rect">
            <a:avLst/>
          </a:prstGeom>
        </p:spPr>
      </p:pic>
    </p:spTree>
    <p:extLst>
      <p:ext uri="{BB962C8B-B14F-4D97-AF65-F5344CB8AC3E}">
        <p14:creationId xmlns:p14="http://schemas.microsoft.com/office/powerpoint/2010/main" val="3065270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 Directives: Tcl or Pragma</a:t>
            </a:r>
          </a:p>
        </p:txBody>
      </p:sp>
      <p:sp>
        <p:nvSpPr>
          <p:cNvPr id="3" name="Content Placeholder 2"/>
          <p:cNvSpPr>
            <a:spLocks noGrp="1"/>
          </p:cNvSpPr>
          <p:nvPr>
            <p:ph idx="1"/>
          </p:nvPr>
        </p:nvSpPr>
        <p:spPr>
          <a:xfrm>
            <a:off x="579119" y="1095296"/>
            <a:ext cx="10515600" cy="4759404"/>
          </a:xfrm>
        </p:spPr>
        <p:txBody>
          <a:bodyPr>
            <a:normAutofit/>
          </a:bodyPr>
          <a:lstStyle/>
          <a:p>
            <a:r>
              <a:rPr lang="en-US" dirty="0"/>
              <a:t>Directives can be placed in the directives file</a:t>
            </a:r>
          </a:p>
          <a:p>
            <a:pPr lvl="1"/>
            <a:r>
              <a:rPr lang="en-US" dirty="0"/>
              <a:t>The Tcl command is written into directives.tcl</a:t>
            </a:r>
          </a:p>
          <a:p>
            <a:pPr lvl="1"/>
            <a:r>
              <a:rPr lang="en-US" dirty="0"/>
              <a:t>There is a directives.tcl file in each solution</a:t>
            </a:r>
          </a:p>
          <a:p>
            <a:pPr lvl="2"/>
            <a:r>
              <a:rPr lang="en-US" dirty="0"/>
              <a:t>Each solution can have different directives</a:t>
            </a:r>
            <a:endParaRPr lang="en-US" sz="2000" dirty="0"/>
          </a:p>
          <a:p>
            <a:pPr lvl="2"/>
            <a:endParaRPr lang="en-US" sz="1300" dirty="0"/>
          </a:p>
          <a:p>
            <a:pPr lvl="2"/>
            <a:endParaRPr lang="en-US" sz="1300" dirty="0"/>
          </a:p>
          <a:p>
            <a:pPr lvl="2"/>
            <a:endParaRPr lang="en-US" sz="1300" dirty="0"/>
          </a:p>
          <a:p>
            <a:r>
              <a:rPr lang="en-US" dirty="0"/>
              <a:t>Directives can be place into the C source</a:t>
            </a:r>
          </a:p>
          <a:p>
            <a:pPr lvl="1"/>
            <a:r>
              <a:rPr lang="en-US" dirty="0"/>
              <a:t>Pragmas are added (and will remain) in the C </a:t>
            </a:r>
            <a:br>
              <a:rPr lang="en-US" dirty="0"/>
            </a:br>
            <a:r>
              <a:rPr lang="en-US" dirty="0"/>
              <a:t>source file</a:t>
            </a:r>
          </a:p>
          <a:p>
            <a:pPr lvl="1"/>
            <a:r>
              <a:rPr lang="en-US" dirty="0" err="1"/>
              <a:t>Pragmas</a:t>
            </a:r>
            <a:r>
              <a:rPr lang="en-US" dirty="0"/>
              <a:t> (#</a:t>
            </a:r>
            <a:r>
              <a:rPr lang="en-US" dirty="0" err="1"/>
              <a:t>pragma</a:t>
            </a:r>
            <a:r>
              <a:rPr lang="en-US" dirty="0"/>
              <a:t>) will be used by every </a:t>
            </a:r>
            <a:br>
              <a:rPr lang="en-US" dirty="0"/>
            </a:br>
            <a:r>
              <a:rPr lang="en-US" dirty="0"/>
              <a:t>solution which uses the code</a:t>
            </a:r>
          </a:p>
        </p:txBody>
      </p:sp>
      <p:sp>
        <p:nvSpPr>
          <p:cNvPr id="25" name="Slide Number Placeholder 24"/>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7</a:t>
            </a:fld>
            <a:endParaRPr lang="en-US" dirty="0"/>
          </a:p>
        </p:txBody>
      </p:sp>
      <p:sp>
        <p:nvSpPr>
          <p:cNvPr id="10" name="TextBox 9"/>
          <p:cNvSpPr txBox="1"/>
          <p:nvPr/>
        </p:nvSpPr>
        <p:spPr>
          <a:xfrm>
            <a:off x="2535622" y="2902720"/>
            <a:ext cx="2326893" cy="577081"/>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050" b="1" dirty="0"/>
              <a:t>Once applied the directive will be shown in the Directives tab (right-click to modify or delete)</a:t>
            </a:r>
          </a:p>
        </p:txBody>
      </p:sp>
      <p:pic>
        <p:nvPicPr>
          <p:cNvPr id="3075" name="Picture 3"/>
          <p:cNvPicPr>
            <a:picLocks noChangeAspect="1" noChangeArrowheads="1"/>
          </p:cNvPicPr>
          <p:nvPr/>
        </p:nvPicPr>
        <p:blipFill>
          <a:blip r:embed="rId2"/>
          <a:srcRect/>
          <a:stretch>
            <a:fillRect/>
          </a:stretch>
        </p:blipFill>
        <p:spPr bwMode="auto">
          <a:xfrm>
            <a:off x="4862515" y="2960688"/>
            <a:ext cx="1801203" cy="468312"/>
          </a:xfrm>
          <a:prstGeom prst="rect">
            <a:avLst/>
          </a:prstGeom>
          <a:noFill/>
          <a:ln w="9525">
            <a:noFill/>
            <a:miter lim="800000"/>
            <a:headEnd/>
            <a:tailEnd/>
          </a:ln>
        </p:spPr>
      </p:pic>
      <p:pic>
        <p:nvPicPr>
          <p:cNvPr id="3078" name="Picture 6"/>
          <p:cNvPicPr>
            <a:picLocks noChangeAspect="1" noChangeArrowheads="1"/>
          </p:cNvPicPr>
          <p:nvPr/>
        </p:nvPicPr>
        <p:blipFill>
          <a:blip r:embed="rId3"/>
          <a:srcRect/>
          <a:stretch>
            <a:fillRect/>
          </a:stretch>
        </p:blipFill>
        <p:spPr bwMode="auto">
          <a:xfrm>
            <a:off x="3044135" y="5511524"/>
            <a:ext cx="3621779" cy="762276"/>
          </a:xfrm>
          <a:prstGeom prst="rect">
            <a:avLst/>
          </a:prstGeom>
          <a:noFill/>
          <a:ln w="9525">
            <a:noFill/>
            <a:miter lim="800000"/>
            <a:headEnd/>
            <a:tailEnd/>
          </a:ln>
        </p:spPr>
      </p:pic>
      <p:pic>
        <p:nvPicPr>
          <p:cNvPr id="3079" name="Picture 7"/>
          <p:cNvPicPr>
            <a:picLocks noChangeAspect="1" noChangeArrowheads="1"/>
          </p:cNvPicPr>
          <p:nvPr/>
        </p:nvPicPr>
        <p:blipFill>
          <a:blip r:embed="rId4"/>
          <a:srcRect/>
          <a:stretch>
            <a:fillRect/>
          </a:stretch>
        </p:blipFill>
        <p:spPr bwMode="auto">
          <a:xfrm>
            <a:off x="4888031" y="4924276"/>
            <a:ext cx="1775687" cy="530225"/>
          </a:xfrm>
          <a:prstGeom prst="rect">
            <a:avLst/>
          </a:prstGeom>
          <a:noFill/>
          <a:ln w="9525">
            <a:noFill/>
            <a:miter lim="800000"/>
            <a:headEnd/>
            <a:tailEnd/>
          </a:ln>
        </p:spPr>
      </p:pic>
      <p:sp>
        <p:nvSpPr>
          <p:cNvPr id="14" name="Left Arrow 27">
            <a:extLst>
              <a:ext uri="{FF2B5EF4-FFF2-40B4-BE49-F238E27FC236}">
                <a16:creationId xmlns:a16="http://schemas.microsoft.com/office/drawing/2014/main" id="{ABE9B724-41E4-41D2-AE10-D861184CBAC1}"/>
              </a:ext>
            </a:extLst>
          </p:cNvPr>
          <p:cNvSpPr/>
          <p:nvPr/>
        </p:nvSpPr>
        <p:spPr bwMode="auto">
          <a:xfrm>
            <a:off x="6745288" y="3149600"/>
            <a:ext cx="914400" cy="330200"/>
          </a:xfrm>
          <a:prstGeom prst="leftArrow">
            <a:avLst/>
          </a:prstGeom>
          <a:solidFill>
            <a:srgbClr val="008CA8"/>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endParaRPr lang="en-US" kern="0" dirty="0">
              <a:solidFill>
                <a:srgbClr val="000000"/>
              </a:solidFill>
            </a:endParaRPr>
          </a:p>
        </p:txBody>
      </p:sp>
      <p:sp>
        <p:nvSpPr>
          <p:cNvPr id="15" name="Left Arrow 28">
            <a:extLst>
              <a:ext uri="{FF2B5EF4-FFF2-40B4-BE49-F238E27FC236}">
                <a16:creationId xmlns:a16="http://schemas.microsoft.com/office/drawing/2014/main" id="{6CF6A768-EB33-4166-9487-2835C1CD68DB}"/>
              </a:ext>
            </a:extLst>
          </p:cNvPr>
          <p:cNvSpPr/>
          <p:nvPr/>
        </p:nvSpPr>
        <p:spPr bwMode="auto">
          <a:xfrm>
            <a:off x="6770688" y="5524500"/>
            <a:ext cx="914400" cy="330200"/>
          </a:xfrm>
          <a:prstGeom prst="leftArrow">
            <a:avLst/>
          </a:prstGeom>
          <a:solidFill>
            <a:srgbClr val="008CA8"/>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endParaRPr lang="en-US" kern="0" dirty="0">
              <a:solidFill>
                <a:srgbClr val="000000"/>
              </a:solidFill>
            </a:endParaRPr>
          </a:p>
        </p:txBody>
      </p:sp>
      <p:pic>
        <p:nvPicPr>
          <p:cNvPr id="7" name="图片 6" descr="图形用户界面, 应用程序&#10;&#10;描述已自动生成">
            <a:extLst>
              <a:ext uri="{FF2B5EF4-FFF2-40B4-BE49-F238E27FC236}">
                <a16:creationId xmlns:a16="http://schemas.microsoft.com/office/drawing/2014/main" id="{21BF79A5-AC4E-4BA0-A5F8-CDE6A0AEFCD7}"/>
              </a:ext>
            </a:extLst>
          </p:cNvPr>
          <p:cNvPicPr>
            <a:picLocks noChangeAspect="1"/>
          </p:cNvPicPr>
          <p:nvPr/>
        </p:nvPicPr>
        <p:blipFill>
          <a:blip r:embed="rId5"/>
          <a:stretch>
            <a:fillRect/>
          </a:stretch>
        </p:blipFill>
        <p:spPr>
          <a:xfrm>
            <a:off x="7855167" y="1571578"/>
            <a:ext cx="3657600" cy="2210637"/>
          </a:xfrm>
          <a:prstGeom prst="rect">
            <a:avLst/>
          </a:prstGeom>
        </p:spPr>
      </p:pic>
      <p:pic>
        <p:nvPicPr>
          <p:cNvPr id="9" name="图片 8" descr="图形用户界面, 应用程序&#10;&#10;描述已自动生成">
            <a:extLst>
              <a:ext uri="{FF2B5EF4-FFF2-40B4-BE49-F238E27FC236}">
                <a16:creationId xmlns:a16="http://schemas.microsoft.com/office/drawing/2014/main" id="{2050C21D-646F-42FA-B583-09967181567D}"/>
              </a:ext>
            </a:extLst>
          </p:cNvPr>
          <p:cNvPicPr>
            <a:picLocks noChangeAspect="1"/>
          </p:cNvPicPr>
          <p:nvPr/>
        </p:nvPicPr>
        <p:blipFill>
          <a:blip r:embed="rId6"/>
          <a:stretch>
            <a:fillRect/>
          </a:stretch>
        </p:blipFill>
        <p:spPr>
          <a:xfrm>
            <a:off x="7851913" y="4013559"/>
            <a:ext cx="3660854" cy="228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 Directives: Tcl or Pragma</a:t>
            </a:r>
          </a:p>
        </p:txBody>
      </p:sp>
      <p:sp>
        <p:nvSpPr>
          <p:cNvPr id="3" name="Content Placeholder 2"/>
          <p:cNvSpPr>
            <a:spLocks noGrp="1"/>
          </p:cNvSpPr>
          <p:nvPr>
            <p:ph idx="1"/>
          </p:nvPr>
        </p:nvSpPr>
        <p:spPr/>
        <p:txBody>
          <a:bodyPr>
            <a:normAutofit/>
          </a:bodyPr>
          <a:lstStyle/>
          <a:p>
            <a:r>
              <a:rPr lang="en-US" dirty="0"/>
              <a:t>Directives can be placed in the directives file</a:t>
            </a:r>
          </a:p>
          <a:p>
            <a:pPr lvl="1"/>
            <a:r>
              <a:rPr lang="en-US" dirty="0"/>
              <a:t>The Tcl command is written into directives.tcl</a:t>
            </a:r>
          </a:p>
          <a:p>
            <a:pPr lvl="1"/>
            <a:r>
              <a:rPr lang="en-US" dirty="0"/>
              <a:t>There is a directives.tcl file in each solution</a:t>
            </a:r>
          </a:p>
          <a:p>
            <a:pPr lvl="2"/>
            <a:r>
              <a:rPr lang="en-US" dirty="0"/>
              <a:t>Each solution can have different directives</a:t>
            </a:r>
            <a:endParaRPr lang="en-US" sz="2000" dirty="0"/>
          </a:p>
          <a:p>
            <a:pPr lvl="2"/>
            <a:endParaRPr lang="en-US" sz="1300" dirty="0"/>
          </a:p>
          <a:p>
            <a:pPr lvl="2"/>
            <a:endParaRPr lang="en-US" sz="1300" dirty="0"/>
          </a:p>
          <a:p>
            <a:pPr lvl="2"/>
            <a:endParaRPr lang="en-US" sz="1300" dirty="0"/>
          </a:p>
          <a:p>
            <a:r>
              <a:rPr lang="en-US" dirty="0"/>
              <a:t>Directives can be place into the C source</a:t>
            </a:r>
          </a:p>
          <a:p>
            <a:pPr lvl="1"/>
            <a:r>
              <a:rPr lang="en-US" dirty="0"/>
              <a:t>Pragmas are added (and will remain) in the C </a:t>
            </a:r>
            <a:br>
              <a:rPr lang="en-US" dirty="0"/>
            </a:br>
            <a:r>
              <a:rPr lang="en-US" dirty="0"/>
              <a:t>source file</a:t>
            </a:r>
          </a:p>
          <a:p>
            <a:pPr lvl="1"/>
            <a:r>
              <a:rPr lang="en-US" dirty="0" err="1"/>
              <a:t>Pragmas</a:t>
            </a:r>
            <a:r>
              <a:rPr lang="en-US" dirty="0"/>
              <a:t> (#</a:t>
            </a:r>
            <a:r>
              <a:rPr lang="en-US" dirty="0" err="1"/>
              <a:t>pragma</a:t>
            </a:r>
            <a:r>
              <a:rPr lang="en-US" dirty="0"/>
              <a:t>) will be used by every </a:t>
            </a:r>
            <a:br>
              <a:rPr lang="en-US" dirty="0"/>
            </a:br>
            <a:r>
              <a:rPr lang="en-US" dirty="0"/>
              <a:t>solution which uses the code</a:t>
            </a:r>
          </a:p>
        </p:txBody>
      </p:sp>
      <p:sp>
        <p:nvSpPr>
          <p:cNvPr id="25" name="Slide Number Placeholder 24"/>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8</a:t>
            </a:fld>
            <a:endParaRPr lang="en-US" dirty="0"/>
          </a:p>
        </p:txBody>
      </p:sp>
      <p:sp>
        <p:nvSpPr>
          <p:cNvPr id="10" name="TextBox 9"/>
          <p:cNvSpPr txBox="1"/>
          <p:nvPr/>
        </p:nvSpPr>
        <p:spPr>
          <a:xfrm>
            <a:off x="2535622" y="2902720"/>
            <a:ext cx="2326893" cy="577081"/>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050" b="1" dirty="0"/>
              <a:t>Once applied the directive will be shown in the Directives tab (right-click to modify or delete)</a:t>
            </a:r>
          </a:p>
        </p:txBody>
      </p:sp>
      <p:pic>
        <p:nvPicPr>
          <p:cNvPr id="3075" name="Picture 3"/>
          <p:cNvPicPr>
            <a:picLocks noChangeAspect="1" noChangeArrowheads="1"/>
          </p:cNvPicPr>
          <p:nvPr/>
        </p:nvPicPr>
        <p:blipFill>
          <a:blip r:embed="rId2"/>
          <a:srcRect/>
          <a:stretch>
            <a:fillRect/>
          </a:stretch>
        </p:blipFill>
        <p:spPr bwMode="auto">
          <a:xfrm>
            <a:off x="4862515" y="2960688"/>
            <a:ext cx="1801203" cy="468312"/>
          </a:xfrm>
          <a:prstGeom prst="rect">
            <a:avLst/>
          </a:prstGeom>
          <a:noFill/>
          <a:ln w="9525">
            <a:noFill/>
            <a:miter lim="800000"/>
            <a:headEnd/>
            <a:tailEnd/>
          </a:ln>
        </p:spPr>
      </p:pic>
      <p:pic>
        <p:nvPicPr>
          <p:cNvPr id="3078" name="Picture 6"/>
          <p:cNvPicPr>
            <a:picLocks noChangeAspect="1" noChangeArrowheads="1"/>
          </p:cNvPicPr>
          <p:nvPr/>
        </p:nvPicPr>
        <p:blipFill>
          <a:blip r:embed="rId3"/>
          <a:srcRect/>
          <a:stretch>
            <a:fillRect/>
          </a:stretch>
        </p:blipFill>
        <p:spPr bwMode="auto">
          <a:xfrm>
            <a:off x="3044135" y="5511524"/>
            <a:ext cx="3621779" cy="762276"/>
          </a:xfrm>
          <a:prstGeom prst="rect">
            <a:avLst/>
          </a:prstGeom>
          <a:noFill/>
          <a:ln w="9525">
            <a:noFill/>
            <a:miter lim="800000"/>
            <a:headEnd/>
            <a:tailEnd/>
          </a:ln>
        </p:spPr>
      </p:pic>
      <p:pic>
        <p:nvPicPr>
          <p:cNvPr id="3079" name="Picture 7"/>
          <p:cNvPicPr>
            <a:picLocks noChangeAspect="1" noChangeArrowheads="1"/>
          </p:cNvPicPr>
          <p:nvPr/>
        </p:nvPicPr>
        <p:blipFill>
          <a:blip r:embed="rId4"/>
          <a:srcRect/>
          <a:stretch>
            <a:fillRect/>
          </a:stretch>
        </p:blipFill>
        <p:spPr bwMode="auto">
          <a:xfrm>
            <a:off x="4888031" y="4924276"/>
            <a:ext cx="1775687" cy="530225"/>
          </a:xfrm>
          <a:prstGeom prst="rect">
            <a:avLst/>
          </a:prstGeom>
          <a:noFill/>
          <a:ln w="9525">
            <a:noFill/>
            <a:miter lim="800000"/>
            <a:headEnd/>
            <a:tailEnd/>
          </a:ln>
        </p:spPr>
      </p:pic>
      <p:pic>
        <p:nvPicPr>
          <p:cNvPr id="4" name="Picture 3">
            <a:extLst>
              <a:ext uri="{FF2B5EF4-FFF2-40B4-BE49-F238E27FC236}">
                <a16:creationId xmlns:a16="http://schemas.microsoft.com/office/drawing/2014/main" id="{9DA57A24-0C92-44D5-AE25-E9B6E887622B}"/>
              </a:ext>
            </a:extLst>
          </p:cNvPr>
          <p:cNvPicPr>
            <a:picLocks noChangeAspect="1"/>
          </p:cNvPicPr>
          <p:nvPr/>
        </p:nvPicPr>
        <p:blipFill>
          <a:blip r:embed="rId5"/>
          <a:stretch>
            <a:fillRect/>
          </a:stretch>
        </p:blipFill>
        <p:spPr>
          <a:xfrm>
            <a:off x="7789864" y="4014960"/>
            <a:ext cx="3152775" cy="2562225"/>
          </a:xfrm>
          <a:prstGeom prst="rect">
            <a:avLst/>
          </a:prstGeom>
        </p:spPr>
      </p:pic>
      <p:pic>
        <p:nvPicPr>
          <p:cNvPr id="5" name="Picture 4">
            <a:extLst>
              <a:ext uri="{FF2B5EF4-FFF2-40B4-BE49-F238E27FC236}">
                <a16:creationId xmlns:a16="http://schemas.microsoft.com/office/drawing/2014/main" id="{2B2927E4-885C-4C6F-AF02-BFE6192B43FA}"/>
              </a:ext>
            </a:extLst>
          </p:cNvPr>
          <p:cNvPicPr>
            <a:picLocks noChangeAspect="1"/>
          </p:cNvPicPr>
          <p:nvPr/>
        </p:nvPicPr>
        <p:blipFill>
          <a:blip r:embed="rId6"/>
          <a:stretch>
            <a:fillRect/>
          </a:stretch>
        </p:blipFill>
        <p:spPr>
          <a:xfrm>
            <a:off x="7785100" y="1766716"/>
            <a:ext cx="3162300" cy="2152650"/>
          </a:xfrm>
          <a:prstGeom prst="rect">
            <a:avLst/>
          </a:prstGeom>
        </p:spPr>
      </p:pic>
      <p:sp>
        <p:nvSpPr>
          <p:cNvPr id="14" name="Left Arrow 27">
            <a:extLst>
              <a:ext uri="{FF2B5EF4-FFF2-40B4-BE49-F238E27FC236}">
                <a16:creationId xmlns:a16="http://schemas.microsoft.com/office/drawing/2014/main" id="{ABE9B724-41E4-41D2-AE10-D861184CBAC1}"/>
              </a:ext>
            </a:extLst>
          </p:cNvPr>
          <p:cNvSpPr/>
          <p:nvPr/>
        </p:nvSpPr>
        <p:spPr bwMode="auto">
          <a:xfrm>
            <a:off x="6745288" y="3149600"/>
            <a:ext cx="914400" cy="330200"/>
          </a:xfrm>
          <a:prstGeom prst="leftArrow">
            <a:avLst/>
          </a:prstGeom>
          <a:solidFill>
            <a:srgbClr val="008CA8"/>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endParaRPr lang="en-US" kern="0" dirty="0">
              <a:solidFill>
                <a:srgbClr val="000000"/>
              </a:solidFill>
            </a:endParaRPr>
          </a:p>
        </p:txBody>
      </p:sp>
      <p:sp>
        <p:nvSpPr>
          <p:cNvPr id="15" name="Left Arrow 28">
            <a:extLst>
              <a:ext uri="{FF2B5EF4-FFF2-40B4-BE49-F238E27FC236}">
                <a16:creationId xmlns:a16="http://schemas.microsoft.com/office/drawing/2014/main" id="{6CF6A768-EB33-4166-9487-2835C1CD68DB}"/>
              </a:ext>
            </a:extLst>
          </p:cNvPr>
          <p:cNvSpPr/>
          <p:nvPr/>
        </p:nvSpPr>
        <p:spPr bwMode="auto">
          <a:xfrm>
            <a:off x="6770688" y="5524500"/>
            <a:ext cx="914400" cy="330200"/>
          </a:xfrm>
          <a:prstGeom prst="leftArrow">
            <a:avLst/>
          </a:prstGeom>
          <a:solidFill>
            <a:srgbClr val="008CA8"/>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endParaRPr lang="en-US" kern="0" dirty="0">
              <a:solidFill>
                <a:srgbClr val="000000"/>
              </a:solidFill>
            </a:endParaRPr>
          </a:p>
        </p:txBody>
      </p:sp>
    </p:spTree>
    <p:extLst>
      <p:ext uri="{BB962C8B-B14F-4D97-AF65-F5344CB8AC3E}">
        <p14:creationId xmlns:p14="http://schemas.microsoft.com/office/powerpoint/2010/main" val="309897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rc 13">
            <a:extLst>
              <a:ext uri="{FF2B5EF4-FFF2-40B4-BE49-F238E27FC236}">
                <a16:creationId xmlns:a16="http://schemas.microsoft.com/office/drawing/2014/main" id="{C167BE0E-E1B9-4A08-AFEC-2845235A3498}"/>
              </a:ext>
            </a:extLst>
          </p:cNvPr>
          <p:cNvSpPr/>
          <p:nvPr/>
        </p:nvSpPr>
        <p:spPr>
          <a:xfrm rot="16200000" flipH="1">
            <a:off x="5072655" y="2294839"/>
            <a:ext cx="1843440" cy="1689380"/>
          </a:xfrm>
          <a:prstGeom prst="arc">
            <a:avLst/>
          </a:prstGeom>
          <a:noFill/>
          <a:ln w="762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endParaRPr lang="en-US" kern="0">
              <a:solidFill>
                <a:srgbClr val="000000"/>
              </a:solidFill>
              <a:latin typeface="Arial"/>
            </a:endParaRPr>
          </a:p>
        </p:txBody>
      </p:sp>
      <p:sp>
        <p:nvSpPr>
          <p:cNvPr id="2" name="Title 1"/>
          <p:cNvSpPr>
            <a:spLocks noGrp="1"/>
          </p:cNvSpPr>
          <p:nvPr>
            <p:ph type="title"/>
          </p:nvPr>
        </p:nvSpPr>
        <p:spPr/>
        <p:txBody>
          <a:bodyPr/>
          <a:lstStyle/>
          <a:p>
            <a:r>
              <a:rPr lang="en-US" dirty="0"/>
              <a:t>Solution Configurations</a:t>
            </a:r>
          </a:p>
        </p:txBody>
      </p:sp>
      <p:sp>
        <p:nvSpPr>
          <p:cNvPr id="3" name="Content Placeholder 2"/>
          <p:cNvSpPr>
            <a:spLocks noGrp="1"/>
          </p:cNvSpPr>
          <p:nvPr>
            <p:ph idx="1"/>
          </p:nvPr>
        </p:nvSpPr>
        <p:spPr/>
        <p:txBody>
          <a:bodyPr>
            <a:normAutofit fontScale="92500" lnSpcReduction="10000"/>
          </a:bodyPr>
          <a:lstStyle/>
          <a:p>
            <a:r>
              <a:rPr lang="en-US" sz="2200" dirty="0"/>
              <a:t>Configurations can be set on a solution</a:t>
            </a:r>
          </a:p>
          <a:p>
            <a:pPr lvl="1"/>
            <a:r>
              <a:rPr lang="en-US" sz="1900" dirty="0"/>
              <a:t>Set the default behavior for that solution</a:t>
            </a:r>
          </a:p>
          <a:p>
            <a:pPr lvl="2"/>
            <a:r>
              <a:rPr lang="en-US" sz="1700" dirty="0"/>
              <a:t>Open configurations settings from the </a:t>
            </a:r>
            <a:r>
              <a:rPr lang="en-US" sz="1700" dirty="0">
                <a:cs typeface="Consolas" pitchFamily="49" charset="0"/>
              </a:rPr>
              <a:t>menu (Solutions &gt; Solution Settings…)</a:t>
            </a:r>
            <a:endParaRPr lang="en-US" sz="17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buNone/>
            </a:pPr>
            <a:endParaRPr lang="en-US" sz="1900" dirty="0"/>
          </a:p>
          <a:p>
            <a:pPr lvl="1"/>
            <a:endParaRPr lang="en-US" sz="1400" dirty="0"/>
          </a:p>
          <a:p>
            <a:pPr lvl="1"/>
            <a:r>
              <a:rPr lang="en-US" sz="1900" dirty="0"/>
              <a:t>Choose the configuration from the drop-down menu</a:t>
            </a:r>
          </a:p>
          <a:p>
            <a:pPr lvl="2"/>
            <a:r>
              <a:rPr lang="en-US" sz="1700" dirty="0"/>
              <a:t>Array Partitioning, Dataflow Memory types, Interface, RTL Settings, Compile, Schedule efforts</a:t>
            </a:r>
          </a:p>
        </p:txBody>
      </p:sp>
      <p:sp>
        <p:nvSpPr>
          <p:cNvPr id="19" name="Slide Number Placeholder 18"/>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9</a:t>
            </a:fld>
            <a:endParaRPr lang="en-US" dirty="0"/>
          </a:p>
        </p:txBody>
      </p:sp>
      <p:sp>
        <p:nvSpPr>
          <p:cNvPr id="6" name="TextBox 5"/>
          <p:cNvSpPr txBox="1"/>
          <p:nvPr/>
        </p:nvSpPr>
        <p:spPr>
          <a:xfrm>
            <a:off x="4701770" y="3429001"/>
            <a:ext cx="1228640" cy="430887"/>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100" b="1" dirty="0"/>
              <a:t>Select “General”</a:t>
            </a:r>
          </a:p>
        </p:txBody>
      </p:sp>
      <p:sp>
        <p:nvSpPr>
          <p:cNvPr id="9" name="TextBox 8"/>
          <p:cNvSpPr txBox="1"/>
          <p:nvPr/>
        </p:nvSpPr>
        <p:spPr>
          <a:xfrm>
            <a:off x="7229193" y="2601789"/>
            <a:ext cx="2150119" cy="253916"/>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050" b="1" dirty="0"/>
              <a:t>Modify configuration settings</a:t>
            </a:r>
          </a:p>
        </p:txBody>
      </p:sp>
      <p:sp>
        <p:nvSpPr>
          <p:cNvPr id="15" name="Right Arrow 11">
            <a:extLst>
              <a:ext uri="{FF2B5EF4-FFF2-40B4-BE49-F238E27FC236}">
                <a16:creationId xmlns:a16="http://schemas.microsoft.com/office/drawing/2014/main" id="{EE14D707-CC57-45DF-B97F-26114847D810}"/>
              </a:ext>
            </a:extLst>
          </p:cNvPr>
          <p:cNvSpPr/>
          <p:nvPr/>
        </p:nvSpPr>
        <p:spPr>
          <a:xfrm>
            <a:off x="4121995" y="2931512"/>
            <a:ext cx="972673" cy="192024"/>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pic>
        <p:nvPicPr>
          <p:cNvPr id="5" name="图片 4" descr="手机屏幕的截图&#10;&#10;描述已自动生成">
            <a:extLst>
              <a:ext uri="{FF2B5EF4-FFF2-40B4-BE49-F238E27FC236}">
                <a16:creationId xmlns:a16="http://schemas.microsoft.com/office/drawing/2014/main" id="{9506F55C-B20F-4AFA-AB5B-10226C304A56}"/>
              </a:ext>
            </a:extLst>
          </p:cNvPr>
          <p:cNvPicPr>
            <a:picLocks noChangeAspect="1"/>
          </p:cNvPicPr>
          <p:nvPr/>
        </p:nvPicPr>
        <p:blipFill rotWithShape="1">
          <a:blip r:embed="rId2"/>
          <a:srcRect l="31040"/>
          <a:stretch/>
        </p:blipFill>
        <p:spPr>
          <a:xfrm>
            <a:off x="1237012" y="2620056"/>
            <a:ext cx="3211974" cy="1181100"/>
          </a:xfrm>
          <a:prstGeom prst="rect">
            <a:avLst/>
          </a:prstGeom>
        </p:spPr>
      </p:pic>
      <p:pic>
        <p:nvPicPr>
          <p:cNvPr id="12" name="图片 11" descr="图形用户界面&#10;&#10;中度可信度描述已自动生成">
            <a:extLst>
              <a:ext uri="{FF2B5EF4-FFF2-40B4-BE49-F238E27FC236}">
                <a16:creationId xmlns:a16="http://schemas.microsoft.com/office/drawing/2014/main" id="{3F5E9B47-2436-4003-8FC7-5D0BF02918BD}"/>
              </a:ext>
            </a:extLst>
          </p:cNvPr>
          <p:cNvPicPr>
            <a:picLocks noChangeAspect="1"/>
          </p:cNvPicPr>
          <p:nvPr/>
        </p:nvPicPr>
        <p:blipFill>
          <a:blip r:embed="rId3"/>
          <a:stretch>
            <a:fillRect/>
          </a:stretch>
        </p:blipFill>
        <p:spPr>
          <a:xfrm>
            <a:off x="6053407" y="2963684"/>
            <a:ext cx="4371259" cy="228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Arc 13">
            <a:extLst>
              <a:ext uri="{FF2B5EF4-FFF2-40B4-BE49-F238E27FC236}">
                <a16:creationId xmlns:a16="http://schemas.microsoft.com/office/drawing/2014/main" id="{C167BE0E-E1B9-4A08-AFEC-2845235A3498}"/>
              </a:ext>
            </a:extLst>
          </p:cNvPr>
          <p:cNvSpPr/>
          <p:nvPr/>
        </p:nvSpPr>
        <p:spPr>
          <a:xfrm rot="16200000" flipH="1">
            <a:off x="3907219" y="2274465"/>
            <a:ext cx="1843440" cy="1689380"/>
          </a:xfrm>
          <a:prstGeom prst="arc">
            <a:avLst/>
          </a:prstGeom>
          <a:noFill/>
          <a:ln w="762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endParaRPr lang="en-US" kern="0">
              <a:solidFill>
                <a:srgbClr val="000000"/>
              </a:solidFill>
              <a:latin typeface="Arial"/>
            </a:endParaRPr>
          </a:p>
        </p:txBody>
      </p:sp>
      <p:sp>
        <p:nvSpPr>
          <p:cNvPr id="2" name="Title 1"/>
          <p:cNvSpPr>
            <a:spLocks noGrp="1"/>
          </p:cNvSpPr>
          <p:nvPr>
            <p:ph type="title"/>
          </p:nvPr>
        </p:nvSpPr>
        <p:spPr/>
        <p:txBody>
          <a:bodyPr/>
          <a:lstStyle/>
          <a:p>
            <a:r>
              <a:rPr lang="en-US" dirty="0"/>
              <a:t>Solution Configurations</a:t>
            </a:r>
          </a:p>
        </p:txBody>
      </p:sp>
      <p:sp>
        <p:nvSpPr>
          <p:cNvPr id="3" name="Content Placeholder 2"/>
          <p:cNvSpPr>
            <a:spLocks noGrp="1"/>
          </p:cNvSpPr>
          <p:nvPr>
            <p:ph idx="1"/>
          </p:nvPr>
        </p:nvSpPr>
        <p:spPr/>
        <p:txBody>
          <a:bodyPr>
            <a:normAutofit fontScale="92500" lnSpcReduction="20000"/>
          </a:bodyPr>
          <a:lstStyle/>
          <a:p>
            <a:r>
              <a:rPr lang="en-US" sz="2200" dirty="0"/>
              <a:t>Configurations can be set on a solution</a:t>
            </a:r>
          </a:p>
          <a:p>
            <a:pPr lvl="1"/>
            <a:r>
              <a:rPr lang="en-US" sz="1900" dirty="0"/>
              <a:t>Set the default behavior for that solution</a:t>
            </a:r>
          </a:p>
          <a:p>
            <a:pPr lvl="2"/>
            <a:r>
              <a:rPr lang="en-US" sz="1700" dirty="0"/>
              <a:t>Open configurations settings from the </a:t>
            </a:r>
            <a:r>
              <a:rPr lang="en-US" sz="1700" dirty="0">
                <a:cs typeface="Consolas" pitchFamily="49" charset="0"/>
              </a:rPr>
              <a:t>menu (Solutions &gt; Solution Settings…)</a:t>
            </a:r>
            <a:endParaRPr lang="en-US" sz="17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buNone/>
            </a:pPr>
            <a:endParaRPr lang="en-US" sz="1900" dirty="0"/>
          </a:p>
          <a:p>
            <a:pPr lvl="1"/>
            <a:endParaRPr lang="en-US" sz="1400" dirty="0"/>
          </a:p>
          <a:p>
            <a:pPr lvl="1"/>
            <a:r>
              <a:rPr lang="en-US" sz="1900" dirty="0"/>
              <a:t>Choose the configuration from the drop-down menu</a:t>
            </a:r>
          </a:p>
          <a:p>
            <a:pPr lvl="2"/>
            <a:r>
              <a:rPr lang="en-US" sz="1700" dirty="0"/>
              <a:t>Array Partitioning, Binding, Dataflow Memory types, Interface, RTL Settings, Core, Compile, Schedule efforts</a:t>
            </a:r>
          </a:p>
        </p:txBody>
      </p:sp>
      <p:sp>
        <p:nvSpPr>
          <p:cNvPr id="19" name="Slide Number Placeholder 18"/>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10</a:t>
            </a:fld>
            <a:endParaRPr lang="en-US" dirty="0"/>
          </a:p>
        </p:txBody>
      </p:sp>
      <p:sp>
        <p:nvSpPr>
          <p:cNvPr id="6" name="TextBox 5"/>
          <p:cNvSpPr txBox="1"/>
          <p:nvPr/>
        </p:nvSpPr>
        <p:spPr>
          <a:xfrm>
            <a:off x="3536334" y="3408627"/>
            <a:ext cx="1228640" cy="430887"/>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100" b="1" dirty="0"/>
              <a:t>Select “General”</a:t>
            </a:r>
          </a:p>
        </p:txBody>
      </p:sp>
      <p:sp>
        <p:nvSpPr>
          <p:cNvPr id="9" name="TextBox 8"/>
          <p:cNvSpPr txBox="1"/>
          <p:nvPr/>
        </p:nvSpPr>
        <p:spPr>
          <a:xfrm>
            <a:off x="7229193" y="2601789"/>
            <a:ext cx="2150119" cy="415498"/>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050" b="1" dirty="0"/>
              <a:t>“Add” or “Remove” configuration settings</a:t>
            </a:r>
          </a:p>
        </p:txBody>
      </p:sp>
      <p:pic>
        <p:nvPicPr>
          <p:cNvPr id="8" name="Picture 7">
            <a:extLst>
              <a:ext uri="{FF2B5EF4-FFF2-40B4-BE49-F238E27FC236}">
                <a16:creationId xmlns:a16="http://schemas.microsoft.com/office/drawing/2014/main" id="{9E3E8E42-947F-4D8E-A10B-771E603F6E95}"/>
              </a:ext>
            </a:extLst>
          </p:cNvPr>
          <p:cNvPicPr>
            <a:picLocks noChangeAspect="1"/>
          </p:cNvPicPr>
          <p:nvPr/>
        </p:nvPicPr>
        <p:blipFill rotWithShape="1">
          <a:blip r:embed="rId2"/>
          <a:srcRect t="12999"/>
          <a:stretch/>
        </p:blipFill>
        <p:spPr>
          <a:xfrm>
            <a:off x="412876" y="2293257"/>
            <a:ext cx="2295525" cy="1922545"/>
          </a:xfrm>
          <a:prstGeom prst="rect">
            <a:avLst/>
          </a:prstGeom>
        </p:spPr>
      </p:pic>
      <p:pic>
        <p:nvPicPr>
          <p:cNvPr id="10" name="Picture 9">
            <a:extLst>
              <a:ext uri="{FF2B5EF4-FFF2-40B4-BE49-F238E27FC236}">
                <a16:creationId xmlns:a16="http://schemas.microsoft.com/office/drawing/2014/main" id="{C5C6420F-3514-4BDB-8C38-9A50724C32F5}"/>
              </a:ext>
            </a:extLst>
          </p:cNvPr>
          <p:cNvPicPr>
            <a:picLocks noChangeAspect="1"/>
          </p:cNvPicPr>
          <p:nvPr/>
        </p:nvPicPr>
        <p:blipFill>
          <a:blip r:embed="rId3"/>
          <a:stretch>
            <a:fillRect/>
          </a:stretch>
        </p:blipFill>
        <p:spPr>
          <a:xfrm>
            <a:off x="4828940" y="3103162"/>
            <a:ext cx="4051225" cy="1905990"/>
          </a:xfrm>
          <a:prstGeom prst="rect">
            <a:avLst/>
          </a:prstGeom>
        </p:spPr>
      </p:pic>
      <p:pic>
        <p:nvPicPr>
          <p:cNvPr id="11" name="Picture 10">
            <a:extLst>
              <a:ext uri="{FF2B5EF4-FFF2-40B4-BE49-F238E27FC236}">
                <a16:creationId xmlns:a16="http://schemas.microsoft.com/office/drawing/2014/main" id="{6F513FEC-A729-4627-BDCE-CD827CD30752}"/>
              </a:ext>
            </a:extLst>
          </p:cNvPr>
          <p:cNvPicPr>
            <a:picLocks noChangeAspect="1"/>
          </p:cNvPicPr>
          <p:nvPr/>
        </p:nvPicPr>
        <p:blipFill>
          <a:blip r:embed="rId4"/>
          <a:stretch>
            <a:fillRect/>
          </a:stretch>
        </p:blipFill>
        <p:spPr>
          <a:xfrm>
            <a:off x="9401989" y="3119155"/>
            <a:ext cx="1704975" cy="1943100"/>
          </a:xfrm>
          <a:prstGeom prst="rect">
            <a:avLst/>
          </a:prstGeom>
        </p:spPr>
      </p:pic>
      <p:sp>
        <p:nvSpPr>
          <p:cNvPr id="15" name="Right Arrow 11">
            <a:extLst>
              <a:ext uri="{FF2B5EF4-FFF2-40B4-BE49-F238E27FC236}">
                <a16:creationId xmlns:a16="http://schemas.microsoft.com/office/drawing/2014/main" id="{EE14D707-CC57-45DF-B97F-26114847D810}"/>
              </a:ext>
            </a:extLst>
          </p:cNvPr>
          <p:cNvSpPr/>
          <p:nvPr/>
        </p:nvSpPr>
        <p:spPr>
          <a:xfrm>
            <a:off x="2812691" y="3007150"/>
            <a:ext cx="972673" cy="192024"/>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16" name="Right Arrow 16">
            <a:extLst>
              <a:ext uri="{FF2B5EF4-FFF2-40B4-BE49-F238E27FC236}">
                <a16:creationId xmlns:a16="http://schemas.microsoft.com/office/drawing/2014/main" id="{98B42A42-D04E-4B93-88B4-7EF67CF12197}"/>
              </a:ext>
            </a:extLst>
          </p:cNvPr>
          <p:cNvSpPr/>
          <p:nvPr/>
        </p:nvSpPr>
        <p:spPr>
          <a:xfrm>
            <a:off x="8944130" y="4346704"/>
            <a:ext cx="457859" cy="19629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Tree>
    <p:extLst>
      <p:ext uri="{BB962C8B-B14F-4D97-AF65-F5344CB8AC3E}">
        <p14:creationId xmlns:p14="http://schemas.microsoft.com/office/powerpoint/2010/main" val="1485838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Configuring the RTL Output</a:t>
            </a:r>
          </a:p>
        </p:txBody>
      </p:sp>
      <p:sp>
        <p:nvSpPr>
          <p:cNvPr id="3" name="Content Placeholder 2"/>
          <p:cNvSpPr>
            <a:spLocks noGrp="1"/>
          </p:cNvSpPr>
          <p:nvPr>
            <p:ph idx="1"/>
          </p:nvPr>
        </p:nvSpPr>
        <p:spPr>
          <a:xfrm>
            <a:off x="667973" y="938273"/>
            <a:ext cx="10512862" cy="4759404"/>
          </a:xfrm>
        </p:spPr>
        <p:txBody>
          <a:bodyPr>
            <a:noAutofit/>
          </a:bodyPr>
          <a:lstStyle/>
          <a:p>
            <a:r>
              <a:rPr lang="en-US" sz="1600" dirty="0"/>
              <a:t>Specify the FSM encoding style</a:t>
            </a:r>
          </a:p>
          <a:p>
            <a:pPr lvl="1"/>
            <a:r>
              <a:rPr lang="en-US" sz="1400" dirty="0"/>
              <a:t>By default the FSM is auto</a:t>
            </a:r>
          </a:p>
          <a:p>
            <a:r>
              <a:rPr lang="en-US" sz="1600" dirty="0"/>
              <a:t>Add a header string to all RTL output files</a:t>
            </a:r>
          </a:p>
          <a:p>
            <a:pPr lvl="1"/>
            <a:r>
              <a:rPr lang="en-US" sz="1400" dirty="0"/>
              <a:t>Example: Copyright  Acme Inc.</a:t>
            </a:r>
          </a:p>
          <a:p>
            <a:r>
              <a:rPr lang="en-US" sz="1600" dirty="0"/>
              <a:t>Add a user specified prefix to all RTL output filenames</a:t>
            </a:r>
          </a:p>
          <a:p>
            <a:pPr lvl="1"/>
            <a:r>
              <a:rPr lang="en-US" sz="1400" dirty="0"/>
              <a:t>The RTL has the same name as the C functions</a:t>
            </a:r>
          </a:p>
          <a:p>
            <a:pPr lvl="1"/>
            <a:r>
              <a:rPr lang="en-US" sz="1400" dirty="0"/>
              <a:t>Allow multiple RTL variants of the same top-level function to be </a:t>
            </a:r>
            <a:br>
              <a:rPr lang="en-US" sz="1400" dirty="0"/>
            </a:br>
            <a:r>
              <a:rPr lang="en-US" sz="1400" dirty="0"/>
              <a:t>used together without renaming files</a:t>
            </a:r>
          </a:p>
          <a:p>
            <a:r>
              <a:rPr lang="en-US" sz="1600" dirty="0"/>
              <a:t>Reset all registers</a:t>
            </a:r>
          </a:p>
          <a:p>
            <a:pPr lvl="1"/>
            <a:r>
              <a:rPr lang="en-US" sz="1400" dirty="0"/>
              <a:t>By default only the FSM registers and variables initialized in the code </a:t>
            </a:r>
            <a:br>
              <a:rPr lang="en-US" sz="1400" dirty="0"/>
            </a:br>
            <a:r>
              <a:rPr lang="en-US" sz="1400" dirty="0"/>
              <a:t>are reset</a:t>
            </a:r>
          </a:p>
          <a:p>
            <a:pPr lvl="1"/>
            <a:r>
              <a:rPr lang="en-US" sz="1400" dirty="0"/>
              <a:t>RAMs are initialized in the RTL and bitstream</a:t>
            </a:r>
          </a:p>
          <a:p>
            <a:r>
              <a:rPr lang="en-US" sz="1600" dirty="0"/>
              <a:t>Synchronous or Asynchronous reset</a:t>
            </a:r>
          </a:p>
          <a:p>
            <a:pPr lvl="1"/>
            <a:r>
              <a:rPr lang="en-US" sz="1400" dirty="0"/>
              <a:t>The default is synchronous reset</a:t>
            </a:r>
          </a:p>
          <a:p>
            <a:r>
              <a:rPr lang="en-US" sz="1600" dirty="0"/>
              <a:t>Active high or low reset</a:t>
            </a:r>
          </a:p>
          <a:p>
            <a:pPr lvl="1"/>
            <a:r>
              <a:rPr lang="en-US" sz="1400" dirty="0"/>
              <a:t>The default is active high</a:t>
            </a:r>
          </a:p>
          <a:p>
            <a:pPr lvl="1"/>
            <a:endParaRPr lang="en-US" sz="1400" dirty="0"/>
          </a:p>
        </p:txBody>
      </p:sp>
      <p:sp>
        <p:nvSpPr>
          <p:cNvPr id="9" name="Slide Number Placeholder 8"/>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11</a:t>
            </a:fld>
            <a:endParaRPr lang="en-US" dirty="0"/>
          </a:p>
        </p:txBody>
      </p:sp>
      <p:sp>
        <p:nvSpPr>
          <p:cNvPr id="5" name="TextBox 4"/>
          <p:cNvSpPr txBox="1"/>
          <p:nvPr/>
        </p:nvSpPr>
        <p:spPr>
          <a:xfrm>
            <a:off x="8426188" y="5631478"/>
            <a:ext cx="3313385" cy="430887"/>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100" b="1" dirty="0"/>
              <a:t>The remainder of the configuration commands will be covered throughout the course</a:t>
            </a:r>
          </a:p>
        </p:txBody>
      </p:sp>
      <p:pic>
        <p:nvPicPr>
          <p:cNvPr id="7" name="图片 6" descr="图形用户界面&#10;&#10;描述已自动生成">
            <a:extLst>
              <a:ext uri="{FF2B5EF4-FFF2-40B4-BE49-F238E27FC236}">
                <a16:creationId xmlns:a16="http://schemas.microsoft.com/office/drawing/2014/main" id="{362324E7-CE3F-4D70-92AC-28AAEC2ECEEA}"/>
              </a:ext>
            </a:extLst>
          </p:cNvPr>
          <p:cNvPicPr>
            <a:picLocks noChangeAspect="1"/>
          </p:cNvPicPr>
          <p:nvPr/>
        </p:nvPicPr>
        <p:blipFill>
          <a:blip r:embed="rId2"/>
          <a:stretch>
            <a:fillRect/>
          </a:stretch>
        </p:blipFill>
        <p:spPr>
          <a:xfrm>
            <a:off x="7861368" y="1996504"/>
            <a:ext cx="4095750" cy="3076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Configuring the RTL Output</a:t>
            </a:r>
          </a:p>
        </p:txBody>
      </p:sp>
      <p:sp>
        <p:nvSpPr>
          <p:cNvPr id="3" name="Content Placeholder 2"/>
          <p:cNvSpPr>
            <a:spLocks noGrp="1"/>
          </p:cNvSpPr>
          <p:nvPr>
            <p:ph idx="1"/>
          </p:nvPr>
        </p:nvSpPr>
        <p:spPr>
          <a:xfrm>
            <a:off x="649119" y="1155089"/>
            <a:ext cx="10512862" cy="4759404"/>
          </a:xfrm>
        </p:spPr>
        <p:txBody>
          <a:bodyPr>
            <a:noAutofit/>
          </a:bodyPr>
          <a:lstStyle/>
          <a:p>
            <a:r>
              <a:rPr lang="en-US" sz="1800" dirty="0"/>
              <a:t>Specify the FSM encoding style</a:t>
            </a:r>
          </a:p>
          <a:p>
            <a:pPr lvl="1"/>
            <a:r>
              <a:rPr lang="en-US" sz="1600" dirty="0"/>
              <a:t>By default the FSM is auto</a:t>
            </a:r>
          </a:p>
          <a:p>
            <a:r>
              <a:rPr lang="en-US" sz="1800" dirty="0"/>
              <a:t>Add a header string to all RTL output files</a:t>
            </a:r>
          </a:p>
          <a:p>
            <a:pPr lvl="1"/>
            <a:r>
              <a:rPr lang="en-US" sz="1600" dirty="0"/>
              <a:t>Example: Copyright  Acme Inc.</a:t>
            </a:r>
          </a:p>
          <a:p>
            <a:r>
              <a:rPr lang="en-US" sz="1800" dirty="0"/>
              <a:t>Add a user specified prefix to all RTL output filenames</a:t>
            </a:r>
          </a:p>
          <a:p>
            <a:pPr lvl="1"/>
            <a:r>
              <a:rPr lang="en-US" sz="1600" dirty="0"/>
              <a:t>The RTL has the same name as the C functions</a:t>
            </a:r>
          </a:p>
          <a:p>
            <a:pPr lvl="1"/>
            <a:r>
              <a:rPr lang="en-US" sz="1600" dirty="0"/>
              <a:t>Allow multiple RTL variants of the same top-level function to be </a:t>
            </a:r>
            <a:br>
              <a:rPr lang="en-US" sz="1600" dirty="0"/>
            </a:br>
            <a:r>
              <a:rPr lang="en-US" sz="1600" dirty="0"/>
              <a:t>used together without renaming files</a:t>
            </a:r>
          </a:p>
          <a:p>
            <a:r>
              <a:rPr lang="en-US" sz="1800" dirty="0"/>
              <a:t>Reset all registers</a:t>
            </a:r>
          </a:p>
          <a:p>
            <a:pPr lvl="1"/>
            <a:r>
              <a:rPr lang="en-US" sz="1600" dirty="0"/>
              <a:t>By default only the FSM registers and variables initialized in the code </a:t>
            </a:r>
            <a:br>
              <a:rPr lang="en-US" sz="1600" dirty="0"/>
            </a:br>
            <a:r>
              <a:rPr lang="en-US" sz="1600" dirty="0"/>
              <a:t>are reset</a:t>
            </a:r>
          </a:p>
          <a:p>
            <a:pPr lvl="1"/>
            <a:r>
              <a:rPr lang="en-US" sz="1600" dirty="0"/>
              <a:t>RAMs are initialized in the RTL and bitstream</a:t>
            </a:r>
          </a:p>
          <a:p>
            <a:r>
              <a:rPr lang="en-US" sz="1800" dirty="0"/>
              <a:t>Synchronous or Asynchronous reset</a:t>
            </a:r>
          </a:p>
          <a:p>
            <a:pPr lvl="1"/>
            <a:r>
              <a:rPr lang="en-US" sz="1600" dirty="0"/>
              <a:t>The default is synchronous reset</a:t>
            </a:r>
          </a:p>
          <a:p>
            <a:r>
              <a:rPr lang="en-US" sz="1800" dirty="0"/>
              <a:t>Active high or low reset</a:t>
            </a:r>
          </a:p>
          <a:p>
            <a:pPr lvl="1"/>
            <a:r>
              <a:rPr lang="en-US" sz="1600" dirty="0"/>
              <a:t>The default is active high</a:t>
            </a:r>
          </a:p>
          <a:p>
            <a:pPr lvl="1"/>
            <a:endParaRPr lang="en-US" sz="1400" dirty="0"/>
          </a:p>
        </p:txBody>
      </p:sp>
      <p:sp>
        <p:nvSpPr>
          <p:cNvPr id="9" name="Slide Number Placeholder 8"/>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12</a:t>
            </a:fld>
            <a:endParaRPr lang="en-US" dirty="0"/>
          </a:p>
        </p:txBody>
      </p:sp>
      <p:sp>
        <p:nvSpPr>
          <p:cNvPr id="5" name="TextBox 4"/>
          <p:cNvSpPr txBox="1"/>
          <p:nvPr/>
        </p:nvSpPr>
        <p:spPr>
          <a:xfrm>
            <a:off x="8426188" y="5631478"/>
            <a:ext cx="3313385" cy="430887"/>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100" b="1" dirty="0"/>
              <a:t>The remainder of the configuration commands will be covered throughout the course</a:t>
            </a:r>
          </a:p>
        </p:txBody>
      </p:sp>
      <p:pic>
        <p:nvPicPr>
          <p:cNvPr id="4" name="Picture 3">
            <a:extLst>
              <a:ext uri="{FF2B5EF4-FFF2-40B4-BE49-F238E27FC236}">
                <a16:creationId xmlns:a16="http://schemas.microsoft.com/office/drawing/2014/main" id="{5D075CBA-9B12-46FF-956D-5CF2473A556A}"/>
              </a:ext>
            </a:extLst>
          </p:cNvPr>
          <p:cNvPicPr>
            <a:picLocks noChangeAspect="1"/>
          </p:cNvPicPr>
          <p:nvPr/>
        </p:nvPicPr>
        <p:blipFill>
          <a:blip r:embed="rId2"/>
          <a:stretch>
            <a:fillRect/>
          </a:stretch>
        </p:blipFill>
        <p:spPr>
          <a:xfrm>
            <a:off x="8333797" y="1193831"/>
            <a:ext cx="3498165" cy="4268338"/>
          </a:xfrm>
          <a:prstGeom prst="rect">
            <a:avLst/>
          </a:prstGeom>
        </p:spPr>
      </p:pic>
    </p:spTree>
    <p:extLst>
      <p:ext uri="{BB962C8B-B14F-4D97-AF65-F5344CB8AC3E}">
        <p14:creationId xmlns:p14="http://schemas.microsoft.com/office/powerpoint/2010/main" val="209970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Copying Directives into New Solutions</a:t>
            </a:r>
          </a:p>
        </p:txBody>
      </p:sp>
      <p:sp>
        <p:nvSpPr>
          <p:cNvPr id="2" name="Content Placeholder 1"/>
          <p:cNvSpPr>
            <a:spLocks noGrp="1"/>
          </p:cNvSpPr>
          <p:nvPr>
            <p:ph sz="half" idx="1"/>
          </p:nvPr>
        </p:nvSpPr>
        <p:spPr/>
        <p:txBody>
          <a:bodyPr/>
          <a:lstStyle/>
          <a:p>
            <a:r>
              <a:rPr lang="en-US" dirty="0"/>
              <a:t>Click the New Solution Button</a:t>
            </a:r>
          </a:p>
          <a:p>
            <a:r>
              <a:rPr lang="en-US" dirty="0"/>
              <a:t>Optionally modify any of the settings</a:t>
            </a:r>
          </a:p>
          <a:p>
            <a:pPr lvl="1"/>
            <a:r>
              <a:rPr lang="en-US" dirty="0"/>
              <a:t>Part, Clock Period, Uncertainty</a:t>
            </a:r>
          </a:p>
          <a:p>
            <a:pPr lvl="1"/>
            <a:r>
              <a:rPr lang="en-US" dirty="0"/>
              <a:t>Solution Name</a:t>
            </a:r>
          </a:p>
          <a:p>
            <a:r>
              <a:rPr lang="en-US" dirty="0"/>
              <a:t>Copy existing directives</a:t>
            </a:r>
          </a:p>
          <a:p>
            <a:pPr lvl="1"/>
            <a:r>
              <a:rPr lang="en-US" dirty="0"/>
              <a:t>By default selected</a:t>
            </a:r>
          </a:p>
          <a:p>
            <a:pPr lvl="1"/>
            <a:r>
              <a:rPr lang="en-US" dirty="0"/>
              <a:t>Uncheck if do not want to copy</a:t>
            </a:r>
          </a:p>
          <a:p>
            <a:pPr lvl="1"/>
            <a:r>
              <a:rPr lang="en-US" dirty="0"/>
              <a:t>No need to copy pragmas, they are in the code</a:t>
            </a:r>
          </a:p>
        </p:txBody>
      </p:sp>
      <p:sp>
        <p:nvSpPr>
          <p:cNvPr id="7" name="Slide Number Placeholder 6"/>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13</a:t>
            </a:fld>
            <a:endParaRPr lang="en-US" dirty="0"/>
          </a:p>
        </p:txBody>
      </p:sp>
      <p:pic>
        <p:nvPicPr>
          <p:cNvPr id="6" name="图片 5">
            <a:extLst>
              <a:ext uri="{FF2B5EF4-FFF2-40B4-BE49-F238E27FC236}">
                <a16:creationId xmlns:a16="http://schemas.microsoft.com/office/drawing/2014/main" id="{A77ED8AA-431D-47A4-B029-46067DA4A3B4}"/>
              </a:ext>
            </a:extLst>
          </p:cNvPr>
          <p:cNvPicPr>
            <a:picLocks noChangeAspect="1"/>
          </p:cNvPicPr>
          <p:nvPr/>
        </p:nvPicPr>
        <p:blipFill>
          <a:blip r:embed="rId2"/>
          <a:stretch>
            <a:fillRect/>
          </a:stretch>
        </p:blipFill>
        <p:spPr>
          <a:xfrm>
            <a:off x="5803470" y="1463041"/>
            <a:ext cx="2145616" cy="3790476"/>
          </a:xfrm>
          <a:prstGeom prst="rect">
            <a:avLst/>
          </a:prstGeom>
        </p:spPr>
      </p:pic>
      <p:pic>
        <p:nvPicPr>
          <p:cNvPr id="9" name="图片 8" descr="图形用户界面, 应用程序&#10;&#10;描述已自动生成">
            <a:extLst>
              <a:ext uri="{FF2B5EF4-FFF2-40B4-BE49-F238E27FC236}">
                <a16:creationId xmlns:a16="http://schemas.microsoft.com/office/drawing/2014/main" id="{9B64C1B7-743A-4A20-976F-9955F9080598}"/>
              </a:ext>
            </a:extLst>
          </p:cNvPr>
          <p:cNvPicPr>
            <a:picLocks noChangeAspect="1"/>
          </p:cNvPicPr>
          <p:nvPr/>
        </p:nvPicPr>
        <p:blipFill>
          <a:blip r:embed="rId3"/>
          <a:stretch>
            <a:fillRect/>
          </a:stretch>
        </p:blipFill>
        <p:spPr>
          <a:xfrm>
            <a:off x="7803172" y="1463041"/>
            <a:ext cx="3949430" cy="37904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Copying Directives into New Solutions</a:t>
            </a:r>
          </a:p>
        </p:txBody>
      </p:sp>
      <p:sp>
        <p:nvSpPr>
          <p:cNvPr id="2" name="Content Placeholder 1"/>
          <p:cNvSpPr>
            <a:spLocks noGrp="1"/>
          </p:cNvSpPr>
          <p:nvPr>
            <p:ph sz="half" idx="1"/>
          </p:nvPr>
        </p:nvSpPr>
        <p:spPr/>
        <p:txBody>
          <a:bodyPr/>
          <a:lstStyle/>
          <a:p>
            <a:r>
              <a:rPr lang="en-US" dirty="0"/>
              <a:t>Click the New Solution Button</a:t>
            </a:r>
          </a:p>
          <a:p>
            <a:r>
              <a:rPr lang="en-US" dirty="0"/>
              <a:t>Optionally modify any of the settings</a:t>
            </a:r>
          </a:p>
          <a:p>
            <a:pPr lvl="1"/>
            <a:r>
              <a:rPr lang="en-US" dirty="0"/>
              <a:t>Part, Clock Period, Uncertainty</a:t>
            </a:r>
          </a:p>
          <a:p>
            <a:pPr lvl="1"/>
            <a:r>
              <a:rPr lang="en-US" dirty="0"/>
              <a:t>Solution Name</a:t>
            </a:r>
          </a:p>
          <a:p>
            <a:r>
              <a:rPr lang="en-US" dirty="0"/>
              <a:t>Copy existing directives</a:t>
            </a:r>
          </a:p>
          <a:p>
            <a:pPr lvl="1"/>
            <a:r>
              <a:rPr lang="en-US" dirty="0"/>
              <a:t>By default selected</a:t>
            </a:r>
          </a:p>
          <a:p>
            <a:pPr lvl="1"/>
            <a:r>
              <a:rPr lang="en-US" dirty="0"/>
              <a:t>Uncheck if do not want to copy</a:t>
            </a:r>
          </a:p>
          <a:p>
            <a:pPr lvl="1"/>
            <a:r>
              <a:rPr lang="en-US" dirty="0"/>
              <a:t>No need to copy pragmas, they are in the code</a:t>
            </a:r>
          </a:p>
        </p:txBody>
      </p:sp>
      <p:sp>
        <p:nvSpPr>
          <p:cNvPr id="7" name="Slide Number Placeholder 6"/>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14</a:t>
            </a:fld>
            <a:endParaRPr lang="en-US" dirty="0"/>
          </a:p>
        </p:txBody>
      </p:sp>
      <p:pic>
        <p:nvPicPr>
          <p:cNvPr id="3" name="Picture 2">
            <a:extLst>
              <a:ext uri="{FF2B5EF4-FFF2-40B4-BE49-F238E27FC236}">
                <a16:creationId xmlns:a16="http://schemas.microsoft.com/office/drawing/2014/main" id="{0D7FE464-5D99-4DE7-B8D4-3B2D2D1496B3}"/>
              </a:ext>
            </a:extLst>
          </p:cNvPr>
          <p:cNvPicPr>
            <a:picLocks noChangeAspect="1"/>
          </p:cNvPicPr>
          <p:nvPr/>
        </p:nvPicPr>
        <p:blipFill>
          <a:blip r:embed="rId2"/>
          <a:stretch>
            <a:fillRect/>
          </a:stretch>
        </p:blipFill>
        <p:spPr>
          <a:xfrm>
            <a:off x="6333004" y="1614871"/>
            <a:ext cx="5090948" cy="3443668"/>
          </a:xfrm>
          <a:prstGeom prst="rect">
            <a:avLst/>
          </a:prstGeom>
        </p:spPr>
      </p:pic>
    </p:spTree>
    <p:extLst>
      <p:ext uri="{BB962C8B-B14F-4D97-AF65-F5344CB8AC3E}">
        <p14:creationId xmlns:p14="http://schemas.microsoft.com/office/powerpoint/2010/main" val="2951441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07471-A050-4CD1-8A00-D4FEB19CDD48}"/>
              </a:ext>
            </a:extLst>
          </p:cNvPr>
          <p:cNvSpPr>
            <a:spLocks noGrp="1"/>
          </p:cNvSpPr>
          <p:nvPr>
            <p:ph type="title"/>
          </p:nvPr>
        </p:nvSpPr>
        <p:spPr/>
        <p:txBody>
          <a:bodyPr/>
          <a:lstStyle/>
          <a:p>
            <a:r>
              <a:rPr lang="en-US" altLang="zh-CN" dirty="0"/>
              <a:t>Improving Latency</a:t>
            </a:r>
            <a:endParaRPr lang="zh-CN" altLang="en-US" dirty="0"/>
          </a:p>
        </p:txBody>
      </p:sp>
    </p:spTree>
    <p:extLst>
      <p:ext uri="{BB962C8B-B14F-4D97-AF65-F5344CB8AC3E}">
        <p14:creationId xmlns:p14="http://schemas.microsoft.com/office/powerpoint/2010/main" val="2218476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Latency and Throughput – The Performance Factors</a:t>
            </a:r>
          </a:p>
        </p:txBody>
      </p:sp>
      <p:sp>
        <p:nvSpPr>
          <p:cNvPr id="3" name="Content Placeholder 2"/>
          <p:cNvSpPr>
            <a:spLocks noGrp="1"/>
          </p:cNvSpPr>
          <p:nvPr>
            <p:ph idx="1"/>
          </p:nvPr>
        </p:nvSpPr>
        <p:spPr>
          <a:xfrm>
            <a:off x="655122" y="1064296"/>
            <a:ext cx="10515600" cy="4759404"/>
          </a:xfrm>
        </p:spPr>
        <p:txBody>
          <a:bodyPr/>
          <a:lstStyle/>
          <a:p>
            <a:r>
              <a:rPr lang="en-US" dirty="0"/>
              <a:t>Design Latency</a:t>
            </a:r>
          </a:p>
          <a:p>
            <a:pPr lvl="1"/>
            <a:r>
              <a:rPr lang="en-US" dirty="0"/>
              <a:t>The latency of the design is the number of cycle it takes to output the result</a:t>
            </a:r>
          </a:p>
          <a:p>
            <a:pPr lvl="2"/>
            <a:r>
              <a:rPr lang="en-US" dirty="0"/>
              <a:t>In this example the latency is </a:t>
            </a:r>
            <a:br>
              <a:rPr lang="en-US" dirty="0"/>
            </a:br>
            <a:r>
              <a:rPr lang="en-US" dirty="0"/>
              <a:t>10 cycles</a:t>
            </a:r>
          </a:p>
          <a:p>
            <a:pPr lvl="2"/>
            <a:endParaRPr lang="en-US" dirty="0"/>
          </a:p>
          <a:p>
            <a:pPr lvl="2"/>
            <a:endParaRPr lang="en-US" dirty="0"/>
          </a:p>
          <a:p>
            <a:pPr lvl="2"/>
            <a:endParaRPr lang="en-US" dirty="0"/>
          </a:p>
          <a:p>
            <a:pPr>
              <a:buNone/>
            </a:pPr>
            <a:endParaRPr lang="en-US" dirty="0"/>
          </a:p>
          <a:p>
            <a:r>
              <a:rPr lang="en-US" dirty="0"/>
              <a:t>Design Throughput</a:t>
            </a:r>
          </a:p>
          <a:p>
            <a:pPr lvl="1"/>
            <a:r>
              <a:rPr lang="en-US" dirty="0"/>
              <a:t>The throughput of the design is the </a:t>
            </a:r>
            <a:br>
              <a:rPr lang="en-US" dirty="0"/>
            </a:br>
            <a:r>
              <a:rPr lang="en-US" dirty="0"/>
              <a:t>number of cycles between new inputs</a:t>
            </a:r>
          </a:p>
          <a:p>
            <a:pPr lvl="2"/>
            <a:r>
              <a:rPr lang="en-US" dirty="0"/>
              <a:t>By default (no concurrency) this is the </a:t>
            </a:r>
            <a:br>
              <a:rPr lang="en-US" dirty="0"/>
            </a:br>
            <a:r>
              <a:rPr lang="en-US" dirty="0"/>
              <a:t>same as latency</a:t>
            </a:r>
          </a:p>
          <a:p>
            <a:pPr lvl="2"/>
            <a:r>
              <a:rPr lang="en-US" dirty="0"/>
              <a:t>Next start/read is when this transaction ends</a:t>
            </a:r>
          </a:p>
        </p:txBody>
      </p:sp>
      <p:sp>
        <p:nvSpPr>
          <p:cNvPr id="238" name="Slide Number Placeholder 237"/>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16</a:t>
            </a:fld>
            <a:endParaRPr lang="en-US" dirty="0"/>
          </a:p>
        </p:txBody>
      </p:sp>
      <p:pic>
        <p:nvPicPr>
          <p:cNvPr id="21508" name="Picture 4"/>
          <p:cNvPicPr>
            <a:picLocks noChangeAspect="1" noChangeArrowheads="1"/>
          </p:cNvPicPr>
          <p:nvPr/>
        </p:nvPicPr>
        <p:blipFill>
          <a:blip r:embed="rId3"/>
          <a:srcRect/>
          <a:stretch>
            <a:fillRect/>
          </a:stretch>
        </p:blipFill>
        <p:spPr bwMode="auto">
          <a:xfrm>
            <a:off x="4335614" y="2586748"/>
            <a:ext cx="7527257" cy="1714500"/>
          </a:xfrm>
          <a:prstGeom prst="rect">
            <a:avLst/>
          </a:prstGeom>
          <a:noFill/>
          <a:ln w="9525">
            <a:noFill/>
            <a:miter lim="800000"/>
            <a:headEnd/>
            <a:tailEnd/>
          </a:ln>
        </p:spPr>
      </p:pic>
      <p:pic>
        <p:nvPicPr>
          <p:cNvPr id="21509" name="Picture 5"/>
          <p:cNvPicPr>
            <a:picLocks noChangeAspect="1" noChangeArrowheads="1"/>
          </p:cNvPicPr>
          <p:nvPr/>
        </p:nvPicPr>
        <p:blipFill>
          <a:blip r:embed="rId4"/>
          <a:srcRect/>
          <a:stretch>
            <a:fillRect/>
          </a:stretch>
        </p:blipFill>
        <p:spPr bwMode="auto">
          <a:xfrm>
            <a:off x="5912922" y="4565116"/>
            <a:ext cx="5917313" cy="187007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4"/>
          <p:cNvPicPr>
            <a:picLocks noChangeAspect="1" noChangeArrowheads="1"/>
          </p:cNvPicPr>
          <p:nvPr/>
        </p:nvPicPr>
        <p:blipFill>
          <a:blip r:embed="rId2"/>
          <a:srcRect/>
          <a:stretch>
            <a:fillRect/>
          </a:stretch>
        </p:blipFill>
        <p:spPr bwMode="auto">
          <a:xfrm>
            <a:off x="3799564" y="1820116"/>
            <a:ext cx="8111472" cy="2093912"/>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Latency and Throughput</a:t>
            </a:r>
          </a:p>
        </p:txBody>
      </p:sp>
      <p:sp>
        <p:nvSpPr>
          <p:cNvPr id="3" name="Content Placeholder 2"/>
          <p:cNvSpPr>
            <a:spLocks noGrp="1"/>
          </p:cNvSpPr>
          <p:nvPr>
            <p:ph idx="1"/>
          </p:nvPr>
        </p:nvSpPr>
        <p:spPr>
          <a:xfrm>
            <a:off x="647700" y="1231298"/>
            <a:ext cx="10515600" cy="4759404"/>
          </a:xfrm>
        </p:spPr>
        <p:txBody>
          <a:bodyPr>
            <a:normAutofit lnSpcReduction="10000"/>
          </a:bodyPr>
          <a:lstStyle/>
          <a:p>
            <a:r>
              <a:rPr lang="en-US" dirty="0"/>
              <a:t>In the absence of any concurrency</a:t>
            </a:r>
          </a:p>
          <a:p>
            <a:pPr lvl="1"/>
            <a:r>
              <a:rPr lang="en-US" dirty="0"/>
              <a:t>Latency is the same as throughput</a:t>
            </a:r>
          </a:p>
          <a:p>
            <a:pPr lvl="1"/>
            <a:endParaRPr lang="en-US" dirty="0"/>
          </a:p>
          <a:p>
            <a:pPr lvl="1"/>
            <a:endParaRPr lang="en-US" dirty="0"/>
          </a:p>
          <a:p>
            <a:pPr lvl="1"/>
            <a:endParaRPr lang="en-US" dirty="0"/>
          </a:p>
          <a:p>
            <a:pPr lvl="1"/>
            <a:endParaRPr lang="en-US" dirty="0"/>
          </a:p>
          <a:p>
            <a:pPr lvl="1">
              <a:buNone/>
            </a:pPr>
            <a:endParaRPr lang="en-US" dirty="0"/>
          </a:p>
          <a:p>
            <a:r>
              <a:rPr lang="en-US" dirty="0"/>
              <a:t>Pipelining for higher throughput</a:t>
            </a:r>
          </a:p>
          <a:p>
            <a:pPr lvl="1"/>
            <a:r>
              <a:rPr lang="en-US" dirty="0"/>
              <a:t>Vitis HLS can pipeline functions and </a:t>
            </a:r>
            <a:br>
              <a:rPr lang="en-US" dirty="0"/>
            </a:br>
            <a:r>
              <a:rPr lang="en-US" dirty="0"/>
              <a:t>loops to improve throughput</a:t>
            </a:r>
          </a:p>
          <a:p>
            <a:pPr lvl="1"/>
            <a:r>
              <a:rPr lang="en-US" dirty="0"/>
              <a:t>Latency and throughput are related </a:t>
            </a:r>
          </a:p>
          <a:p>
            <a:pPr lvl="1"/>
            <a:r>
              <a:rPr lang="en-US" dirty="0"/>
              <a:t>We will discuss optimizing for latency </a:t>
            </a:r>
            <a:br>
              <a:rPr lang="en-US" dirty="0"/>
            </a:br>
            <a:r>
              <a:rPr lang="en-US" dirty="0"/>
              <a:t>first, then throughput</a:t>
            </a:r>
          </a:p>
          <a:p>
            <a:pPr lvl="2">
              <a:buNone/>
            </a:pPr>
            <a:endParaRPr lang="en-US" dirty="0"/>
          </a:p>
        </p:txBody>
      </p:sp>
      <p:sp>
        <p:nvSpPr>
          <p:cNvPr id="143" name="Slide Number Placeholder 142"/>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17</a:t>
            </a:fld>
            <a:endParaRPr lang="en-US" dirty="0"/>
          </a:p>
        </p:txBody>
      </p:sp>
      <p:pic>
        <p:nvPicPr>
          <p:cNvPr id="22531" name="Picture 3"/>
          <p:cNvPicPr>
            <a:picLocks noChangeAspect="1" noChangeArrowheads="1"/>
          </p:cNvPicPr>
          <p:nvPr/>
        </p:nvPicPr>
        <p:blipFill>
          <a:blip r:embed="rId3"/>
          <a:srcRect/>
          <a:stretch>
            <a:fillRect/>
          </a:stretch>
        </p:blipFill>
        <p:spPr bwMode="auto">
          <a:xfrm>
            <a:off x="5499340" y="3978492"/>
            <a:ext cx="6365926" cy="1853579"/>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3"/>
          <a:srcRect/>
          <a:stretch>
            <a:fillRect/>
          </a:stretch>
        </p:blipFill>
        <p:spPr bwMode="auto">
          <a:xfrm>
            <a:off x="4890964" y="4429377"/>
            <a:ext cx="7190093" cy="1672863"/>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Vitis HLS: Minimize latency</a:t>
            </a:r>
          </a:p>
        </p:txBody>
      </p:sp>
      <p:sp>
        <p:nvSpPr>
          <p:cNvPr id="3" name="Content Placeholder 2"/>
          <p:cNvSpPr>
            <a:spLocks noGrp="1"/>
          </p:cNvSpPr>
          <p:nvPr>
            <p:ph idx="1"/>
          </p:nvPr>
        </p:nvSpPr>
        <p:spPr>
          <a:xfrm>
            <a:off x="579121" y="1312829"/>
            <a:ext cx="10515600" cy="4759404"/>
          </a:xfrm>
        </p:spPr>
        <p:txBody>
          <a:bodyPr>
            <a:normAutofit/>
          </a:bodyPr>
          <a:lstStyle/>
          <a:p>
            <a:r>
              <a:rPr lang="en-US" sz="2000" dirty="0"/>
              <a:t>Vitis HLS will by default minimize latency </a:t>
            </a:r>
          </a:p>
          <a:p>
            <a:pPr lvl="1"/>
            <a:r>
              <a:rPr lang="en-US" dirty="0"/>
              <a:t>Throughput is prioritized above latency </a:t>
            </a:r>
            <a:br>
              <a:rPr lang="en-US" dirty="0"/>
            </a:br>
            <a:r>
              <a:rPr lang="en-US" dirty="0"/>
              <a:t>(no throughput directive is specified here)</a:t>
            </a:r>
          </a:p>
          <a:p>
            <a:pPr lvl="1"/>
            <a:r>
              <a:rPr lang="en-US" dirty="0"/>
              <a:t>In this example</a:t>
            </a:r>
          </a:p>
          <a:p>
            <a:pPr lvl="2"/>
            <a:r>
              <a:rPr lang="en-US" dirty="0"/>
              <a:t>The functions are connected as shown</a:t>
            </a:r>
          </a:p>
          <a:p>
            <a:pPr lvl="2"/>
            <a:r>
              <a:rPr lang="en-US" dirty="0"/>
              <a:t>Assume function B takes longer than any </a:t>
            </a:r>
            <a:br>
              <a:rPr lang="en-US" dirty="0"/>
            </a:br>
            <a:r>
              <a:rPr lang="en-US" dirty="0"/>
              <a:t>other functions</a:t>
            </a:r>
          </a:p>
          <a:p>
            <a:pPr lvl="2"/>
            <a:endParaRPr lang="en-US" sz="1000" dirty="0"/>
          </a:p>
          <a:p>
            <a:r>
              <a:rPr lang="en-US" sz="2000" dirty="0"/>
              <a:t>Vitis HLS will automatically take advantage of the parallelism</a:t>
            </a:r>
          </a:p>
          <a:p>
            <a:pPr lvl="1"/>
            <a:r>
              <a:rPr lang="en-US" dirty="0"/>
              <a:t>It will schedule functions to start </a:t>
            </a:r>
            <a:br>
              <a:rPr lang="en-US" dirty="0"/>
            </a:br>
            <a:r>
              <a:rPr lang="en-US" dirty="0"/>
              <a:t>as soon as they can</a:t>
            </a:r>
          </a:p>
          <a:p>
            <a:pPr lvl="2"/>
            <a:r>
              <a:rPr lang="en-US" dirty="0"/>
              <a:t>Note it will not do this for loops </a:t>
            </a:r>
            <a:br>
              <a:rPr lang="en-US" dirty="0"/>
            </a:br>
            <a:r>
              <a:rPr lang="en-US" dirty="0"/>
              <a:t>within a function: by default they </a:t>
            </a:r>
            <a:br>
              <a:rPr lang="en-US" dirty="0"/>
            </a:br>
            <a:r>
              <a:rPr lang="en-US" dirty="0"/>
              <a:t>are executed in sequence</a:t>
            </a:r>
          </a:p>
        </p:txBody>
      </p:sp>
      <p:sp>
        <p:nvSpPr>
          <p:cNvPr id="78" name="Slide Number Placeholder 7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18</a:t>
            </a:fld>
            <a:endParaRPr lang="en-US" dirty="0"/>
          </a:p>
        </p:txBody>
      </p:sp>
      <p:pic>
        <p:nvPicPr>
          <p:cNvPr id="23555" name="Picture 3"/>
          <p:cNvPicPr>
            <a:picLocks noChangeAspect="1" noChangeArrowheads="1"/>
          </p:cNvPicPr>
          <p:nvPr/>
        </p:nvPicPr>
        <p:blipFill>
          <a:blip r:embed="rId4"/>
          <a:srcRect/>
          <a:stretch>
            <a:fillRect/>
          </a:stretch>
        </p:blipFill>
        <p:spPr bwMode="auto">
          <a:xfrm>
            <a:off x="5671608" y="2282762"/>
            <a:ext cx="6306083" cy="1409769"/>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Reducing Latency</a:t>
            </a:r>
          </a:p>
        </p:txBody>
      </p:sp>
      <p:sp>
        <p:nvSpPr>
          <p:cNvPr id="2" name="Content Placeholder 1"/>
          <p:cNvSpPr>
            <a:spLocks noGrp="1"/>
          </p:cNvSpPr>
          <p:nvPr>
            <p:ph idx="1"/>
          </p:nvPr>
        </p:nvSpPr>
        <p:spPr/>
        <p:txBody>
          <a:bodyPr/>
          <a:lstStyle/>
          <a:p>
            <a:r>
              <a:rPr lang="en-US" dirty="0"/>
              <a:t>Vitis HLS has the following directives to reduce latency</a:t>
            </a:r>
          </a:p>
          <a:p>
            <a:pPr lvl="1"/>
            <a:r>
              <a:rPr lang="en-US" dirty="0"/>
              <a:t>LATENCY</a:t>
            </a:r>
          </a:p>
          <a:p>
            <a:pPr lvl="2"/>
            <a:r>
              <a:rPr lang="en-US" dirty="0"/>
              <a:t>Allows a minimum and maximum latency constraint to be specified</a:t>
            </a:r>
          </a:p>
          <a:p>
            <a:pPr lvl="1"/>
            <a:r>
              <a:rPr lang="en-US" dirty="0"/>
              <a:t>LOOP_FLATTEN</a:t>
            </a:r>
          </a:p>
          <a:p>
            <a:pPr lvl="2"/>
            <a:r>
              <a:rPr lang="en-US" dirty="0"/>
              <a:t>Allows nested loops to be collapsed into a single loop with improved latency</a:t>
            </a:r>
          </a:p>
          <a:p>
            <a:pPr lvl="1"/>
            <a:r>
              <a:rPr lang="en-US" dirty="0"/>
              <a:t>LOOP_MERGE</a:t>
            </a:r>
          </a:p>
          <a:p>
            <a:pPr lvl="2"/>
            <a:r>
              <a:rPr lang="en-US" dirty="0"/>
              <a:t>Merge consecutive loops to reduce overall latency, increase sharing, and improve logic optimization</a:t>
            </a:r>
          </a:p>
          <a:p>
            <a:pPr lvl="1"/>
            <a:r>
              <a:rPr lang="en-US" dirty="0"/>
              <a:t>UNROLL</a:t>
            </a:r>
          </a:p>
        </p:txBody>
      </p:sp>
      <p:sp>
        <p:nvSpPr>
          <p:cNvPr id="5" name="Slide Number Placeholder 4"/>
          <p:cNvSpPr>
            <a:spLocks noGrp="1"/>
          </p:cNvSpPr>
          <p:nvPr>
            <p:ph type="sldNum" sz="quarter" idx="10"/>
          </p:nvPr>
        </p:nvSpPr>
        <p:spPr/>
        <p:txBody>
          <a:bodyPr/>
          <a:lstStyle/>
          <a:p>
            <a:pPr>
              <a:defRPr/>
            </a:pPr>
            <a:r>
              <a:rPr lang="en-US" dirty="0"/>
              <a:t>Improving Performance 13- </a:t>
            </a:r>
            <a:fld id="{99D29FBF-A473-46DA-BC14-675AC1C8F9A5}" type="slidenum">
              <a:rPr lang="en-US" smtClean="0"/>
              <a:pPr>
                <a:defRPr/>
              </a:pPr>
              <a:t>19</a:t>
            </a:fld>
            <a:endParaRPr lang="en-US" dirty="0"/>
          </a:p>
        </p:txBody>
      </p:sp>
    </p:spTree>
    <p:extLst>
      <p:ext uri="{BB962C8B-B14F-4D97-AF65-F5344CB8AC3E}">
        <p14:creationId xmlns:p14="http://schemas.microsoft.com/office/powerpoint/2010/main" val="2393355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Default Behavior: Minimizing Latency</a:t>
            </a:r>
          </a:p>
        </p:txBody>
      </p:sp>
      <p:sp>
        <p:nvSpPr>
          <p:cNvPr id="3" name="Content Placeholder 2"/>
          <p:cNvSpPr>
            <a:spLocks noGrp="1"/>
          </p:cNvSpPr>
          <p:nvPr>
            <p:ph idx="1"/>
          </p:nvPr>
        </p:nvSpPr>
        <p:spPr>
          <a:xfrm>
            <a:off x="649117" y="1058472"/>
            <a:ext cx="10515600" cy="4759404"/>
          </a:xfrm>
        </p:spPr>
        <p:txBody>
          <a:bodyPr>
            <a:normAutofit/>
          </a:bodyPr>
          <a:lstStyle/>
          <a:p>
            <a:r>
              <a:rPr lang="en-US" dirty="0"/>
              <a:t>Functions</a:t>
            </a:r>
          </a:p>
          <a:p>
            <a:pPr lvl="1"/>
            <a:r>
              <a:rPr lang="en-US" dirty="0"/>
              <a:t>Vitis HLS will seek to minimize latency by allowing functions to operate in parallel</a:t>
            </a:r>
          </a:p>
          <a:p>
            <a:pPr lvl="2"/>
            <a:r>
              <a:rPr lang="en-US" dirty="0"/>
              <a:t>As shown on the previous slide</a:t>
            </a:r>
          </a:p>
          <a:p>
            <a:r>
              <a:rPr lang="en-US" dirty="0"/>
              <a:t>Loops</a:t>
            </a:r>
          </a:p>
          <a:p>
            <a:pPr lvl="1"/>
            <a:r>
              <a:rPr lang="en-US" dirty="0"/>
              <a:t>Vitis HLS will not schedule loops to operate in parallel by default</a:t>
            </a:r>
          </a:p>
          <a:p>
            <a:pPr lvl="2"/>
            <a:r>
              <a:rPr lang="en-US" dirty="0"/>
              <a:t>Dataflow optimization must be used or the loops must be unrolled</a:t>
            </a:r>
          </a:p>
          <a:p>
            <a:pPr lvl="2"/>
            <a:r>
              <a:rPr lang="en-US" dirty="0"/>
              <a:t>Both techniques are discussed in detail later</a:t>
            </a:r>
          </a:p>
          <a:p>
            <a:r>
              <a:rPr lang="en-US" dirty="0"/>
              <a:t>Operations</a:t>
            </a:r>
          </a:p>
          <a:p>
            <a:pPr lvl="1"/>
            <a:r>
              <a:rPr lang="en-US" dirty="0"/>
              <a:t>Vitis HLS will seek to minimize latency by allowing the operations to occur in parallel</a:t>
            </a:r>
          </a:p>
          <a:p>
            <a:pPr lvl="1"/>
            <a:r>
              <a:rPr lang="en-US" dirty="0"/>
              <a:t>It does this within functions </a:t>
            </a:r>
            <a:r>
              <a:rPr lang="en-US" u="sng" dirty="0"/>
              <a:t>and</a:t>
            </a:r>
            <a:r>
              <a:rPr lang="en-US" dirty="0"/>
              <a:t> within loops</a:t>
            </a:r>
          </a:p>
          <a:p>
            <a:pPr lvl="2"/>
            <a:endParaRPr lang="en-US" dirty="0"/>
          </a:p>
        </p:txBody>
      </p:sp>
      <p:sp>
        <p:nvSpPr>
          <p:cNvPr id="59" name="Slide Number Placeholder 58"/>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20</a:t>
            </a:fld>
            <a:endParaRPr lang="en-US" dirty="0"/>
          </a:p>
        </p:txBody>
      </p:sp>
      <p:sp>
        <p:nvSpPr>
          <p:cNvPr id="60" name="TextBox 59">
            <a:extLst>
              <a:ext uri="{FF2B5EF4-FFF2-40B4-BE49-F238E27FC236}">
                <a16:creationId xmlns:a16="http://schemas.microsoft.com/office/drawing/2014/main" id="{9E272F36-6530-42A4-83FA-5CA60A206D39}"/>
              </a:ext>
            </a:extLst>
          </p:cNvPr>
          <p:cNvSpPr txBox="1"/>
          <p:nvPr/>
        </p:nvSpPr>
        <p:spPr>
          <a:xfrm>
            <a:off x="8215316" y="3314850"/>
            <a:ext cx="3327567" cy="90024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Arial"/>
              </a:rPr>
              <a:t> </a:t>
            </a:r>
            <a:r>
              <a:rPr lang="en-US" sz="1050" b="1" kern="0" dirty="0" err="1">
                <a:solidFill>
                  <a:prstClr val="black"/>
                </a:solidFill>
                <a:latin typeface="Arial"/>
              </a:rPr>
              <a:t>Loop:for</a:t>
            </a:r>
            <a:r>
              <a:rPr lang="en-US" sz="1050" b="1" kern="0" dirty="0">
                <a:solidFill>
                  <a:prstClr val="black"/>
                </a:solidFill>
                <a:latin typeface="Arial"/>
              </a:rPr>
              <a:t>(</a:t>
            </a:r>
            <a:r>
              <a:rPr lang="en-US" sz="1050" b="1" kern="0" dirty="0" err="1">
                <a:solidFill>
                  <a:prstClr val="black"/>
                </a:solidFill>
                <a:latin typeface="Arial"/>
              </a:rPr>
              <a:t>i</a:t>
            </a:r>
            <a:r>
              <a:rPr lang="en-US" sz="1050" b="1" kern="0" dirty="0">
                <a:solidFill>
                  <a:prstClr val="black"/>
                </a:solidFill>
                <a:latin typeface="Arial"/>
              </a:rPr>
              <a:t>=1;i&lt;3;i++) {</a:t>
            </a:r>
          </a:p>
          <a:p>
            <a:pPr defTabSz="457200" fontAlgn="base">
              <a:spcBef>
                <a:spcPct val="0"/>
              </a:spcBef>
              <a:spcAft>
                <a:spcPct val="0"/>
              </a:spcAft>
              <a:defRPr/>
            </a:pPr>
            <a:r>
              <a:rPr lang="en-US" sz="1050" b="1" kern="0" dirty="0">
                <a:solidFill>
                  <a:prstClr val="black"/>
                </a:solidFill>
                <a:latin typeface="Arial"/>
              </a:rPr>
              <a:t>    op_Read;</a:t>
            </a:r>
          </a:p>
          <a:p>
            <a:pPr defTabSz="457200" fontAlgn="base">
              <a:spcBef>
                <a:spcPct val="0"/>
              </a:spcBef>
              <a:spcAft>
                <a:spcPct val="0"/>
              </a:spcAft>
              <a:defRPr/>
            </a:pPr>
            <a:r>
              <a:rPr lang="en-US" sz="1050" b="1" kern="0" dirty="0">
                <a:solidFill>
                  <a:prstClr val="black"/>
                </a:solidFill>
                <a:latin typeface="Arial"/>
              </a:rPr>
              <a:t>    op_Compute;</a:t>
            </a:r>
          </a:p>
          <a:p>
            <a:pPr defTabSz="457200" fontAlgn="base">
              <a:spcBef>
                <a:spcPct val="0"/>
              </a:spcBef>
              <a:spcAft>
                <a:spcPct val="0"/>
              </a:spcAft>
              <a:defRPr/>
            </a:pPr>
            <a:r>
              <a:rPr lang="en-US" sz="1050" b="1" kern="0" dirty="0">
                <a:solidFill>
                  <a:prstClr val="black"/>
                </a:solidFill>
                <a:latin typeface="Arial"/>
              </a:rPr>
              <a:t>    op_Write;</a:t>
            </a:r>
          </a:p>
          <a:p>
            <a:pPr defTabSz="457200" fontAlgn="base">
              <a:spcBef>
                <a:spcPct val="0"/>
              </a:spcBef>
              <a:spcAft>
                <a:spcPct val="0"/>
              </a:spcAft>
              <a:defRPr/>
            </a:pPr>
            <a:r>
              <a:rPr lang="en-US" sz="1050" b="1" kern="0" dirty="0">
                <a:solidFill>
                  <a:prstClr val="black"/>
                </a:solidFill>
                <a:latin typeface="Arial"/>
              </a:rPr>
              <a:t>  }</a:t>
            </a:r>
          </a:p>
        </p:txBody>
      </p:sp>
      <p:grpSp>
        <p:nvGrpSpPr>
          <p:cNvPr id="61" name="Group 60">
            <a:extLst>
              <a:ext uri="{FF2B5EF4-FFF2-40B4-BE49-F238E27FC236}">
                <a16:creationId xmlns:a16="http://schemas.microsoft.com/office/drawing/2014/main" id="{0851104C-9675-4032-9EAC-BC55B7591C0A}"/>
              </a:ext>
            </a:extLst>
          </p:cNvPr>
          <p:cNvGrpSpPr/>
          <p:nvPr/>
        </p:nvGrpSpPr>
        <p:grpSpPr>
          <a:xfrm>
            <a:off x="1192802" y="5256729"/>
            <a:ext cx="3327567" cy="900246"/>
            <a:chOff x="975085" y="5409129"/>
            <a:chExt cx="3327567" cy="900246"/>
          </a:xfrm>
        </p:grpSpPr>
        <p:sp>
          <p:nvSpPr>
            <p:cNvPr id="62" name="TextBox 61">
              <a:extLst>
                <a:ext uri="{FF2B5EF4-FFF2-40B4-BE49-F238E27FC236}">
                  <a16:creationId xmlns:a16="http://schemas.microsoft.com/office/drawing/2014/main" id="{27F40D9D-D929-4584-926E-611248CD4350}"/>
                </a:ext>
              </a:extLst>
            </p:cNvPr>
            <p:cNvSpPr txBox="1"/>
            <p:nvPr/>
          </p:nvSpPr>
          <p:spPr>
            <a:xfrm>
              <a:off x="975085" y="5409129"/>
              <a:ext cx="3327567" cy="90024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Arial"/>
                </a:rPr>
                <a:t>void foo(...) {</a:t>
              </a:r>
            </a:p>
            <a:p>
              <a:pPr defTabSz="457200" fontAlgn="base">
                <a:spcBef>
                  <a:spcPct val="0"/>
                </a:spcBef>
                <a:spcAft>
                  <a:spcPct val="0"/>
                </a:spcAft>
                <a:defRPr/>
              </a:pPr>
              <a:r>
                <a:rPr lang="en-US" sz="1050" b="1" kern="0" dirty="0">
                  <a:solidFill>
                    <a:prstClr val="black"/>
                  </a:solidFill>
                  <a:latin typeface="Arial"/>
                </a:rPr>
                <a:t>    op_Read;</a:t>
              </a:r>
            </a:p>
            <a:p>
              <a:pPr defTabSz="457200" fontAlgn="base">
                <a:spcBef>
                  <a:spcPct val="0"/>
                </a:spcBef>
                <a:spcAft>
                  <a:spcPct val="0"/>
                </a:spcAft>
                <a:defRPr/>
              </a:pPr>
              <a:r>
                <a:rPr lang="en-US" sz="1050" b="1" kern="0" dirty="0">
                  <a:solidFill>
                    <a:prstClr val="black"/>
                  </a:solidFill>
                  <a:latin typeface="Arial"/>
                </a:rPr>
                <a:t>    op_Compute;</a:t>
              </a:r>
            </a:p>
            <a:p>
              <a:pPr defTabSz="457200" fontAlgn="base">
                <a:spcBef>
                  <a:spcPct val="0"/>
                </a:spcBef>
                <a:spcAft>
                  <a:spcPct val="0"/>
                </a:spcAft>
                <a:defRPr/>
              </a:pPr>
              <a:r>
                <a:rPr lang="en-US" sz="1050" b="1" kern="0" dirty="0">
                  <a:solidFill>
                    <a:prstClr val="black"/>
                  </a:solidFill>
                  <a:latin typeface="Arial"/>
                </a:rPr>
                <a:t>    </a:t>
              </a:r>
              <a:r>
                <a:rPr lang="en-US" sz="1050" b="1" kern="0" dirty="0" err="1">
                  <a:solidFill>
                    <a:prstClr val="black"/>
                  </a:solidFill>
                  <a:latin typeface="Arial"/>
                </a:rPr>
                <a:t>op_Write</a:t>
              </a:r>
              <a:r>
                <a:rPr lang="en-US" sz="1050" b="1" kern="0" dirty="0">
                  <a:solidFill>
                    <a:prstClr val="black"/>
                  </a:solidFill>
                  <a:latin typeface="Arial"/>
                </a:rPr>
                <a:t>;</a:t>
              </a:r>
            </a:p>
            <a:p>
              <a:pPr defTabSz="457200" fontAlgn="base">
                <a:spcBef>
                  <a:spcPct val="0"/>
                </a:spcBef>
                <a:spcAft>
                  <a:spcPct val="0"/>
                </a:spcAft>
                <a:defRPr/>
              </a:pPr>
              <a:r>
                <a:rPr lang="en-US" sz="1050" b="1" kern="0" dirty="0">
                  <a:solidFill>
                    <a:prstClr val="black"/>
                  </a:solidFill>
                  <a:latin typeface="Arial"/>
                </a:rPr>
                <a:t>}</a:t>
              </a:r>
            </a:p>
          </p:txBody>
        </p:sp>
        <p:sp>
          <p:nvSpPr>
            <p:cNvPr id="63" name="Rounded Rectangle 9">
              <a:extLst>
                <a:ext uri="{FF2B5EF4-FFF2-40B4-BE49-F238E27FC236}">
                  <a16:creationId xmlns:a16="http://schemas.microsoft.com/office/drawing/2014/main" id="{775FAB5D-03EF-4BBE-BD41-528560741EBA}"/>
                </a:ext>
              </a:extLst>
            </p:cNvPr>
            <p:cNvSpPr/>
            <p:nvPr/>
          </p:nvSpPr>
          <p:spPr>
            <a:xfrm>
              <a:off x="2755464" y="5639559"/>
              <a:ext cx="812588"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64" name="Rounded Rectangle 10">
              <a:extLst>
                <a:ext uri="{FF2B5EF4-FFF2-40B4-BE49-F238E27FC236}">
                  <a16:creationId xmlns:a16="http://schemas.microsoft.com/office/drawing/2014/main" id="{4219D689-4469-4A44-A0F1-16DA9DF2AEB9}"/>
                </a:ext>
              </a:extLst>
            </p:cNvPr>
            <p:cNvSpPr/>
            <p:nvPr/>
          </p:nvSpPr>
          <p:spPr>
            <a:xfrm>
              <a:off x="2755464" y="5791959"/>
              <a:ext cx="812588"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65" name="Rounded Rectangle 11">
              <a:extLst>
                <a:ext uri="{FF2B5EF4-FFF2-40B4-BE49-F238E27FC236}">
                  <a16:creationId xmlns:a16="http://schemas.microsoft.com/office/drawing/2014/main" id="{23F546FB-1370-43CF-9E1B-ABE4E48F37A5}"/>
                </a:ext>
              </a:extLst>
            </p:cNvPr>
            <p:cNvSpPr/>
            <p:nvPr/>
          </p:nvSpPr>
          <p:spPr>
            <a:xfrm>
              <a:off x="2755464" y="5944359"/>
              <a:ext cx="812588"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grpSp>
      <p:grpSp>
        <p:nvGrpSpPr>
          <p:cNvPr id="66" name="Group 65">
            <a:extLst>
              <a:ext uri="{FF2B5EF4-FFF2-40B4-BE49-F238E27FC236}">
                <a16:creationId xmlns:a16="http://schemas.microsoft.com/office/drawing/2014/main" id="{B6DD169C-ED8D-4865-95FC-593526AF14F3}"/>
              </a:ext>
            </a:extLst>
          </p:cNvPr>
          <p:cNvGrpSpPr/>
          <p:nvPr/>
        </p:nvGrpSpPr>
        <p:grpSpPr>
          <a:xfrm>
            <a:off x="5846837" y="5155062"/>
            <a:ext cx="2535273" cy="958896"/>
            <a:chOff x="5070546" y="4672462"/>
            <a:chExt cx="2535273" cy="958896"/>
          </a:xfrm>
        </p:grpSpPr>
        <p:grpSp>
          <p:nvGrpSpPr>
            <p:cNvPr id="67" name="Group 71">
              <a:extLst>
                <a:ext uri="{FF2B5EF4-FFF2-40B4-BE49-F238E27FC236}">
                  <a16:creationId xmlns:a16="http://schemas.microsoft.com/office/drawing/2014/main" id="{E4EF4AC3-1487-4543-A081-041C3F1038CF}"/>
                </a:ext>
              </a:extLst>
            </p:cNvPr>
            <p:cNvGrpSpPr/>
            <p:nvPr/>
          </p:nvGrpSpPr>
          <p:grpSpPr>
            <a:xfrm>
              <a:off x="5401699" y="5178699"/>
              <a:ext cx="609443" cy="228600"/>
              <a:chOff x="-66694" y="1130300"/>
              <a:chExt cx="533401" cy="228600"/>
            </a:xfrm>
            <a:effectLst>
              <a:outerShdw blurRad="50800" dist="38100" dir="2700000" algn="tl" rotWithShape="0">
                <a:prstClr val="black">
                  <a:alpha val="40000"/>
                </a:prstClr>
              </a:outerShdw>
            </a:effectLst>
          </p:grpSpPr>
          <p:cxnSp>
            <p:nvCxnSpPr>
              <p:cNvPr id="87" name="Straight Connector 86">
                <a:extLst>
                  <a:ext uri="{FF2B5EF4-FFF2-40B4-BE49-F238E27FC236}">
                    <a16:creationId xmlns:a16="http://schemas.microsoft.com/office/drawing/2014/main" id="{12A0B88E-D62D-4071-AAEE-372D05370FD2}"/>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8" name="Straight Connector 87">
                <a:extLst>
                  <a:ext uri="{FF2B5EF4-FFF2-40B4-BE49-F238E27FC236}">
                    <a16:creationId xmlns:a16="http://schemas.microsoft.com/office/drawing/2014/main" id="{75A35249-1381-4D5D-A06F-2AA9B5715CE9}"/>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9" name="Straight Connector 88">
                <a:extLst>
                  <a:ext uri="{FF2B5EF4-FFF2-40B4-BE49-F238E27FC236}">
                    <a16:creationId xmlns:a16="http://schemas.microsoft.com/office/drawing/2014/main" id="{1BEAA6B3-FFCA-4379-A656-1780E78283C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0" name="Straight Connector 89">
                <a:extLst>
                  <a:ext uri="{FF2B5EF4-FFF2-40B4-BE49-F238E27FC236}">
                    <a16:creationId xmlns:a16="http://schemas.microsoft.com/office/drawing/2014/main" id="{7661C1F2-8E3F-43C2-A60B-EF4B1A1F23DD}"/>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68" name="Group 71">
              <a:extLst>
                <a:ext uri="{FF2B5EF4-FFF2-40B4-BE49-F238E27FC236}">
                  <a16:creationId xmlns:a16="http://schemas.microsoft.com/office/drawing/2014/main" id="{E8183031-36A2-49EA-8ABF-41613C7310A7}"/>
                </a:ext>
              </a:extLst>
            </p:cNvPr>
            <p:cNvGrpSpPr/>
            <p:nvPr/>
          </p:nvGrpSpPr>
          <p:grpSpPr>
            <a:xfrm>
              <a:off x="6011140" y="5178699"/>
              <a:ext cx="609443" cy="228600"/>
              <a:chOff x="-66694" y="1130300"/>
              <a:chExt cx="533401" cy="228600"/>
            </a:xfrm>
            <a:effectLst>
              <a:outerShdw blurRad="50800" dist="38100" dir="2700000" algn="tl" rotWithShape="0">
                <a:prstClr val="black">
                  <a:alpha val="40000"/>
                </a:prstClr>
              </a:outerShdw>
            </a:effectLst>
          </p:grpSpPr>
          <p:cxnSp>
            <p:nvCxnSpPr>
              <p:cNvPr id="81" name="Straight Connector 80">
                <a:extLst>
                  <a:ext uri="{FF2B5EF4-FFF2-40B4-BE49-F238E27FC236}">
                    <a16:creationId xmlns:a16="http://schemas.microsoft.com/office/drawing/2014/main" id="{3600734E-6C40-47F1-88A3-C1352F237CE4}"/>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2" name="Straight Connector 81">
                <a:extLst>
                  <a:ext uri="{FF2B5EF4-FFF2-40B4-BE49-F238E27FC236}">
                    <a16:creationId xmlns:a16="http://schemas.microsoft.com/office/drawing/2014/main" id="{1FF431C5-1DF9-40CF-ABAB-11EDAD6E9B5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5" name="Straight Connector 84">
                <a:extLst>
                  <a:ext uri="{FF2B5EF4-FFF2-40B4-BE49-F238E27FC236}">
                    <a16:creationId xmlns:a16="http://schemas.microsoft.com/office/drawing/2014/main" id="{7AD46FD8-8B4E-423B-95E3-7E79D006D65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6" name="Straight Connector 85">
                <a:extLst>
                  <a:ext uri="{FF2B5EF4-FFF2-40B4-BE49-F238E27FC236}">
                    <a16:creationId xmlns:a16="http://schemas.microsoft.com/office/drawing/2014/main" id="{BB785CC1-780F-4944-AED9-2B4EFCE58A6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72" name="Group 71">
              <a:extLst>
                <a:ext uri="{FF2B5EF4-FFF2-40B4-BE49-F238E27FC236}">
                  <a16:creationId xmlns:a16="http://schemas.microsoft.com/office/drawing/2014/main" id="{2ED75638-58B4-4770-A1CB-357B7AA0E4AA}"/>
                </a:ext>
              </a:extLst>
            </p:cNvPr>
            <p:cNvGrpSpPr/>
            <p:nvPr/>
          </p:nvGrpSpPr>
          <p:grpSpPr>
            <a:xfrm>
              <a:off x="6620581" y="5178699"/>
              <a:ext cx="609443" cy="228600"/>
              <a:chOff x="-66694" y="1130300"/>
              <a:chExt cx="533401" cy="228600"/>
            </a:xfrm>
            <a:effectLst>
              <a:outerShdw blurRad="50800" dist="38100" dir="2700000" algn="tl" rotWithShape="0">
                <a:prstClr val="black">
                  <a:alpha val="40000"/>
                </a:prstClr>
              </a:outerShdw>
            </a:effectLst>
          </p:grpSpPr>
          <p:cxnSp>
            <p:nvCxnSpPr>
              <p:cNvPr id="77" name="Straight Connector 76">
                <a:extLst>
                  <a:ext uri="{FF2B5EF4-FFF2-40B4-BE49-F238E27FC236}">
                    <a16:creationId xmlns:a16="http://schemas.microsoft.com/office/drawing/2014/main" id="{7DFB21FE-C809-4AB7-90DF-08B5CD65D58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8" name="Straight Connector 77">
                <a:extLst>
                  <a:ext uri="{FF2B5EF4-FFF2-40B4-BE49-F238E27FC236}">
                    <a16:creationId xmlns:a16="http://schemas.microsoft.com/office/drawing/2014/main" id="{1F85B4AB-9B8D-4722-BAA2-7E397CD47209}"/>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9" name="Straight Connector 78">
                <a:extLst>
                  <a:ext uri="{FF2B5EF4-FFF2-40B4-BE49-F238E27FC236}">
                    <a16:creationId xmlns:a16="http://schemas.microsoft.com/office/drawing/2014/main" id="{8C738F7B-2DAA-4701-9EE9-962BC99476DC}"/>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0" name="Straight Connector 79">
                <a:extLst>
                  <a:ext uri="{FF2B5EF4-FFF2-40B4-BE49-F238E27FC236}">
                    <a16:creationId xmlns:a16="http://schemas.microsoft.com/office/drawing/2014/main" id="{0581BF3D-8600-4305-81E6-3E40A10773C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73" name="Rounded Rectangle 42">
              <a:extLst>
                <a:ext uri="{FF2B5EF4-FFF2-40B4-BE49-F238E27FC236}">
                  <a16:creationId xmlns:a16="http://schemas.microsoft.com/office/drawing/2014/main" id="{49E7E95A-C294-41E8-ACD4-096F480923A6}"/>
                </a:ext>
              </a:extLst>
            </p:cNvPr>
            <p:cNvSpPr/>
            <p:nvPr/>
          </p:nvSpPr>
          <p:spPr>
            <a:xfrm>
              <a:off x="5350906" y="5478958"/>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74" name="Rounded Rectangle 43">
              <a:extLst>
                <a:ext uri="{FF2B5EF4-FFF2-40B4-BE49-F238E27FC236}">
                  <a16:creationId xmlns:a16="http://schemas.microsoft.com/office/drawing/2014/main" id="{6439C492-D1F4-4DDC-B6AD-3C6BAB7D497E}"/>
                </a:ext>
              </a:extLst>
            </p:cNvPr>
            <p:cNvSpPr/>
            <p:nvPr/>
          </p:nvSpPr>
          <p:spPr>
            <a:xfrm>
              <a:off x="5960349" y="5478958"/>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75" name="Rounded Rectangle 44">
              <a:extLst>
                <a:ext uri="{FF2B5EF4-FFF2-40B4-BE49-F238E27FC236}">
                  <a16:creationId xmlns:a16="http://schemas.microsoft.com/office/drawing/2014/main" id="{88095012-B636-4301-A588-B98A67E15BFC}"/>
                </a:ext>
              </a:extLst>
            </p:cNvPr>
            <p:cNvSpPr/>
            <p:nvPr/>
          </p:nvSpPr>
          <p:spPr>
            <a:xfrm>
              <a:off x="6569790" y="5478958"/>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76" name="TextBox 75">
              <a:extLst>
                <a:ext uri="{FF2B5EF4-FFF2-40B4-BE49-F238E27FC236}">
                  <a16:creationId xmlns:a16="http://schemas.microsoft.com/office/drawing/2014/main" id="{E17BDB4D-CDE0-469D-BFE7-704D04D5C52A}"/>
                </a:ext>
              </a:extLst>
            </p:cNvPr>
            <p:cNvSpPr txBox="1"/>
            <p:nvPr/>
          </p:nvSpPr>
          <p:spPr>
            <a:xfrm>
              <a:off x="5070546" y="4672462"/>
              <a:ext cx="2535273" cy="461665"/>
            </a:xfrm>
            <a:prstGeom prst="rect">
              <a:avLst/>
            </a:prstGeom>
            <a:noFill/>
          </p:spPr>
          <p:txBody>
            <a:bodyPr wrap="square" rtlCol="0">
              <a:spAutoFit/>
            </a:bodyPr>
            <a:lstStyle/>
            <a:p>
              <a:pPr algn="ctr" defTabSz="457200" fontAlgn="base">
                <a:spcBef>
                  <a:spcPct val="0"/>
                </a:spcBef>
                <a:spcAft>
                  <a:spcPct val="0"/>
                </a:spcAft>
                <a:defRPr/>
              </a:pPr>
              <a:r>
                <a:rPr lang="en-US" sz="1200" u="sng" kern="0" dirty="0">
                  <a:solidFill>
                    <a:prstClr val="black"/>
                  </a:solidFill>
                  <a:ea typeface="ＭＳ Ｐゴシック" pitchFamily="34" charset="-128"/>
                  <a:cs typeface="Arial" charset="0"/>
                </a:rPr>
                <a:t>Example with Sequential Operations</a:t>
              </a:r>
            </a:p>
          </p:txBody>
        </p:sp>
      </p:grpSp>
      <p:grpSp>
        <p:nvGrpSpPr>
          <p:cNvPr id="91" name="Group 90">
            <a:extLst>
              <a:ext uri="{FF2B5EF4-FFF2-40B4-BE49-F238E27FC236}">
                <a16:creationId xmlns:a16="http://schemas.microsoft.com/office/drawing/2014/main" id="{ACD8796D-008F-4894-A50C-F4668CDCE548}"/>
              </a:ext>
            </a:extLst>
          </p:cNvPr>
          <p:cNvGrpSpPr/>
          <p:nvPr/>
        </p:nvGrpSpPr>
        <p:grpSpPr>
          <a:xfrm>
            <a:off x="8666009" y="4964905"/>
            <a:ext cx="3173987" cy="1120717"/>
            <a:chOff x="8346919" y="4672462"/>
            <a:chExt cx="3173987" cy="1120717"/>
          </a:xfrm>
        </p:grpSpPr>
        <p:grpSp>
          <p:nvGrpSpPr>
            <p:cNvPr id="92" name="Group 71">
              <a:extLst>
                <a:ext uri="{FF2B5EF4-FFF2-40B4-BE49-F238E27FC236}">
                  <a16:creationId xmlns:a16="http://schemas.microsoft.com/office/drawing/2014/main" id="{FC486808-2AFE-479E-8E20-F739ECF6BF5A}"/>
                </a:ext>
              </a:extLst>
            </p:cNvPr>
            <p:cNvGrpSpPr/>
            <p:nvPr/>
          </p:nvGrpSpPr>
          <p:grpSpPr>
            <a:xfrm>
              <a:off x="9092903" y="5178699"/>
              <a:ext cx="609443" cy="228600"/>
              <a:chOff x="-66694" y="1130300"/>
              <a:chExt cx="533401" cy="228600"/>
            </a:xfrm>
            <a:effectLst>
              <a:outerShdw blurRad="50800" dist="38100" dir="2700000" algn="tl" rotWithShape="0">
                <a:prstClr val="black">
                  <a:alpha val="40000"/>
                </a:prstClr>
              </a:outerShdw>
            </a:effectLst>
          </p:grpSpPr>
          <p:cxnSp>
            <p:nvCxnSpPr>
              <p:cNvPr id="102" name="Straight Connector 101">
                <a:extLst>
                  <a:ext uri="{FF2B5EF4-FFF2-40B4-BE49-F238E27FC236}">
                    <a16:creationId xmlns:a16="http://schemas.microsoft.com/office/drawing/2014/main" id="{8E97FDE7-D3BD-437B-A896-1B7F9E87D88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3" name="Straight Connector 102">
                <a:extLst>
                  <a:ext uri="{FF2B5EF4-FFF2-40B4-BE49-F238E27FC236}">
                    <a16:creationId xmlns:a16="http://schemas.microsoft.com/office/drawing/2014/main" id="{BEE72FE6-EEB2-4BEF-BBBE-8B22EFD7A767}"/>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4" name="Straight Connector 103">
                <a:extLst>
                  <a:ext uri="{FF2B5EF4-FFF2-40B4-BE49-F238E27FC236}">
                    <a16:creationId xmlns:a16="http://schemas.microsoft.com/office/drawing/2014/main" id="{0E369073-28FC-413F-9F53-73123800E14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5" name="Straight Connector 104">
                <a:extLst>
                  <a:ext uri="{FF2B5EF4-FFF2-40B4-BE49-F238E27FC236}">
                    <a16:creationId xmlns:a16="http://schemas.microsoft.com/office/drawing/2014/main" id="{6B1AFB33-FFA6-4E84-84BD-60FFD338BB0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93" name="Group 71">
              <a:extLst>
                <a:ext uri="{FF2B5EF4-FFF2-40B4-BE49-F238E27FC236}">
                  <a16:creationId xmlns:a16="http://schemas.microsoft.com/office/drawing/2014/main" id="{D7844EF8-866B-4A38-B09B-B42EEE349342}"/>
                </a:ext>
              </a:extLst>
            </p:cNvPr>
            <p:cNvGrpSpPr/>
            <p:nvPr/>
          </p:nvGrpSpPr>
          <p:grpSpPr>
            <a:xfrm>
              <a:off x="9712101" y="5178699"/>
              <a:ext cx="609443" cy="228600"/>
              <a:chOff x="-66694" y="1130300"/>
              <a:chExt cx="533401" cy="228600"/>
            </a:xfrm>
            <a:effectLst>
              <a:outerShdw blurRad="50800" dist="38100" dir="2700000" algn="tl" rotWithShape="0">
                <a:prstClr val="black">
                  <a:alpha val="40000"/>
                </a:prstClr>
              </a:outerShdw>
            </a:effectLst>
          </p:grpSpPr>
          <p:cxnSp>
            <p:nvCxnSpPr>
              <p:cNvPr id="98" name="Straight Connector 97">
                <a:extLst>
                  <a:ext uri="{FF2B5EF4-FFF2-40B4-BE49-F238E27FC236}">
                    <a16:creationId xmlns:a16="http://schemas.microsoft.com/office/drawing/2014/main" id="{C80361CE-6EF3-4312-9B38-013503ABFAD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9" name="Straight Connector 98">
                <a:extLst>
                  <a:ext uri="{FF2B5EF4-FFF2-40B4-BE49-F238E27FC236}">
                    <a16:creationId xmlns:a16="http://schemas.microsoft.com/office/drawing/2014/main" id="{8DC25D38-B59B-4F52-B45C-9B5BE776C4F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0" name="Straight Connector 99">
                <a:extLst>
                  <a:ext uri="{FF2B5EF4-FFF2-40B4-BE49-F238E27FC236}">
                    <a16:creationId xmlns:a16="http://schemas.microsoft.com/office/drawing/2014/main" id="{E097B481-E210-4655-9DA5-768364BAB8D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1" name="Straight Connector 100">
                <a:extLst>
                  <a:ext uri="{FF2B5EF4-FFF2-40B4-BE49-F238E27FC236}">
                    <a16:creationId xmlns:a16="http://schemas.microsoft.com/office/drawing/2014/main" id="{627E6BDA-7600-45F6-BDD8-1BC11DD6A80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94" name="Rounded Rectangle 68">
              <a:extLst>
                <a:ext uri="{FF2B5EF4-FFF2-40B4-BE49-F238E27FC236}">
                  <a16:creationId xmlns:a16="http://schemas.microsoft.com/office/drawing/2014/main" id="{3176A945-FD3B-46C5-86F9-E30DE861123E}"/>
                </a:ext>
              </a:extLst>
            </p:cNvPr>
            <p:cNvSpPr/>
            <p:nvPr/>
          </p:nvSpPr>
          <p:spPr>
            <a:xfrm>
              <a:off x="9068506" y="5478958"/>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95" name="Rounded Rectangle 69">
              <a:extLst>
                <a:ext uri="{FF2B5EF4-FFF2-40B4-BE49-F238E27FC236}">
                  <a16:creationId xmlns:a16="http://schemas.microsoft.com/office/drawing/2014/main" id="{ED767D43-FAFC-41F2-B840-AF9DCA424E4B}"/>
                </a:ext>
              </a:extLst>
            </p:cNvPr>
            <p:cNvSpPr/>
            <p:nvPr/>
          </p:nvSpPr>
          <p:spPr>
            <a:xfrm>
              <a:off x="9063626" y="5640779"/>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96" name="Rounded Rectangle 70">
              <a:extLst>
                <a:ext uri="{FF2B5EF4-FFF2-40B4-BE49-F238E27FC236}">
                  <a16:creationId xmlns:a16="http://schemas.microsoft.com/office/drawing/2014/main" id="{C9393F44-EAF7-404B-8B27-F6412739C270}"/>
                </a:ext>
              </a:extLst>
            </p:cNvPr>
            <p:cNvSpPr/>
            <p:nvPr/>
          </p:nvSpPr>
          <p:spPr>
            <a:xfrm>
              <a:off x="9697462" y="5478958"/>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97" name="TextBox 96">
              <a:extLst>
                <a:ext uri="{FF2B5EF4-FFF2-40B4-BE49-F238E27FC236}">
                  <a16:creationId xmlns:a16="http://schemas.microsoft.com/office/drawing/2014/main" id="{5364C452-E0D9-4BFA-A9DE-B0E47A12AE16}"/>
                </a:ext>
              </a:extLst>
            </p:cNvPr>
            <p:cNvSpPr txBox="1"/>
            <p:nvPr/>
          </p:nvSpPr>
          <p:spPr>
            <a:xfrm>
              <a:off x="8346919" y="4672462"/>
              <a:ext cx="3173987" cy="461665"/>
            </a:xfrm>
            <a:prstGeom prst="rect">
              <a:avLst/>
            </a:prstGeom>
            <a:noFill/>
          </p:spPr>
          <p:txBody>
            <a:bodyPr wrap="square" rtlCol="0">
              <a:spAutoFit/>
            </a:bodyPr>
            <a:lstStyle/>
            <a:p>
              <a:pPr algn="ctr" defTabSz="457200" fontAlgn="base">
                <a:spcBef>
                  <a:spcPct val="0"/>
                </a:spcBef>
                <a:spcAft>
                  <a:spcPct val="0"/>
                </a:spcAft>
                <a:defRPr/>
              </a:pPr>
              <a:r>
                <a:rPr lang="en-US" sz="1200" u="sng" kern="0" dirty="0">
                  <a:solidFill>
                    <a:prstClr val="black"/>
                  </a:solidFill>
                  <a:ea typeface="ＭＳ Ｐゴシック" pitchFamily="34" charset="-128"/>
                  <a:cs typeface="Arial" charset="0"/>
                </a:rPr>
                <a:t>Example of Minimizing latency with Parallel Operations</a:t>
              </a:r>
            </a:p>
          </p:txBody>
        </p:sp>
      </p:grpSp>
      <p:sp>
        <p:nvSpPr>
          <p:cNvPr id="106" name="Rounded Rectangle 5">
            <a:extLst>
              <a:ext uri="{FF2B5EF4-FFF2-40B4-BE49-F238E27FC236}">
                <a16:creationId xmlns:a16="http://schemas.microsoft.com/office/drawing/2014/main" id="{860995B4-E52A-49C5-A454-FFE9BDC2CEDA}"/>
              </a:ext>
            </a:extLst>
          </p:cNvPr>
          <p:cNvSpPr/>
          <p:nvPr/>
        </p:nvSpPr>
        <p:spPr>
          <a:xfrm>
            <a:off x="9970880" y="3649819"/>
            <a:ext cx="812588"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u="sng" kern="0" dirty="0">
                <a:solidFill>
                  <a:prstClr val="black"/>
                </a:solidFill>
                <a:latin typeface="Arial"/>
              </a:rPr>
              <a:t>RD</a:t>
            </a:r>
            <a:endParaRPr lang="en-US" sz="1100" b="1" u="sng" kern="0" dirty="0">
              <a:solidFill>
                <a:prstClr val="black"/>
              </a:solidFill>
              <a:latin typeface="Arial"/>
            </a:endParaRPr>
          </a:p>
        </p:txBody>
      </p:sp>
      <p:sp>
        <p:nvSpPr>
          <p:cNvPr id="107" name="Rounded Rectangle 6">
            <a:extLst>
              <a:ext uri="{FF2B5EF4-FFF2-40B4-BE49-F238E27FC236}">
                <a16:creationId xmlns:a16="http://schemas.microsoft.com/office/drawing/2014/main" id="{850C609E-0109-44BB-804E-0985ED6BE327}"/>
              </a:ext>
            </a:extLst>
          </p:cNvPr>
          <p:cNvSpPr/>
          <p:nvPr/>
        </p:nvSpPr>
        <p:spPr>
          <a:xfrm>
            <a:off x="9970880" y="3802219"/>
            <a:ext cx="812588"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u="sng" kern="0" dirty="0">
                <a:solidFill>
                  <a:prstClr val="black"/>
                </a:solidFill>
                <a:latin typeface="Arial"/>
              </a:rPr>
              <a:t>CMP</a:t>
            </a:r>
            <a:endParaRPr lang="en-US" sz="800" u="sng" kern="0" dirty="0">
              <a:solidFill>
                <a:prstClr val="black"/>
              </a:solidFill>
              <a:latin typeface="Arial"/>
            </a:endParaRPr>
          </a:p>
        </p:txBody>
      </p:sp>
      <p:sp>
        <p:nvSpPr>
          <p:cNvPr id="108" name="Rounded Rectangle 7">
            <a:extLst>
              <a:ext uri="{FF2B5EF4-FFF2-40B4-BE49-F238E27FC236}">
                <a16:creationId xmlns:a16="http://schemas.microsoft.com/office/drawing/2014/main" id="{BB353743-1EA4-489C-A7B0-CF9CD285F3C6}"/>
              </a:ext>
            </a:extLst>
          </p:cNvPr>
          <p:cNvSpPr/>
          <p:nvPr/>
        </p:nvSpPr>
        <p:spPr>
          <a:xfrm>
            <a:off x="9970880" y="3954619"/>
            <a:ext cx="812588"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Latency Constraints</a:t>
            </a:r>
          </a:p>
        </p:txBody>
      </p:sp>
      <p:sp>
        <p:nvSpPr>
          <p:cNvPr id="3" name="Content Placeholder 2"/>
          <p:cNvSpPr>
            <a:spLocks noGrp="1"/>
          </p:cNvSpPr>
          <p:nvPr>
            <p:ph idx="1"/>
          </p:nvPr>
        </p:nvSpPr>
        <p:spPr/>
        <p:txBody>
          <a:bodyPr/>
          <a:lstStyle/>
          <a:p>
            <a:r>
              <a:rPr lang="en-US" dirty="0"/>
              <a:t>Latency constraints can be specified </a:t>
            </a:r>
          </a:p>
          <a:p>
            <a:pPr lvl="1"/>
            <a:r>
              <a:rPr lang="en-US" dirty="0"/>
              <a:t>Can define a minimum and/or maximum latency for the location</a:t>
            </a:r>
          </a:p>
          <a:p>
            <a:pPr lvl="2"/>
            <a:r>
              <a:rPr lang="en-US" dirty="0"/>
              <a:t>This is applied to all objects in the specified scope</a:t>
            </a:r>
          </a:p>
          <a:p>
            <a:pPr lvl="1"/>
            <a:r>
              <a:rPr lang="en-US" dirty="0"/>
              <a:t>No range specification: schedule for minimum</a:t>
            </a:r>
          </a:p>
          <a:p>
            <a:pPr lvl="2"/>
            <a:r>
              <a:rPr lang="en-US" dirty="0"/>
              <a:t>Which is the default </a:t>
            </a:r>
          </a:p>
        </p:txBody>
      </p:sp>
      <p:sp>
        <p:nvSpPr>
          <p:cNvPr id="86" name="Slide Number Placeholder 8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21</a:t>
            </a:fld>
            <a:endParaRPr lang="en-US" dirty="0"/>
          </a:p>
        </p:txBody>
      </p:sp>
      <p:sp>
        <p:nvSpPr>
          <p:cNvPr id="82" name="TextBox 81"/>
          <p:cNvSpPr txBox="1"/>
          <p:nvPr/>
        </p:nvSpPr>
        <p:spPr>
          <a:xfrm>
            <a:off x="6707735" y="2622764"/>
            <a:ext cx="1689380" cy="253916"/>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defTabSz="457200"/>
            <a:r>
              <a:rPr lang="en-US" sz="1050" b="1" dirty="0">
                <a:solidFill>
                  <a:prstClr val="black"/>
                </a:solidFill>
                <a:ea typeface="ＭＳ Ｐゴシック" pitchFamily="34" charset="-128"/>
                <a:cs typeface="Arial" charset="0"/>
              </a:rPr>
              <a:t>Impact of ranges</a:t>
            </a:r>
          </a:p>
        </p:txBody>
      </p:sp>
      <p:pic>
        <p:nvPicPr>
          <p:cNvPr id="24578" name="Picture 2"/>
          <p:cNvPicPr>
            <a:picLocks noChangeAspect="1" noChangeArrowheads="1"/>
          </p:cNvPicPr>
          <p:nvPr/>
        </p:nvPicPr>
        <p:blipFill>
          <a:blip r:embed="rId2"/>
          <a:srcRect/>
          <a:stretch>
            <a:fillRect/>
          </a:stretch>
        </p:blipFill>
        <p:spPr bwMode="auto">
          <a:xfrm>
            <a:off x="2703636" y="3378543"/>
            <a:ext cx="6907091" cy="3103563"/>
          </a:xfrm>
          <a:prstGeom prst="rect">
            <a:avLst/>
          </a:prstGeom>
          <a:noFill/>
          <a:ln w="9525">
            <a:noFill/>
            <a:miter lim="800000"/>
            <a:headEnd/>
            <a:tailEnd/>
          </a:ln>
        </p:spPr>
      </p:pic>
      <p:sp>
        <p:nvSpPr>
          <p:cNvPr id="10" name="Left Brace 9">
            <a:extLst>
              <a:ext uri="{FF2B5EF4-FFF2-40B4-BE49-F238E27FC236}">
                <a16:creationId xmlns:a16="http://schemas.microsoft.com/office/drawing/2014/main" id="{53B48797-0696-411E-8E4D-3719E3815D04}"/>
              </a:ext>
            </a:extLst>
          </p:cNvPr>
          <p:cNvSpPr/>
          <p:nvPr/>
        </p:nvSpPr>
        <p:spPr>
          <a:xfrm>
            <a:off x="8429926" y="2533943"/>
            <a:ext cx="153580" cy="422455"/>
          </a:xfrm>
          <a:prstGeom prst="lef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a:solidFill>
                <a:prstClr val="black"/>
              </a:solidFill>
              <a:latin typeface="Arial"/>
            </a:endParaRPr>
          </a:p>
        </p:txBody>
      </p:sp>
      <p:cxnSp>
        <p:nvCxnSpPr>
          <p:cNvPr id="11" name="Straight Arrow Connector 10">
            <a:extLst>
              <a:ext uri="{FF2B5EF4-FFF2-40B4-BE49-F238E27FC236}">
                <a16:creationId xmlns:a16="http://schemas.microsoft.com/office/drawing/2014/main" id="{11DA6087-C185-44F7-9682-B5D349A2403F}"/>
              </a:ext>
            </a:extLst>
          </p:cNvPr>
          <p:cNvCxnSpPr>
            <a:cxnSpLocks/>
          </p:cNvCxnSpPr>
          <p:nvPr/>
        </p:nvCxnSpPr>
        <p:spPr>
          <a:xfrm flipH="1">
            <a:off x="6867134" y="2903856"/>
            <a:ext cx="491120" cy="447510"/>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pic>
        <p:nvPicPr>
          <p:cNvPr id="6" name="图片 5" descr="图形用户界面, 应用程序&#10;&#10;描述已自动生成">
            <a:extLst>
              <a:ext uri="{FF2B5EF4-FFF2-40B4-BE49-F238E27FC236}">
                <a16:creationId xmlns:a16="http://schemas.microsoft.com/office/drawing/2014/main" id="{86F2B6F2-7200-4385-8C5E-855D50EBC036}"/>
              </a:ext>
            </a:extLst>
          </p:cNvPr>
          <p:cNvPicPr>
            <a:picLocks noChangeAspect="1"/>
          </p:cNvPicPr>
          <p:nvPr/>
        </p:nvPicPr>
        <p:blipFill>
          <a:blip r:embed="rId3"/>
          <a:stretch>
            <a:fillRect/>
          </a:stretch>
        </p:blipFill>
        <p:spPr>
          <a:xfrm>
            <a:off x="8583477" y="1298811"/>
            <a:ext cx="2578495" cy="1828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Latency Constraints</a:t>
            </a:r>
          </a:p>
        </p:txBody>
      </p:sp>
      <p:sp>
        <p:nvSpPr>
          <p:cNvPr id="3" name="Content Placeholder 2"/>
          <p:cNvSpPr>
            <a:spLocks noGrp="1"/>
          </p:cNvSpPr>
          <p:nvPr>
            <p:ph idx="1"/>
          </p:nvPr>
        </p:nvSpPr>
        <p:spPr/>
        <p:txBody>
          <a:bodyPr/>
          <a:lstStyle/>
          <a:p>
            <a:r>
              <a:rPr lang="en-US" dirty="0"/>
              <a:t>Latency constraints can be specified </a:t>
            </a:r>
          </a:p>
          <a:p>
            <a:pPr lvl="1"/>
            <a:r>
              <a:rPr lang="en-US" dirty="0"/>
              <a:t>Can define a minimum and/or maximum latency for the location</a:t>
            </a:r>
          </a:p>
          <a:p>
            <a:pPr lvl="2"/>
            <a:r>
              <a:rPr lang="en-US" dirty="0"/>
              <a:t>This is applied to all objects in the specified scope</a:t>
            </a:r>
          </a:p>
          <a:p>
            <a:pPr lvl="1"/>
            <a:r>
              <a:rPr lang="en-US" dirty="0"/>
              <a:t>No range specification: schedule for minimum</a:t>
            </a:r>
          </a:p>
          <a:p>
            <a:pPr lvl="2"/>
            <a:r>
              <a:rPr lang="en-US" dirty="0"/>
              <a:t>Which is the default </a:t>
            </a:r>
          </a:p>
        </p:txBody>
      </p:sp>
      <p:sp>
        <p:nvSpPr>
          <p:cNvPr id="86" name="Slide Number Placeholder 8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22</a:t>
            </a:fld>
            <a:endParaRPr lang="en-US" dirty="0"/>
          </a:p>
        </p:txBody>
      </p:sp>
      <p:sp>
        <p:nvSpPr>
          <p:cNvPr id="82" name="TextBox 81"/>
          <p:cNvSpPr txBox="1"/>
          <p:nvPr/>
        </p:nvSpPr>
        <p:spPr>
          <a:xfrm>
            <a:off x="6707735" y="2622764"/>
            <a:ext cx="1689380" cy="253916"/>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defTabSz="457200"/>
            <a:r>
              <a:rPr lang="en-US" sz="1050" b="1" dirty="0">
                <a:solidFill>
                  <a:prstClr val="black"/>
                </a:solidFill>
                <a:ea typeface="ＭＳ Ｐゴシック" pitchFamily="34" charset="-128"/>
                <a:cs typeface="Arial" charset="0"/>
              </a:rPr>
              <a:t>Impact of ranges</a:t>
            </a:r>
          </a:p>
        </p:txBody>
      </p:sp>
      <p:pic>
        <p:nvPicPr>
          <p:cNvPr id="24578" name="Picture 2"/>
          <p:cNvPicPr>
            <a:picLocks noChangeAspect="1" noChangeArrowheads="1"/>
          </p:cNvPicPr>
          <p:nvPr/>
        </p:nvPicPr>
        <p:blipFill>
          <a:blip r:embed="rId2"/>
          <a:srcRect/>
          <a:stretch>
            <a:fillRect/>
          </a:stretch>
        </p:blipFill>
        <p:spPr bwMode="auto">
          <a:xfrm>
            <a:off x="2703636" y="3378543"/>
            <a:ext cx="6907091" cy="3103563"/>
          </a:xfrm>
          <a:prstGeom prst="rect">
            <a:avLst/>
          </a:prstGeom>
          <a:noFill/>
          <a:ln w="9525">
            <a:noFill/>
            <a:miter lim="800000"/>
            <a:headEnd/>
            <a:tailEnd/>
          </a:ln>
        </p:spPr>
      </p:pic>
      <p:pic>
        <p:nvPicPr>
          <p:cNvPr id="5" name="Picture 4">
            <a:extLst>
              <a:ext uri="{FF2B5EF4-FFF2-40B4-BE49-F238E27FC236}">
                <a16:creationId xmlns:a16="http://schemas.microsoft.com/office/drawing/2014/main" id="{17119FD1-258E-4458-B16D-0D75FDEDE5F4}"/>
              </a:ext>
            </a:extLst>
          </p:cNvPr>
          <p:cNvPicPr>
            <a:picLocks noChangeAspect="1"/>
          </p:cNvPicPr>
          <p:nvPr/>
        </p:nvPicPr>
        <p:blipFill>
          <a:blip r:embed="rId3"/>
          <a:stretch>
            <a:fillRect/>
          </a:stretch>
        </p:blipFill>
        <p:spPr>
          <a:xfrm>
            <a:off x="8583506" y="774251"/>
            <a:ext cx="3143250" cy="2628900"/>
          </a:xfrm>
          <a:prstGeom prst="rect">
            <a:avLst/>
          </a:prstGeom>
        </p:spPr>
      </p:pic>
      <p:sp>
        <p:nvSpPr>
          <p:cNvPr id="10" name="Left Brace 9">
            <a:extLst>
              <a:ext uri="{FF2B5EF4-FFF2-40B4-BE49-F238E27FC236}">
                <a16:creationId xmlns:a16="http://schemas.microsoft.com/office/drawing/2014/main" id="{53B48797-0696-411E-8E4D-3719E3815D04}"/>
              </a:ext>
            </a:extLst>
          </p:cNvPr>
          <p:cNvSpPr/>
          <p:nvPr/>
        </p:nvSpPr>
        <p:spPr>
          <a:xfrm>
            <a:off x="8429926" y="2533943"/>
            <a:ext cx="153580" cy="422455"/>
          </a:xfrm>
          <a:prstGeom prst="lef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a:solidFill>
                <a:prstClr val="black"/>
              </a:solidFill>
              <a:latin typeface="Arial"/>
            </a:endParaRPr>
          </a:p>
        </p:txBody>
      </p:sp>
      <p:cxnSp>
        <p:nvCxnSpPr>
          <p:cNvPr id="11" name="Straight Arrow Connector 10">
            <a:extLst>
              <a:ext uri="{FF2B5EF4-FFF2-40B4-BE49-F238E27FC236}">
                <a16:creationId xmlns:a16="http://schemas.microsoft.com/office/drawing/2014/main" id="{11DA6087-C185-44F7-9682-B5D349A2403F}"/>
              </a:ext>
            </a:extLst>
          </p:cNvPr>
          <p:cNvCxnSpPr>
            <a:cxnSpLocks/>
          </p:cNvCxnSpPr>
          <p:nvPr/>
        </p:nvCxnSpPr>
        <p:spPr>
          <a:xfrm flipH="1">
            <a:off x="6867134" y="2903856"/>
            <a:ext cx="491120" cy="447510"/>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spTree>
    <p:extLst>
      <p:ext uri="{BB962C8B-B14F-4D97-AF65-F5344CB8AC3E}">
        <p14:creationId xmlns:p14="http://schemas.microsoft.com/office/powerpoint/2010/main" val="842325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ea typeface="宋体" charset="-122"/>
              </a:rPr>
              <a:t>Region Specific Latency Constraint</a:t>
            </a:r>
            <a:endParaRPr lang="en-US" dirty="0">
              <a:latin typeface="+mn-lt"/>
            </a:endParaRPr>
          </a:p>
        </p:txBody>
      </p:sp>
      <p:sp>
        <p:nvSpPr>
          <p:cNvPr id="3" name="Content Placeholder 2"/>
          <p:cNvSpPr>
            <a:spLocks noGrp="1"/>
          </p:cNvSpPr>
          <p:nvPr>
            <p:ph idx="1"/>
          </p:nvPr>
        </p:nvSpPr>
        <p:spPr/>
        <p:txBody>
          <a:bodyPr>
            <a:normAutofit/>
          </a:bodyPr>
          <a:lstStyle/>
          <a:p>
            <a:r>
              <a:rPr lang="en-US" altLang="zh-CN" dirty="0">
                <a:ea typeface="宋体" charset="-122"/>
              </a:rPr>
              <a:t>Latency directives can be applied on functions, loops and regions</a:t>
            </a:r>
          </a:p>
          <a:p>
            <a:r>
              <a:rPr lang="en-US" altLang="zh-CN" dirty="0">
                <a:ea typeface="宋体" charset="-122"/>
              </a:rPr>
              <a:t>Use regions to specify </a:t>
            </a:r>
            <a:r>
              <a:rPr lang="en-US" altLang="zh-CN" u="sng" dirty="0">
                <a:ea typeface="宋体" charset="-122"/>
              </a:rPr>
              <a:t>specific</a:t>
            </a:r>
            <a:r>
              <a:rPr lang="en-US" altLang="zh-CN" dirty="0">
                <a:ea typeface="宋体" charset="-122"/>
              </a:rPr>
              <a:t> locations for latency constraints</a:t>
            </a:r>
          </a:p>
          <a:p>
            <a:pPr lvl="1"/>
            <a:r>
              <a:rPr lang="en-US" altLang="zh-CN" dirty="0">
                <a:ea typeface="宋体" charset="-122"/>
              </a:rPr>
              <a:t>A region is any set of named braces  {…a region…}</a:t>
            </a:r>
          </a:p>
          <a:p>
            <a:pPr lvl="2"/>
            <a:r>
              <a:rPr lang="en-US" altLang="zh-CN" dirty="0">
                <a:ea typeface="宋体" charset="-122"/>
              </a:rPr>
              <a:t>The region </a:t>
            </a:r>
            <a:r>
              <a:rPr lang="en-US" altLang="zh-CN" dirty="0" err="1">
                <a:ea typeface="宋体" charset="-122"/>
              </a:rPr>
              <a:t>My_Region</a:t>
            </a:r>
            <a:r>
              <a:rPr lang="en-US" altLang="zh-CN" dirty="0">
                <a:ea typeface="宋体" charset="-122"/>
              </a:rPr>
              <a:t> is shown in this example</a:t>
            </a:r>
          </a:p>
          <a:p>
            <a:pPr lvl="1"/>
            <a:r>
              <a:rPr lang="en-US" altLang="zh-CN" dirty="0">
                <a:ea typeface="宋体" charset="-122"/>
              </a:rPr>
              <a:t>This allows the constraint to be applied to a specific range of code</a:t>
            </a:r>
          </a:p>
          <a:p>
            <a:pPr lvl="2"/>
            <a:r>
              <a:rPr lang="en-US" altLang="zh-CN" dirty="0">
                <a:ea typeface="宋体" charset="-122"/>
              </a:rPr>
              <a:t>Here, only the else branch has a latency constraint</a:t>
            </a:r>
          </a:p>
          <a:p>
            <a:endParaRPr lang="en-US" dirty="0"/>
          </a:p>
        </p:txBody>
      </p:sp>
      <p:sp>
        <p:nvSpPr>
          <p:cNvPr id="12" name="Slide Number Placeholder 11"/>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23</a:t>
            </a:fld>
            <a:endParaRPr lang="en-US" dirty="0"/>
          </a:p>
        </p:txBody>
      </p:sp>
      <p:sp>
        <p:nvSpPr>
          <p:cNvPr id="11" name="TextBox 10">
            <a:extLst>
              <a:ext uri="{FF2B5EF4-FFF2-40B4-BE49-F238E27FC236}">
                <a16:creationId xmlns:a16="http://schemas.microsoft.com/office/drawing/2014/main" id="{E9555EAE-84B0-48E4-B22E-2E74A1393FA6}"/>
              </a:ext>
            </a:extLst>
          </p:cNvPr>
          <p:cNvSpPr txBox="1"/>
          <p:nvPr/>
        </p:nvSpPr>
        <p:spPr>
          <a:xfrm>
            <a:off x="823087" y="4289110"/>
            <a:ext cx="3378760" cy="170816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50000"/>
              </a:spcBef>
              <a:spcAft>
                <a:spcPct val="0"/>
              </a:spcAft>
              <a:defRPr/>
            </a:pPr>
            <a:r>
              <a:rPr lang="en-US" altLang="zh-CN" sz="1000" kern="0" dirty="0" err="1">
                <a:solidFill>
                  <a:prstClr val="black"/>
                </a:solidFill>
                <a:latin typeface="Arial"/>
                <a:ea typeface="宋体" charset="-122"/>
              </a:rPr>
              <a:t>int</a:t>
            </a:r>
            <a:r>
              <a:rPr lang="en-US" altLang="zh-CN" sz="1000" kern="0" dirty="0">
                <a:solidFill>
                  <a:prstClr val="black"/>
                </a:solidFill>
                <a:latin typeface="Arial"/>
                <a:ea typeface="宋体" charset="-122"/>
              </a:rPr>
              <a:t> </a:t>
            </a:r>
            <a:r>
              <a:rPr lang="en-US" altLang="zh-CN" sz="1000" kern="0" dirty="0" err="1">
                <a:solidFill>
                  <a:prstClr val="black"/>
                </a:solidFill>
                <a:latin typeface="Arial"/>
                <a:ea typeface="宋体" charset="-122"/>
              </a:rPr>
              <a:t>write_data</a:t>
            </a:r>
            <a:r>
              <a:rPr lang="en-US" altLang="zh-CN" sz="1000" kern="0" dirty="0">
                <a:solidFill>
                  <a:prstClr val="black"/>
                </a:solidFill>
                <a:latin typeface="Arial"/>
                <a:ea typeface="宋体" charset="-122"/>
              </a:rPr>
              <a:t> (</a:t>
            </a:r>
            <a:r>
              <a:rPr lang="en-US" altLang="zh-CN" sz="1000" kern="0" dirty="0" err="1">
                <a:solidFill>
                  <a:prstClr val="black"/>
                </a:solidFill>
                <a:latin typeface="Arial"/>
                <a:ea typeface="宋体" charset="-122"/>
              </a:rPr>
              <a:t>int</a:t>
            </a:r>
            <a:r>
              <a:rPr lang="en-US" altLang="zh-CN" sz="1000" kern="0" dirty="0">
                <a:solidFill>
                  <a:prstClr val="black"/>
                </a:solidFill>
                <a:latin typeface="Arial"/>
                <a:ea typeface="宋体" charset="-122"/>
              </a:rPr>
              <a:t> </a:t>
            </a:r>
            <a:r>
              <a:rPr lang="en-US" altLang="zh-CN" sz="1000" kern="0" dirty="0" err="1">
                <a:solidFill>
                  <a:prstClr val="black"/>
                </a:solidFill>
                <a:latin typeface="Arial"/>
                <a:ea typeface="宋体" charset="-122"/>
              </a:rPr>
              <a:t>buf</a:t>
            </a:r>
            <a:r>
              <a:rPr lang="en-US" altLang="zh-CN" sz="1000" kern="0" dirty="0">
                <a:solidFill>
                  <a:prstClr val="black"/>
                </a:solidFill>
                <a:latin typeface="Arial"/>
                <a:ea typeface="宋体" charset="-122"/>
              </a:rPr>
              <a:t>, </a:t>
            </a:r>
            <a:r>
              <a:rPr lang="en-US" altLang="zh-CN" sz="1000" kern="0" dirty="0" err="1">
                <a:solidFill>
                  <a:prstClr val="black"/>
                </a:solidFill>
                <a:latin typeface="Arial"/>
                <a:ea typeface="宋体" charset="-122"/>
              </a:rPr>
              <a:t>int</a:t>
            </a:r>
            <a:r>
              <a:rPr lang="en-US" altLang="zh-CN" sz="1000" kern="0" dirty="0">
                <a:solidFill>
                  <a:prstClr val="black"/>
                </a:solidFill>
                <a:latin typeface="Arial"/>
                <a:ea typeface="宋体" charset="-122"/>
              </a:rPr>
              <a:t> output) {</a:t>
            </a:r>
          </a:p>
          <a:p>
            <a:pPr defTabSz="457200" fontAlgn="base">
              <a:spcBef>
                <a:spcPct val="50000"/>
              </a:spcBef>
              <a:spcAft>
                <a:spcPct val="0"/>
              </a:spcAft>
              <a:defRPr/>
            </a:pPr>
            <a:r>
              <a:rPr lang="en-US" altLang="zh-CN" sz="1000" kern="0" dirty="0">
                <a:solidFill>
                  <a:prstClr val="black"/>
                </a:solidFill>
                <a:latin typeface="Arial"/>
                <a:ea typeface="宋体" charset="-122"/>
              </a:rPr>
              <a:t> if (x &lt; y)  {</a:t>
            </a:r>
            <a:br>
              <a:rPr lang="en-US" altLang="zh-CN" sz="1000" kern="0" dirty="0">
                <a:solidFill>
                  <a:prstClr val="black"/>
                </a:solidFill>
                <a:latin typeface="Arial"/>
                <a:ea typeface="宋体" charset="-122"/>
              </a:rPr>
            </a:br>
            <a:r>
              <a:rPr lang="en-US" altLang="zh-CN" sz="1000" kern="0" dirty="0">
                <a:solidFill>
                  <a:prstClr val="black"/>
                </a:solidFill>
                <a:latin typeface="Arial"/>
                <a:ea typeface="宋体" charset="-122"/>
              </a:rPr>
              <a:t>        return (x + y);</a:t>
            </a:r>
            <a:br>
              <a:rPr lang="en-US" altLang="zh-CN" sz="1000" kern="0" dirty="0">
                <a:solidFill>
                  <a:prstClr val="black"/>
                </a:solidFill>
                <a:latin typeface="Arial"/>
                <a:ea typeface="宋体" charset="-122"/>
              </a:rPr>
            </a:br>
            <a:r>
              <a:rPr lang="en-US" altLang="zh-CN" sz="1000" kern="0" dirty="0">
                <a:solidFill>
                  <a:prstClr val="black"/>
                </a:solidFill>
                <a:latin typeface="Arial"/>
                <a:ea typeface="宋体" charset="-122"/>
              </a:rPr>
              <a:t> } else  {</a:t>
            </a:r>
          </a:p>
          <a:p>
            <a:pPr defTabSz="457200" fontAlgn="base">
              <a:spcBef>
                <a:spcPct val="50000"/>
              </a:spcBef>
              <a:spcAft>
                <a:spcPct val="0"/>
              </a:spcAft>
              <a:defRPr/>
            </a:pPr>
            <a:r>
              <a:rPr lang="en-US" altLang="zh-CN" sz="1000" b="1" kern="0" dirty="0">
                <a:solidFill>
                  <a:prstClr val="black"/>
                </a:solidFill>
                <a:latin typeface="Arial"/>
                <a:ea typeface="宋体" charset="-122"/>
              </a:rPr>
              <a:t>        </a:t>
            </a:r>
            <a:r>
              <a:rPr lang="en-US" altLang="zh-CN" sz="1000" b="1" kern="0" dirty="0" err="1">
                <a:solidFill>
                  <a:prstClr val="black"/>
                </a:solidFill>
                <a:latin typeface="Arial"/>
                <a:ea typeface="宋体" charset="-122"/>
              </a:rPr>
              <a:t>My_Region</a:t>
            </a:r>
            <a:r>
              <a:rPr lang="en-US" altLang="zh-CN" sz="1000" b="1" kern="0" dirty="0">
                <a:solidFill>
                  <a:prstClr val="black"/>
                </a:solidFill>
                <a:latin typeface="Arial"/>
                <a:ea typeface="宋体" charset="-122"/>
              </a:rPr>
              <a:t>: {</a:t>
            </a:r>
          </a:p>
          <a:p>
            <a:pPr defTabSz="457200" fontAlgn="base">
              <a:spcBef>
                <a:spcPct val="50000"/>
              </a:spcBef>
              <a:spcAft>
                <a:spcPct val="0"/>
              </a:spcAft>
              <a:defRPr/>
            </a:pPr>
            <a:r>
              <a:rPr lang="en-US" altLang="zh-CN" sz="1000" kern="0" dirty="0">
                <a:solidFill>
                  <a:prstClr val="black"/>
                </a:solidFill>
                <a:latin typeface="Arial"/>
                <a:ea typeface="宋体" charset="-122"/>
              </a:rPr>
              <a:t>               return (y – x) * (y + x);</a:t>
            </a:r>
          </a:p>
          <a:p>
            <a:pPr defTabSz="457200" fontAlgn="base">
              <a:spcBef>
                <a:spcPct val="50000"/>
              </a:spcBef>
              <a:spcAft>
                <a:spcPct val="0"/>
              </a:spcAft>
              <a:defRPr/>
            </a:pPr>
            <a:r>
              <a:rPr lang="en-US" altLang="zh-CN" sz="1000" b="1" kern="0" dirty="0">
                <a:solidFill>
                  <a:prstClr val="black"/>
                </a:solidFill>
                <a:latin typeface="Arial"/>
                <a:ea typeface="宋体" charset="-122"/>
              </a:rPr>
              <a:t>        }</a:t>
            </a:r>
          </a:p>
          <a:p>
            <a:pPr defTabSz="457200" fontAlgn="base">
              <a:spcBef>
                <a:spcPct val="50000"/>
              </a:spcBef>
              <a:spcAft>
                <a:spcPct val="0"/>
              </a:spcAft>
              <a:defRPr/>
            </a:pPr>
            <a:r>
              <a:rPr lang="en-US" altLang="zh-CN" sz="1000" kern="0" dirty="0">
                <a:solidFill>
                  <a:prstClr val="black"/>
                </a:solidFill>
                <a:latin typeface="Arial"/>
                <a:ea typeface="宋体" charset="-122"/>
              </a:rPr>
              <a:t>}</a:t>
            </a:r>
          </a:p>
        </p:txBody>
      </p:sp>
      <p:sp>
        <p:nvSpPr>
          <p:cNvPr id="13" name="Right Brace 12">
            <a:extLst>
              <a:ext uri="{FF2B5EF4-FFF2-40B4-BE49-F238E27FC236}">
                <a16:creationId xmlns:a16="http://schemas.microsoft.com/office/drawing/2014/main" id="{7FD167AC-3735-4163-A4EC-45EFE873239F}"/>
              </a:ext>
            </a:extLst>
          </p:cNvPr>
          <p:cNvSpPr/>
          <p:nvPr/>
        </p:nvSpPr>
        <p:spPr>
          <a:xfrm>
            <a:off x="4304234" y="5095971"/>
            <a:ext cx="307160" cy="576075"/>
          </a:xfrm>
          <a:prstGeom prst="righ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a:solidFill>
                <a:prstClr val="black"/>
              </a:solidFill>
              <a:latin typeface="Arial"/>
            </a:endParaRPr>
          </a:p>
        </p:txBody>
      </p:sp>
      <p:sp>
        <p:nvSpPr>
          <p:cNvPr id="14" name="TextBox 13">
            <a:extLst>
              <a:ext uri="{FF2B5EF4-FFF2-40B4-BE49-F238E27FC236}">
                <a16:creationId xmlns:a16="http://schemas.microsoft.com/office/drawing/2014/main" id="{11226D66-8BF8-4F0A-AE53-A47451C6E18F}"/>
              </a:ext>
            </a:extLst>
          </p:cNvPr>
          <p:cNvSpPr txBox="1"/>
          <p:nvPr/>
        </p:nvSpPr>
        <p:spPr>
          <a:xfrm>
            <a:off x="4816168" y="5037323"/>
            <a:ext cx="2047733" cy="577081"/>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050" b="1" kern="0" dirty="0">
                <a:solidFill>
                  <a:prstClr val="black"/>
                </a:solidFill>
                <a:ea typeface="ＭＳ Ｐゴシック" pitchFamily="34" charset="-128"/>
                <a:cs typeface="Arial" charset="0"/>
              </a:rPr>
              <a:t>Select the region in the Directives tab &amp; right-click to apply latency directive</a:t>
            </a:r>
          </a:p>
        </p:txBody>
      </p:sp>
      <p:sp>
        <p:nvSpPr>
          <p:cNvPr id="15" name="Left Brace 14">
            <a:extLst>
              <a:ext uri="{FF2B5EF4-FFF2-40B4-BE49-F238E27FC236}">
                <a16:creationId xmlns:a16="http://schemas.microsoft.com/office/drawing/2014/main" id="{7BB0CAAA-59E2-48A3-AC2A-7AA8D3A4B453}"/>
              </a:ext>
            </a:extLst>
          </p:cNvPr>
          <p:cNvSpPr/>
          <p:nvPr/>
        </p:nvSpPr>
        <p:spPr>
          <a:xfrm>
            <a:off x="7068674" y="4038971"/>
            <a:ext cx="307160" cy="2265895"/>
          </a:xfrm>
          <a:prstGeom prst="leftBrace">
            <a:avLst>
              <a:gd name="adj1" fmla="val 8333"/>
              <a:gd name="adj2" fmla="val 56330"/>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a:solidFill>
                <a:prstClr val="black"/>
              </a:solidFill>
              <a:latin typeface="Arial"/>
            </a:endParaRPr>
          </a:p>
        </p:txBody>
      </p:sp>
      <p:pic>
        <p:nvPicPr>
          <p:cNvPr id="6" name="图片 5" descr="图形用户界面, 应用程序&#10;&#10;描述已自动生成">
            <a:extLst>
              <a:ext uri="{FF2B5EF4-FFF2-40B4-BE49-F238E27FC236}">
                <a16:creationId xmlns:a16="http://schemas.microsoft.com/office/drawing/2014/main" id="{035A3AC1-5D13-4023-819A-1DD2FDA9CFD5}"/>
              </a:ext>
            </a:extLst>
          </p:cNvPr>
          <p:cNvPicPr>
            <a:picLocks noChangeAspect="1"/>
          </p:cNvPicPr>
          <p:nvPr/>
        </p:nvPicPr>
        <p:blipFill>
          <a:blip r:embed="rId2"/>
          <a:stretch>
            <a:fillRect/>
          </a:stretch>
        </p:blipFill>
        <p:spPr>
          <a:xfrm>
            <a:off x="7472887" y="4228790"/>
            <a:ext cx="4303414" cy="1828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ea typeface="宋体" charset="-122"/>
              </a:rPr>
              <a:t>Region Specific Latency Constraint</a:t>
            </a:r>
            <a:endParaRPr lang="en-US" dirty="0">
              <a:latin typeface="+mn-lt"/>
            </a:endParaRPr>
          </a:p>
        </p:txBody>
      </p:sp>
      <p:sp>
        <p:nvSpPr>
          <p:cNvPr id="3" name="Content Placeholder 2"/>
          <p:cNvSpPr>
            <a:spLocks noGrp="1"/>
          </p:cNvSpPr>
          <p:nvPr>
            <p:ph idx="1"/>
          </p:nvPr>
        </p:nvSpPr>
        <p:spPr/>
        <p:txBody>
          <a:bodyPr>
            <a:normAutofit/>
          </a:bodyPr>
          <a:lstStyle/>
          <a:p>
            <a:r>
              <a:rPr lang="en-US" altLang="zh-CN" dirty="0">
                <a:ea typeface="宋体" charset="-122"/>
              </a:rPr>
              <a:t>Latency directives can be applied on functions, loops and regions</a:t>
            </a:r>
          </a:p>
          <a:p>
            <a:r>
              <a:rPr lang="en-US" altLang="zh-CN" dirty="0">
                <a:ea typeface="宋体" charset="-122"/>
              </a:rPr>
              <a:t>Use regions to specify </a:t>
            </a:r>
            <a:r>
              <a:rPr lang="en-US" altLang="zh-CN" u="sng" dirty="0">
                <a:ea typeface="宋体" charset="-122"/>
              </a:rPr>
              <a:t>specific</a:t>
            </a:r>
            <a:r>
              <a:rPr lang="en-US" altLang="zh-CN" dirty="0">
                <a:ea typeface="宋体" charset="-122"/>
              </a:rPr>
              <a:t> locations for latency constraints</a:t>
            </a:r>
          </a:p>
          <a:p>
            <a:pPr lvl="1"/>
            <a:r>
              <a:rPr lang="en-US" altLang="zh-CN" dirty="0">
                <a:ea typeface="宋体" charset="-122"/>
              </a:rPr>
              <a:t>A region is any set of named braces  {…a region…}</a:t>
            </a:r>
          </a:p>
          <a:p>
            <a:pPr lvl="2"/>
            <a:r>
              <a:rPr lang="en-US" altLang="zh-CN" dirty="0">
                <a:ea typeface="宋体" charset="-122"/>
              </a:rPr>
              <a:t>The region </a:t>
            </a:r>
            <a:r>
              <a:rPr lang="en-US" altLang="zh-CN" dirty="0" err="1">
                <a:ea typeface="宋体" charset="-122"/>
              </a:rPr>
              <a:t>My_Region</a:t>
            </a:r>
            <a:r>
              <a:rPr lang="en-US" altLang="zh-CN" dirty="0">
                <a:ea typeface="宋体" charset="-122"/>
              </a:rPr>
              <a:t> is shown in this example</a:t>
            </a:r>
          </a:p>
          <a:p>
            <a:pPr lvl="1"/>
            <a:r>
              <a:rPr lang="en-US" altLang="zh-CN" dirty="0">
                <a:ea typeface="宋体" charset="-122"/>
              </a:rPr>
              <a:t>This allows the constraint to be applied to a specific range of code</a:t>
            </a:r>
          </a:p>
          <a:p>
            <a:pPr lvl="2"/>
            <a:r>
              <a:rPr lang="en-US" altLang="zh-CN" dirty="0">
                <a:ea typeface="宋体" charset="-122"/>
              </a:rPr>
              <a:t>Here, only the else branch has a latency constraint</a:t>
            </a:r>
          </a:p>
          <a:p>
            <a:endParaRPr lang="en-US" dirty="0"/>
          </a:p>
        </p:txBody>
      </p:sp>
      <p:sp>
        <p:nvSpPr>
          <p:cNvPr id="12" name="Slide Number Placeholder 11"/>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24</a:t>
            </a:fld>
            <a:endParaRPr lang="en-US" dirty="0"/>
          </a:p>
        </p:txBody>
      </p:sp>
      <p:sp>
        <p:nvSpPr>
          <p:cNvPr id="11" name="TextBox 10">
            <a:extLst>
              <a:ext uri="{FF2B5EF4-FFF2-40B4-BE49-F238E27FC236}">
                <a16:creationId xmlns:a16="http://schemas.microsoft.com/office/drawing/2014/main" id="{E9555EAE-84B0-48E4-B22E-2E74A1393FA6}"/>
              </a:ext>
            </a:extLst>
          </p:cNvPr>
          <p:cNvSpPr txBox="1"/>
          <p:nvPr/>
        </p:nvSpPr>
        <p:spPr>
          <a:xfrm>
            <a:off x="823087" y="4289110"/>
            <a:ext cx="3378760" cy="170816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50000"/>
              </a:spcBef>
              <a:spcAft>
                <a:spcPct val="0"/>
              </a:spcAft>
              <a:defRPr/>
            </a:pPr>
            <a:r>
              <a:rPr lang="en-US" altLang="zh-CN" sz="1000" kern="0" dirty="0" err="1">
                <a:solidFill>
                  <a:prstClr val="black"/>
                </a:solidFill>
                <a:latin typeface="Arial"/>
                <a:ea typeface="宋体" charset="-122"/>
              </a:rPr>
              <a:t>int</a:t>
            </a:r>
            <a:r>
              <a:rPr lang="en-US" altLang="zh-CN" sz="1000" kern="0" dirty="0">
                <a:solidFill>
                  <a:prstClr val="black"/>
                </a:solidFill>
                <a:latin typeface="Arial"/>
                <a:ea typeface="宋体" charset="-122"/>
              </a:rPr>
              <a:t> </a:t>
            </a:r>
            <a:r>
              <a:rPr lang="en-US" altLang="zh-CN" sz="1000" kern="0" dirty="0" err="1">
                <a:solidFill>
                  <a:prstClr val="black"/>
                </a:solidFill>
                <a:latin typeface="Arial"/>
                <a:ea typeface="宋体" charset="-122"/>
              </a:rPr>
              <a:t>write_data</a:t>
            </a:r>
            <a:r>
              <a:rPr lang="en-US" altLang="zh-CN" sz="1000" kern="0" dirty="0">
                <a:solidFill>
                  <a:prstClr val="black"/>
                </a:solidFill>
                <a:latin typeface="Arial"/>
                <a:ea typeface="宋体" charset="-122"/>
              </a:rPr>
              <a:t> (</a:t>
            </a:r>
            <a:r>
              <a:rPr lang="en-US" altLang="zh-CN" sz="1000" kern="0" dirty="0" err="1">
                <a:solidFill>
                  <a:prstClr val="black"/>
                </a:solidFill>
                <a:latin typeface="Arial"/>
                <a:ea typeface="宋体" charset="-122"/>
              </a:rPr>
              <a:t>int</a:t>
            </a:r>
            <a:r>
              <a:rPr lang="en-US" altLang="zh-CN" sz="1000" kern="0" dirty="0">
                <a:solidFill>
                  <a:prstClr val="black"/>
                </a:solidFill>
                <a:latin typeface="Arial"/>
                <a:ea typeface="宋体" charset="-122"/>
              </a:rPr>
              <a:t> </a:t>
            </a:r>
            <a:r>
              <a:rPr lang="en-US" altLang="zh-CN" sz="1000" kern="0" dirty="0" err="1">
                <a:solidFill>
                  <a:prstClr val="black"/>
                </a:solidFill>
                <a:latin typeface="Arial"/>
                <a:ea typeface="宋体" charset="-122"/>
              </a:rPr>
              <a:t>buf</a:t>
            </a:r>
            <a:r>
              <a:rPr lang="en-US" altLang="zh-CN" sz="1000" kern="0" dirty="0">
                <a:solidFill>
                  <a:prstClr val="black"/>
                </a:solidFill>
                <a:latin typeface="Arial"/>
                <a:ea typeface="宋体" charset="-122"/>
              </a:rPr>
              <a:t>, </a:t>
            </a:r>
            <a:r>
              <a:rPr lang="en-US" altLang="zh-CN" sz="1000" kern="0" dirty="0" err="1">
                <a:solidFill>
                  <a:prstClr val="black"/>
                </a:solidFill>
                <a:latin typeface="Arial"/>
                <a:ea typeface="宋体" charset="-122"/>
              </a:rPr>
              <a:t>int</a:t>
            </a:r>
            <a:r>
              <a:rPr lang="en-US" altLang="zh-CN" sz="1000" kern="0" dirty="0">
                <a:solidFill>
                  <a:prstClr val="black"/>
                </a:solidFill>
                <a:latin typeface="Arial"/>
                <a:ea typeface="宋体" charset="-122"/>
              </a:rPr>
              <a:t> output) {</a:t>
            </a:r>
          </a:p>
          <a:p>
            <a:pPr defTabSz="457200" fontAlgn="base">
              <a:spcBef>
                <a:spcPct val="50000"/>
              </a:spcBef>
              <a:spcAft>
                <a:spcPct val="0"/>
              </a:spcAft>
              <a:defRPr/>
            </a:pPr>
            <a:r>
              <a:rPr lang="en-US" altLang="zh-CN" sz="1000" kern="0" dirty="0">
                <a:solidFill>
                  <a:prstClr val="black"/>
                </a:solidFill>
                <a:latin typeface="Arial"/>
                <a:ea typeface="宋体" charset="-122"/>
              </a:rPr>
              <a:t> if (x &lt; y)  {</a:t>
            </a:r>
            <a:br>
              <a:rPr lang="en-US" altLang="zh-CN" sz="1000" kern="0" dirty="0">
                <a:solidFill>
                  <a:prstClr val="black"/>
                </a:solidFill>
                <a:latin typeface="Arial"/>
                <a:ea typeface="宋体" charset="-122"/>
              </a:rPr>
            </a:br>
            <a:r>
              <a:rPr lang="en-US" altLang="zh-CN" sz="1000" kern="0" dirty="0">
                <a:solidFill>
                  <a:prstClr val="black"/>
                </a:solidFill>
                <a:latin typeface="Arial"/>
                <a:ea typeface="宋体" charset="-122"/>
              </a:rPr>
              <a:t>        return (x + y);</a:t>
            </a:r>
            <a:br>
              <a:rPr lang="en-US" altLang="zh-CN" sz="1000" kern="0" dirty="0">
                <a:solidFill>
                  <a:prstClr val="black"/>
                </a:solidFill>
                <a:latin typeface="Arial"/>
                <a:ea typeface="宋体" charset="-122"/>
              </a:rPr>
            </a:br>
            <a:r>
              <a:rPr lang="en-US" altLang="zh-CN" sz="1000" kern="0" dirty="0">
                <a:solidFill>
                  <a:prstClr val="black"/>
                </a:solidFill>
                <a:latin typeface="Arial"/>
                <a:ea typeface="宋体" charset="-122"/>
              </a:rPr>
              <a:t> } else  {</a:t>
            </a:r>
          </a:p>
          <a:p>
            <a:pPr defTabSz="457200" fontAlgn="base">
              <a:spcBef>
                <a:spcPct val="50000"/>
              </a:spcBef>
              <a:spcAft>
                <a:spcPct val="0"/>
              </a:spcAft>
              <a:defRPr/>
            </a:pPr>
            <a:r>
              <a:rPr lang="en-US" altLang="zh-CN" sz="1000" b="1" kern="0" dirty="0">
                <a:solidFill>
                  <a:prstClr val="black"/>
                </a:solidFill>
                <a:latin typeface="Arial"/>
                <a:ea typeface="宋体" charset="-122"/>
              </a:rPr>
              <a:t>        </a:t>
            </a:r>
            <a:r>
              <a:rPr lang="en-US" altLang="zh-CN" sz="1000" b="1" kern="0" dirty="0" err="1">
                <a:solidFill>
                  <a:prstClr val="black"/>
                </a:solidFill>
                <a:latin typeface="Arial"/>
                <a:ea typeface="宋体" charset="-122"/>
              </a:rPr>
              <a:t>My_Region</a:t>
            </a:r>
            <a:r>
              <a:rPr lang="en-US" altLang="zh-CN" sz="1000" b="1" kern="0" dirty="0">
                <a:solidFill>
                  <a:prstClr val="black"/>
                </a:solidFill>
                <a:latin typeface="Arial"/>
                <a:ea typeface="宋体" charset="-122"/>
              </a:rPr>
              <a:t>: {</a:t>
            </a:r>
          </a:p>
          <a:p>
            <a:pPr defTabSz="457200" fontAlgn="base">
              <a:spcBef>
                <a:spcPct val="50000"/>
              </a:spcBef>
              <a:spcAft>
                <a:spcPct val="0"/>
              </a:spcAft>
              <a:defRPr/>
            </a:pPr>
            <a:r>
              <a:rPr lang="en-US" altLang="zh-CN" sz="1000" kern="0" dirty="0">
                <a:solidFill>
                  <a:prstClr val="black"/>
                </a:solidFill>
                <a:latin typeface="Arial"/>
                <a:ea typeface="宋体" charset="-122"/>
              </a:rPr>
              <a:t>               return (y – x) * (y + x);</a:t>
            </a:r>
          </a:p>
          <a:p>
            <a:pPr defTabSz="457200" fontAlgn="base">
              <a:spcBef>
                <a:spcPct val="50000"/>
              </a:spcBef>
              <a:spcAft>
                <a:spcPct val="0"/>
              </a:spcAft>
              <a:defRPr/>
            </a:pPr>
            <a:r>
              <a:rPr lang="en-US" altLang="zh-CN" sz="1000" b="1" kern="0" dirty="0">
                <a:solidFill>
                  <a:prstClr val="black"/>
                </a:solidFill>
                <a:latin typeface="Arial"/>
                <a:ea typeface="宋体" charset="-122"/>
              </a:rPr>
              <a:t>        }</a:t>
            </a:r>
          </a:p>
          <a:p>
            <a:pPr defTabSz="457200" fontAlgn="base">
              <a:spcBef>
                <a:spcPct val="50000"/>
              </a:spcBef>
              <a:spcAft>
                <a:spcPct val="0"/>
              </a:spcAft>
              <a:defRPr/>
            </a:pPr>
            <a:r>
              <a:rPr lang="en-US" altLang="zh-CN" sz="1000" kern="0" dirty="0">
                <a:solidFill>
                  <a:prstClr val="black"/>
                </a:solidFill>
                <a:latin typeface="Arial"/>
                <a:ea typeface="宋体" charset="-122"/>
              </a:rPr>
              <a:t>}</a:t>
            </a:r>
          </a:p>
        </p:txBody>
      </p:sp>
      <p:sp>
        <p:nvSpPr>
          <p:cNvPr id="13" name="Right Brace 12">
            <a:extLst>
              <a:ext uri="{FF2B5EF4-FFF2-40B4-BE49-F238E27FC236}">
                <a16:creationId xmlns:a16="http://schemas.microsoft.com/office/drawing/2014/main" id="{7FD167AC-3735-4163-A4EC-45EFE873239F}"/>
              </a:ext>
            </a:extLst>
          </p:cNvPr>
          <p:cNvSpPr/>
          <p:nvPr/>
        </p:nvSpPr>
        <p:spPr>
          <a:xfrm>
            <a:off x="4304234" y="5095971"/>
            <a:ext cx="307160" cy="576075"/>
          </a:xfrm>
          <a:prstGeom prst="righ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a:solidFill>
                <a:prstClr val="black"/>
              </a:solidFill>
              <a:latin typeface="Arial"/>
            </a:endParaRPr>
          </a:p>
        </p:txBody>
      </p:sp>
      <p:sp>
        <p:nvSpPr>
          <p:cNvPr id="14" name="TextBox 13">
            <a:extLst>
              <a:ext uri="{FF2B5EF4-FFF2-40B4-BE49-F238E27FC236}">
                <a16:creationId xmlns:a16="http://schemas.microsoft.com/office/drawing/2014/main" id="{11226D66-8BF8-4F0A-AE53-A47451C6E18F}"/>
              </a:ext>
            </a:extLst>
          </p:cNvPr>
          <p:cNvSpPr txBox="1"/>
          <p:nvPr/>
        </p:nvSpPr>
        <p:spPr>
          <a:xfrm>
            <a:off x="4816168" y="5037323"/>
            <a:ext cx="2047733" cy="577081"/>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050" b="1" kern="0" dirty="0">
                <a:solidFill>
                  <a:prstClr val="black"/>
                </a:solidFill>
                <a:ea typeface="ＭＳ Ｐゴシック" pitchFamily="34" charset="-128"/>
                <a:cs typeface="Arial" charset="0"/>
              </a:rPr>
              <a:t>Select the region in the Directives tab &amp; right-click to apply latency directive</a:t>
            </a:r>
          </a:p>
        </p:txBody>
      </p:sp>
      <p:sp>
        <p:nvSpPr>
          <p:cNvPr id="15" name="Left Brace 14">
            <a:extLst>
              <a:ext uri="{FF2B5EF4-FFF2-40B4-BE49-F238E27FC236}">
                <a16:creationId xmlns:a16="http://schemas.microsoft.com/office/drawing/2014/main" id="{7BB0CAAA-59E2-48A3-AC2A-7AA8D3A4B453}"/>
              </a:ext>
            </a:extLst>
          </p:cNvPr>
          <p:cNvSpPr/>
          <p:nvPr/>
        </p:nvSpPr>
        <p:spPr>
          <a:xfrm>
            <a:off x="7068674" y="4038971"/>
            <a:ext cx="307160" cy="2265895"/>
          </a:xfrm>
          <a:prstGeom prst="leftBrace">
            <a:avLst>
              <a:gd name="adj1" fmla="val 8333"/>
              <a:gd name="adj2" fmla="val 56330"/>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a:solidFill>
                <a:prstClr val="black"/>
              </a:solidFill>
              <a:latin typeface="Arial"/>
            </a:endParaRPr>
          </a:p>
        </p:txBody>
      </p:sp>
      <p:pic>
        <p:nvPicPr>
          <p:cNvPr id="16" name="Picture 2">
            <a:extLst>
              <a:ext uri="{FF2B5EF4-FFF2-40B4-BE49-F238E27FC236}">
                <a16:creationId xmlns:a16="http://schemas.microsoft.com/office/drawing/2014/main" id="{F5FBF7AC-7843-4449-985C-F60E8F7F3FB2}"/>
              </a:ext>
            </a:extLst>
          </p:cNvPr>
          <p:cNvPicPr>
            <a:picLocks noChangeAspect="1" noChangeArrowheads="1"/>
          </p:cNvPicPr>
          <p:nvPr/>
        </p:nvPicPr>
        <p:blipFill>
          <a:blip r:embed="rId2"/>
          <a:srcRect/>
          <a:stretch>
            <a:fillRect/>
          </a:stretch>
        </p:blipFill>
        <p:spPr bwMode="auto">
          <a:xfrm>
            <a:off x="7504342" y="3741132"/>
            <a:ext cx="4092575" cy="2654906"/>
          </a:xfrm>
          <a:prstGeom prst="rect">
            <a:avLst/>
          </a:prstGeom>
          <a:noFill/>
          <a:ln w="9525">
            <a:noFill/>
            <a:miter lim="800000"/>
            <a:headEnd/>
            <a:tailEnd/>
          </a:ln>
        </p:spPr>
      </p:pic>
    </p:spTree>
    <p:extLst>
      <p:ext uri="{BB962C8B-B14F-4D97-AF65-F5344CB8AC3E}">
        <p14:creationId xmlns:p14="http://schemas.microsoft.com/office/powerpoint/2010/main" val="4095056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0FF42-F81B-4077-B71C-AB9A1C5A106F}"/>
              </a:ext>
            </a:extLst>
          </p:cNvPr>
          <p:cNvSpPr>
            <a:spLocks noGrp="1"/>
          </p:cNvSpPr>
          <p:nvPr>
            <p:ph type="title"/>
          </p:nvPr>
        </p:nvSpPr>
        <p:spPr/>
        <p:txBody>
          <a:bodyPr/>
          <a:lstStyle/>
          <a:p>
            <a:r>
              <a:rPr lang="en-US" altLang="zh-CN" dirty="0"/>
              <a:t>Improving Latency</a:t>
            </a:r>
            <a:br>
              <a:rPr lang="en-US" altLang="zh-CN" dirty="0"/>
            </a:br>
            <a:r>
              <a:rPr lang="en-US" altLang="zh-CN" dirty="0"/>
              <a:t>- </a:t>
            </a:r>
            <a:r>
              <a:rPr lang="en-US" altLang="zh-CN" dirty="0">
                <a:solidFill>
                  <a:srgbClr val="FFFFFF"/>
                </a:solidFill>
              </a:rPr>
              <a:t>Manipulating Loops </a:t>
            </a:r>
          </a:p>
        </p:txBody>
      </p:sp>
    </p:spTree>
    <p:extLst>
      <p:ext uri="{BB962C8B-B14F-4D97-AF65-F5344CB8AC3E}">
        <p14:creationId xmlns:p14="http://schemas.microsoft.com/office/powerpoint/2010/main" val="1004782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Loops </a:t>
            </a:r>
          </a:p>
        </p:txBody>
      </p:sp>
      <p:sp>
        <p:nvSpPr>
          <p:cNvPr id="3" name="Content Placeholder 2"/>
          <p:cNvSpPr>
            <a:spLocks noGrp="1"/>
          </p:cNvSpPr>
          <p:nvPr>
            <p:ph idx="1"/>
          </p:nvPr>
        </p:nvSpPr>
        <p:spPr/>
        <p:txBody>
          <a:bodyPr>
            <a:normAutofit fontScale="85000" lnSpcReduction="20000"/>
          </a:bodyPr>
          <a:lstStyle/>
          <a:p>
            <a:r>
              <a:rPr lang="en-US" dirty="0"/>
              <a:t>By default, loops are rolled</a:t>
            </a:r>
          </a:p>
          <a:p>
            <a:pPr lvl="1"/>
            <a:r>
              <a:rPr lang="en-US" dirty="0"/>
              <a:t>Each C loop iteration </a:t>
            </a:r>
            <a:r>
              <a:rPr lang="en-US" dirty="0">
                <a:sym typeface="Wingdings" pitchFamily="2" charset="2"/>
              </a:rPr>
              <a:t> Implemented in the same state </a:t>
            </a:r>
          </a:p>
          <a:p>
            <a:pPr lvl="1"/>
            <a:r>
              <a:rPr lang="en-US" dirty="0">
                <a:sym typeface="Wingdings" pitchFamily="2" charset="2"/>
              </a:rPr>
              <a:t>Each C loop iteration  Implemented with same resources</a:t>
            </a:r>
            <a:endParaRPr lang="en-US" dirty="0"/>
          </a:p>
          <a:p>
            <a:endParaRPr lang="en-US" dirty="0"/>
          </a:p>
          <a:p>
            <a:endParaRPr lang="en-US" dirty="0"/>
          </a:p>
          <a:p>
            <a:endParaRPr lang="en-US" dirty="0"/>
          </a:p>
          <a:p>
            <a:endParaRPr lang="en-US" dirty="0"/>
          </a:p>
          <a:p>
            <a:endParaRPr lang="en-US" dirty="0"/>
          </a:p>
          <a:p>
            <a:endParaRPr lang="en-US" dirty="0"/>
          </a:p>
          <a:p>
            <a:pPr>
              <a:buNone/>
            </a:pPr>
            <a:endParaRPr lang="en-US" dirty="0"/>
          </a:p>
          <a:p>
            <a:pPr lvl="1"/>
            <a:r>
              <a:rPr lang="en-US" dirty="0"/>
              <a:t>Loops can be unrolled if their indices are statically determinable at elaboration time</a:t>
            </a:r>
          </a:p>
          <a:p>
            <a:pPr lvl="2"/>
            <a:r>
              <a:rPr lang="en-US" dirty="0"/>
              <a:t>Not when the number of iterations is variable</a:t>
            </a:r>
          </a:p>
          <a:p>
            <a:pPr lvl="1">
              <a:buNone/>
            </a:pPr>
            <a:endParaRPr lang="en-US" dirty="0"/>
          </a:p>
        </p:txBody>
      </p:sp>
      <p:sp>
        <p:nvSpPr>
          <p:cNvPr id="28" name="Slide Number Placeholder 27"/>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26</a:t>
            </a:fld>
            <a:endParaRPr lang="en-US" dirty="0"/>
          </a:p>
        </p:txBody>
      </p:sp>
      <p:sp>
        <p:nvSpPr>
          <p:cNvPr id="29" name="TextBox 28">
            <a:extLst>
              <a:ext uri="{FF2B5EF4-FFF2-40B4-BE49-F238E27FC236}">
                <a16:creationId xmlns:a16="http://schemas.microsoft.com/office/drawing/2014/main" id="{9B698DFE-4591-44E9-8ADD-79229E6CE7B6}"/>
              </a:ext>
            </a:extLst>
          </p:cNvPr>
          <p:cNvSpPr txBox="1"/>
          <p:nvPr/>
        </p:nvSpPr>
        <p:spPr>
          <a:xfrm>
            <a:off x="896929" y="2633954"/>
            <a:ext cx="4402627" cy="10618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Add: for (i=3;i&gt;=0;i--) {</a:t>
            </a:r>
          </a:p>
          <a:p>
            <a:pPr defTabSz="457200" fontAlgn="base">
              <a:spcBef>
                <a:spcPct val="0"/>
              </a:spcBef>
              <a:spcAft>
                <a:spcPct val="0"/>
              </a:spcAft>
              <a:defRPr/>
            </a:pPr>
            <a:r>
              <a:rPr lang="en-US" sz="1050" b="1" kern="0" dirty="0">
                <a:solidFill>
                  <a:prstClr val="black"/>
                </a:solidFill>
                <a:latin typeface="Consolas" pitchFamily="49" charset="0"/>
              </a:rPr>
              <a:t>	b = a[i] + b;</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	</a:t>
            </a:r>
          </a:p>
        </p:txBody>
      </p:sp>
      <p:sp>
        <p:nvSpPr>
          <p:cNvPr id="34" name="Rectangle 33">
            <a:extLst>
              <a:ext uri="{FF2B5EF4-FFF2-40B4-BE49-F238E27FC236}">
                <a16:creationId xmlns:a16="http://schemas.microsoft.com/office/drawing/2014/main" id="{C5B9FA4F-3964-442F-8D33-78D045007FB7}"/>
              </a:ext>
            </a:extLst>
          </p:cNvPr>
          <p:cNvSpPr/>
          <p:nvPr/>
        </p:nvSpPr>
        <p:spPr>
          <a:xfrm>
            <a:off x="7166148" y="2749153"/>
            <a:ext cx="3537252" cy="168982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37" name="TextBox 36">
            <a:extLst>
              <a:ext uri="{FF2B5EF4-FFF2-40B4-BE49-F238E27FC236}">
                <a16:creationId xmlns:a16="http://schemas.microsoft.com/office/drawing/2014/main" id="{22B70787-330D-4272-83C6-DFD3EF6926FF}"/>
              </a:ext>
            </a:extLst>
          </p:cNvPr>
          <p:cNvSpPr txBox="1"/>
          <p:nvPr/>
        </p:nvSpPr>
        <p:spPr>
          <a:xfrm>
            <a:off x="7166147" y="2749510"/>
            <a:ext cx="750526" cy="276999"/>
          </a:xfrm>
          <a:prstGeom prst="rect">
            <a:avLst/>
          </a:prstGeom>
          <a:noFill/>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foo_top</a:t>
            </a:r>
          </a:p>
        </p:txBody>
      </p:sp>
      <p:sp>
        <p:nvSpPr>
          <p:cNvPr id="38" name="Trapezoid 37">
            <a:extLst>
              <a:ext uri="{FF2B5EF4-FFF2-40B4-BE49-F238E27FC236}">
                <a16:creationId xmlns:a16="http://schemas.microsoft.com/office/drawing/2014/main" id="{188242A0-AB00-4BC4-B22A-70828B435F39}"/>
              </a:ext>
            </a:extLst>
          </p:cNvPr>
          <p:cNvSpPr/>
          <p:nvPr/>
        </p:nvSpPr>
        <p:spPr>
          <a:xfrm rot="5400000">
            <a:off x="8392222" y="3414101"/>
            <a:ext cx="460860" cy="358353"/>
          </a:xfrm>
          <a:prstGeom prst="trapezoid">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b="1" kern="0" dirty="0">
                <a:solidFill>
                  <a:prstClr val="white"/>
                </a:solidFill>
                <a:latin typeface="Arial"/>
              </a:rPr>
              <a:t>+</a:t>
            </a:r>
          </a:p>
        </p:txBody>
      </p:sp>
      <p:cxnSp>
        <p:nvCxnSpPr>
          <p:cNvPr id="39" name="Straight Arrow Connector 38">
            <a:extLst>
              <a:ext uri="{FF2B5EF4-FFF2-40B4-BE49-F238E27FC236}">
                <a16:creationId xmlns:a16="http://schemas.microsoft.com/office/drawing/2014/main" id="{477624C5-57E3-4A75-B353-2E9F6295283F}"/>
              </a:ext>
            </a:extLst>
          </p:cNvPr>
          <p:cNvCxnSpPr/>
          <p:nvPr/>
        </p:nvCxnSpPr>
        <p:spPr>
          <a:xfrm>
            <a:off x="8085361" y="3516448"/>
            <a:ext cx="358353"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0" name="Straight Arrow Connector 39">
            <a:extLst>
              <a:ext uri="{FF2B5EF4-FFF2-40B4-BE49-F238E27FC236}">
                <a16:creationId xmlns:a16="http://schemas.microsoft.com/office/drawing/2014/main" id="{FC0FD464-B0BB-485E-8773-114F36CFEFFC}"/>
              </a:ext>
            </a:extLst>
          </p:cNvPr>
          <p:cNvCxnSpPr/>
          <p:nvPr/>
        </p:nvCxnSpPr>
        <p:spPr>
          <a:xfrm>
            <a:off x="8033930" y="3708473"/>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41" name="Rectangle 40">
            <a:extLst>
              <a:ext uri="{FF2B5EF4-FFF2-40B4-BE49-F238E27FC236}">
                <a16:creationId xmlns:a16="http://schemas.microsoft.com/office/drawing/2014/main" id="{395E9838-638A-4558-9F77-95F71FCEB1E7}"/>
              </a:ext>
            </a:extLst>
          </p:cNvPr>
          <p:cNvSpPr/>
          <p:nvPr/>
        </p:nvSpPr>
        <p:spPr>
          <a:xfrm>
            <a:off x="9214121" y="3440443"/>
            <a:ext cx="358353" cy="460860"/>
          </a:xfrm>
          <a:prstGeom prst="rect">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42" name="Isosceles Triangle 41">
            <a:extLst>
              <a:ext uri="{FF2B5EF4-FFF2-40B4-BE49-F238E27FC236}">
                <a16:creationId xmlns:a16="http://schemas.microsoft.com/office/drawing/2014/main" id="{B0DD20D1-E836-4397-9A04-188EEBC3B142}"/>
              </a:ext>
            </a:extLst>
          </p:cNvPr>
          <p:cNvSpPr/>
          <p:nvPr/>
        </p:nvSpPr>
        <p:spPr>
          <a:xfrm rot="5400000">
            <a:off x="9233302" y="3728507"/>
            <a:ext cx="115215" cy="153580"/>
          </a:xfrm>
          <a:prstGeom prst="triangl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cxnSp>
        <p:nvCxnSpPr>
          <p:cNvPr id="43" name="Straight Arrow Connector 42">
            <a:extLst>
              <a:ext uri="{FF2B5EF4-FFF2-40B4-BE49-F238E27FC236}">
                <a16:creationId xmlns:a16="http://schemas.microsoft.com/office/drawing/2014/main" id="{7390AB90-10D4-4B30-B5B4-4EA09443EA61}"/>
              </a:ext>
            </a:extLst>
          </p:cNvPr>
          <p:cNvCxnSpPr/>
          <p:nvPr/>
        </p:nvCxnSpPr>
        <p:spPr>
          <a:xfrm>
            <a:off x="8804336" y="3594063"/>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4" name="Straight Arrow Connector 43">
            <a:extLst>
              <a:ext uri="{FF2B5EF4-FFF2-40B4-BE49-F238E27FC236}">
                <a16:creationId xmlns:a16="http://schemas.microsoft.com/office/drawing/2014/main" id="{5462EE6F-4B74-4CF9-9677-CBC9389B1DDF}"/>
              </a:ext>
            </a:extLst>
          </p:cNvPr>
          <p:cNvCxnSpPr/>
          <p:nvPr/>
        </p:nvCxnSpPr>
        <p:spPr>
          <a:xfrm>
            <a:off x="9572237" y="3594063"/>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5" name="Straight Connector 44">
            <a:extLst>
              <a:ext uri="{FF2B5EF4-FFF2-40B4-BE49-F238E27FC236}">
                <a16:creationId xmlns:a16="http://schemas.microsoft.com/office/drawing/2014/main" id="{D45C7376-65EE-43BC-8D4A-25237A1DD1F3}"/>
              </a:ext>
            </a:extLst>
          </p:cNvPr>
          <p:cNvCxnSpPr/>
          <p:nvPr/>
        </p:nvCxnSpPr>
        <p:spPr>
          <a:xfrm rot="16200000" flipV="1">
            <a:off x="9482839" y="3402058"/>
            <a:ext cx="384047" cy="1"/>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cxnSp>
        <p:nvCxnSpPr>
          <p:cNvPr id="46" name="Straight Connector 45">
            <a:extLst>
              <a:ext uri="{FF2B5EF4-FFF2-40B4-BE49-F238E27FC236}">
                <a16:creationId xmlns:a16="http://schemas.microsoft.com/office/drawing/2014/main" id="{ABFF012A-D33B-4D22-B37A-183727738D21}"/>
              </a:ext>
            </a:extLst>
          </p:cNvPr>
          <p:cNvCxnSpPr/>
          <p:nvPr/>
        </p:nvCxnSpPr>
        <p:spPr>
          <a:xfrm rot="10800000">
            <a:off x="8085363" y="3209226"/>
            <a:ext cx="1589499" cy="805"/>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cxnSp>
        <p:nvCxnSpPr>
          <p:cNvPr id="47" name="Straight Connector 46">
            <a:extLst>
              <a:ext uri="{FF2B5EF4-FFF2-40B4-BE49-F238E27FC236}">
                <a16:creationId xmlns:a16="http://schemas.microsoft.com/office/drawing/2014/main" id="{C605FF31-954C-4C20-BA2B-4EDFFA3A1E5E}"/>
              </a:ext>
            </a:extLst>
          </p:cNvPr>
          <p:cNvCxnSpPr/>
          <p:nvPr/>
        </p:nvCxnSpPr>
        <p:spPr>
          <a:xfrm rot="16200000" flipV="1">
            <a:off x="7931505" y="3362848"/>
            <a:ext cx="307240" cy="1"/>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sp>
        <p:nvSpPr>
          <p:cNvPr id="48" name="Right Arrow 26">
            <a:extLst>
              <a:ext uri="{FF2B5EF4-FFF2-40B4-BE49-F238E27FC236}">
                <a16:creationId xmlns:a16="http://schemas.microsoft.com/office/drawing/2014/main" id="{B77B63CB-CBF9-4674-9BAC-3D0208AAAE74}"/>
              </a:ext>
            </a:extLst>
          </p:cNvPr>
          <p:cNvSpPr/>
          <p:nvPr/>
        </p:nvSpPr>
        <p:spPr>
          <a:xfrm>
            <a:off x="5441617" y="3325227"/>
            <a:ext cx="1638187"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1400" kern="0" dirty="0">
                <a:solidFill>
                  <a:prstClr val="white"/>
                </a:solidFill>
                <a:latin typeface="Arial"/>
              </a:rPr>
              <a:t>Synthesis</a:t>
            </a:r>
          </a:p>
        </p:txBody>
      </p:sp>
      <p:sp>
        <p:nvSpPr>
          <p:cNvPr id="49" name="Oval 48">
            <a:extLst>
              <a:ext uri="{FF2B5EF4-FFF2-40B4-BE49-F238E27FC236}">
                <a16:creationId xmlns:a16="http://schemas.microsoft.com/office/drawing/2014/main" id="{C15F0DDD-19DC-4A86-95D5-1849E5C264E3}"/>
              </a:ext>
            </a:extLst>
          </p:cNvPr>
          <p:cNvSpPr/>
          <p:nvPr/>
        </p:nvSpPr>
        <p:spPr>
          <a:xfrm>
            <a:off x="10805787" y="2186387"/>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N</a:t>
            </a:r>
          </a:p>
        </p:txBody>
      </p:sp>
      <p:cxnSp>
        <p:nvCxnSpPr>
          <p:cNvPr id="50" name="Curved Connector 20">
            <a:extLst>
              <a:ext uri="{FF2B5EF4-FFF2-40B4-BE49-F238E27FC236}">
                <a16:creationId xmlns:a16="http://schemas.microsoft.com/office/drawing/2014/main" id="{C37A0169-7E0A-419C-AE1F-BE0C088C18A9}"/>
              </a:ext>
            </a:extLst>
          </p:cNvPr>
          <p:cNvCxnSpPr>
            <a:stCxn id="49" idx="5"/>
            <a:endCxn id="49" idx="7"/>
          </p:cNvCxnSpPr>
          <p:nvPr/>
        </p:nvCxnSpPr>
        <p:spPr>
          <a:xfrm rot="5400000" flipH="1">
            <a:off x="11044818" y="2338702"/>
            <a:ext cx="215526" cy="2117"/>
          </a:xfrm>
          <a:prstGeom prst="curvedConnector5">
            <a:avLst>
              <a:gd name="adj1" fmla="val -44874"/>
              <a:gd name="adj2" fmla="val -15460269"/>
              <a:gd name="adj3" fmla="val 120397"/>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1" name="Straight Arrow Connector 50">
            <a:extLst>
              <a:ext uri="{FF2B5EF4-FFF2-40B4-BE49-F238E27FC236}">
                <a16:creationId xmlns:a16="http://schemas.microsoft.com/office/drawing/2014/main" id="{E8686C58-C2B6-4E14-B22A-8F299FB575AB}"/>
              </a:ext>
            </a:extLst>
          </p:cNvPr>
          <p:cNvCxnSpPr>
            <a:endCxn id="49" idx="0"/>
          </p:cNvCxnSpPr>
          <p:nvPr/>
        </p:nvCxnSpPr>
        <p:spPr>
          <a:xfrm rot="16200000" flipH="1">
            <a:off x="10850191" y="2027987"/>
            <a:ext cx="267918" cy="4956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2" name="Straight Arrow Connector 51">
            <a:extLst>
              <a:ext uri="{FF2B5EF4-FFF2-40B4-BE49-F238E27FC236}">
                <a16:creationId xmlns:a16="http://schemas.microsoft.com/office/drawing/2014/main" id="{DB188983-20BB-4245-BFB2-0C6C98FF8BD2}"/>
              </a:ext>
            </a:extLst>
          </p:cNvPr>
          <p:cNvCxnSpPr/>
          <p:nvPr/>
        </p:nvCxnSpPr>
        <p:spPr>
          <a:xfrm rot="16200000" flipH="1">
            <a:off x="10931086" y="2645652"/>
            <a:ext cx="310597" cy="52822"/>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53" name="TextBox 52">
            <a:extLst>
              <a:ext uri="{FF2B5EF4-FFF2-40B4-BE49-F238E27FC236}">
                <a16:creationId xmlns:a16="http://schemas.microsoft.com/office/drawing/2014/main" id="{E2B9AEC3-79A3-4A2D-8B8A-C693421C3357}"/>
              </a:ext>
            </a:extLst>
          </p:cNvPr>
          <p:cNvSpPr txBox="1"/>
          <p:nvPr/>
        </p:nvSpPr>
        <p:spPr>
          <a:xfrm>
            <a:off x="7587801" y="3555671"/>
            <a:ext cx="482824" cy="276999"/>
          </a:xfrm>
          <a:prstGeom prst="rect">
            <a:avLst/>
          </a:prstGeom>
          <a:noFill/>
        </p:spPr>
        <p:txBody>
          <a:bodyPr wrap="none" rtlCol="0">
            <a:spAutoFit/>
          </a:bodyPr>
          <a:lstStyle/>
          <a:p>
            <a:pPr algn="r" defTabSz="457200" fontAlgn="base">
              <a:spcBef>
                <a:spcPct val="0"/>
              </a:spcBef>
              <a:spcAft>
                <a:spcPct val="0"/>
              </a:spcAft>
            </a:pPr>
            <a:r>
              <a:rPr lang="en-US" sz="1200" b="1" dirty="0">
                <a:solidFill>
                  <a:prstClr val="black"/>
                </a:solidFill>
                <a:ea typeface="ＭＳ Ｐゴシック" pitchFamily="34" charset="-128"/>
                <a:cs typeface="Arial" charset="0"/>
              </a:rPr>
              <a:t>a[N]</a:t>
            </a:r>
          </a:p>
        </p:txBody>
      </p:sp>
      <p:sp>
        <p:nvSpPr>
          <p:cNvPr id="54" name="TextBox 53">
            <a:extLst>
              <a:ext uri="{FF2B5EF4-FFF2-40B4-BE49-F238E27FC236}">
                <a16:creationId xmlns:a16="http://schemas.microsoft.com/office/drawing/2014/main" id="{3CB0928A-3CC6-4193-A1DC-644F8C7A439B}"/>
              </a:ext>
            </a:extLst>
          </p:cNvPr>
          <p:cNvSpPr txBox="1"/>
          <p:nvPr/>
        </p:nvSpPr>
        <p:spPr>
          <a:xfrm>
            <a:off x="10011483" y="3440462"/>
            <a:ext cx="279243" cy="276999"/>
          </a:xfrm>
          <a:prstGeom prst="rect">
            <a:avLst/>
          </a:prstGeom>
          <a:noFill/>
        </p:spPr>
        <p:txBody>
          <a:bodyPr wrap="none" rtlCol="0">
            <a:spAutoFit/>
          </a:bodyPr>
          <a:lstStyle/>
          <a:p>
            <a:pPr algn="r" defTabSz="457200" fontAlgn="base">
              <a:spcBef>
                <a:spcPct val="0"/>
              </a:spcBef>
              <a:spcAft>
                <a:spcPct val="0"/>
              </a:spcAft>
            </a:pPr>
            <a:r>
              <a:rPr lang="en-US" sz="1200" b="1" dirty="0">
                <a:solidFill>
                  <a:prstClr val="black"/>
                </a:solidFill>
                <a:ea typeface="ＭＳ Ｐゴシック" pitchFamily="34" charset="-128"/>
                <a:cs typeface="Arial" charset="0"/>
              </a:rPr>
              <a:t>b</a:t>
            </a:r>
          </a:p>
        </p:txBody>
      </p:sp>
      <p:sp>
        <p:nvSpPr>
          <p:cNvPr id="55" name="TextBox 54">
            <a:extLst>
              <a:ext uri="{FF2B5EF4-FFF2-40B4-BE49-F238E27FC236}">
                <a16:creationId xmlns:a16="http://schemas.microsoft.com/office/drawing/2014/main" id="{6A2BB7A9-658E-402F-BCA6-3DCFADFB39EB}"/>
              </a:ext>
            </a:extLst>
          </p:cNvPr>
          <p:cNvSpPr txBox="1"/>
          <p:nvPr/>
        </p:nvSpPr>
        <p:spPr>
          <a:xfrm>
            <a:off x="903290" y="3875943"/>
            <a:ext cx="5094777"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Loops require labels if they are to be referenced  by Tcl directives </a:t>
            </a:r>
          </a:p>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(GUI will auto-add labels)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Rolled Loops Enforce Latency</a:t>
            </a:r>
          </a:p>
        </p:txBody>
      </p:sp>
      <p:sp>
        <p:nvSpPr>
          <p:cNvPr id="3" name="Content Placeholder 2"/>
          <p:cNvSpPr>
            <a:spLocks noGrp="1"/>
          </p:cNvSpPr>
          <p:nvPr>
            <p:ph idx="1"/>
          </p:nvPr>
        </p:nvSpPr>
        <p:spPr/>
        <p:txBody>
          <a:bodyPr/>
          <a:lstStyle/>
          <a:p>
            <a:r>
              <a:rPr lang="en-US" dirty="0"/>
              <a:t>A rolled loop can only be optimized so much</a:t>
            </a:r>
          </a:p>
          <a:p>
            <a:pPr lvl="1"/>
            <a:r>
              <a:rPr lang="en-US" dirty="0"/>
              <a:t>Given this example, where the delay of the adder is small compared to the clock frequency</a:t>
            </a:r>
          </a:p>
          <a:p>
            <a:pPr lvl="1"/>
            <a:endParaRPr lang="en-US" dirty="0"/>
          </a:p>
          <a:p>
            <a:pPr lvl="1"/>
            <a:endParaRPr lang="en-US" dirty="0"/>
          </a:p>
          <a:p>
            <a:pPr lvl="1"/>
            <a:endParaRPr lang="en-US" dirty="0"/>
          </a:p>
          <a:p>
            <a:pPr lvl="1"/>
            <a:endParaRPr lang="en-US" dirty="0"/>
          </a:p>
          <a:p>
            <a:pPr lvl="1"/>
            <a:endParaRPr lang="en-US" dirty="0"/>
          </a:p>
          <a:p>
            <a:pPr lvl="1"/>
            <a:r>
              <a:rPr lang="en-US" dirty="0"/>
              <a:t>This rolled loop will never take less than 4 cycles</a:t>
            </a:r>
          </a:p>
          <a:p>
            <a:pPr lvl="2"/>
            <a:r>
              <a:rPr lang="en-US" dirty="0"/>
              <a:t>No matter what kind of optimization is tried</a:t>
            </a:r>
          </a:p>
          <a:p>
            <a:pPr lvl="2"/>
            <a:r>
              <a:rPr lang="en-US" dirty="0"/>
              <a:t>This minimum latency is a function of the loop iteration count</a:t>
            </a:r>
          </a:p>
          <a:p>
            <a:endParaRPr lang="en-US" dirty="0"/>
          </a:p>
        </p:txBody>
      </p:sp>
      <p:sp>
        <p:nvSpPr>
          <p:cNvPr id="40" name="Slide Number Placeholder 39"/>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27</a:t>
            </a:fld>
            <a:endParaRPr lang="en-US" dirty="0"/>
          </a:p>
        </p:txBody>
      </p:sp>
      <p:grpSp>
        <p:nvGrpSpPr>
          <p:cNvPr id="41" name="Group 40">
            <a:extLst>
              <a:ext uri="{FF2B5EF4-FFF2-40B4-BE49-F238E27FC236}">
                <a16:creationId xmlns:a16="http://schemas.microsoft.com/office/drawing/2014/main" id="{B68D5E1B-6C9C-484F-A6CA-0B93BD827BB3}"/>
              </a:ext>
            </a:extLst>
          </p:cNvPr>
          <p:cNvGrpSpPr/>
          <p:nvPr/>
        </p:nvGrpSpPr>
        <p:grpSpPr>
          <a:xfrm>
            <a:off x="1266254" y="2513314"/>
            <a:ext cx="10358855" cy="1061829"/>
            <a:chOff x="1264437" y="2697797"/>
            <a:chExt cx="10358855" cy="1061829"/>
          </a:xfrm>
        </p:grpSpPr>
        <p:sp>
          <p:nvSpPr>
            <p:cNvPr id="42" name="TextBox 41">
              <a:extLst>
                <a:ext uri="{FF2B5EF4-FFF2-40B4-BE49-F238E27FC236}">
                  <a16:creationId xmlns:a16="http://schemas.microsoft.com/office/drawing/2014/main" id="{43E4B411-65A5-4EA6-900C-9A8895E3FA57}"/>
                </a:ext>
              </a:extLst>
            </p:cNvPr>
            <p:cNvSpPr txBox="1"/>
            <p:nvPr/>
          </p:nvSpPr>
          <p:spPr>
            <a:xfrm>
              <a:off x="1264437" y="2697797"/>
              <a:ext cx="3634727" cy="10618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Add: for (i=3;i&gt;=0;i--) {</a:t>
              </a:r>
            </a:p>
            <a:p>
              <a:pPr defTabSz="457200" fontAlgn="base">
                <a:spcBef>
                  <a:spcPct val="0"/>
                </a:spcBef>
                <a:spcAft>
                  <a:spcPct val="0"/>
                </a:spcAft>
                <a:defRPr/>
              </a:pPr>
              <a:r>
                <a:rPr lang="en-US" sz="1050" b="1" kern="0" dirty="0">
                  <a:solidFill>
                    <a:prstClr val="black"/>
                  </a:solidFill>
                  <a:latin typeface="Consolas" pitchFamily="49" charset="0"/>
                </a:rPr>
                <a:t>	b = a[i] + b;</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	</a:t>
              </a:r>
            </a:p>
          </p:txBody>
        </p:sp>
        <p:sp>
          <p:nvSpPr>
            <p:cNvPr id="43" name="TextBox 42">
              <a:extLst>
                <a:ext uri="{FF2B5EF4-FFF2-40B4-BE49-F238E27FC236}">
                  <a16:creationId xmlns:a16="http://schemas.microsoft.com/office/drawing/2014/main" id="{B9D936C7-8E90-4C06-A290-0AA2A05A36D3}"/>
                </a:ext>
              </a:extLst>
            </p:cNvPr>
            <p:cNvSpPr txBox="1"/>
            <p:nvPr/>
          </p:nvSpPr>
          <p:spPr>
            <a:xfrm>
              <a:off x="5529723" y="2966632"/>
              <a:ext cx="633507" cy="307777"/>
            </a:xfrm>
            <a:prstGeom prst="rect">
              <a:avLst/>
            </a:prstGeom>
            <a:noFill/>
          </p:spPr>
          <p:txBody>
            <a:bodyPr wrap="none" rtlCol="0">
              <a:spAutoFit/>
            </a:bodyPr>
            <a:lstStyle/>
            <a:p>
              <a:pPr algn="r" defTabSz="457200" fontAlgn="base">
                <a:spcBef>
                  <a:spcPct val="0"/>
                </a:spcBef>
                <a:spcAft>
                  <a:spcPct val="0"/>
                </a:spcAft>
                <a:defRPr/>
              </a:pPr>
              <a:r>
                <a:rPr lang="en-US" sz="1400" kern="0" dirty="0">
                  <a:solidFill>
                    <a:prstClr val="black"/>
                  </a:solidFill>
                  <a:ea typeface="ＭＳ Ｐゴシック" pitchFamily="34" charset="-128"/>
                  <a:cs typeface="Arial" charset="0"/>
                </a:rPr>
                <a:t>Clock</a:t>
              </a:r>
            </a:p>
          </p:txBody>
        </p:sp>
        <p:grpSp>
          <p:nvGrpSpPr>
            <p:cNvPr id="44" name="Group 71">
              <a:extLst>
                <a:ext uri="{FF2B5EF4-FFF2-40B4-BE49-F238E27FC236}">
                  <a16:creationId xmlns:a16="http://schemas.microsoft.com/office/drawing/2014/main" id="{89FB968D-B30E-4C67-AEF2-047568EEFD97}"/>
                </a:ext>
              </a:extLst>
            </p:cNvPr>
            <p:cNvGrpSpPr/>
            <p:nvPr/>
          </p:nvGrpSpPr>
          <p:grpSpPr>
            <a:xfrm>
              <a:off x="6299186" y="2968445"/>
              <a:ext cx="1321677" cy="228600"/>
              <a:chOff x="-66694" y="1130300"/>
              <a:chExt cx="533401" cy="228600"/>
            </a:xfrm>
            <a:effectLst>
              <a:outerShdw blurRad="50800" dist="38100" dir="2700000" algn="tl" rotWithShape="0">
                <a:prstClr val="black">
                  <a:alpha val="40000"/>
                </a:prstClr>
              </a:outerShdw>
            </a:effectLst>
          </p:grpSpPr>
          <p:cxnSp>
            <p:nvCxnSpPr>
              <p:cNvPr id="65" name="Straight Connector 64">
                <a:extLst>
                  <a:ext uri="{FF2B5EF4-FFF2-40B4-BE49-F238E27FC236}">
                    <a16:creationId xmlns:a16="http://schemas.microsoft.com/office/drawing/2014/main" id="{10635781-194D-4035-B0F2-AC7F5CD2BC38}"/>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6" name="Straight Connector 65">
                <a:extLst>
                  <a:ext uri="{FF2B5EF4-FFF2-40B4-BE49-F238E27FC236}">
                    <a16:creationId xmlns:a16="http://schemas.microsoft.com/office/drawing/2014/main" id="{86653AEA-5488-4483-8A05-57F8C81C8263}"/>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7" name="Straight Connector 66">
                <a:extLst>
                  <a:ext uri="{FF2B5EF4-FFF2-40B4-BE49-F238E27FC236}">
                    <a16:creationId xmlns:a16="http://schemas.microsoft.com/office/drawing/2014/main" id="{C9AFA5F7-D2EC-4E1C-9C8F-AECD3C9C8994}"/>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8" name="Straight Connector 67">
                <a:extLst>
                  <a:ext uri="{FF2B5EF4-FFF2-40B4-BE49-F238E27FC236}">
                    <a16:creationId xmlns:a16="http://schemas.microsoft.com/office/drawing/2014/main" id="{2759517D-6B0A-4774-B03F-2C8E89123F33}"/>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45" name="Rounded Rectangle 10">
              <a:extLst>
                <a:ext uri="{FF2B5EF4-FFF2-40B4-BE49-F238E27FC236}">
                  <a16:creationId xmlns:a16="http://schemas.microsoft.com/office/drawing/2014/main" id="{B5717AB2-7438-41F6-B548-F7B3BD667F7E}"/>
                </a:ext>
              </a:extLst>
            </p:cNvPr>
            <p:cNvSpPr/>
            <p:nvPr/>
          </p:nvSpPr>
          <p:spPr>
            <a:xfrm>
              <a:off x="6248399" y="3235450"/>
              <a:ext cx="307160" cy="23043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3</a:t>
              </a:r>
              <a:endParaRPr lang="en-US" sz="1100" b="1" kern="0" dirty="0">
                <a:solidFill>
                  <a:prstClr val="black"/>
                </a:solidFill>
                <a:latin typeface="Arial"/>
              </a:endParaRPr>
            </a:p>
          </p:txBody>
        </p:sp>
        <p:sp>
          <p:nvSpPr>
            <p:cNvPr id="46" name="Rounded Rectangle 11">
              <a:extLst>
                <a:ext uri="{FF2B5EF4-FFF2-40B4-BE49-F238E27FC236}">
                  <a16:creationId xmlns:a16="http://schemas.microsoft.com/office/drawing/2014/main" id="{CB11F29A-D312-4451-B989-21FACC09DE40}"/>
                </a:ext>
              </a:extLst>
            </p:cNvPr>
            <p:cNvSpPr/>
            <p:nvPr/>
          </p:nvSpPr>
          <p:spPr>
            <a:xfrm>
              <a:off x="7620863" y="3235450"/>
              <a:ext cx="307160" cy="230430"/>
            </a:xfrm>
            <a:prstGeom prst="roundRect">
              <a:avLst/>
            </a:prstGeom>
            <a:gradFill rotWithShape="1">
              <a:gsLst>
                <a:gs pos="0">
                  <a:srgbClr val="6D7076">
                    <a:tint val="50000"/>
                    <a:satMod val="300000"/>
                  </a:srgbClr>
                </a:gs>
                <a:gs pos="35000">
                  <a:srgbClr val="6D7076">
                    <a:tint val="37000"/>
                    <a:satMod val="300000"/>
                  </a:srgbClr>
                </a:gs>
                <a:gs pos="100000">
                  <a:srgbClr val="6D7076">
                    <a:tint val="15000"/>
                    <a:satMod val="350000"/>
                  </a:srgbClr>
                </a:gs>
              </a:gsLst>
              <a:lin ang="16200000" scaled="1"/>
            </a:gra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2</a:t>
              </a:r>
              <a:endParaRPr lang="en-US" sz="800" kern="0" dirty="0">
                <a:solidFill>
                  <a:prstClr val="black"/>
                </a:solidFill>
                <a:latin typeface="Arial"/>
              </a:endParaRPr>
            </a:p>
          </p:txBody>
        </p:sp>
        <p:sp>
          <p:nvSpPr>
            <p:cNvPr id="47" name="Rounded Rectangle 12">
              <a:extLst>
                <a:ext uri="{FF2B5EF4-FFF2-40B4-BE49-F238E27FC236}">
                  <a16:creationId xmlns:a16="http://schemas.microsoft.com/office/drawing/2014/main" id="{F88FEF9C-BAC1-45D8-B8B5-5D7DEA212DF5}"/>
                </a:ext>
              </a:extLst>
            </p:cNvPr>
            <p:cNvSpPr/>
            <p:nvPr/>
          </p:nvSpPr>
          <p:spPr>
            <a:xfrm>
              <a:off x="8951889" y="3235450"/>
              <a:ext cx="307160" cy="23043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1</a:t>
              </a:r>
              <a:endParaRPr lang="en-US" sz="800" kern="0" dirty="0">
                <a:solidFill>
                  <a:prstClr val="black"/>
                </a:solidFill>
                <a:latin typeface="Arial"/>
              </a:endParaRPr>
            </a:p>
          </p:txBody>
        </p:sp>
        <p:sp>
          <p:nvSpPr>
            <p:cNvPr id="48" name="Rounded Rectangle 13">
              <a:extLst>
                <a:ext uri="{FF2B5EF4-FFF2-40B4-BE49-F238E27FC236}">
                  <a16:creationId xmlns:a16="http://schemas.microsoft.com/office/drawing/2014/main" id="{B1A25078-70E9-475C-9D27-80A0D9862520}"/>
                </a:ext>
              </a:extLst>
            </p:cNvPr>
            <p:cNvSpPr/>
            <p:nvPr/>
          </p:nvSpPr>
          <p:spPr>
            <a:xfrm>
              <a:off x="10334109" y="3235450"/>
              <a:ext cx="307160" cy="230430"/>
            </a:xfrm>
            <a:prstGeom prst="roundRect">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0</a:t>
              </a:r>
              <a:endParaRPr lang="en-US" sz="800" kern="0" dirty="0">
                <a:solidFill>
                  <a:prstClr val="black"/>
                </a:solidFill>
                <a:latin typeface="Arial"/>
              </a:endParaRPr>
            </a:p>
          </p:txBody>
        </p:sp>
        <p:grpSp>
          <p:nvGrpSpPr>
            <p:cNvPr id="49" name="Group 71">
              <a:extLst>
                <a:ext uri="{FF2B5EF4-FFF2-40B4-BE49-F238E27FC236}">
                  <a16:creationId xmlns:a16="http://schemas.microsoft.com/office/drawing/2014/main" id="{E808A840-8A18-47EE-892C-89ECF52BD642}"/>
                </a:ext>
              </a:extLst>
            </p:cNvPr>
            <p:cNvGrpSpPr/>
            <p:nvPr/>
          </p:nvGrpSpPr>
          <p:grpSpPr>
            <a:xfrm>
              <a:off x="7620863" y="2968445"/>
              <a:ext cx="1321677" cy="228600"/>
              <a:chOff x="-66694" y="1130300"/>
              <a:chExt cx="533401" cy="228600"/>
            </a:xfrm>
            <a:effectLst>
              <a:outerShdw blurRad="50800" dist="38100" dir="2700000" algn="tl" rotWithShape="0">
                <a:prstClr val="black">
                  <a:alpha val="40000"/>
                </a:prstClr>
              </a:outerShdw>
            </a:effectLst>
          </p:grpSpPr>
          <p:cxnSp>
            <p:nvCxnSpPr>
              <p:cNvPr id="61" name="Straight Connector 60">
                <a:extLst>
                  <a:ext uri="{FF2B5EF4-FFF2-40B4-BE49-F238E27FC236}">
                    <a16:creationId xmlns:a16="http://schemas.microsoft.com/office/drawing/2014/main" id="{0E2CEF52-F73F-415F-92C1-DF7B85E495D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2" name="Straight Connector 61">
                <a:extLst>
                  <a:ext uri="{FF2B5EF4-FFF2-40B4-BE49-F238E27FC236}">
                    <a16:creationId xmlns:a16="http://schemas.microsoft.com/office/drawing/2014/main" id="{C860AD51-5FD8-4C8A-9EFF-FAFA81DD489E}"/>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3" name="Straight Connector 62">
                <a:extLst>
                  <a:ext uri="{FF2B5EF4-FFF2-40B4-BE49-F238E27FC236}">
                    <a16:creationId xmlns:a16="http://schemas.microsoft.com/office/drawing/2014/main" id="{376CAF91-6181-45E0-B763-F1581F86876C}"/>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4" name="Straight Connector 63">
                <a:extLst>
                  <a:ext uri="{FF2B5EF4-FFF2-40B4-BE49-F238E27FC236}">
                    <a16:creationId xmlns:a16="http://schemas.microsoft.com/office/drawing/2014/main" id="{FB054652-82BB-4E86-80C5-81E61F9860C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50" name="Group 71">
              <a:extLst>
                <a:ext uri="{FF2B5EF4-FFF2-40B4-BE49-F238E27FC236}">
                  <a16:creationId xmlns:a16="http://schemas.microsoft.com/office/drawing/2014/main" id="{9234D423-511F-4089-8D75-E4864BF4DDFF}"/>
                </a:ext>
              </a:extLst>
            </p:cNvPr>
            <p:cNvGrpSpPr/>
            <p:nvPr/>
          </p:nvGrpSpPr>
          <p:grpSpPr>
            <a:xfrm>
              <a:off x="8961239" y="2966615"/>
              <a:ext cx="1321677" cy="228600"/>
              <a:chOff x="-66694" y="1130300"/>
              <a:chExt cx="533401" cy="228600"/>
            </a:xfrm>
            <a:effectLst>
              <a:outerShdw blurRad="50800" dist="38100" dir="2700000" algn="tl" rotWithShape="0">
                <a:prstClr val="black">
                  <a:alpha val="40000"/>
                </a:prstClr>
              </a:outerShdw>
            </a:effectLst>
          </p:grpSpPr>
          <p:cxnSp>
            <p:nvCxnSpPr>
              <p:cNvPr id="57" name="Straight Connector 56">
                <a:extLst>
                  <a:ext uri="{FF2B5EF4-FFF2-40B4-BE49-F238E27FC236}">
                    <a16:creationId xmlns:a16="http://schemas.microsoft.com/office/drawing/2014/main" id="{FE649D97-74DD-4C1F-89DB-DCD4B8020333}"/>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58" name="Straight Connector 57">
                <a:extLst>
                  <a:ext uri="{FF2B5EF4-FFF2-40B4-BE49-F238E27FC236}">
                    <a16:creationId xmlns:a16="http://schemas.microsoft.com/office/drawing/2014/main" id="{2DF17D96-A016-4AF8-8C04-547B93F0C8A5}"/>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59" name="Straight Connector 58">
                <a:extLst>
                  <a:ext uri="{FF2B5EF4-FFF2-40B4-BE49-F238E27FC236}">
                    <a16:creationId xmlns:a16="http://schemas.microsoft.com/office/drawing/2014/main" id="{56CE7185-AF5A-442D-AA06-F7690367C78C}"/>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0" name="Straight Connector 59">
                <a:extLst>
                  <a:ext uri="{FF2B5EF4-FFF2-40B4-BE49-F238E27FC236}">
                    <a16:creationId xmlns:a16="http://schemas.microsoft.com/office/drawing/2014/main" id="{608A8FF9-75C0-4296-939B-BCC90A9E78A1}"/>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51" name="Group 71">
              <a:extLst>
                <a:ext uri="{FF2B5EF4-FFF2-40B4-BE49-F238E27FC236}">
                  <a16:creationId xmlns:a16="http://schemas.microsoft.com/office/drawing/2014/main" id="{EE76326A-CC0D-4906-B4C5-0835A484D0AA}"/>
                </a:ext>
              </a:extLst>
            </p:cNvPr>
            <p:cNvGrpSpPr/>
            <p:nvPr/>
          </p:nvGrpSpPr>
          <p:grpSpPr>
            <a:xfrm>
              <a:off x="10301615" y="2964785"/>
              <a:ext cx="1321677" cy="228600"/>
              <a:chOff x="-66694" y="1130300"/>
              <a:chExt cx="533401" cy="228600"/>
            </a:xfrm>
            <a:effectLst>
              <a:outerShdw blurRad="50800" dist="38100" dir="2700000" algn="tl" rotWithShape="0">
                <a:prstClr val="black">
                  <a:alpha val="40000"/>
                </a:prstClr>
              </a:outerShdw>
            </a:effectLst>
          </p:grpSpPr>
          <p:cxnSp>
            <p:nvCxnSpPr>
              <p:cNvPr id="53" name="Straight Connector 52">
                <a:extLst>
                  <a:ext uri="{FF2B5EF4-FFF2-40B4-BE49-F238E27FC236}">
                    <a16:creationId xmlns:a16="http://schemas.microsoft.com/office/drawing/2014/main" id="{74299283-FE4A-48D3-A34D-9C4D32EA5EF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54" name="Straight Connector 53">
                <a:extLst>
                  <a:ext uri="{FF2B5EF4-FFF2-40B4-BE49-F238E27FC236}">
                    <a16:creationId xmlns:a16="http://schemas.microsoft.com/office/drawing/2014/main" id="{7FB27246-61F8-42C3-9062-C9A3D2161F03}"/>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55" name="Straight Connector 54">
                <a:extLst>
                  <a:ext uri="{FF2B5EF4-FFF2-40B4-BE49-F238E27FC236}">
                    <a16:creationId xmlns:a16="http://schemas.microsoft.com/office/drawing/2014/main" id="{6E6BBA49-C9FC-471E-936A-36BB310B41DD}"/>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56" name="Straight Connector 55">
                <a:extLst>
                  <a:ext uri="{FF2B5EF4-FFF2-40B4-BE49-F238E27FC236}">
                    <a16:creationId xmlns:a16="http://schemas.microsoft.com/office/drawing/2014/main" id="{E84C5BC1-E7FC-4D2F-8286-16900F572B37}"/>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52" name="TextBox 51">
              <a:extLst>
                <a:ext uri="{FF2B5EF4-FFF2-40B4-BE49-F238E27FC236}">
                  <a16:creationId xmlns:a16="http://schemas.microsoft.com/office/drawing/2014/main" id="{30F15546-C180-49DF-968D-F45B075683C2}"/>
                </a:ext>
              </a:extLst>
            </p:cNvPr>
            <p:cNvSpPr txBox="1"/>
            <p:nvPr/>
          </p:nvSpPr>
          <p:spPr>
            <a:xfrm>
              <a:off x="4992713" y="3196525"/>
              <a:ext cx="1170512" cy="307777"/>
            </a:xfrm>
            <a:prstGeom prst="rect">
              <a:avLst/>
            </a:prstGeom>
            <a:noFill/>
          </p:spPr>
          <p:txBody>
            <a:bodyPr wrap="none" rtlCol="0">
              <a:spAutoFit/>
            </a:bodyPr>
            <a:lstStyle/>
            <a:p>
              <a:pPr algn="r" defTabSz="457200" fontAlgn="base">
                <a:spcBef>
                  <a:spcPct val="0"/>
                </a:spcBef>
                <a:spcAft>
                  <a:spcPct val="0"/>
                </a:spcAft>
                <a:defRPr/>
              </a:pPr>
              <a:r>
                <a:rPr lang="en-US" sz="1400" kern="0" dirty="0">
                  <a:solidFill>
                    <a:prstClr val="black"/>
                  </a:solidFill>
                  <a:ea typeface="ＭＳ Ｐゴシック" pitchFamily="34" charset="-128"/>
                  <a:cs typeface="Arial" charset="0"/>
                </a:rPr>
                <a:t>Adder Delay</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srcRect/>
          <a:stretch>
            <a:fillRect/>
          </a:stretch>
        </p:blipFill>
        <p:spPr bwMode="auto">
          <a:xfrm>
            <a:off x="1905001" y="1443381"/>
            <a:ext cx="8382001" cy="3513137"/>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Unrolled Loops can Reduce Latency</a:t>
            </a:r>
          </a:p>
        </p:txBody>
      </p:sp>
      <p:sp>
        <p:nvSpPr>
          <p:cNvPr id="12" name="Slide Number Placeholder 11"/>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28</a:t>
            </a:fld>
            <a:endParaRPr lang="en-US" dirty="0"/>
          </a:p>
        </p:txBody>
      </p:sp>
      <p:sp>
        <p:nvSpPr>
          <p:cNvPr id="6" name="TextBox 5"/>
          <p:cNvSpPr txBox="1"/>
          <p:nvPr/>
        </p:nvSpPr>
        <p:spPr>
          <a:xfrm>
            <a:off x="260202" y="2929742"/>
            <a:ext cx="2508473" cy="923330"/>
          </a:xfrm>
          <a:prstGeom prst="rect">
            <a:avLst/>
          </a:prstGeom>
          <a:noFill/>
        </p:spPr>
        <p:txBody>
          <a:bodyPr wrap="square" rtlCol="0">
            <a:spAutoFit/>
          </a:bodyPr>
          <a:lstStyle/>
          <a:p>
            <a:pPr defTabSz="457200"/>
            <a:r>
              <a:rPr lang="en-US" dirty="0">
                <a:solidFill>
                  <a:prstClr val="black"/>
                </a:solidFill>
                <a:latin typeface="Arial"/>
                <a:ea typeface="ＭＳ Ｐゴシック" pitchFamily="34" charset="-128"/>
                <a:cs typeface="Arial" charset="0"/>
              </a:rPr>
              <a:t>Select loop “Add” in the directives pane and right-click</a:t>
            </a:r>
          </a:p>
        </p:txBody>
      </p:sp>
      <p:sp>
        <p:nvSpPr>
          <p:cNvPr id="10" name="TextBox 9"/>
          <p:cNvSpPr txBox="1"/>
          <p:nvPr/>
        </p:nvSpPr>
        <p:spPr>
          <a:xfrm>
            <a:off x="9162376" y="3671832"/>
            <a:ext cx="1689379" cy="646331"/>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a:r>
              <a:rPr lang="en-US" sz="1200" b="1" dirty="0">
                <a:solidFill>
                  <a:prstClr val="black"/>
                </a:solidFill>
                <a:ea typeface="ＭＳ Ｐゴシック" pitchFamily="24" charset="-128"/>
                <a:cs typeface="ＭＳ Ｐゴシック" pitchFamily="24" charset="-128"/>
              </a:rPr>
              <a:t>Unrolled loops allow greater option &amp; exploration</a:t>
            </a:r>
          </a:p>
        </p:txBody>
      </p:sp>
      <p:sp>
        <p:nvSpPr>
          <p:cNvPr id="11" name="TextBox 10"/>
          <p:cNvSpPr txBox="1"/>
          <p:nvPr/>
        </p:nvSpPr>
        <p:spPr>
          <a:xfrm>
            <a:off x="6061908" y="5402795"/>
            <a:ext cx="4965753" cy="523220"/>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a:r>
              <a:rPr lang="en-US" sz="1400" b="1" dirty="0">
                <a:solidFill>
                  <a:prstClr val="black"/>
                </a:solidFill>
                <a:ea typeface="ＭＳ Ｐゴシック" pitchFamily="24" charset="-128"/>
                <a:cs typeface="ＭＳ Ｐゴシック" pitchFamily="24" charset="-128"/>
              </a:rPr>
              <a:t>Unrolled loops are likely to result in more hardware resources and higher area</a:t>
            </a:r>
          </a:p>
        </p:txBody>
      </p:sp>
      <p:sp>
        <p:nvSpPr>
          <p:cNvPr id="8" name="TextBox 7"/>
          <p:cNvSpPr txBox="1"/>
          <p:nvPr/>
        </p:nvSpPr>
        <p:spPr>
          <a:xfrm>
            <a:off x="3289376" y="5457617"/>
            <a:ext cx="2201313" cy="461665"/>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a:r>
              <a:rPr lang="en-US" sz="1200" b="1" dirty="0">
                <a:solidFill>
                  <a:prstClr val="black"/>
                </a:solidFill>
                <a:ea typeface="ＭＳ Ｐゴシック" pitchFamily="24" charset="-128"/>
                <a:cs typeface="ＭＳ Ｐゴシック" pitchFamily="24" charset="-128"/>
              </a:rPr>
              <a:t>Options explained on next slide</a:t>
            </a:r>
          </a:p>
        </p:txBody>
      </p:sp>
      <p:cxnSp>
        <p:nvCxnSpPr>
          <p:cNvPr id="13" name="Straight Arrow Connector 12">
            <a:extLst>
              <a:ext uri="{FF2B5EF4-FFF2-40B4-BE49-F238E27FC236}">
                <a16:creationId xmlns:a16="http://schemas.microsoft.com/office/drawing/2014/main" id="{42F99DAE-4842-421E-89C5-698089C4CC3A}"/>
              </a:ext>
            </a:extLst>
          </p:cNvPr>
          <p:cNvCxnSpPr/>
          <p:nvPr/>
        </p:nvCxnSpPr>
        <p:spPr>
          <a:xfrm>
            <a:off x="976667" y="4197100"/>
            <a:ext cx="1535800" cy="1588"/>
          </a:xfrm>
          <a:prstGeom prst="straightConnector1">
            <a:avLst/>
          </a:prstGeom>
          <a:noFill/>
          <a:ln w="5715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pic>
        <p:nvPicPr>
          <p:cNvPr id="5" name="图片 4" descr="图形用户界面, 应用程序&#10;&#10;描述已自动生成">
            <a:extLst>
              <a:ext uri="{FF2B5EF4-FFF2-40B4-BE49-F238E27FC236}">
                <a16:creationId xmlns:a16="http://schemas.microsoft.com/office/drawing/2014/main" id="{C1AFF30C-7E54-4243-BBDE-367556C08418}"/>
              </a:ext>
            </a:extLst>
          </p:cNvPr>
          <p:cNvPicPr>
            <a:picLocks noChangeAspect="1"/>
          </p:cNvPicPr>
          <p:nvPr/>
        </p:nvPicPr>
        <p:blipFill>
          <a:blip r:embed="rId3"/>
          <a:stretch>
            <a:fillRect/>
          </a:stretch>
        </p:blipFill>
        <p:spPr>
          <a:xfrm>
            <a:off x="2945866" y="3216511"/>
            <a:ext cx="2713463" cy="182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srcRect/>
          <a:stretch>
            <a:fillRect/>
          </a:stretch>
        </p:blipFill>
        <p:spPr bwMode="auto">
          <a:xfrm>
            <a:off x="1905001" y="1443381"/>
            <a:ext cx="8382001" cy="3513137"/>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Unrolled Loops can Reduce Latency</a:t>
            </a:r>
          </a:p>
        </p:txBody>
      </p:sp>
      <p:sp>
        <p:nvSpPr>
          <p:cNvPr id="12" name="Slide Number Placeholder 11"/>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29</a:t>
            </a:fld>
            <a:endParaRPr lang="en-US" dirty="0"/>
          </a:p>
        </p:txBody>
      </p:sp>
      <p:sp>
        <p:nvSpPr>
          <p:cNvPr id="6" name="TextBox 5"/>
          <p:cNvSpPr txBox="1"/>
          <p:nvPr/>
        </p:nvSpPr>
        <p:spPr>
          <a:xfrm>
            <a:off x="260202" y="2929742"/>
            <a:ext cx="2508473" cy="923330"/>
          </a:xfrm>
          <a:prstGeom prst="rect">
            <a:avLst/>
          </a:prstGeom>
          <a:noFill/>
        </p:spPr>
        <p:txBody>
          <a:bodyPr wrap="square" rtlCol="0">
            <a:spAutoFit/>
          </a:bodyPr>
          <a:lstStyle/>
          <a:p>
            <a:pPr defTabSz="457200"/>
            <a:r>
              <a:rPr lang="en-US" dirty="0">
                <a:solidFill>
                  <a:prstClr val="black"/>
                </a:solidFill>
                <a:latin typeface="Arial"/>
                <a:ea typeface="ＭＳ Ｐゴシック" pitchFamily="34" charset="-128"/>
                <a:cs typeface="Arial" charset="0"/>
              </a:rPr>
              <a:t>Select loop “Add” in the directives pane and right-click</a:t>
            </a:r>
          </a:p>
        </p:txBody>
      </p:sp>
      <p:sp>
        <p:nvSpPr>
          <p:cNvPr id="10" name="TextBox 9"/>
          <p:cNvSpPr txBox="1"/>
          <p:nvPr/>
        </p:nvSpPr>
        <p:spPr>
          <a:xfrm>
            <a:off x="9162376" y="3671832"/>
            <a:ext cx="1689379" cy="646331"/>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a:r>
              <a:rPr lang="en-US" sz="1200" b="1" dirty="0">
                <a:solidFill>
                  <a:prstClr val="black"/>
                </a:solidFill>
                <a:ea typeface="ＭＳ Ｐゴシック" pitchFamily="24" charset="-128"/>
                <a:cs typeface="ＭＳ Ｐゴシック" pitchFamily="24" charset="-128"/>
              </a:rPr>
              <a:t>Unrolled loops allow greater option &amp; exploration</a:t>
            </a:r>
          </a:p>
        </p:txBody>
      </p:sp>
      <p:sp>
        <p:nvSpPr>
          <p:cNvPr id="11" name="TextBox 10"/>
          <p:cNvSpPr txBox="1"/>
          <p:nvPr/>
        </p:nvSpPr>
        <p:spPr>
          <a:xfrm>
            <a:off x="6061908" y="5402795"/>
            <a:ext cx="4965753" cy="523220"/>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a:r>
              <a:rPr lang="en-US" sz="1400" b="1" dirty="0">
                <a:solidFill>
                  <a:prstClr val="black"/>
                </a:solidFill>
                <a:ea typeface="ＭＳ Ｐゴシック" pitchFamily="24" charset="-128"/>
                <a:cs typeface="ＭＳ Ｐゴシック" pitchFamily="24" charset="-128"/>
              </a:rPr>
              <a:t>Unrolled loops are likely to result in more hardware resources and higher area</a:t>
            </a:r>
          </a:p>
        </p:txBody>
      </p:sp>
      <p:sp>
        <p:nvSpPr>
          <p:cNvPr id="8" name="TextBox 7"/>
          <p:cNvSpPr txBox="1"/>
          <p:nvPr/>
        </p:nvSpPr>
        <p:spPr>
          <a:xfrm>
            <a:off x="3289376" y="5457617"/>
            <a:ext cx="2201313" cy="461665"/>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a:r>
              <a:rPr lang="en-US" sz="1200" b="1" dirty="0">
                <a:solidFill>
                  <a:prstClr val="black"/>
                </a:solidFill>
                <a:ea typeface="ＭＳ Ｐゴシック" pitchFamily="24" charset="-128"/>
                <a:cs typeface="ＭＳ Ｐゴシック" pitchFamily="24" charset="-128"/>
              </a:rPr>
              <a:t>Options explained on next slide</a:t>
            </a:r>
          </a:p>
        </p:txBody>
      </p:sp>
      <p:pic>
        <p:nvPicPr>
          <p:cNvPr id="3" name="Picture 2">
            <a:extLst>
              <a:ext uri="{FF2B5EF4-FFF2-40B4-BE49-F238E27FC236}">
                <a16:creationId xmlns:a16="http://schemas.microsoft.com/office/drawing/2014/main" id="{3DE5D04E-0410-46BD-B2E9-A4DF5D6F46A9}"/>
              </a:ext>
            </a:extLst>
          </p:cNvPr>
          <p:cNvPicPr>
            <a:picLocks noChangeAspect="1"/>
          </p:cNvPicPr>
          <p:nvPr/>
        </p:nvPicPr>
        <p:blipFill>
          <a:blip r:embed="rId3"/>
          <a:stretch>
            <a:fillRect/>
          </a:stretch>
        </p:blipFill>
        <p:spPr>
          <a:xfrm>
            <a:off x="2665596" y="2882650"/>
            <a:ext cx="3171825" cy="2628900"/>
          </a:xfrm>
          <a:prstGeom prst="rect">
            <a:avLst/>
          </a:prstGeom>
        </p:spPr>
      </p:pic>
      <p:cxnSp>
        <p:nvCxnSpPr>
          <p:cNvPr id="13" name="Straight Arrow Connector 12">
            <a:extLst>
              <a:ext uri="{FF2B5EF4-FFF2-40B4-BE49-F238E27FC236}">
                <a16:creationId xmlns:a16="http://schemas.microsoft.com/office/drawing/2014/main" id="{42F99DAE-4842-421E-89C5-698089C4CC3A}"/>
              </a:ext>
            </a:extLst>
          </p:cNvPr>
          <p:cNvCxnSpPr/>
          <p:nvPr/>
        </p:nvCxnSpPr>
        <p:spPr>
          <a:xfrm>
            <a:off x="976667" y="4197100"/>
            <a:ext cx="1535800" cy="1588"/>
          </a:xfrm>
          <a:prstGeom prst="straightConnector1">
            <a:avLst/>
          </a:prstGeom>
          <a:noFill/>
          <a:ln w="5715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Tree>
    <p:extLst>
      <p:ext uri="{BB962C8B-B14F-4D97-AF65-F5344CB8AC3E}">
        <p14:creationId xmlns:p14="http://schemas.microsoft.com/office/powerpoint/2010/main" val="318467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Partial Unrolling</a:t>
            </a:r>
          </a:p>
        </p:txBody>
      </p:sp>
      <p:sp>
        <p:nvSpPr>
          <p:cNvPr id="3" name="Content Placeholder 2"/>
          <p:cNvSpPr>
            <a:spLocks noGrp="1"/>
          </p:cNvSpPr>
          <p:nvPr>
            <p:ph sz="half" idx="1"/>
          </p:nvPr>
        </p:nvSpPr>
        <p:spPr>
          <a:xfrm>
            <a:off x="623219" y="1463042"/>
            <a:ext cx="5993855" cy="4835843"/>
          </a:xfrm>
        </p:spPr>
        <p:txBody>
          <a:bodyPr>
            <a:normAutofit fontScale="92500" lnSpcReduction="10000"/>
          </a:bodyPr>
          <a:lstStyle/>
          <a:p>
            <a:r>
              <a:rPr lang="en-US" sz="2000" dirty="0"/>
              <a:t>Fully unrolling loops can create a lot of hardware</a:t>
            </a:r>
          </a:p>
          <a:p>
            <a:r>
              <a:rPr lang="en-US" sz="2000" dirty="0"/>
              <a:t>Loops can be partially unrolled</a:t>
            </a:r>
          </a:p>
          <a:p>
            <a:pPr lvl="1"/>
            <a:r>
              <a:rPr lang="en-US" sz="1800" dirty="0"/>
              <a:t>Provides the type of exploration shown in the previous slide</a:t>
            </a:r>
          </a:p>
          <a:p>
            <a:r>
              <a:rPr lang="en-US" dirty="0">
                <a:solidFill>
                  <a:prstClr val="black"/>
                </a:solidFill>
                <a:ea typeface="ＭＳ Ｐゴシック" pitchFamily="24" charset="-128"/>
                <a:cs typeface="ＭＳ Ｐゴシック" pitchFamily="24" charset="-128"/>
              </a:rPr>
              <a:t>Partial Unrolling</a:t>
            </a:r>
          </a:p>
          <a:p>
            <a:pPr lvl="1"/>
            <a:r>
              <a:rPr lang="en-US" dirty="0">
                <a:solidFill>
                  <a:prstClr val="black"/>
                </a:solidFill>
                <a:ea typeface="ＭＳ Ｐゴシック" pitchFamily="24" charset="-128"/>
                <a:cs typeface="Arial" charset="0"/>
              </a:rPr>
              <a:t>A standard loop of N iterations can be unrolled to by a factor</a:t>
            </a:r>
          </a:p>
          <a:p>
            <a:pPr lvl="1"/>
            <a:r>
              <a:rPr lang="en-US" dirty="0">
                <a:solidFill>
                  <a:prstClr val="black"/>
                </a:solidFill>
                <a:ea typeface="ＭＳ Ｐゴシック" pitchFamily="24" charset="-128"/>
                <a:cs typeface="Arial" charset="0"/>
              </a:rPr>
              <a:t>For example </a:t>
            </a:r>
            <a:r>
              <a:rPr lang="en-US" u="sng" dirty="0">
                <a:solidFill>
                  <a:prstClr val="black"/>
                </a:solidFill>
                <a:ea typeface="ＭＳ Ｐゴシック" pitchFamily="24" charset="-128"/>
                <a:cs typeface="Arial" charset="0"/>
              </a:rPr>
              <a:t>unroll by a factor 2</a:t>
            </a:r>
            <a:r>
              <a:rPr lang="en-US" dirty="0">
                <a:solidFill>
                  <a:prstClr val="black"/>
                </a:solidFill>
                <a:ea typeface="ＭＳ Ｐゴシック" pitchFamily="24" charset="-128"/>
                <a:cs typeface="Arial" charset="0"/>
              </a:rPr>
              <a:t>, to have N/2 iterations</a:t>
            </a:r>
          </a:p>
          <a:p>
            <a:pPr marL="1143000" lvl="2" indent="-228600" defTabSz="457200">
              <a:buFont typeface="Arial" charset="0"/>
              <a:buChar char="•"/>
              <a:defRPr/>
            </a:pPr>
            <a:r>
              <a:rPr lang="en-US" dirty="0">
                <a:solidFill>
                  <a:prstClr val="black"/>
                </a:solidFill>
                <a:ea typeface="ＭＳ Ｐゴシック" pitchFamily="24" charset="-128"/>
                <a:cs typeface="Arial" charset="0"/>
              </a:rPr>
              <a:t>Similar to writing new code as shown on the right </a:t>
            </a:r>
            <a:r>
              <a:rPr lang="en-US" dirty="0">
                <a:solidFill>
                  <a:prstClr val="black"/>
                </a:solidFill>
                <a:ea typeface="ＭＳ Ｐゴシック" pitchFamily="24" charset="-128"/>
                <a:cs typeface="Arial" charset="0"/>
                <a:sym typeface="Wingdings" pitchFamily="2" charset="2"/>
              </a:rPr>
              <a:t></a:t>
            </a:r>
            <a:endParaRPr lang="en-US" dirty="0">
              <a:solidFill>
                <a:prstClr val="black"/>
              </a:solidFill>
              <a:ea typeface="ＭＳ Ｐゴシック" pitchFamily="24" charset="-128"/>
              <a:cs typeface="Arial" charset="0"/>
            </a:endParaRPr>
          </a:p>
          <a:p>
            <a:pPr marL="1143000" lvl="2" indent="-228600" defTabSz="457200">
              <a:buFont typeface="Arial" charset="0"/>
              <a:buChar char="•"/>
              <a:defRPr/>
            </a:pPr>
            <a:r>
              <a:rPr lang="en-US" dirty="0">
                <a:solidFill>
                  <a:prstClr val="black"/>
                </a:solidFill>
                <a:ea typeface="ＭＳ Ｐゴシック" pitchFamily="24" charset="-128"/>
                <a:cs typeface="Arial" charset="0"/>
              </a:rPr>
              <a:t>The break accounts for the condition when N/2 is not an integer</a:t>
            </a:r>
          </a:p>
          <a:p>
            <a:pPr lvl="1"/>
            <a:r>
              <a:rPr lang="en-US" dirty="0">
                <a:solidFill>
                  <a:prstClr val="black"/>
                </a:solidFill>
                <a:ea typeface="ＭＳ Ｐゴシック" pitchFamily="24" charset="-128"/>
                <a:cs typeface="Arial" charset="0"/>
              </a:rPr>
              <a:t>If “</a:t>
            </a:r>
            <a:r>
              <a:rPr lang="en-US" dirty="0" err="1">
                <a:solidFill>
                  <a:prstClr val="black"/>
                </a:solidFill>
                <a:ea typeface="ＭＳ Ｐゴシック" pitchFamily="24" charset="-128"/>
                <a:cs typeface="Arial" charset="0"/>
              </a:rPr>
              <a:t>i</a:t>
            </a:r>
            <a:r>
              <a:rPr lang="en-US" dirty="0">
                <a:solidFill>
                  <a:prstClr val="black"/>
                </a:solidFill>
                <a:ea typeface="ＭＳ Ｐゴシック" pitchFamily="24" charset="-128"/>
                <a:cs typeface="Arial" charset="0"/>
              </a:rPr>
              <a:t>” is known to be an integer multiple of N</a:t>
            </a:r>
          </a:p>
          <a:p>
            <a:pPr marL="1143000" lvl="2" indent="-228600" defTabSz="457200">
              <a:buFont typeface="Arial" charset="0"/>
              <a:buChar char="•"/>
              <a:defRPr/>
            </a:pPr>
            <a:r>
              <a:rPr lang="en-US" dirty="0">
                <a:solidFill>
                  <a:prstClr val="black"/>
                </a:solidFill>
                <a:ea typeface="ＭＳ Ｐゴシック" pitchFamily="24" charset="-128"/>
                <a:cs typeface="Arial" charset="0"/>
              </a:rPr>
              <a:t>The user can </a:t>
            </a:r>
            <a:r>
              <a:rPr lang="en-US" u="sng" dirty="0">
                <a:solidFill>
                  <a:prstClr val="black"/>
                </a:solidFill>
                <a:ea typeface="ＭＳ Ｐゴシック" pitchFamily="24" charset="-128"/>
                <a:cs typeface="Arial" charset="0"/>
              </a:rPr>
              <a:t>remove the exit check </a:t>
            </a:r>
            <a:r>
              <a:rPr lang="en-US" dirty="0">
                <a:solidFill>
                  <a:prstClr val="black"/>
                </a:solidFill>
                <a:ea typeface="ＭＳ Ｐゴシック" pitchFamily="24" charset="-128"/>
                <a:cs typeface="Arial" charset="0"/>
              </a:rPr>
              <a:t>(and associated logic)</a:t>
            </a:r>
          </a:p>
          <a:p>
            <a:pPr marL="1143000" lvl="2" indent="-228600" defTabSz="457200">
              <a:buFont typeface="Arial" charset="0"/>
              <a:buChar char="•"/>
              <a:defRPr/>
            </a:pPr>
            <a:r>
              <a:rPr lang="en-US" dirty="0">
                <a:solidFill>
                  <a:prstClr val="black"/>
                </a:solidFill>
                <a:ea typeface="ＭＳ Ｐゴシック" pitchFamily="24" charset="-128"/>
                <a:cs typeface="Arial" charset="0"/>
              </a:rPr>
              <a:t>Vitis HLS is not always be able to determine this is true </a:t>
            </a:r>
            <a:br>
              <a:rPr lang="en-US" dirty="0">
                <a:solidFill>
                  <a:prstClr val="black"/>
                </a:solidFill>
                <a:ea typeface="ＭＳ Ｐゴシック" pitchFamily="24" charset="-128"/>
                <a:cs typeface="Arial" charset="0"/>
              </a:rPr>
            </a:br>
            <a:r>
              <a:rPr lang="en-US" dirty="0">
                <a:solidFill>
                  <a:prstClr val="black"/>
                </a:solidFill>
                <a:ea typeface="ＭＳ Ｐゴシック" pitchFamily="24" charset="-128"/>
                <a:cs typeface="Arial" charset="0"/>
              </a:rPr>
              <a:t>(e.g. if N is an input argument)</a:t>
            </a:r>
          </a:p>
          <a:p>
            <a:pPr marL="1143000" lvl="2" indent="-228600" defTabSz="457200">
              <a:buFont typeface="Arial" charset="0"/>
              <a:buChar char="•"/>
              <a:defRPr/>
            </a:pPr>
            <a:r>
              <a:rPr lang="en-US" dirty="0">
                <a:solidFill>
                  <a:prstClr val="black"/>
                </a:solidFill>
                <a:ea typeface="ＭＳ Ｐゴシック" pitchFamily="24" charset="-128"/>
                <a:cs typeface="Arial" charset="0"/>
              </a:rPr>
              <a:t>User takes responsibility: verify!</a:t>
            </a:r>
          </a:p>
          <a:p>
            <a:pPr lvl="2"/>
            <a:endParaRPr lang="en-US" dirty="0"/>
          </a:p>
        </p:txBody>
      </p:sp>
      <p:sp>
        <p:nvSpPr>
          <p:cNvPr id="17" name="Slide Number Placeholder 16"/>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30</a:t>
            </a:fld>
            <a:endParaRPr lang="en-US" dirty="0"/>
          </a:p>
        </p:txBody>
      </p:sp>
      <p:sp>
        <p:nvSpPr>
          <p:cNvPr id="11" name="TextBox 10">
            <a:extLst>
              <a:ext uri="{FF2B5EF4-FFF2-40B4-BE49-F238E27FC236}">
                <a16:creationId xmlns:a16="http://schemas.microsoft.com/office/drawing/2014/main" id="{C774D03B-CC69-4EF8-A438-CA0DAE040C18}"/>
              </a:ext>
            </a:extLst>
          </p:cNvPr>
          <p:cNvSpPr txBox="1"/>
          <p:nvPr/>
        </p:nvSpPr>
        <p:spPr>
          <a:xfrm>
            <a:off x="6998672" y="2165862"/>
            <a:ext cx="4402627" cy="57708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kern="0" dirty="0">
                <a:solidFill>
                  <a:prstClr val="black"/>
                </a:solidFill>
                <a:latin typeface="Arial"/>
              </a:rPr>
              <a:t>Add: for(int i = 0; i &lt; N; i++) {</a:t>
            </a:r>
          </a:p>
          <a:p>
            <a:pPr defTabSz="457200" fontAlgn="base">
              <a:spcBef>
                <a:spcPct val="0"/>
              </a:spcBef>
              <a:spcAft>
                <a:spcPct val="0"/>
              </a:spcAft>
              <a:defRPr/>
            </a:pPr>
            <a:r>
              <a:rPr lang="en-US" sz="1050" kern="0" dirty="0">
                <a:solidFill>
                  <a:prstClr val="black"/>
                </a:solidFill>
                <a:latin typeface="Arial"/>
              </a:rPr>
              <a:t>  a[i] = b[i] + c[i];</a:t>
            </a:r>
          </a:p>
          <a:p>
            <a:pPr defTabSz="457200" fontAlgn="base">
              <a:spcBef>
                <a:spcPct val="0"/>
              </a:spcBef>
              <a:spcAft>
                <a:spcPct val="0"/>
              </a:spcAft>
              <a:defRPr/>
            </a:pPr>
            <a:r>
              <a:rPr lang="en-US" sz="1050" kern="0" dirty="0">
                <a:solidFill>
                  <a:prstClr val="black"/>
                </a:solidFill>
                <a:latin typeface="Arial"/>
              </a:rPr>
              <a:t>}</a:t>
            </a:r>
          </a:p>
        </p:txBody>
      </p:sp>
      <p:sp>
        <p:nvSpPr>
          <p:cNvPr id="14" name="TextBox 13">
            <a:extLst>
              <a:ext uri="{FF2B5EF4-FFF2-40B4-BE49-F238E27FC236}">
                <a16:creationId xmlns:a16="http://schemas.microsoft.com/office/drawing/2014/main" id="{0C0CEB4A-8D8C-4BA7-9210-BC62F9831189}"/>
              </a:ext>
            </a:extLst>
          </p:cNvPr>
          <p:cNvSpPr txBox="1"/>
          <p:nvPr/>
        </p:nvSpPr>
        <p:spPr>
          <a:xfrm>
            <a:off x="6998672" y="3267193"/>
            <a:ext cx="4402627" cy="90024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kern="0" dirty="0">
                <a:solidFill>
                  <a:prstClr val="black"/>
                </a:solidFill>
                <a:latin typeface="Arial"/>
              </a:rPr>
              <a:t>Add: for(int i = 0; i &lt; N; </a:t>
            </a:r>
            <a:r>
              <a:rPr lang="en-US" sz="1050" b="1" kern="0" dirty="0">
                <a:solidFill>
                  <a:prstClr val="black"/>
                </a:solidFill>
                <a:latin typeface="Arial"/>
              </a:rPr>
              <a:t>i += 2</a:t>
            </a: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  a[i] = b[i] + c[i];</a:t>
            </a:r>
          </a:p>
          <a:p>
            <a:pPr defTabSz="457200" fontAlgn="base">
              <a:spcBef>
                <a:spcPct val="0"/>
              </a:spcBef>
              <a:spcAft>
                <a:spcPct val="0"/>
              </a:spcAft>
              <a:defRPr/>
            </a:pPr>
            <a:r>
              <a:rPr lang="en-US" sz="1050" b="1" kern="0" dirty="0">
                <a:solidFill>
                  <a:prstClr val="black"/>
                </a:solidFill>
                <a:latin typeface="Arial"/>
              </a:rPr>
              <a:t>  if (i+1 &gt;= N) break;</a:t>
            </a:r>
          </a:p>
          <a:p>
            <a:pPr defTabSz="457200" fontAlgn="base">
              <a:spcBef>
                <a:spcPct val="0"/>
              </a:spcBef>
              <a:spcAft>
                <a:spcPct val="0"/>
              </a:spcAft>
              <a:defRPr/>
            </a:pPr>
            <a:r>
              <a:rPr lang="en-US" sz="1050" kern="0" dirty="0">
                <a:solidFill>
                  <a:prstClr val="black"/>
                </a:solidFill>
                <a:latin typeface="Arial"/>
              </a:rPr>
              <a:t>  a[i+1] = b[i+1] + c[i+1];</a:t>
            </a:r>
          </a:p>
          <a:p>
            <a:pPr defTabSz="457200" fontAlgn="base">
              <a:spcBef>
                <a:spcPct val="0"/>
              </a:spcBef>
              <a:spcAft>
                <a:spcPct val="0"/>
              </a:spcAft>
              <a:defRPr/>
            </a:pPr>
            <a:r>
              <a:rPr lang="en-US" sz="1050" kern="0" dirty="0">
                <a:solidFill>
                  <a:prstClr val="black"/>
                </a:solidFill>
                <a:latin typeface="Arial"/>
              </a:rPr>
              <a:t>}</a:t>
            </a:r>
          </a:p>
        </p:txBody>
      </p:sp>
      <p:sp>
        <p:nvSpPr>
          <p:cNvPr id="16" name="TextBox 15">
            <a:extLst>
              <a:ext uri="{FF2B5EF4-FFF2-40B4-BE49-F238E27FC236}">
                <a16:creationId xmlns:a16="http://schemas.microsoft.com/office/drawing/2014/main" id="{7A993C99-D05D-4BF3-AF57-0D8BDAB046CD}"/>
              </a:ext>
            </a:extLst>
          </p:cNvPr>
          <p:cNvSpPr txBox="1"/>
          <p:nvPr/>
        </p:nvSpPr>
        <p:spPr>
          <a:xfrm>
            <a:off x="6998672" y="4887860"/>
            <a:ext cx="4402627" cy="73866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kern="0" dirty="0">
                <a:solidFill>
                  <a:prstClr val="black"/>
                </a:solidFill>
                <a:latin typeface="Arial"/>
              </a:rPr>
              <a:t>for(int i = 0; i &lt; N; </a:t>
            </a:r>
            <a:r>
              <a:rPr lang="en-US" sz="1050" b="1" kern="0" dirty="0">
                <a:solidFill>
                  <a:prstClr val="black"/>
                </a:solidFill>
                <a:latin typeface="Arial"/>
              </a:rPr>
              <a:t>i += 2</a:t>
            </a: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  a[i] = b[i] + c[i];</a:t>
            </a:r>
          </a:p>
          <a:p>
            <a:pPr defTabSz="457200" fontAlgn="base">
              <a:spcBef>
                <a:spcPct val="0"/>
              </a:spcBef>
              <a:spcAft>
                <a:spcPct val="0"/>
              </a:spcAft>
              <a:defRPr/>
            </a:pPr>
            <a:r>
              <a:rPr lang="en-US" sz="1050" kern="0" dirty="0">
                <a:solidFill>
                  <a:prstClr val="black"/>
                </a:solidFill>
                <a:latin typeface="Arial"/>
              </a:rPr>
              <a:t>  a[i+1] = b[i+1] + c[i+1];</a:t>
            </a:r>
          </a:p>
          <a:p>
            <a:pPr defTabSz="457200" fontAlgn="base">
              <a:spcBef>
                <a:spcPct val="0"/>
              </a:spcBef>
              <a:spcAft>
                <a:spcPct val="0"/>
              </a:spcAft>
              <a:defRPr/>
            </a:pPr>
            <a:r>
              <a:rPr lang="en-US" sz="1050" kern="0" dirty="0">
                <a:solidFill>
                  <a:prstClr val="black"/>
                </a:solidFill>
                <a:latin typeface="Arial"/>
              </a:rPr>
              <a:t>}</a:t>
            </a:r>
          </a:p>
        </p:txBody>
      </p:sp>
      <p:sp>
        <p:nvSpPr>
          <p:cNvPr id="18" name="TextBox 17">
            <a:extLst>
              <a:ext uri="{FF2B5EF4-FFF2-40B4-BE49-F238E27FC236}">
                <a16:creationId xmlns:a16="http://schemas.microsoft.com/office/drawing/2014/main" id="{90D5FF11-1765-48F6-8785-2D20CA3B916C}"/>
              </a:ext>
            </a:extLst>
          </p:cNvPr>
          <p:cNvSpPr txBox="1"/>
          <p:nvPr/>
        </p:nvSpPr>
        <p:spPr>
          <a:xfrm>
            <a:off x="9624593" y="5503087"/>
            <a:ext cx="1740573" cy="461665"/>
          </a:xfrm>
          <a:prstGeom prst="rect">
            <a:avLst/>
          </a:prstGeom>
          <a:solidFill>
            <a:srgbClr val="FFFF99"/>
          </a:solidFill>
          <a:ln w="12700" cap="flat" cmpd="sng" algn="ctr">
            <a:solidFill>
              <a:srgbClr val="000000"/>
            </a:solidFill>
            <a:prstDash val="solid"/>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latin typeface="Arial"/>
                <a:ea typeface="ＭＳ Ｐゴシック" pitchFamily="24" charset="-128"/>
                <a:cs typeface="ＭＳ Ｐゴシック" pitchFamily="24" charset="-128"/>
              </a:rPr>
              <a:t>An extra adder for N/2 cycles trade-off</a:t>
            </a:r>
          </a:p>
        </p:txBody>
      </p:sp>
      <p:sp>
        <p:nvSpPr>
          <p:cNvPr id="19" name="TextBox 18">
            <a:extLst>
              <a:ext uri="{FF2B5EF4-FFF2-40B4-BE49-F238E27FC236}">
                <a16:creationId xmlns:a16="http://schemas.microsoft.com/office/drawing/2014/main" id="{8960B102-0B27-4C4E-BD2C-8CC8F1BB6D1F}"/>
              </a:ext>
            </a:extLst>
          </p:cNvPr>
          <p:cNvSpPr txBox="1"/>
          <p:nvPr/>
        </p:nvSpPr>
        <p:spPr>
          <a:xfrm>
            <a:off x="9636899" y="3770108"/>
            <a:ext cx="1740573" cy="646331"/>
          </a:xfrm>
          <a:prstGeom prst="rect">
            <a:avLst/>
          </a:prstGeom>
          <a:solidFill>
            <a:srgbClr val="FFFF99"/>
          </a:solidFill>
          <a:ln w="12700" cap="flat" cmpd="sng" algn="ctr">
            <a:solidFill>
              <a:srgbClr val="000000"/>
            </a:solidFill>
            <a:prstDash val="solid"/>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latin typeface="Arial"/>
                <a:ea typeface="ＭＳ Ｐゴシック" pitchFamily="24" charset="-128"/>
                <a:cs typeface="ＭＳ Ｐゴシック" pitchFamily="24" charset="-128"/>
              </a:rPr>
              <a:t>Effective code after compiler transformation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Flattening</a:t>
            </a:r>
          </a:p>
        </p:txBody>
      </p:sp>
      <p:sp>
        <p:nvSpPr>
          <p:cNvPr id="3" name="Content Placeholder 2"/>
          <p:cNvSpPr>
            <a:spLocks noGrp="1"/>
          </p:cNvSpPr>
          <p:nvPr>
            <p:ph idx="1"/>
          </p:nvPr>
        </p:nvSpPr>
        <p:spPr/>
        <p:txBody>
          <a:bodyPr>
            <a:normAutofit/>
          </a:bodyPr>
          <a:lstStyle/>
          <a:p>
            <a:r>
              <a:rPr lang="en-US" dirty="0"/>
              <a:t>Vitis HLS can automatically flatten nested loops</a:t>
            </a:r>
          </a:p>
          <a:p>
            <a:pPr lvl="1"/>
            <a:r>
              <a:rPr lang="en-US" dirty="0"/>
              <a:t>A faster approach than manually changing the code</a:t>
            </a:r>
          </a:p>
          <a:p>
            <a:r>
              <a:rPr lang="en-US" dirty="0"/>
              <a:t>Flattening should be specified on the inner most loop</a:t>
            </a:r>
          </a:p>
          <a:p>
            <a:pPr lvl="1"/>
            <a:r>
              <a:rPr lang="en-US" dirty="0"/>
              <a:t>It will be flattened into the loop above</a:t>
            </a:r>
          </a:p>
          <a:p>
            <a:pPr lvl="1"/>
            <a:r>
              <a:rPr lang="en-US" dirty="0"/>
              <a:t>The “off” option can prevent loops in the hierarchy from being flattened</a:t>
            </a:r>
          </a:p>
          <a:p>
            <a:pPr lvl="1"/>
            <a:endParaRPr lang="en-US" dirty="0"/>
          </a:p>
        </p:txBody>
      </p:sp>
      <p:sp>
        <p:nvSpPr>
          <p:cNvPr id="60" name="Slide Number Placeholder 59"/>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31</a:t>
            </a:fld>
            <a:endParaRPr lang="en-US" dirty="0"/>
          </a:p>
        </p:txBody>
      </p:sp>
      <p:sp>
        <p:nvSpPr>
          <p:cNvPr id="61" name="TextBox 60">
            <a:extLst>
              <a:ext uri="{FF2B5EF4-FFF2-40B4-BE49-F238E27FC236}">
                <a16:creationId xmlns:a16="http://schemas.microsoft.com/office/drawing/2014/main" id="{2A7647E2-0F3A-4150-8C9C-16C20FA38005}"/>
              </a:ext>
            </a:extLst>
          </p:cNvPr>
          <p:cNvSpPr txBox="1"/>
          <p:nvPr/>
        </p:nvSpPr>
        <p:spPr>
          <a:xfrm>
            <a:off x="2197548" y="3505261"/>
            <a:ext cx="3429953" cy="283923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L1: for (i=3;i&gt;=0;i--) {</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L2: for (i=3;i&gt;=0;i--) {</a:t>
            </a:r>
          </a:p>
          <a:p>
            <a:pPr defTabSz="457200" fontAlgn="base">
              <a:spcBef>
                <a:spcPct val="0"/>
              </a:spcBef>
              <a:spcAft>
                <a:spcPct val="0"/>
              </a:spcAft>
              <a:defRPr/>
            </a:pPr>
            <a:r>
              <a:rPr lang="en-US" sz="1050" b="1" kern="0" dirty="0">
                <a:solidFill>
                  <a:prstClr val="black"/>
                </a:solidFill>
                <a:latin typeface="Consolas" pitchFamily="49" charset="0"/>
              </a:rPr>
              <a:t>      L3: for (j=3;j&gt;=0;j--) {</a:t>
            </a:r>
          </a:p>
          <a:p>
            <a:pPr defTabSz="457200" fontAlgn="base">
              <a:spcBef>
                <a:spcPct val="0"/>
              </a:spcBef>
              <a:spcAft>
                <a:spcPct val="0"/>
              </a:spcAft>
              <a:defRPr/>
            </a:pPr>
            <a:r>
              <a:rPr lang="en-US" sz="1050" i="1" kern="0" dirty="0">
                <a:solidFill>
                  <a:prstClr val="black"/>
                </a:solidFill>
                <a:latin typeface="Consolas" pitchFamily="49" charset="0"/>
              </a:rPr>
              <a:t> 	[loop body l3 ]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L4: for (i=3;i&gt;=0;i--) {</a:t>
            </a:r>
          </a:p>
          <a:p>
            <a:pPr defTabSz="457200" fontAlgn="base">
              <a:spcBef>
                <a:spcPct val="0"/>
              </a:spcBef>
              <a:spcAft>
                <a:spcPct val="0"/>
              </a:spcAft>
              <a:defRPr/>
            </a:pPr>
            <a:r>
              <a:rPr lang="en-US" sz="1050" i="1" kern="0" dirty="0">
                <a:solidFill>
                  <a:prstClr val="black"/>
                </a:solidFill>
                <a:latin typeface="Consolas" pitchFamily="49" charset="0"/>
              </a:rPr>
              <a:t> 	[loop body l4 ]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p:txBody>
      </p:sp>
      <p:sp>
        <p:nvSpPr>
          <p:cNvPr id="63" name="Oval 62">
            <a:extLst>
              <a:ext uri="{FF2B5EF4-FFF2-40B4-BE49-F238E27FC236}">
                <a16:creationId xmlns:a16="http://schemas.microsoft.com/office/drawing/2014/main" id="{B1751369-79A9-4469-8F24-A80F43B672AE}"/>
              </a:ext>
            </a:extLst>
          </p:cNvPr>
          <p:cNvSpPr/>
          <p:nvPr/>
        </p:nvSpPr>
        <p:spPr>
          <a:xfrm>
            <a:off x="349254" y="3693074"/>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sp>
        <p:nvSpPr>
          <p:cNvPr id="64" name="Oval 63">
            <a:extLst>
              <a:ext uri="{FF2B5EF4-FFF2-40B4-BE49-F238E27FC236}">
                <a16:creationId xmlns:a16="http://schemas.microsoft.com/office/drawing/2014/main" id="{9BADA023-6AE3-45EC-84ED-4D42409D724E}"/>
              </a:ext>
            </a:extLst>
          </p:cNvPr>
          <p:cNvSpPr/>
          <p:nvPr/>
        </p:nvSpPr>
        <p:spPr>
          <a:xfrm>
            <a:off x="349254" y="4345959"/>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2</a:t>
            </a:r>
          </a:p>
        </p:txBody>
      </p:sp>
      <p:cxnSp>
        <p:nvCxnSpPr>
          <p:cNvPr id="65" name="Straight Arrow Connector 64">
            <a:extLst>
              <a:ext uri="{FF2B5EF4-FFF2-40B4-BE49-F238E27FC236}">
                <a16:creationId xmlns:a16="http://schemas.microsoft.com/office/drawing/2014/main" id="{ECD0EA41-69B4-4899-BA93-03AEE0735E1F}"/>
              </a:ext>
            </a:extLst>
          </p:cNvPr>
          <p:cNvCxnSpPr>
            <a:endCxn id="63" idx="0"/>
          </p:cNvCxnSpPr>
          <p:nvPr/>
        </p:nvCxnSpPr>
        <p:spPr>
          <a:xfrm rot="5400000">
            <a:off x="361902" y="3502323"/>
            <a:ext cx="380998"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6" name="Curved Connector 20">
            <a:extLst>
              <a:ext uri="{FF2B5EF4-FFF2-40B4-BE49-F238E27FC236}">
                <a16:creationId xmlns:a16="http://schemas.microsoft.com/office/drawing/2014/main" id="{9FEA4A48-112E-486C-83B8-A7D9E3A435CE}"/>
              </a:ext>
            </a:extLst>
          </p:cNvPr>
          <p:cNvCxnSpPr>
            <a:stCxn id="63" idx="4"/>
            <a:endCxn id="63" idx="6"/>
          </p:cNvCxnSpPr>
          <p:nvPr/>
        </p:nvCxnSpPr>
        <p:spPr>
          <a:xfrm rot="5400000" flipH="1" flipV="1">
            <a:off x="577775" y="3820110"/>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67" name="Oval 66">
            <a:extLst>
              <a:ext uri="{FF2B5EF4-FFF2-40B4-BE49-F238E27FC236}">
                <a16:creationId xmlns:a16="http://schemas.microsoft.com/office/drawing/2014/main" id="{260FF81E-65F2-48A5-A5B8-E698E78F3DE7}"/>
              </a:ext>
            </a:extLst>
          </p:cNvPr>
          <p:cNvSpPr/>
          <p:nvPr/>
        </p:nvSpPr>
        <p:spPr>
          <a:xfrm>
            <a:off x="809994" y="4881189"/>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3</a:t>
            </a:r>
          </a:p>
        </p:txBody>
      </p:sp>
      <p:cxnSp>
        <p:nvCxnSpPr>
          <p:cNvPr id="68" name="Curved Connector 20">
            <a:extLst>
              <a:ext uri="{FF2B5EF4-FFF2-40B4-BE49-F238E27FC236}">
                <a16:creationId xmlns:a16="http://schemas.microsoft.com/office/drawing/2014/main" id="{9C41FAE2-0ECB-4083-A379-2BEE76A9915D}"/>
              </a:ext>
            </a:extLst>
          </p:cNvPr>
          <p:cNvCxnSpPr>
            <a:stCxn id="67" idx="7"/>
            <a:endCxn id="67" idx="5"/>
          </p:cNvCxnSpPr>
          <p:nvPr/>
        </p:nvCxnSpPr>
        <p:spPr>
          <a:xfrm rot="16200000" flipH="1">
            <a:off x="1049025" y="5033508"/>
            <a:ext cx="215526" cy="2117"/>
          </a:xfrm>
          <a:prstGeom prst="curvedConnector5">
            <a:avLst>
              <a:gd name="adj1" fmla="val -16318"/>
              <a:gd name="adj2" fmla="val 17490371"/>
              <a:gd name="adj3" fmla="val 120398"/>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9" name="Straight Arrow Connector 68">
            <a:extLst>
              <a:ext uri="{FF2B5EF4-FFF2-40B4-BE49-F238E27FC236}">
                <a16:creationId xmlns:a16="http://schemas.microsoft.com/office/drawing/2014/main" id="{E30E4DDD-106C-49FE-AB52-2573957846E3}"/>
              </a:ext>
            </a:extLst>
          </p:cNvPr>
          <p:cNvCxnSpPr>
            <a:stCxn id="63" idx="4"/>
          </p:cNvCxnSpPr>
          <p:nvPr/>
        </p:nvCxnSpPr>
        <p:spPr>
          <a:xfrm rot="16200000" flipH="1">
            <a:off x="379416" y="4171115"/>
            <a:ext cx="348087"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0" name="Straight Arrow Connector 69">
            <a:extLst>
              <a:ext uri="{FF2B5EF4-FFF2-40B4-BE49-F238E27FC236}">
                <a16:creationId xmlns:a16="http://schemas.microsoft.com/office/drawing/2014/main" id="{AA7F615E-FDE2-4D12-AC1E-77BFC0A78384}"/>
              </a:ext>
            </a:extLst>
          </p:cNvPr>
          <p:cNvCxnSpPr>
            <a:stCxn id="64" idx="5"/>
            <a:endCxn id="67" idx="1"/>
          </p:cNvCxnSpPr>
          <p:nvPr/>
        </p:nvCxnSpPr>
        <p:spPr>
          <a:xfrm rot="16200000" flipH="1">
            <a:off x="622918" y="4679616"/>
            <a:ext cx="319704" cy="17344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1" name="Curved Connector 20">
            <a:extLst>
              <a:ext uri="{FF2B5EF4-FFF2-40B4-BE49-F238E27FC236}">
                <a16:creationId xmlns:a16="http://schemas.microsoft.com/office/drawing/2014/main" id="{0BF3F72B-3A88-45BA-913C-03D28C61CDE1}"/>
              </a:ext>
            </a:extLst>
          </p:cNvPr>
          <p:cNvCxnSpPr>
            <a:stCxn id="67" idx="4"/>
            <a:endCxn id="64" idx="6"/>
          </p:cNvCxnSpPr>
          <p:nvPr/>
        </p:nvCxnSpPr>
        <p:spPr>
          <a:xfrm rot="5400000" flipH="1">
            <a:off x="540530" y="4713744"/>
            <a:ext cx="687630" cy="257593"/>
          </a:xfrm>
          <a:prstGeom prst="curvedConnector4">
            <a:avLst>
              <a:gd name="adj1" fmla="val -33245"/>
              <a:gd name="adj2" fmla="val -429249"/>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2" name="Curved Connector 20">
            <a:extLst>
              <a:ext uri="{FF2B5EF4-FFF2-40B4-BE49-F238E27FC236}">
                <a16:creationId xmlns:a16="http://schemas.microsoft.com/office/drawing/2014/main" id="{49CCD245-7B66-4338-8B5D-6CD5335C476F}"/>
              </a:ext>
            </a:extLst>
          </p:cNvPr>
          <p:cNvCxnSpPr>
            <a:stCxn id="73" idx="4"/>
            <a:endCxn id="73" idx="6"/>
          </p:cNvCxnSpPr>
          <p:nvPr/>
        </p:nvCxnSpPr>
        <p:spPr>
          <a:xfrm rot="5400000" flipH="1" flipV="1">
            <a:off x="577775" y="5663724"/>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73" name="Oval 72">
            <a:extLst>
              <a:ext uri="{FF2B5EF4-FFF2-40B4-BE49-F238E27FC236}">
                <a16:creationId xmlns:a16="http://schemas.microsoft.com/office/drawing/2014/main" id="{4293631F-37D0-4D0D-AA4D-197F739270B2}"/>
              </a:ext>
            </a:extLst>
          </p:cNvPr>
          <p:cNvSpPr/>
          <p:nvPr/>
        </p:nvSpPr>
        <p:spPr>
          <a:xfrm>
            <a:off x="349254" y="5536514"/>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4</a:t>
            </a:r>
          </a:p>
        </p:txBody>
      </p:sp>
      <p:cxnSp>
        <p:nvCxnSpPr>
          <p:cNvPr id="74" name="Straight Arrow Connector 73">
            <a:extLst>
              <a:ext uri="{FF2B5EF4-FFF2-40B4-BE49-F238E27FC236}">
                <a16:creationId xmlns:a16="http://schemas.microsoft.com/office/drawing/2014/main" id="{425306D7-0200-45BB-AF2A-51B31483D031}"/>
              </a:ext>
            </a:extLst>
          </p:cNvPr>
          <p:cNvCxnSpPr>
            <a:stCxn id="64" idx="4"/>
            <a:endCxn id="73" idx="0"/>
          </p:cNvCxnSpPr>
          <p:nvPr/>
        </p:nvCxnSpPr>
        <p:spPr>
          <a:xfrm rot="5400000">
            <a:off x="109769" y="5093555"/>
            <a:ext cx="885755"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5" name="Straight Arrow Connector 74">
            <a:extLst>
              <a:ext uri="{FF2B5EF4-FFF2-40B4-BE49-F238E27FC236}">
                <a16:creationId xmlns:a16="http://schemas.microsoft.com/office/drawing/2014/main" id="{A0D6C900-E11C-4EEC-8349-0960C3541401}"/>
              </a:ext>
            </a:extLst>
          </p:cNvPr>
          <p:cNvCxnSpPr>
            <a:stCxn id="73" idx="4"/>
          </p:cNvCxnSpPr>
          <p:nvPr/>
        </p:nvCxnSpPr>
        <p:spPr>
          <a:xfrm rot="16200000" flipH="1">
            <a:off x="361191" y="6032708"/>
            <a:ext cx="384050"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76" name="TextBox 75">
            <a:extLst>
              <a:ext uri="{FF2B5EF4-FFF2-40B4-BE49-F238E27FC236}">
                <a16:creationId xmlns:a16="http://schemas.microsoft.com/office/drawing/2014/main" id="{3E9FF662-DDAD-4405-9990-6204445128D2}"/>
              </a:ext>
            </a:extLst>
          </p:cNvPr>
          <p:cNvSpPr txBox="1"/>
          <p:nvPr/>
        </p:nvSpPr>
        <p:spPr>
          <a:xfrm>
            <a:off x="1014768" y="4036279"/>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77" name="TextBox 76">
            <a:extLst>
              <a:ext uri="{FF2B5EF4-FFF2-40B4-BE49-F238E27FC236}">
                <a16:creationId xmlns:a16="http://schemas.microsoft.com/office/drawing/2014/main" id="{D8CEA226-5A7B-4596-BE0C-B65057AA7806}"/>
              </a:ext>
            </a:extLst>
          </p:cNvPr>
          <p:cNvSpPr txBox="1"/>
          <p:nvPr/>
        </p:nvSpPr>
        <p:spPr>
          <a:xfrm>
            <a:off x="1373122" y="438192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78" name="TextBox 77">
            <a:extLst>
              <a:ext uri="{FF2B5EF4-FFF2-40B4-BE49-F238E27FC236}">
                <a16:creationId xmlns:a16="http://schemas.microsoft.com/office/drawing/2014/main" id="{56FB9117-B311-4856-AEC2-57C4E537A177}"/>
              </a:ext>
            </a:extLst>
          </p:cNvPr>
          <p:cNvSpPr txBox="1"/>
          <p:nvPr/>
        </p:nvSpPr>
        <p:spPr>
          <a:xfrm>
            <a:off x="1448365" y="491959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79" name="TextBox 78">
            <a:extLst>
              <a:ext uri="{FF2B5EF4-FFF2-40B4-BE49-F238E27FC236}">
                <a16:creationId xmlns:a16="http://schemas.microsoft.com/office/drawing/2014/main" id="{DC72F32B-468B-48EB-9646-F474636EFA02}"/>
              </a:ext>
            </a:extLst>
          </p:cNvPr>
          <p:cNvSpPr txBox="1"/>
          <p:nvPr/>
        </p:nvSpPr>
        <p:spPr>
          <a:xfrm>
            <a:off x="1014768" y="576450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80" name="TextBox 79">
            <a:extLst>
              <a:ext uri="{FF2B5EF4-FFF2-40B4-BE49-F238E27FC236}">
                <a16:creationId xmlns:a16="http://schemas.microsoft.com/office/drawing/2014/main" id="{7FA26DEF-38F9-4621-B156-0E741F215E6A}"/>
              </a:ext>
            </a:extLst>
          </p:cNvPr>
          <p:cNvSpPr txBox="1"/>
          <p:nvPr/>
        </p:nvSpPr>
        <p:spPr>
          <a:xfrm>
            <a:off x="656658" y="6116801"/>
            <a:ext cx="1484607" cy="276999"/>
          </a:xfrm>
          <a:prstGeom prst="rect">
            <a:avLst/>
          </a:prstGeom>
          <a:solidFill>
            <a:srgbClr val="6D7076"/>
          </a:solidFill>
          <a:ln w="25400" cap="flat" cmpd="sng" algn="ctr">
            <a:solidFill>
              <a:srgbClr val="6D7076">
                <a:shade val="50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white"/>
                </a:solidFill>
                <a:latin typeface="Arial"/>
              </a:rPr>
              <a:t>36 transitions</a:t>
            </a:r>
          </a:p>
        </p:txBody>
      </p:sp>
      <p:sp>
        <p:nvSpPr>
          <p:cNvPr id="81" name="TextBox 80">
            <a:extLst>
              <a:ext uri="{FF2B5EF4-FFF2-40B4-BE49-F238E27FC236}">
                <a16:creationId xmlns:a16="http://schemas.microsoft.com/office/drawing/2014/main" id="{DD490789-81CF-4427-8930-61A7010BAF1C}"/>
              </a:ext>
            </a:extLst>
          </p:cNvPr>
          <p:cNvSpPr txBox="1"/>
          <p:nvPr/>
        </p:nvSpPr>
        <p:spPr>
          <a:xfrm>
            <a:off x="6292774" y="3505261"/>
            <a:ext cx="3173987" cy="283923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L1: for (i=3;i&gt;=0;i--) {</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L2: for (k=15,k&gt;=0;k--) {</a:t>
            </a:r>
          </a:p>
          <a:p>
            <a:pPr defTabSz="457200" fontAlgn="base">
              <a:spcBef>
                <a:spcPct val="0"/>
              </a:spcBef>
              <a:spcAft>
                <a:spcPct val="0"/>
              </a:spcAft>
              <a:defRPr/>
            </a:pPr>
            <a:r>
              <a:rPr lang="en-US" sz="1050" i="1" kern="0" dirty="0">
                <a:solidFill>
                  <a:prstClr val="black"/>
                </a:solidFill>
                <a:latin typeface="Consolas" pitchFamily="49" charset="0"/>
              </a:rPr>
              <a:t> 	</a:t>
            </a:r>
          </a:p>
          <a:p>
            <a:pPr defTabSz="457200" fontAlgn="base">
              <a:spcBef>
                <a:spcPct val="0"/>
              </a:spcBef>
              <a:spcAft>
                <a:spcPct val="0"/>
              </a:spcAft>
              <a:defRPr/>
            </a:pPr>
            <a:r>
              <a:rPr lang="en-US" sz="1050" i="1" kern="0" dirty="0">
                <a:solidFill>
                  <a:prstClr val="black"/>
                </a:solidFill>
                <a:latin typeface="Consolas" pitchFamily="49" charset="0"/>
              </a:rPr>
              <a:t>	[loop body l3 ]</a:t>
            </a: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L4: for (i=3;i&gt;=0;i--) {</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p:txBody>
      </p:sp>
      <p:sp>
        <p:nvSpPr>
          <p:cNvPr id="82" name="Oval 81">
            <a:extLst>
              <a:ext uri="{FF2B5EF4-FFF2-40B4-BE49-F238E27FC236}">
                <a16:creationId xmlns:a16="http://schemas.microsoft.com/office/drawing/2014/main" id="{B797A436-F352-4BC5-AE0E-9184100E9192}"/>
              </a:ext>
            </a:extLst>
          </p:cNvPr>
          <p:cNvSpPr/>
          <p:nvPr/>
        </p:nvSpPr>
        <p:spPr>
          <a:xfrm>
            <a:off x="9820020" y="3776170"/>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sp>
        <p:nvSpPr>
          <p:cNvPr id="83" name="Oval 82">
            <a:extLst>
              <a:ext uri="{FF2B5EF4-FFF2-40B4-BE49-F238E27FC236}">
                <a16:creationId xmlns:a16="http://schemas.microsoft.com/office/drawing/2014/main" id="{CE89EC2E-9172-4402-B0B7-C04163DF7BF2}"/>
              </a:ext>
            </a:extLst>
          </p:cNvPr>
          <p:cNvSpPr/>
          <p:nvPr/>
        </p:nvSpPr>
        <p:spPr>
          <a:xfrm>
            <a:off x="9820020" y="4774700"/>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2</a:t>
            </a:r>
          </a:p>
        </p:txBody>
      </p:sp>
      <p:cxnSp>
        <p:nvCxnSpPr>
          <p:cNvPr id="84" name="Straight Arrow Connector 83">
            <a:extLst>
              <a:ext uri="{FF2B5EF4-FFF2-40B4-BE49-F238E27FC236}">
                <a16:creationId xmlns:a16="http://schemas.microsoft.com/office/drawing/2014/main" id="{480D0E30-419C-42B0-AF63-86CF66CA596F}"/>
              </a:ext>
            </a:extLst>
          </p:cNvPr>
          <p:cNvCxnSpPr>
            <a:endCxn id="82" idx="0"/>
          </p:cNvCxnSpPr>
          <p:nvPr/>
        </p:nvCxnSpPr>
        <p:spPr>
          <a:xfrm rot="5400000">
            <a:off x="9832668" y="3585416"/>
            <a:ext cx="380998"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5" name="Curved Connector 20">
            <a:extLst>
              <a:ext uri="{FF2B5EF4-FFF2-40B4-BE49-F238E27FC236}">
                <a16:creationId xmlns:a16="http://schemas.microsoft.com/office/drawing/2014/main" id="{E7FC3C41-33F1-4183-ACC3-5C641840AA95}"/>
              </a:ext>
            </a:extLst>
          </p:cNvPr>
          <p:cNvCxnSpPr>
            <a:stCxn id="82" idx="4"/>
            <a:endCxn id="82" idx="6"/>
          </p:cNvCxnSpPr>
          <p:nvPr/>
        </p:nvCxnSpPr>
        <p:spPr>
          <a:xfrm rot="5400000" flipH="1" flipV="1">
            <a:off x="10048540" y="3903204"/>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6" name="Straight Arrow Connector 85">
            <a:extLst>
              <a:ext uri="{FF2B5EF4-FFF2-40B4-BE49-F238E27FC236}">
                <a16:creationId xmlns:a16="http://schemas.microsoft.com/office/drawing/2014/main" id="{42D161D3-0B17-48D3-A885-DD3E8B6714BA}"/>
              </a:ext>
            </a:extLst>
          </p:cNvPr>
          <p:cNvCxnSpPr>
            <a:stCxn id="82" idx="4"/>
            <a:endCxn id="83" idx="0"/>
          </p:cNvCxnSpPr>
          <p:nvPr/>
        </p:nvCxnSpPr>
        <p:spPr>
          <a:xfrm rot="5400000">
            <a:off x="9676302" y="4427754"/>
            <a:ext cx="693730"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7" name="Curved Connector 20">
            <a:extLst>
              <a:ext uri="{FF2B5EF4-FFF2-40B4-BE49-F238E27FC236}">
                <a16:creationId xmlns:a16="http://schemas.microsoft.com/office/drawing/2014/main" id="{F0D61954-AA77-4E14-925A-48B9AC1B8C25}"/>
              </a:ext>
            </a:extLst>
          </p:cNvPr>
          <p:cNvCxnSpPr>
            <a:stCxn id="83" idx="4"/>
            <a:endCxn id="83" idx="6"/>
          </p:cNvCxnSpPr>
          <p:nvPr/>
        </p:nvCxnSpPr>
        <p:spPr>
          <a:xfrm rot="5400000" flipH="1" flipV="1">
            <a:off x="10048540" y="4901910"/>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8" name="Curved Connector 20">
            <a:extLst>
              <a:ext uri="{FF2B5EF4-FFF2-40B4-BE49-F238E27FC236}">
                <a16:creationId xmlns:a16="http://schemas.microsoft.com/office/drawing/2014/main" id="{14427C89-312D-4298-8B4E-BDA60BA97085}"/>
              </a:ext>
            </a:extLst>
          </p:cNvPr>
          <p:cNvCxnSpPr>
            <a:stCxn id="89" idx="4"/>
            <a:endCxn id="89" idx="6"/>
          </p:cNvCxnSpPr>
          <p:nvPr/>
        </p:nvCxnSpPr>
        <p:spPr>
          <a:xfrm rot="5400000" flipH="1" flipV="1">
            <a:off x="10048540" y="5705975"/>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9" name="Oval 88">
            <a:extLst>
              <a:ext uri="{FF2B5EF4-FFF2-40B4-BE49-F238E27FC236}">
                <a16:creationId xmlns:a16="http://schemas.microsoft.com/office/drawing/2014/main" id="{2060BE22-8199-47AE-BDF6-16C503E07860}"/>
              </a:ext>
            </a:extLst>
          </p:cNvPr>
          <p:cNvSpPr/>
          <p:nvPr/>
        </p:nvSpPr>
        <p:spPr>
          <a:xfrm>
            <a:off x="9820020" y="5578765"/>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4</a:t>
            </a:r>
          </a:p>
        </p:txBody>
      </p:sp>
      <p:cxnSp>
        <p:nvCxnSpPr>
          <p:cNvPr id="90" name="Straight Arrow Connector 89">
            <a:extLst>
              <a:ext uri="{FF2B5EF4-FFF2-40B4-BE49-F238E27FC236}">
                <a16:creationId xmlns:a16="http://schemas.microsoft.com/office/drawing/2014/main" id="{337859C7-AE9F-493B-976E-9D592D424D6F}"/>
              </a:ext>
            </a:extLst>
          </p:cNvPr>
          <p:cNvCxnSpPr>
            <a:stCxn id="83" idx="4"/>
            <a:endCxn id="89" idx="0"/>
          </p:cNvCxnSpPr>
          <p:nvPr/>
        </p:nvCxnSpPr>
        <p:spPr>
          <a:xfrm rot="5400000">
            <a:off x="9773779" y="5329051"/>
            <a:ext cx="499265"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91" name="Straight Arrow Connector 90">
            <a:extLst>
              <a:ext uri="{FF2B5EF4-FFF2-40B4-BE49-F238E27FC236}">
                <a16:creationId xmlns:a16="http://schemas.microsoft.com/office/drawing/2014/main" id="{FE2CE340-6512-401D-8FA7-CB545C95927F}"/>
              </a:ext>
            </a:extLst>
          </p:cNvPr>
          <p:cNvCxnSpPr>
            <a:stCxn id="89" idx="4"/>
          </p:cNvCxnSpPr>
          <p:nvPr/>
        </p:nvCxnSpPr>
        <p:spPr>
          <a:xfrm rot="16200000" flipH="1">
            <a:off x="9831958" y="6074959"/>
            <a:ext cx="384050"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92" name="TextBox 91">
            <a:extLst>
              <a:ext uri="{FF2B5EF4-FFF2-40B4-BE49-F238E27FC236}">
                <a16:creationId xmlns:a16="http://schemas.microsoft.com/office/drawing/2014/main" id="{740DAEAE-F376-43AB-AF23-7F0AA9607349}"/>
              </a:ext>
            </a:extLst>
          </p:cNvPr>
          <p:cNvSpPr txBox="1"/>
          <p:nvPr/>
        </p:nvSpPr>
        <p:spPr>
          <a:xfrm>
            <a:off x="10485535" y="4119375"/>
            <a:ext cx="341760" cy="261610"/>
          </a:xfrm>
          <a:prstGeom prst="rect">
            <a:avLst/>
          </a:prstGeom>
          <a:noFill/>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93" name="TextBox 92">
            <a:extLst>
              <a:ext uri="{FF2B5EF4-FFF2-40B4-BE49-F238E27FC236}">
                <a16:creationId xmlns:a16="http://schemas.microsoft.com/office/drawing/2014/main" id="{E93BDC30-07A5-464D-9EBC-8973BA2DE00E}"/>
              </a:ext>
            </a:extLst>
          </p:cNvPr>
          <p:cNvSpPr txBox="1"/>
          <p:nvPr/>
        </p:nvSpPr>
        <p:spPr>
          <a:xfrm>
            <a:off x="10331954" y="4695450"/>
            <a:ext cx="420308" cy="261610"/>
          </a:xfrm>
          <a:prstGeom prst="rect">
            <a:avLst/>
          </a:prstGeom>
          <a:noFill/>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x16</a:t>
            </a:r>
          </a:p>
        </p:txBody>
      </p:sp>
      <p:sp>
        <p:nvSpPr>
          <p:cNvPr id="94" name="TextBox 93">
            <a:extLst>
              <a:ext uri="{FF2B5EF4-FFF2-40B4-BE49-F238E27FC236}">
                <a16:creationId xmlns:a16="http://schemas.microsoft.com/office/drawing/2014/main" id="{7F8A6E3F-82D1-4107-AB97-139707AD789C}"/>
              </a:ext>
            </a:extLst>
          </p:cNvPr>
          <p:cNvSpPr txBox="1"/>
          <p:nvPr/>
        </p:nvSpPr>
        <p:spPr>
          <a:xfrm>
            <a:off x="10485535" y="5847600"/>
            <a:ext cx="341760" cy="261610"/>
          </a:xfrm>
          <a:prstGeom prst="rect">
            <a:avLst/>
          </a:prstGeom>
          <a:noFill/>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95" name="Right Arrow 36">
            <a:extLst>
              <a:ext uri="{FF2B5EF4-FFF2-40B4-BE49-F238E27FC236}">
                <a16:creationId xmlns:a16="http://schemas.microsoft.com/office/drawing/2014/main" id="{A8823766-9402-4C0C-8B10-D3D80D98306B}"/>
              </a:ext>
            </a:extLst>
          </p:cNvPr>
          <p:cNvSpPr/>
          <p:nvPr/>
        </p:nvSpPr>
        <p:spPr>
          <a:xfrm>
            <a:off x="5524873" y="4657045"/>
            <a:ext cx="511933"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96" name="Left Brace 95">
            <a:extLst>
              <a:ext uri="{FF2B5EF4-FFF2-40B4-BE49-F238E27FC236}">
                <a16:creationId xmlns:a16="http://schemas.microsoft.com/office/drawing/2014/main" id="{8871451D-EAEC-423F-8C8C-B1B21098C3E4}"/>
              </a:ext>
            </a:extLst>
          </p:cNvPr>
          <p:cNvSpPr/>
          <p:nvPr/>
        </p:nvSpPr>
        <p:spPr>
          <a:xfrm flipH="1">
            <a:off x="5166761" y="4503791"/>
            <a:ext cx="255967" cy="806505"/>
          </a:xfrm>
          <a:prstGeom prst="lef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
        <p:nvSpPr>
          <p:cNvPr id="97" name="Left Brace 96">
            <a:extLst>
              <a:ext uri="{FF2B5EF4-FFF2-40B4-BE49-F238E27FC236}">
                <a16:creationId xmlns:a16="http://schemas.microsoft.com/office/drawing/2014/main" id="{6D8C096E-D4AC-4722-ABA7-610A8DF9DB0D}"/>
              </a:ext>
            </a:extLst>
          </p:cNvPr>
          <p:cNvSpPr/>
          <p:nvPr/>
        </p:nvSpPr>
        <p:spPr>
          <a:xfrm>
            <a:off x="6088241" y="4657411"/>
            <a:ext cx="255967" cy="652885"/>
          </a:xfrm>
          <a:prstGeom prst="leftBrace">
            <a:avLst>
              <a:gd name="adj1" fmla="val 8333"/>
              <a:gd name="adj2" fmla="val 34540"/>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
        <p:nvSpPr>
          <p:cNvPr id="98" name="TextBox 97">
            <a:extLst>
              <a:ext uri="{FF2B5EF4-FFF2-40B4-BE49-F238E27FC236}">
                <a16:creationId xmlns:a16="http://schemas.microsoft.com/office/drawing/2014/main" id="{D9A73C80-A901-4E80-B243-C57BADFF7CF4}"/>
              </a:ext>
            </a:extLst>
          </p:cNvPr>
          <p:cNvSpPr txBox="1"/>
          <p:nvPr/>
        </p:nvSpPr>
        <p:spPr>
          <a:xfrm>
            <a:off x="10536971" y="6078396"/>
            <a:ext cx="1484607" cy="276999"/>
          </a:xfrm>
          <a:prstGeom prst="rect">
            <a:avLst/>
          </a:prstGeom>
          <a:solidFill>
            <a:srgbClr val="6D7076"/>
          </a:solidFill>
          <a:ln w="25400" cap="flat" cmpd="sng" algn="ctr">
            <a:solidFill>
              <a:srgbClr val="6D7076">
                <a:shade val="50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white"/>
                </a:solidFill>
                <a:latin typeface="Arial"/>
              </a:rPr>
              <a:t>28 transitions</a:t>
            </a:r>
          </a:p>
        </p:txBody>
      </p:sp>
      <p:sp>
        <p:nvSpPr>
          <p:cNvPr id="99" name="TextBox 98">
            <a:extLst>
              <a:ext uri="{FF2B5EF4-FFF2-40B4-BE49-F238E27FC236}">
                <a16:creationId xmlns:a16="http://schemas.microsoft.com/office/drawing/2014/main" id="{F89418CF-6AC9-4DDD-9F59-8678B68F9E87}"/>
              </a:ext>
            </a:extLst>
          </p:cNvPr>
          <p:cNvSpPr txBox="1"/>
          <p:nvPr/>
        </p:nvSpPr>
        <p:spPr>
          <a:xfrm>
            <a:off x="2796552" y="6030121"/>
            <a:ext cx="5580073" cy="276999"/>
          </a:xfrm>
          <a:prstGeom prst="rect">
            <a:avLst/>
          </a:prstGeom>
          <a:solidFill>
            <a:srgbClr val="FFFF99"/>
          </a:solidFill>
          <a:ln w="12700" cap="flat" cmpd="sng" algn="ctr">
            <a:solidFill>
              <a:srgbClr val="000000"/>
            </a:solidFill>
            <a:prstDash val="solid"/>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latin typeface="Arial"/>
                <a:ea typeface="ＭＳ Ｐゴシック" pitchFamily="24" charset="-128"/>
                <a:cs typeface="ＭＳ Ｐゴシック" pitchFamily="24" charset="-128"/>
              </a:rPr>
              <a:t>Loops will be flattened by default: use “off” to disable</a:t>
            </a:r>
          </a:p>
        </p:txBody>
      </p:sp>
      <p:pic>
        <p:nvPicPr>
          <p:cNvPr id="6" name="图片 5" descr="图形用户界面, 应用程序&#10;&#10;描述已自动生成">
            <a:extLst>
              <a:ext uri="{FF2B5EF4-FFF2-40B4-BE49-F238E27FC236}">
                <a16:creationId xmlns:a16="http://schemas.microsoft.com/office/drawing/2014/main" id="{00500FFD-C84C-4097-8CFD-8E36536949F2}"/>
              </a:ext>
            </a:extLst>
          </p:cNvPr>
          <p:cNvPicPr>
            <a:picLocks noChangeAspect="1"/>
          </p:cNvPicPr>
          <p:nvPr/>
        </p:nvPicPr>
        <p:blipFill>
          <a:blip r:embed="rId2"/>
          <a:stretch>
            <a:fillRect/>
          </a:stretch>
        </p:blipFill>
        <p:spPr>
          <a:xfrm>
            <a:off x="8635880" y="1371324"/>
            <a:ext cx="3419475" cy="1914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checkerboard(across)">
                                      <p:cBhvr>
                                        <p:cTn id="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56284C-A276-4F11-877F-550BE8718EE7}"/>
              </a:ext>
            </a:extLst>
          </p:cNvPr>
          <p:cNvPicPr>
            <a:picLocks noChangeAspect="1"/>
          </p:cNvPicPr>
          <p:nvPr/>
        </p:nvPicPr>
        <p:blipFill>
          <a:blip r:embed="rId2"/>
          <a:stretch>
            <a:fillRect/>
          </a:stretch>
        </p:blipFill>
        <p:spPr>
          <a:xfrm>
            <a:off x="8632231" y="1294664"/>
            <a:ext cx="3008428" cy="2029783"/>
          </a:xfrm>
          <a:prstGeom prst="rect">
            <a:avLst/>
          </a:prstGeom>
        </p:spPr>
      </p:pic>
      <p:sp>
        <p:nvSpPr>
          <p:cNvPr id="2" name="Title 1"/>
          <p:cNvSpPr>
            <a:spLocks noGrp="1"/>
          </p:cNvSpPr>
          <p:nvPr>
            <p:ph type="title"/>
          </p:nvPr>
        </p:nvSpPr>
        <p:spPr/>
        <p:txBody>
          <a:bodyPr/>
          <a:lstStyle/>
          <a:p>
            <a:r>
              <a:rPr lang="en-US" dirty="0"/>
              <a:t>Loop Flattening</a:t>
            </a:r>
          </a:p>
        </p:txBody>
      </p:sp>
      <p:sp>
        <p:nvSpPr>
          <p:cNvPr id="3" name="Content Placeholder 2"/>
          <p:cNvSpPr>
            <a:spLocks noGrp="1"/>
          </p:cNvSpPr>
          <p:nvPr>
            <p:ph idx="1"/>
          </p:nvPr>
        </p:nvSpPr>
        <p:spPr/>
        <p:txBody>
          <a:bodyPr>
            <a:normAutofit/>
          </a:bodyPr>
          <a:lstStyle/>
          <a:p>
            <a:r>
              <a:rPr lang="en-US" dirty="0" err="1"/>
              <a:t>Vivado</a:t>
            </a:r>
            <a:r>
              <a:rPr lang="en-US" dirty="0"/>
              <a:t> HLS can automatically flatten nested loops</a:t>
            </a:r>
          </a:p>
          <a:p>
            <a:pPr lvl="1"/>
            <a:r>
              <a:rPr lang="en-US" dirty="0"/>
              <a:t>A faster approach than manually changing the code</a:t>
            </a:r>
          </a:p>
          <a:p>
            <a:r>
              <a:rPr lang="en-US" dirty="0"/>
              <a:t>Flattening should be specified on the inner most loop</a:t>
            </a:r>
          </a:p>
          <a:p>
            <a:pPr lvl="1"/>
            <a:r>
              <a:rPr lang="en-US" dirty="0"/>
              <a:t>It will be flattened into the loop above</a:t>
            </a:r>
          </a:p>
          <a:p>
            <a:pPr lvl="1"/>
            <a:r>
              <a:rPr lang="en-US" dirty="0"/>
              <a:t>The “off” option can prevent loops in the hierarchy from being flattened</a:t>
            </a:r>
          </a:p>
          <a:p>
            <a:pPr lvl="1"/>
            <a:endParaRPr lang="en-US" dirty="0"/>
          </a:p>
        </p:txBody>
      </p:sp>
      <p:sp>
        <p:nvSpPr>
          <p:cNvPr id="60" name="Slide Number Placeholder 59"/>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32</a:t>
            </a:fld>
            <a:endParaRPr lang="en-US" dirty="0"/>
          </a:p>
        </p:txBody>
      </p:sp>
      <p:sp>
        <p:nvSpPr>
          <p:cNvPr id="61" name="TextBox 60">
            <a:extLst>
              <a:ext uri="{FF2B5EF4-FFF2-40B4-BE49-F238E27FC236}">
                <a16:creationId xmlns:a16="http://schemas.microsoft.com/office/drawing/2014/main" id="{2A7647E2-0F3A-4150-8C9C-16C20FA38005}"/>
              </a:ext>
            </a:extLst>
          </p:cNvPr>
          <p:cNvSpPr txBox="1"/>
          <p:nvPr/>
        </p:nvSpPr>
        <p:spPr>
          <a:xfrm>
            <a:off x="2197548" y="3505261"/>
            <a:ext cx="3429953" cy="283923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L1: for (i=3;i&gt;=0;i--) {</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L2: for (i=3;i&gt;=0;i--) {</a:t>
            </a:r>
          </a:p>
          <a:p>
            <a:pPr defTabSz="457200" fontAlgn="base">
              <a:spcBef>
                <a:spcPct val="0"/>
              </a:spcBef>
              <a:spcAft>
                <a:spcPct val="0"/>
              </a:spcAft>
              <a:defRPr/>
            </a:pPr>
            <a:r>
              <a:rPr lang="en-US" sz="1050" b="1" kern="0" dirty="0">
                <a:solidFill>
                  <a:prstClr val="black"/>
                </a:solidFill>
                <a:latin typeface="Consolas" pitchFamily="49" charset="0"/>
              </a:rPr>
              <a:t>      L3: for (j=3;j&gt;=0;j--) {</a:t>
            </a:r>
          </a:p>
          <a:p>
            <a:pPr defTabSz="457200" fontAlgn="base">
              <a:spcBef>
                <a:spcPct val="0"/>
              </a:spcBef>
              <a:spcAft>
                <a:spcPct val="0"/>
              </a:spcAft>
              <a:defRPr/>
            </a:pPr>
            <a:r>
              <a:rPr lang="en-US" sz="1050" i="1" kern="0" dirty="0">
                <a:solidFill>
                  <a:prstClr val="black"/>
                </a:solidFill>
                <a:latin typeface="Consolas" pitchFamily="49" charset="0"/>
              </a:rPr>
              <a:t> 	[loop body l3 ]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L4: for (i=3;i&gt;=0;i--) {</a:t>
            </a:r>
          </a:p>
          <a:p>
            <a:pPr defTabSz="457200" fontAlgn="base">
              <a:spcBef>
                <a:spcPct val="0"/>
              </a:spcBef>
              <a:spcAft>
                <a:spcPct val="0"/>
              </a:spcAft>
              <a:defRPr/>
            </a:pPr>
            <a:r>
              <a:rPr lang="en-US" sz="1050" i="1" kern="0" dirty="0">
                <a:solidFill>
                  <a:prstClr val="black"/>
                </a:solidFill>
                <a:latin typeface="Consolas" pitchFamily="49" charset="0"/>
              </a:rPr>
              <a:t> 	[loop body l4 ]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p:txBody>
      </p:sp>
      <p:sp>
        <p:nvSpPr>
          <p:cNvPr id="63" name="Oval 62">
            <a:extLst>
              <a:ext uri="{FF2B5EF4-FFF2-40B4-BE49-F238E27FC236}">
                <a16:creationId xmlns:a16="http://schemas.microsoft.com/office/drawing/2014/main" id="{B1751369-79A9-4469-8F24-A80F43B672AE}"/>
              </a:ext>
            </a:extLst>
          </p:cNvPr>
          <p:cNvSpPr/>
          <p:nvPr/>
        </p:nvSpPr>
        <p:spPr>
          <a:xfrm>
            <a:off x="349254" y="3693074"/>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sp>
        <p:nvSpPr>
          <p:cNvPr id="64" name="Oval 63">
            <a:extLst>
              <a:ext uri="{FF2B5EF4-FFF2-40B4-BE49-F238E27FC236}">
                <a16:creationId xmlns:a16="http://schemas.microsoft.com/office/drawing/2014/main" id="{9BADA023-6AE3-45EC-84ED-4D42409D724E}"/>
              </a:ext>
            </a:extLst>
          </p:cNvPr>
          <p:cNvSpPr/>
          <p:nvPr/>
        </p:nvSpPr>
        <p:spPr>
          <a:xfrm>
            <a:off x="349254" y="4345959"/>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2</a:t>
            </a:r>
          </a:p>
        </p:txBody>
      </p:sp>
      <p:cxnSp>
        <p:nvCxnSpPr>
          <p:cNvPr id="65" name="Straight Arrow Connector 64">
            <a:extLst>
              <a:ext uri="{FF2B5EF4-FFF2-40B4-BE49-F238E27FC236}">
                <a16:creationId xmlns:a16="http://schemas.microsoft.com/office/drawing/2014/main" id="{ECD0EA41-69B4-4899-BA93-03AEE0735E1F}"/>
              </a:ext>
            </a:extLst>
          </p:cNvPr>
          <p:cNvCxnSpPr>
            <a:endCxn id="63" idx="0"/>
          </p:cNvCxnSpPr>
          <p:nvPr/>
        </p:nvCxnSpPr>
        <p:spPr>
          <a:xfrm rot="5400000">
            <a:off x="361902" y="3502323"/>
            <a:ext cx="380998"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6" name="Curved Connector 20">
            <a:extLst>
              <a:ext uri="{FF2B5EF4-FFF2-40B4-BE49-F238E27FC236}">
                <a16:creationId xmlns:a16="http://schemas.microsoft.com/office/drawing/2014/main" id="{9FEA4A48-112E-486C-83B8-A7D9E3A435CE}"/>
              </a:ext>
            </a:extLst>
          </p:cNvPr>
          <p:cNvCxnSpPr>
            <a:stCxn id="63" idx="4"/>
            <a:endCxn id="63" idx="6"/>
          </p:cNvCxnSpPr>
          <p:nvPr/>
        </p:nvCxnSpPr>
        <p:spPr>
          <a:xfrm rot="5400000" flipH="1" flipV="1">
            <a:off x="577775" y="3820110"/>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67" name="Oval 66">
            <a:extLst>
              <a:ext uri="{FF2B5EF4-FFF2-40B4-BE49-F238E27FC236}">
                <a16:creationId xmlns:a16="http://schemas.microsoft.com/office/drawing/2014/main" id="{260FF81E-65F2-48A5-A5B8-E698E78F3DE7}"/>
              </a:ext>
            </a:extLst>
          </p:cNvPr>
          <p:cNvSpPr/>
          <p:nvPr/>
        </p:nvSpPr>
        <p:spPr>
          <a:xfrm>
            <a:off x="809994" y="4881189"/>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3</a:t>
            </a:r>
          </a:p>
        </p:txBody>
      </p:sp>
      <p:cxnSp>
        <p:nvCxnSpPr>
          <p:cNvPr id="68" name="Curved Connector 20">
            <a:extLst>
              <a:ext uri="{FF2B5EF4-FFF2-40B4-BE49-F238E27FC236}">
                <a16:creationId xmlns:a16="http://schemas.microsoft.com/office/drawing/2014/main" id="{9C41FAE2-0ECB-4083-A379-2BEE76A9915D}"/>
              </a:ext>
            </a:extLst>
          </p:cNvPr>
          <p:cNvCxnSpPr>
            <a:stCxn id="67" idx="7"/>
            <a:endCxn id="67" idx="5"/>
          </p:cNvCxnSpPr>
          <p:nvPr/>
        </p:nvCxnSpPr>
        <p:spPr>
          <a:xfrm rot="16200000" flipH="1">
            <a:off x="1049025" y="5033508"/>
            <a:ext cx="215526" cy="2117"/>
          </a:xfrm>
          <a:prstGeom prst="curvedConnector5">
            <a:avLst>
              <a:gd name="adj1" fmla="val -16318"/>
              <a:gd name="adj2" fmla="val 17490371"/>
              <a:gd name="adj3" fmla="val 120398"/>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9" name="Straight Arrow Connector 68">
            <a:extLst>
              <a:ext uri="{FF2B5EF4-FFF2-40B4-BE49-F238E27FC236}">
                <a16:creationId xmlns:a16="http://schemas.microsoft.com/office/drawing/2014/main" id="{E30E4DDD-106C-49FE-AB52-2573957846E3}"/>
              </a:ext>
            </a:extLst>
          </p:cNvPr>
          <p:cNvCxnSpPr>
            <a:stCxn id="63" idx="4"/>
          </p:cNvCxnSpPr>
          <p:nvPr/>
        </p:nvCxnSpPr>
        <p:spPr>
          <a:xfrm rot="16200000" flipH="1">
            <a:off x="379416" y="4171115"/>
            <a:ext cx="348087"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0" name="Straight Arrow Connector 69">
            <a:extLst>
              <a:ext uri="{FF2B5EF4-FFF2-40B4-BE49-F238E27FC236}">
                <a16:creationId xmlns:a16="http://schemas.microsoft.com/office/drawing/2014/main" id="{AA7F615E-FDE2-4D12-AC1E-77BFC0A78384}"/>
              </a:ext>
            </a:extLst>
          </p:cNvPr>
          <p:cNvCxnSpPr>
            <a:stCxn id="64" idx="5"/>
            <a:endCxn id="67" idx="1"/>
          </p:cNvCxnSpPr>
          <p:nvPr/>
        </p:nvCxnSpPr>
        <p:spPr>
          <a:xfrm rot="16200000" flipH="1">
            <a:off x="622918" y="4679616"/>
            <a:ext cx="319704" cy="17344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1" name="Curved Connector 20">
            <a:extLst>
              <a:ext uri="{FF2B5EF4-FFF2-40B4-BE49-F238E27FC236}">
                <a16:creationId xmlns:a16="http://schemas.microsoft.com/office/drawing/2014/main" id="{0BF3F72B-3A88-45BA-913C-03D28C61CDE1}"/>
              </a:ext>
            </a:extLst>
          </p:cNvPr>
          <p:cNvCxnSpPr>
            <a:stCxn id="67" idx="4"/>
            <a:endCxn id="64" idx="6"/>
          </p:cNvCxnSpPr>
          <p:nvPr/>
        </p:nvCxnSpPr>
        <p:spPr>
          <a:xfrm rot="5400000" flipH="1">
            <a:off x="540530" y="4713744"/>
            <a:ext cx="687630" cy="257593"/>
          </a:xfrm>
          <a:prstGeom prst="curvedConnector4">
            <a:avLst>
              <a:gd name="adj1" fmla="val -33245"/>
              <a:gd name="adj2" fmla="val -429249"/>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2" name="Curved Connector 20">
            <a:extLst>
              <a:ext uri="{FF2B5EF4-FFF2-40B4-BE49-F238E27FC236}">
                <a16:creationId xmlns:a16="http://schemas.microsoft.com/office/drawing/2014/main" id="{49CCD245-7B66-4338-8B5D-6CD5335C476F}"/>
              </a:ext>
            </a:extLst>
          </p:cNvPr>
          <p:cNvCxnSpPr>
            <a:stCxn id="73" idx="4"/>
            <a:endCxn id="73" idx="6"/>
          </p:cNvCxnSpPr>
          <p:nvPr/>
        </p:nvCxnSpPr>
        <p:spPr>
          <a:xfrm rot="5400000" flipH="1" flipV="1">
            <a:off x="577775" y="5663724"/>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73" name="Oval 72">
            <a:extLst>
              <a:ext uri="{FF2B5EF4-FFF2-40B4-BE49-F238E27FC236}">
                <a16:creationId xmlns:a16="http://schemas.microsoft.com/office/drawing/2014/main" id="{4293631F-37D0-4D0D-AA4D-197F739270B2}"/>
              </a:ext>
            </a:extLst>
          </p:cNvPr>
          <p:cNvSpPr/>
          <p:nvPr/>
        </p:nvSpPr>
        <p:spPr>
          <a:xfrm>
            <a:off x="349254" y="5536514"/>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4</a:t>
            </a:r>
          </a:p>
        </p:txBody>
      </p:sp>
      <p:cxnSp>
        <p:nvCxnSpPr>
          <p:cNvPr id="74" name="Straight Arrow Connector 73">
            <a:extLst>
              <a:ext uri="{FF2B5EF4-FFF2-40B4-BE49-F238E27FC236}">
                <a16:creationId xmlns:a16="http://schemas.microsoft.com/office/drawing/2014/main" id="{425306D7-0200-45BB-AF2A-51B31483D031}"/>
              </a:ext>
            </a:extLst>
          </p:cNvPr>
          <p:cNvCxnSpPr>
            <a:stCxn id="64" idx="4"/>
            <a:endCxn id="73" idx="0"/>
          </p:cNvCxnSpPr>
          <p:nvPr/>
        </p:nvCxnSpPr>
        <p:spPr>
          <a:xfrm rot="5400000">
            <a:off x="109769" y="5093555"/>
            <a:ext cx="885755"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5" name="Straight Arrow Connector 74">
            <a:extLst>
              <a:ext uri="{FF2B5EF4-FFF2-40B4-BE49-F238E27FC236}">
                <a16:creationId xmlns:a16="http://schemas.microsoft.com/office/drawing/2014/main" id="{A0D6C900-E11C-4EEC-8349-0960C3541401}"/>
              </a:ext>
            </a:extLst>
          </p:cNvPr>
          <p:cNvCxnSpPr>
            <a:stCxn id="73" idx="4"/>
          </p:cNvCxnSpPr>
          <p:nvPr/>
        </p:nvCxnSpPr>
        <p:spPr>
          <a:xfrm rot="16200000" flipH="1">
            <a:off x="361191" y="6032708"/>
            <a:ext cx="384050"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76" name="TextBox 75">
            <a:extLst>
              <a:ext uri="{FF2B5EF4-FFF2-40B4-BE49-F238E27FC236}">
                <a16:creationId xmlns:a16="http://schemas.microsoft.com/office/drawing/2014/main" id="{3E9FF662-DDAD-4405-9990-6204445128D2}"/>
              </a:ext>
            </a:extLst>
          </p:cNvPr>
          <p:cNvSpPr txBox="1"/>
          <p:nvPr/>
        </p:nvSpPr>
        <p:spPr>
          <a:xfrm>
            <a:off x="1014768" y="4036279"/>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77" name="TextBox 76">
            <a:extLst>
              <a:ext uri="{FF2B5EF4-FFF2-40B4-BE49-F238E27FC236}">
                <a16:creationId xmlns:a16="http://schemas.microsoft.com/office/drawing/2014/main" id="{D8CEA226-5A7B-4596-BE0C-B65057AA7806}"/>
              </a:ext>
            </a:extLst>
          </p:cNvPr>
          <p:cNvSpPr txBox="1"/>
          <p:nvPr/>
        </p:nvSpPr>
        <p:spPr>
          <a:xfrm>
            <a:off x="1373122" y="438192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78" name="TextBox 77">
            <a:extLst>
              <a:ext uri="{FF2B5EF4-FFF2-40B4-BE49-F238E27FC236}">
                <a16:creationId xmlns:a16="http://schemas.microsoft.com/office/drawing/2014/main" id="{56FB9117-B311-4856-AEC2-57C4E537A177}"/>
              </a:ext>
            </a:extLst>
          </p:cNvPr>
          <p:cNvSpPr txBox="1"/>
          <p:nvPr/>
        </p:nvSpPr>
        <p:spPr>
          <a:xfrm>
            <a:off x="1448365" y="491959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79" name="TextBox 78">
            <a:extLst>
              <a:ext uri="{FF2B5EF4-FFF2-40B4-BE49-F238E27FC236}">
                <a16:creationId xmlns:a16="http://schemas.microsoft.com/office/drawing/2014/main" id="{DC72F32B-468B-48EB-9646-F474636EFA02}"/>
              </a:ext>
            </a:extLst>
          </p:cNvPr>
          <p:cNvSpPr txBox="1"/>
          <p:nvPr/>
        </p:nvSpPr>
        <p:spPr>
          <a:xfrm>
            <a:off x="1014768" y="576450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80" name="TextBox 79">
            <a:extLst>
              <a:ext uri="{FF2B5EF4-FFF2-40B4-BE49-F238E27FC236}">
                <a16:creationId xmlns:a16="http://schemas.microsoft.com/office/drawing/2014/main" id="{7FA26DEF-38F9-4621-B156-0E741F215E6A}"/>
              </a:ext>
            </a:extLst>
          </p:cNvPr>
          <p:cNvSpPr txBox="1"/>
          <p:nvPr/>
        </p:nvSpPr>
        <p:spPr>
          <a:xfrm>
            <a:off x="656658" y="6116801"/>
            <a:ext cx="1484607" cy="276999"/>
          </a:xfrm>
          <a:prstGeom prst="rect">
            <a:avLst/>
          </a:prstGeom>
          <a:solidFill>
            <a:srgbClr val="6D7076"/>
          </a:solidFill>
          <a:ln w="25400" cap="flat" cmpd="sng" algn="ctr">
            <a:solidFill>
              <a:srgbClr val="6D7076">
                <a:shade val="50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white"/>
                </a:solidFill>
                <a:latin typeface="Arial"/>
              </a:rPr>
              <a:t>36 transitions</a:t>
            </a:r>
          </a:p>
        </p:txBody>
      </p:sp>
      <p:sp>
        <p:nvSpPr>
          <p:cNvPr id="81" name="TextBox 80">
            <a:extLst>
              <a:ext uri="{FF2B5EF4-FFF2-40B4-BE49-F238E27FC236}">
                <a16:creationId xmlns:a16="http://schemas.microsoft.com/office/drawing/2014/main" id="{DD490789-81CF-4427-8930-61A7010BAF1C}"/>
              </a:ext>
            </a:extLst>
          </p:cNvPr>
          <p:cNvSpPr txBox="1"/>
          <p:nvPr/>
        </p:nvSpPr>
        <p:spPr>
          <a:xfrm>
            <a:off x="6292774" y="3505261"/>
            <a:ext cx="3173987" cy="283923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L1: for (i=3;i&gt;=0;i--) {</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L2: for (k=15,k&gt;=0;k--) {</a:t>
            </a:r>
          </a:p>
          <a:p>
            <a:pPr defTabSz="457200" fontAlgn="base">
              <a:spcBef>
                <a:spcPct val="0"/>
              </a:spcBef>
              <a:spcAft>
                <a:spcPct val="0"/>
              </a:spcAft>
              <a:defRPr/>
            </a:pPr>
            <a:r>
              <a:rPr lang="en-US" sz="1050" i="1" kern="0" dirty="0">
                <a:solidFill>
                  <a:prstClr val="black"/>
                </a:solidFill>
                <a:latin typeface="Consolas" pitchFamily="49" charset="0"/>
              </a:rPr>
              <a:t> 	</a:t>
            </a:r>
          </a:p>
          <a:p>
            <a:pPr defTabSz="457200" fontAlgn="base">
              <a:spcBef>
                <a:spcPct val="0"/>
              </a:spcBef>
              <a:spcAft>
                <a:spcPct val="0"/>
              </a:spcAft>
              <a:defRPr/>
            </a:pPr>
            <a:r>
              <a:rPr lang="en-US" sz="1050" i="1" kern="0" dirty="0">
                <a:solidFill>
                  <a:prstClr val="black"/>
                </a:solidFill>
                <a:latin typeface="Consolas" pitchFamily="49" charset="0"/>
              </a:rPr>
              <a:t>	[loop body l3 ]</a:t>
            </a: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L4: for (i=3;i&gt;=0;i--) {</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p:txBody>
      </p:sp>
      <p:sp>
        <p:nvSpPr>
          <p:cNvPr id="82" name="Oval 81">
            <a:extLst>
              <a:ext uri="{FF2B5EF4-FFF2-40B4-BE49-F238E27FC236}">
                <a16:creationId xmlns:a16="http://schemas.microsoft.com/office/drawing/2014/main" id="{B797A436-F352-4BC5-AE0E-9184100E9192}"/>
              </a:ext>
            </a:extLst>
          </p:cNvPr>
          <p:cNvSpPr/>
          <p:nvPr/>
        </p:nvSpPr>
        <p:spPr>
          <a:xfrm>
            <a:off x="9820020" y="3776170"/>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sp>
        <p:nvSpPr>
          <p:cNvPr id="83" name="Oval 82">
            <a:extLst>
              <a:ext uri="{FF2B5EF4-FFF2-40B4-BE49-F238E27FC236}">
                <a16:creationId xmlns:a16="http://schemas.microsoft.com/office/drawing/2014/main" id="{CE89EC2E-9172-4402-B0B7-C04163DF7BF2}"/>
              </a:ext>
            </a:extLst>
          </p:cNvPr>
          <p:cNvSpPr/>
          <p:nvPr/>
        </p:nvSpPr>
        <p:spPr>
          <a:xfrm>
            <a:off x="9820020" y="4774700"/>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2</a:t>
            </a:r>
          </a:p>
        </p:txBody>
      </p:sp>
      <p:cxnSp>
        <p:nvCxnSpPr>
          <p:cNvPr id="84" name="Straight Arrow Connector 83">
            <a:extLst>
              <a:ext uri="{FF2B5EF4-FFF2-40B4-BE49-F238E27FC236}">
                <a16:creationId xmlns:a16="http://schemas.microsoft.com/office/drawing/2014/main" id="{480D0E30-419C-42B0-AF63-86CF66CA596F}"/>
              </a:ext>
            </a:extLst>
          </p:cNvPr>
          <p:cNvCxnSpPr>
            <a:endCxn id="82" idx="0"/>
          </p:cNvCxnSpPr>
          <p:nvPr/>
        </p:nvCxnSpPr>
        <p:spPr>
          <a:xfrm rot="5400000">
            <a:off x="9832668" y="3585416"/>
            <a:ext cx="380998"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5" name="Curved Connector 20">
            <a:extLst>
              <a:ext uri="{FF2B5EF4-FFF2-40B4-BE49-F238E27FC236}">
                <a16:creationId xmlns:a16="http://schemas.microsoft.com/office/drawing/2014/main" id="{E7FC3C41-33F1-4183-ACC3-5C641840AA95}"/>
              </a:ext>
            </a:extLst>
          </p:cNvPr>
          <p:cNvCxnSpPr>
            <a:stCxn id="82" idx="4"/>
            <a:endCxn id="82" idx="6"/>
          </p:cNvCxnSpPr>
          <p:nvPr/>
        </p:nvCxnSpPr>
        <p:spPr>
          <a:xfrm rot="5400000" flipH="1" flipV="1">
            <a:off x="10048540" y="3903204"/>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6" name="Straight Arrow Connector 85">
            <a:extLst>
              <a:ext uri="{FF2B5EF4-FFF2-40B4-BE49-F238E27FC236}">
                <a16:creationId xmlns:a16="http://schemas.microsoft.com/office/drawing/2014/main" id="{42D161D3-0B17-48D3-A885-DD3E8B6714BA}"/>
              </a:ext>
            </a:extLst>
          </p:cNvPr>
          <p:cNvCxnSpPr>
            <a:stCxn id="82" idx="4"/>
            <a:endCxn id="83" idx="0"/>
          </p:cNvCxnSpPr>
          <p:nvPr/>
        </p:nvCxnSpPr>
        <p:spPr>
          <a:xfrm rot="5400000">
            <a:off x="9676302" y="4427754"/>
            <a:ext cx="693730"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7" name="Curved Connector 20">
            <a:extLst>
              <a:ext uri="{FF2B5EF4-FFF2-40B4-BE49-F238E27FC236}">
                <a16:creationId xmlns:a16="http://schemas.microsoft.com/office/drawing/2014/main" id="{F0D61954-AA77-4E14-925A-48B9AC1B8C25}"/>
              </a:ext>
            </a:extLst>
          </p:cNvPr>
          <p:cNvCxnSpPr>
            <a:stCxn id="83" idx="4"/>
            <a:endCxn id="83" idx="6"/>
          </p:cNvCxnSpPr>
          <p:nvPr/>
        </p:nvCxnSpPr>
        <p:spPr>
          <a:xfrm rot="5400000" flipH="1" flipV="1">
            <a:off x="10048540" y="4901910"/>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8" name="Curved Connector 20">
            <a:extLst>
              <a:ext uri="{FF2B5EF4-FFF2-40B4-BE49-F238E27FC236}">
                <a16:creationId xmlns:a16="http://schemas.microsoft.com/office/drawing/2014/main" id="{14427C89-312D-4298-8B4E-BDA60BA97085}"/>
              </a:ext>
            </a:extLst>
          </p:cNvPr>
          <p:cNvCxnSpPr>
            <a:stCxn id="89" idx="4"/>
            <a:endCxn id="89" idx="6"/>
          </p:cNvCxnSpPr>
          <p:nvPr/>
        </p:nvCxnSpPr>
        <p:spPr>
          <a:xfrm rot="5400000" flipH="1" flipV="1">
            <a:off x="10048540" y="5705975"/>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9" name="Oval 88">
            <a:extLst>
              <a:ext uri="{FF2B5EF4-FFF2-40B4-BE49-F238E27FC236}">
                <a16:creationId xmlns:a16="http://schemas.microsoft.com/office/drawing/2014/main" id="{2060BE22-8199-47AE-BDF6-16C503E07860}"/>
              </a:ext>
            </a:extLst>
          </p:cNvPr>
          <p:cNvSpPr/>
          <p:nvPr/>
        </p:nvSpPr>
        <p:spPr>
          <a:xfrm>
            <a:off x="9820020" y="5578765"/>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4</a:t>
            </a:r>
          </a:p>
        </p:txBody>
      </p:sp>
      <p:cxnSp>
        <p:nvCxnSpPr>
          <p:cNvPr id="90" name="Straight Arrow Connector 89">
            <a:extLst>
              <a:ext uri="{FF2B5EF4-FFF2-40B4-BE49-F238E27FC236}">
                <a16:creationId xmlns:a16="http://schemas.microsoft.com/office/drawing/2014/main" id="{337859C7-AE9F-493B-976E-9D592D424D6F}"/>
              </a:ext>
            </a:extLst>
          </p:cNvPr>
          <p:cNvCxnSpPr>
            <a:stCxn id="83" idx="4"/>
            <a:endCxn id="89" idx="0"/>
          </p:cNvCxnSpPr>
          <p:nvPr/>
        </p:nvCxnSpPr>
        <p:spPr>
          <a:xfrm rot="5400000">
            <a:off x="9773779" y="5329051"/>
            <a:ext cx="499265"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91" name="Straight Arrow Connector 90">
            <a:extLst>
              <a:ext uri="{FF2B5EF4-FFF2-40B4-BE49-F238E27FC236}">
                <a16:creationId xmlns:a16="http://schemas.microsoft.com/office/drawing/2014/main" id="{FE2CE340-6512-401D-8FA7-CB545C95927F}"/>
              </a:ext>
            </a:extLst>
          </p:cNvPr>
          <p:cNvCxnSpPr>
            <a:stCxn id="89" idx="4"/>
          </p:cNvCxnSpPr>
          <p:nvPr/>
        </p:nvCxnSpPr>
        <p:spPr>
          <a:xfrm rot="16200000" flipH="1">
            <a:off x="9831958" y="6074959"/>
            <a:ext cx="384050"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92" name="TextBox 91">
            <a:extLst>
              <a:ext uri="{FF2B5EF4-FFF2-40B4-BE49-F238E27FC236}">
                <a16:creationId xmlns:a16="http://schemas.microsoft.com/office/drawing/2014/main" id="{740DAEAE-F376-43AB-AF23-7F0AA9607349}"/>
              </a:ext>
            </a:extLst>
          </p:cNvPr>
          <p:cNvSpPr txBox="1"/>
          <p:nvPr/>
        </p:nvSpPr>
        <p:spPr>
          <a:xfrm>
            <a:off x="10485535" y="4119375"/>
            <a:ext cx="341760" cy="261610"/>
          </a:xfrm>
          <a:prstGeom prst="rect">
            <a:avLst/>
          </a:prstGeom>
          <a:noFill/>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93" name="TextBox 92">
            <a:extLst>
              <a:ext uri="{FF2B5EF4-FFF2-40B4-BE49-F238E27FC236}">
                <a16:creationId xmlns:a16="http://schemas.microsoft.com/office/drawing/2014/main" id="{E93BDC30-07A5-464D-9EBC-8973BA2DE00E}"/>
              </a:ext>
            </a:extLst>
          </p:cNvPr>
          <p:cNvSpPr txBox="1"/>
          <p:nvPr/>
        </p:nvSpPr>
        <p:spPr>
          <a:xfrm>
            <a:off x="10331954" y="4695450"/>
            <a:ext cx="420308" cy="261610"/>
          </a:xfrm>
          <a:prstGeom prst="rect">
            <a:avLst/>
          </a:prstGeom>
          <a:noFill/>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x16</a:t>
            </a:r>
          </a:p>
        </p:txBody>
      </p:sp>
      <p:sp>
        <p:nvSpPr>
          <p:cNvPr id="94" name="TextBox 93">
            <a:extLst>
              <a:ext uri="{FF2B5EF4-FFF2-40B4-BE49-F238E27FC236}">
                <a16:creationId xmlns:a16="http://schemas.microsoft.com/office/drawing/2014/main" id="{7F8A6E3F-82D1-4107-AB97-139707AD789C}"/>
              </a:ext>
            </a:extLst>
          </p:cNvPr>
          <p:cNvSpPr txBox="1"/>
          <p:nvPr/>
        </p:nvSpPr>
        <p:spPr>
          <a:xfrm>
            <a:off x="10485535" y="5847600"/>
            <a:ext cx="341760" cy="261610"/>
          </a:xfrm>
          <a:prstGeom prst="rect">
            <a:avLst/>
          </a:prstGeom>
          <a:noFill/>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95" name="Right Arrow 36">
            <a:extLst>
              <a:ext uri="{FF2B5EF4-FFF2-40B4-BE49-F238E27FC236}">
                <a16:creationId xmlns:a16="http://schemas.microsoft.com/office/drawing/2014/main" id="{A8823766-9402-4C0C-8B10-D3D80D98306B}"/>
              </a:ext>
            </a:extLst>
          </p:cNvPr>
          <p:cNvSpPr/>
          <p:nvPr/>
        </p:nvSpPr>
        <p:spPr>
          <a:xfrm>
            <a:off x="5524873" y="4657045"/>
            <a:ext cx="511933"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96" name="Left Brace 95">
            <a:extLst>
              <a:ext uri="{FF2B5EF4-FFF2-40B4-BE49-F238E27FC236}">
                <a16:creationId xmlns:a16="http://schemas.microsoft.com/office/drawing/2014/main" id="{8871451D-EAEC-423F-8C8C-B1B21098C3E4}"/>
              </a:ext>
            </a:extLst>
          </p:cNvPr>
          <p:cNvSpPr/>
          <p:nvPr/>
        </p:nvSpPr>
        <p:spPr>
          <a:xfrm flipH="1">
            <a:off x="5166761" y="4503791"/>
            <a:ext cx="255967" cy="806505"/>
          </a:xfrm>
          <a:prstGeom prst="lef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
        <p:nvSpPr>
          <p:cNvPr id="97" name="Left Brace 96">
            <a:extLst>
              <a:ext uri="{FF2B5EF4-FFF2-40B4-BE49-F238E27FC236}">
                <a16:creationId xmlns:a16="http://schemas.microsoft.com/office/drawing/2014/main" id="{6D8C096E-D4AC-4722-ABA7-610A8DF9DB0D}"/>
              </a:ext>
            </a:extLst>
          </p:cNvPr>
          <p:cNvSpPr/>
          <p:nvPr/>
        </p:nvSpPr>
        <p:spPr>
          <a:xfrm>
            <a:off x="6088241" y="4657411"/>
            <a:ext cx="255967" cy="652885"/>
          </a:xfrm>
          <a:prstGeom prst="leftBrace">
            <a:avLst>
              <a:gd name="adj1" fmla="val 8333"/>
              <a:gd name="adj2" fmla="val 34540"/>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
        <p:nvSpPr>
          <p:cNvPr id="98" name="TextBox 97">
            <a:extLst>
              <a:ext uri="{FF2B5EF4-FFF2-40B4-BE49-F238E27FC236}">
                <a16:creationId xmlns:a16="http://schemas.microsoft.com/office/drawing/2014/main" id="{D9A73C80-A901-4E80-B243-C57BADFF7CF4}"/>
              </a:ext>
            </a:extLst>
          </p:cNvPr>
          <p:cNvSpPr txBox="1"/>
          <p:nvPr/>
        </p:nvSpPr>
        <p:spPr>
          <a:xfrm>
            <a:off x="10536971" y="6078396"/>
            <a:ext cx="1484607" cy="276999"/>
          </a:xfrm>
          <a:prstGeom prst="rect">
            <a:avLst/>
          </a:prstGeom>
          <a:solidFill>
            <a:srgbClr val="6D7076"/>
          </a:solidFill>
          <a:ln w="25400" cap="flat" cmpd="sng" algn="ctr">
            <a:solidFill>
              <a:srgbClr val="6D7076">
                <a:shade val="50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white"/>
                </a:solidFill>
                <a:latin typeface="Arial"/>
              </a:rPr>
              <a:t>28 transitions</a:t>
            </a:r>
          </a:p>
        </p:txBody>
      </p:sp>
      <p:sp>
        <p:nvSpPr>
          <p:cNvPr id="99" name="TextBox 98">
            <a:extLst>
              <a:ext uri="{FF2B5EF4-FFF2-40B4-BE49-F238E27FC236}">
                <a16:creationId xmlns:a16="http://schemas.microsoft.com/office/drawing/2014/main" id="{F89418CF-6AC9-4DDD-9F59-8678B68F9E87}"/>
              </a:ext>
            </a:extLst>
          </p:cNvPr>
          <p:cNvSpPr txBox="1"/>
          <p:nvPr/>
        </p:nvSpPr>
        <p:spPr>
          <a:xfrm>
            <a:off x="2796552" y="6030121"/>
            <a:ext cx="5580073" cy="276999"/>
          </a:xfrm>
          <a:prstGeom prst="rect">
            <a:avLst/>
          </a:prstGeom>
          <a:solidFill>
            <a:srgbClr val="FFFF99"/>
          </a:solidFill>
          <a:ln w="12700" cap="flat" cmpd="sng" algn="ctr">
            <a:solidFill>
              <a:srgbClr val="000000"/>
            </a:solidFill>
            <a:prstDash val="solid"/>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latin typeface="Arial"/>
                <a:ea typeface="ＭＳ Ｐゴシック" pitchFamily="24" charset="-128"/>
                <a:cs typeface="ＭＳ Ｐゴシック" pitchFamily="24" charset="-128"/>
              </a:rPr>
              <a:t>Loops will be flattened by default: use “off” to disable</a:t>
            </a:r>
          </a:p>
        </p:txBody>
      </p:sp>
    </p:spTree>
    <p:extLst>
      <p:ext uri="{BB962C8B-B14F-4D97-AF65-F5344CB8AC3E}">
        <p14:creationId xmlns:p14="http://schemas.microsoft.com/office/powerpoint/2010/main" val="232186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checkerboard(across)">
                                      <p:cBhvr>
                                        <p:cTn id="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Perfect and Semi-Perfect Loops</a:t>
            </a:r>
          </a:p>
        </p:txBody>
      </p:sp>
      <p:sp>
        <p:nvSpPr>
          <p:cNvPr id="3" name="Content Placeholder 2"/>
          <p:cNvSpPr>
            <a:spLocks noGrp="1"/>
          </p:cNvSpPr>
          <p:nvPr>
            <p:ph idx="1"/>
          </p:nvPr>
        </p:nvSpPr>
        <p:spPr/>
        <p:txBody>
          <a:bodyPr>
            <a:normAutofit/>
          </a:bodyPr>
          <a:lstStyle/>
          <a:p>
            <a:r>
              <a:rPr lang="en-US" dirty="0"/>
              <a:t>Only perfect and semi-perfect loops can be flattened</a:t>
            </a:r>
          </a:p>
          <a:p>
            <a:pPr lvl="1"/>
            <a:r>
              <a:rPr lang="en-US" dirty="0"/>
              <a:t>The loop should be labeled or directives cannot be applied</a:t>
            </a:r>
          </a:p>
          <a:p>
            <a:pPr lvl="1"/>
            <a:r>
              <a:rPr lang="en-US" dirty="0">
                <a:solidFill>
                  <a:prstClr val="black"/>
                </a:solidFill>
                <a:ea typeface="ＭＳ Ｐゴシック" pitchFamily="24" charset="-128"/>
                <a:cs typeface="ＭＳ Ｐゴシック" pitchFamily="24" charset="-128"/>
              </a:rPr>
              <a:t>Perfect Loops</a:t>
            </a:r>
          </a:p>
          <a:p>
            <a:pPr marL="1027113" lvl="2" indent="-285750" defTabSz="457200">
              <a:buFont typeface="Arial" charset="0"/>
              <a:buChar char="–"/>
              <a:defRPr/>
            </a:pPr>
            <a:r>
              <a:rPr lang="en-US" dirty="0">
                <a:solidFill>
                  <a:prstClr val="black"/>
                </a:solidFill>
                <a:ea typeface="ＭＳ Ｐゴシック" pitchFamily="24" charset="-128"/>
                <a:cs typeface="Arial" charset="0"/>
              </a:rPr>
              <a:t>Only the inner most loop has body (contents)</a:t>
            </a:r>
          </a:p>
          <a:p>
            <a:pPr marL="1027113" lvl="2" indent="-285750" defTabSz="457200">
              <a:buFont typeface="Arial" charset="0"/>
              <a:buChar char="–"/>
              <a:defRPr/>
            </a:pPr>
            <a:r>
              <a:rPr lang="en-US" dirty="0">
                <a:solidFill>
                  <a:prstClr val="black"/>
                </a:solidFill>
                <a:ea typeface="ＭＳ Ｐゴシック" pitchFamily="24" charset="-128"/>
                <a:cs typeface="Arial" charset="0"/>
              </a:rPr>
              <a:t>There is no logic specified between the loop statements</a:t>
            </a:r>
          </a:p>
          <a:p>
            <a:pPr marL="1027113" lvl="2" indent="-285750" defTabSz="457200">
              <a:buFont typeface="Arial" charset="0"/>
              <a:buChar char="–"/>
              <a:defRPr/>
            </a:pPr>
            <a:r>
              <a:rPr lang="en-US" dirty="0">
                <a:solidFill>
                  <a:prstClr val="black"/>
                </a:solidFill>
                <a:ea typeface="ＭＳ Ｐゴシック" pitchFamily="24" charset="-128"/>
                <a:cs typeface="Arial" charset="0"/>
              </a:rPr>
              <a:t>The loop bounds are constant</a:t>
            </a:r>
          </a:p>
          <a:p>
            <a:pPr lvl="1"/>
            <a:r>
              <a:rPr lang="en-US" dirty="0">
                <a:solidFill>
                  <a:prstClr val="black"/>
                </a:solidFill>
                <a:ea typeface="ＭＳ Ｐゴシック" pitchFamily="24" charset="-128"/>
                <a:cs typeface="ＭＳ Ｐゴシック" pitchFamily="24" charset="-128"/>
              </a:rPr>
              <a:t>Semi-perfect Loops</a:t>
            </a:r>
          </a:p>
          <a:p>
            <a:pPr marL="1022350" lvl="1" indent="-285750" defTabSz="457200">
              <a:buFont typeface="Arial" charset="0"/>
              <a:buChar char="–"/>
              <a:defRPr/>
            </a:pPr>
            <a:r>
              <a:rPr lang="en-US" sz="1600" dirty="0">
                <a:solidFill>
                  <a:prstClr val="black"/>
                </a:solidFill>
                <a:ea typeface="ＭＳ Ｐゴシック" pitchFamily="24" charset="-128"/>
                <a:cs typeface="Arial" charset="0"/>
              </a:rPr>
              <a:t>Only the inner most loop has body (contents)</a:t>
            </a:r>
          </a:p>
          <a:p>
            <a:pPr marL="1022350" lvl="1" indent="-285750" defTabSz="457200">
              <a:buFont typeface="Arial" charset="0"/>
              <a:buChar char="–"/>
              <a:defRPr/>
            </a:pPr>
            <a:r>
              <a:rPr lang="en-US" sz="1600" dirty="0">
                <a:solidFill>
                  <a:prstClr val="black"/>
                </a:solidFill>
                <a:ea typeface="ＭＳ Ｐゴシック" pitchFamily="24" charset="-128"/>
                <a:cs typeface="Arial" charset="0"/>
              </a:rPr>
              <a:t>There is no logic specified between the loop statements</a:t>
            </a:r>
          </a:p>
          <a:p>
            <a:pPr marL="1022350" lvl="1" indent="-285750" defTabSz="457200">
              <a:buFont typeface="Arial" charset="0"/>
              <a:buChar char="–"/>
              <a:defRPr/>
            </a:pPr>
            <a:r>
              <a:rPr lang="en-US" sz="1600" dirty="0">
                <a:solidFill>
                  <a:prstClr val="black"/>
                </a:solidFill>
                <a:ea typeface="ＭＳ Ｐゴシック" pitchFamily="24" charset="-128"/>
                <a:cs typeface="Arial" charset="0"/>
              </a:rPr>
              <a:t>The outer most loop bound can be variable</a:t>
            </a:r>
          </a:p>
          <a:p>
            <a:pPr marL="679450" indent="-285750" defTabSz="457200">
              <a:buClrTx/>
              <a:buFont typeface="Arial" charset="0"/>
              <a:buChar char="–"/>
              <a:defRPr/>
            </a:pPr>
            <a:r>
              <a:rPr lang="en-US" sz="1800" dirty="0">
                <a:ea typeface="ＭＳ Ｐゴシック" pitchFamily="24" charset="-128"/>
                <a:cs typeface="Arial" charset="0"/>
              </a:rPr>
              <a:t>Other types</a:t>
            </a:r>
            <a:endParaRPr lang="en-US" b="0" dirty="0">
              <a:solidFill>
                <a:schemeClr val="tx1"/>
              </a:solidFill>
              <a:ea typeface="ＭＳ Ｐゴシック" pitchFamily="24" charset="-128"/>
              <a:cs typeface="Arial" charset="0"/>
            </a:endParaRPr>
          </a:p>
          <a:p>
            <a:pPr marL="1022350" lvl="1" indent="-285750" defTabSz="457200">
              <a:buFont typeface="Arial" charset="0"/>
              <a:buChar char="–"/>
              <a:defRPr/>
            </a:pPr>
            <a:r>
              <a:rPr lang="en-US" sz="1600" dirty="0">
                <a:solidFill>
                  <a:prstClr val="black"/>
                </a:solidFill>
                <a:ea typeface="ＭＳ Ｐゴシック" pitchFamily="24" charset="-128"/>
                <a:cs typeface="Arial" charset="0"/>
              </a:rPr>
              <a:t>Should be converted to perfect or semi-perfect loops</a:t>
            </a:r>
          </a:p>
          <a:p>
            <a:pPr marL="1022350" lvl="1" indent="-285750" defTabSz="457200">
              <a:buFont typeface="Arial" charset="0"/>
              <a:buChar char="–"/>
              <a:defRPr/>
            </a:pPr>
            <a:endParaRPr lang="en-US" sz="1600" dirty="0">
              <a:solidFill>
                <a:prstClr val="black"/>
              </a:solidFill>
              <a:ea typeface="ＭＳ Ｐゴシック" pitchFamily="24" charset="-128"/>
              <a:cs typeface="Arial" charset="0"/>
            </a:endParaRPr>
          </a:p>
          <a:p>
            <a:pPr marL="679450" indent="-285750" defTabSz="457200">
              <a:buFont typeface="Arial" charset="0"/>
              <a:buChar char="–"/>
              <a:defRPr/>
            </a:pPr>
            <a:endParaRPr lang="en-US" dirty="0"/>
          </a:p>
        </p:txBody>
      </p:sp>
      <p:sp>
        <p:nvSpPr>
          <p:cNvPr id="13" name="Slide Number Placeholder 12"/>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33</a:t>
            </a:fld>
            <a:endParaRPr lang="en-US" dirty="0"/>
          </a:p>
        </p:txBody>
      </p:sp>
      <p:sp>
        <p:nvSpPr>
          <p:cNvPr id="14" name="TextBox 13">
            <a:extLst>
              <a:ext uri="{FF2B5EF4-FFF2-40B4-BE49-F238E27FC236}">
                <a16:creationId xmlns:a16="http://schemas.microsoft.com/office/drawing/2014/main" id="{AA488D64-2578-4305-B47C-6EBC28D2508F}"/>
              </a:ext>
            </a:extLst>
          </p:cNvPr>
          <p:cNvSpPr txBox="1"/>
          <p:nvPr/>
        </p:nvSpPr>
        <p:spPr>
          <a:xfrm>
            <a:off x="7811567" y="1883150"/>
            <a:ext cx="3685920" cy="90024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Loop_outer: for (i=3;i&gt;=0;i--) {</a:t>
            </a:r>
          </a:p>
          <a:p>
            <a:pPr defTabSz="457200" fontAlgn="base">
              <a:spcBef>
                <a:spcPct val="0"/>
              </a:spcBef>
              <a:spcAft>
                <a:spcPct val="0"/>
              </a:spcAft>
              <a:defRPr/>
            </a:pPr>
            <a:r>
              <a:rPr lang="en-US" sz="1050" b="1" kern="0" dirty="0">
                <a:solidFill>
                  <a:prstClr val="black"/>
                </a:solidFill>
                <a:latin typeface="Consolas" pitchFamily="49" charset="0"/>
              </a:rPr>
              <a:t>   Loop_inner: for (j=3;j&gt;=0;j--) {</a:t>
            </a:r>
          </a:p>
          <a:p>
            <a:pPr defTabSz="457200" fontAlgn="base">
              <a:spcBef>
                <a:spcPct val="0"/>
              </a:spcBef>
              <a:spcAft>
                <a:spcPct val="0"/>
              </a:spcAft>
              <a:defRPr/>
            </a:pPr>
            <a:r>
              <a:rPr lang="en-US" sz="1050" b="1" i="1" kern="0" dirty="0">
                <a:solidFill>
                  <a:prstClr val="black"/>
                </a:solidFill>
                <a:latin typeface="Consolas" pitchFamily="49" charset="0"/>
              </a:rPr>
              <a:t>       [loop body]</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a:t>
            </a:r>
          </a:p>
        </p:txBody>
      </p:sp>
      <p:sp>
        <p:nvSpPr>
          <p:cNvPr id="15" name="TextBox 14">
            <a:extLst>
              <a:ext uri="{FF2B5EF4-FFF2-40B4-BE49-F238E27FC236}">
                <a16:creationId xmlns:a16="http://schemas.microsoft.com/office/drawing/2014/main" id="{B3C10BB2-39C7-4D72-AF2E-09C3D618A030}"/>
              </a:ext>
            </a:extLst>
          </p:cNvPr>
          <p:cNvSpPr txBox="1"/>
          <p:nvPr/>
        </p:nvSpPr>
        <p:spPr>
          <a:xfrm>
            <a:off x="7811567" y="3457755"/>
            <a:ext cx="3685920" cy="90024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kern="0" dirty="0">
                <a:solidFill>
                  <a:prstClr val="black"/>
                </a:solidFill>
                <a:latin typeface="Consolas" pitchFamily="49" charset="0"/>
              </a:rPr>
              <a:t>Loop_outer: for (i=3;</a:t>
            </a:r>
            <a:r>
              <a:rPr lang="en-US" sz="1050" b="1" kern="0" dirty="0">
                <a:solidFill>
                  <a:prstClr val="black"/>
                </a:solidFill>
                <a:latin typeface="Consolas" pitchFamily="49" charset="0"/>
              </a:rPr>
              <a:t>i&gt;N</a:t>
            </a:r>
            <a:r>
              <a:rPr lang="en-US" sz="1050" kern="0" dirty="0">
                <a:solidFill>
                  <a:prstClr val="black"/>
                </a:solidFill>
                <a:latin typeface="Consolas" pitchFamily="49" charset="0"/>
              </a:rPr>
              <a:t>;i--) {</a:t>
            </a:r>
          </a:p>
          <a:p>
            <a:pPr defTabSz="457200" fontAlgn="base">
              <a:spcBef>
                <a:spcPct val="0"/>
              </a:spcBef>
              <a:spcAft>
                <a:spcPct val="0"/>
              </a:spcAft>
              <a:defRPr/>
            </a:pPr>
            <a:r>
              <a:rPr lang="en-US" sz="1050" kern="0" dirty="0">
                <a:solidFill>
                  <a:prstClr val="black"/>
                </a:solidFill>
                <a:latin typeface="Consolas" pitchFamily="49" charset="0"/>
              </a:rPr>
              <a:t>   Loop_inner: for (j=3;</a:t>
            </a:r>
            <a:r>
              <a:rPr lang="en-US" sz="1050" b="1" kern="0" dirty="0">
                <a:solidFill>
                  <a:prstClr val="black"/>
                </a:solidFill>
                <a:latin typeface="Consolas" pitchFamily="49" charset="0"/>
              </a:rPr>
              <a:t>j&gt;=0</a:t>
            </a:r>
            <a:r>
              <a:rPr lang="en-US" sz="1050" kern="0" dirty="0">
                <a:solidFill>
                  <a:prstClr val="black"/>
                </a:solidFill>
                <a:latin typeface="Consolas" pitchFamily="49" charset="0"/>
              </a:rPr>
              <a:t>;j--) {</a:t>
            </a:r>
          </a:p>
          <a:p>
            <a:pPr defTabSz="457200" fontAlgn="base">
              <a:spcBef>
                <a:spcPct val="0"/>
              </a:spcBef>
              <a:spcAft>
                <a:spcPct val="0"/>
              </a:spcAft>
              <a:defRPr/>
            </a:pPr>
            <a:r>
              <a:rPr lang="en-US" sz="1050" i="1" kern="0" dirty="0">
                <a:solidFill>
                  <a:prstClr val="black"/>
                </a:solidFill>
                <a:latin typeface="Consolas" pitchFamily="49" charset="0"/>
              </a:rPr>
              <a:t>       [loop body]</a:t>
            </a:r>
          </a:p>
          <a:p>
            <a:pPr defTabSz="457200" fontAlgn="base">
              <a:spcBef>
                <a:spcPct val="0"/>
              </a:spcBef>
              <a:spcAft>
                <a:spcPct val="0"/>
              </a:spcAft>
              <a:defRPr/>
            </a:pPr>
            <a:r>
              <a:rPr lang="en-US" sz="1050" kern="0" dirty="0">
                <a:solidFill>
                  <a:prstClr val="black"/>
                </a:solidFill>
                <a:latin typeface="Consolas" pitchFamily="49" charset="0"/>
              </a:rPr>
              <a:t>   }	</a:t>
            </a:r>
          </a:p>
          <a:p>
            <a:pPr defTabSz="457200" fontAlgn="base">
              <a:spcBef>
                <a:spcPct val="0"/>
              </a:spcBef>
              <a:spcAft>
                <a:spcPct val="0"/>
              </a:spcAft>
              <a:defRPr/>
            </a:pPr>
            <a:r>
              <a:rPr lang="en-US" sz="1050" kern="0" dirty="0">
                <a:solidFill>
                  <a:prstClr val="black"/>
                </a:solidFill>
                <a:latin typeface="Consolas" pitchFamily="49" charset="0"/>
              </a:rPr>
              <a:t>}</a:t>
            </a:r>
          </a:p>
        </p:txBody>
      </p:sp>
      <p:sp>
        <p:nvSpPr>
          <p:cNvPr id="16" name="TextBox 15">
            <a:extLst>
              <a:ext uri="{FF2B5EF4-FFF2-40B4-BE49-F238E27FC236}">
                <a16:creationId xmlns:a16="http://schemas.microsoft.com/office/drawing/2014/main" id="{B733A70D-3ECD-49D6-8CB6-469756D5B340}"/>
              </a:ext>
            </a:extLst>
          </p:cNvPr>
          <p:cNvSpPr txBox="1"/>
          <p:nvPr/>
        </p:nvSpPr>
        <p:spPr>
          <a:xfrm>
            <a:off x="7811567" y="4725488"/>
            <a:ext cx="3685920" cy="10618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kern="0" dirty="0">
                <a:solidFill>
                  <a:prstClr val="black"/>
                </a:solidFill>
                <a:latin typeface="Consolas" pitchFamily="49" charset="0"/>
              </a:rPr>
              <a:t>Loop_outer: for (i=3;i&gt;N;i--) {</a:t>
            </a:r>
          </a:p>
          <a:p>
            <a:pPr defTabSz="457200" fontAlgn="base">
              <a:spcBef>
                <a:spcPct val="0"/>
              </a:spcBef>
              <a:spcAft>
                <a:spcPct val="0"/>
              </a:spcAft>
              <a:defRPr/>
            </a:pPr>
            <a:r>
              <a:rPr lang="en-US" sz="1050" b="1" i="1" kern="0" dirty="0">
                <a:solidFill>
                  <a:prstClr val="black"/>
                </a:solidFill>
                <a:latin typeface="Consolas" pitchFamily="49" charset="0"/>
              </a:rPr>
              <a:t>   [loop body]</a:t>
            </a:r>
          </a:p>
          <a:p>
            <a:pPr defTabSz="457200" fontAlgn="base">
              <a:spcBef>
                <a:spcPct val="0"/>
              </a:spcBef>
              <a:spcAft>
                <a:spcPct val="0"/>
              </a:spcAft>
              <a:defRPr/>
            </a:pPr>
            <a:r>
              <a:rPr lang="en-US" sz="1050" kern="0" dirty="0">
                <a:solidFill>
                  <a:prstClr val="black"/>
                </a:solidFill>
                <a:latin typeface="Consolas" pitchFamily="49" charset="0"/>
              </a:rPr>
              <a:t>   Loop_inner: for (j=3;</a:t>
            </a:r>
            <a:r>
              <a:rPr lang="en-US" sz="1050" b="1" kern="0" dirty="0">
                <a:solidFill>
                  <a:prstClr val="black"/>
                </a:solidFill>
                <a:latin typeface="Consolas" pitchFamily="49" charset="0"/>
              </a:rPr>
              <a:t>j&gt;=M</a:t>
            </a:r>
            <a:r>
              <a:rPr lang="en-US" sz="1050" kern="0" dirty="0">
                <a:solidFill>
                  <a:prstClr val="black"/>
                </a:solidFill>
                <a:latin typeface="Consolas" pitchFamily="49" charset="0"/>
              </a:rPr>
              <a:t>;j--) {</a:t>
            </a:r>
          </a:p>
          <a:p>
            <a:pPr defTabSz="457200" fontAlgn="base">
              <a:spcBef>
                <a:spcPct val="0"/>
              </a:spcBef>
              <a:spcAft>
                <a:spcPct val="0"/>
              </a:spcAft>
              <a:defRPr/>
            </a:pPr>
            <a:r>
              <a:rPr lang="en-US" sz="1050" i="1" kern="0" dirty="0">
                <a:solidFill>
                  <a:prstClr val="black"/>
                </a:solidFill>
                <a:latin typeface="Consolas" pitchFamily="49" charset="0"/>
              </a:rPr>
              <a:t>       [loop body]</a:t>
            </a:r>
          </a:p>
          <a:p>
            <a:pPr defTabSz="457200" fontAlgn="base">
              <a:spcBef>
                <a:spcPct val="0"/>
              </a:spcBef>
              <a:spcAft>
                <a:spcPct val="0"/>
              </a:spcAft>
              <a:defRPr/>
            </a:pPr>
            <a:r>
              <a:rPr lang="en-US" sz="1050" kern="0" dirty="0">
                <a:solidFill>
                  <a:prstClr val="black"/>
                </a:solidFill>
                <a:latin typeface="Consolas" pitchFamily="49" charset="0"/>
              </a:rPr>
              <a:t>   }	</a:t>
            </a:r>
          </a:p>
          <a:p>
            <a:pPr defTabSz="457200" fontAlgn="base">
              <a:spcBef>
                <a:spcPct val="0"/>
              </a:spcBef>
              <a:spcAft>
                <a:spcPct val="0"/>
              </a:spcAft>
              <a:defRPr/>
            </a:pPr>
            <a:r>
              <a:rPr lang="en-US" sz="1050" kern="0" dirty="0">
                <a:solidFill>
                  <a:prstClr val="black"/>
                </a:solidFill>
                <a:latin typeface="Consolas" pitchFamily="49" charset="0"/>
              </a:rPr>
              <a:t>}</a:t>
            </a:r>
          </a:p>
        </p:txBody>
      </p:sp>
      <p:sp>
        <p:nvSpPr>
          <p:cNvPr id="17" name="&quot;No&quot; Symbol 10">
            <a:extLst>
              <a:ext uri="{FF2B5EF4-FFF2-40B4-BE49-F238E27FC236}">
                <a16:creationId xmlns:a16="http://schemas.microsoft.com/office/drawing/2014/main" id="{97975F9F-805C-4A45-BBBE-863701A745FE}"/>
              </a:ext>
            </a:extLst>
          </p:cNvPr>
          <p:cNvSpPr/>
          <p:nvPr/>
        </p:nvSpPr>
        <p:spPr>
          <a:xfrm>
            <a:off x="9042177" y="4922797"/>
            <a:ext cx="204773" cy="153620"/>
          </a:xfrm>
          <a:prstGeom prst="noSmoking">
            <a:avLst/>
          </a:prstGeom>
          <a:gradFill rotWithShape="1">
            <a:gsLst>
              <a:gs pos="0">
                <a:srgbClr val="B20838">
                  <a:shade val="51000"/>
                  <a:satMod val="130000"/>
                </a:srgbClr>
              </a:gs>
              <a:gs pos="80000">
                <a:srgbClr val="B20838">
                  <a:shade val="93000"/>
                  <a:satMod val="130000"/>
                </a:srgbClr>
              </a:gs>
              <a:gs pos="100000">
                <a:srgbClr val="B20838">
                  <a:shade val="94000"/>
                  <a:satMod val="135000"/>
                </a:srgbClr>
              </a:gs>
            </a:gsLst>
            <a:lin ang="16200000" scaled="0"/>
          </a:gradFill>
          <a:ln w="9525" cap="flat" cmpd="sng" algn="ctr">
            <a:solidFill>
              <a:srgbClr val="B2083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
        <p:nvSpPr>
          <p:cNvPr id="18" name="&quot;No&quot; Symbol 11">
            <a:extLst>
              <a:ext uri="{FF2B5EF4-FFF2-40B4-BE49-F238E27FC236}">
                <a16:creationId xmlns:a16="http://schemas.microsoft.com/office/drawing/2014/main" id="{2C513718-9096-4D1D-868D-D99AA5BBF156}"/>
              </a:ext>
            </a:extLst>
          </p:cNvPr>
          <p:cNvSpPr/>
          <p:nvPr/>
        </p:nvSpPr>
        <p:spPr>
          <a:xfrm>
            <a:off x="9634636" y="5255437"/>
            <a:ext cx="204773" cy="153620"/>
          </a:xfrm>
          <a:prstGeom prst="noSmoking">
            <a:avLst/>
          </a:prstGeom>
          <a:gradFill rotWithShape="1">
            <a:gsLst>
              <a:gs pos="0">
                <a:srgbClr val="B20838">
                  <a:shade val="51000"/>
                  <a:satMod val="130000"/>
                </a:srgbClr>
              </a:gs>
              <a:gs pos="80000">
                <a:srgbClr val="B20838">
                  <a:shade val="93000"/>
                  <a:satMod val="130000"/>
                </a:srgbClr>
              </a:gs>
              <a:gs pos="100000">
                <a:srgbClr val="B20838">
                  <a:shade val="94000"/>
                  <a:satMod val="135000"/>
                </a:srgbClr>
              </a:gs>
            </a:gsLst>
            <a:lin ang="16200000" scaled="0"/>
          </a:gradFill>
          <a:ln w="9525" cap="flat" cmpd="sng" algn="ctr">
            <a:solidFill>
              <a:srgbClr val="B2083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Merging</a:t>
            </a:r>
          </a:p>
        </p:txBody>
      </p:sp>
      <p:sp>
        <p:nvSpPr>
          <p:cNvPr id="3" name="Content Placeholder 2"/>
          <p:cNvSpPr>
            <a:spLocks noGrp="1"/>
          </p:cNvSpPr>
          <p:nvPr>
            <p:ph idx="1"/>
          </p:nvPr>
        </p:nvSpPr>
        <p:spPr/>
        <p:txBody>
          <a:bodyPr>
            <a:normAutofit/>
          </a:bodyPr>
          <a:lstStyle/>
          <a:p>
            <a:r>
              <a:rPr lang="en-US" dirty="0"/>
              <a:t>Vitis HLS can automatically merge loops</a:t>
            </a:r>
          </a:p>
          <a:p>
            <a:pPr lvl="1"/>
            <a:r>
              <a:rPr lang="en-US" dirty="0"/>
              <a:t>A faster approach than manually changing the code</a:t>
            </a:r>
          </a:p>
          <a:p>
            <a:pPr lvl="1"/>
            <a:r>
              <a:rPr lang="en-US" dirty="0"/>
              <a:t>Allows for more efficient architecture explorations</a:t>
            </a:r>
          </a:p>
          <a:p>
            <a:pPr lvl="1"/>
            <a:r>
              <a:rPr lang="en-US" u="sng" dirty="0"/>
              <a:t>FIFO reads, which must occur in strict order, can prevent loop merging</a:t>
            </a:r>
          </a:p>
          <a:p>
            <a:pPr lvl="2"/>
            <a:r>
              <a:rPr lang="en-US" dirty="0"/>
              <a:t>Can be done with the “force” option : user takes responsibility for correctness</a:t>
            </a:r>
          </a:p>
        </p:txBody>
      </p:sp>
      <p:sp>
        <p:nvSpPr>
          <p:cNvPr id="51" name="Slide Number Placeholder 50"/>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34</a:t>
            </a:fld>
            <a:endParaRPr lang="en-US" dirty="0"/>
          </a:p>
        </p:txBody>
      </p:sp>
      <p:sp>
        <p:nvSpPr>
          <p:cNvPr id="55" name="TextBox 54">
            <a:extLst>
              <a:ext uri="{FF2B5EF4-FFF2-40B4-BE49-F238E27FC236}">
                <a16:creationId xmlns:a16="http://schemas.microsoft.com/office/drawing/2014/main" id="{3465C758-CC27-4446-86BC-40EDB4D27667}"/>
              </a:ext>
            </a:extLst>
          </p:cNvPr>
          <p:cNvSpPr txBox="1"/>
          <p:nvPr/>
        </p:nvSpPr>
        <p:spPr>
          <a:xfrm>
            <a:off x="2382939" y="3466555"/>
            <a:ext cx="3583533" cy="283923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L1: for (i=3;i&gt;=0;i--) {</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L2: for (i=3;i&gt;=0;i--) {</a:t>
            </a:r>
          </a:p>
          <a:p>
            <a:pPr defTabSz="457200" fontAlgn="base">
              <a:spcBef>
                <a:spcPct val="0"/>
              </a:spcBef>
              <a:spcAft>
                <a:spcPct val="0"/>
              </a:spcAft>
              <a:defRPr/>
            </a:pPr>
            <a:r>
              <a:rPr lang="en-US" sz="1050" b="1" kern="0" dirty="0">
                <a:solidFill>
                  <a:prstClr val="black"/>
                </a:solidFill>
                <a:latin typeface="Consolas" pitchFamily="49" charset="0"/>
              </a:rPr>
              <a:t>      L3: for (j=3;j&gt;=0;j--) {</a:t>
            </a:r>
          </a:p>
          <a:p>
            <a:pPr defTabSz="457200" fontAlgn="base">
              <a:spcBef>
                <a:spcPct val="0"/>
              </a:spcBef>
              <a:spcAft>
                <a:spcPct val="0"/>
              </a:spcAft>
              <a:defRPr/>
            </a:pPr>
            <a:r>
              <a:rPr lang="en-US" sz="1050" i="1" kern="0" dirty="0">
                <a:solidFill>
                  <a:prstClr val="black"/>
                </a:solidFill>
                <a:latin typeface="Consolas" pitchFamily="49" charset="0"/>
              </a:rPr>
              <a:t> 	[loop body l3 ]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L4: for (i=3;i&gt;=0;i--) {</a:t>
            </a:r>
          </a:p>
          <a:p>
            <a:pPr defTabSz="457200" fontAlgn="base">
              <a:spcBef>
                <a:spcPct val="0"/>
              </a:spcBef>
              <a:spcAft>
                <a:spcPct val="0"/>
              </a:spcAft>
              <a:defRPr/>
            </a:pPr>
            <a:r>
              <a:rPr lang="en-US" sz="1050" i="1" kern="0" dirty="0">
                <a:solidFill>
                  <a:prstClr val="black"/>
                </a:solidFill>
                <a:latin typeface="Consolas" pitchFamily="49" charset="0"/>
              </a:rPr>
              <a:t> 	[loop body l4 ]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p:txBody>
      </p:sp>
      <p:sp>
        <p:nvSpPr>
          <p:cNvPr id="56" name="Left Brace 55">
            <a:extLst>
              <a:ext uri="{FF2B5EF4-FFF2-40B4-BE49-F238E27FC236}">
                <a16:creationId xmlns:a16="http://schemas.microsoft.com/office/drawing/2014/main" id="{1866551B-1946-45D0-8642-6C1D61325E43}"/>
              </a:ext>
            </a:extLst>
          </p:cNvPr>
          <p:cNvSpPr/>
          <p:nvPr/>
        </p:nvSpPr>
        <p:spPr>
          <a:xfrm flipH="1">
            <a:off x="5352398" y="4583031"/>
            <a:ext cx="255967" cy="806505"/>
          </a:xfrm>
          <a:prstGeom prst="leftBrace">
            <a:avLst/>
          </a:prstGeom>
          <a:noFill/>
          <a:ln w="25400" cap="flat" cmpd="sng" algn="ctr">
            <a:solidFill>
              <a:srgbClr val="FFFFFF">
                <a:lumMod val="75000"/>
              </a:srgbClr>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grpSp>
        <p:nvGrpSpPr>
          <p:cNvPr id="58" name="Group 55">
            <a:extLst>
              <a:ext uri="{FF2B5EF4-FFF2-40B4-BE49-F238E27FC236}">
                <a16:creationId xmlns:a16="http://schemas.microsoft.com/office/drawing/2014/main" id="{7E281FE9-446C-445B-8DE0-2F5ADA78536A}"/>
              </a:ext>
            </a:extLst>
          </p:cNvPr>
          <p:cNvGrpSpPr/>
          <p:nvPr/>
        </p:nvGrpSpPr>
        <p:grpSpPr>
          <a:xfrm>
            <a:off x="5556925" y="3773425"/>
            <a:ext cx="6426310" cy="2570404"/>
            <a:chOff x="4167588" y="3777376"/>
            <a:chExt cx="4820988" cy="2570404"/>
          </a:xfrm>
        </p:grpSpPr>
        <p:sp>
          <p:nvSpPr>
            <p:cNvPr id="59" name="Oval 58">
              <a:extLst>
                <a:ext uri="{FF2B5EF4-FFF2-40B4-BE49-F238E27FC236}">
                  <a16:creationId xmlns:a16="http://schemas.microsoft.com/office/drawing/2014/main" id="{D3A9CBBB-48AE-4FC1-9C0F-119316DB30EE}"/>
                </a:ext>
              </a:extLst>
            </p:cNvPr>
            <p:cNvSpPr/>
            <p:nvPr/>
          </p:nvSpPr>
          <p:spPr>
            <a:xfrm>
              <a:off x="7969683" y="4695250"/>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cxnSp>
          <p:nvCxnSpPr>
            <p:cNvPr id="60" name="Straight Arrow Connector 59">
              <a:extLst>
                <a:ext uri="{FF2B5EF4-FFF2-40B4-BE49-F238E27FC236}">
                  <a16:creationId xmlns:a16="http://schemas.microsoft.com/office/drawing/2014/main" id="{6B1DD737-713D-4A41-9263-688A6F1BD84B}"/>
                </a:ext>
              </a:extLst>
            </p:cNvPr>
            <p:cNvCxnSpPr>
              <a:endCxn id="59" idx="0"/>
            </p:cNvCxnSpPr>
            <p:nvPr/>
          </p:nvCxnSpPr>
          <p:spPr>
            <a:xfrm rot="5400000">
              <a:off x="7931584" y="4504751"/>
              <a:ext cx="380998" cy="1588"/>
            </a:xfrm>
            <a:prstGeom prst="straightConnector1">
              <a:avLst/>
            </a:prstGeom>
            <a:noFill/>
            <a:ln w="25400" cap="flat" cmpd="sng" algn="ctr">
              <a:solidFill>
                <a:srgbClr val="008CA8"/>
              </a:solidFill>
              <a:prstDash val="dash"/>
              <a:headEnd type="none" w="med" len="med"/>
              <a:tailEnd type="triangle" w="med" len="med"/>
            </a:ln>
            <a:effectLst>
              <a:outerShdw blurRad="40000" dist="20000" dir="5400000" rotWithShape="0">
                <a:srgbClr val="000000">
                  <a:alpha val="38000"/>
                </a:srgbClr>
              </a:outerShdw>
            </a:effectLst>
          </p:spPr>
        </p:cxnSp>
        <p:cxnSp>
          <p:nvCxnSpPr>
            <p:cNvPr id="61" name="Curved Connector 20">
              <a:extLst>
                <a:ext uri="{FF2B5EF4-FFF2-40B4-BE49-F238E27FC236}">
                  <a16:creationId xmlns:a16="http://schemas.microsoft.com/office/drawing/2014/main" id="{2537FF97-F3E4-40EF-AEDF-1C1C29898C80}"/>
                </a:ext>
              </a:extLst>
            </p:cNvPr>
            <p:cNvCxnSpPr>
              <a:stCxn id="59" idx="4"/>
              <a:endCxn id="59" idx="6"/>
            </p:cNvCxnSpPr>
            <p:nvPr/>
          </p:nvCxnSpPr>
          <p:spPr>
            <a:xfrm rot="5400000" flipH="1" flipV="1">
              <a:off x="8122083" y="4847650"/>
              <a:ext cx="152400" cy="152400"/>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2" name="Straight Arrow Connector 61">
              <a:extLst>
                <a:ext uri="{FF2B5EF4-FFF2-40B4-BE49-F238E27FC236}">
                  <a16:creationId xmlns:a16="http://schemas.microsoft.com/office/drawing/2014/main" id="{25F6E7A2-D99E-45A9-8E98-E47584775DA2}"/>
                </a:ext>
              </a:extLst>
            </p:cNvPr>
            <p:cNvCxnSpPr>
              <a:stCxn id="59" idx="4"/>
            </p:cNvCxnSpPr>
            <p:nvPr/>
          </p:nvCxnSpPr>
          <p:spPr>
            <a:xfrm rot="16200000" flipH="1">
              <a:off x="7948651" y="5173482"/>
              <a:ext cx="348087" cy="1222"/>
            </a:xfrm>
            <a:prstGeom prst="straightConnector1">
              <a:avLst/>
            </a:prstGeom>
            <a:noFill/>
            <a:ln w="25400" cap="flat" cmpd="sng" algn="ctr">
              <a:solidFill>
                <a:srgbClr val="008CA8"/>
              </a:solidFill>
              <a:prstDash val="dash"/>
              <a:headEnd type="none" w="med" len="med"/>
              <a:tailEnd type="triangle" w="med" len="med"/>
            </a:ln>
            <a:effectLst>
              <a:outerShdw blurRad="40000" dist="20000" dir="5400000" rotWithShape="0">
                <a:srgbClr val="000000">
                  <a:alpha val="38000"/>
                </a:srgbClr>
              </a:outerShdw>
            </a:effectLst>
          </p:spPr>
        </p:cxnSp>
        <p:sp>
          <p:nvSpPr>
            <p:cNvPr id="63" name="TextBox 62">
              <a:extLst>
                <a:ext uri="{FF2B5EF4-FFF2-40B4-BE49-F238E27FC236}">
                  <a16:creationId xmlns:a16="http://schemas.microsoft.com/office/drawing/2014/main" id="{986056FC-82E9-4A51-8CFC-A99D03BEC20A}"/>
                </a:ext>
              </a:extLst>
            </p:cNvPr>
            <p:cNvSpPr txBox="1"/>
            <p:nvPr/>
          </p:nvSpPr>
          <p:spPr>
            <a:xfrm>
              <a:off x="8468948" y="4961645"/>
              <a:ext cx="315313" cy="261610"/>
            </a:xfrm>
            <a:prstGeom prst="rect">
              <a:avLst/>
            </a:prstGeom>
            <a:noFill/>
          </p:spPr>
          <p:txBody>
            <a:bodyPr wrap="none" rtlCol="0">
              <a:spAutoFit/>
            </a:bodyPr>
            <a:lstStyle/>
            <a:p>
              <a:pPr defTabSz="457200" fontAlgn="base">
                <a:spcBef>
                  <a:spcPct val="0"/>
                </a:spcBef>
                <a:spcAft>
                  <a:spcPct val="0"/>
                </a:spcAft>
                <a:defRPr/>
              </a:pPr>
              <a:r>
                <a:rPr lang="en-US" sz="1100" b="1" kern="0" dirty="0">
                  <a:solidFill>
                    <a:prstClr val="black"/>
                  </a:solidFill>
                  <a:ea typeface="ＭＳ Ｐゴシック" pitchFamily="34" charset="-128"/>
                  <a:cs typeface="Arial" charset="0"/>
                </a:rPr>
                <a:t>x16</a:t>
              </a:r>
            </a:p>
          </p:txBody>
        </p:sp>
        <p:sp>
          <p:nvSpPr>
            <p:cNvPr id="64" name="TextBox 63">
              <a:extLst>
                <a:ext uri="{FF2B5EF4-FFF2-40B4-BE49-F238E27FC236}">
                  <a16:creationId xmlns:a16="http://schemas.microsoft.com/office/drawing/2014/main" id="{54EB6E99-95F3-4F75-A875-55A9C5E7BD2C}"/>
                </a:ext>
              </a:extLst>
            </p:cNvPr>
            <p:cNvSpPr txBox="1"/>
            <p:nvPr/>
          </p:nvSpPr>
          <p:spPr>
            <a:xfrm>
              <a:off x="5050903" y="3904693"/>
              <a:ext cx="2381110" cy="186974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L123: for (l=16,l&gt;=0;l--) {</a:t>
              </a:r>
            </a:p>
            <a:p>
              <a:pPr defTabSz="457200" fontAlgn="base">
                <a:spcBef>
                  <a:spcPct val="0"/>
                </a:spcBef>
                <a:spcAft>
                  <a:spcPct val="0"/>
                </a:spcAft>
                <a:defRPr/>
              </a:pPr>
              <a:r>
                <a:rPr lang="en-US" sz="1050" b="1" kern="0" dirty="0">
                  <a:solidFill>
                    <a:prstClr val="black"/>
                  </a:solidFill>
                  <a:latin typeface="Consolas" pitchFamily="49" charset="0"/>
                </a:rPr>
                <a:t> 	if (cond1)</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i="1" kern="0" dirty="0">
                  <a:solidFill>
                    <a:prstClr val="black"/>
                  </a:solidFill>
                  <a:latin typeface="Consolas" pitchFamily="49" charset="0"/>
                </a:rPr>
                <a:t> 	</a:t>
              </a:r>
            </a:p>
            <a:p>
              <a:pPr defTabSz="457200" fontAlgn="base">
                <a:spcBef>
                  <a:spcPct val="0"/>
                </a:spcBef>
                <a:spcAft>
                  <a:spcPct val="0"/>
                </a:spcAft>
                <a:defRPr/>
              </a:pPr>
              <a:r>
                <a:rPr lang="en-US" sz="1050" i="1" kern="0" dirty="0">
                  <a:solidFill>
                    <a:prstClr val="black"/>
                  </a:solidFill>
                  <a:latin typeface="Consolas" pitchFamily="49" charset="0"/>
                </a:rPr>
                <a:t>	[loop body l3 ]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if (cond4)</a:t>
              </a:r>
            </a:p>
            <a:p>
              <a:pPr defTabSz="457200" fontAlgn="base">
                <a:spcBef>
                  <a:spcPct val="0"/>
                </a:spcBef>
                <a:spcAft>
                  <a:spcPct val="0"/>
                </a:spcAft>
                <a:defRPr/>
              </a:pPr>
              <a:r>
                <a:rPr lang="en-US" sz="1050" i="1" kern="0" dirty="0">
                  <a:solidFill>
                    <a:prstClr val="black"/>
                  </a:solidFill>
                  <a:latin typeface="Consolas" pitchFamily="49" charset="0"/>
                </a:rPr>
                <a:t>		[loop body l4 ]</a:t>
              </a:r>
            </a:p>
            <a:p>
              <a:pPr defTabSz="457200" fontAlgn="base">
                <a:spcBef>
                  <a:spcPct val="0"/>
                </a:spcBef>
                <a:spcAft>
                  <a:spcPct val="0"/>
                </a:spcAft>
                <a:defRPr/>
              </a:pPr>
              <a:r>
                <a:rPr lang="en-US" sz="1050" b="1" kern="0" dirty="0">
                  <a:solidFill>
                    <a:prstClr val="black"/>
                  </a:solidFill>
                  <a:latin typeface="Consolas" pitchFamily="49" charset="0"/>
                </a:rPr>
                <a:t>  }	</a:t>
              </a:r>
            </a:p>
          </p:txBody>
        </p:sp>
        <p:sp>
          <p:nvSpPr>
            <p:cNvPr id="65" name="Oval 64">
              <a:extLst>
                <a:ext uri="{FF2B5EF4-FFF2-40B4-BE49-F238E27FC236}">
                  <a16:creationId xmlns:a16="http://schemas.microsoft.com/office/drawing/2014/main" id="{2508C372-B4A4-410C-93B9-A3590FE14A22}"/>
                </a:ext>
              </a:extLst>
            </p:cNvPr>
            <p:cNvSpPr/>
            <p:nvPr/>
          </p:nvSpPr>
          <p:spPr>
            <a:xfrm>
              <a:off x="7969683" y="4695250"/>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cxnSp>
          <p:nvCxnSpPr>
            <p:cNvPr id="66" name="Straight Arrow Connector 65">
              <a:extLst>
                <a:ext uri="{FF2B5EF4-FFF2-40B4-BE49-F238E27FC236}">
                  <a16:creationId xmlns:a16="http://schemas.microsoft.com/office/drawing/2014/main" id="{497195AE-59C5-4271-A1E6-EE5383AF7AF4}"/>
                </a:ext>
              </a:extLst>
            </p:cNvPr>
            <p:cNvCxnSpPr>
              <a:endCxn id="65" idx="0"/>
            </p:cNvCxnSpPr>
            <p:nvPr/>
          </p:nvCxnSpPr>
          <p:spPr>
            <a:xfrm rot="5400000">
              <a:off x="7931584" y="4504751"/>
              <a:ext cx="380998" cy="158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7" name="Curved Connector 20">
              <a:extLst>
                <a:ext uri="{FF2B5EF4-FFF2-40B4-BE49-F238E27FC236}">
                  <a16:creationId xmlns:a16="http://schemas.microsoft.com/office/drawing/2014/main" id="{174C76E4-2B01-45B1-9FC3-D609898E3FE0}"/>
                </a:ext>
              </a:extLst>
            </p:cNvPr>
            <p:cNvCxnSpPr>
              <a:stCxn id="65" idx="4"/>
              <a:endCxn id="65" idx="6"/>
            </p:cNvCxnSpPr>
            <p:nvPr/>
          </p:nvCxnSpPr>
          <p:spPr>
            <a:xfrm rot="5400000" flipH="1" flipV="1">
              <a:off x="8122083" y="4847650"/>
              <a:ext cx="152400" cy="152400"/>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8" name="Straight Arrow Connector 67">
              <a:extLst>
                <a:ext uri="{FF2B5EF4-FFF2-40B4-BE49-F238E27FC236}">
                  <a16:creationId xmlns:a16="http://schemas.microsoft.com/office/drawing/2014/main" id="{DCFB343B-86C2-408D-9912-01637AE9F637}"/>
                </a:ext>
              </a:extLst>
            </p:cNvPr>
            <p:cNvCxnSpPr>
              <a:stCxn id="65" idx="4"/>
            </p:cNvCxnSpPr>
            <p:nvPr/>
          </p:nvCxnSpPr>
          <p:spPr>
            <a:xfrm rot="16200000" flipH="1">
              <a:off x="7948651" y="5173482"/>
              <a:ext cx="348087" cy="1222"/>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69" name="Right Arrow 44">
              <a:extLst>
                <a:ext uri="{FF2B5EF4-FFF2-40B4-BE49-F238E27FC236}">
                  <a16:creationId xmlns:a16="http://schemas.microsoft.com/office/drawing/2014/main" id="{A05F2559-DEEF-4778-8DC8-E6DDB2421F91}"/>
                </a:ext>
              </a:extLst>
            </p:cNvPr>
            <p:cNvSpPr/>
            <p:nvPr/>
          </p:nvSpPr>
          <p:spPr>
            <a:xfrm>
              <a:off x="4590043" y="4622286"/>
              <a:ext cx="422455"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70" name="Left Brace 69">
              <a:extLst>
                <a:ext uri="{FF2B5EF4-FFF2-40B4-BE49-F238E27FC236}">
                  <a16:creationId xmlns:a16="http://schemas.microsoft.com/office/drawing/2014/main" id="{50FFCE67-1BBF-4156-8C46-145D6FC76141}"/>
                </a:ext>
              </a:extLst>
            </p:cNvPr>
            <p:cNvSpPr/>
            <p:nvPr/>
          </p:nvSpPr>
          <p:spPr>
            <a:xfrm>
              <a:off x="5050903" y="4315046"/>
              <a:ext cx="192025" cy="1382580"/>
            </a:xfrm>
            <a:prstGeom prst="leftBrace">
              <a:avLst>
                <a:gd name="adj1" fmla="val 8333"/>
                <a:gd name="adj2" fmla="val 39302"/>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
          <p:nvSpPr>
            <p:cNvPr id="71" name="Left Brace 70">
              <a:extLst>
                <a:ext uri="{FF2B5EF4-FFF2-40B4-BE49-F238E27FC236}">
                  <a16:creationId xmlns:a16="http://schemas.microsoft.com/office/drawing/2014/main" id="{43953CC8-8CCC-4FFC-951E-8CC7E748722D}"/>
                </a:ext>
              </a:extLst>
            </p:cNvPr>
            <p:cNvSpPr/>
            <p:nvPr/>
          </p:nvSpPr>
          <p:spPr>
            <a:xfrm flipH="1">
              <a:off x="4167588" y="3777376"/>
              <a:ext cx="193246" cy="2189085"/>
            </a:xfrm>
            <a:prstGeom prst="lef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
          <p:nvSpPr>
            <p:cNvPr id="72" name="TextBox 71">
              <a:extLst>
                <a:ext uri="{FF2B5EF4-FFF2-40B4-BE49-F238E27FC236}">
                  <a16:creationId xmlns:a16="http://schemas.microsoft.com/office/drawing/2014/main" id="{83B4FFCD-FF12-4190-A7ED-B6584754CB1F}"/>
                </a:ext>
              </a:extLst>
            </p:cNvPr>
            <p:cNvSpPr txBox="1"/>
            <p:nvPr/>
          </p:nvSpPr>
          <p:spPr>
            <a:xfrm>
              <a:off x="7836426" y="6070781"/>
              <a:ext cx="1152150" cy="276999"/>
            </a:xfrm>
            <a:prstGeom prst="rect">
              <a:avLst/>
            </a:prstGeom>
            <a:solidFill>
              <a:srgbClr val="6D7076"/>
            </a:solidFill>
            <a:ln w="25400" cap="flat" cmpd="sng" algn="ctr">
              <a:solidFill>
                <a:srgbClr val="6D7076">
                  <a:shade val="50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white"/>
                  </a:solidFill>
                  <a:latin typeface="Arial"/>
                </a:rPr>
                <a:t>18 transitions</a:t>
              </a:r>
            </a:p>
          </p:txBody>
        </p:sp>
      </p:grpSp>
      <p:sp>
        <p:nvSpPr>
          <p:cNvPr id="73" name="Oval 72">
            <a:extLst>
              <a:ext uri="{FF2B5EF4-FFF2-40B4-BE49-F238E27FC236}">
                <a16:creationId xmlns:a16="http://schemas.microsoft.com/office/drawing/2014/main" id="{74461669-B1EB-428B-AC04-5EF504C4FC3E}"/>
              </a:ext>
            </a:extLst>
          </p:cNvPr>
          <p:cNvSpPr/>
          <p:nvPr/>
        </p:nvSpPr>
        <p:spPr>
          <a:xfrm>
            <a:off x="311154" y="3577554"/>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sp>
        <p:nvSpPr>
          <p:cNvPr id="74" name="Oval 73">
            <a:extLst>
              <a:ext uri="{FF2B5EF4-FFF2-40B4-BE49-F238E27FC236}">
                <a16:creationId xmlns:a16="http://schemas.microsoft.com/office/drawing/2014/main" id="{69582583-A527-4ED3-99B3-13CDE68209C0}"/>
              </a:ext>
            </a:extLst>
          </p:cNvPr>
          <p:cNvSpPr/>
          <p:nvPr/>
        </p:nvSpPr>
        <p:spPr>
          <a:xfrm>
            <a:off x="311154" y="4230439"/>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2</a:t>
            </a:r>
          </a:p>
        </p:txBody>
      </p:sp>
      <p:cxnSp>
        <p:nvCxnSpPr>
          <p:cNvPr id="75" name="Straight Arrow Connector 74">
            <a:extLst>
              <a:ext uri="{FF2B5EF4-FFF2-40B4-BE49-F238E27FC236}">
                <a16:creationId xmlns:a16="http://schemas.microsoft.com/office/drawing/2014/main" id="{3D5015F1-A1C5-4CE4-BC51-6EBA59707C89}"/>
              </a:ext>
            </a:extLst>
          </p:cNvPr>
          <p:cNvCxnSpPr>
            <a:endCxn id="73" idx="0"/>
          </p:cNvCxnSpPr>
          <p:nvPr/>
        </p:nvCxnSpPr>
        <p:spPr>
          <a:xfrm rot="5400000">
            <a:off x="323802" y="3386976"/>
            <a:ext cx="380998"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6" name="Curved Connector 20">
            <a:extLst>
              <a:ext uri="{FF2B5EF4-FFF2-40B4-BE49-F238E27FC236}">
                <a16:creationId xmlns:a16="http://schemas.microsoft.com/office/drawing/2014/main" id="{89E2558A-57C2-4A6F-9976-775E798E835A}"/>
              </a:ext>
            </a:extLst>
          </p:cNvPr>
          <p:cNvCxnSpPr>
            <a:stCxn id="73" idx="4"/>
            <a:endCxn id="73" idx="6"/>
          </p:cNvCxnSpPr>
          <p:nvPr/>
        </p:nvCxnSpPr>
        <p:spPr>
          <a:xfrm rot="5400000" flipH="1" flipV="1">
            <a:off x="539675" y="3704585"/>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77" name="Oval 76">
            <a:extLst>
              <a:ext uri="{FF2B5EF4-FFF2-40B4-BE49-F238E27FC236}">
                <a16:creationId xmlns:a16="http://schemas.microsoft.com/office/drawing/2014/main" id="{C9283BA9-2008-41CE-B22B-C51A135288D6}"/>
              </a:ext>
            </a:extLst>
          </p:cNvPr>
          <p:cNvSpPr/>
          <p:nvPr/>
        </p:nvSpPr>
        <p:spPr>
          <a:xfrm>
            <a:off x="771894" y="4765669"/>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3</a:t>
            </a:r>
          </a:p>
        </p:txBody>
      </p:sp>
      <p:cxnSp>
        <p:nvCxnSpPr>
          <p:cNvPr id="78" name="Curved Connector 20">
            <a:extLst>
              <a:ext uri="{FF2B5EF4-FFF2-40B4-BE49-F238E27FC236}">
                <a16:creationId xmlns:a16="http://schemas.microsoft.com/office/drawing/2014/main" id="{98AB6E3F-B627-4719-B3A2-952AFFA52215}"/>
              </a:ext>
            </a:extLst>
          </p:cNvPr>
          <p:cNvCxnSpPr>
            <a:stCxn id="77" idx="7"/>
            <a:endCxn id="77" idx="5"/>
          </p:cNvCxnSpPr>
          <p:nvPr/>
        </p:nvCxnSpPr>
        <p:spPr>
          <a:xfrm rot="16200000" flipH="1">
            <a:off x="1010925" y="4917990"/>
            <a:ext cx="215526" cy="2117"/>
          </a:xfrm>
          <a:prstGeom prst="curvedConnector5">
            <a:avLst>
              <a:gd name="adj1" fmla="val -16318"/>
              <a:gd name="adj2" fmla="val 17490371"/>
              <a:gd name="adj3" fmla="val 120398"/>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9" name="Straight Arrow Connector 78">
            <a:extLst>
              <a:ext uri="{FF2B5EF4-FFF2-40B4-BE49-F238E27FC236}">
                <a16:creationId xmlns:a16="http://schemas.microsoft.com/office/drawing/2014/main" id="{AD6E2F14-EEA5-445B-8F59-1EF7C4B7B664}"/>
              </a:ext>
            </a:extLst>
          </p:cNvPr>
          <p:cNvCxnSpPr>
            <a:stCxn id="73" idx="4"/>
          </p:cNvCxnSpPr>
          <p:nvPr/>
        </p:nvCxnSpPr>
        <p:spPr>
          <a:xfrm rot="16200000" flipH="1">
            <a:off x="341320" y="4055591"/>
            <a:ext cx="348087"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0" name="Straight Arrow Connector 79">
            <a:extLst>
              <a:ext uri="{FF2B5EF4-FFF2-40B4-BE49-F238E27FC236}">
                <a16:creationId xmlns:a16="http://schemas.microsoft.com/office/drawing/2014/main" id="{F390C0B1-73AB-408D-902F-660DB180186E}"/>
              </a:ext>
            </a:extLst>
          </p:cNvPr>
          <p:cNvCxnSpPr>
            <a:stCxn id="74" idx="5"/>
            <a:endCxn id="77" idx="1"/>
          </p:cNvCxnSpPr>
          <p:nvPr/>
        </p:nvCxnSpPr>
        <p:spPr>
          <a:xfrm rot="16200000" flipH="1">
            <a:off x="584818" y="4564100"/>
            <a:ext cx="319704" cy="17344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1" name="Curved Connector 20">
            <a:extLst>
              <a:ext uri="{FF2B5EF4-FFF2-40B4-BE49-F238E27FC236}">
                <a16:creationId xmlns:a16="http://schemas.microsoft.com/office/drawing/2014/main" id="{CC6D802F-8B1D-4DF5-87DC-A1BD45956A57}"/>
              </a:ext>
            </a:extLst>
          </p:cNvPr>
          <p:cNvCxnSpPr>
            <a:stCxn id="77" idx="4"/>
            <a:endCxn id="74" idx="6"/>
          </p:cNvCxnSpPr>
          <p:nvPr/>
        </p:nvCxnSpPr>
        <p:spPr>
          <a:xfrm rot="5400000" flipH="1">
            <a:off x="502430" y="4598228"/>
            <a:ext cx="687630" cy="257593"/>
          </a:xfrm>
          <a:prstGeom prst="curvedConnector4">
            <a:avLst>
              <a:gd name="adj1" fmla="val -33245"/>
              <a:gd name="adj2" fmla="val -429249"/>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2" name="Curved Connector 20">
            <a:extLst>
              <a:ext uri="{FF2B5EF4-FFF2-40B4-BE49-F238E27FC236}">
                <a16:creationId xmlns:a16="http://schemas.microsoft.com/office/drawing/2014/main" id="{FF5777F1-C37F-485E-9914-4BE4EB18DA0E}"/>
              </a:ext>
            </a:extLst>
          </p:cNvPr>
          <p:cNvCxnSpPr>
            <a:stCxn id="83" idx="4"/>
            <a:endCxn id="83" idx="6"/>
          </p:cNvCxnSpPr>
          <p:nvPr/>
        </p:nvCxnSpPr>
        <p:spPr>
          <a:xfrm rot="5400000" flipH="1" flipV="1">
            <a:off x="539675" y="5548206"/>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3" name="Oval 82">
            <a:extLst>
              <a:ext uri="{FF2B5EF4-FFF2-40B4-BE49-F238E27FC236}">
                <a16:creationId xmlns:a16="http://schemas.microsoft.com/office/drawing/2014/main" id="{E8294F70-3528-4FE0-9184-C900383ABB9C}"/>
              </a:ext>
            </a:extLst>
          </p:cNvPr>
          <p:cNvSpPr/>
          <p:nvPr/>
        </p:nvSpPr>
        <p:spPr>
          <a:xfrm>
            <a:off x="311154" y="5420994"/>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4</a:t>
            </a:r>
          </a:p>
        </p:txBody>
      </p:sp>
      <p:cxnSp>
        <p:nvCxnSpPr>
          <p:cNvPr id="84" name="Straight Arrow Connector 83">
            <a:extLst>
              <a:ext uri="{FF2B5EF4-FFF2-40B4-BE49-F238E27FC236}">
                <a16:creationId xmlns:a16="http://schemas.microsoft.com/office/drawing/2014/main" id="{8DAEDFB8-2CE2-43F8-AB33-52F206052200}"/>
              </a:ext>
            </a:extLst>
          </p:cNvPr>
          <p:cNvCxnSpPr>
            <a:stCxn id="74" idx="4"/>
            <a:endCxn id="83" idx="0"/>
          </p:cNvCxnSpPr>
          <p:nvPr/>
        </p:nvCxnSpPr>
        <p:spPr>
          <a:xfrm rot="5400000">
            <a:off x="71671" y="4978037"/>
            <a:ext cx="885755"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5" name="Straight Arrow Connector 84">
            <a:extLst>
              <a:ext uri="{FF2B5EF4-FFF2-40B4-BE49-F238E27FC236}">
                <a16:creationId xmlns:a16="http://schemas.microsoft.com/office/drawing/2014/main" id="{FA3DB28B-AB99-4BA6-9E91-ACB475B521B0}"/>
              </a:ext>
            </a:extLst>
          </p:cNvPr>
          <p:cNvCxnSpPr>
            <a:stCxn id="83" idx="4"/>
          </p:cNvCxnSpPr>
          <p:nvPr/>
        </p:nvCxnSpPr>
        <p:spPr>
          <a:xfrm rot="16200000" flipH="1">
            <a:off x="323091" y="5917190"/>
            <a:ext cx="384050"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6" name="TextBox 85">
            <a:extLst>
              <a:ext uri="{FF2B5EF4-FFF2-40B4-BE49-F238E27FC236}">
                <a16:creationId xmlns:a16="http://schemas.microsoft.com/office/drawing/2014/main" id="{AB302C29-AE7A-465D-93BD-5969A82C2327}"/>
              </a:ext>
            </a:extLst>
          </p:cNvPr>
          <p:cNvSpPr txBox="1"/>
          <p:nvPr/>
        </p:nvSpPr>
        <p:spPr>
          <a:xfrm>
            <a:off x="976668" y="3920759"/>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87" name="TextBox 86">
            <a:extLst>
              <a:ext uri="{FF2B5EF4-FFF2-40B4-BE49-F238E27FC236}">
                <a16:creationId xmlns:a16="http://schemas.microsoft.com/office/drawing/2014/main" id="{6DC86D8B-D8B3-4578-90C0-D3E4D8A1ECE2}"/>
              </a:ext>
            </a:extLst>
          </p:cNvPr>
          <p:cNvSpPr txBox="1"/>
          <p:nvPr/>
        </p:nvSpPr>
        <p:spPr>
          <a:xfrm>
            <a:off x="1335021" y="426640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88" name="TextBox 87">
            <a:extLst>
              <a:ext uri="{FF2B5EF4-FFF2-40B4-BE49-F238E27FC236}">
                <a16:creationId xmlns:a16="http://schemas.microsoft.com/office/drawing/2014/main" id="{09C6F8EA-7C16-4688-924A-E11296823AFC}"/>
              </a:ext>
            </a:extLst>
          </p:cNvPr>
          <p:cNvSpPr txBox="1"/>
          <p:nvPr/>
        </p:nvSpPr>
        <p:spPr>
          <a:xfrm>
            <a:off x="1410265" y="480407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89" name="TextBox 88">
            <a:extLst>
              <a:ext uri="{FF2B5EF4-FFF2-40B4-BE49-F238E27FC236}">
                <a16:creationId xmlns:a16="http://schemas.microsoft.com/office/drawing/2014/main" id="{571C2AC5-BD66-4B94-BAB5-ABDBDA2D3437}"/>
              </a:ext>
            </a:extLst>
          </p:cNvPr>
          <p:cNvSpPr txBox="1"/>
          <p:nvPr/>
        </p:nvSpPr>
        <p:spPr>
          <a:xfrm>
            <a:off x="976668" y="564898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90" name="TextBox 89">
            <a:extLst>
              <a:ext uri="{FF2B5EF4-FFF2-40B4-BE49-F238E27FC236}">
                <a16:creationId xmlns:a16="http://schemas.microsoft.com/office/drawing/2014/main" id="{AB5853A3-C90B-4530-B1A5-D95C740B3DBF}"/>
              </a:ext>
            </a:extLst>
          </p:cNvPr>
          <p:cNvSpPr txBox="1"/>
          <p:nvPr/>
        </p:nvSpPr>
        <p:spPr>
          <a:xfrm>
            <a:off x="413787" y="6193310"/>
            <a:ext cx="1484607" cy="276999"/>
          </a:xfrm>
          <a:prstGeom prst="rect">
            <a:avLst/>
          </a:prstGeom>
          <a:solidFill>
            <a:srgbClr val="6D7076"/>
          </a:solidFill>
          <a:ln w="25400" cap="flat" cmpd="sng" algn="ctr">
            <a:solidFill>
              <a:srgbClr val="6D7076">
                <a:shade val="50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white"/>
                </a:solidFill>
                <a:latin typeface="Arial"/>
              </a:rPr>
              <a:t>36 transitions</a:t>
            </a:r>
          </a:p>
        </p:txBody>
      </p:sp>
      <p:sp>
        <p:nvSpPr>
          <p:cNvPr id="91" name="TextBox 90">
            <a:extLst>
              <a:ext uri="{FF2B5EF4-FFF2-40B4-BE49-F238E27FC236}">
                <a16:creationId xmlns:a16="http://schemas.microsoft.com/office/drawing/2014/main" id="{61F59C88-C5CA-4FB7-9821-603ADF8EB3BE}"/>
              </a:ext>
            </a:extLst>
          </p:cNvPr>
          <p:cNvSpPr txBox="1"/>
          <p:nvPr/>
        </p:nvSpPr>
        <p:spPr>
          <a:xfrm>
            <a:off x="4239033" y="5079195"/>
            <a:ext cx="1242648" cy="261610"/>
          </a:xfrm>
          <a:prstGeom prst="rect">
            <a:avLst/>
          </a:prstGeom>
          <a:solidFill>
            <a:srgbClr val="FFFFFF">
              <a:lumMod val="75000"/>
            </a:srgbClr>
          </a:solidFill>
          <a:ln>
            <a:solidFill>
              <a:srgbClr val="FFFFFF">
                <a:lumMod val="75000"/>
              </a:srgbClr>
            </a:solidFill>
          </a:ln>
        </p:spPr>
        <p:txBody>
          <a:bodyPr wrap="none" rtlCol="0">
            <a:spAutoFit/>
          </a:bodyPr>
          <a:lstStyle/>
          <a:p>
            <a:pPr algn="r" defTabSz="457200" fontAlgn="base">
              <a:spcBef>
                <a:spcPct val="0"/>
              </a:spcBef>
              <a:spcAft>
                <a:spcPct val="0"/>
              </a:spcAft>
              <a:defRPr/>
            </a:pPr>
            <a:r>
              <a:rPr lang="en-US" sz="1100" kern="0" dirty="0">
                <a:solidFill>
                  <a:prstClr val="black"/>
                </a:solidFill>
                <a:ea typeface="ＭＳ Ｐゴシック" pitchFamily="34" charset="-128"/>
                <a:cs typeface="Arial" charset="0"/>
              </a:rPr>
              <a:t>Already flattened</a:t>
            </a:r>
          </a:p>
        </p:txBody>
      </p:sp>
      <p:pic>
        <p:nvPicPr>
          <p:cNvPr id="6" name="图片 5" descr="图形用户界面, 应用程序&#10;&#10;描述已自动生成">
            <a:extLst>
              <a:ext uri="{FF2B5EF4-FFF2-40B4-BE49-F238E27FC236}">
                <a16:creationId xmlns:a16="http://schemas.microsoft.com/office/drawing/2014/main" id="{235F31A0-6698-424A-B3B0-14BF85A02AC0}"/>
              </a:ext>
            </a:extLst>
          </p:cNvPr>
          <p:cNvPicPr>
            <a:picLocks noChangeAspect="1"/>
          </p:cNvPicPr>
          <p:nvPr/>
        </p:nvPicPr>
        <p:blipFill>
          <a:blip r:embed="rId2"/>
          <a:stretch>
            <a:fillRect/>
          </a:stretch>
        </p:blipFill>
        <p:spPr>
          <a:xfrm>
            <a:off x="8447127" y="724296"/>
            <a:ext cx="3229393" cy="182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checkerboard(across)">
                                      <p:cBhvr>
                                        <p:cTn id="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71D599-6BB8-4F10-9014-E2445E0916BE}"/>
              </a:ext>
            </a:extLst>
          </p:cNvPr>
          <p:cNvPicPr>
            <a:picLocks noChangeAspect="1"/>
          </p:cNvPicPr>
          <p:nvPr/>
        </p:nvPicPr>
        <p:blipFill>
          <a:blip r:embed="rId2"/>
          <a:stretch>
            <a:fillRect/>
          </a:stretch>
        </p:blipFill>
        <p:spPr>
          <a:xfrm>
            <a:off x="8832814" y="1597571"/>
            <a:ext cx="3162300" cy="2200275"/>
          </a:xfrm>
          <a:prstGeom prst="rect">
            <a:avLst/>
          </a:prstGeom>
        </p:spPr>
      </p:pic>
      <p:sp>
        <p:nvSpPr>
          <p:cNvPr id="2" name="Title 1"/>
          <p:cNvSpPr>
            <a:spLocks noGrp="1"/>
          </p:cNvSpPr>
          <p:nvPr>
            <p:ph type="title"/>
          </p:nvPr>
        </p:nvSpPr>
        <p:spPr/>
        <p:txBody>
          <a:bodyPr/>
          <a:lstStyle/>
          <a:p>
            <a:r>
              <a:rPr lang="en-US" dirty="0"/>
              <a:t>Loop Merging</a:t>
            </a:r>
          </a:p>
        </p:txBody>
      </p:sp>
      <p:sp>
        <p:nvSpPr>
          <p:cNvPr id="3" name="Content Placeholder 2"/>
          <p:cNvSpPr>
            <a:spLocks noGrp="1"/>
          </p:cNvSpPr>
          <p:nvPr>
            <p:ph idx="1"/>
          </p:nvPr>
        </p:nvSpPr>
        <p:spPr/>
        <p:txBody>
          <a:bodyPr>
            <a:normAutofit/>
          </a:bodyPr>
          <a:lstStyle/>
          <a:p>
            <a:r>
              <a:rPr lang="en-US" dirty="0" err="1"/>
              <a:t>Vivado</a:t>
            </a:r>
            <a:r>
              <a:rPr lang="en-US" dirty="0"/>
              <a:t> HLS can automatically merge loops</a:t>
            </a:r>
          </a:p>
          <a:p>
            <a:pPr lvl="1"/>
            <a:r>
              <a:rPr lang="en-US" dirty="0"/>
              <a:t>A faster approach than manually changing the code</a:t>
            </a:r>
          </a:p>
          <a:p>
            <a:pPr lvl="1"/>
            <a:r>
              <a:rPr lang="en-US" dirty="0"/>
              <a:t>Allows for more efficient architecture explorations</a:t>
            </a:r>
          </a:p>
          <a:p>
            <a:pPr lvl="1"/>
            <a:r>
              <a:rPr lang="en-US" u="sng" dirty="0"/>
              <a:t>FIFO reads, which must occur in strict order, can prevent loop merging</a:t>
            </a:r>
          </a:p>
          <a:p>
            <a:pPr lvl="2"/>
            <a:r>
              <a:rPr lang="en-US" dirty="0"/>
              <a:t>Can be done with the “force” option : user takes responsibility for correctness</a:t>
            </a:r>
          </a:p>
        </p:txBody>
      </p:sp>
      <p:sp>
        <p:nvSpPr>
          <p:cNvPr id="51" name="Slide Number Placeholder 50"/>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35</a:t>
            </a:fld>
            <a:endParaRPr lang="en-US" dirty="0"/>
          </a:p>
        </p:txBody>
      </p:sp>
      <p:sp>
        <p:nvSpPr>
          <p:cNvPr id="55" name="TextBox 54">
            <a:extLst>
              <a:ext uri="{FF2B5EF4-FFF2-40B4-BE49-F238E27FC236}">
                <a16:creationId xmlns:a16="http://schemas.microsoft.com/office/drawing/2014/main" id="{3465C758-CC27-4446-86BC-40EDB4D27667}"/>
              </a:ext>
            </a:extLst>
          </p:cNvPr>
          <p:cNvSpPr txBox="1"/>
          <p:nvPr/>
        </p:nvSpPr>
        <p:spPr>
          <a:xfrm>
            <a:off x="2382939" y="3466555"/>
            <a:ext cx="3583533" cy="283923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L1: for (i=3;i&gt;=0;i--) {</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L2: for (i=3;i&gt;=0;i--) {</a:t>
            </a:r>
          </a:p>
          <a:p>
            <a:pPr defTabSz="457200" fontAlgn="base">
              <a:spcBef>
                <a:spcPct val="0"/>
              </a:spcBef>
              <a:spcAft>
                <a:spcPct val="0"/>
              </a:spcAft>
              <a:defRPr/>
            </a:pPr>
            <a:r>
              <a:rPr lang="en-US" sz="1050" b="1" kern="0" dirty="0">
                <a:solidFill>
                  <a:prstClr val="black"/>
                </a:solidFill>
                <a:latin typeface="Consolas" pitchFamily="49" charset="0"/>
              </a:rPr>
              <a:t>      L3: for (j=3;j&gt;=0;j--) {</a:t>
            </a:r>
          </a:p>
          <a:p>
            <a:pPr defTabSz="457200" fontAlgn="base">
              <a:spcBef>
                <a:spcPct val="0"/>
              </a:spcBef>
              <a:spcAft>
                <a:spcPct val="0"/>
              </a:spcAft>
              <a:defRPr/>
            </a:pPr>
            <a:r>
              <a:rPr lang="en-US" sz="1050" i="1" kern="0" dirty="0">
                <a:solidFill>
                  <a:prstClr val="black"/>
                </a:solidFill>
                <a:latin typeface="Consolas" pitchFamily="49" charset="0"/>
              </a:rPr>
              <a:t> 	[loop body l3 ]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a:p>
            <a:pPr defTabSz="457200" fontAlgn="base">
              <a:spcBef>
                <a:spcPct val="0"/>
              </a:spcBef>
              <a:spcAft>
                <a:spcPct val="0"/>
              </a:spcAft>
              <a:defRPr/>
            </a:pPr>
            <a:r>
              <a:rPr lang="en-US" sz="1050" b="1" kern="0" dirty="0">
                <a:solidFill>
                  <a:prstClr val="black"/>
                </a:solidFill>
                <a:latin typeface="Consolas" pitchFamily="49" charset="0"/>
              </a:rPr>
              <a:t>  L4: for (i=3;i&gt;=0;i--) {</a:t>
            </a:r>
          </a:p>
          <a:p>
            <a:pPr defTabSz="457200" fontAlgn="base">
              <a:spcBef>
                <a:spcPct val="0"/>
              </a:spcBef>
              <a:spcAft>
                <a:spcPct val="0"/>
              </a:spcAft>
              <a:defRPr/>
            </a:pPr>
            <a:r>
              <a:rPr lang="en-US" sz="1050" i="1" kern="0" dirty="0">
                <a:solidFill>
                  <a:prstClr val="black"/>
                </a:solidFill>
                <a:latin typeface="Consolas" pitchFamily="49" charset="0"/>
              </a:rPr>
              <a:t> 	[loop body l4 ]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endParaRPr lang="en-US" sz="1050" b="1" kern="0" dirty="0">
              <a:solidFill>
                <a:prstClr val="black"/>
              </a:solidFill>
              <a:latin typeface="Consolas" pitchFamily="49" charset="0"/>
            </a:endParaRPr>
          </a:p>
        </p:txBody>
      </p:sp>
      <p:sp>
        <p:nvSpPr>
          <p:cNvPr id="56" name="Left Brace 55">
            <a:extLst>
              <a:ext uri="{FF2B5EF4-FFF2-40B4-BE49-F238E27FC236}">
                <a16:creationId xmlns:a16="http://schemas.microsoft.com/office/drawing/2014/main" id="{1866551B-1946-45D0-8642-6C1D61325E43}"/>
              </a:ext>
            </a:extLst>
          </p:cNvPr>
          <p:cNvSpPr/>
          <p:nvPr/>
        </p:nvSpPr>
        <p:spPr>
          <a:xfrm flipH="1">
            <a:off x="5352398" y="4583031"/>
            <a:ext cx="255967" cy="806505"/>
          </a:xfrm>
          <a:prstGeom prst="leftBrace">
            <a:avLst/>
          </a:prstGeom>
          <a:noFill/>
          <a:ln w="25400" cap="flat" cmpd="sng" algn="ctr">
            <a:solidFill>
              <a:srgbClr val="FFFFFF">
                <a:lumMod val="75000"/>
              </a:srgbClr>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grpSp>
        <p:nvGrpSpPr>
          <p:cNvPr id="58" name="Group 55">
            <a:extLst>
              <a:ext uri="{FF2B5EF4-FFF2-40B4-BE49-F238E27FC236}">
                <a16:creationId xmlns:a16="http://schemas.microsoft.com/office/drawing/2014/main" id="{7E281FE9-446C-445B-8DE0-2F5ADA78536A}"/>
              </a:ext>
            </a:extLst>
          </p:cNvPr>
          <p:cNvGrpSpPr/>
          <p:nvPr/>
        </p:nvGrpSpPr>
        <p:grpSpPr>
          <a:xfrm>
            <a:off x="5556925" y="3773425"/>
            <a:ext cx="6426310" cy="2570404"/>
            <a:chOff x="4167588" y="3777376"/>
            <a:chExt cx="4820988" cy="2570404"/>
          </a:xfrm>
        </p:grpSpPr>
        <p:sp>
          <p:nvSpPr>
            <p:cNvPr id="59" name="Oval 58">
              <a:extLst>
                <a:ext uri="{FF2B5EF4-FFF2-40B4-BE49-F238E27FC236}">
                  <a16:creationId xmlns:a16="http://schemas.microsoft.com/office/drawing/2014/main" id="{D3A9CBBB-48AE-4FC1-9C0F-119316DB30EE}"/>
                </a:ext>
              </a:extLst>
            </p:cNvPr>
            <p:cNvSpPr/>
            <p:nvPr/>
          </p:nvSpPr>
          <p:spPr>
            <a:xfrm>
              <a:off x="7969683" y="4695250"/>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cxnSp>
          <p:nvCxnSpPr>
            <p:cNvPr id="60" name="Straight Arrow Connector 59">
              <a:extLst>
                <a:ext uri="{FF2B5EF4-FFF2-40B4-BE49-F238E27FC236}">
                  <a16:creationId xmlns:a16="http://schemas.microsoft.com/office/drawing/2014/main" id="{6B1DD737-713D-4A41-9263-688A6F1BD84B}"/>
                </a:ext>
              </a:extLst>
            </p:cNvPr>
            <p:cNvCxnSpPr>
              <a:endCxn id="59" idx="0"/>
            </p:cNvCxnSpPr>
            <p:nvPr/>
          </p:nvCxnSpPr>
          <p:spPr>
            <a:xfrm rot="5400000">
              <a:off x="7931584" y="4504751"/>
              <a:ext cx="380998" cy="1588"/>
            </a:xfrm>
            <a:prstGeom prst="straightConnector1">
              <a:avLst/>
            </a:prstGeom>
            <a:noFill/>
            <a:ln w="25400" cap="flat" cmpd="sng" algn="ctr">
              <a:solidFill>
                <a:srgbClr val="008CA8"/>
              </a:solidFill>
              <a:prstDash val="dash"/>
              <a:headEnd type="none" w="med" len="med"/>
              <a:tailEnd type="triangle" w="med" len="med"/>
            </a:ln>
            <a:effectLst>
              <a:outerShdw blurRad="40000" dist="20000" dir="5400000" rotWithShape="0">
                <a:srgbClr val="000000">
                  <a:alpha val="38000"/>
                </a:srgbClr>
              </a:outerShdw>
            </a:effectLst>
          </p:spPr>
        </p:cxnSp>
        <p:cxnSp>
          <p:nvCxnSpPr>
            <p:cNvPr id="61" name="Curved Connector 20">
              <a:extLst>
                <a:ext uri="{FF2B5EF4-FFF2-40B4-BE49-F238E27FC236}">
                  <a16:creationId xmlns:a16="http://schemas.microsoft.com/office/drawing/2014/main" id="{2537FF97-F3E4-40EF-AEDF-1C1C29898C80}"/>
                </a:ext>
              </a:extLst>
            </p:cNvPr>
            <p:cNvCxnSpPr>
              <a:stCxn id="59" idx="4"/>
              <a:endCxn id="59" idx="6"/>
            </p:cNvCxnSpPr>
            <p:nvPr/>
          </p:nvCxnSpPr>
          <p:spPr>
            <a:xfrm rot="5400000" flipH="1" flipV="1">
              <a:off x="8122083" y="4847650"/>
              <a:ext cx="152400" cy="152400"/>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2" name="Straight Arrow Connector 61">
              <a:extLst>
                <a:ext uri="{FF2B5EF4-FFF2-40B4-BE49-F238E27FC236}">
                  <a16:creationId xmlns:a16="http://schemas.microsoft.com/office/drawing/2014/main" id="{25F6E7A2-D99E-45A9-8E98-E47584775DA2}"/>
                </a:ext>
              </a:extLst>
            </p:cNvPr>
            <p:cNvCxnSpPr>
              <a:stCxn id="59" idx="4"/>
            </p:cNvCxnSpPr>
            <p:nvPr/>
          </p:nvCxnSpPr>
          <p:spPr>
            <a:xfrm rot="16200000" flipH="1">
              <a:off x="7948651" y="5173482"/>
              <a:ext cx="348087" cy="1222"/>
            </a:xfrm>
            <a:prstGeom prst="straightConnector1">
              <a:avLst/>
            </a:prstGeom>
            <a:noFill/>
            <a:ln w="25400" cap="flat" cmpd="sng" algn="ctr">
              <a:solidFill>
                <a:srgbClr val="008CA8"/>
              </a:solidFill>
              <a:prstDash val="dash"/>
              <a:headEnd type="none" w="med" len="med"/>
              <a:tailEnd type="triangle" w="med" len="med"/>
            </a:ln>
            <a:effectLst>
              <a:outerShdw blurRad="40000" dist="20000" dir="5400000" rotWithShape="0">
                <a:srgbClr val="000000">
                  <a:alpha val="38000"/>
                </a:srgbClr>
              </a:outerShdw>
            </a:effectLst>
          </p:spPr>
        </p:cxnSp>
        <p:sp>
          <p:nvSpPr>
            <p:cNvPr id="63" name="TextBox 62">
              <a:extLst>
                <a:ext uri="{FF2B5EF4-FFF2-40B4-BE49-F238E27FC236}">
                  <a16:creationId xmlns:a16="http://schemas.microsoft.com/office/drawing/2014/main" id="{986056FC-82E9-4A51-8CFC-A99D03BEC20A}"/>
                </a:ext>
              </a:extLst>
            </p:cNvPr>
            <p:cNvSpPr txBox="1"/>
            <p:nvPr/>
          </p:nvSpPr>
          <p:spPr>
            <a:xfrm>
              <a:off x="8468948" y="4961645"/>
              <a:ext cx="315313" cy="261610"/>
            </a:xfrm>
            <a:prstGeom prst="rect">
              <a:avLst/>
            </a:prstGeom>
            <a:noFill/>
          </p:spPr>
          <p:txBody>
            <a:bodyPr wrap="none" rtlCol="0">
              <a:spAutoFit/>
            </a:bodyPr>
            <a:lstStyle/>
            <a:p>
              <a:pPr defTabSz="457200" fontAlgn="base">
                <a:spcBef>
                  <a:spcPct val="0"/>
                </a:spcBef>
                <a:spcAft>
                  <a:spcPct val="0"/>
                </a:spcAft>
                <a:defRPr/>
              </a:pPr>
              <a:r>
                <a:rPr lang="en-US" sz="1100" b="1" kern="0" dirty="0">
                  <a:solidFill>
                    <a:prstClr val="black"/>
                  </a:solidFill>
                  <a:ea typeface="ＭＳ Ｐゴシック" pitchFamily="34" charset="-128"/>
                  <a:cs typeface="Arial" charset="0"/>
                </a:rPr>
                <a:t>x16</a:t>
              </a:r>
            </a:p>
          </p:txBody>
        </p:sp>
        <p:sp>
          <p:nvSpPr>
            <p:cNvPr id="64" name="TextBox 63">
              <a:extLst>
                <a:ext uri="{FF2B5EF4-FFF2-40B4-BE49-F238E27FC236}">
                  <a16:creationId xmlns:a16="http://schemas.microsoft.com/office/drawing/2014/main" id="{54EB6E99-95F3-4F75-A875-55A9C5E7BD2C}"/>
                </a:ext>
              </a:extLst>
            </p:cNvPr>
            <p:cNvSpPr txBox="1"/>
            <p:nvPr/>
          </p:nvSpPr>
          <p:spPr>
            <a:xfrm>
              <a:off x="5050903" y="3904693"/>
              <a:ext cx="2381110" cy="186974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  </a:t>
              </a:r>
            </a:p>
            <a:p>
              <a:pPr defTabSz="457200" fontAlgn="base">
                <a:spcBef>
                  <a:spcPct val="0"/>
                </a:spcBef>
                <a:spcAft>
                  <a:spcPct val="0"/>
                </a:spcAft>
                <a:defRPr/>
              </a:pPr>
              <a:r>
                <a:rPr lang="en-US" sz="1050" b="1" kern="0" dirty="0">
                  <a:solidFill>
                    <a:prstClr val="black"/>
                  </a:solidFill>
                  <a:latin typeface="Consolas" pitchFamily="49" charset="0"/>
                </a:rPr>
                <a:t>  L123: for (l=16,l&gt;=0;l--) {</a:t>
              </a:r>
            </a:p>
            <a:p>
              <a:pPr defTabSz="457200" fontAlgn="base">
                <a:spcBef>
                  <a:spcPct val="0"/>
                </a:spcBef>
                <a:spcAft>
                  <a:spcPct val="0"/>
                </a:spcAft>
                <a:defRPr/>
              </a:pPr>
              <a:r>
                <a:rPr lang="en-US" sz="1050" b="1" kern="0" dirty="0">
                  <a:solidFill>
                    <a:prstClr val="black"/>
                  </a:solidFill>
                  <a:latin typeface="Consolas" pitchFamily="49" charset="0"/>
                </a:rPr>
                <a:t> 	if (cond1)</a:t>
              </a:r>
            </a:p>
            <a:p>
              <a:pPr defTabSz="457200" fontAlgn="base">
                <a:spcBef>
                  <a:spcPct val="0"/>
                </a:spcBef>
                <a:spcAft>
                  <a:spcPct val="0"/>
                </a:spcAft>
                <a:defRPr/>
              </a:pPr>
              <a:r>
                <a:rPr lang="en-US" sz="1050" i="1" kern="0" dirty="0">
                  <a:solidFill>
                    <a:prstClr val="black"/>
                  </a:solidFill>
                  <a:latin typeface="Consolas" pitchFamily="49" charset="0"/>
                </a:rPr>
                <a:t>		[loop body l1 ]</a:t>
              </a:r>
            </a:p>
            <a:p>
              <a:pPr defTabSz="457200" fontAlgn="base">
                <a:spcBef>
                  <a:spcPct val="0"/>
                </a:spcBef>
                <a:spcAft>
                  <a:spcPct val="0"/>
                </a:spcAft>
                <a:defRPr/>
              </a:pPr>
              <a:r>
                <a:rPr lang="en-US" sz="1050" i="1" kern="0" dirty="0">
                  <a:solidFill>
                    <a:prstClr val="black"/>
                  </a:solidFill>
                  <a:latin typeface="Consolas" pitchFamily="49" charset="0"/>
                </a:rPr>
                <a:t> 	</a:t>
              </a:r>
            </a:p>
            <a:p>
              <a:pPr defTabSz="457200" fontAlgn="base">
                <a:spcBef>
                  <a:spcPct val="0"/>
                </a:spcBef>
                <a:spcAft>
                  <a:spcPct val="0"/>
                </a:spcAft>
                <a:defRPr/>
              </a:pPr>
              <a:r>
                <a:rPr lang="en-US" sz="1050" i="1" kern="0" dirty="0">
                  <a:solidFill>
                    <a:prstClr val="black"/>
                  </a:solidFill>
                  <a:latin typeface="Consolas" pitchFamily="49" charset="0"/>
                </a:rPr>
                <a:t>	[loop body l3 ]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if (cond4)</a:t>
              </a:r>
            </a:p>
            <a:p>
              <a:pPr defTabSz="457200" fontAlgn="base">
                <a:spcBef>
                  <a:spcPct val="0"/>
                </a:spcBef>
                <a:spcAft>
                  <a:spcPct val="0"/>
                </a:spcAft>
                <a:defRPr/>
              </a:pPr>
              <a:r>
                <a:rPr lang="en-US" sz="1050" i="1" kern="0" dirty="0">
                  <a:solidFill>
                    <a:prstClr val="black"/>
                  </a:solidFill>
                  <a:latin typeface="Consolas" pitchFamily="49" charset="0"/>
                </a:rPr>
                <a:t>		[loop body l4 ]</a:t>
              </a:r>
            </a:p>
            <a:p>
              <a:pPr defTabSz="457200" fontAlgn="base">
                <a:spcBef>
                  <a:spcPct val="0"/>
                </a:spcBef>
                <a:spcAft>
                  <a:spcPct val="0"/>
                </a:spcAft>
                <a:defRPr/>
              </a:pPr>
              <a:r>
                <a:rPr lang="en-US" sz="1050" b="1" kern="0" dirty="0">
                  <a:solidFill>
                    <a:prstClr val="black"/>
                  </a:solidFill>
                  <a:latin typeface="Consolas" pitchFamily="49" charset="0"/>
                </a:rPr>
                <a:t>  }	</a:t>
              </a:r>
            </a:p>
          </p:txBody>
        </p:sp>
        <p:sp>
          <p:nvSpPr>
            <p:cNvPr id="65" name="Oval 64">
              <a:extLst>
                <a:ext uri="{FF2B5EF4-FFF2-40B4-BE49-F238E27FC236}">
                  <a16:creationId xmlns:a16="http://schemas.microsoft.com/office/drawing/2014/main" id="{2508C372-B4A4-410C-93B9-A3590FE14A22}"/>
                </a:ext>
              </a:extLst>
            </p:cNvPr>
            <p:cNvSpPr/>
            <p:nvPr/>
          </p:nvSpPr>
          <p:spPr>
            <a:xfrm>
              <a:off x="7969683" y="4695250"/>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cxnSp>
          <p:nvCxnSpPr>
            <p:cNvPr id="66" name="Straight Arrow Connector 65">
              <a:extLst>
                <a:ext uri="{FF2B5EF4-FFF2-40B4-BE49-F238E27FC236}">
                  <a16:creationId xmlns:a16="http://schemas.microsoft.com/office/drawing/2014/main" id="{497195AE-59C5-4271-A1E6-EE5383AF7AF4}"/>
                </a:ext>
              </a:extLst>
            </p:cNvPr>
            <p:cNvCxnSpPr>
              <a:endCxn id="65" idx="0"/>
            </p:cNvCxnSpPr>
            <p:nvPr/>
          </p:nvCxnSpPr>
          <p:spPr>
            <a:xfrm rot="5400000">
              <a:off x="7931584" y="4504751"/>
              <a:ext cx="380998" cy="158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7" name="Curved Connector 20">
              <a:extLst>
                <a:ext uri="{FF2B5EF4-FFF2-40B4-BE49-F238E27FC236}">
                  <a16:creationId xmlns:a16="http://schemas.microsoft.com/office/drawing/2014/main" id="{174C76E4-2B01-45B1-9FC3-D609898E3FE0}"/>
                </a:ext>
              </a:extLst>
            </p:cNvPr>
            <p:cNvCxnSpPr>
              <a:stCxn id="65" idx="4"/>
              <a:endCxn id="65" idx="6"/>
            </p:cNvCxnSpPr>
            <p:nvPr/>
          </p:nvCxnSpPr>
          <p:spPr>
            <a:xfrm rot="5400000" flipH="1" flipV="1">
              <a:off x="8122083" y="4847650"/>
              <a:ext cx="152400" cy="152400"/>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8" name="Straight Arrow Connector 67">
              <a:extLst>
                <a:ext uri="{FF2B5EF4-FFF2-40B4-BE49-F238E27FC236}">
                  <a16:creationId xmlns:a16="http://schemas.microsoft.com/office/drawing/2014/main" id="{DCFB343B-86C2-408D-9912-01637AE9F637}"/>
                </a:ext>
              </a:extLst>
            </p:cNvPr>
            <p:cNvCxnSpPr>
              <a:stCxn id="65" idx="4"/>
            </p:cNvCxnSpPr>
            <p:nvPr/>
          </p:nvCxnSpPr>
          <p:spPr>
            <a:xfrm rot="16200000" flipH="1">
              <a:off x="7948651" y="5173482"/>
              <a:ext cx="348087" cy="1222"/>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69" name="Right Arrow 44">
              <a:extLst>
                <a:ext uri="{FF2B5EF4-FFF2-40B4-BE49-F238E27FC236}">
                  <a16:creationId xmlns:a16="http://schemas.microsoft.com/office/drawing/2014/main" id="{A05F2559-DEEF-4778-8DC8-E6DDB2421F91}"/>
                </a:ext>
              </a:extLst>
            </p:cNvPr>
            <p:cNvSpPr/>
            <p:nvPr/>
          </p:nvSpPr>
          <p:spPr>
            <a:xfrm>
              <a:off x="4590043" y="4622286"/>
              <a:ext cx="422455"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70" name="Left Brace 69">
              <a:extLst>
                <a:ext uri="{FF2B5EF4-FFF2-40B4-BE49-F238E27FC236}">
                  <a16:creationId xmlns:a16="http://schemas.microsoft.com/office/drawing/2014/main" id="{50FFCE67-1BBF-4156-8C46-145D6FC76141}"/>
                </a:ext>
              </a:extLst>
            </p:cNvPr>
            <p:cNvSpPr/>
            <p:nvPr/>
          </p:nvSpPr>
          <p:spPr>
            <a:xfrm>
              <a:off x="5050903" y="4315046"/>
              <a:ext cx="192025" cy="1382580"/>
            </a:xfrm>
            <a:prstGeom prst="leftBrace">
              <a:avLst>
                <a:gd name="adj1" fmla="val 8333"/>
                <a:gd name="adj2" fmla="val 39302"/>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
          <p:nvSpPr>
            <p:cNvPr id="71" name="Left Brace 70">
              <a:extLst>
                <a:ext uri="{FF2B5EF4-FFF2-40B4-BE49-F238E27FC236}">
                  <a16:creationId xmlns:a16="http://schemas.microsoft.com/office/drawing/2014/main" id="{43953CC8-8CCC-4FFC-951E-8CC7E748722D}"/>
                </a:ext>
              </a:extLst>
            </p:cNvPr>
            <p:cNvSpPr/>
            <p:nvPr/>
          </p:nvSpPr>
          <p:spPr>
            <a:xfrm flipH="1">
              <a:off x="4167588" y="3777376"/>
              <a:ext cx="193246" cy="2189085"/>
            </a:xfrm>
            <a:prstGeom prst="lef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sp>
          <p:nvSpPr>
            <p:cNvPr id="72" name="TextBox 71">
              <a:extLst>
                <a:ext uri="{FF2B5EF4-FFF2-40B4-BE49-F238E27FC236}">
                  <a16:creationId xmlns:a16="http://schemas.microsoft.com/office/drawing/2014/main" id="{83B4FFCD-FF12-4190-A7ED-B6584754CB1F}"/>
                </a:ext>
              </a:extLst>
            </p:cNvPr>
            <p:cNvSpPr txBox="1"/>
            <p:nvPr/>
          </p:nvSpPr>
          <p:spPr>
            <a:xfrm>
              <a:off x="7836426" y="6070781"/>
              <a:ext cx="1152150" cy="276999"/>
            </a:xfrm>
            <a:prstGeom prst="rect">
              <a:avLst/>
            </a:prstGeom>
            <a:solidFill>
              <a:srgbClr val="6D7076"/>
            </a:solidFill>
            <a:ln w="25400" cap="flat" cmpd="sng" algn="ctr">
              <a:solidFill>
                <a:srgbClr val="6D7076">
                  <a:shade val="50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white"/>
                  </a:solidFill>
                  <a:latin typeface="Arial"/>
                </a:rPr>
                <a:t>18 transitions</a:t>
              </a:r>
            </a:p>
          </p:txBody>
        </p:sp>
      </p:grpSp>
      <p:sp>
        <p:nvSpPr>
          <p:cNvPr id="73" name="Oval 72">
            <a:extLst>
              <a:ext uri="{FF2B5EF4-FFF2-40B4-BE49-F238E27FC236}">
                <a16:creationId xmlns:a16="http://schemas.microsoft.com/office/drawing/2014/main" id="{74461669-B1EB-428B-AC04-5EF504C4FC3E}"/>
              </a:ext>
            </a:extLst>
          </p:cNvPr>
          <p:cNvSpPr/>
          <p:nvPr/>
        </p:nvSpPr>
        <p:spPr>
          <a:xfrm>
            <a:off x="311154" y="3577554"/>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1</a:t>
            </a:r>
          </a:p>
        </p:txBody>
      </p:sp>
      <p:sp>
        <p:nvSpPr>
          <p:cNvPr id="74" name="Oval 73">
            <a:extLst>
              <a:ext uri="{FF2B5EF4-FFF2-40B4-BE49-F238E27FC236}">
                <a16:creationId xmlns:a16="http://schemas.microsoft.com/office/drawing/2014/main" id="{69582583-A527-4ED3-99B3-13CDE68209C0}"/>
              </a:ext>
            </a:extLst>
          </p:cNvPr>
          <p:cNvSpPr/>
          <p:nvPr/>
        </p:nvSpPr>
        <p:spPr>
          <a:xfrm>
            <a:off x="311154" y="4230439"/>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2</a:t>
            </a:r>
          </a:p>
        </p:txBody>
      </p:sp>
      <p:cxnSp>
        <p:nvCxnSpPr>
          <p:cNvPr id="75" name="Straight Arrow Connector 74">
            <a:extLst>
              <a:ext uri="{FF2B5EF4-FFF2-40B4-BE49-F238E27FC236}">
                <a16:creationId xmlns:a16="http://schemas.microsoft.com/office/drawing/2014/main" id="{3D5015F1-A1C5-4CE4-BC51-6EBA59707C89}"/>
              </a:ext>
            </a:extLst>
          </p:cNvPr>
          <p:cNvCxnSpPr>
            <a:endCxn id="73" idx="0"/>
          </p:cNvCxnSpPr>
          <p:nvPr/>
        </p:nvCxnSpPr>
        <p:spPr>
          <a:xfrm rot="5400000">
            <a:off x="323802" y="3386976"/>
            <a:ext cx="380998"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6" name="Curved Connector 20">
            <a:extLst>
              <a:ext uri="{FF2B5EF4-FFF2-40B4-BE49-F238E27FC236}">
                <a16:creationId xmlns:a16="http://schemas.microsoft.com/office/drawing/2014/main" id="{89E2558A-57C2-4A6F-9976-775E798E835A}"/>
              </a:ext>
            </a:extLst>
          </p:cNvPr>
          <p:cNvCxnSpPr>
            <a:stCxn id="73" idx="4"/>
            <a:endCxn id="73" idx="6"/>
          </p:cNvCxnSpPr>
          <p:nvPr/>
        </p:nvCxnSpPr>
        <p:spPr>
          <a:xfrm rot="5400000" flipH="1" flipV="1">
            <a:off x="539675" y="3704585"/>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77" name="Oval 76">
            <a:extLst>
              <a:ext uri="{FF2B5EF4-FFF2-40B4-BE49-F238E27FC236}">
                <a16:creationId xmlns:a16="http://schemas.microsoft.com/office/drawing/2014/main" id="{C9283BA9-2008-41CE-B22B-C51A135288D6}"/>
              </a:ext>
            </a:extLst>
          </p:cNvPr>
          <p:cNvSpPr/>
          <p:nvPr/>
        </p:nvSpPr>
        <p:spPr>
          <a:xfrm>
            <a:off x="771894" y="4765669"/>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3</a:t>
            </a:r>
          </a:p>
        </p:txBody>
      </p:sp>
      <p:cxnSp>
        <p:nvCxnSpPr>
          <p:cNvPr id="78" name="Curved Connector 20">
            <a:extLst>
              <a:ext uri="{FF2B5EF4-FFF2-40B4-BE49-F238E27FC236}">
                <a16:creationId xmlns:a16="http://schemas.microsoft.com/office/drawing/2014/main" id="{98AB6E3F-B627-4719-B3A2-952AFFA52215}"/>
              </a:ext>
            </a:extLst>
          </p:cNvPr>
          <p:cNvCxnSpPr>
            <a:stCxn id="77" idx="7"/>
            <a:endCxn id="77" idx="5"/>
          </p:cNvCxnSpPr>
          <p:nvPr/>
        </p:nvCxnSpPr>
        <p:spPr>
          <a:xfrm rot="16200000" flipH="1">
            <a:off x="1010925" y="4917990"/>
            <a:ext cx="215526" cy="2117"/>
          </a:xfrm>
          <a:prstGeom prst="curvedConnector5">
            <a:avLst>
              <a:gd name="adj1" fmla="val -16318"/>
              <a:gd name="adj2" fmla="val 17490371"/>
              <a:gd name="adj3" fmla="val 120398"/>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9" name="Straight Arrow Connector 78">
            <a:extLst>
              <a:ext uri="{FF2B5EF4-FFF2-40B4-BE49-F238E27FC236}">
                <a16:creationId xmlns:a16="http://schemas.microsoft.com/office/drawing/2014/main" id="{AD6E2F14-EEA5-445B-8F59-1EF7C4B7B664}"/>
              </a:ext>
            </a:extLst>
          </p:cNvPr>
          <p:cNvCxnSpPr>
            <a:stCxn id="73" idx="4"/>
          </p:cNvCxnSpPr>
          <p:nvPr/>
        </p:nvCxnSpPr>
        <p:spPr>
          <a:xfrm rot="16200000" flipH="1">
            <a:off x="341320" y="4055591"/>
            <a:ext cx="348087"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0" name="Straight Arrow Connector 79">
            <a:extLst>
              <a:ext uri="{FF2B5EF4-FFF2-40B4-BE49-F238E27FC236}">
                <a16:creationId xmlns:a16="http://schemas.microsoft.com/office/drawing/2014/main" id="{F390C0B1-73AB-408D-902F-660DB180186E}"/>
              </a:ext>
            </a:extLst>
          </p:cNvPr>
          <p:cNvCxnSpPr>
            <a:stCxn id="74" idx="5"/>
            <a:endCxn id="77" idx="1"/>
          </p:cNvCxnSpPr>
          <p:nvPr/>
        </p:nvCxnSpPr>
        <p:spPr>
          <a:xfrm rot="16200000" flipH="1">
            <a:off x="584818" y="4564100"/>
            <a:ext cx="319704" cy="17344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1" name="Curved Connector 20">
            <a:extLst>
              <a:ext uri="{FF2B5EF4-FFF2-40B4-BE49-F238E27FC236}">
                <a16:creationId xmlns:a16="http://schemas.microsoft.com/office/drawing/2014/main" id="{CC6D802F-8B1D-4DF5-87DC-A1BD45956A57}"/>
              </a:ext>
            </a:extLst>
          </p:cNvPr>
          <p:cNvCxnSpPr>
            <a:stCxn id="77" idx="4"/>
            <a:endCxn id="74" idx="6"/>
          </p:cNvCxnSpPr>
          <p:nvPr/>
        </p:nvCxnSpPr>
        <p:spPr>
          <a:xfrm rot="5400000" flipH="1">
            <a:off x="502430" y="4598228"/>
            <a:ext cx="687630" cy="257593"/>
          </a:xfrm>
          <a:prstGeom prst="curvedConnector4">
            <a:avLst>
              <a:gd name="adj1" fmla="val -33245"/>
              <a:gd name="adj2" fmla="val -429249"/>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2" name="Curved Connector 20">
            <a:extLst>
              <a:ext uri="{FF2B5EF4-FFF2-40B4-BE49-F238E27FC236}">
                <a16:creationId xmlns:a16="http://schemas.microsoft.com/office/drawing/2014/main" id="{FF5777F1-C37F-485E-9914-4BE4EB18DA0E}"/>
              </a:ext>
            </a:extLst>
          </p:cNvPr>
          <p:cNvCxnSpPr>
            <a:stCxn id="83" idx="4"/>
            <a:endCxn id="83" idx="6"/>
          </p:cNvCxnSpPr>
          <p:nvPr/>
        </p:nvCxnSpPr>
        <p:spPr>
          <a:xfrm rot="5400000" flipH="1" flipV="1">
            <a:off x="539675" y="5548206"/>
            <a:ext cx="152400" cy="203147"/>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3" name="Oval 82">
            <a:extLst>
              <a:ext uri="{FF2B5EF4-FFF2-40B4-BE49-F238E27FC236}">
                <a16:creationId xmlns:a16="http://schemas.microsoft.com/office/drawing/2014/main" id="{E8294F70-3528-4FE0-9184-C900383ABB9C}"/>
              </a:ext>
            </a:extLst>
          </p:cNvPr>
          <p:cNvSpPr/>
          <p:nvPr/>
        </p:nvSpPr>
        <p:spPr>
          <a:xfrm>
            <a:off x="311154" y="5420994"/>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4</a:t>
            </a:r>
          </a:p>
        </p:txBody>
      </p:sp>
      <p:cxnSp>
        <p:nvCxnSpPr>
          <p:cNvPr id="84" name="Straight Arrow Connector 83">
            <a:extLst>
              <a:ext uri="{FF2B5EF4-FFF2-40B4-BE49-F238E27FC236}">
                <a16:creationId xmlns:a16="http://schemas.microsoft.com/office/drawing/2014/main" id="{8DAEDFB8-2CE2-43F8-AB33-52F206052200}"/>
              </a:ext>
            </a:extLst>
          </p:cNvPr>
          <p:cNvCxnSpPr>
            <a:stCxn id="74" idx="4"/>
            <a:endCxn id="83" idx="0"/>
          </p:cNvCxnSpPr>
          <p:nvPr/>
        </p:nvCxnSpPr>
        <p:spPr>
          <a:xfrm rot="5400000">
            <a:off x="71671" y="4978037"/>
            <a:ext cx="885755" cy="211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5" name="Straight Arrow Connector 84">
            <a:extLst>
              <a:ext uri="{FF2B5EF4-FFF2-40B4-BE49-F238E27FC236}">
                <a16:creationId xmlns:a16="http://schemas.microsoft.com/office/drawing/2014/main" id="{FA3DB28B-AB99-4BA6-9E91-ACB475B521B0}"/>
              </a:ext>
            </a:extLst>
          </p:cNvPr>
          <p:cNvCxnSpPr>
            <a:stCxn id="83" idx="4"/>
          </p:cNvCxnSpPr>
          <p:nvPr/>
        </p:nvCxnSpPr>
        <p:spPr>
          <a:xfrm rot="16200000" flipH="1">
            <a:off x="323091" y="5917190"/>
            <a:ext cx="384050" cy="1629"/>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6" name="TextBox 85">
            <a:extLst>
              <a:ext uri="{FF2B5EF4-FFF2-40B4-BE49-F238E27FC236}">
                <a16:creationId xmlns:a16="http://schemas.microsoft.com/office/drawing/2014/main" id="{AB302C29-AE7A-465D-93BD-5969A82C2327}"/>
              </a:ext>
            </a:extLst>
          </p:cNvPr>
          <p:cNvSpPr txBox="1"/>
          <p:nvPr/>
        </p:nvSpPr>
        <p:spPr>
          <a:xfrm>
            <a:off x="976668" y="3920759"/>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87" name="TextBox 86">
            <a:extLst>
              <a:ext uri="{FF2B5EF4-FFF2-40B4-BE49-F238E27FC236}">
                <a16:creationId xmlns:a16="http://schemas.microsoft.com/office/drawing/2014/main" id="{6DC86D8B-D8B3-4578-90C0-D3E4D8A1ECE2}"/>
              </a:ext>
            </a:extLst>
          </p:cNvPr>
          <p:cNvSpPr txBox="1"/>
          <p:nvPr/>
        </p:nvSpPr>
        <p:spPr>
          <a:xfrm>
            <a:off x="1335021" y="426640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88" name="TextBox 87">
            <a:extLst>
              <a:ext uri="{FF2B5EF4-FFF2-40B4-BE49-F238E27FC236}">
                <a16:creationId xmlns:a16="http://schemas.microsoft.com/office/drawing/2014/main" id="{09C6F8EA-7C16-4688-924A-E11296823AFC}"/>
              </a:ext>
            </a:extLst>
          </p:cNvPr>
          <p:cNvSpPr txBox="1"/>
          <p:nvPr/>
        </p:nvSpPr>
        <p:spPr>
          <a:xfrm>
            <a:off x="1410265" y="480407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89" name="TextBox 88">
            <a:extLst>
              <a:ext uri="{FF2B5EF4-FFF2-40B4-BE49-F238E27FC236}">
                <a16:creationId xmlns:a16="http://schemas.microsoft.com/office/drawing/2014/main" id="{571C2AC5-BD66-4B94-BAB5-ABDBDA2D3437}"/>
              </a:ext>
            </a:extLst>
          </p:cNvPr>
          <p:cNvSpPr txBox="1"/>
          <p:nvPr/>
        </p:nvSpPr>
        <p:spPr>
          <a:xfrm>
            <a:off x="976668" y="5648984"/>
            <a:ext cx="341760" cy="261610"/>
          </a:xfrm>
          <a:prstGeom prst="rect">
            <a:avLst/>
          </a:prstGeom>
          <a:noFill/>
          <a:ln>
            <a:noFill/>
            <a:prstDash val="solid"/>
          </a:ln>
        </p:spPr>
        <p:txBody>
          <a:bodyPr wrap="none" rtlCol="0">
            <a:spAutoFit/>
          </a:bodyPr>
          <a:lstStyle/>
          <a:p>
            <a:pPr defTabSz="457200" fontAlgn="base">
              <a:spcBef>
                <a:spcPct val="0"/>
              </a:spcBef>
              <a:spcAft>
                <a:spcPct val="0"/>
              </a:spcAft>
            </a:pPr>
            <a:r>
              <a:rPr lang="en-US" sz="1100" b="1" dirty="0">
                <a:solidFill>
                  <a:prstClr val="black"/>
                </a:solidFill>
                <a:ea typeface="ＭＳ Ｐゴシック" pitchFamily="34" charset="-128"/>
                <a:cs typeface="Arial" charset="0"/>
              </a:rPr>
              <a:t>x4</a:t>
            </a:r>
          </a:p>
        </p:txBody>
      </p:sp>
      <p:sp>
        <p:nvSpPr>
          <p:cNvPr id="90" name="TextBox 89">
            <a:extLst>
              <a:ext uri="{FF2B5EF4-FFF2-40B4-BE49-F238E27FC236}">
                <a16:creationId xmlns:a16="http://schemas.microsoft.com/office/drawing/2014/main" id="{AB5853A3-C90B-4530-B1A5-D95C740B3DBF}"/>
              </a:ext>
            </a:extLst>
          </p:cNvPr>
          <p:cNvSpPr txBox="1"/>
          <p:nvPr/>
        </p:nvSpPr>
        <p:spPr>
          <a:xfrm>
            <a:off x="413787" y="6193310"/>
            <a:ext cx="1484607" cy="276999"/>
          </a:xfrm>
          <a:prstGeom prst="rect">
            <a:avLst/>
          </a:prstGeom>
          <a:solidFill>
            <a:srgbClr val="6D7076"/>
          </a:solidFill>
          <a:ln w="25400" cap="flat" cmpd="sng" algn="ctr">
            <a:solidFill>
              <a:srgbClr val="6D7076">
                <a:shade val="50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white"/>
                </a:solidFill>
                <a:latin typeface="Arial"/>
              </a:rPr>
              <a:t>36 transitions</a:t>
            </a:r>
          </a:p>
        </p:txBody>
      </p:sp>
      <p:sp>
        <p:nvSpPr>
          <p:cNvPr id="91" name="TextBox 90">
            <a:extLst>
              <a:ext uri="{FF2B5EF4-FFF2-40B4-BE49-F238E27FC236}">
                <a16:creationId xmlns:a16="http://schemas.microsoft.com/office/drawing/2014/main" id="{61F59C88-C5CA-4FB7-9821-603ADF8EB3BE}"/>
              </a:ext>
            </a:extLst>
          </p:cNvPr>
          <p:cNvSpPr txBox="1"/>
          <p:nvPr/>
        </p:nvSpPr>
        <p:spPr>
          <a:xfrm>
            <a:off x="4239033" y="5079195"/>
            <a:ext cx="1242648" cy="261610"/>
          </a:xfrm>
          <a:prstGeom prst="rect">
            <a:avLst/>
          </a:prstGeom>
          <a:solidFill>
            <a:srgbClr val="FFFFFF">
              <a:lumMod val="75000"/>
            </a:srgbClr>
          </a:solidFill>
          <a:ln>
            <a:solidFill>
              <a:srgbClr val="FFFFFF">
                <a:lumMod val="75000"/>
              </a:srgbClr>
            </a:solidFill>
          </a:ln>
        </p:spPr>
        <p:txBody>
          <a:bodyPr wrap="none" rtlCol="0">
            <a:spAutoFit/>
          </a:bodyPr>
          <a:lstStyle/>
          <a:p>
            <a:pPr algn="r" defTabSz="457200" fontAlgn="base">
              <a:spcBef>
                <a:spcPct val="0"/>
              </a:spcBef>
              <a:spcAft>
                <a:spcPct val="0"/>
              </a:spcAft>
              <a:defRPr/>
            </a:pPr>
            <a:r>
              <a:rPr lang="en-US" sz="1100" kern="0" dirty="0">
                <a:solidFill>
                  <a:prstClr val="black"/>
                </a:solidFill>
                <a:ea typeface="ＭＳ Ｐゴシック" pitchFamily="34" charset="-128"/>
                <a:cs typeface="Arial" charset="0"/>
              </a:rPr>
              <a:t>Already flattened</a:t>
            </a:r>
          </a:p>
        </p:txBody>
      </p:sp>
    </p:spTree>
    <p:extLst>
      <p:ext uri="{BB962C8B-B14F-4D97-AF65-F5344CB8AC3E}">
        <p14:creationId xmlns:p14="http://schemas.microsoft.com/office/powerpoint/2010/main" val="349670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checkerboard(across)">
                                      <p:cBhvr>
                                        <p:cTn id="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Merge Rules</a:t>
            </a:r>
          </a:p>
        </p:txBody>
      </p:sp>
      <p:sp>
        <p:nvSpPr>
          <p:cNvPr id="3" name="Content Placeholder 2"/>
          <p:cNvSpPr>
            <a:spLocks noGrp="1"/>
          </p:cNvSpPr>
          <p:nvPr>
            <p:ph idx="1"/>
          </p:nvPr>
        </p:nvSpPr>
        <p:spPr/>
        <p:txBody>
          <a:bodyPr>
            <a:normAutofit fontScale="92500" lnSpcReduction="20000"/>
          </a:bodyPr>
          <a:lstStyle/>
          <a:p>
            <a:pPr lvl="0"/>
            <a:r>
              <a:rPr lang="en-US" dirty="0"/>
              <a:t>If loop bounds are all variables, they must have the same value</a:t>
            </a:r>
          </a:p>
          <a:p>
            <a:pPr lvl="0"/>
            <a:r>
              <a:rPr lang="en-US" dirty="0"/>
              <a:t>If loops bounds are constants, the maximum constant value is used as the bound of the merged loop</a:t>
            </a:r>
          </a:p>
          <a:p>
            <a:pPr lvl="1"/>
            <a:r>
              <a:rPr lang="en-US" dirty="0"/>
              <a:t>As in the previous example where the maximum loop bounds become 16 (implied by L3 flattened into L2 before the merge)</a:t>
            </a:r>
          </a:p>
          <a:p>
            <a:pPr lvl="0"/>
            <a:r>
              <a:rPr lang="en-US" dirty="0"/>
              <a:t>Loops with both variable bound and constant bound </a:t>
            </a:r>
            <a:r>
              <a:rPr lang="en-US" b="1" dirty="0"/>
              <a:t>cannot</a:t>
            </a:r>
            <a:r>
              <a:rPr lang="en-US" dirty="0"/>
              <a:t> be merged</a:t>
            </a:r>
          </a:p>
          <a:p>
            <a:pPr lvl="0"/>
            <a:r>
              <a:rPr lang="en-US" dirty="0"/>
              <a:t>The code between loops to be merged cannot have side effects </a:t>
            </a:r>
          </a:p>
          <a:p>
            <a:pPr lvl="1"/>
            <a:r>
              <a:rPr lang="en-US" dirty="0"/>
              <a:t>Multiple execution of this code should generate same results</a:t>
            </a:r>
          </a:p>
          <a:p>
            <a:pPr lvl="2"/>
            <a:r>
              <a:rPr lang="en-US" dirty="0"/>
              <a:t>A=B is OK, A=A+1 is not</a:t>
            </a:r>
          </a:p>
          <a:p>
            <a:r>
              <a:rPr lang="en-US" dirty="0"/>
              <a:t>Reads from a FIFO or FIFO interface must always be in sequence</a:t>
            </a:r>
          </a:p>
          <a:p>
            <a:pPr lvl="1"/>
            <a:r>
              <a:rPr lang="en-US" dirty="0"/>
              <a:t>A FIFO read in one loop will not be a problem</a:t>
            </a:r>
          </a:p>
          <a:p>
            <a:pPr lvl="1"/>
            <a:r>
              <a:rPr lang="en-US" dirty="0"/>
              <a:t>FIFO reads in multiple loops may become out of sequence</a:t>
            </a:r>
          </a:p>
          <a:p>
            <a:pPr lvl="2"/>
            <a:r>
              <a:rPr lang="en-US" dirty="0"/>
              <a:t>This prevents loops being merged</a:t>
            </a:r>
          </a:p>
          <a:p>
            <a:pPr>
              <a:buNone/>
            </a:pPr>
            <a:endParaRPr lang="en-US" dirty="0"/>
          </a:p>
        </p:txBody>
      </p:sp>
      <p:sp>
        <p:nvSpPr>
          <p:cNvPr id="6" name="Slide Number Placeholder 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Reports</a:t>
            </a:r>
          </a:p>
        </p:txBody>
      </p:sp>
      <p:sp>
        <p:nvSpPr>
          <p:cNvPr id="3" name="Content Placeholder 2"/>
          <p:cNvSpPr>
            <a:spLocks noGrp="1"/>
          </p:cNvSpPr>
          <p:nvPr>
            <p:ph idx="1"/>
          </p:nvPr>
        </p:nvSpPr>
        <p:spPr>
          <a:xfrm>
            <a:off x="607812" y="1049298"/>
            <a:ext cx="10515600" cy="4759404"/>
          </a:xfrm>
        </p:spPr>
        <p:txBody>
          <a:bodyPr/>
          <a:lstStyle/>
          <a:p>
            <a:r>
              <a:rPr lang="en-US" dirty="0"/>
              <a:t>Vitis HLS reports the latency of loops</a:t>
            </a:r>
          </a:p>
          <a:p>
            <a:pPr lvl="1"/>
            <a:r>
              <a:rPr lang="en-US" dirty="0"/>
              <a:t>Shown in the report file and GUI</a:t>
            </a:r>
          </a:p>
          <a:p>
            <a:r>
              <a:rPr lang="en-US" dirty="0"/>
              <a:t>Given a variable loop index, the latency cannot be reported</a:t>
            </a:r>
          </a:p>
          <a:p>
            <a:pPr lvl="1"/>
            <a:r>
              <a:rPr lang="en-US" dirty="0"/>
              <a:t>Vitis HLS does not know the limits of the loop index</a:t>
            </a:r>
          </a:p>
          <a:p>
            <a:pPr lvl="1"/>
            <a:r>
              <a:rPr lang="en-US" dirty="0"/>
              <a:t>This results in latency reports showing unknown values</a:t>
            </a:r>
          </a:p>
          <a:p>
            <a:r>
              <a:rPr lang="en-US" dirty="0"/>
              <a:t>The loop tripcount (iteration count) can be specified </a:t>
            </a:r>
          </a:p>
          <a:p>
            <a:pPr lvl="1"/>
            <a:r>
              <a:rPr lang="en-US" dirty="0"/>
              <a:t>Apply to the loop in the directives pane</a:t>
            </a:r>
          </a:p>
          <a:p>
            <a:pPr lvl="1"/>
            <a:r>
              <a:rPr lang="en-US" dirty="0"/>
              <a:t>Allows the reports to show an estimated latency</a:t>
            </a:r>
          </a:p>
        </p:txBody>
      </p:sp>
      <p:sp>
        <p:nvSpPr>
          <p:cNvPr id="14" name="Slide Number Placeholder 13"/>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37</a:t>
            </a:fld>
            <a:endParaRPr lang="en-US" dirty="0"/>
          </a:p>
        </p:txBody>
      </p:sp>
      <p:sp>
        <p:nvSpPr>
          <p:cNvPr id="9" name="TextBox 8"/>
          <p:cNvSpPr txBox="1"/>
          <p:nvPr/>
        </p:nvSpPr>
        <p:spPr>
          <a:xfrm>
            <a:off x="6624349" y="4193487"/>
            <a:ext cx="5221720" cy="338554"/>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a:r>
              <a:rPr lang="en-US" sz="1600" b="1" dirty="0">
                <a:solidFill>
                  <a:prstClr val="black"/>
                </a:solidFill>
                <a:ea typeface="ＭＳ Ｐゴシック" pitchFamily="24" charset="-128"/>
                <a:cs typeface="ＭＳ Ｐゴシック" pitchFamily="24" charset="-128"/>
              </a:rPr>
              <a:t>Impacts reporting – not synthesis</a:t>
            </a:r>
          </a:p>
        </p:txBody>
      </p:sp>
      <p:sp>
        <p:nvSpPr>
          <p:cNvPr id="11" name="Right Arrow 6">
            <a:extLst>
              <a:ext uri="{FF2B5EF4-FFF2-40B4-BE49-F238E27FC236}">
                <a16:creationId xmlns:a16="http://schemas.microsoft.com/office/drawing/2014/main" id="{C9DEA41B-718F-4F2D-BFC0-E94CB5CF6AB1}"/>
              </a:ext>
            </a:extLst>
          </p:cNvPr>
          <p:cNvSpPr/>
          <p:nvPr/>
        </p:nvSpPr>
        <p:spPr>
          <a:xfrm>
            <a:off x="4099710" y="5266318"/>
            <a:ext cx="563127" cy="386512"/>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16" name="Right Arrow 14">
            <a:extLst>
              <a:ext uri="{FF2B5EF4-FFF2-40B4-BE49-F238E27FC236}">
                <a16:creationId xmlns:a16="http://schemas.microsoft.com/office/drawing/2014/main" id="{6C035017-3EE8-454C-B031-B5C0A3886AD5}"/>
              </a:ext>
            </a:extLst>
          </p:cNvPr>
          <p:cNvSpPr/>
          <p:nvPr/>
        </p:nvSpPr>
        <p:spPr>
          <a:xfrm>
            <a:off x="7273697" y="5268780"/>
            <a:ext cx="563127" cy="386512"/>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pic>
        <p:nvPicPr>
          <p:cNvPr id="5" name="图片 4">
            <a:extLst>
              <a:ext uri="{FF2B5EF4-FFF2-40B4-BE49-F238E27FC236}">
                <a16:creationId xmlns:a16="http://schemas.microsoft.com/office/drawing/2014/main" id="{6ED8019B-13BC-4C00-AE72-950C346B4D19}"/>
              </a:ext>
            </a:extLst>
          </p:cNvPr>
          <p:cNvPicPr>
            <a:picLocks noChangeAspect="1"/>
          </p:cNvPicPr>
          <p:nvPr/>
        </p:nvPicPr>
        <p:blipFill>
          <a:blip r:embed="rId2"/>
          <a:stretch>
            <a:fillRect/>
          </a:stretch>
        </p:blipFill>
        <p:spPr>
          <a:xfrm>
            <a:off x="704809" y="5010792"/>
            <a:ext cx="3301139" cy="914400"/>
          </a:xfrm>
          <a:prstGeom prst="rect">
            <a:avLst/>
          </a:prstGeom>
        </p:spPr>
      </p:pic>
      <p:pic>
        <p:nvPicPr>
          <p:cNvPr id="7" name="图片 6">
            <a:extLst>
              <a:ext uri="{FF2B5EF4-FFF2-40B4-BE49-F238E27FC236}">
                <a16:creationId xmlns:a16="http://schemas.microsoft.com/office/drawing/2014/main" id="{0B674660-6363-4F2C-B6A4-044300F162F1}"/>
              </a:ext>
            </a:extLst>
          </p:cNvPr>
          <p:cNvPicPr>
            <a:picLocks noChangeAspect="1"/>
          </p:cNvPicPr>
          <p:nvPr/>
        </p:nvPicPr>
        <p:blipFill>
          <a:blip r:embed="rId3"/>
          <a:stretch>
            <a:fillRect/>
          </a:stretch>
        </p:blipFill>
        <p:spPr>
          <a:xfrm>
            <a:off x="7942917" y="5010792"/>
            <a:ext cx="3641271" cy="914400"/>
          </a:xfrm>
          <a:prstGeom prst="rect">
            <a:avLst/>
          </a:prstGeom>
        </p:spPr>
      </p:pic>
      <p:pic>
        <p:nvPicPr>
          <p:cNvPr id="10" name="图片 9" descr="图形用户界面, 应用程序&#10;&#10;描述已自动生成">
            <a:extLst>
              <a:ext uri="{FF2B5EF4-FFF2-40B4-BE49-F238E27FC236}">
                <a16:creationId xmlns:a16="http://schemas.microsoft.com/office/drawing/2014/main" id="{5CD50756-B041-4535-A31A-0904C7DA25D6}"/>
              </a:ext>
            </a:extLst>
          </p:cNvPr>
          <p:cNvPicPr>
            <a:picLocks noChangeAspect="1"/>
          </p:cNvPicPr>
          <p:nvPr/>
        </p:nvPicPr>
        <p:blipFill>
          <a:blip r:embed="rId4"/>
          <a:stretch>
            <a:fillRect/>
          </a:stretch>
        </p:blipFill>
        <p:spPr>
          <a:xfrm>
            <a:off x="4743581" y="4633020"/>
            <a:ext cx="2477069" cy="1828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Reports</a:t>
            </a:r>
          </a:p>
        </p:txBody>
      </p:sp>
      <p:sp>
        <p:nvSpPr>
          <p:cNvPr id="3" name="Content Placeholder 2"/>
          <p:cNvSpPr>
            <a:spLocks noGrp="1"/>
          </p:cNvSpPr>
          <p:nvPr>
            <p:ph idx="1"/>
          </p:nvPr>
        </p:nvSpPr>
        <p:spPr/>
        <p:txBody>
          <a:bodyPr/>
          <a:lstStyle/>
          <a:p>
            <a:r>
              <a:rPr lang="en-US" dirty="0" err="1"/>
              <a:t>Vivado</a:t>
            </a:r>
            <a:r>
              <a:rPr lang="en-US" dirty="0"/>
              <a:t> HLS reports the latency of loops</a:t>
            </a:r>
          </a:p>
          <a:p>
            <a:pPr lvl="1"/>
            <a:r>
              <a:rPr lang="en-US" dirty="0"/>
              <a:t>Shown in the report file and GUI</a:t>
            </a:r>
          </a:p>
          <a:p>
            <a:r>
              <a:rPr lang="en-US" dirty="0"/>
              <a:t>Given a variable loop index, the latency cannot be reported</a:t>
            </a:r>
          </a:p>
          <a:p>
            <a:pPr lvl="1"/>
            <a:r>
              <a:rPr lang="en-US" dirty="0" err="1"/>
              <a:t>Vivado</a:t>
            </a:r>
            <a:r>
              <a:rPr lang="en-US" dirty="0"/>
              <a:t> HLS does not know the limits of the loop index</a:t>
            </a:r>
          </a:p>
          <a:p>
            <a:pPr lvl="1"/>
            <a:r>
              <a:rPr lang="en-US" dirty="0"/>
              <a:t>This results in latency reports showing unknown values</a:t>
            </a:r>
          </a:p>
          <a:p>
            <a:r>
              <a:rPr lang="en-US" dirty="0"/>
              <a:t>The loop tripcount (iteration count) can be specified </a:t>
            </a:r>
          </a:p>
          <a:p>
            <a:pPr lvl="1"/>
            <a:r>
              <a:rPr lang="en-US" dirty="0"/>
              <a:t>Apply to the loop in the directives pane</a:t>
            </a:r>
          </a:p>
          <a:p>
            <a:pPr lvl="1"/>
            <a:r>
              <a:rPr lang="en-US" dirty="0"/>
              <a:t>Allows the reports to show an estimated latency</a:t>
            </a:r>
          </a:p>
        </p:txBody>
      </p:sp>
      <p:sp>
        <p:nvSpPr>
          <p:cNvPr id="14" name="Slide Number Placeholder 13"/>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38</a:t>
            </a:fld>
            <a:endParaRPr lang="en-US" dirty="0"/>
          </a:p>
        </p:txBody>
      </p:sp>
      <p:sp>
        <p:nvSpPr>
          <p:cNvPr id="9" name="TextBox 8"/>
          <p:cNvSpPr txBox="1"/>
          <p:nvPr/>
        </p:nvSpPr>
        <p:spPr>
          <a:xfrm>
            <a:off x="6624349" y="4193487"/>
            <a:ext cx="5221720" cy="338554"/>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a:r>
              <a:rPr lang="en-US" sz="1600" b="1" dirty="0">
                <a:solidFill>
                  <a:prstClr val="black"/>
                </a:solidFill>
                <a:ea typeface="ＭＳ Ｐゴシック" pitchFamily="24" charset="-128"/>
                <a:cs typeface="ＭＳ Ｐゴシック" pitchFamily="24" charset="-128"/>
              </a:rPr>
              <a:t>Impacts reporting – not synthesis</a:t>
            </a:r>
          </a:p>
        </p:txBody>
      </p:sp>
      <p:pic>
        <p:nvPicPr>
          <p:cNvPr id="12" name="Picture 11"/>
          <p:cNvPicPr/>
          <p:nvPr/>
        </p:nvPicPr>
        <p:blipFill rotWithShape="1">
          <a:blip r:embed="rId2"/>
          <a:srcRect t="46968"/>
          <a:stretch/>
        </p:blipFill>
        <p:spPr>
          <a:xfrm>
            <a:off x="919004" y="4693482"/>
            <a:ext cx="3102135" cy="1682292"/>
          </a:xfrm>
          <a:prstGeom prst="rect">
            <a:avLst/>
          </a:prstGeom>
        </p:spPr>
      </p:pic>
      <p:pic>
        <p:nvPicPr>
          <p:cNvPr id="13" name="Picture 12"/>
          <p:cNvPicPr/>
          <p:nvPr/>
        </p:nvPicPr>
        <p:blipFill>
          <a:blip r:embed="rId3"/>
          <a:stretch>
            <a:fillRect/>
          </a:stretch>
        </p:blipFill>
        <p:spPr>
          <a:xfrm>
            <a:off x="7903499" y="4648319"/>
            <a:ext cx="2832765" cy="1894020"/>
          </a:xfrm>
          <a:prstGeom prst="rect">
            <a:avLst/>
          </a:prstGeom>
        </p:spPr>
      </p:pic>
      <p:pic>
        <p:nvPicPr>
          <p:cNvPr id="4" name="Picture 3">
            <a:extLst>
              <a:ext uri="{FF2B5EF4-FFF2-40B4-BE49-F238E27FC236}">
                <a16:creationId xmlns:a16="http://schemas.microsoft.com/office/drawing/2014/main" id="{1977FDDC-1687-44EB-BF9F-4F870E26E66C}"/>
              </a:ext>
            </a:extLst>
          </p:cNvPr>
          <p:cNvPicPr>
            <a:picLocks noChangeAspect="1"/>
          </p:cNvPicPr>
          <p:nvPr/>
        </p:nvPicPr>
        <p:blipFill>
          <a:blip r:embed="rId4"/>
          <a:stretch>
            <a:fillRect/>
          </a:stretch>
        </p:blipFill>
        <p:spPr>
          <a:xfrm>
            <a:off x="4850359" y="4606441"/>
            <a:ext cx="2274344" cy="1935899"/>
          </a:xfrm>
          <a:prstGeom prst="rect">
            <a:avLst/>
          </a:prstGeom>
        </p:spPr>
      </p:pic>
      <p:sp>
        <p:nvSpPr>
          <p:cNvPr id="11" name="Right Arrow 6">
            <a:extLst>
              <a:ext uri="{FF2B5EF4-FFF2-40B4-BE49-F238E27FC236}">
                <a16:creationId xmlns:a16="http://schemas.microsoft.com/office/drawing/2014/main" id="{C9DEA41B-718F-4F2D-BFC0-E94CB5CF6AB1}"/>
              </a:ext>
            </a:extLst>
          </p:cNvPr>
          <p:cNvSpPr/>
          <p:nvPr/>
        </p:nvSpPr>
        <p:spPr>
          <a:xfrm>
            <a:off x="4099710" y="5266318"/>
            <a:ext cx="563127" cy="386512"/>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16" name="Right Arrow 14">
            <a:extLst>
              <a:ext uri="{FF2B5EF4-FFF2-40B4-BE49-F238E27FC236}">
                <a16:creationId xmlns:a16="http://schemas.microsoft.com/office/drawing/2014/main" id="{6C035017-3EE8-454C-B031-B5C0A3886AD5}"/>
              </a:ext>
            </a:extLst>
          </p:cNvPr>
          <p:cNvSpPr/>
          <p:nvPr/>
        </p:nvSpPr>
        <p:spPr>
          <a:xfrm>
            <a:off x="7273697" y="5268780"/>
            <a:ext cx="563127" cy="386512"/>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Tree>
    <p:extLst>
      <p:ext uri="{BB962C8B-B14F-4D97-AF65-F5344CB8AC3E}">
        <p14:creationId xmlns:p14="http://schemas.microsoft.com/office/powerpoint/2010/main" val="61593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for Minimizing Latency - Summary</a:t>
            </a:r>
          </a:p>
        </p:txBody>
      </p:sp>
      <p:sp>
        <p:nvSpPr>
          <p:cNvPr id="3" name="Content Placeholder 2"/>
          <p:cNvSpPr>
            <a:spLocks noGrp="1"/>
          </p:cNvSpPr>
          <p:nvPr>
            <p:ph idx="1"/>
          </p:nvPr>
        </p:nvSpPr>
        <p:spPr/>
        <p:txBody>
          <a:bodyPr/>
          <a:lstStyle/>
          <a:p>
            <a:r>
              <a:rPr lang="en-US" dirty="0"/>
              <a:t>Constraints</a:t>
            </a:r>
          </a:p>
          <a:p>
            <a:pPr lvl="1"/>
            <a:r>
              <a:rPr lang="en-US" dirty="0"/>
              <a:t>Vitis HLS accepts constraints for latency</a:t>
            </a:r>
          </a:p>
          <a:p>
            <a:pPr lvl="1"/>
            <a:endParaRPr lang="en-US" dirty="0"/>
          </a:p>
          <a:p>
            <a:r>
              <a:rPr lang="en-US" dirty="0"/>
              <a:t>Loop Optimizations</a:t>
            </a:r>
          </a:p>
          <a:p>
            <a:pPr lvl="1"/>
            <a:r>
              <a:rPr lang="en-US" dirty="0"/>
              <a:t>Latency can be improved by minimizing the number of loop boundaries</a:t>
            </a:r>
          </a:p>
          <a:p>
            <a:pPr lvl="2"/>
            <a:r>
              <a:rPr lang="en-US" dirty="0"/>
              <a:t>Rolled loops (default) enforce sharing at the expense of latency</a:t>
            </a:r>
          </a:p>
          <a:p>
            <a:pPr lvl="2"/>
            <a:r>
              <a:rPr lang="en-US" dirty="0"/>
              <a:t>The entry and exits to loops costs clock cycles</a:t>
            </a:r>
          </a:p>
          <a:p>
            <a:endParaRPr lang="en-US" dirty="0"/>
          </a:p>
          <a:p>
            <a:pPr lvl="2"/>
            <a:endParaRPr lang="en-US" dirty="0"/>
          </a:p>
        </p:txBody>
      </p:sp>
      <p:sp>
        <p:nvSpPr>
          <p:cNvPr id="6" name="Slide Number Placeholder 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64321-7812-4967-86E4-D46C85BB89B2}"/>
              </a:ext>
            </a:extLst>
          </p:cNvPr>
          <p:cNvSpPr>
            <a:spLocks noGrp="1"/>
          </p:cNvSpPr>
          <p:nvPr>
            <p:ph type="title"/>
          </p:nvPr>
        </p:nvSpPr>
        <p:spPr/>
        <p:txBody>
          <a:bodyPr/>
          <a:lstStyle/>
          <a:p>
            <a:r>
              <a:rPr lang="en-US" altLang="zh-CN" dirty="0"/>
              <a:t>Improving Throughput</a:t>
            </a:r>
            <a:endParaRPr lang="zh-CN" altLang="en-US" dirty="0"/>
          </a:p>
        </p:txBody>
      </p:sp>
    </p:spTree>
    <p:extLst>
      <p:ext uri="{BB962C8B-B14F-4D97-AF65-F5344CB8AC3E}">
        <p14:creationId xmlns:p14="http://schemas.microsoft.com/office/powerpoint/2010/main" val="114268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Throughput</a:t>
            </a:r>
          </a:p>
        </p:txBody>
      </p:sp>
      <p:sp>
        <p:nvSpPr>
          <p:cNvPr id="3" name="Content Placeholder 2"/>
          <p:cNvSpPr>
            <a:spLocks noGrp="1"/>
          </p:cNvSpPr>
          <p:nvPr>
            <p:ph idx="1"/>
          </p:nvPr>
        </p:nvSpPr>
        <p:spPr>
          <a:xfrm>
            <a:off x="647700" y="1072146"/>
            <a:ext cx="10515600" cy="4759404"/>
          </a:xfrm>
        </p:spPr>
        <p:txBody>
          <a:bodyPr/>
          <a:lstStyle/>
          <a:p>
            <a:r>
              <a:rPr lang="en-US" sz="2000" dirty="0"/>
              <a:t>Given a design with multiple functions</a:t>
            </a:r>
            <a:endParaRPr lang="en-US" dirty="0"/>
          </a:p>
          <a:p>
            <a:pPr lvl="1"/>
            <a:r>
              <a:rPr lang="en-US" dirty="0"/>
              <a:t>The code and dataflow are as shown</a:t>
            </a:r>
          </a:p>
          <a:p>
            <a:pPr lvl="2"/>
            <a:endParaRPr lang="en-US" sz="1400" dirty="0"/>
          </a:p>
          <a:p>
            <a:pPr lvl="2"/>
            <a:endParaRPr lang="en-US" sz="1400" dirty="0"/>
          </a:p>
          <a:p>
            <a:pPr lvl="2"/>
            <a:endParaRPr lang="en-US" sz="1400" dirty="0"/>
          </a:p>
          <a:p>
            <a:pPr lvl="2"/>
            <a:endParaRPr lang="en-US" dirty="0"/>
          </a:p>
          <a:p>
            <a:pPr lvl="2"/>
            <a:endParaRPr lang="en-US" dirty="0"/>
          </a:p>
          <a:p>
            <a:r>
              <a:rPr lang="en-US" sz="2000" dirty="0"/>
              <a:t>Vitis HLS will schedule the design</a:t>
            </a:r>
          </a:p>
          <a:p>
            <a:endParaRPr lang="en-US" dirty="0"/>
          </a:p>
          <a:p>
            <a:pPr lvl="1"/>
            <a:endParaRPr lang="en-US" dirty="0"/>
          </a:p>
          <a:p>
            <a:r>
              <a:rPr lang="en-US" sz="2000" dirty="0"/>
              <a:t>It can also automatically optimize the dataflow for throughput</a:t>
            </a:r>
          </a:p>
          <a:p>
            <a:pPr lvl="1"/>
            <a:endParaRPr lang="en-US" sz="1600" dirty="0"/>
          </a:p>
          <a:p>
            <a:pPr lvl="1"/>
            <a:endParaRPr lang="en-US" dirty="0"/>
          </a:p>
          <a:p>
            <a:pPr lvl="1">
              <a:buNone/>
            </a:pPr>
            <a:endParaRPr lang="en-US" dirty="0"/>
          </a:p>
        </p:txBody>
      </p:sp>
      <p:sp>
        <p:nvSpPr>
          <p:cNvPr id="192" name="Slide Number Placeholder 191"/>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41</a:t>
            </a:fld>
            <a:endParaRPr lang="en-US" dirty="0"/>
          </a:p>
        </p:txBody>
      </p:sp>
      <p:pic>
        <p:nvPicPr>
          <p:cNvPr id="45058" name="Picture 2"/>
          <p:cNvPicPr>
            <a:picLocks noChangeAspect="1" noChangeArrowheads="1"/>
          </p:cNvPicPr>
          <p:nvPr/>
        </p:nvPicPr>
        <p:blipFill>
          <a:blip r:embed="rId3"/>
          <a:srcRect/>
          <a:stretch>
            <a:fillRect/>
          </a:stretch>
        </p:blipFill>
        <p:spPr bwMode="auto">
          <a:xfrm>
            <a:off x="1419314" y="2173288"/>
            <a:ext cx="8754977" cy="1406408"/>
          </a:xfrm>
          <a:prstGeom prst="rect">
            <a:avLst/>
          </a:prstGeom>
        </p:spPr>
      </p:pic>
      <p:pic>
        <p:nvPicPr>
          <p:cNvPr id="45059" name="Picture 3"/>
          <p:cNvPicPr>
            <a:picLocks noChangeAspect="1" noChangeArrowheads="1"/>
          </p:cNvPicPr>
          <p:nvPr/>
        </p:nvPicPr>
        <p:blipFill>
          <a:blip r:embed="rId4"/>
          <a:srcRect/>
          <a:stretch>
            <a:fillRect/>
          </a:stretch>
        </p:blipFill>
        <p:spPr bwMode="auto">
          <a:xfrm>
            <a:off x="1919518" y="4008635"/>
            <a:ext cx="7465167" cy="834394"/>
          </a:xfrm>
          <a:prstGeom prst="rect">
            <a:avLst/>
          </a:prstGeom>
          <a:noFill/>
          <a:ln w="9525">
            <a:noFill/>
            <a:miter lim="800000"/>
            <a:headEnd/>
            <a:tailEnd/>
          </a:ln>
        </p:spPr>
      </p:pic>
      <p:pic>
        <p:nvPicPr>
          <p:cNvPr id="45060" name="Picture 4"/>
          <p:cNvPicPr>
            <a:picLocks noChangeAspect="1" noChangeArrowheads="1"/>
          </p:cNvPicPr>
          <p:nvPr/>
        </p:nvPicPr>
        <p:blipFill>
          <a:blip r:embed="rId5"/>
          <a:srcRect/>
          <a:stretch>
            <a:fillRect/>
          </a:stretch>
        </p:blipFill>
        <p:spPr bwMode="auto">
          <a:xfrm>
            <a:off x="1419314" y="5337493"/>
            <a:ext cx="8465577" cy="1104132"/>
          </a:xfrm>
          <a:prstGeom prst="rect">
            <a:avLst/>
          </a:prstGeom>
          <a:noFill/>
          <a:ln w="9525">
            <a:noFill/>
            <a:miter lim="800000"/>
            <a:headEnd/>
            <a:tailEnd/>
          </a:ln>
        </p:spPr>
      </p:pic>
    </p:spTree>
  </p:cSld>
  <p:clrMapOvr>
    <a:masterClrMapping/>
  </p:clrMapOvr>
  <p:transition advClick="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Dataflow Optimization</a:t>
            </a:r>
          </a:p>
        </p:txBody>
      </p:sp>
      <p:sp>
        <p:nvSpPr>
          <p:cNvPr id="3" name="Content Placeholder 2"/>
          <p:cNvSpPr>
            <a:spLocks noGrp="1"/>
          </p:cNvSpPr>
          <p:nvPr>
            <p:ph idx="1"/>
          </p:nvPr>
        </p:nvSpPr>
        <p:spPr/>
        <p:txBody>
          <a:bodyPr>
            <a:normAutofit fontScale="70000" lnSpcReduction="20000"/>
          </a:bodyPr>
          <a:lstStyle/>
          <a:p>
            <a:r>
              <a:rPr lang="en-US" sz="2200" dirty="0"/>
              <a:t>Dataflow Optimization</a:t>
            </a:r>
          </a:p>
          <a:p>
            <a:pPr lvl="1"/>
            <a:r>
              <a:rPr lang="en-US" sz="1900" dirty="0"/>
              <a:t>Can be used at the </a:t>
            </a:r>
            <a:r>
              <a:rPr lang="en-US" sz="1900" u="sng" dirty="0"/>
              <a:t>top-level function</a:t>
            </a:r>
          </a:p>
          <a:p>
            <a:pPr lvl="1"/>
            <a:r>
              <a:rPr lang="en-US" sz="1900" dirty="0"/>
              <a:t>Allows blocks of code to operate concurrently</a:t>
            </a:r>
          </a:p>
          <a:p>
            <a:pPr lvl="2"/>
            <a:r>
              <a:rPr lang="en-US" sz="1700" dirty="0"/>
              <a:t>The blocks can be </a:t>
            </a:r>
            <a:r>
              <a:rPr lang="en-US" sz="1700" u="sng" dirty="0"/>
              <a:t>functions or loops</a:t>
            </a:r>
          </a:p>
          <a:p>
            <a:pPr lvl="2"/>
            <a:r>
              <a:rPr lang="en-US" sz="1700" dirty="0"/>
              <a:t>Dataflow allows loops to operate concurrently </a:t>
            </a:r>
          </a:p>
          <a:p>
            <a:pPr lvl="1"/>
            <a:r>
              <a:rPr lang="en-US" sz="1900" dirty="0"/>
              <a:t>It places channels between the blocks to maintain the data rate</a:t>
            </a:r>
          </a:p>
          <a:p>
            <a:pPr lvl="1"/>
            <a:endParaRPr lang="en-US" dirty="0"/>
          </a:p>
          <a:p>
            <a:endParaRPr lang="en-US" dirty="0"/>
          </a:p>
          <a:p>
            <a:endParaRPr lang="en-US" dirty="0"/>
          </a:p>
          <a:p>
            <a:endParaRPr lang="en-US" dirty="0"/>
          </a:p>
          <a:p>
            <a:pPr lvl="2"/>
            <a:r>
              <a:rPr lang="en-US" sz="1700" dirty="0"/>
              <a:t>For arrays the channels will include memory elements to buffer the samples</a:t>
            </a:r>
          </a:p>
          <a:p>
            <a:pPr lvl="2"/>
            <a:r>
              <a:rPr lang="en-US" sz="1700" dirty="0"/>
              <a:t>For scalars the channel is a register with hand-shakes</a:t>
            </a:r>
          </a:p>
          <a:p>
            <a:r>
              <a:rPr lang="en-US" sz="2200" dirty="0"/>
              <a:t>Dataflow optimization therefore has an area overhead</a:t>
            </a:r>
          </a:p>
          <a:p>
            <a:pPr lvl="1"/>
            <a:r>
              <a:rPr lang="en-US" sz="1900" dirty="0"/>
              <a:t>Additional memory blocks are added to the design </a:t>
            </a:r>
          </a:p>
          <a:p>
            <a:pPr lvl="1"/>
            <a:r>
              <a:rPr lang="en-US" sz="1900" dirty="0"/>
              <a:t>The timing diagram on the previous page should have a memory access delay between the blocks </a:t>
            </a:r>
          </a:p>
          <a:p>
            <a:pPr lvl="2"/>
            <a:r>
              <a:rPr lang="en-US" sz="1700" dirty="0"/>
              <a:t>Not shown to keep explanation of the principle clear</a:t>
            </a:r>
          </a:p>
        </p:txBody>
      </p:sp>
      <p:sp>
        <p:nvSpPr>
          <p:cNvPr id="26" name="Slide Number Placeholder 2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42</a:t>
            </a:fld>
            <a:endParaRPr lang="en-US" dirty="0"/>
          </a:p>
        </p:txBody>
      </p:sp>
      <p:pic>
        <p:nvPicPr>
          <p:cNvPr id="46083" name="Picture 3"/>
          <p:cNvPicPr>
            <a:picLocks noChangeAspect="1" noChangeArrowheads="1"/>
          </p:cNvPicPr>
          <p:nvPr/>
        </p:nvPicPr>
        <p:blipFill>
          <a:blip r:embed="rId2"/>
          <a:srcRect/>
          <a:stretch>
            <a:fillRect/>
          </a:stretch>
        </p:blipFill>
        <p:spPr bwMode="auto">
          <a:xfrm>
            <a:off x="3219450" y="2968625"/>
            <a:ext cx="5753100" cy="133350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Dataflow Optimization Commands</a:t>
            </a:r>
          </a:p>
        </p:txBody>
      </p:sp>
      <p:sp>
        <p:nvSpPr>
          <p:cNvPr id="3" name="Content Placeholder 2"/>
          <p:cNvSpPr>
            <a:spLocks noGrp="1"/>
          </p:cNvSpPr>
          <p:nvPr>
            <p:ph idx="1"/>
          </p:nvPr>
        </p:nvSpPr>
        <p:spPr/>
        <p:txBody>
          <a:bodyPr>
            <a:normAutofit/>
          </a:bodyPr>
          <a:lstStyle/>
          <a:p>
            <a:r>
              <a:rPr lang="en-US" dirty="0"/>
              <a:t>Dataflow is set using a directive</a:t>
            </a:r>
          </a:p>
          <a:p>
            <a:pPr lvl="1"/>
            <a:r>
              <a:rPr lang="en-US" dirty="0"/>
              <a:t>Vitis HLS will seek to create the highest performance design</a:t>
            </a:r>
          </a:p>
          <a:p>
            <a:pPr lvl="2"/>
            <a:r>
              <a:rPr lang="en-US" dirty="0"/>
              <a:t>Throughput of 1</a:t>
            </a:r>
          </a:p>
          <a:p>
            <a:pPr lvl="2"/>
            <a:endParaRPr lang="en-US" dirty="0"/>
          </a:p>
        </p:txBody>
      </p:sp>
      <p:sp>
        <p:nvSpPr>
          <p:cNvPr id="8" name="Slide Number Placeholder 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43</a:t>
            </a:fld>
            <a:endParaRPr lang="en-US" dirty="0"/>
          </a:p>
        </p:txBody>
      </p:sp>
      <p:pic>
        <p:nvPicPr>
          <p:cNvPr id="6" name="图片 5" descr="图形用户界面, 应用程序&#10;&#10;描述已自动生成">
            <a:extLst>
              <a:ext uri="{FF2B5EF4-FFF2-40B4-BE49-F238E27FC236}">
                <a16:creationId xmlns:a16="http://schemas.microsoft.com/office/drawing/2014/main" id="{B7D212D8-76B4-4235-A00C-9E8204D55B30}"/>
              </a:ext>
            </a:extLst>
          </p:cNvPr>
          <p:cNvPicPr>
            <a:picLocks noChangeAspect="1"/>
          </p:cNvPicPr>
          <p:nvPr/>
        </p:nvPicPr>
        <p:blipFill>
          <a:blip r:embed="rId2"/>
          <a:stretch>
            <a:fillRect/>
          </a:stretch>
        </p:blipFill>
        <p:spPr>
          <a:xfrm>
            <a:off x="4265948" y="2937867"/>
            <a:ext cx="3419475" cy="18097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Dataflow Optimization Commands</a:t>
            </a:r>
          </a:p>
        </p:txBody>
      </p:sp>
      <p:sp>
        <p:nvSpPr>
          <p:cNvPr id="3" name="Content Placeholder 2"/>
          <p:cNvSpPr>
            <a:spLocks noGrp="1"/>
          </p:cNvSpPr>
          <p:nvPr>
            <p:ph idx="1"/>
          </p:nvPr>
        </p:nvSpPr>
        <p:spPr/>
        <p:txBody>
          <a:bodyPr>
            <a:normAutofit/>
          </a:bodyPr>
          <a:lstStyle/>
          <a:p>
            <a:r>
              <a:rPr lang="en-US" dirty="0"/>
              <a:t>Dataflow is set using a directive</a:t>
            </a:r>
          </a:p>
          <a:p>
            <a:pPr lvl="1"/>
            <a:r>
              <a:rPr lang="en-US" dirty="0" err="1"/>
              <a:t>Vivado</a:t>
            </a:r>
            <a:r>
              <a:rPr lang="en-US" dirty="0"/>
              <a:t> HLS will seek to create the highest performance design</a:t>
            </a:r>
          </a:p>
          <a:p>
            <a:pPr lvl="2"/>
            <a:r>
              <a:rPr lang="en-US" dirty="0"/>
              <a:t>Throughput of 1</a:t>
            </a:r>
          </a:p>
          <a:p>
            <a:pPr lvl="2"/>
            <a:endParaRPr lang="en-US" dirty="0"/>
          </a:p>
        </p:txBody>
      </p:sp>
      <p:sp>
        <p:nvSpPr>
          <p:cNvPr id="8" name="Slide Number Placeholder 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44</a:t>
            </a:fld>
            <a:endParaRPr lang="en-US" dirty="0"/>
          </a:p>
        </p:txBody>
      </p:sp>
      <p:pic>
        <p:nvPicPr>
          <p:cNvPr id="4" name="Picture 3">
            <a:extLst>
              <a:ext uri="{FF2B5EF4-FFF2-40B4-BE49-F238E27FC236}">
                <a16:creationId xmlns:a16="http://schemas.microsoft.com/office/drawing/2014/main" id="{25A7F9AE-DBFE-4A18-B953-B35B67A0C0ED}"/>
              </a:ext>
            </a:extLst>
          </p:cNvPr>
          <p:cNvPicPr>
            <a:picLocks noChangeAspect="1"/>
          </p:cNvPicPr>
          <p:nvPr/>
        </p:nvPicPr>
        <p:blipFill>
          <a:blip r:embed="rId2"/>
          <a:stretch>
            <a:fillRect/>
          </a:stretch>
        </p:blipFill>
        <p:spPr>
          <a:xfrm>
            <a:off x="3999631" y="2724481"/>
            <a:ext cx="3190875" cy="1790700"/>
          </a:xfrm>
          <a:prstGeom prst="rect">
            <a:avLst/>
          </a:prstGeom>
        </p:spPr>
      </p:pic>
    </p:spTree>
    <p:extLst>
      <p:ext uri="{BB962C8B-B14F-4D97-AF65-F5344CB8AC3E}">
        <p14:creationId xmlns:p14="http://schemas.microsoft.com/office/powerpoint/2010/main" val="33019221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Dataflow Optimization through Configuration Command</a:t>
            </a:r>
          </a:p>
        </p:txBody>
      </p:sp>
      <p:sp>
        <p:nvSpPr>
          <p:cNvPr id="3" name="Content Placeholder 2"/>
          <p:cNvSpPr>
            <a:spLocks noGrp="1"/>
          </p:cNvSpPr>
          <p:nvPr>
            <p:ph idx="1"/>
          </p:nvPr>
        </p:nvSpPr>
        <p:spPr>
          <a:xfrm>
            <a:off x="636168" y="1271934"/>
            <a:ext cx="10512862" cy="4759404"/>
          </a:xfrm>
        </p:spPr>
        <p:txBody>
          <a:bodyPr>
            <a:normAutofit fontScale="92500" lnSpcReduction="10000"/>
          </a:bodyPr>
          <a:lstStyle/>
          <a:p>
            <a:r>
              <a:rPr lang="en-US" dirty="0"/>
              <a:t>Configuring Dataflow Memories</a:t>
            </a:r>
          </a:p>
          <a:p>
            <a:pPr lvl="1"/>
            <a:r>
              <a:rPr lang="en-US" dirty="0"/>
              <a:t>Between functions Vitis HLS uses ping-pong memory buffers by default</a:t>
            </a:r>
          </a:p>
          <a:p>
            <a:pPr lvl="2"/>
            <a:r>
              <a:rPr lang="en-US" dirty="0"/>
              <a:t>The memory size is defined by the maximum number of producer or consumer elements</a:t>
            </a:r>
          </a:p>
          <a:p>
            <a:pPr lvl="1"/>
            <a:r>
              <a:rPr lang="en-US" dirty="0"/>
              <a:t>Between loops Vitis HLS will determine if a FIFO can be used in place of a ping-pong buffer</a:t>
            </a:r>
          </a:p>
          <a:p>
            <a:pPr lvl="1"/>
            <a:r>
              <a:rPr lang="en-US" dirty="0"/>
              <a:t>The memories can be specified to be FIFOs using the Dataflow Configuration </a:t>
            </a:r>
          </a:p>
          <a:p>
            <a:pPr lvl="2"/>
            <a:r>
              <a:rPr lang="en-US" dirty="0"/>
              <a:t>Menu: Solution &gt; Solution Settings &gt; </a:t>
            </a:r>
            <a:r>
              <a:rPr lang="en-US" dirty="0" err="1"/>
              <a:t>config_dataflow</a:t>
            </a:r>
            <a:endParaRPr lang="en-US" dirty="0"/>
          </a:p>
          <a:p>
            <a:pPr lvl="2"/>
            <a:r>
              <a:rPr lang="en-US" dirty="0"/>
              <a:t>With FIFOs the user can override the default size of the FIFO</a:t>
            </a:r>
          </a:p>
          <a:p>
            <a:pPr lvl="2"/>
            <a:r>
              <a:rPr lang="en-US" dirty="0"/>
              <a:t>Note: Setting the FIFO too small may result in an RTL verification failure</a:t>
            </a:r>
          </a:p>
          <a:p>
            <a:r>
              <a:rPr lang="en-US" dirty="0"/>
              <a:t>Individual Memory Control</a:t>
            </a:r>
          </a:p>
          <a:p>
            <a:pPr lvl="1"/>
            <a:r>
              <a:rPr lang="en-US" dirty="0"/>
              <a:t>When the default is ping-pong</a:t>
            </a:r>
          </a:p>
          <a:p>
            <a:pPr lvl="2"/>
            <a:r>
              <a:rPr lang="en-US" dirty="0"/>
              <a:t>Select an array and mark it as Streaming (directive STREAM) to implement the array as a FIFO</a:t>
            </a:r>
          </a:p>
          <a:p>
            <a:pPr lvl="1"/>
            <a:r>
              <a:rPr lang="en-US" dirty="0"/>
              <a:t>When the default is FIFO</a:t>
            </a:r>
          </a:p>
          <a:p>
            <a:pPr lvl="2"/>
            <a:r>
              <a:rPr lang="en-US" dirty="0"/>
              <a:t>Select an array and mark it as Streaming (directive STREAM) with option “off” to implement the array as a ping-pong</a:t>
            </a:r>
          </a:p>
        </p:txBody>
      </p:sp>
      <p:sp>
        <p:nvSpPr>
          <p:cNvPr id="9" name="Slide Number Placeholder 8"/>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45</a:t>
            </a:fld>
            <a:endParaRPr lang="en-US" dirty="0"/>
          </a:p>
        </p:txBody>
      </p:sp>
      <p:sp>
        <p:nvSpPr>
          <p:cNvPr id="25" name="TextBox 24"/>
          <p:cNvSpPr txBox="1"/>
          <p:nvPr/>
        </p:nvSpPr>
        <p:spPr>
          <a:xfrm>
            <a:off x="2293407" y="5653857"/>
            <a:ext cx="7605187" cy="738664"/>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defTabSz="457200"/>
            <a:r>
              <a:rPr lang="en-US" sz="1400" b="1" dirty="0">
                <a:solidFill>
                  <a:prstClr val="black"/>
                </a:solidFill>
                <a:ea typeface="ＭＳ Ｐゴシック" pitchFamily="34" charset="-128"/>
                <a:cs typeface="Arial" charset="0"/>
              </a:rPr>
              <a:t>To use FIFO’s the access must be sequential. If HLS determines that the access is </a:t>
            </a:r>
            <a:r>
              <a:rPr lang="en-US" sz="1400" b="1" u="sng" dirty="0">
                <a:solidFill>
                  <a:prstClr val="black"/>
                </a:solidFill>
                <a:ea typeface="ＭＳ Ｐゴシック" pitchFamily="34" charset="-128"/>
                <a:cs typeface="Arial" charset="0"/>
              </a:rPr>
              <a:t>not sequential </a:t>
            </a:r>
            <a:r>
              <a:rPr lang="en-US" sz="1400" b="1" dirty="0">
                <a:solidFill>
                  <a:prstClr val="black"/>
                </a:solidFill>
                <a:ea typeface="ＭＳ Ｐゴシック" pitchFamily="34" charset="-128"/>
                <a:cs typeface="Arial" charset="0"/>
              </a:rPr>
              <a:t>then it will halt and issue a message. If HLS can not determine the sequential nature then it will issue warning and continue.</a:t>
            </a:r>
          </a:p>
        </p:txBody>
      </p:sp>
      <p:pic>
        <p:nvPicPr>
          <p:cNvPr id="6" name="图片 5" descr="图形用户界面&#10;&#10;低可信度描述已自动生成">
            <a:extLst>
              <a:ext uri="{FF2B5EF4-FFF2-40B4-BE49-F238E27FC236}">
                <a16:creationId xmlns:a16="http://schemas.microsoft.com/office/drawing/2014/main" id="{976635C9-2FE4-479A-9471-75BADF04883B}"/>
              </a:ext>
            </a:extLst>
          </p:cNvPr>
          <p:cNvPicPr>
            <a:picLocks noChangeAspect="1"/>
          </p:cNvPicPr>
          <p:nvPr/>
        </p:nvPicPr>
        <p:blipFill>
          <a:blip r:embed="rId2"/>
          <a:stretch>
            <a:fillRect/>
          </a:stretch>
        </p:blipFill>
        <p:spPr>
          <a:xfrm>
            <a:off x="8515035" y="2965836"/>
            <a:ext cx="2646947" cy="137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Dataflow Optimization through Configuration Command</a:t>
            </a:r>
          </a:p>
        </p:txBody>
      </p:sp>
      <p:sp>
        <p:nvSpPr>
          <p:cNvPr id="3" name="Content Placeholder 2"/>
          <p:cNvSpPr>
            <a:spLocks noGrp="1"/>
          </p:cNvSpPr>
          <p:nvPr>
            <p:ph idx="1"/>
          </p:nvPr>
        </p:nvSpPr>
        <p:spPr>
          <a:xfrm>
            <a:off x="636168" y="1271934"/>
            <a:ext cx="10512862" cy="4759404"/>
          </a:xfrm>
        </p:spPr>
        <p:txBody>
          <a:bodyPr>
            <a:normAutofit fontScale="92500" lnSpcReduction="10000"/>
          </a:bodyPr>
          <a:lstStyle/>
          <a:p>
            <a:r>
              <a:rPr lang="en-US" dirty="0"/>
              <a:t>Configuring Dataflow Memories</a:t>
            </a:r>
          </a:p>
          <a:p>
            <a:pPr lvl="1"/>
            <a:r>
              <a:rPr lang="en-US" dirty="0"/>
              <a:t>Between functions </a:t>
            </a:r>
            <a:r>
              <a:rPr lang="en-US" dirty="0" err="1"/>
              <a:t>Vivado</a:t>
            </a:r>
            <a:r>
              <a:rPr lang="en-US" dirty="0"/>
              <a:t> HLS uses ping-pong memory buffers by default</a:t>
            </a:r>
          </a:p>
          <a:p>
            <a:pPr lvl="2"/>
            <a:r>
              <a:rPr lang="en-US" dirty="0"/>
              <a:t>The memory size is defined by the maximum number of producer or consumer elements</a:t>
            </a:r>
          </a:p>
          <a:p>
            <a:pPr lvl="1"/>
            <a:r>
              <a:rPr lang="en-US" dirty="0"/>
              <a:t>Between loops </a:t>
            </a:r>
            <a:r>
              <a:rPr lang="en-US" dirty="0" err="1"/>
              <a:t>Vivado</a:t>
            </a:r>
            <a:r>
              <a:rPr lang="en-US" dirty="0"/>
              <a:t> HLS will determine if a FIFO can be used in place of a ping-pong buffer</a:t>
            </a:r>
          </a:p>
          <a:p>
            <a:pPr lvl="1"/>
            <a:r>
              <a:rPr lang="en-US" dirty="0"/>
              <a:t>The memories can be specified to be FIFOs using the Dataflow Configuration </a:t>
            </a:r>
          </a:p>
          <a:p>
            <a:pPr lvl="2"/>
            <a:r>
              <a:rPr lang="en-US" dirty="0"/>
              <a:t>Menu: Solution &gt; Solution Settings &gt; </a:t>
            </a:r>
            <a:r>
              <a:rPr lang="en-US" dirty="0" err="1"/>
              <a:t>config_dataflow</a:t>
            </a:r>
            <a:endParaRPr lang="en-US" dirty="0"/>
          </a:p>
          <a:p>
            <a:pPr lvl="2"/>
            <a:r>
              <a:rPr lang="en-US" dirty="0"/>
              <a:t>With FIFOs the user can override the default size of the FIFO</a:t>
            </a:r>
          </a:p>
          <a:p>
            <a:pPr lvl="2"/>
            <a:r>
              <a:rPr lang="en-US" dirty="0"/>
              <a:t>Note: Setting the FIFO too small may result in an RTL verification failure</a:t>
            </a:r>
          </a:p>
          <a:p>
            <a:r>
              <a:rPr lang="en-US" dirty="0"/>
              <a:t>Individual Memory Control</a:t>
            </a:r>
          </a:p>
          <a:p>
            <a:pPr lvl="1"/>
            <a:r>
              <a:rPr lang="en-US" dirty="0"/>
              <a:t>When the default is ping-pong</a:t>
            </a:r>
          </a:p>
          <a:p>
            <a:pPr lvl="2"/>
            <a:r>
              <a:rPr lang="en-US" dirty="0"/>
              <a:t>Select an array and mark it as Streaming (directive STREAM) to implement the array as a FIFO</a:t>
            </a:r>
          </a:p>
          <a:p>
            <a:pPr lvl="1"/>
            <a:r>
              <a:rPr lang="en-US" dirty="0"/>
              <a:t>When the default is FIFO</a:t>
            </a:r>
          </a:p>
          <a:p>
            <a:pPr lvl="2"/>
            <a:r>
              <a:rPr lang="en-US" dirty="0"/>
              <a:t>Select an array and mark it as Streaming (directive STREAM) with option “off” to implement the array as a ping-pong</a:t>
            </a:r>
          </a:p>
        </p:txBody>
      </p:sp>
      <p:sp>
        <p:nvSpPr>
          <p:cNvPr id="9" name="Slide Number Placeholder 8"/>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46</a:t>
            </a:fld>
            <a:endParaRPr lang="en-US" dirty="0"/>
          </a:p>
        </p:txBody>
      </p:sp>
      <p:sp>
        <p:nvSpPr>
          <p:cNvPr id="25" name="TextBox 24"/>
          <p:cNvSpPr txBox="1"/>
          <p:nvPr/>
        </p:nvSpPr>
        <p:spPr>
          <a:xfrm>
            <a:off x="2293407" y="5653857"/>
            <a:ext cx="7605187" cy="738664"/>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defTabSz="457200"/>
            <a:r>
              <a:rPr lang="en-US" sz="1400" b="1" dirty="0">
                <a:solidFill>
                  <a:prstClr val="black"/>
                </a:solidFill>
                <a:ea typeface="ＭＳ Ｐゴシック" pitchFamily="34" charset="-128"/>
                <a:cs typeface="Arial" charset="0"/>
              </a:rPr>
              <a:t>To use FIFO’s the access must be sequential. If HLS determines that the access is </a:t>
            </a:r>
            <a:r>
              <a:rPr lang="en-US" sz="1400" b="1" u="sng" dirty="0">
                <a:solidFill>
                  <a:prstClr val="black"/>
                </a:solidFill>
                <a:ea typeface="ＭＳ Ｐゴシック" pitchFamily="34" charset="-128"/>
                <a:cs typeface="Arial" charset="0"/>
              </a:rPr>
              <a:t>not sequential </a:t>
            </a:r>
            <a:r>
              <a:rPr lang="en-US" sz="1400" b="1" dirty="0">
                <a:solidFill>
                  <a:prstClr val="black"/>
                </a:solidFill>
                <a:ea typeface="ＭＳ Ｐゴシック" pitchFamily="34" charset="-128"/>
                <a:cs typeface="Arial" charset="0"/>
              </a:rPr>
              <a:t>then it will halt and issue a message. If HLS can not determine the sequential nature then it will issue warning and continue.</a:t>
            </a:r>
          </a:p>
        </p:txBody>
      </p:sp>
      <p:pic>
        <p:nvPicPr>
          <p:cNvPr id="4" name="Picture 3">
            <a:extLst>
              <a:ext uri="{FF2B5EF4-FFF2-40B4-BE49-F238E27FC236}">
                <a16:creationId xmlns:a16="http://schemas.microsoft.com/office/drawing/2014/main" id="{DDD3F7D1-D66F-4ECC-8381-7B68EB718058}"/>
              </a:ext>
            </a:extLst>
          </p:cNvPr>
          <p:cNvPicPr>
            <a:picLocks noChangeAspect="1"/>
          </p:cNvPicPr>
          <p:nvPr/>
        </p:nvPicPr>
        <p:blipFill>
          <a:blip r:embed="rId2"/>
          <a:stretch>
            <a:fillRect/>
          </a:stretch>
        </p:blipFill>
        <p:spPr>
          <a:xfrm>
            <a:off x="8700316" y="3076475"/>
            <a:ext cx="3355105" cy="1150322"/>
          </a:xfrm>
          <a:prstGeom prst="rect">
            <a:avLst/>
          </a:prstGeom>
        </p:spPr>
      </p:pic>
    </p:spTree>
    <p:extLst>
      <p:ext uri="{BB962C8B-B14F-4D97-AF65-F5344CB8AC3E}">
        <p14:creationId xmlns:p14="http://schemas.microsoft.com/office/powerpoint/2010/main" val="224761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Dataflow : Ideal for streaming arrays &amp; multi-rate functions</a:t>
            </a:r>
          </a:p>
        </p:txBody>
      </p:sp>
      <p:sp>
        <p:nvSpPr>
          <p:cNvPr id="3" name="Content Placeholder 2"/>
          <p:cNvSpPr>
            <a:spLocks noGrp="1"/>
          </p:cNvSpPr>
          <p:nvPr>
            <p:ph idx="1"/>
          </p:nvPr>
        </p:nvSpPr>
        <p:spPr>
          <a:xfrm>
            <a:off x="625311" y="1210056"/>
            <a:ext cx="10512862" cy="4759404"/>
          </a:xfrm>
        </p:spPr>
        <p:txBody>
          <a:bodyPr>
            <a:noAutofit/>
          </a:bodyPr>
          <a:lstStyle/>
          <a:p>
            <a:r>
              <a:rPr lang="en-US" sz="1600" dirty="0"/>
              <a:t>Arrays are passed as single entities by default</a:t>
            </a:r>
          </a:p>
          <a:p>
            <a:pPr lvl="1"/>
            <a:r>
              <a:rPr lang="en-US" sz="1400" dirty="0"/>
              <a:t>This example uses loops but the same principle applies to functions</a:t>
            </a:r>
          </a:p>
          <a:p>
            <a:pPr lvl="1"/>
            <a:endParaRPr lang="en-US" sz="1400" dirty="0"/>
          </a:p>
          <a:p>
            <a:pPr>
              <a:buNone/>
            </a:pPr>
            <a:r>
              <a:rPr lang="en-US" sz="1600" dirty="0"/>
              <a:t>	</a:t>
            </a:r>
          </a:p>
          <a:p>
            <a:pPr>
              <a:buNone/>
            </a:pPr>
            <a:endParaRPr lang="en-US" sz="1600" dirty="0"/>
          </a:p>
          <a:p>
            <a:pPr>
              <a:buNone/>
            </a:pPr>
            <a:endParaRPr lang="en-US" sz="1600" dirty="0"/>
          </a:p>
          <a:p>
            <a:r>
              <a:rPr lang="en-US" sz="1600" dirty="0"/>
              <a:t>Dataflow pipelining allows loop_2 to start when data is ready</a:t>
            </a:r>
          </a:p>
          <a:p>
            <a:pPr lvl="1"/>
            <a:r>
              <a:rPr lang="en-US" sz="1400" dirty="0"/>
              <a:t>The throughput is improved</a:t>
            </a:r>
          </a:p>
          <a:p>
            <a:pPr lvl="1"/>
            <a:r>
              <a:rPr lang="en-US" sz="1400" dirty="0"/>
              <a:t>Loops will operate in parallel </a:t>
            </a:r>
          </a:p>
          <a:p>
            <a:pPr lvl="2"/>
            <a:r>
              <a:rPr lang="en-US" sz="1200" dirty="0"/>
              <a:t>If dependencies allow</a:t>
            </a:r>
          </a:p>
          <a:p>
            <a:r>
              <a:rPr lang="en-US" sz="1600" dirty="0"/>
              <a:t>Multi-Rate Functions</a:t>
            </a:r>
          </a:p>
          <a:p>
            <a:pPr lvl="1"/>
            <a:r>
              <a:rPr lang="en-US" sz="1400" dirty="0"/>
              <a:t>Dataflow buffers data when one function or loop consumes or produces data at different rate from others</a:t>
            </a:r>
          </a:p>
          <a:p>
            <a:r>
              <a:rPr lang="en-US" sz="1600" dirty="0"/>
              <a:t>IO flow support</a:t>
            </a:r>
          </a:p>
          <a:p>
            <a:pPr lvl="1"/>
            <a:r>
              <a:rPr lang="en-US" sz="1400" dirty="0"/>
              <a:t>To take maximum advantage of dataflow in streaming designs, the IO interfaces at both ends of the datapath should be streaming/handshake types (ap_hs or ap_fifo)</a:t>
            </a:r>
          </a:p>
        </p:txBody>
      </p:sp>
      <p:sp>
        <p:nvSpPr>
          <p:cNvPr id="116" name="Slide Number Placeholder 11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47</a:t>
            </a:fld>
            <a:endParaRPr lang="en-US" dirty="0"/>
          </a:p>
        </p:txBody>
      </p:sp>
      <p:pic>
        <p:nvPicPr>
          <p:cNvPr id="77825" name="Picture 1"/>
          <p:cNvPicPr>
            <a:picLocks noChangeAspect="1" noChangeArrowheads="1"/>
          </p:cNvPicPr>
          <p:nvPr/>
        </p:nvPicPr>
        <p:blipFill>
          <a:blip r:embed="rId2"/>
          <a:srcRect/>
          <a:stretch>
            <a:fillRect/>
          </a:stretch>
        </p:blipFill>
        <p:spPr bwMode="auto">
          <a:xfrm>
            <a:off x="7757306" y="3676613"/>
            <a:ext cx="2492375" cy="1189037"/>
          </a:xfrm>
          <a:prstGeom prst="rect">
            <a:avLst/>
          </a:prstGeom>
          <a:noFill/>
          <a:ln w="9525">
            <a:noFill/>
            <a:miter lim="800000"/>
            <a:headEnd/>
            <a:tailEnd/>
          </a:ln>
        </p:spPr>
      </p:pic>
      <p:pic>
        <p:nvPicPr>
          <p:cNvPr id="77826" name="Picture 2"/>
          <p:cNvPicPr>
            <a:picLocks noChangeAspect="1" noChangeArrowheads="1"/>
          </p:cNvPicPr>
          <p:nvPr/>
        </p:nvPicPr>
        <p:blipFill>
          <a:blip r:embed="rId3"/>
          <a:srcRect/>
          <a:stretch>
            <a:fillRect/>
          </a:stretch>
        </p:blipFill>
        <p:spPr bwMode="auto">
          <a:xfrm>
            <a:off x="2624138" y="1980421"/>
            <a:ext cx="6991350" cy="1470109"/>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Dataflow Limitations (1)</a:t>
            </a:r>
          </a:p>
        </p:txBody>
      </p:sp>
      <p:sp>
        <p:nvSpPr>
          <p:cNvPr id="2" name="Content Placeholder 1"/>
          <p:cNvSpPr>
            <a:spLocks noGrp="1"/>
          </p:cNvSpPr>
          <p:nvPr>
            <p:ph idx="1"/>
          </p:nvPr>
        </p:nvSpPr>
        <p:spPr/>
        <p:txBody>
          <a:bodyPr/>
          <a:lstStyle/>
          <a:p>
            <a:r>
              <a:rPr lang="en-US" dirty="0"/>
              <a:t>Must be single producer consumer; the following code violates the rule and dataflow does not work</a:t>
            </a:r>
          </a:p>
          <a:p>
            <a:endParaRPr lang="en-US" dirty="0"/>
          </a:p>
          <a:p>
            <a:endParaRPr lang="en-US" dirty="0"/>
          </a:p>
        </p:txBody>
      </p:sp>
      <p:sp>
        <p:nvSpPr>
          <p:cNvPr id="5" name="Slide Number Placeholder 4"/>
          <p:cNvSpPr>
            <a:spLocks noGrp="1"/>
          </p:cNvSpPr>
          <p:nvPr>
            <p:ph type="sldNum" sz="quarter" idx="10"/>
          </p:nvPr>
        </p:nvSpPr>
        <p:spPr/>
        <p:txBody>
          <a:bodyPr/>
          <a:lstStyle/>
          <a:p>
            <a:pPr>
              <a:defRPr/>
            </a:pPr>
            <a:r>
              <a:rPr lang="en-US" dirty="0"/>
              <a:t>Improving Performance 13- </a:t>
            </a:r>
            <a:fld id="{99D29FBF-A473-46DA-BC14-675AC1C8F9A5}" type="slidenum">
              <a:rPr lang="en-US" smtClean="0"/>
              <a:pPr>
                <a:defRPr/>
              </a:pPr>
              <a:t>48</a:t>
            </a:fld>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4672" y="2291878"/>
            <a:ext cx="7000000" cy="2733333"/>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1" y="2718721"/>
            <a:ext cx="5971429" cy="3590476"/>
          </a:xfrm>
          <a:prstGeom prst="rect">
            <a:avLst/>
          </a:prstGeom>
        </p:spPr>
      </p:pic>
      <p:sp>
        <p:nvSpPr>
          <p:cNvPr id="8" name="TextBox 7"/>
          <p:cNvSpPr txBox="1"/>
          <p:nvPr/>
        </p:nvSpPr>
        <p:spPr bwMode="auto">
          <a:xfrm>
            <a:off x="8903300" y="2416948"/>
            <a:ext cx="9002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45720" rIns="91440" bIns="45720" numCol="1" rtlCol="0" anchor="t" anchorCtr="0" compatLnSpc="1">
            <a:prstTxWarp prst="textNoShape">
              <a:avLst/>
            </a:prstTxWarp>
            <a:spAutoFit/>
          </a:bodyPr>
          <a:lstStyle/>
          <a:p>
            <a:pPr>
              <a:lnSpc>
                <a:spcPct val="100000"/>
              </a:lnSpc>
            </a:pPr>
            <a:r>
              <a:rPr lang="en-US" b="1" kern="0" dirty="0">
                <a:solidFill>
                  <a:schemeClr val="tx1">
                    <a:lumMod val="75000"/>
                    <a:lumOff val="25000"/>
                  </a:schemeClr>
                </a:solidFill>
              </a:rPr>
              <a:t>The Fix</a:t>
            </a:r>
          </a:p>
        </p:txBody>
      </p:sp>
    </p:spTree>
    <p:extLst>
      <p:ext uri="{BB962C8B-B14F-4D97-AF65-F5344CB8AC3E}">
        <p14:creationId xmlns:p14="http://schemas.microsoft.com/office/powerpoint/2010/main" val="1544390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Dataflow Limitations (2)</a:t>
            </a:r>
          </a:p>
        </p:txBody>
      </p:sp>
      <p:sp>
        <p:nvSpPr>
          <p:cNvPr id="2" name="Content Placeholder 1"/>
          <p:cNvSpPr>
            <a:spLocks noGrp="1"/>
          </p:cNvSpPr>
          <p:nvPr>
            <p:ph idx="1"/>
          </p:nvPr>
        </p:nvSpPr>
        <p:spPr>
          <a:xfrm>
            <a:off x="602076" y="1263375"/>
            <a:ext cx="10515600" cy="4759404"/>
          </a:xfrm>
        </p:spPr>
        <p:txBody>
          <a:bodyPr/>
          <a:lstStyle/>
          <a:p>
            <a:r>
              <a:rPr lang="en-US" dirty="0"/>
              <a:t>You cannot bypass a task; the following code violates this rule and dataflow does not work</a:t>
            </a:r>
          </a:p>
          <a:p>
            <a:endParaRPr lang="en-US" dirty="0"/>
          </a:p>
        </p:txBody>
      </p:sp>
      <p:sp>
        <p:nvSpPr>
          <p:cNvPr id="5" name="Slide Number Placeholder 4"/>
          <p:cNvSpPr>
            <a:spLocks noGrp="1"/>
          </p:cNvSpPr>
          <p:nvPr>
            <p:ph type="sldNum" sz="quarter" idx="10"/>
          </p:nvPr>
        </p:nvSpPr>
        <p:spPr/>
        <p:txBody>
          <a:bodyPr/>
          <a:lstStyle/>
          <a:p>
            <a:pPr>
              <a:defRPr/>
            </a:pPr>
            <a:r>
              <a:rPr lang="en-US" dirty="0"/>
              <a:t>Improving Performance 13- </a:t>
            </a:r>
            <a:fld id="{99D29FBF-A473-46DA-BC14-675AC1C8F9A5}" type="slidenum">
              <a:rPr lang="en-US" smtClean="0"/>
              <a:pPr>
                <a:defRPr/>
              </a:pPr>
              <a:t>49</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1948" y="2146490"/>
            <a:ext cx="6414316" cy="259088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6605" y="3167208"/>
            <a:ext cx="7123809" cy="3247619"/>
          </a:xfrm>
          <a:prstGeom prst="rect">
            <a:avLst/>
          </a:prstGeom>
        </p:spPr>
      </p:pic>
      <p:sp>
        <p:nvSpPr>
          <p:cNvPr id="10" name="TextBox 9"/>
          <p:cNvSpPr txBox="1"/>
          <p:nvPr/>
        </p:nvSpPr>
        <p:spPr bwMode="auto">
          <a:xfrm>
            <a:off x="7419552" y="2845592"/>
            <a:ext cx="41703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45720" rIns="91440" bIns="45720" numCol="1" rtlCol="0" anchor="t" anchorCtr="0" compatLnSpc="1">
            <a:prstTxWarp prst="textNoShape">
              <a:avLst/>
            </a:prstTxWarp>
            <a:spAutoFit/>
          </a:bodyPr>
          <a:lstStyle/>
          <a:p>
            <a:pPr>
              <a:lnSpc>
                <a:spcPct val="100000"/>
              </a:lnSpc>
            </a:pPr>
            <a:r>
              <a:rPr lang="en-US" b="1" dirty="0"/>
              <a:t>The fix: make it systolic like </a:t>
            </a:r>
            <a:r>
              <a:rPr lang="en-US" b="1" dirty="0" err="1"/>
              <a:t>datapath</a:t>
            </a:r>
            <a:endParaRPr lang="en-US" b="1" kern="0" dirty="0">
              <a:solidFill>
                <a:schemeClr val="tx1">
                  <a:lumMod val="75000"/>
                  <a:lumOff val="25000"/>
                </a:schemeClr>
              </a:solidFill>
            </a:endParaRPr>
          </a:p>
        </p:txBody>
      </p:sp>
    </p:spTree>
    <p:extLst>
      <p:ext uri="{BB962C8B-B14F-4D97-AF65-F5344CB8AC3E}">
        <p14:creationId xmlns:p14="http://schemas.microsoft.com/office/powerpoint/2010/main" val="34157349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Dataflow vs Pipelining Optimization</a:t>
            </a:r>
          </a:p>
        </p:txBody>
      </p:sp>
      <p:sp>
        <p:nvSpPr>
          <p:cNvPr id="3" name="Content Placeholder 2"/>
          <p:cNvSpPr>
            <a:spLocks noGrp="1"/>
          </p:cNvSpPr>
          <p:nvPr>
            <p:ph idx="1"/>
          </p:nvPr>
        </p:nvSpPr>
        <p:spPr/>
        <p:txBody>
          <a:bodyPr>
            <a:normAutofit lnSpcReduction="10000"/>
          </a:bodyPr>
          <a:lstStyle/>
          <a:p>
            <a:r>
              <a:rPr lang="en-US" dirty="0"/>
              <a:t>Dataflow Optimization</a:t>
            </a:r>
          </a:p>
          <a:p>
            <a:pPr lvl="1"/>
            <a:r>
              <a:rPr lang="en-US" dirty="0"/>
              <a:t>Dataflow optimization is “coarse grain” pipelining at the function and loop level</a:t>
            </a:r>
          </a:p>
          <a:p>
            <a:pPr lvl="1"/>
            <a:r>
              <a:rPr lang="en-US" dirty="0"/>
              <a:t>Increases concurrency between functions and loops</a:t>
            </a:r>
          </a:p>
          <a:p>
            <a:pPr lvl="1"/>
            <a:r>
              <a:rPr lang="en-US" dirty="0"/>
              <a:t>Only works on functions or loops at the top-level of the hierarchy</a:t>
            </a:r>
          </a:p>
          <a:p>
            <a:pPr lvl="2"/>
            <a:r>
              <a:rPr lang="en-US" dirty="0"/>
              <a:t>Cannot be used in sub-functions</a:t>
            </a:r>
          </a:p>
          <a:p>
            <a:endParaRPr lang="en-US" dirty="0"/>
          </a:p>
          <a:p>
            <a:r>
              <a:rPr lang="en-US" dirty="0"/>
              <a:t>Function &amp; Loop Pipelining</a:t>
            </a:r>
          </a:p>
          <a:p>
            <a:pPr lvl="1"/>
            <a:r>
              <a:rPr lang="en-US" dirty="0"/>
              <a:t>“Fine grain” pipelining at the level of the operators (*, +, &gt;&gt;, etc.)</a:t>
            </a:r>
          </a:p>
          <a:p>
            <a:pPr lvl="1"/>
            <a:r>
              <a:rPr lang="en-US" dirty="0"/>
              <a:t>Allows the operations inside the function or loop to operate in parallel</a:t>
            </a:r>
          </a:p>
          <a:p>
            <a:pPr lvl="1"/>
            <a:r>
              <a:rPr lang="en-US" dirty="0"/>
              <a:t>Unrolls all sub-loops inside the function or loop being pipelined</a:t>
            </a:r>
          </a:p>
          <a:p>
            <a:pPr lvl="2"/>
            <a:r>
              <a:rPr lang="en-US" dirty="0"/>
              <a:t>Loops with variable bounds cannot be unrolled: This can prevent pipelining</a:t>
            </a:r>
          </a:p>
          <a:p>
            <a:pPr lvl="2"/>
            <a:r>
              <a:rPr lang="en-US" dirty="0"/>
              <a:t>Unrolling loops increases the number of operations and can increase memory and run time</a:t>
            </a:r>
          </a:p>
        </p:txBody>
      </p:sp>
      <p:sp>
        <p:nvSpPr>
          <p:cNvPr id="6" name="Slide Number Placeholder 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Pipelining</a:t>
            </a:r>
          </a:p>
        </p:txBody>
      </p:sp>
      <p:sp>
        <p:nvSpPr>
          <p:cNvPr id="3" name="Content Placeholder 2"/>
          <p:cNvSpPr>
            <a:spLocks noGrp="1"/>
          </p:cNvSpPr>
          <p:nvPr>
            <p:ph idx="1"/>
          </p:nvPr>
        </p:nvSpPr>
        <p:spPr/>
        <p:txBody>
          <a:bodyPr>
            <a:noAutofit/>
          </a:bodyPr>
          <a:lstStyle/>
          <a:p>
            <a:r>
              <a:rPr lang="en-US" sz="1600" dirty="0"/>
              <a:t>There are 3 clock cycles before operation RD can occur again</a:t>
            </a:r>
            <a:endParaRPr lang="en-US" sz="1600" i="1" dirty="0"/>
          </a:p>
          <a:p>
            <a:pPr lvl="1"/>
            <a:r>
              <a:rPr lang="en-US" sz="1400" dirty="0"/>
              <a:t>Throughput = 3 cycles</a:t>
            </a:r>
          </a:p>
          <a:p>
            <a:r>
              <a:rPr lang="en-US" sz="1600" dirty="0"/>
              <a:t>There are 3 cycles before the 1</a:t>
            </a:r>
            <a:r>
              <a:rPr lang="en-US" sz="1600" baseline="30000" dirty="0"/>
              <a:t>st</a:t>
            </a:r>
            <a:r>
              <a:rPr lang="en-US" sz="1600" dirty="0"/>
              <a:t> output is written</a:t>
            </a:r>
          </a:p>
          <a:p>
            <a:pPr lvl="1"/>
            <a:r>
              <a:rPr lang="en-US" sz="1400" dirty="0"/>
              <a:t>Latency = 3 cycles</a:t>
            </a:r>
          </a:p>
        </p:txBody>
      </p:sp>
      <p:sp>
        <p:nvSpPr>
          <p:cNvPr id="96" name="Slide Number Placeholder 95"/>
          <p:cNvSpPr>
            <a:spLocks noGrp="1"/>
          </p:cNvSpPr>
          <p:nvPr>
            <p:ph type="sldNum" sz="quarter" idx="10"/>
          </p:nvPr>
        </p:nvSpPr>
        <p:spPr/>
        <p:txBody>
          <a:bodyPr/>
          <a:lstStyle/>
          <a:p>
            <a:pPr>
              <a:defRPr/>
            </a:pPr>
            <a:r>
              <a:rPr lang="en-US" dirty="0"/>
              <a:t>Improving Performance 13- </a:t>
            </a:r>
            <a:fld id="{99D29FBF-A473-46DA-BC14-675AC1C8F9A5}" type="slidenum">
              <a:rPr lang="en-US" smtClean="0"/>
              <a:pPr>
                <a:defRPr/>
              </a:pPr>
              <a:t>51</a:t>
            </a:fld>
            <a:endParaRPr lang="en-US" dirty="0"/>
          </a:p>
        </p:txBody>
      </p:sp>
      <p:sp>
        <p:nvSpPr>
          <p:cNvPr id="95" name="Content Placeholder 94"/>
          <p:cNvSpPr>
            <a:spLocks noGrp="1"/>
          </p:cNvSpPr>
          <p:nvPr>
            <p:ph sz="half" idx="4294967295"/>
          </p:nvPr>
        </p:nvSpPr>
        <p:spPr>
          <a:xfrm>
            <a:off x="7010401" y="1463676"/>
            <a:ext cx="5180012" cy="4835525"/>
          </a:xfrm>
          <a:prstGeom prst="rect">
            <a:avLst/>
          </a:prstGeom>
        </p:spPr>
        <p:txBody>
          <a:bodyPr/>
          <a:lstStyle/>
          <a:p>
            <a:r>
              <a:rPr lang="en-US" sz="1600" dirty="0"/>
              <a:t>The latency is the same</a:t>
            </a:r>
          </a:p>
          <a:p>
            <a:r>
              <a:rPr lang="en-US" sz="1600" dirty="0"/>
              <a:t>The throughput is better</a:t>
            </a:r>
          </a:p>
          <a:p>
            <a:pPr lvl="1"/>
            <a:r>
              <a:rPr lang="en-US" sz="1400" dirty="0"/>
              <a:t>Less cycles, higher throughput</a:t>
            </a:r>
          </a:p>
        </p:txBody>
      </p:sp>
      <p:cxnSp>
        <p:nvCxnSpPr>
          <p:cNvPr id="94" name="Straight Arrow Connector 93">
            <a:extLst>
              <a:ext uri="{FF2B5EF4-FFF2-40B4-BE49-F238E27FC236}">
                <a16:creationId xmlns:a16="http://schemas.microsoft.com/office/drawing/2014/main" id="{026803E5-68B9-4BF5-8190-C9D7E1B1C7EE}"/>
              </a:ext>
            </a:extLst>
          </p:cNvPr>
          <p:cNvCxnSpPr/>
          <p:nvPr/>
        </p:nvCxnSpPr>
        <p:spPr>
          <a:xfrm>
            <a:off x="925104" y="5996477"/>
            <a:ext cx="1864881" cy="1588"/>
          </a:xfrm>
          <a:prstGeom prst="straightConnector1">
            <a:avLst/>
          </a:prstGeom>
          <a:noFill/>
          <a:ln w="25400" cap="flat" cmpd="sng" algn="ctr">
            <a:solidFill>
              <a:srgbClr val="008CA8"/>
            </a:solidFill>
            <a:prstDash val="solid"/>
            <a:headEnd type="arrow"/>
            <a:tailEnd type="arrow"/>
          </a:ln>
          <a:effectLst/>
        </p:spPr>
      </p:cxnSp>
      <p:sp>
        <p:nvSpPr>
          <p:cNvPr id="97" name="TextBox 96">
            <a:extLst>
              <a:ext uri="{FF2B5EF4-FFF2-40B4-BE49-F238E27FC236}">
                <a16:creationId xmlns:a16="http://schemas.microsoft.com/office/drawing/2014/main" id="{1A647402-475D-42A8-8FFC-576B6F006539}"/>
              </a:ext>
            </a:extLst>
          </p:cNvPr>
          <p:cNvSpPr txBox="1"/>
          <p:nvPr/>
        </p:nvSpPr>
        <p:spPr>
          <a:xfrm>
            <a:off x="996121" y="5988661"/>
            <a:ext cx="1537600"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Latency = 3 cycles</a:t>
            </a:r>
          </a:p>
        </p:txBody>
      </p:sp>
      <p:sp>
        <p:nvSpPr>
          <p:cNvPr id="98" name="TextBox 97">
            <a:extLst>
              <a:ext uri="{FF2B5EF4-FFF2-40B4-BE49-F238E27FC236}">
                <a16:creationId xmlns:a16="http://schemas.microsoft.com/office/drawing/2014/main" id="{F3F4C413-50E6-420B-93DC-D9BE4622CD14}"/>
              </a:ext>
            </a:extLst>
          </p:cNvPr>
          <p:cNvSpPr txBox="1"/>
          <p:nvPr/>
        </p:nvSpPr>
        <p:spPr>
          <a:xfrm>
            <a:off x="1698685" y="3104444"/>
            <a:ext cx="1541063" cy="276999"/>
          </a:xfrm>
          <a:prstGeom prst="rect">
            <a:avLst/>
          </a:prstGeom>
          <a:noFill/>
          <a:effectLst/>
        </p:spPr>
        <p:txBody>
          <a:bodyPr wrap="none" rtlCol="0">
            <a:spAutoFit/>
          </a:bodyPr>
          <a:lstStyle/>
          <a:p>
            <a:pPr defTabSz="457200" fontAlgn="base">
              <a:spcBef>
                <a:spcPct val="0"/>
              </a:spcBef>
              <a:spcAft>
                <a:spcPct val="0"/>
              </a:spcAft>
            </a:pPr>
            <a:r>
              <a:rPr lang="en-US" sz="1200" b="1" u="sng" dirty="0">
                <a:solidFill>
                  <a:prstClr val="black"/>
                </a:solidFill>
                <a:ea typeface="ＭＳ Ｐゴシック" pitchFamily="34" charset="-128"/>
                <a:cs typeface="Arial" charset="0"/>
              </a:rPr>
              <a:t>Without Pipelining</a:t>
            </a:r>
          </a:p>
        </p:txBody>
      </p:sp>
      <p:cxnSp>
        <p:nvCxnSpPr>
          <p:cNvPr id="99" name="Straight Arrow Connector 98">
            <a:extLst>
              <a:ext uri="{FF2B5EF4-FFF2-40B4-BE49-F238E27FC236}">
                <a16:creationId xmlns:a16="http://schemas.microsoft.com/office/drawing/2014/main" id="{2AE817D3-4527-4B68-8BC6-AA636BD4EE41}"/>
              </a:ext>
            </a:extLst>
          </p:cNvPr>
          <p:cNvCxnSpPr/>
          <p:nvPr/>
        </p:nvCxnSpPr>
        <p:spPr>
          <a:xfrm>
            <a:off x="895600" y="5189972"/>
            <a:ext cx="1945347" cy="1588"/>
          </a:xfrm>
          <a:prstGeom prst="straightConnector1">
            <a:avLst/>
          </a:prstGeom>
          <a:noFill/>
          <a:ln w="25400" cap="flat" cmpd="sng" algn="ctr">
            <a:solidFill>
              <a:srgbClr val="008CA8"/>
            </a:solidFill>
            <a:prstDash val="solid"/>
            <a:headEnd type="arrow"/>
            <a:tailEnd type="arrow"/>
          </a:ln>
          <a:effectLst/>
        </p:spPr>
      </p:cxnSp>
      <p:sp>
        <p:nvSpPr>
          <p:cNvPr id="100" name="TextBox 99">
            <a:extLst>
              <a:ext uri="{FF2B5EF4-FFF2-40B4-BE49-F238E27FC236}">
                <a16:creationId xmlns:a16="http://schemas.microsoft.com/office/drawing/2014/main" id="{8FB93D2E-2E16-4D0D-A14A-6208C41F11B2}"/>
              </a:ext>
            </a:extLst>
          </p:cNvPr>
          <p:cNvSpPr txBox="1"/>
          <p:nvPr/>
        </p:nvSpPr>
        <p:spPr>
          <a:xfrm>
            <a:off x="971988" y="4921145"/>
            <a:ext cx="1824538"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Throughput = 3 cycles</a:t>
            </a:r>
          </a:p>
        </p:txBody>
      </p:sp>
      <p:sp>
        <p:nvSpPr>
          <p:cNvPr id="101" name="Bent Arrow 115">
            <a:extLst>
              <a:ext uri="{FF2B5EF4-FFF2-40B4-BE49-F238E27FC236}">
                <a16:creationId xmlns:a16="http://schemas.microsoft.com/office/drawing/2014/main" id="{7712D75D-B01F-4B9A-9D88-7149D049F4C3}"/>
              </a:ext>
            </a:extLst>
          </p:cNvPr>
          <p:cNvSpPr/>
          <p:nvPr/>
        </p:nvSpPr>
        <p:spPr>
          <a:xfrm rot="16200000" flipH="1">
            <a:off x="2562036" y="3091762"/>
            <a:ext cx="768100" cy="2252507"/>
          </a:xfrm>
          <a:prstGeom prst="bentArrow">
            <a:avLst>
              <a:gd name="adj1" fmla="val 26145"/>
              <a:gd name="adj2" fmla="val 25000"/>
              <a:gd name="adj3" fmla="val 25000"/>
              <a:gd name="adj4" fmla="val 47184"/>
            </a:avLst>
          </a:prstGeom>
          <a:gradFill flip="none" rotWithShape="1">
            <a:gsLst>
              <a:gs pos="0">
                <a:srgbClr val="008CA8">
                  <a:tint val="100000"/>
                  <a:shade val="100000"/>
                  <a:satMod val="130000"/>
                </a:srgbClr>
              </a:gs>
              <a:gs pos="100000">
                <a:srgbClr val="008CA8">
                  <a:tint val="50000"/>
                  <a:shade val="100000"/>
                  <a:satMod val="350000"/>
                </a:srgbClr>
              </a:gs>
            </a:gsLst>
            <a:lin ang="13500000" scaled="1"/>
            <a:tileRect/>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grpSp>
        <p:nvGrpSpPr>
          <p:cNvPr id="106" name="Group 71">
            <a:extLst>
              <a:ext uri="{FF2B5EF4-FFF2-40B4-BE49-F238E27FC236}">
                <a16:creationId xmlns:a16="http://schemas.microsoft.com/office/drawing/2014/main" id="{2244E2E8-9B9A-44E1-A1F7-54C28B81BAFF}"/>
              </a:ext>
            </a:extLst>
          </p:cNvPr>
          <p:cNvGrpSpPr/>
          <p:nvPr/>
        </p:nvGrpSpPr>
        <p:grpSpPr>
          <a:xfrm>
            <a:off x="971012" y="5351793"/>
            <a:ext cx="609443" cy="228600"/>
            <a:chOff x="-66694" y="1130300"/>
            <a:chExt cx="533401" cy="228600"/>
          </a:xfrm>
          <a:effectLst>
            <a:outerShdw blurRad="50800" dist="38100" dir="2700000" algn="tl" rotWithShape="0">
              <a:prstClr val="black">
                <a:alpha val="40000"/>
              </a:prstClr>
            </a:outerShdw>
          </a:effectLst>
        </p:grpSpPr>
        <p:cxnSp>
          <p:nvCxnSpPr>
            <p:cNvPr id="107" name="Straight Connector 106">
              <a:extLst>
                <a:ext uri="{FF2B5EF4-FFF2-40B4-BE49-F238E27FC236}">
                  <a16:creationId xmlns:a16="http://schemas.microsoft.com/office/drawing/2014/main" id="{61AC4896-D15E-4D1E-9CF8-338F3DCD5C14}"/>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8" name="Straight Connector 107">
              <a:extLst>
                <a:ext uri="{FF2B5EF4-FFF2-40B4-BE49-F238E27FC236}">
                  <a16:creationId xmlns:a16="http://schemas.microsoft.com/office/drawing/2014/main" id="{807057D0-9881-49DD-9CD7-BAC6996F49DB}"/>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9" name="Straight Connector 108">
              <a:extLst>
                <a:ext uri="{FF2B5EF4-FFF2-40B4-BE49-F238E27FC236}">
                  <a16:creationId xmlns:a16="http://schemas.microsoft.com/office/drawing/2014/main" id="{532747B1-C7BF-4235-B1EF-E829F09F3B5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0" name="Straight Connector 109">
              <a:extLst>
                <a:ext uri="{FF2B5EF4-FFF2-40B4-BE49-F238E27FC236}">
                  <a16:creationId xmlns:a16="http://schemas.microsoft.com/office/drawing/2014/main" id="{E033F56F-CD60-47B7-A6FD-12C1863CFE5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11" name="Group 71">
            <a:extLst>
              <a:ext uri="{FF2B5EF4-FFF2-40B4-BE49-F238E27FC236}">
                <a16:creationId xmlns:a16="http://schemas.microsoft.com/office/drawing/2014/main" id="{4EBDDFDA-0CB5-4FB2-955C-C10AB65A4FA4}"/>
              </a:ext>
            </a:extLst>
          </p:cNvPr>
          <p:cNvGrpSpPr/>
          <p:nvPr/>
        </p:nvGrpSpPr>
        <p:grpSpPr>
          <a:xfrm>
            <a:off x="1580453" y="5351793"/>
            <a:ext cx="609443" cy="228600"/>
            <a:chOff x="-66694" y="1130300"/>
            <a:chExt cx="533401" cy="228600"/>
          </a:xfrm>
          <a:effectLst>
            <a:outerShdw blurRad="50800" dist="38100" dir="2700000" algn="tl" rotWithShape="0">
              <a:prstClr val="black">
                <a:alpha val="40000"/>
              </a:prstClr>
            </a:outerShdw>
          </a:effectLst>
        </p:grpSpPr>
        <p:cxnSp>
          <p:nvCxnSpPr>
            <p:cNvPr id="112" name="Straight Connector 111">
              <a:extLst>
                <a:ext uri="{FF2B5EF4-FFF2-40B4-BE49-F238E27FC236}">
                  <a16:creationId xmlns:a16="http://schemas.microsoft.com/office/drawing/2014/main" id="{827DE77B-E9FA-426D-96FA-7AB14F6BC73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3" name="Straight Connector 112">
              <a:extLst>
                <a:ext uri="{FF2B5EF4-FFF2-40B4-BE49-F238E27FC236}">
                  <a16:creationId xmlns:a16="http://schemas.microsoft.com/office/drawing/2014/main" id="{83DA58E7-3EA3-4899-BC4E-2568F44118B3}"/>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4" name="Straight Connector 113">
              <a:extLst>
                <a:ext uri="{FF2B5EF4-FFF2-40B4-BE49-F238E27FC236}">
                  <a16:creationId xmlns:a16="http://schemas.microsoft.com/office/drawing/2014/main" id="{AA87766D-ACE0-42E8-895B-4917A40D39A9}"/>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7" name="Straight Connector 116">
              <a:extLst>
                <a:ext uri="{FF2B5EF4-FFF2-40B4-BE49-F238E27FC236}">
                  <a16:creationId xmlns:a16="http://schemas.microsoft.com/office/drawing/2014/main" id="{293A2D89-B8F0-4AB3-9C9E-8344A5F1A20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18" name="Group 71">
            <a:extLst>
              <a:ext uri="{FF2B5EF4-FFF2-40B4-BE49-F238E27FC236}">
                <a16:creationId xmlns:a16="http://schemas.microsoft.com/office/drawing/2014/main" id="{B8E04880-FD23-43C2-86F3-0370BB6FEE02}"/>
              </a:ext>
            </a:extLst>
          </p:cNvPr>
          <p:cNvGrpSpPr/>
          <p:nvPr/>
        </p:nvGrpSpPr>
        <p:grpSpPr>
          <a:xfrm>
            <a:off x="2189895" y="5351793"/>
            <a:ext cx="609443" cy="228600"/>
            <a:chOff x="-66694" y="1130300"/>
            <a:chExt cx="533401" cy="228600"/>
          </a:xfrm>
          <a:effectLst>
            <a:outerShdw blurRad="50800" dist="38100" dir="2700000" algn="tl" rotWithShape="0">
              <a:prstClr val="black">
                <a:alpha val="40000"/>
              </a:prstClr>
            </a:outerShdw>
          </a:effectLst>
        </p:grpSpPr>
        <p:cxnSp>
          <p:nvCxnSpPr>
            <p:cNvPr id="119" name="Straight Connector 118">
              <a:extLst>
                <a:ext uri="{FF2B5EF4-FFF2-40B4-BE49-F238E27FC236}">
                  <a16:creationId xmlns:a16="http://schemas.microsoft.com/office/drawing/2014/main" id="{3AA79129-962B-440D-B3B0-E7476C1002C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2" name="Straight Connector 121">
              <a:extLst>
                <a:ext uri="{FF2B5EF4-FFF2-40B4-BE49-F238E27FC236}">
                  <a16:creationId xmlns:a16="http://schemas.microsoft.com/office/drawing/2014/main" id="{7A88A9F1-7A0A-4B9D-8EE4-298CF138FDE0}"/>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4" name="Straight Connector 123">
              <a:extLst>
                <a:ext uri="{FF2B5EF4-FFF2-40B4-BE49-F238E27FC236}">
                  <a16:creationId xmlns:a16="http://schemas.microsoft.com/office/drawing/2014/main" id="{26224D4E-C8CD-4CAA-96F2-7275AA7E75B9}"/>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5" name="Straight Connector 124">
              <a:extLst>
                <a:ext uri="{FF2B5EF4-FFF2-40B4-BE49-F238E27FC236}">
                  <a16:creationId xmlns:a16="http://schemas.microsoft.com/office/drawing/2014/main" id="{6E4FE21D-3A7E-41BC-AC21-BEBBA89D6A49}"/>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26" name="Group 71">
            <a:extLst>
              <a:ext uri="{FF2B5EF4-FFF2-40B4-BE49-F238E27FC236}">
                <a16:creationId xmlns:a16="http://schemas.microsoft.com/office/drawing/2014/main" id="{9F4DD7DA-03CB-4FD0-932C-993225EBA358}"/>
              </a:ext>
            </a:extLst>
          </p:cNvPr>
          <p:cNvGrpSpPr/>
          <p:nvPr/>
        </p:nvGrpSpPr>
        <p:grpSpPr>
          <a:xfrm>
            <a:off x="2799335" y="5351793"/>
            <a:ext cx="609443" cy="228600"/>
            <a:chOff x="-66694" y="1130300"/>
            <a:chExt cx="533401" cy="228600"/>
          </a:xfrm>
          <a:effectLst>
            <a:outerShdw blurRad="50800" dist="38100" dir="2700000" algn="tl" rotWithShape="0">
              <a:prstClr val="black">
                <a:alpha val="40000"/>
              </a:prstClr>
            </a:outerShdw>
          </a:effectLst>
        </p:grpSpPr>
        <p:cxnSp>
          <p:nvCxnSpPr>
            <p:cNvPr id="127" name="Straight Connector 126">
              <a:extLst>
                <a:ext uri="{FF2B5EF4-FFF2-40B4-BE49-F238E27FC236}">
                  <a16:creationId xmlns:a16="http://schemas.microsoft.com/office/drawing/2014/main" id="{653289AA-B1DA-4300-A339-40DDA2D3B0D1}"/>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8" name="Straight Connector 127">
              <a:extLst>
                <a:ext uri="{FF2B5EF4-FFF2-40B4-BE49-F238E27FC236}">
                  <a16:creationId xmlns:a16="http://schemas.microsoft.com/office/drawing/2014/main" id="{2CDC2225-25F8-4A21-8F86-DFA99DB0ECBF}"/>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9" name="Straight Connector 128">
              <a:extLst>
                <a:ext uri="{FF2B5EF4-FFF2-40B4-BE49-F238E27FC236}">
                  <a16:creationId xmlns:a16="http://schemas.microsoft.com/office/drawing/2014/main" id="{8AA17C3E-BAF2-41C8-80DE-E7A9EF52C83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0" name="Straight Connector 129">
              <a:extLst>
                <a:ext uri="{FF2B5EF4-FFF2-40B4-BE49-F238E27FC236}">
                  <a16:creationId xmlns:a16="http://schemas.microsoft.com/office/drawing/2014/main" id="{06002787-6F0A-4A40-818A-7A5501B9DD7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2" name="Group 71">
            <a:extLst>
              <a:ext uri="{FF2B5EF4-FFF2-40B4-BE49-F238E27FC236}">
                <a16:creationId xmlns:a16="http://schemas.microsoft.com/office/drawing/2014/main" id="{A8FD80C3-76A0-4EC0-A355-00C67215AC33}"/>
              </a:ext>
            </a:extLst>
          </p:cNvPr>
          <p:cNvGrpSpPr/>
          <p:nvPr/>
        </p:nvGrpSpPr>
        <p:grpSpPr>
          <a:xfrm>
            <a:off x="3408777" y="5351793"/>
            <a:ext cx="609443" cy="228600"/>
            <a:chOff x="-66694" y="1130300"/>
            <a:chExt cx="533401" cy="228600"/>
          </a:xfrm>
          <a:effectLst>
            <a:outerShdw blurRad="50800" dist="38100" dir="2700000" algn="tl" rotWithShape="0">
              <a:prstClr val="black">
                <a:alpha val="40000"/>
              </a:prstClr>
            </a:outerShdw>
          </a:effectLst>
        </p:grpSpPr>
        <p:cxnSp>
          <p:nvCxnSpPr>
            <p:cNvPr id="134" name="Straight Connector 133">
              <a:extLst>
                <a:ext uri="{FF2B5EF4-FFF2-40B4-BE49-F238E27FC236}">
                  <a16:creationId xmlns:a16="http://schemas.microsoft.com/office/drawing/2014/main" id="{2C745A84-34C1-4589-9B6A-2DF8ABE6F26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5" name="Straight Connector 134">
              <a:extLst>
                <a:ext uri="{FF2B5EF4-FFF2-40B4-BE49-F238E27FC236}">
                  <a16:creationId xmlns:a16="http://schemas.microsoft.com/office/drawing/2014/main" id="{922DC559-880C-4407-98D6-C886BC873958}"/>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6" name="Straight Connector 135">
              <a:extLst>
                <a:ext uri="{FF2B5EF4-FFF2-40B4-BE49-F238E27FC236}">
                  <a16:creationId xmlns:a16="http://schemas.microsoft.com/office/drawing/2014/main" id="{4D1EAFC8-7208-4405-A648-AB107B6D3AA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9" name="Straight Connector 138">
              <a:extLst>
                <a:ext uri="{FF2B5EF4-FFF2-40B4-BE49-F238E27FC236}">
                  <a16:creationId xmlns:a16="http://schemas.microsoft.com/office/drawing/2014/main" id="{C9BECAB2-D142-4AFD-9481-23A6FDFC594F}"/>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44" name="Group 71">
            <a:extLst>
              <a:ext uri="{FF2B5EF4-FFF2-40B4-BE49-F238E27FC236}">
                <a16:creationId xmlns:a16="http://schemas.microsoft.com/office/drawing/2014/main" id="{89663D20-9ED2-4E0F-AF31-C764C0675049}"/>
              </a:ext>
            </a:extLst>
          </p:cNvPr>
          <p:cNvGrpSpPr/>
          <p:nvPr/>
        </p:nvGrpSpPr>
        <p:grpSpPr>
          <a:xfrm>
            <a:off x="4018218" y="5351793"/>
            <a:ext cx="609443" cy="228600"/>
            <a:chOff x="-66694" y="1130300"/>
            <a:chExt cx="533401" cy="228600"/>
          </a:xfrm>
          <a:effectLst>
            <a:outerShdw blurRad="50800" dist="38100" dir="2700000" algn="tl" rotWithShape="0">
              <a:prstClr val="black">
                <a:alpha val="40000"/>
              </a:prstClr>
            </a:outerShdw>
          </a:effectLst>
        </p:grpSpPr>
        <p:cxnSp>
          <p:nvCxnSpPr>
            <p:cNvPr id="149" name="Straight Connector 148">
              <a:extLst>
                <a:ext uri="{FF2B5EF4-FFF2-40B4-BE49-F238E27FC236}">
                  <a16:creationId xmlns:a16="http://schemas.microsoft.com/office/drawing/2014/main" id="{FD2D51CD-5143-4F62-B46D-589344C74AA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4" name="Straight Connector 153">
              <a:extLst>
                <a:ext uri="{FF2B5EF4-FFF2-40B4-BE49-F238E27FC236}">
                  <a16:creationId xmlns:a16="http://schemas.microsoft.com/office/drawing/2014/main" id="{36A1CC40-23B2-4D47-BC78-A5C2033B31C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9" name="Straight Connector 158">
              <a:extLst>
                <a:ext uri="{FF2B5EF4-FFF2-40B4-BE49-F238E27FC236}">
                  <a16:creationId xmlns:a16="http://schemas.microsoft.com/office/drawing/2014/main" id="{F48F91FA-7F87-4F93-B56E-95071F999FB5}"/>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0" name="Straight Connector 169">
              <a:extLst>
                <a:ext uri="{FF2B5EF4-FFF2-40B4-BE49-F238E27FC236}">
                  <a16:creationId xmlns:a16="http://schemas.microsoft.com/office/drawing/2014/main" id="{7CD247E5-3078-4B04-BF6A-D32E791681B2}"/>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71" name="Rounded Rectangle 163">
            <a:extLst>
              <a:ext uri="{FF2B5EF4-FFF2-40B4-BE49-F238E27FC236}">
                <a16:creationId xmlns:a16="http://schemas.microsoft.com/office/drawing/2014/main" id="{BF068F7D-B86E-49F0-BA14-E7A1938CB9FE}"/>
              </a:ext>
            </a:extLst>
          </p:cNvPr>
          <p:cNvSpPr/>
          <p:nvPr/>
        </p:nvSpPr>
        <p:spPr>
          <a:xfrm>
            <a:off x="919994" y="5612427"/>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172" name="Rounded Rectangle 164">
            <a:extLst>
              <a:ext uri="{FF2B5EF4-FFF2-40B4-BE49-F238E27FC236}">
                <a16:creationId xmlns:a16="http://schemas.microsoft.com/office/drawing/2014/main" id="{2417609A-31FC-499C-9851-CA618BCBB1B7}"/>
              </a:ext>
            </a:extLst>
          </p:cNvPr>
          <p:cNvSpPr/>
          <p:nvPr/>
        </p:nvSpPr>
        <p:spPr>
          <a:xfrm>
            <a:off x="1529439" y="5612427"/>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173" name="Rounded Rectangle 165">
            <a:extLst>
              <a:ext uri="{FF2B5EF4-FFF2-40B4-BE49-F238E27FC236}">
                <a16:creationId xmlns:a16="http://schemas.microsoft.com/office/drawing/2014/main" id="{15AF955A-5696-4DAE-ADA4-4B601E39CD79}"/>
              </a:ext>
            </a:extLst>
          </p:cNvPr>
          <p:cNvSpPr/>
          <p:nvPr/>
        </p:nvSpPr>
        <p:spPr>
          <a:xfrm>
            <a:off x="2138879" y="5612427"/>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174" name="Rounded Rectangle 166">
            <a:extLst>
              <a:ext uri="{FF2B5EF4-FFF2-40B4-BE49-F238E27FC236}">
                <a16:creationId xmlns:a16="http://schemas.microsoft.com/office/drawing/2014/main" id="{F17CF8F4-299D-4B9D-AA14-6E696C7057BB}"/>
              </a:ext>
            </a:extLst>
          </p:cNvPr>
          <p:cNvSpPr/>
          <p:nvPr/>
        </p:nvSpPr>
        <p:spPr>
          <a:xfrm>
            <a:off x="2748319" y="5612427"/>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175" name="Rounded Rectangle 167">
            <a:extLst>
              <a:ext uri="{FF2B5EF4-FFF2-40B4-BE49-F238E27FC236}">
                <a16:creationId xmlns:a16="http://schemas.microsoft.com/office/drawing/2014/main" id="{CDE4966C-8B32-40D0-AD0C-177B0C97385B}"/>
              </a:ext>
            </a:extLst>
          </p:cNvPr>
          <p:cNvSpPr/>
          <p:nvPr/>
        </p:nvSpPr>
        <p:spPr>
          <a:xfrm>
            <a:off x="3357759" y="5612427"/>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176" name="Rounded Rectangle 168">
            <a:extLst>
              <a:ext uri="{FF2B5EF4-FFF2-40B4-BE49-F238E27FC236}">
                <a16:creationId xmlns:a16="http://schemas.microsoft.com/office/drawing/2014/main" id="{E51ED82B-F7DB-40D4-A83B-F7486407C7CF}"/>
              </a:ext>
            </a:extLst>
          </p:cNvPr>
          <p:cNvSpPr/>
          <p:nvPr/>
        </p:nvSpPr>
        <p:spPr>
          <a:xfrm>
            <a:off x="3967204" y="5612427"/>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177" name="TextBox 176">
            <a:extLst>
              <a:ext uri="{FF2B5EF4-FFF2-40B4-BE49-F238E27FC236}">
                <a16:creationId xmlns:a16="http://schemas.microsoft.com/office/drawing/2014/main" id="{7C4BB65E-8807-4E38-9C3B-9C9A9E17906C}"/>
              </a:ext>
            </a:extLst>
          </p:cNvPr>
          <p:cNvSpPr txBox="1"/>
          <p:nvPr/>
        </p:nvSpPr>
        <p:spPr>
          <a:xfrm>
            <a:off x="8942581" y="3134685"/>
            <a:ext cx="1300612" cy="276999"/>
          </a:xfrm>
          <a:prstGeom prst="rect">
            <a:avLst/>
          </a:prstGeom>
          <a:noFill/>
          <a:effectLst/>
        </p:spPr>
        <p:txBody>
          <a:bodyPr wrap="none" rtlCol="0">
            <a:spAutoFit/>
          </a:bodyPr>
          <a:lstStyle/>
          <a:p>
            <a:pPr defTabSz="457200" fontAlgn="base">
              <a:spcBef>
                <a:spcPct val="0"/>
              </a:spcBef>
              <a:spcAft>
                <a:spcPct val="0"/>
              </a:spcAft>
            </a:pPr>
            <a:r>
              <a:rPr lang="en-US" sz="1200" b="1" u="sng" dirty="0">
                <a:solidFill>
                  <a:prstClr val="black"/>
                </a:solidFill>
                <a:ea typeface="ＭＳ Ｐゴシック" pitchFamily="34" charset="-128"/>
                <a:cs typeface="Arial" charset="0"/>
              </a:rPr>
              <a:t>With Pipelining</a:t>
            </a:r>
          </a:p>
        </p:txBody>
      </p:sp>
      <p:sp>
        <p:nvSpPr>
          <p:cNvPr id="178" name="Bent Arrow 114">
            <a:extLst>
              <a:ext uri="{FF2B5EF4-FFF2-40B4-BE49-F238E27FC236}">
                <a16:creationId xmlns:a16="http://schemas.microsoft.com/office/drawing/2014/main" id="{A6FF696E-80BE-43A7-A0C9-EB5286C3042A}"/>
              </a:ext>
            </a:extLst>
          </p:cNvPr>
          <p:cNvSpPr/>
          <p:nvPr/>
        </p:nvSpPr>
        <p:spPr>
          <a:xfrm rot="5400000">
            <a:off x="8807623" y="3091762"/>
            <a:ext cx="768100" cy="2252507"/>
          </a:xfrm>
          <a:prstGeom prst="bentArrow">
            <a:avLst>
              <a:gd name="adj1" fmla="val 26145"/>
              <a:gd name="adj2" fmla="val 25000"/>
              <a:gd name="adj3" fmla="val 25000"/>
              <a:gd name="adj4" fmla="val 47184"/>
            </a:avLst>
          </a:prstGeom>
          <a:gradFill flip="none" rotWithShape="1">
            <a:gsLst>
              <a:gs pos="0">
                <a:srgbClr val="008CA8">
                  <a:tint val="100000"/>
                  <a:shade val="100000"/>
                  <a:satMod val="130000"/>
                </a:srgbClr>
              </a:gs>
              <a:gs pos="100000">
                <a:srgbClr val="008CA8">
                  <a:tint val="50000"/>
                  <a:shade val="100000"/>
                  <a:satMod val="350000"/>
                </a:srgbClr>
              </a:gs>
            </a:gsLst>
            <a:lin ang="13500000" scaled="1"/>
            <a:tileRect/>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cxnSp>
        <p:nvCxnSpPr>
          <p:cNvPr id="179" name="Straight Arrow Connector 178">
            <a:extLst>
              <a:ext uri="{FF2B5EF4-FFF2-40B4-BE49-F238E27FC236}">
                <a16:creationId xmlns:a16="http://schemas.microsoft.com/office/drawing/2014/main" id="{0E977720-6418-46E3-BC5A-AEB96EE88630}"/>
              </a:ext>
            </a:extLst>
          </p:cNvPr>
          <p:cNvCxnSpPr/>
          <p:nvPr/>
        </p:nvCxnSpPr>
        <p:spPr>
          <a:xfrm>
            <a:off x="8065652" y="6110104"/>
            <a:ext cx="1791767" cy="1588"/>
          </a:xfrm>
          <a:prstGeom prst="straightConnector1">
            <a:avLst/>
          </a:prstGeom>
          <a:noFill/>
          <a:ln w="25400" cap="flat" cmpd="sng" algn="ctr">
            <a:solidFill>
              <a:srgbClr val="008CA8"/>
            </a:solidFill>
            <a:prstDash val="solid"/>
            <a:headEnd type="arrow"/>
            <a:tailEnd type="arrow"/>
          </a:ln>
          <a:effectLst/>
        </p:spPr>
      </p:cxnSp>
      <p:sp>
        <p:nvSpPr>
          <p:cNvPr id="180" name="TextBox 179">
            <a:extLst>
              <a:ext uri="{FF2B5EF4-FFF2-40B4-BE49-F238E27FC236}">
                <a16:creationId xmlns:a16="http://schemas.microsoft.com/office/drawing/2014/main" id="{9752BB33-5EF7-4D7E-9715-6E4F9AE4A513}"/>
              </a:ext>
            </a:extLst>
          </p:cNvPr>
          <p:cNvSpPr txBox="1"/>
          <p:nvPr/>
        </p:nvSpPr>
        <p:spPr>
          <a:xfrm>
            <a:off x="8179633" y="6169836"/>
            <a:ext cx="1537600"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Latency = 3 cycles</a:t>
            </a:r>
          </a:p>
        </p:txBody>
      </p:sp>
      <p:sp>
        <p:nvSpPr>
          <p:cNvPr id="181" name="TextBox 180">
            <a:extLst>
              <a:ext uri="{FF2B5EF4-FFF2-40B4-BE49-F238E27FC236}">
                <a16:creationId xmlns:a16="http://schemas.microsoft.com/office/drawing/2014/main" id="{B96333C3-82C8-49CF-AC9A-420F6AC81A16}"/>
              </a:ext>
            </a:extLst>
          </p:cNvPr>
          <p:cNvSpPr txBox="1"/>
          <p:nvPr/>
        </p:nvSpPr>
        <p:spPr>
          <a:xfrm>
            <a:off x="8017505" y="4921145"/>
            <a:ext cx="1739579"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Throughput = 1 cycle</a:t>
            </a:r>
          </a:p>
        </p:txBody>
      </p:sp>
      <p:grpSp>
        <p:nvGrpSpPr>
          <p:cNvPr id="182" name="Group 71">
            <a:extLst>
              <a:ext uri="{FF2B5EF4-FFF2-40B4-BE49-F238E27FC236}">
                <a16:creationId xmlns:a16="http://schemas.microsoft.com/office/drawing/2014/main" id="{B7ACD1F9-6456-4C5C-AEBA-65D8ACEC0544}"/>
              </a:ext>
            </a:extLst>
          </p:cNvPr>
          <p:cNvGrpSpPr/>
          <p:nvPr/>
        </p:nvGrpSpPr>
        <p:grpSpPr>
          <a:xfrm>
            <a:off x="8027273" y="5336856"/>
            <a:ext cx="609443" cy="228600"/>
            <a:chOff x="-66694" y="1130300"/>
            <a:chExt cx="533401" cy="228600"/>
          </a:xfrm>
          <a:effectLst>
            <a:outerShdw blurRad="50800" dist="38100" dir="2700000" algn="tl" rotWithShape="0">
              <a:prstClr val="black">
                <a:alpha val="40000"/>
              </a:prstClr>
            </a:outerShdw>
          </a:effectLst>
        </p:grpSpPr>
        <p:cxnSp>
          <p:nvCxnSpPr>
            <p:cNvPr id="187" name="Straight Connector 186">
              <a:extLst>
                <a:ext uri="{FF2B5EF4-FFF2-40B4-BE49-F238E27FC236}">
                  <a16:creationId xmlns:a16="http://schemas.microsoft.com/office/drawing/2014/main" id="{D3E9F1A5-7769-42B0-9782-EF3D25B28368}"/>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2" name="Straight Connector 191">
              <a:extLst>
                <a:ext uri="{FF2B5EF4-FFF2-40B4-BE49-F238E27FC236}">
                  <a16:creationId xmlns:a16="http://schemas.microsoft.com/office/drawing/2014/main" id="{A3127CA7-2EE0-44CA-9966-9114437D67F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7" name="Straight Connector 196">
              <a:extLst>
                <a:ext uri="{FF2B5EF4-FFF2-40B4-BE49-F238E27FC236}">
                  <a16:creationId xmlns:a16="http://schemas.microsoft.com/office/drawing/2014/main" id="{EAE47D9A-187C-4561-9411-0DBEBFF62AB9}"/>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2" name="Straight Connector 201">
              <a:extLst>
                <a:ext uri="{FF2B5EF4-FFF2-40B4-BE49-F238E27FC236}">
                  <a16:creationId xmlns:a16="http://schemas.microsoft.com/office/drawing/2014/main" id="{2D343A41-2CCD-4825-98D5-9EFD45094BA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07" name="Group 71">
            <a:extLst>
              <a:ext uri="{FF2B5EF4-FFF2-40B4-BE49-F238E27FC236}">
                <a16:creationId xmlns:a16="http://schemas.microsoft.com/office/drawing/2014/main" id="{E5F80EF6-FA4A-4D11-9B6B-6AB5EC9AE4F8}"/>
              </a:ext>
            </a:extLst>
          </p:cNvPr>
          <p:cNvGrpSpPr/>
          <p:nvPr/>
        </p:nvGrpSpPr>
        <p:grpSpPr>
          <a:xfrm>
            <a:off x="8636715" y="5336856"/>
            <a:ext cx="609443" cy="228600"/>
            <a:chOff x="-66694" y="1130300"/>
            <a:chExt cx="533401" cy="228600"/>
          </a:xfrm>
          <a:effectLst>
            <a:outerShdw blurRad="50800" dist="38100" dir="2700000" algn="tl" rotWithShape="0">
              <a:prstClr val="black">
                <a:alpha val="40000"/>
              </a:prstClr>
            </a:outerShdw>
          </a:effectLst>
        </p:grpSpPr>
        <p:cxnSp>
          <p:nvCxnSpPr>
            <p:cNvPr id="219" name="Straight Connector 218">
              <a:extLst>
                <a:ext uri="{FF2B5EF4-FFF2-40B4-BE49-F238E27FC236}">
                  <a16:creationId xmlns:a16="http://schemas.microsoft.com/office/drawing/2014/main" id="{80DF456F-F9A0-4FA1-A6FA-519202BC0E3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0" name="Straight Connector 219">
              <a:extLst>
                <a:ext uri="{FF2B5EF4-FFF2-40B4-BE49-F238E27FC236}">
                  <a16:creationId xmlns:a16="http://schemas.microsoft.com/office/drawing/2014/main" id="{241BFF0D-2275-4225-A6A4-73AAB016ECA7}"/>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1" name="Straight Connector 220">
              <a:extLst>
                <a:ext uri="{FF2B5EF4-FFF2-40B4-BE49-F238E27FC236}">
                  <a16:creationId xmlns:a16="http://schemas.microsoft.com/office/drawing/2014/main" id="{F9AC11E3-7CA1-4FE4-B8E2-9DD7F2D70DAC}"/>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2" name="Straight Connector 221">
              <a:extLst>
                <a:ext uri="{FF2B5EF4-FFF2-40B4-BE49-F238E27FC236}">
                  <a16:creationId xmlns:a16="http://schemas.microsoft.com/office/drawing/2014/main" id="{DD6F9BB0-A168-4DBD-BC5E-58DEA93A63A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23" name="Group 71">
            <a:extLst>
              <a:ext uri="{FF2B5EF4-FFF2-40B4-BE49-F238E27FC236}">
                <a16:creationId xmlns:a16="http://schemas.microsoft.com/office/drawing/2014/main" id="{722AF5D3-C115-409D-9F2A-530F43F11AA0}"/>
              </a:ext>
            </a:extLst>
          </p:cNvPr>
          <p:cNvGrpSpPr/>
          <p:nvPr/>
        </p:nvGrpSpPr>
        <p:grpSpPr>
          <a:xfrm>
            <a:off x="9246156" y="5336856"/>
            <a:ext cx="609443" cy="228600"/>
            <a:chOff x="-66694" y="1130300"/>
            <a:chExt cx="533401" cy="228600"/>
          </a:xfrm>
          <a:effectLst>
            <a:outerShdw blurRad="50800" dist="38100" dir="2700000" algn="tl" rotWithShape="0">
              <a:prstClr val="black">
                <a:alpha val="40000"/>
              </a:prstClr>
            </a:outerShdw>
          </a:effectLst>
        </p:grpSpPr>
        <p:cxnSp>
          <p:nvCxnSpPr>
            <p:cNvPr id="224" name="Straight Connector 223">
              <a:extLst>
                <a:ext uri="{FF2B5EF4-FFF2-40B4-BE49-F238E27FC236}">
                  <a16:creationId xmlns:a16="http://schemas.microsoft.com/office/drawing/2014/main" id="{EB01A7DC-1968-4476-BDCC-FC57621D7104}"/>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5" name="Straight Connector 224">
              <a:extLst>
                <a:ext uri="{FF2B5EF4-FFF2-40B4-BE49-F238E27FC236}">
                  <a16:creationId xmlns:a16="http://schemas.microsoft.com/office/drawing/2014/main" id="{13B6058C-C510-44A3-9F93-91209779475A}"/>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6" name="Straight Connector 225">
              <a:extLst>
                <a:ext uri="{FF2B5EF4-FFF2-40B4-BE49-F238E27FC236}">
                  <a16:creationId xmlns:a16="http://schemas.microsoft.com/office/drawing/2014/main" id="{703C40DC-AC29-4355-BE44-B353700D9139}"/>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7" name="Straight Connector 226">
              <a:extLst>
                <a:ext uri="{FF2B5EF4-FFF2-40B4-BE49-F238E27FC236}">
                  <a16:creationId xmlns:a16="http://schemas.microsoft.com/office/drawing/2014/main" id="{8B4DA143-EA85-4236-AC01-4B84E36884EF}"/>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28" name="Group 71">
            <a:extLst>
              <a:ext uri="{FF2B5EF4-FFF2-40B4-BE49-F238E27FC236}">
                <a16:creationId xmlns:a16="http://schemas.microsoft.com/office/drawing/2014/main" id="{C74996AC-420D-4281-A6DB-DF7E4D716A5C}"/>
              </a:ext>
            </a:extLst>
          </p:cNvPr>
          <p:cNvGrpSpPr/>
          <p:nvPr/>
        </p:nvGrpSpPr>
        <p:grpSpPr>
          <a:xfrm>
            <a:off x="9855597" y="5336856"/>
            <a:ext cx="609443" cy="228600"/>
            <a:chOff x="-66694" y="1130300"/>
            <a:chExt cx="533401" cy="228600"/>
          </a:xfrm>
          <a:effectLst>
            <a:outerShdw blurRad="50800" dist="38100" dir="2700000" algn="tl" rotWithShape="0">
              <a:prstClr val="black">
                <a:alpha val="40000"/>
              </a:prstClr>
            </a:outerShdw>
          </a:effectLst>
        </p:grpSpPr>
        <p:cxnSp>
          <p:nvCxnSpPr>
            <p:cNvPr id="229" name="Straight Connector 228">
              <a:extLst>
                <a:ext uri="{FF2B5EF4-FFF2-40B4-BE49-F238E27FC236}">
                  <a16:creationId xmlns:a16="http://schemas.microsoft.com/office/drawing/2014/main" id="{D4FEBE71-4E3D-4676-9252-AB412FE50AE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30" name="Straight Connector 229">
              <a:extLst>
                <a:ext uri="{FF2B5EF4-FFF2-40B4-BE49-F238E27FC236}">
                  <a16:creationId xmlns:a16="http://schemas.microsoft.com/office/drawing/2014/main" id="{4899500E-18C6-4D37-A051-7DC4EFBCF73A}"/>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31" name="Straight Connector 230">
              <a:extLst>
                <a:ext uri="{FF2B5EF4-FFF2-40B4-BE49-F238E27FC236}">
                  <a16:creationId xmlns:a16="http://schemas.microsoft.com/office/drawing/2014/main" id="{D388787E-FD23-4FBE-A7B8-E6A340FD2E2E}"/>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32" name="Straight Connector 231">
              <a:extLst>
                <a:ext uri="{FF2B5EF4-FFF2-40B4-BE49-F238E27FC236}">
                  <a16:creationId xmlns:a16="http://schemas.microsoft.com/office/drawing/2014/main" id="{D0C423AD-1F87-4040-B590-246C6D775BA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33" name="Group 71">
            <a:extLst>
              <a:ext uri="{FF2B5EF4-FFF2-40B4-BE49-F238E27FC236}">
                <a16:creationId xmlns:a16="http://schemas.microsoft.com/office/drawing/2014/main" id="{4A82BB16-1589-48DD-AA9F-909CCF633C91}"/>
              </a:ext>
            </a:extLst>
          </p:cNvPr>
          <p:cNvGrpSpPr/>
          <p:nvPr/>
        </p:nvGrpSpPr>
        <p:grpSpPr>
          <a:xfrm>
            <a:off x="10465038" y="5336856"/>
            <a:ext cx="609443" cy="228600"/>
            <a:chOff x="-66694" y="1130300"/>
            <a:chExt cx="533401" cy="228600"/>
          </a:xfrm>
          <a:effectLst>
            <a:outerShdw blurRad="50800" dist="38100" dir="2700000" algn="tl" rotWithShape="0">
              <a:prstClr val="black">
                <a:alpha val="40000"/>
              </a:prstClr>
            </a:outerShdw>
          </a:effectLst>
        </p:grpSpPr>
        <p:cxnSp>
          <p:nvCxnSpPr>
            <p:cNvPr id="234" name="Straight Connector 233">
              <a:extLst>
                <a:ext uri="{FF2B5EF4-FFF2-40B4-BE49-F238E27FC236}">
                  <a16:creationId xmlns:a16="http://schemas.microsoft.com/office/drawing/2014/main" id="{53BA3742-B3C7-4137-909F-58F3588016C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35" name="Straight Connector 234">
              <a:extLst>
                <a:ext uri="{FF2B5EF4-FFF2-40B4-BE49-F238E27FC236}">
                  <a16:creationId xmlns:a16="http://schemas.microsoft.com/office/drawing/2014/main" id="{7818C45B-EF2A-4A61-8246-D2433E3E68CC}"/>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36" name="Straight Connector 235">
              <a:extLst>
                <a:ext uri="{FF2B5EF4-FFF2-40B4-BE49-F238E27FC236}">
                  <a16:creationId xmlns:a16="http://schemas.microsoft.com/office/drawing/2014/main" id="{742496A1-41D5-45F5-B2F1-67011DBF1EB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37" name="Straight Connector 236">
              <a:extLst>
                <a:ext uri="{FF2B5EF4-FFF2-40B4-BE49-F238E27FC236}">
                  <a16:creationId xmlns:a16="http://schemas.microsoft.com/office/drawing/2014/main" id="{EC7EFD74-90F0-4F4B-A1C9-4028A1E97EE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38" name="Group 71">
            <a:extLst>
              <a:ext uri="{FF2B5EF4-FFF2-40B4-BE49-F238E27FC236}">
                <a16:creationId xmlns:a16="http://schemas.microsoft.com/office/drawing/2014/main" id="{EDA7D111-6016-4E52-9477-DAAB01C830AF}"/>
              </a:ext>
            </a:extLst>
          </p:cNvPr>
          <p:cNvGrpSpPr/>
          <p:nvPr/>
        </p:nvGrpSpPr>
        <p:grpSpPr>
          <a:xfrm>
            <a:off x="11074480" y="5336856"/>
            <a:ext cx="609443" cy="228600"/>
            <a:chOff x="-66694" y="1130300"/>
            <a:chExt cx="533401" cy="228600"/>
          </a:xfrm>
          <a:effectLst>
            <a:outerShdw blurRad="50800" dist="38100" dir="2700000" algn="tl" rotWithShape="0">
              <a:prstClr val="black">
                <a:alpha val="40000"/>
              </a:prstClr>
            </a:outerShdw>
          </a:effectLst>
        </p:grpSpPr>
        <p:cxnSp>
          <p:nvCxnSpPr>
            <p:cNvPr id="239" name="Straight Connector 238">
              <a:extLst>
                <a:ext uri="{FF2B5EF4-FFF2-40B4-BE49-F238E27FC236}">
                  <a16:creationId xmlns:a16="http://schemas.microsoft.com/office/drawing/2014/main" id="{85A8B6D5-DB8C-40CD-9A04-BF357B40A4E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40" name="Straight Connector 239">
              <a:extLst>
                <a:ext uri="{FF2B5EF4-FFF2-40B4-BE49-F238E27FC236}">
                  <a16:creationId xmlns:a16="http://schemas.microsoft.com/office/drawing/2014/main" id="{F4F63F89-16BF-4A7E-8875-73D1C9D83FAE}"/>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41" name="Straight Connector 240">
              <a:extLst>
                <a:ext uri="{FF2B5EF4-FFF2-40B4-BE49-F238E27FC236}">
                  <a16:creationId xmlns:a16="http://schemas.microsoft.com/office/drawing/2014/main" id="{E382630D-1DA6-4AF9-A285-607DB144313C}"/>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42" name="Straight Connector 241">
              <a:extLst>
                <a:ext uri="{FF2B5EF4-FFF2-40B4-BE49-F238E27FC236}">
                  <a16:creationId xmlns:a16="http://schemas.microsoft.com/office/drawing/2014/main" id="{2BED066D-F7D7-46F7-BA6C-899A05DE939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243" name="Rounded Rectangle 211">
            <a:extLst>
              <a:ext uri="{FF2B5EF4-FFF2-40B4-BE49-F238E27FC236}">
                <a16:creationId xmlns:a16="http://schemas.microsoft.com/office/drawing/2014/main" id="{C4140F2F-4264-4D10-8C06-BFAA9EDF7F15}"/>
              </a:ext>
            </a:extLst>
          </p:cNvPr>
          <p:cNvSpPr/>
          <p:nvPr/>
        </p:nvSpPr>
        <p:spPr>
          <a:xfrm>
            <a:off x="8027044" y="5607789"/>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244" name="Rounded Rectangle 212">
            <a:extLst>
              <a:ext uri="{FF2B5EF4-FFF2-40B4-BE49-F238E27FC236}">
                <a16:creationId xmlns:a16="http://schemas.microsoft.com/office/drawing/2014/main" id="{F87B16D4-A155-42C1-87D4-6A0FB7686BB7}"/>
              </a:ext>
            </a:extLst>
          </p:cNvPr>
          <p:cNvSpPr/>
          <p:nvPr/>
        </p:nvSpPr>
        <p:spPr>
          <a:xfrm>
            <a:off x="8636485" y="5607789"/>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245" name="Rounded Rectangle 213">
            <a:extLst>
              <a:ext uri="{FF2B5EF4-FFF2-40B4-BE49-F238E27FC236}">
                <a16:creationId xmlns:a16="http://schemas.microsoft.com/office/drawing/2014/main" id="{C626332B-3336-45A8-BBF6-CB8F2B3FDABB}"/>
              </a:ext>
            </a:extLst>
          </p:cNvPr>
          <p:cNvSpPr/>
          <p:nvPr/>
        </p:nvSpPr>
        <p:spPr>
          <a:xfrm>
            <a:off x="9245925" y="5607789"/>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246" name="Rounded Rectangle 214">
            <a:extLst>
              <a:ext uri="{FF2B5EF4-FFF2-40B4-BE49-F238E27FC236}">
                <a16:creationId xmlns:a16="http://schemas.microsoft.com/office/drawing/2014/main" id="{CD875333-3CC6-4176-945A-B65FBC7EC9C1}"/>
              </a:ext>
            </a:extLst>
          </p:cNvPr>
          <p:cNvSpPr/>
          <p:nvPr/>
        </p:nvSpPr>
        <p:spPr>
          <a:xfrm>
            <a:off x="8636485" y="5798289"/>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247" name="Rounded Rectangle 215">
            <a:extLst>
              <a:ext uri="{FF2B5EF4-FFF2-40B4-BE49-F238E27FC236}">
                <a16:creationId xmlns:a16="http://schemas.microsoft.com/office/drawing/2014/main" id="{9AE03FE5-4024-47A1-9C73-D3490DD7722C}"/>
              </a:ext>
            </a:extLst>
          </p:cNvPr>
          <p:cNvSpPr/>
          <p:nvPr/>
        </p:nvSpPr>
        <p:spPr>
          <a:xfrm>
            <a:off x="9245925" y="5798289"/>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248" name="Rounded Rectangle 216">
            <a:extLst>
              <a:ext uri="{FF2B5EF4-FFF2-40B4-BE49-F238E27FC236}">
                <a16:creationId xmlns:a16="http://schemas.microsoft.com/office/drawing/2014/main" id="{710F9B86-2FFE-497C-93D6-D4F014580208}"/>
              </a:ext>
            </a:extLst>
          </p:cNvPr>
          <p:cNvSpPr/>
          <p:nvPr/>
        </p:nvSpPr>
        <p:spPr>
          <a:xfrm>
            <a:off x="9855366" y="5798289"/>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cxnSp>
        <p:nvCxnSpPr>
          <p:cNvPr id="249" name="Straight Arrow Connector 248">
            <a:extLst>
              <a:ext uri="{FF2B5EF4-FFF2-40B4-BE49-F238E27FC236}">
                <a16:creationId xmlns:a16="http://schemas.microsoft.com/office/drawing/2014/main" id="{84C75628-0165-471A-B0FA-DF0A3B13582C}"/>
              </a:ext>
            </a:extLst>
          </p:cNvPr>
          <p:cNvCxnSpPr/>
          <p:nvPr/>
        </p:nvCxnSpPr>
        <p:spPr>
          <a:xfrm>
            <a:off x="7963033" y="5189972"/>
            <a:ext cx="767900" cy="1588"/>
          </a:xfrm>
          <a:prstGeom prst="straightConnector1">
            <a:avLst/>
          </a:prstGeom>
          <a:noFill/>
          <a:ln w="25400" cap="flat" cmpd="sng" algn="ctr">
            <a:solidFill>
              <a:srgbClr val="008CA8"/>
            </a:solidFill>
            <a:prstDash val="solid"/>
            <a:headEnd type="arrow"/>
            <a:tailEnd type="arrow"/>
          </a:ln>
          <a:effectLst/>
        </p:spPr>
      </p:cxnSp>
      <p:sp>
        <p:nvSpPr>
          <p:cNvPr id="250" name="TextBox 249">
            <a:extLst>
              <a:ext uri="{FF2B5EF4-FFF2-40B4-BE49-F238E27FC236}">
                <a16:creationId xmlns:a16="http://schemas.microsoft.com/office/drawing/2014/main" id="{416020BB-03ED-4D1E-AC63-9F0218A0CAA2}"/>
              </a:ext>
            </a:extLst>
          </p:cNvPr>
          <p:cNvSpPr txBox="1"/>
          <p:nvPr/>
        </p:nvSpPr>
        <p:spPr>
          <a:xfrm>
            <a:off x="4482118" y="3488146"/>
            <a:ext cx="3327567" cy="90024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Arial"/>
              </a:rPr>
              <a:t>void foo(...) {</a:t>
            </a:r>
          </a:p>
          <a:p>
            <a:pPr defTabSz="457200" fontAlgn="base">
              <a:spcBef>
                <a:spcPct val="0"/>
              </a:spcBef>
              <a:spcAft>
                <a:spcPct val="0"/>
              </a:spcAft>
              <a:defRPr/>
            </a:pPr>
            <a:r>
              <a:rPr lang="en-US" sz="1050" b="1" kern="0" dirty="0">
                <a:solidFill>
                  <a:prstClr val="black"/>
                </a:solidFill>
                <a:latin typeface="Arial"/>
              </a:rPr>
              <a:t>    op_Read;</a:t>
            </a:r>
          </a:p>
          <a:p>
            <a:pPr defTabSz="457200" fontAlgn="base">
              <a:spcBef>
                <a:spcPct val="0"/>
              </a:spcBef>
              <a:spcAft>
                <a:spcPct val="0"/>
              </a:spcAft>
              <a:defRPr/>
            </a:pPr>
            <a:r>
              <a:rPr lang="en-US" sz="1050" b="1" kern="0" dirty="0">
                <a:solidFill>
                  <a:prstClr val="black"/>
                </a:solidFill>
                <a:latin typeface="Arial"/>
              </a:rPr>
              <a:t>    op_Compute;</a:t>
            </a:r>
          </a:p>
          <a:p>
            <a:pPr defTabSz="457200" fontAlgn="base">
              <a:spcBef>
                <a:spcPct val="0"/>
              </a:spcBef>
              <a:spcAft>
                <a:spcPct val="0"/>
              </a:spcAft>
              <a:defRPr/>
            </a:pPr>
            <a:r>
              <a:rPr lang="en-US" sz="1050" b="1" kern="0" dirty="0">
                <a:solidFill>
                  <a:prstClr val="black"/>
                </a:solidFill>
                <a:latin typeface="Arial"/>
              </a:rPr>
              <a:t>    </a:t>
            </a:r>
            <a:r>
              <a:rPr lang="en-US" sz="1050" b="1" kern="0" dirty="0" err="1">
                <a:solidFill>
                  <a:prstClr val="black"/>
                </a:solidFill>
                <a:latin typeface="Arial"/>
              </a:rPr>
              <a:t>op_Write</a:t>
            </a:r>
            <a:r>
              <a:rPr lang="en-US" sz="1050" b="1" kern="0" dirty="0">
                <a:solidFill>
                  <a:prstClr val="black"/>
                </a:solidFill>
                <a:latin typeface="Arial"/>
              </a:rPr>
              <a:t>;</a:t>
            </a:r>
          </a:p>
          <a:p>
            <a:pPr defTabSz="457200" fontAlgn="base">
              <a:spcBef>
                <a:spcPct val="0"/>
              </a:spcBef>
              <a:spcAft>
                <a:spcPct val="0"/>
              </a:spcAft>
              <a:defRPr/>
            </a:pPr>
            <a:r>
              <a:rPr lang="en-US" sz="1050" b="1" kern="0" dirty="0">
                <a:solidFill>
                  <a:prstClr val="black"/>
                </a:solidFill>
                <a:latin typeface="Arial"/>
              </a:rPr>
              <a:t>}</a:t>
            </a:r>
          </a:p>
        </p:txBody>
      </p:sp>
      <p:sp>
        <p:nvSpPr>
          <p:cNvPr id="251" name="Rounded Rectangle 102">
            <a:extLst>
              <a:ext uri="{FF2B5EF4-FFF2-40B4-BE49-F238E27FC236}">
                <a16:creationId xmlns:a16="http://schemas.microsoft.com/office/drawing/2014/main" id="{405D8656-FB4C-4FF5-8C33-7DBDEAA1D8C9}"/>
              </a:ext>
            </a:extLst>
          </p:cNvPr>
          <p:cNvSpPr/>
          <p:nvPr/>
        </p:nvSpPr>
        <p:spPr>
          <a:xfrm>
            <a:off x="6262271" y="3718576"/>
            <a:ext cx="812588"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252" name="Rounded Rectangle 103">
            <a:extLst>
              <a:ext uri="{FF2B5EF4-FFF2-40B4-BE49-F238E27FC236}">
                <a16:creationId xmlns:a16="http://schemas.microsoft.com/office/drawing/2014/main" id="{61F1BE98-BBB8-4B06-82A9-C6546B95F589}"/>
              </a:ext>
            </a:extLst>
          </p:cNvPr>
          <p:cNvSpPr/>
          <p:nvPr/>
        </p:nvSpPr>
        <p:spPr>
          <a:xfrm>
            <a:off x="6262271" y="3870976"/>
            <a:ext cx="812588"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253" name="Rounded Rectangle 104">
            <a:extLst>
              <a:ext uri="{FF2B5EF4-FFF2-40B4-BE49-F238E27FC236}">
                <a16:creationId xmlns:a16="http://schemas.microsoft.com/office/drawing/2014/main" id="{5A14C60A-A71C-4540-87F1-F87D4C37DDE8}"/>
              </a:ext>
            </a:extLst>
          </p:cNvPr>
          <p:cNvSpPr/>
          <p:nvPr/>
        </p:nvSpPr>
        <p:spPr>
          <a:xfrm>
            <a:off x="6262271" y="4023376"/>
            <a:ext cx="812588"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Pipelining</a:t>
            </a:r>
          </a:p>
        </p:txBody>
      </p:sp>
      <p:sp>
        <p:nvSpPr>
          <p:cNvPr id="3" name="Content Placeholder 2"/>
          <p:cNvSpPr>
            <a:spLocks noGrp="1"/>
          </p:cNvSpPr>
          <p:nvPr>
            <p:ph idx="1"/>
          </p:nvPr>
        </p:nvSpPr>
        <p:spPr>
          <a:xfrm>
            <a:off x="657127" y="982441"/>
            <a:ext cx="10515600" cy="4759404"/>
          </a:xfrm>
        </p:spPr>
        <p:txBody>
          <a:bodyPr>
            <a:noAutofit/>
          </a:bodyPr>
          <a:lstStyle/>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pPr marL="0" indent="0">
              <a:buNone/>
            </a:pPr>
            <a:endParaRPr lang="en-US" sz="1600" dirty="0"/>
          </a:p>
          <a:p>
            <a:r>
              <a:rPr lang="en-US" sz="1600" dirty="0"/>
              <a:t>There are 3 clock cycles before operation RD can occur again</a:t>
            </a:r>
            <a:endParaRPr lang="en-US" sz="1600" i="1" dirty="0"/>
          </a:p>
          <a:p>
            <a:pPr lvl="1"/>
            <a:r>
              <a:rPr lang="en-US" sz="1400" dirty="0"/>
              <a:t>Throughput = 3 cycles</a:t>
            </a:r>
          </a:p>
          <a:p>
            <a:r>
              <a:rPr lang="en-US" sz="1600" dirty="0"/>
              <a:t>There are 3 cycles before the 1</a:t>
            </a:r>
            <a:r>
              <a:rPr lang="en-US" sz="1600" baseline="30000" dirty="0"/>
              <a:t>st</a:t>
            </a:r>
            <a:r>
              <a:rPr lang="en-US" sz="1600" dirty="0"/>
              <a:t> output is written</a:t>
            </a:r>
          </a:p>
          <a:p>
            <a:pPr lvl="1"/>
            <a:r>
              <a:rPr lang="en-US" sz="1400" dirty="0"/>
              <a:t>Latency = 3 cycles</a:t>
            </a:r>
          </a:p>
          <a:p>
            <a:pPr lvl="1"/>
            <a:r>
              <a:rPr lang="en-US" sz="1400" dirty="0"/>
              <a:t>For the loop, 6 cycles</a:t>
            </a:r>
            <a:endParaRPr lang="en-US" sz="1200" dirty="0"/>
          </a:p>
        </p:txBody>
      </p:sp>
      <p:sp>
        <p:nvSpPr>
          <p:cNvPr id="103" name="Slide Number Placeholder 102"/>
          <p:cNvSpPr>
            <a:spLocks noGrp="1"/>
          </p:cNvSpPr>
          <p:nvPr>
            <p:ph type="sldNum" sz="quarter" idx="10"/>
          </p:nvPr>
        </p:nvSpPr>
        <p:spPr/>
        <p:txBody>
          <a:bodyPr/>
          <a:lstStyle/>
          <a:p>
            <a:pPr>
              <a:defRPr/>
            </a:pPr>
            <a:r>
              <a:rPr lang="en-US" dirty="0"/>
              <a:t>Improving Performance 13- </a:t>
            </a:r>
            <a:fld id="{99D29FBF-A473-46DA-BC14-675AC1C8F9A5}" type="slidenum">
              <a:rPr lang="en-US" smtClean="0"/>
              <a:pPr>
                <a:defRPr/>
              </a:pPr>
              <a:t>52</a:t>
            </a:fld>
            <a:endParaRPr lang="en-US" dirty="0"/>
          </a:p>
        </p:txBody>
      </p:sp>
      <p:cxnSp>
        <p:nvCxnSpPr>
          <p:cNvPr id="357" name="Straight Arrow Connector 356">
            <a:extLst>
              <a:ext uri="{FF2B5EF4-FFF2-40B4-BE49-F238E27FC236}">
                <a16:creationId xmlns:a16="http://schemas.microsoft.com/office/drawing/2014/main" id="{3ED191F7-CE39-4385-A4CE-21650D6FAA6D}"/>
              </a:ext>
            </a:extLst>
          </p:cNvPr>
          <p:cNvCxnSpPr/>
          <p:nvPr/>
        </p:nvCxnSpPr>
        <p:spPr>
          <a:xfrm>
            <a:off x="824037" y="3658713"/>
            <a:ext cx="1864881" cy="1588"/>
          </a:xfrm>
          <a:prstGeom prst="straightConnector1">
            <a:avLst/>
          </a:prstGeom>
          <a:noFill/>
          <a:ln w="25400" cap="flat" cmpd="sng" algn="ctr">
            <a:solidFill>
              <a:srgbClr val="008CA8"/>
            </a:solidFill>
            <a:prstDash val="solid"/>
            <a:headEnd type="arrow"/>
            <a:tailEnd type="arrow"/>
          </a:ln>
          <a:effectLst/>
        </p:spPr>
      </p:cxnSp>
      <p:sp>
        <p:nvSpPr>
          <p:cNvPr id="358" name="TextBox 357">
            <a:extLst>
              <a:ext uri="{FF2B5EF4-FFF2-40B4-BE49-F238E27FC236}">
                <a16:creationId xmlns:a16="http://schemas.microsoft.com/office/drawing/2014/main" id="{B606967D-1533-4D41-9B1C-834E797695B6}"/>
              </a:ext>
            </a:extLst>
          </p:cNvPr>
          <p:cNvSpPr txBox="1"/>
          <p:nvPr/>
        </p:nvSpPr>
        <p:spPr>
          <a:xfrm>
            <a:off x="895061" y="3650885"/>
            <a:ext cx="1537600"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Latency = 3 cycles</a:t>
            </a:r>
          </a:p>
        </p:txBody>
      </p:sp>
      <p:sp>
        <p:nvSpPr>
          <p:cNvPr id="359" name="TextBox 358">
            <a:extLst>
              <a:ext uri="{FF2B5EF4-FFF2-40B4-BE49-F238E27FC236}">
                <a16:creationId xmlns:a16="http://schemas.microsoft.com/office/drawing/2014/main" id="{55E2D2F1-ACCA-4309-8F64-ED7F10C07BE5}"/>
              </a:ext>
            </a:extLst>
          </p:cNvPr>
          <p:cNvSpPr txBox="1"/>
          <p:nvPr/>
        </p:nvSpPr>
        <p:spPr>
          <a:xfrm>
            <a:off x="1508718" y="1085914"/>
            <a:ext cx="1541063" cy="276999"/>
          </a:xfrm>
          <a:prstGeom prst="rect">
            <a:avLst/>
          </a:prstGeom>
          <a:noFill/>
          <a:effectLst/>
        </p:spPr>
        <p:txBody>
          <a:bodyPr wrap="none" rtlCol="0">
            <a:spAutoFit/>
          </a:bodyPr>
          <a:lstStyle/>
          <a:p>
            <a:pPr defTabSz="457200" fontAlgn="base">
              <a:spcBef>
                <a:spcPct val="0"/>
              </a:spcBef>
              <a:spcAft>
                <a:spcPct val="0"/>
              </a:spcAft>
            </a:pPr>
            <a:r>
              <a:rPr lang="en-US" sz="1200" b="1" u="sng" dirty="0">
                <a:solidFill>
                  <a:prstClr val="black"/>
                </a:solidFill>
                <a:ea typeface="ＭＳ Ｐゴシック" pitchFamily="34" charset="-128"/>
                <a:cs typeface="Arial" charset="0"/>
              </a:rPr>
              <a:t>Without Pipelining</a:t>
            </a:r>
          </a:p>
        </p:txBody>
      </p:sp>
      <p:cxnSp>
        <p:nvCxnSpPr>
          <p:cNvPr id="360" name="Straight Arrow Connector 359">
            <a:extLst>
              <a:ext uri="{FF2B5EF4-FFF2-40B4-BE49-F238E27FC236}">
                <a16:creationId xmlns:a16="http://schemas.microsoft.com/office/drawing/2014/main" id="{E9504076-CD95-43A8-8D2A-ACB3248E0EC6}"/>
              </a:ext>
            </a:extLst>
          </p:cNvPr>
          <p:cNvCxnSpPr/>
          <p:nvPr/>
        </p:nvCxnSpPr>
        <p:spPr>
          <a:xfrm>
            <a:off x="794541" y="2852208"/>
            <a:ext cx="1945347" cy="1588"/>
          </a:xfrm>
          <a:prstGeom prst="straightConnector1">
            <a:avLst/>
          </a:prstGeom>
          <a:noFill/>
          <a:ln w="25400" cap="flat" cmpd="sng" algn="ctr">
            <a:solidFill>
              <a:srgbClr val="008CA8"/>
            </a:solidFill>
            <a:prstDash val="solid"/>
            <a:headEnd type="arrow"/>
            <a:tailEnd type="arrow"/>
          </a:ln>
          <a:effectLst/>
        </p:spPr>
      </p:cxnSp>
      <p:sp>
        <p:nvSpPr>
          <p:cNvPr id="361" name="TextBox 360">
            <a:extLst>
              <a:ext uri="{FF2B5EF4-FFF2-40B4-BE49-F238E27FC236}">
                <a16:creationId xmlns:a16="http://schemas.microsoft.com/office/drawing/2014/main" id="{40BE5713-9606-4430-B26E-FA225C8E74A9}"/>
              </a:ext>
            </a:extLst>
          </p:cNvPr>
          <p:cNvSpPr txBox="1"/>
          <p:nvPr/>
        </p:nvSpPr>
        <p:spPr>
          <a:xfrm>
            <a:off x="870929" y="2583709"/>
            <a:ext cx="1824538"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Throughput = 3 cycles</a:t>
            </a:r>
          </a:p>
        </p:txBody>
      </p:sp>
      <p:sp>
        <p:nvSpPr>
          <p:cNvPr id="362" name="Bent Arrow 115">
            <a:extLst>
              <a:ext uri="{FF2B5EF4-FFF2-40B4-BE49-F238E27FC236}">
                <a16:creationId xmlns:a16="http://schemas.microsoft.com/office/drawing/2014/main" id="{86D63E5D-1EFA-464E-955D-A757570BDE58}"/>
              </a:ext>
            </a:extLst>
          </p:cNvPr>
          <p:cNvSpPr/>
          <p:nvPr/>
        </p:nvSpPr>
        <p:spPr>
          <a:xfrm rot="16200000" flipH="1">
            <a:off x="2435577" y="1073238"/>
            <a:ext cx="768100" cy="2252507"/>
          </a:xfrm>
          <a:prstGeom prst="bentArrow">
            <a:avLst>
              <a:gd name="adj1" fmla="val 26145"/>
              <a:gd name="adj2" fmla="val 25000"/>
              <a:gd name="adj3" fmla="val 25000"/>
              <a:gd name="adj4" fmla="val 47184"/>
            </a:avLst>
          </a:prstGeom>
          <a:gradFill flip="none" rotWithShape="1">
            <a:gsLst>
              <a:gs pos="0">
                <a:srgbClr val="008CA8">
                  <a:tint val="100000"/>
                  <a:shade val="100000"/>
                  <a:satMod val="130000"/>
                </a:srgbClr>
              </a:gs>
              <a:gs pos="100000">
                <a:srgbClr val="008CA8">
                  <a:tint val="50000"/>
                  <a:shade val="100000"/>
                  <a:satMod val="350000"/>
                </a:srgbClr>
              </a:gs>
            </a:gsLst>
            <a:lin ang="13500000" scaled="1"/>
            <a:tileRect/>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grpSp>
        <p:nvGrpSpPr>
          <p:cNvPr id="363" name="Group 71">
            <a:extLst>
              <a:ext uri="{FF2B5EF4-FFF2-40B4-BE49-F238E27FC236}">
                <a16:creationId xmlns:a16="http://schemas.microsoft.com/office/drawing/2014/main" id="{A09FD0F2-09BC-4DF1-A80B-06731BC82806}"/>
              </a:ext>
            </a:extLst>
          </p:cNvPr>
          <p:cNvGrpSpPr/>
          <p:nvPr/>
        </p:nvGrpSpPr>
        <p:grpSpPr>
          <a:xfrm>
            <a:off x="869945" y="3014029"/>
            <a:ext cx="609443" cy="228600"/>
            <a:chOff x="-66694" y="1130300"/>
            <a:chExt cx="533401" cy="228600"/>
          </a:xfrm>
          <a:effectLst>
            <a:outerShdw blurRad="50800" dist="38100" dir="2700000" algn="tl" rotWithShape="0">
              <a:prstClr val="black">
                <a:alpha val="40000"/>
              </a:prstClr>
            </a:outerShdw>
          </a:effectLst>
        </p:grpSpPr>
        <p:cxnSp>
          <p:nvCxnSpPr>
            <p:cNvPr id="364" name="Straight Connector 363">
              <a:extLst>
                <a:ext uri="{FF2B5EF4-FFF2-40B4-BE49-F238E27FC236}">
                  <a16:creationId xmlns:a16="http://schemas.microsoft.com/office/drawing/2014/main" id="{B4E31584-39B4-49FA-A56E-DFD93910B95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65" name="Straight Connector 364">
              <a:extLst>
                <a:ext uri="{FF2B5EF4-FFF2-40B4-BE49-F238E27FC236}">
                  <a16:creationId xmlns:a16="http://schemas.microsoft.com/office/drawing/2014/main" id="{FFA508EE-1AA5-4609-82D0-819E40EE56A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66" name="Straight Connector 365">
              <a:extLst>
                <a:ext uri="{FF2B5EF4-FFF2-40B4-BE49-F238E27FC236}">
                  <a16:creationId xmlns:a16="http://schemas.microsoft.com/office/drawing/2014/main" id="{00A5344F-052F-4763-8C8A-7DF8DCCE98BD}"/>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67" name="Straight Connector 366">
              <a:extLst>
                <a:ext uri="{FF2B5EF4-FFF2-40B4-BE49-F238E27FC236}">
                  <a16:creationId xmlns:a16="http://schemas.microsoft.com/office/drawing/2014/main" id="{D6A71FBB-CDC5-4C2F-AAFC-7444271E87C9}"/>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368" name="Group 71">
            <a:extLst>
              <a:ext uri="{FF2B5EF4-FFF2-40B4-BE49-F238E27FC236}">
                <a16:creationId xmlns:a16="http://schemas.microsoft.com/office/drawing/2014/main" id="{74B690B1-B8A2-49ED-BE30-C562FBEB4674}"/>
              </a:ext>
            </a:extLst>
          </p:cNvPr>
          <p:cNvGrpSpPr/>
          <p:nvPr/>
        </p:nvGrpSpPr>
        <p:grpSpPr>
          <a:xfrm>
            <a:off x="1479386" y="3014029"/>
            <a:ext cx="609443" cy="228600"/>
            <a:chOff x="-66694" y="1130300"/>
            <a:chExt cx="533401" cy="228600"/>
          </a:xfrm>
          <a:effectLst>
            <a:outerShdw blurRad="50800" dist="38100" dir="2700000" algn="tl" rotWithShape="0">
              <a:prstClr val="black">
                <a:alpha val="40000"/>
              </a:prstClr>
            </a:outerShdw>
          </a:effectLst>
        </p:grpSpPr>
        <p:cxnSp>
          <p:nvCxnSpPr>
            <p:cNvPr id="369" name="Straight Connector 368">
              <a:extLst>
                <a:ext uri="{FF2B5EF4-FFF2-40B4-BE49-F238E27FC236}">
                  <a16:creationId xmlns:a16="http://schemas.microsoft.com/office/drawing/2014/main" id="{D2D16391-C2F6-463D-A92B-3683FDB6AB3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70" name="Straight Connector 369">
              <a:extLst>
                <a:ext uri="{FF2B5EF4-FFF2-40B4-BE49-F238E27FC236}">
                  <a16:creationId xmlns:a16="http://schemas.microsoft.com/office/drawing/2014/main" id="{CC53832C-3CB9-41B1-89C3-7BEE3FB6842A}"/>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71" name="Straight Connector 370">
              <a:extLst>
                <a:ext uri="{FF2B5EF4-FFF2-40B4-BE49-F238E27FC236}">
                  <a16:creationId xmlns:a16="http://schemas.microsoft.com/office/drawing/2014/main" id="{A33A5269-442A-4AF9-A557-B67DEFA81C8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72" name="Straight Connector 371">
              <a:extLst>
                <a:ext uri="{FF2B5EF4-FFF2-40B4-BE49-F238E27FC236}">
                  <a16:creationId xmlns:a16="http://schemas.microsoft.com/office/drawing/2014/main" id="{BAE8A3E4-4DEF-4F46-8760-327C575812FD}"/>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373" name="Group 71">
            <a:extLst>
              <a:ext uri="{FF2B5EF4-FFF2-40B4-BE49-F238E27FC236}">
                <a16:creationId xmlns:a16="http://schemas.microsoft.com/office/drawing/2014/main" id="{9839B9EC-47B5-40E8-B048-33E8D3A43ED2}"/>
              </a:ext>
            </a:extLst>
          </p:cNvPr>
          <p:cNvGrpSpPr/>
          <p:nvPr/>
        </p:nvGrpSpPr>
        <p:grpSpPr>
          <a:xfrm>
            <a:off x="2088828" y="3014029"/>
            <a:ext cx="609443" cy="228600"/>
            <a:chOff x="-66694" y="1130300"/>
            <a:chExt cx="533401" cy="228600"/>
          </a:xfrm>
          <a:effectLst>
            <a:outerShdw blurRad="50800" dist="38100" dir="2700000" algn="tl" rotWithShape="0">
              <a:prstClr val="black">
                <a:alpha val="40000"/>
              </a:prstClr>
            </a:outerShdw>
          </a:effectLst>
        </p:grpSpPr>
        <p:cxnSp>
          <p:nvCxnSpPr>
            <p:cNvPr id="374" name="Straight Connector 373">
              <a:extLst>
                <a:ext uri="{FF2B5EF4-FFF2-40B4-BE49-F238E27FC236}">
                  <a16:creationId xmlns:a16="http://schemas.microsoft.com/office/drawing/2014/main" id="{BCBC6FB2-542C-4AB0-97CE-F5DC57382D16}"/>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75" name="Straight Connector 374">
              <a:extLst>
                <a:ext uri="{FF2B5EF4-FFF2-40B4-BE49-F238E27FC236}">
                  <a16:creationId xmlns:a16="http://schemas.microsoft.com/office/drawing/2014/main" id="{7B332D90-9BE1-461A-A44B-7E29E9D8FD70}"/>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76" name="Straight Connector 375">
              <a:extLst>
                <a:ext uri="{FF2B5EF4-FFF2-40B4-BE49-F238E27FC236}">
                  <a16:creationId xmlns:a16="http://schemas.microsoft.com/office/drawing/2014/main" id="{C24285C4-57E3-4042-8004-C2BBA0127E10}"/>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77" name="Straight Connector 376">
              <a:extLst>
                <a:ext uri="{FF2B5EF4-FFF2-40B4-BE49-F238E27FC236}">
                  <a16:creationId xmlns:a16="http://schemas.microsoft.com/office/drawing/2014/main" id="{668DE732-C8A2-4AEA-9E3C-2C975A60C25F}"/>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378" name="Group 71">
            <a:extLst>
              <a:ext uri="{FF2B5EF4-FFF2-40B4-BE49-F238E27FC236}">
                <a16:creationId xmlns:a16="http://schemas.microsoft.com/office/drawing/2014/main" id="{4182BA75-942E-44A6-BDFA-77C2831BC021}"/>
              </a:ext>
            </a:extLst>
          </p:cNvPr>
          <p:cNvGrpSpPr/>
          <p:nvPr/>
        </p:nvGrpSpPr>
        <p:grpSpPr>
          <a:xfrm>
            <a:off x="2698268" y="3014029"/>
            <a:ext cx="609443" cy="228600"/>
            <a:chOff x="-66694" y="1130300"/>
            <a:chExt cx="533401" cy="228600"/>
          </a:xfrm>
          <a:effectLst>
            <a:outerShdw blurRad="50800" dist="38100" dir="2700000" algn="tl" rotWithShape="0">
              <a:prstClr val="black">
                <a:alpha val="40000"/>
              </a:prstClr>
            </a:outerShdw>
          </a:effectLst>
        </p:grpSpPr>
        <p:cxnSp>
          <p:nvCxnSpPr>
            <p:cNvPr id="379" name="Straight Connector 378">
              <a:extLst>
                <a:ext uri="{FF2B5EF4-FFF2-40B4-BE49-F238E27FC236}">
                  <a16:creationId xmlns:a16="http://schemas.microsoft.com/office/drawing/2014/main" id="{F07AEE65-BF71-42BC-B283-59FBEC7C69D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80" name="Straight Connector 379">
              <a:extLst>
                <a:ext uri="{FF2B5EF4-FFF2-40B4-BE49-F238E27FC236}">
                  <a16:creationId xmlns:a16="http://schemas.microsoft.com/office/drawing/2014/main" id="{3FEE1E0D-16BF-4114-A462-D2000C42A8AA}"/>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81" name="Straight Connector 380">
              <a:extLst>
                <a:ext uri="{FF2B5EF4-FFF2-40B4-BE49-F238E27FC236}">
                  <a16:creationId xmlns:a16="http://schemas.microsoft.com/office/drawing/2014/main" id="{828F9049-2360-431D-B49A-20BCBA6217F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82" name="Straight Connector 381">
              <a:extLst>
                <a:ext uri="{FF2B5EF4-FFF2-40B4-BE49-F238E27FC236}">
                  <a16:creationId xmlns:a16="http://schemas.microsoft.com/office/drawing/2014/main" id="{DBAD555C-07FB-4B33-B7BE-9B541D971BC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383" name="Group 71">
            <a:extLst>
              <a:ext uri="{FF2B5EF4-FFF2-40B4-BE49-F238E27FC236}">
                <a16:creationId xmlns:a16="http://schemas.microsoft.com/office/drawing/2014/main" id="{A57A1A01-5BCC-4F5F-8AD6-DA51815474D4}"/>
              </a:ext>
            </a:extLst>
          </p:cNvPr>
          <p:cNvGrpSpPr/>
          <p:nvPr/>
        </p:nvGrpSpPr>
        <p:grpSpPr>
          <a:xfrm>
            <a:off x="3307710" y="3014029"/>
            <a:ext cx="609443" cy="228600"/>
            <a:chOff x="-66694" y="1130300"/>
            <a:chExt cx="533401" cy="228600"/>
          </a:xfrm>
          <a:effectLst>
            <a:outerShdw blurRad="50800" dist="38100" dir="2700000" algn="tl" rotWithShape="0">
              <a:prstClr val="black">
                <a:alpha val="40000"/>
              </a:prstClr>
            </a:outerShdw>
          </a:effectLst>
        </p:grpSpPr>
        <p:cxnSp>
          <p:nvCxnSpPr>
            <p:cNvPr id="384" name="Straight Connector 383">
              <a:extLst>
                <a:ext uri="{FF2B5EF4-FFF2-40B4-BE49-F238E27FC236}">
                  <a16:creationId xmlns:a16="http://schemas.microsoft.com/office/drawing/2014/main" id="{0D865255-20F7-47BC-BBCA-46FE2BB4511F}"/>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85" name="Straight Connector 384">
              <a:extLst>
                <a:ext uri="{FF2B5EF4-FFF2-40B4-BE49-F238E27FC236}">
                  <a16:creationId xmlns:a16="http://schemas.microsoft.com/office/drawing/2014/main" id="{10D1AC43-14B1-4481-BFC1-507C64D1C1DF}"/>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86" name="Straight Connector 385">
              <a:extLst>
                <a:ext uri="{FF2B5EF4-FFF2-40B4-BE49-F238E27FC236}">
                  <a16:creationId xmlns:a16="http://schemas.microsoft.com/office/drawing/2014/main" id="{31F16F75-F05B-4F88-ACBE-B279E37D616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87" name="Straight Connector 386">
              <a:extLst>
                <a:ext uri="{FF2B5EF4-FFF2-40B4-BE49-F238E27FC236}">
                  <a16:creationId xmlns:a16="http://schemas.microsoft.com/office/drawing/2014/main" id="{FCB0570F-D314-4E83-B3A3-5FD729388EF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388" name="Group 71">
            <a:extLst>
              <a:ext uri="{FF2B5EF4-FFF2-40B4-BE49-F238E27FC236}">
                <a16:creationId xmlns:a16="http://schemas.microsoft.com/office/drawing/2014/main" id="{1BF90012-42F2-4F4D-9DE2-3E059F479FEA}"/>
              </a:ext>
            </a:extLst>
          </p:cNvPr>
          <p:cNvGrpSpPr/>
          <p:nvPr/>
        </p:nvGrpSpPr>
        <p:grpSpPr>
          <a:xfrm>
            <a:off x="3917151" y="3014029"/>
            <a:ext cx="609443" cy="228600"/>
            <a:chOff x="-66694" y="1130300"/>
            <a:chExt cx="533401" cy="228600"/>
          </a:xfrm>
          <a:effectLst>
            <a:outerShdw blurRad="50800" dist="38100" dir="2700000" algn="tl" rotWithShape="0">
              <a:prstClr val="black">
                <a:alpha val="40000"/>
              </a:prstClr>
            </a:outerShdw>
          </a:effectLst>
        </p:grpSpPr>
        <p:cxnSp>
          <p:nvCxnSpPr>
            <p:cNvPr id="389" name="Straight Connector 388">
              <a:extLst>
                <a:ext uri="{FF2B5EF4-FFF2-40B4-BE49-F238E27FC236}">
                  <a16:creationId xmlns:a16="http://schemas.microsoft.com/office/drawing/2014/main" id="{D05671A0-70B4-4277-AD16-815EEC6CB582}"/>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90" name="Straight Connector 389">
              <a:extLst>
                <a:ext uri="{FF2B5EF4-FFF2-40B4-BE49-F238E27FC236}">
                  <a16:creationId xmlns:a16="http://schemas.microsoft.com/office/drawing/2014/main" id="{5B2E06D5-A029-4955-A79C-0B7556380139}"/>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91" name="Straight Connector 390">
              <a:extLst>
                <a:ext uri="{FF2B5EF4-FFF2-40B4-BE49-F238E27FC236}">
                  <a16:creationId xmlns:a16="http://schemas.microsoft.com/office/drawing/2014/main" id="{7EF565F9-7FB0-4C32-BBFB-B65C8BE0CB5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92" name="Straight Connector 391">
              <a:extLst>
                <a:ext uri="{FF2B5EF4-FFF2-40B4-BE49-F238E27FC236}">
                  <a16:creationId xmlns:a16="http://schemas.microsoft.com/office/drawing/2014/main" id="{ED185437-6136-4BCA-8763-041398FA3DF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393" name="Rounded Rectangle 163">
            <a:extLst>
              <a:ext uri="{FF2B5EF4-FFF2-40B4-BE49-F238E27FC236}">
                <a16:creationId xmlns:a16="http://schemas.microsoft.com/office/drawing/2014/main" id="{E8203C3E-73F7-4EFE-B232-A97DB98F17F0}"/>
              </a:ext>
            </a:extLst>
          </p:cNvPr>
          <p:cNvSpPr/>
          <p:nvPr/>
        </p:nvSpPr>
        <p:spPr>
          <a:xfrm>
            <a:off x="818935" y="3274663"/>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394" name="Rounded Rectangle 164">
            <a:extLst>
              <a:ext uri="{FF2B5EF4-FFF2-40B4-BE49-F238E27FC236}">
                <a16:creationId xmlns:a16="http://schemas.microsoft.com/office/drawing/2014/main" id="{EFC378ED-088E-42BE-B1FB-3CF10F809D9A}"/>
              </a:ext>
            </a:extLst>
          </p:cNvPr>
          <p:cNvSpPr/>
          <p:nvPr/>
        </p:nvSpPr>
        <p:spPr>
          <a:xfrm>
            <a:off x="1428380" y="3274663"/>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395" name="Rounded Rectangle 165">
            <a:extLst>
              <a:ext uri="{FF2B5EF4-FFF2-40B4-BE49-F238E27FC236}">
                <a16:creationId xmlns:a16="http://schemas.microsoft.com/office/drawing/2014/main" id="{A5C96608-1016-4C00-9B50-07CF60E4A6B1}"/>
              </a:ext>
            </a:extLst>
          </p:cNvPr>
          <p:cNvSpPr/>
          <p:nvPr/>
        </p:nvSpPr>
        <p:spPr>
          <a:xfrm>
            <a:off x="2037820" y="3274663"/>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396" name="Rounded Rectangle 166">
            <a:extLst>
              <a:ext uri="{FF2B5EF4-FFF2-40B4-BE49-F238E27FC236}">
                <a16:creationId xmlns:a16="http://schemas.microsoft.com/office/drawing/2014/main" id="{34FC7AF5-3DC5-4678-B9E1-6C1B68B2F95C}"/>
              </a:ext>
            </a:extLst>
          </p:cNvPr>
          <p:cNvSpPr/>
          <p:nvPr/>
        </p:nvSpPr>
        <p:spPr>
          <a:xfrm>
            <a:off x="2647260" y="3274663"/>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397" name="Rounded Rectangle 167">
            <a:extLst>
              <a:ext uri="{FF2B5EF4-FFF2-40B4-BE49-F238E27FC236}">
                <a16:creationId xmlns:a16="http://schemas.microsoft.com/office/drawing/2014/main" id="{084D2B98-DB97-4468-97E7-11D4AE4A015B}"/>
              </a:ext>
            </a:extLst>
          </p:cNvPr>
          <p:cNvSpPr/>
          <p:nvPr/>
        </p:nvSpPr>
        <p:spPr>
          <a:xfrm>
            <a:off x="3256700" y="3274663"/>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398" name="Rounded Rectangle 168">
            <a:extLst>
              <a:ext uri="{FF2B5EF4-FFF2-40B4-BE49-F238E27FC236}">
                <a16:creationId xmlns:a16="http://schemas.microsoft.com/office/drawing/2014/main" id="{BD92DA4F-E232-47D1-A236-652573C8D126}"/>
              </a:ext>
            </a:extLst>
          </p:cNvPr>
          <p:cNvSpPr/>
          <p:nvPr/>
        </p:nvSpPr>
        <p:spPr>
          <a:xfrm>
            <a:off x="3866145" y="3274663"/>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399" name="TextBox 398">
            <a:extLst>
              <a:ext uri="{FF2B5EF4-FFF2-40B4-BE49-F238E27FC236}">
                <a16:creationId xmlns:a16="http://schemas.microsoft.com/office/drawing/2014/main" id="{72FA953B-B88E-4031-82D8-E8D920EA5572}"/>
              </a:ext>
            </a:extLst>
          </p:cNvPr>
          <p:cNvSpPr txBox="1"/>
          <p:nvPr/>
        </p:nvSpPr>
        <p:spPr>
          <a:xfrm>
            <a:off x="8816122" y="1116155"/>
            <a:ext cx="1300612" cy="276999"/>
          </a:xfrm>
          <a:prstGeom prst="rect">
            <a:avLst/>
          </a:prstGeom>
          <a:noFill/>
          <a:effectLst/>
        </p:spPr>
        <p:txBody>
          <a:bodyPr wrap="none" rtlCol="0">
            <a:spAutoFit/>
          </a:bodyPr>
          <a:lstStyle/>
          <a:p>
            <a:pPr defTabSz="457200" fontAlgn="base">
              <a:spcBef>
                <a:spcPct val="0"/>
              </a:spcBef>
              <a:spcAft>
                <a:spcPct val="0"/>
              </a:spcAft>
            </a:pPr>
            <a:r>
              <a:rPr lang="en-US" sz="1200" b="1" u="sng" dirty="0">
                <a:solidFill>
                  <a:prstClr val="black"/>
                </a:solidFill>
                <a:ea typeface="ＭＳ Ｐゴシック" pitchFamily="34" charset="-128"/>
                <a:cs typeface="Arial" charset="0"/>
              </a:rPr>
              <a:t>With Pipelining</a:t>
            </a:r>
          </a:p>
        </p:txBody>
      </p:sp>
      <p:sp>
        <p:nvSpPr>
          <p:cNvPr id="400" name="Bent Arrow 114">
            <a:extLst>
              <a:ext uri="{FF2B5EF4-FFF2-40B4-BE49-F238E27FC236}">
                <a16:creationId xmlns:a16="http://schemas.microsoft.com/office/drawing/2014/main" id="{12E0D086-7C86-411F-8F3B-7BF25204845E}"/>
              </a:ext>
            </a:extLst>
          </p:cNvPr>
          <p:cNvSpPr/>
          <p:nvPr/>
        </p:nvSpPr>
        <p:spPr>
          <a:xfrm rot="5400000">
            <a:off x="8681164" y="1073238"/>
            <a:ext cx="768100" cy="2252507"/>
          </a:xfrm>
          <a:prstGeom prst="bentArrow">
            <a:avLst>
              <a:gd name="adj1" fmla="val 26145"/>
              <a:gd name="adj2" fmla="val 25000"/>
              <a:gd name="adj3" fmla="val 25000"/>
              <a:gd name="adj4" fmla="val 47184"/>
            </a:avLst>
          </a:prstGeom>
          <a:gradFill flip="none" rotWithShape="1">
            <a:gsLst>
              <a:gs pos="0">
                <a:srgbClr val="008CA8">
                  <a:tint val="100000"/>
                  <a:shade val="100000"/>
                  <a:satMod val="130000"/>
                </a:srgbClr>
              </a:gs>
              <a:gs pos="100000">
                <a:srgbClr val="008CA8">
                  <a:tint val="50000"/>
                  <a:shade val="100000"/>
                  <a:satMod val="350000"/>
                </a:srgbClr>
              </a:gs>
            </a:gsLst>
            <a:lin ang="13500000" scaled="1"/>
            <a:tileRect/>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black"/>
              </a:solidFill>
              <a:latin typeface="Arial"/>
            </a:endParaRPr>
          </a:p>
        </p:txBody>
      </p:sp>
      <p:cxnSp>
        <p:nvCxnSpPr>
          <p:cNvPr id="401" name="Straight Arrow Connector 400">
            <a:extLst>
              <a:ext uri="{FF2B5EF4-FFF2-40B4-BE49-F238E27FC236}">
                <a16:creationId xmlns:a16="http://schemas.microsoft.com/office/drawing/2014/main" id="{4B1C85A5-F00F-46AF-97C4-11A32D1636DE}"/>
              </a:ext>
            </a:extLst>
          </p:cNvPr>
          <p:cNvCxnSpPr/>
          <p:nvPr/>
        </p:nvCxnSpPr>
        <p:spPr>
          <a:xfrm>
            <a:off x="7621685" y="3772340"/>
            <a:ext cx="1791767" cy="1588"/>
          </a:xfrm>
          <a:prstGeom prst="straightConnector1">
            <a:avLst/>
          </a:prstGeom>
          <a:noFill/>
          <a:ln w="25400" cap="flat" cmpd="sng" algn="ctr">
            <a:solidFill>
              <a:srgbClr val="008CA8"/>
            </a:solidFill>
            <a:prstDash val="solid"/>
            <a:headEnd type="arrow"/>
            <a:tailEnd type="arrow"/>
          </a:ln>
          <a:effectLst/>
        </p:spPr>
      </p:cxnSp>
      <p:sp>
        <p:nvSpPr>
          <p:cNvPr id="402" name="TextBox 401">
            <a:extLst>
              <a:ext uri="{FF2B5EF4-FFF2-40B4-BE49-F238E27FC236}">
                <a16:creationId xmlns:a16="http://schemas.microsoft.com/office/drawing/2014/main" id="{6E0DA51B-62DF-43EF-8604-F2F6CFF5956D}"/>
              </a:ext>
            </a:extLst>
          </p:cNvPr>
          <p:cNvSpPr txBox="1"/>
          <p:nvPr/>
        </p:nvSpPr>
        <p:spPr>
          <a:xfrm>
            <a:off x="7621462" y="3812669"/>
            <a:ext cx="1537600"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Latency = 3 cycles</a:t>
            </a:r>
          </a:p>
        </p:txBody>
      </p:sp>
      <p:sp>
        <p:nvSpPr>
          <p:cNvPr id="403" name="TextBox 402">
            <a:extLst>
              <a:ext uri="{FF2B5EF4-FFF2-40B4-BE49-F238E27FC236}">
                <a16:creationId xmlns:a16="http://schemas.microsoft.com/office/drawing/2014/main" id="{5AA11ADA-AF4E-4FC3-ABBD-BFCB830F7943}"/>
              </a:ext>
            </a:extLst>
          </p:cNvPr>
          <p:cNvSpPr txBox="1"/>
          <p:nvPr/>
        </p:nvSpPr>
        <p:spPr>
          <a:xfrm>
            <a:off x="7573546" y="2583709"/>
            <a:ext cx="1739579"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Throughput = 1 cycle</a:t>
            </a:r>
          </a:p>
        </p:txBody>
      </p:sp>
      <p:grpSp>
        <p:nvGrpSpPr>
          <p:cNvPr id="404" name="Group 71">
            <a:extLst>
              <a:ext uri="{FF2B5EF4-FFF2-40B4-BE49-F238E27FC236}">
                <a16:creationId xmlns:a16="http://schemas.microsoft.com/office/drawing/2014/main" id="{53442465-1632-4919-A87B-B500D52C167B}"/>
              </a:ext>
            </a:extLst>
          </p:cNvPr>
          <p:cNvGrpSpPr/>
          <p:nvPr/>
        </p:nvGrpSpPr>
        <p:grpSpPr>
          <a:xfrm>
            <a:off x="7583307" y="2999092"/>
            <a:ext cx="609443" cy="228600"/>
            <a:chOff x="-66694" y="1130300"/>
            <a:chExt cx="533401" cy="228600"/>
          </a:xfrm>
          <a:effectLst>
            <a:outerShdw blurRad="50800" dist="38100" dir="2700000" algn="tl" rotWithShape="0">
              <a:prstClr val="black">
                <a:alpha val="40000"/>
              </a:prstClr>
            </a:outerShdw>
          </a:effectLst>
        </p:grpSpPr>
        <p:cxnSp>
          <p:nvCxnSpPr>
            <p:cNvPr id="405" name="Straight Connector 404">
              <a:extLst>
                <a:ext uri="{FF2B5EF4-FFF2-40B4-BE49-F238E27FC236}">
                  <a16:creationId xmlns:a16="http://schemas.microsoft.com/office/drawing/2014/main" id="{677A79BB-16A9-46FB-A35C-0D0D1D899D48}"/>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06" name="Straight Connector 405">
              <a:extLst>
                <a:ext uri="{FF2B5EF4-FFF2-40B4-BE49-F238E27FC236}">
                  <a16:creationId xmlns:a16="http://schemas.microsoft.com/office/drawing/2014/main" id="{1E0A9431-F032-4B38-8B83-BC6E9258DF48}"/>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07" name="Straight Connector 406">
              <a:extLst>
                <a:ext uri="{FF2B5EF4-FFF2-40B4-BE49-F238E27FC236}">
                  <a16:creationId xmlns:a16="http://schemas.microsoft.com/office/drawing/2014/main" id="{D71D7B62-4CF5-464B-9F6E-A90E0CCE6FD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08" name="Straight Connector 407">
              <a:extLst>
                <a:ext uri="{FF2B5EF4-FFF2-40B4-BE49-F238E27FC236}">
                  <a16:creationId xmlns:a16="http://schemas.microsoft.com/office/drawing/2014/main" id="{67F686E7-DCE1-4746-ADB9-C9C9813DFC8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409" name="Group 71">
            <a:extLst>
              <a:ext uri="{FF2B5EF4-FFF2-40B4-BE49-F238E27FC236}">
                <a16:creationId xmlns:a16="http://schemas.microsoft.com/office/drawing/2014/main" id="{6979DE6A-CCC0-46E1-8BDD-D5894EDC659A}"/>
              </a:ext>
            </a:extLst>
          </p:cNvPr>
          <p:cNvGrpSpPr/>
          <p:nvPr/>
        </p:nvGrpSpPr>
        <p:grpSpPr>
          <a:xfrm>
            <a:off x="8192748" y="2999092"/>
            <a:ext cx="609443" cy="228600"/>
            <a:chOff x="-66694" y="1130300"/>
            <a:chExt cx="533401" cy="228600"/>
          </a:xfrm>
          <a:effectLst>
            <a:outerShdw blurRad="50800" dist="38100" dir="2700000" algn="tl" rotWithShape="0">
              <a:prstClr val="black">
                <a:alpha val="40000"/>
              </a:prstClr>
            </a:outerShdw>
          </a:effectLst>
        </p:grpSpPr>
        <p:cxnSp>
          <p:nvCxnSpPr>
            <p:cNvPr id="410" name="Straight Connector 409">
              <a:extLst>
                <a:ext uri="{FF2B5EF4-FFF2-40B4-BE49-F238E27FC236}">
                  <a16:creationId xmlns:a16="http://schemas.microsoft.com/office/drawing/2014/main" id="{E2C21281-930B-4F3C-A5E3-B51E49ECCEEB}"/>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11" name="Straight Connector 410">
              <a:extLst>
                <a:ext uri="{FF2B5EF4-FFF2-40B4-BE49-F238E27FC236}">
                  <a16:creationId xmlns:a16="http://schemas.microsoft.com/office/drawing/2014/main" id="{FFD49173-E8CC-4C1F-8301-26570C3DA62B}"/>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12" name="Straight Connector 411">
              <a:extLst>
                <a:ext uri="{FF2B5EF4-FFF2-40B4-BE49-F238E27FC236}">
                  <a16:creationId xmlns:a16="http://schemas.microsoft.com/office/drawing/2014/main" id="{ADE7BA04-F0F2-4569-9776-21191143E45B}"/>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13" name="Straight Connector 412">
              <a:extLst>
                <a:ext uri="{FF2B5EF4-FFF2-40B4-BE49-F238E27FC236}">
                  <a16:creationId xmlns:a16="http://schemas.microsoft.com/office/drawing/2014/main" id="{B9143D3C-AC05-437D-ACBB-823CF98B13FA}"/>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414" name="Group 71">
            <a:extLst>
              <a:ext uri="{FF2B5EF4-FFF2-40B4-BE49-F238E27FC236}">
                <a16:creationId xmlns:a16="http://schemas.microsoft.com/office/drawing/2014/main" id="{7C22F800-AFEE-405F-8F35-D9721C609D94}"/>
              </a:ext>
            </a:extLst>
          </p:cNvPr>
          <p:cNvGrpSpPr/>
          <p:nvPr/>
        </p:nvGrpSpPr>
        <p:grpSpPr>
          <a:xfrm>
            <a:off x="8802189" y="2999092"/>
            <a:ext cx="609443" cy="228600"/>
            <a:chOff x="-66694" y="1130300"/>
            <a:chExt cx="533401" cy="228600"/>
          </a:xfrm>
          <a:effectLst>
            <a:outerShdw blurRad="50800" dist="38100" dir="2700000" algn="tl" rotWithShape="0">
              <a:prstClr val="black">
                <a:alpha val="40000"/>
              </a:prstClr>
            </a:outerShdw>
          </a:effectLst>
        </p:grpSpPr>
        <p:cxnSp>
          <p:nvCxnSpPr>
            <p:cNvPr id="415" name="Straight Connector 414">
              <a:extLst>
                <a:ext uri="{FF2B5EF4-FFF2-40B4-BE49-F238E27FC236}">
                  <a16:creationId xmlns:a16="http://schemas.microsoft.com/office/drawing/2014/main" id="{6286B081-162F-4B67-8068-BECD56724932}"/>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16" name="Straight Connector 415">
              <a:extLst>
                <a:ext uri="{FF2B5EF4-FFF2-40B4-BE49-F238E27FC236}">
                  <a16:creationId xmlns:a16="http://schemas.microsoft.com/office/drawing/2014/main" id="{938A9C29-94D8-4260-A2C8-DE35DD5C2623}"/>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17" name="Straight Connector 416">
              <a:extLst>
                <a:ext uri="{FF2B5EF4-FFF2-40B4-BE49-F238E27FC236}">
                  <a16:creationId xmlns:a16="http://schemas.microsoft.com/office/drawing/2014/main" id="{C78C2D96-F286-4AAF-AE9E-6290C1BFEECD}"/>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18" name="Straight Connector 417">
              <a:extLst>
                <a:ext uri="{FF2B5EF4-FFF2-40B4-BE49-F238E27FC236}">
                  <a16:creationId xmlns:a16="http://schemas.microsoft.com/office/drawing/2014/main" id="{FCD8062B-1352-4CD4-A6FE-571089B8FD02}"/>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419" name="Group 71">
            <a:extLst>
              <a:ext uri="{FF2B5EF4-FFF2-40B4-BE49-F238E27FC236}">
                <a16:creationId xmlns:a16="http://schemas.microsoft.com/office/drawing/2014/main" id="{BC532EF7-46A1-4B4E-B024-52ACDFA589AD}"/>
              </a:ext>
            </a:extLst>
          </p:cNvPr>
          <p:cNvGrpSpPr/>
          <p:nvPr/>
        </p:nvGrpSpPr>
        <p:grpSpPr>
          <a:xfrm>
            <a:off x="9411630" y="2999092"/>
            <a:ext cx="609443" cy="228600"/>
            <a:chOff x="-66694" y="1130300"/>
            <a:chExt cx="533401" cy="228600"/>
          </a:xfrm>
          <a:effectLst>
            <a:outerShdw blurRad="50800" dist="38100" dir="2700000" algn="tl" rotWithShape="0">
              <a:prstClr val="black">
                <a:alpha val="40000"/>
              </a:prstClr>
            </a:outerShdw>
          </a:effectLst>
        </p:grpSpPr>
        <p:cxnSp>
          <p:nvCxnSpPr>
            <p:cNvPr id="420" name="Straight Connector 419">
              <a:extLst>
                <a:ext uri="{FF2B5EF4-FFF2-40B4-BE49-F238E27FC236}">
                  <a16:creationId xmlns:a16="http://schemas.microsoft.com/office/drawing/2014/main" id="{3EEC6C72-7AFE-4B9A-A9DD-CE24AF57CF2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21" name="Straight Connector 420">
              <a:extLst>
                <a:ext uri="{FF2B5EF4-FFF2-40B4-BE49-F238E27FC236}">
                  <a16:creationId xmlns:a16="http://schemas.microsoft.com/office/drawing/2014/main" id="{10032D94-6008-443C-A9AF-73B4DDA2B0F7}"/>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22" name="Straight Connector 421">
              <a:extLst>
                <a:ext uri="{FF2B5EF4-FFF2-40B4-BE49-F238E27FC236}">
                  <a16:creationId xmlns:a16="http://schemas.microsoft.com/office/drawing/2014/main" id="{76F0DB00-C3ED-4A77-9BBC-189E886B2C45}"/>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23" name="Straight Connector 422">
              <a:extLst>
                <a:ext uri="{FF2B5EF4-FFF2-40B4-BE49-F238E27FC236}">
                  <a16:creationId xmlns:a16="http://schemas.microsoft.com/office/drawing/2014/main" id="{F5B751B8-3B92-4115-84F7-1F781E2FFAA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424" name="Group 71">
            <a:extLst>
              <a:ext uri="{FF2B5EF4-FFF2-40B4-BE49-F238E27FC236}">
                <a16:creationId xmlns:a16="http://schemas.microsoft.com/office/drawing/2014/main" id="{C0569D08-B40B-4C8B-ACEA-DD0AE2382FAA}"/>
              </a:ext>
            </a:extLst>
          </p:cNvPr>
          <p:cNvGrpSpPr/>
          <p:nvPr/>
        </p:nvGrpSpPr>
        <p:grpSpPr>
          <a:xfrm>
            <a:off x="10021072" y="2999092"/>
            <a:ext cx="609443" cy="228600"/>
            <a:chOff x="-66694" y="1130300"/>
            <a:chExt cx="533401" cy="228600"/>
          </a:xfrm>
          <a:effectLst>
            <a:outerShdw blurRad="50800" dist="38100" dir="2700000" algn="tl" rotWithShape="0">
              <a:prstClr val="black">
                <a:alpha val="40000"/>
              </a:prstClr>
            </a:outerShdw>
          </a:effectLst>
        </p:grpSpPr>
        <p:cxnSp>
          <p:nvCxnSpPr>
            <p:cNvPr id="425" name="Straight Connector 424">
              <a:extLst>
                <a:ext uri="{FF2B5EF4-FFF2-40B4-BE49-F238E27FC236}">
                  <a16:creationId xmlns:a16="http://schemas.microsoft.com/office/drawing/2014/main" id="{E7226A6B-441F-43EB-9DBF-34BF21630816}"/>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26" name="Straight Connector 425">
              <a:extLst>
                <a:ext uri="{FF2B5EF4-FFF2-40B4-BE49-F238E27FC236}">
                  <a16:creationId xmlns:a16="http://schemas.microsoft.com/office/drawing/2014/main" id="{4B7A2BA4-805B-4796-B9A7-414A9A6A474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27" name="Straight Connector 426">
              <a:extLst>
                <a:ext uri="{FF2B5EF4-FFF2-40B4-BE49-F238E27FC236}">
                  <a16:creationId xmlns:a16="http://schemas.microsoft.com/office/drawing/2014/main" id="{E8EBF131-3A4C-4ABF-84BF-00568420B6EC}"/>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28" name="Straight Connector 427">
              <a:extLst>
                <a:ext uri="{FF2B5EF4-FFF2-40B4-BE49-F238E27FC236}">
                  <a16:creationId xmlns:a16="http://schemas.microsoft.com/office/drawing/2014/main" id="{E1A1E11E-91BA-4073-8B27-22B5C504ECB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429" name="Group 71">
            <a:extLst>
              <a:ext uri="{FF2B5EF4-FFF2-40B4-BE49-F238E27FC236}">
                <a16:creationId xmlns:a16="http://schemas.microsoft.com/office/drawing/2014/main" id="{C05B2696-5F89-40D0-9385-C3A8652A9710}"/>
              </a:ext>
            </a:extLst>
          </p:cNvPr>
          <p:cNvGrpSpPr/>
          <p:nvPr/>
        </p:nvGrpSpPr>
        <p:grpSpPr>
          <a:xfrm>
            <a:off x="10630513" y="2999092"/>
            <a:ext cx="609443" cy="228600"/>
            <a:chOff x="-66694" y="1130300"/>
            <a:chExt cx="533401" cy="228600"/>
          </a:xfrm>
          <a:effectLst>
            <a:outerShdw blurRad="50800" dist="38100" dir="2700000" algn="tl" rotWithShape="0">
              <a:prstClr val="black">
                <a:alpha val="40000"/>
              </a:prstClr>
            </a:outerShdw>
          </a:effectLst>
        </p:grpSpPr>
        <p:cxnSp>
          <p:nvCxnSpPr>
            <p:cNvPr id="430" name="Straight Connector 429">
              <a:extLst>
                <a:ext uri="{FF2B5EF4-FFF2-40B4-BE49-F238E27FC236}">
                  <a16:creationId xmlns:a16="http://schemas.microsoft.com/office/drawing/2014/main" id="{846DA2D0-BA5C-4241-A173-4759B17ED4B4}"/>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31" name="Straight Connector 430">
              <a:extLst>
                <a:ext uri="{FF2B5EF4-FFF2-40B4-BE49-F238E27FC236}">
                  <a16:creationId xmlns:a16="http://schemas.microsoft.com/office/drawing/2014/main" id="{10B67263-9794-4328-95D5-24F09D3E328B}"/>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32" name="Straight Connector 431">
              <a:extLst>
                <a:ext uri="{FF2B5EF4-FFF2-40B4-BE49-F238E27FC236}">
                  <a16:creationId xmlns:a16="http://schemas.microsoft.com/office/drawing/2014/main" id="{FA1302FB-39A8-4A98-9DB5-8F8F09F5D38E}"/>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33" name="Straight Connector 432">
              <a:extLst>
                <a:ext uri="{FF2B5EF4-FFF2-40B4-BE49-F238E27FC236}">
                  <a16:creationId xmlns:a16="http://schemas.microsoft.com/office/drawing/2014/main" id="{CF2254BE-F0B3-401D-865F-26E13D8C0042}"/>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434" name="Rounded Rectangle 211">
            <a:extLst>
              <a:ext uri="{FF2B5EF4-FFF2-40B4-BE49-F238E27FC236}">
                <a16:creationId xmlns:a16="http://schemas.microsoft.com/office/drawing/2014/main" id="{FA859CB5-57D2-49EC-B26A-C44921F8CB82}"/>
              </a:ext>
            </a:extLst>
          </p:cNvPr>
          <p:cNvSpPr/>
          <p:nvPr/>
        </p:nvSpPr>
        <p:spPr>
          <a:xfrm>
            <a:off x="7583085" y="3270025"/>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435" name="Rounded Rectangle 212">
            <a:extLst>
              <a:ext uri="{FF2B5EF4-FFF2-40B4-BE49-F238E27FC236}">
                <a16:creationId xmlns:a16="http://schemas.microsoft.com/office/drawing/2014/main" id="{5CAC64F6-1761-4870-A775-F850BCD59FC2}"/>
              </a:ext>
            </a:extLst>
          </p:cNvPr>
          <p:cNvSpPr/>
          <p:nvPr/>
        </p:nvSpPr>
        <p:spPr>
          <a:xfrm>
            <a:off x="8192526" y="3270025"/>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436" name="Rounded Rectangle 213">
            <a:extLst>
              <a:ext uri="{FF2B5EF4-FFF2-40B4-BE49-F238E27FC236}">
                <a16:creationId xmlns:a16="http://schemas.microsoft.com/office/drawing/2014/main" id="{F082A054-CB51-4ECE-A818-A19D2EB0C02A}"/>
              </a:ext>
            </a:extLst>
          </p:cNvPr>
          <p:cNvSpPr/>
          <p:nvPr/>
        </p:nvSpPr>
        <p:spPr>
          <a:xfrm>
            <a:off x="8801966" y="3270025"/>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437" name="Rounded Rectangle 214">
            <a:extLst>
              <a:ext uri="{FF2B5EF4-FFF2-40B4-BE49-F238E27FC236}">
                <a16:creationId xmlns:a16="http://schemas.microsoft.com/office/drawing/2014/main" id="{E774DC43-93FE-4C24-94AE-C967029784CF}"/>
              </a:ext>
            </a:extLst>
          </p:cNvPr>
          <p:cNvSpPr/>
          <p:nvPr/>
        </p:nvSpPr>
        <p:spPr>
          <a:xfrm>
            <a:off x="8192526" y="3460525"/>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438" name="Rounded Rectangle 215">
            <a:extLst>
              <a:ext uri="{FF2B5EF4-FFF2-40B4-BE49-F238E27FC236}">
                <a16:creationId xmlns:a16="http://schemas.microsoft.com/office/drawing/2014/main" id="{CC35B88A-CE60-4EBF-8409-7DED8732BEC9}"/>
              </a:ext>
            </a:extLst>
          </p:cNvPr>
          <p:cNvSpPr/>
          <p:nvPr/>
        </p:nvSpPr>
        <p:spPr>
          <a:xfrm>
            <a:off x="8801966" y="3460525"/>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439" name="Rounded Rectangle 216">
            <a:extLst>
              <a:ext uri="{FF2B5EF4-FFF2-40B4-BE49-F238E27FC236}">
                <a16:creationId xmlns:a16="http://schemas.microsoft.com/office/drawing/2014/main" id="{AFDD7D1D-8FD4-431C-A652-3F0C41E5D78B}"/>
              </a:ext>
            </a:extLst>
          </p:cNvPr>
          <p:cNvSpPr/>
          <p:nvPr/>
        </p:nvSpPr>
        <p:spPr>
          <a:xfrm>
            <a:off x="9411407" y="3460525"/>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cxnSp>
        <p:nvCxnSpPr>
          <p:cNvPr id="440" name="Straight Arrow Connector 439">
            <a:extLst>
              <a:ext uri="{FF2B5EF4-FFF2-40B4-BE49-F238E27FC236}">
                <a16:creationId xmlns:a16="http://schemas.microsoft.com/office/drawing/2014/main" id="{A42DF2F9-F4F5-4BA2-934E-B3DC72865E3F}"/>
              </a:ext>
            </a:extLst>
          </p:cNvPr>
          <p:cNvCxnSpPr/>
          <p:nvPr/>
        </p:nvCxnSpPr>
        <p:spPr>
          <a:xfrm>
            <a:off x="7519074" y="2852208"/>
            <a:ext cx="767900" cy="1588"/>
          </a:xfrm>
          <a:prstGeom prst="straightConnector1">
            <a:avLst/>
          </a:prstGeom>
          <a:noFill/>
          <a:ln w="25400" cap="flat" cmpd="sng" algn="ctr">
            <a:solidFill>
              <a:srgbClr val="008CA8"/>
            </a:solidFill>
            <a:prstDash val="solid"/>
            <a:headEnd type="arrow"/>
            <a:tailEnd type="arrow"/>
          </a:ln>
          <a:effectLst/>
        </p:spPr>
      </p:cxnSp>
      <p:sp>
        <p:nvSpPr>
          <p:cNvPr id="441" name="TextBox 440">
            <a:extLst>
              <a:ext uri="{FF2B5EF4-FFF2-40B4-BE49-F238E27FC236}">
                <a16:creationId xmlns:a16="http://schemas.microsoft.com/office/drawing/2014/main" id="{4FEF50B1-2652-4814-A0A8-E52CB0000850}"/>
              </a:ext>
            </a:extLst>
          </p:cNvPr>
          <p:cNvSpPr txBox="1"/>
          <p:nvPr/>
        </p:nvSpPr>
        <p:spPr>
          <a:xfrm>
            <a:off x="4355651" y="1491102"/>
            <a:ext cx="3327567" cy="90024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Arial"/>
              </a:rPr>
              <a:t> </a:t>
            </a:r>
            <a:r>
              <a:rPr lang="en-US" sz="1050" b="1" kern="0" dirty="0" err="1">
                <a:solidFill>
                  <a:prstClr val="black"/>
                </a:solidFill>
                <a:latin typeface="Arial"/>
              </a:rPr>
              <a:t>Loop:for</a:t>
            </a:r>
            <a:r>
              <a:rPr lang="en-US" sz="1050" b="1" kern="0" dirty="0">
                <a:solidFill>
                  <a:prstClr val="black"/>
                </a:solidFill>
                <a:latin typeface="Arial"/>
              </a:rPr>
              <a:t>(</a:t>
            </a:r>
            <a:r>
              <a:rPr lang="en-US" sz="1050" b="1" kern="0" dirty="0" err="1">
                <a:solidFill>
                  <a:prstClr val="black"/>
                </a:solidFill>
                <a:latin typeface="Arial"/>
              </a:rPr>
              <a:t>i</a:t>
            </a:r>
            <a:r>
              <a:rPr lang="en-US" sz="1050" b="1" kern="0" dirty="0">
                <a:solidFill>
                  <a:prstClr val="black"/>
                </a:solidFill>
                <a:latin typeface="Arial"/>
              </a:rPr>
              <a:t>=1;i&lt;3;i++) {</a:t>
            </a:r>
          </a:p>
          <a:p>
            <a:pPr defTabSz="457200" fontAlgn="base">
              <a:spcBef>
                <a:spcPct val="0"/>
              </a:spcBef>
              <a:spcAft>
                <a:spcPct val="0"/>
              </a:spcAft>
              <a:defRPr/>
            </a:pPr>
            <a:r>
              <a:rPr lang="en-US" sz="1050" b="1" kern="0" dirty="0">
                <a:solidFill>
                  <a:prstClr val="black"/>
                </a:solidFill>
                <a:latin typeface="Arial"/>
              </a:rPr>
              <a:t>    op_Read;</a:t>
            </a:r>
          </a:p>
          <a:p>
            <a:pPr defTabSz="457200" fontAlgn="base">
              <a:spcBef>
                <a:spcPct val="0"/>
              </a:spcBef>
              <a:spcAft>
                <a:spcPct val="0"/>
              </a:spcAft>
              <a:defRPr/>
            </a:pPr>
            <a:r>
              <a:rPr lang="en-US" sz="1050" b="1" kern="0" dirty="0">
                <a:solidFill>
                  <a:prstClr val="black"/>
                </a:solidFill>
                <a:latin typeface="Arial"/>
              </a:rPr>
              <a:t>    op_Compute;</a:t>
            </a:r>
          </a:p>
          <a:p>
            <a:pPr defTabSz="457200" fontAlgn="base">
              <a:spcBef>
                <a:spcPct val="0"/>
              </a:spcBef>
              <a:spcAft>
                <a:spcPct val="0"/>
              </a:spcAft>
              <a:defRPr/>
            </a:pPr>
            <a:r>
              <a:rPr lang="en-US" sz="1050" b="1" kern="0" dirty="0">
                <a:solidFill>
                  <a:prstClr val="black"/>
                </a:solidFill>
                <a:latin typeface="Arial"/>
              </a:rPr>
              <a:t>    op_Write;</a:t>
            </a:r>
          </a:p>
          <a:p>
            <a:pPr defTabSz="457200" fontAlgn="base">
              <a:spcBef>
                <a:spcPct val="0"/>
              </a:spcBef>
              <a:spcAft>
                <a:spcPct val="0"/>
              </a:spcAft>
              <a:defRPr/>
            </a:pPr>
            <a:r>
              <a:rPr lang="en-US" sz="1050" b="1" kern="0" dirty="0">
                <a:solidFill>
                  <a:prstClr val="black"/>
                </a:solidFill>
                <a:latin typeface="Arial"/>
              </a:rPr>
              <a:t>  }</a:t>
            </a:r>
          </a:p>
        </p:txBody>
      </p:sp>
      <p:sp>
        <p:nvSpPr>
          <p:cNvPr id="442" name="Rounded Rectangle 123">
            <a:extLst>
              <a:ext uri="{FF2B5EF4-FFF2-40B4-BE49-F238E27FC236}">
                <a16:creationId xmlns:a16="http://schemas.microsoft.com/office/drawing/2014/main" id="{99534673-0390-4B90-984E-182340FA97B4}"/>
              </a:ext>
            </a:extLst>
          </p:cNvPr>
          <p:cNvSpPr/>
          <p:nvPr/>
        </p:nvSpPr>
        <p:spPr>
          <a:xfrm>
            <a:off x="6135812" y="1700058"/>
            <a:ext cx="812588"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u="sng" kern="0" dirty="0">
                <a:solidFill>
                  <a:prstClr val="black"/>
                </a:solidFill>
                <a:latin typeface="Arial"/>
              </a:rPr>
              <a:t>RD</a:t>
            </a:r>
            <a:endParaRPr lang="en-US" sz="1100" b="1" u="sng" kern="0" dirty="0">
              <a:solidFill>
                <a:prstClr val="black"/>
              </a:solidFill>
              <a:latin typeface="Arial"/>
            </a:endParaRPr>
          </a:p>
        </p:txBody>
      </p:sp>
      <p:sp>
        <p:nvSpPr>
          <p:cNvPr id="443" name="Rounded Rectangle 124">
            <a:extLst>
              <a:ext uri="{FF2B5EF4-FFF2-40B4-BE49-F238E27FC236}">
                <a16:creationId xmlns:a16="http://schemas.microsoft.com/office/drawing/2014/main" id="{B1C45B5D-C624-4BB9-B670-B754063B5265}"/>
              </a:ext>
            </a:extLst>
          </p:cNvPr>
          <p:cNvSpPr/>
          <p:nvPr/>
        </p:nvSpPr>
        <p:spPr>
          <a:xfrm>
            <a:off x="6135812" y="1852458"/>
            <a:ext cx="812588"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u="sng" kern="0" dirty="0">
                <a:solidFill>
                  <a:prstClr val="black"/>
                </a:solidFill>
                <a:latin typeface="Arial"/>
              </a:rPr>
              <a:t>CMP</a:t>
            </a:r>
            <a:endParaRPr lang="en-US" sz="800" u="sng" kern="0" dirty="0">
              <a:solidFill>
                <a:prstClr val="black"/>
              </a:solidFill>
              <a:latin typeface="Arial"/>
            </a:endParaRPr>
          </a:p>
        </p:txBody>
      </p:sp>
      <p:sp>
        <p:nvSpPr>
          <p:cNvPr id="444" name="Rounded Rectangle 125">
            <a:extLst>
              <a:ext uri="{FF2B5EF4-FFF2-40B4-BE49-F238E27FC236}">
                <a16:creationId xmlns:a16="http://schemas.microsoft.com/office/drawing/2014/main" id="{571510A9-AB38-49A3-A3FB-FFFA7D61C03A}"/>
              </a:ext>
            </a:extLst>
          </p:cNvPr>
          <p:cNvSpPr/>
          <p:nvPr/>
        </p:nvSpPr>
        <p:spPr>
          <a:xfrm>
            <a:off x="6135812" y="2004858"/>
            <a:ext cx="812588"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cxnSp>
        <p:nvCxnSpPr>
          <p:cNvPr id="445" name="Straight Arrow Connector 444">
            <a:extLst>
              <a:ext uri="{FF2B5EF4-FFF2-40B4-BE49-F238E27FC236}">
                <a16:creationId xmlns:a16="http://schemas.microsoft.com/office/drawing/2014/main" id="{FDF01925-FF13-4A49-AA95-9866E99B28D5}"/>
              </a:ext>
            </a:extLst>
          </p:cNvPr>
          <p:cNvCxnSpPr/>
          <p:nvPr/>
        </p:nvCxnSpPr>
        <p:spPr>
          <a:xfrm>
            <a:off x="794541" y="4004358"/>
            <a:ext cx="3685920" cy="1588"/>
          </a:xfrm>
          <a:prstGeom prst="straightConnector1">
            <a:avLst/>
          </a:prstGeom>
          <a:noFill/>
          <a:ln w="25400" cap="flat" cmpd="sng" algn="ctr">
            <a:solidFill>
              <a:srgbClr val="008CA8"/>
            </a:solidFill>
            <a:prstDash val="solid"/>
            <a:headEnd type="arrow"/>
            <a:tailEnd type="arrow"/>
          </a:ln>
          <a:effectLst/>
        </p:spPr>
      </p:cxnSp>
      <p:sp>
        <p:nvSpPr>
          <p:cNvPr id="446" name="TextBox 445">
            <a:extLst>
              <a:ext uri="{FF2B5EF4-FFF2-40B4-BE49-F238E27FC236}">
                <a16:creationId xmlns:a16="http://schemas.microsoft.com/office/drawing/2014/main" id="{F4935336-31CA-4B8E-A54C-B404D96E7EA8}"/>
              </a:ext>
            </a:extLst>
          </p:cNvPr>
          <p:cNvSpPr txBox="1"/>
          <p:nvPr/>
        </p:nvSpPr>
        <p:spPr>
          <a:xfrm>
            <a:off x="866013" y="3996530"/>
            <a:ext cx="1959191"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Loop Latency = 6 cycles</a:t>
            </a:r>
          </a:p>
        </p:txBody>
      </p:sp>
      <p:cxnSp>
        <p:nvCxnSpPr>
          <p:cNvPr id="447" name="Straight Arrow Connector 446">
            <a:extLst>
              <a:ext uri="{FF2B5EF4-FFF2-40B4-BE49-F238E27FC236}">
                <a16:creationId xmlns:a16="http://schemas.microsoft.com/office/drawing/2014/main" id="{744D11A7-272A-4277-B31D-625D422D6145}"/>
              </a:ext>
            </a:extLst>
          </p:cNvPr>
          <p:cNvCxnSpPr/>
          <p:nvPr/>
        </p:nvCxnSpPr>
        <p:spPr>
          <a:xfrm>
            <a:off x="7621460" y="4081168"/>
            <a:ext cx="2457280" cy="1588"/>
          </a:xfrm>
          <a:prstGeom prst="straightConnector1">
            <a:avLst/>
          </a:prstGeom>
          <a:noFill/>
          <a:ln w="25400" cap="flat" cmpd="sng" algn="ctr">
            <a:solidFill>
              <a:srgbClr val="008CA8"/>
            </a:solidFill>
            <a:prstDash val="solid"/>
            <a:headEnd type="arrow"/>
            <a:tailEnd type="arrow"/>
          </a:ln>
          <a:effectLst/>
        </p:spPr>
      </p:cxnSp>
      <p:sp>
        <p:nvSpPr>
          <p:cNvPr id="448" name="TextBox 447">
            <a:extLst>
              <a:ext uri="{FF2B5EF4-FFF2-40B4-BE49-F238E27FC236}">
                <a16:creationId xmlns:a16="http://schemas.microsoft.com/office/drawing/2014/main" id="{8EF85AC5-7742-461C-99F0-213F5BEFC729}"/>
              </a:ext>
            </a:extLst>
          </p:cNvPr>
          <p:cNvSpPr txBox="1"/>
          <p:nvPr/>
        </p:nvSpPr>
        <p:spPr>
          <a:xfrm>
            <a:off x="7692933" y="4073340"/>
            <a:ext cx="1959191" cy="276999"/>
          </a:xfrm>
          <a:prstGeom prst="rect">
            <a:avLst/>
          </a:prstGeom>
          <a:noFill/>
          <a:effectLst/>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Loop Latency = 4 cycles</a:t>
            </a:r>
          </a:p>
        </p:txBody>
      </p:sp>
      <p:sp>
        <p:nvSpPr>
          <p:cNvPr id="450" name="Content Placeholder 2">
            <a:extLst>
              <a:ext uri="{FF2B5EF4-FFF2-40B4-BE49-F238E27FC236}">
                <a16:creationId xmlns:a16="http://schemas.microsoft.com/office/drawing/2014/main" id="{067A4E1C-CF2A-4143-9E41-86D868E662F7}"/>
              </a:ext>
            </a:extLst>
          </p:cNvPr>
          <p:cNvSpPr txBox="1">
            <a:spLocks/>
          </p:cNvSpPr>
          <p:nvPr/>
        </p:nvSpPr>
        <p:spPr>
          <a:xfrm>
            <a:off x="6873299" y="4611009"/>
            <a:ext cx="5186258" cy="1704088"/>
          </a:xfrm>
          <a:prstGeom prst="rect">
            <a:avLst/>
          </a:prstGeom>
        </p:spPr>
        <p:txBody>
          <a:bodyPr vert="horz" lIns="91440" tIns="45720" rIns="91440" bIns="45720" rtlCol="0">
            <a:noAutofit/>
          </a:bodyPr>
          <a:lstStyle>
            <a:lvl1pPr marL="228531" indent="-228531" algn="l" defTabSz="914126" rtl="0" eaLnBrk="1" latinLnBrk="0" hangingPunct="1">
              <a:lnSpc>
                <a:spcPct val="100000"/>
              </a:lnSpc>
              <a:spcBef>
                <a:spcPts val="1200"/>
              </a:spcBef>
              <a:buClr>
                <a:srgbClr val="FF0000"/>
              </a:buClr>
              <a:buFont typeface="Calibri" panose="020F0502020204030204" pitchFamily="34" charset="0"/>
              <a:buChar char="˃"/>
              <a:defRPr sz="1999" b="1" kern="1200">
                <a:solidFill>
                  <a:schemeClr val="tx1"/>
                </a:solidFill>
                <a:latin typeface="Arial" panose="020B0604020202020204" pitchFamily="34" charset="0"/>
                <a:ea typeface="+mn-ea"/>
                <a:cs typeface="Arial" panose="020B0604020202020204" pitchFamily="34" charset="0"/>
              </a:defRPr>
            </a:lvl1pPr>
            <a:lvl2pPr marL="742727" indent="-285664" algn="l" defTabSz="914126" rtl="0" eaLnBrk="1" latinLnBrk="0" hangingPunct="1">
              <a:lnSpc>
                <a:spcPct val="90000"/>
              </a:lnSpc>
              <a:spcBef>
                <a:spcPts val="500"/>
              </a:spcBef>
              <a:buFontTx/>
              <a:buBlip>
                <a:blip r:embed="rId2"/>
              </a:buBlip>
              <a:defRPr sz="1799" kern="1200">
                <a:solidFill>
                  <a:schemeClr val="tx1"/>
                </a:solidFill>
                <a:latin typeface="Arial" panose="020B0604020202020204" pitchFamily="34" charset="0"/>
                <a:ea typeface="+mn-ea"/>
                <a:cs typeface="Arial" panose="020B0604020202020204" pitchFamily="34" charset="0"/>
              </a:defRPr>
            </a:lvl2pPr>
            <a:lvl3pPr marL="1142657" indent="-228531" algn="l" defTabSz="914126" rtl="0" eaLnBrk="1" latinLnBrk="0" hangingPunct="1">
              <a:lnSpc>
                <a:spcPct val="90000"/>
              </a:lnSpc>
              <a:spcBef>
                <a:spcPts val="500"/>
              </a:spcBef>
              <a:buFont typeface="Calibri" panose="020F050202020403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599720" indent="-228531" algn="l" defTabSz="914126" rtl="0" eaLnBrk="1" latinLnBrk="0" hangingPunct="1">
              <a:lnSpc>
                <a:spcPct val="90000"/>
              </a:lnSpc>
              <a:spcBef>
                <a:spcPts val="500"/>
              </a:spcBef>
              <a:buFont typeface="Wingdings" panose="05000000000000000000" pitchFamily="2" charset="2"/>
              <a:buChar char="§"/>
              <a:defRPr sz="1400" kern="1200">
                <a:solidFill>
                  <a:schemeClr val="tx1"/>
                </a:solidFill>
                <a:latin typeface="Arial" panose="020B0604020202020204" pitchFamily="34" charset="0"/>
                <a:ea typeface="+mn-ea"/>
                <a:cs typeface="Arial" panose="020B0604020202020204" pitchFamily="34" charset="0"/>
              </a:defRPr>
            </a:lvl4pPr>
            <a:lvl5pPr marL="2056783" indent="-228531" algn="l" defTabSz="914126" rtl="0" eaLnBrk="1" latinLnBrk="0" hangingPunct="1">
              <a:lnSpc>
                <a:spcPct val="90000"/>
              </a:lnSpc>
              <a:spcBef>
                <a:spcPts val="500"/>
              </a:spcBef>
              <a:buFont typeface="Arial" panose="020B0604020202020204" pitchFamily="34" charset="0"/>
              <a:buChar char="•"/>
              <a:tabLst>
                <a:tab pos="2626525" algn="l"/>
              </a:tabLst>
              <a:defRPr sz="1400" kern="1200">
                <a:solidFill>
                  <a:schemeClr val="tx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1600" b="0" dirty="0"/>
              <a:t>The latency is the same</a:t>
            </a:r>
          </a:p>
          <a:p>
            <a:pPr lvl="1"/>
            <a:r>
              <a:rPr lang="en-US" sz="1400" dirty="0"/>
              <a:t>The throughput is better</a:t>
            </a:r>
          </a:p>
          <a:p>
            <a:pPr lvl="2"/>
            <a:r>
              <a:rPr lang="en-US" sz="1201" dirty="0"/>
              <a:t>Less cycles, higher throughput</a:t>
            </a:r>
          </a:p>
          <a:p>
            <a:r>
              <a:rPr lang="en-US" sz="1600" b="0" dirty="0"/>
              <a:t>The latency for all iterations, the loop latency, has been improved</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Pipelining and Function/Loop Hierarchy</a:t>
            </a:r>
          </a:p>
        </p:txBody>
      </p:sp>
      <p:sp>
        <p:nvSpPr>
          <p:cNvPr id="3" name="Content Placeholder 2"/>
          <p:cNvSpPr>
            <a:spLocks noGrp="1"/>
          </p:cNvSpPr>
          <p:nvPr>
            <p:ph idx="1"/>
          </p:nvPr>
        </p:nvSpPr>
        <p:spPr/>
        <p:txBody>
          <a:bodyPr/>
          <a:lstStyle/>
          <a:p>
            <a:r>
              <a:rPr lang="en-US" sz="2000" dirty="0"/>
              <a:t>Vitis HLS will attempt to unroll all loops nested below a PIPELINE directive</a:t>
            </a:r>
          </a:p>
          <a:p>
            <a:pPr lvl="1"/>
            <a:r>
              <a:rPr lang="en-US" dirty="0"/>
              <a:t> May not succeed for various reason and/or may lead to unacceptable area</a:t>
            </a:r>
          </a:p>
          <a:p>
            <a:pPr lvl="2"/>
            <a:r>
              <a:rPr lang="en-US" dirty="0"/>
              <a:t>Loops with variable bounds cannot be unrolled</a:t>
            </a:r>
          </a:p>
          <a:p>
            <a:pPr lvl="2"/>
            <a:r>
              <a:rPr lang="en-US" dirty="0"/>
              <a:t>Unrolling Multi-level loop nests may create a lot of hardware </a:t>
            </a:r>
          </a:p>
          <a:p>
            <a:pPr lvl="1"/>
            <a:r>
              <a:rPr lang="en-US" dirty="0"/>
              <a:t>Pipelining the inner-most loop will result in best performance for area</a:t>
            </a:r>
          </a:p>
          <a:p>
            <a:pPr lvl="2"/>
            <a:r>
              <a:rPr lang="en-US" dirty="0"/>
              <a:t>Or next one (or two) out if inner-most is modest and fixed</a:t>
            </a:r>
          </a:p>
          <a:p>
            <a:pPr lvl="3"/>
            <a:r>
              <a:rPr lang="en-US" dirty="0"/>
              <a:t>e.g.  Convolution algorithm</a:t>
            </a:r>
          </a:p>
          <a:p>
            <a:pPr lvl="2"/>
            <a:r>
              <a:rPr lang="en-US" dirty="0"/>
              <a:t>Outer loops will keep the inner pipeline fed</a:t>
            </a:r>
          </a:p>
        </p:txBody>
      </p:sp>
      <p:sp>
        <p:nvSpPr>
          <p:cNvPr id="12" name="Slide Number Placeholder 11"/>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53</a:t>
            </a:fld>
            <a:endParaRPr lang="en-US" dirty="0"/>
          </a:p>
        </p:txBody>
      </p:sp>
      <p:sp>
        <p:nvSpPr>
          <p:cNvPr id="11" name="TextBox 10">
            <a:extLst>
              <a:ext uri="{FF2B5EF4-FFF2-40B4-BE49-F238E27FC236}">
                <a16:creationId xmlns:a16="http://schemas.microsoft.com/office/drawing/2014/main" id="{20912558-33F0-440B-831A-97A46A74F244}"/>
              </a:ext>
            </a:extLst>
          </p:cNvPr>
          <p:cNvSpPr txBox="1"/>
          <p:nvPr/>
        </p:nvSpPr>
        <p:spPr>
          <a:xfrm>
            <a:off x="8244368" y="4354700"/>
            <a:ext cx="2815633" cy="154657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kern="0" dirty="0">
                <a:solidFill>
                  <a:prstClr val="black"/>
                </a:solidFill>
                <a:latin typeface="Arial"/>
              </a:rPr>
              <a:t>void </a:t>
            </a:r>
            <a:r>
              <a:rPr lang="en-US" sz="1050" kern="0" dirty="0" err="1">
                <a:solidFill>
                  <a:prstClr val="black"/>
                </a:solidFill>
                <a:latin typeface="Arial"/>
              </a:rPr>
              <a:t>foo</a:t>
            </a:r>
            <a:r>
              <a:rPr lang="en-US" sz="1050" kern="0" dirty="0">
                <a:solidFill>
                  <a:prstClr val="black"/>
                </a:solidFill>
                <a:latin typeface="Arial"/>
              </a:rPr>
              <a:t>(in1[ ][ ], in2[ ][ ], …) {</a:t>
            </a:r>
          </a:p>
          <a:p>
            <a:pPr defTabSz="457200" fontAlgn="base">
              <a:spcBef>
                <a:spcPct val="0"/>
              </a:spcBef>
              <a:spcAft>
                <a:spcPct val="0"/>
              </a:spcAft>
              <a:defRPr/>
            </a:pPr>
            <a:r>
              <a:rPr lang="en-US" sz="1050" b="1" kern="0" dirty="0">
                <a:solidFill>
                  <a:prstClr val="black"/>
                </a:solidFill>
                <a:latin typeface="Arial"/>
              </a:rPr>
              <a:t>#pragma </a:t>
            </a:r>
            <a:r>
              <a:rPr lang="en-US" altLang="zh-CN" sz="1050" b="1" kern="0" dirty="0">
                <a:solidFill>
                  <a:prstClr val="black"/>
                </a:solidFill>
              </a:rPr>
              <a:t>HLS</a:t>
            </a:r>
            <a:r>
              <a:rPr lang="en-US" sz="1050" b="1" kern="0" dirty="0">
                <a:solidFill>
                  <a:prstClr val="black"/>
                </a:solidFill>
                <a:latin typeface="Arial"/>
              </a:rPr>
              <a:t> PIPELINE</a:t>
            </a:r>
          </a:p>
          <a:p>
            <a:pPr defTabSz="457200" fontAlgn="base">
              <a:spcBef>
                <a:spcPct val="0"/>
              </a:spcBef>
              <a:spcAft>
                <a:spcPct val="0"/>
              </a:spcAft>
              <a:defRPr/>
            </a:pP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  L1:for(i=1;i&lt;N;i++) {</a:t>
            </a:r>
          </a:p>
          <a:p>
            <a:pPr defTabSz="457200" fontAlgn="base">
              <a:spcBef>
                <a:spcPct val="0"/>
              </a:spcBef>
              <a:spcAft>
                <a:spcPct val="0"/>
              </a:spcAft>
              <a:defRPr/>
            </a:pPr>
            <a:r>
              <a:rPr lang="en-US" sz="1050" kern="0" dirty="0">
                <a:solidFill>
                  <a:prstClr val="black"/>
                </a:solidFill>
                <a:latin typeface="Arial"/>
              </a:rPr>
              <a:t>     L2:for(j=0;j&lt;</a:t>
            </a:r>
            <a:r>
              <a:rPr lang="en-US" sz="1050" kern="0" dirty="0" err="1">
                <a:solidFill>
                  <a:prstClr val="black"/>
                </a:solidFill>
                <a:latin typeface="Arial"/>
              </a:rPr>
              <a:t>M;j</a:t>
            </a: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        out[</a:t>
            </a:r>
            <a:r>
              <a:rPr lang="en-US" sz="1050" kern="0" dirty="0" err="1">
                <a:solidFill>
                  <a:prstClr val="black"/>
                </a:solidFill>
                <a:latin typeface="Arial"/>
              </a:rPr>
              <a:t>i</a:t>
            </a:r>
            <a:r>
              <a:rPr lang="en-US" sz="1050" kern="0" dirty="0">
                <a:solidFill>
                  <a:prstClr val="black"/>
                </a:solidFill>
                <a:latin typeface="Arial"/>
              </a:rPr>
              <a:t>][j] = in1[</a:t>
            </a:r>
            <a:r>
              <a:rPr lang="en-US" sz="1050" kern="0" dirty="0" err="1">
                <a:solidFill>
                  <a:prstClr val="black"/>
                </a:solidFill>
                <a:latin typeface="Arial"/>
              </a:rPr>
              <a:t>i</a:t>
            </a:r>
            <a:r>
              <a:rPr lang="en-US" sz="1050" kern="0" dirty="0">
                <a:solidFill>
                  <a:prstClr val="black"/>
                </a:solidFill>
                <a:latin typeface="Arial"/>
              </a:rPr>
              <a:t>][j] + in2[</a:t>
            </a:r>
            <a:r>
              <a:rPr lang="en-US" sz="1050" kern="0" dirty="0" err="1">
                <a:solidFill>
                  <a:prstClr val="black"/>
                </a:solidFill>
                <a:latin typeface="Arial"/>
              </a:rPr>
              <a:t>i</a:t>
            </a:r>
            <a:r>
              <a:rPr lang="en-US" sz="1050" kern="0" dirty="0">
                <a:solidFill>
                  <a:prstClr val="black"/>
                </a:solidFill>
                <a:latin typeface="Arial"/>
              </a:rPr>
              <a:t>][j];</a:t>
            </a:r>
          </a:p>
          <a:p>
            <a:pPr defTabSz="457200" fontAlgn="base">
              <a:spcBef>
                <a:spcPct val="0"/>
              </a:spcBef>
              <a:spcAft>
                <a:spcPct val="0"/>
              </a:spcAft>
              <a:defRPr/>
            </a:pP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a:t>
            </a:r>
          </a:p>
        </p:txBody>
      </p:sp>
      <p:sp>
        <p:nvSpPr>
          <p:cNvPr id="13" name="TextBox 12">
            <a:extLst>
              <a:ext uri="{FF2B5EF4-FFF2-40B4-BE49-F238E27FC236}">
                <a16:creationId xmlns:a16="http://schemas.microsoft.com/office/drawing/2014/main" id="{BB252364-BD29-4A0B-BD42-5DDD745609E1}"/>
              </a:ext>
            </a:extLst>
          </p:cNvPr>
          <p:cNvSpPr txBox="1"/>
          <p:nvPr/>
        </p:nvSpPr>
        <p:spPr>
          <a:xfrm>
            <a:off x="4698542" y="4324727"/>
            <a:ext cx="2815633" cy="154657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kern="0" dirty="0">
                <a:solidFill>
                  <a:prstClr val="black"/>
                </a:solidFill>
                <a:latin typeface="Arial"/>
              </a:rPr>
              <a:t>void </a:t>
            </a:r>
            <a:r>
              <a:rPr lang="en-US" sz="1050" kern="0" dirty="0" err="1">
                <a:solidFill>
                  <a:prstClr val="black"/>
                </a:solidFill>
                <a:latin typeface="Arial"/>
              </a:rPr>
              <a:t>foo</a:t>
            </a:r>
            <a:r>
              <a:rPr lang="en-US" sz="1050" kern="0" dirty="0">
                <a:solidFill>
                  <a:prstClr val="black"/>
                </a:solidFill>
                <a:latin typeface="Arial"/>
              </a:rPr>
              <a:t>(in1[ ][ ], in2[ ][ ], …) {</a:t>
            </a:r>
          </a:p>
          <a:p>
            <a:pPr defTabSz="457200" fontAlgn="base">
              <a:spcBef>
                <a:spcPct val="0"/>
              </a:spcBef>
              <a:spcAft>
                <a:spcPct val="0"/>
              </a:spcAft>
              <a:defRPr/>
            </a:pPr>
            <a:r>
              <a:rPr lang="en-US" sz="1050" kern="0" dirty="0">
                <a:solidFill>
                  <a:prstClr val="black"/>
                </a:solidFill>
                <a:latin typeface="Arial"/>
              </a:rPr>
              <a:t>…</a:t>
            </a:r>
          </a:p>
          <a:p>
            <a:pPr defTabSz="457200" fontAlgn="base">
              <a:spcBef>
                <a:spcPct val="0"/>
              </a:spcBef>
              <a:spcAft>
                <a:spcPct val="0"/>
              </a:spcAft>
              <a:defRPr/>
            </a:pPr>
            <a:r>
              <a:rPr lang="en-US" sz="1050" kern="0" dirty="0">
                <a:solidFill>
                  <a:prstClr val="black"/>
                </a:solidFill>
                <a:latin typeface="Arial"/>
              </a:rPr>
              <a:t>  L1:for(i=1;i&lt;N;i++) {</a:t>
            </a:r>
          </a:p>
          <a:p>
            <a:pPr defTabSz="457200" fontAlgn="base">
              <a:spcBef>
                <a:spcPct val="0"/>
              </a:spcBef>
              <a:spcAft>
                <a:spcPct val="0"/>
              </a:spcAft>
              <a:defRPr/>
            </a:pPr>
            <a:r>
              <a:rPr lang="en-US" sz="1050" b="1" kern="0" dirty="0">
                <a:solidFill>
                  <a:prstClr val="black"/>
                </a:solidFill>
                <a:latin typeface="Arial"/>
              </a:rPr>
              <a:t>#pragma </a:t>
            </a:r>
            <a:r>
              <a:rPr lang="en-US" altLang="zh-CN" sz="1050" b="1" kern="0" dirty="0">
                <a:solidFill>
                  <a:prstClr val="black"/>
                </a:solidFill>
              </a:rPr>
              <a:t>HLS</a:t>
            </a:r>
            <a:r>
              <a:rPr lang="en-US" sz="1050" b="1" kern="0" dirty="0">
                <a:solidFill>
                  <a:prstClr val="black"/>
                </a:solidFill>
                <a:latin typeface="Arial"/>
              </a:rPr>
              <a:t> PIPELINE</a:t>
            </a:r>
          </a:p>
          <a:p>
            <a:pPr defTabSz="457200" fontAlgn="base">
              <a:spcBef>
                <a:spcPct val="0"/>
              </a:spcBef>
              <a:spcAft>
                <a:spcPct val="0"/>
              </a:spcAft>
              <a:defRPr/>
            </a:pPr>
            <a:r>
              <a:rPr lang="en-US" sz="1050" kern="0" dirty="0">
                <a:solidFill>
                  <a:prstClr val="black"/>
                </a:solidFill>
                <a:latin typeface="Arial"/>
              </a:rPr>
              <a:t>     L2:for(j=0;j&lt;</a:t>
            </a:r>
            <a:r>
              <a:rPr lang="en-US" sz="1050" kern="0" dirty="0" err="1">
                <a:solidFill>
                  <a:prstClr val="black"/>
                </a:solidFill>
                <a:latin typeface="Arial"/>
              </a:rPr>
              <a:t>M;j</a:t>
            </a: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        out[</a:t>
            </a:r>
            <a:r>
              <a:rPr lang="en-US" sz="1050" kern="0" dirty="0" err="1">
                <a:solidFill>
                  <a:prstClr val="black"/>
                </a:solidFill>
                <a:latin typeface="Arial"/>
              </a:rPr>
              <a:t>i</a:t>
            </a:r>
            <a:r>
              <a:rPr lang="en-US" sz="1050" kern="0" dirty="0">
                <a:solidFill>
                  <a:prstClr val="black"/>
                </a:solidFill>
                <a:latin typeface="Arial"/>
              </a:rPr>
              <a:t>][j] = in1[</a:t>
            </a:r>
            <a:r>
              <a:rPr lang="en-US" sz="1050" kern="0" dirty="0" err="1">
                <a:solidFill>
                  <a:prstClr val="black"/>
                </a:solidFill>
                <a:latin typeface="Arial"/>
              </a:rPr>
              <a:t>i</a:t>
            </a:r>
            <a:r>
              <a:rPr lang="en-US" sz="1050" kern="0" dirty="0">
                <a:solidFill>
                  <a:prstClr val="black"/>
                </a:solidFill>
                <a:latin typeface="Arial"/>
              </a:rPr>
              <a:t>][j] + in2[</a:t>
            </a:r>
            <a:r>
              <a:rPr lang="en-US" sz="1050" kern="0" dirty="0" err="1">
                <a:solidFill>
                  <a:prstClr val="black"/>
                </a:solidFill>
                <a:latin typeface="Arial"/>
              </a:rPr>
              <a:t>i</a:t>
            </a:r>
            <a:r>
              <a:rPr lang="en-US" sz="1050" kern="0" dirty="0">
                <a:solidFill>
                  <a:prstClr val="black"/>
                </a:solidFill>
                <a:latin typeface="Arial"/>
              </a:rPr>
              <a:t>][j];</a:t>
            </a:r>
          </a:p>
          <a:p>
            <a:pPr defTabSz="457200" fontAlgn="base">
              <a:spcBef>
                <a:spcPct val="0"/>
              </a:spcBef>
              <a:spcAft>
                <a:spcPct val="0"/>
              </a:spcAft>
              <a:defRPr/>
            </a:pP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a:t>
            </a:r>
          </a:p>
        </p:txBody>
      </p:sp>
      <p:sp>
        <p:nvSpPr>
          <p:cNvPr id="14" name="TextBox 13">
            <a:extLst>
              <a:ext uri="{FF2B5EF4-FFF2-40B4-BE49-F238E27FC236}">
                <a16:creationId xmlns:a16="http://schemas.microsoft.com/office/drawing/2014/main" id="{045CF2CB-41D9-4A82-BCA7-DAEC4F79CCA6}"/>
              </a:ext>
            </a:extLst>
          </p:cNvPr>
          <p:cNvSpPr txBox="1"/>
          <p:nvPr/>
        </p:nvSpPr>
        <p:spPr>
          <a:xfrm>
            <a:off x="1128102" y="4324727"/>
            <a:ext cx="2815633" cy="154657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457200" fontAlgn="base">
              <a:spcBef>
                <a:spcPct val="0"/>
              </a:spcBef>
              <a:spcAft>
                <a:spcPct val="0"/>
              </a:spcAft>
              <a:defRPr/>
            </a:pPr>
            <a:r>
              <a:rPr lang="en-US" sz="1050" kern="0" dirty="0">
                <a:solidFill>
                  <a:prstClr val="black"/>
                </a:solidFill>
                <a:latin typeface="Arial"/>
              </a:rPr>
              <a:t>void </a:t>
            </a:r>
            <a:r>
              <a:rPr lang="en-US" sz="1050" kern="0" dirty="0" err="1">
                <a:solidFill>
                  <a:prstClr val="black"/>
                </a:solidFill>
                <a:latin typeface="Arial"/>
              </a:rPr>
              <a:t>foo</a:t>
            </a:r>
            <a:r>
              <a:rPr lang="en-US" sz="1050" kern="0" dirty="0">
                <a:solidFill>
                  <a:prstClr val="black"/>
                </a:solidFill>
                <a:latin typeface="Arial"/>
              </a:rPr>
              <a:t>(in1[ ][ ], in2[ ][ ], …) {</a:t>
            </a:r>
          </a:p>
          <a:p>
            <a:pPr defTabSz="457200" fontAlgn="base">
              <a:spcBef>
                <a:spcPct val="0"/>
              </a:spcBef>
              <a:spcAft>
                <a:spcPct val="0"/>
              </a:spcAft>
              <a:defRPr/>
            </a:pPr>
            <a:r>
              <a:rPr lang="en-US" sz="1050" kern="0" dirty="0">
                <a:solidFill>
                  <a:prstClr val="black"/>
                </a:solidFill>
                <a:latin typeface="Arial"/>
              </a:rPr>
              <a:t>…</a:t>
            </a:r>
          </a:p>
          <a:p>
            <a:pPr defTabSz="457200" fontAlgn="base">
              <a:spcBef>
                <a:spcPct val="0"/>
              </a:spcBef>
              <a:spcAft>
                <a:spcPct val="0"/>
              </a:spcAft>
              <a:defRPr/>
            </a:pPr>
            <a:r>
              <a:rPr lang="en-US" sz="1050" kern="0" dirty="0">
                <a:solidFill>
                  <a:prstClr val="black"/>
                </a:solidFill>
                <a:latin typeface="Arial"/>
              </a:rPr>
              <a:t>  L1:for(i=1;i&lt;N;i++) {</a:t>
            </a:r>
          </a:p>
          <a:p>
            <a:pPr defTabSz="457200" fontAlgn="base">
              <a:spcBef>
                <a:spcPct val="0"/>
              </a:spcBef>
              <a:spcAft>
                <a:spcPct val="0"/>
              </a:spcAft>
              <a:defRPr/>
            </a:pPr>
            <a:r>
              <a:rPr lang="en-US" sz="1050" kern="0" dirty="0">
                <a:solidFill>
                  <a:prstClr val="black"/>
                </a:solidFill>
                <a:latin typeface="Arial"/>
              </a:rPr>
              <a:t>     L2:for(j=0;j&lt;</a:t>
            </a:r>
            <a:r>
              <a:rPr lang="en-US" sz="1050" kern="0" dirty="0" err="1">
                <a:solidFill>
                  <a:prstClr val="black"/>
                </a:solidFill>
                <a:latin typeface="Arial"/>
              </a:rPr>
              <a:t>M;j</a:t>
            </a:r>
            <a:r>
              <a:rPr lang="en-US" sz="1050" kern="0" dirty="0">
                <a:solidFill>
                  <a:prstClr val="black"/>
                </a:solidFill>
                <a:latin typeface="Arial"/>
              </a:rPr>
              <a:t>++) {</a:t>
            </a:r>
          </a:p>
          <a:p>
            <a:pPr defTabSz="457200" fontAlgn="base">
              <a:spcBef>
                <a:spcPct val="0"/>
              </a:spcBef>
              <a:spcAft>
                <a:spcPct val="0"/>
              </a:spcAft>
              <a:defRPr/>
            </a:pPr>
            <a:r>
              <a:rPr lang="en-US" sz="1050" b="1" kern="0" dirty="0">
                <a:solidFill>
                  <a:prstClr val="black"/>
                </a:solidFill>
                <a:latin typeface="Arial"/>
              </a:rPr>
              <a:t>#pragma HLS PIPELINE</a:t>
            </a:r>
          </a:p>
          <a:p>
            <a:pPr defTabSz="457200" fontAlgn="base">
              <a:spcBef>
                <a:spcPct val="0"/>
              </a:spcBef>
              <a:spcAft>
                <a:spcPct val="0"/>
              </a:spcAft>
              <a:defRPr/>
            </a:pPr>
            <a:r>
              <a:rPr lang="en-US" sz="1050" kern="0" dirty="0">
                <a:solidFill>
                  <a:prstClr val="black"/>
                </a:solidFill>
                <a:latin typeface="Arial"/>
              </a:rPr>
              <a:t>        out[</a:t>
            </a:r>
            <a:r>
              <a:rPr lang="en-US" sz="1050" kern="0" dirty="0" err="1">
                <a:solidFill>
                  <a:prstClr val="black"/>
                </a:solidFill>
                <a:latin typeface="Arial"/>
              </a:rPr>
              <a:t>i</a:t>
            </a:r>
            <a:r>
              <a:rPr lang="en-US" sz="1050" kern="0" dirty="0">
                <a:solidFill>
                  <a:prstClr val="black"/>
                </a:solidFill>
                <a:latin typeface="Arial"/>
              </a:rPr>
              <a:t>][j] = in1[</a:t>
            </a:r>
            <a:r>
              <a:rPr lang="en-US" sz="1050" kern="0" dirty="0" err="1">
                <a:solidFill>
                  <a:prstClr val="black"/>
                </a:solidFill>
                <a:latin typeface="Arial"/>
              </a:rPr>
              <a:t>i</a:t>
            </a:r>
            <a:r>
              <a:rPr lang="en-US" sz="1050" kern="0" dirty="0">
                <a:solidFill>
                  <a:prstClr val="black"/>
                </a:solidFill>
                <a:latin typeface="Arial"/>
              </a:rPr>
              <a:t>][j] + in2[</a:t>
            </a:r>
            <a:r>
              <a:rPr lang="en-US" sz="1050" kern="0" dirty="0" err="1">
                <a:solidFill>
                  <a:prstClr val="black"/>
                </a:solidFill>
                <a:latin typeface="Arial"/>
              </a:rPr>
              <a:t>i</a:t>
            </a:r>
            <a:r>
              <a:rPr lang="en-US" sz="1050" kern="0" dirty="0">
                <a:solidFill>
                  <a:prstClr val="black"/>
                </a:solidFill>
                <a:latin typeface="Arial"/>
              </a:rPr>
              <a:t>][j];</a:t>
            </a:r>
          </a:p>
          <a:p>
            <a:pPr defTabSz="457200" fontAlgn="base">
              <a:spcBef>
                <a:spcPct val="0"/>
              </a:spcBef>
              <a:spcAft>
                <a:spcPct val="0"/>
              </a:spcAft>
              <a:defRPr/>
            </a:pP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  }</a:t>
            </a:r>
          </a:p>
          <a:p>
            <a:pPr defTabSz="457200" fontAlgn="base">
              <a:spcBef>
                <a:spcPct val="0"/>
              </a:spcBef>
              <a:spcAft>
                <a:spcPct val="0"/>
              </a:spcAft>
              <a:defRPr/>
            </a:pPr>
            <a:r>
              <a:rPr lang="en-US" sz="1050" kern="0" dirty="0">
                <a:solidFill>
                  <a:prstClr val="black"/>
                </a:solidFill>
                <a:latin typeface="Arial"/>
              </a:rPr>
              <a:t>}</a:t>
            </a:r>
          </a:p>
        </p:txBody>
      </p:sp>
      <p:sp>
        <p:nvSpPr>
          <p:cNvPr id="15" name="TextBox 14">
            <a:extLst>
              <a:ext uri="{FF2B5EF4-FFF2-40B4-BE49-F238E27FC236}">
                <a16:creationId xmlns:a16="http://schemas.microsoft.com/office/drawing/2014/main" id="{CBF11462-0233-4007-B0EB-ACD2662E856A}"/>
              </a:ext>
            </a:extLst>
          </p:cNvPr>
          <p:cNvSpPr txBox="1"/>
          <p:nvPr/>
        </p:nvSpPr>
        <p:spPr>
          <a:xfrm>
            <a:off x="8243763" y="6006115"/>
            <a:ext cx="2866827" cy="430887"/>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100" b="1" kern="0" dirty="0">
                <a:solidFill>
                  <a:prstClr val="black"/>
                </a:solidFill>
                <a:ea typeface="ＭＳ Ｐゴシック" pitchFamily="34" charset="-128"/>
                <a:cs typeface="Arial" charset="0"/>
              </a:rPr>
              <a:t>Unrolls L1 and L2 </a:t>
            </a:r>
          </a:p>
          <a:p>
            <a:pPr algn="ctr" defTabSz="457200" fontAlgn="base">
              <a:spcBef>
                <a:spcPct val="0"/>
              </a:spcBef>
              <a:spcAft>
                <a:spcPct val="0"/>
              </a:spcAft>
              <a:defRPr/>
            </a:pPr>
            <a:r>
              <a:rPr lang="en-US" sz="1100" b="1" kern="0" dirty="0">
                <a:solidFill>
                  <a:prstClr val="black"/>
                </a:solidFill>
                <a:ea typeface="ＭＳ Ｐゴシック" pitchFamily="34" charset="-128"/>
                <a:cs typeface="Arial" charset="0"/>
              </a:rPr>
              <a:t>N*M adders, 3(N*M) accesses</a:t>
            </a:r>
          </a:p>
        </p:txBody>
      </p:sp>
      <p:sp>
        <p:nvSpPr>
          <p:cNvPr id="16" name="TextBox 15">
            <a:extLst>
              <a:ext uri="{FF2B5EF4-FFF2-40B4-BE49-F238E27FC236}">
                <a16:creationId xmlns:a16="http://schemas.microsoft.com/office/drawing/2014/main" id="{A2A1EE6A-DCCE-440F-B4F9-BFD9DB5587A3}"/>
              </a:ext>
            </a:extLst>
          </p:cNvPr>
          <p:cNvSpPr txBox="1"/>
          <p:nvPr/>
        </p:nvSpPr>
        <p:spPr>
          <a:xfrm>
            <a:off x="4711636" y="5976142"/>
            <a:ext cx="2815633" cy="430887"/>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100" b="1" kern="0" dirty="0">
                <a:solidFill>
                  <a:prstClr val="black"/>
                </a:solidFill>
                <a:ea typeface="ＭＳ Ｐゴシック" pitchFamily="34" charset="-128"/>
                <a:cs typeface="Arial" charset="0"/>
              </a:rPr>
              <a:t>Unrolls L2</a:t>
            </a:r>
          </a:p>
          <a:p>
            <a:pPr algn="ctr" defTabSz="457200" fontAlgn="base">
              <a:spcBef>
                <a:spcPct val="0"/>
              </a:spcBef>
              <a:spcAft>
                <a:spcPct val="0"/>
              </a:spcAft>
              <a:defRPr/>
            </a:pPr>
            <a:r>
              <a:rPr lang="en-US" sz="1100" b="1" kern="0" dirty="0">
                <a:solidFill>
                  <a:prstClr val="black"/>
                </a:solidFill>
                <a:ea typeface="ＭＳ Ｐゴシック" pitchFamily="34" charset="-128"/>
                <a:cs typeface="Arial" charset="0"/>
              </a:rPr>
              <a:t>M adders, 3M accesses</a:t>
            </a:r>
          </a:p>
        </p:txBody>
      </p:sp>
      <p:sp>
        <p:nvSpPr>
          <p:cNvPr id="17" name="TextBox 16">
            <a:extLst>
              <a:ext uri="{FF2B5EF4-FFF2-40B4-BE49-F238E27FC236}">
                <a16:creationId xmlns:a16="http://schemas.microsoft.com/office/drawing/2014/main" id="{A52BDF01-D522-47A7-9CE8-769B03E21137}"/>
              </a:ext>
            </a:extLst>
          </p:cNvPr>
          <p:cNvSpPr txBox="1"/>
          <p:nvPr/>
        </p:nvSpPr>
        <p:spPr>
          <a:xfrm>
            <a:off x="1179296" y="5975820"/>
            <a:ext cx="2815633" cy="261610"/>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100" b="1" kern="0" dirty="0">
                <a:solidFill>
                  <a:prstClr val="black"/>
                </a:solidFill>
                <a:ea typeface="ＭＳ Ｐゴシック" pitchFamily="34" charset="-128"/>
                <a:cs typeface="Arial" charset="0"/>
              </a:rPr>
              <a:t>1adder, 3 accesses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 Directive</a:t>
            </a:r>
          </a:p>
        </p:txBody>
      </p:sp>
      <p:sp>
        <p:nvSpPr>
          <p:cNvPr id="3" name="Content Placeholder 2"/>
          <p:cNvSpPr>
            <a:spLocks noGrp="1"/>
          </p:cNvSpPr>
          <p:nvPr>
            <p:ph idx="1"/>
          </p:nvPr>
        </p:nvSpPr>
        <p:spPr>
          <a:xfrm>
            <a:off x="616305" y="1278842"/>
            <a:ext cx="10515600" cy="4759404"/>
          </a:xfrm>
        </p:spPr>
        <p:txBody>
          <a:bodyPr>
            <a:normAutofit/>
          </a:bodyPr>
          <a:lstStyle/>
          <a:p>
            <a:r>
              <a:rPr lang="en-US" sz="2200" dirty="0"/>
              <a:t>The pipeline directive pipelines functions or loops</a:t>
            </a:r>
          </a:p>
          <a:p>
            <a:pPr lvl="1"/>
            <a:r>
              <a:rPr lang="en-US" dirty="0"/>
              <a:t>This example pipelines the function with an Initiation </a:t>
            </a:r>
            <a:br>
              <a:rPr lang="en-US" dirty="0"/>
            </a:br>
            <a:r>
              <a:rPr lang="en-US" dirty="0"/>
              <a:t>Interval (II) of 2</a:t>
            </a:r>
          </a:p>
          <a:p>
            <a:pPr lvl="2"/>
            <a:r>
              <a:rPr lang="en-US" dirty="0"/>
              <a:t>The II is the same as the throughput but this term is used </a:t>
            </a:r>
            <a:br>
              <a:rPr lang="en-US" dirty="0"/>
            </a:br>
            <a:r>
              <a:rPr lang="en-US" dirty="0"/>
              <a:t>exclusively with pipelines</a:t>
            </a:r>
          </a:p>
          <a:p>
            <a:pPr lvl="2"/>
            <a:endParaRPr lang="en-US" dirty="0"/>
          </a:p>
          <a:p>
            <a:endParaRPr lang="en-US" dirty="0"/>
          </a:p>
          <a:p>
            <a:r>
              <a:rPr lang="en-US" sz="2200" dirty="0"/>
              <a:t>Omit the target II and Vitis HLS will Automatically </a:t>
            </a:r>
            <a:br>
              <a:rPr lang="en-US" sz="2200" dirty="0"/>
            </a:br>
            <a:r>
              <a:rPr lang="en-US" sz="2200" dirty="0"/>
              <a:t>pipeline for the fastest possible design</a:t>
            </a:r>
          </a:p>
          <a:p>
            <a:pPr lvl="1"/>
            <a:r>
              <a:rPr lang="en-US" dirty="0"/>
              <a:t>Specifying a more accurate maximum may allow more </a:t>
            </a:r>
            <a:br>
              <a:rPr lang="en-US" dirty="0"/>
            </a:br>
            <a:r>
              <a:rPr lang="en-US" dirty="0"/>
              <a:t>sharing (smaller area)</a:t>
            </a:r>
          </a:p>
          <a:p>
            <a:r>
              <a:rPr lang="en-US" sz="2200" dirty="0"/>
              <a:t>The directive on loops provides loop rewinding option</a:t>
            </a:r>
          </a:p>
          <a:p>
            <a:endParaRPr lang="en-US" dirty="0"/>
          </a:p>
        </p:txBody>
      </p:sp>
      <p:sp>
        <p:nvSpPr>
          <p:cNvPr id="16" name="Slide Number Placeholder 1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54</a:t>
            </a:fld>
            <a:endParaRPr lang="en-US" dirty="0"/>
          </a:p>
        </p:txBody>
      </p:sp>
      <p:grpSp>
        <p:nvGrpSpPr>
          <p:cNvPr id="17" name="Group 16">
            <a:extLst>
              <a:ext uri="{FF2B5EF4-FFF2-40B4-BE49-F238E27FC236}">
                <a16:creationId xmlns:a16="http://schemas.microsoft.com/office/drawing/2014/main" id="{B31BF40D-77F2-4500-9DC9-B970B17733C2}"/>
              </a:ext>
            </a:extLst>
          </p:cNvPr>
          <p:cNvGrpSpPr/>
          <p:nvPr/>
        </p:nvGrpSpPr>
        <p:grpSpPr>
          <a:xfrm>
            <a:off x="1881501" y="3005653"/>
            <a:ext cx="3122540" cy="652891"/>
            <a:chOff x="1948007" y="3440480"/>
            <a:chExt cx="3122540" cy="652891"/>
          </a:xfrm>
        </p:grpSpPr>
        <p:sp>
          <p:nvSpPr>
            <p:cNvPr id="18" name="Rounded Rectangle 7">
              <a:extLst>
                <a:ext uri="{FF2B5EF4-FFF2-40B4-BE49-F238E27FC236}">
                  <a16:creationId xmlns:a16="http://schemas.microsoft.com/office/drawing/2014/main" id="{B3F6B07A-4996-4C2A-A2F0-3A0ADFD7AD06}"/>
                </a:ext>
              </a:extLst>
            </p:cNvPr>
            <p:cNvSpPr/>
            <p:nvPr/>
          </p:nvSpPr>
          <p:spPr>
            <a:xfrm>
              <a:off x="1981904" y="3440480"/>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19" name="Rounded Rectangle 8">
              <a:extLst>
                <a:ext uri="{FF2B5EF4-FFF2-40B4-BE49-F238E27FC236}">
                  <a16:creationId xmlns:a16="http://schemas.microsoft.com/office/drawing/2014/main" id="{D5C0B922-875F-4378-A19B-53540918F182}"/>
                </a:ext>
              </a:extLst>
            </p:cNvPr>
            <p:cNvSpPr/>
            <p:nvPr/>
          </p:nvSpPr>
          <p:spPr>
            <a:xfrm>
              <a:off x="2591345" y="3440480"/>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20" name="Rounded Rectangle 9">
              <a:extLst>
                <a:ext uri="{FF2B5EF4-FFF2-40B4-BE49-F238E27FC236}">
                  <a16:creationId xmlns:a16="http://schemas.microsoft.com/office/drawing/2014/main" id="{ED542279-133F-41BC-BF98-60B161CFF312}"/>
                </a:ext>
              </a:extLst>
            </p:cNvPr>
            <p:cNvSpPr/>
            <p:nvPr/>
          </p:nvSpPr>
          <p:spPr>
            <a:xfrm>
              <a:off x="3200786" y="3440480"/>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21" name="Rounded Rectangle 10">
              <a:extLst>
                <a:ext uri="{FF2B5EF4-FFF2-40B4-BE49-F238E27FC236}">
                  <a16:creationId xmlns:a16="http://schemas.microsoft.com/office/drawing/2014/main" id="{0A916A5F-2B0F-4F23-9B1A-AA354609415A}"/>
                </a:ext>
              </a:extLst>
            </p:cNvPr>
            <p:cNvSpPr/>
            <p:nvPr/>
          </p:nvSpPr>
          <p:spPr>
            <a:xfrm>
              <a:off x="3242222" y="3630980"/>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22" name="Rounded Rectangle 11">
              <a:extLst>
                <a:ext uri="{FF2B5EF4-FFF2-40B4-BE49-F238E27FC236}">
                  <a16:creationId xmlns:a16="http://schemas.microsoft.com/office/drawing/2014/main" id="{37740A2D-5C18-49E0-BB5D-59434D3346B2}"/>
                </a:ext>
              </a:extLst>
            </p:cNvPr>
            <p:cNvSpPr/>
            <p:nvPr/>
          </p:nvSpPr>
          <p:spPr>
            <a:xfrm>
              <a:off x="3851663" y="3630980"/>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23" name="Rounded Rectangle 12">
              <a:extLst>
                <a:ext uri="{FF2B5EF4-FFF2-40B4-BE49-F238E27FC236}">
                  <a16:creationId xmlns:a16="http://schemas.microsoft.com/office/drawing/2014/main" id="{7D17B266-E2AD-4868-AD4F-A402120C0B0F}"/>
                </a:ext>
              </a:extLst>
            </p:cNvPr>
            <p:cNvSpPr/>
            <p:nvPr/>
          </p:nvSpPr>
          <p:spPr>
            <a:xfrm>
              <a:off x="4461106" y="3630980"/>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cxnSp>
          <p:nvCxnSpPr>
            <p:cNvPr id="24" name="Straight Arrow Connector 23">
              <a:extLst>
                <a:ext uri="{FF2B5EF4-FFF2-40B4-BE49-F238E27FC236}">
                  <a16:creationId xmlns:a16="http://schemas.microsoft.com/office/drawing/2014/main" id="{2FCA8D70-D386-4EB8-A3DC-2B35D4410FF2}"/>
                </a:ext>
              </a:extLst>
            </p:cNvPr>
            <p:cNvCxnSpPr/>
            <p:nvPr/>
          </p:nvCxnSpPr>
          <p:spPr>
            <a:xfrm>
              <a:off x="1962389" y="3715959"/>
              <a:ext cx="1228640" cy="1"/>
            </a:xfrm>
            <a:prstGeom prst="straightConnector1">
              <a:avLst/>
            </a:prstGeom>
            <a:noFill/>
            <a:ln w="25400" cap="flat" cmpd="sng" algn="ctr">
              <a:solidFill>
                <a:srgbClr val="008CA8"/>
              </a:solidFill>
              <a:prstDash val="solid"/>
              <a:headEnd type="arrow"/>
              <a:tailEnd type="arrow"/>
            </a:ln>
            <a:effectLst>
              <a:outerShdw blurRad="40000" dist="20000" dir="5400000" rotWithShape="0">
                <a:srgbClr val="000000">
                  <a:alpha val="38000"/>
                </a:srgbClr>
              </a:outerShdw>
            </a:effectLst>
          </p:spPr>
        </p:cxnSp>
        <p:sp>
          <p:nvSpPr>
            <p:cNvPr id="25" name="TextBox 24">
              <a:extLst>
                <a:ext uri="{FF2B5EF4-FFF2-40B4-BE49-F238E27FC236}">
                  <a16:creationId xmlns:a16="http://schemas.microsoft.com/office/drawing/2014/main" id="{F0B5D673-707F-4D34-AA09-FA4C9A6D0D36}"/>
                </a:ext>
              </a:extLst>
            </p:cNvPr>
            <p:cNvSpPr txBox="1"/>
            <p:nvPr/>
          </p:nvSpPr>
          <p:spPr>
            <a:xfrm>
              <a:off x="1948007" y="3816372"/>
              <a:ext cx="1848583" cy="276999"/>
            </a:xfrm>
            <a:prstGeom prst="rect">
              <a:avLst/>
            </a:prstGeom>
            <a:noFill/>
          </p:spPr>
          <p:txBody>
            <a:bodyPr wrap="none" rtlCol="0">
              <a:spAutoFit/>
            </a:bodyPr>
            <a:lstStyle/>
            <a:p>
              <a:pPr defTabSz="457200" fontAlgn="base">
                <a:spcBef>
                  <a:spcPct val="0"/>
                </a:spcBef>
                <a:spcAft>
                  <a:spcPct val="0"/>
                </a:spcAft>
                <a:defRPr/>
              </a:pPr>
              <a:r>
                <a:rPr lang="en-US" sz="1200" b="1" kern="0" dirty="0">
                  <a:solidFill>
                    <a:prstClr val="black"/>
                  </a:solidFill>
                  <a:ea typeface="ＭＳ Ｐゴシック" pitchFamily="34" charset="-128"/>
                  <a:cs typeface="Arial" charset="0"/>
                </a:rPr>
                <a:t>Initiation Interval (or II)</a:t>
              </a:r>
            </a:p>
          </p:txBody>
        </p:sp>
      </p:grpSp>
      <p:pic>
        <p:nvPicPr>
          <p:cNvPr id="6" name="图片 5" descr="图形用户界面, 应用程序&#10;&#10;描述已自动生成">
            <a:extLst>
              <a:ext uri="{FF2B5EF4-FFF2-40B4-BE49-F238E27FC236}">
                <a16:creationId xmlns:a16="http://schemas.microsoft.com/office/drawing/2014/main" id="{367C9F2A-FCDE-4434-9DCF-80AA7A9D269A}"/>
              </a:ext>
            </a:extLst>
          </p:cNvPr>
          <p:cNvPicPr>
            <a:picLocks noChangeAspect="1"/>
          </p:cNvPicPr>
          <p:nvPr/>
        </p:nvPicPr>
        <p:blipFill>
          <a:blip r:embed="rId2"/>
          <a:stretch>
            <a:fillRect/>
          </a:stretch>
        </p:blipFill>
        <p:spPr>
          <a:xfrm>
            <a:off x="7963053" y="2057400"/>
            <a:ext cx="3408218" cy="27432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 Directive</a:t>
            </a:r>
          </a:p>
        </p:txBody>
      </p:sp>
      <p:sp>
        <p:nvSpPr>
          <p:cNvPr id="3" name="Content Placeholder 2"/>
          <p:cNvSpPr>
            <a:spLocks noGrp="1"/>
          </p:cNvSpPr>
          <p:nvPr>
            <p:ph idx="1"/>
          </p:nvPr>
        </p:nvSpPr>
        <p:spPr/>
        <p:txBody>
          <a:bodyPr>
            <a:normAutofit/>
          </a:bodyPr>
          <a:lstStyle/>
          <a:p>
            <a:r>
              <a:rPr lang="en-US" sz="2200" dirty="0"/>
              <a:t>The pipeline directive pipelines functions or loops</a:t>
            </a:r>
          </a:p>
          <a:p>
            <a:pPr lvl="1"/>
            <a:r>
              <a:rPr lang="en-US" dirty="0"/>
              <a:t>This example pipelines the function with an Initiation </a:t>
            </a:r>
            <a:br>
              <a:rPr lang="en-US" dirty="0"/>
            </a:br>
            <a:r>
              <a:rPr lang="en-US" dirty="0"/>
              <a:t>Interval (II) of 2</a:t>
            </a:r>
          </a:p>
          <a:p>
            <a:pPr lvl="2"/>
            <a:r>
              <a:rPr lang="en-US" dirty="0"/>
              <a:t>The II is the same as the throughput but this term is used </a:t>
            </a:r>
            <a:br>
              <a:rPr lang="en-US" dirty="0"/>
            </a:br>
            <a:r>
              <a:rPr lang="en-US" dirty="0"/>
              <a:t>exclusively with  pipelines</a:t>
            </a:r>
          </a:p>
          <a:p>
            <a:pPr lvl="2"/>
            <a:endParaRPr lang="en-US" dirty="0"/>
          </a:p>
          <a:p>
            <a:endParaRPr lang="en-US" dirty="0"/>
          </a:p>
          <a:p>
            <a:r>
              <a:rPr lang="en-US" sz="2200" dirty="0"/>
              <a:t>Omit the target II and </a:t>
            </a:r>
            <a:r>
              <a:rPr lang="en-US" sz="2200" dirty="0" err="1"/>
              <a:t>Vivado</a:t>
            </a:r>
            <a:r>
              <a:rPr lang="en-US" sz="2200" dirty="0"/>
              <a:t> HLS will Automatically </a:t>
            </a:r>
            <a:br>
              <a:rPr lang="en-US" sz="2200" dirty="0"/>
            </a:br>
            <a:r>
              <a:rPr lang="en-US" sz="2200" dirty="0"/>
              <a:t>pipeline for the fastest possible design</a:t>
            </a:r>
          </a:p>
          <a:p>
            <a:pPr lvl="1"/>
            <a:r>
              <a:rPr lang="en-US" dirty="0"/>
              <a:t>Specifying a more accurate maximum may allow more </a:t>
            </a:r>
            <a:br>
              <a:rPr lang="en-US" dirty="0"/>
            </a:br>
            <a:r>
              <a:rPr lang="en-US" dirty="0"/>
              <a:t>sharing (smaller area)</a:t>
            </a:r>
          </a:p>
          <a:p>
            <a:r>
              <a:rPr lang="en-US" sz="2200" dirty="0"/>
              <a:t>The directive on loops provides loop rewinding option</a:t>
            </a:r>
          </a:p>
          <a:p>
            <a:endParaRPr lang="en-US" dirty="0"/>
          </a:p>
        </p:txBody>
      </p:sp>
      <p:sp>
        <p:nvSpPr>
          <p:cNvPr id="16" name="Slide Number Placeholder 1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55</a:t>
            </a:fld>
            <a:endParaRPr lang="en-US" dirty="0"/>
          </a:p>
        </p:txBody>
      </p:sp>
      <p:pic>
        <p:nvPicPr>
          <p:cNvPr id="5" name="Picture 4">
            <a:extLst>
              <a:ext uri="{FF2B5EF4-FFF2-40B4-BE49-F238E27FC236}">
                <a16:creationId xmlns:a16="http://schemas.microsoft.com/office/drawing/2014/main" id="{EC8CD35F-6870-4CC9-82FB-39608D738E3D}"/>
              </a:ext>
            </a:extLst>
          </p:cNvPr>
          <p:cNvPicPr>
            <a:picLocks noChangeAspect="1"/>
          </p:cNvPicPr>
          <p:nvPr/>
        </p:nvPicPr>
        <p:blipFill>
          <a:blip r:embed="rId2"/>
          <a:stretch>
            <a:fillRect/>
          </a:stretch>
        </p:blipFill>
        <p:spPr>
          <a:xfrm>
            <a:off x="7999681" y="2405063"/>
            <a:ext cx="3162300" cy="2047875"/>
          </a:xfrm>
          <a:prstGeom prst="rect">
            <a:avLst/>
          </a:prstGeom>
        </p:spPr>
      </p:pic>
      <p:grpSp>
        <p:nvGrpSpPr>
          <p:cNvPr id="17" name="Group 16">
            <a:extLst>
              <a:ext uri="{FF2B5EF4-FFF2-40B4-BE49-F238E27FC236}">
                <a16:creationId xmlns:a16="http://schemas.microsoft.com/office/drawing/2014/main" id="{B31BF40D-77F2-4500-9DC9-B970B17733C2}"/>
              </a:ext>
            </a:extLst>
          </p:cNvPr>
          <p:cNvGrpSpPr/>
          <p:nvPr/>
        </p:nvGrpSpPr>
        <p:grpSpPr>
          <a:xfrm>
            <a:off x="1881501" y="3005653"/>
            <a:ext cx="3122540" cy="652891"/>
            <a:chOff x="1948007" y="3440480"/>
            <a:chExt cx="3122540" cy="652891"/>
          </a:xfrm>
        </p:grpSpPr>
        <p:sp>
          <p:nvSpPr>
            <p:cNvPr id="18" name="Rounded Rectangle 7">
              <a:extLst>
                <a:ext uri="{FF2B5EF4-FFF2-40B4-BE49-F238E27FC236}">
                  <a16:creationId xmlns:a16="http://schemas.microsoft.com/office/drawing/2014/main" id="{B3F6B07A-4996-4C2A-A2F0-3A0ADFD7AD06}"/>
                </a:ext>
              </a:extLst>
            </p:cNvPr>
            <p:cNvSpPr/>
            <p:nvPr/>
          </p:nvSpPr>
          <p:spPr>
            <a:xfrm>
              <a:off x="1981904" y="3440480"/>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19" name="Rounded Rectangle 8">
              <a:extLst>
                <a:ext uri="{FF2B5EF4-FFF2-40B4-BE49-F238E27FC236}">
                  <a16:creationId xmlns:a16="http://schemas.microsoft.com/office/drawing/2014/main" id="{D5C0B922-875F-4378-A19B-53540918F182}"/>
                </a:ext>
              </a:extLst>
            </p:cNvPr>
            <p:cNvSpPr/>
            <p:nvPr/>
          </p:nvSpPr>
          <p:spPr>
            <a:xfrm>
              <a:off x="2591345" y="3440480"/>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20" name="Rounded Rectangle 9">
              <a:extLst>
                <a:ext uri="{FF2B5EF4-FFF2-40B4-BE49-F238E27FC236}">
                  <a16:creationId xmlns:a16="http://schemas.microsoft.com/office/drawing/2014/main" id="{ED542279-133F-41BC-BF98-60B161CFF312}"/>
                </a:ext>
              </a:extLst>
            </p:cNvPr>
            <p:cNvSpPr/>
            <p:nvPr/>
          </p:nvSpPr>
          <p:spPr>
            <a:xfrm>
              <a:off x="3200786" y="3440480"/>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21" name="Rounded Rectangle 10">
              <a:extLst>
                <a:ext uri="{FF2B5EF4-FFF2-40B4-BE49-F238E27FC236}">
                  <a16:creationId xmlns:a16="http://schemas.microsoft.com/office/drawing/2014/main" id="{0A916A5F-2B0F-4F23-9B1A-AA354609415A}"/>
                </a:ext>
              </a:extLst>
            </p:cNvPr>
            <p:cNvSpPr/>
            <p:nvPr/>
          </p:nvSpPr>
          <p:spPr>
            <a:xfrm>
              <a:off x="3242222" y="3630980"/>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22" name="Rounded Rectangle 11">
              <a:extLst>
                <a:ext uri="{FF2B5EF4-FFF2-40B4-BE49-F238E27FC236}">
                  <a16:creationId xmlns:a16="http://schemas.microsoft.com/office/drawing/2014/main" id="{37740A2D-5C18-49E0-BB5D-59434D3346B2}"/>
                </a:ext>
              </a:extLst>
            </p:cNvPr>
            <p:cNvSpPr/>
            <p:nvPr/>
          </p:nvSpPr>
          <p:spPr>
            <a:xfrm>
              <a:off x="3851663" y="3630980"/>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23" name="Rounded Rectangle 12">
              <a:extLst>
                <a:ext uri="{FF2B5EF4-FFF2-40B4-BE49-F238E27FC236}">
                  <a16:creationId xmlns:a16="http://schemas.microsoft.com/office/drawing/2014/main" id="{7D17B266-E2AD-4868-AD4F-A402120C0B0F}"/>
                </a:ext>
              </a:extLst>
            </p:cNvPr>
            <p:cNvSpPr/>
            <p:nvPr/>
          </p:nvSpPr>
          <p:spPr>
            <a:xfrm>
              <a:off x="4461106" y="3630980"/>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cxnSp>
          <p:nvCxnSpPr>
            <p:cNvPr id="24" name="Straight Arrow Connector 23">
              <a:extLst>
                <a:ext uri="{FF2B5EF4-FFF2-40B4-BE49-F238E27FC236}">
                  <a16:creationId xmlns:a16="http://schemas.microsoft.com/office/drawing/2014/main" id="{2FCA8D70-D386-4EB8-A3DC-2B35D4410FF2}"/>
                </a:ext>
              </a:extLst>
            </p:cNvPr>
            <p:cNvCxnSpPr/>
            <p:nvPr/>
          </p:nvCxnSpPr>
          <p:spPr>
            <a:xfrm>
              <a:off x="1962389" y="3715959"/>
              <a:ext cx="1228640" cy="1"/>
            </a:xfrm>
            <a:prstGeom prst="straightConnector1">
              <a:avLst/>
            </a:prstGeom>
            <a:noFill/>
            <a:ln w="25400" cap="flat" cmpd="sng" algn="ctr">
              <a:solidFill>
                <a:srgbClr val="008CA8"/>
              </a:solidFill>
              <a:prstDash val="solid"/>
              <a:headEnd type="arrow"/>
              <a:tailEnd type="arrow"/>
            </a:ln>
            <a:effectLst>
              <a:outerShdw blurRad="40000" dist="20000" dir="5400000" rotWithShape="0">
                <a:srgbClr val="000000">
                  <a:alpha val="38000"/>
                </a:srgbClr>
              </a:outerShdw>
            </a:effectLst>
          </p:spPr>
        </p:cxnSp>
        <p:sp>
          <p:nvSpPr>
            <p:cNvPr id="25" name="TextBox 24">
              <a:extLst>
                <a:ext uri="{FF2B5EF4-FFF2-40B4-BE49-F238E27FC236}">
                  <a16:creationId xmlns:a16="http://schemas.microsoft.com/office/drawing/2014/main" id="{F0B5D673-707F-4D34-AA09-FA4C9A6D0D36}"/>
                </a:ext>
              </a:extLst>
            </p:cNvPr>
            <p:cNvSpPr txBox="1"/>
            <p:nvPr/>
          </p:nvSpPr>
          <p:spPr>
            <a:xfrm>
              <a:off x="1948007" y="3816372"/>
              <a:ext cx="1848583" cy="276999"/>
            </a:xfrm>
            <a:prstGeom prst="rect">
              <a:avLst/>
            </a:prstGeom>
            <a:noFill/>
          </p:spPr>
          <p:txBody>
            <a:bodyPr wrap="none" rtlCol="0">
              <a:spAutoFit/>
            </a:bodyPr>
            <a:lstStyle/>
            <a:p>
              <a:pPr defTabSz="457200" fontAlgn="base">
                <a:spcBef>
                  <a:spcPct val="0"/>
                </a:spcBef>
                <a:spcAft>
                  <a:spcPct val="0"/>
                </a:spcAft>
                <a:defRPr/>
              </a:pPr>
              <a:r>
                <a:rPr lang="en-US" sz="1200" b="1" kern="0" dirty="0">
                  <a:solidFill>
                    <a:prstClr val="black"/>
                  </a:solidFill>
                  <a:ea typeface="ＭＳ Ｐゴシック" pitchFamily="34" charset="-128"/>
                  <a:cs typeface="Arial" charset="0"/>
                </a:rPr>
                <a:t>Initiation Interval (or II)</a:t>
              </a:r>
            </a:p>
          </p:txBody>
        </p:sp>
      </p:grpSp>
    </p:spTree>
    <p:extLst>
      <p:ext uri="{BB962C8B-B14F-4D97-AF65-F5344CB8AC3E}">
        <p14:creationId xmlns:p14="http://schemas.microsoft.com/office/powerpoint/2010/main" val="12597384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Pipeline Flush</a:t>
            </a:r>
          </a:p>
        </p:txBody>
      </p:sp>
      <p:sp>
        <p:nvSpPr>
          <p:cNvPr id="3" name="Content Placeholder 2"/>
          <p:cNvSpPr>
            <a:spLocks noGrp="1"/>
          </p:cNvSpPr>
          <p:nvPr>
            <p:ph idx="1"/>
          </p:nvPr>
        </p:nvSpPr>
        <p:spPr>
          <a:xfrm>
            <a:off x="625415" y="1049298"/>
            <a:ext cx="10515600" cy="4759404"/>
          </a:xfrm>
        </p:spPr>
        <p:txBody>
          <a:bodyPr/>
          <a:lstStyle/>
          <a:p>
            <a:r>
              <a:rPr lang="en-US" dirty="0"/>
              <a:t>Pipelines can optionally be flushed</a:t>
            </a:r>
          </a:p>
          <a:p>
            <a:pPr lvl="1"/>
            <a:r>
              <a:rPr lang="en-US" dirty="0"/>
              <a:t>Flush: when the input enable goes low (no more data) all existing results are flushed out</a:t>
            </a:r>
          </a:p>
          <a:p>
            <a:pPr lvl="2"/>
            <a:r>
              <a:rPr lang="en-US" dirty="0"/>
              <a:t>The input enable may be from an input interface or from another block in the design</a:t>
            </a:r>
          </a:p>
          <a:p>
            <a:pPr lvl="1"/>
            <a:r>
              <a:rPr lang="en-US" dirty="0"/>
              <a:t>The default is to stall all existing values in the pipeline</a:t>
            </a:r>
          </a:p>
          <a:p>
            <a:pPr lvl="1"/>
            <a:endParaRPr lang="en-US" dirty="0"/>
          </a:p>
          <a:p>
            <a:pPr lvl="1"/>
            <a:endParaRPr lang="en-US" dirty="0"/>
          </a:p>
          <a:p>
            <a:pPr lvl="1"/>
            <a:endParaRPr lang="en-US" dirty="0"/>
          </a:p>
          <a:p>
            <a:pPr lvl="1"/>
            <a:endParaRPr lang="en-US" dirty="0"/>
          </a:p>
          <a:p>
            <a:pPr lvl="1"/>
            <a:endParaRPr lang="en-US" dirty="0"/>
          </a:p>
          <a:p>
            <a:pPr lvl="1">
              <a:buNone/>
            </a:pPr>
            <a:endParaRPr lang="en-US" dirty="0"/>
          </a:p>
          <a:p>
            <a:r>
              <a:rPr lang="en-US" dirty="0"/>
              <a:t>With Flush</a:t>
            </a:r>
          </a:p>
          <a:p>
            <a:pPr lvl="1"/>
            <a:r>
              <a:rPr lang="en-US" dirty="0"/>
              <a:t>When no new input reads are performed</a:t>
            </a:r>
          </a:p>
          <a:p>
            <a:pPr lvl="1"/>
            <a:r>
              <a:rPr lang="en-US" dirty="0"/>
              <a:t>Values already in the pipeline are flushed out</a:t>
            </a:r>
          </a:p>
          <a:p>
            <a:endParaRPr lang="en-US" dirty="0"/>
          </a:p>
        </p:txBody>
      </p:sp>
      <p:sp>
        <p:nvSpPr>
          <p:cNvPr id="110" name="Slide Number Placeholder 109"/>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56</a:t>
            </a:fld>
            <a:endParaRPr lang="en-US" dirty="0"/>
          </a:p>
        </p:txBody>
      </p:sp>
      <p:sp>
        <p:nvSpPr>
          <p:cNvPr id="111" name="TextBox 110">
            <a:extLst>
              <a:ext uri="{FF2B5EF4-FFF2-40B4-BE49-F238E27FC236}">
                <a16:creationId xmlns:a16="http://schemas.microsoft.com/office/drawing/2014/main" id="{CED6417B-C399-4B64-8D40-3AB9D59D47CF}"/>
              </a:ext>
            </a:extLst>
          </p:cNvPr>
          <p:cNvSpPr txBox="1"/>
          <p:nvPr/>
        </p:nvSpPr>
        <p:spPr>
          <a:xfrm>
            <a:off x="1928309" y="3084418"/>
            <a:ext cx="1864869" cy="276999"/>
          </a:xfrm>
          <a:prstGeom prst="rect">
            <a:avLst/>
          </a:prstGeom>
          <a:noFill/>
          <a:effectLst/>
        </p:spPr>
        <p:txBody>
          <a:bodyPr wrap="none" rtlCol="0">
            <a:spAutoFit/>
          </a:bodyPr>
          <a:lstStyle/>
          <a:p>
            <a:pPr defTabSz="457200" fontAlgn="base">
              <a:spcBef>
                <a:spcPct val="0"/>
              </a:spcBef>
              <a:spcAft>
                <a:spcPct val="0"/>
              </a:spcAft>
            </a:pPr>
            <a:r>
              <a:rPr lang="en-US" sz="1200" b="1" u="sng" dirty="0">
                <a:solidFill>
                  <a:prstClr val="black"/>
                </a:solidFill>
                <a:ea typeface="ＭＳ Ｐゴシック" pitchFamily="34" charset="-128"/>
                <a:cs typeface="Arial" charset="0"/>
              </a:rPr>
              <a:t>Without Flush (default)</a:t>
            </a:r>
          </a:p>
        </p:txBody>
      </p:sp>
      <p:sp>
        <p:nvSpPr>
          <p:cNvPr id="112" name="TextBox 111">
            <a:extLst>
              <a:ext uri="{FF2B5EF4-FFF2-40B4-BE49-F238E27FC236}">
                <a16:creationId xmlns:a16="http://schemas.microsoft.com/office/drawing/2014/main" id="{6BE4BDD5-AD4A-4045-8BF9-6DF1E6DDF555}"/>
              </a:ext>
            </a:extLst>
          </p:cNvPr>
          <p:cNvSpPr txBox="1"/>
          <p:nvPr/>
        </p:nvSpPr>
        <p:spPr>
          <a:xfrm>
            <a:off x="1119508" y="3471214"/>
            <a:ext cx="423513" cy="276999"/>
          </a:xfrm>
          <a:prstGeom prst="rect">
            <a:avLst/>
          </a:prstGeom>
          <a:noFill/>
          <a:effectLst/>
        </p:spPr>
        <p:txBody>
          <a:bodyPr wrap="none" rtlCol="0">
            <a:spAutoFit/>
          </a:bodyPr>
          <a:lstStyle/>
          <a:p>
            <a:pPr algn="r" defTabSz="457200" fontAlgn="base">
              <a:spcBef>
                <a:spcPct val="0"/>
              </a:spcBef>
              <a:spcAft>
                <a:spcPct val="0"/>
              </a:spcAft>
            </a:pPr>
            <a:r>
              <a:rPr lang="en-US" sz="1200" b="1" dirty="0" err="1">
                <a:solidFill>
                  <a:prstClr val="black"/>
                </a:solidFill>
                <a:ea typeface="ＭＳ Ｐゴシック" pitchFamily="34" charset="-128"/>
                <a:cs typeface="Arial" charset="0"/>
              </a:rPr>
              <a:t>Clk</a:t>
            </a:r>
            <a:endParaRPr lang="en-US" sz="1200" b="1" dirty="0">
              <a:solidFill>
                <a:prstClr val="black"/>
              </a:solidFill>
              <a:ea typeface="ＭＳ Ｐゴシック" pitchFamily="34" charset="-128"/>
              <a:cs typeface="Arial" charset="0"/>
            </a:endParaRPr>
          </a:p>
        </p:txBody>
      </p:sp>
      <p:grpSp>
        <p:nvGrpSpPr>
          <p:cNvPr id="113" name="Group 71">
            <a:extLst>
              <a:ext uri="{FF2B5EF4-FFF2-40B4-BE49-F238E27FC236}">
                <a16:creationId xmlns:a16="http://schemas.microsoft.com/office/drawing/2014/main" id="{33C8C733-C566-4726-9C5C-C3A771CC4ECB}"/>
              </a:ext>
            </a:extLst>
          </p:cNvPr>
          <p:cNvGrpSpPr/>
          <p:nvPr/>
        </p:nvGrpSpPr>
        <p:grpSpPr>
          <a:xfrm>
            <a:off x="1658825" y="3509044"/>
            <a:ext cx="609443" cy="228600"/>
            <a:chOff x="-66694" y="1130300"/>
            <a:chExt cx="533401" cy="228600"/>
          </a:xfrm>
          <a:effectLst>
            <a:outerShdw blurRad="50800" dist="38100" dir="2700000" algn="tl" rotWithShape="0">
              <a:prstClr val="black">
                <a:alpha val="40000"/>
              </a:prstClr>
            </a:outerShdw>
          </a:effectLst>
        </p:grpSpPr>
        <p:cxnSp>
          <p:nvCxnSpPr>
            <p:cNvPr id="114" name="Straight Connector 113">
              <a:extLst>
                <a:ext uri="{FF2B5EF4-FFF2-40B4-BE49-F238E27FC236}">
                  <a16:creationId xmlns:a16="http://schemas.microsoft.com/office/drawing/2014/main" id="{2AEAA659-D8D4-497F-A2EC-10B31FC9266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5" name="Straight Connector 114">
              <a:extLst>
                <a:ext uri="{FF2B5EF4-FFF2-40B4-BE49-F238E27FC236}">
                  <a16:creationId xmlns:a16="http://schemas.microsoft.com/office/drawing/2014/main" id="{F36481DF-1E16-4E1D-AFB5-562E6058804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6" name="Straight Connector 115">
              <a:extLst>
                <a:ext uri="{FF2B5EF4-FFF2-40B4-BE49-F238E27FC236}">
                  <a16:creationId xmlns:a16="http://schemas.microsoft.com/office/drawing/2014/main" id="{389B21D9-D980-46C4-9287-1C304A4E8652}"/>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7" name="Straight Connector 116">
              <a:extLst>
                <a:ext uri="{FF2B5EF4-FFF2-40B4-BE49-F238E27FC236}">
                  <a16:creationId xmlns:a16="http://schemas.microsoft.com/office/drawing/2014/main" id="{61A94653-8E62-4541-BC10-E4F8B11B049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18" name="Group 71">
            <a:extLst>
              <a:ext uri="{FF2B5EF4-FFF2-40B4-BE49-F238E27FC236}">
                <a16:creationId xmlns:a16="http://schemas.microsoft.com/office/drawing/2014/main" id="{899DB31C-CA98-4431-B575-EC77999DB9DE}"/>
              </a:ext>
            </a:extLst>
          </p:cNvPr>
          <p:cNvGrpSpPr/>
          <p:nvPr/>
        </p:nvGrpSpPr>
        <p:grpSpPr>
          <a:xfrm>
            <a:off x="2268266" y="3509044"/>
            <a:ext cx="609443" cy="228600"/>
            <a:chOff x="-66694" y="1130300"/>
            <a:chExt cx="533401" cy="228600"/>
          </a:xfrm>
          <a:effectLst>
            <a:outerShdw blurRad="50800" dist="38100" dir="2700000" algn="tl" rotWithShape="0">
              <a:prstClr val="black">
                <a:alpha val="40000"/>
              </a:prstClr>
            </a:outerShdw>
          </a:effectLst>
        </p:grpSpPr>
        <p:cxnSp>
          <p:nvCxnSpPr>
            <p:cNvPr id="119" name="Straight Connector 118">
              <a:extLst>
                <a:ext uri="{FF2B5EF4-FFF2-40B4-BE49-F238E27FC236}">
                  <a16:creationId xmlns:a16="http://schemas.microsoft.com/office/drawing/2014/main" id="{7F382224-8CFA-4E8E-8431-AE50A247927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0" name="Straight Connector 119">
              <a:extLst>
                <a:ext uri="{FF2B5EF4-FFF2-40B4-BE49-F238E27FC236}">
                  <a16:creationId xmlns:a16="http://schemas.microsoft.com/office/drawing/2014/main" id="{2E2B4DE9-5C06-4744-9115-5E2B5003A87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1" name="Straight Connector 120">
              <a:extLst>
                <a:ext uri="{FF2B5EF4-FFF2-40B4-BE49-F238E27FC236}">
                  <a16:creationId xmlns:a16="http://schemas.microsoft.com/office/drawing/2014/main" id="{817E38AD-DEA7-4AE6-AFE8-5B3D98441D2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2" name="Straight Connector 121">
              <a:extLst>
                <a:ext uri="{FF2B5EF4-FFF2-40B4-BE49-F238E27FC236}">
                  <a16:creationId xmlns:a16="http://schemas.microsoft.com/office/drawing/2014/main" id="{B4A1C810-1487-45D4-BDEE-7041BA9AD130}"/>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23" name="Group 71">
            <a:extLst>
              <a:ext uri="{FF2B5EF4-FFF2-40B4-BE49-F238E27FC236}">
                <a16:creationId xmlns:a16="http://schemas.microsoft.com/office/drawing/2014/main" id="{F3833FE8-D7A2-4C05-B026-253713B6374A}"/>
              </a:ext>
            </a:extLst>
          </p:cNvPr>
          <p:cNvGrpSpPr/>
          <p:nvPr/>
        </p:nvGrpSpPr>
        <p:grpSpPr>
          <a:xfrm>
            <a:off x="2877706" y="3509044"/>
            <a:ext cx="609443" cy="228600"/>
            <a:chOff x="-66694" y="1130300"/>
            <a:chExt cx="533401" cy="228600"/>
          </a:xfrm>
          <a:effectLst>
            <a:outerShdw blurRad="50800" dist="38100" dir="2700000" algn="tl" rotWithShape="0">
              <a:prstClr val="black">
                <a:alpha val="40000"/>
              </a:prstClr>
            </a:outerShdw>
          </a:effectLst>
        </p:grpSpPr>
        <p:cxnSp>
          <p:nvCxnSpPr>
            <p:cNvPr id="124" name="Straight Connector 123">
              <a:extLst>
                <a:ext uri="{FF2B5EF4-FFF2-40B4-BE49-F238E27FC236}">
                  <a16:creationId xmlns:a16="http://schemas.microsoft.com/office/drawing/2014/main" id="{8E473994-4354-43CF-BBFE-E3211CBCF4B1}"/>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5" name="Straight Connector 124">
              <a:extLst>
                <a:ext uri="{FF2B5EF4-FFF2-40B4-BE49-F238E27FC236}">
                  <a16:creationId xmlns:a16="http://schemas.microsoft.com/office/drawing/2014/main" id="{1B5EB51C-1A2B-4260-8E2D-53DF7A85B805}"/>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6" name="Straight Connector 125">
              <a:extLst>
                <a:ext uri="{FF2B5EF4-FFF2-40B4-BE49-F238E27FC236}">
                  <a16:creationId xmlns:a16="http://schemas.microsoft.com/office/drawing/2014/main" id="{9182C0C3-A379-4A2E-BF0B-288887C01CB5}"/>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7" name="Straight Connector 126">
              <a:extLst>
                <a:ext uri="{FF2B5EF4-FFF2-40B4-BE49-F238E27FC236}">
                  <a16:creationId xmlns:a16="http://schemas.microsoft.com/office/drawing/2014/main" id="{C24A4999-CD21-46BA-87D7-D770E238EF4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28" name="Group 71">
            <a:extLst>
              <a:ext uri="{FF2B5EF4-FFF2-40B4-BE49-F238E27FC236}">
                <a16:creationId xmlns:a16="http://schemas.microsoft.com/office/drawing/2014/main" id="{B5057569-C074-4A42-8E8F-7E7A49F9AC6C}"/>
              </a:ext>
            </a:extLst>
          </p:cNvPr>
          <p:cNvGrpSpPr/>
          <p:nvPr/>
        </p:nvGrpSpPr>
        <p:grpSpPr>
          <a:xfrm>
            <a:off x="3487148" y="3509044"/>
            <a:ext cx="609443" cy="228600"/>
            <a:chOff x="-66694" y="1130300"/>
            <a:chExt cx="533401" cy="228600"/>
          </a:xfrm>
          <a:effectLst>
            <a:outerShdw blurRad="50800" dist="38100" dir="2700000" algn="tl" rotWithShape="0">
              <a:prstClr val="black">
                <a:alpha val="40000"/>
              </a:prstClr>
            </a:outerShdw>
          </a:effectLst>
        </p:grpSpPr>
        <p:cxnSp>
          <p:nvCxnSpPr>
            <p:cNvPr id="129" name="Straight Connector 128">
              <a:extLst>
                <a:ext uri="{FF2B5EF4-FFF2-40B4-BE49-F238E27FC236}">
                  <a16:creationId xmlns:a16="http://schemas.microsoft.com/office/drawing/2014/main" id="{6738F472-BFF9-47A6-89F8-BD6EB8A79D62}"/>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0" name="Straight Connector 129">
              <a:extLst>
                <a:ext uri="{FF2B5EF4-FFF2-40B4-BE49-F238E27FC236}">
                  <a16:creationId xmlns:a16="http://schemas.microsoft.com/office/drawing/2014/main" id="{A23CB741-15C0-4D19-BB3C-F3B6A2C37A27}"/>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1" name="Straight Connector 130">
              <a:extLst>
                <a:ext uri="{FF2B5EF4-FFF2-40B4-BE49-F238E27FC236}">
                  <a16:creationId xmlns:a16="http://schemas.microsoft.com/office/drawing/2014/main" id="{C1168550-E2A6-4832-8294-C7BBFC2AE184}"/>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2" name="Straight Connector 131">
              <a:extLst>
                <a:ext uri="{FF2B5EF4-FFF2-40B4-BE49-F238E27FC236}">
                  <a16:creationId xmlns:a16="http://schemas.microsoft.com/office/drawing/2014/main" id="{F4BC103A-A741-432E-A54B-F228F76741E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3" name="Group 71">
            <a:extLst>
              <a:ext uri="{FF2B5EF4-FFF2-40B4-BE49-F238E27FC236}">
                <a16:creationId xmlns:a16="http://schemas.microsoft.com/office/drawing/2014/main" id="{C9CA237D-68E4-4C65-B623-85CFE1A3F46D}"/>
              </a:ext>
            </a:extLst>
          </p:cNvPr>
          <p:cNvGrpSpPr/>
          <p:nvPr/>
        </p:nvGrpSpPr>
        <p:grpSpPr>
          <a:xfrm>
            <a:off x="4096590" y="3509044"/>
            <a:ext cx="609443" cy="228600"/>
            <a:chOff x="-66694" y="1130300"/>
            <a:chExt cx="533401" cy="228600"/>
          </a:xfrm>
          <a:effectLst>
            <a:outerShdw blurRad="50800" dist="38100" dir="2700000" algn="tl" rotWithShape="0">
              <a:prstClr val="black">
                <a:alpha val="40000"/>
              </a:prstClr>
            </a:outerShdw>
          </a:effectLst>
        </p:grpSpPr>
        <p:cxnSp>
          <p:nvCxnSpPr>
            <p:cNvPr id="134" name="Straight Connector 133">
              <a:extLst>
                <a:ext uri="{FF2B5EF4-FFF2-40B4-BE49-F238E27FC236}">
                  <a16:creationId xmlns:a16="http://schemas.microsoft.com/office/drawing/2014/main" id="{1B628814-546A-4CA5-80C7-5F2ED95F57BB}"/>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5" name="Straight Connector 134">
              <a:extLst>
                <a:ext uri="{FF2B5EF4-FFF2-40B4-BE49-F238E27FC236}">
                  <a16:creationId xmlns:a16="http://schemas.microsoft.com/office/drawing/2014/main" id="{0410CE42-2C7F-428D-A2AF-FD080CA904E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6" name="Straight Connector 135">
              <a:extLst>
                <a:ext uri="{FF2B5EF4-FFF2-40B4-BE49-F238E27FC236}">
                  <a16:creationId xmlns:a16="http://schemas.microsoft.com/office/drawing/2014/main" id="{431A0A4A-8F81-4564-9F19-0FCD1D416E4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7" name="Straight Connector 136">
              <a:extLst>
                <a:ext uri="{FF2B5EF4-FFF2-40B4-BE49-F238E27FC236}">
                  <a16:creationId xmlns:a16="http://schemas.microsoft.com/office/drawing/2014/main" id="{91E5686C-1D61-4F25-8A93-7B22C9DE306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8" name="Group 71">
            <a:extLst>
              <a:ext uri="{FF2B5EF4-FFF2-40B4-BE49-F238E27FC236}">
                <a16:creationId xmlns:a16="http://schemas.microsoft.com/office/drawing/2014/main" id="{6F0794CE-D50C-4D3C-AA61-59D3DE80449A}"/>
              </a:ext>
            </a:extLst>
          </p:cNvPr>
          <p:cNvGrpSpPr/>
          <p:nvPr/>
        </p:nvGrpSpPr>
        <p:grpSpPr>
          <a:xfrm>
            <a:off x="4706031" y="3509044"/>
            <a:ext cx="609443" cy="228600"/>
            <a:chOff x="-66694" y="1130300"/>
            <a:chExt cx="533401" cy="228600"/>
          </a:xfrm>
          <a:effectLst>
            <a:outerShdw blurRad="50800" dist="38100" dir="2700000" algn="tl" rotWithShape="0">
              <a:prstClr val="black">
                <a:alpha val="40000"/>
              </a:prstClr>
            </a:outerShdw>
          </a:effectLst>
        </p:grpSpPr>
        <p:cxnSp>
          <p:nvCxnSpPr>
            <p:cNvPr id="139" name="Straight Connector 138">
              <a:extLst>
                <a:ext uri="{FF2B5EF4-FFF2-40B4-BE49-F238E27FC236}">
                  <a16:creationId xmlns:a16="http://schemas.microsoft.com/office/drawing/2014/main" id="{C40FAC04-BFF9-4A74-B8CC-7D144B9FE76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0" name="Straight Connector 139">
              <a:extLst>
                <a:ext uri="{FF2B5EF4-FFF2-40B4-BE49-F238E27FC236}">
                  <a16:creationId xmlns:a16="http://schemas.microsoft.com/office/drawing/2014/main" id="{76BAC295-DFA0-4FA6-B699-F4A76939DD0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1" name="Straight Connector 140">
              <a:extLst>
                <a:ext uri="{FF2B5EF4-FFF2-40B4-BE49-F238E27FC236}">
                  <a16:creationId xmlns:a16="http://schemas.microsoft.com/office/drawing/2014/main" id="{F2531D47-3D4A-4713-ABD7-196F5E71BDBE}"/>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2" name="Straight Connector 141">
              <a:extLst>
                <a:ext uri="{FF2B5EF4-FFF2-40B4-BE49-F238E27FC236}">
                  <a16:creationId xmlns:a16="http://schemas.microsoft.com/office/drawing/2014/main" id="{6CE50527-8FD8-44C0-916C-76D39DB2C9CA}"/>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43" name="Rounded Rectangle 17">
            <a:extLst>
              <a:ext uri="{FF2B5EF4-FFF2-40B4-BE49-F238E27FC236}">
                <a16:creationId xmlns:a16="http://schemas.microsoft.com/office/drawing/2014/main" id="{42B28323-4B2B-4D53-BBA5-9B002A4C8D34}"/>
              </a:ext>
            </a:extLst>
          </p:cNvPr>
          <p:cNvSpPr/>
          <p:nvPr/>
        </p:nvSpPr>
        <p:spPr>
          <a:xfrm>
            <a:off x="1658637" y="4200907"/>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144" name="Rounded Rectangle 18">
            <a:extLst>
              <a:ext uri="{FF2B5EF4-FFF2-40B4-BE49-F238E27FC236}">
                <a16:creationId xmlns:a16="http://schemas.microsoft.com/office/drawing/2014/main" id="{0C14B0A0-D86C-4E73-BE36-2FEDD75D1B0E}"/>
              </a:ext>
            </a:extLst>
          </p:cNvPr>
          <p:cNvSpPr/>
          <p:nvPr/>
        </p:nvSpPr>
        <p:spPr>
          <a:xfrm>
            <a:off x="2268075" y="4200907"/>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145" name="Rounded Rectangle 19">
            <a:extLst>
              <a:ext uri="{FF2B5EF4-FFF2-40B4-BE49-F238E27FC236}">
                <a16:creationId xmlns:a16="http://schemas.microsoft.com/office/drawing/2014/main" id="{C648E25A-8674-4C92-A344-BAA777796A05}"/>
              </a:ext>
            </a:extLst>
          </p:cNvPr>
          <p:cNvSpPr/>
          <p:nvPr/>
        </p:nvSpPr>
        <p:spPr>
          <a:xfrm>
            <a:off x="2877518" y="4198450"/>
            <a:ext cx="1223761" cy="155145"/>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146" name="Rounded Rectangle 20">
            <a:extLst>
              <a:ext uri="{FF2B5EF4-FFF2-40B4-BE49-F238E27FC236}">
                <a16:creationId xmlns:a16="http://schemas.microsoft.com/office/drawing/2014/main" id="{3A7801D7-E13E-40E0-BE5C-A9C336825F9B}"/>
              </a:ext>
            </a:extLst>
          </p:cNvPr>
          <p:cNvSpPr/>
          <p:nvPr/>
        </p:nvSpPr>
        <p:spPr>
          <a:xfrm>
            <a:off x="2268075" y="4391407"/>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147" name="Rounded Rectangle 21">
            <a:extLst>
              <a:ext uri="{FF2B5EF4-FFF2-40B4-BE49-F238E27FC236}">
                <a16:creationId xmlns:a16="http://schemas.microsoft.com/office/drawing/2014/main" id="{DFF3268F-2703-4B99-B017-00690118A712}"/>
              </a:ext>
            </a:extLst>
          </p:cNvPr>
          <p:cNvSpPr/>
          <p:nvPr/>
        </p:nvSpPr>
        <p:spPr>
          <a:xfrm>
            <a:off x="2877518" y="4391407"/>
            <a:ext cx="122376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148" name="Rounded Rectangle 22">
            <a:extLst>
              <a:ext uri="{FF2B5EF4-FFF2-40B4-BE49-F238E27FC236}">
                <a16:creationId xmlns:a16="http://schemas.microsoft.com/office/drawing/2014/main" id="{33AC9E11-B99D-4599-9DF9-5E14780559E5}"/>
              </a:ext>
            </a:extLst>
          </p:cNvPr>
          <p:cNvSpPr/>
          <p:nvPr/>
        </p:nvSpPr>
        <p:spPr>
          <a:xfrm>
            <a:off x="4106158" y="4391407"/>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cxnSp>
        <p:nvCxnSpPr>
          <p:cNvPr id="149" name="Straight Connector 148">
            <a:extLst>
              <a:ext uri="{FF2B5EF4-FFF2-40B4-BE49-F238E27FC236}">
                <a16:creationId xmlns:a16="http://schemas.microsoft.com/office/drawing/2014/main" id="{FDA88C0C-1A49-48F2-9F1D-38EA07652C91}"/>
              </a:ext>
            </a:extLst>
          </p:cNvPr>
          <p:cNvCxnSpPr/>
          <p:nvPr/>
        </p:nvCxnSpPr>
        <p:spPr>
          <a:xfrm flipV="1">
            <a:off x="1644190" y="3855262"/>
            <a:ext cx="1228639" cy="183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0" name="Straight Connector 149">
            <a:extLst>
              <a:ext uri="{FF2B5EF4-FFF2-40B4-BE49-F238E27FC236}">
                <a16:creationId xmlns:a16="http://schemas.microsoft.com/office/drawing/2014/main" id="{EC06CA2B-675B-4702-B50C-1EDBCA716AC9}"/>
              </a:ext>
            </a:extLst>
          </p:cNvPr>
          <p:cNvCxnSpPr/>
          <p:nvPr/>
        </p:nvCxnSpPr>
        <p:spPr>
          <a:xfrm rot="5400000">
            <a:off x="2758336" y="3969562"/>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1" name="Straight Connector 150">
            <a:extLst>
              <a:ext uri="{FF2B5EF4-FFF2-40B4-BE49-F238E27FC236}">
                <a16:creationId xmlns:a16="http://schemas.microsoft.com/office/drawing/2014/main" id="{609F8480-30B9-43C8-A743-6D077E3C9F91}"/>
              </a:ext>
            </a:extLst>
          </p:cNvPr>
          <p:cNvCxnSpPr/>
          <p:nvPr/>
        </p:nvCxnSpPr>
        <p:spPr>
          <a:xfrm rot="5400000">
            <a:off x="3986976" y="3969562"/>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2" name="Straight Connector 151">
            <a:extLst>
              <a:ext uri="{FF2B5EF4-FFF2-40B4-BE49-F238E27FC236}">
                <a16:creationId xmlns:a16="http://schemas.microsoft.com/office/drawing/2014/main" id="{5BC456EC-8463-48D9-9013-7B1B0E39C723}"/>
              </a:ext>
            </a:extLst>
          </p:cNvPr>
          <p:cNvCxnSpPr/>
          <p:nvPr/>
        </p:nvCxnSpPr>
        <p:spPr>
          <a:xfrm>
            <a:off x="2872636" y="4085692"/>
            <a:ext cx="122864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3" name="Straight Connector 152">
            <a:extLst>
              <a:ext uri="{FF2B5EF4-FFF2-40B4-BE49-F238E27FC236}">
                <a16:creationId xmlns:a16="http://schemas.microsoft.com/office/drawing/2014/main" id="{37F57D22-E693-4CB5-922A-0B39D1B0705A}"/>
              </a:ext>
            </a:extLst>
          </p:cNvPr>
          <p:cNvCxnSpPr/>
          <p:nvPr/>
        </p:nvCxnSpPr>
        <p:spPr>
          <a:xfrm>
            <a:off x="4101275" y="3855262"/>
            <a:ext cx="122864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sp>
        <p:nvSpPr>
          <p:cNvPr id="154" name="Rounded Rectangle 56">
            <a:extLst>
              <a:ext uri="{FF2B5EF4-FFF2-40B4-BE49-F238E27FC236}">
                <a16:creationId xmlns:a16="http://schemas.microsoft.com/office/drawing/2014/main" id="{769FE0D0-5286-49C3-9142-3C8790C0E8F8}"/>
              </a:ext>
            </a:extLst>
          </p:cNvPr>
          <p:cNvSpPr/>
          <p:nvPr/>
        </p:nvSpPr>
        <p:spPr>
          <a:xfrm>
            <a:off x="4111038" y="4200907"/>
            <a:ext cx="609441" cy="152400"/>
          </a:xfrm>
          <a:prstGeom prst="round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out1</a:t>
            </a:r>
            <a:endParaRPr lang="en-US" sz="800" kern="0" dirty="0">
              <a:solidFill>
                <a:prstClr val="white"/>
              </a:solidFill>
              <a:latin typeface="Arial"/>
            </a:endParaRPr>
          </a:p>
        </p:txBody>
      </p:sp>
      <p:sp>
        <p:nvSpPr>
          <p:cNvPr id="155" name="Rounded Rectangle 57">
            <a:extLst>
              <a:ext uri="{FF2B5EF4-FFF2-40B4-BE49-F238E27FC236}">
                <a16:creationId xmlns:a16="http://schemas.microsoft.com/office/drawing/2014/main" id="{AFDD4B35-66C3-4211-A807-9FE341C44C28}"/>
              </a:ext>
            </a:extLst>
          </p:cNvPr>
          <p:cNvSpPr/>
          <p:nvPr/>
        </p:nvSpPr>
        <p:spPr>
          <a:xfrm>
            <a:off x="4720478" y="4391407"/>
            <a:ext cx="609441" cy="152400"/>
          </a:xfrm>
          <a:prstGeom prst="round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out2</a:t>
            </a:r>
            <a:endParaRPr lang="en-US" sz="800" kern="0" dirty="0">
              <a:solidFill>
                <a:prstClr val="white"/>
              </a:solidFill>
              <a:latin typeface="Arial"/>
            </a:endParaRPr>
          </a:p>
        </p:txBody>
      </p:sp>
      <p:sp>
        <p:nvSpPr>
          <p:cNvPr id="156" name="TextBox 155">
            <a:extLst>
              <a:ext uri="{FF2B5EF4-FFF2-40B4-BE49-F238E27FC236}">
                <a16:creationId xmlns:a16="http://schemas.microsoft.com/office/drawing/2014/main" id="{BFADB959-7D67-4A6D-956C-A7199DF8F6FC}"/>
              </a:ext>
            </a:extLst>
          </p:cNvPr>
          <p:cNvSpPr txBox="1"/>
          <p:nvPr/>
        </p:nvSpPr>
        <p:spPr>
          <a:xfrm>
            <a:off x="623219" y="3808697"/>
            <a:ext cx="919995" cy="276999"/>
          </a:xfrm>
          <a:prstGeom prst="rect">
            <a:avLst/>
          </a:prstGeom>
          <a:noFill/>
          <a:effectLst/>
        </p:spPr>
        <p:txBody>
          <a:bodyPr wrap="none" rtlCol="0">
            <a:spAutoFit/>
          </a:bodyPr>
          <a:lstStyle/>
          <a:p>
            <a:pPr algn="r" defTabSz="457200" fontAlgn="base">
              <a:spcBef>
                <a:spcPct val="0"/>
              </a:spcBef>
              <a:spcAft>
                <a:spcPct val="0"/>
              </a:spcAft>
            </a:pPr>
            <a:r>
              <a:rPr lang="en-US" sz="1200" b="1" dirty="0">
                <a:solidFill>
                  <a:prstClr val="black"/>
                </a:solidFill>
                <a:ea typeface="ＭＳ Ｐゴシック" pitchFamily="34" charset="-128"/>
                <a:cs typeface="Arial" charset="0"/>
              </a:rPr>
              <a:t>Data Valid</a:t>
            </a:r>
          </a:p>
        </p:txBody>
      </p:sp>
      <p:sp>
        <p:nvSpPr>
          <p:cNvPr id="157" name="TextBox 156">
            <a:extLst>
              <a:ext uri="{FF2B5EF4-FFF2-40B4-BE49-F238E27FC236}">
                <a16:creationId xmlns:a16="http://schemas.microsoft.com/office/drawing/2014/main" id="{E82E80BE-2756-49C9-8AC1-C902CDEDE467}"/>
              </a:ext>
            </a:extLst>
          </p:cNvPr>
          <p:cNvSpPr txBox="1"/>
          <p:nvPr/>
        </p:nvSpPr>
        <p:spPr>
          <a:xfrm>
            <a:off x="7650835" y="3084418"/>
            <a:ext cx="1720599" cy="276999"/>
          </a:xfrm>
          <a:prstGeom prst="rect">
            <a:avLst/>
          </a:prstGeom>
          <a:noFill/>
          <a:effectLst/>
        </p:spPr>
        <p:txBody>
          <a:bodyPr wrap="none" rtlCol="0">
            <a:spAutoFit/>
          </a:bodyPr>
          <a:lstStyle/>
          <a:p>
            <a:pPr defTabSz="457200" fontAlgn="base">
              <a:spcBef>
                <a:spcPct val="0"/>
              </a:spcBef>
              <a:spcAft>
                <a:spcPct val="0"/>
              </a:spcAft>
            </a:pPr>
            <a:r>
              <a:rPr lang="en-US" sz="1200" b="1" u="sng" dirty="0">
                <a:solidFill>
                  <a:prstClr val="black"/>
                </a:solidFill>
                <a:ea typeface="ＭＳ Ｐゴシック" pitchFamily="34" charset="-128"/>
                <a:cs typeface="Arial" charset="0"/>
              </a:rPr>
              <a:t>With Flush (optional)</a:t>
            </a:r>
          </a:p>
        </p:txBody>
      </p:sp>
      <p:sp>
        <p:nvSpPr>
          <p:cNvPr id="158" name="TextBox 157">
            <a:extLst>
              <a:ext uri="{FF2B5EF4-FFF2-40B4-BE49-F238E27FC236}">
                <a16:creationId xmlns:a16="http://schemas.microsoft.com/office/drawing/2014/main" id="{7150A2B0-E86E-4B10-961E-6095716704E2}"/>
              </a:ext>
            </a:extLst>
          </p:cNvPr>
          <p:cNvSpPr txBox="1"/>
          <p:nvPr/>
        </p:nvSpPr>
        <p:spPr>
          <a:xfrm>
            <a:off x="6842036" y="3471214"/>
            <a:ext cx="423513" cy="276999"/>
          </a:xfrm>
          <a:prstGeom prst="rect">
            <a:avLst/>
          </a:prstGeom>
          <a:noFill/>
          <a:effectLst/>
        </p:spPr>
        <p:txBody>
          <a:bodyPr wrap="none" rtlCol="0">
            <a:spAutoFit/>
          </a:bodyPr>
          <a:lstStyle/>
          <a:p>
            <a:pPr algn="r" defTabSz="457200" fontAlgn="base">
              <a:spcBef>
                <a:spcPct val="0"/>
              </a:spcBef>
              <a:spcAft>
                <a:spcPct val="0"/>
              </a:spcAft>
            </a:pPr>
            <a:r>
              <a:rPr lang="en-US" sz="1200" b="1" dirty="0" err="1">
                <a:solidFill>
                  <a:prstClr val="black"/>
                </a:solidFill>
                <a:ea typeface="ＭＳ Ｐゴシック" pitchFamily="34" charset="-128"/>
                <a:cs typeface="Arial" charset="0"/>
              </a:rPr>
              <a:t>Clk</a:t>
            </a:r>
            <a:endParaRPr lang="en-US" sz="1200" b="1" dirty="0">
              <a:solidFill>
                <a:prstClr val="black"/>
              </a:solidFill>
              <a:ea typeface="ＭＳ Ｐゴシック" pitchFamily="34" charset="-128"/>
              <a:cs typeface="Arial" charset="0"/>
            </a:endParaRPr>
          </a:p>
        </p:txBody>
      </p:sp>
      <p:grpSp>
        <p:nvGrpSpPr>
          <p:cNvPr id="159" name="Group 71">
            <a:extLst>
              <a:ext uri="{FF2B5EF4-FFF2-40B4-BE49-F238E27FC236}">
                <a16:creationId xmlns:a16="http://schemas.microsoft.com/office/drawing/2014/main" id="{7F532105-F483-4840-9292-AD15044CBDE9}"/>
              </a:ext>
            </a:extLst>
          </p:cNvPr>
          <p:cNvGrpSpPr/>
          <p:nvPr/>
        </p:nvGrpSpPr>
        <p:grpSpPr>
          <a:xfrm>
            <a:off x="7381351" y="3509044"/>
            <a:ext cx="609443" cy="228600"/>
            <a:chOff x="-66694" y="1130300"/>
            <a:chExt cx="533401" cy="228600"/>
          </a:xfrm>
          <a:effectLst>
            <a:outerShdw blurRad="50800" dist="38100" dir="2700000" algn="tl" rotWithShape="0">
              <a:prstClr val="black">
                <a:alpha val="40000"/>
              </a:prstClr>
            </a:outerShdw>
          </a:effectLst>
        </p:grpSpPr>
        <p:cxnSp>
          <p:nvCxnSpPr>
            <p:cNvPr id="160" name="Straight Connector 159">
              <a:extLst>
                <a:ext uri="{FF2B5EF4-FFF2-40B4-BE49-F238E27FC236}">
                  <a16:creationId xmlns:a16="http://schemas.microsoft.com/office/drawing/2014/main" id="{C29386A0-1E15-48FB-AA94-3382CAFF15FB}"/>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1" name="Straight Connector 160">
              <a:extLst>
                <a:ext uri="{FF2B5EF4-FFF2-40B4-BE49-F238E27FC236}">
                  <a16:creationId xmlns:a16="http://schemas.microsoft.com/office/drawing/2014/main" id="{92C1AED2-EC2C-4B55-A4BA-643603221DA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2" name="Straight Connector 161">
              <a:extLst>
                <a:ext uri="{FF2B5EF4-FFF2-40B4-BE49-F238E27FC236}">
                  <a16:creationId xmlns:a16="http://schemas.microsoft.com/office/drawing/2014/main" id="{85F6FCD2-9B82-4BD4-8D76-6007975DB9FE}"/>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3" name="Straight Connector 162">
              <a:extLst>
                <a:ext uri="{FF2B5EF4-FFF2-40B4-BE49-F238E27FC236}">
                  <a16:creationId xmlns:a16="http://schemas.microsoft.com/office/drawing/2014/main" id="{3A0259E5-B939-4FF0-9BD2-A324425AB28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64" name="Group 71">
            <a:extLst>
              <a:ext uri="{FF2B5EF4-FFF2-40B4-BE49-F238E27FC236}">
                <a16:creationId xmlns:a16="http://schemas.microsoft.com/office/drawing/2014/main" id="{A4679E77-93F8-49C6-B8A8-3D345CCF224F}"/>
              </a:ext>
            </a:extLst>
          </p:cNvPr>
          <p:cNvGrpSpPr/>
          <p:nvPr/>
        </p:nvGrpSpPr>
        <p:grpSpPr>
          <a:xfrm>
            <a:off x="7990792" y="3509044"/>
            <a:ext cx="609443" cy="228600"/>
            <a:chOff x="-66694" y="1130300"/>
            <a:chExt cx="533401" cy="228600"/>
          </a:xfrm>
          <a:effectLst>
            <a:outerShdw blurRad="50800" dist="38100" dir="2700000" algn="tl" rotWithShape="0">
              <a:prstClr val="black">
                <a:alpha val="40000"/>
              </a:prstClr>
            </a:outerShdw>
          </a:effectLst>
        </p:grpSpPr>
        <p:cxnSp>
          <p:nvCxnSpPr>
            <p:cNvPr id="165" name="Straight Connector 164">
              <a:extLst>
                <a:ext uri="{FF2B5EF4-FFF2-40B4-BE49-F238E27FC236}">
                  <a16:creationId xmlns:a16="http://schemas.microsoft.com/office/drawing/2014/main" id="{73D182F9-D72D-45CC-BA6F-EB44B0EDCA9C}"/>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6" name="Straight Connector 165">
              <a:extLst>
                <a:ext uri="{FF2B5EF4-FFF2-40B4-BE49-F238E27FC236}">
                  <a16:creationId xmlns:a16="http://schemas.microsoft.com/office/drawing/2014/main" id="{9EBA50C5-F625-4C4B-8F66-3DF9EB97A691}"/>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7" name="Straight Connector 166">
              <a:extLst>
                <a:ext uri="{FF2B5EF4-FFF2-40B4-BE49-F238E27FC236}">
                  <a16:creationId xmlns:a16="http://schemas.microsoft.com/office/drawing/2014/main" id="{6AB5A911-389C-4270-8F72-4A5521AE73F8}"/>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8" name="Straight Connector 167">
              <a:extLst>
                <a:ext uri="{FF2B5EF4-FFF2-40B4-BE49-F238E27FC236}">
                  <a16:creationId xmlns:a16="http://schemas.microsoft.com/office/drawing/2014/main" id="{93612960-87CB-4E3A-AC27-84A2479B71F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69" name="Group 71">
            <a:extLst>
              <a:ext uri="{FF2B5EF4-FFF2-40B4-BE49-F238E27FC236}">
                <a16:creationId xmlns:a16="http://schemas.microsoft.com/office/drawing/2014/main" id="{A2D50A41-869A-4F6B-9F6D-FCAF5265423C}"/>
              </a:ext>
            </a:extLst>
          </p:cNvPr>
          <p:cNvGrpSpPr/>
          <p:nvPr/>
        </p:nvGrpSpPr>
        <p:grpSpPr>
          <a:xfrm>
            <a:off x="8600234" y="3509044"/>
            <a:ext cx="609443" cy="228600"/>
            <a:chOff x="-66694" y="1130300"/>
            <a:chExt cx="533401" cy="228600"/>
          </a:xfrm>
          <a:effectLst>
            <a:outerShdw blurRad="50800" dist="38100" dir="2700000" algn="tl" rotWithShape="0">
              <a:prstClr val="black">
                <a:alpha val="40000"/>
              </a:prstClr>
            </a:outerShdw>
          </a:effectLst>
        </p:grpSpPr>
        <p:cxnSp>
          <p:nvCxnSpPr>
            <p:cNvPr id="170" name="Straight Connector 169">
              <a:extLst>
                <a:ext uri="{FF2B5EF4-FFF2-40B4-BE49-F238E27FC236}">
                  <a16:creationId xmlns:a16="http://schemas.microsoft.com/office/drawing/2014/main" id="{19CF68A5-F1A8-45D7-86FE-23AD24FD9686}"/>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1" name="Straight Connector 170">
              <a:extLst>
                <a:ext uri="{FF2B5EF4-FFF2-40B4-BE49-F238E27FC236}">
                  <a16:creationId xmlns:a16="http://schemas.microsoft.com/office/drawing/2014/main" id="{128205F5-9B36-44CA-AA9E-6D94E8A62542}"/>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2" name="Straight Connector 171">
              <a:extLst>
                <a:ext uri="{FF2B5EF4-FFF2-40B4-BE49-F238E27FC236}">
                  <a16:creationId xmlns:a16="http://schemas.microsoft.com/office/drawing/2014/main" id="{513C29B4-3CFE-4CFD-8D18-8B99D0C12809}"/>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3" name="Straight Connector 172">
              <a:extLst>
                <a:ext uri="{FF2B5EF4-FFF2-40B4-BE49-F238E27FC236}">
                  <a16:creationId xmlns:a16="http://schemas.microsoft.com/office/drawing/2014/main" id="{761C2896-94E8-4154-B40C-D6CC02B1DAE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74" name="Group 71">
            <a:extLst>
              <a:ext uri="{FF2B5EF4-FFF2-40B4-BE49-F238E27FC236}">
                <a16:creationId xmlns:a16="http://schemas.microsoft.com/office/drawing/2014/main" id="{D406DC0F-8707-43C9-B77D-3A0EB38510CE}"/>
              </a:ext>
            </a:extLst>
          </p:cNvPr>
          <p:cNvGrpSpPr/>
          <p:nvPr/>
        </p:nvGrpSpPr>
        <p:grpSpPr>
          <a:xfrm>
            <a:off x="9209674" y="3509044"/>
            <a:ext cx="609443" cy="228600"/>
            <a:chOff x="-66694" y="1130300"/>
            <a:chExt cx="533401" cy="228600"/>
          </a:xfrm>
          <a:effectLst>
            <a:outerShdw blurRad="50800" dist="38100" dir="2700000" algn="tl" rotWithShape="0">
              <a:prstClr val="black">
                <a:alpha val="40000"/>
              </a:prstClr>
            </a:outerShdw>
          </a:effectLst>
        </p:grpSpPr>
        <p:cxnSp>
          <p:nvCxnSpPr>
            <p:cNvPr id="175" name="Straight Connector 174">
              <a:extLst>
                <a:ext uri="{FF2B5EF4-FFF2-40B4-BE49-F238E27FC236}">
                  <a16:creationId xmlns:a16="http://schemas.microsoft.com/office/drawing/2014/main" id="{00820955-E234-438D-9D04-5FB002BB25DE}"/>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6" name="Straight Connector 175">
              <a:extLst>
                <a:ext uri="{FF2B5EF4-FFF2-40B4-BE49-F238E27FC236}">
                  <a16:creationId xmlns:a16="http://schemas.microsoft.com/office/drawing/2014/main" id="{F347A9EF-AF7A-41FF-BEC3-468B8125E46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7" name="Straight Connector 176">
              <a:extLst>
                <a:ext uri="{FF2B5EF4-FFF2-40B4-BE49-F238E27FC236}">
                  <a16:creationId xmlns:a16="http://schemas.microsoft.com/office/drawing/2014/main" id="{05D57A8E-CD72-4B25-AB1C-53165D171D2C}"/>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8" name="Straight Connector 177">
              <a:extLst>
                <a:ext uri="{FF2B5EF4-FFF2-40B4-BE49-F238E27FC236}">
                  <a16:creationId xmlns:a16="http://schemas.microsoft.com/office/drawing/2014/main" id="{4025EC05-6286-46C0-A59F-E2152619436A}"/>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79" name="Group 71">
            <a:extLst>
              <a:ext uri="{FF2B5EF4-FFF2-40B4-BE49-F238E27FC236}">
                <a16:creationId xmlns:a16="http://schemas.microsoft.com/office/drawing/2014/main" id="{ECAEA992-E716-4112-B3F3-7D71BB2A81B5}"/>
              </a:ext>
            </a:extLst>
          </p:cNvPr>
          <p:cNvGrpSpPr/>
          <p:nvPr/>
        </p:nvGrpSpPr>
        <p:grpSpPr>
          <a:xfrm>
            <a:off x="9819116" y="3509044"/>
            <a:ext cx="609443" cy="228600"/>
            <a:chOff x="-66694" y="1130300"/>
            <a:chExt cx="533401" cy="228600"/>
          </a:xfrm>
          <a:effectLst>
            <a:outerShdw blurRad="50800" dist="38100" dir="2700000" algn="tl" rotWithShape="0">
              <a:prstClr val="black">
                <a:alpha val="40000"/>
              </a:prstClr>
            </a:outerShdw>
          </a:effectLst>
        </p:grpSpPr>
        <p:cxnSp>
          <p:nvCxnSpPr>
            <p:cNvPr id="180" name="Straight Connector 179">
              <a:extLst>
                <a:ext uri="{FF2B5EF4-FFF2-40B4-BE49-F238E27FC236}">
                  <a16:creationId xmlns:a16="http://schemas.microsoft.com/office/drawing/2014/main" id="{B679B8FB-75E7-4A12-AB23-EF43334998C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1" name="Straight Connector 180">
              <a:extLst>
                <a:ext uri="{FF2B5EF4-FFF2-40B4-BE49-F238E27FC236}">
                  <a16:creationId xmlns:a16="http://schemas.microsoft.com/office/drawing/2014/main" id="{895CBA19-1641-46DF-81B9-F01279AA6A4F}"/>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2" name="Straight Connector 181">
              <a:extLst>
                <a:ext uri="{FF2B5EF4-FFF2-40B4-BE49-F238E27FC236}">
                  <a16:creationId xmlns:a16="http://schemas.microsoft.com/office/drawing/2014/main" id="{674BC4D0-7CB8-455F-BE81-EE607666F4F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3" name="Straight Connector 182">
              <a:extLst>
                <a:ext uri="{FF2B5EF4-FFF2-40B4-BE49-F238E27FC236}">
                  <a16:creationId xmlns:a16="http://schemas.microsoft.com/office/drawing/2014/main" id="{D1807599-743B-4722-83A1-35C3F20ECE4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84" name="Group 71">
            <a:extLst>
              <a:ext uri="{FF2B5EF4-FFF2-40B4-BE49-F238E27FC236}">
                <a16:creationId xmlns:a16="http://schemas.microsoft.com/office/drawing/2014/main" id="{B2091F74-5349-4C70-A15E-ABF38C918C89}"/>
              </a:ext>
            </a:extLst>
          </p:cNvPr>
          <p:cNvGrpSpPr/>
          <p:nvPr/>
        </p:nvGrpSpPr>
        <p:grpSpPr>
          <a:xfrm>
            <a:off x="10428557" y="3509044"/>
            <a:ext cx="609443" cy="228600"/>
            <a:chOff x="-66694" y="1130300"/>
            <a:chExt cx="533401" cy="228600"/>
          </a:xfrm>
          <a:effectLst>
            <a:outerShdw blurRad="50800" dist="38100" dir="2700000" algn="tl" rotWithShape="0">
              <a:prstClr val="black">
                <a:alpha val="40000"/>
              </a:prstClr>
            </a:outerShdw>
          </a:effectLst>
        </p:grpSpPr>
        <p:cxnSp>
          <p:nvCxnSpPr>
            <p:cNvPr id="185" name="Straight Connector 184">
              <a:extLst>
                <a:ext uri="{FF2B5EF4-FFF2-40B4-BE49-F238E27FC236}">
                  <a16:creationId xmlns:a16="http://schemas.microsoft.com/office/drawing/2014/main" id="{7EB4D1E2-E06F-42EB-B5D8-BB7718938E7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6" name="Straight Connector 185">
              <a:extLst>
                <a:ext uri="{FF2B5EF4-FFF2-40B4-BE49-F238E27FC236}">
                  <a16:creationId xmlns:a16="http://schemas.microsoft.com/office/drawing/2014/main" id="{AB06F8B1-6241-465E-A9DA-291D09BD5E35}"/>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7" name="Straight Connector 186">
              <a:extLst>
                <a:ext uri="{FF2B5EF4-FFF2-40B4-BE49-F238E27FC236}">
                  <a16:creationId xmlns:a16="http://schemas.microsoft.com/office/drawing/2014/main" id="{AAB69AF1-6C8B-461F-9A16-6F4AC856C7D9}"/>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8" name="Straight Connector 187">
              <a:extLst>
                <a:ext uri="{FF2B5EF4-FFF2-40B4-BE49-F238E27FC236}">
                  <a16:creationId xmlns:a16="http://schemas.microsoft.com/office/drawing/2014/main" id="{608D4BBF-15EF-44CD-BC5D-4108721FE4A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89" name="Rounded Rectangle 91">
            <a:extLst>
              <a:ext uri="{FF2B5EF4-FFF2-40B4-BE49-F238E27FC236}">
                <a16:creationId xmlns:a16="http://schemas.microsoft.com/office/drawing/2014/main" id="{AF69F690-14BA-4906-9285-BB457C0FE445}"/>
              </a:ext>
            </a:extLst>
          </p:cNvPr>
          <p:cNvSpPr/>
          <p:nvPr/>
        </p:nvSpPr>
        <p:spPr>
          <a:xfrm>
            <a:off x="7381161" y="4200907"/>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190" name="Rounded Rectangle 92">
            <a:extLst>
              <a:ext uri="{FF2B5EF4-FFF2-40B4-BE49-F238E27FC236}">
                <a16:creationId xmlns:a16="http://schemas.microsoft.com/office/drawing/2014/main" id="{FB4B16FE-11EE-4954-86E1-806E9A35C448}"/>
              </a:ext>
            </a:extLst>
          </p:cNvPr>
          <p:cNvSpPr/>
          <p:nvPr/>
        </p:nvSpPr>
        <p:spPr>
          <a:xfrm>
            <a:off x="7990601" y="4200907"/>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191" name="Rounded Rectangle 93">
            <a:extLst>
              <a:ext uri="{FF2B5EF4-FFF2-40B4-BE49-F238E27FC236}">
                <a16:creationId xmlns:a16="http://schemas.microsoft.com/office/drawing/2014/main" id="{470174DB-1DAA-4A3B-ABCD-0E51EE787D59}"/>
              </a:ext>
            </a:extLst>
          </p:cNvPr>
          <p:cNvSpPr/>
          <p:nvPr/>
        </p:nvSpPr>
        <p:spPr>
          <a:xfrm>
            <a:off x="8600046" y="4200907"/>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sp>
        <p:nvSpPr>
          <p:cNvPr id="192" name="Rounded Rectangle 94">
            <a:extLst>
              <a:ext uri="{FF2B5EF4-FFF2-40B4-BE49-F238E27FC236}">
                <a16:creationId xmlns:a16="http://schemas.microsoft.com/office/drawing/2014/main" id="{BBA110FD-14B8-4BD6-8863-C4EA24D3D45F}"/>
              </a:ext>
            </a:extLst>
          </p:cNvPr>
          <p:cNvSpPr/>
          <p:nvPr/>
        </p:nvSpPr>
        <p:spPr>
          <a:xfrm>
            <a:off x="7990601" y="4391407"/>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193" name="Rounded Rectangle 95">
            <a:extLst>
              <a:ext uri="{FF2B5EF4-FFF2-40B4-BE49-F238E27FC236}">
                <a16:creationId xmlns:a16="http://schemas.microsoft.com/office/drawing/2014/main" id="{186BE0FA-43D9-4A7C-B048-25924BBA4E9A}"/>
              </a:ext>
            </a:extLst>
          </p:cNvPr>
          <p:cNvSpPr/>
          <p:nvPr/>
        </p:nvSpPr>
        <p:spPr>
          <a:xfrm>
            <a:off x="8600046" y="4391407"/>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194" name="Rounded Rectangle 96">
            <a:extLst>
              <a:ext uri="{FF2B5EF4-FFF2-40B4-BE49-F238E27FC236}">
                <a16:creationId xmlns:a16="http://schemas.microsoft.com/office/drawing/2014/main" id="{FB1B41F4-A81D-4529-AAFD-89383BD37C04}"/>
              </a:ext>
            </a:extLst>
          </p:cNvPr>
          <p:cNvSpPr/>
          <p:nvPr/>
        </p:nvSpPr>
        <p:spPr>
          <a:xfrm>
            <a:off x="9209486" y="4391407"/>
            <a:ext cx="609441" cy="15240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WR</a:t>
            </a:r>
            <a:endParaRPr lang="en-US" sz="800" kern="0" dirty="0">
              <a:solidFill>
                <a:prstClr val="black"/>
              </a:solidFill>
              <a:latin typeface="Arial"/>
            </a:endParaRPr>
          </a:p>
        </p:txBody>
      </p:sp>
      <p:cxnSp>
        <p:nvCxnSpPr>
          <p:cNvPr id="195" name="Straight Connector 194">
            <a:extLst>
              <a:ext uri="{FF2B5EF4-FFF2-40B4-BE49-F238E27FC236}">
                <a16:creationId xmlns:a16="http://schemas.microsoft.com/office/drawing/2014/main" id="{C33675D0-0C07-4370-A8C0-3D80F213FAF2}"/>
              </a:ext>
            </a:extLst>
          </p:cNvPr>
          <p:cNvCxnSpPr/>
          <p:nvPr/>
        </p:nvCxnSpPr>
        <p:spPr>
          <a:xfrm flipV="1">
            <a:off x="7366716" y="3855262"/>
            <a:ext cx="1228639" cy="183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6" name="Straight Connector 195">
            <a:extLst>
              <a:ext uri="{FF2B5EF4-FFF2-40B4-BE49-F238E27FC236}">
                <a16:creationId xmlns:a16="http://schemas.microsoft.com/office/drawing/2014/main" id="{290657A1-F44B-4BE5-AD8B-C36B3C605E94}"/>
              </a:ext>
            </a:extLst>
          </p:cNvPr>
          <p:cNvCxnSpPr/>
          <p:nvPr/>
        </p:nvCxnSpPr>
        <p:spPr>
          <a:xfrm rot="5400000">
            <a:off x="8480864" y="3969562"/>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7" name="Straight Connector 196">
            <a:extLst>
              <a:ext uri="{FF2B5EF4-FFF2-40B4-BE49-F238E27FC236}">
                <a16:creationId xmlns:a16="http://schemas.microsoft.com/office/drawing/2014/main" id="{B897CAB2-DF2B-4782-B9B7-FC754FEF4123}"/>
              </a:ext>
            </a:extLst>
          </p:cNvPr>
          <p:cNvCxnSpPr/>
          <p:nvPr/>
        </p:nvCxnSpPr>
        <p:spPr>
          <a:xfrm rot="5400000">
            <a:off x="9709504" y="3969562"/>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8" name="Straight Connector 197">
            <a:extLst>
              <a:ext uri="{FF2B5EF4-FFF2-40B4-BE49-F238E27FC236}">
                <a16:creationId xmlns:a16="http://schemas.microsoft.com/office/drawing/2014/main" id="{4FBBC420-D8BB-44F0-AFE9-567741B61063}"/>
              </a:ext>
            </a:extLst>
          </p:cNvPr>
          <p:cNvCxnSpPr/>
          <p:nvPr/>
        </p:nvCxnSpPr>
        <p:spPr>
          <a:xfrm>
            <a:off x="8595164" y="4085692"/>
            <a:ext cx="122864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9" name="Straight Connector 198">
            <a:extLst>
              <a:ext uri="{FF2B5EF4-FFF2-40B4-BE49-F238E27FC236}">
                <a16:creationId xmlns:a16="http://schemas.microsoft.com/office/drawing/2014/main" id="{C603D161-5275-42F5-9E1D-50B4075FACFE}"/>
              </a:ext>
            </a:extLst>
          </p:cNvPr>
          <p:cNvCxnSpPr/>
          <p:nvPr/>
        </p:nvCxnSpPr>
        <p:spPr>
          <a:xfrm>
            <a:off x="9823804" y="3855262"/>
            <a:ext cx="122864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sp>
        <p:nvSpPr>
          <p:cNvPr id="200" name="Rounded Rectangle 102">
            <a:extLst>
              <a:ext uri="{FF2B5EF4-FFF2-40B4-BE49-F238E27FC236}">
                <a16:creationId xmlns:a16="http://schemas.microsoft.com/office/drawing/2014/main" id="{8A68B4B2-9179-48B7-B0B2-1742C5C9ADC0}"/>
              </a:ext>
            </a:extLst>
          </p:cNvPr>
          <p:cNvSpPr/>
          <p:nvPr/>
        </p:nvSpPr>
        <p:spPr>
          <a:xfrm>
            <a:off x="9209486" y="4200907"/>
            <a:ext cx="609441" cy="152400"/>
          </a:xfrm>
          <a:prstGeom prst="round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out1</a:t>
            </a:r>
            <a:endParaRPr lang="en-US" sz="800" kern="0" dirty="0">
              <a:solidFill>
                <a:prstClr val="white"/>
              </a:solidFill>
              <a:latin typeface="Arial"/>
            </a:endParaRPr>
          </a:p>
        </p:txBody>
      </p:sp>
      <p:sp>
        <p:nvSpPr>
          <p:cNvPr id="201" name="Rounded Rectangle 103">
            <a:extLst>
              <a:ext uri="{FF2B5EF4-FFF2-40B4-BE49-F238E27FC236}">
                <a16:creationId xmlns:a16="http://schemas.microsoft.com/office/drawing/2014/main" id="{6BE2C885-0416-4B4B-B45F-18692C1A08C8}"/>
              </a:ext>
            </a:extLst>
          </p:cNvPr>
          <p:cNvSpPr/>
          <p:nvPr/>
        </p:nvSpPr>
        <p:spPr>
          <a:xfrm>
            <a:off x="9818926" y="4391407"/>
            <a:ext cx="609441" cy="152400"/>
          </a:xfrm>
          <a:prstGeom prst="round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out2</a:t>
            </a:r>
            <a:endParaRPr lang="en-US" sz="800" kern="0" dirty="0">
              <a:solidFill>
                <a:prstClr val="white"/>
              </a:solidFill>
              <a:latin typeface="Arial"/>
            </a:endParaRPr>
          </a:p>
        </p:txBody>
      </p:sp>
      <p:sp>
        <p:nvSpPr>
          <p:cNvPr id="202" name="TextBox 201">
            <a:extLst>
              <a:ext uri="{FF2B5EF4-FFF2-40B4-BE49-F238E27FC236}">
                <a16:creationId xmlns:a16="http://schemas.microsoft.com/office/drawing/2014/main" id="{46DAD0EF-E59C-4EBD-8BB6-0DCF88C57D19}"/>
              </a:ext>
            </a:extLst>
          </p:cNvPr>
          <p:cNvSpPr txBox="1"/>
          <p:nvPr/>
        </p:nvSpPr>
        <p:spPr>
          <a:xfrm>
            <a:off x="6358445" y="3808697"/>
            <a:ext cx="919995" cy="276999"/>
          </a:xfrm>
          <a:prstGeom prst="rect">
            <a:avLst/>
          </a:prstGeom>
          <a:noFill/>
          <a:effectLst/>
        </p:spPr>
        <p:txBody>
          <a:bodyPr wrap="none" rtlCol="0">
            <a:spAutoFit/>
          </a:bodyPr>
          <a:lstStyle/>
          <a:p>
            <a:pPr algn="r" defTabSz="457200" fontAlgn="base">
              <a:spcBef>
                <a:spcPct val="0"/>
              </a:spcBef>
              <a:spcAft>
                <a:spcPct val="0"/>
              </a:spcAft>
            </a:pPr>
            <a:r>
              <a:rPr lang="en-US" sz="1200" b="1" dirty="0">
                <a:solidFill>
                  <a:prstClr val="black"/>
                </a:solidFill>
                <a:ea typeface="ＭＳ Ｐゴシック" pitchFamily="34" charset="-128"/>
                <a:cs typeface="Arial" charset="0"/>
              </a:rPr>
              <a:t>Data Valid</a:t>
            </a:r>
          </a:p>
        </p:txBody>
      </p:sp>
      <p:sp>
        <p:nvSpPr>
          <p:cNvPr id="203" name="Rounded Rectangle 105">
            <a:extLst>
              <a:ext uri="{FF2B5EF4-FFF2-40B4-BE49-F238E27FC236}">
                <a16:creationId xmlns:a16="http://schemas.microsoft.com/office/drawing/2014/main" id="{8102AF89-D56D-4E0A-8813-E711200767FC}"/>
              </a:ext>
            </a:extLst>
          </p:cNvPr>
          <p:cNvSpPr/>
          <p:nvPr/>
        </p:nvSpPr>
        <p:spPr>
          <a:xfrm>
            <a:off x="4101278" y="4582212"/>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204" name="Rounded Rectangle 106">
            <a:extLst>
              <a:ext uri="{FF2B5EF4-FFF2-40B4-BE49-F238E27FC236}">
                <a16:creationId xmlns:a16="http://schemas.microsoft.com/office/drawing/2014/main" id="{956D6732-2B95-49CB-AB3B-BD4E72967983}"/>
              </a:ext>
            </a:extLst>
          </p:cNvPr>
          <p:cNvSpPr/>
          <p:nvPr/>
        </p:nvSpPr>
        <p:spPr>
          <a:xfrm>
            <a:off x="4715598" y="4582212"/>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
        <p:nvSpPr>
          <p:cNvPr id="205" name="Rounded Rectangle 107">
            <a:extLst>
              <a:ext uri="{FF2B5EF4-FFF2-40B4-BE49-F238E27FC236}">
                <a16:creationId xmlns:a16="http://schemas.microsoft.com/office/drawing/2014/main" id="{B2F56125-B5D9-4B94-B917-8760CC3BD7FE}"/>
              </a:ext>
            </a:extLst>
          </p:cNvPr>
          <p:cNvSpPr/>
          <p:nvPr/>
        </p:nvSpPr>
        <p:spPr>
          <a:xfrm>
            <a:off x="9828686" y="4543807"/>
            <a:ext cx="609441" cy="152400"/>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RD</a:t>
            </a:r>
            <a:endParaRPr lang="en-US" sz="1100" b="1" kern="0" dirty="0">
              <a:solidFill>
                <a:prstClr val="black"/>
              </a:solidFill>
              <a:latin typeface="Arial"/>
            </a:endParaRPr>
          </a:p>
        </p:txBody>
      </p:sp>
      <p:sp>
        <p:nvSpPr>
          <p:cNvPr id="206" name="Rounded Rectangle 108">
            <a:extLst>
              <a:ext uri="{FF2B5EF4-FFF2-40B4-BE49-F238E27FC236}">
                <a16:creationId xmlns:a16="http://schemas.microsoft.com/office/drawing/2014/main" id="{272E5AD0-814B-4805-8E87-D0C566575753}"/>
              </a:ext>
            </a:extLst>
          </p:cNvPr>
          <p:cNvSpPr/>
          <p:nvPr/>
        </p:nvSpPr>
        <p:spPr>
          <a:xfrm>
            <a:off x="10438126" y="4543807"/>
            <a:ext cx="609441" cy="152400"/>
          </a:xfrm>
          <a:prstGeom prst="roundRect">
            <a:avLst/>
          </a:prstGeom>
          <a:solidFill>
            <a:srgbClr val="FFFF00"/>
          </a:soli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CMP</a:t>
            </a:r>
            <a:endParaRPr lang="en-US" sz="800" kern="0" dirty="0">
              <a:solidFill>
                <a:prstClr val="black"/>
              </a:solidFill>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1"/>
          <p:cNvPicPr>
            <a:picLocks noChangeAspect="1" noChangeArrowheads="1"/>
          </p:cNvPicPr>
          <p:nvPr/>
        </p:nvPicPr>
        <p:blipFill>
          <a:blip r:embed="rId2"/>
          <a:srcRect/>
          <a:stretch>
            <a:fillRect/>
          </a:stretch>
        </p:blipFill>
        <p:spPr bwMode="auto">
          <a:xfrm>
            <a:off x="2865821" y="2515394"/>
            <a:ext cx="6460359" cy="1827212"/>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Pipelining the Top-Level Loop</a:t>
            </a:r>
          </a:p>
        </p:txBody>
      </p:sp>
      <p:sp>
        <p:nvSpPr>
          <p:cNvPr id="3" name="Content Placeholder 2"/>
          <p:cNvSpPr>
            <a:spLocks noGrp="1"/>
          </p:cNvSpPr>
          <p:nvPr>
            <p:ph idx="1"/>
          </p:nvPr>
        </p:nvSpPr>
        <p:spPr/>
        <p:txBody>
          <a:bodyPr>
            <a:normAutofit lnSpcReduction="10000"/>
          </a:bodyPr>
          <a:lstStyle/>
          <a:p>
            <a:r>
              <a:rPr lang="en-US" sz="2000" dirty="0"/>
              <a:t>Loop Pipelining top-level loop may give a “bubble”</a:t>
            </a:r>
            <a:endParaRPr lang="en-US" dirty="0"/>
          </a:p>
          <a:p>
            <a:pPr lvl="1"/>
            <a:r>
              <a:rPr lang="en-US" sz="1800" dirty="0"/>
              <a:t>A “bubble” here is an interruption to the data stream</a:t>
            </a:r>
          </a:p>
          <a:p>
            <a:pPr lvl="1"/>
            <a:r>
              <a:rPr lang="en-US" sz="1800" dirty="0"/>
              <a:t>Given the following</a:t>
            </a:r>
          </a:p>
          <a:p>
            <a:pPr marL="457063" lvl="1" indent="0">
              <a:buNone/>
            </a:pPr>
            <a:endParaRPr lang="en-US" sz="1800" dirty="0"/>
          </a:p>
          <a:p>
            <a:pPr lvl="1"/>
            <a:endParaRPr lang="en-US" dirty="0"/>
          </a:p>
          <a:p>
            <a:pPr lvl="1"/>
            <a:endParaRPr lang="en-US" dirty="0"/>
          </a:p>
          <a:p>
            <a:pPr lvl="1"/>
            <a:endParaRPr lang="en-US" dirty="0"/>
          </a:p>
          <a:p>
            <a:pPr lvl="1"/>
            <a:endParaRPr lang="en-US" dirty="0"/>
          </a:p>
          <a:p>
            <a:pPr lvl="1"/>
            <a:endParaRPr lang="en-US" dirty="0"/>
          </a:p>
          <a:p>
            <a:pPr lvl="1"/>
            <a:r>
              <a:rPr lang="en-US" sz="1800" dirty="0"/>
              <a:t>The function will process a stream of data</a:t>
            </a:r>
          </a:p>
          <a:p>
            <a:pPr lvl="1"/>
            <a:r>
              <a:rPr lang="en-US" sz="1800" dirty="0"/>
              <a:t>The next time the function is called, it still needs to execute the initial (init) operations</a:t>
            </a:r>
          </a:p>
          <a:p>
            <a:pPr lvl="2"/>
            <a:r>
              <a:rPr lang="en-US" dirty="0"/>
              <a:t>These operations are any which occur before the loop starts</a:t>
            </a:r>
          </a:p>
          <a:p>
            <a:pPr lvl="2"/>
            <a:r>
              <a:rPr lang="en-US" dirty="0"/>
              <a:t>These operations may include interface start/stop/done signals</a:t>
            </a:r>
          </a:p>
          <a:p>
            <a:pPr lvl="1"/>
            <a:r>
              <a:rPr lang="en-US" sz="1800" dirty="0"/>
              <a:t>This can result in an unexpected interruption of the data stream</a:t>
            </a:r>
          </a:p>
        </p:txBody>
      </p:sp>
      <p:sp>
        <p:nvSpPr>
          <p:cNvPr id="65" name="Slide Number Placeholder 64"/>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Pipelining the Top-Level loop</a:t>
            </a:r>
          </a:p>
        </p:txBody>
      </p:sp>
      <p:sp>
        <p:nvSpPr>
          <p:cNvPr id="3" name="Content Placeholder 2"/>
          <p:cNvSpPr>
            <a:spLocks noGrp="1"/>
          </p:cNvSpPr>
          <p:nvPr>
            <p:ph idx="1"/>
          </p:nvPr>
        </p:nvSpPr>
        <p:spPr>
          <a:xfrm>
            <a:off x="647700" y="1210056"/>
            <a:ext cx="10515600" cy="4759404"/>
          </a:xfrm>
        </p:spPr>
        <p:txBody>
          <a:bodyPr>
            <a:normAutofit lnSpcReduction="10000"/>
          </a:bodyPr>
          <a:lstStyle/>
          <a:p>
            <a:r>
              <a:rPr lang="en-US" dirty="0"/>
              <a:t>Use the “rewind” option for continuous pipelining </a:t>
            </a:r>
          </a:p>
          <a:p>
            <a:pPr lvl="1"/>
            <a:r>
              <a:rPr lang="en-US" dirty="0"/>
              <a:t>Immediate re-execution of the top-level loop</a:t>
            </a:r>
          </a:p>
          <a:p>
            <a:pPr lvl="1"/>
            <a:r>
              <a:rPr lang="en-US" dirty="0"/>
              <a:t>The operation rewinds to the start of the loop</a:t>
            </a:r>
          </a:p>
          <a:p>
            <a:pPr lvl="2"/>
            <a:r>
              <a:rPr lang="en-US" dirty="0"/>
              <a:t>Ignores any initialization statements before the start of the loop</a:t>
            </a:r>
          </a:p>
          <a:p>
            <a:pPr lvl="2"/>
            <a:endParaRPr lang="en-US" sz="1400" dirty="0"/>
          </a:p>
          <a:p>
            <a:pPr lvl="2"/>
            <a:endParaRPr lang="en-US" sz="1400" dirty="0"/>
          </a:p>
          <a:p>
            <a:pPr lvl="2"/>
            <a:endParaRPr lang="en-US" sz="1400" dirty="0"/>
          </a:p>
          <a:p>
            <a:pPr lvl="2"/>
            <a:endParaRPr lang="en-US" sz="1400" dirty="0"/>
          </a:p>
          <a:p>
            <a:pPr lvl="2"/>
            <a:endParaRPr lang="en-US" sz="1400" dirty="0"/>
          </a:p>
          <a:p>
            <a:pPr lvl="2"/>
            <a:endParaRPr lang="en-US" sz="1400" dirty="0"/>
          </a:p>
          <a:p>
            <a:pPr>
              <a:buNone/>
            </a:pPr>
            <a:endParaRPr lang="en-US" sz="1800" dirty="0"/>
          </a:p>
          <a:p>
            <a:r>
              <a:rPr lang="en-US" dirty="0"/>
              <a:t>The rewind portion </a:t>
            </a:r>
            <a:r>
              <a:rPr lang="en-US" u="sng" dirty="0"/>
              <a:t>only</a:t>
            </a:r>
            <a:r>
              <a:rPr lang="en-US" dirty="0"/>
              <a:t> effects top-level loops</a:t>
            </a:r>
          </a:p>
          <a:p>
            <a:pPr lvl="1"/>
            <a:r>
              <a:rPr lang="en-US" dirty="0"/>
              <a:t>Ensures the operations before the loop are never re-executed when the function is re-executed</a:t>
            </a:r>
          </a:p>
        </p:txBody>
      </p:sp>
      <p:sp>
        <p:nvSpPr>
          <p:cNvPr id="73" name="Slide Number Placeholder 72"/>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58</a:t>
            </a:fld>
            <a:endParaRPr lang="en-US" dirty="0"/>
          </a:p>
        </p:txBody>
      </p:sp>
      <p:pic>
        <p:nvPicPr>
          <p:cNvPr id="53249" name="Picture 1"/>
          <p:cNvPicPr>
            <a:picLocks noChangeAspect="1" noChangeArrowheads="1"/>
          </p:cNvPicPr>
          <p:nvPr/>
        </p:nvPicPr>
        <p:blipFill>
          <a:blip r:embed="rId2"/>
          <a:srcRect/>
          <a:stretch>
            <a:fillRect/>
          </a:stretch>
        </p:blipFill>
        <p:spPr bwMode="auto">
          <a:xfrm>
            <a:off x="1770065" y="2744434"/>
            <a:ext cx="6401510" cy="2000250"/>
          </a:xfrm>
          <a:prstGeom prst="rect">
            <a:avLst/>
          </a:prstGeom>
          <a:noFill/>
          <a:ln w="9525">
            <a:noFill/>
            <a:miter lim="800000"/>
            <a:headEnd/>
            <a:tailEnd/>
          </a:ln>
        </p:spPr>
      </p:pic>
      <p:pic>
        <p:nvPicPr>
          <p:cNvPr id="6" name="图片 5" descr="图形用户界面, 应用程序&#10;&#10;描述已自动生成">
            <a:extLst>
              <a:ext uri="{FF2B5EF4-FFF2-40B4-BE49-F238E27FC236}">
                <a16:creationId xmlns:a16="http://schemas.microsoft.com/office/drawing/2014/main" id="{D3C6D972-E898-482D-A056-5C6BE5AECB43}"/>
              </a:ext>
            </a:extLst>
          </p:cNvPr>
          <p:cNvPicPr>
            <a:picLocks noChangeAspect="1"/>
          </p:cNvPicPr>
          <p:nvPr/>
        </p:nvPicPr>
        <p:blipFill>
          <a:blip r:embed="rId3"/>
          <a:stretch>
            <a:fillRect/>
          </a:stretch>
        </p:blipFill>
        <p:spPr>
          <a:xfrm>
            <a:off x="8640996" y="1875310"/>
            <a:ext cx="2677459" cy="27432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Pipelining the Top-Level loop</a:t>
            </a:r>
          </a:p>
        </p:txBody>
      </p:sp>
      <p:sp>
        <p:nvSpPr>
          <p:cNvPr id="3" name="Content Placeholder 2"/>
          <p:cNvSpPr>
            <a:spLocks noGrp="1"/>
          </p:cNvSpPr>
          <p:nvPr>
            <p:ph idx="1"/>
          </p:nvPr>
        </p:nvSpPr>
        <p:spPr/>
        <p:txBody>
          <a:bodyPr>
            <a:normAutofit lnSpcReduction="10000"/>
          </a:bodyPr>
          <a:lstStyle/>
          <a:p>
            <a:r>
              <a:rPr lang="en-US" dirty="0"/>
              <a:t>Use the “rewind” option for continuous pipelining </a:t>
            </a:r>
          </a:p>
          <a:p>
            <a:pPr lvl="1"/>
            <a:r>
              <a:rPr lang="en-US" dirty="0"/>
              <a:t>Immediate re-execution of the top-level loop</a:t>
            </a:r>
          </a:p>
          <a:p>
            <a:pPr lvl="1"/>
            <a:r>
              <a:rPr lang="en-US" dirty="0"/>
              <a:t>The operation rewinds to the start of the loop</a:t>
            </a:r>
          </a:p>
          <a:p>
            <a:pPr lvl="2"/>
            <a:r>
              <a:rPr lang="en-US" dirty="0"/>
              <a:t>Ignores any initialization statements before the start of the loop</a:t>
            </a:r>
          </a:p>
          <a:p>
            <a:pPr lvl="2"/>
            <a:endParaRPr lang="en-US" sz="1400" dirty="0"/>
          </a:p>
          <a:p>
            <a:pPr lvl="2"/>
            <a:endParaRPr lang="en-US" sz="1400" dirty="0"/>
          </a:p>
          <a:p>
            <a:pPr lvl="2"/>
            <a:endParaRPr lang="en-US" sz="1400" dirty="0"/>
          </a:p>
          <a:p>
            <a:pPr lvl="2"/>
            <a:endParaRPr lang="en-US" sz="1400" dirty="0"/>
          </a:p>
          <a:p>
            <a:pPr lvl="2"/>
            <a:endParaRPr lang="en-US" sz="1400" dirty="0"/>
          </a:p>
          <a:p>
            <a:pPr lvl="2"/>
            <a:endParaRPr lang="en-US" sz="1400" dirty="0"/>
          </a:p>
          <a:p>
            <a:pPr>
              <a:buNone/>
            </a:pPr>
            <a:endParaRPr lang="en-US" sz="1800" dirty="0"/>
          </a:p>
          <a:p>
            <a:r>
              <a:rPr lang="en-US" dirty="0"/>
              <a:t>The rewind portion </a:t>
            </a:r>
            <a:r>
              <a:rPr lang="en-US" u="sng" dirty="0"/>
              <a:t>only</a:t>
            </a:r>
            <a:r>
              <a:rPr lang="en-US" dirty="0"/>
              <a:t> effects top-level loops</a:t>
            </a:r>
          </a:p>
          <a:p>
            <a:pPr lvl="1"/>
            <a:r>
              <a:rPr lang="en-US" dirty="0"/>
              <a:t>Ensures the operations before the loop are never re-executed when the function is re-executed</a:t>
            </a:r>
          </a:p>
        </p:txBody>
      </p:sp>
      <p:sp>
        <p:nvSpPr>
          <p:cNvPr id="73" name="Slide Number Placeholder 72"/>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59</a:t>
            </a:fld>
            <a:endParaRPr lang="en-US" dirty="0"/>
          </a:p>
        </p:txBody>
      </p:sp>
      <p:pic>
        <p:nvPicPr>
          <p:cNvPr id="53249" name="Picture 1"/>
          <p:cNvPicPr>
            <a:picLocks noChangeAspect="1" noChangeArrowheads="1"/>
          </p:cNvPicPr>
          <p:nvPr/>
        </p:nvPicPr>
        <p:blipFill>
          <a:blip r:embed="rId2"/>
          <a:srcRect/>
          <a:stretch>
            <a:fillRect/>
          </a:stretch>
        </p:blipFill>
        <p:spPr bwMode="auto">
          <a:xfrm>
            <a:off x="1770065" y="2744434"/>
            <a:ext cx="6401510" cy="2000250"/>
          </a:xfrm>
          <a:prstGeom prst="rect">
            <a:avLst/>
          </a:prstGeom>
          <a:noFill/>
          <a:ln w="9525">
            <a:noFill/>
            <a:miter lim="800000"/>
            <a:headEnd/>
            <a:tailEnd/>
          </a:ln>
        </p:spPr>
      </p:pic>
      <p:pic>
        <p:nvPicPr>
          <p:cNvPr id="4" name="Picture 3">
            <a:extLst>
              <a:ext uri="{FF2B5EF4-FFF2-40B4-BE49-F238E27FC236}">
                <a16:creationId xmlns:a16="http://schemas.microsoft.com/office/drawing/2014/main" id="{7BBF99D1-4C61-4B06-AC28-DC8C90BB3D3E}"/>
              </a:ext>
            </a:extLst>
          </p:cNvPr>
          <p:cNvPicPr>
            <a:picLocks noChangeAspect="1"/>
          </p:cNvPicPr>
          <p:nvPr/>
        </p:nvPicPr>
        <p:blipFill>
          <a:blip r:embed="rId3"/>
          <a:stretch>
            <a:fillRect/>
          </a:stretch>
        </p:blipFill>
        <p:spPr>
          <a:xfrm>
            <a:off x="8350149" y="2639833"/>
            <a:ext cx="2975775" cy="2420058"/>
          </a:xfrm>
          <a:prstGeom prst="rect">
            <a:avLst/>
          </a:prstGeom>
        </p:spPr>
      </p:pic>
    </p:spTree>
    <p:extLst>
      <p:ext uri="{BB962C8B-B14F-4D97-AF65-F5344CB8AC3E}">
        <p14:creationId xmlns:p14="http://schemas.microsoft.com/office/powerpoint/2010/main" val="25413890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which prevent Pipelining</a:t>
            </a:r>
          </a:p>
        </p:txBody>
      </p:sp>
      <p:sp>
        <p:nvSpPr>
          <p:cNvPr id="3" name="Content Placeholder 2"/>
          <p:cNvSpPr>
            <a:spLocks noGrp="1"/>
          </p:cNvSpPr>
          <p:nvPr>
            <p:ph idx="1"/>
          </p:nvPr>
        </p:nvSpPr>
        <p:spPr>
          <a:xfrm>
            <a:off x="647700" y="935139"/>
            <a:ext cx="10515600" cy="4759404"/>
          </a:xfrm>
        </p:spPr>
        <p:txBody>
          <a:bodyPr>
            <a:noAutofit/>
          </a:bodyPr>
          <a:lstStyle/>
          <a:p>
            <a:r>
              <a:rPr lang="en-US" dirty="0"/>
              <a:t>Pipelining functions unrolls all loops</a:t>
            </a:r>
          </a:p>
          <a:p>
            <a:pPr lvl="1"/>
            <a:r>
              <a:rPr lang="en-US" dirty="0"/>
              <a:t>Loops with variable bounds cannot be unrolled</a:t>
            </a:r>
          </a:p>
          <a:p>
            <a:pPr lvl="1"/>
            <a:r>
              <a:rPr lang="en-US" dirty="0"/>
              <a:t>This will prevent pipelining</a:t>
            </a:r>
          </a:p>
          <a:p>
            <a:pPr lvl="2"/>
            <a:r>
              <a:rPr lang="en-US" dirty="0"/>
              <a:t>Re-code to remove the variables bounds: max bounds with an exit</a:t>
            </a:r>
          </a:p>
          <a:p>
            <a:r>
              <a:rPr lang="en-US" dirty="0"/>
              <a:t>Feedback prevent/limits pipelines</a:t>
            </a:r>
          </a:p>
          <a:p>
            <a:pPr lvl="1"/>
            <a:r>
              <a:rPr lang="en-US" dirty="0"/>
              <a:t>Feedback within the code will prevent or limit pipelining</a:t>
            </a:r>
          </a:p>
          <a:p>
            <a:pPr lvl="2"/>
            <a:r>
              <a:rPr lang="en-US" dirty="0"/>
              <a:t>The pipeline may be limited to higher initiation interval (more cycles, lower throughput)</a:t>
            </a:r>
          </a:p>
          <a:p>
            <a:pPr lvl="1"/>
            <a:endParaRPr lang="en-US" dirty="0"/>
          </a:p>
          <a:p>
            <a:pPr lvl="1"/>
            <a:endParaRPr lang="en-US" dirty="0"/>
          </a:p>
          <a:p>
            <a:endParaRPr lang="en-US" dirty="0"/>
          </a:p>
          <a:p>
            <a:r>
              <a:rPr lang="en-US" dirty="0"/>
              <a:t>Resource Contention may prevent pipelining</a:t>
            </a:r>
          </a:p>
          <a:p>
            <a:pPr lvl="1"/>
            <a:r>
              <a:rPr lang="en-US" dirty="0"/>
              <a:t>Can occur within input and output ports/arguments</a:t>
            </a:r>
          </a:p>
          <a:p>
            <a:pPr lvl="1"/>
            <a:r>
              <a:rPr lang="en-US" dirty="0"/>
              <a:t>This is a classis way in which arrays limit performance</a:t>
            </a:r>
          </a:p>
        </p:txBody>
      </p:sp>
      <p:sp>
        <p:nvSpPr>
          <p:cNvPr id="46" name="Slide Number Placeholder 45"/>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60</a:t>
            </a:fld>
            <a:endParaRPr lang="en-US" dirty="0"/>
          </a:p>
        </p:txBody>
      </p:sp>
      <p:pic>
        <p:nvPicPr>
          <p:cNvPr id="50177" name="Picture 1"/>
          <p:cNvPicPr>
            <a:picLocks noChangeAspect="1" noChangeArrowheads="1"/>
          </p:cNvPicPr>
          <p:nvPr/>
        </p:nvPicPr>
        <p:blipFill>
          <a:blip r:embed="rId2"/>
          <a:srcRect/>
          <a:stretch>
            <a:fillRect/>
          </a:stretch>
        </p:blipFill>
        <p:spPr bwMode="auto">
          <a:xfrm>
            <a:off x="3048000" y="3842742"/>
            <a:ext cx="6096000" cy="1210708"/>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Resource Contention: Unfeasible Initiation Intervals</a:t>
            </a:r>
          </a:p>
        </p:txBody>
      </p:sp>
      <p:sp>
        <p:nvSpPr>
          <p:cNvPr id="3" name="Content Placeholder 2"/>
          <p:cNvSpPr>
            <a:spLocks noGrp="1"/>
          </p:cNvSpPr>
          <p:nvPr>
            <p:ph idx="1"/>
          </p:nvPr>
        </p:nvSpPr>
        <p:spPr/>
        <p:txBody>
          <a:bodyPr>
            <a:normAutofit fontScale="92500" lnSpcReduction="10000"/>
          </a:bodyPr>
          <a:lstStyle/>
          <a:p>
            <a:r>
              <a:rPr lang="en-US" sz="2200" dirty="0"/>
              <a:t>Sometimes the II specification cannot be met</a:t>
            </a:r>
          </a:p>
          <a:p>
            <a:pPr lvl="1"/>
            <a:r>
              <a:rPr lang="en-US" sz="1900" dirty="0"/>
              <a:t>In this example there are 2 read operations on the same port</a:t>
            </a:r>
          </a:p>
          <a:p>
            <a:pPr lvl="1">
              <a:buNone/>
            </a:pPr>
            <a:endParaRPr lang="en-US" dirty="0"/>
          </a:p>
          <a:p>
            <a:pPr lvl="1"/>
            <a:endParaRPr lang="en-US" dirty="0"/>
          </a:p>
          <a:p>
            <a:pPr lvl="1"/>
            <a:endParaRPr lang="en-US" dirty="0"/>
          </a:p>
          <a:p>
            <a:pPr lvl="1"/>
            <a:endParaRPr lang="en-US" dirty="0"/>
          </a:p>
          <a:p>
            <a:pPr lvl="1"/>
            <a:endParaRPr lang="en-US" dirty="0"/>
          </a:p>
          <a:p>
            <a:pPr lvl="1">
              <a:buNone/>
            </a:pPr>
            <a:endParaRPr lang="en-US" dirty="0"/>
          </a:p>
          <a:p>
            <a:pPr lvl="1"/>
            <a:r>
              <a:rPr lang="en-US" sz="1900" dirty="0"/>
              <a:t>An II=1 cannot be implemented</a:t>
            </a:r>
          </a:p>
          <a:p>
            <a:pPr lvl="2"/>
            <a:r>
              <a:rPr lang="en-US" sz="1700" dirty="0"/>
              <a:t>The same port cannot be read at the same time</a:t>
            </a:r>
          </a:p>
          <a:p>
            <a:pPr lvl="2"/>
            <a:r>
              <a:rPr lang="en-US" sz="1700" dirty="0"/>
              <a:t>Similar effect with other resource limitations</a:t>
            </a:r>
          </a:p>
          <a:p>
            <a:pPr lvl="2"/>
            <a:r>
              <a:rPr lang="en-US" sz="1700" dirty="0"/>
              <a:t>For example if functions or multipliers etc. are limited</a:t>
            </a:r>
            <a:endParaRPr lang="en-US" dirty="0"/>
          </a:p>
          <a:p>
            <a:r>
              <a:rPr lang="en-US" sz="2200" dirty="0"/>
              <a:t>Vitis HLS will automatically increase the II </a:t>
            </a:r>
          </a:p>
          <a:p>
            <a:pPr lvl="1"/>
            <a:r>
              <a:rPr lang="en-US" sz="1900" dirty="0"/>
              <a:t>Vitis HLS will always try to create a design, even if constraints must be violated</a:t>
            </a:r>
          </a:p>
        </p:txBody>
      </p:sp>
      <p:sp>
        <p:nvSpPr>
          <p:cNvPr id="108" name="Slide Number Placeholder 10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61</a:t>
            </a:fld>
            <a:endParaRPr lang="en-US" dirty="0"/>
          </a:p>
        </p:txBody>
      </p:sp>
      <p:pic>
        <p:nvPicPr>
          <p:cNvPr id="47105" name="Picture 1"/>
          <p:cNvPicPr>
            <a:picLocks noChangeAspect="1" noChangeArrowheads="1"/>
          </p:cNvPicPr>
          <p:nvPr/>
        </p:nvPicPr>
        <p:blipFill>
          <a:blip r:embed="rId2"/>
          <a:srcRect/>
          <a:stretch>
            <a:fillRect/>
          </a:stretch>
        </p:blipFill>
        <p:spPr bwMode="auto">
          <a:xfrm>
            <a:off x="746880" y="2194037"/>
            <a:ext cx="10567207" cy="1815310"/>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65598-A2DD-4555-AA1B-697A51F747F5}"/>
              </a:ext>
            </a:extLst>
          </p:cNvPr>
          <p:cNvSpPr>
            <a:spLocks noGrp="1"/>
          </p:cNvSpPr>
          <p:nvPr>
            <p:ph type="title"/>
          </p:nvPr>
        </p:nvSpPr>
        <p:spPr/>
        <p:txBody>
          <a:bodyPr/>
          <a:lstStyle/>
          <a:p>
            <a:r>
              <a:rPr lang="en-US" altLang="zh-CN" dirty="0"/>
              <a:t>Performance Bottleneck</a:t>
            </a:r>
            <a:endParaRPr lang="zh-CN" altLang="en-US" dirty="0"/>
          </a:p>
        </p:txBody>
      </p:sp>
    </p:spTree>
    <p:extLst>
      <p:ext uri="{BB962C8B-B14F-4D97-AF65-F5344CB8AC3E}">
        <p14:creationId xmlns:p14="http://schemas.microsoft.com/office/powerpoint/2010/main" val="3997651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p:cNvPicPr>
            <a:picLocks noChangeAspect="1" noChangeArrowheads="1"/>
          </p:cNvPicPr>
          <p:nvPr/>
        </p:nvPicPr>
        <p:blipFill>
          <a:blip r:embed="rId2"/>
          <a:srcRect/>
          <a:stretch>
            <a:fillRect/>
          </a:stretch>
        </p:blipFill>
        <p:spPr bwMode="auto">
          <a:xfrm>
            <a:off x="1900750" y="3067288"/>
            <a:ext cx="9248742" cy="1668854"/>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Arrays : Performance bottlenecks</a:t>
            </a:r>
          </a:p>
        </p:txBody>
      </p:sp>
      <p:sp>
        <p:nvSpPr>
          <p:cNvPr id="3" name="Content Placeholder 2"/>
          <p:cNvSpPr>
            <a:spLocks noGrp="1"/>
          </p:cNvSpPr>
          <p:nvPr>
            <p:ph idx="1"/>
          </p:nvPr>
        </p:nvSpPr>
        <p:spPr>
          <a:xfrm>
            <a:off x="649119" y="1327868"/>
            <a:ext cx="10512862" cy="4759404"/>
          </a:xfrm>
        </p:spPr>
        <p:txBody>
          <a:bodyPr>
            <a:normAutofit fontScale="92500" lnSpcReduction="20000"/>
          </a:bodyPr>
          <a:lstStyle/>
          <a:p>
            <a:r>
              <a:rPr lang="en-US" dirty="0"/>
              <a:t>Arrays are intuitive and useful software constructs</a:t>
            </a:r>
          </a:p>
          <a:p>
            <a:pPr lvl="1"/>
            <a:r>
              <a:rPr lang="en-US" dirty="0"/>
              <a:t>They allow the C algorithm to be easily captured and understood</a:t>
            </a:r>
          </a:p>
          <a:p>
            <a:r>
              <a:rPr lang="en-US" dirty="0"/>
              <a:t>Array accesses can often be performance bottlenecks </a:t>
            </a:r>
          </a:p>
          <a:p>
            <a:pPr lvl="1"/>
            <a:r>
              <a:rPr lang="en-US" dirty="0"/>
              <a:t>Arrays are targeted to a default RAM</a:t>
            </a:r>
          </a:p>
          <a:p>
            <a:pPr lvl="2"/>
            <a:r>
              <a:rPr lang="en-US" dirty="0"/>
              <a:t>May not be the most ideal memory for performance</a:t>
            </a:r>
          </a:p>
          <a:p>
            <a:pPr lvl="2"/>
            <a:endParaRPr lang="en-US" dirty="0"/>
          </a:p>
          <a:p>
            <a:pPr lvl="2"/>
            <a:endParaRPr lang="en-US" dirty="0"/>
          </a:p>
          <a:p>
            <a:pPr lvl="2"/>
            <a:endParaRPr lang="en-US" dirty="0"/>
          </a:p>
          <a:p>
            <a:pPr lvl="2"/>
            <a:endParaRPr lang="en-US" dirty="0"/>
          </a:p>
          <a:p>
            <a:pPr lvl="2"/>
            <a:endParaRPr lang="en-US" dirty="0"/>
          </a:p>
          <a:p>
            <a:pPr lvl="2"/>
            <a:r>
              <a:rPr lang="en-US" dirty="0"/>
              <a:t>Cannot pipeline with a throughput of 1</a:t>
            </a:r>
            <a:endParaRPr lang="en-US" sz="1400" dirty="0"/>
          </a:p>
          <a:p>
            <a:r>
              <a:rPr lang="en-US" dirty="0"/>
              <a:t>Vitis HLS allows arrays to be partitioned and reshaped </a:t>
            </a:r>
          </a:p>
          <a:p>
            <a:pPr lvl="1"/>
            <a:r>
              <a:rPr lang="en-US" dirty="0"/>
              <a:t>Allows more optimal configuration of the array</a:t>
            </a:r>
          </a:p>
          <a:p>
            <a:pPr lvl="1"/>
            <a:r>
              <a:rPr lang="en-US" dirty="0"/>
              <a:t>Provides better implementation of the memory resource</a:t>
            </a:r>
          </a:p>
        </p:txBody>
      </p:sp>
      <p:sp>
        <p:nvSpPr>
          <p:cNvPr id="45" name="Slide Number Placeholder 44"/>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Arrays in HLS</a:t>
            </a:r>
          </a:p>
        </p:txBody>
      </p:sp>
      <p:sp>
        <p:nvSpPr>
          <p:cNvPr id="3" name="Content Placeholder 2"/>
          <p:cNvSpPr>
            <a:spLocks noGrp="1"/>
          </p:cNvSpPr>
          <p:nvPr>
            <p:ph idx="1"/>
          </p:nvPr>
        </p:nvSpPr>
        <p:spPr>
          <a:xfrm>
            <a:off x="579121" y="1304663"/>
            <a:ext cx="10515600" cy="4759404"/>
          </a:xfrm>
        </p:spPr>
        <p:txBody>
          <a:bodyPr>
            <a:normAutofit/>
          </a:bodyPr>
          <a:lstStyle/>
          <a:p>
            <a:r>
              <a:rPr lang="en-US" dirty="0"/>
              <a:t>An array in C code is implemented by a memory in the RTL</a:t>
            </a:r>
          </a:p>
          <a:p>
            <a:pPr lvl="1"/>
            <a:r>
              <a:rPr lang="en-US" dirty="0"/>
              <a:t>By default, arrays are implemented as RAMs, optionally a FIFO</a:t>
            </a:r>
          </a:p>
          <a:p>
            <a:pPr lvl="1"/>
            <a:endParaRPr lang="en-US" dirty="0"/>
          </a:p>
          <a:p>
            <a:pPr lvl="1"/>
            <a:endParaRPr lang="en-US" dirty="0"/>
          </a:p>
          <a:p>
            <a:pPr lvl="1"/>
            <a:endParaRPr lang="en-US" dirty="0"/>
          </a:p>
          <a:p>
            <a:pPr>
              <a:buNone/>
            </a:pPr>
            <a:endParaRPr lang="en-US" dirty="0"/>
          </a:p>
          <a:p>
            <a:r>
              <a:rPr lang="en-US" dirty="0"/>
              <a:t>The array can be targeted to any memory </a:t>
            </a:r>
            <a:br>
              <a:rPr lang="en-US" dirty="0"/>
            </a:br>
            <a:r>
              <a:rPr lang="en-US" dirty="0"/>
              <a:t>resource in the library</a:t>
            </a:r>
          </a:p>
          <a:p>
            <a:pPr lvl="1"/>
            <a:r>
              <a:rPr lang="en-US" dirty="0"/>
              <a:t>The ports and sequential operation are </a:t>
            </a:r>
            <a:br>
              <a:rPr lang="en-US" dirty="0"/>
            </a:br>
            <a:r>
              <a:rPr lang="en-US" dirty="0"/>
              <a:t>defined by the library model</a:t>
            </a:r>
          </a:p>
          <a:p>
            <a:pPr lvl="2"/>
            <a:r>
              <a:rPr lang="en-US" dirty="0"/>
              <a:t>All RAMs are listed in the Vitis HLS Library Guide</a:t>
            </a:r>
          </a:p>
          <a:p>
            <a:endParaRPr lang="en-US" dirty="0"/>
          </a:p>
        </p:txBody>
      </p:sp>
      <p:sp>
        <p:nvSpPr>
          <p:cNvPr id="50" name="Slide Number Placeholder 49"/>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64</a:t>
            </a:fld>
            <a:endParaRPr lang="en-US" dirty="0"/>
          </a:p>
        </p:txBody>
      </p:sp>
      <p:pic>
        <p:nvPicPr>
          <p:cNvPr id="91138" name="Picture 2"/>
          <p:cNvPicPr>
            <a:picLocks noChangeAspect="1" noChangeArrowheads="1"/>
          </p:cNvPicPr>
          <p:nvPr/>
        </p:nvPicPr>
        <p:blipFill>
          <a:blip r:embed="rId2"/>
          <a:srcRect/>
          <a:stretch>
            <a:fillRect/>
          </a:stretch>
        </p:blipFill>
        <p:spPr bwMode="auto">
          <a:xfrm>
            <a:off x="1663701" y="2118600"/>
            <a:ext cx="8811075" cy="1504950"/>
          </a:xfrm>
          <a:prstGeom prst="rect">
            <a:avLst/>
          </a:prstGeom>
          <a:noFill/>
          <a:ln w="9525">
            <a:noFill/>
            <a:miter lim="800000"/>
            <a:headEnd/>
            <a:tailEnd/>
          </a:ln>
        </p:spPr>
      </p:pic>
      <p:sp>
        <p:nvSpPr>
          <p:cNvPr id="39" name="TextBox 38"/>
          <p:cNvSpPr txBox="1"/>
          <p:nvPr/>
        </p:nvSpPr>
        <p:spPr>
          <a:xfrm>
            <a:off x="10595133" y="5020771"/>
            <a:ext cx="1217455" cy="646331"/>
          </a:xfrm>
          <a:prstGeom prst="rect">
            <a:avLst/>
          </a:prstGeom>
          <a:solidFill>
            <a:srgbClr val="FFFF99"/>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sz="1200" b="1" dirty="0"/>
              <a:t>List of available Cores</a:t>
            </a:r>
          </a:p>
        </p:txBody>
      </p:sp>
      <p:sp>
        <p:nvSpPr>
          <p:cNvPr id="9" name="Right Arrow 37">
            <a:extLst>
              <a:ext uri="{FF2B5EF4-FFF2-40B4-BE49-F238E27FC236}">
                <a16:creationId xmlns:a16="http://schemas.microsoft.com/office/drawing/2014/main" id="{01789DE2-2E6B-4CB1-985B-D410C074CCDB}"/>
              </a:ext>
            </a:extLst>
          </p:cNvPr>
          <p:cNvSpPr/>
          <p:nvPr/>
        </p:nvSpPr>
        <p:spPr>
          <a:xfrm>
            <a:off x="8509258" y="5020770"/>
            <a:ext cx="384050" cy="19202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pic>
        <p:nvPicPr>
          <p:cNvPr id="6" name="图片 5" descr="图形用户界面&#10;&#10;描述已自动生成">
            <a:extLst>
              <a:ext uri="{FF2B5EF4-FFF2-40B4-BE49-F238E27FC236}">
                <a16:creationId xmlns:a16="http://schemas.microsoft.com/office/drawing/2014/main" id="{B8BD51C9-C696-4230-9D66-6DBF1814D031}"/>
              </a:ext>
            </a:extLst>
          </p:cNvPr>
          <p:cNvPicPr>
            <a:picLocks noChangeAspect="1"/>
          </p:cNvPicPr>
          <p:nvPr/>
        </p:nvPicPr>
        <p:blipFill>
          <a:blip r:embed="rId3"/>
          <a:stretch>
            <a:fillRect/>
          </a:stretch>
        </p:blipFill>
        <p:spPr>
          <a:xfrm>
            <a:off x="6700171" y="3745182"/>
            <a:ext cx="1808922" cy="2743200"/>
          </a:xfrm>
          <a:prstGeom prst="rect">
            <a:avLst/>
          </a:prstGeom>
        </p:spPr>
      </p:pic>
      <p:pic>
        <p:nvPicPr>
          <p:cNvPr id="8" name="图片 7" descr="图形用户界面&#10;&#10;描述已自动生成">
            <a:extLst>
              <a:ext uri="{FF2B5EF4-FFF2-40B4-BE49-F238E27FC236}">
                <a16:creationId xmlns:a16="http://schemas.microsoft.com/office/drawing/2014/main" id="{731A6A64-0952-4418-8CDF-DA10F0521513}"/>
              </a:ext>
            </a:extLst>
          </p:cNvPr>
          <p:cNvPicPr>
            <a:picLocks noChangeAspect="1"/>
          </p:cNvPicPr>
          <p:nvPr/>
        </p:nvPicPr>
        <p:blipFill>
          <a:blip r:embed="rId4"/>
          <a:stretch>
            <a:fillRect/>
          </a:stretch>
        </p:blipFill>
        <p:spPr>
          <a:xfrm>
            <a:off x="8893308" y="3745181"/>
            <a:ext cx="1770434" cy="27432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C88879-C371-4DFE-91E7-150CA6DA8A9B}"/>
              </a:ext>
            </a:extLst>
          </p:cNvPr>
          <p:cNvPicPr>
            <a:picLocks noChangeAspect="1"/>
          </p:cNvPicPr>
          <p:nvPr/>
        </p:nvPicPr>
        <p:blipFill>
          <a:blip r:embed="rId2"/>
          <a:stretch>
            <a:fillRect/>
          </a:stretch>
        </p:blipFill>
        <p:spPr>
          <a:xfrm>
            <a:off x="7497700" y="4027972"/>
            <a:ext cx="3097433" cy="2521166"/>
          </a:xfrm>
          <a:prstGeom prst="rect">
            <a:avLst/>
          </a:prstGeom>
        </p:spPr>
      </p:pic>
      <p:sp>
        <p:nvSpPr>
          <p:cNvPr id="2" name="Title 1"/>
          <p:cNvSpPr>
            <a:spLocks noGrp="1"/>
          </p:cNvSpPr>
          <p:nvPr>
            <p:ph type="title"/>
          </p:nvPr>
        </p:nvSpPr>
        <p:spPr/>
        <p:txBody>
          <a:bodyPr/>
          <a:lstStyle/>
          <a:p>
            <a:r>
              <a:rPr lang="en-US" dirty="0"/>
              <a:t>Review: Arrays in HLS</a:t>
            </a:r>
          </a:p>
        </p:txBody>
      </p:sp>
      <p:sp>
        <p:nvSpPr>
          <p:cNvPr id="3" name="Content Placeholder 2"/>
          <p:cNvSpPr>
            <a:spLocks noGrp="1"/>
          </p:cNvSpPr>
          <p:nvPr>
            <p:ph idx="1"/>
          </p:nvPr>
        </p:nvSpPr>
        <p:spPr/>
        <p:txBody>
          <a:bodyPr>
            <a:normAutofit/>
          </a:bodyPr>
          <a:lstStyle/>
          <a:p>
            <a:r>
              <a:rPr lang="en-US" dirty="0"/>
              <a:t>An array in C code is implemented by a memory in the RTL</a:t>
            </a:r>
          </a:p>
          <a:p>
            <a:pPr lvl="1"/>
            <a:r>
              <a:rPr lang="en-US" dirty="0"/>
              <a:t>By default, arrays are implemented as RAMs, optionally a FIFO</a:t>
            </a:r>
          </a:p>
          <a:p>
            <a:pPr lvl="1"/>
            <a:endParaRPr lang="en-US" dirty="0"/>
          </a:p>
          <a:p>
            <a:pPr lvl="1"/>
            <a:endParaRPr lang="en-US" dirty="0"/>
          </a:p>
          <a:p>
            <a:pPr lvl="1"/>
            <a:endParaRPr lang="en-US" dirty="0"/>
          </a:p>
          <a:p>
            <a:pPr>
              <a:buNone/>
            </a:pPr>
            <a:endParaRPr lang="en-US" dirty="0"/>
          </a:p>
          <a:p>
            <a:r>
              <a:rPr lang="en-US" dirty="0"/>
              <a:t>The array can be targeted to any memory </a:t>
            </a:r>
            <a:br>
              <a:rPr lang="en-US" dirty="0"/>
            </a:br>
            <a:r>
              <a:rPr lang="en-US" dirty="0"/>
              <a:t>resource in the library</a:t>
            </a:r>
          </a:p>
          <a:p>
            <a:pPr lvl="1"/>
            <a:r>
              <a:rPr lang="en-US" dirty="0"/>
              <a:t>The ports and sequential operation are </a:t>
            </a:r>
            <a:br>
              <a:rPr lang="en-US" dirty="0"/>
            </a:br>
            <a:r>
              <a:rPr lang="en-US" dirty="0"/>
              <a:t>defined by the library model</a:t>
            </a:r>
          </a:p>
          <a:p>
            <a:pPr lvl="2"/>
            <a:r>
              <a:rPr lang="en-US" dirty="0"/>
              <a:t>All RAMs are listed in the </a:t>
            </a:r>
            <a:r>
              <a:rPr lang="en-US" dirty="0" err="1"/>
              <a:t>Vivado</a:t>
            </a:r>
            <a:r>
              <a:rPr lang="en-US" dirty="0"/>
              <a:t> HLS Library Guide</a:t>
            </a:r>
          </a:p>
          <a:p>
            <a:endParaRPr lang="en-US" dirty="0"/>
          </a:p>
        </p:txBody>
      </p:sp>
      <p:sp>
        <p:nvSpPr>
          <p:cNvPr id="50" name="Slide Number Placeholder 49"/>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65</a:t>
            </a:fld>
            <a:endParaRPr lang="en-US" dirty="0"/>
          </a:p>
        </p:txBody>
      </p:sp>
      <p:pic>
        <p:nvPicPr>
          <p:cNvPr id="91138" name="Picture 2"/>
          <p:cNvPicPr>
            <a:picLocks noChangeAspect="1" noChangeArrowheads="1"/>
          </p:cNvPicPr>
          <p:nvPr/>
        </p:nvPicPr>
        <p:blipFill>
          <a:blip r:embed="rId3"/>
          <a:srcRect/>
          <a:stretch>
            <a:fillRect/>
          </a:stretch>
        </p:blipFill>
        <p:spPr bwMode="auto">
          <a:xfrm>
            <a:off x="1663701" y="2118600"/>
            <a:ext cx="8811075" cy="1504950"/>
          </a:xfrm>
          <a:prstGeom prst="rect">
            <a:avLst/>
          </a:prstGeom>
          <a:noFill/>
          <a:ln w="9525">
            <a:noFill/>
            <a:miter lim="800000"/>
            <a:headEnd/>
            <a:tailEnd/>
          </a:ln>
        </p:spPr>
      </p:pic>
      <p:sp>
        <p:nvSpPr>
          <p:cNvPr id="39" name="TextBox 38"/>
          <p:cNvSpPr txBox="1"/>
          <p:nvPr/>
        </p:nvSpPr>
        <p:spPr>
          <a:xfrm>
            <a:off x="10595133" y="5020771"/>
            <a:ext cx="1217455" cy="646331"/>
          </a:xfrm>
          <a:prstGeom prst="rect">
            <a:avLst/>
          </a:prstGeom>
          <a:solidFill>
            <a:srgbClr val="FFFF99"/>
          </a:solidFill>
          <a:ln>
            <a:solidFill>
              <a:schemeClr val="tx1"/>
            </a:solidFill>
          </a:ln>
          <a:effectLst>
            <a:outerShdw blurRad="50800" dist="38100" dir="2700000" algn="tl" rotWithShape="0">
              <a:prstClr val="black">
                <a:alpha val="40000"/>
              </a:prstClr>
            </a:outerShdw>
          </a:effectLst>
        </p:spPr>
        <p:txBody>
          <a:bodyPr wrap="square" rtlCol="0">
            <a:spAutoFit/>
          </a:bodyPr>
          <a:lstStyle/>
          <a:p>
            <a:pPr algn="ctr"/>
            <a:r>
              <a:rPr lang="en-US" sz="1200" b="1" dirty="0"/>
              <a:t>List of available Cores</a:t>
            </a:r>
          </a:p>
        </p:txBody>
      </p:sp>
      <p:sp>
        <p:nvSpPr>
          <p:cNvPr id="9" name="Right Arrow 37">
            <a:extLst>
              <a:ext uri="{FF2B5EF4-FFF2-40B4-BE49-F238E27FC236}">
                <a16:creationId xmlns:a16="http://schemas.microsoft.com/office/drawing/2014/main" id="{01789DE2-2E6B-4CB1-985B-D410C074CCDB}"/>
              </a:ext>
            </a:extLst>
          </p:cNvPr>
          <p:cNvSpPr/>
          <p:nvPr/>
        </p:nvSpPr>
        <p:spPr>
          <a:xfrm>
            <a:off x="8854390" y="5020771"/>
            <a:ext cx="384050" cy="19202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Tree>
    <p:extLst>
      <p:ext uri="{BB962C8B-B14F-4D97-AF65-F5344CB8AC3E}">
        <p14:creationId xmlns:p14="http://schemas.microsoft.com/office/powerpoint/2010/main" val="9213119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dirty="0"/>
              <a:t>Array and RAM selection</a:t>
            </a:r>
            <a:endParaRPr lang="en-US" sz="2800" dirty="0">
              <a:solidFill>
                <a:schemeClr val="bg1"/>
              </a:solidFill>
            </a:endParaRPr>
          </a:p>
        </p:txBody>
      </p:sp>
      <p:sp>
        <p:nvSpPr>
          <p:cNvPr id="69635" name="Content Placeholder 2"/>
          <p:cNvSpPr>
            <a:spLocks noGrp="1"/>
          </p:cNvSpPr>
          <p:nvPr>
            <p:ph idx="1"/>
          </p:nvPr>
        </p:nvSpPr>
        <p:spPr/>
        <p:txBody>
          <a:bodyPr/>
          <a:lstStyle/>
          <a:p>
            <a:pPr eaLnBrk="1" hangingPunct="1">
              <a:lnSpc>
                <a:spcPct val="90000"/>
              </a:lnSpc>
            </a:pPr>
            <a:r>
              <a:rPr lang="en-US" dirty="0"/>
              <a:t>If no RAM resource is selected</a:t>
            </a:r>
          </a:p>
          <a:p>
            <a:pPr lvl="1" eaLnBrk="1" hangingPunct="1">
              <a:lnSpc>
                <a:spcPct val="90000"/>
              </a:lnSpc>
            </a:pPr>
            <a:r>
              <a:rPr lang="en-US" dirty="0"/>
              <a:t>Vitis HLS will determine the RAM to use</a:t>
            </a:r>
          </a:p>
          <a:p>
            <a:pPr lvl="2" eaLnBrk="1" hangingPunct="1">
              <a:lnSpc>
                <a:spcPct val="90000"/>
              </a:lnSpc>
            </a:pPr>
            <a:r>
              <a:rPr lang="en-US" sz="1800" dirty="0"/>
              <a:t>It will use a Dual-port if it improves throughput</a:t>
            </a:r>
          </a:p>
          <a:p>
            <a:pPr lvl="2" eaLnBrk="1" hangingPunct="1">
              <a:lnSpc>
                <a:spcPct val="90000"/>
              </a:lnSpc>
            </a:pPr>
            <a:r>
              <a:rPr lang="en-US" sz="1800" dirty="0"/>
              <a:t>Else it will use a single-port</a:t>
            </a:r>
          </a:p>
          <a:p>
            <a:pPr eaLnBrk="1" hangingPunct="1">
              <a:lnSpc>
                <a:spcPct val="90000"/>
              </a:lnSpc>
            </a:pPr>
            <a:r>
              <a:rPr lang="en-US" dirty="0"/>
              <a:t>BRAM and LUTRAM selection</a:t>
            </a:r>
          </a:p>
          <a:p>
            <a:pPr lvl="1" eaLnBrk="1" hangingPunct="1">
              <a:lnSpc>
                <a:spcPct val="90000"/>
              </a:lnSpc>
            </a:pPr>
            <a:r>
              <a:rPr lang="en-US" dirty="0"/>
              <a:t>If none is made (e.g. resource RAM_1P used) RTL synthesis will determine if RAM is implemented as BRAM or LUTRAM </a:t>
            </a:r>
          </a:p>
          <a:p>
            <a:pPr lvl="1" eaLnBrk="1" hangingPunct="1">
              <a:lnSpc>
                <a:spcPct val="90000"/>
              </a:lnSpc>
            </a:pPr>
            <a:r>
              <a:rPr lang="en-US" dirty="0"/>
              <a:t>If the user specifies the RAM target (e.g. RAM_1P_BRAM or RAM_1P_LUTRAM is selected ) Vitis HLS will obey the target</a:t>
            </a:r>
          </a:p>
          <a:p>
            <a:pPr lvl="2" eaLnBrk="1" hangingPunct="1">
              <a:lnSpc>
                <a:spcPct val="90000"/>
              </a:lnSpc>
            </a:pPr>
            <a:r>
              <a:rPr lang="en-US" sz="1800" dirty="0"/>
              <a:t>If LUTRAM is selected Vitis HLS reports registers not BRAM</a:t>
            </a:r>
          </a:p>
          <a:p>
            <a:pPr lvl="1" eaLnBrk="1" hangingPunct="1">
              <a:lnSpc>
                <a:spcPct val="90000"/>
              </a:lnSpc>
            </a:pPr>
            <a:endParaRPr lang="en-US" sz="1800" dirty="0"/>
          </a:p>
        </p:txBody>
      </p:sp>
      <p:sp>
        <p:nvSpPr>
          <p:cNvPr id="15" name="Slide Number Placeholder 14"/>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Partitioning</a:t>
            </a:r>
          </a:p>
        </p:txBody>
      </p:sp>
      <p:sp>
        <p:nvSpPr>
          <p:cNvPr id="3" name="Content Placeholder 2"/>
          <p:cNvSpPr>
            <a:spLocks noGrp="1"/>
          </p:cNvSpPr>
          <p:nvPr>
            <p:ph idx="1"/>
          </p:nvPr>
        </p:nvSpPr>
        <p:spPr/>
        <p:txBody>
          <a:bodyPr/>
          <a:lstStyle/>
          <a:p>
            <a:r>
              <a:rPr lang="en-US" dirty="0"/>
              <a:t>Partitioning breaks an array into smaller elements</a:t>
            </a:r>
          </a:p>
          <a:p>
            <a:pPr lvl="1"/>
            <a:r>
              <a:rPr lang="en-US" dirty="0">
                <a:solidFill>
                  <a:prstClr val="black"/>
                </a:solidFill>
                <a:ea typeface="ＭＳ Ｐゴシック" pitchFamily="24" charset="-128"/>
                <a:cs typeface="ＭＳ Ｐゴシック" pitchFamily="24" charset="-128"/>
              </a:rPr>
              <a:t>If the factor is not an integer multiple the final array has fewer elements</a:t>
            </a:r>
          </a:p>
          <a:p>
            <a:pPr lvl="1"/>
            <a:r>
              <a:rPr lang="en-US" dirty="0">
                <a:solidFill>
                  <a:prstClr val="black"/>
                </a:solidFill>
                <a:ea typeface="ＭＳ Ｐゴシック" pitchFamily="24" charset="-128"/>
                <a:cs typeface="ＭＳ Ｐゴシック" pitchFamily="24" charset="-128"/>
              </a:rPr>
              <a:t>Arrays can be split along any dimension</a:t>
            </a:r>
          </a:p>
          <a:p>
            <a:pPr lvl="2"/>
            <a:r>
              <a:rPr lang="en-US" dirty="0">
                <a:solidFill>
                  <a:prstClr val="black"/>
                </a:solidFill>
                <a:ea typeface="ＭＳ Ｐゴシック" pitchFamily="24" charset="-128"/>
                <a:cs typeface="ＭＳ Ｐゴシック" pitchFamily="24" charset="-128"/>
              </a:rPr>
              <a:t>If none is specified dimension zero is assumed</a:t>
            </a:r>
          </a:p>
          <a:p>
            <a:pPr lvl="2"/>
            <a:r>
              <a:rPr lang="en-US" dirty="0">
                <a:solidFill>
                  <a:prstClr val="black"/>
                </a:solidFill>
                <a:ea typeface="ＭＳ Ｐゴシック" pitchFamily="24" charset="-128"/>
                <a:cs typeface="ＭＳ Ｐゴシック" pitchFamily="24" charset="-128"/>
              </a:rPr>
              <a:t>Dimension zero means all dimensions</a:t>
            </a:r>
          </a:p>
          <a:p>
            <a:pPr lvl="1"/>
            <a:r>
              <a:rPr lang="en-US" dirty="0">
                <a:solidFill>
                  <a:prstClr val="black"/>
                </a:solidFill>
                <a:ea typeface="ＭＳ Ｐゴシック" pitchFamily="24" charset="-128"/>
                <a:cs typeface="ＭＳ Ｐゴシック" pitchFamily="24" charset="-128"/>
              </a:rPr>
              <a:t>All partitions inherit the same resource target</a:t>
            </a:r>
          </a:p>
          <a:p>
            <a:pPr lvl="2"/>
            <a:r>
              <a:rPr lang="en-US" dirty="0">
                <a:solidFill>
                  <a:prstClr val="black"/>
                </a:solidFill>
                <a:ea typeface="ＭＳ Ｐゴシック" pitchFamily="24" charset="-128"/>
                <a:cs typeface="ＭＳ Ｐゴシック" pitchFamily="24" charset="-128"/>
              </a:rPr>
              <a:t>That is, whatever RAM is specified as the resource target</a:t>
            </a:r>
          </a:p>
          <a:p>
            <a:pPr lvl="2"/>
            <a:r>
              <a:rPr lang="en-US" dirty="0">
                <a:solidFill>
                  <a:prstClr val="black"/>
                </a:solidFill>
                <a:ea typeface="ＭＳ Ｐゴシック" pitchFamily="24" charset="-128"/>
                <a:cs typeface="ＭＳ Ｐゴシック" pitchFamily="24" charset="-128"/>
              </a:rPr>
              <a:t>Except of course “complete”</a:t>
            </a:r>
          </a:p>
          <a:p>
            <a:pPr lvl="2"/>
            <a:endParaRPr lang="en-US" dirty="0"/>
          </a:p>
          <a:p>
            <a:endParaRPr lang="en-US" dirty="0"/>
          </a:p>
        </p:txBody>
      </p:sp>
      <p:sp>
        <p:nvSpPr>
          <p:cNvPr id="48" name="Slide Number Placeholder 4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67</a:t>
            </a:fld>
            <a:endParaRPr lang="en-US" dirty="0"/>
          </a:p>
        </p:txBody>
      </p:sp>
      <p:pic>
        <p:nvPicPr>
          <p:cNvPr id="92162" name="Picture 2"/>
          <p:cNvPicPr>
            <a:picLocks noChangeAspect="1" noChangeArrowheads="1"/>
          </p:cNvPicPr>
          <p:nvPr/>
        </p:nvPicPr>
        <p:blipFill>
          <a:blip r:embed="rId2"/>
          <a:srcRect/>
          <a:stretch>
            <a:fillRect/>
          </a:stretch>
        </p:blipFill>
        <p:spPr bwMode="auto">
          <a:xfrm>
            <a:off x="5012954" y="3954626"/>
            <a:ext cx="6934200" cy="2271713"/>
          </a:xfrm>
          <a:prstGeom prst="rect">
            <a:avLst/>
          </a:prstGeom>
          <a:noFill/>
          <a:ln w="9525">
            <a:noFill/>
            <a:miter lim="800000"/>
            <a:headEnd/>
            <a:tailEnd/>
          </a:ln>
        </p:spPr>
      </p:pic>
      <p:pic>
        <p:nvPicPr>
          <p:cNvPr id="6" name="图片 5" descr="图形用户界面&#10;&#10;描述已自动生成">
            <a:extLst>
              <a:ext uri="{FF2B5EF4-FFF2-40B4-BE49-F238E27FC236}">
                <a16:creationId xmlns:a16="http://schemas.microsoft.com/office/drawing/2014/main" id="{19210C91-6E57-48B9-9A34-690F7414B4DF}"/>
              </a:ext>
            </a:extLst>
          </p:cNvPr>
          <p:cNvPicPr>
            <a:picLocks noChangeAspect="1"/>
          </p:cNvPicPr>
          <p:nvPr/>
        </p:nvPicPr>
        <p:blipFill>
          <a:blip r:embed="rId3"/>
          <a:stretch>
            <a:fillRect/>
          </a:stretch>
        </p:blipFill>
        <p:spPr>
          <a:xfrm>
            <a:off x="9357298" y="962329"/>
            <a:ext cx="1672796" cy="27432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Partitioning</a:t>
            </a:r>
          </a:p>
        </p:txBody>
      </p:sp>
      <p:sp>
        <p:nvSpPr>
          <p:cNvPr id="3" name="Content Placeholder 2"/>
          <p:cNvSpPr>
            <a:spLocks noGrp="1"/>
          </p:cNvSpPr>
          <p:nvPr>
            <p:ph idx="1"/>
          </p:nvPr>
        </p:nvSpPr>
        <p:spPr/>
        <p:txBody>
          <a:bodyPr/>
          <a:lstStyle/>
          <a:p>
            <a:r>
              <a:rPr lang="en-US" dirty="0"/>
              <a:t>Partitioning breaks an array into smaller elements</a:t>
            </a:r>
          </a:p>
          <a:p>
            <a:pPr lvl="1"/>
            <a:r>
              <a:rPr lang="en-US" dirty="0">
                <a:solidFill>
                  <a:prstClr val="black"/>
                </a:solidFill>
                <a:ea typeface="ＭＳ Ｐゴシック" pitchFamily="24" charset="-128"/>
                <a:cs typeface="ＭＳ Ｐゴシック" pitchFamily="24" charset="-128"/>
              </a:rPr>
              <a:t>If the factor is not an integer multiple the final array has fewer elements</a:t>
            </a:r>
          </a:p>
          <a:p>
            <a:pPr lvl="1"/>
            <a:r>
              <a:rPr lang="en-US" dirty="0">
                <a:solidFill>
                  <a:prstClr val="black"/>
                </a:solidFill>
                <a:ea typeface="ＭＳ Ｐゴシック" pitchFamily="24" charset="-128"/>
                <a:cs typeface="ＭＳ Ｐゴシック" pitchFamily="24" charset="-128"/>
              </a:rPr>
              <a:t>Arrays can be split along any dimension</a:t>
            </a:r>
          </a:p>
          <a:p>
            <a:pPr lvl="2"/>
            <a:r>
              <a:rPr lang="en-US" dirty="0">
                <a:solidFill>
                  <a:prstClr val="black"/>
                </a:solidFill>
                <a:ea typeface="ＭＳ Ｐゴシック" pitchFamily="24" charset="-128"/>
                <a:cs typeface="ＭＳ Ｐゴシック" pitchFamily="24" charset="-128"/>
              </a:rPr>
              <a:t>If none is specified dimension zero is assumed</a:t>
            </a:r>
          </a:p>
          <a:p>
            <a:pPr lvl="2"/>
            <a:r>
              <a:rPr lang="en-US" dirty="0">
                <a:solidFill>
                  <a:prstClr val="black"/>
                </a:solidFill>
                <a:ea typeface="ＭＳ Ｐゴシック" pitchFamily="24" charset="-128"/>
                <a:cs typeface="ＭＳ Ｐゴシック" pitchFamily="24" charset="-128"/>
              </a:rPr>
              <a:t>Dimension zero means all dimensions</a:t>
            </a:r>
          </a:p>
          <a:p>
            <a:pPr lvl="1"/>
            <a:r>
              <a:rPr lang="en-US" dirty="0">
                <a:solidFill>
                  <a:prstClr val="black"/>
                </a:solidFill>
                <a:ea typeface="ＭＳ Ｐゴシック" pitchFamily="24" charset="-128"/>
                <a:cs typeface="ＭＳ Ｐゴシック" pitchFamily="24" charset="-128"/>
              </a:rPr>
              <a:t>All partitions inherit the same resource target</a:t>
            </a:r>
          </a:p>
          <a:p>
            <a:pPr lvl="2"/>
            <a:r>
              <a:rPr lang="en-US" dirty="0">
                <a:solidFill>
                  <a:prstClr val="black"/>
                </a:solidFill>
                <a:ea typeface="ＭＳ Ｐゴシック" pitchFamily="24" charset="-128"/>
                <a:cs typeface="ＭＳ Ｐゴシック" pitchFamily="24" charset="-128"/>
              </a:rPr>
              <a:t>That is, whatever RAM is specified as the resource target</a:t>
            </a:r>
          </a:p>
          <a:p>
            <a:pPr lvl="2"/>
            <a:r>
              <a:rPr lang="en-US" dirty="0">
                <a:solidFill>
                  <a:prstClr val="black"/>
                </a:solidFill>
                <a:ea typeface="ＭＳ Ｐゴシック" pitchFamily="24" charset="-128"/>
                <a:cs typeface="ＭＳ Ｐゴシック" pitchFamily="24" charset="-128"/>
              </a:rPr>
              <a:t>Except of course “complete”</a:t>
            </a:r>
          </a:p>
          <a:p>
            <a:pPr lvl="2"/>
            <a:endParaRPr lang="en-US" dirty="0"/>
          </a:p>
          <a:p>
            <a:endParaRPr lang="en-US" dirty="0"/>
          </a:p>
        </p:txBody>
      </p:sp>
      <p:sp>
        <p:nvSpPr>
          <p:cNvPr id="48" name="Slide Number Placeholder 4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68</a:t>
            </a:fld>
            <a:endParaRPr lang="en-US" dirty="0"/>
          </a:p>
        </p:txBody>
      </p:sp>
      <p:pic>
        <p:nvPicPr>
          <p:cNvPr id="92162" name="Picture 2"/>
          <p:cNvPicPr>
            <a:picLocks noChangeAspect="1" noChangeArrowheads="1"/>
          </p:cNvPicPr>
          <p:nvPr/>
        </p:nvPicPr>
        <p:blipFill>
          <a:blip r:embed="rId2"/>
          <a:srcRect/>
          <a:stretch>
            <a:fillRect/>
          </a:stretch>
        </p:blipFill>
        <p:spPr bwMode="auto">
          <a:xfrm>
            <a:off x="5012954" y="3954626"/>
            <a:ext cx="6934200" cy="2271713"/>
          </a:xfrm>
          <a:prstGeom prst="rect">
            <a:avLst/>
          </a:prstGeom>
          <a:noFill/>
          <a:ln w="9525">
            <a:noFill/>
            <a:miter lim="800000"/>
            <a:headEnd/>
            <a:tailEnd/>
          </a:ln>
        </p:spPr>
      </p:pic>
      <p:pic>
        <p:nvPicPr>
          <p:cNvPr id="4" name="Picture 3">
            <a:extLst>
              <a:ext uri="{FF2B5EF4-FFF2-40B4-BE49-F238E27FC236}">
                <a16:creationId xmlns:a16="http://schemas.microsoft.com/office/drawing/2014/main" id="{98559C8B-24D6-44B8-A8E0-FB274DA8D76B}"/>
              </a:ext>
            </a:extLst>
          </p:cNvPr>
          <p:cNvPicPr>
            <a:picLocks noChangeAspect="1"/>
          </p:cNvPicPr>
          <p:nvPr/>
        </p:nvPicPr>
        <p:blipFill>
          <a:blip r:embed="rId3"/>
          <a:stretch>
            <a:fillRect/>
          </a:stretch>
        </p:blipFill>
        <p:spPr>
          <a:xfrm>
            <a:off x="9122908" y="1327152"/>
            <a:ext cx="2540487" cy="2502342"/>
          </a:xfrm>
          <a:prstGeom prst="rect">
            <a:avLst/>
          </a:prstGeom>
        </p:spPr>
      </p:pic>
    </p:spTree>
    <p:extLst>
      <p:ext uri="{BB962C8B-B14F-4D97-AF65-F5344CB8AC3E}">
        <p14:creationId xmlns:p14="http://schemas.microsoft.com/office/powerpoint/2010/main" val="16544910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Configuring Array Partitioning</a:t>
            </a:r>
          </a:p>
        </p:txBody>
      </p:sp>
      <p:sp>
        <p:nvSpPr>
          <p:cNvPr id="3" name="Content Placeholder 2"/>
          <p:cNvSpPr>
            <a:spLocks noGrp="1"/>
          </p:cNvSpPr>
          <p:nvPr>
            <p:ph idx="1"/>
          </p:nvPr>
        </p:nvSpPr>
        <p:spPr/>
        <p:txBody>
          <a:bodyPr>
            <a:noAutofit/>
          </a:bodyPr>
          <a:lstStyle/>
          <a:p>
            <a:r>
              <a:rPr lang="en-US" sz="1800" dirty="0"/>
              <a:t>Vitis HLS can automatically partition arrays to improve throughput</a:t>
            </a:r>
          </a:p>
          <a:p>
            <a:pPr lvl="1"/>
            <a:r>
              <a:rPr lang="en-US" sz="1600" dirty="0"/>
              <a:t>This is controlled via the array configuration command</a:t>
            </a:r>
          </a:p>
          <a:p>
            <a:pPr lvl="1"/>
            <a:r>
              <a:rPr lang="en-US" sz="1600" dirty="0"/>
              <a:t>Enable mode throughput_driven</a:t>
            </a:r>
          </a:p>
          <a:p>
            <a:r>
              <a:rPr lang="en-US" sz="1800" dirty="0"/>
              <a:t>Auto-partition arrays with constant indexing</a:t>
            </a:r>
          </a:p>
          <a:p>
            <a:pPr lvl="1"/>
            <a:r>
              <a:rPr lang="en-US" sz="1600" dirty="0"/>
              <a:t>When the array index is not a variable</a:t>
            </a:r>
          </a:p>
          <a:p>
            <a:pPr lvl="1"/>
            <a:r>
              <a:rPr lang="en-US" sz="1600" dirty="0"/>
              <a:t>Arrays below the threshold are auto-partitioned</a:t>
            </a:r>
          </a:p>
          <a:p>
            <a:pPr lvl="1"/>
            <a:r>
              <a:rPr lang="en-US" sz="1600" dirty="0"/>
              <a:t>Set the threshold using option </a:t>
            </a:r>
            <a:r>
              <a:rPr lang="en-US" sz="1600" dirty="0" err="1"/>
              <a:t>elem_count_limit</a:t>
            </a:r>
            <a:endParaRPr lang="en-US" sz="1600" dirty="0"/>
          </a:p>
        </p:txBody>
      </p:sp>
      <p:sp>
        <p:nvSpPr>
          <p:cNvPr id="8" name="Slide Number Placeholder 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69</a:t>
            </a:fld>
            <a:endParaRPr lang="en-US" dirty="0"/>
          </a:p>
        </p:txBody>
      </p:sp>
      <p:pic>
        <p:nvPicPr>
          <p:cNvPr id="6" name="图片 5" descr="图形用户界面, 应用程序&#10;&#10;描述已自动生成">
            <a:extLst>
              <a:ext uri="{FF2B5EF4-FFF2-40B4-BE49-F238E27FC236}">
                <a16:creationId xmlns:a16="http://schemas.microsoft.com/office/drawing/2014/main" id="{7770D4E0-C116-4611-9F28-248F22A93678}"/>
              </a:ext>
            </a:extLst>
          </p:cNvPr>
          <p:cNvPicPr>
            <a:picLocks noChangeAspect="1"/>
          </p:cNvPicPr>
          <p:nvPr/>
        </p:nvPicPr>
        <p:blipFill>
          <a:blip r:embed="rId2"/>
          <a:stretch>
            <a:fillRect/>
          </a:stretch>
        </p:blipFill>
        <p:spPr>
          <a:xfrm>
            <a:off x="3326680" y="4231998"/>
            <a:ext cx="5777345" cy="13716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Configuring Array Partitioning</a:t>
            </a:r>
          </a:p>
        </p:txBody>
      </p:sp>
      <p:sp>
        <p:nvSpPr>
          <p:cNvPr id="3" name="Content Placeholder 2"/>
          <p:cNvSpPr>
            <a:spLocks noGrp="1"/>
          </p:cNvSpPr>
          <p:nvPr>
            <p:ph idx="1"/>
          </p:nvPr>
        </p:nvSpPr>
        <p:spPr/>
        <p:txBody>
          <a:bodyPr>
            <a:noAutofit/>
          </a:bodyPr>
          <a:lstStyle/>
          <a:p>
            <a:r>
              <a:rPr lang="en-US" sz="1800" dirty="0" err="1"/>
              <a:t>Vivado</a:t>
            </a:r>
            <a:r>
              <a:rPr lang="en-US" sz="1800" dirty="0"/>
              <a:t> HLS can automatically partition arrays to improve throughput</a:t>
            </a:r>
          </a:p>
          <a:p>
            <a:pPr lvl="1"/>
            <a:r>
              <a:rPr lang="en-US" sz="1600" dirty="0"/>
              <a:t>This is controlled via the array configuration command</a:t>
            </a:r>
          </a:p>
          <a:p>
            <a:pPr lvl="1"/>
            <a:r>
              <a:rPr lang="en-US" sz="1600" dirty="0"/>
              <a:t>Enable mode throughput_driven</a:t>
            </a:r>
          </a:p>
          <a:p>
            <a:r>
              <a:rPr lang="en-US" sz="1800" dirty="0"/>
              <a:t>Auto-partition arrays with constant indexing</a:t>
            </a:r>
          </a:p>
          <a:p>
            <a:pPr lvl="1"/>
            <a:r>
              <a:rPr lang="en-US" sz="1600" dirty="0"/>
              <a:t>When the array index is not a variable</a:t>
            </a:r>
          </a:p>
          <a:p>
            <a:pPr lvl="1"/>
            <a:r>
              <a:rPr lang="en-US" sz="1600" dirty="0"/>
              <a:t>Arrays below the threshold are auto-partitioned</a:t>
            </a:r>
          </a:p>
          <a:p>
            <a:pPr lvl="1"/>
            <a:r>
              <a:rPr lang="en-US" sz="1600" dirty="0"/>
              <a:t>Set the threshold using option elem_count_limit</a:t>
            </a:r>
          </a:p>
          <a:p>
            <a:r>
              <a:rPr lang="en-US" sz="1800" dirty="0"/>
              <a:t>Partition all arrays in the design</a:t>
            </a:r>
          </a:p>
          <a:p>
            <a:pPr lvl="1"/>
            <a:r>
              <a:rPr lang="en-US" sz="1600" dirty="0"/>
              <a:t>Select option scalarize_all</a:t>
            </a:r>
          </a:p>
          <a:p>
            <a:r>
              <a:rPr lang="en-US" sz="1800" dirty="0"/>
              <a:t>Include all arrays in partitioning</a:t>
            </a:r>
          </a:p>
          <a:p>
            <a:pPr lvl="1"/>
            <a:r>
              <a:rPr lang="en-US" sz="1600" dirty="0"/>
              <a:t>The include_ports option will include any arrays on the IO interface when partitioning is performed</a:t>
            </a:r>
          </a:p>
          <a:p>
            <a:pPr lvl="2"/>
            <a:r>
              <a:rPr lang="en-US" sz="1400" dirty="0"/>
              <a:t>Partitioning these arrays will result in multiple ports and change the interface</a:t>
            </a:r>
          </a:p>
          <a:p>
            <a:pPr lvl="2"/>
            <a:r>
              <a:rPr lang="en-US" sz="1400" dirty="0"/>
              <a:t>This may however improve throughput</a:t>
            </a:r>
          </a:p>
          <a:p>
            <a:pPr lvl="1"/>
            <a:r>
              <a:rPr lang="en-US" sz="1600" dirty="0"/>
              <a:t>Any arrays defined as a global can be included in the partitioning by selecting option include_extern_globals</a:t>
            </a:r>
          </a:p>
          <a:p>
            <a:pPr lvl="2"/>
            <a:r>
              <a:rPr lang="en-US" sz="1400" dirty="0"/>
              <a:t>By default, global arrays are not partitioned</a:t>
            </a:r>
          </a:p>
        </p:txBody>
      </p:sp>
      <p:sp>
        <p:nvSpPr>
          <p:cNvPr id="8" name="Slide Number Placeholder 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70</a:t>
            </a:fld>
            <a:endParaRPr lang="en-US" dirty="0"/>
          </a:p>
        </p:txBody>
      </p:sp>
      <p:pic>
        <p:nvPicPr>
          <p:cNvPr id="4" name="Picture 3">
            <a:extLst>
              <a:ext uri="{FF2B5EF4-FFF2-40B4-BE49-F238E27FC236}">
                <a16:creationId xmlns:a16="http://schemas.microsoft.com/office/drawing/2014/main" id="{700E40DE-685D-446C-AD72-9A08AA35E85E}"/>
              </a:ext>
            </a:extLst>
          </p:cNvPr>
          <p:cNvPicPr>
            <a:picLocks noChangeAspect="1"/>
          </p:cNvPicPr>
          <p:nvPr/>
        </p:nvPicPr>
        <p:blipFill>
          <a:blip r:embed="rId2"/>
          <a:stretch>
            <a:fillRect/>
          </a:stretch>
        </p:blipFill>
        <p:spPr>
          <a:xfrm>
            <a:off x="7235440" y="1916265"/>
            <a:ext cx="3810164" cy="2200564"/>
          </a:xfrm>
          <a:prstGeom prst="rect">
            <a:avLst/>
          </a:prstGeom>
        </p:spPr>
      </p:pic>
    </p:spTree>
    <p:extLst>
      <p:ext uri="{BB962C8B-B14F-4D97-AF65-F5344CB8AC3E}">
        <p14:creationId xmlns:p14="http://schemas.microsoft.com/office/powerpoint/2010/main" val="30879660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91" name="Title 1"/>
          <p:cNvSpPr>
            <a:spLocks noGrp="1"/>
          </p:cNvSpPr>
          <p:nvPr>
            <p:ph type="title"/>
          </p:nvPr>
        </p:nvSpPr>
        <p:spPr/>
        <p:txBody>
          <a:bodyPr/>
          <a:lstStyle/>
          <a:p>
            <a:pPr algn="l" eaLnBrk="1" hangingPunct="1"/>
            <a:r>
              <a:rPr lang="en-US" sz="2800" dirty="0"/>
              <a:t>Array Dimensions</a:t>
            </a:r>
          </a:p>
        </p:txBody>
      </p:sp>
      <p:sp>
        <p:nvSpPr>
          <p:cNvPr id="75778" name="Content Placeholder 2"/>
          <p:cNvSpPr>
            <a:spLocks noGrp="1"/>
          </p:cNvSpPr>
          <p:nvPr>
            <p:ph idx="1"/>
          </p:nvPr>
        </p:nvSpPr>
        <p:spPr/>
        <p:txBody>
          <a:bodyPr/>
          <a:lstStyle/>
          <a:p>
            <a:pPr eaLnBrk="1" hangingPunct="1"/>
            <a:r>
              <a:rPr lang="en-US" sz="2000" b="1" dirty="0"/>
              <a:t>The array options can be performed on dimensions of the array</a:t>
            </a:r>
          </a:p>
          <a:p>
            <a:pPr eaLnBrk="1" hangingPunct="1"/>
            <a:endParaRPr lang="en-US" sz="2000" b="1" dirty="0"/>
          </a:p>
          <a:p>
            <a:pPr eaLnBrk="1" hangingPunct="1"/>
            <a:endParaRPr lang="en-US" sz="2000" b="1" dirty="0"/>
          </a:p>
          <a:p>
            <a:pPr eaLnBrk="1" hangingPunct="1">
              <a:buFont typeface="Arial" charset="0"/>
              <a:buNone/>
            </a:pPr>
            <a:endParaRPr lang="en-US" sz="2000" b="1" dirty="0"/>
          </a:p>
          <a:p>
            <a:pPr eaLnBrk="1" hangingPunct="1"/>
            <a:r>
              <a:rPr lang="en-US" sz="2000" b="1" dirty="0"/>
              <a:t>Examples</a:t>
            </a:r>
          </a:p>
          <a:p>
            <a:pPr eaLnBrk="1" hangingPunct="1">
              <a:buFont typeface="Arial" charset="0"/>
              <a:buNone/>
            </a:pPr>
            <a:endParaRPr lang="en-US" sz="2000" b="1" dirty="0">
              <a:solidFill>
                <a:srgbClr val="008CA8"/>
              </a:solidFill>
            </a:endParaRPr>
          </a:p>
        </p:txBody>
      </p:sp>
      <p:sp>
        <p:nvSpPr>
          <p:cNvPr id="28" name="Slide Number Placeholder 2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71</a:t>
            </a:fld>
            <a:endParaRPr lang="en-US" dirty="0"/>
          </a:p>
        </p:txBody>
      </p:sp>
      <p:sp>
        <p:nvSpPr>
          <p:cNvPr id="75795" name="TextBox 31"/>
          <p:cNvSpPr txBox="1">
            <a:spLocks noChangeArrowheads="1"/>
          </p:cNvSpPr>
          <p:nvPr/>
        </p:nvSpPr>
        <p:spPr bwMode="auto">
          <a:xfrm>
            <a:off x="873427" y="3967171"/>
            <a:ext cx="3959738" cy="307777"/>
          </a:xfrm>
          <a:prstGeom prst="rect">
            <a:avLst/>
          </a:prstGeom>
          <a:noFill/>
          <a:ln w="9525">
            <a:noFill/>
            <a:miter lim="800000"/>
            <a:headEnd/>
            <a:tailEnd/>
          </a:ln>
        </p:spPr>
        <p:txBody>
          <a:bodyPr wrap="none">
            <a:spAutoFit/>
          </a:bodyPr>
          <a:lstStyle/>
          <a:p>
            <a:pPr defTabSz="457200"/>
            <a:r>
              <a:rPr lang="en-US" sz="1400" dirty="0" err="1">
                <a:solidFill>
                  <a:prstClr val="black"/>
                </a:solidFill>
                <a:ea typeface="ＭＳ Ｐゴシック" pitchFamily="34" charset="-128"/>
                <a:cs typeface="Arial" charset="0"/>
              </a:rPr>
              <a:t>my_array</a:t>
            </a:r>
            <a:r>
              <a:rPr lang="en-US" sz="1400" dirty="0">
                <a:solidFill>
                  <a:prstClr val="black"/>
                </a:solidFill>
                <a:ea typeface="ＭＳ Ｐゴシック" pitchFamily="34" charset="-128"/>
                <a:cs typeface="Arial" charset="0"/>
              </a:rPr>
              <a:t>[10][6][4]  </a:t>
            </a:r>
            <a:r>
              <a:rPr lang="en-US" sz="1400" dirty="0">
                <a:solidFill>
                  <a:prstClr val="black"/>
                </a:solidFill>
                <a:ea typeface="ＭＳ Ｐゴシック" pitchFamily="34" charset="-128"/>
                <a:cs typeface="Arial" charset="0"/>
                <a:sym typeface="Wingdings" pitchFamily="-106" charset="2"/>
              </a:rPr>
              <a:t> partition dimension 3   </a:t>
            </a:r>
          </a:p>
        </p:txBody>
      </p:sp>
      <p:sp>
        <p:nvSpPr>
          <p:cNvPr id="75796" name="TextBox 32"/>
          <p:cNvSpPr txBox="1">
            <a:spLocks noChangeArrowheads="1"/>
          </p:cNvSpPr>
          <p:nvPr/>
        </p:nvSpPr>
        <p:spPr bwMode="auto">
          <a:xfrm>
            <a:off x="4684251" y="3646497"/>
            <a:ext cx="1625766" cy="954107"/>
          </a:xfrm>
          <a:prstGeom prst="rect">
            <a:avLst/>
          </a:prstGeom>
          <a:noFill/>
          <a:ln w="9525">
            <a:noFill/>
            <a:miter lim="800000"/>
            <a:headEnd/>
            <a:tailEnd/>
          </a:ln>
        </p:spPr>
        <p:txBody>
          <a:bodyPr wrap="none">
            <a:spAutoFit/>
          </a:bodyPr>
          <a:lstStyle/>
          <a:p>
            <a:pPr defTabSz="457200"/>
            <a:r>
              <a:rPr lang="en-US" sz="1400" dirty="0">
                <a:solidFill>
                  <a:prstClr val="black"/>
                </a:solidFill>
                <a:ea typeface="ＭＳ Ｐゴシック" pitchFamily="34" charset="-128"/>
                <a:cs typeface="Arial" charset="0"/>
              </a:rPr>
              <a:t>my_array_0[10][6]</a:t>
            </a:r>
          </a:p>
          <a:p>
            <a:pPr defTabSz="457200"/>
            <a:r>
              <a:rPr lang="en-US" sz="1400" dirty="0">
                <a:solidFill>
                  <a:prstClr val="black"/>
                </a:solidFill>
                <a:ea typeface="ＭＳ Ｐゴシック" pitchFamily="34" charset="-128"/>
                <a:cs typeface="Arial" charset="0"/>
              </a:rPr>
              <a:t>my_array_1[10][6]</a:t>
            </a:r>
          </a:p>
          <a:p>
            <a:pPr defTabSz="457200"/>
            <a:r>
              <a:rPr lang="en-US" sz="1400" dirty="0">
                <a:solidFill>
                  <a:prstClr val="black"/>
                </a:solidFill>
                <a:ea typeface="ＭＳ Ｐゴシック" pitchFamily="34" charset="-128"/>
                <a:cs typeface="Arial" charset="0"/>
              </a:rPr>
              <a:t>my_array_2[10][6]</a:t>
            </a:r>
          </a:p>
          <a:p>
            <a:pPr defTabSz="457200"/>
            <a:r>
              <a:rPr lang="en-US" sz="1400" dirty="0">
                <a:solidFill>
                  <a:prstClr val="black"/>
                </a:solidFill>
                <a:ea typeface="ＭＳ Ｐゴシック" pitchFamily="34" charset="-128"/>
                <a:cs typeface="Arial" charset="0"/>
              </a:rPr>
              <a:t>my_array_3[10][6]</a:t>
            </a:r>
          </a:p>
        </p:txBody>
      </p:sp>
      <p:sp>
        <p:nvSpPr>
          <p:cNvPr id="75797" name="TextBox 33"/>
          <p:cNvSpPr txBox="1">
            <a:spLocks noChangeArrowheads="1"/>
          </p:cNvSpPr>
          <p:nvPr/>
        </p:nvSpPr>
        <p:spPr bwMode="auto">
          <a:xfrm>
            <a:off x="873552" y="4856349"/>
            <a:ext cx="6096541" cy="307777"/>
          </a:xfrm>
          <a:prstGeom prst="rect">
            <a:avLst/>
          </a:prstGeom>
          <a:noFill/>
          <a:ln w="9525">
            <a:noFill/>
            <a:miter lim="800000"/>
            <a:headEnd/>
            <a:tailEnd/>
          </a:ln>
        </p:spPr>
        <p:txBody>
          <a:bodyPr wrap="none">
            <a:spAutoFit/>
          </a:bodyPr>
          <a:lstStyle/>
          <a:p>
            <a:pPr defTabSz="457200"/>
            <a:r>
              <a:rPr lang="en-US" sz="1400" dirty="0" err="1">
                <a:solidFill>
                  <a:prstClr val="black"/>
                </a:solidFill>
                <a:ea typeface="ＭＳ Ｐゴシック" pitchFamily="34" charset="-128"/>
                <a:cs typeface="Arial" charset="0"/>
              </a:rPr>
              <a:t>my_array</a:t>
            </a:r>
            <a:r>
              <a:rPr lang="en-US" sz="1400" dirty="0">
                <a:solidFill>
                  <a:prstClr val="black"/>
                </a:solidFill>
                <a:ea typeface="ＭＳ Ｐゴシック" pitchFamily="34" charset="-128"/>
                <a:cs typeface="Arial" charset="0"/>
              </a:rPr>
              <a:t>[10][6][4]  </a:t>
            </a:r>
            <a:r>
              <a:rPr lang="en-US" sz="1400" dirty="0">
                <a:solidFill>
                  <a:prstClr val="black"/>
                </a:solidFill>
                <a:ea typeface="ＭＳ Ｐゴシック" pitchFamily="34" charset="-128"/>
                <a:cs typeface="Arial" charset="0"/>
                <a:sym typeface="Wingdings" pitchFamily="-106" charset="2"/>
              </a:rPr>
              <a:t> partition dimension 1                                             </a:t>
            </a:r>
          </a:p>
        </p:txBody>
      </p:sp>
      <p:sp>
        <p:nvSpPr>
          <p:cNvPr id="75798" name="TextBox 34"/>
          <p:cNvSpPr txBox="1">
            <a:spLocks noChangeArrowheads="1"/>
          </p:cNvSpPr>
          <p:nvPr/>
        </p:nvSpPr>
        <p:spPr bwMode="auto">
          <a:xfrm>
            <a:off x="8178261" y="3908611"/>
            <a:ext cx="1526380" cy="2246769"/>
          </a:xfrm>
          <a:prstGeom prst="rect">
            <a:avLst/>
          </a:prstGeom>
          <a:noFill/>
          <a:ln w="9525">
            <a:noFill/>
            <a:miter lim="800000"/>
            <a:headEnd/>
            <a:tailEnd/>
          </a:ln>
        </p:spPr>
        <p:txBody>
          <a:bodyPr wrap="none">
            <a:spAutoFit/>
          </a:bodyPr>
          <a:lstStyle/>
          <a:p>
            <a:pPr defTabSz="457200"/>
            <a:r>
              <a:rPr lang="en-US" sz="1400" dirty="0">
                <a:solidFill>
                  <a:prstClr val="black"/>
                </a:solidFill>
                <a:ea typeface="ＭＳ Ｐゴシック" pitchFamily="34" charset="-128"/>
                <a:cs typeface="Arial" charset="0"/>
              </a:rPr>
              <a:t>my_array_0[6][4]</a:t>
            </a:r>
          </a:p>
          <a:p>
            <a:pPr defTabSz="457200"/>
            <a:r>
              <a:rPr lang="en-US" sz="1400" dirty="0">
                <a:solidFill>
                  <a:prstClr val="black"/>
                </a:solidFill>
                <a:ea typeface="ＭＳ Ｐゴシック" pitchFamily="34" charset="-128"/>
                <a:cs typeface="Arial" charset="0"/>
              </a:rPr>
              <a:t>my_array_1[6][4]</a:t>
            </a:r>
          </a:p>
          <a:p>
            <a:pPr defTabSz="457200"/>
            <a:r>
              <a:rPr lang="en-US" sz="1400" dirty="0">
                <a:solidFill>
                  <a:prstClr val="black"/>
                </a:solidFill>
                <a:ea typeface="ＭＳ Ｐゴシック" pitchFamily="34" charset="-128"/>
                <a:cs typeface="Arial" charset="0"/>
              </a:rPr>
              <a:t>my_array_2[6][4]</a:t>
            </a:r>
          </a:p>
          <a:p>
            <a:pPr defTabSz="457200"/>
            <a:r>
              <a:rPr lang="en-US" sz="1400" dirty="0">
                <a:solidFill>
                  <a:prstClr val="black"/>
                </a:solidFill>
                <a:ea typeface="ＭＳ Ｐゴシック" pitchFamily="34" charset="-128"/>
                <a:cs typeface="Arial" charset="0"/>
              </a:rPr>
              <a:t>my_array_3[6][4]</a:t>
            </a:r>
          </a:p>
          <a:p>
            <a:pPr defTabSz="457200"/>
            <a:r>
              <a:rPr lang="en-US" sz="1400" dirty="0">
                <a:solidFill>
                  <a:prstClr val="black"/>
                </a:solidFill>
                <a:ea typeface="ＭＳ Ｐゴシック" pitchFamily="34" charset="-128"/>
                <a:cs typeface="Arial" charset="0"/>
              </a:rPr>
              <a:t>my_array_4[6][4]</a:t>
            </a:r>
          </a:p>
          <a:p>
            <a:pPr defTabSz="457200"/>
            <a:r>
              <a:rPr lang="en-US" sz="1400" dirty="0">
                <a:solidFill>
                  <a:prstClr val="black"/>
                </a:solidFill>
                <a:ea typeface="ＭＳ Ｐゴシック" pitchFamily="34" charset="-128"/>
                <a:cs typeface="Arial" charset="0"/>
              </a:rPr>
              <a:t>my_array_5[6][4]</a:t>
            </a:r>
          </a:p>
          <a:p>
            <a:pPr defTabSz="457200"/>
            <a:r>
              <a:rPr lang="en-US" sz="1400" dirty="0">
                <a:solidFill>
                  <a:prstClr val="black"/>
                </a:solidFill>
                <a:ea typeface="ＭＳ Ｐゴシック" pitchFamily="34" charset="-128"/>
                <a:cs typeface="Arial" charset="0"/>
              </a:rPr>
              <a:t>my_array_6[6][4]</a:t>
            </a:r>
          </a:p>
          <a:p>
            <a:pPr defTabSz="457200"/>
            <a:r>
              <a:rPr lang="en-US" sz="1400" dirty="0">
                <a:solidFill>
                  <a:prstClr val="black"/>
                </a:solidFill>
                <a:ea typeface="ＭＳ Ｐゴシック" pitchFamily="34" charset="-128"/>
                <a:cs typeface="Arial" charset="0"/>
              </a:rPr>
              <a:t>my_array_7[6][4]</a:t>
            </a:r>
          </a:p>
          <a:p>
            <a:pPr defTabSz="457200"/>
            <a:r>
              <a:rPr lang="en-US" sz="1400" dirty="0">
                <a:solidFill>
                  <a:prstClr val="black"/>
                </a:solidFill>
                <a:ea typeface="ＭＳ Ｐゴシック" pitchFamily="34" charset="-128"/>
                <a:cs typeface="Arial" charset="0"/>
              </a:rPr>
              <a:t>my_array_8[6][4]</a:t>
            </a:r>
          </a:p>
          <a:p>
            <a:pPr defTabSz="457200"/>
            <a:r>
              <a:rPr lang="en-US" sz="1400" dirty="0">
                <a:solidFill>
                  <a:prstClr val="black"/>
                </a:solidFill>
                <a:ea typeface="ＭＳ Ｐゴシック" pitchFamily="34" charset="-128"/>
                <a:cs typeface="Arial" charset="0"/>
              </a:rPr>
              <a:t>my_array_9[6][4]</a:t>
            </a:r>
          </a:p>
        </p:txBody>
      </p:sp>
      <p:cxnSp>
        <p:nvCxnSpPr>
          <p:cNvPr id="137238" name="Straight Connector 36"/>
          <p:cNvCxnSpPr>
            <a:cxnSpLocks noChangeShapeType="1"/>
          </p:cNvCxnSpPr>
          <p:nvPr/>
        </p:nvCxnSpPr>
        <p:spPr bwMode="auto">
          <a:xfrm flipH="1">
            <a:off x="4455680" y="5003800"/>
            <a:ext cx="2046283" cy="0"/>
          </a:xfrm>
          <a:prstGeom prst="line">
            <a:avLst/>
          </a:prstGeom>
          <a:noFill/>
          <a:ln w="25400">
            <a:solidFill>
              <a:schemeClr val="tx1"/>
            </a:solidFill>
            <a:round/>
            <a:headEnd/>
            <a:tailEnd/>
          </a:ln>
          <a:effectLst>
            <a:outerShdw blurRad="63500" dist="20000" dir="5400000" rotWithShape="0">
              <a:srgbClr val="000000">
                <a:alpha val="37999"/>
              </a:srgbClr>
            </a:outerShdw>
          </a:effectLst>
        </p:spPr>
      </p:cxnSp>
      <p:sp>
        <p:nvSpPr>
          <p:cNvPr id="75800" name="TextBox 37"/>
          <p:cNvSpPr txBox="1">
            <a:spLocks noChangeArrowheads="1"/>
          </p:cNvSpPr>
          <p:nvPr/>
        </p:nvSpPr>
        <p:spPr bwMode="auto">
          <a:xfrm>
            <a:off x="873552" y="5952131"/>
            <a:ext cx="6720109" cy="307777"/>
          </a:xfrm>
          <a:prstGeom prst="rect">
            <a:avLst/>
          </a:prstGeom>
          <a:noFill/>
          <a:ln w="9525">
            <a:noFill/>
            <a:miter lim="800000"/>
            <a:headEnd/>
            <a:tailEnd/>
          </a:ln>
        </p:spPr>
        <p:txBody>
          <a:bodyPr wrap="none">
            <a:spAutoFit/>
          </a:bodyPr>
          <a:lstStyle/>
          <a:p>
            <a:pPr defTabSz="457200"/>
            <a:r>
              <a:rPr lang="en-US" sz="1400" dirty="0" err="1">
                <a:solidFill>
                  <a:prstClr val="black"/>
                </a:solidFill>
                <a:ea typeface="ＭＳ Ｐゴシック" pitchFamily="34" charset="-128"/>
                <a:cs typeface="Arial" charset="0"/>
              </a:rPr>
              <a:t>my_array</a:t>
            </a:r>
            <a:r>
              <a:rPr lang="en-US" sz="1400" dirty="0">
                <a:solidFill>
                  <a:prstClr val="black"/>
                </a:solidFill>
                <a:ea typeface="ＭＳ Ｐゴシック" pitchFamily="34" charset="-128"/>
                <a:cs typeface="Arial" charset="0"/>
              </a:rPr>
              <a:t>[10][6][4]  </a:t>
            </a:r>
            <a:r>
              <a:rPr lang="en-US" sz="1400" dirty="0">
                <a:solidFill>
                  <a:prstClr val="black"/>
                </a:solidFill>
                <a:ea typeface="ＭＳ Ｐゴシック" pitchFamily="34" charset="-128"/>
                <a:cs typeface="Arial" charset="0"/>
                <a:sym typeface="Wingdings" pitchFamily="-106" charset="2"/>
              </a:rPr>
              <a:t> partition dimension 0    10x6x4 = 240 individual registers  </a:t>
            </a:r>
          </a:p>
        </p:txBody>
      </p:sp>
      <p:sp>
        <p:nvSpPr>
          <p:cNvPr id="26" name="Rectangle 29">
            <a:extLst>
              <a:ext uri="{FF2B5EF4-FFF2-40B4-BE49-F238E27FC236}">
                <a16:creationId xmlns:a16="http://schemas.microsoft.com/office/drawing/2014/main" id="{DB367CE9-E0AD-4DED-94EB-36D2A3FA5140}"/>
              </a:ext>
            </a:extLst>
          </p:cNvPr>
          <p:cNvSpPr>
            <a:spLocks noChangeArrowheads="1"/>
          </p:cNvSpPr>
          <p:nvPr/>
        </p:nvSpPr>
        <p:spPr bwMode="auto">
          <a:xfrm>
            <a:off x="6608101" y="1981200"/>
            <a:ext cx="4299947" cy="1804988"/>
          </a:xfrm>
          <a:prstGeom prst="rect">
            <a:avLst/>
          </a:prstGeom>
          <a:gradFill rotWithShape="1">
            <a:gsLst>
              <a:gs pos="0">
                <a:srgbClr val="A3C4FF"/>
              </a:gs>
              <a:gs pos="35001">
                <a:srgbClr val="BFD5FF"/>
              </a:gs>
              <a:gs pos="100000">
                <a:srgbClr val="E5EEFF"/>
              </a:gs>
            </a:gsLst>
            <a:lin ang="16200000" scaled="1"/>
          </a:gradFill>
          <a:ln w="9525">
            <a:solidFill>
              <a:srgbClr val="4A7EBB"/>
            </a:solidFill>
            <a:miter lim="800000"/>
            <a:headEnd/>
            <a:tailEnd/>
          </a:ln>
          <a:effectLst>
            <a:outerShdw blurRad="63500" dist="20000" dir="5400000" rotWithShape="0">
              <a:srgbClr val="000000">
                <a:alpha val="37999"/>
              </a:srgbClr>
            </a:outerShdw>
          </a:effectLst>
        </p:spPr>
        <p:txBody>
          <a:bodyPr anchor="ctr"/>
          <a:lstStyle/>
          <a:p>
            <a:pPr algn="ctr" defTabSz="457200" fontAlgn="base">
              <a:spcBef>
                <a:spcPct val="0"/>
              </a:spcBef>
              <a:spcAft>
                <a:spcPct val="0"/>
              </a:spcAft>
            </a:pPr>
            <a:endParaRPr lang="en-US" sz="1400">
              <a:solidFill>
                <a:srgbClr val="000000"/>
              </a:solidFill>
              <a:ea typeface="ＭＳ Ｐゴシック" pitchFamily="34" charset="-128"/>
              <a:cs typeface="Arial" charset="0"/>
            </a:endParaRPr>
          </a:p>
        </p:txBody>
      </p:sp>
      <p:sp>
        <p:nvSpPr>
          <p:cNvPr id="27" name="TextBox 5">
            <a:extLst>
              <a:ext uri="{FF2B5EF4-FFF2-40B4-BE49-F238E27FC236}">
                <a16:creationId xmlns:a16="http://schemas.microsoft.com/office/drawing/2014/main" id="{5BE955E9-0A7A-4988-921A-20999D449AD7}"/>
              </a:ext>
            </a:extLst>
          </p:cNvPr>
          <p:cNvSpPr txBox="1">
            <a:spLocks noChangeArrowheads="1"/>
          </p:cNvSpPr>
          <p:nvPr/>
        </p:nvSpPr>
        <p:spPr bwMode="auto">
          <a:xfrm>
            <a:off x="8013440" y="1992316"/>
            <a:ext cx="1736373" cy="307777"/>
          </a:xfrm>
          <a:prstGeom prst="rect">
            <a:avLst/>
          </a:prstGeom>
          <a:noFill/>
          <a:ln w="9525">
            <a:noFill/>
            <a:miter lim="800000"/>
            <a:headEnd/>
            <a:tailEnd/>
          </a:ln>
        </p:spPr>
        <p:txBody>
          <a:bodyPr wrap="none">
            <a:spAutoFit/>
          </a:bodyPr>
          <a:lstStyle/>
          <a:p>
            <a:pPr defTabSz="457200" fontAlgn="base">
              <a:spcBef>
                <a:spcPct val="0"/>
              </a:spcBef>
              <a:spcAft>
                <a:spcPct val="0"/>
              </a:spcAft>
            </a:pPr>
            <a:r>
              <a:rPr lang="en-US" sz="1400" b="1" dirty="0" err="1">
                <a:solidFill>
                  <a:prstClr val="black"/>
                </a:solidFill>
                <a:ea typeface="ＭＳ Ｐゴシック" pitchFamily="34" charset="-128"/>
                <a:cs typeface="Arial" charset="0"/>
              </a:rPr>
              <a:t>my_array</a:t>
            </a:r>
            <a:r>
              <a:rPr lang="en-US" sz="1400" b="1" dirty="0">
                <a:solidFill>
                  <a:prstClr val="black"/>
                </a:solidFill>
                <a:ea typeface="ＭＳ Ｐゴシック" pitchFamily="34" charset="-128"/>
                <a:cs typeface="Arial" charset="0"/>
              </a:rPr>
              <a:t>[10][6][4]</a:t>
            </a:r>
          </a:p>
        </p:txBody>
      </p:sp>
      <p:cxnSp>
        <p:nvCxnSpPr>
          <p:cNvPr id="29" name="Straight Arrow Connector 9">
            <a:extLst>
              <a:ext uri="{FF2B5EF4-FFF2-40B4-BE49-F238E27FC236}">
                <a16:creationId xmlns:a16="http://schemas.microsoft.com/office/drawing/2014/main" id="{06A953E9-4B6C-42B3-B53C-8EF6E1CEB425}"/>
              </a:ext>
            </a:extLst>
          </p:cNvPr>
          <p:cNvCxnSpPr>
            <a:cxnSpLocks noChangeShapeType="1"/>
          </p:cNvCxnSpPr>
          <p:nvPr/>
        </p:nvCxnSpPr>
        <p:spPr bwMode="auto">
          <a:xfrm flipV="1">
            <a:off x="8963338" y="2300474"/>
            <a:ext cx="0" cy="230187"/>
          </a:xfrm>
          <a:prstGeom prst="straightConnector1">
            <a:avLst/>
          </a:prstGeom>
          <a:noFill/>
          <a:ln w="25400">
            <a:solidFill>
              <a:srgbClr val="008CA8"/>
            </a:solidFill>
            <a:round/>
            <a:headEnd/>
            <a:tailEnd type="arrow" w="med" len="med"/>
          </a:ln>
          <a:effectLst>
            <a:outerShdw blurRad="63500" dist="20000" dir="5400000" rotWithShape="0">
              <a:srgbClr val="000000">
                <a:alpha val="37999"/>
              </a:srgbClr>
            </a:outerShdw>
          </a:effectLst>
        </p:spPr>
      </p:cxnSp>
      <p:sp>
        <p:nvSpPr>
          <p:cNvPr id="30" name="TextBox 11">
            <a:extLst>
              <a:ext uri="{FF2B5EF4-FFF2-40B4-BE49-F238E27FC236}">
                <a16:creationId xmlns:a16="http://schemas.microsoft.com/office/drawing/2014/main" id="{87AA7BF5-ED20-463F-8B27-B1A466CC1BDD}"/>
              </a:ext>
            </a:extLst>
          </p:cNvPr>
          <p:cNvSpPr txBox="1">
            <a:spLocks noChangeArrowheads="1"/>
          </p:cNvSpPr>
          <p:nvPr/>
        </p:nvSpPr>
        <p:spPr bwMode="auto">
          <a:xfrm>
            <a:off x="6864274" y="2406651"/>
            <a:ext cx="970137" cy="600164"/>
          </a:xfrm>
          <a:prstGeom prst="rect">
            <a:avLst/>
          </a:prstGeom>
          <a:noFill/>
          <a:ln w="9525">
            <a:noFill/>
            <a:miter lim="800000"/>
            <a:headEnd/>
            <a:tailEnd/>
          </a:ln>
        </p:spPr>
        <p:txBody>
          <a:bodyPr wrap="none">
            <a:spAutoFit/>
          </a:bodyPr>
          <a:lstStyle/>
          <a:p>
            <a:pPr defTabSz="457200" fontAlgn="base">
              <a:spcBef>
                <a:spcPct val="0"/>
              </a:spcBef>
              <a:spcAft>
                <a:spcPct val="0"/>
              </a:spcAft>
            </a:pPr>
            <a:r>
              <a:rPr lang="en-US" sz="1100">
                <a:solidFill>
                  <a:prstClr val="black"/>
                </a:solidFill>
                <a:ea typeface="ＭＳ Ｐゴシック" pitchFamily="34" charset="-128"/>
                <a:cs typeface="Arial" charset="0"/>
              </a:rPr>
              <a:t>Dimension 1</a:t>
            </a:r>
          </a:p>
          <a:p>
            <a:pPr defTabSz="457200" fontAlgn="base">
              <a:spcBef>
                <a:spcPct val="0"/>
              </a:spcBef>
              <a:spcAft>
                <a:spcPct val="0"/>
              </a:spcAft>
            </a:pPr>
            <a:r>
              <a:rPr lang="en-US" sz="1100">
                <a:solidFill>
                  <a:prstClr val="black"/>
                </a:solidFill>
                <a:ea typeface="ＭＳ Ｐゴシック" pitchFamily="34" charset="-128"/>
                <a:cs typeface="Arial" charset="0"/>
              </a:rPr>
              <a:t>Dimension 2</a:t>
            </a:r>
          </a:p>
          <a:p>
            <a:pPr defTabSz="457200" fontAlgn="base">
              <a:spcBef>
                <a:spcPct val="0"/>
              </a:spcBef>
              <a:spcAft>
                <a:spcPct val="0"/>
              </a:spcAft>
            </a:pPr>
            <a:r>
              <a:rPr lang="en-US" sz="1100">
                <a:solidFill>
                  <a:prstClr val="black"/>
                </a:solidFill>
                <a:ea typeface="ＭＳ Ｐゴシック" pitchFamily="34" charset="-128"/>
                <a:cs typeface="Arial" charset="0"/>
              </a:rPr>
              <a:t>Dimension 3</a:t>
            </a:r>
          </a:p>
        </p:txBody>
      </p:sp>
      <p:cxnSp>
        <p:nvCxnSpPr>
          <p:cNvPr id="31" name="Straight Connector 13">
            <a:extLst>
              <a:ext uri="{FF2B5EF4-FFF2-40B4-BE49-F238E27FC236}">
                <a16:creationId xmlns:a16="http://schemas.microsoft.com/office/drawing/2014/main" id="{A872E2A3-5DE7-4095-BE0E-4FE9EC34BFE9}"/>
              </a:ext>
            </a:extLst>
          </p:cNvPr>
          <p:cNvCxnSpPr>
            <a:cxnSpLocks noChangeShapeType="1"/>
          </p:cNvCxnSpPr>
          <p:nvPr/>
        </p:nvCxnSpPr>
        <p:spPr bwMode="auto">
          <a:xfrm flipH="1">
            <a:off x="8091498" y="2530475"/>
            <a:ext cx="871840" cy="0"/>
          </a:xfrm>
          <a:prstGeom prst="line">
            <a:avLst/>
          </a:prstGeom>
          <a:noFill/>
          <a:ln w="25400">
            <a:solidFill>
              <a:srgbClr val="008CA8"/>
            </a:solidFill>
            <a:round/>
            <a:headEnd/>
            <a:tailEnd/>
          </a:ln>
          <a:effectLst>
            <a:outerShdw blurRad="63500" dist="20000" dir="5400000" rotWithShape="0">
              <a:srgbClr val="000000">
                <a:alpha val="37999"/>
              </a:srgbClr>
            </a:outerShdw>
          </a:effectLst>
        </p:spPr>
      </p:cxnSp>
      <p:cxnSp>
        <p:nvCxnSpPr>
          <p:cNvPr id="32" name="Straight Connector 14">
            <a:extLst>
              <a:ext uri="{FF2B5EF4-FFF2-40B4-BE49-F238E27FC236}">
                <a16:creationId xmlns:a16="http://schemas.microsoft.com/office/drawing/2014/main" id="{D52C0F26-B32D-4D13-AA9D-F467FF43EEE5}"/>
              </a:ext>
            </a:extLst>
          </p:cNvPr>
          <p:cNvCxnSpPr>
            <a:cxnSpLocks noChangeShapeType="1"/>
          </p:cNvCxnSpPr>
          <p:nvPr/>
        </p:nvCxnSpPr>
        <p:spPr bwMode="auto">
          <a:xfrm flipH="1">
            <a:off x="8091500" y="2722563"/>
            <a:ext cx="1229462" cy="0"/>
          </a:xfrm>
          <a:prstGeom prst="line">
            <a:avLst/>
          </a:prstGeom>
          <a:noFill/>
          <a:ln w="25400">
            <a:solidFill>
              <a:srgbClr val="008CA8"/>
            </a:solidFill>
            <a:round/>
            <a:headEnd/>
            <a:tailEnd/>
          </a:ln>
          <a:effectLst>
            <a:outerShdw blurRad="63500" dist="20000" dir="5400000" rotWithShape="0">
              <a:srgbClr val="000000">
                <a:alpha val="37999"/>
              </a:srgbClr>
            </a:outerShdw>
          </a:effectLst>
        </p:spPr>
      </p:cxnSp>
      <p:cxnSp>
        <p:nvCxnSpPr>
          <p:cNvPr id="33" name="Straight Connector 15">
            <a:extLst>
              <a:ext uri="{FF2B5EF4-FFF2-40B4-BE49-F238E27FC236}">
                <a16:creationId xmlns:a16="http://schemas.microsoft.com/office/drawing/2014/main" id="{2E90CC77-42C8-4F97-A911-309BE11339F0}"/>
              </a:ext>
            </a:extLst>
          </p:cNvPr>
          <p:cNvCxnSpPr>
            <a:cxnSpLocks noChangeShapeType="1"/>
          </p:cNvCxnSpPr>
          <p:nvPr/>
        </p:nvCxnSpPr>
        <p:spPr bwMode="auto">
          <a:xfrm flipH="1">
            <a:off x="8091501" y="2914650"/>
            <a:ext cx="1536300" cy="0"/>
          </a:xfrm>
          <a:prstGeom prst="line">
            <a:avLst/>
          </a:prstGeom>
          <a:noFill/>
          <a:ln w="25400">
            <a:solidFill>
              <a:srgbClr val="008CA8"/>
            </a:solidFill>
            <a:round/>
            <a:headEnd/>
            <a:tailEnd/>
          </a:ln>
          <a:effectLst>
            <a:outerShdw blurRad="63500" dist="20000" dir="5400000" rotWithShape="0">
              <a:srgbClr val="000000">
                <a:alpha val="37999"/>
              </a:srgbClr>
            </a:outerShdw>
          </a:effectLst>
        </p:spPr>
      </p:cxnSp>
      <p:cxnSp>
        <p:nvCxnSpPr>
          <p:cNvPr id="34" name="Straight Arrow Connector 16">
            <a:extLst>
              <a:ext uri="{FF2B5EF4-FFF2-40B4-BE49-F238E27FC236}">
                <a16:creationId xmlns:a16="http://schemas.microsoft.com/office/drawing/2014/main" id="{D7139803-035E-486C-93CB-C727797054A3}"/>
              </a:ext>
            </a:extLst>
          </p:cNvPr>
          <p:cNvCxnSpPr>
            <a:cxnSpLocks noChangeShapeType="1"/>
          </p:cNvCxnSpPr>
          <p:nvPr/>
        </p:nvCxnSpPr>
        <p:spPr bwMode="auto">
          <a:xfrm flipV="1">
            <a:off x="9320960" y="2300474"/>
            <a:ext cx="0" cy="422275"/>
          </a:xfrm>
          <a:prstGeom prst="straightConnector1">
            <a:avLst/>
          </a:prstGeom>
          <a:noFill/>
          <a:ln w="25400">
            <a:solidFill>
              <a:srgbClr val="008CA8"/>
            </a:solidFill>
            <a:round/>
            <a:headEnd/>
            <a:tailEnd type="arrow" w="med" len="med"/>
          </a:ln>
          <a:effectLst>
            <a:outerShdw blurRad="63500" dist="20000" dir="5400000" rotWithShape="0">
              <a:srgbClr val="000000">
                <a:alpha val="37999"/>
              </a:srgbClr>
            </a:outerShdw>
          </a:effectLst>
        </p:spPr>
      </p:cxnSp>
      <p:cxnSp>
        <p:nvCxnSpPr>
          <p:cNvPr id="35" name="Straight Arrow Connector 17">
            <a:extLst>
              <a:ext uri="{FF2B5EF4-FFF2-40B4-BE49-F238E27FC236}">
                <a16:creationId xmlns:a16="http://schemas.microsoft.com/office/drawing/2014/main" id="{08F7924A-339A-4A57-8A9E-D3F951014248}"/>
              </a:ext>
            </a:extLst>
          </p:cNvPr>
          <p:cNvCxnSpPr>
            <a:cxnSpLocks noChangeShapeType="1"/>
          </p:cNvCxnSpPr>
          <p:nvPr/>
        </p:nvCxnSpPr>
        <p:spPr bwMode="auto">
          <a:xfrm flipV="1">
            <a:off x="9627798" y="2300288"/>
            <a:ext cx="0" cy="614362"/>
          </a:xfrm>
          <a:prstGeom prst="straightConnector1">
            <a:avLst/>
          </a:prstGeom>
          <a:noFill/>
          <a:ln w="25400">
            <a:solidFill>
              <a:srgbClr val="008CA8"/>
            </a:solidFill>
            <a:round/>
            <a:headEnd/>
            <a:tailEnd type="arrow" w="med" len="med"/>
          </a:ln>
          <a:effectLst>
            <a:outerShdw blurRad="63500" dist="20000" dir="5400000" rotWithShape="0">
              <a:srgbClr val="000000">
                <a:alpha val="37999"/>
              </a:srgbClr>
            </a:outerShdw>
          </a:effectLst>
        </p:spPr>
      </p:cxnSp>
      <p:sp>
        <p:nvSpPr>
          <p:cNvPr id="36" name="Right Brace 24">
            <a:extLst>
              <a:ext uri="{FF2B5EF4-FFF2-40B4-BE49-F238E27FC236}">
                <a16:creationId xmlns:a16="http://schemas.microsoft.com/office/drawing/2014/main" id="{44D7E52A-83E6-41AC-97D6-F40195525E78}"/>
              </a:ext>
            </a:extLst>
          </p:cNvPr>
          <p:cNvSpPr>
            <a:spLocks/>
          </p:cNvSpPr>
          <p:nvPr/>
        </p:nvSpPr>
        <p:spPr bwMode="auto">
          <a:xfrm rot="5400000">
            <a:off x="9243966" y="2555744"/>
            <a:ext cx="153988" cy="1024200"/>
          </a:xfrm>
          <a:prstGeom prst="rightBrace">
            <a:avLst>
              <a:gd name="adj1" fmla="val 8316"/>
              <a:gd name="adj2" fmla="val 50000"/>
            </a:avLst>
          </a:prstGeom>
          <a:noFill/>
          <a:ln w="25400">
            <a:solidFill>
              <a:srgbClr val="000000"/>
            </a:solidFill>
            <a:round/>
            <a:headEnd/>
            <a:tailEnd/>
          </a:ln>
          <a:effectLst>
            <a:outerShdw blurRad="63500" dist="20000" dir="5400000" rotWithShape="0">
              <a:srgbClr val="000000">
                <a:alpha val="37999"/>
              </a:srgbClr>
            </a:outerShdw>
          </a:effectLst>
        </p:spPr>
        <p:txBody>
          <a:bodyPr anchor="ctr"/>
          <a:lstStyle/>
          <a:p>
            <a:pPr algn="ctr" defTabSz="457200" fontAlgn="base">
              <a:spcBef>
                <a:spcPct val="0"/>
              </a:spcBef>
              <a:spcAft>
                <a:spcPct val="0"/>
              </a:spcAft>
              <a:defRPr/>
            </a:pPr>
            <a:endParaRPr lang="en-US" sz="1400" kern="0">
              <a:solidFill>
                <a:prstClr val="black"/>
              </a:solidFill>
              <a:ea typeface="ＭＳ Ｐゴシック" pitchFamily="34" charset="-128"/>
              <a:cs typeface="Arial" charset="0"/>
            </a:endParaRPr>
          </a:p>
        </p:txBody>
      </p:sp>
      <p:cxnSp>
        <p:nvCxnSpPr>
          <p:cNvPr id="37" name="Straight Connector 27">
            <a:extLst>
              <a:ext uri="{FF2B5EF4-FFF2-40B4-BE49-F238E27FC236}">
                <a16:creationId xmlns:a16="http://schemas.microsoft.com/office/drawing/2014/main" id="{3DACC259-41B3-415F-8B30-F9AA98AF7E90}"/>
              </a:ext>
            </a:extLst>
          </p:cNvPr>
          <p:cNvCxnSpPr>
            <a:cxnSpLocks noChangeShapeType="1"/>
          </p:cNvCxnSpPr>
          <p:nvPr/>
        </p:nvCxnSpPr>
        <p:spPr bwMode="auto">
          <a:xfrm flipH="1">
            <a:off x="8144400" y="3222625"/>
            <a:ext cx="1176560" cy="0"/>
          </a:xfrm>
          <a:prstGeom prst="line">
            <a:avLst/>
          </a:prstGeom>
          <a:noFill/>
          <a:ln w="25400">
            <a:solidFill>
              <a:srgbClr val="000000"/>
            </a:solidFill>
            <a:round/>
            <a:headEnd/>
            <a:tailEnd/>
          </a:ln>
          <a:effectLst>
            <a:outerShdw blurRad="63500" dist="20000" dir="5400000" rotWithShape="0">
              <a:srgbClr val="000000">
                <a:alpha val="37999"/>
              </a:srgbClr>
            </a:outerShdw>
          </a:effectLst>
        </p:spPr>
      </p:cxnSp>
      <p:cxnSp>
        <p:nvCxnSpPr>
          <p:cNvPr id="38" name="Straight Connector 40">
            <a:extLst>
              <a:ext uri="{FF2B5EF4-FFF2-40B4-BE49-F238E27FC236}">
                <a16:creationId xmlns:a16="http://schemas.microsoft.com/office/drawing/2014/main" id="{D6E2582A-F30A-4042-BA7A-AD501139652E}"/>
              </a:ext>
            </a:extLst>
          </p:cNvPr>
          <p:cNvCxnSpPr>
            <a:cxnSpLocks noChangeShapeType="1"/>
            <a:stCxn id="36" idx="1"/>
          </p:cNvCxnSpPr>
          <p:nvPr/>
        </p:nvCxnSpPr>
        <p:spPr bwMode="auto">
          <a:xfrm>
            <a:off x="9320960" y="3145024"/>
            <a:ext cx="0" cy="77787"/>
          </a:xfrm>
          <a:prstGeom prst="line">
            <a:avLst/>
          </a:prstGeom>
          <a:noFill/>
          <a:ln w="25400">
            <a:solidFill>
              <a:srgbClr val="000000"/>
            </a:solidFill>
            <a:round/>
            <a:headEnd/>
            <a:tailEnd/>
          </a:ln>
          <a:effectLst>
            <a:outerShdw blurRad="63500" dist="20000" dir="5400000" rotWithShape="0">
              <a:srgbClr val="000000">
                <a:alpha val="37999"/>
              </a:srgbClr>
            </a:outerShdw>
          </a:effectLst>
        </p:spPr>
      </p:cxnSp>
      <p:sp>
        <p:nvSpPr>
          <p:cNvPr id="39" name="TextBox 23">
            <a:extLst>
              <a:ext uri="{FF2B5EF4-FFF2-40B4-BE49-F238E27FC236}">
                <a16:creationId xmlns:a16="http://schemas.microsoft.com/office/drawing/2014/main" id="{2000D072-B127-40D6-A965-475C3C366A38}"/>
              </a:ext>
            </a:extLst>
          </p:cNvPr>
          <p:cNvSpPr txBox="1">
            <a:spLocks noChangeArrowheads="1"/>
          </p:cNvSpPr>
          <p:nvPr/>
        </p:nvSpPr>
        <p:spPr bwMode="auto">
          <a:xfrm>
            <a:off x="6864274" y="3068824"/>
            <a:ext cx="1189749" cy="430887"/>
          </a:xfrm>
          <a:prstGeom prst="rect">
            <a:avLst/>
          </a:prstGeom>
          <a:noFill/>
          <a:ln w="9525">
            <a:noFill/>
            <a:miter lim="800000"/>
            <a:headEnd/>
            <a:tailEnd/>
          </a:ln>
        </p:spPr>
        <p:txBody>
          <a:bodyPr wrap="none">
            <a:spAutoFit/>
          </a:bodyPr>
          <a:lstStyle/>
          <a:p>
            <a:pPr defTabSz="457200" fontAlgn="base">
              <a:spcBef>
                <a:spcPct val="0"/>
              </a:spcBef>
              <a:spcAft>
                <a:spcPct val="0"/>
              </a:spcAft>
            </a:pPr>
            <a:r>
              <a:rPr lang="en-US" sz="1100">
                <a:solidFill>
                  <a:prstClr val="black"/>
                </a:solidFill>
                <a:ea typeface="ＭＳ Ｐゴシック" pitchFamily="34" charset="-128"/>
                <a:cs typeface="Arial" charset="0"/>
              </a:rPr>
              <a:t>Dimension 0</a:t>
            </a:r>
          </a:p>
          <a:p>
            <a:pPr defTabSz="457200" fontAlgn="base">
              <a:spcBef>
                <a:spcPct val="0"/>
              </a:spcBef>
              <a:spcAft>
                <a:spcPct val="0"/>
              </a:spcAft>
            </a:pPr>
            <a:r>
              <a:rPr lang="en-US" sz="1100">
                <a:solidFill>
                  <a:prstClr val="black"/>
                </a:solidFill>
                <a:ea typeface="ＭＳ Ｐゴシック" pitchFamily="34" charset="-128"/>
                <a:cs typeface="Arial" charset="0"/>
              </a:rPr>
              <a:t>(All dimensions)</a:t>
            </a:r>
          </a:p>
        </p:txBody>
      </p:sp>
      <p:pic>
        <p:nvPicPr>
          <p:cNvPr id="3" name="图片 2">
            <a:extLst>
              <a:ext uri="{FF2B5EF4-FFF2-40B4-BE49-F238E27FC236}">
                <a16:creationId xmlns:a16="http://schemas.microsoft.com/office/drawing/2014/main" id="{C52C532E-4941-4F5B-95F1-3BA68A651D85}"/>
              </a:ext>
            </a:extLst>
          </p:cNvPr>
          <p:cNvPicPr>
            <a:picLocks noChangeAspect="1"/>
          </p:cNvPicPr>
          <p:nvPr/>
        </p:nvPicPr>
        <p:blipFill>
          <a:blip r:embed="rId3"/>
          <a:stretch>
            <a:fillRect/>
          </a:stretch>
        </p:blipFill>
        <p:spPr>
          <a:xfrm>
            <a:off x="1607560" y="2401747"/>
            <a:ext cx="4436076" cy="4572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91" name="Title 1"/>
          <p:cNvSpPr>
            <a:spLocks noGrp="1"/>
          </p:cNvSpPr>
          <p:nvPr>
            <p:ph type="title"/>
          </p:nvPr>
        </p:nvSpPr>
        <p:spPr/>
        <p:txBody>
          <a:bodyPr/>
          <a:lstStyle/>
          <a:p>
            <a:pPr algn="l" eaLnBrk="1" hangingPunct="1"/>
            <a:r>
              <a:rPr lang="en-US" sz="2800" dirty="0"/>
              <a:t>Array Dimensions</a:t>
            </a:r>
          </a:p>
        </p:txBody>
      </p:sp>
      <p:sp>
        <p:nvSpPr>
          <p:cNvPr id="75778" name="Content Placeholder 2"/>
          <p:cNvSpPr>
            <a:spLocks noGrp="1"/>
          </p:cNvSpPr>
          <p:nvPr>
            <p:ph idx="1"/>
          </p:nvPr>
        </p:nvSpPr>
        <p:spPr/>
        <p:txBody>
          <a:bodyPr/>
          <a:lstStyle/>
          <a:p>
            <a:pPr eaLnBrk="1" hangingPunct="1"/>
            <a:r>
              <a:rPr lang="en-US" sz="2000" b="1" dirty="0"/>
              <a:t>The array options can be performed on dimensions of the array</a:t>
            </a:r>
          </a:p>
          <a:p>
            <a:pPr eaLnBrk="1" hangingPunct="1"/>
            <a:endParaRPr lang="en-US" sz="2000" b="1" dirty="0"/>
          </a:p>
          <a:p>
            <a:pPr eaLnBrk="1" hangingPunct="1"/>
            <a:endParaRPr lang="en-US" sz="2000" b="1" dirty="0"/>
          </a:p>
          <a:p>
            <a:pPr eaLnBrk="1" hangingPunct="1"/>
            <a:endParaRPr lang="en-US" sz="2000" b="1" dirty="0"/>
          </a:p>
          <a:p>
            <a:pPr eaLnBrk="1" hangingPunct="1">
              <a:buFont typeface="Arial" charset="0"/>
              <a:buNone/>
            </a:pPr>
            <a:endParaRPr lang="en-US" sz="2000" b="1" dirty="0"/>
          </a:p>
          <a:p>
            <a:pPr eaLnBrk="1" hangingPunct="1"/>
            <a:r>
              <a:rPr lang="en-US" sz="2000" b="1" dirty="0"/>
              <a:t>Examples</a:t>
            </a:r>
          </a:p>
          <a:p>
            <a:pPr eaLnBrk="1" hangingPunct="1">
              <a:buFont typeface="Arial" charset="0"/>
              <a:buNone/>
            </a:pPr>
            <a:endParaRPr lang="en-US" sz="2000" b="1" dirty="0">
              <a:solidFill>
                <a:srgbClr val="008CA8"/>
              </a:solidFill>
            </a:endParaRPr>
          </a:p>
        </p:txBody>
      </p:sp>
      <p:sp>
        <p:nvSpPr>
          <p:cNvPr id="28" name="Slide Number Placeholder 27"/>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72</a:t>
            </a:fld>
            <a:endParaRPr lang="en-US" dirty="0"/>
          </a:p>
        </p:txBody>
      </p:sp>
      <p:pic>
        <p:nvPicPr>
          <p:cNvPr id="137232" name="Picture 4" descr="60_dimension.PNG"/>
          <p:cNvPicPr>
            <a:picLocks noChangeAspect="1"/>
          </p:cNvPicPr>
          <p:nvPr/>
        </p:nvPicPr>
        <p:blipFill>
          <a:blip r:embed="rId3"/>
          <a:srcRect t="13386"/>
          <a:stretch>
            <a:fillRect/>
          </a:stretch>
        </p:blipFill>
        <p:spPr bwMode="auto">
          <a:xfrm>
            <a:off x="1692365" y="2336801"/>
            <a:ext cx="4704124" cy="389123"/>
          </a:xfrm>
          <a:prstGeom prst="rect">
            <a:avLst/>
          </a:prstGeom>
          <a:noFill/>
          <a:ln w="9525">
            <a:noFill/>
            <a:miter lim="800000"/>
            <a:headEnd/>
            <a:tailEnd/>
          </a:ln>
          <a:effectLst>
            <a:outerShdw blurRad="63500" dist="139700" dir="2700000" algn="tl" rotWithShape="0">
              <a:srgbClr val="333333">
                <a:alpha val="64999"/>
              </a:srgbClr>
            </a:outerShdw>
          </a:effectLst>
        </p:spPr>
      </p:pic>
      <p:sp>
        <p:nvSpPr>
          <p:cNvPr id="75795" name="TextBox 31"/>
          <p:cNvSpPr txBox="1">
            <a:spLocks noChangeArrowheads="1"/>
          </p:cNvSpPr>
          <p:nvPr/>
        </p:nvSpPr>
        <p:spPr bwMode="auto">
          <a:xfrm>
            <a:off x="873427" y="3967171"/>
            <a:ext cx="3959738" cy="307777"/>
          </a:xfrm>
          <a:prstGeom prst="rect">
            <a:avLst/>
          </a:prstGeom>
          <a:noFill/>
          <a:ln w="9525">
            <a:noFill/>
            <a:miter lim="800000"/>
            <a:headEnd/>
            <a:tailEnd/>
          </a:ln>
        </p:spPr>
        <p:txBody>
          <a:bodyPr wrap="none">
            <a:spAutoFit/>
          </a:bodyPr>
          <a:lstStyle/>
          <a:p>
            <a:pPr defTabSz="457200"/>
            <a:r>
              <a:rPr lang="en-US" sz="1400" dirty="0" err="1">
                <a:solidFill>
                  <a:prstClr val="black"/>
                </a:solidFill>
                <a:ea typeface="ＭＳ Ｐゴシック" pitchFamily="34" charset="-128"/>
                <a:cs typeface="Arial" charset="0"/>
              </a:rPr>
              <a:t>my_array</a:t>
            </a:r>
            <a:r>
              <a:rPr lang="en-US" sz="1400" dirty="0">
                <a:solidFill>
                  <a:prstClr val="black"/>
                </a:solidFill>
                <a:ea typeface="ＭＳ Ｐゴシック" pitchFamily="34" charset="-128"/>
                <a:cs typeface="Arial" charset="0"/>
              </a:rPr>
              <a:t>[10][6][4]  </a:t>
            </a:r>
            <a:r>
              <a:rPr lang="en-US" sz="1400" dirty="0">
                <a:solidFill>
                  <a:prstClr val="black"/>
                </a:solidFill>
                <a:ea typeface="ＭＳ Ｐゴシック" pitchFamily="34" charset="-128"/>
                <a:cs typeface="Arial" charset="0"/>
                <a:sym typeface="Wingdings" pitchFamily="-106" charset="2"/>
              </a:rPr>
              <a:t> partition dimension 3   </a:t>
            </a:r>
          </a:p>
        </p:txBody>
      </p:sp>
      <p:sp>
        <p:nvSpPr>
          <p:cNvPr id="75796" name="TextBox 32"/>
          <p:cNvSpPr txBox="1">
            <a:spLocks noChangeArrowheads="1"/>
          </p:cNvSpPr>
          <p:nvPr/>
        </p:nvSpPr>
        <p:spPr bwMode="auto">
          <a:xfrm>
            <a:off x="4684251" y="3646497"/>
            <a:ext cx="1625766" cy="954107"/>
          </a:xfrm>
          <a:prstGeom prst="rect">
            <a:avLst/>
          </a:prstGeom>
          <a:noFill/>
          <a:ln w="9525">
            <a:noFill/>
            <a:miter lim="800000"/>
            <a:headEnd/>
            <a:tailEnd/>
          </a:ln>
        </p:spPr>
        <p:txBody>
          <a:bodyPr wrap="none">
            <a:spAutoFit/>
          </a:bodyPr>
          <a:lstStyle/>
          <a:p>
            <a:pPr defTabSz="457200"/>
            <a:r>
              <a:rPr lang="en-US" sz="1400" dirty="0">
                <a:solidFill>
                  <a:prstClr val="black"/>
                </a:solidFill>
                <a:ea typeface="ＭＳ Ｐゴシック" pitchFamily="34" charset="-128"/>
                <a:cs typeface="Arial" charset="0"/>
              </a:rPr>
              <a:t>my_array_0[10][6]</a:t>
            </a:r>
          </a:p>
          <a:p>
            <a:pPr defTabSz="457200"/>
            <a:r>
              <a:rPr lang="en-US" sz="1400" dirty="0">
                <a:solidFill>
                  <a:prstClr val="black"/>
                </a:solidFill>
                <a:ea typeface="ＭＳ Ｐゴシック" pitchFamily="34" charset="-128"/>
                <a:cs typeface="Arial" charset="0"/>
              </a:rPr>
              <a:t>my_array_1[10][6]</a:t>
            </a:r>
          </a:p>
          <a:p>
            <a:pPr defTabSz="457200"/>
            <a:r>
              <a:rPr lang="en-US" sz="1400" dirty="0">
                <a:solidFill>
                  <a:prstClr val="black"/>
                </a:solidFill>
                <a:ea typeface="ＭＳ Ｐゴシック" pitchFamily="34" charset="-128"/>
                <a:cs typeface="Arial" charset="0"/>
              </a:rPr>
              <a:t>my_array_2[10][6]</a:t>
            </a:r>
          </a:p>
          <a:p>
            <a:pPr defTabSz="457200"/>
            <a:r>
              <a:rPr lang="en-US" sz="1400" dirty="0">
                <a:solidFill>
                  <a:prstClr val="black"/>
                </a:solidFill>
                <a:ea typeface="ＭＳ Ｐゴシック" pitchFamily="34" charset="-128"/>
                <a:cs typeface="Arial" charset="0"/>
              </a:rPr>
              <a:t>my_array_3[10][6]</a:t>
            </a:r>
          </a:p>
        </p:txBody>
      </p:sp>
      <p:sp>
        <p:nvSpPr>
          <p:cNvPr id="75797" name="TextBox 33"/>
          <p:cNvSpPr txBox="1">
            <a:spLocks noChangeArrowheads="1"/>
          </p:cNvSpPr>
          <p:nvPr/>
        </p:nvSpPr>
        <p:spPr bwMode="auto">
          <a:xfrm>
            <a:off x="873552" y="4856349"/>
            <a:ext cx="6096541" cy="307777"/>
          </a:xfrm>
          <a:prstGeom prst="rect">
            <a:avLst/>
          </a:prstGeom>
          <a:noFill/>
          <a:ln w="9525">
            <a:noFill/>
            <a:miter lim="800000"/>
            <a:headEnd/>
            <a:tailEnd/>
          </a:ln>
        </p:spPr>
        <p:txBody>
          <a:bodyPr wrap="none">
            <a:spAutoFit/>
          </a:bodyPr>
          <a:lstStyle/>
          <a:p>
            <a:pPr defTabSz="457200"/>
            <a:r>
              <a:rPr lang="en-US" sz="1400" dirty="0" err="1">
                <a:solidFill>
                  <a:prstClr val="black"/>
                </a:solidFill>
                <a:ea typeface="ＭＳ Ｐゴシック" pitchFamily="34" charset="-128"/>
                <a:cs typeface="Arial" charset="0"/>
              </a:rPr>
              <a:t>my_array</a:t>
            </a:r>
            <a:r>
              <a:rPr lang="en-US" sz="1400" dirty="0">
                <a:solidFill>
                  <a:prstClr val="black"/>
                </a:solidFill>
                <a:ea typeface="ＭＳ Ｐゴシック" pitchFamily="34" charset="-128"/>
                <a:cs typeface="Arial" charset="0"/>
              </a:rPr>
              <a:t>[10][6][4]  </a:t>
            </a:r>
            <a:r>
              <a:rPr lang="en-US" sz="1400" dirty="0">
                <a:solidFill>
                  <a:prstClr val="black"/>
                </a:solidFill>
                <a:ea typeface="ＭＳ Ｐゴシック" pitchFamily="34" charset="-128"/>
                <a:cs typeface="Arial" charset="0"/>
                <a:sym typeface="Wingdings" pitchFamily="-106" charset="2"/>
              </a:rPr>
              <a:t> partition dimension 1                                             </a:t>
            </a:r>
          </a:p>
        </p:txBody>
      </p:sp>
      <p:sp>
        <p:nvSpPr>
          <p:cNvPr id="75798" name="TextBox 34"/>
          <p:cNvSpPr txBox="1">
            <a:spLocks noChangeArrowheads="1"/>
          </p:cNvSpPr>
          <p:nvPr/>
        </p:nvSpPr>
        <p:spPr bwMode="auto">
          <a:xfrm>
            <a:off x="8178261" y="3908611"/>
            <a:ext cx="1526380" cy="2246769"/>
          </a:xfrm>
          <a:prstGeom prst="rect">
            <a:avLst/>
          </a:prstGeom>
          <a:noFill/>
          <a:ln w="9525">
            <a:noFill/>
            <a:miter lim="800000"/>
            <a:headEnd/>
            <a:tailEnd/>
          </a:ln>
        </p:spPr>
        <p:txBody>
          <a:bodyPr wrap="none">
            <a:spAutoFit/>
          </a:bodyPr>
          <a:lstStyle/>
          <a:p>
            <a:pPr defTabSz="457200"/>
            <a:r>
              <a:rPr lang="en-US" sz="1400" dirty="0">
                <a:solidFill>
                  <a:prstClr val="black"/>
                </a:solidFill>
                <a:ea typeface="ＭＳ Ｐゴシック" pitchFamily="34" charset="-128"/>
                <a:cs typeface="Arial" charset="0"/>
              </a:rPr>
              <a:t>my_array_0[6][4]</a:t>
            </a:r>
          </a:p>
          <a:p>
            <a:pPr defTabSz="457200"/>
            <a:r>
              <a:rPr lang="en-US" sz="1400" dirty="0">
                <a:solidFill>
                  <a:prstClr val="black"/>
                </a:solidFill>
                <a:ea typeface="ＭＳ Ｐゴシック" pitchFamily="34" charset="-128"/>
                <a:cs typeface="Arial" charset="0"/>
              </a:rPr>
              <a:t>my_array_1[6][4]</a:t>
            </a:r>
          </a:p>
          <a:p>
            <a:pPr defTabSz="457200"/>
            <a:r>
              <a:rPr lang="en-US" sz="1400" dirty="0">
                <a:solidFill>
                  <a:prstClr val="black"/>
                </a:solidFill>
                <a:ea typeface="ＭＳ Ｐゴシック" pitchFamily="34" charset="-128"/>
                <a:cs typeface="Arial" charset="0"/>
              </a:rPr>
              <a:t>my_array_2[6][4]</a:t>
            </a:r>
          </a:p>
          <a:p>
            <a:pPr defTabSz="457200"/>
            <a:r>
              <a:rPr lang="en-US" sz="1400" dirty="0">
                <a:solidFill>
                  <a:prstClr val="black"/>
                </a:solidFill>
                <a:ea typeface="ＭＳ Ｐゴシック" pitchFamily="34" charset="-128"/>
                <a:cs typeface="Arial" charset="0"/>
              </a:rPr>
              <a:t>my_array_3[6][4]</a:t>
            </a:r>
          </a:p>
          <a:p>
            <a:pPr defTabSz="457200"/>
            <a:r>
              <a:rPr lang="en-US" sz="1400" dirty="0">
                <a:solidFill>
                  <a:prstClr val="black"/>
                </a:solidFill>
                <a:ea typeface="ＭＳ Ｐゴシック" pitchFamily="34" charset="-128"/>
                <a:cs typeface="Arial" charset="0"/>
              </a:rPr>
              <a:t>my_array_4[6][4]</a:t>
            </a:r>
          </a:p>
          <a:p>
            <a:pPr defTabSz="457200"/>
            <a:r>
              <a:rPr lang="en-US" sz="1400" dirty="0">
                <a:solidFill>
                  <a:prstClr val="black"/>
                </a:solidFill>
                <a:ea typeface="ＭＳ Ｐゴシック" pitchFamily="34" charset="-128"/>
                <a:cs typeface="Arial" charset="0"/>
              </a:rPr>
              <a:t>my_array_5[6][4]</a:t>
            </a:r>
          </a:p>
          <a:p>
            <a:pPr defTabSz="457200"/>
            <a:r>
              <a:rPr lang="en-US" sz="1400" dirty="0">
                <a:solidFill>
                  <a:prstClr val="black"/>
                </a:solidFill>
                <a:ea typeface="ＭＳ Ｐゴシック" pitchFamily="34" charset="-128"/>
                <a:cs typeface="Arial" charset="0"/>
              </a:rPr>
              <a:t>my_array_6[6][4]</a:t>
            </a:r>
          </a:p>
          <a:p>
            <a:pPr defTabSz="457200"/>
            <a:r>
              <a:rPr lang="en-US" sz="1400" dirty="0">
                <a:solidFill>
                  <a:prstClr val="black"/>
                </a:solidFill>
                <a:ea typeface="ＭＳ Ｐゴシック" pitchFamily="34" charset="-128"/>
                <a:cs typeface="Arial" charset="0"/>
              </a:rPr>
              <a:t>my_array_7[6][4]</a:t>
            </a:r>
          </a:p>
          <a:p>
            <a:pPr defTabSz="457200"/>
            <a:r>
              <a:rPr lang="en-US" sz="1400" dirty="0">
                <a:solidFill>
                  <a:prstClr val="black"/>
                </a:solidFill>
                <a:ea typeface="ＭＳ Ｐゴシック" pitchFamily="34" charset="-128"/>
                <a:cs typeface="Arial" charset="0"/>
              </a:rPr>
              <a:t>my_array_8[6][4]</a:t>
            </a:r>
          </a:p>
          <a:p>
            <a:pPr defTabSz="457200"/>
            <a:r>
              <a:rPr lang="en-US" sz="1400" dirty="0">
                <a:solidFill>
                  <a:prstClr val="black"/>
                </a:solidFill>
                <a:ea typeface="ＭＳ Ｐゴシック" pitchFamily="34" charset="-128"/>
                <a:cs typeface="Arial" charset="0"/>
              </a:rPr>
              <a:t>my_array_9[6][4]</a:t>
            </a:r>
          </a:p>
        </p:txBody>
      </p:sp>
      <p:cxnSp>
        <p:nvCxnSpPr>
          <p:cNvPr id="137238" name="Straight Connector 36"/>
          <p:cNvCxnSpPr>
            <a:cxnSpLocks noChangeShapeType="1"/>
          </p:cNvCxnSpPr>
          <p:nvPr/>
        </p:nvCxnSpPr>
        <p:spPr bwMode="auto">
          <a:xfrm flipH="1">
            <a:off x="4455680" y="5003800"/>
            <a:ext cx="2046283" cy="0"/>
          </a:xfrm>
          <a:prstGeom prst="line">
            <a:avLst/>
          </a:prstGeom>
          <a:noFill/>
          <a:ln w="25400">
            <a:solidFill>
              <a:schemeClr val="tx1"/>
            </a:solidFill>
            <a:round/>
            <a:headEnd/>
            <a:tailEnd/>
          </a:ln>
          <a:effectLst>
            <a:outerShdw blurRad="63500" dist="20000" dir="5400000" rotWithShape="0">
              <a:srgbClr val="000000">
                <a:alpha val="37999"/>
              </a:srgbClr>
            </a:outerShdw>
          </a:effectLst>
        </p:spPr>
      </p:cxnSp>
      <p:sp>
        <p:nvSpPr>
          <p:cNvPr id="75800" name="TextBox 37"/>
          <p:cNvSpPr txBox="1">
            <a:spLocks noChangeArrowheads="1"/>
          </p:cNvSpPr>
          <p:nvPr/>
        </p:nvSpPr>
        <p:spPr bwMode="auto">
          <a:xfrm>
            <a:off x="873552" y="5952131"/>
            <a:ext cx="6720109" cy="307777"/>
          </a:xfrm>
          <a:prstGeom prst="rect">
            <a:avLst/>
          </a:prstGeom>
          <a:noFill/>
          <a:ln w="9525">
            <a:noFill/>
            <a:miter lim="800000"/>
            <a:headEnd/>
            <a:tailEnd/>
          </a:ln>
        </p:spPr>
        <p:txBody>
          <a:bodyPr wrap="none">
            <a:spAutoFit/>
          </a:bodyPr>
          <a:lstStyle/>
          <a:p>
            <a:pPr defTabSz="457200"/>
            <a:r>
              <a:rPr lang="en-US" sz="1400" dirty="0" err="1">
                <a:solidFill>
                  <a:prstClr val="black"/>
                </a:solidFill>
                <a:ea typeface="ＭＳ Ｐゴシック" pitchFamily="34" charset="-128"/>
                <a:cs typeface="Arial" charset="0"/>
              </a:rPr>
              <a:t>my_array</a:t>
            </a:r>
            <a:r>
              <a:rPr lang="en-US" sz="1400" dirty="0">
                <a:solidFill>
                  <a:prstClr val="black"/>
                </a:solidFill>
                <a:ea typeface="ＭＳ Ｐゴシック" pitchFamily="34" charset="-128"/>
                <a:cs typeface="Arial" charset="0"/>
              </a:rPr>
              <a:t>[10][6][4]  </a:t>
            </a:r>
            <a:r>
              <a:rPr lang="en-US" sz="1400" dirty="0">
                <a:solidFill>
                  <a:prstClr val="black"/>
                </a:solidFill>
                <a:ea typeface="ＭＳ Ｐゴシック" pitchFamily="34" charset="-128"/>
                <a:cs typeface="Arial" charset="0"/>
                <a:sym typeface="Wingdings" pitchFamily="-106" charset="2"/>
              </a:rPr>
              <a:t> partition dimension 0    10x6x4 = 240 individual registers  </a:t>
            </a:r>
          </a:p>
        </p:txBody>
      </p:sp>
      <p:sp>
        <p:nvSpPr>
          <p:cNvPr id="26" name="Rectangle 29">
            <a:extLst>
              <a:ext uri="{FF2B5EF4-FFF2-40B4-BE49-F238E27FC236}">
                <a16:creationId xmlns:a16="http://schemas.microsoft.com/office/drawing/2014/main" id="{DB367CE9-E0AD-4DED-94EB-36D2A3FA5140}"/>
              </a:ext>
            </a:extLst>
          </p:cNvPr>
          <p:cNvSpPr>
            <a:spLocks noChangeArrowheads="1"/>
          </p:cNvSpPr>
          <p:nvPr/>
        </p:nvSpPr>
        <p:spPr bwMode="auto">
          <a:xfrm>
            <a:off x="6608101" y="1981200"/>
            <a:ext cx="4299947" cy="1804988"/>
          </a:xfrm>
          <a:prstGeom prst="rect">
            <a:avLst/>
          </a:prstGeom>
          <a:gradFill rotWithShape="1">
            <a:gsLst>
              <a:gs pos="0">
                <a:srgbClr val="A3C4FF"/>
              </a:gs>
              <a:gs pos="35001">
                <a:srgbClr val="BFD5FF"/>
              </a:gs>
              <a:gs pos="100000">
                <a:srgbClr val="E5EEFF"/>
              </a:gs>
            </a:gsLst>
            <a:lin ang="16200000" scaled="1"/>
          </a:gradFill>
          <a:ln w="9525">
            <a:solidFill>
              <a:srgbClr val="4A7EBB"/>
            </a:solidFill>
            <a:miter lim="800000"/>
            <a:headEnd/>
            <a:tailEnd/>
          </a:ln>
          <a:effectLst>
            <a:outerShdw blurRad="63500" dist="20000" dir="5400000" rotWithShape="0">
              <a:srgbClr val="000000">
                <a:alpha val="37999"/>
              </a:srgbClr>
            </a:outerShdw>
          </a:effectLst>
        </p:spPr>
        <p:txBody>
          <a:bodyPr anchor="ctr"/>
          <a:lstStyle/>
          <a:p>
            <a:pPr algn="ctr" defTabSz="457200" fontAlgn="base">
              <a:spcBef>
                <a:spcPct val="0"/>
              </a:spcBef>
              <a:spcAft>
                <a:spcPct val="0"/>
              </a:spcAft>
            </a:pPr>
            <a:endParaRPr lang="en-US" sz="1400">
              <a:solidFill>
                <a:srgbClr val="000000"/>
              </a:solidFill>
              <a:ea typeface="ＭＳ Ｐゴシック" pitchFamily="34" charset="-128"/>
              <a:cs typeface="Arial" charset="0"/>
            </a:endParaRPr>
          </a:p>
        </p:txBody>
      </p:sp>
      <p:sp>
        <p:nvSpPr>
          <p:cNvPr id="27" name="TextBox 5">
            <a:extLst>
              <a:ext uri="{FF2B5EF4-FFF2-40B4-BE49-F238E27FC236}">
                <a16:creationId xmlns:a16="http://schemas.microsoft.com/office/drawing/2014/main" id="{5BE955E9-0A7A-4988-921A-20999D449AD7}"/>
              </a:ext>
            </a:extLst>
          </p:cNvPr>
          <p:cNvSpPr txBox="1">
            <a:spLocks noChangeArrowheads="1"/>
          </p:cNvSpPr>
          <p:nvPr/>
        </p:nvSpPr>
        <p:spPr bwMode="auto">
          <a:xfrm>
            <a:off x="8013440" y="1992316"/>
            <a:ext cx="1736373" cy="307777"/>
          </a:xfrm>
          <a:prstGeom prst="rect">
            <a:avLst/>
          </a:prstGeom>
          <a:noFill/>
          <a:ln w="9525">
            <a:noFill/>
            <a:miter lim="800000"/>
            <a:headEnd/>
            <a:tailEnd/>
          </a:ln>
        </p:spPr>
        <p:txBody>
          <a:bodyPr wrap="none">
            <a:spAutoFit/>
          </a:bodyPr>
          <a:lstStyle/>
          <a:p>
            <a:pPr defTabSz="457200" fontAlgn="base">
              <a:spcBef>
                <a:spcPct val="0"/>
              </a:spcBef>
              <a:spcAft>
                <a:spcPct val="0"/>
              </a:spcAft>
            </a:pPr>
            <a:r>
              <a:rPr lang="en-US" sz="1400" b="1" dirty="0" err="1">
                <a:solidFill>
                  <a:prstClr val="black"/>
                </a:solidFill>
                <a:ea typeface="ＭＳ Ｐゴシック" pitchFamily="34" charset="-128"/>
                <a:cs typeface="Arial" charset="0"/>
              </a:rPr>
              <a:t>my_array</a:t>
            </a:r>
            <a:r>
              <a:rPr lang="en-US" sz="1400" b="1" dirty="0">
                <a:solidFill>
                  <a:prstClr val="black"/>
                </a:solidFill>
                <a:ea typeface="ＭＳ Ｐゴシック" pitchFamily="34" charset="-128"/>
                <a:cs typeface="Arial" charset="0"/>
              </a:rPr>
              <a:t>[10][6][4]</a:t>
            </a:r>
          </a:p>
        </p:txBody>
      </p:sp>
      <p:cxnSp>
        <p:nvCxnSpPr>
          <p:cNvPr id="29" name="Straight Arrow Connector 9">
            <a:extLst>
              <a:ext uri="{FF2B5EF4-FFF2-40B4-BE49-F238E27FC236}">
                <a16:creationId xmlns:a16="http://schemas.microsoft.com/office/drawing/2014/main" id="{06A953E9-4B6C-42B3-B53C-8EF6E1CEB425}"/>
              </a:ext>
            </a:extLst>
          </p:cNvPr>
          <p:cNvCxnSpPr>
            <a:cxnSpLocks noChangeShapeType="1"/>
          </p:cNvCxnSpPr>
          <p:nvPr/>
        </p:nvCxnSpPr>
        <p:spPr bwMode="auto">
          <a:xfrm flipV="1">
            <a:off x="8963338" y="2300474"/>
            <a:ext cx="0" cy="230187"/>
          </a:xfrm>
          <a:prstGeom prst="straightConnector1">
            <a:avLst/>
          </a:prstGeom>
          <a:noFill/>
          <a:ln w="25400">
            <a:solidFill>
              <a:srgbClr val="008CA8"/>
            </a:solidFill>
            <a:round/>
            <a:headEnd/>
            <a:tailEnd type="arrow" w="med" len="med"/>
          </a:ln>
          <a:effectLst>
            <a:outerShdw blurRad="63500" dist="20000" dir="5400000" rotWithShape="0">
              <a:srgbClr val="000000">
                <a:alpha val="37999"/>
              </a:srgbClr>
            </a:outerShdw>
          </a:effectLst>
        </p:spPr>
      </p:cxnSp>
      <p:sp>
        <p:nvSpPr>
          <p:cNvPr id="30" name="TextBox 11">
            <a:extLst>
              <a:ext uri="{FF2B5EF4-FFF2-40B4-BE49-F238E27FC236}">
                <a16:creationId xmlns:a16="http://schemas.microsoft.com/office/drawing/2014/main" id="{87AA7BF5-ED20-463F-8B27-B1A466CC1BDD}"/>
              </a:ext>
            </a:extLst>
          </p:cNvPr>
          <p:cNvSpPr txBox="1">
            <a:spLocks noChangeArrowheads="1"/>
          </p:cNvSpPr>
          <p:nvPr/>
        </p:nvSpPr>
        <p:spPr bwMode="auto">
          <a:xfrm>
            <a:off x="6864274" y="2406651"/>
            <a:ext cx="970137" cy="600164"/>
          </a:xfrm>
          <a:prstGeom prst="rect">
            <a:avLst/>
          </a:prstGeom>
          <a:noFill/>
          <a:ln w="9525">
            <a:noFill/>
            <a:miter lim="800000"/>
            <a:headEnd/>
            <a:tailEnd/>
          </a:ln>
        </p:spPr>
        <p:txBody>
          <a:bodyPr wrap="none">
            <a:spAutoFit/>
          </a:bodyPr>
          <a:lstStyle/>
          <a:p>
            <a:pPr defTabSz="457200" fontAlgn="base">
              <a:spcBef>
                <a:spcPct val="0"/>
              </a:spcBef>
              <a:spcAft>
                <a:spcPct val="0"/>
              </a:spcAft>
            </a:pPr>
            <a:r>
              <a:rPr lang="en-US" sz="1100">
                <a:solidFill>
                  <a:prstClr val="black"/>
                </a:solidFill>
                <a:ea typeface="ＭＳ Ｐゴシック" pitchFamily="34" charset="-128"/>
                <a:cs typeface="Arial" charset="0"/>
              </a:rPr>
              <a:t>Dimension 1</a:t>
            </a:r>
          </a:p>
          <a:p>
            <a:pPr defTabSz="457200" fontAlgn="base">
              <a:spcBef>
                <a:spcPct val="0"/>
              </a:spcBef>
              <a:spcAft>
                <a:spcPct val="0"/>
              </a:spcAft>
            </a:pPr>
            <a:r>
              <a:rPr lang="en-US" sz="1100">
                <a:solidFill>
                  <a:prstClr val="black"/>
                </a:solidFill>
                <a:ea typeface="ＭＳ Ｐゴシック" pitchFamily="34" charset="-128"/>
                <a:cs typeface="Arial" charset="0"/>
              </a:rPr>
              <a:t>Dimension 2</a:t>
            </a:r>
          </a:p>
          <a:p>
            <a:pPr defTabSz="457200" fontAlgn="base">
              <a:spcBef>
                <a:spcPct val="0"/>
              </a:spcBef>
              <a:spcAft>
                <a:spcPct val="0"/>
              </a:spcAft>
            </a:pPr>
            <a:r>
              <a:rPr lang="en-US" sz="1100">
                <a:solidFill>
                  <a:prstClr val="black"/>
                </a:solidFill>
                <a:ea typeface="ＭＳ Ｐゴシック" pitchFamily="34" charset="-128"/>
                <a:cs typeface="Arial" charset="0"/>
              </a:rPr>
              <a:t>Dimension 3</a:t>
            </a:r>
          </a:p>
        </p:txBody>
      </p:sp>
      <p:cxnSp>
        <p:nvCxnSpPr>
          <p:cNvPr id="31" name="Straight Connector 13">
            <a:extLst>
              <a:ext uri="{FF2B5EF4-FFF2-40B4-BE49-F238E27FC236}">
                <a16:creationId xmlns:a16="http://schemas.microsoft.com/office/drawing/2014/main" id="{A872E2A3-5DE7-4095-BE0E-4FE9EC34BFE9}"/>
              </a:ext>
            </a:extLst>
          </p:cNvPr>
          <p:cNvCxnSpPr>
            <a:cxnSpLocks noChangeShapeType="1"/>
          </p:cNvCxnSpPr>
          <p:nvPr/>
        </p:nvCxnSpPr>
        <p:spPr bwMode="auto">
          <a:xfrm flipH="1">
            <a:off x="8091498" y="2530475"/>
            <a:ext cx="871840" cy="0"/>
          </a:xfrm>
          <a:prstGeom prst="line">
            <a:avLst/>
          </a:prstGeom>
          <a:noFill/>
          <a:ln w="25400">
            <a:solidFill>
              <a:srgbClr val="008CA8"/>
            </a:solidFill>
            <a:round/>
            <a:headEnd/>
            <a:tailEnd/>
          </a:ln>
          <a:effectLst>
            <a:outerShdw blurRad="63500" dist="20000" dir="5400000" rotWithShape="0">
              <a:srgbClr val="000000">
                <a:alpha val="37999"/>
              </a:srgbClr>
            </a:outerShdw>
          </a:effectLst>
        </p:spPr>
      </p:cxnSp>
      <p:cxnSp>
        <p:nvCxnSpPr>
          <p:cNvPr id="32" name="Straight Connector 14">
            <a:extLst>
              <a:ext uri="{FF2B5EF4-FFF2-40B4-BE49-F238E27FC236}">
                <a16:creationId xmlns:a16="http://schemas.microsoft.com/office/drawing/2014/main" id="{D52C0F26-B32D-4D13-AA9D-F467FF43EEE5}"/>
              </a:ext>
            </a:extLst>
          </p:cNvPr>
          <p:cNvCxnSpPr>
            <a:cxnSpLocks noChangeShapeType="1"/>
          </p:cNvCxnSpPr>
          <p:nvPr/>
        </p:nvCxnSpPr>
        <p:spPr bwMode="auto">
          <a:xfrm flipH="1">
            <a:off x="8091500" y="2722563"/>
            <a:ext cx="1229462" cy="0"/>
          </a:xfrm>
          <a:prstGeom prst="line">
            <a:avLst/>
          </a:prstGeom>
          <a:noFill/>
          <a:ln w="25400">
            <a:solidFill>
              <a:srgbClr val="008CA8"/>
            </a:solidFill>
            <a:round/>
            <a:headEnd/>
            <a:tailEnd/>
          </a:ln>
          <a:effectLst>
            <a:outerShdw blurRad="63500" dist="20000" dir="5400000" rotWithShape="0">
              <a:srgbClr val="000000">
                <a:alpha val="37999"/>
              </a:srgbClr>
            </a:outerShdw>
          </a:effectLst>
        </p:spPr>
      </p:cxnSp>
      <p:cxnSp>
        <p:nvCxnSpPr>
          <p:cNvPr id="33" name="Straight Connector 15">
            <a:extLst>
              <a:ext uri="{FF2B5EF4-FFF2-40B4-BE49-F238E27FC236}">
                <a16:creationId xmlns:a16="http://schemas.microsoft.com/office/drawing/2014/main" id="{2E90CC77-42C8-4F97-A911-309BE11339F0}"/>
              </a:ext>
            </a:extLst>
          </p:cNvPr>
          <p:cNvCxnSpPr>
            <a:cxnSpLocks noChangeShapeType="1"/>
          </p:cNvCxnSpPr>
          <p:nvPr/>
        </p:nvCxnSpPr>
        <p:spPr bwMode="auto">
          <a:xfrm flipH="1">
            <a:off x="8091501" y="2914650"/>
            <a:ext cx="1536300" cy="0"/>
          </a:xfrm>
          <a:prstGeom prst="line">
            <a:avLst/>
          </a:prstGeom>
          <a:noFill/>
          <a:ln w="25400">
            <a:solidFill>
              <a:srgbClr val="008CA8"/>
            </a:solidFill>
            <a:round/>
            <a:headEnd/>
            <a:tailEnd/>
          </a:ln>
          <a:effectLst>
            <a:outerShdw blurRad="63500" dist="20000" dir="5400000" rotWithShape="0">
              <a:srgbClr val="000000">
                <a:alpha val="37999"/>
              </a:srgbClr>
            </a:outerShdw>
          </a:effectLst>
        </p:spPr>
      </p:cxnSp>
      <p:cxnSp>
        <p:nvCxnSpPr>
          <p:cNvPr id="34" name="Straight Arrow Connector 16">
            <a:extLst>
              <a:ext uri="{FF2B5EF4-FFF2-40B4-BE49-F238E27FC236}">
                <a16:creationId xmlns:a16="http://schemas.microsoft.com/office/drawing/2014/main" id="{D7139803-035E-486C-93CB-C727797054A3}"/>
              </a:ext>
            </a:extLst>
          </p:cNvPr>
          <p:cNvCxnSpPr>
            <a:cxnSpLocks noChangeShapeType="1"/>
          </p:cNvCxnSpPr>
          <p:nvPr/>
        </p:nvCxnSpPr>
        <p:spPr bwMode="auto">
          <a:xfrm flipV="1">
            <a:off x="9320960" y="2300474"/>
            <a:ext cx="0" cy="422275"/>
          </a:xfrm>
          <a:prstGeom prst="straightConnector1">
            <a:avLst/>
          </a:prstGeom>
          <a:noFill/>
          <a:ln w="25400">
            <a:solidFill>
              <a:srgbClr val="008CA8"/>
            </a:solidFill>
            <a:round/>
            <a:headEnd/>
            <a:tailEnd type="arrow" w="med" len="med"/>
          </a:ln>
          <a:effectLst>
            <a:outerShdw blurRad="63500" dist="20000" dir="5400000" rotWithShape="0">
              <a:srgbClr val="000000">
                <a:alpha val="37999"/>
              </a:srgbClr>
            </a:outerShdw>
          </a:effectLst>
        </p:spPr>
      </p:cxnSp>
      <p:cxnSp>
        <p:nvCxnSpPr>
          <p:cNvPr id="35" name="Straight Arrow Connector 17">
            <a:extLst>
              <a:ext uri="{FF2B5EF4-FFF2-40B4-BE49-F238E27FC236}">
                <a16:creationId xmlns:a16="http://schemas.microsoft.com/office/drawing/2014/main" id="{08F7924A-339A-4A57-8A9E-D3F951014248}"/>
              </a:ext>
            </a:extLst>
          </p:cNvPr>
          <p:cNvCxnSpPr>
            <a:cxnSpLocks noChangeShapeType="1"/>
          </p:cNvCxnSpPr>
          <p:nvPr/>
        </p:nvCxnSpPr>
        <p:spPr bwMode="auto">
          <a:xfrm flipV="1">
            <a:off x="9627798" y="2300288"/>
            <a:ext cx="0" cy="614362"/>
          </a:xfrm>
          <a:prstGeom prst="straightConnector1">
            <a:avLst/>
          </a:prstGeom>
          <a:noFill/>
          <a:ln w="25400">
            <a:solidFill>
              <a:srgbClr val="008CA8"/>
            </a:solidFill>
            <a:round/>
            <a:headEnd/>
            <a:tailEnd type="arrow" w="med" len="med"/>
          </a:ln>
          <a:effectLst>
            <a:outerShdw blurRad="63500" dist="20000" dir="5400000" rotWithShape="0">
              <a:srgbClr val="000000">
                <a:alpha val="37999"/>
              </a:srgbClr>
            </a:outerShdw>
          </a:effectLst>
        </p:spPr>
      </p:cxnSp>
      <p:sp>
        <p:nvSpPr>
          <p:cNvPr id="36" name="Right Brace 24">
            <a:extLst>
              <a:ext uri="{FF2B5EF4-FFF2-40B4-BE49-F238E27FC236}">
                <a16:creationId xmlns:a16="http://schemas.microsoft.com/office/drawing/2014/main" id="{44D7E52A-83E6-41AC-97D6-F40195525E78}"/>
              </a:ext>
            </a:extLst>
          </p:cNvPr>
          <p:cNvSpPr>
            <a:spLocks/>
          </p:cNvSpPr>
          <p:nvPr/>
        </p:nvSpPr>
        <p:spPr bwMode="auto">
          <a:xfrm rot="5400000">
            <a:off x="9243966" y="2555744"/>
            <a:ext cx="153988" cy="1024200"/>
          </a:xfrm>
          <a:prstGeom prst="rightBrace">
            <a:avLst>
              <a:gd name="adj1" fmla="val 8316"/>
              <a:gd name="adj2" fmla="val 50000"/>
            </a:avLst>
          </a:prstGeom>
          <a:noFill/>
          <a:ln w="25400">
            <a:solidFill>
              <a:srgbClr val="000000"/>
            </a:solidFill>
            <a:round/>
            <a:headEnd/>
            <a:tailEnd/>
          </a:ln>
          <a:effectLst>
            <a:outerShdw blurRad="63500" dist="20000" dir="5400000" rotWithShape="0">
              <a:srgbClr val="000000">
                <a:alpha val="37999"/>
              </a:srgbClr>
            </a:outerShdw>
          </a:effectLst>
        </p:spPr>
        <p:txBody>
          <a:bodyPr anchor="ctr"/>
          <a:lstStyle/>
          <a:p>
            <a:pPr algn="ctr" defTabSz="457200" fontAlgn="base">
              <a:spcBef>
                <a:spcPct val="0"/>
              </a:spcBef>
              <a:spcAft>
                <a:spcPct val="0"/>
              </a:spcAft>
              <a:defRPr/>
            </a:pPr>
            <a:endParaRPr lang="en-US" sz="1400" kern="0">
              <a:solidFill>
                <a:prstClr val="black"/>
              </a:solidFill>
              <a:ea typeface="ＭＳ Ｐゴシック" pitchFamily="34" charset="-128"/>
              <a:cs typeface="Arial" charset="0"/>
            </a:endParaRPr>
          </a:p>
        </p:txBody>
      </p:sp>
      <p:cxnSp>
        <p:nvCxnSpPr>
          <p:cNvPr id="37" name="Straight Connector 27">
            <a:extLst>
              <a:ext uri="{FF2B5EF4-FFF2-40B4-BE49-F238E27FC236}">
                <a16:creationId xmlns:a16="http://schemas.microsoft.com/office/drawing/2014/main" id="{3DACC259-41B3-415F-8B30-F9AA98AF7E90}"/>
              </a:ext>
            </a:extLst>
          </p:cNvPr>
          <p:cNvCxnSpPr>
            <a:cxnSpLocks noChangeShapeType="1"/>
          </p:cNvCxnSpPr>
          <p:nvPr/>
        </p:nvCxnSpPr>
        <p:spPr bwMode="auto">
          <a:xfrm flipH="1">
            <a:off x="8144400" y="3222625"/>
            <a:ext cx="1176560" cy="0"/>
          </a:xfrm>
          <a:prstGeom prst="line">
            <a:avLst/>
          </a:prstGeom>
          <a:noFill/>
          <a:ln w="25400">
            <a:solidFill>
              <a:srgbClr val="000000"/>
            </a:solidFill>
            <a:round/>
            <a:headEnd/>
            <a:tailEnd/>
          </a:ln>
          <a:effectLst>
            <a:outerShdw blurRad="63500" dist="20000" dir="5400000" rotWithShape="0">
              <a:srgbClr val="000000">
                <a:alpha val="37999"/>
              </a:srgbClr>
            </a:outerShdw>
          </a:effectLst>
        </p:spPr>
      </p:cxnSp>
      <p:cxnSp>
        <p:nvCxnSpPr>
          <p:cNvPr id="38" name="Straight Connector 40">
            <a:extLst>
              <a:ext uri="{FF2B5EF4-FFF2-40B4-BE49-F238E27FC236}">
                <a16:creationId xmlns:a16="http://schemas.microsoft.com/office/drawing/2014/main" id="{D6E2582A-F30A-4042-BA7A-AD501139652E}"/>
              </a:ext>
            </a:extLst>
          </p:cNvPr>
          <p:cNvCxnSpPr>
            <a:cxnSpLocks noChangeShapeType="1"/>
            <a:stCxn id="36" idx="1"/>
          </p:cNvCxnSpPr>
          <p:nvPr/>
        </p:nvCxnSpPr>
        <p:spPr bwMode="auto">
          <a:xfrm>
            <a:off x="9320960" y="3145024"/>
            <a:ext cx="0" cy="77787"/>
          </a:xfrm>
          <a:prstGeom prst="line">
            <a:avLst/>
          </a:prstGeom>
          <a:noFill/>
          <a:ln w="25400">
            <a:solidFill>
              <a:srgbClr val="000000"/>
            </a:solidFill>
            <a:round/>
            <a:headEnd/>
            <a:tailEnd/>
          </a:ln>
          <a:effectLst>
            <a:outerShdw blurRad="63500" dist="20000" dir="5400000" rotWithShape="0">
              <a:srgbClr val="000000">
                <a:alpha val="37999"/>
              </a:srgbClr>
            </a:outerShdw>
          </a:effectLst>
        </p:spPr>
      </p:cxnSp>
      <p:sp>
        <p:nvSpPr>
          <p:cNvPr id="39" name="TextBox 23">
            <a:extLst>
              <a:ext uri="{FF2B5EF4-FFF2-40B4-BE49-F238E27FC236}">
                <a16:creationId xmlns:a16="http://schemas.microsoft.com/office/drawing/2014/main" id="{2000D072-B127-40D6-A965-475C3C366A38}"/>
              </a:ext>
            </a:extLst>
          </p:cNvPr>
          <p:cNvSpPr txBox="1">
            <a:spLocks noChangeArrowheads="1"/>
          </p:cNvSpPr>
          <p:nvPr/>
        </p:nvSpPr>
        <p:spPr bwMode="auto">
          <a:xfrm>
            <a:off x="6864274" y="3068824"/>
            <a:ext cx="1189749" cy="430887"/>
          </a:xfrm>
          <a:prstGeom prst="rect">
            <a:avLst/>
          </a:prstGeom>
          <a:noFill/>
          <a:ln w="9525">
            <a:noFill/>
            <a:miter lim="800000"/>
            <a:headEnd/>
            <a:tailEnd/>
          </a:ln>
        </p:spPr>
        <p:txBody>
          <a:bodyPr wrap="none">
            <a:spAutoFit/>
          </a:bodyPr>
          <a:lstStyle/>
          <a:p>
            <a:pPr defTabSz="457200" fontAlgn="base">
              <a:spcBef>
                <a:spcPct val="0"/>
              </a:spcBef>
              <a:spcAft>
                <a:spcPct val="0"/>
              </a:spcAft>
            </a:pPr>
            <a:r>
              <a:rPr lang="en-US" sz="1100">
                <a:solidFill>
                  <a:prstClr val="black"/>
                </a:solidFill>
                <a:ea typeface="ＭＳ Ｐゴシック" pitchFamily="34" charset="-128"/>
                <a:cs typeface="Arial" charset="0"/>
              </a:rPr>
              <a:t>Dimension 0</a:t>
            </a:r>
          </a:p>
          <a:p>
            <a:pPr defTabSz="457200" fontAlgn="base">
              <a:spcBef>
                <a:spcPct val="0"/>
              </a:spcBef>
              <a:spcAft>
                <a:spcPct val="0"/>
              </a:spcAft>
            </a:pPr>
            <a:r>
              <a:rPr lang="en-US" sz="1100">
                <a:solidFill>
                  <a:prstClr val="black"/>
                </a:solidFill>
                <a:ea typeface="ＭＳ Ｐゴシック" pitchFamily="34" charset="-128"/>
                <a:cs typeface="Arial" charset="0"/>
              </a:rPr>
              <a:t>(All dimensions)</a:t>
            </a:r>
          </a:p>
        </p:txBody>
      </p:sp>
    </p:spTree>
    <p:extLst>
      <p:ext uri="{BB962C8B-B14F-4D97-AF65-F5344CB8AC3E}">
        <p14:creationId xmlns:p14="http://schemas.microsoft.com/office/powerpoint/2010/main" val="35423245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9" name="Picture 3"/>
          <p:cNvPicPr>
            <a:picLocks noChangeAspect="1" noChangeArrowheads="1"/>
          </p:cNvPicPr>
          <p:nvPr/>
        </p:nvPicPr>
        <p:blipFill>
          <a:blip r:embed="rId2"/>
          <a:srcRect/>
          <a:stretch>
            <a:fillRect/>
          </a:stretch>
        </p:blipFill>
        <p:spPr bwMode="auto">
          <a:xfrm>
            <a:off x="1754108" y="3461320"/>
            <a:ext cx="8348597" cy="2779712"/>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Array Reshaping</a:t>
            </a:r>
          </a:p>
        </p:txBody>
      </p:sp>
      <p:sp>
        <p:nvSpPr>
          <p:cNvPr id="3" name="Content Placeholder 2"/>
          <p:cNvSpPr>
            <a:spLocks noGrp="1"/>
          </p:cNvSpPr>
          <p:nvPr>
            <p:ph idx="1"/>
          </p:nvPr>
        </p:nvSpPr>
        <p:spPr>
          <a:xfrm>
            <a:off x="579119" y="1210056"/>
            <a:ext cx="10515600" cy="4759404"/>
          </a:xfrm>
        </p:spPr>
        <p:txBody>
          <a:bodyPr/>
          <a:lstStyle/>
          <a:p>
            <a:r>
              <a:rPr lang="en-US" dirty="0"/>
              <a:t>Reshaping recombines partitioned arrays back into a single array</a:t>
            </a:r>
          </a:p>
          <a:p>
            <a:pPr lvl="1"/>
            <a:r>
              <a:rPr lang="en-US" dirty="0"/>
              <a:t>Same options as array partition</a:t>
            </a:r>
          </a:p>
          <a:p>
            <a:pPr lvl="1"/>
            <a:r>
              <a:rPr lang="en-US" dirty="0">
                <a:solidFill>
                  <a:prstClr val="black"/>
                </a:solidFill>
                <a:ea typeface="ＭＳ Ｐゴシック" pitchFamily="24" charset="-128"/>
                <a:cs typeface="ＭＳ Ｐゴシック" pitchFamily="24" charset="-128"/>
              </a:rPr>
              <a:t>However, reshape automatically recombines </a:t>
            </a:r>
            <a:br>
              <a:rPr lang="en-US" dirty="0">
                <a:solidFill>
                  <a:prstClr val="black"/>
                </a:solidFill>
                <a:ea typeface="ＭＳ Ｐゴシック" pitchFamily="24" charset="-128"/>
                <a:cs typeface="ＭＳ Ｐゴシック" pitchFamily="24" charset="-128"/>
              </a:rPr>
            </a:br>
            <a:r>
              <a:rPr lang="en-US" dirty="0">
                <a:solidFill>
                  <a:prstClr val="black"/>
                </a:solidFill>
                <a:ea typeface="ＭＳ Ｐゴシック" pitchFamily="24" charset="-128"/>
                <a:cs typeface="ＭＳ Ｐゴシック" pitchFamily="24" charset="-128"/>
              </a:rPr>
              <a:t>the parts back into a single element</a:t>
            </a:r>
          </a:p>
          <a:p>
            <a:pPr lvl="1"/>
            <a:r>
              <a:rPr lang="en-US" dirty="0">
                <a:solidFill>
                  <a:prstClr val="black"/>
                </a:solidFill>
                <a:ea typeface="ＭＳ Ｐゴシック" pitchFamily="24" charset="-128"/>
                <a:cs typeface="ＭＳ Ｐゴシック" pitchFamily="24" charset="-128"/>
              </a:rPr>
              <a:t>The “new” array has the same name</a:t>
            </a:r>
          </a:p>
          <a:p>
            <a:pPr lvl="2"/>
            <a:r>
              <a:rPr lang="en-US" dirty="0">
                <a:solidFill>
                  <a:prstClr val="black"/>
                </a:solidFill>
                <a:ea typeface="ＭＳ Ｐゴシック" pitchFamily="24" charset="-128"/>
                <a:cs typeface="ＭＳ Ｐゴシック" pitchFamily="24" charset="-128"/>
              </a:rPr>
              <a:t>Same name used for resource targeting</a:t>
            </a:r>
          </a:p>
          <a:p>
            <a:pPr lvl="2"/>
            <a:endParaRPr lang="en-US" dirty="0"/>
          </a:p>
          <a:p>
            <a:endParaRPr lang="en-US" dirty="0"/>
          </a:p>
          <a:p>
            <a:endParaRPr lang="en-US" dirty="0"/>
          </a:p>
        </p:txBody>
      </p:sp>
      <p:sp>
        <p:nvSpPr>
          <p:cNvPr id="51" name="Slide Number Placeholder 50"/>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73</a:t>
            </a:fld>
            <a:endParaRPr lang="en-US" dirty="0"/>
          </a:p>
        </p:txBody>
      </p:sp>
      <p:pic>
        <p:nvPicPr>
          <p:cNvPr id="6" name="图片 5" descr="图形用户界面&#10;&#10;描述已自动生成">
            <a:extLst>
              <a:ext uri="{FF2B5EF4-FFF2-40B4-BE49-F238E27FC236}">
                <a16:creationId xmlns:a16="http://schemas.microsoft.com/office/drawing/2014/main" id="{F8AB86EF-71E5-4490-ACDE-C83BA255C115}"/>
              </a:ext>
            </a:extLst>
          </p:cNvPr>
          <p:cNvPicPr>
            <a:picLocks noChangeAspect="1"/>
          </p:cNvPicPr>
          <p:nvPr/>
        </p:nvPicPr>
        <p:blipFill>
          <a:blip r:embed="rId3"/>
          <a:stretch>
            <a:fillRect/>
          </a:stretch>
        </p:blipFill>
        <p:spPr>
          <a:xfrm>
            <a:off x="8830834" y="2183892"/>
            <a:ext cx="2997808" cy="27432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1619" name="Picture 3"/>
          <p:cNvPicPr>
            <a:picLocks noChangeAspect="1" noChangeArrowheads="1"/>
          </p:cNvPicPr>
          <p:nvPr/>
        </p:nvPicPr>
        <p:blipFill>
          <a:blip r:embed="rId2"/>
          <a:srcRect/>
          <a:stretch>
            <a:fillRect/>
          </a:stretch>
        </p:blipFill>
        <p:spPr bwMode="auto">
          <a:xfrm>
            <a:off x="1754108" y="3461320"/>
            <a:ext cx="8348597" cy="2779712"/>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Array Reshaping</a:t>
            </a:r>
          </a:p>
        </p:txBody>
      </p:sp>
      <p:sp>
        <p:nvSpPr>
          <p:cNvPr id="3" name="Content Placeholder 2"/>
          <p:cNvSpPr>
            <a:spLocks noGrp="1"/>
          </p:cNvSpPr>
          <p:nvPr>
            <p:ph idx="1"/>
          </p:nvPr>
        </p:nvSpPr>
        <p:spPr/>
        <p:txBody>
          <a:bodyPr/>
          <a:lstStyle/>
          <a:p>
            <a:r>
              <a:rPr lang="en-US" dirty="0"/>
              <a:t>Reshaping recombines partitioned arrays back into a single array</a:t>
            </a:r>
          </a:p>
          <a:p>
            <a:pPr lvl="1"/>
            <a:r>
              <a:rPr lang="en-US" dirty="0"/>
              <a:t>Same options as array partition</a:t>
            </a:r>
          </a:p>
          <a:p>
            <a:pPr lvl="1"/>
            <a:r>
              <a:rPr lang="en-US" dirty="0">
                <a:solidFill>
                  <a:prstClr val="black"/>
                </a:solidFill>
                <a:ea typeface="ＭＳ Ｐゴシック" pitchFamily="24" charset="-128"/>
                <a:cs typeface="ＭＳ Ｐゴシック" pitchFamily="24" charset="-128"/>
              </a:rPr>
              <a:t>However, reshape automatically recombines </a:t>
            </a:r>
            <a:br>
              <a:rPr lang="en-US" dirty="0">
                <a:solidFill>
                  <a:prstClr val="black"/>
                </a:solidFill>
                <a:ea typeface="ＭＳ Ｐゴシック" pitchFamily="24" charset="-128"/>
                <a:cs typeface="ＭＳ Ｐゴシック" pitchFamily="24" charset="-128"/>
              </a:rPr>
            </a:br>
            <a:r>
              <a:rPr lang="en-US" dirty="0">
                <a:solidFill>
                  <a:prstClr val="black"/>
                </a:solidFill>
                <a:ea typeface="ＭＳ Ｐゴシック" pitchFamily="24" charset="-128"/>
                <a:cs typeface="ＭＳ Ｐゴシック" pitchFamily="24" charset="-128"/>
              </a:rPr>
              <a:t>the parts back into a single element</a:t>
            </a:r>
          </a:p>
          <a:p>
            <a:pPr lvl="1"/>
            <a:r>
              <a:rPr lang="en-US" dirty="0">
                <a:solidFill>
                  <a:prstClr val="black"/>
                </a:solidFill>
                <a:ea typeface="ＭＳ Ｐゴシック" pitchFamily="24" charset="-128"/>
                <a:cs typeface="ＭＳ Ｐゴシック" pitchFamily="24" charset="-128"/>
              </a:rPr>
              <a:t>The “new” array has the same name</a:t>
            </a:r>
          </a:p>
          <a:p>
            <a:pPr lvl="2"/>
            <a:r>
              <a:rPr lang="en-US" dirty="0">
                <a:solidFill>
                  <a:prstClr val="black"/>
                </a:solidFill>
                <a:ea typeface="ＭＳ Ｐゴシック" pitchFamily="24" charset="-128"/>
                <a:cs typeface="ＭＳ Ｐゴシック" pitchFamily="24" charset="-128"/>
              </a:rPr>
              <a:t>Same name used for resource targeting</a:t>
            </a:r>
          </a:p>
          <a:p>
            <a:pPr lvl="2"/>
            <a:endParaRPr lang="en-US" dirty="0"/>
          </a:p>
          <a:p>
            <a:endParaRPr lang="en-US" dirty="0"/>
          </a:p>
          <a:p>
            <a:endParaRPr lang="en-US" dirty="0"/>
          </a:p>
        </p:txBody>
      </p:sp>
      <p:sp>
        <p:nvSpPr>
          <p:cNvPr id="51" name="Slide Number Placeholder 50"/>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74</a:t>
            </a:fld>
            <a:endParaRPr lang="en-US" dirty="0"/>
          </a:p>
        </p:txBody>
      </p:sp>
      <p:pic>
        <p:nvPicPr>
          <p:cNvPr id="4" name="Picture 3">
            <a:extLst>
              <a:ext uri="{FF2B5EF4-FFF2-40B4-BE49-F238E27FC236}">
                <a16:creationId xmlns:a16="http://schemas.microsoft.com/office/drawing/2014/main" id="{9CE31989-01EE-4C96-A908-CDBE30DA2F8B}"/>
              </a:ext>
            </a:extLst>
          </p:cNvPr>
          <p:cNvPicPr>
            <a:picLocks noChangeAspect="1"/>
          </p:cNvPicPr>
          <p:nvPr/>
        </p:nvPicPr>
        <p:blipFill>
          <a:blip r:embed="rId3"/>
          <a:stretch>
            <a:fillRect/>
          </a:stretch>
        </p:blipFill>
        <p:spPr>
          <a:xfrm>
            <a:off x="8765017" y="1885777"/>
            <a:ext cx="2852531" cy="2920448"/>
          </a:xfrm>
          <a:prstGeom prst="rect">
            <a:avLst/>
          </a:prstGeom>
        </p:spPr>
      </p:pic>
    </p:spTree>
    <p:extLst>
      <p:ext uri="{BB962C8B-B14F-4D97-AF65-F5344CB8AC3E}">
        <p14:creationId xmlns:p14="http://schemas.microsoft.com/office/powerpoint/2010/main" val="21890685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Reshaping vs Partitioning</a:t>
            </a:r>
          </a:p>
        </p:txBody>
      </p:sp>
      <p:sp>
        <p:nvSpPr>
          <p:cNvPr id="2" name="Content Placeholder 1"/>
          <p:cNvSpPr>
            <a:spLocks noGrp="1"/>
          </p:cNvSpPr>
          <p:nvPr>
            <p:ph idx="1"/>
          </p:nvPr>
        </p:nvSpPr>
        <p:spPr>
          <a:xfrm>
            <a:off x="579119" y="972846"/>
            <a:ext cx="10515600" cy="4759404"/>
          </a:xfrm>
        </p:spPr>
        <p:txBody>
          <a:bodyPr/>
          <a:lstStyle/>
          <a:p>
            <a:pPr lvl="0"/>
            <a:r>
              <a:rPr lang="en-US" dirty="0"/>
              <a:t>Both are useful for increasing the memory or data bandwidth</a:t>
            </a:r>
          </a:p>
          <a:p>
            <a:pPr lvl="0"/>
            <a:r>
              <a:rPr lang="en-US" dirty="0"/>
              <a:t>Reshaping</a:t>
            </a:r>
          </a:p>
          <a:p>
            <a:pPr lvl="1"/>
            <a:r>
              <a:rPr lang="en-US" dirty="0"/>
              <a:t>Simply increases the width of the data word</a:t>
            </a:r>
          </a:p>
          <a:p>
            <a:pPr lvl="1"/>
            <a:r>
              <a:rPr lang="en-US" dirty="0"/>
              <a:t>Does not increase the number of memory ports</a:t>
            </a:r>
          </a:p>
          <a:p>
            <a:pPr lvl="0"/>
            <a:r>
              <a:rPr lang="en-US" dirty="0"/>
              <a:t>Partitioning</a:t>
            </a:r>
          </a:p>
          <a:p>
            <a:pPr lvl="1"/>
            <a:r>
              <a:rPr lang="en-US" dirty="0"/>
              <a:t>Increases the memory ports; thus more I/O to deal with</a:t>
            </a:r>
          </a:p>
          <a:p>
            <a:pPr lvl="1"/>
            <a:r>
              <a:rPr lang="en-US" dirty="0"/>
              <a:t>Use it only if you have to use independent addressing</a:t>
            </a:r>
          </a:p>
          <a:p>
            <a:r>
              <a:rPr lang="en-US" dirty="0"/>
              <a:t> Common error message: cue to use reshaping or partitioning</a:t>
            </a:r>
          </a:p>
          <a:p>
            <a:endParaRPr lang="en-US" dirty="0"/>
          </a:p>
        </p:txBody>
      </p:sp>
      <p:sp>
        <p:nvSpPr>
          <p:cNvPr id="5" name="Slide Number Placeholder 4"/>
          <p:cNvSpPr>
            <a:spLocks noGrp="1"/>
          </p:cNvSpPr>
          <p:nvPr>
            <p:ph type="sldNum" sz="quarter" idx="10"/>
          </p:nvPr>
        </p:nvSpPr>
        <p:spPr/>
        <p:txBody>
          <a:bodyPr/>
          <a:lstStyle/>
          <a:p>
            <a:pPr>
              <a:defRPr/>
            </a:pPr>
            <a:r>
              <a:rPr lang="en-US" dirty="0"/>
              <a:t>Improving Performance 13- </a:t>
            </a:r>
            <a:fld id="{99D29FBF-A473-46DA-BC14-675AC1C8F9A5}" type="slidenum">
              <a:rPr lang="en-US" smtClean="0"/>
              <a:pPr>
                <a:defRPr/>
              </a:pPr>
              <a:t>75</a:t>
            </a:fld>
            <a:endParaRPr lang="en-US" dirty="0"/>
          </a:p>
        </p:txBody>
      </p:sp>
      <p:pic>
        <p:nvPicPr>
          <p:cNvPr id="102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777" y="4683768"/>
            <a:ext cx="9800925" cy="1376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18379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Bottleneck Example</a:t>
            </a:r>
          </a:p>
        </p:txBody>
      </p:sp>
      <p:sp>
        <p:nvSpPr>
          <p:cNvPr id="2" name="Content Placeholder 1"/>
          <p:cNvSpPr>
            <a:spLocks noGrp="1"/>
          </p:cNvSpPr>
          <p:nvPr>
            <p:ph idx="1"/>
          </p:nvPr>
        </p:nvSpPr>
        <p:spPr>
          <a:xfrm>
            <a:off x="591361" y="1210056"/>
            <a:ext cx="10515600" cy="4759404"/>
          </a:xfrm>
        </p:spPr>
        <p:txBody>
          <a:bodyPr/>
          <a:lstStyle/>
          <a:p>
            <a:pPr lvl="0"/>
            <a:r>
              <a:rPr lang="en-US" dirty="0"/>
              <a:t>Array accesses (block RAM) can be bottlenecks inside functions or loops</a:t>
            </a:r>
          </a:p>
          <a:p>
            <a:pPr lvl="1"/>
            <a:r>
              <a:rPr lang="en-US" dirty="0"/>
              <a:t>Still prevents a II of 1 despite PIPELINE and DATAFLOW</a:t>
            </a:r>
          </a:p>
          <a:p>
            <a:pPr lvl="1"/>
            <a:r>
              <a:rPr lang="en-US" dirty="0"/>
              <a:t>Prevents processing of one sample per clock</a:t>
            </a:r>
          </a:p>
          <a:p>
            <a:endParaRPr lang="en-US" dirty="0"/>
          </a:p>
        </p:txBody>
      </p:sp>
      <p:sp>
        <p:nvSpPr>
          <p:cNvPr id="5" name="Slide Number Placeholder 4"/>
          <p:cNvSpPr>
            <a:spLocks noGrp="1"/>
          </p:cNvSpPr>
          <p:nvPr>
            <p:ph type="sldNum" sz="quarter" idx="10"/>
          </p:nvPr>
        </p:nvSpPr>
        <p:spPr/>
        <p:txBody>
          <a:bodyPr/>
          <a:lstStyle/>
          <a:p>
            <a:pPr>
              <a:defRPr/>
            </a:pPr>
            <a:r>
              <a:rPr lang="en-US" dirty="0"/>
              <a:t>Improving Performance 13- </a:t>
            </a:r>
            <a:fld id="{99D29FBF-A473-46DA-BC14-675AC1C8F9A5}" type="slidenum">
              <a:rPr lang="en-US" smtClean="0"/>
              <a:pPr>
                <a:defRPr/>
              </a:pPr>
              <a:t>76</a:t>
            </a:fld>
            <a:endParaRPr lang="en-US" dirty="0"/>
          </a:p>
        </p:txBody>
      </p:sp>
      <p:pic>
        <p:nvPicPr>
          <p:cNvPr id="102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039" y="2551823"/>
            <a:ext cx="5346533" cy="2749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bwMode="auto">
          <a:xfrm>
            <a:off x="6487256" y="3418779"/>
            <a:ext cx="48500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45720" rIns="91440" bIns="45720" numCol="1" rtlCol="0" anchor="t" anchorCtr="0" compatLnSpc="1">
            <a:prstTxWarp prst="textNoShape">
              <a:avLst/>
            </a:prstTxWarp>
            <a:spAutoFit/>
          </a:bodyPr>
          <a:lstStyle/>
          <a:p>
            <a:pPr>
              <a:lnSpc>
                <a:spcPct val="100000"/>
              </a:lnSpc>
            </a:pPr>
            <a:r>
              <a:rPr lang="en-US" b="1" kern="0" dirty="0">
                <a:solidFill>
                  <a:schemeClr val="tx1">
                    <a:lumMod val="75000"/>
                    <a:lumOff val="25000"/>
                  </a:schemeClr>
                </a:solidFill>
              </a:rPr>
              <a:t>Solution: Use ARRAY_PARTITION directive</a:t>
            </a:r>
          </a:p>
        </p:txBody>
      </p:sp>
      <p:pic>
        <p:nvPicPr>
          <p:cNvPr id="4" name="Picture 3">
            <a:extLst>
              <a:ext uri="{FF2B5EF4-FFF2-40B4-BE49-F238E27FC236}">
                <a16:creationId xmlns:a16="http://schemas.microsoft.com/office/drawing/2014/main" id="{B8D25F13-70CF-43A0-BCA4-FFA9349ECD02}"/>
              </a:ext>
            </a:extLst>
          </p:cNvPr>
          <p:cNvPicPr>
            <a:picLocks noChangeAspect="1"/>
          </p:cNvPicPr>
          <p:nvPr/>
        </p:nvPicPr>
        <p:blipFill>
          <a:blip r:embed="rId3"/>
          <a:stretch>
            <a:fillRect/>
          </a:stretch>
        </p:blipFill>
        <p:spPr>
          <a:xfrm>
            <a:off x="7062346" y="3837499"/>
            <a:ext cx="3983010" cy="2344016"/>
          </a:xfrm>
          <a:prstGeom prst="rect">
            <a:avLst/>
          </a:prstGeom>
        </p:spPr>
      </p:pic>
    </p:spTree>
    <p:extLst>
      <p:ext uri="{BB962C8B-B14F-4D97-AF65-F5344CB8AC3E}">
        <p14:creationId xmlns:p14="http://schemas.microsoft.com/office/powerpoint/2010/main" val="36307183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Structs and Arrays: The Default Handling</a:t>
            </a:r>
          </a:p>
        </p:txBody>
      </p:sp>
      <p:sp>
        <p:nvSpPr>
          <p:cNvPr id="3" name="Content Placeholder 2"/>
          <p:cNvSpPr>
            <a:spLocks noGrp="1"/>
          </p:cNvSpPr>
          <p:nvPr>
            <p:ph idx="1"/>
          </p:nvPr>
        </p:nvSpPr>
        <p:spPr/>
        <p:txBody>
          <a:bodyPr/>
          <a:lstStyle/>
          <a:p>
            <a:r>
              <a:rPr lang="en-US" dirty="0"/>
              <a:t>Structs are a commonly used coding construct</a:t>
            </a:r>
          </a:p>
          <a:p>
            <a:pPr lvl="1"/>
            <a:r>
              <a:rPr lang="en-US" dirty="0"/>
              <a:t>By default, structs are separated into their separate elements</a:t>
            </a:r>
          </a:p>
          <a:p>
            <a:pPr lvl="1"/>
            <a:endParaRPr lang="en-US" dirty="0"/>
          </a:p>
        </p:txBody>
      </p:sp>
      <p:sp>
        <p:nvSpPr>
          <p:cNvPr id="44" name="Slide Number Placeholder 43"/>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77</a:t>
            </a:fld>
            <a:endParaRPr lang="en-US" dirty="0"/>
          </a:p>
        </p:txBody>
      </p:sp>
      <p:sp>
        <p:nvSpPr>
          <p:cNvPr id="72" name="Content Placeholder 2"/>
          <p:cNvSpPr txBox="1">
            <a:spLocks/>
          </p:cNvSpPr>
          <p:nvPr/>
        </p:nvSpPr>
        <p:spPr bwMode="auto">
          <a:xfrm>
            <a:off x="6504735" y="2496156"/>
            <a:ext cx="5685679" cy="34179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p>
            <a:pPr marL="342900" indent="-342900" defTabSz="457200">
              <a:spcBef>
                <a:spcPct val="20000"/>
              </a:spcBef>
              <a:buFont typeface="Arial" charset="0"/>
              <a:buChar char="•"/>
              <a:defRPr/>
            </a:pPr>
            <a:r>
              <a:rPr lang="en-US" sz="2000" b="1" dirty="0">
                <a:latin typeface="Arial"/>
                <a:ea typeface="ＭＳ Ｐゴシック" pitchFamily="24" charset="-128"/>
                <a:cs typeface="Arial" charset="0"/>
              </a:rPr>
              <a:t>Treated as separate elements</a:t>
            </a:r>
          </a:p>
          <a:p>
            <a:pPr marL="342900" indent="-342900" defTabSz="457200">
              <a:spcBef>
                <a:spcPct val="20000"/>
              </a:spcBef>
              <a:buFont typeface="Arial" charset="0"/>
              <a:buChar char="•"/>
              <a:defRPr/>
            </a:pPr>
            <a:endParaRPr lang="en-US" sz="2000" b="1" dirty="0">
              <a:latin typeface="Arial"/>
              <a:ea typeface="ＭＳ Ｐゴシック" pitchFamily="24" charset="-128"/>
              <a:cs typeface="Arial" charset="0"/>
            </a:endParaRPr>
          </a:p>
          <a:p>
            <a:pPr marL="342900" indent="-342900" defTabSz="457200">
              <a:spcBef>
                <a:spcPct val="20000"/>
              </a:spcBef>
              <a:buFont typeface="Arial" charset="0"/>
              <a:buChar char="•"/>
              <a:defRPr/>
            </a:pPr>
            <a:r>
              <a:rPr lang="en-US" sz="2000" b="1" dirty="0">
                <a:latin typeface="Arial"/>
                <a:ea typeface="ＭＳ Ｐゴシック" pitchFamily="24" charset="-128"/>
                <a:cs typeface="Arial" charset="0"/>
              </a:rPr>
              <a:t>On the Interface</a:t>
            </a:r>
          </a:p>
          <a:p>
            <a:pPr marL="800100" lvl="1" indent="-342900" defTabSz="457200">
              <a:spcBef>
                <a:spcPct val="20000"/>
              </a:spcBef>
              <a:buFont typeface="Arial" pitchFamily="34" charset="0"/>
              <a:buChar char="−"/>
            </a:pPr>
            <a:r>
              <a:rPr lang="en-US" dirty="0">
                <a:latin typeface="Arial"/>
                <a:ea typeface="ＭＳ Ｐゴシック" pitchFamily="24" charset="-128"/>
                <a:cs typeface="Arial" charset="0"/>
              </a:rPr>
              <a:t>This means separate ports</a:t>
            </a:r>
            <a:endParaRPr lang="en-US" b="1" dirty="0">
              <a:latin typeface="Arial"/>
              <a:ea typeface="ＭＳ Ｐゴシック" pitchFamily="24" charset="-128"/>
              <a:cs typeface="Arial" charset="0"/>
            </a:endParaRPr>
          </a:p>
          <a:p>
            <a:pPr marL="342900" indent="-342900" defTabSz="457200">
              <a:spcBef>
                <a:spcPct val="20000"/>
              </a:spcBef>
              <a:buFont typeface="Arial" charset="0"/>
              <a:buChar char="•"/>
            </a:pPr>
            <a:r>
              <a:rPr lang="en-US" sz="2000" b="1" dirty="0">
                <a:latin typeface="Arial"/>
                <a:ea typeface="ＭＳ Ｐゴシック" pitchFamily="24" charset="-128"/>
                <a:cs typeface="Arial" charset="0"/>
              </a:rPr>
              <a:t>Internally</a:t>
            </a:r>
          </a:p>
          <a:p>
            <a:pPr marL="800100" lvl="1" indent="-342900" defTabSz="457200">
              <a:spcBef>
                <a:spcPct val="20000"/>
              </a:spcBef>
              <a:buFont typeface="Arial" pitchFamily="34" charset="0"/>
              <a:buChar char="−"/>
            </a:pPr>
            <a:r>
              <a:rPr lang="en-US" dirty="0">
                <a:solidFill>
                  <a:prstClr val="black"/>
                </a:solidFill>
                <a:latin typeface="Arial"/>
                <a:ea typeface="ＭＳ Ｐゴシック" pitchFamily="24" charset="-128"/>
                <a:cs typeface="Arial" charset="0"/>
              </a:rPr>
              <a:t>Separate buses &amp; wires</a:t>
            </a:r>
          </a:p>
          <a:p>
            <a:pPr marL="800100" lvl="1" indent="-342900" defTabSz="457200">
              <a:spcBef>
                <a:spcPct val="20000"/>
              </a:spcBef>
              <a:buFont typeface="Arial" pitchFamily="34" charset="0"/>
              <a:buChar char="−"/>
            </a:pPr>
            <a:r>
              <a:rPr lang="en-US" dirty="0">
                <a:solidFill>
                  <a:prstClr val="black"/>
                </a:solidFill>
                <a:latin typeface="Arial"/>
                <a:ea typeface="ＭＳ Ｐゴシック" pitchFamily="24" charset="-128"/>
                <a:cs typeface="Arial" charset="0"/>
              </a:rPr>
              <a:t>Separate control logic, which may be more complex, slower and increase latency</a:t>
            </a:r>
          </a:p>
          <a:p>
            <a:pPr marL="342900" indent="-342900" defTabSz="457200">
              <a:spcBef>
                <a:spcPct val="20000"/>
              </a:spcBef>
              <a:buFont typeface="Arial" panose="020B0604020202020204" pitchFamily="34" charset="0"/>
              <a:buChar char="•"/>
            </a:pPr>
            <a:r>
              <a:rPr lang="en-US" sz="2000" b="1" dirty="0"/>
              <a:t>Use the Aggregate directive to group them into a single element</a:t>
            </a:r>
            <a:endParaRPr lang="en-US" sz="2000" b="1" dirty="0">
              <a:solidFill>
                <a:prstClr val="black"/>
              </a:solidFill>
              <a:latin typeface="Arial"/>
              <a:ea typeface="ＭＳ Ｐゴシック" pitchFamily="24" charset="-128"/>
              <a:cs typeface="Arial" charset="0"/>
            </a:endParaRPr>
          </a:p>
        </p:txBody>
      </p:sp>
      <p:pic>
        <p:nvPicPr>
          <p:cNvPr id="108545" name="Picture 1"/>
          <p:cNvPicPr>
            <a:picLocks noChangeAspect="1" noChangeArrowheads="1"/>
          </p:cNvPicPr>
          <p:nvPr/>
        </p:nvPicPr>
        <p:blipFill>
          <a:blip r:embed="rId3"/>
          <a:srcRect/>
          <a:stretch>
            <a:fillRect/>
          </a:stretch>
        </p:blipFill>
        <p:spPr bwMode="auto">
          <a:xfrm>
            <a:off x="1429524" y="2258541"/>
            <a:ext cx="4973637" cy="4001972"/>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Structs and Arrays: The Default Handling</a:t>
            </a:r>
          </a:p>
        </p:txBody>
      </p:sp>
      <p:sp>
        <p:nvSpPr>
          <p:cNvPr id="3" name="Content Placeholder 2"/>
          <p:cNvSpPr>
            <a:spLocks noGrp="1"/>
          </p:cNvSpPr>
          <p:nvPr>
            <p:ph idx="1"/>
          </p:nvPr>
        </p:nvSpPr>
        <p:spPr/>
        <p:txBody>
          <a:bodyPr/>
          <a:lstStyle/>
          <a:p>
            <a:r>
              <a:rPr lang="en-US" dirty="0"/>
              <a:t>Structs are a commonly used coding construct</a:t>
            </a:r>
          </a:p>
          <a:p>
            <a:pPr lvl="1"/>
            <a:r>
              <a:rPr lang="en-US" dirty="0"/>
              <a:t>By default, structs are separated into their separate elements</a:t>
            </a:r>
          </a:p>
          <a:p>
            <a:pPr lvl="1"/>
            <a:endParaRPr lang="en-US" dirty="0"/>
          </a:p>
        </p:txBody>
      </p:sp>
      <p:sp>
        <p:nvSpPr>
          <p:cNvPr id="44" name="Slide Number Placeholder 43"/>
          <p:cNvSpPr>
            <a:spLocks noGrp="1"/>
          </p:cNvSpPr>
          <p:nvPr>
            <p:ph type="sldNum" sz="quarter" idx="10"/>
          </p:nvPr>
        </p:nvSpPr>
        <p:spPr/>
        <p:txBody>
          <a:bodyPr/>
          <a:lstStyle/>
          <a:p>
            <a:pPr>
              <a:defRPr/>
            </a:pPr>
            <a:r>
              <a:rPr lang="en-US" dirty="0"/>
              <a:t>Improving Performance 13- </a:t>
            </a:r>
            <a:fld id="{060BD193-E118-4B16-863C-C8C12C675E3E}" type="slidenum">
              <a:rPr lang="en-US" smtClean="0"/>
              <a:pPr>
                <a:defRPr/>
              </a:pPr>
              <a:t>78</a:t>
            </a:fld>
            <a:endParaRPr lang="en-US" dirty="0"/>
          </a:p>
        </p:txBody>
      </p:sp>
      <p:sp>
        <p:nvSpPr>
          <p:cNvPr id="72" name="Content Placeholder 2"/>
          <p:cNvSpPr txBox="1">
            <a:spLocks/>
          </p:cNvSpPr>
          <p:nvPr/>
        </p:nvSpPr>
        <p:spPr bwMode="auto">
          <a:xfrm>
            <a:off x="6504735" y="2496156"/>
            <a:ext cx="5685679" cy="34179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p>
            <a:pPr marL="342900" indent="-342900" defTabSz="457200">
              <a:spcBef>
                <a:spcPct val="20000"/>
              </a:spcBef>
              <a:buFont typeface="Arial" charset="0"/>
              <a:buChar char="•"/>
              <a:defRPr/>
            </a:pPr>
            <a:r>
              <a:rPr lang="en-US" sz="2000" b="1" dirty="0">
                <a:latin typeface="Arial"/>
                <a:ea typeface="ＭＳ Ｐゴシック" pitchFamily="24" charset="-128"/>
                <a:cs typeface="Arial" charset="0"/>
              </a:rPr>
              <a:t>Treated as separate elements</a:t>
            </a:r>
          </a:p>
          <a:p>
            <a:pPr marL="342900" indent="-342900" defTabSz="457200">
              <a:spcBef>
                <a:spcPct val="20000"/>
              </a:spcBef>
              <a:buFont typeface="Arial" charset="0"/>
              <a:buChar char="•"/>
              <a:defRPr/>
            </a:pPr>
            <a:endParaRPr lang="en-US" sz="2000" b="1" dirty="0">
              <a:latin typeface="Arial"/>
              <a:ea typeface="ＭＳ Ｐゴシック" pitchFamily="24" charset="-128"/>
              <a:cs typeface="Arial" charset="0"/>
            </a:endParaRPr>
          </a:p>
          <a:p>
            <a:pPr marL="342900" indent="-342900" defTabSz="457200">
              <a:spcBef>
                <a:spcPct val="20000"/>
              </a:spcBef>
              <a:buFont typeface="Arial" charset="0"/>
              <a:buChar char="•"/>
              <a:defRPr/>
            </a:pPr>
            <a:r>
              <a:rPr lang="en-US" sz="2000" b="1" dirty="0">
                <a:latin typeface="Arial"/>
                <a:ea typeface="ＭＳ Ｐゴシック" pitchFamily="24" charset="-128"/>
                <a:cs typeface="Arial" charset="0"/>
              </a:rPr>
              <a:t>On the Interface</a:t>
            </a:r>
          </a:p>
          <a:p>
            <a:pPr marL="800100" lvl="1" indent="-342900" defTabSz="457200">
              <a:spcBef>
                <a:spcPct val="20000"/>
              </a:spcBef>
              <a:buFont typeface="Arial" pitchFamily="34" charset="0"/>
              <a:buChar char="−"/>
            </a:pPr>
            <a:r>
              <a:rPr lang="en-US" dirty="0">
                <a:latin typeface="Arial"/>
                <a:ea typeface="ＭＳ Ｐゴシック" pitchFamily="24" charset="-128"/>
                <a:cs typeface="Arial" charset="0"/>
              </a:rPr>
              <a:t>This means separate ports</a:t>
            </a:r>
            <a:endParaRPr lang="en-US" b="1" dirty="0">
              <a:latin typeface="Arial"/>
              <a:ea typeface="ＭＳ Ｐゴシック" pitchFamily="24" charset="-128"/>
              <a:cs typeface="Arial" charset="0"/>
            </a:endParaRPr>
          </a:p>
          <a:p>
            <a:pPr marL="342900" indent="-342900" defTabSz="457200">
              <a:spcBef>
                <a:spcPct val="20000"/>
              </a:spcBef>
              <a:buFont typeface="Arial" charset="0"/>
              <a:buChar char="•"/>
            </a:pPr>
            <a:r>
              <a:rPr lang="en-US" sz="2000" b="1" dirty="0">
                <a:latin typeface="Arial"/>
                <a:ea typeface="ＭＳ Ｐゴシック" pitchFamily="24" charset="-128"/>
                <a:cs typeface="Arial" charset="0"/>
              </a:rPr>
              <a:t>Internally</a:t>
            </a:r>
          </a:p>
          <a:p>
            <a:pPr marL="800100" lvl="1" indent="-342900" defTabSz="457200">
              <a:spcBef>
                <a:spcPct val="20000"/>
              </a:spcBef>
              <a:buFont typeface="Arial" pitchFamily="34" charset="0"/>
              <a:buChar char="−"/>
            </a:pPr>
            <a:r>
              <a:rPr lang="en-US" dirty="0">
                <a:solidFill>
                  <a:prstClr val="black"/>
                </a:solidFill>
                <a:latin typeface="Arial"/>
                <a:ea typeface="ＭＳ Ｐゴシック" pitchFamily="24" charset="-128"/>
                <a:cs typeface="Arial" charset="0"/>
              </a:rPr>
              <a:t>Separate buses &amp; wires</a:t>
            </a:r>
          </a:p>
          <a:p>
            <a:pPr marL="800100" lvl="1" indent="-342900" defTabSz="457200">
              <a:spcBef>
                <a:spcPct val="20000"/>
              </a:spcBef>
              <a:buFont typeface="Arial" pitchFamily="34" charset="0"/>
              <a:buChar char="−"/>
            </a:pPr>
            <a:r>
              <a:rPr lang="en-US" dirty="0">
                <a:solidFill>
                  <a:prstClr val="black"/>
                </a:solidFill>
                <a:latin typeface="Arial"/>
                <a:ea typeface="ＭＳ Ｐゴシック" pitchFamily="24" charset="-128"/>
                <a:cs typeface="Arial" charset="0"/>
              </a:rPr>
              <a:t>Separate control logic, which may be more complex, slower and increase latency</a:t>
            </a:r>
          </a:p>
          <a:p>
            <a:pPr marL="342900" indent="-342900" defTabSz="457200">
              <a:spcBef>
                <a:spcPct val="20000"/>
              </a:spcBef>
              <a:buFont typeface="Arial" panose="020B0604020202020204" pitchFamily="34" charset="0"/>
              <a:buChar char="•"/>
            </a:pPr>
            <a:r>
              <a:rPr lang="en-US" sz="2000" b="1" dirty="0"/>
              <a:t>Use the DATA_PACK directive to group them into a single element</a:t>
            </a:r>
            <a:endParaRPr lang="en-US" sz="2000" b="1" dirty="0">
              <a:solidFill>
                <a:prstClr val="black"/>
              </a:solidFill>
              <a:latin typeface="Arial"/>
              <a:ea typeface="ＭＳ Ｐゴシック" pitchFamily="24" charset="-128"/>
              <a:cs typeface="Arial" charset="0"/>
            </a:endParaRPr>
          </a:p>
        </p:txBody>
      </p:sp>
      <p:pic>
        <p:nvPicPr>
          <p:cNvPr id="108545" name="Picture 1"/>
          <p:cNvPicPr>
            <a:picLocks noChangeAspect="1" noChangeArrowheads="1"/>
          </p:cNvPicPr>
          <p:nvPr/>
        </p:nvPicPr>
        <p:blipFill>
          <a:blip r:embed="rId3"/>
          <a:srcRect/>
          <a:stretch>
            <a:fillRect/>
          </a:stretch>
        </p:blipFill>
        <p:spPr bwMode="auto">
          <a:xfrm>
            <a:off x="1429524" y="2258541"/>
            <a:ext cx="4973637" cy="4001972"/>
          </a:xfrm>
          <a:prstGeom prst="rect">
            <a:avLst/>
          </a:prstGeom>
          <a:noFill/>
          <a:ln w="9525">
            <a:noFill/>
            <a:miter lim="800000"/>
            <a:headEnd/>
            <a:tailEnd/>
          </a:ln>
        </p:spPr>
      </p:pic>
    </p:spTree>
    <p:extLst>
      <p:ext uri="{BB962C8B-B14F-4D97-AF65-F5344CB8AC3E}">
        <p14:creationId xmlns:p14="http://schemas.microsoft.com/office/powerpoint/2010/main" val="18113931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Aggregate</a:t>
            </a:r>
          </a:p>
        </p:txBody>
      </p:sp>
      <p:sp>
        <p:nvSpPr>
          <p:cNvPr id="3" name="Content Placeholder 2"/>
          <p:cNvSpPr>
            <a:spLocks noGrp="1"/>
          </p:cNvSpPr>
          <p:nvPr>
            <p:ph idx="1"/>
          </p:nvPr>
        </p:nvSpPr>
        <p:spPr>
          <a:xfrm>
            <a:off x="579119" y="1210056"/>
            <a:ext cx="10515600" cy="4759404"/>
          </a:xfrm>
        </p:spPr>
        <p:txBody>
          <a:bodyPr/>
          <a:lstStyle/>
          <a:p>
            <a:r>
              <a:rPr lang="en-US" dirty="0"/>
              <a:t>Aggregate groups structs internally and at the IO Interface</a:t>
            </a:r>
          </a:p>
          <a:p>
            <a:pPr lvl="1"/>
            <a:r>
              <a:rPr lang="en-US" dirty="0"/>
              <a:t>Creates a single wide bus of all struct elements</a:t>
            </a:r>
          </a:p>
          <a:p>
            <a:pPr lvl="1"/>
            <a:endParaRPr lang="en-US" dirty="0"/>
          </a:p>
        </p:txBody>
      </p:sp>
      <p:sp>
        <p:nvSpPr>
          <p:cNvPr id="39" name="Slide Number Placeholder 38"/>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79</a:t>
            </a:fld>
            <a:endParaRPr lang="en-US" dirty="0"/>
          </a:p>
        </p:txBody>
      </p:sp>
      <p:sp>
        <p:nvSpPr>
          <p:cNvPr id="72" name="Content Placeholder 2"/>
          <p:cNvSpPr txBox="1">
            <a:spLocks/>
          </p:cNvSpPr>
          <p:nvPr/>
        </p:nvSpPr>
        <p:spPr bwMode="auto">
          <a:xfrm>
            <a:off x="6430964" y="2565400"/>
            <a:ext cx="5419724" cy="36671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L="342900" indent="-342900" defTabSz="457200">
              <a:spcBef>
                <a:spcPct val="20000"/>
              </a:spcBef>
              <a:buFont typeface="Arial" charset="0"/>
              <a:buChar char="•"/>
              <a:defRPr/>
            </a:pPr>
            <a:r>
              <a:rPr lang="en-US" sz="2000" b="1" dirty="0">
                <a:latin typeface="Arial"/>
                <a:ea typeface="ＭＳ Ｐゴシック" pitchFamily="24" charset="-128"/>
                <a:cs typeface="Arial" charset="0"/>
              </a:rPr>
              <a:t>Grouped structure</a:t>
            </a:r>
          </a:p>
          <a:p>
            <a:pPr marL="800100" lvl="1" indent="-342900" defTabSz="457200">
              <a:spcBef>
                <a:spcPct val="20000"/>
              </a:spcBef>
              <a:buFont typeface="Arial" pitchFamily="34" charset="0"/>
              <a:buChar char="−"/>
            </a:pPr>
            <a:r>
              <a:rPr lang="en-US" dirty="0">
                <a:ea typeface="ＭＳ Ｐゴシック" pitchFamily="24" charset="-128"/>
                <a:cs typeface="Arial" charset="0"/>
              </a:rPr>
              <a:t>First element in the struct becomes the LSB</a:t>
            </a:r>
          </a:p>
          <a:p>
            <a:pPr marL="800100" lvl="1" indent="-342900" defTabSz="457200">
              <a:spcBef>
                <a:spcPct val="20000"/>
              </a:spcBef>
              <a:buFont typeface="Arial" pitchFamily="34" charset="0"/>
              <a:buChar char="−"/>
            </a:pPr>
            <a:r>
              <a:rPr lang="en-US" dirty="0">
                <a:ea typeface="ＭＳ Ｐゴシック" pitchFamily="24" charset="-128"/>
                <a:cs typeface="Arial" charset="0"/>
              </a:rPr>
              <a:t>Last struct element becomes the MSB</a:t>
            </a:r>
          </a:p>
          <a:p>
            <a:pPr marL="800100" lvl="1" indent="-342900" defTabSz="457200">
              <a:spcBef>
                <a:spcPct val="20000"/>
              </a:spcBef>
              <a:buFont typeface="Arial" pitchFamily="34" charset="0"/>
              <a:buChar char="−"/>
            </a:pPr>
            <a:r>
              <a:rPr lang="en-US" dirty="0">
                <a:ea typeface="ＭＳ Ｐゴシック" pitchFamily="24" charset="-128"/>
                <a:cs typeface="Arial" charset="0"/>
              </a:rPr>
              <a:t>Arrays are partitioning completely</a:t>
            </a:r>
            <a:endParaRPr lang="en-US" b="1" dirty="0">
              <a:latin typeface="Arial"/>
              <a:ea typeface="ＭＳ Ｐゴシック" pitchFamily="24" charset="-128"/>
              <a:cs typeface="Arial" charset="0"/>
            </a:endParaRPr>
          </a:p>
          <a:p>
            <a:pPr marL="342900" indent="-342900" defTabSz="457200">
              <a:spcBef>
                <a:spcPct val="20000"/>
              </a:spcBef>
              <a:buFont typeface="Arial" charset="0"/>
              <a:buChar char="•"/>
              <a:defRPr/>
            </a:pPr>
            <a:r>
              <a:rPr lang="en-US" sz="2000" b="1" dirty="0">
                <a:latin typeface="Arial"/>
                <a:ea typeface="ＭＳ Ｐゴシック" pitchFamily="24" charset="-128"/>
                <a:cs typeface="Arial" charset="0"/>
              </a:rPr>
              <a:t>On the Interface</a:t>
            </a:r>
          </a:p>
          <a:p>
            <a:pPr marL="800100" lvl="1" indent="-342900" defTabSz="457200">
              <a:spcBef>
                <a:spcPct val="20000"/>
              </a:spcBef>
              <a:buFont typeface="Arial" pitchFamily="34" charset="0"/>
              <a:buChar char="−"/>
            </a:pPr>
            <a:r>
              <a:rPr lang="en-US" dirty="0">
                <a:latin typeface="Arial"/>
                <a:ea typeface="ＭＳ Ｐゴシック" pitchFamily="24" charset="-128"/>
                <a:cs typeface="Arial" charset="0"/>
              </a:rPr>
              <a:t>This means a single port</a:t>
            </a:r>
            <a:endParaRPr lang="en-US" b="1" dirty="0">
              <a:latin typeface="Arial"/>
              <a:ea typeface="ＭＳ Ｐゴシック" pitchFamily="24" charset="-128"/>
              <a:cs typeface="Arial" charset="0"/>
            </a:endParaRPr>
          </a:p>
          <a:p>
            <a:pPr marL="342900" indent="-342900" defTabSz="457200">
              <a:spcBef>
                <a:spcPct val="20000"/>
              </a:spcBef>
              <a:buFont typeface="Arial" charset="0"/>
              <a:buChar char="•"/>
            </a:pPr>
            <a:r>
              <a:rPr lang="en-US" sz="2000" b="1" dirty="0">
                <a:latin typeface="Arial"/>
                <a:ea typeface="ＭＳ Ｐゴシック" pitchFamily="24" charset="-128"/>
                <a:cs typeface="Arial" charset="0"/>
              </a:rPr>
              <a:t>Internally</a:t>
            </a:r>
          </a:p>
          <a:p>
            <a:pPr marL="800100" lvl="1" indent="-342900" defTabSz="457200">
              <a:spcBef>
                <a:spcPct val="20000"/>
              </a:spcBef>
              <a:buFont typeface="Arial" pitchFamily="34" charset="0"/>
              <a:buChar char="−"/>
            </a:pPr>
            <a:r>
              <a:rPr lang="en-US" dirty="0">
                <a:latin typeface="Arial"/>
                <a:ea typeface="ＭＳ Ｐゴシック" pitchFamily="24" charset="-128"/>
                <a:cs typeface="Arial" charset="0"/>
              </a:rPr>
              <a:t>Single bus</a:t>
            </a:r>
          </a:p>
          <a:p>
            <a:pPr marL="800100" lvl="1" indent="-342900" defTabSz="457200">
              <a:spcBef>
                <a:spcPct val="20000"/>
              </a:spcBef>
              <a:buFont typeface="Arial" pitchFamily="34" charset="0"/>
              <a:buChar char="−"/>
            </a:pPr>
            <a:r>
              <a:rPr lang="en-US" dirty="0">
                <a:latin typeface="Arial"/>
                <a:ea typeface="ＭＳ Ｐゴシック" pitchFamily="24" charset="-128"/>
                <a:cs typeface="Arial" charset="0"/>
              </a:rPr>
              <a:t>May result in simplified control logic, faster and lower latency designs</a:t>
            </a:r>
          </a:p>
        </p:txBody>
      </p:sp>
      <p:pic>
        <p:nvPicPr>
          <p:cNvPr id="104449" name="Picture 1"/>
          <p:cNvPicPr>
            <a:picLocks noChangeAspect="1" noChangeArrowheads="1"/>
          </p:cNvPicPr>
          <p:nvPr/>
        </p:nvPicPr>
        <p:blipFill>
          <a:blip r:embed="rId2"/>
          <a:srcRect/>
          <a:stretch>
            <a:fillRect/>
          </a:stretch>
        </p:blipFill>
        <p:spPr bwMode="auto">
          <a:xfrm>
            <a:off x="1662580" y="2183244"/>
            <a:ext cx="4670425" cy="3999494"/>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Packing</a:t>
            </a:r>
          </a:p>
        </p:txBody>
      </p:sp>
      <p:sp>
        <p:nvSpPr>
          <p:cNvPr id="3" name="Content Placeholder 2"/>
          <p:cNvSpPr>
            <a:spLocks noGrp="1"/>
          </p:cNvSpPr>
          <p:nvPr>
            <p:ph idx="1"/>
          </p:nvPr>
        </p:nvSpPr>
        <p:spPr/>
        <p:txBody>
          <a:bodyPr/>
          <a:lstStyle/>
          <a:p>
            <a:r>
              <a:rPr lang="en-US" dirty="0"/>
              <a:t>Data packing groups structs internally and at the IO Interface</a:t>
            </a:r>
          </a:p>
          <a:p>
            <a:pPr lvl="1"/>
            <a:r>
              <a:rPr lang="en-US" dirty="0"/>
              <a:t>Creates a single wide bus of all struct elements</a:t>
            </a:r>
          </a:p>
          <a:p>
            <a:pPr lvl="1"/>
            <a:endParaRPr lang="en-US" dirty="0"/>
          </a:p>
        </p:txBody>
      </p:sp>
      <p:sp>
        <p:nvSpPr>
          <p:cNvPr id="39" name="Slide Number Placeholder 38"/>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80</a:t>
            </a:fld>
            <a:endParaRPr lang="en-US" dirty="0"/>
          </a:p>
        </p:txBody>
      </p:sp>
      <p:sp>
        <p:nvSpPr>
          <p:cNvPr id="72" name="Content Placeholder 2"/>
          <p:cNvSpPr txBox="1">
            <a:spLocks/>
          </p:cNvSpPr>
          <p:nvPr/>
        </p:nvSpPr>
        <p:spPr bwMode="auto">
          <a:xfrm>
            <a:off x="6430964" y="2565400"/>
            <a:ext cx="5419724" cy="36671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L="342900" indent="-342900" defTabSz="457200">
              <a:spcBef>
                <a:spcPct val="20000"/>
              </a:spcBef>
              <a:buFont typeface="Arial" charset="0"/>
              <a:buChar char="•"/>
              <a:defRPr/>
            </a:pPr>
            <a:r>
              <a:rPr lang="en-US" sz="2000" b="1" dirty="0">
                <a:latin typeface="Arial"/>
                <a:ea typeface="ＭＳ Ｐゴシック" pitchFamily="24" charset="-128"/>
                <a:cs typeface="Arial" charset="0"/>
              </a:rPr>
              <a:t>Grouped structure</a:t>
            </a:r>
          </a:p>
          <a:p>
            <a:pPr marL="800100" lvl="1" indent="-342900" defTabSz="457200">
              <a:spcBef>
                <a:spcPct val="20000"/>
              </a:spcBef>
              <a:buFont typeface="Arial" pitchFamily="34" charset="0"/>
              <a:buChar char="−"/>
            </a:pPr>
            <a:r>
              <a:rPr lang="en-US" dirty="0">
                <a:ea typeface="ＭＳ Ｐゴシック" pitchFamily="24" charset="-128"/>
                <a:cs typeface="Arial" charset="0"/>
              </a:rPr>
              <a:t>First element in the struct becomes the LSB</a:t>
            </a:r>
          </a:p>
          <a:p>
            <a:pPr marL="800100" lvl="1" indent="-342900" defTabSz="457200">
              <a:spcBef>
                <a:spcPct val="20000"/>
              </a:spcBef>
              <a:buFont typeface="Arial" pitchFamily="34" charset="0"/>
              <a:buChar char="−"/>
            </a:pPr>
            <a:r>
              <a:rPr lang="en-US" dirty="0">
                <a:ea typeface="ＭＳ Ｐゴシック" pitchFamily="24" charset="-128"/>
                <a:cs typeface="Arial" charset="0"/>
              </a:rPr>
              <a:t>Last struct element becomes the MSB</a:t>
            </a:r>
          </a:p>
          <a:p>
            <a:pPr marL="800100" lvl="1" indent="-342900" defTabSz="457200">
              <a:spcBef>
                <a:spcPct val="20000"/>
              </a:spcBef>
              <a:buFont typeface="Arial" pitchFamily="34" charset="0"/>
              <a:buChar char="−"/>
            </a:pPr>
            <a:r>
              <a:rPr lang="en-US" dirty="0">
                <a:ea typeface="ＭＳ Ｐゴシック" pitchFamily="24" charset="-128"/>
                <a:cs typeface="Arial" charset="0"/>
              </a:rPr>
              <a:t>Arrays are partitioning completely</a:t>
            </a:r>
            <a:endParaRPr lang="en-US" b="1" dirty="0">
              <a:latin typeface="Arial"/>
              <a:ea typeface="ＭＳ Ｐゴシック" pitchFamily="24" charset="-128"/>
              <a:cs typeface="Arial" charset="0"/>
            </a:endParaRPr>
          </a:p>
          <a:p>
            <a:pPr marL="342900" indent="-342900" defTabSz="457200">
              <a:spcBef>
                <a:spcPct val="20000"/>
              </a:spcBef>
              <a:buFont typeface="Arial" charset="0"/>
              <a:buChar char="•"/>
              <a:defRPr/>
            </a:pPr>
            <a:r>
              <a:rPr lang="en-US" sz="2000" b="1" dirty="0">
                <a:latin typeface="Arial"/>
                <a:ea typeface="ＭＳ Ｐゴシック" pitchFamily="24" charset="-128"/>
                <a:cs typeface="Arial" charset="0"/>
              </a:rPr>
              <a:t>On the Interface</a:t>
            </a:r>
          </a:p>
          <a:p>
            <a:pPr marL="800100" lvl="1" indent="-342900" defTabSz="457200">
              <a:spcBef>
                <a:spcPct val="20000"/>
              </a:spcBef>
              <a:buFont typeface="Arial" pitchFamily="34" charset="0"/>
              <a:buChar char="−"/>
            </a:pPr>
            <a:r>
              <a:rPr lang="en-US" dirty="0">
                <a:latin typeface="Arial"/>
                <a:ea typeface="ＭＳ Ｐゴシック" pitchFamily="24" charset="-128"/>
                <a:cs typeface="Arial" charset="0"/>
              </a:rPr>
              <a:t>This means a single port</a:t>
            </a:r>
            <a:endParaRPr lang="en-US" b="1" dirty="0">
              <a:latin typeface="Arial"/>
              <a:ea typeface="ＭＳ Ｐゴシック" pitchFamily="24" charset="-128"/>
              <a:cs typeface="Arial" charset="0"/>
            </a:endParaRPr>
          </a:p>
          <a:p>
            <a:pPr marL="342900" indent="-342900" defTabSz="457200">
              <a:spcBef>
                <a:spcPct val="20000"/>
              </a:spcBef>
              <a:buFont typeface="Arial" charset="0"/>
              <a:buChar char="•"/>
            </a:pPr>
            <a:r>
              <a:rPr lang="en-US" sz="2000" b="1" dirty="0">
                <a:latin typeface="Arial"/>
                <a:ea typeface="ＭＳ Ｐゴシック" pitchFamily="24" charset="-128"/>
                <a:cs typeface="Arial" charset="0"/>
              </a:rPr>
              <a:t>Internally</a:t>
            </a:r>
          </a:p>
          <a:p>
            <a:pPr marL="800100" lvl="1" indent="-342900" defTabSz="457200">
              <a:spcBef>
                <a:spcPct val="20000"/>
              </a:spcBef>
              <a:buFont typeface="Arial" pitchFamily="34" charset="0"/>
              <a:buChar char="−"/>
            </a:pPr>
            <a:r>
              <a:rPr lang="en-US" dirty="0">
                <a:latin typeface="Arial"/>
                <a:ea typeface="ＭＳ Ｐゴシック" pitchFamily="24" charset="-128"/>
                <a:cs typeface="Arial" charset="0"/>
              </a:rPr>
              <a:t>Single bus</a:t>
            </a:r>
          </a:p>
          <a:p>
            <a:pPr marL="800100" lvl="1" indent="-342900" defTabSz="457200">
              <a:spcBef>
                <a:spcPct val="20000"/>
              </a:spcBef>
              <a:buFont typeface="Arial" pitchFamily="34" charset="0"/>
              <a:buChar char="−"/>
            </a:pPr>
            <a:r>
              <a:rPr lang="en-US" dirty="0">
                <a:latin typeface="Arial"/>
                <a:ea typeface="ＭＳ Ｐゴシック" pitchFamily="24" charset="-128"/>
                <a:cs typeface="Arial" charset="0"/>
              </a:rPr>
              <a:t>May result in simplified control logic, faster and lower latency designs</a:t>
            </a:r>
          </a:p>
        </p:txBody>
      </p:sp>
      <p:pic>
        <p:nvPicPr>
          <p:cNvPr id="104449" name="Picture 1"/>
          <p:cNvPicPr>
            <a:picLocks noChangeAspect="1" noChangeArrowheads="1"/>
          </p:cNvPicPr>
          <p:nvPr/>
        </p:nvPicPr>
        <p:blipFill>
          <a:blip r:embed="rId2"/>
          <a:srcRect/>
          <a:stretch>
            <a:fillRect/>
          </a:stretch>
        </p:blipFill>
        <p:spPr bwMode="auto">
          <a:xfrm>
            <a:off x="1662580" y="2183244"/>
            <a:ext cx="4670425" cy="3999494"/>
          </a:xfrm>
          <a:prstGeom prst="rect">
            <a:avLst/>
          </a:prstGeom>
          <a:noFill/>
          <a:ln w="9525">
            <a:noFill/>
            <a:miter lim="800000"/>
            <a:headEnd/>
            <a:tailEnd/>
          </a:ln>
        </p:spPr>
      </p:pic>
    </p:spTree>
    <p:extLst>
      <p:ext uri="{BB962C8B-B14F-4D97-AF65-F5344CB8AC3E}">
        <p14:creationId xmlns:p14="http://schemas.microsoft.com/office/powerpoint/2010/main" val="38192770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Using Aggregate Directive</a:t>
            </a:r>
          </a:p>
        </p:txBody>
      </p:sp>
      <p:sp>
        <p:nvSpPr>
          <p:cNvPr id="2" name="Content Placeholder 1"/>
          <p:cNvSpPr>
            <a:spLocks noGrp="1"/>
          </p:cNvSpPr>
          <p:nvPr>
            <p:ph sz="half" idx="1"/>
          </p:nvPr>
        </p:nvSpPr>
        <p:spPr/>
        <p:txBody>
          <a:bodyPr/>
          <a:lstStyle/>
          <a:p>
            <a:pPr lvl="0"/>
            <a:r>
              <a:rPr lang="en-US" dirty="0"/>
              <a:t>Apply the Aggregate directive</a:t>
            </a:r>
          </a:p>
          <a:p>
            <a:pPr lvl="1"/>
            <a:r>
              <a:rPr lang="en-US" dirty="0"/>
              <a:t>Select and specify the struct variable to pack</a:t>
            </a:r>
          </a:p>
          <a:p>
            <a:endParaRPr lang="en-US" dirty="0"/>
          </a:p>
        </p:txBody>
      </p:sp>
      <p:sp>
        <p:nvSpPr>
          <p:cNvPr id="5" name="Slide Number Placeholder 4"/>
          <p:cNvSpPr>
            <a:spLocks noGrp="1"/>
          </p:cNvSpPr>
          <p:nvPr>
            <p:ph type="sldNum" sz="quarter" idx="10"/>
          </p:nvPr>
        </p:nvSpPr>
        <p:spPr/>
        <p:txBody>
          <a:bodyPr/>
          <a:lstStyle/>
          <a:p>
            <a:pPr>
              <a:defRPr/>
            </a:pPr>
            <a:r>
              <a:rPr lang="en-US"/>
              <a:t>Improving Performance 13- </a:t>
            </a:r>
            <a:fld id="{99D29FBF-A473-46DA-BC14-675AC1C8F9A5}" type="slidenum">
              <a:rPr lang="en-US" smtClean="0"/>
              <a:pPr>
                <a:defRPr/>
              </a:pPr>
              <a:t>81</a:t>
            </a:fld>
            <a:endParaRPr lang="en-US" dirty="0"/>
          </a:p>
        </p:txBody>
      </p:sp>
      <p:pic>
        <p:nvPicPr>
          <p:cNvPr id="7" name="图片 6" descr="图形用户界面, 应用程序&#10;&#10;描述已自动生成">
            <a:extLst>
              <a:ext uri="{FF2B5EF4-FFF2-40B4-BE49-F238E27FC236}">
                <a16:creationId xmlns:a16="http://schemas.microsoft.com/office/drawing/2014/main" id="{880357EF-68F4-465D-AF80-BA134A2AC794}"/>
              </a:ext>
            </a:extLst>
          </p:cNvPr>
          <p:cNvPicPr>
            <a:picLocks noChangeAspect="1"/>
          </p:cNvPicPr>
          <p:nvPr/>
        </p:nvPicPr>
        <p:blipFill>
          <a:blip r:embed="rId2"/>
          <a:stretch>
            <a:fillRect/>
          </a:stretch>
        </p:blipFill>
        <p:spPr>
          <a:xfrm>
            <a:off x="6968857" y="1463041"/>
            <a:ext cx="2774197" cy="4572000"/>
          </a:xfrm>
          <a:prstGeom prst="rect">
            <a:avLst/>
          </a:prstGeom>
        </p:spPr>
      </p:pic>
    </p:spTree>
    <p:extLst>
      <p:ext uri="{BB962C8B-B14F-4D97-AF65-F5344CB8AC3E}">
        <p14:creationId xmlns:p14="http://schemas.microsoft.com/office/powerpoint/2010/main" val="29756519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Using Data Pack Directive</a:t>
            </a:r>
          </a:p>
        </p:txBody>
      </p:sp>
      <p:sp>
        <p:nvSpPr>
          <p:cNvPr id="2" name="Content Placeholder 1"/>
          <p:cNvSpPr>
            <a:spLocks noGrp="1"/>
          </p:cNvSpPr>
          <p:nvPr>
            <p:ph sz="half" idx="1"/>
          </p:nvPr>
        </p:nvSpPr>
        <p:spPr/>
        <p:txBody>
          <a:bodyPr/>
          <a:lstStyle/>
          <a:p>
            <a:pPr lvl="0"/>
            <a:r>
              <a:rPr lang="en-US" dirty="0"/>
              <a:t>Apply the DATA_PACK directive</a:t>
            </a:r>
          </a:p>
          <a:p>
            <a:pPr lvl="1"/>
            <a:r>
              <a:rPr lang="en-US" dirty="0"/>
              <a:t>Select and specify the struct variable to pack</a:t>
            </a:r>
          </a:p>
          <a:p>
            <a:endParaRPr lang="en-US" dirty="0"/>
          </a:p>
        </p:txBody>
      </p:sp>
      <p:sp>
        <p:nvSpPr>
          <p:cNvPr id="5" name="Slide Number Placeholder 4"/>
          <p:cNvSpPr>
            <a:spLocks noGrp="1"/>
          </p:cNvSpPr>
          <p:nvPr>
            <p:ph type="sldNum" sz="quarter" idx="10"/>
          </p:nvPr>
        </p:nvSpPr>
        <p:spPr/>
        <p:txBody>
          <a:bodyPr/>
          <a:lstStyle/>
          <a:p>
            <a:pPr>
              <a:defRPr/>
            </a:pPr>
            <a:r>
              <a:rPr lang="en-US"/>
              <a:t>Improving Performance 13- </a:t>
            </a:r>
            <a:fld id="{99D29FBF-A473-46DA-BC14-675AC1C8F9A5}" type="slidenum">
              <a:rPr lang="en-US" smtClean="0"/>
              <a:pPr>
                <a:defRPr/>
              </a:pPr>
              <a:t>82</a:t>
            </a:fld>
            <a:endParaRPr lang="en-US" dirty="0"/>
          </a:p>
        </p:txBody>
      </p:sp>
      <p:pic>
        <p:nvPicPr>
          <p:cNvPr id="4" name="Picture 3">
            <a:extLst>
              <a:ext uri="{FF2B5EF4-FFF2-40B4-BE49-F238E27FC236}">
                <a16:creationId xmlns:a16="http://schemas.microsoft.com/office/drawing/2014/main" id="{C7040A51-2532-468D-AEC3-82F490581222}"/>
              </a:ext>
            </a:extLst>
          </p:cNvPr>
          <p:cNvPicPr>
            <a:picLocks noChangeAspect="1"/>
          </p:cNvPicPr>
          <p:nvPr/>
        </p:nvPicPr>
        <p:blipFill>
          <a:blip r:embed="rId2"/>
          <a:stretch>
            <a:fillRect/>
          </a:stretch>
        </p:blipFill>
        <p:spPr>
          <a:xfrm>
            <a:off x="5632363" y="1463042"/>
            <a:ext cx="5936421" cy="3173413"/>
          </a:xfrm>
          <a:prstGeom prst="rect">
            <a:avLst/>
          </a:prstGeom>
        </p:spPr>
      </p:pic>
    </p:spTree>
    <p:extLst>
      <p:ext uri="{BB962C8B-B14F-4D97-AF65-F5344CB8AC3E}">
        <p14:creationId xmlns:p14="http://schemas.microsoft.com/office/powerpoint/2010/main" val="32382512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6AE7F-DC66-456F-882E-114364D39AA7}"/>
              </a:ext>
            </a:extLst>
          </p:cNvPr>
          <p:cNvSpPr>
            <a:spLocks noGrp="1"/>
          </p:cNvSpPr>
          <p:nvPr>
            <p:ph type="title"/>
          </p:nvPr>
        </p:nvSpPr>
        <p:spPr/>
        <p:txBody>
          <a:bodyPr/>
          <a:lstStyle/>
          <a:p>
            <a:r>
              <a:rPr lang="en-US" altLang="zh-CN" dirty="0"/>
              <a:t>Summary</a:t>
            </a:r>
            <a:endParaRPr lang="zh-CN" altLang="en-US" dirty="0"/>
          </a:p>
        </p:txBody>
      </p:sp>
    </p:spTree>
    <p:extLst>
      <p:ext uri="{BB962C8B-B14F-4D97-AF65-F5344CB8AC3E}">
        <p14:creationId xmlns:p14="http://schemas.microsoft.com/office/powerpoint/2010/main" val="1810632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Directives may be added through GUI </a:t>
            </a:r>
          </a:p>
          <a:p>
            <a:pPr lvl="1"/>
            <a:r>
              <a:rPr lang="en-US" dirty="0" err="1"/>
              <a:t>Tcl</a:t>
            </a:r>
            <a:r>
              <a:rPr lang="en-US" dirty="0"/>
              <a:t> command is added into script.tcl file</a:t>
            </a:r>
          </a:p>
          <a:p>
            <a:pPr lvl="1"/>
            <a:r>
              <a:rPr lang="en-US" dirty="0" err="1"/>
              <a:t>Pragmas</a:t>
            </a:r>
            <a:r>
              <a:rPr lang="en-US" dirty="0"/>
              <a:t> are added into the source file</a:t>
            </a:r>
          </a:p>
          <a:p>
            <a:r>
              <a:rPr lang="en-US" dirty="0"/>
              <a:t>Latency is minimized by default </a:t>
            </a:r>
          </a:p>
          <a:p>
            <a:pPr lvl="1"/>
            <a:r>
              <a:rPr lang="en-US" dirty="0"/>
              <a:t>Constraints can be set</a:t>
            </a:r>
          </a:p>
          <a:p>
            <a:r>
              <a:rPr lang="en-US" dirty="0"/>
              <a:t>Loops may have impact on the latency</a:t>
            </a:r>
          </a:p>
          <a:p>
            <a:r>
              <a:rPr lang="en-US" dirty="0"/>
              <a:t>Throughput may be improved by pipelining at</a:t>
            </a:r>
          </a:p>
          <a:p>
            <a:pPr lvl="1"/>
            <a:r>
              <a:rPr lang="en-US" dirty="0"/>
              <a:t>The task, function, and loop level</a:t>
            </a:r>
          </a:p>
          <a:p>
            <a:r>
              <a:rPr lang="en-US" dirty="0"/>
              <a:t>Arrays may create performance bottleneck if not handled properly</a:t>
            </a:r>
          </a:p>
          <a:p>
            <a:pPr lvl="1">
              <a:buNone/>
            </a:pPr>
            <a:endParaRPr lang="en-US" dirty="0"/>
          </a:p>
          <a:p>
            <a:endParaRPr lang="en-US" dirty="0"/>
          </a:p>
          <a:p>
            <a:pPr lvl="1"/>
            <a:endParaRPr lang="en-US" dirty="0"/>
          </a:p>
          <a:p>
            <a:endParaRPr lang="en-US" dirty="0"/>
          </a:p>
        </p:txBody>
      </p:sp>
      <p:sp>
        <p:nvSpPr>
          <p:cNvPr id="6" name="Slide Number Placeholder 5"/>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84</a:t>
            </a:fld>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n-lt"/>
                <a:ea typeface="宋体" charset="-122"/>
              </a:rPr>
              <a:t>Summary</a:t>
            </a:r>
            <a:endParaRPr lang="en-US" dirty="0">
              <a:latin typeface="+mn-lt"/>
            </a:endParaRPr>
          </a:p>
        </p:txBody>
      </p:sp>
      <p:sp>
        <p:nvSpPr>
          <p:cNvPr id="3" name="Content Placeholder 2"/>
          <p:cNvSpPr>
            <a:spLocks noGrp="1"/>
          </p:cNvSpPr>
          <p:nvPr>
            <p:ph idx="1"/>
          </p:nvPr>
        </p:nvSpPr>
        <p:spPr>
          <a:xfrm>
            <a:off x="649288" y="1463041"/>
            <a:ext cx="10515600" cy="4568943"/>
          </a:xfrm>
        </p:spPr>
        <p:txBody>
          <a:bodyPr wrap="square">
            <a:spAutoFit/>
          </a:bodyPr>
          <a:lstStyle/>
          <a:p>
            <a:r>
              <a:rPr lang="en-US" altLang="zh-CN" dirty="0">
                <a:ea typeface="宋体" charset="-122"/>
              </a:rPr>
              <a:t>Optimizing Performance</a:t>
            </a:r>
          </a:p>
          <a:p>
            <a:pPr lvl="1"/>
            <a:r>
              <a:rPr lang="en-US" altLang="zh-CN" dirty="0">
                <a:ea typeface="宋体" charset="-122"/>
              </a:rPr>
              <a:t>Latency optimization</a:t>
            </a:r>
          </a:p>
          <a:p>
            <a:pPr lvl="2"/>
            <a:r>
              <a:rPr lang="en-US" altLang="zh-CN" dirty="0">
                <a:ea typeface="宋体" charset="-122"/>
              </a:rPr>
              <a:t>Specify latency directives</a:t>
            </a:r>
          </a:p>
          <a:p>
            <a:pPr lvl="2"/>
            <a:r>
              <a:rPr lang="en-US" altLang="zh-CN" dirty="0">
                <a:ea typeface="宋体" charset="-122"/>
              </a:rPr>
              <a:t>Unroll loops</a:t>
            </a:r>
          </a:p>
          <a:p>
            <a:pPr lvl="2"/>
            <a:r>
              <a:rPr lang="en-US" altLang="zh-CN" dirty="0">
                <a:ea typeface="宋体" charset="-122"/>
              </a:rPr>
              <a:t>Merge and Flatten loops to reduce loop transition overheads</a:t>
            </a:r>
          </a:p>
          <a:p>
            <a:pPr lvl="1"/>
            <a:r>
              <a:rPr lang="en-US" altLang="zh-CN" dirty="0">
                <a:ea typeface="宋体" charset="-122"/>
              </a:rPr>
              <a:t>Throughput optimization</a:t>
            </a:r>
          </a:p>
          <a:p>
            <a:pPr lvl="2"/>
            <a:r>
              <a:rPr lang="en-US" altLang="zh-CN" dirty="0">
                <a:ea typeface="宋体" charset="-122"/>
              </a:rPr>
              <a:t>Perform Dataflow optimization at the top-level</a:t>
            </a:r>
          </a:p>
          <a:p>
            <a:pPr lvl="2"/>
            <a:r>
              <a:rPr lang="en-US" altLang="zh-CN" dirty="0">
                <a:ea typeface="宋体" charset="-122"/>
              </a:rPr>
              <a:t>Pipeline individual functions and/or loops</a:t>
            </a:r>
          </a:p>
          <a:p>
            <a:pPr lvl="2"/>
            <a:r>
              <a:rPr lang="en-US" altLang="zh-CN" dirty="0">
                <a:ea typeface="宋体" charset="-122"/>
              </a:rPr>
              <a:t>Pipeline the entire function: beware of lots of operations, lots to schedule and it’s not always possible </a:t>
            </a:r>
            <a:endParaRPr lang="en-US" altLang="zh-CN" sz="1800" dirty="0">
              <a:ea typeface="宋体" charset="-122"/>
            </a:endParaRPr>
          </a:p>
          <a:p>
            <a:pPr lvl="1"/>
            <a:r>
              <a:rPr lang="en-US" altLang="zh-CN" dirty="0">
                <a:ea typeface="宋体" charset="-122"/>
              </a:rPr>
              <a:t>Array Optimizations</a:t>
            </a:r>
          </a:p>
          <a:p>
            <a:pPr lvl="2"/>
            <a:r>
              <a:rPr lang="en-US" altLang="zh-CN" dirty="0">
                <a:ea typeface="宋体" charset="-122"/>
              </a:rPr>
              <a:t>Focus on bottlenecks often caused by memory and port accesses</a:t>
            </a:r>
          </a:p>
          <a:p>
            <a:pPr lvl="2"/>
            <a:r>
              <a:rPr lang="en-US" altLang="zh-CN" dirty="0">
                <a:ea typeface="宋体" charset="-122"/>
              </a:rPr>
              <a:t>Removing bottlenecks improves latency and throughput</a:t>
            </a:r>
          </a:p>
          <a:p>
            <a:pPr lvl="3"/>
            <a:r>
              <a:rPr lang="en-US" dirty="0"/>
              <a:t>Use Array Partitioning, Reshaping, and Data packing directives to achieve throughput</a:t>
            </a:r>
          </a:p>
        </p:txBody>
      </p:sp>
      <p:sp>
        <p:nvSpPr>
          <p:cNvPr id="6" name="Slide Number Placeholder 5"/>
          <p:cNvSpPr>
            <a:spLocks noGrp="1"/>
          </p:cNvSpPr>
          <p:nvPr>
            <p:ph type="sldNum" sz="quarter" idx="10"/>
          </p:nvPr>
        </p:nvSpPr>
        <p:spPr/>
        <p:txBody>
          <a:bodyPr/>
          <a:lstStyle/>
          <a:p>
            <a:pPr>
              <a:defRPr/>
            </a:pPr>
            <a:r>
              <a:rPr lang="en-US"/>
              <a:t>Improving Performance 13- </a:t>
            </a:r>
            <a:fld id="{060BD193-E118-4B16-863C-C8C12C675E3E}" type="slidenum">
              <a:rPr lang="en-US" smtClean="0"/>
              <a:pPr>
                <a:defRPr/>
              </a:pPr>
              <a:t>85</a:t>
            </a:fld>
            <a:endParaRPr lang="en-US" dirty="0"/>
          </a:p>
        </p:txBody>
      </p:sp>
    </p:spTree>
  </p:cSld>
  <p:clrMapOvr>
    <a:masterClrMapping/>
  </p:clrMapOvr>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BE94A12-9E97-40EB-A974-3BC9F5C18103}">
  <ds:schemaRefs>
    <ds:schemaRef ds:uri="http://schemas.microsoft.com/sharepoint/v3/contenttype/forms"/>
  </ds:schemaRefs>
</ds:datastoreItem>
</file>

<file path=customXml/itemProps3.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8515</Words>
  <Application>Microsoft Office PowerPoint</Application>
  <PresentationFormat>宽屏</PresentationFormat>
  <Paragraphs>1383</Paragraphs>
  <Slides>85</Slides>
  <Notes>12</Notes>
  <HiddenSlides>23</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85</vt:i4>
      </vt:variant>
    </vt:vector>
  </HeadingPairs>
  <TitlesOfParts>
    <vt:vector size="92" baseType="lpstr">
      <vt:lpstr>Arial</vt:lpstr>
      <vt:lpstr>Calibri</vt:lpstr>
      <vt:lpstr>Consolas</vt:lpstr>
      <vt:lpstr>Microsoft Sans Serif</vt:lpstr>
      <vt:lpstr>Webdings</vt:lpstr>
      <vt:lpstr>Wingdings 3</vt:lpstr>
      <vt:lpstr>Xilinx-5</vt:lpstr>
      <vt:lpstr>Improving Performance</vt:lpstr>
      <vt:lpstr>Objectives</vt:lpstr>
      <vt:lpstr>Outline</vt:lpstr>
      <vt:lpstr>Improving Performance</vt:lpstr>
      <vt:lpstr>Applying Directives</vt:lpstr>
      <vt:lpstr>Applying Directives</vt:lpstr>
      <vt:lpstr>Optimization Directives: Tcl or Pragma</vt:lpstr>
      <vt:lpstr>Optimization Directives: Tcl or Pragma</vt:lpstr>
      <vt:lpstr>Solution Configurations</vt:lpstr>
      <vt:lpstr>Solution Configurations</vt:lpstr>
      <vt:lpstr>Example: Configuring the RTL Output</vt:lpstr>
      <vt:lpstr>Example: Configuring the RTL Output</vt:lpstr>
      <vt:lpstr>Copying Directives into New Solutions</vt:lpstr>
      <vt:lpstr>Copying Directives into New Solutions</vt:lpstr>
      <vt:lpstr>Improving Latency</vt:lpstr>
      <vt:lpstr>Latency and Throughput – The Performance Factors</vt:lpstr>
      <vt:lpstr>Latency and Throughput</vt:lpstr>
      <vt:lpstr>Vitis HLS: Minimize latency</vt:lpstr>
      <vt:lpstr>Reducing Latency</vt:lpstr>
      <vt:lpstr>Default Behavior: Minimizing Latency</vt:lpstr>
      <vt:lpstr>Latency Constraints</vt:lpstr>
      <vt:lpstr>Latency Constraints</vt:lpstr>
      <vt:lpstr>Region Specific Latency Constraint</vt:lpstr>
      <vt:lpstr>Region Specific Latency Constraint</vt:lpstr>
      <vt:lpstr>Improving Latency - Manipulating Loops </vt:lpstr>
      <vt:lpstr>Review: Loops </vt:lpstr>
      <vt:lpstr>Rolled Loops Enforce Latency</vt:lpstr>
      <vt:lpstr>Unrolled Loops can Reduce Latency</vt:lpstr>
      <vt:lpstr>Unrolled Loops can Reduce Latency</vt:lpstr>
      <vt:lpstr>Partial Unrolling</vt:lpstr>
      <vt:lpstr>Loop Flattening</vt:lpstr>
      <vt:lpstr>Loop Flattening</vt:lpstr>
      <vt:lpstr>Perfect and Semi-Perfect Loops</vt:lpstr>
      <vt:lpstr>Loop Merging</vt:lpstr>
      <vt:lpstr>Loop Merging</vt:lpstr>
      <vt:lpstr>Loop Merge Rules</vt:lpstr>
      <vt:lpstr>Loop Reports</vt:lpstr>
      <vt:lpstr>Loop Reports</vt:lpstr>
      <vt:lpstr>Techniques for Minimizing Latency - Summary</vt:lpstr>
      <vt:lpstr>Improving Throughput</vt:lpstr>
      <vt:lpstr>Improving Throughput</vt:lpstr>
      <vt:lpstr>Dataflow Optimization</vt:lpstr>
      <vt:lpstr>Dataflow Optimization Commands</vt:lpstr>
      <vt:lpstr>Dataflow Optimization Commands</vt:lpstr>
      <vt:lpstr>Dataflow Optimization through Configuration Command</vt:lpstr>
      <vt:lpstr>Dataflow Optimization through Configuration Command</vt:lpstr>
      <vt:lpstr>Dataflow : Ideal for streaming arrays &amp; multi-rate functions</vt:lpstr>
      <vt:lpstr>Dataflow Limitations (1)</vt:lpstr>
      <vt:lpstr>Dataflow Limitations (2)</vt:lpstr>
      <vt:lpstr>Dataflow vs Pipelining Optimization</vt:lpstr>
      <vt:lpstr>Function Pipelining</vt:lpstr>
      <vt:lpstr>Loop Pipelining</vt:lpstr>
      <vt:lpstr>Pipelining and Function/Loop Hierarchy</vt:lpstr>
      <vt:lpstr>Pipeline Directive</vt:lpstr>
      <vt:lpstr>Pipeline Directive</vt:lpstr>
      <vt:lpstr>Pipeline Flush</vt:lpstr>
      <vt:lpstr>Pipelining the Top-Level Loop</vt:lpstr>
      <vt:lpstr>Continuous Pipelining the Top-Level loop</vt:lpstr>
      <vt:lpstr>Continuous Pipelining the Top-Level loop</vt:lpstr>
      <vt:lpstr>Issues which prevent Pipelining</vt:lpstr>
      <vt:lpstr>Resource Contention: Unfeasible Initiation Intervals</vt:lpstr>
      <vt:lpstr>Performance Bottleneck</vt:lpstr>
      <vt:lpstr>Arrays : Performance bottlenecks</vt:lpstr>
      <vt:lpstr>Review: Arrays in HLS</vt:lpstr>
      <vt:lpstr>Review: Arrays in HLS</vt:lpstr>
      <vt:lpstr>Array and RAM selection</vt:lpstr>
      <vt:lpstr>Array Partitioning</vt:lpstr>
      <vt:lpstr>Array Partitioning</vt:lpstr>
      <vt:lpstr>Configuring Array Partitioning</vt:lpstr>
      <vt:lpstr>Configuring Array Partitioning</vt:lpstr>
      <vt:lpstr>Array Dimensions</vt:lpstr>
      <vt:lpstr>Array Dimensions</vt:lpstr>
      <vt:lpstr>Array Reshaping</vt:lpstr>
      <vt:lpstr>Array Reshaping</vt:lpstr>
      <vt:lpstr>Reshaping vs Partitioning</vt:lpstr>
      <vt:lpstr>Bottleneck Example</vt:lpstr>
      <vt:lpstr>Structs and Arrays: The Default Handling</vt:lpstr>
      <vt:lpstr>Structs and Arrays: The Default Handling</vt:lpstr>
      <vt:lpstr>Aggregate</vt:lpstr>
      <vt:lpstr>Data Packing</vt:lpstr>
      <vt:lpstr>Using Aggregate Directive</vt:lpstr>
      <vt:lpstr>Using Data Pack Directive</vt:lpstr>
      <vt:lpstr>Summary</vt:lpstr>
      <vt:lpstr>Summary</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Public</cp:keywords>
  <dc:description/>
  <cp:revision>2</cp:revision>
  <dcterms:created xsi:type="dcterms:W3CDTF">2019-10-16T21:50:31Z</dcterms:created>
  <dcterms:modified xsi:type="dcterms:W3CDTF">2022-03-28T08:15:23Z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Public</vt:lpwstr>
  </property>
  <property fmtid="{D5CDD505-2E9C-101B-9397-08002B2CF9AE}" pid="3" name="IDENTIFIER">
    <vt:lpwstr>12B622CE-7949-4BC8-8A85-7A5041597B9E</vt:lpwstr>
  </property>
  <property fmtid="{D5CDD505-2E9C-101B-9397-08002B2CF9AE}" pid="4" name="TitusGUID">
    <vt:lpwstr>ff9cd365-21b1-40ac-bab2-e72fd5308e8f</vt:lpwstr>
  </property>
  <property fmtid="{D5CDD505-2E9C-101B-9397-08002B2CF9AE}" pid="5" name="ContentTypeId">
    <vt:lpwstr>0x01010058A00A9B6178BD498632E37D0AD5CC8E</vt:lpwstr>
  </property>
  <property fmtid="{D5CDD505-2E9C-101B-9397-08002B2CF9AE}" pid="6" name="VisualMarkings">
    <vt:lpwstr>Yes</vt:lpwstr>
  </property>
  <property fmtid="{D5CDD505-2E9C-101B-9397-08002B2CF9AE}" pid="7" name="PublicationYear">
    <vt:lpwstr>2022</vt:lpwstr>
  </property>
</Properties>
</file>