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 id="2147483991" r:id="rId5"/>
  </p:sldMasterIdLst>
  <p:notesMasterIdLst>
    <p:notesMasterId r:id="rId45"/>
  </p:notesMasterIdLst>
  <p:handoutMasterIdLst>
    <p:handoutMasterId r:id="rId46"/>
  </p:handoutMasterIdLst>
  <p:sldIdLst>
    <p:sldId id="1001" r:id="rId6"/>
    <p:sldId id="960" r:id="rId7"/>
    <p:sldId id="982" r:id="rId8"/>
    <p:sldId id="962" r:id="rId9"/>
    <p:sldId id="988" r:id="rId10"/>
    <p:sldId id="964" r:id="rId11"/>
    <p:sldId id="986" r:id="rId12"/>
    <p:sldId id="987" r:id="rId13"/>
    <p:sldId id="963" r:id="rId14"/>
    <p:sldId id="989" r:id="rId15"/>
    <p:sldId id="965" r:id="rId16"/>
    <p:sldId id="983" r:id="rId17"/>
    <p:sldId id="967" r:id="rId18"/>
    <p:sldId id="990" r:id="rId19"/>
    <p:sldId id="968" r:id="rId20"/>
    <p:sldId id="991" r:id="rId21"/>
    <p:sldId id="969" r:id="rId22"/>
    <p:sldId id="992" r:id="rId23"/>
    <p:sldId id="970" r:id="rId24"/>
    <p:sldId id="993" r:id="rId25"/>
    <p:sldId id="971" r:id="rId26"/>
    <p:sldId id="994" r:id="rId27"/>
    <p:sldId id="972" r:id="rId28"/>
    <p:sldId id="995" r:id="rId29"/>
    <p:sldId id="973" r:id="rId30"/>
    <p:sldId id="996" r:id="rId31"/>
    <p:sldId id="974" r:id="rId32"/>
    <p:sldId id="997" r:id="rId33"/>
    <p:sldId id="975" r:id="rId34"/>
    <p:sldId id="976" r:id="rId35"/>
    <p:sldId id="977" r:id="rId36"/>
    <p:sldId id="998" r:id="rId37"/>
    <p:sldId id="978" r:id="rId38"/>
    <p:sldId id="999" r:id="rId39"/>
    <p:sldId id="985" r:id="rId40"/>
    <p:sldId id="1000" r:id="rId41"/>
    <p:sldId id="984" r:id="rId42"/>
    <p:sldId id="980" r:id="rId43"/>
    <p:sldId id="440" r:id="rId44"/>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30"/>
    <p:restoredTop sz="94694"/>
  </p:normalViewPr>
  <p:slideViewPr>
    <p:cSldViewPr snapToGrid="0">
      <p:cViewPr varScale="1">
        <p:scale>
          <a:sx n="81" d="100"/>
          <a:sy n="81" d="100"/>
        </p:scale>
        <p:origin x="307" y="4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3/14/2022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Arial" charset="0"/>
                <a:ea typeface="+mn-ea"/>
                <a:cs typeface="+mn-cs"/>
              </a:rPr>
              <a:t>config_bind</a:t>
            </a:r>
            <a:r>
              <a:rPr lang="zh-CN" altLang="en-US" sz="1200" b="0" i="0" u="none" strike="noStrike" kern="1200" baseline="0" dirty="0">
                <a:solidFill>
                  <a:schemeClr val="tx1"/>
                </a:solidFill>
                <a:latin typeface="Arial" charset="0"/>
                <a:ea typeface="+mn-ea"/>
                <a:cs typeface="+mn-cs"/>
              </a:rPr>
              <a:t>已经弃用</a:t>
            </a:r>
            <a:endParaRPr lang="en-US" dirty="0"/>
          </a:p>
        </p:txBody>
      </p:sp>
    </p:spTree>
    <p:extLst>
      <p:ext uri="{BB962C8B-B14F-4D97-AF65-F5344CB8AC3E}">
        <p14:creationId xmlns:p14="http://schemas.microsoft.com/office/powerpoint/2010/main" val="2780463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pPr>
                <a:defRPr/>
              </a:pPr>
              <a:t>19</a:t>
            </a:fld>
            <a:endParaRPr lang="en-US" dirty="0"/>
          </a:p>
        </p:txBody>
      </p:sp>
    </p:spTree>
    <p:extLst>
      <p:ext uri="{BB962C8B-B14F-4D97-AF65-F5344CB8AC3E}">
        <p14:creationId xmlns:p14="http://schemas.microsoft.com/office/powerpoint/2010/main" val="1486756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306E2F6-ADDE-49E1-9923-76418EAA3B24}" type="slidenum">
              <a:rPr kumimoji="0" lang="en-US" sz="1800" b="0" i="0" u="none" strike="noStrike" kern="1200" cap="none" spc="0" normalizeH="0" baseline="0" noProof="0" smtClean="0">
                <a:ln>
                  <a:noFill/>
                </a:ln>
                <a:solidFill>
                  <a:srgbClr val="000000"/>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1486756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2912606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p:txBody>
      </p:sp>
    </p:spTree>
    <p:extLst>
      <p:ext uri="{BB962C8B-B14F-4D97-AF65-F5344CB8AC3E}">
        <p14:creationId xmlns:p14="http://schemas.microsoft.com/office/powerpoint/2010/main" val="2912606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647700" y="6356352"/>
            <a:ext cx="3451543"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36543632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a:xfrm>
            <a:off x="647700" y="6356352"/>
            <a:ext cx="3468172"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70944213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3" name="Name, Title, Date"/>
          <p:cNvSpPr>
            <a:spLocks noGrp="1"/>
          </p:cNvSpPr>
          <p:nvPr>
            <p:ph type="subTitle" idx="1" hasCustomPrompt="1"/>
          </p:nvPr>
        </p:nvSpPr>
        <p:spPr>
          <a:xfrm>
            <a:off x="872570" y="4513635"/>
            <a:ext cx="7417990" cy="1092607"/>
          </a:xfrm>
        </p:spPr>
        <p:txBody>
          <a:bodyPr wrap="square">
            <a:sp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2" name="Title 1"/>
          <p:cNvSpPr>
            <a:spLocks noGrp="1"/>
          </p:cNvSpPr>
          <p:nvPr>
            <p:ph type="ctrTitle" hasCustomPrompt="1"/>
          </p:nvPr>
        </p:nvSpPr>
        <p:spPr>
          <a:xfrm>
            <a:off x="872570" y="2122996"/>
            <a:ext cx="7417990" cy="707886"/>
          </a:xfrm>
        </p:spPr>
        <p:txBody>
          <a:bodyPr wrap="square" anchor="t">
            <a:sp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8" name="object 6">
            <a:extLst>
              <a:ext uri="{FF2B5EF4-FFF2-40B4-BE49-F238E27FC236}">
                <a16:creationId xmlns:a16="http://schemas.microsoft.com/office/drawing/2014/main" id="{F6833D8A-D81B-AA4D-BC0C-B9F9B99BDC1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3" name="object 6">
            <a:extLst>
              <a:ext uri="{FF2B5EF4-FFF2-40B4-BE49-F238E27FC236}">
                <a16:creationId xmlns:a16="http://schemas.microsoft.com/office/drawing/2014/main" id="{6DC90665-93DD-BA43-AEB2-9473ED9E14A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7" name="object 6">
            <a:extLst>
              <a:ext uri="{FF2B5EF4-FFF2-40B4-BE49-F238E27FC236}">
                <a16:creationId xmlns:a16="http://schemas.microsoft.com/office/drawing/2014/main" id="{B1B3D47F-2C53-4E4B-A632-F9836852D48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6" name="Rectangle 5"/>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0" name="Picture 19" descr="ww.png">
            <a:extLst>
              <a:ext uri="{FF2B5EF4-FFF2-40B4-BE49-F238E27FC236}">
                <a16:creationId xmlns:a16="http://schemas.microsoft.com/office/drawing/2014/main" id="{BD515A1B-E781-9542-B11E-020D7530B53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18" name="object 6">
            <a:extLst>
              <a:ext uri="{FF2B5EF4-FFF2-40B4-BE49-F238E27FC236}">
                <a16:creationId xmlns:a16="http://schemas.microsoft.com/office/drawing/2014/main" id="{30CB90D7-B2ED-5F4B-9C4A-4C5F388B660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2" name="object 6">
            <a:extLst>
              <a:ext uri="{FF2B5EF4-FFF2-40B4-BE49-F238E27FC236}">
                <a16:creationId xmlns:a16="http://schemas.microsoft.com/office/drawing/2014/main" id="{B3322536-4D68-4C45-93CB-EBED08E3C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5" name="Picture 4">
            <a:extLst>
              <a:ext uri="{FF2B5EF4-FFF2-40B4-BE49-F238E27FC236}">
                <a16:creationId xmlns:a16="http://schemas.microsoft.com/office/drawing/2014/main" id="{A2289EF4-0CD0-CE40-B328-01966A945E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4" name="object 6">
            <a:extLst>
              <a:ext uri="{FF2B5EF4-FFF2-40B4-BE49-F238E27FC236}">
                <a16:creationId xmlns:a16="http://schemas.microsoft.com/office/drawing/2014/main" id="{8C16838A-F495-2546-9F44-BF6397F12E0C}"/>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5" name="Picture 14">
            <a:extLst>
              <a:ext uri="{FF2B5EF4-FFF2-40B4-BE49-F238E27FC236}">
                <a16:creationId xmlns:a16="http://schemas.microsoft.com/office/drawing/2014/main" id="{3D4E9A42-40D8-6146-BC40-79DAE6208D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9" name="object 6">
            <a:extLst>
              <a:ext uri="{FF2B5EF4-FFF2-40B4-BE49-F238E27FC236}">
                <a16:creationId xmlns:a16="http://schemas.microsoft.com/office/drawing/2014/main" id="{2EF15590-5F1E-D542-BD85-EFD08C30A69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67CB4086-1311-4B49-818E-1966244940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4" name="object 6">
            <a:extLst>
              <a:ext uri="{FF2B5EF4-FFF2-40B4-BE49-F238E27FC236}">
                <a16:creationId xmlns:a16="http://schemas.microsoft.com/office/drawing/2014/main" id="{F0122A65-85C0-6541-8107-BF11595575F3}"/>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46713B90-AF64-CD41-A82E-7B206B39F3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3850071235"/>
      </p:ext>
    </p:extLst>
  </p:cSld>
  <p:clrMapOvr>
    <a:overrideClrMapping bg1="dk1" tx1="lt1" bg2="dk2" tx2="lt2" accent1="accent1" accent2="accent2" accent3="accent3" accent4="accent4" accent5="accent5" accent6="accent6" hlink="hlink" folHlink="folHlink"/>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Layout (Custom Graphic)">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1F99C1-A850-AA46-A3A6-13755C4E5C56}"/>
              </a:ext>
            </a:extLst>
          </p:cNvPr>
          <p:cNvPicPr>
            <a:picLocks noChangeAspect="1"/>
          </p:cNvPicPr>
          <p:nvPr/>
        </p:nvPicPr>
        <p:blipFill>
          <a:blip r:embed="rId2">
            <a:alphaModFix amt="10000"/>
            <a:extLst>
              <a:ext uri="{28A0092B-C50C-407E-A947-70E740481C1C}">
                <a14:useLocalDpi xmlns:a14="http://schemas.microsoft.com/office/drawing/2010/main" val="0"/>
              </a:ext>
            </a:extLst>
          </a:blip>
          <a:stretch>
            <a:fillRect/>
          </a:stretch>
        </p:blipFill>
        <p:spPr>
          <a:xfrm>
            <a:off x="1" y="-36231"/>
            <a:ext cx="8384875" cy="6894231"/>
          </a:xfrm>
          <a:prstGeom prst="rect">
            <a:avLst/>
          </a:prstGeom>
        </p:spPr>
      </p:pic>
      <p:sp>
        <p:nvSpPr>
          <p:cNvPr id="13" name="Title 1"/>
          <p:cNvSpPr>
            <a:spLocks noGrp="1"/>
          </p:cNvSpPr>
          <p:nvPr>
            <p:ph type="ctrTitle" hasCustomPrompt="1"/>
          </p:nvPr>
        </p:nvSpPr>
        <p:spPr>
          <a:xfrm>
            <a:off x="872570" y="2122996"/>
            <a:ext cx="6259750" cy="757130"/>
          </a:xfrm>
        </p:spPr>
        <p:txBody>
          <a:bodyPr anchor="t">
            <a:normAutofit/>
          </a:bodyPr>
          <a:lstStyle>
            <a:lvl1pPr marL="0" algn="l" defTabSz="914126" rtl="0" eaLnBrk="1" latinLnBrk="0" hangingPunct="1">
              <a:lnSpc>
                <a:spcPct val="100000"/>
              </a:lnSpc>
              <a:spcBef>
                <a:spcPct val="0"/>
              </a:spcBef>
              <a:buNone/>
              <a:defRPr lang="en-US" sz="3999" b="1" i="0" kern="1200" baseline="0" dirty="0">
                <a:solidFill>
                  <a:schemeClr val="tx1"/>
                </a:solidFill>
                <a:latin typeface="Arial" charset="0"/>
                <a:ea typeface="+mj-ea"/>
                <a:cs typeface="Arial" charset="0"/>
              </a:defRPr>
            </a:lvl1pPr>
          </a:lstStyle>
          <a:p>
            <a:r>
              <a:rPr lang="en-US" dirty="0"/>
              <a:t>Presentation Title</a:t>
            </a:r>
          </a:p>
        </p:txBody>
      </p:sp>
      <p:sp>
        <p:nvSpPr>
          <p:cNvPr id="12" name="Name, Title, Date"/>
          <p:cNvSpPr>
            <a:spLocks noGrp="1"/>
          </p:cNvSpPr>
          <p:nvPr>
            <p:ph type="subTitle" idx="1" hasCustomPrompt="1"/>
          </p:nvPr>
        </p:nvSpPr>
        <p:spPr>
          <a:xfrm>
            <a:off x="872570" y="4513635"/>
            <a:ext cx="4877066" cy="1092607"/>
          </a:xfrm>
        </p:spPr>
        <p:txBody>
          <a:bodyPr>
            <a:normAutofit/>
          </a:bodyPr>
          <a:lstStyle>
            <a:lvl1pPr marL="0" indent="0" algn="l">
              <a:spcBef>
                <a:spcPts val="300"/>
              </a:spcBef>
              <a:buNone/>
              <a:defRPr lang="en-US" sz="1999" b="0" i="0" kern="1200" baseline="0" dirty="0">
                <a:solidFill>
                  <a:schemeClr val="tx1"/>
                </a:solidFill>
                <a:latin typeface="Arial" charset="0"/>
                <a:ea typeface="Arial" charset="0"/>
                <a:cs typeface="Arial" charset="0"/>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dirty="0"/>
              <a:t>Name</a:t>
            </a:r>
          </a:p>
          <a:p>
            <a:r>
              <a:rPr lang="en-US" dirty="0"/>
              <a:t>Title</a:t>
            </a:r>
          </a:p>
          <a:p>
            <a:r>
              <a:rPr lang="en-US" dirty="0"/>
              <a:t>Date</a:t>
            </a:r>
          </a:p>
        </p:txBody>
      </p:sp>
      <p:sp>
        <p:nvSpPr>
          <p:cNvPr id="14"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6" name="object 6">
            <a:extLst>
              <a:ext uri="{FF2B5EF4-FFF2-40B4-BE49-F238E27FC236}">
                <a16:creationId xmlns:a16="http://schemas.microsoft.com/office/drawing/2014/main" id="{79F46B48-C01A-1340-8C6B-DA07FABAAD3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0" name="object 6">
            <a:extLst>
              <a:ext uri="{FF2B5EF4-FFF2-40B4-BE49-F238E27FC236}">
                <a16:creationId xmlns:a16="http://schemas.microsoft.com/office/drawing/2014/main" id="{529EC48C-88EC-4F48-B6BB-B7BB27D37DBD}"/>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4" name="object 6">
            <a:extLst>
              <a:ext uri="{FF2B5EF4-FFF2-40B4-BE49-F238E27FC236}">
                <a16:creationId xmlns:a16="http://schemas.microsoft.com/office/drawing/2014/main" id="{14E96798-EC8B-FA4C-AC7D-DE75AF3811AF}"/>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Rectangle 2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5" name="Picture 24" descr="ww.png">
            <a:extLst>
              <a:ext uri="{FF2B5EF4-FFF2-40B4-BE49-F238E27FC236}">
                <a16:creationId xmlns:a16="http://schemas.microsoft.com/office/drawing/2014/main" id="{6CB568A7-486F-7E43-8841-829B657830D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3185"/>
          <a:stretch/>
        </p:blipFill>
        <p:spPr>
          <a:xfrm>
            <a:off x="8912570" y="-1"/>
            <a:ext cx="3279430" cy="6858001"/>
          </a:xfrm>
          <a:prstGeom prst="rect">
            <a:avLst/>
          </a:prstGeom>
        </p:spPr>
      </p:pic>
      <p:sp>
        <p:nvSpPr>
          <p:cNvPr id="26" name="object 6">
            <a:extLst>
              <a:ext uri="{FF2B5EF4-FFF2-40B4-BE49-F238E27FC236}">
                <a16:creationId xmlns:a16="http://schemas.microsoft.com/office/drawing/2014/main" id="{55A0589D-3199-824F-BB2E-0165FD1B46B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0" name="object 6">
            <a:extLst>
              <a:ext uri="{FF2B5EF4-FFF2-40B4-BE49-F238E27FC236}">
                <a16:creationId xmlns:a16="http://schemas.microsoft.com/office/drawing/2014/main" id="{4AB8CBEA-6665-9A4C-BAFF-830C38095BF8}"/>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2" name="Picture 31">
            <a:extLst>
              <a:ext uri="{FF2B5EF4-FFF2-40B4-BE49-F238E27FC236}">
                <a16:creationId xmlns:a16="http://schemas.microsoft.com/office/drawing/2014/main" id="{BBC7CEB1-422C-D04C-9AF5-6F9B7A7142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5" name="object 6">
            <a:extLst>
              <a:ext uri="{FF2B5EF4-FFF2-40B4-BE49-F238E27FC236}">
                <a16:creationId xmlns:a16="http://schemas.microsoft.com/office/drawing/2014/main" id="{C6EFF017-BB71-2946-8429-D5C445CE839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CD59F683-89D6-C24E-B6D3-272BC62A26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18" name="object 6">
            <a:extLst>
              <a:ext uri="{FF2B5EF4-FFF2-40B4-BE49-F238E27FC236}">
                <a16:creationId xmlns:a16="http://schemas.microsoft.com/office/drawing/2014/main" id="{BCF7B235-4328-1747-AC5E-57DC6D753214}"/>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9" name="Picture 18">
            <a:extLst>
              <a:ext uri="{FF2B5EF4-FFF2-40B4-BE49-F238E27FC236}">
                <a16:creationId xmlns:a16="http://schemas.microsoft.com/office/drawing/2014/main" id="{6A880B90-D46C-0D44-8AFE-4A062DD3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21" name="object 6">
            <a:extLst>
              <a:ext uri="{FF2B5EF4-FFF2-40B4-BE49-F238E27FC236}">
                <a16:creationId xmlns:a16="http://schemas.microsoft.com/office/drawing/2014/main" id="{EC8AB604-7AB0-AA4A-8D3F-975F013C2F5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2" name="Picture 21">
            <a:extLst>
              <a:ext uri="{FF2B5EF4-FFF2-40B4-BE49-F238E27FC236}">
                <a16:creationId xmlns:a16="http://schemas.microsoft.com/office/drawing/2014/main" id="{4D0C4FA3-D3E2-BF43-880D-3DA206335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1815241444"/>
      </p:ext>
    </p:extLst>
  </p:cSld>
  <p:clrMapOvr>
    <a:overrideClrMapping bg1="dk1" tx1="lt1" bg2="dk2" tx2="lt2" accent1="accent1" accent2="accent2" accent3="accent3" accent4="accent4" accent5="accent5" accent6="accent6" hlink="hlink" folHlink="folHlink"/>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Slide">
    <p:bg>
      <p:bgPr>
        <a:solidFill>
          <a:schemeClr val="bg2"/>
        </a:solidFill>
        <a:effectLst/>
      </p:bgPr>
    </p:bg>
    <p:spTree>
      <p:nvGrpSpPr>
        <p:cNvPr id="1" name=""/>
        <p:cNvGrpSpPr/>
        <p:nvPr/>
      </p:nvGrpSpPr>
      <p:grpSpPr>
        <a:xfrm>
          <a:off x="0" y="0"/>
          <a:ext cx="0" cy="0"/>
          <a:chOff x="0" y="0"/>
          <a:chExt cx="0" cy="0"/>
        </a:xfrm>
      </p:grpSpPr>
      <p:sp>
        <p:nvSpPr>
          <p:cNvPr id="10"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1" name="Picture 10" descr="ww.png"/>
          <p:cNvPicPr>
            <a:picLocks noChangeAspect="1"/>
          </p:cNvPicPr>
          <p:nvPr/>
        </p:nvPicPr>
        <p:blipFill rotWithShape="1">
          <a:blip r:embed="rId2" cstate="print">
            <a:extLst>
              <a:ext uri="{28A0092B-C50C-407E-A947-70E740481C1C}">
                <a14:useLocalDpi xmlns:a14="http://schemas.microsoft.com/office/drawing/2010/main" val="0"/>
              </a:ext>
            </a:extLst>
          </a:blip>
          <a:srcRect b="3185"/>
          <a:stretch/>
        </p:blipFill>
        <p:spPr>
          <a:xfrm>
            <a:off x="8912570" y="2"/>
            <a:ext cx="3279430" cy="6858001"/>
          </a:xfrm>
          <a:prstGeom prst="rect">
            <a:avLst/>
          </a:prstGeom>
        </p:spPr>
      </p:pic>
      <p:sp>
        <p:nvSpPr>
          <p:cNvPr id="7" name="Title 1">
            <a:extLst>
              <a:ext uri="{FF2B5EF4-FFF2-40B4-BE49-F238E27FC236}">
                <a16:creationId xmlns:a16="http://schemas.microsoft.com/office/drawing/2014/main" id="{E89E807F-F94B-F442-B5BC-972820E2E7DF}"/>
              </a:ext>
            </a:extLst>
          </p:cNvPr>
          <p:cNvSpPr>
            <a:spLocks noGrp="1"/>
          </p:cNvSpPr>
          <p:nvPr>
            <p:ph type="title" hasCustomPrompt="1"/>
          </p:nvPr>
        </p:nvSpPr>
        <p:spPr>
          <a:xfrm>
            <a:off x="621793" y="210312"/>
            <a:ext cx="10541508" cy="502920"/>
          </a:xfrm>
        </p:spPr>
        <p:txBody>
          <a:bodyPr/>
          <a:lstStyle>
            <a:lvl1pPr>
              <a:defRPr/>
            </a:lvl1pPr>
          </a:lstStyle>
          <a:p>
            <a:r>
              <a:rPr lang="en-US" dirty="0"/>
              <a:t>Agenda Slide</a:t>
            </a:r>
          </a:p>
        </p:txBody>
      </p:sp>
      <p:sp>
        <p:nvSpPr>
          <p:cNvPr id="8" name="Content Placeholder 2">
            <a:extLst>
              <a:ext uri="{FF2B5EF4-FFF2-40B4-BE49-F238E27FC236}">
                <a16:creationId xmlns:a16="http://schemas.microsoft.com/office/drawing/2014/main" id="{9A49FD6F-DB7C-B74F-8B28-DE0F77ACFB62}"/>
              </a:ext>
            </a:extLst>
          </p:cNvPr>
          <p:cNvSpPr>
            <a:spLocks noGrp="1"/>
          </p:cNvSpPr>
          <p:nvPr>
            <p:ph idx="1" hasCustomPrompt="1"/>
          </p:nvPr>
        </p:nvSpPr>
        <p:spPr>
          <a:xfrm>
            <a:off x="647700" y="1463040"/>
            <a:ext cx="10515600" cy="4759404"/>
          </a:xfrm>
        </p:spPr>
        <p:txBody>
          <a:bodyPr>
            <a:normAutofit/>
          </a:bodyPr>
          <a:lstStyle>
            <a:lvl1pPr>
              <a:lnSpc>
                <a:spcPct val="150000"/>
              </a:lnSpc>
              <a:defRPr sz="2799" b="0" baseline="0">
                <a:solidFill>
                  <a:schemeClr val="tx1"/>
                </a:solidFill>
              </a:defRPr>
            </a:lvl1pPr>
            <a:lvl2pPr>
              <a:defRPr>
                <a:solidFill>
                  <a:schemeClr val="accent3">
                    <a:lumMod val="50000"/>
                  </a:schemeClr>
                </a:solidFill>
              </a:defRPr>
            </a:lvl2pPr>
            <a:lvl3pPr>
              <a:defRPr sz="1600">
                <a:solidFill>
                  <a:schemeClr val="accent3">
                    <a:lumMod val="50000"/>
                  </a:schemeClr>
                </a:solidFill>
              </a:defRPr>
            </a:lvl3pPr>
            <a:lvl4pPr>
              <a:defRPr sz="1400">
                <a:solidFill>
                  <a:schemeClr val="accent3">
                    <a:lumMod val="50000"/>
                  </a:schemeClr>
                </a:solidFill>
              </a:defRPr>
            </a:lvl4pPr>
            <a:lvl5pPr>
              <a:tabLst>
                <a:tab pos="2626525" algn="l"/>
              </a:tabLst>
              <a:defRPr sz="1400">
                <a:solidFill>
                  <a:schemeClr val="accent3">
                    <a:lumMod val="50000"/>
                  </a:schemeClr>
                </a:solidFill>
              </a:defRPr>
            </a:lvl5pPr>
          </a:lstStyle>
          <a:p>
            <a:pPr lvl="0"/>
            <a:r>
              <a:rPr lang="en-US" dirty="0"/>
              <a:t>Agenda Item 1</a:t>
            </a:r>
          </a:p>
          <a:p>
            <a:pPr lvl="0"/>
            <a:r>
              <a:rPr lang="en-US" dirty="0"/>
              <a:t>Agenda Item 2</a:t>
            </a:r>
          </a:p>
          <a:p>
            <a:pPr lvl="0"/>
            <a:r>
              <a:rPr lang="en-US" dirty="0"/>
              <a:t>Agenda Item 3</a:t>
            </a:r>
          </a:p>
          <a:p>
            <a:pPr lvl="0"/>
            <a:r>
              <a:rPr lang="en-US" dirty="0"/>
              <a:t>Agenda Item 4</a:t>
            </a:r>
          </a:p>
        </p:txBody>
      </p:sp>
      <p:sp>
        <p:nvSpPr>
          <p:cNvPr id="9" name="Slide Number Placeholder 8">
            <a:extLst>
              <a:ext uri="{FF2B5EF4-FFF2-40B4-BE49-F238E27FC236}">
                <a16:creationId xmlns:a16="http://schemas.microsoft.com/office/drawing/2014/main" id="{94FEC80D-D41B-2941-AA64-3734E35A7DC4}"/>
              </a:ext>
            </a:extLst>
          </p:cNvPr>
          <p:cNvSpPr>
            <a:spLocks noGrp="1"/>
          </p:cNvSpPr>
          <p:nvPr>
            <p:ph type="sldNum" sz="quarter" idx="10"/>
          </p:nvPr>
        </p:nvSpPr>
        <p:spPr>
          <a:xfrm>
            <a:off x="647700" y="6356352"/>
            <a:ext cx="2743200" cy="365125"/>
          </a:xfrm>
        </p:spPr>
        <p:txBody>
          <a:bodyPr/>
          <a:lstStyle/>
          <a:p>
            <a:r>
              <a:rPr lang="en-US"/>
              <a:t>&gt;&gt; </a:t>
            </a:r>
            <a:fld id="{626C978B-826E-438C-909A-E9C381D3FF04}" type="slidenum">
              <a:rPr lang="en-US" smtClean="0"/>
              <a:pPr/>
              <a:t>‹#›</a:t>
            </a:fld>
            <a:endParaRPr lang="en-US" dirty="0"/>
          </a:p>
        </p:txBody>
      </p:sp>
      <p:sp>
        <p:nvSpPr>
          <p:cNvPr id="14" name="object 6">
            <a:extLst>
              <a:ext uri="{FF2B5EF4-FFF2-40B4-BE49-F238E27FC236}">
                <a16:creationId xmlns:a16="http://schemas.microsoft.com/office/drawing/2014/main" id="{4ED245F3-5FE2-8B4D-AEBC-08059B7700D5}"/>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19" name="object 6">
            <a:extLst>
              <a:ext uri="{FF2B5EF4-FFF2-40B4-BE49-F238E27FC236}">
                <a16:creationId xmlns:a16="http://schemas.microsoft.com/office/drawing/2014/main" id="{EEB66CA7-5B90-DE44-B07F-CDF1B056C556}"/>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3" name="object 6">
            <a:extLst>
              <a:ext uri="{FF2B5EF4-FFF2-40B4-BE49-F238E27FC236}">
                <a16:creationId xmlns:a16="http://schemas.microsoft.com/office/drawing/2014/main" id="{9C841668-2641-8344-93D0-BFAF1E0B06C9}"/>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27" name="object 6">
            <a:extLst>
              <a:ext uri="{FF2B5EF4-FFF2-40B4-BE49-F238E27FC236}">
                <a16:creationId xmlns:a16="http://schemas.microsoft.com/office/drawing/2014/main" id="{F5A8D482-5528-2243-9F47-5B9C75E8D18E}"/>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31" name="object 6">
            <a:extLst>
              <a:ext uri="{FF2B5EF4-FFF2-40B4-BE49-F238E27FC236}">
                <a16:creationId xmlns:a16="http://schemas.microsoft.com/office/drawing/2014/main" id="{01786C18-A62A-8D40-BE6D-E91ED01BEB52}"/>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35" name="Picture 34">
            <a:extLst>
              <a:ext uri="{FF2B5EF4-FFF2-40B4-BE49-F238E27FC236}">
                <a16:creationId xmlns:a16="http://schemas.microsoft.com/office/drawing/2014/main" id="{5D2F0128-2932-DB49-BB4F-4E6C92A36F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5" name="object 6">
            <a:extLst>
              <a:ext uri="{FF2B5EF4-FFF2-40B4-BE49-F238E27FC236}">
                <a16:creationId xmlns:a16="http://schemas.microsoft.com/office/drawing/2014/main" id="{C4518266-97F4-5E48-8B44-08654EC2969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17" name="Picture 16">
            <a:extLst>
              <a:ext uri="{FF2B5EF4-FFF2-40B4-BE49-F238E27FC236}">
                <a16:creationId xmlns:a16="http://schemas.microsoft.com/office/drawing/2014/main" id="{0BDBBB27-6F71-7C43-BFA5-6B2E8E1AC9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18" name="object 6">
            <a:extLst>
              <a:ext uri="{FF2B5EF4-FFF2-40B4-BE49-F238E27FC236}">
                <a16:creationId xmlns:a16="http://schemas.microsoft.com/office/drawing/2014/main" id="{33854958-1BAD-BE47-ACAC-E9903DAE90C1}"/>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1" name="Picture 20">
            <a:extLst>
              <a:ext uri="{FF2B5EF4-FFF2-40B4-BE49-F238E27FC236}">
                <a16:creationId xmlns:a16="http://schemas.microsoft.com/office/drawing/2014/main" id="{98B423B7-B99A-5744-8625-DC90586726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
        <p:nvSpPr>
          <p:cNvPr id="22" name="object 6">
            <a:extLst>
              <a:ext uri="{FF2B5EF4-FFF2-40B4-BE49-F238E27FC236}">
                <a16:creationId xmlns:a16="http://schemas.microsoft.com/office/drawing/2014/main" id="{838CE688-24EB-EF4C-8127-F226875D5747}"/>
              </a:ext>
            </a:extLst>
          </p:cNvPr>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pic>
        <p:nvPicPr>
          <p:cNvPr id="25" name="Picture 24">
            <a:extLst>
              <a:ext uri="{FF2B5EF4-FFF2-40B4-BE49-F238E27FC236}">
                <a16:creationId xmlns:a16="http://schemas.microsoft.com/office/drawing/2014/main" id="{B76E6D9E-81DB-064A-A067-E1DB17AB7C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89131" y="6515519"/>
            <a:ext cx="950976" cy="192980"/>
          </a:xfrm>
          <a:prstGeom prst="rect">
            <a:avLst/>
          </a:prstGeom>
        </p:spPr>
      </p:pic>
    </p:spTree>
    <p:extLst>
      <p:ext uri="{BB962C8B-B14F-4D97-AF65-F5344CB8AC3E}">
        <p14:creationId xmlns:p14="http://schemas.microsoft.com/office/powerpoint/2010/main" val="1703221672"/>
      </p:ext>
    </p:extLst>
  </p:cSld>
  <p:clrMapOvr>
    <a:overrideClrMapping bg1="dk1" tx1="lt1" bg2="dk2" tx2="lt2" accent1="accent1" accent2="accent2" accent3="accent3" accent4="accent4" accent5="accent5" accent6="accent6" hlink="hlink" folHlink="folHlink"/>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Improving Area and Resources 21- </a:t>
            </a:r>
            <a:fld id="{060BD193-E118-4B16-863C-C8C12C675E3E}" type="slidenum">
              <a:rPr lang="en-US" smtClean="0"/>
              <a:pPr>
                <a:defRPr/>
              </a:pPr>
              <a:t>‹#›</a:t>
            </a:fld>
            <a:endParaRPr lang="en-US" dirty="0"/>
          </a:p>
        </p:txBody>
      </p:sp>
      <p:pic>
        <p:nvPicPr>
          <p:cNvPr id="5" name="Picture 4" descr="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268937125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647700" y="6356352"/>
            <a:ext cx="3451543"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008237142"/>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872571" y="2971081"/>
            <a:ext cx="6727039" cy="761747"/>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Tree>
    <p:extLst>
      <p:ext uri="{BB962C8B-B14F-4D97-AF65-F5344CB8AC3E}">
        <p14:creationId xmlns:p14="http://schemas.microsoft.com/office/powerpoint/2010/main" val="2404748294"/>
      </p:ext>
    </p:extLst>
  </p:cSld>
  <p:clrMapOvr>
    <a:overrideClrMapping bg1="dk1" tx1="lt1" bg2="dk2" tx2="lt2" accent1="accent1" accent2="accent2" accent3="accent3" accent4="accent4" accent5="accent5" accent6="accent6" hlink="hlink" folHlink="folHlink"/>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with Picture)">
    <p:bg>
      <p:bgPr>
        <a:solidFill>
          <a:schemeClr val="bg2"/>
        </a:solidFill>
        <a:effectLst/>
      </p:bgPr>
    </p:bg>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60121" y="2971081"/>
            <a:ext cx="5440678" cy="2686771"/>
          </a:xfrm>
        </p:spPr>
        <p:txBody>
          <a:bodyPr lIns="0" tIns="0" rIns="0" bIns="0" anchor="t">
            <a:noAutofit/>
          </a:bodyPr>
          <a:lstStyle>
            <a:lvl1pPr marL="0" algn="l" defTabSz="914126" rtl="0" eaLnBrk="1" latinLnBrk="0" hangingPunct="1">
              <a:lnSpc>
                <a:spcPct val="100000"/>
              </a:lnSpc>
              <a:spcBef>
                <a:spcPct val="0"/>
              </a:spcBef>
              <a:buNone/>
              <a:defRPr lang="en-US" sz="3599" b="1" i="0" kern="1200" baseline="0" dirty="0">
                <a:solidFill>
                  <a:schemeClr val="tx1"/>
                </a:solidFill>
                <a:latin typeface="Arial" charset="0"/>
                <a:ea typeface="+mj-ea"/>
                <a:cs typeface="Arial" charset="0"/>
              </a:defRPr>
            </a:lvl1pPr>
          </a:lstStyle>
          <a:p>
            <a:r>
              <a:rPr lang="en-US" dirty="0"/>
              <a:t>Insert Section Title Here</a:t>
            </a:r>
          </a:p>
        </p:txBody>
      </p:sp>
      <p:sp>
        <p:nvSpPr>
          <p:cNvPr id="13" name="Rectangle 12"/>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ight Triangle 2">
            <a:extLst>
              <a:ext uri="{FF2B5EF4-FFF2-40B4-BE49-F238E27FC236}">
                <a16:creationId xmlns:a16="http://schemas.microsoft.com/office/drawing/2014/main" id="{30B7BA82-6A86-384D-B04E-8D5191D59474}"/>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71A1DA86-877F-0F49-BEED-32E9369C39C3}"/>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E398C142-ECE9-DD49-BB91-2DA6D9B51231}"/>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228A73BA-1743-4F4E-913D-21292EC9018A}"/>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48DF7FB5-0303-8F4D-A597-E38379253F50}"/>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8BDABBB2-33CA-9440-B11D-5EAC9D5D4358}"/>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5CE9204F-1C73-5D4A-8857-934625F01F43}"/>
              </a:ext>
            </a:extLst>
          </p:cNvPr>
          <p:cNvSpPr/>
          <p:nvPr/>
        </p:nvSpPr>
        <p:spPr>
          <a:xfrm rot="10800000">
            <a:off x="7412966" y="0"/>
            <a:ext cx="4792936" cy="4792936"/>
          </a:xfrm>
          <a:prstGeom prst="r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Picture Placeholder 426"/>
          <p:cNvSpPr>
            <a:spLocks noGrp="1"/>
          </p:cNvSpPr>
          <p:nvPr>
            <p:ph type="pic" sz="quarter" idx="11"/>
          </p:nvPr>
        </p:nvSpPr>
        <p:spPr>
          <a:xfrm>
            <a:off x="6820346" y="1200150"/>
            <a:ext cx="4457700" cy="4457700"/>
          </a:xfrm>
          <a:solidFill>
            <a:schemeClr val="accent3"/>
          </a:solidFill>
        </p:spPr>
        <p:txBody>
          <a:bodyPr tIns="1371600" bIns="0" anchor="ctr" anchorCtr="0">
            <a:noAutofit/>
          </a:bodyPr>
          <a:lstStyle>
            <a:lvl1pPr algn="ctr">
              <a:defRPr sz="1350">
                <a:solidFill>
                  <a:schemeClr val="bg1"/>
                </a:solidFill>
              </a:defRPr>
            </a:lvl1pPr>
          </a:lstStyle>
          <a:p>
            <a:r>
              <a:rPr lang="en-US" altLang="zh-CN"/>
              <a:t>Click icon to add picture</a:t>
            </a:r>
            <a:endParaRPr lang="en-US" dirty="0"/>
          </a:p>
        </p:txBody>
      </p:sp>
    </p:spTree>
    <p:extLst>
      <p:ext uri="{BB962C8B-B14F-4D97-AF65-F5344CB8AC3E}">
        <p14:creationId xmlns:p14="http://schemas.microsoft.com/office/powerpoint/2010/main" val="551401737"/>
      </p:ext>
    </p:extLst>
  </p:cSld>
  <p:clrMapOvr>
    <a:overrideClrMapping bg1="dk1" tx1="lt1" bg2="dk2" tx2="lt2" accent1="accent1" accent2="accent2" accent3="accent3" accent4="accent4" accent5="accent5" accent6="accent6" hlink="hlink" folHlink="folHlink"/>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647700" y="6356352"/>
            <a:ext cx="3393338" cy="365125"/>
          </a:xfrm>
        </p:spPr>
        <p:txBody>
          <a:bodyPr/>
          <a:lstStyle/>
          <a:p>
            <a:pPr>
              <a:defRPr/>
            </a:pPr>
            <a:r>
              <a:rPr lang="en-US"/>
              <a:t>Improving Area and Resources 21- </a:t>
            </a:r>
            <a:fld id="{060BD193-E118-4B16-863C-C8C12C675E3E}" type="slidenum">
              <a:rPr lang="en-US" smtClean="0"/>
              <a:pPr>
                <a:defRPr/>
              </a:pPr>
              <a:t>‹#›</a:t>
            </a:fld>
            <a:endParaRPr lang="en-US" dirty="0"/>
          </a:p>
        </p:txBody>
      </p:sp>
      <p:pic>
        <p:nvPicPr>
          <p:cNvPr id="6" name="Picture 5" descr="1.png">
            <a:extLst>
              <a:ext uri="{FF2B5EF4-FFF2-40B4-BE49-F238E27FC236}">
                <a16:creationId xmlns:a16="http://schemas.microsoft.com/office/drawing/2014/main" id="{175C80C8-C178-9C4A-9F97-6978E22E31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62737050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a:xfrm>
            <a:off x="647699" y="6356352"/>
            <a:ext cx="3642785"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51182826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a:xfrm>
            <a:off x="647700" y="6356352"/>
            <a:ext cx="3567951" cy="365125"/>
          </a:xfrm>
        </p:spPr>
        <p:txBody>
          <a:bodyPr/>
          <a:lstStyle/>
          <a:p>
            <a:pPr>
              <a:defRPr/>
            </a:pPr>
            <a:r>
              <a:rPr lang="en-US"/>
              <a:t>Improving Area and Resources 21- </a:t>
            </a:r>
            <a:fld id="{060BD193-E118-4B16-863C-C8C12C675E3E}" type="slidenum">
              <a:rPr lang="en-US" smtClean="0"/>
              <a:pPr>
                <a:defRPr/>
              </a:pPr>
              <a:t>‹#›</a:t>
            </a:fld>
            <a:endParaRPr lang="en-US" dirty="0"/>
          </a:p>
        </p:txBody>
      </p:sp>
      <p:pic>
        <p:nvPicPr>
          <p:cNvPr id="4" name="Picture 3" descr="1.png">
            <a:extLst>
              <a:ext uri="{FF2B5EF4-FFF2-40B4-BE49-F238E27FC236}">
                <a16:creationId xmlns:a16="http://schemas.microsoft.com/office/drawing/2014/main" id="{0C30E8B4-72CA-F045-86DE-DA0CF9BCF0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1224982125"/>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a:xfrm>
            <a:off x="647700" y="6356352"/>
            <a:ext cx="3468172"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762551080"/>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6" name="Slide Number Placeholder 5"/>
          <p:cNvSpPr>
            <a:spLocks noGrp="1"/>
          </p:cNvSpPr>
          <p:nvPr>
            <p:ph type="sldNum" sz="quarter" idx="10"/>
          </p:nvPr>
        </p:nvSpPr>
        <p:spPr>
          <a:xfrm>
            <a:off x="647700" y="6356352"/>
            <a:ext cx="3344600" cy="365125"/>
          </a:xfrm>
        </p:spPr>
        <p:txBody>
          <a:bodyPr/>
          <a:lstStyle/>
          <a:p>
            <a:pPr>
              <a:defRPr/>
            </a:pPr>
            <a:r>
              <a:rPr lang="en-US"/>
              <a:t>Improving Area and Resources 21- </a:t>
            </a:r>
            <a:fld id="{060BD193-E118-4B16-863C-C8C12C675E3E}" type="slidenum">
              <a:rPr lang="en-US" smtClean="0"/>
              <a:pPr>
                <a:defRPr/>
              </a:pPr>
              <a:t>‹#›</a:t>
            </a:fld>
            <a:endParaRPr lang="en-US" dirty="0"/>
          </a:p>
        </p:txBody>
      </p:sp>
      <p:sp>
        <p:nvSpPr>
          <p:cNvPr id="4" name="Text Placeholder 6"/>
          <p:cNvSpPr>
            <a:spLocks noGrp="1"/>
          </p:cNvSpPr>
          <p:nvPr>
            <p:ph type="body" sz="quarter" idx="16" hasCustomPrompt="1"/>
          </p:nvPr>
        </p:nvSpPr>
        <p:spPr>
          <a:xfrm>
            <a:off x="9138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5" name="Text Placeholder 6"/>
          <p:cNvSpPr>
            <a:spLocks noGrp="1"/>
          </p:cNvSpPr>
          <p:nvPr>
            <p:ph type="body" sz="quarter" idx="17" hasCustomPrompt="1"/>
          </p:nvPr>
        </p:nvSpPr>
        <p:spPr>
          <a:xfrm>
            <a:off x="4514270" y="4884003"/>
            <a:ext cx="3078480" cy="553998"/>
          </a:xfrm>
        </p:spPr>
        <p:txBody>
          <a:bodyPr/>
          <a:lstStyle>
            <a:lvl1pPr marL="0" indent="0">
              <a:buNone/>
              <a:defRPr sz="1799">
                <a:solidFill>
                  <a:schemeClr val="tx1"/>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7" name="Text Placeholder 6"/>
          <p:cNvSpPr>
            <a:spLocks noGrp="1"/>
          </p:cNvSpPr>
          <p:nvPr>
            <p:ph type="body" sz="quarter" idx="18" hasCustomPrompt="1"/>
          </p:nvPr>
        </p:nvSpPr>
        <p:spPr>
          <a:xfrm>
            <a:off x="8114720" y="4884003"/>
            <a:ext cx="3078480" cy="553998"/>
          </a:xfrm>
        </p:spPr>
        <p:txBody>
          <a:bodyPr/>
          <a:lstStyle>
            <a:lvl1pPr marL="0" indent="0">
              <a:buNone/>
              <a:defRPr sz="1799">
                <a:solidFill>
                  <a:srgbClr val="171C2D"/>
                </a:solidFill>
              </a:defRPr>
            </a:lvl1pPr>
            <a:lvl2pPr>
              <a:defRPr sz="1350"/>
            </a:lvl2pPr>
            <a:lvl3pPr>
              <a:defRPr sz="1350"/>
            </a:lvl3pPr>
            <a:lvl4pPr>
              <a:defRPr sz="1350"/>
            </a:lvl4pPr>
            <a:lvl5pPr>
              <a:defRPr sz="1350"/>
            </a:lvl5pPr>
          </a:lstStyle>
          <a:p>
            <a:pPr lvl="0"/>
            <a:r>
              <a:rPr lang="en-US" dirty="0"/>
              <a:t>Insert additional supporting text here.</a:t>
            </a:r>
          </a:p>
        </p:txBody>
      </p:sp>
      <p:sp>
        <p:nvSpPr>
          <p:cNvPr id="8" name="Picture Placeholder 426"/>
          <p:cNvSpPr>
            <a:spLocks noGrp="1"/>
          </p:cNvSpPr>
          <p:nvPr>
            <p:ph type="pic" sz="quarter" idx="11"/>
          </p:nvPr>
        </p:nvSpPr>
        <p:spPr>
          <a:xfrm>
            <a:off x="810710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9" name="Picture Placeholder 426"/>
          <p:cNvSpPr>
            <a:spLocks noGrp="1"/>
          </p:cNvSpPr>
          <p:nvPr>
            <p:ph type="pic" sz="quarter" idx="19"/>
          </p:nvPr>
        </p:nvSpPr>
        <p:spPr>
          <a:xfrm>
            <a:off x="906201"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
        <p:nvSpPr>
          <p:cNvPr id="10" name="Picture Placeholder 426"/>
          <p:cNvSpPr>
            <a:spLocks noGrp="1"/>
          </p:cNvSpPr>
          <p:nvPr>
            <p:ph type="pic" sz="quarter" idx="20"/>
          </p:nvPr>
        </p:nvSpPr>
        <p:spPr>
          <a:xfrm>
            <a:off x="4514270" y="1455003"/>
            <a:ext cx="3086100" cy="3086100"/>
          </a:xfrm>
          <a:solidFill>
            <a:schemeClr val="accent3"/>
          </a:solidFill>
        </p:spPr>
        <p:txBody>
          <a:bodyPr tIns="1371600" bIns="0" anchor="ctr" anchorCtr="0">
            <a:noAutofit/>
          </a:bodyPr>
          <a:lstStyle>
            <a:lvl1pPr marL="0" indent="0" algn="ctr">
              <a:buNone/>
              <a:defRPr sz="1350"/>
            </a:lvl1pPr>
          </a:lstStyle>
          <a:p>
            <a:r>
              <a:rPr lang="en-US" altLang="zh-CN"/>
              <a:t>Click icon to add picture</a:t>
            </a:r>
            <a:endParaRPr lang="en-US" dirty="0"/>
          </a:p>
        </p:txBody>
      </p:sp>
    </p:spTree>
    <p:extLst>
      <p:ext uri="{BB962C8B-B14F-4D97-AF65-F5344CB8AC3E}">
        <p14:creationId xmlns:p14="http://schemas.microsoft.com/office/powerpoint/2010/main" val="320842134"/>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imple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3288020" cy="365125"/>
          </a:xfrm>
        </p:spPr>
        <p:txBody>
          <a:bodyPr/>
          <a:lstStyle/>
          <a:p>
            <a:pPr>
              <a:defRPr/>
            </a:pPr>
            <a:r>
              <a:rPr lang="en-US"/>
              <a:t>Improving Area and Resources 21-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pic>
        <p:nvPicPr>
          <p:cNvPr id="8" name="Picture 7" descr="111.png">
            <a:extLst>
              <a:ext uri="{FF2B5EF4-FFF2-40B4-BE49-F238E27FC236}">
                <a16:creationId xmlns:a16="http://schemas.microsoft.com/office/drawing/2014/main" id="{6E287EE2-21D3-F44C-813F-02BED688E8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090"/>
          <a:stretch/>
        </p:blipFill>
        <p:spPr>
          <a:xfrm>
            <a:off x="8903980" y="2"/>
            <a:ext cx="3288021" cy="6882659"/>
          </a:xfrm>
          <a:prstGeom prst="rect">
            <a:avLst/>
          </a:prstGeom>
        </p:spPr>
      </p:pic>
    </p:spTree>
    <p:extLst>
      <p:ext uri="{BB962C8B-B14F-4D97-AF65-F5344CB8AC3E}">
        <p14:creationId xmlns:p14="http://schemas.microsoft.com/office/powerpoint/2010/main" val="294198585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imple Statement with Pictur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952501" y="2286762"/>
            <a:ext cx="5772150" cy="761746"/>
          </a:xfrm>
        </p:spPr>
        <p:txBody>
          <a:bodyPr/>
          <a:lstStyle>
            <a:lvl1pPr>
              <a:defRPr lang="en-US" sz="4799" b="1" i="0" kern="1200" dirty="0">
                <a:solidFill>
                  <a:srgbClr val="171C2D"/>
                </a:solidFill>
                <a:latin typeface="Arial" charset="0"/>
                <a:ea typeface="+mj-ea"/>
                <a:cs typeface="Arial" charset="0"/>
              </a:defRPr>
            </a:lvl1pPr>
          </a:lstStyle>
          <a:p>
            <a:r>
              <a:rPr lang="en-US" dirty="0"/>
              <a:t>Simple Statement</a:t>
            </a:r>
          </a:p>
        </p:txBody>
      </p:sp>
      <p:sp>
        <p:nvSpPr>
          <p:cNvPr id="5" name="Slide Number Placeholder 2">
            <a:extLst>
              <a:ext uri="{FF2B5EF4-FFF2-40B4-BE49-F238E27FC236}">
                <a16:creationId xmlns:a16="http://schemas.microsoft.com/office/drawing/2014/main" id="{2C22C299-FDA6-164A-B353-229958A83E52}"/>
              </a:ext>
            </a:extLst>
          </p:cNvPr>
          <p:cNvSpPr>
            <a:spLocks noGrp="1"/>
          </p:cNvSpPr>
          <p:nvPr>
            <p:ph type="sldNum" sz="quarter" idx="10"/>
          </p:nvPr>
        </p:nvSpPr>
        <p:spPr>
          <a:xfrm>
            <a:off x="647700" y="6356352"/>
            <a:ext cx="3110632" cy="365125"/>
          </a:xfrm>
        </p:spPr>
        <p:txBody>
          <a:bodyPr/>
          <a:lstStyle/>
          <a:p>
            <a:pPr>
              <a:defRPr/>
            </a:pPr>
            <a:r>
              <a:rPr lang="en-US"/>
              <a:t>Improving Area and Resources 21- </a:t>
            </a:r>
            <a:fld id="{060BD193-E118-4B16-863C-C8C12C675E3E}" type="slidenum">
              <a:rPr lang="en-US" smtClean="0"/>
              <a:pPr>
                <a:defRPr/>
              </a:pPr>
              <a:t>‹#›</a:t>
            </a:fld>
            <a:endParaRPr lang="en-US" dirty="0"/>
          </a:p>
        </p:txBody>
      </p:sp>
      <p:sp>
        <p:nvSpPr>
          <p:cNvPr id="6" name="Text Placeholder 5">
            <a:extLst>
              <a:ext uri="{FF2B5EF4-FFF2-40B4-BE49-F238E27FC236}">
                <a16:creationId xmlns:a16="http://schemas.microsoft.com/office/drawing/2014/main" id="{EE658E4E-230D-8D43-99E8-0341ED808C7C}"/>
              </a:ext>
            </a:extLst>
          </p:cNvPr>
          <p:cNvSpPr>
            <a:spLocks noGrp="1"/>
          </p:cNvSpPr>
          <p:nvPr>
            <p:ph type="body" sz="quarter" idx="12" hasCustomPrompt="1"/>
          </p:nvPr>
        </p:nvSpPr>
        <p:spPr>
          <a:xfrm>
            <a:off x="952501" y="3048511"/>
            <a:ext cx="5772150" cy="1354217"/>
          </a:xfrm>
        </p:spPr>
        <p:txBody>
          <a:bodyPr/>
          <a:lstStyle>
            <a:lvl1pPr marL="0" indent="0">
              <a:buNone/>
              <a:defRPr sz="4399" b="0" i="0" baseline="0">
                <a:solidFill>
                  <a:srgbClr val="EC1C24"/>
                </a:solidFill>
                <a:latin typeface="Arial" charset="0"/>
                <a:ea typeface="Arial" charset="0"/>
                <a:cs typeface="Arial" charset="0"/>
              </a:defRPr>
            </a:lvl1pPr>
          </a:lstStyle>
          <a:p>
            <a:pPr lvl="0"/>
            <a:r>
              <a:rPr lang="en-US" dirty="0"/>
              <a:t>Introduction or Concept Slide</a:t>
            </a:r>
          </a:p>
        </p:txBody>
      </p:sp>
      <p:sp>
        <p:nvSpPr>
          <p:cNvPr id="7" name="Picture Placeholder 14">
            <a:extLst>
              <a:ext uri="{FF2B5EF4-FFF2-40B4-BE49-F238E27FC236}">
                <a16:creationId xmlns:a16="http://schemas.microsoft.com/office/drawing/2014/main" id="{89EAEFDD-B284-E94B-8F1D-D7E1627370F6}"/>
              </a:ext>
            </a:extLst>
          </p:cNvPr>
          <p:cNvSpPr>
            <a:spLocks noGrp="1"/>
          </p:cNvSpPr>
          <p:nvPr>
            <p:ph type="pic" sz="quarter" idx="13"/>
          </p:nvPr>
        </p:nvSpPr>
        <p:spPr>
          <a:xfrm>
            <a:off x="6781801" y="1200150"/>
            <a:ext cx="4457700" cy="4457700"/>
          </a:xfrm>
        </p:spPr>
        <p:txBody>
          <a:bodyPr/>
          <a:lstStyle>
            <a:lvl1pPr marL="0" indent="0">
              <a:buNone/>
              <a:defRPr/>
            </a:lvl1pPr>
          </a:lstStyle>
          <a:p>
            <a:r>
              <a:rPr lang="en-US" altLang="zh-CN"/>
              <a:t>Click icon to add picture</a:t>
            </a:r>
            <a:endParaRPr lang="en-US" dirty="0"/>
          </a:p>
        </p:txBody>
      </p:sp>
      <p:pic>
        <p:nvPicPr>
          <p:cNvPr id="9" name="Picture 8" descr="1.png">
            <a:extLst>
              <a:ext uri="{FF2B5EF4-FFF2-40B4-BE49-F238E27FC236}">
                <a16:creationId xmlns:a16="http://schemas.microsoft.com/office/drawing/2014/main" id="{D28EDF51-090C-9841-AE58-2273CEB97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7001" y="0"/>
            <a:ext cx="3175000" cy="6858000"/>
          </a:xfrm>
          <a:prstGeom prst="rect">
            <a:avLst/>
          </a:prstGeom>
        </p:spPr>
      </p:pic>
    </p:spTree>
    <p:extLst>
      <p:ext uri="{BB962C8B-B14F-4D97-AF65-F5344CB8AC3E}">
        <p14:creationId xmlns:p14="http://schemas.microsoft.com/office/powerpoint/2010/main" val="1288844522"/>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Layout (WHITE)">
    <p:spTree>
      <p:nvGrpSpPr>
        <p:cNvPr id="1" name=""/>
        <p:cNvGrpSpPr/>
        <p:nvPr/>
      </p:nvGrpSpPr>
      <p:grpSpPr>
        <a:xfrm>
          <a:off x="0" y="0"/>
          <a:ext cx="0" cy="0"/>
          <a:chOff x="0" y="0"/>
          <a:chExt cx="0" cy="0"/>
        </a:xfrm>
      </p:grpSpPr>
      <p:sp>
        <p:nvSpPr>
          <p:cNvPr id="4" name="Slide Number Placeholder 2">
            <a:extLst>
              <a:ext uri="{FF2B5EF4-FFF2-40B4-BE49-F238E27FC236}">
                <a16:creationId xmlns:a16="http://schemas.microsoft.com/office/drawing/2014/main" id="{F2364798-7D9C-B84C-856F-0C65222D9551}"/>
              </a:ext>
            </a:extLst>
          </p:cNvPr>
          <p:cNvSpPr>
            <a:spLocks noGrp="1"/>
          </p:cNvSpPr>
          <p:nvPr>
            <p:ph type="sldNum" sz="quarter" idx="10"/>
          </p:nvPr>
        </p:nvSpPr>
        <p:spPr>
          <a:xfrm>
            <a:off x="647700" y="6356352"/>
            <a:ext cx="3118946"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28434135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ake-Away Slide (Sub-Header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17221" y="212985"/>
            <a:ext cx="10614040" cy="492443"/>
          </a:xfrm>
        </p:spPr>
        <p:txBody>
          <a:bodyPr/>
          <a:lstStyle>
            <a:lvl1pPr>
              <a:defRPr sz="3199" baseline="0"/>
            </a:lvl1pPr>
          </a:lstStyle>
          <a:p>
            <a:r>
              <a:rPr lang="en-US" dirty="0"/>
              <a:t>Take-Away Slide</a:t>
            </a:r>
          </a:p>
        </p:txBody>
      </p:sp>
      <p:sp>
        <p:nvSpPr>
          <p:cNvPr id="7" name="Text Placeholder 3"/>
          <p:cNvSpPr>
            <a:spLocks noGrp="1"/>
          </p:cNvSpPr>
          <p:nvPr>
            <p:ph type="body" sz="quarter" idx="15" hasCustomPrompt="1"/>
          </p:nvPr>
        </p:nvSpPr>
        <p:spPr>
          <a:xfrm>
            <a:off x="960121" y="1538984"/>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9" name="Text Placeholder 2"/>
          <p:cNvSpPr>
            <a:spLocks noGrp="1"/>
          </p:cNvSpPr>
          <p:nvPr>
            <p:ph type="body" sz="quarter" idx="17" hasCustomPrompt="1"/>
          </p:nvPr>
        </p:nvSpPr>
        <p:spPr>
          <a:xfrm>
            <a:off x="960119" y="2101124"/>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3" name="Text Placeholder 3"/>
          <p:cNvSpPr>
            <a:spLocks noGrp="1"/>
          </p:cNvSpPr>
          <p:nvPr>
            <p:ph type="body" sz="quarter" idx="23" hasCustomPrompt="1"/>
          </p:nvPr>
        </p:nvSpPr>
        <p:spPr>
          <a:xfrm>
            <a:off x="960121" y="3153729"/>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4" name="Text Placeholder 2"/>
          <p:cNvSpPr>
            <a:spLocks noGrp="1"/>
          </p:cNvSpPr>
          <p:nvPr>
            <p:ph type="body" sz="quarter" idx="24" hasCustomPrompt="1"/>
          </p:nvPr>
        </p:nvSpPr>
        <p:spPr>
          <a:xfrm>
            <a:off x="960119" y="3705948"/>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Text Placeholder 3"/>
          <p:cNvSpPr>
            <a:spLocks noGrp="1"/>
          </p:cNvSpPr>
          <p:nvPr>
            <p:ph type="body" sz="quarter" idx="25" hasCustomPrompt="1"/>
          </p:nvPr>
        </p:nvSpPr>
        <p:spPr>
          <a:xfrm>
            <a:off x="960121" y="4768475"/>
            <a:ext cx="10256520" cy="508722"/>
          </a:xfrm>
          <a:no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16" name="Text Placeholder 2"/>
          <p:cNvSpPr>
            <a:spLocks noGrp="1"/>
          </p:cNvSpPr>
          <p:nvPr>
            <p:ph type="body" sz="quarter" idx="26" hasCustomPrompt="1"/>
          </p:nvPr>
        </p:nvSpPr>
        <p:spPr>
          <a:xfrm>
            <a:off x="960119" y="5330615"/>
            <a:ext cx="10248939" cy="562137"/>
          </a:xfrm>
        </p:spPr>
        <p:txBody>
          <a:bodyPr lIns="0" tIns="0" rIns="0" bIns="91440"/>
          <a:lstStyle>
            <a:lvl1pPr marL="0" indent="0">
              <a:lnSpc>
                <a:spcPct val="100000"/>
              </a:lnSpc>
              <a:spcBef>
                <a:spcPts val="600"/>
              </a:spcBef>
              <a:spcAft>
                <a:spcPts val="600"/>
              </a:spcAft>
              <a:buNone/>
              <a:defRPr lang="en-US" b="0" dirty="0"/>
            </a:lvl1pPr>
            <a:lvl2pPr marL="171399" indent="-163464">
              <a:lnSpc>
                <a:spcPct val="150000"/>
              </a:lnSpc>
              <a:buFontTx/>
              <a:buBlip>
                <a:blip r:embed="rId2"/>
              </a:buBlip>
              <a:tabLst/>
              <a:defRPr sz="1799">
                <a:solidFill>
                  <a:srgbClr val="5D606C"/>
                </a:solidFill>
              </a:defRPr>
            </a:lvl2pPr>
            <a:lvl3pPr marL="461824" indent="-290426">
              <a:lnSpc>
                <a:spcPct val="150000"/>
              </a:lnSpc>
              <a:buFontTx/>
              <a:buBlip>
                <a:blip r:embed="rId3"/>
              </a:buBlip>
              <a:tabLst/>
              <a:defRPr sz="1799">
                <a:solidFill>
                  <a:srgbClr val="5D606C"/>
                </a:solidFill>
              </a:defRPr>
            </a:lvl3pPr>
            <a:lvl4pPr>
              <a:defRPr>
                <a:solidFill>
                  <a:srgbClr val="5D606C"/>
                </a:solidFill>
              </a:defRPr>
            </a:lvl4pPr>
            <a:lvl5pPr>
              <a:defRPr>
                <a:solidFill>
                  <a:srgbClr val="5D606C"/>
                </a:solidFill>
              </a:defRPr>
            </a:lvl5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0" name="Slide Number Placeholder 2">
            <a:extLst>
              <a:ext uri="{FF2B5EF4-FFF2-40B4-BE49-F238E27FC236}">
                <a16:creationId xmlns:a16="http://schemas.microsoft.com/office/drawing/2014/main" id="{22A52D08-28C6-7046-85C5-29DDBD4D27E0}"/>
              </a:ext>
            </a:extLst>
          </p:cNvPr>
          <p:cNvSpPr>
            <a:spLocks noGrp="1"/>
          </p:cNvSpPr>
          <p:nvPr>
            <p:ph type="sldNum" sz="quarter" idx="10"/>
          </p:nvPr>
        </p:nvSpPr>
        <p:spPr>
          <a:xfrm>
            <a:off x="647700" y="6356352"/>
            <a:ext cx="3268615" cy="365125"/>
          </a:xfrm>
        </p:spPr>
        <p:txBody>
          <a:body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06235862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ake-Away Slide (Bullets)">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21B7EA41-46BF-B947-8230-37EB3728F525}"/>
              </a:ext>
            </a:extLst>
          </p:cNvPr>
          <p:cNvSpPr>
            <a:spLocks noGrp="1"/>
          </p:cNvSpPr>
          <p:nvPr>
            <p:ph type="title" hasCustomPrompt="1"/>
          </p:nvPr>
        </p:nvSpPr>
        <p:spPr>
          <a:xfrm>
            <a:off x="617221" y="212985"/>
            <a:ext cx="10589668" cy="492443"/>
          </a:xfrm>
        </p:spPr>
        <p:txBody>
          <a:bodyPr/>
          <a:lstStyle>
            <a:lvl1pPr>
              <a:defRPr sz="3199" baseline="0"/>
            </a:lvl1pPr>
          </a:lstStyle>
          <a:p>
            <a:r>
              <a:rPr lang="en-US" dirty="0"/>
              <a:t>Take-Away Slide With Bullets</a:t>
            </a:r>
          </a:p>
        </p:txBody>
      </p:sp>
      <p:sp>
        <p:nvSpPr>
          <p:cNvPr id="26" name="Text Placeholder 3">
            <a:extLst>
              <a:ext uri="{FF2B5EF4-FFF2-40B4-BE49-F238E27FC236}">
                <a16:creationId xmlns:a16="http://schemas.microsoft.com/office/drawing/2014/main" id="{4D465602-9518-D549-819E-52FFB5D1AC53}"/>
              </a:ext>
            </a:extLst>
          </p:cNvPr>
          <p:cNvSpPr>
            <a:spLocks noGrp="1"/>
          </p:cNvSpPr>
          <p:nvPr>
            <p:ph type="body" sz="quarter" idx="15" hasCustomPrompt="1"/>
          </p:nvPr>
        </p:nvSpPr>
        <p:spPr>
          <a:xfrm>
            <a:off x="960121" y="1538984"/>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7" name="Text Placeholder 3">
            <a:extLst>
              <a:ext uri="{FF2B5EF4-FFF2-40B4-BE49-F238E27FC236}">
                <a16:creationId xmlns:a16="http://schemas.microsoft.com/office/drawing/2014/main" id="{15273868-A160-3B46-8F69-A41EDF54BDA2}"/>
              </a:ext>
            </a:extLst>
          </p:cNvPr>
          <p:cNvSpPr>
            <a:spLocks noGrp="1"/>
          </p:cNvSpPr>
          <p:nvPr>
            <p:ph type="body" sz="quarter" idx="23" hasCustomPrompt="1"/>
          </p:nvPr>
        </p:nvSpPr>
        <p:spPr>
          <a:xfrm>
            <a:off x="960121" y="3195489"/>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28" name="Text Placeholder 3">
            <a:extLst>
              <a:ext uri="{FF2B5EF4-FFF2-40B4-BE49-F238E27FC236}">
                <a16:creationId xmlns:a16="http://schemas.microsoft.com/office/drawing/2014/main" id="{2C165392-FF16-194E-BB96-47B05786B74E}"/>
              </a:ext>
            </a:extLst>
          </p:cNvPr>
          <p:cNvSpPr>
            <a:spLocks noGrp="1"/>
          </p:cNvSpPr>
          <p:nvPr>
            <p:ph type="body" sz="quarter" idx="25" hasCustomPrompt="1"/>
          </p:nvPr>
        </p:nvSpPr>
        <p:spPr>
          <a:xfrm>
            <a:off x="960121" y="4851993"/>
            <a:ext cx="10232969" cy="508722"/>
          </a:xfrm>
          <a:solidFill>
            <a:schemeClr val="bg1"/>
          </a:solidFill>
        </p:spPr>
        <p:txBody>
          <a:bodyPr tIns="0" bIns="0" anchor="ctr"/>
          <a:lstStyle>
            <a:lvl1pPr marL="0" indent="0">
              <a:buNone/>
              <a:defRPr sz="3399" b="0">
                <a:solidFill>
                  <a:srgbClr val="FF0000"/>
                </a:solidFill>
              </a:defRPr>
            </a:lvl1pPr>
          </a:lstStyle>
          <a:p>
            <a:r>
              <a:rPr lang="en-US" kern="0" dirty="0"/>
              <a:t>List item header text style</a:t>
            </a:r>
          </a:p>
        </p:txBody>
      </p:sp>
      <p:sp>
        <p:nvSpPr>
          <p:cNvPr id="44" name="Slide Number Placeholder 2">
            <a:extLst>
              <a:ext uri="{FF2B5EF4-FFF2-40B4-BE49-F238E27FC236}">
                <a16:creationId xmlns:a16="http://schemas.microsoft.com/office/drawing/2014/main" id="{7C1986B2-675B-824C-8649-7C9AC5CE346C}"/>
              </a:ext>
            </a:extLst>
          </p:cNvPr>
          <p:cNvSpPr>
            <a:spLocks noGrp="1"/>
          </p:cNvSpPr>
          <p:nvPr>
            <p:ph type="sldNum" sz="quarter" idx="10"/>
          </p:nvPr>
        </p:nvSpPr>
        <p:spPr>
          <a:xfrm>
            <a:off x="647700" y="6356352"/>
            <a:ext cx="3567951" cy="365125"/>
          </a:xfrm>
        </p:spPr>
        <p:txBody>
          <a:bodyPr/>
          <a:lstStyle/>
          <a:p>
            <a:pPr>
              <a:defRPr/>
            </a:pPr>
            <a:r>
              <a:rPr lang="en-US"/>
              <a:t>Improving Area and Resources 21- </a:t>
            </a:r>
            <a:fld id="{060BD193-E118-4B16-863C-C8C12C675E3E}" type="slidenum">
              <a:rPr lang="en-US" smtClean="0"/>
              <a:pPr>
                <a:defRPr/>
              </a:pPr>
              <a:t>‹#›</a:t>
            </a:fld>
            <a:endParaRPr lang="en-US" dirty="0"/>
          </a:p>
        </p:txBody>
      </p:sp>
      <p:sp>
        <p:nvSpPr>
          <p:cNvPr id="4" name="Content Placeholder 3"/>
          <p:cNvSpPr>
            <a:spLocks noGrp="1"/>
          </p:cNvSpPr>
          <p:nvPr>
            <p:ph sz="quarter" idx="29" hasCustomPrompt="1"/>
          </p:nvPr>
        </p:nvSpPr>
        <p:spPr>
          <a:xfrm>
            <a:off x="966789" y="207422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4" name="Content Placeholder 3"/>
          <p:cNvSpPr>
            <a:spLocks noGrp="1"/>
          </p:cNvSpPr>
          <p:nvPr>
            <p:ph sz="quarter" idx="30" hasCustomPrompt="1"/>
          </p:nvPr>
        </p:nvSpPr>
        <p:spPr>
          <a:xfrm>
            <a:off x="976949" y="3738837"/>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
        <p:nvSpPr>
          <p:cNvPr id="15" name="Content Placeholder 3"/>
          <p:cNvSpPr>
            <a:spLocks noGrp="1"/>
          </p:cNvSpPr>
          <p:nvPr>
            <p:ph sz="quarter" idx="31" hasCustomPrompt="1"/>
          </p:nvPr>
        </p:nvSpPr>
        <p:spPr>
          <a:xfrm>
            <a:off x="976949" y="5381035"/>
            <a:ext cx="10226675" cy="709616"/>
          </a:xfrm>
        </p:spPr>
        <p:txBody>
          <a:bodyPr/>
          <a:lstStyle>
            <a:lvl1pPr>
              <a:spcBef>
                <a:spcPts val="600"/>
              </a:spcBef>
              <a:defRPr b="0"/>
            </a:lvl1pPr>
            <a:lvl2pPr marL="457063" indent="0">
              <a:buNone/>
              <a:defRPr/>
            </a:lvl2pPr>
          </a:lstStyle>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a:p>
            <a:pPr lvl="0"/>
            <a:r>
              <a:rPr lang="en-US" dirty="0"/>
              <a:t>List item subhead text style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a:t>
            </a:r>
          </a:p>
        </p:txBody>
      </p:sp>
    </p:spTree>
    <p:extLst>
      <p:ext uri="{BB962C8B-B14F-4D97-AF65-F5344CB8AC3E}">
        <p14:creationId xmlns:p14="http://schemas.microsoft.com/office/powerpoint/2010/main" val="61220691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End Slide">
    <p:bg>
      <p:bgPr>
        <a:solidFill>
          <a:srgbClr val="141724"/>
        </a:solidFill>
        <a:effectLst/>
      </p:bgPr>
    </p:bg>
    <p:spTree>
      <p:nvGrpSpPr>
        <p:cNvPr id="1" name=""/>
        <p:cNvGrpSpPr/>
        <p:nvPr/>
      </p:nvGrpSpPr>
      <p:grpSpPr>
        <a:xfrm>
          <a:off x="0" y="0"/>
          <a:ext cx="0" cy="0"/>
          <a:chOff x="0" y="0"/>
          <a:chExt cx="0" cy="0"/>
        </a:xfrm>
      </p:grpSpPr>
      <p:sp>
        <p:nvSpPr>
          <p:cNvPr id="24" name="Rectangle 23"/>
          <p:cNvSpPr/>
          <p:nvPr/>
        </p:nvSpPr>
        <p:spPr>
          <a:xfrm>
            <a:off x="10832950" y="6443472"/>
            <a:ext cx="1176170" cy="371856"/>
          </a:xfrm>
          <a:prstGeom prst="rect">
            <a:avLst/>
          </a:prstGeom>
          <a:solidFill>
            <a:srgbClr val="161C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ight Triangle 18">
            <a:extLst>
              <a:ext uri="{FF2B5EF4-FFF2-40B4-BE49-F238E27FC236}">
                <a16:creationId xmlns:a16="http://schemas.microsoft.com/office/drawing/2014/main" id="{60FB99D6-8BE6-3843-87F0-1BF2F1338A6C}"/>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7E68A1B2-3ABC-9D4A-B378-06C02AF8EB0C}"/>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ight Triangle 5">
            <a:extLst>
              <a:ext uri="{FF2B5EF4-FFF2-40B4-BE49-F238E27FC236}">
                <a16:creationId xmlns:a16="http://schemas.microsoft.com/office/drawing/2014/main" id="{60184228-3525-514A-86C4-3C16B3BD69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ight Triangle 6">
            <a:extLst>
              <a:ext uri="{FF2B5EF4-FFF2-40B4-BE49-F238E27FC236}">
                <a16:creationId xmlns:a16="http://schemas.microsoft.com/office/drawing/2014/main" id="{DB5B8B0E-1006-BC4A-9FBE-4C9A0F8CB908}"/>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ight Triangle 8">
            <a:extLst>
              <a:ext uri="{FF2B5EF4-FFF2-40B4-BE49-F238E27FC236}">
                <a16:creationId xmlns:a16="http://schemas.microsoft.com/office/drawing/2014/main" id="{CD6377F4-2164-4C47-B26D-2B2C92B343C5}"/>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50D1EABC-9772-9C41-B944-B07DB09ED607}"/>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ight Triangle 12">
            <a:extLst>
              <a:ext uri="{FF2B5EF4-FFF2-40B4-BE49-F238E27FC236}">
                <a16:creationId xmlns:a16="http://schemas.microsoft.com/office/drawing/2014/main" id="{CCEBED41-AE49-0A45-88A5-DA613F2CC363}"/>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ight Triangle 13">
            <a:extLst>
              <a:ext uri="{FF2B5EF4-FFF2-40B4-BE49-F238E27FC236}">
                <a16:creationId xmlns:a16="http://schemas.microsoft.com/office/drawing/2014/main" id="{1003DCE0-C55E-6448-AC1E-9D71F3EBB562}"/>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ight Triangle 15">
            <a:extLst>
              <a:ext uri="{FF2B5EF4-FFF2-40B4-BE49-F238E27FC236}">
                <a16:creationId xmlns:a16="http://schemas.microsoft.com/office/drawing/2014/main" id="{31979BB4-D02E-AE4E-A8A8-2A7A55AB79CA}"/>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A03168C6-AAF2-8A4D-AE31-BF4FFA4AA02E}"/>
              </a:ext>
            </a:extLst>
          </p:cNvPr>
          <p:cNvSpPr/>
          <p:nvPr/>
        </p:nvSpPr>
        <p:spPr>
          <a:xfrm rot="10800000">
            <a:off x="7412966" y="0"/>
            <a:ext cx="4792936" cy="4792936"/>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0F9A8760-B4C4-654E-B224-4A478CF0477F}"/>
              </a:ext>
            </a:extLst>
          </p:cNvPr>
          <p:cNvSpPr/>
          <p:nvPr/>
        </p:nvSpPr>
        <p:spPr>
          <a:xfrm rot="16200000">
            <a:off x="7412966" y="2078967"/>
            <a:ext cx="4779034" cy="4779034"/>
          </a:xfrm>
          <a:prstGeom prst="rtTriangle">
            <a:avLst/>
          </a:pr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ight Triangle 22">
            <a:extLst>
              <a:ext uri="{FF2B5EF4-FFF2-40B4-BE49-F238E27FC236}">
                <a16:creationId xmlns:a16="http://schemas.microsoft.com/office/drawing/2014/main" id="{2227A6DD-EC13-EF49-9819-F92827EA4822}"/>
              </a:ext>
            </a:extLst>
          </p:cNvPr>
          <p:cNvSpPr/>
          <p:nvPr/>
        </p:nvSpPr>
        <p:spPr>
          <a:xfrm rot="10800000">
            <a:off x="7412966" y="0"/>
            <a:ext cx="4792936" cy="4792936"/>
          </a:xfrm>
          <a:prstGeom prst="rtTriangle">
            <a:avLst/>
          </a:prstGeom>
          <a:solidFill>
            <a:srgbClr val="EB1B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Picture 16" descr="11.png"/>
          <p:cNvPicPr>
            <a:picLocks noChangeAspect="1"/>
          </p:cNvPicPr>
          <p:nvPr/>
        </p:nvPicPr>
        <p:blipFill rotWithShape="1">
          <a:blip r:embed="rId2" cstate="print">
            <a:alphaModFix amt="70000"/>
            <a:extLst>
              <a:ext uri="{28A0092B-C50C-407E-A947-70E740481C1C}">
                <a14:useLocalDpi xmlns:a14="http://schemas.microsoft.com/office/drawing/2010/main" val="0"/>
              </a:ext>
            </a:extLst>
          </a:blip>
          <a:srcRect t="-2013" b="2013"/>
          <a:stretch/>
        </p:blipFill>
        <p:spPr>
          <a:xfrm>
            <a:off x="9017001" y="0"/>
            <a:ext cx="3175000" cy="6858000"/>
          </a:xfrm>
          <a:prstGeom prst="rect">
            <a:avLst/>
          </a:prstGeom>
        </p:spPr>
      </p:pic>
      <p:pic>
        <p:nvPicPr>
          <p:cNvPr id="21" name="Picture 20">
            <a:extLst>
              <a:ext uri="{FF2B5EF4-FFF2-40B4-BE49-F238E27FC236}">
                <a16:creationId xmlns:a16="http://schemas.microsoft.com/office/drawing/2014/main" id="{DF656EFA-286F-5E4A-9F0B-E6DE9CBD22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2571" y="6020571"/>
            <a:ext cx="1280160" cy="259781"/>
          </a:xfrm>
          <a:prstGeom prst="rect">
            <a:avLst/>
          </a:prstGeom>
        </p:spPr>
      </p:pic>
      <p:sp>
        <p:nvSpPr>
          <p:cNvPr id="4" name="TextBox 3">
            <a:extLst>
              <a:ext uri="{FF2B5EF4-FFF2-40B4-BE49-F238E27FC236}">
                <a16:creationId xmlns:a16="http://schemas.microsoft.com/office/drawing/2014/main" id="{3388527C-82D0-9645-A44A-89CA1AE03B1F}"/>
              </a:ext>
            </a:extLst>
          </p:cNvPr>
          <p:cNvSpPr txBox="1"/>
          <p:nvPr/>
        </p:nvSpPr>
        <p:spPr>
          <a:xfrm>
            <a:off x="872571" y="2644170"/>
            <a:ext cx="5390207" cy="1569660"/>
          </a:xfrm>
          <a:prstGeom prst="rect">
            <a:avLst/>
          </a:prstGeom>
          <a:noFill/>
        </p:spPr>
        <p:txBody>
          <a:bodyPr wrap="square" rtlCol="0">
            <a:spAutoFit/>
          </a:bodyPr>
          <a:lstStyle/>
          <a:p>
            <a:r>
              <a:rPr lang="en-US" sz="4799" b="1" dirty="0"/>
              <a:t>Adaptable.</a:t>
            </a:r>
            <a:br>
              <a:rPr lang="en-US" sz="4799" b="1" dirty="0"/>
            </a:br>
            <a:r>
              <a:rPr lang="en-US" sz="4799" b="1" dirty="0">
                <a:solidFill>
                  <a:srgbClr val="FF0000"/>
                </a:solidFill>
              </a:rPr>
              <a:t>Intelligent.</a:t>
            </a:r>
            <a:endParaRPr lang="en-US" sz="4799" b="1" dirty="0"/>
          </a:p>
        </p:txBody>
      </p:sp>
    </p:spTree>
    <p:extLst>
      <p:ext uri="{BB962C8B-B14F-4D97-AF65-F5344CB8AC3E}">
        <p14:creationId xmlns:p14="http://schemas.microsoft.com/office/powerpoint/2010/main" val="404610716"/>
      </p:ext>
    </p:extLst>
  </p:cSld>
  <p:clrMapOvr>
    <a:overrideClrMapping bg1="dk1" tx1="lt1" bg2="dk2" tx2="lt2" accent1="accent1" accent2="accent2" accent3="accent3" accent4="accent4" accent5="accent5" accent6="accent6" hlink="hlink" folHlink="folHlink"/>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nd Content Standard">
    <p:spTree>
      <p:nvGrpSpPr>
        <p:cNvPr id="1" name=""/>
        <p:cNvGrpSpPr/>
        <p:nvPr/>
      </p:nvGrpSpPr>
      <p:grpSpPr>
        <a:xfrm>
          <a:off x="0" y="0"/>
          <a:ext cx="0" cy="0"/>
          <a:chOff x="0" y="0"/>
          <a:chExt cx="0" cy="0"/>
        </a:xfrm>
      </p:grpSpPr>
      <p:sp>
        <p:nvSpPr>
          <p:cNvPr id="6" name="Rectangle 11"/>
          <p:cNvSpPr>
            <a:spLocks noGrp="1" noChangeArrowheads="1"/>
          </p:cNvSpPr>
          <p:nvPr>
            <p:ph type="title"/>
          </p:nvPr>
        </p:nvSpPr>
        <p:spPr bwMode="auto">
          <a:xfrm>
            <a:off x="1083733" y="209551"/>
            <a:ext cx="10498667" cy="530352"/>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edit Master title style</a:t>
            </a:r>
            <a:endParaRPr lang="en-US" dirty="0"/>
          </a:p>
        </p:txBody>
      </p:sp>
      <p:sp>
        <p:nvSpPr>
          <p:cNvPr id="5" name="Text Placeholder 2">
            <a:extLst>
              <a:ext uri="{FF2B5EF4-FFF2-40B4-BE49-F238E27FC236}">
                <a16:creationId xmlns:a16="http://schemas.microsoft.com/office/drawing/2014/main" id="{33C6263E-B394-40C3-AC9F-8DD7FE33C76F}"/>
              </a:ext>
            </a:extLst>
          </p:cNvPr>
          <p:cNvSpPr>
            <a:spLocks noGrp="1"/>
          </p:cNvSpPr>
          <p:nvPr>
            <p:ph idx="1"/>
          </p:nvPr>
        </p:nvSpPr>
        <p:spPr>
          <a:xfrm>
            <a:off x="1083732" y="1281356"/>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4">
            <a:extLst>
              <a:ext uri="{FF2B5EF4-FFF2-40B4-BE49-F238E27FC236}">
                <a16:creationId xmlns:a16="http://schemas.microsoft.com/office/drawing/2014/main" id="{81F88C1B-9556-412C-A2C5-64E9B3273D07}"/>
              </a:ext>
            </a:extLst>
          </p:cNvPr>
          <p:cNvSpPr>
            <a:spLocks noGrp="1"/>
          </p:cNvSpPr>
          <p:nvPr>
            <p:ph type="sldNum" sz="quarter" idx="4"/>
          </p:nvPr>
        </p:nvSpPr>
        <p:spPr>
          <a:xfrm>
            <a:off x="647700" y="6356352"/>
            <a:ext cx="3401653"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1308475523"/>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No Body Copy">
    <p:spTree>
      <p:nvGrpSpPr>
        <p:cNvPr id="1" name=""/>
        <p:cNvGrpSpPr/>
        <p:nvPr/>
      </p:nvGrpSpPr>
      <p:grpSpPr>
        <a:xfrm>
          <a:off x="0" y="0"/>
          <a:ext cx="0" cy="0"/>
          <a:chOff x="0" y="0"/>
          <a:chExt cx="0" cy="0"/>
        </a:xfrm>
      </p:grpSpPr>
      <p:sp>
        <p:nvSpPr>
          <p:cNvPr id="4" name="Title 1"/>
          <p:cNvSpPr>
            <a:spLocks noGrp="1"/>
          </p:cNvSpPr>
          <p:nvPr>
            <p:ph type="title"/>
          </p:nvPr>
        </p:nvSpPr>
        <p:spPr>
          <a:xfrm>
            <a:off x="1083734" y="209551"/>
            <a:ext cx="11017956" cy="530352"/>
          </a:xfrm>
        </p:spPr>
        <p:txBody>
          <a:bodyPr/>
          <a:lstStyle/>
          <a:p>
            <a:r>
              <a:rPr lang="en-US"/>
              <a:t>Click to edit Master title style</a:t>
            </a:r>
          </a:p>
        </p:txBody>
      </p:sp>
      <p:sp>
        <p:nvSpPr>
          <p:cNvPr id="7" name="Slide Number Placeholder 4">
            <a:extLst>
              <a:ext uri="{FF2B5EF4-FFF2-40B4-BE49-F238E27FC236}">
                <a16:creationId xmlns:a16="http://schemas.microsoft.com/office/drawing/2014/main" id="{73FE73D5-3FCD-4497-A38A-692563F798BA}"/>
              </a:ext>
            </a:extLst>
          </p:cNvPr>
          <p:cNvSpPr>
            <a:spLocks noGrp="1"/>
          </p:cNvSpPr>
          <p:nvPr>
            <p:ph type="sldNum" sz="quarter" idx="4"/>
          </p:nvPr>
        </p:nvSpPr>
        <p:spPr>
          <a:xfrm>
            <a:off x="647700" y="6356352"/>
            <a:ext cx="3401653"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a:t>Improving Area and Resources 21-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981027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image" Target="../media/image4.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3"/>
          <a:stretch>
            <a:fillRect/>
          </a:stretch>
        </p:blipFill>
        <p:spPr>
          <a:xfrm>
            <a:off x="11028823" y="6279370"/>
            <a:ext cx="576531" cy="357077"/>
          </a:xfrm>
          <a:prstGeom prst="rect">
            <a:avLst/>
          </a:prstGeom>
        </p:spPr>
      </p:pic>
      <p:sp>
        <p:nvSpPr>
          <p:cNvPr id="6" name="fc" descr="&#10;© Copyright 2022 AMD">
            <a:extLst>
              <a:ext uri="{FF2B5EF4-FFF2-40B4-BE49-F238E27FC236}">
                <a16:creationId xmlns:a16="http://schemas.microsoft.com/office/drawing/2014/main" id="{E5E8B728-BA7F-47A5-9FDB-FD7B479B0106}"/>
              </a:ext>
            </a:extLst>
          </p:cNvPr>
          <p:cNvSpPr txBox="1"/>
          <p:nvPr userDrawn="1"/>
        </p:nvSpPr>
        <p:spPr>
          <a:xfrm>
            <a:off x="0" y="6512560"/>
            <a:ext cx="12192000" cy="377026"/>
          </a:xfrm>
          <a:prstGeom prst="rect">
            <a:avLst/>
          </a:prstGeom>
          <a:noFill/>
        </p:spPr>
        <p:txBody>
          <a:bodyPr vert="horz" rtlCol="0">
            <a:spAutoFit/>
          </a:bodyPr>
          <a:lstStyle/>
          <a:p>
            <a:pPr algn="ctr"/>
            <a:endParaRPr lang="en-US" sz="850" b="0" i="0" u="none" baseline="0">
              <a:solidFill>
                <a:srgbClr val="000000"/>
              </a:solidFill>
              <a:latin typeface="Microsoft Sans Serif" panose="020B0604020202020204" pitchFamily="34" charset="0"/>
            </a:endParaRPr>
          </a:p>
          <a:p>
            <a:pPr algn="ctr"/>
            <a:r>
              <a:rPr lang="en-US" sz="1000" b="0" i="0" u="none" baseline="0">
                <a:solidFill>
                  <a:srgbClr val="000000"/>
                </a:solidFill>
                <a:latin typeface="Arial" panose="020B0604020202020204" pitchFamily="34" charset="0"/>
              </a:rPr>
              <a:t>© Copyright 2022 AMD</a:t>
            </a:r>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 id="214748399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1793" y="210312"/>
            <a:ext cx="10541508" cy="502920"/>
          </a:xfrm>
          <a:prstGeom prst="rect">
            <a:avLst/>
          </a:prstGeom>
        </p:spPr>
        <p:txBody>
          <a:bodyPr vert="horz" lIns="91440" tIns="45720" rIns="91440" bIns="45720" rtlCol="0" anchor="t" anchorCtr="0">
            <a:noAutofit/>
          </a:bodyPr>
          <a:lstStyle/>
          <a:p>
            <a:r>
              <a:rPr lang="en-US" altLang="zh-CN"/>
              <a:t>Click to edit Master title style</a:t>
            </a:r>
            <a:endParaRPr lang="en-US" dirty="0"/>
          </a:p>
        </p:txBody>
      </p:sp>
      <p:sp>
        <p:nvSpPr>
          <p:cNvPr id="3" name="Text Placeholder 2"/>
          <p:cNvSpPr>
            <a:spLocks noGrp="1"/>
          </p:cNvSpPr>
          <p:nvPr>
            <p:ph type="body" idx="1"/>
          </p:nvPr>
        </p:nvSpPr>
        <p:spPr>
          <a:xfrm>
            <a:off x="647700" y="1344168"/>
            <a:ext cx="10515600" cy="4756356"/>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object 6"/>
          <p:cNvSpPr/>
          <p:nvPr/>
        </p:nvSpPr>
        <p:spPr>
          <a:xfrm>
            <a:off x="0" y="0"/>
            <a:ext cx="647700" cy="647700"/>
          </a:xfrm>
          <a:custGeom>
            <a:avLst/>
            <a:gdLst/>
            <a:ahLst/>
            <a:cxnLst/>
            <a:rect l="l" t="t" r="r" b="b"/>
            <a:pathLst>
              <a:path w="863600" h="863600">
                <a:moveTo>
                  <a:pt x="863600" y="0"/>
                </a:moveTo>
                <a:lnTo>
                  <a:pt x="0" y="0"/>
                </a:lnTo>
                <a:lnTo>
                  <a:pt x="0" y="863600"/>
                </a:lnTo>
                <a:lnTo>
                  <a:pt x="863600" y="0"/>
                </a:lnTo>
                <a:close/>
              </a:path>
            </a:pathLst>
          </a:custGeom>
          <a:solidFill>
            <a:srgbClr val="F11212"/>
          </a:solidFill>
        </p:spPr>
        <p:txBody>
          <a:bodyPr wrap="square" lIns="0" tIns="0" rIns="0" bIns="0" rtlCol="0"/>
          <a:lstStyle/>
          <a:p>
            <a:endParaRPr sz="1013"/>
          </a:p>
        </p:txBody>
      </p:sp>
      <p:sp>
        <p:nvSpPr>
          <p:cNvPr id="5" name="Slide Number Placeholder 4"/>
          <p:cNvSpPr>
            <a:spLocks noGrp="1"/>
          </p:cNvSpPr>
          <p:nvPr>
            <p:ph type="sldNum" sz="quarter" idx="4"/>
          </p:nvPr>
        </p:nvSpPr>
        <p:spPr>
          <a:xfrm>
            <a:off x="647700" y="6356352"/>
            <a:ext cx="3285245" cy="365125"/>
          </a:xfrm>
          <a:prstGeom prst="rect">
            <a:avLst/>
          </a:prstGeom>
        </p:spPr>
        <p:txBody>
          <a:bodyPr vert="horz" lIns="91440" tIns="45720" rIns="91440" bIns="45720" rtlCol="0" anchor="ctr"/>
          <a:lstStyle>
            <a:lvl1pPr algn="l">
              <a:defRPr sz="1200" b="1">
                <a:solidFill>
                  <a:schemeClr val="tx1">
                    <a:tint val="75000"/>
                  </a:schemeClr>
                </a:solidFill>
              </a:defRPr>
            </a:lvl1pPr>
          </a:lstStyle>
          <a:p>
            <a:pPr>
              <a:defRPr/>
            </a:pPr>
            <a:r>
              <a:rPr lang="en-US" dirty="0"/>
              <a:t>Improving Area and Resources 21- </a:t>
            </a:r>
            <a:fld id="{060BD193-E118-4B16-863C-C8C12C675E3E}" type="slidenum">
              <a:rPr lang="en-US" smtClean="0"/>
              <a:pPr>
                <a:defRPr/>
              </a:pPr>
              <a:t>‹#›</a:t>
            </a:fld>
            <a:endParaRPr lang="en-US" dirty="0"/>
          </a:p>
        </p:txBody>
      </p:sp>
      <p:pic>
        <p:nvPicPr>
          <p:cNvPr id="26" name="Picture 25">
            <a:extLst>
              <a:ext uri="{FF2B5EF4-FFF2-40B4-BE49-F238E27FC236}">
                <a16:creationId xmlns:a16="http://schemas.microsoft.com/office/drawing/2014/main" id="{44F068DF-C691-E142-9A8F-9F62E4FF6DFA}"/>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0989131" y="6517141"/>
            <a:ext cx="950976" cy="192980"/>
          </a:xfrm>
          <a:prstGeom prst="rect">
            <a:avLst/>
          </a:prstGeom>
        </p:spPr>
      </p:pic>
      <p:sp>
        <p:nvSpPr>
          <p:cNvPr id="8" name="TextBox 7">
            <a:extLst>
              <a:ext uri="{FF2B5EF4-FFF2-40B4-BE49-F238E27FC236}">
                <a16:creationId xmlns:a16="http://schemas.microsoft.com/office/drawing/2014/main" id="{930FB68B-5D01-4873-BA9F-C3F9BD566787}"/>
              </a:ext>
            </a:extLst>
          </p:cNvPr>
          <p:cNvSpPr txBox="1"/>
          <p:nvPr userDrawn="1"/>
        </p:nvSpPr>
        <p:spPr>
          <a:xfrm>
            <a:off x="4649467" y="6579833"/>
            <a:ext cx="2893065" cy="24622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1000" dirty="0"/>
              <a:t>© Copyright 2018 Xilinx</a:t>
            </a:r>
          </a:p>
        </p:txBody>
      </p:sp>
      <p:sp>
        <p:nvSpPr>
          <p:cNvPr id="4" name="hl">
            <a:extLst>
              <a:ext uri="{FF2B5EF4-FFF2-40B4-BE49-F238E27FC236}">
                <a16:creationId xmlns:a16="http://schemas.microsoft.com/office/drawing/2014/main" id="{A8050EEA-A855-4219-8008-C035BCF03D9F}"/>
              </a:ext>
            </a:extLst>
          </p:cNvPr>
          <p:cNvSpPr txBox="1"/>
          <p:nvPr userDrawn="1"/>
        </p:nvSpPr>
        <p:spPr>
          <a:xfrm>
            <a:off x="1" y="0"/>
            <a:ext cx="12192000" cy="369332"/>
          </a:xfrm>
          <a:prstGeom prst="rect">
            <a:avLst/>
          </a:prstGeom>
          <a:noFill/>
        </p:spPr>
        <p:txBody>
          <a:bodyPr vert="horz" rtlCol="0">
            <a:spAutoFit/>
          </a:bodyPr>
          <a:lstStyle/>
          <a:p>
            <a:endParaRPr lang="en-US" sz="1800">
              <a:solidFill>
                <a:schemeClr val="tx1"/>
              </a:solidFill>
            </a:endParaRPr>
          </a:p>
        </p:txBody>
      </p:sp>
      <p:sp>
        <p:nvSpPr>
          <p:cNvPr id="6" name="fl">
            <a:extLst>
              <a:ext uri="{FF2B5EF4-FFF2-40B4-BE49-F238E27FC236}">
                <a16:creationId xmlns:a16="http://schemas.microsoft.com/office/drawing/2014/main" id="{C486C207-1137-416E-9763-EB1D2567DA6B}"/>
              </a:ext>
            </a:extLst>
          </p:cNvPr>
          <p:cNvSpPr txBox="1"/>
          <p:nvPr userDrawn="1"/>
        </p:nvSpPr>
        <p:spPr>
          <a:xfrm>
            <a:off x="1" y="6520180"/>
            <a:ext cx="12192000" cy="369332"/>
          </a:xfrm>
          <a:prstGeom prst="rect">
            <a:avLst/>
          </a:prstGeom>
          <a:noFill/>
        </p:spPr>
        <p:txBody>
          <a:bodyPr vert="horz" rtlCol="0">
            <a:spAutoFit/>
          </a:bodyPr>
          <a:lstStyle/>
          <a:p>
            <a:endParaRPr lang="en-US" sz="1800">
              <a:solidFill>
                <a:schemeClr val="tx1"/>
              </a:solidFill>
            </a:endParaRPr>
          </a:p>
        </p:txBody>
      </p:sp>
    </p:spTree>
    <p:extLst>
      <p:ext uri="{BB962C8B-B14F-4D97-AF65-F5344CB8AC3E}">
        <p14:creationId xmlns:p14="http://schemas.microsoft.com/office/powerpoint/2010/main" val="1835345437"/>
      </p:ext>
    </p:extLst>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 id="2147484004" r:id="rId13"/>
    <p:sldLayoutId id="2147484005" r:id="rId14"/>
    <p:sldLayoutId id="2147484006" r:id="rId15"/>
    <p:sldLayoutId id="2147484007" r:id="rId16"/>
    <p:sldLayoutId id="2147484008" r:id="rId17"/>
    <p:sldLayoutId id="2147484009" r:id="rId18"/>
    <p:sldLayoutId id="2147484010" r:id="rId19"/>
    <p:sldLayoutId id="2147484011" r:id="rId20"/>
  </p:sldLayoutIdLst>
  <p:hf hdr="0" ftr="0" dt="0"/>
  <p:txStyles>
    <p:titleStyle>
      <a:lvl1pPr algn="l" defTabSz="914126" rtl="0" eaLnBrk="1" latinLnBrk="0" hangingPunct="1">
        <a:lnSpc>
          <a:spcPct val="90000"/>
        </a:lnSpc>
        <a:spcBef>
          <a:spcPct val="0"/>
        </a:spcBef>
        <a:buNone/>
        <a:defRPr lang="en-US" sz="3199" b="1" i="0" kern="1200" dirty="0" smtClean="0">
          <a:solidFill>
            <a:srgbClr val="EC1C24"/>
          </a:solidFill>
          <a:latin typeface="Arial" charset="0"/>
          <a:ea typeface="+mj-ea"/>
          <a:cs typeface="Arial" charset="0"/>
        </a:defRPr>
      </a:lvl1pPr>
    </p:titleStyle>
    <p:bodyStyle>
      <a:lvl1pPr marL="228531" indent="-228531" algn="l" defTabSz="914126" rtl="0" eaLnBrk="1" latinLnBrk="0" hangingPunct="1">
        <a:lnSpc>
          <a:spcPct val="100000"/>
        </a:lnSpc>
        <a:spcBef>
          <a:spcPts val="1200"/>
        </a:spcBef>
        <a:buClr>
          <a:srgbClr val="FF0000"/>
        </a:buClr>
        <a:buFont typeface="Calibri" panose="020F0502020204030204" pitchFamily="34" charset="0"/>
        <a:buChar char="˃"/>
        <a:defRPr sz="1999" b="1" kern="1200">
          <a:solidFill>
            <a:schemeClr val="tx1">
              <a:lumMod val="50000"/>
            </a:schemeClr>
          </a:solidFill>
          <a:latin typeface="Arial" panose="020B0604020202020204" pitchFamily="34" charset="0"/>
          <a:ea typeface="+mn-ea"/>
          <a:cs typeface="Arial" panose="020B0604020202020204" pitchFamily="34" charset="0"/>
        </a:defRPr>
      </a:lvl1pPr>
      <a:lvl2pPr marL="742727" indent="-285664" algn="l" defTabSz="914126" rtl="0" eaLnBrk="1" latinLnBrk="0" hangingPunct="1">
        <a:lnSpc>
          <a:spcPct val="90000"/>
        </a:lnSpc>
        <a:spcBef>
          <a:spcPts val="500"/>
        </a:spcBef>
        <a:buFontTx/>
        <a:buBlip>
          <a:blip r:embed="rId23"/>
        </a:buBlip>
        <a:defRPr sz="1799" kern="1200">
          <a:solidFill>
            <a:schemeClr val="tx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Calibri" panose="020F0502020204030204" pitchFamily="34" charset="0"/>
        <a:buChar char="‒"/>
        <a:defRPr sz="1999" kern="1200">
          <a:solidFill>
            <a:schemeClr val="tx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Wingdings" panose="05000000000000000000" pitchFamily="2" charset="2"/>
        <a:buChar char="§"/>
        <a:defRPr sz="1799" kern="1200">
          <a:solidFill>
            <a:schemeClr val="tx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Improving Area and Resources</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Describe how arbitrary precision data types can reduce resource utilization</a:t>
            </a:r>
          </a:p>
          <a:p>
            <a:pPr lvl="1"/>
            <a:r>
              <a:rPr lang="en-US" dirty="0"/>
              <a:t>List various area optimization techniques</a:t>
            </a:r>
          </a:p>
          <a:p>
            <a:pPr lvl="1"/>
            <a:r>
              <a:rPr lang="en-US" dirty="0"/>
              <a:t>List means by which resource utilization can be reduced</a:t>
            </a:r>
          </a:p>
        </p:txBody>
      </p:sp>
      <p:sp>
        <p:nvSpPr>
          <p:cNvPr id="14" name="Slide Number Placeholder 13"/>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F8C11-6291-4A2C-8421-51D5DE0147CF}"/>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63D3E401-00B8-4684-8A95-434501AD202D}"/>
              </a:ext>
            </a:extLst>
          </p:cNvPr>
          <p:cNvSpPr>
            <a:spLocks noGrp="1"/>
          </p:cNvSpPr>
          <p:nvPr>
            <p:ph idx="1"/>
          </p:nvPr>
        </p:nvSpPr>
        <p:spPr/>
        <p:txBody>
          <a:bodyPr/>
          <a:lstStyle/>
          <a:p>
            <a:r>
              <a:rPr lang="en-US" altLang="zh-CN" i="1" dirty="0"/>
              <a:t>Optimizing Resource Utilization</a:t>
            </a:r>
          </a:p>
          <a:p>
            <a:r>
              <a:rPr lang="en-US" altLang="zh-CN" dirty="0"/>
              <a:t>Reducing Area Usage</a:t>
            </a:r>
          </a:p>
          <a:p>
            <a:r>
              <a:rPr lang="en-US" altLang="zh-CN" dirty="0"/>
              <a:t>Summary</a:t>
            </a:r>
          </a:p>
        </p:txBody>
      </p:sp>
    </p:spTree>
    <p:extLst>
      <p:ext uri="{BB962C8B-B14F-4D97-AF65-F5344CB8AC3E}">
        <p14:creationId xmlns:p14="http://schemas.microsoft.com/office/powerpoint/2010/main" val="246379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7" name="Picture 1"/>
          <p:cNvPicPr>
            <a:picLocks noChangeAspect="1" noChangeArrowheads="1"/>
          </p:cNvPicPr>
          <p:nvPr/>
        </p:nvPicPr>
        <p:blipFill>
          <a:blip r:embed="rId2"/>
          <a:srcRect/>
          <a:stretch>
            <a:fillRect/>
          </a:stretch>
        </p:blipFill>
        <p:spPr bwMode="auto">
          <a:xfrm>
            <a:off x="2890838" y="2196219"/>
            <a:ext cx="7460119" cy="214312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Review: Control Scheduling &amp; Binding</a:t>
            </a:r>
          </a:p>
        </p:txBody>
      </p:sp>
      <p:sp>
        <p:nvSpPr>
          <p:cNvPr id="3" name="Content Placeholder 2"/>
          <p:cNvSpPr>
            <a:spLocks noGrp="1"/>
          </p:cNvSpPr>
          <p:nvPr>
            <p:ph idx="1"/>
          </p:nvPr>
        </p:nvSpPr>
        <p:spPr>
          <a:xfrm>
            <a:off x="504007" y="1049298"/>
            <a:ext cx="11441975" cy="4759404"/>
          </a:xfrm>
        </p:spPr>
        <p:txBody>
          <a:bodyPr/>
          <a:lstStyle/>
          <a:p>
            <a:r>
              <a:rPr lang="en-US" dirty="0"/>
              <a:t>Scheduling &amp; Binding</a:t>
            </a:r>
          </a:p>
          <a:p>
            <a:pPr lvl="1"/>
            <a:r>
              <a:rPr lang="en-US" dirty="0"/>
              <a:t>Scheduling and Binding are the processes at the heart of HLS</a:t>
            </a:r>
          </a:p>
          <a:p>
            <a:pPr lvl="1"/>
            <a:endParaRPr lang="en-US" dirty="0"/>
          </a:p>
          <a:p>
            <a:pPr lvl="1"/>
            <a:endParaRPr lang="en-US" dirty="0"/>
          </a:p>
          <a:p>
            <a:pPr lvl="1"/>
            <a:endParaRPr lang="en-US" dirty="0"/>
          </a:p>
          <a:p>
            <a:pPr lvl="1"/>
            <a:endParaRPr lang="en-US" dirty="0"/>
          </a:p>
          <a:p>
            <a:pPr lvl="1"/>
            <a:endParaRPr lang="en-US" dirty="0"/>
          </a:p>
          <a:p>
            <a:endParaRPr lang="en-US" dirty="0"/>
          </a:p>
          <a:p>
            <a:r>
              <a:rPr lang="en-US" dirty="0"/>
              <a:t>BIND_OP/ BIND_STORAGE </a:t>
            </a:r>
          </a:p>
          <a:p>
            <a:pPr lvl="1"/>
            <a:r>
              <a:rPr lang="en-US" dirty="0"/>
              <a:t>Can be used to specify a device resource for implementation</a:t>
            </a:r>
          </a:p>
          <a:p>
            <a:pPr lvl="1"/>
            <a:r>
              <a:rPr lang="en-US" dirty="0"/>
              <a:t>Can be used to assign a specific memory type in the RTL</a:t>
            </a:r>
          </a:p>
          <a:p>
            <a:r>
              <a:rPr lang="en-US" dirty="0"/>
              <a:t>The allocation directive</a:t>
            </a:r>
          </a:p>
          <a:p>
            <a:pPr lvl="1"/>
            <a:r>
              <a:rPr lang="en-US" dirty="0"/>
              <a:t>Can be used to limit the number of operation in scheduling &amp; binding stages</a:t>
            </a:r>
          </a:p>
        </p:txBody>
      </p:sp>
      <p:sp>
        <p:nvSpPr>
          <p:cNvPr id="24" name="Slide Number Placeholder 23"/>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2097" name="Picture 1"/>
          <p:cNvPicPr>
            <a:picLocks noChangeAspect="1" noChangeArrowheads="1"/>
          </p:cNvPicPr>
          <p:nvPr/>
        </p:nvPicPr>
        <p:blipFill>
          <a:blip r:embed="rId2"/>
          <a:srcRect/>
          <a:stretch>
            <a:fillRect/>
          </a:stretch>
        </p:blipFill>
        <p:spPr bwMode="auto">
          <a:xfrm>
            <a:off x="2890838" y="2196219"/>
            <a:ext cx="7460119" cy="214312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Review: Control Scheduling &amp; Binding</a:t>
            </a:r>
          </a:p>
        </p:txBody>
      </p:sp>
      <p:sp>
        <p:nvSpPr>
          <p:cNvPr id="3" name="Content Placeholder 2"/>
          <p:cNvSpPr>
            <a:spLocks noGrp="1"/>
          </p:cNvSpPr>
          <p:nvPr>
            <p:ph idx="1"/>
          </p:nvPr>
        </p:nvSpPr>
        <p:spPr/>
        <p:txBody>
          <a:bodyPr/>
          <a:lstStyle/>
          <a:p>
            <a:r>
              <a:rPr lang="en-US" dirty="0"/>
              <a:t>Scheduling &amp; Binding</a:t>
            </a:r>
          </a:p>
          <a:p>
            <a:pPr lvl="1"/>
            <a:r>
              <a:rPr lang="en-US" dirty="0"/>
              <a:t>Scheduling and Binding are the processes at the heart of HLS</a:t>
            </a:r>
          </a:p>
          <a:p>
            <a:pPr lvl="1"/>
            <a:endParaRPr lang="en-US" dirty="0"/>
          </a:p>
          <a:p>
            <a:pPr lvl="1"/>
            <a:endParaRPr lang="en-US" dirty="0"/>
          </a:p>
          <a:p>
            <a:pPr lvl="1"/>
            <a:endParaRPr lang="en-US" dirty="0"/>
          </a:p>
          <a:p>
            <a:pPr lvl="1"/>
            <a:endParaRPr lang="en-US" dirty="0"/>
          </a:p>
          <a:p>
            <a:pPr lvl="1"/>
            <a:endParaRPr lang="en-US" dirty="0"/>
          </a:p>
          <a:p>
            <a:endParaRPr lang="en-US" dirty="0"/>
          </a:p>
          <a:p>
            <a:r>
              <a:rPr lang="en-US" strike="sngStrike" dirty="0"/>
              <a:t>Binding configuration </a:t>
            </a:r>
          </a:p>
          <a:p>
            <a:pPr lvl="1"/>
            <a:r>
              <a:rPr lang="en-US" strike="sngStrike" dirty="0"/>
              <a:t>Can be used to minimize the number of operations</a:t>
            </a:r>
          </a:p>
          <a:p>
            <a:r>
              <a:rPr lang="en-US" dirty="0">
                <a:highlight>
                  <a:srgbClr val="FFFF00"/>
                </a:highlight>
              </a:rPr>
              <a:t>BIND_OP/ BIND_STORAGE </a:t>
            </a:r>
          </a:p>
          <a:p>
            <a:pPr lvl="1"/>
            <a:r>
              <a:rPr lang="en-US" dirty="0">
                <a:highlight>
                  <a:srgbClr val="FFFF00"/>
                </a:highlight>
              </a:rPr>
              <a:t>Can be used to specify a device resource for implementation</a:t>
            </a:r>
          </a:p>
          <a:p>
            <a:pPr lvl="1"/>
            <a:r>
              <a:rPr lang="en-US" dirty="0">
                <a:highlight>
                  <a:srgbClr val="FFFF00"/>
                </a:highlight>
              </a:rPr>
              <a:t>Can be used to assign a specific memory type in the RTL</a:t>
            </a:r>
          </a:p>
          <a:p>
            <a:r>
              <a:rPr lang="en-US" dirty="0"/>
              <a:t>The allocation directive</a:t>
            </a:r>
          </a:p>
          <a:p>
            <a:pPr lvl="1"/>
            <a:r>
              <a:rPr lang="en-US" dirty="0"/>
              <a:t>Can be used to limit the number of operation in scheduling &amp; binding stages</a:t>
            </a:r>
          </a:p>
          <a:p>
            <a:r>
              <a:rPr lang="en-US" strike="sngStrike" dirty="0"/>
              <a:t>The resource directive</a:t>
            </a:r>
          </a:p>
          <a:p>
            <a:pPr lvl="1"/>
            <a:r>
              <a:rPr lang="en-US" strike="sngStrike" dirty="0"/>
              <a:t>Can be used to specify which cores are to be used during binding</a:t>
            </a:r>
          </a:p>
        </p:txBody>
      </p:sp>
      <p:sp>
        <p:nvSpPr>
          <p:cNvPr id="24" name="Slide Number Placeholder 23"/>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5</a:t>
            </a:fld>
            <a:endParaRPr lang="en-US" dirty="0">
              <a:solidFill>
                <a:srgbClr val="0C0C0C">
                  <a:tint val="75000"/>
                </a:srgbClr>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Configuring Binding</a:t>
            </a:r>
          </a:p>
        </p:txBody>
      </p:sp>
      <p:sp>
        <p:nvSpPr>
          <p:cNvPr id="3" name="Content Placeholder 2"/>
          <p:cNvSpPr>
            <a:spLocks noGrp="1"/>
          </p:cNvSpPr>
          <p:nvPr>
            <p:ph sz="half" idx="1"/>
          </p:nvPr>
        </p:nvSpPr>
        <p:spPr/>
        <p:txBody>
          <a:bodyPr>
            <a:normAutofit fontScale="92500"/>
          </a:bodyPr>
          <a:lstStyle/>
          <a:p>
            <a:r>
              <a:rPr lang="en-US" dirty="0"/>
              <a:t>Binding is controlled via a configuration command</a:t>
            </a:r>
          </a:p>
          <a:p>
            <a:pPr lvl="1"/>
            <a:r>
              <a:rPr lang="en-US" dirty="0"/>
              <a:t>The effort levels determine how much time is spent trying to map many operators onto fewer cores</a:t>
            </a:r>
          </a:p>
          <a:p>
            <a:pPr lvl="1"/>
            <a:r>
              <a:rPr lang="en-US" dirty="0"/>
              <a:t>As with all effort levels, they are worth using if you can see the design close to what is required</a:t>
            </a:r>
          </a:p>
          <a:p>
            <a:pPr lvl="2"/>
            <a:r>
              <a:rPr lang="en-US" dirty="0"/>
              <a:t>Else the tool will spend time exploring for possibilities</a:t>
            </a:r>
          </a:p>
          <a:p>
            <a:pPr lvl="2"/>
            <a:r>
              <a:rPr lang="en-US" dirty="0"/>
              <a:t>And simply increase run time</a:t>
            </a:r>
          </a:p>
          <a:p>
            <a:pPr lvl="2"/>
            <a:r>
              <a:rPr lang="en-US" dirty="0"/>
              <a:t>Use efforts judiciously</a:t>
            </a:r>
          </a:p>
          <a:p>
            <a:r>
              <a:rPr lang="en-US" dirty="0"/>
              <a:t>Binding can be configured to minimize specific operators</a:t>
            </a:r>
          </a:p>
          <a:p>
            <a:pPr lvl="1"/>
            <a:r>
              <a:rPr lang="en-US" dirty="0"/>
              <a:t>Can be used to direct </a:t>
            </a:r>
            <a:r>
              <a:rPr lang="en-US" dirty="0" err="1"/>
              <a:t>Vivado</a:t>
            </a:r>
            <a:r>
              <a:rPr lang="en-US" dirty="0"/>
              <a:t> HLS to synthesize with the minimum number of operations</a:t>
            </a:r>
          </a:p>
          <a:p>
            <a:pPr lvl="1"/>
            <a:r>
              <a:rPr lang="en-US" dirty="0"/>
              <a:t>The configuration command overrides muxing costs and can be used to force sharing</a:t>
            </a:r>
          </a:p>
          <a:p>
            <a:pPr lvl="2"/>
            <a:r>
              <a:rPr lang="en-US" dirty="0"/>
              <a:t>Works on all scopes in a design</a:t>
            </a:r>
          </a:p>
          <a:p>
            <a:pPr lvl="2"/>
            <a:endParaRPr lang="en-US" dirty="0"/>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6</a:t>
            </a:fld>
            <a:endParaRPr lang="en-US" dirty="0">
              <a:solidFill>
                <a:srgbClr val="0C0C0C">
                  <a:tint val="75000"/>
                </a:srgbClr>
              </a:solidFill>
              <a:latin typeface="Arial"/>
            </a:endParaRPr>
          </a:p>
        </p:txBody>
      </p:sp>
      <p:sp>
        <p:nvSpPr>
          <p:cNvPr id="4" name="TextBox 3"/>
          <p:cNvSpPr txBox="1"/>
          <p:nvPr/>
        </p:nvSpPr>
        <p:spPr>
          <a:xfrm>
            <a:off x="7572657" y="3481181"/>
            <a:ext cx="4411023" cy="2954655"/>
          </a:xfrm>
          <a:prstGeom prst="rect">
            <a:avLst/>
          </a:prstGeom>
          <a:noFill/>
        </p:spPr>
        <p:txBody>
          <a:bodyPr wrap="square" rtlCol="0">
            <a:spAutoFit/>
          </a:bodyPr>
          <a:lstStyle/>
          <a:p>
            <a:pPr defTabSz="914400"/>
            <a:r>
              <a:rPr lang="en-US" sz="1600" dirty="0">
                <a:solidFill>
                  <a:srgbClr val="0C0C0C"/>
                </a:solidFill>
                <a:latin typeface="Arial"/>
              </a:rPr>
              <a:t>Operators which can be minimized and passed as arguments by listing in the </a:t>
            </a:r>
            <a:r>
              <a:rPr lang="en-US" sz="1600" dirty="0" err="1">
                <a:solidFill>
                  <a:srgbClr val="0C0C0C"/>
                </a:solidFill>
                <a:latin typeface="Arial"/>
              </a:rPr>
              <a:t>min_op</a:t>
            </a:r>
            <a:r>
              <a:rPr lang="en-US" sz="1600" dirty="0">
                <a:solidFill>
                  <a:srgbClr val="0C0C0C"/>
                </a:solidFill>
                <a:latin typeface="Arial"/>
              </a:rPr>
              <a:t> field</a:t>
            </a:r>
            <a:endParaRPr lang="en-US" sz="1400" dirty="0">
              <a:solidFill>
                <a:srgbClr val="0C0C0C"/>
              </a:solidFill>
              <a:latin typeface="Arial"/>
            </a:endParaRPr>
          </a:p>
          <a:p>
            <a:pPr defTabSz="914400"/>
            <a:r>
              <a:rPr lang="en-US" sz="1400" dirty="0">
                <a:solidFill>
                  <a:srgbClr val="0C0C0C"/>
                </a:solidFill>
                <a:latin typeface="Arial"/>
              </a:rPr>
              <a:t>• add - Addition</a:t>
            </a:r>
          </a:p>
          <a:p>
            <a:pPr defTabSz="914400"/>
            <a:r>
              <a:rPr lang="en-US" sz="1400" dirty="0">
                <a:solidFill>
                  <a:srgbClr val="0C0C0C"/>
                </a:solidFill>
                <a:latin typeface="Arial"/>
              </a:rPr>
              <a:t>• sub - Subtraction</a:t>
            </a:r>
          </a:p>
          <a:p>
            <a:pPr defTabSz="914400"/>
            <a:r>
              <a:rPr lang="en-US" sz="1400" dirty="0">
                <a:solidFill>
                  <a:srgbClr val="0C0C0C"/>
                </a:solidFill>
                <a:latin typeface="Arial"/>
              </a:rPr>
              <a:t>• </a:t>
            </a:r>
            <a:r>
              <a:rPr lang="en-US" sz="1400" dirty="0" err="1">
                <a:solidFill>
                  <a:srgbClr val="0C0C0C"/>
                </a:solidFill>
                <a:latin typeface="Arial"/>
              </a:rPr>
              <a:t>mul</a:t>
            </a:r>
            <a:r>
              <a:rPr lang="en-US" sz="1400" dirty="0">
                <a:solidFill>
                  <a:srgbClr val="0C0C0C"/>
                </a:solidFill>
                <a:latin typeface="Arial"/>
              </a:rPr>
              <a:t> - Multiplication</a:t>
            </a:r>
          </a:p>
          <a:p>
            <a:pPr defTabSz="914400"/>
            <a:r>
              <a:rPr lang="en-US" sz="1400" dirty="0">
                <a:solidFill>
                  <a:srgbClr val="0C0C0C"/>
                </a:solidFill>
                <a:latin typeface="Arial"/>
              </a:rPr>
              <a:t>• </a:t>
            </a:r>
            <a:r>
              <a:rPr lang="en-US" sz="1400" dirty="0" err="1">
                <a:solidFill>
                  <a:srgbClr val="0C0C0C"/>
                </a:solidFill>
                <a:latin typeface="Arial"/>
              </a:rPr>
              <a:t>icmp</a:t>
            </a:r>
            <a:r>
              <a:rPr lang="en-US" sz="1400" dirty="0">
                <a:solidFill>
                  <a:srgbClr val="0C0C0C"/>
                </a:solidFill>
                <a:latin typeface="Arial"/>
              </a:rPr>
              <a:t> - Integer Compare</a:t>
            </a:r>
          </a:p>
          <a:p>
            <a:pPr defTabSz="914400"/>
            <a:r>
              <a:rPr lang="en-US" sz="1400" dirty="0">
                <a:solidFill>
                  <a:srgbClr val="0C0C0C"/>
                </a:solidFill>
                <a:latin typeface="Arial"/>
              </a:rPr>
              <a:t>• </a:t>
            </a:r>
            <a:r>
              <a:rPr lang="en-US" sz="1400" dirty="0" err="1">
                <a:solidFill>
                  <a:srgbClr val="0C0C0C"/>
                </a:solidFill>
                <a:latin typeface="Arial"/>
              </a:rPr>
              <a:t>sdiv</a:t>
            </a:r>
            <a:r>
              <a:rPr lang="en-US" sz="1400" dirty="0">
                <a:solidFill>
                  <a:srgbClr val="0C0C0C"/>
                </a:solidFill>
                <a:latin typeface="Arial"/>
              </a:rPr>
              <a:t> - Signed Division</a:t>
            </a:r>
          </a:p>
          <a:p>
            <a:pPr defTabSz="914400"/>
            <a:r>
              <a:rPr lang="en-US" sz="1400" dirty="0">
                <a:solidFill>
                  <a:srgbClr val="0C0C0C"/>
                </a:solidFill>
                <a:latin typeface="Arial"/>
              </a:rPr>
              <a:t>• </a:t>
            </a:r>
            <a:r>
              <a:rPr lang="en-US" sz="1400" dirty="0" err="1">
                <a:solidFill>
                  <a:srgbClr val="0C0C0C"/>
                </a:solidFill>
                <a:latin typeface="Arial"/>
              </a:rPr>
              <a:t>udiv</a:t>
            </a:r>
            <a:r>
              <a:rPr lang="en-US" sz="1400" dirty="0">
                <a:solidFill>
                  <a:srgbClr val="0C0C0C"/>
                </a:solidFill>
                <a:latin typeface="Arial"/>
              </a:rPr>
              <a:t> - Unsigned Division</a:t>
            </a:r>
          </a:p>
          <a:p>
            <a:pPr defTabSz="914400"/>
            <a:r>
              <a:rPr lang="en-US" sz="1400" dirty="0">
                <a:solidFill>
                  <a:srgbClr val="0C0C0C"/>
                </a:solidFill>
                <a:latin typeface="Arial"/>
              </a:rPr>
              <a:t>• </a:t>
            </a:r>
            <a:r>
              <a:rPr lang="en-US" sz="1400" dirty="0" err="1">
                <a:solidFill>
                  <a:srgbClr val="0C0C0C"/>
                </a:solidFill>
                <a:latin typeface="Arial"/>
              </a:rPr>
              <a:t>srem</a:t>
            </a:r>
            <a:r>
              <a:rPr lang="en-US" sz="1400" dirty="0">
                <a:solidFill>
                  <a:srgbClr val="0C0C0C"/>
                </a:solidFill>
                <a:latin typeface="Arial"/>
              </a:rPr>
              <a:t> - Signed Remainder</a:t>
            </a:r>
          </a:p>
          <a:p>
            <a:pPr defTabSz="914400"/>
            <a:r>
              <a:rPr lang="en-US" sz="1400" dirty="0">
                <a:solidFill>
                  <a:srgbClr val="0C0C0C"/>
                </a:solidFill>
                <a:latin typeface="Arial"/>
              </a:rPr>
              <a:t>• </a:t>
            </a:r>
            <a:r>
              <a:rPr lang="en-US" sz="1400" dirty="0" err="1">
                <a:solidFill>
                  <a:srgbClr val="0C0C0C"/>
                </a:solidFill>
                <a:latin typeface="Arial"/>
              </a:rPr>
              <a:t>urem</a:t>
            </a:r>
            <a:r>
              <a:rPr lang="en-US" sz="1400" dirty="0">
                <a:solidFill>
                  <a:srgbClr val="0C0C0C"/>
                </a:solidFill>
                <a:latin typeface="Arial"/>
              </a:rPr>
              <a:t> - Unsigned Remainder</a:t>
            </a:r>
          </a:p>
          <a:p>
            <a:pPr defTabSz="914400"/>
            <a:r>
              <a:rPr lang="en-US" sz="1400" dirty="0">
                <a:solidFill>
                  <a:srgbClr val="0C0C0C"/>
                </a:solidFill>
                <a:latin typeface="Arial"/>
              </a:rPr>
              <a:t>• </a:t>
            </a:r>
            <a:r>
              <a:rPr lang="en-US" sz="1400" dirty="0" err="1">
                <a:solidFill>
                  <a:srgbClr val="0C0C0C"/>
                </a:solidFill>
                <a:latin typeface="Arial"/>
              </a:rPr>
              <a:t>lshr</a:t>
            </a:r>
            <a:r>
              <a:rPr lang="en-US" sz="1400" dirty="0">
                <a:solidFill>
                  <a:srgbClr val="0C0C0C"/>
                </a:solidFill>
                <a:latin typeface="Arial"/>
              </a:rPr>
              <a:t> - Logical Shift-Right</a:t>
            </a:r>
          </a:p>
          <a:p>
            <a:pPr defTabSz="914400"/>
            <a:r>
              <a:rPr lang="en-US" sz="1400" dirty="0">
                <a:solidFill>
                  <a:srgbClr val="0C0C0C"/>
                </a:solidFill>
                <a:latin typeface="Arial"/>
              </a:rPr>
              <a:t>• </a:t>
            </a:r>
            <a:r>
              <a:rPr lang="en-US" sz="1400" dirty="0" err="1">
                <a:solidFill>
                  <a:srgbClr val="0C0C0C"/>
                </a:solidFill>
                <a:latin typeface="Arial"/>
              </a:rPr>
              <a:t>ashr</a:t>
            </a:r>
            <a:r>
              <a:rPr lang="en-US" sz="1400" dirty="0">
                <a:solidFill>
                  <a:srgbClr val="0C0C0C"/>
                </a:solidFill>
                <a:latin typeface="Arial"/>
              </a:rPr>
              <a:t> - Arithmetic Shift-Right</a:t>
            </a:r>
          </a:p>
          <a:p>
            <a:pPr defTabSz="914400"/>
            <a:r>
              <a:rPr lang="en-US" sz="1400" dirty="0">
                <a:solidFill>
                  <a:srgbClr val="0C0C0C"/>
                </a:solidFill>
                <a:latin typeface="Arial"/>
              </a:rPr>
              <a:t>• </a:t>
            </a:r>
            <a:r>
              <a:rPr lang="en-US" sz="1400" dirty="0" err="1">
                <a:solidFill>
                  <a:srgbClr val="0C0C0C"/>
                </a:solidFill>
                <a:latin typeface="Arial"/>
              </a:rPr>
              <a:t>shl</a:t>
            </a:r>
            <a:r>
              <a:rPr lang="en-US" sz="1400" dirty="0">
                <a:solidFill>
                  <a:srgbClr val="0C0C0C"/>
                </a:solidFill>
                <a:latin typeface="Arial"/>
              </a:rPr>
              <a:t> - Shift-Left</a:t>
            </a:r>
          </a:p>
        </p:txBody>
      </p:sp>
      <p:pic>
        <p:nvPicPr>
          <p:cNvPr id="5" name="Picture 4">
            <a:extLst>
              <a:ext uri="{FF2B5EF4-FFF2-40B4-BE49-F238E27FC236}">
                <a16:creationId xmlns:a16="http://schemas.microsoft.com/office/drawing/2014/main" id="{25EBA41A-C2C5-4098-BED5-C3CEE17856D4}"/>
              </a:ext>
            </a:extLst>
          </p:cNvPr>
          <p:cNvPicPr>
            <a:picLocks noChangeAspect="1"/>
          </p:cNvPicPr>
          <p:nvPr/>
        </p:nvPicPr>
        <p:blipFill>
          <a:blip r:embed="rId3"/>
          <a:stretch>
            <a:fillRect/>
          </a:stretch>
        </p:blipFill>
        <p:spPr>
          <a:xfrm>
            <a:off x="7637801" y="1482319"/>
            <a:ext cx="3595242" cy="15807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0F22-3487-45EE-88E8-C175F02FB548}"/>
              </a:ext>
            </a:extLst>
          </p:cNvPr>
          <p:cNvSpPr>
            <a:spLocks noGrp="1"/>
          </p:cNvSpPr>
          <p:nvPr>
            <p:ph type="title"/>
          </p:nvPr>
        </p:nvSpPr>
        <p:spPr/>
        <p:txBody>
          <a:bodyPr/>
          <a:lstStyle/>
          <a:p>
            <a:r>
              <a:rPr lang="en-US" dirty="0"/>
              <a:t>BIND_OP: Specific a device resource</a:t>
            </a:r>
          </a:p>
        </p:txBody>
      </p:sp>
      <p:sp>
        <p:nvSpPr>
          <p:cNvPr id="3" name="Content Placeholder 2">
            <a:extLst>
              <a:ext uri="{FF2B5EF4-FFF2-40B4-BE49-F238E27FC236}">
                <a16:creationId xmlns:a16="http://schemas.microsoft.com/office/drawing/2014/main" id="{61412866-F6CB-4310-BB98-E8AB23F57868}"/>
              </a:ext>
            </a:extLst>
          </p:cNvPr>
          <p:cNvSpPr>
            <a:spLocks noGrp="1"/>
          </p:cNvSpPr>
          <p:nvPr>
            <p:ph idx="1"/>
          </p:nvPr>
        </p:nvSpPr>
        <p:spPr/>
        <p:txBody>
          <a:bodyPr/>
          <a:lstStyle/>
          <a:p>
            <a:r>
              <a:rPr lang="en-US" dirty="0"/>
              <a:t>BIND_OP specifies a device resource for implementation</a:t>
            </a:r>
          </a:p>
          <a:p>
            <a:pPr lvl="1"/>
            <a:r>
              <a:rPr lang="en-US" dirty="0"/>
              <a:t>If not, </a:t>
            </a:r>
            <a:r>
              <a:rPr lang="en-US" dirty="0" err="1"/>
              <a:t>Vitis</a:t>
            </a:r>
            <a:r>
              <a:rPr lang="en-US" dirty="0"/>
              <a:t> HLS tool automatically determines the resource to use</a:t>
            </a:r>
          </a:p>
          <a:p>
            <a:endParaRPr lang="en-US" dirty="0"/>
          </a:p>
          <a:p>
            <a:r>
              <a:rPr lang="en-US" dirty="0"/>
              <a:t>Different specify option </a:t>
            </a:r>
          </a:p>
          <a:p>
            <a:pPr lvl="1"/>
            <a:r>
              <a:rPr lang="en-US" dirty="0"/>
              <a:t>-op: Operation to bind to a specific implementation resource</a:t>
            </a:r>
          </a:p>
          <a:p>
            <a:pPr lvl="1"/>
            <a:r>
              <a:rPr lang="en-US" dirty="0"/>
              <a:t>-</a:t>
            </a:r>
            <a:r>
              <a:rPr lang="en-US" dirty="0" err="1"/>
              <a:t>impl</a:t>
            </a:r>
            <a:r>
              <a:rPr lang="en-US" dirty="0"/>
              <a:t>: Implementation to use for the specified operation</a:t>
            </a:r>
          </a:p>
          <a:p>
            <a:pPr lvl="1"/>
            <a:r>
              <a:rPr lang="en-US" dirty="0"/>
              <a:t>-latency: Latency for the operation</a:t>
            </a:r>
          </a:p>
        </p:txBody>
      </p:sp>
      <p:sp>
        <p:nvSpPr>
          <p:cNvPr id="4" name="Slide Number Placeholder 3">
            <a:extLst>
              <a:ext uri="{FF2B5EF4-FFF2-40B4-BE49-F238E27FC236}">
                <a16:creationId xmlns:a16="http://schemas.microsoft.com/office/drawing/2014/main" id="{DF9D230B-AA65-4FDE-8668-4590CF1D9186}"/>
              </a:ext>
            </a:extLst>
          </p:cNvPr>
          <p:cNvSpPr>
            <a:spLocks noGrp="1"/>
          </p:cNvSpPr>
          <p:nvPr>
            <p:ph type="sldNum" sz="quarter" idx="10"/>
          </p:nvPr>
        </p:nvSpPr>
        <p:spPr/>
        <p:txBody>
          <a:bodyPr/>
          <a:lstStyle/>
          <a:p>
            <a:pPr>
              <a:defRPr/>
            </a:pPr>
            <a:r>
              <a:rPr lang="en-US"/>
              <a:t>Improving Area and Resources 21- </a:t>
            </a:r>
            <a:fld id="{060BD193-E118-4B16-863C-C8C12C675E3E}" type="slidenum">
              <a:rPr lang="en-US" smtClean="0"/>
              <a:pPr>
                <a:defRPr/>
              </a:pPr>
              <a:t>7</a:t>
            </a:fld>
            <a:endParaRPr lang="en-US" dirty="0"/>
          </a:p>
        </p:txBody>
      </p:sp>
      <p:pic>
        <p:nvPicPr>
          <p:cNvPr id="5" name="Picture 4">
            <a:extLst>
              <a:ext uri="{FF2B5EF4-FFF2-40B4-BE49-F238E27FC236}">
                <a16:creationId xmlns:a16="http://schemas.microsoft.com/office/drawing/2014/main" id="{19493941-FE68-4785-B39D-9248D373BBDF}"/>
              </a:ext>
            </a:extLst>
          </p:cNvPr>
          <p:cNvPicPr>
            <a:picLocks noChangeAspect="1"/>
          </p:cNvPicPr>
          <p:nvPr/>
        </p:nvPicPr>
        <p:blipFill>
          <a:blip r:embed="rId2"/>
          <a:stretch>
            <a:fillRect/>
          </a:stretch>
        </p:blipFill>
        <p:spPr>
          <a:xfrm>
            <a:off x="8796638" y="1407582"/>
            <a:ext cx="2854312" cy="3207637"/>
          </a:xfrm>
          <a:prstGeom prst="rect">
            <a:avLst/>
          </a:prstGeom>
        </p:spPr>
      </p:pic>
    </p:spTree>
    <p:extLst>
      <p:ext uri="{BB962C8B-B14F-4D97-AF65-F5344CB8AC3E}">
        <p14:creationId xmlns:p14="http://schemas.microsoft.com/office/powerpoint/2010/main" val="124344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998C2-135E-49A3-9BD4-C31A2D2C2380}"/>
              </a:ext>
            </a:extLst>
          </p:cNvPr>
          <p:cNvSpPr>
            <a:spLocks noGrp="1"/>
          </p:cNvSpPr>
          <p:nvPr>
            <p:ph type="title"/>
          </p:nvPr>
        </p:nvSpPr>
        <p:spPr/>
        <p:txBody>
          <a:bodyPr/>
          <a:lstStyle/>
          <a:p>
            <a:r>
              <a:rPr lang="en-US" dirty="0"/>
              <a:t>BIND_STORAGE: Assign a specific memory</a:t>
            </a:r>
          </a:p>
        </p:txBody>
      </p:sp>
      <p:sp>
        <p:nvSpPr>
          <p:cNvPr id="3" name="Content Placeholder 2">
            <a:extLst>
              <a:ext uri="{FF2B5EF4-FFF2-40B4-BE49-F238E27FC236}">
                <a16:creationId xmlns:a16="http://schemas.microsoft.com/office/drawing/2014/main" id="{E035C9A7-AEA3-485C-BC8B-1D0F1915D740}"/>
              </a:ext>
            </a:extLst>
          </p:cNvPr>
          <p:cNvSpPr>
            <a:spLocks noGrp="1"/>
          </p:cNvSpPr>
          <p:nvPr>
            <p:ph idx="1"/>
          </p:nvPr>
        </p:nvSpPr>
        <p:spPr/>
        <p:txBody>
          <a:bodyPr/>
          <a:lstStyle/>
          <a:p>
            <a:r>
              <a:rPr lang="en-US" dirty="0"/>
              <a:t>BIND_STORAGE assigns a specific memory type in the RTL</a:t>
            </a:r>
          </a:p>
          <a:p>
            <a:pPr lvl="1"/>
            <a:r>
              <a:rPr lang="en-US" dirty="0"/>
              <a:t>If not, </a:t>
            </a:r>
            <a:r>
              <a:rPr lang="en-US" dirty="0" err="1"/>
              <a:t>Vitis</a:t>
            </a:r>
            <a:r>
              <a:rPr lang="en-US" dirty="0"/>
              <a:t> HLS tool determines the memory type to assign</a:t>
            </a:r>
          </a:p>
          <a:p>
            <a:pPr lvl="1"/>
            <a:r>
              <a:rPr lang="en-US" dirty="0"/>
              <a:t>Controls the array implementation as a single/dual-port RAM</a:t>
            </a:r>
          </a:p>
          <a:p>
            <a:endParaRPr lang="en-US" dirty="0"/>
          </a:p>
          <a:p>
            <a:r>
              <a:rPr lang="en-US" dirty="0"/>
              <a:t>Different specify option </a:t>
            </a:r>
          </a:p>
          <a:p>
            <a:pPr lvl="1"/>
            <a:r>
              <a:rPr lang="en-US" dirty="0"/>
              <a:t>-type: Type of memory to bind to the specified variable</a:t>
            </a:r>
          </a:p>
          <a:p>
            <a:pPr lvl="2"/>
            <a:r>
              <a:rPr lang="en-US" dirty="0"/>
              <a:t>Support types: </a:t>
            </a:r>
            <a:r>
              <a:rPr lang="en-US" dirty="0" err="1"/>
              <a:t>fifo</a:t>
            </a:r>
            <a:r>
              <a:rPr lang="en-US" dirty="0"/>
              <a:t>, ram_1p, ram_1wnr, ram_2p, ram_s2p, ram_t2p,</a:t>
            </a:r>
          </a:p>
          <a:p>
            <a:pPr marL="914126" lvl="2" indent="0">
              <a:buNone/>
            </a:pPr>
            <a:r>
              <a:rPr lang="en-US" dirty="0"/>
              <a:t>     rom_1p, rom_2p, and </a:t>
            </a:r>
            <a:r>
              <a:rPr lang="en-US" dirty="0" err="1"/>
              <a:t>rom_np</a:t>
            </a:r>
            <a:endParaRPr lang="en-US" dirty="0"/>
          </a:p>
          <a:p>
            <a:pPr lvl="1"/>
            <a:r>
              <a:rPr lang="en-US" dirty="0"/>
              <a:t>-</a:t>
            </a:r>
            <a:r>
              <a:rPr lang="en-US" dirty="0" err="1"/>
              <a:t>impl</a:t>
            </a:r>
            <a:r>
              <a:rPr lang="en-US" dirty="0"/>
              <a:t>: Implementation for the specified memory type</a:t>
            </a:r>
          </a:p>
          <a:p>
            <a:pPr lvl="2"/>
            <a:r>
              <a:rPr lang="en-US" dirty="0"/>
              <a:t>Support </a:t>
            </a:r>
            <a:r>
              <a:rPr lang="en-US" dirty="0" err="1"/>
              <a:t>impementations</a:t>
            </a:r>
            <a:r>
              <a:rPr lang="en-US" dirty="0"/>
              <a:t>: </a:t>
            </a:r>
            <a:r>
              <a:rPr lang="en-US" dirty="0" err="1"/>
              <a:t>bram</a:t>
            </a:r>
            <a:r>
              <a:rPr lang="en-US" dirty="0"/>
              <a:t>, </a:t>
            </a:r>
            <a:r>
              <a:rPr lang="en-US" dirty="0" err="1"/>
              <a:t>bram_ecc</a:t>
            </a:r>
            <a:r>
              <a:rPr lang="en-US" dirty="0"/>
              <a:t>, </a:t>
            </a:r>
            <a:r>
              <a:rPr lang="en-US" dirty="0" err="1"/>
              <a:t>lutram</a:t>
            </a:r>
            <a:r>
              <a:rPr lang="en-US" dirty="0"/>
              <a:t>, </a:t>
            </a:r>
            <a:r>
              <a:rPr lang="en-US" dirty="0" err="1"/>
              <a:t>uram</a:t>
            </a:r>
            <a:r>
              <a:rPr lang="en-US" dirty="0"/>
              <a:t>, </a:t>
            </a:r>
            <a:r>
              <a:rPr lang="en-US" dirty="0" err="1"/>
              <a:t>uram_ecc</a:t>
            </a:r>
            <a:r>
              <a:rPr lang="en-US" dirty="0"/>
              <a:t> and </a:t>
            </a:r>
            <a:r>
              <a:rPr lang="en-US" dirty="0" err="1"/>
              <a:t>srl</a:t>
            </a:r>
            <a:endParaRPr lang="en-US" dirty="0"/>
          </a:p>
          <a:p>
            <a:pPr lvl="1"/>
            <a:r>
              <a:rPr lang="en-US" dirty="0"/>
              <a:t>-latency: Default latency for the binding of the storage type to the implementation</a:t>
            </a:r>
          </a:p>
          <a:p>
            <a:pPr marL="914126" lvl="2" indent="0">
              <a:buNone/>
            </a:pPr>
            <a:r>
              <a:rPr lang="en-US" dirty="0"/>
              <a:t> </a:t>
            </a:r>
          </a:p>
        </p:txBody>
      </p:sp>
      <p:sp>
        <p:nvSpPr>
          <p:cNvPr id="4" name="Slide Number Placeholder 3">
            <a:extLst>
              <a:ext uri="{FF2B5EF4-FFF2-40B4-BE49-F238E27FC236}">
                <a16:creationId xmlns:a16="http://schemas.microsoft.com/office/drawing/2014/main" id="{FF0DC937-5DBF-4D04-A458-1B37D242190C}"/>
              </a:ext>
            </a:extLst>
          </p:cNvPr>
          <p:cNvSpPr>
            <a:spLocks noGrp="1"/>
          </p:cNvSpPr>
          <p:nvPr>
            <p:ph type="sldNum" sz="quarter" idx="10"/>
          </p:nvPr>
        </p:nvSpPr>
        <p:spPr/>
        <p:txBody>
          <a:bodyPr/>
          <a:lstStyle/>
          <a:p>
            <a:pPr>
              <a:defRPr/>
            </a:pPr>
            <a:r>
              <a:rPr lang="en-US"/>
              <a:t>Improving Area and Resources 21- </a:t>
            </a:r>
            <a:fld id="{060BD193-E118-4B16-863C-C8C12C675E3E}" type="slidenum">
              <a:rPr lang="en-US" smtClean="0"/>
              <a:pPr>
                <a:defRPr/>
              </a:pPr>
              <a:t>8</a:t>
            </a:fld>
            <a:endParaRPr lang="en-US" dirty="0"/>
          </a:p>
        </p:txBody>
      </p:sp>
      <p:pic>
        <p:nvPicPr>
          <p:cNvPr id="5" name="Picture 4">
            <a:extLst>
              <a:ext uri="{FF2B5EF4-FFF2-40B4-BE49-F238E27FC236}">
                <a16:creationId xmlns:a16="http://schemas.microsoft.com/office/drawing/2014/main" id="{20F54A35-8D56-4BF4-99A9-2A954CEB447A}"/>
              </a:ext>
            </a:extLst>
          </p:cNvPr>
          <p:cNvPicPr>
            <a:picLocks noChangeAspect="1"/>
          </p:cNvPicPr>
          <p:nvPr/>
        </p:nvPicPr>
        <p:blipFill>
          <a:blip r:embed="rId2"/>
          <a:stretch>
            <a:fillRect/>
          </a:stretch>
        </p:blipFill>
        <p:spPr>
          <a:xfrm>
            <a:off x="8681686" y="1881053"/>
            <a:ext cx="2931195" cy="3294037"/>
          </a:xfrm>
          <a:prstGeom prst="rect">
            <a:avLst/>
          </a:prstGeom>
        </p:spPr>
      </p:pic>
    </p:spTree>
    <p:extLst>
      <p:ext uri="{BB962C8B-B14F-4D97-AF65-F5344CB8AC3E}">
        <p14:creationId xmlns:p14="http://schemas.microsoft.com/office/powerpoint/2010/main" val="3217780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2A62B4-6EE4-4514-906E-6C73F62B267C}"/>
              </a:ext>
            </a:extLst>
          </p:cNvPr>
          <p:cNvPicPr>
            <a:picLocks noChangeAspect="1"/>
          </p:cNvPicPr>
          <p:nvPr/>
        </p:nvPicPr>
        <p:blipFill>
          <a:blip r:embed="rId2"/>
          <a:stretch>
            <a:fillRect/>
          </a:stretch>
        </p:blipFill>
        <p:spPr>
          <a:xfrm>
            <a:off x="7980631" y="-3768471"/>
            <a:ext cx="3181350" cy="3228975"/>
          </a:xfrm>
          <a:prstGeom prst="rect">
            <a:avLst/>
          </a:prstGeom>
        </p:spPr>
      </p:pic>
      <p:sp>
        <p:nvSpPr>
          <p:cNvPr id="2" name="Title 1"/>
          <p:cNvSpPr>
            <a:spLocks noGrp="1"/>
          </p:cNvSpPr>
          <p:nvPr>
            <p:ph type="title"/>
          </p:nvPr>
        </p:nvSpPr>
        <p:spPr/>
        <p:txBody>
          <a:bodyPr/>
          <a:lstStyle/>
          <a:p>
            <a:r>
              <a:rPr lang="en-US" dirty="0"/>
              <a:t>Allocation: Limit the Numbers</a:t>
            </a:r>
          </a:p>
        </p:txBody>
      </p:sp>
      <p:sp>
        <p:nvSpPr>
          <p:cNvPr id="3" name="Content Placeholder 2"/>
          <p:cNvSpPr>
            <a:spLocks noGrp="1"/>
          </p:cNvSpPr>
          <p:nvPr>
            <p:ph idx="1"/>
          </p:nvPr>
        </p:nvSpPr>
        <p:spPr>
          <a:xfrm>
            <a:off x="646381" y="1210056"/>
            <a:ext cx="10515600" cy="4759404"/>
          </a:xfrm>
        </p:spPr>
        <p:txBody>
          <a:bodyPr/>
          <a:lstStyle/>
          <a:p>
            <a:r>
              <a:rPr lang="en-US" dirty="0"/>
              <a:t>Allocation directive limits different types</a:t>
            </a:r>
          </a:p>
          <a:p>
            <a:pPr lvl="1"/>
            <a:r>
              <a:rPr lang="en-US" dirty="0"/>
              <a:t>Type: Operation</a:t>
            </a:r>
          </a:p>
          <a:p>
            <a:pPr lvl="2"/>
            <a:r>
              <a:rPr lang="en-US" dirty="0"/>
              <a:t>The instances are the operators</a:t>
            </a:r>
          </a:p>
          <a:p>
            <a:pPr lvl="2"/>
            <a:r>
              <a:rPr lang="en-US" dirty="0"/>
              <a:t>Add, </a:t>
            </a:r>
            <a:r>
              <a:rPr lang="en-US" dirty="0" err="1"/>
              <a:t>mul</a:t>
            </a:r>
            <a:r>
              <a:rPr lang="en-US" dirty="0"/>
              <a:t>, </a:t>
            </a:r>
            <a:r>
              <a:rPr lang="en-US" dirty="0" err="1"/>
              <a:t>urem</a:t>
            </a:r>
            <a:r>
              <a:rPr lang="en-US" dirty="0"/>
              <a:t>, etc. </a:t>
            </a:r>
          </a:p>
          <a:p>
            <a:pPr lvl="1"/>
            <a:r>
              <a:rPr lang="en-US" dirty="0"/>
              <a:t>Type: Core</a:t>
            </a:r>
          </a:p>
          <a:p>
            <a:pPr lvl="2"/>
            <a:r>
              <a:rPr lang="en-US" dirty="0"/>
              <a:t>The instances are the cores</a:t>
            </a:r>
          </a:p>
          <a:p>
            <a:pPr lvl="2"/>
            <a:r>
              <a:rPr lang="en-US" dirty="0"/>
              <a:t>Adder, </a:t>
            </a:r>
            <a:r>
              <a:rPr lang="en-US" dirty="0" err="1"/>
              <a:t>Addsub</a:t>
            </a:r>
            <a:r>
              <a:rPr lang="en-US" dirty="0"/>
              <a:t>, PipeMult2s, etc</a:t>
            </a:r>
          </a:p>
          <a:p>
            <a:pPr lvl="1"/>
            <a:r>
              <a:rPr lang="en-US" dirty="0"/>
              <a:t>Type: Functions</a:t>
            </a:r>
          </a:p>
          <a:p>
            <a:pPr lvl="2"/>
            <a:r>
              <a:rPr lang="en-US" dirty="0"/>
              <a:t>The functions in the code</a:t>
            </a:r>
          </a:p>
          <a:p>
            <a:pPr lvl="2"/>
            <a:r>
              <a:rPr lang="en-US" dirty="0"/>
              <a:t>Discussed in more detail later</a:t>
            </a:r>
          </a:p>
          <a:p>
            <a:r>
              <a:rPr lang="en-US" dirty="0"/>
              <a:t>Allocations are defined for a scope</a:t>
            </a:r>
          </a:p>
          <a:p>
            <a:pPr lvl="1"/>
            <a:r>
              <a:rPr lang="en-US" dirty="0"/>
              <a:t>Like all directives, allocations are set for the scope they are applied in</a:t>
            </a:r>
          </a:p>
          <a:p>
            <a:pPr lvl="2"/>
            <a:r>
              <a:rPr lang="en-US" dirty="0"/>
              <a:t>If the directive is applied to a function, loop or region, it does not include </a:t>
            </a:r>
            <a:br>
              <a:rPr lang="en-US" dirty="0"/>
            </a:br>
            <a:r>
              <a:rPr lang="en-US" dirty="0"/>
              <a:t>objects outside that scope</a:t>
            </a:r>
          </a:p>
        </p:txBody>
      </p:sp>
      <p:sp>
        <p:nvSpPr>
          <p:cNvPr id="11" name="Slide Number Placeholder 10"/>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9</a:t>
            </a:fld>
            <a:endParaRPr lang="en-US" dirty="0"/>
          </a:p>
        </p:txBody>
      </p:sp>
      <p:sp>
        <p:nvSpPr>
          <p:cNvPr id="7" name="TextBox 6"/>
          <p:cNvSpPr txBox="1"/>
          <p:nvPr/>
        </p:nvSpPr>
        <p:spPr>
          <a:xfrm>
            <a:off x="6333005" y="4633522"/>
            <a:ext cx="5592393" cy="30777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a:r>
              <a:rPr lang="en-US" sz="1400" b="1" dirty="0"/>
              <a:t>Operators and Cores are listed in the VITIS HLS Library Guide</a:t>
            </a:r>
          </a:p>
        </p:txBody>
      </p:sp>
      <p:sp>
        <p:nvSpPr>
          <p:cNvPr id="10"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9</a:t>
            </a:fld>
            <a:endParaRPr lang="en-US" sz="1000" dirty="0">
              <a:solidFill>
                <a:schemeClr val="bg1"/>
              </a:solidFill>
              <a:latin typeface="Arial" charset="0"/>
              <a:ea typeface="ＭＳ Ｐゴシック" pitchFamily="34" charset="-128"/>
              <a:cs typeface="Arial"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0670" y="-3589670"/>
            <a:ext cx="2705100" cy="2201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a:cxnSpLocks/>
          </p:cNvCxnSpPr>
          <p:nvPr/>
        </p:nvCxnSpPr>
        <p:spPr bwMode="auto">
          <a:xfrm flipH="1" flipV="1">
            <a:off x="7241256" y="-2034571"/>
            <a:ext cx="2078735" cy="172781"/>
          </a:xfrm>
          <a:prstGeom prst="straightConnector1">
            <a:avLst/>
          </a:prstGeom>
          <a:solidFill>
            <a:schemeClr val="tx2"/>
          </a:solidFill>
          <a:ln w="28575" cap="flat" cmpd="sng" algn="ctr">
            <a:solidFill>
              <a:schemeClr val="accent1"/>
            </a:solidFill>
            <a:prstDash val="solid"/>
            <a:round/>
            <a:headEnd type="none" w="med" len="med"/>
            <a:tailEnd type="arrow"/>
          </a:ln>
          <a:effectLst/>
        </p:spPr>
      </p:cxnSp>
      <p:pic>
        <p:nvPicPr>
          <p:cNvPr id="6" name="Picture 5">
            <a:extLst>
              <a:ext uri="{FF2B5EF4-FFF2-40B4-BE49-F238E27FC236}">
                <a16:creationId xmlns:a16="http://schemas.microsoft.com/office/drawing/2014/main" id="{BC24DE32-BA7C-4D90-9113-3451D24D0BAA}"/>
              </a:ext>
            </a:extLst>
          </p:cNvPr>
          <p:cNvPicPr>
            <a:picLocks noChangeAspect="1"/>
          </p:cNvPicPr>
          <p:nvPr/>
        </p:nvPicPr>
        <p:blipFill>
          <a:blip r:embed="rId4"/>
          <a:stretch>
            <a:fillRect/>
          </a:stretch>
        </p:blipFill>
        <p:spPr>
          <a:xfrm>
            <a:off x="7613101" y="664019"/>
            <a:ext cx="3413778" cy="37369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2A62B4-6EE4-4514-906E-6C73F62B267C}"/>
              </a:ext>
            </a:extLst>
          </p:cNvPr>
          <p:cNvPicPr>
            <a:picLocks noChangeAspect="1"/>
          </p:cNvPicPr>
          <p:nvPr/>
        </p:nvPicPr>
        <p:blipFill>
          <a:blip r:embed="rId2"/>
          <a:stretch>
            <a:fillRect/>
          </a:stretch>
        </p:blipFill>
        <p:spPr>
          <a:xfrm>
            <a:off x="7980631" y="-3768471"/>
            <a:ext cx="3181350" cy="3228975"/>
          </a:xfrm>
          <a:prstGeom prst="rect">
            <a:avLst/>
          </a:prstGeom>
        </p:spPr>
      </p:pic>
      <p:sp>
        <p:nvSpPr>
          <p:cNvPr id="2" name="Title 1"/>
          <p:cNvSpPr>
            <a:spLocks noGrp="1"/>
          </p:cNvSpPr>
          <p:nvPr>
            <p:ph type="title"/>
          </p:nvPr>
        </p:nvSpPr>
        <p:spPr/>
        <p:txBody>
          <a:bodyPr/>
          <a:lstStyle/>
          <a:p>
            <a:r>
              <a:rPr lang="en-US" dirty="0"/>
              <a:t>Allocation: Limit the Numbers</a:t>
            </a:r>
          </a:p>
        </p:txBody>
      </p:sp>
      <p:sp>
        <p:nvSpPr>
          <p:cNvPr id="3" name="Content Placeholder 2"/>
          <p:cNvSpPr>
            <a:spLocks noGrp="1"/>
          </p:cNvSpPr>
          <p:nvPr>
            <p:ph idx="1"/>
          </p:nvPr>
        </p:nvSpPr>
        <p:spPr/>
        <p:txBody>
          <a:bodyPr/>
          <a:lstStyle/>
          <a:p>
            <a:r>
              <a:rPr lang="en-US" dirty="0"/>
              <a:t>Allocation directive limits different types</a:t>
            </a:r>
          </a:p>
          <a:p>
            <a:pPr lvl="1"/>
            <a:r>
              <a:rPr lang="en-US" dirty="0"/>
              <a:t>Type: Operation</a:t>
            </a:r>
          </a:p>
          <a:p>
            <a:pPr lvl="2"/>
            <a:r>
              <a:rPr lang="en-US" dirty="0"/>
              <a:t>The instances are the operators</a:t>
            </a:r>
          </a:p>
          <a:p>
            <a:pPr lvl="2"/>
            <a:r>
              <a:rPr lang="en-US" dirty="0"/>
              <a:t>Add, </a:t>
            </a:r>
            <a:r>
              <a:rPr lang="en-US" dirty="0" err="1"/>
              <a:t>mul</a:t>
            </a:r>
            <a:r>
              <a:rPr lang="en-US" dirty="0"/>
              <a:t>, </a:t>
            </a:r>
            <a:r>
              <a:rPr lang="en-US" dirty="0" err="1"/>
              <a:t>urem</a:t>
            </a:r>
            <a:r>
              <a:rPr lang="en-US" dirty="0"/>
              <a:t>, etc. </a:t>
            </a:r>
          </a:p>
          <a:p>
            <a:pPr lvl="1"/>
            <a:r>
              <a:rPr lang="en-US" dirty="0"/>
              <a:t>Type: Core</a:t>
            </a:r>
          </a:p>
          <a:p>
            <a:pPr lvl="2"/>
            <a:r>
              <a:rPr lang="en-US" dirty="0"/>
              <a:t>The instances are the cores</a:t>
            </a:r>
          </a:p>
          <a:p>
            <a:pPr lvl="2"/>
            <a:r>
              <a:rPr lang="en-US" dirty="0"/>
              <a:t>Adder, </a:t>
            </a:r>
            <a:r>
              <a:rPr lang="en-US" dirty="0" err="1"/>
              <a:t>Addsub</a:t>
            </a:r>
            <a:r>
              <a:rPr lang="en-US" dirty="0"/>
              <a:t>, PipeMult2s, etc</a:t>
            </a:r>
          </a:p>
          <a:p>
            <a:pPr lvl="1"/>
            <a:r>
              <a:rPr lang="en-US" dirty="0"/>
              <a:t>Type: Functions</a:t>
            </a:r>
          </a:p>
          <a:p>
            <a:pPr lvl="2"/>
            <a:r>
              <a:rPr lang="en-US" dirty="0"/>
              <a:t>The functions in the code</a:t>
            </a:r>
          </a:p>
          <a:p>
            <a:pPr lvl="2"/>
            <a:r>
              <a:rPr lang="en-US" dirty="0"/>
              <a:t>Discussed in more detail later</a:t>
            </a:r>
          </a:p>
          <a:p>
            <a:r>
              <a:rPr lang="en-US" dirty="0"/>
              <a:t>Allocations are defined for a scope</a:t>
            </a:r>
          </a:p>
          <a:p>
            <a:pPr lvl="1"/>
            <a:r>
              <a:rPr lang="en-US" dirty="0"/>
              <a:t>Like all directives, allocations are set for the scope they are applied in</a:t>
            </a:r>
          </a:p>
          <a:p>
            <a:pPr lvl="2"/>
            <a:r>
              <a:rPr lang="en-US" dirty="0"/>
              <a:t>If the directive is applied to a function, loop or region, it does not include </a:t>
            </a:r>
            <a:br>
              <a:rPr lang="en-US" dirty="0"/>
            </a:br>
            <a:r>
              <a:rPr lang="en-US" dirty="0"/>
              <a:t>objects outside that scope</a:t>
            </a:r>
          </a:p>
        </p:txBody>
      </p:sp>
      <p:sp>
        <p:nvSpPr>
          <p:cNvPr id="11" name="Slide Number Placeholder 10"/>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10</a:t>
            </a:fld>
            <a:endParaRPr lang="en-US" dirty="0">
              <a:solidFill>
                <a:srgbClr val="0C0C0C">
                  <a:tint val="75000"/>
                </a:srgbClr>
              </a:solidFill>
              <a:latin typeface="Arial"/>
            </a:endParaRPr>
          </a:p>
        </p:txBody>
      </p:sp>
      <p:sp>
        <p:nvSpPr>
          <p:cNvPr id="7" name="TextBox 6"/>
          <p:cNvSpPr txBox="1"/>
          <p:nvPr/>
        </p:nvSpPr>
        <p:spPr>
          <a:xfrm>
            <a:off x="6333005" y="4633522"/>
            <a:ext cx="5592393" cy="307777"/>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400" b="1" dirty="0">
                <a:solidFill>
                  <a:srgbClr val="0C0C0C"/>
                </a:solidFill>
                <a:latin typeface="Arial"/>
              </a:rPr>
              <a:t>Operators and Cores are listed in the </a:t>
            </a:r>
            <a:r>
              <a:rPr lang="en-US" sz="1400" b="1" dirty="0">
                <a:solidFill>
                  <a:srgbClr val="FF0000"/>
                </a:solidFill>
                <a:latin typeface="Arial"/>
              </a:rPr>
              <a:t>VITIS</a:t>
            </a:r>
            <a:r>
              <a:rPr lang="en-US" sz="1400" b="1" dirty="0">
                <a:solidFill>
                  <a:srgbClr val="0C0C0C"/>
                </a:solidFill>
                <a:latin typeface="Arial"/>
              </a:rPr>
              <a:t> HLS Library Guide</a:t>
            </a:r>
          </a:p>
        </p:txBody>
      </p:sp>
      <p:sp>
        <p:nvSpPr>
          <p:cNvPr id="10"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10</a:t>
            </a:fld>
            <a:endParaRPr lang="en-US" sz="1000" dirty="0">
              <a:solidFill>
                <a:srgbClr val="FFFFFF"/>
              </a:solidFill>
              <a:latin typeface="Arial" charset="0"/>
              <a:ea typeface="ＭＳ Ｐゴシック" pitchFamily="34" charset="-128"/>
              <a:cs typeface="Arial"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0670" y="-3589670"/>
            <a:ext cx="2705100" cy="2201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a:cxnSpLocks/>
          </p:cNvCxnSpPr>
          <p:nvPr/>
        </p:nvCxnSpPr>
        <p:spPr bwMode="auto">
          <a:xfrm flipH="1" flipV="1">
            <a:off x="7241256" y="-2034571"/>
            <a:ext cx="2078735" cy="172781"/>
          </a:xfrm>
          <a:prstGeom prst="straightConnector1">
            <a:avLst/>
          </a:prstGeom>
          <a:solidFill>
            <a:schemeClr val="tx2"/>
          </a:solidFill>
          <a:ln w="28575" cap="flat" cmpd="sng" algn="ctr">
            <a:solidFill>
              <a:schemeClr val="accent1"/>
            </a:solidFill>
            <a:prstDash val="solid"/>
            <a:round/>
            <a:headEnd type="none" w="med" len="med"/>
            <a:tailEnd type="arrow"/>
          </a:ln>
          <a:effectLst/>
        </p:spPr>
      </p:cxnSp>
      <p:pic>
        <p:nvPicPr>
          <p:cNvPr id="6" name="Picture 5">
            <a:extLst>
              <a:ext uri="{FF2B5EF4-FFF2-40B4-BE49-F238E27FC236}">
                <a16:creationId xmlns:a16="http://schemas.microsoft.com/office/drawing/2014/main" id="{BC24DE32-BA7C-4D90-9113-3451D24D0BAA}"/>
              </a:ext>
            </a:extLst>
          </p:cNvPr>
          <p:cNvPicPr>
            <a:picLocks noChangeAspect="1"/>
          </p:cNvPicPr>
          <p:nvPr/>
        </p:nvPicPr>
        <p:blipFill>
          <a:blip r:embed="rId4"/>
          <a:stretch>
            <a:fillRect/>
          </a:stretch>
        </p:blipFill>
        <p:spPr>
          <a:xfrm>
            <a:off x="7613101" y="664019"/>
            <a:ext cx="3413778" cy="37369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trike="sngStrike" dirty="0"/>
              <a:t>Additional Control: Specify Resources</a:t>
            </a:r>
          </a:p>
        </p:txBody>
      </p:sp>
      <p:sp>
        <p:nvSpPr>
          <p:cNvPr id="3" name="Content Placeholder 2"/>
          <p:cNvSpPr>
            <a:spLocks noGrp="1"/>
          </p:cNvSpPr>
          <p:nvPr>
            <p:ph idx="1"/>
          </p:nvPr>
        </p:nvSpPr>
        <p:spPr>
          <a:xfrm>
            <a:off x="676686" y="1324101"/>
            <a:ext cx="10512862" cy="4759404"/>
          </a:xfrm>
        </p:spPr>
        <p:txBody>
          <a:bodyPr>
            <a:normAutofit/>
          </a:bodyPr>
          <a:lstStyle/>
          <a:p>
            <a:r>
              <a:rPr lang="en-US" dirty="0"/>
              <a:t>User control of Resources</a:t>
            </a:r>
          </a:p>
          <a:p>
            <a:pPr lvl="1"/>
            <a:r>
              <a:rPr lang="en-US" dirty="0"/>
              <a:t>The resource directive gives user control over the specific resource (core) used to implement operations</a:t>
            </a:r>
          </a:p>
          <a:p>
            <a:pPr lvl="2"/>
            <a:r>
              <a:rPr lang="en-US" dirty="0"/>
              <a:t>Select the scope &amp; right-click to apply the directive</a:t>
            </a:r>
          </a:p>
          <a:p>
            <a:pPr lvl="2"/>
            <a:r>
              <a:rPr lang="en-US" dirty="0"/>
              <a:t>Select “core” for a list of resources</a:t>
            </a:r>
          </a:p>
          <a:p>
            <a:pPr lvl="2"/>
            <a:r>
              <a:rPr lang="en-US" dirty="0"/>
              <a:t>Specify the variable</a:t>
            </a:r>
          </a:p>
          <a:p>
            <a:pPr lvl="1"/>
            <a:endParaRPr lang="en-US" dirty="0"/>
          </a:p>
          <a:p>
            <a:pPr lvl="1"/>
            <a:endParaRPr lang="en-US" dirty="0"/>
          </a:p>
          <a:p>
            <a:pPr lvl="1"/>
            <a:endParaRPr lang="en-US" dirty="0"/>
          </a:p>
          <a:p>
            <a:r>
              <a:rPr lang="en-US" dirty="0"/>
              <a:t>Multiple line coding caveat</a:t>
            </a:r>
          </a:p>
          <a:p>
            <a:pPr lvl="1"/>
            <a:r>
              <a:rPr lang="en-US" dirty="0"/>
              <a:t>If multiple operations occur on a single line, </a:t>
            </a:r>
            <a:br>
              <a:rPr lang="en-US" dirty="0"/>
            </a:br>
            <a:r>
              <a:rPr lang="en-US" dirty="0"/>
              <a:t>a temporary variable is required to isolate the specific operation</a:t>
            </a:r>
          </a:p>
        </p:txBody>
      </p:sp>
      <p:sp>
        <p:nvSpPr>
          <p:cNvPr id="15" name="Slide Number Placeholder 14"/>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11</a:t>
            </a:fld>
            <a:endParaRPr lang="en-US" dirty="0">
              <a:solidFill>
                <a:srgbClr val="0C0C0C">
                  <a:tint val="75000"/>
                </a:srgbClr>
              </a:solidFill>
              <a:latin typeface="Arial"/>
            </a:endParaRPr>
          </a:p>
        </p:txBody>
      </p:sp>
      <p:sp>
        <p:nvSpPr>
          <p:cNvPr id="7" name="TextBox 6"/>
          <p:cNvSpPr txBox="1"/>
          <p:nvPr/>
        </p:nvSpPr>
        <p:spPr>
          <a:xfrm>
            <a:off x="1386216" y="3467004"/>
            <a:ext cx="3466773" cy="461665"/>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algn="ctr" defTabSz="914400"/>
            <a:r>
              <a:rPr lang="en-US" sz="1200" b="1" dirty="0">
                <a:solidFill>
                  <a:srgbClr val="0C0C0C"/>
                </a:solidFill>
                <a:latin typeface="Arial"/>
              </a:rPr>
              <a:t>In this example, “data” is implemented with a 2-stage pipelined multiplier</a:t>
            </a:r>
          </a:p>
        </p:txBody>
      </p:sp>
      <p:pic>
        <p:nvPicPr>
          <p:cNvPr id="4" name="Picture 3">
            <a:extLst>
              <a:ext uri="{FF2B5EF4-FFF2-40B4-BE49-F238E27FC236}">
                <a16:creationId xmlns:a16="http://schemas.microsoft.com/office/drawing/2014/main" id="{1DDC5BAB-73F5-4517-A4D2-F3DDCDE1608C}"/>
              </a:ext>
            </a:extLst>
          </p:cNvPr>
          <p:cNvPicPr>
            <a:picLocks noChangeAspect="1"/>
          </p:cNvPicPr>
          <p:nvPr/>
        </p:nvPicPr>
        <p:blipFill>
          <a:blip r:embed="rId2"/>
          <a:stretch>
            <a:fillRect/>
          </a:stretch>
        </p:blipFill>
        <p:spPr>
          <a:xfrm>
            <a:off x="8115134" y="2023471"/>
            <a:ext cx="3509747" cy="2931795"/>
          </a:xfrm>
          <a:prstGeom prst="rect">
            <a:avLst/>
          </a:prstGeom>
        </p:spPr>
      </p:pic>
      <p:cxnSp>
        <p:nvCxnSpPr>
          <p:cNvPr id="11" name="Straight Arrow Connector 10">
            <a:extLst>
              <a:ext uri="{FF2B5EF4-FFF2-40B4-BE49-F238E27FC236}">
                <a16:creationId xmlns:a16="http://schemas.microsoft.com/office/drawing/2014/main" id="{37C79BA7-BAE9-4E24-9E3C-E0C80DB2D12A}"/>
              </a:ext>
            </a:extLst>
          </p:cNvPr>
          <p:cNvCxnSpPr>
            <a:cxnSpLocks/>
          </p:cNvCxnSpPr>
          <p:nvPr/>
        </p:nvCxnSpPr>
        <p:spPr bwMode="auto">
          <a:xfrm flipH="1">
            <a:off x="9244391" y="3280900"/>
            <a:ext cx="1474510" cy="416936"/>
          </a:xfrm>
          <a:prstGeom prst="straightConnector1">
            <a:avLst/>
          </a:prstGeom>
          <a:solidFill>
            <a:schemeClr val="tx2"/>
          </a:solidFill>
          <a:ln w="28575" cap="flat" cmpd="sng" algn="ctr">
            <a:solidFill>
              <a:schemeClr val="accent1"/>
            </a:solidFill>
            <a:prstDash val="solid"/>
            <a:round/>
            <a:headEnd type="none" w="med" len="med"/>
            <a:tailEnd type="arrow"/>
          </a:ln>
          <a:effectLst/>
        </p:spPr>
      </p:cxnSp>
      <p:sp>
        <p:nvSpPr>
          <p:cNvPr id="12" name="TextBox 11">
            <a:extLst>
              <a:ext uri="{FF2B5EF4-FFF2-40B4-BE49-F238E27FC236}">
                <a16:creationId xmlns:a16="http://schemas.microsoft.com/office/drawing/2014/main" id="{443F6B88-137E-4E8A-841B-1E19496AA2C0}"/>
              </a:ext>
            </a:extLst>
          </p:cNvPr>
          <p:cNvSpPr txBox="1"/>
          <p:nvPr/>
        </p:nvSpPr>
        <p:spPr>
          <a:xfrm>
            <a:off x="8860441" y="5106115"/>
            <a:ext cx="1638187" cy="30777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marL="0" lvl="2" algn="ctr" defTabSz="914400" fontAlgn="base">
              <a:spcBef>
                <a:spcPct val="0"/>
              </a:spcBef>
              <a:spcAft>
                <a:spcPct val="0"/>
              </a:spcAft>
              <a:defRPr/>
            </a:pPr>
            <a:r>
              <a:rPr lang="en-US" sz="1400" kern="0" dirty="0">
                <a:solidFill>
                  <a:srgbClr val="000000"/>
                </a:solidFill>
                <a:latin typeface="Arial"/>
              </a:rPr>
              <a:t>a=b*c*d </a:t>
            </a:r>
          </a:p>
        </p:txBody>
      </p:sp>
      <p:sp>
        <p:nvSpPr>
          <p:cNvPr id="13" name="TextBox 12">
            <a:extLst>
              <a:ext uri="{FF2B5EF4-FFF2-40B4-BE49-F238E27FC236}">
                <a16:creationId xmlns:a16="http://schemas.microsoft.com/office/drawing/2014/main" id="{DFAAF3CE-EE6E-419D-9AB2-770001FC100C}"/>
              </a:ext>
            </a:extLst>
          </p:cNvPr>
          <p:cNvSpPr txBox="1"/>
          <p:nvPr/>
        </p:nvSpPr>
        <p:spPr>
          <a:xfrm>
            <a:off x="8860440" y="5821895"/>
            <a:ext cx="2764440" cy="52322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marL="0" lvl="2" algn="ctr" defTabSz="914400" fontAlgn="base">
              <a:spcBef>
                <a:spcPct val="0"/>
              </a:spcBef>
              <a:spcAft>
                <a:spcPct val="0"/>
              </a:spcAft>
              <a:defRPr/>
            </a:pPr>
            <a:r>
              <a:rPr lang="en-US" sz="1400" kern="0" dirty="0">
                <a:solidFill>
                  <a:srgbClr val="000000"/>
                </a:solidFill>
                <a:latin typeface="Arial"/>
              </a:rPr>
              <a:t>data= c*d; </a:t>
            </a:r>
          </a:p>
          <a:p>
            <a:pPr marL="0" lvl="2" algn="ctr" defTabSz="914400" fontAlgn="base">
              <a:spcBef>
                <a:spcPct val="0"/>
              </a:spcBef>
              <a:spcAft>
                <a:spcPct val="0"/>
              </a:spcAft>
              <a:defRPr/>
            </a:pPr>
            <a:r>
              <a:rPr lang="en-US" sz="1400" kern="0" dirty="0">
                <a:solidFill>
                  <a:srgbClr val="000000"/>
                </a:solidFill>
                <a:latin typeface="Arial"/>
              </a:rPr>
              <a:t>a = b*data;</a:t>
            </a:r>
          </a:p>
        </p:txBody>
      </p:sp>
      <p:sp>
        <p:nvSpPr>
          <p:cNvPr id="14" name="Down Arrow 15">
            <a:extLst>
              <a:ext uri="{FF2B5EF4-FFF2-40B4-BE49-F238E27FC236}">
                <a16:creationId xmlns:a16="http://schemas.microsoft.com/office/drawing/2014/main" id="{81E3C309-3E60-43D2-A6EB-0A3C3225D47B}"/>
              </a:ext>
            </a:extLst>
          </p:cNvPr>
          <p:cNvSpPr/>
          <p:nvPr/>
        </p:nvSpPr>
        <p:spPr>
          <a:xfrm>
            <a:off x="9014021" y="5476250"/>
            <a:ext cx="460740" cy="307240"/>
          </a:xfrm>
          <a:prstGeom prst="down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6B58-3E48-43BF-98EB-142BEB5C9ACF}"/>
              </a:ext>
            </a:extLst>
          </p:cNvPr>
          <p:cNvSpPr>
            <a:spLocks noGrp="1"/>
          </p:cNvSpPr>
          <p:nvPr>
            <p:ph type="title"/>
          </p:nvPr>
        </p:nvSpPr>
        <p:spPr/>
        <p:txBody>
          <a:bodyPr/>
          <a:lstStyle/>
          <a:p>
            <a:r>
              <a:rPr lang="en-US" altLang="zh-CN" dirty="0"/>
              <a:t>Reducing Area Usage</a:t>
            </a:r>
            <a:endParaRPr lang="zh-CN" altLang="en-US" dirty="0"/>
          </a:p>
        </p:txBody>
      </p:sp>
    </p:spTree>
    <p:extLst>
      <p:ext uri="{BB962C8B-B14F-4D97-AF65-F5344CB8AC3E}">
        <p14:creationId xmlns:p14="http://schemas.microsoft.com/office/powerpoint/2010/main" val="35990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Area/Resource Utilization</a:t>
            </a:r>
          </a:p>
        </p:txBody>
      </p:sp>
      <p:sp>
        <p:nvSpPr>
          <p:cNvPr id="3" name="Content Placeholder 2"/>
          <p:cNvSpPr>
            <a:spLocks noGrp="1"/>
          </p:cNvSpPr>
          <p:nvPr>
            <p:ph idx="1"/>
          </p:nvPr>
        </p:nvSpPr>
        <p:spPr>
          <a:xfrm>
            <a:off x="647700" y="1049298"/>
            <a:ext cx="10515600" cy="4759404"/>
          </a:xfrm>
        </p:spPr>
        <p:txBody>
          <a:bodyPr/>
          <a:lstStyle/>
          <a:p>
            <a:r>
              <a:rPr lang="en-US" dirty="0"/>
              <a:t>Control the number of elements</a:t>
            </a:r>
          </a:p>
          <a:p>
            <a:pPr lvl="1"/>
            <a:r>
              <a:rPr lang="en-US" dirty="0"/>
              <a:t>Directives can be used to control scheduling and binding</a:t>
            </a:r>
          </a:p>
          <a:p>
            <a:r>
              <a:rPr lang="en-US" dirty="0"/>
              <a:t>Control the design hierarchy</a:t>
            </a:r>
          </a:p>
          <a:p>
            <a:pPr lvl="1"/>
            <a:r>
              <a:rPr lang="en-US" dirty="0"/>
              <a:t>Like RTL synthesis, removing the hierarchy can help optimize across function and loop boundaries</a:t>
            </a:r>
          </a:p>
          <a:p>
            <a:pPr lvl="2"/>
            <a:r>
              <a:rPr lang="en-US" dirty="0"/>
              <a:t>Functions can be inlined</a:t>
            </a:r>
          </a:p>
          <a:p>
            <a:pPr lvl="2"/>
            <a:r>
              <a:rPr lang="en-US" dirty="0"/>
              <a:t>Loops can be unrolled</a:t>
            </a:r>
          </a:p>
          <a:p>
            <a:r>
              <a:rPr lang="en-US" dirty="0"/>
              <a:t>Array implementation</a:t>
            </a:r>
          </a:p>
          <a:p>
            <a:pPr lvl="1"/>
            <a:r>
              <a:rPr lang="en-US" dirty="0"/>
              <a:t>VITIS HLS provides directives for combining memories</a:t>
            </a:r>
          </a:p>
          <a:p>
            <a:pPr lvl="2"/>
            <a:r>
              <a:rPr lang="en-US" dirty="0"/>
              <a:t>Allowing a single large memory to be used instead of multiple smaller memories</a:t>
            </a:r>
          </a:p>
          <a:p>
            <a:r>
              <a:rPr lang="en-US" dirty="0"/>
              <a:t>Bit-width optimization</a:t>
            </a:r>
          </a:p>
          <a:p>
            <a:pPr lvl="1"/>
            <a:r>
              <a:rPr lang="en-US" dirty="0"/>
              <a:t>Bit width impact the size of the storage elements and operators</a:t>
            </a:r>
          </a:p>
          <a:p>
            <a:pPr lvl="1"/>
            <a:r>
              <a:rPr lang="en-US" dirty="0"/>
              <a:t>Arbitrary precision types ensure correct operator sizing</a:t>
            </a:r>
          </a:p>
        </p:txBody>
      </p:sp>
      <p:sp>
        <p:nvSpPr>
          <p:cNvPr id="9" name="Slide Number Placeholder 8"/>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Improving Area/Resource Utilization</a:t>
            </a:r>
          </a:p>
        </p:txBody>
      </p:sp>
      <p:sp>
        <p:nvSpPr>
          <p:cNvPr id="3" name="Content Placeholder 2"/>
          <p:cNvSpPr>
            <a:spLocks noGrp="1"/>
          </p:cNvSpPr>
          <p:nvPr>
            <p:ph idx="1"/>
          </p:nvPr>
        </p:nvSpPr>
        <p:spPr/>
        <p:txBody>
          <a:bodyPr/>
          <a:lstStyle/>
          <a:p>
            <a:r>
              <a:rPr lang="en-US" dirty="0"/>
              <a:t>Control the number of elements</a:t>
            </a:r>
          </a:p>
          <a:p>
            <a:pPr lvl="1"/>
            <a:r>
              <a:rPr lang="en-US" dirty="0"/>
              <a:t>Directives can be used to control scheduling and binding</a:t>
            </a:r>
          </a:p>
          <a:p>
            <a:r>
              <a:rPr lang="en-US" dirty="0"/>
              <a:t>Control the design hierarchy</a:t>
            </a:r>
          </a:p>
          <a:p>
            <a:pPr lvl="1"/>
            <a:r>
              <a:rPr lang="en-US" dirty="0"/>
              <a:t>Like RTL synthesis, removing the hierarchy can help optimize across function and loop boundaries</a:t>
            </a:r>
          </a:p>
          <a:p>
            <a:pPr lvl="2"/>
            <a:r>
              <a:rPr lang="en-US" dirty="0"/>
              <a:t>Functions can be inlined</a:t>
            </a:r>
          </a:p>
          <a:p>
            <a:pPr lvl="2"/>
            <a:r>
              <a:rPr lang="en-US" dirty="0"/>
              <a:t>Loops can be unrolled</a:t>
            </a:r>
          </a:p>
          <a:p>
            <a:r>
              <a:rPr lang="en-US" dirty="0"/>
              <a:t>Array implementation</a:t>
            </a:r>
          </a:p>
          <a:p>
            <a:pPr lvl="1"/>
            <a:r>
              <a:rPr lang="en-US" dirty="0">
                <a:highlight>
                  <a:srgbClr val="FFFF00"/>
                </a:highlight>
              </a:rPr>
              <a:t>VITIS</a:t>
            </a:r>
            <a:r>
              <a:rPr lang="en-US" dirty="0"/>
              <a:t> HLS provides directives for combining memories</a:t>
            </a:r>
          </a:p>
          <a:p>
            <a:pPr lvl="2"/>
            <a:r>
              <a:rPr lang="en-US" dirty="0"/>
              <a:t>Allowing a single large memory to be used instead of multiple smaller memories</a:t>
            </a:r>
          </a:p>
          <a:p>
            <a:r>
              <a:rPr lang="en-US" dirty="0"/>
              <a:t>Bit-width optimization</a:t>
            </a:r>
          </a:p>
          <a:p>
            <a:pPr lvl="1"/>
            <a:r>
              <a:rPr lang="en-US" dirty="0">
                <a:highlight>
                  <a:srgbClr val="FFFF00"/>
                </a:highlight>
              </a:rPr>
              <a:t>Bit width impact the size of the storage elements and operators</a:t>
            </a:r>
          </a:p>
          <a:p>
            <a:pPr lvl="1"/>
            <a:r>
              <a:rPr lang="en-US" dirty="0"/>
              <a:t>Arbitrary precision types ensure correct operator sizing</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14</a:t>
            </a:fld>
            <a:endParaRPr lang="en-US" dirty="0">
              <a:solidFill>
                <a:srgbClr val="0C0C0C">
                  <a:tint val="75000"/>
                </a:srgbClr>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Functions &amp; RTL Hierarchy</a:t>
            </a:r>
          </a:p>
        </p:txBody>
      </p:sp>
      <p:sp>
        <p:nvSpPr>
          <p:cNvPr id="3" name="Content Placeholder 2"/>
          <p:cNvSpPr>
            <a:spLocks noGrp="1"/>
          </p:cNvSpPr>
          <p:nvPr>
            <p:ph idx="1"/>
          </p:nvPr>
        </p:nvSpPr>
        <p:spPr/>
        <p:txBody>
          <a:bodyPr/>
          <a:lstStyle/>
          <a:p>
            <a:r>
              <a:rPr lang="en-US" dirty="0"/>
              <a:t>Each function is translated into an RTL block</a:t>
            </a:r>
          </a:p>
          <a:p>
            <a:pPr lvl="1"/>
            <a:r>
              <a:rPr lang="en-US" dirty="0"/>
              <a:t>Verilog module, VHDL entity</a:t>
            </a:r>
          </a:p>
          <a:p>
            <a:endParaRPr lang="en-US" dirty="0"/>
          </a:p>
        </p:txBody>
      </p:sp>
      <p:sp>
        <p:nvSpPr>
          <p:cNvPr id="32" name="Slide Number Placeholder 31"/>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15</a:t>
            </a:fld>
            <a:endParaRPr lang="en-US" dirty="0"/>
          </a:p>
        </p:txBody>
      </p:sp>
      <p:sp>
        <p:nvSpPr>
          <p:cNvPr id="31"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15</a:t>
            </a:fld>
            <a:endParaRPr lang="en-US" sz="1000" dirty="0">
              <a:solidFill>
                <a:schemeClr val="bg1"/>
              </a:solidFill>
              <a:latin typeface="Arial" charset="0"/>
              <a:ea typeface="ＭＳ Ｐゴシック" pitchFamily="34" charset="-128"/>
              <a:cs typeface="Arial" charset="0"/>
            </a:endParaRPr>
          </a:p>
        </p:txBody>
      </p:sp>
      <p:sp>
        <p:nvSpPr>
          <p:cNvPr id="29" name="Rectangle 28">
            <a:extLst>
              <a:ext uri="{FF2B5EF4-FFF2-40B4-BE49-F238E27FC236}">
                <a16:creationId xmlns:a16="http://schemas.microsoft.com/office/drawing/2014/main" id="{93F18A8B-59E7-4829-90F6-1B132377B790}"/>
              </a:ext>
            </a:extLst>
          </p:cNvPr>
          <p:cNvSpPr/>
          <p:nvPr/>
        </p:nvSpPr>
        <p:spPr>
          <a:xfrm>
            <a:off x="6307669" y="2875853"/>
            <a:ext cx="5068140" cy="2189085"/>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0" name="Rectangle 29">
            <a:extLst>
              <a:ext uri="{FF2B5EF4-FFF2-40B4-BE49-F238E27FC236}">
                <a16:creationId xmlns:a16="http://schemas.microsoft.com/office/drawing/2014/main" id="{9ABA4193-4081-4C3A-8D4F-3205764DE7F9}"/>
              </a:ext>
            </a:extLst>
          </p:cNvPr>
          <p:cNvSpPr/>
          <p:nvPr/>
        </p:nvSpPr>
        <p:spPr>
          <a:xfrm>
            <a:off x="6570741" y="3432725"/>
            <a:ext cx="1511830"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3" name="Rectangle 32">
            <a:extLst>
              <a:ext uri="{FF2B5EF4-FFF2-40B4-BE49-F238E27FC236}">
                <a16:creationId xmlns:a16="http://schemas.microsoft.com/office/drawing/2014/main" id="{82AFB064-9B77-4FE3-AE0B-8529F6ABF836}"/>
              </a:ext>
            </a:extLst>
          </p:cNvPr>
          <p:cNvSpPr/>
          <p:nvPr/>
        </p:nvSpPr>
        <p:spPr>
          <a:xfrm>
            <a:off x="8968096" y="2991067"/>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4" name="Rectangle 33">
            <a:extLst>
              <a:ext uri="{FF2B5EF4-FFF2-40B4-BE49-F238E27FC236}">
                <a16:creationId xmlns:a16="http://schemas.microsoft.com/office/drawing/2014/main" id="{896FBC09-6BF6-407D-BC7A-8079DB49E211}"/>
              </a:ext>
            </a:extLst>
          </p:cNvPr>
          <p:cNvSpPr/>
          <p:nvPr/>
        </p:nvSpPr>
        <p:spPr>
          <a:xfrm>
            <a:off x="9632795" y="3202297"/>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5" name="TextBox 34">
            <a:extLst>
              <a:ext uri="{FF2B5EF4-FFF2-40B4-BE49-F238E27FC236}">
                <a16:creationId xmlns:a16="http://schemas.microsoft.com/office/drawing/2014/main" id="{7161B9E7-EAE5-437E-9F2B-03F7807E29CE}"/>
              </a:ext>
            </a:extLst>
          </p:cNvPr>
          <p:cNvSpPr txBox="1"/>
          <p:nvPr/>
        </p:nvSpPr>
        <p:spPr>
          <a:xfrm>
            <a:off x="1027863" y="2746782"/>
            <a:ext cx="3276372" cy="286232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200" kern="0" dirty="0">
                <a:solidFill>
                  <a:srgbClr val="000000"/>
                </a:solidFill>
                <a:latin typeface="Arial"/>
              </a:rPr>
              <a:t>void A() { ..body A..}</a:t>
            </a:r>
          </a:p>
          <a:p>
            <a:pPr defTabSz="914400" fontAlgn="base">
              <a:spcBef>
                <a:spcPct val="0"/>
              </a:spcBef>
              <a:spcAft>
                <a:spcPct val="0"/>
              </a:spcAft>
              <a:defRPr/>
            </a:pPr>
            <a:r>
              <a:rPr lang="en-US" sz="1200" kern="0" dirty="0">
                <a:solidFill>
                  <a:srgbClr val="000000"/>
                </a:solidFill>
                <a:latin typeface="Arial"/>
              </a:rPr>
              <a:t>void B() { ..body B..}</a:t>
            </a:r>
          </a:p>
          <a:p>
            <a:pPr defTabSz="914400" fontAlgn="base">
              <a:spcBef>
                <a:spcPct val="0"/>
              </a:spcBef>
              <a:spcAft>
                <a:spcPct val="0"/>
              </a:spcAft>
              <a:defRPr/>
            </a:pPr>
            <a:r>
              <a:rPr lang="en-US" sz="1200" kern="0" dirty="0">
                <a:solidFill>
                  <a:srgbClr val="000000"/>
                </a:solidFill>
                <a:latin typeface="Arial"/>
              </a:rPr>
              <a:t>void C() {</a:t>
            </a:r>
          </a:p>
          <a:p>
            <a:pPr defTabSz="914400" fontAlgn="base">
              <a:spcBef>
                <a:spcPct val="0"/>
              </a:spcBef>
              <a:spcAft>
                <a:spcPct val="0"/>
              </a:spcAft>
              <a:defRPr/>
            </a:pPr>
            <a:r>
              <a:rPr lang="en-US" sz="1200" kern="0" dirty="0">
                <a:solidFill>
                  <a:srgbClr val="000000"/>
                </a:solidFill>
                <a:latin typeface="Arial"/>
              </a:rPr>
              <a:t>	B();</a:t>
            </a:r>
          </a:p>
          <a:p>
            <a:pPr defTabSz="914400" fontAlgn="base">
              <a:spcBef>
                <a:spcPct val="0"/>
              </a:spcBef>
              <a:spcAft>
                <a:spcPct val="0"/>
              </a:spcAft>
              <a:defRPr/>
            </a:pPr>
            <a:r>
              <a:rPr lang="en-US" sz="1200" kern="0" dirty="0">
                <a:solidFill>
                  <a:srgbClr val="000000"/>
                </a:solidFill>
                <a:latin typeface="Arial"/>
              </a:rPr>
              <a:t>}</a:t>
            </a:r>
          </a:p>
          <a:p>
            <a:pPr defTabSz="914400" fontAlgn="base">
              <a:spcBef>
                <a:spcPct val="0"/>
              </a:spcBef>
              <a:spcAft>
                <a:spcPct val="0"/>
              </a:spcAft>
              <a:defRPr/>
            </a:pPr>
            <a:r>
              <a:rPr lang="en-US" sz="1200" kern="0" dirty="0">
                <a:solidFill>
                  <a:srgbClr val="000000"/>
                </a:solidFill>
                <a:latin typeface="Arial"/>
              </a:rPr>
              <a:t>void D() {</a:t>
            </a:r>
          </a:p>
          <a:p>
            <a:pPr defTabSz="914400" fontAlgn="base">
              <a:spcBef>
                <a:spcPct val="0"/>
              </a:spcBef>
              <a:spcAft>
                <a:spcPct val="0"/>
              </a:spcAft>
              <a:defRPr/>
            </a:pPr>
            <a:r>
              <a:rPr lang="en-US" sz="1200" kern="0" dirty="0">
                <a:solidFill>
                  <a:srgbClr val="000000"/>
                </a:solidFill>
                <a:latin typeface="Arial"/>
              </a:rPr>
              <a:t>	B();</a:t>
            </a:r>
          </a:p>
          <a:p>
            <a:pPr defTabSz="914400" fontAlgn="base">
              <a:spcBef>
                <a:spcPct val="0"/>
              </a:spcBef>
              <a:spcAft>
                <a:spcPct val="0"/>
              </a:spcAft>
              <a:defRPr/>
            </a:pPr>
            <a:r>
              <a:rPr lang="en-US" sz="1200" kern="0" dirty="0">
                <a:solidFill>
                  <a:srgbClr val="000000"/>
                </a:solidFill>
                <a:latin typeface="Arial"/>
              </a:rPr>
              <a:t>}</a:t>
            </a:r>
          </a:p>
          <a:p>
            <a:pPr defTabSz="914400" fontAlgn="base">
              <a:spcBef>
                <a:spcPct val="0"/>
              </a:spcBef>
              <a:spcAft>
                <a:spcPct val="0"/>
              </a:spcAft>
              <a:defRPr/>
            </a:pPr>
            <a:endParaRPr lang="en-US" sz="1200" kern="0" dirty="0">
              <a:solidFill>
                <a:srgbClr val="000000"/>
              </a:solidFill>
              <a:latin typeface="Arial"/>
            </a:endParaRPr>
          </a:p>
          <a:p>
            <a:pPr defTabSz="914400" fontAlgn="base">
              <a:spcBef>
                <a:spcPct val="0"/>
              </a:spcBef>
              <a:spcAft>
                <a:spcPct val="0"/>
              </a:spcAft>
              <a:defRPr/>
            </a:pPr>
            <a:endParaRPr lang="en-US" sz="1200" kern="0" dirty="0">
              <a:solidFill>
                <a:srgbClr val="000000"/>
              </a:solidFill>
              <a:latin typeface="Arial"/>
            </a:endParaRPr>
          </a:p>
          <a:p>
            <a:pPr defTabSz="914400" fontAlgn="base">
              <a:spcBef>
                <a:spcPct val="0"/>
              </a:spcBef>
              <a:spcAft>
                <a:spcPct val="0"/>
              </a:spcAft>
              <a:defRPr/>
            </a:pPr>
            <a:r>
              <a:rPr lang="en-US" sz="1200" kern="0" dirty="0">
                <a:solidFill>
                  <a:srgbClr val="000000"/>
                </a:solidFill>
                <a:latin typeface="Arial"/>
              </a:rPr>
              <a:t>void foo_top() {</a:t>
            </a:r>
          </a:p>
          <a:p>
            <a:pPr defTabSz="914400" fontAlgn="base">
              <a:spcBef>
                <a:spcPct val="0"/>
              </a:spcBef>
              <a:spcAft>
                <a:spcPct val="0"/>
              </a:spcAft>
              <a:defRPr/>
            </a:pPr>
            <a:r>
              <a:rPr lang="en-US" sz="1200" kern="0" dirty="0">
                <a:solidFill>
                  <a:srgbClr val="000000"/>
                </a:solidFill>
                <a:latin typeface="Arial"/>
              </a:rPr>
              <a:t>	A(…);	</a:t>
            </a:r>
          </a:p>
          <a:p>
            <a:pPr defTabSz="914400" fontAlgn="base">
              <a:spcBef>
                <a:spcPct val="0"/>
              </a:spcBef>
              <a:spcAft>
                <a:spcPct val="0"/>
              </a:spcAft>
              <a:defRPr/>
            </a:pPr>
            <a:r>
              <a:rPr lang="en-US" sz="1200" kern="0" dirty="0">
                <a:solidFill>
                  <a:srgbClr val="000000"/>
                </a:solidFill>
                <a:latin typeface="Arial"/>
              </a:rPr>
              <a:t>  	C(…);</a:t>
            </a:r>
          </a:p>
          <a:p>
            <a:pPr defTabSz="914400" fontAlgn="base">
              <a:spcBef>
                <a:spcPct val="0"/>
              </a:spcBef>
              <a:spcAft>
                <a:spcPct val="0"/>
              </a:spcAft>
              <a:defRPr/>
            </a:pPr>
            <a:r>
              <a:rPr lang="en-US" sz="1200" kern="0" dirty="0">
                <a:solidFill>
                  <a:srgbClr val="000000"/>
                </a:solidFill>
                <a:latin typeface="Arial"/>
              </a:rPr>
              <a:t>	D(…)</a:t>
            </a:r>
          </a:p>
          <a:p>
            <a:pPr defTabSz="914400" fontAlgn="base">
              <a:spcBef>
                <a:spcPct val="0"/>
              </a:spcBef>
              <a:spcAft>
                <a:spcPct val="0"/>
              </a:spcAft>
              <a:defRPr/>
            </a:pPr>
            <a:r>
              <a:rPr lang="en-US" sz="1200" kern="0" dirty="0">
                <a:solidFill>
                  <a:srgbClr val="000000"/>
                </a:solidFill>
                <a:latin typeface="Arial"/>
              </a:rPr>
              <a:t>}</a:t>
            </a:r>
          </a:p>
        </p:txBody>
      </p:sp>
      <p:sp>
        <p:nvSpPr>
          <p:cNvPr id="36" name="TextBox 35">
            <a:extLst>
              <a:ext uri="{FF2B5EF4-FFF2-40B4-BE49-F238E27FC236}">
                <a16:creationId xmlns:a16="http://schemas.microsoft.com/office/drawing/2014/main" id="{AF6D888D-A146-4A07-82C5-F85231C6663B}"/>
              </a:ext>
            </a:extLst>
          </p:cNvPr>
          <p:cNvSpPr txBox="1"/>
          <p:nvPr/>
        </p:nvSpPr>
        <p:spPr>
          <a:xfrm>
            <a:off x="6466522" y="2875852"/>
            <a:ext cx="954107"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foo_top</a:t>
            </a:r>
          </a:p>
        </p:txBody>
      </p:sp>
      <p:sp>
        <p:nvSpPr>
          <p:cNvPr id="37" name="TextBox 36">
            <a:extLst>
              <a:ext uri="{FF2B5EF4-FFF2-40B4-BE49-F238E27FC236}">
                <a16:creationId xmlns:a16="http://schemas.microsoft.com/office/drawing/2014/main" id="{622E74AC-2E03-4A6F-94C0-846BF8AA7C6F}"/>
              </a:ext>
            </a:extLst>
          </p:cNvPr>
          <p:cNvSpPr txBox="1"/>
          <p:nvPr/>
        </p:nvSpPr>
        <p:spPr>
          <a:xfrm>
            <a:off x="6626397" y="3397584"/>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A</a:t>
            </a:r>
          </a:p>
        </p:txBody>
      </p:sp>
      <p:sp>
        <p:nvSpPr>
          <p:cNvPr id="38" name="TextBox 37">
            <a:extLst>
              <a:ext uri="{FF2B5EF4-FFF2-40B4-BE49-F238E27FC236}">
                <a16:creationId xmlns:a16="http://schemas.microsoft.com/office/drawing/2014/main" id="{066FAA74-32BA-4BB7-AB51-07478FE605BC}"/>
              </a:ext>
            </a:extLst>
          </p:cNvPr>
          <p:cNvSpPr txBox="1"/>
          <p:nvPr/>
        </p:nvSpPr>
        <p:spPr>
          <a:xfrm>
            <a:off x="9021329" y="3014754"/>
            <a:ext cx="351378"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C</a:t>
            </a:r>
          </a:p>
        </p:txBody>
      </p:sp>
      <p:sp>
        <p:nvSpPr>
          <p:cNvPr id="39" name="TextBox 38">
            <a:extLst>
              <a:ext uri="{FF2B5EF4-FFF2-40B4-BE49-F238E27FC236}">
                <a16:creationId xmlns:a16="http://schemas.microsoft.com/office/drawing/2014/main" id="{C45A8C5D-F730-4E12-84F9-10DA36AE3519}"/>
              </a:ext>
            </a:extLst>
          </p:cNvPr>
          <p:cNvSpPr txBox="1"/>
          <p:nvPr/>
        </p:nvSpPr>
        <p:spPr>
          <a:xfrm>
            <a:off x="9682333" y="3167154"/>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B</a:t>
            </a:r>
          </a:p>
        </p:txBody>
      </p:sp>
      <p:sp>
        <p:nvSpPr>
          <p:cNvPr id="40" name="Rectangle 39">
            <a:extLst>
              <a:ext uri="{FF2B5EF4-FFF2-40B4-BE49-F238E27FC236}">
                <a16:creationId xmlns:a16="http://schemas.microsoft.com/office/drawing/2014/main" id="{0DDFA1F7-5FAF-4BC9-A1E8-FA1A2D90606E}"/>
              </a:ext>
            </a:extLst>
          </p:cNvPr>
          <p:cNvSpPr/>
          <p:nvPr/>
        </p:nvSpPr>
        <p:spPr>
          <a:xfrm>
            <a:off x="8968096" y="3970394"/>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1" name="Rectangle 40">
            <a:extLst>
              <a:ext uri="{FF2B5EF4-FFF2-40B4-BE49-F238E27FC236}">
                <a16:creationId xmlns:a16="http://schemas.microsoft.com/office/drawing/2014/main" id="{71853974-B3C9-49F4-A861-4C409CEB39DA}"/>
              </a:ext>
            </a:extLst>
          </p:cNvPr>
          <p:cNvSpPr/>
          <p:nvPr/>
        </p:nvSpPr>
        <p:spPr>
          <a:xfrm>
            <a:off x="9632795" y="4181624"/>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2" name="TextBox 41">
            <a:extLst>
              <a:ext uri="{FF2B5EF4-FFF2-40B4-BE49-F238E27FC236}">
                <a16:creationId xmlns:a16="http://schemas.microsoft.com/office/drawing/2014/main" id="{DC9ACC92-991D-46FD-9920-2B81763D1369}"/>
              </a:ext>
            </a:extLst>
          </p:cNvPr>
          <p:cNvSpPr txBox="1"/>
          <p:nvPr/>
        </p:nvSpPr>
        <p:spPr>
          <a:xfrm>
            <a:off x="9021329" y="3994081"/>
            <a:ext cx="351378"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D</a:t>
            </a:r>
          </a:p>
        </p:txBody>
      </p:sp>
      <p:sp>
        <p:nvSpPr>
          <p:cNvPr id="43" name="TextBox 42">
            <a:extLst>
              <a:ext uri="{FF2B5EF4-FFF2-40B4-BE49-F238E27FC236}">
                <a16:creationId xmlns:a16="http://schemas.microsoft.com/office/drawing/2014/main" id="{11952CF2-5752-4D0E-B20B-FB11E5B5D8F0}"/>
              </a:ext>
            </a:extLst>
          </p:cNvPr>
          <p:cNvSpPr txBox="1"/>
          <p:nvPr/>
        </p:nvSpPr>
        <p:spPr>
          <a:xfrm>
            <a:off x="9682333" y="4146481"/>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B</a:t>
            </a:r>
          </a:p>
        </p:txBody>
      </p:sp>
      <p:sp>
        <p:nvSpPr>
          <p:cNvPr id="44" name="TextBox 43">
            <a:extLst>
              <a:ext uri="{FF2B5EF4-FFF2-40B4-BE49-F238E27FC236}">
                <a16:creationId xmlns:a16="http://schemas.microsoft.com/office/drawing/2014/main" id="{88B85F0F-F951-4153-AF5D-B3CDCAABBDEB}"/>
              </a:ext>
            </a:extLst>
          </p:cNvPr>
          <p:cNvSpPr txBox="1"/>
          <p:nvPr/>
        </p:nvSpPr>
        <p:spPr>
          <a:xfrm>
            <a:off x="1865234" y="2352135"/>
            <a:ext cx="1608133" cy="369332"/>
          </a:xfrm>
          <a:prstGeom prst="rect">
            <a:avLst/>
          </a:prstGeom>
          <a:noFill/>
        </p:spPr>
        <p:txBody>
          <a:bodyPr wrap="none" rtlCol="0">
            <a:spAutoFit/>
          </a:bodyPr>
          <a:lstStyle/>
          <a:p>
            <a:pPr algn="ctr" defTabSz="914400" fontAlgn="base">
              <a:spcBef>
                <a:spcPct val="0"/>
              </a:spcBef>
              <a:spcAft>
                <a:spcPct val="0"/>
              </a:spcAft>
              <a:defRPr/>
            </a:pPr>
            <a:r>
              <a:rPr lang="en-US" b="1" u="sng" kern="0" dirty="0">
                <a:solidFill>
                  <a:srgbClr val="000000"/>
                </a:solidFill>
              </a:rPr>
              <a:t>Source Code</a:t>
            </a:r>
          </a:p>
        </p:txBody>
      </p:sp>
      <p:sp>
        <p:nvSpPr>
          <p:cNvPr id="45" name="TextBox 44">
            <a:extLst>
              <a:ext uri="{FF2B5EF4-FFF2-40B4-BE49-F238E27FC236}">
                <a16:creationId xmlns:a16="http://schemas.microsoft.com/office/drawing/2014/main" id="{B55EFF4E-DA6D-4561-A726-C91F34DAAB40}"/>
              </a:ext>
            </a:extLst>
          </p:cNvPr>
          <p:cNvSpPr txBox="1"/>
          <p:nvPr/>
        </p:nvSpPr>
        <p:spPr>
          <a:xfrm>
            <a:off x="7824317" y="2443968"/>
            <a:ext cx="1732205" cy="369332"/>
          </a:xfrm>
          <a:prstGeom prst="rect">
            <a:avLst/>
          </a:prstGeom>
          <a:noFill/>
        </p:spPr>
        <p:txBody>
          <a:bodyPr wrap="none" rtlCol="0">
            <a:spAutoFit/>
          </a:bodyPr>
          <a:lstStyle/>
          <a:p>
            <a:pPr algn="ctr" defTabSz="914400" fontAlgn="base">
              <a:spcBef>
                <a:spcPct val="0"/>
              </a:spcBef>
              <a:spcAft>
                <a:spcPct val="0"/>
              </a:spcAft>
              <a:defRPr/>
            </a:pPr>
            <a:r>
              <a:rPr lang="en-US" b="1" u="sng" kern="0" dirty="0">
                <a:solidFill>
                  <a:srgbClr val="000000"/>
                </a:solidFill>
              </a:rPr>
              <a:t>RTL hierarchy</a:t>
            </a:r>
          </a:p>
        </p:txBody>
      </p:sp>
      <p:sp>
        <p:nvSpPr>
          <p:cNvPr id="46" name="Right Arrow 25">
            <a:extLst>
              <a:ext uri="{FF2B5EF4-FFF2-40B4-BE49-F238E27FC236}">
                <a16:creationId xmlns:a16="http://schemas.microsoft.com/office/drawing/2014/main" id="{BA6F173B-0D15-4796-8CC0-AE1F856EE713}"/>
              </a:ext>
            </a:extLst>
          </p:cNvPr>
          <p:cNvSpPr/>
          <p:nvPr/>
        </p:nvSpPr>
        <p:spPr>
          <a:xfrm>
            <a:off x="5072134" y="3536488"/>
            <a:ext cx="921480" cy="6099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7" name="TextBox 46">
            <a:extLst>
              <a:ext uri="{FF2B5EF4-FFF2-40B4-BE49-F238E27FC236}">
                <a16:creationId xmlns:a16="http://schemas.microsoft.com/office/drawing/2014/main" id="{875E42FB-2B97-4447-8CD0-2602771D2F1C}"/>
              </a:ext>
            </a:extLst>
          </p:cNvPr>
          <p:cNvSpPr txBox="1"/>
          <p:nvPr/>
        </p:nvSpPr>
        <p:spPr>
          <a:xfrm>
            <a:off x="3092451" y="5271220"/>
            <a:ext cx="881973" cy="253916"/>
          </a:xfrm>
          <a:prstGeom prst="rect">
            <a:avLst/>
          </a:prstGeom>
          <a:solidFill>
            <a:srgbClr val="EE3424">
              <a:lumMod val="60000"/>
              <a:lumOff val="40000"/>
            </a:srgbClr>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algn="ctr" defTabSz="914400" fontAlgn="base">
              <a:spcBef>
                <a:spcPct val="0"/>
              </a:spcBef>
              <a:spcAft>
                <a:spcPct val="0"/>
              </a:spcAft>
              <a:defRPr/>
            </a:pPr>
            <a:r>
              <a:rPr lang="en-US" sz="1050" b="1" kern="0" dirty="0">
                <a:solidFill>
                  <a:srgbClr val="FFFFFF"/>
                </a:solidFill>
                <a:latin typeface="Arial"/>
              </a:rPr>
              <a:t>my_code.c</a:t>
            </a:r>
          </a:p>
        </p:txBody>
      </p:sp>
      <p:sp>
        <p:nvSpPr>
          <p:cNvPr id="48" name="TextBox 47">
            <a:extLst>
              <a:ext uri="{FF2B5EF4-FFF2-40B4-BE49-F238E27FC236}">
                <a16:creationId xmlns:a16="http://schemas.microsoft.com/office/drawing/2014/main" id="{D497353E-33C6-4930-AE80-87DE494699F6}"/>
              </a:ext>
            </a:extLst>
          </p:cNvPr>
          <p:cNvSpPr txBox="1"/>
          <p:nvPr/>
        </p:nvSpPr>
        <p:spPr>
          <a:xfrm>
            <a:off x="3621088" y="5758395"/>
            <a:ext cx="4991252"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Functions can be inlined – the hierarchy removed &amp;  the function dissolved into the surrounding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Functions &amp; RTL Hierarchy</a:t>
            </a:r>
          </a:p>
        </p:txBody>
      </p:sp>
      <p:sp>
        <p:nvSpPr>
          <p:cNvPr id="3" name="Content Placeholder 2"/>
          <p:cNvSpPr>
            <a:spLocks noGrp="1"/>
          </p:cNvSpPr>
          <p:nvPr>
            <p:ph idx="1"/>
          </p:nvPr>
        </p:nvSpPr>
        <p:spPr/>
        <p:txBody>
          <a:bodyPr/>
          <a:lstStyle/>
          <a:p>
            <a:r>
              <a:rPr lang="en-US" dirty="0"/>
              <a:t>Each function is translated into an RTL block</a:t>
            </a:r>
          </a:p>
          <a:p>
            <a:pPr lvl="1"/>
            <a:r>
              <a:rPr lang="en-US" dirty="0"/>
              <a:t>Verilog module, VHDL entity</a:t>
            </a:r>
          </a:p>
          <a:p>
            <a:endParaRPr lang="en-US" dirty="0"/>
          </a:p>
        </p:txBody>
      </p:sp>
      <p:sp>
        <p:nvSpPr>
          <p:cNvPr id="32" name="Slide Number Placeholder 31"/>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16</a:t>
            </a:fld>
            <a:endParaRPr lang="en-US" dirty="0">
              <a:solidFill>
                <a:srgbClr val="0C0C0C">
                  <a:tint val="75000"/>
                </a:srgbClr>
              </a:solidFill>
              <a:latin typeface="Arial"/>
            </a:endParaRPr>
          </a:p>
        </p:txBody>
      </p:sp>
      <p:sp>
        <p:nvSpPr>
          <p:cNvPr id="31"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16</a:t>
            </a:fld>
            <a:endParaRPr lang="en-US" sz="1000" dirty="0">
              <a:solidFill>
                <a:srgbClr val="FFFFFF"/>
              </a:solidFill>
              <a:latin typeface="Arial" charset="0"/>
              <a:ea typeface="ＭＳ Ｐゴシック" pitchFamily="34" charset="-128"/>
              <a:cs typeface="Arial" charset="0"/>
            </a:endParaRPr>
          </a:p>
        </p:txBody>
      </p:sp>
      <p:sp>
        <p:nvSpPr>
          <p:cNvPr id="29" name="Rectangle 28">
            <a:extLst>
              <a:ext uri="{FF2B5EF4-FFF2-40B4-BE49-F238E27FC236}">
                <a16:creationId xmlns:a16="http://schemas.microsoft.com/office/drawing/2014/main" id="{93F18A8B-59E7-4829-90F6-1B132377B790}"/>
              </a:ext>
            </a:extLst>
          </p:cNvPr>
          <p:cNvSpPr/>
          <p:nvPr/>
        </p:nvSpPr>
        <p:spPr>
          <a:xfrm>
            <a:off x="6307669" y="2875853"/>
            <a:ext cx="5068140" cy="2189085"/>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0" name="Rectangle 29">
            <a:extLst>
              <a:ext uri="{FF2B5EF4-FFF2-40B4-BE49-F238E27FC236}">
                <a16:creationId xmlns:a16="http://schemas.microsoft.com/office/drawing/2014/main" id="{9ABA4193-4081-4C3A-8D4F-3205764DE7F9}"/>
              </a:ext>
            </a:extLst>
          </p:cNvPr>
          <p:cNvSpPr/>
          <p:nvPr/>
        </p:nvSpPr>
        <p:spPr>
          <a:xfrm>
            <a:off x="6570741" y="3432725"/>
            <a:ext cx="1511830"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3" name="Rectangle 32">
            <a:extLst>
              <a:ext uri="{FF2B5EF4-FFF2-40B4-BE49-F238E27FC236}">
                <a16:creationId xmlns:a16="http://schemas.microsoft.com/office/drawing/2014/main" id="{82AFB064-9B77-4FE3-AE0B-8529F6ABF836}"/>
              </a:ext>
            </a:extLst>
          </p:cNvPr>
          <p:cNvSpPr/>
          <p:nvPr/>
        </p:nvSpPr>
        <p:spPr>
          <a:xfrm>
            <a:off x="8968096" y="2991067"/>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4" name="Rectangle 33">
            <a:extLst>
              <a:ext uri="{FF2B5EF4-FFF2-40B4-BE49-F238E27FC236}">
                <a16:creationId xmlns:a16="http://schemas.microsoft.com/office/drawing/2014/main" id="{896FBC09-6BF6-407D-BC7A-8079DB49E211}"/>
              </a:ext>
            </a:extLst>
          </p:cNvPr>
          <p:cNvSpPr/>
          <p:nvPr/>
        </p:nvSpPr>
        <p:spPr>
          <a:xfrm>
            <a:off x="9632795" y="3202297"/>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5" name="TextBox 34">
            <a:extLst>
              <a:ext uri="{FF2B5EF4-FFF2-40B4-BE49-F238E27FC236}">
                <a16:creationId xmlns:a16="http://schemas.microsoft.com/office/drawing/2014/main" id="{7161B9E7-EAE5-437E-9F2B-03F7807E29CE}"/>
              </a:ext>
            </a:extLst>
          </p:cNvPr>
          <p:cNvSpPr txBox="1"/>
          <p:nvPr/>
        </p:nvSpPr>
        <p:spPr>
          <a:xfrm>
            <a:off x="1027863" y="2746782"/>
            <a:ext cx="3276372" cy="286232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200" kern="0" dirty="0">
                <a:solidFill>
                  <a:srgbClr val="000000"/>
                </a:solidFill>
                <a:latin typeface="Arial"/>
              </a:rPr>
              <a:t>void A() { ..body A..}</a:t>
            </a:r>
          </a:p>
          <a:p>
            <a:pPr defTabSz="914400" fontAlgn="base">
              <a:spcBef>
                <a:spcPct val="0"/>
              </a:spcBef>
              <a:spcAft>
                <a:spcPct val="0"/>
              </a:spcAft>
              <a:defRPr/>
            </a:pPr>
            <a:r>
              <a:rPr lang="en-US" sz="1200" kern="0" dirty="0">
                <a:solidFill>
                  <a:srgbClr val="000000"/>
                </a:solidFill>
                <a:latin typeface="Arial"/>
              </a:rPr>
              <a:t>void B() { ..body B..}</a:t>
            </a:r>
          </a:p>
          <a:p>
            <a:pPr defTabSz="914400" fontAlgn="base">
              <a:spcBef>
                <a:spcPct val="0"/>
              </a:spcBef>
              <a:spcAft>
                <a:spcPct val="0"/>
              </a:spcAft>
              <a:defRPr/>
            </a:pPr>
            <a:r>
              <a:rPr lang="en-US" sz="1200" kern="0" dirty="0">
                <a:solidFill>
                  <a:srgbClr val="000000"/>
                </a:solidFill>
                <a:latin typeface="Arial"/>
              </a:rPr>
              <a:t>void C() {</a:t>
            </a:r>
          </a:p>
          <a:p>
            <a:pPr defTabSz="914400" fontAlgn="base">
              <a:spcBef>
                <a:spcPct val="0"/>
              </a:spcBef>
              <a:spcAft>
                <a:spcPct val="0"/>
              </a:spcAft>
              <a:defRPr/>
            </a:pPr>
            <a:r>
              <a:rPr lang="en-US" sz="1200" kern="0" dirty="0">
                <a:solidFill>
                  <a:srgbClr val="000000"/>
                </a:solidFill>
                <a:latin typeface="Arial"/>
              </a:rPr>
              <a:t>	B();</a:t>
            </a:r>
          </a:p>
          <a:p>
            <a:pPr defTabSz="914400" fontAlgn="base">
              <a:spcBef>
                <a:spcPct val="0"/>
              </a:spcBef>
              <a:spcAft>
                <a:spcPct val="0"/>
              </a:spcAft>
              <a:defRPr/>
            </a:pPr>
            <a:r>
              <a:rPr lang="en-US" sz="1200" kern="0" dirty="0">
                <a:solidFill>
                  <a:srgbClr val="000000"/>
                </a:solidFill>
                <a:latin typeface="Arial"/>
              </a:rPr>
              <a:t>}</a:t>
            </a:r>
          </a:p>
          <a:p>
            <a:pPr defTabSz="914400" fontAlgn="base">
              <a:spcBef>
                <a:spcPct val="0"/>
              </a:spcBef>
              <a:spcAft>
                <a:spcPct val="0"/>
              </a:spcAft>
              <a:defRPr/>
            </a:pPr>
            <a:r>
              <a:rPr lang="en-US" sz="1200" kern="0" dirty="0">
                <a:solidFill>
                  <a:srgbClr val="000000"/>
                </a:solidFill>
                <a:latin typeface="Arial"/>
              </a:rPr>
              <a:t>void D() {</a:t>
            </a:r>
          </a:p>
          <a:p>
            <a:pPr defTabSz="914400" fontAlgn="base">
              <a:spcBef>
                <a:spcPct val="0"/>
              </a:spcBef>
              <a:spcAft>
                <a:spcPct val="0"/>
              </a:spcAft>
              <a:defRPr/>
            </a:pPr>
            <a:r>
              <a:rPr lang="en-US" sz="1200" kern="0" dirty="0">
                <a:solidFill>
                  <a:srgbClr val="000000"/>
                </a:solidFill>
                <a:latin typeface="Arial"/>
              </a:rPr>
              <a:t>	B();</a:t>
            </a:r>
          </a:p>
          <a:p>
            <a:pPr defTabSz="914400" fontAlgn="base">
              <a:spcBef>
                <a:spcPct val="0"/>
              </a:spcBef>
              <a:spcAft>
                <a:spcPct val="0"/>
              </a:spcAft>
              <a:defRPr/>
            </a:pPr>
            <a:r>
              <a:rPr lang="en-US" sz="1200" kern="0" dirty="0">
                <a:solidFill>
                  <a:srgbClr val="000000"/>
                </a:solidFill>
                <a:latin typeface="Arial"/>
              </a:rPr>
              <a:t>}</a:t>
            </a:r>
          </a:p>
          <a:p>
            <a:pPr defTabSz="914400" fontAlgn="base">
              <a:spcBef>
                <a:spcPct val="0"/>
              </a:spcBef>
              <a:spcAft>
                <a:spcPct val="0"/>
              </a:spcAft>
              <a:defRPr/>
            </a:pPr>
            <a:endParaRPr lang="en-US" sz="1200" kern="0" dirty="0">
              <a:solidFill>
                <a:srgbClr val="000000"/>
              </a:solidFill>
              <a:latin typeface="Arial"/>
            </a:endParaRPr>
          </a:p>
          <a:p>
            <a:pPr defTabSz="914400" fontAlgn="base">
              <a:spcBef>
                <a:spcPct val="0"/>
              </a:spcBef>
              <a:spcAft>
                <a:spcPct val="0"/>
              </a:spcAft>
              <a:defRPr/>
            </a:pPr>
            <a:endParaRPr lang="en-US" sz="1200" kern="0" dirty="0">
              <a:solidFill>
                <a:srgbClr val="000000"/>
              </a:solidFill>
              <a:latin typeface="Arial"/>
            </a:endParaRPr>
          </a:p>
          <a:p>
            <a:pPr defTabSz="914400" fontAlgn="base">
              <a:spcBef>
                <a:spcPct val="0"/>
              </a:spcBef>
              <a:spcAft>
                <a:spcPct val="0"/>
              </a:spcAft>
              <a:defRPr/>
            </a:pPr>
            <a:r>
              <a:rPr lang="en-US" sz="1200" kern="0" dirty="0">
                <a:solidFill>
                  <a:srgbClr val="000000"/>
                </a:solidFill>
                <a:latin typeface="Arial"/>
              </a:rPr>
              <a:t>void foo_top() {</a:t>
            </a:r>
          </a:p>
          <a:p>
            <a:pPr defTabSz="914400" fontAlgn="base">
              <a:spcBef>
                <a:spcPct val="0"/>
              </a:spcBef>
              <a:spcAft>
                <a:spcPct val="0"/>
              </a:spcAft>
              <a:defRPr/>
            </a:pPr>
            <a:r>
              <a:rPr lang="en-US" sz="1200" kern="0" dirty="0">
                <a:solidFill>
                  <a:srgbClr val="000000"/>
                </a:solidFill>
                <a:latin typeface="Arial"/>
              </a:rPr>
              <a:t>	A(…);	</a:t>
            </a:r>
          </a:p>
          <a:p>
            <a:pPr defTabSz="914400" fontAlgn="base">
              <a:spcBef>
                <a:spcPct val="0"/>
              </a:spcBef>
              <a:spcAft>
                <a:spcPct val="0"/>
              </a:spcAft>
              <a:defRPr/>
            </a:pPr>
            <a:r>
              <a:rPr lang="en-US" sz="1200" kern="0" dirty="0">
                <a:solidFill>
                  <a:srgbClr val="000000"/>
                </a:solidFill>
                <a:latin typeface="Arial"/>
              </a:rPr>
              <a:t>  	C(…);</a:t>
            </a:r>
          </a:p>
          <a:p>
            <a:pPr defTabSz="914400" fontAlgn="base">
              <a:spcBef>
                <a:spcPct val="0"/>
              </a:spcBef>
              <a:spcAft>
                <a:spcPct val="0"/>
              </a:spcAft>
              <a:defRPr/>
            </a:pPr>
            <a:r>
              <a:rPr lang="en-US" sz="1200" kern="0" dirty="0">
                <a:solidFill>
                  <a:srgbClr val="000000"/>
                </a:solidFill>
                <a:latin typeface="Arial"/>
              </a:rPr>
              <a:t>	D(…)</a:t>
            </a:r>
          </a:p>
          <a:p>
            <a:pPr defTabSz="914400" fontAlgn="base">
              <a:spcBef>
                <a:spcPct val="0"/>
              </a:spcBef>
              <a:spcAft>
                <a:spcPct val="0"/>
              </a:spcAft>
              <a:defRPr/>
            </a:pPr>
            <a:r>
              <a:rPr lang="en-US" sz="1200" kern="0" dirty="0">
                <a:solidFill>
                  <a:srgbClr val="000000"/>
                </a:solidFill>
                <a:latin typeface="Arial"/>
              </a:rPr>
              <a:t>}</a:t>
            </a:r>
          </a:p>
        </p:txBody>
      </p:sp>
      <p:sp>
        <p:nvSpPr>
          <p:cNvPr id="36" name="TextBox 35">
            <a:extLst>
              <a:ext uri="{FF2B5EF4-FFF2-40B4-BE49-F238E27FC236}">
                <a16:creationId xmlns:a16="http://schemas.microsoft.com/office/drawing/2014/main" id="{AF6D888D-A146-4A07-82C5-F85231C6663B}"/>
              </a:ext>
            </a:extLst>
          </p:cNvPr>
          <p:cNvSpPr txBox="1"/>
          <p:nvPr/>
        </p:nvSpPr>
        <p:spPr>
          <a:xfrm>
            <a:off x="6466522" y="2875852"/>
            <a:ext cx="954107"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foo_top</a:t>
            </a:r>
          </a:p>
        </p:txBody>
      </p:sp>
      <p:sp>
        <p:nvSpPr>
          <p:cNvPr id="37" name="TextBox 36">
            <a:extLst>
              <a:ext uri="{FF2B5EF4-FFF2-40B4-BE49-F238E27FC236}">
                <a16:creationId xmlns:a16="http://schemas.microsoft.com/office/drawing/2014/main" id="{622E74AC-2E03-4A6F-94C0-846BF8AA7C6F}"/>
              </a:ext>
            </a:extLst>
          </p:cNvPr>
          <p:cNvSpPr txBox="1"/>
          <p:nvPr/>
        </p:nvSpPr>
        <p:spPr>
          <a:xfrm>
            <a:off x="6626397" y="3397584"/>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A</a:t>
            </a:r>
          </a:p>
        </p:txBody>
      </p:sp>
      <p:sp>
        <p:nvSpPr>
          <p:cNvPr id="38" name="TextBox 37">
            <a:extLst>
              <a:ext uri="{FF2B5EF4-FFF2-40B4-BE49-F238E27FC236}">
                <a16:creationId xmlns:a16="http://schemas.microsoft.com/office/drawing/2014/main" id="{066FAA74-32BA-4BB7-AB51-07478FE605BC}"/>
              </a:ext>
            </a:extLst>
          </p:cNvPr>
          <p:cNvSpPr txBox="1"/>
          <p:nvPr/>
        </p:nvSpPr>
        <p:spPr>
          <a:xfrm>
            <a:off x="9021329" y="3014754"/>
            <a:ext cx="351378"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C</a:t>
            </a:r>
          </a:p>
        </p:txBody>
      </p:sp>
      <p:sp>
        <p:nvSpPr>
          <p:cNvPr id="39" name="TextBox 38">
            <a:extLst>
              <a:ext uri="{FF2B5EF4-FFF2-40B4-BE49-F238E27FC236}">
                <a16:creationId xmlns:a16="http://schemas.microsoft.com/office/drawing/2014/main" id="{C45A8C5D-F730-4E12-84F9-10DA36AE3519}"/>
              </a:ext>
            </a:extLst>
          </p:cNvPr>
          <p:cNvSpPr txBox="1"/>
          <p:nvPr/>
        </p:nvSpPr>
        <p:spPr>
          <a:xfrm>
            <a:off x="9682333" y="3167154"/>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B</a:t>
            </a:r>
          </a:p>
        </p:txBody>
      </p:sp>
      <p:sp>
        <p:nvSpPr>
          <p:cNvPr id="40" name="Rectangle 39">
            <a:extLst>
              <a:ext uri="{FF2B5EF4-FFF2-40B4-BE49-F238E27FC236}">
                <a16:creationId xmlns:a16="http://schemas.microsoft.com/office/drawing/2014/main" id="{0DDFA1F7-5FAF-4BC9-A1E8-FA1A2D90606E}"/>
              </a:ext>
            </a:extLst>
          </p:cNvPr>
          <p:cNvSpPr/>
          <p:nvPr/>
        </p:nvSpPr>
        <p:spPr>
          <a:xfrm>
            <a:off x="8968096" y="3970394"/>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1" name="Rectangle 40">
            <a:extLst>
              <a:ext uri="{FF2B5EF4-FFF2-40B4-BE49-F238E27FC236}">
                <a16:creationId xmlns:a16="http://schemas.microsoft.com/office/drawing/2014/main" id="{71853974-B3C9-49F4-A861-4C409CEB39DA}"/>
              </a:ext>
            </a:extLst>
          </p:cNvPr>
          <p:cNvSpPr/>
          <p:nvPr/>
        </p:nvSpPr>
        <p:spPr>
          <a:xfrm>
            <a:off x="9632795" y="4181624"/>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2" name="TextBox 41">
            <a:extLst>
              <a:ext uri="{FF2B5EF4-FFF2-40B4-BE49-F238E27FC236}">
                <a16:creationId xmlns:a16="http://schemas.microsoft.com/office/drawing/2014/main" id="{DC9ACC92-991D-46FD-9920-2B81763D1369}"/>
              </a:ext>
            </a:extLst>
          </p:cNvPr>
          <p:cNvSpPr txBox="1"/>
          <p:nvPr/>
        </p:nvSpPr>
        <p:spPr>
          <a:xfrm>
            <a:off x="9021329" y="3994081"/>
            <a:ext cx="351378"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D</a:t>
            </a:r>
          </a:p>
        </p:txBody>
      </p:sp>
      <p:sp>
        <p:nvSpPr>
          <p:cNvPr id="43" name="TextBox 42">
            <a:extLst>
              <a:ext uri="{FF2B5EF4-FFF2-40B4-BE49-F238E27FC236}">
                <a16:creationId xmlns:a16="http://schemas.microsoft.com/office/drawing/2014/main" id="{11952CF2-5752-4D0E-B20B-FB11E5B5D8F0}"/>
              </a:ext>
            </a:extLst>
          </p:cNvPr>
          <p:cNvSpPr txBox="1"/>
          <p:nvPr/>
        </p:nvSpPr>
        <p:spPr>
          <a:xfrm>
            <a:off x="9682333" y="4146481"/>
            <a:ext cx="338554"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B</a:t>
            </a:r>
          </a:p>
        </p:txBody>
      </p:sp>
      <p:sp>
        <p:nvSpPr>
          <p:cNvPr id="44" name="TextBox 43">
            <a:extLst>
              <a:ext uri="{FF2B5EF4-FFF2-40B4-BE49-F238E27FC236}">
                <a16:creationId xmlns:a16="http://schemas.microsoft.com/office/drawing/2014/main" id="{88B85F0F-F951-4153-AF5D-B3CDCAABBDEB}"/>
              </a:ext>
            </a:extLst>
          </p:cNvPr>
          <p:cNvSpPr txBox="1"/>
          <p:nvPr/>
        </p:nvSpPr>
        <p:spPr>
          <a:xfrm>
            <a:off x="1865234" y="2352135"/>
            <a:ext cx="1608133" cy="369332"/>
          </a:xfrm>
          <a:prstGeom prst="rect">
            <a:avLst/>
          </a:prstGeom>
          <a:noFill/>
        </p:spPr>
        <p:txBody>
          <a:bodyPr wrap="none" rtlCol="0">
            <a:spAutoFit/>
          </a:bodyPr>
          <a:lstStyle/>
          <a:p>
            <a:pPr algn="ctr" defTabSz="914400" fontAlgn="base">
              <a:spcBef>
                <a:spcPct val="0"/>
              </a:spcBef>
              <a:spcAft>
                <a:spcPct val="0"/>
              </a:spcAft>
              <a:defRPr/>
            </a:pPr>
            <a:r>
              <a:rPr lang="en-US" b="1" u="sng" kern="0" dirty="0">
                <a:solidFill>
                  <a:srgbClr val="000000"/>
                </a:solidFill>
                <a:latin typeface="Arial"/>
              </a:rPr>
              <a:t>Source Code</a:t>
            </a:r>
          </a:p>
        </p:txBody>
      </p:sp>
      <p:sp>
        <p:nvSpPr>
          <p:cNvPr id="45" name="TextBox 44">
            <a:extLst>
              <a:ext uri="{FF2B5EF4-FFF2-40B4-BE49-F238E27FC236}">
                <a16:creationId xmlns:a16="http://schemas.microsoft.com/office/drawing/2014/main" id="{B55EFF4E-DA6D-4561-A726-C91F34DAAB40}"/>
              </a:ext>
            </a:extLst>
          </p:cNvPr>
          <p:cNvSpPr txBox="1"/>
          <p:nvPr/>
        </p:nvSpPr>
        <p:spPr>
          <a:xfrm>
            <a:off x="7824317" y="2443968"/>
            <a:ext cx="1732205" cy="369332"/>
          </a:xfrm>
          <a:prstGeom prst="rect">
            <a:avLst/>
          </a:prstGeom>
          <a:noFill/>
        </p:spPr>
        <p:txBody>
          <a:bodyPr wrap="none" rtlCol="0">
            <a:spAutoFit/>
          </a:bodyPr>
          <a:lstStyle/>
          <a:p>
            <a:pPr algn="ctr" defTabSz="914400" fontAlgn="base">
              <a:spcBef>
                <a:spcPct val="0"/>
              </a:spcBef>
              <a:spcAft>
                <a:spcPct val="0"/>
              </a:spcAft>
              <a:defRPr/>
            </a:pPr>
            <a:r>
              <a:rPr lang="en-US" b="1" u="sng" kern="0" dirty="0">
                <a:solidFill>
                  <a:srgbClr val="000000"/>
                </a:solidFill>
                <a:latin typeface="Arial"/>
              </a:rPr>
              <a:t>RTL hierarchy</a:t>
            </a:r>
          </a:p>
        </p:txBody>
      </p:sp>
      <p:sp>
        <p:nvSpPr>
          <p:cNvPr id="46" name="Right Arrow 25">
            <a:extLst>
              <a:ext uri="{FF2B5EF4-FFF2-40B4-BE49-F238E27FC236}">
                <a16:creationId xmlns:a16="http://schemas.microsoft.com/office/drawing/2014/main" id="{BA6F173B-0D15-4796-8CC0-AE1F856EE713}"/>
              </a:ext>
            </a:extLst>
          </p:cNvPr>
          <p:cNvSpPr/>
          <p:nvPr/>
        </p:nvSpPr>
        <p:spPr>
          <a:xfrm>
            <a:off x="5072134" y="3536488"/>
            <a:ext cx="921480" cy="6099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7" name="TextBox 46">
            <a:extLst>
              <a:ext uri="{FF2B5EF4-FFF2-40B4-BE49-F238E27FC236}">
                <a16:creationId xmlns:a16="http://schemas.microsoft.com/office/drawing/2014/main" id="{875E42FB-2B97-4447-8CD0-2602771D2F1C}"/>
              </a:ext>
            </a:extLst>
          </p:cNvPr>
          <p:cNvSpPr txBox="1"/>
          <p:nvPr/>
        </p:nvSpPr>
        <p:spPr>
          <a:xfrm>
            <a:off x="3092451" y="5271220"/>
            <a:ext cx="881973" cy="253916"/>
          </a:xfrm>
          <a:prstGeom prst="rect">
            <a:avLst/>
          </a:prstGeom>
          <a:solidFill>
            <a:srgbClr val="EE3424">
              <a:lumMod val="60000"/>
              <a:lumOff val="40000"/>
            </a:srgbClr>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algn="ctr" defTabSz="914400" fontAlgn="base">
              <a:spcBef>
                <a:spcPct val="0"/>
              </a:spcBef>
              <a:spcAft>
                <a:spcPct val="0"/>
              </a:spcAft>
              <a:defRPr/>
            </a:pPr>
            <a:r>
              <a:rPr lang="en-US" sz="1050" b="1" kern="0" dirty="0">
                <a:solidFill>
                  <a:srgbClr val="FFFFFF"/>
                </a:solidFill>
                <a:latin typeface="Arial"/>
              </a:rPr>
              <a:t>my_code.c</a:t>
            </a:r>
          </a:p>
        </p:txBody>
      </p:sp>
      <p:sp>
        <p:nvSpPr>
          <p:cNvPr id="48" name="TextBox 47">
            <a:extLst>
              <a:ext uri="{FF2B5EF4-FFF2-40B4-BE49-F238E27FC236}">
                <a16:creationId xmlns:a16="http://schemas.microsoft.com/office/drawing/2014/main" id="{D497353E-33C6-4930-AE80-87DE494699F6}"/>
              </a:ext>
            </a:extLst>
          </p:cNvPr>
          <p:cNvSpPr txBox="1"/>
          <p:nvPr/>
        </p:nvSpPr>
        <p:spPr>
          <a:xfrm>
            <a:off x="3621088" y="5758395"/>
            <a:ext cx="4991252"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Functions can be inlined – the hierarchy removed &amp;  the function dissolved into the surrounding 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Inlining</a:t>
            </a:r>
          </a:p>
        </p:txBody>
      </p:sp>
      <p:sp>
        <p:nvSpPr>
          <p:cNvPr id="3" name="Content Placeholder 2"/>
          <p:cNvSpPr>
            <a:spLocks noGrp="1"/>
          </p:cNvSpPr>
          <p:nvPr>
            <p:ph idx="1"/>
          </p:nvPr>
        </p:nvSpPr>
        <p:spPr/>
        <p:txBody>
          <a:bodyPr>
            <a:noAutofit/>
          </a:bodyPr>
          <a:lstStyle/>
          <a:p>
            <a:r>
              <a:rPr lang="en-US" sz="2000" dirty="0" err="1"/>
              <a:t>Vitis</a:t>
            </a:r>
            <a:r>
              <a:rPr lang="en-US" sz="2000" dirty="0"/>
              <a:t> HLS performs some inlining automatically</a:t>
            </a:r>
          </a:p>
          <a:p>
            <a:pPr lvl="1"/>
            <a:r>
              <a:rPr lang="en-US" sz="1800" dirty="0"/>
              <a:t>This is performed on small logic functions if </a:t>
            </a:r>
            <a:r>
              <a:rPr lang="en-US" sz="1800" dirty="0" err="1"/>
              <a:t>Vitis</a:t>
            </a:r>
            <a:r>
              <a:rPr lang="en-US" sz="1800" dirty="0"/>
              <a:t> HLS determines area or performance will benefit</a:t>
            </a:r>
            <a:endParaRPr lang="en-US" dirty="0"/>
          </a:p>
          <a:p>
            <a:r>
              <a:rPr lang="en-US" sz="2000" dirty="0"/>
              <a:t>User Control</a:t>
            </a:r>
          </a:p>
          <a:p>
            <a:pPr lvl="1"/>
            <a:r>
              <a:rPr lang="en-US" sz="1800" dirty="0"/>
              <a:t>Functions can be specifically inlined</a:t>
            </a:r>
          </a:p>
          <a:p>
            <a:pPr lvl="2"/>
            <a:r>
              <a:rPr lang="en-US" dirty="0"/>
              <a:t>The function itself is inlined</a:t>
            </a:r>
          </a:p>
          <a:p>
            <a:pPr lvl="1"/>
            <a:r>
              <a:rPr lang="en-US" sz="1800" dirty="0"/>
              <a:t>Optionally recursively down the hierarchy</a:t>
            </a:r>
          </a:p>
          <a:p>
            <a:pPr lvl="1"/>
            <a:r>
              <a:rPr lang="en-US" sz="1800" dirty="0"/>
              <a:t>Optionally everything within a region can be inlined</a:t>
            </a:r>
          </a:p>
          <a:p>
            <a:pPr lvl="2"/>
            <a:r>
              <a:rPr lang="en-US" dirty="0"/>
              <a:t>Everything named region or a function or a loop</a:t>
            </a:r>
          </a:p>
          <a:p>
            <a:pPr lvl="1"/>
            <a:r>
              <a:rPr lang="en-US" dirty="0"/>
              <a:t>Optionally inlining can be explicitly prevented</a:t>
            </a:r>
          </a:p>
          <a:p>
            <a:pPr lvl="2"/>
            <a:r>
              <a:rPr lang="en-US" dirty="0"/>
              <a:t>Turn inlining off</a:t>
            </a:r>
          </a:p>
          <a:p>
            <a:r>
              <a:rPr lang="en-US" dirty="0"/>
              <a:t>Inlining functions allows for greater optimization</a:t>
            </a:r>
          </a:p>
          <a:p>
            <a:pPr lvl="1"/>
            <a:r>
              <a:rPr lang="en-US" sz="1800" dirty="0"/>
              <a:t>Like ungrouping RTL hierarchies: optimization across boundaries</a:t>
            </a:r>
          </a:p>
          <a:p>
            <a:pPr lvl="1"/>
            <a:r>
              <a:rPr lang="en-US" dirty="0"/>
              <a:t>Like ungrouping RTL hierarchies it can result in lots of operations &amp; impact run time</a:t>
            </a:r>
            <a:endParaRPr lang="en-US" sz="1800" dirty="0"/>
          </a:p>
        </p:txBody>
      </p:sp>
      <p:sp>
        <p:nvSpPr>
          <p:cNvPr id="9" name="Slide Number Placeholder 8"/>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17</a:t>
            </a:fld>
            <a:endParaRPr lang="en-US" dirty="0"/>
          </a:p>
        </p:txBody>
      </p:sp>
      <p:sp>
        <p:nvSpPr>
          <p:cNvPr id="8"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17</a:t>
            </a:fld>
            <a:endParaRPr lang="en-US" sz="1000" dirty="0">
              <a:solidFill>
                <a:schemeClr val="bg1"/>
              </a:solidFill>
              <a:latin typeface="Arial" charset="0"/>
              <a:ea typeface="ＭＳ Ｐゴシック" pitchFamily="34" charset="-128"/>
              <a:cs typeface="Arial" charset="0"/>
            </a:endParaRPr>
          </a:p>
        </p:txBody>
      </p:sp>
      <p:pic>
        <p:nvPicPr>
          <p:cNvPr id="5" name="Picture 4">
            <a:extLst>
              <a:ext uri="{FF2B5EF4-FFF2-40B4-BE49-F238E27FC236}">
                <a16:creationId xmlns:a16="http://schemas.microsoft.com/office/drawing/2014/main" id="{F9BE43C3-4D7F-4DBA-90DC-48D60001BC57}"/>
              </a:ext>
            </a:extLst>
          </p:cNvPr>
          <p:cNvPicPr>
            <a:picLocks noChangeAspect="1"/>
          </p:cNvPicPr>
          <p:nvPr/>
        </p:nvPicPr>
        <p:blipFill>
          <a:blip r:embed="rId2"/>
          <a:stretch>
            <a:fillRect/>
          </a:stretch>
        </p:blipFill>
        <p:spPr>
          <a:xfrm>
            <a:off x="8452415" y="2178899"/>
            <a:ext cx="2595663" cy="31300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Inlining</a:t>
            </a:r>
          </a:p>
        </p:txBody>
      </p:sp>
      <p:sp>
        <p:nvSpPr>
          <p:cNvPr id="3" name="Content Placeholder 2"/>
          <p:cNvSpPr>
            <a:spLocks noGrp="1"/>
          </p:cNvSpPr>
          <p:nvPr>
            <p:ph idx="1"/>
          </p:nvPr>
        </p:nvSpPr>
        <p:spPr/>
        <p:txBody>
          <a:bodyPr>
            <a:noAutofit/>
          </a:bodyPr>
          <a:lstStyle/>
          <a:p>
            <a:r>
              <a:rPr lang="en-US" sz="2000" dirty="0" err="1">
                <a:highlight>
                  <a:srgbClr val="FFFF00"/>
                </a:highlight>
              </a:rPr>
              <a:t>Vitis</a:t>
            </a:r>
            <a:r>
              <a:rPr lang="en-US" sz="2000" dirty="0"/>
              <a:t> HLS performs some inlining automatically</a:t>
            </a:r>
          </a:p>
          <a:p>
            <a:pPr lvl="1"/>
            <a:r>
              <a:rPr lang="en-US" sz="1800" dirty="0"/>
              <a:t>This is performed on small logic functions if </a:t>
            </a:r>
            <a:r>
              <a:rPr lang="en-US" sz="1800" dirty="0" err="1">
                <a:highlight>
                  <a:srgbClr val="FFFF00"/>
                </a:highlight>
              </a:rPr>
              <a:t>Vitis</a:t>
            </a:r>
            <a:r>
              <a:rPr lang="en-US" sz="1800" dirty="0"/>
              <a:t> HLS determines area or performance will benefit</a:t>
            </a:r>
            <a:endParaRPr lang="en-US" sz="2000" dirty="0"/>
          </a:p>
          <a:p>
            <a:r>
              <a:rPr lang="en-US" sz="2000" dirty="0"/>
              <a:t>User Control</a:t>
            </a:r>
          </a:p>
          <a:p>
            <a:pPr lvl="1"/>
            <a:r>
              <a:rPr lang="en-US" sz="1800" dirty="0"/>
              <a:t>Functions can be specifically inlined</a:t>
            </a:r>
          </a:p>
          <a:p>
            <a:pPr lvl="2"/>
            <a:r>
              <a:rPr lang="en-US" dirty="0"/>
              <a:t>The function itself is inlined</a:t>
            </a:r>
          </a:p>
          <a:p>
            <a:pPr lvl="1"/>
            <a:r>
              <a:rPr lang="en-US" sz="1800" dirty="0"/>
              <a:t>Optionally recursively down the hierarchy</a:t>
            </a:r>
          </a:p>
          <a:p>
            <a:pPr lvl="1"/>
            <a:r>
              <a:rPr lang="en-US" sz="1800" dirty="0"/>
              <a:t>Optionally everything within a region can be inlined</a:t>
            </a:r>
          </a:p>
          <a:p>
            <a:pPr lvl="2"/>
            <a:r>
              <a:rPr lang="en-US" dirty="0"/>
              <a:t>Everything named region or a function or a loop</a:t>
            </a:r>
          </a:p>
          <a:p>
            <a:pPr lvl="1"/>
            <a:r>
              <a:rPr lang="en-US" dirty="0"/>
              <a:t>Optionally inlining can be explicitly prevented</a:t>
            </a:r>
          </a:p>
          <a:p>
            <a:pPr lvl="2"/>
            <a:r>
              <a:rPr lang="en-US" dirty="0"/>
              <a:t>Turn inlining off</a:t>
            </a:r>
          </a:p>
          <a:p>
            <a:r>
              <a:rPr lang="en-US" dirty="0"/>
              <a:t>Inlining functions allows for greater optimization</a:t>
            </a:r>
          </a:p>
          <a:p>
            <a:pPr lvl="1"/>
            <a:r>
              <a:rPr lang="en-US" sz="1800" dirty="0"/>
              <a:t>Like ungrouping RTL hierarchies: optimization across boundaries</a:t>
            </a:r>
          </a:p>
          <a:p>
            <a:pPr lvl="1"/>
            <a:r>
              <a:rPr lang="en-US" dirty="0"/>
              <a:t>Like ungrouping RTL hierarchies it can result in lots of operations &amp; impact run time</a:t>
            </a:r>
            <a:endParaRPr lang="en-US" sz="1800" dirty="0"/>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18</a:t>
            </a:fld>
            <a:endParaRPr lang="en-US" dirty="0">
              <a:solidFill>
                <a:srgbClr val="0C0C0C">
                  <a:tint val="75000"/>
                </a:srgbClr>
              </a:solidFill>
              <a:latin typeface="Arial"/>
            </a:endParaRPr>
          </a:p>
        </p:txBody>
      </p:sp>
      <p:sp>
        <p:nvSpPr>
          <p:cNvPr id="8"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18</a:t>
            </a:fld>
            <a:endParaRPr lang="en-US" sz="1000" dirty="0">
              <a:solidFill>
                <a:srgbClr val="FFFFFF"/>
              </a:solidFill>
              <a:latin typeface="Arial" charset="0"/>
              <a:ea typeface="ＭＳ Ｐゴシック" pitchFamily="34" charset="-128"/>
              <a:cs typeface="Arial" charset="0"/>
            </a:endParaRPr>
          </a:p>
        </p:txBody>
      </p:sp>
      <p:pic>
        <p:nvPicPr>
          <p:cNvPr id="4" name="Picture 3">
            <a:extLst>
              <a:ext uri="{FF2B5EF4-FFF2-40B4-BE49-F238E27FC236}">
                <a16:creationId xmlns:a16="http://schemas.microsoft.com/office/drawing/2014/main" id="{CC2A7ECA-9E39-4B7C-9124-1DFDB3518003}"/>
              </a:ext>
            </a:extLst>
          </p:cNvPr>
          <p:cNvPicPr>
            <a:picLocks noChangeAspect="1"/>
          </p:cNvPicPr>
          <p:nvPr/>
        </p:nvPicPr>
        <p:blipFill>
          <a:blip r:embed="rId2"/>
          <a:stretch>
            <a:fillRect/>
          </a:stretch>
        </p:blipFill>
        <p:spPr>
          <a:xfrm>
            <a:off x="-3291962" y="2106567"/>
            <a:ext cx="3181350" cy="3086100"/>
          </a:xfrm>
          <a:prstGeom prst="rect">
            <a:avLst/>
          </a:prstGeom>
        </p:spPr>
      </p:pic>
      <p:pic>
        <p:nvPicPr>
          <p:cNvPr id="5" name="Picture 4">
            <a:extLst>
              <a:ext uri="{FF2B5EF4-FFF2-40B4-BE49-F238E27FC236}">
                <a16:creationId xmlns:a16="http://schemas.microsoft.com/office/drawing/2014/main" id="{F9BE43C3-4D7F-4DBA-90DC-48D60001BC57}"/>
              </a:ext>
            </a:extLst>
          </p:cNvPr>
          <p:cNvPicPr>
            <a:picLocks noChangeAspect="1"/>
          </p:cNvPicPr>
          <p:nvPr/>
        </p:nvPicPr>
        <p:blipFill>
          <a:blip r:embed="rId3"/>
          <a:stretch>
            <a:fillRect/>
          </a:stretch>
        </p:blipFill>
        <p:spPr>
          <a:xfrm>
            <a:off x="8452415" y="2178899"/>
            <a:ext cx="2595663" cy="31300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Inlining</a:t>
            </a:r>
          </a:p>
        </p:txBody>
      </p:sp>
      <p:sp>
        <p:nvSpPr>
          <p:cNvPr id="3" name="Content Placeholder 2"/>
          <p:cNvSpPr>
            <a:spLocks noGrp="1"/>
          </p:cNvSpPr>
          <p:nvPr>
            <p:ph idx="1"/>
          </p:nvPr>
        </p:nvSpPr>
        <p:spPr>
          <a:xfrm>
            <a:off x="667293" y="1315918"/>
            <a:ext cx="10515600" cy="4759404"/>
          </a:xfrm>
        </p:spPr>
        <p:txBody>
          <a:bodyPr>
            <a:normAutofit/>
          </a:bodyPr>
          <a:lstStyle/>
          <a:p>
            <a:r>
              <a:rPr lang="en-US" dirty="0"/>
              <a:t>Inlining can be used to remove function hierarchy</a:t>
            </a:r>
            <a:endParaRPr lang="en-US" b="1" dirty="0"/>
          </a:p>
        </p:txBody>
      </p:sp>
      <p:sp>
        <p:nvSpPr>
          <p:cNvPr id="66" name="Slide Number Placeholder 65"/>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19</a:t>
            </a:fld>
            <a:endParaRPr lang="en-US" dirty="0"/>
          </a:p>
        </p:txBody>
      </p:sp>
      <p:sp>
        <p:nvSpPr>
          <p:cNvPr id="65"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19</a:t>
            </a:fld>
            <a:endParaRPr lang="en-US" sz="1000" dirty="0">
              <a:solidFill>
                <a:schemeClr val="bg1"/>
              </a:solidFill>
              <a:latin typeface="Arial" charset="0"/>
              <a:ea typeface="ＭＳ Ｐゴシック" pitchFamily="34" charset="-128"/>
              <a:cs typeface="Arial" charset="0"/>
            </a:endParaRPr>
          </a:p>
        </p:txBody>
      </p:sp>
      <p:grpSp>
        <p:nvGrpSpPr>
          <p:cNvPr id="64" name="Group 97">
            <a:extLst>
              <a:ext uri="{FF2B5EF4-FFF2-40B4-BE49-F238E27FC236}">
                <a16:creationId xmlns:a16="http://schemas.microsoft.com/office/drawing/2014/main" id="{317A8F4A-98BE-4273-9F43-3E14A157C4E8}"/>
              </a:ext>
            </a:extLst>
          </p:cNvPr>
          <p:cNvGrpSpPr/>
          <p:nvPr/>
        </p:nvGrpSpPr>
        <p:grpSpPr>
          <a:xfrm>
            <a:off x="323069" y="2212740"/>
            <a:ext cx="2713247" cy="4023360"/>
            <a:chOff x="155425" y="2507280"/>
            <a:chExt cx="2035465" cy="4023360"/>
          </a:xfrm>
        </p:grpSpPr>
        <p:sp>
          <p:nvSpPr>
            <p:cNvPr id="67" name="Rectangle 66">
              <a:extLst>
                <a:ext uri="{FF2B5EF4-FFF2-40B4-BE49-F238E27FC236}">
                  <a16:creationId xmlns:a16="http://schemas.microsoft.com/office/drawing/2014/main" id="{8D86185E-F983-4B1D-8B18-1B3CFE7FA71C}"/>
                </a:ext>
              </a:extLst>
            </p:cNvPr>
            <p:cNvSpPr/>
            <p:nvPr/>
          </p:nvSpPr>
          <p:spPr>
            <a:xfrm>
              <a:off x="155425" y="2507280"/>
              <a:ext cx="2035465" cy="402336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68" name="Rectangle 67">
              <a:extLst>
                <a:ext uri="{FF2B5EF4-FFF2-40B4-BE49-F238E27FC236}">
                  <a16:creationId xmlns:a16="http://schemas.microsoft.com/office/drawing/2014/main" id="{C0FC1FF7-6B0D-40DC-B00D-AF2A92E7F3BE}"/>
                </a:ext>
              </a:extLst>
            </p:cNvPr>
            <p:cNvSpPr/>
            <p:nvPr/>
          </p:nvSpPr>
          <p:spPr>
            <a:xfrm>
              <a:off x="270639" y="3313786"/>
              <a:ext cx="1728225" cy="537670"/>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sz="1050" b="1" kern="0" dirty="0">
                <a:solidFill>
                  <a:srgbClr val="FFFFFF"/>
                </a:solidFill>
                <a:latin typeface="Arial"/>
              </a:endParaRPr>
            </a:p>
          </p:txBody>
        </p:sp>
        <p:sp>
          <p:nvSpPr>
            <p:cNvPr id="69" name="Rectangle 68">
              <a:extLst>
                <a:ext uri="{FF2B5EF4-FFF2-40B4-BE49-F238E27FC236}">
                  <a16:creationId xmlns:a16="http://schemas.microsoft.com/office/drawing/2014/main" id="{8D65E51E-F006-4F50-9E86-EF2522060E71}"/>
                </a:ext>
              </a:extLst>
            </p:cNvPr>
            <p:cNvSpPr/>
            <p:nvPr/>
          </p:nvSpPr>
          <p:spPr>
            <a:xfrm>
              <a:off x="270640" y="5564761"/>
              <a:ext cx="1728225" cy="475779"/>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70" name="Rectangle 69">
              <a:extLst>
                <a:ext uri="{FF2B5EF4-FFF2-40B4-BE49-F238E27FC236}">
                  <a16:creationId xmlns:a16="http://schemas.microsoft.com/office/drawing/2014/main" id="{4CEB9FDE-B7F1-4010-BEFA-C26659B4F5F3}"/>
                </a:ext>
              </a:extLst>
            </p:cNvPr>
            <p:cNvSpPr/>
            <p:nvPr/>
          </p:nvSpPr>
          <p:spPr>
            <a:xfrm>
              <a:off x="270640" y="4312315"/>
              <a:ext cx="1728225" cy="1152150"/>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sz="1050" b="1" kern="0" dirty="0">
                <a:solidFill>
                  <a:srgbClr val="FFFFFF"/>
                </a:solidFill>
                <a:latin typeface="Arial"/>
              </a:endParaRPr>
            </a:p>
          </p:txBody>
        </p:sp>
        <p:sp>
          <p:nvSpPr>
            <p:cNvPr id="71" name="TextBox 70">
              <a:extLst>
                <a:ext uri="{FF2B5EF4-FFF2-40B4-BE49-F238E27FC236}">
                  <a16:creationId xmlns:a16="http://schemas.microsoft.com/office/drawing/2014/main" id="{6074E7D7-6692-4052-802E-C1DFC1F9EBDF}"/>
                </a:ext>
              </a:extLst>
            </p:cNvPr>
            <p:cNvSpPr txBox="1"/>
            <p:nvPr/>
          </p:nvSpPr>
          <p:spPr>
            <a:xfrm>
              <a:off x="347446" y="3275380"/>
              <a:ext cx="88893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sumsub_func</a:t>
              </a:r>
            </a:p>
          </p:txBody>
        </p:sp>
        <p:sp>
          <p:nvSpPr>
            <p:cNvPr id="72" name="TextBox 71">
              <a:extLst>
                <a:ext uri="{FF2B5EF4-FFF2-40B4-BE49-F238E27FC236}">
                  <a16:creationId xmlns:a16="http://schemas.microsoft.com/office/drawing/2014/main" id="{05354BA2-AB5B-482A-9D88-EA056D4F58A8}"/>
                </a:ext>
              </a:extLst>
            </p:cNvPr>
            <p:cNvSpPr txBox="1"/>
            <p:nvPr/>
          </p:nvSpPr>
          <p:spPr>
            <a:xfrm>
              <a:off x="347446" y="4227341"/>
              <a:ext cx="88893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sumsub_func</a:t>
              </a:r>
            </a:p>
          </p:txBody>
        </p:sp>
        <p:sp>
          <p:nvSpPr>
            <p:cNvPr id="73" name="TextBox 72">
              <a:extLst>
                <a:ext uri="{FF2B5EF4-FFF2-40B4-BE49-F238E27FC236}">
                  <a16:creationId xmlns:a16="http://schemas.microsoft.com/office/drawing/2014/main" id="{9554F1DA-7755-499B-A935-72FD9202EA18}"/>
                </a:ext>
              </a:extLst>
            </p:cNvPr>
            <p:cNvSpPr txBox="1"/>
            <p:nvPr/>
          </p:nvSpPr>
          <p:spPr>
            <a:xfrm>
              <a:off x="308796" y="5494706"/>
              <a:ext cx="69051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shift_func</a:t>
              </a:r>
            </a:p>
          </p:txBody>
        </p:sp>
        <p:sp>
          <p:nvSpPr>
            <p:cNvPr id="74" name="TextBox 73">
              <a:extLst>
                <a:ext uri="{FF2B5EF4-FFF2-40B4-BE49-F238E27FC236}">
                  <a16:creationId xmlns:a16="http://schemas.microsoft.com/office/drawing/2014/main" id="{B23C6A86-9CDD-4258-86A8-A8CE70C299F2}"/>
                </a:ext>
              </a:extLst>
            </p:cNvPr>
            <p:cNvSpPr txBox="1"/>
            <p:nvPr/>
          </p:nvSpPr>
          <p:spPr>
            <a:xfrm>
              <a:off x="629180" y="289133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a:t>
              </a:r>
            </a:p>
          </p:txBody>
        </p:sp>
        <p:sp>
          <p:nvSpPr>
            <p:cNvPr id="75" name="Rounded Rectangle 19">
              <a:extLst>
                <a:ext uri="{FF2B5EF4-FFF2-40B4-BE49-F238E27FC236}">
                  <a16:creationId xmlns:a16="http://schemas.microsoft.com/office/drawing/2014/main" id="{37C50261-D824-4BD0-9F9B-1E3A11FED7B1}"/>
                </a:ext>
              </a:extLst>
            </p:cNvPr>
            <p:cNvSpPr/>
            <p:nvPr/>
          </p:nvSpPr>
          <p:spPr>
            <a:xfrm>
              <a:off x="577880" y="3544215"/>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6" name="Rounded Rectangle 20">
              <a:extLst>
                <a:ext uri="{FF2B5EF4-FFF2-40B4-BE49-F238E27FC236}">
                  <a16:creationId xmlns:a16="http://schemas.microsoft.com/office/drawing/2014/main" id="{8B026259-C72F-4738-8C6B-F64235DDEB6C}"/>
                </a:ext>
              </a:extLst>
            </p:cNvPr>
            <p:cNvSpPr/>
            <p:nvPr/>
          </p:nvSpPr>
          <p:spPr>
            <a:xfrm>
              <a:off x="1269170" y="3544215"/>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7" name="TextBox 76">
              <a:extLst>
                <a:ext uri="{FF2B5EF4-FFF2-40B4-BE49-F238E27FC236}">
                  <a16:creationId xmlns:a16="http://schemas.microsoft.com/office/drawing/2014/main" id="{3E70ECBF-0A53-4F5B-B133-345245E83957}"/>
                </a:ext>
              </a:extLst>
            </p:cNvPr>
            <p:cNvSpPr txBox="1"/>
            <p:nvPr/>
          </p:nvSpPr>
          <p:spPr>
            <a:xfrm>
              <a:off x="1313214" y="289133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B</a:t>
              </a:r>
            </a:p>
          </p:txBody>
        </p:sp>
        <p:sp>
          <p:nvSpPr>
            <p:cNvPr id="78" name="Rounded Rectangle 92">
              <a:extLst>
                <a:ext uri="{FF2B5EF4-FFF2-40B4-BE49-F238E27FC236}">
                  <a16:creationId xmlns:a16="http://schemas.microsoft.com/office/drawing/2014/main" id="{5DB78328-289B-403B-83F9-DCF100B8752F}"/>
                </a:ext>
              </a:extLst>
            </p:cNvPr>
            <p:cNvSpPr/>
            <p:nvPr/>
          </p:nvSpPr>
          <p:spPr>
            <a:xfrm>
              <a:off x="577881" y="4479848"/>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9" name="Rounded Rectangle 93">
              <a:extLst>
                <a:ext uri="{FF2B5EF4-FFF2-40B4-BE49-F238E27FC236}">
                  <a16:creationId xmlns:a16="http://schemas.microsoft.com/office/drawing/2014/main" id="{103937BA-B161-4B97-9D3B-383EBBE0B2B3}"/>
                </a:ext>
              </a:extLst>
            </p:cNvPr>
            <p:cNvSpPr/>
            <p:nvPr/>
          </p:nvSpPr>
          <p:spPr>
            <a:xfrm>
              <a:off x="1269171" y="4479848"/>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80" name="Rounded Rectangle 105">
              <a:extLst>
                <a:ext uri="{FF2B5EF4-FFF2-40B4-BE49-F238E27FC236}">
                  <a16:creationId xmlns:a16="http://schemas.microsoft.com/office/drawing/2014/main" id="{C3D13622-DD85-4D0F-89BB-7954FA880A72}"/>
                </a:ext>
              </a:extLst>
            </p:cNvPr>
            <p:cNvSpPr/>
            <p:nvPr/>
          </p:nvSpPr>
          <p:spPr>
            <a:xfrm>
              <a:off x="1192361" y="5771705"/>
              <a:ext cx="576074"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&gt;&gt;2</a:t>
              </a:r>
            </a:p>
          </p:txBody>
        </p:sp>
        <p:sp>
          <p:nvSpPr>
            <p:cNvPr id="81" name="Rounded Rectangle 104">
              <a:extLst>
                <a:ext uri="{FF2B5EF4-FFF2-40B4-BE49-F238E27FC236}">
                  <a16:creationId xmlns:a16="http://schemas.microsoft.com/office/drawing/2014/main" id="{1A4B148C-D129-4BA9-A6E5-750FA1B3E9E1}"/>
                </a:ext>
              </a:extLst>
            </p:cNvPr>
            <p:cNvSpPr/>
            <p:nvPr/>
          </p:nvSpPr>
          <p:spPr>
            <a:xfrm>
              <a:off x="462665" y="5771705"/>
              <a:ext cx="537669"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&gt;&gt;1</a:t>
              </a:r>
            </a:p>
          </p:txBody>
        </p:sp>
        <p:sp>
          <p:nvSpPr>
            <p:cNvPr id="82" name="TextBox 81">
              <a:extLst>
                <a:ext uri="{FF2B5EF4-FFF2-40B4-BE49-F238E27FC236}">
                  <a16:creationId xmlns:a16="http://schemas.microsoft.com/office/drawing/2014/main" id="{DC0F7BE9-A40C-4CEC-8C9D-8F86E6D666F7}"/>
                </a:ext>
              </a:extLst>
            </p:cNvPr>
            <p:cNvSpPr txBox="1"/>
            <p:nvPr/>
          </p:nvSpPr>
          <p:spPr>
            <a:xfrm>
              <a:off x="311835" y="2507280"/>
              <a:ext cx="939444"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add_sub_pass</a:t>
              </a:r>
            </a:p>
          </p:txBody>
        </p:sp>
      </p:grpSp>
      <p:sp>
        <p:nvSpPr>
          <p:cNvPr id="83" name="TextBox 82">
            <a:extLst>
              <a:ext uri="{FF2B5EF4-FFF2-40B4-BE49-F238E27FC236}">
                <a16:creationId xmlns:a16="http://schemas.microsoft.com/office/drawing/2014/main" id="{3EE6DED0-FFF7-4D2A-8551-F34ABEDB7561}"/>
              </a:ext>
            </a:extLst>
          </p:cNvPr>
          <p:cNvSpPr txBox="1"/>
          <p:nvPr/>
        </p:nvSpPr>
        <p:spPr>
          <a:xfrm>
            <a:off x="3126787" y="1968695"/>
            <a:ext cx="5887232" cy="301621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int sumsub_func (int *in1, int *in2, int *outSum, int *outSub) {</a:t>
            </a:r>
          </a:p>
          <a:p>
            <a:pPr defTabSz="914400" fontAlgn="base">
              <a:spcBef>
                <a:spcPct val="0"/>
              </a:spcBef>
              <a:spcAft>
                <a:spcPct val="0"/>
              </a:spcAft>
              <a:defRPr/>
            </a:pPr>
            <a:r>
              <a:rPr lang="en-US" sz="1000" kern="0" dirty="0">
                <a:solidFill>
                  <a:srgbClr val="000000"/>
                </a:solidFill>
                <a:latin typeface="Arial"/>
              </a:rPr>
              <a:t>*outSum = *in1 + *in2;</a:t>
            </a:r>
          </a:p>
          <a:p>
            <a:pPr defTabSz="914400" fontAlgn="base">
              <a:spcBef>
                <a:spcPct val="0"/>
              </a:spcBef>
              <a:spcAft>
                <a:spcPct val="0"/>
              </a:spcAft>
              <a:defRPr/>
            </a:pPr>
            <a:r>
              <a:rPr lang="en-US" sz="1000" kern="0" dirty="0">
                <a:solidFill>
                  <a:srgbClr val="000000"/>
                </a:solidFill>
                <a:latin typeface="Arial"/>
              </a:rPr>
              <a:t>*outSub = *in1 - *in2;</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shift_func (int *in1, int *in2, int *outA, int *outB) {</a:t>
            </a:r>
          </a:p>
          <a:p>
            <a:pPr defTabSz="914400" fontAlgn="base">
              <a:spcBef>
                <a:spcPct val="0"/>
              </a:spcBef>
              <a:spcAft>
                <a:spcPct val="0"/>
              </a:spcAft>
              <a:defRPr/>
            </a:pPr>
            <a:r>
              <a:rPr lang="en-US" sz="1000" kern="0" dirty="0">
                <a:solidFill>
                  <a:srgbClr val="000000"/>
                </a:solidFill>
                <a:latin typeface="Arial"/>
              </a:rPr>
              <a:t>    *outA = *in1 &gt;&gt; 1;</a:t>
            </a:r>
          </a:p>
          <a:p>
            <a:pPr defTabSz="914400" fontAlgn="base">
              <a:spcBef>
                <a:spcPct val="0"/>
              </a:spcBef>
              <a:spcAft>
                <a:spcPct val="0"/>
              </a:spcAft>
              <a:defRPr/>
            </a:pPr>
            <a:r>
              <a:rPr lang="en-US" sz="1000" kern="0" dirty="0">
                <a:solidFill>
                  <a:srgbClr val="000000"/>
                </a:solidFill>
                <a:latin typeface="Arial"/>
              </a:rPr>
              <a:t>    *outB = *in2 &gt;&gt; 2;</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void add_sub_pass(int A, int B, int *C, int *D) {</a:t>
            </a:r>
          </a:p>
          <a:p>
            <a:pPr defTabSz="914400" fontAlgn="base">
              <a:spcBef>
                <a:spcPct val="0"/>
              </a:spcBef>
              <a:spcAft>
                <a:spcPct val="0"/>
              </a:spcAft>
              <a:defRPr/>
            </a:pPr>
            <a:r>
              <a:rPr lang="en-US" sz="1000" kern="0" dirty="0">
                <a:solidFill>
                  <a:srgbClr val="000000"/>
                </a:solidFill>
                <a:latin typeface="Arial"/>
              </a:rPr>
              <a:t>    int apb, amb;</a:t>
            </a:r>
          </a:p>
          <a:p>
            <a:pPr defTabSz="914400" fontAlgn="base">
              <a:spcBef>
                <a:spcPct val="0"/>
              </a:spcBef>
              <a:spcAft>
                <a:spcPct val="0"/>
              </a:spcAft>
              <a:defRPr/>
            </a:pPr>
            <a:r>
              <a:rPr lang="en-US" sz="1000" kern="0" dirty="0">
                <a:solidFill>
                  <a:srgbClr val="000000"/>
                </a:solidFill>
                <a:latin typeface="Arial"/>
              </a:rPr>
              <a:t>    int a2, b2;</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sumsub_func(&amp;A,&amp;B,&amp;apb,&amp;amb);</a:t>
            </a:r>
          </a:p>
          <a:p>
            <a:pPr defTabSz="914400" fontAlgn="base">
              <a:spcBef>
                <a:spcPct val="0"/>
              </a:spcBef>
              <a:spcAft>
                <a:spcPct val="0"/>
              </a:spcAft>
              <a:defRPr/>
            </a:pPr>
            <a:r>
              <a:rPr lang="en-US" sz="1000" kern="0" dirty="0">
                <a:solidFill>
                  <a:srgbClr val="000000"/>
                </a:solidFill>
                <a:latin typeface="Arial"/>
              </a:rPr>
              <a:t>    sumsub_func(&amp;apb,&amp;amb,&amp;a2,&amp;b2);</a:t>
            </a:r>
          </a:p>
          <a:p>
            <a:pPr defTabSz="914400" fontAlgn="base">
              <a:spcBef>
                <a:spcPct val="0"/>
              </a:spcBef>
              <a:spcAft>
                <a:spcPct val="0"/>
              </a:spcAft>
              <a:defRPr/>
            </a:pPr>
            <a:r>
              <a:rPr lang="en-US" sz="1000" kern="0" dirty="0">
                <a:solidFill>
                  <a:srgbClr val="000000"/>
                </a:solidFill>
                <a:latin typeface="Arial"/>
              </a:rPr>
              <a:t>    shift_func(&amp;a2,&amp;b2,C,D);</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a:t>
            </a:r>
          </a:p>
        </p:txBody>
      </p:sp>
      <p:grpSp>
        <p:nvGrpSpPr>
          <p:cNvPr id="84" name="Group 208">
            <a:extLst>
              <a:ext uri="{FF2B5EF4-FFF2-40B4-BE49-F238E27FC236}">
                <a16:creationId xmlns:a16="http://schemas.microsoft.com/office/drawing/2014/main" id="{2B746A3D-B6AB-498F-A99B-0116A71F7F2B}"/>
              </a:ext>
            </a:extLst>
          </p:cNvPr>
          <p:cNvGrpSpPr/>
          <p:nvPr/>
        </p:nvGrpSpPr>
        <p:grpSpPr>
          <a:xfrm>
            <a:off x="7119868" y="2353660"/>
            <a:ext cx="4812173" cy="1689820"/>
            <a:chOff x="5340100" y="2660900"/>
            <a:chExt cx="3610070" cy="1689820"/>
          </a:xfrm>
        </p:grpSpPr>
        <p:sp>
          <p:nvSpPr>
            <p:cNvPr id="85" name="Rectangle 84">
              <a:extLst>
                <a:ext uri="{FF2B5EF4-FFF2-40B4-BE49-F238E27FC236}">
                  <a16:creationId xmlns:a16="http://schemas.microsoft.com/office/drawing/2014/main" id="{1859F0B2-FF93-40A6-B4A0-9D371CD48AEB}"/>
                </a:ext>
              </a:extLst>
            </p:cNvPr>
            <p:cNvSpPr/>
            <p:nvPr/>
          </p:nvSpPr>
          <p:spPr>
            <a:xfrm>
              <a:off x="6914705" y="2660900"/>
              <a:ext cx="2035465"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86" name="TextBox 85">
              <a:extLst>
                <a:ext uri="{FF2B5EF4-FFF2-40B4-BE49-F238E27FC236}">
                  <a16:creationId xmlns:a16="http://schemas.microsoft.com/office/drawing/2014/main" id="{F0FC4AF3-2D7F-4CDD-AA6F-EB57E364504D}"/>
                </a:ext>
              </a:extLst>
            </p:cNvPr>
            <p:cNvSpPr txBox="1"/>
            <p:nvPr/>
          </p:nvSpPr>
          <p:spPr>
            <a:xfrm>
              <a:off x="7071116" y="2660900"/>
              <a:ext cx="939444"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add_sub_pass</a:t>
              </a:r>
            </a:p>
          </p:txBody>
        </p:sp>
        <p:sp>
          <p:nvSpPr>
            <p:cNvPr id="87" name="TextBox 86">
              <a:extLst>
                <a:ext uri="{FF2B5EF4-FFF2-40B4-BE49-F238E27FC236}">
                  <a16:creationId xmlns:a16="http://schemas.microsoft.com/office/drawing/2014/main" id="{67A83117-7D5A-4DAA-88C3-35FF3E7830E4}"/>
                </a:ext>
              </a:extLst>
            </p:cNvPr>
            <p:cNvSpPr txBox="1"/>
            <p:nvPr/>
          </p:nvSpPr>
          <p:spPr>
            <a:xfrm>
              <a:off x="7388460" y="3083355"/>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a:t>
              </a:r>
            </a:p>
          </p:txBody>
        </p:sp>
        <p:sp>
          <p:nvSpPr>
            <p:cNvPr id="88" name="TextBox 87">
              <a:extLst>
                <a:ext uri="{FF2B5EF4-FFF2-40B4-BE49-F238E27FC236}">
                  <a16:creationId xmlns:a16="http://schemas.microsoft.com/office/drawing/2014/main" id="{15FD89B7-1F5D-4427-825C-D481E394E854}"/>
                </a:ext>
              </a:extLst>
            </p:cNvPr>
            <p:cNvSpPr txBox="1"/>
            <p:nvPr/>
          </p:nvSpPr>
          <p:spPr>
            <a:xfrm>
              <a:off x="8072495" y="3083355"/>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B</a:t>
              </a:r>
            </a:p>
          </p:txBody>
        </p:sp>
        <p:sp>
          <p:nvSpPr>
            <p:cNvPr id="90" name="TextBox 89">
              <a:extLst>
                <a:ext uri="{FF2B5EF4-FFF2-40B4-BE49-F238E27FC236}">
                  <a16:creationId xmlns:a16="http://schemas.microsoft.com/office/drawing/2014/main" id="{72184D47-CCF8-4501-9417-4382F104CCD6}"/>
                </a:ext>
              </a:extLst>
            </p:cNvPr>
            <p:cNvSpPr txBox="1"/>
            <p:nvPr/>
          </p:nvSpPr>
          <p:spPr>
            <a:xfrm>
              <a:off x="7388436" y="381305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a:t>
              </a:r>
            </a:p>
          </p:txBody>
        </p:sp>
        <p:sp>
          <p:nvSpPr>
            <p:cNvPr id="98" name="TextBox 97">
              <a:extLst>
                <a:ext uri="{FF2B5EF4-FFF2-40B4-BE49-F238E27FC236}">
                  <a16:creationId xmlns:a16="http://schemas.microsoft.com/office/drawing/2014/main" id="{7BE4F0A6-95F4-4FA2-B52F-4BB23EA67978}"/>
                </a:ext>
              </a:extLst>
            </p:cNvPr>
            <p:cNvSpPr txBox="1"/>
            <p:nvPr/>
          </p:nvSpPr>
          <p:spPr>
            <a:xfrm>
              <a:off x="7988707" y="3813050"/>
              <a:ext cx="386264"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B&gt;&gt;1</a:t>
              </a:r>
            </a:p>
          </p:txBody>
        </p:sp>
        <p:cxnSp>
          <p:nvCxnSpPr>
            <p:cNvPr id="99" name="Straight Arrow Connector 98">
              <a:extLst>
                <a:ext uri="{FF2B5EF4-FFF2-40B4-BE49-F238E27FC236}">
                  <a16:creationId xmlns:a16="http://schemas.microsoft.com/office/drawing/2014/main" id="{C1778736-876A-46D4-8F50-CDEE6BA4FD26}"/>
                </a:ext>
              </a:extLst>
            </p:cNvPr>
            <p:cNvCxnSpPr>
              <a:stCxn id="88" idx="2"/>
              <a:endCxn id="98" idx="0"/>
            </p:cNvCxnSpPr>
            <p:nvPr/>
          </p:nvCxnSpPr>
          <p:spPr>
            <a:xfrm>
              <a:off x="8178441" y="3337271"/>
              <a:ext cx="3398" cy="475779"/>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00" name="Straight Arrow Connector 99">
              <a:extLst>
                <a:ext uri="{FF2B5EF4-FFF2-40B4-BE49-F238E27FC236}">
                  <a16:creationId xmlns:a16="http://schemas.microsoft.com/office/drawing/2014/main" id="{A2007A0F-5432-42EB-A303-1C0B29ED373B}"/>
                </a:ext>
              </a:extLst>
            </p:cNvPr>
            <p:cNvCxnSpPr>
              <a:stCxn id="87" idx="2"/>
              <a:endCxn id="90" idx="0"/>
            </p:cNvCxnSpPr>
            <p:nvPr/>
          </p:nvCxnSpPr>
          <p:spPr>
            <a:xfrm flipH="1">
              <a:off x="7494383" y="3337271"/>
              <a:ext cx="24" cy="475779"/>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07" name="Straight Arrow Connector 106">
              <a:extLst>
                <a:ext uri="{FF2B5EF4-FFF2-40B4-BE49-F238E27FC236}">
                  <a16:creationId xmlns:a16="http://schemas.microsoft.com/office/drawing/2014/main" id="{F1C88932-7FF7-49E2-AB90-4F49BCA9C2A9}"/>
                </a:ext>
              </a:extLst>
            </p:cNvPr>
            <p:cNvCxnSpPr/>
            <p:nvPr/>
          </p:nvCxnSpPr>
          <p:spPr>
            <a:xfrm>
              <a:off x="6300229" y="4235504"/>
              <a:ext cx="806501" cy="1"/>
            </a:xfrm>
            <a:prstGeom prst="straightConnector1">
              <a:avLst/>
            </a:prstGeom>
            <a:solidFill>
              <a:srgbClr val="B20838">
                <a:lumMod val="20000"/>
                <a:lumOff val="80000"/>
              </a:srgbClr>
            </a:solidFill>
            <a:ln w="25400" cap="flat" cmpd="sng" algn="ctr">
              <a:solidFill>
                <a:srgbClr val="B20838"/>
              </a:solidFill>
              <a:prstDash val="solid"/>
              <a:tailEnd type="arrow"/>
            </a:ln>
            <a:effectLst/>
          </p:spPr>
        </p:cxnSp>
        <p:sp>
          <p:nvSpPr>
            <p:cNvPr id="108" name="TextBox 107">
              <a:extLst>
                <a:ext uri="{FF2B5EF4-FFF2-40B4-BE49-F238E27FC236}">
                  <a16:creationId xmlns:a16="http://schemas.microsoft.com/office/drawing/2014/main" id="{9E10A30A-9414-43B4-944D-93172539B152}"/>
                </a:ext>
              </a:extLst>
            </p:cNvPr>
            <p:cNvSpPr txBox="1"/>
            <p:nvPr/>
          </p:nvSpPr>
          <p:spPr>
            <a:xfrm>
              <a:off x="5340100" y="4073721"/>
              <a:ext cx="1305770" cy="276999"/>
            </a:xfrm>
            <a:prstGeom prst="rect">
              <a:avLst/>
            </a:prstGeom>
            <a:solidFill>
              <a:srgbClr val="B20838">
                <a:lumMod val="20000"/>
                <a:lumOff val="80000"/>
              </a:srgbClr>
            </a:solidFill>
            <a:ln w="25400" cap="flat" cmpd="sng" algn="ctr">
              <a:solidFill>
                <a:srgbClr val="B20838"/>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000000"/>
                  </a:solidFill>
                  <a:latin typeface="Arial"/>
                </a:rPr>
                <a:t>Zero Area</a:t>
              </a:r>
            </a:p>
          </p:txBody>
        </p:sp>
      </p:grpSp>
      <p:sp>
        <p:nvSpPr>
          <p:cNvPr id="109" name="TextBox 108">
            <a:extLst>
              <a:ext uri="{FF2B5EF4-FFF2-40B4-BE49-F238E27FC236}">
                <a16:creationId xmlns:a16="http://schemas.microsoft.com/office/drawing/2014/main" id="{4BBB7F89-013F-484A-B082-09A078399F89}"/>
              </a:ext>
            </a:extLst>
          </p:cNvPr>
          <p:cNvSpPr txBox="1"/>
          <p:nvPr/>
        </p:nvSpPr>
        <p:spPr>
          <a:xfrm>
            <a:off x="6505548" y="5067105"/>
            <a:ext cx="4100541"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Inlining allows optimization to be performed across function hierarchies</a:t>
            </a:r>
          </a:p>
        </p:txBody>
      </p:sp>
      <p:sp>
        <p:nvSpPr>
          <p:cNvPr id="110" name="TextBox 109">
            <a:extLst>
              <a:ext uri="{FF2B5EF4-FFF2-40B4-BE49-F238E27FC236}">
                <a16:creationId xmlns:a16="http://schemas.microsoft.com/office/drawing/2014/main" id="{69BFC29D-6E7F-4C7B-AAA8-71B338079A1E}"/>
              </a:ext>
            </a:extLst>
          </p:cNvPr>
          <p:cNvSpPr txBox="1"/>
          <p:nvPr/>
        </p:nvSpPr>
        <p:spPr>
          <a:xfrm>
            <a:off x="854414" y="1892800"/>
            <a:ext cx="1245854" cy="338554"/>
          </a:xfrm>
          <a:prstGeom prst="rect">
            <a:avLst/>
          </a:prstGeom>
          <a:noFill/>
        </p:spPr>
        <p:txBody>
          <a:bodyPr wrap="none" rtlCol="0">
            <a:spAutoFit/>
          </a:bodyPr>
          <a:lstStyle/>
          <a:p>
            <a:pPr algn="ctr" defTabSz="914400" fontAlgn="base">
              <a:spcBef>
                <a:spcPct val="0"/>
              </a:spcBef>
              <a:spcAft>
                <a:spcPct val="0"/>
              </a:spcAft>
              <a:defRPr/>
            </a:pPr>
            <a:r>
              <a:rPr lang="en-US" sz="1600" b="1" u="sng" kern="0" dirty="0">
                <a:solidFill>
                  <a:srgbClr val="000000"/>
                </a:solidFill>
              </a:rPr>
              <a:t>No Inlining</a:t>
            </a:r>
          </a:p>
        </p:txBody>
      </p:sp>
      <p:sp>
        <p:nvSpPr>
          <p:cNvPr id="111" name="TextBox 110">
            <a:extLst>
              <a:ext uri="{FF2B5EF4-FFF2-40B4-BE49-F238E27FC236}">
                <a16:creationId xmlns:a16="http://schemas.microsoft.com/office/drawing/2014/main" id="{55E2C5E7-1DC1-4E82-8A40-0F5EB150D4D1}"/>
              </a:ext>
            </a:extLst>
          </p:cNvPr>
          <p:cNvSpPr txBox="1"/>
          <p:nvPr/>
        </p:nvSpPr>
        <p:spPr>
          <a:xfrm>
            <a:off x="9875971" y="1892800"/>
            <a:ext cx="915635" cy="338554"/>
          </a:xfrm>
          <a:prstGeom prst="rect">
            <a:avLst/>
          </a:prstGeom>
          <a:noFill/>
        </p:spPr>
        <p:txBody>
          <a:bodyPr wrap="none" rtlCol="0">
            <a:spAutoFit/>
          </a:bodyPr>
          <a:lstStyle/>
          <a:p>
            <a:pPr algn="ctr" defTabSz="914400" fontAlgn="base">
              <a:spcBef>
                <a:spcPct val="0"/>
              </a:spcBef>
              <a:spcAft>
                <a:spcPct val="0"/>
              </a:spcAft>
              <a:defRPr/>
            </a:pPr>
            <a:r>
              <a:rPr lang="en-US" sz="1600" b="1" u="sng" kern="0" dirty="0">
                <a:solidFill>
                  <a:srgbClr val="000000"/>
                </a:solidFill>
              </a:rPr>
              <a:t>Inlining</a:t>
            </a:r>
          </a:p>
        </p:txBody>
      </p:sp>
      <p:grpSp>
        <p:nvGrpSpPr>
          <p:cNvPr id="113" name="Group 68">
            <a:extLst>
              <a:ext uri="{FF2B5EF4-FFF2-40B4-BE49-F238E27FC236}">
                <a16:creationId xmlns:a16="http://schemas.microsoft.com/office/drawing/2014/main" id="{8D7EA270-4F1A-4A8C-9CB7-62255BEAFF18}"/>
              </a:ext>
            </a:extLst>
          </p:cNvPr>
          <p:cNvGrpSpPr/>
          <p:nvPr/>
        </p:nvGrpSpPr>
        <p:grpSpPr>
          <a:xfrm>
            <a:off x="3024404" y="5080417"/>
            <a:ext cx="2252505" cy="461665"/>
            <a:chOff x="2267701" y="5387655"/>
            <a:chExt cx="1689819" cy="461665"/>
          </a:xfrm>
        </p:grpSpPr>
        <p:cxnSp>
          <p:nvCxnSpPr>
            <p:cNvPr id="114" name="Straight Arrow Connector 113">
              <a:extLst>
                <a:ext uri="{FF2B5EF4-FFF2-40B4-BE49-F238E27FC236}">
                  <a16:creationId xmlns:a16="http://schemas.microsoft.com/office/drawing/2014/main" id="{474BF347-F447-4CEC-9583-6C394A514195}"/>
                </a:ext>
              </a:extLst>
            </p:cNvPr>
            <p:cNvCxnSpPr/>
            <p:nvPr/>
          </p:nvCxnSpPr>
          <p:spPr>
            <a:xfrm rot="10800000" flipV="1">
              <a:off x="2267701" y="5579679"/>
              <a:ext cx="1344177" cy="38406"/>
            </a:xfrm>
            <a:prstGeom prst="straightConnector1">
              <a:avLst/>
            </a:prstGeom>
            <a:solidFill>
              <a:srgbClr val="B20838">
                <a:lumMod val="20000"/>
                <a:lumOff val="80000"/>
              </a:srgbClr>
            </a:solidFill>
            <a:ln w="25400" cap="flat" cmpd="sng" algn="ctr">
              <a:solidFill>
                <a:srgbClr val="B20838"/>
              </a:solidFill>
              <a:prstDash val="solid"/>
              <a:tailEnd type="arrow"/>
            </a:ln>
            <a:effectLst/>
          </p:spPr>
        </p:cxnSp>
        <p:sp>
          <p:nvSpPr>
            <p:cNvPr id="115" name="TextBox 114">
              <a:extLst>
                <a:ext uri="{FF2B5EF4-FFF2-40B4-BE49-F238E27FC236}">
                  <a16:creationId xmlns:a16="http://schemas.microsoft.com/office/drawing/2014/main" id="{610909D4-4795-4E24-9A9D-6C3274D03641}"/>
                </a:ext>
              </a:extLst>
            </p:cNvPr>
            <p:cNvSpPr txBox="1"/>
            <p:nvPr/>
          </p:nvSpPr>
          <p:spPr>
            <a:xfrm>
              <a:off x="2651750" y="5387655"/>
              <a:ext cx="1305770" cy="461665"/>
            </a:xfrm>
            <a:prstGeom prst="rect">
              <a:avLst/>
            </a:prstGeom>
            <a:solidFill>
              <a:srgbClr val="B20838">
                <a:lumMod val="20000"/>
                <a:lumOff val="80000"/>
              </a:srgbClr>
            </a:solidFill>
            <a:ln w="25400" cap="flat" cmpd="sng" algn="ctr">
              <a:solidFill>
                <a:srgbClr val="B20838"/>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000000"/>
                  </a:solidFill>
                  <a:latin typeface="Arial"/>
                </a:rPr>
                <a:t>2 Adders</a:t>
              </a:r>
            </a:p>
            <a:p>
              <a:pPr algn="ctr" defTabSz="914400" fontAlgn="base">
                <a:spcBef>
                  <a:spcPct val="0"/>
                </a:spcBef>
                <a:spcAft>
                  <a:spcPct val="0"/>
                </a:spcAft>
                <a:defRPr/>
              </a:pPr>
              <a:r>
                <a:rPr lang="en-US" sz="1200" kern="0" dirty="0">
                  <a:solidFill>
                    <a:srgbClr val="000000"/>
                  </a:solidFill>
                  <a:latin typeface="Arial"/>
                </a:rPr>
                <a:t>2 Subtractors</a:t>
              </a:r>
            </a:p>
          </p:txBody>
        </p:sp>
      </p:grpSp>
      <p:cxnSp>
        <p:nvCxnSpPr>
          <p:cNvPr id="116" name="Straight Arrow Connector 115">
            <a:extLst>
              <a:ext uri="{FF2B5EF4-FFF2-40B4-BE49-F238E27FC236}">
                <a16:creationId xmlns:a16="http://schemas.microsoft.com/office/drawing/2014/main" id="{E0A21326-D797-47FF-903C-25E86BDEC929}"/>
              </a:ext>
            </a:extLst>
          </p:cNvPr>
          <p:cNvCxnSpPr/>
          <p:nvPr/>
        </p:nvCxnSpPr>
        <p:spPr>
          <a:xfrm rot="16200000" flipH="1">
            <a:off x="841336" y="3806546"/>
            <a:ext cx="499267" cy="4"/>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17" name="Straight Arrow Connector 116">
            <a:extLst>
              <a:ext uri="{FF2B5EF4-FFF2-40B4-BE49-F238E27FC236}">
                <a16:creationId xmlns:a16="http://schemas.microsoft.com/office/drawing/2014/main" id="{8FC73FE8-CF7B-4F7E-9C5A-28FB6B7D189D}"/>
              </a:ext>
            </a:extLst>
          </p:cNvPr>
          <p:cNvCxnSpPr/>
          <p:nvPr/>
        </p:nvCxnSpPr>
        <p:spPr>
          <a:xfrm rot="5400000">
            <a:off x="1762820" y="3806546"/>
            <a:ext cx="499265" cy="5"/>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18" name="TextBox 117">
            <a:extLst>
              <a:ext uri="{FF2B5EF4-FFF2-40B4-BE49-F238E27FC236}">
                <a16:creationId xmlns:a16="http://schemas.microsoft.com/office/drawing/2014/main" id="{C43BA3A2-E94D-4316-A948-AA1BD1B507A6}"/>
              </a:ext>
            </a:extLst>
          </p:cNvPr>
          <p:cNvSpPr txBox="1"/>
          <p:nvPr/>
        </p:nvSpPr>
        <p:spPr>
          <a:xfrm>
            <a:off x="868738" y="3633725"/>
            <a:ext cx="458780"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A+B</a:t>
            </a:r>
          </a:p>
        </p:txBody>
      </p:sp>
      <p:sp>
        <p:nvSpPr>
          <p:cNvPr id="119" name="TextBox 118">
            <a:extLst>
              <a:ext uri="{FF2B5EF4-FFF2-40B4-BE49-F238E27FC236}">
                <a16:creationId xmlns:a16="http://schemas.microsoft.com/office/drawing/2014/main" id="{E41B9279-59FB-4FFD-BA85-51AE42BC91B2}"/>
              </a:ext>
            </a:extLst>
          </p:cNvPr>
          <p:cNvSpPr txBox="1"/>
          <p:nvPr/>
        </p:nvSpPr>
        <p:spPr>
          <a:xfrm>
            <a:off x="1816234" y="3633725"/>
            <a:ext cx="425116"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A-B</a:t>
            </a:r>
          </a:p>
        </p:txBody>
      </p:sp>
      <p:cxnSp>
        <p:nvCxnSpPr>
          <p:cNvPr id="120" name="Straight Arrow Connector 119">
            <a:extLst>
              <a:ext uri="{FF2B5EF4-FFF2-40B4-BE49-F238E27FC236}">
                <a16:creationId xmlns:a16="http://schemas.microsoft.com/office/drawing/2014/main" id="{5CD775BE-AA3A-4EDF-9234-3AFBF7F40C1F}"/>
              </a:ext>
            </a:extLst>
          </p:cNvPr>
          <p:cNvCxnSpPr/>
          <p:nvPr/>
        </p:nvCxnSpPr>
        <p:spPr>
          <a:xfrm rot="5400000">
            <a:off x="993759" y="2955608"/>
            <a:ext cx="199252" cy="4835"/>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21" name="Straight Arrow Connector 120">
            <a:extLst>
              <a:ext uri="{FF2B5EF4-FFF2-40B4-BE49-F238E27FC236}">
                <a16:creationId xmlns:a16="http://schemas.microsoft.com/office/drawing/2014/main" id="{9CD2BF93-B14A-488B-BFC9-84F70D4FF7B5}"/>
              </a:ext>
            </a:extLst>
          </p:cNvPr>
          <p:cNvCxnSpPr/>
          <p:nvPr/>
        </p:nvCxnSpPr>
        <p:spPr>
          <a:xfrm rot="16200000" flipH="1">
            <a:off x="1910403" y="2955604"/>
            <a:ext cx="199252" cy="4840"/>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22" name="TextBox 121">
            <a:extLst>
              <a:ext uri="{FF2B5EF4-FFF2-40B4-BE49-F238E27FC236}">
                <a16:creationId xmlns:a16="http://schemas.microsoft.com/office/drawing/2014/main" id="{D9C10406-F2B8-456B-9BDF-5110E7D84E4F}"/>
              </a:ext>
            </a:extLst>
          </p:cNvPr>
          <p:cNvSpPr txBox="1"/>
          <p:nvPr/>
        </p:nvSpPr>
        <p:spPr>
          <a:xfrm>
            <a:off x="6505548" y="5656185"/>
            <a:ext cx="4087841"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rPr>
              <a:t>Like RTL ungrouping, too much inlining can create a lot of logic and slow runtime</a:t>
            </a:r>
          </a:p>
        </p:txBody>
      </p:sp>
      <p:grpSp>
        <p:nvGrpSpPr>
          <p:cNvPr id="123" name="Group 99">
            <a:extLst>
              <a:ext uri="{FF2B5EF4-FFF2-40B4-BE49-F238E27FC236}">
                <a16:creationId xmlns:a16="http://schemas.microsoft.com/office/drawing/2014/main" id="{46C9E740-56A4-40A3-BD4A-0877171EE048}"/>
              </a:ext>
            </a:extLst>
          </p:cNvPr>
          <p:cNvGrpSpPr/>
          <p:nvPr/>
        </p:nvGrpSpPr>
        <p:grpSpPr>
          <a:xfrm>
            <a:off x="667293" y="4477631"/>
            <a:ext cx="1652317" cy="807513"/>
            <a:chOff x="413660" y="4772169"/>
            <a:chExt cx="1239560" cy="807513"/>
          </a:xfrm>
        </p:grpSpPr>
        <p:cxnSp>
          <p:nvCxnSpPr>
            <p:cNvPr id="124" name="Straight Arrow Connector 123">
              <a:extLst>
                <a:ext uri="{FF2B5EF4-FFF2-40B4-BE49-F238E27FC236}">
                  <a16:creationId xmlns:a16="http://schemas.microsoft.com/office/drawing/2014/main" id="{3969A447-D406-4A90-935F-E85A159C4F00}"/>
                </a:ext>
              </a:extLst>
            </p:cNvPr>
            <p:cNvCxnSpPr/>
            <p:nvPr/>
          </p:nvCxnSpPr>
          <p:spPr>
            <a:xfrm rot="5400000">
              <a:off x="616284" y="5464466"/>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25" name="TextBox 124">
              <a:extLst>
                <a:ext uri="{FF2B5EF4-FFF2-40B4-BE49-F238E27FC236}">
                  <a16:creationId xmlns:a16="http://schemas.microsoft.com/office/drawing/2014/main" id="{CAF32D38-B486-4676-B6BB-86DE61E85C06}"/>
                </a:ext>
              </a:extLst>
            </p:cNvPr>
            <p:cNvSpPr txBox="1"/>
            <p:nvPr/>
          </p:nvSpPr>
          <p:spPr>
            <a:xfrm>
              <a:off x="536867" y="4772169"/>
              <a:ext cx="344174" cy="577081"/>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A+B</a:t>
              </a:r>
            </a:p>
            <a:p>
              <a:pPr algn="ctr" defTabSz="914400" fontAlgn="base">
                <a:spcBef>
                  <a:spcPct val="0"/>
                </a:spcBef>
                <a:spcAft>
                  <a:spcPct val="0"/>
                </a:spcAft>
                <a:defRPr/>
              </a:pPr>
              <a:r>
                <a:rPr lang="en-US" sz="1050" b="1" kern="0" dirty="0">
                  <a:solidFill>
                    <a:srgbClr val="000000"/>
                  </a:solidFill>
                </a:rPr>
                <a:t>A-B</a:t>
              </a:r>
            </a:p>
            <a:p>
              <a:pPr algn="ctr" defTabSz="914400" fontAlgn="base">
                <a:spcBef>
                  <a:spcPct val="0"/>
                </a:spcBef>
                <a:spcAft>
                  <a:spcPct val="0"/>
                </a:spcAft>
                <a:defRPr/>
              </a:pPr>
              <a:r>
                <a:rPr lang="en-US" sz="1050" b="1" kern="0" dirty="0">
                  <a:solidFill>
                    <a:srgbClr val="000000"/>
                  </a:solidFill>
                </a:rPr>
                <a:t>2A</a:t>
              </a:r>
            </a:p>
          </p:txBody>
        </p:sp>
        <p:sp>
          <p:nvSpPr>
            <p:cNvPr id="126" name="TextBox 125">
              <a:extLst>
                <a:ext uri="{FF2B5EF4-FFF2-40B4-BE49-F238E27FC236}">
                  <a16:creationId xmlns:a16="http://schemas.microsoft.com/office/drawing/2014/main" id="{57FCE6B9-FD9C-4875-B312-DCC1AC60AC79}"/>
                </a:ext>
              </a:extLst>
            </p:cNvPr>
            <p:cNvSpPr txBox="1"/>
            <p:nvPr/>
          </p:nvSpPr>
          <p:spPr>
            <a:xfrm>
              <a:off x="1273652" y="4772169"/>
              <a:ext cx="344174" cy="577081"/>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A+B</a:t>
              </a:r>
            </a:p>
            <a:p>
              <a:pPr algn="ctr" defTabSz="914400" fontAlgn="base">
                <a:spcBef>
                  <a:spcPct val="0"/>
                </a:spcBef>
                <a:spcAft>
                  <a:spcPct val="0"/>
                </a:spcAft>
                <a:defRPr/>
              </a:pPr>
              <a:r>
                <a:rPr lang="en-US" sz="1050" b="1" kern="0" dirty="0">
                  <a:solidFill>
                    <a:srgbClr val="000000"/>
                  </a:solidFill>
                </a:rPr>
                <a:t>A-B</a:t>
              </a:r>
            </a:p>
            <a:p>
              <a:pPr algn="ctr" defTabSz="914400" fontAlgn="base">
                <a:spcBef>
                  <a:spcPct val="0"/>
                </a:spcBef>
                <a:spcAft>
                  <a:spcPct val="0"/>
                </a:spcAft>
                <a:defRPr/>
              </a:pPr>
              <a:r>
                <a:rPr lang="en-US" sz="1050" b="1" kern="0" dirty="0">
                  <a:solidFill>
                    <a:srgbClr val="000000"/>
                  </a:solidFill>
                </a:rPr>
                <a:t>2B</a:t>
              </a:r>
            </a:p>
          </p:txBody>
        </p:sp>
        <p:cxnSp>
          <p:nvCxnSpPr>
            <p:cNvPr id="128" name="Straight Connector 127">
              <a:extLst>
                <a:ext uri="{FF2B5EF4-FFF2-40B4-BE49-F238E27FC236}">
                  <a16:creationId xmlns:a16="http://schemas.microsoft.com/office/drawing/2014/main" id="{D7F3CA81-2285-4FD9-A311-243E4B818063}"/>
                </a:ext>
              </a:extLst>
            </p:cNvPr>
            <p:cNvCxnSpPr/>
            <p:nvPr/>
          </p:nvCxnSpPr>
          <p:spPr>
            <a:xfrm flipV="1">
              <a:off x="501070" y="51386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29" name="Straight Connector 128">
              <a:extLst>
                <a:ext uri="{FF2B5EF4-FFF2-40B4-BE49-F238E27FC236}">
                  <a16:creationId xmlns:a16="http://schemas.microsoft.com/office/drawing/2014/main" id="{ABD80728-4E0A-4523-8528-C8DB7DAFA977}"/>
                </a:ext>
              </a:extLst>
            </p:cNvPr>
            <p:cNvCxnSpPr/>
            <p:nvPr/>
          </p:nvCxnSpPr>
          <p:spPr>
            <a:xfrm flipV="1">
              <a:off x="501070" y="52910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39508664-DDB8-4B79-8DE1-1CE2CEE0F908}"/>
                </a:ext>
              </a:extLst>
            </p:cNvPr>
            <p:cNvCxnSpPr/>
            <p:nvPr/>
          </p:nvCxnSpPr>
          <p:spPr>
            <a:xfrm flipV="1">
              <a:off x="1269170" y="51386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0E51D28F-05FE-4A49-9F64-9492E7531FDE}"/>
                </a:ext>
              </a:extLst>
            </p:cNvPr>
            <p:cNvCxnSpPr/>
            <p:nvPr/>
          </p:nvCxnSpPr>
          <p:spPr>
            <a:xfrm flipV="1">
              <a:off x="1269170" y="52910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sp>
          <p:nvSpPr>
            <p:cNvPr id="134" name="TextBox 133">
              <a:extLst>
                <a:ext uri="{FF2B5EF4-FFF2-40B4-BE49-F238E27FC236}">
                  <a16:creationId xmlns:a16="http://schemas.microsoft.com/office/drawing/2014/main" id="{F848C4F9-BA42-4B3A-B613-6B865D13CB1A}"/>
                </a:ext>
              </a:extLst>
            </p:cNvPr>
            <p:cNvSpPr txBox="1"/>
            <p:nvPr/>
          </p:nvSpPr>
          <p:spPr>
            <a:xfrm>
              <a:off x="413660" y="4810574"/>
              <a:ext cx="239551"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a:t>
              </a:r>
            </a:p>
          </p:txBody>
        </p:sp>
        <p:sp>
          <p:nvSpPr>
            <p:cNvPr id="135" name="TextBox 134">
              <a:extLst>
                <a:ext uri="{FF2B5EF4-FFF2-40B4-BE49-F238E27FC236}">
                  <a16:creationId xmlns:a16="http://schemas.microsoft.com/office/drawing/2014/main" id="{67F36F5D-2A9B-41DC-A0C2-16AF5053CC2D}"/>
                </a:ext>
              </a:extLst>
            </p:cNvPr>
            <p:cNvSpPr txBox="1"/>
            <p:nvPr/>
          </p:nvSpPr>
          <p:spPr>
            <a:xfrm>
              <a:off x="1193855" y="4810574"/>
              <a:ext cx="196259"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rPr>
                <a:t>-</a:t>
              </a:r>
            </a:p>
          </p:txBody>
        </p:sp>
        <p:cxnSp>
          <p:nvCxnSpPr>
            <p:cNvPr id="136" name="Straight Arrow Connector 135">
              <a:extLst>
                <a:ext uri="{FF2B5EF4-FFF2-40B4-BE49-F238E27FC236}">
                  <a16:creationId xmlns:a16="http://schemas.microsoft.com/office/drawing/2014/main" id="{34204E82-41B7-4F00-B4C6-39FDF4581800}"/>
                </a:ext>
              </a:extLst>
            </p:cNvPr>
            <p:cNvCxnSpPr/>
            <p:nvPr/>
          </p:nvCxnSpPr>
          <p:spPr>
            <a:xfrm rot="5400000">
              <a:off x="1307575" y="5464465"/>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grpSp>
      <p:grpSp>
        <p:nvGrpSpPr>
          <p:cNvPr id="137" name="Group 106">
            <a:extLst>
              <a:ext uri="{FF2B5EF4-FFF2-40B4-BE49-F238E27FC236}">
                <a16:creationId xmlns:a16="http://schemas.microsoft.com/office/drawing/2014/main" id="{FBF87DA8-D4A4-415C-AF02-402F7A5E3CDA}"/>
              </a:ext>
            </a:extLst>
          </p:cNvPr>
          <p:cNvGrpSpPr/>
          <p:nvPr/>
        </p:nvGrpSpPr>
        <p:grpSpPr>
          <a:xfrm>
            <a:off x="954547" y="5707595"/>
            <a:ext cx="1381723" cy="460860"/>
            <a:chOff x="629157" y="6002135"/>
            <a:chExt cx="1036562" cy="460860"/>
          </a:xfrm>
        </p:grpSpPr>
        <p:sp>
          <p:nvSpPr>
            <p:cNvPr id="138" name="TextBox 137">
              <a:extLst>
                <a:ext uri="{FF2B5EF4-FFF2-40B4-BE49-F238E27FC236}">
                  <a16:creationId xmlns:a16="http://schemas.microsoft.com/office/drawing/2014/main" id="{CFDB369B-C6A1-4F42-8704-9789128DB9DB}"/>
                </a:ext>
              </a:extLst>
            </p:cNvPr>
            <p:cNvSpPr txBox="1"/>
            <p:nvPr/>
          </p:nvSpPr>
          <p:spPr>
            <a:xfrm>
              <a:off x="629157" y="6209079"/>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A</a:t>
              </a:r>
            </a:p>
          </p:txBody>
        </p:sp>
        <p:sp>
          <p:nvSpPr>
            <p:cNvPr id="139" name="TextBox 138">
              <a:extLst>
                <a:ext uri="{FF2B5EF4-FFF2-40B4-BE49-F238E27FC236}">
                  <a16:creationId xmlns:a16="http://schemas.microsoft.com/office/drawing/2014/main" id="{572B0712-4430-45AE-9BFD-3738E0760853}"/>
                </a:ext>
              </a:extLst>
            </p:cNvPr>
            <p:cNvSpPr txBox="1"/>
            <p:nvPr/>
          </p:nvSpPr>
          <p:spPr>
            <a:xfrm>
              <a:off x="1279455" y="6209079"/>
              <a:ext cx="386264"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rPr>
                <a:t>B&gt;&gt;1</a:t>
              </a:r>
            </a:p>
          </p:txBody>
        </p:sp>
        <p:cxnSp>
          <p:nvCxnSpPr>
            <p:cNvPr id="140" name="Straight Arrow Connector 139">
              <a:extLst>
                <a:ext uri="{FF2B5EF4-FFF2-40B4-BE49-F238E27FC236}">
                  <a16:creationId xmlns:a16="http://schemas.microsoft.com/office/drawing/2014/main" id="{2C0A1103-5B56-4836-AD6D-3E0657B0D775}"/>
                </a:ext>
              </a:extLst>
            </p:cNvPr>
            <p:cNvCxnSpPr/>
            <p:nvPr/>
          </p:nvCxnSpPr>
          <p:spPr>
            <a:xfrm rot="5400000">
              <a:off x="616284" y="6117350"/>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41" name="Straight Arrow Connector 140">
              <a:extLst>
                <a:ext uri="{FF2B5EF4-FFF2-40B4-BE49-F238E27FC236}">
                  <a16:creationId xmlns:a16="http://schemas.microsoft.com/office/drawing/2014/main" id="{DC43B3E6-7FE3-4CC8-8B07-91AC3E61EBAA}"/>
                </a:ext>
              </a:extLst>
            </p:cNvPr>
            <p:cNvCxnSpPr/>
            <p:nvPr/>
          </p:nvCxnSpPr>
          <p:spPr>
            <a:xfrm rot="5400000">
              <a:off x="1307575" y="6117350"/>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Inlining</a:t>
            </a:r>
          </a:p>
        </p:txBody>
      </p:sp>
      <p:sp>
        <p:nvSpPr>
          <p:cNvPr id="3" name="Content Placeholder 2"/>
          <p:cNvSpPr>
            <a:spLocks noGrp="1"/>
          </p:cNvSpPr>
          <p:nvPr>
            <p:ph idx="1"/>
          </p:nvPr>
        </p:nvSpPr>
        <p:spPr/>
        <p:txBody>
          <a:bodyPr>
            <a:normAutofit/>
          </a:bodyPr>
          <a:lstStyle/>
          <a:p>
            <a:r>
              <a:rPr lang="en-US" dirty="0"/>
              <a:t>Inlining can be used to remove function hierarchy</a:t>
            </a:r>
            <a:endParaRPr lang="en-US" b="1" dirty="0"/>
          </a:p>
        </p:txBody>
      </p:sp>
      <p:sp>
        <p:nvSpPr>
          <p:cNvPr id="66" name="Slide Number Placeholder 65"/>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20</a:t>
            </a:fld>
            <a:endParaRPr lang="en-US" dirty="0">
              <a:solidFill>
                <a:srgbClr val="0C0C0C">
                  <a:tint val="75000"/>
                </a:srgbClr>
              </a:solidFill>
              <a:latin typeface="Arial"/>
            </a:endParaRPr>
          </a:p>
        </p:txBody>
      </p:sp>
      <p:sp>
        <p:nvSpPr>
          <p:cNvPr id="65"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20</a:t>
            </a:fld>
            <a:endParaRPr lang="en-US" sz="1000" dirty="0">
              <a:solidFill>
                <a:srgbClr val="FFFFFF"/>
              </a:solidFill>
              <a:latin typeface="Arial" charset="0"/>
              <a:ea typeface="ＭＳ Ｐゴシック" pitchFamily="34" charset="-128"/>
              <a:cs typeface="Arial" charset="0"/>
            </a:endParaRPr>
          </a:p>
        </p:txBody>
      </p:sp>
      <p:grpSp>
        <p:nvGrpSpPr>
          <p:cNvPr id="64" name="Group 97">
            <a:extLst>
              <a:ext uri="{FF2B5EF4-FFF2-40B4-BE49-F238E27FC236}">
                <a16:creationId xmlns:a16="http://schemas.microsoft.com/office/drawing/2014/main" id="{317A8F4A-98BE-4273-9F43-3E14A157C4E8}"/>
              </a:ext>
            </a:extLst>
          </p:cNvPr>
          <p:cNvGrpSpPr/>
          <p:nvPr/>
        </p:nvGrpSpPr>
        <p:grpSpPr>
          <a:xfrm>
            <a:off x="323069" y="2212740"/>
            <a:ext cx="2713247" cy="4023360"/>
            <a:chOff x="155425" y="2507280"/>
            <a:chExt cx="2035465" cy="4023360"/>
          </a:xfrm>
        </p:grpSpPr>
        <p:sp>
          <p:nvSpPr>
            <p:cNvPr id="67" name="Rectangle 66">
              <a:extLst>
                <a:ext uri="{FF2B5EF4-FFF2-40B4-BE49-F238E27FC236}">
                  <a16:creationId xmlns:a16="http://schemas.microsoft.com/office/drawing/2014/main" id="{8D86185E-F983-4B1D-8B18-1B3CFE7FA71C}"/>
                </a:ext>
              </a:extLst>
            </p:cNvPr>
            <p:cNvSpPr/>
            <p:nvPr/>
          </p:nvSpPr>
          <p:spPr>
            <a:xfrm>
              <a:off x="155425" y="2507280"/>
              <a:ext cx="2035465" cy="402336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68" name="Rectangle 67">
              <a:extLst>
                <a:ext uri="{FF2B5EF4-FFF2-40B4-BE49-F238E27FC236}">
                  <a16:creationId xmlns:a16="http://schemas.microsoft.com/office/drawing/2014/main" id="{C0FC1FF7-6B0D-40DC-B00D-AF2A92E7F3BE}"/>
                </a:ext>
              </a:extLst>
            </p:cNvPr>
            <p:cNvSpPr/>
            <p:nvPr/>
          </p:nvSpPr>
          <p:spPr>
            <a:xfrm>
              <a:off x="270639" y="3313786"/>
              <a:ext cx="1728225" cy="537670"/>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sz="1050" b="1" kern="0" dirty="0">
                <a:solidFill>
                  <a:srgbClr val="FFFFFF"/>
                </a:solidFill>
                <a:latin typeface="Arial"/>
              </a:endParaRPr>
            </a:p>
          </p:txBody>
        </p:sp>
        <p:sp>
          <p:nvSpPr>
            <p:cNvPr id="69" name="Rectangle 68">
              <a:extLst>
                <a:ext uri="{FF2B5EF4-FFF2-40B4-BE49-F238E27FC236}">
                  <a16:creationId xmlns:a16="http://schemas.microsoft.com/office/drawing/2014/main" id="{8D65E51E-F006-4F50-9E86-EF2522060E71}"/>
                </a:ext>
              </a:extLst>
            </p:cNvPr>
            <p:cNvSpPr/>
            <p:nvPr/>
          </p:nvSpPr>
          <p:spPr>
            <a:xfrm>
              <a:off x="270640" y="5564761"/>
              <a:ext cx="1728225" cy="475779"/>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70" name="Rectangle 69">
              <a:extLst>
                <a:ext uri="{FF2B5EF4-FFF2-40B4-BE49-F238E27FC236}">
                  <a16:creationId xmlns:a16="http://schemas.microsoft.com/office/drawing/2014/main" id="{4CEB9FDE-B7F1-4010-BEFA-C26659B4F5F3}"/>
                </a:ext>
              </a:extLst>
            </p:cNvPr>
            <p:cNvSpPr/>
            <p:nvPr/>
          </p:nvSpPr>
          <p:spPr>
            <a:xfrm>
              <a:off x="270640" y="4312315"/>
              <a:ext cx="1728225" cy="1152150"/>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sz="1050" b="1" kern="0" dirty="0">
                <a:solidFill>
                  <a:srgbClr val="FFFFFF"/>
                </a:solidFill>
                <a:latin typeface="Arial"/>
              </a:endParaRPr>
            </a:p>
          </p:txBody>
        </p:sp>
        <p:sp>
          <p:nvSpPr>
            <p:cNvPr id="71" name="TextBox 70">
              <a:extLst>
                <a:ext uri="{FF2B5EF4-FFF2-40B4-BE49-F238E27FC236}">
                  <a16:creationId xmlns:a16="http://schemas.microsoft.com/office/drawing/2014/main" id="{6074E7D7-6692-4052-802E-C1DFC1F9EBDF}"/>
                </a:ext>
              </a:extLst>
            </p:cNvPr>
            <p:cNvSpPr txBox="1"/>
            <p:nvPr/>
          </p:nvSpPr>
          <p:spPr>
            <a:xfrm>
              <a:off x="347446" y="3275380"/>
              <a:ext cx="88893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sumsub_func</a:t>
              </a:r>
            </a:p>
          </p:txBody>
        </p:sp>
        <p:sp>
          <p:nvSpPr>
            <p:cNvPr id="72" name="TextBox 71">
              <a:extLst>
                <a:ext uri="{FF2B5EF4-FFF2-40B4-BE49-F238E27FC236}">
                  <a16:creationId xmlns:a16="http://schemas.microsoft.com/office/drawing/2014/main" id="{05354BA2-AB5B-482A-9D88-EA056D4F58A8}"/>
                </a:ext>
              </a:extLst>
            </p:cNvPr>
            <p:cNvSpPr txBox="1"/>
            <p:nvPr/>
          </p:nvSpPr>
          <p:spPr>
            <a:xfrm>
              <a:off x="347446" y="4227341"/>
              <a:ext cx="88893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sumsub_func</a:t>
              </a:r>
            </a:p>
          </p:txBody>
        </p:sp>
        <p:sp>
          <p:nvSpPr>
            <p:cNvPr id="73" name="TextBox 72">
              <a:extLst>
                <a:ext uri="{FF2B5EF4-FFF2-40B4-BE49-F238E27FC236}">
                  <a16:creationId xmlns:a16="http://schemas.microsoft.com/office/drawing/2014/main" id="{9554F1DA-7755-499B-A935-72FD9202EA18}"/>
                </a:ext>
              </a:extLst>
            </p:cNvPr>
            <p:cNvSpPr txBox="1"/>
            <p:nvPr/>
          </p:nvSpPr>
          <p:spPr>
            <a:xfrm>
              <a:off x="308796" y="5494706"/>
              <a:ext cx="690513"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shift_func</a:t>
              </a:r>
            </a:p>
          </p:txBody>
        </p:sp>
        <p:sp>
          <p:nvSpPr>
            <p:cNvPr id="74" name="TextBox 73">
              <a:extLst>
                <a:ext uri="{FF2B5EF4-FFF2-40B4-BE49-F238E27FC236}">
                  <a16:creationId xmlns:a16="http://schemas.microsoft.com/office/drawing/2014/main" id="{B23C6A86-9CDD-4258-86A8-A8CE70C299F2}"/>
                </a:ext>
              </a:extLst>
            </p:cNvPr>
            <p:cNvSpPr txBox="1"/>
            <p:nvPr/>
          </p:nvSpPr>
          <p:spPr>
            <a:xfrm>
              <a:off x="629180" y="289133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a:t>
              </a:r>
            </a:p>
          </p:txBody>
        </p:sp>
        <p:sp>
          <p:nvSpPr>
            <p:cNvPr id="75" name="Rounded Rectangle 19">
              <a:extLst>
                <a:ext uri="{FF2B5EF4-FFF2-40B4-BE49-F238E27FC236}">
                  <a16:creationId xmlns:a16="http://schemas.microsoft.com/office/drawing/2014/main" id="{37C50261-D824-4BD0-9F9B-1E3A11FED7B1}"/>
                </a:ext>
              </a:extLst>
            </p:cNvPr>
            <p:cNvSpPr/>
            <p:nvPr/>
          </p:nvSpPr>
          <p:spPr>
            <a:xfrm>
              <a:off x="577880" y="3544215"/>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6" name="Rounded Rectangle 20">
              <a:extLst>
                <a:ext uri="{FF2B5EF4-FFF2-40B4-BE49-F238E27FC236}">
                  <a16:creationId xmlns:a16="http://schemas.microsoft.com/office/drawing/2014/main" id="{8B026259-C72F-4738-8C6B-F64235DDEB6C}"/>
                </a:ext>
              </a:extLst>
            </p:cNvPr>
            <p:cNvSpPr/>
            <p:nvPr/>
          </p:nvSpPr>
          <p:spPr>
            <a:xfrm>
              <a:off x="1269170" y="3544215"/>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7" name="TextBox 76">
              <a:extLst>
                <a:ext uri="{FF2B5EF4-FFF2-40B4-BE49-F238E27FC236}">
                  <a16:creationId xmlns:a16="http://schemas.microsoft.com/office/drawing/2014/main" id="{3E70ECBF-0A53-4F5B-B133-345245E83957}"/>
                </a:ext>
              </a:extLst>
            </p:cNvPr>
            <p:cNvSpPr txBox="1"/>
            <p:nvPr/>
          </p:nvSpPr>
          <p:spPr>
            <a:xfrm>
              <a:off x="1313214" y="289133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B</a:t>
              </a:r>
            </a:p>
          </p:txBody>
        </p:sp>
        <p:sp>
          <p:nvSpPr>
            <p:cNvPr id="78" name="Rounded Rectangle 92">
              <a:extLst>
                <a:ext uri="{FF2B5EF4-FFF2-40B4-BE49-F238E27FC236}">
                  <a16:creationId xmlns:a16="http://schemas.microsoft.com/office/drawing/2014/main" id="{5DB78328-289B-403B-83F9-DCF100B8752F}"/>
                </a:ext>
              </a:extLst>
            </p:cNvPr>
            <p:cNvSpPr/>
            <p:nvPr/>
          </p:nvSpPr>
          <p:spPr>
            <a:xfrm>
              <a:off x="577881" y="4479848"/>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79" name="Rounded Rectangle 93">
              <a:extLst>
                <a:ext uri="{FF2B5EF4-FFF2-40B4-BE49-F238E27FC236}">
                  <a16:creationId xmlns:a16="http://schemas.microsoft.com/office/drawing/2014/main" id="{103937BA-B161-4B97-9D3B-383EBBE0B2B3}"/>
                </a:ext>
              </a:extLst>
            </p:cNvPr>
            <p:cNvSpPr/>
            <p:nvPr/>
          </p:nvSpPr>
          <p:spPr>
            <a:xfrm>
              <a:off x="1269171" y="4479848"/>
              <a:ext cx="307240"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a:t>
              </a:r>
            </a:p>
          </p:txBody>
        </p:sp>
        <p:sp>
          <p:nvSpPr>
            <p:cNvPr id="80" name="Rounded Rectangle 105">
              <a:extLst>
                <a:ext uri="{FF2B5EF4-FFF2-40B4-BE49-F238E27FC236}">
                  <a16:creationId xmlns:a16="http://schemas.microsoft.com/office/drawing/2014/main" id="{C3D13622-DD85-4D0F-89BB-7954FA880A72}"/>
                </a:ext>
              </a:extLst>
            </p:cNvPr>
            <p:cNvSpPr/>
            <p:nvPr/>
          </p:nvSpPr>
          <p:spPr>
            <a:xfrm>
              <a:off x="1192361" y="5771705"/>
              <a:ext cx="576074"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&gt;&gt;2</a:t>
              </a:r>
            </a:p>
          </p:txBody>
        </p:sp>
        <p:sp>
          <p:nvSpPr>
            <p:cNvPr id="81" name="Rounded Rectangle 104">
              <a:extLst>
                <a:ext uri="{FF2B5EF4-FFF2-40B4-BE49-F238E27FC236}">
                  <a16:creationId xmlns:a16="http://schemas.microsoft.com/office/drawing/2014/main" id="{1A4B148C-D129-4BA9-A6E5-750FA1B3E9E1}"/>
                </a:ext>
              </a:extLst>
            </p:cNvPr>
            <p:cNvSpPr/>
            <p:nvPr/>
          </p:nvSpPr>
          <p:spPr>
            <a:xfrm>
              <a:off x="462665" y="5771705"/>
              <a:ext cx="537669" cy="230430"/>
            </a:xfrm>
            <a:prstGeom prst="roundRect">
              <a:avLst/>
            </a:prstGeom>
            <a:gradFill rotWithShape="1">
              <a:gsLst>
                <a:gs pos="0">
                  <a:srgbClr val="8B8D09">
                    <a:tint val="50000"/>
                    <a:satMod val="300000"/>
                  </a:srgbClr>
                </a:gs>
                <a:gs pos="35000">
                  <a:srgbClr val="8B8D09">
                    <a:tint val="37000"/>
                    <a:satMod val="300000"/>
                  </a:srgbClr>
                </a:gs>
                <a:gs pos="100000">
                  <a:srgbClr val="8B8D09">
                    <a:tint val="15000"/>
                    <a:satMod val="350000"/>
                  </a:srgbClr>
                </a:gs>
              </a:gsLst>
              <a:lin ang="16200000" scaled="1"/>
            </a:gradFill>
            <a:ln w="9525" cap="flat" cmpd="sng" algn="ctr">
              <a:solidFill>
                <a:srgbClr val="8B8D09">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914400" fontAlgn="base">
                <a:spcBef>
                  <a:spcPct val="0"/>
                </a:spcBef>
                <a:spcAft>
                  <a:spcPct val="0"/>
                </a:spcAft>
                <a:defRPr/>
              </a:pPr>
              <a:r>
                <a:rPr lang="en-US" sz="1050" b="1" kern="0" dirty="0">
                  <a:solidFill>
                    <a:srgbClr val="000000"/>
                  </a:solidFill>
                  <a:latin typeface="Arial"/>
                </a:rPr>
                <a:t>&gt;&gt;1</a:t>
              </a:r>
            </a:p>
          </p:txBody>
        </p:sp>
        <p:sp>
          <p:nvSpPr>
            <p:cNvPr id="82" name="TextBox 81">
              <a:extLst>
                <a:ext uri="{FF2B5EF4-FFF2-40B4-BE49-F238E27FC236}">
                  <a16:creationId xmlns:a16="http://schemas.microsoft.com/office/drawing/2014/main" id="{DC0F7BE9-A40C-4CEC-8C9D-8F86E6D666F7}"/>
                </a:ext>
              </a:extLst>
            </p:cNvPr>
            <p:cNvSpPr txBox="1"/>
            <p:nvPr/>
          </p:nvSpPr>
          <p:spPr>
            <a:xfrm>
              <a:off x="311835" y="2507280"/>
              <a:ext cx="939444"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add_sub_pass</a:t>
              </a:r>
            </a:p>
          </p:txBody>
        </p:sp>
      </p:grpSp>
      <p:sp>
        <p:nvSpPr>
          <p:cNvPr id="83" name="TextBox 82">
            <a:extLst>
              <a:ext uri="{FF2B5EF4-FFF2-40B4-BE49-F238E27FC236}">
                <a16:creationId xmlns:a16="http://schemas.microsoft.com/office/drawing/2014/main" id="{3EE6DED0-FFF7-4D2A-8551-F34ABEDB7561}"/>
              </a:ext>
            </a:extLst>
          </p:cNvPr>
          <p:cNvSpPr txBox="1"/>
          <p:nvPr/>
        </p:nvSpPr>
        <p:spPr>
          <a:xfrm>
            <a:off x="3126787" y="1968695"/>
            <a:ext cx="5887232" cy="301621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int sumsub_func (int *in1, int *in2, int *outSum, int *outSub) {</a:t>
            </a:r>
          </a:p>
          <a:p>
            <a:pPr defTabSz="914400" fontAlgn="base">
              <a:spcBef>
                <a:spcPct val="0"/>
              </a:spcBef>
              <a:spcAft>
                <a:spcPct val="0"/>
              </a:spcAft>
              <a:defRPr/>
            </a:pPr>
            <a:r>
              <a:rPr lang="en-US" sz="1000" kern="0" dirty="0">
                <a:solidFill>
                  <a:srgbClr val="000000"/>
                </a:solidFill>
                <a:latin typeface="Arial"/>
              </a:rPr>
              <a:t>*outSum = *in1 + *in2;</a:t>
            </a:r>
          </a:p>
          <a:p>
            <a:pPr defTabSz="914400" fontAlgn="base">
              <a:spcBef>
                <a:spcPct val="0"/>
              </a:spcBef>
              <a:spcAft>
                <a:spcPct val="0"/>
              </a:spcAft>
              <a:defRPr/>
            </a:pPr>
            <a:r>
              <a:rPr lang="en-US" sz="1000" kern="0" dirty="0">
                <a:solidFill>
                  <a:srgbClr val="000000"/>
                </a:solidFill>
                <a:latin typeface="Arial"/>
              </a:rPr>
              <a:t>*outSub = *in1 - *in2;</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int shift_func (int *in1, int *in2, int *outA, int *outB) {</a:t>
            </a:r>
          </a:p>
          <a:p>
            <a:pPr defTabSz="914400" fontAlgn="base">
              <a:spcBef>
                <a:spcPct val="0"/>
              </a:spcBef>
              <a:spcAft>
                <a:spcPct val="0"/>
              </a:spcAft>
              <a:defRPr/>
            </a:pPr>
            <a:r>
              <a:rPr lang="en-US" sz="1000" kern="0" dirty="0">
                <a:solidFill>
                  <a:srgbClr val="000000"/>
                </a:solidFill>
                <a:latin typeface="Arial"/>
              </a:rPr>
              <a:t>    *outA = *in1 &gt;&gt; 1;</a:t>
            </a:r>
          </a:p>
          <a:p>
            <a:pPr defTabSz="914400" fontAlgn="base">
              <a:spcBef>
                <a:spcPct val="0"/>
              </a:spcBef>
              <a:spcAft>
                <a:spcPct val="0"/>
              </a:spcAft>
              <a:defRPr/>
            </a:pPr>
            <a:r>
              <a:rPr lang="en-US" sz="1000" kern="0" dirty="0">
                <a:solidFill>
                  <a:srgbClr val="000000"/>
                </a:solidFill>
                <a:latin typeface="Arial"/>
              </a:rPr>
              <a:t>    *outB = *in2 &gt;&gt; 2;</a:t>
            </a:r>
          </a:p>
          <a:p>
            <a:pPr defTabSz="914400" fontAlgn="base">
              <a:spcBef>
                <a:spcPct val="0"/>
              </a:spcBef>
              <a:spcAft>
                <a:spcPct val="0"/>
              </a:spcAft>
              <a:defRPr/>
            </a:pPr>
            <a:r>
              <a:rPr lang="en-US" sz="1000" kern="0" dirty="0">
                <a:solidFill>
                  <a:srgbClr val="000000"/>
                </a:solidFill>
                <a:latin typeface="Arial"/>
              </a:rPr>
              <a:t>}</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void add_sub_pass(int A, int B, int *C, int *D) {</a:t>
            </a:r>
          </a:p>
          <a:p>
            <a:pPr defTabSz="914400" fontAlgn="base">
              <a:spcBef>
                <a:spcPct val="0"/>
              </a:spcBef>
              <a:spcAft>
                <a:spcPct val="0"/>
              </a:spcAft>
              <a:defRPr/>
            </a:pPr>
            <a:r>
              <a:rPr lang="en-US" sz="1000" kern="0" dirty="0">
                <a:solidFill>
                  <a:srgbClr val="000000"/>
                </a:solidFill>
                <a:latin typeface="Arial"/>
              </a:rPr>
              <a:t>    int apb, amb;</a:t>
            </a:r>
          </a:p>
          <a:p>
            <a:pPr defTabSz="914400" fontAlgn="base">
              <a:spcBef>
                <a:spcPct val="0"/>
              </a:spcBef>
              <a:spcAft>
                <a:spcPct val="0"/>
              </a:spcAft>
              <a:defRPr/>
            </a:pPr>
            <a:r>
              <a:rPr lang="en-US" sz="1000" kern="0" dirty="0">
                <a:solidFill>
                  <a:srgbClr val="000000"/>
                </a:solidFill>
                <a:latin typeface="Arial"/>
              </a:rPr>
              <a:t>    int a2, b2;</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sumsub_func(&amp;A,&amp;B,&amp;apb,&amp;amb);</a:t>
            </a:r>
          </a:p>
          <a:p>
            <a:pPr defTabSz="914400" fontAlgn="base">
              <a:spcBef>
                <a:spcPct val="0"/>
              </a:spcBef>
              <a:spcAft>
                <a:spcPct val="0"/>
              </a:spcAft>
              <a:defRPr/>
            </a:pPr>
            <a:r>
              <a:rPr lang="en-US" sz="1000" kern="0" dirty="0">
                <a:solidFill>
                  <a:srgbClr val="000000"/>
                </a:solidFill>
                <a:latin typeface="Arial"/>
              </a:rPr>
              <a:t>    sumsub_func(&amp;apb,&amp;amb,&amp;a2,&amp;b2);</a:t>
            </a:r>
          </a:p>
          <a:p>
            <a:pPr defTabSz="914400" fontAlgn="base">
              <a:spcBef>
                <a:spcPct val="0"/>
              </a:spcBef>
              <a:spcAft>
                <a:spcPct val="0"/>
              </a:spcAft>
              <a:defRPr/>
            </a:pPr>
            <a:r>
              <a:rPr lang="en-US" sz="1000" kern="0" dirty="0">
                <a:solidFill>
                  <a:srgbClr val="000000"/>
                </a:solidFill>
                <a:latin typeface="Arial"/>
              </a:rPr>
              <a:t>    shift_func(&amp;a2,&amp;b2,C,D);</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a:t>
            </a:r>
          </a:p>
        </p:txBody>
      </p:sp>
      <p:grpSp>
        <p:nvGrpSpPr>
          <p:cNvPr id="84" name="Group 208">
            <a:extLst>
              <a:ext uri="{FF2B5EF4-FFF2-40B4-BE49-F238E27FC236}">
                <a16:creationId xmlns:a16="http://schemas.microsoft.com/office/drawing/2014/main" id="{2B746A3D-B6AB-498F-A99B-0116A71F7F2B}"/>
              </a:ext>
            </a:extLst>
          </p:cNvPr>
          <p:cNvGrpSpPr/>
          <p:nvPr/>
        </p:nvGrpSpPr>
        <p:grpSpPr>
          <a:xfrm>
            <a:off x="7119868" y="2353660"/>
            <a:ext cx="4812173" cy="1689820"/>
            <a:chOff x="5340100" y="2660900"/>
            <a:chExt cx="3610070" cy="1689820"/>
          </a:xfrm>
        </p:grpSpPr>
        <p:sp>
          <p:nvSpPr>
            <p:cNvPr id="85" name="Rectangle 84">
              <a:extLst>
                <a:ext uri="{FF2B5EF4-FFF2-40B4-BE49-F238E27FC236}">
                  <a16:creationId xmlns:a16="http://schemas.microsoft.com/office/drawing/2014/main" id="{1859F0B2-FF93-40A6-B4A0-9D371CD48AEB}"/>
                </a:ext>
              </a:extLst>
            </p:cNvPr>
            <p:cNvSpPr/>
            <p:nvPr/>
          </p:nvSpPr>
          <p:spPr>
            <a:xfrm>
              <a:off x="6914705" y="2660900"/>
              <a:ext cx="2035465"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86" name="TextBox 85">
              <a:extLst>
                <a:ext uri="{FF2B5EF4-FFF2-40B4-BE49-F238E27FC236}">
                  <a16:creationId xmlns:a16="http://schemas.microsoft.com/office/drawing/2014/main" id="{F0FC4AF3-2D7F-4CDD-AA6F-EB57E364504D}"/>
                </a:ext>
              </a:extLst>
            </p:cNvPr>
            <p:cNvSpPr txBox="1"/>
            <p:nvPr/>
          </p:nvSpPr>
          <p:spPr>
            <a:xfrm>
              <a:off x="7071116" y="2660900"/>
              <a:ext cx="939444"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add_sub_pass</a:t>
              </a:r>
            </a:p>
          </p:txBody>
        </p:sp>
        <p:sp>
          <p:nvSpPr>
            <p:cNvPr id="87" name="TextBox 86">
              <a:extLst>
                <a:ext uri="{FF2B5EF4-FFF2-40B4-BE49-F238E27FC236}">
                  <a16:creationId xmlns:a16="http://schemas.microsoft.com/office/drawing/2014/main" id="{67A83117-7D5A-4DAA-88C3-35FF3E7830E4}"/>
                </a:ext>
              </a:extLst>
            </p:cNvPr>
            <p:cNvSpPr txBox="1"/>
            <p:nvPr/>
          </p:nvSpPr>
          <p:spPr>
            <a:xfrm>
              <a:off x="7388460" y="3083355"/>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a:t>
              </a:r>
            </a:p>
          </p:txBody>
        </p:sp>
        <p:sp>
          <p:nvSpPr>
            <p:cNvPr id="88" name="TextBox 87">
              <a:extLst>
                <a:ext uri="{FF2B5EF4-FFF2-40B4-BE49-F238E27FC236}">
                  <a16:creationId xmlns:a16="http://schemas.microsoft.com/office/drawing/2014/main" id="{15FD89B7-1F5D-4427-825C-D481E394E854}"/>
                </a:ext>
              </a:extLst>
            </p:cNvPr>
            <p:cNvSpPr txBox="1"/>
            <p:nvPr/>
          </p:nvSpPr>
          <p:spPr>
            <a:xfrm>
              <a:off x="8072495" y="3083355"/>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B</a:t>
              </a:r>
            </a:p>
          </p:txBody>
        </p:sp>
        <p:sp>
          <p:nvSpPr>
            <p:cNvPr id="90" name="TextBox 89">
              <a:extLst>
                <a:ext uri="{FF2B5EF4-FFF2-40B4-BE49-F238E27FC236}">
                  <a16:creationId xmlns:a16="http://schemas.microsoft.com/office/drawing/2014/main" id="{72184D47-CCF8-4501-9417-4382F104CCD6}"/>
                </a:ext>
              </a:extLst>
            </p:cNvPr>
            <p:cNvSpPr txBox="1"/>
            <p:nvPr/>
          </p:nvSpPr>
          <p:spPr>
            <a:xfrm>
              <a:off x="7388436" y="3813050"/>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a:t>
              </a:r>
            </a:p>
          </p:txBody>
        </p:sp>
        <p:sp>
          <p:nvSpPr>
            <p:cNvPr id="98" name="TextBox 97">
              <a:extLst>
                <a:ext uri="{FF2B5EF4-FFF2-40B4-BE49-F238E27FC236}">
                  <a16:creationId xmlns:a16="http://schemas.microsoft.com/office/drawing/2014/main" id="{7BE4F0A6-95F4-4FA2-B52F-4BB23EA67978}"/>
                </a:ext>
              </a:extLst>
            </p:cNvPr>
            <p:cNvSpPr txBox="1"/>
            <p:nvPr/>
          </p:nvSpPr>
          <p:spPr>
            <a:xfrm>
              <a:off x="7988707" y="3813050"/>
              <a:ext cx="386264"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B&gt;&gt;1</a:t>
              </a:r>
            </a:p>
          </p:txBody>
        </p:sp>
        <p:cxnSp>
          <p:nvCxnSpPr>
            <p:cNvPr id="99" name="Straight Arrow Connector 98">
              <a:extLst>
                <a:ext uri="{FF2B5EF4-FFF2-40B4-BE49-F238E27FC236}">
                  <a16:creationId xmlns:a16="http://schemas.microsoft.com/office/drawing/2014/main" id="{C1778736-876A-46D4-8F50-CDEE6BA4FD26}"/>
                </a:ext>
              </a:extLst>
            </p:cNvPr>
            <p:cNvCxnSpPr>
              <a:stCxn id="88" idx="2"/>
              <a:endCxn id="98" idx="0"/>
            </p:cNvCxnSpPr>
            <p:nvPr/>
          </p:nvCxnSpPr>
          <p:spPr>
            <a:xfrm>
              <a:off x="8178441" y="3337271"/>
              <a:ext cx="3398" cy="475779"/>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00" name="Straight Arrow Connector 99">
              <a:extLst>
                <a:ext uri="{FF2B5EF4-FFF2-40B4-BE49-F238E27FC236}">
                  <a16:creationId xmlns:a16="http://schemas.microsoft.com/office/drawing/2014/main" id="{A2007A0F-5432-42EB-A303-1C0B29ED373B}"/>
                </a:ext>
              </a:extLst>
            </p:cNvPr>
            <p:cNvCxnSpPr>
              <a:stCxn id="87" idx="2"/>
              <a:endCxn id="90" idx="0"/>
            </p:cNvCxnSpPr>
            <p:nvPr/>
          </p:nvCxnSpPr>
          <p:spPr>
            <a:xfrm flipH="1">
              <a:off x="7494383" y="3337271"/>
              <a:ext cx="24" cy="475779"/>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07" name="Straight Arrow Connector 106">
              <a:extLst>
                <a:ext uri="{FF2B5EF4-FFF2-40B4-BE49-F238E27FC236}">
                  <a16:creationId xmlns:a16="http://schemas.microsoft.com/office/drawing/2014/main" id="{F1C88932-7FF7-49E2-AB90-4F49BCA9C2A9}"/>
                </a:ext>
              </a:extLst>
            </p:cNvPr>
            <p:cNvCxnSpPr/>
            <p:nvPr/>
          </p:nvCxnSpPr>
          <p:spPr>
            <a:xfrm>
              <a:off x="6300229" y="4235504"/>
              <a:ext cx="806501" cy="1"/>
            </a:xfrm>
            <a:prstGeom prst="straightConnector1">
              <a:avLst/>
            </a:prstGeom>
            <a:solidFill>
              <a:srgbClr val="B20838">
                <a:lumMod val="20000"/>
                <a:lumOff val="80000"/>
              </a:srgbClr>
            </a:solidFill>
            <a:ln w="25400" cap="flat" cmpd="sng" algn="ctr">
              <a:solidFill>
                <a:srgbClr val="B20838"/>
              </a:solidFill>
              <a:prstDash val="solid"/>
              <a:tailEnd type="arrow"/>
            </a:ln>
            <a:effectLst/>
          </p:spPr>
        </p:cxnSp>
        <p:sp>
          <p:nvSpPr>
            <p:cNvPr id="108" name="TextBox 107">
              <a:extLst>
                <a:ext uri="{FF2B5EF4-FFF2-40B4-BE49-F238E27FC236}">
                  <a16:creationId xmlns:a16="http://schemas.microsoft.com/office/drawing/2014/main" id="{9E10A30A-9414-43B4-944D-93172539B152}"/>
                </a:ext>
              </a:extLst>
            </p:cNvPr>
            <p:cNvSpPr txBox="1"/>
            <p:nvPr/>
          </p:nvSpPr>
          <p:spPr>
            <a:xfrm>
              <a:off x="5340100" y="4073721"/>
              <a:ext cx="1305770" cy="276999"/>
            </a:xfrm>
            <a:prstGeom prst="rect">
              <a:avLst/>
            </a:prstGeom>
            <a:solidFill>
              <a:srgbClr val="B20838">
                <a:lumMod val="20000"/>
                <a:lumOff val="80000"/>
              </a:srgbClr>
            </a:solidFill>
            <a:ln w="25400" cap="flat" cmpd="sng" algn="ctr">
              <a:solidFill>
                <a:srgbClr val="B20838"/>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000000"/>
                  </a:solidFill>
                  <a:latin typeface="Arial"/>
                </a:rPr>
                <a:t>Zero Area</a:t>
              </a:r>
            </a:p>
          </p:txBody>
        </p:sp>
      </p:grpSp>
      <p:sp>
        <p:nvSpPr>
          <p:cNvPr id="109" name="TextBox 108">
            <a:extLst>
              <a:ext uri="{FF2B5EF4-FFF2-40B4-BE49-F238E27FC236}">
                <a16:creationId xmlns:a16="http://schemas.microsoft.com/office/drawing/2014/main" id="{4BBB7F89-013F-484A-B082-09A078399F89}"/>
              </a:ext>
            </a:extLst>
          </p:cNvPr>
          <p:cNvSpPr txBox="1"/>
          <p:nvPr/>
        </p:nvSpPr>
        <p:spPr>
          <a:xfrm>
            <a:off x="6505548" y="5067105"/>
            <a:ext cx="4100541"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Inlining allows optimization to be performed across function hierarchies</a:t>
            </a:r>
          </a:p>
        </p:txBody>
      </p:sp>
      <p:sp>
        <p:nvSpPr>
          <p:cNvPr id="110" name="TextBox 109">
            <a:extLst>
              <a:ext uri="{FF2B5EF4-FFF2-40B4-BE49-F238E27FC236}">
                <a16:creationId xmlns:a16="http://schemas.microsoft.com/office/drawing/2014/main" id="{69BFC29D-6E7F-4C7B-AAA8-71B338079A1E}"/>
              </a:ext>
            </a:extLst>
          </p:cNvPr>
          <p:cNvSpPr txBox="1"/>
          <p:nvPr/>
        </p:nvSpPr>
        <p:spPr>
          <a:xfrm>
            <a:off x="854414" y="1892800"/>
            <a:ext cx="1245854" cy="338554"/>
          </a:xfrm>
          <a:prstGeom prst="rect">
            <a:avLst/>
          </a:prstGeom>
          <a:noFill/>
        </p:spPr>
        <p:txBody>
          <a:bodyPr wrap="none" rtlCol="0">
            <a:spAutoFit/>
          </a:bodyPr>
          <a:lstStyle/>
          <a:p>
            <a:pPr algn="ctr" defTabSz="914400" fontAlgn="base">
              <a:spcBef>
                <a:spcPct val="0"/>
              </a:spcBef>
              <a:spcAft>
                <a:spcPct val="0"/>
              </a:spcAft>
              <a:defRPr/>
            </a:pPr>
            <a:r>
              <a:rPr lang="en-US" sz="1600" b="1" u="sng" kern="0" dirty="0">
                <a:solidFill>
                  <a:srgbClr val="000000"/>
                </a:solidFill>
                <a:latin typeface="Arial"/>
              </a:rPr>
              <a:t>No Inlining</a:t>
            </a:r>
          </a:p>
        </p:txBody>
      </p:sp>
      <p:sp>
        <p:nvSpPr>
          <p:cNvPr id="111" name="TextBox 110">
            <a:extLst>
              <a:ext uri="{FF2B5EF4-FFF2-40B4-BE49-F238E27FC236}">
                <a16:creationId xmlns:a16="http://schemas.microsoft.com/office/drawing/2014/main" id="{55E2C5E7-1DC1-4E82-8A40-0F5EB150D4D1}"/>
              </a:ext>
            </a:extLst>
          </p:cNvPr>
          <p:cNvSpPr txBox="1"/>
          <p:nvPr/>
        </p:nvSpPr>
        <p:spPr>
          <a:xfrm>
            <a:off x="9875971" y="1892800"/>
            <a:ext cx="915635" cy="338554"/>
          </a:xfrm>
          <a:prstGeom prst="rect">
            <a:avLst/>
          </a:prstGeom>
          <a:noFill/>
        </p:spPr>
        <p:txBody>
          <a:bodyPr wrap="none" rtlCol="0">
            <a:spAutoFit/>
          </a:bodyPr>
          <a:lstStyle/>
          <a:p>
            <a:pPr algn="ctr" defTabSz="914400" fontAlgn="base">
              <a:spcBef>
                <a:spcPct val="0"/>
              </a:spcBef>
              <a:spcAft>
                <a:spcPct val="0"/>
              </a:spcAft>
              <a:defRPr/>
            </a:pPr>
            <a:r>
              <a:rPr lang="en-US" sz="1600" b="1" u="sng" kern="0" dirty="0">
                <a:solidFill>
                  <a:srgbClr val="000000"/>
                </a:solidFill>
                <a:latin typeface="Arial"/>
              </a:rPr>
              <a:t>Inlining</a:t>
            </a:r>
          </a:p>
        </p:txBody>
      </p:sp>
      <p:grpSp>
        <p:nvGrpSpPr>
          <p:cNvPr id="113" name="Group 68">
            <a:extLst>
              <a:ext uri="{FF2B5EF4-FFF2-40B4-BE49-F238E27FC236}">
                <a16:creationId xmlns:a16="http://schemas.microsoft.com/office/drawing/2014/main" id="{8D7EA270-4F1A-4A8C-9CB7-62255BEAFF18}"/>
              </a:ext>
            </a:extLst>
          </p:cNvPr>
          <p:cNvGrpSpPr/>
          <p:nvPr/>
        </p:nvGrpSpPr>
        <p:grpSpPr>
          <a:xfrm>
            <a:off x="3024404" y="5080417"/>
            <a:ext cx="2252505" cy="461665"/>
            <a:chOff x="2267701" y="5387655"/>
            <a:chExt cx="1689819" cy="461665"/>
          </a:xfrm>
        </p:grpSpPr>
        <p:cxnSp>
          <p:nvCxnSpPr>
            <p:cNvPr id="114" name="Straight Arrow Connector 113">
              <a:extLst>
                <a:ext uri="{FF2B5EF4-FFF2-40B4-BE49-F238E27FC236}">
                  <a16:creationId xmlns:a16="http://schemas.microsoft.com/office/drawing/2014/main" id="{474BF347-F447-4CEC-9583-6C394A514195}"/>
                </a:ext>
              </a:extLst>
            </p:cNvPr>
            <p:cNvCxnSpPr/>
            <p:nvPr/>
          </p:nvCxnSpPr>
          <p:spPr>
            <a:xfrm rot="10800000" flipV="1">
              <a:off x="2267701" y="5579679"/>
              <a:ext cx="1344177" cy="38406"/>
            </a:xfrm>
            <a:prstGeom prst="straightConnector1">
              <a:avLst/>
            </a:prstGeom>
            <a:solidFill>
              <a:srgbClr val="B20838">
                <a:lumMod val="20000"/>
                <a:lumOff val="80000"/>
              </a:srgbClr>
            </a:solidFill>
            <a:ln w="25400" cap="flat" cmpd="sng" algn="ctr">
              <a:solidFill>
                <a:srgbClr val="B20838"/>
              </a:solidFill>
              <a:prstDash val="solid"/>
              <a:tailEnd type="arrow"/>
            </a:ln>
            <a:effectLst/>
          </p:spPr>
        </p:cxnSp>
        <p:sp>
          <p:nvSpPr>
            <p:cNvPr id="115" name="TextBox 114">
              <a:extLst>
                <a:ext uri="{FF2B5EF4-FFF2-40B4-BE49-F238E27FC236}">
                  <a16:creationId xmlns:a16="http://schemas.microsoft.com/office/drawing/2014/main" id="{610909D4-4795-4E24-9A9D-6C3274D03641}"/>
                </a:ext>
              </a:extLst>
            </p:cNvPr>
            <p:cNvSpPr txBox="1"/>
            <p:nvPr/>
          </p:nvSpPr>
          <p:spPr>
            <a:xfrm>
              <a:off x="2651750" y="5387655"/>
              <a:ext cx="1305770" cy="461665"/>
            </a:xfrm>
            <a:prstGeom prst="rect">
              <a:avLst/>
            </a:prstGeom>
            <a:solidFill>
              <a:srgbClr val="B20838">
                <a:lumMod val="20000"/>
                <a:lumOff val="80000"/>
              </a:srgbClr>
            </a:solidFill>
            <a:ln w="25400" cap="flat" cmpd="sng" algn="ctr">
              <a:solidFill>
                <a:srgbClr val="B20838"/>
              </a:solidFill>
              <a:prstDash val="solid"/>
            </a:ln>
            <a:effectLst>
              <a:outerShdw blurRad="50800" dist="63500" dir="2700000" algn="tl" rotWithShape="0">
                <a:prstClr val="black">
                  <a:alpha val="40000"/>
                </a:prstClr>
              </a:outerShdw>
            </a:effectLst>
          </p:spPr>
          <p:txBody>
            <a:bodyPr wrap="square" rtlCol="0">
              <a:spAutoFit/>
            </a:bodyPr>
            <a:lstStyle/>
            <a:p>
              <a:pPr algn="ctr" defTabSz="914400" fontAlgn="base">
                <a:spcBef>
                  <a:spcPct val="0"/>
                </a:spcBef>
                <a:spcAft>
                  <a:spcPct val="0"/>
                </a:spcAft>
                <a:defRPr/>
              </a:pPr>
              <a:r>
                <a:rPr lang="en-US" sz="1200" kern="0" dirty="0">
                  <a:solidFill>
                    <a:srgbClr val="000000"/>
                  </a:solidFill>
                  <a:latin typeface="Arial"/>
                </a:rPr>
                <a:t>2 Adders</a:t>
              </a:r>
            </a:p>
            <a:p>
              <a:pPr algn="ctr" defTabSz="914400" fontAlgn="base">
                <a:spcBef>
                  <a:spcPct val="0"/>
                </a:spcBef>
                <a:spcAft>
                  <a:spcPct val="0"/>
                </a:spcAft>
                <a:defRPr/>
              </a:pPr>
              <a:r>
                <a:rPr lang="en-US" sz="1200" kern="0" dirty="0">
                  <a:solidFill>
                    <a:srgbClr val="000000"/>
                  </a:solidFill>
                  <a:latin typeface="Arial"/>
                </a:rPr>
                <a:t>2 Subtractors</a:t>
              </a:r>
            </a:p>
          </p:txBody>
        </p:sp>
      </p:grpSp>
      <p:cxnSp>
        <p:nvCxnSpPr>
          <p:cNvPr id="116" name="Straight Arrow Connector 115">
            <a:extLst>
              <a:ext uri="{FF2B5EF4-FFF2-40B4-BE49-F238E27FC236}">
                <a16:creationId xmlns:a16="http://schemas.microsoft.com/office/drawing/2014/main" id="{E0A21326-D797-47FF-903C-25E86BDEC929}"/>
              </a:ext>
            </a:extLst>
          </p:cNvPr>
          <p:cNvCxnSpPr/>
          <p:nvPr/>
        </p:nvCxnSpPr>
        <p:spPr>
          <a:xfrm rot="16200000" flipH="1">
            <a:off x="841336" y="3806546"/>
            <a:ext cx="499267" cy="4"/>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17" name="Straight Arrow Connector 116">
            <a:extLst>
              <a:ext uri="{FF2B5EF4-FFF2-40B4-BE49-F238E27FC236}">
                <a16:creationId xmlns:a16="http://schemas.microsoft.com/office/drawing/2014/main" id="{8FC73FE8-CF7B-4F7E-9C5A-28FB6B7D189D}"/>
              </a:ext>
            </a:extLst>
          </p:cNvPr>
          <p:cNvCxnSpPr/>
          <p:nvPr/>
        </p:nvCxnSpPr>
        <p:spPr>
          <a:xfrm rot="5400000">
            <a:off x="1762820" y="3806546"/>
            <a:ext cx="499265" cy="5"/>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18" name="TextBox 117">
            <a:extLst>
              <a:ext uri="{FF2B5EF4-FFF2-40B4-BE49-F238E27FC236}">
                <a16:creationId xmlns:a16="http://schemas.microsoft.com/office/drawing/2014/main" id="{C43BA3A2-E94D-4316-A948-AA1BD1B507A6}"/>
              </a:ext>
            </a:extLst>
          </p:cNvPr>
          <p:cNvSpPr txBox="1"/>
          <p:nvPr/>
        </p:nvSpPr>
        <p:spPr>
          <a:xfrm>
            <a:off x="868738" y="3633725"/>
            <a:ext cx="458780"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A+B</a:t>
            </a:r>
          </a:p>
        </p:txBody>
      </p:sp>
      <p:sp>
        <p:nvSpPr>
          <p:cNvPr id="119" name="TextBox 118">
            <a:extLst>
              <a:ext uri="{FF2B5EF4-FFF2-40B4-BE49-F238E27FC236}">
                <a16:creationId xmlns:a16="http://schemas.microsoft.com/office/drawing/2014/main" id="{E41B9279-59FB-4FFD-BA85-51AE42BC91B2}"/>
              </a:ext>
            </a:extLst>
          </p:cNvPr>
          <p:cNvSpPr txBox="1"/>
          <p:nvPr/>
        </p:nvSpPr>
        <p:spPr>
          <a:xfrm>
            <a:off x="1816234" y="3633725"/>
            <a:ext cx="425116"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A-B</a:t>
            </a:r>
          </a:p>
        </p:txBody>
      </p:sp>
      <p:cxnSp>
        <p:nvCxnSpPr>
          <p:cNvPr id="120" name="Straight Arrow Connector 119">
            <a:extLst>
              <a:ext uri="{FF2B5EF4-FFF2-40B4-BE49-F238E27FC236}">
                <a16:creationId xmlns:a16="http://schemas.microsoft.com/office/drawing/2014/main" id="{5CD775BE-AA3A-4EDF-9234-3AFBF7F40C1F}"/>
              </a:ext>
            </a:extLst>
          </p:cNvPr>
          <p:cNvCxnSpPr/>
          <p:nvPr/>
        </p:nvCxnSpPr>
        <p:spPr>
          <a:xfrm rot="5400000">
            <a:off x="993759" y="2955608"/>
            <a:ext cx="199252" cy="4835"/>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21" name="Straight Arrow Connector 120">
            <a:extLst>
              <a:ext uri="{FF2B5EF4-FFF2-40B4-BE49-F238E27FC236}">
                <a16:creationId xmlns:a16="http://schemas.microsoft.com/office/drawing/2014/main" id="{9CD2BF93-B14A-488B-BFC9-84F70D4FF7B5}"/>
              </a:ext>
            </a:extLst>
          </p:cNvPr>
          <p:cNvCxnSpPr/>
          <p:nvPr/>
        </p:nvCxnSpPr>
        <p:spPr>
          <a:xfrm rot="16200000" flipH="1">
            <a:off x="1910403" y="2955604"/>
            <a:ext cx="199252" cy="4840"/>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22" name="TextBox 121">
            <a:extLst>
              <a:ext uri="{FF2B5EF4-FFF2-40B4-BE49-F238E27FC236}">
                <a16:creationId xmlns:a16="http://schemas.microsoft.com/office/drawing/2014/main" id="{D9C10406-F2B8-456B-9BDF-5110E7D84E4F}"/>
              </a:ext>
            </a:extLst>
          </p:cNvPr>
          <p:cNvSpPr txBox="1"/>
          <p:nvPr/>
        </p:nvSpPr>
        <p:spPr>
          <a:xfrm>
            <a:off x="6505548" y="5656185"/>
            <a:ext cx="4087841" cy="523220"/>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rPr>
              <a:t>Like RTL ungrouping, too much inlining can create a lot of logic and slow runtime</a:t>
            </a:r>
          </a:p>
        </p:txBody>
      </p:sp>
      <p:grpSp>
        <p:nvGrpSpPr>
          <p:cNvPr id="123" name="Group 99">
            <a:extLst>
              <a:ext uri="{FF2B5EF4-FFF2-40B4-BE49-F238E27FC236}">
                <a16:creationId xmlns:a16="http://schemas.microsoft.com/office/drawing/2014/main" id="{46C9E740-56A4-40A3-BD4A-0877171EE048}"/>
              </a:ext>
            </a:extLst>
          </p:cNvPr>
          <p:cNvGrpSpPr/>
          <p:nvPr/>
        </p:nvGrpSpPr>
        <p:grpSpPr>
          <a:xfrm>
            <a:off x="667293" y="4477631"/>
            <a:ext cx="1652317" cy="807513"/>
            <a:chOff x="413660" y="4772169"/>
            <a:chExt cx="1239560" cy="807513"/>
          </a:xfrm>
        </p:grpSpPr>
        <p:cxnSp>
          <p:nvCxnSpPr>
            <p:cNvPr id="124" name="Straight Arrow Connector 123">
              <a:extLst>
                <a:ext uri="{FF2B5EF4-FFF2-40B4-BE49-F238E27FC236}">
                  <a16:creationId xmlns:a16="http://schemas.microsoft.com/office/drawing/2014/main" id="{3969A447-D406-4A90-935F-E85A159C4F00}"/>
                </a:ext>
              </a:extLst>
            </p:cNvPr>
            <p:cNvCxnSpPr/>
            <p:nvPr/>
          </p:nvCxnSpPr>
          <p:spPr>
            <a:xfrm rot="5400000">
              <a:off x="616284" y="5464466"/>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sp>
          <p:nvSpPr>
            <p:cNvPr id="125" name="TextBox 124">
              <a:extLst>
                <a:ext uri="{FF2B5EF4-FFF2-40B4-BE49-F238E27FC236}">
                  <a16:creationId xmlns:a16="http://schemas.microsoft.com/office/drawing/2014/main" id="{CAF32D38-B486-4676-B6BB-86DE61E85C06}"/>
                </a:ext>
              </a:extLst>
            </p:cNvPr>
            <p:cNvSpPr txBox="1"/>
            <p:nvPr/>
          </p:nvSpPr>
          <p:spPr>
            <a:xfrm>
              <a:off x="536867" y="4772169"/>
              <a:ext cx="344174" cy="577081"/>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A+B</a:t>
              </a:r>
            </a:p>
            <a:p>
              <a:pPr algn="ctr" defTabSz="914400" fontAlgn="base">
                <a:spcBef>
                  <a:spcPct val="0"/>
                </a:spcBef>
                <a:spcAft>
                  <a:spcPct val="0"/>
                </a:spcAft>
                <a:defRPr/>
              </a:pPr>
              <a:r>
                <a:rPr lang="en-US" sz="1050" b="1" kern="0" dirty="0">
                  <a:solidFill>
                    <a:srgbClr val="000000"/>
                  </a:solidFill>
                  <a:latin typeface="Arial"/>
                </a:rPr>
                <a:t>A-B</a:t>
              </a:r>
            </a:p>
            <a:p>
              <a:pPr algn="ctr" defTabSz="914400" fontAlgn="base">
                <a:spcBef>
                  <a:spcPct val="0"/>
                </a:spcBef>
                <a:spcAft>
                  <a:spcPct val="0"/>
                </a:spcAft>
                <a:defRPr/>
              </a:pPr>
              <a:r>
                <a:rPr lang="en-US" sz="1050" b="1" kern="0" dirty="0">
                  <a:solidFill>
                    <a:srgbClr val="000000"/>
                  </a:solidFill>
                  <a:latin typeface="Arial"/>
                </a:rPr>
                <a:t>2A</a:t>
              </a:r>
            </a:p>
          </p:txBody>
        </p:sp>
        <p:sp>
          <p:nvSpPr>
            <p:cNvPr id="126" name="TextBox 125">
              <a:extLst>
                <a:ext uri="{FF2B5EF4-FFF2-40B4-BE49-F238E27FC236}">
                  <a16:creationId xmlns:a16="http://schemas.microsoft.com/office/drawing/2014/main" id="{57FCE6B9-FD9C-4875-B312-DCC1AC60AC79}"/>
                </a:ext>
              </a:extLst>
            </p:cNvPr>
            <p:cNvSpPr txBox="1"/>
            <p:nvPr/>
          </p:nvSpPr>
          <p:spPr>
            <a:xfrm>
              <a:off x="1273652" y="4772169"/>
              <a:ext cx="344174" cy="577081"/>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A+B</a:t>
              </a:r>
            </a:p>
            <a:p>
              <a:pPr algn="ctr" defTabSz="914400" fontAlgn="base">
                <a:spcBef>
                  <a:spcPct val="0"/>
                </a:spcBef>
                <a:spcAft>
                  <a:spcPct val="0"/>
                </a:spcAft>
                <a:defRPr/>
              </a:pPr>
              <a:r>
                <a:rPr lang="en-US" sz="1050" b="1" kern="0" dirty="0">
                  <a:solidFill>
                    <a:srgbClr val="000000"/>
                  </a:solidFill>
                  <a:latin typeface="Arial"/>
                </a:rPr>
                <a:t>A-B</a:t>
              </a:r>
            </a:p>
            <a:p>
              <a:pPr algn="ctr" defTabSz="914400" fontAlgn="base">
                <a:spcBef>
                  <a:spcPct val="0"/>
                </a:spcBef>
                <a:spcAft>
                  <a:spcPct val="0"/>
                </a:spcAft>
                <a:defRPr/>
              </a:pPr>
              <a:r>
                <a:rPr lang="en-US" sz="1050" b="1" kern="0" dirty="0">
                  <a:solidFill>
                    <a:srgbClr val="000000"/>
                  </a:solidFill>
                  <a:latin typeface="Arial"/>
                </a:rPr>
                <a:t>2B</a:t>
              </a:r>
            </a:p>
          </p:txBody>
        </p:sp>
        <p:cxnSp>
          <p:nvCxnSpPr>
            <p:cNvPr id="128" name="Straight Connector 127">
              <a:extLst>
                <a:ext uri="{FF2B5EF4-FFF2-40B4-BE49-F238E27FC236}">
                  <a16:creationId xmlns:a16="http://schemas.microsoft.com/office/drawing/2014/main" id="{D7F3CA81-2285-4FD9-A311-243E4B818063}"/>
                </a:ext>
              </a:extLst>
            </p:cNvPr>
            <p:cNvCxnSpPr/>
            <p:nvPr/>
          </p:nvCxnSpPr>
          <p:spPr>
            <a:xfrm flipV="1">
              <a:off x="501070" y="51386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29" name="Straight Connector 128">
              <a:extLst>
                <a:ext uri="{FF2B5EF4-FFF2-40B4-BE49-F238E27FC236}">
                  <a16:creationId xmlns:a16="http://schemas.microsoft.com/office/drawing/2014/main" id="{ABD80728-4E0A-4523-8528-C8DB7DAFA977}"/>
                </a:ext>
              </a:extLst>
            </p:cNvPr>
            <p:cNvCxnSpPr/>
            <p:nvPr/>
          </p:nvCxnSpPr>
          <p:spPr>
            <a:xfrm flipV="1">
              <a:off x="501070" y="52910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39508664-DDB8-4B79-8DE1-1CE2CEE0F908}"/>
                </a:ext>
              </a:extLst>
            </p:cNvPr>
            <p:cNvCxnSpPr/>
            <p:nvPr/>
          </p:nvCxnSpPr>
          <p:spPr>
            <a:xfrm flipV="1">
              <a:off x="1269170" y="51386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0E51D28F-05FE-4A49-9F64-9492E7531FDE}"/>
                </a:ext>
              </a:extLst>
            </p:cNvPr>
            <p:cNvCxnSpPr/>
            <p:nvPr/>
          </p:nvCxnSpPr>
          <p:spPr>
            <a:xfrm flipV="1">
              <a:off x="1269170" y="5291035"/>
              <a:ext cx="384050" cy="1"/>
            </a:xfrm>
            <a:prstGeom prst="line">
              <a:avLst/>
            </a:prstGeom>
            <a:noFill/>
            <a:ln w="3175" cap="flat" cmpd="sng" algn="ctr">
              <a:solidFill>
                <a:srgbClr val="000000"/>
              </a:solidFill>
              <a:prstDash val="solid"/>
            </a:ln>
            <a:effectLst>
              <a:outerShdw blurRad="40000" dist="20000" dir="5400000" rotWithShape="0">
                <a:srgbClr val="000000">
                  <a:alpha val="38000"/>
                </a:srgbClr>
              </a:outerShdw>
            </a:effectLst>
          </p:spPr>
        </p:cxnSp>
        <p:sp>
          <p:nvSpPr>
            <p:cNvPr id="134" name="TextBox 133">
              <a:extLst>
                <a:ext uri="{FF2B5EF4-FFF2-40B4-BE49-F238E27FC236}">
                  <a16:creationId xmlns:a16="http://schemas.microsoft.com/office/drawing/2014/main" id="{F848C4F9-BA42-4B3A-B613-6B865D13CB1A}"/>
                </a:ext>
              </a:extLst>
            </p:cNvPr>
            <p:cNvSpPr txBox="1"/>
            <p:nvPr/>
          </p:nvSpPr>
          <p:spPr>
            <a:xfrm>
              <a:off x="413660" y="4810574"/>
              <a:ext cx="239551"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a:t>
              </a:r>
            </a:p>
          </p:txBody>
        </p:sp>
        <p:sp>
          <p:nvSpPr>
            <p:cNvPr id="135" name="TextBox 134">
              <a:extLst>
                <a:ext uri="{FF2B5EF4-FFF2-40B4-BE49-F238E27FC236}">
                  <a16:creationId xmlns:a16="http://schemas.microsoft.com/office/drawing/2014/main" id="{67F36F5D-2A9B-41DC-A0C2-16AF5053CC2D}"/>
                </a:ext>
              </a:extLst>
            </p:cNvPr>
            <p:cNvSpPr txBox="1"/>
            <p:nvPr/>
          </p:nvSpPr>
          <p:spPr>
            <a:xfrm>
              <a:off x="1193855" y="4810574"/>
              <a:ext cx="196259" cy="369332"/>
            </a:xfrm>
            <a:prstGeom prst="rect">
              <a:avLst/>
            </a:prstGeom>
            <a:noFill/>
          </p:spPr>
          <p:txBody>
            <a:bodyPr wrap="none" rtlCol="0">
              <a:spAutoFit/>
            </a:bodyPr>
            <a:lstStyle/>
            <a:p>
              <a:pPr algn="ctr" defTabSz="914400" fontAlgn="base">
                <a:spcBef>
                  <a:spcPct val="0"/>
                </a:spcBef>
                <a:spcAft>
                  <a:spcPct val="0"/>
                </a:spcAft>
                <a:defRPr/>
              </a:pPr>
              <a:r>
                <a:rPr lang="en-US" kern="0" dirty="0">
                  <a:solidFill>
                    <a:srgbClr val="000000"/>
                  </a:solidFill>
                  <a:latin typeface="Arial"/>
                </a:rPr>
                <a:t>-</a:t>
              </a:r>
            </a:p>
          </p:txBody>
        </p:sp>
        <p:cxnSp>
          <p:nvCxnSpPr>
            <p:cNvPr id="136" name="Straight Arrow Connector 135">
              <a:extLst>
                <a:ext uri="{FF2B5EF4-FFF2-40B4-BE49-F238E27FC236}">
                  <a16:creationId xmlns:a16="http://schemas.microsoft.com/office/drawing/2014/main" id="{34204E82-41B7-4F00-B4C6-39FDF4581800}"/>
                </a:ext>
              </a:extLst>
            </p:cNvPr>
            <p:cNvCxnSpPr/>
            <p:nvPr/>
          </p:nvCxnSpPr>
          <p:spPr>
            <a:xfrm rot="5400000">
              <a:off x="1307575" y="5464465"/>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grpSp>
      <p:grpSp>
        <p:nvGrpSpPr>
          <p:cNvPr id="137" name="Group 106">
            <a:extLst>
              <a:ext uri="{FF2B5EF4-FFF2-40B4-BE49-F238E27FC236}">
                <a16:creationId xmlns:a16="http://schemas.microsoft.com/office/drawing/2014/main" id="{FBF87DA8-D4A4-415C-AF02-402F7A5E3CDA}"/>
              </a:ext>
            </a:extLst>
          </p:cNvPr>
          <p:cNvGrpSpPr/>
          <p:nvPr/>
        </p:nvGrpSpPr>
        <p:grpSpPr>
          <a:xfrm>
            <a:off x="954547" y="5707595"/>
            <a:ext cx="1381723" cy="460860"/>
            <a:chOff x="629157" y="6002135"/>
            <a:chExt cx="1036562" cy="460860"/>
          </a:xfrm>
        </p:grpSpPr>
        <p:sp>
          <p:nvSpPr>
            <p:cNvPr id="138" name="TextBox 137">
              <a:extLst>
                <a:ext uri="{FF2B5EF4-FFF2-40B4-BE49-F238E27FC236}">
                  <a16:creationId xmlns:a16="http://schemas.microsoft.com/office/drawing/2014/main" id="{CFDB369B-C6A1-4F42-8704-9789128DB9DB}"/>
                </a:ext>
              </a:extLst>
            </p:cNvPr>
            <p:cNvSpPr txBox="1"/>
            <p:nvPr/>
          </p:nvSpPr>
          <p:spPr>
            <a:xfrm>
              <a:off x="629157" y="6209079"/>
              <a:ext cx="211893"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A</a:t>
              </a:r>
            </a:p>
          </p:txBody>
        </p:sp>
        <p:sp>
          <p:nvSpPr>
            <p:cNvPr id="139" name="TextBox 138">
              <a:extLst>
                <a:ext uri="{FF2B5EF4-FFF2-40B4-BE49-F238E27FC236}">
                  <a16:creationId xmlns:a16="http://schemas.microsoft.com/office/drawing/2014/main" id="{572B0712-4430-45AE-9BFD-3738E0760853}"/>
                </a:ext>
              </a:extLst>
            </p:cNvPr>
            <p:cNvSpPr txBox="1"/>
            <p:nvPr/>
          </p:nvSpPr>
          <p:spPr>
            <a:xfrm>
              <a:off x="1279455" y="6209079"/>
              <a:ext cx="386264" cy="253916"/>
            </a:xfrm>
            <a:prstGeom prst="rect">
              <a:avLst/>
            </a:prstGeom>
            <a:solidFill>
              <a:srgbClr val="FFFFFF">
                <a:lumMod val="75000"/>
              </a:srgbClr>
            </a:solidFill>
            <a:effectLst>
              <a:outerShdw blurRad="50800" dist="38100" dir="2700000" algn="tl" rotWithShape="0">
                <a:prstClr val="black">
                  <a:alpha val="40000"/>
                </a:prstClr>
              </a:outerShdw>
            </a:effectLst>
          </p:spPr>
          <p:txBody>
            <a:bodyPr wrap="none" rtlCol="0">
              <a:spAutoFit/>
            </a:bodyPr>
            <a:lstStyle/>
            <a:p>
              <a:pPr algn="ctr" defTabSz="914400" fontAlgn="base">
                <a:spcBef>
                  <a:spcPct val="0"/>
                </a:spcBef>
                <a:spcAft>
                  <a:spcPct val="0"/>
                </a:spcAft>
                <a:defRPr/>
              </a:pPr>
              <a:r>
                <a:rPr lang="en-US" sz="1050" b="1" kern="0" dirty="0">
                  <a:solidFill>
                    <a:srgbClr val="000000"/>
                  </a:solidFill>
                  <a:latin typeface="Arial"/>
                </a:rPr>
                <a:t>B&gt;&gt;1</a:t>
              </a:r>
            </a:p>
          </p:txBody>
        </p:sp>
        <p:cxnSp>
          <p:nvCxnSpPr>
            <p:cNvPr id="140" name="Straight Arrow Connector 139">
              <a:extLst>
                <a:ext uri="{FF2B5EF4-FFF2-40B4-BE49-F238E27FC236}">
                  <a16:creationId xmlns:a16="http://schemas.microsoft.com/office/drawing/2014/main" id="{2C0A1103-5B56-4836-AD6D-3E0657B0D775}"/>
                </a:ext>
              </a:extLst>
            </p:cNvPr>
            <p:cNvCxnSpPr/>
            <p:nvPr/>
          </p:nvCxnSpPr>
          <p:spPr>
            <a:xfrm rot="5400000">
              <a:off x="616284" y="6117350"/>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cxnSp>
          <p:nvCxnSpPr>
            <p:cNvPr id="141" name="Straight Arrow Connector 140">
              <a:extLst>
                <a:ext uri="{FF2B5EF4-FFF2-40B4-BE49-F238E27FC236}">
                  <a16:creationId xmlns:a16="http://schemas.microsoft.com/office/drawing/2014/main" id="{DC43B3E6-7FE3-4CC8-8B07-91AC3E61EBAA}"/>
                </a:ext>
              </a:extLst>
            </p:cNvPr>
            <p:cNvCxnSpPr/>
            <p:nvPr/>
          </p:nvCxnSpPr>
          <p:spPr>
            <a:xfrm rot="5400000">
              <a:off x="1307575" y="6117350"/>
              <a:ext cx="230431" cy="1"/>
            </a:xfrm>
            <a:prstGeom prst="straightConnector1">
              <a:avLst/>
            </a:prstGeom>
            <a:noFill/>
            <a:ln w="25400" cap="flat" cmpd="sng" algn="ctr">
              <a:solidFill>
                <a:srgbClr val="FFFF00"/>
              </a:solidFill>
              <a:prstDash val="solid"/>
              <a:tailEnd type="arrow"/>
            </a:ln>
            <a:effectLst>
              <a:outerShdw blurRad="40000" dist="20000" dir="5400000" rotWithShape="0">
                <a:srgbClr val="000000">
                  <a:alpha val="38000"/>
                </a:srgbClr>
              </a:outerShdw>
            </a:effectLst>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and Allocation: Shape the Hierarchy</a:t>
            </a:r>
          </a:p>
        </p:txBody>
      </p:sp>
      <p:sp>
        <p:nvSpPr>
          <p:cNvPr id="68" name="Slide Number Placeholder 67"/>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21</a:t>
            </a:fld>
            <a:endParaRPr lang="en-US" dirty="0"/>
          </a:p>
        </p:txBody>
      </p:sp>
      <p:sp>
        <p:nvSpPr>
          <p:cNvPr id="24" name="TextBox 23"/>
          <p:cNvSpPr txBox="1"/>
          <p:nvPr/>
        </p:nvSpPr>
        <p:spPr>
          <a:xfrm>
            <a:off x="1449388" y="5809307"/>
            <a:ext cx="2754080"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dirty="0"/>
              <a:t>One RTL block is reused for both instances of function </a:t>
            </a:r>
            <a:r>
              <a:rPr lang="en-US" sz="1200" i="1" dirty="0"/>
              <a:t>foo</a:t>
            </a:r>
          </a:p>
        </p:txBody>
      </p:sp>
      <p:sp>
        <p:nvSpPr>
          <p:cNvPr id="35" name="TextBox 34"/>
          <p:cNvSpPr txBox="1"/>
          <p:nvPr/>
        </p:nvSpPr>
        <p:spPr>
          <a:xfrm>
            <a:off x="1125528" y="1355130"/>
            <a:ext cx="3173987" cy="338554"/>
          </a:xfrm>
          <a:prstGeom prst="rect">
            <a:avLst/>
          </a:prstGeom>
          <a:noFill/>
        </p:spPr>
        <p:txBody>
          <a:bodyPr wrap="square" rtlCol="0">
            <a:spAutoFit/>
          </a:bodyPr>
          <a:lstStyle/>
          <a:p>
            <a:pPr algn="ctr"/>
            <a:r>
              <a:rPr lang="en-US" sz="1600" b="1" u="sng" dirty="0"/>
              <a:t>Easy to Share</a:t>
            </a:r>
          </a:p>
        </p:txBody>
      </p:sp>
      <p:sp>
        <p:nvSpPr>
          <p:cNvPr id="52" name="TextBox 51"/>
          <p:cNvSpPr txBox="1"/>
          <p:nvPr/>
        </p:nvSpPr>
        <p:spPr>
          <a:xfrm>
            <a:off x="4573588" y="5809307"/>
            <a:ext cx="2882900"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dirty="0"/>
              <a:t>Function </a:t>
            </a:r>
            <a:r>
              <a:rPr lang="en-US" sz="1200" i="1" dirty="0"/>
              <a:t>foo</a:t>
            </a:r>
            <a:r>
              <a:rPr lang="en-US" sz="1200" dirty="0"/>
              <a:t> is not within the immediate scope of </a:t>
            </a:r>
            <a:r>
              <a:rPr lang="en-US" sz="1200" i="1" dirty="0"/>
              <a:t>foo_top</a:t>
            </a:r>
          </a:p>
        </p:txBody>
      </p:sp>
      <p:sp>
        <p:nvSpPr>
          <p:cNvPr id="54" name="TextBox 53"/>
          <p:cNvSpPr txBox="1"/>
          <p:nvPr/>
        </p:nvSpPr>
        <p:spPr>
          <a:xfrm>
            <a:off x="4509008" y="1355130"/>
            <a:ext cx="3173987" cy="338554"/>
          </a:xfrm>
          <a:prstGeom prst="rect">
            <a:avLst/>
          </a:prstGeom>
          <a:noFill/>
        </p:spPr>
        <p:txBody>
          <a:bodyPr wrap="square" rtlCol="0">
            <a:spAutoFit/>
          </a:bodyPr>
          <a:lstStyle/>
          <a:p>
            <a:pPr algn="ctr"/>
            <a:r>
              <a:rPr lang="en-US" sz="1600" b="1" u="sng" dirty="0"/>
              <a:t>Cannot be shared</a:t>
            </a:r>
          </a:p>
        </p:txBody>
      </p:sp>
      <p:sp>
        <p:nvSpPr>
          <p:cNvPr id="67" name="TextBox 66"/>
          <p:cNvSpPr txBox="1"/>
          <p:nvPr/>
        </p:nvSpPr>
        <p:spPr>
          <a:xfrm>
            <a:off x="7799390" y="5809307"/>
            <a:ext cx="2819399"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dirty="0"/>
              <a:t>Inlining brings </a:t>
            </a:r>
            <a:r>
              <a:rPr lang="en-US" sz="1200" i="1" dirty="0"/>
              <a:t>foo</a:t>
            </a:r>
            <a:r>
              <a:rPr lang="en-US" sz="1200" dirty="0"/>
              <a:t> into function foo_top where it can be shared</a:t>
            </a:r>
          </a:p>
        </p:txBody>
      </p:sp>
      <p:sp>
        <p:nvSpPr>
          <p:cNvPr id="69" name="TextBox 68"/>
          <p:cNvSpPr txBox="1"/>
          <p:nvPr/>
        </p:nvSpPr>
        <p:spPr>
          <a:xfrm>
            <a:off x="7687322" y="1355130"/>
            <a:ext cx="3583533" cy="338554"/>
          </a:xfrm>
          <a:prstGeom prst="rect">
            <a:avLst/>
          </a:prstGeom>
          <a:noFill/>
        </p:spPr>
        <p:txBody>
          <a:bodyPr wrap="square" rtlCol="0">
            <a:spAutoFit/>
          </a:bodyPr>
          <a:lstStyle/>
          <a:p>
            <a:pPr algn="ctr"/>
            <a:r>
              <a:rPr lang="en-US" sz="1600" b="1" u="sng" dirty="0"/>
              <a:t>Controlling Sharing</a:t>
            </a:r>
          </a:p>
        </p:txBody>
      </p:sp>
      <p:sp>
        <p:nvSpPr>
          <p:cNvPr id="66"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21</a:t>
            </a:fld>
            <a:endParaRPr lang="en-US" sz="1000" dirty="0">
              <a:solidFill>
                <a:schemeClr val="bg1"/>
              </a:solidFill>
              <a:latin typeface="Arial" charset="0"/>
              <a:ea typeface="ＭＳ Ｐゴシック" pitchFamily="34" charset="-128"/>
              <a:cs typeface="Arial" charset="0"/>
            </a:endParaRPr>
          </a:p>
        </p:txBody>
      </p:sp>
      <p:pic>
        <p:nvPicPr>
          <p:cNvPr id="141314" name="Picture 2"/>
          <p:cNvPicPr>
            <a:picLocks noChangeAspect="1" noChangeArrowheads="1"/>
          </p:cNvPicPr>
          <p:nvPr/>
        </p:nvPicPr>
        <p:blipFill>
          <a:blip r:embed="rId2"/>
          <a:srcRect b="3862"/>
          <a:stretch>
            <a:fillRect/>
          </a:stretch>
        </p:blipFill>
        <p:spPr bwMode="auto">
          <a:xfrm>
            <a:off x="1368426" y="1681164"/>
            <a:ext cx="9451021" cy="4110037"/>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Inline and Allocation: Shape the Hierarchy</a:t>
            </a:r>
          </a:p>
        </p:txBody>
      </p:sp>
      <p:sp>
        <p:nvSpPr>
          <p:cNvPr id="68" name="Slide Number Placeholder 67"/>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22</a:t>
            </a:fld>
            <a:endParaRPr lang="en-US" dirty="0">
              <a:solidFill>
                <a:srgbClr val="0C0C0C">
                  <a:tint val="75000"/>
                </a:srgbClr>
              </a:solidFill>
              <a:latin typeface="Arial"/>
            </a:endParaRPr>
          </a:p>
        </p:txBody>
      </p:sp>
      <p:sp>
        <p:nvSpPr>
          <p:cNvPr id="24" name="TextBox 23"/>
          <p:cNvSpPr txBox="1"/>
          <p:nvPr/>
        </p:nvSpPr>
        <p:spPr>
          <a:xfrm>
            <a:off x="1449388" y="5809307"/>
            <a:ext cx="2754080"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914400"/>
            <a:r>
              <a:rPr lang="en-US" sz="1200" dirty="0">
                <a:solidFill>
                  <a:srgbClr val="0C0C0C"/>
                </a:solidFill>
                <a:latin typeface="Arial"/>
              </a:rPr>
              <a:t>One RTL block is reused for both instances of function </a:t>
            </a:r>
            <a:r>
              <a:rPr lang="en-US" sz="1200" i="1" dirty="0">
                <a:solidFill>
                  <a:srgbClr val="0C0C0C"/>
                </a:solidFill>
                <a:latin typeface="Arial"/>
              </a:rPr>
              <a:t>foo</a:t>
            </a:r>
          </a:p>
        </p:txBody>
      </p:sp>
      <p:sp>
        <p:nvSpPr>
          <p:cNvPr id="35" name="TextBox 34"/>
          <p:cNvSpPr txBox="1"/>
          <p:nvPr/>
        </p:nvSpPr>
        <p:spPr>
          <a:xfrm>
            <a:off x="1125528" y="1355130"/>
            <a:ext cx="3173987" cy="338554"/>
          </a:xfrm>
          <a:prstGeom prst="rect">
            <a:avLst/>
          </a:prstGeom>
          <a:noFill/>
        </p:spPr>
        <p:txBody>
          <a:bodyPr wrap="square" rtlCol="0">
            <a:spAutoFit/>
          </a:bodyPr>
          <a:lstStyle/>
          <a:p>
            <a:pPr algn="ctr" defTabSz="914400"/>
            <a:r>
              <a:rPr lang="en-US" sz="1600" b="1" u="sng" dirty="0">
                <a:solidFill>
                  <a:srgbClr val="0C0C0C"/>
                </a:solidFill>
                <a:latin typeface="Arial"/>
              </a:rPr>
              <a:t>Easy to Share</a:t>
            </a:r>
          </a:p>
        </p:txBody>
      </p:sp>
      <p:sp>
        <p:nvSpPr>
          <p:cNvPr id="52" name="TextBox 51"/>
          <p:cNvSpPr txBox="1"/>
          <p:nvPr/>
        </p:nvSpPr>
        <p:spPr>
          <a:xfrm>
            <a:off x="4573588" y="5809307"/>
            <a:ext cx="2882900"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914400"/>
            <a:r>
              <a:rPr lang="en-US" sz="1200" dirty="0">
                <a:solidFill>
                  <a:srgbClr val="0C0C0C"/>
                </a:solidFill>
                <a:latin typeface="Arial"/>
              </a:rPr>
              <a:t>Function </a:t>
            </a:r>
            <a:r>
              <a:rPr lang="en-US" sz="1200" i="1" dirty="0">
                <a:solidFill>
                  <a:srgbClr val="0C0C0C"/>
                </a:solidFill>
                <a:latin typeface="Arial"/>
              </a:rPr>
              <a:t>foo</a:t>
            </a:r>
            <a:r>
              <a:rPr lang="en-US" sz="1200" dirty="0">
                <a:solidFill>
                  <a:srgbClr val="0C0C0C"/>
                </a:solidFill>
                <a:latin typeface="Arial"/>
              </a:rPr>
              <a:t> is not within the immediate scope of </a:t>
            </a:r>
            <a:r>
              <a:rPr lang="en-US" sz="1200" i="1" dirty="0">
                <a:solidFill>
                  <a:srgbClr val="0C0C0C"/>
                </a:solidFill>
                <a:latin typeface="Arial"/>
              </a:rPr>
              <a:t>foo_top</a:t>
            </a:r>
          </a:p>
        </p:txBody>
      </p:sp>
      <p:sp>
        <p:nvSpPr>
          <p:cNvPr id="54" name="TextBox 53"/>
          <p:cNvSpPr txBox="1"/>
          <p:nvPr/>
        </p:nvSpPr>
        <p:spPr>
          <a:xfrm>
            <a:off x="4509008" y="1355130"/>
            <a:ext cx="3173987" cy="338554"/>
          </a:xfrm>
          <a:prstGeom prst="rect">
            <a:avLst/>
          </a:prstGeom>
          <a:noFill/>
        </p:spPr>
        <p:txBody>
          <a:bodyPr wrap="square" rtlCol="0">
            <a:spAutoFit/>
          </a:bodyPr>
          <a:lstStyle/>
          <a:p>
            <a:pPr algn="ctr" defTabSz="914400"/>
            <a:r>
              <a:rPr lang="en-US" sz="1600" b="1" u="sng" dirty="0">
                <a:solidFill>
                  <a:srgbClr val="0C0C0C"/>
                </a:solidFill>
                <a:latin typeface="Arial"/>
              </a:rPr>
              <a:t>Cannot be shared</a:t>
            </a:r>
          </a:p>
        </p:txBody>
      </p:sp>
      <p:sp>
        <p:nvSpPr>
          <p:cNvPr id="67" name="TextBox 66"/>
          <p:cNvSpPr txBox="1"/>
          <p:nvPr/>
        </p:nvSpPr>
        <p:spPr>
          <a:xfrm>
            <a:off x="7799390" y="5809307"/>
            <a:ext cx="2819399" cy="461665"/>
          </a:xfrm>
          <a:prstGeom prst="rect">
            <a:avLst/>
          </a:prstGeom>
          <a:solidFill>
            <a:srgbClr val="FFFF99"/>
          </a:solidFill>
          <a:ln>
            <a:solidFill>
              <a:schemeClr val="tx1"/>
            </a:solidFill>
          </a:ln>
          <a:effectLst>
            <a:outerShdw blurRad="50800" dist="635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defTabSz="914400"/>
            <a:r>
              <a:rPr lang="en-US" sz="1200" dirty="0">
                <a:solidFill>
                  <a:srgbClr val="0C0C0C"/>
                </a:solidFill>
                <a:latin typeface="Arial"/>
              </a:rPr>
              <a:t>Inlining brings </a:t>
            </a:r>
            <a:r>
              <a:rPr lang="en-US" sz="1200" i="1" dirty="0">
                <a:solidFill>
                  <a:srgbClr val="0C0C0C"/>
                </a:solidFill>
                <a:latin typeface="Arial"/>
              </a:rPr>
              <a:t>foo</a:t>
            </a:r>
            <a:r>
              <a:rPr lang="en-US" sz="1200" dirty="0">
                <a:solidFill>
                  <a:srgbClr val="0C0C0C"/>
                </a:solidFill>
                <a:latin typeface="Arial"/>
              </a:rPr>
              <a:t> into function foo_top where it can be shared</a:t>
            </a:r>
          </a:p>
        </p:txBody>
      </p:sp>
      <p:sp>
        <p:nvSpPr>
          <p:cNvPr id="69" name="TextBox 68"/>
          <p:cNvSpPr txBox="1"/>
          <p:nvPr/>
        </p:nvSpPr>
        <p:spPr>
          <a:xfrm>
            <a:off x="7687322" y="1355130"/>
            <a:ext cx="3583533" cy="338554"/>
          </a:xfrm>
          <a:prstGeom prst="rect">
            <a:avLst/>
          </a:prstGeom>
          <a:noFill/>
        </p:spPr>
        <p:txBody>
          <a:bodyPr wrap="square" rtlCol="0">
            <a:spAutoFit/>
          </a:bodyPr>
          <a:lstStyle/>
          <a:p>
            <a:pPr algn="ctr" defTabSz="914400"/>
            <a:r>
              <a:rPr lang="en-US" sz="1600" b="1" u="sng" dirty="0">
                <a:solidFill>
                  <a:srgbClr val="0C0C0C"/>
                </a:solidFill>
                <a:latin typeface="Arial"/>
              </a:rPr>
              <a:t>Controlling Sharing</a:t>
            </a:r>
          </a:p>
        </p:txBody>
      </p:sp>
      <p:sp>
        <p:nvSpPr>
          <p:cNvPr id="66"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22</a:t>
            </a:fld>
            <a:endParaRPr lang="en-US" sz="1000" dirty="0">
              <a:solidFill>
                <a:srgbClr val="FFFFFF"/>
              </a:solidFill>
              <a:latin typeface="Arial" charset="0"/>
              <a:ea typeface="ＭＳ Ｐゴシック" pitchFamily="34" charset="-128"/>
              <a:cs typeface="Arial" charset="0"/>
            </a:endParaRPr>
          </a:p>
        </p:txBody>
      </p:sp>
      <p:pic>
        <p:nvPicPr>
          <p:cNvPr id="141314" name="Picture 2"/>
          <p:cNvPicPr>
            <a:picLocks noChangeAspect="1" noChangeArrowheads="1"/>
          </p:cNvPicPr>
          <p:nvPr/>
        </p:nvPicPr>
        <p:blipFill>
          <a:blip r:embed="rId2"/>
          <a:srcRect b="3862"/>
          <a:stretch>
            <a:fillRect/>
          </a:stretch>
        </p:blipFill>
        <p:spPr bwMode="auto">
          <a:xfrm>
            <a:off x="1368426" y="1681164"/>
            <a:ext cx="9451021" cy="4110037"/>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 </a:t>
            </a:r>
          </a:p>
        </p:txBody>
      </p:sp>
      <p:sp>
        <p:nvSpPr>
          <p:cNvPr id="3" name="Content Placeholder 2"/>
          <p:cNvSpPr>
            <a:spLocks noGrp="1"/>
          </p:cNvSpPr>
          <p:nvPr>
            <p:ph idx="1"/>
          </p:nvPr>
        </p:nvSpPr>
        <p:spPr>
          <a:xfrm>
            <a:off x="611562" y="1200795"/>
            <a:ext cx="10515600" cy="4759404"/>
          </a:xfrm>
        </p:spPr>
        <p:txBody>
          <a:bodyPr>
            <a:normAutofit/>
          </a:bodyPr>
          <a:lstStyle/>
          <a:p>
            <a:r>
              <a:rPr lang="en-US" dirty="0"/>
              <a:t>By default, loops are rolled</a:t>
            </a:r>
          </a:p>
          <a:p>
            <a:pPr lvl="1"/>
            <a:r>
              <a:rPr lang="en-US" dirty="0"/>
              <a:t>Each C loop iteration </a:t>
            </a:r>
            <a:r>
              <a:rPr lang="en-US" dirty="0">
                <a:sym typeface="Wingdings" pitchFamily="2" charset="2"/>
              </a:rPr>
              <a:t> Implemented in the same state </a:t>
            </a:r>
          </a:p>
          <a:p>
            <a:pPr lvl="1"/>
            <a:r>
              <a:rPr lang="en-US" dirty="0">
                <a:sym typeface="Wingdings" pitchFamily="2" charset="2"/>
              </a:rPr>
              <a:t>Each C loop iteration  Implemented with same resources</a:t>
            </a:r>
            <a:endParaRPr lang="en-US" dirty="0"/>
          </a:p>
          <a:p>
            <a:endParaRPr lang="en-US" dirty="0"/>
          </a:p>
          <a:p>
            <a:endParaRPr lang="en-US" dirty="0"/>
          </a:p>
          <a:p>
            <a:endParaRPr lang="en-US" dirty="0"/>
          </a:p>
          <a:p>
            <a:endParaRPr lang="en-US" dirty="0"/>
          </a:p>
          <a:p>
            <a:r>
              <a:rPr lang="en-US" dirty="0"/>
              <a:t>For Area optimization</a:t>
            </a:r>
          </a:p>
        </p:txBody>
      </p:sp>
      <p:sp>
        <p:nvSpPr>
          <p:cNvPr id="37" name="Slide Number Placeholder 36"/>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23</a:t>
            </a:fld>
            <a:endParaRPr lang="en-US" dirty="0"/>
          </a:p>
        </p:txBody>
      </p:sp>
      <p:sp>
        <p:nvSpPr>
          <p:cNvPr id="26" name="TextBox 25"/>
          <p:cNvSpPr txBox="1"/>
          <p:nvPr/>
        </p:nvSpPr>
        <p:spPr>
          <a:xfrm>
            <a:off x="1846954" y="5278004"/>
            <a:ext cx="8651673" cy="584775"/>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lvl="0" algn="ctr"/>
            <a:r>
              <a:rPr lang="en-US" sz="1600" b="1" dirty="0">
                <a:ea typeface="ＭＳ Ｐゴシック" pitchFamily="24" charset="-128"/>
                <a:cs typeface="ＭＳ Ｐゴシック" pitchFamily="24" charset="-128"/>
              </a:rPr>
              <a:t>Keeping loops rolled maximizes sharing across loop iterations: each </a:t>
            </a:r>
            <a:r>
              <a:rPr lang="en-US" sz="1600" b="1" u="sng" dirty="0">
                <a:ea typeface="ＭＳ Ｐゴシック" pitchFamily="24" charset="-128"/>
                <a:cs typeface="ＭＳ Ｐゴシック" pitchFamily="24" charset="-128"/>
              </a:rPr>
              <a:t>iteration</a:t>
            </a:r>
            <a:r>
              <a:rPr lang="en-US" sz="1600" b="1" dirty="0">
                <a:ea typeface="ＭＳ Ｐゴシック" pitchFamily="24" charset="-128"/>
                <a:cs typeface="ＭＳ Ｐゴシック" pitchFamily="24" charset="-128"/>
              </a:rPr>
              <a:t> of the loop uses the same hardware resources</a:t>
            </a:r>
          </a:p>
        </p:txBody>
      </p:sp>
      <p:sp>
        <p:nvSpPr>
          <p:cNvPr id="34"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23</a:t>
            </a:fld>
            <a:endParaRPr lang="en-US" sz="1000" dirty="0">
              <a:solidFill>
                <a:schemeClr val="bg1"/>
              </a:solidFill>
              <a:latin typeface="Arial" charset="0"/>
              <a:ea typeface="ＭＳ Ｐゴシック" pitchFamily="34" charset="-128"/>
              <a:cs typeface="Arial" charset="0"/>
            </a:endParaRPr>
          </a:p>
        </p:txBody>
      </p:sp>
      <p:sp>
        <p:nvSpPr>
          <p:cNvPr id="28" name="TextBox 27">
            <a:extLst>
              <a:ext uri="{FF2B5EF4-FFF2-40B4-BE49-F238E27FC236}">
                <a16:creationId xmlns:a16="http://schemas.microsoft.com/office/drawing/2014/main" id="{7F889884-5FB9-474A-9689-591B53F3024B}"/>
              </a:ext>
            </a:extLst>
          </p:cNvPr>
          <p:cNvSpPr txBox="1"/>
          <p:nvPr/>
        </p:nvSpPr>
        <p:spPr>
          <a:xfrm>
            <a:off x="515928" y="2915512"/>
            <a:ext cx="440262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a:solidFill>
                  <a:srgbClr val="000000"/>
                </a:solidFill>
                <a:latin typeface="Consolas" pitchFamily="49" charset="0"/>
              </a:rPr>
              <a:t>void foo_top (…) {</a:t>
            </a:r>
          </a:p>
          <a:p>
            <a:pPr defTabSz="914400" fontAlgn="base">
              <a:spcBef>
                <a:spcPct val="0"/>
              </a:spcBef>
              <a:spcAft>
                <a:spcPct val="0"/>
              </a:spcAft>
              <a:defRPr/>
            </a:pPr>
            <a:r>
              <a:rPr lang="en-US" sz="1050" b="1" kern="0" dirty="0">
                <a:solidFill>
                  <a:srgbClr val="000000"/>
                </a:solidFill>
                <a:latin typeface="Consolas" pitchFamily="49" charset="0"/>
              </a:rPr>
              <a:t>  ...</a:t>
            </a:r>
          </a:p>
          <a:p>
            <a:pPr defTabSz="914400" fontAlgn="base">
              <a:spcBef>
                <a:spcPct val="0"/>
              </a:spcBef>
              <a:spcAft>
                <a:spcPct val="0"/>
              </a:spcAft>
              <a:defRPr/>
            </a:pPr>
            <a:r>
              <a:rPr lang="en-US" sz="1050" b="1" kern="0" dirty="0">
                <a:solidFill>
                  <a:srgbClr val="000000"/>
                </a:solidFill>
                <a:latin typeface="Consolas" pitchFamily="49" charset="0"/>
              </a:rPr>
              <a:t>  Add: for (i=3;i&gt;=0;i--) {</a:t>
            </a:r>
          </a:p>
          <a:p>
            <a:pPr defTabSz="914400" fontAlgn="base">
              <a:spcBef>
                <a:spcPct val="0"/>
              </a:spcBef>
              <a:spcAft>
                <a:spcPct val="0"/>
              </a:spcAft>
              <a:defRPr/>
            </a:pPr>
            <a:r>
              <a:rPr lang="en-US" sz="1050" b="1" kern="0" dirty="0">
                <a:solidFill>
                  <a:srgbClr val="000000"/>
                </a:solidFill>
                <a:latin typeface="Consolas" pitchFamily="49" charset="0"/>
              </a:rPr>
              <a:t>	b = a[i] + b;</a:t>
            </a:r>
          </a:p>
          <a:p>
            <a:pPr defTabSz="914400" fontAlgn="base">
              <a:spcBef>
                <a:spcPct val="0"/>
              </a:spcBef>
              <a:spcAft>
                <a:spcPct val="0"/>
              </a:spcAft>
              <a:defRPr/>
            </a:pPr>
            <a:r>
              <a:rPr lang="en-US" sz="1050" b="1" kern="0" dirty="0">
                <a:solidFill>
                  <a:srgbClr val="000000"/>
                </a:solidFill>
                <a:latin typeface="Consolas" pitchFamily="49" charset="0"/>
              </a:rPr>
              <a:t>  ...</a:t>
            </a:r>
          </a:p>
          <a:p>
            <a:pPr defTabSz="914400" fontAlgn="base">
              <a:spcBef>
                <a:spcPct val="0"/>
              </a:spcBef>
              <a:spcAft>
                <a:spcPct val="0"/>
              </a:spcAft>
              <a:defRPr/>
            </a:pPr>
            <a:r>
              <a:rPr lang="en-US" sz="1050" b="1" kern="0" dirty="0">
                <a:solidFill>
                  <a:srgbClr val="000000"/>
                </a:solidFill>
                <a:latin typeface="Consolas" pitchFamily="49" charset="0"/>
              </a:rPr>
              <a:t>  }	</a:t>
            </a:r>
          </a:p>
        </p:txBody>
      </p:sp>
      <p:sp>
        <p:nvSpPr>
          <p:cNvPr id="29" name="Rectangle 28">
            <a:extLst>
              <a:ext uri="{FF2B5EF4-FFF2-40B4-BE49-F238E27FC236}">
                <a16:creationId xmlns:a16="http://schemas.microsoft.com/office/drawing/2014/main" id="{BEABD772-8EC3-4329-94BA-0FF324E19F07}"/>
              </a:ext>
            </a:extLst>
          </p:cNvPr>
          <p:cNvSpPr/>
          <p:nvPr/>
        </p:nvSpPr>
        <p:spPr>
          <a:xfrm>
            <a:off x="7166148" y="2723486"/>
            <a:ext cx="3537252"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8" name="TextBox 37">
            <a:extLst>
              <a:ext uri="{FF2B5EF4-FFF2-40B4-BE49-F238E27FC236}">
                <a16:creationId xmlns:a16="http://schemas.microsoft.com/office/drawing/2014/main" id="{5C3BC290-507F-462E-8AAA-D676E0416FAB}"/>
              </a:ext>
            </a:extLst>
          </p:cNvPr>
          <p:cNvSpPr txBox="1"/>
          <p:nvPr/>
        </p:nvSpPr>
        <p:spPr>
          <a:xfrm>
            <a:off x="7291104" y="2723487"/>
            <a:ext cx="75052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foo_top</a:t>
            </a:r>
          </a:p>
        </p:txBody>
      </p:sp>
      <p:sp>
        <p:nvSpPr>
          <p:cNvPr id="39" name="Trapezoid 38">
            <a:extLst>
              <a:ext uri="{FF2B5EF4-FFF2-40B4-BE49-F238E27FC236}">
                <a16:creationId xmlns:a16="http://schemas.microsoft.com/office/drawing/2014/main" id="{D2397884-FDD3-4181-96CB-C732CEB1A068}"/>
              </a:ext>
            </a:extLst>
          </p:cNvPr>
          <p:cNvSpPr/>
          <p:nvPr/>
        </p:nvSpPr>
        <p:spPr>
          <a:xfrm rot="5400000">
            <a:off x="8392222" y="3388417"/>
            <a:ext cx="460860" cy="358353"/>
          </a:xfrm>
          <a:prstGeom prst="trapezoid">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b="1" kern="0" dirty="0">
                <a:solidFill>
                  <a:srgbClr val="FFFFFF"/>
                </a:solidFill>
                <a:latin typeface="Arial"/>
              </a:rPr>
              <a:t>+</a:t>
            </a:r>
          </a:p>
        </p:txBody>
      </p:sp>
      <p:cxnSp>
        <p:nvCxnSpPr>
          <p:cNvPr id="40" name="Straight Arrow Connector 39">
            <a:extLst>
              <a:ext uri="{FF2B5EF4-FFF2-40B4-BE49-F238E27FC236}">
                <a16:creationId xmlns:a16="http://schemas.microsoft.com/office/drawing/2014/main" id="{30E38E40-DA10-4A87-8DBA-B5E223564EBC}"/>
              </a:ext>
            </a:extLst>
          </p:cNvPr>
          <p:cNvCxnSpPr/>
          <p:nvPr/>
        </p:nvCxnSpPr>
        <p:spPr>
          <a:xfrm>
            <a:off x="8085124" y="3490781"/>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1" name="Straight Arrow Connector 40">
            <a:extLst>
              <a:ext uri="{FF2B5EF4-FFF2-40B4-BE49-F238E27FC236}">
                <a16:creationId xmlns:a16="http://schemas.microsoft.com/office/drawing/2014/main" id="{6F46B10E-3F74-4494-A657-A8D6D7CC8FE5}"/>
              </a:ext>
            </a:extLst>
          </p:cNvPr>
          <p:cNvCxnSpPr/>
          <p:nvPr/>
        </p:nvCxnSpPr>
        <p:spPr>
          <a:xfrm>
            <a:off x="8033930" y="368280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2" name="Rectangle 41">
            <a:extLst>
              <a:ext uri="{FF2B5EF4-FFF2-40B4-BE49-F238E27FC236}">
                <a16:creationId xmlns:a16="http://schemas.microsoft.com/office/drawing/2014/main" id="{88DD3669-B807-4AF7-B230-4F2266D4C1A2}"/>
              </a:ext>
            </a:extLst>
          </p:cNvPr>
          <p:cNvSpPr/>
          <p:nvPr/>
        </p:nvSpPr>
        <p:spPr>
          <a:xfrm>
            <a:off x="9213884" y="3414776"/>
            <a:ext cx="358353" cy="460860"/>
          </a:xfrm>
          <a:prstGeom prst="rect">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3" name="Isosceles Triangle 42">
            <a:extLst>
              <a:ext uri="{FF2B5EF4-FFF2-40B4-BE49-F238E27FC236}">
                <a16:creationId xmlns:a16="http://schemas.microsoft.com/office/drawing/2014/main" id="{6280318D-9DD7-4D31-9B3A-5D0F172CF904}"/>
              </a:ext>
            </a:extLst>
          </p:cNvPr>
          <p:cNvSpPr/>
          <p:nvPr/>
        </p:nvSpPr>
        <p:spPr>
          <a:xfrm rot="5400000">
            <a:off x="9233065" y="3702834"/>
            <a:ext cx="115215" cy="153580"/>
          </a:xfrm>
          <a:prstGeom prst="triangl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44" name="Straight Arrow Connector 43">
            <a:extLst>
              <a:ext uri="{FF2B5EF4-FFF2-40B4-BE49-F238E27FC236}">
                <a16:creationId xmlns:a16="http://schemas.microsoft.com/office/drawing/2014/main" id="{1D7A57B0-7A09-4148-A1BC-D0712BA45321}"/>
              </a:ext>
            </a:extLst>
          </p:cNvPr>
          <p:cNvCxnSpPr/>
          <p:nvPr/>
        </p:nvCxnSpPr>
        <p:spPr>
          <a:xfrm>
            <a:off x="8804336" y="356839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5" name="Straight Arrow Connector 44">
            <a:extLst>
              <a:ext uri="{FF2B5EF4-FFF2-40B4-BE49-F238E27FC236}">
                <a16:creationId xmlns:a16="http://schemas.microsoft.com/office/drawing/2014/main" id="{A33850AC-5EB8-47C8-ABBF-4BDF03F9DBCE}"/>
              </a:ext>
            </a:extLst>
          </p:cNvPr>
          <p:cNvCxnSpPr/>
          <p:nvPr/>
        </p:nvCxnSpPr>
        <p:spPr>
          <a:xfrm>
            <a:off x="9572236" y="356839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AEEEDB5D-C512-4FAF-8411-5F7A336D4F37}"/>
              </a:ext>
            </a:extLst>
          </p:cNvPr>
          <p:cNvCxnSpPr/>
          <p:nvPr/>
        </p:nvCxnSpPr>
        <p:spPr>
          <a:xfrm rot="16200000" flipV="1">
            <a:off x="9482602" y="3376373"/>
            <a:ext cx="384047"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FBC1D87B-3B47-49FE-9704-A0A670623D4B}"/>
              </a:ext>
            </a:extLst>
          </p:cNvPr>
          <p:cNvCxnSpPr/>
          <p:nvPr/>
        </p:nvCxnSpPr>
        <p:spPr>
          <a:xfrm rot="10800000">
            <a:off x="8085126" y="3183544"/>
            <a:ext cx="1589499" cy="805"/>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8" name="Straight Connector 47">
            <a:extLst>
              <a:ext uri="{FF2B5EF4-FFF2-40B4-BE49-F238E27FC236}">
                <a16:creationId xmlns:a16="http://schemas.microsoft.com/office/drawing/2014/main" id="{6FB2CEA2-5424-47C2-B374-80EE1C95CB64}"/>
              </a:ext>
            </a:extLst>
          </p:cNvPr>
          <p:cNvCxnSpPr/>
          <p:nvPr/>
        </p:nvCxnSpPr>
        <p:spPr>
          <a:xfrm rot="16200000" flipV="1">
            <a:off x="7931505" y="3337162"/>
            <a:ext cx="307240"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sp>
        <p:nvSpPr>
          <p:cNvPr id="49" name="Right Arrow 26">
            <a:extLst>
              <a:ext uri="{FF2B5EF4-FFF2-40B4-BE49-F238E27FC236}">
                <a16:creationId xmlns:a16="http://schemas.microsoft.com/office/drawing/2014/main" id="{ECAD25DA-9647-4E36-BC97-6DE742746013}"/>
              </a:ext>
            </a:extLst>
          </p:cNvPr>
          <p:cNvSpPr/>
          <p:nvPr/>
        </p:nvSpPr>
        <p:spPr>
          <a:xfrm>
            <a:off x="5225715" y="3299560"/>
            <a:ext cx="163818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400" kern="0" dirty="0">
                <a:solidFill>
                  <a:srgbClr val="FFFFFF"/>
                </a:solidFill>
                <a:latin typeface="Arial"/>
              </a:rPr>
              <a:t>Synthesis</a:t>
            </a:r>
          </a:p>
        </p:txBody>
      </p:sp>
      <p:sp>
        <p:nvSpPr>
          <p:cNvPr id="50" name="Oval 49">
            <a:extLst>
              <a:ext uri="{FF2B5EF4-FFF2-40B4-BE49-F238E27FC236}">
                <a16:creationId xmlns:a16="http://schemas.microsoft.com/office/drawing/2014/main" id="{DC3CEA5D-C268-4F01-8DE1-F5DFF98A9283}"/>
              </a:ext>
            </a:extLst>
          </p:cNvPr>
          <p:cNvSpPr/>
          <p:nvPr/>
        </p:nvSpPr>
        <p:spPr>
          <a:xfrm>
            <a:off x="10805787" y="222422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N</a:t>
            </a:r>
          </a:p>
        </p:txBody>
      </p:sp>
      <p:cxnSp>
        <p:nvCxnSpPr>
          <p:cNvPr id="51" name="Curved Connector 20">
            <a:extLst>
              <a:ext uri="{FF2B5EF4-FFF2-40B4-BE49-F238E27FC236}">
                <a16:creationId xmlns:a16="http://schemas.microsoft.com/office/drawing/2014/main" id="{98B70693-BF74-46C6-9684-82B27FCF9BA2}"/>
              </a:ext>
            </a:extLst>
          </p:cNvPr>
          <p:cNvCxnSpPr>
            <a:stCxn id="50" idx="5"/>
            <a:endCxn id="50" idx="7"/>
          </p:cNvCxnSpPr>
          <p:nvPr/>
        </p:nvCxnSpPr>
        <p:spPr>
          <a:xfrm rot="5400000" flipH="1">
            <a:off x="11044818" y="2376357"/>
            <a:ext cx="215526" cy="2117"/>
          </a:xfrm>
          <a:prstGeom prst="curvedConnector5">
            <a:avLst>
              <a:gd name="adj1" fmla="val -44874"/>
              <a:gd name="adj2" fmla="val -15460269"/>
              <a:gd name="adj3" fmla="val 120397"/>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2" name="Straight Arrow Connector 51">
            <a:extLst>
              <a:ext uri="{FF2B5EF4-FFF2-40B4-BE49-F238E27FC236}">
                <a16:creationId xmlns:a16="http://schemas.microsoft.com/office/drawing/2014/main" id="{551255C3-5093-4DBB-9C09-055900389D91}"/>
              </a:ext>
            </a:extLst>
          </p:cNvPr>
          <p:cNvCxnSpPr>
            <a:endCxn id="50" idx="0"/>
          </p:cNvCxnSpPr>
          <p:nvPr/>
        </p:nvCxnSpPr>
        <p:spPr>
          <a:xfrm rot="16200000" flipH="1">
            <a:off x="10850191" y="2065478"/>
            <a:ext cx="267918" cy="4956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3" name="Straight Arrow Connector 52">
            <a:extLst>
              <a:ext uri="{FF2B5EF4-FFF2-40B4-BE49-F238E27FC236}">
                <a16:creationId xmlns:a16="http://schemas.microsoft.com/office/drawing/2014/main" id="{E9F6BDB9-84A2-45EC-9A89-5C66952951B5}"/>
              </a:ext>
            </a:extLst>
          </p:cNvPr>
          <p:cNvCxnSpPr>
            <a:stCxn id="50" idx="4"/>
          </p:cNvCxnSpPr>
          <p:nvPr/>
        </p:nvCxnSpPr>
        <p:spPr>
          <a:xfrm rot="16200000" flipH="1">
            <a:off x="10880048" y="2657907"/>
            <a:ext cx="310597" cy="528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54" name="TextBox 53">
            <a:extLst>
              <a:ext uri="{FF2B5EF4-FFF2-40B4-BE49-F238E27FC236}">
                <a16:creationId xmlns:a16="http://schemas.microsoft.com/office/drawing/2014/main" id="{3C72A933-3BED-4E6D-AE5A-A6E495EEBD54}"/>
              </a:ext>
            </a:extLst>
          </p:cNvPr>
          <p:cNvSpPr txBox="1"/>
          <p:nvPr/>
        </p:nvSpPr>
        <p:spPr>
          <a:xfrm>
            <a:off x="7587801" y="3529992"/>
            <a:ext cx="482824"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a[N]</a:t>
            </a:r>
          </a:p>
        </p:txBody>
      </p:sp>
      <p:sp>
        <p:nvSpPr>
          <p:cNvPr id="55" name="TextBox 54">
            <a:extLst>
              <a:ext uri="{FF2B5EF4-FFF2-40B4-BE49-F238E27FC236}">
                <a16:creationId xmlns:a16="http://schemas.microsoft.com/office/drawing/2014/main" id="{886A9377-6BFE-4627-92D7-9E08A4684884}"/>
              </a:ext>
            </a:extLst>
          </p:cNvPr>
          <p:cNvSpPr txBox="1"/>
          <p:nvPr/>
        </p:nvSpPr>
        <p:spPr>
          <a:xfrm>
            <a:off x="10011481" y="3414777"/>
            <a:ext cx="279243"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 </a:t>
            </a:r>
          </a:p>
        </p:txBody>
      </p:sp>
      <p:sp>
        <p:nvSpPr>
          <p:cNvPr id="3" name="Content Placeholder 2"/>
          <p:cNvSpPr>
            <a:spLocks noGrp="1"/>
          </p:cNvSpPr>
          <p:nvPr>
            <p:ph idx="1"/>
          </p:nvPr>
        </p:nvSpPr>
        <p:spPr/>
        <p:txBody>
          <a:bodyPr>
            <a:normAutofit/>
          </a:bodyPr>
          <a:lstStyle/>
          <a:p>
            <a:r>
              <a:rPr lang="en-US" dirty="0"/>
              <a:t>By default, loops are rolled</a:t>
            </a:r>
          </a:p>
          <a:p>
            <a:pPr lvl="1"/>
            <a:r>
              <a:rPr lang="en-US" dirty="0"/>
              <a:t>Each C loop iteration </a:t>
            </a:r>
            <a:r>
              <a:rPr lang="en-US" dirty="0">
                <a:sym typeface="Wingdings" pitchFamily="2" charset="2"/>
              </a:rPr>
              <a:t> Implemented in the same state </a:t>
            </a:r>
          </a:p>
          <a:p>
            <a:pPr lvl="1"/>
            <a:r>
              <a:rPr lang="en-US" dirty="0">
                <a:sym typeface="Wingdings" pitchFamily="2" charset="2"/>
              </a:rPr>
              <a:t>Each C loop iteration  Implemented with same resources</a:t>
            </a:r>
            <a:endParaRPr lang="en-US" dirty="0"/>
          </a:p>
          <a:p>
            <a:endParaRPr lang="en-US" dirty="0"/>
          </a:p>
          <a:p>
            <a:endParaRPr lang="en-US" dirty="0"/>
          </a:p>
          <a:p>
            <a:endParaRPr lang="en-US" dirty="0"/>
          </a:p>
          <a:p>
            <a:endParaRPr lang="en-US" dirty="0"/>
          </a:p>
          <a:p>
            <a:r>
              <a:rPr lang="en-US" dirty="0"/>
              <a:t>For Area optimization</a:t>
            </a:r>
          </a:p>
        </p:txBody>
      </p:sp>
      <p:sp>
        <p:nvSpPr>
          <p:cNvPr id="37" name="Slide Number Placeholder 36"/>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24</a:t>
            </a:fld>
            <a:endParaRPr lang="en-US" dirty="0">
              <a:solidFill>
                <a:srgbClr val="0C0C0C">
                  <a:tint val="75000"/>
                </a:srgbClr>
              </a:solidFill>
              <a:latin typeface="Arial"/>
            </a:endParaRPr>
          </a:p>
        </p:txBody>
      </p:sp>
      <p:sp>
        <p:nvSpPr>
          <p:cNvPr id="26" name="TextBox 25"/>
          <p:cNvSpPr txBox="1"/>
          <p:nvPr/>
        </p:nvSpPr>
        <p:spPr>
          <a:xfrm>
            <a:off x="1846954" y="5278004"/>
            <a:ext cx="8651673" cy="584775"/>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914400"/>
            <a:r>
              <a:rPr lang="en-US" sz="1600" b="1" dirty="0">
                <a:solidFill>
                  <a:srgbClr val="0C0C0C"/>
                </a:solidFill>
                <a:latin typeface="Arial"/>
                <a:ea typeface="ＭＳ Ｐゴシック" pitchFamily="24" charset="-128"/>
                <a:cs typeface="ＭＳ Ｐゴシック" pitchFamily="24" charset="-128"/>
              </a:rPr>
              <a:t>Keeping loops rolled maximizes sharing across loop iterations: each </a:t>
            </a:r>
            <a:r>
              <a:rPr lang="en-US" sz="1600" b="1" u="sng" dirty="0">
                <a:solidFill>
                  <a:srgbClr val="0C0C0C"/>
                </a:solidFill>
                <a:latin typeface="Arial"/>
                <a:ea typeface="ＭＳ Ｐゴシック" pitchFamily="24" charset="-128"/>
                <a:cs typeface="ＭＳ Ｐゴシック" pitchFamily="24" charset="-128"/>
              </a:rPr>
              <a:t>iteration</a:t>
            </a:r>
            <a:r>
              <a:rPr lang="en-US" sz="1600" b="1" dirty="0">
                <a:solidFill>
                  <a:srgbClr val="0C0C0C"/>
                </a:solidFill>
                <a:latin typeface="Arial"/>
                <a:ea typeface="ＭＳ Ｐゴシック" pitchFamily="24" charset="-128"/>
                <a:cs typeface="ＭＳ Ｐゴシック" pitchFamily="24" charset="-128"/>
              </a:rPr>
              <a:t> of the loop uses the same hardware resources</a:t>
            </a:r>
          </a:p>
        </p:txBody>
      </p:sp>
      <p:sp>
        <p:nvSpPr>
          <p:cNvPr id="34"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24</a:t>
            </a:fld>
            <a:endParaRPr lang="en-US" sz="1000" dirty="0">
              <a:solidFill>
                <a:srgbClr val="FFFFFF"/>
              </a:solidFill>
              <a:latin typeface="Arial" charset="0"/>
              <a:ea typeface="ＭＳ Ｐゴシック" pitchFamily="34" charset="-128"/>
              <a:cs typeface="Arial" charset="0"/>
            </a:endParaRPr>
          </a:p>
        </p:txBody>
      </p:sp>
      <p:sp>
        <p:nvSpPr>
          <p:cNvPr id="28" name="TextBox 27">
            <a:extLst>
              <a:ext uri="{FF2B5EF4-FFF2-40B4-BE49-F238E27FC236}">
                <a16:creationId xmlns:a16="http://schemas.microsoft.com/office/drawing/2014/main" id="{7F889884-5FB9-474A-9689-591B53F3024B}"/>
              </a:ext>
            </a:extLst>
          </p:cNvPr>
          <p:cNvSpPr txBox="1"/>
          <p:nvPr/>
        </p:nvSpPr>
        <p:spPr>
          <a:xfrm>
            <a:off x="515928" y="2915512"/>
            <a:ext cx="440262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50" b="1" kern="0" dirty="0">
                <a:solidFill>
                  <a:srgbClr val="000000"/>
                </a:solidFill>
                <a:latin typeface="Consolas" pitchFamily="49" charset="0"/>
              </a:rPr>
              <a:t>void foo_top (…) {</a:t>
            </a:r>
          </a:p>
          <a:p>
            <a:pPr defTabSz="914400" fontAlgn="base">
              <a:spcBef>
                <a:spcPct val="0"/>
              </a:spcBef>
              <a:spcAft>
                <a:spcPct val="0"/>
              </a:spcAft>
              <a:defRPr/>
            </a:pPr>
            <a:r>
              <a:rPr lang="en-US" sz="1050" b="1" kern="0" dirty="0">
                <a:solidFill>
                  <a:srgbClr val="000000"/>
                </a:solidFill>
                <a:latin typeface="Consolas" pitchFamily="49" charset="0"/>
              </a:rPr>
              <a:t>  ...</a:t>
            </a:r>
          </a:p>
          <a:p>
            <a:pPr defTabSz="914400" fontAlgn="base">
              <a:spcBef>
                <a:spcPct val="0"/>
              </a:spcBef>
              <a:spcAft>
                <a:spcPct val="0"/>
              </a:spcAft>
              <a:defRPr/>
            </a:pPr>
            <a:r>
              <a:rPr lang="en-US" sz="1050" b="1" kern="0" dirty="0">
                <a:solidFill>
                  <a:srgbClr val="000000"/>
                </a:solidFill>
                <a:latin typeface="Consolas" pitchFamily="49" charset="0"/>
              </a:rPr>
              <a:t>  Add: for (i=3;i&gt;=0;i--) {</a:t>
            </a:r>
          </a:p>
          <a:p>
            <a:pPr defTabSz="914400" fontAlgn="base">
              <a:spcBef>
                <a:spcPct val="0"/>
              </a:spcBef>
              <a:spcAft>
                <a:spcPct val="0"/>
              </a:spcAft>
              <a:defRPr/>
            </a:pPr>
            <a:r>
              <a:rPr lang="en-US" sz="1050" b="1" kern="0" dirty="0">
                <a:solidFill>
                  <a:srgbClr val="000000"/>
                </a:solidFill>
                <a:latin typeface="Consolas" pitchFamily="49" charset="0"/>
              </a:rPr>
              <a:t>	b = a[i] + b;</a:t>
            </a:r>
          </a:p>
          <a:p>
            <a:pPr defTabSz="914400" fontAlgn="base">
              <a:spcBef>
                <a:spcPct val="0"/>
              </a:spcBef>
              <a:spcAft>
                <a:spcPct val="0"/>
              </a:spcAft>
              <a:defRPr/>
            </a:pPr>
            <a:r>
              <a:rPr lang="en-US" sz="1050" b="1" kern="0" dirty="0">
                <a:solidFill>
                  <a:srgbClr val="000000"/>
                </a:solidFill>
                <a:latin typeface="Consolas" pitchFamily="49" charset="0"/>
              </a:rPr>
              <a:t>  ...</a:t>
            </a:r>
          </a:p>
          <a:p>
            <a:pPr defTabSz="914400" fontAlgn="base">
              <a:spcBef>
                <a:spcPct val="0"/>
              </a:spcBef>
              <a:spcAft>
                <a:spcPct val="0"/>
              </a:spcAft>
              <a:defRPr/>
            </a:pPr>
            <a:r>
              <a:rPr lang="en-US" sz="1050" b="1" kern="0" dirty="0">
                <a:solidFill>
                  <a:srgbClr val="000000"/>
                </a:solidFill>
                <a:latin typeface="Consolas" pitchFamily="49" charset="0"/>
              </a:rPr>
              <a:t>  }	</a:t>
            </a:r>
          </a:p>
        </p:txBody>
      </p:sp>
      <p:sp>
        <p:nvSpPr>
          <p:cNvPr id="29" name="Rectangle 28">
            <a:extLst>
              <a:ext uri="{FF2B5EF4-FFF2-40B4-BE49-F238E27FC236}">
                <a16:creationId xmlns:a16="http://schemas.microsoft.com/office/drawing/2014/main" id="{BEABD772-8EC3-4329-94BA-0FF324E19F07}"/>
              </a:ext>
            </a:extLst>
          </p:cNvPr>
          <p:cNvSpPr/>
          <p:nvPr/>
        </p:nvSpPr>
        <p:spPr>
          <a:xfrm>
            <a:off x="7166148" y="2723486"/>
            <a:ext cx="3537252"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38" name="TextBox 37">
            <a:extLst>
              <a:ext uri="{FF2B5EF4-FFF2-40B4-BE49-F238E27FC236}">
                <a16:creationId xmlns:a16="http://schemas.microsoft.com/office/drawing/2014/main" id="{5C3BC290-507F-462E-8AAA-D676E0416FAB}"/>
              </a:ext>
            </a:extLst>
          </p:cNvPr>
          <p:cNvSpPr txBox="1"/>
          <p:nvPr/>
        </p:nvSpPr>
        <p:spPr>
          <a:xfrm>
            <a:off x="7291104" y="2723487"/>
            <a:ext cx="75052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latin typeface="Arial"/>
              </a:rPr>
              <a:t>foo_top</a:t>
            </a:r>
          </a:p>
        </p:txBody>
      </p:sp>
      <p:sp>
        <p:nvSpPr>
          <p:cNvPr id="39" name="Trapezoid 38">
            <a:extLst>
              <a:ext uri="{FF2B5EF4-FFF2-40B4-BE49-F238E27FC236}">
                <a16:creationId xmlns:a16="http://schemas.microsoft.com/office/drawing/2014/main" id="{D2397884-FDD3-4181-96CB-C732CEB1A068}"/>
              </a:ext>
            </a:extLst>
          </p:cNvPr>
          <p:cNvSpPr/>
          <p:nvPr/>
        </p:nvSpPr>
        <p:spPr>
          <a:xfrm rot="5400000">
            <a:off x="8392222" y="3388417"/>
            <a:ext cx="460860" cy="358353"/>
          </a:xfrm>
          <a:prstGeom prst="trapezoid">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b="1" kern="0" dirty="0">
                <a:solidFill>
                  <a:srgbClr val="FFFFFF"/>
                </a:solidFill>
                <a:latin typeface="Arial"/>
              </a:rPr>
              <a:t>+</a:t>
            </a:r>
          </a:p>
        </p:txBody>
      </p:sp>
      <p:cxnSp>
        <p:nvCxnSpPr>
          <p:cNvPr id="40" name="Straight Arrow Connector 39">
            <a:extLst>
              <a:ext uri="{FF2B5EF4-FFF2-40B4-BE49-F238E27FC236}">
                <a16:creationId xmlns:a16="http://schemas.microsoft.com/office/drawing/2014/main" id="{30E38E40-DA10-4A87-8DBA-B5E223564EBC}"/>
              </a:ext>
            </a:extLst>
          </p:cNvPr>
          <p:cNvCxnSpPr/>
          <p:nvPr/>
        </p:nvCxnSpPr>
        <p:spPr>
          <a:xfrm>
            <a:off x="8085124" y="3490781"/>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1" name="Straight Arrow Connector 40">
            <a:extLst>
              <a:ext uri="{FF2B5EF4-FFF2-40B4-BE49-F238E27FC236}">
                <a16:creationId xmlns:a16="http://schemas.microsoft.com/office/drawing/2014/main" id="{6F46B10E-3F74-4494-A657-A8D6D7CC8FE5}"/>
              </a:ext>
            </a:extLst>
          </p:cNvPr>
          <p:cNvCxnSpPr/>
          <p:nvPr/>
        </p:nvCxnSpPr>
        <p:spPr>
          <a:xfrm>
            <a:off x="8033930" y="368280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2" name="Rectangle 41">
            <a:extLst>
              <a:ext uri="{FF2B5EF4-FFF2-40B4-BE49-F238E27FC236}">
                <a16:creationId xmlns:a16="http://schemas.microsoft.com/office/drawing/2014/main" id="{88DD3669-B807-4AF7-B230-4F2266D4C1A2}"/>
              </a:ext>
            </a:extLst>
          </p:cNvPr>
          <p:cNvSpPr/>
          <p:nvPr/>
        </p:nvSpPr>
        <p:spPr>
          <a:xfrm>
            <a:off x="9213884" y="3414776"/>
            <a:ext cx="358353" cy="460860"/>
          </a:xfrm>
          <a:prstGeom prst="rect">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sp>
        <p:nvSpPr>
          <p:cNvPr id="43" name="Isosceles Triangle 42">
            <a:extLst>
              <a:ext uri="{FF2B5EF4-FFF2-40B4-BE49-F238E27FC236}">
                <a16:creationId xmlns:a16="http://schemas.microsoft.com/office/drawing/2014/main" id="{6280318D-9DD7-4D31-9B3A-5D0F172CF904}"/>
              </a:ext>
            </a:extLst>
          </p:cNvPr>
          <p:cNvSpPr/>
          <p:nvPr/>
        </p:nvSpPr>
        <p:spPr>
          <a:xfrm rot="5400000">
            <a:off x="9233065" y="3702834"/>
            <a:ext cx="115215" cy="153580"/>
          </a:xfrm>
          <a:prstGeom prst="triangl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dirty="0">
              <a:solidFill>
                <a:srgbClr val="FFFFFF"/>
              </a:solidFill>
              <a:latin typeface="Arial"/>
            </a:endParaRPr>
          </a:p>
        </p:txBody>
      </p:sp>
      <p:cxnSp>
        <p:nvCxnSpPr>
          <p:cNvPr id="44" name="Straight Arrow Connector 43">
            <a:extLst>
              <a:ext uri="{FF2B5EF4-FFF2-40B4-BE49-F238E27FC236}">
                <a16:creationId xmlns:a16="http://schemas.microsoft.com/office/drawing/2014/main" id="{1D7A57B0-7A09-4148-A1BC-D0712BA45321}"/>
              </a:ext>
            </a:extLst>
          </p:cNvPr>
          <p:cNvCxnSpPr/>
          <p:nvPr/>
        </p:nvCxnSpPr>
        <p:spPr>
          <a:xfrm>
            <a:off x="8804336" y="356839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5" name="Straight Arrow Connector 44">
            <a:extLst>
              <a:ext uri="{FF2B5EF4-FFF2-40B4-BE49-F238E27FC236}">
                <a16:creationId xmlns:a16="http://schemas.microsoft.com/office/drawing/2014/main" id="{A33850AC-5EB8-47C8-ABBF-4BDF03F9DBCE}"/>
              </a:ext>
            </a:extLst>
          </p:cNvPr>
          <p:cNvCxnSpPr/>
          <p:nvPr/>
        </p:nvCxnSpPr>
        <p:spPr>
          <a:xfrm>
            <a:off x="9572236" y="3568396"/>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AEEEDB5D-C512-4FAF-8411-5F7A336D4F37}"/>
              </a:ext>
            </a:extLst>
          </p:cNvPr>
          <p:cNvCxnSpPr/>
          <p:nvPr/>
        </p:nvCxnSpPr>
        <p:spPr>
          <a:xfrm rot="16200000" flipV="1">
            <a:off x="9482602" y="3376373"/>
            <a:ext cx="384047"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FBC1D87B-3B47-49FE-9704-A0A670623D4B}"/>
              </a:ext>
            </a:extLst>
          </p:cNvPr>
          <p:cNvCxnSpPr/>
          <p:nvPr/>
        </p:nvCxnSpPr>
        <p:spPr>
          <a:xfrm rot="10800000">
            <a:off x="8085126" y="3183544"/>
            <a:ext cx="1589499" cy="805"/>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8" name="Straight Connector 47">
            <a:extLst>
              <a:ext uri="{FF2B5EF4-FFF2-40B4-BE49-F238E27FC236}">
                <a16:creationId xmlns:a16="http://schemas.microsoft.com/office/drawing/2014/main" id="{6FB2CEA2-5424-47C2-B374-80EE1C95CB64}"/>
              </a:ext>
            </a:extLst>
          </p:cNvPr>
          <p:cNvCxnSpPr/>
          <p:nvPr/>
        </p:nvCxnSpPr>
        <p:spPr>
          <a:xfrm rot="16200000" flipV="1">
            <a:off x="7931505" y="3337162"/>
            <a:ext cx="307240"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sp>
        <p:nvSpPr>
          <p:cNvPr id="49" name="Right Arrow 26">
            <a:extLst>
              <a:ext uri="{FF2B5EF4-FFF2-40B4-BE49-F238E27FC236}">
                <a16:creationId xmlns:a16="http://schemas.microsoft.com/office/drawing/2014/main" id="{ECAD25DA-9647-4E36-BC97-6DE742746013}"/>
              </a:ext>
            </a:extLst>
          </p:cNvPr>
          <p:cNvSpPr/>
          <p:nvPr/>
        </p:nvSpPr>
        <p:spPr>
          <a:xfrm>
            <a:off x="5225715" y="3299560"/>
            <a:ext cx="163818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sz="1400" kern="0" dirty="0">
                <a:solidFill>
                  <a:srgbClr val="FFFFFF"/>
                </a:solidFill>
                <a:latin typeface="Arial"/>
              </a:rPr>
              <a:t>Synthesis</a:t>
            </a:r>
          </a:p>
        </p:txBody>
      </p:sp>
      <p:sp>
        <p:nvSpPr>
          <p:cNvPr id="50" name="Oval 49">
            <a:extLst>
              <a:ext uri="{FF2B5EF4-FFF2-40B4-BE49-F238E27FC236}">
                <a16:creationId xmlns:a16="http://schemas.microsoft.com/office/drawing/2014/main" id="{DC3CEA5D-C268-4F01-8DE1-F5DFF98A9283}"/>
              </a:ext>
            </a:extLst>
          </p:cNvPr>
          <p:cNvSpPr/>
          <p:nvPr/>
        </p:nvSpPr>
        <p:spPr>
          <a:xfrm>
            <a:off x="10805787" y="2224220"/>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N</a:t>
            </a:r>
          </a:p>
        </p:txBody>
      </p:sp>
      <p:cxnSp>
        <p:nvCxnSpPr>
          <p:cNvPr id="51" name="Curved Connector 20">
            <a:extLst>
              <a:ext uri="{FF2B5EF4-FFF2-40B4-BE49-F238E27FC236}">
                <a16:creationId xmlns:a16="http://schemas.microsoft.com/office/drawing/2014/main" id="{98B70693-BF74-46C6-9684-82B27FCF9BA2}"/>
              </a:ext>
            </a:extLst>
          </p:cNvPr>
          <p:cNvCxnSpPr>
            <a:stCxn id="50" idx="5"/>
            <a:endCxn id="50" idx="7"/>
          </p:cNvCxnSpPr>
          <p:nvPr/>
        </p:nvCxnSpPr>
        <p:spPr>
          <a:xfrm rot="5400000" flipH="1">
            <a:off x="11044818" y="2376357"/>
            <a:ext cx="215526" cy="2117"/>
          </a:xfrm>
          <a:prstGeom prst="curvedConnector5">
            <a:avLst>
              <a:gd name="adj1" fmla="val -44874"/>
              <a:gd name="adj2" fmla="val -15460269"/>
              <a:gd name="adj3" fmla="val 120397"/>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2" name="Straight Arrow Connector 51">
            <a:extLst>
              <a:ext uri="{FF2B5EF4-FFF2-40B4-BE49-F238E27FC236}">
                <a16:creationId xmlns:a16="http://schemas.microsoft.com/office/drawing/2014/main" id="{551255C3-5093-4DBB-9C09-055900389D91}"/>
              </a:ext>
            </a:extLst>
          </p:cNvPr>
          <p:cNvCxnSpPr>
            <a:endCxn id="50" idx="0"/>
          </p:cNvCxnSpPr>
          <p:nvPr/>
        </p:nvCxnSpPr>
        <p:spPr>
          <a:xfrm rot="16200000" flipH="1">
            <a:off x="10850191" y="2065478"/>
            <a:ext cx="267918" cy="4956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3" name="Straight Arrow Connector 52">
            <a:extLst>
              <a:ext uri="{FF2B5EF4-FFF2-40B4-BE49-F238E27FC236}">
                <a16:creationId xmlns:a16="http://schemas.microsoft.com/office/drawing/2014/main" id="{E9F6BDB9-84A2-45EC-9A89-5C66952951B5}"/>
              </a:ext>
            </a:extLst>
          </p:cNvPr>
          <p:cNvCxnSpPr>
            <a:stCxn id="50" idx="4"/>
          </p:cNvCxnSpPr>
          <p:nvPr/>
        </p:nvCxnSpPr>
        <p:spPr>
          <a:xfrm rot="16200000" flipH="1">
            <a:off x="10880048" y="2657907"/>
            <a:ext cx="310597" cy="528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54" name="TextBox 53">
            <a:extLst>
              <a:ext uri="{FF2B5EF4-FFF2-40B4-BE49-F238E27FC236}">
                <a16:creationId xmlns:a16="http://schemas.microsoft.com/office/drawing/2014/main" id="{3C72A933-3BED-4E6D-AE5A-A6E495EEBD54}"/>
              </a:ext>
            </a:extLst>
          </p:cNvPr>
          <p:cNvSpPr txBox="1"/>
          <p:nvPr/>
        </p:nvSpPr>
        <p:spPr>
          <a:xfrm>
            <a:off x="7587801" y="3529992"/>
            <a:ext cx="482824"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a[N]</a:t>
            </a:r>
          </a:p>
        </p:txBody>
      </p:sp>
      <p:sp>
        <p:nvSpPr>
          <p:cNvPr id="55" name="TextBox 54">
            <a:extLst>
              <a:ext uri="{FF2B5EF4-FFF2-40B4-BE49-F238E27FC236}">
                <a16:creationId xmlns:a16="http://schemas.microsoft.com/office/drawing/2014/main" id="{886A9377-6BFE-4627-92D7-9E08A4684884}"/>
              </a:ext>
            </a:extLst>
          </p:cNvPr>
          <p:cNvSpPr txBox="1"/>
          <p:nvPr/>
        </p:nvSpPr>
        <p:spPr>
          <a:xfrm>
            <a:off x="10011481" y="3414777"/>
            <a:ext cx="279243" cy="276999"/>
          </a:xfrm>
          <a:prstGeom prst="rect">
            <a:avLst/>
          </a:prstGeom>
          <a:noFill/>
        </p:spPr>
        <p:txBody>
          <a:bodyPr wrap="none" rtlCol="0">
            <a:spAutoFit/>
          </a:bodyPr>
          <a:lstStyle/>
          <a:p>
            <a:pPr algn="r" defTabSz="914400" fontAlgn="base">
              <a:spcBef>
                <a:spcPct val="0"/>
              </a:spcBef>
              <a:spcAft>
                <a:spcPct val="0"/>
              </a:spcAft>
              <a:defRPr/>
            </a:pPr>
            <a:r>
              <a:rPr lang="en-US" sz="1200" b="1" kern="0" dirty="0">
                <a:solidFill>
                  <a:srgbClr val="000000"/>
                </a:solidFill>
                <a:latin typeface="Arial"/>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Merging</a:t>
            </a:r>
            <a:endParaRPr lang="en-US" strike="sngStrike" dirty="0"/>
          </a:p>
        </p:txBody>
      </p:sp>
      <p:sp>
        <p:nvSpPr>
          <p:cNvPr id="3" name="Content Placeholder 2"/>
          <p:cNvSpPr>
            <a:spLocks noGrp="1"/>
          </p:cNvSpPr>
          <p:nvPr>
            <p:ph idx="1"/>
          </p:nvPr>
        </p:nvSpPr>
        <p:spPr>
          <a:xfrm>
            <a:off x="611030" y="1285880"/>
            <a:ext cx="10515600" cy="4759404"/>
          </a:xfrm>
        </p:spPr>
        <p:txBody>
          <a:bodyPr>
            <a:normAutofit/>
          </a:bodyPr>
          <a:lstStyle/>
          <a:p>
            <a:r>
              <a:rPr lang="en-US" altLang="zh-CN" dirty="0">
                <a:ea typeface="宋体" charset="-122"/>
              </a:rPr>
              <a:t>Loop merging can remove the redundant computation among multiple (related) loops</a:t>
            </a:r>
          </a:p>
          <a:p>
            <a:pPr lvl="1"/>
            <a:r>
              <a:rPr lang="en-US" altLang="zh-CN" dirty="0">
                <a:ea typeface="宋体" charset="-122"/>
              </a:rPr>
              <a:t>Improving area and performance</a:t>
            </a:r>
          </a:p>
          <a:p>
            <a:pPr lvl="1"/>
            <a:endParaRPr lang="en-US" altLang="zh-CN" dirty="0">
              <a:ea typeface="宋体" charset="-122"/>
            </a:endParaRPr>
          </a:p>
          <a:p>
            <a:pPr lvl="1"/>
            <a:endParaRPr lang="en-US" altLang="zh-CN" dirty="0">
              <a:ea typeface="宋体" charset="-122"/>
            </a:endParaRPr>
          </a:p>
          <a:p>
            <a:pPr lvl="1"/>
            <a:endParaRPr lang="en-US" altLang="zh-CN" sz="2400" dirty="0">
              <a:ea typeface="宋体" charset="-122"/>
            </a:endParaRPr>
          </a:p>
          <a:p>
            <a:pPr lvl="1"/>
            <a:endParaRPr lang="en-US" altLang="zh-CN" sz="2400" dirty="0">
              <a:ea typeface="宋体" charset="-122"/>
            </a:endParaRPr>
          </a:p>
          <a:p>
            <a:pPr lvl="1">
              <a:buNone/>
            </a:pPr>
            <a:endParaRPr lang="en-US" altLang="zh-CN" dirty="0">
              <a:ea typeface="宋体" charset="-122"/>
            </a:endParaRPr>
          </a:p>
          <a:p>
            <a:r>
              <a:rPr lang="en-US" altLang="zh-CN" dirty="0">
                <a:ea typeface="宋体" charset="-122"/>
              </a:rPr>
              <a:t>Allows </a:t>
            </a:r>
            <a:r>
              <a:rPr lang="en-US" altLang="zh-CN" dirty="0" err="1">
                <a:ea typeface="宋体" charset="-122"/>
              </a:rPr>
              <a:t>Vitis</a:t>
            </a:r>
            <a:r>
              <a:rPr lang="en-US" altLang="zh-CN" dirty="0">
                <a:ea typeface="宋体" charset="-122"/>
              </a:rPr>
              <a:t> HLS to perform optimizations</a:t>
            </a:r>
          </a:p>
          <a:p>
            <a:pPr lvl="1"/>
            <a:r>
              <a:rPr lang="en-US" altLang="zh-CN" dirty="0">
                <a:ea typeface="宋体" charset="-122"/>
              </a:rPr>
              <a:t>Optimization cannot occur across loop boundaries</a:t>
            </a:r>
          </a:p>
        </p:txBody>
      </p:sp>
      <p:sp>
        <p:nvSpPr>
          <p:cNvPr id="14" name="Slide Number Placeholder 13"/>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25</a:t>
            </a:fld>
            <a:endParaRPr lang="en-US" dirty="0"/>
          </a:p>
        </p:txBody>
      </p:sp>
      <p:sp>
        <p:nvSpPr>
          <p:cNvPr id="51" name="TextBox 50"/>
          <p:cNvSpPr txBox="1"/>
          <p:nvPr/>
        </p:nvSpPr>
        <p:spPr>
          <a:xfrm>
            <a:off x="5328102" y="5594130"/>
            <a:ext cx="4505013" cy="523220"/>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lvl="0" algn="ctr"/>
            <a:r>
              <a:rPr lang="en-US" sz="1400" b="1" dirty="0">
                <a:ea typeface="ＭＳ Ｐゴシック" pitchFamily="24" charset="-128"/>
                <a:cs typeface="ＭＳ Ｐゴシック" pitchFamily="24" charset="-128"/>
              </a:rPr>
              <a:t>Removes A[</a:t>
            </a:r>
            <a:r>
              <a:rPr lang="en-US" sz="1400" b="1" dirty="0" err="1">
                <a:ea typeface="ＭＳ Ｐゴシック" pitchFamily="24" charset="-128"/>
                <a:cs typeface="ＭＳ Ｐゴシック" pitchFamily="24" charset="-128"/>
              </a:rPr>
              <a:t>i</a:t>
            </a:r>
            <a:r>
              <a:rPr lang="en-US" sz="1400" b="1" dirty="0">
                <a:ea typeface="ＭＳ Ｐゴシック" pitchFamily="24" charset="-128"/>
                <a:cs typeface="ＭＳ Ｐゴシック" pitchFamily="24" charset="-128"/>
              </a:rPr>
              <a:t>], any address logic and any potential memory accesses</a:t>
            </a:r>
          </a:p>
        </p:txBody>
      </p:sp>
      <p:sp>
        <p:nvSpPr>
          <p:cNvPr id="13"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25</a:t>
            </a:fld>
            <a:endParaRPr lang="en-US" sz="1000" dirty="0">
              <a:solidFill>
                <a:schemeClr val="bg1"/>
              </a:solidFill>
              <a:latin typeface="Arial" charset="0"/>
              <a:ea typeface="ＭＳ Ｐゴシック" pitchFamily="34" charset="-128"/>
              <a:cs typeface="Arial" charset="0"/>
            </a:endParaRPr>
          </a:p>
        </p:txBody>
      </p:sp>
      <p:sp>
        <p:nvSpPr>
          <p:cNvPr id="12" name="TextBox 11">
            <a:extLst>
              <a:ext uri="{FF2B5EF4-FFF2-40B4-BE49-F238E27FC236}">
                <a16:creationId xmlns:a16="http://schemas.microsoft.com/office/drawing/2014/main" id="{1EB4F3DA-CAA2-4D89-8F47-265E810D2311}"/>
              </a:ext>
            </a:extLst>
          </p:cNvPr>
          <p:cNvSpPr txBox="1"/>
          <p:nvPr/>
        </p:nvSpPr>
        <p:spPr>
          <a:xfrm>
            <a:off x="1406602" y="2551837"/>
            <a:ext cx="4453821" cy="17543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err="1">
                <a:solidFill>
                  <a:srgbClr val="000000"/>
                </a:solidFill>
                <a:latin typeface="Arial"/>
                <a:ea typeface="宋体" charset="-122"/>
              </a:rPr>
              <a:t>My_Region</a:t>
            </a:r>
            <a:r>
              <a:rPr lang="en-US" altLang="zh-CN" sz="1200" kern="0" dirty="0">
                <a:solidFill>
                  <a:srgbClr val="000000"/>
                </a:solidFill>
                <a:latin typeface="Arial"/>
                <a:ea typeface="宋体" charset="-122"/>
              </a:rPr>
              <a:t>: { </a:t>
            </a:r>
          </a:p>
          <a:p>
            <a:pPr defTabSz="914400" fontAlgn="base">
              <a:spcBef>
                <a:spcPct val="50000"/>
              </a:spcBef>
              <a:spcAft>
                <a:spcPct val="0"/>
              </a:spcAft>
              <a:defRPr/>
            </a:pPr>
            <a:r>
              <a:rPr lang="en-US" altLang="zh-CN" sz="1200" b="1" kern="0" dirty="0">
                <a:solidFill>
                  <a:srgbClr val="000000"/>
                </a:solidFill>
                <a:latin typeface="Arial"/>
                <a:ea typeface="宋体" charset="-122"/>
              </a:rPr>
              <a:t>#</a:t>
            </a:r>
            <a:r>
              <a:rPr lang="en-US" altLang="zh-CN" sz="1200" b="1" kern="0" dirty="0" err="1">
                <a:solidFill>
                  <a:srgbClr val="000000"/>
                </a:solidFill>
                <a:latin typeface="Arial"/>
                <a:ea typeface="宋体" charset="-122"/>
              </a:rPr>
              <a:t>pragma</a:t>
            </a:r>
            <a:r>
              <a:rPr lang="en-US" altLang="zh-CN" sz="1200" b="1" kern="0" dirty="0">
                <a:solidFill>
                  <a:srgbClr val="000000"/>
                </a:solidFill>
                <a:latin typeface="Arial"/>
                <a:ea typeface="宋体" charset="-122"/>
              </a:rPr>
              <a:t> HLS merge loop</a:t>
            </a:r>
          </a:p>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a:t>
            </a:r>
          </a:p>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2;</a:t>
            </a:r>
          </a:p>
          <a:p>
            <a:pPr defTabSz="914400" fontAlgn="base">
              <a:spcBef>
                <a:spcPct val="50000"/>
              </a:spcBef>
              <a:spcAft>
                <a:spcPct val="0"/>
              </a:spcAft>
              <a:defRPr/>
            </a:pPr>
            <a:r>
              <a:rPr lang="en-US" altLang="zh-CN" sz="1200" kern="0" dirty="0">
                <a:solidFill>
                  <a:srgbClr val="000000"/>
                </a:solidFill>
                <a:latin typeface="Arial"/>
                <a:ea typeface="宋体" charset="-122"/>
              </a:rPr>
              <a:t>}</a:t>
            </a:r>
          </a:p>
        </p:txBody>
      </p:sp>
      <p:sp>
        <p:nvSpPr>
          <p:cNvPr id="15" name="TextBox 14">
            <a:extLst>
              <a:ext uri="{FF2B5EF4-FFF2-40B4-BE49-F238E27FC236}">
                <a16:creationId xmlns:a16="http://schemas.microsoft.com/office/drawing/2014/main" id="{07E8E44F-CBC5-48E7-AB79-72A0E55CE061}"/>
              </a:ext>
            </a:extLst>
          </p:cNvPr>
          <p:cNvSpPr txBox="1"/>
          <p:nvPr/>
        </p:nvSpPr>
        <p:spPr>
          <a:xfrm>
            <a:off x="8164122" y="2974294"/>
            <a:ext cx="2662053" cy="83099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2;</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a:t>
            </a:r>
          </a:p>
        </p:txBody>
      </p:sp>
      <p:sp>
        <p:nvSpPr>
          <p:cNvPr id="16" name="Right Arrow 44">
            <a:extLst>
              <a:ext uri="{FF2B5EF4-FFF2-40B4-BE49-F238E27FC236}">
                <a16:creationId xmlns:a16="http://schemas.microsoft.com/office/drawing/2014/main" id="{C57A01BF-EC6B-4F49-A398-19583E604ABD}"/>
              </a:ext>
            </a:extLst>
          </p:cNvPr>
          <p:cNvSpPr/>
          <p:nvPr/>
        </p:nvSpPr>
        <p:spPr>
          <a:xfrm>
            <a:off x="6116388" y="3089509"/>
            <a:ext cx="1842960" cy="7296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Merge</a:t>
            </a:r>
          </a:p>
        </p:txBody>
      </p:sp>
      <p:sp>
        <p:nvSpPr>
          <p:cNvPr id="17" name="TextBox 16">
            <a:extLst>
              <a:ext uri="{FF2B5EF4-FFF2-40B4-BE49-F238E27FC236}">
                <a16:creationId xmlns:a16="http://schemas.microsoft.com/office/drawing/2014/main" id="{F28D9D55-4649-4B44-B186-469CB337A6C8}"/>
              </a:ext>
            </a:extLst>
          </p:cNvPr>
          <p:cNvSpPr txBox="1"/>
          <p:nvPr/>
        </p:nvSpPr>
        <p:spPr>
          <a:xfrm>
            <a:off x="8932022" y="3665582"/>
            <a:ext cx="2610860" cy="523220"/>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ea typeface="ＭＳ Ｐゴシック" pitchFamily="24" charset="-128"/>
                <a:cs typeface="ＭＳ Ｐゴシック" pitchFamily="24" charset="-128"/>
              </a:rPr>
              <a:t>Effective code after compiler transformation</a:t>
            </a:r>
          </a:p>
        </p:txBody>
      </p:sp>
      <p:sp>
        <p:nvSpPr>
          <p:cNvPr id="18" name="TextBox 17">
            <a:extLst>
              <a:ext uri="{FF2B5EF4-FFF2-40B4-BE49-F238E27FC236}">
                <a16:creationId xmlns:a16="http://schemas.microsoft.com/office/drawing/2014/main" id="{D513E884-AD92-40F0-998B-46D7EE32A12C}"/>
              </a:ext>
            </a:extLst>
          </p:cNvPr>
          <p:cNvSpPr txBox="1"/>
          <p:nvPr/>
        </p:nvSpPr>
        <p:spPr>
          <a:xfrm>
            <a:off x="1539795" y="5618087"/>
            <a:ext cx="2662053" cy="46166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 /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Merging </a:t>
            </a:r>
            <a:r>
              <a:rPr lang="en-US" strike="sngStrike" dirty="0"/>
              <a:t>&amp; Flattening</a:t>
            </a:r>
          </a:p>
        </p:txBody>
      </p:sp>
      <p:sp>
        <p:nvSpPr>
          <p:cNvPr id="3" name="Content Placeholder 2"/>
          <p:cNvSpPr>
            <a:spLocks noGrp="1"/>
          </p:cNvSpPr>
          <p:nvPr>
            <p:ph idx="1"/>
          </p:nvPr>
        </p:nvSpPr>
        <p:spPr/>
        <p:txBody>
          <a:bodyPr>
            <a:normAutofit/>
          </a:bodyPr>
          <a:lstStyle/>
          <a:p>
            <a:r>
              <a:rPr lang="en-US" altLang="zh-CN" dirty="0">
                <a:ea typeface="宋体" charset="-122"/>
              </a:rPr>
              <a:t>Loop merging </a:t>
            </a:r>
            <a:r>
              <a:rPr lang="en-US" altLang="zh-CN" strike="sngStrike" dirty="0">
                <a:ea typeface="宋体" charset="-122"/>
              </a:rPr>
              <a:t>&amp; flattening </a:t>
            </a:r>
            <a:r>
              <a:rPr lang="en-US" altLang="zh-CN" dirty="0">
                <a:ea typeface="宋体" charset="-122"/>
              </a:rPr>
              <a:t>can remove the redundant computation among multiple (related) loops</a:t>
            </a:r>
          </a:p>
          <a:p>
            <a:pPr lvl="1"/>
            <a:r>
              <a:rPr lang="en-US" altLang="zh-CN" dirty="0">
                <a:ea typeface="宋体" charset="-122"/>
              </a:rPr>
              <a:t>Improving area </a:t>
            </a:r>
            <a:r>
              <a:rPr lang="en-US" altLang="zh-CN" dirty="0">
                <a:highlight>
                  <a:srgbClr val="FFFF00"/>
                </a:highlight>
                <a:ea typeface="宋体" charset="-122"/>
              </a:rPr>
              <a:t>and performance</a:t>
            </a:r>
            <a:r>
              <a:rPr lang="en-US" altLang="zh-CN" strike="sngStrike" dirty="0">
                <a:ea typeface="宋体" charset="-122"/>
              </a:rPr>
              <a:t>(and sometimes performance)</a:t>
            </a:r>
          </a:p>
          <a:p>
            <a:pPr lvl="1"/>
            <a:endParaRPr lang="en-US" altLang="zh-CN" sz="2000" dirty="0">
              <a:ea typeface="宋体" charset="-122"/>
            </a:endParaRPr>
          </a:p>
          <a:p>
            <a:pPr lvl="1"/>
            <a:endParaRPr lang="en-US" altLang="zh-CN" sz="2000" dirty="0">
              <a:ea typeface="宋体" charset="-122"/>
            </a:endParaRPr>
          </a:p>
          <a:p>
            <a:pPr lvl="1"/>
            <a:endParaRPr lang="en-US" altLang="zh-CN" sz="2400" dirty="0">
              <a:ea typeface="宋体" charset="-122"/>
            </a:endParaRPr>
          </a:p>
          <a:p>
            <a:pPr lvl="1"/>
            <a:endParaRPr lang="en-US" altLang="zh-CN" sz="2400" dirty="0">
              <a:ea typeface="宋体" charset="-122"/>
            </a:endParaRPr>
          </a:p>
          <a:p>
            <a:pPr lvl="1">
              <a:buNone/>
            </a:pPr>
            <a:endParaRPr lang="en-US" altLang="zh-CN" sz="2000" dirty="0">
              <a:ea typeface="宋体" charset="-122"/>
            </a:endParaRPr>
          </a:p>
          <a:p>
            <a:r>
              <a:rPr lang="en-US" altLang="zh-CN" dirty="0">
                <a:ea typeface="宋体" charset="-122"/>
              </a:rPr>
              <a:t>Allows </a:t>
            </a:r>
            <a:r>
              <a:rPr lang="en-US" altLang="zh-CN" dirty="0" err="1">
                <a:highlight>
                  <a:srgbClr val="FFFF00"/>
                </a:highlight>
                <a:ea typeface="宋体" charset="-122"/>
              </a:rPr>
              <a:t>Vitis</a:t>
            </a:r>
            <a:r>
              <a:rPr lang="en-US" altLang="zh-CN" dirty="0">
                <a:ea typeface="宋体" charset="-122"/>
              </a:rPr>
              <a:t> HLS to perform optimizations</a:t>
            </a:r>
          </a:p>
          <a:p>
            <a:pPr lvl="1"/>
            <a:r>
              <a:rPr lang="en-US" altLang="zh-CN" dirty="0">
                <a:ea typeface="宋体" charset="-122"/>
              </a:rPr>
              <a:t>Optimization cannot occur across loop boundaries</a:t>
            </a:r>
          </a:p>
        </p:txBody>
      </p:sp>
      <p:sp>
        <p:nvSpPr>
          <p:cNvPr id="14" name="Slide Number Placeholder 13"/>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26</a:t>
            </a:fld>
            <a:endParaRPr lang="en-US" dirty="0">
              <a:solidFill>
                <a:srgbClr val="0C0C0C">
                  <a:tint val="75000"/>
                </a:srgbClr>
              </a:solidFill>
              <a:latin typeface="Arial"/>
            </a:endParaRPr>
          </a:p>
        </p:txBody>
      </p:sp>
      <p:sp>
        <p:nvSpPr>
          <p:cNvPr id="51" name="TextBox 50"/>
          <p:cNvSpPr txBox="1"/>
          <p:nvPr/>
        </p:nvSpPr>
        <p:spPr>
          <a:xfrm>
            <a:off x="5328102" y="5594130"/>
            <a:ext cx="4505013" cy="523220"/>
          </a:xfrm>
          <a:prstGeom prst="rect">
            <a:avLst/>
          </a:prstGeom>
          <a:solidFill>
            <a:srgbClr val="FFFF99"/>
          </a:solidFill>
          <a:ln w="12700">
            <a:solidFill>
              <a:schemeClr val="tx1"/>
            </a:solidFill>
          </a:ln>
          <a:effectLst>
            <a:innerShdw blurRad="63500" dist="50800" dir="2700000">
              <a:prstClr val="black">
                <a:alpha val="50000"/>
              </a:prstClr>
            </a:innerShd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defTabSz="914400"/>
            <a:r>
              <a:rPr lang="en-US" sz="1400" b="1" dirty="0">
                <a:solidFill>
                  <a:srgbClr val="0C0C0C"/>
                </a:solidFill>
                <a:latin typeface="Arial"/>
                <a:ea typeface="ＭＳ Ｐゴシック" pitchFamily="24" charset="-128"/>
                <a:cs typeface="ＭＳ Ｐゴシック" pitchFamily="24" charset="-128"/>
              </a:rPr>
              <a:t>Removes A[</a:t>
            </a:r>
            <a:r>
              <a:rPr lang="en-US" sz="1400" b="1" dirty="0" err="1">
                <a:solidFill>
                  <a:srgbClr val="0C0C0C"/>
                </a:solidFill>
                <a:latin typeface="Arial"/>
                <a:ea typeface="ＭＳ Ｐゴシック" pitchFamily="24" charset="-128"/>
                <a:cs typeface="ＭＳ Ｐゴシック" pitchFamily="24" charset="-128"/>
              </a:rPr>
              <a:t>i</a:t>
            </a:r>
            <a:r>
              <a:rPr lang="en-US" sz="1400" b="1" dirty="0">
                <a:solidFill>
                  <a:srgbClr val="0C0C0C"/>
                </a:solidFill>
                <a:latin typeface="Arial"/>
                <a:ea typeface="ＭＳ Ｐゴシック" pitchFamily="24" charset="-128"/>
                <a:cs typeface="ＭＳ Ｐゴシック" pitchFamily="24" charset="-128"/>
              </a:rPr>
              <a:t>], any address logic and any potential memory accesses</a:t>
            </a:r>
          </a:p>
        </p:txBody>
      </p:sp>
      <p:sp>
        <p:nvSpPr>
          <p:cNvPr id="13"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26</a:t>
            </a:fld>
            <a:endParaRPr lang="en-US" sz="1000" dirty="0">
              <a:solidFill>
                <a:srgbClr val="FFFFFF"/>
              </a:solidFill>
              <a:latin typeface="Arial" charset="0"/>
              <a:ea typeface="ＭＳ Ｐゴシック" pitchFamily="34" charset="-128"/>
              <a:cs typeface="Arial" charset="0"/>
            </a:endParaRPr>
          </a:p>
        </p:txBody>
      </p:sp>
      <p:sp>
        <p:nvSpPr>
          <p:cNvPr id="12" name="TextBox 11">
            <a:extLst>
              <a:ext uri="{FF2B5EF4-FFF2-40B4-BE49-F238E27FC236}">
                <a16:creationId xmlns:a16="http://schemas.microsoft.com/office/drawing/2014/main" id="{1EB4F3DA-CAA2-4D89-8F47-265E810D2311}"/>
              </a:ext>
            </a:extLst>
          </p:cNvPr>
          <p:cNvSpPr txBox="1"/>
          <p:nvPr/>
        </p:nvSpPr>
        <p:spPr>
          <a:xfrm>
            <a:off x="1406602" y="2551837"/>
            <a:ext cx="4453821" cy="175432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err="1">
                <a:solidFill>
                  <a:srgbClr val="000000"/>
                </a:solidFill>
                <a:latin typeface="Arial"/>
                <a:ea typeface="宋体" charset="-122"/>
              </a:rPr>
              <a:t>My_Region</a:t>
            </a:r>
            <a:r>
              <a:rPr lang="en-US" altLang="zh-CN" sz="1200" kern="0" dirty="0">
                <a:solidFill>
                  <a:srgbClr val="000000"/>
                </a:solidFill>
                <a:latin typeface="Arial"/>
                <a:ea typeface="宋体" charset="-122"/>
              </a:rPr>
              <a:t>: { </a:t>
            </a:r>
          </a:p>
          <a:p>
            <a:pPr defTabSz="914400" fontAlgn="base">
              <a:spcBef>
                <a:spcPct val="50000"/>
              </a:spcBef>
              <a:spcAft>
                <a:spcPct val="0"/>
              </a:spcAft>
              <a:defRPr/>
            </a:pPr>
            <a:r>
              <a:rPr lang="en-US" altLang="zh-CN" sz="1200" b="1" kern="0" dirty="0">
                <a:solidFill>
                  <a:srgbClr val="000000"/>
                </a:solidFill>
                <a:latin typeface="Arial"/>
                <a:ea typeface="宋体" charset="-122"/>
              </a:rPr>
              <a:t>#</a:t>
            </a:r>
            <a:r>
              <a:rPr lang="en-US" altLang="zh-CN" sz="1200" b="1" kern="0" dirty="0" err="1">
                <a:solidFill>
                  <a:srgbClr val="000000"/>
                </a:solidFill>
                <a:latin typeface="Arial"/>
                <a:ea typeface="宋体" charset="-122"/>
              </a:rPr>
              <a:t>pragma</a:t>
            </a:r>
            <a:r>
              <a:rPr lang="en-US" altLang="zh-CN" sz="1200" b="1" kern="0" dirty="0">
                <a:solidFill>
                  <a:srgbClr val="000000"/>
                </a:solidFill>
                <a:latin typeface="Arial"/>
                <a:ea typeface="宋体" charset="-122"/>
              </a:rPr>
              <a:t> HLS merge loop</a:t>
            </a:r>
          </a:p>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a:t>
            </a:r>
          </a:p>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2;</a:t>
            </a:r>
          </a:p>
          <a:p>
            <a:pPr defTabSz="914400" fontAlgn="base">
              <a:spcBef>
                <a:spcPct val="50000"/>
              </a:spcBef>
              <a:spcAft>
                <a:spcPct val="0"/>
              </a:spcAft>
              <a:defRPr/>
            </a:pPr>
            <a:r>
              <a:rPr lang="en-US" altLang="zh-CN" sz="1200" kern="0" dirty="0">
                <a:solidFill>
                  <a:srgbClr val="000000"/>
                </a:solidFill>
                <a:latin typeface="Arial"/>
                <a:ea typeface="宋体" charset="-122"/>
              </a:rPr>
              <a:t>}</a:t>
            </a:r>
          </a:p>
        </p:txBody>
      </p:sp>
      <p:sp>
        <p:nvSpPr>
          <p:cNvPr id="15" name="TextBox 14">
            <a:extLst>
              <a:ext uri="{FF2B5EF4-FFF2-40B4-BE49-F238E27FC236}">
                <a16:creationId xmlns:a16="http://schemas.microsoft.com/office/drawing/2014/main" id="{07E8E44F-CBC5-48E7-AB79-72A0E55CE061}"/>
              </a:ext>
            </a:extLst>
          </p:cNvPr>
          <p:cNvSpPr txBox="1"/>
          <p:nvPr/>
        </p:nvSpPr>
        <p:spPr>
          <a:xfrm>
            <a:off x="8164122" y="2974294"/>
            <a:ext cx="2662053" cy="83099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2;</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a:t>
            </a:r>
          </a:p>
        </p:txBody>
      </p:sp>
      <p:sp>
        <p:nvSpPr>
          <p:cNvPr id="16" name="Right Arrow 44">
            <a:extLst>
              <a:ext uri="{FF2B5EF4-FFF2-40B4-BE49-F238E27FC236}">
                <a16:creationId xmlns:a16="http://schemas.microsoft.com/office/drawing/2014/main" id="{C57A01BF-EC6B-4F49-A398-19583E604ABD}"/>
              </a:ext>
            </a:extLst>
          </p:cNvPr>
          <p:cNvSpPr/>
          <p:nvPr/>
        </p:nvSpPr>
        <p:spPr>
          <a:xfrm>
            <a:off x="6116388" y="3089509"/>
            <a:ext cx="1842960" cy="7296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Merge</a:t>
            </a:r>
          </a:p>
        </p:txBody>
      </p:sp>
      <p:sp>
        <p:nvSpPr>
          <p:cNvPr id="17" name="TextBox 16">
            <a:extLst>
              <a:ext uri="{FF2B5EF4-FFF2-40B4-BE49-F238E27FC236}">
                <a16:creationId xmlns:a16="http://schemas.microsoft.com/office/drawing/2014/main" id="{F28D9D55-4649-4B44-B186-469CB337A6C8}"/>
              </a:ext>
            </a:extLst>
          </p:cNvPr>
          <p:cNvSpPr txBox="1"/>
          <p:nvPr/>
        </p:nvSpPr>
        <p:spPr>
          <a:xfrm>
            <a:off x="8932022" y="3665582"/>
            <a:ext cx="2610860" cy="523220"/>
          </a:xfrm>
          <a:prstGeom prst="rect">
            <a:avLst/>
          </a:prstGeom>
          <a:solidFill>
            <a:srgbClr val="FFFF99"/>
          </a:solidFill>
          <a:ln w="12700" cap="flat" cmpd="sng" algn="ctr">
            <a:solidFill>
              <a:srgbClr val="000000"/>
            </a:solidFill>
            <a:prstDash val="solid"/>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400" b="1" kern="0" dirty="0">
                <a:solidFill>
                  <a:srgbClr val="000000"/>
                </a:solidFill>
                <a:latin typeface="Arial"/>
                <a:ea typeface="ＭＳ Ｐゴシック" pitchFamily="24" charset="-128"/>
                <a:cs typeface="ＭＳ Ｐゴシック" pitchFamily="24" charset="-128"/>
              </a:rPr>
              <a:t>Effective code after compiler transformation</a:t>
            </a:r>
          </a:p>
        </p:txBody>
      </p:sp>
      <p:sp>
        <p:nvSpPr>
          <p:cNvPr id="18" name="TextBox 17">
            <a:extLst>
              <a:ext uri="{FF2B5EF4-FFF2-40B4-BE49-F238E27FC236}">
                <a16:creationId xmlns:a16="http://schemas.microsoft.com/office/drawing/2014/main" id="{D513E884-AD92-40F0-998B-46D7EE32A12C}"/>
              </a:ext>
            </a:extLst>
          </p:cNvPr>
          <p:cNvSpPr txBox="1"/>
          <p:nvPr/>
        </p:nvSpPr>
        <p:spPr>
          <a:xfrm>
            <a:off x="1539795" y="5618087"/>
            <a:ext cx="2662053" cy="46166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0;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&lt; N;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br>
              <a:rPr lang="en-US" altLang="zh-CN" sz="1200" kern="0" dirty="0">
                <a:solidFill>
                  <a:srgbClr val="000000"/>
                </a:solidFill>
                <a:latin typeface="Arial"/>
                <a:ea typeface="宋体" charset="-122"/>
              </a:rPr>
            </a:br>
            <a:r>
              <a:rPr lang="en-US" altLang="zh-CN" sz="1200" kern="0" dirty="0">
                <a:solidFill>
                  <a:srgbClr val="000000"/>
                </a:solidFill>
                <a:latin typeface="Arial"/>
                <a:ea typeface="宋体" charset="-122"/>
              </a:rPr>
              <a:t>      C[</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(B[</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 + 1) /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Arrays</a:t>
            </a:r>
          </a:p>
        </p:txBody>
      </p:sp>
      <p:sp>
        <p:nvSpPr>
          <p:cNvPr id="3" name="Content Placeholder 2"/>
          <p:cNvSpPr>
            <a:spLocks noGrp="1"/>
          </p:cNvSpPr>
          <p:nvPr>
            <p:ph idx="1"/>
          </p:nvPr>
        </p:nvSpPr>
        <p:spPr>
          <a:xfrm>
            <a:off x="649119" y="1463040"/>
            <a:ext cx="8455410" cy="4608839"/>
          </a:xfrm>
        </p:spPr>
        <p:txBody>
          <a:bodyPr>
            <a:normAutofit/>
          </a:bodyPr>
          <a:lstStyle/>
          <a:p>
            <a:r>
              <a:rPr lang="en-US" sz="1900" dirty="0"/>
              <a:t>The arrays in the C model may not be ideal for the available RAMs</a:t>
            </a:r>
          </a:p>
          <a:p>
            <a:pPr lvl="1"/>
            <a:r>
              <a:rPr lang="en-US" sz="1700" dirty="0"/>
              <a:t>The code may have many small arrays, each array is mapped into a block RAM or </a:t>
            </a:r>
            <a:r>
              <a:rPr lang="en-US" sz="1700" dirty="0" err="1"/>
              <a:t>UltraRAM</a:t>
            </a:r>
            <a:endParaRPr lang="en-US" sz="1700" dirty="0"/>
          </a:p>
          <a:p>
            <a:pPr lvl="1"/>
            <a:r>
              <a:rPr lang="en-US" sz="1700" dirty="0"/>
              <a:t>Basic block RAM unit is 18K, the array may not utilize the RAMs very well</a:t>
            </a:r>
          </a:p>
          <a:p>
            <a:r>
              <a:rPr lang="en-US" sz="1900" dirty="0"/>
              <a:t>Array Mapping </a:t>
            </a:r>
          </a:p>
          <a:p>
            <a:pPr lvl="1"/>
            <a:r>
              <a:rPr lang="en-US" sz="1700" dirty="0"/>
              <a:t>Mapping combines smaller arrays into larger arrays</a:t>
            </a:r>
            <a:endParaRPr lang="en-US" sz="1500" strike="sngStrike" dirty="0"/>
          </a:p>
          <a:p>
            <a:pPr lvl="2"/>
            <a:r>
              <a:rPr lang="en-US" sz="1500" dirty="0"/>
              <a:t>Reduce the number or block RAMs required</a:t>
            </a:r>
          </a:p>
          <a:p>
            <a:pPr lvl="1"/>
            <a:r>
              <a:rPr lang="en-US" sz="1700" dirty="0"/>
              <a:t>Specify the array variable to be mapped</a:t>
            </a:r>
          </a:p>
          <a:p>
            <a:pPr lvl="1"/>
            <a:r>
              <a:rPr lang="en-US" sz="1700" dirty="0"/>
              <a:t>Give all arrays to be combined the same instance name</a:t>
            </a:r>
          </a:p>
          <a:p>
            <a:pPr lvl="1"/>
            <a:r>
              <a:rPr lang="en-US" sz="1700" dirty="0"/>
              <a:t>If an array is larger than 18K, they are automatically mapped into multiple 18K units?</a:t>
            </a:r>
            <a:endParaRPr lang="en-US" dirty="0"/>
          </a:p>
          <a:p>
            <a:r>
              <a:rPr lang="en-US" altLang="zh-CN" sz="1900" dirty="0"/>
              <a:t>ARRAY_RESHAPE directive supports mapping small arrays into a larger one</a:t>
            </a:r>
            <a:endParaRPr lang="en-US" sz="1900" dirty="0"/>
          </a:p>
        </p:txBody>
      </p:sp>
      <p:sp>
        <p:nvSpPr>
          <p:cNvPr id="9" name="Slide Number Placeholder 8"/>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27</a:t>
            </a:fld>
            <a:endParaRPr lang="en-US" dirty="0"/>
          </a:p>
        </p:txBody>
      </p:sp>
      <p:sp>
        <p:nvSpPr>
          <p:cNvPr id="7"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27</a:t>
            </a:fld>
            <a:endParaRPr lang="en-US" sz="1000" dirty="0">
              <a:solidFill>
                <a:schemeClr val="bg1"/>
              </a:solidFill>
              <a:latin typeface="Arial" charset="0"/>
              <a:ea typeface="ＭＳ Ｐゴシック" pitchFamily="34" charset="-128"/>
              <a:cs typeface="Arial" charset="0"/>
            </a:endParaRPr>
          </a:p>
        </p:txBody>
      </p:sp>
      <p:pic>
        <p:nvPicPr>
          <p:cNvPr id="5" name="Picture 4">
            <a:extLst>
              <a:ext uri="{FF2B5EF4-FFF2-40B4-BE49-F238E27FC236}">
                <a16:creationId xmlns:a16="http://schemas.microsoft.com/office/drawing/2014/main" id="{3E9F75E4-2324-4FB5-A655-A20A271BF173}"/>
              </a:ext>
            </a:extLst>
          </p:cNvPr>
          <p:cNvPicPr>
            <a:picLocks noChangeAspect="1"/>
          </p:cNvPicPr>
          <p:nvPr/>
        </p:nvPicPr>
        <p:blipFill>
          <a:blip r:embed="rId2"/>
          <a:stretch>
            <a:fillRect/>
          </a:stretch>
        </p:blipFill>
        <p:spPr>
          <a:xfrm>
            <a:off x="8886786" y="1976531"/>
            <a:ext cx="3090363" cy="335289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Arrays</a:t>
            </a:r>
          </a:p>
        </p:txBody>
      </p:sp>
      <p:sp>
        <p:nvSpPr>
          <p:cNvPr id="3" name="Content Placeholder 2"/>
          <p:cNvSpPr>
            <a:spLocks noGrp="1"/>
          </p:cNvSpPr>
          <p:nvPr>
            <p:ph idx="1"/>
          </p:nvPr>
        </p:nvSpPr>
        <p:spPr>
          <a:xfrm>
            <a:off x="649119" y="1463040"/>
            <a:ext cx="10512862" cy="6626450"/>
          </a:xfrm>
        </p:spPr>
        <p:txBody>
          <a:bodyPr>
            <a:normAutofit/>
          </a:bodyPr>
          <a:lstStyle/>
          <a:p>
            <a:r>
              <a:rPr lang="en-US" sz="1900" dirty="0"/>
              <a:t>The arrays in the C model may not be ideal for the available RAMs</a:t>
            </a:r>
          </a:p>
          <a:p>
            <a:pPr lvl="1"/>
            <a:r>
              <a:rPr lang="en-US" sz="1700" dirty="0"/>
              <a:t>The code may have many small arrays, </a:t>
            </a:r>
            <a:r>
              <a:rPr lang="en-US" sz="1700" dirty="0">
                <a:highlight>
                  <a:srgbClr val="FFFF00"/>
                </a:highlight>
              </a:rPr>
              <a:t>each array is mapped into a block RAM or </a:t>
            </a:r>
            <a:r>
              <a:rPr lang="en-US" sz="1700" dirty="0" err="1">
                <a:highlight>
                  <a:srgbClr val="FFFF00"/>
                </a:highlight>
              </a:rPr>
              <a:t>UltraRAM</a:t>
            </a:r>
            <a:endParaRPr lang="en-US" sz="1700" dirty="0">
              <a:highlight>
                <a:srgbClr val="FFFF00"/>
              </a:highlight>
            </a:endParaRPr>
          </a:p>
          <a:p>
            <a:pPr lvl="1"/>
            <a:r>
              <a:rPr lang="en-US" sz="1700" dirty="0">
                <a:highlight>
                  <a:srgbClr val="FFFF00"/>
                </a:highlight>
              </a:rPr>
              <a:t>Basic block RAM unit is 18K, </a:t>
            </a:r>
            <a:r>
              <a:rPr lang="en-US" sz="1700" dirty="0"/>
              <a:t>the array may not utilize the RAMs very well</a:t>
            </a:r>
          </a:p>
          <a:p>
            <a:r>
              <a:rPr lang="en-US" sz="1900" dirty="0"/>
              <a:t>Array Mapping </a:t>
            </a:r>
          </a:p>
          <a:p>
            <a:pPr lvl="1"/>
            <a:r>
              <a:rPr lang="en-US" sz="1700" dirty="0"/>
              <a:t>Mapping combines smaller arrays into larger arrays</a:t>
            </a:r>
          </a:p>
          <a:p>
            <a:pPr lvl="2"/>
            <a:r>
              <a:rPr lang="en-US" sz="1500" strike="sngStrike" dirty="0"/>
              <a:t>Allows arrays to be reconfigured without code edits</a:t>
            </a:r>
          </a:p>
          <a:p>
            <a:pPr lvl="2"/>
            <a:r>
              <a:rPr lang="en-US" sz="1500" dirty="0">
                <a:highlight>
                  <a:srgbClr val="FFFF00"/>
                </a:highlight>
              </a:rPr>
              <a:t>Reduce the number or block RAMs required</a:t>
            </a:r>
          </a:p>
          <a:p>
            <a:pPr lvl="1"/>
            <a:r>
              <a:rPr lang="en-US" sz="1700" dirty="0"/>
              <a:t>Specify the array variable to be mapped</a:t>
            </a:r>
          </a:p>
          <a:p>
            <a:pPr lvl="1"/>
            <a:r>
              <a:rPr lang="en-US" sz="1700" dirty="0"/>
              <a:t>Give all arrays to be combined the same instance name</a:t>
            </a:r>
          </a:p>
          <a:p>
            <a:pPr lvl="1"/>
            <a:r>
              <a:rPr lang="en-US" sz="1700" dirty="0">
                <a:highlight>
                  <a:srgbClr val="FFFF00"/>
                </a:highlight>
              </a:rPr>
              <a:t>If an array is larger than 18K, they are automatically mapped into multiple 18K u</a:t>
            </a:r>
            <a:r>
              <a:rPr lang="en-US" sz="1700" dirty="0"/>
              <a:t>nits?</a:t>
            </a:r>
            <a:endParaRPr lang="en-US" dirty="0"/>
          </a:p>
          <a:p>
            <a:r>
              <a:rPr lang="en-US" sz="1900" strike="sngStrike" dirty="0" err="1"/>
              <a:t>Vivado</a:t>
            </a:r>
            <a:r>
              <a:rPr lang="en-US" sz="1900" strike="sngStrike" dirty="0"/>
              <a:t> HLS provides options as to the type of mapping</a:t>
            </a:r>
          </a:p>
          <a:p>
            <a:pPr lvl="1"/>
            <a:r>
              <a:rPr lang="en-US" sz="1700" strike="sngStrike" dirty="0"/>
              <a:t>Combine the arrays without impacting performance</a:t>
            </a:r>
          </a:p>
          <a:p>
            <a:pPr lvl="2"/>
            <a:r>
              <a:rPr lang="en-US" sz="1500" strike="sngStrike" dirty="0"/>
              <a:t>Vertical &amp; Horizontal mapping </a:t>
            </a:r>
            <a:endParaRPr lang="en-US" strike="sngStrike" dirty="0"/>
          </a:p>
          <a:p>
            <a:r>
              <a:rPr lang="en-US" altLang="zh-CN" sz="1900" dirty="0">
                <a:highlight>
                  <a:srgbClr val="FFFF00"/>
                </a:highlight>
              </a:rPr>
              <a:t>ARRAY_RESHAPE directive supports mapping small arrays into a larger one</a:t>
            </a:r>
            <a:endParaRPr lang="en-US" sz="1900" dirty="0">
              <a:highlight>
                <a:srgbClr val="FFFF00"/>
              </a:highlight>
            </a:endParaRPr>
          </a:p>
          <a:p>
            <a:r>
              <a:rPr lang="en-US" sz="1900" strike="sngStrike" dirty="0"/>
              <a:t>Global Arrays</a:t>
            </a:r>
          </a:p>
          <a:p>
            <a:pPr lvl="1"/>
            <a:r>
              <a:rPr lang="en-US" sz="1700" strike="sngStrike" dirty="0"/>
              <a:t>When a global array is mapped all arrays involved are promoted to global</a:t>
            </a:r>
          </a:p>
          <a:p>
            <a:pPr lvl="1"/>
            <a:r>
              <a:rPr lang="en-US" sz="1700" strike="sngStrike" dirty="0"/>
              <a:t>When arrays are in different functions, the target becomes global</a:t>
            </a:r>
          </a:p>
          <a:p>
            <a:r>
              <a:rPr lang="en-US" sz="1900" strike="sngStrike" dirty="0"/>
              <a:t>Arrays which are function arguments</a:t>
            </a:r>
          </a:p>
          <a:p>
            <a:pPr lvl="1"/>
            <a:r>
              <a:rPr lang="en-US" sz="1700" strike="sngStrike" dirty="0"/>
              <a:t>All must be part of the same function interface</a:t>
            </a:r>
          </a:p>
        </p:txBody>
      </p:sp>
      <p:sp>
        <p:nvSpPr>
          <p:cNvPr id="9" name="Slide Number Placeholder 8"/>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28</a:t>
            </a:fld>
            <a:endParaRPr lang="en-US" dirty="0">
              <a:solidFill>
                <a:srgbClr val="0C0C0C">
                  <a:tint val="75000"/>
                </a:srgbClr>
              </a:solidFill>
              <a:latin typeface="Arial"/>
            </a:endParaRPr>
          </a:p>
        </p:txBody>
      </p:sp>
      <p:sp>
        <p:nvSpPr>
          <p:cNvPr id="7"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28</a:t>
            </a:fld>
            <a:endParaRPr lang="en-US" sz="1000" dirty="0">
              <a:solidFill>
                <a:srgbClr val="FFFFFF"/>
              </a:solidFill>
              <a:latin typeface="Arial" charset="0"/>
              <a:ea typeface="ＭＳ Ｐゴシック" pitchFamily="34" charset="-128"/>
              <a:cs typeface="Arial" charset="0"/>
            </a:endParaRPr>
          </a:p>
        </p:txBody>
      </p:sp>
      <p:pic>
        <p:nvPicPr>
          <p:cNvPr id="4" name="Picture 3">
            <a:extLst>
              <a:ext uri="{FF2B5EF4-FFF2-40B4-BE49-F238E27FC236}">
                <a16:creationId xmlns:a16="http://schemas.microsoft.com/office/drawing/2014/main" id="{22D20A80-13D8-46BF-B21C-0898DCA79D34}"/>
              </a:ext>
            </a:extLst>
          </p:cNvPr>
          <p:cNvPicPr>
            <a:picLocks noChangeAspect="1"/>
          </p:cNvPicPr>
          <p:nvPr/>
        </p:nvPicPr>
        <p:blipFill>
          <a:blip r:embed="rId2"/>
          <a:stretch>
            <a:fillRect/>
          </a:stretch>
        </p:blipFill>
        <p:spPr>
          <a:xfrm>
            <a:off x="12385011" y="2040970"/>
            <a:ext cx="3181350" cy="3038475"/>
          </a:xfrm>
          <a:prstGeom prst="rect">
            <a:avLst/>
          </a:prstGeom>
        </p:spPr>
      </p:pic>
      <p:pic>
        <p:nvPicPr>
          <p:cNvPr id="5" name="Picture 4">
            <a:extLst>
              <a:ext uri="{FF2B5EF4-FFF2-40B4-BE49-F238E27FC236}">
                <a16:creationId xmlns:a16="http://schemas.microsoft.com/office/drawing/2014/main" id="{3E9F75E4-2324-4FB5-A655-A20A271BF173}"/>
              </a:ext>
            </a:extLst>
          </p:cNvPr>
          <p:cNvPicPr>
            <a:picLocks noChangeAspect="1"/>
          </p:cNvPicPr>
          <p:nvPr/>
        </p:nvPicPr>
        <p:blipFill>
          <a:blip r:embed="rId3"/>
          <a:stretch>
            <a:fillRect/>
          </a:stretch>
        </p:blipFill>
        <p:spPr>
          <a:xfrm>
            <a:off x="8894972" y="2193496"/>
            <a:ext cx="3090363" cy="335289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9267" name="Picture 3"/>
          <p:cNvPicPr>
            <a:picLocks noChangeAspect="1" noChangeArrowheads="1"/>
          </p:cNvPicPr>
          <p:nvPr/>
        </p:nvPicPr>
        <p:blipFill>
          <a:blip r:embed="rId2"/>
          <a:srcRect/>
          <a:stretch>
            <a:fillRect/>
          </a:stretch>
        </p:blipFill>
        <p:spPr bwMode="auto">
          <a:xfrm>
            <a:off x="1681164" y="2119207"/>
            <a:ext cx="8778875" cy="3725863"/>
          </a:xfrm>
          <a:prstGeom prst="rect">
            <a:avLst/>
          </a:prstGeom>
          <a:noFill/>
          <a:ln w="9525">
            <a:noFill/>
            <a:miter lim="800000"/>
            <a:headEnd/>
            <a:tailEnd/>
          </a:ln>
        </p:spPr>
      </p:pic>
      <p:sp>
        <p:nvSpPr>
          <p:cNvPr id="2" name="Title 1"/>
          <p:cNvSpPr>
            <a:spLocks noGrp="1"/>
          </p:cNvSpPr>
          <p:nvPr>
            <p:ph type="title"/>
          </p:nvPr>
        </p:nvSpPr>
        <p:spPr/>
        <p:txBody>
          <a:bodyPr/>
          <a:lstStyle/>
          <a:p>
            <a:r>
              <a:rPr lang="en-US" strike="sngStrike" dirty="0"/>
              <a:t>Horizontal Mapping</a:t>
            </a:r>
          </a:p>
        </p:txBody>
      </p:sp>
      <p:sp>
        <p:nvSpPr>
          <p:cNvPr id="3" name="Content Placeholder 2"/>
          <p:cNvSpPr>
            <a:spLocks noGrp="1"/>
          </p:cNvSpPr>
          <p:nvPr>
            <p:ph idx="1"/>
          </p:nvPr>
        </p:nvSpPr>
        <p:spPr>
          <a:xfrm>
            <a:off x="712729" y="1520481"/>
            <a:ext cx="10512862" cy="4759404"/>
          </a:xfrm>
        </p:spPr>
        <p:txBody>
          <a:bodyPr/>
          <a:lstStyle/>
          <a:p>
            <a:r>
              <a:rPr lang="en-US" dirty="0"/>
              <a:t>Horizontal Mapping</a:t>
            </a:r>
          </a:p>
          <a:p>
            <a:pPr lvl="1"/>
            <a:r>
              <a:rPr lang="en-US" dirty="0"/>
              <a:t>Combines multiple arrays into longer (horizontal) array</a:t>
            </a:r>
          </a:p>
          <a:p>
            <a:pPr lvl="1"/>
            <a:r>
              <a:rPr lang="en-US" dirty="0"/>
              <a:t>Optionally allows the arrays to be offset</a:t>
            </a:r>
          </a:p>
          <a:p>
            <a:pPr lvl="2"/>
            <a:r>
              <a:rPr lang="en-US" dirty="0"/>
              <a:t>The default is to concatenate after the last element </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sz="1100" dirty="0"/>
          </a:p>
          <a:p>
            <a:pPr lvl="2"/>
            <a:endParaRPr lang="en-US" dirty="0"/>
          </a:p>
          <a:p>
            <a:pPr lvl="2"/>
            <a:r>
              <a:rPr lang="en-US" dirty="0"/>
              <a:t>The first array specified (in GUI or Tcl script) starts at location zero</a:t>
            </a:r>
          </a:p>
        </p:txBody>
      </p:sp>
      <p:sp>
        <p:nvSpPr>
          <p:cNvPr id="70" name="Slide Number Placeholder 69"/>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29</a:t>
            </a:fld>
            <a:endParaRPr lang="en-US" dirty="0">
              <a:solidFill>
                <a:srgbClr val="0C0C0C">
                  <a:tint val="75000"/>
                </a:srgbClr>
              </a:solidFill>
              <a:latin typeface="Arial"/>
            </a:endParaRPr>
          </a:p>
        </p:txBody>
      </p:sp>
      <p:sp>
        <p:nvSpPr>
          <p:cNvPr id="60"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29</a:t>
            </a:fld>
            <a:endParaRPr lang="en-US" sz="1000" dirty="0">
              <a:solidFill>
                <a:srgbClr val="FFFFFF"/>
              </a:solidFill>
              <a:latin typeface="Arial" charset="0"/>
              <a:ea typeface="ＭＳ Ｐゴシック" pitchFamily="34" charset="-128"/>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8242" name="Picture 2"/>
          <p:cNvPicPr>
            <a:picLocks noChangeAspect="1" noChangeArrowheads="1"/>
          </p:cNvPicPr>
          <p:nvPr/>
        </p:nvPicPr>
        <p:blipFill>
          <a:blip r:embed="rId2"/>
          <a:srcRect/>
          <a:stretch>
            <a:fillRect/>
          </a:stretch>
        </p:blipFill>
        <p:spPr bwMode="auto">
          <a:xfrm>
            <a:off x="1225551" y="1936208"/>
            <a:ext cx="9950940" cy="2660650"/>
          </a:xfrm>
          <a:prstGeom prst="rect">
            <a:avLst/>
          </a:prstGeom>
          <a:noFill/>
          <a:ln w="9525">
            <a:noFill/>
            <a:miter lim="800000"/>
            <a:headEnd/>
            <a:tailEnd/>
          </a:ln>
        </p:spPr>
      </p:pic>
      <p:sp>
        <p:nvSpPr>
          <p:cNvPr id="2" name="Title 1"/>
          <p:cNvSpPr>
            <a:spLocks noGrp="1"/>
          </p:cNvSpPr>
          <p:nvPr>
            <p:ph type="title"/>
          </p:nvPr>
        </p:nvSpPr>
        <p:spPr/>
        <p:txBody>
          <a:bodyPr/>
          <a:lstStyle/>
          <a:p>
            <a:r>
              <a:rPr lang="en-US" strike="sngStrike" dirty="0"/>
              <a:t>Vertical Mapping</a:t>
            </a:r>
          </a:p>
        </p:txBody>
      </p:sp>
      <p:sp>
        <p:nvSpPr>
          <p:cNvPr id="3" name="Content Placeholder 2"/>
          <p:cNvSpPr>
            <a:spLocks noGrp="1"/>
          </p:cNvSpPr>
          <p:nvPr>
            <p:ph idx="1"/>
          </p:nvPr>
        </p:nvSpPr>
        <p:spPr/>
        <p:txBody>
          <a:bodyPr/>
          <a:lstStyle/>
          <a:p>
            <a:r>
              <a:rPr lang="en-US" dirty="0"/>
              <a:t>Vertical Mapping</a:t>
            </a:r>
          </a:p>
          <a:p>
            <a:pPr lvl="1"/>
            <a:r>
              <a:rPr lang="en-US" dirty="0"/>
              <a:t>Combines multiple arrays in to an array with more bits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The first array specified (in Tcl or GUI) starts at the LSB</a:t>
            </a:r>
          </a:p>
          <a:p>
            <a:r>
              <a:rPr lang="en-US" dirty="0"/>
              <a:t>Vertical Mapping for performance</a:t>
            </a:r>
          </a:p>
          <a:p>
            <a:pPr lvl="1"/>
            <a:r>
              <a:rPr lang="en-US" dirty="0"/>
              <a:t>Creates RAMs with wide words </a:t>
            </a:r>
            <a:r>
              <a:rPr lang="en-US" dirty="0">
                <a:sym typeface="Wingdings" pitchFamily="2" charset="2"/>
              </a:rPr>
              <a:t> Parallel accesses</a:t>
            </a:r>
            <a:endParaRPr lang="en-US" dirty="0"/>
          </a:p>
        </p:txBody>
      </p:sp>
      <p:sp>
        <p:nvSpPr>
          <p:cNvPr id="66" name="Slide Number Placeholder 65"/>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30</a:t>
            </a:fld>
            <a:endParaRPr lang="en-US" dirty="0">
              <a:solidFill>
                <a:srgbClr val="0C0C0C">
                  <a:tint val="75000"/>
                </a:srgbClr>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Precision Integers</a:t>
            </a:r>
          </a:p>
        </p:txBody>
      </p:sp>
      <p:sp>
        <p:nvSpPr>
          <p:cNvPr id="3" name="Content Placeholder 2"/>
          <p:cNvSpPr>
            <a:spLocks noGrp="1"/>
          </p:cNvSpPr>
          <p:nvPr>
            <p:ph idx="1"/>
          </p:nvPr>
        </p:nvSpPr>
        <p:spPr>
          <a:xfrm>
            <a:off x="649119" y="959040"/>
            <a:ext cx="10512862" cy="5388742"/>
          </a:xfrm>
        </p:spPr>
        <p:txBody>
          <a:bodyPr>
            <a:normAutofit/>
          </a:bodyPr>
          <a:lstStyle/>
          <a:p>
            <a:r>
              <a:rPr lang="en-US" dirty="0"/>
              <a:t>C and C++ have standard types created on the 8-bit boundary</a:t>
            </a:r>
          </a:p>
          <a:p>
            <a:pPr lvl="1"/>
            <a:r>
              <a:rPr lang="en-US" dirty="0"/>
              <a:t>char (8-bit), short (16-bit), int (32-bit), long long (64-bit)</a:t>
            </a:r>
          </a:p>
          <a:p>
            <a:pPr lvl="2"/>
            <a:r>
              <a:rPr lang="en-US" dirty="0"/>
              <a:t>Also provides stdint.h (for C), and stdint.h and cstdint (for C++)</a:t>
            </a:r>
          </a:p>
          <a:p>
            <a:pPr lvl="2"/>
            <a:r>
              <a:rPr lang="en-US" dirty="0"/>
              <a:t>Types: int8_t, uint16_t, uint32_t, int_64_t etc. </a:t>
            </a:r>
          </a:p>
          <a:p>
            <a:pPr lvl="1"/>
            <a:r>
              <a:rPr lang="en-US" dirty="0"/>
              <a:t>Implemented hardware sometimes need different sizes of data types</a:t>
            </a:r>
          </a:p>
          <a:p>
            <a:pPr lvl="1"/>
            <a:r>
              <a:rPr lang="en-US" dirty="0"/>
              <a:t>They result in hardware which is not bit-accurate and can give sub-standard QoR</a:t>
            </a:r>
          </a:p>
          <a:p>
            <a:r>
              <a:rPr lang="en-US" dirty="0" err="1"/>
              <a:t>Vitis</a:t>
            </a:r>
            <a:r>
              <a:rPr lang="en-US" dirty="0"/>
              <a:t> HLS </a:t>
            </a:r>
            <a:r>
              <a:rPr lang="en-US" altLang="zh-CN" dirty="0"/>
              <a:t>p</a:t>
            </a:r>
            <a:r>
              <a:rPr lang="en-US" dirty="0"/>
              <a:t>rovides both integer and fixed-point arbitrary precision data types for C++</a:t>
            </a:r>
            <a:endParaRPr lang="en-US" strike="sngStrike" dirty="0"/>
          </a:p>
          <a:p>
            <a:pPr lvl="1"/>
            <a:r>
              <a:rPr lang="en-US" dirty="0"/>
              <a:t>Allow any arbitrary bit-width to be specified</a:t>
            </a:r>
          </a:p>
          <a:p>
            <a:pPr lvl="1"/>
            <a:r>
              <a:rPr lang="en-US" dirty="0"/>
              <a:t>Will simulate with bit-accuracy</a:t>
            </a:r>
          </a:p>
        </p:txBody>
      </p:sp>
      <p:sp>
        <p:nvSpPr>
          <p:cNvPr id="14" name="Slide Number Placeholder 13"/>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31</a:t>
            </a:fld>
            <a:endParaRPr lang="en-US" dirty="0"/>
          </a:p>
        </p:txBody>
      </p:sp>
      <p:sp>
        <p:nvSpPr>
          <p:cNvPr id="13"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31</a:t>
            </a:fld>
            <a:endParaRPr lang="en-US" sz="1000" dirty="0">
              <a:solidFill>
                <a:schemeClr val="bg1"/>
              </a:solidFill>
              <a:latin typeface="Arial" charset="0"/>
              <a:ea typeface="ＭＳ Ｐゴシック" pitchFamily="34" charset="-128"/>
              <a:cs typeface="Arial" charset="0"/>
            </a:endParaRPr>
          </a:p>
        </p:txBody>
      </p:sp>
      <p:pic>
        <p:nvPicPr>
          <p:cNvPr id="137219" name="Picture 3"/>
          <p:cNvPicPr>
            <a:picLocks noChangeAspect="1" noChangeArrowheads="1"/>
          </p:cNvPicPr>
          <p:nvPr/>
        </p:nvPicPr>
        <p:blipFill>
          <a:blip r:embed="rId2"/>
          <a:srcRect/>
          <a:stretch>
            <a:fillRect/>
          </a:stretch>
        </p:blipFill>
        <p:spPr bwMode="auto">
          <a:xfrm>
            <a:off x="6417220" y="4725356"/>
            <a:ext cx="3763962" cy="1730375"/>
          </a:xfrm>
          <a:prstGeom prst="rect">
            <a:avLst/>
          </a:prstGeom>
          <a:noFill/>
          <a:ln w="9525">
            <a:noFill/>
            <a:miter lim="800000"/>
            <a:headEnd/>
            <a:tailEnd/>
          </a:ln>
        </p:spPr>
      </p:pic>
      <p:pic>
        <p:nvPicPr>
          <p:cNvPr id="137220" name="Picture 4"/>
          <p:cNvPicPr>
            <a:picLocks noChangeAspect="1" noChangeArrowheads="1"/>
          </p:cNvPicPr>
          <p:nvPr/>
        </p:nvPicPr>
        <p:blipFill>
          <a:blip r:embed="rId3"/>
          <a:srcRect/>
          <a:stretch>
            <a:fillRect/>
          </a:stretch>
        </p:blipFill>
        <p:spPr bwMode="auto">
          <a:xfrm>
            <a:off x="2574975" y="4725356"/>
            <a:ext cx="3330575" cy="174466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Arbitrary Precision Integers</a:t>
            </a:r>
          </a:p>
        </p:txBody>
      </p:sp>
      <p:sp>
        <p:nvSpPr>
          <p:cNvPr id="3" name="Content Placeholder 2"/>
          <p:cNvSpPr>
            <a:spLocks noGrp="1"/>
          </p:cNvSpPr>
          <p:nvPr>
            <p:ph idx="1"/>
          </p:nvPr>
        </p:nvSpPr>
        <p:spPr>
          <a:xfrm>
            <a:off x="649119" y="959040"/>
            <a:ext cx="10512862" cy="4759404"/>
          </a:xfrm>
        </p:spPr>
        <p:txBody>
          <a:bodyPr>
            <a:normAutofit/>
          </a:bodyPr>
          <a:lstStyle/>
          <a:p>
            <a:r>
              <a:rPr lang="en-US" dirty="0"/>
              <a:t>C and C++ have standard types created on the 8-bit boundary</a:t>
            </a:r>
          </a:p>
          <a:p>
            <a:pPr lvl="1"/>
            <a:r>
              <a:rPr lang="en-US" dirty="0"/>
              <a:t>char (8-bit), short (16-bit), int (32-bit), long long (64-bit)</a:t>
            </a:r>
          </a:p>
          <a:p>
            <a:pPr lvl="2"/>
            <a:r>
              <a:rPr lang="en-US" dirty="0"/>
              <a:t>Also provides stdint.h (for C), and stdint.h and cstdint (for C++)</a:t>
            </a:r>
          </a:p>
          <a:p>
            <a:pPr lvl="2"/>
            <a:r>
              <a:rPr lang="en-US" dirty="0"/>
              <a:t>Types: int8_t, uint16_t, uint32_t, int_64_t etc. </a:t>
            </a:r>
          </a:p>
          <a:p>
            <a:pPr lvl="1"/>
            <a:r>
              <a:rPr lang="en-US" dirty="0">
                <a:highlight>
                  <a:srgbClr val="FFFF00"/>
                </a:highlight>
              </a:rPr>
              <a:t>Implemented hardware sometimes need different sizes of data types</a:t>
            </a:r>
          </a:p>
          <a:p>
            <a:pPr lvl="1"/>
            <a:r>
              <a:rPr lang="en-US" dirty="0"/>
              <a:t>They result in hardware which is not bit-accurate and can give sub-standard QoR</a:t>
            </a:r>
          </a:p>
          <a:p>
            <a:r>
              <a:rPr lang="en-US" dirty="0" err="1">
                <a:highlight>
                  <a:srgbClr val="FFFF00"/>
                </a:highlight>
              </a:rPr>
              <a:t>Vitis</a:t>
            </a:r>
            <a:r>
              <a:rPr lang="en-US" dirty="0"/>
              <a:t> HLS </a:t>
            </a:r>
            <a:r>
              <a:rPr lang="en-US" strike="sngStrike" dirty="0"/>
              <a:t>provides bit-accurate types in </a:t>
            </a:r>
            <a:r>
              <a:rPr lang="en-US" strike="sngStrike" dirty="0">
                <a:highlight>
                  <a:srgbClr val="FFFF00"/>
                </a:highlight>
              </a:rPr>
              <a:t>both C and </a:t>
            </a:r>
            <a:r>
              <a:rPr lang="en-US" strike="sngStrike" dirty="0"/>
              <a:t>C++</a:t>
            </a:r>
            <a:r>
              <a:rPr lang="en-US" strike="sngStrike" dirty="0">
                <a:highlight>
                  <a:srgbClr val="FFFF00"/>
                </a:highlight>
              </a:rPr>
              <a:t>p</a:t>
            </a:r>
            <a:r>
              <a:rPr lang="en-US" dirty="0">
                <a:highlight>
                  <a:srgbClr val="FFFF00"/>
                </a:highlight>
              </a:rPr>
              <a:t>rovides both integer and fixed-point arbitrary precision data types for C++</a:t>
            </a:r>
            <a:endParaRPr lang="en-US" strike="sngStrike" dirty="0">
              <a:highlight>
                <a:srgbClr val="FFFF00"/>
              </a:highlight>
            </a:endParaRPr>
          </a:p>
          <a:p>
            <a:pPr lvl="1"/>
            <a:r>
              <a:rPr lang="en-US" strike="sngStrike" dirty="0">
                <a:highlight>
                  <a:srgbClr val="FFFF00"/>
                </a:highlight>
              </a:rPr>
              <a:t>Plus SystemC types can be used in C++</a:t>
            </a:r>
          </a:p>
          <a:p>
            <a:pPr lvl="1"/>
            <a:r>
              <a:rPr lang="en-US" dirty="0"/>
              <a:t>Allow any arbitrary bit-width to be specified</a:t>
            </a:r>
          </a:p>
          <a:p>
            <a:pPr lvl="1"/>
            <a:r>
              <a:rPr lang="en-US" dirty="0"/>
              <a:t>Will simulate with bit-accuracy</a:t>
            </a:r>
          </a:p>
        </p:txBody>
      </p:sp>
      <p:sp>
        <p:nvSpPr>
          <p:cNvPr id="14" name="Slide Number Placeholder 13"/>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32</a:t>
            </a:fld>
            <a:endParaRPr lang="en-US" dirty="0">
              <a:solidFill>
                <a:srgbClr val="0C0C0C">
                  <a:tint val="75000"/>
                </a:srgbClr>
              </a:solidFill>
              <a:latin typeface="Arial"/>
            </a:endParaRPr>
          </a:p>
        </p:txBody>
      </p:sp>
      <p:sp>
        <p:nvSpPr>
          <p:cNvPr id="13"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32</a:t>
            </a:fld>
            <a:endParaRPr lang="en-US" sz="1000" dirty="0">
              <a:solidFill>
                <a:srgbClr val="FFFFFF"/>
              </a:solidFill>
              <a:latin typeface="Arial" charset="0"/>
              <a:ea typeface="ＭＳ Ｐゴシック" pitchFamily="34" charset="-128"/>
              <a:cs typeface="Arial" charset="0"/>
            </a:endParaRPr>
          </a:p>
        </p:txBody>
      </p:sp>
      <p:pic>
        <p:nvPicPr>
          <p:cNvPr id="137219" name="Picture 3"/>
          <p:cNvPicPr>
            <a:picLocks noChangeAspect="1" noChangeArrowheads="1"/>
          </p:cNvPicPr>
          <p:nvPr/>
        </p:nvPicPr>
        <p:blipFill>
          <a:blip r:embed="rId2"/>
          <a:srcRect/>
          <a:stretch>
            <a:fillRect/>
          </a:stretch>
        </p:blipFill>
        <p:spPr bwMode="auto">
          <a:xfrm>
            <a:off x="6397626" y="4481590"/>
            <a:ext cx="3763962" cy="1730375"/>
          </a:xfrm>
          <a:prstGeom prst="rect">
            <a:avLst/>
          </a:prstGeom>
          <a:noFill/>
          <a:ln w="9525">
            <a:noFill/>
            <a:miter lim="800000"/>
            <a:headEnd/>
            <a:tailEnd/>
          </a:ln>
        </p:spPr>
      </p:pic>
      <p:pic>
        <p:nvPicPr>
          <p:cNvPr id="137220" name="Picture 4"/>
          <p:cNvPicPr>
            <a:picLocks noChangeAspect="1" noChangeArrowheads="1"/>
          </p:cNvPicPr>
          <p:nvPr/>
        </p:nvPicPr>
        <p:blipFill>
          <a:blip r:embed="rId3"/>
          <a:srcRect/>
          <a:stretch>
            <a:fillRect/>
          </a:stretch>
        </p:blipFill>
        <p:spPr bwMode="auto">
          <a:xfrm>
            <a:off x="2487614" y="4486352"/>
            <a:ext cx="3330575" cy="174466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5" name="Picture 3"/>
          <p:cNvPicPr>
            <a:picLocks noChangeAspect="1" noChangeArrowheads="1"/>
          </p:cNvPicPr>
          <p:nvPr/>
        </p:nvPicPr>
        <p:blipFill>
          <a:blip r:embed="rId2"/>
          <a:srcRect/>
          <a:stretch>
            <a:fillRect/>
          </a:stretch>
        </p:blipFill>
        <p:spPr bwMode="auto">
          <a:xfrm>
            <a:off x="1517652" y="4143168"/>
            <a:ext cx="9228137" cy="1677843"/>
          </a:xfrm>
          <a:prstGeom prst="rect">
            <a:avLst/>
          </a:prstGeom>
          <a:noFill/>
          <a:ln w="9525">
            <a:noFill/>
            <a:miter lim="800000"/>
            <a:headEnd/>
            <a:tailEnd/>
          </a:ln>
        </p:spPr>
      </p:pic>
      <p:sp>
        <p:nvSpPr>
          <p:cNvPr id="2" name="Title 1"/>
          <p:cNvSpPr>
            <a:spLocks noGrp="1"/>
          </p:cNvSpPr>
          <p:nvPr>
            <p:ph type="title"/>
          </p:nvPr>
        </p:nvSpPr>
        <p:spPr/>
        <p:txBody>
          <a:bodyPr>
            <a:normAutofit/>
          </a:bodyPr>
          <a:lstStyle/>
          <a:p>
            <a:r>
              <a:rPr lang="en-US" dirty="0"/>
              <a:t>Why are Arbitrary Precision types Needed?</a:t>
            </a:r>
          </a:p>
        </p:txBody>
      </p:sp>
      <p:sp>
        <p:nvSpPr>
          <p:cNvPr id="3" name="Content Placeholder 2"/>
          <p:cNvSpPr>
            <a:spLocks noGrp="1"/>
          </p:cNvSpPr>
          <p:nvPr>
            <p:ph idx="1"/>
          </p:nvPr>
        </p:nvSpPr>
        <p:spPr>
          <a:xfrm>
            <a:off x="579119" y="1198735"/>
            <a:ext cx="10512862" cy="6201374"/>
          </a:xfrm>
        </p:spPr>
        <p:txBody>
          <a:bodyPr>
            <a:noAutofit/>
          </a:bodyPr>
          <a:lstStyle/>
          <a:p>
            <a:r>
              <a:rPr lang="en-US" dirty="0"/>
              <a:t>Code using native C </a:t>
            </a:r>
            <a:r>
              <a:rPr lang="en-US" dirty="0" err="1"/>
              <a:t>int</a:t>
            </a:r>
            <a:r>
              <a:rPr lang="en-US" dirty="0"/>
              <a:t> type</a:t>
            </a:r>
          </a:p>
          <a:p>
            <a:endParaRPr lang="en-US" dirty="0"/>
          </a:p>
          <a:p>
            <a:endParaRPr lang="en-US" dirty="0"/>
          </a:p>
          <a:p>
            <a:pPr marL="0" indent="0">
              <a:buNone/>
            </a:pPr>
            <a:endParaRPr lang="en-US" sz="900" dirty="0"/>
          </a:p>
          <a:p>
            <a:r>
              <a:rPr lang="en-US" dirty="0"/>
              <a:t>However, if the inputs will only have a max range of 8-bit</a:t>
            </a:r>
          </a:p>
          <a:p>
            <a:pPr lvl="1"/>
            <a:r>
              <a:rPr lang="en-US" dirty="0"/>
              <a:t>Arbitrary precision data-types should be used</a:t>
            </a:r>
          </a:p>
          <a:p>
            <a:pPr lvl="1"/>
            <a:endParaRPr lang="en-US" dirty="0"/>
          </a:p>
          <a:p>
            <a:pPr marL="457063" lvl="1" indent="0">
              <a:buNone/>
            </a:pPr>
            <a:endParaRPr lang="en-US" dirty="0"/>
          </a:p>
          <a:p>
            <a:pPr marL="457063" lvl="1" indent="0">
              <a:buNone/>
            </a:pPr>
            <a:br>
              <a:rPr lang="en-US" dirty="0"/>
            </a:br>
            <a:endParaRPr lang="en-US" dirty="0"/>
          </a:p>
          <a:p>
            <a:pPr marL="457063" lvl="1" indent="0">
              <a:buNone/>
            </a:pPr>
            <a:endParaRPr lang="en-US" dirty="0"/>
          </a:p>
          <a:p>
            <a:pPr lvl="1"/>
            <a:r>
              <a:rPr lang="en-US" dirty="0"/>
              <a:t>It will result in smaller &amp; faster hardware with full precision, full precision can be simulated/validated with C simulation and hardware will behave the same</a:t>
            </a:r>
          </a:p>
        </p:txBody>
      </p:sp>
      <p:sp>
        <p:nvSpPr>
          <p:cNvPr id="57" name="Slide Number Placeholder 56"/>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33</a:t>
            </a:fld>
            <a:endParaRPr lang="en-US" dirty="0"/>
          </a:p>
        </p:txBody>
      </p:sp>
      <p:sp>
        <p:nvSpPr>
          <p:cNvPr id="56"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chemeClr val="bg1"/>
                </a:solidFill>
                <a:latin typeface="Arial" charset="0"/>
                <a:ea typeface="ＭＳ Ｐゴシック" pitchFamily="34" charset="-128"/>
                <a:cs typeface="Arial" charset="0"/>
              </a:rPr>
              <a:t>21- </a:t>
            </a:r>
            <a:fld id="{0E88F696-905B-490D-9D4B-033243675593}" type="slidenum">
              <a:rPr lang="en-US" sz="1000">
                <a:solidFill>
                  <a:schemeClr val="bg1"/>
                </a:solidFill>
                <a:latin typeface="Arial" charset="0"/>
                <a:ea typeface="ＭＳ Ｐゴシック" pitchFamily="34" charset="-128"/>
                <a:cs typeface="Arial" charset="0"/>
              </a:rPr>
              <a:pPr defTabSz="457200" fontAlgn="base">
                <a:spcBef>
                  <a:spcPct val="0"/>
                </a:spcBef>
                <a:spcAft>
                  <a:spcPct val="0"/>
                </a:spcAft>
                <a:defRPr/>
              </a:pPr>
              <a:t>33</a:t>
            </a:fld>
            <a:endParaRPr lang="en-US" sz="1000" dirty="0">
              <a:solidFill>
                <a:schemeClr val="bg1"/>
              </a:solidFill>
              <a:latin typeface="Arial" charset="0"/>
              <a:ea typeface="ＭＳ Ｐゴシック" pitchFamily="34" charset="-128"/>
              <a:cs typeface="Arial" charset="0"/>
            </a:endParaRPr>
          </a:p>
        </p:txBody>
      </p:sp>
      <p:pic>
        <p:nvPicPr>
          <p:cNvPr id="136194" name="Picture 2"/>
          <p:cNvPicPr>
            <a:picLocks noChangeAspect="1" noChangeArrowheads="1"/>
          </p:cNvPicPr>
          <p:nvPr/>
        </p:nvPicPr>
        <p:blipFill>
          <a:blip r:embed="rId3"/>
          <a:srcRect/>
          <a:stretch>
            <a:fillRect/>
          </a:stretch>
        </p:blipFill>
        <p:spPr bwMode="auto">
          <a:xfrm>
            <a:off x="1539501" y="1642571"/>
            <a:ext cx="9112998" cy="1647825"/>
          </a:xfrm>
          <a:prstGeom prst="rect">
            <a:avLst/>
          </a:prstGeom>
          <a:noFill/>
          <a:ln w="9525">
            <a:noFill/>
            <a:miter lim="800000"/>
            <a:headEnd/>
            <a:tailEnd/>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6195" name="Picture 3"/>
          <p:cNvPicPr>
            <a:picLocks noChangeAspect="1" noChangeArrowheads="1"/>
          </p:cNvPicPr>
          <p:nvPr/>
        </p:nvPicPr>
        <p:blipFill>
          <a:blip r:embed="rId2"/>
          <a:srcRect/>
          <a:stretch>
            <a:fillRect/>
          </a:stretch>
        </p:blipFill>
        <p:spPr bwMode="auto">
          <a:xfrm>
            <a:off x="1517652" y="4143168"/>
            <a:ext cx="9228137" cy="1677843"/>
          </a:xfrm>
          <a:prstGeom prst="rect">
            <a:avLst/>
          </a:prstGeom>
          <a:noFill/>
          <a:ln w="9525">
            <a:noFill/>
            <a:miter lim="800000"/>
            <a:headEnd/>
            <a:tailEnd/>
          </a:ln>
        </p:spPr>
      </p:pic>
      <p:sp>
        <p:nvSpPr>
          <p:cNvPr id="2" name="Title 1"/>
          <p:cNvSpPr>
            <a:spLocks noGrp="1"/>
          </p:cNvSpPr>
          <p:nvPr>
            <p:ph type="title"/>
          </p:nvPr>
        </p:nvSpPr>
        <p:spPr/>
        <p:txBody>
          <a:bodyPr>
            <a:normAutofit fontScale="90000"/>
          </a:bodyPr>
          <a:lstStyle/>
          <a:p>
            <a:r>
              <a:rPr lang="en-US" dirty="0"/>
              <a:t>Why are Arbitrary Precision types Needed?</a:t>
            </a:r>
          </a:p>
        </p:txBody>
      </p:sp>
      <p:sp>
        <p:nvSpPr>
          <p:cNvPr id="3" name="Content Placeholder 2"/>
          <p:cNvSpPr>
            <a:spLocks noGrp="1"/>
          </p:cNvSpPr>
          <p:nvPr>
            <p:ph idx="1"/>
          </p:nvPr>
        </p:nvSpPr>
        <p:spPr>
          <a:xfrm>
            <a:off x="649119" y="1240003"/>
            <a:ext cx="10512862" cy="4759404"/>
          </a:xfrm>
        </p:spPr>
        <p:txBody>
          <a:bodyPr>
            <a:noAutofit/>
          </a:bodyPr>
          <a:lstStyle/>
          <a:p>
            <a:r>
              <a:rPr lang="en-US" dirty="0"/>
              <a:t>Code using native C </a:t>
            </a:r>
            <a:r>
              <a:rPr lang="en-US" dirty="0" err="1"/>
              <a:t>int</a:t>
            </a:r>
            <a:r>
              <a:rPr lang="en-US" dirty="0"/>
              <a:t> type</a:t>
            </a:r>
          </a:p>
          <a:p>
            <a:endParaRPr lang="en-US" dirty="0"/>
          </a:p>
          <a:p>
            <a:endParaRPr lang="en-US" dirty="0"/>
          </a:p>
          <a:p>
            <a:endParaRPr lang="en-US" dirty="0"/>
          </a:p>
          <a:p>
            <a:endParaRPr lang="en-US" dirty="0"/>
          </a:p>
          <a:p>
            <a:r>
              <a:rPr lang="en-US" dirty="0"/>
              <a:t>However, if the inputs will only have a max range of 8-bit</a:t>
            </a:r>
          </a:p>
          <a:p>
            <a:pPr lvl="1"/>
            <a:r>
              <a:rPr lang="en-US" dirty="0"/>
              <a:t>Arbitrary precision data-types should be used</a:t>
            </a:r>
          </a:p>
          <a:p>
            <a:pPr marL="457063" lvl="1" indent="0">
              <a:buNone/>
            </a:pPr>
            <a:endParaRPr lang="en-US" dirty="0"/>
          </a:p>
          <a:p>
            <a:pPr marL="457063" lvl="1" indent="0">
              <a:buNone/>
            </a:pPr>
            <a:br>
              <a:rPr lang="en-US" dirty="0"/>
            </a:br>
            <a:endParaRPr lang="en-US" dirty="0"/>
          </a:p>
          <a:p>
            <a:pPr lvl="1"/>
            <a:endParaRPr lang="en-US" dirty="0"/>
          </a:p>
          <a:p>
            <a:pPr lvl="1"/>
            <a:endParaRPr lang="en-US" dirty="0"/>
          </a:p>
          <a:p>
            <a:pPr marL="457063" lvl="1" indent="0">
              <a:buNone/>
            </a:pPr>
            <a:endParaRPr lang="en-US" dirty="0"/>
          </a:p>
          <a:p>
            <a:pPr lvl="1"/>
            <a:r>
              <a:rPr lang="en-US" dirty="0"/>
              <a:t>It will result in smaller &amp; faster hardware with full precision, </a:t>
            </a:r>
            <a:r>
              <a:rPr lang="en-US" dirty="0">
                <a:highlight>
                  <a:srgbClr val="FFFF00"/>
                </a:highlight>
              </a:rPr>
              <a:t>full precision can be simulated/validated with C simulation and hardware will behave the same</a:t>
            </a:r>
          </a:p>
        </p:txBody>
      </p:sp>
      <p:sp>
        <p:nvSpPr>
          <p:cNvPr id="57" name="Slide Number Placeholder 56"/>
          <p:cNvSpPr>
            <a:spLocks noGrp="1"/>
          </p:cNvSpPr>
          <p:nvPr>
            <p:ph type="sldNum" sz="quarter" idx="10"/>
          </p:nvPr>
        </p:nvSpPr>
        <p:spPr/>
        <p:txBody>
          <a:bodyPr/>
          <a:lstStyle/>
          <a:p>
            <a:pPr defTabSz="914400">
              <a:defRPr/>
            </a:pPr>
            <a:r>
              <a:rPr lang="en-US" dirty="0">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34</a:t>
            </a:fld>
            <a:endParaRPr lang="en-US" dirty="0">
              <a:solidFill>
                <a:srgbClr val="0C0C0C">
                  <a:tint val="75000"/>
                </a:srgbClr>
              </a:solidFill>
              <a:latin typeface="Arial"/>
            </a:endParaRPr>
          </a:p>
        </p:txBody>
      </p:sp>
      <p:sp>
        <p:nvSpPr>
          <p:cNvPr id="56" name="Slide Number Placeholder 3"/>
          <p:cNvSpPr txBox="1">
            <a:spLocks/>
          </p:cNvSpPr>
          <p:nvPr/>
        </p:nvSpPr>
        <p:spPr>
          <a:xfrm>
            <a:off x="611030" y="6347782"/>
            <a:ext cx="1117309" cy="244475"/>
          </a:xfrm>
          <a:prstGeom prst="rect">
            <a:avLst/>
          </a:prstGeom>
        </p:spPr>
        <p:txBody>
          <a:bodyPr/>
          <a:lstStyle/>
          <a:p>
            <a:pPr defTabSz="457200" fontAlgn="base">
              <a:spcBef>
                <a:spcPct val="0"/>
              </a:spcBef>
              <a:spcAft>
                <a:spcPct val="0"/>
              </a:spcAft>
              <a:defRPr/>
            </a:pPr>
            <a:r>
              <a:rPr lang="en-US" sz="1000">
                <a:solidFill>
                  <a:srgbClr val="FFFFFF"/>
                </a:solidFill>
                <a:latin typeface="Arial" charset="0"/>
                <a:ea typeface="ＭＳ Ｐゴシック" pitchFamily="34" charset="-128"/>
                <a:cs typeface="Arial" charset="0"/>
              </a:rPr>
              <a:t>21- </a:t>
            </a:r>
            <a:fld id="{0E88F696-905B-490D-9D4B-033243675593}" type="slidenum">
              <a:rPr lang="en-US" sz="1000">
                <a:solidFill>
                  <a:srgbClr val="FFFFFF"/>
                </a:solidFill>
                <a:latin typeface="Arial" charset="0"/>
                <a:ea typeface="ＭＳ Ｐゴシック" pitchFamily="34" charset="-128"/>
                <a:cs typeface="Arial" charset="0"/>
              </a:rPr>
              <a:pPr defTabSz="457200" fontAlgn="base">
                <a:spcBef>
                  <a:spcPct val="0"/>
                </a:spcBef>
                <a:spcAft>
                  <a:spcPct val="0"/>
                </a:spcAft>
                <a:defRPr/>
              </a:pPr>
              <a:t>34</a:t>
            </a:fld>
            <a:endParaRPr lang="en-US" sz="1000" dirty="0">
              <a:solidFill>
                <a:srgbClr val="FFFFFF"/>
              </a:solidFill>
              <a:latin typeface="Arial" charset="0"/>
              <a:ea typeface="ＭＳ Ｐゴシック" pitchFamily="34" charset="-128"/>
              <a:cs typeface="Arial" charset="0"/>
            </a:endParaRPr>
          </a:p>
        </p:txBody>
      </p:sp>
      <p:pic>
        <p:nvPicPr>
          <p:cNvPr id="136194" name="Picture 2"/>
          <p:cNvPicPr>
            <a:picLocks noChangeAspect="1" noChangeArrowheads="1"/>
          </p:cNvPicPr>
          <p:nvPr/>
        </p:nvPicPr>
        <p:blipFill>
          <a:blip r:embed="rId3"/>
          <a:srcRect/>
          <a:stretch>
            <a:fillRect/>
          </a:stretch>
        </p:blipFill>
        <p:spPr bwMode="auto">
          <a:xfrm>
            <a:off x="1539501" y="1642571"/>
            <a:ext cx="9112998" cy="1647825"/>
          </a:xfrm>
          <a:prstGeom prst="rect">
            <a:avLst/>
          </a:prstGeom>
          <a:noFill/>
          <a:ln w="9525">
            <a:noFill/>
            <a:miter lim="800000"/>
            <a:headEnd/>
            <a:tailEnd/>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31E60-C45F-4701-94C4-ECB487AC35DF}"/>
              </a:ext>
            </a:extLst>
          </p:cNvPr>
          <p:cNvSpPr>
            <a:spLocks noGrp="1"/>
          </p:cNvSpPr>
          <p:nvPr>
            <p:ph type="title"/>
          </p:nvPr>
        </p:nvSpPr>
        <p:spPr/>
        <p:txBody>
          <a:bodyPr/>
          <a:lstStyle/>
          <a:p>
            <a:r>
              <a:rPr lang="en-US" dirty="0"/>
              <a:t>DEPEDENCE Directive</a:t>
            </a:r>
          </a:p>
        </p:txBody>
      </p:sp>
      <p:sp>
        <p:nvSpPr>
          <p:cNvPr id="3" name="Content Placeholder 2">
            <a:extLst>
              <a:ext uri="{FF2B5EF4-FFF2-40B4-BE49-F238E27FC236}">
                <a16:creationId xmlns:a16="http://schemas.microsoft.com/office/drawing/2014/main" id="{DE77B351-F626-4E30-88A4-309F5B49ED3B}"/>
              </a:ext>
            </a:extLst>
          </p:cNvPr>
          <p:cNvSpPr>
            <a:spLocks noGrp="1"/>
          </p:cNvSpPr>
          <p:nvPr>
            <p:ph idx="1"/>
          </p:nvPr>
        </p:nvSpPr>
        <p:spPr>
          <a:xfrm>
            <a:off x="649119" y="955374"/>
            <a:ext cx="10512862" cy="5056044"/>
          </a:xfrm>
        </p:spPr>
        <p:txBody>
          <a:bodyPr/>
          <a:lstStyle/>
          <a:p>
            <a:r>
              <a:rPr lang="en-US" dirty="0"/>
              <a:t>Loop-independent dependence</a:t>
            </a:r>
          </a:p>
          <a:p>
            <a:pPr lvl="1"/>
            <a:r>
              <a:rPr lang="en-US" dirty="0"/>
              <a:t>The same element is accessed in a single loop iteration</a:t>
            </a:r>
          </a:p>
          <a:p>
            <a:r>
              <a:rPr lang="en-US" dirty="0"/>
              <a:t>Loop-carried dependence</a:t>
            </a:r>
          </a:p>
          <a:p>
            <a:pPr lvl="1"/>
            <a:r>
              <a:rPr lang="en-US" b="0" dirty="0"/>
              <a:t>The same element is accessed from a different loop iteration</a:t>
            </a:r>
          </a:p>
          <a:p>
            <a:r>
              <a:rPr lang="en-US" altLang="zh-CN" dirty="0"/>
              <a:t>DEPENDENCE directive allows to explicitly define the dependencies and eliminate a false dependence</a:t>
            </a:r>
            <a:endParaRPr lang="en-US" dirty="0"/>
          </a:p>
        </p:txBody>
      </p:sp>
      <p:sp>
        <p:nvSpPr>
          <p:cNvPr id="4" name="Slide Number Placeholder 3">
            <a:extLst>
              <a:ext uri="{FF2B5EF4-FFF2-40B4-BE49-F238E27FC236}">
                <a16:creationId xmlns:a16="http://schemas.microsoft.com/office/drawing/2014/main" id="{607A8710-FA71-4BAE-A71A-840C5CC16EAD}"/>
              </a:ext>
            </a:extLst>
          </p:cNvPr>
          <p:cNvSpPr>
            <a:spLocks noGrp="1"/>
          </p:cNvSpPr>
          <p:nvPr>
            <p:ph type="sldNum" sz="quarter" idx="10"/>
          </p:nvPr>
        </p:nvSpPr>
        <p:spPr/>
        <p:txBody>
          <a:bodyPr/>
          <a:lstStyle/>
          <a:p>
            <a:pPr>
              <a:defRPr/>
            </a:pPr>
            <a:r>
              <a:rPr lang="en-US"/>
              <a:t>Improving Area and Resources 21- </a:t>
            </a:r>
            <a:fld id="{060BD193-E118-4B16-863C-C8C12C675E3E}" type="slidenum">
              <a:rPr lang="en-US" smtClean="0"/>
              <a:pPr>
                <a:defRPr/>
              </a:pPr>
              <a:t>35</a:t>
            </a:fld>
            <a:endParaRPr lang="en-US" dirty="0"/>
          </a:p>
        </p:txBody>
      </p:sp>
      <p:sp>
        <p:nvSpPr>
          <p:cNvPr id="5" name="TextBox 4">
            <a:extLst>
              <a:ext uri="{FF2B5EF4-FFF2-40B4-BE49-F238E27FC236}">
                <a16:creationId xmlns:a16="http://schemas.microsoft.com/office/drawing/2014/main" id="{5EBD4CC3-AE62-4EA2-B19B-B6E239EE8229}"/>
              </a:ext>
            </a:extLst>
          </p:cNvPr>
          <p:cNvSpPr txBox="1"/>
          <p:nvPr/>
        </p:nvSpPr>
        <p:spPr>
          <a:xfrm>
            <a:off x="8342593" y="713232"/>
            <a:ext cx="2437395" cy="110799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50000"/>
              </a:spcBef>
              <a:spcAft>
                <a:spcPct val="0"/>
              </a:spcAft>
              <a:defRPr/>
            </a:pPr>
            <a:r>
              <a:rPr lang="en-US" altLang="zh-CN" sz="1200" kern="0" dirty="0">
                <a:solidFill>
                  <a:srgbClr val="000000"/>
                </a:solidFill>
                <a:ea typeface="宋体" charset="-122"/>
              </a:rPr>
              <a:t>for (</a:t>
            </a:r>
            <a:r>
              <a:rPr lang="en-US" altLang="zh-CN" sz="1200" kern="0" dirty="0" err="1">
                <a:solidFill>
                  <a:srgbClr val="000000"/>
                </a:solidFill>
                <a:ea typeface="宋体" charset="-122"/>
              </a:rPr>
              <a:t>i</a:t>
            </a:r>
            <a:r>
              <a:rPr lang="en-US" altLang="zh-CN" sz="1200" kern="0" dirty="0">
                <a:solidFill>
                  <a:srgbClr val="000000"/>
                </a:solidFill>
                <a:ea typeface="宋体" charset="-122"/>
              </a:rPr>
              <a:t>=0;i&lt;</a:t>
            </a:r>
            <a:r>
              <a:rPr lang="en-US" altLang="zh-CN" sz="1200" kern="0" dirty="0" err="1">
                <a:solidFill>
                  <a:srgbClr val="000000"/>
                </a:solidFill>
                <a:ea typeface="宋体" charset="-122"/>
              </a:rPr>
              <a:t>N;i</a:t>
            </a:r>
            <a:r>
              <a:rPr lang="en-US" altLang="zh-CN" sz="1200" kern="0" dirty="0">
                <a:solidFill>
                  <a:srgbClr val="000000"/>
                </a:solidFill>
                <a:ea typeface="宋体" charset="-122"/>
              </a:rPr>
              <a:t>++) {</a:t>
            </a:r>
          </a:p>
          <a:p>
            <a:pPr lvl="0" fontAlgn="base">
              <a:spcBef>
                <a:spcPct val="50000"/>
              </a:spcBef>
              <a:spcAft>
                <a:spcPct val="0"/>
              </a:spcAft>
              <a:defRPr/>
            </a:pPr>
            <a:r>
              <a:rPr lang="en-US" altLang="zh-CN" sz="1200" kern="0" dirty="0">
                <a:solidFill>
                  <a:srgbClr val="000000"/>
                </a:solidFill>
                <a:ea typeface="宋体" charset="-122"/>
              </a:rPr>
              <a:t> A[</a:t>
            </a:r>
            <a:r>
              <a:rPr lang="en-US" altLang="zh-CN" sz="1200" kern="0" dirty="0" err="1">
                <a:solidFill>
                  <a:srgbClr val="000000"/>
                </a:solidFill>
                <a:ea typeface="宋体" charset="-122"/>
              </a:rPr>
              <a:t>i</a:t>
            </a:r>
            <a:r>
              <a:rPr lang="en-US" altLang="zh-CN" sz="1200" kern="0" dirty="0">
                <a:solidFill>
                  <a:srgbClr val="000000"/>
                </a:solidFill>
                <a:ea typeface="宋体" charset="-122"/>
              </a:rPr>
              <a:t>]=x;</a:t>
            </a:r>
          </a:p>
          <a:p>
            <a:pPr lvl="0" fontAlgn="base">
              <a:spcBef>
                <a:spcPct val="50000"/>
              </a:spcBef>
              <a:spcAft>
                <a:spcPct val="0"/>
              </a:spcAft>
              <a:defRPr/>
            </a:pPr>
            <a:r>
              <a:rPr lang="en-US" altLang="zh-CN" sz="1200" kern="0" dirty="0">
                <a:solidFill>
                  <a:srgbClr val="000000"/>
                </a:solidFill>
                <a:ea typeface="宋体" charset="-122"/>
              </a:rPr>
              <a:t> y=A[</a:t>
            </a:r>
            <a:r>
              <a:rPr lang="en-US" altLang="zh-CN" sz="1200" kern="0" dirty="0" err="1">
                <a:solidFill>
                  <a:srgbClr val="000000"/>
                </a:solidFill>
                <a:ea typeface="宋体" charset="-122"/>
              </a:rPr>
              <a:t>i</a:t>
            </a:r>
            <a:r>
              <a:rPr lang="en-US" altLang="zh-CN" sz="1200" kern="0" dirty="0">
                <a:solidFill>
                  <a:srgbClr val="000000"/>
                </a:solidFill>
                <a:ea typeface="宋体" charset="-122"/>
              </a:rPr>
              <a:t>];</a:t>
            </a:r>
          </a:p>
          <a:p>
            <a:pPr lvl="0" fontAlgn="base">
              <a:spcBef>
                <a:spcPct val="50000"/>
              </a:spcBef>
              <a:spcAft>
                <a:spcPct val="0"/>
              </a:spcAft>
              <a:defRPr/>
            </a:pPr>
            <a:r>
              <a:rPr lang="en-US" altLang="zh-CN" sz="1200" kern="0" dirty="0">
                <a:solidFill>
                  <a:srgbClr val="000000"/>
                </a:solidFill>
                <a:ea typeface="宋体" charset="-122"/>
              </a:rPr>
              <a:t>}</a:t>
            </a:r>
            <a:endParaRPr lang="en-US" altLang="zh-CN" sz="1200" kern="0" dirty="0">
              <a:solidFill>
                <a:srgbClr val="000000"/>
              </a:solidFill>
              <a:latin typeface="Arial"/>
              <a:ea typeface="宋体" charset="-122"/>
            </a:endParaRPr>
          </a:p>
        </p:txBody>
      </p:sp>
      <p:sp>
        <p:nvSpPr>
          <p:cNvPr id="8" name="TextBox 7">
            <a:extLst>
              <a:ext uri="{FF2B5EF4-FFF2-40B4-BE49-F238E27FC236}">
                <a16:creationId xmlns:a16="http://schemas.microsoft.com/office/drawing/2014/main" id="{2F476BA4-266D-4880-A46C-A6E40A294493}"/>
              </a:ext>
            </a:extLst>
          </p:cNvPr>
          <p:cNvSpPr txBox="1"/>
          <p:nvPr/>
        </p:nvSpPr>
        <p:spPr>
          <a:xfrm>
            <a:off x="8342592" y="1908650"/>
            <a:ext cx="2437395" cy="83099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r>
              <a:rPr lang="en-US" sz="1200" dirty="0"/>
              <a:t>for (</a:t>
            </a:r>
            <a:r>
              <a:rPr lang="en-US" sz="1200" dirty="0" err="1"/>
              <a:t>i</a:t>
            </a:r>
            <a:r>
              <a:rPr lang="en-US" sz="1200" dirty="0"/>
              <a:t>=0;i&lt;</a:t>
            </a:r>
            <a:r>
              <a:rPr lang="en-US" sz="1200" dirty="0" err="1"/>
              <a:t>N;i</a:t>
            </a:r>
            <a:r>
              <a:rPr lang="en-US" sz="1200" dirty="0"/>
              <a:t>++)</a:t>
            </a:r>
          </a:p>
          <a:p>
            <a:r>
              <a:rPr lang="en-US" sz="1200" dirty="0"/>
              <a:t>{ </a:t>
            </a:r>
          </a:p>
          <a:p>
            <a:r>
              <a:rPr lang="en-US" sz="1200" dirty="0"/>
              <a:t>      A[</a:t>
            </a:r>
            <a:r>
              <a:rPr lang="en-US" sz="1200" dirty="0" err="1"/>
              <a:t>i</a:t>
            </a:r>
            <a:r>
              <a:rPr lang="en-US" sz="1200" dirty="0"/>
              <a:t>]=A[i-1]*2; </a:t>
            </a:r>
          </a:p>
          <a:p>
            <a:r>
              <a:rPr lang="en-US" sz="1200" dirty="0"/>
              <a:t>}</a:t>
            </a:r>
          </a:p>
        </p:txBody>
      </p:sp>
      <p:pic>
        <p:nvPicPr>
          <p:cNvPr id="11" name="Picture 10">
            <a:extLst>
              <a:ext uri="{FF2B5EF4-FFF2-40B4-BE49-F238E27FC236}">
                <a16:creationId xmlns:a16="http://schemas.microsoft.com/office/drawing/2014/main" id="{85CA1520-2F4B-48D5-8E9B-0BCD84E3BDE7}"/>
              </a:ext>
            </a:extLst>
          </p:cNvPr>
          <p:cNvPicPr>
            <a:picLocks noChangeAspect="1"/>
          </p:cNvPicPr>
          <p:nvPr/>
        </p:nvPicPr>
        <p:blipFill>
          <a:blip r:embed="rId3"/>
          <a:stretch>
            <a:fillRect/>
          </a:stretch>
        </p:blipFill>
        <p:spPr>
          <a:xfrm>
            <a:off x="8673737" y="3429516"/>
            <a:ext cx="2303941" cy="3030912"/>
          </a:xfrm>
          <a:prstGeom prst="rect">
            <a:avLst/>
          </a:prstGeom>
        </p:spPr>
      </p:pic>
      <p:sp>
        <p:nvSpPr>
          <p:cNvPr id="12" name="TextBox 11">
            <a:extLst>
              <a:ext uri="{FF2B5EF4-FFF2-40B4-BE49-F238E27FC236}">
                <a16:creationId xmlns:a16="http://schemas.microsoft.com/office/drawing/2014/main" id="{8FE4EC2F-ABD9-4C39-AE0F-5984FD918CDF}"/>
              </a:ext>
            </a:extLst>
          </p:cNvPr>
          <p:cNvSpPr txBox="1"/>
          <p:nvPr/>
        </p:nvSpPr>
        <p:spPr>
          <a:xfrm>
            <a:off x="1030019" y="3690439"/>
            <a:ext cx="6225845" cy="276998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lvl="0" fontAlgn="base">
              <a:spcBef>
                <a:spcPct val="50000"/>
              </a:spcBef>
              <a:spcAft>
                <a:spcPct val="0"/>
              </a:spcAft>
              <a:defRPr/>
            </a:pPr>
            <a:r>
              <a:rPr lang="en-US" altLang="zh-CN" sz="1200" kern="0" dirty="0">
                <a:solidFill>
                  <a:srgbClr val="000000"/>
                </a:solidFill>
                <a:ea typeface="宋体" charset="-122"/>
              </a:rPr>
              <a:t> for (row = 0; row &lt; rows + 1; row++) {</a:t>
            </a:r>
          </a:p>
          <a:p>
            <a:pPr lvl="0" fontAlgn="base">
              <a:spcBef>
                <a:spcPct val="50000"/>
              </a:spcBef>
              <a:spcAft>
                <a:spcPct val="0"/>
              </a:spcAft>
              <a:defRPr/>
            </a:pPr>
            <a:r>
              <a:rPr lang="en-US" altLang="zh-CN" sz="1200" kern="0" dirty="0">
                <a:solidFill>
                  <a:srgbClr val="000000"/>
                </a:solidFill>
                <a:ea typeface="宋体" charset="-122"/>
              </a:rPr>
              <a:t>    L2: for (col = 0; col &lt; cols + 1; col++) {</a:t>
            </a:r>
          </a:p>
          <a:p>
            <a:pPr lvl="0" fontAlgn="base">
              <a:spcBef>
                <a:spcPct val="50000"/>
              </a:spcBef>
              <a:spcAft>
                <a:spcPct val="0"/>
              </a:spcAft>
              <a:defRPr/>
            </a:pPr>
            <a:r>
              <a:rPr lang="en-US" altLang="zh-CN" sz="1200" kern="0" dirty="0">
                <a:solidFill>
                  <a:srgbClr val="000000"/>
                </a:solidFill>
                <a:ea typeface="宋体" charset="-122"/>
              </a:rPr>
              <a:t>      #pragma HLS PIPELINE II=1</a:t>
            </a:r>
          </a:p>
          <a:p>
            <a:pPr lvl="0" fontAlgn="base">
              <a:spcBef>
                <a:spcPct val="50000"/>
              </a:spcBef>
              <a:spcAft>
                <a:spcPct val="0"/>
              </a:spcAft>
              <a:defRPr/>
            </a:pPr>
            <a:r>
              <a:rPr lang="en-US" altLang="zh-CN" sz="1200" kern="0" dirty="0">
                <a:solidFill>
                  <a:srgbClr val="000000"/>
                </a:solidFill>
                <a:ea typeface="宋体" charset="-122"/>
              </a:rPr>
              <a:t>      #pragma HLS dependence variable=</a:t>
            </a:r>
            <a:r>
              <a:rPr lang="en-US" altLang="zh-CN" sz="1200" kern="0" dirty="0" err="1">
                <a:solidFill>
                  <a:srgbClr val="000000"/>
                </a:solidFill>
                <a:ea typeface="宋体" charset="-122"/>
              </a:rPr>
              <a:t>buff_A</a:t>
            </a:r>
            <a:r>
              <a:rPr lang="en-US" altLang="zh-CN" sz="1200" kern="0" dirty="0">
                <a:solidFill>
                  <a:srgbClr val="000000"/>
                </a:solidFill>
                <a:ea typeface="宋体" charset="-122"/>
              </a:rPr>
              <a:t> type=inter dependent=false</a:t>
            </a:r>
          </a:p>
          <a:p>
            <a:pPr lvl="0" fontAlgn="base">
              <a:spcBef>
                <a:spcPct val="50000"/>
              </a:spcBef>
              <a:spcAft>
                <a:spcPct val="0"/>
              </a:spcAft>
              <a:defRPr/>
            </a:pPr>
            <a:r>
              <a:rPr lang="en-US" altLang="zh-CN" sz="1200" kern="0" dirty="0">
                <a:solidFill>
                  <a:srgbClr val="000000"/>
                </a:solidFill>
                <a:ea typeface="宋体" charset="-122"/>
              </a:rPr>
              <a:t>      #pragma HLS dependence variable=</a:t>
            </a:r>
            <a:r>
              <a:rPr lang="en-US" altLang="zh-CN" sz="1200" kern="0" dirty="0" err="1">
                <a:solidFill>
                  <a:srgbClr val="000000"/>
                </a:solidFill>
                <a:ea typeface="宋体" charset="-122"/>
              </a:rPr>
              <a:t>buff_B</a:t>
            </a:r>
            <a:r>
              <a:rPr lang="en-US" altLang="zh-CN" sz="1200" kern="0" dirty="0">
                <a:solidFill>
                  <a:srgbClr val="000000"/>
                </a:solidFill>
                <a:ea typeface="宋体" charset="-122"/>
              </a:rPr>
              <a:t> type=inter dependent=false</a:t>
            </a:r>
          </a:p>
          <a:p>
            <a:pPr lvl="0" fontAlgn="base">
              <a:spcBef>
                <a:spcPct val="50000"/>
              </a:spcBef>
              <a:spcAft>
                <a:spcPct val="0"/>
              </a:spcAft>
              <a:defRPr/>
            </a:pPr>
            <a:r>
              <a:rPr lang="en-US" altLang="zh-CN" sz="1200" kern="0" dirty="0">
                <a:solidFill>
                  <a:srgbClr val="000000"/>
                </a:solidFill>
                <a:ea typeface="宋体" charset="-122"/>
              </a:rPr>
              <a:t>	if (col &lt; cols) {</a:t>
            </a:r>
          </a:p>
          <a:p>
            <a:pPr lvl="0" fontAlgn="base">
              <a:spcBef>
                <a:spcPct val="50000"/>
              </a:spcBef>
              <a:spcAft>
                <a:spcPct val="0"/>
              </a:spcAft>
              <a:defRPr/>
            </a:pPr>
            <a:r>
              <a:rPr lang="en-US" altLang="zh-CN" sz="1200" kern="0" dirty="0">
                <a:solidFill>
                  <a:srgbClr val="000000"/>
                </a:solidFill>
                <a:ea typeface="宋体" charset="-122"/>
              </a:rPr>
              <a:t>	   </a:t>
            </a:r>
            <a:r>
              <a:rPr lang="en-US" altLang="zh-CN" sz="1200" kern="0" dirty="0" err="1">
                <a:solidFill>
                  <a:srgbClr val="000000"/>
                </a:solidFill>
                <a:ea typeface="宋体" charset="-122"/>
              </a:rPr>
              <a:t>buff_A</a:t>
            </a:r>
            <a:r>
              <a:rPr lang="en-US" altLang="zh-CN" sz="1200" kern="0" dirty="0">
                <a:solidFill>
                  <a:srgbClr val="000000"/>
                </a:solidFill>
                <a:ea typeface="宋体" charset="-122"/>
              </a:rPr>
              <a:t>[2][col] = </a:t>
            </a:r>
            <a:r>
              <a:rPr lang="en-US" altLang="zh-CN" sz="1200" kern="0" dirty="0" err="1">
                <a:solidFill>
                  <a:srgbClr val="000000"/>
                </a:solidFill>
                <a:ea typeface="宋体" charset="-122"/>
              </a:rPr>
              <a:t>buff_A</a:t>
            </a:r>
            <a:r>
              <a:rPr lang="en-US" altLang="zh-CN" sz="1200" kern="0" dirty="0">
                <a:solidFill>
                  <a:srgbClr val="000000"/>
                </a:solidFill>
                <a:ea typeface="宋体" charset="-122"/>
              </a:rPr>
              <a:t>[1][col]; // read from </a:t>
            </a:r>
            <a:r>
              <a:rPr lang="en-US" altLang="zh-CN" sz="1200" kern="0" dirty="0" err="1">
                <a:solidFill>
                  <a:srgbClr val="000000"/>
                </a:solidFill>
                <a:ea typeface="宋体" charset="-122"/>
              </a:rPr>
              <a:t>buff_A</a:t>
            </a:r>
            <a:r>
              <a:rPr lang="en-US" altLang="zh-CN" sz="1200" kern="0" dirty="0">
                <a:solidFill>
                  <a:srgbClr val="000000"/>
                </a:solidFill>
                <a:ea typeface="宋体" charset="-122"/>
              </a:rPr>
              <a:t>[1][col]</a:t>
            </a:r>
          </a:p>
          <a:p>
            <a:pPr lvl="0" fontAlgn="base">
              <a:spcBef>
                <a:spcPct val="50000"/>
              </a:spcBef>
              <a:spcAft>
                <a:spcPct val="0"/>
              </a:spcAft>
              <a:defRPr/>
            </a:pPr>
            <a:r>
              <a:rPr lang="en-US" altLang="zh-CN" sz="1200" kern="0" dirty="0">
                <a:solidFill>
                  <a:srgbClr val="000000"/>
                </a:solidFill>
                <a:ea typeface="宋体" charset="-122"/>
              </a:rPr>
              <a:t>	   </a:t>
            </a:r>
            <a:r>
              <a:rPr lang="en-US" altLang="zh-CN" sz="1200" kern="0" dirty="0" err="1">
                <a:solidFill>
                  <a:srgbClr val="000000"/>
                </a:solidFill>
                <a:ea typeface="宋体" charset="-122"/>
              </a:rPr>
              <a:t>buff_A</a:t>
            </a:r>
            <a:r>
              <a:rPr lang="en-US" altLang="zh-CN" sz="1200" kern="0" dirty="0">
                <a:solidFill>
                  <a:srgbClr val="000000"/>
                </a:solidFill>
                <a:ea typeface="宋体" charset="-122"/>
              </a:rPr>
              <a:t>[1][col] = </a:t>
            </a:r>
            <a:r>
              <a:rPr lang="en-US" altLang="zh-CN" sz="1200" kern="0" dirty="0" err="1">
                <a:solidFill>
                  <a:srgbClr val="000000"/>
                </a:solidFill>
                <a:ea typeface="宋体" charset="-122"/>
              </a:rPr>
              <a:t>buff_A</a:t>
            </a:r>
            <a:r>
              <a:rPr lang="en-US" altLang="zh-CN" sz="1200" kern="0" dirty="0">
                <a:solidFill>
                  <a:srgbClr val="000000"/>
                </a:solidFill>
                <a:ea typeface="宋体" charset="-122"/>
              </a:rPr>
              <a:t>[0][col]; // write to </a:t>
            </a:r>
            <a:r>
              <a:rPr lang="en-US" altLang="zh-CN" sz="1200" kern="0" dirty="0" err="1">
                <a:solidFill>
                  <a:srgbClr val="000000"/>
                </a:solidFill>
                <a:ea typeface="宋体" charset="-122"/>
              </a:rPr>
              <a:t>buff_A</a:t>
            </a:r>
            <a:r>
              <a:rPr lang="en-US" altLang="zh-CN" sz="1200" kern="0" dirty="0">
                <a:solidFill>
                  <a:srgbClr val="000000"/>
                </a:solidFill>
                <a:ea typeface="宋体" charset="-122"/>
              </a:rPr>
              <a:t>[1][col]</a:t>
            </a:r>
          </a:p>
          <a:p>
            <a:pPr lvl="0" fontAlgn="base">
              <a:spcBef>
                <a:spcPct val="50000"/>
              </a:spcBef>
              <a:spcAft>
                <a:spcPct val="0"/>
              </a:spcAft>
              <a:defRPr/>
            </a:pPr>
            <a:r>
              <a:rPr lang="en-US" altLang="zh-CN" sz="1200" kern="0" dirty="0">
                <a:solidFill>
                  <a:srgbClr val="000000"/>
                </a:solidFill>
                <a:ea typeface="宋体" charset="-122"/>
              </a:rPr>
              <a:t>	   </a:t>
            </a:r>
            <a:r>
              <a:rPr lang="en-US" altLang="zh-CN" sz="1200" kern="0" dirty="0" err="1">
                <a:solidFill>
                  <a:srgbClr val="000000"/>
                </a:solidFill>
                <a:ea typeface="宋体" charset="-122"/>
              </a:rPr>
              <a:t>buff_B</a:t>
            </a:r>
            <a:r>
              <a:rPr lang="en-US" altLang="zh-CN" sz="1200" kern="0" dirty="0">
                <a:solidFill>
                  <a:srgbClr val="000000"/>
                </a:solidFill>
                <a:ea typeface="宋体" charset="-122"/>
              </a:rPr>
              <a:t>[1][col] = </a:t>
            </a:r>
            <a:r>
              <a:rPr lang="en-US" altLang="zh-CN" sz="1200" kern="0" dirty="0" err="1">
                <a:solidFill>
                  <a:srgbClr val="000000"/>
                </a:solidFill>
                <a:ea typeface="宋体" charset="-122"/>
              </a:rPr>
              <a:t>buff_B</a:t>
            </a:r>
            <a:r>
              <a:rPr lang="en-US" altLang="zh-CN" sz="1200" kern="0" dirty="0">
                <a:solidFill>
                  <a:srgbClr val="000000"/>
                </a:solidFill>
                <a:ea typeface="宋体" charset="-122"/>
              </a:rPr>
              <a:t>[0][col];</a:t>
            </a:r>
          </a:p>
          <a:p>
            <a:pPr lvl="0" fontAlgn="base">
              <a:spcBef>
                <a:spcPct val="50000"/>
              </a:spcBef>
              <a:spcAft>
                <a:spcPct val="0"/>
              </a:spcAft>
              <a:defRPr/>
            </a:pPr>
            <a:r>
              <a:rPr lang="en-US" altLang="zh-CN" sz="1200" kern="0" dirty="0">
                <a:solidFill>
                  <a:srgbClr val="000000"/>
                </a:solidFill>
                <a:ea typeface="宋体" charset="-122"/>
              </a:rPr>
              <a:t>	   temp = </a:t>
            </a:r>
            <a:r>
              <a:rPr lang="en-US" altLang="zh-CN" sz="1200" kern="0" dirty="0" err="1">
                <a:solidFill>
                  <a:srgbClr val="000000"/>
                </a:solidFill>
                <a:ea typeface="宋体" charset="-122"/>
              </a:rPr>
              <a:t>buff_A</a:t>
            </a:r>
            <a:r>
              <a:rPr lang="en-US" altLang="zh-CN" sz="1200" kern="0" dirty="0">
                <a:solidFill>
                  <a:srgbClr val="000000"/>
                </a:solidFill>
                <a:ea typeface="宋体" charset="-122"/>
              </a:rPr>
              <a:t>[0][col];</a:t>
            </a:r>
            <a:r>
              <a:rPr lang="en-US" altLang="zh-CN" sz="1200" kern="0" dirty="0">
                <a:solidFill>
                  <a:srgbClr val="000000"/>
                </a:solidFill>
                <a:latin typeface="Arial"/>
                <a:ea typeface="宋体" charset="-122"/>
              </a:rPr>
              <a:t>} } }</a:t>
            </a:r>
          </a:p>
        </p:txBody>
      </p:sp>
    </p:spTree>
    <p:extLst>
      <p:ext uri="{BB962C8B-B14F-4D97-AF65-F5344CB8AC3E}">
        <p14:creationId xmlns:p14="http://schemas.microsoft.com/office/powerpoint/2010/main" val="3792995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31E60-C45F-4701-94C4-ECB487AC35DF}"/>
              </a:ext>
            </a:extLst>
          </p:cNvPr>
          <p:cNvSpPr>
            <a:spLocks noGrp="1"/>
          </p:cNvSpPr>
          <p:nvPr>
            <p:ph type="title"/>
          </p:nvPr>
        </p:nvSpPr>
        <p:spPr/>
        <p:txBody>
          <a:bodyPr/>
          <a:lstStyle/>
          <a:p>
            <a:r>
              <a:rPr lang="en-US" dirty="0">
                <a:highlight>
                  <a:srgbClr val="FFFF00"/>
                </a:highlight>
              </a:rPr>
              <a:t>DEPEDENCE Directive</a:t>
            </a:r>
          </a:p>
        </p:txBody>
      </p:sp>
      <p:sp>
        <p:nvSpPr>
          <p:cNvPr id="3" name="Content Placeholder 2">
            <a:extLst>
              <a:ext uri="{FF2B5EF4-FFF2-40B4-BE49-F238E27FC236}">
                <a16:creationId xmlns:a16="http://schemas.microsoft.com/office/drawing/2014/main" id="{DE77B351-F626-4E30-88A4-309F5B49ED3B}"/>
              </a:ext>
            </a:extLst>
          </p:cNvPr>
          <p:cNvSpPr>
            <a:spLocks noGrp="1"/>
          </p:cNvSpPr>
          <p:nvPr>
            <p:ph idx="1"/>
          </p:nvPr>
        </p:nvSpPr>
        <p:spPr>
          <a:xfrm>
            <a:off x="649119" y="1166400"/>
            <a:ext cx="10512862" cy="5056044"/>
          </a:xfrm>
        </p:spPr>
        <p:txBody>
          <a:bodyPr/>
          <a:lstStyle/>
          <a:p>
            <a:r>
              <a:rPr lang="en-US" dirty="0"/>
              <a:t>Loop-independent dependence</a:t>
            </a:r>
          </a:p>
          <a:p>
            <a:pPr lvl="1"/>
            <a:r>
              <a:rPr lang="en-US" dirty="0"/>
              <a:t>The same element is accessed in a single loop iteration</a:t>
            </a:r>
          </a:p>
          <a:p>
            <a:r>
              <a:rPr lang="en-US" dirty="0"/>
              <a:t>Loop-carried dependence</a:t>
            </a:r>
          </a:p>
          <a:p>
            <a:pPr lvl="1"/>
            <a:r>
              <a:rPr lang="en-US" b="0" dirty="0"/>
              <a:t>The same element is accessed from a different loop iteration</a:t>
            </a:r>
          </a:p>
          <a:p>
            <a:r>
              <a:rPr lang="en-US" altLang="zh-CN" dirty="0"/>
              <a:t>DEPENDENCE directive allows to explicitly define the dependencies and eliminate a false dependence</a:t>
            </a:r>
            <a:endParaRPr lang="en-US" dirty="0"/>
          </a:p>
        </p:txBody>
      </p:sp>
      <p:sp>
        <p:nvSpPr>
          <p:cNvPr id="4" name="Slide Number Placeholder 3">
            <a:extLst>
              <a:ext uri="{FF2B5EF4-FFF2-40B4-BE49-F238E27FC236}">
                <a16:creationId xmlns:a16="http://schemas.microsoft.com/office/drawing/2014/main" id="{607A8710-FA71-4BAE-A71A-840C5CC16EAD}"/>
              </a:ext>
            </a:extLst>
          </p:cNvPr>
          <p:cNvSpPr>
            <a:spLocks noGrp="1"/>
          </p:cNvSpPr>
          <p:nvPr>
            <p:ph type="sldNum" sz="quarter" idx="10"/>
          </p:nvPr>
        </p:nvSpPr>
        <p:spPr/>
        <p:txBody>
          <a:bodyPr/>
          <a:lstStyle/>
          <a:p>
            <a:pPr defTabSz="914400">
              <a:defRPr/>
            </a:pPr>
            <a:r>
              <a:rPr lang="en-US">
                <a:solidFill>
                  <a:srgbClr val="0C0C0C">
                    <a:tint val="75000"/>
                  </a:srgbClr>
                </a:solidFill>
                <a:latin typeface="Arial"/>
              </a:rPr>
              <a:t>Improving Area and Resources 21- </a:t>
            </a:r>
            <a:fld id="{060BD193-E118-4B16-863C-C8C12C675E3E}" type="slidenum">
              <a:rPr lang="en-US">
                <a:solidFill>
                  <a:srgbClr val="0C0C0C">
                    <a:tint val="75000"/>
                  </a:srgbClr>
                </a:solidFill>
                <a:latin typeface="Arial"/>
              </a:rPr>
              <a:pPr defTabSz="914400">
                <a:defRPr/>
              </a:pPr>
              <a:t>36</a:t>
            </a:fld>
            <a:endParaRPr lang="en-US" dirty="0">
              <a:solidFill>
                <a:srgbClr val="0C0C0C">
                  <a:tint val="75000"/>
                </a:srgbClr>
              </a:solidFill>
              <a:latin typeface="Arial"/>
            </a:endParaRPr>
          </a:p>
        </p:txBody>
      </p:sp>
      <p:sp>
        <p:nvSpPr>
          <p:cNvPr id="5" name="TextBox 4">
            <a:extLst>
              <a:ext uri="{FF2B5EF4-FFF2-40B4-BE49-F238E27FC236}">
                <a16:creationId xmlns:a16="http://schemas.microsoft.com/office/drawing/2014/main" id="{5EBD4CC3-AE62-4EA2-B19B-B6E239EE8229}"/>
              </a:ext>
            </a:extLst>
          </p:cNvPr>
          <p:cNvSpPr txBox="1"/>
          <p:nvPr/>
        </p:nvSpPr>
        <p:spPr>
          <a:xfrm>
            <a:off x="8342593" y="713232"/>
            <a:ext cx="2437395" cy="1107996"/>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for (</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=0;i&lt;</a:t>
            </a:r>
            <a:r>
              <a:rPr lang="en-US" altLang="zh-CN" sz="1200" kern="0" dirty="0" err="1">
                <a:solidFill>
                  <a:srgbClr val="000000"/>
                </a:solidFill>
                <a:latin typeface="Arial"/>
                <a:ea typeface="宋体" charset="-122"/>
              </a:rPr>
              <a:t>N;i</a:t>
            </a:r>
            <a:r>
              <a:rPr lang="en-US" altLang="zh-CN" sz="1200" kern="0" dirty="0">
                <a:solidFill>
                  <a:srgbClr val="000000"/>
                </a:solidFill>
                <a:latin typeface="Arial"/>
                <a:ea typeface="宋体" charset="-122"/>
              </a:rPr>
              <a:t>++) {</a:t>
            </a:r>
          </a:p>
          <a:p>
            <a:pPr defTabSz="914400" fontAlgn="base">
              <a:spcBef>
                <a:spcPct val="50000"/>
              </a:spcBef>
              <a:spcAft>
                <a:spcPct val="0"/>
              </a:spcAft>
              <a:defRPr/>
            </a:pPr>
            <a:r>
              <a:rPr lang="en-US" altLang="zh-CN" sz="1200" kern="0" dirty="0">
                <a:solidFill>
                  <a:srgbClr val="000000"/>
                </a:solidFill>
                <a:latin typeface="Arial"/>
                <a:ea typeface="宋体" charset="-122"/>
              </a:rPr>
              <a:t> 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]=x;</a:t>
            </a:r>
          </a:p>
          <a:p>
            <a:pPr defTabSz="914400" fontAlgn="base">
              <a:spcBef>
                <a:spcPct val="50000"/>
              </a:spcBef>
              <a:spcAft>
                <a:spcPct val="0"/>
              </a:spcAft>
              <a:defRPr/>
            </a:pPr>
            <a:r>
              <a:rPr lang="en-US" altLang="zh-CN" sz="1200" kern="0" dirty="0">
                <a:solidFill>
                  <a:srgbClr val="000000"/>
                </a:solidFill>
                <a:latin typeface="Arial"/>
                <a:ea typeface="宋体" charset="-122"/>
              </a:rPr>
              <a:t> y=A[</a:t>
            </a:r>
            <a:r>
              <a:rPr lang="en-US" altLang="zh-CN" sz="1200" kern="0" dirty="0" err="1">
                <a:solidFill>
                  <a:srgbClr val="000000"/>
                </a:solidFill>
                <a:latin typeface="Arial"/>
                <a:ea typeface="宋体" charset="-122"/>
              </a:rPr>
              <a:t>i</a:t>
            </a:r>
            <a:r>
              <a:rPr lang="en-US" altLang="zh-CN" sz="1200" kern="0" dirty="0">
                <a:solidFill>
                  <a:srgbClr val="000000"/>
                </a:solidFill>
                <a:latin typeface="Arial"/>
                <a:ea typeface="宋体" charset="-122"/>
              </a:rPr>
              <a:t>];</a:t>
            </a:r>
          </a:p>
          <a:p>
            <a:pPr defTabSz="914400" fontAlgn="base">
              <a:spcBef>
                <a:spcPct val="50000"/>
              </a:spcBef>
              <a:spcAft>
                <a:spcPct val="0"/>
              </a:spcAft>
              <a:defRPr/>
            </a:pPr>
            <a:r>
              <a:rPr lang="en-US" altLang="zh-CN" sz="1200" kern="0" dirty="0">
                <a:solidFill>
                  <a:srgbClr val="000000"/>
                </a:solidFill>
                <a:latin typeface="Arial"/>
                <a:ea typeface="宋体" charset="-122"/>
              </a:rPr>
              <a:t>}</a:t>
            </a:r>
          </a:p>
        </p:txBody>
      </p:sp>
      <p:sp>
        <p:nvSpPr>
          <p:cNvPr id="8" name="TextBox 7">
            <a:extLst>
              <a:ext uri="{FF2B5EF4-FFF2-40B4-BE49-F238E27FC236}">
                <a16:creationId xmlns:a16="http://schemas.microsoft.com/office/drawing/2014/main" id="{2F476BA4-266D-4880-A46C-A6E40A294493}"/>
              </a:ext>
            </a:extLst>
          </p:cNvPr>
          <p:cNvSpPr txBox="1"/>
          <p:nvPr/>
        </p:nvSpPr>
        <p:spPr>
          <a:xfrm>
            <a:off x="8342592" y="1908650"/>
            <a:ext cx="2437395" cy="830997"/>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a:r>
              <a:rPr lang="en-US" sz="1200" dirty="0">
                <a:solidFill>
                  <a:srgbClr val="0C0C0C"/>
                </a:solidFill>
                <a:latin typeface="Arial"/>
              </a:rPr>
              <a:t>for (</a:t>
            </a:r>
            <a:r>
              <a:rPr lang="en-US" sz="1200" dirty="0" err="1">
                <a:solidFill>
                  <a:srgbClr val="0C0C0C"/>
                </a:solidFill>
                <a:latin typeface="Arial"/>
              </a:rPr>
              <a:t>i</a:t>
            </a:r>
            <a:r>
              <a:rPr lang="en-US" sz="1200" dirty="0">
                <a:solidFill>
                  <a:srgbClr val="0C0C0C"/>
                </a:solidFill>
                <a:latin typeface="Arial"/>
              </a:rPr>
              <a:t>=0;i&lt;</a:t>
            </a:r>
            <a:r>
              <a:rPr lang="en-US" sz="1200" dirty="0" err="1">
                <a:solidFill>
                  <a:srgbClr val="0C0C0C"/>
                </a:solidFill>
                <a:latin typeface="Arial"/>
              </a:rPr>
              <a:t>N;i</a:t>
            </a:r>
            <a:r>
              <a:rPr lang="en-US" sz="1200" dirty="0">
                <a:solidFill>
                  <a:srgbClr val="0C0C0C"/>
                </a:solidFill>
                <a:latin typeface="Arial"/>
              </a:rPr>
              <a:t>++)</a:t>
            </a:r>
          </a:p>
          <a:p>
            <a:pPr defTabSz="914400"/>
            <a:r>
              <a:rPr lang="en-US" sz="1200" dirty="0">
                <a:solidFill>
                  <a:srgbClr val="0C0C0C"/>
                </a:solidFill>
                <a:latin typeface="Arial"/>
              </a:rPr>
              <a:t>{ </a:t>
            </a:r>
          </a:p>
          <a:p>
            <a:pPr defTabSz="914400"/>
            <a:r>
              <a:rPr lang="en-US" sz="1200" dirty="0">
                <a:solidFill>
                  <a:srgbClr val="0C0C0C"/>
                </a:solidFill>
                <a:latin typeface="Arial"/>
              </a:rPr>
              <a:t>      A[</a:t>
            </a:r>
            <a:r>
              <a:rPr lang="en-US" sz="1200" dirty="0" err="1">
                <a:solidFill>
                  <a:srgbClr val="0C0C0C"/>
                </a:solidFill>
                <a:latin typeface="Arial"/>
              </a:rPr>
              <a:t>i</a:t>
            </a:r>
            <a:r>
              <a:rPr lang="en-US" sz="1200" dirty="0">
                <a:solidFill>
                  <a:srgbClr val="0C0C0C"/>
                </a:solidFill>
                <a:latin typeface="Arial"/>
              </a:rPr>
              <a:t>]=A[i-1]*2; </a:t>
            </a:r>
          </a:p>
          <a:p>
            <a:pPr defTabSz="914400"/>
            <a:r>
              <a:rPr lang="en-US" sz="1200" dirty="0">
                <a:solidFill>
                  <a:srgbClr val="0C0C0C"/>
                </a:solidFill>
                <a:latin typeface="Arial"/>
              </a:rPr>
              <a:t>}</a:t>
            </a:r>
          </a:p>
        </p:txBody>
      </p:sp>
      <p:pic>
        <p:nvPicPr>
          <p:cNvPr id="11" name="Picture 10">
            <a:extLst>
              <a:ext uri="{FF2B5EF4-FFF2-40B4-BE49-F238E27FC236}">
                <a16:creationId xmlns:a16="http://schemas.microsoft.com/office/drawing/2014/main" id="{85CA1520-2F4B-48D5-8E9B-0BCD84E3BDE7}"/>
              </a:ext>
            </a:extLst>
          </p:cNvPr>
          <p:cNvPicPr>
            <a:picLocks noChangeAspect="1"/>
          </p:cNvPicPr>
          <p:nvPr/>
        </p:nvPicPr>
        <p:blipFill>
          <a:blip r:embed="rId3"/>
          <a:stretch>
            <a:fillRect/>
          </a:stretch>
        </p:blipFill>
        <p:spPr>
          <a:xfrm>
            <a:off x="8418389" y="3093597"/>
            <a:ext cx="2559289" cy="3366831"/>
          </a:xfrm>
          <a:prstGeom prst="rect">
            <a:avLst/>
          </a:prstGeom>
        </p:spPr>
      </p:pic>
      <p:sp>
        <p:nvSpPr>
          <p:cNvPr id="12" name="TextBox 11">
            <a:extLst>
              <a:ext uri="{FF2B5EF4-FFF2-40B4-BE49-F238E27FC236}">
                <a16:creationId xmlns:a16="http://schemas.microsoft.com/office/drawing/2014/main" id="{8FE4EC2F-ABD9-4C39-AE0F-5984FD918CDF}"/>
              </a:ext>
            </a:extLst>
          </p:cNvPr>
          <p:cNvSpPr txBox="1"/>
          <p:nvPr/>
        </p:nvSpPr>
        <p:spPr>
          <a:xfrm>
            <a:off x="986841" y="3452456"/>
            <a:ext cx="6225845" cy="276998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50000"/>
              </a:spcBef>
              <a:spcAft>
                <a:spcPct val="0"/>
              </a:spcAft>
              <a:defRPr/>
            </a:pPr>
            <a:r>
              <a:rPr lang="en-US" altLang="zh-CN" sz="1200" kern="0" dirty="0">
                <a:solidFill>
                  <a:srgbClr val="000000"/>
                </a:solidFill>
                <a:latin typeface="Arial"/>
                <a:ea typeface="宋体" charset="-122"/>
              </a:rPr>
              <a:t> for (row = 0; row &lt; rows + 1; row++) {</a:t>
            </a:r>
          </a:p>
          <a:p>
            <a:pPr defTabSz="914400" fontAlgn="base">
              <a:spcBef>
                <a:spcPct val="50000"/>
              </a:spcBef>
              <a:spcAft>
                <a:spcPct val="0"/>
              </a:spcAft>
              <a:defRPr/>
            </a:pPr>
            <a:r>
              <a:rPr lang="en-US" altLang="zh-CN" sz="1200" kern="0" dirty="0">
                <a:solidFill>
                  <a:srgbClr val="000000"/>
                </a:solidFill>
                <a:latin typeface="Arial"/>
                <a:ea typeface="宋体" charset="-122"/>
              </a:rPr>
              <a:t>    L2: for (col = 0; col &lt; cols + 1; col++) {</a:t>
            </a:r>
          </a:p>
          <a:p>
            <a:pPr defTabSz="914400" fontAlgn="base">
              <a:spcBef>
                <a:spcPct val="50000"/>
              </a:spcBef>
              <a:spcAft>
                <a:spcPct val="0"/>
              </a:spcAft>
              <a:defRPr/>
            </a:pPr>
            <a:r>
              <a:rPr lang="en-US" altLang="zh-CN" sz="1200" kern="0" dirty="0">
                <a:solidFill>
                  <a:srgbClr val="000000"/>
                </a:solidFill>
                <a:latin typeface="Arial"/>
                <a:ea typeface="宋体" charset="-122"/>
              </a:rPr>
              <a:t>      #pragma HLS PIPELINE II=1</a:t>
            </a:r>
          </a:p>
          <a:p>
            <a:pPr defTabSz="914400" fontAlgn="base">
              <a:spcBef>
                <a:spcPct val="50000"/>
              </a:spcBef>
              <a:spcAft>
                <a:spcPct val="0"/>
              </a:spcAft>
              <a:defRPr/>
            </a:pPr>
            <a:r>
              <a:rPr lang="en-US" altLang="zh-CN" sz="1200" kern="0" dirty="0">
                <a:solidFill>
                  <a:srgbClr val="000000"/>
                </a:solidFill>
                <a:latin typeface="Arial"/>
                <a:ea typeface="宋体" charset="-122"/>
              </a:rPr>
              <a:t>      #pragma HLS dependence variable=</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 type=inter dependent=false</a:t>
            </a:r>
          </a:p>
          <a:p>
            <a:pPr defTabSz="914400" fontAlgn="base">
              <a:spcBef>
                <a:spcPct val="50000"/>
              </a:spcBef>
              <a:spcAft>
                <a:spcPct val="0"/>
              </a:spcAft>
              <a:defRPr/>
            </a:pPr>
            <a:r>
              <a:rPr lang="en-US" altLang="zh-CN" sz="1200" kern="0" dirty="0">
                <a:solidFill>
                  <a:srgbClr val="000000"/>
                </a:solidFill>
                <a:latin typeface="Arial"/>
                <a:ea typeface="宋体" charset="-122"/>
              </a:rPr>
              <a:t>      #pragma HLS dependence variable=</a:t>
            </a:r>
            <a:r>
              <a:rPr lang="en-US" altLang="zh-CN" sz="1200" kern="0" dirty="0" err="1">
                <a:solidFill>
                  <a:srgbClr val="000000"/>
                </a:solidFill>
                <a:latin typeface="Arial"/>
                <a:ea typeface="宋体" charset="-122"/>
              </a:rPr>
              <a:t>buff_B</a:t>
            </a:r>
            <a:r>
              <a:rPr lang="en-US" altLang="zh-CN" sz="1200" kern="0" dirty="0">
                <a:solidFill>
                  <a:srgbClr val="000000"/>
                </a:solidFill>
                <a:latin typeface="Arial"/>
                <a:ea typeface="宋体" charset="-122"/>
              </a:rPr>
              <a:t> type=inter dependent=false</a:t>
            </a:r>
          </a:p>
          <a:p>
            <a:pPr defTabSz="914400" fontAlgn="base">
              <a:spcBef>
                <a:spcPct val="50000"/>
              </a:spcBef>
              <a:spcAft>
                <a:spcPct val="0"/>
              </a:spcAft>
              <a:defRPr/>
            </a:pPr>
            <a:r>
              <a:rPr lang="en-US" altLang="zh-CN" sz="1200" kern="0" dirty="0">
                <a:solidFill>
                  <a:srgbClr val="000000"/>
                </a:solidFill>
                <a:latin typeface="Arial"/>
                <a:ea typeface="宋体" charset="-122"/>
              </a:rPr>
              <a:t>	if (col &lt; cols) {</a:t>
            </a:r>
          </a:p>
          <a:p>
            <a:pPr defTabSz="914400" fontAlgn="base">
              <a:spcBef>
                <a:spcPct val="50000"/>
              </a:spcBef>
              <a:spcAft>
                <a:spcPct val="0"/>
              </a:spcAft>
              <a:defRPr/>
            </a:pPr>
            <a:r>
              <a:rPr lang="en-US" altLang="zh-CN" sz="1200" kern="0" dirty="0">
                <a:solidFill>
                  <a:srgbClr val="000000"/>
                </a:solidFill>
                <a:latin typeface="Arial"/>
                <a:ea typeface="宋体" charset="-122"/>
              </a:rPr>
              <a:t>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[2][col] =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[1][col]; // read from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[1][col]</a:t>
            </a:r>
          </a:p>
          <a:p>
            <a:pPr defTabSz="914400" fontAlgn="base">
              <a:spcBef>
                <a:spcPct val="50000"/>
              </a:spcBef>
              <a:spcAft>
                <a:spcPct val="0"/>
              </a:spcAft>
              <a:defRPr/>
            </a:pPr>
            <a:r>
              <a:rPr lang="en-US" altLang="zh-CN" sz="1200" kern="0" dirty="0">
                <a:solidFill>
                  <a:srgbClr val="000000"/>
                </a:solidFill>
                <a:latin typeface="Arial"/>
                <a:ea typeface="宋体" charset="-122"/>
              </a:rPr>
              <a:t>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[1][col] =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[0][col]; // write to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[1][col]</a:t>
            </a:r>
          </a:p>
          <a:p>
            <a:pPr defTabSz="914400" fontAlgn="base">
              <a:spcBef>
                <a:spcPct val="50000"/>
              </a:spcBef>
              <a:spcAft>
                <a:spcPct val="0"/>
              </a:spcAft>
              <a:defRPr/>
            </a:pPr>
            <a:r>
              <a:rPr lang="en-US" altLang="zh-CN" sz="1200" kern="0" dirty="0">
                <a:solidFill>
                  <a:srgbClr val="000000"/>
                </a:solidFill>
                <a:latin typeface="Arial"/>
                <a:ea typeface="宋体" charset="-122"/>
              </a:rPr>
              <a:t>	   </a:t>
            </a:r>
            <a:r>
              <a:rPr lang="en-US" altLang="zh-CN" sz="1200" kern="0" dirty="0" err="1">
                <a:solidFill>
                  <a:srgbClr val="000000"/>
                </a:solidFill>
                <a:latin typeface="Arial"/>
                <a:ea typeface="宋体" charset="-122"/>
              </a:rPr>
              <a:t>buff_B</a:t>
            </a:r>
            <a:r>
              <a:rPr lang="en-US" altLang="zh-CN" sz="1200" kern="0" dirty="0">
                <a:solidFill>
                  <a:srgbClr val="000000"/>
                </a:solidFill>
                <a:latin typeface="Arial"/>
                <a:ea typeface="宋体" charset="-122"/>
              </a:rPr>
              <a:t>[1][col] = </a:t>
            </a:r>
            <a:r>
              <a:rPr lang="en-US" altLang="zh-CN" sz="1200" kern="0" dirty="0" err="1">
                <a:solidFill>
                  <a:srgbClr val="000000"/>
                </a:solidFill>
                <a:latin typeface="Arial"/>
                <a:ea typeface="宋体" charset="-122"/>
              </a:rPr>
              <a:t>buff_B</a:t>
            </a:r>
            <a:r>
              <a:rPr lang="en-US" altLang="zh-CN" sz="1200" kern="0" dirty="0">
                <a:solidFill>
                  <a:srgbClr val="000000"/>
                </a:solidFill>
                <a:latin typeface="Arial"/>
                <a:ea typeface="宋体" charset="-122"/>
              </a:rPr>
              <a:t>[0][col];</a:t>
            </a:r>
          </a:p>
          <a:p>
            <a:pPr defTabSz="914400" fontAlgn="base">
              <a:spcBef>
                <a:spcPct val="50000"/>
              </a:spcBef>
              <a:spcAft>
                <a:spcPct val="0"/>
              </a:spcAft>
              <a:defRPr/>
            </a:pPr>
            <a:r>
              <a:rPr lang="en-US" altLang="zh-CN" sz="1200" kern="0" dirty="0">
                <a:solidFill>
                  <a:srgbClr val="000000"/>
                </a:solidFill>
                <a:latin typeface="Arial"/>
                <a:ea typeface="宋体" charset="-122"/>
              </a:rPr>
              <a:t>	   temp = </a:t>
            </a:r>
            <a:r>
              <a:rPr lang="en-US" altLang="zh-CN" sz="1200" kern="0" dirty="0" err="1">
                <a:solidFill>
                  <a:srgbClr val="000000"/>
                </a:solidFill>
                <a:latin typeface="Arial"/>
                <a:ea typeface="宋体" charset="-122"/>
              </a:rPr>
              <a:t>buff_A</a:t>
            </a:r>
            <a:r>
              <a:rPr lang="en-US" altLang="zh-CN" sz="1200" kern="0" dirty="0">
                <a:solidFill>
                  <a:srgbClr val="000000"/>
                </a:solidFill>
                <a:latin typeface="Arial"/>
                <a:ea typeface="宋体" charset="-122"/>
              </a:rPr>
              <a:t>[0][col];} } }</a:t>
            </a:r>
          </a:p>
        </p:txBody>
      </p:sp>
    </p:spTree>
    <p:extLst>
      <p:ext uri="{BB962C8B-B14F-4D97-AF65-F5344CB8AC3E}">
        <p14:creationId xmlns:p14="http://schemas.microsoft.com/office/powerpoint/2010/main" val="157473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CD73-A561-4921-9EE7-31153AE5CC0C}"/>
              </a:ext>
            </a:extLst>
          </p:cNvPr>
          <p:cNvSpPr>
            <a:spLocks noGrp="1"/>
          </p:cNvSpPr>
          <p:nvPr>
            <p:ph type="title"/>
          </p:nvPr>
        </p:nvSpPr>
        <p:spPr/>
        <p:txBody>
          <a:bodyPr/>
          <a:lstStyle/>
          <a:p>
            <a:r>
              <a:rPr lang="en-US" altLang="zh-CN" dirty="0"/>
              <a:t>Summary</a:t>
            </a:r>
            <a:endParaRPr lang="zh-CN" altLang="en-US" dirty="0"/>
          </a:p>
        </p:txBody>
      </p:sp>
    </p:spTree>
    <p:extLst>
      <p:ext uri="{BB962C8B-B14F-4D97-AF65-F5344CB8AC3E}">
        <p14:creationId xmlns:p14="http://schemas.microsoft.com/office/powerpoint/2010/main" val="4019298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92500" lnSpcReduction="20000"/>
          </a:bodyPr>
          <a:lstStyle/>
          <a:p>
            <a:r>
              <a:rPr lang="en-US" dirty="0"/>
              <a:t>Resource utilization can be reduced using allocation and binding controls</a:t>
            </a:r>
          </a:p>
          <a:p>
            <a:r>
              <a:rPr lang="en-US" dirty="0"/>
              <a:t>Arbitrary precision data types help controlling both the area and resource utilization </a:t>
            </a:r>
          </a:p>
          <a:p>
            <a:r>
              <a:rPr lang="en-US" dirty="0"/>
              <a:t>The design structure can be controlled by</a:t>
            </a:r>
          </a:p>
          <a:p>
            <a:pPr lvl="1"/>
            <a:r>
              <a:rPr lang="en-US" dirty="0" err="1"/>
              <a:t>Inlining</a:t>
            </a:r>
            <a:r>
              <a:rPr lang="en-US" dirty="0"/>
              <a:t> functions: direct impact on RTL hierarchy &amp; optimization possibilities</a:t>
            </a:r>
          </a:p>
          <a:p>
            <a:pPr lvl="1"/>
            <a:r>
              <a:rPr lang="en-US" dirty="0"/>
              <a:t>Loops: direct impact on reuse of resources</a:t>
            </a:r>
          </a:p>
          <a:p>
            <a:pPr lvl="1"/>
            <a:r>
              <a:rPr lang="en-US" dirty="0"/>
              <a:t>Arrays: direct impact on the RAM</a:t>
            </a:r>
          </a:p>
          <a:p>
            <a:r>
              <a:rPr lang="en-US" altLang="zh-CN" dirty="0">
                <a:ea typeface="宋体" charset="-122"/>
              </a:rPr>
              <a:t>Major area optimization techniques</a:t>
            </a:r>
            <a:endParaRPr lang="en-US" dirty="0"/>
          </a:p>
          <a:p>
            <a:pPr lvl="1"/>
            <a:r>
              <a:rPr lang="en-US" altLang="zh-CN" dirty="0">
                <a:ea typeface="宋体" charset="-122"/>
              </a:rPr>
              <a:t>Minimize bit widths</a:t>
            </a:r>
          </a:p>
          <a:p>
            <a:pPr lvl="1"/>
            <a:r>
              <a:rPr lang="en-US" altLang="zh-CN" dirty="0">
                <a:ea typeface="宋体" charset="-122"/>
              </a:rPr>
              <a:t>Map smaller arrays into larger arrays</a:t>
            </a:r>
          </a:p>
          <a:p>
            <a:pPr lvl="2"/>
            <a:r>
              <a:rPr lang="en-US" altLang="zh-CN" dirty="0">
                <a:ea typeface="宋体" charset="-122"/>
              </a:rPr>
              <a:t>Make better use of existing RAMs</a:t>
            </a:r>
          </a:p>
          <a:p>
            <a:pPr lvl="1"/>
            <a:r>
              <a:rPr lang="en-US" altLang="zh-CN" dirty="0">
                <a:ea typeface="宋体" charset="-122"/>
              </a:rPr>
              <a:t>Control loop hierarchy</a:t>
            </a:r>
          </a:p>
          <a:p>
            <a:pPr lvl="1"/>
            <a:r>
              <a:rPr lang="en-US" altLang="zh-CN" dirty="0">
                <a:ea typeface="宋体" charset="-122"/>
              </a:rPr>
              <a:t>Control function call hierarchy</a:t>
            </a:r>
          </a:p>
          <a:p>
            <a:pPr lvl="1"/>
            <a:r>
              <a:rPr lang="en-US" altLang="zh-CN" dirty="0">
                <a:ea typeface="宋体" charset="-122"/>
              </a:rPr>
              <a:t>Control the number of operators and cores</a:t>
            </a:r>
            <a:endParaRPr lang="en-US" dirty="0"/>
          </a:p>
          <a:p>
            <a:endParaRPr lang="en-US" dirty="0"/>
          </a:p>
        </p:txBody>
      </p:sp>
      <p:sp>
        <p:nvSpPr>
          <p:cNvPr id="6" name="Slide Number Placeholder 5"/>
          <p:cNvSpPr>
            <a:spLocks noGrp="1"/>
          </p:cNvSpPr>
          <p:nvPr>
            <p:ph type="sldNum" sz="quarter" idx="10"/>
          </p:nvPr>
        </p:nvSpPr>
        <p:spPr/>
        <p:txBody>
          <a:bodyPr/>
          <a:lstStyle/>
          <a:p>
            <a:pPr>
              <a:defRPr/>
            </a:pPr>
            <a:r>
              <a:rPr lang="en-US" dirty="0"/>
              <a:t>Improving Area and Resources 21- </a:t>
            </a:r>
            <a:fld id="{060BD193-E118-4B16-863C-C8C12C675E3E}"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15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1_Xilinx-5">
  <a:themeElements>
    <a:clrScheme name="Custom 1">
      <a:dk1>
        <a:srgbClr val="0C0C0C"/>
      </a:dk1>
      <a:lt1>
        <a:srgbClr val="FFFFFF"/>
      </a:lt1>
      <a:dk2>
        <a:srgbClr val="161C2E"/>
      </a:dk2>
      <a:lt2>
        <a:srgbClr val="7F7F7F"/>
      </a:lt2>
      <a:accent1>
        <a:srgbClr val="EB1C23"/>
      </a:accent1>
      <a:accent2>
        <a:srgbClr val="30364B"/>
      </a:accent2>
      <a:accent3>
        <a:srgbClr val="5F5F5F"/>
      </a:accent3>
      <a:accent4>
        <a:srgbClr val="1B3866"/>
      </a:accent4>
      <a:accent5>
        <a:srgbClr val="AC171F"/>
      </a:accent5>
      <a:accent6>
        <a:srgbClr val="1E640E"/>
      </a:accent6>
      <a:hlink>
        <a:srgbClr val="055C99"/>
      </a:hlink>
      <a:folHlink>
        <a:srgbClr val="5F5F5F"/>
      </a:folHlink>
    </a:clrScheme>
    <a:fontScheme name="Xilinx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 Template-2018_Final" id="{59614F72-ED6C-4F13-AF1A-893C27C977D5}" vid="{23EBD899-BF60-4C88-B6F9-094F3CC04C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2.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4306</Words>
  <Application>Microsoft Office PowerPoint</Application>
  <PresentationFormat>宽屏</PresentationFormat>
  <Paragraphs>688</Paragraphs>
  <Slides>39</Slides>
  <Notes>5</Notes>
  <HiddenSlides>17</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39</vt:i4>
      </vt:variant>
    </vt:vector>
  </HeadingPairs>
  <TitlesOfParts>
    <vt:vector size="48" baseType="lpstr">
      <vt:lpstr>Arial</vt:lpstr>
      <vt:lpstr>Calibri</vt:lpstr>
      <vt:lpstr>Consolas</vt:lpstr>
      <vt:lpstr>Microsoft Sans Serif</vt:lpstr>
      <vt:lpstr>Webdings</vt:lpstr>
      <vt:lpstr>Wingdings</vt:lpstr>
      <vt:lpstr>Wingdings 3</vt:lpstr>
      <vt:lpstr>Xilinx-5</vt:lpstr>
      <vt:lpstr>1_Xilinx-5</vt:lpstr>
      <vt:lpstr>Improving Area and Resources</vt:lpstr>
      <vt:lpstr>Objectives</vt:lpstr>
      <vt:lpstr>Outline</vt:lpstr>
      <vt:lpstr>Review: Control Scheduling &amp; Binding</vt:lpstr>
      <vt:lpstr>Review: Control Scheduling &amp; Binding</vt:lpstr>
      <vt:lpstr>Configuring Binding</vt:lpstr>
      <vt:lpstr>BIND_OP: Specific a device resource</vt:lpstr>
      <vt:lpstr>BIND_STORAGE: Assign a specific memory</vt:lpstr>
      <vt:lpstr>Allocation: Limit the Numbers</vt:lpstr>
      <vt:lpstr>Allocation: Limit the Numbers</vt:lpstr>
      <vt:lpstr>Additional Control: Specify Resources</vt:lpstr>
      <vt:lpstr>Reducing Area Usage</vt:lpstr>
      <vt:lpstr>Improving Area/Resource Utilization</vt:lpstr>
      <vt:lpstr>Improving Area/Resource Utilization</vt:lpstr>
      <vt:lpstr>Review: Functions &amp; RTL Hierarchy</vt:lpstr>
      <vt:lpstr>Review: Functions &amp; RTL Hierarchy</vt:lpstr>
      <vt:lpstr>Controlling Inlining</vt:lpstr>
      <vt:lpstr>Controlling Inlining</vt:lpstr>
      <vt:lpstr>Function Inlining</vt:lpstr>
      <vt:lpstr>Function Inlining</vt:lpstr>
      <vt:lpstr>Inline and Allocation: Shape the Hierarchy</vt:lpstr>
      <vt:lpstr>Inline and Allocation: Shape the Hierarchy</vt:lpstr>
      <vt:lpstr>Loops </vt:lpstr>
      <vt:lpstr>Loops </vt:lpstr>
      <vt:lpstr>Loop Merging</vt:lpstr>
      <vt:lpstr>Loop Merging &amp; Flattening</vt:lpstr>
      <vt:lpstr>Mapping Arrays</vt:lpstr>
      <vt:lpstr>Mapping Arrays</vt:lpstr>
      <vt:lpstr>Horizontal Mapping</vt:lpstr>
      <vt:lpstr>Vertical Mapping</vt:lpstr>
      <vt:lpstr>Arbitrary Precision Integers</vt:lpstr>
      <vt:lpstr>Arbitrary Precision Integers</vt:lpstr>
      <vt:lpstr>Why are Arbitrary Precision types Needed?</vt:lpstr>
      <vt:lpstr>Why are Arbitrary Precision types Needed?</vt:lpstr>
      <vt:lpstr>DEPEDENCE Directive</vt:lpstr>
      <vt:lpstr>DEPEDENCE Directive</vt:lpstr>
      <vt:lpstr>Summary</vt:lpstr>
      <vt:lpstr>Summary</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2022-03-14T10:54:18Z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9ddfcbeb-4bcc-4028-84ce-42c571594389</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