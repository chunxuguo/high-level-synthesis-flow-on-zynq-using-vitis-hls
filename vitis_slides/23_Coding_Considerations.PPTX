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930" r:id="rId4"/>
    <p:sldMasterId id="2147483991" r:id="rId5"/>
  </p:sldMasterIdLst>
  <p:notesMasterIdLst>
    <p:notesMasterId r:id="rId130"/>
  </p:notesMasterIdLst>
  <p:handoutMasterIdLst>
    <p:handoutMasterId r:id="rId131"/>
  </p:handoutMasterIdLst>
  <p:sldIdLst>
    <p:sldId id="351" r:id="rId6"/>
    <p:sldId id="960" r:id="rId7"/>
    <p:sldId id="1050" r:id="rId8"/>
    <p:sldId id="1038" r:id="rId9"/>
    <p:sldId id="1051" r:id="rId10"/>
    <p:sldId id="962" r:id="rId11"/>
    <p:sldId id="1052" r:id="rId12"/>
    <p:sldId id="999" r:id="rId13"/>
    <p:sldId id="1053" r:id="rId14"/>
    <p:sldId id="963" r:id="rId15"/>
    <p:sldId id="1054" r:id="rId16"/>
    <p:sldId id="964" r:id="rId17"/>
    <p:sldId id="1055" r:id="rId18"/>
    <p:sldId id="965" r:id="rId19"/>
    <p:sldId id="1056" r:id="rId20"/>
    <p:sldId id="966" r:id="rId21"/>
    <p:sldId id="1057" r:id="rId22"/>
    <p:sldId id="967" r:id="rId23"/>
    <p:sldId id="968" r:id="rId24"/>
    <p:sldId id="1058" r:id="rId25"/>
    <p:sldId id="969" r:id="rId26"/>
    <p:sldId id="1059" r:id="rId27"/>
    <p:sldId id="970" r:id="rId28"/>
    <p:sldId id="1060" r:id="rId29"/>
    <p:sldId id="971" r:id="rId30"/>
    <p:sldId id="1061" r:id="rId31"/>
    <p:sldId id="972" r:id="rId32"/>
    <p:sldId id="1062" r:id="rId33"/>
    <p:sldId id="973" r:id="rId34"/>
    <p:sldId id="974" r:id="rId35"/>
    <p:sldId id="1039" r:id="rId36"/>
    <p:sldId id="982" r:id="rId37"/>
    <p:sldId id="1063" r:id="rId38"/>
    <p:sldId id="983" r:id="rId39"/>
    <p:sldId id="1064" r:id="rId40"/>
    <p:sldId id="984" r:id="rId41"/>
    <p:sldId id="1065" r:id="rId42"/>
    <p:sldId id="985" r:id="rId43"/>
    <p:sldId id="1066" r:id="rId44"/>
    <p:sldId id="986" r:id="rId45"/>
    <p:sldId id="1045" r:id="rId46"/>
    <p:sldId id="1067" r:id="rId47"/>
    <p:sldId id="1040" r:id="rId48"/>
    <p:sldId id="1046" r:id="rId49"/>
    <p:sldId id="976" r:id="rId50"/>
    <p:sldId id="1068" r:id="rId51"/>
    <p:sldId id="1047" r:id="rId52"/>
    <p:sldId id="977" r:id="rId53"/>
    <p:sldId id="1069" r:id="rId54"/>
    <p:sldId id="978" r:id="rId55"/>
    <p:sldId id="1070" r:id="rId56"/>
    <p:sldId id="979" r:id="rId57"/>
    <p:sldId id="1071" r:id="rId58"/>
    <p:sldId id="980" r:id="rId59"/>
    <p:sldId id="1072" r:id="rId60"/>
    <p:sldId id="1041" r:id="rId61"/>
    <p:sldId id="1005" r:id="rId62"/>
    <p:sldId id="1073" r:id="rId63"/>
    <p:sldId id="996" r:id="rId64"/>
    <p:sldId id="1074" r:id="rId65"/>
    <p:sldId id="998" r:id="rId66"/>
    <p:sldId id="1075" r:id="rId67"/>
    <p:sldId id="1042" r:id="rId68"/>
    <p:sldId id="1019" r:id="rId69"/>
    <p:sldId id="1091" r:id="rId70"/>
    <p:sldId id="1021" r:id="rId71"/>
    <p:sldId id="1092" r:id="rId72"/>
    <p:sldId id="1022" r:id="rId73"/>
    <p:sldId id="1093" r:id="rId74"/>
    <p:sldId id="1023" r:id="rId75"/>
    <p:sldId id="1094" r:id="rId76"/>
    <p:sldId id="1024" r:id="rId77"/>
    <p:sldId id="1076" r:id="rId78"/>
    <p:sldId id="1025" r:id="rId79"/>
    <p:sldId id="1077" r:id="rId80"/>
    <p:sldId id="1026" r:id="rId81"/>
    <p:sldId id="1078" r:id="rId82"/>
    <p:sldId id="1027" r:id="rId83"/>
    <p:sldId id="1079" r:id="rId84"/>
    <p:sldId id="1028" r:id="rId85"/>
    <p:sldId id="1080" r:id="rId86"/>
    <p:sldId id="1029" r:id="rId87"/>
    <p:sldId id="1081" r:id="rId88"/>
    <p:sldId id="1030" r:id="rId89"/>
    <p:sldId id="1082" r:id="rId90"/>
    <p:sldId id="1031" r:id="rId91"/>
    <p:sldId id="1083" r:id="rId92"/>
    <p:sldId id="1032" r:id="rId93"/>
    <p:sldId id="1084" r:id="rId94"/>
    <p:sldId id="1033" r:id="rId95"/>
    <p:sldId id="1085" r:id="rId96"/>
    <p:sldId id="1034" r:id="rId97"/>
    <p:sldId id="1086" r:id="rId98"/>
    <p:sldId id="1035" r:id="rId99"/>
    <p:sldId id="1087" r:id="rId100"/>
    <p:sldId id="1006" r:id="rId101"/>
    <p:sldId id="1088" r:id="rId102"/>
    <p:sldId id="1007" r:id="rId103"/>
    <p:sldId id="1089" r:id="rId104"/>
    <p:sldId id="1008" r:id="rId105"/>
    <p:sldId id="1090" r:id="rId106"/>
    <p:sldId id="1036" r:id="rId107"/>
    <p:sldId id="1043" r:id="rId108"/>
    <p:sldId id="1048" r:id="rId109"/>
    <p:sldId id="1049" r:id="rId110"/>
    <p:sldId id="1009" r:id="rId111"/>
    <p:sldId id="1010" r:id="rId112"/>
    <p:sldId id="1011" r:id="rId113"/>
    <p:sldId id="1095" r:id="rId114"/>
    <p:sldId id="1012" r:id="rId115"/>
    <p:sldId id="1096" r:id="rId116"/>
    <p:sldId id="1013" r:id="rId117"/>
    <p:sldId id="1097" r:id="rId118"/>
    <p:sldId id="1014" r:id="rId119"/>
    <p:sldId id="1098" r:id="rId120"/>
    <p:sldId id="1015" r:id="rId121"/>
    <p:sldId id="1016" r:id="rId122"/>
    <p:sldId id="1044" r:id="rId123"/>
    <p:sldId id="994" r:id="rId124"/>
    <p:sldId id="1099" r:id="rId125"/>
    <p:sldId id="995" r:id="rId126"/>
    <p:sldId id="1100" r:id="rId127"/>
    <p:sldId id="440" r:id="rId128"/>
    <p:sldId id="3731" r:id="rId129"/>
  </p:sldIdLst>
  <p:sldSz cx="12192000" cy="6858000"/>
  <p:notesSz cx="6858000" cy="9144000"/>
  <p:defaultTextStyle>
    <a:defPPr>
      <a:defRPr lang="en-US"/>
    </a:defPPr>
    <a:lvl1pPr marL="0" algn="l" defTabSz="914240" rtl="0" eaLnBrk="1" latinLnBrk="0" hangingPunct="1">
      <a:defRPr sz="1800" kern="1200">
        <a:solidFill>
          <a:schemeClr val="tx1"/>
        </a:solidFill>
        <a:latin typeface="+mn-lt"/>
        <a:ea typeface="+mn-ea"/>
        <a:cs typeface="+mn-cs"/>
      </a:defRPr>
    </a:lvl1pPr>
    <a:lvl2pPr marL="457120" algn="l" defTabSz="914240" rtl="0" eaLnBrk="1" latinLnBrk="0" hangingPunct="1">
      <a:defRPr sz="1800" kern="1200">
        <a:solidFill>
          <a:schemeClr val="tx1"/>
        </a:solidFill>
        <a:latin typeface="+mn-lt"/>
        <a:ea typeface="+mn-ea"/>
        <a:cs typeface="+mn-cs"/>
      </a:defRPr>
    </a:lvl2pPr>
    <a:lvl3pPr marL="914240" algn="l" defTabSz="914240" rtl="0" eaLnBrk="1" latinLnBrk="0" hangingPunct="1">
      <a:defRPr sz="1800" kern="1200">
        <a:solidFill>
          <a:schemeClr val="tx1"/>
        </a:solidFill>
        <a:latin typeface="+mn-lt"/>
        <a:ea typeface="+mn-ea"/>
        <a:cs typeface="+mn-cs"/>
      </a:defRPr>
    </a:lvl3pPr>
    <a:lvl4pPr marL="1371360" algn="l" defTabSz="914240" rtl="0" eaLnBrk="1" latinLnBrk="0" hangingPunct="1">
      <a:defRPr sz="1800" kern="1200">
        <a:solidFill>
          <a:schemeClr val="tx1"/>
        </a:solidFill>
        <a:latin typeface="+mn-lt"/>
        <a:ea typeface="+mn-ea"/>
        <a:cs typeface="+mn-cs"/>
      </a:defRPr>
    </a:lvl4pPr>
    <a:lvl5pPr marL="1828480" algn="l" defTabSz="914240" rtl="0" eaLnBrk="1" latinLnBrk="0" hangingPunct="1">
      <a:defRPr sz="1800" kern="1200">
        <a:solidFill>
          <a:schemeClr val="tx1"/>
        </a:solidFill>
        <a:latin typeface="+mn-lt"/>
        <a:ea typeface="+mn-ea"/>
        <a:cs typeface="+mn-cs"/>
      </a:defRPr>
    </a:lvl5pPr>
    <a:lvl6pPr marL="2285600" algn="l" defTabSz="914240" rtl="0" eaLnBrk="1" latinLnBrk="0" hangingPunct="1">
      <a:defRPr sz="1800" kern="1200">
        <a:solidFill>
          <a:schemeClr val="tx1"/>
        </a:solidFill>
        <a:latin typeface="+mn-lt"/>
        <a:ea typeface="+mn-ea"/>
        <a:cs typeface="+mn-cs"/>
      </a:defRPr>
    </a:lvl6pPr>
    <a:lvl7pPr marL="2742720" algn="l" defTabSz="914240" rtl="0" eaLnBrk="1" latinLnBrk="0" hangingPunct="1">
      <a:defRPr sz="1800" kern="1200">
        <a:solidFill>
          <a:schemeClr val="tx1"/>
        </a:solidFill>
        <a:latin typeface="+mn-lt"/>
        <a:ea typeface="+mn-ea"/>
        <a:cs typeface="+mn-cs"/>
      </a:defRPr>
    </a:lvl7pPr>
    <a:lvl8pPr marL="3199840" algn="l" defTabSz="914240" rtl="0" eaLnBrk="1" latinLnBrk="0" hangingPunct="1">
      <a:defRPr sz="1800" kern="1200">
        <a:solidFill>
          <a:schemeClr val="tx1"/>
        </a:solidFill>
        <a:latin typeface="+mn-lt"/>
        <a:ea typeface="+mn-ea"/>
        <a:cs typeface="+mn-cs"/>
      </a:defRPr>
    </a:lvl8pPr>
    <a:lvl9pPr marL="3656960" algn="l" defTabSz="91424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177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7E7"/>
    <a:srgbClr val="A21820"/>
    <a:srgbClr val="171C2D"/>
    <a:srgbClr val="F5811F"/>
    <a:srgbClr val="045C99"/>
    <a:srgbClr val="EB1C23"/>
    <a:srgbClr val="7F7F7F"/>
    <a:srgbClr val="0C0C0C"/>
    <a:srgbClr val="00B2BA"/>
    <a:srgbClr val="8D91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73A0DAA-6AF3-43AB-8588-CEC1D06C72B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332" autoAdjust="0"/>
    <p:restoredTop sz="94694"/>
  </p:normalViewPr>
  <p:slideViewPr>
    <p:cSldViewPr snapToGrid="0">
      <p:cViewPr varScale="1">
        <p:scale>
          <a:sx n="81" d="100"/>
          <a:sy n="81" d="100"/>
        </p:scale>
        <p:origin x="230" y="58"/>
      </p:cViewPr>
      <p:guideLst>
        <p:guide orient="horz" pos="2160"/>
        <p:guide pos="3840"/>
        <p:guide orient="horz" pos="1776"/>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117" Type="http://schemas.openxmlformats.org/officeDocument/2006/relationships/slide" Target="slides/slide112.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slide" Target="slides/slide79.xml"/><Relationship Id="rId89" Type="http://schemas.openxmlformats.org/officeDocument/2006/relationships/slide" Target="slides/slide84.xml"/><Relationship Id="rId112" Type="http://schemas.openxmlformats.org/officeDocument/2006/relationships/slide" Target="slides/slide107.xml"/><Relationship Id="rId133" Type="http://schemas.openxmlformats.org/officeDocument/2006/relationships/viewProps" Target="viewProps.xml"/><Relationship Id="rId16" Type="http://schemas.openxmlformats.org/officeDocument/2006/relationships/slide" Target="slides/slide11.xml"/><Relationship Id="rId107" Type="http://schemas.openxmlformats.org/officeDocument/2006/relationships/slide" Target="slides/slide102.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102" Type="http://schemas.openxmlformats.org/officeDocument/2006/relationships/slide" Target="slides/slide97.xml"/><Relationship Id="rId123" Type="http://schemas.openxmlformats.org/officeDocument/2006/relationships/slide" Target="slides/slide118.xml"/><Relationship Id="rId128" Type="http://schemas.openxmlformats.org/officeDocument/2006/relationships/slide" Target="slides/slide123.xml"/><Relationship Id="rId5" Type="http://schemas.openxmlformats.org/officeDocument/2006/relationships/slideMaster" Target="slideMasters/slideMaster2.xml"/><Relationship Id="rId90" Type="http://schemas.openxmlformats.org/officeDocument/2006/relationships/slide" Target="slides/slide85.xml"/><Relationship Id="rId95" Type="http://schemas.openxmlformats.org/officeDocument/2006/relationships/slide" Target="slides/slide90.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slide" Target="slides/slide72.xml"/><Relationship Id="rId100" Type="http://schemas.openxmlformats.org/officeDocument/2006/relationships/slide" Target="slides/slide95.xml"/><Relationship Id="rId105" Type="http://schemas.openxmlformats.org/officeDocument/2006/relationships/slide" Target="slides/slide100.xml"/><Relationship Id="rId113" Type="http://schemas.openxmlformats.org/officeDocument/2006/relationships/slide" Target="slides/slide108.xml"/><Relationship Id="rId118" Type="http://schemas.openxmlformats.org/officeDocument/2006/relationships/slide" Target="slides/slide113.xml"/><Relationship Id="rId126" Type="http://schemas.openxmlformats.org/officeDocument/2006/relationships/slide" Target="slides/slide121.xml"/><Relationship Id="rId134" Type="http://schemas.openxmlformats.org/officeDocument/2006/relationships/theme" Target="theme/theme1.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slide" Target="slides/slide75.xml"/><Relationship Id="rId85" Type="http://schemas.openxmlformats.org/officeDocument/2006/relationships/slide" Target="slides/slide80.xml"/><Relationship Id="rId93" Type="http://schemas.openxmlformats.org/officeDocument/2006/relationships/slide" Target="slides/slide88.xml"/><Relationship Id="rId98" Type="http://schemas.openxmlformats.org/officeDocument/2006/relationships/slide" Target="slides/slide93.xml"/><Relationship Id="rId121" Type="http://schemas.openxmlformats.org/officeDocument/2006/relationships/slide" Target="slides/slide11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103" Type="http://schemas.openxmlformats.org/officeDocument/2006/relationships/slide" Target="slides/slide98.xml"/><Relationship Id="rId108" Type="http://schemas.openxmlformats.org/officeDocument/2006/relationships/slide" Target="slides/slide103.xml"/><Relationship Id="rId116" Type="http://schemas.openxmlformats.org/officeDocument/2006/relationships/slide" Target="slides/slide111.xml"/><Relationship Id="rId124" Type="http://schemas.openxmlformats.org/officeDocument/2006/relationships/slide" Target="slides/slide119.xml"/><Relationship Id="rId129" Type="http://schemas.openxmlformats.org/officeDocument/2006/relationships/slide" Target="slides/slide124.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slide" Target="slides/slide78.xml"/><Relationship Id="rId88" Type="http://schemas.openxmlformats.org/officeDocument/2006/relationships/slide" Target="slides/slide83.xml"/><Relationship Id="rId91" Type="http://schemas.openxmlformats.org/officeDocument/2006/relationships/slide" Target="slides/slide86.xml"/><Relationship Id="rId96" Type="http://schemas.openxmlformats.org/officeDocument/2006/relationships/slide" Target="slides/slide91.xml"/><Relationship Id="rId111" Type="http://schemas.openxmlformats.org/officeDocument/2006/relationships/slide" Target="slides/slide106.xml"/><Relationship Id="rId132"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6" Type="http://schemas.openxmlformats.org/officeDocument/2006/relationships/slide" Target="slides/slide101.xml"/><Relationship Id="rId114" Type="http://schemas.openxmlformats.org/officeDocument/2006/relationships/slide" Target="slides/slide109.xml"/><Relationship Id="rId119" Type="http://schemas.openxmlformats.org/officeDocument/2006/relationships/slide" Target="slides/slide114.xml"/><Relationship Id="rId127" Type="http://schemas.openxmlformats.org/officeDocument/2006/relationships/slide" Target="slides/slide12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slide" Target="slides/slide76.xml"/><Relationship Id="rId86" Type="http://schemas.openxmlformats.org/officeDocument/2006/relationships/slide" Target="slides/slide81.xml"/><Relationship Id="rId94" Type="http://schemas.openxmlformats.org/officeDocument/2006/relationships/slide" Target="slides/slide89.xml"/><Relationship Id="rId99" Type="http://schemas.openxmlformats.org/officeDocument/2006/relationships/slide" Target="slides/slide94.xml"/><Relationship Id="rId101" Type="http://schemas.openxmlformats.org/officeDocument/2006/relationships/slide" Target="slides/slide96.xml"/><Relationship Id="rId122" Type="http://schemas.openxmlformats.org/officeDocument/2006/relationships/slide" Target="slides/slide117.xml"/><Relationship Id="rId130" Type="http://schemas.openxmlformats.org/officeDocument/2006/relationships/notesMaster" Target="notesMasters/notesMaster1.xml"/><Relationship Id="rId135"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109" Type="http://schemas.openxmlformats.org/officeDocument/2006/relationships/slide" Target="slides/slide10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slide" Target="slides/slide92.xml"/><Relationship Id="rId104" Type="http://schemas.openxmlformats.org/officeDocument/2006/relationships/slide" Target="slides/slide99.xml"/><Relationship Id="rId120" Type="http://schemas.openxmlformats.org/officeDocument/2006/relationships/slide" Target="slides/slide115.xml"/><Relationship Id="rId125" Type="http://schemas.openxmlformats.org/officeDocument/2006/relationships/slide" Target="slides/slide120.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slide" Target="slides/slide87.xml"/><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110" Type="http://schemas.openxmlformats.org/officeDocument/2006/relationships/slide" Target="slides/slide105.xml"/><Relationship Id="rId115" Type="http://schemas.openxmlformats.org/officeDocument/2006/relationships/slide" Target="slides/slide110.xml"/><Relationship Id="rId131" Type="http://schemas.openxmlformats.org/officeDocument/2006/relationships/handoutMaster" Target="handoutMasters/handoutMaster1.xml"/><Relationship Id="rId61" Type="http://schemas.openxmlformats.org/officeDocument/2006/relationships/slide" Target="slides/slide56.xml"/><Relationship Id="rId82" Type="http://schemas.openxmlformats.org/officeDocument/2006/relationships/slide" Target="slides/slide77.xml"/><Relationship Id="rId19" Type="http://schemas.openxmlformats.org/officeDocument/2006/relationships/slide" Target="slides/slide1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9EEC3C-A001-4107-B54E-3DA93EFF18E7}" type="datetimeFigureOut">
              <a:rPr lang="en-US" smtClean="0"/>
              <a:t>4/14/2022</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6F9C473-A00E-481E-A6E8-16CFC626F81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F16447F-F8B4-4CE6-9C1A-CBB4604770CA}" type="slidenum">
              <a:rPr lang="en-US" smtClean="0"/>
              <a:t>‹#›</a:t>
            </a:fld>
            <a:endParaRPr lang="en-US"/>
          </a:p>
        </p:txBody>
      </p:sp>
    </p:spTree>
    <p:extLst>
      <p:ext uri="{BB962C8B-B14F-4D97-AF65-F5344CB8AC3E}">
        <p14:creationId xmlns:p14="http://schemas.microsoft.com/office/powerpoint/2010/main" val="1929677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cs typeface="Arial" panose="020B0604020202020204"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cs typeface="Arial" panose="020B0604020202020204" pitchFamily="34" charset="0"/>
              </a:defRPr>
            </a:lvl1pPr>
          </a:lstStyle>
          <a:p>
            <a:fld id="{396E16B4-3FB2-4CDC-BEBF-CD70C72EF480}" type="datetimeFigureOut">
              <a:rPr lang="en-US" smtClean="0"/>
              <a:pPr/>
              <a:t>4/14/2022</a:t>
            </a:fld>
            <a:endParaRPr lang="en-US"/>
          </a:p>
        </p:txBody>
      </p:sp>
      <p:sp>
        <p:nvSpPr>
          <p:cNvPr id="4" name="Slide Image Placeholder 3"/>
          <p:cNvSpPr>
            <a:spLocks noGrp="1" noRot="1" noChangeAspect="1"/>
          </p:cNvSpPr>
          <p:nvPr>
            <p:ph type="sldImg" idx="2"/>
          </p:nvPr>
        </p:nvSpPr>
        <p:spPr>
          <a:xfrm>
            <a:off x="381000" y="8382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cs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cs typeface="Arial" panose="020B0604020202020204" pitchFamily="34" charset="0"/>
              </a:defRPr>
            </a:lvl1pPr>
          </a:lstStyle>
          <a:p>
            <a:fld id="{A9D42829-8409-4711-B36D-25AE5703B863}" type="slidenum">
              <a:rPr lang="en-US" smtClean="0"/>
              <a:pPr/>
              <a:t>‹#›</a:t>
            </a:fld>
            <a:endParaRPr lang="en-US"/>
          </a:p>
        </p:txBody>
      </p:sp>
    </p:spTree>
    <p:extLst>
      <p:ext uri="{BB962C8B-B14F-4D97-AF65-F5344CB8AC3E}">
        <p14:creationId xmlns:p14="http://schemas.microsoft.com/office/powerpoint/2010/main" val="3364622551"/>
      </p:ext>
    </p:extLst>
  </p:cSld>
  <p:clrMap bg1="lt1" tx1="dk1" bg2="lt2" tx2="dk2" accent1="accent1" accent2="accent2" accent3="accent3" accent4="accent4" accent5="accent5" accent6="accent6" hlink="hlink" folHlink="folHlink"/>
  <p:notesStyle>
    <a:lvl1pPr marL="0" algn="l" defTabSz="91424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457120" algn="l" defTabSz="91424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914240" algn="l" defTabSz="91424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371360" algn="l" defTabSz="91424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1828480" algn="l" defTabSz="91424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2285600" algn="l" defTabSz="914240" rtl="0" eaLnBrk="1" latinLnBrk="0" hangingPunct="1">
      <a:defRPr sz="1200" kern="1200">
        <a:solidFill>
          <a:schemeClr val="tx1"/>
        </a:solidFill>
        <a:latin typeface="+mn-lt"/>
        <a:ea typeface="+mn-ea"/>
        <a:cs typeface="+mn-cs"/>
      </a:defRPr>
    </a:lvl6pPr>
    <a:lvl7pPr marL="2742720" algn="l" defTabSz="914240" rtl="0" eaLnBrk="1" latinLnBrk="0" hangingPunct="1">
      <a:defRPr sz="1200" kern="1200">
        <a:solidFill>
          <a:schemeClr val="tx1"/>
        </a:solidFill>
        <a:latin typeface="+mn-lt"/>
        <a:ea typeface="+mn-ea"/>
        <a:cs typeface="+mn-cs"/>
      </a:defRPr>
    </a:lvl7pPr>
    <a:lvl8pPr marL="3199840" algn="l" defTabSz="914240" rtl="0" eaLnBrk="1" latinLnBrk="0" hangingPunct="1">
      <a:defRPr sz="1200" kern="1200">
        <a:solidFill>
          <a:schemeClr val="tx1"/>
        </a:solidFill>
        <a:latin typeface="+mn-lt"/>
        <a:ea typeface="+mn-ea"/>
        <a:cs typeface="+mn-cs"/>
      </a:defRPr>
    </a:lvl8pPr>
    <a:lvl9pPr marL="3656960" algn="l" defTabSz="91424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3" Type="http://schemas.openxmlformats.org/officeDocument/2006/relationships/hyperlink" Target="https://docs.xilinx.com/r/en-US/ug1399-vitis-hls/Deprecated-and-Unsupported-Features" TargetMode="External"/><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p:cNvSpPr>
            <a:spLocks noGrp="1" noRot="1" noChangeAspect="1" noTextEdit="1"/>
          </p:cNvSpPr>
          <p:nvPr>
            <p:ph type="sldImg"/>
          </p:nvPr>
        </p:nvSpPr>
        <p:spPr bwMode="auto">
          <a:xfrm>
            <a:off x="471488" y="711200"/>
            <a:ext cx="6375400" cy="3586163"/>
          </a:xfrm>
          <a:noFill/>
          <a:ln>
            <a:solidFill>
              <a:srgbClr val="000000"/>
            </a:solidFill>
            <a:miter lim="800000"/>
            <a:headEnd/>
            <a:tailEnd/>
          </a:ln>
        </p:spPr>
      </p:sp>
      <p:sp>
        <p:nvSpPr>
          <p:cNvPr id="37890" name="Rectangle 3"/>
          <p:cNvSpPr>
            <a:spLocks noGrp="1"/>
          </p:cNvSpPr>
          <p:nvPr>
            <p:ph type="body" idx="1"/>
          </p:nvPr>
        </p:nvSpPr>
        <p:spPr bwMode="auto">
          <a:xfrm>
            <a:off x="1005369" y="4559544"/>
            <a:ext cx="5304465" cy="4350971"/>
          </a:xfrm>
          <a:noFill/>
        </p:spPr>
        <p:txBody>
          <a:bodyPr/>
          <a:lstStyle/>
          <a:p>
            <a:endParaRPr lang="zh-CN" altLang="en-US">
              <a:ea typeface="宋体" charset="-122"/>
            </a:endParaRPr>
          </a:p>
        </p:txBody>
      </p:sp>
    </p:spTree>
    <p:extLst>
      <p:ext uri="{BB962C8B-B14F-4D97-AF65-F5344CB8AC3E}">
        <p14:creationId xmlns:p14="http://schemas.microsoft.com/office/powerpoint/2010/main" val="9515852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p:cNvSpPr>
            <a:spLocks noGrp="1" noRot="1" noChangeAspect="1" noTextEdit="1"/>
          </p:cNvSpPr>
          <p:nvPr>
            <p:ph type="sldImg"/>
          </p:nvPr>
        </p:nvSpPr>
        <p:spPr bwMode="auto">
          <a:xfrm>
            <a:off x="473075" y="711200"/>
            <a:ext cx="6372225" cy="3586163"/>
          </a:xfrm>
          <a:noFill/>
          <a:ln>
            <a:solidFill>
              <a:srgbClr val="000000"/>
            </a:solidFill>
            <a:miter lim="800000"/>
            <a:headEnd/>
            <a:tailEnd/>
          </a:ln>
        </p:spPr>
      </p:sp>
      <p:sp>
        <p:nvSpPr>
          <p:cNvPr id="37890" name="Rectangle 3"/>
          <p:cNvSpPr>
            <a:spLocks noGrp="1"/>
          </p:cNvSpPr>
          <p:nvPr>
            <p:ph type="body" idx="1"/>
          </p:nvPr>
        </p:nvSpPr>
        <p:spPr bwMode="auto">
          <a:xfrm>
            <a:off x="1005369" y="4559544"/>
            <a:ext cx="5304465" cy="4350971"/>
          </a:xfrm>
          <a:noFill/>
        </p:spPr>
        <p:txBody>
          <a:bodyPr/>
          <a:lstStyle/>
          <a:p>
            <a:endParaRPr lang="zh-CN" altLang="en-US">
              <a:ea typeface="宋体" charset="-122"/>
            </a:endParaRPr>
          </a:p>
        </p:txBody>
      </p:sp>
    </p:spTree>
    <p:extLst>
      <p:ext uri="{BB962C8B-B14F-4D97-AF65-F5344CB8AC3E}">
        <p14:creationId xmlns:p14="http://schemas.microsoft.com/office/powerpoint/2010/main" val="9515852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p:cNvSpPr>
            <a:spLocks noGrp="1" noRot="1" noChangeAspect="1" noTextEdit="1"/>
          </p:cNvSpPr>
          <p:nvPr>
            <p:ph type="sldImg"/>
          </p:nvPr>
        </p:nvSpPr>
        <p:spPr bwMode="auto">
          <a:xfrm>
            <a:off x="471488" y="711200"/>
            <a:ext cx="6375400" cy="3586163"/>
          </a:xfrm>
          <a:noFill/>
          <a:ln>
            <a:solidFill>
              <a:srgbClr val="000000"/>
            </a:solidFill>
            <a:miter lim="800000"/>
            <a:headEnd/>
            <a:tailEnd/>
          </a:ln>
        </p:spPr>
      </p:sp>
      <p:sp>
        <p:nvSpPr>
          <p:cNvPr id="39938" name="Rectangle 3"/>
          <p:cNvSpPr>
            <a:spLocks noGrp="1"/>
          </p:cNvSpPr>
          <p:nvPr>
            <p:ph type="body" idx="1"/>
          </p:nvPr>
        </p:nvSpPr>
        <p:spPr bwMode="auto">
          <a:xfrm>
            <a:off x="1005369" y="4559544"/>
            <a:ext cx="5304465" cy="4350971"/>
          </a:xfrm>
          <a:noFill/>
        </p:spPr>
        <p:txBody>
          <a:bodyPr/>
          <a:lstStyle/>
          <a:p>
            <a:endParaRPr lang="zh-CN" altLang="en-US">
              <a:ea typeface="宋体" charset="-122"/>
            </a:endParaRPr>
          </a:p>
        </p:txBody>
      </p:sp>
    </p:spTree>
    <p:extLst>
      <p:ext uri="{BB962C8B-B14F-4D97-AF65-F5344CB8AC3E}">
        <p14:creationId xmlns:p14="http://schemas.microsoft.com/office/powerpoint/2010/main" val="31581506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p:cNvSpPr>
            <a:spLocks noGrp="1" noRot="1" noChangeAspect="1" noTextEdit="1"/>
          </p:cNvSpPr>
          <p:nvPr>
            <p:ph type="sldImg"/>
          </p:nvPr>
        </p:nvSpPr>
        <p:spPr bwMode="auto">
          <a:xfrm>
            <a:off x="473075" y="711200"/>
            <a:ext cx="6372225" cy="3586163"/>
          </a:xfrm>
          <a:noFill/>
          <a:ln>
            <a:solidFill>
              <a:srgbClr val="000000"/>
            </a:solidFill>
            <a:miter lim="800000"/>
            <a:headEnd/>
            <a:tailEnd/>
          </a:ln>
        </p:spPr>
      </p:sp>
      <p:sp>
        <p:nvSpPr>
          <p:cNvPr id="39938" name="Rectangle 3"/>
          <p:cNvSpPr>
            <a:spLocks noGrp="1"/>
          </p:cNvSpPr>
          <p:nvPr>
            <p:ph type="body" idx="1"/>
          </p:nvPr>
        </p:nvSpPr>
        <p:spPr bwMode="auto">
          <a:xfrm>
            <a:off x="1005369" y="4559544"/>
            <a:ext cx="5304465" cy="4350971"/>
          </a:xfrm>
          <a:noFill/>
        </p:spPr>
        <p:txBody>
          <a:bodyPr/>
          <a:lstStyle/>
          <a:p>
            <a:endParaRPr lang="zh-CN" altLang="en-US">
              <a:ea typeface="宋体" charset="-122"/>
            </a:endParaRPr>
          </a:p>
        </p:txBody>
      </p:sp>
    </p:spTree>
    <p:extLst>
      <p:ext uri="{BB962C8B-B14F-4D97-AF65-F5344CB8AC3E}">
        <p14:creationId xmlns:p14="http://schemas.microsoft.com/office/powerpoint/2010/main" val="31581506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p:cNvSpPr>
            <a:spLocks noGrp="1" noRot="1" noChangeAspect="1" noTextEdit="1"/>
          </p:cNvSpPr>
          <p:nvPr>
            <p:ph type="sldImg"/>
          </p:nvPr>
        </p:nvSpPr>
        <p:spPr bwMode="auto">
          <a:xfrm>
            <a:off x="471488" y="711200"/>
            <a:ext cx="6375400" cy="3586163"/>
          </a:xfrm>
          <a:noFill/>
          <a:ln>
            <a:solidFill>
              <a:srgbClr val="000000"/>
            </a:solidFill>
            <a:miter lim="800000"/>
            <a:headEnd/>
            <a:tailEnd/>
          </a:ln>
        </p:spPr>
      </p:sp>
      <p:sp>
        <p:nvSpPr>
          <p:cNvPr id="46082" name="Rectangle 3"/>
          <p:cNvSpPr>
            <a:spLocks noGrp="1"/>
          </p:cNvSpPr>
          <p:nvPr>
            <p:ph type="body" idx="1"/>
          </p:nvPr>
        </p:nvSpPr>
        <p:spPr bwMode="auto">
          <a:xfrm>
            <a:off x="1005369" y="4559544"/>
            <a:ext cx="5304465" cy="4350971"/>
          </a:xfrm>
          <a:noFill/>
        </p:spPr>
        <p:txBody>
          <a:bodyPr/>
          <a:lstStyle/>
          <a:p>
            <a:endParaRPr lang="zh-CN" altLang="en-US">
              <a:ea typeface="宋体" charset="-122"/>
            </a:endParaRPr>
          </a:p>
        </p:txBody>
      </p:sp>
    </p:spTree>
    <p:extLst>
      <p:ext uri="{BB962C8B-B14F-4D97-AF65-F5344CB8AC3E}">
        <p14:creationId xmlns:p14="http://schemas.microsoft.com/office/powerpoint/2010/main" val="5972834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p:cNvSpPr>
            <a:spLocks noGrp="1" noRot="1" noChangeAspect="1" noTextEdit="1"/>
          </p:cNvSpPr>
          <p:nvPr>
            <p:ph type="sldImg"/>
          </p:nvPr>
        </p:nvSpPr>
        <p:spPr bwMode="auto">
          <a:xfrm>
            <a:off x="473075" y="711200"/>
            <a:ext cx="6372225" cy="3586163"/>
          </a:xfrm>
          <a:noFill/>
          <a:ln>
            <a:solidFill>
              <a:srgbClr val="000000"/>
            </a:solidFill>
            <a:miter lim="800000"/>
            <a:headEnd/>
            <a:tailEnd/>
          </a:ln>
        </p:spPr>
      </p:sp>
      <p:sp>
        <p:nvSpPr>
          <p:cNvPr id="46082" name="Rectangle 3"/>
          <p:cNvSpPr>
            <a:spLocks noGrp="1"/>
          </p:cNvSpPr>
          <p:nvPr>
            <p:ph type="body" idx="1"/>
          </p:nvPr>
        </p:nvSpPr>
        <p:spPr bwMode="auto">
          <a:xfrm>
            <a:off x="1005369" y="4559544"/>
            <a:ext cx="5304465" cy="4350971"/>
          </a:xfrm>
          <a:noFill/>
        </p:spPr>
        <p:txBody>
          <a:bodyPr/>
          <a:lstStyle/>
          <a:p>
            <a:endParaRPr lang="zh-CN" altLang="en-US">
              <a:ea typeface="宋体" charset="-122"/>
            </a:endParaRPr>
          </a:p>
        </p:txBody>
      </p:sp>
    </p:spTree>
    <p:extLst>
      <p:ext uri="{BB962C8B-B14F-4D97-AF65-F5344CB8AC3E}">
        <p14:creationId xmlns:p14="http://schemas.microsoft.com/office/powerpoint/2010/main" val="5972834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p:cNvSpPr>
            <a:spLocks noGrp="1" noRot="1" noChangeAspect="1" noTextEdit="1"/>
          </p:cNvSpPr>
          <p:nvPr>
            <p:ph type="sldImg"/>
          </p:nvPr>
        </p:nvSpPr>
        <p:spPr bwMode="auto">
          <a:xfrm>
            <a:off x="471488" y="711200"/>
            <a:ext cx="6375400" cy="3586163"/>
          </a:xfrm>
          <a:noFill/>
          <a:ln>
            <a:solidFill>
              <a:srgbClr val="000000"/>
            </a:solidFill>
            <a:miter lim="800000"/>
            <a:headEnd/>
            <a:tailEnd/>
          </a:ln>
        </p:spPr>
      </p:sp>
      <p:sp>
        <p:nvSpPr>
          <p:cNvPr id="41986" name="Rectangle 3"/>
          <p:cNvSpPr>
            <a:spLocks noGrp="1"/>
          </p:cNvSpPr>
          <p:nvPr>
            <p:ph type="body" idx="1"/>
          </p:nvPr>
        </p:nvSpPr>
        <p:spPr bwMode="auto">
          <a:xfrm>
            <a:off x="1005369" y="4559544"/>
            <a:ext cx="5304465" cy="4350971"/>
          </a:xfrm>
          <a:noFill/>
        </p:spPr>
        <p:txBody>
          <a:bodyPr/>
          <a:lstStyle/>
          <a:p>
            <a:endParaRPr lang="zh-CN" altLang="en-US">
              <a:ea typeface="宋体" charset="-122"/>
            </a:endParaRPr>
          </a:p>
        </p:txBody>
      </p:sp>
    </p:spTree>
    <p:extLst>
      <p:ext uri="{BB962C8B-B14F-4D97-AF65-F5344CB8AC3E}">
        <p14:creationId xmlns:p14="http://schemas.microsoft.com/office/powerpoint/2010/main" val="10927348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p:cNvSpPr>
            <a:spLocks noGrp="1" noRot="1" noChangeAspect="1" noTextEdit="1"/>
          </p:cNvSpPr>
          <p:nvPr>
            <p:ph type="sldImg"/>
          </p:nvPr>
        </p:nvSpPr>
        <p:spPr bwMode="auto">
          <a:xfrm>
            <a:off x="473075" y="711200"/>
            <a:ext cx="6372225" cy="3586163"/>
          </a:xfrm>
          <a:noFill/>
          <a:ln>
            <a:solidFill>
              <a:srgbClr val="000000"/>
            </a:solidFill>
            <a:miter lim="800000"/>
            <a:headEnd/>
            <a:tailEnd/>
          </a:ln>
        </p:spPr>
      </p:sp>
      <p:sp>
        <p:nvSpPr>
          <p:cNvPr id="41986" name="Rectangle 3"/>
          <p:cNvSpPr>
            <a:spLocks noGrp="1"/>
          </p:cNvSpPr>
          <p:nvPr>
            <p:ph type="body" idx="1"/>
          </p:nvPr>
        </p:nvSpPr>
        <p:spPr bwMode="auto">
          <a:xfrm>
            <a:off x="1005369" y="4559544"/>
            <a:ext cx="5304465" cy="4350971"/>
          </a:xfrm>
          <a:noFill/>
        </p:spPr>
        <p:txBody>
          <a:bodyPr/>
          <a:lstStyle/>
          <a:p>
            <a:endParaRPr lang="zh-CN" altLang="en-US">
              <a:ea typeface="宋体" charset="-122"/>
            </a:endParaRPr>
          </a:p>
        </p:txBody>
      </p:sp>
    </p:spTree>
    <p:extLst>
      <p:ext uri="{BB962C8B-B14F-4D97-AF65-F5344CB8AC3E}">
        <p14:creationId xmlns:p14="http://schemas.microsoft.com/office/powerpoint/2010/main" val="10927348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p:cNvSpPr>
            <a:spLocks noGrp="1" noRot="1" noChangeAspect="1" noTextEdit="1"/>
          </p:cNvSpPr>
          <p:nvPr>
            <p:ph type="sldImg"/>
          </p:nvPr>
        </p:nvSpPr>
        <p:spPr bwMode="auto">
          <a:xfrm>
            <a:off x="471488" y="711200"/>
            <a:ext cx="6375400" cy="3586163"/>
          </a:xfrm>
          <a:noFill/>
          <a:ln>
            <a:solidFill>
              <a:srgbClr val="000000"/>
            </a:solidFill>
            <a:miter lim="800000"/>
            <a:headEnd/>
            <a:tailEnd/>
          </a:ln>
        </p:spPr>
      </p:sp>
      <p:sp>
        <p:nvSpPr>
          <p:cNvPr id="44034" name="Rectangle 3"/>
          <p:cNvSpPr>
            <a:spLocks noGrp="1"/>
          </p:cNvSpPr>
          <p:nvPr>
            <p:ph type="body" idx="1"/>
          </p:nvPr>
        </p:nvSpPr>
        <p:spPr bwMode="auto">
          <a:xfrm>
            <a:off x="1005369" y="4559544"/>
            <a:ext cx="5304465" cy="4350971"/>
          </a:xfrm>
          <a:noFill/>
        </p:spPr>
        <p:txBody>
          <a:bodyPr/>
          <a:lstStyle/>
          <a:p>
            <a:endParaRPr lang="zh-CN" altLang="en-US">
              <a:ea typeface="宋体" charset="-122"/>
            </a:endParaRPr>
          </a:p>
        </p:txBody>
      </p:sp>
    </p:spTree>
    <p:extLst>
      <p:ext uri="{BB962C8B-B14F-4D97-AF65-F5344CB8AC3E}">
        <p14:creationId xmlns:p14="http://schemas.microsoft.com/office/powerpoint/2010/main" val="19716636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p:cNvSpPr>
            <a:spLocks noGrp="1" noRot="1" noChangeAspect="1" noTextEdit="1"/>
          </p:cNvSpPr>
          <p:nvPr>
            <p:ph type="sldImg"/>
          </p:nvPr>
        </p:nvSpPr>
        <p:spPr bwMode="auto">
          <a:xfrm>
            <a:off x="473075" y="711200"/>
            <a:ext cx="6372225" cy="3586163"/>
          </a:xfrm>
          <a:noFill/>
          <a:ln>
            <a:solidFill>
              <a:srgbClr val="000000"/>
            </a:solidFill>
            <a:miter lim="800000"/>
            <a:headEnd/>
            <a:tailEnd/>
          </a:ln>
        </p:spPr>
      </p:sp>
      <p:sp>
        <p:nvSpPr>
          <p:cNvPr id="44034" name="Rectangle 3"/>
          <p:cNvSpPr>
            <a:spLocks noGrp="1"/>
          </p:cNvSpPr>
          <p:nvPr>
            <p:ph type="body" idx="1"/>
          </p:nvPr>
        </p:nvSpPr>
        <p:spPr bwMode="auto">
          <a:xfrm>
            <a:off x="1005369" y="4559544"/>
            <a:ext cx="5304465" cy="4350971"/>
          </a:xfrm>
          <a:noFill/>
        </p:spPr>
        <p:txBody>
          <a:bodyPr/>
          <a:lstStyle/>
          <a:p>
            <a:endParaRPr lang="zh-CN" altLang="en-US">
              <a:ea typeface="宋体" charset="-122"/>
            </a:endParaRPr>
          </a:p>
        </p:txBody>
      </p:sp>
    </p:spTree>
    <p:extLst>
      <p:ext uri="{BB962C8B-B14F-4D97-AF65-F5344CB8AC3E}">
        <p14:creationId xmlns:p14="http://schemas.microsoft.com/office/powerpoint/2010/main" val="19716636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0468195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0468195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err="1"/>
              <a:t>ap_bus</a:t>
            </a:r>
            <a:r>
              <a:rPr lang="en-US" sz="1200" dirty="0"/>
              <a:t> no longer support</a:t>
            </a:r>
            <a:endParaRPr lang="en-US" dirty="0"/>
          </a:p>
        </p:txBody>
      </p:sp>
    </p:spTree>
    <p:extLst>
      <p:ext uri="{BB962C8B-B14F-4D97-AF65-F5344CB8AC3E}">
        <p14:creationId xmlns:p14="http://schemas.microsoft.com/office/powerpoint/2010/main" val="26748755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err="1"/>
              <a:t>ap_bus</a:t>
            </a:r>
            <a:r>
              <a:rPr lang="en-US" sz="1200" dirty="0"/>
              <a:t> no longer support</a:t>
            </a:r>
            <a:endParaRPr lang="en-US" dirty="0"/>
          </a:p>
        </p:txBody>
      </p:sp>
    </p:spTree>
    <p:extLst>
      <p:ext uri="{BB962C8B-B14F-4D97-AF65-F5344CB8AC3E}">
        <p14:creationId xmlns:p14="http://schemas.microsoft.com/office/powerpoint/2010/main" val="26748755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UG1399-&gt;</a:t>
            </a:r>
            <a:r>
              <a:rPr lang="en-US" dirty="0" err="1"/>
              <a:t>Vitis</a:t>
            </a:r>
            <a:r>
              <a:rPr lang="en-US" dirty="0"/>
              <a:t> HLS Coding styles-&gt;Unsupported C/C++ Constructs-&gt;Dynamic Memory Usage</a:t>
            </a:r>
          </a:p>
        </p:txBody>
      </p:sp>
    </p:spTree>
    <p:extLst>
      <p:ext uri="{BB962C8B-B14F-4D97-AF65-F5344CB8AC3E}">
        <p14:creationId xmlns:p14="http://schemas.microsoft.com/office/powerpoint/2010/main" val="34311052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UG1399-&gt;</a:t>
            </a:r>
            <a:r>
              <a:rPr lang="en-US" dirty="0" err="1"/>
              <a:t>Vitis</a:t>
            </a:r>
            <a:r>
              <a:rPr lang="en-US" dirty="0"/>
              <a:t> HLS Coding styles-&gt;Unsupported C/C++ Constructs-&gt;Dynamic Memory Usage</a:t>
            </a:r>
          </a:p>
        </p:txBody>
      </p:sp>
    </p:spTree>
    <p:extLst>
      <p:ext uri="{BB962C8B-B14F-4D97-AF65-F5344CB8AC3E}">
        <p14:creationId xmlns:p14="http://schemas.microsoft.com/office/powerpoint/2010/main" val="34311052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9D42829-8409-4711-B36D-25AE5703B863}" type="slidenum">
              <a:rPr lang="en-US" smtClean="0"/>
              <a:pPr/>
              <a:t>45</a:t>
            </a:fld>
            <a:endParaRPr lang="en-US"/>
          </a:p>
        </p:txBody>
      </p:sp>
    </p:spTree>
    <p:extLst>
      <p:ext uri="{BB962C8B-B14F-4D97-AF65-F5344CB8AC3E}">
        <p14:creationId xmlns:p14="http://schemas.microsoft.com/office/powerpoint/2010/main" val="19352313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Didn’t see warning in </a:t>
            </a:r>
            <a:r>
              <a:rPr lang="en-US" dirty="0" err="1"/>
              <a:t>vitis</a:t>
            </a:r>
            <a:endParaRPr lang="en-US" dirty="0"/>
          </a:p>
        </p:txBody>
      </p:sp>
    </p:spTree>
    <p:extLst>
      <p:ext uri="{BB962C8B-B14F-4D97-AF65-F5344CB8AC3E}">
        <p14:creationId xmlns:p14="http://schemas.microsoft.com/office/powerpoint/2010/main" val="20584270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Didn’t see warning in </a:t>
            </a:r>
            <a:r>
              <a:rPr lang="en-US" dirty="0" err="1"/>
              <a:t>vitis</a:t>
            </a:r>
            <a:endParaRPr lang="en-US" dirty="0"/>
          </a:p>
        </p:txBody>
      </p:sp>
    </p:spTree>
    <p:extLst>
      <p:ext uri="{BB962C8B-B14F-4D97-AF65-F5344CB8AC3E}">
        <p14:creationId xmlns:p14="http://schemas.microsoft.com/office/powerpoint/2010/main" val="20584270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Arial" charset="0"/>
                <a:ea typeface="+mn-ea"/>
                <a:cs typeface="+mn-cs"/>
              </a:rPr>
              <a:t>By default, an </a:t>
            </a:r>
            <a:r>
              <a:rPr lang="en-US" dirty="0" err="1"/>
              <a:t>hls</a:t>
            </a:r>
            <a:r>
              <a:rPr lang="en-US" dirty="0"/>
              <a:t>::stream</a:t>
            </a:r>
            <a:r>
              <a:rPr lang="en-US" sz="1200" b="0" i="0" kern="1200" dirty="0">
                <a:solidFill>
                  <a:schemeClr val="tx1"/>
                </a:solidFill>
                <a:effectLst/>
                <a:latin typeface="Arial" charset="0"/>
                <a:ea typeface="+mn-ea"/>
                <a:cs typeface="+mn-cs"/>
              </a:rPr>
              <a:t> is implemented as a FIFO with a depth of 2. </a:t>
            </a:r>
            <a:endParaRPr lang="en-US" dirty="0"/>
          </a:p>
        </p:txBody>
      </p:sp>
    </p:spTree>
    <p:extLst>
      <p:ext uri="{BB962C8B-B14F-4D97-AF65-F5344CB8AC3E}">
        <p14:creationId xmlns:p14="http://schemas.microsoft.com/office/powerpoint/2010/main" val="4959461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Arial" charset="0"/>
                <a:ea typeface="+mn-ea"/>
                <a:cs typeface="+mn-cs"/>
              </a:rPr>
              <a:t>By default, an </a:t>
            </a:r>
            <a:r>
              <a:rPr lang="en-US" dirty="0" err="1"/>
              <a:t>hls</a:t>
            </a:r>
            <a:r>
              <a:rPr lang="en-US" dirty="0"/>
              <a:t>::stream</a:t>
            </a:r>
            <a:r>
              <a:rPr lang="en-US" sz="1200" b="0" i="0" kern="1200" dirty="0">
                <a:solidFill>
                  <a:schemeClr val="tx1"/>
                </a:solidFill>
                <a:effectLst/>
                <a:latin typeface="Arial" charset="0"/>
                <a:ea typeface="+mn-ea"/>
                <a:cs typeface="+mn-cs"/>
              </a:rPr>
              <a:t> is implemented as a FIFO with a depth of 2. </a:t>
            </a:r>
            <a:endParaRPr lang="en-US" dirty="0"/>
          </a:p>
        </p:txBody>
      </p:sp>
    </p:spTree>
    <p:extLst>
      <p:ext uri="{BB962C8B-B14F-4D97-AF65-F5344CB8AC3E}">
        <p14:creationId xmlns:p14="http://schemas.microsoft.com/office/powerpoint/2010/main" val="4959461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19138"/>
            <a:ext cx="6400800" cy="3602037"/>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a:xfrm>
            <a:off x="4143587" y="9119474"/>
            <a:ext cx="3169920" cy="480060"/>
          </a:xfrm>
          <a:prstGeom prst="rect">
            <a:avLst/>
          </a:prstGeom>
        </p:spPr>
        <p:txBody>
          <a:bodyPr lIns="94851" tIns="47425" rIns="94851" bIns="47425"/>
          <a:lstStyle/>
          <a:p>
            <a:fld id="{76F0A2C8-C80D-4FA6-9395-33B607B809E4}" type="slidenum">
              <a:rPr lang="en-US" smtClean="0"/>
              <a:pPr/>
              <a:t>70</a:t>
            </a:fld>
            <a:endParaRPr lang="en-US" dirty="0"/>
          </a:p>
        </p:txBody>
      </p:sp>
    </p:spTree>
    <p:extLst>
      <p:ext uri="{BB962C8B-B14F-4D97-AF65-F5344CB8AC3E}">
        <p14:creationId xmlns:p14="http://schemas.microsoft.com/office/powerpoint/2010/main" val="333808042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19138"/>
            <a:ext cx="6400800" cy="3602037"/>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a:xfrm>
            <a:off x="4143587" y="9119474"/>
            <a:ext cx="3169920" cy="480060"/>
          </a:xfrm>
          <a:prstGeom prst="rect">
            <a:avLst/>
          </a:prstGeom>
        </p:spPr>
        <p:txBody>
          <a:bodyPr lIns="94851" tIns="47425" rIns="94851" bIns="47425"/>
          <a:lstStyle/>
          <a:p>
            <a:pPr marL="0" marR="0" lvl="0" indent="0" algn="l" defTabSz="914400" rtl="0" eaLnBrk="1" fontAlgn="auto" latinLnBrk="0" hangingPunct="1">
              <a:lnSpc>
                <a:spcPct val="100000"/>
              </a:lnSpc>
              <a:spcBef>
                <a:spcPts val="0"/>
              </a:spcBef>
              <a:spcAft>
                <a:spcPts val="0"/>
              </a:spcAft>
              <a:buClrTx/>
              <a:buSzTx/>
              <a:buFontTx/>
              <a:buNone/>
              <a:tabLst/>
              <a:defRPr/>
            </a:pPr>
            <a:fld id="{76F0A2C8-C80D-4FA6-9395-33B607B809E4}" type="slidenum">
              <a:rPr kumimoji="0" lang="en-US" sz="1800" b="0" i="0" u="none" strike="noStrike" kern="1200" cap="none" spc="0" normalizeH="0" baseline="0" noProof="0" smtClean="0">
                <a:ln>
                  <a:noFill/>
                </a:ln>
                <a:solidFill>
                  <a:srgbClr val="000000"/>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71</a:t>
            </a:fld>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p:txBody>
      </p:sp>
    </p:spTree>
    <p:extLst>
      <p:ext uri="{BB962C8B-B14F-4D97-AF65-F5344CB8AC3E}">
        <p14:creationId xmlns:p14="http://schemas.microsoft.com/office/powerpoint/2010/main" val="33380804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19138"/>
            <a:ext cx="6400800" cy="3602037"/>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a:xfrm>
            <a:off x="4143587" y="9119474"/>
            <a:ext cx="3169920" cy="480060"/>
          </a:xfrm>
          <a:prstGeom prst="rect">
            <a:avLst/>
          </a:prstGeom>
        </p:spPr>
        <p:txBody>
          <a:bodyPr lIns="94851" tIns="47425" rIns="94851" bIns="47425"/>
          <a:lstStyle/>
          <a:p>
            <a:fld id="{76F0A2C8-C80D-4FA6-9395-33B607B809E4}" type="slidenum">
              <a:rPr lang="en-US" smtClean="0"/>
              <a:pPr/>
              <a:t>72</a:t>
            </a:fld>
            <a:endParaRPr lang="en-US" dirty="0"/>
          </a:p>
        </p:txBody>
      </p:sp>
    </p:spTree>
    <p:extLst>
      <p:ext uri="{BB962C8B-B14F-4D97-AF65-F5344CB8AC3E}">
        <p14:creationId xmlns:p14="http://schemas.microsoft.com/office/powerpoint/2010/main" val="138272868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19138"/>
            <a:ext cx="6400800" cy="3602037"/>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a:xfrm>
            <a:off x="4143587" y="9119474"/>
            <a:ext cx="3169920" cy="480060"/>
          </a:xfrm>
          <a:prstGeom prst="rect">
            <a:avLst/>
          </a:prstGeom>
        </p:spPr>
        <p:txBody>
          <a:bodyPr lIns="94851" tIns="47425" rIns="94851" bIns="47425"/>
          <a:lstStyle/>
          <a:p>
            <a:pPr marL="0" marR="0" lvl="0" indent="0" algn="l" defTabSz="914400" rtl="0" eaLnBrk="1" fontAlgn="auto" latinLnBrk="0" hangingPunct="1">
              <a:lnSpc>
                <a:spcPct val="100000"/>
              </a:lnSpc>
              <a:spcBef>
                <a:spcPts val="0"/>
              </a:spcBef>
              <a:spcAft>
                <a:spcPts val="0"/>
              </a:spcAft>
              <a:buClrTx/>
              <a:buSzTx/>
              <a:buFontTx/>
              <a:buNone/>
              <a:tabLst/>
              <a:defRPr/>
            </a:pPr>
            <a:fld id="{76F0A2C8-C80D-4FA6-9395-33B607B809E4}" type="slidenum">
              <a:rPr kumimoji="0" lang="en-US" sz="1800" b="0" i="0" u="none" strike="noStrike" kern="1200" cap="none" spc="0" normalizeH="0" baseline="0" noProof="0" smtClean="0">
                <a:ln>
                  <a:noFill/>
                </a:ln>
                <a:solidFill>
                  <a:srgbClr val="000000"/>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73</a:t>
            </a:fld>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p:txBody>
      </p:sp>
    </p:spTree>
    <p:extLst>
      <p:ext uri="{BB962C8B-B14F-4D97-AF65-F5344CB8AC3E}">
        <p14:creationId xmlns:p14="http://schemas.microsoft.com/office/powerpoint/2010/main" val="13827286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typedef float </a:t>
            </a:r>
            <a:r>
              <a:rPr lang="en-US" dirty="0" err="1"/>
              <a:t>data_t</a:t>
            </a:r>
            <a:r>
              <a:rPr lang="en-US" dirty="0"/>
              <a:t>; </a:t>
            </a:r>
          </a:p>
          <a:p>
            <a:r>
              <a:rPr lang="en-US" dirty="0"/>
              <a:t>static complex&lt;</a:t>
            </a:r>
            <a:r>
              <a:rPr lang="en-US" dirty="0" err="1"/>
              <a:t>data_t</a:t>
            </a:r>
            <a:r>
              <a:rPr lang="en-US" dirty="0"/>
              <a:t>&gt; </a:t>
            </a:r>
            <a:r>
              <a:rPr lang="en-US" dirty="0" err="1"/>
              <a:t>xn</a:t>
            </a:r>
            <a:r>
              <a:rPr lang="en-US" dirty="0"/>
              <a:t>[CHANNEL][FFT_LENGTH]; </a:t>
            </a:r>
          </a:p>
          <a:p>
            <a:r>
              <a:rPr lang="en-US" dirty="0"/>
              <a:t>static complex&lt;</a:t>
            </a:r>
            <a:r>
              <a:rPr lang="en-US" dirty="0" err="1"/>
              <a:t>data_t</a:t>
            </a:r>
            <a:r>
              <a:rPr lang="en-US" dirty="0"/>
              <a:t>&gt; </a:t>
            </a:r>
            <a:r>
              <a:rPr lang="en-US" dirty="0" err="1"/>
              <a:t>xk</a:t>
            </a:r>
            <a:r>
              <a:rPr lang="en-US" dirty="0"/>
              <a:t>[CHANELL][FFT_LENGTH];</a:t>
            </a:r>
          </a:p>
        </p:txBody>
      </p:sp>
    </p:spTree>
    <p:extLst>
      <p:ext uri="{BB962C8B-B14F-4D97-AF65-F5344CB8AC3E}">
        <p14:creationId xmlns:p14="http://schemas.microsoft.com/office/powerpoint/2010/main" val="30239992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typedef float </a:t>
            </a:r>
            <a:r>
              <a:rPr lang="en-US" dirty="0" err="1"/>
              <a:t>data_t</a:t>
            </a:r>
            <a:r>
              <a:rPr lang="en-US" dirty="0"/>
              <a:t>; </a:t>
            </a:r>
          </a:p>
          <a:p>
            <a:r>
              <a:rPr lang="en-US" dirty="0"/>
              <a:t>static complex&lt;</a:t>
            </a:r>
            <a:r>
              <a:rPr lang="en-US" dirty="0" err="1"/>
              <a:t>data_t</a:t>
            </a:r>
            <a:r>
              <a:rPr lang="en-US" dirty="0"/>
              <a:t>&gt; </a:t>
            </a:r>
            <a:r>
              <a:rPr lang="en-US" dirty="0" err="1"/>
              <a:t>xn</a:t>
            </a:r>
            <a:r>
              <a:rPr lang="en-US" dirty="0"/>
              <a:t>[CHANNEL][FFT_LENGTH]; </a:t>
            </a:r>
          </a:p>
          <a:p>
            <a:r>
              <a:rPr lang="en-US" dirty="0"/>
              <a:t>static complex&lt;</a:t>
            </a:r>
            <a:r>
              <a:rPr lang="en-US" dirty="0" err="1"/>
              <a:t>data_t</a:t>
            </a:r>
            <a:r>
              <a:rPr lang="en-US" dirty="0"/>
              <a:t>&gt; </a:t>
            </a:r>
            <a:r>
              <a:rPr lang="en-US" dirty="0" err="1"/>
              <a:t>xk</a:t>
            </a:r>
            <a:r>
              <a:rPr lang="en-US" dirty="0"/>
              <a:t>[CHANELL][FFT_LENGTH];</a:t>
            </a:r>
          </a:p>
        </p:txBody>
      </p:sp>
    </p:spTree>
    <p:extLst>
      <p:ext uri="{BB962C8B-B14F-4D97-AF65-F5344CB8AC3E}">
        <p14:creationId xmlns:p14="http://schemas.microsoft.com/office/powerpoint/2010/main" val="302399923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19138"/>
            <a:ext cx="6400800" cy="3602037"/>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a:xfrm>
            <a:off x="4143587" y="9119474"/>
            <a:ext cx="3169920" cy="480060"/>
          </a:xfrm>
          <a:prstGeom prst="rect">
            <a:avLst/>
          </a:prstGeom>
        </p:spPr>
        <p:txBody>
          <a:bodyPr lIns="94851" tIns="47425" rIns="94851" bIns="47425"/>
          <a:lstStyle/>
          <a:p>
            <a:fld id="{76F0A2C8-C80D-4FA6-9395-33B607B809E4}" type="slidenum">
              <a:rPr lang="en-US" smtClean="0"/>
              <a:pPr/>
              <a:t>84</a:t>
            </a:fld>
            <a:endParaRPr lang="en-US" dirty="0"/>
          </a:p>
        </p:txBody>
      </p:sp>
    </p:spTree>
    <p:extLst>
      <p:ext uri="{BB962C8B-B14F-4D97-AF65-F5344CB8AC3E}">
        <p14:creationId xmlns:p14="http://schemas.microsoft.com/office/powerpoint/2010/main" val="333808042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19138"/>
            <a:ext cx="6400800" cy="3602037"/>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a:xfrm>
            <a:off x="4143587" y="9119474"/>
            <a:ext cx="3169920" cy="480060"/>
          </a:xfrm>
          <a:prstGeom prst="rect">
            <a:avLst/>
          </a:prstGeom>
        </p:spPr>
        <p:txBody>
          <a:bodyPr lIns="94851" tIns="47425" rIns="94851" bIns="47425"/>
          <a:lstStyle/>
          <a:p>
            <a:pPr marL="0" marR="0" lvl="0" indent="0" algn="l" defTabSz="914400" rtl="0" eaLnBrk="1" fontAlgn="auto" latinLnBrk="0" hangingPunct="1">
              <a:lnSpc>
                <a:spcPct val="100000"/>
              </a:lnSpc>
              <a:spcBef>
                <a:spcPts val="0"/>
              </a:spcBef>
              <a:spcAft>
                <a:spcPts val="0"/>
              </a:spcAft>
              <a:buClrTx/>
              <a:buSzTx/>
              <a:buFontTx/>
              <a:buNone/>
              <a:tabLst/>
              <a:defRPr/>
            </a:pPr>
            <a:fld id="{76F0A2C8-C80D-4FA6-9395-33B607B809E4}" type="slidenum">
              <a:rPr kumimoji="0" lang="en-US" sz="1800" b="0" i="0" u="none" strike="noStrike" kern="1200" cap="none" spc="0" normalizeH="0" baseline="0" noProof="0" smtClean="0">
                <a:ln>
                  <a:noFill/>
                </a:ln>
                <a:solidFill>
                  <a:srgbClr val="000000"/>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85</a:t>
            </a:fld>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p:txBody>
      </p:sp>
    </p:spTree>
    <p:extLst>
      <p:ext uri="{BB962C8B-B14F-4D97-AF65-F5344CB8AC3E}">
        <p14:creationId xmlns:p14="http://schemas.microsoft.com/office/powerpoint/2010/main" val="333808042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19138"/>
            <a:ext cx="6400800" cy="3602037"/>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a:xfrm>
            <a:off x="4143587" y="9119474"/>
            <a:ext cx="3169920" cy="480060"/>
          </a:xfrm>
          <a:prstGeom prst="rect">
            <a:avLst/>
          </a:prstGeom>
        </p:spPr>
        <p:txBody>
          <a:bodyPr lIns="94851" tIns="47425" rIns="94851" bIns="47425"/>
          <a:lstStyle/>
          <a:p>
            <a:fld id="{76F0A2C8-C80D-4FA6-9395-33B607B809E4}" type="slidenum">
              <a:rPr lang="en-US" smtClean="0"/>
              <a:pPr/>
              <a:t>86</a:t>
            </a:fld>
            <a:endParaRPr lang="en-US" dirty="0"/>
          </a:p>
        </p:txBody>
      </p:sp>
    </p:spTree>
    <p:extLst>
      <p:ext uri="{BB962C8B-B14F-4D97-AF65-F5344CB8AC3E}">
        <p14:creationId xmlns:p14="http://schemas.microsoft.com/office/powerpoint/2010/main" val="138272868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19138"/>
            <a:ext cx="6400800" cy="3602037"/>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a:xfrm>
            <a:off x="4143587" y="9119474"/>
            <a:ext cx="3169920" cy="480060"/>
          </a:xfrm>
          <a:prstGeom prst="rect">
            <a:avLst/>
          </a:prstGeom>
        </p:spPr>
        <p:txBody>
          <a:bodyPr lIns="94851" tIns="47425" rIns="94851" bIns="47425"/>
          <a:lstStyle/>
          <a:p>
            <a:pPr marL="0" marR="0" lvl="0" indent="0" algn="l" defTabSz="914400" rtl="0" eaLnBrk="1" fontAlgn="auto" latinLnBrk="0" hangingPunct="1">
              <a:lnSpc>
                <a:spcPct val="100000"/>
              </a:lnSpc>
              <a:spcBef>
                <a:spcPts val="0"/>
              </a:spcBef>
              <a:spcAft>
                <a:spcPts val="0"/>
              </a:spcAft>
              <a:buClrTx/>
              <a:buSzTx/>
              <a:buFontTx/>
              <a:buNone/>
              <a:tabLst/>
              <a:defRPr/>
            </a:pPr>
            <a:fld id="{76F0A2C8-C80D-4FA6-9395-33B607B809E4}" type="slidenum">
              <a:rPr kumimoji="0" lang="en-US" sz="1800" b="0" i="0" u="none" strike="noStrike" kern="1200" cap="none" spc="0" normalizeH="0" baseline="0" noProof="0" smtClean="0">
                <a:ln>
                  <a:noFill/>
                </a:ln>
                <a:solidFill>
                  <a:srgbClr val="000000"/>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87</a:t>
            </a:fld>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p:txBody>
      </p:sp>
    </p:spTree>
    <p:extLst>
      <p:ext uri="{BB962C8B-B14F-4D97-AF65-F5344CB8AC3E}">
        <p14:creationId xmlns:p14="http://schemas.microsoft.com/office/powerpoint/2010/main" val="138272868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support </a:t>
            </a:r>
            <a:r>
              <a:rPr lang="en-US" sz="1200" b="0" i="0" kern="1200" dirty="0" err="1">
                <a:solidFill>
                  <a:schemeClr val="tx1"/>
                </a:solidFill>
                <a:effectLst/>
                <a:latin typeface="Arial" charset="0"/>
                <a:ea typeface="+mn-ea"/>
                <a:cs typeface="+mn-cs"/>
              </a:rPr>
              <a:t>potrf</a:t>
            </a:r>
            <a:endParaRPr lang="en-US" sz="1200" b="0" i="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b="1" i="0" u="none" strike="noStrike" kern="1200" dirty="0">
                <a:solidFill>
                  <a:schemeClr val="tx1"/>
                </a:solidFill>
                <a:effectLst/>
                <a:latin typeface="Arial" charset="0"/>
                <a:ea typeface="+mn-ea"/>
                <a:cs typeface="+mn-cs"/>
                <a:hlinkClick r:id="rId3" tooltip="Deprecated and Unsupported Features"/>
              </a:rPr>
              <a:t>Deprecated and Unsupported Features</a:t>
            </a:r>
            <a:endParaRPr lang="en-US" dirty="0"/>
          </a:p>
          <a:p>
            <a:endParaRPr lang="en-US" dirty="0"/>
          </a:p>
        </p:txBody>
      </p:sp>
    </p:spTree>
    <p:extLst>
      <p:ext uri="{BB962C8B-B14F-4D97-AF65-F5344CB8AC3E}">
        <p14:creationId xmlns:p14="http://schemas.microsoft.com/office/powerpoint/2010/main" val="338240207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41458930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39581090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26243728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26243728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D36CB97-8324-8440-AF83-FDCF5C83423C}"/>
              </a:ext>
            </a:extLst>
          </p:cNvPr>
          <p:cNvSpPr/>
          <p:nvPr userDrawn="1"/>
        </p:nvSpPr>
        <p:spPr>
          <a:xfrm>
            <a:off x="10210800" y="6119691"/>
            <a:ext cx="1752600" cy="6621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1">
            <a:extLst>
              <a:ext uri="{FF2B5EF4-FFF2-40B4-BE49-F238E27FC236}">
                <a16:creationId xmlns:a16="http://schemas.microsoft.com/office/drawing/2014/main" id="{92695751-8148-D44C-819F-19AC107A8E9D}"/>
              </a:ext>
            </a:extLst>
          </p:cNvPr>
          <p:cNvSpPr>
            <a:spLocks noGrp="1"/>
          </p:cNvSpPr>
          <p:nvPr>
            <p:ph type="title" hasCustomPrompt="1"/>
          </p:nvPr>
        </p:nvSpPr>
        <p:spPr>
          <a:xfrm>
            <a:off x="579121" y="2700534"/>
            <a:ext cx="8945879" cy="975360"/>
          </a:xfrm>
        </p:spPr>
        <p:txBody>
          <a:bodyPr/>
          <a:lstStyle>
            <a:lvl1pPr>
              <a:defRPr sz="4400"/>
            </a:lvl1pPr>
          </a:lstStyle>
          <a:p>
            <a:pPr>
              <a:lnSpc>
                <a:spcPct val="85000"/>
              </a:lnSpc>
            </a:pPr>
            <a:r>
              <a:rPr lang="en-US">
                <a:solidFill>
                  <a:schemeClr val="tx1"/>
                </a:solidFill>
              </a:rPr>
              <a:t>Presentation Title</a:t>
            </a:r>
          </a:p>
        </p:txBody>
      </p:sp>
      <p:sp>
        <p:nvSpPr>
          <p:cNvPr id="32" name="Name, Title, Date">
            <a:extLst>
              <a:ext uri="{FF2B5EF4-FFF2-40B4-BE49-F238E27FC236}">
                <a16:creationId xmlns:a16="http://schemas.microsoft.com/office/drawing/2014/main" id="{2396738D-B05F-FC45-B1A8-82AA1CB933D0}"/>
              </a:ext>
            </a:extLst>
          </p:cNvPr>
          <p:cNvSpPr>
            <a:spLocks noGrp="1"/>
          </p:cNvSpPr>
          <p:nvPr>
            <p:ph type="subTitle" idx="1" hasCustomPrompt="1"/>
          </p:nvPr>
        </p:nvSpPr>
        <p:spPr>
          <a:xfrm>
            <a:off x="579121" y="4490866"/>
            <a:ext cx="7417990" cy="1092607"/>
          </a:xfrm>
        </p:spPr>
        <p:txBody>
          <a:bodyPr wrap="square">
            <a:spAutoFit/>
          </a:bodyPr>
          <a:lstStyle>
            <a:lvl1pPr marL="0" indent="0" algn="l">
              <a:spcBef>
                <a:spcPts val="300"/>
              </a:spcBef>
              <a:buNone/>
              <a:defRPr lang="en-US" sz="2000" b="0" i="0" kern="1200" baseline="0" dirty="0">
                <a:solidFill>
                  <a:schemeClr val="tx1"/>
                </a:solidFill>
                <a:latin typeface="Arial" charset="0"/>
                <a:ea typeface="Arial" charset="0"/>
                <a:cs typeface="Arial"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Name</a:t>
            </a:r>
          </a:p>
          <a:p>
            <a:r>
              <a:rPr lang="en-US"/>
              <a:t>Title</a:t>
            </a:r>
          </a:p>
          <a:p>
            <a:r>
              <a:rPr lang="en-US"/>
              <a:t>Date</a:t>
            </a:r>
          </a:p>
        </p:txBody>
      </p:sp>
      <p:pic>
        <p:nvPicPr>
          <p:cNvPr id="3" name="Picture 2">
            <a:extLst>
              <a:ext uri="{FF2B5EF4-FFF2-40B4-BE49-F238E27FC236}">
                <a16:creationId xmlns:a16="http://schemas.microsoft.com/office/drawing/2014/main" id="{E2C59811-BED7-2645-B53F-2ABD7993559A}"/>
              </a:ext>
            </a:extLst>
          </p:cNvPr>
          <p:cNvPicPr>
            <a:picLocks noChangeAspect="1"/>
          </p:cNvPicPr>
          <p:nvPr userDrawn="1"/>
        </p:nvPicPr>
        <p:blipFill>
          <a:blip r:embed="rId2"/>
          <a:stretch>
            <a:fillRect/>
          </a:stretch>
        </p:blipFill>
        <p:spPr>
          <a:xfrm>
            <a:off x="693414" y="498870"/>
            <a:ext cx="1092729" cy="676787"/>
          </a:xfrm>
          <a:prstGeom prst="rect">
            <a:avLst/>
          </a:prstGeom>
        </p:spPr>
      </p:pic>
    </p:spTree>
    <p:extLst>
      <p:ext uri="{BB962C8B-B14F-4D97-AF65-F5344CB8AC3E}">
        <p14:creationId xmlns:p14="http://schemas.microsoft.com/office/powerpoint/2010/main" val="327324659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EAD77-0876-4647-97DC-D93085BB1334}"/>
              </a:ext>
            </a:extLst>
          </p:cNvPr>
          <p:cNvSpPr>
            <a:spLocks noGrp="1"/>
          </p:cNvSpPr>
          <p:nvPr>
            <p:ph type="title" hasCustomPrompt="1"/>
          </p:nvPr>
        </p:nvSpPr>
        <p:spPr>
          <a:xfrm>
            <a:off x="579121" y="304800"/>
            <a:ext cx="7421878" cy="975360"/>
          </a:xfrm>
        </p:spPr>
        <p:txBody>
          <a:bodyPr/>
          <a:lstStyle>
            <a:lvl1pPr>
              <a:defRPr>
                <a:solidFill>
                  <a:schemeClr val="tx1"/>
                </a:solidFill>
              </a:defRPr>
            </a:lvl1pPr>
          </a:lstStyle>
          <a:p>
            <a:r>
              <a:rPr lang="en-US"/>
              <a:t>Agenda</a:t>
            </a:r>
          </a:p>
        </p:txBody>
      </p:sp>
      <p:sp>
        <p:nvSpPr>
          <p:cNvPr id="6" name="Rectangle 5"/>
          <p:cNvSpPr/>
          <p:nvPr userDrawn="1"/>
        </p:nvSpPr>
        <p:spPr>
          <a:xfrm>
            <a:off x="1" y="0"/>
            <a:ext cx="12192000" cy="853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 name="Content Placeholder 2"/>
          <p:cNvSpPr>
            <a:spLocks noGrp="1"/>
          </p:cNvSpPr>
          <p:nvPr>
            <p:ph idx="1"/>
          </p:nvPr>
        </p:nvSpPr>
        <p:spPr>
          <a:xfrm>
            <a:off x="579120" y="1733296"/>
            <a:ext cx="7421879" cy="3753104"/>
          </a:xfrm>
        </p:spPr>
        <p:txBody>
          <a:bodyPr/>
          <a:lstStyle>
            <a:lvl1pPr>
              <a:defRPr>
                <a:solidFill>
                  <a:schemeClr val="tx1"/>
                </a:solidFill>
              </a:defRPr>
            </a:lvl1pPr>
          </a:lstStyle>
          <a:p>
            <a:r>
              <a:rPr lang="en-US"/>
              <a:t>Agenda Item 1</a:t>
            </a:r>
          </a:p>
          <a:p>
            <a:r>
              <a:rPr lang="en-US"/>
              <a:t>Agenda Item 2</a:t>
            </a:r>
          </a:p>
          <a:p>
            <a:r>
              <a:rPr lang="en-US"/>
              <a:t>Agenda Item 3</a:t>
            </a:r>
          </a:p>
          <a:p>
            <a:r>
              <a:rPr lang="en-US"/>
              <a:t>Agenda Item 4</a:t>
            </a:r>
          </a:p>
          <a:p>
            <a:r>
              <a:rPr lang="en-US"/>
              <a:t>Agenda Item 5</a:t>
            </a:r>
          </a:p>
          <a:p>
            <a:r>
              <a:rPr lang="en-US"/>
              <a:t>Agenda Item 6</a:t>
            </a:r>
          </a:p>
        </p:txBody>
      </p:sp>
      <p:sp>
        <p:nvSpPr>
          <p:cNvPr id="7" name="Slide Number Placeholder 7">
            <a:extLst>
              <a:ext uri="{FF2B5EF4-FFF2-40B4-BE49-F238E27FC236}">
                <a16:creationId xmlns:a16="http://schemas.microsoft.com/office/drawing/2014/main" id="{ABB6A12D-7C57-432A-A9B9-59BB43A8D5BB}"/>
              </a:ext>
            </a:extLst>
          </p:cNvPr>
          <p:cNvSpPr>
            <a:spLocks noGrp="1"/>
          </p:cNvSpPr>
          <p:nvPr>
            <p:ph type="sldNum" sz="quarter" idx="4"/>
          </p:nvPr>
        </p:nvSpPr>
        <p:spPr>
          <a:xfrm>
            <a:off x="579120" y="6325606"/>
            <a:ext cx="2206217" cy="365125"/>
          </a:xfrm>
          <a:prstGeom prst="rect">
            <a:avLst/>
          </a:prstGeom>
        </p:spPr>
        <p:txBody>
          <a:bodyPr/>
          <a:lstStyle>
            <a:lvl1pPr>
              <a:defRPr sz="1200"/>
            </a:lvl1pPr>
          </a:lstStyle>
          <a:p>
            <a:pPr>
              <a:defRPr/>
            </a:pPr>
            <a:r>
              <a:rPr lang="en-US" dirty="0"/>
              <a:t>Intro to HLS 11- </a:t>
            </a:r>
            <a:fld id="{060BD193-E118-4B16-863C-C8C12C675E3E}" type="slidenum">
              <a:rPr lang="en-US" smtClean="0"/>
              <a:pPr>
                <a:defRPr/>
              </a:pPr>
              <a:t>‹#›</a:t>
            </a:fld>
            <a:endParaRPr lang="en-US" dirty="0"/>
          </a:p>
        </p:txBody>
      </p:sp>
    </p:spTree>
    <p:extLst>
      <p:ext uri="{BB962C8B-B14F-4D97-AF65-F5344CB8AC3E}">
        <p14:creationId xmlns:p14="http://schemas.microsoft.com/office/powerpoint/2010/main" val="1518320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EAD77-0876-4647-97DC-D93085BB1334}"/>
              </a:ext>
            </a:extLst>
          </p:cNvPr>
          <p:cNvSpPr>
            <a:spLocks noGrp="1"/>
          </p:cNvSpPr>
          <p:nvPr>
            <p:ph type="title"/>
          </p:nvPr>
        </p:nvSpPr>
        <p:spPr>
          <a:xfrm>
            <a:off x="579121" y="304800"/>
            <a:ext cx="11033760" cy="975360"/>
          </a:xfrm>
        </p:spPr>
        <p:txBody>
          <a:bodyPr/>
          <a:lstStyle/>
          <a:p>
            <a:r>
              <a:rPr lang="en-US"/>
              <a:t>Click to edit Master title style</a:t>
            </a:r>
          </a:p>
        </p:txBody>
      </p:sp>
      <p:sp>
        <p:nvSpPr>
          <p:cNvPr id="6" name="Rectangle 5"/>
          <p:cNvSpPr/>
          <p:nvPr userDrawn="1"/>
        </p:nvSpPr>
        <p:spPr>
          <a:xfrm>
            <a:off x="1" y="0"/>
            <a:ext cx="12192000" cy="853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 name="Slide Number Placeholder 7">
            <a:extLst>
              <a:ext uri="{FF2B5EF4-FFF2-40B4-BE49-F238E27FC236}">
                <a16:creationId xmlns:a16="http://schemas.microsoft.com/office/drawing/2014/main" id="{4BF5F320-951B-40EF-8850-2C89423EEEF9}"/>
              </a:ext>
            </a:extLst>
          </p:cNvPr>
          <p:cNvSpPr>
            <a:spLocks noGrp="1"/>
          </p:cNvSpPr>
          <p:nvPr>
            <p:ph type="sldNum" sz="quarter" idx="4"/>
          </p:nvPr>
        </p:nvSpPr>
        <p:spPr>
          <a:xfrm>
            <a:off x="579120" y="6325606"/>
            <a:ext cx="2206217" cy="365125"/>
          </a:xfrm>
          <a:prstGeom prst="rect">
            <a:avLst/>
          </a:prstGeom>
        </p:spPr>
        <p:txBody>
          <a:bodyPr/>
          <a:lstStyle>
            <a:lvl1pPr>
              <a:defRPr sz="1200"/>
            </a:lvl1pPr>
          </a:lstStyle>
          <a:p>
            <a:pPr>
              <a:defRPr/>
            </a:pPr>
            <a:r>
              <a:rPr lang="en-US" dirty="0"/>
              <a:t>Intro to HLS 11- </a:t>
            </a:r>
            <a:fld id="{060BD193-E118-4B16-863C-C8C12C675E3E}" type="slidenum">
              <a:rPr lang="en-US" smtClean="0"/>
              <a:pPr>
                <a:defRPr/>
              </a:pPr>
              <a:t>‹#›</a:t>
            </a:fld>
            <a:endParaRPr lang="en-US" dirty="0"/>
          </a:p>
        </p:txBody>
      </p:sp>
    </p:spTree>
    <p:extLst>
      <p:ext uri="{BB962C8B-B14F-4D97-AF65-F5344CB8AC3E}">
        <p14:creationId xmlns:p14="http://schemas.microsoft.com/office/powerpoint/2010/main" val="3400497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EAD77-0876-4647-97DC-D93085BB1334}"/>
              </a:ext>
            </a:extLst>
          </p:cNvPr>
          <p:cNvSpPr>
            <a:spLocks noGrp="1"/>
          </p:cNvSpPr>
          <p:nvPr>
            <p:ph type="title"/>
          </p:nvPr>
        </p:nvSpPr>
        <p:spPr>
          <a:xfrm>
            <a:off x="579121" y="304800"/>
            <a:ext cx="11033760" cy="975360"/>
          </a:xfrm>
        </p:spPr>
        <p:txBody>
          <a:bodyPr/>
          <a:lstStyle/>
          <a:p>
            <a:r>
              <a:rPr lang="en-US"/>
              <a:t>Click to edit Master title style</a:t>
            </a:r>
          </a:p>
        </p:txBody>
      </p:sp>
      <p:sp>
        <p:nvSpPr>
          <p:cNvPr id="4" name="Text Placeholder 2">
            <a:extLst>
              <a:ext uri="{FF2B5EF4-FFF2-40B4-BE49-F238E27FC236}">
                <a16:creationId xmlns:a16="http://schemas.microsoft.com/office/drawing/2014/main" id="{3A824BE7-9859-7240-83D5-846AECA2353C}"/>
              </a:ext>
            </a:extLst>
          </p:cNvPr>
          <p:cNvSpPr>
            <a:spLocks noGrp="1"/>
          </p:cNvSpPr>
          <p:nvPr>
            <p:ph idx="1"/>
          </p:nvPr>
        </p:nvSpPr>
        <p:spPr>
          <a:xfrm>
            <a:off x="579121" y="1470401"/>
            <a:ext cx="11033760" cy="4632960"/>
          </a:xfrm>
          <a:prstGeom prst="rect">
            <a:avLst/>
          </a:prstGeom>
        </p:spPr>
        <p:txBody>
          <a:bodyPr vert="horz" lIns="91440" tIns="45720" rIns="91440" bIns="45720" rtlCol="0">
            <a:noAutofit/>
          </a:bodyPr>
          <a:lstStyle>
            <a:lvl1pPr marL="234962" indent="-234962">
              <a:buSzPct val="80000"/>
              <a:buFont typeface="Webdings" panose="05030102010509060703" pitchFamily="18" charset="2"/>
              <a:buChar char=""/>
              <a:defRPr lang="en-US" dirty="0" smtClean="0"/>
            </a:lvl1pPr>
            <a:lvl2pPr marL="452989" indent="-220144">
              <a:buSzPct val="80000"/>
              <a:buFont typeface="Wingdings 3" panose="05040102010807070707" pitchFamily="18" charset="2"/>
              <a:buChar char=""/>
              <a:defRPr sz="2000"/>
            </a:lvl2pPr>
            <a:lvl3pPr marL="685835" indent="-232845">
              <a:buSzPct val="80000"/>
              <a:buFont typeface="Wingdings 3" panose="05040102010807070707" pitchFamily="18" charset="2"/>
              <a:buChar char="¬"/>
              <a:defRPr sz="1600"/>
            </a:lvl3pPr>
            <a:lvl4pPr marL="916563" indent="-230729">
              <a:buSzPct val="80000"/>
              <a:buFont typeface="Wingdings 3" panose="05040102010807070707" pitchFamily="18" charset="2"/>
              <a:buChar char="¬"/>
              <a:defRPr/>
            </a:lvl4pPr>
            <a:lvl5pPr marL="1138824" indent="-222262">
              <a:buSzPct val="80000"/>
              <a:buFont typeface="Wingdings 3" panose="05040102010807070707" pitchFamily="18" charset="2"/>
              <a:buChar cha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5"/>
          <p:cNvSpPr/>
          <p:nvPr userDrawn="1"/>
        </p:nvSpPr>
        <p:spPr>
          <a:xfrm>
            <a:off x="1" y="0"/>
            <a:ext cx="12192000" cy="853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 name="Slide Number Placeholder 7">
            <a:extLst>
              <a:ext uri="{FF2B5EF4-FFF2-40B4-BE49-F238E27FC236}">
                <a16:creationId xmlns:a16="http://schemas.microsoft.com/office/drawing/2014/main" id="{ED5EFC5F-ABC6-4D04-9AE5-05F33EA05105}"/>
              </a:ext>
            </a:extLst>
          </p:cNvPr>
          <p:cNvSpPr>
            <a:spLocks noGrp="1"/>
          </p:cNvSpPr>
          <p:nvPr>
            <p:ph type="sldNum" sz="quarter" idx="4"/>
          </p:nvPr>
        </p:nvSpPr>
        <p:spPr>
          <a:xfrm>
            <a:off x="579120" y="6325606"/>
            <a:ext cx="2206217" cy="365125"/>
          </a:xfrm>
          <a:prstGeom prst="rect">
            <a:avLst/>
          </a:prstGeom>
        </p:spPr>
        <p:txBody>
          <a:bodyPr/>
          <a:lstStyle>
            <a:lvl1pPr>
              <a:defRPr sz="1200"/>
            </a:lvl1pPr>
          </a:lstStyle>
          <a:p>
            <a:pPr>
              <a:defRPr/>
            </a:pPr>
            <a:r>
              <a:rPr lang="en-US" dirty="0"/>
              <a:t>Intro to HLS 11- </a:t>
            </a:r>
            <a:fld id="{060BD193-E118-4B16-863C-C8C12C675E3E}" type="slidenum">
              <a:rPr lang="en-US" smtClean="0"/>
              <a:pPr>
                <a:defRPr/>
              </a:pPr>
              <a:t>‹#›</a:t>
            </a:fld>
            <a:endParaRPr lang="en-US" dirty="0"/>
          </a:p>
        </p:txBody>
      </p:sp>
    </p:spTree>
    <p:extLst>
      <p:ext uri="{BB962C8B-B14F-4D97-AF65-F5344CB8AC3E}">
        <p14:creationId xmlns:p14="http://schemas.microsoft.com/office/powerpoint/2010/main" val="839187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79121" y="304800"/>
            <a:ext cx="11033760" cy="975360"/>
          </a:xfrm>
        </p:spPr>
        <p:txBody>
          <a:bodyPr/>
          <a:lstStyle/>
          <a:p>
            <a:r>
              <a:rPr lang="en-US"/>
              <a:t>Click to edit Master title style</a:t>
            </a:r>
          </a:p>
        </p:txBody>
      </p:sp>
      <p:sp>
        <p:nvSpPr>
          <p:cNvPr id="3" name="Content Placeholder 2"/>
          <p:cNvSpPr>
            <a:spLocks noGrp="1"/>
          </p:cNvSpPr>
          <p:nvPr>
            <p:ph sz="half" idx="1"/>
          </p:nvPr>
        </p:nvSpPr>
        <p:spPr>
          <a:xfrm>
            <a:off x="579120" y="1463041"/>
            <a:ext cx="5364480" cy="4632960"/>
          </a:xfrm>
          <a:prstGeom prst="rect">
            <a:avLst/>
          </a:prstGeom>
        </p:spPr>
        <p:txBody>
          <a:bodyPr>
            <a:noAutofit/>
          </a:bodyPr>
          <a:lstStyle>
            <a:lvl1pPr>
              <a:defRPr sz="2400">
                <a:solidFill>
                  <a:schemeClr val="tx1"/>
                </a:solidFill>
              </a:defRPr>
            </a:lvl1pPr>
            <a:lvl2pPr>
              <a:defRPr sz="20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48401" y="1463041"/>
            <a:ext cx="5364480" cy="4632960"/>
          </a:xfrm>
          <a:prstGeom prst="rect">
            <a:avLst/>
          </a:prstGeom>
        </p:spPr>
        <p:txBody>
          <a:bodyPr>
            <a:noAutofit/>
          </a:bodyPr>
          <a:lstStyle>
            <a:lvl1pPr>
              <a:defRPr sz="2400">
                <a:solidFill>
                  <a:schemeClr val="tx1"/>
                </a:solidFill>
              </a:defRPr>
            </a:lvl1pPr>
            <a:lvl2pPr>
              <a:defRPr sz="20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Rectangle 8"/>
          <p:cNvSpPr/>
          <p:nvPr userDrawn="1"/>
        </p:nvSpPr>
        <p:spPr>
          <a:xfrm>
            <a:off x="1" y="0"/>
            <a:ext cx="12192000" cy="853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8" name="Slide Number Placeholder 7">
            <a:extLst>
              <a:ext uri="{FF2B5EF4-FFF2-40B4-BE49-F238E27FC236}">
                <a16:creationId xmlns:a16="http://schemas.microsoft.com/office/drawing/2014/main" id="{286F7ABA-482C-42D3-9BB9-1CB0DC2FA137}"/>
              </a:ext>
            </a:extLst>
          </p:cNvPr>
          <p:cNvSpPr>
            <a:spLocks noGrp="1"/>
          </p:cNvSpPr>
          <p:nvPr>
            <p:ph type="sldNum" sz="quarter" idx="4"/>
          </p:nvPr>
        </p:nvSpPr>
        <p:spPr>
          <a:xfrm>
            <a:off x="579120" y="6325606"/>
            <a:ext cx="2206217" cy="365125"/>
          </a:xfrm>
          <a:prstGeom prst="rect">
            <a:avLst/>
          </a:prstGeom>
        </p:spPr>
        <p:txBody>
          <a:bodyPr/>
          <a:lstStyle>
            <a:lvl1pPr>
              <a:defRPr sz="1200"/>
            </a:lvl1pPr>
          </a:lstStyle>
          <a:p>
            <a:pPr>
              <a:defRPr/>
            </a:pPr>
            <a:r>
              <a:rPr lang="en-US" dirty="0"/>
              <a:t>Intro to HLS 11- </a:t>
            </a:r>
            <a:fld id="{060BD193-E118-4B16-863C-C8C12C675E3E}" type="slidenum">
              <a:rPr lang="en-US" smtClean="0"/>
              <a:pPr>
                <a:defRPr/>
              </a:pPr>
              <a:t>‹#›</a:t>
            </a:fld>
            <a:endParaRPr lang="en-US" dirty="0"/>
          </a:p>
        </p:txBody>
      </p:sp>
    </p:spTree>
    <p:extLst>
      <p:ext uri="{BB962C8B-B14F-4D97-AF65-F5344CB8AC3E}">
        <p14:creationId xmlns:p14="http://schemas.microsoft.com/office/powerpoint/2010/main" val="4223070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tx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5D42470-3AEB-A94C-96B8-18E2C7C25164}"/>
              </a:ext>
            </a:extLst>
          </p:cNvPr>
          <p:cNvSpPr/>
          <p:nvPr userDrawn="1"/>
        </p:nvSpPr>
        <p:spPr>
          <a:xfrm>
            <a:off x="10058400" y="6109945"/>
            <a:ext cx="1752600" cy="6621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BC665AB6-C348-1649-BCA3-AB4427CB838C}"/>
              </a:ext>
            </a:extLst>
          </p:cNvPr>
          <p:cNvPicPr>
            <a:picLocks noChangeAspect="1"/>
          </p:cNvPicPr>
          <p:nvPr userDrawn="1"/>
        </p:nvPicPr>
        <p:blipFill>
          <a:blip r:embed="rId2"/>
          <a:stretch>
            <a:fillRect/>
          </a:stretch>
        </p:blipFill>
        <p:spPr>
          <a:xfrm>
            <a:off x="11028822" y="6279369"/>
            <a:ext cx="576532" cy="357078"/>
          </a:xfrm>
          <a:prstGeom prst="rect">
            <a:avLst/>
          </a:prstGeom>
        </p:spPr>
      </p:pic>
      <p:sp>
        <p:nvSpPr>
          <p:cNvPr id="6" name="Title 1">
            <a:extLst>
              <a:ext uri="{FF2B5EF4-FFF2-40B4-BE49-F238E27FC236}">
                <a16:creationId xmlns:a16="http://schemas.microsoft.com/office/drawing/2014/main" id="{61320318-DA78-471F-8076-1A95C5254529}"/>
              </a:ext>
            </a:extLst>
          </p:cNvPr>
          <p:cNvSpPr>
            <a:spLocks noGrp="1"/>
          </p:cNvSpPr>
          <p:nvPr>
            <p:ph type="title" hasCustomPrompt="1"/>
          </p:nvPr>
        </p:nvSpPr>
        <p:spPr>
          <a:xfrm>
            <a:off x="428807" y="3124200"/>
            <a:ext cx="11093827" cy="701040"/>
          </a:xfrm>
        </p:spPr>
        <p:txBody>
          <a:bodyPr anchor="b">
            <a:noAutofit/>
          </a:bodyPr>
          <a:lstStyle>
            <a:lvl1pPr>
              <a:defRPr lang="en-US" sz="4201" b="1" i="0" kern="1200" dirty="0">
                <a:solidFill>
                  <a:schemeClr val="bg1"/>
                </a:solidFill>
                <a:latin typeface="Arial" charset="0"/>
                <a:ea typeface="+mj-ea"/>
                <a:cs typeface="Arial" charset="0"/>
              </a:defRPr>
            </a:lvl1pPr>
          </a:lstStyle>
          <a:p>
            <a:r>
              <a:rPr lang="en-US"/>
              <a:t>Simple Statement</a:t>
            </a:r>
          </a:p>
        </p:txBody>
      </p:sp>
    </p:spTree>
    <p:extLst>
      <p:ext uri="{BB962C8B-B14F-4D97-AF65-F5344CB8AC3E}">
        <p14:creationId xmlns:p14="http://schemas.microsoft.com/office/powerpoint/2010/main" val="3449519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Header (with Picture)">
    <p:bg>
      <p:bgPr>
        <a:solidFill>
          <a:schemeClr val="tx2"/>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6512AD6E-7A81-4D46-A4DC-BC3429D8CFF8}"/>
              </a:ext>
            </a:extLst>
          </p:cNvPr>
          <p:cNvSpPr>
            <a:spLocks noGrp="1"/>
          </p:cNvSpPr>
          <p:nvPr>
            <p:ph type="title" hasCustomPrompt="1"/>
          </p:nvPr>
        </p:nvSpPr>
        <p:spPr>
          <a:xfrm>
            <a:off x="428807" y="3124200"/>
            <a:ext cx="5514793" cy="701040"/>
          </a:xfrm>
        </p:spPr>
        <p:txBody>
          <a:bodyPr anchor="b">
            <a:noAutofit/>
          </a:bodyPr>
          <a:lstStyle>
            <a:lvl1pPr>
              <a:defRPr lang="en-US" sz="4201" b="1" i="0" kern="1200" dirty="0">
                <a:solidFill>
                  <a:schemeClr val="bg1"/>
                </a:solidFill>
                <a:latin typeface="Arial" charset="0"/>
                <a:ea typeface="+mj-ea"/>
                <a:cs typeface="Arial" charset="0"/>
              </a:defRPr>
            </a:lvl1pPr>
          </a:lstStyle>
          <a:p>
            <a:r>
              <a:rPr lang="en-US"/>
              <a:t>Simple Statement</a:t>
            </a:r>
          </a:p>
        </p:txBody>
      </p:sp>
      <p:sp>
        <p:nvSpPr>
          <p:cNvPr id="6" name="Picture Placeholder 14">
            <a:extLst>
              <a:ext uri="{FF2B5EF4-FFF2-40B4-BE49-F238E27FC236}">
                <a16:creationId xmlns:a16="http://schemas.microsoft.com/office/drawing/2014/main" id="{89EAEFDD-B284-E94B-8F1D-D7E1627370F6}"/>
              </a:ext>
            </a:extLst>
          </p:cNvPr>
          <p:cNvSpPr>
            <a:spLocks noGrp="1"/>
          </p:cNvSpPr>
          <p:nvPr>
            <p:ph type="pic" sz="quarter" idx="13" hasCustomPrompt="1"/>
          </p:nvPr>
        </p:nvSpPr>
        <p:spPr>
          <a:xfrm>
            <a:off x="6581768" y="1558290"/>
            <a:ext cx="4457700" cy="3741422"/>
          </a:xfrm>
          <a:prstGeom prst="rect">
            <a:avLst/>
          </a:prstGeom>
          <a:noFill/>
        </p:spPr>
        <p:txBody>
          <a:bodyPr vert="horz" lIns="91440" tIns="1371600" rIns="91440" bIns="0" rtlCol="0" anchor="ctr" anchorCtr="0">
            <a:noAutofit/>
          </a:bodyPr>
          <a:lstStyle>
            <a:lvl1pPr marL="309026" indent="-309026" algn="ctr">
              <a:buNone/>
              <a:defRPr lang="en-US" sz="1867" dirty="0">
                <a:solidFill>
                  <a:schemeClr val="bg1"/>
                </a:solidFill>
              </a:defRPr>
            </a:lvl1pPr>
          </a:lstStyle>
          <a:p>
            <a:pPr marL="0" marR="0" lvl="0" indent="0" algn="ctr" defTabSz="1219170" rtl="0" eaLnBrk="1" fontAlgn="auto" latinLnBrk="0" hangingPunct="1">
              <a:lnSpc>
                <a:spcPct val="100000"/>
              </a:lnSpc>
              <a:spcBef>
                <a:spcPts val="1600"/>
              </a:spcBef>
              <a:spcAft>
                <a:spcPts val="0"/>
              </a:spcAft>
              <a:buClr>
                <a:schemeClr val="accent1"/>
              </a:buClr>
              <a:buSzPct val="100000"/>
              <a:tabLst/>
              <a:defRPr/>
            </a:pPr>
            <a:r>
              <a:rPr lang="en-US"/>
              <a:t>Click icon to add picture</a:t>
            </a:r>
          </a:p>
        </p:txBody>
      </p:sp>
      <p:sp>
        <p:nvSpPr>
          <p:cNvPr id="7" name="Rectangle 6">
            <a:extLst>
              <a:ext uri="{FF2B5EF4-FFF2-40B4-BE49-F238E27FC236}">
                <a16:creationId xmlns:a16="http://schemas.microsoft.com/office/drawing/2014/main" id="{645E7C71-1267-7F46-A82A-631E19E556BC}"/>
              </a:ext>
            </a:extLst>
          </p:cNvPr>
          <p:cNvSpPr/>
          <p:nvPr userDrawn="1"/>
        </p:nvSpPr>
        <p:spPr>
          <a:xfrm>
            <a:off x="10058400" y="6109945"/>
            <a:ext cx="1752600" cy="6621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E1AC8721-E11C-7940-A173-0F10C27BA8A2}"/>
              </a:ext>
            </a:extLst>
          </p:cNvPr>
          <p:cNvPicPr>
            <a:picLocks noChangeAspect="1"/>
          </p:cNvPicPr>
          <p:nvPr userDrawn="1"/>
        </p:nvPicPr>
        <p:blipFill>
          <a:blip r:embed="rId2"/>
          <a:stretch>
            <a:fillRect/>
          </a:stretch>
        </p:blipFill>
        <p:spPr>
          <a:xfrm>
            <a:off x="11028822" y="6279369"/>
            <a:ext cx="576532" cy="357078"/>
          </a:xfrm>
          <a:prstGeom prst="rect">
            <a:avLst/>
          </a:prstGeom>
        </p:spPr>
      </p:pic>
    </p:spTree>
    <p:extLst>
      <p:ext uri="{BB962C8B-B14F-4D97-AF65-F5344CB8AC3E}">
        <p14:creationId xmlns:p14="http://schemas.microsoft.com/office/powerpoint/2010/main" val="1578451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End Slide">
    <p:bg>
      <p:bgPr>
        <a:solidFill>
          <a:schemeClr val="tx2"/>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62F0434C-4CE7-42D1-965D-0265C29B04F3}"/>
              </a:ext>
            </a:extLst>
          </p:cNvPr>
          <p:cNvGrpSpPr/>
          <p:nvPr/>
        </p:nvGrpSpPr>
        <p:grpSpPr>
          <a:xfrm>
            <a:off x="640118" y="3628208"/>
            <a:ext cx="5608321" cy="1019992"/>
            <a:chOff x="480089" y="2568756"/>
            <a:chExt cx="4206240" cy="764994"/>
          </a:xfrm>
        </p:grpSpPr>
        <p:sp>
          <p:nvSpPr>
            <p:cNvPr id="13" name="Rectangle 12">
              <a:extLst>
                <a:ext uri="{FF2B5EF4-FFF2-40B4-BE49-F238E27FC236}">
                  <a16:creationId xmlns:a16="http://schemas.microsoft.com/office/drawing/2014/main" id="{5E88497C-C551-4465-9953-8BC43D9E0208}"/>
                </a:ext>
              </a:extLst>
            </p:cNvPr>
            <p:cNvSpPr/>
            <p:nvPr/>
          </p:nvSpPr>
          <p:spPr>
            <a:xfrm>
              <a:off x="480089" y="2841307"/>
              <a:ext cx="4206240" cy="492443"/>
            </a:xfrm>
            <a:prstGeom prst="rect">
              <a:avLst/>
            </a:prstGeom>
          </p:spPr>
          <p:txBody>
            <a:bodyPr vert="horz" lIns="91440" tIns="45720" rIns="91440" bIns="45720" rtlCol="0" anchor="ctr">
              <a:noAutofit/>
            </a:bodyPr>
            <a:lstStyle/>
            <a:p>
              <a:r>
                <a:rPr lang="en-US" sz="4800" b="1" spc="100">
                  <a:solidFill>
                    <a:schemeClr val="bg1"/>
                  </a:solidFill>
                </a:rPr>
                <a:t>Thank You</a:t>
              </a:r>
            </a:p>
          </p:txBody>
        </p:sp>
        <p:cxnSp>
          <p:nvCxnSpPr>
            <p:cNvPr id="15" name="Straight Connector 14">
              <a:extLst>
                <a:ext uri="{FF2B5EF4-FFF2-40B4-BE49-F238E27FC236}">
                  <a16:creationId xmlns:a16="http://schemas.microsoft.com/office/drawing/2014/main" id="{1AF6007A-E1A7-46F3-B830-C81E32C3CF47}"/>
                </a:ext>
              </a:extLst>
            </p:cNvPr>
            <p:cNvCxnSpPr>
              <a:cxnSpLocks/>
            </p:cNvCxnSpPr>
            <p:nvPr/>
          </p:nvCxnSpPr>
          <p:spPr>
            <a:xfrm>
              <a:off x="520059" y="2568756"/>
              <a:ext cx="825801" cy="0"/>
            </a:xfrm>
            <a:prstGeom prst="line">
              <a:avLst/>
            </a:prstGeom>
            <a:ln w="22225"/>
          </p:spPr>
          <p:style>
            <a:lnRef idx="1">
              <a:schemeClr val="accent1"/>
            </a:lnRef>
            <a:fillRef idx="0">
              <a:schemeClr val="accent1"/>
            </a:fillRef>
            <a:effectRef idx="0">
              <a:schemeClr val="accent1"/>
            </a:effectRef>
            <a:fontRef idx="minor">
              <a:schemeClr val="tx1"/>
            </a:fontRef>
          </p:style>
        </p:cxnSp>
      </p:grpSp>
      <p:sp>
        <p:nvSpPr>
          <p:cNvPr id="7" name="Rectangle 6">
            <a:extLst>
              <a:ext uri="{FF2B5EF4-FFF2-40B4-BE49-F238E27FC236}">
                <a16:creationId xmlns:a16="http://schemas.microsoft.com/office/drawing/2014/main" id="{592EA454-74F4-0847-8EA2-1E94A436814E}"/>
              </a:ext>
            </a:extLst>
          </p:cNvPr>
          <p:cNvSpPr/>
          <p:nvPr userDrawn="1"/>
        </p:nvSpPr>
        <p:spPr>
          <a:xfrm>
            <a:off x="10058400" y="6109945"/>
            <a:ext cx="1752600" cy="6621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D042C449-64BB-9849-8FF2-4E5299BD1AF1}"/>
              </a:ext>
            </a:extLst>
          </p:cNvPr>
          <p:cNvPicPr>
            <a:picLocks noChangeAspect="1"/>
          </p:cNvPicPr>
          <p:nvPr userDrawn="1"/>
        </p:nvPicPr>
        <p:blipFill>
          <a:blip r:embed="rId2"/>
          <a:stretch>
            <a:fillRect/>
          </a:stretch>
        </p:blipFill>
        <p:spPr>
          <a:xfrm>
            <a:off x="693411" y="2176340"/>
            <a:ext cx="1569578" cy="972126"/>
          </a:xfrm>
          <a:prstGeom prst="rect">
            <a:avLst/>
          </a:prstGeom>
        </p:spPr>
      </p:pic>
    </p:spTree>
    <p:extLst>
      <p:ext uri="{BB962C8B-B14F-4D97-AF65-F5344CB8AC3E}">
        <p14:creationId xmlns:p14="http://schemas.microsoft.com/office/powerpoint/2010/main" val="3634648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sclaimer and Attribution">
    <p:bg>
      <p:bgPr>
        <a:solidFill>
          <a:schemeClr val="tx2"/>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E88497C-C551-4465-9953-8BC43D9E0208}"/>
              </a:ext>
            </a:extLst>
          </p:cNvPr>
          <p:cNvSpPr/>
          <p:nvPr/>
        </p:nvSpPr>
        <p:spPr>
          <a:xfrm>
            <a:off x="622291" y="2393810"/>
            <a:ext cx="5608321" cy="656591"/>
          </a:xfrm>
          <a:prstGeom prst="rect">
            <a:avLst/>
          </a:prstGeom>
        </p:spPr>
        <p:txBody>
          <a:bodyPr vert="horz" lIns="91440" tIns="45720" rIns="91440" bIns="45720" rtlCol="0" anchor="ctr">
            <a:noAutofit/>
          </a:bodyPr>
          <a:lstStyle/>
          <a:p>
            <a:r>
              <a:rPr lang="en-US" sz="2400" b="1" i="0" u="none" strike="noStrike" kern="1200" dirty="0">
                <a:solidFill>
                  <a:schemeClr val="bg1"/>
                </a:solidFill>
                <a:effectLst/>
                <a:latin typeface="+mn-lt"/>
                <a:ea typeface="+mn-ea"/>
                <a:cs typeface="+mn-cs"/>
              </a:rPr>
              <a:t>Disclaimer and Attribution</a:t>
            </a:r>
            <a:endParaRPr lang="en-US" sz="2400" b="0" i="0" u="none" strike="noStrike" kern="1200" dirty="0">
              <a:solidFill>
                <a:schemeClr val="bg1"/>
              </a:solidFill>
              <a:effectLst/>
              <a:latin typeface="+mn-lt"/>
              <a:ea typeface="+mn-ea"/>
              <a:cs typeface="+mn-cs"/>
            </a:endParaRPr>
          </a:p>
        </p:txBody>
      </p:sp>
      <p:sp>
        <p:nvSpPr>
          <p:cNvPr id="7" name="Rectangle 6">
            <a:extLst>
              <a:ext uri="{FF2B5EF4-FFF2-40B4-BE49-F238E27FC236}">
                <a16:creationId xmlns:a16="http://schemas.microsoft.com/office/drawing/2014/main" id="{592EA454-74F4-0847-8EA2-1E94A436814E}"/>
              </a:ext>
            </a:extLst>
          </p:cNvPr>
          <p:cNvSpPr/>
          <p:nvPr userDrawn="1"/>
        </p:nvSpPr>
        <p:spPr>
          <a:xfrm>
            <a:off x="10058400" y="6109945"/>
            <a:ext cx="1752600" cy="6621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D042C449-64BB-9849-8FF2-4E5299BD1AF1}"/>
              </a:ext>
            </a:extLst>
          </p:cNvPr>
          <p:cNvPicPr>
            <a:picLocks noChangeAspect="1"/>
          </p:cNvPicPr>
          <p:nvPr userDrawn="1"/>
        </p:nvPicPr>
        <p:blipFill>
          <a:blip r:embed="rId2"/>
          <a:stretch>
            <a:fillRect/>
          </a:stretch>
        </p:blipFill>
        <p:spPr>
          <a:xfrm>
            <a:off x="693411" y="5892800"/>
            <a:ext cx="885113" cy="548199"/>
          </a:xfrm>
          <a:prstGeom prst="rect">
            <a:avLst/>
          </a:prstGeom>
        </p:spPr>
      </p:pic>
      <p:sp>
        <p:nvSpPr>
          <p:cNvPr id="11" name="Rectangle 10">
            <a:extLst>
              <a:ext uri="{FF2B5EF4-FFF2-40B4-BE49-F238E27FC236}">
                <a16:creationId xmlns:a16="http://schemas.microsoft.com/office/drawing/2014/main" id="{1E782F75-D84E-E645-83B8-15BBE61BA1E7}"/>
              </a:ext>
            </a:extLst>
          </p:cNvPr>
          <p:cNvSpPr/>
          <p:nvPr userDrawn="1"/>
        </p:nvSpPr>
        <p:spPr>
          <a:xfrm>
            <a:off x="622291" y="3172950"/>
            <a:ext cx="11102349" cy="2238036"/>
          </a:xfrm>
          <a:prstGeom prst="rect">
            <a:avLst/>
          </a:prstGeom>
        </p:spPr>
        <p:txBody>
          <a:bodyPr vert="horz" lIns="91440" tIns="45720" rIns="91440" bIns="45720" rtlCol="0" anchor="ctr">
            <a:noAutofit/>
          </a:bodyPr>
          <a:lstStyle/>
          <a:p>
            <a:pPr marL="0" marR="0" lvl="0" indent="0" algn="l" defTabSz="1219261" rtl="0" eaLnBrk="1" fontAlgn="auto" latinLnBrk="0" hangingPunct="1">
              <a:lnSpc>
                <a:spcPct val="100000"/>
              </a:lnSpc>
              <a:spcBef>
                <a:spcPts val="300"/>
              </a:spcBef>
              <a:spcAft>
                <a:spcPts val="0"/>
              </a:spcAft>
              <a:buClr>
                <a:srgbClr val="E20000"/>
              </a:buClr>
              <a:buSzPct val="80000"/>
              <a:buFont typeface="Webdings" panose="05030102010509060703" pitchFamily="18" charset="2"/>
              <a:buNone/>
              <a:tabLst/>
              <a:defRPr/>
            </a:pPr>
            <a:r>
              <a:rPr kumimoji="0" lang="en-US" sz="1200" b="0" i="0" u="none" strike="noStrike" kern="1200" cap="none" spc="0" normalizeH="0" baseline="0" noProof="0" dirty="0">
                <a:ln>
                  <a:noFill/>
                </a:ln>
                <a:solidFill>
                  <a:srgbClr val="FFFFFF"/>
                </a:solidFill>
                <a:effectLst/>
                <a:uLnTx/>
                <a:uFillTx/>
                <a:latin typeface="Arial" charset="0"/>
                <a:cs typeface="Arial" charset="0"/>
              </a:rPr>
              <a:t>The information contained herein is for informational purposes only and is subject to change without notice. While every precaution has been taken in the preparation of this document, it may contain technical inaccuracies, omissions and typographical errors, and AMD is under no obligation to update or otherwise correct this information. Advanced Micro Devices, Inc. makes no representations or warranties with respect to the accuracy or completeness of the contents of this document, and assumes no liability of any kind, including the implied warranties of noninfringement, merchantability or fitness for particular purposes, with respect to the operation or use of AMD hardware, software or other products described herein. No license, including implied or arising by estoppel, to any intellectual property rights is granted by this document. Terms and limitations applicable to the purchase or use of AMD’s products are as set forth in a signed agreement between the parties or in AMD's Standard Terms and Conditions of Sale. GD-18</a:t>
            </a:r>
          </a:p>
          <a:p>
            <a:pPr marL="0" marR="0" lvl="0" indent="0" algn="l" defTabSz="1219261" rtl="0" eaLnBrk="1" fontAlgn="auto" latinLnBrk="0" hangingPunct="1">
              <a:lnSpc>
                <a:spcPct val="100000"/>
              </a:lnSpc>
              <a:spcBef>
                <a:spcPts val="1600"/>
              </a:spcBef>
              <a:spcAft>
                <a:spcPts val="0"/>
              </a:spcAft>
              <a:buClr>
                <a:srgbClr val="E20000"/>
              </a:buClr>
              <a:buSzPct val="80000"/>
              <a:buFont typeface="Webdings" panose="05030102010509060703" pitchFamily="18" charset="2"/>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Copyright 2021 Advanced Micro Devices, Inc.  All rights reserved.  Xilinx, the Xilinx logo, AMD, the AMD Arrow logo, </a:t>
            </a:r>
            <a:r>
              <a:rPr kumimoji="0" lang="en-US" sz="1200" b="0"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Alveo</a:t>
            </a: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1200" b="0"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Artix</a:t>
            </a: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1200" b="0"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Kintex</a:t>
            </a: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1200" b="0"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Kria</a:t>
            </a: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Spartan, Versal, Vitis, </a:t>
            </a:r>
            <a:r>
              <a:rPr kumimoji="0" lang="en-US" sz="1200" b="0"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Virtex</a:t>
            </a: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1200" b="0"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Vivado</a:t>
            </a: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Zynq, and other designated brands included herein are trademarks of Advanced Micro Devices, Inc.  Other product names used in this publication are for identification purposes only and may be trademarks of their respective companies.  </a:t>
            </a:r>
            <a:endParaRPr kumimoji="0" lang="en-US" sz="1200" b="0" i="0" u="none" strike="noStrike" kern="1200" cap="none" spc="0" normalizeH="0" baseline="0" noProof="0" dirty="0">
              <a:ln>
                <a:noFill/>
              </a:ln>
              <a:solidFill>
                <a:srgbClr val="00B2BA"/>
              </a:solidFill>
              <a:effectLst/>
              <a:uLnTx/>
              <a:uFillTx/>
              <a:latin typeface="Arial" panose="020B0604020202020204" pitchFamily="34" charset="0"/>
              <a:ea typeface="+mn-ea"/>
              <a:cs typeface="Arial" panose="020B0604020202020204" pitchFamily="34" charset="0"/>
            </a:endParaRPr>
          </a:p>
          <a:p>
            <a:pPr marL="0" marR="0" lvl="0" indent="0" algn="l" defTabSz="1219261" rtl="0" eaLnBrk="1" fontAlgn="auto" latinLnBrk="0" hangingPunct="1">
              <a:lnSpc>
                <a:spcPct val="100000"/>
              </a:lnSpc>
              <a:spcBef>
                <a:spcPts val="300"/>
              </a:spcBef>
              <a:spcAft>
                <a:spcPts val="0"/>
              </a:spcAft>
              <a:buClr>
                <a:srgbClr val="E20000"/>
              </a:buClr>
              <a:buSzPct val="80000"/>
              <a:buFont typeface="Webdings" panose="05030102010509060703" pitchFamily="18" charset="2"/>
              <a:buNone/>
              <a:tabLst/>
              <a:defRPr/>
            </a:pPr>
            <a:endParaRPr kumimoji="0" lang="en-US" sz="1200" b="0" i="0" u="none" strike="noStrike" kern="1200" cap="none" spc="0" normalizeH="0" baseline="0" noProof="0" dirty="0">
              <a:ln>
                <a:noFill/>
              </a:ln>
              <a:solidFill>
                <a:srgbClr val="FFFFFF"/>
              </a:solidFill>
              <a:effectLst/>
              <a:uLnTx/>
              <a:uFillTx/>
              <a:latin typeface="Arial" charset="0"/>
              <a:cs typeface="Arial" charset="0"/>
            </a:endParaRPr>
          </a:p>
        </p:txBody>
      </p:sp>
    </p:spTree>
    <p:extLst>
      <p:ext uri="{BB962C8B-B14F-4D97-AF65-F5344CB8AC3E}">
        <p14:creationId xmlns:p14="http://schemas.microsoft.com/office/powerpoint/2010/main" val="3320308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Title and Content (WHI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Content Placeholder 2"/>
          <p:cNvSpPr>
            <a:spLocks noGrp="1"/>
          </p:cNvSpPr>
          <p:nvPr>
            <p:ph idx="1"/>
          </p:nvPr>
        </p:nvSpPr>
        <p:spPr>
          <a:xfrm>
            <a:off x="647700" y="1463040"/>
            <a:ext cx="10515600" cy="4759404"/>
          </a:xfrm>
        </p:spPr>
        <p:txBody>
          <a:bodyPr/>
          <a:lstStyle>
            <a:lvl1pPr>
              <a:defRPr>
                <a:solidFill>
                  <a:schemeClr val="tx1"/>
                </a:solidFill>
              </a:defRPr>
            </a:lvl1pPr>
            <a:lvl2pPr>
              <a:defRPr>
                <a:solidFill>
                  <a:schemeClr val="tx1"/>
                </a:solidFill>
              </a:defRPr>
            </a:lvl2pPr>
            <a:lvl3pPr>
              <a:defRPr sz="1600">
                <a:solidFill>
                  <a:schemeClr val="tx1"/>
                </a:solidFill>
              </a:defRPr>
            </a:lvl3pPr>
            <a:lvl4pPr>
              <a:defRPr sz="1400">
                <a:solidFill>
                  <a:schemeClr val="tx1"/>
                </a:solidFill>
              </a:defRPr>
            </a:lvl4pPr>
            <a:lvl5pPr>
              <a:tabLst>
                <a:tab pos="2626525" algn="l"/>
              </a:tabLst>
              <a:defRPr sz="1400">
                <a:solidFill>
                  <a:schemeClr val="tx1"/>
                </a:solidFill>
              </a:defRPr>
            </a:lvl5p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9" name="Slide Number Placeholder 8"/>
          <p:cNvSpPr>
            <a:spLocks noGrp="1"/>
          </p:cNvSpPr>
          <p:nvPr>
            <p:ph type="sldNum" sz="quarter" idx="10"/>
          </p:nvPr>
        </p:nvSpPr>
        <p:spPr>
          <a:xfrm>
            <a:off x="579121" y="6325606"/>
            <a:ext cx="975360" cy="365125"/>
          </a:xfrm>
          <a:prstGeom prst="rect">
            <a:avLst/>
          </a:prstGeom>
        </p:spPr>
        <p:txBody>
          <a:bodyPr/>
          <a:lstStyle/>
          <a:p>
            <a:pPr>
              <a:defRPr/>
            </a:pPr>
            <a:r>
              <a:rPr lang="en-US"/>
              <a:t>Coding Considerations 23- </a:t>
            </a:r>
            <a:fld id="{060BD193-E118-4B16-863C-C8C12C675E3E}" type="slidenum">
              <a:rPr lang="en-US" smtClean="0"/>
              <a:pPr>
                <a:defRPr/>
              </a:pPr>
              <a:t>‹#›</a:t>
            </a:fld>
            <a:endParaRPr lang="en-US" dirty="0"/>
          </a:p>
        </p:txBody>
      </p:sp>
    </p:spTree>
    <p:extLst>
      <p:ext uri="{BB962C8B-B14F-4D97-AF65-F5344CB8AC3E}">
        <p14:creationId xmlns:p14="http://schemas.microsoft.com/office/powerpoint/2010/main" val="1955381997"/>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Two Content (WHI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Content Placeholder 2"/>
          <p:cNvSpPr>
            <a:spLocks noGrp="1"/>
          </p:cNvSpPr>
          <p:nvPr>
            <p:ph sz="half" idx="1"/>
          </p:nvPr>
        </p:nvSpPr>
        <p:spPr>
          <a:xfrm>
            <a:off x="621793" y="1463042"/>
            <a:ext cx="5181600" cy="4835843"/>
          </a:xfrm>
        </p:spPr>
        <p:txBody>
          <a:bodyPr/>
          <a:lstStyle>
            <a:lvl1pPr>
              <a:defRPr sz="1799">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5955793" y="1463042"/>
            <a:ext cx="5181600" cy="4835843"/>
          </a:xfrm>
        </p:spPr>
        <p:txBody>
          <a:bodyPr/>
          <a:lstStyle>
            <a:lvl1pPr>
              <a:defRPr sz="1799">
                <a:solidFill>
                  <a:schemeClr val="tx1"/>
                </a:solidFill>
              </a:defRPr>
            </a:lvl1pPr>
            <a:lvl2pPr>
              <a:defRPr sz="1600">
                <a:solidFill>
                  <a:schemeClr val="tx1"/>
                </a:solidFill>
              </a:defRPr>
            </a:lvl2pPr>
            <a:lvl3pPr>
              <a:defRPr sz="1799">
                <a:solidFill>
                  <a:schemeClr val="tx1"/>
                </a:solidFill>
              </a:defRPr>
            </a:lvl3pPr>
            <a:lvl4pPr>
              <a:defRPr sz="1600">
                <a:solidFill>
                  <a:schemeClr val="tx1"/>
                </a:solidFill>
              </a:defRPr>
            </a:lvl4pPr>
            <a:lvl5pPr>
              <a:defRPr sz="1600">
                <a:solidFill>
                  <a:schemeClr val="tx1"/>
                </a:solidFill>
              </a:defRPr>
            </a:lvl5p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9" name="Slide Number Placeholder 8"/>
          <p:cNvSpPr>
            <a:spLocks noGrp="1"/>
          </p:cNvSpPr>
          <p:nvPr>
            <p:ph type="sldNum" sz="quarter" idx="10"/>
          </p:nvPr>
        </p:nvSpPr>
        <p:spPr>
          <a:xfrm>
            <a:off x="579121" y="6325606"/>
            <a:ext cx="975360" cy="365125"/>
          </a:xfrm>
          <a:prstGeom prst="rect">
            <a:avLst/>
          </a:prstGeom>
        </p:spPr>
        <p:txBody>
          <a:bodyPr/>
          <a:lstStyle/>
          <a:p>
            <a:pPr>
              <a:defRPr/>
            </a:pPr>
            <a:r>
              <a:rPr lang="en-US"/>
              <a:t>Coding Considerations 23- </a:t>
            </a:r>
            <a:fld id="{060BD193-E118-4B16-863C-C8C12C675E3E}" type="slidenum">
              <a:rPr lang="en-US" smtClean="0"/>
              <a:pPr>
                <a:defRPr/>
              </a:pPr>
              <a:t>‹#›</a:t>
            </a:fld>
            <a:endParaRPr lang="en-US" dirty="0"/>
          </a:p>
        </p:txBody>
      </p:sp>
    </p:spTree>
    <p:extLst>
      <p:ext uri="{BB962C8B-B14F-4D97-AF65-F5344CB8AC3E}">
        <p14:creationId xmlns:p14="http://schemas.microsoft.com/office/powerpoint/2010/main" val="3269867238"/>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le Only (WHI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8" name="Slide Number Placeholder 7"/>
          <p:cNvSpPr>
            <a:spLocks noGrp="1"/>
          </p:cNvSpPr>
          <p:nvPr>
            <p:ph type="sldNum" sz="quarter" idx="10"/>
          </p:nvPr>
        </p:nvSpPr>
        <p:spPr>
          <a:xfrm>
            <a:off x="579121" y="6325606"/>
            <a:ext cx="975360" cy="365125"/>
          </a:xfrm>
          <a:prstGeom prst="rect">
            <a:avLst/>
          </a:prstGeom>
        </p:spPr>
        <p:txBody>
          <a:bodyPr/>
          <a:lstStyle/>
          <a:p>
            <a:pPr>
              <a:defRPr/>
            </a:pPr>
            <a:r>
              <a:rPr lang="en-US"/>
              <a:t>Coding Considerations 23- </a:t>
            </a:r>
            <a:fld id="{060BD193-E118-4B16-863C-C8C12C675E3E}" type="slidenum">
              <a:rPr lang="en-US" smtClean="0"/>
              <a:pPr>
                <a:defRPr/>
              </a:pPr>
              <a:t>‹#›</a:t>
            </a:fld>
            <a:endParaRPr lang="en-US" dirty="0"/>
          </a:p>
        </p:txBody>
      </p:sp>
    </p:spTree>
    <p:extLst>
      <p:ext uri="{BB962C8B-B14F-4D97-AF65-F5344CB8AC3E}">
        <p14:creationId xmlns:p14="http://schemas.microsoft.com/office/powerpoint/2010/main" val="1074720321"/>
      </p:ext>
    </p:extLst>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3" name="Name, Title, Date"/>
          <p:cNvSpPr>
            <a:spLocks noGrp="1"/>
          </p:cNvSpPr>
          <p:nvPr>
            <p:ph type="subTitle" idx="1" hasCustomPrompt="1"/>
          </p:nvPr>
        </p:nvSpPr>
        <p:spPr>
          <a:xfrm>
            <a:off x="872570" y="4513635"/>
            <a:ext cx="7417990" cy="1092607"/>
          </a:xfrm>
        </p:spPr>
        <p:txBody>
          <a:bodyPr wrap="square">
            <a:spAutoFit/>
          </a:bodyPr>
          <a:lstStyle>
            <a:lvl1pPr marL="0" indent="0" algn="l">
              <a:spcBef>
                <a:spcPts val="300"/>
              </a:spcBef>
              <a:buNone/>
              <a:defRPr lang="en-US" sz="1999" b="0" i="0" kern="1200" baseline="0" dirty="0">
                <a:solidFill>
                  <a:schemeClr val="tx1"/>
                </a:solidFill>
                <a:latin typeface="Arial" charset="0"/>
                <a:ea typeface="Arial" charset="0"/>
                <a:cs typeface="Arial" charset="0"/>
              </a:defRPr>
            </a:lvl1pPr>
            <a:lvl2pPr marL="457063" indent="0" algn="ctr">
              <a:buNone/>
              <a:defRPr sz="1999"/>
            </a:lvl2pPr>
            <a:lvl3pPr marL="914126" indent="0" algn="ctr">
              <a:buNone/>
              <a:defRPr sz="1799"/>
            </a:lvl3pPr>
            <a:lvl4pPr marL="1371189" indent="0" algn="ctr">
              <a:buNone/>
              <a:defRPr sz="1600"/>
            </a:lvl4pPr>
            <a:lvl5pPr marL="1828251" indent="0" algn="ctr">
              <a:buNone/>
              <a:defRPr sz="1600"/>
            </a:lvl5pPr>
            <a:lvl6pPr marL="2285314" indent="0" algn="ctr">
              <a:buNone/>
              <a:defRPr sz="1600"/>
            </a:lvl6pPr>
            <a:lvl7pPr marL="2742377" indent="0" algn="ctr">
              <a:buNone/>
              <a:defRPr sz="1600"/>
            </a:lvl7pPr>
            <a:lvl8pPr marL="3199440" indent="0" algn="ctr">
              <a:buNone/>
              <a:defRPr sz="1600"/>
            </a:lvl8pPr>
            <a:lvl9pPr marL="3656503" indent="0" algn="ctr">
              <a:buNone/>
              <a:defRPr sz="1600"/>
            </a:lvl9pPr>
          </a:lstStyle>
          <a:p>
            <a:r>
              <a:rPr lang="en-US" dirty="0"/>
              <a:t>Name</a:t>
            </a:r>
          </a:p>
          <a:p>
            <a:r>
              <a:rPr lang="en-US" dirty="0"/>
              <a:t>Title</a:t>
            </a:r>
          </a:p>
          <a:p>
            <a:r>
              <a:rPr lang="en-US" dirty="0"/>
              <a:t>Date</a:t>
            </a:r>
          </a:p>
        </p:txBody>
      </p:sp>
      <p:sp>
        <p:nvSpPr>
          <p:cNvPr id="2" name="Title 1"/>
          <p:cNvSpPr>
            <a:spLocks noGrp="1"/>
          </p:cNvSpPr>
          <p:nvPr>
            <p:ph type="ctrTitle" hasCustomPrompt="1"/>
          </p:nvPr>
        </p:nvSpPr>
        <p:spPr>
          <a:xfrm>
            <a:off x="872570" y="2122996"/>
            <a:ext cx="7417990" cy="707886"/>
          </a:xfrm>
        </p:spPr>
        <p:txBody>
          <a:bodyPr wrap="square" anchor="t">
            <a:spAutoFit/>
          </a:bodyPr>
          <a:lstStyle>
            <a:lvl1pPr marL="0" algn="l" defTabSz="914126" rtl="0" eaLnBrk="1" latinLnBrk="0" hangingPunct="1">
              <a:lnSpc>
                <a:spcPct val="100000"/>
              </a:lnSpc>
              <a:spcBef>
                <a:spcPct val="0"/>
              </a:spcBef>
              <a:buNone/>
              <a:defRPr lang="en-US" sz="3999" b="1" i="0" kern="1200" baseline="0" dirty="0">
                <a:solidFill>
                  <a:schemeClr val="tx1"/>
                </a:solidFill>
                <a:latin typeface="Arial" charset="0"/>
                <a:ea typeface="+mj-ea"/>
                <a:cs typeface="Arial" charset="0"/>
              </a:defRPr>
            </a:lvl1pPr>
          </a:lstStyle>
          <a:p>
            <a:r>
              <a:rPr lang="en-US" dirty="0"/>
              <a:t>Presentation Title</a:t>
            </a:r>
          </a:p>
        </p:txBody>
      </p:sp>
      <p:sp>
        <p:nvSpPr>
          <p:cNvPr id="10" name="object 6"/>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sp>
        <p:nvSpPr>
          <p:cNvPr id="8" name="object 6">
            <a:extLst>
              <a:ext uri="{FF2B5EF4-FFF2-40B4-BE49-F238E27FC236}">
                <a16:creationId xmlns:a16="http://schemas.microsoft.com/office/drawing/2014/main" id="{F6833D8A-D81B-AA4D-BC0C-B9F9B99BDC1F}"/>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sp>
        <p:nvSpPr>
          <p:cNvPr id="13" name="object 6">
            <a:extLst>
              <a:ext uri="{FF2B5EF4-FFF2-40B4-BE49-F238E27FC236}">
                <a16:creationId xmlns:a16="http://schemas.microsoft.com/office/drawing/2014/main" id="{6DC90665-93DD-BA43-AEB2-9473ED9E14A5}"/>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sp>
        <p:nvSpPr>
          <p:cNvPr id="17" name="object 6">
            <a:extLst>
              <a:ext uri="{FF2B5EF4-FFF2-40B4-BE49-F238E27FC236}">
                <a16:creationId xmlns:a16="http://schemas.microsoft.com/office/drawing/2014/main" id="{B1B3D47F-2C53-4E4B-A632-F9836852D486}"/>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sp>
        <p:nvSpPr>
          <p:cNvPr id="6" name="Rectangle 5"/>
          <p:cNvSpPr/>
          <p:nvPr/>
        </p:nvSpPr>
        <p:spPr>
          <a:xfrm>
            <a:off x="10832950" y="6443472"/>
            <a:ext cx="1176170" cy="371856"/>
          </a:xfrm>
          <a:prstGeom prst="rect">
            <a:avLst/>
          </a:prstGeom>
          <a:solidFill>
            <a:srgbClr val="161C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20" name="Picture 19" descr="ww.png">
            <a:extLst>
              <a:ext uri="{FF2B5EF4-FFF2-40B4-BE49-F238E27FC236}">
                <a16:creationId xmlns:a16="http://schemas.microsoft.com/office/drawing/2014/main" id="{BD515A1B-E781-9542-B11E-020D7530B53B}"/>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3185"/>
          <a:stretch/>
        </p:blipFill>
        <p:spPr>
          <a:xfrm>
            <a:off x="8912570" y="-1"/>
            <a:ext cx="3279430" cy="6858001"/>
          </a:xfrm>
          <a:prstGeom prst="rect">
            <a:avLst/>
          </a:prstGeom>
        </p:spPr>
      </p:pic>
      <p:sp>
        <p:nvSpPr>
          <p:cNvPr id="18" name="object 6">
            <a:extLst>
              <a:ext uri="{FF2B5EF4-FFF2-40B4-BE49-F238E27FC236}">
                <a16:creationId xmlns:a16="http://schemas.microsoft.com/office/drawing/2014/main" id="{30CB90D7-B2ED-5F4B-9C4A-4C5F388B6601}"/>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sp>
        <p:nvSpPr>
          <p:cNvPr id="22" name="object 6">
            <a:extLst>
              <a:ext uri="{FF2B5EF4-FFF2-40B4-BE49-F238E27FC236}">
                <a16:creationId xmlns:a16="http://schemas.microsoft.com/office/drawing/2014/main" id="{B3322536-4D68-4C45-93CB-EBED08E3CB52}"/>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pic>
        <p:nvPicPr>
          <p:cNvPr id="5" name="Picture 4">
            <a:extLst>
              <a:ext uri="{FF2B5EF4-FFF2-40B4-BE49-F238E27FC236}">
                <a16:creationId xmlns:a16="http://schemas.microsoft.com/office/drawing/2014/main" id="{A2289EF4-0CD0-CE40-B328-01966A945EE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2571" y="6020571"/>
            <a:ext cx="1280160" cy="259781"/>
          </a:xfrm>
          <a:prstGeom prst="rect">
            <a:avLst/>
          </a:prstGeom>
        </p:spPr>
      </p:pic>
      <p:sp>
        <p:nvSpPr>
          <p:cNvPr id="14" name="object 6">
            <a:extLst>
              <a:ext uri="{FF2B5EF4-FFF2-40B4-BE49-F238E27FC236}">
                <a16:creationId xmlns:a16="http://schemas.microsoft.com/office/drawing/2014/main" id="{8C16838A-F495-2546-9F44-BF6397F12E0C}"/>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pic>
        <p:nvPicPr>
          <p:cNvPr id="15" name="Picture 14">
            <a:extLst>
              <a:ext uri="{FF2B5EF4-FFF2-40B4-BE49-F238E27FC236}">
                <a16:creationId xmlns:a16="http://schemas.microsoft.com/office/drawing/2014/main" id="{3D4E9A42-40D8-6146-BC40-79DAE6208D2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2571" y="6020571"/>
            <a:ext cx="1280160" cy="259781"/>
          </a:xfrm>
          <a:prstGeom prst="rect">
            <a:avLst/>
          </a:prstGeom>
        </p:spPr>
      </p:pic>
      <p:sp>
        <p:nvSpPr>
          <p:cNvPr id="19" name="object 6">
            <a:extLst>
              <a:ext uri="{FF2B5EF4-FFF2-40B4-BE49-F238E27FC236}">
                <a16:creationId xmlns:a16="http://schemas.microsoft.com/office/drawing/2014/main" id="{2EF15590-5F1E-D542-BD85-EFD08C30A698}"/>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pic>
        <p:nvPicPr>
          <p:cNvPr id="21" name="Picture 20">
            <a:extLst>
              <a:ext uri="{FF2B5EF4-FFF2-40B4-BE49-F238E27FC236}">
                <a16:creationId xmlns:a16="http://schemas.microsoft.com/office/drawing/2014/main" id="{67CB4086-1311-4B49-818E-1966244940C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2571" y="6020571"/>
            <a:ext cx="1280160" cy="259781"/>
          </a:xfrm>
          <a:prstGeom prst="rect">
            <a:avLst/>
          </a:prstGeom>
        </p:spPr>
      </p:pic>
      <p:sp>
        <p:nvSpPr>
          <p:cNvPr id="24" name="object 6">
            <a:extLst>
              <a:ext uri="{FF2B5EF4-FFF2-40B4-BE49-F238E27FC236}">
                <a16:creationId xmlns:a16="http://schemas.microsoft.com/office/drawing/2014/main" id="{F0122A65-85C0-6541-8107-BF11595575F3}"/>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pic>
        <p:nvPicPr>
          <p:cNvPr id="25" name="Picture 24">
            <a:extLst>
              <a:ext uri="{FF2B5EF4-FFF2-40B4-BE49-F238E27FC236}">
                <a16:creationId xmlns:a16="http://schemas.microsoft.com/office/drawing/2014/main" id="{46713B90-AF64-CD41-A82E-7B206B39F34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2571" y="6020571"/>
            <a:ext cx="1280160" cy="259781"/>
          </a:xfrm>
          <a:prstGeom prst="rect">
            <a:avLst/>
          </a:prstGeom>
        </p:spPr>
      </p:pic>
    </p:spTree>
    <p:extLst>
      <p:ext uri="{BB962C8B-B14F-4D97-AF65-F5344CB8AC3E}">
        <p14:creationId xmlns:p14="http://schemas.microsoft.com/office/powerpoint/2010/main" val="2067459915"/>
      </p:ext>
    </p:extLst>
  </p:cSld>
  <p:clrMapOvr>
    <a:overrideClrMapping bg1="dk1" tx1="lt1" bg2="dk2" tx2="lt2" accent1="accent1" accent2="accent2" accent3="accent3" accent4="accent4" accent5="accent5" accent6="accent6" hlink="hlink" folHlink="folHlink"/>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Slide Layout (Custom Graphic)">
    <p:bg>
      <p:bgPr>
        <a:solidFill>
          <a:schemeClr val="bg2"/>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1F99C1-A850-AA46-A3A6-13755C4E5C56}"/>
              </a:ext>
            </a:extLst>
          </p:cNvPr>
          <p:cNvPicPr>
            <a:picLocks noChangeAspect="1"/>
          </p:cNvPicPr>
          <p:nvPr/>
        </p:nvPicPr>
        <p:blipFill>
          <a:blip r:embed="rId2">
            <a:alphaModFix amt="10000"/>
            <a:extLst>
              <a:ext uri="{28A0092B-C50C-407E-A947-70E740481C1C}">
                <a14:useLocalDpi xmlns:a14="http://schemas.microsoft.com/office/drawing/2010/main" val="0"/>
              </a:ext>
            </a:extLst>
          </a:blip>
          <a:stretch>
            <a:fillRect/>
          </a:stretch>
        </p:blipFill>
        <p:spPr>
          <a:xfrm>
            <a:off x="1" y="-36231"/>
            <a:ext cx="8384875" cy="6894231"/>
          </a:xfrm>
          <a:prstGeom prst="rect">
            <a:avLst/>
          </a:prstGeom>
        </p:spPr>
      </p:pic>
      <p:sp>
        <p:nvSpPr>
          <p:cNvPr id="13" name="Title 1"/>
          <p:cNvSpPr>
            <a:spLocks noGrp="1"/>
          </p:cNvSpPr>
          <p:nvPr>
            <p:ph type="ctrTitle" hasCustomPrompt="1"/>
          </p:nvPr>
        </p:nvSpPr>
        <p:spPr>
          <a:xfrm>
            <a:off x="872570" y="2122996"/>
            <a:ext cx="6259750" cy="757130"/>
          </a:xfrm>
        </p:spPr>
        <p:txBody>
          <a:bodyPr anchor="t">
            <a:normAutofit/>
          </a:bodyPr>
          <a:lstStyle>
            <a:lvl1pPr marL="0" algn="l" defTabSz="914126" rtl="0" eaLnBrk="1" latinLnBrk="0" hangingPunct="1">
              <a:lnSpc>
                <a:spcPct val="100000"/>
              </a:lnSpc>
              <a:spcBef>
                <a:spcPct val="0"/>
              </a:spcBef>
              <a:buNone/>
              <a:defRPr lang="en-US" sz="3999" b="1" i="0" kern="1200" baseline="0" dirty="0">
                <a:solidFill>
                  <a:schemeClr val="tx1"/>
                </a:solidFill>
                <a:latin typeface="Arial" charset="0"/>
                <a:ea typeface="+mj-ea"/>
                <a:cs typeface="Arial" charset="0"/>
              </a:defRPr>
            </a:lvl1pPr>
          </a:lstStyle>
          <a:p>
            <a:r>
              <a:rPr lang="en-US" dirty="0"/>
              <a:t>Presentation Title</a:t>
            </a:r>
          </a:p>
        </p:txBody>
      </p:sp>
      <p:sp>
        <p:nvSpPr>
          <p:cNvPr id="12" name="Name, Title, Date"/>
          <p:cNvSpPr>
            <a:spLocks noGrp="1"/>
          </p:cNvSpPr>
          <p:nvPr>
            <p:ph type="subTitle" idx="1" hasCustomPrompt="1"/>
          </p:nvPr>
        </p:nvSpPr>
        <p:spPr>
          <a:xfrm>
            <a:off x="872570" y="4513635"/>
            <a:ext cx="4877066" cy="1092607"/>
          </a:xfrm>
        </p:spPr>
        <p:txBody>
          <a:bodyPr>
            <a:normAutofit/>
          </a:bodyPr>
          <a:lstStyle>
            <a:lvl1pPr marL="0" indent="0" algn="l">
              <a:spcBef>
                <a:spcPts val="300"/>
              </a:spcBef>
              <a:buNone/>
              <a:defRPr lang="en-US" sz="1999" b="0" i="0" kern="1200" baseline="0" dirty="0">
                <a:solidFill>
                  <a:schemeClr val="tx1"/>
                </a:solidFill>
                <a:latin typeface="Arial" charset="0"/>
                <a:ea typeface="Arial" charset="0"/>
                <a:cs typeface="Arial" charset="0"/>
              </a:defRPr>
            </a:lvl1pPr>
            <a:lvl2pPr marL="457063" indent="0" algn="ctr">
              <a:buNone/>
              <a:defRPr sz="1999"/>
            </a:lvl2pPr>
            <a:lvl3pPr marL="914126" indent="0" algn="ctr">
              <a:buNone/>
              <a:defRPr sz="1799"/>
            </a:lvl3pPr>
            <a:lvl4pPr marL="1371189" indent="0" algn="ctr">
              <a:buNone/>
              <a:defRPr sz="1600"/>
            </a:lvl4pPr>
            <a:lvl5pPr marL="1828251" indent="0" algn="ctr">
              <a:buNone/>
              <a:defRPr sz="1600"/>
            </a:lvl5pPr>
            <a:lvl6pPr marL="2285314" indent="0" algn="ctr">
              <a:buNone/>
              <a:defRPr sz="1600"/>
            </a:lvl6pPr>
            <a:lvl7pPr marL="2742377" indent="0" algn="ctr">
              <a:buNone/>
              <a:defRPr sz="1600"/>
            </a:lvl7pPr>
            <a:lvl8pPr marL="3199440" indent="0" algn="ctr">
              <a:buNone/>
              <a:defRPr sz="1600"/>
            </a:lvl8pPr>
            <a:lvl9pPr marL="3656503" indent="0" algn="ctr">
              <a:buNone/>
              <a:defRPr sz="1600"/>
            </a:lvl9pPr>
          </a:lstStyle>
          <a:p>
            <a:r>
              <a:rPr lang="en-US" dirty="0"/>
              <a:t>Name</a:t>
            </a:r>
          </a:p>
          <a:p>
            <a:r>
              <a:rPr lang="en-US" dirty="0"/>
              <a:t>Title</a:t>
            </a:r>
          </a:p>
          <a:p>
            <a:r>
              <a:rPr lang="en-US" dirty="0"/>
              <a:t>Date</a:t>
            </a:r>
          </a:p>
        </p:txBody>
      </p:sp>
      <p:sp>
        <p:nvSpPr>
          <p:cNvPr id="14" name="object 6"/>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sp>
        <p:nvSpPr>
          <p:cNvPr id="16" name="object 6">
            <a:extLst>
              <a:ext uri="{FF2B5EF4-FFF2-40B4-BE49-F238E27FC236}">
                <a16:creationId xmlns:a16="http://schemas.microsoft.com/office/drawing/2014/main" id="{79F46B48-C01A-1340-8C6B-DA07FABAAD3F}"/>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sp>
        <p:nvSpPr>
          <p:cNvPr id="20" name="object 6">
            <a:extLst>
              <a:ext uri="{FF2B5EF4-FFF2-40B4-BE49-F238E27FC236}">
                <a16:creationId xmlns:a16="http://schemas.microsoft.com/office/drawing/2014/main" id="{529EC48C-88EC-4F48-B6BB-B7BB27D37DBD}"/>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sp>
        <p:nvSpPr>
          <p:cNvPr id="24" name="object 6">
            <a:extLst>
              <a:ext uri="{FF2B5EF4-FFF2-40B4-BE49-F238E27FC236}">
                <a16:creationId xmlns:a16="http://schemas.microsoft.com/office/drawing/2014/main" id="{14E96798-EC8B-FA4C-AC7D-DE75AF3811AF}"/>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sp>
        <p:nvSpPr>
          <p:cNvPr id="23" name="Rectangle 22"/>
          <p:cNvSpPr/>
          <p:nvPr/>
        </p:nvSpPr>
        <p:spPr>
          <a:xfrm>
            <a:off x="10832950" y="6443472"/>
            <a:ext cx="1176170" cy="371856"/>
          </a:xfrm>
          <a:prstGeom prst="rect">
            <a:avLst/>
          </a:prstGeom>
          <a:solidFill>
            <a:srgbClr val="161C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25" name="Picture 24" descr="ww.png">
            <a:extLst>
              <a:ext uri="{FF2B5EF4-FFF2-40B4-BE49-F238E27FC236}">
                <a16:creationId xmlns:a16="http://schemas.microsoft.com/office/drawing/2014/main" id="{6CB568A7-486F-7E43-8841-829B657830D1}"/>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b="3185"/>
          <a:stretch/>
        </p:blipFill>
        <p:spPr>
          <a:xfrm>
            <a:off x="8912570" y="-1"/>
            <a:ext cx="3279430" cy="6858001"/>
          </a:xfrm>
          <a:prstGeom prst="rect">
            <a:avLst/>
          </a:prstGeom>
        </p:spPr>
      </p:pic>
      <p:sp>
        <p:nvSpPr>
          <p:cNvPr id="26" name="object 6">
            <a:extLst>
              <a:ext uri="{FF2B5EF4-FFF2-40B4-BE49-F238E27FC236}">
                <a16:creationId xmlns:a16="http://schemas.microsoft.com/office/drawing/2014/main" id="{55A0589D-3199-824F-BB2E-0165FD1B46B8}"/>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sp>
        <p:nvSpPr>
          <p:cNvPr id="30" name="object 6">
            <a:extLst>
              <a:ext uri="{FF2B5EF4-FFF2-40B4-BE49-F238E27FC236}">
                <a16:creationId xmlns:a16="http://schemas.microsoft.com/office/drawing/2014/main" id="{4AB8CBEA-6665-9A4C-BAFF-830C38095BF8}"/>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pic>
        <p:nvPicPr>
          <p:cNvPr id="32" name="Picture 31">
            <a:extLst>
              <a:ext uri="{FF2B5EF4-FFF2-40B4-BE49-F238E27FC236}">
                <a16:creationId xmlns:a16="http://schemas.microsoft.com/office/drawing/2014/main" id="{BBC7CEB1-422C-D04C-9AF5-6F9B7A7142B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2571" y="6020571"/>
            <a:ext cx="1280160" cy="259781"/>
          </a:xfrm>
          <a:prstGeom prst="rect">
            <a:avLst/>
          </a:prstGeom>
        </p:spPr>
      </p:pic>
      <p:sp>
        <p:nvSpPr>
          <p:cNvPr id="15" name="object 6">
            <a:extLst>
              <a:ext uri="{FF2B5EF4-FFF2-40B4-BE49-F238E27FC236}">
                <a16:creationId xmlns:a16="http://schemas.microsoft.com/office/drawing/2014/main" id="{C6EFF017-BB71-2946-8429-D5C445CE839E}"/>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pic>
        <p:nvPicPr>
          <p:cNvPr id="17" name="Picture 16">
            <a:extLst>
              <a:ext uri="{FF2B5EF4-FFF2-40B4-BE49-F238E27FC236}">
                <a16:creationId xmlns:a16="http://schemas.microsoft.com/office/drawing/2014/main" id="{CD59F683-89D6-C24E-B6D3-272BC62A268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2571" y="6020571"/>
            <a:ext cx="1280160" cy="259781"/>
          </a:xfrm>
          <a:prstGeom prst="rect">
            <a:avLst/>
          </a:prstGeom>
        </p:spPr>
      </p:pic>
      <p:sp>
        <p:nvSpPr>
          <p:cNvPr id="18" name="object 6">
            <a:extLst>
              <a:ext uri="{FF2B5EF4-FFF2-40B4-BE49-F238E27FC236}">
                <a16:creationId xmlns:a16="http://schemas.microsoft.com/office/drawing/2014/main" id="{BCF7B235-4328-1747-AC5E-57DC6D753214}"/>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pic>
        <p:nvPicPr>
          <p:cNvPr id="19" name="Picture 18">
            <a:extLst>
              <a:ext uri="{FF2B5EF4-FFF2-40B4-BE49-F238E27FC236}">
                <a16:creationId xmlns:a16="http://schemas.microsoft.com/office/drawing/2014/main" id="{6A880B90-D46C-0D44-8AFE-4A062DD38A7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2571" y="6020571"/>
            <a:ext cx="1280160" cy="259781"/>
          </a:xfrm>
          <a:prstGeom prst="rect">
            <a:avLst/>
          </a:prstGeom>
        </p:spPr>
      </p:pic>
      <p:sp>
        <p:nvSpPr>
          <p:cNvPr id="21" name="object 6">
            <a:extLst>
              <a:ext uri="{FF2B5EF4-FFF2-40B4-BE49-F238E27FC236}">
                <a16:creationId xmlns:a16="http://schemas.microsoft.com/office/drawing/2014/main" id="{EC8AB604-7AB0-AA4A-8D3F-975F013C2F51}"/>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pic>
        <p:nvPicPr>
          <p:cNvPr id="22" name="Picture 21">
            <a:extLst>
              <a:ext uri="{FF2B5EF4-FFF2-40B4-BE49-F238E27FC236}">
                <a16:creationId xmlns:a16="http://schemas.microsoft.com/office/drawing/2014/main" id="{4D0C4FA3-D3E2-BF43-880D-3DA206335E1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2571" y="6020571"/>
            <a:ext cx="1280160" cy="259781"/>
          </a:xfrm>
          <a:prstGeom prst="rect">
            <a:avLst/>
          </a:prstGeom>
        </p:spPr>
      </p:pic>
    </p:spTree>
    <p:extLst>
      <p:ext uri="{BB962C8B-B14F-4D97-AF65-F5344CB8AC3E}">
        <p14:creationId xmlns:p14="http://schemas.microsoft.com/office/powerpoint/2010/main" val="1930753142"/>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Agenda Slide">
    <p:bg>
      <p:bgPr>
        <a:solidFill>
          <a:schemeClr val="bg2"/>
        </a:solidFill>
        <a:effectLst/>
      </p:bgPr>
    </p:bg>
    <p:spTree>
      <p:nvGrpSpPr>
        <p:cNvPr id="1" name=""/>
        <p:cNvGrpSpPr/>
        <p:nvPr/>
      </p:nvGrpSpPr>
      <p:grpSpPr>
        <a:xfrm>
          <a:off x="0" y="0"/>
          <a:ext cx="0" cy="0"/>
          <a:chOff x="0" y="0"/>
          <a:chExt cx="0" cy="0"/>
        </a:xfrm>
      </p:grpSpPr>
      <p:sp>
        <p:nvSpPr>
          <p:cNvPr id="10" name="object 6"/>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pic>
        <p:nvPicPr>
          <p:cNvPr id="11" name="Picture 10" descr="ww.png"/>
          <p:cNvPicPr>
            <a:picLocks noChangeAspect="1"/>
          </p:cNvPicPr>
          <p:nvPr/>
        </p:nvPicPr>
        <p:blipFill rotWithShape="1">
          <a:blip r:embed="rId2" cstate="print">
            <a:extLst>
              <a:ext uri="{28A0092B-C50C-407E-A947-70E740481C1C}">
                <a14:useLocalDpi xmlns:a14="http://schemas.microsoft.com/office/drawing/2010/main" val="0"/>
              </a:ext>
            </a:extLst>
          </a:blip>
          <a:srcRect b="3185"/>
          <a:stretch/>
        </p:blipFill>
        <p:spPr>
          <a:xfrm>
            <a:off x="8912570" y="2"/>
            <a:ext cx="3279430" cy="6858001"/>
          </a:xfrm>
          <a:prstGeom prst="rect">
            <a:avLst/>
          </a:prstGeom>
        </p:spPr>
      </p:pic>
      <p:sp>
        <p:nvSpPr>
          <p:cNvPr id="7" name="Title 1">
            <a:extLst>
              <a:ext uri="{FF2B5EF4-FFF2-40B4-BE49-F238E27FC236}">
                <a16:creationId xmlns:a16="http://schemas.microsoft.com/office/drawing/2014/main" id="{E89E807F-F94B-F442-B5BC-972820E2E7DF}"/>
              </a:ext>
            </a:extLst>
          </p:cNvPr>
          <p:cNvSpPr>
            <a:spLocks noGrp="1"/>
          </p:cNvSpPr>
          <p:nvPr>
            <p:ph type="title" hasCustomPrompt="1"/>
          </p:nvPr>
        </p:nvSpPr>
        <p:spPr>
          <a:xfrm>
            <a:off x="621793" y="210312"/>
            <a:ext cx="10541508" cy="502920"/>
          </a:xfrm>
        </p:spPr>
        <p:txBody>
          <a:bodyPr/>
          <a:lstStyle>
            <a:lvl1pPr>
              <a:defRPr/>
            </a:lvl1pPr>
          </a:lstStyle>
          <a:p>
            <a:r>
              <a:rPr lang="en-US" dirty="0"/>
              <a:t>Agenda Slide</a:t>
            </a:r>
          </a:p>
        </p:txBody>
      </p:sp>
      <p:sp>
        <p:nvSpPr>
          <p:cNvPr id="8" name="Content Placeholder 2">
            <a:extLst>
              <a:ext uri="{FF2B5EF4-FFF2-40B4-BE49-F238E27FC236}">
                <a16:creationId xmlns:a16="http://schemas.microsoft.com/office/drawing/2014/main" id="{9A49FD6F-DB7C-B74F-8B28-DE0F77ACFB62}"/>
              </a:ext>
            </a:extLst>
          </p:cNvPr>
          <p:cNvSpPr>
            <a:spLocks noGrp="1"/>
          </p:cNvSpPr>
          <p:nvPr>
            <p:ph idx="1" hasCustomPrompt="1"/>
          </p:nvPr>
        </p:nvSpPr>
        <p:spPr>
          <a:xfrm>
            <a:off x="647700" y="1463040"/>
            <a:ext cx="10515600" cy="4759404"/>
          </a:xfrm>
        </p:spPr>
        <p:txBody>
          <a:bodyPr>
            <a:normAutofit/>
          </a:bodyPr>
          <a:lstStyle>
            <a:lvl1pPr>
              <a:lnSpc>
                <a:spcPct val="150000"/>
              </a:lnSpc>
              <a:defRPr sz="2799" b="0" baseline="0">
                <a:solidFill>
                  <a:schemeClr val="tx1"/>
                </a:solidFill>
              </a:defRPr>
            </a:lvl1pPr>
            <a:lvl2pPr>
              <a:defRPr>
                <a:solidFill>
                  <a:schemeClr val="accent3">
                    <a:lumMod val="50000"/>
                  </a:schemeClr>
                </a:solidFill>
              </a:defRPr>
            </a:lvl2pPr>
            <a:lvl3pPr>
              <a:defRPr sz="1600">
                <a:solidFill>
                  <a:schemeClr val="accent3">
                    <a:lumMod val="50000"/>
                  </a:schemeClr>
                </a:solidFill>
              </a:defRPr>
            </a:lvl3pPr>
            <a:lvl4pPr>
              <a:defRPr sz="1400">
                <a:solidFill>
                  <a:schemeClr val="accent3">
                    <a:lumMod val="50000"/>
                  </a:schemeClr>
                </a:solidFill>
              </a:defRPr>
            </a:lvl4pPr>
            <a:lvl5pPr>
              <a:tabLst>
                <a:tab pos="2626525" algn="l"/>
              </a:tabLst>
              <a:defRPr sz="1400">
                <a:solidFill>
                  <a:schemeClr val="accent3">
                    <a:lumMod val="50000"/>
                  </a:schemeClr>
                </a:solidFill>
              </a:defRPr>
            </a:lvl5pPr>
          </a:lstStyle>
          <a:p>
            <a:pPr lvl="0"/>
            <a:r>
              <a:rPr lang="en-US" dirty="0"/>
              <a:t>Agenda Item 1</a:t>
            </a:r>
          </a:p>
          <a:p>
            <a:pPr lvl="0"/>
            <a:r>
              <a:rPr lang="en-US" dirty="0"/>
              <a:t>Agenda Item 2</a:t>
            </a:r>
          </a:p>
          <a:p>
            <a:pPr lvl="0"/>
            <a:r>
              <a:rPr lang="en-US" dirty="0"/>
              <a:t>Agenda Item 3</a:t>
            </a:r>
          </a:p>
          <a:p>
            <a:pPr lvl="0"/>
            <a:r>
              <a:rPr lang="en-US" dirty="0"/>
              <a:t>Agenda Item 4</a:t>
            </a:r>
          </a:p>
        </p:txBody>
      </p:sp>
      <p:sp>
        <p:nvSpPr>
          <p:cNvPr id="9" name="Slide Number Placeholder 8">
            <a:extLst>
              <a:ext uri="{FF2B5EF4-FFF2-40B4-BE49-F238E27FC236}">
                <a16:creationId xmlns:a16="http://schemas.microsoft.com/office/drawing/2014/main" id="{94FEC80D-D41B-2941-AA64-3734E35A7DC4}"/>
              </a:ext>
            </a:extLst>
          </p:cNvPr>
          <p:cNvSpPr>
            <a:spLocks noGrp="1"/>
          </p:cNvSpPr>
          <p:nvPr>
            <p:ph type="sldNum" sz="quarter" idx="10"/>
          </p:nvPr>
        </p:nvSpPr>
        <p:spPr>
          <a:xfrm>
            <a:off x="647700" y="6356352"/>
            <a:ext cx="2743200" cy="365125"/>
          </a:xfrm>
        </p:spPr>
        <p:txBody>
          <a:bodyPr/>
          <a:lstStyle/>
          <a:p>
            <a:r>
              <a:rPr lang="en-US"/>
              <a:t>&gt;&gt; </a:t>
            </a:r>
            <a:fld id="{626C978B-826E-438C-909A-E9C381D3FF04}" type="slidenum">
              <a:rPr lang="en-US" smtClean="0"/>
              <a:pPr/>
              <a:t>‹#›</a:t>
            </a:fld>
            <a:endParaRPr lang="en-US" dirty="0"/>
          </a:p>
        </p:txBody>
      </p:sp>
      <p:sp>
        <p:nvSpPr>
          <p:cNvPr id="14" name="object 6">
            <a:extLst>
              <a:ext uri="{FF2B5EF4-FFF2-40B4-BE49-F238E27FC236}">
                <a16:creationId xmlns:a16="http://schemas.microsoft.com/office/drawing/2014/main" id="{4ED245F3-5FE2-8B4D-AEBC-08059B7700D5}"/>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sp>
        <p:nvSpPr>
          <p:cNvPr id="19" name="object 6">
            <a:extLst>
              <a:ext uri="{FF2B5EF4-FFF2-40B4-BE49-F238E27FC236}">
                <a16:creationId xmlns:a16="http://schemas.microsoft.com/office/drawing/2014/main" id="{EEB66CA7-5B90-DE44-B07F-CDF1B056C556}"/>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sp>
        <p:nvSpPr>
          <p:cNvPr id="23" name="object 6">
            <a:extLst>
              <a:ext uri="{FF2B5EF4-FFF2-40B4-BE49-F238E27FC236}">
                <a16:creationId xmlns:a16="http://schemas.microsoft.com/office/drawing/2014/main" id="{9C841668-2641-8344-93D0-BFAF1E0B06C9}"/>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sp>
        <p:nvSpPr>
          <p:cNvPr id="27" name="object 6">
            <a:extLst>
              <a:ext uri="{FF2B5EF4-FFF2-40B4-BE49-F238E27FC236}">
                <a16:creationId xmlns:a16="http://schemas.microsoft.com/office/drawing/2014/main" id="{F5A8D482-5528-2243-9F47-5B9C75E8D18E}"/>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sp>
        <p:nvSpPr>
          <p:cNvPr id="31" name="object 6">
            <a:extLst>
              <a:ext uri="{FF2B5EF4-FFF2-40B4-BE49-F238E27FC236}">
                <a16:creationId xmlns:a16="http://schemas.microsoft.com/office/drawing/2014/main" id="{01786C18-A62A-8D40-BE6D-E91ED01BEB52}"/>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pic>
        <p:nvPicPr>
          <p:cNvPr id="35" name="Picture 34">
            <a:extLst>
              <a:ext uri="{FF2B5EF4-FFF2-40B4-BE49-F238E27FC236}">
                <a16:creationId xmlns:a16="http://schemas.microsoft.com/office/drawing/2014/main" id="{5D2F0128-2932-DB49-BB4F-4E6C92A36F9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89131" y="6515519"/>
            <a:ext cx="950976" cy="192980"/>
          </a:xfrm>
          <a:prstGeom prst="rect">
            <a:avLst/>
          </a:prstGeom>
        </p:spPr>
      </p:pic>
      <p:sp>
        <p:nvSpPr>
          <p:cNvPr id="15" name="object 6">
            <a:extLst>
              <a:ext uri="{FF2B5EF4-FFF2-40B4-BE49-F238E27FC236}">
                <a16:creationId xmlns:a16="http://schemas.microsoft.com/office/drawing/2014/main" id="{C4518266-97F4-5E48-8B44-08654EC29691}"/>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pic>
        <p:nvPicPr>
          <p:cNvPr id="17" name="Picture 16">
            <a:extLst>
              <a:ext uri="{FF2B5EF4-FFF2-40B4-BE49-F238E27FC236}">
                <a16:creationId xmlns:a16="http://schemas.microsoft.com/office/drawing/2014/main" id="{0BDBBB27-6F71-7C43-BFA5-6B2E8E1AC9A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89131" y="6515519"/>
            <a:ext cx="950976" cy="192980"/>
          </a:xfrm>
          <a:prstGeom prst="rect">
            <a:avLst/>
          </a:prstGeom>
        </p:spPr>
      </p:pic>
      <p:sp>
        <p:nvSpPr>
          <p:cNvPr id="18" name="object 6">
            <a:extLst>
              <a:ext uri="{FF2B5EF4-FFF2-40B4-BE49-F238E27FC236}">
                <a16:creationId xmlns:a16="http://schemas.microsoft.com/office/drawing/2014/main" id="{33854958-1BAD-BE47-ACAC-E9903DAE90C1}"/>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pic>
        <p:nvPicPr>
          <p:cNvPr id="21" name="Picture 20">
            <a:extLst>
              <a:ext uri="{FF2B5EF4-FFF2-40B4-BE49-F238E27FC236}">
                <a16:creationId xmlns:a16="http://schemas.microsoft.com/office/drawing/2014/main" id="{98B423B7-B99A-5744-8625-DC905867261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89131" y="6515519"/>
            <a:ext cx="950976" cy="192980"/>
          </a:xfrm>
          <a:prstGeom prst="rect">
            <a:avLst/>
          </a:prstGeom>
        </p:spPr>
      </p:pic>
      <p:sp>
        <p:nvSpPr>
          <p:cNvPr id="22" name="object 6">
            <a:extLst>
              <a:ext uri="{FF2B5EF4-FFF2-40B4-BE49-F238E27FC236}">
                <a16:creationId xmlns:a16="http://schemas.microsoft.com/office/drawing/2014/main" id="{838CE688-24EB-EF4C-8127-F226875D5747}"/>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pic>
        <p:nvPicPr>
          <p:cNvPr id="25" name="Picture 24">
            <a:extLst>
              <a:ext uri="{FF2B5EF4-FFF2-40B4-BE49-F238E27FC236}">
                <a16:creationId xmlns:a16="http://schemas.microsoft.com/office/drawing/2014/main" id="{B76E6D9E-81DB-064A-A067-E1DB17AB7CD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89131" y="6515519"/>
            <a:ext cx="950976" cy="192980"/>
          </a:xfrm>
          <a:prstGeom prst="rect">
            <a:avLst/>
          </a:prstGeom>
        </p:spPr>
      </p:pic>
      <p:sp>
        <p:nvSpPr>
          <p:cNvPr id="20" name="TextBox 19">
            <a:extLst>
              <a:ext uri="{FF2B5EF4-FFF2-40B4-BE49-F238E27FC236}">
                <a16:creationId xmlns:a16="http://schemas.microsoft.com/office/drawing/2014/main" id="{E8C289BB-C59D-407E-9F90-1D15403C0749}"/>
              </a:ext>
            </a:extLst>
          </p:cNvPr>
          <p:cNvSpPr txBox="1"/>
          <p:nvPr userDrawn="1"/>
        </p:nvSpPr>
        <p:spPr>
          <a:xfrm>
            <a:off x="5335817" y="6587011"/>
            <a:ext cx="1520364" cy="246221"/>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altLang="zh-CN" sz="1000" dirty="0"/>
              <a:t>© Copyright 2018 Xilinx</a:t>
            </a:r>
          </a:p>
        </p:txBody>
      </p:sp>
    </p:spTree>
    <p:extLst>
      <p:ext uri="{BB962C8B-B14F-4D97-AF65-F5344CB8AC3E}">
        <p14:creationId xmlns:p14="http://schemas.microsoft.com/office/powerpoint/2010/main" val="3325649290"/>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Content Placeholder 2"/>
          <p:cNvSpPr>
            <a:spLocks noGrp="1"/>
          </p:cNvSpPr>
          <p:nvPr>
            <p:ph idx="1"/>
          </p:nvPr>
        </p:nvSpPr>
        <p:spPr>
          <a:xfrm>
            <a:off x="647700" y="1463040"/>
            <a:ext cx="10515600" cy="4759404"/>
          </a:xfrm>
        </p:spPr>
        <p:txBody>
          <a:bodyPr/>
          <a:lstStyle>
            <a:lvl1pPr>
              <a:defRPr>
                <a:solidFill>
                  <a:schemeClr val="tx1"/>
                </a:solidFill>
              </a:defRPr>
            </a:lvl1pPr>
            <a:lvl2pPr>
              <a:defRPr>
                <a:solidFill>
                  <a:schemeClr val="tx1"/>
                </a:solidFill>
              </a:defRPr>
            </a:lvl2pPr>
            <a:lvl3pPr>
              <a:defRPr sz="1600">
                <a:solidFill>
                  <a:schemeClr val="tx1"/>
                </a:solidFill>
              </a:defRPr>
            </a:lvl3pPr>
            <a:lvl4pPr>
              <a:defRPr sz="1400">
                <a:solidFill>
                  <a:schemeClr val="tx1"/>
                </a:solidFill>
              </a:defRPr>
            </a:lvl4pPr>
            <a:lvl5pPr>
              <a:tabLst>
                <a:tab pos="2626525" algn="l"/>
              </a:tabLst>
              <a:defRPr sz="1400">
                <a:solidFill>
                  <a:schemeClr val="tx1"/>
                </a:solidFill>
              </a:defRPr>
            </a:lvl5p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9" name="Slide Number Placeholder 8"/>
          <p:cNvSpPr>
            <a:spLocks noGrp="1"/>
          </p:cNvSpPr>
          <p:nvPr>
            <p:ph type="sldNum" sz="quarter" idx="10"/>
          </p:nvPr>
        </p:nvSpPr>
        <p:spPr/>
        <p:txBody>
          <a:bodyPr/>
          <a:lstStyle/>
          <a:p>
            <a:pPr>
              <a:defRPr/>
            </a:pPr>
            <a:r>
              <a:rPr lang="en-US"/>
              <a:t>Coding Considerations 23- </a:t>
            </a:r>
            <a:fld id="{060BD193-E118-4B16-863C-C8C12C675E3E}" type="slidenum">
              <a:rPr lang="en-US" smtClean="0"/>
              <a:pPr>
                <a:defRPr/>
              </a:pPr>
              <a:t>‹#›</a:t>
            </a:fld>
            <a:endParaRPr lang="en-US" dirty="0"/>
          </a:p>
        </p:txBody>
      </p:sp>
      <p:pic>
        <p:nvPicPr>
          <p:cNvPr id="5" name="Picture 4" descr="1.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017001" y="0"/>
            <a:ext cx="3175000" cy="6858000"/>
          </a:xfrm>
          <a:prstGeom prst="rect">
            <a:avLst/>
          </a:prstGeom>
        </p:spPr>
      </p:pic>
    </p:spTree>
    <p:extLst>
      <p:ext uri="{BB962C8B-B14F-4D97-AF65-F5344CB8AC3E}">
        <p14:creationId xmlns:p14="http://schemas.microsoft.com/office/powerpoint/2010/main" val="3979975274"/>
      </p:ext>
    </p:extLst>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and Content (WHI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Content Placeholder 2"/>
          <p:cNvSpPr>
            <a:spLocks noGrp="1"/>
          </p:cNvSpPr>
          <p:nvPr>
            <p:ph idx="1"/>
          </p:nvPr>
        </p:nvSpPr>
        <p:spPr>
          <a:xfrm>
            <a:off x="647700" y="1463040"/>
            <a:ext cx="10515600" cy="4759404"/>
          </a:xfrm>
        </p:spPr>
        <p:txBody>
          <a:bodyPr/>
          <a:lstStyle>
            <a:lvl1pPr>
              <a:defRPr>
                <a:solidFill>
                  <a:schemeClr val="tx1"/>
                </a:solidFill>
              </a:defRPr>
            </a:lvl1pPr>
            <a:lvl2pPr>
              <a:defRPr>
                <a:solidFill>
                  <a:schemeClr val="tx1"/>
                </a:solidFill>
              </a:defRPr>
            </a:lvl2pPr>
            <a:lvl3pPr>
              <a:defRPr sz="1600">
                <a:solidFill>
                  <a:schemeClr val="tx1"/>
                </a:solidFill>
              </a:defRPr>
            </a:lvl3pPr>
            <a:lvl4pPr>
              <a:defRPr sz="1400">
                <a:solidFill>
                  <a:schemeClr val="tx1"/>
                </a:solidFill>
              </a:defRPr>
            </a:lvl4pPr>
            <a:lvl5pPr>
              <a:tabLst>
                <a:tab pos="2626525" algn="l"/>
              </a:tabLst>
              <a:defRPr sz="1400">
                <a:solidFill>
                  <a:schemeClr val="tx1"/>
                </a:solidFill>
              </a:defRPr>
            </a:lvl5p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9" name="Slide Number Placeholder 8"/>
          <p:cNvSpPr>
            <a:spLocks noGrp="1"/>
          </p:cNvSpPr>
          <p:nvPr>
            <p:ph type="sldNum" sz="quarter" idx="10"/>
          </p:nvPr>
        </p:nvSpPr>
        <p:spPr/>
        <p:txBody>
          <a:bodyPr/>
          <a:lstStyle/>
          <a:p>
            <a:pPr>
              <a:defRPr/>
            </a:pPr>
            <a:r>
              <a:rPr lang="en-US"/>
              <a:t>Coding Considerations 23- </a:t>
            </a:r>
            <a:fld id="{060BD193-E118-4B16-863C-C8C12C675E3E}" type="slidenum">
              <a:rPr lang="en-US" smtClean="0"/>
              <a:pPr>
                <a:defRPr/>
              </a:pPr>
              <a:t>‹#›</a:t>
            </a:fld>
            <a:endParaRPr lang="en-US" dirty="0"/>
          </a:p>
        </p:txBody>
      </p:sp>
    </p:spTree>
    <p:extLst>
      <p:ext uri="{BB962C8B-B14F-4D97-AF65-F5344CB8AC3E}">
        <p14:creationId xmlns:p14="http://schemas.microsoft.com/office/powerpoint/2010/main" val="1924661125"/>
      </p:ext>
    </p:extLst>
  </p:cSld>
  <p:clrMapOvr>
    <a:masterClrMapping/>
  </p:clrMapOvr>
  <p:hf hd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bg2"/>
        </a:solidFill>
        <a:effectLst/>
      </p:bgPr>
    </p:bg>
    <p:spTree>
      <p:nvGrpSpPr>
        <p:cNvPr id="1" name=""/>
        <p:cNvGrpSpPr/>
        <p:nvPr/>
      </p:nvGrpSpPr>
      <p:grpSpPr>
        <a:xfrm>
          <a:off x="0" y="0"/>
          <a:ext cx="0" cy="0"/>
          <a:chOff x="0" y="0"/>
          <a:chExt cx="0" cy="0"/>
        </a:xfrm>
      </p:grpSpPr>
      <p:sp>
        <p:nvSpPr>
          <p:cNvPr id="12" name="Title 1"/>
          <p:cNvSpPr>
            <a:spLocks noGrp="1"/>
          </p:cNvSpPr>
          <p:nvPr>
            <p:ph type="title" hasCustomPrompt="1"/>
          </p:nvPr>
        </p:nvSpPr>
        <p:spPr>
          <a:xfrm>
            <a:off x="872571" y="2971081"/>
            <a:ext cx="6727039" cy="761747"/>
          </a:xfrm>
        </p:spPr>
        <p:txBody>
          <a:bodyPr lIns="0" tIns="0" rIns="0" bIns="0" anchor="t">
            <a:noAutofit/>
          </a:bodyPr>
          <a:lstStyle>
            <a:lvl1pPr marL="0" algn="l" defTabSz="914126" rtl="0" eaLnBrk="1" latinLnBrk="0" hangingPunct="1">
              <a:lnSpc>
                <a:spcPct val="100000"/>
              </a:lnSpc>
              <a:spcBef>
                <a:spcPct val="0"/>
              </a:spcBef>
              <a:buNone/>
              <a:defRPr lang="en-US" sz="3599" b="1" i="0" kern="1200" baseline="0" dirty="0">
                <a:solidFill>
                  <a:schemeClr val="tx1"/>
                </a:solidFill>
                <a:latin typeface="Arial" charset="0"/>
                <a:ea typeface="+mj-ea"/>
                <a:cs typeface="Arial" charset="0"/>
              </a:defRPr>
            </a:lvl1pPr>
          </a:lstStyle>
          <a:p>
            <a:r>
              <a:rPr lang="en-US" dirty="0"/>
              <a:t>Insert Section Title Here</a:t>
            </a:r>
          </a:p>
        </p:txBody>
      </p:sp>
      <p:sp>
        <p:nvSpPr>
          <p:cNvPr id="24" name="Rectangle 23"/>
          <p:cNvSpPr/>
          <p:nvPr/>
        </p:nvSpPr>
        <p:spPr>
          <a:xfrm>
            <a:off x="10832950" y="6443472"/>
            <a:ext cx="1176170" cy="371856"/>
          </a:xfrm>
          <a:prstGeom prst="rect">
            <a:avLst/>
          </a:prstGeom>
          <a:solidFill>
            <a:srgbClr val="161C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9" name="Right Triangle 18">
            <a:extLst>
              <a:ext uri="{FF2B5EF4-FFF2-40B4-BE49-F238E27FC236}">
                <a16:creationId xmlns:a16="http://schemas.microsoft.com/office/drawing/2014/main" id="{60FB99D6-8BE6-3843-87F0-1BF2F1338A6C}"/>
              </a:ext>
            </a:extLst>
          </p:cNvPr>
          <p:cNvSpPr/>
          <p:nvPr/>
        </p:nvSpPr>
        <p:spPr>
          <a:xfrm rot="16200000">
            <a:off x="7412966" y="2078967"/>
            <a:ext cx="4779034" cy="4779034"/>
          </a:xfrm>
          <a:prstGeom prst="rtTriangle">
            <a:avLst/>
          </a:prstGeom>
          <a:solidFill>
            <a:schemeClr val="accent3">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Right Triangle 19">
            <a:extLst>
              <a:ext uri="{FF2B5EF4-FFF2-40B4-BE49-F238E27FC236}">
                <a16:creationId xmlns:a16="http://schemas.microsoft.com/office/drawing/2014/main" id="{7E68A1B2-3ABC-9D4A-B378-06C02AF8EB0C}"/>
              </a:ext>
            </a:extLst>
          </p:cNvPr>
          <p:cNvSpPr/>
          <p:nvPr/>
        </p:nvSpPr>
        <p:spPr>
          <a:xfrm rot="10800000">
            <a:off x="7412966" y="0"/>
            <a:ext cx="4792936" cy="4792936"/>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Right Triangle 5">
            <a:extLst>
              <a:ext uri="{FF2B5EF4-FFF2-40B4-BE49-F238E27FC236}">
                <a16:creationId xmlns:a16="http://schemas.microsoft.com/office/drawing/2014/main" id="{60184228-3525-514A-86C4-3C16B3BD697F}"/>
              </a:ext>
            </a:extLst>
          </p:cNvPr>
          <p:cNvSpPr/>
          <p:nvPr/>
        </p:nvSpPr>
        <p:spPr>
          <a:xfrm rot="16200000">
            <a:off x="7412966" y="2078967"/>
            <a:ext cx="4779034" cy="4779034"/>
          </a:xfrm>
          <a:prstGeom prst="rtTriangle">
            <a:avLst/>
          </a:prstGeom>
          <a:solidFill>
            <a:schemeClr val="accent3">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 name="Right Triangle 6">
            <a:extLst>
              <a:ext uri="{FF2B5EF4-FFF2-40B4-BE49-F238E27FC236}">
                <a16:creationId xmlns:a16="http://schemas.microsoft.com/office/drawing/2014/main" id="{DB5B8B0E-1006-BC4A-9FBE-4C9A0F8CB908}"/>
              </a:ext>
            </a:extLst>
          </p:cNvPr>
          <p:cNvSpPr/>
          <p:nvPr/>
        </p:nvSpPr>
        <p:spPr>
          <a:xfrm rot="10800000">
            <a:off x="7412966" y="0"/>
            <a:ext cx="4792936" cy="4792936"/>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Right Triangle 8">
            <a:extLst>
              <a:ext uri="{FF2B5EF4-FFF2-40B4-BE49-F238E27FC236}">
                <a16:creationId xmlns:a16="http://schemas.microsoft.com/office/drawing/2014/main" id="{CD6377F4-2164-4C47-B26D-2B2C92B343C5}"/>
              </a:ext>
            </a:extLst>
          </p:cNvPr>
          <p:cNvSpPr/>
          <p:nvPr/>
        </p:nvSpPr>
        <p:spPr>
          <a:xfrm rot="16200000">
            <a:off x="7412966" y="2078967"/>
            <a:ext cx="4779034" cy="4779034"/>
          </a:xfrm>
          <a:prstGeom prst="rtTriangle">
            <a:avLst/>
          </a:prstGeom>
          <a:solidFill>
            <a:schemeClr val="accent3">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ight Triangle 9">
            <a:extLst>
              <a:ext uri="{FF2B5EF4-FFF2-40B4-BE49-F238E27FC236}">
                <a16:creationId xmlns:a16="http://schemas.microsoft.com/office/drawing/2014/main" id="{50D1EABC-9772-9C41-B944-B07DB09ED607}"/>
              </a:ext>
            </a:extLst>
          </p:cNvPr>
          <p:cNvSpPr/>
          <p:nvPr/>
        </p:nvSpPr>
        <p:spPr>
          <a:xfrm rot="10800000">
            <a:off x="7412966" y="0"/>
            <a:ext cx="4792936" cy="4792936"/>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 name="Right Triangle 12">
            <a:extLst>
              <a:ext uri="{FF2B5EF4-FFF2-40B4-BE49-F238E27FC236}">
                <a16:creationId xmlns:a16="http://schemas.microsoft.com/office/drawing/2014/main" id="{CCEBED41-AE49-0A45-88A5-DA613F2CC363}"/>
              </a:ext>
            </a:extLst>
          </p:cNvPr>
          <p:cNvSpPr/>
          <p:nvPr/>
        </p:nvSpPr>
        <p:spPr>
          <a:xfrm rot="16200000">
            <a:off x="7412966" y="2078967"/>
            <a:ext cx="4779034" cy="4779034"/>
          </a:xfrm>
          <a:prstGeom prst="rtTriangle">
            <a:avLst/>
          </a:prstGeom>
          <a:solidFill>
            <a:schemeClr val="accent3">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Right Triangle 13">
            <a:extLst>
              <a:ext uri="{FF2B5EF4-FFF2-40B4-BE49-F238E27FC236}">
                <a16:creationId xmlns:a16="http://schemas.microsoft.com/office/drawing/2014/main" id="{1003DCE0-C55E-6448-AC1E-9D71F3EBB562}"/>
              </a:ext>
            </a:extLst>
          </p:cNvPr>
          <p:cNvSpPr/>
          <p:nvPr/>
        </p:nvSpPr>
        <p:spPr>
          <a:xfrm rot="10800000">
            <a:off x="7412966" y="0"/>
            <a:ext cx="4792936" cy="4792936"/>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6" name="Right Triangle 15">
            <a:extLst>
              <a:ext uri="{FF2B5EF4-FFF2-40B4-BE49-F238E27FC236}">
                <a16:creationId xmlns:a16="http://schemas.microsoft.com/office/drawing/2014/main" id="{31979BB4-D02E-AE4E-A8A8-2A7A55AB79CA}"/>
              </a:ext>
            </a:extLst>
          </p:cNvPr>
          <p:cNvSpPr/>
          <p:nvPr/>
        </p:nvSpPr>
        <p:spPr>
          <a:xfrm rot="16200000">
            <a:off x="7412966" y="2078967"/>
            <a:ext cx="4779034" cy="4779034"/>
          </a:xfrm>
          <a:prstGeom prst="rtTriangle">
            <a:avLst/>
          </a:prstGeom>
          <a:solidFill>
            <a:schemeClr val="accent3">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8" name="Right Triangle 17">
            <a:extLst>
              <a:ext uri="{FF2B5EF4-FFF2-40B4-BE49-F238E27FC236}">
                <a16:creationId xmlns:a16="http://schemas.microsoft.com/office/drawing/2014/main" id="{A03168C6-AAF2-8A4D-AE31-BF4FFA4AA02E}"/>
              </a:ext>
            </a:extLst>
          </p:cNvPr>
          <p:cNvSpPr/>
          <p:nvPr/>
        </p:nvSpPr>
        <p:spPr>
          <a:xfrm rot="10800000">
            <a:off x="7412966" y="0"/>
            <a:ext cx="4792936" cy="4792936"/>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2" name="Right Triangle 21">
            <a:extLst>
              <a:ext uri="{FF2B5EF4-FFF2-40B4-BE49-F238E27FC236}">
                <a16:creationId xmlns:a16="http://schemas.microsoft.com/office/drawing/2014/main" id="{0F9A8760-B4C4-654E-B224-4A478CF0477F}"/>
              </a:ext>
            </a:extLst>
          </p:cNvPr>
          <p:cNvSpPr/>
          <p:nvPr/>
        </p:nvSpPr>
        <p:spPr>
          <a:xfrm rot="16200000">
            <a:off x="7412966" y="2078967"/>
            <a:ext cx="4779034" cy="4779034"/>
          </a:xfrm>
          <a:prstGeom prst="rtTriangle">
            <a:avLst/>
          </a:prstGeom>
          <a:solidFill>
            <a:schemeClr val="accent3">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3" name="Right Triangle 22">
            <a:extLst>
              <a:ext uri="{FF2B5EF4-FFF2-40B4-BE49-F238E27FC236}">
                <a16:creationId xmlns:a16="http://schemas.microsoft.com/office/drawing/2014/main" id="{2227A6DD-EC13-EF49-9819-F92827EA4822}"/>
              </a:ext>
            </a:extLst>
          </p:cNvPr>
          <p:cNvSpPr/>
          <p:nvPr/>
        </p:nvSpPr>
        <p:spPr>
          <a:xfrm rot="10800000">
            <a:off x="7412966" y="0"/>
            <a:ext cx="4792936" cy="4792936"/>
          </a:xfrm>
          <a:prstGeom prst="r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7" name="Picture 16" descr="11.png"/>
          <p:cNvPicPr>
            <a:picLocks noChangeAspect="1"/>
          </p:cNvPicPr>
          <p:nvPr/>
        </p:nvPicPr>
        <p:blipFill rotWithShape="1">
          <a:blip r:embed="rId2" cstate="print">
            <a:alphaModFix amt="70000"/>
            <a:extLst>
              <a:ext uri="{28A0092B-C50C-407E-A947-70E740481C1C}">
                <a14:useLocalDpi xmlns:a14="http://schemas.microsoft.com/office/drawing/2010/main" val="0"/>
              </a:ext>
            </a:extLst>
          </a:blip>
          <a:srcRect t="-2013" b="2013"/>
          <a:stretch/>
        </p:blipFill>
        <p:spPr>
          <a:xfrm>
            <a:off x="9017001" y="0"/>
            <a:ext cx="3175000" cy="6858000"/>
          </a:xfrm>
          <a:prstGeom prst="rect">
            <a:avLst/>
          </a:prstGeom>
        </p:spPr>
      </p:pic>
      <p:pic>
        <p:nvPicPr>
          <p:cNvPr id="21" name="Picture 20">
            <a:extLst>
              <a:ext uri="{FF2B5EF4-FFF2-40B4-BE49-F238E27FC236}">
                <a16:creationId xmlns:a16="http://schemas.microsoft.com/office/drawing/2014/main" id="{DF656EFA-286F-5E4A-9F0B-E6DE9CBD220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2571" y="6020571"/>
            <a:ext cx="1280160" cy="259781"/>
          </a:xfrm>
          <a:prstGeom prst="rect">
            <a:avLst/>
          </a:prstGeom>
        </p:spPr>
      </p:pic>
    </p:spTree>
    <p:extLst>
      <p:ext uri="{BB962C8B-B14F-4D97-AF65-F5344CB8AC3E}">
        <p14:creationId xmlns:p14="http://schemas.microsoft.com/office/powerpoint/2010/main" val="3879458788"/>
      </p:ext>
    </p:extLst>
  </p:cSld>
  <p:clrMapOvr>
    <a:overrideClrMapping bg1="dk1" tx1="lt1" bg2="dk2" tx2="lt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ection Header (with Picture)">
    <p:bg>
      <p:bgPr>
        <a:solidFill>
          <a:schemeClr val="bg2"/>
        </a:solidFill>
        <a:effectLst/>
      </p:bgPr>
    </p:bg>
    <p:spTree>
      <p:nvGrpSpPr>
        <p:cNvPr id="1" name=""/>
        <p:cNvGrpSpPr/>
        <p:nvPr/>
      </p:nvGrpSpPr>
      <p:grpSpPr>
        <a:xfrm>
          <a:off x="0" y="0"/>
          <a:ext cx="0" cy="0"/>
          <a:chOff x="0" y="0"/>
          <a:chExt cx="0" cy="0"/>
        </a:xfrm>
      </p:grpSpPr>
      <p:sp>
        <p:nvSpPr>
          <p:cNvPr id="12" name="Title 1"/>
          <p:cNvSpPr>
            <a:spLocks noGrp="1"/>
          </p:cNvSpPr>
          <p:nvPr>
            <p:ph type="title" hasCustomPrompt="1"/>
          </p:nvPr>
        </p:nvSpPr>
        <p:spPr>
          <a:xfrm>
            <a:off x="960121" y="2971081"/>
            <a:ext cx="5440678" cy="2686771"/>
          </a:xfrm>
        </p:spPr>
        <p:txBody>
          <a:bodyPr lIns="0" tIns="0" rIns="0" bIns="0" anchor="t">
            <a:noAutofit/>
          </a:bodyPr>
          <a:lstStyle>
            <a:lvl1pPr marL="0" algn="l" defTabSz="914126" rtl="0" eaLnBrk="1" latinLnBrk="0" hangingPunct="1">
              <a:lnSpc>
                <a:spcPct val="100000"/>
              </a:lnSpc>
              <a:spcBef>
                <a:spcPct val="0"/>
              </a:spcBef>
              <a:buNone/>
              <a:defRPr lang="en-US" sz="3599" b="1" i="0" kern="1200" baseline="0" dirty="0">
                <a:solidFill>
                  <a:schemeClr val="tx1"/>
                </a:solidFill>
                <a:latin typeface="Arial" charset="0"/>
                <a:ea typeface="+mj-ea"/>
                <a:cs typeface="Arial" charset="0"/>
              </a:defRPr>
            </a:lvl1pPr>
          </a:lstStyle>
          <a:p>
            <a:r>
              <a:rPr lang="en-US" dirty="0"/>
              <a:t>Insert Section Title Here</a:t>
            </a:r>
          </a:p>
        </p:txBody>
      </p:sp>
      <p:sp>
        <p:nvSpPr>
          <p:cNvPr id="13" name="Rectangle 12"/>
          <p:cNvSpPr/>
          <p:nvPr/>
        </p:nvSpPr>
        <p:spPr>
          <a:xfrm>
            <a:off x="10832950" y="6443472"/>
            <a:ext cx="1176170" cy="371856"/>
          </a:xfrm>
          <a:prstGeom prst="rect">
            <a:avLst/>
          </a:prstGeom>
          <a:solidFill>
            <a:srgbClr val="161C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 name="Right Triangle 2">
            <a:extLst>
              <a:ext uri="{FF2B5EF4-FFF2-40B4-BE49-F238E27FC236}">
                <a16:creationId xmlns:a16="http://schemas.microsoft.com/office/drawing/2014/main" id="{30B7BA82-6A86-384D-B04E-8D5191D59474}"/>
              </a:ext>
            </a:extLst>
          </p:cNvPr>
          <p:cNvSpPr/>
          <p:nvPr/>
        </p:nvSpPr>
        <p:spPr>
          <a:xfrm rot="10800000">
            <a:off x="7412966" y="0"/>
            <a:ext cx="4792936" cy="4792936"/>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 name="Right Triangle 6">
            <a:extLst>
              <a:ext uri="{FF2B5EF4-FFF2-40B4-BE49-F238E27FC236}">
                <a16:creationId xmlns:a16="http://schemas.microsoft.com/office/drawing/2014/main" id="{71A1DA86-877F-0F49-BEED-32E9369C39C3}"/>
              </a:ext>
            </a:extLst>
          </p:cNvPr>
          <p:cNvSpPr/>
          <p:nvPr/>
        </p:nvSpPr>
        <p:spPr>
          <a:xfrm rot="10800000">
            <a:off x="7412966" y="0"/>
            <a:ext cx="4792936" cy="4792936"/>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Right Triangle 8">
            <a:extLst>
              <a:ext uri="{FF2B5EF4-FFF2-40B4-BE49-F238E27FC236}">
                <a16:creationId xmlns:a16="http://schemas.microsoft.com/office/drawing/2014/main" id="{E398C142-ECE9-DD49-BB91-2DA6D9B51231}"/>
              </a:ext>
            </a:extLst>
          </p:cNvPr>
          <p:cNvSpPr/>
          <p:nvPr/>
        </p:nvSpPr>
        <p:spPr>
          <a:xfrm rot="10800000">
            <a:off x="7412966" y="0"/>
            <a:ext cx="4792936" cy="4792936"/>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Right Triangle 10">
            <a:extLst>
              <a:ext uri="{FF2B5EF4-FFF2-40B4-BE49-F238E27FC236}">
                <a16:creationId xmlns:a16="http://schemas.microsoft.com/office/drawing/2014/main" id="{228A73BA-1743-4F4E-913D-21292EC9018A}"/>
              </a:ext>
            </a:extLst>
          </p:cNvPr>
          <p:cNvSpPr/>
          <p:nvPr/>
        </p:nvSpPr>
        <p:spPr>
          <a:xfrm rot="10800000">
            <a:off x="7412966" y="0"/>
            <a:ext cx="4792936" cy="4792936"/>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Right Triangle 13">
            <a:extLst>
              <a:ext uri="{FF2B5EF4-FFF2-40B4-BE49-F238E27FC236}">
                <a16:creationId xmlns:a16="http://schemas.microsoft.com/office/drawing/2014/main" id="{48DF7FB5-0303-8F4D-A597-E38379253F50}"/>
              </a:ext>
            </a:extLst>
          </p:cNvPr>
          <p:cNvSpPr/>
          <p:nvPr/>
        </p:nvSpPr>
        <p:spPr>
          <a:xfrm rot="10800000">
            <a:off x="7412966" y="0"/>
            <a:ext cx="4792936" cy="4792936"/>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9" name="Right Triangle 18">
            <a:extLst>
              <a:ext uri="{FF2B5EF4-FFF2-40B4-BE49-F238E27FC236}">
                <a16:creationId xmlns:a16="http://schemas.microsoft.com/office/drawing/2014/main" id="{8BDABBB2-33CA-9440-B11D-5EAC9D5D4358}"/>
              </a:ext>
            </a:extLst>
          </p:cNvPr>
          <p:cNvSpPr/>
          <p:nvPr/>
        </p:nvSpPr>
        <p:spPr>
          <a:xfrm rot="16200000">
            <a:off x="7412966" y="2078967"/>
            <a:ext cx="4779034" cy="4779034"/>
          </a:xfrm>
          <a:prstGeom prst="rtTriangle">
            <a:avLst/>
          </a:prstGeom>
          <a:solidFill>
            <a:schemeClr val="accent3">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Right Triangle 19">
            <a:extLst>
              <a:ext uri="{FF2B5EF4-FFF2-40B4-BE49-F238E27FC236}">
                <a16:creationId xmlns:a16="http://schemas.microsoft.com/office/drawing/2014/main" id="{5CE9204F-1C73-5D4A-8857-934625F01F43}"/>
              </a:ext>
            </a:extLst>
          </p:cNvPr>
          <p:cNvSpPr/>
          <p:nvPr/>
        </p:nvSpPr>
        <p:spPr>
          <a:xfrm rot="10800000">
            <a:off x="7412966" y="0"/>
            <a:ext cx="4792936" cy="4792936"/>
          </a:xfrm>
          <a:prstGeom prst="r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 name="Picture Placeholder 426"/>
          <p:cNvSpPr>
            <a:spLocks noGrp="1"/>
          </p:cNvSpPr>
          <p:nvPr>
            <p:ph type="pic" sz="quarter" idx="11"/>
          </p:nvPr>
        </p:nvSpPr>
        <p:spPr>
          <a:xfrm>
            <a:off x="6820346" y="1200150"/>
            <a:ext cx="4457700" cy="4457700"/>
          </a:xfrm>
          <a:solidFill>
            <a:schemeClr val="accent3"/>
          </a:solidFill>
        </p:spPr>
        <p:txBody>
          <a:bodyPr tIns="1371600" bIns="0" anchor="ctr" anchorCtr="0">
            <a:noAutofit/>
          </a:bodyPr>
          <a:lstStyle>
            <a:lvl1pPr algn="ctr">
              <a:defRPr sz="1350">
                <a:solidFill>
                  <a:schemeClr val="bg1"/>
                </a:solidFill>
              </a:defRPr>
            </a:lvl1pPr>
          </a:lstStyle>
          <a:p>
            <a:r>
              <a:rPr lang="en-US" altLang="zh-CN"/>
              <a:t>Click icon to add picture</a:t>
            </a:r>
            <a:endParaRPr lang="en-US" dirty="0"/>
          </a:p>
        </p:txBody>
      </p:sp>
    </p:spTree>
    <p:extLst>
      <p:ext uri="{BB962C8B-B14F-4D97-AF65-F5344CB8AC3E}">
        <p14:creationId xmlns:p14="http://schemas.microsoft.com/office/powerpoint/2010/main" val="1571448891"/>
      </p:ext>
    </p:extLst>
  </p:cSld>
  <p:clrMapOvr>
    <a:overrideClrMapping bg1="dk1" tx1="lt1" bg2="dk2" tx2="lt2" accent1="accent1" accent2="accent2" accent3="accent3" accent4="accent4" accent5="accent5" accent6="accent6" hlink="hlink" folHlink="folHlink"/>
  </p:clrMapOvr>
  <p:hf hd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Content Placeholder 2"/>
          <p:cNvSpPr>
            <a:spLocks noGrp="1"/>
          </p:cNvSpPr>
          <p:nvPr>
            <p:ph sz="half" idx="1"/>
          </p:nvPr>
        </p:nvSpPr>
        <p:spPr>
          <a:xfrm>
            <a:off x="621793" y="1463042"/>
            <a:ext cx="5181600" cy="4835843"/>
          </a:xfrm>
        </p:spPr>
        <p:txBody>
          <a:bodyPr/>
          <a:lstStyle>
            <a:lvl1pPr>
              <a:defRPr sz="1799">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5955793" y="1463042"/>
            <a:ext cx="5181600" cy="4835843"/>
          </a:xfrm>
        </p:spPr>
        <p:txBody>
          <a:bodyPr/>
          <a:lstStyle>
            <a:lvl1pPr>
              <a:defRPr sz="1799">
                <a:solidFill>
                  <a:schemeClr val="tx1"/>
                </a:solidFill>
              </a:defRPr>
            </a:lvl1pPr>
            <a:lvl2pPr>
              <a:defRPr sz="1600">
                <a:solidFill>
                  <a:schemeClr val="tx1"/>
                </a:solidFill>
              </a:defRPr>
            </a:lvl2pPr>
            <a:lvl3pPr>
              <a:defRPr sz="1799">
                <a:solidFill>
                  <a:schemeClr val="tx1"/>
                </a:solidFill>
              </a:defRPr>
            </a:lvl3pPr>
            <a:lvl4pPr>
              <a:defRPr sz="1600">
                <a:solidFill>
                  <a:schemeClr val="tx1"/>
                </a:solidFill>
              </a:defRPr>
            </a:lvl4pPr>
            <a:lvl5pPr>
              <a:defRPr sz="1600">
                <a:solidFill>
                  <a:schemeClr val="tx1"/>
                </a:solidFill>
              </a:defRPr>
            </a:lvl5p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9" name="Slide Number Placeholder 8"/>
          <p:cNvSpPr>
            <a:spLocks noGrp="1"/>
          </p:cNvSpPr>
          <p:nvPr>
            <p:ph type="sldNum" sz="quarter" idx="10"/>
          </p:nvPr>
        </p:nvSpPr>
        <p:spPr/>
        <p:txBody>
          <a:bodyPr/>
          <a:lstStyle/>
          <a:p>
            <a:pPr>
              <a:defRPr/>
            </a:pPr>
            <a:r>
              <a:rPr lang="en-US"/>
              <a:t>Coding Considerations 23- </a:t>
            </a:r>
            <a:fld id="{060BD193-E118-4B16-863C-C8C12C675E3E}" type="slidenum">
              <a:rPr lang="en-US" smtClean="0"/>
              <a:pPr>
                <a:defRPr/>
              </a:pPr>
              <a:t>‹#›</a:t>
            </a:fld>
            <a:endParaRPr lang="en-US" dirty="0"/>
          </a:p>
        </p:txBody>
      </p:sp>
      <p:pic>
        <p:nvPicPr>
          <p:cNvPr id="6" name="Picture 5" descr="1.png">
            <a:extLst>
              <a:ext uri="{FF2B5EF4-FFF2-40B4-BE49-F238E27FC236}">
                <a16:creationId xmlns:a16="http://schemas.microsoft.com/office/drawing/2014/main" id="{175C80C8-C178-9C4A-9F97-6978E22E311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017001" y="0"/>
            <a:ext cx="3175000" cy="6858000"/>
          </a:xfrm>
          <a:prstGeom prst="rect">
            <a:avLst/>
          </a:prstGeom>
        </p:spPr>
      </p:pic>
    </p:spTree>
    <p:extLst>
      <p:ext uri="{BB962C8B-B14F-4D97-AF65-F5344CB8AC3E}">
        <p14:creationId xmlns:p14="http://schemas.microsoft.com/office/powerpoint/2010/main" val="86687642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wo Content (WHI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Content Placeholder 2"/>
          <p:cNvSpPr>
            <a:spLocks noGrp="1"/>
          </p:cNvSpPr>
          <p:nvPr>
            <p:ph sz="half" idx="1"/>
          </p:nvPr>
        </p:nvSpPr>
        <p:spPr>
          <a:xfrm>
            <a:off x="621793" y="1463042"/>
            <a:ext cx="5181600" cy="4835843"/>
          </a:xfrm>
        </p:spPr>
        <p:txBody>
          <a:bodyPr/>
          <a:lstStyle>
            <a:lvl1pPr>
              <a:defRPr sz="1799">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5955793" y="1463042"/>
            <a:ext cx="5181600" cy="4835843"/>
          </a:xfrm>
        </p:spPr>
        <p:txBody>
          <a:bodyPr/>
          <a:lstStyle>
            <a:lvl1pPr>
              <a:defRPr sz="1799">
                <a:solidFill>
                  <a:schemeClr val="tx1"/>
                </a:solidFill>
              </a:defRPr>
            </a:lvl1pPr>
            <a:lvl2pPr>
              <a:defRPr sz="1600">
                <a:solidFill>
                  <a:schemeClr val="tx1"/>
                </a:solidFill>
              </a:defRPr>
            </a:lvl2pPr>
            <a:lvl3pPr>
              <a:defRPr sz="1799">
                <a:solidFill>
                  <a:schemeClr val="tx1"/>
                </a:solidFill>
              </a:defRPr>
            </a:lvl3pPr>
            <a:lvl4pPr>
              <a:defRPr sz="1600">
                <a:solidFill>
                  <a:schemeClr val="tx1"/>
                </a:solidFill>
              </a:defRPr>
            </a:lvl4pPr>
            <a:lvl5pPr>
              <a:defRPr sz="1600">
                <a:solidFill>
                  <a:schemeClr val="tx1"/>
                </a:solidFill>
              </a:defRPr>
            </a:lvl5p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9" name="Slide Number Placeholder 8"/>
          <p:cNvSpPr>
            <a:spLocks noGrp="1"/>
          </p:cNvSpPr>
          <p:nvPr>
            <p:ph type="sldNum" sz="quarter" idx="10"/>
          </p:nvPr>
        </p:nvSpPr>
        <p:spPr/>
        <p:txBody>
          <a:bodyPr/>
          <a:lstStyle/>
          <a:p>
            <a:pPr>
              <a:defRPr/>
            </a:pPr>
            <a:r>
              <a:rPr lang="en-US"/>
              <a:t>Coding Considerations 23- </a:t>
            </a:r>
            <a:fld id="{060BD193-E118-4B16-863C-C8C12C675E3E}" type="slidenum">
              <a:rPr lang="en-US" smtClean="0"/>
              <a:pPr>
                <a:defRPr/>
              </a:pPr>
              <a:t>‹#›</a:t>
            </a:fld>
            <a:endParaRPr lang="en-US" dirty="0"/>
          </a:p>
        </p:txBody>
      </p:sp>
    </p:spTree>
    <p:extLst>
      <p:ext uri="{BB962C8B-B14F-4D97-AF65-F5344CB8AC3E}">
        <p14:creationId xmlns:p14="http://schemas.microsoft.com/office/powerpoint/2010/main" val="2072006547"/>
      </p:ext>
    </p:extLst>
  </p:cSld>
  <p:clrMapOvr>
    <a:masterClrMapping/>
  </p:clrMapOvr>
  <p:hf hd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8" name="Slide Number Placeholder 7"/>
          <p:cNvSpPr>
            <a:spLocks noGrp="1"/>
          </p:cNvSpPr>
          <p:nvPr>
            <p:ph type="sldNum" sz="quarter" idx="10"/>
          </p:nvPr>
        </p:nvSpPr>
        <p:spPr/>
        <p:txBody>
          <a:bodyPr/>
          <a:lstStyle/>
          <a:p>
            <a:pPr>
              <a:defRPr/>
            </a:pPr>
            <a:r>
              <a:rPr lang="en-US"/>
              <a:t>Coding Considerations 23- </a:t>
            </a:r>
            <a:fld id="{060BD193-E118-4B16-863C-C8C12C675E3E}" type="slidenum">
              <a:rPr lang="en-US" smtClean="0"/>
              <a:pPr>
                <a:defRPr/>
              </a:pPr>
              <a:t>‹#›</a:t>
            </a:fld>
            <a:endParaRPr lang="en-US" dirty="0"/>
          </a:p>
        </p:txBody>
      </p:sp>
      <p:pic>
        <p:nvPicPr>
          <p:cNvPr id="4" name="Picture 3" descr="1.png">
            <a:extLst>
              <a:ext uri="{FF2B5EF4-FFF2-40B4-BE49-F238E27FC236}">
                <a16:creationId xmlns:a16="http://schemas.microsoft.com/office/drawing/2014/main" id="{0C30E8B4-72CA-F045-86DE-DA0CF9BCF0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017001" y="0"/>
            <a:ext cx="3175000" cy="6858000"/>
          </a:xfrm>
          <a:prstGeom prst="rect">
            <a:avLst/>
          </a:prstGeom>
        </p:spPr>
      </p:pic>
    </p:spTree>
    <p:extLst>
      <p:ext uri="{BB962C8B-B14F-4D97-AF65-F5344CB8AC3E}">
        <p14:creationId xmlns:p14="http://schemas.microsoft.com/office/powerpoint/2010/main" val="576304662"/>
      </p:ext>
    </p:extLst>
  </p:cSld>
  <p:clrMapOvr>
    <a:masterClrMapping/>
  </p:clrMapOvr>
  <p:hf hd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Only (WHI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8" name="Slide Number Placeholder 7"/>
          <p:cNvSpPr>
            <a:spLocks noGrp="1"/>
          </p:cNvSpPr>
          <p:nvPr>
            <p:ph type="sldNum" sz="quarter" idx="10"/>
          </p:nvPr>
        </p:nvSpPr>
        <p:spPr/>
        <p:txBody>
          <a:bodyPr/>
          <a:lstStyle/>
          <a:p>
            <a:pPr>
              <a:defRPr/>
            </a:pPr>
            <a:r>
              <a:rPr lang="en-US"/>
              <a:t>Coding Considerations 23- </a:t>
            </a:r>
            <a:fld id="{060BD193-E118-4B16-863C-C8C12C675E3E}" type="slidenum">
              <a:rPr lang="en-US" smtClean="0"/>
              <a:pPr>
                <a:defRPr/>
              </a:pPr>
              <a:t>‹#›</a:t>
            </a:fld>
            <a:endParaRPr lang="en-US" dirty="0"/>
          </a:p>
        </p:txBody>
      </p:sp>
    </p:spTree>
    <p:extLst>
      <p:ext uri="{BB962C8B-B14F-4D97-AF65-F5344CB8AC3E}">
        <p14:creationId xmlns:p14="http://schemas.microsoft.com/office/powerpoint/2010/main" val="1694216362"/>
      </p:ext>
    </p:extLst>
  </p:cSld>
  <p:clrMapOvr>
    <a:masterClrMapping/>
  </p:clrMapOvr>
  <p:hf hd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hree Picture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6" name="Slide Number Placeholder 5"/>
          <p:cNvSpPr>
            <a:spLocks noGrp="1"/>
          </p:cNvSpPr>
          <p:nvPr>
            <p:ph type="sldNum" sz="quarter" idx="10"/>
          </p:nvPr>
        </p:nvSpPr>
        <p:spPr/>
        <p:txBody>
          <a:bodyPr/>
          <a:lstStyle/>
          <a:p>
            <a:pPr>
              <a:defRPr/>
            </a:pPr>
            <a:r>
              <a:rPr lang="en-US"/>
              <a:t>Coding Considerations 23- </a:t>
            </a:r>
            <a:fld id="{060BD193-E118-4B16-863C-C8C12C675E3E}" type="slidenum">
              <a:rPr lang="en-US" smtClean="0"/>
              <a:pPr>
                <a:defRPr/>
              </a:pPr>
              <a:t>‹#›</a:t>
            </a:fld>
            <a:endParaRPr lang="en-US" dirty="0"/>
          </a:p>
        </p:txBody>
      </p:sp>
      <p:sp>
        <p:nvSpPr>
          <p:cNvPr id="4" name="Text Placeholder 6"/>
          <p:cNvSpPr>
            <a:spLocks noGrp="1"/>
          </p:cNvSpPr>
          <p:nvPr>
            <p:ph type="body" sz="quarter" idx="16" hasCustomPrompt="1"/>
          </p:nvPr>
        </p:nvSpPr>
        <p:spPr>
          <a:xfrm>
            <a:off x="913820" y="4884003"/>
            <a:ext cx="3078480" cy="553998"/>
          </a:xfrm>
        </p:spPr>
        <p:txBody>
          <a:bodyPr/>
          <a:lstStyle>
            <a:lvl1pPr marL="0" indent="0">
              <a:buNone/>
              <a:defRPr sz="1799">
                <a:solidFill>
                  <a:srgbClr val="171C2D"/>
                </a:solidFill>
              </a:defRPr>
            </a:lvl1pPr>
            <a:lvl2pPr>
              <a:defRPr sz="1350"/>
            </a:lvl2pPr>
            <a:lvl3pPr>
              <a:defRPr sz="1350"/>
            </a:lvl3pPr>
            <a:lvl4pPr>
              <a:defRPr sz="1350"/>
            </a:lvl4pPr>
            <a:lvl5pPr>
              <a:defRPr sz="1350"/>
            </a:lvl5pPr>
          </a:lstStyle>
          <a:p>
            <a:pPr lvl="0"/>
            <a:r>
              <a:rPr lang="en-US" dirty="0"/>
              <a:t>Insert additional supporting text here.</a:t>
            </a:r>
          </a:p>
        </p:txBody>
      </p:sp>
      <p:sp>
        <p:nvSpPr>
          <p:cNvPr id="5" name="Text Placeholder 6"/>
          <p:cNvSpPr>
            <a:spLocks noGrp="1"/>
          </p:cNvSpPr>
          <p:nvPr>
            <p:ph type="body" sz="quarter" idx="17" hasCustomPrompt="1"/>
          </p:nvPr>
        </p:nvSpPr>
        <p:spPr>
          <a:xfrm>
            <a:off x="4514270" y="4884003"/>
            <a:ext cx="3078480" cy="553998"/>
          </a:xfrm>
        </p:spPr>
        <p:txBody>
          <a:bodyPr/>
          <a:lstStyle>
            <a:lvl1pPr marL="0" indent="0">
              <a:buNone/>
              <a:defRPr sz="1799">
                <a:solidFill>
                  <a:schemeClr val="tx1"/>
                </a:solidFill>
              </a:defRPr>
            </a:lvl1pPr>
            <a:lvl2pPr>
              <a:defRPr sz="1350"/>
            </a:lvl2pPr>
            <a:lvl3pPr>
              <a:defRPr sz="1350"/>
            </a:lvl3pPr>
            <a:lvl4pPr>
              <a:defRPr sz="1350"/>
            </a:lvl4pPr>
            <a:lvl5pPr>
              <a:defRPr sz="1350"/>
            </a:lvl5pPr>
          </a:lstStyle>
          <a:p>
            <a:pPr lvl="0"/>
            <a:r>
              <a:rPr lang="en-US" dirty="0"/>
              <a:t>Insert additional supporting text here.</a:t>
            </a:r>
          </a:p>
        </p:txBody>
      </p:sp>
      <p:sp>
        <p:nvSpPr>
          <p:cNvPr id="7" name="Text Placeholder 6"/>
          <p:cNvSpPr>
            <a:spLocks noGrp="1"/>
          </p:cNvSpPr>
          <p:nvPr>
            <p:ph type="body" sz="quarter" idx="18" hasCustomPrompt="1"/>
          </p:nvPr>
        </p:nvSpPr>
        <p:spPr>
          <a:xfrm>
            <a:off x="8114720" y="4884003"/>
            <a:ext cx="3078480" cy="553998"/>
          </a:xfrm>
        </p:spPr>
        <p:txBody>
          <a:bodyPr/>
          <a:lstStyle>
            <a:lvl1pPr marL="0" indent="0">
              <a:buNone/>
              <a:defRPr sz="1799">
                <a:solidFill>
                  <a:srgbClr val="171C2D"/>
                </a:solidFill>
              </a:defRPr>
            </a:lvl1pPr>
            <a:lvl2pPr>
              <a:defRPr sz="1350"/>
            </a:lvl2pPr>
            <a:lvl3pPr>
              <a:defRPr sz="1350"/>
            </a:lvl3pPr>
            <a:lvl4pPr>
              <a:defRPr sz="1350"/>
            </a:lvl4pPr>
            <a:lvl5pPr>
              <a:defRPr sz="1350"/>
            </a:lvl5pPr>
          </a:lstStyle>
          <a:p>
            <a:pPr lvl="0"/>
            <a:r>
              <a:rPr lang="en-US" dirty="0"/>
              <a:t>Insert additional supporting text here.</a:t>
            </a:r>
          </a:p>
        </p:txBody>
      </p:sp>
      <p:sp>
        <p:nvSpPr>
          <p:cNvPr id="8" name="Picture Placeholder 426"/>
          <p:cNvSpPr>
            <a:spLocks noGrp="1"/>
          </p:cNvSpPr>
          <p:nvPr>
            <p:ph type="pic" sz="quarter" idx="11"/>
          </p:nvPr>
        </p:nvSpPr>
        <p:spPr>
          <a:xfrm>
            <a:off x="8107100" y="1455003"/>
            <a:ext cx="3086100" cy="3086100"/>
          </a:xfrm>
          <a:solidFill>
            <a:schemeClr val="accent3"/>
          </a:solidFill>
        </p:spPr>
        <p:txBody>
          <a:bodyPr tIns="1371600" bIns="0" anchor="ctr" anchorCtr="0">
            <a:noAutofit/>
          </a:bodyPr>
          <a:lstStyle>
            <a:lvl1pPr marL="0" indent="0" algn="ctr">
              <a:buNone/>
              <a:defRPr sz="1350"/>
            </a:lvl1pPr>
          </a:lstStyle>
          <a:p>
            <a:r>
              <a:rPr lang="en-US" altLang="zh-CN"/>
              <a:t>Click icon to add picture</a:t>
            </a:r>
            <a:endParaRPr lang="en-US" dirty="0"/>
          </a:p>
        </p:txBody>
      </p:sp>
      <p:sp>
        <p:nvSpPr>
          <p:cNvPr id="9" name="Picture Placeholder 426"/>
          <p:cNvSpPr>
            <a:spLocks noGrp="1"/>
          </p:cNvSpPr>
          <p:nvPr>
            <p:ph type="pic" sz="quarter" idx="19"/>
          </p:nvPr>
        </p:nvSpPr>
        <p:spPr>
          <a:xfrm>
            <a:off x="906201" y="1455003"/>
            <a:ext cx="3086100" cy="3086100"/>
          </a:xfrm>
          <a:solidFill>
            <a:schemeClr val="accent3"/>
          </a:solidFill>
        </p:spPr>
        <p:txBody>
          <a:bodyPr tIns="1371600" bIns="0" anchor="ctr" anchorCtr="0">
            <a:noAutofit/>
          </a:bodyPr>
          <a:lstStyle>
            <a:lvl1pPr marL="0" indent="0" algn="ctr">
              <a:buNone/>
              <a:defRPr sz="1350"/>
            </a:lvl1pPr>
          </a:lstStyle>
          <a:p>
            <a:r>
              <a:rPr lang="en-US" altLang="zh-CN"/>
              <a:t>Click icon to add picture</a:t>
            </a:r>
            <a:endParaRPr lang="en-US" dirty="0"/>
          </a:p>
        </p:txBody>
      </p:sp>
      <p:sp>
        <p:nvSpPr>
          <p:cNvPr id="10" name="Picture Placeholder 426"/>
          <p:cNvSpPr>
            <a:spLocks noGrp="1"/>
          </p:cNvSpPr>
          <p:nvPr>
            <p:ph type="pic" sz="quarter" idx="20"/>
          </p:nvPr>
        </p:nvSpPr>
        <p:spPr>
          <a:xfrm>
            <a:off x="4514270" y="1455003"/>
            <a:ext cx="3086100" cy="3086100"/>
          </a:xfrm>
          <a:solidFill>
            <a:schemeClr val="accent3"/>
          </a:solidFill>
        </p:spPr>
        <p:txBody>
          <a:bodyPr tIns="1371600" bIns="0" anchor="ctr" anchorCtr="0">
            <a:noAutofit/>
          </a:bodyPr>
          <a:lstStyle>
            <a:lvl1pPr marL="0" indent="0" algn="ctr">
              <a:buNone/>
              <a:defRPr sz="1350"/>
            </a:lvl1pPr>
          </a:lstStyle>
          <a:p>
            <a:r>
              <a:rPr lang="en-US" altLang="zh-CN"/>
              <a:t>Click icon to add picture</a:t>
            </a:r>
            <a:endParaRPr lang="en-US" dirty="0"/>
          </a:p>
        </p:txBody>
      </p:sp>
    </p:spTree>
    <p:extLst>
      <p:ext uri="{BB962C8B-B14F-4D97-AF65-F5344CB8AC3E}">
        <p14:creationId xmlns:p14="http://schemas.microsoft.com/office/powerpoint/2010/main" val="986005322"/>
      </p:ext>
    </p:extLst>
  </p:cSld>
  <p:clrMapOvr>
    <a:masterClrMapping/>
  </p:clrMapOvr>
  <p:hf hd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imple Statem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512AD6E-7A81-4D46-A4DC-BC3429D8CFF8}"/>
              </a:ext>
            </a:extLst>
          </p:cNvPr>
          <p:cNvSpPr>
            <a:spLocks noGrp="1"/>
          </p:cNvSpPr>
          <p:nvPr>
            <p:ph type="title" hasCustomPrompt="1"/>
          </p:nvPr>
        </p:nvSpPr>
        <p:spPr>
          <a:xfrm>
            <a:off x="952501" y="2286762"/>
            <a:ext cx="5772150" cy="761746"/>
          </a:xfrm>
        </p:spPr>
        <p:txBody>
          <a:bodyPr/>
          <a:lstStyle>
            <a:lvl1pPr>
              <a:defRPr lang="en-US" sz="4799" b="1" i="0" kern="1200" dirty="0">
                <a:solidFill>
                  <a:srgbClr val="171C2D"/>
                </a:solidFill>
                <a:latin typeface="Arial" charset="0"/>
                <a:ea typeface="+mj-ea"/>
                <a:cs typeface="Arial" charset="0"/>
              </a:defRPr>
            </a:lvl1pPr>
          </a:lstStyle>
          <a:p>
            <a:r>
              <a:rPr lang="en-US" dirty="0"/>
              <a:t>Simple Statement</a:t>
            </a:r>
          </a:p>
        </p:txBody>
      </p:sp>
      <p:sp>
        <p:nvSpPr>
          <p:cNvPr id="5" name="Slide Number Placeholder 2">
            <a:extLst>
              <a:ext uri="{FF2B5EF4-FFF2-40B4-BE49-F238E27FC236}">
                <a16:creationId xmlns:a16="http://schemas.microsoft.com/office/drawing/2014/main" id="{2C22C299-FDA6-164A-B353-229958A83E52}"/>
              </a:ext>
            </a:extLst>
          </p:cNvPr>
          <p:cNvSpPr>
            <a:spLocks noGrp="1"/>
          </p:cNvSpPr>
          <p:nvPr>
            <p:ph type="sldNum" sz="quarter" idx="10"/>
          </p:nvPr>
        </p:nvSpPr>
        <p:spPr>
          <a:xfrm>
            <a:off x="647700" y="6356352"/>
            <a:ext cx="2743200" cy="365125"/>
          </a:xfrm>
        </p:spPr>
        <p:txBody>
          <a:bodyPr/>
          <a:lstStyle/>
          <a:p>
            <a:pPr>
              <a:defRPr/>
            </a:pPr>
            <a:r>
              <a:rPr lang="en-US"/>
              <a:t>Coding Considerations 23- </a:t>
            </a:r>
            <a:fld id="{060BD193-E118-4B16-863C-C8C12C675E3E}" type="slidenum">
              <a:rPr lang="en-US" smtClean="0"/>
              <a:pPr>
                <a:defRPr/>
              </a:pPr>
              <a:t>‹#›</a:t>
            </a:fld>
            <a:endParaRPr lang="en-US" dirty="0"/>
          </a:p>
        </p:txBody>
      </p:sp>
      <p:sp>
        <p:nvSpPr>
          <p:cNvPr id="6" name="Text Placeholder 5">
            <a:extLst>
              <a:ext uri="{FF2B5EF4-FFF2-40B4-BE49-F238E27FC236}">
                <a16:creationId xmlns:a16="http://schemas.microsoft.com/office/drawing/2014/main" id="{EE658E4E-230D-8D43-99E8-0341ED808C7C}"/>
              </a:ext>
            </a:extLst>
          </p:cNvPr>
          <p:cNvSpPr>
            <a:spLocks noGrp="1"/>
          </p:cNvSpPr>
          <p:nvPr>
            <p:ph type="body" sz="quarter" idx="12" hasCustomPrompt="1"/>
          </p:nvPr>
        </p:nvSpPr>
        <p:spPr>
          <a:xfrm>
            <a:off x="952501" y="3048511"/>
            <a:ext cx="5772150" cy="1354217"/>
          </a:xfrm>
        </p:spPr>
        <p:txBody>
          <a:bodyPr/>
          <a:lstStyle>
            <a:lvl1pPr marL="0" indent="0">
              <a:buNone/>
              <a:defRPr sz="4399" b="0" i="0" baseline="0">
                <a:solidFill>
                  <a:srgbClr val="EC1C24"/>
                </a:solidFill>
                <a:latin typeface="Arial" charset="0"/>
                <a:ea typeface="Arial" charset="0"/>
                <a:cs typeface="Arial" charset="0"/>
              </a:defRPr>
            </a:lvl1pPr>
          </a:lstStyle>
          <a:p>
            <a:pPr lvl="0"/>
            <a:r>
              <a:rPr lang="en-US" dirty="0"/>
              <a:t>Introduction or Concept Slide</a:t>
            </a:r>
          </a:p>
        </p:txBody>
      </p:sp>
      <p:pic>
        <p:nvPicPr>
          <p:cNvPr id="8" name="Picture 7" descr="111.png">
            <a:extLst>
              <a:ext uri="{FF2B5EF4-FFF2-40B4-BE49-F238E27FC236}">
                <a16:creationId xmlns:a16="http://schemas.microsoft.com/office/drawing/2014/main" id="{6E287EE2-21D3-F44C-813F-02BED688E843}"/>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3090"/>
          <a:stretch/>
        </p:blipFill>
        <p:spPr>
          <a:xfrm>
            <a:off x="8903980" y="2"/>
            <a:ext cx="3288021" cy="6882659"/>
          </a:xfrm>
          <a:prstGeom prst="rect">
            <a:avLst/>
          </a:prstGeom>
        </p:spPr>
      </p:pic>
    </p:spTree>
    <p:extLst>
      <p:ext uri="{BB962C8B-B14F-4D97-AF65-F5344CB8AC3E}">
        <p14:creationId xmlns:p14="http://schemas.microsoft.com/office/powerpoint/2010/main" val="3451537969"/>
      </p:ext>
    </p:extLst>
  </p:cSld>
  <p:clrMapOvr>
    <a:masterClrMapping/>
  </p:clrMapOvr>
  <p:hf hd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imple Statement with Picture">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512AD6E-7A81-4D46-A4DC-BC3429D8CFF8}"/>
              </a:ext>
            </a:extLst>
          </p:cNvPr>
          <p:cNvSpPr>
            <a:spLocks noGrp="1"/>
          </p:cNvSpPr>
          <p:nvPr>
            <p:ph type="title" hasCustomPrompt="1"/>
          </p:nvPr>
        </p:nvSpPr>
        <p:spPr>
          <a:xfrm>
            <a:off x="952501" y="2286762"/>
            <a:ext cx="5772150" cy="761746"/>
          </a:xfrm>
        </p:spPr>
        <p:txBody>
          <a:bodyPr/>
          <a:lstStyle>
            <a:lvl1pPr>
              <a:defRPr lang="en-US" sz="4799" b="1" i="0" kern="1200" dirty="0">
                <a:solidFill>
                  <a:srgbClr val="171C2D"/>
                </a:solidFill>
                <a:latin typeface="Arial" charset="0"/>
                <a:ea typeface="+mj-ea"/>
                <a:cs typeface="Arial" charset="0"/>
              </a:defRPr>
            </a:lvl1pPr>
          </a:lstStyle>
          <a:p>
            <a:r>
              <a:rPr lang="en-US" dirty="0"/>
              <a:t>Simple Statement</a:t>
            </a:r>
          </a:p>
        </p:txBody>
      </p:sp>
      <p:sp>
        <p:nvSpPr>
          <p:cNvPr id="5" name="Slide Number Placeholder 2">
            <a:extLst>
              <a:ext uri="{FF2B5EF4-FFF2-40B4-BE49-F238E27FC236}">
                <a16:creationId xmlns:a16="http://schemas.microsoft.com/office/drawing/2014/main" id="{2C22C299-FDA6-164A-B353-229958A83E52}"/>
              </a:ext>
            </a:extLst>
          </p:cNvPr>
          <p:cNvSpPr>
            <a:spLocks noGrp="1"/>
          </p:cNvSpPr>
          <p:nvPr>
            <p:ph type="sldNum" sz="quarter" idx="10"/>
          </p:nvPr>
        </p:nvSpPr>
        <p:spPr>
          <a:xfrm>
            <a:off x="647700" y="6356352"/>
            <a:ext cx="2743200" cy="365125"/>
          </a:xfrm>
        </p:spPr>
        <p:txBody>
          <a:bodyPr/>
          <a:lstStyle/>
          <a:p>
            <a:pPr>
              <a:defRPr/>
            </a:pPr>
            <a:r>
              <a:rPr lang="en-US"/>
              <a:t>Coding Considerations 23- </a:t>
            </a:r>
            <a:fld id="{060BD193-E118-4B16-863C-C8C12C675E3E}" type="slidenum">
              <a:rPr lang="en-US" smtClean="0"/>
              <a:pPr>
                <a:defRPr/>
              </a:pPr>
              <a:t>‹#›</a:t>
            </a:fld>
            <a:endParaRPr lang="en-US" dirty="0"/>
          </a:p>
        </p:txBody>
      </p:sp>
      <p:sp>
        <p:nvSpPr>
          <p:cNvPr id="6" name="Text Placeholder 5">
            <a:extLst>
              <a:ext uri="{FF2B5EF4-FFF2-40B4-BE49-F238E27FC236}">
                <a16:creationId xmlns:a16="http://schemas.microsoft.com/office/drawing/2014/main" id="{EE658E4E-230D-8D43-99E8-0341ED808C7C}"/>
              </a:ext>
            </a:extLst>
          </p:cNvPr>
          <p:cNvSpPr>
            <a:spLocks noGrp="1"/>
          </p:cNvSpPr>
          <p:nvPr>
            <p:ph type="body" sz="quarter" idx="12" hasCustomPrompt="1"/>
          </p:nvPr>
        </p:nvSpPr>
        <p:spPr>
          <a:xfrm>
            <a:off x="952501" y="3048511"/>
            <a:ext cx="5772150" cy="1354217"/>
          </a:xfrm>
        </p:spPr>
        <p:txBody>
          <a:bodyPr/>
          <a:lstStyle>
            <a:lvl1pPr marL="0" indent="0">
              <a:buNone/>
              <a:defRPr sz="4399" b="0" i="0" baseline="0">
                <a:solidFill>
                  <a:srgbClr val="EC1C24"/>
                </a:solidFill>
                <a:latin typeface="Arial" charset="0"/>
                <a:ea typeface="Arial" charset="0"/>
                <a:cs typeface="Arial" charset="0"/>
              </a:defRPr>
            </a:lvl1pPr>
          </a:lstStyle>
          <a:p>
            <a:pPr lvl="0"/>
            <a:r>
              <a:rPr lang="en-US" dirty="0"/>
              <a:t>Introduction or Concept Slide</a:t>
            </a:r>
          </a:p>
        </p:txBody>
      </p:sp>
      <p:sp>
        <p:nvSpPr>
          <p:cNvPr id="7" name="Picture Placeholder 14">
            <a:extLst>
              <a:ext uri="{FF2B5EF4-FFF2-40B4-BE49-F238E27FC236}">
                <a16:creationId xmlns:a16="http://schemas.microsoft.com/office/drawing/2014/main" id="{89EAEFDD-B284-E94B-8F1D-D7E1627370F6}"/>
              </a:ext>
            </a:extLst>
          </p:cNvPr>
          <p:cNvSpPr>
            <a:spLocks noGrp="1"/>
          </p:cNvSpPr>
          <p:nvPr>
            <p:ph type="pic" sz="quarter" idx="13"/>
          </p:nvPr>
        </p:nvSpPr>
        <p:spPr>
          <a:xfrm>
            <a:off x="6781801" y="1200150"/>
            <a:ext cx="4457700" cy="4457700"/>
          </a:xfrm>
        </p:spPr>
        <p:txBody>
          <a:bodyPr/>
          <a:lstStyle>
            <a:lvl1pPr marL="0" indent="0">
              <a:buNone/>
              <a:defRPr/>
            </a:lvl1pPr>
          </a:lstStyle>
          <a:p>
            <a:r>
              <a:rPr lang="en-US" altLang="zh-CN"/>
              <a:t>Click icon to add picture</a:t>
            </a:r>
            <a:endParaRPr lang="en-US" dirty="0"/>
          </a:p>
        </p:txBody>
      </p:sp>
      <p:pic>
        <p:nvPicPr>
          <p:cNvPr id="9" name="Picture 8" descr="1.png">
            <a:extLst>
              <a:ext uri="{FF2B5EF4-FFF2-40B4-BE49-F238E27FC236}">
                <a16:creationId xmlns:a16="http://schemas.microsoft.com/office/drawing/2014/main" id="{D28EDF51-090C-9841-AE58-2273CEB9716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017001" y="0"/>
            <a:ext cx="3175000" cy="6858000"/>
          </a:xfrm>
          <a:prstGeom prst="rect">
            <a:avLst/>
          </a:prstGeom>
        </p:spPr>
      </p:pic>
    </p:spTree>
    <p:extLst>
      <p:ext uri="{BB962C8B-B14F-4D97-AF65-F5344CB8AC3E}">
        <p14:creationId xmlns:p14="http://schemas.microsoft.com/office/powerpoint/2010/main" val="2211828887"/>
      </p:ext>
    </p:extLst>
  </p:cSld>
  <p:clrMapOvr>
    <a:masterClrMapping/>
  </p:clrMapOvr>
  <p:hf hd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Blank Layout (WHITE)">
    <p:spTree>
      <p:nvGrpSpPr>
        <p:cNvPr id="1" name=""/>
        <p:cNvGrpSpPr/>
        <p:nvPr/>
      </p:nvGrpSpPr>
      <p:grpSpPr>
        <a:xfrm>
          <a:off x="0" y="0"/>
          <a:ext cx="0" cy="0"/>
          <a:chOff x="0" y="0"/>
          <a:chExt cx="0" cy="0"/>
        </a:xfrm>
      </p:grpSpPr>
      <p:sp>
        <p:nvSpPr>
          <p:cNvPr id="4" name="Slide Number Placeholder 2">
            <a:extLst>
              <a:ext uri="{FF2B5EF4-FFF2-40B4-BE49-F238E27FC236}">
                <a16:creationId xmlns:a16="http://schemas.microsoft.com/office/drawing/2014/main" id="{F2364798-7D9C-B84C-856F-0C65222D9551}"/>
              </a:ext>
            </a:extLst>
          </p:cNvPr>
          <p:cNvSpPr>
            <a:spLocks noGrp="1"/>
          </p:cNvSpPr>
          <p:nvPr>
            <p:ph type="sldNum" sz="quarter" idx="10"/>
          </p:nvPr>
        </p:nvSpPr>
        <p:spPr>
          <a:xfrm>
            <a:off x="647700" y="6356352"/>
            <a:ext cx="2743200" cy="365125"/>
          </a:xfrm>
        </p:spPr>
        <p:txBody>
          <a:bodyPr/>
          <a:lstStyle/>
          <a:p>
            <a:pPr>
              <a:defRPr/>
            </a:pPr>
            <a:r>
              <a:rPr lang="en-US"/>
              <a:t>Coding Considerations 23- </a:t>
            </a:r>
            <a:fld id="{060BD193-E118-4B16-863C-C8C12C675E3E}" type="slidenum">
              <a:rPr lang="en-US" smtClean="0"/>
              <a:pPr>
                <a:defRPr/>
              </a:pPr>
              <a:t>‹#›</a:t>
            </a:fld>
            <a:endParaRPr lang="en-US" dirty="0"/>
          </a:p>
        </p:txBody>
      </p:sp>
    </p:spTree>
    <p:extLst>
      <p:ext uri="{BB962C8B-B14F-4D97-AF65-F5344CB8AC3E}">
        <p14:creationId xmlns:p14="http://schemas.microsoft.com/office/powerpoint/2010/main" val="727419413"/>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hf hd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ake-Away Slide (Sub-Headers)">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617221" y="212985"/>
            <a:ext cx="10614040" cy="492443"/>
          </a:xfrm>
        </p:spPr>
        <p:txBody>
          <a:bodyPr/>
          <a:lstStyle>
            <a:lvl1pPr>
              <a:defRPr sz="3199" baseline="0"/>
            </a:lvl1pPr>
          </a:lstStyle>
          <a:p>
            <a:r>
              <a:rPr lang="en-US" dirty="0"/>
              <a:t>Take-Away Slide</a:t>
            </a:r>
          </a:p>
        </p:txBody>
      </p:sp>
      <p:sp>
        <p:nvSpPr>
          <p:cNvPr id="7" name="Text Placeholder 3"/>
          <p:cNvSpPr>
            <a:spLocks noGrp="1"/>
          </p:cNvSpPr>
          <p:nvPr>
            <p:ph type="body" sz="quarter" idx="15" hasCustomPrompt="1"/>
          </p:nvPr>
        </p:nvSpPr>
        <p:spPr>
          <a:xfrm>
            <a:off x="960121" y="1538984"/>
            <a:ext cx="10256520" cy="508722"/>
          </a:xfrm>
          <a:noFill/>
        </p:spPr>
        <p:txBody>
          <a:bodyPr tIns="0" bIns="0" anchor="ctr"/>
          <a:lstStyle>
            <a:lvl1pPr marL="0" indent="0">
              <a:buNone/>
              <a:defRPr sz="3399" b="0">
                <a:solidFill>
                  <a:srgbClr val="FF0000"/>
                </a:solidFill>
              </a:defRPr>
            </a:lvl1pPr>
          </a:lstStyle>
          <a:p>
            <a:r>
              <a:rPr lang="en-US" kern="0" dirty="0"/>
              <a:t>List item header text style</a:t>
            </a:r>
          </a:p>
        </p:txBody>
      </p:sp>
      <p:sp>
        <p:nvSpPr>
          <p:cNvPr id="9" name="Text Placeholder 2"/>
          <p:cNvSpPr>
            <a:spLocks noGrp="1"/>
          </p:cNvSpPr>
          <p:nvPr>
            <p:ph type="body" sz="quarter" idx="17" hasCustomPrompt="1"/>
          </p:nvPr>
        </p:nvSpPr>
        <p:spPr>
          <a:xfrm>
            <a:off x="960119" y="2101124"/>
            <a:ext cx="10248939" cy="562137"/>
          </a:xfrm>
        </p:spPr>
        <p:txBody>
          <a:bodyPr lIns="0" tIns="0" rIns="0" bIns="91440"/>
          <a:lstStyle>
            <a:lvl1pPr marL="0" indent="0">
              <a:lnSpc>
                <a:spcPct val="100000"/>
              </a:lnSpc>
              <a:spcBef>
                <a:spcPts val="600"/>
              </a:spcBef>
              <a:spcAft>
                <a:spcPts val="600"/>
              </a:spcAft>
              <a:buNone/>
              <a:defRPr lang="en-US" b="0" dirty="0"/>
            </a:lvl1pPr>
            <a:lvl2pPr marL="171399" indent="-163464">
              <a:lnSpc>
                <a:spcPct val="150000"/>
              </a:lnSpc>
              <a:buFontTx/>
              <a:buBlip>
                <a:blip r:embed="rId2"/>
              </a:buBlip>
              <a:tabLst/>
              <a:defRPr sz="1799">
                <a:solidFill>
                  <a:srgbClr val="5D606C"/>
                </a:solidFill>
              </a:defRPr>
            </a:lvl2pPr>
            <a:lvl3pPr marL="461824" indent="-290426">
              <a:lnSpc>
                <a:spcPct val="150000"/>
              </a:lnSpc>
              <a:buFontTx/>
              <a:buBlip>
                <a:blip r:embed="rId3"/>
              </a:buBlip>
              <a:tabLst/>
              <a:defRPr sz="1799">
                <a:solidFill>
                  <a:srgbClr val="5D606C"/>
                </a:solidFill>
              </a:defRPr>
            </a:lvl3pPr>
            <a:lvl4pPr>
              <a:defRPr>
                <a:solidFill>
                  <a:srgbClr val="5D606C"/>
                </a:solidFill>
              </a:defRPr>
            </a:lvl4pPr>
            <a:lvl5pPr>
              <a:defRPr>
                <a:solidFill>
                  <a:srgbClr val="5D606C"/>
                </a:solidFill>
              </a:defRPr>
            </a:lvl5pPr>
          </a:lstStyle>
          <a:p>
            <a:pPr lvl="0"/>
            <a:r>
              <a:rPr lang="en-US" dirty="0"/>
              <a:t>List item subhead text style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a:t>
            </a:r>
          </a:p>
        </p:txBody>
      </p:sp>
      <p:sp>
        <p:nvSpPr>
          <p:cNvPr id="13" name="Text Placeholder 3"/>
          <p:cNvSpPr>
            <a:spLocks noGrp="1"/>
          </p:cNvSpPr>
          <p:nvPr>
            <p:ph type="body" sz="quarter" idx="23" hasCustomPrompt="1"/>
          </p:nvPr>
        </p:nvSpPr>
        <p:spPr>
          <a:xfrm>
            <a:off x="960121" y="3153729"/>
            <a:ext cx="10256520" cy="508722"/>
          </a:xfrm>
          <a:noFill/>
        </p:spPr>
        <p:txBody>
          <a:bodyPr tIns="0" bIns="0" anchor="ctr"/>
          <a:lstStyle>
            <a:lvl1pPr marL="0" indent="0">
              <a:buNone/>
              <a:defRPr sz="3399" b="0">
                <a:solidFill>
                  <a:srgbClr val="FF0000"/>
                </a:solidFill>
              </a:defRPr>
            </a:lvl1pPr>
          </a:lstStyle>
          <a:p>
            <a:r>
              <a:rPr lang="en-US" kern="0" dirty="0"/>
              <a:t>List item header text style</a:t>
            </a:r>
          </a:p>
        </p:txBody>
      </p:sp>
      <p:sp>
        <p:nvSpPr>
          <p:cNvPr id="14" name="Text Placeholder 2"/>
          <p:cNvSpPr>
            <a:spLocks noGrp="1"/>
          </p:cNvSpPr>
          <p:nvPr>
            <p:ph type="body" sz="quarter" idx="24" hasCustomPrompt="1"/>
          </p:nvPr>
        </p:nvSpPr>
        <p:spPr>
          <a:xfrm>
            <a:off x="960119" y="3705948"/>
            <a:ext cx="10248939" cy="562137"/>
          </a:xfrm>
        </p:spPr>
        <p:txBody>
          <a:bodyPr lIns="0" tIns="0" rIns="0" bIns="91440"/>
          <a:lstStyle>
            <a:lvl1pPr marL="0" indent="0">
              <a:lnSpc>
                <a:spcPct val="100000"/>
              </a:lnSpc>
              <a:spcBef>
                <a:spcPts val="600"/>
              </a:spcBef>
              <a:spcAft>
                <a:spcPts val="600"/>
              </a:spcAft>
              <a:buNone/>
              <a:defRPr lang="en-US" b="0" dirty="0"/>
            </a:lvl1pPr>
            <a:lvl2pPr marL="171399" indent="-163464">
              <a:lnSpc>
                <a:spcPct val="150000"/>
              </a:lnSpc>
              <a:buFontTx/>
              <a:buBlip>
                <a:blip r:embed="rId2"/>
              </a:buBlip>
              <a:tabLst/>
              <a:defRPr sz="1799">
                <a:solidFill>
                  <a:srgbClr val="5D606C"/>
                </a:solidFill>
              </a:defRPr>
            </a:lvl2pPr>
            <a:lvl3pPr marL="461824" indent="-290426">
              <a:lnSpc>
                <a:spcPct val="150000"/>
              </a:lnSpc>
              <a:buFontTx/>
              <a:buBlip>
                <a:blip r:embed="rId3"/>
              </a:buBlip>
              <a:tabLst/>
              <a:defRPr sz="1799">
                <a:solidFill>
                  <a:srgbClr val="5D606C"/>
                </a:solidFill>
              </a:defRPr>
            </a:lvl3pPr>
            <a:lvl4pPr>
              <a:defRPr>
                <a:solidFill>
                  <a:srgbClr val="5D606C"/>
                </a:solidFill>
              </a:defRPr>
            </a:lvl4pPr>
            <a:lvl5pPr>
              <a:defRPr>
                <a:solidFill>
                  <a:srgbClr val="5D606C"/>
                </a:solidFill>
              </a:defRPr>
            </a:lvl5pPr>
          </a:lstStyle>
          <a:p>
            <a:pPr lvl="0"/>
            <a:r>
              <a:rPr lang="en-US" dirty="0"/>
              <a:t>List item subhead text style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a:t>
            </a:r>
          </a:p>
        </p:txBody>
      </p:sp>
      <p:sp>
        <p:nvSpPr>
          <p:cNvPr id="15" name="Text Placeholder 3"/>
          <p:cNvSpPr>
            <a:spLocks noGrp="1"/>
          </p:cNvSpPr>
          <p:nvPr>
            <p:ph type="body" sz="quarter" idx="25" hasCustomPrompt="1"/>
          </p:nvPr>
        </p:nvSpPr>
        <p:spPr>
          <a:xfrm>
            <a:off x="960121" y="4768475"/>
            <a:ext cx="10256520" cy="508722"/>
          </a:xfrm>
          <a:noFill/>
        </p:spPr>
        <p:txBody>
          <a:bodyPr tIns="0" bIns="0" anchor="ctr"/>
          <a:lstStyle>
            <a:lvl1pPr marL="0" indent="0">
              <a:buNone/>
              <a:defRPr sz="3399" b="0">
                <a:solidFill>
                  <a:srgbClr val="FF0000"/>
                </a:solidFill>
              </a:defRPr>
            </a:lvl1pPr>
          </a:lstStyle>
          <a:p>
            <a:r>
              <a:rPr lang="en-US" kern="0" dirty="0"/>
              <a:t>List item header text style</a:t>
            </a:r>
          </a:p>
        </p:txBody>
      </p:sp>
      <p:sp>
        <p:nvSpPr>
          <p:cNvPr id="16" name="Text Placeholder 2"/>
          <p:cNvSpPr>
            <a:spLocks noGrp="1"/>
          </p:cNvSpPr>
          <p:nvPr>
            <p:ph type="body" sz="quarter" idx="26" hasCustomPrompt="1"/>
          </p:nvPr>
        </p:nvSpPr>
        <p:spPr>
          <a:xfrm>
            <a:off x="960119" y="5330615"/>
            <a:ext cx="10248939" cy="562137"/>
          </a:xfrm>
        </p:spPr>
        <p:txBody>
          <a:bodyPr lIns="0" tIns="0" rIns="0" bIns="91440"/>
          <a:lstStyle>
            <a:lvl1pPr marL="0" indent="0">
              <a:lnSpc>
                <a:spcPct val="100000"/>
              </a:lnSpc>
              <a:spcBef>
                <a:spcPts val="600"/>
              </a:spcBef>
              <a:spcAft>
                <a:spcPts val="600"/>
              </a:spcAft>
              <a:buNone/>
              <a:defRPr lang="en-US" b="0" dirty="0"/>
            </a:lvl1pPr>
            <a:lvl2pPr marL="171399" indent="-163464">
              <a:lnSpc>
                <a:spcPct val="150000"/>
              </a:lnSpc>
              <a:buFontTx/>
              <a:buBlip>
                <a:blip r:embed="rId2"/>
              </a:buBlip>
              <a:tabLst/>
              <a:defRPr sz="1799">
                <a:solidFill>
                  <a:srgbClr val="5D606C"/>
                </a:solidFill>
              </a:defRPr>
            </a:lvl2pPr>
            <a:lvl3pPr marL="461824" indent="-290426">
              <a:lnSpc>
                <a:spcPct val="150000"/>
              </a:lnSpc>
              <a:buFontTx/>
              <a:buBlip>
                <a:blip r:embed="rId3"/>
              </a:buBlip>
              <a:tabLst/>
              <a:defRPr sz="1799">
                <a:solidFill>
                  <a:srgbClr val="5D606C"/>
                </a:solidFill>
              </a:defRPr>
            </a:lvl3pPr>
            <a:lvl4pPr>
              <a:defRPr>
                <a:solidFill>
                  <a:srgbClr val="5D606C"/>
                </a:solidFill>
              </a:defRPr>
            </a:lvl4pPr>
            <a:lvl5pPr>
              <a:defRPr>
                <a:solidFill>
                  <a:srgbClr val="5D606C"/>
                </a:solidFill>
              </a:defRPr>
            </a:lvl5pPr>
          </a:lstStyle>
          <a:p>
            <a:pPr lvl="0"/>
            <a:r>
              <a:rPr lang="en-US" dirty="0"/>
              <a:t>List item subhead text style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a:t>
            </a:r>
          </a:p>
        </p:txBody>
      </p:sp>
      <p:sp>
        <p:nvSpPr>
          <p:cNvPr id="10" name="Slide Number Placeholder 2">
            <a:extLst>
              <a:ext uri="{FF2B5EF4-FFF2-40B4-BE49-F238E27FC236}">
                <a16:creationId xmlns:a16="http://schemas.microsoft.com/office/drawing/2014/main" id="{22A52D08-28C6-7046-85C5-29DDBD4D27E0}"/>
              </a:ext>
            </a:extLst>
          </p:cNvPr>
          <p:cNvSpPr>
            <a:spLocks noGrp="1"/>
          </p:cNvSpPr>
          <p:nvPr>
            <p:ph type="sldNum" sz="quarter" idx="10"/>
          </p:nvPr>
        </p:nvSpPr>
        <p:spPr>
          <a:xfrm>
            <a:off x="647700" y="6356352"/>
            <a:ext cx="2743200" cy="365125"/>
          </a:xfrm>
        </p:spPr>
        <p:txBody>
          <a:bodyPr/>
          <a:lstStyle/>
          <a:p>
            <a:pPr>
              <a:defRPr/>
            </a:pPr>
            <a:r>
              <a:rPr lang="en-US"/>
              <a:t>Coding Considerations 23- </a:t>
            </a:r>
            <a:fld id="{060BD193-E118-4B16-863C-C8C12C675E3E}" type="slidenum">
              <a:rPr lang="en-US" smtClean="0"/>
              <a:pPr>
                <a:defRPr/>
              </a:pPr>
              <a:t>‹#›</a:t>
            </a:fld>
            <a:endParaRPr lang="en-US" dirty="0"/>
          </a:p>
        </p:txBody>
      </p:sp>
    </p:spTree>
    <p:extLst>
      <p:ext uri="{BB962C8B-B14F-4D97-AF65-F5344CB8AC3E}">
        <p14:creationId xmlns:p14="http://schemas.microsoft.com/office/powerpoint/2010/main" val="408574904"/>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hf hd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ake-Away Slide (Bullets)">
    <p:spTree>
      <p:nvGrpSpPr>
        <p:cNvPr id="1" name=""/>
        <p:cNvGrpSpPr/>
        <p:nvPr/>
      </p:nvGrpSpPr>
      <p:grpSpPr>
        <a:xfrm>
          <a:off x="0" y="0"/>
          <a:ext cx="0" cy="0"/>
          <a:chOff x="0" y="0"/>
          <a:chExt cx="0" cy="0"/>
        </a:xfrm>
      </p:grpSpPr>
      <p:sp>
        <p:nvSpPr>
          <p:cNvPr id="24" name="Title 1">
            <a:extLst>
              <a:ext uri="{FF2B5EF4-FFF2-40B4-BE49-F238E27FC236}">
                <a16:creationId xmlns:a16="http://schemas.microsoft.com/office/drawing/2014/main" id="{21B7EA41-46BF-B947-8230-37EB3728F525}"/>
              </a:ext>
            </a:extLst>
          </p:cNvPr>
          <p:cNvSpPr>
            <a:spLocks noGrp="1"/>
          </p:cNvSpPr>
          <p:nvPr>
            <p:ph type="title" hasCustomPrompt="1"/>
          </p:nvPr>
        </p:nvSpPr>
        <p:spPr>
          <a:xfrm>
            <a:off x="617221" y="212985"/>
            <a:ext cx="10589668" cy="492443"/>
          </a:xfrm>
        </p:spPr>
        <p:txBody>
          <a:bodyPr/>
          <a:lstStyle>
            <a:lvl1pPr>
              <a:defRPr sz="3199" baseline="0"/>
            </a:lvl1pPr>
          </a:lstStyle>
          <a:p>
            <a:r>
              <a:rPr lang="en-US" dirty="0"/>
              <a:t>Take-Away Slide With Bullets</a:t>
            </a:r>
          </a:p>
        </p:txBody>
      </p:sp>
      <p:sp>
        <p:nvSpPr>
          <p:cNvPr id="26" name="Text Placeholder 3">
            <a:extLst>
              <a:ext uri="{FF2B5EF4-FFF2-40B4-BE49-F238E27FC236}">
                <a16:creationId xmlns:a16="http://schemas.microsoft.com/office/drawing/2014/main" id="{4D465602-9518-D549-819E-52FFB5D1AC53}"/>
              </a:ext>
            </a:extLst>
          </p:cNvPr>
          <p:cNvSpPr>
            <a:spLocks noGrp="1"/>
          </p:cNvSpPr>
          <p:nvPr>
            <p:ph type="body" sz="quarter" idx="15" hasCustomPrompt="1"/>
          </p:nvPr>
        </p:nvSpPr>
        <p:spPr>
          <a:xfrm>
            <a:off x="960121" y="1538984"/>
            <a:ext cx="10232969" cy="508722"/>
          </a:xfrm>
          <a:solidFill>
            <a:schemeClr val="bg1"/>
          </a:solidFill>
        </p:spPr>
        <p:txBody>
          <a:bodyPr tIns="0" bIns="0" anchor="ctr"/>
          <a:lstStyle>
            <a:lvl1pPr marL="0" indent="0">
              <a:buNone/>
              <a:defRPr sz="3399" b="0">
                <a:solidFill>
                  <a:srgbClr val="FF0000"/>
                </a:solidFill>
              </a:defRPr>
            </a:lvl1pPr>
          </a:lstStyle>
          <a:p>
            <a:r>
              <a:rPr lang="en-US" kern="0" dirty="0"/>
              <a:t>List item header text style</a:t>
            </a:r>
          </a:p>
        </p:txBody>
      </p:sp>
      <p:sp>
        <p:nvSpPr>
          <p:cNvPr id="27" name="Text Placeholder 3">
            <a:extLst>
              <a:ext uri="{FF2B5EF4-FFF2-40B4-BE49-F238E27FC236}">
                <a16:creationId xmlns:a16="http://schemas.microsoft.com/office/drawing/2014/main" id="{15273868-A160-3B46-8F69-A41EDF54BDA2}"/>
              </a:ext>
            </a:extLst>
          </p:cNvPr>
          <p:cNvSpPr>
            <a:spLocks noGrp="1"/>
          </p:cNvSpPr>
          <p:nvPr>
            <p:ph type="body" sz="quarter" idx="23" hasCustomPrompt="1"/>
          </p:nvPr>
        </p:nvSpPr>
        <p:spPr>
          <a:xfrm>
            <a:off x="960121" y="3195489"/>
            <a:ext cx="10232969" cy="508722"/>
          </a:xfrm>
          <a:solidFill>
            <a:schemeClr val="bg1"/>
          </a:solidFill>
        </p:spPr>
        <p:txBody>
          <a:bodyPr tIns="0" bIns="0" anchor="ctr"/>
          <a:lstStyle>
            <a:lvl1pPr marL="0" indent="0">
              <a:buNone/>
              <a:defRPr sz="3399" b="0">
                <a:solidFill>
                  <a:srgbClr val="FF0000"/>
                </a:solidFill>
              </a:defRPr>
            </a:lvl1pPr>
          </a:lstStyle>
          <a:p>
            <a:r>
              <a:rPr lang="en-US" kern="0" dirty="0"/>
              <a:t>List item header text style</a:t>
            </a:r>
          </a:p>
        </p:txBody>
      </p:sp>
      <p:sp>
        <p:nvSpPr>
          <p:cNvPr id="28" name="Text Placeholder 3">
            <a:extLst>
              <a:ext uri="{FF2B5EF4-FFF2-40B4-BE49-F238E27FC236}">
                <a16:creationId xmlns:a16="http://schemas.microsoft.com/office/drawing/2014/main" id="{2C165392-FF16-194E-BB96-47B05786B74E}"/>
              </a:ext>
            </a:extLst>
          </p:cNvPr>
          <p:cNvSpPr>
            <a:spLocks noGrp="1"/>
          </p:cNvSpPr>
          <p:nvPr>
            <p:ph type="body" sz="quarter" idx="25" hasCustomPrompt="1"/>
          </p:nvPr>
        </p:nvSpPr>
        <p:spPr>
          <a:xfrm>
            <a:off x="960121" y="4851993"/>
            <a:ext cx="10232969" cy="508722"/>
          </a:xfrm>
          <a:solidFill>
            <a:schemeClr val="bg1"/>
          </a:solidFill>
        </p:spPr>
        <p:txBody>
          <a:bodyPr tIns="0" bIns="0" anchor="ctr"/>
          <a:lstStyle>
            <a:lvl1pPr marL="0" indent="0">
              <a:buNone/>
              <a:defRPr sz="3399" b="0">
                <a:solidFill>
                  <a:srgbClr val="FF0000"/>
                </a:solidFill>
              </a:defRPr>
            </a:lvl1pPr>
          </a:lstStyle>
          <a:p>
            <a:r>
              <a:rPr lang="en-US" kern="0" dirty="0"/>
              <a:t>List item header text style</a:t>
            </a:r>
          </a:p>
        </p:txBody>
      </p:sp>
      <p:sp>
        <p:nvSpPr>
          <p:cNvPr id="44" name="Slide Number Placeholder 2">
            <a:extLst>
              <a:ext uri="{FF2B5EF4-FFF2-40B4-BE49-F238E27FC236}">
                <a16:creationId xmlns:a16="http://schemas.microsoft.com/office/drawing/2014/main" id="{7C1986B2-675B-824C-8649-7C9AC5CE346C}"/>
              </a:ext>
            </a:extLst>
          </p:cNvPr>
          <p:cNvSpPr>
            <a:spLocks noGrp="1"/>
          </p:cNvSpPr>
          <p:nvPr>
            <p:ph type="sldNum" sz="quarter" idx="10"/>
          </p:nvPr>
        </p:nvSpPr>
        <p:spPr>
          <a:xfrm>
            <a:off x="647700" y="6356352"/>
            <a:ext cx="2743200" cy="365125"/>
          </a:xfrm>
        </p:spPr>
        <p:txBody>
          <a:bodyPr/>
          <a:lstStyle/>
          <a:p>
            <a:pPr>
              <a:defRPr/>
            </a:pPr>
            <a:r>
              <a:rPr lang="en-US"/>
              <a:t>Coding Considerations 23- </a:t>
            </a:r>
            <a:fld id="{060BD193-E118-4B16-863C-C8C12C675E3E}" type="slidenum">
              <a:rPr lang="en-US" smtClean="0"/>
              <a:pPr>
                <a:defRPr/>
              </a:pPr>
              <a:t>‹#›</a:t>
            </a:fld>
            <a:endParaRPr lang="en-US" dirty="0"/>
          </a:p>
        </p:txBody>
      </p:sp>
      <p:sp>
        <p:nvSpPr>
          <p:cNvPr id="4" name="Content Placeholder 3"/>
          <p:cNvSpPr>
            <a:spLocks noGrp="1"/>
          </p:cNvSpPr>
          <p:nvPr>
            <p:ph sz="quarter" idx="29" hasCustomPrompt="1"/>
          </p:nvPr>
        </p:nvSpPr>
        <p:spPr>
          <a:xfrm>
            <a:off x="966789" y="2074225"/>
            <a:ext cx="10226675" cy="709616"/>
          </a:xfrm>
        </p:spPr>
        <p:txBody>
          <a:bodyPr/>
          <a:lstStyle>
            <a:lvl1pPr>
              <a:spcBef>
                <a:spcPts val="600"/>
              </a:spcBef>
              <a:defRPr b="0"/>
            </a:lvl1pPr>
            <a:lvl2pPr marL="457063" indent="0">
              <a:buNone/>
              <a:defRPr/>
            </a:lvl2pPr>
          </a:lstStyle>
          <a:p>
            <a:pPr lvl="0"/>
            <a:r>
              <a:rPr lang="en-US" dirty="0"/>
              <a:t>List item subhead text style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a:t>
            </a:r>
          </a:p>
          <a:p>
            <a:pPr lvl="0"/>
            <a:r>
              <a:rPr lang="en-US" dirty="0"/>
              <a:t>List item subhead text style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a:t>
            </a:r>
          </a:p>
        </p:txBody>
      </p:sp>
      <p:sp>
        <p:nvSpPr>
          <p:cNvPr id="14" name="Content Placeholder 3"/>
          <p:cNvSpPr>
            <a:spLocks noGrp="1"/>
          </p:cNvSpPr>
          <p:nvPr>
            <p:ph sz="quarter" idx="30" hasCustomPrompt="1"/>
          </p:nvPr>
        </p:nvSpPr>
        <p:spPr>
          <a:xfrm>
            <a:off x="976949" y="3738837"/>
            <a:ext cx="10226675" cy="709616"/>
          </a:xfrm>
        </p:spPr>
        <p:txBody>
          <a:bodyPr/>
          <a:lstStyle>
            <a:lvl1pPr>
              <a:spcBef>
                <a:spcPts val="600"/>
              </a:spcBef>
              <a:defRPr b="0"/>
            </a:lvl1pPr>
            <a:lvl2pPr marL="457063" indent="0">
              <a:buNone/>
              <a:defRPr/>
            </a:lvl2pPr>
          </a:lstStyle>
          <a:p>
            <a:pPr lvl="0"/>
            <a:r>
              <a:rPr lang="en-US" dirty="0"/>
              <a:t>List item subhead text style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a:t>
            </a:r>
          </a:p>
          <a:p>
            <a:pPr lvl="0"/>
            <a:r>
              <a:rPr lang="en-US" dirty="0"/>
              <a:t>List item subhead text style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a:t>
            </a:r>
          </a:p>
        </p:txBody>
      </p:sp>
      <p:sp>
        <p:nvSpPr>
          <p:cNvPr id="15" name="Content Placeholder 3"/>
          <p:cNvSpPr>
            <a:spLocks noGrp="1"/>
          </p:cNvSpPr>
          <p:nvPr>
            <p:ph sz="quarter" idx="31" hasCustomPrompt="1"/>
          </p:nvPr>
        </p:nvSpPr>
        <p:spPr>
          <a:xfrm>
            <a:off x="976949" y="5381035"/>
            <a:ext cx="10226675" cy="709616"/>
          </a:xfrm>
        </p:spPr>
        <p:txBody>
          <a:bodyPr/>
          <a:lstStyle>
            <a:lvl1pPr>
              <a:spcBef>
                <a:spcPts val="600"/>
              </a:spcBef>
              <a:defRPr b="0"/>
            </a:lvl1pPr>
            <a:lvl2pPr marL="457063" indent="0">
              <a:buNone/>
              <a:defRPr/>
            </a:lvl2pPr>
          </a:lstStyle>
          <a:p>
            <a:pPr lvl="0"/>
            <a:r>
              <a:rPr lang="en-US" dirty="0"/>
              <a:t>List item subhead text style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a:t>
            </a:r>
          </a:p>
          <a:p>
            <a:pPr lvl="0"/>
            <a:r>
              <a:rPr lang="en-US" dirty="0"/>
              <a:t>List item subhead text style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a:t>
            </a:r>
          </a:p>
        </p:txBody>
      </p:sp>
    </p:spTree>
    <p:extLst>
      <p:ext uri="{BB962C8B-B14F-4D97-AF65-F5344CB8AC3E}">
        <p14:creationId xmlns:p14="http://schemas.microsoft.com/office/powerpoint/2010/main" val="767660020"/>
      </p:ext>
    </p:extLst>
  </p:cSld>
  <p:clrMapOvr>
    <a:masterClrMapping/>
  </p:clrMapOvr>
  <p:hf hd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End Slide">
    <p:bg>
      <p:bgPr>
        <a:solidFill>
          <a:srgbClr val="141724"/>
        </a:solidFill>
        <a:effectLst/>
      </p:bgPr>
    </p:bg>
    <p:spTree>
      <p:nvGrpSpPr>
        <p:cNvPr id="1" name=""/>
        <p:cNvGrpSpPr/>
        <p:nvPr/>
      </p:nvGrpSpPr>
      <p:grpSpPr>
        <a:xfrm>
          <a:off x="0" y="0"/>
          <a:ext cx="0" cy="0"/>
          <a:chOff x="0" y="0"/>
          <a:chExt cx="0" cy="0"/>
        </a:xfrm>
      </p:grpSpPr>
      <p:sp>
        <p:nvSpPr>
          <p:cNvPr id="24" name="Rectangle 23"/>
          <p:cNvSpPr/>
          <p:nvPr/>
        </p:nvSpPr>
        <p:spPr>
          <a:xfrm>
            <a:off x="10832950" y="6443472"/>
            <a:ext cx="1176170" cy="371856"/>
          </a:xfrm>
          <a:prstGeom prst="rect">
            <a:avLst/>
          </a:prstGeom>
          <a:solidFill>
            <a:srgbClr val="161C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9" name="Right Triangle 18">
            <a:extLst>
              <a:ext uri="{FF2B5EF4-FFF2-40B4-BE49-F238E27FC236}">
                <a16:creationId xmlns:a16="http://schemas.microsoft.com/office/drawing/2014/main" id="{60FB99D6-8BE6-3843-87F0-1BF2F1338A6C}"/>
              </a:ext>
            </a:extLst>
          </p:cNvPr>
          <p:cNvSpPr/>
          <p:nvPr/>
        </p:nvSpPr>
        <p:spPr>
          <a:xfrm rot="16200000">
            <a:off x="7412966" y="2078967"/>
            <a:ext cx="4779034" cy="4779034"/>
          </a:xfrm>
          <a:prstGeom prst="rtTriangle">
            <a:avLst/>
          </a:prstGeom>
          <a:solidFill>
            <a:schemeClr val="accent3">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Right Triangle 19">
            <a:extLst>
              <a:ext uri="{FF2B5EF4-FFF2-40B4-BE49-F238E27FC236}">
                <a16:creationId xmlns:a16="http://schemas.microsoft.com/office/drawing/2014/main" id="{7E68A1B2-3ABC-9D4A-B378-06C02AF8EB0C}"/>
              </a:ext>
            </a:extLst>
          </p:cNvPr>
          <p:cNvSpPr/>
          <p:nvPr/>
        </p:nvSpPr>
        <p:spPr>
          <a:xfrm rot="10800000">
            <a:off x="7412966" y="0"/>
            <a:ext cx="4792936" cy="4792936"/>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Right Triangle 5">
            <a:extLst>
              <a:ext uri="{FF2B5EF4-FFF2-40B4-BE49-F238E27FC236}">
                <a16:creationId xmlns:a16="http://schemas.microsoft.com/office/drawing/2014/main" id="{60184228-3525-514A-86C4-3C16B3BD697F}"/>
              </a:ext>
            </a:extLst>
          </p:cNvPr>
          <p:cNvSpPr/>
          <p:nvPr/>
        </p:nvSpPr>
        <p:spPr>
          <a:xfrm rot="16200000">
            <a:off x="7412966" y="2078967"/>
            <a:ext cx="4779034" cy="4779034"/>
          </a:xfrm>
          <a:prstGeom prst="rtTriangle">
            <a:avLst/>
          </a:prstGeom>
          <a:solidFill>
            <a:schemeClr val="accent3">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 name="Right Triangle 6">
            <a:extLst>
              <a:ext uri="{FF2B5EF4-FFF2-40B4-BE49-F238E27FC236}">
                <a16:creationId xmlns:a16="http://schemas.microsoft.com/office/drawing/2014/main" id="{DB5B8B0E-1006-BC4A-9FBE-4C9A0F8CB908}"/>
              </a:ext>
            </a:extLst>
          </p:cNvPr>
          <p:cNvSpPr/>
          <p:nvPr/>
        </p:nvSpPr>
        <p:spPr>
          <a:xfrm rot="10800000">
            <a:off x="7412966" y="0"/>
            <a:ext cx="4792936" cy="4792936"/>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Right Triangle 8">
            <a:extLst>
              <a:ext uri="{FF2B5EF4-FFF2-40B4-BE49-F238E27FC236}">
                <a16:creationId xmlns:a16="http://schemas.microsoft.com/office/drawing/2014/main" id="{CD6377F4-2164-4C47-B26D-2B2C92B343C5}"/>
              </a:ext>
            </a:extLst>
          </p:cNvPr>
          <p:cNvSpPr/>
          <p:nvPr/>
        </p:nvSpPr>
        <p:spPr>
          <a:xfrm rot="16200000">
            <a:off x="7412966" y="2078967"/>
            <a:ext cx="4779034" cy="4779034"/>
          </a:xfrm>
          <a:prstGeom prst="rtTriangle">
            <a:avLst/>
          </a:prstGeom>
          <a:solidFill>
            <a:schemeClr val="accent3">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ight Triangle 9">
            <a:extLst>
              <a:ext uri="{FF2B5EF4-FFF2-40B4-BE49-F238E27FC236}">
                <a16:creationId xmlns:a16="http://schemas.microsoft.com/office/drawing/2014/main" id="{50D1EABC-9772-9C41-B944-B07DB09ED607}"/>
              </a:ext>
            </a:extLst>
          </p:cNvPr>
          <p:cNvSpPr/>
          <p:nvPr/>
        </p:nvSpPr>
        <p:spPr>
          <a:xfrm rot="10800000">
            <a:off x="7412966" y="0"/>
            <a:ext cx="4792936" cy="4792936"/>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 name="Right Triangle 12">
            <a:extLst>
              <a:ext uri="{FF2B5EF4-FFF2-40B4-BE49-F238E27FC236}">
                <a16:creationId xmlns:a16="http://schemas.microsoft.com/office/drawing/2014/main" id="{CCEBED41-AE49-0A45-88A5-DA613F2CC363}"/>
              </a:ext>
            </a:extLst>
          </p:cNvPr>
          <p:cNvSpPr/>
          <p:nvPr/>
        </p:nvSpPr>
        <p:spPr>
          <a:xfrm rot="16200000">
            <a:off x="7412966" y="2078967"/>
            <a:ext cx="4779034" cy="4779034"/>
          </a:xfrm>
          <a:prstGeom prst="rtTriangle">
            <a:avLst/>
          </a:prstGeom>
          <a:solidFill>
            <a:schemeClr val="accent3">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Right Triangle 13">
            <a:extLst>
              <a:ext uri="{FF2B5EF4-FFF2-40B4-BE49-F238E27FC236}">
                <a16:creationId xmlns:a16="http://schemas.microsoft.com/office/drawing/2014/main" id="{1003DCE0-C55E-6448-AC1E-9D71F3EBB562}"/>
              </a:ext>
            </a:extLst>
          </p:cNvPr>
          <p:cNvSpPr/>
          <p:nvPr/>
        </p:nvSpPr>
        <p:spPr>
          <a:xfrm rot="10800000">
            <a:off x="7412966" y="0"/>
            <a:ext cx="4792936" cy="4792936"/>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6" name="Right Triangle 15">
            <a:extLst>
              <a:ext uri="{FF2B5EF4-FFF2-40B4-BE49-F238E27FC236}">
                <a16:creationId xmlns:a16="http://schemas.microsoft.com/office/drawing/2014/main" id="{31979BB4-D02E-AE4E-A8A8-2A7A55AB79CA}"/>
              </a:ext>
            </a:extLst>
          </p:cNvPr>
          <p:cNvSpPr/>
          <p:nvPr/>
        </p:nvSpPr>
        <p:spPr>
          <a:xfrm rot="16200000">
            <a:off x="7412966" y="2078967"/>
            <a:ext cx="4779034" cy="4779034"/>
          </a:xfrm>
          <a:prstGeom prst="rtTriangle">
            <a:avLst/>
          </a:prstGeom>
          <a:solidFill>
            <a:schemeClr val="accent3">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8" name="Right Triangle 17">
            <a:extLst>
              <a:ext uri="{FF2B5EF4-FFF2-40B4-BE49-F238E27FC236}">
                <a16:creationId xmlns:a16="http://schemas.microsoft.com/office/drawing/2014/main" id="{A03168C6-AAF2-8A4D-AE31-BF4FFA4AA02E}"/>
              </a:ext>
            </a:extLst>
          </p:cNvPr>
          <p:cNvSpPr/>
          <p:nvPr/>
        </p:nvSpPr>
        <p:spPr>
          <a:xfrm rot="10800000">
            <a:off x="7412966" y="0"/>
            <a:ext cx="4792936" cy="4792936"/>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2" name="Right Triangle 21">
            <a:extLst>
              <a:ext uri="{FF2B5EF4-FFF2-40B4-BE49-F238E27FC236}">
                <a16:creationId xmlns:a16="http://schemas.microsoft.com/office/drawing/2014/main" id="{0F9A8760-B4C4-654E-B224-4A478CF0477F}"/>
              </a:ext>
            </a:extLst>
          </p:cNvPr>
          <p:cNvSpPr/>
          <p:nvPr/>
        </p:nvSpPr>
        <p:spPr>
          <a:xfrm rot="16200000">
            <a:off x="7412966" y="2078967"/>
            <a:ext cx="4779034" cy="4779034"/>
          </a:xfrm>
          <a:prstGeom prst="rtTriangle">
            <a:avLst/>
          </a:prstGeom>
          <a:solidFill>
            <a:schemeClr val="accent3">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3" name="Right Triangle 22">
            <a:extLst>
              <a:ext uri="{FF2B5EF4-FFF2-40B4-BE49-F238E27FC236}">
                <a16:creationId xmlns:a16="http://schemas.microsoft.com/office/drawing/2014/main" id="{2227A6DD-EC13-EF49-9819-F92827EA4822}"/>
              </a:ext>
            </a:extLst>
          </p:cNvPr>
          <p:cNvSpPr/>
          <p:nvPr/>
        </p:nvSpPr>
        <p:spPr>
          <a:xfrm rot="10800000">
            <a:off x="7412966" y="0"/>
            <a:ext cx="4792936" cy="4792936"/>
          </a:xfrm>
          <a:prstGeom prst="rtTriangle">
            <a:avLst/>
          </a:prstGeom>
          <a:solidFill>
            <a:srgbClr val="EB1B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7" name="Picture 16" descr="11.png"/>
          <p:cNvPicPr>
            <a:picLocks noChangeAspect="1"/>
          </p:cNvPicPr>
          <p:nvPr/>
        </p:nvPicPr>
        <p:blipFill rotWithShape="1">
          <a:blip r:embed="rId2" cstate="print">
            <a:alphaModFix amt="70000"/>
            <a:extLst>
              <a:ext uri="{28A0092B-C50C-407E-A947-70E740481C1C}">
                <a14:useLocalDpi xmlns:a14="http://schemas.microsoft.com/office/drawing/2010/main" val="0"/>
              </a:ext>
            </a:extLst>
          </a:blip>
          <a:srcRect t="-2013" b="2013"/>
          <a:stretch/>
        </p:blipFill>
        <p:spPr>
          <a:xfrm>
            <a:off x="9017001" y="0"/>
            <a:ext cx="3175000" cy="6858000"/>
          </a:xfrm>
          <a:prstGeom prst="rect">
            <a:avLst/>
          </a:prstGeom>
        </p:spPr>
      </p:pic>
      <p:pic>
        <p:nvPicPr>
          <p:cNvPr id="21" name="Picture 20">
            <a:extLst>
              <a:ext uri="{FF2B5EF4-FFF2-40B4-BE49-F238E27FC236}">
                <a16:creationId xmlns:a16="http://schemas.microsoft.com/office/drawing/2014/main" id="{DF656EFA-286F-5E4A-9F0B-E6DE9CBD220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2571" y="6020571"/>
            <a:ext cx="1280160" cy="259781"/>
          </a:xfrm>
          <a:prstGeom prst="rect">
            <a:avLst/>
          </a:prstGeom>
        </p:spPr>
      </p:pic>
      <p:sp>
        <p:nvSpPr>
          <p:cNvPr id="4" name="TextBox 3">
            <a:extLst>
              <a:ext uri="{FF2B5EF4-FFF2-40B4-BE49-F238E27FC236}">
                <a16:creationId xmlns:a16="http://schemas.microsoft.com/office/drawing/2014/main" id="{3388527C-82D0-9645-A44A-89CA1AE03B1F}"/>
              </a:ext>
            </a:extLst>
          </p:cNvPr>
          <p:cNvSpPr txBox="1"/>
          <p:nvPr/>
        </p:nvSpPr>
        <p:spPr>
          <a:xfrm>
            <a:off x="872571" y="2644170"/>
            <a:ext cx="5390207" cy="1569660"/>
          </a:xfrm>
          <a:prstGeom prst="rect">
            <a:avLst/>
          </a:prstGeom>
          <a:noFill/>
        </p:spPr>
        <p:txBody>
          <a:bodyPr wrap="square" rtlCol="0">
            <a:spAutoFit/>
          </a:bodyPr>
          <a:lstStyle/>
          <a:p>
            <a:r>
              <a:rPr lang="en-US" sz="4799" b="1" dirty="0"/>
              <a:t>Adaptable.</a:t>
            </a:r>
            <a:br>
              <a:rPr lang="en-US" sz="4799" b="1" dirty="0"/>
            </a:br>
            <a:r>
              <a:rPr lang="en-US" sz="4799" b="1" dirty="0">
                <a:solidFill>
                  <a:srgbClr val="FF0000"/>
                </a:solidFill>
              </a:rPr>
              <a:t>Intelligent.</a:t>
            </a:r>
            <a:endParaRPr lang="en-US" sz="4799" b="1" dirty="0"/>
          </a:p>
        </p:txBody>
      </p:sp>
    </p:spTree>
    <p:extLst>
      <p:ext uri="{BB962C8B-B14F-4D97-AF65-F5344CB8AC3E}">
        <p14:creationId xmlns:p14="http://schemas.microsoft.com/office/powerpoint/2010/main" val="3111257825"/>
      </p:ext>
    </p:extLst>
  </p:cSld>
  <p:clrMapOvr>
    <a:overrideClrMapping bg1="dk1" tx1="lt1" bg2="dk2" tx2="lt2" accent1="accent1" accent2="accent2" accent3="accent3" accent4="accent4" accent5="accent5" accent6="accent6" hlink="hlink" folHlink="folHlink"/>
  </p:clrMapOvr>
  <p:hf hdr="0" dt="0"/>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Title and Content Standard">
    <p:spTree>
      <p:nvGrpSpPr>
        <p:cNvPr id="1" name=""/>
        <p:cNvGrpSpPr/>
        <p:nvPr/>
      </p:nvGrpSpPr>
      <p:grpSpPr>
        <a:xfrm>
          <a:off x="0" y="0"/>
          <a:ext cx="0" cy="0"/>
          <a:chOff x="0" y="0"/>
          <a:chExt cx="0" cy="0"/>
        </a:xfrm>
      </p:grpSpPr>
      <p:sp>
        <p:nvSpPr>
          <p:cNvPr id="6" name="Rectangle 11"/>
          <p:cNvSpPr>
            <a:spLocks noGrp="1" noChangeArrowheads="1"/>
          </p:cNvSpPr>
          <p:nvPr>
            <p:ph type="title"/>
          </p:nvPr>
        </p:nvSpPr>
        <p:spPr bwMode="auto">
          <a:xfrm>
            <a:off x="1083733" y="209551"/>
            <a:ext cx="10498667" cy="530352"/>
          </a:xfrm>
          <a:prstGeom prst="rect">
            <a:avLst/>
          </a:prstGeom>
          <a:noFill/>
          <a:ln w="9525">
            <a:noFill/>
            <a:miter lim="800000"/>
            <a:headEnd/>
            <a:tailEnd/>
          </a:ln>
        </p:spPr>
        <p:txBody>
          <a:bodyPr vert="horz" wrap="square" lIns="0" tIns="45720" rIns="91440" bIns="45720" numCol="1" anchor="t" anchorCtr="0" compatLnSpc="1">
            <a:prstTxWarp prst="textNoShape">
              <a:avLst/>
            </a:prstTxWarp>
          </a:bodyPr>
          <a:lstStyle/>
          <a:p>
            <a:pPr lvl="0"/>
            <a:r>
              <a:rPr lang="en-US"/>
              <a:t>Click to edit Master title style</a:t>
            </a:r>
            <a:endParaRPr lang="en-US" dirty="0"/>
          </a:p>
        </p:txBody>
      </p:sp>
      <p:sp>
        <p:nvSpPr>
          <p:cNvPr id="8" name="Text Placeholder 2">
            <a:extLst>
              <a:ext uri="{FF2B5EF4-FFF2-40B4-BE49-F238E27FC236}">
                <a16:creationId xmlns:a16="http://schemas.microsoft.com/office/drawing/2014/main" id="{5186495B-315C-4C3E-B3D4-71BB48AAEE61}"/>
              </a:ext>
            </a:extLst>
          </p:cNvPr>
          <p:cNvSpPr>
            <a:spLocks noGrp="1"/>
          </p:cNvSpPr>
          <p:nvPr>
            <p:ph idx="1"/>
          </p:nvPr>
        </p:nvSpPr>
        <p:spPr>
          <a:xfrm>
            <a:off x="1066799" y="1410005"/>
            <a:ext cx="10515600" cy="4756356"/>
          </a:xfrm>
          <a:prstGeom prst="rect">
            <a:avLst/>
          </a:prstGeom>
        </p:spPr>
        <p:txBody>
          <a:bodyPr vert="horz" lIns="91440" tIns="45720" rIns="91440" bIns="45720" rtlCol="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4">
            <a:extLst>
              <a:ext uri="{FF2B5EF4-FFF2-40B4-BE49-F238E27FC236}">
                <a16:creationId xmlns:a16="http://schemas.microsoft.com/office/drawing/2014/main" id="{57E0F098-AE5A-4BFB-B240-38D40348DBEA}"/>
              </a:ext>
            </a:extLst>
          </p:cNvPr>
          <p:cNvSpPr>
            <a:spLocks noGrp="1"/>
          </p:cNvSpPr>
          <p:nvPr>
            <p:ph type="sldNum" sz="quarter" idx="4"/>
          </p:nvPr>
        </p:nvSpPr>
        <p:spPr>
          <a:xfrm>
            <a:off x="494041" y="6465126"/>
            <a:ext cx="2564510" cy="365125"/>
          </a:xfrm>
          <a:prstGeom prst="rect">
            <a:avLst/>
          </a:prstGeom>
        </p:spPr>
        <p:txBody>
          <a:bodyPr vert="horz" lIns="91440" tIns="45720" rIns="91440" bIns="45720" rtlCol="0" anchor="ctr"/>
          <a:lstStyle>
            <a:lvl1pPr algn="l">
              <a:defRPr sz="1200" b="1">
                <a:solidFill>
                  <a:schemeClr val="tx1">
                    <a:tint val="75000"/>
                  </a:schemeClr>
                </a:solidFill>
              </a:defRPr>
            </a:lvl1pPr>
          </a:lstStyle>
          <a:p>
            <a:pPr>
              <a:defRPr/>
            </a:pPr>
            <a:r>
              <a:rPr lang="en-US" dirty="0"/>
              <a:t>Coding Considerations 23- </a:t>
            </a:r>
            <a:fld id="{060BD193-E118-4B16-863C-C8C12C675E3E}" type="slidenum">
              <a:rPr lang="en-US" smtClean="0"/>
              <a:pPr>
                <a:defRPr/>
              </a:pPr>
              <a:t>‹#›</a:t>
            </a:fld>
            <a:endParaRPr lang="en-US" dirty="0"/>
          </a:p>
        </p:txBody>
      </p:sp>
    </p:spTree>
    <p:extLst>
      <p:ext uri="{BB962C8B-B14F-4D97-AF65-F5344CB8AC3E}">
        <p14:creationId xmlns:p14="http://schemas.microsoft.com/office/powerpoint/2010/main" val="2453746449"/>
      </p:ext>
    </p:extLst>
  </p:cSld>
  <p:clrMapOvr>
    <a:masterClrMapping/>
  </p:clrMapOvr>
  <p:hf hdr="0" dt="0"/>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Title No Body Copy">
    <p:spTree>
      <p:nvGrpSpPr>
        <p:cNvPr id="1" name=""/>
        <p:cNvGrpSpPr/>
        <p:nvPr/>
      </p:nvGrpSpPr>
      <p:grpSpPr>
        <a:xfrm>
          <a:off x="0" y="0"/>
          <a:ext cx="0" cy="0"/>
          <a:chOff x="0" y="0"/>
          <a:chExt cx="0" cy="0"/>
        </a:xfrm>
      </p:grpSpPr>
      <p:sp>
        <p:nvSpPr>
          <p:cNvPr id="4" name="Title 1"/>
          <p:cNvSpPr>
            <a:spLocks noGrp="1"/>
          </p:cNvSpPr>
          <p:nvPr>
            <p:ph type="title"/>
          </p:nvPr>
        </p:nvSpPr>
        <p:spPr>
          <a:xfrm>
            <a:off x="1083734" y="209551"/>
            <a:ext cx="11017956" cy="530352"/>
          </a:xfrm>
        </p:spPr>
        <p:txBody>
          <a:bodyPr/>
          <a:lstStyle/>
          <a:p>
            <a:r>
              <a:rPr lang="en-US"/>
              <a:t>Click to edit Master title style</a:t>
            </a:r>
          </a:p>
        </p:txBody>
      </p:sp>
      <p:sp>
        <p:nvSpPr>
          <p:cNvPr id="7" name="Slide Number Placeholder 4">
            <a:extLst>
              <a:ext uri="{FF2B5EF4-FFF2-40B4-BE49-F238E27FC236}">
                <a16:creationId xmlns:a16="http://schemas.microsoft.com/office/drawing/2014/main" id="{2226F909-149E-41D6-AEDB-D097B81A07DD}"/>
              </a:ext>
            </a:extLst>
          </p:cNvPr>
          <p:cNvSpPr>
            <a:spLocks noGrp="1"/>
          </p:cNvSpPr>
          <p:nvPr>
            <p:ph type="sldNum" sz="quarter" idx="4"/>
          </p:nvPr>
        </p:nvSpPr>
        <p:spPr>
          <a:xfrm>
            <a:off x="494041" y="6465126"/>
            <a:ext cx="2564510" cy="365125"/>
          </a:xfrm>
          <a:prstGeom prst="rect">
            <a:avLst/>
          </a:prstGeom>
        </p:spPr>
        <p:txBody>
          <a:bodyPr vert="horz" lIns="91440" tIns="45720" rIns="91440" bIns="45720" rtlCol="0" anchor="ctr"/>
          <a:lstStyle>
            <a:lvl1pPr algn="l">
              <a:defRPr sz="1200" b="1">
                <a:solidFill>
                  <a:schemeClr val="tx1">
                    <a:tint val="75000"/>
                  </a:schemeClr>
                </a:solidFill>
              </a:defRPr>
            </a:lvl1pPr>
          </a:lstStyle>
          <a:p>
            <a:pPr>
              <a:defRPr/>
            </a:pPr>
            <a:r>
              <a:rPr lang="en-US" dirty="0"/>
              <a:t>Coding Considerations 23- </a:t>
            </a:r>
            <a:fld id="{060BD193-E118-4B16-863C-C8C12C675E3E}" type="slidenum">
              <a:rPr lang="en-US" smtClean="0"/>
              <a:pPr>
                <a:defRPr/>
              </a:pPr>
              <a:t>‹#›</a:t>
            </a:fld>
            <a:endParaRPr lang="en-US" dirty="0"/>
          </a:p>
        </p:txBody>
      </p:sp>
    </p:spTree>
    <p:extLst>
      <p:ext uri="{BB962C8B-B14F-4D97-AF65-F5344CB8AC3E}">
        <p14:creationId xmlns:p14="http://schemas.microsoft.com/office/powerpoint/2010/main" val="1428027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slideLayout" Target="../slideLayouts/slideLayout30.xml"/><Relationship Id="rId3" Type="http://schemas.openxmlformats.org/officeDocument/2006/relationships/slideLayout" Target="../slideLayouts/slideLayout15.xml"/><Relationship Id="rId21" Type="http://schemas.openxmlformats.org/officeDocument/2006/relationships/theme" Target="../theme/theme2.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20" Type="http://schemas.openxmlformats.org/officeDocument/2006/relationships/slideLayout" Target="../slideLayouts/slideLayout32.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23" Type="http://schemas.openxmlformats.org/officeDocument/2006/relationships/image" Target="../media/image4.png"/><Relationship Id="rId10" Type="http://schemas.openxmlformats.org/officeDocument/2006/relationships/slideLayout" Target="../slideLayouts/slideLayout22.xml"/><Relationship Id="rId19" Type="http://schemas.openxmlformats.org/officeDocument/2006/relationships/slideLayout" Target="../slideLayouts/slideLayout31.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 Id="rId22"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9121" y="234696"/>
            <a:ext cx="11033760" cy="975360"/>
          </a:xfrm>
          <a:prstGeom prst="rect">
            <a:avLst/>
          </a:prstGeom>
        </p:spPr>
        <p:txBody>
          <a:bodyPr vert="horz" lIns="91440" tIns="45720" rIns="91440" bIns="45720" rtlCol="0" anchor="t" anchorCtr="0">
            <a:noAutofit/>
          </a:bodyPr>
          <a:lstStyle/>
          <a:p>
            <a:r>
              <a:rPr lang="en-US"/>
              <a:t>Click to edit Master title style</a:t>
            </a:r>
          </a:p>
        </p:txBody>
      </p:sp>
      <p:sp>
        <p:nvSpPr>
          <p:cNvPr id="3" name="Text Placeholder 2"/>
          <p:cNvSpPr>
            <a:spLocks noGrp="1"/>
          </p:cNvSpPr>
          <p:nvPr>
            <p:ph type="body" idx="1"/>
          </p:nvPr>
        </p:nvSpPr>
        <p:spPr>
          <a:xfrm>
            <a:off x="579121" y="1470401"/>
            <a:ext cx="11033760" cy="4632960"/>
          </a:xfrm>
          <a:prstGeom prst="rect">
            <a:avLst/>
          </a:prstGeom>
        </p:spPr>
        <p:txBody>
          <a:bodyPr vert="horz" lIns="91440" tIns="45720" rIns="91440" bIns="4572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a:extLst>
              <a:ext uri="{FF2B5EF4-FFF2-40B4-BE49-F238E27FC236}">
                <a16:creationId xmlns:a16="http://schemas.microsoft.com/office/drawing/2014/main" id="{BCBBAE11-7273-0744-B2EB-4D22266C9B89}"/>
              </a:ext>
            </a:extLst>
          </p:cNvPr>
          <p:cNvPicPr>
            <a:picLocks noChangeAspect="1"/>
          </p:cNvPicPr>
          <p:nvPr userDrawn="1"/>
        </p:nvPicPr>
        <p:blipFill>
          <a:blip r:embed="rId14"/>
          <a:stretch>
            <a:fillRect/>
          </a:stretch>
        </p:blipFill>
        <p:spPr>
          <a:xfrm>
            <a:off x="11028823" y="6279370"/>
            <a:ext cx="576531" cy="357077"/>
          </a:xfrm>
          <a:prstGeom prst="rect">
            <a:avLst/>
          </a:prstGeom>
        </p:spPr>
      </p:pic>
      <p:sp>
        <p:nvSpPr>
          <p:cNvPr id="8" name="fc" descr="&#10;© Copyright 2022 AMD">
            <a:extLst>
              <a:ext uri="{FF2B5EF4-FFF2-40B4-BE49-F238E27FC236}">
                <a16:creationId xmlns:a16="http://schemas.microsoft.com/office/drawing/2014/main" id="{13638B75-2207-41BB-9385-2EAF6EB19BC6}"/>
              </a:ext>
            </a:extLst>
          </p:cNvPr>
          <p:cNvSpPr txBox="1"/>
          <p:nvPr userDrawn="1"/>
        </p:nvSpPr>
        <p:spPr>
          <a:xfrm>
            <a:off x="0" y="6512560"/>
            <a:ext cx="12192000" cy="230832"/>
          </a:xfrm>
          <a:prstGeom prst="rect">
            <a:avLst/>
          </a:prstGeom>
          <a:noFill/>
        </p:spPr>
        <p:txBody>
          <a:bodyPr vert="horz" rtlCol="0">
            <a:spAutoFit/>
          </a:bodyPr>
          <a:lstStyle/>
          <a:p>
            <a:pPr algn="ctr"/>
            <a:r>
              <a:rPr lang="en-US" sz="900" b="0" i="0" u="none" strike="noStrike" kern="1200" baseline="0" dirty="0">
                <a:solidFill>
                  <a:schemeClr val="tx1"/>
                </a:solidFill>
                <a:latin typeface="+mn-lt"/>
                <a:ea typeface="+mn-ea"/>
                <a:cs typeface="+mn-cs"/>
              </a:rPr>
              <a:t>©2022 Advanced Micro Devices, Inc.</a:t>
            </a:r>
            <a:endParaRPr lang="en-US" sz="850" b="0" i="0" u="none" baseline="0" dirty="0">
              <a:solidFill>
                <a:srgbClr val="000000"/>
              </a:solidFill>
              <a:latin typeface="Microsoft Sans Serif" panose="020B0604020202020204" pitchFamily="34" charset="0"/>
            </a:endParaRPr>
          </a:p>
        </p:txBody>
      </p:sp>
      <p:sp>
        <p:nvSpPr>
          <p:cNvPr id="9" name="Slide Number Placeholder 7">
            <a:extLst>
              <a:ext uri="{FF2B5EF4-FFF2-40B4-BE49-F238E27FC236}">
                <a16:creationId xmlns:a16="http://schemas.microsoft.com/office/drawing/2014/main" id="{08506C1B-DDBC-47E1-B910-9133C4E2232A}"/>
              </a:ext>
            </a:extLst>
          </p:cNvPr>
          <p:cNvSpPr>
            <a:spLocks noGrp="1"/>
          </p:cNvSpPr>
          <p:nvPr>
            <p:ph type="sldNum" sz="quarter" idx="4"/>
          </p:nvPr>
        </p:nvSpPr>
        <p:spPr>
          <a:xfrm>
            <a:off x="579120" y="6325606"/>
            <a:ext cx="2206217" cy="365125"/>
          </a:xfrm>
          <a:prstGeom prst="rect">
            <a:avLst/>
          </a:prstGeom>
        </p:spPr>
        <p:txBody>
          <a:bodyPr/>
          <a:lstStyle>
            <a:lvl1pPr>
              <a:defRPr sz="1200"/>
            </a:lvl1pPr>
          </a:lstStyle>
          <a:p>
            <a:pPr>
              <a:defRPr/>
            </a:pPr>
            <a:r>
              <a:rPr lang="en-US" dirty="0"/>
              <a:t>Intro to HLS 11- </a:t>
            </a:r>
            <a:fld id="{060BD193-E118-4B16-863C-C8C12C675E3E}" type="slidenum">
              <a:rPr lang="en-US" smtClean="0"/>
              <a:pPr>
                <a:defRPr/>
              </a:pPr>
              <a:t>‹#›</a:t>
            </a:fld>
            <a:endParaRPr lang="en-US" dirty="0"/>
          </a:p>
        </p:txBody>
      </p:sp>
    </p:spTree>
    <p:extLst>
      <p:ext uri="{BB962C8B-B14F-4D97-AF65-F5344CB8AC3E}">
        <p14:creationId xmlns:p14="http://schemas.microsoft.com/office/powerpoint/2010/main" val="3868898160"/>
      </p:ext>
    </p:extLst>
  </p:cSld>
  <p:clrMap bg1="lt1" tx1="dk1" bg2="lt2" tx2="dk2" accent1="accent1" accent2="accent2" accent3="accent3" accent4="accent4" accent5="accent5" accent6="accent6" hlink="hlink" folHlink="folHlink"/>
  <p:sldLayoutIdLst>
    <p:sldLayoutId id="2147483985" r:id="rId1"/>
    <p:sldLayoutId id="2147483983" r:id="rId2"/>
    <p:sldLayoutId id="2147483979" r:id="rId3"/>
    <p:sldLayoutId id="2147483973" r:id="rId4"/>
    <p:sldLayoutId id="2147483938" r:id="rId5"/>
    <p:sldLayoutId id="2147483961" r:id="rId6"/>
    <p:sldLayoutId id="2147483982" r:id="rId7"/>
    <p:sldLayoutId id="2147483986" r:id="rId8"/>
    <p:sldLayoutId id="2147483964" r:id="rId9"/>
    <p:sldLayoutId id="2147483988" r:id="rId10"/>
    <p:sldLayoutId id="2147483989" r:id="rId11"/>
    <p:sldLayoutId id="2147483990"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45" rtl="0" eaLnBrk="1" latinLnBrk="0" hangingPunct="1">
        <a:lnSpc>
          <a:spcPct val="90000"/>
        </a:lnSpc>
        <a:spcBef>
          <a:spcPct val="0"/>
        </a:spcBef>
        <a:buNone/>
        <a:defRPr lang="en-US" sz="3200" b="1" i="0" kern="1200" dirty="0" smtClean="0">
          <a:solidFill>
            <a:schemeClr val="tx1"/>
          </a:solidFill>
          <a:latin typeface="Arial" charset="0"/>
          <a:ea typeface="+mj-ea"/>
          <a:cs typeface="Arial" charset="0"/>
        </a:defRPr>
      </a:lvl1pPr>
    </p:titleStyle>
    <p:bodyStyle>
      <a:lvl1pPr marL="234962" indent="-234962" algn="l" defTabSz="1219261" rtl="0" eaLnBrk="1" latinLnBrk="0" hangingPunct="1">
        <a:lnSpc>
          <a:spcPct val="100000"/>
        </a:lnSpc>
        <a:spcBef>
          <a:spcPts val="1600"/>
        </a:spcBef>
        <a:buClr>
          <a:schemeClr val="accent1"/>
        </a:buClr>
        <a:buSzPct val="80000"/>
        <a:buFont typeface="Webdings" panose="05030102010509060703" pitchFamily="18" charset="2"/>
        <a:buChar char="4"/>
        <a:defRPr lang="en-US" sz="2400" b="0" kern="1200" dirty="0" smtClean="0">
          <a:solidFill>
            <a:schemeClr val="tx1"/>
          </a:solidFill>
          <a:latin typeface="Arial" panose="020B0604020202020204" pitchFamily="34" charset="0"/>
          <a:ea typeface="+mn-ea"/>
          <a:cs typeface="Arial" panose="020B0604020202020204" pitchFamily="34" charset="0"/>
        </a:defRPr>
      </a:lvl1pPr>
      <a:lvl2pPr marL="452989" indent="-220144" algn="l" defTabSz="914445" rtl="0" eaLnBrk="1" latinLnBrk="0" hangingPunct="1">
        <a:lnSpc>
          <a:spcPct val="95000"/>
        </a:lnSpc>
        <a:spcBef>
          <a:spcPts val="600"/>
        </a:spcBef>
        <a:buClr>
          <a:schemeClr val="accent1"/>
        </a:buClr>
        <a:buSzPct val="80000"/>
        <a:buFont typeface="Wingdings 3" panose="05040102010807070707" pitchFamily="18" charset="2"/>
        <a:buChar char="¬"/>
        <a:defRPr lang="en-US" sz="2000" kern="1200" dirty="0" smtClean="0">
          <a:solidFill>
            <a:schemeClr val="tx1"/>
          </a:solidFill>
          <a:latin typeface="Arial" panose="020B0604020202020204" pitchFamily="34" charset="0"/>
          <a:ea typeface="+mn-ea"/>
          <a:cs typeface="Arial" panose="020B0604020202020204" pitchFamily="34" charset="0"/>
        </a:defRPr>
      </a:lvl2pPr>
      <a:lvl3pPr marL="685835" indent="-232845" algn="l" defTabSz="914445" rtl="0" eaLnBrk="1" latinLnBrk="0" hangingPunct="1">
        <a:lnSpc>
          <a:spcPct val="95000"/>
        </a:lnSpc>
        <a:spcBef>
          <a:spcPts val="833"/>
        </a:spcBef>
        <a:buClr>
          <a:schemeClr val="tx1"/>
        </a:buClr>
        <a:buSzPct val="80000"/>
        <a:buFont typeface="Wingdings 3" panose="05040102010807070707" pitchFamily="18" charset="2"/>
        <a:buChar char="¬"/>
        <a:defRPr lang="en-US" sz="1600" kern="1200" dirty="0" smtClean="0">
          <a:solidFill>
            <a:schemeClr val="tx1"/>
          </a:solidFill>
          <a:latin typeface="Arial" panose="020B0604020202020204" pitchFamily="34" charset="0"/>
          <a:ea typeface="+mn-ea"/>
          <a:cs typeface="Arial" panose="020B0604020202020204" pitchFamily="34" charset="0"/>
        </a:defRPr>
      </a:lvl3pPr>
      <a:lvl4pPr marL="916563" indent="-230729" algn="l" defTabSz="914445" rtl="0" eaLnBrk="1" latinLnBrk="0" hangingPunct="1">
        <a:lnSpc>
          <a:spcPct val="95000"/>
        </a:lnSpc>
        <a:spcBef>
          <a:spcPts val="833"/>
        </a:spcBef>
        <a:buClr>
          <a:schemeClr val="tx1"/>
        </a:buClr>
        <a:buSzPct val="80000"/>
        <a:buFont typeface="Wingdings 3" panose="05040102010807070707" pitchFamily="18" charset="2"/>
        <a:buChar char="¬"/>
        <a:defRPr lang="en-US" sz="1600" kern="1200" dirty="0" smtClean="0">
          <a:solidFill>
            <a:schemeClr val="tx1"/>
          </a:solidFill>
          <a:latin typeface="Arial" panose="020B0604020202020204" pitchFamily="34" charset="0"/>
          <a:ea typeface="+mn-ea"/>
          <a:cs typeface="Arial" panose="020B0604020202020204" pitchFamily="34" charset="0"/>
        </a:defRPr>
      </a:lvl4pPr>
      <a:lvl5pPr marL="1138824" indent="-222262" algn="l" defTabSz="914445" rtl="0" eaLnBrk="1" latinLnBrk="0" hangingPunct="1">
        <a:lnSpc>
          <a:spcPct val="95000"/>
        </a:lnSpc>
        <a:spcBef>
          <a:spcPts val="833"/>
        </a:spcBef>
        <a:buClr>
          <a:schemeClr val="tx1"/>
        </a:buClr>
        <a:buSzPct val="80000"/>
        <a:buFont typeface="Wingdings 3" panose="05040102010807070707" pitchFamily="18" charset="2"/>
        <a:buChar char="¬"/>
        <a:tabLst/>
        <a:defRPr lang="en-US" sz="1600" kern="1200" dirty="0">
          <a:solidFill>
            <a:schemeClr val="tx1"/>
          </a:solidFill>
          <a:latin typeface="Arial" panose="020B0604020202020204" pitchFamily="34" charset="0"/>
          <a:ea typeface="+mn-ea"/>
          <a:cs typeface="Arial" panose="020B0604020202020204" pitchFamily="34" charset="0"/>
        </a:defRPr>
      </a:lvl5pPr>
      <a:lvl6pPr marL="2514725" indent="-228612" algn="l" defTabSz="914445"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948" indent="-228612" algn="l" defTabSz="914445"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171" indent="-228612" algn="l" defTabSz="914445"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394" indent="-228612" algn="l" defTabSz="914445"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p:bodyStyle>
    <p:otherStyle>
      <a:defPPr>
        <a:defRPr lang="en-US"/>
      </a:defPPr>
      <a:lvl1pPr marL="0" algn="l" defTabSz="914445" rtl="0" eaLnBrk="1" latinLnBrk="0" hangingPunct="1">
        <a:defRPr sz="1801" kern="1200">
          <a:solidFill>
            <a:schemeClr val="tx1"/>
          </a:solidFill>
          <a:latin typeface="+mn-lt"/>
          <a:ea typeface="+mn-ea"/>
          <a:cs typeface="+mn-cs"/>
        </a:defRPr>
      </a:lvl1pPr>
      <a:lvl2pPr marL="457223" algn="l" defTabSz="914445" rtl="0" eaLnBrk="1" latinLnBrk="0" hangingPunct="1">
        <a:defRPr sz="1801" kern="1200">
          <a:solidFill>
            <a:schemeClr val="tx1"/>
          </a:solidFill>
          <a:latin typeface="+mn-lt"/>
          <a:ea typeface="+mn-ea"/>
          <a:cs typeface="+mn-cs"/>
        </a:defRPr>
      </a:lvl2pPr>
      <a:lvl3pPr marL="914445" algn="l" defTabSz="914445" rtl="0" eaLnBrk="1" latinLnBrk="0" hangingPunct="1">
        <a:defRPr sz="1801" kern="1200">
          <a:solidFill>
            <a:schemeClr val="tx1"/>
          </a:solidFill>
          <a:latin typeface="+mn-lt"/>
          <a:ea typeface="+mn-ea"/>
          <a:cs typeface="+mn-cs"/>
        </a:defRPr>
      </a:lvl3pPr>
      <a:lvl4pPr marL="1371668" algn="l" defTabSz="914445" rtl="0" eaLnBrk="1" latinLnBrk="0" hangingPunct="1">
        <a:defRPr sz="1801" kern="1200">
          <a:solidFill>
            <a:schemeClr val="tx1"/>
          </a:solidFill>
          <a:latin typeface="+mn-lt"/>
          <a:ea typeface="+mn-ea"/>
          <a:cs typeface="+mn-cs"/>
        </a:defRPr>
      </a:lvl4pPr>
      <a:lvl5pPr marL="1828892" algn="l" defTabSz="914445" rtl="0" eaLnBrk="1" latinLnBrk="0" hangingPunct="1">
        <a:defRPr sz="1801" kern="1200">
          <a:solidFill>
            <a:schemeClr val="tx1"/>
          </a:solidFill>
          <a:latin typeface="+mn-lt"/>
          <a:ea typeface="+mn-ea"/>
          <a:cs typeface="+mn-cs"/>
        </a:defRPr>
      </a:lvl5pPr>
      <a:lvl6pPr marL="2286115" algn="l" defTabSz="914445" rtl="0" eaLnBrk="1" latinLnBrk="0" hangingPunct="1">
        <a:defRPr sz="1801" kern="1200">
          <a:solidFill>
            <a:schemeClr val="tx1"/>
          </a:solidFill>
          <a:latin typeface="+mn-lt"/>
          <a:ea typeface="+mn-ea"/>
          <a:cs typeface="+mn-cs"/>
        </a:defRPr>
      </a:lvl6pPr>
      <a:lvl7pPr marL="2743337" algn="l" defTabSz="914445" rtl="0" eaLnBrk="1" latinLnBrk="0" hangingPunct="1">
        <a:defRPr sz="1801" kern="1200">
          <a:solidFill>
            <a:schemeClr val="tx1"/>
          </a:solidFill>
          <a:latin typeface="+mn-lt"/>
          <a:ea typeface="+mn-ea"/>
          <a:cs typeface="+mn-cs"/>
        </a:defRPr>
      </a:lvl7pPr>
      <a:lvl8pPr marL="3200560" algn="l" defTabSz="914445" rtl="0" eaLnBrk="1" latinLnBrk="0" hangingPunct="1">
        <a:defRPr sz="1801" kern="1200">
          <a:solidFill>
            <a:schemeClr val="tx1"/>
          </a:solidFill>
          <a:latin typeface="+mn-lt"/>
          <a:ea typeface="+mn-ea"/>
          <a:cs typeface="+mn-cs"/>
        </a:defRPr>
      </a:lvl8pPr>
      <a:lvl9pPr marL="3657783" algn="l" defTabSz="914445" rtl="0" eaLnBrk="1" latinLnBrk="0" hangingPunct="1">
        <a:defRPr sz="180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orient="horz" pos="4176" userDrawn="1">
          <p15:clr>
            <a:srgbClr val="F26B43"/>
          </p15:clr>
        </p15:guide>
        <p15:guide id="4" pos="448" userDrawn="1">
          <p15:clr>
            <a:srgbClr val="F26B43"/>
          </p15:clr>
        </p15:guide>
        <p15:guide id="5" pos="7232" userDrawn="1">
          <p15:clr>
            <a:srgbClr val="F26B43"/>
          </p15:clr>
        </p15:guide>
        <p15:guide id="6" orient="horz" pos="208" userDrawn="1">
          <p15:clr>
            <a:srgbClr val="F26B43"/>
          </p15:clr>
        </p15:guide>
        <p15:guide id="7" orient="horz" pos="976"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1793" y="210312"/>
            <a:ext cx="10541508" cy="502920"/>
          </a:xfrm>
          <a:prstGeom prst="rect">
            <a:avLst/>
          </a:prstGeom>
        </p:spPr>
        <p:txBody>
          <a:bodyPr vert="horz" lIns="91440" tIns="45720" rIns="91440" bIns="45720" rtlCol="0" anchor="t" anchorCtr="0">
            <a:noAutofit/>
          </a:bodyPr>
          <a:lstStyle/>
          <a:p>
            <a:r>
              <a:rPr lang="en-US" altLang="zh-CN"/>
              <a:t>Click to edit Master title style</a:t>
            </a:r>
            <a:endParaRPr lang="en-US" dirty="0"/>
          </a:p>
        </p:txBody>
      </p:sp>
      <p:sp>
        <p:nvSpPr>
          <p:cNvPr id="3" name="Text Placeholder 2"/>
          <p:cNvSpPr>
            <a:spLocks noGrp="1"/>
          </p:cNvSpPr>
          <p:nvPr>
            <p:ph type="body" idx="1"/>
          </p:nvPr>
        </p:nvSpPr>
        <p:spPr>
          <a:xfrm>
            <a:off x="647700" y="1344168"/>
            <a:ext cx="10515600" cy="4756356"/>
          </a:xfrm>
          <a:prstGeom prst="rect">
            <a:avLst/>
          </a:prstGeom>
        </p:spPr>
        <p:txBody>
          <a:bodyPr vert="horz" lIns="91440" tIns="45720" rIns="91440" bIns="45720" rtlCol="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object 6"/>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sp>
        <p:nvSpPr>
          <p:cNvPr id="5" name="Slide Number Placeholder 4"/>
          <p:cNvSpPr>
            <a:spLocks noGrp="1"/>
          </p:cNvSpPr>
          <p:nvPr>
            <p:ph type="sldNum" sz="quarter" idx="4"/>
          </p:nvPr>
        </p:nvSpPr>
        <p:spPr>
          <a:xfrm>
            <a:off x="647700" y="6356352"/>
            <a:ext cx="2740121" cy="365125"/>
          </a:xfrm>
          <a:prstGeom prst="rect">
            <a:avLst/>
          </a:prstGeom>
        </p:spPr>
        <p:txBody>
          <a:bodyPr vert="horz" lIns="91440" tIns="45720" rIns="91440" bIns="45720" rtlCol="0" anchor="ctr"/>
          <a:lstStyle>
            <a:lvl1pPr algn="l">
              <a:defRPr sz="1200" b="1">
                <a:solidFill>
                  <a:schemeClr val="tx1">
                    <a:tint val="75000"/>
                  </a:schemeClr>
                </a:solidFill>
              </a:defRPr>
            </a:lvl1pPr>
          </a:lstStyle>
          <a:p>
            <a:pPr>
              <a:defRPr/>
            </a:pPr>
            <a:r>
              <a:rPr lang="en-US"/>
              <a:t>Coding Considerations 23- </a:t>
            </a:r>
            <a:fld id="{060BD193-E118-4B16-863C-C8C12C675E3E}" type="slidenum">
              <a:rPr lang="en-US" smtClean="0"/>
              <a:pPr>
                <a:defRPr/>
              </a:pPr>
              <a:t>‹#›</a:t>
            </a:fld>
            <a:endParaRPr lang="en-US" dirty="0"/>
          </a:p>
        </p:txBody>
      </p:sp>
      <p:pic>
        <p:nvPicPr>
          <p:cNvPr id="26" name="Picture 25">
            <a:extLst>
              <a:ext uri="{FF2B5EF4-FFF2-40B4-BE49-F238E27FC236}">
                <a16:creationId xmlns:a16="http://schemas.microsoft.com/office/drawing/2014/main" id="{44F068DF-C691-E142-9A8F-9F62E4FF6DFA}"/>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10989131" y="6517141"/>
            <a:ext cx="950976" cy="192980"/>
          </a:xfrm>
          <a:prstGeom prst="rect">
            <a:avLst/>
          </a:prstGeom>
        </p:spPr>
      </p:pic>
      <p:sp>
        <p:nvSpPr>
          <p:cNvPr id="8" name="TextBox 7">
            <a:extLst>
              <a:ext uri="{FF2B5EF4-FFF2-40B4-BE49-F238E27FC236}">
                <a16:creationId xmlns:a16="http://schemas.microsoft.com/office/drawing/2014/main" id="{7807F5D4-8104-4068-822D-D1AD7990DD22}"/>
              </a:ext>
            </a:extLst>
          </p:cNvPr>
          <p:cNvSpPr txBox="1"/>
          <p:nvPr userDrawn="1"/>
        </p:nvSpPr>
        <p:spPr>
          <a:xfrm>
            <a:off x="5335817" y="6587011"/>
            <a:ext cx="1520364" cy="246221"/>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altLang="zh-CN" sz="1000" dirty="0"/>
              <a:t>© Copyright 2018 Xilinx</a:t>
            </a:r>
          </a:p>
        </p:txBody>
      </p:sp>
    </p:spTree>
    <p:extLst>
      <p:ext uri="{BB962C8B-B14F-4D97-AF65-F5344CB8AC3E}">
        <p14:creationId xmlns:p14="http://schemas.microsoft.com/office/powerpoint/2010/main" val="2827539990"/>
      </p:ext>
    </p:extLst>
  </p:cSld>
  <p:clrMap bg1="lt1" tx1="dk1" bg2="lt2" tx2="dk2" accent1="accent1" accent2="accent2" accent3="accent3" accent4="accent4" accent5="accent5" accent6="accent6" hlink="hlink" folHlink="folHlink"/>
  <p:sldLayoutIdLst>
    <p:sldLayoutId id="2147483992" r:id="rId1"/>
    <p:sldLayoutId id="2147483993" r:id="rId2"/>
    <p:sldLayoutId id="2147483994" r:id="rId3"/>
    <p:sldLayoutId id="2147483995" r:id="rId4"/>
    <p:sldLayoutId id="2147483996" r:id="rId5"/>
    <p:sldLayoutId id="2147483997" r:id="rId6"/>
    <p:sldLayoutId id="2147483998" r:id="rId7"/>
    <p:sldLayoutId id="2147483999" r:id="rId8"/>
    <p:sldLayoutId id="2147484000" r:id="rId9"/>
    <p:sldLayoutId id="2147484001" r:id="rId10"/>
    <p:sldLayoutId id="2147484002" r:id="rId11"/>
    <p:sldLayoutId id="2147484003" r:id="rId12"/>
    <p:sldLayoutId id="2147484004" r:id="rId13"/>
    <p:sldLayoutId id="2147484005" r:id="rId14"/>
    <p:sldLayoutId id="2147484006" r:id="rId15"/>
    <p:sldLayoutId id="2147484007" r:id="rId16"/>
    <p:sldLayoutId id="2147484008" r:id="rId17"/>
    <p:sldLayoutId id="2147484009" r:id="rId18"/>
    <p:sldLayoutId id="2147484010" r:id="rId19"/>
    <p:sldLayoutId id="2147484011" r:id="rId20"/>
  </p:sldLayoutIdLst>
  <p:hf hdr="0" dt="0"/>
  <p:txStyles>
    <p:titleStyle>
      <a:lvl1pPr algn="l" defTabSz="914126" rtl="0" eaLnBrk="1" latinLnBrk="0" hangingPunct="1">
        <a:lnSpc>
          <a:spcPct val="90000"/>
        </a:lnSpc>
        <a:spcBef>
          <a:spcPct val="0"/>
        </a:spcBef>
        <a:buNone/>
        <a:defRPr lang="en-US" sz="3199" b="1" i="0" kern="1200" dirty="0" smtClean="0">
          <a:solidFill>
            <a:srgbClr val="EC1C24"/>
          </a:solidFill>
          <a:latin typeface="Arial" charset="0"/>
          <a:ea typeface="+mj-ea"/>
          <a:cs typeface="Arial" charset="0"/>
        </a:defRPr>
      </a:lvl1pPr>
    </p:titleStyle>
    <p:bodyStyle>
      <a:lvl1pPr marL="228531" indent="-228531" algn="l" defTabSz="914126" rtl="0" eaLnBrk="1" latinLnBrk="0" hangingPunct="1">
        <a:lnSpc>
          <a:spcPct val="100000"/>
        </a:lnSpc>
        <a:spcBef>
          <a:spcPts val="1200"/>
        </a:spcBef>
        <a:buClr>
          <a:srgbClr val="FF0000"/>
        </a:buClr>
        <a:buFont typeface="Calibri" panose="020F0502020204030204" pitchFamily="34" charset="0"/>
        <a:buChar char="˃"/>
        <a:defRPr sz="1999" b="1" kern="1200">
          <a:solidFill>
            <a:schemeClr val="tx1">
              <a:lumMod val="50000"/>
            </a:schemeClr>
          </a:solidFill>
          <a:latin typeface="Arial" panose="020B0604020202020204" pitchFamily="34" charset="0"/>
          <a:ea typeface="+mn-ea"/>
          <a:cs typeface="Arial" panose="020B0604020202020204" pitchFamily="34" charset="0"/>
        </a:defRPr>
      </a:lvl1pPr>
      <a:lvl2pPr marL="742727" indent="-285664" algn="l" defTabSz="914126" rtl="0" eaLnBrk="1" latinLnBrk="0" hangingPunct="1">
        <a:lnSpc>
          <a:spcPct val="90000"/>
        </a:lnSpc>
        <a:spcBef>
          <a:spcPts val="500"/>
        </a:spcBef>
        <a:buFontTx/>
        <a:buBlip>
          <a:blip r:embed="rId23"/>
        </a:buBlip>
        <a:defRPr sz="1799" kern="1200">
          <a:solidFill>
            <a:schemeClr val="tx1"/>
          </a:solidFill>
          <a:latin typeface="Arial" panose="020B0604020202020204" pitchFamily="34" charset="0"/>
          <a:ea typeface="+mn-ea"/>
          <a:cs typeface="Arial" panose="020B0604020202020204" pitchFamily="34" charset="0"/>
        </a:defRPr>
      </a:lvl2pPr>
      <a:lvl3pPr marL="1142657" indent="-228531" algn="l" defTabSz="914126" rtl="0" eaLnBrk="1" latinLnBrk="0" hangingPunct="1">
        <a:lnSpc>
          <a:spcPct val="90000"/>
        </a:lnSpc>
        <a:spcBef>
          <a:spcPts val="500"/>
        </a:spcBef>
        <a:buFont typeface="Calibri" panose="020F0502020204030204" pitchFamily="34" charset="0"/>
        <a:buChar char="‒"/>
        <a:defRPr sz="1999" kern="1200">
          <a:solidFill>
            <a:schemeClr val="tx1"/>
          </a:solidFill>
          <a:latin typeface="Arial" panose="020B0604020202020204" pitchFamily="34" charset="0"/>
          <a:ea typeface="+mn-ea"/>
          <a:cs typeface="Arial" panose="020B0604020202020204" pitchFamily="34" charset="0"/>
        </a:defRPr>
      </a:lvl3pPr>
      <a:lvl4pPr marL="1599720" indent="-228531" algn="l" defTabSz="914126" rtl="0" eaLnBrk="1" latinLnBrk="0" hangingPunct="1">
        <a:lnSpc>
          <a:spcPct val="90000"/>
        </a:lnSpc>
        <a:spcBef>
          <a:spcPts val="500"/>
        </a:spcBef>
        <a:buFont typeface="Wingdings" panose="05000000000000000000" pitchFamily="2" charset="2"/>
        <a:buChar char="§"/>
        <a:defRPr sz="1799" kern="1200">
          <a:solidFill>
            <a:schemeClr val="tx1"/>
          </a:solidFill>
          <a:latin typeface="Arial" panose="020B0604020202020204" pitchFamily="34" charset="0"/>
          <a:ea typeface="+mn-ea"/>
          <a:cs typeface="Arial" panose="020B0604020202020204" pitchFamily="34" charset="0"/>
        </a:defRPr>
      </a:lvl4pPr>
      <a:lvl5pPr marL="2056783"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Arial" panose="020B0604020202020204" pitchFamily="34" charset="0"/>
          <a:ea typeface="+mn-ea"/>
          <a:cs typeface="Arial" panose="020B0604020202020204" pitchFamily="34" charset="0"/>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en-US"/>
      </a:defPPr>
      <a:lvl1pPr marL="0" algn="l" defTabSz="914126" rtl="0" eaLnBrk="1" latinLnBrk="0" hangingPunct="1">
        <a:defRPr sz="1799" kern="1200">
          <a:solidFill>
            <a:schemeClr val="tx1"/>
          </a:solidFill>
          <a:latin typeface="+mn-lt"/>
          <a:ea typeface="+mn-ea"/>
          <a:cs typeface="+mn-cs"/>
        </a:defRPr>
      </a:lvl1pPr>
      <a:lvl2pPr marL="457063" algn="l" defTabSz="914126" rtl="0" eaLnBrk="1" latinLnBrk="0" hangingPunct="1">
        <a:defRPr sz="1799" kern="1200">
          <a:solidFill>
            <a:schemeClr val="tx1"/>
          </a:solidFill>
          <a:latin typeface="+mn-lt"/>
          <a:ea typeface="+mn-ea"/>
          <a:cs typeface="+mn-cs"/>
        </a:defRPr>
      </a:lvl2pPr>
      <a:lvl3pPr marL="914126" algn="l" defTabSz="914126" rtl="0" eaLnBrk="1" latinLnBrk="0" hangingPunct="1">
        <a:defRPr sz="1799" kern="1200">
          <a:solidFill>
            <a:schemeClr val="tx1"/>
          </a:solidFill>
          <a:latin typeface="+mn-lt"/>
          <a:ea typeface="+mn-ea"/>
          <a:cs typeface="+mn-cs"/>
        </a:defRPr>
      </a:lvl3pPr>
      <a:lvl4pPr marL="1371189" algn="l" defTabSz="914126" rtl="0" eaLnBrk="1" latinLnBrk="0" hangingPunct="1">
        <a:defRPr sz="1799" kern="1200">
          <a:solidFill>
            <a:schemeClr val="tx1"/>
          </a:solidFill>
          <a:latin typeface="+mn-lt"/>
          <a:ea typeface="+mn-ea"/>
          <a:cs typeface="+mn-cs"/>
        </a:defRPr>
      </a:lvl4pPr>
      <a:lvl5pPr marL="1828251" algn="l" defTabSz="914126" rtl="0" eaLnBrk="1" latinLnBrk="0" hangingPunct="1">
        <a:defRPr sz="1799" kern="1200">
          <a:solidFill>
            <a:schemeClr val="tx1"/>
          </a:solidFill>
          <a:latin typeface="+mn-lt"/>
          <a:ea typeface="+mn-ea"/>
          <a:cs typeface="+mn-cs"/>
        </a:defRPr>
      </a:lvl5pPr>
      <a:lvl6pPr marL="2285314" algn="l" defTabSz="914126" rtl="0" eaLnBrk="1" latinLnBrk="0" hangingPunct="1">
        <a:defRPr sz="1799" kern="1200">
          <a:solidFill>
            <a:schemeClr val="tx1"/>
          </a:solidFill>
          <a:latin typeface="+mn-lt"/>
          <a:ea typeface="+mn-ea"/>
          <a:cs typeface="+mn-cs"/>
        </a:defRPr>
      </a:lvl6pPr>
      <a:lvl7pPr marL="2742377" algn="l" defTabSz="914126" rtl="0" eaLnBrk="1" latinLnBrk="0" hangingPunct="1">
        <a:defRPr sz="1799" kern="1200">
          <a:solidFill>
            <a:schemeClr val="tx1"/>
          </a:solidFill>
          <a:latin typeface="+mn-lt"/>
          <a:ea typeface="+mn-ea"/>
          <a:cs typeface="+mn-cs"/>
        </a:defRPr>
      </a:lvl7pPr>
      <a:lvl8pPr marL="3199440" algn="l" defTabSz="914126" rtl="0" eaLnBrk="1" latinLnBrk="0" hangingPunct="1">
        <a:defRPr sz="1799" kern="1200">
          <a:solidFill>
            <a:schemeClr val="tx1"/>
          </a:solidFill>
          <a:latin typeface="+mn-lt"/>
          <a:ea typeface="+mn-ea"/>
          <a:cs typeface="+mn-cs"/>
        </a:defRPr>
      </a:lvl8pPr>
      <a:lvl9pPr marL="3656503" algn="l" defTabSz="914126" rtl="0" eaLnBrk="1" latinLnBrk="0" hangingPunct="1">
        <a:defRPr sz="17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5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17.xml"/><Relationship Id="rId4" Type="http://schemas.openxmlformats.org/officeDocument/2006/relationships/image" Target="../media/image19.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1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3.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9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7.xml"/></Relationships>
</file>

<file path=ppt/slides/_rels/slide10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10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7.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7.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104.xml.rels><?xml version="1.0" encoding="UTF-8" standalone="yes"?>
<Relationships xmlns="http://schemas.openxmlformats.org/package/2006/relationships"><Relationship Id="rId2" Type="http://schemas.openxmlformats.org/officeDocument/2006/relationships/hyperlink" Target="https://github.com/Xilinx/Vitis_Libraries/tree/master/vision" TargetMode="External"/><Relationship Id="rId1" Type="http://schemas.openxmlformats.org/officeDocument/2006/relationships/slideLayout" Target="../slideLayouts/slideLayout4.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6.xml"/><Relationship Id="rId1" Type="http://schemas.openxmlformats.org/officeDocument/2006/relationships/slideLayout" Target="../slideLayouts/slideLayout23.xml"/></Relationships>
</file>

<file path=ppt/slides/_rels/slide11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11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3.xml"/></Relationships>
</file>

<file path=ppt/slides/_rels/slide11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11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3.xml"/></Relationships>
</file>

<file path=ppt/slides/_rels/slide11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11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1.xml"/></Relationships>
</file>

<file path=ppt/slides/_rels/slide11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7.xml"/></Relationships>
</file>

<file path=ppt/slides/_rels/slide11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EF8704FD-C618-6F4D-A857-18A38D773A3B}"/>
              </a:ext>
            </a:extLst>
          </p:cNvPr>
          <p:cNvSpPr>
            <a:spLocks noGrp="1"/>
          </p:cNvSpPr>
          <p:nvPr>
            <p:ph type="title"/>
          </p:nvPr>
        </p:nvSpPr>
        <p:spPr/>
        <p:txBody>
          <a:bodyPr/>
          <a:lstStyle/>
          <a:p>
            <a:r>
              <a:rPr lang="en-US" altLang="zh-CN" dirty="0">
                <a:ea typeface="SimSun" pitchFamily="2" charset="-122"/>
              </a:rPr>
              <a:t>Coding Considerations</a:t>
            </a:r>
            <a:endParaRPr lang="en-US" dirty="0"/>
          </a:p>
        </p:txBody>
      </p:sp>
      <p:sp>
        <p:nvSpPr>
          <p:cNvPr id="9" name="Text Placeholder 8"/>
          <p:cNvSpPr>
            <a:spLocks noGrp="1"/>
          </p:cNvSpPr>
          <p:nvPr>
            <p:ph type="subTitle" idx="1"/>
          </p:nvPr>
        </p:nvSpPr>
        <p:spPr>
          <a:xfrm>
            <a:off x="579121" y="4490866"/>
            <a:ext cx="7417990" cy="400110"/>
          </a:xfrm>
        </p:spPr>
        <p:txBody>
          <a:bodyPr/>
          <a:lstStyle/>
          <a:p>
            <a:endParaRPr lang="en-US" dirty="0"/>
          </a:p>
        </p:txBody>
      </p:sp>
    </p:spTree>
    <p:extLst>
      <p:ext uri="{BB962C8B-B14F-4D97-AF65-F5344CB8AC3E}">
        <p14:creationId xmlns:p14="http://schemas.microsoft.com/office/powerpoint/2010/main" val="40161030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Objectives</a:t>
            </a:r>
          </a:p>
        </p:txBody>
      </p:sp>
      <p:sp>
        <p:nvSpPr>
          <p:cNvPr id="2" name="Content Placeholder 1"/>
          <p:cNvSpPr>
            <a:spLocks noGrp="1"/>
          </p:cNvSpPr>
          <p:nvPr>
            <p:ph idx="1"/>
          </p:nvPr>
        </p:nvSpPr>
        <p:spPr/>
        <p:txBody>
          <a:bodyPr/>
          <a:lstStyle/>
          <a:p>
            <a:pPr>
              <a:lnSpc>
                <a:spcPts val="2200"/>
              </a:lnSpc>
              <a:tabLst>
                <a:tab pos="228600" algn="l"/>
              </a:tabLst>
            </a:pPr>
            <a:r>
              <a:rPr lang="en-US" altLang="zh-CN" dirty="0">
                <a:solidFill>
                  <a:schemeClr val="tx1"/>
                </a:solidFill>
                <a:cs typeface="Arial" pitchFamily="34" charset="0"/>
              </a:rPr>
              <a:t>After completing this module, you will be able to:</a:t>
            </a:r>
          </a:p>
          <a:p>
            <a:pPr>
              <a:lnSpc>
                <a:spcPts val="1000"/>
              </a:lnSpc>
              <a:buNone/>
            </a:pPr>
            <a:endParaRPr lang="en-US" altLang="zh-CN" dirty="0">
              <a:solidFill>
                <a:schemeClr val="tx1"/>
              </a:solidFill>
            </a:endParaRPr>
          </a:p>
          <a:p>
            <a:pPr lvl="1"/>
            <a:r>
              <a:rPr lang="en-US" dirty="0"/>
              <a:t>List language support in </a:t>
            </a:r>
            <a:r>
              <a:rPr lang="en-US" dirty="0" err="1"/>
              <a:t>Vitis</a:t>
            </a:r>
            <a:r>
              <a:rPr lang="en-US" dirty="0"/>
              <a:t> HLS</a:t>
            </a:r>
          </a:p>
          <a:p>
            <a:pPr lvl="1"/>
            <a:r>
              <a:rPr lang="en-US" dirty="0"/>
              <a:t>State when a construct is not synthesizable</a:t>
            </a:r>
          </a:p>
          <a:p>
            <a:pPr lvl="1"/>
            <a:r>
              <a:rPr lang="en-US" dirty="0"/>
              <a:t>List unsupported constructs</a:t>
            </a:r>
          </a:p>
          <a:p>
            <a:pPr lvl="1"/>
            <a:r>
              <a:rPr lang="en-US" dirty="0"/>
              <a:t>Describe multi-access pointer and restriction imposed on using it</a:t>
            </a:r>
          </a:p>
          <a:p>
            <a:pPr lvl="1"/>
            <a:r>
              <a:rPr lang="en-US" dirty="0"/>
              <a:t>Describe how structs and pointers are handled in </a:t>
            </a:r>
            <a:r>
              <a:rPr lang="en-US" dirty="0" err="1"/>
              <a:t>Vitis</a:t>
            </a:r>
            <a:r>
              <a:rPr lang="en-US" dirty="0"/>
              <a:t> HLS</a:t>
            </a:r>
          </a:p>
          <a:p>
            <a:pPr lvl="1"/>
            <a:r>
              <a:rPr lang="en-US" dirty="0"/>
              <a:t>Generate efficient hardware from C sources using stream and shift register classes</a:t>
            </a:r>
          </a:p>
          <a:p>
            <a:pPr lvl="1"/>
            <a:r>
              <a:rPr lang="en-US" dirty="0"/>
              <a:t>List supported functions in </a:t>
            </a:r>
            <a:r>
              <a:rPr lang="en-US" dirty="0" err="1"/>
              <a:t>Vitis</a:t>
            </a:r>
            <a:r>
              <a:rPr lang="en-US" dirty="0"/>
              <a:t> Vision library</a:t>
            </a:r>
          </a:p>
        </p:txBody>
      </p:sp>
      <p:sp>
        <p:nvSpPr>
          <p:cNvPr id="6" name="Slide Number Placeholder 5"/>
          <p:cNvSpPr>
            <a:spLocks noGrp="1"/>
          </p:cNvSpPr>
          <p:nvPr>
            <p:ph type="sldNum" sz="quarter" idx="4"/>
          </p:nvPr>
        </p:nvSpPr>
        <p:spPr/>
        <p:txBody>
          <a:bodyPr/>
          <a:lstStyle/>
          <a:p>
            <a:pPr>
              <a:defRPr/>
            </a:pPr>
            <a:r>
              <a:rPr lang="en-US" dirty="0"/>
              <a:t>Coding Considerations 23- </a:t>
            </a:r>
            <a:fld id="{060BD193-E118-4B16-863C-C8C12C675E3E}" type="slidenum">
              <a:rPr lang="en-US" smtClean="0"/>
              <a:pPr>
                <a:defRPr/>
              </a:pPr>
              <a:t>2</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Objectives</a:t>
            </a:r>
          </a:p>
        </p:txBody>
      </p:sp>
      <p:sp>
        <p:nvSpPr>
          <p:cNvPr id="2" name="Content Placeholder 1"/>
          <p:cNvSpPr>
            <a:spLocks noGrp="1"/>
          </p:cNvSpPr>
          <p:nvPr>
            <p:ph idx="1"/>
          </p:nvPr>
        </p:nvSpPr>
        <p:spPr/>
        <p:txBody>
          <a:bodyPr/>
          <a:lstStyle/>
          <a:p>
            <a:pPr>
              <a:lnSpc>
                <a:spcPts val="2200"/>
              </a:lnSpc>
              <a:tabLst>
                <a:tab pos="228600" algn="l"/>
              </a:tabLst>
            </a:pPr>
            <a:r>
              <a:rPr lang="en-US" altLang="zh-CN" dirty="0">
                <a:solidFill>
                  <a:schemeClr val="tx1"/>
                </a:solidFill>
                <a:cs typeface="Arial" pitchFamily="34" charset="0"/>
              </a:rPr>
              <a:t>After completing this module, you will be able to:</a:t>
            </a:r>
          </a:p>
          <a:p>
            <a:pPr>
              <a:lnSpc>
                <a:spcPts val="1000"/>
              </a:lnSpc>
              <a:buNone/>
            </a:pPr>
            <a:endParaRPr lang="en-US" altLang="zh-CN" dirty="0">
              <a:solidFill>
                <a:schemeClr val="tx1"/>
              </a:solidFill>
            </a:endParaRPr>
          </a:p>
          <a:p>
            <a:pPr lvl="1"/>
            <a:r>
              <a:rPr lang="en-US" dirty="0"/>
              <a:t>List language support in </a:t>
            </a:r>
            <a:r>
              <a:rPr lang="en-US" dirty="0" err="1">
                <a:highlight>
                  <a:srgbClr val="FFFF00"/>
                </a:highlight>
              </a:rPr>
              <a:t>Vitis</a:t>
            </a:r>
            <a:r>
              <a:rPr lang="en-US" dirty="0"/>
              <a:t> HLS</a:t>
            </a:r>
          </a:p>
          <a:p>
            <a:pPr lvl="1"/>
            <a:r>
              <a:rPr lang="en-US" dirty="0"/>
              <a:t>State when a construct is not synthesizable</a:t>
            </a:r>
          </a:p>
          <a:p>
            <a:pPr lvl="1"/>
            <a:r>
              <a:rPr lang="en-US" dirty="0"/>
              <a:t>List unsupported constructs</a:t>
            </a:r>
          </a:p>
          <a:p>
            <a:pPr lvl="1"/>
            <a:r>
              <a:rPr lang="en-US" dirty="0"/>
              <a:t>Describe multi-access pointer and restriction imposed on using it</a:t>
            </a:r>
          </a:p>
          <a:p>
            <a:pPr lvl="1"/>
            <a:r>
              <a:rPr lang="en-US" dirty="0"/>
              <a:t>Describe how structs and pointers are handled in </a:t>
            </a:r>
            <a:r>
              <a:rPr lang="en-US" dirty="0" err="1">
                <a:highlight>
                  <a:srgbClr val="FFFF00"/>
                </a:highlight>
              </a:rPr>
              <a:t>Vitis</a:t>
            </a:r>
            <a:r>
              <a:rPr lang="en-US" dirty="0"/>
              <a:t> HLS</a:t>
            </a:r>
          </a:p>
          <a:p>
            <a:pPr lvl="1"/>
            <a:r>
              <a:rPr lang="en-US" dirty="0"/>
              <a:t>Generate efficient hardware from C sources using stream and shift register classes</a:t>
            </a:r>
          </a:p>
          <a:p>
            <a:pPr lvl="1"/>
            <a:r>
              <a:rPr lang="en-US" dirty="0"/>
              <a:t>List supported functions in </a:t>
            </a:r>
            <a:r>
              <a:rPr lang="en-US" strike="sngStrike" dirty="0" err="1"/>
              <a:t>OpenCV</a:t>
            </a:r>
            <a:r>
              <a:rPr lang="en-US" dirty="0" err="1">
                <a:highlight>
                  <a:srgbClr val="FFFF00"/>
                </a:highlight>
              </a:rPr>
              <a:t>Vitis</a:t>
            </a:r>
            <a:r>
              <a:rPr lang="en-US" dirty="0">
                <a:highlight>
                  <a:srgbClr val="FFFF00"/>
                </a:highlight>
              </a:rPr>
              <a:t> Vision </a:t>
            </a:r>
            <a:r>
              <a:rPr lang="en-US" dirty="0"/>
              <a:t>library</a:t>
            </a:r>
          </a:p>
        </p:txBody>
      </p:sp>
      <p:sp>
        <p:nvSpPr>
          <p:cNvPr id="6" name="Slide Number Placeholder 5"/>
          <p:cNvSpPr>
            <a:spLocks noGrp="1"/>
          </p:cNvSpPr>
          <p:nvPr>
            <p:ph type="sldNum" sz="quarter" idx="10"/>
          </p:nvPr>
        </p:nvSpPr>
        <p:spPr/>
        <p:txBody>
          <a:bodyPr/>
          <a:lstStyle/>
          <a:p>
            <a:pPr defTabSz="914400">
              <a:defRPr/>
            </a:pPr>
            <a:r>
              <a:rPr lang="en-US" dirty="0">
                <a:solidFill>
                  <a:srgbClr val="0C0C0C">
                    <a:tint val="75000"/>
                  </a:srgbClr>
                </a:solidFill>
                <a:latin typeface="Arial"/>
              </a:rPr>
              <a:t>Coding Considerations 23- </a:t>
            </a:r>
            <a:fld id="{060BD193-E118-4B16-863C-C8C12C675E3E}" type="slidenum">
              <a:rPr lang="en-US">
                <a:solidFill>
                  <a:srgbClr val="0C0C0C">
                    <a:tint val="75000"/>
                  </a:srgbClr>
                </a:solidFill>
                <a:latin typeface="Arial"/>
              </a:rPr>
              <a:pPr defTabSz="914400">
                <a:defRPr/>
              </a:pPr>
              <a:t>3</a:t>
            </a:fld>
            <a:endParaRPr lang="en-US" dirty="0">
              <a:solidFill>
                <a:srgbClr val="0C0C0C">
                  <a:tint val="75000"/>
                </a:srgbClr>
              </a:solidFill>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CC0A5-195A-40FC-9B2B-25B3732E42A9}"/>
              </a:ext>
            </a:extLst>
          </p:cNvPr>
          <p:cNvSpPr>
            <a:spLocks noGrp="1"/>
          </p:cNvSpPr>
          <p:nvPr>
            <p:ph type="title"/>
          </p:nvPr>
        </p:nvSpPr>
        <p:spPr/>
        <p:txBody>
          <a:bodyPr/>
          <a:lstStyle/>
          <a:p>
            <a:r>
              <a:rPr lang="en-US" altLang="zh-CN" dirty="0"/>
              <a:t>Outline</a:t>
            </a:r>
            <a:endParaRPr lang="zh-CN" altLang="en-US" dirty="0"/>
          </a:p>
        </p:txBody>
      </p:sp>
      <p:sp>
        <p:nvSpPr>
          <p:cNvPr id="3" name="Content Placeholder 2">
            <a:extLst>
              <a:ext uri="{FF2B5EF4-FFF2-40B4-BE49-F238E27FC236}">
                <a16:creationId xmlns:a16="http://schemas.microsoft.com/office/drawing/2014/main" id="{35C66582-3D3E-49B0-8953-A46440BDD173}"/>
              </a:ext>
            </a:extLst>
          </p:cNvPr>
          <p:cNvSpPr>
            <a:spLocks noGrp="1"/>
          </p:cNvSpPr>
          <p:nvPr>
            <p:ph idx="1"/>
          </p:nvPr>
        </p:nvSpPr>
        <p:spPr/>
        <p:txBody>
          <a:bodyPr>
            <a:normAutofit fontScale="92500" lnSpcReduction="10000"/>
          </a:bodyPr>
          <a:lstStyle/>
          <a:p>
            <a:r>
              <a:rPr lang="en-US" altLang="zh-CN" dirty="0"/>
              <a:t>Language Support</a:t>
            </a:r>
          </a:p>
          <a:p>
            <a:r>
              <a:rPr lang="en-US" altLang="zh-CN" dirty="0"/>
              <a:t>Pointers</a:t>
            </a:r>
          </a:p>
          <a:p>
            <a:r>
              <a:rPr lang="en-US" altLang="zh-CN" dirty="0"/>
              <a:t>Coding Considerations and IO</a:t>
            </a:r>
          </a:p>
          <a:p>
            <a:r>
              <a:rPr lang="en-US" altLang="zh-CN" dirty="0"/>
              <a:t>Streams</a:t>
            </a:r>
          </a:p>
          <a:p>
            <a:r>
              <a:rPr lang="en-US" altLang="zh-CN" dirty="0"/>
              <a:t>Libraries Support </a:t>
            </a:r>
          </a:p>
          <a:p>
            <a:pPr lvl="1"/>
            <a:r>
              <a:rPr lang="en-US" altLang="zh-CN" dirty="0"/>
              <a:t>FFT, FIR and Shift Registers</a:t>
            </a:r>
          </a:p>
          <a:p>
            <a:pPr lvl="1"/>
            <a:r>
              <a:rPr lang="en-US" altLang="zh-CN" dirty="0" err="1"/>
              <a:t>Vitis</a:t>
            </a:r>
            <a:r>
              <a:rPr lang="en-US" altLang="zh-CN" dirty="0"/>
              <a:t> Vision</a:t>
            </a:r>
          </a:p>
          <a:p>
            <a:r>
              <a:rPr lang="en-US" altLang="zh-CN" dirty="0"/>
              <a:t>Summary</a:t>
            </a:r>
            <a:endParaRPr lang="zh-CN" altLang="en-US" dirty="0"/>
          </a:p>
        </p:txBody>
      </p:sp>
      <p:sp>
        <p:nvSpPr>
          <p:cNvPr id="4" name="Slide Number Placeholder 5">
            <a:extLst>
              <a:ext uri="{FF2B5EF4-FFF2-40B4-BE49-F238E27FC236}">
                <a16:creationId xmlns:a16="http://schemas.microsoft.com/office/drawing/2014/main" id="{561C7EB9-F5C5-4C72-A9F4-86AB1EA50D31}"/>
              </a:ext>
            </a:extLst>
          </p:cNvPr>
          <p:cNvSpPr>
            <a:spLocks noGrp="1"/>
          </p:cNvSpPr>
          <p:nvPr>
            <p:ph type="sldNum" sz="quarter" idx="4"/>
          </p:nvPr>
        </p:nvSpPr>
        <p:spPr>
          <a:xfrm>
            <a:off x="579120" y="6325606"/>
            <a:ext cx="2261733" cy="365125"/>
          </a:xfrm>
        </p:spPr>
        <p:txBody>
          <a:bodyPr/>
          <a:lstStyle/>
          <a:p>
            <a:pPr>
              <a:defRPr/>
            </a:pPr>
            <a:r>
              <a:rPr lang="en-US" dirty="0"/>
              <a:t>Coding Considerations 23- </a:t>
            </a:r>
            <a:fld id="{060BD193-E118-4B16-863C-C8C12C675E3E}" type="slidenum">
              <a:rPr lang="en-US" smtClean="0"/>
              <a:pPr>
                <a:defRPr/>
              </a:pPr>
              <a:t>4</a:t>
            </a:fld>
            <a:endParaRPr lang="en-US" dirty="0"/>
          </a:p>
        </p:txBody>
      </p:sp>
    </p:spTree>
    <p:extLst>
      <p:ext uri="{BB962C8B-B14F-4D97-AF65-F5344CB8AC3E}">
        <p14:creationId xmlns:p14="http://schemas.microsoft.com/office/powerpoint/2010/main" val="2749619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CC0A5-195A-40FC-9B2B-25B3732E42A9}"/>
              </a:ext>
            </a:extLst>
          </p:cNvPr>
          <p:cNvSpPr>
            <a:spLocks noGrp="1"/>
          </p:cNvSpPr>
          <p:nvPr>
            <p:ph type="title"/>
          </p:nvPr>
        </p:nvSpPr>
        <p:spPr/>
        <p:txBody>
          <a:bodyPr/>
          <a:lstStyle/>
          <a:p>
            <a:r>
              <a:rPr lang="en-US" altLang="zh-CN" dirty="0"/>
              <a:t>Outline</a:t>
            </a:r>
            <a:endParaRPr lang="zh-CN" altLang="en-US" dirty="0"/>
          </a:p>
        </p:txBody>
      </p:sp>
      <p:sp>
        <p:nvSpPr>
          <p:cNvPr id="3" name="Content Placeholder 2">
            <a:extLst>
              <a:ext uri="{FF2B5EF4-FFF2-40B4-BE49-F238E27FC236}">
                <a16:creationId xmlns:a16="http://schemas.microsoft.com/office/drawing/2014/main" id="{35C66582-3D3E-49B0-8953-A46440BDD173}"/>
              </a:ext>
            </a:extLst>
          </p:cNvPr>
          <p:cNvSpPr>
            <a:spLocks noGrp="1"/>
          </p:cNvSpPr>
          <p:nvPr>
            <p:ph idx="1"/>
          </p:nvPr>
        </p:nvSpPr>
        <p:spPr/>
        <p:txBody>
          <a:bodyPr>
            <a:normAutofit fontScale="92500" lnSpcReduction="10000"/>
          </a:bodyPr>
          <a:lstStyle/>
          <a:p>
            <a:r>
              <a:rPr lang="en-US" altLang="zh-CN" dirty="0"/>
              <a:t>Language Support</a:t>
            </a:r>
          </a:p>
          <a:p>
            <a:r>
              <a:rPr lang="en-US" altLang="zh-CN" dirty="0"/>
              <a:t>Pointers</a:t>
            </a:r>
          </a:p>
          <a:p>
            <a:r>
              <a:rPr lang="en-US" altLang="zh-CN" dirty="0"/>
              <a:t>Coding Considerations and IO</a:t>
            </a:r>
          </a:p>
          <a:p>
            <a:r>
              <a:rPr lang="en-US" altLang="zh-CN" dirty="0"/>
              <a:t>Streams</a:t>
            </a:r>
          </a:p>
          <a:p>
            <a:r>
              <a:rPr lang="en-US" altLang="zh-CN" dirty="0"/>
              <a:t>Libraries Support </a:t>
            </a:r>
          </a:p>
          <a:p>
            <a:pPr lvl="1"/>
            <a:r>
              <a:rPr lang="en-US" altLang="zh-CN" dirty="0">
                <a:solidFill>
                  <a:srgbClr val="FFFFFF"/>
                </a:solidFill>
              </a:rPr>
              <a:t>FFT, FIR, Shift Registers and Linear Algebra</a:t>
            </a:r>
          </a:p>
          <a:p>
            <a:pPr lvl="1"/>
            <a:r>
              <a:rPr lang="en-US" altLang="zh-CN" strike="sngStrike" dirty="0" err="1">
                <a:solidFill>
                  <a:srgbClr val="FFFFFF"/>
                </a:solidFill>
              </a:rPr>
              <a:t>OpenCV</a:t>
            </a:r>
            <a:r>
              <a:rPr lang="en-US" altLang="zh-CN" dirty="0" err="1">
                <a:solidFill>
                  <a:srgbClr val="FFFFFF"/>
                </a:solidFill>
                <a:highlight>
                  <a:srgbClr val="FF0000"/>
                </a:highlight>
              </a:rPr>
              <a:t>Vitis</a:t>
            </a:r>
            <a:r>
              <a:rPr lang="en-US" altLang="zh-CN" dirty="0">
                <a:solidFill>
                  <a:srgbClr val="FFFFFF"/>
                </a:solidFill>
                <a:highlight>
                  <a:srgbClr val="FF0000"/>
                </a:highlight>
              </a:rPr>
              <a:t> Vision</a:t>
            </a:r>
          </a:p>
          <a:p>
            <a:r>
              <a:rPr lang="en-US" altLang="zh-CN" dirty="0"/>
              <a:t>Summary</a:t>
            </a:r>
            <a:endParaRPr lang="zh-CN" altLang="en-US" dirty="0"/>
          </a:p>
        </p:txBody>
      </p:sp>
    </p:spTree>
    <p:extLst>
      <p:ext uri="{BB962C8B-B14F-4D97-AF65-F5344CB8AC3E}">
        <p14:creationId xmlns:p14="http://schemas.microsoft.com/office/powerpoint/2010/main" val="41199042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C/C++ Support</a:t>
            </a:r>
          </a:p>
        </p:txBody>
      </p:sp>
      <p:sp>
        <p:nvSpPr>
          <p:cNvPr id="3" name="Content Placeholder 2"/>
          <p:cNvSpPr>
            <a:spLocks noGrp="1"/>
          </p:cNvSpPr>
          <p:nvPr>
            <p:ph idx="1"/>
          </p:nvPr>
        </p:nvSpPr>
        <p:spPr>
          <a:xfrm>
            <a:off x="579119" y="1112520"/>
            <a:ext cx="11033760" cy="4632960"/>
          </a:xfrm>
        </p:spPr>
        <p:txBody>
          <a:bodyPr/>
          <a:lstStyle/>
          <a:p>
            <a:r>
              <a:rPr lang="en-US" dirty="0"/>
              <a:t>A Complete C/C++ Validation &amp; Verification Environment</a:t>
            </a:r>
          </a:p>
          <a:p>
            <a:pPr lvl="1"/>
            <a:r>
              <a:rPr lang="en-US" dirty="0" err="1"/>
              <a:t>Vitis</a:t>
            </a:r>
            <a:r>
              <a:rPr lang="en-US" dirty="0"/>
              <a:t> HLS supports complete bit-accurate validation of the C++ model</a:t>
            </a:r>
          </a:p>
          <a:p>
            <a:pPr lvl="1"/>
            <a:r>
              <a:rPr lang="en-US" dirty="0" err="1"/>
              <a:t>Vitis</a:t>
            </a:r>
            <a:r>
              <a:rPr lang="en-US" dirty="0"/>
              <a:t> HLS provides a productive C-RTL co-simulation verification solution </a:t>
            </a:r>
          </a:p>
          <a:p>
            <a:r>
              <a:rPr lang="en-US" dirty="0" err="1"/>
              <a:t>Vitis</a:t>
            </a:r>
            <a:r>
              <a:rPr lang="en-US" dirty="0"/>
              <a:t> HLS supports C, C++</a:t>
            </a:r>
            <a:endParaRPr lang="en-US" strike="sngStrike" dirty="0"/>
          </a:p>
          <a:p>
            <a:pPr lvl="1"/>
            <a:r>
              <a:rPr lang="en-US" dirty="0"/>
              <a:t>Functions can be written in C or C++</a:t>
            </a:r>
            <a:endParaRPr lang="en-US" strike="sngStrike" dirty="0"/>
          </a:p>
          <a:p>
            <a:pPr lvl="1"/>
            <a:r>
              <a:rPr lang="en-US" dirty="0"/>
              <a:t>Wide support for coding constructs in C and C++</a:t>
            </a:r>
            <a:endParaRPr lang="en-US" strike="sngStrike" dirty="0"/>
          </a:p>
          <a:p>
            <a:pPr lvl="2"/>
            <a:r>
              <a:rPr lang="en-US" dirty="0"/>
              <a:t>It’s easier to discuss what’s not supported than what is</a:t>
            </a:r>
          </a:p>
          <a:p>
            <a:r>
              <a:rPr lang="en-US" dirty="0"/>
              <a:t>Modeling with bit-accuracy</a:t>
            </a:r>
          </a:p>
          <a:p>
            <a:pPr lvl="1"/>
            <a:r>
              <a:rPr lang="en-US" dirty="0"/>
              <a:t>Supports arbitrary precision types for C++</a:t>
            </a:r>
            <a:endParaRPr lang="en-US" strike="sngStrike" dirty="0"/>
          </a:p>
          <a:p>
            <a:pPr lvl="1"/>
            <a:r>
              <a:rPr lang="en-US" dirty="0"/>
              <a:t>Allowing the exact bit-widths to be modeled and synthesized</a:t>
            </a:r>
          </a:p>
          <a:p>
            <a:r>
              <a:rPr lang="en-US" dirty="0"/>
              <a:t>Floating point support</a:t>
            </a:r>
          </a:p>
          <a:p>
            <a:pPr lvl="1"/>
            <a:r>
              <a:rPr lang="en-US" dirty="0"/>
              <a:t>Support for the use of float and double in the code</a:t>
            </a:r>
          </a:p>
        </p:txBody>
      </p:sp>
      <p:sp>
        <p:nvSpPr>
          <p:cNvPr id="5" name="Slide Number Placeholder 5">
            <a:extLst>
              <a:ext uri="{FF2B5EF4-FFF2-40B4-BE49-F238E27FC236}">
                <a16:creationId xmlns:a16="http://schemas.microsoft.com/office/drawing/2014/main" id="{22344D7D-5823-49D0-91CD-651777552931}"/>
              </a:ext>
            </a:extLst>
          </p:cNvPr>
          <p:cNvSpPr>
            <a:spLocks noGrp="1"/>
          </p:cNvSpPr>
          <p:nvPr>
            <p:ph type="sldNum" sz="quarter" idx="4"/>
          </p:nvPr>
        </p:nvSpPr>
        <p:spPr/>
        <p:txBody>
          <a:bodyPr/>
          <a:lstStyle/>
          <a:p>
            <a:pPr>
              <a:defRPr/>
            </a:pPr>
            <a:r>
              <a:rPr lang="en-US" dirty="0"/>
              <a:t>Coding Considerations 23- </a:t>
            </a:r>
            <a:fld id="{060BD193-E118-4B16-863C-C8C12C675E3E}" type="slidenum">
              <a:rPr lang="en-US" smtClean="0"/>
              <a:pPr>
                <a:defRPr/>
              </a:pPr>
              <a:t>6</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trike="sngStrike" dirty="0"/>
              <a:t>Comprehensive</a:t>
            </a:r>
            <a:r>
              <a:rPr lang="en-US" dirty="0"/>
              <a:t> C</a:t>
            </a:r>
            <a:r>
              <a:rPr lang="en-US" dirty="0">
                <a:highlight>
                  <a:srgbClr val="FFFF00"/>
                </a:highlight>
              </a:rPr>
              <a:t>/C++ </a:t>
            </a:r>
            <a:r>
              <a:rPr lang="en-US" dirty="0"/>
              <a:t>Support</a:t>
            </a:r>
          </a:p>
        </p:txBody>
      </p:sp>
      <p:sp>
        <p:nvSpPr>
          <p:cNvPr id="3" name="Content Placeholder 2"/>
          <p:cNvSpPr>
            <a:spLocks noGrp="1"/>
          </p:cNvSpPr>
          <p:nvPr>
            <p:ph idx="1"/>
          </p:nvPr>
        </p:nvSpPr>
        <p:spPr/>
        <p:txBody>
          <a:bodyPr/>
          <a:lstStyle/>
          <a:p>
            <a:r>
              <a:rPr lang="en-US" dirty="0"/>
              <a:t>A Complete C</a:t>
            </a:r>
            <a:r>
              <a:rPr lang="en-US" dirty="0">
                <a:highlight>
                  <a:srgbClr val="FFFF00"/>
                </a:highlight>
              </a:rPr>
              <a:t>/C++ </a:t>
            </a:r>
            <a:r>
              <a:rPr lang="en-US" dirty="0"/>
              <a:t>Validation &amp; Verification Environment</a:t>
            </a:r>
          </a:p>
          <a:p>
            <a:pPr lvl="1"/>
            <a:r>
              <a:rPr lang="en-US" dirty="0" err="1">
                <a:highlight>
                  <a:srgbClr val="FFFF00"/>
                </a:highlight>
              </a:rPr>
              <a:t>Vitis</a:t>
            </a:r>
            <a:r>
              <a:rPr lang="en-US" dirty="0"/>
              <a:t> HLS supports complete bit-accurate validation of the C</a:t>
            </a:r>
            <a:r>
              <a:rPr lang="en-US" dirty="0">
                <a:highlight>
                  <a:srgbClr val="FFFF00"/>
                </a:highlight>
              </a:rPr>
              <a:t>++ </a:t>
            </a:r>
            <a:r>
              <a:rPr lang="en-US" dirty="0"/>
              <a:t>model</a:t>
            </a:r>
          </a:p>
          <a:p>
            <a:pPr lvl="1"/>
            <a:r>
              <a:rPr lang="en-US" dirty="0" err="1">
                <a:highlight>
                  <a:srgbClr val="FFFF00"/>
                </a:highlight>
              </a:rPr>
              <a:t>Vitis</a:t>
            </a:r>
            <a:r>
              <a:rPr lang="en-US" dirty="0"/>
              <a:t> HLS provides a productive C-RTL co-simulation verification solution </a:t>
            </a:r>
          </a:p>
          <a:p>
            <a:r>
              <a:rPr lang="en-US" dirty="0" err="1">
                <a:highlight>
                  <a:srgbClr val="FFFF00"/>
                </a:highlight>
              </a:rPr>
              <a:t>Vitis</a:t>
            </a:r>
            <a:r>
              <a:rPr lang="en-US" dirty="0"/>
              <a:t> HLS supports C, C++ </a:t>
            </a:r>
            <a:r>
              <a:rPr lang="en-US" strike="sngStrike" dirty="0"/>
              <a:t>and SystemC</a:t>
            </a:r>
          </a:p>
          <a:p>
            <a:pPr lvl="1"/>
            <a:r>
              <a:rPr lang="en-US" dirty="0"/>
              <a:t>Functions can be written in </a:t>
            </a:r>
            <a:r>
              <a:rPr lang="en-US" strike="sngStrike" dirty="0"/>
              <a:t>any version of C</a:t>
            </a:r>
            <a:r>
              <a:rPr lang="en-US" dirty="0">
                <a:highlight>
                  <a:srgbClr val="FFFF00"/>
                </a:highlight>
              </a:rPr>
              <a:t>C or C++</a:t>
            </a:r>
            <a:endParaRPr lang="en-US" strike="sngStrike" dirty="0">
              <a:highlight>
                <a:srgbClr val="FFFF00"/>
              </a:highlight>
            </a:endParaRPr>
          </a:p>
          <a:p>
            <a:pPr lvl="1"/>
            <a:r>
              <a:rPr lang="en-US" dirty="0"/>
              <a:t>Wide support for coding constructs in </a:t>
            </a:r>
            <a:r>
              <a:rPr lang="en-US" strike="sngStrike" dirty="0"/>
              <a:t>all three variants of C</a:t>
            </a:r>
            <a:r>
              <a:rPr lang="en-US" dirty="0">
                <a:highlight>
                  <a:srgbClr val="FFFF00"/>
                </a:highlight>
              </a:rPr>
              <a:t>C and C++</a:t>
            </a:r>
            <a:endParaRPr lang="en-US" strike="sngStrike" dirty="0">
              <a:highlight>
                <a:srgbClr val="FFFF00"/>
              </a:highlight>
            </a:endParaRPr>
          </a:p>
          <a:p>
            <a:pPr lvl="2"/>
            <a:r>
              <a:rPr lang="en-US" dirty="0"/>
              <a:t>It’s easier to discuss what’s not supported than what is</a:t>
            </a:r>
          </a:p>
          <a:p>
            <a:r>
              <a:rPr lang="en-US" dirty="0"/>
              <a:t>Modeling with bit-accuracy</a:t>
            </a:r>
          </a:p>
          <a:p>
            <a:pPr lvl="1"/>
            <a:r>
              <a:rPr lang="en-US" dirty="0"/>
              <a:t>Supports arbitrary precision types for </a:t>
            </a:r>
            <a:r>
              <a:rPr lang="en-US" strike="sngStrike" dirty="0"/>
              <a:t>all input languages</a:t>
            </a:r>
            <a:r>
              <a:rPr lang="en-US" dirty="0"/>
              <a:t> </a:t>
            </a:r>
            <a:r>
              <a:rPr lang="en-US" dirty="0">
                <a:highlight>
                  <a:srgbClr val="FFFF00"/>
                </a:highlight>
              </a:rPr>
              <a:t>C++</a:t>
            </a:r>
            <a:endParaRPr lang="en-US" strike="sngStrike" dirty="0">
              <a:highlight>
                <a:srgbClr val="FFFF00"/>
              </a:highlight>
            </a:endParaRPr>
          </a:p>
          <a:p>
            <a:pPr lvl="1"/>
            <a:r>
              <a:rPr lang="en-US" dirty="0"/>
              <a:t>Allowing the exact bit-widths to be modeled and synthesized</a:t>
            </a:r>
          </a:p>
          <a:p>
            <a:r>
              <a:rPr lang="en-US" dirty="0"/>
              <a:t>Floating point support</a:t>
            </a:r>
          </a:p>
          <a:p>
            <a:pPr lvl="1"/>
            <a:r>
              <a:rPr lang="en-US" dirty="0"/>
              <a:t>Support for the use of float and double in the code</a:t>
            </a:r>
          </a:p>
        </p:txBody>
      </p:sp>
      <p:sp>
        <p:nvSpPr>
          <p:cNvPr id="7" name="Slide Number Placeholder 6"/>
          <p:cNvSpPr>
            <a:spLocks noGrp="1"/>
          </p:cNvSpPr>
          <p:nvPr>
            <p:ph type="sldNum" sz="quarter" idx="10"/>
          </p:nvPr>
        </p:nvSpPr>
        <p:spPr/>
        <p:txBody>
          <a:bodyPr/>
          <a:lstStyle/>
          <a:p>
            <a:pPr defTabSz="914400">
              <a:defRPr/>
            </a:pPr>
            <a:r>
              <a:rPr lang="en-US" dirty="0">
                <a:solidFill>
                  <a:srgbClr val="0C0C0C">
                    <a:tint val="75000"/>
                  </a:srgbClr>
                </a:solidFill>
                <a:latin typeface="Arial"/>
              </a:rPr>
              <a:t>Coding Considerations 23- </a:t>
            </a:r>
            <a:fld id="{060BD193-E118-4B16-863C-C8C12C675E3E}" type="slidenum">
              <a:rPr lang="en-US">
                <a:solidFill>
                  <a:srgbClr val="0C0C0C">
                    <a:tint val="75000"/>
                  </a:srgbClr>
                </a:solidFill>
                <a:latin typeface="Arial"/>
              </a:rPr>
              <a:pPr defTabSz="914400">
                <a:defRPr/>
              </a:pPr>
              <a:t>7</a:t>
            </a:fld>
            <a:endParaRPr lang="en-US" dirty="0">
              <a:solidFill>
                <a:srgbClr val="0C0C0C">
                  <a:tint val="75000"/>
                </a:srgbClr>
              </a:solidFill>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C/C++ Support</a:t>
            </a:r>
          </a:p>
        </p:txBody>
      </p:sp>
      <p:sp>
        <p:nvSpPr>
          <p:cNvPr id="3" name="Content Placeholder 2"/>
          <p:cNvSpPr>
            <a:spLocks noGrp="1"/>
          </p:cNvSpPr>
          <p:nvPr>
            <p:ph idx="1"/>
          </p:nvPr>
        </p:nvSpPr>
        <p:spPr/>
        <p:txBody>
          <a:bodyPr/>
          <a:lstStyle/>
          <a:p>
            <a:r>
              <a:rPr lang="en-US" dirty="0"/>
              <a:t>Pointers based applications</a:t>
            </a:r>
          </a:p>
          <a:p>
            <a:pPr lvl="1"/>
            <a:r>
              <a:rPr lang="en-US" dirty="0"/>
              <a:t>Multi-access pointer issues and streams</a:t>
            </a:r>
          </a:p>
          <a:p>
            <a:r>
              <a:rPr lang="en-US" dirty="0"/>
              <a:t>Streaming and shift registering applications</a:t>
            </a:r>
          </a:p>
          <a:p>
            <a:pPr lvl="1"/>
            <a:r>
              <a:rPr lang="en-US" dirty="0"/>
              <a:t>Generate efficient hardware from C sources using stream and shift register classes</a:t>
            </a:r>
          </a:p>
          <a:p>
            <a:pPr lvl="0"/>
            <a:r>
              <a:rPr lang="en-US" dirty="0"/>
              <a:t>Support for OpenCV functions</a:t>
            </a:r>
          </a:p>
          <a:p>
            <a:pPr lvl="1"/>
            <a:r>
              <a:rPr lang="en-US" dirty="0"/>
              <a:t>Enable migration of OpenCV designs into Xilinx FPGA</a:t>
            </a:r>
          </a:p>
          <a:p>
            <a:pPr lvl="1"/>
            <a:r>
              <a:rPr lang="en-US" dirty="0" err="1"/>
              <a:t>Vitis</a:t>
            </a:r>
            <a:r>
              <a:rPr lang="en-US" dirty="0"/>
              <a:t> vision libraries target real-time full HD video processing</a:t>
            </a:r>
          </a:p>
        </p:txBody>
      </p:sp>
      <p:sp>
        <p:nvSpPr>
          <p:cNvPr id="5" name="Slide Number Placeholder 5">
            <a:extLst>
              <a:ext uri="{FF2B5EF4-FFF2-40B4-BE49-F238E27FC236}">
                <a16:creationId xmlns:a16="http://schemas.microsoft.com/office/drawing/2014/main" id="{ED5A6FF1-03A3-4C36-92A1-E0B05AE18F39}"/>
              </a:ext>
            </a:extLst>
          </p:cNvPr>
          <p:cNvSpPr>
            <a:spLocks noGrp="1"/>
          </p:cNvSpPr>
          <p:nvPr>
            <p:ph type="sldNum" sz="quarter" idx="4"/>
          </p:nvPr>
        </p:nvSpPr>
        <p:spPr/>
        <p:txBody>
          <a:bodyPr/>
          <a:lstStyle/>
          <a:p>
            <a:pPr>
              <a:defRPr/>
            </a:pPr>
            <a:r>
              <a:rPr lang="en-US" dirty="0"/>
              <a:t>Coding Considerations 23- </a:t>
            </a:r>
            <a:fld id="{060BD193-E118-4B16-863C-C8C12C675E3E}" type="slidenum">
              <a:rPr lang="en-US" smtClean="0"/>
              <a:pPr>
                <a:defRPr/>
              </a:pPr>
              <a:t>8</a:t>
            </a:fld>
            <a:endParaRPr lang="en-US" dirty="0"/>
          </a:p>
        </p:txBody>
      </p:sp>
    </p:spTree>
    <p:extLst>
      <p:ext uri="{BB962C8B-B14F-4D97-AF65-F5344CB8AC3E}">
        <p14:creationId xmlns:p14="http://schemas.microsoft.com/office/powerpoint/2010/main" val="1122673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trike="sngStrike" dirty="0"/>
              <a:t>Comprehensive</a:t>
            </a:r>
            <a:r>
              <a:rPr lang="en-US" dirty="0"/>
              <a:t> </a:t>
            </a:r>
            <a:r>
              <a:rPr lang="en-US" dirty="0">
                <a:highlight>
                  <a:srgbClr val="FFFF00"/>
                </a:highlight>
              </a:rPr>
              <a:t>C/C++ </a:t>
            </a:r>
            <a:r>
              <a:rPr lang="en-US" dirty="0"/>
              <a:t>Support</a:t>
            </a:r>
          </a:p>
        </p:txBody>
      </p:sp>
      <p:sp>
        <p:nvSpPr>
          <p:cNvPr id="3" name="Content Placeholder 2"/>
          <p:cNvSpPr>
            <a:spLocks noGrp="1"/>
          </p:cNvSpPr>
          <p:nvPr>
            <p:ph idx="1"/>
          </p:nvPr>
        </p:nvSpPr>
        <p:spPr/>
        <p:txBody>
          <a:bodyPr/>
          <a:lstStyle/>
          <a:p>
            <a:r>
              <a:rPr lang="en-US" dirty="0"/>
              <a:t>Pointers based applications</a:t>
            </a:r>
          </a:p>
          <a:p>
            <a:pPr lvl="1"/>
            <a:r>
              <a:rPr lang="en-US" dirty="0"/>
              <a:t>Multi-access pointer issues and streams</a:t>
            </a:r>
          </a:p>
          <a:p>
            <a:r>
              <a:rPr lang="en-US" dirty="0"/>
              <a:t>Streaming and shift registering applications</a:t>
            </a:r>
          </a:p>
          <a:p>
            <a:pPr lvl="1"/>
            <a:r>
              <a:rPr lang="en-US" dirty="0"/>
              <a:t>Generate efficient hardware from C sources using stream and shift register classes</a:t>
            </a:r>
          </a:p>
          <a:p>
            <a:pPr lvl="0"/>
            <a:r>
              <a:rPr lang="en-US" dirty="0"/>
              <a:t>Support for OpenCV functions</a:t>
            </a:r>
          </a:p>
          <a:p>
            <a:pPr lvl="1"/>
            <a:r>
              <a:rPr lang="en-US" dirty="0"/>
              <a:t>Enable migration of OpenCV designs into Xilinx FPGA</a:t>
            </a:r>
          </a:p>
          <a:p>
            <a:pPr lvl="1"/>
            <a:r>
              <a:rPr lang="en-US" dirty="0" err="1">
                <a:highlight>
                  <a:srgbClr val="FFFF00"/>
                </a:highlight>
              </a:rPr>
              <a:t>Vitis</a:t>
            </a:r>
            <a:r>
              <a:rPr lang="en-US" dirty="0">
                <a:highlight>
                  <a:srgbClr val="FFFF00"/>
                </a:highlight>
              </a:rPr>
              <a:t> vision </a:t>
            </a:r>
            <a:r>
              <a:rPr lang="en-US" dirty="0"/>
              <a:t>libraries target real-time full HD video processing</a:t>
            </a:r>
          </a:p>
        </p:txBody>
      </p:sp>
      <p:sp>
        <p:nvSpPr>
          <p:cNvPr id="7" name="Slide Number Placeholder 6"/>
          <p:cNvSpPr>
            <a:spLocks noGrp="1"/>
          </p:cNvSpPr>
          <p:nvPr>
            <p:ph type="sldNum" sz="quarter" idx="10"/>
          </p:nvPr>
        </p:nvSpPr>
        <p:spPr/>
        <p:txBody>
          <a:bodyPr/>
          <a:lstStyle/>
          <a:p>
            <a:pPr defTabSz="914400">
              <a:defRPr/>
            </a:pPr>
            <a:r>
              <a:rPr lang="en-US" dirty="0">
                <a:solidFill>
                  <a:srgbClr val="0C0C0C">
                    <a:tint val="75000"/>
                  </a:srgbClr>
                </a:solidFill>
                <a:latin typeface="Arial"/>
              </a:rPr>
              <a:t>Coding Considerations 23- </a:t>
            </a:r>
            <a:fld id="{060BD193-E118-4B16-863C-C8C12C675E3E}" type="slidenum">
              <a:rPr lang="en-US">
                <a:solidFill>
                  <a:srgbClr val="0C0C0C">
                    <a:tint val="75000"/>
                  </a:srgbClr>
                </a:solidFill>
                <a:latin typeface="Arial"/>
              </a:rPr>
              <a:pPr defTabSz="914400">
                <a:defRPr/>
              </a:pPr>
              <a:t>9</a:t>
            </a:fld>
            <a:endParaRPr lang="en-US" dirty="0">
              <a:solidFill>
                <a:srgbClr val="0C0C0C">
                  <a:tint val="75000"/>
                </a:srgbClr>
              </a:solidFill>
              <a:latin typeface="Arial"/>
            </a:endParaRPr>
          </a:p>
        </p:txBody>
      </p:sp>
    </p:spTree>
    <p:extLst>
      <p:ext uri="{BB962C8B-B14F-4D97-AF65-F5344CB8AC3E}">
        <p14:creationId xmlns:p14="http://schemas.microsoft.com/office/powerpoint/2010/main" val="35564728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 C++ Support</a:t>
            </a:r>
          </a:p>
        </p:txBody>
      </p:sp>
      <p:sp>
        <p:nvSpPr>
          <p:cNvPr id="3" name="Content Placeholder 2"/>
          <p:cNvSpPr>
            <a:spLocks noGrp="1"/>
          </p:cNvSpPr>
          <p:nvPr>
            <p:ph idx="1"/>
          </p:nvPr>
        </p:nvSpPr>
        <p:spPr/>
        <p:txBody>
          <a:bodyPr/>
          <a:lstStyle/>
          <a:p>
            <a:r>
              <a:rPr lang="en-US" dirty="0"/>
              <a:t>The vast majority of C, C++ is supported</a:t>
            </a:r>
          </a:p>
          <a:p>
            <a:pPr lvl="1"/>
            <a:r>
              <a:rPr lang="en-US" dirty="0"/>
              <a:t>Provided it is statically defined at </a:t>
            </a:r>
            <a:r>
              <a:rPr lang="en-US" b="1" u="sng" dirty="0"/>
              <a:t>compile time</a:t>
            </a:r>
          </a:p>
          <a:p>
            <a:pPr lvl="1"/>
            <a:r>
              <a:rPr lang="en-US" dirty="0"/>
              <a:t>The C constructs must be of a fixed or bounded size and must be </a:t>
            </a:r>
            <a:r>
              <a:rPr lang="en-US" dirty="0" err="1"/>
              <a:t>unamiguous</a:t>
            </a:r>
            <a:endParaRPr lang="en-US" dirty="0"/>
          </a:p>
          <a:p>
            <a:pPr lvl="1"/>
            <a:r>
              <a:rPr lang="en-US" dirty="0"/>
              <a:t>If it’s not defined until </a:t>
            </a:r>
            <a:r>
              <a:rPr lang="en-US" b="1" u="sng" dirty="0"/>
              <a:t>run time</a:t>
            </a:r>
            <a:r>
              <a:rPr lang="en-US" dirty="0"/>
              <a:t>, it won’t be synthesizable</a:t>
            </a:r>
          </a:p>
          <a:p>
            <a:pPr lvl="1"/>
            <a:r>
              <a:rPr lang="en-US" dirty="0"/>
              <a:t>System calls to OS are not synthesizable</a:t>
            </a:r>
          </a:p>
          <a:p>
            <a:pPr lvl="1"/>
            <a:r>
              <a:rPr lang="en-US" dirty="0"/>
              <a:t>If C is used, </a:t>
            </a:r>
            <a:r>
              <a:rPr lang="en-US" dirty="0" err="1"/>
              <a:t>Vitis</a:t>
            </a:r>
            <a:r>
              <a:rPr lang="en-US" dirty="0"/>
              <a:t> HLS expects the file extensions to be .c</a:t>
            </a:r>
          </a:p>
          <a:p>
            <a:pPr lvl="1"/>
            <a:r>
              <a:rPr lang="en-US" dirty="0"/>
              <a:t>For C++ it expects file extensions .</a:t>
            </a:r>
            <a:r>
              <a:rPr lang="en-US" dirty="0" err="1"/>
              <a:t>cpp</a:t>
            </a:r>
            <a:endParaRPr lang="en-US" dirty="0"/>
          </a:p>
          <a:p>
            <a:r>
              <a:rPr lang="en-US" dirty="0"/>
              <a:t>Let’s look at an example using a FIR</a:t>
            </a:r>
          </a:p>
          <a:p>
            <a:pPr lvl="1"/>
            <a:r>
              <a:rPr lang="en-US" dirty="0"/>
              <a:t>Single data input x</a:t>
            </a:r>
          </a:p>
          <a:p>
            <a:pPr lvl="1"/>
            <a:r>
              <a:rPr lang="en-US" dirty="0"/>
              <a:t>Coefficients are stored in a ROM</a:t>
            </a:r>
          </a:p>
          <a:p>
            <a:pPr lvl="1"/>
            <a:r>
              <a:rPr lang="en-US" dirty="0"/>
              <a:t>A single output: function return</a:t>
            </a:r>
          </a:p>
          <a:p>
            <a:pPr lvl="1"/>
            <a:endParaRPr lang="en-US" dirty="0"/>
          </a:p>
          <a:p>
            <a:pPr lvl="1"/>
            <a:endParaRPr lang="en-US" dirty="0"/>
          </a:p>
        </p:txBody>
      </p:sp>
      <p:sp>
        <p:nvSpPr>
          <p:cNvPr id="5" name="Slide Number Placeholder 5">
            <a:extLst>
              <a:ext uri="{FF2B5EF4-FFF2-40B4-BE49-F238E27FC236}">
                <a16:creationId xmlns:a16="http://schemas.microsoft.com/office/drawing/2014/main" id="{9B97B338-BC3C-4D58-88A6-FC70C3811D2B}"/>
              </a:ext>
            </a:extLst>
          </p:cNvPr>
          <p:cNvSpPr>
            <a:spLocks noGrp="1"/>
          </p:cNvSpPr>
          <p:nvPr>
            <p:ph type="sldNum" sz="quarter" idx="4"/>
          </p:nvPr>
        </p:nvSpPr>
        <p:spPr/>
        <p:txBody>
          <a:bodyPr/>
          <a:lstStyle/>
          <a:p>
            <a:pPr>
              <a:defRPr/>
            </a:pPr>
            <a:r>
              <a:rPr lang="en-US" dirty="0"/>
              <a:t>Coding Considerations 23- </a:t>
            </a:r>
            <a:fld id="{060BD193-E118-4B16-863C-C8C12C675E3E}" type="slidenum">
              <a:rPr lang="en-US" smtClean="0"/>
              <a:pPr>
                <a:defRPr/>
              </a:pPr>
              <a:t>10</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 C++ </a:t>
            </a:r>
            <a:r>
              <a:rPr lang="en-US" strike="sngStrike" dirty="0"/>
              <a:t>and SystemC </a:t>
            </a:r>
            <a:r>
              <a:rPr lang="en-US" dirty="0"/>
              <a:t>Support</a:t>
            </a:r>
          </a:p>
        </p:txBody>
      </p:sp>
      <p:sp>
        <p:nvSpPr>
          <p:cNvPr id="3" name="Content Placeholder 2"/>
          <p:cNvSpPr>
            <a:spLocks noGrp="1"/>
          </p:cNvSpPr>
          <p:nvPr>
            <p:ph idx="1"/>
          </p:nvPr>
        </p:nvSpPr>
        <p:spPr/>
        <p:txBody>
          <a:bodyPr/>
          <a:lstStyle/>
          <a:p>
            <a:r>
              <a:rPr lang="en-US" dirty="0"/>
              <a:t>The vast majority of C, C++ </a:t>
            </a:r>
            <a:r>
              <a:rPr lang="en-US" strike="sngStrike" dirty="0"/>
              <a:t>and SystemC</a:t>
            </a:r>
            <a:r>
              <a:rPr lang="en-US" dirty="0"/>
              <a:t> is supported</a:t>
            </a:r>
          </a:p>
          <a:p>
            <a:pPr lvl="1"/>
            <a:r>
              <a:rPr lang="en-US" dirty="0"/>
              <a:t>Provided it is statically defined at </a:t>
            </a:r>
            <a:r>
              <a:rPr lang="en-US" b="1" u="sng" dirty="0"/>
              <a:t>compile time</a:t>
            </a:r>
          </a:p>
          <a:p>
            <a:pPr lvl="1"/>
            <a:r>
              <a:rPr lang="en-US" dirty="0"/>
              <a:t>The C constructs must be of a fixed or bounded size and must be </a:t>
            </a:r>
            <a:r>
              <a:rPr lang="en-US" dirty="0" err="1"/>
              <a:t>unamiguous</a:t>
            </a:r>
            <a:endParaRPr lang="en-US" dirty="0"/>
          </a:p>
          <a:p>
            <a:pPr lvl="1"/>
            <a:r>
              <a:rPr lang="en-US" dirty="0"/>
              <a:t>If it’s not defined until </a:t>
            </a:r>
            <a:r>
              <a:rPr lang="en-US" b="1" u="sng" dirty="0"/>
              <a:t>run time</a:t>
            </a:r>
            <a:r>
              <a:rPr lang="en-US" dirty="0"/>
              <a:t>, it won’t be synthesizable</a:t>
            </a:r>
          </a:p>
          <a:p>
            <a:pPr lvl="1"/>
            <a:r>
              <a:rPr lang="en-US" dirty="0"/>
              <a:t>System calls to OS are not synthesizable</a:t>
            </a:r>
          </a:p>
          <a:p>
            <a:r>
              <a:rPr lang="en-US" strike="sngStrike" dirty="0"/>
              <a:t>Any of the three variants of C can be used</a:t>
            </a:r>
          </a:p>
          <a:p>
            <a:pPr lvl="1"/>
            <a:r>
              <a:rPr lang="en-US" dirty="0"/>
              <a:t>If C is used, </a:t>
            </a:r>
            <a:r>
              <a:rPr lang="en-US" dirty="0" err="1">
                <a:highlight>
                  <a:srgbClr val="FFFF00"/>
                </a:highlight>
              </a:rPr>
              <a:t>Vitis</a:t>
            </a:r>
            <a:r>
              <a:rPr lang="en-US" dirty="0"/>
              <a:t> HLS expects the file extensions to be .c</a:t>
            </a:r>
          </a:p>
          <a:p>
            <a:pPr lvl="1"/>
            <a:r>
              <a:rPr lang="en-US" dirty="0"/>
              <a:t>For C</a:t>
            </a:r>
            <a:r>
              <a:rPr lang="en-US" strike="sngStrike" dirty="0"/>
              <a:t>++ and SystemC </a:t>
            </a:r>
            <a:r>
              <a:rPr lang="en-US" dirty="0"/>
              <a:t>it expects file extensions .</a:t>
            </a:r>
            <a:r>
              <a:rPr lang="en-US" dirty="0" err="1"/>
              <a:t>cpp</a:t>
            </a:r>
            <a:endParaRPr lang="en-US" dirty="0"/>
          </a:p>
          <a:p>
            <a:r>
              <a:rPr lang="en-US" dirty="0"/>
              <a:t>Let’s look at an example using a FIR</a:t>
            </a:r>
          </a:p>
          <a:p>
            <a:pPr lvl="1"/>
            <a:r>
              <a:rPr lang="en-US" dirty="0"/>
              <a:t>Single data input x</a:t>
            </a:r>
          </a:p>
          <a:p>
            <a:pPr lvl="1"/>
            <a:r>
              <a:rPr lang="en-US" dirty="0"/>
              <a:t>Coefficients are stored in a ROM</a:t>
            </a:r>
          </a:p>
          <a:p>
            <a:pPr lvl="1"/>
            <a:r>
              <a:rPr lang="en-US" dirty="0"/>
              <a:t>A single output: function return</a:t>
            </a:r>
          </a:p>
          <a:p>
            <a:pPr lvl="1"/>
            <a:endParaRPr lang="en-US" dirty="0"/>
          </a:p>
          <a:p>
            <a:pPr lvl="1"/>
            <a:endParaRPr lang="en-US" dirty="0"/>
          </a:p>
        </p:txBody>
      </p:sp>
      <p:sp>
        <p:nvSpPr>
          <p:cNvPr id="7" name="Slide Number Placeholder 6"/>
          <p:cNvSpPr>
            <a:spLocks noGrp="1"/>
          </p:cNvSpPr>
          <p:nvPr>
            <p:ph type="sldNum" sz="quarter" idx="10"/>
          </p:nvPr>
        </p:nvSpPr>
        <p:spPr/>
        <p:txBody>
          <a:bodyPr/>
          <a:lstStyle/>
          <a:p>
            <a:pPr defTabSz="914400">
              <a:defRPr/>
            </a:pPr>
            <a:r>
              <a:rPr lang="en-US" dirty="0">
                <a:solidFill>
                  <a:srgbClr val="0C0C0C">
                    <a:tint val="75000"/>
                  </a:srgbClr>
                </a:solidFill>
                <a:latin typeface="Arial"/>
              </a:rPr>
              <a:t>Coding Considerations 23- </a:t>
            </a:r>
            <a:fld id="{060BD193-E118-4B16-863C-C8C12C675E3E}" type="slidenum">
              <a:rPr lang="en-US">
                <a:solidFill>
                  <a:srgbClr val="0C0C0C">
                    <a:tint val="75000"/>
                  </a:srgbClr>
                </a:solidFill>
                <a:latin typeface="Arial"/>
              </a:rPr>
              <a:pPr defTabSz="914400">
                <a:defRPr/>
              </a:pPr>
              <a:t>11</a:t>
            </a:fld>
            <a:endParaRPr lang="en-US" dirty="0">
              <a:solidFill>
                <a:srgbClr val="0C0C0C">
                  <a:tint val="75000"/>
                </a:srgbClr>
              </a:solidFill>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 Filter with C</a:t>
            </a:r>
          </a:p>
        </p:txBody>
      </p:sp>
      <p:sp>
        <p:nvSpPr>
          <p:cNvPr id="3" name="Content Placeholder 2"/>
          <p:cNvSpPr>
            <a:spLocks noGrp="1"/>
          </p:cNvSpPr>
          <p:nvPr>
            <p:ph sz="half" idx="1"/>
          </p:nvPr>
        </p:nvSpPr>
        <p:spPr>
          <a:xfrm>
            <a:off x="579119" y="1038835"/>
            <a:ext cx="5364480" cy="4632960"/>
          </a:xfrm>
        </p:spPr>
        <p:txBody>
          <a:bodyPr>
            <a:noAutofit/>
          </a:bodyPr>
          <a:lstStyle/>
          <a:p>
            <a:r>
              <a:rPr lang="en-US" sz="1800" dirty="0"/>
              <a:t>C coding style</a:t>
            </a:r>
          </a:p>
          <a:p>
            <a:pPr lvl="1"/>
            <a:r>
              <a:rPr lang="en-US" sz="1600" dirty="0"/>
              <a:t>The top-level function defines the IO ports</a:t>
            </a:r>
          </a:p>
          <a:p>
            <a:pPr lvl="1"/>
            <a:r>
              <a:rPr lang="en-US" sz="1600" dirty="0"/>
              <a:t>If required, sub-functions can be added</a:t>
            </a:r>
          </a:p>
          <a:p>
            <a:r>
              <a:rPr lang="en-US" sz="1800" dirty="0"/>
              <a:t>Storage</a:t>
            </a:r>
          </a:p>
          <a:p>
            <a:pPr lvl="1"/>
            <a:r>
              <a:rPr lang="en-US" sz="1600" dirty="0"/>
              <a:t>Static: required for anything which must hold it’s </a:t>
            </a:r>
            <a:br>
              <a:rPr lang="en-US" sz="1600" dirty="0"/>
            </a:br>
            <a:r>
              <a:rPr lang="en-US" sz="1600" dirty="0"/>
              <a:t>value between invocations</a:t>
            </a:r>
          </a:p>
          <a:p>
            <a:pPr lvl="2"/>
            <a:r>
              <a:rPr lang="en-US" sz="1400" dirty="0"/>
              <a:t>A C simulation will confirm what is required to be </a:t>
            </a:r>
            <a:br>
              <a:rPr lang="en-US" sz="1400" dirty="0"/>
            </a:br>
            <a:r>
              <a:rPr lang="en-US" sz="1400" dirty="0"/>
              <a:t>a static</a:t>
            </a:r>
          </a:p>
          <a:p>
            <a:pPr lvl="2"/>
            <a:r>
              <a:rPr lang="en-US" sz="1400" dirty="0"/>
              <a:t>Will become a register or memory</a:t>
            </a:r>
          </a:p>
          <a:p>
            <a:pPr lvl="2"/>
            <a:r>
              <a:rPr lang="en-US" sz="1400" dirty="0"/>
              <a:t>Other variables may become storage, depending on </a:t>
            </a:r>
            <a:br>
              <a:rPr lang="en-US" sz="1400" dirty="0"/>
            </a:br>
            <a:r>
              <a:rPr lang="en-US" sz="1400" dirty="0"/>
              <a:t>the implementation</a:t>
            </a:r>
          </a:p>
          <a:p>
            <a:pPr lvl="1"/>
            <a:r>
              <a:rPr lang="en-US" sz="1600" dirty="0"/>
              <a:t>Const: ensures the values are seen as constants </a:t>
            </a:r>
            <a:br>
              <a:rPr lang="en-US" sz="1600" dirty="0"/>
            </a:br>
            <a:r>
              <a:rPr lang="en-US" sz="1600" dirty="0"/>
              <a:t>which never changed</a:t>
            </a:r>
          </a:p>
          <a:p>
            <a:r>
              <a:rPr lang="en-US" sz="1800" dirty="0"/>
              <a:t>FIR details</a:t>
            </a:r>
          </a:p>
          <a:p>
            <a:pPr lvl="1"/>
            <a:r>
              <a:rPr lang="en-US" sz="1600" dirty="0"/>
              <a:t>Coefficients are loaded from a file</a:t>
            </a:r>
          </a:p>
          <a:p>
            <a:pPr lvl="2"/>
            <a:r>
              <a:rPr lang="en-US" sz="1400" dirty="0"/>
              <a:t>Use the “const” keyword to ensure the data is seen as </a:t>
            </a:r>
            <a:br>
              <a:rPr lang="en-US" sz="1400" dirty="0"/>
            </a:br>
            <a:r>
              <a:rPr lang="en-US" sz="1400" dirty="0"/>
              <a:t>constant and a ROM is used</a:t>
            </a:r>
          </a:p>
        </p:txBody>
      </p:sp>
      <p:sp>
        <p:nvSpPr>
          <p:cNvPr id="10" name="Slide Number Placeholder 5">
            <a:extLst>
              <a:ext uri="{FF2B5EF4-FFF2-40B4-BE49-F238E27FC236}">
                <a16:creationId xmlns:a16="http://schemas.microsoft.com/office/drawing/2014/main" id="{D52D62E4-40B4-48F1-AC78-46668A978DDF}"/>
              </a:ext>
            </a:extLst>
          </p:cNvPr>
          <p:cNvSpPr>
            <a:spLocks noGrp="1"/>
          </p:cNvSpPr>
          <p:nvPr>
            <p:ph type="sldNum" sz="quarter" idx="4"/>
          </p:nvPr>
        </p:nvSpPr>
        <p:spPr/>
        <p:txBody>
          <a:bodyPr/>
          <a:lstStyle/>
          <a:p>
            <a:pPr>
              <a:defRPr/>
            </a:pPr>
            <a:r>
              <a:rPr lang="en-US" dirty="0"/>
              <a:t>Coding Considerations 23- </a:t>
            </a:r>
            <a:fld id="{060BD193-E118-4B16-863C-C8C12C675E3E}" type="slidenum">
              <a:rPr lang="en-US" smtClean="0"/>
              <a:pPr>
                <a:defRPr/>
              </a:pPr>
              <a:t>12</a:t>
            </a:fld>
            <a:endParaRPr lang="en-US" dirty="0"/>
          </a:p>
        </p:txBody>
      </p:sp>
      <p:sp>
        <p:nvSpPr>
          <p:cNvPr id="12" name="TextBox 11">
            <a:extLst>
              <a:ext uri="{FF2B5EF4-FFF2-40B4-BE49-F238E27FC236}">
                <a16:creationId xmlns:a16="http://schemas.microsoft.com/office/drawing/2014/main" id="{F26D0B01-A3FE-4262-B6CF-88318EFE2E99}"/>
              </a:ext>
            </a:extLst>
          </p:cNvPr>
          <p:cNvSpPr txBox="1"/>
          <p:nvPr/>
        </p:nvSpPr>
        <p:spPr>
          <a:xfrm>
            <a:off x="6249581" y="2008017"/>
            <a:ext cx="3532340" cy="4247317"/>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tabLst>
                <a:tab pos="457200" algn="l"/>
              </a:tabLst>
              <a:defRPr/>
            </a:pPr>
            <a:r>
              <a:rPr lang="en-US" sz="1000" kern="0" dirty="0">
                <a:solidFill>
                  <a:srgbClr val="000000"/>
                </a:solidFill>
                <a:latin typeface="Arial"/>
              </a:rPr>
              <a:t>     </a:t>
            </a:r>
            <a:r>
              <a:rPr lang="en-US" sz="1000" kern="0" dirty="0" err="1">
                <a:solidFill>
                  <a:srgbClr val="000000"/>
                </a:solidFill>
                <a:latin typeface="Arial"/>
              </a:rPr>
              <a:t>data_t</a:t>
            </a:r>
            <a:r>
              <a:rPr lang="en-US" sz="1000" kern="0" dirty="0">
                <a:solidFill>
                  <a:srgbClr val="000000"/>
                </a:solidFill>
                <a:latin typeface="Arial"/>
              </a:rPr>
              <a:t> fir (</a:t>
            </a:r>
          </a:p>
          <a:p>
            <a:pPr defTabSz="914400" fontAlgn="base">
              <a:spcBef>
                <a:spcPct val="0"/>
              </a:spcBef>
              <a:spcAft>
                <a:spcPct val="0"/>
              </a:spcAft>
              <a:tabLst>
                <a:tab pos="457200" algn="l"/>
              </a:tabLst>
              <a:defRPr/>
            </a:pPr>
            <a:r>
              <a:rPr lang="en-US" sz="1000" kern="0" dirty="0">
                <a:solidFill>
                  <a:srgbClr val="000000"/>
                </a:solidFill>
                <a:latin typeface="Arial"/>
              </a:rPr>
              <a:t>	</a:t>
            </a:r>
            <a:r>
              <a:rPr lang="en-US" sz="1000" kern="0" dirty="0" err="1">
                <a:solidFill>
                  <a:srgbClr val="000000"/>
                </a:solidFill>
                <a:latin typeface="Arial"/>
              </a:rPr>
              <a:t>data_t</a:t>
            </a:r>
            <a:r>
              <a:rPr lang="en-US" sz="1000" kern="0" dirty="0">
                <a:solidFill>
                  <a:srgbClr val="000000"/>
                </a:solidFill>
                <a:latin typeface="Arial"/>
              </a:rPr>
              <a:t> x</a:t>
            </a:r>
          </a:p>
          <a:p>
            <a:pPr defTabSz="914400" fontAlgn="base">
              <a:spcBef>
                <a:spcPct val="0"/>
              </a:spcBef>
              <a:spcAft>
                <a:spcPct val="0"/>
              </a:spcAft>
              <a:tabLst>
                <a:tab pos="457200" algn="l"/>
              </a:tabLst>
              <a:defRPr/>
            </a:pPr>
            <a:r>
              <a:rPr lang="en-US" sz="1000" kern="0" dirty="0">
                <a:solidFill>
                  <a:srgbClr val="000000"/>
                </a:solidFill>
                <a:latin typeface="Arial"/>
              </a:rPr>
              <a:t>      ) {</a:t>
            </a:r>
          </a:p>
          <a:p>
            <a:pPr defTabSz="914400" fontAlgn="base">
              <a:spcBef>
                <a:spcPct val="0"/>
              </a:spcBef>
              <a:spcAft>
                <a:spcPct val="0"/>
              </a:spcAft>
              <a:tabLst>
                <a:tab pos="457200" algn="l"/>
              </a:tabLst>
              <a:defRPr/>
            </a:pPr>
            <a:endParaRPr lang="en-US" sz="1000" kern="0" dirty="0">
              <a:solidFill>
                <a:srgbClr val="000000"/>
              </a:solidFill>
              <a:latin typeface="Arial"/>
            </a:endParaRPr>
          </a:p>
          <a:p>
            <a:pPr defTabSz="914400" fontAlgn="base">
              <a:spcBef>
                <a:spcPct val="0"/>
              </a:spcBef>
              <a:spcAft>
                <a:spcPct val="0"/>
              </a:spcAft>
              <a:tabLst>
                <a:tab pos="457200" algn="l"/>
              </a:tabLst>
              <a:defRPr/>
            </a:pPr>
            <a:r>
              <a:rPr lang="en-US" sz="1000" kern="0" dirty="0">
                <a:solidFill>
                  <a:srgbClr val="000000"/>
                </a:solidFill>
                <a:latin typeface="Arial"/>
              </a:rPr>
              <a:t>      static </a:t>
            </a:r>
            <a:r>
              <a:rPr lang="en-US" sz="1000" kern="0" dirty="0" err="1">
                <a:solidFill>
                  <a:srgbClr val="000000"/>
                </a:solidFill>
                <a:latin typeface="Arial"/>
              </a:rPr>
              <a:t>data_t</a:t>
            </a:r>
            <a:r>
              <a:rPr lang="en-US" sz="1000" kern="0" dirty="0">
                <a:solidFill>
                  <a:srgbClr val="000000"/>
                </a:solidFill>
                <a:latin typeface="Arial"/>
              </a:rPr>
              <a:t> </a:t>
            </a:r>
            <a:r>
              <a:rPr lang="en-US" sz="1000" kern="0" dirty="0" err="1">
                <a:solidFill>
                  <a:srgbClr val="000000"/>
                </a:solidFill>
                <a:latin typeface="Arial"/>
              </a:rPr>
              <a:t>shift_reg</a:t>
            </a:r>
            <a:r>
              <a:rPr lang="en-US" sz="1000" kern="0" dirty="0">
                <a:solidFill>
                  <a:srgbClr val="000000"/>
                </a:solidFill>
                <a:latin typeface="Arial"/>
              </a:rPr>
              <a:t>[N];</a:t>
            </a:r>
          </a:p>
          <a:p>
            <a:pPr defTabSz="914400" fontAlgn="base">
              <a:spcBef>
                <a:spcPct val="0"/>
              </a:spcBef>
              <a:spcAft>
                <a:spcPct val="0"/>
              </a:spcAft>
              <a:tabLst>
                <a:tab pos="457200" algn="l"/>
              </a:tabLst>
              <a:defRPr/>
            </a:pPr>
            <a:r>
              <a:rPr lang="en-US" sz="1000" kern="0" dirty="0">
                <a:solidFill>
                  <a:srgbClr val="000000"/>
                </a:solidFill>
                <a:latin typeface="Arial"/>
              </a:rPr>
              <a:t>      </a:t>
            </a:r>
            <a:r>
              <a:rPr lang="en-US" sz="1000" kern="0" dirty="0" err="1">
                <a:solidFill>
                  <a:srgbClr val="000000"/>
                </a:solidFill>
                <a:latin typeface="Arial"/>
              </a:rPr>
              <a:t>acc_t</a:t>
            </a:r>
            <a:r>
              <a:rPr lang="en-US" sz="1000" kern="0" dirty="0">
                <a:solidFill>
                  <a:srgbClr val="000000"/>
                </a:solidFill>
                <a:latin typeface="Arial"/>
              </a:rPr>
              <a:t> acc;</a:t>
            </a:r>
          </a:p>
          <a:p>
            <a:pPr defTabSz="914400" fontAlgn="base">
              <a:spcBef>
                <a:spcPct val="0"/>
              </a:spcBef>
              <a:spcAft>
                <a:spcPct val="0"/>
              </a:spcAft>
              <a:tabLst>
                <a:tab pos="457200" algn="l"/>
              </a:tabLst>
              <a:defRPr/>
            </a:pPr>
            <a:r>
              <a:rPr lang="en-US" sz="1000" kern="0" dirty="0">
                <a:solidFill>
                  <a:srgbClr val="000000"/>
                </a:solidFill>
                <a:latin typeface="Arial"/>
              </a:rPr>
              <a:t>      </a:t>
            </a:r>
            <a:r>
              <a:rPr lang="en-US" sz="1000" kern="0" dirty="0" err="1">
                <a:solidFill>
                  <a:srgbClr val="000000"/>
                </a:solidFill>
                <a:latin typeface="Arial"/>
              </a:rPr>
              <a:t>int</a:t>
            </a:r>
            <a:r>
              <a:rPr lang="en-US" sz="1000" kern="0" dirty="0">
                <a:solidFill>
                  <a:srgbClr val="000000"/>
                </a:solidFill>
                <a:latin typeface="Arial"/>
              </a:rPr>
              <a:t> </a:t>
            </a:r>
            <a:r>
              <a:rPr lang="en-US" sz="1000" kern="0" dirty="0" err="1">
                <a:solidFill>
                  <a:srgbClr val="000000"/>
                </a:solidFill>
                <a:latin typeface="Arial"/>
              </a:rPr>
              <a:t>i</a:t>
            </a:r>
            <a:r>
              <a:rPr lang="en-US" sz="1000" kern="0" dirty="0">
                <a:solidFill>
                  <a:srgbClr val="000000"/>
                </a:solidFill>
                <a:latin typeface="Arial"/>
              </a:rPr>
              <a:t>;</a:t>
            </a:r>
          </a:p>
          <a:p>
            <a:pPr defTabSz="914400" fontAlgn="base">
              <a:spcBef>
                <a:spcPct val="0"/>
              </a:spcBef>
              <a:spcAft>
                <a:spcPct val="0"/>
              </a:spcAft>
              <a:tabLst>
                <a:tab pos="457200" algn="l"/>
              </a:tabLst>
              <a:defRPr/>
            </a:pPr>
            <a:r>
              <a:rPr lang="en-US" sz="1000" kern="0" dirty="0">
                <a:solidFill>
                  <a:srgbClr val="000000"/>
                </a:solidFill>
                <a:latin typeface="Arial"/>
              </a:rPr>
              <a:t>  </a:t>
            </a:r>
          </a:p>
          <a:p>
            <a:pPr defTabSz="914400" fontAlgn="base">
              <a:spcBef>
                <a:spcPct val="50000"/>
              </a:spcBef>
              <a:spcAft>
                <a:spcPct val="0"/>
              </a:spcAft>
              <a:tabLst>
                <a:tab pos="457200" algn="l"/>
              </a:tabLst>
              <a:defRPr/>
            </a:pPr>
            <a:r>
              <a:rPr lang="en-US" altLang="zh-CN" sz="1000" kern="0" dirty="0">
                <a:solidFill>
                  <a:srgbClr val="000000"/>
                </a:solidFill>
                <a:latin typeface="Arial"/>
                <a:ea typeface="宋体" charset="-122"/>
              </a:rPr>
              <a:t>     const </a:t>
            </a:r>
            <a:r>
              <a:rPr lang="en-US" altLang="zh-CN" sz="1000" kern="0" dirty="0" err="1">
                <a:solidFill>
                  <a:srgbClr val="000000"/>
                </a:solidFill>
                <a:latin typeface="Arial"/>
                <a:ea typeface="宋体" charset="-122"/>
              </a:rPr>
              <a:t>coef_t</a:t>
            </a:r>
            <a:r>
              <a:rPr lang="en-US" altLang="zh-CN" sz="1000" kern="0" dirty="0">
                <a:solidFill>
                  <a:srgbClr val="000000"/>
                </a:solidFill>
                <a:latin typeface="Arial"/>
                <a:ea typeface="宋体" charset="-122"/>
              </a:rPr>
              <a:t> c[N+1]={</a:t>
            </a:r>
          </a:p>
          <a:p>
            <a:pPr defTabSz="914400" fontAlgn="base">
              <a:spcBef>
                <a:spcPct val="50000"/>
              </a:spcBef>
              <a:spcAft>
                <a:spcPct val="0"/>
              </a:spcAft>
              <a:tabLst>
                <a:tab pos="457200" algn="l"/>
              </a:tabLst>
              <a:defRPr/>
            </a:pPr>
            <a:r>
              <a:rPr lang="en-US" altLang="zh-CN" sz="1000" kern="0" dirty="0">
                <a:solidFill>
                  <a:srgbClr val="000000"/>
                </a:solidFill>
                <a:latin typeface="Arial"/>
                <a:ea typeface="宋体" charset="-122"/>
              </a:rPr>
              <a:t>#include "</a:t>
            </a:r>
            <a:r>
              <a:rPr lang="en-US" altLang="zh-CN" sz="1000" kern="0" dirty="0" err="1">
                <a:solidFill>
                  <a:srgbClr val="000000"/>
                </a:solidFill>
                <a:latin typeface="Arial"/>
                <a:ea typeface="宋体" charset="-122"/>
              </a:rPr>
              <a:t>fir_coef.h</a:t>
            </a:r>
            <a:r>
              <a:rPr lang="en-US" altLang="zh-CN" sz="1000" kern="0" dirty="0">
                <a:solidFill>
                  <a:srgbClr val="000000"/>
                </a:solidFill>
                <a:latin typeface="Arial"/>
                <a:ea typeface="宋体" charset="-122"/>
              </a:rPr>
              <a:t>"</a:t>
            </a:r>
          </a:p>
          <a:p>
            <a:pPr defTabSz="914400" fontAlgn="base">
              <a:spcBef>
                <a:spcPct val="50000"/>
              </a:spcBef>
              <a:spcAft>
                <a:spcPct val="0"/>
              </a:spcAft>
              <a:tabLst>
                <a:tab pos="457200" algn="l"/>
              </a:tabLst>
              <a:defRPr/>
            </a:pPr>
            <a:r>
              <a:rPr lang="en-US" altLang="zh-CN" sz="1000" kern="0" dirty="0">
                <a:solidFill>
                  <a:srgbClr val="000000"/>
                </a:solidFill>
                <a:latin typeface="Arial"/>
                <a:ea typeface="宋体" charset="-122"/>
              </a:rPr>
              <a:t>      };</a:t>
            </a:r>
          </a:p>
          <a:p>
            <a:pPr defTabSz="914400" fontAlgn="base">
              <a:spcBef>
                <a:spcPct val="50000"/>
              </a:spcBef>
              <a:spcAft>
                <a:spcPct val="0"/>
              </a:spcAft>
              <a:tabLst>
                <a:tab pos="457200" algn="l"/>
              </a:tabLst>
              <a:defRPr/>
            </a:pPr>
            <a:endParaRPr lang="en-US" sz="1000" kern="0" dirty="0">
              <a:solidFill>
                <a:srgbClr val="000000"/>
              </a:solidFill>
              <a:latin typeface="Arial"/>
            </a:endParaRPr>
          </a:p>
          <a:p>
            <a:pPr defTabSz="914400" fontAlgn="base">
              <a:spcBef>
                <a:spcPct val="0"/>
              </a:spcBef>
              <a:spcAft>
                <a:spcPct val="0"/>
              </a:spcAft>
              <a:tabLst>
                <a:tab pos="457200" algn="l"/>
              </a:tabLst>
              <a:defRPr/>
            </a:pPr>
            <a:r>
              <a:rPr lang="en-US" sz="1000" kern="0" dirty="0">
                <a:solidFill>
                  <a:srgbClr val="000000"/>
                </a:solidFill>
                <a:latin typeface="Arial"/>
              </a:rPr>
              <a:t>      acc=0;</a:t>
            </a:r>
          </a:p>
          <a:p>
            <a:pPr defTabSz="914400" fontAlgn="base">
              <a:spcBef>
                <a:spcPct val="0"/>
              </a:spcBef>
              <a:spcAft>
                <a:spcPct val="0"/>
              </a:spcAft>
              <a:tabLst>
                <a:tab pos="457200" algn="l"/>
              </a:tabLst>
              <a:defRPr/>
            </a:pPr>
            <a:r>
              <a:rPr lang="en-US" sz="1000" kern="0" dirty="0">
                <a:solidFill>
                  <a:srgbClr val="000000"/>
                </a:solidFill>
                <a:latin typeface="Arial"/>
              </a:rPr>
              <a:t>      </a:t>
            </a:r>
            <a:r>
              <a:rPr lang="en-US" sz="1000" b="1" kern="0" dirty="0" err="1">
                <a:solidFill>
                  <a:srgbClr val="000000"/>
                </a:solidFill>
                <a:latin typeface="Arial"/>
              </a:rPr>
              <a:t>mac_loop</a:t>
            </a:r>
            <a:r>
              <a:rPr lang="en-US" sz="1000" kern="0" dirty="0">
                <a:solidFill>
                  <a:srgbClr val="000000"/>
                </a:solidFill>
                <a:latin typeface="Arial"/>
              </a:rPr>
              <a:t>: for (</a:t>
            </a:r>
            <a:r>
              <a:rPr lang="en-US" sz="1000" kern="0" dirty="0" err="1">
                <a:solidFill>
                  <a:srgbClr val="000000"/>
                </a:solidFill>
                <a:latin typeface="Arial"/>
              </a:rPr>
              <a:t>i</a:t>
            </a:r>
            <a:r>
              <a:rPr lang="en-US" sz="1000" kern="0" dirty="0">
                <a:solidFill>
                  <a:srgbClr val="000000"/>
                </a:solidFill>
                <a:latin typeface="Arial"/>
              </a:rPr>
              <a:t>=N-1;i&gt;=0;i--) {</a:t>
            </a:r>
          </a:p>
          <a:p>
            <a:pPr defTabSz="914400" fontAlgn="base">
              <a:spcBef>
                <a:spcPct val="0"/>
              </a:spcBef>
              <a:spcAft>
                <a:spcPct val="0"/>
              </a:spcAft>
              <a:tabLst>
                <a:tab pos="457200" algn="l"/>
              </a:tabLst>
              <a:defRPr/>
            </a:pPr>
            <a:r>
              <a:rPr lang="en-US" sz="1000" kern="0" dirty="0">
                <a:solidFill>
                  <a:srgbClr val="000000"/>
                </a:solidFill>
                <a:latin typeface="Arial"/>
              </a:rPr>
              <a:t>         if (</a:t>
            </a:r>
            <a:r>
              <a:rPr lang="en-US" sz="1000" kern="0" dirty="0" err="1">
                <a:solidFill>
                  <a:srgbClr val="000000"/>
                </a:solidFill>
                <a:latin typeface="Arial"/>
              </a:rPr>
              <a:t>i</a:t>
            </a:r>
            <a:r>
              <a:rPr lang="en-US" sz="1000" kern="0" dirty="0">
                <a:solidFill>
                  <a:srgbClr val="000000"/>
                </a:solidFill>
                <a:latin typeface="Arial"/>
              </a:rPr>
              <a:t>==0) {</a:t>
            </a:r>
          </a:p>
          <a:p>
            <a:pPr defTabSz="914400" fontAlgn="base">
              <a:spcBef>
                <a:spcPct val="0"/>
              </a:spcBef>
              <a:spcAft>
                <a:spcPct val="0"/>
              </a:spcAft>
              <a:tabLst>
                <a:tab pos="457200" algn="l"/>
              </a:tabLst>
              <a:defRPr/>
            </a:pPr>
            <a:r>
              <a:rPr lang="en-US" sz="1000" kern="0" dirty="0">
                <a:solidFill>
                  <a:srgbClr val="000000"/>
                </a:solidFill>
                <a:latin typeface="Arial"/>
              </a:rPr>
              <a:t>           acc+=x*c[0];</a:t>
            </a:r>
          </a:p>
          <a:p>
            <a:pPr defTabSz="914400" fontAlgn="base">
              <a:spcBef>
                <a:spcPct val="0"/>
              </a:spcBef>
              <a:spcAft>
                <a:spcPct val="0"/>
              </a:spcAft>
              <a:tabLst>
                <a:tab pos="457200" algn="l"/>
              </a:tabLst>
              <a:defRPr/>
            </a:pPr>
            <a:r>
              <a:rPr lang="en-US" sz="1000" kern="0" dirty="0">
                <a:solidFill>
                  <a:srgbClr val="000000"/>
                </a:solidFill>
                <a:latin typeface="Arial"/>
              </a:rPr>
              <a:t>           </a:t>
            </a:r>
            <a:r>
              <a:rPr lang="en-US" sz="1000" kern="0" dirty="0" err="1">
                <a:solidFill>
                  <a:srgbClr val="000000"/>
                </a:solidFill>
                <a:latin typeface="Arial"/>
              </a:rPr>
              <a:t>shift_reg</a:t>
            </a:r>
            <a:r>
              <a:rPr lang="en-US" sz="1000" kern="0" dirty="0">
                <a:solidFill>
                  <a:srgbClr val="000000"/>
                </a:solidFill>
                <a:latin typeface="Arial"/>
              </a:rPr>
              <a:t>[0]=x;</a:t>
            </a:r>
          </a:p>
          <a:p>
            <a:pPr defTabSz="914400" fontAlgn="base">
              <a:spcBef>
                <a:spcPct val="0"/>
              </a:spcBef>
              <a:spcAft>
                <a:spcPct val="0"/>
              </a:spcAft>
              <a:tabLst>
                <a:tab pos="457200" algn="l"/>
              </a:tabLst>
              <a:defRPr/>
            </a:pPr>
            <a:r>
              <a:rPr lang="en-US" sz="1000" kern="0" dirty="0">
                <a:solidFill>
                  <a:srgbClr val="000000"/>
                </a:solidFill>
                <a:latin typeface="Arial"/>
              </a:rPr>
              <a:t>         } else {</a:t>
            </a:r>
          </a:p>
          <a:p>
            <a:pPr defTabSz="914400" fontAlgn="base">
              <a:spcBef>
                <a:spcPct val="0"/>
              </a:spcBef>
              <a:spcAft>
                <a:spcPct val="0"/>
              </a:spcAft>
              <a:tabLst>
                <a:tab pos="457200" algn="l"/>
              </a:tabLst>
              <a:defRPr/>
            </a:pPr>
            <a:r>
              <a:rPr lang="en-US" sz="1000" kern="0" dirty="0">
                <a:solidFill>
                  <a:srgbClr val="000000"/>
                </a:solidFill>
                <a:latin typeface="Arial"/>
              </a:rPr>
              <a:t>           </a:t>
            </a:r>
            <a:r>
              <a:rPr lang="en-US" sz="1000" kern="0" dirty="0" err="1">
                <a:solidFill>
                  <a:srgbClr val="000000"/>
                </a:solidFill>
                <a:latin typeface="Arial"/>
              </a:rPr>
              <a:t>shift_reg</a:t>
            </a:r>
            <a:r>
              <a:rPr lang="en-US" sz="1000" kern="0" dirty="0">
                <a:solidFill>
                  <a:srgbClr val="000000"/>
                </a:solidFill>
                <a:latin typeface="Arial"/>
              </a:rPr>
              <a:t>[</a:t>
            </a:r>
            <a:r>
              <a:rPr lang="en-US" sz="1000" kern="0" dirty="0" err="1">
                <a:solidFill>
                  <a:srgbClr val="000000"/>
                </a:solidFill>
                <a:latin typeface="Arial"/>
              </a:rPr>
              <a:t>i</a:t>
            </a:r>
            <a:r>
              <a:rPr lang="en-US" sz="1000" kern="0" dirty="0">
                <a:solidFill>
                  <a:srgbClr val="000000"/>
                </a:solidFill>
                <a:latin typeface="Arial"/>
              </a:rPr>
              <a:t>]=</a:t>
            </a:r>
            <a:r>
              <a:rPr lang="en-US" sz="1000" kern="0" dirty="0" err="1">
                <a:solidFill>
                  <a:srgbClr val="000000"/>
                </a:solidFill>
                <a:latin typeface="Arial"/>
              </a:rPr>
              <a:t>shift_reg</a:t>
            </a:r>
            <a:r>
              <a:rPr lang="en-US" sz="1000" kern="0" dirty="0">
                <a:solidFill>
                  <a:srgbClr val="000000"/>
                </a:solidFill>
                <a:latin typeface="Arial"/>
              </a:rPr>
              <a:t>[i-1];  </a:t>
            </a:r>
          </a:p>
          <a:p>
            <a:pPr defTabSz="914400" fontAlgn="base">
              <a:spcBef>
                <a:spcPct val="0"/>
              </a:spcBef>
              <a:spcAft>
                <a:spcPct val="0"/>
              </a:spcAft>
              <a:tabLst>
                <a:tab pos="457200" algn="l"/>
              </a:tabLst>
              <a:defRPr/>
            </a:pPr>
            <a:r>
              <a:rPr lang="en-US" sz="1000" kern="0" dirty="0">
                <a:solidFill>
                  <a:srgbClr val="000000"/>
                </a:solidFill>
                <a:latin typeface="Arial"/>
              </a:rPr>
              <a:t>           acc+=</a:t>
            </a:r>
            <a:r>
              <a:rPr lang="en-US" sz="1000" kern="0" dirty="0" err="1">
                <a:solidFill>
                  <a:srgbClr val="000000"/>
                </a:solidFill>
                <a:latin typeface="Arial"/>
              </a:rPr>
              <a:t>shift_reg</a:t>
            </a:r>
            <a:r>
              <a:rPr lang="en-US" sz="1000" kern="0" dirty="0">
                <a:solidFill>
                  <a:srgbClr val="000000"/>
                </a:solidFill>
                <a:latin typeface="Arial"/>
              </a:rPr>
              <a:t>[</a:t>
            </a:r>
            <a:r>
              <a:rPr lang="en-US" sz="1000" kern="0" dirty="0" err="1">
                <a:solidFill>
                  <a:srgbClr val="000000"/>
                </a:solidFill>
                <a:latin typeface="Arial"/>
              </a:rPr>
              <a:t>i</a:t>
            </a:r>
            <a:r>
              <a:rPr lang="en-US" sz="1000" kern="0" dirty="0">
                <a:solidFill>
                  <a:srgbClr val="000000"/>
                </a:solidFill>
                <a:latin typeface="Arial"/>
              </a:rPr>
              <a:t>]*c[</a:t>
            </a:r>
            <a:r>
              <a:rPr lang="en-US" sz="1000" kern="0" dirty="0" err="1">
                <a:solidFill>
                  <a:srgbClr val="000000"/>
                </a:solidFill>
                <a:latin typeface="Arial"/>
              </a:rPr>
              <a:t>i</a:t>
            </a:r>
            <a:r>
              <a:rPr lang="en-US" sz="1000" kern="0" dirty="0">
                <a:solidFill>
                  <a:srgbClr val="000000"/>
                </a:solidFill>
                <a:latin typeface="Arial"/>
              </a:rPr>
              <a:t>];</a:t>
            </a:r>
          </a:p>
          <a:p>
            <a:pPr defTabSz="914400" fontAlgn="base">
              <a:spcBef>
                <a:spcPct val="0"/>
              </a:spcBef>
              <a:spcAft>
                <a:spcPct val="0"/>
              </a:spcAft>
              <a:tabLst>
                <a:tab pos="457200" algn="l"/>
              </a:tabLst>
              <a:defRPr/>
            </a:pPr>
            <a:r>
              <a:rPr lang="en-US" sz="1000" kern="0" dirty="0">
                <a:solidFill>
                  <a:srgbClr val="000000"/>
                </a:solidFill>
                <a:latin typeface="Arial"/>
              </a:rPr>
              <a:t>         }</a:t>
            </a:r>
          </a:p>
          <a:p>
            <a:pPr defTabSz="914400" fontAlgn="base">
              <a:spcBef>
                <a:spcPct val="0"/>
              </a:spcBef>
              <a:spcAft>
                <a:spcPct val="0"/>
              </a:spcAft>
              <a:tabLst>
                <a:tab pos="457200" algn="l"/>
              </a:tabLst>
              <a:defRPr/>
            </a:pPr>
            <a:r>
              <a:rPr lang="en-US" sz="1000" kern="0" dirty="0">
                <a:solidFill>
                  <a:srgbClr val="000000"/>
                </a:solidFill>
                <a:latin typeface="Arial"/>
              </a:rPr>
              <a:t>      }</a:t>
            </a:r>
          </a:p>
          <a:p>
            <a:pPr defTabSz="914400" fontAlgn="base">
              <a:spcBef>
                <a:spcPct val="0"/>
              </a:spcBef>
              <a:spcAft>
                <a:spcPct val="0"/>
              </a:spcAft>
              <a:tabLst>
                <a:tab pos="457200" algn="l"/>
              </a:tabLst>
              <a:defRPr/>
            </a:pPr>
            <a:endParaRPr lang="en-US" sz="1000" kern="0" dirty="0">
              <a:solidFill>
                <a:srgbClr val="000000"/>
              </a:solidFill>
              <a:latin typeface="Arial"/>
            </a:endParaRPr>
          </a:p>
          <a:p>
            <a:pPr defTabSz="914400" fontAlgn="base">
              <a:spcBef>
                <a:spcPct val="0"/>
              </a:spcBef>
              <a:spcAft>
                <a:spcPct val="0"/>
              </a:spcAft>
              <a:tabLst>
                <a:tab pos="457200" algn="l"/>
              </a:tabLst>
              <a:defRPr/>
            </a:pPr>
            <a:r>
              <a:rPr lang="en-US" sz="1000" kern="0" dirty="0">
                <a:solidFill>
                  <a:srgbClr val="000000"/>
                </a:solidFill>
                <a:latin typeface="Arial"/>
              </a:rPr>
              <a:t>      return=acc;</a:t>
            </a:r>
          </a:p>
          <a:p>
            <a:pPr defTabSz="914400" fontAlgn="base">
              <a:spcBef>
                <a:spcPct val="0"/>
              </a:spcBef>
              <a:spcAft>
                <a:spcPct val="0"/>
              </a:spcAft>
              <a:tabLst>
                <a:tab pos="457200" algn="l"/>
              </a:tabLst>
              <a:defRPr/>
            </a:pPr>
            <a:r>
              <a:rPr lang="en-US" sz="1000" kern="0" dirty="0">
                <a:solidFill>
                  <a:srgbClr val="000000"/>
                </a:solidFill>
                <a:latin typeface="Arial"/>
              </a:rPr>
              <a:t>     }</a:t>
            </a:r>
          </a:p>
        </p:txBody>
      </p:sp>
      <p:cxnSp>
        <p:nvCxnSpPr>
          <p:cNvPr id="14" name="Straight Arrow Connector 13">
            <a:extLst>
              <a:ext uri="{FF2B5EF4-FFF2-40B4-BE49-F238E27FC236}">
                <a16:creationId xmlns:a16="http://schemas.microsoft.com/office/drawing/2014/main" id="{91F9F5B1-C897-4188-B71B-C7A8B8E471CB}"/>
              </a:ext>
            </a:extLst>
          </p:cNvPr>
          <p:cNvCxnSpPr/>
          <p:nvPr/>
        </p:nvCxnSpPr>
        <p:spPr>
          <a:xfrm flipH="1">
            <a:off x="8297317" y="3659430"/>
            <a:ext cx="1638185" cy="0"/>
          </a:xfrm>
          <a:prstGeom prst="straightConnector1">
            <a:avLst/>
          </a:prstGeom>
          <a:noFill/>
          <a:ln w="38100" cap="flat" cmpd="sng" algn="ctr">
            <a:solidFill>
              <a:srgbClr val="000000"/>
            </a:solidFill>
            <a:prstDash val="solid"/>
            <a:headEnd type="none" w="med" len="med"/>
            <a:tailEnd type="triangle" w="med" len="med"/>
          </a:ln>
          <a:effectLst>
            <a:outerShdw blurRad="40000" dist="20000" dir="5400000" rotWithShape="0">
              <a:srgbClr val="000000">
                <a:alpha val="38000"/>
              </a:srgbClr>
            </a:outerShdw>
          </a:effectLst>
        </p:spPr>
      </p:cxnSp>
      <p:sp>
        <p:nvSpPr>
          <p:cNvPr id="17" name="TextBox 16">
            <a:extLst>
              <a:ext uri="{FF2B5EF4-FFF2-40B4-BE49-F238E27FC236}">
                <a16:creationId xmlns:a16="http://schemas.microsoft.com/office/drawing/2014/main" id="{D6F4EF95-C223-4082-96E9-7EE7B03DEB0A}"/>
              </a:ext>
            </a:extLst>
          </p:cNvPr>
          <p:cNvSpPr txBox="1"/>
          <p:nvPr/>
        </p:nvSpPr>
        <p:spPr>
          <a:xfrm>
            <a:off x="8727513" y="1854395"/>
            <a:ext cx="431528" cy="253916"/>
          </a:xfrm>
          <a:prstGeom prst="rect">
            <a:avLst/>
          </a:prstGeom>
          <a:solidFill>
            <a:srgbClr val="7030A0"/>
          </a:solidFill>
          <a:ln w="9525" cap="flat" cmpd="sng" algn="ctr">
            <a:solidFill>
              <a:srgbClr val="3F3F3F">
                <a:shade val="95000"/>
                <a:satMod val="105000"/>
              </a:srgbClr>
            </a:solidFill>
            <a:prstDash val="solid"/>
          </a:ln>
          <a:effectLst>
            <a:outerShdw blurRad="40000" dist="23000" dir="5400000" rotWithShape="0">
              <a:srgbClr val="000000">
                <a:alpha val="35000"/>
              </a:srgbClr>
            </a:outerShdw>
          </a:effectLst>
        </p:spPr>
        <p:txBody>
          <a:bodyPr wrap="none" rtlCol="0">
            <a:spAutoFit/>
          </a:bodyPr>
          <a:lstStyle/>
          <a:p>
            <a:pPr algn="ctr" defTabSz="914400" fontAlgn="base">
              <a:spcBef>
                <a:spcPct val="0"/>
              </a:spcBef>
              <a:spcAft>
                <a:spcPct val="0"/>
              </a:spcAft>
              <a:defRPr/>
            </a:pPr>
            <a:r>
              <a:rPr lang="en-US" sz="1050" b="1" kern="0" dirty="0" err="1">
                <a:solidFill>
                  <a:srgbClr val="FFFFFF"/>
                </a:solidFill>
                <a:latin typeface="Arial"/>
              </a:rPr>
              <a:t>fir.c</a:t>
            </a:r>
            <a:endParaRPr lang="en-US" sz="1050" b="1" kern="0" dirty="0">
              <a:solidFill>
                <a:srgbClr val="FFFFFF"/>
              </a:solidFill>
              <a:latin typeface="Arial"/>
            </a:endParaRPr>
          </a:p>
        </p:txBody>
      </p:sp>
      <p:sp>
        <p:nvSpPr>
          <p:cNvPr id="18" name="TextBox 17">
            <a:extLst>
              <a:ext uri="{FF2B5EF4-FFF2-40B4-BE49-F238E27FC236}">
                <a16:creationId xmlns:a16="http://schemas.microsoft.com/office/drawing/2014/main" id="{54C2B479-C3B8-4F01-8943-87AA3C245943}"/>
              </a:ext>
            </a:extLst>
          </p:cNvPr>
          <p:cNvSpPr txBox="1"/>
          <p:nvPr/>
        </p:nvSpPr>
        <p:spPr>
          <a:xfrm>
            <a:off x="10037888" y="2872856"/>
            <a:ext cx="716707" cy="1785104"/>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defRPr/>
            </a:pPr>
            <a:r>
              <a:rPr lang="en-US" sz="1000" kern="0" dirty="0">
                <a:solidFill>
                  <a:srgbClr val="000000"/>
                </a:solidFill>
                <a:latin typeface="Arial"/>
              </a:rPr>
              <a:t>-1,</a:t>
            </a:r>
          </a:p>
          <a:p>
            <a:pPr defTabSz="914400" fontAlgn="base">
              <a:spcBef>
                <a:spcPct val="0"/>
              </a:spcBef>
              <a:spcAft>
                <a:spcPct val="0"/>
              </a:spcAft>
              <a:defRPr/>
            </a:pPr>
            <a:r>
              <a:rPr lang="en-US" sz="1000" kern="0" dirty="0">
                <a:solidFill>
                  <a:srgbClr val="000000"/>
                </a:solidFill>
                <a:latin typeface="Arial"/>
              </a:rPr>
              <a:t>-20,</a:t>
            </a:r>
          </a:p>
          <a:p>
            <a:pPr defTabSz="914400" fontAlgn="base">
              <a:spcBef>
                <a:spcPct val="0"/>
              </a:spcBef>
              <a:spcAft>
                <a:spcPct val="0"/>
              </a:spcAft>
              <a:defRPr/>
            </a:pPr>
            <a:r>
              <a:rPr lang="en-US" sz="1000" kern="0" dirty="0">
                <a:solidFill>
                  <a:srgbClr val="000000"/>
                </a:solidFill>
                <a:latin typeface="Arial"/>
              </a:rPr>
              <a:t>-19,</a:t>
            </a:r>
          </a:p>
          <a:p>
            <a:pPr defTabSz="914400" fontAlgn="base">
              <a:spcBef>
                <a:spcPct val="0"/>
              </a:spcBef>
              <a:spcAft>
                <a:spcPct val="0"/>
              </a:spcAft>
              <a:defRPr/>
            </a:pPr>
            <a:r>
              <a:rPr lang="en-US" sz="1000" kern="0" dirty="0">
                <a:solidFill>
                  <a:srgbClr val="000000"/>
                </a:solidFill>
                <a:latin typeface="Arial"/>
              </a:rPr>
              <a:t>84,</a:t>
            </a:r>
          </a:p>
          <a:p>
            <a:pPr defTabSz="914400" fontAlgn="base">
              <a:spcBef>
                <a:spcPct val="0"/>
              </a:spcBef>
              <a:spcAft>
                <a:spcPct val="0"/>
              </a:spcAft>
              <a:defRPr/>
            </a:pPr>
            <a:r>
              <a:rPr lang="en-US" sz="1000" kern="0" dirty="0">
                <a:solidFill>
                  <a:srgbClr val="000000"/>
                </a:solidFill>
                <a:latin typeface="Arial"/>
              </a:rPr>
              <a:t>271,</a:t>
            </a:r>
          </a:p>
          <a:p>
            <a:pPr defTabSz="914400" fontAlgn="base">
              <a:spcBef>
                <a:spcPct val="0"/>
              </a:spcBef>
              <a:spcAft>
                <a:spcPct val="0"/>
              </a:spcAft>
              <a:defRPr/>
            </a:pPr>
            <a:r>
              <a:rPr lang="en-US" sz="1000" kern="0" dirty="0">
                <a:solidFill>
                  <a:srgbClr val="000000"/>
                </a:solidFill>
                <a:latin typeface="Arial"/>
              </a:rPr>
              <a:t>370,</a:t>
            </a:r>
          </a:p>
          <a:p>
            <a:pPr defTabSz="914400" fontAlgn="base">
              <a:spcBef>
                <a:spcPct val="0"/>
              </a:spcBef>
              <a:spcAft>
                <a:spcPct val="0"/>
              </a:spcAft>
              <a:defRPr/>
            </a:pPr>
            <a:r>
              <a:rPr lang="en-US" sz="1000" kern="0" dirty="0">
                <a:solidFill>
                  <a:srgbClr val="000000"/>
                </a:solidFill>
                <a:latin typeface="Arial"/>
              </a:rPr>
              <a:t>271,</a:t>
            </a:r>
          </a:p>
          <a:p>
            <a:pPr defTabSz="914400" fontAlgn="base">
              <a:spcBef>
                <a:spcPct val="0"/>
              </a:spcBef>
              <a:spcAft>
                <a:spcPct val="0"/>
              </a:spcAft>
              <a:defRPr/>
            </a:pPr>
            <a:r>
              <a:rPr lang="en-US" sz="1000" kern="0" dirty="0">
                <a:solidFill>
                  <a:srgbClr val="000000"/>
                </a:solidFill>
                <a:latin typeface="Arial"/>
              </a:rPr>
              <a:t>88,</a:t>
            </a:r>
          </a:p>
          <a:p>
            <a:pPr defTabSz="914400" fontAlgn="base">
              <a:spcBef>
                <a:spcPct val="0"/>
              </a:spcBef>
              <a:spcAft>
                <a:spcPct val="0"/>
              </a:spcAft>
              <a:defRPr/>
            </a:pPr>
            <a:r>
              <a:rPr lang="en-US" sz="1000" kern="0" dirty="0">
                <a:solidFill>
                  <a:srgbClr val="000000"/>
                </a:solidFill>
                <a:latin typeface="Arial"/>
              </a:rPr>
              <a:t>-19,</a:t>
            </a:r>
          </a:p>
          <a:p>
            <a:pPr defTabSz="914400" fontAlgn="base">
              <a:spcBef>
                <a:spcPct val="0"/>
              </a:spcBef>
              <a:spcAft>
                <a:spcPct val="0"/>
              </a:spcAft>
              <a:defRPr/>
            </a:pPr>
            <a:r>
              <a:rPr lang="en-US" sz="1000" kern="0" dirty="0">
                <a:solidFill>
                  <a:srgbClr val="000000"/>
                </a:solidFill>
                <a:latin typeface="Arial"/>
              </a:rPr>
              <a:t>-20,</a:t>
            </a:r>
          </a:p>
          <a:p>
            <a:pPr defTabSz="914400" fontAlgn="base">
              <a:spcBef>
                <a:spcPct val="0"/>
              </a:spcBef>
              <a:spcAft>
                <a:spcPct val="0"/>
              </a:spcAft>
              <a:defRPr/>
            </a:pPr>
            <a:r>
              <a:rPr lang="en-US" sz="1000" kern="0" dirty="0">
                <a:solidFill>
                  <a:srgbClr val="000000"/>
                </a:solidFill>
                <a:latin typeface="Arial"/>
              </a:rPr>
              <a:t>-1,</a:t>
            </a:r>
          </a:p>
        </p:txBody>
      </p:sp>
      <p:sp>
        <p:nvSpPr>
          <p:cNvPr id="19" name="TextBox 18">
            <a:extLst>
              <a:ext uri="{FF2B5EF4-FFF2-40B4-BE49-F238E27FC236}">
                <a16:creationId xmlns:a16="http://schemas.microsoft.com/office/drawing/2014/main" id="{0D749868-CFD9-40CF-BC02-1BDD29E33251}"/>
              </a:ext>
            </a:extLst>
          </p:cNvPr>
          <p:cNvSpPr txBox="1"/>
          <p:nvPr/>
        </p:nvSpPr>
        <p:spPr>
          <a:xfrm>
            <a:off x="9833114" y="2565616"/>
            <a:ext cx="1228640" cy="253916"/>
          </a:xfrm>
          <a:prstGeom prst="rect">
            <a:avLst/>
          </a:prstGeom>
          <a:solidFill>
            <a:srgbClr val="7030A0"/>
          </a:solidFill>
          <a:ln w="9525" cap="flat" cmpd="sng" algn="ctr">
            <a:solidFill>
              <a:srgbClr val="3F3F3F">
                <a:shade val="95000"/>
                <a:satMod val="105000"/>
              </a:srgbClr>
            </a:solidFill>
            <a:prstDash val="solid"/>
          </a:ln>
          <a:effectLst>
            <a:outerShdw blurRad="40000" dist="23000" dir="5400000" rotWithShape="0">
              <a:srgbClr val="000000">
                <a:alpha val="35000"/>
              </a:srgbClr>
            </a:outerShdw>
          </a:effectLst>
        </p:spPr>
        <p:txBody>
          <a:bodyPr wrap="square" rtlCol="0">
            <a:spAutoFit/>
          </a:bodyPr>
          <a:lstStyle/>
          <a:p>
            <a:pPr algn="ctr" defTabSz="914400" fontAlgn="base">
              <a:spcBef>
                <a:spcPct val="0"/>
              </a:spcBef>
              <a:spcAft>
                <a:spcPct val="0"/>
              </a:spcAft>
              <a:defRPr/>
            </a:pPr>
            <a:r>
              <a:rPr lang="en-US" sz="1050" b="1" kern="0" dirty="0" err="1">
                <a:solidFill>
                  <a:srgbClr val="FFFFFF"/>
                </a:solidFill>
                <a:latin typeface="Arial"/>
              </a:rPr>
              <a:t>fir_coeff.h</a:t>
            </a:r>
            <a:endParaRPr lang="en-US" sz="1050" b="1" kern="0" dirty="0">
              <a:solidFill>
                <a:srgbClr val="FFFFFF"/>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 Filter with C</a:t>
            </a:r>
          </a:p>
        </p:txBody>
      </p:sp>
      <p:sp>
        <p:nvSpPr>
          <p:cNvPr id="3" name="Content Placeholder 2"/>
          <p:cNvSpPr>
            <a:spLocks noGrp="1"/>
          </p:cNvSpPr>
          <p:nvPr>
            <p:ph idx="1"/>
          </p:nvPr>
        </p:nvSpPr>
        <p:spPr/>
        <p:txBody>
          <a:bodyPr>
            <a:noAutofit/>
          </a:bodyPr>
          <a:lstStyle/>
          <a:p>
            <a:r>
              <a:rPr lang="en-US" sz="1800" dirty="0"/>
              <a:t>C coding style</a:t>
            </a:r>
          </a:p>
          <a:p>
            <a:pPr lvl="1"/>
            <a:r>
              <a:rPr lang="en-US" sz="1600" dirty="0"/>
              <a:t>The top-level function defines the IO ports</a:t>
            </a:r>
          </a:p>
          <a:p>
            <a:pPr lvl="1"/>
            <a:r>
              <a:rPr lang="en-US" sz="1600" dirty="0"/>
              <a:t>If required, sub-functions can be added</a:t>
            </a:r>
          </a:p>
          <a:p>
            <a:r>
              <a:rPr lang="en-US" sz="1800" dirty="0"/>
              <a:t>Storage</a:t>
            </a:r>
          </a:p>
          <a:p>
            <a:pPr lvl="1"/>
            <a:r>
              <a:rPr lang="en-US" sz="1600" dirty="0"/>
              <a:t>Static: required for anything which must hold it’s </a:t>
            </a:r>
            <a:br>
              <a:rPr lang="en-US" sz="1600" dirty="0"/>
            </a:br>
            <a:r>
              <a:rPr lang="en-US" sz="1600" dirty="0"/>
              <a:t>value between invocations</a:t>
            </a:r>
          </a:p>
          <a:p>
            <a:pPr lvl="2"/>
            <a:r>
              <a:rPr lang="en-US" sz="1400" dirty="0"/>
              <a:t>A C simulation will confirm what is required to be </a:t>
            </a:r>
            <a:br>
              <a:rPr lang="en-US" sz="1400" dirty="0"/>
            </a:br>
            <a:r>
              <a:rPr lang="en-US" sz="1400" dirty="0"/>
              <a:t>a static</a:t>
            </a:r>
          </a:p>
          <a:p>
            <a:pPr lvl="2"/>
            <a:r>
              <a:rPr lang="en-US" sz="1400" dirty="0"/>
              <a:t>Will become a register or memory</a:t>
            </a:r>
          </a:p>
          <a:p>
            <a:pPr lvl="2"/>
            <a:r>
              <a:rPr lang="en-US" sz="1400" dirty="0"/>
              <a:t>Other variables may become storage, depending on </a:t>
            </a:r>
            <a:br>
              <a:rPr lang="en-US" sz="1400" dirty="0"/>
            </a:br>
            <a:r>
              <a:rPr lang="en-US" sz="1400" dirty="0"/>
              <a:t>the implementation</a:t>
            </a:r>
          </a:p>
          <a:p>
            <a:pPr lvl="1"/>
            <a:r>
              <a:rPr lang="en-US" sz="1600" dirty="0"/>
              <a:t>Const: ensures the values are seen as constants </a:t>
            </a:r>
            <a:br>
              <a:rPr lang="en-US" sz="1600" dirty="0"/>
            </a:br>
            <a:r>
              <a:rPr lang="en-US" sz="1600" dirty="0"/>
              <a:t>which never changed</a:t>
            </a:r>
          </a:p>
          <a:p>
            <a:r>
              <a:rPr lang="en-US" sz="1800" dirty="0"/>
              <a:t>FIR details</a:t>
            </a:r>
          </a:p>
          <a:p>
            <a:pPr lvl="1"/>
            <a:r>
              <a:rPr lang="en-US" sz="1600" dirty="0"/>
              <a:t>Coefficients are loaded from a file</a:t>
            </a:r>
          </a:p>
          <a:p>
            <a:pPr lvl="2"/>
            <a:r>
              <a:rPr lang="en-US" sz="1400" dirty="0"/>
              <a:t>Use the “const” keyword to ensure the data is seen as </a:t>
            </a:r>
            <a:br>
              <a:rPr lang="en-US" sz="1400" dirty="0"/>
            </a:br>
            <a:r>
              <a:rPr lang="en-US" sz="1400" dirty="0"/>
              <a:t>constant and a ROM is used</a:t>
            </a:r>
          </a:p>
        </p:txBody>
      </p:sp>
      <p:sp>
        <p:nvSpPr>
          <p:cNvPr id="11" name="Slide Number Placeholder 10"/>
          <p:cNvSpPr>
            <a:spLocks noGrp="1"/>
          </p:cNvSpPr>
          <p:nvPr>
            <p:ph type="sldNum" sz="quarter" idx="10"/>
          </p:nvPr>
        </p:nvSpPr>
        <p:spPr/>
        <p:txBody>
          <a:bodyPr/>
          <a:lstStyle/>
          <a:p>
            <a:pPr defTabSz="914400">
              <a:defRPr/>
            </a:pPr>
            <a:r>
              <a:rPr lang="en-US" dirty="0">
                <a:solidFill>
                  <a:srgbClr val="0C0C0C">
                    <a:tint val="75000"/>
                  </a:srgbClr>
                </a:solidFill>
                <a:latin typeface="Arial"/>
              </a:rPr>
              <a:t>Coding Considerations 23- </a:t>
            </a:r>
            <a:fld id="{060BD193-E118-4B16-863C-C8C12C675E3E}" type="slidenum">
              <a:rPr lang="en-US">
                <a:solidFill>
                  <a:srgbClr val="0C0C0C">
                    <a:tint val="75000"/>
                  </a:srgbClr>
                </a:solidFill>
                <a:latin typeface="Arial"/>
              </a:rPr>
              <a:pPr defTabSz="914400">
                <a:defRPr/>
              </a:pPr>
              <a:t>13</a:t>
            </a:fld>
            <a:endParaRPr lang="en-US" dirty="0">
              <a:solidFill>
                <a:srgbClr val="0C0C0C">
                  <a:tint val="75000"/>
                </a:srgbClr>
              </a:solidFill>
              <a:latin typeface="Arial"/>
            </a:endParaRPr>
          </a:p>
        </p:txBody>
      </p:sp>
      <p:sp>
        <p:nvSpPr>
          <p:cNvPr id="12" name="TextBox 11">
            <a:extLst>
              <a:ext uri="{FF2B5EF4-FFF2-40B4-BE49-F238E27FC236}">
                <a16:creationId xmlns:a16="http://schemas.microsoft.com/office/drawing/2014/main" id="{F26D0B01-A3FE-4262-B6CF-88318EFE2E99}"/>
              </a:ext>
            </a:extLst>
          </p:cNvPr>
          <p:cNvSpPr txBox="1"/>
          <p:nvPr/>
        </p:nvSpPr>
        <p:spPr>
          <a:xfrm>
            <a:off x="6249581" y="2008017"/>
            <a:ext cx="3532340" cy="4247317"/>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tabLst>
                <a:tab pos="457200" algn="l"/>
              </a:tabLst>
              <a:defRPr/>
            </a:pPr>
            <a:r>
              <a:rPr lang="en-US" sz="1000" kern="0" dirty="0">
                <a:solidFill>
                  <a:srgbClr val="000000"/>
                </a:solidFill>
                <a:latin typeface="Arial"/>
              </a:rPr>
              <a:t>     </a:t>
            </a:r>
            <a:r>
              <a:rPr lang="en-US" sz="1000" kern="0" dirty="0" err="1">
                <a:solidFill>
                  <a:srgbClr val="000000"/>
                </a:solidFill>
                <a:latin typeface="Arial"/>
              </a:rPr>
              <a:t>data_t</a:t>
            </a:r>
            <a:r>
              <a:rPr lang="en-US" sz="1000" kern="0" dirty="0">
                <a:solidFill>
                  <a:srgbClr val="000000"/>
                </a:solidFill>
                <a:latin typeface="Arial"/>
              </a:rPr>
              <a:t> fir (</a:t>
            </a:r>
          </a:p>
          <a:p>
            <a:pPr defTabSz="914400" fontAlgn="base">
              <a:spcBef>
                <a:spcPct val="0"/>
              </a:spcBef>
              <a:spcAft>
                <a:spcPct val="0"/>
              </a:spcAft>
              <a:tabLst>
                <a:tab pos="457200" algn="l"/>
              </a:tabLst>
              <a:defRPr/>
            </a:pPr>
            <a:r>
              <a:rPr lang="en-US" sz="1000" kern="0" dirty="0">
                <a:solidFill>
                  <a:srgbClr val="000000"/>
                </a:solidFill>
                <a:latin typeface="Arial"/>
              </a:rPr>
              <a:t>	</a:t>
            </a:r>
            <a:r>
              <a:rPr lang="en-US" sz="1000" kern="0" dirty="0" err="1">
                <a:solidFill>
                  <a:srgbClr val="000000"/>
                </a:solidFill>
                <a:latin typeface="Arial"/>
              </a:rPr>
              <a:t>data_t</a:t>
            </a:r>
            <a:r>
              <a:rPr lang="en-US" sz="1000" kern="0" dirty="0">
                <a:solidFill>
                  <a:srgbClr val="000000"/>
                </a:solidFill>
                <a:latin typeface="Arial"/>
              </a:rPr>
              <a:t> x</a:t>
            </a:r>
          </a:p>
          <a:p>
            <a:pPr defTabSz="914400" fontAlgn="base">
              <a:spcBef>
                <a:spcPct val="0"/>
              </a:spcBef>
              <a:spcAft>
                <a:spcPct val="0"/>
              </a:spcAft>
              <a:tabLst>
                <a:tab pos="457200" algn="l"/>
              </a:tabLst>
              <a:defRPr/>
            </a:pPr>
            <a:r>
              <a:rPr lang="en-US" sz="1000" kern="0" dirty="0">
                <a:solidFill>
                  <a:srgbClr val="000000"/>
                </a:solidFill>
                <a:latin typeface="Arial"/>
              </a:rPr>
              <a:t>      ) {</a:t>
            </a:r>
          </a:p>
          <a:p>
            <a:pPr defTabSz="914400" fontAlgn="base">
              <a:spcBef>
                <a:spcPct val="0"/>
              </a:spcBef>
              <a:spcAft>
                <a:spcPct val="0"/>
              </a:spcAft>
              <a:tabLst>
                <a:tab pos="457200" algn="l"/>
              </a:tabLst>
              <a:defRPr/>
            </a:pPr>
            <a:endParaRPr lang="en-US" sz="1000" kern="0" dirty="0">
              <a:solidFill>
                <a:srgbClr val="000000"/>
              </a:solidFill>
              <a:latin typeface="Arial"/>
            </a:endParaRPr>
          </a:p>
          <a:p>
            <a:pPr defTabSz="914400" fontAlgn="base">
              <a:spcBef>
                <a:spcPct val="0"/>
              </a:spcBef>
              <a:spcAft>
                <a:spcPct val="0"/>
              </a:spcAft>
              <a:tabLst>
                <a:tab pos="457200" algn="l"/>
              </a:tabLst>
              <a:defRPr/>
            </a:pPr>
            <a:r>
              <a:rPr lang="en-US" sz="1000" kern="0" dirty="0">
                <a:solidFill>
                  <a:srgbClr val="000000"/>
                </a:solidFill>
                <a:latin typeface="Arial"/>
              </a:rPr>
              <a:t>      static </a:t>
            </a:r>
            <a:r>
              <a:rPr lang="en-US" sz="1000" kern="0" dirty="0" err="1">
                <a:solidFill>
                  <a:srgbClr val="000000"/>
                </a:solidFill>
                <a:latin typeface="Arial"/>
              </a:rPr>
              <a:t>data_t</a:t>
            </a:r>
            <a:r>
              <a:rPr lang="en-US" sz="1000" kern="0" dirty="0">
                <a:solidFill>
                  <a:srgbClr val="000000"/>
                </a:solidFill>
                <a:latin typeface="Arial"/>
              </a:rPr>
              <a:t> </a:t>
            </a:r>
            <a:r>
              <a:rPr lang="en-US" sz="1000" kern="0" dirty="0" err="1">
                <a:solidFill>
                  <a:srgbClr val="000000"/>
                </a:solidFill>
                <a:latin typeface="Arial"/>
              </a:rPr>
              <a:t>shift_reg</a:t>
            </a:r>
            <a:r>
              <a:rPr lang="en-US" sz="1000" kern="0" dirty="0">
                <a:solidFill>
                  <a:srgbClr val="000000"/>
                </a:solidFill>
                <a:latin typeface="Arial"/>
              </a:rPr>
              <a:t>[N];</a:t>
            </a:r>
          </a:p>
          <a:p>
            <a:pPr defTabSz="914400" fontAlgn="base">
              <a:spcBef>
                <a:spcPct val="0"/>
              </a:spcBef>
              <a:spcAft>
                <a:spcPct val="0"/>
              </a:spcAft>
              <a:tabLst>
                <a:tab pos="457200" algn="l"/>
              </a:tabLst>
              <a:defRPr/>
            </a:pPr>
            <a:r>
              <a:rPr lang="en-US" sz="1000" kern="0" dirty="0">
                <a:solidFill>
                  <a:srgbClr val="000000"/>
                </a:solidFill>
                <a:latin typeface="Arial"/>
              </a:rPr>
              <a:t>      </a:t>
            </a:r>
            <a:r>
              <a:rPr lang="en-US" sz="1000" kern="0" dirty="0" err="1">
                <a:solidFill>
                  <a:srgbClr val="000000"/>
                </a:solidFill>
                <a:latin typeface="Arial"/>
              </a:rPr>
              <a:t>acc_t</a:t>
            </a:r>
            <a:r>
              <a:rPr lang="en-US" sz="1000" kern="0" dirty="0">
                <a:solidFill>
                  <a:srgbClr val="000000"/>
                </a:solidFill>
                <a:latin typeface="Arial"/>
              </a:rPr>
              <a:t> acc;</a:t>
            </a:r>
          </a:p>
          <a:p>
            <a:pPr defTabSz="914400" fontAlgn="base">
              <a:spcBef>
                <a:spcPct val="0"/>
              </a:spcBef>
              <a:spcAft>
                <a:spcPct val="0"/>
              </a:spcAft>
              <a:tabLst>
                <a:tab pos="457200" algn="l"/>
              </a:tabLst>
              <a:defRPr/>
            </a:pPr>
            <a:r>
              <a:rPr lang="en-US" sz="1000" kern="0" dirty="0">
                <a:solidFill>
                  <a:srgbClr val="000000"/>
                </a:solidFill>
                <a:latin typeface="Arial"/>
              </a:rPr>
              <a:t>      </a:t>
            </a:r>
            <a:r>
              <a:rPr lang="en-US" sz="1000" kern="0" dirty="0" err="1">
                <a:solidFill>
                  <a:srgbClr val="000000"/>
                </a:solidFill>
                <a:latin typeface="Arial"/>
              </a:rPr>
              <a:t>int</a:t>
            </a:r>
            <a:r>
              <a:rPr lang="en-US" sz="1000" kern="0" dirty="0">
                <a:solidFill>
                  <a:srgbClr val="000000"/>
                </a:solidFill>
                <a:latin typeface="Arial"/>
              </a:rPr>
              <a:t> </a:t>
            </a:r>
            <a:r>
              <a:rPr lang="en-US" sz="1000" kern="0" dirty="0" err="1">
                <a:solidFill>
                  <a:srgbClr val="000000"/>
                </a:solidFill>
                <a:latin typeface="Arial"/>
              </a:rPr>
              <a:t>i</a:t>
            </a:r>
            <a:r>
              <a:rPr lang="en-US" sz="1000" kern="0" dirty="0">
                <a:solidFill>
                  <a:srgbClr val="000000"/>
                </a:solidFill>
                <a:latin typeface="Arial"/>
              </a:rPr>
              <a:t>;</a:t>
            </a:r>
          </a:p>
          <a:p>
            <a:pPr defTabSz="914400" fontAlgn="base">
              <a:spcBef>
                <a:spcPct val="0"/>
              </a:spcBef>
              <a:spcAft>
                <a:spcPct val="0"/>
              </a:spcAft>
              <a:tabLst>
                <a:tab pos="457200" algn="l"/>
              </a:tabLst>
              <a:defRPr/>
            </a:pPr>
            <a:r>
              <a:rPr lang="en-US" sz="1000" kern="0" dirty="0">
                <a:solidFill>
                  <a:srgbClr val="000000"/>
                </a:solidFill>
                <a:latin typeface="Arial"/>
              </a:rPr>
              <a:t>  </a:t>
            </a:r>
          </a:p>
          <a:p>
            <a:pPr defTabSz="914400" fontAlgn="base">
              <a:spcBef>
                <a:spcPct val="50000"/>
              </a:spcBef>
              <a:spcAft>
                <a:spcPct val="0"/>
              </a:spcAft>
              <a:tabLst>
                <a:tab pos="457200" algn="l"/>
              </a:tabLst>
              <a:defRPr/>
            </a:pPr>
            <a:r>
              <a:rPr lang="en-US" altLang="zh-CN" sz="1000" kern="0" dirty="0">
                <a:solidFill>
                  <a:srgbClr val="000000"/>
                </a:solidFill>
                <a:latin typeface="Arial"/>
                <a:ea typeface="宋体" charset="-122"/>
              </a:rPr>
              <a:t>     const </a:t>
            </a:r>
            <a:r>
              <a:rPr lang="en-US" altLang="zh-CN" sz="1000" kern="0" dirty="0" err="1">
                <a:solidFill>
                  <a:srgbClr val="000000"/>
                </a:solidFill>
                <a:latin typeface="Arial"/>
                <a:ea typeface="宋体" charset="-122"/>
              </a:rPr>
              <a:t>coef_t</a:t>
            </a:r>
            <a:r>
              <a:rPr lang="en-US" altLang="zh-CN" sz="1000" kern="0" dirty="0">
                <a:solidFill>
                  <a:srgbClr val="000000"/>
                </a:solidFill>
                <a:latin typeface="Arial"/>
                <a:ea typeface="宋体" charset="-122"/>
              </a:rPr>
              <a:t> c[N+1]={</a:t>
            </a:r>
          </a:p>
          <a:p>
            <a:pPr defTabSz="914400" fontAlgn="base">
              <a:spcBef>
                <a:spcPct val="50000"/>
              </a:spcBef>
              <a:spcAft>
                <a:spcPct val="0"/>
              </a:spcAft>
              <a:tabLst>
                <a:tab pos="457200" algn="l"/>
              </a:tabLst>
              <a:defRPr/>
            </a:pPr>
            <a:r>
              <a:rPr lang="en-US" altLang="zh-CN" sz="1000" kern="0" dirty="0">
                <a:solidFill>
                  <a:srgbClr val="000000"/>
                </a:solidFill>
                <a:latin typeface="Arial"/>
                <a:ea typeface="宋体" charset="-122"/>
              </a:rPr>
              <a:t>#include "</a:t>
            </a:r>
            <a:r>
              <a:rPr lang="en-US" altLang="zh-CN" sz="1000" kern="0" dirty="0" err="1">
                <a:solidFill>
                  <a:srgbClr val="000000"/>
                </a:solidFill>
                <a:latin typeface="Arial"/>
                <a:ea typeface="宋体" charset="-122"/>
              </a:rPr>
              <a:t>fir_coef.h</a:t>
            </a:r>
            <a:r>
              <a:rPr lang="en-US" altLang="zh-CN" sz="1000" kern="0" dirty="0">
                <a:solidFill>
                  <a:srgbClr val="000000"/>
                </a:solidFill>
                <a:latin typeface="Arial"/>
                <a:ea typeface="宋体" charset="-122"/>
              </a:rPr>
              <a:t>"</a:t>
            </a:r>
          </a:p>
          <a:p>
            <a:pPr defTabSz="914400" fontAlgn="base">
              <a:spcBef>
                <a:spcPct val="50000"/>
              </a:spcBef>
              <a:spcAft>
                <a:spcPct val="0"/>
              </a:spcAft>
              <a:tabLst>
                <a:tab pos="457200" algn="l"/>
              </a:tabLst>
              <a:defRPr/>
            </a:pPr>
            <a:r>
              <a:rPr lang="en-US" altLang="zh-CN" sz="1000" kern="0" dirty="0">
                <a:solidFill>
                  <a:srgbClr val="000000"/>
                </a:solidFill>
                <a:latin typeface="Arial"/>
                <a:ea typeface="宋体" charset="-122"/>
              </a:rPr>
              <a:t>      };</a:t>
            </a:r>
          </a:p>
          <a:p>
            <a:pPr defTabSz="914400" fontAlgn="base">
              <a:spcBef>
                <a:spcPct val="50000"/>
              </a:spcBef>
              <a:spcAft>
                <a:spcPct val="0"/>
              </a:spcAft>
              <a:tabLst>
                <a:tab pos="457200" algn="l"/>
              </a:tabLst>
              <a:defRPr/>
            </a:pPr>
            <a:endParaRPr lang="en-US" sz="1000" kern="0" dirty="0">
              <a:solidFill>
                <a:srgbClr val="000000"/>
              </a:solidFill>
              <a:latin typeface="Arial"/>
            </a:endParaRPr>
          </a:p>
          <a:p>
            <a:pPr defTabSz="914400" fontAlgn="base">
              <a:spcBef>
                <a:spcPct val="0"/>
              </a:spcBef>
              <a:spcAft>
                <a:spcPct val="0"/>
              </a:spcAft>
              <a:tabLst>
                <a:tab pos="457200" algn="l"/>
              </a:tabLst>
              <a:defRPr/>
            </a:pPr>
            <a:r>
              <a:rPr lang="en-US" sz="1000" kern="0" dirty="0">
                <a:solidFill>
                  <a:srgbClr val="000000"/>
                </a:solidFill>
                <a:latin typeface="Arial"/>
              </a:rPr>
              <a:t>      acc=0;</a:t>
            </a:r>
          </a:p>
          <a:p>
            <a:pPr defTabSz="914400" fontAlgn="base">
              <a:spcBef>
                <a:spcPct val="0"/>
              </a:spcBef>
              <a:spcAft>
                <a:spcPct val="0"/>
              </a:spcAft>
              <a:tabLst>
                <a:tab pos="457200" algn="l"/>
              </a:tabLst>
              <a:defRPr/>
            </a:pPr>
            <a:r>
              <a:rPr lang="en-US" sz="1000" kern="0" dirty="0">
                <a:solidFill>
                  <a:srgbClr val="000000"/>
                </a:solidFill>
                <a:latin typeface="Arial"/>
              </a:rPr>
              <a:t>      </a:t>
            </a:r>
            <a:r>
              <a:rPr lang="en-US" sz="1000" b="1" kern="0" dirty="0" err="1">
                <a:solidFill>
                  <a:srgbClr val="000000"/>
                </a:solidFill>
                <a:latin typeface="Arial"/>
              </a:rPr>
              <a:t>mac_loop</a:t>
            </a:r>
            <a:r>
              <a:rPr lang="en-US" sz="1000" kern="0" dirty="0">
                <a:solidFill>
                  <a:srgbClr val="000000"/>
                </a:solidFill>
                <a:latin typeface="Arial"/>
              </a:rPr>
              <a:t>: for (</a:t>
            </a:r>
            <a:r>
              <a:rPr lang="en-US" sz="1000" kern="0" dirty="0" err="1">
                <a:solidFill>
                  <a:srgbClr val="000000"/>
                </a:solidFill>
                <a:latin typeface="Arial"/>
              </a:rPr>
              <a:t>i</a:t>
            </a:r>
            <a:r>
              <a:rPr lang="en-US" sz="1000" kern="0" dirty="0">
                <a:solidFill>
                  <a:srgbClr val="000000"/>
                </a:solidFill>
                <a:latin typeface="Arial"/>
              </a:rPr>
              <a:t>=N-1;i&gt;=0;i--) {</a:t>
            </a:r>
          </a:p>
          <a:p>
            <a:pPr defTabSz="914400" fontAlgn="base">
              <a:spcBef>
                <a:spcPct val="0"/>
              </a:spcBef>
              <a:spcAft>
                <a:spcPct val="0"/>
              </a:spcAft>
              <a:tabLst>
                <a:tab pos="457200" algn="l"/>
              </a:tabLst>
              <a:defRPr/>
            </a:pPr>
            <a:r>
              <a:rPr lang="en-US" sz="1000" kern="0" dirty="0">
                <a:solidFill>
                  <a:srgbClr val="000000"/>
                </a:solidFill>
                <a:latin typeface="Arial"/>
              </a:rPr>
              <a:t>         if (</a:t>
            </a:r>
            <a:r>
              <a:rPr lang="en-US" sz="1000" kern="0" dirty="0" err="1">
                <a:solidFill>
                  <a:srgbClr val="000000"/>
                </a:solidFill>
                <a:latin typeface="Arial"/>
              </a:rPr>
              <a:t>i</a:t>
            </a:r>
            <a:r>
              <a:rPr lang="en-US" sz="1000" kern="0" dirty="0">
                <a:solidFill>
                  <a:srgbClr val="000000"/>
                </a:solidFill>
                <a:latin typeface="Arial"/>
              </a:rPr>
              <a:t>==0) {</a:t>
            </a:r>
          </a:p>
          <a:p>
            <a:pPr defTabSz="914400" fontAlgn="base">
              <a:spcBef>
                <a:spcPct val="0"/>
              </a:spcBef>
              <a:spcAft>
                <a:spcPct val="0"/>
              </a:spcAft>
              <a:tabLst>
                <a:tab pos="457200" algn="l"/>
              </a:tabLst>
              <a:defRPr/>
            </a:pPr>
            <a:r>
              <a:rPr lang="en-US" sz="1000" kern="0" dirty="0">
                <a:solidFill>
                  <a:srgbClr val="000000"/>
                </a:solidFill>
                <a:latin typeface="Arial"/>
              </a:rPr>
              <a:t>           acc+=x*c[0];</a:t>
            </a:r>
          </a:p>
          <a:p>
            <a:pPr defTabSz="914400" fontAlgn="base">
              <a:spcBef>
                <a:spcPct val="0"/>
              </a:spcBef>
              <a:spcAft>
                <a:spcPct val="0"/>
              </a:spcAft>
              <a:tabLst>
                <a:tab pos="457200" algn="l"/>
              </a:tabLst>
              <a:defRPr/>
            </a:pPr>
            <a:r>
              <a:rPr lang="en-US" sz="1000" kern="0" dirty="0">
                <a:solidFill>
                  <a:srgbClr val="000000"/>
                </a:solidFill>
                <a:latin typeface="Arial"/>
              </a:rPr>
              <a:t>           </a:t>
            </a:r>
            <a:r>
              <a:rPr lang="en-US" sz="1000" kern="0" dirty="0" err="1">
                <a:solidFill>
                  <a:srgbClr val="000000"/>
                </a:solidFill>
                <a:latin typeface="Arial"/>
              </a:rPr>
              <a:t>shift_reg</a:t>
            </a:r>
            <a:r>
              <a:rPr lang="en-US" sz="1000" kern="0" dirty="0">
                <a:solidFill>
                  <a:srgbClr val="000000"/>
                </a:solidFill>
                <a:latin typeface="Arial"/>
              </a:rPr>
              <a:t>[0]=x;</a:t>
            </a:r>
          </a:p>
          <a:p>
            <a:pPr defTabSz="914400" fontAlgn="base">
              <a:spcBef>
                <a:spcPct val="0"/>
              </a:spcBef>
              <a:spcAft>
                <a:spcPct val="0"/>
              </a:spcAft>
              <a:tabLst>
                <a:tab pos="457200" algn="l"/>
              </a:tabLst>
              <a:defRPr/>
            </a:pPr>
            <a:r>
              <a:rPr lang="en-US" sz="1000" kern="0" dirty="0">
                <a:solidFill>
                  <a:srgbClr val="000000"/>
                </a:solidFill>
                <a:latin typeface="Arial"/>
              </a:rPr>
              <a:t>         } else {</a:t>
            </a:r>
          </a:p>
          <a:p>
            <a:pPr defTabSz="914400" fontAlgn="base">
              <a:spcBef>
                <a:spcPct val="0"/>
              </a:spcBef>
              <a:spcAft>
                <a:spcPct val="0"/>
              </a:spcAft>
              <a:tabLst>
                <a:tab pos="457200" algn="l"/>
              </a:tabLst>
              <a:defRPr/>
            </a:pPr>
            <a:r>
              <a:rPr lang="en-US" sz="1000" kern="0" dirty="0">
                <a:solidFill>
                  <a:srgbClr val="000000"/>
                </a:solidFill>
                <a:latin typeface="Arial"/>
              </a:rPr>
              <a:t>           </a:t>
            </a:r>
            <a:r>
              <a:rPr lang="en-US" sz="1000" kern="0" dirty="0" err="1">
                <a:solidFill>
                  <a:srgbClr val="000000"/>
                </a:solidFill>
                <a:latin typeface="Arial"/>
              </a:rPr>
              <a:t>shift_reg</a:t>
            </a:r>
            <a:r>
              <a:rPr lang="en-US" sz="1000" kern="0" dirty="0">
                <a:solidFill>
                  <a:srgbClr val="000000"/>
                </a:solidFill>
                <a:latin typeface="Arial"/>
              </a:rPr>
              <a:t>[</a:t>
            </a:r>
            <a:r>
              <a:rPr lang="en-US" sz="1000" kern="0" dirty="0" err="1">
                <a:solidFill>
                  <a:srgbClr val="000000"/>
                </a:solidFill>
                <a:latin typeface="Arial"/>
              </a:rPr>
              <a:t>i</a:t>
            </a:r>
            <a:r>
              <a:rPr lang="en-US" sz="1000" kern="0" dirty="0">
                <a:solidFill>
                  <a:srgbClr val="000000"/>
                </a:solidFill>
                <a:latin typeface="Arial"/>
              </a:rPr>
              <a:t>]=</a:t>
            </a:r>
            <a:r>
              <a:rPr lang="en-US" sz="1000" kern="0" dirty="0" err="1">
                <a:solidFill>
                  <a:srgbClr val="000000"/>
                </a:solidFill>
                <a:latin typeface="Arial"/>
              </a:rPr>
              <a:t>shift_reg</a:t>
            </a:r>
            <a:r>
              <a:rPr lang="en-US" sz="1000" kern="0" dirty="0">
                <a:solidFill>
                  <a:srgbClr val="000000"/>
                </a:solidFill>
                <a:latin typeface="Arial"/>
              </a:rPr>
              <a:t>[i-1];  </a:t>
            </a:r>
          </a:p>
          <a:p>
            <a:pPr defTabSz="914400" fontAlgn="base">
              <a:spcBef>
                <a:spcPct val="0"/>
              </a:spcBef>
              <a:spcAft>
                <a:spcPct val="0"/>
              </a:spcAft>
              <a:tabLst>
                <a:tab pos="457200" algn="l"/>
              </a:tabLst>
              <a:defRPr/>
            </a:pPr>
            <a:r>
              <a:rPr lang="en-US" sz="1000" kern="0" dirty="0">
                <a:solidFill>
                  <a:srgbClr val="000000"/>
                </a:solidFill>
                <a:latin typeface="Arial"/>
              </a:rPr>
              <a:t>           acc+=</a:t>
            </a:r>
            <a:r>
              <a:rPr lang="en-US" sz="1000" kern="0" dirty="0" err="1">
                <a:solidFill>
                  <a:srgbClr val="000000"/>
                </a:solidFill>
                <a:latin typeface="Arial"/>
              </a:rPr>
              <a:t>shift_reg</a:t>
            </a:r>
            <a:r>
              <a:rPr lang="en-US" sz="1000" kern="0" dirty="0">
                <a:solidFill>
                  <a:srgbClr val="000000"/>
                </a:solidFill>
                <a:latin typeface="Arial"/>
              </a:rPr>
              <a:t>[</a:t>
            </a:r>
            <a:r>
              <a:rPr lang="en-US" sz="1000" kern="0" dirty="0" err="1">
                <a:solidFill>
                  <a:srgbClr val="000000"/>
                </a:solidFill>
                <a:latin typeface="Arial"/>
              </a:rPr>
              <a:t>i</a:t>
            </a:r>
            <a:r>
              <a:rPr lang="en-US" sz="1000" kern="0" dirty="0">
                <a:solidFill>
                  <a:srgbClr val="000000"/>
                </a:solidFill>
                <a:latin typeface="Arial"/>
              </a:rPr>
              <a:t>]*c[</a:t>
            </a:r>
            <a:r>
              <a:rPr lang="en-US" sz="1000" kern="0" dirty="0" err="1">
                <a:solidFill>
                  <a:srgbClr val="000000"/>
                </a:solidFill>
                <a:latin typeface="Arial"/>
              </a:rPr>
              <a:t>i</a:t>
            </a:r>
            <a:r>
              <a:rPr lang="en-US" sz="1000" kern="0" dirty="0">
                <a:solidFill>
                  <a:srgbClr val="000000"/>
                </a:solidFill>
                <a:latin typeface="Arial"/>
              </a:rPr>
              <a:t>];</a:t>
            </a:r>
          </a:p>
          <a:p>
            <a:pPr defTabSz="914400" fontAlgn="base">
              <a:spcBef>
                <a:spcPct val="0"/>
              </a:spcBef>
              <a:spcAft>
                <a:spcPct val="0"/>
              </a:spcAft>
              <a:tabLst>
                <a:tab pos="457200" algn="l"/>
              </a:tabLst>
              <a:defRPr/>
            </a:pPr>
            <a:r>
              <a:rPr lang="en-US" sz="1000" kern="0" dirty="0">
                <a:solidFill>
                  <a:srgbClr val="000000"/>
                </a:solidFill>
                <a:latin typeface="Arial"/>
              </a:rPr>
              <a:t>         }</a:t>
            </a:r>
          </a:p>
          <a:p>
            <a:pPr defTabSz="914400" fontAlgn="base">
              <a:spcBef>
                <a:spcPct val="0"/>
              </a:spcBef>
              <a:spcAft>
                <a:spcPct val="0"/>
              </a:spcAft>
              <a:tabLst>
                <a:tab pos="457200" algn="l"/>
              </a:tabLst>
              <a:defRPr/>
            </a:pPr>
            <a:r>
              <a:rPr lang="en-US" sz="1000" kern="0" dirty="0">
                <a:solidFill>
                  <a:srgbClr val="000000"/>
                </a:solidFill>
                <a:latin typeface="Arial"/>
              </a:rPr>
              <a:t>      }</a:t>
            </a:r>
          </a:p>
          <a:p>
            <a:pPr defTabSz="914400" fontAlgn="base">
              <a:spcBef>
                <a:spcPct val="0"/>
              </a:spcBef>
              <a:spcAft>
                <a:spcPct val="0"/>
              </a:spcAft>
              <a:tabLst>
                <a:tab pos="457200" algn="l"/>
              </a:tabLst>
              <a:defRPr/>
            </a:pPr>
            <a:endParaRPr lang="en-US" sz="1000" kern="0" dirty="0">
              <a:solidFill>
                <a:srgbClr val="000000"/>
              </a:solidFill>
              <a:latin typeface="Arial"/>
            </a:endParaRPr>
          </a:p>
          <a:p>
            <a:pPr defTabSz="914400" fontAlgn="base">
              <a:spcBef>
                <a:spcPct val="0"/>
              </a:spcBef>
              <a:spcAft>
                <a:spcPct val="0"/>
              </a:spcAft>
              <a:tabLst>
                <a:tab pos="457200" algn="l"/>
              </a:tabLst>
              <a:defRPr/>
            </a:pPr>
            <a:r>
              <a:rPr lang="en-US" sz="1000" kern="0" dirty="0">
                <a:solidFill>
                  <a:srgbClr val="000000"/>
                </a:solidFill>
                <a:latin typeface="Arial"/>
              </a:rPr>
              <a:t>      return=acc;</a:t>
            </a:r>
          </a:p>
          <a:p>
            <a:pPr defTabSz="914400" fontAlgn="base">
              <a:spcBef>
                <a:spcPct val="0"/>
              </a:spcBef>
              <a:spcAft>
                <a:spcPct val="0"/>
              </a:spcAft>
              <a:tabLst>
                <a:tab pos="457200" algn="l"/>
              </a:tabLst>
              <a:defRPr/>
            </a:pPr>
            <a:r>
              <a:rPr lang="en-US" sz="1000" kern="0" dirty="0">
                <a:solidFill>
                  <a:srgbClr val="000000"/>
                </a:solidFill>
                <a:latin typeface="Arial"/>
              </a:rPr>
              <a:t>     }</a:t>
            </a:r>
          </a:p>
        </p:txBody>
      </p:sp>
      <p:cxnSp>
        <p:nvCxnSpPr>
          <p:cNvPr id="14" name="Straight Arrow Connector 13">
            <a:extLst>
              <a:ext uri="{FF2B5EF4-FFF2-40B4-BE49-F238E27FC236}">
                <a16:creationId xmlns:a16="http://schemas.microsoft.com/office/drawing/2014/main" id="{91F9F5B1-C897-4188-B71B-C7A8B8E471CB}"/>
              </a:ext>
            </a:extLst>
          </p:cNvPr>
          <p:cNvCxnSpPr/>
          <p:nvPr/>
        </p:nvCxnSpPr>
        <p:spPr>
          <a:xfrm flipH="1">
            <a:off x="8297317" y="3659430"/>
            <a:ext cx="1638185" cy="0"/>
          </a:xfrm>
          <a:prstGeom prst="straightConnector1">
            <a:avLst/>
          </a:prstGeom>
          <a:noFill/>
          <a:ln w="38100" cap="flat" cmpd="sng" algn="ctr">
            <a:solidFill>
              <a:srgbClr val="000000"/>
            </a:solidFill>
            <a:prstDash val="solid"/>
            <a:headEnd type="none" w="med" len="med"/>
            <a:tailEnd type="triangle" w="med" len="med"/>
          </a:ln>
          <a:effectLst>
            <a:outerShdw blurRad="40000" dist="20000" dir="5400000" rotWithShape="0">
              <a:srgbClr val="000000">
                <a:alpha val="38000"/>
              </a:srgbClr>
            </a:outerShdw>
          </a:effectLst>
        </p:spPr>
      </p:cxnSp>
      <p:sp>
        <p:nvSpPr>
          <p:cNvPr id="17" name="TextBox 16">
            <a:extLst>
              <a:ext uri="{FF2B5EF4-FFF2-40B4-BE49-F238E27FC236}">
                <a16:creationId xmlns:a16="http://schemas.microsoft.com/office/drawing/2014/main" id="{D6F4EF95-C223-4082-96E9-7EE7B03DEB0A}"/>
              </a:ext>
            </a:extLst>
          </p:cNvPr>
          <p:cNvSpPr txBox="1"/>
          <p:nvPr/>
        </p:nvSpPr>
        <p:spPr>
          <a:xfrm>
            <a:off x="8727513" y="1854395"/>
            <a:ext cx="431528" cy="253916"/>
          </a:xfrm>
          <a:prstGeom prst="rect">
            <a:avLst/>
          </a:prstGeom>
          <a:solidFill>
            <a:srgbClr val="7030A0"/>
          </a:solidFill>
          <a:ln w="9525" cap="flat" cmpd="sng" algn="ctr">
            <a:solidFill>
              <a:srgbClr val="3F3F3F">
                <a:shade val="95000"/>
                <a:satMod val="105000"/>
              </a:srgbClr>
            </a:solidFill>
            <a:prstDash val="solid"/>
          </a:ln>
          <a:effectLst>
            <a:outerShdw blurRad="40000" dist="23000" dir="5400000" rotWithShape="0">
              <a:srgbClr val="000000">
                <a:alpha val="35000"/>
              </a:srgbClr>
            </a:outerShdw>
          </a:effectLst>
        </p:spPr>
        <p:txBody>
          <a:bodyPr wrap="none" rtlCol="0">
            <a:spAutoFit/>
          </a:bodyPr>
          <a:lstStyle/>
          <a:p>
            <a:pPr algn="ctr" defTabSz="914400" fontAlgn="base">
              <a:spcBef>
                <a:spcPct val="0"/>
              </a:spcBef>
              <a:spcAft>
                <a:spcPct val="0"/>
              </a:spcAft>
              <a:defRPr/>
            </a:pPr>
            <a:r>
              <a:rPr lang="en-US" sz="1050" b="1" kern="0" dirty="0" err="1">
                <a:solidFill>
                  <a:srgbClr val="FFFFFF"/>
                </a:solidFill>
                <a:latin typeface="Arial"/>
              </a:rPr>
              <a:t>fir.c</a:t>
            </a:r>
            <a:endParaRPr lang="en-US" sz="1050" b="1" kern="0" dirty="0">
              <a:solidFill>
                <a:srgbClr val="FFFFFF"/>
              </a:solidFill>
              <a:latin typeface="Arial"/>
            </a:endParaRPr>
          </a:p>
        </p:txBody>
      </p:sp>
      <p:sp>
        <p:nvSpPr>
          <p:cNvPr id="18" name="TextBox 17">
            <a:extLst>
              <a:ext uri="{FF2B5EF4-FFF2-40B4-BE49-F238E27FC236}">
                <a16:creationId xmlns:a16="http://schemas.microsoft.com/office/drawing/2014/main" id="{54C2B479-C3B8-4F01-8943-87AA3C245943}"/>
              </a:ext>
            </a:extLst>
          </p:cNvPr>
          <p:cNvSpPr txBox="1"/>
          <p:nvPr/>
        </p:nvSpPr>
        <p:spPr>
          <a:xfrm>
            <a:off x="10037888" y="2872856"/>
            <a:ext cx="716707" cy="1785104"/>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defRPr/>
            </a:pPr>
            <a:r>
              <a:rPr lang="en-US" sz="1000" kern="0" dirty="0">
                <a:solidFill>
                  <a:srgbClr val="000000"/>
                </a:solidFill>
                <a:latin typeface="Arial"/>
              </a:rPr>
              <a:t>-1,</a:t>
            </a:r>
          </a:p>
          <a:p>
            <a:pPr defTabSz="914400" fontAlgn="base">
              <a:spcBef>
                <a:spcPct val="0"/>
              </a:spcBef>
              <a:spcAft>
                <a:spcPct val="0"/>
              </a:spcAft>
              <a:defRPr/>
            </a:pPr>
            <a:r>
              <a:rPr lang="en-US" sz="1000" kern="0" dirty="0">
                <a:solidFill>
                  <a:srgbClr val="000000"/>
                </a:solidFill>
                <a:latin typeface="Arial"/>
              </a:rPr>
              <a:t>-20,</a:t>
            </a:r>
          </a:p>
          <a:p>
            <a:pPr defTabSz="914400" fontAlgn="base">
              <a:spcBef>
                <a:spcPct val="0"/>
              </a:spcBef>
              <a:spcAft>
                <a:spcPct val="0"/>
              </a:spcAft>
              <a:defRPr/>
            </a:pPr>
            <a:r>
              <a:rPr lang="en-US" sz="1000" kern="0" dirty="0">
                <a:solidFill>
                  <a:srgbClr val="000000"/>
                </a:solidFill>
                <a:latin typeface="Arial"/>
              </a:rPr>
              <a:t>-19,</a:t>
            </a:r>
          </a:p>
          <a:p>
            <a:pPr defTabSz="914400" fontAlgn="base">
              <a:spcBef>
                <a:spcPct val="0"/>
              </a:spcBef>
              <a:spcAft>
                <a:spcPct val="0"/>
              </a:spcAft>
              <a:defRPr/>
            </a:pPr>
            <a:r>
              <a:rPr lang="en-US" sz="1000" kern="0" dirty="0">
                <a:solidFill>
                  <a:srgbClr val="000000"/>
                </a:solidFill>
                <a:latin typeface="Arial"/>
              </a:rPr>
              <a:t>84,</a:t>
            </a:r>
          </a:p>
          <a:p>
            <a:pPr defTabSz="914400" fontAlgn="base">
              <a:spcBef>
                <a:spcPct val="0"/>
              </a:spcBef>
              <a:spcAft>
                <a:spcPct val="0"/>
              </a:spcAft>
              <a:defRPr/>
            </a:pPr>
            <a:r>
              <a:rPr lang="en-US" sz="1000" kern="0" dirty="0">
                <a:solidFill>
                  <a:srgbClr val="000000"/>
                </a:solidFill>
                <a:latin typeface="Arial"/>
              </a:rPr>
              <a:t>271,</a:t>
            </a:r>
          </a:p>
          <a:p>
            <a:pPr defTabSz="914400" fontAlgn="base">
              <a:spcBef>
                <a:spcPct val="0"/>
              </a:spcBef>
              <a:spcAft>
                <a:spcPct val="0"/>
              </a:spcAft>
              <a:defRPr/>
            </a:pPr>
            <a:r>
              <a:rPr lang="en-US" sz="1000" kern="0" dirty="0">
                <a:solidFill>
                  <a:srgbClr val="000000"/>
                </a:solidFill>
                <a:latin typeface="Arial"/>
              </a:rPr>
              <a:t>370,</a:t>
            </a:r>
          </a:p>
          <a:p>
            <a:pPr defTabSz="914400" fontAlgn="base">
              <a:spcBef>
                <a:spcPct val="0"/>
              </a:spcBef>
              <a:spcAft>
                <a:spcPct val="0"/>
              </a:spcAft>
              <a:defRPr/>
            </a:pPr>
            <a:r>
              <a:rPr lang="en-US" sz="1000" kern="0" dirty="0">
                <a:solidFill>
                  <a:srgbClr val="000000"/>
                </a:solidFill>
                <a:latin typeface="Arial"/>
              </a:rPr>
              <a:t>271,</a:t>
            </a:r>
          </a:p>
          <a:p>
            <a:pPr defTabSz="914400" fontAlgn="base">
              <a:spcBef>
                <a:spcPct val="0"/>
              </a:spcBef>
              <a:spcAft>
                <a:spcPct val="0"/>
              </a:spcAft>
              <a:defRPr/>
            </a:pPr>
            <a:r>
              <a:rPr lang="en-US" sz="1000" kern="0" dirty="0">
                <a:solidFill>
                  <a:srgbClr val="000000"/>
                </a:solidFill>
                <a:latin typeface="Arial"/>
              </a:rPr>
              <a:t>88,</a:t>
            </a:r>
          </a:p>
          <a:p>
            <a:pPr defTabSz="914400" fontAlgn="base">
              <a:spcBef>
                <a:spcPct val="0"/>
              </a:spcBef>
              <a:spcAft>
                <a:spcPct val="0"/>
              </a:spcAft>
              <a:defRPr/>
            </a:pPr>
            <a:r>
              <a:rPr lang="en-US" sz="1000" kern="0" dirty="0">
                <a:solidFill>
                  <a:srgbClr val="000000"/>
                </a:solidFill>
                <a:latin typeface="Arial"/>
              </a:rPr>
              <a:t>-19,</a:t>
            </a:r>
          </a:p>
          <a:p>
            <a:pPr defTabSz="914400" fontAlgn="base">
              <a:spcBef>
                <a:spcPct val="0"/>
              </a:spcBef>
              <a:spcAft>
                <a:spcPct val="0"/>
              </a:spcAft>
              <a:defRPr/>
            </a:pPr>
            <a:r>
              <a:rPr lang="en-US" sz="1000" kern="0" dirty="0">
                <a:solidFill>
                  <a:srgbClr val="000000"/>
                </a:solidFill>
                <a:latin typeface="Arial"/>
              </a:rPr>
              <a:t>-20,</a:t>
            </a:r>
          </a:p>
          <a:p>
            <a:pPr defTabSz="914400" fontAlgn="base">
              <a:spcBef>
                <a:spcPct val="0"/>
              </a:spcBef>
              <a:spcAft>
                <a:spcPct val="0"/>
              </a:spcAft>
              <a:defRPr/>
            </a:pPr>
            <a:r>
              <a:rPr lang="en-US" sz="1000" kern="0" dirty="0">
                <a:solidFill>
                  <a:srgbClr val="000000"/>
                </a:solidFill>
                <a:latin typeface="Arial"/>
              </a:rPr>
              <a:t>-1,</a:t>
            </a:r>
          </a:p>
        </p:txBody>
      </p:sp>
      <p:sp>
        <p:nvSpPr>
          <p:cNvPr id="19" name="TextBox 18">
            <a:extLst>
              <a:ext uri="{FF2B5EF4-FFF2-40B4-BE49-F238E27FC236}">
                <a16:creationId xmlns:a16="http://schemas.microsoft.com/office/drawing/2014/main" id="{0D749868-CFD9-40CF-BC02-1BDD29E33251}"/>
              </a:ext>
            </a:extLst>
          </p:cNvPr>
          <p:cNvSpPr txBox="1"/>
          <p:nvPr/>
        </p:nvSpPr>
        <p:spPr>
          <a:xfrm>
            <a:off x="9833114" y="2565616"/>
            <a:ext cx="1228640" cy="253916"/>
          </a:xfrm>
          <a:prstGeom prst="rect">
            <a:avLst/>
          </a:prstGeom>
          <a:solidFill>
            <a:srgbClr val="7030A0"/>
          </a:solidFill>
          <a:ln w="9525" cap="flat" cmpd="sng" algn="ctr">
            <a:solidFill>
              <a:srgbClr val="3F3F3F">
                <a:shade val="95000"/>
                <a:satMod val="105000"/>
              </a:srgbClr>
            </a:solidFill>
            <a:prstDash val="solid"/>
          </a:ln>
          <a:effectLst>
            <a:outerShdw blurRad="40000" dist="23000" dir="5400000" rotWithShape="0">
              <a:srgbClr val="000000">
                <a:alpha val="35000"/>
              </a:srgbClr>
            </a:outerShdw>
          </a:effectLst>
        </p:spPr>
        <p:txBody>
          <a:bodyPr wrap="square" rtlCol="0">
            <a:spAutoFit/>
          </a:bodyPr>
          <a:lstStyle/>
          <a:p>
            <a:pPr algn="ctr" defTabSz="914400" fontAlgn="base">
              <a:spcBef>
                <a:spcPct val="0"/>
              </a:spcBef>
              <a:spcAft>
                <a:spcPct val="0"/>
              </a:spcAft>
              <a:defRPr/>
            </a:pPr>
            <a:r>
              <a:rPr lang="en-US" sz="1050" b="1" kern="0" dirty="0" err="1">
                <a:solidFill>
                  <a:srgbClr val="FFFFFF"/>
                </a:solidFill>
                <a:latin typeface="Arial"/>
              </a:rPr>
              <a:t>fir_coeff.h</a:t>
            </a:r>
            <a:endParaRPr lang="en-US" sz="1050" b="1" kern="0" dirty="0">
              <a:solidFill>
                <a:srgbClr val="FFFFFF"/>
              </a:solidFill>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Arrays to RAMs : Initialization</a:t>
            </a:r>
          </a:p>
        </p:txBody>
      </p:sp>
      <p:sp>
        <p:nvSpPr>
          <p:cNvPr id="3" name="Content Placeholder 2"/>
          <p:cNvSpPr>
            <a:spLocks noGrp="1"/>
          </p:cNvSpPr>
          <p:nvPr>
            <p:ph idx="1"/>
          </p:nvPr>
        </p:nvSpPr>
        <p:spPr/>
        <p:txBody>
          <a:bodyPr>
            <a:noAutofit/>
          </a:bodyPr>
          <a:lstStyle/>
          <a:p>
            <a:r>
              <a:rPr lang="en-US" sz="1800" dirty="0"/>
              <a:t>Static and Const have great impact on array implementation</a:t>
            </a:r>
          </a:p>
          <a:p>
            <a:pPr lvl="1"/>
            <a:r>
              <a:rPr lang="en-US" sz="1600" dirty="0"/>
              <a:t>Const, as shown on previous slide, implies a ROM</a:t>
            </a:r>
          </a:p>
          <a:p>
            <a:pPr lvl="1"/>
            <a:r>
              <a:rPr lang="en-US" sz="1600" dirty="0"/>
              <a:t>Static can impact how RAMs are initialized</a:t>
            </a:r>
          </a:p>
          <a:p>
            <a:r>
              <a:rPr lang="en-US" sz="1800" dirty="0"/>
              <a:t>A typical coding style changes</a:t>
            </a:r>
          </a:p>
          <a:p>
            <a:pPr lvl="1"/>
            <a:endParaRPr lang="en-US" sz="1600" dirty="0"/>
          </a:p>
          <a:p>
            <a:pPr lvl="1">
              <a:buNone/>
            </a:pPr>
            <a:endParaRPr lang="en-US" sz="1600" dirty="0"/>
          </a:p>
          <a:p>
            <a:pPr lvl="1"/>
            <a:r>
              <a:rPr lang="en-US" sz="1600" dirty="0"/>
              <a:t>Implies </a:t>
            </a:r>
            <a:r>
              <a:rPr lang="en-US" sz="1600" dirty="0" err="1"/>
              <a:t>coeff</a:t>
            </a:r>
            <a:r>
              <a:rPr lang="en-US" sz="1600" dirty="0"/>
              <a:t> is set each time the function is executed</a:t>
            </a:r>
          </a:p>
          <a:p>
            <a:pPr lvl="1"/>
            <a:r>
              <a:rPr lang="en-US" sz="1600" dirty="0"/>
              <a:t>Resets in the RAM being explicitly loaded each transaction</a:t>
            </a:r>
          </a:p>
          <a:p>
            <a:pPr lvl="2"/>
            <a:r>
              <a:rPr lang="en-US" sz="1400" dirty="0"/>
              <a:t>Costs clock cycles</a:t>
            </a:r>
          </a:p>
          <a:p>
            <a:pPr lvl="1"/>
            <a:r>
              <a:rPr lang="en-US" sz="1600" dirty="0"/>
              <a:t>The array can be initialized as a static</a:t>
            </a:r>
          </a:p>
          <a:p>
            <a:pPr lvl="1"/>
            <a:endParaRPr lang="en-US" sz="1600" dirty="0"/>
          </a:p>
          <a:p>
            <a:pPr lvl="1"/>
            <a:endParaRPr lang="en-US" sz="1600" dirty="0"/>
          </a:p>
          <a:p>
            <a:pPr lvl="1"/>
            <a:r>
              <a:rPr lang="en-US" sz="1600" dirty="0"/>
              <a:t>Statics are initialized at “start up” only</a:t>
            </a:r>
          </a:p>
          <a:p>
            <a:pPr lvl="2"/>
            <a:r>
              <a:rPr lang="en-US" sz="1400" dirty="0"/>
              <a:t>In the C, in the RTL via bitstream</a:t>
            </a:r>
          </a:p>
        </p:txBody>
      </p:sp>
      <p:sp>
        <p:nvSpPr>
          <p:cNvPr id="113" name="Slide Number Placeholder 5">
            <a:extLst>
              <a:ext uri="{FF2B5EF4-FFF2-40B4-BE49-F238E27FC236}">
                <a16:creationId xmlns:a16="http://schemas.microsoft.com/office/drawing/2014/main" id="{0A30A4D1-F634-48EF-9D40-89E2C14AAD7F}"/>
              </a:ext>
            </a:extLst>
          </p:cNvPr>
          <p:cNvSpPr>
            <a:spLocks noGrp="1"/>
          </p:cNvSpPr>
          <p:nvPr>
            <p:ph type="sldNum" sz="quarter" idx="4"/>
          </p:nvPr>
        </p:nvSpPr>
        <p:spPr/>
        <p:txBody>
          <a:bodyPr/>
          <a:lstStyle/>
          <a:p>
            <a:pPr>
              <a:defRPr/>
            </a:pPr>
            <a:r>
              <a:rPr lang="en-US" dirty="0"/>
              <a:t>Coding Considerations 23- </a:t>
            </a:r>
            <a:fld id="{060BD193-E118-4B16-863C-C8C12C675E3E}" type="slidenum">
              <a:rPr lang="en-US" smtClean="0"/>
              <a:pPr>
                <a:defRPr/>
              </a:pPr>
              <a:t>14</a:t>
            </a:fld>
            <a:endParaRPr lang="en-US" dirty="0"/>
          </a:p>
        </p:txBody>
      </p:sp>
      <p:sp>
        <p:nvSpPr>
          <p:cNvPr id="117" name="TextBox 116">
            <a:extLst>
              <a:ext uri="{FF2B5EF4-FFF2-40B4-BE49-F238E27FC236}">
                <a16:creationId xmlns:a16="http://schemas.microsoft.com/office/drawing/2014/main" id="{ED5E7939-669D-4A31-B4A9-05DFC7531A5D}"/>
              </a:ext>
            </a:extLst>
          </p:cNvPr>
          <p:cNvSpPr txBox="1"/>
          <p:nvPr/>
        </p:nvSpPr>
        <p:spPr>
          <a:xfrm>
            <a:off x="1386216" y="2932942"/>
            <a:ext cx="4044273" cy="507831"/>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defRPr/>
            </a:pPr>
            <a:endParaRPr lang="en-US" sz="900" b="1" kern="0" dirty="0">
              <a:solidFill>
                <a:srgbClr val="000000"/>
              </a:solidFill>
              <a:latin typeface="Arial"/>
            </a:endParaRPr>
          </a:p>
          <a:p>
            <a:pPr defTabSz="914400" fontAlgn="base">
              <a:spcBef>
                <a:spcPct val="0"/>
              </a:spcBef>
              <a:spcAft>
                <a:spcPct val="0"/>
              </a:spcAft>
              <a:defRPr/>
            </a:pPr>
            <a:r>
              <a:rPr lang="en-US" sz="900" b="1" kern="0" dirty="0">
                <a:solidFill>
                  <a:srgbClr val="000000"/>
                </a:solidFill>
                <a:latin typeface="Arial"/>
              </a:rPr>
              <a:t>int coeff[8] = {-2, 8, -4, 10, 14, 10, -4, 8, -2};</a:t>
            </a:r>
          </a:p>
          <a:p>
            <a:pPr defTabSz="914400" fontAlgn="base">
              <a:spcBef>
                <a:spcPct val="0"/>
              </a:spcBef>
              <a:spcAft>
                <a:spcPct val="0"/>
              </a:spcAft>
              <a:defRPr/>
            </a:pPr>
            <a:endParaRPr lang="en-US" sz="900" b="1" kern="0" dirty="0">
              <a:solidFill>
                <a:srgbClr val="000000"/>
              </a:solidFill>
              <a:latin typeface="Arial"/>
            </a:endParaRPr>
          </a:p>
        </p:txBody>
      </p:sp>
      <p:grpSp>
        <p:nvGrpSpPr>
          <p:cNvPr id="118" name="Group 71">
            <a:extLst>
              <a:ext uri="{FF2B5EF4-FFF2-40B4-BE49-F238E27FC236}">
                <a16:creationId xmlns:a16="http://schemas.microsoft.com/office/drawing/2014/main" id="{B22EA522-9B3D-4235-9C78-1F1481A83DE7}"/>
              </a:ext>
            </a:extLst>
          </p:cNvPr>
          <p:cNvGrpSpPr/>
          <p:nvPr/>
        </p:nvGrpSpPr>
        <p:grpSpPr>
          <a:xfrm>
            <a:off x="9376032" y="2932941"/>
            <a:ext cx="457082" cy="228600"/>
            <a:chOff x="-66694" y="1130300"/>
            <a:chExt cx="533401" cy="228600"/>
          </a:xfrm>
          <a:effectLst>
            <a:outerShdw blurRad="50800" dist="38100" dir="2700000" algn="tl" rotWithShape="0">
              <a:prstClr val="black">
                <a:alpha val="40000"/>
              </a:prstClr>
            </a:outerShdw>
          </a:effectLst>
        </p:grpSpPr>
        <p:cxnSp>
          <p:nvCxnSpPr>
            <p:cNvPr id="119" name="Straight Connector 118">
              <a:extLst>
                <a:ext uri="{FF2B5EF4-FFF2-40B4-BE49-F238E27FC236}">
                  <a16:creationId xmlns:a16="http://schemas.microsoft.com/office/drawing/2014/main" id="{2E677022-4315-494A-99D7-1661F39E9495}"/>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20" name="Straight Connector 119">
              <a:extLst>
                <a:ext uri="{FF2B5EF4-FFF2-40B4-BE49-F238E27FC236}">
                  <a16:creationId xmlns:a16="http://schemas.microsoft.com/office/drawing/2014/main" id="{60B4D4AE-D14B-41E7-80A3-7C6054D50E81}"/>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21" name="Straight Connector 120">
              <a:extLst>
                <a:ext uri="{FF2B5EF4-FFF2-40B4-BE49-F238E27FC236}">
                  <a16:creationId xmlns:a16="http://schemas.microsoft.com/office/drawing/2014/main" id="{14DB0F5C-49C7-4376-BABA-4DD99CFFF0C8}"/>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22" name="Straight Connector 121">
              <a:extLst>
                <a:ext uri="{FF2B5EF4-FFF2-40B4-BE49-F238E27FC236}">
                  <a16:creationId xmlns:a16="http://schemas.microsoft.com/office/drawing/2014/main" id="{C4FB0ECE-3C02-44DD-9E17-DD8F343CE338}"/>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sp>
        <p:nvSpPr>
          <p:cNvPr id="123" name="Rounded Rectangle 10">
            <a:extLst>
              <a:ext uri="{FF2B5EF4-FFF2-40B4-BE49-F238E27FC236}">
                <a16:creationId xmlns:a16="http://schemas.microsoft.com/office/drawing/2014/main" id="{A77A13CE-03EA-49A3-82A3-8AEBDF7909F0}"/>
              </a:ext>
            </a:extLst>
          </p:cNvPr>
          <p:cNvSpPr/>
          <p:nvPr/>
        </p:nvSpPr>
        <p:spPr>
          <a:xfrm>
            <a:off x="11164141" y="3240182"/>
            <a:ext cx="716707" cy="230431"/>
          </a:xfrm>
          <a:prstGeom prst="roundRect">
            <a:avLst/>
          </a:prstGeom>
          <a:solidFill>
            <a:srgbClr val="6D7076"/>
          </a:solidFill>
          <a:ln w="25400" cap="flat" cmpd="sng" algn="ctr">
            <a:solidFill>
              <a:srgbClr val="6D7076">
                <a:shade val="50000"/>
              </a:srgbClr>
            </a:solidFill>
            <a:prstDash val="solid"/>
          </a:ln>
          <a:effectLst>
            <a:outerShdw blurRad="50800" dist="38100" dir="2700000" algn="tl" rotWithShape="0">
              <a:prstClr val="black">
                <a:alpha val="40000"/>
              </a:prstClr>
            </a:outerShdw>
          </a:effectLst>
        </p:spPr>
        <p:txBody>
          <a:bodyPr rtlCol="0" anchor="ctr"/>
          <a:lstStyle/>
          <a:p>
            <a:pPr algn="ctr" defTabSz="914400" fontAlgn="base">
              <a:spcBef>
                <a:spcPct val="0"/>
              </a:spcBef>
              <a:spcAft>
                <a:spcPct val="0"/>
              </a:spcAft>
              <a:defRPr/>
            </a:pPr>
            <a:r>
              <a:rPr lang="en-US" sz="800" b="1" kern="0" dirty="0">
                <a:solidFill>
                  <a:srgbClr val="FFFFFF"/>
                </a:solidFill>
                <a:latin typeface="Arial"/>
              </a:rPr>
              <a:t>Run</a:t>
            </a:r>
          </a:p>
        </p:txBody>
      </p:sp>
      <p:grpSp>
        <p:nvGrpSpPr>
          <p:cNvPr id="124" name="Group 71">
            <a:extLst>
              <a:ext uri="{FF2B5EF4-FFF2-40B4-BE49-F238E27FC236}">
                <a16:creationId xmlns:a16="http://schemas.microsoft.com/office/drawing/2014/main" id="{6BD4BEDF-00ED-4C85-AEFF-C260AF363768}"/>
              </a:ext>
            </a:extLst>
          </p:cNvPr>
          <p:cNvGrpSpPr/>
          <p:nvPr/>
        </p:nvGrpSpPr>
        <p:grpSpPr>
          <a:xfrm>
            <a:off x="9833115" y="2932941"/>
            <a:ext cx="457082" cy="228600"/>
            <a:chOff x="-66694" y="1130300"/>
            <a:chExt cx="533401" cy="228600"/>
          </a:xfrm>
          <a:effectLst>
            <a:outerShdw blurRad="50800" dist="38100" dir="2700000" algn="tl" rotWithShape="0">
              <a:prstClr val="black">
                <a:alpha val="40000"/>
              </a:prstClr>
            </a:outerShdw>
          </a:effectLst>
        </p:grpSpPr>
        <p:cxnSp>
          <p:nvCxnSpPr>
            <p:cNvPr id="125" name="Straight Connector 124">
              <a:extLst>
                <a:ext uri="{FF2B5EF4-FFF2-40B4-BE49-F238E27FC236}">
                  <a16:creationId xmlns:a16="http://schemas.microsoft.com/office/drawing/2014/main" id="{FA0182C9-7F1E-49FF-9161-202E94E3B8B9}"/>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26" name="Straight Connector 125">
              <a:extLst>
                <a:ext uri="{FF2B5EF4-FFF2-40B4-BE49-F238E27FC236}">
                  <a16:creationId xmlns:a16="http://schemas.microsoft.com/office/drawing/2014/main" id="{222D01D3-2E93-44B7-8E43-B36A992BABC2}"/>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27" name="Straight Connector 126">
              <a:extLst>
                <a:ext uri="{FF2B5EF4-FFF2-40B4-BE49-F238E27FC236}">
                  <a16:creationId xmlns:a16="http://schemas.microsoft.com/office/drawing/2014/main" id="{FED45784-D634-4837-8D2B-563D8C038998}"/>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28" name="Straight Connector 127">
              <a:extLst>
                <a:ext uri="{FF2B5EF4-FFF2-40B4-BE49-F238E27FC236}">
                  <a16:creationId xmlns:a16="http://schemas.microsoft.com/office/drawing/2014/main" id="{DC388C4A-1A7C-425B-A91C-D6E0354EF460}"/>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129" name="Group 71">
            <a:extLst>
              <a:ext uri="{FF2B5EF4-FFF2-40B4-BE49-F238E27FC236}">
                <a16:creationId xmlns:a16="http://schemas.microsoft.com/office/drawing/2014/main" id="{26ED1114-8576-4043-AF8B-2B0302279EA7}"/>
              </a:ext>
            </a:extLst>
          </p:cNvPr>
          <p:cNvGrpSpPr/>
          <p:nvPr/>
        </p:nvGrpSpPr>
        <p:grpSpPr>
          <a:xfrm>
            <a:off x="10293854" y="2932941"/>
            <a:ext cx="457082" cy="228600"/>
            <a:chOff x="-66694" y="1130300"/>
            <a:chExt cx="533401" cy="228600"/>
          </a:xfrm>
          <a:effectLst>
            <a:outerShdw blurRad="50800" dist="38100" dir="2700000" algn="tl" rotWithShape="0">
              <a:prstClr val="black">
                <a:alpha val="40000"/>
              </a:prstClr>
            </a:outerShdw>
          </a:effectLst>
        </p:grpSpPr>
        <p:cxnSp>
          <p:nvCxnSpPr>
            <p:cNvPr id="130" name="Straight Connector 129">
              <a:extLst>
                <a:ext uri="{FF2B5EF4-FFF2-40B4-BE49-F238E27FC236}">
                  <a16:creationId xmlns:a16="http://schemas.microsoft.com/office/drawing/2014/main" id="{936789A4-62B7-4711-9E5D-C9FE1041044D}"/>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31" name="Straight Connector 130">
              <a:extLst>
                <a:ext uri="{FF2B5EF4-FFF2-40B4-BE49-F238E27FC236}">
                  <a16:creationId xmlns:a16="http://schemas.microsoft.com/office/drawing/2014/main" id="{BA057EF0-8BC1-4980-9531-C116852CD657}"/>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32" name="Straight Connector 131">
              <a:extLst>
                <a:ext uri="{FF2B5EF4-FFF2-40B4-BE49-F238E27FC236}">
                  <a16:creationId xmlns:a16="http://schemas.microsoft.com/office/drawing/2014/main" id="{1BC82BA2-B0CF-4B4A-B349-CAC94A7F196F}"/>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33" name="Straight Connector 132">
              <a:extLst>
                <a:ext uri="{FF2B5EF4-FFF2-40B4-BE49-F238E27FC236}">
                  <a16:creationId xmlns:a16="http://schemas.microsoft.com/office/drawing/2014/main" id="{E24A481B-9B27-4BC7-BD41-7CD03BA6BBC4}"/>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134" name="Group 71">
            <a:extLst>
              <a:ext uri="{FF2B5EF4-FFF2-40B4-BE49-F238E27FC236}">
                <a16:creationId xmlns:a16="http://schemas.microsoft.com/office/drawing/2014/main" id="{6E9F0BC9-7A01-43E7-B2B3-837D6CE81B1D}"/>
              </a:ext>
            </a:extLst>
          </p:cNvPr>
          <p:cNvGrpSpPr/>
          <p:nvPr/>
        </p:nvGrpSpPr>
        <p:grpSpPr>
          <a:xfrm>
            <a:off x="10754594" y="2932941"/>
            <a:ext cx="457082" cy="228600"/>
            <a:chOff x="-66694" y="1130300"/>
            <a:chExt cx="533401" cy="228600"/>
          </a:xfrm>
          <a:effectLst>
            <a:outerShdw blurRad="50800" dist="38100" dir="2700000" algn="tl" rotWithShape="0">
              <a:prstClr val="black">
                <a:alpha val="40000"/>
              </a:prstClr>
            </a:outerShdw>
          </a:effectLst>
        </p:grpSpPr>
        <p:cxnSp>
          <p:nvCxnSpPr>
            <p:cNvPr id="135" name="Straight Connector 134">
              <a:extLst>
                <a:ext uri="{FF2B5EF4-FFF2-40B4-BE49-F238E27FC236}">
                  <a16:creationId xmlns:a16="http://schemas.microsoft.com/office/drawing/2014/main" id="{EBF629DB-7F33-4117-8002-12FB36EECD34}"/>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36" name="Straight Connector 135">
              <a:extLst>
                <a:ext uri="{FF2B5EF4-FFF2-40B4-BE49-F238E27FC236}">
                  <a16:creationId xmlns:a16="http://schemas.microsoft.com/office/drawing/2014/main" id="{89FBD5D2-812F-4BAA-8608-985583304C48}"/>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37" name="Straight Connector 136">
              <a:extLst>
                <a:ext uri="{FF2B5EF4-FFF2-40B4-BE49-F238E27FC236}">
                  <a16:creationId xmlns:a16="http://schemas.microsoft.com/office/drawing/2014/main" id="{9AC4A272-4CF6-4571-BEF9-11EFE270096A}"/>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38" name="Straight Connector 137">
              <a:extLst>
                <a:ext uri="{FF2B5EF4-FFF2-40B4-BE49-F238E27FC236}">
                  <a16:creationId xmlns:a16="http://schemas.microsoft.com/office/drawing/2014/main" id="{51D0BEF2-B728-4619-B54E-7FD9791C5E46}"/>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139" name="Group 71">
            <a:extLst>
              <a:ext uri="{FF2B5EF4-FFF2-40B4-BE49-F238E27FC236}">
                <a16:creationId xmlns:a16="http://schemas.microsoft.com/office/drawing/2014/main" id="{2055AB4D-02DA-4D18-8D75-C12E3F640A7C}"/>
              </a:ext>
            </a:extLst>
          </p:cNvPr>
          <p:cNvGrpSpPr/>
          <p:nvPr/>
        </p:nvGrpSpPr>
        <p:grpSpPr>
          <a:xfrm>
            <a:off x="11218992" y="2932941"/>
            <a:ext cx="457082" cy="228600"/>
            <a:chOff x="-66694" y="1130300"/>
            <a:chExt cx="533401" cy="228600"/>
          </a:xfrm>
          <a:effectLst>
            <a:outerShdw blurRad="50800" dist="38100" dir="2700000" algn="tl" rotWithShape="0">
              <a:prstClr val="black">
                <a:alpha val="40000"/>
              </a:prstClr>
            </a:outerShdw>
          </a:effectLst>
        </p:grpSpPr>
        <p:cxnSp>
          <p:nvCxnSpPr>
            <p:cNvPr id="140" name="Straight Connector 139">
              <a:extLst>
                <a:ext uri="{FF2B5EF4-FFF2-40B4-BE49-F238E27FC236}">
                  <a16:creationId xmlns:a16="http://schemas.microsoft.com/office/drawing/2014/main" id="{54728429-CF3C-421E-B22D-505EF2318CD5}"/>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41" name="Straight Connector 140">
              <a:extLst>
                <a:ext uri="{FF2B5EF4-FFF2-40B4-BE49-F238E27FC236}">
                  <a16:creationId xmlns:a16="http://schemas.microsoft.com/office/drawing/2014/main" id="{D506D7C6-3114-4404-9E67-40217C0C6FB6}"/>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42" name="Straight Connector 141">
              <a:extLst>
                <a:ext uri="{FF2B5EF4-FFF2-40B4-BE49-F238E27FC236}">
                  <a16:creationId xmlns:a16="http://schemas.microsoft.com/office/drawing/2014/main" id="{CA0E5AF7-FA87-4903-B168-F6F11269709B}"/>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43" name="Straight Connector 142">
              <a:extLst>
                <a:ext uri="{FF2B5EF4-FFF2-40B4-BE49-F238E27FC236}">
                  <a16:creationId xmlns:a16="http://schemas.microsoft.com/office/drawing/2014/main" id="{B01336DB-704D-47C2-9C85-F107F378BF42}"/>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sp>
        <p:nvSpPr>
          <p:cNvPr id="144" name="Right Arrow 33">
            <a:extLst>
              <a:ext uri="{FF2B5EF4-FFF2-40B4-BE49-F238E27FC236}">
                <a16:creationId xmlns:a16="http://schemas.microsoft.com/office/drawing/2014/main" id="{0901144A-D182-4F01-9667-AD1A412516C2}"/>
              </a:ext>
            </a:extLst>
          </p:cNvPr>
          <p:cNvSpPr/>
          <p:nvPr/>
        </p:nvSpPr>
        <p:spPr>
          <a:xfrm>
            <a:off x="5788842" y="2971345"/>
            <a:ext cx="819093" cy="384050"/>
          </a:xfrm>
          <a:prstGeom prst="rightArrow">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endParaRPr lang="en-US" kern="0" dirty="0">
              <a:solidFill>
                <a:srgbClr val="FFFFFF"/>
              </a:solidFill>
              <a:latin typeface="Arial"/>
            </a:endParaRPr>
          </a:p>
        </p:txBody>
      </p:sp>
      <p:sp>
        <p:nvSpPr>
          <p:cNvPr id="145" name="Rounded Rectangle 34">
            <a:extLst>
              <a:ext uri="{FF2B5EF4-FFF2-40B4-BE49-F238E27FC236}">
                <a16:creationId xmlns:a16="http://schemas.microsoft.com/office/drawing/2014/main" id="{016E34D8-A605-4CAA-B2E9-B5709F4209A2}"/>
              </a:ext>
            </a:extLst>
          </p:cNvPr>
          <p:cNvSpPr/>
          <p:nvPr/>
        </p:nvSpPr>
        <p:spPr>
          <a:xfrm>
            <a:off x="7068675" y="3240180"/>
            <a:ext cx="4044272" cy="230430"/>
          </a:xfrm>
          <a:prstGeom prst="roundRect">
            <a:avLst/>
          </a:prstGeom>
          <a:solidFill>
            <a:srgbClr val="008CA8"/>
          </a:solidFill>
          <a:ln w="25400" cap="flat" cmpd="sng" algn="ctr">
            <a:solidFill>
              <a:srgbClr val="008CA8">
                <a:shade val="50000"/>
              </a:srgbClr>
            </a:solidFill>
            <a:prstDash val="solid"/>
          </a:ln>
          <a:effectLst>
            <a:outerShdw blurRad="50800" dist="38100" dir="2700000" algn="tl" rotWithShape="0">
              <a:prstClr val="black">
                <a:alpha val="40000"/>
              </a:prstClr>
            </a:outerShdw>
          </a:effectLst>
        </p:spPr>
        <p:txBody>
          <a:bodyPr rtlCol="0" anchor="ctr"/>
          <a:lstStyle/>
          <a:p>
            <a:pPr algn="ctr" defTabSz="914400" fontAlgn="base">
              <a:spcBef>
                <a:spcPct val="0"/>
              </a:spcBef>
              <a:spcAft>
                <a:spcPct val="0"/>
              </a:spcAft>
              <a:defRPr/>
            </a:pPr>
            <a:r>
              <a:rPr lang="en-US" sz="800" b="1" kern="0" dirty="0">
                <a:solidFill>
                  <a:srgbClr val="FFFFFF"/>
                </a:solidFill>
                <a:latin typeface="Arial"/>
              </a:rPr>
              <a:t>Init  RAM</a:t>
            </a:r>
          </a:p>
        </p:txBody>
      </p:sp>
      <p:grpSp>
        <p:nvGrpSpPr>
          <p:cNvPr id="146" name="Group 71">
            <a:extLst>
              <a:ext uri="{FF2B5EF4-FFF2-40B4-BE49-F238E27FC236}">
                <a16:creationId xmlns:a16="http://schemas.microsoft.com/office/drawing/2014/main" id="{56EA0A67-7A0C-42D5-AD2C-496EEFA63F0A}"/>
              </a:ext>
            </a:extLst>
          </p:cNvPr>
          <p:cNvGrpSpPr/>
          <p:nvPr/>
        </p:nvGrpSpPr>
        <p:grpSpPr>
          <a:xfrm>
            <a:off x="7068676" y="2932940"/>
            <a:ext cx="457082" cy="228600"/>
            <a:chOff x="-66694" y="1130300"/>
            <a:chExt cx="533401" cy="228600"/>
          </a:xfrm>
          <a:effectLst>
            <a:outerShdw blurRad="50800" dist="38100" dir="2700000" algn="tl" rotWithShape="0">
              <a:prstClr val="black">
                <a:alpha val="40000"/>
              </a:prstClr>
            </a:outerShdw>
          </a:effectLst>
        </p:grpSpPr>
        <p:cxnSp>
          <p:nvCxnSpPr>
            <p:cNvPr id="147" name="Straight Connector 146">
              <a:extLst>
                <a:ext uri="{FF2B5EF4-FFF2-40B4-BE49-F238E27FC236}">
                  <a16:creationId xmlns:a16="http://schemas.microsoft.com/office/drawing/2014/main" id="{864A3D24-7B9B-45F1-A469-CE4205D4186A}"/>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48" name="Straight Connector 147">
              <a:extLst>
                <a:ext uri="{FF2B5EF4-FFF2-40B4-BE49-F238E27FC236}">
                  <a16:creationId xmlns:a16="http://schemas.microsoft.com/office/drawing/2014/main" id="{EEF5CFF5-C955-47A1-ABE6-55F29378A98B}"/>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49" name="Straight Connector 148">
              <a:extLst>
                <a:ext uri="{FF2B5EF4-FFF2-40B4-BE49-F238E27FC236}">
                  <a16:creationId xmlns:a16="http://schemas.microsoft.com/office/drawing/2014/main" id="{4DBB6AD5-FEC1-40D0-829D-1C238F89D338}"/>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50" name="Straight Connector 149">
              <a:extLst>
                <a:ext uri="{FF2B5EF4-FFF2-40B4-BE49-F238E27FC236}">
                  <a16:creationId xmlns:a16="http://schemas.microsoft.com/office/drawing/2014/main" id="{381516AC-F5E1-4BF2-95F6-B3005FC1FF85}"/>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151" name="Group 71">
            <a:extLst>
              <a:ext uri="{FF2B5EF4-FFF2-40B4-BE49-F238E27FC236}">
                <a16:creationId xmlns:a16="http://schemas.microsoft.com/office/drawing/2014/main" id="{DB320CBE-3E53-4266-AA18-00BEF8707167}"/>
              </a:ext>
            </a:extLst>
          </p:cNvPr>
          <p:cNvGrpSpPr/>
          <p:nvPr/>
        </p:nvGrpSpPr>
        <p:grpSpPr>
          <a:xfrm>
            <a:off x="7525758" y="2932940"/>
            <a:ext cx="457082" cy="228600"/>
            <a:chOff x="-66694" y="1130300"/>
            <a:chExt cx="533401" cy="228600"/>
          </a:xfrm>
          <a:effectLst>
            <a:outerShdw blurRad="50800" dist="38100" dir="2700000" algn="tl" rotWithShape="0">
              <a:prstClr val="black">
                <a:alpha val="40000"/>
              </a:prstClr>
            </a:outerShdw>
          </a:effectLst>
        </p:grpSpPr>
        <p:cxnSp>
          <p:nvCxnSpPr>
            <p:cNvPr id="152" name="Straight Connector 151">
              <a:extLst>
                <a:ext uri="{FF2B5EF4-FFF2-40B4-BE49-F238E27FC236}">
                  <a16:creationId xmlns:a16="http://schemas.microsoft.com/office/drawing/2014/main" id="{A5BFB495-4884-43CE-AC26-537BB516C96A}"/>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53" name="Straight Connector 152">
              <a:extLst>
                <a:ext uri="{FF2B5EF4-FFF2-40B4-BE49-F238E27FC236}">
                  <a16:creationId xmlns:a16="http://schemas.microsoft.com/office/drawing/2014/main" id="{5C989E20-6EBF-406D-9D4E-EA36E41AA889}"/>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54" name="Straight Connector 153">
              <a:extLst>
                <a:ext uri="{FF2B5EF4-FFF2-40B4-BE49-F238E27FC236}">
                  <a16:creationId xmlns:a16="http://schemas.microsoft.com/office/drawing/2014/main" id="{BC30B061-2005-46B4-9B3F-45182E3DFF1F}"/>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55" name="Straight Connector 154">
              <a:extLst>
                <a:ext uri="{FF2B5EF4-FFF2-40B4-BE49-F238E27FC236}">
                  <a16:creationId xmlns:a16="http://schemas.microsoft.com/office/drawing/2014/main" id="{BF014B9E-A510-4B83-8533-7913B110485B}"/>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156" name="Group 71">
            <a:extLst>
              <a:ext uri="{FF2B5EF4-FFF2-40B4-BE49-F238E27FC236}">
                <a16:creationId xmlns:a16="http://schemas.microsoft.com/office/drawing/2014/main" id="{28DD6C8F-5368-4455-9CE3-2321311BB67A}"/>
              </a:ext>
            </a:extLst>
          </p:cNvPr>
          <p:cNvGrpSpPr/>
          <p:nvPr/>
        </p:nvGrpSpPr>
        <p:grpSpPr>
          <a:xfrm>
            <a:off x="7986498" y="2932940"/>
            <a:ext cx="457082" cy="228600"/>
            <a:chOff x="-66694" y="1130300"/>
            <a:chExt cx="533401" cy="228600"/>
          </a:xfrm>
          <a:effectLst>
            <a:outerShdw blurRad="50800" dist="38100" dir="2700000" algn="tl" rotWithShape="0">
              <a:prstClr val="black">
                <a:alpha val="40000"/>
              </a:prstClr>
            </a:outerShdw>
          </a:effectLst>
        </p:grpSpPr>
        <p:cxnSp>
          <p:nvCxnSpPr>
            <p:cNvPr id="157" name="Straight Connector 156">
              <a:extLst>
                <a:ext uri="{FF2B5EF4-FFF2-40B4-BE49-F238E27FC236}">
                  <a16:creationId xmlns:a16="http://schemas.microsoft.com/office/drawing/2014/main" id="{8D1B14E0-2A7A-4B52-B069-CF86CFDF459E}"/>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58" name="Straight Connector 157">
              <a:extLst>
                <a:ext uri="{FF2B5EF4-FFF2-40B4-BE49-F238E27FC236}">
                  <a16:creationId xmlns:a16="http://schemas.microsoft.com/office/drawing/2014/main" id="{B2E64D31-A907-43B2-84B3-C548A81FA6A5}"/>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59" name="Straight Connector 158">
              <a:extLst>
                <a:ext uri="{FF2B5EF4-FFF2-40B4-BE49-F238E27FC236}">
                  <a16:creationId xmlns:a16="http://schemas.microsoft.com/office/drawing/2014/main" id="{237FB2AE-E31D-4CBC-AE57-7AB52E7F3C8E}"/>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60" name="Straight Connector 159">
              <a:extLst>
                <a:ext uri="{FF2B5EF4-FFF2-40B4-BE49-F238E27FC236}">
                  <a16:creationId xmlns:a16="http://schemas.microsoft.com/office/drawing/2014/main" id="{20C66D55-06DE-4048-97B6-70D34687B0F8}"/>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161" name="Group 71">
            <a:extLst>
              <a:ext uri="{FF2B5EF4-FFF2-40B4-BE49-F238E27FC236}">
                <a16:creationId xmlns:a16="http://schemas.microsoft.com/office/drawing/2014/main" id="{A9DA886D-022F-4984-8F40-3CAEC5D6D996}"/>
              </a:ext>
            </a:extLst>
          </p:cNvPr>
          <p:cNvGrpSpPr/>
          <p:nvPr/>
        </p:nvGrpSpPr>
        <p:grpSpPr>
          <a:xfrm>
            <a:off x="8447238" y="2932940"/>
            <a:ext cx="457082" cy="228600"/>
            <a:chOff x="-66694" y="1130300"/>
            <a:chExt cx="533401" cy="228600"/>
          </a:xfrm>
          <a:effectLst>
            <a:outerShdw blurRad="50800" dist="38100" dir="2700000" algn="tl" rotWithShape="0">
              <a:prstClr val="black">
                <a:alpha val="40000"/>
              </a:prstClr>
            </a:outerShdw>
          </a:effectLst>
        </p:grpSpPr>
        <p:cxnSp>
          <p:nvCxnSpPr>
            <p:cNvPr id="162" name="Straight Connector 161">
              <a:extLst>
                <a:ext uri="{FF2B5EF4-FFF2-40B4-BE49-F238E27FC236}">
                  <a16:creationId xmlns:a16="http://schemas.microsoft.com/office/drawing/2014/main" id="{3BED7D02-951E-4CA0-B7BD-762B8CA939ED}"/>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63" name="Straight Connector 162">
              <a:extLst>
                <a:ext uri="{FF2B5EF4-FFF2-40B4-BE49-F238E27FC236}">
                  <a16:creationId xmlns:a16="http://schemas.microsoft.com/office/drawing/2014/main" id="{0B5341D2-5599-422B-805F-0599D55F5198}"/>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64" name="Straight Connector 163">
              <a:extLst>
                <a:ext uri="{FF2B5EF4-FFF2-40B4-BE49-F238E27FC236}">
                  <a16:creationId xmlns:a16="http://schemas.microsoft.com/office/drawing/2014/main" id="{A9642DB1-6399-4829-984F-8C3F59377373}"/>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65" name="Straight Connector 164">
              <a:extLst>
                <a:ext uri="{FF2B5EF4-FFF2-40B4-BE49-F238E27FC236}">
                  <a16:creationId xmlns:a16="http://schemas.microsoft.com/office/drawing/2014/main" id="{CD4223F5-93DC-492F-9BB5-872D4A0BFA56}"/>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166" name="Group 71">
            <a:extLst>
              <a:ext uri="{FF2B5EF4-FFF2-40B4-BE49-F238E27FC236}">
                <a16:creationId xmlns:a16="http://schemas.microsoft.com/office/drawing/2014/main" id="{ADC06F96-B577-4B6B-945E-B3DFE2F2DC89}"/>
              </a:ext>
            </a:extLst>
          </p:cNvPr>
          <p:cNvGrpSpPr/>
          <p:nvPr/>
        </p:nvGrpSpPr>
        <p:grpSpPr>
          <a:xfrm>
            <a:off x="8911636" y="2932940"/>
            <a:ext cx="457082" cy="228600"/>
            <a:chOff x="-66694" y="1130300"/>
            <a:chExt cx="533401" cy="228600"/>
          </a:xfrm>
          <a:effectLst>
            <a:outerShdw blurRad="50800" dist="38100" dir="2700000" algn="tl" rotWithShape="0">
              <a:prstClr val="black">
                <a:alpha val="40000"/>
              </a:prstClr>
            </a:outerShdw>
          </a:effectLst>
        </p:grpSpPr>
        <p:cxnSp>
          <p:nvCxnSpPr>
            <p:cNvPr id="167" name="Straight Connector 166">
              <a:extLst>
                <a:ext uri="{FF2B5EF4-FFF2-40B4-BE49-F238E27FC236}">
                  <a16:creationId xmlns:a16="http://schemas.microsoft.com/office/drawing/2014/main" id="{C0216B9E-F835-4B4F-85CD-83086850854A}"/>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68" name="Straight Connector 167">
              <a:extLst>
                <a:ext uri="{FF2B5EF4-FFF2-40B4-BE49-F238E27FC236}">
                  <a16:creationId xmlns:a16="http://schemas.microsoft.com/office/drawing/2014/main" id="{A1445241-CF37-417A-A06F-080E06D6DA6D}"/>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69" name="Straight Connector 168">
              <a:extLst>
                <a:ext uri="{FF2B5EF4-FFF2-40B4-BE49-F238E27FC236}">
                  <a16:creationId xmlns:a16="http://schemas.microsoft.com/office/drawing/2014/main" id="{95E833B3-8FD1-472F-B682-97209E297926}"/>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70" name="Straight Connector 169">
              <a:extLst>
                <a:ext uri="{FF2B5EF4-FFF2-40B4-BE49-F238E27FC236}">
                  <a16:creationId xmlns:a16="http://schemas.microsoft.com/office/drawing/2014/main" id="{C34B8378-427C-4FC0-87A2-5408351BAB05}"/>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sp>
        <p:nvSpPr>
          <p:cNvPr id="171" name="TextBox 170">
            <a:extLst>
              <a:ext uri="{FF2B5EF4-FFF2-40B4-BE49-F238E27FC236}">
                <a16:creationId xmlns:a16="http://schemas.microsoft.com/office/drawing/2014/main" id="{C283802B-FDB7-4F9C-99E4-C210C8ADA863}"/>
              </a:ext>
            </a:extLst>
          </p:cNvPr>
          <p:cNvSpPr txBox="1"/>
          <p:nvPr/>
        </p:nvSpPr>
        <p:spPr>
          <a:xfrm>
            <a:off x="1386215" y="4798341"/>
            <a:ext cx="4197853" cy="507831"/>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defRPr/>
            </a:pPr>
            <a:endParaRPr lang="en-US" sz="900" b="1" kern="0" dirty="0">
              <a:solidFill>
                <a:srgbClr val="000000"/>
              </a:solidFill>
              <a:latin typeface="Arial"/>
            </a:endParaRPr>
          </a:p>
          <a:p>
            <a:pPr defTabSz="914400" fontAlgn="base">
              <a:spcBef>
                <a:spcPct val="0"/>
              </a:spcBef>
              <a:spcAft>
                <a:spcPct val="0"/>
              </a:spcAft>
              <a:defRPr/>
            </a:pPr>
            <a:r>
              <a:rPr lang="en-US" sz="900" b="1" kern="0" dirty="0">
                <a:solidFill>
                  <a:srgbClr val="000000"/>
                </a:solidFill>
                <a:latin typeface="Arial"/>
              </a:rPr>
              <a:t>static int coeff[8] = {4, -2, 8, -4, 10, 14, 10, -4, 8, -2, 4};</a:t>
            </a:r>
          </a:p>
          <a:p>
            <a:pPr defTabSz="914400" fontAlgn="base">
              <a:spcBef>
                <a:spcPct val="0"/>
              </a:spcBef>
              <a:spcAft>
                <a:spcPct val="0"/>
              </a:spcAft>
              <a:defRPr/>
            </a:pPr>
            <a:endParaRPr lang="en-US" sz="900" b="1" kern="0" dirty="0">
              <a:solidFill>
                <a:srgbClr val="000000"/>
              </a:solidFill>
              <a:latin typeface="Arial"/>
            </a:endParaRPr>
          </a:p>
        </p:txBody>
      </p:sp>
      <p:grpSp>
        <p:nvGrpSpPr>
          <p:cNvPr id="172" name="Group 71">
            <a:extLst>
              <a:ext uri="{FF2B5EF4-FFF2-40B4-BE49-F238E27FC236}">
                <a16:creationId xmlns:a16="http://schemas.microsoft.com/office/drawing/2014/main" id="{AF17D94D-FD30-4AF6-A75D-21A2CBA28495}"/>
              </a:ext>
            </a:extLst>
          </p:cNvPr>
          <p:cNvGrpSpPr/>
          <p:nvPr/>
        </p:nvGrpSpPr>
        <p:grpSpPr>
          <a:xfrm>
            <a:off x="9376032" y="4798340"/>
            <a:ext cx="457082" cy="228600"/>
            <a:chOff x="-66694" y="1130300"/>
            <a:chExt cx="533401" cy="228600"/>
          </a:xfrm>
          <a:effectLst>
            <a:outerShdw blurRad="50800" dist="38100" dir="2700000" algn="tl" rotWithShape="0">
              <a:prstClr val="black">
                <a:alpha val="40000"/>
              </a:prstClr>
            </a:outerShdw>
          </a:effectLst>
        </p:grpSpPr>
        <p:cxnSp>
          <p:nvCxnSpPr>
            <p:cNvPr id="173" name="Straight Connector 172">
              <a:extLst>
                <a:ext uri="{FF2B5EF4-FFF2-40B4-BE49-F238E27FC236}">
                  <a16:creationId xmlns:a16="http://schemas.microsoft.com/office/drawing/2014/main" id="{2FC1AD07-3E26-423B-A3B9-31CC06199EB5}"/>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74" name="Straight Connector 173">
              <a:extLst>
                <a:ext uri="{FF2B5EF4-FFF2-40B4-BE49-F238E27FC236}">
                  <a16:creationId xmlns:a16="http://schemas.microsoft.com/office/drawing/2014/main" id="{F1B97FED-69DF-4D94-A794-6A4D58D0815D}"/>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75" name="Straight Connector 174">
              <a:extLst>
                <a:ext uri="{FF2B5EF4-FFF2-40B4-BE49-F238E27FC236}">
                  <a16:creationId xmlns:a16="http://schemas.microsoft.com/office/drawing/2014/main" id="{7244A561-B23D-455C-8908-A3BB090794B6}"/>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76" name="Straight Connector 175">
              <a:extLst>
                <a:ext uri="{FF2B5EF4-FFF2-40B4-BE49-F238E27FC236}">
                  <a16:creationId xmlns:a16="http://schemas.microsoft.com/office/drawing/2014/main" id="{63910688-D7EC-4166-AEC8-46EEEB08A814}"/>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sp>
        <p:nvSpPr>
          <p:cNvPr id="177" name="Rounded Rectangle 66">
            <a:extLst>
              <a:ext uri="{FF2B5EF4-FFF2-40B4-BE49-F238E27FC236}">
                <a16:creationId xmlns:a16="http://schemas.microsoft.com/office/drawing/2014/main" id="{5BF278D1-47B7-4F22-962B-F26ABD5FDECD}"/>
              </a:ext>
            </a:extLst>
          </p:cNvPr>
          <p:cNvSpPr/>
          <p:nvPr/>
        </p:nvSpPr>
        <p:spPr>
          <a:xfrm>
            <a:off x="7068674" y="5105581"/>
            <a:ext cx="4556208" cy="230431"/>
          </a:xfrm>
          <a:prstGeom prst="roundRect">
            <a:avLst/>
          </a:prstGeom>
          <a:solidFill>
            <a:srgbClr val="6D7076"/>
          </a:solidFill>
          <a:ln w="25400" cap="flat" cmpd="sng" algn="ctr">
            <a:solidFill>
              <a:srgbClr val="6D7076">
                <a:shade val="50000"/>
              </a:srgbClr>
            </a:solidFill>
            <a:prstDash val="solid"/>
          </a:ln>
          <a:effectLst>
            <a:outerShdw blurRad="50800" dist="38100" dir="2700000" algn="tl" rotWithShape="0">
              <a:prstClr val="black">
                <a:alpha val="40000"/>
              </a:prstClr>
            </a:outerShdw>
          </a:effectLst>
        </p:spPr>
        <p:txBody>
          <a:bodyPr rtlCol="0" anchor="ctr"/>
          <a:lstStyle/>
          <a:p>
            <a:pPr algn="ctr" defTabSz="914400" fontAlgn="base">
              <a:spcBef>
                <a:spcPct val="0"/>
              </a:spcBef>
              <a:spcAft>
                <a:spcPct val="0"/>
              </a:spcAft>
              <a:defRPr/>
            </a:pPr>
            <a:r>
              <a:rPr lang="en-US" sz="800" b="1" kern="0" dirty="0">
                <a:solidFill>
                  <a:srgbClr val="FFFFFF"/>
                </a:solidFill>
                <a:latin typeface="Arial"/>
              </a:rPr>
              <a:t>Run</a:t>
            </a:r>
          </a:p>
        </p:txBody>
      </p:sp>
      <p:grpSp>
        <p:nvGrpSpPr>
          <p:cNvPr id="178" name="Group 71">
            <a:extLst>
              <a:ext uri="{FF2B5EF4-FFF2-40B4-BE49-F238E27FC236}">
                <a16:creationId xmlns:a16="http://schemas.microsoft.com/office/drawing/2014/main" id="{FD6C5FBA-57A2-440B-B52E-35482F49E6AD}"/>
              </a:ext>
            </a:extLst>
          </p:cNvPr>
          <p:cNvGrpSpPr/>
          <p:nvPr/>
        </p:nvGrpSpPr>
        <p:grpSpPr>
          <a:xfrm>
            <a:off x="9833115" y="4798340"/>
            <a:ext cx="457082" cy="228600"/>
            <a:chOff x="-66694" y="1130300"/>
            <a:chExt cx="533401" cy="228600"/>
          </a:xfrm>
          <a:effectLst>
            <a:outerShdw blurRad="50800" dist="38100" dir="2700000" algn="tl" rotWithShape="0">
              <a:prstClr val="black">
                <a:alpha val="40000"/>
              </a:prstClr>
            </a:outerShdw>
          </a:effectLst>
        </p:grpSpPr>
        <p:cxnSp>
          <p:nvCxnSpPr>
            <p:cNvPr id="179" name="Straight Connector 178">
              <a:extLst>
                <a:ext uri="{FF2B5EF4-FFF2-40B4-BE49-F238E27FC236}">
                  <a16:creationId xmlns:a16="http://schemas.microsoft.com/office/drawing/2014/main" id="{2AE982ED-6BFE-4768-9690-5B5D7541AF99}"/>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80" name="Straight Connector 179">
              <a:extLst>
                <a:ext uri="{FF2B5EF4-FFF2-40B4-BE49-F238E27FC236}">
                  <a16:creationId xmlns:a16="http://schemas.microsoft.com/office/drawing/2014/main" id="{27421E7A-2CC1-4939-8B5C-B558D63C0134}"/>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81" name="Straight Connector 180">
              <a:extLst>
                <a:ext uri="{FF2B5EF4-FFF2-40B4-BE49-F238E27FC236}">
                  <a16:creationId xmlns:a16="http://schemas.microsoft.com/office/drawing/2014/main" id="{A5912DDF-7DBD-4F6F-B7C5-718E2AA6BB93}"/>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82" name="Straight Connector 181">
              <a:extLst>
                <a:ext uri="{FF2B5EF4-FFF2-40B4-BE49-F238E27FC236}">
                  <a16:creationId xmlns:a16="http://schemas.microsoft.com/office/drawing/2014/main" id="{DDC0636E-E7C9-473D-BFF6-F67931A23045}"/>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183" name="Group 71">
            <a:extLst>
              <a:ext uri="{FF2B5EF4-FFF2-40B4-BE49-F238E27FC236}">
                <a16:creationId xmlns:a16="http://schemas.microsoft.com/office/drawing/2014/main" id="{D053D0C3-B1A6-455F-B811-D16C95947FEA}"/>
              </a:ext>
            </a:extLst>
          </p:cNvPr>
          <p:cNvGrpSpPr/>
          <p:nvPr/>
        </p:nvGrpSpPr>
        <p:grpSpPr>
          <a:xfrm>
            <a:off x="10293854" y="4798340"/>
            <a:ext cx="457082" cy="228600"/>
            <a:chOff x="-66694" y="1130300"/>
            <a:chExt cx="533401" cy="228600"/>
          </a:xfrm>
          <a:effectLst>
            <a:outerShdw blurRad="50800" dist="38100" dir="2700000" algn="tl" rotWithShape="0">
              <a:prstClr val="black">
                <a:alpha val="40000"/>
              </a:prstClr>
            </a:outerShdw>
          </a:effectLst>
        </p:grpSpPr>
        <p:cxnSp>
          <p:nvCxnSpPr>
            <p:cNvPr id="184" name="Straight Connector 183">
              <a:extLst>
                <a:ext uri="{FF2B5EF4-FFF2-40B4-BE49-F238E27FC236}">
                  <a16:creationId xmlns:a16="http://schemas.microsoft.com/office/drawing/2014/main" id="{F01BE0B6-65DC-4DDC-B0DB-043CC5285CC3}"/>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85" name="Straight Connector 184">
              <a:extLst>
                <a:ext uri="{FF2B5EF4-FFF2-40B4-BE49-F238E27FC236}">
                  <a16:creationId xmlns:a16="http://schemas.microsoft.com/office/drawing/2014/main" id="{CA13A9FD-9A79-4A2E-98D3-4E43ADB22C41}"/>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86" name="Straight Connector 185">
              <a:extLst>
                <a:ext uri="{FF2B5EF4-FFF2-40B4-BE49-F238E27FC236}">
                  <a16:creationId xmlns:a16="http://schemas.microsoft.com/office/drawing/2014/main" id="{106F6E93-2D92-4200-A2BE-B6E442492BD3}"/>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87" name="Straight Connector 186">
              <a:extLst>
                <a:ext uri="{FF2B5EF4-FFF2-40B4-BE49-F238E27FC236}">
                  <a16:creationId xmlns:a16="http://schemas.microsoft.com/office/drawing/2014/main" id="{2CE0DF9A-0CD2-4894-9064-1270547AB098}"/>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188" name="Group 71">
            <a:extLst>
              <a:ext uri="{FF2B5EF4-FFF2-40B4-BE49-F238E27FC236}">
                <a16:creationId xmlns:a16="http://schemas.microsoft.com/office/drawing/2014/main" id="{619DEEED-E7CA-4499-AC59-53BAF7B9ED02}"/>
              </a:ext>
            </a:extLst>
          </p:cNvPr>
          <p:cNvGrpSpPr/>
          <p:nvPr/>
        </p:nvGrpSpPr>
        <p:grpSpPr>
          <a:xfrm>
            <a:off x="10754594" y="4798340"/>
            <a:ext cx="457082" cy="228600"/>
            <a:chOff x="-66694" y="1130300"/>
            <a:chExt cx="533401" cy="228600"/>
          </a:xfrm>
          <a:effectLst>
            <a:outerShdw blurRad="50800" dist="38100" dir="2700000" algn="tl" rotWithShape="0">
              <a:prstClr val="black">
                <a:alpha val="40000"/>
              </a:prstClr>
            </a:outerShdw>
          </a:effectLst>
        </p:grpSpPr>
        <p:cxnSp>
          <p:nvCxnSpPr>
            <p:cNvPr id="189" name="Straight Connector 188">
              <a:extLst>
                <a:ext uri="{FF2B5EF4-FFF2-40B4-BE49-F238E27FC236}">
                  <a16:creationId xmlns:a16="http://schemas.microsoft.com/office/drawing/2014/main" id="{7526AAC1-7B1C-464C-911B-1AD62F67F83F}"/>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90" name="Straight Connector 189">
              <a:extLst>
                <a:ext uri="{FF2B5EF4-FFF2-40B4-BE49-F238E27FC236}">
                  <a16:creationId xmlns:a16="http://schemas.microsoft.com/office/drawing/2014/main" id="{84FBA1F9-8355-4EFA-B6E1-D64E57A1E240}"/>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91" name="Straight Connector 190">
              <a:extLst>
                <a:ext uri="{FF2B5EF4-FFF2-40B4-BE49-F238E27FC236}">
                  <a16:creationId xmlns:a16="http://schemas.microsoft.com/office/drawing/2014/main" id="{D7848658-2E19-497D-B6BA-746CF5B2CF9A}"/>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92" name="Straight Connector 191">
              <a:extLst>
                <a:ext uri="{FF2B5EF4-FFF2-40B4-BE49-F238E27FC236}">
                  <a16:creationId xmlns:a16="http://schemas.microsoft.com/office/drawing/2014/main" id="{3CC8A9E4-16D7-4AF1-97B5-A662BC69F0A8}"/>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193" name="Group 71">
            <a:extLst>
              <a:ext uri="{FF2B5EF4-FFF2-40B4-BE49-F238E27FC236}">
                <a16:creationId xmlns:a16="http://schemas.microsoft.com/office/drawing/2014/main" id="{723AD7F8-9A85-4CA4-BA6A-6508F0097CE7}"/>
              </a:ext>
            </a:extLst>
          </p:cNvPr>
          <p:cNvGrpSpPr/>
          <p:nvPr/>
        </p:nvGrpSpPr>
        <p:grpSpPr>
          <a:xfrm>
            <a:off x="11218992" y="4798340"/>
            <a:ext cx="457082" cy="228600"/>
            <a:chOff x="-66694" y="1130300"/>
            <a:chExt cx="533401" cy="228600"/>
          </a:xfrm>
          <a:effectLst>
            <a:outerShdw blurRad="50800" dist="38100" dir="2700000" algn="tl" rotWithShape="0">
              <a:prstClr val="black">
                <a:alpha val="40000"/>
              </a:prstClr>
            </a:outerShdw>
          </a:effectLst>
        </p:grpSpPr>
        <p:cxnSp>
          <p:nvCxnSpPr>
            <p:cNvPr id="194" name="Straight Connector 193">
              <a:extLst>
                <a:ext uri="{FF2B5EF4-FFF2-40B4-BE49-F238E27FC236}">
                  <a16:creationId xmlns:a16="http://schemas.microsoft.com/office/drawing/2014/main" id="{A4EEF26E-0A2B-4F74-9A4B-55784172250B}"/>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95" name="Straight Connector 194">
              <a:extLst>
                <a:ext uri="{FF2B5EF4-FFF2-40B4-BE49-F238E27FC236}">
                  <a16:creationId xmlns:a16="http://schemas.microsoft.com/office/drawing/2014/main" id="{A72DB035-8D86-43F1-8BA3-30AB5B02A02F}"/>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96" name="Straight Connector 195">
              <a:extLst>
                <a:ext uri="{FF2B5EF4-FFF2-40B4-BE49-F238E27FC236}">
                  <a16:creationId xmlns:a16="http://schemas.microsoft.com/office/drawing/2014/main" id="{79855B21-3CC3-497D-B96C-CE6C7EDA6DC5}"/>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97" name="Straight Connector 196">
              <a:extLst>
                <a:ext uri="{FF2B5EF4-FFF2-40B4-BE49-F238E27FC236}">
                  <a16:creationId xmlns:a16="http://schemas.microsoft.com/office/drawing/2014/main" id="{C47E9BBD-79C1-4FAC-A9AB-5E1884B9F2AE}"/>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sp>
        <p:nvSpPr>
          <p:cNvPr id="198" name="TextBox 197">
            <a:extLst>
              <a:ext uri="{FF2B5EF4-FFF2-40B4-BE49-F238E27FC236}">
                <a16:creationId xmlns:a16="http://schemas.microsoft.com/office/drawing/2014/main" id="{82E8D914-5DD1-48B8-BF0C-F6F50F90FB56}"/>
              </a:ext>
            </a:extLst>
          </p:cNvPr>
          <p:cNvSpPr txBox="1"/>
          <p:nvPr/>
        </p:nvSpPr>
        <p:spPr>
          <a:xfrm>
            <a:off x="7375835" y="5451224"/>
            <a:ext cx="3993080" cy="600164"/>
          </a:xfrm>
          <a:prstGeom prst="rect">
            <a:avLst/>
          </a:prstGeom>
          <a:solidFill>
            <a:srgbClr val="FFFF99"/>
          </a:solidFill>
          <a:ln w="38100">
            <a:solidFill>
              <a:srgbClr val="FF0000"/>
            </a:solidFill>
          </a:ln>
          <a:effectLst>
            <a:innerShdw blurRad="63500" dist="50800" dir="2700000">
              <a:prstClr val="black">
                <a:alpha val="50000"/>
              </a:prstClr>
            </a:innerShdw>
          </a:effectLst>
        </p:spPr>
        <p:txBody>
          <a:bodyPr wrap="square" rtlCol="0">
            <a:spAutoFit/>
          </a:bodyPr>
          <a:lstStyle/>
          <a:p>
            <a:pPr algn="ctr" defTabSz="914400" fontAlgn="base">
              <a:spcBef>
                <a:spcPct val="0"/>
              </a:spcBef>
              <a:spcAft>
                <a:spcPct val="0"/>
              </a:spcAft>
              <a:defRPr/>
            </a:pPr>
            <a:r>
              <a:rPr lang="en-US" sz="1100" b="1" kern="0" dirty="0">
                <a:solidFill>
                  <a:srgbClr val="000000"/>
                </a:solidFill>
              </a:rPr>
              <a:t>A coefficient array does not need to be initialized every time but doing that costs “nothing” in software, unlike hardware</a:t>
            </a:r>
          </a:p>
        </p:txBody>
      </p:sp>
      <p:sp>
        <p:nvSpPr>
          <p:cNvPr id="199" name="Right Arrow 88">
            <a:extLst>
              <a:ext uri="{FF2B5EF4-FFF2-40B4-BE49-F238E27FC236}">
                <a16:creationId xmlns:a16="http://schemas.microsoft.com/office/drawing/2014/main" id="{11C3D4C5-842A-4BA2-A4DB-A1BEB57C483D}"/>
              </a:ext>
            </a:extLst>
          </p:cNvPr>
          <p:cNvSpPr/>
          <p:nvPr/>
        </p:nvSpPr>
        <p:spPr>
          <a:xfrm>
            <a:off x="5788842" y="4836744"/>
            <a:ext cx="819093" cy="384050"/>
          </a:xfrm>
          <a:prstGeom prst="rightArrow">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endParaRPr lang="en-US" kern="0" dirty="0">
              <a:solidFill>
                <a:srgbClr val="FFFFFF"/>
              </a:solidFill>
              <a:latin typeface="Arial"/>
            </a:endParaRPr>
          </a:p>
        </p:txBody>
      </p:sp>
      <p:grpSp>
        <p:nvGrpSpPr>
          <p:cNvPr id="200" name="Group 71">
            <a:extLst>
              <a:ext uri="{FF2B5EF4-FFF2-40B4-BE49-F238E27FC236}">
                <a16:creationId xmlns:a16="http://schemas.microsoft.com/office/drawing/2014/main" id="{B309B5FE-0075-4F79-AF93-3ACD30F7ED2E}"/>
              </a:ext>
            </a:extLst>
          </p:cNvPr>
          <p:cNvGrpSpPr/>
          <p:nvPr/>
        </p:nvGrpSpPr>
        <p:grpSpPr>
          <a:xfrm>
            <a:off x="7068676" y="4798339"/>
            <a:ext cx="457082" cy="228600"/>
            <a:chOff x="-66694" y="1130300"/>
            <a:chExt cx="533401" cy="228600"/>
          </a:xfrm>
          <a:effectLst>
            <a:outerShdw blurRad="50800" dist="38100" dir="2700000" algn="tl" rotWithShape="0">
              <a:prstClr val="black">
                <a:alpha val="40000"/>
              </a:prstClr>
            </a:outerShdw>
          </a:effectLst>
        </p:grpSpPr>
        <p:cxnSp>
          <p:nvCxnSpPr>
            <p:cNvPr id="201" name="Straight Connector 200">
              <a:extLst>
                <a:ext uri="{FF2B5EF4-FFF2-40B4-BE49-F238E27FC236}">
                  <a16:creationId xmlns:a16="http://schemas.microsoft.com/office/drawing/2014/main" id="{A409C3C1-C6F3-4A79-B58E-1BC1000D5617}"/>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202" name="Straight Connector 201">
              <a:extLst>
                <a:ext uri="{FF2B5EF4-FFF2-40B4-BE49-F238E27FC236}">
                  <a16:creationId xmlns:a16="http://schemas.microsoft.com/office/drawing/2014/main" id="{1587CAFA-AED7-411B-8DB8-6EFF84ACB59A}"/>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203" name="Straight Connector 202">
              <a:extLst>
                <a:ext uri="{FF2B5EF4-FFF2-40B4-BE49-F238E27FC236}">
                  <a16:creationId xmlns:a16="http://schemas.microsoft.com/office/drawing/2014/main" id="{B051BF7D-3667-4AE3-92F1-C9E399EE4E79}"/>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204" name="Straight Connector 203">
              <a:extLst>
                <a:ext uri="{FF2B5EF4-FFF2-40B4-BE49-F238E27FC236}">
                  <a16:creationId xmlns:a16="http://schemas.microsoft.com/office/drawing/2014/main" id="{F1F9FB33-4345-4D90-B997-3456E3477A27}"/>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205" name="Group 71">
            <a:extLst>
              <a:ext uri="{FF2B5EF4-FFF2-40B4-BE49-F238E27FC236}">
                <a16:creationId xmlns:a16="http://schemas.microsoft.com/office/drawing/2014/main" id="{AAF8F8E3-D9AD-4A41-ADA1-C04E3CE0A2DC}"/>
              </a:ext>
            </a:extLst>
          </p:cNvPr>
          <p:cNvGrpSpPr/>
          <p:nvPr/>
        </p:nvGrpSpPr>
        <p:grpSpPr>
          <a:xfrm>
            <a:off x="7525758" y="4798339"/>
            <a:ext cx="457082" cy="228600"/>
            <a:chOff x="-66694" y="1130300"/>
            <a:chExt cx="533401" cy="228600"/>
          </a:xfrm>
          <a:effectLst>
            <a:outerShdw blurRad="50800" dist="38100" dir="2700000" algn="tl" rotWithShape="0">
              <a:prstClr val="black">
                <a:alpha val="40000"/>
              </a:prstClr>
            </a:outerShdw>
          </a:effectLst>
        </p:grpSpPr>
        <p:cxnSp>
          <p:nvCxnSpPr>
            <p:cNvPr id="206" name="Straight Connector 205">
              <a:extLst>
                <a:ext uri="{FF2B5EF4-FFF2-40B4-BE49-F238E27FC236}">
                  <a16:creationId xmlns:a16="http://schemas.microsoft.com/office/drawing/2014/main" id="{BC82BF38-46C0-46BE-B5A5-6F2D86F09853}"/>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207" name="Straight Connector 206">
              <a:extLst>
                <a:ext uri="{FF2B5EF4-FFF2-40B4-BE49-F238E27FC236}">
                  <a16:creationId xmlns:a16="http://schemas.microsoft.com/office/drawing/2014/main" id="{9985AF77-A2AF-4BB2-930D-07B91813498D}"/>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208" name="Straight Connector 207">
              <a:extLst>
                <a:ext uri="{FF2B5EF4-FFF2-40B4-BE49-F238E27FC236}">
                  <a16:creationId xmlns:a16="http://schemas.microsoft.com/office/drawing/2014/main" id="{B8238A20-26BB-4C69-A728-9E59ECE6631D}"/>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209" name="Straight Connector 208">
              <a:extLst>
                <a:ext uri="{FF2B5EF4-FFF2-40B4-BE49-F238E27FC236}">
                  <a16:creationId xmlns:a16="http://schemas.microsoft.com/office/drawing/2014/main" id="{2C658A12-5494-4923-A3EA-62357DA20FCE}"/>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210" name="Group 71">
            <a:extLst>
              <a:ext uri="{FF2B5EF4-FFF2-40B4-BE49-F238E27FC236}">
                <a16:creationId xmlns:a16="http://schemas.microsoft.com/office/drawing/2014/main" id="{4122EAA7-89C0-4FDD-BBA0-4115C9EF349E}"/>
              </a:ext>
            </a:extLst>
          </p:cNvPr>
          <p:cNvGrpSpPr/>
          <p:nvPr/>
        </p:nvGrpSpPr>
        <p:grpSpPr>
          <a:xfrm>
            <a:off x="7986498" y="4798339"/>
            <a:ext cx="457082" cy="228600"/>
            <a:chOff x="-66694" y="1130300"/>
            <a:chExt cx="533401" cy="228600"/>
          </a:xfrm>
          <a:effectLst>
            <a:outerShdw blurRad="50800" dist="38100" dir="2700000" algn="tl" rotWithShape="0">
              <a:prstClr val="black">
                <a:alpha val="40000"/>
              </a:prstClr>
            </a:outerShdw>
          </a:effectLst>
        </p:grpSpPr>
        <p:cxnSp>
          <p:nvCxnSpPr>
            <p:cNvPr id="211" name="Straight Connector 210">
              <a:extLst>
                <a:ext uri="{FF2B5EF4-FFF2-40B4-BE49-F238E27FC236}">
                  <a16:creationId xmlns:a16="http://schemas.microsoft.com/office/drawing/2014/main" id="{916D9A30-B82E-4C8C-AE63-07E6912C691A}"/>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212" name="Straight Connector 211">
              <a:extLst>
                <a:ext uri="{FF2B5EF4-FFF2-40B4-BE49-F238E27FC236}">
                  <a16:creationId xmlns:a16="http://schemas.microsoft.com/office/drawing/2014/main" id="{EAEE4A75-EADD-41E8-AC37-B75857FFAE3D}"/>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213" name="Straight Connector 212">
              <a:extLst>
                <a:ext uri="{FF2B5EF4-FFF2-40B4-BE49-F238E27FC236}">
                  <a16:creationId xmlns:a16="http://schemas.microsoft.com/office/drawing/2014/main" id="{945AB16F-C80C-43A0-8A41-4DAFBDB16F73}"/>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214" name="Straight Connector 213">
              <a:extLst>
                <a:ext uri="{FF2B5EF4-FFF2-40B4-BE49-F238E27FC236}">
                  <a16:creationId xmlns:a16="http://schemas.microsoft.com/office/drawing/2014/main" id="{2AF6AE36-A2A5-4AFE-BE14-BF88BAA733DA}"/>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215" name="Group 71">
            <a:extLst>
              <a:ext uri="{FF2B5EF4-FFF2-40B4-BE49-F238E27FC236}">
                <a16:creationId xmlns:a16="http://schemas.microsoft.com/office/drawing/2014/main" id="{89BAF926-1563-4312-ACA9-187B62AD6B7D}"/>
              </a:ext>
            </a:extLst>
          </p:cNvPr>
          <p:cNvGrpSpPr/>
          <p:nvPr/>
        </p:nvGrpSpPr>
        <p:grpSpPr>
          <a:xfrm>
            <a:off x="8447238" y="4798339"/>
            <a:ext cx="457082" cy="228600"/>
            <a:chOff x="-66694" y="1130300"/>
            <a:chExt cx="533401" cy="228600"/>
          </a:xfrm>
          <a:effectLst>
            <a:outerShdw blurRad="50800" dist="38100" dir="2700000" algn="tl" rotWithShape="0">
              <a:prstClr val="black">
                <a:alpha val="40000"/>
              </a:prstClr>
            </a:outerShdw>
          </a:effectLst>
        </p:grpSpPr>
        <p:cxnSp>
          <p:nvCxnSpPr>
            <p:cNvPr id="216" name="Straight Connector 215">
              <a:extLst>
                <a:ext uri="{FF2B5EF4-FFF2-40B4-BE49-F238E27FC236}">
                  <a16:creationId xmlns:a16="http://schemas.microsoft.com/office/drawing/2014/main" id="{36647AB6-3B9E-4528-AE32-5DE9028950B8}"/>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217" name="Straight Connector 216">
              <a:extLst>
                <a:ext uri="{FF2B5EF4-FFF2-40B4-BE49-F238E27FC236}">
                  <a16:creationId xmlns:a16="http://schemas.microsoft.com/office/drawing/2014/main" id="{8F8990BC-D11B-4173-821A-3FEED2895473}"/>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218" name="Straight Connector 217">
              <a:extLst>
                <a:ext uri="{FF2B5EF4-FFF2-40B4-BE49-F238E27FC236}">
                  <a16:creationId xmlns:a16="http://schemas.microsoft.com/office/drawing/2014/main" id="{5789E112-3DC9-4052-9A7A-0580E80DA1DB}"/>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219" name="Straight Connector 218">
              <a:extLst>
                <a:ext uri="{FF2B5EF4-FFF2-40B4-BE49-F238E27FC236}">
                  <a16:creationId xmlns:a16="http://schemas.microsoft.com/office/drawing/2014/main" id="{960CBCD3-FFEB-4EB5-A40D-4702706190C7}"/>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220" name="Group 71">
            <a:extLst>
              <a:ext uri="{FF2B5EF4-FFF2-40B4-BE49-F238E27FC236}">
                <a16:creationId xmlns:a16="http://schemas.microsoft.com/office/drawing/2014/main" id="{D9DED428-9F23-46EF-AC33-CFA3642CBF44}"/>
              </a:ext>
            </a:extLst>
          </p:cNvPr>
          <p:cNvGrpSpPr/>
          <p:nvPr/>
        </p:nvGrpSpPr>
        <p:grpSpPr>
          <a:xfrm>
            <a:off x="8911636" y="4798339"/>
            <a:ext cx="457082" cy="228600"/>
            <a:chOff x="-66694" y="1130300"/>
            <a:chExt cx="533401" cy="228600"/>
          </a:xfrm>
          <a:effectLst>
            <a:outerShdw blurRad="50800" dist="38100" dir="2700000" algn="tl" rotWithShape="0">
              <a:prstClr val="black">
                <a:alpha val="40000"/>
              </a:prstClr>
            </a:outerShdw>
          </a:effectLst>
        </p:grpSpPr>
        <p:cxnSp>
          <p:nvCxnSpPr>
            <p:cNvPr id="221" name="Straight Connector 220">
              <a:extLst>
                <a:ext uri="{FF2B5EF4-FFF2-40B4-BE49-F238E27FC236}">
                  <a16:creationId xmlns:a16="http://schemas.microsoft.com/office/drawing/2014/main" id="{752D6904-F646-49D1-BF80-3D8AF2DF569D}"/>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222" name="Straight Connector 221">
              <a:extLst>
                <a:ext uri="{FF2B5EF4-FFF2-40B4-BE49-F238E27FC236}">
                  <a16:creationId xmlns:a16="http://schemas.microsoft.com/office/drawing/2014/main" id="{CF4AD1B3-B940-484D-BDE9-769FCF38F1E2}"/>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223" name="Straight Connector 222">
              <a:extLst>
                <a:ext uri="{FF2B5EF4-FFF2-40B4-BE49-F238E27FC236}">
                  <a16:creationId xmlns:a16="http://schemas.microsoft.com/office/drawing/2014/main" id="{D2D7A1F8-196B-4004-91AC-46E9A7C36BD7}"/>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224" name="Straight Connector 223">
              <a:extLst>
                <a:ext uri="{FF2B5EF4-FFF2-40B4-BE49-F238E27FC236}">
                  <a16:creationId xmlns:a16="http://schemas.microsoft.com/office/drawing/2014/main" id="{55BF262C-457C-46D8-825B-A37E4CCE6E77}"/>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98"/>
                                        </p:tgtEl>
                                        <p:attrNameLst>
                                          <p:attrName>style.visibility</p:attrName>
                                        </p:attrNameLst>
                                      </p:cBhvr>
                                      <p:to>
                                        <p:strVal val="visible"/>
                                      </p:to>
                                    </p:set>
                                    <p:animEffect transition="in" filter="checkerboard(across)">
                                      <p:cBhvr>
                                        <p:cTn id="7" dur="500"/>
                                        <p:tgtEl>
                                          <p:spTgt spid="1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 grpId="0" animBg="1"/>
    </p:bld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Arrays to RAMs : Initialization</a:t>
            </a:r>
          </a:p>
        </p:txBody>
      </p:sp>
      <p:sp>
        <p:nvSpPr>
          <p:cNvPr id="3" name="Content Placeholder 2"/>
          <p:cNvSpPr>
            <a:spLocks noGrp="1"/>
          </p:cNvSpPr>
          <p:nvPr>
            <p:ph idx="1"/>
          </p:nvPr>
        </p:nvSpPr>
        <p:spPr/>
        <p:txBody>
          <a:bodyPr>
            <a:noAutofit/>
          </a:bodyPr>
          <a:lstStyle/>
          <a:p>
            <a:r>
              <a:rPr lang="en-US" sz="1800" dirty="0"/>
              <a:t>Static and Const have great impact on array implementation</a:t>
            </a:r>
          </a:p>
          <a:p>
            <a:pPr lvl="1"/>
            <a:r>
              <a:rPr lang="en-US" sz="1600" dirty="0"/>
              <a:t>Const, as shown on previous slide, implies a ROM</a:t>
            </a:r>
          </a:p>
          <a:p>
            <a:pPr lvl="1"/>
            <a:r>
              <a:rPr lang="en-US" sz="1600" dirty="0"/>
              <a:t>Static can impact how RAMs are initialized</a:t>
            </a:r>
          </a:p>
          <a:p>
            <a:r>
              <a:rPr lang="en-US" sz="1800" dirty="0"/>
              <a:t>A typical coding style changes</a:t>
            </a:r>
          </a:p>
          <a:p>
            <a:pPr lvl="1"/>
            <a:endParaRPr lang="en-US" sz="1600" dirty="0"/>
          </a:p>
          <a:p>
            <a:pPr lvl="1">
              <a:buNone/>
            </a:pPr>
            <a:endParaRPr lang="en-US" sz="1600" dirty="0"/>
          </a:p>
          <a:p>
            <a:pPr lvl="1"/>
            <a:r>
              <a:rPr lang="en-US" sz="1600" dirty="0"/>
              <a:t>Implies </a:t>
            </a:r>
            <a:r>
              <a:rPr lang="en-US" sz="1600" dirty="0" err="1"/>
              <a:t>coeff</a:t>
            </a:r>
            <a:r>
              <a:rPr lang="en-US" sz="1600" dirty="0"/>
              <a:t> is set each time the function is executed</a:t>
            </a:r>
          </a:p>
          <a:p>
            <a:pPr lvl="1"/>
            <a:r>
              <a:rPr lang="en-US" sz="1600" dirty="0"/>
              <a:t>Resets in the RAM being explicitly loaded each transaction</a:t>
            </a:r>
          </a:p>
          <a:p>
            <a:pPr lvl="2"/>
            <a:r>
              <a:rPr lang="en-US" sz="1400" dirty="0"/>
              <a:t>Costs clock cycles</a:t>
            </a:r>
          </a:p>
          <a:p>
            <a:pPr lvl="1"/>
            <a:r>
              <a:rPr lang="en-US" sz="1600" dirty="0"/>
              <a:t>The array can be initialized as a static</a:t>
            </a:r>
          </a:p>
          <a:p>
            <a:pPr lvl="1"/>
            <a:endParaRPr lang="en-US" sz="1600" dirty="0"/>
          </a:p>
          <a:p>
            <a:pPr lvl="1"/>
            <a:endParaRPr lang="en-US" sz="1600" dirty="0"/>
          </a:p>
          <a:p>
            <a:pPr lvl="1"/>
            <a:r>
              <a:rPr lang="en-US" sz="1600" dirty="0"/>
              <a:t>Statics are initialized at “start up” only</a:t>
            </a:r>
          </a:p>
          <a:p>
            <a:pPr lvl="2"/>
            <a:r>
              <a:rPr lang="en-US" sz="1400" dirty="0"/>
              <a:t>In the C, in the RTL via bitstream</a:t>
            </a:r>
          </a:p>
        </p:txBody>
      </p:sp>
      <p:sp>
        <p:nvSpPr>
          <p:cNvPr id="116" name="Slide Number Placeholder 115"/>
          <p:cNvSpPr>
            <a:spLocks noGrp="1"/>
          </p:cNvSpPr>
          <p:nvPr>
            <p:ph type="sldNum" sz="quarter" idx="10"/>
          </p:nvPr>
        </p:nvSpPr>
        <p:spPr/>
        <p:txBody>
          <a:bodyPr/>
          <a:lstStyle/>
          <a:p>
            <a:pPr defTabSz="914400">
              <a:defRPr/>
            </a:pPr>
            <a:r>
              <a:rPr lang="en-US" dirty="0">
                <a:solidFill>
                  <a:srgbClr val="0C0C0C">
                    <a:tint val="75000"/>
                  </a:srgbClr>
                </a:solidFill>
                <a:latin typeface="Arial"/>
              </a:rPr>
              <a:t>Coding Considerations 23- </a:t>
            </a:r>
            <a:fld id="{060BD193-E118-4B16-863C-C8C12C675E3E}" type="slidenum">
              <a:rPr lang="en-US">
                <a:solidFill>
                  <a:srgbClr val="0C0C0C">
                    <a:tint val="75000"/>
                  </a:srgbClr>
                </a:solidFill>
                <a:latin typeface="Arial"/>
              </a:rPr>
              <a:pPr defTabSz="914400">
                <a:defRPr/>
              </a:pPr>
              <a:t>15</a:t>
            </a:fld>
            <a:endParaRPr lang="en-US" dirty="0">
              <a:solidFill>
                <a:srgbClr val="0C0C0C">
                  <a:tint val="75000"/>
                </a:srgbClr>
              </a:solidFill>
              <a:latin typeface="Arial"/>
            </a:endParaRPr>
          </a:p>
        </p:txBody>
      </p:sp>
      <p:sp>
        <p:nvSpPr>
          <p:cNvPr id="117" name="TextBox 116">
            <a:extLst>
              <a:ext uri="{FF2B5EF4-FFF2-40B4-BE49-F238E27FC236}">
                <a16:creationId xmlns:a16="http://schemas.microsoft.com/office/drawing/2014/main" id="{ED5E7939-669D-4A31-B4A9-05DFC7531A5D}"/>
              </a:ext>
            </a:extLst>
          </p:cNvPr>
          <p:cNvSpPr txBox="1"/>
          <p:nvPr/>
        </p:nvSpPr>
        <p:spPr>
          <a:xfrm>
            <a:off x="1386216" y="2817528"/>
            <a:ext cx="4044273" cy="507831"/>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defRPr/>
            </a:pPr>
            <a:endParaRPr lang="en-US" sz="900" b="1" kern="0" dirty="0">
              <a:solidFill>
                <a:srgbClr val="000000"/>
              </a:solidFill>
              <a:latin typeface="Arial"/>
            </a:endParaRPr>
          </a:p>
          <a:p>
            <a:pPr defTabSz="914400" fontAlgn="base">
              <a:spcBef>
                <a:spcPct val="0"/>
              </a:spcBef>
              <a:spcAft>
                <a:spcPct val="0"/>
              </a:spcAft>
              <a:defRPr/>
            </a:pPr>
            <a:r>
              <a:rPr lang="en-US" sz="900" b="1" kern="0" dirty="0">
                <a:solidFill>
                  <a:srgbClr val="000000"/>
                </a:solidFill>
                <a:latin typeface="Arial"/>
              </a:rPr>
              <a:t>int coeff[8] = {-2, 8, -4, 10, 14, 10, -4, 8, -2};</a:t>
            </a:r>
          </a:p>
          <a:p>
            <a:pPr defTabSz="914400" fontAlgn="base">
              <a:spcBef>
                <a:spcPct val="0"/>
              </a:spcBef>
              <a:spcAft>
                <a:spcPct val="0"/>
              </a:spcAft>
              <a:defRPr/>
            </a:pPr>
            <a:endParaRPr lang="en-US" sz="900" b="1" kern="0" dirty="0">
              <a:solidFill>
                <a:srgbClr val="000000"/>
              </a:solidFill>
              <a:latin typeface="Arial"/>
            </a:endParaRPr>
          </a:p>
        </p:txBody>
      </p:sp>
      <p:grpSp>
        <p:nvGrpSpPr>
          <p:cNvPr id="118" name="Group 71">
            <a:extLst>
              <a:ext uri="{FF2B5EF4-FFF2-40B4-BE49-F238E27FC236}">
                <a16:creationId xmlns:a16="http://schemas.microsoft.com/office/drawing/2014/main" id="{B22EA522-9B3D-4235-9C78-1F1481A83DE7}"/>
              </a:ext>
            </a:extLst>
          </p:cNvPr>
          <p:cNvGrpSpPr/>
          <p:nvPr/>
        </p:nvGrpSpPr>
        <p:grpSpPr>
          <a:xfrm>
            <a:off x="9376032" y="2817527"/>
            <a:ext cx="457082" cy="228600"/>
            <a:chOff x="-66694" y="1130300"/>
            <a:chExt cx="533401" cy="228600"/>
          </a:xfrm>
          <a:effectLst>
            <a:outerShdw blurRad="50800" dist="38100" dir="2700000" algn="tl" rotWithShape="0">
              <a:prstClr val="black">
                <a:alpha val="40000"/>
              </a:prstClr>
            </a:outerShdw>
          </a:effectLst>
        </p:grpSpPr>
        <p:cxnSp>
          <p:nvCxnSpPr>
            <p:cNvPr id="119" name="Straight Connector 118">
              <a:extLst>
                <a:ext uri="{FF2B5EF4-FFF2-40B4-BE49-F238E27FC236}">
                  <a16:creationId xmlns:a16="http://schemas.microsoft.com/office/drawing/2014/main" id="{2E677022-4315-494A-99D7-1661F39E9495}"/>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20" name="Straight Connector 119">
              <a:extLst>
                <a:ext uri="{FF2B5EF4-FFF2-40B4-BE49-F238E27FC236}">
                  <a16:creationId xmlns:a16="http://schemas.microsoft.com/office/drawing/2014/main" id="{60B4D4AE-D14B-41E7-80A3-7C6054D50E81}"/>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21" name="Straight Connector 120">
              <a:extLst>
                <a:ext uri="{FF2B5EF4-FFF2-40B4-BE49-F238E27FC236}">
                  <a16:creationId xmlns:a16="http://schemas.microsoft.com/office/drawing/2014/main" id="{14DB0F5C-49C7-4376-BABA-4DD99CFFF0C8}"/>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22" name="Straight Connector 121">
              <a:extLst>
                <a:ext uri="{FF2B5EF4-FFF2-40B4-BE49-F238E27FC236}">
                  <a16:creationId xmlns:a16="http://schemas.microsoft.com/office/drawing/2014/main" id="{C4FB0ECE-3C02-44DD-9E17-DD8F343CE338}"/>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sp>
        <p:nvSpPr>
          <p:cNvPr id="123" name="Rounded Rectangle 10">
            <a:extLst>
              <a:ext uri="{FF2B5EF4-FFF2-40B4-BE49-F238E27FC236}">
                <a16:creationId xmlns:a16="http://schemas.microsoft.com/office/drawing/2014/main" id="{A77A13CE-03EA-49A3-82A3-8AEBDF7909F0}"/>
              </a:ext>
            </a:extLst>
          </p:cNvPr>
          <p:cNvSpPr/>
          <p:nvPr/>
        </p:nvSpPr>
        <p:spPr>
          <a:xfrm>
            <a:off x="11164141" y="3124768"/>
            <a:ext cx="716707" cy="230431"/>
          </a:xfrm>
          <a:prstGeom prst="roundRect">
            <a:avLst/>
          </a:prstGeom>
          <a:solidFill>
            <a:srgbClr val="6D7076"/>
          </a:solidFill>
          <a:ln w="25400" cap="flat" cmpd="sng" algn="ctr">
            <a:solidFill>
              <a:srgbClr val="6D7076">
                <a:shade val="50000"/>
              </a:srgbClr>
            </a:solidFill>
            <a:prstDash val="solid"/>
          </a:ln>
          <a:effectLst>
            <a:outerShdw blurRad="50800" dist="38100" dir="2700000" algn="tl" rotWithShape="0">
              <a:prstClr val="black">
                <a:alpha val="40000"/>
              </a:prstClr>
            </a:outerShdw>
          </a:effectLst>
        </p:spPr>
        <p:txBody>
          <a:bodyPr rtlCol="0" anchor="ctr"/>
          <a:lstStyle/>
          <a:p>
            <a:pPr algn="ctr" defTabSz="914400" fontAlgn="base">
              <a:spcBef>
                <a:spcPct val="0"/>
              </a:spcBef>
              <a:spcAft>
                <a:spcPct val="0"/>
              </a:spcAft>
              <a:defRPr/>
            </a:pPr>
            <a:r>
              <a:rPr lang="en-US" sz="800" b="1" kern="0" dirty="0">
                <a:solidFill>
                  <a:srgbClr val="FFFFFF"/>
                </a:solidFill>
                <a:latin typeface="Arial"/>
              </a:rPr>
              <a:t>Run</a:t>
            </a:r>
          </a:p>
        </p:txBody>
      </p:sp>
      <p:grpSp>
        <p:nvGrpSpPr>
          <p:cNvPr id="124" name="Group 71">
            <a:extLst>
              <a:ext uri="{FF2B5EF4-FFF2-40B4-BE49-F238E27FC236}">
                <a16:creationId xmlns:a16="http://schemas.microsoft.com/office/drawing/2014/main" id="{6BD4BEDF-00ED-4C85-AEFF-C260AF363768}"/>
              </a:ext>
            </a:extLst>
          </p:cNvPr>
          <p:cNvGrpSpPr/>
          <p:nvPr/>
        </p:nvGrpSpPr>
        <p:grpSpPr>
          <a:xfrm>
            <a:off x="9833115" y="2817527"/>
            <a:ext cx="457082" cy="228600"/>
            <a:chOff x="-66694" y="1130300"/>
            <a:chExt cx="533401" cy="228600"/>
          </a:xfrm>
          <a:effectLst>
            <a:outerShdw blurRad="50800" dist="38100" dir="2700000" algn="tl" rotWithShape="0">
              <a:prstClr val="black">
                <a:alpha val="40000"/>
              </a:prstClr>
            </a:outerShdw>
          </a:effectLst>
        </p:grpSpPr>
        <p:cxnSp>
          <p:nvCxnSpPr>
            <p:cNvPr id="125" name="Straight Connector 124">
              <a:extLst>
                <a:ext uri="{FF2B5EF4-FFF2-40B4-BE49-F238E27FC236}">
                  <a16:creationId xmlns:a16="http://schemas.microsoft.com/office/drawing/2014/main" id="{FA0182C9-7F1E-49FF-9161-202E94E3B8B9}"/>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26" name="Straight Connector 125">
              <a:extLst>
                <a:ext uri="{FF2B5EF4-FFF2-40B4-BE49-F238E27FC236}">
                  <a16:creationId xmlns:a16="http://schemas.microsoft.com/office/drawing/2014/main" id="{222D01D3-2E93-44B7-8E43-B36A992BABC2}"/>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27" name="Straight Connector 126">
              <a:extLst>
                <a:ext uri="{FF2B5EF4-FFF2-40B4-BE49-F238E27FC236}">
                  <a16:creationId xmlns:a16="http://schemas.microsoft.com/office/drawing/2014/main" id="{FED45784-D634-4837-8D2B-563D8C038998}"/>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28" name="Straight Connector 127">
              <a:extLst>
                <a:ext uri="{FF2B5EF4-FFF2-40B4-BE49-F238E27FC236}">
                  <a16:creationId xmlns:a16="http://schemas.microsoft.com/office/drawing/2014/main" id="{DC388C4A-1A7C-425B-A91C-D6E0354EF460}"/>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129" name="Group 71">
            <a:extLst>
              <a:ext uri="{FF2B5EF4-FFF2-40B4-BE49-F238E27FC236}">
                <a16:creationId xmlns:a16="http://schemas.microsoft.com/office/drawing/2014/main" id="{26ED1114-8576-4043-AF8B-2B0302279EA7}"/>
              </a:ext>
            </a:extLst>
          </p:cNvPr>
          <p:cNvGrpSpPr/>
          <p:nvPr/>
        </p:nvGrpSpPr>
        <p:grpSpPr>
          <a:xfrm>
            <a:off x="10293854" y="2817527"/>
            <a:ext cx="457082" cy="228600"/>
            <a:chOff x="-66694" y="1130300"/>
            <a:chExt cx="533401" cy="228600"/>
          </a:xfrm>
          <a:effectLst>
            <a:outerShdw blurRad="50800" dist="38100" dir="2700000" algn="tl" rotWithShape="0">
              <a:prstClr val="black">
                <a:alpha val="40000"/>
              </a:prstClr>
            </a:outerShdw>
          </a:effectLst>
        </p:grpSpPr>
        <p:cxnSp>
          <p:nvCxnSpPr>
            <p:cNvPr id="130" name="Straight Connector 129">
              <a:extLst>
                <a:ext uri="{FF2B5EF4-FFF2-40B4-BE49-F238E27FC236}">
                  <a16:creationId xmlns:a16="http://schemas.microsoft.com/office/drawing/2014/main" id="{936789A4-62B7-4711-9E5D-C9FE1041044D}"/>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31" name="Straight Connector 130">
              <a:extLst>
                <a:ext uri="{FF2B5EF4-FFF2-40B4-BE49-F238E27FC236}">
                  <a16:creationId xmlns:a16="http://schemas.microsoft.com/office/drawing/2014/main" id="{BA057EF0-8BC1-4980-9531-C116852CD657}"/>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32" name="Straight Connector 131">
              <a:extLst>
                <a:ext uri="{FF2B5EF4-FFF2-40B4-BE49-F238E27FC236}">
                  <a16:creationId xmlns:a16="http://schemas.microsoft.com/office/drawing/2014/main" id="{1BC82BA2-B0CF-4B4A-B349-CAC94A7F196F}"/>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33" name="Straight Connector 132">
              <a:extLst>
                <a:ext uri="{FF2B5EF4-FFF2-40B4-BE49-F238E27FC236}">
                  <a16:creationId xmlns:a16="http://schemas.microsoft.com/office/drawing/2014/main" id="{E24A481B-9B27-4BC7-BD41-7CD03BA6BBC4}"/>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134" name="Group 71">
            <a:extLst>
              <a:ext uri="{FF2B5EF4-FFF2-40B4-BE49-F238E27FC236}">
                <a16:creationId xmlns:a16="http://schemas.microsoft.com/office/drawing/2014/main" id="{6E9F0BC9-7A01-43E7-B2B3-837D6CE81B1D}"/>
              </a:ext>
            </a:extLst>
          </p:cNvPr>
          <p:cNvGrpSpPr/>
          <p:nvPr/>
        </p:nvGrpSpPr>
        <p:grpSpPr>
          <a:xfrm>
            <a:off x="10754594" y="2817527"/>
            <a:ext cx="457082" cy="228600"/>
            <a:chOff x="-66694" y="1130300"/>
            <a:chExt cx="533401" cy="228600"/>
          </a:xfrm>
          <a:effectLst>
            <a:outerShdw blurRad="50800" dist="38100" dir="2700000" algn="tl" rotWithShape="0">
              <a:prstClr val="black">
                <a:alpha val="40000"/>
              </a:prstClr>
            </a:outerShdw>
          </a:effectLst>
        </p:grpSpPr>
        <p:cxnSp>
          <p:nvCxnSpPr>
            <p:cNvPr id="135" name="Straight Connector 134">
              <a:extLst>
                <a:ext uri="{FF2B5EF4-FFF2-40B4-BE49-F238E27FC236}">
                  <a16:creationId xmlns:a16="http://schemas.microsoft.com/office/drawing/2014/main" id="{EBF629DB-7F33-4117-8002-12FB36EECD34}"/>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36" name="Straight Connector 135">
              <a:extLst>
                <a:ext uri="{FF2B5EF4-FFF2-40B4-BE49-F238E27FC236}">
                  <a16:creationId xmlns:a16="http://schemas.microsoft.com/office/drawing/2014/main" id="{89FBD5D2-812F-4BAA-8608-985583304C48}"/>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37" name="Straight Connector 136">
              <a:extLst>
                <a:ext uri="{FF2B5EF4-FFF2-40B4-BE49-F238E27FC236}">
                  <a16:creationId xmlns:a16="http://schemas.microsoft.com/office/drawing/2014/main" id="{9AC4A272-4CF6-4571-BEF9-11EFE270096A}"/>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38" name="Straight Connector 137">
              <a:extLst>
                <a:ext uri="{FF2B5EF4-FFF2-40B4-BE49-F238E27FC236}">
                  <a16:creationId xmlns:a16="http://schemas.microsoft.com/office/drawing/2014/main" id="{51D0BEF2-B728-4619-B54E-7FD9791C5E46}"/>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139" name="Group 71">
            <a:extLst>
              <a:ext uri="{FF2B5EF4-FFF2-40B4-BE49-F238E27FC236}">
                <a16:creationId xmlns:a16="http://schemas.microsoft.com/office/drawing/2014/main" id="{2055AB4D-02DA-4D18-8D75-C12E3F640A7C}"/>
              </a:ext>
            </a:extLst>
          </p:cNvPr>
          <p:cNvGrpSpPr/>
          <p:nvPr/>
        </p:nvGrpSpPr>
        <p:grpSpPr>
          <a:xfrm>
            <a:off x="11218992" y="2817527"/>
            <a:ext cx="457082" cy="228600"/>
            <a:chOff x="-66694" y="1130300"/>
            <a:chExt cx="533401" cy="228600"/>
          </a:xfrm>
          <a:effectLst>
            <a:outerShdw blurRad="50800" dist="38100" dir="2700000" algn="tl" rotWithShape="0">
              <a:prstClr val="black">
                <a:alpha val="40000"/>
              </a:prstClr>
            </a:outerShdw>
          </a:effectLst>
        </p:grpSpPr>
        <p:cxnSp>
          <p:nvCxnSpPr>
            <p:cNvPr id="140" name="Straight Connector 139">
              <a:extLst>
                <a:ext uri="{FF2B5EF4-FFF2-40B4-BE49-F238E27FC236}">
                  <a16:creationId xmlns:a16="http://schemas.microsoft.com/office/drawing/2014/main" id="{54728429-CF3C-421E-B22D-505EF2318CD5}"/>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41" name="Straight Connector 140">
              <a:extLst>
                <a:ext uri="{FF2B5EF4-FFF2-40B4-BE49-F238E27FC236}">
                  <a16:creationId xmlns:a16="http://schemas.microsoft.com/office/drawing/2014/main" id="{D506D7C6-3114-4404-9E67-40217C0C6FB6}"/>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42" name="Straight Connector 141">
              <a:extLst>
                <a:ext uri="{FF2B5EF4-FFF2-40B4-BE49-F238E27FC236}">
                  <a16:creationId xmlns:a16="http://schemas.microsoft.com/office/drawing/2014/main" id="{CA0E5AF7-FA87-4903-B168-F6F11269709B}"/>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43" name="Straight Connector 142">
              <a:extLst>
                <a:ext uri="{FF2B5EF4-FFF2-40B4-BE49-F238E27FC236}">
                  <a16:creationId xmlns:a16="http://schemas.microsoft.com/office/drawing/2014/main" id="{B01336DB-704D-47C2-9C85-F107F378BF42}"/>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sp>
        <p:nvSpPr>
          <p:cNvPr id="144" name="Right Arrow 33">
            <a:extLst>
              <a:ext uri="{FF2B5EF4-FFF2-40B4-BE49-F238E27FC236}">
                <a16:creationId xmlns:a16="http://schemas.microsoft.com/office/drawing/2014/main" id="{0901144A-D182-4F01-9667-AD1A412516C2}"/>
              </a:ext>
            </a:extLst>
          </p:cNvPr>
          <p:cNvSpPr/>
          <p:nvPr/>
        </p:nvSpPr>
        <p:spPr>
          <a:xfrm>
            <a:off x="5788842" y="2855931"/>
            <a:ext cx="819093" cy="384050"/>
          </a:xfrm>
          <a:prstGeom prst="rightArrow">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endParaRPr lang="en-US" kern="0" dirty="0">
              <a:solidFill>
                <a:srgbClr val="FFFFFF"/>
              </a:solidFill>
              <a:latin typeface="Arial"/>
            </a:endParaRPr>
          </a:p>
        </p:txBody>
      </p:sp>
      <p:sp>
        <p:nvSpPr>
          <p:cNvPr id="145" name="Rounded Rectangle 34">
            <a:extLst>
              <a:ext uri="{FF2B5EF4-FFF2-40B4-BE49-F238E27FC236}">
                <a16:creationId xmlns:a16="http://schemas.microsoft.com/office/drawing/2014/main" id="{016E34D8-A605-4CAA-B2E9-B5709F4209A2}"/>
              </a:ext>
            </a:extLst>
          </p:cNvPr>
          <p:cNvSpPr/>
          <p:nvPr/>
        </p:nvSpPr>
        <p:spPr>
          <a:xfrm>
            <a:off x="7068675" y="3124766"/>
            <a:ext cx="4044272" cy="230430"/>
          </a:xfrm>
          <a:prstGeom prst="roundRect">
            <a:avLst/>
          </a:prstGeom>
          <a:solidFill>
            <a:srgbClr val="008CA8"/>
          </a:solidFill>
          <a:ln w="25400" cap="flat" cmpd="sng" algn="ctr">
            <a:solidFill>
              <a:srgbClr val="008CA8">
                <a:shade val="50000"/>
              </a:srgbClr>
            </a:solidFill>
            <a:prstDash val="solid"/>
          </a:ln>
          <a:effectLst>
            <a:outerShdw blurRad="50800" dist="38100" dir="2700000" algn="tl" rotWithShape="0">
              <a:prstClr val="black">
                <a:alpha val="40000"/>
              </a:prstClr>
            </a:outerShdw>
          </a:effectLst>
        </p:spPr>
        <p:txBody>
          <a:bodyPr rtlCol="0" anchor="ctr"/>
          <a:lstStyle/>
          <a:p>
            <a:pPr algn="ctr" defTabSz="914400" fontAlgn="base">
              <a:spcBef>
                <a:spcPct val="0"/>
              </a:spcBef>
              <a:spcAft>
                <a:spcPct val="0"/>
              </a:spcAft>
              <a:defRPr/>
            </a:pPr>
            <a:r>
              <a:rPr lang="en-US" sz="800" b="1" kern="0" dirty="0">
                <a:solidFill>
                  <a:srgbClr val="FFFFFF"/>
                </a:solidFill>
                <a:latin typeface="Arial"/>
              </a:rPr>
              <a:t>Init  RAM</a:t>
            </a:r>
          </a:p>
        </p:txBody>
      </p:sp>
      <p:grpSp>
        <p:nvGrpSpPr>
          <p:cNvPr id="146" name="Group 71">
            <a:extLst>
              <a:ext uri="{FF2B5EF4-FFF2-40B4-BE49-F238E27FC236}">
                <a16:creationId xmlns:a16="http://schemas.microsoft.com/office/drawing/2014/main" id="{56EA0A67-7A0C-42D5-AD2C-496EEFA63F0A}"/>
              </a:ext>
            </a:extLst>
          </p:cNvPr>
          <p:cNvGrpSpPr/>
          <p:nvPr/>
        </p:nvGrpSpPr>
        <p:grpSpPr>
          <a:xfrm>
            <a:off x="7068676" y="2817526"/>
            <a:ext cx="457082" cy="228600"/>
            <a:chOff x="-66694" y="1130300"/>
            <a:chExt cx="533401" cy="228600"/>
          </a:xfrm>
          <a:effectLst>
            <a:outerShdw blurRad="50800" dist="38100" dir="2700000" algn="tl" rotWithShape="0">
              <a:prstClr val="black">
                <a:alpha val="40000"/>
              </a:prstClr>
            </a:outerShdw>
          </a:effectLst>
        </p:grpSpPr>
        <p:cxnSp>
          <p:nvCxnSpPr>
            <p:cNvPr id="147" name="Straight Connector 146">
              <a:extLst>
                <a:ext uri="{FF2B5EF4-FFF2-40B4-BE49-F238E27FC236}">
                  <a16:creationId xmlns:a16="http://schemas.microsoft.com/office/drawing/2014/main" id="{864A3D24-7B9B-45F1-A469-CE4205D4186A}"/>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48" name="Straight Connector 147">
              <a:extLst>
                <a:ext uri="{FF2B5EF4-FFF2-40B4-BE49-F238E27FC236}">
                  <a16:creationId xmlns:a16="http://schemas.microsoft.com/office/drawing/2014/main" id="{EEF5CFF5-C955-47A1-ABE6-55F29378A98B}"/>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49" name="Straight Connector 148">
              <a:extLst>
                <a:ext uri="{FF2B5EF4-FFF2-40B4-BE49-F238E27FC236}">
                  <a16:creationId xmlns:a16="http://schemas.microsoft.com/office/drawing/2014/main" id="{4DBB6AD5-FEC1-40D0-829D-1C238F89D338}"/>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50" name="Straight Connector 149">
              <a:extLst>
                <a:ext uri="{FF2B5EF4-FFF2-40B4-BE49-F238E27FC236}">
                  <a16:creationId xmlns:a16="http://schemas.microsoft.com/office/drawing/2014/main" id="{381516AC-F5E1-4BF2-95F6-B3005FC1FF85}"/>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151" name="Group 71">
            <a:extLst>
              <a:ext uri="{FF2B5EF4-FFF2-40B4-BE49-F238E27FC236}">
                <a16:creationId xmlns:a16="http://schemas.microsoft.com/office/drawing/2014/main" id="{DB320CBE-3E53-4266-AA18-00BEF8707167}"/>
              </a:ext>
            </a:extLst>
          </p:cNvPr>
          <p:cNvGrpSpPr/>
          <p:nvPr/>
        </p:nvGrpSpPr>
        <p:grpSpPr>
          <a:xfrm>
            <a:off x="7525758" y="2817526"/>
            <a:ext cx="457082" cy="228600"/>
            <a:chOff x="-66694" y="1130300"/>
            <a:chExt cx="533401" cy="228600"/>
          </a:xfrm>
          <a:effectLst>
            <a:outerShdw blurRad="50800" dist="38100" dir="2700000" algn="tl" rotWithShape="0">
              <a:prstClr val="black">
                <a:alpha val="40000"/>
              </a:prstClr>
            </a:outerShdw>
          </a:effectLst>
        </p:grpSpPr>
        <p:cxnSp>
          <p:nvCxnSpPr>
            <p:cNvPr id="152" name="Straight Connector 151">
              <a:extLst>
                <a:ext uri="{FF2B5EF4-FFF2-40B4-BE49-F238E27FC236}">
                  <a16:creationId xmlns:a16="http://schemas.microsoft.com/office/drawing/2014/main" id="{A5BFB495-4884-43CE-AC26-537BB516C96A}"/>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53" name="Straight Connector 152">
              <a:extLst>
                <a:ext uri="{FF2B5EF4-FFF2-40B4-BE49-F238E27FC236}">
                  <a16:creationId xmlns:a16="http://schemas.microsoft.com/office/drawing/2014/main" id="{5C989E20-6EBF-406D-9D4E-EA36E41AA889}"/>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54" name="Straight Connector 153">
              <a:extLst>
                <a:ext uri="{FF2B5EF4-FFF2-40B4-BE49-F238E27FC236}">
                  <a16:creationId xmlns:a16="http://schemas.microsoft.com/office/drawing/2014/main" id="{BC30B061-2005-46B4-9B3F-45182E3DFF1F}"/>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55" name="Straight Connector 154">
              <a:extLst>
                <a:ext uri="{FF2B5EF4-FFF2-40B4-BE49-F238E27FC236}">
                  <a16:creationId xmlns:a16="http://schemas.microsoft.com/office/drawing/2014/main" id="{BF014B9E-A510-4B83-8533-7913B110485B}"/>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156" name="Group 71">
            <a:extLst>
              <a:ext uri="{FF2B5EF4-FFF2-40B4-BE49-F238E27FC236}">
                <a16:creationId xmlns:a16="http://schemas.microsoft.com/office/drawing/2014/main" id="{28DD6C8F-5368-4455-9CE3-2321311BB67A}"/>
              </a:ext>
            </a:extLst>
          </p:cNvPr>
          <p:cNvGrpSpPr/>
          <p:nvPr/>
        </p:nvGrpSpPr>
        <p:grpSpPr>
          <a:xfrm>
            <a:off x="7986498" y="2817526"/>
            <a:ext cx="457082" cy="228600"/>
            <a:chOff x="-66694" y="1130300"/>
            <a:chExt cx="533401" cy="228600"/>
          </a:xfrm>
          <a:effectLst>
            <a:outerShdw blurRad="50800" dist="38100" dir="2700000" algn="tl" rotWithShape="0">
              <a:prstClr val="black">
                <a:alpha val="40000"/>
              </a:prstClr>
            </a:outerShdw>
          </a:effectLst>
        </p:grpSpPr>
        <p:cxnSp>
          <p:nvCxnSpPr>
            <p:cNvPr id="157" name="Straight Connector 156">
              <a:extLst>
                <a:ext uri="{FF2B5EF4-FFF2-40B4-BE49-F238E27FC236}">
                  <a16:creationId xmlns:a16="http://schemas.microsoft.com/office/drawing/2014/main" id="{8D1B14E0-2A7A-4B52-B069-CF86CFDF459E}"/>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58" name="Straight Connector 157">
              <a:extLst>
                <a:ext uri="{FF2B5EF4-FFF2-40B4-BE49-F238E27FC236}">
                  <a16:creationId xmlns:a16="http://schemas.microsoft.com/office/drawing/2014/main" id="{B2E64D31-A907-43B2-84B3-C548A81FA6A5}"/>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59" name="Straight Connector 158">
              <a:extLst>
                <a:ext uri="{FF2B5EF4-FFF2-40B4-BE49-F238E27FC236}">
                  <a16:creationId xmlns:a16="http://schemas.microsoft.com/office/drawing/2014/main" id="{237FB2AE-E31D-4CBC-AE57-7AB52E7F3C8E}"/>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60" name="Straight Connector 159">
              <a:extLst>
                <a:ext uri="{FF2B5EF4-FFF2-40B4-BE49-F238E27FC236}">
                  <a16:creationId xmlns:a16="http://schemas.microsoft.com/office/drawing/2014/main" id="{20C66D55-06DE-4048-97B6-70D34687B0F8}"/>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161" name="Group 71">
            <a:extLst>
              <a:ext uri="{FF2B5EF4-FFF2-40B4-BE49-F238E27FC236}">
                <a16:creationId xmlns:a16="http://schemas.microsoft.com/office/drawing/2014/main" id="{A9DA886D-022F-4984-8F40-3CAEC5D6D996}"/>
              </a:ext>
            </a:extLst>
          </p:cNvPr>
          <p:cNvGrpSpPr/>
          <p:nvPr/>
        </p:nvGrpSpPr>
        <p:grpSpPr>
          <a:xfrm>
            <a:off x="8447238" y="2817526"/>
            <a:ext cx="457082" cy="228600"/>
            <a:chOff x="-66694" y="1130300"/>
            <a:chExt cx="533401" cy="228600"/>
          </a:xfrm>
          <a:effectLst>
            <a:outerShdw blurRad="50800" dist="38100" dir="2700000" algn="tl" rotWithShape="0">
              <a:prstClr val="black">
                <a:alpha val="40000"/>
              </a:prstClr>
            </a:outerShdw>
          </a:effectLst>
        </p:grpSpPr>
        <p:cxnSp>
          <p:nvCxnSpPr>
            <p:cNvPr id="162" name="Straight Connector 161">
              <a:extLst>
                <a:ext uri="{FF2B5EF4-FFF2-40B4-BE49-F238E27FC236}">
                  <a16:creationId xmlns:a16="http://schemas.microsoft.com/office/drawing/2014/main" id="{3BED7D02-951E-4CA0-B7BD-762B8CA939ED}"/>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63" name="Straight Connector 162">
              <a:extLst>
                <a:ext uri="{FF2B5EF4-FFF2-40B4-BE49-F238E27FC236}">
                  <a16:creationId xmlns:a16="http://schemas.microsoft.com/office/drawing/2014/main" id="{0B5341D2-5599-422B-805F-0599D55F5198}"/>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64" name="Straight Connector 163">
              <a:extLst>
                <a:ext uri="{FF2B5EF4-FFF2-40B4-BE49-F238E27FC236}">
                  <a16:creationId xmlns:a16="http://schemas.microsoft.com/office/drawing/2014/main" id="{A9642DB1-6399-4829-984F-8C3F59377373}"/>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65" name="Straight Connector 164">
              <a:extLst>
                <a:ext uri="{FF2B5EF4-FFF2-40B4-BE49-F238E27FC236}">
                  <a16:creationId xmlns:a16="http://schemas.microsoft.com/office/drawing/2014/main" id="{CD4223F5-93DC-492F-9BB5-872D4A0BFA56}"/>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166" name="Group 71">
            <a:extLst>
              <a:ext uri="{FF2B5EF4-FFF2-40B4-BE49-F238E27FC236}">
                <a16:creationId xmlns:a16="http://schemas.microsoft.com/office/drawing/2014/main" id="{ADC06F96-B577-4B6B-945E-B3DFE2F2DC89}"/>
              </a:ext>
            </a:extLst>
          </p:cNvPr>
          <p:cNvGrpSpPr/>
          <p:nvPr/>
        </p:nvGrpSpPr>
        <p:grpSpPr>
          <a:xfrm>
            <a:off x="8911636" y="2817526"/>
            <a:ext cx="457082" cy="228600"/>
            <a:chOff x="-66694" y="1130300"/>
            <a:chExt cx="533401" cy="228600"/>
          </a:xfrm>
          <a:effectLst>
            <a:outerShdw blurRad="50800" dist="38100" dir="2700000" algn="tl" rotWithShape="0">
              <a:prstClr val="black">
                <a:alpha val="40000"/>
              </a:prstClr>
            </a:outerShdw>
          </a:effectLst>
        </p:grpSpPr>
        <p:cxnSp>
          <p:nvCxnSpPr>
            <p:cNvPr id="167" name="Straight Connector 166">
              <a:extLst>
                <a:ext uri="{FF2B5EF4-FFF2-40B4-BE49-F238E27FC236}">
                  <a16:creationId xmlns:a16="http://schemas.microsoft.com/office/drawing/2014/main" id="{C0216B9E-F835-4B4F-85CD-83086850854A}"/>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68" name="Straight Connector 167">
              <a:extLst>
                <a:ext uri="{FF2B5EF4-FFF2-40B4-BE49-F238E27FC236}">
                  <a16:creationId xmlns:a16="http://schemas.microsoft.com/office/drawing/2014/main" id="{A1445241-CF37-417A-A06F-080E06D6DA6D}"/>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69" name="Straight Connector 168">
              <a:extLst>
                <a:ext uri="{FF2B5EF4-FFF2-40B4-BE49-F238E27FC236}">
                  <a16:creationId xmlns:a16="http://schemas.microsoft.com/office/drawing/2014/main" id="{95E833B3-8FD1-472F-B682-97209E297926}"/>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70" name="Straight Connector 169">
              <a:extLst>
                <a:ext uri="{FF2B5EF4-FFF2-40B4-BE49-F238E27FC236}">
                  <a16:creationId xmlns:a16="http://schemas.microsoft.com/office/drawing/2014/main" id="{C34B8378-427C-4FC0-87A2-5408351BAB05}"/>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sp>
        <p:nvSpPr>
          <p:cNvPr id="171" name="TextBox 170">
            <a:extLst>
              <a:ext uri="{FF2B5EF4-FFF2-40B4-BE49-F238E27FC236}">
                <a16:creationId xmlns:a16="http://schemas.microsoft.com/office/drawing/2014/main" id="{C283802B-FDB7-4F9C-99E4-C210C8ADA863}"/>
              </a:ext>
            </a:extLst>
          </p:cNvPr>
          <p:cNvSpPr txBox="1"/>
          <p:nvPr/>
        </p:nvSpPr>
        <p:spPr>
          <a:xfrm>
            <a:off x="1386215" y="4496492"/>
            <a:ext cx="4197853" cy="507831"/>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defRPr/>
            </a:pPr>
            <a:endParaRPr lang="en-US" sz="900" b="1" kern="0" dirty="0">
              <a:solidFill>
                <a:srgbClr val="000000"/>
              </a:solidFill>
              <a:latin typeface="Arial"/>
            </a:endParaRPr>
          </a:p>
          <a:p>
            <a:pPr defTabSz="914400" fontAlgn="base">
              <a:spcBef>
                <a:spcPct val="0"/>
              </a:spcBef>
              <a:spcAft>
                <a:spcPct val="0"/>
              </a:spcAft>
              <a:defRPr/>
            </a:pPr>
            <a:r>
              <a:rPr lang="en-US" sz="900" b="1" kern="0" dirty="0">
                <a:solidFill>
                  <a:srgbClr val="000000"/>
                </a:solidFill>
                <a:latin typeface="Arial"/>
              </a:rPr>
              <a:t>static int coeff[8] = {4, -2, 8, -4, 10, 14, 10, -4, 8, -2, 4};</a:t>
            </a:r>
          </a:p>
          <a:p>
            <a:pPr defTabSz="914400" fontAlgn="base">
              <a:spcBef>
                <a:spcPct val="0"/>
              </a:spcBef>
              <a:spcAft>
                <a:spcPct val="0"/>
              </a:spcAft>
              <a:defRPr/>
            </a:pPr>
            <a:endParaRPr lang="en-US" sz="900" b="1" kern="0" dirty="0">
              <a:solidFill>
                <a:srgbClr val="000000"/>
              </a:solidFill>
              <a:latin typeface="Arial"/>
            </a:endParaRPr>
          </a:p>
        </p:txBody>
      </p:sp>
      <p:grpSp>
        <p:nvGrpSpPr>
          <p:cNvPr id="172" name="Group 71">
            <a:extLst>
              <a:ext uri="{FF2B5EF4-FFF2-40B4-BE49-F238E27FC236}">
                <a16:creationId xmlns:a16="http://schemas.microsoft.com/office/drawing/2014/main" id="{AF17D94D-FD30-4AF6-A75D-21A2CBA28495}"/>
              </a:ext>
            </a:extLst>
          </p:cNvPr>
          <p:cNvGrpSpPr/>
          <p:nvPr/>
        </p:nvGrpSpPr>
        <p:grpSpPr>
          <a:xfrm>
            <a:off x="9376032" y="4496491"/>
            <a:ext cx="457082" cy="228600"/>
            <a:chOff x="-66694" y="1130300"/>
            <a:chExt cx="533401" cy="228600"/>
          </a:xfrm>
          <a:effectLst>
            <a:outerShdw blurRad="50800" dist="38100" dir="2700000" algn="tl" rotWithShape="0">
              <a:prstClr val="black">
                <a:alpha val="40000"/>
              </a:prstClr>
            </a:outerShdw>
          </a:effectLst>
        </p:grpSpPr>
        <p:cxnSp>
          <p:nvCxnSpPr>
            <p:cNvPr id="173" name="Straight Connector 172">
              <a:extLst>
                <a:ext uri="{FF2B5EF4-FFF2-40B4-BE49-F238E27FC236}">
                  <a16:creationId xmlns:a16="http://schemas.microsoft.com/office/drawing/2014/main" id="{2FC1AD07-3E26-423B-A3B9-31CC06199EB5}"/>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74" name="Straight Connector 173">
              <a:extLst>
                <a:ext uri="{FF2B5EF4-FFF2-40B4-BE49-F238E27FC236}">
                  <a16:creationId xmlns:a16="http://schemas.microsoft.com/office/drawing/2014/main" id="{F1B97FED-69DF-4D94-A794-6A4D58D0815D}"/>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75" name="Straight Connector 174">
              <a:extLst>
                <a:ext uri="{FF2B5EF4-FFF2-40B4-BE49-F238E27FC236}">
                  <a16:creationId xmlns:a16="http://schemas.microsoft.com/office/drawing/2014/main" id="{7244A561-B23D-455C-8908-A3BB090794B6}"/>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76" name="Straight Connector 175">
              <a:extLst>
                <a:ext uri="{FF2B5EF4-FFF2-40B4-BE49-F238E27FC236}">
                  <a16:creationId xmlns:a16="http://schemas.microsoft.com/office/drawing/2014/main" id="{63910688-D7EC-4166-AEC8-46EEEB08A814}"/>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sp>
        <p:nvSpPr>
          <p:cNvPr id="177" name="Rounded Rectangle 66">
            <a:extLst>
              <a:ext uri="{FF2B5EF4-FFF2-40B4-BE49-F238E27FC236}">
                <a16:creationId xmlns:a16="http://schemas.microsoft.com/office/drawing/2014/main" id="{5BF278D1-47B7-4F22-962B-F26ABD5FDECD}"/>
              </a:ext>
            </a:extLst>
          </p:cNvPr>
          <p:cNvSpPr/>
          <p:nvPr/>
        </p:nvSpPr>
        <p:spPr>
          <a:xfrm>
            <a:off x="7068674" y="4803732"/>
            <a:ext cx="4556208" cy="230431"/>
          </a:xfrm>
          <a:prstGeom prst="roundRect">
            <a:avLst/>
          </a:prstGeom>
          <a:solidFill>
            <a:srgbClr val="6D7076"/>
          </a:solidFill>
          <a:ln w="25400" cap="flat" cmpd="sng" algn="ctr">
            <a:solidFill>
              <a:srgbClr val="6D7076">
                <a:shade val="50000"/>
              </a:srgbClr>
            </a:solidFill>
            <a:prstDash val="solid"/>
          </a:ln>
          <a:effectLst>
            <a:outerShdw blurRad="50800" dist="38100" dir="2700000" algn="tl" rotWithShape="0">
              <a:prstClr val="black">
                <a:alpha val="40000"/>
              </a:prstClr>
            </a:outerShdw>
          </a:effectLst>
        </p:spPr>
        <p:txBody>
          <a:bodyPr rtlCol="0" anchor="ctr"/>
          <a:lstStyle/>
          <a:p>
            <a:pPr algn="ctr" defTabSz="914400" fontAlgn="base">
              <a:spcBef>
                <a:spcPct val="0"/>
              </a:spcBef>
              <a:spcAft>
                <a:spcPct val="0"/>
              </a:spcAft>
              <a:defRPr/>
            </a:pPr>
            <a:r>
              <a:rPr lang="en-US" sz="800" b="1" kern="0" dirty="0">
                <a:solidFill>
                  <a:srgbClr val="FFFFFF"/>
                </a:solidFill>
                <a:latin typeface="Arial"/>
              </a:rPr>
              <a:t>Run</a:t>
            </a:r>
          </a:p>
        </p:txBody>
      </p:sp>
      <p:grpSp>
        <p:nvGrpSpPr>
          <p:cNvPr id="178" name="Group 71">
            <a:extLst>
              <a:ext uri="{FF2B5EF4-FFF2-40B4-BE49-F238E27FC236}">
                <a16:creationId xmlns:a16="http://schemas.microsoft.com/office/drawing/2014/main" id="{FD6C5FBA-57A2-440B-B52E-35482F49E6AD}"/>
              </a:ext>
            </a:extLst>
          </p:cNvPr>
          <p:cNvGrpSpPr/>
          <p:nvPr/>
        </p:nvGrpSpPr>
        <p:grpSpPr>
          <a:xfrm>
            <a:off x="9833115" y="4496491"/>
            <a:ext cx="457082" cy="228600"/>
            <a:chOff x="-66694" y="1130300"/>
            <a:chExt cx="533401" cy="228600"/>
          </a:xfrm>
          <a:effectLst>
            <a:outerShdw blurRad="50800" dist="38100" dir="2700000" algn="tl" rotWithShape="0">
              <a:prstClr val="black">
                <a:alpha val="40000"/>
              </a:prstClr>
            </a:outerShdw>
          </a:effectLst>
        </p:grpSpPr>
        <p:cxnSp>
          <p:nvCxnSpPr>
            <p:cNvPr id="179" name="Straight Connector 178">
              <a:extLst>
                <a:ext uri="{FF2B5EF4-FFF2-40B4-BE49-F238E27FC236}">
                  <a16:creationId xmlns:a16="http://schemas.microsoft.com/office/drawing/2014/main" id="{2AE982ED-6BFE-4768-9690-5B5D7541AF99}"/>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80" name="Straight Connector 179">
              <a:extLst>
                <a:ext uri="{FF2B5EF4-FFF2-40B4-BE49-F238E27FC236}">
                  <a16:creationId xmlns:a16="http://schemas.microsoft.com/office/drawing/2014/main" id="{27421E7A-2CC1-4939-8B5C-B558D63C0134}"/>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81" name="Straight Connector 180">
              <a:extLst>
                <a:ext uri="{FF2B5EF4-FFF2-40B4-BE49-F238E27FC236}">
                  <a16:creationId xmlns:a16="http://schemas.microsoft.com/office/drawing/2014/main" id="{A5912DDF-7DBD-4F6F-B7C5-718E2AA6BB93}"/>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82" name="Straight Connector 181">
              <a:extLst>
                <a:ext uri="{FF2B5EF4-FFF2-40B4-BE49-F238E27FC236}">
                  <a16:creationId xmlns:a16="http://schemas.microsoft.com/office/drawing/2014/main" id="{DDC0636E-E7C9-473D-BFF6-F67931A23045}"/>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183" name="Group 71">
            <a:extLst>
              <a:ext uri="{FF2B5EF4-FFF2-40B4-BE49-F238E27FC236}">
                <a16:creationId xmlns:a16="http://schemas.microsoft.com/office/drawing/2014/main" id="{D053D0C3-B1A6-455F-B811-D16C95947FEA}"/>
              </a:ext>
            </a:extLst>
          </p:cNvPr>
          <p:cNvGrpSpPr/>
          <p:nvPr/>
        </p:nvGrpSpPr>
        <p:grpSpPr>
          <a:xfrm>
            <a:off x="10293854" y="4496491"/>
            <a:ext cx="457082" cy="228600"/>
            <a:chOff x="-66694" y="1130300"/>
            <a:chExt cx="533401" cy="228600"/>
          </a:xfrm>
          <a:effectLst>
            <a:outerShdw blurRad="50800" dist="38100" dir="2700000" algn="tl" rotWithShape="0">
              <a:prstClr val="black">
                <a:alpha val="40000"/>
              </a:prstClr>
            </a:outerShdw>
          </a:effectLst>
        </p:grpSpPr>
        <p:cxnSp>
          <p:nvCxnSpPr>
            <p:cNvPr id="184" name="Straight Connector 183">
              <a:extLst>
                <a:ext uri="{FF2B5EF4-FFF2-40B4-BE49-F238E27FC236}">
                  <a16:creationId xmlns:a16="http://schemas.microsoft.com/office/drawing/2014/main" id="{F01BE0B6-65DC-4DDC-B0DB-043CC5285CC3}"/>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85" name="Straight Connector 184">
              <a:extLst>
                <a:ext uri="{FF2B5EF4-FFF2-40B4-BE49-F238E27FC236}">
                  <a16:creationId xmlns:a16="http://schemas.microsoft.com/office/drawing/2014/main" id="{CA13A9FD-9A79-4A2E-98D3-4E43ADB22C41}"/>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86" name="Straight Connector 185">
              <a:extLst>
                <a:ext uri="{FF2B5EF4-FFF2-40B4-BE49-F238E27FC236}">
                  <a16:creationId xmlns:a16="http://schemas.microsoft.com/office/drawing/2014/main" id="{106F6E93-2D92-4200-A2BE-B6E442492BD3}"/>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87" name="Straight Connector 186">
              <a:extLst>
                <a:ext uri="{FF2B5EF4-FFF2-40B4-BE49-F238E27FC236}">
                  <a16:creationId xmlns:a16="http://schemas.microsoft.com/office/drawing/2014/main" id="{2CE0DF9A-0CD2-4894-9064-1270547AB098}"/>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188" name="Group 71">
            <a:extLst>
              <a:ext uri="{FF2B5EF4-FFF2-40B4-BE49-F238E27FC236}">
                <a16:creationId xmlns:a16="http://schemas.microsoft.com/office/drawing/2014/main" id="{619DEEED-E7CA-4499-AC59-53BAF7B9ED02}"/>
              </a:ext>
            </a:extLst>
          </p:cNvPr>
          <p:cNvGrpSpPr/>
          <p:nvPr/>
        </p:nvGrpSpPr>
        <p:grpSpPr>
          <a:xfrm>
            <a:off x="10754594" y="4496491"/>
            <a:ext cx="457082" cy="228600"/>
            <a:chOff x="-66694" y="1130300"/>
            <a:chExt cx="533401" cy="228600"/>
          </a:xfrm>
          <a:effectLst>
            <a:outerShdw blurRad="50800" dist="38100" dir="2700000" algn="tl" rotWithShape="0">
              <a:prstClr val="black">
                <a:alpha val="40000"/>
              </a:prstClr>
            </a:outerShdw>
          </a:effectLst>
        </p:grpSpPr>
        <p:cxnSp>
          <p:nvCxnSpPr>
            <p:cNvPr id="189" name="Straight Connector 188">
              <a:extLst>
                <a:ext uri="{FF2B5EF4-FFF2-40B4-BE49-F238E27FC236}">
                  <a16:creationId xmlns:a16="http://schemas.microsoft.com/office/drawing/2014/main" id="{7526AAC1-7B1C-464C-911B-1AD62F67F83F}"/>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90" name="Straight Connector 189">
              <a:extLst>
                <a:ext uri="{FF2B5EF4-FFF2-40B4-BE49-F238E27FC236}">
                  <a16:creationId xmlns:a16="http://schemas.microsoft.com/office/drawing/2014/main" id="{84FBA1F9-8355-4EFA-B6E1-D64E57A1E240}"/>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91" name="Straight Connector 190">
              <a:extLst>
                <a:ext uri="{FF2B5EF4-FFF2-40B4-BE49-F238E27FC236}">
                  <a16:creationId xmlns:a16="http://schemas.microsoft.com/office/drawing/2014/main" id="{D7848658-2E19-497D-B6BA-746CF5B2CF9A}"/>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92" name="Straight Connector 191">
              <a:extLst>
                <a:ext uri="{FF2B5EF4-FFF2-40B4-BE49-F238E27FC236}">
                  <a16:creationId xmlns:a16="http://schemas.microsoft.com/office/drawing/2014/main" id="{3CC8A9E4-16D7-4AF1-97B5-A662BC69F0A8}"/>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193" name="Group 71">
            <a:extLst>
              <a:ext uri="{FF2B5EF4-FFF2-40B4-BE49-F238E27FC236}">
                <a16:creationId xmlns:a16="http://schemas.microsoft.com/office/drawing/2014/main" id="{723AD7F8-9A85-4CA4-BA6A-6508F0097CE7}"/>
              </a:ext>
            </a:extLst>
          </p:cNvPr>
          <p:cNvGrpSpPr/>
          <p:nvPr/>
        </p:nvGrpSpPr>
        <p:grpSpPr>
          <a:xfrm>
            <a:off x="11218992" y="4496491"/>
            <a:ext cx="457082" cy="228600"/>
            <a:chOff x="-66694" y="1130300"/>
            <a:chExt cx="533401" cy="228600"/>
          </a:xfrm>
          <a:effectLst>
            <a:outerShdw blurRad="50800" dist="38100" dir="2700000" algn="tl" rotWithShape="0">
              <a:prstClr val="black">
                <a:alpha val="40000"/>
              </a:prstClr>
            </a:outerShdw>
          </a:effectLst>
        </p:grpSpPr>
        <p:cxnSp>
          <p:nvCxnSpPr>
            <p:cNvPr id="194" name="Straight Connector 193">
              <a:extLst>
                <a:ext uri="{FF2B5EF4-FFF2-40B4-BE49-F238E27FC236}">
                  <a16:creationId xmlns:a16="http://schemas.microsoft.com/office/drawing/2014/main" id="{A4EEF26E-0A2B-4F74-9A4B-55784172250B}"/>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95" name="Straight Connector 194">
              <a:extLst>
                <a:ext uri="{FF2B5EF4-FFF2-40B4-BE49-F238E27FC236}">
                  <a16:creationId xmlns:a16="http://schemas.microsoft.com/office/drawing/2014/main" id="{A72DB035-8D86-43F1-8BA3-30AB5B02A02F}"/>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96" name="Straight Connector 195">
              <a:extLst>
                <a:ext uri="{FF2B5EF4-FFF2-40B4-BE49-F238E27FC236}">
                  <a16:creationId xmlns:a16="http://schemas.microsoft.com/office/drawing/2014/main" id="{79855B21-3CC3-497D-B96C-CE6C7EDA6DC5}"/>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97" name="Straight Connector 196">
              <a:extLst>
                <a:ext uri="{FF2B5EF4-FFF2-40B4-BE49-F238E27FC236}">
                  <a16:creationId xmlns:a16="http://schemas.microsoft.com/office/drawing/2014/main" id="{C47E9BBD-79C1-4FAC-A9AB-5E1884B9F2AE}"/>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sp>
        <p:nvSpPr>
          <p:cNvPr id="198" name="TextBox 197">
            <a:extLst>
              <a:ext uri="{FF2B5EF4-FFF2-40B4-BE49-F238E27FC236}">
                <a16:creationId xmlns:a16="http://schemas.microsoft.com/office/drawing/2014/main" id="{82E8D914-5DD1-48B8-BF0C-F6F50F90FB56}"/>
              </a:ext>
            </a:extLst>
          </p:cNvPr>
          <p:cNvSpPr txBox="1"/>
          <p:nvPr/>
        </p:nvSpPr>
        <p:spPr>
          <a:xfrm>
            <a:off x="7375835" y="5149375"/>
            <a:ext cx="3993080" cy="600164"/>
          </a:xfrm>
          <a:prstGeom prst="rect">
            <a:avLst/>
          </a:prstGeom>
          <a:solidFill>
            <a:srgbClr val="FFFF99"/>
          </a:solidFill>
          <a:ln w="38100">
            <a:solidFill>
              <a:srgbClr val="FF0000"/>
            </a:solidFill>
          </a:ln>
          <a:effectLst>
            <a:innerShdw blurRad="63500" dist="50800" dir="2700000">
              <a:prstClr val="black">
                <a:alpha val="50000"/>
              </a:prstClr>
            </a:innerShdw>
          </a:effectLst>
        </p:spPr>
        <p:txBody>
          <a:bodyPr wrap="square" rtlCol="0">
            <a:spAutoFit/>
          </a:bodyPr>
          <a:lstStyle/>
          <a:p>
            <a:pPr algn="ctr" defTabSz="914400" fontAlgn="base">
              <a:spcBef>
                <a:spcPct val="0"/>
              </a:spcBef>
              <a:spcAft>
                <a:spcPct val="0"/>
              </a:spcAft>
              <a:defRPr/>
            </a:pPr>
            <a:r>
              <a:rPr lang="en-US" sz="1100" b="1" kern="0" dirty="0">
                <a:solidFill>
                  <a:srgbClr val="000000"/>
                </a:solidFill>
                <a:latin typeface="Arial"/>
              </a:rPr>
              <a:t>A coefficient array does not need to be initialized every time but doing that costs “nothing” in software, unlike hardware</a:t>
            </a:r>
          </a:p>
        </p:txBody>
      </p:sp>
      <p:sp>
        <p:nvSpPr>
          <p:cNvPr id="199" name="Right Arrow 88">
            <a:extLst>
              <a:ext uri="{FF2B5EF4-FFF2-40B4-BE49-F238E27FC236}">
                <a16:creationId xmlns:a16="http://schemas.microsoft.com/office/drawing/2014/main" id="{11C3D4C5-842A-4BA2-A4DB-A1BEB57C483D}"/>
              </a:ext>
            </a:extLst>
          </p:cNvPr>
          <p:cNvSpPr/>
          <p:nvPr/>
        </p:nvSpPr>
        <p:spPr>
          <a:xfrm>
            <a:off x="5788842" y="4534895"/>
            <a:ext cx="819093" cy="384050"/>
          </a:xfrm>
          <a:prstGeom prst="rightArrow">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endParaRPr lang="en-US" kern="0" dirty="0">
              <a:solidFill>
                <a:srgbClr val="FFFFFF"/>
              </a:solidFill>
              <a:latin typeface="Arial"/>
            </a:endParaRPr>
          </a:p>
        </p:txBody>
      </p:sp>
      <p:grpSp>
        <p:nvGrpSpPr>
          <p:cNvPr id="200" name="Group 71">
            <a:extLst>
              <a:ext uri="{FF2B5EF4-FFF2-40B4-BE49-F238E27FC236}">
                <a16:creationId xmlns:a16="http://schemas.microsoft.com/office/drawing/2014/main" id="{B309B5FE-0075-4F79-AF93-3ACD30F7ED2E}"/>
              </a:ext>
            </a:extLst>
          </p:cNvPr>
          <p:cNvGrpSpPr/>
          <p:nvPr/>
        </p:nvGrpSpPr>
        <p:grpSpPr>
          <a:xfrm>
            <a:off x="7068676" y="4496490"/>
            <a:ext cx="457082" cy="228600"/>
            <a:chOff x="-66694" y="1130300"/>
            <a:chExt cx="533401" cy="228600"/>
          </a:xfrm>
          <a:effectLst>
            <a:outerShdw blurRad="50800" dist="38100" dir="2700000" algn="tl" rotWithShape="0">
              <a:prstClr val="black">
                <a:alpha val="40000"/>
              </a:prstClr>
            </a:outerShdw>
          </a:effectLst>
        </p:grpSpPr>
        <p:cxnSp>
          <p:nvCxnSpPr>
            <p:cNvPr id="201" name="Straight Connector 200">
              <a:extLst>
                <a:ext uri="{FF2B5EF4-FFF2-40B4-BE49-F238E27FC236}">
                  <a16:creationId xmlns:a16="http://schemas.microsoft.com/office/drawing/2014/main" id="{A409C3C1-C6F3-4A79-B58E-1BC1000D5617}"/>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202" name="Straight Connector 201">
              <a:extLst>
                <a:ext uri="{FF2B5EF4-FFF2-40B4-BE49-F238E27FC236}">
                  <a16:creationId xmlns:a16="http://schemas.microsoft.com/office/drawing/2014/main" id="{1587CAFA-AED7-411B-8DB8-6EFF84ACB59A}"/>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203" name="Straight Connector 202">
              <a:extLst>
                <a:ext uri="{FF2B5EF4-FFF2-40B4-BE49-F238E27FC236}">
                  <a16:creationId xmlns:a16="http://schemas.microsoft.com/office/drawing/2014/main" id="{B051BF7D-3667-4AE3-92F1-C9E399EE4E79}"/>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204" name="Straight Connector 203">
              <a:extLst>
                <a:ext uri="{FF2B5EF4-FFF2-40B4-BE49-F238E27FC236}">
                  <a16:creationId xmlns:a16="http://schemas.microsoft.com/office/drawing/2014/main" id="{F1F9FB33-4345-4D90-B997-3456E3477A27}"/>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205" name="Group 71">
            <a:extLst>
              <a:ext uri="{FF2B5EF4-FFF2-40B4-BE49-F238E27FC236}">
                <a16:creationId xmlns:a16="http://schemas.microsoft.com/office/drawing/2014/main" id="{AAF8F8E3-D9AD-4A41-ADA1-C04E3CE0A2DC}"/>
              </a:ext>
            </a:extLst>
          </p:cNvPr>
          <p:cNvGrpSpPr/>
          <p:nvPr/>
        </p:nvGrpSpPr>
        <p:grpSpPr>
          <a:xfrm>
            <a:off x="7525758" y="4496490"/>
            <a:ext cx="457082" cy="228600"/>
            <a:chOff x="-66694" y="1130300"/>
            <a:chExt cx="533401" cy="228600"/>
          </a:xfrm>
          <a:effectLst>
            <a:outerShdw blurRad="50800" dist="38100" dir="2700000" algn="tl" rotWithShape="0">
              <a:prstClr val="black">
                <a:alpha val="40000"/>
              </a:prstClr>
            </a:outerShdw>
          </a:effectLst>
        </p:grpSpPr>
        <p:cxnSp>
          <p:nvCxnSpPr>
            <p:cNvPr id="206" name="Straight Connector 205">
              <a:extLst>
                <a:ext uri="{FF2B5EF4-FFF2-40B4-BE49-F238E27FC236}">
                  <a16:creationId xmlns:a16="http://schemas.microsoft.com/office/drawing/2014/main" id="{BC82BF38-46C0-46BE-B5A5-6F2D86F09853}"/>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207" name="Straight Connector 206">
              <a:extLst>
                <a:ext uri="{FF2B5EF4-FFF2-40B4-BE49-F238E27FC236}">
                  <a16:creationId xmlns:a16="http://schemas.microsoft.com/office/drawing/2014/main" id="{9985AF77-A2AF-4BB2-930D-07B91813498D}"/>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208" name="Straight Connector 207">
              <a:extLst>
                <a:ext uri="{FF2B5EF4-FFF2-40B4-BE49-F238E27FC236}">
                  <a16:creationId xmlns:a16="http://schemas.microsoft.com/office/drawing/2014/main" id="{B8238A20-26BB-4C69-A728-9E59ECE6631D}"/>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209" name="Straight Connector 208">
              <a:extLst>
                <a:ext uri="{FF2B5EF4-FFF2-40B4-BE49-F238E27FC236}">
                  <a16:creationId xmlns:a16="http://schemas.microsoft.com/office/drawing/2014/main" id="{2C658A12-5494-4923-A3EA-62357DA20FCE}"/>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210" name="Group 71">
            <a:extLst>
              <a:ext uri="{FF2B5EF4-FFF2-40B4-BE49-F238E27FC236}">
                <a16:creationId xmlns:a16="http://schemas.microsoft.com/office/drawing/2014/main" id="{4122EAA7-89C0-4FDD-BBA0-4115C9EF349E}"/>
              </a:ext>
            </a:extLst>
          </p:cNvPr>
          <p:cNvGrpSpPr/>
          <p:nvPr/>
        </p:nvGrpSpPr>
        <p:grpSpPr>
          <a:xfrm>
            <a:off x="7986498" y="4496490"/>
            <a:ext cx="457082" cy="228600"/>
            <a:chOff x="-66694" y="1130300"/>
            <a:chExt cx="533401" cy="228600"/>
          </a:xfrm>
          <a:effectLst>
            <a:outerShdw blurRad="50800" dist="38100" dir="2700000" algn="tl" rotWithShape="0">
              <a:prstClr val="black">
                <a:alpha val="40000"/>
              </a:prstClr>
            </a:outerShdw>
          </a:effectLst>
        </p:grpSpPr>
        <p:cxnSp>
          <p:nvCxnSpPr>
            <p:cNvPr id="211" name="Straight Connector 210">
              <a:extLst>
                <a:ext uri="{FF2B5EF4-FFF2-40B4-BE49-F238E27FC236}">
                  <a16:creationId xmlns:a16="http://schemas.microsoft.com/office/drawing/2014/main" id="{916D9A30-B82E-4C8C-AE63-07E6912C691A}"/>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212" name="Straight Connector 211">
              <a:extLst>
                <a:ext uri="{FF2B5EF4-FFF2-40B4-BE49-F238E27FC236}">
                  <a16:creationId xmlns:a16="http://schemas.microsoft.com/office/drawing/2014/main" id="{EAEE4A75-EADD-41E8-AC37-B75857FFAE3D}"/>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213" name="Straight Connector 212">
              <a:extLst>
                <a:ext uri="{FF2B5EF4-FFF2-40B4-BE49-F238E27FC236}">
                  <a16:creationId xmlns:a16="http://schemas.microsoft.com/office/drawing/2014/main" id="{945AB16F-C80C-43A0-8A41-4DAFBDB16F73}"/>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214" name="Straight Connector 213">
              <a:extLst>
                <a:ext uri="{FF2B5EF4-FFF2-40B4-BE49-F238E27FC236}">
                  <a16:creationId xmlns:a16="http://schemas.microsoft.com/office/drawing/2014/main" id="{2AF6AE36-A2A5-4AFE-BE14-BF88BAA733DA}"/>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215" name="Group 71">
            <a:extLst>
              <a:ext uri="{FF2B5EF4-FFF2-40B4-BE49-F238E27FC236}">
                <a16:creationId xmlns:a16="http://schemas.microsoft.com/office/drawing/2014/main" id="{89BAF926-1563-4312-ACA9-187B62AD6B7D}"/>
              </a:ext>
            </a:extLst>
          </p:cNvPr>
          <p:cNvGrpSpPr/>
          <p:nvPr/>
        </p:nvGrpSpPr>
        <p:grpSpPr>
          <a:xfrm>
            <a:off x="8447238" y="4496490"/>
            <a:ext cx="457082" cy="228600"/>
            <a:chOff x="-66694" y="1130300"/>
            <a:chExt cx="533401" cy="228600"/>
          </a:xfrm>
          <a:effectLst>
            <a:outerShdw blurRad="50800" dist="38100" dir="2700000" algn="tl" rotWithShape="0">
              <a:prstClr val="black">
                <a:alpha val="40000"/>
              </a:prstClr>
            </a:outerShdw>
          </a:effectLst>
        </p:grpSpPr>
        <p:cxnSp>
          <p:nvCxnSpPr>
            <p:cNvPr id="216" name="Straight Connector 215">
              <a:extLst>
                <a:ext uri="{FF2B5EF4-FFF2-40B4-BE49-F238E27FC236}">
                  <a16:creationId xmlns:a16="http://schemas.microsoft.com/office/drawing/2014/main" id="{36647AB6-3B9E-4528-AE32-5DE9028950B8}"/>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217" name="Straight Connector 216">
              <a:extLst>
                <a:ext uri="{FF2B5EF4-FFF2-40B4-BE49-F238E27FC236}">
                  <a16:creationId xmlns:a16="http://schemas.microsoft.com/office/drawing/2014/main" id="{8F8990BC-D11B-4173-821A-3FEED2895473}"/>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218" name="Straight Connector 217">
              <a:extLst>
                <a:ext uri="{FF2B5EF4-FFF2-40B4-BE49-F238E27FC236}">
                  <a16:creationId xmlns:a16="http://schemas.microsoft.com/office/drawing/2014/main" id="{5789E112-3DC9-4052-9A7A-0580E80DA1DB}"/>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219" name="Straight Connector 218">
              <a:extLst>
                <a:ext uri="{FF2B5EF4-FFF2-40B4-BE49-F238E27FC236}">
                  <a16:creationId xmlns:a16="http://schemas.microsoft.com/office/drawing/2014/main" id="{960CBCD3-FFEB-4EB5-A40D-4702706190C7}"/>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220" name="Group 71">
            <a:extLst>
              <a:ext uri="{FF2B5EF4-FFF2-40B4-BE49-F238E27FC236}">
                <a16:creationId xmlns:a16="http://schemas.microsoft.com/office/drawing/2014/main" id="{D9DED428-9F23-46EF-AC33-CFA3642CBF44}"/>
              </a:ext>
            </a:extLst>
          </p:cNvPr>
          <p:cNvGrpSpPr/>
          <p:nvPr/>
        </p:nvGrpSpPr>
        <p:grpSpPr>
          <a:xfrm>
            <a:off x="8911636" y="4496490"/>
            <a:ext cx="457082" cy="228600"/>
            <a:chOff x="-66694" y="1130300"/>
            <a:chExt cx="533401" cy="228600"/>
          </a:xfrm>
          <a:effectLst>
            <a:outerShdw blurRad="50800" dist="38100" dir="2700000" algn="tl" rotWithShape="0">
              <a:prstClr val="black">
                <a:alpha val="40000"/>
              </a:prstClr>
            </a:outerShdw>
          </a:effectLst>
        </p:grpSpPr>
        <p:cxnSp>
          <p:nvCxnSpPr>
            <p:cNvPr id="221" name="Straight Connector 220">
              <a:extLst>
                <a:ext uri="{FF2B5EF4-FFF2-40B4-BE49-F238E27FC236}">
                  <a16:creationId xmlns:a16="http://schemas.microsoft.com/office/drawing/2014/main" id="{752D6904-F646-49D1-BF80-3D8AF2DF569D}"/>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222" name="Straight Connector 221">
              <a:extLst>
                <a:ext uri="{FF2B5EF4-FFF2-40B4-BE49-F238E27FC236}">
                  <a16:creationId xmlns:a16="http://schemas.microsoft.com/office/drawing/2014/main" id="{CF4AD1B3-B940-484D-BDE9-769FCF38F1E2}"/>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223" name="Straight Connector 222">
              <a:extLst>
                <a:ext uri="{FF2B5EF4-FFF2-40B4-BE49-F238E27FC236}">
                  <a16:creationId xmlns:a16="http://schemas.microsoft.com/office/drawing/2014/main" id="{D2D7A1F8-196B-4004-91AC-46E9A7C36BD7}"/>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224" name="Straight Connector 223">
              <a:extLst>
                <a:ext uri="{FF2B5EF4-FFF2-40B4-BE49-F238E27FC236}">
                  <a16:creationId xmlns:a16="http://schemas.microsoft.com/office/drawing/2014/main" id="{55BF262C-457C-46D8-825B-A37E4CCE6E77}"/>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98"/>
                                        </p:tgtEl>
                                        <p:attrNameLst>
                                          <p:attrName>style.visibility</p:attrName>
                                        </p:attrNameLst>
                                      </p:cBhvr>
                                      <p:to>
                                        <p:strVal val="visible"/>
                                      </p:to>
                                    </p:set>
                                    <p:animEffect transition="in" filter="checkerboard(across)">
                                      <p:cBhvr>
                                        <p:cTn id="7" dur="500"/>
                                        <p:tgtEl>
                                          <p:spTgt spid="1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 Filter with C++</a:t>
            </a:r>
          </a:p>
        </p:txBody>
      </p:sp>
      <p:sp>
        <p:nvSpPr>
          <p:cNvPr id="3" name="Content Placeholder 2"/>
          <p:cNvSpPr>
            <a:spLocks noGrp="1"/>
          </p:cNvSpPr>
          <p:nvPr>
            <p:ph idx="1"/>
          </p:nvPr>
        </p:nvSpPr>
        <p:spPr>
          <a:xfrm>
            <a:off x="591121" y="1253548"/>
            <a:ext cx="11033760" cy="4632960"/>
          </a:xfrm>
        </p:spPr>
        <p:txBody>
          <a:bodyPr>
            <a:normAutofit/>
          </a:bodyPr>
          <a:lstStyle/>
          <a:p>
            <a:r>
              <a:rPr lang="en-US" dirty="0"/>
              <a:t>C++ Coding Style</a:t>
            </a:r>
          </a:p>
          <a:p>
            <a:pPr lvl="1"/>
            <a:r>
              <a:rPr lang="en-US" sz="1600" dirty="0"/>
              <a:t>Top-level defines RTL IO</a:t>
            </a:r>
          </a:p>
          <a:p>
            <a:pPr lvl="1"/>
            <a:r>
              <a:rPr lang="en-US" sz="1600" dirty="0"/>
              <a:t>A class defines the functionality</a:t>
            </a:r>
          </a:p>
          <a:p>
            <a:pPr lvl="2"/>
            <a:r>
              <a:rPr lang="en-US" sz="1400" dirty="0"/>
              <a:t>Additional classes or sub-functions </a:t>
            </a:r>
            <a:br>
              <a:rPr lang="en-US" sz="1400" dirty="0"/>
            </a:br>
            <a:r>
              <a:rPr lang="en-US" sz="1400" dirty="0"/>
              <a:t>can be added</a:t>
            </a:r>
          </a:p>
          <a:p>
            <a:pPr lvl="1"/>
            <a:r>
              <a:rPr lang="en-US" sz="1600" dirty="0"/>
              <a:t>The class is instantiated in the </a:t>
            </a:r>
            <a:br>
              <a:rPr lang="en-US" sz="1600" dirty="0"/>
            </a:br>
            <a:r>
              <a:rPr lang="en-US" sz="1600" dirty="0"/>
              <a:t>top-level function</a:t>
            </a:r>
          </a:p>
          <a:p>
            <a:pPr lvl="2"/>
            <a:r>
              <a:rPr lang="en-US" sz="1400" dirty="0"/>
              <a:t>Methods can be used</a:t>
            </a:r>
            <a:endParaRPr lang="en-US" dirty="0"/>
          </a:p>
        </p:txBody>
      </p:sp>
      <p:sp>
        <p:nvSpPr>
          <p:cNvPr id="16" name="Slide Number Placeholder 5">
            <a:extLst>
              <a:ext uri="{FF2B5EF4-FFF2-40B4-BE49-F238E27FC236}">
                <a16:creationId xmlns:a16="http://schemas.microsoft.com/office/drawing/2014/main" id="{3659652B-B071-4E98-80B3-7FC2C87BD07B}"/>
              </a:ext>
            </a:extLst>
          </p:cNvPr>
          <p:cNvSpPr>
            <a:spLocks noGrp="1"/>
          </p:cNvSpPr>
          <p:nvPr>
            <p:ph type="sldNum" sz="quarter" idx="4"/>
          </p:nvPr>
        </p:nvSpPr>
        <p:spPr/>
        <p:txBody>
          <a:bodyPr/>
          <a:lstStyle/>
          <a:p>
            <a:pPr>
              <a:defRPr/>
            </a:pPr>
            <a:r>
              <a:rPr lang="en-US" dirty="0"/>
              <a:t>Coding Considerations 23- </a:t>
            </a:r>
            <a:fld id="{060BD193-E118-4B16-863C-C8C12C675E3E}" type="slidenum">
              <a:rPr lang="en-US" smtClean="0"/>
              <a:pPr>
                <a:defRPr/>
              </a:pPr>
              <a:t>16</a:t>
            </a:fld>
            <a:endParaRPr lang="en-US" dirty="0"/>
          </a:p>
        </p:txBody>
      </p:sp>
      <p:sp>
        <p:nvSpPr>
          <p:cNvPr id="15" name="TextBox 14">
            <a:extLst>
              <a:ext uri="{FF2B5EF4-FFF2-40B4-BE49-F238E27FC236}">
                <a16:creationId xmlns:a16="http://schemas.microsoft.com/office/drawing/2014/main" id="{9C46CCEB-6AE8-46E9-8603-5C3E7C67007A}"/>
              </a:ext>
            </a:extLst>
          </p:cNvPr>
          <p:cNvSpPr txBox="1"/>
          <p:nvPr/>
        </p:nvSpPr>
        <p:spPr>
          <a:xfrm>
            <a:off x="464734" y="3839300"/>
            <a:ext cx="4607400" cy="2377440"/>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defRPr/>
            </a:pPr>
            <a:r>
              <a:rPr lang="en-US" sz="1000" kern="0" dirty="0">
                <a:solidFill>
                  <a:srgbClr val="000000"/>
                </a:solidFill>
                <a:latin typeface="Arial"/>
              </a:rPr>
              <a:t>#include “</a:t>
            </a:r>
            <a:r>
              <a:rPr lang="en-US" sz="1000" kern="0" dirty="0" err="1">
                <a:solidFill>
                  <a:srgbClr val="000000"/>
                </a:solidFill>
                <a:latin typeface="Arial"/>
              </a:rPr>
              <a:t>types.h</a:t>
            </a:r>
            <a:r>
              <a:rPr lang="en-US" sz="1000" kern="0" dirty="0">
                <a:solidFill>
                  <a:srgbClr val="000000"/>
                </a:solidFill>
                <a:latin typeface="Arial"/>
              </a:rPr>
              <a:t>”</a:t>
            </a:r>
          </a:p>
          <a:p>
            <a:pPr defTabSz="914400" fontAlgn="base">
              <a:spcBef>
                <a:spcPct val="0"/>
              </a:spcBef>
              <a:spcAft>
                <a:spcPct val="0"/>
              </a:spcAft>
              <a:defRPr/>
            </a:pPr>
            <a:r>
              <a:rPr lang="en-US" sz="1000" kern="0" dirty="0">
                <a:solidFill>
                  <a:srgbClr val="000000"/>
                </a:solidFill>
                <a:latin typeface="Arial"/>
              </a:rPr>
              <a:t>template&lt;class </a:t>
            </a:r>
            <a:r>
              <a:rPr lang="en-US" sz="1000" kern="0" dirty="0" err="1">
                <a:solidFill>
                  <a:srgbClr val="000000"/>
                </a:solidFill>
                <a:latin typeface="Arial"/>
              </a:rPr>
              <a:t>coef_T</a:t>
            </a:r>
            <a:r>
              <a:rPr lang="en-US" sz="1000" kern="0" dirty="0">
                <a:solidFill>
                  <a:srgbClr val="000000"/>
                </a:solidFill>
                <a:latin typeface="Arial"/>
              </a:rPr>
              <a:t>, class </a:t>
            </a:r>
            <a:r>
              <a:rPr lang="en-US" sz="1000" kern="0" dirty="0" err="1">
                <a:solidFill>
                  <a:srgbClr val="000000"/>
                </a:solidFill>
                <a:latin typeface="Arial"/>
              </a:rPr>
              <a:t>data_T</a:t>
            </a:r>
            <a:r>
              <a:rPr lang="en-US" sz="1000" kern="0" dirty="0">
                <a:solidFill>
                  <a:srgbClr val="000000"/>
                </a:solidFill>
                <a:latin typeface="Arial"/>
              </a:rPr>
              <a:t>, class </a:t>
            </a:r>
            <a:r>
              <a:rPr lang="en-US" sz="1000" kern="0" dirty="0" err="1">
                <a:solidFill>
                  <a:srgbClr val="000000"/>
                </a:solidFill>
                <a:latin typeface="Arial"/>
              </a:rPr>
              <a:t>acc_T</a:t>
            </a:r>
            <a:r>
              <a:rPr lang="en-US" sz="1000" kern="0" dirty="0">
                <a:solidFill>
                  <a:srgbClr val="000000"/>
                </a:solidFill>
                <a:latin typeface="Arial"/>
              </a:rPr>
              <a:t>&gt;</a:t>
            </a:r>
          </a:p>
          <a:p>
            <a:pPr defTabSz="914400" fontAlgn="base">
              <a:spcBef>
                <a:spcPct val="0"/>
              </a:spcBef>
              <a:spcAft>
                <a:spcPct val="0"/>
              </a:spcAft>
              <a:defRPr/>
            </a:pPr>
            <a:r>
              <a:rPr lang="en-US" sz="1000" kern="0" dirty="0">
                <a:solidFill>
                  <a:srgbClr val="000000"/>
                </a:solidFill>
                <a:latin typeface="Arial"/>
              </a:rPr>
              <a:t>class </a:t>
            </a:r>
            <a:r>
              <a:rPr lang="en-US" sz="1000" b="1" kern="0" dirty="0" err="1">
                <a:solidFill>
                  <a:srgbClr val="000000"/>
                </a:solidFill>
                <a:latin typeface="Arial"/>
              </a:rPr>
              <a:t>CFir</a:t>
            </a:r>
            <a:endParaRPr lang="en-US" sz="1000" b="1" kern="0" dirty="0">
              <a:solidFill>
                <a:srgbClr val="000000"/>
              </a:solidFill>
              <a:latin typeface="Arial"/>
            </a:endParaRPr>
          </a:p>
          <a:p>
            <a:pPr defTabSz="914400" fontAlgn="base">
              <a:spcBef>
                <a:spcPct val="0"/>
              </a:spcBef>
              <a:spcAft>
                <a:spcPct val="0"/>
              </a:spcAft>
              <a:defRPr/>
            </a:pPr>
            <a:r>
              <a:rPr lang="en-US" sz="1000" kern="0" dirty="0">
                <a:solidFill>
                  <a:srgbClr val="000000"/>
                </a:solidFill>
                <a:latin typeface="Arial"/>
              </a:rPr>
              <a:t>  {</a:t>
            </a:r>
          </a:p>
          <a:p>
            <a:pPr defTabSz="914400" fontAlgn="base">
              <a:spcBef>
                <a:spcPct val="0"/>
              </a:spcBef>
              <a:spcAft>
                <a:spcPct val="0"/>
              </a:spcAft>
              <a:defRPr/>
            </a:pPr>
            <a:r>
              <a:rPr lang="en-US" sz="1000" kern="0" dirty="0">
                <a:solidFill>
                  <a:srgbClr val="000000"/>
                </a:solidFill>
                <a:latin typeface="Arial"/>
              </a:rPr>
              <a:t>protected:</a:t>
            </a:r>
          </a:p>
          <a:p>
            <a:pPr defTabSz="914400" fontAlgn="base">
              <a:spcBef>
                <a:spcPct val="0"/>
              </a:spcBef>
              <a:spcAft>
                <a:spcPct val="0"/>
              </a:spcAft>
              <a:defRPr/>
            </a:pPr>
            <a:r>
              <a:rPr lang="en-US" sz="1000" kern="0" dirty="0">
                <a:solidFill>
                  <a:srgbClr val="000000"/>
                </a:solidFill>
                <a:latin typeface="Arial"/>
              </a:rPr>
              <a:t>  static const </a:t>
            </a:r>
            <a:r>
              <a:rPr lang="en-US" sz="1000" kern="0" dirty="0" err="1">
                <a:solidFill>
                  <a:srgbClr val="000000"/>
                </a:solidFill>
                <a:latin typeface="Arial"/>
              </a:rPr>
              <a:t>coef_T</a:t>
            </a:r>
            <a:r>
              <a:rPr lang="en-US" sz="1000" kern="0" dirty="0">
                <a:solidFill>
                  <a:srgbClr val="000000"/>
                </a:solidFill>
                <a:latin typeface="Arial"/>
              </a:rPr>
              <a:t> c[];</a:t>
            </a:r>
          </a:p>
          <a:p>
            <a:pPr defTabSz="914400" fontAlgn="base">
              <a:spcBef>
                <a:spcPct val="0"/>
              </a:spcBef>
              <a:spcAft>
                <a:spcPct val="0"/>
              </a:spcAft>
              <a:defRPr/>
            </a:pPr>
            <a:r>
              <a:rPr lang="en-US" sz="1000" kern="0" dirty="0">
                <a:solidFill>
                  <a:srgbClr val="000000"/>
                </a:solidFill>
                <a:latin typeface="Arial"/>
              </a:rPr>
              <a:t>  </a:t>
            </a:r>
            <a:r>
              <a:rPr lang="en-US" sz="1000" kern="0" dirty="0" err="1">
                <a:solidFill>
                  <a:srgbClr val="000000"/>
                </a:solidFill>
                <a:latin typeface="Arial"/>
              </a:rPr>
              <a:t>data_T</a:t>
            </a:r>
            <a:r>
              <a:rPr lang="en-US" sz="1000" kern="0" dirty="0">
                <a:solidFill>
                  <a:srgbClr val="000000"/>
                </a:solidFill>
                <a:latin typeface="Arial"/>
              </a:rPr>
              <a:t> </a:t>
            </a:r>
            <a:r>
              <a:rPr lang="en-US" sz="1000" kern="0" dirty="0" err="1">
                <a:solidFill>
                  <a:srgbClr val="000000"/>
                </a:solidFill>
                <a:latin typeface="Arial"/>
              </a:rPr>
              <a:t>shift_reg</a:t>
            </a:r>
            <a:r>
              <a:rPr lang="en-US" sz="1000" kern="0" dirty="0">
                <a:solidFill>
                  <a:srgbClr val="000000"/>
                </a:solidFill>
                <a:latin typeface="Arial"/>
              </a:rPr>
              <a:t>[N-1];</a:t>
            </a:r>
          </a:p>
          <a:p>
            <a:pPr defTabSz="914400" fontAlgn="base">
              <a:spcBef>
                <a:spcPct val="0"/>
              </a:spcBef>
              <a:spcAft>
                <a:spcPct val="0"/>
              </a:spcAft>
              <a:defRPr/>
            </a:pPr>
            <a:r>
              <a:rPr lang="en-US" sz="1000" kern="0" dirty="0">
                <a:solidFill>
                  <a:srgbClr val="000000"/>
                </a:solidFill>
                <a:latin typeface="Arial"/>
              </a:rPr>
              <a:t>private:</a:t>
            </a:r>
          </a:p>
          <a:p>
            <a:pPr defTabSz="914400" fontAlgn="base">
              <a:spcBef>
                <a:spcPct val="0"/>
              </a:spcBef>
              <a:spcAft>
                <a:spcPct val="0"/>
              </a:spcAft>
              <a:defRPr/>
            </a:pPr>
            <a:r>
              <a:rPr lang="en-US" sz="1000" kern="0" dirty="0">
                <a:solidFill>
                  <a:srgbClr val="000000"/>
                </a:solidFill>
                <a:latin typeface="Arial"/>
              </a:rPr>
              <a:t>public:</a:t>
            </a:r>
          </a:p>
          <a:p>
            <a:pPr defTabSz="914400" fontAlgn="base">
              <a:spcBef>
                <a:spcPct val="0"/>
              </a:spcBef>
              <a:spcAft>
                <a:spcPct val="0"/>
              </a:spcAft>
              <a:defRPr/>
            </a:pPr>
            <a:r>
              <a:rPr lang="en-US" sz="1000" kern="0" dirty="0">
                <a:solidFill>
                  <a:srgbClr val="000000"/>
                </a:solidFill>
                <a:latin typeface="Arial"/>
              </a:rPr>
              <a:t>  </a:t>
            </a:r>
            <a:r>
              <a:rPr lang="en-US" sz="1000" kern="0" dirty="0" err="1">
                <a:solidFill>
                  <a:srgbClr val="000000"/>
                </a:solidFill>
                <a:latin typeface="Arial"/>
              </a:rPr>
              <a:t>data_T</a:t>
            </a:r>
            <a:r>
              <a:rPr lang="en-US" sz="1000" kern="0" dirty="0">
                <a:solidFill>
                  <a:srgbClr val="000000"/>
                </a:solidFill>
                <a:latin typeface="Arial"/>
              </a:rPr>
              <a:t> </a:t>
            </a:r>
            <a:r>
              <a:rPr lang="en-US" sz="1000" b="1" kern="0" dirty="0">
                <a:solidFill>
                  <a:srgbClr val="000000"/>
                </a:solidFill>
                <a:latin typeface="Arial"/>
              </a:rPr>
              <a:t>operator()</a:t>
            </a:r>
            <a:r>
              <a:rPr lang="en-US" sz="1000" kern="0" dirty="0">
                <a:solidFill>
                  <a:srgbClr val="000000"/>
                </a:solidFill>
                <a:latin typeface="Arial"/>
              </a:rPr>
              <a:t>(</a:t>
            </a:r>
            <a:r>
              <a:rPr lang="en-US" sz="1000" kern="0" dirty="0" err="1">
                <a:solidFill>
                  <a:srgbClr val="000000"/>
                </a:solidFill>
                <a:latin typeface="Arial"/>
              </a:rPr>
              <a:t>data_T</a:t>
            </a:r>
            <a:r>
              <a:rPr lang="en-US" sz="1000" kern="0" dirty="0">
                <a:solidFill>
                  <a:srgbClr val="000000"/>
                </a:solidFill>
                <a:latin typeface="Arial"/>
              </a:rPr>
              <a:t> x);</a:t>
            </a:r>
          </a:p>
          <a:p>
            <a:pPr defTabSz="914400" fontAlgn="base">
              <a:spcBef>
                <a:spcPct val="0"/>
              </a:spcBef>
              <a:spcAft>
                <a:spcPct val="0"/>
              </a:spcAft>
              <a:defRPr/>
            </a:pPr>
            <a:r>
              <a:rPr lang="en-US" sz="1000" kern="0" dirty="0">
                <a:solidFill>
                  <a:srgbClr val="000000"/>
                </a:solidFill>
                <a:latin typeface="Arial"/>
              </a:rPr>
              <a:t>  template&lt;class </a:t>
            </a:r>
            <a:r>
              <a:rPr lang="en-US" sz="1000" kern="0" dirty="0" err="1">
                <a:solidFill>
                  <a:srgbClr val="000000"/>
                </a:solidFill>
                <a:latin typeface="Arial"/>
              </a:rPr>
              <a:t>coef_TT</a:t>
            </a:r>
            <a:r>
              <a:rPr lang="en-US" sz="1000" kern="0" dirty="0">
                <a:solidFill>
                  <a:srgbClr val="000000"/>
                </a:solidFill>
                <a:latin typeface="Arial"/>
              </a:rPr>
              <a:t>, class </a:t>
            </a:r>
            <a:r>
              <a:rPr lang="en-US" sz="1000" kern="0" dirty="0" err="1">
                <a:solidFill>
                  <a:srgbClr val="000000"/>
                </a:solidFill>
                <a:latin typeface="Arial"/>
              </a:rPr>
              <a:t>data_TT</a:t>
            </a:r>
            <a:r>
              <a:rPr lang="en-US" sz="1000" kern="0" dirty="0">
                <a:solidFill>
                  <a:srgbClr val="000000"/>
                </a:solidFill>
                <a:latin typeface="Arial"/>
              </a:rPr>
              <a:t>, class </a:t>
            </a:r>
            <a:r>
              <a:rPr lang="en-US" sz="1000" kern="0" dirty="0" err="1">
                <a:solidFill>
                  <a:srgbClr val="000000"/>
                </a:solidFill>
                <a:latin typeface="Arial"/>
              </a:rPr>
              <a:t>acc_TT</a:t>
            </a:r>
            <a:r>
              <a:rPr lang="en-US" sz="1000" kern="0" dirty="0">
                <a:solidFill>
                  <a:srgbClr val="000000"/>
                </a:solidFill>
                <a:latin typeface="Arial"/>
              </a:rPr>
              <a:t>&gt;</a:t>
            </a:r>
          </a:p>
          <a:p>
            <a:pPr defTabSz="914400" fontAlgn="base">
              <a:spcBef>
                <a:spcPct val="0"/>
              </a:spcBef>
              <a:spcAft>
                <a:spcPct val="0"/>
              </a:spcAft>
              <a:defRPr/>
            </a:pPr>
            <a:endParaRPr lang="en-US" sz="1000" kern="0" dirty="0">
              <a:solidFill>
                <a:srgbClr val="000000"/>
              </a:solidFill>
              <a:latin typeface="Arial"/>
            </a:endParaRPr>
          </a:p>
          <a:p>
            <a:pPr defTabSz="914400" fontAlgn="base">
              <a:spcBef>
                <a:spcPct val="0"/>
              </a:spcBef>
              <a:spcAft>
                <a:spcPct val="0"/>
              </a:spcAft>
              <a:defRPr/>
            </a:pPr>
            <a:r>
              <a:rPr lang="en-US" sz="1000" kern="0" dirty="0">
                <a:solidFill>
                  <a:srgbClr val="000000"/>
                </a:solidFill>
                <a:latin typeface="Arial"/>
              </a:rPr>
              <a:t>  };</a:t>
            </a:r>
          </a:p>
          <a:p>
            <a:pPr defTabSz="914400" fontAlgn="base">
              <a:spcBef>
                <a:spcPct val="0"/>
              </a:spcBef>
              <a:spcAft>
                <a:spcPct val="0"/>
              </a:spcAft>
              <a:defRPr/>
            </a:pPr>
            <a:endParaRPr lang="en-US" sz="1000" kern="0" dirty="0">
              <a:solidFill>
                <a:srgbClr val="000000"/>
              </a:solidFill>
              <a:latin typeface="Arial"/>
            </a:endParaRPr>
          </a:p>
          <a:p>
            <a:pPr defTabSz="914400" fontAlgn="base">
              <a:spcBef>
                <a:spcPct val="0"/>
              </a:spcBef>
              <a:spcAft>
                <a:spcPct val="0"/>
              </a:spcAft>
              <a:defRPr/>
            </a:pPr>
            <a:r>
              <a:rPr lang="en-US" sz="1000" kern="0" dirty="0" err="1">
                <a:solidFill>
                  <a:srgbClr val="000000"/>
                </a:solidFill>
                <a:latin typeface="Arial"/>
              </a:rPr>
              <a:t>data_t</a:t>
            </a:r>
            <a:r>
              <a:rPr lang="en-US" sz="1000" kern="0" dirty="0">
                <a:solidFill>
                  <a:srgbClr val="000000"/>
                </a:solidFill>
                <a:latin typeface="Arial"/>
              </a:rPr>
              <a:t> fir(</a:t>
            </a:r>
            <a:r>
              <a:rPr lang="en-US" sz="1000" kern="0" dirty="0" err="1">
                <a:solidFill>
                  <a:srgbClr val="000000"/>
                </a:solidFill>
                <a:latin typeface="Arial"/>
              </a:rPr>
              <a:t>data_t</a:t>
            </a:r>
            <a:r>
              <a:rPr lang="en-US" sz="1000" kern="0" dirty="0">
                <a:solidFill>
                  <a:srgbClr val="000000"/>
                </a:solidFill>
                <a:latin typeface="Arial"/>
              </a:rPr>
              <a:t> x);</a:t>
            </a:r>
          </a:p>
        </p:txBody>
      </p:sp>
      <p:sp>
        <p:nvSpPr>
          <p:cNvPr id="21" name="TextBox 20">
            <a:extLst>
              <a:ext uri="{FF2B5EF4-FFF2-40B4-BE49-F238E27FC236}">
                <a16:creationId xmlns:a16="http://schemas.microsoft.com/office/drawing/2014/main" id="{CF632DE5-02F5-40FD-AFC9-D50495AEB8E4}"/>
              </a:ext>
            </a:extLst>
          </p:cNvPr>
          <p:cNvSpPr txBox="1"/>
          <p:nvPr/>
        </p:nvSpPr>
        <p:spPr>
          <a:xfrm>
            <a:off x="4304235" y="3762490"/>
            <a:ext cx="767900" cy="253916"/>
          </a:xfrm>
          <a:prstGeom prst="rect">
            <a:avLst/>
          </a:prstGeom>
          <a:solidFill>
            <a:srgbClr val="7030A0"/>
          </a:solidFill>
          <a:ln w="9525" cap="flat" cmpd="sng" algn="ctr">
            <a:solidFill>
              <a:srgbClr val="3F3F3F">
                <a:shade val="95000"/>
                <a:satMod val="105000"/>
              </a:srgbClr>
            </a:solidFill>
            <a:prstDash val="solid"/>
          </a:ln>
          <a:effectLst>
            <a:outerShdw blurRad="40000" dist="23000" dir="5400000" rotWithShape="0">
              <a:srgbClr val="000000">
                <a:alpha val="35000"/>
              </a:srgbClr>
            </a:outerShdw>
          </a:effectLst>
        </p:spPr>
        <p:txBody>
          <a:bodyPr wrap="square" rtlCol="0">
            <a:spAutoFit/>
          </a:bodyPr>
          <a:lstStyle/>
          <a:p>
            <a:pPr algn="ctr" defTabSz="914400" fontAlgn="base">
              <a:spcBef>
                <a:spcPct val="0"/>
              </a:spcBef>
              <a:spcAft>
                <a:spcPct val="0"/>
              </a:spcAft>
              <a:defRPr/>
            </a:pPr>
            <a:r>
              <a:rPr lang="en-US" sz="1050" b="1" kern="0" dirty="0" err="1">
                <a:solidFill>
                  <a:srgbClr val="FFFFFF"/>
                </a:solidFill>
                <a:latin typeface="Arial"/>
              </a:rPr>
              <a:t>fir.h</a:t>
            </a:r>
            <a:endParaRPr lang="en-US" sz="1050" b="1" kern="0" dirty="0">
              <a:solidFill>
                <a:srgbClr val="FFFFFF"/>
              </a:solidFill>
              <a:latin typeface="Arial"/>
            </a:endParaRPr>
          </a:p>
        </p:txBody>
      </p:sp>
      <p:sp>
        <p:nvSpPr>
          <p:cNvPr id="22" name="TextBox 21">
            <a:extLst>
              <a:ext uri="{FF2B5EF4-FFF2-40B4-BE49-F238E27FC236}">
                <a16:creationId xmlns:a16="http://schemas.microsoft.com/office/drawing/2014/main" id="{D9E0259D-43AD-466C-80E9-BF5BD6857545}"/>
              </a:ext>
            </a:extLst>
          </p:cNvPr>
          <p:cNvSpPr txBox="1"/>
          <p:nvPr/>
        </p:nvSpPr>
        <p:spPr>
          <a:xfrm>
            <a:off x="2102921" y="5759550"/>
            <a:ext cx="1996540" cy="253916"/>
          </a:xfrm>
          <a:prstGeom prst="rect">
            <a:avLst/>
          </a:prstGeom>
          <a:solidFill>
            <a:srgbClr val="FFFF99"/>
          </a:solidFill>
          <a:ln w="28575">
            <a:solidFill>
              <a:srgbClr val="000000"/>
            </a:solidFill>
          </a:ln>
          <a:effectLst>
            <a:innerShdw blurRad="63500" dist="50800" dir="2700000">
              <a:prstClr val="black">
                <a:alpha val="50000"/>
              </a:prstClr>
            </a:innerShdw>
          </a:effectLst>
        </p:spPr>
        <p:txBody>
          <a:bodyPr wrap="square" rtlCol="0">
            <a:spAutoFit/>
          </a:bodyPr>
          <a:lstStyle/>
          <a:p>
            <a:pPr algn="ctr" defTabSz="914400" fontAlgn="base">
              <a:spcBef>
                <a:spcPct val="50000"/>
              </a:spcBef>
              <a:spcAft>
                <a:spcPct val="0"/>
              </a:spcAft>
              <a:defRPr/>
            </a:pPr>
            <a:r>
              <a:rPr lang="en-US" altLang="zh-CN" sz="1050" b="1" kern="0" dirty="0" err="1">
                <a:solidFill>
                  <a:srgbClr val="000000"/>
                </a:solidFill>
                <a:ea typeface="宋体" charset="-122"/>
              </a:rPr>
              <a:t>CFir</a:t>
            </a:r>
            <a:r>
              <a:rPr lang="en-US" altLang="zh-CN" sz="1050" b="1" kern="0" dirty="0">
                <a:solidFill>
                  <a:srgbClr val="000000"/>
                </a:solidFill>
                <a:ea typeface="宋体" charset="-122"/>
              </a:rPr>
              <a:t> Class defined</a:t>
            </a:r>
          </a:p>
        </p:txBody>
      </p:sp>
      <p:sp>
        <p:nvSpPr>
          <p:cNvPr id="23" name="TextBox 22">
            <a:extLst>
              <a:ext uri="{FF2B5EF4-FFF2-40B4-BE49-F238E27FC236}">
                <a16:creationId xmlns:a16="http://schemas.microsoft.com/office/drawing/2014/main" id="{21D9CE5F-0B0D-4658-90D1-8C918629838B}"/>
              </a:ext>
            </a:extLst>
          </p:cNvPr>
          <p:cNvSpPr txBox="1"/>
          <p:nvPr/>
        </p:nvSpPr>
        <p:spPr>
          <a:xfrm>
            <a:off x="5328102" y="1227760"/>
            <a:ext cx="5324106" cy="4992650"/>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defRPr/>
            </a:pPr>
            <a:endParaRPr lang="en-US" sz="1000" kern="0" dirty="0">
              <a:solidFill>
                <a:srgbClr val="000000"/>
              </a:solidFill>
              <a:latin typeface="Arial"/>
            </a:endParaRPr>
          </a:p>
          <a:p>
            <a:pPr defTabSz="914400" fontAlgn="base">
              <a:spcBef>
                <a:spcPct val="0"/>
              </a:spcBef>
              <a:spcAft>
                <a:spcPct val="0"/>
              </a:spcAft>
              <a:defRPr/>
            </a:pPr>
            <a:r>
              <a:rPr lang="en-US" sz="1000" kern="0" dirty="0">
                <a:solidFill>
                  <a:srgbClr val="000000"/>
                </a:solidFill>
                <a:latin typeface="Arial"/>
              </a:rPr>
              <a:t>template&lt;class </a:t>
            </a:r>
            <a:r>
              <a:rPr lang="en-US" sz="1000" kern="0" dirty="0" err="1">
                <a:solidFill>
                  <a:srgbClr val="000000"/>
                </a:solidFill>
                <a:latin typeface="Arial"/>
              </a:rPr>
              <a:t>coef_T</a:t>
            </a:r>
            <a:r>
              <a:rPr lang="en-US" sz="1000" kern="0" dirty="0">
                <a:solidFill>
                  <a:srgbClr val="000000"/>
                </a:solidFill>
                <a:latin typeface="Arial"/>
              </a:rPr>
              <a:t>, class </a:t>
            </a:r>
            <a:r>
              <a:rPr lang="en-US" sz="1000" kern="0" dirty="0" err="1">
                <a:solidFill>
                  <a:srgbClr val="000000"/>
                </a:solidFill>
                <a:latin typeface="Arial"/>
              </a:rPr>
              <a:t>data_T</a:t>
            </a:r>
            <a:r>
              <a:rPr lang="en-US" sz="1000" kern="0" dirty="0">
                <a:solidFill>
                  <a:srgbClr val="000000"/>
                </a:solidFill>
                <a:latin typeface="Arial"/>
              </a:rPr>
              <a:t>, class </a:t>
            </a:r>
            <a:r>
              <a:rPr lang="en-US" sz="1000" kern="0" dirty="0" err="1">
                <a:solidFill>
                  <a:srgbClr val="000000"/>
                </a:solidFill>
                <a:latin typeface="Arial"/>
              </a:rPr>
              <a:t>acc_T</a:t>
            </a:r>
            <a:r>
              <a:rPr lang="en-US" sz="1000" kern="0" dirty="0">
                <a:solidFill>
                  <a:srgbClr val="000000"/>
                </a:solidFill>
                <a:latin typeface="Arial"/>
              </a:rPr>
              <a:t>&gt;</a:t>
            </a:r>
          </a:p>
          <a:p>
            <a:pPr defTabSz="914400" fontAlgn="base">
              <a:spcBef>
                <a:spcPct val="0"/>
              </a:spcBef>
              <a:spcAft>
                <a:spcPct val="0"/>
              </a:spcAft>
              <a:defRPr/>
            </a:pPr>
            <a:r>
              <a:rPr lang="en-US" sz="1000" kern="0" dirty="0">
                <a:solidFill>
                  <a:srgbClr val="000000"/>
                </a:solidFill>
                <a:latin typeface="Arial"/>
              </a:rPr>
              <a:t>const </a:t>
            </a:r>
            <a:r>
              <a:rPr lang="en-US" sz="1000" kern="0" dirty="0" err="1">
                <a:solidFill>
                  <a:srgbClr val="000000"/>
                </a:solidFill>
                <a:latin typeface="Arial"/>
              </a:rPr>
              <a:t>coef_T</a:t>
            </a:r>
            <a:r>
              <a:rPr lang="en-US" sz="1000" kern="0" dirty="0">
                <a:solidFill>
                  <a:srgbClr val="000000"/>
                </a:solidFill>
                <a:latin typeface="Arial"/>
              </a:rPr>
              <a:t> </a:t>
            </a:r>
            <a:r>
              <a:rPr lang="en-US" sz="1000" kern="0" dirty="0" err="1">
                <a:solidFill>
                  <a:srgbClr val="000000"/>
                </a:solidFill>
                <a:latin typeface="Arial"/>
              </a:rPr>
              <a:t>CFir</a:t>
            </a:r>
            <a:r>
              <a:rPr lang="en-US" sz="1000" kern="0" dirty="0">
                <a:solidFill>
                  <a:srgbClr val="000000"/>
                </a:solidFill>
                <a:latin typeface="Arial"/>
              </a:rPr>
              <a:t>&lt;</a:t>
            </a:r>
            <a:r>
              <a:rPr lang="en-US" sz="1000" kern="0" dirty="0" err="1">
                <a:solidFill>
                  <a:srgbClr val="000000"/>
                </a:solidFill>
                <a:latin typeface="Arial"/>
              </a:rPr>
              <a:t>coef_T</a:t>
            </a:r>
            <a:r>
              <a:rPr lang="en-US" sz="1000" kern="0" dirty="0">
                <a:solidFill>
                  <a:srgbClr val="000000"/>
                </a:solidFill>
                <a:latin typeface="Arial"/>
              </a:rPr>
              <a:t>, </a:t>
            </a:r>
            <a:r>
              <a:rPr lang="en-US" sz="1000" kern="0" dirty="0" err="1">
                <a:solidFill>
                  <a:srgbClr val="000000"/>
                </a:solidFill>
                <a:latin typeface="Arial"/>
              </a:rPr>
              <a:t>data_T</a:t>
            </a:r>
            <a:r>
              <a:rPr lang="en-US" sz="1000" kern="0" dirty="0">
                <a:solidFill>
                  <a:srgbClr val="000000"/>
                </a:solidFill>
                <a:latin typeface="Arial"/>
              </a:rPr>
              <a:t>, </a:t>
            </a:r>
            <a:r>
              <a:rPr lang="en-US" sz="1000" kern="0" dirty="0" err="1">
                <a:solidFill>
                  <a:srgbClr val="000000"/>
                </a:solidFill>
                <a:latin typeface="Arial"/>
              </a:rPr>
              <a:t>acc_T</a:t>
            </a:r>
            <a:r>
              <a:rPr lang="en-US" sz="1000" kern="0" dirty="0">
                <a:solidFill>
                  <a:srgbClr val="000000"/>
                </a:solidFill>
                <a:latin typeface="Arial"/>
              </a:rPr>
              <a:t>&gt;::c[] =</a:t>
            </a:r>
          </a:p>
          <a:p>
            <a:pPr defTabSz="914400" fontAlgn="base">
              <a:spcBef>
                <a:spcPct val="0"/>
              </a:spcBef>
              <a:spcAft>
                <a:spcPct val="0"/>
              </a:spcAft>
              <a:defRPr/>
            </a:pPr>
            <a:r>
              <a:rPr lang="en-US" sz="1000" kern="0" dirty="0">
                <a:solidFill>
                  <a:srgbClr val="000000"/>
                </a:solidFill>
                <a:latin typeface="Arial"/>
              </a:rPr>
              <a:t>  {</a:t>
            </a:r>
          </a:p>
          <a:p>
            <a:pPr defTabSz="914400" fontAlgn="base">
              <a:spcBef>
                <a:spcPct val="0"/>
              </a:spcBef>
              <a:spcAft>
                <a:spcPct val="0"/>
              </a:spcAft>
              <a:defRPr/>
            </a:pPr>
            <a:r>
              <a:rPr lang="en-US" sz="1000" kern="0" dirty="0">
                <a:solidFill>
                  <a:srgbClr val="000000"/>
                </a:solidFill>
                <a:latin typeface="Arial"/>
              </a:rPr>
              <a:t>#include "</a:t>
            </a:r>
            <a:r>
              <a:rPr lang="en-US" sz="1000" kern="0" dirty="0" err="1">
                <a:solidFill>
                  <a:srgbClr val="000000"/>
                </a:solidFill>
                <a:latin typeface="Arial"/>
              </a:rPr>
              <a:t>fir_coeff.h</a:t>
            </a:r>
            <a:r>
              <a:rPr lang="en-US" sz="1000" kern="0" dirty="0">
                <a:solidFill>
                  <a:srgbClr val="000000"/>
                </a:solidFill>
                <a:latin typeface="Arial"/>
              </a:rPr>
              <a:t>"</a:t>
            </a:r>
          </a:p>
          <a:p>
            <a:pPr defTabSz="914400" fontAlgn="base">
              <a:spcBef>
                <a:spcPct val="0"/>
              </a:spcBef>
              <a:spcAft>
                <a:spcPct val="0"/>
              </a:spcAft>
              <a:defRPr/>
            </a:pPr>
            <a:r>
              <a:rPr lang="en-US" sz="1000" kern="0" dirty="0">
                <a:solidFill>
                  <a:srgbClr val="000000"/>
                </a:solidFill>
                <a:latin typeface="Arial"/>
              </a:rPr>
              <a:t>    };</a:t>
            </a:r>
          </a:p>
          <a:p>
            <a:pPr defTabSz="914400" fontAlgn="base">
              <a:spcBef>
                <a:spcPct val="0"/>
              </a:spcBef>
              <a:spcAft>
                <a:spcPct val="0"/>
              </a:spcAft>
              <a:defRPr/>
            </a:pPr>
            <a:endParaRPr lang="en-US" sz="1000" kern="0" dirty="0">
              <a:solidFill>
                <a:srgbClr val="000000"/>
              </a:solidFill>
              <a:latin typeface="Arial"/>
            </a:endParaRPr>
          </a:p>
          <a:p>
            <a:pPr defTabSz="914400" fontAlgn="base">
              <a:spcBef>
                <a:spcPct val="0"/>
              </a:spcBef>
              <a:spcAft>
                <a:spcPct val="0"/>
              </a:spcAft>
              <a:defRPr/>
            </a:pPr>
            <a:r>
              <a:rPr lang="en-US" sz="1000" kern="0" dirty="0">
                <a:solidFill>
                  <a:srgbClr val="000000"/>
                </a:solidFill>
                <a:latin typeface="Arial"/>
              </a:rPr>
              <a:t>template&lt;class </a:t>
            </a:r>
            <a:r>
              <a:rPr lang="en-US" sz="1000" kern="0" dirty="0" err="1">
                <a:solidFill>
                  <a:srgbClr val="000000"/>
                </a:solidFill>
                <a:latin typeface="Arial"/>
              </a:rPr>
              <a:t>coef_T</a:t>
            </a:r>
            <a:r>
              <a:rPr lang="en-US" sz="1000" kern="0" dirty="0">
                <a:solidFill>
                  <a:srgbClr val="000000"/>
                </a:solidFill>
                <a:latin typeface="Arial"/>
              </a:rPr>
              <a:t>, class </a:t>
            </a:r>
            <a:r>
              <a:rPr lang="en-US" sz="1000" kern="0" dirty="0" err="1">
                <a:solidFill>
                  <a:srgbClr val="000000"/>
                </a:solidFill>
                <a:latin typeface="Arial"/>
              </a:rPr>
              <a:t>data_T</a:t>
            </a:r>
            <a:r>
              <a:rPr lang="en-US" sz="1000" kern="0" dirty="0">
                <a:solidFill>
                  <a:srgbClr val="000000"/>
                </a:solidFill>
                <a:latin typeface="Arial"/>
              </a:rPr>
              <a:t>, class </a:t>
            </a:r>
            <a:r>
              <a:rPr lang="en-US" sz="1000" kern="0" dirty="0" err="1">
                <a:solidFill>
                  <a:srgbClr val="000000"/>
                </a:solidFill>
                <a:latin typeface="Arial"/>
              </a:rPr>
              <a:t>acc_T</a:t>
            </a:r>
            <a:r>
              <a:rPr lang="en-US" sz="1000" kern="0" dirty="0">
                <a:solidFill>
                  <a:srgbClr val="000000"/>
                </a:solidFill>
                <a:latin typeface="Arial"/>
              </a:rPr>
              <a:t>&gt;</a:t>
            </a:r>
          </a:p>
          <a:p>
            <a:pPr defTabSz="914400" fontAlgn="base">
              <a:spcBef>
                <a:spcPct val="0"/>
              </a:spcBef>
              <a:spcAft>
                <a:spcPct val="0"/>
              </a:spcAft>
              <a:defRPr/>
            </a:pPr>
            <a:r>
              <a:rPr lang="en-US" sz="1000" kern="0" dirty="0" err="1">
                <a:solidFill>
                  <a:srgbClr val="000000"/>
                </a:solidFill>
                <a:latin typeface="Arial"/>
              </a:rPr>
              <a:t>data_T</a:t>
            </a:r>
            <a:r>
              <a:rPr lang="en-US" sz="1000" kern="0" dirty="0">
                <a:solidFill>
                  <a:srgbClr val="000000"/>
                </a:solidFill>
                <a:latin typeface="Arial"/>
              </a:rPr>
              <a:t> </a:t>
            </a:r>
            <a:r>
              <a:rPr lang="en-US" sz="1000" b="1" kern="0" dirty="0" err="1">
                <a:solidFill>
                  <a:srgbClr val="000000"/>
                </a:solidFill>
                <a:latin typeface="Arial"/>
              </a:rPr>
              <a:t>CFir</a:t>
            </a:r>
            <a:r>
              <a:rPr lang="en-US" sz="1000" kern="0" dirty="0">
                <a:solidFill>
                  <a:srgbClr val="000000"/>
                </a:solidFill>
                <a:latin typeface="Arial"/>
              </a:rPr>
              <a:t>&lt;</a:t>
            </a:r>
            <a:r>
              <a:rPr lang="en-US" sz="1000" kern="0" dirty="0" err="1">
                <a:solidFill>
                  <a:srgbClr val="000000"/>
                </a:solidFill>
                <a:latin typeface="Arial"/>
              </a:rPr>
              <a:t>coef_T</a:t>
            </a:r>
            <a:r>
              <a:rPr lang="en-US" sz="1000" kern="0" dirty="0">
                <a:solidFill>
                  <a:srgbClr val="000000"/>
                </a:solidFill>
                <a:latin typeface="Arial"/>
              </a:rPr>
              <a:t>, </a:t>
            </a:r>
            <a:r>
              <a:rPr lang="en-US" sz="1000" kern="0" dirty="0" err="1">
                <a:solidFill>
                  <a:srgbClr val="000000"/>
                </a:solidFill>
                <a:latin typeface="Arial"/>
              </a:rPr>
              <a:t>data_T</a:t>
            </a:r>
            <a:r>
              <a:rPr lang="en-US" sz="1000" kern="0" dirty="0">
                <a:solidFill>
                  <a:srgbClr val="000000"/>
                </a:solidFill>
                <a:latin typeface="Arial"/>
              </a:rPr>
              <a:t>, </a:t>
            </a:r>
            <a:r>
              <a:rPr lang="en-US" sz="1000" kern="0" dirty="0" err="1">
                <a:solidFill>
                  <a:srgbClr val="000000"/>
                </a:solidFill>
                <a:latin typeface="Arial"/>
              </a:rPr>
              <a:t>acc_T</a:t>
            </a:r>
            <a:r>
              <a:rPr lang="en-US" sz="1000" kern="0" dirty="0">
                <a:solidFill>
                  <a:srgbClr val="000000"/>
                </a:solidFill>
                <a:latin typeface="Arial"/>
              </a:rPr>
              <a:t>&gt;::</a:t>
            </a:r>
            <a:r>
              <a:rPr lang="en-US" sz="1000" b="1" kern="0" dirty="0">
                <a:solidFill>
                  <a:srgbClr val="000000"/>
                </a:solidFill>
                <a:latin typeface="Arial"/>
              </a:rPr>
              <a:t>operator()</a:t>
            </a:r>
            <a:r>
              <a:rPr lang="en-US" sz="1000" kern="0" dirty="0">
                <a:solidFill>
                  <a:srgbClr val="000000"/>
                </a:solidFill>
                <a:latin typeface="Arial"/>
              </a:rPr>
              <a:t>(</a:t>
            </a:r>
            <a:r>
              <a:rPr lang="en-US" sz="1000" kern="0" dirty="0" err="1">
                <a:solidFill>
                  <a:srgbClr val="000000"/>
                </a:solidFill>
                <a:latin typeface="Arial"/>
              </a:rPr>
              <a:t>data_T</a:t>
            </a:r>
            <a:r>
              <a:rPr lang="en-US" sz="1000" kern="0" dirty="0">
                <a:solidFill>
                  <a:srgbClr val="000000"/>
                </a:solidFill>
                <a:latin typeface="Arial"/>
              </a:rPr>
              <a:t> x)</a:t>
            </a:r>
          </a:p>
          <a:p>
            <a:pPr defTabSz="914400" fontAlgn="base">
              <a:spcBef>
                <a:spcPct val="0"/>
              </a:spcBef>
              <a:spcAft>
                <a:spcPct val="0"/>
              </a:spcAft>
              <a:defRPr/>
            </a:pPr>
            <a:r>
              <a:rPr lang="en-US" sz="1000" kern="0" dirty="0">
                <a:solidFill>
                  <a:srgbClr val="000000"/>
                </a:solidFill>
                <a:latin typeface="Arial"/>
              </a:rPr>
              <a:t>  {</a:t>
            </a:r>
          </a:p>
          <a:p>
            <a:pPr defTabSz="914400" fontAlgn="base">
              <a:spcBef>
                <a:spcPct val="0"/>
              </a:spcBef>
              <a:spcAft>
                <a:spcPct val="0"/>
              </a:spcAft>
              <a:defRPr/>
            </a:pPr>
            <a:r>
              <a:rPr lang="en-US" sz="1000" kern="0" dirty="0">
                <a:solidFill>
                  <a:srgbClr val="000000"/>
                </a:solidFill>
                <a:latin typeface="Arial"/>
              </a:rPr>
              <a:t>    int </a:t>
            </a:r>
            <a:r>
              <a:rPr lang="en-US" sz="1000" kern="0" dirty="0" err="1">
                <a:solidFill>
                  <a:srgbClr val="000000"/>
                </a:solidFill>
                <a:latin typeface="Arial"/>
              </a:rPr>
              <a:t>i</a:t>
            </a:r>
            <a:r>
              <a:rPr lang="en-US" sz="1000" kern="0" dirty="0">
                <a:solidFill>
                  <a:srgbClr val="000000"/>
                </a:solidFill>
                <a:latin typeface="Arial"/>
              </a:rPr>
              <a:t>;</a:t>
            </a:r>
          </a:p>
          <a:p>
            <a:pPr defTabSz="914400" fontAlgn="base">
              <a:spcBef>
                <a:spcPct val="0"/>
              </a:spcBef>
              <a:spcAft>
                <a:spcPct val="0"/>
              </a:spcAft>
              <a:defRPr/>
            </a:pPr>
            <a:r>
              <a:rPr lang="en-US" sz="1000" kern="0" dirty="0">
                <a:solidFill>
                  <a:srgbClr val="000000"/>
                </a:solidFill>
                <a:latin typeface="Arial"/>
              </a:rPr>
              <a:t>    </a:t>
            </a:r>
            <a:r>
              <a:rPr lang="en-US" sz="1000" kern="0" dirty="0" err="1">
                <a:solidFill>
                  <a:srgbClr val="000000"/>
                </a:solidFill>
                <a:latin typeface="Arial"/>
              </a:rPr>
              <a:t>acc_t</a:t>
            </a:r>
            <a:r>
              <a:rPr lang="en-US" sz="1000" kern="0" dirty="0">
                <a:solidFill>
                  <a:srgbClr val="000000"/>
                </a:solidFill>
                <a:latin typeface="Arial"/>
              </a:rPr>
              <a:t> acc = 0;</a:t>
            </a:r>
          </a:p>
          <a:p>
            <a:pPr defTabSz="914400" fontAlgn="base">
              <a:spcBef>
                <a:spcPct val="0"/>
              </a:spcBef>
              <a:spcAft>
                <a:spcPct val="0"/>
              </a:spcAft>
              <a:defRPr/>
            </a:pPr>
            <a:r>
              <a:rPr lang="en-US" sz="1000" kern="0" dirty="0">
                <a:solidFill>
                  <a:srgbClr val="000000"/>
                </a:solidFill>
                <a:latin typeface="Arial"/>
              </a:rPr>
              <a:t>    </a:t>
            </a:r>
            <a:r>
              <a:rPr lang="en-US" sz="1000" kern="0" dirty="0" err="1">
                <a:solidFill>
                  <a:srgbClr val="000000"/>
                </a:solidFill>
                <a:latin typeface="Arial"/>
              </a:rPr>
              <a:t>data_t</a:t>
            </a:r>
            <a:r>
              <a:rPr lang="en-US" sz="1000" kern="0" dirty="0">
                <a:solidFill>
                  <a:srgbClr val="000000"/>
                </a:solidFill>
                <a:latin typeface="Arial"/>
              </a:rPr>
              <a:t> m;</a:t>
            </a:r>
          </a:p>
          <a:p>
            <a:pPr defTabSz="914400" fontAlgn="base">
              <a:spcBef>
                <a:spcPct val="0"/>
              </a:spcBef>
              <a:spcAft>
                <a:spcPct val="0"/>
              </a:spcAft>
              <a:defRPr/>
            </a:pPr>
            <a:endParaRPr lang="en-US" sz="1000" kern="0" dirty="0">
              <a:solidFill>
                <a:srgbClr val="000000"/>
              </a:solidFill>
              <a:latin typeface="Arial"/>
            </a:endParaRPr>
          </a:p>
          <a:p>
            <a:pPr defTabSz="914400" fontAlgn="base">
              <a:spcBef>
                <a:spcPct val="0"/>
              </a:spcBef>
              <a:spcAft>
                <a:spcPct val="0"/>
              </a:spcAft>
              <a:defRPr/>
            </a:pPr>
            <a:r>
              <a:rPr lang="en-US" sz="1000" b="1" kern="0" dirty="0">
                <a:solidFill>
                  <a:srgbClr val="000000"/>
                </a:solidFill>
                <a:latin typeface="Arial"/>
              </a:rPr>
              <a:t>     </a:t>
            </a:r>
            <a:r>
              <a:rPr lang="en-US" sz="1000" b="1" kern="0" dirty="0" err="1">
                <a:solidFill>
                  <a:srgbClr val="000000"/>
                </a:solidFill>
                <a:latin typeface="Arial"/>
              </a:rPr>
              <a:t>mac_loop</a:t>
            </a:r>
            <a:r>
              <a:rPr lang="en-US" sz="1000" kern="0" dirty="0">
                <a:solidFill>
                  <a:srgbClr val="000000"/>
                </a:solidFill>
                <a:latin typeface="Arial"/>
              </a:rPr>
              <a:t>: for (</a:t>
            </a:r>
            <a:r>
              <a:rPr lang="en-US" sz="1000" kern="0" dirty="0" err="1">
                <a:solidFill>
                  <a:srgbClr val="000000"/>
                </a:solidFill>
                <a:latin typeface="Arial"/>
              </a:rPr>
              <a:t>i</a:t>
            </a:r>
            <a:r>
              <a:rPr lang="en-US" sz="1000" kern="0" dirty="0">
                <a:solidFill>
                  <a:srgbClr val="000000"/>
                </a:solidFill>
                <a:latin typeface="Arial"/>
              </a:rPr>
              <a:t>=N-1;i&gt;=0;i--) {</a:t>
            </a:r>
          </a:p>
          <a:p>
            <a:pPr defTabSz="914400" fontAlgn="base">
              <a:spcBef>
                <a:spcPct val="0"/>
              </a:spcBef>
              <a:spcAft>
                <a:spcPct val="0"/>
              </a:spcAft>
              <a:defRPr/>
            </a:pPr>
            <a:r>
              <a:rPr lang="en-US" sz="1000" kern="0" dirty="0">
                <a:solidFill>
                  <a:srgbClr val="000000"/>
                </a:solidFill>
                <a:latin typeface="Arial"/>
              </a:rPr>
              <a:t>         if (</a:t>
            </a:r>
            <a:r>
              <a:rPr lang="en-US" sz="1000" kern="0" dirty="0" err="1">
                <a:solidFill>
                  <a:srgbClr val="000000"/>
                </a:solidFill>
                <a:latin typeface="Arial"/>
              </a:rPr>
              <a:t>i</a:t>
            </a:r>
            <a:r>
              <a:rPr lang="en-US" sz="1000" kern="0" dirty="0">
                <a:solidFill>
                  <a:srgbClr val="000000"/>
                </a:solidFill>
                <a:latin typeface="Arial"/>
              </a:rPr>
              <a:t>==0) {</a:t>
            </a:r>
          </a:p>
          <a:p>
            <a:pPr defTabSz="914400" fontAlgn="base">
              <a:spcBef>
                <a:spcPct val="0"/>
              </a:spcBef>
              <a:spcAft>
                <a:spcPct val="0"/>
              </a:spcAft>
              <a:defRPr/>
            </a:pPr>
            <a:r>
              <a:rPr lang="en-US" sz="1000" kern="0" dirty="0">
                <a:solidFill>
                  <a:srgbClr val="000000"/>
                </a:solidFill>
                <a:latin typeface="Arial"/>
              </a:rPr>
              <a:t>           acc+=x*c[0];</a:t>
            </a:r>
          </a:p>
          <a:p>
            <a:pPr defTabSz="914400" fontAlgn="base">
              <a:spcBef>
                <a:spcPct val="0"/>
              </a:spcBef>
              <a:spcAft>
                <a:spcPct val="0"/>
              </a:spcAft>
              <a:defRPr/>
            </a:pPr>
            <a:r>
              <a:rPr lang="en-US" sz="1000" kern="0" dirty="0">
                <a:solidFill>
                  <a:srgbClr val="000000"/>
                </a:solidFill>
                <a:latin typeface="Arial"/>
              </a:rPr>
              <a:t>           </a:t>
            </a:r>
            <a:r>
              <a:rPr lang="en-US" sz="1000" kern="0" dirty="0" err="1">
                <a:solidFill>
                  <a:srgbClr val="000000"/>
                </a:solidFill>
                <a:latin typeface="Arial"/>
              </a:rPr>
              <a:t>shift_reg</a:t>
            </a:r>
            <a:r>
              <a:rPr lang="en-US" sz="1000" kern="0" dirty="0">
                <a:solidFill>
                  <a:srgbClr val="000000"/>
                </a:solidFill>
                <a:latin typeface="Arial"/>
              </a:rPr>
              <a:t>[0]=x;</a:t>
            </a:r>
          </a:p>
          <a:p>
            <a:pPr defTabSz="914400" fontAlgn="base">
              <a:spcBef>
                <a:spcPct val="0"/>
              </a:spcBef>
              <a:spcAft>
                <a:spcPct val="0"/>
              </a:spcAft>
              <a:defRPr/>
            </a:pPr>
            <a:r>
              <a:rPr lang="en-US" sz="1000" kern="0" dirty="0">
                <a:solidFill>
                  <a:srgbClr val="000000"/>
                </a:solidFill>
                <a:latin typeface="Arial"/>
              </a:rPr>
              <a:t>         } else {</a:t>
            </a:r>
          </a:p>
          <a:p>
            <a:pPr defTabSz="914400" fontAlgn="base">
              <a:spcBef>
                <a:spcPct val="0"/>
              </a:spcBef>
              <a:spcAft>
                <a:spcPct val="0"/>
              </a:spcAft>
              <a:defRPr/>
            </a:pPr>
            <a:r>
              <a:rPr lang="en-US" sz="1000" kern="0" dirty="0">
                <a:solidFill>
                  <a:srgbClr val="000000"/>
                </a:solidFill>
                <a:latin typeface="Arial"/>
              </a:rPr>
              <a:t>           </a:t>
            </a:r>
            <a:r>
              <a:rPr lang="en-US" sz="1000" kern="0" dirty="0" err="1">
                <a:solidFill>
                  <a:srgbClr val="000000"/>
                </a:solidFill>
                <a:latin typeface="Arial"/>
              </a:rPr>
              <a:t>shift_reg</a:t>
            </a:r>
            <a:r>
              <a:rPr lang="en-US" sz="1000" kern="0" dirty="0">
                <a:solidFill>
                  <a:srgbClr val="000000"/>
                </a:solidFill>
                <a:latin typeface="Arial"/>
              </a:rPr>
              <a:t>[</a:t>
            </a:r>
            <a:r>
              <a:rPr lang="en-US" sz="1000" kern="0" dirty="0" err="1">
                <a:solidFill>
                  <a:srgbClr val="000000"/>
                </a:solidFill>
                <a:latin typeface="Arial"/>
              </a:rPr>
              <a:t>i</a:t>
            </a:r>
            <a:r>
              <a:rPr lang="en-US" sz="1000" kern="0" dirty="0">
                <a:solidFill>
                  <a:srgbClr val="000000"/>
                </a:solidFill>
                <a:latin typeface="Arial"/>
              </a:rPr>
              <a:t>]=</a:t>
            </a:r>
            <a:r>
              <a:rPr lang="en-US" sz="1000" kern="0" dirty="0" err="1">
                <a:solidFill>
                  <a:srgbClr val="000000"/>
                </a:solidFill>
                <a:latin typeface="Arial"/>
              </a:rPr>
              <a:t>shift_reg</a:t>
            </a:r>
            <a:r>
              <a:rPr lang="en-US" sz="1000" kern="0" dirty="0">
                <a:solidFill>
                  <a:srgbClr val="000000"/>
                </a:solidFill>
                <a:latin typeface="Arial"/>
              </a:rPr>
              <a:t>[i-1];  </a:t>
            </a:r>
          </a:p>
          <a:p>
            <a:pPr defTabSz="914400" fontAlgn="base">
              <a:spcBef>
                <a:spcPct val="0"/>
              </a:spcBef>
              <a:spcAft>
                <a:spcPct val="0"/>
              </a:spcAft>
              <a:defRPr/>
            </a:pPr>
            <a:r>
              <a:rPr lang="en-US" sz="1000" kern="0" dirty="0">
                <a:solidFill>
                  <a:srgbClr val="000000"/>
                </a:solidFill>
                <a:latin typeface="Arial"/>
              </a:rPr>
              <a:t>           acc+=</a:t>
            </a:r>
            <a:r>
              <a:rPr lang="en-US" sz="1000" kern="0" dirty="0" err="1">
                <a:solidFill>
                  <a:srgbClr val="000000"/>
                </a:solidFill>
                <a:latin typeface="Arial"/>
              </a:rPr>
              <a:t>shift_reg</a:t>
            </a:r>
            <a:r>
              <a:rPr lang="en-US" sz="1000" kern="0" dirty="0">
                <a:solidFill>
                  <a:srgbClr val="000000"/>
                </a:solidFill>
                <a:latin typeface="Arial"/>
              </a:rPr>
              <a:t>[</a:t>
            </a:r>
            <a:r>
              <a:rPr lang="en-US" sz="1000" kern="0" dirty="0" err="1">
                <a:solidFill>
                  <a:srgbClr val="000000"/>
                </a:solidFill>
                <a:latin typeface="Arial"/>
              </a:rPr>
              <a:t>i</a:t>
            </a:r>
            <a:r>
              <a:rPr lang="en-US" sz="1000" kern="0" dirty="0">
                <a:solidFill>
                  <a:srgbClr val="000000"/>
                </a:solidFill>
                <a:latin typeface="Arial"/>
              </a:rPr>
              <a:t>]*c[</a:t>
            </a:r>
            <a:r>
              <a:rPr lang="en-US" sz="1000" kern="0" dirty="0" err="1">
                <a:solidFill>
                  <a:srgbClr val="000000"/>
                </a:solidFill>
                <a:latin typeface="Arial"/>
              </a:rPr>
              <a:t>i</a:t>
            </a:r>
            <a:r>
              <a:rPr lang="en-US" sz="1000" kern="0" dirty="0">
                <a:solidFill>
                  <a:srgbClr val="000000"/>
                </a:solidFill>
                <a:latin typeface="Arial"/>
              </a:rPr>
              <a:t>];</a:t>
            </a:r>
          </a:p>
          <a:p>
            <a:pPr defTabSz="914400" fontAlgn="base">
              <a:spcBef>
                <a:spcPct val="0"/>
              </a:spcBef>
              <a:spcAft>
                <a:spcPct val="0"/>
              </a:spcAft>
              <a:defRPr/>
            </a:pPr>
            <a:r>
              <a:rPr lang="en-US" sz="1000" kern="0" dirty="0">
                <a:solidFill>
                  <a:srgbClr val="000000"/>
                </a:solidFill>
                <a:latin typeface="Arial"/>
              </a:rPr>
              <a:t>         }</a:t>
            </a:r>
          </a:p>
          <a:p>
            <a:pPr defTabSz="914400" fontAlgn="base">
              <a:spcBef>
                <a:spcPct val="0"/>
              </a:spcBef>
              <a:spcAft>
                <a:spcPct val="0"/>
              </a:spcAft>
              <a:defRPr/>
            </a:pPr>
            <a:r>
              <a:rPr lang="en-US" sz="1000" kern="0" dirty="0">
                <a:solidFill>
                  <a:srgbClr val="000000"/>
                </a:solidFill>
                <a:latin typeface="Arial"/>
              </a:rPr>
              <a:t>      }    </a:t>
            </a:r>
          </a:p>
          <a:p>
            <a:pPr defTabSz="914400" fontAlgn="base">
              <a:spcBef>
                <a:spcPct val="0"/>
              </a:spcBef>
              <a:spcAft>
                <a:spcPct val="0"/>
              </a:spcAft>
              <a:defRPr/>
            </a:pPr>
            <a:r>
              <a:rPr lang="en-US" sz="1000" kern="0" dirty="0">
                <a:solidFill>
                  <a:srgbClr val="000000"/>
                </a:solidFill>
                <a:latin typeface="Arial"/>
              </a:rPr>
              <a:t>   return acc;</a:t>
            </a:r>
          </a:p>
          <a:p>
            <a:pPr defTabSz="914400" fontAlgn="base">
              <a:spcBef>
                <a:spcPct val="0"/>
              </a:spcBef>
              <a:spcAft>
                <a:spcPct val="0"/>
              </a:spcAft>
              <a:defRPr/>
            </a:pPr>
            <a:r>
              <a:rPr lang="en-US" sz="1000" kern="0" dirty="0">
                <a:solidFill>
                  <a:srgbClr val="000000"/>
                </a:solidFill>
                <a:latin typeface="Arial"/>
              </a:rPr>
              <a:t>  }</a:t>
            </a:r>
          </a:p>
          <a:p>
            <a:pPr defTabSz="914400" fontAlgn="base">
              <a:spcBef>
                <a:spcPct val="0"/>
              </a:spcBef>
              <a:spcAft>
                <a:spcPct val="0"/>
              </a:spcAft>
              <a:defRPr/>
            </a:pPr>
            <a:endParaRPr lang="en-US" sz="1000" kern="0" dirty="0">
              <a:solidFill>
                <a:srgbClr val="000000"/>
              </a:solidFill>
              <a:latin typeface="Arial"/>
            </a:endParaRPr>
          </a:p>
          <a:p>
            <a:pPr defTabSz="914400" fontAlgn="base">
              <a:spcBef>
                <a:spcPct val="0"/>
              </a:spcBef>
              <a:spcAft>
                <a:spcPct val="0"/>
              </a:spcAft>
              <a:defRPr/>
            </a:pPr>
            <a:r>
              <a:rPr lang="en-US" sz="1000" b="1" kern="0" dirty="0" err="1">
                <a:solidFill>
                  <a:srgbClr val="000000"/>
                </a:solidFill>
                <a:latin typeface="Arial"/>
              </a:rPr>
              <a:t>data_t</a:t>
            </a:r>
            <a:r>
              <a:rPr lang="en-US" sz="1000" b="1" kern="0" dirty="0">
                <a:solidFill>
                  <a:srgbClr val="000000"/>
                </a:solidFill>
                <a:latin typeface="Arial"/>
              </a:rPr>
              <a:t> fir(</a:t>
            </a:r>
            <a:r>
              <a:rPr lang="en-US" sz="1000" b="1" kern="0" dirty="0" err="1">
                <a:solidFill>
                  <a:srgbClr val="000000"/>
                </a:solidFill>
                <a:latin typeface="Arial"/>
              </a:rPr>
              <a:t>data_t</a:t>
            </a:r>
            <a:r>
              <a:rPr lang="en-US" sz="1000" b="1" kern="0" dirty="0">
                <a:solidFill>
                  <a:srgbClr val="000000"/>
                </a:solidFill>
                <a:latin typeface="Arial"/>
              </a:rPr>
              <a:t> x)</a:t>
            </a:r>
          </a:p>
          <a:p>
            <a:pPr defTabSz="914400" fontAlgn="base">
              <a:spcBef>
                <a:spcPct val="0"/>
              </a:spcBef>
              <a:spcAft>
                <a:spcPct val="0"/>
              </a:spcAft>
              <a:defRPr/>
            </a:pPr>
            <a:r>
              <a:rPr lang="en-US" sz="1000" b="1" kern="0" dirty="0">
                <a:solidFill>
                  <a:srgbClr val="000000"/>
                </a:solidFill>
                <a:latin typeface="Arial"/>
              </a:rPr>
              <a:t>  {</a:t>
            </a:r>
          </a:p>
          <a:p>
            <a:pPr defTabSz="914400" fontAlgn="base">
              <a:spcBef>
                <a:spcPct val="0"/>
              </a:spcBef>
              <a:spcAft>
                <a:spcPct val="0"/>
              </a:spcAft>
              <a:defRPr/>
            </a:pPr>
            <a:r>
              <a:rPr lang="en-US" sz="1000" b="1" kern="0" dirty="0">
                <a:solidFill>
                  <a:srgbClr val="000000"/>
                </a:solidFill>
                <a:latin typeface="Arial"/>
              </a:rPr>
              <a:t>    static </a:t>
            </a:r>
            <a:r>
              <a:rPr lang="en-US" sz="1000" b="1" kern="0" dirty="0" err="1">
                <a:solidFill>
                  <a:srgbClr val="000000"/>
                </a:solidFill>
                <a:latin typeface="Arial"/>
              </a:rPr>
              <a:t>CFir</a:t>
            </a:r>
            <a:r>
              <a:rPr lang="en-US" sz="1000" b="1" kern="0" dirty="0">
                <a:solidFill>
                  <a:srgbClr val="000000"/>
                </a:solidFill>
                <a:latin typeface="Arial"/>
              </a:rPr>
              <a:t>&lt;</a:t>
            </a:r>
            <a:r>
              <a:rPr lang="en-US" sz="1000" b="1" kern="0" dirty="0" err="1">
                <a:solidFill>
                  <a:srgbClr val="000000"/>
                </a:solidFill>
                <a:latin typeface="Arial"/>
              </a:rPr>
              <a:t>coef_t</a:t>
            </a:r>
            <a:r>
              <a:rPr lang="en-US" sz="1000" b="1" kern="0" dirty="0">
                <a:solidFill>
                  <a:srgbClr val="000000"/>
                </a:solidFill>
                <a:latin typeface="Arial"/>
              </a:rPr>
              <a:t>, </a:t>
            </a:r>
            <a:r>
              <a:rPr lang="en-US" sz="1000" b="1" kern="0" dirty="0" err="1">
                <a:solidFill>
                  <a:srgbClr val="000000"/>
                </a:solidFill>
                <a:latin typeface="Arial"/>
              </a:rPr>
              <a:t>data_t</a:t>
            </a:r>
            <a:r>
              <a:rPr lang="en-US" sz="1000" b="1" kern="0" dirty="0">
                <a:solidFill>
                  <a:srgbClr val="000000"/>
                </a:solidFill>
                <a:latin typeface="Arial"/>
              </a:rPr>
              <a:t>, </a:t>
            </a:r>
            <a:r>
              <a:rPr lang="en-US" sz="1000" b="1" kern="0" dirty="0" err="1">
                <a:solidFill>
                  <a:srgbClr val="000000"/>
                </a:solidFill>
                <a:latin typeface="Arial"/>
              </a:rPr>
              <a:t>acc_t</a:t>
            </a:r>
            <a:r>
              <a:rPr lang="en-US" sz="1000" b="1" kern="0" dirty="0">
                <a:solidFill>
                  <a:srgbClr val="000000"/>
                </a:solidFill>
                <a:latin typeface="Arial"/>
              </a:rPr>
              <a:t>&gt; fir1;</a:t>
            </a:r>
          </a:p>
          <a:p>
            <a:pPr defTabSz="914400" fontAlgn="base">
              <a:spcBef>
                <a:spcPct val="0"/>
              </a:spcBef>
              <a:spcAft>
                <a:spcPct val="0"/>
              </a:spcAft>
              <a:defRPr/>
            </a:pPr>
            <a:endParaRPr lang="en-US" sz="1000" b="1" kern="0" dirty="0">
              <a:solidFill>
                <a:srgbClr val="000000"/>
              </a:solidFill>
              <a:latin typeface="Arial"/>
            </a:endParaRPr>
          </a:p>
          <a:p>
            <a:pPr defTabSz="914400" fontAlgn="base">
              <a:spcBef>
                <a:spcPct val="0"/>
              </a:spcBef>
              <a:spcAft>
                <a:spcPct val="0"/>
              </a:spcAft>
              <a:defRPr/>
            </a:pPr>
            <a:r>
              <a:rPr lang="en-US" sz="1000" b="1" kern="0" dirty="0">
                <a:solidFill>
                  <a:srgbClr val="000000"/>
                </a:solidFill>
                <a:latin typeface="Arial"/>
              </a:rPr>
              <a:t>    return fir1(x);</a:t>
            </a:r>
          </a:p>
          <a:p>
            <a:pPr defTabSz="914400" fontAlgn="base">
              <a:spcBef>
                <a:spcPct val="0"/>
              </a:spcBef>
              <a:spcAft>
                <a:spcPct val="0"/>
              </a:spcAft>
              <a:defRPr/>
            </a:pPr>
            <a:r>
              <a:rPr lang="en-US" sz="1000" b="1" kern="0" dirty="0">
                <a:solidFill>
                  <a:srgbClr val="000000"/>
                </a:solidFill>
                <a:latin typeface="Arial"/>
              </a:rPr>
              <a:t>  }</a:t>
            </a:r>
          </a:p>
        </p:txBody>
      </p:sp>
      <p:sp>
        <p:nvSpPr>
          <p:cNvPr id="24" name="TextBox 23">
            <a:extLst>
              <a:ext uri="{FF2B5EF4-FFF2-40B4-BE49-F238E27FC236}">
                <a16:creationId xmlns:a16="http://schemas.microsoft.com/office/drawing/2014/main" id="{E7EACEDE-4987-4378-BA0B-D6B75984F33A}"/>
              </a:ext>
            </a:extLst>
          </p:cNvPr>
          <p:cNvSpPr txBox="1"/>
          <p:nvPr/>
        </p:nvSpPr>
        <p:spPr>
          <a:xfrm>
            <a:off x="10908174" y="1727025"/>
            <a:ext cx="716707" cy="1785104"/>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defRPr/>
            </a:pPr>
            <a:r>
              <a:rPr lang="en-US" sz="1000" kern="0" dirty="0">
                <a:solidFill>
                  <a:srgbClr val="000000"/>
                </a:solidFill>
                <a:latin typeface="Arial"/>
              </a:rPr>
              <a:t>-1,</a:t>
            </a:r>
          </a:p>
          <a:p>
            <a:pPr defTabSz="914400" fontAlgn="base">
              <a:spcBef>
                <a:spcPct val="0"/>
              </a:spcBef>
              <a:spcAft>
                <a:spcPct val="0"/>
              </a:spcAft>
              <a:defRPr/>
            </a:pPr>
            <a:r>
              <a:rPr lang="en-US" sz="1000" kern="0" dirty="0">
                <a:solidFill>
                  <a:srgbClr val="000000"/>
                </a:solidFill>
                <a:latin typeface="Arial"/>
              </a:rPr>
              <a:t>-20,</a:t>
            </a:r>
          </a:p>
          <a:p>
            <a:pPr defTabSz="914400" fontAlgn="base">
              <a:spcBef>
                <a:spcPct val="0"/>
              </a:spcBef>
              <a:spcAft>
                <a:spcPct val="0"/>
              </a:spcAft>
              <a:defRPr/>
            </a:pPr>
            <a:r>
              <a:rPr lang="en-US" sz="1000" kern="0" dirty="0">
                <a:solidFill>
                  <a:srgbClr val="000000"/>
                </a:solidFill>
                <a:latin typeface="Arial"/>
              </a:rPr>
              <a:t>-19,</a:t>
            </a:r>
          </a:p>
          <a:p>
            <a:pPr defTabSz="914400" fontAlgn="base">
              <a:spcBef>
                <a:spcPct val="0"/>
              </a:spcBef>
              <a:spcAft>
                <a:spcPct val="0"/>
              </a:spcAft>
              <a:defRPr/>
            </a:pPr>
            <a:r>
              <a:rPr lang="en-US" sz="1000" kern="0" dirty="0">
                <a:solidFill>
                  <a:srgbClr val="000000"/>
                </a:solidFill>
                <a:latin typeface="Arial"/>
              </a:rPr>
              <a:t>84,</a:t>
            </a:r>
          </a:p>
          <a:p>
            <a:pPr defTabSz="914400" fontAlgn="base">
              <a:spcBef>
                <a:spcPct val="0"/>
              </a:spcBef>
              <a:spcAft>
                <a:spcPct val="0"/>
              </a:spcAft>
              <a:defRPr/>
            </a:pPr>
            <a:r>
              <a:rPr lang="en-US" sz="1000" kern="0" dirty="0">
                <a:solidFill>
                  <a:srgbClr val="000000"/>
                </a:solidFill>
                <a:latin typeface="Arial"/>
              </a:rPr>
              <a:t>271,</a:t>
            </a:r>
          </a:p>
          <a:p>
            <a:pPr defTabSz="914400" fontAlgn="base">
              <a:spcBef>
                <a:spcPct val="0"/>
              </a:spcBef>
              <a:spcAft>
                <a:spcPct val="0"/>
              </a:spcAft>
              <a:defRPr/>
            </a:pPr>
            <a:r>
              <a:rPr lang="en-US" sz="1000" kern="0" dirty="0">
                <a:solidFill>
                  <a:srgbClr val="000000"/>
                </a:solidFill>
                <a:latin typeface="Arial"/>
              </a:rPr>
              <a:t>370,</a:t>
            </a:r>
          </a:p>
          <a:p>
            <a:pPr defTabSz="914400" fontAlgn="base">
              <a:spcBef>
                <a:spcPct val="0"/>
              </a:spcBef>
              <a:spcAft>
                <a:spcPct val="0"/>
              </a:spcAft>
              <a:defRPr/>
            </a:pPr>
            <a:r>
              <a:rPr lang="en-US" sz="1000" kern="0" dirty="0">
                <a:solidFill>
                  <a:srgbClr val="000000"/>
                </a:solidFill>
                <a:latin typeface="Arial"/>
              </a:rPr>
              <a:t>271,</a:t>
            </a:r>
          </a:p>
          <a:p>
            <a:pPr defTabSz="914400" fontAlgn="base">
              <a:spcBef>
                <a:spcPct val="0"/>
              </a:spcBef>
              <a:spcAft>
                <a:spcPct val="0"/>
              </a:spcAft>
              <a:defRPr/>
            </a:pPr>
            <a:r>
              <a:rPr lang="en-US" sz="1000" kern="0" dirty="0">
                <a:solidFill>
                  <a:srgbClr val="000000"/>
                </a:solidFill>
                <a:latin typeface="Arial"/>
              </a:rPr>
              <a:t>88,</a:t>
            </a:r>
          </a:p>
          <a:p>
            <a:pPr defTabSz="914400" fontAlgn="base">
              <a:spcBef>
                <a:spcPct val="0"/>
              </a:spcBef>
              <a:spcAft>
                <a:spcPct val="0"/>
              </a:spcAft>
              <a:defRPr/>
            </a:pPr>
            <a:r>
              <a:rPr lang="en-US" sz="1000" kern="0" dirty="0">
                <a:solidFill>
                  <a:srgbClr val="000000"/>
                </a:solidFill>
                <a:latin typeface="Arial"/>
              </a:rPr>
              <a:t>-19,</a:t>
            </a:r>
          </a:p>
          <a:p>
            <a:pPr defTabSz="914400" fontAlgn="base">
              <a:spcBef>
                <a:spcPct val="0"/>
              </a:spcBef>
              <a:spcAft>
                <a:spcPct val="0"/>
              </a:spcAft>
              <a:defRPr/>
            </a:pPr>
            <a:r>
              <a:rPr lang="en-US" sz="1000" kern="0" dirty="0">
                <a:solidFill>
                  <a:srgbClr val="000000"/>
                </a:solidFill>
                <a:latin typeface="Arial"/>
              </a:rPr>
              <a:t>-20,</a:t>
            </a:r>
          </a:p>
          <a:p>
            <a:pPr defTabSz="914400" fontAlgn="base">
              <a:spcBef>
                <a:spcPct val="0"/>
              </a:spcBef>
              <a:spcAft>
                <a:spcPct val="0"/>
              </a:spcAft>
              <a:defRPr/>
            </a:pPr>
            <a:r>
              <a:rPr lang="en-US" sz="1000" kern="0" dirty="0">
                <a:solidFill>
                  <a:srgbClr val="000000"/>
                </a:solidFill>
                <a:latin typeface="Arial"/>
              </a:rPr>
              <a:t>-1,</a:t>
            </a:r>
          </a:p>
        </p:txBody>
      </p:sp>
      <p:cxnSp>
        <p:nvCxnSpPr>
          <p:cNvPr id="25" name="Straight Arrow Connector 24">
            <a:extLst>
              <a:ext uri="{FF2B5EF4-FFF2-40B4-BE49-F238E27FC236}">
                <a16:creationId xmlns:a16="http://schemas.microsoft.com/office/drawing/2014/main" id="{CBFAB425-1BAE-456F-B181-1A94E53D54D0}"/>
              </a:ext>
            </a:extLst>
          </p:cNvPr>
          <p:cNvCxnSpPr/>
          <p:nvPr/>
        </p:nvCxnSpPr>
        <p:spPr>
          <a:xfrm flipH="1">
            <a:off x="8348510" y="2149480"/>
            <a:ext cx="2406085" cy="0"/>
          </a:xfrm>
          <a:prstGeom prst="straightConnector1">
            <a:avLst/>
          </a:prstGeom>
          <a:noFill/>
          <a:ln w="38100" cap="flat" cmpd="sng" algn="ctr">
            <a:solidFill>
              <a:srgbClr val="000000"/>
            </a:solidFill>
            <a:prstDash val="solid"/>
            <a:headEnd type="none" w="med" len="med"/>
            <a:tailEnd type="triangle" w="med" len="med"/>
          </a:ln>
          <a:effectLst>
            <a:outerShdw blurRad="40000" dist="20000" dir="5400000" rotWithShape="0">
              <a:srgbClr val="000000">
                <a:alpha val="38000"/>
              </a:srgbClr>
            </a:outerShdw>
          </a:effectLst>
        </p:spPr>
      </p:cxnSp>
      <p:sp>
        <p:nvSpPr>
          <p:cNvPr id="26" name="TextBox 25">
            <a:extLst>
              <a:ext uri="{FF2B5EF4-FFF2-40B4-BE49-F238E27FC236}">
                <a16:creationId xmlns:a16="http://schemas.microsoft.com/office/drawing/2014/main" id="{D2B87A9D-6816-4466-9F69-4D510B6B93CD}"/>
              </a:ext>
            </a:extLst>
          </p:cNvPr>
          <p:cNvSpPr txBox="1"/>
          <p:nvPr/>
        </p:nvSpPr>
        <p:spPr>
          <a:xfrm>
            <a:off x="9628341" y="1227760"/>
            <a:ext cx="1023867" cy="253916"/>
          </a:xfrm>
          <a:prstGeom prst="rect">
            <a:avLst/>
          </a:prstGeom>
          <a:solidFill>
            <a:srgbClr val="7030A0"/>
          </a:solidFill>
          <a:ln w="9525" cap="flat" cmpd="sng" algn="ctr">
            <a:solidFill>
              <a:srgbClr val="3F3F3F">
                <a:shade val="95000"/>
                <a:satMod val="105000"/>
              </a:srgbClr>
            </a:solidFill>
            <a:prstDash val="solid"/>
          </a:ln>
          <a:effectLst>
            <a:outerShdw blurRad="40000" dist="23000" dir="5400000" rotWithShape="0">
              <a:srgbClr val="000000">
                <a:alpha val="35000"/>
              </a:srgbClr>
            </a:outerShdw>
          </a:effectLst>
        </p:spPr>
        <p:txBody>
          <a:bodyPr wrap="square" rtlCol="0">
            <a:spAutoFit/>
          </a:bodyPr>
          <a:lstStyle/>
          <a:p>
            <a:pPr algn="ctr" defTabSz="914400" fontAlgn="base">
              <a:spcBef>
                <a:spcPct val="0"/>
              </a:spcBef>
              <a:spcAft>
                <a:spcPct val="0"/>
              </a:spcAft>
              <a:defRPr/>
            </a:pPr>
            <a:r>
              <a:rPr lang="en-US" sz="1050" b="1" kern="0" dirty="0">
                <a:solidFill>
                  <a:srgbClr val="FFFFFF"/>
                </a:solidFill>
                <a:latin typeface="Arial"/>
              </a:rPr>
              <a:t>fir.cpp</a:t>
            </a:r>
          </a:p>
        </p:txBody>
      </p:sp>
      <p:sp>
        <p:nvSpPr>
          <p:cNvPr id="27" name="TextBox 26">
            <a:extLst>
              <a:ext uri="{FF2B5EF4-FFF2-40B4-BE49-F238E27FC236}">
                <a16:creationId xmlns:a16="http://schemas.microsoft.com/office/drawing/2014/main" id="{9C5B1E91-6D30-4533-BCAC-623278FD52FF}"/>
              </a:ext>
            </a:extLst>
          </p:cNvPr>
          <p:cNvSpPr txBox="1"/>
          <p:nvPr/>
        </p:nvSpPr>
        <p:spPr>
          <a:xfrm>
            <a:off x="10754594" y="1419785"/>
            <a:ext cx="1228640" cy="253916"/>
          </a:xfrm>
          <a:prstGeom prst="rect">
            <a:avLst/>
          </a:prstGeom>
          <a:solidFill>
            <a:srgbClr val="7030A0"/>
          </a:solidFill>
          <a:ln w="9525" cap="flat" cmpd="sng" algn="ctr">
            <a:solidFill>
              <a:srgbClr val="3F3F3F">
                <a:shade val="95000"/>
                <a:satMod val="105000"/>
              </a:srgbClr>
            </a:solidFill>
            <a:prstDash val="solid"/>
          </a:ln>
          <a:effectLst>
            <a:outerShdw blurRad="40000" dist="23000" dir="5400000" rotWithShape="0">
              <a:srgbClr val="000000">
                <a:alpha val="35000"/>
              </a:srgbClr>
            </a:outerShdw>
          </a:effectLst>
        </p:spPr>
        <p:txBody>
          <a:bodyPr wrap="square" rtlCol="0">
            <a:spAutoFit/>
          </a:bodyPr>
          <a:lstStyle/>
          <a:p>
            <a:pPr algn="ctr" defTabSz="914400" fontAlgn="base">
              <a:spcBef>
                <a:spcPct val="0"/>
              </a:spcBef>
              <a:spcAft>
                <a:spcPct val="0"/>
              </a:spcAft>
              <a:defRPr/>
            </a:pPr>
            <a:r>
              <a:rPr lang="en-US" sz="1050" b="1" kern="0" dirty="0" err="1">
                <a:solidFill>
                  <a:srgbClr val="FFFFFF"/>
                </a:solidFill>
                <a:latin typeface="Arial"/>
              </a:rPr>
              <a:t>fir_coeff.h</a:t>
            </a:r>
            <a:endParaRPr lang="en-US" sz="1050" b="1" kern="0" dirty="0">
              <a:solidFill>
                <a:srgbClr val="FFFFFF"/>
              </a:solidFill>
              <a:latin typeface="Arial"/>
            </a:endParaRPr>
          </a:p>
        </p:txBody>
      </p:sp>
      <p:sp>
        <p:nvSpPr>
          <p:cNvPr id="28" name="TextBox 27">
            <a:extLst>
              <a:ext uri="{FF2B5EF4-FFF2-40B4-BE49-F238E27FC236}">
                <a16:creationId xmlns:a16="http://schemas.microsoft.com/office/drawing/2014/main" id="{DB66A518-0424-4886-921D-8D6A414787BF}"/>
              </a:ext>
            </a:extLst>
          </p:cNvPr>
          <p:cNvSpPr txBox="1"/>
          <p:nvPr/>
        </p:nvSpPr>
        <p:spPr>
          <a:xfrm>
            <a:off x="8860440" y="5375500"/>
            <a:ext cx="3071600" cy="415498"/>
          </a:xfrm>
          <a:prstGeom prst="rect">
            <a:avLst/>
          </a:prstGeom>
          <a:solidFill>
            <a:srgbClr val="FFFF99"/>
          </a:solidFill>
          <a:ln w="28575">
            <a:solidFill>
              <a:srgbClr val="000000"/>
            </a:solidFill>
          </a:ln>
          <a:effectLst>
            <a:innerShdw blurRad="63500" dist="50800" dir="2700000">
              <a:prstClr val="black">
                <a:alpha val="50000"/>
              </a:prstClr>
            </a:innerShdw>
          </a:effectLst>
        </p:spPr>
        <p:txBody>
          <a:bodyPr wrap="square" rtlCol="0">
            <a:spAutoFit/>
          </a:bodyPr>
          <a:lstStyle/>
          <a:p>
            <a:pPr algn="ctr" defTabSz="914400" fontAlgn="base">
              <a:spcBef>
                <a:spcPct val="50000"/>
              </a:spcBef>
              <a:spcAft>
                <a:spcPct val="0"/>
              </a:spcAft>
              <a:defRPr/>
            </a:pPr>
            <a:r>
              <a:rPr lang="en-US" altLang="zh-CN" sz="1050" b="1" kern="0" dirty="0">
                <a:solidFill>
                  <a:srgbClr val="000000"/>
                </a:solidFill>
                <a:ea typeface="宋体" charset="-122"/>
              </a:rPr>
              <a:t>Top-level function defines the IO Class CFIR is instantiated as fir1</a:t>
            </a:r>
          </a:p>
        </p:txBody>
      </p:sp>
      <p:sp>
        <p:nvSpPr>
          <p:cNvPr id="29" name="TextBox 28">
            <a:extLst>
              <a:ext uri="{FF2B5EF4-FFF2-40B4-BE49-F238E27FC236}">
                <a16:creationId xmlns:a16="http://schemas.microsoft.com/office/drawing/2014/main" id="{2808EB09-02FE-481C-8ADD-23F7B2E2654D}"/>
              </a:ext>
            </a:extLst>
          </p:cNvPr>
          <p:cNvSpPr txBox="1"/>
          <p:nvPr/>
        </p:nvSpPr>
        <p:spPr>
          <a:xfrm>
            <a:off x="7017481" y="2802365"/>
            <a:ext cx="2559667" cy="253916"/>
          </a:xfrm>
          <a:prstGeom prst="rect">
            <a:avLst/>
          </a:prstGeom>
          <a:solidFill>
            <a:srgbClr val="FFFF99"/>
          </a:solidFill>
          <a:ln w="28575">
            <a:solidFill>
              <a:srgbClr val="000000"/>
            </a:solidFill>
          </a:ln>
          <a:effectLst>
            <a:innerShdw blurRad="63500" dist="50800" dir="2700000">
              <a:prstClr val="black">
                <a:alpha val="50000"/>
              </a:prstClr>
            </a:innerShdw>
          </a:effectLst>
        </p:spPr>
        <p:txBody>
          <a:bodyPr wrap="square" rtlCol="0">
            <a:spAutoFit/>
          </a:bodyPr>
          <a:lstStyle/>
          <a:p>
            <a:pPr algn="ctr" defTabSz="914400" fontAlgn="base">
              <a:spcBef>
                <a:spcPct val="50000"/>
              </a:spcBef>
              <a:spcAft>
                <a:spcPct val="0"/>
              </a:spcAft>
              <a:defRPr/>
            </a:pPr>
            <a:r>
              <a:rPr lang="en-US" altLang="zh-CN" sz="1050" b="1" kern="0" dirty="0" err="1">
                <a:solidFill>
                  <a:srgbClr val="000000"/>
                </a:solidFill>
                <a:ea typeface="宋体" charset="-122"/>
              </a:rPr>
              <a:t>CFir</a:t>
            </a:r>
            <a:r>
              <a:rPr lang="en-US" altLang="zh-CN" sz="1050" b="1" kern="0" dirty="0">
                <a:solidFill>
                  <a:srgbClr val="000000"/>
                </a:solidFill>
                <a:ea typeface="宋体" charset="-122"/>
              </a:rPr>
              <a:t> functionality defined</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 Filter with C++</a:t>
            </a:r>
          </a:p>
        </p:txBody>
      </p:sp>
      <p:sp>
        <p:nvSpPr>
          <p:cNvPr id="3" name="Content Placeholder 2"/>
          <p:cNvSpPr>
            <a:spLocks noGrp="1"/>
          </p:cNvSpPr>
          <p:nvPr>
            <p:ph idx="1"/>
          </p:nvPr>
        </p:nvSpPr>
        <p:spPr/>
        <p:txBody>
          <a:bodyPr>
            <a:normAutofit/>
          </a:bodyPr>
          <a:lstStyle/>
          <a:p>
            <a:r>
              <a:rPr lang="en-US" dirty="0"/>
              <a:t>C++ Coding Style</a:t>
            </a:r>
          </a:p>
          <a:p>
            <a:pPr lvl="1"/>
            <a:r>
              <a:rPr lang="en-US" sz="1600" dirty="0"/>
              <a:t>Top-level defines RTL IO</a:t>
            </a:r>
          </a:p>
          <a:p>
            <a:pPr lvl="1"/>
            <a:r>
              <a:rPr lang="en-US" sz="1600" dirty="0"/>
              <a:t>A class defines the functionality</a:t>
            </a:r>
          </a:p>
          <a:p>
            <a:pPr lvl="2"/>
            <a:r>
              <a:rPr lang="en-US" sz="1400" dirty="0"/>
              <a:t>Additional classes or sub-functions </a:t>
            </a:r>
            <a:br>
              <a:rPr lang="en-US" sz="1400" dirty="0"/>
            </a:br>
            <a:r>
              <a:rPr lang="en-US" sz="1400" dirty="0"/>
              <a:t>can be added</a:t>
            </a:r>
          </a:p>
          <a:p>
            <a:pPr lvl="1"/>
            <a:r>
              <a:rPr lang="en-US" sz="1600" dirty="0"/>
              <a:t>The class is instantiated in the </a:t>
            </a:r>
            <a:br>
              <a:rPr lang="en-US" sz="1600" dirty="0"/>
            </a:br>
            <a:r>
              <a:rPr lang="en-US" sz="1600" dirty="0"/>
              <a:t>top-level function</a:t>
            </a:r>
          </a:p>
          <a:p>
            <a:pPr lvl="2"/>
            <a:r>
              <a:rPr lang="en-US" sz="1400" dirty="0"/>
              <a:t>Methods can be used</a:t>
            </a:r>
            <a:endParaRPr lang="en-US" dirty="0"/>
          </a:p>
        </p:txBody>
      </p:sp>
      <p:sp>
        <p:nvSpPr>
          <p:cNvPr id="20" name="Slide Number Placeholder 19"/>
          <p:cNvSpPr>
            <a:spLocks noGrp="1"/>
          </p:cNvSpPr>
          <p:nvPr>
            <p:ph type="sldNum" sz="quarter" idx="10"/>
          </p:nvPr>
        </p:nvSpPr>
        <p:spPr/>
        <p:txBody>
          <a:bodyPr/>
          <a:lstStyle/>
          <a:p>
            <a:pPr defTabSz="914400">
              <a:defRPr/>
            </a:pPr>
            <a:r>
              <a:rPr lang="en-US" dirty="0">
                <a:solidFill>
                  <a:srgbClr val="0C0C0C">
                    <a:tint val="75000"/>
                  </a:srgbClr>
                </a:solidFill>
                <a:latin typeface="Arial"/>
              </a:rPr>
              <a:t>Coding Considerations 23- </a:t>
            </a:r>
            <a:fld id="{060BD193-E118-4B16-863C-C8C12C675E3E}" type="slidenum">
              <a:rPr lang="en-US">
                <a:solidFill>
                  <a:srgbClr val="0C0C0C">
                    <a:tint val="75000"/>
                  </a:srgbClr>
                </a:solidFill>
                <a:latin typeface="Arial"/>
              </a:rPr>
              <a:pPr defTabSz="914400">
                <a:defRPr/>
              </a:pPr>
              <a:t>17</a:t>
            </a:fld>
            <a:endParaRPr lang="en-US" dirty="0">
              <a:solidFill>
                <a:srgbClr val="0C0C0C">
                  <a:tint val="75000"/>
                </a:srgbClr>
              </a:solidFill>
              <a:latin typeface="Arial"/>
            </a:endParaRPr>
          </a:p>
        </p:txBody>
      </p:sp>
      <p:sp>
        <p:nvSpPr>
          <p:cNvPr id="15" name="TextBox 14">
            <a:extLst>
              <a:ext uri="{FF2B5EF4-FFF2-40B4-BE49-F238E27FC236}">
                <a16:creationId xmlns:a16="http://schemas.microsoft.com/office/drawing/2014/main" id="{9C46CCEB-6AE8-46E9-8603-5C3E7C67007A}"/>
              </a:ext>
            </a:extLst>
          </p:cNvPr>
          <p:cNvSpPr txBox="1"/>
          <p:nvPr/>
        </p:nvSpPr>
        <p:spPr>
          <a:xfrm>
            <a:off x="464734" y="4016860"/>
            <a:ext cx="4607400" cy="2377440"/>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defRPr/>
            </a:pPr>
            <a:r>
              <a:rPr lang="en-US" sz="1000" kern="0" dirty="0">
                <a:solidFill>
                  <a:srgbClr val="000000"/>
                </a:solidFill>
                <a:latin typeface="Arial"/>
              </a:rPr>
              <a:t>#include “</a:t>
            </a:r>
            <a:r>
              <a:rPr lang="en-US" sz="1000" kern="0" dirty="0" err="1">
                <a:solidFill>
                  <a:srgbClr val="000000"/>
                </a:solidFill>
                <a:latin typeface="Arial"/>
              </a:rPr>
              <a:t>types.h</a:t>
            </a:r>
            <a:r>
              <a:rPr lang="en-US" sz="1000" kern="0" dirty="0">
                <a:solidFill>
                  <a:srgbClr val="000000"/>
                </a:solidFill>
                <a:latin typeface="Arial"/>
              </a:rPr>
              <a:t>”</a:t>
            </a:r>
          </a:p>
          <a:p>
            <a:pPr defTabSz="914400" fontAlgn="base">
              <a:spcBef>
                <a:spcPct val="0"/>
              </a:spcBef>
              <a:spcAft>
                <a:spcPct val="0"/>
              </a:spcAft>
              <a:defRPr/>
            </a:pPr>
            <a:r>
              <a:rPr lang="en-US" sz="1000" kern="0" dirty="0">
                <a:solidFill>
                  <a:srgbClr val="000000"/>
                </a:solidFill>
                <a:latin typeface="Arial"/>
              </a:rPr>
              <a:t>template&lt;class </a:t>
            </a:r>
            <a:r>
              <a:rPr lang="en-US" sz="1000" kern="0" dirty="0" err="1">
                <a:solidFill>
                  <a:srgbClr val="000000"/>
                </a:solidFill>
                <a:latin typeface="Arial"/>
              </a:rPr>
              <a:t>coef_T</a:t>
            </a:r>
            <a:r>
              <a:rPr lang="en-US" sz="1000" kern="0" dirty="0">
                <a:solidFill>
                  <a:srgbClr val="000000"/>
                </a:solidFill>
                <a:latin typeface="Arial"/>
              </a:rPr>
              <a:t>, class </a:t>
            </a:r>
            <a:r>
              <a:rPr lang="en-US" sz="1000" kern="0" dirty="0" err="1">
                <a:solidFill>
                  <a:srgbClr val="000000"/>
                </a:solidFill>
                <a:latin typeface="Arial"/>
              </a:rPr>
              <a:t>data_T</a:t>
            </a:r>
            <a:r>
              <a:rPr lang="en-US" sz="1000" kern="0" dirty="0">
                <a:solidFill>
                  <a:srgbClr val="000000"/>
                </a:solidFill>
                <a:latin typeface="Arial"/>
              </a:rPr>
              <a:t>, class </a:t>
            </a:r>
            <a:r>
              <a:rPr lang="en-US" sz="1000" kern="0" dirty="0" err="1">
                <a:solidFill>
                  <a:srgbClr val="000000"/>
                </a:solidFill>
                <a:latin typeface="Arial"/>
              </a:rPr>
              <a:t>acc_T</a:t>
            </a:r>
            <a:r>
              <a:rPr lang="en-US" sz="1000" kern="0" dirty="0">
                <a:solidFill>
                  <a:srgbClr val="000000"/>
                </a:solidFill>
                <a:latin typeface="Arial"/>
              </a:rPr>
              <a:t>&gt;</a:t>
            </a:r>
          </a:p>
          <a:p>
            <a:pPr defTabSz="914400" fontAlgn="base">
              <a:spcBef>
                <a:spcPct val="0"/>
              </a:spcBef>
              <a:spcAft>
                <a:spcPct val="0"/>
              </a:spcAft>
              <a:defRPr/>
            </a:pPr>
            <a:r>
              <a:rPr lang="en-US" sz="1000" kern="0" dirty="0">
                <a:solidFill>
                  <a:srgbClr val="000000"/>
                </a:solidFill>
                <a:latin typeface="Arial"/>
              </a:rPr>
              <a:t>class </a:t>
            </a:r>
            <a:r>
              <a:rPr lang="en-US" sz="1000" b="1" kern="0" dirty="0" err="1">
                <a:solidFill>
                  <a:srgbClr val="000000"/>
                </a:solidFill>
                <a:latin typeface="Arial"/>
              </a:rPr>
              <a:t>CFir</a:t>
            </a:r>
            <a:endParaRPr lang="en-US" sz="1000" b="1" kern="0" dirty="0">
              <a:solidFill>
                <a:srgbClr val="000000"/>
              </a:solidFill>
              <a:latin typeface="Arial"/>
            </a:endParaRPr>
          </a:p>
          <a:p>
            <a:pPr defTabSz="914400" fontAlgn="base">
              <a:spcBef>
                <a:spcPct val="0"/>
              </a:spcBef>
              <a:spcAft>
                <a:spcPct val="0"/>
              </a:spcAft>
              <a:defRPr/>
            </a:pPr>
            <a:r>
              <a:rPr lang="en-US" sz="1000" kern="0" dirty="0">
                <a:solidFill>
                  <a:srgbClr val="000000"/>
                </a:solidFill>
                <a:latin typeface="Arial"/>
              </a:rPr>
              <a:t>  {</a:t>
            </a:r>
          </a:p>
          <a:p>
            <a:pPr defTabSz="914400" fontAlgn="base">
              <a:spcBef>
                <a:spcPct val="0"/>
              </a:spcBef>
              <a:spcAft>
                <a:spcPct val="0"/>
              </a:spcAft>
              <a:defRPr/>
            </a:pPr>
            <a:r>
              <a:rPr lang="en-US" sz="1000" kern="0" dirty="0">
                <a:solidFill>
                  <a:srgbClr val="000000"/>
                </a:solidFill>
                <a:latin typeface="Arial"/>
              </a:rPr>
              <a:t>protected:</a:t>
            </a:r>
          </a:p>
          <a:p>
            <a:pPr defTabSz="914400" fontAlgn="base">
              <a:spcBef>
                <a:spcPct val="0"/>
              </a:spcBef>
              <a:spcAft>
                <a:spcPct val="0"/>
              </a:spcAft>
              <a:defRPr/>
            </a:pPr>
            <a:r>
              <a:rPr lang="en-US" sz="1000" kern="0" dirty="0">
                <a:solidFill>
                  <a:srgbClr val="000000"/>
                </a:solidFill>
                <a:latin typeface="Arial"/>
              </a:rPr>
              <a:t>  static const </a:t>
            </a:r>
            <a:r>
              <a:rPr lang="en-US" sz="1000" kern="0" dirty="0" err="1">
                <a:solidFill>
                  <a:srgbClr val="000000"/>
                </a:solidFill>
                <a:latin typeface="Arial"/>
              </a:rPr>
              <a:t>coef_T</a:t>
            </a:r>
            <a:r>
              <a:rPr lang="en-US" sz="1000" kern="0" dirty="0">
                <a:solidFill>
                  <a:srgbClr val="000000"/>
                </a:solidFill>
                <a:latin typeface="Arial"/>
              </a:rPr>
              <a:t> c[];</a:t>
            </a:r>
          </a:p>
          <a:p>
            <a:pPr defTabSz="914400" fontAlgn="base">
              <a:spcBef>
                <a:spcPct val="0"/>
              </a:spcBef>
              <a:spcAft>
                <a:spcPct val="0"/>
              </a:spcAft>
              <a:defRPr/>
            </a:pPr>
            <a:r>
              <a:rPr lang="en-US" sz="1000" kern="0" dirty="0">
                <a:solidFill>
                  <a:srgbClr val="000000"/>
                </a:solidFill>
                <a:latin typeface="Arial"/>
              </a:rPr>
              <a:t>  </a:t>
            </a:r>
            <a:r>
              <a:rPr lang="en-US" sz="1000" kern="0" dirty="0" err="1">
                <a:solidFill>
                  <a:srgbClr val="000000"/>
                </a:solidFill>
                <a:latin typeface="Arial"/>
              </a:rPr>
              <a:t>data_T</a:t>
            </a:r>
            <a:r>
              <a:rPr lang="en-US" sz="1000" kern="0" dirty="0">
                <a:solidFill>
                  <a:srgbClr val="000000"/>
                </a:solidFill>
                <a:latin typeface="Arial"/>
              </a:rPr>
              <a:t> </a:t>
            </a:r>
            <a:r>
              <a:rPr lang="en-US" sz="1000" kern="0" dirty="0" err="1">
                <a:solidFill>
                  <a:srgbClr val="000000"/>
                </a:solidFill>
                <a:latin typeface="Arial"/>
              </a:rPr>
              <a:t>shift_reg</a:t>
            </a:r>
            <a:r>
              <a:rPr lang="en-US" sz="1000" kern="0" dirty="0">
                <a:solidFill>
                  <a:srgbClr val="000000"/>
                </a:solidFill>
                <a:latin typeface="Arial"/>
              </a:rPr>
              <a:t>[N-1];</a:t>
            </a:r>
          </a:p>
          <a:p>
            <a:pPr defTabSz="914400" fontAlgn="base">
              <a:spcBef>
                <a:spcPct val="0"/>
              </a:spcBef>
              <a:spcAft>
                <a:spcPct val="0"/>
              </a:spcAft>
              <a:defRPr/>
            </a:pPr>
            <a:r>
              <a:rPr lang="en-US" sz="1000" kern="0" dirty="0">
                <a:solidFill>
                  <a:srgbClr val="000000"/>
                </a:solidFill>
                <a:latin typeface="Arial"/>
              </a:rPr>
              <a:t>private:</a:t>
            </a:r>
          </a:p>
          <a:p>
            <a:pPr defTabSz="914400" fontAlgn="base">
              <a:spcBef>
                <a:spcPct val="0"/>
              </a:spcBef>
              <a:spcAft>
                <a:spcPct val="0"/>
              </a:spcAft>
              <a:defRPr/>
            </a:pPr>
            <a:r>
              <a:rPr lang="en-US" sz="1000" kern="0" dirty="0">
                <a:solidFill>
                  <a:srgbClr val="000000"/>
                </a:solidFill>
                <a:latin typeface="Arial"/>
              </a:rPr>
              <a:t>public:</a:t>
            </a:r>
          </a:p>
          <a:p>
            <a:pPr defTabSz="914400" fontAlgn="base">
              <a:spcBef>
                <a:spcPct val="0"/>
              </a:spcBef>
              <a:spcAft>
                <a:spcPct val="0"/>
              </a:spcAft>
              <a:defRPr/>
            </a:pPr>
            <a:r>
              <a:rPr lang="en-US" sz="1000" kern="0" dirty="0">
                <a:solidFill>
                  <a:srgbClr val="000000"/>
                </a:solidFill>
                <a:latin typeface="Arial"/>
              </a:rPr>
              <a:t>  </a:t>
            </a:r>
            <a:r>
              <a:rPr lang="en-US" sz="1000" kern="0" dirty="0" err="1">
                <a:solidFill>
                  <a:srgbClr val="000000"/>
                </a:solidFill>
                <a:latin typeface="Arial"/>
              </a:rPr>
              <a:t>data_T</a:t>
            </a:r>
            <a:r>
              <a:rPr lang="en-US" sz="1000" kern="0" dirty="0">
                <a:solidFill>
                  <a:srgbClr val="000000"/>
                </a:solidFill>
                <a:latin typeface="Arial"/>
              </a:rPr>
              <a:t> </a:t>
            </a:r>
            <a:r>
              <a:rPr lang="en-US" sz="1000" b="1" kern="0" dirty="0">
                <a:solidFill>
                  <a:srgbClr val="000000"/>
                </a:solidFill>
                <a:latin typeface="Arial"/>
              </a:rPr>
              <a:t>operator()</a:t>
            </a:r>
            <a:r>
              <a:rPr lang="en-US" sz="1000" kern="0" dirty="0">
                <a:solidFill>
                  <a:srgbClr val="000000"/>
                </a:solidFill>
                <a:latin typeface="Arial"/>
              </a:rPr>
              <a:t>(</a:t>
            </a:r>
            <a:r>
              <a:rPr lang="en-US" sz="1000" kern="0" dirty="0" err="1">
                <a:solidFill>
                  <a:srgbClr val="000000"/>
                </a:solidFill>
                <a:latin typeface="Arial"/>
              </a:rPr>
              <a:t>data_T</a:t>
            </a:r>
            <a:r>
              <a:rPr lang="en-US" sz="1000" kern="0" dirty="0">
                <a:solidFill>
                  <a:srgbClr val="000000"/>
                </a:solidFill>
                <a:latin typeface="Arial"/>
              </a:rPr>
              <a:t> x);</a:t>
            </a:r>
          </a:p>
          <a:p>
            <a:pPr defTabSz="914400" fontAlgn="base">
              <a:spcBef>
                <a:spcPct val="0"/>
              </a:spcBef>
              <a:spcAft>
                <a:spcPct val="0"/>
              </a:spcAft>
              <a:defRPr/>
            </a:pPr>
            <a:r>
              <a:rPr lang="en-US" sz="1000" kern="0" dirty="0">
                <a:solidFill>
                  <a:srgbClr val="000000"/>
                </a:solidFill>
                <a:latin typeface="Arial"/>
              </a:rPr>
              <a:t>  template&lt;class </a:t>
            </a:r>
            <a:r>
              <a:rPr lang="en-US" sz="1000" kern="0" dirty="0" err="1">
                <a:solidFill>
                  <a:srgbClr val="000000"/>
                </a:solidFill>
                <a:latin typeface="Arial"/>
              </a:rPr>
              <a:t>coef_TT</a:t>
            </a:r>
            <a:r>
              <a:rPr lang="en-US" sz="1000" kern="0" dirty="0">
                <a:solidFill>
                  <a:srgbClr val="000000"/>
                </a:solidFill>
                <a:latin typeface="Arial"/>
              </a:rPr>
              <a:t>, class </a:t>
            </a:r>
            <a:r>
              <a:rPr lang="en-US" sz="1000" kern="0" dirty="0" err="1">
                <a:solidFill>
                  <a:srgbClr val="000000"/>
                </a:solidFill>
                <a:latin typeface="Arial"/>
              </a:rPr>
              <a:t>data_TT</a:t>
            </a:r>
            <a:r>
              <a:rPr lang="en-US" sz="1000" kern="0" dirty="0">
                <a:solidFill>
                  <a:srgbClr val="000000"/>
                </a:solidFill>
                <a:latin typeface="Arial"/>
              </a:rPr>
              <a:t>, class </a:t>
            </a:r>
            <a:r>
              <a:rPr lang="en-US" sz="1000" kern="0" dirty="0" err="1">
                <a:solidFill>
                  <a:srgbClr val="000000"/>
                </a:solidFill>
                <a:latin typeface="Arial"/>
              </a:rPr>
              <a:t>acc_TT</a:t>
            </a:r>
            <a:r>
              <a:rPr lang="en-US" sz="1000" kern="0" dirty="0">
                <a:solidFill>
                  <a:srgbClr val="000000"/>
                </a:solidFill>
                <a:latin typeface="Arial"/>
              </a:rPr>
              <a:t>&gt;</a:t>
            </a:r>
          </a:p>
          <a:p>
            <a:pPr defTabSz="914400" fontAlgn="base">
              <a:spcBef>
                <a:spcPct val="0"/>
              </a:spcBef>
              <a:spcAft>
                <a:spcPct val="0"/>
              </a:spcAft>
              <a:defRPr/>
            </a:pPr>
            <a:endParaRPr lang="en-US" sz="1000" kern="0" dirty="0">
              <a:solidFill>
                <a:srgbClr val="000000"/>
              </a:solidFill>
              <a:latin typeface="Arial"/>
            </a:endParaRPr>
          </a:p>
          <a:p>
            <a:pPr defTabSz="914400" fontAlgn="base">
              <a:spcBef>
                <a:spcPct val="0"/>
              </a:spcBef>
              <a:spcAft>
                <a:spcPct val="0"/>
              </a:spcAft>
              <a:defRPr/>
            </a:pPr>
            <a:r>
              <a:rPr lang="en-US" sz="1000" kern="0" dirty="0">
                <a:solidFill>
                  <a:srgbClr val="000000"/>
                </a:solidFill>
                <a:latin typeface="Arial"/>
              </a:rPr>
              <a:t>  };</a:t>
            </a:r>
          </a:p>
          <a:p>
            <a:pPr defTabSz="914400" fontAlgn="base">
              <a:spcBef>
                <a:spcPct val="0"/>
              </a:spcBef>
              <a:spcAft>
                <a:spcPct val="0"/>
              </a:spcAft>
              <a:defRPr/>
            </a:pPr>
            <a:endParaRPr lang="en-US" sz="1000" kern="0" dirty="0">
              <a:solidFill>
                <a:srgbClr val="000000"/>
              </a:solidFill>
              <a:latin typeface="Arial"/>
            </a:endParaRPr>
          </a:p>
          <a:p>
            <a:pPr defTabSz="914400" fontAlgn="base">
              <a:spcBef>
                <a:spcPct val="0"/>
              </a:spcBef>
              <a:spcAft>
                <a:spcPct val="0"/>
              </a:spcAft>
              <a:defRPr/>
            </a:pPr>
            <a:r>
              <a:rPr lang="en-US" sz="1000" kern="0" dirty="0" err="1">
                <a:solidFill>
                  <a:srgbClr val="000000"/>
                </a:solidFill>
                <a:latin typeface="Arial"/>
              </a:rPr>
              <a:t>data_t</a:t>
            </a:r>
            <a:r>
              <a:rPr lang="en-US" sz="1000" kern="0" dirty="0">
                <a:solidFill>
                  <a:srgbClr val="000000"/>
                </a:solidFill>
                <a:latin typeface="Arial"/>
              </a:rPr>
              <a:t> fir(</a:t>
            </a:r>
            <a:r>
              <a:rPr lang="en-US" sz="1000" kern="0" dirty="0" err="1">
                <a:solidFill>
                  <a:srgbClr val="000000"/>
                </a:solidFill>
                <a:latin typeface="Arial"/>
              </a:rPr>
              <a:t>data_t</a:t>
            </a:r>
            <a:r>
              <a:rPr lang="en-US" sz="1000" kern="0" dirty="0">
                <a:solidFill>
                  <a:srgbClr val="000000"/>
                </a:solidFill>
                <a:latin typeface="Arial"/>
              </a:rPr>
              <a:t> x);</a:t>
            </a:r>
          </a:p>
        </p:txBody>
      </p:sp>
      <p:sp>
        <p:nvSpPr>
          <p:cNvPr id="21" name="TextBox 20">
            <a:extLst>
              <a:ext uri="{FF2B5EF4-FFF2-40B4-BE49-F238E27FC236}">
                <a16:creationId xmlns:a16="http://schemas.microsoft.com/office/drawing/2014/main" id="{CF632DE5-02F5-40FD-AFC9-D50495AEB8E4}"/>
              </a:ext>
            </a:extLst>
          </p:cNvPr>
          <p:cNvSpPr txBox="1"/>
          <p:nvPr/>
        </p:nvSpPr>
        <p:spPr>
          <a:xfrm>
            <a:off x="4304235" y="3940050"/>
            <a:ext cx="767900" cy="253916"/>
          </a:xfrm>
          <a:prstGeom prst="rect">
            <a:avLst/>
          </a:prstGeom>
          <a:solidFill>
            <a:srgbClr val="7030A0"/>
          </a:solidFill>
          <a:ln w="9525" cap="flat" cmpd="sng" algn="ctr">
            <a:solidFill>
              <a:srgbClr val="3F3F3F">
                <a:shade val="95000"/>
                <a:satMod val="105000"/>
              </a:srgbClr>
            </a:solidFill>
            <a:prstDash val="solid"/>
          </a:ln>
          <a:effectLst>
            <a:outerShdw blurRad="40000" dist="23000" dir="5400000" rotWithShape="0">
              <a:srgbClr val="000000">
                <a:alpha val="35000"/>
              </a:srgbClr>
            </a:outerShdw>
          </a:effectLst>
        </p:spPr>
        <p:txBody>
          <a:bodyPr wrap="square" rtlCol="0">
            <a:spAutoFit/>
          </a:bodyPr>
          <a:lstStyle/>
          <a:p>
            <a:pPr algn="ctr" defTabSz="914400" fontAlgn="base">
              <a:spcBef>
                <a:spcPct val="0"/>
              </a:spcBef>
              <a:spcAft>
                <a:spcPct val="0"/>
              </a:spcAft>
              <a:defRPr/>
            </a:pPr>
            <a:r>
              <a:rPr lang="en-US" sz="1050" b="1" kern="0" dirty="0" err="1">
                <a:solidFill>
                  <a:srgbClr val="FFFFFF"/>
                </a:solidFill>
                <a:latin typeface="Arial"/>
              </a:rPr>
              <a:t>fir.h</a:t>
            </a:r>
            <a:endParaRPr lang="en-US" sz="1050" b="1" kern="0" dirty="0">
              <a:solidFill>
                <a:srgbClr val="FFFFFF"/>
              </a:solidFill>
              <a:latin typeface="Arial"/>
            </a:endParaRPr>
          </a:p>
        </p:txBody>
      </p:sp>
      <p:sp>
        <p:nvSpPr>
          <p:cNvPr id="22" name="TextBox 21">
            <a:extLst>
              <a:ext uri="{FF2B5EF4-FFF2-40B4-BE49-F238E27FC236}">
                <a16:creationId xmlns:a16="http://schemas.microsoft.com/office/drawing/2014/main" id="{D9E0259D-43AD-466C-80E9-BF5BD6857545}"/>
              </a:ext>
            </a:extLst>
          </p:cNvPr>
          <p:cNvSpPr txBox="1"/>
          <p:nvPr/>
        </p:nvSpPr>
        <p:spPr>
          <a:xfrm>
            <a:off x="2102921" y="5937110"/>
            <a:ext cx="1996540" cy="253916"/>
          </a:xfrm>
          <a:prstGeom prst="rect">
            <a:avLst/>
          </a:prstGeom>
          <a:solidFill>
            <a:srgbClr val="FFFF99"/>
          </a:solidFill>
          <a:ln w="28575">
            <a:solidFill>
              <a:srgbClr val="000000"/>
            </a:solidFill>
          </a:ln>
          <a:effectLst>
            <a:innerShdw blurRad="63500" dist="50800" dir="2700000">
              <a:prstClr val="black">
                <a:alpha val="50000"/>
              </a:prstClr>
            </a:innerShdw>
          </a:effectLst>
        </p:spPr>
        <p:txBody>
          <a:bodyPr wrap="square" rtlCol="0">
            <a:spAutoFit/>
          </a:bodyPr>
          <a:lstStyle/>
          <a:p>
            <a:pPr algn="ctr" defTabSz="914400" fontAlgn="base">
              <a:spcBef>
                <a:spcPct val="50000"/>
              </a:spcBef>
              <a:spcAft>
                <a:spcPct val="0"/>
              </a:spcAft>
              <a:defRPr/>
            </a:pPr>
            <a:r>
              <a:rPr lang="en-US" altLang="zh-CN" sz="1050" b="1" kern="0" dirty="0" err="1">
                <a:solidFill>
                  <a:srgbClr val="000000"/>
                </a:solidFill>
                <a:latin typeface="Arial"/>
                <a:ea typeface="宋体" charset="-122"/>
              </a:rPr>
              <a:t>CFir</a:t>
            </a:r>
            <a:r>
              <a:rPr lang="en-US" altLang="zh-CN" sz="1050" b="1" kern="0" dirty="0">
                <a:solidFill>
                  <a:srgbClr val="000000"/>
                </a:solidFill>
                <a:latin typeface="Arial"/>
                <a:ea typeface="宋体" charset="-122"/>
              </a:rPr>
              <a:t> Class defined</a:t>
            </a:r>
          </a:p>
        </p:txBody>
      </p:sp>
      <p:sp>
        <p:nvSpPr>
          <p:cNvPr id="23" name="TextBox 22">
            <a:extLst>
              <a:ext uri="{FF2B5EF4-FFF2-40B4-BE49-F238E27FC236}">
                <a16:creationId xmlns:a16="http://schemas.microsoft.com/office/drawing/2014/main" id="{21D9CE5F-0B0D-4658-90D1-8C918629838B}"/>
              </a:ext>
            </a:extLst>
          </p:cNvPr>
          <p:cNvSpPr txBox="1"/>
          <p:nvPr/>
        </p:nvSpPr>
        <p:spPr>
          <a:xfrm>
            <a:off x="5328102" y="1405320"/>
            <a:ext cx="5324106" cy="4992650"/>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defRPr/>
            </a:pPr>
            <a:endParaRPr lang="en-US" sz="1000" kern="0" dirty="0">
              <a:solidFill>
                <a:srgbClr val="000000"/>
              </a:solidFill>
              <a:latin typeface="Arial"/>
            </a:endParaRPr>
          </a:p>
          <a:p>
            <a:pPr defTabSz="914400" fontAlgn="base">
              <a:spcBef>
                <a:spcPct val="0"/>
              </a:spcBef>
              <a:spcAft>
                <a:spcPct val="0"/>
              </a:spcAft>
              <a:defRPr/>
            </a:pPr>
            <a:r>
              <a:rPr lang="en-US" sz="1000" kern="0" dirty="0">
                <a:solidFill>
                  <a:srgbClr val="000000"/>
                </a:solidFill>
                <a:latin typeface="Arial"/>
              </a:rPr>
              <a:t>template&lt;class </a:t>
            </a:r>
            <a:r>
              <a:rPr lang="en-US" sz="1000" kern="0" dirty="0" err="1">
                <a:solidFill>
                  <a:srgbClr val="000000"/>
                </a:solidFill>
                <a:latin typeface="Arial"/>
              </a:rPr>
              <a:t>coef_T</a:t>
            </a:r>
            <a:r>
              <a:rPr lang="en-US" sz="1000" kern="0" dirty="0">
                <a:solidFill>
                  <a:srgbClr val="000000"/>
                </a:solidFill>
                <a:latin typeface="Arial"/>
              </a:rPr>
              <a:t>, class </a:t>
            </a:r>
            <a:r>
              <a:rPr lang="en-US" sz="1000" kern="0" dirty="0" err="1">
                <a:solidFill>
                  <a:srgbClr val="000000"/>
                </a:solidFill>
                <a:latin typeface="Arial"/>
              </a:rPr>
              <a:t>data_T</a:t>
            </a:r>
            <a:r>
              <a:rPr lang="en-US" sz="1000" kern="0" dirty="0">
                <a:solidFill>
                  <a:srgbClr val="000000"/>
                </a:solidFill>
                <a:latin typeface="Arial"/>
              </a:rPr>
              <a:t>, class </a:t>
            </a:r>
            <a:r>
              <a:rPr lang="en-US" sz="1000" kern="0" dirty="0" err="1">
                <a:solidFill>
                  <a:srgbClr val="000000"/>
                </a:solidFill>
                <a:latin typeface="Arial"/>
              </a:rPr>
              <a:t>acc_T</a:t>
            </a:r>
            <a:r>
              <a:rPr lang="en-US" sz="1000" kern="0" dirty="0">
                <a:solidFill>
                  <a:srgbClr val="000000"/>
                </a:solidFill>
                <a:latin typeface="Arial"/>
              </a:rPr>
              <a:t>&gt;</a:t>
            </a:r>
          </a:p>
          <a:p>
            <a:pPr defTabSz="914400" fontAlgn="base">
              <a:spcBef>
                <a:spcPct val="0"/>
              </a:spcBef>
              <a:spcAft>
                <a:spcPct val="0"/>
              </a:spcAft>
              <a:defRPr/>
            </a:pPr>
            <a:r>
              <a:rPr lang="en-US" sz="1000" kern="0" dirty="0">
                <a:solidFill>
                  <a:srgbClr val="000000"/>
                </a:solidFill>
                <a:latin typeface="Arial"/>
              </a:rPr>
              <a:t>const </a:t>
            </a:r>
            <a:r>
              <a:rPr lang="en-US" sz="1000" kern="0" dirty="0" err="1">
                <a:solidFill>
                  <a:srgbClr val="000000"/>
                </a:solidFill>
                <a:latin typeface="Arial"/>
              </a:rPr>
              <a:t>coef_T</a:t>
            </a:r>
            <a:r>
              <a:rPr lang="en-US" sz="1000" kern="0" dirty="0">
                <a:solidFill>
                  <a:srgbClr val="000000"/>
                </a:solidFill>
                <a:latin typeface="Arial"/>
              </a:rPr>
              <a:t> </a:t>
            </a:r>
            <a:r>
              <a:rPr lang="en-US" sz="1000" kern="0" dirty="0" err="1">
                <a:solidFill>
                  <a:srgbClr val="000000"/>
                </a:solidFill>
                <a:latin typeface="Arial"/>
              </a:rPr>
              <a:t>CFir</a:t>
            </a:r>
            <a:r>
              <a:rPr lang="en-US" sz="1000" kern="0" dirty="0">
                <a:solidFill>
                  <a:srgbClr val="000000"/>
                </a:solidFill>
                <a:latin typeface="Arial"/>
              </a:rPr>
              <a:t>&lt;</a:t>
            </a:r>
            <a:r>
              <a:rPr lang="en-US" sz="1000" kern="0" dirty="0" err="1">
                <a:solidFill>
                  <a:srgbClr val="000000"/>
                </a:solidFill>
                <a:latin typeface="Arial"/>
              </a:rPr>
              <a:t>coef_T</a:t>
            </a:r>
            <a:r>
              <a:rPr lang="en-US" sz="1000" kern="0" dirty="0">
                <a:solidFill>
                  <a:srgbClr val="000000"/>
                </a:solidFill>
                <a:latin typeface="Arial"/>
              </a:rPr>
              <a:t>, </a:t>
            </a:r>
            <a:r>
              <a:rPr lang="en-US" sz="1000" kern="0" dirty="0" err="1">
                <a:solidFill>
                  <a:srgbClr val="000000"/>
                </a:solidFill>
                <a:latin typeface="Arial"/>
              </a:rPr>
              <a:t>data_T</a:t>
            </a:r>
            <a:r>
              <a:rPr lang="en-US" sz="1000" kern="0" dirty="0">
                <a:solidFill>
                  <a:srgbClr val="000000"/>
                </a:solidFill>
                <a:latin typeface="Arial"/>
              </a:rPr>
              <a:t>, </a:t>
            </a:r>
            <a:r>
              <a:rPr lang="en-US" sz="1000" kern="0" dirty="0" err="1">
                <a:solidFill>
                  <a:srgbClr val="000000"/>
                </a:solidFill>
                <a:latin typeface="Arial"/>
              </a:rPr>
              <a:t>acc_T</a:t>
            </a:r>
            <a:r>
              <a:rPr lang="en-US" sz="1000" kern="0" dirty="0">
                <a:solidFill>
                  <a:srgbClr val="000000"/>
                </a:solidFill>
                <a:latin typeface="Arial"/>
              </a:rPr>
              <a:t>&gt;::c[] =</a:t>
            </a:r>
          </a:p>
          <a:p>
            <a:pPr defTabSz="914400" fontAlgn="base">
              <a:spcBef>
                <a:spcPct val="0"/>
              </a:spcBef>
              <a:spcAft>
                <a:spcPct val="0"/>
              </a:spcAft>
              <a:defRPr/>
            </a:pPr>
            <a:r>
              <a:rPr lang="en-US" sz="1000" kern="0" dirty="0">
                <a:solidFill>
                  <a:srgbClr val="000000"/>
                </a:solidFill>
                <a:latin typeface="Arial"/>
              </a:rPr>
              <a:t>  {</a:t>
            </a:r>
          </a:p>
          <a:p>
            <a:pPr defTabSz="914400" fontAlgn="base">
              <a:spcBef>
                <a:spcPct val="0"/>
              </a:spcBef>
              <a:spcAft>
                <a:spcPct val="0"/>
              </a:spcAft>
              <a:defRPr/>
            </a:pPr>
            <a:r>
              <a:rPr lang="en-US" sz="1000" kern="0" dirty="0">
                <a:solidFill>
                  <a:srgbClr val="000000"/>
                </a:solidFill>
                <a:latin typeface="Arial"/>
              </a:rPr>
              <a:t>#include "</a:t>
            </a:r>
            <a:r>
              <a:rPr lang="en-US" sz="1000" kern="0" dirty="0" err="1">
                <a:solidFill>
                  <a:srgbClr val="000000"/>
                </a:solidFill>
                <a:latin typeface="Arial"/>
              </a:rPr>
              <a:t>fir_coeff.h</a:t>
            </a:r>
            <a:r>
              <a:rPr lang="en-US" sz="1000" kern="0" dirty="0">
                <a:solidFill>
                  <a:srgbClr val="000000"/>
                </a:solidFill>
                <a:latin typeface="Arial"/>
              </a:rPr>
              <a:t>"</a:t>
            </a:r>
          </a:p>
          <a:p>
            <a:pPr defTabSz="914400" fontAlgn="base">
              <a:spcBef>
                <a:spcPct val="0"/>
              </a:spcBef>
              <a:spcAft>
                <a:spcPct val="0"/>
              </a:spcAft>
              <a:defRPr/>
            </a:pPr>
            <a:r>
              <a:rPr lang="en-US" sz="1000" kern="0" dirty="0">
                <a:solidFill>
                  <a:srgbClr val="000000"/>
                </a:solidFill>
                <a:latin typeface="Arial"/>
              </a:rPr>
              <a:t>    };</a:t>
            </a:r>
          </a:p>
          <a:p>
            <a:pPr defTabSz="914400" fontAlgn="base">
              <a:spcBef>
                <a:spcPct val="0"/>
              </a:spcBef>
              <a:spcAft>
                <a:spcPct val="0"/>
              </a:spcAft>
              <a:defRPr/>
            </a:pPr>
            <a:endParaRPr lang="en-US" sz="1000" kern="0" dirty="0">
              <a:solidFill>
                <a:srgbClr val="000000"/>
              </a:solidFill>
              <a:latin typeface="Arial"/>
            </a:endParaRPr>
          </a:p>
          <a:p>
            <a:pPr defTabSz="914400" fontAlgn="base">
              <a:spcBef>
                <a:spcPct val="0"/>
              </a:spcBef>
              <a:spcAft>
                <a:spcPct val="0"/>
              </a:spcAft>
              <a:defRPr/>
            </a:pPr>
            <a:r>
              <a:rPr lang="en-US" sz="1000" kern="0" dirty="0">
                <a:solidFill>
                  <a:srgbClr val="000000"/>
                </a:solidFill>
                <a:latin typeface="Arial"/>
              </a:rPr>
              <a:t>template&lt;class </a:t>
            </a:r>
            <a:r>
              <a:rPr lang="en-US" sz="1000" kern="0" dirty="0" err="1">
                <a:solidFill>
                  <a:srgbClr val="000000"/>
                </a:solidFill>
                <a:latin typeface="Arial"/>
              </a:rPr>
              <a:t>coef_T</a:t>
            </a:r>
            <a:r>
              <a:rPr lang="en-US" sz="1000" kern="0" dirty="0">
                <a:solidFill>
                  <a:srgbClr val="000000"/>
                </a:solidFill>
                <a:latin typeface="Arial"/>
              </a:rPr>
              <a:t>, class </a:t>
            </a:r>
            <a:r>
              <a:rPr lang="en-US" sz="1000" kern="0" dirty="0" err="1">
                <a:solidFill>
                  <a:srgbClr val="000000"/>
                </a:solidFill>
                <a:latin typeface="Arial"/>
              </a:rPr>
              <a:t>data_T</a:t>
            </a:r>
            <a:r>
              <a:rPr lang="en-US" sz="1000" kern="0" dirty="0">
                <a:solidFill>
                  <a:srgbClr val="000000"/>
                </a:solidFill>
                <a:latin typeface="Arial"/>
              </a:rPr>
              <a:t>, class </a:t>
            </a:r>
            <a:r>
              <a:rPr lang="en-US" sz="1000" kern="0" dirty="0" err="1">
                <a:solidFill>
                  <a:srgbClr val="000000"/>
                </a:solidFill>
                <a:latin typeface="Arial"/>
              </a:rPr>
              <a:t>acc_T</a:t>
            </a:r>
            <a:r>
              <a:rPr lang="en-US" sz="1000" kern="0" dirty="0">
                <a:solidFill>
                  <a:srgbClr val="000000"/>
                </a:solidFill>
                <a:latin typeface="Arial"/>
              </a:rPr>
              <a:t>&gt;</a:t>
            </a:r>
          </a:p>
          <a:p>
            <a:pPr defTabSz="914400" fontAlgn="base">
              <a:spcBef>
                <a:spcPct val="0"/>
              </a:spcBef>
              <a:spcAft>
                <a:spcPct val="0"/>
              </a:spcAft>
              <a:defRPr/>
            </a:pPr>
            <a:r>
              <a:rPr lang="en-US" sz="1000" kern="0" dirty="0" err="1">
                <a:solidFill>
                  <a:srgbClr val="000000"/>
                </a:solidFill>
                <a:latin typeface="Arial"/>
              </a:rPr>
              <a:t>data_T</a:t>
            </a:r>
            <a:r>
              <a:rPr lang="en-US" sz="1000" kern="0" dirty="0">
                <a:solidFill>
                  <a:srgbClr val="000000"/>
                </a:solidFill>
                <a:latin typeface="Arial"/>
              </a:rPr>
              <a:t> </a:t>
            </a:r>
            <a:r>
              <a:rPr lang="en-US" sz="1000" b="1" kern="0" dirty="0" err="1">
                <a:solidFill>
                  <a:srgbClr val="000000"/>
                </a:solidFill>
                <a:latin typeface="Arial"/>
              </a:rPr>
              <a:t>CFir</a:t>
            </a:r>
            <a:r>
              <a:rPr lang="en-US" sz="1000" kern="0" dirty="0">
                <a:solidFill>
                  <a:srgbClr val="000000"/>
                </a:solidFill>
                <a:latin typeface="Arial"/>
              </a:rPr>
              <a:t>&lt;</a:t>
            </a:r>
            <a:r>
              <a:rPr lang="en-US" sz="1000" kern="0" dirty="0" err="1">
                <a:solidFill>
                  <a:srgbClr val="000000"/>
                </a:solidFill>
                <a:latin typeface="Arial"/>
              </a:rPr>
              <a:t>coef_T</a:t>
            </a:r>
            <a:r>
              <a:rPr lang="en-US" sz="1000" kern="0" dirty="0">
                <a:solidFill>
                  <a:srgbClr val="000000"/>
                </a:solidFill>
                <a:latin typeface="Arial"/>
              </a:rPr>
              <a:t>, </a:t>
            </a:r>
            <a:r>
              <a:rPr lang="en-US" sz="1000" kern="0" dirty="0" err="1">
                <a:solidFill>
                  <a:srgbClr val="000000"/>
                </a:solidFill>
                <a:latin typeface="Arial"/>
              </a:rPr>
              <a:t>data_T</a:t>
            </a:r>
            <a:r>
              <a:rPr lang="en-US" sz="1000" kern="0" dirty="0">
                <a:solidFill>
                  <a:srgbClr val="000000"/>
                </a:solidFill>
                <a:latin typeface="Arial"/>
              </a:rPr>
              <a:t>, </a:t>
            </a:r>
            <a:r>
              <a:rPr lang="en-US" sz="1000" kern="0" dirty="0" err="1">
                <a:solidFill>
                  <a:srgbClr val="000000"/>
                </a:solidFill>
                <a:latin typeface="Arial"/>
              </a:rPr>
              <a:t>acc_T</a:t>
            </a:r>
            <a:r>
              <a:rPr lang="en-US" sz="1000" kern="0" dirty="0">
                <a:solidFill>
                  <a:srgbClr val="000000"/>
                </a:solidFill>
                <a:latin typeface="Arial"/>
              </a:rPr>
              <a:t>&gt;::</a:t>
            </a:r>
            <a:r>
              <a:rPr lang="en-US" sz="1000" b="1" kern="0" dirty="0">
                <a:solidFill>
                  <a:srgbClr val="000000"/>
                </a:solidFill>
                <a:latin typeface="Arial"/>
              </a:rPr>
              <a:t>operator()</a:t>
            </a:r>
            <a:r>
              <a:rPr lang="en-US" sz="1000" kern="0" dirty="0">
                <a:solidFill>
                  <a:srgbClr val="000000"/>
                </a:solidFill>
                <a:latin typeface="Arial"/>
              </a:rPr>
              <a:t>(</a:t>
            </a:r>
            <a:r>
              <a:rPr lang="en-US" sz="1000" kern="0" dirty="0" err="1">
                <a:solidFill>
                  <a:srgbClr val="000000"/>
                </a:solidFill>
                <a:latin typeface="Arial"/>
              </a:rPr>
              <a:t>data_T</a:t>
            </a:r>
            <a:r>
              <a:rPr lang="en-US" sz="1000" kern="0" dirty="0">
                <a:solidFill>
                  <a:srgbClr val="000000"/>
                </a:solidFill>
                <a:latin typeface="Arial"/>
              </a:rPr>
              <a:t> x)</a:t>
            </a:r>
          </a:p>
          <a:p>
            <a:pPr defTabSz="914400" fontAlgn="base">
              <a:spcBef>
                <a:spcPct val="0"/>
              </a:spcBef>
              <a:spcAft>
                <a:spcPct val="0"/>
              </a:spcAft>
              <a:defRPr/>
            </a:pPr>
            <a:r>
              <a:rPr lang="en-US" sz="1000" kern="0" dirty="0">
                <a:solidFill>
                  <a:srgbClr val="000000"/>
                </a:solidFill>
                <a:latin typeface="Arial"/>
              </a:rPr>
              <a:t>  {</a:t>
            </a:r>
          </a:p>
          <a:p>
            <a:pPr defTabSz="914400" fontAlgn="base">
              <a:spcBef>
                <a:spcPct val="0"/>
              </a:spcBef>
              <a:spcAft>
                <a:spcPct val="0"/>
              </a:spcAft>
              <a:defRPr/>
            </a:pPr>
            <a:r>
              <a:rPr lang="en-US" sz="1000" kern="0" dirty="0">
                <a:solidFill>
                  <a:srgbClr val="000000"/>
                </a:solidFill>
                <a:latin typeface="Arial"/>
              </a:rPr>
              <a:t>    int </a:t>
            </a:r>
            <a:r>
              <a:rPr lang="en-US" sz="1000" kern="0" dirty="0" err="1">
                <a:solidFill>
                  <a:srgbClr val="000000"/>
                </a:solidFill>
                <a:latin typeface="Arial"/>
              </a:rPr>
              <a:t>i</a:t>
            </a:r>
            <a:r>
              <a:rPr lang="en-US" sz="1000" kern="0" dirty="0">
                <a:solidFill>
                  <a:srgbClr val="000000"/>
                </a:solidFill>
                <a:latin typeface="Arial"/>
              </a:rPr>
              <a:t>;</a:t>
            </a:r>
          </a:p>
          <a:p>
            <a:pPr defTabSz="914400" fontAlgn="base">
              <a:spcBef>
                <a:spcPct val="0"/>
              </a:spcBef>
              <a:spcAft>
                <a:spcPct val="0"/>
              </a:spcAft>
              <a:defRPr/>
            </a:pPr>
            <a:r>
              <a:rPr lang="en-US" sz="1000" kern="0" dirty="0">
                <a:solidFill>
                  <a:srgbClr val="000000"/>
                </a:solidFill>
                <a:latin typeface="Arial"/>
              </a:rPr>
              <a:t>    </a:t>
            </a:r>
            <a:r>
              <a:rPr lang="en-US" sz="1000" kern="0" dirty="0" err="1">
                <a:solidFill>
                  <a:srgbClr val="000000"/>
                </a:solidFill>
                <a:latin typeface="Arial"/>
              </a:rPr>
              <a:t>acc_t</a:t>
            </a:r>
            <a:r>
              <a:rPr lang="en-US" sz="1000" kern="0" dirty="0">
                <a:solidFill>
                  <a:srgbClr val="000000"/>
                </a:solidFill>
                <a:latin typeface="Arial"/>
              </a:rPr>
              <a:t> acc = 0;</a:t>
            </a:r>
          </a:p>
          <a:p>
            <a:pPr defTabSz="914400" fontAlgn="base">
              <a:spcBef>
                <a:spcPct val="0"/>
              </a:spcBef>
              <a:spcAft>
                <a:spcPct val="0"/>
              </a:spcAft>
              <a:defRPr/>
            </a:pPr>
            <a:r>
              <a:rPr lang="en-US" sz="1000" kern="0" dirty="0">
                <a:solidFill>
                  <a:srgbClr val="000000"/>
                </a:solidFill>
                <a:latin typeface="Arial"/>
              </a:rPr>
              <a:t>    </a:t>
            </a:r>
            <a:r>
              <a:rPr lang="en-US" sz="1000" kern="0" dirty="0" err="1">
                <a:solidFill>
                  <a:srgbClr val="000000"/>
                </a:solidFill>
                <a:latin typeface="Arial"/>
              </a:rPr>
              <a:t>data_t</a:t>
            </a:r>
            <a:r>
              <a:rPr lang="en-US" sz="1000" kern="0" dirty="0">
                <a:solidFill>
                  <a:srgbClr val="000000"/>
                </a:solidFill>
                <a:latin typeface="Arial"/>
              </a:rPr>
              <a:t> m;</a:t>
            </a:r>
          </a:p>
          <a:p>
            <a:pPr defTabSz="914400" fontAlgn="base">
              <a:spcBef>
                <a:spcPct val="0"/>
              </a:spcBef>
              <a:spcAft>
                <a:spcPct val="0"/>
              </a:spcAft>
              <a:defRPr/>
            </a:pPr>
            <a:endParaRPr lang="en-US" sz="1000" kern="0" dirty="0">
              <a:solidFill>
                <a:srgbClr val="000000"/>
              </a:solidFill>
              <a:latin typeface="Arial"/>
            </a:endParaRPr>
          </a:p>
          <a:p>
            <a:pPr defTabSz="914400" fontAlgn="base">
              <a:spcBef>
                <a:spcPct val="0"/>
              </a:spcBef>
              <a:spcAft>
                <a:spcPct val="0"/>
              </a:spcAft>
              <a:defRPr/>
            </a:pPr>
            <a:r>
              <a:rPr lang="en-US" sz="1000" b="1" kern="0" dirty="0">
                <a:solidFill>
                  <a:srgbClr val="000000"/>
                </a:solidFill>
                <a:latin typeface="Arial"/>
              </a:rPr>
              <a:t>     </a:t>
            </a:r>
            <a:r>
              <a:rPr lang="en-US" sz="1000" b="1" kern="0" dirty="0" err="1">
                <a:solidFill>
                  <a:srgbClr val="000000"/>
                </a:solidFill>
                <a:latin typeface="Arial"/>
              </a:rPr>
              <a:t>mac_loop</a:t>
            </a:r>
            <a:r>
              <a:rPr lang="en-US" sz="1000" kern="0" dirty="0">
                <a:solidFill>
                  <a:srgbClr val="000000"/>
                </a:solidFill>
                <a:latin typeface="Arial"/>
              </a:rPr>
              <a:t>: for (</a:t>
            </a:r>
            <a:r>
              <a:rPr lang="en-US" sz="1000" kern="0" dirty="0" err="1">
                <a:solidFill>
                  <a:srgbClr val="000000"/>
                </a:solidFill>
                <a:latin typeface="Arial"/>
              </a:rPr>
              <a:t>i</a:t>
            </a:r>
            <a:r>
              <a:rPr lang="en-US" sz="1000" kern="0" dirty="0">
                <a:solidFill>
                  <a:srgbClr val="000000"/>
                </a:solidFill>
                <a:latin typeface="Arial"/>
              </a:rPr>
              <a:t>=N-1;i&gt;=0;i--) {</a:t>
            </a:r>
          </a:p>
          <a:p>
            <a:pPr defTabSz="914400" fontAlgn="base">
              <a:spcBef>
                <a:spcPct val="0"/>
              </a:spcBef>
              <a:spcAft>
                <a:spcPct val="0"/>
              </a:spcAft>
              <a:defRPr/>
            </a:pPr>
            <a:r>
              <a:rPr lang="en-US" sz="1000" kern="0" dirty="0">
                <a:solidFill>
                  <a:srgbClr val="000000"/>
                </a:solidFill>
                <a:latin typeface="Arial"/>
              </a:rPr>
              <a:t>         if (</a:t>
            </a:r>
            <a:r>
              <a:rPr lang="en-US" sz="1000" kern="0" dirty="0" err="1">
                <a:solidFill>
                  <a:srgbClr val="000000"/>
                </a:solidFill>
                <a:latin typeface="Arial"/>
              </a:rPr>
              <a:t>i</a:t>
            </a:r>
            <a:r>
              <a:rPr lang="en-US" sz="1000" kern="0" dirty="0">
                <a:solidFill>
                  <a:srgbClr val="000000"/>
                </a:solidFill>
                <a:latin typeface="Arial"/>
              </a:rPr>
              <a:t>==0) {</a:t>
            </a:r>
          </a:p>
          <a:p>
            <a:pPr defTabSz="914400" fontAlgn="base">
              <a:spcBef>
                <a:spcPct val="0"/>
              </a:spcBef>
              <a:spcAft>
                <a:spcPct val="0"/>
              </a:spcAft>
              <a:defRPr/>
            </a:pPr>
            <a:r>
              <a:rPr lang="en-US" sz="1000" kern="0" dirty="0">
                <a:solidFill>
                  <a:srgbClr val="000000"/>
                </a:solidFill>
                <a:latin typeface="Arial"/>
              </a:rPr>
              <a:t>           acc+=x*c[0];</a:t>
            </a:r>
          </a:p>
          <a:p>
            <a:pPr defTabSz="914400" fontAlgn="base">
              <a:spcBef>
                <a:spcPct val="0"/>
              </a:spcBef>
              <a:spcAft>
                <a:spcPct val="0"/>
              </a:spcAft>
              <a:defRPr/>
            </a:pPr>
            <a:r>
              <a:rPr lang="en-US" sz="1000" kern="0" dirty="0">
                <a:solidFill>
                  <a:srgbClr val="000000"/>
                </a:solidFill>
                <a:latin typeface="Arial"/>
              </a:rPr>
              <a:t>           </a:t>
            </a:r>
            <a:r>
              <a:rPr lang="en-US" sz="1000" kern="0" dirty="0" err="1">
                <a:solidFill>
                  <a:srgbClr val="000000"/>
                </a:solidFill>
                <a:latin typeface="Arial"/>
              </a:rPr>
              <a:t>shift_reg</a:t>
            </a:r>
            <a:r>
              <a:rPr lang="en-US" sz="1000" kern="0" dirty="0">
                <a:solidFill>
                  <a:srgbClr val="000000"/>
                </a:solidFill>
                <a:latin typeface="Arial"/>
              </a:rPr>
              <a:t>[0]=x;</a:t>
            </a:r>
          </a:p>
          <a:p>
            <a:pPr defTabSz="914400" fontAlgn="base">
              <a:spcBef>
                <a:spcPct val="0"/>
              </a:spcBef>
              <a:spcAft>
                <a:spcPct val="0"/>
              </a:spcAft>
              <a:defRPr/>
            </a:pPr>
            <a:r>
              <a:rPr lang="en-US" sz="1000" kern="0" dirty="0">
                <a:solidFill>
                  <a:srgbClr val="000000"/>
                </a:solidFill>
                <a:latin typeface="Arial"/>
              </a:rPr>
              <a:t>         } else {</a:t>
            </a:r>
          </a:p>
          <a:p>
            <a:pPr defTabSz="914400" fontAlgn="base">
              <a:spcBef>
                <a:spcPct val="0"/>
              </a:spcBef>
              <a:spcAft>
                <a:spcPct val="0"/>
              </a:spcAft>
              <a:defRPr/>
            </a:pPr>
            <a:r>
              <a:rPr lang="en-US" sz="1000" kern="0" dirty="0">
                <a:solidFill>
                  <a:srgbClr val="000000"/>
                </a:solidFill>
                <a:latin typeface="Arial"/>
              </a:rPr>
              <a:t>           </a:t>
            </a:r>
            <a:r>
              <a:rPr lang="en-US" sz="1000" kern="0" dirty="0" err="1">
                <a:solidFill>
                  <a:srgbClr val="000000"/>
                </a:solidFill>
                <a:latin typeface="Arial"/>
              </a:rPr>
              <a:t>shift_reg</a:t>
            </a:r>
            <a:r>
              <a:rPr lang="en-US" sz="1000" kern="0" dirty="0">
                <a:solidFill>
                  <a:srgbClr val="000000"/>
                </a:solidFill>
                <a:latin typeface="Arial"/>
              </a:rPr>
              <a:t>[</a:t>
            </a:r>
            <a:r>
              <a:rPr lang="en-US" sz="1000" kern="0" dirty="0" err="1">
                <a:solidFill>
                  <a:srgbClr val="000000"/>
                </a:solidFill>
                <a:latin typeface="Arial"/>
              </a:rPr>
              <a:t>i</a:t>
            </a:r>
            <a:r>
              <a:rPr lang="en-US" sz="1000" kern="0" dirty="0">
                <a:solidFill>
                  <a:srgbClr val="000000"/>
                </a:solidFill>
                <a:latin typeface="Arial"/>
              </a:rPr>
              <a:t>]=</a:t>
            </a:r>
            <a:r>
              <a:rPr lang="en-US" sz="1000" kern="0" dirty="0" err="1">
                <a:solidFill>
                  <a:srgbClr val="000000"/>
                </a:solidFill>
                <a:latin typeface="Arial"/>
              </a:rPr>
              <a:t>shift_reg</a:t>
            </a:r>
            <a:r>
              <a:rPr lang="en-US" sz="1000" kern="0" dirty="0">
                <a:solidFill>
                  <a:srgbClr val="000000"/>
                </a:solidFill>
                <a:latin typeface="Arial"/>
              </a:rPr>
              <a:t>[i-1];  </a:t>
            </a:r>
          </a:p>
          <a:p>
            <a:pPr defTabSz="914400" fontAlgn="base">
              <a:spcBef>
                <a:spcPct val="0"/>
              </a:spcBef>
              <a:spcAft>
                <a:spcPct val="0"/>
              </a:spcAft>
              <a:defRPr/>
            </a:pPr>
            <a:r>
              <a:rPr lang="en-US" sz="1000" kern="0" dirty="0">
                <a:solidFill>
                  <a:srgbClr val="000000"/>
                </a:solidFill>
                <a:latin typeface="Arial"/>
              </a:rPr>
              <a:t>           acc+=</a:t>
            </a:r>
            <a:r>
              <a:rPr lang="en-US" sz="1000" kern="0" dirty="0" err="1">
                <a:solidFill>
                  <a:srgbClr val="000000"/>
                </a:solidFill>
                <a:latin typeface="Arial"/>
              </a:rPr>
              <a:t>shift_reg</a:t>
            </a:r>
            <a:r>
              <a:rPr lang="en-US" sz="1000" kern="0" dirty="0">
                <a:solidFill>
                  <a:srgbClr val="000000"/>
                </a:solidFill>
                <a:latin typeface="Arial"/>
              </a:rPr>
              <a:t>[</a:t>
            </a:r>
            <a:r>
              <a:rPr lang="en-US" sz="1000" kern="0" dirty="0" err="1">
                <a:solidFill>
                  <a:srgbClr val="000000"/>
                </a:solidFill>
                <a:latin typeface="Arial"/>
              </a:rPr>
              <a:t>i</a:t>
            </a:r>
            <a:r>
              <a:rPr lang="en-US" sz="1000" kern="0" dirty="0">
                <a:solidFill>
                  <a:srgbClr val="000000"/>
                </a:solidFill>
                <a:latin typeface="Arial"/>
              </a:rPr>
              <a:t>]*c[</a:t>
            </a:r>
            <a:r>
              <a:rPr lang="en-US" sz="1000" kern="0" dirty="0" err="1">
                <a:solidFill>
                  <a:srgbClr val="000000"/>
                </a:solidFill>
                <a:latin typeface="Arial"/>
              </a:rPr>
              <a:t>i</a:t>
            </a:r>
            <a:r>
              <a:rPr lang="en-US" sz="1000" kern="0" dirty="0">
                <a:solidFill>
                  <a:srgbClr val="000000"/>
                </a:solidFill>
                <a:latin typeface="Arial"/>
              </a:rPr>
              <a:t>];</a:t>
            </a:r>
          </a:p>
          <a:p>
            <a:pPr defTabSz="914400" fontAlgn="base">
              <a:spcBef>
                <a:spcPct val="0"/>
              </a:spcBef>
              <a:spcAft>
                <a:spcPct val="0"/>
              </a:spcAft>
              <a:defRPr/>
            </a:pPr>
            <a:r>
              <a:rPr lang="en-US" sz="1000" kern="0" dirty="0">
                <a:solidFill>
                  <a:srgbClr val="000000"/>
                </a:solidFill>
                <a:latin typeface="Arial"/>
              </a:rPr>
              <a:t>         }</a:t>
            </a:r>
          </a:p>
          <a:p>
            <a:pPr defTabSz="914400" fontAlgn="base">
              <a:spcBef>
                <a:spcPct val="0"/>
              </a:spcBef>
              <a:spcAft>
                <a:spcPct val="0"/>
              </a:spcAft>
              <a:defRPr/>
            </a:pPr>
            <a:r>
              <a:rPr lang="en-US" sz="1000" kern="0" dirty="0">
                <a:solidFill>
                  <a:srgbClr val="000000"/>
                </a:solidFill>
                <a:latin typeface="Arial"/>
              </a:rPr>
              <a:t>      }    </a:t>
            </a:r>
          </a:p>
          <a:p>
            <a:pPr defTabSz="914400" fontAlgn="base">
              <a:spcBef>
                <a:spcPct val="0"/>
              </a:spcBef>
              <a:spcAft>
                <a:spcPct val="0"/>
              </a:spcAft>
              <a:defRPr/>
            </a:pPr>
            <a:r>
              <a:rPr lang="en-US" sz="1000" kern="0" dirty="0">
                <a:solidFill>
                  <a:srgbClr val="000000"/>
                </a:solidFill>
                <a:latin typeface="Arial"/>
              </a:rPr>
              <a:t>   return acc;</a:t>
            </a:r>
          </a:p>
          <a:p>
            <a:pPr defTabSz="914400" fontAlgn="base">
              <a:spcBef>
                <a:spcPct val="0"/>
              </a:spcBef>
              <a:spcAft>
                <a:spcPct val="0"/>
              </a:spcAft>
              <a:defRPr/>
            </a:pPr>
            <a:r>
              <a:rPr lang="en-US" sz="1000" kern="0" dirty="0">
                <a:solidFill>
                  <a:srgbClr val="000000"/>
                </a:solidFill>
                <a:latin typeface="Arial"/>
              </a:rPr>
              <a:t>  }</a:t>
            </a:r>
          </a:p>
          <a:p>
            <a:pPr defTabSz="914400" fontAlgn="base">
              <a:spcBef>
                <a:spcPct val="0"/>
              </a:spcBef>
              <a:spcAft>
                <a:spcPct val="0"/>
              </a:spcAft>
              <a:defRPr/>
            </a:pPr>
            <a:endParaRPr lang="en-US" sz="1000" kern="0" dirty="0">
              <a:solidFill>
                <a:srgbClr val="000000"/>
              </a:solidFill>
              <a:latin typeface="Arial"/>
            </a:endParaRPr>
          </a:p>
          <a:p>
            <a:pPr defTabSz="914400" fontAlgn="base">
              <a:spcBef>
                <a:spcPct val="0"/>
              </a:spcBef>
              <a:spcAft>
                <a:spcPct val="0"/>
              </a:spcAft>
              <a:defRPr/>
            </a:pPr>
            <a:r>
              <a:rPr lang="en-US" sz="1000" b="1" kern="0" dirty="0" err="1">
                <a:solidFill>
                  <a:srgbClr val="000000"/>
                </a:solidFill>
                <a:latin typeface="Arial"/>
              </a:rPr>
              <a:t>data_t</a:t>
            </a:r>
            <a:r>
              <a:rPr lang="en-US" sz="1000" b="1" kern="0" dirty="0">
                <a:solidFill>
                  <a:srgbClr val="000000"/>
                </a:solidFill>
                <a:latin typeface="Arial"/>
              </a:rPr>
              <a:t> fir(</a:t>
            </a:r>
            <a:r>
              <a:rPr lang="en-US" sz="1000" b="1" kern="0" dirty="0" err="1">
                <a:solidFill>
                  <a:srgbClr val="000000"/>
                </a:solidFill>
                <a:latin typeface="Arial"/>
              </a:rPr>
              <a:t>data_t</a:t>
            </a:r>
            <a:r>
              <a:rPr lang="en-US" sz="1000" b="1" kern="0" dirty="0">
                <a:solidFill>
                  <a:srgbClr val="000000"/>
                </a:solidFill>
                <a:latin typeface="Arial"/>
              </a:rPr>
              <a:t> x)</a:t>
            </a:r>
          </a:p>
          <a:p>
            <a:pPr defTabSz="914400" fontAlgn="base">
              <a:spcBef>
                <a:spcPct val="0"/>
              </a:spcBef>
              <a:spcAft>
                <a:spcPct val="0"/>
              </a:spcAft>
              <a:defRPr/>
            </a:pPr>
            <a:r>
              <a:rPr lang="en-US" sz="1000" b="1" kern="0" dirty="0">
                <a:solidFill>
                  <a:srgbClr val="000000"/>
                </a:solidFill>
                <a:latin typeface="Arial"/>
              </a:rPr>
              <a:t>  {</a:t>
            </a:r>
          </a:p>
          <a:p>
            <a:pPr defTabSz="914400" fontAlgn="base">
              <a:spcBef>
                <a:spcPct val="0"/>
              </a:spcBef>
              <a:spcAft>
                <a:spcPct val="0"/>
              </a:spcAft>
              <a:defRPr/>
            </a:pPr>
            <a:r>
              <a:rPr lang="en-US" sz="1000" b="1" kern="0" dirty="0">
                <a:solidFill>
                  <a:srgbClr val="000000"/>
                </a:solidFill>
                <a:latin typeface="Arial"/>
              </a:rPr>
              <a:t>    static </a:t>
            </a:r>
            <a:r>
              <a:rPr lang="en-US" sz="1000" b="1" kern="0" dirty="0" err="1">
                <a:solidFill>
                  <a:srgbClr val="000000"/>
                </a:solidFill>
                <a:latin typeface="Arial"/>
              </a:rPr>
              <a:t>CFir</a:t>
            </a:r>
            <a:r>
              <a:rPr lang="en-US" sz="1000" b="1" kern="0" dirty="0">
                <a:solidFill>
                  <a:srgbClr val="000000"/>
                </a:solidFill>
                <a:latin typeface="Arial"/>
              </a:rPr>
              <a:t>&lt;</a:t>
            </a:r>
            <a:r>
              <a:rPr lang="en-US" sz="1000" b="1" kern="0" dirty="0" err="1">
                <a:solidFill>
                  <a:srgbClr val="000000"/>
                </a:solidFill>
                <a:latin typeface="Arial"/>
              </a:rPr>
              <a:t>coef_t</a:t>
            </a:r>
            <a:r>
              <a:rPr lang="en-US" sz="1000" b="1" kern="0" dirty="0">
                <a:solidFill>
                  <a:srgbClr val="000000"/>
                </a:solidFill>
                <a:latin typeface="Arial"/>
              </a:rPr>
              <a:t>, </a:t>
            </a:r>
            <a:r>
              <a:rPr lang="en-US" sz="1000" b="1" kern="0" dirty="0" err="1">
                <a:solidFill>
                  <a:srgbClr val="000000"/>
                </a:solidFill>
                <a:latin typeface="Arial"/>
              </a:rPr>
              <a:t>data_t</a:t>
            </a:r>
            <a:r>
              <a:rPr lang="en-US" sz="1000" b="1" kern="0" dirty="0">
                <a:solidFill>
                  <a:srgbClr val="000000"/>
                </a:solidFill>
                <a:latin typeface="Arial"/>
              </a:rPr>
              <a:t>, </a:t>
            </a:r>
            <a:r>
              <a:rPr lang="en-US" sz="1000" b="1" kern="0" dirty="0" err="1">
                <a:solidFill>
                  <a:srgbClr val="000000"/>
                </a:solidFill>
                <a:latin typeface="Arial"/>
              </a:rPr>
              <a:t>acc_t</a:t>
            </a:r>
            <a:r>
              <a:rPr lang="en-US" sz="1000" b="1" kern="0" dirty="0">
                <a:solidFill>
                  <a:srgbClr val="000000"/>
                </a:solidFill>
                <a:latin typeface="Arial"/>
              </a:rPr>
              <a:t>&gt; fir1;</a:t>
            </a:r>
          </a:p>
          <a:p>
            <a:pPr defTabSz="914400" fontAlgn="base">
              <a:spcBef>
                <a:spcPct val="0"/>
              </a:spcBef>
              <a:spcAft>
                <a:spcPct val="0"/>
              </a:spcAft>
              <a:defRPr/>
            </a:pPr>
            <a:endParaRPr lang="en-US" sz="1000" b="1" kern="0" dirty="0">
              <a:solidFill>
                <a:srgbClr val="000000"/>
              </a:solidFill>
              <a:latin typeface="Arial"/>
            </a:endParaRPr>
          </a:p>
          <a:p>
            <a:pPr defTabSz="914400" fontAlgn="base">
              <a:spcBef>
                <a:spcPct val="0"/>
              </a:spcBef>
              <a:spcAft>
                <a:spcPct val="0"/>
              </a:spcAft>
              <a:defRPr/>
            </a:pPr>
            <a:r>
              <a:rPr lang="en-US" sz="1000" b="1" kern="0" dirty="0">
                <a:solidFill>
                  <a:srgbClr val="000000"/>
                </a:solidFill>
                <a:latin typeface="Arial"/>
              </a:rPr>
              <a:t>    return fir1(x);</a:t>
            </a:r>
          </a:p>
          <a:p>
            <a:pPr defTabSz="914400" fontAlgn="base">
              <a:spcBef>
                <a:spcPct val="0"/>
              </a:spcBef>
              <a:spcAft>
                <a:spcPct val="0"/>
              </a:spcAft>
              <a:defRPr/>
            </a:pPr>
            <a:r>
              <a:rPr lang="en-US" sz="1000" b="1" kern="0" dirty="0">
                <a:solidFill>
                  <a:srgbClr val="000000"/>
                </a:solidFill>
                <a:latin typeface="Arial"/>
              </a:rPr>
              <a:t>  }</a:t>
            </a:r>
          </a:p>
        </p:txBody>
      </p:sp>
      <p:sp>
        <p:nvSpPr>
          <p:cNvPr id="24" name="TextBox 23">
            <a:extLst>
              <a:ext uri="{FF2B5EF4-FFF2-40B4-BE49-F238E27FC236}">
                <a16:creationId xmlns:a16="http://schemas.microsoft.com/office/drawing/2014/main" id="{E7EACEDE-4987-4378-BA0B-D6B75984F33A}"/>
              </a:ext>
            </a:extLst>
          </p:cNvPr>
          <p:cNvSpPr txBox="1"/>
          <p:nvPr/>
        </p:nvSpPr>
        <p:spPr>
          <a:xfrm>
            <a:off x="10908174" y="1904585"/>
            <a:ext cx="716707" cy="1785104"/>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defRPr/>
            </a:pPr>
            <a:r>
              <a:rPr lang="en-US" sz="1000" kern="0" dirty="0">
                <a:solidFill>
                  <a:srgbClr val="000000"/>
                </a:solidFill>
                <a:latin typeface="Arial"/>
              </a:rPr>
              <a:t>-1,</a:t>
            </a:r>
          </a:p>
          <a:p>
            <a:pPr defTabSz="914400" fontAlgn="base">
              <a:spcBef>
                <a:spcPct val="0"/>
              </a:spcBef>
              <a:spcAft>
                <a:spcPct val="0"/>
              </a:spcAft>
              <a:defRPr/>
            </a:pPr>
            <a:r>
              <a:rPr lang="en-US" sz="1000" kern="0" dirty="0">
                <a:solidFill>
                  <a:srgbClr val="000000"/>
                </a:solidFill>
                <a:latin typeface="Arial"/>
              </a:rPr>
              <a:t>-20,</a:t>
            </a:r>
          </a:p>
          <a:p>
            <a:pPr defTabSz="914400" fontAlgn="base">
              <a:spcBef>
                <a:spcPct val="0"/>
              </a:spcBef>
              <a:spcAft>
                <a:spcPct val="0"/>
              </a:spcAft>
              <a:defRPr/>
            </a:pPr>
            <a:r>
              <a:rPr lang="en-US" sz="1000" kern="0" dirty="0">
                <a:solidFill>
                  <a:srgbClr val="000000"/>
                </a:solidFill>
                <a:latin typeface="Arial"/>
              </a:rPr>
              <a:t>-19,</a:t>
            </a:r>
          </a:p>
          <a:p>
            <a:pPr defTabSz="914400" fontAlgn="base">
              <a:spcBef>
                <a:spcPct val="0"/>
              </a:spcBef>
              <a:spcAft>
                <a:spcPct val="0"/>
              </a:spcAft>
              <a:defRPr/>
            </a:pPr>
            <a:r>
              <a:rPr lang="en-US" sz="1000" kern="0" dirty="0">
                <a:solidFill>
                  <a:srgbClr val="000000"/>
                </a:solidFill>
                <a:latin typeface="Arial"/>
              </a:rPr>
              <a:t>84,</a:t>
            </a:r>
          </a:p>
          <a:p>
            <a:pPr defTabSz="914400" fontAlgn="base">
              <a:spcBef>
                <a:spcPct val="0"/>
              </a:spcBef>
              <a:spcAft>
                <a:spcPct val="0"/>
              </a:spcAft>
              <a:defRPr/>
            </a:pPr>
            <a:r>
              <a:rPr lang="en-US" sz="1000" kern="0" dirty="0">
                <a:solidFill>
                  <a:srgbClr val="000000"/>
                </a:solidFill>
                <a:latin typeface="Arial"/>
              </a:rPr>
              <a:t>271,</a:t>
            </a:r>
          </a:p>
          <a:p>
            <a:pPr defTabSz="914400" fontAlgn="base">
              <a:spcBef>
                <a:spcPct val="0"/>
              </a:spcBef>
              <a:spcAft>
                <a:spcPct val="0"/>
              </a:spcAft>
              <a:defRPr/>
            </a:pPr>
            <a:r>
              <a:rPr lang="en-US" sz="1000" kern="0" dirty="0">
                <a:solidFill>
                  <a:srgbClr val="000000"/>
                </a:solidFill>
                <a:latin typeface="Arial"/>
              </a:rPr>
              <a:t>370,</a:t>
            </a:r>
          </a:p>
          <a:p>
            <a:pPr defTabSz="914400" fontAlgn="base">
              <a:spcBef>
                <a:spcPct val="0"/>
              </a:spcBef>
              <a:spcAft>
                <a:spcPct val="0"/>
              </a:spcAft>
              <a:defRPr/>
            </a:pPr>
            <a:r>
              <a:rPr lang="en-US" sz="1000" kern="0" dirty="0">
                <a:solidFill>
                  <a:srgbClr val="000000"/>
                </a:solidFill>
                <a:latin typeface="Arial"/>
              </a:rPr>
              <a:t>271,</a:t>
            </a:r>
          </a:p>
          <a:p>
            <a:pPr defTabSz="914400" fontAlgn="base">
              <a:spcBef>
                <a:spcPct val="0"/>
              </a:spcBef>
              <a:spcAft>
                <a:spcPct val="0"/>
              </a:spcAft>
              <a:defRPr/>
            </a:pPr>
            <a:r>
              <a:rPr lang="en-US" sz="1000" kern="0" dirty="0">
                <a:solidFill>
                  <a:srgbClr val="000000"/>
                </a:solidFill>
                <a:latin typeface="Arial"/>
              </a:rPr>
              <a:t>88,</a:t>
            </a:r>
          </a:p>
          <a:p>
            <a:pPr defTabSz="914400" fontAlgn="base">
              <a:spcBef>
                <a:spcPct val="0"/>
              </a:spcBef>
              <a:spcAft>
                <a:spcPct val="0"/>
              </a:spcAft>
              <a:defRPr/>
            </a:pPr>
            <a:r>
              <a:rPr lang="en-US" sz="1000" kern="0" dirty="0">
                <a:solidFill>
                  <a:srgbClr val="000000"/>
                </a:solidFill>
                <a:latin typeface="Arial"/>
              </a:rPr>
              <a:t>-19,</a:t>
            </a:r>
          </a:p>
          <a:p>
            <a:pPr defTabSz="914400" fontAlgn="base">
              <a:spcBef>
                <a:spcPct val="0"/>
              </a:spcBef>
              <a:spcAft>
                <a:spcPct val="0"/>
              </a:spcAft>
              <a:defRPr/>
            </a:pPr>
            <a:r>
              <a:rPr lang="en-US" sz="1000" kern="0" dirty="0">
                <a:solidFill>
                  <a:srgbClr val="000000"/>
                </a:solidFill>
                <a:latin typeface="Arial"/>
              </a:rPr>
              <a:t>-20,</a:t>
            </a:r>
          </a:p>
          <a:p>
            <a:pPr defTabSz="914400" fontAlgn="base">
              <a:spcBef>
                <a:spcPct val="0"/>
              </a:spcBef>
              <a:spcAft>
                <a:spcPct val="0"/>
              </a:spcAft>
              <a:defRPr/>
            </a:pPr>
            <a:r>
              <a:rPr lang="en-US" sz="1000" kern="0" dirty="0">
                <a:solidFill>
                  <a:srgbClr val="000000"/>
                </a:solidFill>
                <a:latin typeface="Arial"/>
              </a:rPr>
              <a:t>-1,</a:t>
            </a:r>
          </a:p>
        </p:txBody>
      </p:sp>
      <p:cxnSp>
        <p:nvCxnSpPr>
          <p:cNvPr id="25" name="Straight Arrow Connector 24">
            <a:extLst>
              <a:ext uri="{FF2B5EF4-FFF2-40B4-BE49-F238E27FC236}">
                <a16:creationId xmlns:a16="http://schemas.microsoft.com/office/drawing/2014/main" id="{CBFAB425-1BAE-456F-B181-1A94E53D54D0}"/>
              </a:ext>
            </a:extLst>
          </p:cNvPr>
          <p:cNvCxnSpPr/>
          <p:nvPr/>
        </p:nvCxnSpPr>
        <p:spPr>
          <a:xfrm flipH="1">
            <a:off x="8348510" y="2327040"/>
            <a:ext cx="2406085" cy="0"/>
          </a:xfrm>
          <a:prstGeom prst="straightConnector1">
            <a:avLst/>
          </a:prstGeom>
          <a:noFill/>
          <a:ln w="38100" cap="flat" cmpd="sng" algn="ctr">
            <a:solidFill>
              <a:srgbClr val="000000"/>
            </a:solidFill>
            <a:prstDash val="solid"/>
            <a:headEnd type="none" w="med" len="med"/>
            <a:tailEnd type="triangle" w="med" len="med"/>
          </a:ln>
          <a:effectLst>
            <a:outerShdw blurRad="40000" dist="20000" dir="5400000" rotWithShape="0">
              <a:srgbClr val="000000">
                <a:alpha val="38000"/>
              </a:srgbClr>
            </a:outerShdw>
          </a:effectLst>
        </p:spPr>
      </p:cxnSp>
      <p:sp>
        <p:nvSpPr>
          <p:cNvPr id="26" name="TextBox 25">
            <a:extLst>
              <a:ext uri="{FF2B5EF4-FFF2-40B4-BE49-F238E27FC236}">
                <a16:creationId xmlns:a16="http://schemas.microsoft.com/office/drawing/2014/main" id="{D2B87A9D-6816-4466-9F69-4D510B6B93CD}"/>
              </a:ext>
            </a:extLst>
          </p:cNvPr>
          <p:cNvSpPr txBox="1"/>
          <p:nvPr/>
        </p:nvSpPr>
        <p:spPr>
          <a:xfrm>
            <a:off x="9628341" y="1405320"/>
            <a:ext cx="1023867" cy="253916"/>
          </a:xfrm>
          <a:prstGeom prst="rect">
            <a:avLst/>
          </a:prstGeom>
          <a:solidFill>
            <a:srgbClr val="7030A0"/>
          </a:solidFill>
          <a:ln w="9525" cap="flat" cmpd="sng" algn="ctr">
            <a:solidFill>
              <a:srgbClr val="3F3F3F">
                <a:shade val="95000"/>
                <a:satMod val="105000"/>
              </a:srgbClr>
            </a:solidFill>
            <a:prstDash val="solid"/>
          </a:ln>
          <a:effectLst>
            <a:outerShdw blurRad="40000" dist="23000" dir="5400000" rotWithShape="0">
              <a:srgbClr val="000000">
                <a:alpha val="35000"/>
              </a:srgbClr>
            </a:outerShdw>
          </a:effectLst>
        </p:spPr>
        <p:txBody>
          <a:bodyPr wrap="square" rtlCol="0">
            <a:spAutoFit/>
          </a:bodyPr>
          <a:lstStyle/>
          <a:p>
            <a:pPr algn="ctr" defTabSz="914400" fontAlgn="base">
              <a:spcBef>
                <a:spcPct val="0"/>
              </a:spcBef>
              <a:spcAft>
                <a:spcPct val="0"/>
              </a:spcAft>
              <a:defRPr/>
            </a:pPr>
            <a:r>
              <a:rPr lang="en-US" sz="1050" b="1" kern="0" dirty="0">
                <a:solidFill>
                  <a:srgbClr val="FFFFFF"/>
                </a:solidFill>
                <a:latin typeface="Arial"/>
              </a:rPr>
              <a:t>fir.cpp</a:t>
            </a:r>
          </a:p>
        </p:txBody>
      </p:sp>
      <p:sp>
        <p:nvSpPr>
          <p:cNvPr id="27" name="TextBox 26">
            <a:extLst>
              <a:ext uri="{FF2B5EF4-FFF2-40B4-BE49-F238E27FC236}">
                <a16:creationId xmlns:a16="http://schemas.microsoft.com/office/drawing/2014/main" id="{9C5B1E91-6D30-4533-BCAC-623278FD52FF}"/>
              </a:ext>
            </a:extLst>
          </p:cNvPr>
          <p:cNvSpPr txBox="1"/>
          <p:nvPr/>
        </p:nvSpPr>
        <p:spPr>
          <a:xfrm>
            <a:off x="10754594" y="1597345"/>
            <a:ext cx="1228640" cy="253916"/>
          </a:xfrm>
          <a:prstGeom prst="rect">
            <a:avLst/>
          </a:prstGeom>
          <a:solidFill>
            <a:srgbClr val="7030A0"/>
          </a:solidFill>
          <a:ln w="9525" cap="flat" cmpd="sng" algn="ctr">
            <a:solidFill>
              <a:srgbClr val="3F3F3F">
                <a:shade val="95000"/>
                <a:satMod val="105000"/>
              </a:srgbClr>
            </a:solidFill>
            <a:prstDash val="solid"/>
          </a:ln>
          <a:effectLst>
            <a:outerShdw blurRad="40000" dist="23000" dir="5400000" rotWithShape="0">
              <a:srgbClr val="000000">
                <a:alpha val="35000"/>
              </a:srgbClr>
            </a:outerShdw>
          </a:effectLst>
        </p:spPr>
        <p:txBody>
          <a:bodyPr wrap="square" rtlCol="0">
            <a:spAutoFit/>
          </a:bodyPr>
          <a:lstStyle/>
          <a:p>
            <a:pPr algn="ctr" defTabSz="914400" fontAlgn="base">
              <a:spcBef>
                <a:spcPct val="0"/>
              </a:spcBef>
              <a:spcAft>
                <a:spcPct val="0"/>
              </a:spcAft>
              <a:defRPr/>
            </a:pPr>
            <a:r>
              <a:rPr lang="en-US" sz="1050" b="1" kern="0" dirty="0" err="1">
                <a:solidFill>
                  <a:srgbClr val="FFFFFF"/>
                </a:solidFill>
                <a:latin typeface="Arial"/>
              </a:rPr>
              <a:t>fir_coeff.h</a:t>
            </a:r>
            <a:endParaRPr lang="en-US" sz="1050" b="1" kern="0" dirty="0">
              <a:solidFill>
                <a:srgbClr val="FFFFFF"/>
              </a:solidFill>
              <a:latin typeface="Arial"/>
            </a:endParaRPr>
          </a:p>
        </p:txBody>
      </p:sp>
      <p:sp>
        <p:nvSpPr>
          <p:cNvPr id="28" name="TextBox 27">
            <a:extLst>
              <a:ext uri="{FF2B5EF4-FFF2-40B4-BE49-F238E27FC236}">
                <a16:creationId xmlns:a16="http://schemas.microsoft.com/office/drawing/2014/main" id="{DB66A518-0424-4886-921D-8D6A414787BF}"/>
              </a:ext>
            </a:extLst>
          </p:cNvPr>
          <p:cNvSpPr txBox="1"/>
          <p:nvPr/>
        </p:nvSpPr>
        <p:spPr>
          <a:xfrm>
            <a:off x="8860440" y="5553060"/>
            <a:ext cx="3071600" cy="415498"/>
          </a:xfrm>
          <a:prstGeom prst="rect">
            <a:avLst/>
          </a:prstGeom>
          <a:solidFill>
            <a:srgbClr val="FFFF99"/>
          </a:solidFill>
          <a:ln w="28575">
            <a:solidFill>
              <a:srgbClr val="000000"/>
            </a:solidFill>
          </a:ln>
          <a:effectLst>
            <a:innerShdw blurRad="63500" dist="50800" dir="2700000">
              <a:prstClr val="black">
                <a:alpha val="50000"/>
              </a:prstClr>
            </a:innerShdw>
          </a:effectLst>
        </p:spPr>
        <p:txBody>
          <a:bodyPr wrap="square" rtlCol="0">
            <a:spAutoFit/>
          </a:bodyPr>
          <a:lstStyle/>
          <a:p>
            <a:pPr algn="ctr" defTabSz="914400" fontAlgn="base">
              <a:spcBef>
                <a:spcPct val="50000"/>
              </a:spcBef>
              <a:spcAft>
                <a:spcPct val="0"/>
              </a:spcAft>
              <a:defRPr/>
            </a:pPr>
            <a:r>
              <a:rPr lang="en-US" altLang="zh-CN" sz="1050" b="1" kern="0" dirty="0">
                <a:solidFill>
                  <a:srgbClr val="000000"/>
                </a:solidFill>
                <a:latin typeface="Arial"/>
                <a:ea typeface="宋体" charset="-122"/>
              </a:rPr>
              <a:t>Top-level function defines the IO Class CFIR is instantiated as fir1</a:t>
            </a:r>
          </a:p>
        </p:txBody>
      </p:sp>
      <p:sp>
        <p:nvSpPr>
          <p:cNvPr id="29" name="TextBox 28">
            <a:extLst>
              <a:ext uri="{FF2B5EF4-FFF2-40B4-BE49-F238E27FC236}">
                <a16:creationId xmlns:a16="http://schemas.microsoft.com/office/drawing/2014/main" id="{2808EB09-02FE-481C-8ADD-23F7B2E2654D}"/>
              </a:ext>
            </a:extLst>
          </p:cNvPr>
          <p:cNvSpPr txBox="1"/>
          <p:nvPr/>
        </p:nvSpPr>
        <p:spPr>
          <a:xfrm>
            <a:off x="7017481" y="2979925"/>
            <a:ext cx="2559667" cy="253916"/>
          </a:xfrm>
          <a:prstGeom prst="rect">
            <a:avLst/>
          </a:prstGeom>
          <a:solidFill>
            <a:srgbClr val="FFFF99"/>
          </a:solidFill>
          <a:ln w="28575">
            <a:solidFill>
              <a:srgbClr val="000000"/>
            </a:solidFill>
          </a:ln>
          <a:effectLst>
            <a:innerShdw blurRad="63500" dist="50800" dir="2700000">
              <a:prstClr val="black">
                <a:alpha val="50000"/>
              </a:prstClr>
            </a:innerShdw>
          </a:effectLst>
        </p:spPr>
        <p:txBody>
          <a:bodyPr wrap="square" rtlCol="0">
            <a:spAutoFit/>
          </a:bodyPr>
          <a:lstStyle/>
          <a:p>
            <a:pPr algn="ctr" defTabSz="914400" fontAlgn="base">
              <a:spcBef>
                <a:spcPct val="50000"/>
              </a:spcBef>
              <a:spcAft>
                <a:spcPct val="0"/>
              </a:spcAft>
              <a:defRPr/>
            </a:pPr>
            <a:r>
              <a:rPr lang="en-US" altLang="zh-CN" sz="1050" b="1" kern="0" dirty="0" err="1">
                <a:solidFill>
                  <a:srgbClr val="000000"/>
                </a:solidFill>
                <a:latin typeface="Arial"/>
                <a:ea typeface="宋体" charset="-122"/>
              </a:rPr>
              <a:t>CFir</a:t>
            </a:r>
            <a:r>
              <a:rPr lang="en-US" altLang="zh-CN" sz="1050" b="1" kern="0" dirty="0">
                <a:solidFill>
                  <a:srgbClr val="000000"/>
                </a:solidFill>
                <a:latin typeface="Arial"/>
                <a:ea typeface="宋体" charset="-122"/>
              </a:rPr>
              <a:t> functionality defined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trike="sngStrike" dirty="0"/>
              <a:t>FIR Filter with SystemC</a:t>
            </a:r>
          </a:p>
        </p:txBody>
      </p:sp>
      <p:sp>
        <p:nvSpPr>
          <p:cNvPr id="3" name="Content Placeholder 2"/>
          <p:cNvSpPr>
            <a:spLocks noGrp="1"/>
          </p:cNvSpPr>
          <p:nvPr>
            <p:ph sz="half" idx="1"/>
          </p:nvPr>
        </p:nvSpPr>
        <p:spPr/>
        <p:txBody>
          <a:bodyPr>
            <a:normAutofit/>
          </a:bodyPr>
          <a:lstStyle/>
          <a:p>
            <a:r>
              <a:rPr lang="en-US" dirty="0"/>
              <a:t>SystemC Style</a:t>
            </a:r>
          </a:p>
          <a:p>
            <a:pPr lvl="1"/>
            <a:r>
              <a:rPr lang="en-US" dirty="0"/>
              <a:t>The header defines the IO ports</a:t>
            </a:r>
          </a:p>
          <a:p>
            <a:pPr lvl="1"/>
            <a:r>
              <a:rPr lang="en-US" dirty="0"/>
              <a:t>The constructor calls the functions</a:t>
            </a:r>
          </a:p>
          <a:p>
            <a:pPr lvl="2"/>
            <a:r>
              <a:rPr lang="en-US" sz="1400" dirty="0"/>
              <a:t>Can be SC_CTHREAD sensitive on the clock (with optional reset)</a:t>
            </a:r>
          </a:p>
          <a:p>
            <a:pPr lvl="2"/>
            <a:r>
              <a:rPr lang="en-US" sz="1400" dirty="0"/>
              <a:t>Can be SC_METHOD sensitive on any signal</a:t>
            </a:r>
          </a:p>
          <a:p>
            <a:pPr lvl="1"/>
            <a:r>
              <a:rPr lang="en-US" dirty="0"/>
              <a:t>Multiple threads, methods and functions can be used</a:t>
            </a:r>
          </a:p>
        </p:txBody>
      </p:sp>
      <p:sp>
        <p:nvSpPr>
          <p:cNvPr id="23" name="Slide Number Placeholder 22"/>
          <p:cNvSpPr>
            <a:spLocks noGrp="1"/>
          </p:cNvSpPr>
          <p:nvPr>
            <p:ph type="sldNum" sz="quarter" idx="10"/>
          </p:nvPr>
        </p:nvSpPr>
        <p:spPr/>
        <p:txBody>
          <a:bodyPr/>
          <a:lstStyle/>
          <a:p>
            <a:pPr defTabSz="914400">
              <a:defRPr/>
            </a:pPr>
            <a:r>
              <a:rPr lang="en-US" dirty="0">
                <a:solidFill>
                  <a:srgbClr val="0C0C0C">
                    <a:tint val="75000"/>
                  </a:srgbClr>
                </a:solidFill>
                <a:latin typeface="Arial"/>
              </a:rPr>
              <a:t>Coding Considerations 23- </a:t>
            </a:r>
            <a:fld id="{060BD193-E118-4B16-863C-C8C12C675E3E}" type="slidenum">
              <a:rPr lang="en-US">
                <a:solidFill>
                  <a:srgbClr val="0C0C0C">
                    <a:tint val="75000"/>
                  </a:srgbClr>
                </a:solidFill>
                <a:latin typeface="Arial"/>
              </a:rPr>
              <a:pPr defTabSz="914400">
                <a:defRPr/>
              </a:pPr>
              <a:t>18</a:t>
            </a:fld>
            <a:endParaRPr lang="en-US" dirty="0">
              <a:solidFill>
                <a:srgbClr val="0C0C0C">
                  <a:tint val="75000"/>
                </a:srgbClr>
              </a:solidFill>
              <a:latin typeface="Arial"/>
            </a:endParaRPr>
          </a:p>
        </p:txBody>
      </p:sp>
      <p:sp>
        <p:nvSpPr>
          <p:cNvPr id="16" name="TextBox 15">
            <a:extLst>
              <a:ext uri="{FF2B5EF4-FFF2-40B4-BE49-F238E27FC236}">
                <a16:creationId xmlns:a16="http://schemas.microsoft.com/office/drawing/2014/main" id="{A60CA41F-D920-4DE8-B20B-E503A8F45A34}"/>
              </a:ext>
            </a:extLst>
          </p:cNvPr>
          <p:cNvSpPr txBox="1"/>
          <p:nvPr/>
        </p:nvSpPr>
        <p:spPr>
          <a:xfrm>
            <a:off x="925475" y="3659432"/>
            <a:ext cx="3333002" cy="2585323"/>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defRPr/>
            </a:pPr>
            <a:r>
              <a:rPr lang="en-US" sz="900" kern="0" dirty="0">
                <a:solidFill>
                  <a:srgbClr val="000000"/>
                </a:solidFill>
                <a:latin typeface="Arial"/>
              </a:rPr>
              <a:t>SC_MODULE (fir) {</a:t>
            </a:r>
          </a:p>
          <a:p>
            <a:pPr defTabSz="914400" fontAlgn="base">
              <a:spcBef>
                <a:spcPct val="0"/>
              </a:spcBef>
              <a:spcAft>
                <a:spcPct val="0"/>
              </a:spcAft>
              <a:defRPr/>
            </a:pPr>
            <a:r>
              <a:rPr lang="en-US" sz="900" kern="0" dirty="0">
                <a:solidFill>
                  <a:srgbClr val="000000"/>
                </a:solidFill>
                <a:latin typeface="Arial"/>
              </a:rPr>
              <a:t>//-----------Input Ports---------------</a:t>
            </a:r>
          </a:p>
          <a:p>
            <a:pPr defTabSz="914400" fontAlgn="base">
              <a:spcBef>
                <a:spcPct val="0"/>
              </a:spcBef>
              <a:spcAft>
                <a:spcPct val="0"/>
              </a:spcAft>
              <a:defRPr/>
            </a:pPr>
            <a:r>
              <a:rPr lang="en-US" sz="900" kern="0" dirty="0" err="1">
                <a:solidFill>
                  <a:srgbClr val="000000"/>
                </a:solidFill>
                <a:latin typeface="Arial"/>
              </a:rPr>
              <a:t>sc_in</a:t>
            </a:r>
            <a:r>
              <a:rPr lang="en-US" sz="900" kern="0" dirty="0">
                <a:solidFill>
                  <a:srgbClr val="000000"/>
                </a:solidFill>
                <a:latin typeface="Arial"/>
              </a:rPr>
              <a:t>    &lt;</a:t>
            </a:r>
            <a:r>
              <a:rPr lang="en-US" sz="900" kern="0" dirty="0" err="1">
                <a:solidFill>
                  <a:srgbClr val="000000"/>
                </a:solidFill>
                <a:latin typeface="Arial"/>
              </a:rPr>
              <a:t>bool</a:t>
            </a:r>
            <a:r>
              <a:rPr lang="en-US" sz="900" kern="0" dirty="0">
                <a:solidFill>
                  <a:srgbClr val="000000"/>
                </a:solidFill>
                <a:latin typeface="Arial"/>
              </a:rPr>
              <a:t>&gt;        	</a:t>
            </a:r>
            <a:r>
              <a:rPr lang="en-US" sz="900" kern="0" dirty="0" err="1">
                <a:solidFill>
                  <a:srgbClr val="000000"/>
                </a:solidFill>
                <a:latin typeface="Arial"/>
              </a:rPr>
              <a:t>clk</a:t>
            </a:r>
            <a:r>
              <a:rPr lang="en-US" sz="900" kern="0" dirty="0">
                <a:solidFill>
                  <a:srgbClr val="000000"/>
                </a:solidFill>
                <a:latin typeface="Arial"/>
              </a:rPr>
              <a:t>;</a:t>
            </a:r>
          </a:p>
          <a:p>
            <a:pPr defTabSz="914400" fontAlgn="base">
              <a:spcBef>
                <a:spcPct val="0"/>
              </a:spcBef>
              <a:spcAft>
                <a:spcPct val="0"/>
              </a:spcAft>
              <a:defRPr/>
            </a:pPr>
            <a:r>
              <a:rPr lang="en-US" sz="900" kern="0" dirty="0" err="1">
                <a:solidFill>
                  <a:srgbClr val="000000"/>
                </a:solidFill>
                <a:latin typeface="Arial"/>
              </a:rPr>
              <a:t>sc_in</a:t>
            </a:r>
            <a:r>
              <a:rPr lang="en-US" sz="900" kern="0" dirty="0">
                <a:solidFill>
                  <a:srgbClr val="000000"/>
                </a:solidFill>
                <a:latin typeface="Arial"/>
              </a:rPr>
              <a:t>    &lt;</a:t>
            </a:r>
            <a:r>
              <a:rPr lang="en-US" sz="900" kern="0" dirty="0" err="1">
                <a:solidFill>
                  <a:srgbClr val="000000"/>
                </a:solidFill>
                <a:latin typeface="Arial"/>
              </a:rPr>
              <a:t>bool</a:t>
            </a:r>
            <a:r>
              <a:rPr lang="en-US" sz="900" kern="0" dirty="0">
                <a:solidFill>
                  <a:srgbClr val="000000"/>
                </a:solidFill>
                <a:latin typeface="Arial"/>
              </a:rPr>
              <a:t>&gt;        	reset;</a:t>
            </a:r>
          </a:p>
          <a:p>
            <a:pPr defTabSz="914400" fontAlgn="base">
              <a:spcBef>
                <a:spcPct val="0"/>
              </a:spcBef>
              <a:spcAft>
                <a:spcPct val="0"/>
              </a:spcAft>
              <a:defRPr/>
            </a:pPr>
            <a:r>
              <a:rPr lang="en-US" sz="900" kern="0" dirty="0" err="1">
                <a:solidFill>
                  <a:srgbClr val="000000"/>
                </a:solidFill>
                <a:latin typeface="Arial"/>
              </a:rPr>
              <a:t>sc_in</a:t>
            </a:r>
            <a:r>
              <a:rPr lang="en-US" sz="900" kern="0" dirty="0">
                <a:solidFill>
                  <a:srgbClr val="000000"/>
                </a:solidFill>
                <a:latin typeface="Arial"/>
              </a:rPr>
              <a:t>    &lt;</a:t>
            </a:r>
            <a:r>
              <a:rPr lang="en-US" sz="900" kern="0" dirty="0" err="1">
                <a:solidFill>
                  <a:srgbClr val="000000"/>
                </a:solidFill>
                <a:latin typeface="Arial"/>
              </a:rPr>
              <a:t>sc_uint</a:t>
            </a:r>
            <a:r>
              <a:rPr lang="en-US" sz="900" kern="0" dirty="0">
                <a:solidFill>
                  <a:srgbClr val="000000"/>
                </a:solidFill>
                <a:latin typeface="Arial"/>
              </a:rPr>
              <a:t>&lt;8&gt; &gt;     x;</a:t>
            </a:r>
          </a:p>
          <a:p>
            <a:pPr defTabSz="914400" fontAlgn="base">
              <a:spcBef>
                <a:spcPct val="0"/>
              </a:spcBef>
              <a:spcAft>
                <a:spcPct val="0"/>
              </a:spcAft>
              <a:defRPr/>
            </a:pPr>
            <a:r>
              <a:rPr lang="en-US" sz="900" kern="0" dirty="0">
                <a:solidFill>
                  <a:srgbClr val="000000"/>
                </a:solidFill>
                <a:latin typeface="Arial"/>
              </a:rPr>
              <a:t>//-----------Output Ports---------------</a:t>
            </a:r>
          </a:p>
          <a:p>
            <a:pPr defTabSz="914400" fontAlgn="base">
              <a:spcBef>
                <a:spcPct val="0"/>
              </a:spcBef>
              <a:spcAft>
                <a:spcPct val="0"/>
              </a:spcAft>
              <a:defRPr/>
            </a:pPr>
            <a:r>
              <a:rPr lang="en-US" sz="900" kern="0" dirty="0" err="1">
                <a:solidFill>
                  <a:srgbClr val="000000"/>
                </a:solidFill>
                <a:latin typeface="Arial"/>
              </a:rPr>
              <a:t>sc_out</a:t>
            </a:r>
            <a:r>
              <a:rPr lang="en-US" sz="900" kern="0" dirty="0">
                <a:solidFill>
                  <a:srgbClr val="000000"/>
                </a:solidFill>
                <a:latin typeface="Arial"/>
              </a:rPr>
              <a:t>   &lt;</a:t>
            </a:r>
            <a:r>
              <a:rPr lang="en-US" sz="900" kern="0" dirty="0" err="1">
                <a:solidFill>
                  <a:srgbClr val="000000"/>
                </a:solidFill>
                <a:latin typeface="Arial"/>
              </a:rPr>
              <a:t>sc_uint</a:t>
            </a:r>
            <a:r>
              <a:rPr lang="en-US" sz="900" kern="0" dirty="0">
                <a:solidFill>
                  <a:srgbClr val="000000"/>
                </a:solidFill>
                <a:latin typeface="Arial"/>
              </a:rPr>
              <a:t>&lt;8&gt; &gt;    y;</a:t>
            </a:r>
          </a:p>
          <a:p>
            <a:pPr defTabSz="914400" fontAlgn="base">
              <a:spcBef>
                <a:spcPct val="0"/>
              </a:spcBef>
              <a:spcAft>
                <a:spcPct val="0"/>
              </a:spcAft>
              <a:defRPr/>
            </a:pPr>
            <a:r>
              <a:rPr lang="en-US" sz="900" kern="0" dirty="0">
                <a:solidFill>
                  <a:srgbClr val="000000"/>
                </a:solidFill>
                <a:latin typeface="Arial"/>
              </a:rPr>
              <a:t>//------------Internal Variables--------</a:t>
            </a:r>
          </a:p>
          <a:p>
            <a:pPr defTabSz="914400" fontAlgn="base">
              <a:spcBef>
                <a:spcPct val="0"/>
              </a:spcBef>
              <a:spcAft>
                <a:spcPct val="0"/>
              </a:spcAft>
              <a:defRPr/>
            </a:pPr>
            <a:r>
              <a:rPr lang="en-US" sz="900" kern="0" dirty="0" err="1">
                <a:solidFill>
                  <a:srgbClr val="000000"/>
                </a:solidFill>
                <a:latin typeface="Arial"/>
              </a:rPr>
              <a:t>sc_uint</a:t>
            </a:r>
            <a:r>
              <a:rPr lang="en-US" sz="900" kern="0" dirty="0">
                <a:solidFill>
                  <a:srgbClr val="000000"/>
                </a:solidFill>
                <a:latin typeface="Arial"/>
              </a:rPr>
              <a:t>&lt;8&gt;  acc, m, </a:t>
            </a:r>
            <a:r>
              <a:rPr lang="en-US" sz="900" kern="0" dirty="0" err="1">
                <a:solidFill>
                  <a:srgbClr val="000000"/>
                </a:solidFill>
                <a:latin typeface="Arial"/>
              </a:rPr>
              <a:t>i</a:t>
            </a:r>
            <a:r>
              <a:rPr lang="en-US" sz="900" kern="0" dirty="0">
                <a:solidFill>
                  <a:srgbClr val="000000"/>
                </a:solidFill>
                <a:latin typeface="Arial"/>
              </a:rPr>
              <a:t>;</a:t>
            </a:r>
          </a:p>
          <a:p>
            <a:pPr defTabSz="914400" fontAlgn="base">
              <a:spcBef>
                <a:spcPct val="0"/>
              </a:spcBef>
              <a:spcAft>
                <a:spcPct val="0"/>
              </a:spcAft>
              <a:defRPr/>
            </a:pPr>
            <a:r>
              <a:rPr lang="en-US" sz="900" kern="0" dirty="0" err="1">
                <a:solidFill>
                  <a:srgbClr val="000000"/>
                </a:solidFill>
                <a:latin typeface="Arial"/>
              </a:rPr>
              <a:t>sc_uint</a:t>
            </a:r>
            <a:r>
              <a:rPr lang="en-US" sz="900" kern="0" dirty="0">
                <a:solidFill>
                  <a:srgbClr val="000000"/>
                </a:solidFill>
                <a:latin typeface="Arial"/>
              </a:rPr>
              <a:t>&lt;8&gt; </a:t>
            </a:r>
            <a:r>
              <a:rPr lang="en-US" sz="900" kern="0" dirty="0" err="1">
                <a:solidFill>
                  <a:srgbClr val="000000"/>
                </a:solidFill>
                <a:latin typeface="Arial"/>
              </a:rPr>
              <a:t>shift_reg</a:t>
            </a:r>
            <a:r>
              <a:rPr lang="en-US" sz="900" kern="0" dirty="0">
                <a:solidFill>
                  <a:srgbClr val="000000"/>
                </a:solidFill>
                <a:latin typeface="Arial"/>
              </a:rPr>
              <a:t>[N];	</a:t>
            </a:r>
          </a:p>
          <a:p>
            <a:pPr defTabSz="914400" fontAlgn="base">
              <a:spcBef>
                <a:spcPct val="0"/>
              </a:spcBef>
              <a:spcAft>
                <a:spcPct val="0"/>
              </a:spcAft>
              <a:defRPr/>
            </a:pPr>
            <a:r>
              <a:rPr lang="en-US" sz="900" kern="0" dirty="0">
                <a:solidFill>
                  <a:srgbClr val="000000"/>
                </a:solidFill>
                <a:latin typeface="Arial"/>
              </a:rPr>
              <a:t>//-------------Code Starts Here---------</a:t>
            </a:r>
          </a:p>
          <a:p>
            <a:pPr defTabSz="914400" fontAlgn="base">
              <a:spcBef>
                <a:spcPct val="0"/>
              </a:spcBef>
              <a:spcAft>
                <a:spcPct val="0"/>
              </a:spcAft>
              <a:defRPr/>
            </a:pPr>
            <a:r>
              <a:rPr lang="en-US" sz="900" kern="0" dirty="0">
                <a:solidFill>
                  <a:srgbClr val="000000"/>
                </a:solidFill>
                <a:latin typeface="Arial"/>
              </a:rPr>
              <a:t>void go ();</a:t>
            </a:r>
          </a:p>
          <a:p>
            <a:pPr defTabSz="914400" fontAlgn="base">
              <a:spcBef>
                <a:spcPct val="0"/>
              </a:spcBef>
              <a:spcAft>
                <a:spcPct val="0"/>
              </a:spcAft>
              <a:defRPr/>
            </a:pPr>
            <a:endParaRPr lang="en-US" sz="900" kern="0" dirty="0">
              <a:solidFill>
                <a:srgbClr val="000000"/>
              </a:solidFill>
              <a:latin typeface="Arial"/>
            </a:endParaRPr>
          </a:p>
          <a:p>
            <a:pPr defTabSz="914400" fontAlgn="base">
              <a:spcBef>
                <a:spcPct val="0"/>
              </a:spcBef>
              <a:spcAft>
                <a:spcPct val="0"/>
              </a:spcAft>
              <a:defRPr/>
            </a:pPr>
            <a:r>
              <a:rPr lang="en-US" sz="900" kern="0" dirty="0">
                <a:solidFill>
                  <a:srgbClr val="000000"/>
                </a:solidFill>
                <a:latin typeface="Arial"/>
              </a:rPr>
              <a:t>SC_CTOR(fir) {</a:t>
            </a:r>
          </a:p>
          <a:p>
            <a:pPr defTabSz="914400" fontAlgn="base">
              <a:spcBef>
                <a:spcPct val="0"/>
              </a:spcBef>
              <a:spcAft>
                <a:spcPct val="0"/>
              </a:spcAft>
              <a:defRPr/>
            </a:pPr>
            <a:r>
              <a:rPr lang="en-US" sz="900" kern="0" dirty="0">
                <a:solidFill>
                  <a:srgbClr val="000000"/>
                </a:solidFill>
                <a:latin typeface="Arial"/>
              </a:rPr>
              <a:t>	SC_CTHREAD (go, clk.pos());</a:t>
            </a:r>
          </a:p>
          <a:p>
            <a:pPr defTabSz="914400" fontAlgn="base">
              <a:spcBef>
                <a:spcPct val="0"/>
              </a:spcBef>
              <a:spcAft>
                <a:spcPct val="0"/>
              </a:spcAft>
              <a:defRPr/>
            </a:pPr>
            <a:r>
              <a:rPr lang="en-US" sz="900" kern="0" dirty="0">
                <a:solidFill>
                  <a:srgbClr val="000000"/>
                </a:solidFill>
                <a:latin typeface="Arial"/>
              </a:rPr>
              <a:t>	</a:t>
            </a:r>
            <a:r>
              <a:rPr lang="en-US" sz="900" kern="0" dirty="0" err="1">
                <a:solidFill>
                  <a:srgbClr val="000000"/>
                </a:solidFill>
                <a:latin typeface="Arial"/>
              </a:rPr>
              <a:t>reset_signal_is</a:t>
            </a:r>
            <a:r>
              <a:rPr lang="en-US" sz="900" kern="0" dirty="0">
                <a:solidFill>
                  <a:srgbClr val="000000"/>
                </a:solidFill>
                <a:latin typeface="Arial"/>
              </a:rPr>
              <a:t>(reset, true);</a:t>
            </a:r>
          </a:p>
          <a:p>
            <a:pPr defTabSz="914400" fontAlgn="base">
              <a:spcBef>
                <a:spcPct val="0"/>
              </a:spcBef>
              <a:spcAft>
                <a:spcPct val="0"/>
              </a:spcAft>
              <a:defRPr/>
            </a:pPr>
            <a:r>
              <a:rPr lang="en-US" sz="900" kern="0" dirty="0">
                <a:solidFill>
                  <a:srgbClr val="000000"/>
                </a:solidFill>
                <a:latin typeface="Arial"/>
              </a:rPr>
              <a:t>	} </a:t>
            </a:r>
          </a:p>
          <a:p>
            <a:pPr defTabSz="914400" fontAlgn="base">
              <a:spcBef>
                <a:spcPct val="0"/>
              </a:spcBef>
              <a:spcAft>
                <a:spcPct val="0"/>
              </a:spcAft>
              <a:defRPr/>
            </a:pPr>
            <a:r>
              <a:rPr lang="en-US" sz="900" kern="0" dirty="0">
                <a:solidFill>
                  <a:srgbClr val="000000"/>
                </a:solidFill>
                <a:latin typeface="Arial"/>
              </a:rPr>
              <a:t>};</a:t>
            </a:r>
          </a:p>
        </p:txBody>
      </p:sp>
      <p:sp>
        <p:nvSpPr>
          <p:cNvPr id="26" name="TextBox 25">
            <a:extLst>
              <a:ext uri="{FF2B5EF4-FFF2-40B4-BE49-F238E27FC236}">
                <a16:creationId xmlns:a16="http://schemas.microsoft.com/office/drawing/2014/main" id="{CFBFC706-646E-4EB6-9D9B-3DDD1998D430}"/>
              </a:ext>
            </a:extLst>
          </p:cNvPr>
          <p:cNvSpPr txBox="1"/>
          <p:nvPr/>
        </p:nvSpPr>
        <p:spPr>
          <a:xfrm>
            <a:off x="4048268" y="3582620"/>
            <a:ext cx="767900" cy="253916"/>
          </a:xfrm>
          <a:prstGeom prst="rect">
            <a:avLst/>
          </a:prstGeom>
          <a:solidFill>
            <a:srgbClr val="7030A0"/>
          </a:solidFill>
          <a:ln w="9525" cap="flat" cmpd="sng" algn="ctr">
            <a:solidFill>
              <a:srgbClr val="3F3F3F">
                <a:shade val="95000"/>
                <a:satMod val="105000"/>
              </a:srgbClr>
            </a:solidFill>
            <a:prstDash val="solid"/>
          </a:ln>
          <a:effectLst>
            <a:outerShdw blurRad="40000" dist="23000" dir="5400000" rotWithShape="0">
              <a:srgbClr val="000000">
                <a:alpha val="35000"/>
              </a:srgbClr>
            </a:outerShdw>
          </a:effectLst>
        </p:spPr>
        <p:txBody>
          <a:bodyPr wrap="square" rtlCol="0">
            <a:spAutoFit/>
          </a:bodyPr>
          <a:lstStyle/>
          <a:p>
            <a:pPr algn="ctr" defTabSz="914400" fontAlgn="base">
              <a:spcBef>
                <a:spcPct val="0"/>
              </a:spcBef>
              <a:spcAft>
                <a:spcPct val="0"/>
              </a:spcAft>
              <a:defRPr/>
            </a:pPr>
            <a:r>
              <a:rPr lang="en-US" sz="1050" b="1" kern="0" dirty="0" err="1">
                <a:solidFill>
                  <a:srgbClr val="FFFFFF"/>
                </a:solidFill>
                <a:latin typeface="Arial"/>
              </a:rPr>
              <a:t>fir.h</a:t>
            </a:r>
            <a:endParaRPr lang="en-US" sz="1050" b="1" kern="0" dirty="0">
              <a:solidFill>
                <a:srgbClr val="FFFFFF"/>
              </a:solidFill>
              <a:latin typeface="Arial"/>
            </a:endParaRPr>
          </a:p>
        </p:txBody>
      </p:sp>
      <p:sp>
        <p:nvSpPr>
          <p:cNvPr id="27" name="TextBox 26">
            <a:extLst>
              <a:ext uri="{FF2B5EF4-FFF2-40B4-BE49-F238E27FC236}">
                <a16:creationId xmlns:a16="http://schemas.microsoft.com/office/drawing/2014/main" id="{A06ADCE8-0BA3-4DA4-9362-28663E8BEA5A}"/>
              </a:ext>
            </a:extLst>
          </p:cNvPr>
          <p:cNvSpPr txBox="1"/>
          <p:nvPr/>
        </p:nvSpPr>
        <p:spPr>
          <a:xfrm>
            <a:off x="3382756" y="4312315"/>
            <a:ext cx="1586993" cy="253916"/>
          </a:xfrm>
          <a:prstGeom prst="rect">
            <a:avLst/>
          </a:prstGeom>
          <a:solidFill>
            <a:srgbClr val="FFFF99"/>
          </a:solidFill>
          <a:ln w="28575">
            <a:solidFill>
              <a:srgbClr val="000000"/>
            </a:solidFill>
          </a:ln>
          <a:effectLst>
            <a:innerShdw blurRad="63500" dist="50800" dir="2700000">
              <a:prstClr val="black">
                <a:alpha val="50000"/>
              </a:prstClr>
            </a:innerShdw>
          </a:effectLst>
        </p:spPr>
        <p:txBody>
          <a:bodyPr wrap="square" rtlCol="0">
            <a:spAutoFit/>
          </a:bodyPr>
          <a:lstStyle/>
          <a:p>
            <a:pPr algn="ctr" defTabSz="914400" fontAlgn="base">
              <a:spcBef>
                <a:spcPct val="50000"/>
              </a:spcBef>
              <a:spcAft>
                <a:spcPct val="0"/>
              </a:spcAft>
              <a:defRPr/>
            </a:pPr>
            <a:r>
              <a:rPr lang="en-US" altLang="zh-CN" sz="1050" b="1" kern="0" dirty="0">
                <a:solidFill>
                  <a:srgbClr val="000000"/>
                </a:solidFill>
                <a:latin typeface="Arial"/>
                <a:ea typeface="宋体" charset="-122"/>
              </a:rPr>
              <a:t>IO defined</a:t>
            </a:r>
          </a:p>
        </p:txBody>
      </p:sp>
      <p:sp>
        <p:nvSpPr>
          <p:cNvPr id="28" name="TextBox 27">
            <a:extLst>
              <a:ext uri="{FF2B5EF4-FFF2-40B4-BE49-F238E27FC236}">
                <a16:creationId xmlns:a16="http://schemas.microsoft.com/office/drawing/2014/main" id="{3C5DDD8B-EFD4-4B69-8A8E-88594EB4AAAF}"/>
              </a:ext>
            </a:extLst>
          </p:cNvPr>
          <p:cNvSpPr txBox="1"/>
          <p:nvPr/>
        </p:nvSpPr>
        <p:spPr>
          <a:xfrm>
            <a:off x="3843495" y="5541275"/>
            <a:ext cx="3890693" cy="738664"/>
          </a:xfrm>
          <a:prstGeom prst="rect">
            <a:avLst/>
          </a:prstGeom>
          <a:solidFill>
            <a:srgbClr val="FFFF99"/>
          </a:solidFill>
          <a:ln w="28575">
            <a:solidFill>
              <a:srgbClr val="000000"/>
            </a:solidFill>
          </a:ln>
          <a:effectLst>
            <a:innerShdw blurRad="63500" dist="50800" dir="2700000">
              <a:prstClr val="black">
                <a:alpha val="50000"/>
              </a:prstClr>
            </a:innerShdw>
          </a:effectLst>
        </p:spPr>
        <p:txBody>
          <a:bodyPr wrap="square" rtlCol="0">
            <a:spAutoFit/>
          </a:bodyPr>
          <a:lstStyle/>
          <a:p>
            <a:pPr algn="ctr" defTabSz="914400" fontAlgn="base">
              <a:spcBef>
                <a:spcPct val="50000"/>
              </a:spcBef>
              <a:spcAft>
                <a:spcPct val="0"/>
              </a:spcAft>
              <a:defRPr/>
            </a:pPr>
            <a:r>
              <a:rPr lang="en-US" altLang="zh-CN" sz="1050" b="1" kern="0" dirty="0">
                <a:solidFill>
                  <a:srgbClr val="000000"/>
                </a:solidFill>
                <a:latin typeface="Arial"/>
                <a:ea typeface="宋体" charset="-122"/>
              </a:rPr>
              <a:t>Clock sensitive thread (SC_CTHREAD)</a:t>
            </a:r>
          </a:p>
          <a:p>
            <a:pPr algn="ctr" defTabSz="914400" fontAlgn="base">
              <a:spcBef>
                <a:spcPct val="50000"/>
              </a:spcBef>
              <a:spcAft>
                <a:spcPct val="0"/>
              </a:spcAft>
              <a:defRPr/>
            </a:pPr>
            <a:r>
              <a:rPr lang="en-US" altLang="zh-CN" sz="1050" b="1" kern="0" dirty="0">
                <a:solidFill>
                  <a:srgbClr val="000000"/>
                </a:solidFill>
                <a:latin typeface="Arial"/>
                <a:ea typeface="宋体" charset="-122"/>
              </a:rPr>
              <a:t>SC_METHOD is also supported (combo)</a:t>
            </a:r>
          </a:p>
          <a:p>
            <a:pPr algn="ctr" defTabSz="914400" fontAlgn="base">
              <a:spcBef>
                <a:spcPct val="50000"/>
              </a:spcBef>
              <a:spcAft>
                <a:spcPct val="0"/>
              </a:spcAft>
              <a:defRPr/>
            </a:pPr>
            <a:r>
              <a:rPr lang="en-US" altLang="zh-CN" sz="1050" b="1" kern="0" dirty="0">
                <a:solidFill>
                  <a:srgbClr val="000000"/>
                </a:solidFill>
                <a:latin typeface="Arial"/>
                <a:ea typeface="宋体" charset="-122"/>
              </a:rPr>
              <a:t>SC_THREAD is not supported</a:t>
            </a:r>
          </a:p>
        </p:txBody>
      </p:sp>
      <p:sp>
        <p:nvSpPr>
          <p:cNvPr id="29" name="TextBox 28">
            <a:extLst>
              <a:ext uri="{FF2B5EF4-FFF2-40B4-BE49-F238E27FC236}">
                <a16:creationId xmlns:a16="http://schemas.microsoft.com/office/drawing/2014/main" id="{CCE84606-1905-4FCA-A824-83AF7A600B6A}"/>
              </a:ext>
            </a:extLst>
          </p:cNvPr>
          <p:cNvSpPr txBox="1"/>
          <p:nvPr/>
        </p:nvSpPr>
        <p:spPr>
          <a:xfrm>
            <a:off x="7017481" y="1854396"/>
            <a:ext cx="4459256" cy="3693319"/>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defRPr/>
            </a:pPr>
            <a:r>
              <a:rPr lang="en-US" sz="900" kern="0" dirty="0">
                <a:solidFill>
                  <a:srgbClr val="000000"/>
                </a:solidFill>
                <a:latin typeface="Arial"/>
              </a:rPr>
              <a:t>#include “</a:t>
            </a:r>
            <a:r>
              <a:rPr lang="en-US" sz="900" kern="0" dirty="0" err="1">
                <a:solidFill>
                  <a:srgbClr val="000000"/>
                </a:solidFill>
                <a:latin typeface="Arial"/>
              </a:rPr>
              <a:t>fir.h</a:t>
            </a:r>
            <a:r>
              <a:rPr lang="en-US" sz="900" kern="0" dirty="0">
                <a:solidFill>
                  <a:srgbClr val="000000"/>
                </a:solidFill>
                <a:latin typeface="Arial"/>
              </a:rPr>
              <a:t>"</a:t>
            </a:r>
          </a:p>
          <a:p>
            <a:pPr defTabSz="914400" fontAlgn="base">
              <a:spcBef>
                <a:spcPct val="0"/>
              </a:spcBef>
              <a:spcAft>
                <a:spcPct val="0"/>
              </a:spcAft>
              <a:defRPr/>
            </a:pPr>
            <a:endParaRPr lang="en-US" sz="900" kern="0" dirty="0">
              <a:solidFill>
                <a:srgbClr val="000000"/>
              </a:solidFill>
              <a:latin typeface="Arial"/>
            </a:endParaRPr>
          </a:p>
          <a:p>
            <a:pPr defTabSz="914400" fontAlgn="base">
              <a:spcBef>
                <a:spcPct val="0"/>
              </a:spcBef>
              <a:spcAft>
                <a:spcPct val="0"/>
              </a:spcAft>
              <a:defRPr/>
            </a:pPr>
            <a:r>
              <a:rPr lang="en-US" sz="900" kern="0" dirty="0">
                <a:solidFill>
                  <a:srgbClr val="000000"/>
                </a:solidFill>
                <a:latin typeface="Arial"/>
              </a:rPr>
              <a:t>const </a:t>
            </a:r>
            <a:r>
              <a:rPr lang="en-US" sz="900" kern="0" dirty="0" err="1">
                <a:solidFill>
                  <a:srgbClr val="000000"/>
                </a:solidFill>
                <a:latin typeface="Arial"/>
              </a:rPr>
              <a:t>sc_int</a:t>
            </a:r>
            <a:r>
              <a:rPr lang="en-US" sz="900" kern="0" dirty="0">
                <a:solidFill>
                  <a:srgbClr val="000000"/>
                </a:solidFill>
                <a:latin typeface="Arial"/>
              </a:rPr>
              <a:t>&lt;8&gt; c ={</a:t>
            </a:r>
          </a:p>
          <a:p>
            <a:pPr defTabSz="914400" fontAlgn="base">
              <a:spcBef>
                <a:spcPct val="0"/>
              </a:spcBef>
              <a:spcAft>
                <a:spcPct val="0"/>
              </a:spcAft>
              <a:defRPr/>
            </a:pPr>
            <a:r>
              <a:rPr lang="en-US" sz="900" kern="0" dirty="0">
                <a:solidFill>
                  <a:srgbClr val="000000"/>
                </a:solidFill>
                <a:latin typeface="Arial"/>
              </a:rPr>
              <a:t>#include "</a:t>
            </a:r>
            <a:r>
              <a:rPr lang="en-US" sz="900" kern="0" dirty="0" err="1">
                <a:solidFill>
                  <a:srgbClr val="000000"/>
                </a:solidFill>
                <a:latin typeface="Arial"/>
              </a:rPr>
              <a:t>fir_coeff.h</a:t>
            </a:r>
            <a:r>
              <a:rPr lang="en-US" sz="900" kern="0" dirty="0">
                <a:solidFill>
                  <a:srgbClr val="000000"/>
                </a:solidFill>
                <a:latin typeface="Arial"/>
              </a:rPr>
              <a:t>“</a:t>
            </a:r>
          </a:p>
          <a:p>
            <a:pPr defTabSz="914400" fontAlgn="base">
              <a:spcBef>
                <a:spcPct val="0"/>
              </a:spcBef>
              <a:spcAft>
                <a:spcPct val="0"/>
              </a:spcAft>
              <a:defRPr/>
            </a:pPr>
            <a:r>
              <a:rPr lang="en-US" sz="900" kern="0" dirty="0">
                <a:solidFill>
                  <a:srgbClr val="000000"/>
                </a:solidFill>
                <a:latin typeface="Arial"/>
              </a:rPr>
              <a:t>		};</a:t>
            </a:r>
          </a:p>
          <a:p>
            <a:pPr defTabSz="914400" fontAlgn="base">
              <a:spcBef>
                <a:spcPct val="0"/>
              </a:spcBef>
              <a:spcAft>
                <a:spcPct val="0"/>
              </a:spcAft>
              <a:defRPr/>
            </a:pPr>
            <a:endParaRPr lang="en-US" sz="900" kern="0" dirty="0">
              <a:solidFill>
                <a:srgbClr val="000000"/>
              </a:solidFill>
              <a:latin typeface="Arial"/>
            </a:endParaRPr>
          </a:p>
          <a:p>
            <a:pPr defTabSz="914400" fontAlgn="base">
              <a:spcBef>
                <a:spcPct val="0"/>
              </a:spcBef>
              <a:spcAft>
                <a:spcPct val="0"/>
              </a:spcAft>
              <a:defRPr/>
            </a:pPr>
            <a:r>
              <a:rPr lang="en-US" sz="900" kern="0" dirty="0">
                <a:solidFill>
                  <a:srgbClr val="000000"/>
                </a:solidFill>
                <a:latin typeface="Arial"/>
              </a:rPr>
              <a:t>void fir::go (void) {</a:t>
            </a:r>
          </a:p>
          <a:p>
            <a:pPr defTabSz="914400" fontAlgn="base">
              <a:spcBef>
                <a:spcPct val="0"/>
              </a:spcBef>
              <a:spcAft>
                <a:spcPct val="0"/>
              </a:spcAft>
              <a:defRPr/>
            </a:pPr>
            <a:r>
              <a:rPr lang="en-US" sz="900" kern="0" dirty="0">
                <a:solidFill>
                  <a:srgbClr val="000000"/>
                </a:solidFill>
                <a:latin typeface="Arial"/>
              </a:rPr>
              <a:t>	if (</a:t>
            </a:r>
            <a:r>
              <a:rPr lang="en-US" sz="900" kern="0" dirty="0" err="1">
                <a:solidFill>
                  <a:srgbClr val="000000"/>
                </a:solidFill>
                <a:latin typeface="Arial"/>
              </a:rPr>
              <a:t>reset.read</a:t>
            </a:r>
            <a:r>
              <a:rPr lang="en-US" sz="900" kern="0" dirty="0">
                <a:solidFill>
                  <a:srgbClr val="000000"/>
                </a:solidFill>
                <a:latin typeface="Arial"/>
              </a:rPr>
              <a:t>() == 1) {</a:t>
            </a:r>
          </a:p>
          <a:p>
            <a:pPr defTabSz="914400" fontAlgn="base">
              <a:spcBef>
                <a:spcPct val="0"/>
              </a:spcBef>
              <a:spcAft>
                <a:spcPct val="0"/>
              </a:spcAft>
              <a:tabLst>
                <a:tab pos="1371600" algn="l"/>
              </a:tabLst>
              <a:defRPr/>
            </a:pPr>
            <a:r>
              <a:rPr lang="en-US" sz="900" kern="0" dirty="0">
                <a:solidFill>
                  <a:srgbClr val="000000"/>
                </a:solidFill>
                <a:latin typeface="Arial"/>
              </a:rPr>
              <a:t>	acc=0;</a:t>
            </a:r>
          </a:p>
          <a:p>
            <a:pPr defTabSz="914400" fontAlgn="base">
              <a:spcBef>
                <a:spcPct val="0"/>
              </a:spcBef>
              <a:spcAft>
                <a:spcPct val="0"/>
              </a:spcAft>
              <a:tabLst>
                <a:tab pos="1371600" algn="l"/>
              </a:tabLst>
              <a:defRPr/>
            </a:pPr>
            <a:r>
              <a:rPr lang="en-US" sz="900" kern="0" dirty="0">
                <a:solidFill>
                  <a:srgbClr val="000000"/>
                </a:solidFill>
                <a:latin typeface="Arial"/>
              </a:rPr>
              <a:t>	</a:t>
            </a:r>
            <a:r>
              <a:rPr lang="en-US" sz="900" kern="0" dirty="0" err="1">
                <a:solidFill>
                  <a:srgbClr val="000000"/>
                </a:solidFill>
                <a:latin typeface="Arial"/>
              </a:rPr>
              <a:t>i</a:t>
            </a:r>
            <a:r>
              <a:rPr lang="en-US" sz="900" kern="0" dirty="0">
                <a:solidFill>
                  <a:srgbClr val="000000"/>
                </a:solidFill>
                <a:latin typeface="Arial"/>
              </a:rPr>
              <a:t>=0;</a:t>
            </a:r>
          </a:p>
          <a:p>
            <a:pPr defTabSz="914400" fontAlgn="base">
              <a:spcBef>
                <a:spcPct val="0"/>
              </a:spcBef>
              <a:spcAft>
                <a:spcPct val="0"/>
              </a:spcAft>
              <a:defRPr/>
            </a:pPr>
            <a:r>
              <a:rPr lang="en-US" sz="900" kern="0" dirty="0">
                <a:solidFill>
                  <a:srgbClr val="000000"/>
                </a:solidFill>
                <a:latin typeface="Arial"/>
              </a:rPr>
              <a:t>	}</a:t>
            </a:r>
          </a:p>
          <a:p>
            <a:pPr defTabSz="914400" fontAlgn="base">
              <a:spcBef>
                <a:spcPct val="0"/>
              </a:spcBef>
              <a:spcAft>
                <a:spcPct val="0"/>
              </a:spcAft>
              <a:defRPr/>
            </a:pPr>
            <a:r>
              <a:rPr lang="en-US" sz="900" b="1" kern="0" dirty="0">
                <a:solidFill>
                  <a:srgbClr val="000000"/>
                </a:solidFill>
                <a:latin typeface="Arial"/>
              </a:rPr>
              <a:t>	wait ();</a:t>
            </a:r>
          </a:p>
          <a:p>
            <a:pPr defTabSz="914400" fontAlgn="base">
              <a:spcBef>
                <a:spcPct val="0"/>
              </a:spcBef>
              <a:spcAft>
                <a:spcPct val="0"/>
              </a:spcAft>
              <a:defRPr/>
            </a:pPr>
            <a:r>
              <a:rPr lang="en-US" sz="900" kern="0" dirty="0">
                <a:solidFill>
                  <a:srgbClr val="000000"/>
                </a:solidFill>
                <a:latin typeface="Arial"/>
              </a:rPr>
              <a:t>	while (1) {</a:t>
            </a:r>
          </a:p>
          <a:p>
            <a:pPr defTabSz="914400" fontAlgn="base">
              <a:spcBef>
                <a:spcPct val="0"/>
              </a:spcBef>
              <a:spcAft>
                <a:spcPct val="0"/>
              </a:spcAft>
              <a:defRPr/>
            </a:pPr>
            <a:r>
              <a:rPr lang="en-US" sz="900" kern="0" dirty="0">
                <a:solidFill>
                  <a:srgbClr val="000000"/>
                </a:solidFill>
                <a:latin typeface="Arial"/>
              </a:rPr>
              <a:t>	         </a:t>
            </a:r>
            <a:r>
              <a:rPr lang="en-US" sz="900" b="1" kern="0" dirty="0" err="1">
                <a:solidFill>
                  <a:srgbClr val="000000"/>
                </a:solidFill>
                <a:latin typeface="Arial"/>
              </a:rPr>
              <a:t>mac_loop</a:t>
            </a:r>
            <a:r>
              <a:rPr lang="en-US" sz="900" kern="0" dirty="0">
                <a:solidFill>
                  <a:srgbClr val="000000"/>
                </a:solidFill>
                <a:latin typeface="Arial"/>
              </a:rPr>
              <a:t>: for (</a:t>
            </a:r>
            <a:r>
              <a:rPr lang="en-US" sz="900" kern="0" dirty="0" err="1">
                <a:solidFill>
                  <a:srgbClr val="000000"/>
                </a:solidFill>
                <a:latin typeface="Arial"/>
              </a:rPr>
              <a:t>i</a:t>
            </a:r>
            <a:r>
              <a:rPr lang="en-US" sz="900" kern="0" dirty="0">
                <a:solidFill>
                  <a:srgbClr val="000000"/>
                </a:solidFill>
                <a:latin typeface="Arial"/>
              </a:rPr>
              <a:t>=N-1;i&gt;=0;i--) {</a:t>
            </a:r>
          </a:p>
          <a:p>
            <a:pPr marL="0" lvl="2" defTabSz="914400" fontAlgn="base">
              <a:spcBef>
                <a:spcPct val="0"/>
              </a:spcBef>
              <a:spcAft>
                <a:spcPct val="0"/>
              </a:spcAft>
              <a:defRPr/>
            </a:pPr>
            <a:r>
              <a:rPr lang="en-US" sz="900" kern="0" dirty="0">
                <a:solidFill>
                  <a:srgbClr val="000000"/>
                </a:solidFill>
                <a:latin typeface="Arial"/>
              </a:rPr>
              <a:t>         if (</a:t>
            </a:r>
            <a:r>
              <a:rPr lang="en-US" sz="900" kern="0" dirty="0" err="1">
                <a:solidFill>
                  <a:srgbClr val="000000"/>
                </a:solidFill>
                <a:latin typeface="Arial"/>
              </a:rPr>
              <a:t>i</a:t>
            </a:r>
            <a:r>
              <a:rPr lang="en-US" sz="900" kern="0" dirty="0">
                <a:solidFill>
                  <a:srgbClr val="000000"/>
                </a:solidFill>
                <a:latin typeface="Arial"/>
              </a:rPr>
              <a:t>==0) {</a:t>
            </a:r>
          </a:p>
          <a:p>
            <a:pPr marL="0" lvl="2" defTabSz="914400" fontAlgn="base">
              <a:spcBef>
                <a:spcPct val="0"/>
              </a:spcBef>
              <a:spcAft>
                <a:spcPct val="0"/>
              </a:spcAft>
              <a:tabLst>
                <a:tab pos="1371600" algn="l"/>
              </a:tabLst>
              <a:defRPr/>
            </a:pPr>
            <a:r>
              <a:rPr lang="en-US" sz="900" kern="0" dirty="0">
                <a:solidFill>
                  <a:srgbClr val="000000"/>
                </a:solidFill>
                <a:latin typeface="Arial"/>
              </a:rPr>
              <a:t>           	acc+=x*c[0];</a:t>
            </a:r>
          </a:p>
          <a:p>
            <a:pPr marL="0" lvl="2" defTabSz="914400" fontAlgn="base">
              <a:spcBef>
                <a:spcPct val="0"/>
              </a:spcBef>
              <a:spcAft>
                <a:spcPct val="0"/>
              </a:spcAft>
              <a:tabLst>
                <a:tab pos="1371600" algn="l"/>
              </a:tabLst>
              <a:defRPr/>
            </a:pPr>
            <a:r>
              <a:rPr lang="en-US" sz="900" kern="0" dirty="0">
                <a:solidFill>
                  <a:srgbClr val="000000"/>
                </a:solidFill>
                <a:latin typeface="Arial"/>
              </a:rPr>
              <a:t>           	</a:t>
            </a:r>
            <a:r>
              <a:rPr lang="en-US" sz="900" kern="0" dirty="0" err="1">
                <a:solidFill>
                  <a:srgbClr val="000000"/>
                </a:solidFill>
                <a:latin typeface="Arial"/>
              </a:rPr>
              <a:t>shift_reg</a:t>
            </a:r>
            <a:r>
              <a:rPr lang="en-US" sz="900" kern="0" dirty="0">
                <a:solidFill>
                  <a:srgbClr val="000000"/>
                </a:solidFill>
                <a:latin typeface="Arial"/>
              </a:rPr>
              <a:t>[0]=x;</a:t>
            </a:r>
          </a:p>
          <a:p>
            <a:pPr marL="0" lvl="2" defTabSz="914400" fontAlgn="base">
              <a:spcBef>
                <a:spcPct val="0"/>
              </a:spcBef>
              <a:spcAft>
                <a:spcPct val="0"/>
              </a:spcAft>
              <a:defRPr/>
            </a:pPr>
            <a:r>
              <a:rPr lang="en-US" sz="900" kern="0" dirty="0">
                <a:solidFill>
                  <a:srgbClr val="000000"/>
                </a:solidFill>
                <a:latin typeface="Arial"/>
              </a:rPr>
              <a:t>         } else {</a:t>
            </a:r>
          </a:p>
          <a:p>
            <a:pPr marL="0" lvl="2" defTabSz="914400" fontAlgn="base">
              <a:spcBef>
                <a:spcPct val="0"/>
              </a:spcBef>
              <a:spcAft>
                <a:spcPct val="0"/>
              </a:spcAft>
              <a:tabLst>
                <a:tab pos="1371600" algn="l"/>
              </a:tabLst>
              <a:defRPr/>
            </a:pPr>
            <a:r>
              <a:rPr lang="en-US" sz="900" kern="0" dirty="0">
                <a:solidFill>
                  <a:srgbClr val="000000"/>
                </a:solidFill>
                <a:latin typeface="Arial"/>
              </a:rPr>
              <a:t>           	</a:t>
            </a:r>
            <a:r>
              <a:rPr lang="en-US" sz="900" kern="0" dirty="0" err="1">
                <a:solidFill>
                  <a:srgbClr val="000000"/>
                </a:solidFill>
                <a:latin typeface="Arial"/>
              </a:rPr>
              <a:t>shift_reg</a:t>
            </a:r>
            <a:r>
              <a:rPr lang="en-US" sz="900" kern="0" dirty="0">
                <a:solidFill>
                  <a:srgbClr val="000000"/>
                </a:solidFill>
                <a:latin typeface="Arial"/>
              </a:rPr>
              <a:t>[</a:t>
            </a:r>
            <a:r>
              <a:rPr lang="en-US" sz="900" kern="0" dirty="0" err="1">
                <a:solidFill>
                  <a:srgbClr val="000000"/>
                </a:solidFill>
                <a:latin typeface="Arial"/>
              </a:rPr>
              <a:t>i</a:t>
            </a:r>
            <a:r>
              <a:rPr lang="en-US" sz="900" kern="0" dirty="0">
                <a:solidFill>
                  <a:srgbClr val="000000"/>
                </a:solidFill>
                <a:latin typeface="Arial"/>
              </a:rPr>
              <a:t>]=</a:t>
            </a:r>
            <a:r>
              <a:rPr lang="en-US" sz="900" kern="0" dirty="0" err="1">
                <a:solidFill>
                  <a:srgbClr val="000000"/>
                </a:solidFill>
                <a:latin typeface="Arial"/>
              </a:rPr>
              <a:t>shift_reg</a:t>
            </a:r>
            <a:r>
              <a:rPr lang="en-US" sz="900" kern="0" dirty="0">
                <a:solidFill>
                  <a:srgbClr val="000000"/>
                </a:solidFill>
                <a:latin typeface="Arial"/>
              </a:rPr>
              <a:t>[i-1];  </a:t>
            </a:r>
          </a:p>
          <a:p>
            <a:pPr marL="0" lvl="2" defTabSz="914400" fontAlgn="base">
              <a:spcBef>
                <a:spcPct val="0"/>
              </a:spcBef>
              <a:spcAft>
                <a:spcPct val="0"/>
              </a:spcAft>
              <a:tabLst>
                <a:tab pos="1371600" algn="l"/>
              </a:tabLst>
              <a:defRPr/>
            </a:pPr>
            <a:r>
              <a:rPr lang="en-US" sz="900" kern="0" dirty="0">
                <a:solidFill>
                  <a:srgbClr val="000000"/>
                </a:solidFill>
                <a:latin typeface="Arial"/>
              </a:rPr>
              <a:t>           	acc+=</a:t>
            </a:r>
            <a:r>
              <a:rPr lang="en-US" sz="900" kern="0" dirty="0" err="1">
                <a:solidFill>
                  <a:srgbClr val="000000"/>
                </a:solidFill>
                <a:latin typeface="Arial"/>
              </a:rPr>
              <a:t>shift_reg</a:t>
            </a:r>
            <a:r>
              <a:rPr lang="en-US" sz="900" kern="0" dirty="0">
                <a:solidFill>
                  <a:srgbClr val="000000"/>
                </a:solidFill>
                <a:latin typeface="Arial"/>
              </a:rPr>
              <a:t>[</a:t>
            </a:r>
            <a:r>
              <a:rPr lang="en-US" sz="900" kern="0" dirty="0" err="1">
                <a:solidFill>
                  <a:srgbClr val="000000"/>
                </a:solidFill>
                <a:latin typeface="Arial"/>
              </a:rPr>
              <a:t>i</a:t>
            </a:r>
            <a:r>
              <a:rPr lang="en-US" sz="900" kern="0" dirty="0">
                <a:solidFill>
                  <a:srgbClr val="000000"/>
                </a:solidFill>
                <a:latin typeface="Arial"/>
              </a:rPr>
              <a:t>]*c[</a:t>
            </a:r>
            <a:r>
              <a:rPr lang="en-US" sz="900" kern="0" dirty="0" err="1">
                <a:solidFill>
                  <a:srgbClr val="000000"/>
                </a:solidFill>
                <a:latin typeface="Arial"/>
              </a:rPr>
              <a:t>i</a:t>
            </a:r>
            <a:r>
              <a:rPr lang="en-US" sz="900" kern="0" dirty="0">
                <a:solidFill>
                  <a:srgbClr val="000000"/>
                </a:solidFill>
                <a:latin typeface="Arial"/>
              </a:rPr>
              <a:t>];</a:t>
            </a:r>
          </a:p>
          <a:p>
            <a:pPr marL="0" lvl="2" defTabSz="914400" fontAlgn="base">
              <a:spcBef>
                <a:spcPct val="0"/>
              </a:spcBef>
              <a:spcAft>
                <a:spcPct val="0"/>
              </a:spcAft>
              <a:defRPr/>
            </a:pPr>
            <a:r>
              <a:rPr lang="en-US" sz="900" kern="0" dirty="0">
                <a:solidFill>
                  <a:srgbClr val="000000"/>
                </a:solidFill>
                <a:latin typeface="Arial"/>
              </a:rPr>
              <a:t>         }</a:t>
            </a:r>
          </a:p>
          <a:p>
            <a:pPr marL="0" lvl="2" defTabSz="914400" fontAlgn="base">
              <a:spcBef>
                <a:spcPct val="0"/>
              </a:spcBef>
              <a:spcAft>
                <a:spcPct val="0"/>
              </a:spcAft>
              <a:defRPr/>
            </a:pPr>
            <a:r>
              <a:rPr lang="en-US" sz="900" kern="0" dirty="0">
                <a:solidFill>
                  <a:srgbClr val="000000"/>
                </a:solidFill>
                <a:latin typeface="Arial"/>
              </a:rPr>
              <a:t>}    </a:t>
            </a:r>
          </a:p>
          <a:p>
            <a:pPr marL="0" lvl="2" defTabSz="914400" fontAlgn="base">
              <a:spcBef>
                <a:spcPct val="0"/>
              </a:spcBef>
              <a:spcAft>
                <a:spcPct val="0"/>
              </a:spcAft>
              <a:defRPr/>
            </a:pPr>
            <a:r>
              <a:rPr lang="en-US" sz="900" kern="0" dirty="0">
                <a:solidFill>
                  <a:srgbClr val="000000"/>
                </a:solidFill>
                <a:latin typeface="Arial"/>
              </a:rPr>
              <a:t>y=acc; 		</a:t>
            </a:r>
          </a:p>
          <a:p>
            <a:pPr marL="0" lvl="2" defTabSz="914400" fontAlgn="base">
              <a:spcBef>
                <a:spcPct val="0"/>
              </a:spcBef>
              <a:spcAft>
                <a:spcPct val="0"/>
              </a:spcAft>
              <a:defRPr/>
            </a:pPr>
            <a:r>
              <a:rPr lang="en-US" sz="900" b="1" kern="0" dirty="0">
                <a:solidFill>
                  <a:srgbClr val="000000"/>
                </a:solidFill>
                <a:latin typeface="Arial"/>
              </a:rPr>
              <a:t>wait();</a:t>
            </a:r>
          </a:p>
          <a:p>
            <a:pPr defTabSz="914400" fontAlgn="base">
              <a:spcBef>
                <a:spcPct val="0"/>
              </a:spcBef>
              <a:spcAft>
                <a:spcPct val="0"/>
              </a:spcAft>
              <a:defRPr/>
            </a:pPr>
            <a:r>
              <a:rPr lang="en-US" sz="900" kern="0" dirty="0">
                <a:solidFill>
                  <a:srgbClr val="000000"/>
                </a:solidFill>
                <a:latin typeface="Arial"/>
              </a:rPr>
              <a:t>	}</a:t>
            </a:r>
          </a:p>
          <a:p>
            <a:pPr defTabSz="914400" fontAlgn="base">
              <a:spcBef>
                <a:spcPct val="0"/>
              </a:spcBef>
              <a:spcAft>
                <a:spcPct val="0"/>
              </a:spcAft>
              <a:defRPr/>
            </a:pPr>
            <a:r>
              <a:rPr lang="en-US" sz="900" kern="0" dirty="0">
                <a:solidFill>
                  <a:srgbClr val="000000"/>
                </a:solidFill>
                <a:latin typeface="Arial"/>
              </a:rPr>
              <a:t>}</a:t>
            </a:r>
          </a:p>
        </p:txBody>
      </p:sp>
      <p:sp>
        <p:nvSpPr>
          <p:cNvPr id="30" name="TextBox 29">
            <a:extLst>
              <a:ext uri="{FF2B5EF4-FFF2-40B4-BE49-F238E27FC236}">
                <a16:creationId xmlns:a16="http://schemas.microsoft.com/office/drawing/2014/main" id="{CE02B1B6-4A42-46F2-A161-970D787937AC}"/>
              </a:ext>
            </a:extLst>
          </p:cNvPr>
          <p:cNvSpPr txBox="1"/>
          <p:nvPr/>
        </p:nvSpPr>
        <p:spPr>
          <a:xfrm>
            <a:off x="9421162" y="2783072"/>
            <a:ext cx="2715653" cy="415498"/>
          </a:xfrm>
          <a:prstGeom prst="rect">
            <a:avLst/>
          </a:prstGeom>
          <a:solidFill>
            <a:srgbClr val="FFFF99"/>
          </a:solidFill>
          <a:ln w="28575">
            <a:solidFill>
              <a:srgbClr val="000000"/>
            </a:solidFill>
          </a:ln>
          <a:effectLst>
            <a:innerShdw blurRad="63500" dist="50800" dir="2700000">
              <a:prstClr val="black">
                <a:alpha val="50000"/>
              </a:prstClr>
            </a:innerShdw>
          </a:effectLst>
        </p:spPr>
        <p:txBody>
          <a:bodyPr wrap="square" rtlCol="0">
            <a:spAutoFit/>
          </a:bodyPr>
          <a:lstStyle/>
          <a:p>
            <a:pPr algn="ctr" defTabSz="914400" fontAlgn="base">
              <a:spcBef>
                <a:spcPct val="50000"/>
              </a:spcBef>
              <a:spcAft>
                <a:spcPct val="0"/>
              </a:spcAft>
              <a:defRPr/>
            </a:pPr>
            <a:r>
              <a:rPr lang="en-US" altLang="zh-CN" sz="1050" b="1" kern="0" dirty="0">
                <a:solidFill>
                  <a:srgbClr val="000000"/>
                </a:solidFill>
                <a:latin typeface="Arial"/>
                <a:ea typeface="宋体" charset="-122"/>
              </a:rPr>
              <a:t>Reset  behavior is defined in the code (optional)</a:t>
            </a:r>
          </a:p>
        </p:txBody>
      </p:sp>
      <p:sp>
        <p:nvSpPr>
          <p:cNvPr id="31" name="TextBox 30">
            <a:extLst>
              <a:ext uri="{FF2B5EF4-FFF2-40B4-BE49-F238E27FC236}">
                <a16:creationId xmlns:a16="http://schemas.microsoft.com/office/drawing/2014/main" id="{4689497D-2080-49E3-9EB7-55848C4F52D6}"/>
              </a:ext>
            </a:extLst>
          </p:cNvPr>
          <p:cNvSpPr txBox="1"/>
          <p:nvPr/>
        </p:nvSpPr>
        <p:spPr>
          <a:xfrm>
            <a:off x="9781921" y="1700775"/>
            <a:ext cx="1023867" cy="253916"/>
          </a:xfrm>
          <a:prstGeom prst="rect">
            <a:avLst/>
          </a:prstGeom>
          <a:solidFill>
            <a:srgbClr val="7030A0"/>
          </a:solidFill>
          <a:ln w="9525" cap="flat" cmpd="sng" algn="ctr">
            <a:solidFill>
              <a:srgbClr val="3F3F3F">
                <a:shade val="95000"/>
                <a:satMod val="105000"/>
              </a:srgbClr>
            </a:solidFill>
            <a:prstDash val="solid"/>
          </a:ln>
          <a:effectLst>
            <a:outerShdw blurRad="40000" dist="23000" dir="5400000" rotWithShape="0">
              <a:srgbClr val="000000">
                <a:alpha val="35000"/>
              </a:srgbClr>
            </a:outerShdw>
          </a:effectLst>
        </p:spPr>
        <p:txBody>
          <a:bodyPr wrap="square" rtlCol="0">
            <a:spAutoFit/>
          </a:bodyPr>
          <a:lstStyle/>
          <a:p>
            <a:pPr algn="ctr" defTabSz="914400" fontAlgn="base">
              <a:spcBef>
                <a:spcPct val="0"/>
              </a:spcBef>
              <a:spcAft>
                <a:spcPct val="0"/>
              </a:spcAft>
              <a:defRPr/>
            </a:pPr>
            <a:r>
              <a:rPr lang="en-US" sz="1050" b="1" kern="0" dirty="0">
                <a:solidFill>
                  <a:srgbClr val="FFFFFF"/>
                </a:solidFill>
                <a:latin typeface="Arial"/>
              </a:rPr>
              <a:t>fir.cpp</a:t>
            </a:r>
          </a:p>
        </p:txBody>
      </p:sp>
      <p:sp>
        <p:nvSpPr>
          <p:cNvPr id="32" name="TextBox 31">
            <a:extLst>
              <a:ext uri="{FF2B5EF4-FFF2-40B4-BE49-F238E27FC236}">
                <a16:creationId xmlns:a16="http://schemas.microsoft.com/office/drawing/2014/main" id="{AC1DFB1D-92D5-410B-9A58-A8C8BE38FF7E}"/>
              </a:ext>
            </a:extLst>
          </p:cNvPr>
          <p:cNvSpPr txBox="1"/>
          <p:nvPr/>
        </p:nvSpPr>
        <p:spPr>
          <a:xfrm>
            <a:off x="8960421" y="4895347"/>
            <a:ext cx="3071600" cy="415498"/>
          </a:xfrm>
          <a:prstGeom prst="rect">
            <a:avLst/>
          </a:prstGeom>
          <a:solidFill>
            <a:srgbClr val="FFFF99"/>
          </a:solidFill>
          <a:ln w="28575">
            <a:solidFill>
              <a:srgbClr val="000000"/>
            </a:solidFill>
          </a:ln>
          <a:effectLst>
            <a:innerShdw blurRad="63500" dist="50800" dir="2700000">
              <a:prstClr val="black">
                <a:alpha val="50000"/>
              </a:prstClr>
            </a:innerShdw>
          </a:effectLst>
        </p:spPr>
        <p:txBody>
          <a:bodyPr wrap="square" rtlCol="0">
            <a:spAutoFit/>
          </a:bodyPr>
          <a:lstStyle/>
          <a:p>
            <a:pPr algn="ctr" defTabSz="914400" fontAlgn="base">
              <a:spcBef>
                <a:spcPct val="50000"/>
              </a:spcBef>
              <a:spcAft>
                <a:spcPct val="0"/>
              </a:spcAft>
              <a:defRPr/>
            </a:pPr>
            <a:r>
              <a:rPr lang="en-US" altLang="zh-CN" sz="1050" b="1" kern="0" dirty="0">
                <a:solidFill>
                  <a:srgbClr val="000000"/>
                </a:solidFill>
                <a:latin typeface="Arial"/>
                <a:ea typeface="宋体" charset="-122"/>
              </a:rPr>
              <a:t>Wait() allows for a break in the infinitive processing loop</a:t>
            </a:r>
          </a:p>
        </p:txBody>
      </p:sp>
      <p:cxnSp>
        <p:nvCxnSpPr>
          <p:cNvPr id="33" name="Straight Arrow Connector 32">
            <a:extLst>
              <a:ext uri="{FF2B5EF4-FFF2-40B4-BE49-F238E27FC236}">
                <a16:creationId xmlns:a16="http://schemas.microsoft.com/office/drawing/2014/main" id="{11B00696-BDFB-4F27-B7EB-BD61F4E410D4}"/>
              </a:ext>
            </a:extLst>
          </p:cNvPr>
          <p:cNvCxnSpPr/>
          <p:nvPr/>
        </p:nvCxnSpPr>
        <p:spPr>
          <a:xfrm flipH="1">
            <a:off x="8758055" y="2392065"/>
            <a:ext cx="2406085" cy="0"/>
          </a:xfrm>
          <a:prstGeom prst="straightConnector1">
            <a:avLst/>
          </a:prstGeom>
          <a:noFill/>
          <a:ln w="38100" cap="flat" cmpd="sng" algn="ctr">
            <a:solidFill>
              <a:srgbClr val="000000"/>
            </a:solidFill>
            <a:prstDash val="solid"/>
            <a:headEnd type="none" w="med" len="med"/>
            <a:tailEnd type="triangle" w="med" len="med"/>
          </a:ln>
          <a:effectLst>
            <a:outerShdw blurRad="40000" dist="20000" dir="5400000" rotWithShape="0">
              <a:srgbClr val="000000">
                <a:alpha val="38000"/>
              </a:srgbClr>
            </a:outerShdw>
          </a:effectLst>
        </p:spPr>
      </p:cxnSp>
      <p:sp>
        <p:nvSpPr>
          <p:cNvPr id="34" name="TextBox 33">
            <a:extLst>
              <a:ext uri="{FF2B5EF4-FFF2-40B4-BE49-F238E27FC236}">
                <a16:creationId xmlns:a16="http://schemas.microsoft.com/office/drawing/2014/main" id="{453E2919-1559-4BFA-B4D5-425B7729144F}"/>
              </a:ext>
            </a:extLst>
          </p:cNvPr>
          <p:cNvSpPr txBox="1"/>
          <p:nvPr/>
        </p:nvSpPr>
        <p:spPr>
          <a:xfrm>
            <a:off x="10652207" y="2276850"/>
            <a:ext cx="1228640" cy="253916"/>
          </a:xfrm>
          <a:prstGeom prst="rect">
            <a:avLst/>
          </a:prstGeom>
          <a:solidFill>
            <a:srgbClr val="7030A0"/>
          </a:solidFill>
          <a:ln w="9525" cap="flat" cmpd="sng" algn="ctr">
            <a:solidFill>
              <a:srgbClr val="3F3F3F">
                <a:shade val="95000"/>
                <a:satMod val="105000"/>
              </a:srgbClr>
            </a:solidFill>
            <a:prstDash val="solid"/>
          </a:ln>
          <a:effectLst>
            <a:outerShdw blurRad="40000" dist="23000" dir="5400000" rotWithShape="0">
              <a:srgbClr val="000000">
                <a:alpha val="35000"/>
              </a:srgbClr>
            </a:outerShdw>
          </a:effectLst>
        </p:spPr>
        <p:txBody>
          <a:bodyPr wrap="square" rtlCol="0">
            <a:spAutoFit/>
          </a:bodyPr>
          <a:lstStyle/>
          <a:p>
            <a:pPr algn="ctr" defTabSz="914400" fontAlgn="base">
              <a:spcBef>
                <a:spcPct val="0"/>
              </a:spcBef>
              <a:spcAft>
                <a:spcPct val="0"/>
              </a:spcAft>
              <a:defRPr/>
            </a:pPr>
            <a:r>
              <a:rPr lang="en-US" sz="1050" b="1" kern="0" dirty="0" err="1">
                <a:solidFill>
                  <a:srgbClr val="FFFFFF"/>
                </a:solidFill>
                <a:latin typeface="Arial"/>
              </a:rPr>
              <a:t>fir_coeff.h</a:t>
            </a:r>
            <a:endParaRPr lang="en-US" sz="1050" b="1" kern="0" dirty="0">
              <a:solidFill>
                <a:srgbClr val="FFFFFF"/>
              </a:solidFill>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p:cNvSpPr>
            <a:spLocks noGrp="1"/>
          </p:cNvSpPr>
          <p:nvPr>
            <p:ph type="title"/>
          </p:nvPr>
        </p:nvSpPr>
        <p:spPr/>
        <p:txBody>
          <a:bodyPr/>
          <a:lstStyle/>
          <a:p>
            <a:r>
              <a:rPr lang="en-US" altLang="zh-CN" dirty="0">
                <a:ea typeface="宋体" charset="-122"/>
              </a:rPr>
              <a:t>Unsupported C/C++ Constructs: Overview</a:t>
            </a:r>
          </a:p>
        </p:txBody>
      </p:sp>
      <p:sp>
        <p:nvSpPr>
          <p:cNvPr id="36866" name="Rectangle 3"/>
          <p:cNvSpPr>
            <a:spLocks noGrp="1"/>
          </p:cNvSpPr>
          <p:nvPr>
            <p:ph idx="1"/>
          </p:nvPr>
        </p:nvSpPr>
        <p:spPr/>
        <p:txBody>
          <a:bodyPr>
            <a:normAutofit fontScale="77500" lnSpcReduction="20000"/>
          </a:bodyPr>
          <a:lstStyle/>
          <a:p>
            <a:r>
              <a:rPr lang="en-US" altLang="zh-CN" sz="2600" dirty="0">
                <a:ea typeface="宋体" charset="-122"/>
              </a:rPr>
              <a:t>System calls and function pointers</a:t>
            </a:r>
          </a:p>
          <a:p>
            <a:pPr lvl="1"/>
            <a:r>
              <a:rPr lang="en-US" altLang="zh-CN" sz="2300" dirty="0">
                <a:ea typeface="宋体" charset="-122"/>
              </a:rPr>
              <a:t>Dynamic memory allocation</a:t>
            </a:r>
          </a:p>
          <a:p>
            <a:pPr lvl="2"/>
            <a:r>
              <a:rPr lang="en-US" altLang="zh-CN" sz="2000" dirty="0">
                <a:ea typeface="宋体" charset="-122"/>
              </a:rPr>
              <a:t>malloc()/free()/</a:t>
            </a:r>
            <a:r>
              <a:rPr lang="en-US" altLang="zh-CN" sz="2000" dirty="0" err="1">
                <a:ea typeface="宋体" charset="-122"/>
              </a:rPr>
              <a:t>alloc</a:t>
            </a:r>
            <a:r>
              <a:rPr lang="en-US" altLang="zh-CN" sz="2000" dirty="0">
                <a:ea typeface="宋体" charset="-122"/>
              </a:rPr>
              <a:t>()</a:t>
            </a:r>
          </a:p>
          <a:p>
            <a:pPr lvl="1"/>
            <a:r>
              <a:rPr lang="en-US" altLang="zh-CN" sz="2300" dirty="0">
                <a:ea typeface="宋体" charset="-122"/>
              </a:rPr>
              <a:t>Standard I/0 and file I/O operations</a:t>
            </a:r>
          </a:p>
          <a:p>
            <a:pPr lvl="2"/>
            <a:r>
              <a:rPr lang="en-US" altLang="zh-CN" sz="2000" dirty="0">
                <a:ea typeface="宋体" charset="-122"/>
              </a:rPr>
              <a:t>fprintf() / fscanf() etc.</a:t>
            </a:r>
          </a:p>
          <a:p>
            <a:pPr lvl="1"/>
            <a:r>
              <a:rPr lang="en-US" altLang="zh-CN" sz="2300" dirty="0">
                <a:ea typeface="宋体" charset="-122"/>
              </a:rPr>
              <a:t>System calls</a:t>
            </a:r>
          </a:p>
          <a:p>
            <a:pPr lvl="2"/>
            <a:r>
              <a:rPr lang="en-US" altLang="zh-CN" sz="2000" dirty="0">
                <a:ea typeface="宋体" charset="-122"/>
              </a:rPr>
              <a:t>time(), sleep() etc.</a:t>
            </a:r>
          </a:p>
          <a:p>
            <a:r>
              <a:rPr lang="en-US" altLang="zh-CN" sz="2600" dirty="0">
                <a:ea typeface="宋体" charset="-122"/>
              </a:rPr>
              <a:t>Recursive Functions</a:t>
            </a:r>
          </a:p>
          <a:p>
            <a:pPr lvl="1"/>
            <a:r>
              <a:rPr lang="en-US" dirty="0"/>
              <a:t>Recursive functions cannot be synthesized. This applies to functions that can form endless recursion</a:t>
            </a:r>
          </a:p>
          <a:p>
            <a:pPr lvl="1"/>
            <a:r>
              <a:rPr lang="en-US" dirty="0" err="1"/>
              <a:t>Vitis</a:t>
            </a:r>
            <a:r>
              <a:rPr lang="en-US" dirty="0"/>
              <a:t> HLS also does not support tail recursion, in which there is a finite number of function calls</a:t>
            </a:r>
            <a:endParaRPr lang="en-US" altLang="zh-CN" sz="2200" dirty="0">
              <a:ea typeface="宋体" charset="-122"/>
            </a:endParaRPr>
          </a:p>
          <a:p>
            <a:r>
              <a:rPr lang="en-US" altLang="zh-CN" sz="2600" dirty="0">
                <a:ea typeface="宋体" charset="-122"/>
              </a:rPr>
              <a:t>Non-standard Pointers</a:t>
            </a:r>
          </a:p>
          <a:p>
            <a:pPr lvl="1"/>
            <a:r>
              <a:rPr lang="en-US" altLang="zh-CN" sz="2300" dirty="0">
                <a:ea typeface="宋体" charset="-122"/>
              </a:rPr>
              <a:t>Pointer casting between general data types</a:t>
            </a:r>
          </a:p>
          <a:p>
            <a:pPr lvl="2"/>
            <a:r>
              <a:rPr lang="en-US" altLang="zh-CN" sz="2000" dirty="0">
                <a:ea typeface="宋体" charset="-122"/>
              </a:rPr>
              <a:t>OK with native integers types</a:t>
            </a:r>
          </a:p>
          <a:p>
            <a:pPr lvl="1"/>
            <a:r>
              <a:rPr lang="en-US" altLang="zh-CN" sz="2300" dirty="0">
                <a:ea typeface="宋体" charset="-122"/>
              </a:rPr>
              <a:t>Function pointers are not supported. </a:t>
            </a:r>
          </a:p>
          <a:p>
            <a:pPr lvl="2"/>
            <a:r>
              <a:rPr lang="en-US" altLang="zh-CN" sz="2000" dirty="0">
                <a:ea typeface="宋体" charset="-122"/>
              </a:rPr>
              <a:t>Pointer to pointer is not supported.</a:t>
            </a:r>
          </a:p>
        </p:txBody>
      </p:sp>
      <p:sp>
        <p:nvSpPr>
          <p:cNvPr id="5" name="Slide Number Placeholder 5">
            <a:extLst>
              <a:ext uri="{FF2B5EF4-FFF2-40B4-BE49-F238E27FC236}">
                <a16:creationId xmlns:a16="http://schemas.microsoft.com/office/drawing/2014/main" id="{2DD5F0BB-DC09-41B7-A853-C97E0C5A73AF}"/>
              </a:ext>
            </a:extLst>
          </p:cNvPr>
          <p:cNvSpPr>
            <a:spLocks noGrp="1"/>
          </p:cNvSpPr>
          <p:nvPr>
            <p:ph type="sldNum" sz="quarter" idx="4"/>
          </p:nvPr>
        </p:nvSpPr>
        <p:spPr/>
        <p:txBody>
          <a:bodyPr/>
          <a:lstStyle/>
          <a:p>
            <a:pPr>
              <a:defRPr/>
            </a:pPr>
            <a:r>
              <a:rPr lang="en-US" dirty="0"/>
              <a:t>Coding Considerations 23- </a:t>
            </a:r>
            <a:fld id="{060BD193-E118-4B16-863C-C8C12C675E3E}" type="slidenum">
              <a:rPr lang="en-US" smtClean="0"/>
              <a:pPr>
                <a:defRPr/>
              </a:pPr>
              <a:t>19</a:t>
            </a:fld>
            <a:endParaRPr lang="en-US" dirty="0"/>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6865" name="Rectangle 2"/>
          <p:cNvSpPr>
            <a:spLocks noGrp="1"/>
          </p:cNvSpPr>
          <p:nvPr>
            <p:ph type="title"/>
          </p:nvPr>
        </p:nvSpPr>
        <p:spPr/>
        <p:txBody>
          <a:bodyPr/>
          <a:lstStyle/>
          <a:p>
            <a:r>
              <a:rPr lang="en-US" altLang="zh-CN" dirty="0">
                <a:ea typeface="宋体" charset="-122"/>
              </a:rPr>
              <a:t>Unsupported </a:t>
            </a:r>
            <a:r>
              <a:rPr lang="en-US" altLang="zh-CN" dirty="0">
                <a:highlight>
                  <a:srgbClr val="FFFF00"/>
                </a:highlight>
                <a:ea typeface="宋体" charset="-122"/>
              </a:rPr>
              <a:t>C/C++ </a:t>
            </a:r>
            <a:r>
              <a:rPr lang="en-US" altLang="zh-CN" dirty="0">
                <a:ea typeface="宋体" charset="-122"/>
              </a:rPr>
              <a:t>Constructs: Overview</a:t>
            </a:r>
          </a:p>
        </p:txBody>
      </p:sp>
      <p:sp>
        <p:nvSpPr>
          <p:cNvPr id="36866" name="Rectangle 3"/>
          <p:cNvSpPr>
            <a:spLocks noGrp="1"/>
          </p:cNvSpPr>
          <p:nvPr>
            <p:ph idx="1"/>
          </p:nvPr>
        </p:nvSpPr>
        <p:spPr/>
        <p:txBody>
          <a:bodyPr>
            <a:normAutofit fontScale="55000" lnSpcReduction="20000"/>
          </a:bodyPr>
          <a:lstStyle/>
          <a:p>
            <a:r>
              <a:rPr lang="en-US" altLang="zh-CN" sz="2600" dirty="0">
                <a:ea typeface="宋体" charset="-122"/>
              </a:rPr>
              <a:t>System calls and function pointers</a:t>
            </a:r>
          </a:p>
          <a:p>
            <a:pPr lvl="1"/>
            <a:r>
              <a:rPr lang="en-US" altLang="zh-CN" sz="2300" dirty="0">
                <a:ea typeface="宋体" charset="-122"/>
              </a:rPr>
              <a:t>Dynamic memory allocation</a:t>
            </a:r>
          </a:p>
          <a:p>
            <a:pPr lvl="2"/>
            <a:r>
              <a:rPr lang="en-US" altLang="zh-CN" sz="2000" dirty="0">
                <a:ea typeface="宋体" charset="-122"/>
              </a:rPr>
              <a:t>malloc()  </a:t>
            </a:r>
            <a:r>
              <a:rPr lang="en-US" altLang="zh-CN" sz="2000" strike="sngStrike" dirty="0">
                <a:ea typeface="宋体" charset="-122"/>
              </a:rPr>
              <a:t>&amp; </a:t>
            </a:r>
            <a:r>
              <a:rPr lang="en-US" altLang="zh-CN" sz="2000" dirty="0">
                <a:ea typeface="宋体" charset="-122"/>
              </a:rPr>
              <a:t>/free()/</a:t>
            </a:r>
            <a:r>
              <a:rPr lang="en-US" altLang="zh-CN" sz="2000" dirty="0" err="1">
                <a:highlight>
                  <a:srgbClr val="FFFF00"/>
                </a:highlight>
                <a:ea typeface="宋体" charset="-122"/>
              </a:rPr>
              <a:t>alloc</a:t>
            </a:r>
            <a:r>
              <a:rPr lang="en-US" altLang="zh-CN" sz="2000" dirty="0">
                <a:highlight>
                  <a:srgbClr val="FFFF00"/>
                </a:highlight>
                <a:ea typeface="宋体" charset="-122"/>
              </a:rPr>
              <a:t>()</a:t>
            </a:r>
          </a:p>
          <a:p>
            <a:pPr lvl="1"/>
            <a:r>
              <a:rPr lang="en-US" altLang="zh-CN" sz="2300" dirty="0">
                <a:ea typeface="宋体" charset="-122"/>
              </a:rPr>
              <a:t>Standard I/0 and file I/O operations</a:t>
            </a:r>
          </a:p>
          <a:p>
            <a:pPr lvl="2"/>
            <a:r>
              <a:rPr lang="en-US" altLang="zh-CN" sz="2000" dirty="0">
                <a:ea typeface="宋体" charset="-122"/>
              </a:rPr>
              <a:t>fprintf() / fscanf() etc.</a:t>
            </a:r>
          </a:p>
          <a:p>
            <a:pPr lvl="1"/>
            <a:r>
              <a:rPr lang="en-US" altLang="zh-CN" sz="2300" dirty="0">
                <a:ea typeface="宋体" charset="-122"/>
              </a:rPr>
              <a:t>System calls</a:t>
            </a:r>
          </a:p>
          <a:p>
            <a:pPr lvl="2"/>
            <a:r>
              <a:rPr lang="en-US" altLang="zh-CN" sz="2000" dirty="0">
                <a:ea typeface="宋体" charset="-122"/>
              </a:rPr>
              <a:t>time(), sleep() etc.</a:t>
            </a:r>
          </a:p>
          <a:p>
            <a:r>
              <a:rPr lang="en-US" altLang="zh-CN" sz="2600" strike="sngStrike" dirty="0">
                <a:ea typeface="宋体" charset="-122"/>
              </a:rPr>
              <a:t>Data types</a:t>
            </a:r>
          </a:p>
          <a:p>
            <a:pPr lvl="1"/>
            <a:r>
              <a:rPr lang="en-US" altLang="zh-CN" sz="2300" strike="sngStrike" dirty="0">
                <a:ea typeface="宋体" charset="-122"/>
              </a:rPr>
              <a:t>Forward declared type</a:t>
            </a:r>
          </a:p>
          <a:p>
            <a:pPr lvl="1"/>
            <a:r>
              <a:rPr lang="en-US" altLang="zh-CN" sz="2300" strike="sngStrike" dirty="0">
                <a:ea typeface="宋体" charset="-122"/>
              </a:rPr>
              <a:t>Recursive type definitions</a:t>
            </a:r>
          </a:p>
          <a:p>
            <a:pPr lvl="2"/>
            <a:r>
              <a:rPr lang="en-US" altLang="zh-CN" sz="2000" strike="sngStrike" dirty="0">
                <a:ea typeface="宋体" charset="-122"/>
              </a:rPr>
              <a:t>Type contains members with the same type</a:t>
            </a:r>
            <a:endParaRPr lang="en-US" altLang="zh-CN" sz="1700" strike="sngStrike" dirty="0">
              <a:ea typeface="宋体" charset="-122"/>
            </a:endParaRPr>
          </a:p>
          <a:p>
            <a:r>
              <a:rPr lang="en-US" altLang="zh-CN" sz="2600" dirty="0">
                <a:highlight>
                  <a:srgbClr val="FFFF00"/>
                </a:highlight>
                <a:ea typeface="宋体" charset="-122"/>
              </a:rPr>
              <a:t>Recursive Functions</a:t>
            </a:r>
          </a:p>
          <a:p>
            <a:pPr lvl="1"/>
            <a:r>
              <a:rPr lang="en-US" dirty="0">
                <a:highlight>
                  <a:srgbClr val="FFFF00"/>
                </a:highlight>
              </a:rPr>
              <a:t>Recursive functions cannot be synthesized. This applies to functions that can form endless recursion</a:t>
            </a:r>
          </a:p>
          <a:p>
            <a:pPr lvl="1"/>
            <a:r>
              <a:rPr lang="en-US" dirty="0" err="1">
                <a:highlight>
                  <a:srgbClr val="FFFF00"/>
                </a:highlight>
              </a:rPr>
              <a:t>Vitis</a:t>
            </a:r>
            <a:r>
              <a:rPr lang="en-US" dirty="0">
                <a:highlight>
                  <a:srgbClr val="FFFF00"/>
                </a:highlight>
              </a:rPr>
              <a:t> HLS also does not support tail recursion, in which there is a finite number of function calls</a:t>
            </a:r>
            <a:endParaRPr lang="en-US" altLang="zh-CN" sz="2200" dirty="0">
              <a:highlight>
                <a:srgbClr val="FFFF00"/>
              </a:highlight>
              <a:ea typeface="宋体" charset="-122"/>
            </a:endParaRPr>
          </a:p>
          <a:p>
            <a:r>
              <a:rPr lang="en-US" altLang="zh-CN" sz="2600" dirty="0">
                <a:ea typeface="宋体" charset="-122"/>
              </a:rPr>
              <a:t>Non-standard Pointers</a:t>
            </a:r>
          </a:p>
          <a:p>
            <a:pPr lvl="1"/>
            <a:r>
              <a:rPr lang="en-US" altLang="zh-CN" sz="2300" dirty="0">
                <a:ea typeface="宋体" charset="-122"/>
              </a:rPr>
              <a:t>Pointer casting between general data types</a:t>
            </a:r>
          </a:p>
          <a:p>
            <a:pPr lvl="2"/>
            <a:r>
              <a:rPr lang="en-US" altLang="zh-CN" sz="2000" dirty="0">
                <a:ea typeface="宋体" charset="-122"/>
              </a:rPr>
              <a:t>OK with native integers types</a:t>
            </a:r>
          </a:p>
          <a:p>
            <a:pPr lvl="1"/>
            <a:r>
              <a:rPr lang="en-US" altLang="zh-CN" sz="2300" strike="sngStrike" dirty="0">
                <a:ea typeface="宋体" charset="-122"/>
              </a:rPr>
              <a:t>If a double pointer is used in multiple functions, </a:t>
            </a:r>
            <a:r>
              <a:rPr lang="en-US" altLang="zh-CN" sz="2300" strike="sngStrike" dirty="0" err="1">
                <a:ea typeface="宋体" charset="-122"/>
              </a:rPr>
              <a:t>Vivado</a:t>
            </a:r>
            <a:r>
              <a:rPr lang="en-US" altLang="zh-CN" sz="2300" strike="sngStrike" dirty="0">
                <a:ea typeface="宋体" charset="-122"/>
              </a:rPr>
              <a:t> HLS will inline all the functions </a:t>
            </a:r>
          </a:p>
          <a:p>
            <a:pPr lvl="2"/>
            <a:r>
              <a:rPr lang="en-US" altLang="zh-CN" sz="2000" strike="sngStrike" dirty="0">
                <a:ea typeface="宋体" charset="-122"/>
              </a:rPr>
              <a:t>Slower synthesis, may increase area &amp; run time</a:t>
            </a:r>
          </a:p>
          <a:p>
            <a:pPr lvl="1"/>
            <a:r>
              <a:rPr lang="en-US" altLang="zh-CN" sz="2300" dirty="0">
                <a:highlight>
                  <a:srgbClr val="FFFF00"/>
                </a:highlight>
                <a:ea typeface="宋体" charset="-122"/>
              </a:rPr>
              <a:t>Function pointers are not supported. </a:t>
            </a:r>
          </a:p>
          <a:p>
            <a:pPr lvl="2"/>
            <a:r>
              <a:rPr lang="en-US" altLang="zh-CN" sz="2000" dirty="0">
                <a:highlight>
                  <a:srgbClr val="FFFF00"/>
                </a:highlight>
                <a:ea typeface="宋体" charset="-122"/>
              </a:rPr>
              <a:t>Pointer to pointer is not supported.</a:t>
            </a:r>
          </a:p>
        </p:txBody>
      </p:sp>
      <p:sp>
        <p:nvSpPr>
          <p:cNvPr id="7" name="Slide Number Placeholder 6"/>
          <p:cNvSpPr>
            <a:spLocks noGrp="1"/>
          </p:cNvSpPr>
          <p:nvPr>
            <p:ph type="sldNum" sz="quarter" idx="10"/>
          </p:nvPr>
        </p:nvSpPr>
        <p:spPr/>
        <p:txBody>
          <a:bodyPr/>
          <a:lstStyle/>
          <a:p>
            <a:pPr defTabSz="914400">
              <a:defRPr/>
            </a:pPr>
            <a:r>
              <a:rPr lang="en-US" dirty="0">
                <a:solidFill>
                  <a:srgbClr val="0C0C0C">
                    <a:tint val="75000"/>
                  </a:srgbClr>
                </a:solidFill>
                <a:latin typeface="Arial"/>
              </a:rPr>
              <a:t>Coding Considerations 23- </a:t>
            </a:r>
            <a:fld id="{060BD193-E118-4B16-863C-C8C12C675E3E}" type="slidenum">
              <a:rPr lang="en-US">
                <a:solidFill>
                  <a:srgbClr val="0C0C0C">
                    <a:tint val="75000"/>
                  </a:srgbClr>
                </a:solidFill>
                <a:latin typeface="Arial"/>
              </a:rPr>
              <a:pPr defTabSz="914400">
                <a:defRPr/>
              </a:pPr>
              <a:t>20</a:t>
            </a:fld>
            <a:endParaRPr lang="en-US" dirty="0">
              <a:solidFill>
                <a:srgbClr val="0C0C0C">
                  <a:tint val="75000"/>
                </a:srgbClr>
              </a:solidFill>
              <a:latin typeface="Arial"/>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p:cNvSpPr>
            <a:spLocks noGrp="1"/>
          </p:cNvSpPr>
          <p:nvPr>
            <p:ph type="title"/>
          </p:nvPr>
        </p:nvSpPr>
        <p:spPr/>
        <p:txBody>
          <a:bodyPr/>
          <a:lstStyle/>
          <a:p>
            <a:r>
              <a:rPr lang="en-US" altLang="zh-CN" dirty="0">
                <a:ea typeface="宋体" charset="-122"/>
              </a:rPr>
              <a:t>Unsupported: Dynamic Memory Allocation</a:t>
            </a:r>
          </a:p>
        </p:txBody>
      </p:sp>
      <p:sp>
        <p:nvSpPr>
          <p:cNvPr id="38914" name="Rectangle 3"/>
          <p:cNvSpPr>
            <a:spLocks noGrp="1"/>
          </p:cNvSpPr>
          <p:nvPr>
            <p:ph idx="1"/>
          </p:nvPr>
        </p:nvSpPr>
        <p:spPr/>
        <p:txBody>
          <a:bodyPr/>
          <a:lstStyle/>
          <a:p>
            <a:r>
              <a:rPr lang="en-US" altLang="zh-CN" dirty="0">
                <a:ea typeface="宋体" charset="-122"/>
              </a:rPr>
              <a:t>Dynamic memory allocation</a:t>
            </a:r>
          </a:p>
          <a:p>
            <a:pPr lvl="1"/>
            <a:r>
              <a:rPr lang="en-US" altLang="zh-CN" dirty="0">
                <a:ea typeface="宋体" charset="-122"/>
              </a:rPr>
              <a:t>Not allowed since it requires the construction (or destruction) of hardware at runtime</a:t>
            </a:r>
          </a:p>
          <a:p>
            <a:pPr lvl="1"/>
            <a:r>
              <a:rPr lang="en-US" altLang="zh-CN" i="1" dirty="0">
                <a:ea typeface="宋体" charset="-122"/>
              </a:rPr>
              <a:t>malloc</a:t>
            </a:r>
            <a:r>
              <a:rPr lang="en-US" altLang="zh-CN" dirty="0">
                <a:ea typeface="宋体" charset="-122"/>
              </a:rPr>
              <a:t>, </a:t>
            </a:r>
            <a:r>
              <a:rPr lang="en-US" altLang="zh-CN" i="1" dirty="0">
                <a:ea typeface="宋体" charset="-122"/>
              </a:rPr>
              <a:t>alloc</a:t>
            </a:r>
            <a:r>
              <a:rPr lang="en-US" altLang="zh-CN" dirty="0">
                <a:ea typeface="宋体" charset="-122"/>
              </a:rPr>
              <a:t>, </a:t>
            </a:r>
            <a:r>
              <a:rPr lang="en-US" altLang="zh-CN" i="1" dirty="0">
                <a:ea typeface="宋体" charset="-122"/>
              </a:rPr>
              <a:t>free</a:t>
            </a:r>
            <a:r>
              <a:rPr lang="en-US" altLang="zh-CN" dirty="0">
                <a:ea typeface="宋体" charset="-122"/>
              </a:rPr>
              <a:t> are </a:t>
            </a:r>
            <a:r>
              <a:rPr lang="en-US" altLang="zh-CN" b="1" u="sng" dirty="0">
                <a:ea typeface="宋体" charset="-122"/>
              </a:rPr>
              <a:t>not</a:t>
            </a:r>
            <a:r>
              <a:rPr lang="en-US" altLang="zh-CN" dirty="0">
                <a:ea typeface="宋体" charset="-122"/>
              </a:rPr>
              <a:t> synthesizable</a:t>
            </a:r>
          </a:p>
          <a:p>
            <a:pPr lvl="1"/>
            <a:r>
              <a:rPr lang="en-US" altLang="zh-CN" dirty="0">
                <a:ea typeface="宋体" charset="-122"/>
              </a:rPr>
              <a:t>Similarly for constructor initialization</a:t>
            </a:r>
          </a:p>
          <a:p>
            <a:pPr lvl="1">
              <a:buNone/>
            </a:pPr>
            <a:endParaRPr lang="en-US" altLang="zh-CN" dirty="0">
              <a:ea typeface="宋体" charset="-122"/>
            </a:endParaRPr>
          </a:p>
          <a:p>
            <a:pPr lvl="1"/>
            <a:r>
              <a:rPr lang="en-US" altLang="zh-CN" dirty="0">
                <a:ea typeface="宋体" charset="-122"/>
              </a:rPr>
              <a:t>Use persistent static variables and fixed-size arrays instead </a:t>
            </a:r>
          </a:p>
          <a:p>
            <a:pPr lvl="1"/>
            <a:endParaRPr lang="en-US" altLang="zh-CN" dirty="0">
              <a:ea typeface="宋体" charset="-122"/>
            </a:endParaRPr>
          </a:p>
          <a:p>
            <a:r>
              <a:rPr lang="en-US" altLang="zh-CN" dirty="0">
                <a:ea typeface="宋体" charset="-122"/>
              </a:rPr>
              <a:t>Dynamic virtual function call</a:t>
            </a:r>
          </a:p>
          <a:p>
            <a:pPr lvl="1"/>
            <a:r>
              <a:rPr lang="en-US" altLang="zh-CN" dirty="0">
                <a:ea typeface="宋体" charset="-122"/>
              </a:rPr>
              <a:t>Virtual Functions are not supported</a:t>
            </a:r>
          </a:p>
          <a:p>
            <a:endParaRPr lang="en-US" altLang="zh-CN" dirty="0">
              <a:ea typeface="宋体" charset="-122"/>
            </a:endParaRPr>
          </a:p>
          <a:p>
            <a:pPr lvl="1"/>
            <a:endParaRPr lang="en-US" altLang="zh-CN" dirty="0">
              <a:ea typeface="宋体" charset="-122"/>
            </a:endParaRPr>
          </a:p>
          <a:p>
            <a:pPr lvl="1"/>
            <a:endParaRPr lang="en-US" altLang="zh-CN" dirty="0">
              <a:ea typeface="宋体" charset="-122"/>
            </a:endParaRPr>
          </a:p>
          <a:p>
            <a:pPr lvl="1"/>
            <a:endParaRPr lang="en-US" altLang="zh-CN" dirty="0">
              <a:ea typeface="宋体" charset="-122"/>
            </a:endParaRPr>
          </a:p>
          <a:p>
            <a:pPr lvl="2"/>
            <a:endParaRPr lang="en-US" altLang="zh-CN" dirty="0">
              <a:ea typeface="宋体" charset="-122"/>
            </a:endParaRPr>
          </a:p>
        </p:txBody>
      </p:sp>
      <p:sp>
        <p:nvSpPr>
          <p:cNvPr id="10" name="TextBox 9">
            <a:extLst>
              <a:ext uri="{FF2B5EF4-FFF2-40B4-BE49-F238E27FC236}">
                <a16:creationId xmlns:a16="http://schemas.microsoft.com/office/drawing/2014/main" id="{1C1E9F12-C505-4FB3-9EB1-3721ED7782A7}"/>
              </a:ext>
            </a:extLst>
          </p:cNvPr>
          <p:cNvSpPr txBox="1"/>
          <p:nvPr/>
        </p:nvSpPr>
        <p:spPr>
          <a:xfrm>
            <a:off x="7375834" y="2527421"/>
            <a:ext cx="3993080" cy="707886"/>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defRPr/>
            </a:pPr>
            <a:r>
              <a:rPr lang="en-US" altLang="zh-CN" sz="1000" kern="0" dirty="0">
                <a:solidFill>
                  <a:srgbClr val="000000"/>
                </a:solidFill>
                <a:latin typeface="Arial"/>
                <a:ea typeface="宋体" charset="-122"/>
              </a:rPr>
              <a:t>long long x = malloc (sizeof(long long));</a:t>
            </a:r>
          </a:p>
          <a:p>
            <a:pPr defTabSz="914400" fontAlgn="base">
              <a:spcBef>
                <a:spcPct val="0"/>
              </a:spcBef>
              <a:spcAft>
                <a:spcPct val="0"/>
              </a:spcAft>
              <a:defRPr/>
            </a:pPr>
            <a:endParaRPr lang="en-US" altLang="zh-CN" sz="1000" kern="0" dirty="0">
              <a:solidFill>
                <a:srgbClr val="000000"/>
              </a:solidFill>
              <a:latin typeface="Arial"/>
              <a:ea typeface="宋体" charset="-122"/>
            </a:endParaRPr>
          </a:p>
          <a:p>
            <a:pPr defTabSz="914400" fontAlgn="base">
              <a:spcBef>
                <a:spcPct val="0"/>
              </a:spcBef>
              <a:spcAft>
                <a:spcPct val="0"/>
              </a:spcAft>
              <a:defRPr/>
            </a:pPr>
            <a:r>
              <a:rPr lang="en-US" altLang="zh-CN" sz="1000" kern="0" dirty="0">
                <a:solidFill>
                  <a:srgbClr val="000000"/>
                </a:solidFill>
                <a:latin typeface="Arial"/>
                <a:ea typeface="宋体" charset="-122"/>
              </a:rPr>
              <a:t>int* arr = malloc (64 * sizeof(int));</a:t>
            </a:r>
          </a:p>
          <a:p>
            <a:pPr defTabSz="914400" fontAlgn="base">
              <a:spcBef>
                <a:spcPct val="0"/>
              </a:spcBef>
              <a:spcAft>
                <a:spcPct val="0"/>
              </a:spcAft>
              <a:defRPr/>
            </a:pPr>
            <a:endParaRPr lang="en-US" altLang="zh-CN" sz="1000" kern="0" dirty="0">
              <a:solidFill>
                <a:srgbClr val="000000"/>
              </a:solidFill>
              <a:latin typeface="Arial"/>
              <a:ea typeface="宋体" charset="-122"/>
            </a:endParaRPr>
          </a:p>
        </p:txBody>
      </p:sp>
      <p:sp>
        <p:nvSpPr>
          <p:cNvPr id="12" name="TextBox 11">
            <a:extLst>
              <a:ext uri="{FF2B5EF4-FFF2-40B4-BE49-F238E27FC236}">
                <a16:creationId xmlns:a16="http://schemas.microsoft.com/office/drawing/2014/main" id="{2AC4CEE9-D174-4BB1-9A2C-C8391763CD9E}"/>
              </a:ext>
            </a:extLst>
          </p:cNvPr>
          <p:cNvSpPr txBox="1"/>
          <p:nvPr/>
        </p:nvSpPr>
        <p:spPr>
          <a:xfrm>
            <a:off x="7375834" y="3700423"/>
            <a:ext cx="3993080" cy="707886"/>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defRPr/>
            </a:pPr>
            <a:r>
              <a:rPr lang="en-US" altLang="zh-CN" sz="1000" kern="0" dirty="0">
                <a:solidFill>
                  <a:srgbClr val="000000"/>
                </a:solidFill>
                <a:latin typeface="Arial"/>
                <a:ea typeface="宋体" charset="-122"/>
              </a:rPr>
              <a:t>static long long x;</a:t>
            </a:r>
          </a:p>
          <a:p>
            <a:pPr defTabSz="914400" fontAlgn="base">
              <a:spcBef>
                <a:spcPct val="0"/>
              </a:spcBef>
              <a:spcAft>
                <a:spcPct val="0"/>
              </a:spcAft>
              <a:defRPr/>
            </a:pPr>
            <a:endParaRPr lang="en-US" altLang="zh-CN" sz="1000" kern="0" dirty="0">
              <a:solidFill>
                <a:srgbClr val="000000"/>
              </a:solidFill>
              <a:latin typeface="Arial"/>
              <a:ea typeface="宋体" charset="-122"/>
            </a:endParaRPr>
          </a:p>
          <a:p>
            <a:pPr defTabSz="914400" fontAlgn="base">
              <a:spcBef>
                <a:spcPct val="0"/>
              </a:spcBef>
              <a:spcAft>
                <a:spcPct val="0"/>
              </a:spcAft>
              <a:defRPr/>
            </a:pPr>
            <a:r>
              <a:rPr lang="en-US" altLang="zh-CN" sz="1000" kern="0" dirty="0">
                <a:solidFill>
                  <a:srgbClr val="000000"/>
                </a:solidFill>
                <a:latin typeface="Arial"/>
                <a:ea typeface="宋体" charset="-122"/>
              </a:rPr>
              <a:t>int array[64];</a:t>
            </a:r>
          </a:p>
          <a:p>
            <a:pPr defTabSz="914400" fontAlgn="base">
              <a:spcBef>
                <a:spcPct val="0"/>
              </a:spcBef>
              <a:spcAft>
                <a:spcPct val="0"/>
              </a:spcAft>
              <a:defRPr/>
            </a:pPr>
            <a:endParaRPr lang="en-US" altLang="zh-CN" sz="1000" kern="0" dirty="0">
              <a:solidFill>
                <a:srgbClr val="000000"/>
              </a:solidFill>
              <a:latin typeface="Arial"/>
              <a:ea typeface="宋体" charset="-122"/>
            </a:endParaRPr>
          </a:p>
        </p:txBody>
      </p:sp>
      <p:sp>
        <p:nvSpPr>
          <p:cNvPr id="13" name="TextBox 12">
            <a:extLst>
              <a:ext uri="{FF2B5EF4-FFF2-40B4-BE49-F238E27FC236}">
                <a16:creationId xmlns:a16="http://schemas.microsoft.com/office/drawing/2014/main" id="{AF5CC799-425C-4286-9EDE-8921D4ACC68A}"/>
              </a:ext>
            </a:extLst>
          </p:cNvPr>
          <p:cNvSpPr txBox="1"/>
          <p:nvPr/>
        </p:nvSpPr>
        <p:spPr>
          <a:xfrm>
            <a:off x="5206825" y="4465935"/>
            <a:ext cx="2713247" cy="861774"/>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50000"/>
              </a:spcBef>
              <a:spcAft>
                <a:spcPct val="0"/>
              </a:spcAft>
              <a:defRPr/>
            </a:pPr>
            <a:r>
              <a:rPr lang="en-US" altLang="zh-CN" sz="1000" kern="0" dirty="0">
                <a:solidFill>
                  <a:srgbClr val="000000"/>
                </a:solidFill>
                <a:latin typeface="Arial"/>
                <a:ea typeface="宋体" charset="-122"/>
              </a:rPr>
              <a:t>Class A { </a:t>
            </a:r>
            <a:br>
              <a:rPr lang="en-US" altLang="zh-CN" sz="1000" kern="0" dirty="0">
                <a:solidFill>
                  <a:srgbClr val="000000"/>
                </a:solidFill>
                <a:latin typeface="Arial"/>
                <a:ea typeface="宋体" charset="-122"/>
              </a:rPr>
            </a:br>
            <a:r>
              <a:rPr lang="en-US" altLang="zh-CN" sz="1000" kern="0" dirty="0">
                <a:solidFill>
                  <a:srgbClr val="000000"/>
                </a:solidFill>
                <a:latin typeface="Arial"/>
                <a:ea typeface="宋体" charset="-122"/>
              </a:rPr>
              <a:t>public:</a:t>
            </a:r>
          </a:p>
          <a:p>
            <a:pPr defTabSz="914400" fontAlgn="base">
              <a:spcBef>
                <a:spcPct val="50000"/>
              </a:spcBef>
              <a:spcAft>
                <a:spcPct val="0"/>
              </a:spcAft>
              <a:defRPr/>
            </a:pPr>
            <a:r>
              <a:rPr lang="en-US" altLang="zh-CN" sz="1000" kern="0" dirty="0">
                <a:solidFill>
                  <a:srgbClr val="000000"/>
                </a:solidFill>
                <a:latin typeface="Arial"/>
                <a:ea typeface="宋体" charset="-122"/>
              </a:rPr>
              <a:t>  virtual void bar() {…}; </a:t>
            </a:r>
          </a:p>
          <a:p>
            <a:pPr defTabSz="914400" fontAlgn="base">
              <a:spcBef>
                <a:spcPct val="50000"/>
              </a:spcBef>
              <a:spcAft>
                <a:spcPct val="0"/>
              </a:spcAft>
              <a:defRPr/>
            </a:pPr>
            <a:r>
              <a:rPr lang="en-US" altLang="zh-CN" sz="1000" kern="0" dirty="0">
                <a:solidFill>
                  <a:srgbClr val="000000"/>
                </a:solidFill>
                <a:latin typeface="Arial"/>
                <a:ea typeface="宋体" charset="-122"/>
              </a:rPr>
              <a:t>};</a:t>
            </a:r>
          </a:p>
        </p:txBody>
      </p:sp>
      <p:sp>
        <p:nvSpPr>
          <p:cNvPr id="14" name="TextBox 13">
            <a:extLst>
              <a:ext uri="{FF2B5EF4-FFF2-40B4-BE49-F238E27FC236}">
                <a16:creationId xmlns:a16="http://schemas.microsoft.com/office/drawing/2014/main" id="{21470D86-D3D4-4E0A-A1C8-DC1E8FA071D8}"/>
              </a:ext>
            </a:extLst>
          </p:cNvPr>
          <p:cNvSpPr txBox="1"/>
          <p:nvPr/>
        </p:nvSpPr>
        <p:spPr>
          <a:xfrm>
            <a:off x="7203365" y="4888392"/>
            <a:ext cx="2713247" cy="1400383"/>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50000"/>
              </a:spcBef>
              <a:spcAft>
                <a:spcPct val="0"/>
              </a:spcAft>
              <a:defRPr/>
            </a:pPr>
            <a:r>
              <a:rPr lang="en-US" altLang="zh-CN" sz="1000" kern="0" dirty="0">
                <a:solidFill>
                  <a:srgbClr val="000000"/>
                </a:solidFill>
                <a:latin typeface="Arial"/>
                <a:ea typeface="宋体" charset="-122"/>
              </a:rPr>
              <a:t>void fun(A* a) { </a:t>
            </a:r>
            <a:br>
              <a:rPr lang="en-US" altLang="zh-CN" sz="1000" kern="0" dirty="0">
                <a:solidFill>
                  <a:srgbClr val="000000"/>
                </a:solidFill>
                <a:latin typeface="Arial"/>
                <a:ea typeface="宋体" charset="-122"/>
              </a:rPr>
            </a:br>
            <a:r>
              <a:rPr lang="en-US" altLang="zh-CN" sz="1000" kern="0" dirty="0">
                <a:solidFill>
                  <a:srgbClr val="000000"/>
                </a:solidFill>
                <a:latin typeface="Arial"/>
                <a:ea typeface="宋体" charset="-122"/>
              </a:rPr>
              <a:t>    a-&gt;bar(); </a:t>
            </a:r>
            <a:br>
              <a:rPr lang="en-US" altLang="zh-CN" sz="1000" kern="0" dirty="0">
                <a:solidFill>
                  <a:srgbClr val="000000"/>
                </a:solidFill>
                <a:latin typeface="Arial"/>
                <a:ea typeface="宋体" charset="-122"/>
              </a:rPr>
            </a:br>
            <a:r>
              <a:rPr lang="en-US" altLang="zh-CN" sz="1000" kern="0" dirty="0">
                <a:solidFill>
                  <a:srgbClr val="000000"/>
                </a:solidFill>
                <a:latin typeface="Arial"/>
                <a:ea typeface="宋体" charset="-122"/>
              </a:rPr>
              <a:t>}</a:t>
            </a:r>
          </a:p>
          <a:p>
            <a:pPr defTabSz="914400" fontAlgn="base">
              <a:spcBef>
                <a:spcPct val="50000"/>
              </a:spcBef>
              <a:spcAft>
                <a:spcPct val="0"/>
              </a:spcAft>
              <a:defRPr/>
            </a:pPr>
            <a:r>
              <a:rPr lang="en-US" altLang="zh-CN" sz="1000" kern="0" dirty="0">
                <a:solidFill>
                  <a:srgbClr val="000000"/>
                </a:solidFill>
                <a:latin typeface="Arial"/>
                <a:ea typeface="宋体" charset="-122"/>
              </a:rPr>
              <a:t>A* a = 0;</a:t>
            </a:r>
          </a:p>
          <a:p>
            <a:pPr defTabSz="914400" fontAlgn="base">
              <a:spcBef>
                <a:spcPct val="50000"/>
              </a:spcBef>
              <a:spcAft>
                <a:spcPct val="0"/>
              </a:spcAft>
              <a:defRPr/>
            </a:pPr>
            <a:r>
              <a:rPr lang="en-US" altLang="zh-CN" sz="1000" kern="0" dirty="0">
                <a:solidFill>
                  <a:srgbClr val="000000"/>
                </a:solidFill>
                <a:latin typeface="Arial"/>
                <a:ea typeface="宋体" charset="-122"/>
              </a:rPr>
              <a:t>if (base) A= </a:t>
            </a:r>
            <a:r>
              <a:rPr lang="en-US" altLang="zh-CN" sz="1000" b="1" kern="0" dirty="0">
                <a:solidFill>
                  <a:srgbClr val="000000"/>
                </a:solidFill>
                <a:latin typeface="Arial"/>
                <a:ea typeface="宋体" charset="-122"/>
              </a:rPr>
              <a:t>new</a:t>
            </a:r>
            <a:r>
              <a:rPr lang="en-US" altLang="zh-CN" sz="1000" kern="0" dirty="0">
                <a:solidFill>
                  <a:srgbClr val="000000"/>
                </a:solidFill>
                <a:latin typeface="Arial"/>
                <a:ea typeface="宋体" charset="-122"/>
              </a:rPr>
              <a:t> A();</a:t>
            </a:r>
            <a:br>
              <a:rPr lang="en-US" altLang="zh-CN" sz="1000" kern="0" dirty="0">
                <a:solidFill>
                  <a:srgbClr val="000000"/>
                </a:solidFill>
                <a:latin typeface="Arial"/>
                <a:ea typeface="宋体" charset="-122"/>
              </a:rPr>
            </a:br>
            <a:r>
              <a:rPr lang="en-US" altLang="zh-CN" sz="1000" kern="0" dirty="0">
                <a:solidFill>
                  <a:srgbClr val="000000"/>
                </a:solidFill>
                <a:latin typeface="Arial"/>
                <a:ea typeface="宋体" charset="-122"/>
              </a:rPr>
              <a:t>else A = </a:t>
            </a:r>
            <a:r>
              <a:rPr lang="en-US" altLang="zh-CN" sz="1000" b="1" kern="0" dirty="0">
                <a:solidFill>
                  <a:srgbClr val="000000"/>
                </a:solidFill>
                <a:latin typeface="Arial"/>
                <a:ea typeface="宋体" charset="-122"/>
              </a:rPr>
              <a:t>new</a:t>
            </a:r>
            <a:r>
              <a:rPr lang="en-US" altLang="zh-CN" sz="1000" kern="0" dirty="0">
                <a:solidFill>
                  <a:srgbClr val="000000"/>
                </a:solidFill>
                <a:latin typeface="Arial"/>
                <a:ea typeface="宋体" charset="-122"/>
              </a:rPr>
              <a:t> B();</a:t>
            </a:r>
          </a:p>
          <a:p>
            <a:pPr defTabSz="914400" fontAlgn="base">
              <a:spcBef>
                <a:spcPct val="50000"/>
              </a:spcBef>
              <a:spcAft>
                <a:spcPct val="0"/>
              </a:spcAft>
              <a:defRPr/>
            </a:pPr>
            <a:r>
              <a:rPr lang="en-US" altLang="zh-CN" sz="1000" kern="0" dirty="0">
                <a:solidFill>
                  <a:srgbClr val="000000"/>
                </a:solidFill>
                <a:latin typeface="Arial"/>
                <a:ea typeface="宋体" charset="-122"/>
              </a:rPr>
              <a:t>foo(a);</a:t>
            </a:r>
          </a:p>
        </p:txBody>
      </p:sp>
      <p:sp>
        <p:nvSpPr>
          <p:cNvPr id="9" name="Slide Number Placeholder 5">
            <a:extLst>
              <a:ext uri="{FF2B5EF4-FFF2-40B4-BE49-F238E27FC236}">
                <a16:creationId xmlns:a16="http://schemas.microsoft.com/office/drawing/2014/main" id="{F1E77CED-D37F-448B-91D9-D81594E8A67F}"/>
              </a:ext>
            </a:extLst>
          </p:cNvPr>
          <p:cNvSpPr txBox="1">
            <a:spLocks/>
          </p:cNvSpPr>
          <p:nvPr/>
        </p:nvSpPr>
        <p:spPr>
          <a:xfrm>
            <a:off x="579120" y="6325606"/>
            <a:ext cx="2261733" cy="365125"/>
          </a:xfrm>
          <a:prstGeom prst="rect">
            <a:avLst/>
          </a:prstGeom>
        </p:spPr>
        <p:txBody>
          <a:bodyPr vert="horz" lIns="91440" tIns="45720" rIns="91440" bIns="45720" rtlCol="0" anchor="ctr"/>
          <a:lstStyle>
            <a:defPPr>
              <a:defRPr lang="en-US"/>
            </a:defPPr>
            <a:lvl1pPr marL="0" indent="0" algn="l" defTabSz="914240" rtl="0" eaLnBrk="1" latinLnBrk="0" hangingPunct="1">
              <a:buFont typeface="Arial" panose="020B0604020202020204" pitchFamily="34" charset="0"/>
              <a:buNone/>
              <a:defRPr sz="1133" b="1" kern="1200">
                <a:solidFill>
                  <a:schemeClr val="tx1"/>
                </a:solidFill>
                <a:latin typeface="+mn-lt"/>
                <a:ea typeface="+mn-ea"/>
                <a:cs typeface="+mn-cs"/>
              </a:defRPr>
            </a:lvl1pPr>
            <a:lvl2pPr marL="457120" algn="l" defTabSz="914240" rtl="0" eaLnBrk="1" latinLnBrk="0" hangingPunct="1">
              <a:defRPr sz="1800" kern="1200">
                <a:solidFill>
                  <a:schemeClr val="tx1"/>
                </a:solidFill>
                <a:latin typeface="+mn-lt"/>
                <a:ea typeface="+mn-ea"/>
                <a:cs typeface="+mn-cs"/>
              </a:defRPr>
            </a:lvl2pPr>
            <a:lvl3pPr marL="914240" algn="l" defTabSz="914240" rtl="0" eaLnBrk="1" latinLnBrk="0" hangingPunct="1">
              <a:defRPr sz="1800" kern="1200">
                <a:solidFill>
                  <a:schemeClr val="tx1"/>
                </a:solidFill>
                <a:latin typeface="+mn-lt"/>
                <a:ea typeface="+mn-ea"/>
                <a:cs typeface="+mn-cs"/>
              </a:defRPr>
            </a:lvl3pPr>
            <a:lvl4pPr marL="1371360" algn="l" defTabSz="914240" rtl="0" eaLnBrk="1" latinLnBrk="0" hangingPunct="1">
              <a:defRPr sz="1800" kern="1200">
                <a:solidFill>
                  <a:schemeClr val="tx1"/>
                </a:solidFill>
                <a:latin typeface="+mn-lt"/>
                <a:ea typeface="+mn-ea"/>
                <a:cs typeface="+mn-cs"/>
              </a:defRPr>
            </a:lvl4pPr>
            <a:lvl5pPr marL="1828480" algn="l" defTabSz="914240" rtl="0" eaLnBrk="1" latinLnBrk="0" hangingPunct="1">
              <a:defRPr sz="1800" kern="1200">
                <a:solidFill>
                  <a:schemeClr val="tx1"/>
                </a:solidFill>
                <a:latin typeface="+mn-lt"/>
                <a:ea typeface="+mn-ea"/>
                <a:cs typeface="+mn-cs"/>
              </a:defRPr>
            </a:lvl5pPr>
            <a:lvl6pPr marL="2285600" algn="l" defTabSz="914240" rtl="0" eaLnBrk="1" latinLnBrk="0" hangingPunct="1">
              <a:defRPr sz="1800" kern="1200">
                <a:solidFill>
                  <a:schemeClr val="tx1"/>
                </a:solidFill>
                <a:latin typeface="+mn-lt"/>
                <a:ea typeface="+mn-ea"/>
                <a:cs typeface="+mn-cs"/>
              </a:defRPr>
            </a:lvl6pPr>
            <a:lvl7pPr marL="2742720" algn="l" defTabSz="914240" rtl="0" eaLnBrk="1" latinLnBrk="0" hangingPunct="1">
              <a:defRPr sz="1800" kern="1200">
                <a:solidFill>
                  <a:schemeClr val="tx1"/>
                </a:solidFill>
                <a:latin typeface="+mn-lt"/>
                <a:ea typeface="+mn-ea"/>
                <a:cs typeface="+mn-cs"/>
              </a:defRPr>
            </a:lvl7pPr>
            <a:lvl8pPr marL="3199840" algn="l" defTabSz="914240" rtl="0" eaLnBrk="1" latinLnBrk="0" hangingPunct="1">
              <a:defRPr sz="1800" kern="1200">
                <a:solidFill>
                  <a:schemeClr val="tx1"/>
                </a:solidFill>
                <a:latin typeface="+mn-lt"/>
                <a:ea typeface="+mn-ea"/>
                <a:cs typeface="+mn-cs"/>
              </a:defRPr>
            </a:lvl8pPr>
            <a:lvl9pPr marL="3656960" algn="l" defTabSz="914240" rtl="0" eaLnBrk="1" latinLnBrk="0" hangingPunct="1">
              <a:defRPr sz="1800" kern="1200">
                <a:solidFill>
                  <a:schemeClr val="tx1"/>
                </a:solidFill>
                <a:latin typeface="+mn-lt"/>
                <a:ea typeface="+mn-ea"/>
                <a:cs typeface="+mn-cs"/>
              </a:defRPr>
            </a:lvl9pPr>
          </a:lstStyle>
          <a:p>
            <a:pPr>
              <a:defRPr/>
            </a:pPr>
            <a:r>
              <a:rPr lang="en-US" sz="1200" b="0" dirty="0"/>
              <a:t>Coding Considerations 23- </a:t>
            </a:r>
            <a:fld id="{060BD193-E118-4B16-863C-C8C12C675E3E}" type="slidenum">
              <a:rPr lang="en-US" sz="1200" b="0" smtClean="0"/>
              <a:pPr>
                <a:defRPr/>
              </a:pPr>
              <a:t>21</a:t>
            </a:fld>
            <a:endParaRPr lang="en-US" sz="1200" b="0" dirty="0"/>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8913" name="Rectangle 2"/>
          <p:cNvSpPr>
            <a:spLocks noGrp="1"/>
          </p:cNvSpPr>
          <p:nvPr>
            <p:ph type="title"/>
          </p:nvPr>
        </p:nvSpPr>
        <p:spPr/>
        <p:txBody>
          <a:bodyPr/>
          <a:lstStyle/>
          <a:p>
            <a:r>
              <a:rPr lang="en-US" altLang="zh-CN" dirty="0">
                <a:ea typeface="宋体" charset="-122"/>
              </a:rPr>
              <a:t>Unsupported: Dynamic Memory Allocation</a:t>
            </a:r>
          </a:p>
        </p:txBody>
      </p:sp>
      <p:sp>
        <p:nvSpPr>
          <p:cNvPr id="38914" name="Rectangle 3"/>
          <p:cNvSpPr>
            <a:spLocks noGrp="1"/>
          </p:cNvSpPr>
          <p:nvPr>
            <p:ph idx="1"/>
          </p:nvPr>
        </p:nvSpPr>
        <p:spPr/>
        <p:txBody>
          <a:bodyPr/>
          <a:lstStyle/>
          <a:p>
            <a:r>
              <a:rPr lang="en-US" altLang="zh-CN" dirty="0">
                <a:ea typeface="宋体" charset="-122"/>
              </a:rPr>
              <a:t>Dynamic memory allocation</a:t>
            </a:r>
          </a:p>
          <a:p>
            <a:pPr lvl="1"/>
            <a:r>
              <a:rPr lang="en-US" altLang="zh-CN" dirty="0">
                <a:ea typeface="宋体" charset="-122"/>
              </a:rPr>
              <a:t>Not allowed since it requires the construction (or destruction) of hardware at runtime</a:t>
            </a:r>
          </a:p>
          <a:p>
            <a:pPr lvl="1"/>
            <a:r>
              <a:rPr lang="en-US" altLang="zh-CN" i="1" dirty="0">
                <a:ea typeface="宋体" charset="-122"/>
              </a:rPr>
              <a:t>malloc</a:t>
            </a:r>
            <a:r>
              <a:rPr lang="en-US" altLang="zh-CN" dirty="0">
                <a:ea typeface="宋体" charset="-122"/>
              </a:rPr>
              <a:t>, </a:t>
            </a:r>
            <a:r>
              <a:rPr lang="en-US" altLang="zh-CN" i="1" dirty="0">
                <a:ea typeface="宋体" charset="-122"/>
              </a:rPr>
              <a:t>alloc</a:t>
            </a:r>
            <a:r>
              <a:rPr lang="en-US" altLang="zh-CN" dirty="0">
                <a:ea typeface="宋体" charset="-122"/>
              </a:rPr>
              <a:t>, </a:t>
            </a:r>
            <a:r>
              <a:rPr lang="en-US" altLang="zh-CN" i="1" dirty="0">
                <a:ea typeface="宋体" charset="-122"/>
              </a:rPr>
              <a:t>free</a:t>
            </a:r>
            <a:r>
              <a:rPr lang="en-US" altLang="zh-CN" dirty="0">
                <a:ea typeface="宋体" charset="-122"/>
              </a:rPr>
              <a:t> are </a:t>
            </a:r>
            <a:r>
              <a:rPr lang="en-US" altLang="zh-CN" b="1" u="sng" dirty="0">
                <a:ea typeface="宋体" charset="-122"/>
              </a:rPr>
              <a:t>not</a:t>
            </a:r>
            <a:r>
              <a:rPr lang="en-US" altLang="zh-CN" dirty="0">
                <a:ea typeface="宋体" charset="-122"/>
              </a:rPr>
              <a:t> synthesizable</a:t>
            </a:r>
          </a:p>
          <a:p>
            <a:pPr lvl="1"/>
            <a:r>
              <a:rPr lang="en-US" altLang="zh-CN" dirty="0">
                <a:ea typeface="宋体" charset="-122"/>
              </a:rPr>
              <a:t>Similarly for constructor initialization</a:t>
            </a:r>
          </a:p>
          <a:p>
            <a:pPr lvl="1">
              <a:buNone/>
            </a:pPr>
            <a:endParaRPr lang="en-US" altLang="zh-CN" dirty="0">
              <a:ea typeface="宋体" charset="-122"/>
            </a:endParaRPr>
          </a:p>
          <a:p>
            <a:pPr lvl="1"/>
            <a:r>
              <a:rPr lang="en-US" altLang="zh-CN" dirty="0">
                <a:ea typeface="宋体" charset="-122"/>
              </a:rPr>
              <a:t>Use persistent static variables and fixed-size arrays instead </a:t>
            </a:r>
          </a:p>
          <a:p>
            <a:pPr lvl="1"/>
            <a:endParaRPr lang="en-US" altLang="zh-CN" dirty="0">
              <a:ea typeface="宋体" charset="-122"/>
            </a:endParaRPr>
          </a:p>
          <a:p>
            <a:r>
              <a:rPr lang="en-US" altLang="zh-CN" dirty="0">
                <a:ea typeface="宋体" charset="-122"/>
              </a:rPr>
              <a:t>Dynamic virtual function call</a:t>
            </a:r>
          </a:p>
          <a:p>
            <a:pPr lvl="1"/>
            <a:r>
              <a:rPr lang="en-US" altLang="zh-CN" dirty="0">
                <a:highlight>
                  <a:srgbClr val="FFFF00"/>
                </a:highlight>
                <a:ea typeface="宋体" charset="-122"/>
              </a:rPr>
              <a:t>Virtual Functions are not supported</a:t>
            </a:r>
          </a:p>
          <a:p>
            <a:endParaRPr lang="en-US" altLang="zh-CN" dirty="0">
              <a:ea typeface="宋体" charset="-122"/>
            </a:endParaRPr>
          </a:p>
          <a:p>
            <a:pPr lvl="1"/>
            <a:endParaRPr lang="en-US" altLang="zh-CN" dirty="0">
              <a:ea typeface="宋体" charset="-122"/>
            </a:endParaRPr>
          </a:p>
          <a:p>
            <a:pPr lvl="1"/>
            <a:endParaRPr lang="en-US" altLang="zh-CN" dirty="0">
              <a:ea typeface="宋体" charset="-122"/>
            </a:endParaRPr>
          </a:p>
          <a:p>
            <a:pPr lvl="1"/>
            <a:endParaRPr lang="en-US" altLang="zh-CN" dirty="0">
              <a:ea typeface="宋体" charset="-122"/>
            </a:endParaRPr>
          </a:p>
          <a:p>
            <a:pPr lvl="2"/>
            <a:endParaRPr lang="en-US" altLang="zh-CN" dirty="0">
              <a:ea typeface="宋体" charset="-122"/>
            </a:endParaRPr>
          </a:p>
        </p:txBody>
      </p:sp>
      <p:sp>
        <p:nvSpPr>
          <p:cNvPr id="11" name="Slide Number Placeholder 10"/>
          <p:cNvSpPr>
            <a:spLocks noGrp="1"/>
          </p:cNvSpPr>
          <p:nvPr>
            <p:ph type="sldNum" sz="quarter" idx="10"/>
          </p:nvPr>
        </p:nvSpPr>
        <p:spPr/>
        <p:txBody>
          <a:bodyPr/>
          <a:lstStyle/>
          <a:p>
            <a:pPr defTabSz="914400">
              <a:defRPr/>
            </a:pPr>
            <a:r>
              <a:rPr lang="en-US" dirty="0">
                <a:solidFill>
                  <a:srgbClr val="0C0C0C">
                    <a:tint val="75000"/>
                  </a:srgbClr>
                </a:solidFill>
                <a:latin typeface="Arial"/>
              </a:rPr>
              <a:t>Coding Considerations 23- </a:t>
            </a:r>
            <a:fld id="{060BD193-E118-4B16-863C-C8C12C675E3E}" type="slidenum">
              <a:rPr lang="en-US">
                <a:solidFill>
                  <a:srgbClr val="0C0C0C">
                    <a:tint val="75000"/>
                  </a:srgbClr>
                </a:solidFill>
                <a:latin typeface="Arial"/>
              </a:rPr>
              <a:pPr defTabSz="914400">
                <a:defRPr/>
              </a:pPr>
              <a:t>22</a:t>
            </a:fld>
            <a:endParaRPr lang="en-US" dirty="0">
              <a:solidFill>
                <a:srgbClr val="0C0C0C">
                  <a:tint val="75000"/>
                </a:srgbClr>
              </a:solidFill>
              <a:latin typeface="Arial"/>
            </a:endParaRPr>
          </a:p>
        </p:txBody>
      </p:sp>
      <p:sp>
        <p:nvSpPr>
          <p:cNvPr id="10" name="TextBox 9">
            <a:extLst>
              <a:ext uri="{FF2B5EF4-FFF2-40B4-BE49-F238E27FC236}">
                <a16:creationId xmlns:a16="http://schemas.microsoft.com/office/drawing/2014/main" id="{1C1E9F12-C505-4FB3-9EB1-3721ED7782A7}"/>
              </a:ext>
            </a:extLst>
          </p:cNvPr>
          <p:cNvSpPr txBox="1"/>
          <p:nvPr/>
        </p:nvSpPr>
        <p:spPr>
          <a:xfrm>
            <a:off x="7375834" y="2367622"/>
            <a:ext cx="3993080" cy="707886"/>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defRPr/>
            </a:pPr>
            <a:r>
              <a:rPr lang="en-US" altLang="zh-CN" sz="1000" kern="0" dirty="0">
                <a:solidFill>
                  <a:srgbClr val="000000"/>
                </a:solidFill>
                <a:latin typeface="Arial"/>
                <a:ea typeface="宋体" charset="-122"/>
              </a:rPr>
              <a:t>long long x = malloc (sizeof(long long));</a:t>
            </a:r>
          </a:p>
          <a:p>
            <a:pPr defTabSz="914400" fontAlgn="base">
              <a:spcBef>
                <a:spcPct val="0"/>
              </a:spcBef>
              <a:spcAft>
                <a:spcPct val="0"/>
              </a:spcAft>
              <a:defRPr/>
            </a:pPr>
            <a:endParaRPr lang="en-US" altLang="zh-CN" sz="1000" kern="0" dirty="0">
              <a:solidFill>
                <a:srgbClr val="000000"/>
              </a:solidFill>
              <a:latin typeface="Arial"/>
              <a:ea typeface="宋体" charset="-122"/>
            </a:endParaRPr>
          </a:p>
          <a:p>
            <a:pPr defTabSz="914400" fontAlgn="base">
              <a:spcBef>
                <a:spcPct val="0"/>
              </a:spcBef>
              <a:spcAft>
                <a:spcPct val="0"/>
              </a:spcAft>
              <a:defRPr/>
            </a:pPr>
            <a:r>
              <a:rPr lang="en-US" altLang="zh-CN" sz="1000" kern="0" dirty="0">
                <a:solidFill>
                  <a:srgbClr val="000000"/>
                </a:solidFill>
                <a:latin typeface="Arial"/>
                <a:ea typeface="宋体" charset="-122"/>
              </a:rPr>
              <a:t>int* arr = malloc (64 * sizeof(int));</a:t>
            </a:r>
          </a:p>
          <a:p>
            <a:pPr defTabSz="914400" fontAlgn="base">
              <a:spcBef>
                <a:spcPct val="0"/>
              </a:spcBef>
              <a:spcAft>
                <a:spcPct val="0"/>
              </a:spcAft>
              <a:defRPr/>
            </a:pPr>
            <a:endParaRPr lang="en-US" altLang="zh-CN" sz="1000" kern="0" dirty="0">
              <a:solidFill>
                <a:srgbClr val="000000"/>
              </a:solidFill>
              <a:latin typeface="Arial"/>
              <a:ea typeface="宋体" charset="-122"/>
            </a:endParaRPr>
          </a:p>
        </p:txBody>
      </p:sp>
      <p:sp>
        <p:nvSpPr>
          <p:cNvPr id="12" name="TextBox 11">
            <a:extLst>
              <a:ext uri="{FF2B5EF4-FFF2-40B4-BE49-F238E27FC236}">
                <a16:creationId xmlns:a16="http://schemas.microsoft.com/office/drawing/2014/main" id="{2AC4CEE9-D174-4BB1-9A2C-C8391763CD9E}"/>
              </a:ext>
            </a:extLst>
          </p:cNvPr>
          <p:cNvSpPr txBox="1"/>
          <p:nvPr/>
        </p:nvSpPr>
        <p:spPr>
          <a:xfrm>
            <a:off x="7375834" y="3540624"/>
            <a:ext cx="3993080" cy="707886"/>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defRPr/>
            </a:pPr>
            <a:r>
              <a:rPr lang="en-US" altLang="zh-CN" sz="1000" kern="0" dirty="0">
                <a:solidFill>
                  <a:srgbClr val="000000"/>
                </a:solidFill>
                <a:latin typeface="Arial"/>
                <a:ea typeface="宋体" charset="-122"/>
              </a:rPr>
              <a:t>static long long x;</a:t>
            </a:r>
          </a:p>
          <a:p>
            <a:pPr defTabSz="914400" fontAlgn="base">
              <a:spcBef>
                <a:spcPct val="0"/>
              </a:spcBef>
              <a:spcAft>
                <a:spcPct val="0"/>
              </a:spcAft>
              <a:defRPr/>
            </a:pPr>
            <a:endParaRPr lang="en-US" altLang="zh-CN" sz="1000" kern="0" dirty="0">
              <a:solidFill>
                <a:srgbClr val="000000"/>
              </a:solidFill>
              <a:latin typeface="Arial"/>
              <a:ea typeface="宋体" charset="-122"/>
            </a:endParaRPr>
          </a:p>
          <a:p>
            <a:pPr defTabSz="914400" fontAlgn="base">
              <a:spcBef>
                <a:spcPct val="0"/>
              </a:spcBef>
              <a:spcAft>
                <a:spcPct val="0"/>
              </a:spcAft>
              <a:defRPr/>
            </a:pPr>
            <a:r>
              <a:rPr lang="en-US" altLang="zh-CN" sz="1000" kern="0" dirty="0">
                <a:solidFill>
                  <a:srgbClr val="000000"/>
                </a:solidFill>
                <a:latin typeface="Arial"/>
                <a:ea typeface="宋体" charset="-122"/>
              </a:rPr>
              <a:t>int array[64];</a:t>
            </a:r>
          </a:p>
          <a:p>
            <a:pPr defTabSz="914400" fontAlgn="base">
              <a:spcBef>
                <a:spcPct val="0"/>
              </a:spcBef>
              <a:spcAft>
                <a:spcPct val="0"/>
              </a:spcAft>
              <a:defRPr/>
            </a:pPr>
            <a:endParaRPr lang="en-US" altLang="zh-CN" sz="1000" kern="0" dirty="0">
              <a:solidFill>
                <a:srgbClr val="000000"/>
              </a:solidFill>
              <a:latin typeface="Arial"/>
              <a:ea typeface="宋体" charset="-122"/>
            </a:endParaRPr>
          </a:p>
        </p:txBody>
      </p:sp>
      <p:sp>
        <p:nvSpPr>
          <p:cNvPr id="13" name="TextBox 12">
            <a:extLst>
              <a:ext uri="{FF2B5EF4-FFF2-40B4-BE49-F238E27FC236}">
                <a16:creationId xmlns:a16="http://schemas.microsoft.com/office/drawing/2014/main" id="{AF5CC799-425C-4286-9EDE-8921D4ACC68A}"/>
              </a:ext>
            </a:extLst>
          </p:cNvPr>
          <p:cNvSpPr txBox="1"/>
          <p:nvPr/>
        </p:nvSpPr>
        <p:spPr>
          <a:xfrm>
            <a:off x="3280369" y="4465935"/>
            <a:ext cx="2713247" cy="861774"/>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50000"/>
              </a:spcBef>
              <a:spcAft>
                <a:spcPct val="0"/>
              </a:spcAft>
              <a:defRPr/>
            </a:pPr>
            <a:r>
              <a:rPr lang="en-US" altLang="zh-CN" sz="1000" kern="0" dirty="0">
                <a:solidFill>
                  <a:srgbClr val="000000"/>
                </a:solidFill>
                <a:latin typeface="Arial"/>
                <a:ea typeface="宋体" charset="-122"/>
              </a:rPr>
              <a:t>Class A { </a:t>
            </a:r>
            <a:br>
              <a:rPr lang="en-US" altLang="zh-CN" sz="1000" kern="0" dirty="0">
                <a:solidFill>
                  <a:srgbClr val="000000"/>
                </a:solidFill>
                <a:latin typeface="Arial"/>
                <a:ea typeface="宋体" charset="-122"/>
              </a:rPr>
            </a:br>
            <a:r>
              <a:rPr lang="en-US" altLang="zh-CN" sz="1000" kern="0" dirty="0">
                <a:solidFill>
                  <a:srgbClr val="000000"/>
                </a:solidFill>
                <a:latin typeface="Arial"/>
                <a:ea typeface="宋体" charset="-122"/>
              </a:rPr>
              <a:t>public:</a:t>
            </a:r>
          </a:p>
          <a:p>
            <a:pPr defTabSz="914400" fontAlgn="base">
              <a:spcBef>
                <a:spcPct val="50000"/>
              </a:spcBef>
              <a:spcAft>
                <a:spcPct val="0"/>
              </a:spcAft>
              <a:defRPr/>
            </a:pPr>
            <a:r>
              <a:rPr lang="en-US" altLang="zh-CN" sz="1000" kern="0" dirty="0">
                <a:solidFill>
                  <a:srgbClr val="000000"/>
                </a:solidFill>
                <a:latin typeface="Arial"/>
                <a:ea typeface="宋体" charset="-122"/>
              </a:rPr>
              <a:t>  virtual void bar() {…}; </a:t>
            </a:r>
          </a:p>
          <a:p>
            <a:pPr defTabSz="914400" fontAlgn="base">
              <a:spcBef>
                <a:spcPct val="50000"/>
              </a:spcBef>
              <a:spcAft>
                <a:spcPct val="0"/>
              </a:spcAft>
              <a:defRPr/>
            </a:pPr>
            <a:r>
              <a:rPr lang="en-US" altLang="zh-CN" sz="1000" kern="0" dirty="0">
                <a:solidFill>
                  <a:srgbClr val="000000"/>
                </a:solidFill>
                <a:latin typeface="Arial"/>
                <a:ea typeface="宋体" charset="-122"/>
              </a:rPr>
              <a:t>};</a:t>
            </a:r>
          </a:p>
        </p:txBody>
      </p:sp>
      <p:sp>
        <p:nvSpPr>
          <p:cNvPr id="14" name="TextBox 13">
            <a:extLst>
              <a:ext uri="{FF2B5EF4-FFF2-40B4-BE49-F238E27FC236}">
                <a16:creationId xmlns:a16="http://schemas.microsoft.com/office/drawing/2014/main" id="{21470D86-D3D4-4E0A-A1C8-DC1E8FA071D8}"/>
              </a:ext>
            </a:extLst>
          </p:cNvPr>
          <p:cNvSpPr txBox="1"/>
          <p:nvPr/>
        </p:nvSpPr>
        <p:spPr>
          <a:xfrm>
            <a:off x="5276909" y="4888392"/>
            <a:ext cx="2713247" cy="1400383"/>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50000"/>
              </a:spcBef>
              <a:spcAft>
                <a:spcPct val="0"/>
              </a:spcAft>
              <a:defRPr/>
            </a:pPr>
            <a:r>
              <a:rPr lang="en-US" altLang="zh-CN" sz="1000" kern="0" dirty="0">
                <a:solidFill>
                  <a:srgbClr val="000000"/>
                </a:solidFill>
                <a:latin typeface="Arial"/>
                <a:ea typeface="宋体" charset="-122"/>
              </a:rPr>
              <a:t>void fun(A* a) { </a:t>
            </a:r>
            <a:br>
              <a:rPr lang="en-US" altLang="zh-CN" sz="1000" kern="0" dirty="0">
                <a:solidFill>
                  <a:srgbClr val="000000"/>
                </a:solidFill>
                <a:latin typeface="Arial"/>
                <a:ea typeface="宋体" charset="-122"/>
              </a:rPr>
            </a:br>
            <a:r>
              <a:rPr lang="en-US" altLang="zh-CN" sz="1000" kern="0" dirty="0">
                <a:solidFill>
                  <a:srgbClr val="000000"/>
                </a:solidFill>
                <a:latin typeface="Arial"/>
                <a:ea typeface="宋体" charset="-122"/>
              </a:rPr>
              <a:t>    a-&gt;bar(); </a:t>
            </a:r>
            <a:br>
              <a:rPr lang="en-US" altLang="zh-CN" sz="1000" kern="0" dirty="0">
                <a:solidFill>
                  <a:srgbClr val="000000"/>
                </a:solidFill>
                <a:latin typeface="Arial"/>
                <a:ea typeface="宋体" charset="-122"/>
              </a:rPr>
            </a:br>
            <a:r>
              <a:rPr lang="en-US" altLang="zh-CN" sz="1000" kern="0" dirty="0">
                <a:solidFill>
                  <a:srgbClr val="000000"/>
                </a:solidFill>
                <a:latin typeface="Arial"/>
                <a:ea typeface="宋体" charset="-122"/>
              </a:rPr>
              <a:t>}</a:t>
            </a:r>
          </a:p>
          <a:p>
            <a:pPr defTabSz="914400" fontAlgn="base">
              <a:spcBef>
                <a:spcPct val="50000"/>
              </a:spcBef>
              <a:spcAft>
                <a:spcPct val="0"/>
              </a:spcAft>
              <a:defRPr/>
            </a:pPr>
            <a:r>
              <a:rPr lang="en-US" altLang="zh-CN" sz="1000" kern="0" dirty="0">
                <a:solidFill>
                  <a:srgbClr val="000000"/>
                </a:solidFill>
                <a:latin typeface="Arial"/>
                <a:ea typeface="宋体" charset="-122"/>
              </a:rPr>
              <a:t>A* a = 0;</a:t>
            </a:r>
          </a:p>
          <a:p>
            <a:pPr defTabSz="914400" fontAlgn="base">
              <a:spcBef>
                <a:spcPct val="50000"/>
              </a:spcBef>
              <a:spcAft>
                <a:spcPct val="0"/>
              </a:spcAft>
              <a:defRPr/>
            </a:pPr>
            <a:r>
              <a:rPr lang="en-US" altLang="zh-CN" sz="1000" kern="0" dirty="0">
                <a:solidFill>
                  <a:srgbClr val="000000"/>
                </a:solidFill>
                <a:latin typeface="Arial"/>
                <a:ea typeface="宋体" charset="-122"/>
              </a:rPr>
              <a:t>if (base) A= </a:t>
            </a:r>
            <a:r>
              <a:rPr lang="en-US" altLang="zh-CN" sz="1000" b="1" kern="0" dirty="0">
                <a:solidFill>
                  <a:srgbClr val="000000"/>
                </a:solidFill>
                <a:latin typeface="Arial"/>
                <a:ea typeface="宋体" charset="-122"/>
              </a:rPr>
              <a:t>new</a:t>
            </a:r>
            <a:r>
              <a:rPr lang="en-US" altLang="zh-CN" sz="1000" kern="0" dirty="0">
                <a:solidFill>
                  <a:srgbClr val="000000"/>
                </a:solidFill>
                <a:latin typeface="Arial"/>
                <a:ea typeface="宋体" charset="-122"/>
              </a:rPr>
              <a:t> A();</a:t>
            </a:r>
            <a:br>
              <a:rPr lang="en-US" altLang="zh-CN" sz="1000" kern="0" dirty="0">
                <a:solidFill>
                  <a:srgbClr val="000000"/>
                </a:solidFill>
                <a:latin typeface="Arial"/>
                <a:ea typeface="宋体" charset="-122"/>
              </a:rPr>
            </a:br>
            <a:r>
              <a:rPr lang="en-US" altLang="zh-CN" sz="1000" kern="0" dirty="0">
                <a:solidFill>
                  <a:srgbClr val="000000"/>
                </a:solidFill>
                <a:latin typeface="Arial"/>
                <a:ea typeface="宋体" charset="-122"/>
              </a:rPr>
              <a:t>else A = </a:t>
            </a:r>
            <a:r>
              <a:rPr lang="en-US" altLang="zh-CN" sz="1000" b="1" kern="0" dirty="0">
                <a:solidFill>
                  <a:srgbClr val="000000"/>
                </a:solidFill>
                <a:latin typeface="Arial"/>
                <a:ea typeface="宋体" charset="-122"/>
              </a:rPr>
              <a:t>new</a:t>
            </a:r>
            <a:r>
              <a:rPr lang="en-US" altLang="zh-CN" sz="1000" kern="0" dirty="0">
                <a:solidFill>
                  <a:srgbClr val="000000"/>
                </a:solidFill>
                <a:latin typeface="Arial"/>
                <a:ea typeface="宋体" charset="-122"/>
              </a:rPr>
              <a:t> B();</a:t>
            </a:r>
          </a:p>
          <a:p>
            <a:pPr defTabSz="914400" fontAlgn="base">
              <a:spcBef>
                <a:spcPct val="50000"/>
              </a:spcBef>
              <a:spcAft>
                <a:spcPct val="0"/>
              </a:spcAft>
              <a:defRPr/>
            </a:pPr>
            <a:r>
              <a:rPr lang="en-US" altLang="zh-CN" sz="1000" kern="0" dirty="0">
                <a:solidFill>
                  <a:srgbClr val="000000"/>
                </a:solidFill>
                <a:latin typeface="Arial"/>
                <a:ea typeface="宋体" charset="-122"/>
              </a:rPr>
              <a:t>foo(a);</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p:cNvSpPr>
            <a:spLocks noGrp="1"/>
          </p:cNvSpPr>
          <p:nvPr>
            <p:ph type="title"/>
          </p:nvPr>
        </p:nvSpPr>
        <p:spPr/>
        <p:txBody>
          <a:bodyPr/>
          <a:lstStyle/>
          <a:p>
            <a:r>
              <a:rPr lang="en-US" altLang="zh-CN" dirty="0">
                <a:ea typeface="宋体" charset="-122"/>
              </a:rPr>
              <a:t>Unsupported: System Calls</a:t>
            </a:r>
          </a:p>
        </p:txBody>
      </p:sp>
      <p:sp>
        <p:nvSpPr>
          <p:cNvPr id="45058" name="Rectangle 3"/>
          <p:cNvSpPr>
            <a:spLocks noGrp="1"/>
          </p:cNvSpPr>
          <p:nvPr>
            <p:ph idx="1"/>
          </p:nvPr>
        </p:nvSpPr>
        <p:spPr/>
        <p:txBody>
          <a:bodyPr>
            <a:normAutofit/>
          </a:bodyPr>
          <a:lstStyle/>
          <a:p>
            <a:r>
              <a:rPr lang="en-US" altLang="zh-CN" dirty="0">
                <a:ea typeface="宋体" charset="-122"/>
              </a:rPr>
              <a:t>System calls</a:t>
            </a:r>
          </a:p>
          <a:p>
            <a:pPr lvl="1"/>
            <a:r>
              <a:rPr lang="en-US" altLang="zh-CN" dirty="0">
                <a:ea typeface="宋体" charset="-122"/>
              </a:rPr>
              <a:t>Most of C system calls do not have hardware counterparts and are not synthesizable</a:t>
            </a:r>
          </a:p>
          <a:p>
            <a:pPr lvl="2"/>
            <a:r>
              <a:rPr lang="en-US" altLang="zh-CN" dirty="0">
                <a:ea typeface="宋体" charset="-122"/>
              </a:rPr>
              <a:t>printf(), getc(), time(), </a:t>
            </a:r>
            <a:r>
              <a:rPr lang="en-US" altLang="zh-CN" dirty="0">
                <a:latin typeface="Arial Narrow" pitchFamily="34" charset="0"/>
                <a:ea typeface="宋体" charset="-122"/>
              </a:rPr>
              <a:t>…   </a:t>
            </a:r>
          </a:p>
          <a:p>
            <a:pPr lvl="1"/>
            <a:r>
              <a:rPr lang="en-US" altLang="zh-CN" dirty="0" err="1">
                <a:ea typeface="宋体" charset="-122"/>
              </a:rPr>
              <a:t>Vitis</a:t>
            </a:r>
            <a:r>
              <a:rPr lang="en-US" altLang="zh-CN" dirty="0">
                <a:ea typeface="宋体" charset="-122"/>
              </a:rPr>
              <a:t> HLS will ignore system calls</a:t>
            </a:r>
          </a:p>
          <a:p>
            <a:pPr lvl="2"/>
            <a:r>
              <a:rPr lang="en-US" altLang="zh-CN" dirty="0">
                <a:ea typeface="宋体" charset="-122"/>
              </a:rPr>
              <a:t>They can also be removed by the __SYNTHESIS__ macro</a:t>
            </a:r>
          </a:p>
          <a:p>
            <a:pPr lvl="1"/>
            <a:r>
              <a:rPr lang="en-US" altLang="zh-CN" dirty="0">
                <a:ea typeface="宋体" charset="-122"/>
              </a:rPr>
              <a:t>Good Practice: </a:t>
            </a:r>
          </a:p>
          <a:p>
            <a:pPr lvl="2"/>
            <a:r>
              <a:rPr lang="en-US" altLang="zh-CN" dirty="0">
                <a:ea typeface="宋体" charset="-122"/>
              </a:rPr>
              <a:t>Use </a:t>
            </a:r>
            <a:r>
              <a:rPr lang="en-US" altLang="zh-CN" dirty="0">
                <a:latin typeface="Arial Narrow" pitchFamily="34" charset="0"/>
                <a:ea typeface="宋体" charset="-122"/>
              </a:rPr>
              <a:t>Macro “</a:t>
            </a:r>
            <a:r>
              <a:rPr lang="en-US" altLang="zh-CN" dirty="0">
                <a:ea typeface="宋体" charset="-122"/>
              </a:rPr>
              <a:t>__SYNTHESIS__</a:t>
            </a:r>
            <a:r>
              <a:rPr lang="en-US" altLang="zh-CN" dirty="0">
                <a:latin typeface="Arial Narrow" pitchFamily="34" charset="0"/>
                <a:ea typeface="宋体" charset="-122"/>
              </a:rPr>
              <a:t>”</a:t>
            </a:r>
            <a:r>
              <a:rPr lang="en-US" altLang="zh-CN" dirty="0">
                <a:ea typeface="宋体" charset="-122"/>
              </a:rPr>
              <a:t> to remove code segment involving system calls from synthesis</a:t>
            </a:r>
          </a:p>
          <a:p>
            <a:pPr lvl="2"/>
            <a:r>
              <a:rPr lang="en-US" altLang="zh-CN" dirty="0">
                <a:ea typeface="宋体" charset="-122"/>
              </a:rPr>
              <a:t>Macro “__SYNTHESIS__” is automatically defined by the </a:t>
            </a:r>
            <a:r>
              <a:rPr lang="en-US" altLang="zh-CN" dirty="0" err="1">
                <a:ea typeface="宋体" charset="-122"/>
              </a:rPr>
              <a:t>Vivado</a:t>
            </a:r>
            <a:r>
              <a:rPr lang="en-US" altLang="zh-CN" dirty="0">
                <a:ea typeface="宋体" charset="-122"/>
              </a:rPr>
              <a:t> HLS during elaboration</a:t>
            </a:r>
          </a:p>
          <a:p>
            <a:pPr lvl="2"/>
            <a:endParaRPr lang="en-US" altLang="zh-CN" dirty="0">
              <a:ea typeface="宋体" charset="-122"/>
            </a:endParaRPr>
          </a:p>
          <a:p>
            <a:pPr lvl="2"/>
            <a:endParaRPr lang="en-US" altLang="zh-CN" dirty="0">
              <a:ea typeface="宋体" charset="-122"/>
            </a:endParaRPr>
          </a:p>
          <a:p>
            <a:pPr lvl="2"/>
            <a:endParaRPr lang="en-US" altLang="zh-CN" dirty="0">
              <a:ea typeface="宋体" charset="-122"/>
            </a:endParaRPr>
          </a:p>
          <a:p>
            <a:pPr lvl="2"/>
            <a:endParaRPr lang="en-US" altLang="zh-CN" dirty="0">
              <a:ea typeface="宋体" charset="-122"/>
            </a:endParaRPr>
          </a:p>
          <a:p>
            <a:pPr lvl="2"/>
            <a:endParaRPr lang="en-US" altLang="zh-CN" dirty="0">
              <a:ea typeface="宋体" charset="-122"/>
            </a:endParaRPr>
          </a:p>
          <a:p>
            <a:pPr lvl="2">
              <a:buNone/>
            </a:pPr>
            <a:endParaRPr lang="en-US" altLang="zh-CN" dirty="0">
              <a:ea typeface="宋体" charset="-122"/>
            </a:endParaRPr>
          </a:p>
        </p:txBody>
      </p:sp>
      <p:sp>
        <p:nvSpPr>
          <p:cNvPr id="8" name="Slide Number Placeholder 5">
            <a:extLst>
              <a:ext uri="{FF2B5EF4-FFF2-40B4-BE49-F238E27FC236}">
                <a16:creationId xmlns:a16="http://schemas.microsoft.com/office/drawing/2014/main" id="{20313A52-0D70-4C93-9F3D-841ACAD73223}"/>
              </a:ext>
            </a:extLst>
          </p:cNvPr>
          <p:cNvSpPr>
            <a:spLocks noGrp="1"/>
          </p:cNvSpPr>
          <p:nvPr>
            <p:ph type="sldNum" sz="quarter" idx="4"/>
          </p:nvPr>
        </p:nvSpPr>
        <p:spPr/>
        <p:txBody>
          <a:bodyPr/>
          <a:lstStyle/>
          <a:p>
            <a:pPr>
              <a:defRPr/>
            </a:pPr>
            <a:r>
              <a:rPr lang="en-US" dirty="0"/>
              <a:t>Coding Considerations 23- </a:t>
            </a:r>
            <a:fld id="{060BD193-E118-4B16-863C-C8C12C675E3E}" type="slidenum">
              <a:rPr lang="en-US" smtClean="0"/>
              <a:pPr>
                <a:defRPr/>
              </a:pPr>
              <a:t>23</a:t>
            </a:fld>
            <a:endParaRPr lang="en-US" dirty="0"/>
          </a:p>
        </p:txBody>
      </p:sp>
      <p:sp>
        <p:nvSpPr>
          <p:cNvPr id="10" name="TextBox 9">
            <a:extLst>
              <a:ext uri="{FF2B5EF4-FFF2-40B4-BE49-F238E27FC236}">
                <a16:creationId xmlns:a16="http://schemas.microsoft.com/office/drawing/2014/main" id="{B62B8496-9D04-4D8E-82FE-296E72B9A1D3}"/>
              </a:ext>
            </a:extLst>
          </p:cNvPr>
          <p:cNvSpPr txBox="1"/>
          <p:nvPr/>
        </p:nvSpPr>
        <p:spPr>
          <a:xfrm>
            <a:off x="5174520" y="4465935"/>
            <a:ext cx="3993080" cy="1785104"/>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50000"/>
              </a:spcBef>
              <a:spcAft>
                <a:spcPct val="0"/>
              </a:spcAft>
              <a:defRPr/>
            </a:pPr>
            <a:r>
              <a:rPr lang="en-US" altLang="zh-CN" sz="1000" kern="0" dirty="0">
                <a:solidFill>
                  <a:srgbClr val="000000"/>
                </a:solidFill>
                <a:latin typeface="Arial"/>
                <a:ea typeface="宋体" charset="-122"/>
              </a:rPr>
              <a:t>void foo (…]) {</a:t>
            </a:r>
          </a:p>
          <a:p>
            <a:pPr defTabSz="914400" fontAlgn="base">
              <a:spcBef>
                <a:spcPct val="50000"/>
              </a:spcBef>
              <a:spcAft>
                <a:spcPct val="0"/>
              </a:spcAft>
              <a:defRPr/>
            </a:pPr>
            <a:r>
              <a:rPr lang="en-US" altLang="zh-CN" sz="1000" kern="0" dirty="0">
                <a:solidFill>
                  <a:srgbClr val="000000"/>
                </a:solidFill>
                <a:latin typeface="Arial"/>
                <a:ea typeface="宋体" charset="-122"/>
              </a:rPr>
              <a:t>   ...</a:t>
            </a:r>
          </a:p>
          <a:p>
            <a:pPr defTabSz="914400" fontAlgn="base">
              <a:spcBef>
                <a:spcPct val="50000"/>
              </a:spcBef>
              <a:spcAft>
                <a:spcPct val="0"/>
              </a:spcAft>
              <a:defRPr/>
            </a:pPr>
            <a:r>
              <a:rPr lang="en-US" altLang="zh-CN" sz="1000" b="1" kern="0" dirty="0">
                <a:solidFill>
                  <a:srgbClr val="000000"/>
                </a:solidFill>
                <a:latin typeface="Arial"/>
                <a:ea typeface="宋体" charset="-122"/>
              </a:rPr>
              <a:t>#ifndef __SYNTHESIS__ </a:t>
            </a:r>
          </a:p>
          <a:p>
            <a:pPr defTabSz="914400" fontAlgn="base">
              <a:spcBef>
                <a:spcPct val="50000"/>
              </a:spcBef>
              <a:spcAft>
                <a:spcPct val="0"/>
              </a:spcAft>
              <a:defRPr/>
            </a:pPr>
            <a:r>
              <a:rPr lang="en-US" altLang="zh-CN" sz="1000" b="1" kern="0" dirty="0">
                <a:solidFill>
                  <a:srgbClr val="000000"/>
                </a:solidFill>
                <a:latin typeface="Arial"/>
                <a:ea typeface="宋体" charset="-122"/>
              </a:rPr>
              <a:t>  Code will  be seen by simulation.</a:t>
            </a:r>
          </a:p>
          <a:p>
            <a:pPr defTabSz="914400" fontAlgn="base">
              <a:spcBef>
                <a:spcPct val="50000"/>
              </a:spcBef>
              <a:spcAft>
                <a:spcPct val="0"/>
              </a:spcAft>
              <a:defRPr/>
            </a:pPr>
            <a:r>
              <a:rPr lang="en-US" altLang="zh-CN" sz="1000" b="1" kern="0" dirty="0">
                <a:solidFill>
                  <a:srgbClr val="000000"/>
                </a:solidFill>
                <a:latin typeface="Arial"/>
                <a:ea typeface="宋体" charset="-122"/>
              </a:rPr>
              <a:t>  But not synthesis.</a:t>
            </a:r>
          </a:p>
          <a:p>
            <a:pPr defTabSz="914400" fontAlgn="base">
              <a:spcBef>
                <a:spcPct val="50000"/>
              </a:spcBef>
              <a:spcAft>
                <a:spcPct val="0"/>
              </a:spcAft>
              <a:defRPr/>
            </a:pPr>
            <a:r>
              <a:rPr lang="en-US" altLang="zh-CN" sz="1000" b="1" kern="0" dirty="0">
                <a:solidFill>
                  <a:srgbClr val="000000"/>
                </a:solidFill>
                <a:latin typeface="Arial"/>
                <a:ea typeface="宋体" charset="-122"/>
              </a:rPr>
              <a:t>#endif</a:t>
            </a:r>
          </a:p>
          <a:p>
            <a:pPr defTabSz="914400" fontAlgn="base">
              <a:spcBef>
                <a:spcPct val="50000"/>
              </a:spcBef>
              <a:spcAft>
                <a:spcPct val="0"/>
              </a:spcAft>
              <a:defRPr/>
            </a:pPr>
            <a:r>
              <a:rPr lang="en-US" altLang="zh-CN" sz="1000" kern="0" dirty="0">
                <a:solidFill>
                  <a:srgbClr val="000000"/>
                </a:solidFill>
                <a:latin typeface="Arial"/>
                <a:ea typeface="宋体" charset="-122"/>
              </a:rPr>
              <a:t>   …</a:t>
            </a:r>
            <a:br>
              <a:rPr lang="en-US" altLang="zh-CN" sz="1000" kern="0" dirty="0">
                <a:solidFill>
                  <a:srgbClr val="000000"/>
                </a:solidFill>
                <a:latin typeface="Arial"/>
                <a:ea typeface="宋体" charset="-122"/>
              </a:rPr>
            </a:br>
            <a:r>
              <a:rPr lang="en-US" altLang="zh-CN" sz="1000" kern="0" dirty="0">
                <a:solidFill>
                  <a:srgbClr val="000000"/>
                </a:solidFill>
                <a:latin typeface="Arial"/>
                <a:ea typeface="宋体" charset="-122"/>
              </a:rPr>
              <a:t>}</a:t>
            </a:r>
          </a:p>
        </p:txBody>
      </p:sp>
      <p:cxnSp>
        <p:nvCxnSpPr>
          <p:cNvPr id="12" name="Straight Arrow Connector 11">
            <a:extLst>
              <a:ext uri="{FF2B5EF4-FFF2-40B4-BE49-F238E27FC236}">
                <a16:creationId xmlns:a16="http://schemas.microsoft.com/office/drawing/2014/main" id="{33D1DC4D-248B-4E05-95EC-FD75E4C5F2FF}"/>
              </a:ext>
            </a:extLst>
          </p:cNvPr>
          <p:cNvCxnSpPr/>
          <p:nvPr/>
        </p:nvCxnSpPr>
        <p:spPr>
          <a:xfrm rot="5400000">
            <a:off x="4785157" y="5347465"/>
            <a:ext cx="576075" cy="2117"/>
          </a:xfrm>
          <a:prstGeom prst="straightConnector1">
            <a:avLst/>
          </a:prstGeom>
          <a:noFill/>
          <a:ln w="38100" cap="flat" cmpd="sng" algn="ctr">
            <a:solidFill>
              <a:srgbClr val="000000"/>
            </a:solidFill>
            <a:prstDash val="solid"/>
            <a:headEnd type="triangle" w="med" len="med"/>
            <a:tailEnd type="triangle" w="med" len="med"/>
          </a:ln>
          <a:effectLst>
            <a:outerShdw blurRad="40000" dist="20000" dir="5400000" rotWithShape="0">
              <a:srgbClr val="000000">
                <a:alpha val="38000"/>
              </a:srgbClr>
            </a:outerShdw>
          </a:effectLst>
        </p:spPr>
      </p:cxnSp>
      <p:sp>
        <p:nvSpPr>
          <p:cNvPr id="13" name="TextBox 12">
            <a:extLst>
              <a:ext uri="{FF2B5EF4-FFF2-40B4-BE49-F238E27FC236}">
                <a16:creationId xmlns:a16="http://schemas.microsoft.com/office/drawing/2014/main" id="{9F9DD75A-1DF0-4DF3-84ED-685303DC0325}"/>
              </a:ext>
            </a:extLst>
          </p:cNvPr>
          <p:cNvSpPr txBox="1"/>
          <p:nvPr/>
        </p:nvSpPr>
        <p:spPr>
          <a:xfrm>
            <a:off x="2205309" y="5137296"/>
            <a:ext cx="2764439" cy="430887"/>
          </a:xfrm>
          <a:prstGeom prst="rect">
            <a:avLst/>
          </a:prstGeom>
          <a:solidFill>
            <a:srgbClr val="FFFF99"/>
          </a:solidFill>
          <a:ln>
            <a:solidFill>
              <a:srgbClr val="000000"/>
            </a:solidFill>
          </a:ln>
          <a:effectLst>
            <a:innerShdw blurRad="63500" dist="50800" dir="2700000">
              <a:prstClr val="black">
                <a:alpha val="50000"/>
              </a:prstClr>
            </a:innerShdw>
          </a:effectLst>
        </p:spPr>
        <p:txBody>
          <a:bodyPr wrap="square" rtlCol="0">
            <a:spAutoFit/>
          </a:bodyPr>
          <a:lstStyle/>
          <a:p>
            <a:pPr algn="ctr" defTabSz="914400" fontAlgn="base">
              <a:spcBef>
                <a:spcPct val="0"/>
              </a:spcBef>
              <a:spcAft>
                <a:spcPct val="0"/>
              </a:spcAft>
              <a:defRPr/>
            </a:pPr>
            <a:r>
              <a:rPr lang="en-US" sz="1100" b="1" kern="0" dirty="0">
                <a:solidFill>
                  <a:srgbClr val="000000"/>
                </a:solidFill>
              </a:rPr>
              <a:t>Only read this code if macro __SYNTHESIS__ is </a:t>
            </a:r>
            <a:r>
              <a:rPr lang="en-US" sz="1100" b="1" u="sng" kern="0" dirty="0">
                <a:solidFill>
                  <a:srgbClr val="000000"/>
                </a:solidFill>
              </a:rPr>
              <a:t>not</a:t>
            </a:r>
            <a:r>
              <a:rPr lang="en-US" sz="1100" b="1" kern="0" dirty="0">
                <a:solidFill>
                  <a:srgbClr val="000000"/>
                </a:solidFill>
              </a:rPr>
              <a:t> set</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5057" name="Rectangle 2"/>
          <p:cNvSpPr>
            <a:spLocks noGrp="1"/>
          </p:cNvSpPr>
          <p:nvPr>
            <p:ph type="title"/>
          </p:nvPr>
        </p:nvSpPr>
        <p:spPr/>
        <p:txBody>
          <a:bodyPr/>
          <a:lstStyle/>
          <a:p>
            <a:r>
              <a:rPr lang="en-US" altLang="zh-CN" dirty="0">
                <a:ea typeface="宋体" charset="-122"/>
              </a:rPr>
              <a:t>Unsupported: System Calls</a:t>
            </a:r>
          </a:p>
        </p:txBody>
      </p:sp>
      <p:sp>
        <p:nvSpPr>
          <p:cNvPr id="45058" name="Rectangle 3"/>
          <p:cNvSpPr>
            <a:spLocks noGrp="1"/>
          </p:cNvSpPr>
          <p:nvPr>
            <p:ph idx="1"/>
          </p:nvPr>
        </p:nvSpPr>
        <p:spPr/>
        <p:txBody>
          <a:bodyPr>
            <a:normAutofit/>
          </a:bodyPr>
          <a:lstStyle/>
          <a:p>
            <a:r>
              <a:rPr lang="en-US" altLang="zh-CN" dirty="0">
                <a:ea typeface="宋体" charset="-122"/>
              </a:rPr>
              <a:t>System calls</a:t>
            </a:r>
          </a:p>
          <a:p>
            <a:pPr lvl="1"/>
            <a:r>
              <a:rPr lang="en-US" altLang="zh-CN" dirty="0">
                <a:ea typeface="宋体" charset="-122"/>
              </a:rPr>
              <a:t>Most of C system calls do not have hardware counterparts and are not synthesizable</a:t>
            </a:r>
          </a:p>
          <a:p>
            <a:pPr lvl="2"/>
            <a:r>
              <a:rPr lang="en-US" altLang="zh-CN" dirty="0">
                <a:ea typeface="宋体" charset="-122"/>
              </a:rPr>
              <a:t>printf(), getc(), time(), </a:t>
            </a:r>
            <a:r>
              <a:rPr lang="en-US" altLang="zh-CN" dirty="0">
                <a:latin typeface="Arial Narrow" pitchFamily="34" charset="0"/>
                <a:ea typeface="宋体" charset="-122"/>
              </a:rPr>
              <a:t>…   </a:t>
            </a:r>
          </a:p>
          <a:p>
            <a:pPr lvl="1"/>
            <a:r>
              <a:rPr lang="en-US" altLang="zh-CN" dirty="0" err="1">
                <a:highlight>
                  <a:srgbClr val="FFFF00"/>
                </a:highlight>
                <a:ea typeface="宋体" charset="-122"/>
              </a:rPr>
              <a:t>Vitis</a:t>
            </a:r>
            <a:r>
              <a:rPr lang="en-US" altLang="zh-CN" dirty="0">
                <a:ea typeface="宋体" charset="-122"/>
              </a:rPr>
              <a:t> HLS will ignore system calls</a:t>
            </a:r>
          </a:p>
          <a:p>
            <a:pPr lvl="2"/>
            <a:r>
              <a:rPr lang="en-US" altLang="zh-CN" dirty="0">
                <a:ea typeface="宋体" charset="-122"/>
              </a:rPr>
              <a:t>They can also be removed by the __SYNTHESIS__ macro</a:t>
            </a:r>
          </a:p>
          <a:p>
            <a:pPr lvl="1"/>
            <a:r>
              <a:rPr lang="en-US" altLang="zh-CN" dirty="0">
                <a:ea typeface="宋体" charset="-122"/>
              </a:rPr>
              <a:t>Good Practice: </a:t>
            </a:r>
          </a:p>
          <a:p>
            <a:pPr lvl="2"/>
            <a:r>
              <a:rPr lang="en-US" altLang="zh-CN" dirty="0">
                <a:ea typeface="宋体" charset="-122"/>
              </a:rPr>
              <a:t>Use </a:t>
            </a:r>
            <a:r>
              <a:rPr lang="en-US" altLang="zh-CN" dirty="0">
                <a:latin typeface="Arial Narrow" pitchFamily="34" charset="0"/>
                <a:ea typeface="宋体" charset="-122"/>
              </a:rPr>
              <a:t>Macro “</a:t>
            </a:r>
            <a:r>
              <a:rPr lang="en-US" altLang="zh-CN" dirty="0">
                <a:ea typeface="宋体" charset="-122"/>
              </a:rPr>
              <a:t>__SYNTHESIS__</a:t>
            </a:r>
            <a:r>
              <a:rPr lang="en-US" altLang="zh-CN" dirty="0">
                <a:latin typeface="Arial Narrow" pitchFamily="34" charset="0"/>
                <a:ea typeface="宋体" charset="-122"/>
              </a:rPr>
              <a:t>”</a:t>
            </a:r>
            <a:r>
              <a:rPr lang="en-US" altLang="zh-CN" dirty="0">
                <a:ea typeface="宋体" charset="-122"/>
              </a:rPr>
              <a:t> to remove code segment involving system calls from synthesis</a:t>
            </a:r>
          </a:p>
          <a:p>
            <a:pPr lvl="2"/>
            <a:r>
              <a:rPr lang="en-US" altLang="zh-CN" dirty="0">
                <a:ea typeface="宋体" charset="-122"/>
              </a:rPr>
              <a:t>Macro “__SYNTHESIS__” is automatically defined by the </a:t>
            </a:r>
            <a:r>
              <a:rPr lang="en-US" altLang="zh-CN" dirty="0" err="1">
                <a:ea typeface="宋体" charset="-122"/>
              </a:rPr>
              <a:t>Vivado</a:t>
            </a:r>
            <a:r>
              <a:rPr lang="en-US" altLang="zh-CN" dirty="0">
                <a:ea typeface="宋体" charset="-122"/>
              </a:rPr>
              <a:t> HLS during elaboration</a:t>
            </a:r>
          </a:p>
          <a:p>
            <a:pPr lvl="2"/>
            <a:endParaRPr lang="en-US" altLang="zh-CN" dirty="0">
              <a:ea typeface="宋体" charset="-122"/>
            </a:endParaRPr>
          </a:p>
          <a:p>
            <a:pPr lvl="2"/>
            <a:endParaRPr lang="en-US" altLang="zh-CN" dirty="0">
              <a:ea typeface="宋体" charset="-122"/>
            </a:endParaRPr>
          </a:p>
          <a:p>
            <a:pPr lvl="2"/>
            <a:endParaRPr lang="en-US" altLang="zh-CN" dirty="0">
              <a:ea typeface="宋体" charset="-122"/>
            </a:endParaRPr>
          </a:p>
          <a:p>
            <a:pPr lvl="2"/>
            <a:endParaRPr lang="en-US" altLang="zh-CN" dirty="0">
              <a:ea typeface="宋体" charset="-122"/>
            </a:endParaRPr>
          </a:p>
          <a:p>
            <a:pPr lvl="2"/>
            <a:endParaRPr lang="en-US" altLang="zh-CN" dirty="0">
              <a:ea typeface="宋体" charset="-122"/>
            </a:endParaRPr>
          </a:p>
          <a:p>
            <a:pPr lvl="2">
              <a:buNone/>
            </a:pPr>
            <a:endParaRPr lang="en-US" altLang="zh-CN" dirty="0">
              <a:ea typeface="宋体" charset="-122"/>
            </a:endParaRPr>
          </a:p>
        </p:txBody>
      </p:sp>
      <p:sp>
        <p:nvSpPr>
          <p:cNvPr id="11" name="Slide Number Placeholder 10"/>
          <p:cNvSpPr>
            <a:spLocks noGrp="1"/>
          </p:cNvSpPr>
          <p:nvPr>
            <p:ph type="sldNum" sz="quarter" idx="10"/>
          </p:nvPr>
        </p:nvSpPr>
        <p:spPr/>
        <p:txBody>
          <a:bodyPr/>
          <a:lstStyle/>
          <a:p>
            <a:pPr defTabSz="914400">
              <a:defRPr/>
            </a:pPr>
            <a:r>
              <a:rPr lang="en-US" dirty="0">
                <a:solidFill>
                  <a:srgbClr val="0C0C0C">
                    <a:tint val="75000"/>
                  </a:srgbClr>
                </a:solidFill>
                <a:latin typeface="Arial"/>
              </a:rPr>
              <a:t>Coding Considerations 23- </a:t>
            </a:r>
            <a:fld id="{060BD193-E118-4B16-863C-C8C12C675E3E}" type="slidenum">
              <a:rPr lang="en-US">
                <a:solidFill>
                  <a:srgbClr val="0C0C0C">
                    <a:tint val="75000"/>
                  </a:srgbClr>
                </a:solidFill>
                <a:latin typeface="Arial"/>
              </a:rPr>
              <a:pPr defTabSz="914400">
                <a:defRPr/>
              </a:pPr>
              <a:t>24</a:t>
            </a:fld>
            <a:endParaRPr lang="en-US" dirty="0">
              <a:solidFill>
                <a:srgbClr val="0C0C0C">
                  <a:tint val="75000"/>
                </a:srgbClr>
              </a:solidFill>
              <a:latin typeface="Arial"/>
            </a:endParaRPr>
          </a:p>
        </p:txBody>
      </p:sp>
      <p:sp>
        <p:nvSpPr>
          <p:cNvPr id="10" name="TextBox 9">
            <a:extLst>
              <a:ext uri="{FF2B5EF4-FFF2-40B4-BE49-F238E27FC236}">
                <a16:creationId xmlns:a16="http://schemas.microsoft.com/office/drawing/2014/main" id="{B62B8496-9D04-4D8E-82FE-296E72B9A1D3}"/>
              </a:ext>
            </a:extLst>
          </p:cNvPr>
          <p:cNvSpPr txBox="1"/>
          <p:nvPr/>
        </p:nvSpPr>
        <p:spPr>
          <a:xfrm>
            <a:off x="5174520" y="4465935"/>
            <a:ext cx="3993080" cy="1785104"/>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50000"/>
              </a:spcBef>
              <a:spcAft>
                <a:spcPct val="0"/>
              </a:spcAft>
              <a:defRPr/>
            </a:pPr>
            <a:r>
              <a:rPr lang="en-US" altLang="zh-CN" sz="1000" kern="0" dirty="0">
                <a:solidFill>
                  <a:srgbClr val="000000"/>
                </a:solidFill>
                <a:latin typeface="Arial"/>
                <a:ea typeface="宋体" charset="-122"/>
              </a:rPr>
              <a:t>void foo (…]) {</a:t>
            </a:r>
          </a:p>
          <a:p>
            <a:pPr defTabSz="914400" fontAlgn="base">
              <a:spcBef>
                <a:spcPct val="50000"/>
              </a:spcBef>
              <a:spcAft>
                <a:spcPct val="0"/>
              </a:spcAft>
              <a:defRPr/>
            </a:pPr>
            <a:r>
              <a:rPr lang="en-US" altLang="zh-CN" sz="1000" kern="0" dirty="0">
                <a:solidFill>
                  <a:srgbClr val="000000"/>
                </a:solidFill>
                <a:latin typeface="Arial"/>
                <a:ea typeface="宋体" charset="-122"/>
              </a:rPr>
              <a:t>   ...</a:t>
            </a:r>
          </a:p>
          <a:p>
            <a:pPr defTabSz="914400" fontAlgn="base">
              <a:spcBef>
                <a:spcPct val="50000"/>
              </a:spcBef>
              <a:spcAft>
                <a:spcPct val="0"/>
              </a:spcAft>
              <a:defRPr/>
            </a:pPr>
            <a:r>
              <a:rPr lang="en-US" altLang="zh-CN" sz="1000" b="1" kern="0" dirty="0">
                <a:solidFill>
                  <a:srgbClr val="000000"/>
                </a:solidFill>
                <a:latin typeface="Arial"/>
                <a:ea typeface="宋体" charset="-122"/>
              </a:rPr>
              <a:t>#ifndef __SYNTHESIS__ </a:t>
            </a:r>
          </a:p>
          <a:p>
            <a:pPr defTabSz="914400" fontAlgn="base">
              <a:spcBef>
                <a:spcPct val="50000"/>
              </a:spcBef>
              <a:spcAft>
                <a:spcPct val="0"/>
              </a:spcAft>
              <a:defRPr/>
            </a:pPr>
            <a:r>
              <a:rPr lang="en-US" altLang="zh-CN" sz="1000" b="1" kern="0" dirty="0">
                <a:solidFill>
                  <a:srgbClr val="000000"/>
                </a:solidFill>
                <a:latin typeface="Arial"/>
                <a:ea typeface="宋体" charset="-122"/>
              </a:rPr>
              <a:t>  Code will  be seen by simulation.</a:t>
            </a:r>
          </a:p>
          <a:p>
            <a:pPr defTabSz="914400" fontAlgn="base">
              <a:spcBef>
                <a:spcPct val="50000"/>
              </a:spcBef>
              <a:spcAft>
                <a:spcPct val="0"/>
              </a:spcAft>
              <a:defRPr/>
            </a:pPr>
            <a:r>
              <a:rPr lang="en-US" altLang="zh-CN" sz="1000" b="1" kern="0" dirty="0">
                <a:solidFill>
                  <a:srgbClr val="000000"/>
                </a:solidFill>
                <a:latin typeface="Arial"/>
                <a:ea typeface="宋体" charset="-122"/>
              </a:rPr>
              <a:t>  But not synthesis.</a:t>
            </a:r>
          </a:p>
          <a:p>
            <a:pPr defTabSz="914400" fontAlgn="base">
              <a:spcBef>
                <a:spcPct val="50000"/>
              </a:spcBef>
              <a:spcAft>
                <a:spcPct val="0"/>
              </a:spcAft>
              <a:defRPr/>
            </a:pPr>
            <a:r>
              <a:rPr lang="en-US" altLang="zh-CN" sz="1000" b="1" kern="0" dirty="0">
                <a:solidFill>
                  <a:srgbClr val="000000"/>
                </a:solidFill>
                <a:latin typeface="Arial"/>
                <a:ea typeface="宋体" charset="-122"/>
              </a:rPr>
              <a:t>#endif</a:t>
            </a:r>
          </a:p>
          <a:p>
            <a:pPr defTabSz="914400" fontAlgn="base">
              <a:spcBef>
                <a:spcPct val="50000"/>
              </a:spcBef>
              <a:spcAft>
                <a:spcPct val="0"/>
              </a:spcAft>
              <a:defRPr/>
            </a:pPr>
            <a:r>
              <a:rPr lang="en-US" altLang="zh-CN" sz="1000" kern="0" dirty="0">
                <a:solidFill>
                  <a:srgbClr val="000000"/>
                </a:solidFill>
                <a:latin typeface="Arial"/>
                <a:ea typeface="宋体" charset="-122"/>
              </a:rPr>
              <a:t>   …</a:t>
            </a:r>
            <a:br>
              <a:rPr lang="en-US" altLang="zh-CN" sz="1000" kern="0" dirty="0">
                <a:solidFill>
                  <a:srgbClr val="000000"/>
                </a:solidFill>
                <a:latin typeface="Arial"/>
                <a:ea typeface="宋体" charset="-122"/>
              </a:rPr>
            </a:br>
            <a:r>
              <a:rPr lang="en-US" altLang="zh-CN" sz="1000" kern="0" dirty="0">
                <a:solidFill>
                  <a:srgbClr val="000000"/>
                </a:solidFill>
                <a:latin typeface="Arial"/>
                <a:ea typeface="宋体" charset="-122"/>
              </a:rPr>
              <a:t>}</a:t>
            </a:r>
          </a:p>
        </p:txBody>
      </p:sp>
      <p:cxnSp>
        <p:nvCxnSpPr>
          <p:cNvPr id="12" name="Straight Arrow Connector 11">
            <a:extLst>
              <a:ext uri="{FF2B5EF4-FFF2-40B4-BE49-F238E27FC236}">
                <a16:creationId xmlns:a16="http://schemas.microsoft.com/office/drawing/2014/main" id="{33D1DC4D-248B-4E05-95EC-FD75E4C5F2FF}"/>
              </a:ext>
            </a:extLst>
          </p:cNvPr>
          <p:cNvCxnSpPr/>
          <p:nvPr/>
        </p:nvCxnSpPr>
        <p:spPr>
          <a:xfrm rot="5400000">
            <a:off x="4785157" y="5347465"/>
            <a:ext cx="576075" cy="2117"/>
          </a:xfrm>
          <a:prstGeom prst="straightConnector1">
            <a:avLst/>
          </a:prstGeom>
          <a:noFill/>
          <a:ln w="38100" cap="flat" cmpd="sng" algn="ctr">
            <a:solidFill>
              <a:srgbClr val="000000"/>
            </a:solidFill>
            <a:prstDash val="solid"/>
            <a:headEnd type="triangle" w="med" len="med"/>
            <a:tailEnd type="triangle" w="med" len="med"/>
          </a:ln>
          <a:effectLst>
            <a:outerShdw blurRad="40000" dist="20000" dir="5400000" rotWithShape="0">
              <a:srgbClr val="000000">
                <a:alpha val="38000"/>
              </a:srgbClr>
            </a:outerShdw>
          </a:effectLst>
        </p:spPr>
      </p:cxnSp>
      <p:sp>
        <p:nvSpPr>
          <p:cNvPr id="13" name="TextBox 12">
            <a:extLst>
              <a:ext uri="{FF2B5EF4-FFF2-40B4-BE49-F238E27FC236}">
                <a16:creationId xmlns:a16="http://schemas.microsoft.com/office/drawing/2014/main" id="{9F9DD75A-1DF0-4DF3-84ED-685303DC0325}"/>
              </a:ext>
            </a:extLst>
          </p:cNvPr>
          <p:cNvSpPr txBox="1"/>
          <p:nvPr/>
        </p:nvSpPr>
        <p:spPr>
          <a:xfrm>
            <a:off x="2205309" y="5137296"/>
            <a:ext cx="2764439" cy="430887"/>
          </a:xfrm>
          <a:prstGeom prst="rect">
            <a:avLst/>
          </a:prstGeom>
          <a:solidFill>
            <a:srgbClr val="FFFF99"/>
          </a:solidFill>
          <a:ln>
            <a:solidFill>
              <a:srgbClr val="000000"/>
            </a:solidFill>
          </a:ln>
          <a:effectLst>
            <a:innerShdw blurRad="63500" dist="50800" dir="2700000">
              <a:prstClr val="black">
                <a:alpha val="50000"/>
              </a:prstClr>
            </a:innerShdw>
          </a:effectLst>
        </p:spPr>
        <p:txBody>
          <a:bodyPr wrap="square" rtlCol="0">
            <a:spAutoFit/>
          </a:bodyPr>
          <a:lstStyle/>
          <a:p>
            <a:pPr algn="ctr" defTabSz="914400" fontAlgn="base">
              <a:spcBef>
                <a:spcPct val="0"/>
              </a:spcBef>
              <a:spcAft>
                <a:spcPct val="0"/>
              </a:spcAft>
              <a:defRPr/>
            </a:pPr>
            <a:r>
              <a:rPr lang="en-US" sz="1100" b="1" kern="0" dirty="0">
                <a:solidFill>
                  <a:srgbClr val="000000"/>
                </a:solidFill>
                <a:latin typeface="Arial"/>
              </a:rPr>
              <a:t>Only read this code if macro __SYNTHESIS__ is </a:t>
            </a:r>
            <a:r>
              <a:rPr lang="en-US" sz="1100" b="1" u="sng" kern="0" dirty="0">
                <a:solidFill>
                  <a:srgbClr val="000000"/>
                </a:solidFill>
                <a:latin typeface="Arial"/>
              </a:rPr>
              <a:t>not</a:t>
            </a:r>
            <a:r>
              <a:rPr lang="en-US" sz="1100" b="1" kern="0" dirty="0">
                <a:solidFill>
                  <a:srgbClr val="000000"/>
                </a:solidFill>
                <a:latin typeface="Arial"/>
              </a:rPr>
              <a:t> set</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p:cNvSpPr>
            <a:spLocks noGrp="1"/>
          </p:cNvSpPr>
          <p:nvPr>
            <p:ph type="title"/>
          </p:nvPr>
        </p:nvSpPr>
        <p:spPr/>
        <p:txBody>
          <a:bodyPr/>
          <a:lstStyle/>
          <a:p>
            <a:r>
              <a:rPr lang="en-US" altLang="zh-CN" dirty="0">
                <a:ea typeface="宋体" charset="-122"/>
              </a:rPr>
              <a:t>Unsupported: General Pointer Casting </a:t>
            </a:r>
          </a:p>
        </p:txBody>
      </p:sp>
      <p:sp>
        <p:nvSpPr>
          <p:cNvPr id="40962" name="Rectangle 3"/>
          <p:cNvSpPr>
            <a:spLocks noGrp="1"/>
          </p:cNvSpPr>
          <p:nvPr>
            <p:ph idx="1"/>
          </p:nvPr>
        </p:nvSpPr>
        <p:spPr/>
        <p:txBody>
          <a:bodyPr/>
          <a:lstStyle/>
          <a:p>
            <a:r>
              <a:rPr lang="en-US" altLang="zh-CN" dirty="0">
                <a:ea typeface="宋体" charset="-122"/>
              </a:rPr>
              <a:t>Pointer reinterpretation</a:t>
            </a:r>
          </a:p>
          <a:p>
            <a:pPr lvl="1"/>
            <a:r>
              <a:rPr lang="en-US" altLang="zh-CN" dirty="0">
                <a:ea typeface="宋体" charset="-122"/>
              </a:rPr>
              <a:t>Casting a pointer to a different type is </a:t>
            </a:r>
            <a:br>
              <a:rPr lang="en-US" altLang="zh-CN" dirty="0">
                <a:ea typeface="宋体" charset="-122"/>
              </a:rPr>
            </a:br>
            <a:r>
              <a:rPr lang="en-US" altLang="zh-CN" dirty="0">
                <a:ea typeface="宋体" charset="-122"/>
              </a:rPr>
              <a:t>not allowed in the general case</a:t>
            </a:r>
          </a:p>
          <a:p>
            <a:pPr lvl="1"/>
            <a:endParaRPr lang="en-US" altLang="zh-CN" dirty="0">
              <a:ea typeface="宋体" charset="-122"/>
            </a:endParaRPr>
          </a:p>
          <a:p>
            <a:pPr lvl="1"/>
            <a:endParaRPr lang="en-US" altLang="zh-CN" dirty="0">
              <a:ea typeface="宋体" charset="-122"/>
            </a:endParaRPr>
          </a:p>
          <a:p>
            <a:pPr lvl="1">
              <a:buNone/>
            </a:pPr>
            <a:endParaRPr lang="en-US" altLang="zh-CN" dirty="0">
              <a:ea typeface="宋体" charset="-122"/>
            </a:endParaRPr>
          </a:p>
          <a:p>
            <a:r>
              <a:rPr lang="en-US" altLang="zh-CN" dirty="0">
                <a:ea typeface="宋体" charset="-122"/>
              </a:rPr>
              <a:t>Pointer casting </a:t>
            </a:r>
            <a:r>
              <a:rPr lang="en-US" altLang="zh-CN" u="sng" dirty="0">
                <a:ea typeface="宋体" charset="-122"/>
              </a:rPr>
              <a:t>is allowed </a:t>
            </a:r>
            <a:r>
              <a:rPr lang="en-US" altLang="zh-CN" dirty="0">
                <a:ea typeface="宋体" charset="-122"/>
              </a:rPr>
              <a:t>between native C integer types</a:t>
            </a:r>
          </a:p>
          <a:p>
            <a:pPr lvl="1"/>
            <a:endParaRPr lang="en-US" altLang="zh-CN" dirty="0">
              <a:ea typeface="宋体" charset="-122"/>
            </a:endParaRPr>
          </a:p>
          <a:p>
            <a:pPr lvl="1"/>
            <a:endParaRPr lang="en-US" altLang="zh-CN" dirty="0">
              <a:ea typeface="宋体" charset="-122"/>
            </a:endParaRPr>
          </a:p>
        </p:txBody>
      </p:sp>
      <p:sp>
        <p:nvSpPr>
          <p:cNvPr id="9" name="Slide Number Placeholder 5">
            <a:extLst>
              <a:ext uri="{FF2B5EF4-FFF2-40B4-BE49-F238E27FC236}">
                <a16:creationId xmlns:a16="http://schemas.microsoft.com/office/drawing/2014/main" id="{05A56C09-F6D3-41DB-BC4E-740D663A3F7A}"/>
              </a:ext>
            </a:extLst>
          </p:cNvPr>
          <p:cNvSpPr>
            <a:spLocks noGrp="1"/>
          </p:cNvSpPr>
          <p:nvPr>
            <p:ph type="sldNum" sz="quarter" idx="4"/>
          </p:nvPr>
        </p:nvSpPr>
        <p:spPr/>
        <p:txBody>
          <a:bodyPr/>
          <a:lstStyle/>
          <a:p>
            <a:pPr>
              <a:defRPr/>
            </a:pPr>
            <a:r>
              <a:rPr lang="en-US" dirty="0"/>
              <a:t>Coding Considerations 23- </a:t>
            </a:r>
            <a:fld id="{060BD193-E118-4B16-863C-C8C12C675E3E}" type="slidenum">
              <a:rPr lang="en-US" smtClean="0"/>
              <a:pPr>
                <a:defRPr/>
              </a:pPr>
              <a:t>25</a:t>
            </a:fld>
            <a:endParaRPr lang="en-US" dirty="0"/>
          </a:p>
        </p:txBody>
      </p:sp>
      <p:sp>
        <p:nvSpPr>
          <p:cNvPr id="10" name="Rectangle 3"/>
          <p:cNvSpPr txBox="1">
            <a:spLocks/>
          </p:cNvSpPr>
          <p:nvPr/>
        </p:nvSpPr>
        <p:spPr bwMode="auto">
          <a:xfrm>
            <a:off x="6147196" y="1672022"/>
            <a:ext cx="5733653" cy="2726755"/>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a:bodyPr>
          <a:lstStyle/>
          <a:p>
            <a:pPr marL="742950" lvl="1" indent="-285750" defTabSz="457200" fontAlgn="base">
              <a:spcBef>
                <a:spcPct val="20000"/>
              </a:spcBef>
              <a:spcAft>
                <a:spcPct val="0"/>
              </a:spcAft>
              <a:buFont typeface="Arial" charset="0"/>
              <a:buChar char="–"/>
              <a:defRPr/>
            </a:pPr>
            <a:endParaRPr lang="en-US" altLang="zh-CN" dirty="0">
              <a:ea typeface="宋体" charset="-122"/>
            </a:endParaRPr>
          </a:p>
          <a:p>
            <a:pPr marL="742950" lvl="1" indent="-285750" defTabSz="457200" fontAlgn="base">
              <a:spcBef>
                <a:spcPct val="20000"/>
              </a:spcBef>
              <a:spcAft>
                <a:spcPct val="0"/>
              </a:spcAft>
              <a:buFont typeface="Arial" charset="0"/>
              <a:buChar char="–"/>
              <a:defRPr/>
            </a:pPr>
            <a:r>
              <a:rPr lang="en-US" altLang="zh-CN" dirty="0">
                <a:ea typeface="宋体" charset="-122"/>
              </a:rPr>
              <a:t>Solution: assign values using the original type</a:t>
            </a:r>
          </a:p>
          <a:p>
            <a:pPr marL="742950" lvl="1" indent="-285750" defTabSz="457200" fontAlgn="base">
              <a:spcBef>
                <a:spcPct val="20000"/>
              </a:spcBef>
              <a:spcAft>
                <a:spcPct val="0"/>
              </a:spcAft>
              <a:buFont typeface="Arial" charset="0"/>
              <a:buChar char="–"/>
              <a:defRPr/>
            </a:pPr>
            <a:endParaRPr lang="en-US" altLang="zh-CN" dirty="0">
              <a:ea typeface="宋体" charset="-122"/>
            </a:endParaRPr>
          </a:p>
          <a:p>
            <a:pPr marL="742950" lvl="1" indent="-285750" defTabSz="457200" fontAlgn="base">
              <a:spcBef>
                <a:spcPct val="20000"/>
              </a:spcBef>
              <a:spcAft>
                <a:spcPct val="0"/>
              </a:spcAft>
              <a:buFont typeface="Arial" charset="0"/>
              <a:buChar char="–"/>
              <a:defRPr/>
            </a:pPr>
            <a:endParaRPr lang="en-US" altLang="zh-CN" dirty="0">
              <a:ea typeface="宋体" charset="-122"/>
            </a:endParaRPr>
          </a:p>
          <a:p>
            <a:pPr marL="742950" lvl="1" indent="-285750" defTabSz="457200" fontAlgn="base">
              <a:spcBef>
                <a:spcPct val="20000"/>
              </a:spcBef>
              <a:spcAft>
                <a:spcPct val="0"/>
              </a:spcAft>
              <a:buFont typeface="Arial" charset="0"/>
              <a:buChar char="–"/>
              <a:defRPr/>
            </a:pPr>
            <a:endParaRPr lang="en-US" altLang="zh-CN" dirty="0">
              <a:ea typeface="宋体" charset="-122"/>
            </a:endParaRPr>
          </a:p>
          <a:p>
            <a:pPr marL="742950" lvl="1" indent="-285750" defTabSz="457200" fontAlgn="base">
              <a:spcBef>
                <a:spcPct val="20000"/>
              </a:spcBef>
              <a:spcAft>
                <a:spcPct val="0"/>
              </a:spcAft>
              <a:buFont typeface="Arial" charset="0"/>
              <a:buChar char="–"/>
              <a:defRPr/>
            </a:pPr>
            <a:endParaRPr lang="en-US" altLang="zh-CN" dirty="0">
              <a:ea typeface="宋体" charset="-122"/>
            </a:endParaRPr>
          </a:p>
          <a:p>
            <a:pPr marL="742950" lvl="1" indent="-285750" defTabSz="457200" fontAlgn="base">
              <a:spcBef>
                <a:spcPct val="20000"/>
              </a:spcBef>
              <a:spcAft>
                <a:spcPct val="0"/>
              </a:spcAft>
              <a:buFont typeface="Arial" charset="0"/>
              <a:buChar char="–"/>
              <a:defRPr/>
            </a:pPr>
            <a:endParaRPr lang="en-US" altLang="zh-CN" dirty="0">
              <a:ea typeface="宋体" charset="-122"/>
            </a:endParaRPr>
          </a:p>
          <a:p>
            <a:pPr marL="742950" lvl="1" indent="-285750" defTabSz="457200" fontAlgn="base">
              <a:spcBef>
                <a:spcPct val="20000"/>
              </a:spcBef>
              <a:spcAft>
                <a:spcPct val="0"/>
              </a:spcAft>
              <a:buFont typeface="Arial" charset="0"/>
              <a:buChar char="–"/>
              <a:defRPr/>
            </a:pPr>
            <a:endParaRPr lang="en-US" altLang="zh-CN" dirty="0">
              <a:ea typeface="宋体" charset="-122"/>
            </a:endParaRPr>
          </a:p>
        </p:txBody>
      </p:sp>
      <p:sp>
        <p:nvSpPr>
          <p:cNvPr id="12" name="TextBox 11">
            <a:extLst>
              <a:ext uri="{FF2B5EF4-FFF2-40B4-BE49-F238E27FC236}">
                <a16:creationId xmlns:a16="http://schemas.microsoft.com/office/drawing/2014/main" id="{C9C6D5F8-7CC8-4F08-B3D5-447BC51CD4ED}"/>
              </a:ext>
            </a:extLst>
          </p:cNvPr>
          <p:cNvSpPr txBox="1"/>
          <p:nvPr/>
        </p:nvSpPr>
        <p:spPr>
          <a:xfrm>
            <a:off x="2346472" y="2708571"/>
            <a:ext cx="2201313" cy="1142620"/>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50000"/>
              </a:spcBef>
              <a:spcAft>
                <a:spcPct val="0"/>
              </a:spcAft>
              <a:defRPr/>
            </a:pPr>
            <a:r>
              <a:rPr lang="en-US" altLang="zh-CN" sz="1050" kern="0" dirty="0">
                <a:solidFill>
                  <a:srgbClr val="000000"/>
                </a:solidFill>
                <a:latin typeface="Arial"/>
                <a:ea typeface="宋体" charset="-122"/>
              </a:rPr>
              <a:t>struct {</a:t>
            </a:r>
            <a:br>
              <a:rPr lang="en-US" altLang="zh-CN" sz="1050" kern="0" dirty="0">
                <a:solidFill>
                  <a:srgbClr val="000000"/>
                </a:solidFill>
                <a:latin typeface="Arial"/>
                <a:ea typeface="宋体" charset="-122"/>
              </a:rPr>
            </a:br>
            <a:r>
              <a:rPr lang="en-US" altLang="zh-CN" sz="1050" kern="0" dirty="0">
                <a:solidFill>
                  <a:srgbClr val="000000"/>
                </a:solidFill>
                <a:latin typeface="Arial"/>
                <a:ea typeface="宋体" charset="-122"/>
              </a:rPr>
              <a:t>  short first; </a:t>
            </a:r>
            <a:br>
              <a:rPr lang="en-US" altLang="zh-CN" sz="1050" kern="0" dirty="0">
                <a:solidFill>
                  <a:srgbClr val="000000"/>
                </a:solidFill>
                <a:latin typeface="Arial"/>
                <a:ea typeface="宋体" charset="-122"/>
              </a:rPr>
            </a:br>
            <a:r>
              <a:rPr lang="en-US" altLang="zh-CN" sz="1050" kern="0" dirty="0">
                <a:solidFill>
                  <a:srgbClr val="000000"/>
                </a:solidFill>
                <a:latin typeface="Arial"/>
                <a:ea typeface="宋体" charset="-122"/>
              </a:rPr>
              <a:t>  short second; </a:t>
            </a:r>
            <a:br>
              <a:rPr lang="en-US" altLang="zh-CN" sz="1050" kern="0" dirty="0">
                <a:solidFill>
                  <a:srgbClr val="000000"/>
                </a:solidFill>
                <a:latin typeface="Arial"/>
                <a:ea typeface="宋体" charset="-122"/>
              </a:rPr>
            </a:br>
            <a:r>
              <a:rPr lang="en-US" altLang="zh-CN" sz="1050" kern="0" dirty="0">
                <a:solidFill>
                  <a:srgbClr val="000000"/>
                </a:solidFill>
                <a:latin typeface="Arial"/>
                <a:ea typeface="宋体" charset="-122"/>
              </a:rPr>
              <a:t>} pair;</a:t>
            </a:r>
          </a:p>
          <a:p>
            <a:pPr defTabSz="914400" fontAlgn="base">
              <a:spcBef>
                <a:spcPct val="50000"/>
              </a:spcBef>
              <a:spcAft>
                <a:spcPct val="0"/>
              </a:spcAft>
              <a:defRPr/>
            </a:pPr>
            <a:r>
              <a:rPr lang="en-US" altLang="zh-CN" sz="1050" kern="0" dirty="0">
                <a:solidFill>
                  <a:srgbClr val="000000"/>
                </a:solidFill>
                <a:latin typeface="Arial"/>
                <a:ea typeface="宋体" charset="-122"/>
              </a:rPr>
              <a:t>*(unsigned*)pair = -1U;</a:t>
            </a:r>
          </a:p>
          <a:p>
            <a:pPr defTabSz="914400" fontAlgn="base">
              <a:spcBef>
                <a:spcPct val="0"/>
              </a:spcBef>
              <a:spcAft>
                <a:spcPct val="0"/>
              </a:spcAft>
              <a:defRPr/>
            </a:pPr>
            <a:endParaRPr lang="en-US" altLang="zh-CN" sz="1050" kern="0" dirty="0">
              <a:solidFill>
                <a:srgbClr val="000000"/>
              </a:solidFill>
              <a:latin typeface="Arial"/>
              <a:ea typeface="宋体" charset="-122"/>
            </a:endParaRPr>
          </a:p>
        </p:txBody>
      </p:sp>
      <p:sp>
        <p:nvSpPr>
          <p:cNvPr id="14" name="TextBox 13">
            <a:extLst>
              <a:ext uri="{FF2B5EF4-FFF2-40B4-BE49-F238E27FC236}">
                <a16:creationId xmlns:a16="http://schemas.microsoft.com/office/drawing/2014/main" id="{B3F69239-7EA8-4081-8CFB-755591F779E2}"/>
              </a:ext>
            </a:extLst>
          </p:cNvPr>
          <p:cNvSpPr txBox="1"/>
          <p:nvPr/>
        </p:nvSpPr>
        <p:spPr>
          <a:xfrm>
            <a:off x="7824157" y="2631761"/>
            <a:ext cx="2150120" cy="1142620"/>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50000"/>
              </a:spcBef>
              <a:spcAft>
                <a:spcPct val="0"/>
              </a:spcAft>
              <a:defRPr/>
            </a:pPr>
            <a:r>
              <a:rPr lang="en-US" altLang="zh-CN" sz="1050" kern="0" dirty="0">
                <a:solidFill>
                  <a:srgbClr val="000000"/>
                </a:solidFill>
                <a:latin typeface="Arial"/>
                <a:ea typeface="宋体" charset="-122"/>
              </a:rPr>
              <a:t>struct {</a:t>
            </a:r>
            <a:br>
              <a:rPr lang="en-US" altLang="zh-CN" sz="1050" kern="0" dirty="0">
                <a:solidFill>
                  <a:srgbClr val="000000"/>
                </a:solidFill>
                <a:latin typeface="Arial"/>
                <a:ea typeface="宋体" charset="-122"/>
              </a:rPr>
            </a:br>
            <a:r>
              <a:rPr lang="en-US" altLang="zh-CN" sz="1050" kern="0" dirty="0">
                <a:solidFill>
                  <a:srgbClr val="000000"/>
                </a:solidFill>
                <a:latin typeface="Arial"/>
                <a:ea typeface="宋体" charset="-122"/>
              </a:rPr>
              <a:t>  short first; </a:t>
            </a:r>
            <a:br>
              <a:rPr lang="en-US" altLang="zh-CN" sz="1050" kern="0" dirty="0">
                <a:solidFill>
                  <a:srgbClr val="000000"/>
                </a:solidFill>
                <a:latin typeface="Arial"/>
                <a:ea typeface="宋体" charset="-122"/>
              </a:rPr>
            </a:br>
            <a:r>
              <a:rPr lang="en-US" altLang="zh-CN" sz="1050" kern="0" dirty="0">
                <a:solidFill>
                  <a:srgbClr val="000000"/>
                </a:solidFill>
                <a:latin typeface="Arial"/>
                <a:ea typeface="宋体" charset="-122"/>
              </a:rPr>
              <a:t>  short second; </a:t>
            </a:r>
            <a:br>
              <a:rPr lang="en-US" altLang="zh-CN" sz="1050" kern="0" dirty="0">
                <a:solidFill>
                  <a:srgbClr val="000000"/>
                </a:solidFill>
                <a:latin typeface="Arial"/>
                <a:ea typeface="宋体" charset="-122"/>
              </a:rPr>
            </a:br>
            <a:r>
              <a:rPr lang="en-US" altLang="zh-CN" sz="1050" kern="0" dirty="0">
                <a:solidFill>
                  <a:srgbClr val="000000"/>
                </a:solidFill>
                <a:latin typeface="Arial"/>
                <a:ea typeface="宋体" charset="-122"/>
              </a:rPr>
              <a:t>} pair;</a:t>
            </a:r>
          </a:p>
          <a:p>
            <a:pPr defTabSz="914400" fontAlgn="base">
              <a:spcBef>
                <a:spcPct val="50000"/>
              </a:spcBef>
              <a:spcAft>
                <a:spcPct val="0"/>
              </a:spcAft>
              <a:defRPr/>
            </a:pPr>
            <a:r>
              <a:rPr lang="en-US" altLang="zh-CN" sz="1050" kern="0" dirty="0">
                <a:solidFill>
                  <a:srgbClr val="000000"/>
                </a:solidFill>
                <a:latin typeface="Arial"/>
                <a:ea typeface="宋体" charset="-122"/>
              </a:rPr>
              <a:t>pair.first = -1U;</a:t>
            </a:r>
            <a:br>
              <a:rPr lang="en-US" altLang="zh-CN" sz="1050" kern="0" dirty="0">
                <a:solidFill>
                  <a:srgbClr val="000000"/>
                </a:solidFill>
                <a:latin typeface="Arial"/>
                <a:ea typeface="宋体" charset="-122"/>
              </a:rPr>
            </a:br>
            <a:r>
              <a:rPr lang="en-US" altLang="zh-CN" sz="1050" kern="0" dirty="0">
                <a:solidFill>
                  <a:srgbClr val="000000"/>
                </a:solidFill>
                <a:latin typeface="Arial"/>
                <a:ea typeface="宋体" charset="-122"/>
              </a:rPr>
              <a:t>pair.second = -1U;</a:t>
            </a:r>
          </a:p>
        </p:txBody>
      </p:sp>
      <p:sp>
        <p:nvSpPr>
          <p:cNvPr id="15" name="TextBox 14">
            <a:extLst>
              <a:ext uri="{FF2B5EF4-FFF2-40B4-BE49-F238E27FC236}">
                <a16:creationId xmlns:a16="http://schemas.microsoft.com/office/drawing/2014/main" id="{13335088-0DFD-4B43-B694-2AFAD1D3C733}"/>
              </a:ext>
            </a:extLst>
          </p:cNvPr>
          <p:cNvSpPr txBox="1"/>
          <p:nvPr/>
        </p:nvSpPr>
        <p:spPr>
          <a:xfrm>
            <a:off x="4150656" y="4327524"/>
            <a:ext cx="3993080" cy="1938992"/>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50000"/>
              </a:spcBef>
              <a:spcAft>
                <a:spcPct val="0"/>
              </a:spcAft>
              <a:defRPr/>
            </a:pPr>
            <a:r>
              <a:rPr lang="en-US" altLang="zh-CN" sz="1000" kern="0" dirty="0">
                <a:solidFill>
                  <a:srgbClr val="000000"/>
                </a:solidFill>
                <a:latin typeface="Arial"/>
                <a:ea typeface="宋体" charset="-122"/>
              </a:rPr>
              <a:t>int foo (int index,  int A[N]) {</a:t>
            </a:r>
            <a:br>
              <a:rPr lang="en-US" altLang="zh-CN" sz="1000" kern="0" dirty="0">
                <a:solidFill>
                  <a:srgbClr val="000000"/>
                </a:solidFill>
                <a:latin typeface="Arial"/>
                <a:ea typeface="宋体" charset="-122"/>
              </a:rPr>
            </a:br>
            <a:r>
              <a:rPr lang="en-US" altLang="zh-CN" sz="1000" kern="0" dirty="0">
                <a:solidFill>
                  <a:srgbClr val="000000"/>
                </a:solidFill>
                <a:latin typeface="Arial"/>
                <a:ea typeface="宋体" charset="-122"/>
              </a:rPr>
              <a:t>  char* ptr;</a:t>
            </a:r>
            <a:br>
              <a:rPr lang="en-US" altLang="zh-CN" sz="1000" kern="0" dirty="0">
                <a:solidFill>
                  <a:srgbClr val="000000"/>
                </a:solidFill>
                <a:latin typeface="Arial"/>
                <a:ea typeface="宋体" charset="-122"/>
              </a:rPr>
            </a:br>
            <a:r>
              <a:rPr lang="en-US" altLang="zh-CN" sz="1000" kern="0" dirty="0">
                <a:solidFill>
                  <a:srgbClr val="000000"/>
                </a:solidFill>
                <a:latin typeface="Arial"/>
                <a:ea typeface="宋体" charset="-122"/>
              </a:rPr>
              <a:t>  int i =0, result = 0;</a:t>
            </a:r>
          </a:p>
          <a:p>
            <a:pPr defTabSz="914400" fontAlgn="base">
              <a:spcBef>
                <a:spcPct val="50000"/>
              </a:spcBef>
              <a:spcAft>
                <a:spcPct val="0"/>
              </a:spcAft>
              <a:defRPr/>
            </a:pPr>
            <a:r>
              <a:rPr lang="en-US" altLang="zh-CN" sz="1000" b="1" kern="0" dirty="0">
                <a:solidFill>
                  <a:srgbClr val="000000"/>
                </a:solidFill>
                <a:latin typeface="Arial"/>
                <a:ea typeface="宋体" charset="-122"/>
              </a:rPr>
              <a:t>  ptr = (char*)(&amp;A[index]);</a:t>
            </a:r>
          </a:p>
          <a:p>
            <a:pPr defTabSz="914400" fontAlgn="base">
              <a:spcBef>
                <a:spcPct val="50000"/>
              </a:spcBef>
              <a:spcAft>
                <a:spcPct val="0"/>
              </a:spcAft>
              <a:defRPr/>
            </a:pPr>
            <a:br>
              <a:rPr lang="en-US" altLang="zh-CN" sz="1000" kern="0" dirty="0">
                <a:solidFill>
                  <a:srgbClr val="009900"/>
                </a:solidFill>
                <a:latin typeface="Arial"/>
                <a:ea typeface="宋体" charset="-122"/>
              </a:rPr>
            </a:br>
            <a:r>
              <a:rPr lang="en-US" altLang="zh-CN" sz="1000" kern="0" dirty="0">
                <a:solidFill>
                  <a:srgbClr val="000000"/>
                </a:solidFill>
                <a:latin typeface="Arial"/>
                <a:ea typeface="宋体" charset="-122"/>
              </a:rPr>
              <a:t>  for (i = 0; i &lt; 4*N; ++i) {</a:t>
            </a:r>
            <a:br>
              <a:rPr lang="en-US" altLang="zh-CN" sz="1000" kern="0" dirty="0">
                <a:solidFill>
                  <a:srgbClr val="000000"/>
                </a:solidFill>
                <a:latin typeface="Arial"/>
                <a:ea typeface="宋体" charset="-122"/>
              </a:rPr>
            </a:br>
            <a:r>
              <a:rPr lang="en-US" altLang="zh-CN" sz="1000" kern="0" dirty="0">
                <a:solidFill>
                  <a:srgbClr val="000000"/>
                </a:solidFill>
                <a:latin typeface="Arial"/>
                <a:ea typeface="宋体" charset="-122"/>
              </a:rPr>
              <a:t>    result += *ptr;</a:t>
            </a:r>
            <a:br>
              <a:rPr lang="en-US" altLang="zh-CN" sz="1000" kern="0" dirty="0">
                <a:solidFill>
                  <a:srgbClr val="000000"/>
                </a:solidFill>
                <a:latin typeface="Arial"/>
                <a:ea typeface="宋体" charset="-122"/>
              </a:rPr>
            </a:br>
            <a:r>
              <a:rPr lang="en-US" altLang="zh-CN" sz="1000" kern="0" dirty="0">
                <a:solidFill>
                  <a:srgbClr val="000000"/>
                </a:solidFill>
                <a:latin typeface="Arial"/>
                <a:ea typeface="宋体" charset="-122"/>
              </a:rPr>
              <a:t>    ptr+=1;</a:t>
            </a:r>
            <a:br>
              <a:rPr lang="en-US" altLang="zh-CN" sz="1000" kern="0" dirty="0">
                <a:solidFill>
                  <a:srgbClr val="000000"/>
                </a:solidFill>
                <a:latin typeface="Arial"/>
                <a:ea typeface="宋体" charset="-122"/>
              </a:rPr>
            </a:br>
            <a:r>
              <a:rPr lang="en-US" altLang="zh-CN" sz="1000" kern="0" dirty="0">
                <a:solidFill>
                  <a:srgbClr val="000000"/>
                </a:solidFill>
                <a:latin typeface="Arial"/>
                <a:ea typeface="宋体" charset="-122"/>
              </a:rPr>
              <a:t>  }</a:t>
            </a:r>
            <a:br>
              <a:rPr lang="en-US" altLang="zh-CN" sz="1000" kern="0" dirty="0">
                <a:solidFill>
                  <a:srgbClr val="000000"/>
                </a:solidFill>
                <a:latin typeface="Arial"/>
                <a:ea typeface="宋体" charset="-122"/>
              </a:rPr>
            </a:br>
            <a:r>
              <a:rPr lang="en-US" altLang="zh-CN" sz="1000" kern="0" dirty="0">
                <a:solidFill>
                  <a:srgbClr val="000000"/>
                </a:solidFill>
                <a:latin typeface="Arial"/>
                <a:ea typeface="宋体" charset="-122"/>
              </a:rPr>
              <a:t>  return result;</a:t>
            </a:r>
            <a:br>
              <a:rPr lang="en-US" altLang="zh-CN" sz="1000" kern="0" dirty="0">
                <a:solidFill>
                  <a:srgbClr val="000000"/>
                </a:solidFill>
                <a:latin typeface="Arial"/>
                <a:ea typeface="宋体" charset="-122"/>
              </a:rPr>
            </a:br>
            <a:r>
              <a:rPr lang="en-US" altLang="zh-CN" sz="1000" kern="0" dirty="0">
                <a:solidFill>
                  <a:srgbClr val="000000"/>
                </a:solidFill>
                <a:latin typeface="Arial"/>
                <a:ea typeface="宋体" charset="-122"/>
              </a:rPr>
              <a:t>}</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61" name="Rectangle 2"/>
          <p:cNvSpPr>
            <a:spLocks noGrp="1"/>
          </p:cNvSpPr>
          <p:nvPr>
            <p:ph type="title"/>
          </p:nvPr>
        </p:nvSpPr>
        <p:spPr/>
        <p:txBody>
          <a:bodyPr/>
          <a:lstStyle/>
          <a:p>
            <a:r>
              <a:rPr lang="en-US" altLang="zh-CN" dirty="0">
                <a:ea typeface="宋体" charset="-122"/>
              </a:rPr>
              <a:t>Unsupported: General Pointer Casting </a:t>
            </a:r>
          </a:p>
        </p:txBody>
      </p:sp>
      <p:sp>
        <p:nvSpPr>
          <p:cNvPr id="40962" name="Rectangle 3"/>
          <p:cNvSpPr>
            <a:spLocks noGrp="1"/>
          </p:cNvSpPr>
          <p:nvPr>
            <p:ph idx="1"/>
          </p:nvPr>
        </p:nvSpPr>
        <p:spPr/>
        <p:txBody>
          <a:bodyPr/>
          <a:lstStyle/>
          <a:p>
            <a:r>
              <a:rPr lang="en-US" altLang="zh-CN" dirty="0">
                <a:ea typeface="宋体" charset="-122"/>
              </a:rPr>
              <a:t>Pointer reinterpretation</a:t>
            </a:r>
          </a:p>
          <a:p>
            <a:pPr lvl="1"/>
            <a:r>
              <a:rPr lang="en-US" altLang="zh-CN" dirty="0">
                <a:ea typeface="宋体" charset="-122"/>
              </a:rPr>
              <a:t>Casting a pointer to a different type is </a:t>
            </a:r>
            <a:br>
              <a:rPr lang="en-US" altLang="zh-CN" dirty="0">
                <a:ea typeface="宋体" charset="-122"/>
              </a:rPr>
            </a:br>
            <a:r>
              <a:rPr lang="en-US" altLang="zh-CN" dirty="0">
                <a:ea typeface="宋体" charset="-122"/>
              </a:rPr>
              <a:t>not allowed in the general case</a:t>
            </a:r>
          </a:p>
          <a:p>
            <a:pPr lvl="1"/>
            <a:endParaRPr lang="en-US" altLang="zh-CN" dirty="0">
              <a:ea typeface="宋体" charset="-122"/>
            </a:endParaRPr>
          </a:p>
          <a:p>
            <a:pPr lvl="1"/>
            <a:endParaRPr lang="en-US" altLang="zh-CN" dirty="0">
              <a:ea typeface="宋体" charset="-122"/>
            </a:endParaRPr>
          </a:p>
          <a:p>
            <a:pPr lvl="1"/>
            <a:endParaRPr lang="en-US" altLang="zh-CN" dirty="0">
              <a:ea typeface="宋体" charset="-122"/>
            </a:endParaRPr>
          </a:p>
          <a:p>
            <a:pPr lvl="1">
              <a:buNone/>
            </a:pPr>
            <a:endParaRPr lang="en-US" altLang="zh-CN" dirty="0">
              <a:ea typeface="宋体" charset="-122"/>
            </a:endParaRPr>
          </a:p>
          <a:p>
            <a:r>
              <a:rPr lang="en-US" altLang="zh-CN" dirty="0">
                <a:ea typeface="宋体" charset="-122"/>
              </a:rPr>
              <a:t>Pointer casting </a:t>
            </a:r>
            <a:r>
              <a:rPr lang="en-US" altLang="zh-CN" u="sng" dirty="0">
                <a:ea typeface="宋体" charset="-122"/>
              </a:rPr>
              <a:t>is allowed </a:t>
            </a:r>
            <a:r>
              <a:rPr lang="en-US" altLang="zh-CN" dirty="0">
                <a:ea typeface="宋体" charset="-122"/>
              </a:rPr>
              <a:t>between native C integer types</a:t>
            </a:r>
          </a:p>
          <a:p>
            <a:pPr lvl="1"/>
            <a:endParaRPr lang="en-US" altLang="zh-CN" dirty="0">
              <a:ea typeface="宋体" charset="-122"/>
            </a:endParaRPr>
          </a:p>
          <a:p>
            <a:pPr lvl="1"/>
            <a:endParaRPr lang="en-US" altLang="zh-CN" dirty="0">
              <a:ea typeface="宋体" charset="-122"/>
            </a:endParaRPr>
          </a:p>
        </p:txBody>
      </p:sp>
      <p:sp>
        <p:nvSpPr>
          <p:cNvPr id="13" name="Slide Number Placeholder 12"/>
          <p:cNvSpPr>
            <a:spLocks noGrp="1"/>
          </p:cNvSpPr>
          <p:nvPr>
            <p:ph type="sldNum" sz="quarter" idx="10"/>
          </p:nvPr>
        </p:nvSpPr>
        <p:spPr/>
        <p:txBody>
          <a:bodyPr/>
          <a:lstStyle/>
          <a:p>
            <a:pPr defTabSz="914400">
              <a:defRPr/>
            </a:pPr>
            <a:r>
              <a:rPr lang="en-US" dirty="0">
                <a:solidFill>
                  <a:srgbClr val="0C0C0C">
                    <a:tint val="75000"/>
                  </a:srgbClr>
                </a:solidFill>
                <a:latin typeface="Arial"/>
              </a:rPr>
              <a:t>Coding Considerations 23- </a:t>
            </a:r>
            <a:fld id="{060BD193-E118-4B16-863C-C8C12C675E3E}" type="slidenum">
              <a:rPr lang="en-US">
                <a:solidFill>
                  <a:srgbClr val="0C0C0C">
                    <a:tint val="75000"/>
                  </a:srgbClr>
                </a:solidFill>
                <a:latin typeface="Arial"/>
              </a:rPr>
              <a:pPr defTabSz="914400">
                <a:defRPr/>
              </a:pPr>
              <a:t>26</a:t>
            </a:fld>
            <a:endParaRPr lang="en-US" dirty="0">
              <a:solidFill>
                <a:srgbClr val="0C0C0C">
                  <a:tint val="75000"/>
                </a:srgbClr>
              </a:solidFill>
              <a:latin typeface="Arial"/>
            </a:endParaRPr>
          </a:p>
        </p:txBody>
      </p:sp>
      <p:sp>
        <p:nvSpPr>
          <p:cNvPr id="10" name="Rectangle 3"/>
          <p:cNvSpPr txBox="1">
            <a:spLocks/>
          </p:cNvSpPr>
          <p:nvPr/>
        </p:nvSpPr>
        <p:spPr bwMode="auto">
          <a:xfrm>
            <a:off x="6147196" y="1672022"/>
            <a:ext cx="5733653" cy="2726755"/>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a:bodyPr>
          <a:lstStyle/>
          <a:p>
            <a:pPr marL="742950" lvl="1" indent="-285750" defTabSz="457200" fontAlgn="base">
              <a:spcBef>
                <a:spcPct val="20000"/>
              </a:spcBef>
              <a:spcAft>
                <a:spcPct val="0"/>
              </a:spcAft>
              <a:buFont typeface="Arial" charset="0"/>
              <a:buChar char="–"/>
              <a:defRPr/>
            </a:pPr>
            <a:endParaRPr lang="en-US" altLang="zh-CN" dirty="0">
              <a:solidFill>
                <a:srgbClr val="0C0C0C"/>
              </a:solidFill>
              <a:latin typeface="Arial"/>
              <a:ea typeface="宋体" charset="-122"/>
            </a:endParaRPr>
          </a:p>
          <a:p>
            <a:pPr marL="742950" lvl="1" indent="-285750" defTabSz="457200" fontAlgn="base">
              <a:spcBef>
                <a:spcPct val="20000"/>
              </a:spcBef>
              <a:spcAft>
                <a:spcPct val="0"/>
              </a:spcAft>
              <a:buFont typeface="Arial" charset="0"/>
              <a:buChar char="–"/>
              <a:defRPr/>
            </a:pPr>
            <a:r>
              <a:rPr lang="en-US" altLang="zh-CN" dirty="0">
                <a:solidFill>
                  <a:srgbClr val="0C0C0C"/>
                </a:solidFill>
                <a:latin typeface="Arial"/>
                <a:ea typeface="宋体" charset="-122"/>
              </a:rPr>
              <a:t>Solution: assign values using the original type</a:t>
            </a:r>
          </a:p>
          <a:p>
            <a:pPr marL="742950" lvl="1" indent="-285750" defTabSz="457200" fontAlgn="base">
              <a:spcBef>
                <a:spcPct val="20000"/>
              </a:spcBef>
              <a:spcAft>
                <a:spcPct val="0"/>
              </a:spcAft>
              <a:buFont typeface="Arial" charset="0"/>
              <a:buChar char="–"/>
              <a:defRPr/>
            </a:pPr>
            <a:endParaRPr lang="en-US" altLang="zh-CN" dirty="0">
              <a:solidFill>
                <a:srgbClr val="0C0C0C"/>
              </a:solidFill>
              <a:latin typeface="Arial"/>
              <a:ea typeface="宋体" charset="-122"/>
            </a:endParaRPr>
          </a:p>
          <a:p>
            <a:pPr marL="742950" lvl="1" indent="-285750" defTabSz="457200" fontAlgn="base">
              <a:spcBef>
                <a:spcPct val="20000"/>
              </a:spcBef>
              <a:spcAft>
                <a:spcPct val="0"/>
              </a:spcAft>
              <a:buFont typeface="Arial" charset="0"/>
              <a:buChar char="–"/>
              <a:defRPr/>
            </a:pPr>
            <a:endParaRPr lang="en-US" altLang="zh-CN" dirty="0">
              <a:solidFill>
                <a:srgbClr val="0C0C0C"/>
              </a:solidFill>
              <a:latin typeface="Arial"/>
              <a:ea typeface="宋体" charset="-122"/>
            </a:endParaRPr>
          </a:p>
          <a:p>
            <a:pPr marL="742950" lvl="1" indent="-285750" defTabSz="457200" fontAlgn="base">
              <a:spcBef>
                <a:spcPct val="20000"/>
              </a:spcBef>
              <a:spcAft>
                <a:spcPct val="0"/>
              </a:spcAft>
              <a:buFont typeface="Arial" charset="0"/>
              <a:buChar char="–"/>
              <a:defRPr/>
            </a:pPr>
            <a:endParaRPr lang="en-US" altLang="zh-CN" dirty="0">
              <a:solidFill>
                <a:srgbClr val="0C0C0C"/>
              </a:solidFill>
              <a:latin typeface="Arial"/>
              <a:ea typeface="宋体" charset="-122"/>
            </a:endParaRPr>
          </a:p>
          <a:p>
            <a:pPr marL="742950" lvl="1" indent="-285750" defTabSz="457200" fontAlgn="base">
              <a:spcBef>
                <a:spcPct val="20000"/>
              </a:spcBef>
              <a:spcAft>
                <a:spcPct val="0"/>
              </a:spcAft>
              <a:buFont typeface="Arial" charset="0"/>
              <a:buChar char="–"/>
              <a:defRPr/>
            </a:pPr>
            <a:endParaRPr lang="en-US" altLang="zh-CN" dirty="0">
              <a:solidFill>
                <a:srgbClr val="0C0C0C"/>
              </a:solidFill>
              <a:latin typeface="Arial"/>
              <a:ea typeface="宋体" charset="-122"/>
            </a:endParaRPr>
          </a:p>
          <a:p>
            <a:pPr marL="742950" lvl="1" indent="-285750" defTabSz="457200" fontAlgn="base">
              <a:spcBef>
                <a:spcPct val="20000"/>
              </a:spcBef>
              <a:spcAft>
                <a:spcPct val="0"/>
              </a:spcAft>
              <a:buFont typeface="Arial" charset="0"/>
              <a:buChar char="–"/>
              <a:defRPr/>
            </a:pPr>
            <a:endParaRPr lang="en-US" altLang="zh-CN" dirty="0">
              <a:solidFill>
                <a:srgbClr val="0C0C0C"/>
              </a:solidFill>
              <a:latin typeface="Arial"/>
              <a:ea typeface="宋体" charset="-122"/>
            </a:endParaRPr>
          </a:p>
          <a:p>
            <a:pPr marL="742950" lvl="1" indent="-285750" defTabSz="457200" fontAlgn="base">
              <a:spcBef>
                <a:spcPct val="20000"/>
              </a:spcBef>
              <a:spcAft>
                <a:spcPct val="0"/>
              </a:spcAft>
              <a:buFont typeface="Arial" charset="0"/>
              <a:buChar char="–"/>
              <a:defRPr/>
            </a:pPr>
            <a:endParaRPr lang="en-US" altLang="zh-CN" dirty="0">
              <a:solidFill>
                <a:srgbClr val="0C0C0C"/>
              </a:solidFill>
              <a:latin typeface="Arial"/>
              <a:ea typeface="宋体" charset="-122"/>
            </a:endParaRPr>
          </a:p>
        </p:txBody>
      </p:sp>
      <p:sp>
        <p:nvSpPr>
          <p:cNvPr id="12" name="TextBox 11">
            <a:extLst>
              <a:ext uri="{FF2B5EF4-FFF2-40B4-BE49-F238E27FC236}">
                <a16:creationId xmlns:a16="http://schemas.microsoft.com/office/drawing/2014/main" id="{C9C6D5F8-7CC8-4F08-B3D5-447BC51CD4ED}"/>
              </a:ext>
            </a:extLst>
          </p:cNvPr>
          <p:cNvSpPr txBox="1"/>
          <p:nvPr/>
        </p:nvSpPr>
        <p:spPr>
          <a:xfrm>
            <a:off x="2346472" y="2513264"/>
            <a:ext cx="2201313" cy="1142620"/>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50000"/>
              </a:spcBef>
              <a:spcAft>
                <a:spcPct val="0"/>
              </a:spcAft>
              <a:defRPr/>
            </a:pPr>
            <a:r>
              <a:rPr lang="en-US" altLang="zh-CN" sz="1050" kern="0" dirty="0">
                <a:solidFill>
                  <a:srgbClr val="000000"/>
                </a:solidFill>
                <a:latin typeface="Arial"/>
                <a:ea typeface="宋体" charset="-122"/>
              </a:rPr>
              <a:t>struct {</a:t>
            </a:r>
            <a:br>
              <a:rPr lang="en-US" altLang="zh-CN" sz="1050" kern="0" dirty="0">
                <a:solidFill>
                  <a:srgbClr val="000000"/>
                </a:solidFill>
                <a:latin typeface="Arial"/>
                <a:ea typeface="宋体" charset="-122"/>
              </a:rPr>
            </a:br>
            <a:r>
              <a:rPr lang="en-US" altLang="zh-CN" sz="1050" kern="0" dirty="0">
                <a:solidFill>
                  <a:srgbClr val="000000"/>
                </a:solidFill>
                <a:latin typeface="Arial"/>
                <a:ea typeface="宋体" charset="-122"/>
              </a:rPr>
              <a:t>  short first; </a:t>
            </a:r>
            <a:br>
              <a:rPr lang="en-US" altLang="zh-CN" sz="1050" kern="0" dirty="0">
                <a:solidFill>
                  <a:srgbClr val="000000"/>
                </a:solidFill>
                <a:latin typeface="Arial"/>
                <a:ea typeface="宋体" charset="-122"/>
              </a:rPr>
            </a:br>
            <a:r>
              <a:rPr lang="en-US" altLang="zh-CN" sz="1050" kern="0" dirty="0">
                <a:solidFill>
                  <a:srgbClr val="000000"/>
                </a:solidFill>
                <a:latin typeface="Arial"/>
                <a:ea typeface="宋体" charset="-122"/>
              </a:rPr>
              <a:t>  short second; </a:t>
            </a:r>
            <a:br>
              <a:rPr lang="en-US" altLang="zh-CN" sz="1050" kern="0" dirty="0">
                <a:solidFill>
                  <a:srgbClr val="000000"/>
                </a:solidFill>
                <a:latin typeface="Arial"/>
                <a:ea typeface="宋体" charset="-122"/>
              </a:rPr>
            </a:br>
            <a:r>
              <a:rPr lang="en-US" altLang="zh-CN" sz="1050" kern="0" dirty="0">
                <a:solidFill>
                  <a:srgbClr val="000000"/>
                </a:solidFill>
                <a:latin typeface="Arial"/>
                <a:ea typeface="宋体" charset="-122"/>
              </a:rPr>
              <a:t>} pair;</a:t>
            </a:r>
          </a:p>
          <a:p>
            <a:pPr defTabSz="914400" fontAlgn="base">
              <a:spcBef>
                <a:spcPct val="50000"/>
              </a:spcBef>
              <a:spcAft>
                <a:spcPct val="0"/>
              </a:spcAft>
              <a:defRPr/>
            </a:pPr>
            <a:r>
              <a:rPr lang="en-US" altLang="zh-CN" sz="1050" kern="0" dirty="0">
                <a:solidFill>
                  <a:srgbClr val="000000"/>
                </a:solidFill>
                <a:latin typeface="Arial"/>
                <a:ea typeface="宋体" charset="-122"/>
              </a:rPr>
              <a:t>*(unsigned*)pair = -1U;</a:t>
            </a:r>
          </a:p>
          <a:p>
            <a:pPr defTabSz="914400" fontAlgn="base">
              <a:spcBef>
                <a:spcPct val="0"/>
              </a:spcBef>
              <a:spcAft>
                <a:spcPct val="0"/>
              </a:spcAft>
              <a:defRPr/>
            </a:pPr>
            <a:endParaRPr lang="en-US" altLang="zh-CN" sz="1050" kern="0" dirty="0">
              <a:solidFill>
                <a:srgbClr val="000000"/>
              </a:solidFill>
              <a:latin typeface="Arial"/>
              <a:ea typeface="宋体" charset="-122"/>
            </a:endParaRPr>
          </a:p>
        </p:txBody>
      </p:sp>
      <p:sp>
        <p:nvSpPr>
          <p:cNvPr id="14" name="TextBox 13">
            <a:extLst>
              <a:ext uri="{FF2B5EF4-FFF2-40B4-BE49-F238E27FC236}">
                <a16:creationId xmlns:a16="http://schemas.microsoft.com/office/drawing/2014/main" id="{B3F69239-7EA8-4081-8CFB-755591F779E2}"/>
              </a:ext>
            </a:extLst>
          </p:cNvPr>
          <p:cNvSpPr txBox="1"/>
          <p:nvPr/>
        </p:nvSpPr>
        <p:spPr>
          <a:xfrm>
            <a:off x="7824157" y="2436454"/>
            <a:ext cx="2150120" cy="1142620"/>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50000"/>
              </a:spcBef>
              <a:spcAft>
                <a:spcPct val="0"/>
              </a:spcAft>
              <a:defRPr/>
            </a:pPr>
            <a:r>
              <a:rPr lang="en-US" altLang="zh-CN" sz="1050" kern="0" dirty="0">
                <a:solidFill>
                  <a:srgbClr val="000000"/>
                </a:solidFill>
                <a:latin typeface="Arial"/>
                <a:ea typeface="宋体" charset="-122"/>
              </a:rPr>
              <a:t>struct {</a:t>
            </a:r>
            <a:br>
              <a:rPr lang="en-US" altLang="zh-CN" sz="1050" kern="0" dirty="0">
                <a:solidFill>
                  <a:srgbClr val="000000"/>
                </a:solidFill>
                <a:latin typeface="Arial"/>
                <a:ea typeface="宋体" charset="-122"/>
              </a:rPr>
            </a:br>
            <a:r>
              <a:rPr lang="en-US" altLang="zh-CN" sz="1050" kern="0" dirty="0">
                <a:solidFill>
                  <a:srgbClr val="000000"/>
                </a:solidFill>
                <a:latin typeface="Arial"/>
                <a:ea typeface="宋体" charset="-122"/>
              </a:rPr>
              <a:t>  short first; </a:t>
            </a:r>
            <a:br>
              <a:rPr lang="en-US" altLang="zh-CN" sz="1050" kern="0" dirty="0">
                <a:solidFill>
                  <a:srgbClr val="000000"/>
                </a:solidFill>
                <a:latin typeface="Arial"/>
                <a:ea typeface="宋体" charset="-122"/>
              </a:rPr>
            </a:br>
            <a:r>
              <a:rPr lang="en-US" altLang="zh-CN" sz="1050" kern="0" dirty="0">
                <a:solidFill>
                  <a:srgbClr val="000000"/>
                </a:solidFill>
                <a:latin typeface="Arial"/>
                <a:ea typeface="宋体" charset="-122"/>
              </a:rPr>
              <a:t>  short second; </a:t>
            </a:r>
            <a:br>
              <a:rPr lang="en-US" altLang="zh-CN" sz="1050" kern="0" dirty="0">
                <a:solidFill>
                  <a:srgbClr val="000000"/>
                </a:solidFill>
                <a:latin typeface="Arial"/>
                <a:ea typeface="宋体" charset="-122"/>
              </a:rPr>
            </a:br>
            <a:r>
              <a:rPr lang="en-US" altLang="zh-CN" sz="1050" kern="0" dirty="0">
                <a:solidFill>
                  <a:srgbClr val="000000"/>
                </a:solidFill>
                <a:latin typeface="Arial"/>
                <a:ea typeface="宋体" charset="-122"/>
              </a:rPr>
              <a:t>} pair;</a:t>
            </a:r>
          </a:p>
          <a:p>
            <a:pPr defTabSz="914400" fontAlgn="base">
              <a:spcBef>
                <a:spcPct val="50000"/>
              </a:spcBef>
              <a:spcAft>
                <a:spcPct val="0"/>
              </a:spcAft>
              <a:defRPr/>
            </a:pPr>
            <a:r>
              <a:rPr lang="en-US" altLang="zh-CN" sz="1050" kern="0" dirty="0">
                <a:solidFill>
                  <a:srgbClr val="000000"/>
                </a:solidFill>
                <a:latin typeface="Arial"/>
                <a:ea typeface="宋体" charset="-122"/>
              </a:rPr>
              <a:t>pair.first = -1U;</a:t>
            </a:r>
            <a:br>
              <a:rPr lang="en-US" altLang="zh-CN" sz="1050" kern="0" dirty="0">
                <a:solidFill>
                  <a:srgbClr val="000000"/>
                </a:solidFill>
                <a:latin typeface="Arial"/>
                <a:ea typeface="宋体" charset="-122"/>
              </a:rPr>
            </a:br>
            <a:r>
              <a:rPr lang="en-US" altLang="zh-CN" sz="1050" kern="0" dirty="0">
                <a:solidFill>
                  <a:srgbClr val="000000"/>
                </a:solidFill>
                <a:latin typeface="Arial"/>
                <a:ea typeface="宋体" charset="-122"/>
              </a:rPr>
              <a:t>pair.second = -1U;</a:t>
            </a:r>
          </a:p>
        </p:txBody>
      </p:sp>
      <p:sp>
        <p:nvSpPr>
          <p:cNvPr id="15" name="TextBox 14">
            <a:extLst>
              <a:ext uri="{FF2B5EF4-FFF2-40B4-BE49-F238E27FC236}">
                <a16:creationId xmlns:a16="http://schemas.microsoft.com/office/drawing/2014/main" id="{13335088-0DFD-4B43-B694-2AFAD1D3C733}"/>
              </a:ext>
            </a:extLst>
          </p:cNvPr>
          <p:cNvSpPr txBox="1"/>
          <p:nvPr/>
        </p:nvSpPr>
        <p:spPr>
          <a:xfrm>
            <a:off x="4141384" y="4212182"/>
            <a:ext cx="3993080" cy="1938992"/>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50000"/>
              </a:spcBef>
              <a:spcAft>
                <a:spcPct val="0"/>
              </a:spcAft>
              <a:defRPr/>
            </a:pPr>
            <a:r>
              <a:rPr lang="en-US" altLang="zh-CN" sz="1000" kern="0" dirty="0">
                <a:solidFill>
                  <a:srgbClr val="000000"/>
                </a:solidFill>
                <a:latin typeface="Arial"/>
                <a:ea typeface="宋体" charset="-122"/>
              </a:rPr>
              <a:t>int foo (int index,  int A[N]) {</a:t>
            </a:r>
            <a:br>
              <a:rPr lang="en-US" altLang="zh-CN" sz="1000" kern="0" dirty="0">
                <a:solidFill>
                  <a:srgbClr val="000000"/>
                </a:solidFill>
                <a:latin typeface="Arial"/>
                <a:ea typeface="宋体" charset="-122"/>
              </a:rPr>
            </a:br>
            <a:r>
              <a:rPr lang="en-US" altLang="zh-CN" sz="1000" kern="0" dirty="0">
                <a:solidFill>
                  <a:srgbClr val="000000"/>
                </a:solidFill>
                <a:latin typeface="Arial"/>
                <a:ea typeface="宋体" charset="-122"/>
              </a:rPr>
              <a:t>  char* ptr;</a:t>
            </a:r>
            <a:br>
              <a:rPr lang="en-US" altLang="zh-CN" sz="1000" kern="0" dirty="0">
                <a:solidFill>
                  <a:srgbClr val="000000"/>
                </a:solidFill>
                <a:latin typeface="Arial"/>
                <a:ea typeface="宋体" charset="-122"/>
              </a:rPr>
            </a:br>
            <a:r>
              <a:rPr lang="en-US" altLang="zh-CN" sz="1000" kern="0" dirty="0">
                <a:solidFill>
                  <a:srgbClr val="000000"/>
                </a:solidFill>
                <a:latin typeface="Arial"/>
                <a:ea typeface="宋体" charset="-122"/>
              </a:rPr>
              <a:t>  int i =0, result = 0;</a:t>
            </a:r>
          </a:p>
          <a:p>
            <a:pPr defTabSz="914400" fontAlgn="base">
              <a:spcBef>
                <a:spcPct val="50000"/>
              </a:spcBef>
              <a:spcAft>
                <a:spcPct val="0"/>
              </a:spcAft>
              <a:defRPr/>
            </a:pPr>
            <a:r>
              <a:rPr lang="en-US" altLang="zh-CN" sz="1000" b="1" kern="0" dirty="0">
                <a:solidFill>
                  <a:srgbClr val="000000"/>
                </a:solidFill>
                <a:latin typeface="Arial"/>
                <a:ea typeface="宋体" charset="-122"/>
              </a:rPr>
              <a:t>  ptr = (char*)(&amp;A[index]);</a:t>
            </a:r>
          </a:p>
          <a:p>
            <a:pPr defTabSz="914400" fontAlgn="base">
              <a:spcBef>
                <a:spcPct val="50000"/>
              </a:spcBef>
              <a:spcAft>
                <a:spcPct val="0"/>
              </a:spcAft>
              <a:defRPr/>
            </a:pPr>
            <a:br>
              <a:rPr lang="en-US" altLang="zh-CN" sz="1000" kern="0" dirty="0">
                <a:solidFill>
                  <a:srgbClr val="009900"/>
                </a:solidFill>
                <a:latin typeface="Arial"/>
                <a:ea typeface="宋体" charset="-122"/>
              </a:rPr>
            </a:br>
            <a:r>
              <a:rPr lang="en-US" altLang="zh-CN" sz="1000" kern="0" dirty="0">
                <a:solidFill>
                  <a:srgbClr val="000000"/>
                </a:solidFill>
                <a:latin typeface="Arial"/>
                <a:ea typeface="宋体" charset="-122"/>
              </a:rPr>
              <a:t>  for (i = 0; i &lt; 4*N; ++i) {</a:t>
            </a:r>
            <a:br>
              <a:rPr lang="en-US" altLang="zh-CN" sz="1000" kern="0" dirty="0">
                <a:solidFill>
                  <a:srgbClr val="000000"/>
                </a:solidFill>
                <a:latin typeface="Arial"/>
                <a:ea typeface="宋体" charset="-122"/>
              </a:rPr>
            </a:br>
            <a:r>
              <a:rPr lang="en-US" altLang="zh-CN" sz="1000" kern="0" dirty="0">
                <a:solidFill>
                  <a:srgbClr val="000000"/>
                </a:solidFill>
                <a:latin typeface="Arial"/>
                <a:ea typeface="宋体" charset="-122"/>
              </a:rPr>
              <a:t>    result += *ptr;</a:t>
            </a:r>
            <a:br>
              <a:rPr lang="en-US" altLang="zh-CN" sz="1000" kern="0" dirty="0">
                <a:solidFill>
                  <a:srgbClr val="000000"/>
                </a:solidFill>
                <a:latin typeface="Arial"/>
                <a:ea typeface="宋体" charset="-122"/>
              </a:rPr>
            </a:br>
            <a:r>
              <a:rPr lang="en-US" altLang="zh-CN" sz="1000" kern="0" dirty="0">
                <a:solidFill>
                  <a:srgbClr val="000000"/>
                </a:solidFill>
                <a:latin typeface="Arial"/>
                <a:ea typeface="宋体" charset="-122"/>
              </a:rPr>
              <a:t>    ptr+=1;</a:t>
            </a:r>
            <a:br>
              <a:rPr lang="en-US" altLang="zh-CN" sz="1000" kern="0" dirty="0">
                <a:solidFill>
                  <a:srgbClr val="000000"/>
                </a:solidFill>
                <a:latin typeface="Arial"/>
                <a:ea typeface="宋体" charset="-122"/>
              </a:rPr>
            </a:br>
            <a:r>
              <a:rPr lang="en-US" altLang="zh-CN" sz="1000" kern="0" dirty="0">
                <a:solidFill>
                  <a:srgbClr val="000000"/>
                </a:solidFill>
                <a:latin typeface="Arial"/>
                <a:ea typeface="宋体" charset="-122"/>
              </a:rPr>
              <a:t>  }</a:t>
            </a:r>
            <a:br>
              <a:rPr lang="en-US" altLang="zh-CN" sz="1000" kern="0" dirty="0">
                <a:solidFill>
                  <a:srgbClr val="000000"/>
                </a:solidFill>
                <a:latin typeface="Arial"/>
                <a:ea typeface="宋体" charset="-122"/>
              </a:rPr>
            </a:br>
            <a:r>
              <a:rPr lang="en-US" altLang="zh-CN" sz="1000" kern="0" dirty="0">
                <a:solidFill>
                  <a:srgbClr val="000000"/>
                </a:solidFill>
                <a:latin typeface="Arial"/>
                <a:ea typeface="宋体" charset="-122"/>
              </a:rPr>
              <a:t>  return result;</a:t>
            </a:r>
            <a:br>
              <a:rPr lang="en-US" altLang="zh-CN" sz="1000" kern="0" dirty="0">
                <a:solidFill>
                  <a:srgbClr val="000000"/>
                </a:solidFill>
                <a:latin typeface="Arial"/>
                <a:ea typeface="宋体" charset="-122"/>
              </a:rPr>
            </a:br>
            <a:r>
              <a:rPr lang="en-US" altLang="zh-CN" sz="1000" kern="0" dirty="0">
                <a:solidFill>
                  <a:srgbClr val="000000"/>
                </a:solidFill>
                <a:latin typeface="Arial"/>
                <a:ea typeface="宋体" charset="-122"/>
              </a:rPr>
              <a:t>}</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p:cNvSpPr>
            <a:spLocks noGrp="1"/>
          </p:cNvSpPr>
          <p:nvPr>
            <p:ph type="title"/>
          </p:nvPr>
        </p:nvSpPr>
        <p:spPr/>
        <p:txBody>
          <a:bodyPr/>
          <a:lstStyle/>
          <a:p>
            <a:r>
              <a:rPr lang="en-US" altLang="zh-CN" dirty="0">
                <a:ea typeface="宋体" charset="-122"/>
              </a:rPr>
              <a:t>Unsupported: Recursive Functions</a:t>
            </a:r>
          </a:p>
        </p:txBody>
      </p:sp>
      <p:sp>
        <p:nvSpPr>
          <p:cNvPr id="43010" name="Rectangle 3"/>
          <p:cNvSpPr>
            <a:spLocks noGrp="1"/>
          </p:cNvSpPr>
          <p:nvPr>
            <p:ph idx="1"/>
          </p:nvPr>
        </p:nvSpPr>
        <p:spPr/>
        <p:txBody>
          <a:bodyPr>
            <a:normAutofit fontScale="92500" lnSpcReduction="20000"/>
          </a:bodyPr>
          <a:lstStyle/>
          <a:p>
            <a:r>
              <a:rPr lang="en-US" altLang="zh-CN" dirty="0">
                <a:ea typeface="宋体" charset="-122"/>
              </a:rPr>
              <a:t>Avoid recursive functions</a:t>
            </a:r>
          </a:p>
          <a:p>
            <a:pPr lvl="1"/>
            <a:r>
              <a:rPr lang="en-US" altLang="zh-CN" dirty="0">
                <a:ea typeface="宋体" charset="-122"/>
              </a:rPr>
              <a:t>Not synthesizable in general </a:t>
            </a:r>
          </a:p>
          <a:p>
            <a:pPr lvl="2"/>
            <a:r>
              <a:rPr lang="en-US" altLang="zh-CN" dirty="0">
                <a:ea typeface="宋体" charset="-122"/>
              </a:rPr>
              <a:t>The code re-entrance indirectly uses dynamic memory allocation</a:t>
            </a:r>
          </a:p>
          <a:p>
            <a:pPr lvl="2"/>
            <a:endParaRPr lang="en-US" altLang="zh-CN" dirty="0">
              <a:ea typeface="宋体" charset="-122"/>
            </a:endParaRPr>
          </a:p>
          <a:p>
            <a:pPr lvl="2"/>
            <a:endParaRPr lang="en-US" altLang="zh-CN" dirty="0">
              <a:ea typeface="宋体" charset="-122"/>
            </a:endParaRPr>
          </a:p>
          <a:p>
            <a:pPr lvl="2"/>
            <a:endParaRPr lang="en-US" altLang="zh-CN" dirty="0">
              <a:ea typeface="宋体" charset="-122"/>
            </a:endParaRPr>
          </a:p>
          <a:p>
            <a:pPr lvl="2"/>
            <a:endParaRPr lang="en-US" altLang="zh-CN" dirty="0">
              <a:ea typeface="宋体" charset="-122"/>
            </a:endParaRPr>
          </a:p>
          <a:p>
            <a:pPr lvl="2"/>
            <a:endParaRPr lang="en-US" altLang="zh-CN" dirty="0">
              <a:ea typeface="宋体" charset="-122"/>
            </a:endParaRPr>
          </a:p>
          <a:p>
            <a:pPr lvl="2">
              <a:buNone/>
            </a:pPr>
            <a:endParaRPr lang="en-US" altLang="zh-CN" dirty="0">
              <a:ea typeface="宋体" charset="-122"/>
            </a:endParaRPr>
          </a:p>
          <a:p>
            <a:r>
              <a:rPr lang="en-US" altLang="zh-CN" dirty="0">
                <a:ea typeface="宋体" charset="-122"/>
              </a:rPr>
              <a:t>Standard Template Libraries (STLs)</a:t>
            </a:r>
          </a:p>
          <a:p>
            <a:pPr lvl="1"/>
            <a:r>
              <a:rPr lang="en-US" altLang="zh-CN" dirty="0">
                <a:ea typeface="宋体" charset="-122"/>
              </a:rPr>
              <a:t>Many are unbounded or use recursive functions</a:t>
            </a:r>
          </a:p>
          <a:p>
            <a:pPr lvl="2"/>
            <a:r>
              <a:rPr lang="en-US" altLang="zh-CN" dirty="0">
                <a:ea typeface="宋体" charset="-122"/>
              </a:rPr>
              <a:t>In general they cannot be synthesized</a:t>
            </a:r>
          </a:p>
          <a:p>
            <a:pPr lvl="1"/>
            <a:r>
              <a:rPr lang="en-US" altLang="zh-CN" dirty="0">
                <a:ea typeface="宋体" charset="-122"/>
              </a:rPr>
              <a:t>Re-code to create a local bounded model</a:t>
            </a:r>
          </a:p>
          <a:p>
            <a:pPr lvl="2"/>
            <a:r>
              <a:rPr lang="en-US" altLang="zh-CN" dirty="0">
                <a:ea typeface="宋体" charset="-122"/>
              </a:rPr>
              <a:t>Use arrays instead of vectors</a:t>
            </a:r>
          </a:p>
          <a:p>
            <a:pPr lvl="2"/>
            <a:r>
              <a:rPr lang="en-US" altLang="zh-CN" dirty="0">
                <a:ea typeface="宋体" charset="-122"/>
              </a:rPr>
              <a:t>Shifts instead of queues</a:t>
            </a:r>
          </a:p>
          <a:p>
            <a:pPr lvl="2">
              <a:buNone/>
            </a:pPr>
            <a:endParaRPr lang="en-US" altLang="zh-CN" dirty="0">
              <a:ea typeface="宋体" charset="-122"/>
            </a:endParaRPr>
          </a:p>
        </p:txBody>
      </p:sp>
      <p:sp>
        <p:nvSpPr>
          <p:cNvPr id="10" name="Slide Number Placeholder 5">
            <a:extLst>
              <a:ext uri="{FF2B5EF4-FFF2-40B4-BE49-F238E27FC236}">
                <a16:creationId xmlns:a16="http://schemas.microsoft.com/office/drawing/2014/main" id="{307D3219-35D1-4531-9D93-A44703C3167A}"/>
              </a:ext>
            </a:extLst>
          </p:cNvPr>
          <p:cNvSpPr>
            <a:spLocks noGrp="1"/>
          </p:cNvSpPr>
          <p:nvPr>
            <p:ph type="sldNum" sz="quarter" idx="4"/>
          </p:nvPr>
        </p:nvSpPr>
        <p:spPr/>
        <p:txBody>
          <a:bodyPr/>
          <a:lstStyle/>
          <a:p>
            <a:pPr>
              <a:defRPr/>
            </a:pPr>
            <a:r>
              <a:rPr lang="en-US" dirty="0"/>
              <a:t>Coding Considerations 23- </a:t>
            </a:r>
            <a:fld id="{060BD193-E118-4B16-863C-C8C12C675E3E}" type="slidenum">
              <a:rPr lang="en-US" smtClean="0"/>
              <a:pPr>
                <a:defRPr/>
              </a:pPr>
              <a:t>27</a:t>
            </a:fld>
            <a:endParaRPr lang="en-US" dirty="0"/>
          </a:p>
        </p:txBody>
      </p:sp>
      <p:sp>
        <p:nvSpPr>
          <p:cNvPr id="7" name="TextBox 6">
            <a:extLst>
              <a:ext uri="{FF2B5EF4-FFF2-40B4-BE49-F238E27FC236}">
                <a16:creationId xmlns:a16="http://schemas.microsoft.com/office/drawing/2014/main" id="{54F7E31A-A533-44AD-A64D-EFF16B3F290E}"/>
              </a:ext>
            </a:extLst>
          </p:cNvPr>
          <p:cNvSpPr txBox="1"/>
          <p:nvPr/>
        </p:nvSpPr>
        <p:spPr>
          <a:xfrm>
            <a:off x="1362360" y="2529204"/>
            <a:ext cx="4249048" cy="861774"/>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50000"/>
              </a:spcBef>
              <a:spcAft>
                <a:spcPct val="0"/>
              </a:spcAft>
              <a:defRPr/>
            </a:pPr>
            <a:r>
              <a:rPr lang="en-US" altLang="zh-CN" sz="1000" kern="0" dirty="0">
                <a:solidFill>
                  <a:srgbClr val="000000"/>
                </a:solidFill>
                <a:latin typeface="Arial"/>
                <a:ea typeface="宋体" charset="-122"/>
              </a:rPr>
              <a:t>unsigned </a:t>
            </a:r>
            <a:r>
              <a:rPr lang="en-US" altLang="zh-CN" sz="1000" b="1" kern="0" dirty="0">
                <a:solidFill>
                  <a:srgbClr val="000000"/>
                </a:solidFill>
                <a:latin typeface="Arial"/>
                <a:ea typeface="宋体" charset="-122"/>
              </a:rPr>
              <a:t>foo </a:t>
            </a:r>
            <a:r>
              <a:rPr lang="en-US" altLang="zh-CN" sz="1000" kern="0" dirty="0">
                <a:solidFill>
                  <a:srgbClr val="000000"/>
                </a:solidFill>
                <a:latin typeface="Arial"/>
                <a:ea typeface="宋体" charset="-122"/>
              </a:rPr>
              <a:t>(unsigned n)</a:t>
            </a:r>
            <a:br>
              <a:rPr lang="en-US" altLang="zh-CN" sz="1000" kern="0" dirty="0">
                <a:solidFill>
                  <a:srgbClr val="000000"/>
                </a:solidFill>
                <a:latin typeface="Arial"/>
                <a:ea typeface="宋体" charset="-122"/>
              </a:rPr>
            </a:br>
            <a:r>
              <a:rPr lang="en-US" altLang="zh-CN" sz="1000" kern="0" dirty="0">
                <a:solidFill>
                  <a:srgbClr val="000000"/>
                </a:solidFill>
                <a:latin typeface="Arial"/>
                <a:ea typeface="宋体" charset="-122"/>
              </a:rPr>
              <a:t>{ </a:t>
            </a:r>
            <a:br>
              <a:rPr lang="en-US" altLang="zh-CN" sz="1000" kern="0" dirty="0">
                <a:solidFill>
                  <a:srgbClr val="000000"/>
                </a:solidFill>
                <a:latin typeface="Arial"/>
                <a:ea typeface="宋体" charset="-122"/>
              </a:rPr>
            </a:br>
            <a:r>
              <a:rPr lang="en-US" altLang="zh-CN" sz="1000" kern="0" dirty="0">
                <a:solidFill>
                  <a:srgbClr val="000000"/>
                </a:solidFill>
                <a:latin typeface="Arial"/>
                <a:ea typeface="宋体" charset="-122"/>
              </a:rPr>
              <a:t>    if (n == 0 || n == 1) return 1; </a:t>
            </a:r>
            <a:br>
              <a:rPr lang="en-US" altLang="zh-CN" sz="1000" kern="0" dirty="0">
                <a:solidFill>
                  <a:srgbClr val="000000"/>
                </a:solidFill>
                <a:latin typeface="Arial"/>
                <a:ea typeface="宋体" charset="-122"/>
              </a:rPr>
            </a:br>
            <a:r>
              <a:rPr lang="en-US" altLang="zh-CN" sz="1000" kern="0" dirty="0">
                <a:solidFill>
                  <a:srgbClr val="000000"/>
                </a:solidFill>
                <a:latin typeface="Arial"/>
                <a:ea typeface="宋体" charset="-122"/>
              </a:rPr>
              <a:t>    return (</a:t>
            </a:r>
            <a:r>
              <a:rPr lang="en-US" altLang="zh-CN" sz="1000" b="1" kern="0" dirty="0">
                <a:solidFill>
                  <a:srgbClr val="000000"/>
                </a:solidFill>
                <a:latin typeface="Arial"/>
                <a:ea typeface="宋体" charset="-122"/>
              </a:rPr>
              <a:t>foo(n-2)</a:t>
            </a:r>
            <a:r>
              <a:rPr lang="en-US" altLang="zh-CN" sz="1000" kern="0" dirty="0">
                <a:solidFill>
                  <a:srgbClr val="000000"/>
                </a:solidFill>
                <a:latin typeface="Arial"/>
                <a:ea typeface="宋体" charset="-122"/>
              </a:rPr>
              <a:t> + foo(n-1));</a:t>
            </a:r>
            <a:br>
              <a:rPr lang="en-US" altLang="zh-CN" sz="1000" kern="0" dirty="0">
                <a:solidFill>
                  <a:srgbClr val="000000"/>
                </a:solidFill>
                <a:latin typeface="Arial"/>
                <a:ea typeface="宋体" charset="-122"/>
              </a:rPr>
            </a:br>
            <a:r>
              <a:rPr lang="en-US" altLang="zh-CN" sz="1000" kern="0" dirty="0">
                <a:solidFill>
                  <a:srgbClr val="000000"/>
                </a:solidFill>
                <a:latin typeface="Arial"/>
                <a:ea typeface="宋体" charset="-122"/>
              </a:rPr>
              <a:t>}</a:t>
            </a:r>
          </a:p>
        </p:txBody>
      </p:sp>
      <p:sp>
        <p:nvSpPr>
          <p:cNvPr id="8" name="TextBox 7">
            <a:extLst>
              <a:ext uri="{FF2B5EF4-FFF2-40B4-BE49-F238E27FC236}">
                <a16:creationId xmlns:a16="http://schemas.microsoft.com/office/drawing/2014/main" id="{4A62C0C4-9EC5-4E1C-9CD9-2AFD2C2CD0A2}"/>
              </a:ext>
            </a:extLst>
          </p:cNvPr>
          <p:cNvSpPr txBox="1"/>
          <p:nvPr/>
        </p:nvSpPr>
        <p:spPr>
          <a:xfrm>
            <a:off x="1567135" y="3527734"/>
            <a:ext cx="3941887" cy="253916"/>
          </a:xfrm>
          <a:prstGeom prst="rect">
            <a:avLst/>
          </a:prstGeom>
          <a:solidFill>
            <a:srgbClr val="FFFF99"/>
          </a:solidFill>
          <a:ln w="28575">
            <a:solidFill>
              <a:srgbClr val="000000"/>
            </a:solidFill>
          </a:ln>
          <a:effectLst>
            <a:innerShdw blurRad="63500" dist="50800" dir="2700000">
              <a:prstClr val="black">
                <a:alpha val="50000"/>
              </a:prstClr>
            </a:innerShdw>
          </a:effectLst>
        </p:spPr>
        <p:txBody>
          <a:bodyPr wrap="square" rtlCol="0">
            <a:spAutoFit/>
          </a:bodyPr>
          <a:lstStyle/>
          <a:p>
            <a:pPr algn="ctr" defTabSz="914400" fontAlgn="base">
              <a:spcBef>
                <a:spcPct val="50000"/>
              </a:spcBef>
              <a:spcAft>
                <a:spcPct val="0"/>
              </a:spcAft>
              <a:defRPr/>
            </a:pPr>
            <a:r>
              <a:rPr lang="en-US" altLang="zh-CN" sz="1050" b="1" kern="0" dirty="0">
                <a:solidFill>
                  <a:srgbClr val="000000"/>
                </a:solidFill>
                <a:ea typeface="宋体" charset="-122"/>
              </a:rPr>
              <a:t>Not synthesizable: Endless recursion</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3009" name="Rectangle 2"/>
          <p:cNvSpPr>
            <a:spLocks noGrp="1"/>
          </p:cNvSpPr>
          <p:nvPr>
            <p:ph type="title"/>
          </p:nvPr>
        </p:nvSpPr>
        <p:spPr/>
        <p:txBody>
          <a:bodyPr/>
          <a:lstStyle/>
          <a:p>
            <a:r>
              <a:rPr lang="en-US" altLang="zh-CN" dirty="0">
                <a:ea typeface="宋体" charset="-122"/>
              </a:rPr>
              <a:t>Unsupported: Recursive Functions</a:t>
            </a:r>
          </a:p>
        </p:txBody>
      </p:sp>
      <p:sp>
        <p:nvSpPr>
          <p:cNvPr id="43010" name="Rectangle 3"/>
          <p:cNvSpPr>
            <a:spLocks noGrp="1"/>
          </p:cNvSpPr>
          <p:nvPr>
            <p:ph idx="1"/>
          </p:nvPr>
        </p:nvSpPr>
        <p:spPr/>
        <p:txBody>
          <a:bodyPr>
            <a:normAutofit/>
          </a:bodyPr>
          <a:lstStyle/>
          <a:p>
            <a:r>
              <a:rPr lang="en-US" altLang="zh-CN" dirty="0">
                <a:ea typeface="宋体" charset="-122"/>
              </a:rPr>
              <a:t>Avoid recursive functions</a:t>
            </a:r>
          </a:p>
          <a:p>
            <a:pPr lvl="1"/>
            <a:r>
              <a:rPr lang="en-US" altLang="zh-CN" dirty="0">
                <a:ea typeface="宋体" charset="-122"/>
              </a:rPr>
              <a:t>Not synthesizable in general </a:t>
            </a:r>
          </a:p>
          <a:p>
            <a:pPr lvl="2"/>
            <a:r>
              <a:rPr lang="en-US" altLang="zh-CN" dirty="0">
                <a:ea typeface="宋体" charset="-122"/>
              </a:rPr>
              <a:t>The code re-entrance indirectly uses dynamic memory allocation</a:t>
            </a:r>
          </a:p>
          <a:p>
            <a:pPr lvl="2"/>
            <a:endParaRPr lang="en-US" altLang="zh-CN" dirty="0">
              <a:ea typeface="宋体" charset="-122"/>
            </a:endParaRPr>
          </a:p>
          <a:p>
            <a:pPr lvl="2"/>
            <a:endParaRPr lang="en-US" altLang="zh-CN" dirty="0">
              <a:ea typeface="宋体" charset="-122"/>
            </a:endParaRPr>
          </a:p>
          <a:p>
            <a:pPr lvl="2"/>
            <a:endParaRPr lang="en-US" altLang="zh-CN" dirty="0">
              <a:ea typeface="宋体" charset="-122"/>
            </a:endParaRPr>
          </a:p>
          <a:p>
            <a:pPr lvl="2"/>
            <a:endParaRPr lang="en-US" altLang="zh-CN" dirty="0">
              <a:ea typeface="宋体" charset="-122"/>
            </a:endParaRPr>
          </a:p>
          <a:p>
            <a:pPr lvl="2"/>
            <a:endParaRPr lang="en-US" altLang="zh-CN" dirty="0">
              <a:ea typeface="宋体" charset="-122"/>
            </a:endParaRPr>
          </a:p>
          <a:p>
            <a:pPr lvl="2">
              <a:buNone/>
            </a:pPr>
            <a:endParaRPr lang="en-US" altLang="zh-CN" dirty="0">
              <a:ea typeface="宋体" charset="-122"/>
            </a:endParaRPr>
          </a:p>
          <a:p>
            <a:r>
              <a:rPr lang="en-US" altLang="zh-CN" dirty="0">
                <a:ea typeface="宋体" charset="-122"/>
              </a:rPr>
              <a:t>Standard Template Libraries (STLs)</a:t>
            </a:r>
          </a:p>
          <a:p>
            <a:pPr lvl="1"/>
            <a:r>
              <a:rPr lang="en-US" altLang="zh-CN" dirty="0">
                <a:ea typeface="宋体" charset="-122"/>
              </a:rPr>
              <a:t>Many are unbounded or use recursive functions</a:t>
            </a:r>
          </a:p>
          <a:p>
            <a:pPr lvl="2"/>
            <a:r>
              <a:rPr lang="en-US" altLang="zh-CN" dirty="0">
                <a:ea typeface="宋体" charset="-122"/>
              </a:rPr>
              <a:t>In general they cannot be synthesized</a:t>
            </a:r>
          </a:p>
          <a:p>
            <a:pPr lvl="1"/>
            <a:r>
              <a:rPr lang="en-US" altLang="zh-CN" dirty="0">
                <a:ea typeface="宋体" charset="-122"/>
              </a:rPr>
              <a:t>Re-code to create a local bounded model</a:t>
            </a:r>
          </a:p>
          <a:p>
            <a:pPr lvl="2"/>
            <a:r>
              <a:rPr lang="en-US" altLang="zh-CN" dirty="0">
                <a:ea typeface="宋体" charset="-122"/>
              </a:rPr>
              <a:t>Use arrays instead of vectors</a:t>
            </a:r>
          </a:p>
          <a:p>
            <a:pPr lvl="2"/>
            <a:r>
              <a:rPr lang="en-US" altLang="zh-CN" dirty="0">
                <a:ea typeface="宋体" charset="-122"/>
              </a:rPr>
              <a:t>Shifts instead of queues</a:t>
            </a:r>
          </a:p>
          <a:p>
            <a:pPr lvl="2">
              <a:buNone/>
            </a:pPr>
            <a:endParaRPr lang="en-US" altLang="zh-CN" dirty="0">
              <a:ea typeface="宋体" charset="-122"/>
            </a:endParaRPr>
          </a:p>
        </p:txBody>
      </p:sp>
      <p:sp>
        <p:nvSpPr>
          <p:cNvPr id="9" name="Slide Number Placeholder 8"/>
          <p:cNvSpPr>
            <a:spLocks noGrp="1"/>
          </p:cNvSpPr>
          <p:nvPr>
            <p:ph type="sldNum" sz="quarter" idx="10"/>
          </p:nvPr>
        </p:nvSpPr>
        <p:spPr/>
        <p:txBody>
          <a:bodyPr/>
          <a:lstStyle/>
          <a:p>
            <a:pPr defTabSz="914400">
              <a:defRPr/>
            </a:pPr>
            <a:r>
              <a:rPr lang="en-US" dirty="0">
                <a:solidFill>
                  <a:srgbClr val="0C0C0C">
                    <a:tint val="75000"/>
                  </a:srgbClr>
                </a:solidFill>
                <a:latin typeface="Arial"/>
              </a:rPr>
              <a:t>Coding Considerations 23- </a:t>
            </a:r>
            <a:fld id="{060BD193-E118-4B16-863C-C8C12C675E3E}" type="slidenum">
              <a:rPr lang="en-US">
                <a:solidFill>
                  <a:srgbClr val="0C0C0C">
                    <a:tint val="75000"/>
                  </a:srgbClr>
                </a:solidFill>
                <a:latin typeface="Arial"/>
              </a:rPr>
              <a:pPr defTabSz="914400">
                <a:defRPr/>
              </a:pPr>
              <a:t>28</a:t>
            </a:fld>
            <a:endParaRPr lang="en-US" dirty="0">
              <a:solidFill>
                <a:srgbClr val="0C0C0C">
                  <a:tint val="75000"/>
                </a:srgbClr>
              </a:solidFill>
              <a:latin typeface="Arial"/>
            </a:endParaRPr>
          </a:p>
        </p:txBody>
      </p:sp>
      <p:sp>
        <p:nvSpPr>
          <p:cNvPr id="7" name="TextBox 6">
            <a:extLst>
              <a:ext uri="{FF2B5EF4-FFF2-40B4-BE49-F238E27FC236}">
                <a16:creationId xmlns:a16="http://schemas.microsoft.com/office/drawing/2014/main" id="{54F7E31A-A533-44AD-A64D-EFF16B3F290E}"/>
              </a:ext>
            </a:extLst>
          </p:cNvPr>
          <p:cNvSpPr txBox="1"/>
          <p:nvPr/>
        </p:nvSpPr>
        <p:spPr>
          <a:xfrm>
            <a:off x="1362360" y="2529204"/>
            <a:ext cx="4249048" cy="861774"/>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50000"/>
              </a:spcBef>
              <a:spcAft>
                <a:spcPct val="0"/>
              </a:spcAft>
              <a:defRPr/>
            </a:pPr>
            <a:r>
              <a:rPr lang="en-US" altLang="zh-CN" sz="1000" kern="0" dirty="0">
                <a:solidFill>
                  <a:srgbClr val="000000"/>
                </a:solidFill>
                <a:latin typeface="Arial"/>
                <a:ea typeface="宋体" charset="-122"/>
              </a:rPr>
              <a:t>unsigned </a:t>
            </a:r>
            <a:r>
              <a:rPr lang="en-US" altLang="zh-CN" sz="1000" b="1" kern="0" dirty="0">
                <a:solidFill>
                  <a:srgbClr val="000000"/>
                </a:solidFill>
                <a:latin typeface="Arial"/>
                <a:ea typeface="宋体" charset="-122"/>
              </a:rPr>
              <a:t>foo </a:t>
            </a:r>
            <a:r>
              <a:rPr lang="en-US" altLang="zh-CN" sz="1000" kern="0" dirty="0">
                <a:solidFill>
                  <a:srgbClr val="000000"/>
                </a:solidFill>
                <a:latin typeface="Arial"/>
                <a:ea typeface="宋体" charset="-122"/>
              </a:rPr>
              <a:t>(unsigned n)</a:t>
            </a:r>
            <a:br>
              <a:rPr lang="en-US" altLang="zh-CN" sz="1000" kern="0" dirty="0">
                <a:solidFill>
                  <a:srgbClr val="000000"/>
                </a:solidFill>
                <a:latin typeface="Arial"/>
                <a:ea typeface="宋体" charset="-122"/>
              </a:rPr>
            </a:br>
            <a:r>
              <a:rPr lang="en-US" altLang="zh-CN" sz="1000" kern="0" dirty="0">
                <a:solidFill>
                  <a:srgbClr val="000000"/>
                </a:solidFill>
                <a:latin typeface="Arial"/>
                <a:ea typeface="宋体" charset="-122"/>
              </a:rPr>
              <a:t>{ </a:t>
            </a:r>
            <a:br>
              <a:rPr lang="en-US" altLang="zh-CN" sz="1000" kern="0" dirty="0">
                <a:solidFill>
                  <a:srgbClr val="000000"/>
                </a:solidFill>
                <a:latin typeface="Arial"/>
                <a:ea typeface="宋体" charset="-122"/>
              </a:rPr>
            </a:br>
            <a:r>
              <a:rPr lang="en-US" altLang="zh-CN" sz="1000" kern="0" dirty="0">
                <a:solidFill>
                  <a:srgbClr val="000000"/>
                </a:solidFill>
                <a:latin typeface="Arial"/>
                <a:ea typeface="宋体" charset="-122"/>
              </a:rPr>
              <a:t>    if (n == 0 || n == 1) return 1; </a:t>
            </a:r>
            <a:br>
              <a:rPr lang="en-US" altLang="zh-CN" sz="1000" kern="0" dirty="0">
                <a:solidFill>
                  <a:srgbClr val="000000"/>
                </a:solidFill>
                <a:latin typeface="Arial"/>
                <a:ea typeface="宋体" charset="-122"/>
              </a:rPr>
            </a:br>
            <a:r>
              <a:rPr lang="en-US" altLang="zh-CN" sz="1000" kern="0" dirty="0">
                <a:solidFill>
                  <a:srgbClr val="000000"/>
                </a:solidFill>
                <a:latin typeface="Arial"/>
                <a:ea typeface="宋体" charset="-122"/>
              </a:rPr>
              <a:t>    return (</a:t>
            </a:r>
            <a:r>
              <a:rPr lang="en-US" altLang="zh-CN" sz="1000" b="1" kern="0" dirty="0">
                <a:solidFill>
                  <a:srgbClr val="000000"/>
                </a:solidFill>
                <a:latin typeface="Arial"/>
                <a:ea typeface="宋体" charset="-122"/>
              </a:rPr>
              <a:t>foo(n-2)</a:t>
            </a:r>
            <a:r>
              <a:rPr lang="en-US" altLang="zh-CN" sz="1000" kern="0" dirty="0">
                <a:solidFill>
                  <a:srgbClr val="000000"/>
                </a:solidFill>
                <a:latin typeface="Arial"/>
                <a:ea typeface="宋体" charset="-122"/>
              </a:rPr>
              <a:t> + foo(n-1));</a:t>
            </a:r>
            <a:br>
              <a:rPr lang="en-US" altLang="zh-CN" sz="1000" kern="0" dirty="0">
                <a:solidFill>
                  <a:srgbClr val="000000"/>
                </a:solidFill>
                <a:latin typeface="Arial"/>
                <a:ea typeface="宋体" charset="-122"/>
              </a:rPr>
            </a:br>
            <a:r>
              <a:rPr lang="en-US" altLang="zh-CN" sz="1000" kern="0" dirty="0">
                <a:solidFill>
                  <a:srgbClr val="000000"/>
                </a:solidFill>
                <a:latin typeface="Arial"/>
                <a:ea typeface="宋体" charset="-122"/>
              </a:rPr>
              <a:t>}</a:t>
            </a:r>
          </a:p>
        </p:txBody>
      </p:sp>
      <p:sp>
        <p:nvSpPr>
          <p:cNvPr id="8" name="TextBox 7">
            <a:extLst>
              <a:ext uri="{FF2B5EF4-FFF2-40B4-BE49-F238E27FC236}">
                <a16:creationId xmlns:a16="http://schemas.microsoft.com/office/drawing/2014/main" id="{4A62C0C4-9EC5-4E1C-9CD9-2AFD2C2CD0A2}"/>
              </a:ext>
            </a:extLst>
          </p:cNvPr>
          <p:cNvSpPr txBox="1"/>
          <p:nvPr/>
        </p:nvSpPr>
        <p:spPr>
          <a:xfrm>
            <a:off x="1567135" y="3527734"/>
            <a:ext cx="3941887" cy="253916"/>
          </a:xfrm>
          <a:prstGeom prst="rect">
            <a:avLst/>
          </a:prstGeom>
          <a:solidFill>
            <a:srgbClr val="FFFF99"/>
          </a:solidFill>
          <a:ln w="28575">
            <a:solidFill>
              <a:srgbClr val="000000"/>
            </a:solidFill>
          </a:ln>
          <a:effectLst>
            <a:innerShdw blurRad="63500" dist="50800" dir="2700000">
              <a:prstClr val="black">
                <a:alpha val="50000"/>
              </a:prstClr>
            </a:innerShdw>
          </a:effectLst>
        </p:spPr>
        <p:txBody>
          <a:bodyPr wrap="square" rtlCol="0">
            <a:spAutoFit/>
          </a:bodyPr>
          <a:lstStyle/>
          <a:p>
            <a:pPr algn="ctr" defTabSz="914400" fontAlgn="base">
              <a:spcBef>
                <a:spcPct val="50000"/>
              </a:spcBef>
              <a:spcAft>
                <a:spcPct val="0"/>
              </a:spcAft>
              <a:defRPr/>
            </a:pPr>
            <a:r>
              <a:rPr lang="en-US" altLang="zh-CN" sz="1050" b="1" kern="0" dirty="0">
                <a:solidFill>
                  <a:srgbClr val="000000"/>
                </a:solidFill>
                <a:latin typeface="Arial"/>
                <a:ea typeface="宋体" charset="-122"/>
              </a:rPr>
              <a:t>Not synthesizable: Endless recursion</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trike="sngStrike" dirty="0"/>
              <a:t>Test Bench: Gotcha 1</a:t>
            </a:r>
          </a:p>
        </p:txBody>
      </p:sp>
      <p:sp>
        <p:nvSpPr>
          <p:cNvPr id="3" name="Content Placeholder 2"/>
          <p:cNvSpPr>
            <a:spLocks noGrp="1"/>
          </p:cNvSpPr>
          <p:nvPr>
            <p:ph idx="1"/>
          </p:nvPr>
        </p:nvSpPr>
        <p:spPr/>
        <p:txBody>
          <a:bodyPr>
            <a:normAutofit/>
          </a:bodyPr>
          <a:lstStyle/>
          <a:p>
            <a:r>
              <a:rPr lang="en-US" dirty="0"/>
              <a:t>Use a RETURN value</a:t>
            </a:r>
          </a:p>
          <a:p>
            <a:pPr lvl="1"/>
            <a:r>
              <a:rPr lang="en-US" dirty="0"/>
              <a:t>RTL verification re-uses the C test bench to verify the RTL design</a:t>
            </a:r>
          </a:p>
          <a:p>
            <a:pPr lvl="1"/>
            <a:r>
              <a:rPr lang="en-US" dirty="0"/>
              <a:t>If the test bench does not return a 0, RTL </a:t>
            </a:r>
            <a:r>
              <a:rPr lang="en-US" dirty="0" err="1"/>
              <a:t>sim</a:t>
            </a:r>
            <a:r>
              <a:rPr lang="en-US" dirty="0"/>
              <a:t> will say it failed</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p:txBody>
      </p:sp>
      <p:sp>
        <p:nvSpPr>
          <p:cNvPr id="13" name="Slide Number Placeholder 12"/>
          <p:cNvSpPr>
            <a:spLocks noGrp="1"/>
          </p:cNvSpPr>
          <p:nvPr>
            <p:ph type="sldNum" sz="quarter" idx="10"/>
          </p:nvPr>
        </p:nvSpPr>
        <p:spPr/>
        <p:txBody>
          <a:bodyPr/>
          <a:lstStyle/>
          <a:p>
            <a:pPr defTabSz="914400">
              <a:defRPr/>
            </a:pPr>
            <a:r>
              <a:rPr lang="en-US" dirty="0">
                <a:solidFill>
                  <a:srgbClr val="0C0C0C">
                    <a:tint val="75000"/>
                  </a:srgbClr>
                </a:solidFill>
                <a:latin typeface="Arial"/>
              </a:rPr>
              <a:t>Coding Considerations 23- </a:t>
            </a:r>
            <a:fld id="{060BD193-E118-4B16-863C-C8C12C675E3E}" type="slidenum">
              <a:rPr lang="en-US">
                <a:solidFill>
                  <a:srgbClr val="0C0C0C">
                    <a:tint val="75000"/>
                  </a:srgbClr>
                </a:solidFill>
                <a:latin typeface="Arial"/>
              </a:rPr>
              <a:pPr defTabSz="914400">
                <a:defRPr/>
              </a:pPr>
              <a:t>29</a:t>
            </a:fld>
            <a:endParaRPr lang="en-US" dirty="0">
              <a:solidFill>
                <a:srgbClr val="0C0C0C">
                  <a:tint val="75000"/>
                </a:srgbClr>
              </a:solidFill>
              <a:latin typeface="Arial"/>
            </a:endParaRPr>
          </a:p>
        </p:txBody>
      </p:sp>
      <p:sp>
        <p:nvSpPr>
          <p:cNvPr id="5" name="Rectangle 4"/>
          <p:cNvSpPr/>
          <p:nvPr/>
        </p:nvSpPr>
        <p:spPr>
          <a:xfrm>
            <a:off x="1488601" y="2740097"/>
            <a:ext cx="6143200" cy="1977954"/>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defTabSz="914400"/>
            <a:r>
              <a:rPr lang="en-US" sz="800" dirty="0">
                <a:solidFill>
                  <a:srgbClr val="0C0C0C"/>
                </a:solidFill>
                <a:latin typeface="Arial"/>
              </a:rPr>
              <a:t>@I [LIC-101] Checked in features [ </a:t>
            </a:r>
            <a:r>
              <a:rPr lang="en-US" sz="800" dirty="0" err="1">
                <a:solidFill>
                  <a:srgbClr val="0C0C0C"/>
                </a:solidFill>
                <a:latin typeface="Arial"/>
              </a:rPr>
              <a:t>Vivado</a:t>
            </a:r>
            <a:r>
              <a:rPr lang="en-US" sz="800" dirty="0">
                <a:solidFill>
                  <a:srgbClr val="0C0C0C"/>
                </a:solidFill>
                <a:latin typeface="Arial"/>
              </a:rPr>
              <a:t> HLS_FLOW </a:t>
            </a:r>
            <a:r>
              <a:rPr lang="en-US" sz="800" dirty="0" err="1">
                <a:solidFill>
                  <a:srgbClr val="0C0C0C"/>
                </a:solidFill>
                <a:latin typeface="Arial"/>
              </a:rPr>
              <a:t>Vivado</a:t>
            </a:r>
            <a:r>
              <a:rPr lang="en-US" sz="800" dirty="0">
                <a:solidFill>
                  <a:srgbClr val="0C0C0C"/>
                </a:solidFill>
                <a:latin typeface="Arial"/>
              </a:rPr>
              <a:t> HLS_OPT </a:t>
            </a:r>
            <a:r>
              <a:rPr lang="en-US" sz="800" dirty="0" err="1">
                <a:solidFill>
                  <a:srgbClr val="0C0C0C"/>
                </a:solidFill>
                <a:latin typeface="Arial"/>
              </a:rPr>
              <a:t>Vivado</a:t>
            </a:r>
            <a:r>
              <a:rPr lang="en-US" sz="800" dirty="0">
                <a:solidFill>
                  <a:srgbClr val="0C0C0C"/>
                </a:solidFill>
                <a:latin typeface="Arial"/>
              </a:rPr>
              <a:t> HLS_SC </a:t>
            </a:r>
            <a:r>
              <a:rPr lang="en-US" sz="800" dirty="0" err="1">
                <a:solidFill>
                  <a:srgbClr val="0C0C0C"/>
                </a:solidFill>
                <a:latin typeface="Arial"/>
              </a:rPr>
              <a:t>Vivado</a:t>
            </a:r>
            <a:r>
              <a:rPr lang="en-US" sz="800" dirty="0">
                <a:solidFill>
                  <a:srgbClr val="0C0C0C"/>
                </a:solidFill>
                <a:latin typeface="Arial"/>
              </a:rPr>
              <a:t> HLS_XILINX ]</a:t>
            </a:r>
          </a:p>
          <a:p>
            <a:pPr defTabSz="914400"/>
            <a:r>
              <a:rPr lang="en-US" sz="800" dirty="0">
                <a:solidFill>
                  <a:srgbClr val="0C0C0C"/>
                </a:solidFill>
                <a:latin typeface="Arial"/>
              </a:rPr>
              <a:t>   Generating </a:t>
            </a:r>
            <a:r>
              <a:rPr lang="en-US" sz="800" dirty="0" err="1">
                <a:solidFill>
                  <a:srgbClr val="0C0C0C"/>
                </a:solidFill>
                <a:latin typeface="Arial"/>
              </a:rPr>
              <a:t>autosim.sc.exe</a:t>
            </a:r>
            <a:endParaRPr lang="en-US" sz="800" dirty="0">
              <a:solidFill>
                <a:srgbClr val="0C0C0C"/>
              </a:solidFill>
              <a:latin typeface="Arial"/>
            </a:endParaRPr>
          </a:p>
          <a:p>
            <a:pPr defTabSz="914400"/>
            <a:r>
              <a:rPr lang="en-US" sz="800" dirty="0">
                <a:solidFill>
                  <a:srgbClr val="0C0C0C"/>
                </a:solidFill>
                <a:latin typeface="Arial"/>
              </a:rPr>
              <a:t>@I [SIM-6] Starting SystemC simulation ...</a:t>
            </a:r>
          </a:p>
          <a:p>
            <a:pPr defTabSz="914400"/>
            <a:endParaRPr lang="en-US" sz="800" dirty="0">
              <a:solidFill>
                <a:srgbClr val="0C0C0C"/>
              </a:solidFill>
              <a:latin typeface="Arial"/>
            </a:endParaRPr>
          </a:p>
          <a:p>
            <a:pPr defTabSz="914400"/>
            <a:r>
              <a:rPr lang="en-US" sz="800" dirty="0">
                <a:solidFill>
                  <a:srgbClr val="0C0C0C"/>
                </a:solidFill>
                <a:latin typeface="Arial"/>
              </a:rPr>
              <a:t>             SystemC 2.2.0 --- Sep 15 2011 23:59:06</a:t>
            </a:r>
          </a:p>
          <a:p>
            <a:pPr defTabSz="914400"/>
            <a:r>
              <a:rPr lang="en-US" sz="800" dirty="0">
                <a:solidFill>
                  <a:srgbClr val="0C0C0C"/>
                </a:solidFill>
                <a:latin typeface="Arial"/>
              </a:rPr>
              <a:t>        Copyright (c) 1996-2006 by all Contributors</a:t>
            </a:r>
          </a:p>
          <a:p>
            <a:pPr defTabSz="914400"/>
            <a:r>
              <a:rPr lang="en-US" sz="800" dirty="0">
                <a:solidFill>
                  <a:srgbClr val="0C0C0C"/>
                </a:solidFill>
                <a:latin typeface="Arial"/>
              </a:rPr>
              <a:t>                    ALL RIGHTS RESERVED</a:t>
            </a:r>
          </a:p>
          <a:p>
            <a:pPr defTabSz="914400"/>
            <a:r>
              <a:rPr lang="en-US" sz="800" dirty="0">
                <a:solidFill>
                  <a:srgbClr val="0C0C0C"/>
                </a:solidFill>
                <a:latin typeface="Arial"/>
              </a:rPr>
              <a:t>Note: VCD trace timescale unit is set by user to 1.000000e-12 sec.</a:t>
            </a:r>
          </a:p>
          <a:p>
            <a:pPr defTabSz="914400"/>
            <a:r>
              <a:rPr lang="en-US" sz="800" dirty="0">
                <a:solidFill>
                  <a:srgbClr val="0C0C0C"/>
                </a:solidFill>
                <a:latin typeface="Arial"/>
              </a:rPr>
              <a:t>  0 3</a:t>
            </a:r>
          </a:p>
          <a:p>
            <a:pPr defTabSz="914400"/>
            <a:r>
              <a:rPr lang="en-US" sz="800" dirty="0">
                <a:solidFill>
                  <a:srgbClr val="0C0C0C"/>
                </a:solidFill>
                <a:latin typeface="Arial"/>
              </a:rPr>
              <a:t>  1 2</a:t>
            </a:r>
          </a:p>
          <a:p>
            <a:pPr defTabSz="914400"/>
            <a:r>
              <a:rPr lang="en-US" sz="800" dirty="0">
                <a:solidFill>
                  <a:srgbClr val="0C0C0C"/>
                </a:solidFill>
                <a:latin typeface="Arial"/>
              </a:rPr>
              <a:t>  2 1</a:t>
            </a:r>
          </a:p>
          <a:p>
            <a:pPr defTabSz="914400"/>
            <a:r>
              <a:rPr lang="en-US" sz="800" dirty="0">
                <a:solidFill>
                  <a:srgbClr val="0C0C0C"/>
                </a:solidFill>
                <a:latin typeface="Arial"/>
              </a:rPr>
              <a:t>  3 0</a:t>
            </a:r>
          </a:p>
          <a:p>
            <a:pPr defTabSz="914400"/>
            <a:r>
              <a:rPr lang="en-US" sz="800" b="1" dirty="0">
                <a:solidFill>
                  <a:srgbClr val="0C0C0C"/>
                </a:solidFill>
                <a:latin typeface="Arial"/>
              </a:rPr>
              <a:t>@E Simulation failed: Function 'main' returns nonzero value '1'.</a:t>
            </a:r>
          </a:p>
          <a:p>
            <a:pPr defTabSz="914400"/>
            <a:r>
              <a:rPr lang="en-US" sz="800" b="1" dirty="0">
                <a:solidFill>
                  <a:srgbClr val="0C0C0C"/>
                </a:solidFill>
                <a:latin typeface="Arial"/>
              </a:rPr>
              <a:t>@E [SIM-1] '</a:t>
            </a:r>
            <a:r>
              <a:rPr lang="en-US" sz="800" b="1" dirty="0" err="1">
                <a:solidFill>
                  <a:srgbClr val="0C0C0C"/>
                </a:solidFill>
                <a:latin typeface="Arial"/>
              </a:rPr>
              <a:t>csim_design</a:t>
            </a:r>
            <a:r>
              <a:rPr lang="en-US" sz="800" b="1" dirty="0">
                <a:solidFill>
                  <a:srgbClr val="0C0C0C"/>
                </a:solidFill>
                <a:latin typeface="Arial"/>
              </a:rPr>
              <a:t>' failed: nonzero return value*</a:t>
            </a:r>
          </a:p>
        </p:txBody>
      </p:sp>
      <p:sp>
        <p:nvSpPr>
          <p:cNvPr id="6" name="TextBox 5"/>
          <p:cNvSpPr txBox="1"/>
          <p:nvPr/>
        </p:nvSpPr>
        <p:spPr>
          <a:xfrm>
            <a:off x="5686455" y="3711270"/>
            <a:ext cx="2713247" cy="400110"/>
          </a:xfrm>
          <a:prstGeom prst="rect">
            <a:avLst/>
          </a:prstGeom>
          <a:solidFill>
            <a:srgbClr val="FFFF99"/>
          </a:solidFill>
          <a:ln w="28575">
            <a:solidFill>
              <a:schemeClr val="tx1"/>
            </a:solidFill>
          </a:ln>
          <a:effectLst>
            <a:innerShdw blurRad="63500" dist="50800" dir="2700000">
              <a:prstClr val="black">
                <a:alpha val="50000"/>
              </a:prstClr>
            </a:innerShdw>
          </a:effectLst>
        </p:spPr>
        <p:txBody>
          <a:bodyPr wrap="square" rtlCol="0">
            <a:spAutoFit/>
          </a:bodyPr>
          <a:lstStyle/>
          <a:p>
            <a:pPr algn="ctr" defTabSz="914400"/>
            <a:r>
              <a:rPr lang="en-US" sz="1000" b="1" dirty="0">
                <a:solidFill>
                  <a:srgbClr val="0C0C0C"/>
                </a:solidFill>
                <a:latin typeface="Arial"/>
              </a:rPr>
              <a:t>The test bench </a:t>
            </a:r>
            <a:r>
              <a:rPr lang="en-US" sz="1000" b="1" i="1" dirty="0">
                <a:solidFill>
                  <a:srgbClr val="0C0C0C"/>
                </a:solidFill>
                <a:latin typeface="Arial"/>
              </a:rPr>
              <a:t>could</a:t>
            </a:r>
            <a:r>
              <a:rPr lang="en-US" sz="1000" b="1" dirty="0">
                <a:solidFill>
                  <a:srgbClr val="0C0C0C"/>
                </a:solidFill>
                <a:latin typeface="Arial"/>
              </a:rPr>
              <a:t> show the correct results after RTL </a:t>
            </a:r>
            <a:r>
              <a:rPr lang="en-US" sz="1000" b="1" dirty="0" err="1">
                <a:solidFill>
                  <a:srgbClr val="0C0C0C"/>
                </a:solidFill>
                <a:latin typeface="Arial"/>
              </a:rPr>
              <a:t>sim</a:t>
            </a:r>
            <a:endParaRPr lang="en-US" sz="1000" b="1" dirty="0">
              <a:solidFill>
                <a:srgbClr val="0C0C0C"/>
              </a:solidFill>
              <a:latin typeface="Arial"/>
            </a:endParaRPr>
          </a:p>
        </p:txBody>
      </p:sp>
      <p:sp>
        <p:nvSpPr>
          <p:cNvPr id="7" name="TextBox 6"/>
          <p:cNvSpPr txBox="1"/>
          <p:nvPr/>
        </p:nvSpPr>
        <p:spPr>
          <a:xfrm>
            <a:off x="5686455" y="4172130"/>
            <a:ext cx="2713247" cy="400110"/>
          </a:xfrm>
          <a:prstGeom prst="rect">
            <a:avLst/>
          </a:prstGeom>
          <a:solidFill>
            <a:srgbClr val="FFFF99"/>
          </a:solidFill>
          <a:ln w="28575">
            <a:solidFill>
              <a:schemeClr val="tx1"/>
            </a:solidFill>
          </a:ln>
          <a:effectLst>
            <a:innerShdw blurRad="63500" dist="50800" dir="2700000">
              <a:prstClr val="black">
                <a:alpha val="50000"/>
              </a:prstClr>
            </a:innerShdw>
          </a:effectLst>
        </p:spPr>
        <p:txBody>
          <a:bodyPr wrap="square" rtlCol="0">
            <a:spAutoFit/>
          </a:bodyPr>
          <a:lstStyle/>
          <a:p>
            <a:pPr algn="ctr" defTabSz="914400"/>
            <a:r>
              <a:rPr lang="en-US" sz="1000" b="1" dirty="0">
                <a:solidFill>
                  <a:srgbClr val="0C0C0C"/>
                </a:solidFill>
                <a:latin typeface="Arial"/>
              </a:rPr>
              <a:t>But if there is no return 0, </a:t>
            </a:r>
            <a:r>
              <a:rPr lang="en-US" sz="1000" b="1" dirty="0" err="1">
                <a:solidFill>
                  <a:srgbClr val="0C0C0C"/>
                </a:solidFill>
                <a:latin typeface="Arial"/>
              </a:rPr>
              <a:t>Vivado</a:t>
            </a:r>
            <a:r>
              <a:rPr lang="en-US" sz="1000" b="1" dirty="0">
                <a:solidFill>
                  <a:srgbClr val="0C0C0C"/>
                </a:solidFill>
                <a:latin typeface="Arial"/>
              </a:rPr>
              <a:t> HLS will report a failure</a:t>
            </a:r>
          </a:p>
        </p:txBody>
      </p:sp>
      <p:cxnSp>
        <p:nvCxnSpPr>
          <p:cNvPr id="9" name="Straight Arrow Connector 8"/>
          <p:cNvCxnSpPr/>
          <p:nvPr/>
        </p:nvCxnSpPr>
        <p:spPr>
          <a:xfrm flipH="1">
            <a:off x="5020943" y="4018510"/>
            <a:ext cx="511932"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1" name="Straight Arrow Connector 10"/>
          <p:cNvCxnSpPr/>
          <p:nvPr/>
        </p:nvCxnSpPr>
        <p:spPr>
          <a:xfrm flipH="1">
            <a:off x="5020941" y="4440965"/>
            <a:ext cx="511932"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trike="sngStrike" dirty="0"/>
              <a:t>Test Bench : Gotcha 2</a:t>
            </a:r>
          </a:p>
        </p:txBody>
      </p:sp>
      <p:sp>
        <p:nvSpPr>
          <p:cNvPr id="3" name="Content Placeholder 2"/>
          <p:cNvSpPr>
            <a:spLocks noGrp="1"/>
          </p:cNvSpPr>
          <p:nvPr>
            <p:ph idx="1"/>
          </p:nvPr>
        </p:nvSpPr>
        <p:spPr/>
        <p:txBody>
          <a:bodyPr/>
          <a:lstStyle/>
          <a:p>
            <a:r>
              <a:rPr lang="en-US" dirty="0"/>
              <a:t>Include all files used by the test bench in </a:t>
            </a:r>
            <a:r>
              <a:rPr lang="en-US" dirty="0" err="1"/>
              <a:t>Vivado</a:t>
            </a:r>
            <a:r>
              <a:rPr lang="en-US" dirty="0"/>
              <a:t> HLS</a:t>
            </a:r>
          </a:p>
          <a:p>
            <a:pPr lvl="1"/>
            <a:r>
              <a:rPr lang="en-US" dirty="0"/>
              <a:t>This test bench reads golden data from files</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marL="457063" lvl="1" indent="0">
              <a:buNone/>
            </a:pPr>
            <a:endParaRPr lang="en-US" dirty="0"/>
          </a:p>
          <a:p>
            <a:pPr lvl="1"/>
            <a:endParaRPr lang="en-US" dirty="0"/>
          </a:p>
          <a:p>
            <a:pPr lvl="1"/>
            <a:endParaRPr lang="en-US" dirty="0"/>
          </a:p>
          <a:p>
            <a:pPr lvl="1"/>
            <a:r>
              <a:rPr lang="en-US" dirty="0"/>
              <a:t>Include all files or RTL verification </a:t>
            </a:r>
            <a:r>
              <a:rPr lang="en-US" b="1" u="sng" dirty="0"/>
              <a:t>will</a:t>
            </a:r>
            <a:r>
              <a:rPr lang="en-US" dirty="0"/>
              <a:t> fail</a:t>
            </a:r>
          </a:p>
          <a:p>
            <a:pPr lvl="1">
              <a:buNone/>
            </a:pPr>
            <a:endParaRPr lang="en-US" dirty="0"/>
          </a:p>
        </p:txBody>
      </p:sp>
      <p:sp>
        <p:nvSpPr>
          <p:cNvPr id="13" name="Slide Number Placeholder 12"/>
          <p:cNvSpPr>
            <a:spLocks noGrp="1"/>
          </p:cNvSpPr>
          <p:nvPr>
            <p:ph type="sldNum" sz="quarter" idx="10"/>
          </p:nvPr>
        </p:nvSpPr>
        <p:spPr/>
        <p:txBody>
          <a:bodyPr/>
          <a:lstStyle/>
          <a:p>
            <a:pPr defTabSz="914400">
              <a:defRPr/>
            </a:pPr>
            <a:r>
              <a:rPr lang="en-US" dirty="0">
                <a:solidFill>
                  <a:srgbClr val="0C0C0C">
                    <a:tint val="75000"/>
                  </a:srgbClr>
                </a:solidFill>
                <a:latin typeface="Arial"/>
              </a:rPr>
              <a:t>Coding Considerations 23- </a:t>
            </a:r>
            <a:fld id="{060BD193-E118-4B16-863C-C8C12C675E3E}" type="slidenum">
              <a:rPr lang="en-US">
                <a:solidFill>
                  <a:srgbClr val="0C0C0C">
                    <a:tint val="75000"/>
                  </a:srgbClr>
                </a:solidFill>
                <a:latin typeface="Arial"/>
              </a:rPr>
              <a:pPr defTabSz="914400">
                <a:defRPr/>
              </a:pPr>
              <a:t>30</a:t>
            </a:fld>
            <a:endParaRPr lang="en-US" dirty="0">
              <a:solidFill>
                <a:srgbClr val="0C0C0C">
                  <a:tint val="75000"/>
                </a:srgbClr>
              </a:solidFill>
              <a:latin typeface="Arial"/>
            </a:endParaRPr>
          </a:p>
        </p:txBody>
      </p:sp>
      <p:pic>
        <p:nvPicPr>
          <p:cNvPr id="14" name="Picture 13" descr="68_add_tb_files.PNG">
            <a:extLst>
              <a:ext uri="{FF2B5EF4-FFF2-40B4-BE49-F238E27FC236}">
                <a16:creationId xmlns:a16="http://schemas.microsoft.com/office/drawing/2014/main" id="{C5DD9180-6FF7-4E71-95DB-7A3CA4BA1B34}"/>
              </a:ext>
            </a:extLst>
          </p:cNvPr>
          <p:cNvPicPr>
            <a:picLocks noChangeAspect="1"/>
          </p:cNvPicPr>
          <p:nvPr/>
        </p:nvPicPr>
        <p:blipFill>
          <a:blip r:embed="rId2"/>
          <a:stretch>
            <a:fillRect/>
          </a:stretch>
        </p:blipFill>
        <p:spPr>
          <a:xfrm>
            <a:off x="7198401" y="4238415"/>
            <a:ext cx="4137817" cy="1767202"/>
          </a:xfrm>
          <a:prstGeom prst="rect">
            <a:avLst/>
          </a:prstGeom>
          <a:ln>
            <a:noFill/>
          </a:ln>
          <a:effectLst>
            <a:outerShdw blurRad="292100" dist="139700" dir="2700000" algn="tl" rotWithShape="0">
              <a:srgbClr val="333333">
                <a:alpha val="65000"/>
              </a:srgbClr>
            </a:outerShdw>
          </a:effectLst>
        </p:spPr>
      </p:pic>
      <p:sp>
        <p:nvSpPr>
          <p:cNvPr id="15" name="TextBox 14">
            <a:extLst>
              <a:ext uri="{FF2B5EF4-FFF2-40B4-BE49-F238E27FC236}">
                <a16:creationId xmlns:a16="http://schemas.microsoft.com/office/drawing/2014/main" id="{B448A6ED-6714-45A1-8F52-4ABA943AB58D}"/>
              </a:ext>
            </a:extLst>
          </p:cNvPr>
          <p:cNvSpPr txBox="1"/>
          <p:nvPr/>
        </p:nvSpPr>
        <p:spPr>
          <a:xfrm>
            <a:off x="1362361" y="2203523"/>
            <a:ext cx="3634727" cy="3323987"/>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defRPr/>
            </a:pPr>
            <a:r>
              <a:rPr lang="en-US" sz="1000" b="1" kern="0" dirty="0" err="1">
                <a:solidFill>
                  <a:srgbClr val="000000"/>
                </a:solidFill>
                <a:latin typeface="Arial"/>
              </a:rPr>
              <a:t>int</a:t>
            </a:r>
            <a:r>
              <a:rPr lang="en-US" sz="1000" b="1" kern="0" dirty="0">
                <a:solidFill>
                  <a:srgbClr val="000000"/>
                </a:solidFill>
                <a:latin typeface="Arial"/>
              </a:rPr>
              <a:t> main </a:t>
            </a:r>
            <a:r>
              <a:rPr lang="en-US" sz="1000" kern="0" dirty="0">
                <a:solidFill>
                  <a:srgbClr val="000000"/>
                </a:solidFill>
                <a:latin typeface="Arial"/>
              </a:rPr>
              <a:t>() { </a:t>
            </a:r>
          </a:p>
          <a:p>
            <a:pPr defTabSz="914400" fontAlgn="base">
              <a:spcBef>
                <a:spcPct val="0"/>
              </a:spcBef>
              <a:spcAft>
                <a:spcPct val="0"/>
              </a:spcAft>
              <a:defRPr/>
            </a:pPr>
            <a:r>
              <a:rPr lang="en-US" sz="1000" kern="0" dirty="0">
                <a:solidFill>
                  <a:srgbClr val="000000"/>
                </a:solidFill>
                <a:latin typeface="Arial"/>
              </a:rPr>
              <a:t>   …</a:t>
            </a:r>
          </a:p>
          <a:p>
            <a:pPr defTabSz="914400" fontAlgn="base">
              <a:spcBef>
                <a:spcPct val="0"/>
              </a:spcBef>
              <a:spcAft>
                <a:spcPct val="0"/>
              </a:spcAft>
              <a:tabLst>
                <a:tab pos="457200" algn="l"/>
              </a:tabLst>
              <a:defRPr/>
            </a:pPr>
            <a:r>
              <a:rPr lang="en-US" sz="1000" b="1" kern="0" dirty="0">
                <a:solidFill>
                  <a:srgbClr val="000000"/>
                </a:solidFill>
                <a:latin typeface="Arial"/>
              </a:rPr>
              <a:t>	</a:t>
            </a:r>
            <a:r>
              <a:rPr lang="en-US" sz="1000" kern="0" dirty="0">
                <a:solidFill>
                  <a:srgbClr val="000000"/>
                </a:solidFill>
                <a:latin typeface="Arial"/>
              </a:rPr>
              <a:t>// Get data from files</a:t>
            </a:r>
          </a:p>
          <a:p>
            <a:pPr defTabSz="914400" fontAlgn="base">
              <a:spcBef>
                <a:spcPct val="0"/>
              </a:spcBef>
              <a:spcAft>
                <a:spcPct val="0"/>
              </a:spcAft>
              <a:tabLst>
                <a:tab pos="457200" algn="l"/>
              </a:tabLst>
              <a:defRPr/>
            </a:pPr>
            <a:r>
              <a:rPr lang="en-US" sz="1000" kern="0" dirty="0">
                <a:solidFill>
                  <a:srgbClr val="000000"/>
                </a:solidFill>
                <a:latin typeface="Arial"/>
              </a:rPr>
              <a:t>	</a:t>
            </a:r>
            <a:r>
              <a:rPr lang="en-US" sz="1000" kern="0" dirty="0" err="1">
                <a:solidFill>
                  <a:srgbClr val="000000"/>
                </a:solidFill>
                <a:latin typeface="Arial"/>
              </a:rPr>
              <a:t>fp</a:t>
            </a:r>
            <a:r>
              <a:rPr lang="en-US" sz="1000" kern="0" dirty="0">
                <a:solidFill>
                  <a:srgbClr val="000000"/>
                </a:solidFill>
                <a:latin typeface="Arial"/>
              </a:rPr>
              <a:t>=</a:t>
            </a:r>
            <a:r>
              <a:rPr lang="en-US" sz="1000" kern="0" dirty="0" err="1">
                <a:solidFill>
                  <a:srgbClr val="000000"/>
                </a:solidFill>
                <a:latin typeface="Arial"/>
              </a:rPr>
              <a:t>fopen</a:t>
            </a:r>
            <a:r>
              <a:rPr lang="en-US" sz="1000" kern="0" dirty="0">
                <a:solidFill>
                  <a:srgbClr val="000000"/>
                </a:solidFill>
                <a:latin typeface="Arial"/>
              </a:rPr>
              <a:t>("</a:t>
            </a:r>
            <a:r>
              <a:rPr lang="en-US" sz="1000" b="1" kern="0" dirty="0" err="1">
                <a:solidFill>
                  <a:srgbClr val="000000"/>
                </a:solidFill>
                <a:latin typeface="Arial"/>
              </a:rPr>
              <a:t>tb_data</a:t>
            </a:r>
            <a:r>
              <a:rPr lang="en-US" sz="1000" b="1" kern="0" dirty="0">
                <a:solidFill>
                  <a:srgbClr val="000000"/>
                </a:solidFill>
                <a:latin typeface="Arial"/>
              </a:rPr>
              <a:t>/</a:t>
            </a:r>
            <a:r>
              <a:rPr lang="en-US" sz="1000" b="1" kern="0" dirty="0" err="1">
                <a:solidFill>
                  <a:srgbClr val="000000"/>
                </a:solidFill>
                <a:latin typeface="Arial"/>
              </a:rPr>
              <a:t>inA.dat</a:t>
            </a:r>
            <a:r>
              <a:rPr lang="en-US" sz="1000" kern="0" dirty="0" err="1">
                <a:solidFill>
                  <a:srgbClr val="000000"/>
                </a:solidFill>
                <a:latin typeface="Arial"/>
              </a:rPr>
              <a:t>","r</a:t>
            </a:r>
            <a:r>
              <a:rPr lang="en-US" sz="1000" kern="0" dirty="0">
                <a:solidFill>
                  <a:srgbClr val="000000"/>
                </a:solidFill>
                <a:latin typeface="Arial"/>
              </a:rPr>
              <a:t>");</a:t>
            </a:r>
          </a:p>
          <a:p>
            <a:pPr defTabSz="914400" fontAlgn="base">
              <a:spcBef>
                <a:spcPct val="0"/>
              </a:spcBef>
              <a:spcAft>
                <a:spcPct val="0"/>
              </a:spcAft>
              <a:tabLst>
                <a:tab pos="457200" algn="l"/>
              </a:tabLst>
              <a:defRPr/>
            </a:pPr>
            <a:r>
              <a:rPr lang="en-US" sz="1000" kern="0" dirty="0">
                <a:solidFill>
                  <a:srgbClr val="000000"/>
                </a:solidFill>
                <a:latin typeface="Arial"/>
              </a:rPr>
              <a:t>	for (</a:t>
            </a:r>
            <a:r>
              <a:rPr lang="en-US" sz="1000" kern="0" dirty="0" err="1">
                <a:solidFill>
                  <a:srgbClr val="000000"/>
                </a:solidFill>
                <a:latin typeface="Arial"/>
              </a:rPr>
              <a:t>i</a:t>
            </a:r>
            <a:r>
              <a:rPr lang="en-US" sz="1000" kern="0" dirty="0">
                <a:solidFill>
                  <a:srgbClr val="000000"/>
                </a:solidFill>
                <a:latin typeface="Arial"/>
              </a:rPr>
              <a:t>=0; </a:t>
            </a:r>
            <a:r>
              <a:rPr lang="en-US" sz="1000" kern="0" dirty="0" err="1">
                <a:solidFill>
                  <a:srgbClr val="000000"/>
                </a:solidFill>
                <a:latin typeface="Arial"/>
              </a:rPr>
              <a:t>i</a:t>
            </a:r>
            <a:r>
              <a:rPr lang="en-US" sz="1000" kern="0" dirty="0">
                <a:solidFill>
                  <a:srgbClr val="000000"/>
                </a:solidFill>
                <a:latin typeface="Arial"/>
              </a:rPr>
              <a:t>&lt;N*NUM_TRANS; </a:t>
            </a:r>
            <a:r>
              <a:rPr lang="en-US" sz="1000" kern="0" dirty="0" err="1">
                <a:solidFill>
                  <a:srgbClr val="000000"/>
                </a:solidFill>
                <a:latin typeface="Arial"/>
              </a:rPr>
              <a:t>i</a:t>
            </a:r>
            <a:r>
              <a:rPr lang="en-US" sz="1000" kern="0" dirty="0">
                <a:solidFill>
                  <a:srgbClr val="000000"/>
                </a:solidFill>
                <a:latin typeface="Arial"/>
              </a:rPr>
              <a:t>++){</a:t>
            </a:r>
          </a:p>
          <a:p>
            <a:pPr defTabSz="914400" fontAlgn="base">
              <a:spcBef>
                <a:spcPct val="0"/>
              </a:spcBef>
              <a:spcAft>
                <a:spcPct val="0"/>
              </a:spcAft>
              <a:tabLst>
                <a:tab pos="457200" algn="l"/>
              </a:tabLst>
              <a:defRPr/>
            </a:pPr>
            <a:r>
              <a:rPr lang="en-US" sz="1000" kern="0" dirty="0">
                <a:solidFill>
                  <a:srgbClr val="000000"/>
                </a:solidFill>
                <a:latin typeface="Arial"/>
              </a:rPr>
              <a:t>		int </a:t>
            </a:r>
            <a:r>
              <a:rPr lang="en-US" sz="1000" kern="0" dirty="0" err="1">
                <a:solidFill>
                  <a:srgbClr val="000000"/>
                </a:solidFill>
                <a:latin typeface="Arial"/>
              </a:rPr>
              <a:t>tmp</a:t>
            </a:r>
            <a:r>
              <a:rPr lang="en-US" sz="1000" kern="0" dirty="0">
                <a:solidFill>
                  <a:srgbClr val="000000"/>
                </a:solidFill>
                <a:latin typeface="Arial"/>
              </a:rPr>
              <a:t>;</a:t>
            </a:r>
          </a:p>
          <a:p>
            <a:pPr defTabSz="914400" fontAlgn="base">
              <a:spcBef>
                <a:spcPct val="0"/>
              </a:spcBef>
              <a:spcAft>
                <a:spcPct val="0"/>
              </a:spcAft>
              <a:tabLst>
                <a:tab pos="457200" algn="l"/>
              </a:tabLst>
              <a:defRPr/>
            </a:pPr>
            <a:r>
              <a:rPr lang="en-US" sz="1000" kern="0" dirty="0">
                <a:solidFill>
                  <a:srgbClr val="000000"/>
                </a:solidFill>
                <a:latin typeface="Arial"/>
              </a:rPr>
              <a:t>		fscanf(</a:t>
            </a:r>
            <a:r>
              <a:rPr lang="en-US" sz="1000" kern="0" dirty="0" err="1">
                <a:solidFill>
                  <a:srgbClr val="000000"/>
                </a:solidFill>
                <a:latin typeface="Arial"/>
              </a:rPr>
              <a:t>fp</a:t>
            </a:r>
            <a:r>
              <a:rPr lang="en-US" sz="1000" kern="0" dirty="0">
                <a:solidFill>
                  <a:srgbClr val="000000"/>
                </a:solidFill>
                <a:latin typeface="Arial"/>
              </a:rPr>
              <a:t>, "%d", &amp;</a:t>
            </a:r>
            <a:r>
              <a:rPr lang="en-US" sz="1000" kern="0" dirty="0" err="1">
                <a:solidFill>
                  <a:srgbClr val="000000"/>
                </a:solidFill>
                <a:latin typeface="Arial"/>
              </a:rPr>
              <a:t>tmp</a:t>
            </a:r>
            <a:r>
              <a:rPr lang="en-US" sz="1000" kern="0" dirty="0">
                <a:solidFill>
                  <a:srgbClr val="000000"/>
                </a:solidFill>
                <a:latin typeface="Arial"/>
              </a:rPr>
              <a:t>);</a:t>
            </a:r>
          </a:p>
          <a:p>
            <a:pPr defTabSz="914400" fontAlgn="base">
              <a:spcBef>
                <a:spcPct val="0"/>
              </a:spcBef>
              <a:spcAft>
                <a:spcPct val="0"/>
              </a:spcAft>
              <a:tabLst>
                <a:tab pos="457200" algn="l"/>
              </a:tabLst>
              <a:defRPr/>
            </a:pPr>
            <a:r>
              <a:rPr lang="en-US" sz="1000" b="1" kern="0" dirty="0">
                <a:solidFill>
                  <a:srgbClr val="000000"/>
                </a:solidFill>
                <a:latin typeface="Arial"/>
              </a:rPr>
              <a:t>		</a:t>
            </a:r>
            <a:r>
              <a:rPr lang="en-US" sz="1000" b="1" kern="0" dirty="0" err="1">
                <a:solidFill>
                  <a:srgbClr val="000000"/>
                </a:solidFill>
                <a:latin typeface="Arial"/>
              </a:rPr>
              <a:t>a_gold</a:t>
            </a:r>
            <a:r>
              <a:rPr lang="en-US" sz="1000" b="1" kern="0" dirty="0">
                <a:solidFill>
                  <a:srgbClr val="000000"/>
                </a:solidFill>
                <a:latin typeface="Arial"/>
              </a:rPr>
              <a:t>[</a:t>
            </a:r>
            <a:r>
              <a:rPr lang="en-US" sz="1000" b="1" kern="0" dirty="0" err="1">
                <a:solidFill>
                  <a:srgbClr val="000000"/>
                </a:solidFill>
                <a:latin typeface="Arial"/>
              </a:rPr>
              <a:t>i</a:t>
            </a:r>
            <a:r>
              <a:rPr lang="en-US" sz="1000" b="1" kern="0" dirty="0">
                <a:solidFill>
                  <a:srgbClr val="000000"/>
                </a:solidFill>
                <a:latin typeface="Arial"/>
              </a:rPr>
              <a:t>] = </a:t>
            </a:r>
            <a:r>
              <a:rPr lang="en-US" sz="1000" b="1" kern="0" dirty="0" err="1">
                <a:solidFill>
                  <a:srgbClr val="000000"/>
                </a:solidFill>
                <a:latin typeface="Arial"/>
              </a:rPr>
              <a:t>tmp</a:t>
            </a:r>
            <a:r>
              <a:rPr lang="en-US" sz="1000" b="1" kern="0" dirty="0">
                <a:solidFill>
                  <a:srgbClr val="000000"/>
                </a:solidFill>
                <a:latin typeface="Arial"/>
              </a:rPr>
              <a:t>;</a:t>
            </a:r>
          </a:p>
          <a:p>
            <a:pPr defTabSz="914400" fontAlgn="base">
              <a:spcBef>
                <a:spcPct val="0"/>
              </a:spcBef>
              <a:spcAft>
                <a:spcPct val="0"/>
              </a:spcAft>
              <a:tabLst>
                <a:tab pos="457200" algn="l"/>
              </a:tabLst>
              <a:defRPr/>
            </a:pPr>
            <a:r>
              <a:rPr lang="en-US" sz="1000" kern="0" dirty="0">
                <a:solidFill>
                  <a:srgbClr val="000000"/>
                </a:solidFill>
                <a:latin typeface="Arial"/>
              </a:rPr>
              <a:t>	} </a:t>
            </a:r>
          </a:p>
          <a:p>
            <a:pPr defTabSz="914400" fontAlgn="base">
              <a:spcBef>
                <a:spcPct val="0"/>
              </a:spcBef>
              <a:spcAft>
                <a:spcPct val="0"/>
              </a:spcAft>
              <a:tabLst>
                <a:tab pos="457200" algn="l"/>
              </a:tabLst>
              <a:defRPr/>
            </a:pPr>
            <a:r>
              <a:rPr lang="en-US" sz="1000" kern="0" dirty="0">
                <a:solidFill>
                  <a:srgbClr val="000000"/>
                </a:solidFill>
                <a:latin typeface="Arial"/>
              </a:rPr>
              <a:t>	</a:t>
            </a:r>
            <a:r>
              <a:rPr lang="en-US" sz="1000" kern="0" dirty="0" err="1">
                <a:solidFill>
                  <a:srgbClr val="000000"/>
                </a:solidFill>
                <a:latin typeface="Arial"/>
              </a:rPr>
              <a:t>fclose</a:t>
            </a:r>
            <a:r>
              <a:rPr lang="en-US" sz="1000" kern="0" dirty="0">
                <a:solidFill>
                  <a:srgbClr val="000000"/>
                </a:solidFill>
                <a:latin typeface="Arial"/>
              </a:rPr>
              <a:t>(</a:t>
            </a:r>
            <a:r>
              <a:rPr lang="en-US" sz="1000" kern="0" dirty="0" err="1">
                <a:solidFill>
                  <a:srgbClr val="000000"/>
                </a:solidFill>
                <a:latin typeface="Arial"/>
              </a:rPr>
              <a:t>fp</a:t>
            </a:r>
            <a:r>
              <a:rPr lang="en-US" sz="1000" kern="0" dirty="0">
                <a:solidFill>
                  <a:srgbClr val="000000"/>
                </a:solidFill>
                <a:latin typeface="Arial"/>
              </a:rPr>
              <a:t>);</a:t>
            </a:r>
          </a:p>
          <a:p>
            <a:pPr defTabSz="914400" fontAlgn="base">
              <a:spcBef>
                <a:spcPct val="0"/>
              </a:spcBef>
              <a:spcAft>
                <a:spcPct val="0"/>
              </a:spcAft>
              <a:tabLst>
                <a:tab pos="457200" algn="l"/>
              </a:tabLst>
              <a:defRPr/>
            </a:pPr>
            <a:endParaRPr lang="en-US" sz="1000" kern="0" dirty="0">
              <a:solidFill>
                <a:srgbClr val="000000"/>
              </a:solidFill>
              <a:latin typeface="Arial"/>
            </a:endParaRPr>
          </a:p>
          <a:p>
            <a:pPr defTabSz="914400" fontAlgn="base">
              <a:spcBef>
                <a:spcPct val="0"/>
              </a:spcBef>
              <a:spcAft>
                <a:spcPct val="0"/>
              </a:spcAft>
              <a:tabLst>
                <a:tab pos="457200" algn="l"/>
              </a:tabLst>
              <a:defRPr/>
            </a:pPr>
            <a:r>
              <a:rPr lang="en-US" sz="1000" kern="0" dirty="0">
                <a:solidFill>
                  <a:srgbClr val="000000"/>
                </a:solidFill>
                <a:latin typeface="Arial"/>
              </a:rPr>
              <a:t>	</a:t>
            </a:r>
            <a:r>
              <a:rPr lang="en-US" sz="1000" kern="0" dirty="0" err="1">
                <a:solidFill>
                  <a:srgbClr val="000000"/>
                </a:solidFill>
                <a:latin typeface="Arial"/>
              </a:rPr>
              <a:t>fp</a:t>
            </a:r>
            <a:r>
              <a:rPr lang="en-US" sz="1000" kern="0" dirty="0">
                <a:solidFill>
                  <a:srgbClr val="000000"/>
                </a:solidFill>
                <a:latin typeface="Arial"/>
              </a:rPr>
              <a:t>=</a:t>
            </a:r>
            <a:r>
              <a:rPr lang="en-US" sz="1000" kern="0" dirty="0" err="1">
                <a:solidFill>
                  <a:srgbClr val="000000"/>
                </a:solidFill>
                <a:latin typeface="Arial"/>
              </a:rPr>
              <a:t>fopen</a:t>
            </a:r>
            <a:r>
              <a:rPr lang="en-US" sz="1000" kern="0" dirty="0">
                <a:solidFill>
                  <a:srgbClr val="000000"/>
                </a:solidFill>
                <a:latin typeface="Arial"/>
              </a:rPr>
              <a:t>("</a:t>
            </a:r>
            <a:r>
              <a:rPr lang="en-US" sz="1000" b="1" kern="0" dirty="0" err="1">
                <a:solidFill>
                  <a:srgbClr val="000000"/>
                </a:solidFill>
                <a:latin typeface="Arial"/>
              </a:rPr>
              <a:t>tb_data</a:t>
            </a:r>
            <a:r>
              <a:rPr lang="en-US" sz="1000" b="1" kern="0" dirty="0">
                <a:solidFill>
                  <a:srgbClr val="000000"/>
                </a:solidFill>
                <a:latin typeface="Arial"/>
              </a:rPr>
              <a:t>/</a:t>
            </a:r>
            <a:r>
              <a:rPr lang="en-US" sz="1000" b="1" kern="0" dirty="0" err="1">
                <a:solidFill>
                  <a:srgbClr val="000000"/>
                </a:solidFill>
                <a:latin typeface="Arial"/>
              </a:rPr>
              <a:t>inB.dat</a:t>
            </a:r>
            <a:r>
              <a:rPr lang="en-US" sz="1000" kern="0" dirty="0" err="1">
                <a:solidFill>
                  <a:srgbClr val="000000"/>
                </a:solidFill>
                <a:latin typeface="Arial"/>
              </a:rPr>
              <a:t>","r</a:t>
            </a:r>
            <a:r>
              <a:rPr lang="en-US" sz="1000" kern="0" dirty="0">
                <a:solidFill>
                  <a:srgbClr val="000000"/>
                </a:solidFill>
                <a:latin typeface="Arial"/>
              </a:rPr>
              <a:t>");</a:t>
            </a:r>
          </a:p>
          <a:p>
            <a:pPr defTabSz="914400" fontAlgn="base">
              <a:spcBef>
                <a:spcPct val="0"/>
              </a:spcBef>
              <a:spcAft>
                <a:spcPct val="0"/>
              </a:spcAft>
              <a:tabLst>
                <a:tab pos="457200" algn="l"/>
              </a:tabLst>
              <a:defRPr/>
            </a:pPr>
            <a:r>
              <a:rPr lang="en-US" sz="1000" kern="0" dirty="0">
                <a:solidFill>
                  <a:srgbClr val="000000"/>
                </a:solidFill>
                <a:latin typeface="Arial"/>
              </a:rPr>
              <a:t>	for (</a:t>
            </a:r>
            <a:r>
              <a:rPr lang="en-US" sz="1000" kern="0" dirty="0" err="1">
                <a:solidFill>
                  <a:srgbClr val="000000"/>
                </a:solidFill>
                <a:latin typeface="Arial"/>
              </a:rPr>
              <a:t>i</a:t>
            </a:r>
            <a:r>
              <a:rPr lang="en-US" sz="1000" kern="0" dirty="0">
                <a:solidFill>
                  <a:srgbClr val="000000"/>
                </a:solidFill>
                <a:latin typeface="Arial"/>
              </a:rPr>
              <a:t>=0; </a:t>
            </a:r>
            <a:r>
              <a:rPr lang="en-US" sz="1000" kern="0" dirty="0" err="1">
                <a:solidFill>
                  <a:srgbClr val="000000"/>
                </a:solidFill>
                <a:latin typeface="Arial"/>
              </a:rPr>
              <a:t>i</a:t>
            </a:r>
            <a:r>
              <a:rPr lang="en-US" sz="1000" kern="0" dirty="0">
                <a:solidFill>
                  <a:srgbClr val="000000"/>
                </a:solidFill>
                <a:latin typeface="Arial"/>
              </a:rPr>
              <a:t>&lt;N*NUM_TRANS; </a:t>
            </a:r>
            <a:r>
              <a:rPr lang="en-US" sz="1000" kern="0" dirty="0" err="1">
                <a:solidFill>
                  <a:srgbClr val="000000"/>
                </a:solidFill>
                <a:latin typeface="Arial"/>
              </a:rPr>
              <a:t>i</a:t>
            </a:r>
            <a:r>
              <a:rPr lang="en-US" sz="1000" kern="0" dirty="0">
                <a:solidFill>
                  <a:srgbClr val="000000"/>
                </a:solidFill>
                <a:latin typeface="Arial"/>
              </a:rPr>
              <a:t>++){</a:t>
            </a:r>
          </a:p>
          <a:p>
            <a:pPr defTabSz="914400" fontAlgn="base">
              <a:spcBef>
                <a:spcPct val="0"/>
              </a:spcBef>
              <a:spcAft>
                <a:spcPct val="0"/>
              </a:spcAft>
              <a:tabLst>
                <a:tab pos="457200" algn="l"/>
              </a:tabLst>
              <a:defRPr/>
            </a:pPr>
            <a:r>
              <a:rPr lang="en-US" sz="1000" kern="0" dirty="0">
                <a:solidFill>
                  <a:srgbClr val="000000"/>
                </a:solidFill>
                <a:latin typeface="Arial"/>
              </a:rPr>
              <a:t>		int </a:t>
            </a:r>
            <a:r>
              <a:rPr lang="en-US" sz="1000" kern="0" dirty="0" err="1">
                <a:solidFill>
                  <a:srgbClr val="000000"/>
                </a:solidFill>
                <a:latin typeface="Arial"/>
              </a:rPr>
              <a:t>tmp</a:t>
            </a:r>
            <a:r>
              <a:rPr lang="en-US" sz="1000" kern="0" dirty="0">
                <a:solidFill>
                  <a:srgbClr val="000000"/>
                </a:solidFill>
                <a:latin typeface="Arial"/>
              </a:rPr>
              <a:t>;</a:t>
            </a:r>
          </a:p>
          <a:p>
            <a:pPr defTabSz="914400" fontAlgn="base">
              <a:spcBef>
                <a:spcPct val="0"/>
              </a:spcBef>
              <a:spcAft>
                <a:spcPct val="0"/>
              </a:spcAft>
              <a:tabLst>
                <a:tab pos="457200" algn="l"/>
              </a:tabLst>
              <a:defRPr/>
            </a:pPr>
            <a:r>
              <a:rPr lang="en-US" sz="1000" kern="0" dirty="0">
                <a:solidFill>
                  <a:srgbClr val="000000"/>
                </a:solidFill>
                <a:latin typeface="Arial"/>
              </a:rPr>
              <a:t>		fscanf(</a:t>
            </a:r>
            <a:r>
              <a:rPr lang="en-US" sz="1000" kern="0" dirty="0" err="1">
                <a:solidFill>
                  <a:srgbClr val="000000"/>
                </a:solidFill>
                <a:latin typeface="Arial"/>
              </a:rPr>
              <a:t>fp</a:t>
            </a:r>
            <a:r>
              <a:rPr lang="en-US" sz="1000" kern="0" dirty="0">
                <a:solidFill>
                  <a:srgbClr val="000000"/>
                </a:solidFill>
                <a:latin typeface="Arial"/>
              </a:rPr>
              <a:t>, "%d", &amp;</a:t>
            </a:r>
            <a:r>
              <a:rPr lang="en-US" sz="1000" kern="0" dirty="0" err="1">
                <a:solidFill>
                  <a:srgbClr val="000000"/>
                </a:solidFill>
                <a:latin typeface="Arial"/>
              </a:rPr>
              <a:t>tmp</a:t>
            </a:r>
            <a:r>
              <a:rPr lang="en-US" sz="1000" kern="0" dirty="0">
                <a:solidFill>
                  <a:srgbClr val="000000"/>
                </a:solidFill>
                <a:latin typeface="Arial"/>
              </a:rPr>
              <a:t>);</a:t>
            </a:r>
          </a:p>
          <a:p>
            <a:pPr defTabSz="914400" fontAlgn="base">
              <a:spcBef>
                <a:spcPct val="0"/>
              </a:spcBef>
              <a:spcAft>
                <a:spcPct val="0"/>
              </a:spcAft>
              <a:tabLst>
                <a:tab pos="457200" algn="l"/>
              </a:tabLst>
              <a:defRPr/>
            </a:pPr>
            <a:r>
              <a:rPr lang="en-US" sz="1000" b="1" kern="0" dirty="0">
                <a:solidFill>
                  <a:srgbClr val="000000"/>
                </a:solidFill>
                <a:latin typeface="Arial"/>
              </a:rPr>
              <a:t>		</a:t>
            </a:r>
            <a:r>
              <a:rPr lang="en-US" sz="1000" b="1" kern="0" dirty="0" err="1">
                <a:solidFill>
                  <a:srgbClr val="000000"/>
                </a:solidFill>
                <a:latin typeface="Arial"/>
              </a:rPr>
              <a:t>b_gold</a:t>
            </a:r>
            <a:r>
              <a:rPr lang="en-US" sz="1000" b="1" kern="0" dirty="0">
                <a:solidFill>
                  <a:srgbClr val="000000"/>
                </a:solidFill>
                <a:latin typeface="Arial"/>
              </a:rPr>
              <a:t>[</a:t>
            </a:r>
            <a:r>
              <a:rPr lang="en-US" sz="1000" b="1" kern="0" dirty="0" err="1">
                <a:solidFill>
                  <a:srgbClr val="000000"/>
                </a:solidFill>
                <a:latin typeface="Arial"/>
              </a:rPr>
              <a:t>i</a:t>
            </a:r>
            <a:r>
              <a:rPr lang="en-US" sz="1000" b="1" kern="0" dirty="0">
                <a:solidFill>
                  <a:srgbClr val="000000"/>
                </a:solidFill>
                <a:latin typeface="Arial"/>
              </a:rPr>
              <a:t>] = </a:t>
            </a:r>
            <a:r>
              <a:rPr lang="en-US" sz="1000" b="1" kern="0" dirty="0" err="1">
                <a:solidFill>
                  <a:srgbClr val="000000"/>
                </a:solidFill>
                <a:latin typeface="Arial"/>
              </a:rPr>
              <a:t>tmp</a:t>
            </a:r>
            <a:r>
              <a:rPr lang="en-US" sz="1000" b="1" kern="0" dirty="0">
                <a:solidFill>
                  <a:srgbClr val="000000"/>
                </a:solidFill>
                <a:latin typeface="Arial"/>
              </a:rPr>
              <a:t>;</a:t>
            </a:r>
          </a:p>
          <a:p>
            <a:pPr defTabSz="914400" fontAlgn="base">
              <a:spcBef>
                <a:spcPct val="0"/>
              </a:spcBef>
              <a:spcAft>
                <a:spcPct val="0"/>
              </a:spcAft>
              <a:tabLst>
                <a:tab pos="457200" algn="l"/>
              </a:tabLst>
              <a:defRPr/>
            </a:pPr>
            <a:r>
              <a:rPr lang="en-US" sz="1000" kern="0" dirty="0">
                <a:solidFill>
                  <a:srgbClr val="000000"/>
                </a:solidFill>
                <a:latin typeface="Arial"/>
              </a:rPr>
              <a:t>	} </a:t>
            </a:r>
          </a:p>
          <a:p>
            <a:pPr defTabSz="914400" fontAlgn="base">
              <a:spcBef>
                <a:spcPct val="0"/>
              </a:spcBef>
              <a:spcAft>
                <a:spcPct val="0"/>
              </a:spcAft>
              <a:tabLst>
                <a:tab pos="457200" algn="l"/>
              </a:tabLst>
              <a:defRPr/>
            </a:pPr>
            <a:r>
              <a:rPr lang="en-US" sz="1000" kern="0" dirty="0">
                <a:solidFill>
                  <a:srgbClr val="000000"/>
                </a:solidFill>
                <a:latin typeface="Arial"/>
              </a:rPr>
              <a:t>	</a:t>
            </a:r>
            <a:r>
              <a:rPr lang="en-US" sz="1000" kern="0" dirty="0" err="1">
                <a:solidFill>
                  <a:srgbClr val="000000"/>
                </a:solidFill>
                <a:latin typeface="Arial"/>
              </a:rPr>
              <a:t>fclose</a:t>
            </a:r>
            <a:r>
              <a:rPr lang="en-US" sz="1000" kern="0" dirty="0">
                <a:solidFill>
                  <a:srgbClr val="000000"/>
                </a:solidFill>
                <a:latin typeface="Arial"/>
              </a:rPr>
              <a:t>(</a:t>
            </a:r>
            <a:r>
              <a:rPr lang="en-US" sz="1000" kern="0" dirty="0" err="1">
                <a:solidFill>
                  <a:srgbClr val="000000"/>
                </a:solidFill>
                <a:latin typeface="Arial"/>
              </a:rPr>
              <a:t>fp</a:t>
            </a:r>
            <a:r>
              <a:rPr lang="en-US" sz="1000" kern="0" dirty="0">
                <a:solidFill>
                  <a:srgbClr val="000000"/>
                </a:solidFill>
                <a:latin typeface="Arial"/>
              </a:rPr>
              <a:t>);</a:t>
            </a:r>
          </a:p>
          <a:p>
            <a:pPr defTabSz="914400" fontAlgn="base">
              <a:spcBef>
                <a:spcPct val="0"/>
              </a:spcBef>
              <a:spcAft>
                <a:spcPct val="0"/>
              </a:spcAft>
              <a:tabLst>
                <a:tab pos="457200" algn="l"/>
              </a:tabLst>
              <a:defRPr/>
            </a:pPr>
            <a:r>
              <a:rPr lang="en-US" sz="1000" kern="0" dirty="0">
                <a:solidFill>
                  <a:srgbClr val="000000"/>
                </a:solidFill>
                <a:latin typeface="Arial"/>
              </a:rPr>
              <a:t>  …</a:t>
            </a:r>
          </a:p>
          <a:p>
            <a:pPr defTabSz="914400" fontAlgn="base">
              <a:spcBef>
                <a:spcPct val="0"/>
              </a:spcBef>
              <a:spcAft>
                <a:spcPct val="0"/>
              </a:spcAft>
              <a:defRPr/>
            </a:pPr>
            <a:r>
              <a:rPr lang="en-US" sz="1000" kern="0" dirty="0">
                <a:solidFill>
                  <a:srgbClr val="000000"/>
                </a:solidFill>
                <a:latin typeface="Arial"/>
              </a:rPr>
              <a:t>  return ret;</a:t>
            </a:r>
          </a:p>
          <a:p>
            <a:pPr defTabSz="914400" fontAlgn="base">
              <a:spcBef>
                <a:spcPct val="0"/>
              </a:spcBef>
              <a:spcAft>
                <a:spcPct val="0"/>
              </a:spcAft>
              <a:defRPr/>
            </a:pPr>
            <a:r>
              <a:rPr lang="en-US" sz="1000" kern="0" dirty="0">
                <a:solidFill>
                  <a:srgbClr val="000000"/>
                </a:solidFill>
                <a:latin typeface="Arial"/>
              </a:rPr>
              <a:t>}</a:t>
            </a:r>
          </a:p>
        </p:txBody>
      </p:sp>
      <p:pic>
        <p:nvPicPr>
          <p:cNvPr id="16" name="Picture 15" descr="67_add_tb.PNG">
            <a:extLst>
              <a:ext uri="{FF2B5EF4-FFF2-40B4-BE49-F238E27FC236}">
                <a16:creationId xmlns:a16="http://schemas.microsoft.com/office/drawing/2014/main" id="{6287A3F6-82B5-4941-8390-3CC1C04B83B9}"/>
              </a:ext>
            </a:extLst>
          </p:cNvPr>
          <p:cNvPicPr>
            <a:picLocks noChangeAspect="1"/>
          </p:cNvPicPr>
          <p:nvPr/>
        </p:nvPicPr>
        <p:blipFill>
          <a:blip r:embed="rId3"/>
          <a:stretch>
            <a:fillRect/>
          </a:stretch>
        </p:blipFill>
        <p:spPr>
          <a:xfrm>
            <a:off x="7195387" y="2202950"/>
            <a:ext cx="4102997" cy="1824376"/>
          </a:xfrm>
          <a:prstGeom prst="rect">
            <a:avLst/>
          </a:prstGeom>
          <a:ln>
            <a:noFill/>
          </a:ln>
          <a:effectLst>
            <a:outerShdw blurRad="292100" dist="139700" dir="2700000" algn="tl" rotWithShape="0">
              <a:srgbClr val="333333">
                <a:alpha val="65000"/>
              </a:srgbClr>
            </a:outerShdw>
          </a:effectLst>
        </p:spPr>
      </p:pic>
      <p:sp>
        <p:nvSpPr>
          <p:cNvPr id="17" name="Right Arrow 7">
            <a:extLst>
              <a:ext uri="{FF2B5EF4-FFF2-40B4-BE49-F238E27FC236}">
                <a16:creationId xmlns:a16="http://schemas.microsoft.com/office/drawing/2014/main" id="{114F859E-0274-4DD7-9E14-04AA591D8D64}"/>
              </a:ext>
            </a:extLst>
          </p:cNvPr>
          <p:cNvSpPr/>
          <p:nvPr/>
        </p:nvSpPr>
        <p:spPr>
          <a:xfrm>
            <a:off x="4843507" y="2702787"/>
            <a:ext cx="2815633" cy="1075340"/>
          </a:xfrm>
          <a:prstGeom prst="rightArrow">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endParaRPr lang="en-US" kern="0">
              <a:solidFill>
                <a:srgbClr val="FFFFFF"/>
              </a:solidFill>
              <a:latin typeface="Arial"/>
            </a:endParaRPr>
          </a:p>
        </p:txBody>
      </p:sp>
      <p:sp>
        <p:nvSpPr>
          <p:cNvPr id="18" name="TextBox 17">
            <a:extLst>
              <a:ext uri="{FF2B5EF4-FFF2-40B4-BE49-F238E27FC236}">
                <a16:creationId xmlns:a16="http://schemas.microsoft.com/office/drawing/2014/main" id="{2C325397-BAD1-4E24-A27E-E11FD03C1018}"/>
              </a:ext>
            </a:extLst>
          </p:cNvPr>
          <p:cNvSpPr txBox="1"/>
          <p:nvPr/>
        </p:nvSpPr>
        <p:spPr>
          <a:xfrm>
            <a:off x="4792314" y="3010029"/>
            <a:ext cx="2559667" cy="461665"/>
          </a:xfrm>
          <a:prstGeom prst="rect">
            <a:avLst/>
          </a:prstGeom>
          <a:noFill/>
        </p:spPr>
        <p:txBody>
          <a:bodyPr wrap="square" rtlCol="0">
            <a:spAutoFit/>
          </a:bodyPr>
          <a:lstStyle/>
          <a:p>
            <a:pPr algn="ctr" defTabSz="914400" fontAlgn="base">
              <a:spcBef>
                <a:spcPct val="0"/>
              </a:spcBef>
              <a:spcAft>
                <a:spcPct val="0"/>
              </a:spcAft>
              <a:defRPr/>
            </a:pPr>
            <a:r>
              <a:rPr lang="en-US" sz="1200" b="1" kern="0" dirty="0">
                <a:solidFill>
                  <a:srgbClr val="000000"/>
                </a:solidFill>
                <a:latin typeface="Arial"/>
              </a:rPr>
              <a:t>Include file directory with the test bench</a:t>
            </a:r>
          </a:p>
        </p:txBody>
      </p:sp>
      <p:sp>
        <p:nvSpPr>
          <p:cNvPr id="19" name="Right Arrow 9">
            <a:extLst>
              <a:ext uri="{FF2B5EF4-FFF2-40B4-BE49-F238E27FC236}">
                <a16:creationId xmlns:a16="http://schemas.microsoft.com/office/drawing/2014/main" id="{AE642988-0CCC-48AC-9415-6B99F73231F7}"/>
              </a:ext>
            </a:extLst>
          </p:cNvPr>
          <p:cNvSpPr/>
          <p:nvPr/>
        </p:nvSpPr>
        <p:spPr>
          <a:xfrm>
            <a:off x="4792315" y="4507822"/>
            <a:ext cx="2815633" cy="1075340"/>
          </a:xfrm>
          <a:prstGeom prst="rightArrow">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endParaRPr lang="en-US" kern="0">
              <a:solidFill>
                <a:srgbClr val="FFFFFF"/>
              </a:solidFill>
              <a:latin typeface="Arial"/>
            </a:endParaRPr>
          </a:p>
        </p:txBody>
      </p:sp>
      <p:sp>
        <p:nvSpPr>
          <p:cNvPr id="20" name="TextBox 19">
            <a:extLst>
              <a:ext uri="{FF2B5EF4-FFF2-40B4-BE49-F238E27FC236}">
                <a16:creationId xmlns:a16="http://schemas.microsoft.com/office/drawing/2014/main" id="{438C4C2C-9F2F-458A-83A9-9A92887DB797}"/>
              </a:ext>
            </a:extLst>
          </p:cNvPr>
          <p:cNvSpPr txBox="1"/>
          <p:nvPr/>
        </p:nvSpPr>
        <p:spPr>
          <a:xfrm>
            <a:off x="4741122" y="4930279"/>
            <a:ext cx="2559667" cy="276999"/>
          </a:xfrm>
          <a:prstGeom prst="rect">
            <a:avLst/>
          </a:prstGeom>
          <a:noFill/>
        </p:spPr>
        <p:txBody>
          <a:bodyPr wrap="square" rtlCol="0">
            <a:spAutoFit/>
          </a:bodyPr>
          <a:lstStyle/>
          <a:p>
            <a:pPr algn="ctr" defTabSz="914400" fontAlgn="base">
              <a:spcBef>
                <a:spcPct val="0"/>
              </a:spcBef>
              <a:spcAft>
                <a:spcPct val="0"/>
              </a:spcAft>
              <a:defRPr/>
            </a:pPr>
            <a:r>
              <a:rPr lang="en-US" sz="1200" b="1" kern="0" dirty="0">
                <a:solidFill>
                  <a:srgbClr val="000000"/>
                </a:solidFill>
                <a:latin typeface="Arial"/>
              </a:rPr>
              <a:t>Or include both files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E8B68-914A-4413-9C46-714B7797B6FF}"/>
              </a:ext>
            </a:extLst>
          </p:cNvPr>
          <p:cNvSpPr>
            <a:spLocks noGrp="1"/>
          </p:cNvSpPr>
          <p:nvPr>
            <p:ph type="title"/>
          </p:nvPr>
        </p:nvSpPr>
        <p:spPr/>
        <p:txBody>
          <a:bodyPr/>
          <a:lstStyle/>
          <a:p>
            <a:r>
              <a:rPr lang="en-US" altLang="zh-CN" dirty="0"/>
              <a:t>Pointers</a:t>
            </a:r>
            <a:endParaRPr lang="zh-CN" altLang="en-US" dirty="0"/>
          </a:p>
        </p:txBody>
      </p:sp>
    </p:spTree>
    <p:extLst>
      <p:ext uri="{BB962C8B-B14F-4D97-AF65-F5344CB8AC3E}">
        <p14:creationId xmlns:p14="http://schemas.microsoft.com/office/powerpoint/2010/main" val="23821239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Pointer	</a:t>
            </a:r>
          </a:p>
        </p:txBody>
      </p:sp>
      <p:sp>
        <p:nvSpPr>
          <p:cNvPr id="3" name="Content Placeholder 2"/>
          <p:cNvSpPr>
            <a:spLocks noGrp="1"/>
          </p:cNvSpPr>
          <p:nvPr>
            <p:ph idx="1"/>
          </p:nvPr>
        </p:nvSpPr>
        <p:spPr>
          <a:xfrm>
            <a:off x="579119" y="1280160"/>
            <a:ext cx="11033760" cy="4632960"/>
          </a:xfrm>
        </p:spPr>
        <p:txBody>
          <a:bodyPr/>
          <a:lstStyle/>
          <a:p>
            <a:r>
              <a:rPr lang="en-US" sz="1800" dirty="0"/>
              <a:t>Structs as pointers </a:t>
            </a:r>
          </a:p>
          <a:p>
            <a:pPr lvl="1"/>
            <a:r>
              <a:rPr lang="en-US" sz="1600" dirty="0"/>
              <a:t>Structs are implemented differently as pointers or pass-by-value</a:t>
            </a:r>
          </a:p>
          <a:p>
            <a:r>
              <a:rPr lang="en-US" sz="1800" dirty="0"/>
              <a:t>Pointer arithmetic</a:t>
            </a:r>
          </a:p>
          <a:p>
            <a:pPr lvl="1"/>
            <a:r>
              <a:rPr lang="en-US" sz="1600" dirty="0"/>
              <a:t>The pointer arithmetic does not access the pointer data in sequence</a:t>
            </a:r>
          </a:p>
          <a:p>
            <a:pPr lvl="1"/>
            <a:r>
              <a:rPr lang="en-US" sz="1600" dirty="0"/>
              <a:t>The interface supplies an address to index the data</a:t>
            </a:r>
          </a:p>
          <a:p>
            <a:r>
              <a:rPr lang="en-US" sz="1800" dirty="0"/>
              <a:t>Converting pointers using malloc</a:t>
            </a:r>
          </a:p>
          <a:p>
            <a:pPr lvl="1"/>
            <a:r>
              <a:rPr lang="en-US" sz="1600" dirty="0"/>
              <a:t>Must be converted to fixed sized resources</a:t>
            </a:r>
          </a:p>
          <a:p>
            <a:r>
              <a:rPr lang="en-US" sz="1800" dirty="0"/>
              <a:t>Multi-access Pointers</a:t>
            </a:r>
          </a:p>
          <a:p>
            <a:pPr lvl="1"/>
            <a:r>
              <a:rPr lang="en-US" sz="1600" dirty="0"/>
              <a:t>Must be marked as volatile or reads and writes will be optimized away</a:t>
            </a:r>
          </a:p>
          <a:p>
            <a:pPr lvl="1"/>
            <a:r>
              <a:rPr lang="en-US" sz="1600" dirty="0"/>
              <a:t>Cannot be rigorously validated with C simulation</a:t>
            </a:r>
          </a:p>
          <a:p>
            <a:pPr lvl="1"/>
            <a:r>
              <a:rPr lang="en-US" sz="1600" dirty="0"/>
              <a:t>Require a depth specification for RTL simulation</a:t>
            </a:r>
          </a:p>
          <a:p>
            <a:r>
              <a:rPr lang="en-US" sz="1800" dirty="0"/>
              <a:t>Arrays of Pointers</a:t>
            </a:r>
          </a:p>
          <a:p>
            <a:pPr lvl="1"/>
            <a:r>
              <a:rPr lang="en-US" sz="1600" b="0" dirty="0"/>
              <a:t>When using arrays of pointers, each pointer must point to a scalar or a scalar array (not another pointer)</a:t>
            </a:r>
            <a:endParaRPr lang="en-US" sz="1600" dirty="0"/>
          </a:p>
          <a:p>
            <a:pPr>
              <a:buNone/>
            </a:pPr>
            <a:endParaRPr lang="en-US" sz="1800" dirty="0"/>
          </a:p>
        </p:txBody>
      </p:sp>
      <p:sp>
        <p:nvSpPr>
          <p:cNvPr id="5" name="Slide Number Placeholder 5">
            <a:extLst>
              <a:ext uri="{FF2B5EF4-FFF2-40B4-BE49-F238E27FC236}">
                <a16:creationId xmlns:a16="http://schemas.microsoft.com/office/drawing/2014/main" id="{A2CC17E6-967F-4640-8557-973198C95413}"/>
              </a:ext>
            </a:extLst>
          </p:cNvPr>
          <p:cNvSpPr>
            <a:spLocks noGrp="1"/>
          </p:cNvSpPr>
          <p:nvPr>
            <p:ph type="sldNum" sz="quarter" idx="4"/>
          </p:nvPr>
        </p:nvSpPr>
        <p:spPr/>
        <p:txBody>
          <a:bodyPr/>
          <a:lstStyle/>
          <a:p>
            <a:pPr>
              <a:defRPr/>
            </a:pPr>
            <a:r>
              <a:rPr lang="en-US" dirty="0"/>
              <a:t>Coding Considerations 23- </a:t>
            </a:r>
            <a:fld id="{060BD193-E118-4B16-863C-C8C12C675E3E}" type="slidenum">
              <a:rPr lang="en-US" smtClean="0"/>
              <a:pPr>
                <a:defRPr/>
              </a:pPr>
              <a:t>32</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Pointer	</a:t>
            </a:r>
          </a:p>
        </p:txBody>
      </p:sp>
      <p:sp>
        <p:nvSpPr>
          <p:cNvPr id="3" name="Content Placeholder 2"/>
          <p:cNvSpPr>
            <a:spLocks noGrp="1"/>
          </p:cNvSpPr>
          <p:nvPr>
            <p:ph idx="1"/>
          </p:nvPr>
        </p:nvSpPr>
        <p:spPr>
          <a:xfrm>
            <a:off x="636168" y="1155089"/>
            <a:ext cx="10512862" cy="4759404"/>
          </a:xfrm>
        </p:spPr>
        <p:txBody>
          <a:bodyPr/>
          <a:lstStyle/>
          <a:p>
            <a:r>
              <a:rPr lang="en-US" dirty="0"/>
              <a:t>Structs as pointers </a:t>
            </a:r>
          </a:p>
          <a:p>
            <a:pPr lvl="1"/>
            <a:r>
              <a:rPr lang="en-US" dirty="0"/>
              <a:t>Structs are implemented differently as pointers or pass-by-value</a:t>
            </a:r>
          </a:p>
          <a:p>
            <a:r>
              <a:rPr lang="en-US" dirty="0"/>
              <a:t>Pointer arithmetic</a:t>
            </a:r>
          </a:p>
          <a:p>
            <a:pPr lvl="1"/>
            <a:r>
              <a:rPr lang="en-US" strike="sngStrike" dirty="0"/>
              <a:t>Only supported as interface using </a:t>
            </a:r>
            <a:r>
              <a:rPr lang="en-US" strike="sngStrike" dirty="0" err="1"/>
              <a:t>ap_bus</a:t>
            </a:r>
            <a:endParaRPr lang="en-US" strike="sngStrike" dirty="0"/>
          </a:p>
          <a:p>
            <a:pPr lvl="1"/>
            <a:r>
              <a:rPr lang="en-US" dirty="0">
                <a:highlight>
                  <a:srgbClr val="FFFF00"/>
                </a:highlight>
              </a:rPr>
              <a:t>The pointer arithmetic does not access the pointer data in sequence</a:t>
            </a:r>
          </a:p>
          <a:p>
            <a:pPr lvl="1"/>
            <a:r>
              <a:rPr lang="en-US" dirty="0">
                <a:highlight>
                  <a:srgbClr val="FFFF00"/>
                </a:highlight>
              </a:rPr>
              <a:t>The interface supplies an address to index the data</a:t>
            </a:r>
          </a:p>
          <a:p>
            <a:r>
              <a:rPr lang="en-US" dirty="0"/>
              <a:t>Converting pointers using malloc</a:t>
            </a:r>
          </a:p>
          <a:p>
            <a:pPr lvl="1"/>
            <a:r>
              <a:rPr lang="en-US" dirty="0"/>
              <a:t>Must be converted to fixed sized resources</a:t>
            </a:r>
          </a:p>
          <a:p>
            <a:r>
              <a:rPr lang="en-US" dirty="0"/>
              <a:t>Multi-access Pointers</a:t>
            </a:r>
          </a:p>
          <a:p>
            <a:pPr lvl="1"/>
            <a:r>
              <a:rPr lang="en-US" dirty="0"/>
              <a:t>Must be marked as volatile or reads and writes will be optimized away</a:t>
            </a:r>
          </a:p>
          <a:p>
            <a:pPr lvl="1"/>
            <a:r>
              <a:rPr lang="en-US" dirty="0"/>
              <a:t>Cannot be rigorously validated with C simulation</a:t>
            </a:r>
          </a:p>
          <a:p>
            <a:pPr lvl="1"/>
            <a:r>
              <a:rPr lang="en-US" dirty="0"/>
              <a:t>Require a depth specification for RTL simulation</a:t>
            </a:r>
          </a:p>
          <a:p>
            <a:r>
              <a:rPr lang="en-US" dirty="0"/>
              <a:t>Arrays of Pointers</a:t>
            </a:r>
          </a:p>
          <a:p>
            <a:pPr lvl="1"/>
            <a:r>
              <a:rPr lang="en-US" b="0" dirty="0"/>
              <a:t>When using arrays of pointers, each pointer must point to a scalar or a scalar array (not another pointer)</a:t>
            </a:r>
            <a:endParaRPr lang="en-US" dirty="0"/>
          </a:p>
          <a:p>
            <a:pPr>
              <a:buNone/>
            </a:pPr>
            <a:endParaRPr lang="en-US" dirty="0"/>
          </a:p>
        </p:txBody>
      </p:sp>
      <p:sp>
        <p:nvSpPr>
          <p:cNvPr id="7" name="Slide Number Placeholder 6"/>
          <p:cNvSpPr>
            <a:spLocks noGrp="1"/>
          </p:cNvSpPr>
          <p:nvPr>
            <p:ph type="sldNum" sz="quarter" idx="10"/>
          </p:nvPr>
        </p:nvSpPr>
        <p:spPr/>
        <p:txBody>
          <a:bodyPr/>
          <a:lstStyle/>
          <a:p>
            <a:pPr defTabSz="914400">
              <a:defRPr/>
            </a:pPr>
            <a:r>
              <a:rPr lang="en-US" dirty="0">
                <a:solidFill>
                  <a:srgbClr val="0C0C0C">
                    <a:tint val="75000"/>
                  </a:srgbClr>
                </a:solidFill>
                <a:latin typeface="Arial"/>
              </a:rPr>
              <a:t>Coding Considerations 23- </a:t>
            </a:r>
            <a:fld id="{060BD193-E118-4B16-863C-C8C12C675E3E}" type="slidenum">
              <a:rPr lang="en-US">
                <a:solidFill>
                  <a:srgbClr val="0C0C0C">
                    <a:tint val="75000"/>
                  </a:srgbClr>
                </a:solidFill>
                <a:latin typeface="Arial"/>
              </a:rPr>
              <a:pPr defTabSz="914400">
                <a:defRPr/>
              </a:pPr>
              <a:t>33</a:t>
            </a:fld>
            <a:endParaRPr lang="en-US" dirty="0">
              <a:solidFill>
                <a:srgbClr val="0C0C0C">
                  <a:tint val="75000"/>
                </a:srgbClr>
              </a:solidFill>
              <a:latin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Pointer &amp; Structs</a:t>
            </a:r>
          </a:p>
        </p:txBody>
      </p:sp>
      <p:sp>
        <p:nvSpPr>
          <p:cNvPr id="3" name="Content Placeholder 2"/>
          <p:cNvSpPr>
            <a:spLocks noGrp="1"/>
          </p:cNvSpPr>
          <p:nvPr>
            <p:ph idx="1"/>
          </p:nvPr>
        </p:nvSpPr>
        <p:spPr/>
        <p:txBody>
          <a:bodyPr/>
          <a:lstStyle/>
          <a:p>
            <a:r>
              <a:rPr lang="en-US" sz="2000" dirty="0"/>
              <a:t>Struct passed as a pointer</a:t>
            </a:r>
          </a:p>
          <a:p>
            <a:pPr lvl="1"/>
            <a:r>
              <a:rPr lang="en-US" sz="1800" dirty="0"/>
              <a:t>When a struct is passed as a pointer</a:t>
            </a:r>
          </a:p>
          <a:p>
            <a:pPr lvl="1"/>
            <a:r>
              <a:rPr lang="en-US" sz="1800" dirty="0"/>
              <a:t>The data will be accessed as pass-by-reference</a:t>
            </a:r>
          </a:p>
          <a:p>
            <a:pPr lvl="1"/>
            <a:endParaRPr lang="en-US" sz="1400" dirty="0"/>
          </a:p>
          <a:p>
            <a:pPr lvl="1"/>
            <a:endParaRPr lang="en-US" sz="1400" dirty="0"/>
          </a:p>
          <a:p>
            <a:pPr lvl="1">
              <a:buNone/>
            </a:pPr>
            <a:endParaRPr lang="en-US" sz="1400" dirty="0"/>
          </a:p>
          <a:p>
            <a:pPr lvl="1">
              <a:buNone/>
            </a:pPr>
            <a:endParaRPr lang="en-US" sz="1400" dirty="0"/>
          </a:p>
          <a:p>
            <a:r>
              <a:rPr lang="en-US" sz="2000" dirty="0"/>
              <a:t>Struct passed by-value</a:t>
            </a:r>
          </a:p>
          <a:p>
            <a:pPr lvl="1"/>
            <a:r>
              <a:rPr lang="en-US" sz="1800" dirty="0"/>
              <a:t>When a struct is passed directly and not as a pointer</a:t>
            </a:r>
          </a:p>
          <a:p>
            <a:pPr lvl="1"/>
            <a:r>
              <a:rPr lang="en-US" sz="1800" dirty="0"/>
              <a:t>The data will be accessed as pass-by-value</a:t>
            </a:r>
          </a:p>
          <a:p>
            <a:endParaRPr lang="en-US" sz="2000" dirty="0"/>
          </a:p>
        </p:txBody>
      </p:sp>
      <p:sp>
        <p:nvSpPr>
          <p:cNvPr id="44" name="Slide Number Placeholder 5">
            <a:extLst>
              <a:ext uri="{FF2B5EF4-FFF2-40B4-BE49-F238E27FC236}">
                <a16:creationId xmlns:a16="http://schemas.microsoft.com/office/drawing/2014/main" id="{1286781B-30FC-4C16-9251-57CDC2980552}"/>
              </a:ext>
            </a:extLst>
          </p:cNvPr>
          <p:cNvSpPr>
            <a:spLocks noGrp="1"/>
          </p:cNvSpPr>
          <p:nvPr>
            <p:ph type="sldNum" sz="quarter" idx="4"/>
          </p:nvPr>
        </p:nvSpPr>
        <p:spPr/>
        <p:txBody>
          <a:bodyPr/>
          <a:lstStyle/>
          <a:p>
            <a:pPr>
              <a:defRPr/>
            </a:pPr>
            <a:r>
              <a:rPr lang="en-US" dirty="0"/>
              <a:t>Coding Considerations 23- </a:t>
            </a:r>
            <a:fld id="{060BD193-E118-4B16-863C-C8C12C675E3E}" type="slidenum">
              <a:rPr lang="en-US" smtClean="0"/>
              <a:pPr>
                <a:defRPr/>
              </a:pPr>
              <a:t>34</a:t>
            </a:fld>
            <a:endParaRPr lang="en-US" dirty="0"/>
          </a:p>
        </p:txBody>
      </p:sp>
      <p:sp>
        <p:nvSpPr>
          <p:cNvPr id="34" name="TextBox 33">
            <a:extLst>
              <a:ext uri="{FF2B5EF4-FFF2-40B4-BE49-F238E27FC236}">
                <a16:creationId xmlns:a16="http://schemas.microsoft.com/office/drawing/2014/main" id="{ABFAA15F-346B-4638-8488-678105B4E987}"/>
              </a:ext>
            </a:extLst>
          </p:cNvPr>
          <p:cNvSpPr txBox="1"/>
          <p:nvPr/>
        </p:nvSpPr>
        <p:spPr>
          <a:xfrm>
            <a:off x="1744567" y="2600283"/>
            <a:ext cx="2457280" cy="1223412"/>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tabLst>
                <a:tab pos="457200" algn="l"/>
              </a:tabLst>
              <a:defRPr/>
            </a:pPr>
            <a:r>
              <a:rPr lang="en-US" sz="1050" kern="0" dirty="0" err="1">
                <a:solidFill>
                  <a:srgbClr val="000000"/>
                </a:solidFill>
                <a:latin typeface="Arial"/>
              </a:rPr>
              <a:t>typedef</a:t>
            </a:r>
            <a:r>
              <a:rPr lang="en-US" sz="1050" kern="0" dirty="0">
                <a:solidFill>
                  <a:srgbClr val="000000"/>
                </a:solidFill>
                <a:latin typeface="Arial"/>
              </a:rPr>
              <a:t> struct{  </a:t>
            </a:r>
          </a:p>
          <a:p>
            <a:pPr defTabSz="914400" fontAlgn="base">
              <a:spcBef>
                <a:spcPct val="0"/>
              </a:spcBef>
              <a:spcAft>
                <a:spcPct val="0"/>
              </a:spcAft>
              <a:tabLst>
                <a:tab pos="457200" algn="l"/>
              </a:tabLst>
              <a:defRPr/>
            </a:pPr>
            <a:r>
              <a:rPr lang="en-US" sz="1050" kern="0" dirty="0">
                <a:solidFill>
                  <a:srgbClr val="000000"/>
                </a:solidFill>
                <a:latin typeface="Arial"/>
              </a:rPr>
              <a:t>	unsigned char A;  	unsigned char B[4];  	unsigned char C;</a:t>
            </a:r>
          </a:p>
          <a:p>
            <a:pPr defTabSz="914400" fontAlgn="base">
              <a:spcBef>
                <a:spcPct val="0"/>
              </a:spcBef>
              <a:spcAft>
                <a:spcPct val="0"/>
              </a:spcAft>
              <a:tabLst>
                <a:tab pos="457200" algn="l"/>
              </a:tabLst>
              <a:defRPr/>
            </a:pPr>
            <a:r>
              <a:rPr lang="en-US" sz="1050" kern="0" dirty="0">
                <a:solidFill>
                  <a:srgbClr val="000000"/>
                </a:solidFill>
                <a:latin typeface="Arial"/>
              </a:rPr>
              <a:t>} </a:t>
            </a:r>
            <a:r>
              <a:rPr lang="en-US" sz="1050" kern="0" dirty="0" err="1">
                <a:solidFill>
                  <a:srgbClr val="000000"/>
                </a:solidFill>
                <a:latin typeface="Arial"/>
              </a:rPr>
              <a:t>my_data</a:t>
            </a:r>
            <a:r>
              <a:rPr lang="en-US" sz="1050" kern="0" dirty="0">
                <a:solidFill>
                  <a:srgbClr val="000000"/>
                </a:solidFill>
                <a:latin typeface="Arial"/>
              </a:rPr>
              <a:t>;</a:t>
            </a:r>
          </a:p>
          <a:p>
            <a:pPr defTabSz="914400" fontAlgn="base">
              <a:spcBef>
                <a:spcPct val="0"/>
              </a:spcBef>
              <a:spcAft>
                <a:spcPct val="0"/>
              </a:spcAft>
              <a:tabLst>
                <a:tab pos="457200" algn="l"/>
              </a:tabLst>
              <a:defRPr/>
            </a:pPr>
            <a:endParaRPr lang="en-US" sz="1050" kern="0" dirty="0">
              <a:solidFill>
                <a:srgbClr val="000000"/>
              </a:solidFill>
              <a:latin typeface="Arial"/>
            </a:endParaRPr>
          </a:p>
          <a:p>
            <a:pPr defTabSz="914400" fontAlgn="base">
              <a:spcBef>
                <a:spcPct val="0"/>
              </a:spcBef>
              <a:spcAft>
                <a:spcPct val="0"/>
              </a:spcAft>
              <a:tabLst>
                <a:tab pos="457200" algn="l"/>
              </a:tabLst>
              <a:defRPr/>
            </a:pPr>
            <a:r>
              <a:rPr lang="en-US" sz="1050" kern="0" dirty="0">
                <a:solidFill>
                  <a:srgbClr val="000000"/>
                </a:solidFill>
                <a:latin typeface="Arial"/>
              </a:rPr>
              <a:t>void foo(</a:t>
            </a:r>
            <a:r>
              <a:rPr lang="en-US" sz="1050" kern="0" dirty="0" err="1">
                <a:solidFill>
                  <a:srgbClr val="000000"/>
                </a:solidFill>
                <a:latin typeface="Arial"/>
              </a:rPr>
              <a:t>my_data</a:t>
            </a:r>
            <a:r>
              <a:rPr lang="en-US" sz="1050" kern="0" dirty="0">
                <a:solidFill>
                  <a:srgbClr val="000000"/>
                </a:solidFill>
                <a:latin typeface="Arial"/>
              </a:rPr>
              <a:t> </a:t>
            </a:r>
            <a:r>
              <a:rPr lang="en-US" sz="1050" b="1" kern="0" dirty="0">
                <a:solidFill>
                  <a:srgbClr val="000000"/>
                </a:solidFill>
                <a:latin typeface="Arial"/>
              </a:rPr>
              <a:t>*in</a:t>
            </a:r>
            <a:r>
              <a:rPr lang="en-US" sz="1050" kern="0" dirty="0">
                <a:solidFill>
                  <a:srgbClr val="000000"/>
                </a:solidFill>
                <a:latin typeface="Arial"/>
              </a:rPr>
              <a:t>);</a:t>
            </a:r>
          </a:p>
        </p:txBody>
      </p:sp>
      <p:sp>
        <p:nvSpPr>
          <p:cNvPr id="35" name="Rectangle 34">
            <a:extLst>
              <a:ext uri="{FF2B5EF4-FFF2-40B4-BE49-F238E27FC236}">
                <a16:creationId xmlns:a16="http://schemas.microsoft.com/office/drawing/2014/main" id="{89E80B26-113F-4228-B952-F30A59CF67B4}"/>
              </a:ext>
            </a:extLst>
          </p:cNvPr>
          <p:cNvSpPr/>
          <p:nvPr/>
        </p:nvSpPr>
        <p:spPr>
          <a:xfrm>
            <a:off x="9321182" y="2523473"/>
            <a:ext cx="1586993" cy="1152150"/>
          </a:xfrm>
          <a:prstGeom prst="rect">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endParaRPr lang="en-US" kern="0" dirty="0">
              <a:solidFill>
                <a:srgbClr val="FFFFFF"/>
              </a:solidFill>
              <a:latin typeface="Arial"/>
            </a:endParaRPr>
          </a:p>
        </p:txBody>
      </p:sp>
      <p:cxnSp>
        <p:nvCxnSpPr>
          <p:cNvPr id="37" name="Straight Arrow Connector 36">
            <a:extLst>
              <a:ext uri="{FF2B5EF4-FFF2-40B4-BE49-F238E27FC236}">
                <a16:creationId xmlns:a16="http://schemas.microsoft.com/office/drawing/2014/main" id="{8578F66C-A852-43A1-8D05-C7A2005B4E4F}"/>
              </a:ext>
            </a:extLst>
          </p:cNvPr>
          <p:cNvCxnSpPr/>
          <p:nvPr/>
        </p:nvCxnSpPr>
        <p:spPr>
          <a:xfrm>
            <a:off x="8911635" y="2830713"/>
            <a:ext cx="409547" cy="1588"/>
          </a:xfrm>
          <a:prstGeom prst="straightConnector1">
            <a:avLst/>
          </a:prstGeom>
          <a:noFill/>
          <a:ln w="25400" cap="flat" cmpd="sng" algn="ctr">
            <a:solidFill>
              <a:srgbClr val="B20838">
                <a:lumMod val="75000"/>
              </a:srgbClr>
            </a:solidFill>
            <a:prstDash val="solid"/>
            <a:tailEnd type="arrow"/>
          </a:ln>
          <a:effectLst>
            <a:outerShdw blurRad="40000" dist="20000" dir="5400000" rotWithShape="0">
              <a:srgbClr val="000000">
                <a:alpha val="38000"/>
              </a:srgbClr>
            </a:outerShdw>
          </a:effectLst>
        </p:spPr>
      </p:cxnSp>
      <p:sp>
        <p:nvSpPr>
          <p:cNvPr id="38" name="TextBox 37">
            <a:extLst>
              <a:ext uri="{FF2B5EF4-FFF2-40B4-BE49-F238E27FC236}">
                <a16:creationId xmlns:a16="http://schemas.microsoft.com/office/drawing/2014/main" id="{856597D2-98EA-459E-9C2A-23FDF3D6E7C4}"/>
              </a:ext>
            </a:extLst>
          </p:cNvPr>
          <p:cNvSpPr txBox="1"/>
          <p:nvPr/>
        </p:nvSpPr>
        <p:spPr>
          <a:xfrm>
            <a:off x="8438255" y="2677899"/>
            <a:ext cx="510075" cy="276999"/>
          </a:xfrm>
          <a:prstGeom prst="rect">
            <a:avLst/>
          </a:prstGeom>
          <a:noFill/>
        </p:spPr>
        <p:txBody>
          <a:bodyPr wrap="none" rtlCol="0">
            <a:spAutoFit/>
          </a:bodyPr>
          <a:lstStyle/>
          <a:p>
            <a:pPr algn="r" defTabSz="914400" fontAlgn="base">
              <a:spcBef>
                <a:spcPct val="0"/>
              </a:spcBef>
              <a:spcAft>
                <a:spcPct val="0"/>
              </a:spcAft>
              <a:defRPr/>
            </a:pPr>
            <a:r>
              <a:rPr lang="en-US" sz="1200" b="1" kern="0" dirty="0">
                <a:solidFill>
                  <a:srgbClr val="000000"/>
                </a:solidFill>
              </a:rPr>
              <a:t>8-bit</a:t>
            </a:r>
          </a:p>
        </p:txBody>
      </p:sp>
      <p:cxnSp>
        <p:nvCxnSpPr>
          <p:cNvPr id="39" name="Straight Arrow Connector 38">
            <a:extLst>
              <a:ext uri="{FF2B5EF4-FFF2-40B4-BE49-F238E27FC236}">
                <a16:creationId xmlns:a16="http://schemas.microsoft.com/office/drawing/2014/main" id="{CCDFCD9D-6DCE-42AA-BFC3-3597E1BD39D3}"/>
              </a:ext>
            </a:extLst>
          </p:cNvPr>
          <p:cNvCxnSpPr/>
          <p:nvPr/>
        </p:nvCxnSpPr>
        <p:spPr>
          <a:xfrm>
            <a:off x="8904216" y="3052175"/>
            <a:ext cx="409547" cy="1588"/>
          </a:xfrm>
          <a:prstGeom prst="straightConnector1">
            <a:avLst/>
          </a:prstGeom>
          <a:noFill/>
          <a:ln w="25400" cap="flat" cmpd="sng" algn="ctr">
            <a:solidFill>
              <a:srgbClr val="B20838">
                <a:lumMod val="75000"/>
              </a:srgbClr>
            </a:solidFill>
            <a:prstDash val="solid"/>
            <a:tailEnd type="arrow"/>
          </a:ln>
          <a:effectLst>
            <a:outerShdw blurRad="40000" dist="20000" dir="5400000" rotWithShape="0">
              <a:srgbClr val="000000">
                <a:alpha val="38000"/>
              </a:srgbClr>
            </a:outerShdw>
          </a:effectLst>
        </p:spPr>
      </p:cxnSp>
      <p:sp>
        <p:nvSpPr>
          <p:cNvPr id="40" name="TextBox 39">
            <a:extLst>
              <a:ext uri="{FF2B5EF4-FFF2-40B4-BE49-F238E27FC236}">
                <a16:creationId xmlns:a16="http://schemas.microsoft.com/office/drawing/2014/main" id="{ADF7AC96-A308-4563-95C6-F89B4438BB25}"/>
              </a:ext>
            </a:extLst>
          </p:cNvPr>
          <p:cNvSpPr txBox="1"/>
          <p:nvPr/>
        </p:nvSpPr>
        <p:spPr>
          <a:xfrm>
            <a:off x="7456212" y="2907525"/>
            <a:ext cx="1484701" cy="276999"/>
          </a:xfrm>
          <a:prstGeom prst="rect">
            <a:avLst/>
          </a:prstGeom>
          <a:noFill/>
        </p:spPr>
        <p:txBody>
          <a:bodyPr wrap="none" rtlCol="0">
            <a:spAutoFit/>
          </a:bodyPr>
          <a:lstStyle/>
          <a:p>
            <a:pPr algn="r" defTabSz="914400" fontAlgn="base">
              <a:spcBef>
                <a:spcPct val="0"/>
              </a:spcBef>
              <a:spcAft>
                <a:spcPct val="0"/>
              </a:spcAft>
              <a:defRPr/>
            </a:pPr>
            <a:r>
              <a:rPr lang="en-US" sz="1200" b="1" kern="0" dirty="0">
                <a:solidFill>
                  <a:srgbClr val="000000"/>
                </a:solidFill>
              </a:rPr>
              <a:t>8-bit Memory port</a:t>
            </a:r>
          </a:p>
        </p:txBody>
      </p:sp>
      <p:cxnSp>
        <p:nvCxnSpPr>
          <p:cNvPr id="41" name="Straight Arrow Connector 40">
            <a:extLst>
              <a:ext uri="{FF2B5EF4-FFF2-40B4-BE49-F238E27FC236}">
                <a16:creationId xmlns:a16="http://schemas.microsoft.com/office/drawing/2014/main" id="{858F6BFF-DB3B-410E-B8B3-AFC8EA22F83F}"/>
              </a:ext>
            </a:extLst>
          </p:cNvPr>
          <p:cNvCxnSpPr/>
          <p:nvPr/>
        </p:nvCxnSpPr>
        <p:spPr>
          <a:xfrm>
            <a:off x="8911635" y="3350447"/>
            <a:ext cx="409547" cy="1588"/>
          </a:xfrm>
          <a:prstGeom prst="straightConnector1">
            <a:avLst/>
          </a:prstGeom>
          <a:noFill/>
          <a:ln w="25400" cap="flat" cmpd="sng" algn="ctr">
            <a:solidFill>
              <a:srgbClr val="B20838">
                <a:lumMod val="75000"/>
              </a:srgbClr>
            </a:solidFill>
            <a:prstDash val="solid"/>
            <a:tailEnd type="arrow"/>
          </a:ln>
          <a:effectLst>
            <a:outerShdw blurRad="40000" dist="20000" dir="5400000" rotWithShape="0">
              <a:srgbClr val="000000">
                <a:alpha val="38000"/>
              </a:srgbClr>
            </a:outerShdw>
          </a:effectLst>
        </p:spPr>
      </p:cxnSp>
      <p:sp>
        <p:nvSpPr>
          <p:cNvPr id="42" name="TextBox 41">
            <a:extLst>
              <a:ext uri="{FF2B5EF4-FFF2-40B4-BE49-F238E27FC236}">
                <a16:creationId xmlns:a16="http://schemas.microsoft.com/office/drawing/2014/main" id="{37FBD57F-7BAA-457E-8C7C-EB6FCB45060B}"/>
              </a:ext>
            </a:extLst>
          </p:cNvPr>
          <p:cNvSpPr txBox="1"/>
          <p:nvPr/>
        </p:nvSpPr>
        <p:spPr>
          <a:xfrm>
            <a:off x="8438255" y="3197633"/>
            <a:ext cx="510075" cy="276999"/>
          </a:xfrm>
          <a:prstGeom prst="rect">
            <a:avLst/>
          </a:prstGeom>
          <a:noFill/>
        </p:spPr>
        <p:txBody>
          <a:bodyPr wrap="none" rtlCol="0">
            <a:spAutoFit/>
          </a:bodyPr>
          <a:lstStyle/>
          <a:p>
            <a:pPr algn="r" defTabSz="914400" fontAlgn="base">
              <a:spcBef>
                <a:spcPct val="0"/>
              </a:spcBef>
              <a:spcAft>
                <a:spcPct val="0"/>
              </a:spcAft>
              <a:defRPr/>
            </a:pPr>
            <a:r>
              <a:rPr lang="en-US" sz="1200" b="1" kern="0" dirty="0">
                <a:solidFill>
                  <a:srgbClr val="000000"/>
                </a:solidFill>
              </a:rPr>
              <a:t>8-bit</a:t>
            </a:r>
          </a:p>
        </p:txBody>
      </p:sp>
      <p:cxnSp>
        <p:nvCxnSpPr>
          <p:cNvPr id="43" name="Straight Arrow Connector 42">
            <a:extLst>
              <a:ext uri="{FF2B5EF4-FFF2-40B4-BE49-F238E27FC236}">
                <a16:creationId xmlns:a16="http://schemas.microsoft.com/office/drawing/2014/main" id="{1C564C91-6A60-4722-B431-4C99061247A5}"/>
              </a:ext>
            </a:extLst>
          </p:cNvPr>
          <p:cNvCxnSpPr/>
          <p:nvPr/>
        </p:nvCxnSpPr>
        <p:spPr>
          <a:xfrm rot="10800000">
            <a:off x="8860442" y="3136365"/>
            <a:ext cx="409544" cy="1588"/>
          </a:xfrm>
          <a:prstGeom prst="straightConnector1">
            <a:avLst/>
          </a:prstGeom>
          <a:noFill/>
          <a:ln w="25400" cap="flat" cmpd="sng" algn="ctr">
            <a:solidFill>
              <a:srgbClr val="B20838">
                <a:lumMod val="75000"/>
              </a:srgbClr>
            </a:solidFill>
            <a:prstDash val="solid"/>
            <a:tailEnd type="arrow"/>
          </a:ln>
          <a:effectLst>
            <a:outerShdw blurRad="40000" dist="20000" dir="5400000" rotWithShape="0">
              <a:srgbClr val="000000">
                <a:alpha val="38000"/>
              </a:srgbClr>
            </a:outerShdw>
          </a:effectLst>
        </p:spPr>
      </p:cxnSp>
      <p:sp>
        <p:nvSpPr>
          <p:cNvPr id="54" name="Down Arrow 44">
            <a:extLst>
              <a:ext uri="{FF2B5EF4-FFF2-40B4-BE49-F238E27FC236}">
                <a16:creationId xmlns:a16="http://schemas.microsoft.com/office/drawing/2014/main" id="{5C77940C-ADE3-4DFB-A165-5D53F4E89D5C}"/>
              </a:ext>
            </a:extLst>
          </p:cNvPr>
          <p:cNvSpPr/>
          <p:nvPr/>
        </p:nvSpPr>
        <p:spPr>
          <a:xfrm rot="16200000">
            <a:off x="5456024" y="2459613"/>
            <a:ext cx="460860" cy="1126253"/>
          </a:xfrm>
          <a:prstGeom prst="downArrow">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endParaRPr lang="en-US" kern="0">
              <a:solidFill>
                <a:srgbClr val="FFFFFF"/>
              </a:solidFill>
              <a:latin typeface="Arial"/>
            </a:endParaRPr>
          </a:p>
        </p:txBody>
      </p:sp>
      <p:sp>
        <p:nvSpPr>
          <p:cNvPr id="65" name="TextBox 64">
            <a:extLst>
              <a:ext uri="{FF2B5EF4-FFF2-40B4-BE49-F238E27FC236}">
                <a16:creationId xmlns:a16="http://schemas.microsoft.com/office/drawing/2014/main" id="{A78F2C31-9E6D-49C8-A9B6-1C4A8006827D}"/>
              </a:ext>
            </a:extLst>
          </p:cNvPr>
          <p:cNvSpPr txBox="1"/>
          <p:nvPr/>
        </p:nvSpPr>
        <p:spPr>
          <a:xfrm>
            <a:off x="9872285" y="2523475"/>
            <a:ext cx="425116" cy="276999"/>
          </a:xfrm>
          <a:prstGeom prst="rect">
            <a:avLst/>
          </a:prstGeom>
          <a:noFill/>
        </p:spPr>
        <p:txBody>
          <a:bodyPr wrap="none" rtlCol="0">
            <a:spAutoFit/>
          </a:bodyPr>
          <a:lstStyle/>
          <a:p>
            <a:pPr algn="r" defTabSz="914400" fontAlgn="base">
              <a:spcBef>
                <a:spcPct val="0"/>
              </a:spcBef>
              <a:spcAft>
                <a:spcPct val="0"/>
              </a:spcAft>
              <a:defRPr/>
            </a:pPr>
            <a:r>
              <a:rPr lang="en-US" sz="1200" b="1" kern="0" dirty="0" err="1">
                <a:solidFill>
                  <a:srgbClr val="000000"/>
                </a:solidFill>
              </a:rPr>
              <a:t>foo</a:t>
            </a:r>
            <a:endParaRPr lang="en-US" sz="1200" b="1" kern="0" dirty="0">
              <a:solidFill>
                <a:srgbClr val="000000"/>
              </a:solidFill>
            </a:endParaRPr>
          </a:p>
        </p:txBody>
      </p:sp>
      <p:sp>
        <p:nvSpPr>
          <p:cNvPr id="67" name="TextBox 66">
            <a:extLst>
              <a:ext uri="{FF2B5EF4-FFF2-40B4-BE49-F238E27FC236}">
                <a16:creationId xmlns:a16="http://schemas.microsoft.com/office/drawing/2014/main" id="{A679AE16-4EEC-4666-8156-E137E694F268}"/>
              </a:ext>
            </a:extLst>
          </p:cNvPr>
          <p:cNvSpPr txBox="1"/>
          <p:nvPr/>
        </p:nvSpPr>
        <p:spPr>
          <a:xfrm>
            <a:off x="9319150" y="2675875"/>
            <a:ext cx="295273" cy="276999"/>
          </a:xfrm>
          <a:prstGeom prst="rect">
            <a:avLst/>
          </a:prstGeom>
          <a:noFill/>
        </p:spPr>
        <p:txBody>
          <a:bodyPr wrap="none" rtlCol="0">
            <a:spAutoFit/>
          </a:bodyPr>
          <a:lstStyle/>
          <a:p>
            <a:pPr algn="ctr" defTabSz="914400" fontAlgn="base">
              <a:spcBef>
                <a:spcPct val="0"/>
              </a:spcBef>
              <a:spcAft>
                <a:spcPct val="0"/>
              </a:spcAft>
              <a:defRPr/>
            </a:pPr>
            <a:r>
              <a:rPr lang="en-US" sz="1200" b="1" kern="0" dirty="0">
                <a:solidFill>
                  <a:srgbClr val="000000"/>
                </a:solidFill>
              </a:rPr>
              <a:t>A</a:t>
            </a:r>
          </a:p>
        </p:txBody>
      </p:sp>
      <p:sp>
        <p:nvSpPr>
          <p:cNvPr id="68" name="TextBox 67">
            <a:extLst>
              <a:ext uri="{FF2B5EF4-FFF2-40B4-BE49-F238E27FC236}">
                <a16:creationId xmlns:a16="http://schemas.microsoft.com/office/drawing/2014/main" id="{679BD85B-8224-451D-A513-9F7D5CA745F9}"/>
              </a:ext>
            </a:extLst>
          </p:cNvPr>
          <p:cNvSpPr txBox="1"/>
          <p:nvPr/>
        </p:nvSpPr>
        <p:spPr>
          <a:xfrm>
            <a:off x="9317813" y="2945930"/>
            <a:ext cx="287258" cy="276999"/>
          </a:xfrm>
          <a:prstGeom prst="rect">
            <a:avLst/>
          </a:prstGeom>
          <a:noFill/>
        </p:spPr>
        <p:txBody>
          <a:bodyPr wrap="none" rtlCol="0">
            <a:spAutoFit/>
          </a:bodyPr>
          <a:lstStyle/>
          <a:p>
            <a:pPr algn="ctr" defTabSz="914400" fontAlgn="base">
              <a:spcBef>
                <a:spcPct val="0"/>
              </a:spcBef>
              <a:spcAft>
                <a:spcPct val="0"/>
              </a:spcAft>
              <a:defRPr/>
            </a:pPr>
            <a:r>
              <a:rPr lang="en-US" sz="1200" kern="0" dirty="0">
                <a:solidFill>
                  <a:srgbClr val="000000"/>
                </a:solidFill>
              </a:rPr>
              <a:t>B</a:t>
            </a:r>
          </a:p>
        </p:txBody>
      </p:sp>
      <p:sp>
        <p:nvSpPr>
          <p:cNvPr id="69" name="TextBox 68">
            <a:extLst>
              <a:ext uri="{FF2B5EF4-FFF2-40B4-BE49-F238E27FC236}">
                <a16:creationId xmlns:a16="http://schemas.microsoft.com/office/drawing/2014/main" id="{356A3532-802D-4991-BBD8-7183342DBC01}"/>
              </a:ext>
            </a:extLst>
          </p:cNvPr>
          <p:cNvSpPr txBox="1"/>
          <p:nvPr/>
        </p:nvSpPr>
        <p:spPr>
          <a:xfrm>
            <a:off x="9319149" y="3206601"/>
            <a:ext cx="295273" cy="276999"/>
          </a:xfrm>
          <a:prstGeom prst="rect">
            <a:avLst/>
          </a:prstGeom>
          <a:noFill/>
        </p:spPr>
        <p:txBody>
          <a:bodyPr wrap="none" rtlCol="0">
            <a:spAutoFit/>
          </a:bodyPr>
          <a:lstStyle/>
          <a:p>
            <a:pPr algn="ctr" defTabSz="914400" fontAlgn="base">
              <a:spcBef>
                <a:spcPct val="0"/>
              </a:spcBef>
              <a:spcAft>
                <a:spcPct val="0"/>
              </a:spcAft>
              <a:defRPr/>
            </a:pPr>
            <a:r>
              <a:rPr lang="en-US" sz="1200" kern="0" dirty="0">
                <a:solidFill>
                  <a:srgbClr val="000000"/>
                </a:solidFill>
              </a:rPr>
              <a:t>C</a:t>
            </a:r>
          </a:p>
        </p:txBody>
      </p:sp>
      <p:sp>
        <p:nvSpPr>
          <p:cNvPr id="70" name="TextBox 69">
            <a:extLst>
              <a:ext uri="{FF2B5EF4-FFF2-40B4-BE49-F238E27FC236}">
                <a16:creationId xmlns:a16="http://schemas.microsoft.com/office/drawing/2014/main" id="{F8A1FA86-AB96-4F47-8755-8F70EA7309A3}"/>
              </a:ext>
            </a:extLst>
          </p:cNvPr>
          <p:cNvSpPr txBox="1"/>
          <p:nvPr/>
        </p:nvSpPr>
        <p:spPr>
          <a:xfrm>
            <a:off x="4764975" y="3522004"/>
            <a:ext cx="1382220" cy="307777"/>
          </a:xfrm>
          <a:prstGeom prst="rect">
            <a:avLst/>
          </a:prstGeom>
          <a:solidFill>
            <a:srgbClr val="FFFF99"/>
          </a:solidFill>
          <a:ln w="28575">
            <a:solidFill>
              <a:srgbClr val="000000"/>
            </a:solidFill>
          </a:ln>
          <a:effectLst>
            <a:innerShdw blurRad="63500" dist="50800" dir="2700000">
              <a:prstClr val="black">
                <a:alpha val="50000"/>
              </a:prstClr>
            </a:innerShdw>
          </a:effectLst>
        </p:spPr>
        <p:txBody>
          <a:bodyPr wrap="square" rtlCol="0">
            <a:spAutoFit/>
          </a:bodyPr>
          <a:lstStyle/>
          <a:p>
            <a:pPr algn="ctr" defTabSz="914400" fontAlgn="base">
              <a:spcBef>
                <a:spcPct val="0"/>
              </a:spcBef>
              <a:spcAft>
                <a:spcPct val="0"/>
              </a:spcAft>
              <a:defRPr/>
            </a:pPr>
            <a:r>
              <a:rPr lang="en-US" sz="1400" b="1" kern="0" dirty="0">
                <a:solidFill>
                  <a:srgbClr val="000000"/>
                </a:solidFill>
              </a:rPr>
              <a:t>Pointer</a:t>
            </a:r>
          </a:p>
        </p:txBody>
      </p:sp>
      <p:cxnSp>
        <p:nvCxnSpPr>
          <p:cNvPr id="71" name="Straight Arrow Connector 70">
            <a:extLst>
              <a:ext uri="{FF2B5EF4-FFF2-40B4-BE49-F238E27FC236}">
                <a16:creationId xmlns:a16="http://schemas.microsoft.com/office/drawing/2014/main" id="{7C9F4742-E8EB-4B25-8341-BF225761C376}"/>
              </a:ext>
            </a:extLst>
          </p:cNvPr>
          <p:cNvCxnSpPr/>
          <p:nvPr/>
        </p:nvCxnSpPr>
        <p:spPr>
          <a:xfrm flipH="1">
            <a:off x="3948270" y="3675623"/>
            <a:ext cx="716707" cy="0"/>
          </a:xfrm>
          <a:prstGeom prst="straightConnector1">
            <a:avLst/>
          </a:prstGeom>
          <a:noFill/>
          <a:ln w="38100" cap="flat" cmpd="sng" algn="ctr">
            <a:solidFill>
              <a:srgbClr val="000000"/>
            </a:solidFill>
            <a:prstDash val="solid"/>
            <a:headEnd type="none" w="med" len="med"/>
            <a:tailEnd type="triangle" w="med" len="med"/>
          </a:ln>
          <a:effectLst>
            <a:outerShdw blurRad="40000" dist="23000" dir="5400000" rotWithShape="0">
              <a:srgbClr val="000000">
                <a:alpha val="35000"/>
              </a:srgbClr>
            </a:outerShdw>
          </a:effectLst>
        </p:spPr>
      </p:cxnSp>
      <p:sp>
        <p:nvSpPr>
          <p:cNvPr id="72" name="TextBox 71">
            <a:extLst>
              <a:ext uri="{FF2B5EF4-FFF2-40B4-BE49-F238E27FC236}">
                <a16:creationId xmlns:a16="http://schemas.microsoft.com/office/drawing/2014/main" id="{102F62BC-2A59-42D6-9D7F-554516694A47}"/>
              </a:ext>
            </a:extLst>
          </p:cNvPr>
          <p:cNvSpPr txBox="1"/>
          <p:nvPr/>
        </p:nvSpPr>
        <p:spPr>
          <a:xfrm>
            <a:off x="1744567" y="4793108"/>
            <a:ext cx="2457280" cy="1223412"/>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defRPr/>
            </a:pPr>
            <a:r>
              <a:rPr lang="en-US" sz="1050" kern="0" dirty="0" err="1">
                <a:solidFill>
                  <a:srgbClr val="000000"/>
                </a:solidFill>
                <a:latin typeface="Arial"/>
              </a:rPr>
              <a:t>typedef</a:t>
            </a:r>
            <a:r>
              <a:rPr lang="en-US" sz="1050" kern="0" dirty="0">
                <a:solidFill>
                  <a:srgbClr val="000000"/>
                </a:solidFill>
                <a:latin typeface="Arial"/>
              </a:rPr>
              <a:t> struct{  </a:t>
            </a:r>
          </a:p>
          <a:p>
            <a:pPr defTabSz="914400" fontAlgn="base">
              <a:spcBef>
                <a:spcPct val="0"/>
              </a:spcBef>
              <a:spcAft>
                <a:spcPct val="0"/>
              </a:spcAft>
              <a:tabLst>
                <a:tab pos="457200" algn="l"/>
              </a:tabLst>
              <a:defRPr/>
            </a:pPr>
            <a:r>
              <a:rPr lang="en-US" sz="1050" kern="0" dirty="0">
                <a:solidFill>
                  <a:srgbClr val="000000"/>
                </a:solidFill>
                <a:latin typeface="Arial"/>
              </a:rPr>
              <a:t>	unsigned char A;  	unsigned char B[4];  	unsigned char C;</a:t>
            </a:r>
          </a:p>
          <a:p>
            <a:pPr defTabSz="914400" fontAlgn="base">
              <a:spcBef>
                <a:spcPct val="0"/>
              </a:spcBef>
              <a:spcAft>
                <a:spcPct val="0"/>
              </a:spcAft>
              <a:tabLst>
                <a:tab pos="457200" algn="l"/>
              </a:tabLst>
              <a:defRPr/>
            </a:pPr>
            <a:r>
              <a:rPr lang="en-US" sz="1050" kern="0" dirty="0">
                <a:solidFill>
                  <a:srgbClr val="000000"/>
                </a:solidFill>
                <a:latin typeface="Arial"/>
              </a:rPr>
              <a:t>} </a:t>
            </a:r>
            <a:r>
              <a:rPr lang="en-US" sz="1050" kern="0" dirty="0" err="1">
                <a:solidFill>
                  <a:srgbClr val="000000"/>
                </a:solidFill>
                <a:latin typeface="Arial"/>
              </a:rPr>
              <a:t>my_data</a:t>
            </a:r>
            <a:r>
              <a:rPr lang="en-US" sz="1050" kern="0" dirty="0">
                <a:solidFill>
                  <a:srgbClr val="000000"/>
                </a:solidFill>
                <a:latin typeface="Arial"/>
              </a:rPr>
              <a:t>;</a:t>
            </a:r>
          </a:p>
          <a:p>
            <a:pPr defTabSz="914400" fontAlgn="base">
              <a:spcBef>
                <a:spcPct val="0"/>
              </a:spcBef>
              <a:spcAft>
                <a:spcPct val="0"/>
              </a:spcAft>
              <a:tabLst>
                <a:tab pos="457200" algn="l"/>
              </a:tabLst>
              <a:defRPr/>
            </a:pPr>
            <a:endParaRPr lang="en-US" sz="1050" kern="0" dirty="0">
              <a:solidFill>
                <a:srgbClr val="000000"/>
              </a:solidFill>
              <a:latin typeface="Arial"/>
            </a:endParaRPr>
          </a:p>
          <a:p>
            <a:pPr defTabSz="914400" fontAlgn="base">
              <a:spcBef>
                <a:spcPct val="0"/>
              </a:spcBef>
              <a:spcAft>
                <a:spcPct val="0"/>
              </a:spcAft>
              <a:tabLst>
                <a:tab pos="457200" algn="l"/>
              </a:tabLst>
              <a:defRPr/>
            </a:pPr>
            <a:r>
              <a:rPr lang="en-US" sz="1050" kern="0" dirty="0">
                <a:solidFill>
                  <a:srgbClr val="000000"/>
                </a:solidFill>
                <a:latin typeface="Arial"/>
              </a:rPr>
              <a:t>void </a:t>
            </a:r>
            <a:r>
              <a:rPr lang="en-US" sz="1050" kern="0" dirty="0" err="1">
                <a:solidFill>
                  <a:srgbClr val="000000"/>
                </a:solidFill>
                <a:latin typeface="Arial"/>
              </a:rPr>
              <a:t>foo</a:t>
            </a:r>
            <a:r>
              <a:rPr lang="en-US" sz="1050" kern="0" dirty="0">
                <a:solidFill>
                  <a:srgbClr val="000000"/>
                </a:solidFill>
                <a:latin typeface="Arial"/>
              </a:rPr>
              <a:t>(</a:t>
            </a:r>
            <a:r>
              <a:rPr lang="en-US" sz="1050" kern="0" dirty="0" err="1">
                <a:solidFill>
                  <a:srgbClr val="000000"/>
                </a:solidFill>
                <a:latin typeface="Arial"/>
              </a:rPr>
              <a:t>my_data</a:t>
            </a:r>
            <a:r>
              <a:rPr lang="en-US" sz="1050" kern="0" dirty="0">
                <a:solidFill>
                  <a:srgbClr val="000000"/>
                </a:solidFill>
                <a:latin typeface="Arial"/>
              </a:rPr>
              <a:t> </a:t>
            </a:r>
            <a:r>
              <a:rPr lang="en-US" sz="1050" b="1" kern="0" dirty="0">
                <a:solidFill>
                  <a:srgbClr val="000000"/>
                </a:solidFill>
                <a:latin typeface="Arial"/>
              </a:rPr>
              <a:t>in</a:t>
            </a:r>
            <a:r>
              <a:rPr lang="en-US" sz="1050" kern="0" dirty="0">
                <a:solidFill>
                  <a:srgbClr val="000000"/>
                </a:solidFill>
                <a:latin typeface="Arial"/>
              </a:rPr>
              <a:t>);</a:t>
            </a:r>
          </a:p>
        </p:txBody>
      </p:sp>
      <p:sp>
        <p:nvSpPr>
          <p:cNvPr id="73" name="Rectangle 72">
            <a:extLst>
              <a:ext uri="{FF2B5EF4-FFF2-40B4-BE49-F238E27FC236}">
                <a16:creationId xmlns:a16="http://schemas.microsoft.com/office/drawing/2014/main" id="{4F3AE847-4A47-48BA-92EA-C40F30611A51}"/>
              </a:ext>
            </a:extLst>
          </p:cNvPr>
          <p:cNvSpPr/>
          <p:nvPr/>
        </p:nvSpPr>
        <p:spPr>
          <a:xfrm>
            <a:off x="9321182" y="4716298"/>
            <a:ext cx="1586993" cy="1152150"/>
          </a:xfrm>
          <a:prstGeom prst="rect">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endParaRPr lang="en-US" kern="0" dirty="0">
              <a:solidFill>
                <a:srgbClr val="FFFFFF"/>
              </a:solidFill>
              <a:latin typeface="Arial"/>
            </a:endParaRPr>
          </a:p>
        </p:txBody>
      </p:sp>
      <p:cxnSp>
        <p:nvCxnSpPr>
          <p:cNvPr id="74" name="Straight Arrow Connector 73">
            <a:extLst>
              <a:ext uri="{FF2B5EF4-FFF2-40B4-BE49-F238E27FC236}">
                <a16:creationId xmlns:a16="http://schemas.microsoft.com/office/drawing/2014/main" id="{8AA38EED-8691-4D05-A1DA-42D659A07875}"/>
              </a:ext>
            </a:extLst>
          </p:cNvPr>
          <p:cNvCxnSpPr/>
          <p:nvPr/>
        </p:nvCxnSpPr>
        <p:spPr>
          <a:xfrm>
            <a:off x="8911635" y="5023538"/>
            <a:ext cx="409547" cy="1588"/>
          </a:xfrm>
          <a:prstGeom prst="straightConnector1">
            <a:avLst/>
          </a:prstGeom>
          <a:noFill/>
          <a:ln w="25400" cap="flat" cmpd="sng" algn="ctr">
            <a:solidFill>
              <a:srgbClr val="B20838">
                <a:lumMod val="75000"/>
              </a:srgbClr>
            </a:solidFill>
            <a:prstDash val="solid"/>
            <a:tailEnd type="arrow"/>
          </a:ln>
          <a:effectLst>
            <a:outerShdw blurRad="40000" dist="20000" dir="5400000" rotWithShape="0">
              <a:srgbClr val="000000">
                <a:alpha val="38000"/>
              </a:srgbClr>
            </a:outerShdw>
          </a:effectLst>
        </p:spPr>
      </p:cxnSp>
      <p:sp>
        <p:nvSpPr>
          <p:cNvPr id="75" name="TextBox 74">
            <a:extLst>
              <a:ext uri="{FF2B5EF4-FFF2-40B4-BE49-F238E27FC236}">
                <a16:creationId xmlns:a16="http://schemas.microsoft.com/office/drawing/2014/main" id="{8C6FCF1C-7236-4307-84C2-6A39C3B34F47}"/>
              </a:ext>
            </a:extLst>
          </p:cNvPr>
          <p:cNvSpPr txBox="1"/>
          <p:nvPr/>
        </p:nvSpPr>
        <p:spPr>
          <a:xfrm>
            <a:off x="8438255" y="4870724"/>
            <a:ext cx="510075" cy="276999"/>
          </a:xfrm>
          <a:prstGeom prst="rect">
            <a:avLst/>
          </a:prstGeom>
          <a:noFill/>
        </p:spPr>
        <p:txBody>
          <a:bodyPr wrap="none" rtlCol="0">
            <a:spAutoFit/>
          </a:bodyPr>
          <a:lstStyle/>
          <a:p>
            <a:pPr algn="r" defTabSz="914400" fontAlgn="base">
              <a:spcBef>
                <a:spcPct val="0"/>
              </a:spcBef>
              <a:spcAft>
                <a:spcPct val="0"/>
              </a:spcAft>
              <a:defRPr/>
            </a:pPr>
            <a:r>
              <a:rPr lang="en-US" sz="1200" b="1" kern="0" dirty="0">
                <a:solidFill>
                  <a:srgbClr val="000000"/>
                </a:solidFill>
              </a:rPr>
              <a:t>8-bit</a:t>
            </a:r>
          </a:p>
        </p:txBody>
      </p:sp>
      <p:cxnSp>
        <p:nvCxnSpPr>
          <p:cNvPr id="76" name="Straight Arrow Connector 75">
            <a:extLst>
              <a:ext uri="{FF2B5EF4-FFF2-40B4-BE49-F238E27FC236}">
                <a16:creationId xmlns:a16="http://schemas.microsoft.com/office/drawing/2014/main" id="{D5D38881-3E97-43D9-97AF-298C6DE717E4}"/>
              </a:ext>
            </a:extLst>
          </p:cNvPr>
          <p:cNvCxnSpPr/>
          <p:nvPr/>
        </p:nvCxnSpPr>
        <p:spPr>
          <a:xfrm>
            <a:off x="8904216" y="5245000"/>
            <a:ext cx="409547" cy="1588"/>
          </a:xfrm>
          <a:prstGeom prst="straightConnector1">
            <a:avLst/>
          </a:prstGeom>
          <a:noFill/>
          <a:ln w="25400" cap="flat" cmpd="sng" algn="ctr">
            <a:solidFill>
              <a:srgbClr val="B20838">
                <a:lumMod val="75000"/>
              </a:srgbClr>
            </a:solidFill>
            <a:prstDash val="solid"/>
            <a:tailEnd type="arrow"/>
          </a:ln>
          <a:effectLst>
            <a:outerShdw blurRad="40000" dist="20000" dir="5400000" rotWithShape="0">
              <a:srgbClr val="000000">
                <a:alpha val="38000"/>
              </a:srgbClr>
            </a:outerShdw>
          </a:effectLst>
        </p:spPr>
      </p:cxnSp>
      <p:sp>
        <p:nvSpPr>
          <p:cNvPr id="77" name="TextBox 76">
            <a:extLst>
              <a:ext uri="{FF2B5EF4-FFF2-40B4-BE49-F238E27FC236}">
                <a16:creationId xmlns:a16="http://schemas.microsoft.com/office/drawing/2014/main" id="{B6050618-2351-441F-A869-F2658A81F126}"/>
              </a:ext>
            </a:extLst>
          </p:cNvPr>
          <p:cNvSpPr txBox="1"/>
          <p:nvPr/>
        </p:nvSpPr>
        <p:spPr>
          <a:xfrm>
            <a:off x="7988408" y="5100350"/>
            <a:ext cx="952504" cy="276999"/>
          </a:xfrm>
          <a:prstGeom prst="rect">
            <a:avLst/>
          </a:prstGeom>
          <a:noFill/>
        </p:spPr>
        <p:txBody>
          <a:bodyPr wrap="none" rtlCol="0">
            <a:spAutoFit/>
          </a:bodyPr>
          <a:lstStyle/>
          <a:p>
            <a:pPr algn="r" defTabSz="914400" fontAlgn="base">
              <a:spcBef>
                <a:spcPct val="0"/>
              </a:spcBef>
              <a:spcAft>
                <a:spcPct val="0"/>
              </a:spcAft>
              <a:defRPr/>
            </a:pPr>
            <a:r>
              <a:rPr lang="en-US" sz="1200" b="1" kern="0" dirty="0">
                <a:solidFill>
                  <a:srgbClr val="000000"/>
                </a:solidFill>
              </a:rPr>
              <a:t>32(4x8)-bit</a:t>
            </a:r>
          </a:p>
        </p:txBody>
      </p:sp>
      <p:cxnSp>
        <p:nvCxnSpPr>
          <p:cNvPr id="78" name="Straight Arrow Connector 77">
            <a:extLst>
              <a:ext uri="{FF2B5EF4-FFF2-40B4-BE49-F238E27FC236}">
                <a16:creationId xmlns:a16="http://schemas.microsoft.com/office/drawing/2014/main" id="{9813BE73-81C6-456B-B131-C4F07AC17CC3}"/>
              </a:ext>
            </a:extLst>
          </p:cNvPr>
          <p:cNvCxnSpPr/>
          <p:nvPr/>
        </p:nvCxnSpPr>
        <p:spPr>
          <a:xfrm>
            <a:off x="8911635" y="5543272"/>
            <a:ext cx="409547" cy="1588"/>
          </a:xfrm>
          <a:prstGeom prst="straightConnector1">
            <a:avLst/>
          </a:prstGeom>
          <a:noFill/>
          <a:ln w="25400" cap="flat" cmpd="sng" algn="ctr">
            <a:solidFill>
              <a:srgbClr val="B20838">
                <a:lumMod val="75000"/>
              </a:srgbClr>
            </a:solidFill>
            <a:prstDash val="solid"/>
            <a:tailEnd type="arrow"/>
          </a:ln>
          <a:effectLst>
            <a:outerShdw blurRad="40000" dist="20000" dir="5400000" rotWithShape="0">
              <a:srgbClr val="000000">
                <a:alpha val="38000"/>
              </a:srgbClr>
            </a:outerShdw>
          </a:effectLst>
        </p:spPr>
      </p:cxnSp>
      <p:sp>
        <p:nvSpPr>
          <p:cNvPr id="79" name="TextBox 78">
            <a:extLst>
              <a:ext uri="{FF2B5EF4-FFF2-40B4-BE49-F238E27FC236}">
                <a16:creationId xmlns:a16="http://schemas.microsoft.com/office/drawing/2014/main" id="{BF3FCBA2-D976-4E6A-8D0D-99D172B1806C}"/>
              </a:ext>
            </a:extLst>
          </p:cNvPr>
          <p:cNvSpPr txBox="1"/>
          <p:nvPr/>
        </p:nvSpPr>
        <p:spPr>
          <a:xfrm>
            <a:off x="8438255" y="5390458"/>
            <a:ext cx="510075" cy="276999"/>
          </a:xfrm>
          <a:prstGeom prst="rect">
            <a:avLst/>
          </a:prstGeom>
          <a:noFill/>
        </p:spPr>
        <p:txBody>
          <a:bodyPr wrap="none" rtlCol="0">
            <a:spAutoFit/>
          </a:bodyPr>
          <a:lstStyle/>
          <a:p>
            <a:pPr algn="r" defTabSz="914400" fontAlgn="base">
              <a:spcBef>
                <a:spcPct val="0"/>
              </a:spcBef>
              <a:spcAft>
                <a:spcPct val="0"/>
              </a:spcAft>
              <a:defRPr/>
            </a:pPr>
            <a:r>
              <a:rPr lang="en-US" sz="1200" b="1" kern="0" dirty="0">
                <a:solidFill>
                  <a:srgbClr val="000000"/>
                </a:solidFill>
              </a:rPr>
              <a:t>8-bit</a:t>
            </a:r>
          </a:p>
        </p:txBody>
      </p:sp>
      <p:sp>
        <p:nvSpPr>
          <p:cNvPr id="80" name="Down Arrow 54">
            <a:extLst>
              <a:ext uri="{FF2B5EF4-FFF2-40B4-BE49-F238E27FC236}">
                <a16:creationId xmlns:a16="http://schemas.microsoft.com/office/drawing/2014/main" id="{6D6B32D4-207B-4956-94A7-66C34C01FA76}"/>
              </a:ext>
            </a:extLst>
          </p:cNvPr>
          <p:cNvSpPr/>
          <p:nvPr/>
        </p:nvSpPr>
        <p:spPr>
          <a:xfrm rot="16200000">
            <a:off x="5456024" y="4652438"/>
            <a:ext cx="460860" cy="1126253"/>
          </a:xfrm>
          <a:prstGeom prst="downArrow">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endParaRPr lang="en-US" kern="0">
              <a:solidFill>
                <a:srgbClr val="FFFFFF"/>
              </a:solidFill>
              <a:latin typeface="Arial"/>
            </a:endParaRPr>
          </a:p>
        </p:txBody>
      </p:sp>
      <p:sp>
        <p:nvSpPr>
          <p:cNvPr id="81" name="TextBox 80">
            <a:extLst>
              <a:ext uri="{FF2B5EF4-FFF2-40B4-BE49-F238E27FC236}">
                <a16:creationId xmlns:a16="http://schemas.microsoft.com/office/drawing/2014/main" id="{60550930-D6E5-4851-88CE-5A7C996D59F2}"/>
              </a:ext>
            </a:extLst>
          </p:cNvPr>
          <p:cNvSpPr txBox="1"/>
          <p:nvPr/>
        </p:nvSpPr>
        <p:spPr>
          <a:xfrm>
            <a:off x="9934342" y="4733701"/>
            <a:ext cx="425116" cy="276999"/>
          </a:xfrm>
          <a:prstGeom prst="rect">
            <a:avLst/>
          </a:prstGeom>
          <a:noFill/>
        </p:spPr>
        <p:txBody>
          <a:bodyPr wrap="none" rtlCol="0">
            <a:spAutoFit/>
          </a:bodyPr>
          <a:lstStyle/>
          <a:p>
            <a:pPr algn="r" defTabSz="914400" fontAlgn="base">
              <a:spcBef>
                <a:spcPct val="0"/>
              </a:spcBef>
              <a:spcAft>
                <a:spcPct val="0"/>
              </a:spcAft>
              <a:defRPr/>
            </a:pPr>
            <a:r>
              <a:rPr lang="en-US" sz="1200" b="1" kern="0" dirty="0" err="1">
                <a:solidFill>
                  <a:srgbClr val="000000"/>
                </a:solidFill>
              </a:rPr>
              <a:t>foo</a:t>
            </a:r>
            <a:endParaRPr lang="en-US" sz="1200" b="1" kern="0" dirty="0">
              <a:solidFill>
                <a:srgbClr val="000000"/>
              </a:solidFill>
            </a:endParaRPr>
          </a:p>
        </p:txBody>
      </p:sp>
      <p:sp>
        <p:nvSpPr>
          <p:cNvPr id="82" name="TextBox 81">
            <a:extLst>
              <a:ext uri="{FF2B5EF4-FFF2-40B4-BE49-F238E27FC236}">
                <a16:creationId xmlns:a16="http://schemas.microsoft.com/office/drawing/2014/main" id="{D33A2240-6666-4B78-994F-B6D6617F6392}"/>
              </a:ext>
            </a:extLst>
          </p:cNvPr>
          <p:cNvSpPr txBox="1"/>
          <p:nvPr/>
        </p:nvSpPr>
        <p:spPr>
          <a:xfrm>
            <a:off x="9319150" y="4886101"/>
            <a:ext cx="295273" cy="276999"/>
          </a:xfrm>
          <a:prstGeom prst="rect">
            <a:avLst/>
          </a:prstGeom>
          <a:noFill/>
        </p:spPr>
        <p:txBody>
          <a:bodyPr wrap="none" rtlCol="0">
            <a:spAutoFit/>
          </a:bodyPr>
          <a:lstStyle/>
          <a:p>
            <a:pPr algn="ctr" defTabSz="914400" fontAlgn="base">
              <a:spcBef>
                <a:spcPct val="0"/>
              </a:spcBef>
              <a:spcAft>
                <a:spcPct val="0"/>
              </a:spcAft>
              <a:defRPr/>
            </a:pPr>
            <a:r>
              <a:rPr lang="en-US" sz="1200" b="1" kern="0" dirty="0">
                <a:solidFill>
                  <a:srgbClr val="000000"/>
                </a:solidFill>
              </a:rPr>
              <a:t>A</a:t>
            </a:r>
          </a:p>
        </p:txBody>
      </p:sp>
      <p:sp>
        <p:nvSpPr>
          <p:cNvPr id="83" name="TextBox 82">
            <a:extLst>
              <a:ext uri="{FF2B5EF4-FFF2-40B4-BE49-F238E27FC236}">
                <a16:creationId xmlns:a16="http://schemas.microsoft.com/office/drawing/2014/main" id="{6A36ED0A-2632-4347-A5F3-C223157B2D92}"/>
              </a:ext>
            </a:extLst>
          </p:cNvPr>
          <p:cNvSpPr txBox="1"/>
          <p:nvPr/>
        </p:nvSpPr>
        <p:spPr>
          <a:xfrm>
            <a:off x="9317813" y="5156156"/>
            <a:ext cx="287258" cy="276999"/>
          </a:xfrm>
          <a:prstGeom prst="rect">
            <a:avLst/>
          </a:prstGeom>
          <a:noFill/>
        </p:spPr>
        <p:txBody>
          <a:bodyPr wrap="none" rtlCol="0">
            <a:spAutoFit/>
          </a:bodyPr>
          <a:lstStyle/>
          <a:p>
            <a:pPr algn="ctr" defTabSz="914400" fontAlgn="base">
              <a:spcBef>
                <a:spcPct val="0"/>
              </a:spcBef>
              <a:spcAft>
                <a:spcPct val="0"/>
              </a:spcAft>
              <a:defRPr/>
            </a:pPr>
            <a:r>
              <a:rPr lang="en-US" sz="1200" kern="0" dirty="0">
                <a:solidFill>
                  <a:srgbClr val="000000"/>
                </a:solidFill>
              </a:rPr>
              <a:t>B</a:t>
            </a:r>
          </a:p>
        </p:txBody>
      </p:sp>
      <p:sp>
        <p:nvSpPr>
          <p:cNvPr id="84" name="TextBox 83">
            <a:extLst>
              <a:ext uri="{FF2B5EF4-FFF2-40B4-BE49-F238E27FC236}">
                <a16:creationId xmlns:a16="http://schemas.microsoft.com/office/drawing/2014/main" id="{35B6ED99-F02D-47A7-BD1B-0AF4CB8536F0}"/>
              </a:ext>
            </a:extLst>
          </p:cNvPr>
          <p:cNvSpPr txBox="1"/>
          <p:nvPr/>
        </p:nvSpPr>
        <p:spPr>
          <a:xfrm>
            <a:off x="9319149" y="5416827"/>
            <a:ext cx="295273" cy="276999"/>
          </a:xfrm>
          <a:prstGeom prst="rect">
            <a:avLst/>
          </a:prstGeom>
          <a:noFill/>
        </p:spPr>
        <p:txBody>
          <a:bodyPr wrap="none" rtlCol="0">
            <a:spAutoFit/>
          </a:bodyPr>
          <a:lstStyle/>
          <a:p>
            <a:pPr algn="ctr" defTabSz="914400" fontAlgn="base">
              <a:spcBef>
                <a:spcPct val="0"/>
              </a:spcBef>
              <a:spcAft>
                <a:spcPct val="0"/>
              </a:spcAft>
              <a:defRPr/>
            </a:pPr>
            <a:r>
              <a:rPr lang="en-US" sz="1200" kern="0" dirty="0">
                <a:solidFill>
                  <a:srgbClr val="000000"/>
                </a:solidFill>
              </a:rPr>
              <a:t>C</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Pointer &amp; Structs</a:t>
            </a:r>
          </a:p>
        </p:txBody>
      </p:sp>
      <p:sp>
        <p:nvSpPr>
          <p:cNvPr id="3" name="Content Placeholder 2"/>
          <p:cNvSpPr>
            <a:spLocks noGrp="1"/>
          </p:cNvSpPr>
          <p:nvPr>
            <p:ph idx="1"/>
          </p:nvPr>
        </p:nvSpPr>
        <p:spPr/>
        <p:txBody>
          <a:bodyPr/>
          <a:lstStyle/>
          <a:p>
            <a:r>
              <a:rPr lang="en-US" dirty="0"/>
              <a:t>Struct passed as a pointer</a:t>
            </a:r>
          </a:p>
          <a:p>
            <a:pPr lvl="1"/>
            <a:r>
              <a:rPr lang="en-US" dirty="0"/>
              <a:t>When a struct is passed as a pointer</a:t>
            </a:r>
          </a:p>
          <a:p>
            <a:pPr lvl="1"/>
            <a:r>
              <a:rPr lang="en-US" dirty="0"/>
              <a:t>The data will be accessed as pass-by-reference</a:t>
            </a:r>
          </a:p>
          <a:p>
            <a:pPr lvl="1"/>
            <a:endParaRPr lang="en-US" sz="1600" dirty="0"/>
          </a:p>
          <a:p>
            <a:pPr lvl="1"/>
            <a:endParaRPr lang="en-US" sz="1600" dirty="0"/>
          </a:p>
          <a:p>
            <a:pPr lvl="1">
              <a:buNone/>
            </a:pPr>
            <a:endParaRPr lang="en-US" sz="1600" dirty="0"/>
          </a:p>
          <a:p>
            <a:pPr lvl="1">
              <a:buNone/>
            </a:pPr>
            <a:endParaRPr lang="en-US" dirty="0"/>
          </a:p>
          <a:p>
            <a:r>
              <a:rPr lang="en-US" dirty="0"/>
              <a:t>Struct passed by-value</a:t>
            </a:r>
          </a:p>
          <a:p>
            <a:pPr lvl="1"/>
            <a:r>
              <a:rPr lang="en-US" dirty="0"/>
              <a:t>When a struct is passed directly and not as a pointer</a:t>
            </a:r>
          </a:p>
          <a:p>
            <a:pPr lvl="1"/>
            <a:r>
              <a:rPr lang="en-US" dirty="0"/>
              <a:t>The data will be accessed as pass-by-value</a:t>
            </a:r>
          </a:p>
          <a:p>
            <a:endParaRPr lang="en-US" dirty="0"/>
          </a:p>
        </p:txBody>
      </p:sp>
      <p:sp>
        <p:nvSpPr>
          <p:cNvPr id="36" name="Slide Number Placeholder 35"/>
          <p:cNvSpPr>
            <a:spLocks noGrp="1"/>
          </p:cNvSpPr>
          <p:nvPr>
            <p:ph type="sldNum" sz="quarter" idx="10"/>
          </p:nvPr>
        </p:nvSpPr>
        <p:spPr/>
        <p:txBody>
          <a:bodyPr/>
          <a:lstStyle/>
          <a:p>
            <a:pPr defTabSz="914400">
              <a:defRPr/>
            </a:pPr>
            <a:r>
              <a:rPr lang="en-US" dirty="0">
                <a:solidFill>
                  <a:srgbClr val="0C0C0C">
                    <a:tint val="75000"/>
                  </a:srgbClr>
                </a:solidFill>
                <a:latin typeface="Arial"/>
              </a:rPr>
              <a:t>Coding Considerations 23- </a:t>
            </a:r>
            <a:fld id="{060BD193-E118-4B16-863C-C8C12C675E3E}" type="slidenum">
              <a:rPr lang="en-US">
                <a:solidFill>
                  <a:srgbClr val="0C0C0C">
                    <a:tint val="75000"/>
                  </a:srgbClr>
                </a:solidFill>
                <a:latin typeface="Arial"/>
              </a:rPr>
              <a:pPr defTabSz="914400">
                <a:defRPr/>
              </a:pPr>
              <a:t>35</a:t>
            </a:fld>
            <a:endParaRPr lang="en-US" dirty="0">
              <a:solidFill>
                <a:srgbClr val="0C0C0C">
                  <a:tint val="75000"/>
                </a:srgbClr>
              </a:solidFill>
              <a:latin typeface="Arial"/>
            </a:endParaRPr>
          </a:p>
        </p:txBody>
      </p:sp>
      <p:sp>
        <p:nvSpPr>
          <p:cNvPr id="34" name="TextBox 33">
            <a:extLst>
              <a:ext uri="{FF2B5EF4-FFF2-40B4-BE49-F238E27FC236}">
                <a16:creationId xmlns:a16="http://schemas.microsoft.com/office/drawing/2014/main" id="{ABFAA15F-346B-4638-8488-678105B4E987}"/>
              </a:ext>
            </a:extLst>
          </p:cNvPr>
          <p:cNvSpPr txBox="1"/>
          <p:nvPr/>
        </p:nvSpPr>
        <p:spPr>
          <a:xfrm>
            <a:off x="1744567" y="2520381"/>
            <a:ext cx="2457280" cy="1223412"/>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tabLst>
                <a:tab pos="457200" algn="l"/>
              </a:tabLst>
              <a:defRPr/>
            </a:pPr>
            <a:r>
              <a:rPr lang="en-US" sz="1050" kern="0" dirty="0" err="1">
                <a:solidFill>
                  <a:srgbClr val="000000"/>
                </a:solidFill>
                <a:latin typeface="Arial"/>
              </a:rPr>
              <a:t>typedef</a:t>
            </a:r>
            <a:r>
              <a:rPr lang="en-US" sz="1050" kern="0" dirty="0">
                <a:solidFill>
                  <a:srgbClr val="000000"/>
                </a:solidFill>
                <a:latin typeface="Arial"/>
              </a:rPr>
              <a:t> struct{  </a:t>
            </a:r>
          </a:p>
          <a:p>
            <a:pPr defTabSz="914400" fontAlgn="base">
              <a:spcBef>
                <a:spcPct val="0"/>
              </a:spcBef>
              <a:spcAft>
                <a:spcPct val="0"/>
              </a:spcAft>
              <a:tabLst>
                <a:tab pos="457200" algn="l"/>
              </a:tabLst>
              <a:defRPr/>
            </a:pPr>
            <a:r>
              <a:rPr lang="en-US" sz="1050" kern="0" dirty="0">
                <a:solidFill>
                  <a:srgbClr val="000000"/>
                </a:solidFill>
                <a:latin typeface="Arial"/>
              </a:rPr>
              <a:t>	unsigned char A;  	unsigned char B[4];  	unsigned char C;</a:t>
            </a:r>
          </a:p>
          <a:p>
            <a:pPr defTabSz="914400" fontAlgn="base">
              <a:spcBef>
                <a:spcPct val="0"/>
              </a:spcBef>
              <a:spcAft>
                <a:spcPct val="0"/>
              </a:spcAft>
              <a:tabLst>
                <a:tab pos="457200" algn="l"/>
              </a:tabLst>
              <a:defRPr/>
            </a:pPr>
            <a:r>
              <a:rPr lang="en-US" sz="1050" kern="0" dirty="0">
                <a:solidFill>
                  <a:srgbClr val="000000"/>
                </a:solidFill>
                <a:latin typeface="Arial"/>
              </a:rPr>
              <a:t>} </a:t>
            </a:r>
            <a:r>
              <a:rPr lang="en-US" sz="1050" kern="0" dirty="0" err="1">
                <a:solidFill>
                  <a:srgbClr val="000000"/>
                </a:solidFill>
                <a:latin typeface="Arial"/>
              </a:rPr>
              <a:t>my_data</a:t>
            </a:r>
            <a:r>
              <a:rPr lang="en-US" sz="1050" kern="0" dirty="0">
                <a:solidFill>
                  <a:srgbClr val="000000"/>
                </a:solidFill>
                <a:latin typeface="Arial"/>
              </a:rPr>
              <a:t>;</a:t>
            </a:r>
          </a:p>
          <a:p>
            <a:pPr defTabSz="914400" fontAlgn="base">
              <a:spcBef>
                <a:spcPct val="0"/>
              </a:spcBef>
              <a:spcAft>
                <a:spcPct val="0"/>
              </a:spcAft>
              <a:tabLst>
                <a:tab pos="457200" algn="l"/>
              </a:tabLst>
              <a:defRPr/>
            </a:pPr>
            <a:endParaRPr lang="en-US" sz="1050" kern="0" dirty="0">
              <a:solidFill>
                <a:srgbClr val="000000"/>
              </a:solidFill>
              <a:latin typeface="Arial"/>
            </a:endParaRPr>
          </a:p>
          <a:p>
            <a:pPr defTabSz="914400" fontAlgn="base">
              <a:spcBef>
                <a:spcPct val="0"/>
              </a:spcBef>
              <a:spcAft>
                <a:spcPct val="0"/>
              </a:spcAft>
              <a:tabLst>
                <a:tab pos="457200" algn="l"/>
              </a:tabLst>
              <a:defRPr/>
            </a:pPr>
            <a:r>
              <a:rPr lang="en-US" sz="1050" kern="0" dirty="0">
                <a:solidFill>
                  <a:srgbClr val="000000"/>
                </a:solidFill>
                <a:latin typeface="Arial"/>
              </a:rPr>
              <a:t>void foo(</a:t>
            </a:r>
            <a:r>
              <a:rPr lang="en-US" sz="1050" kern="0" dirty="0" err="1">
                <a:solidFill>
                  <a:srgbClr val="000000"/>
                </a:solidFill>
                <a:latin typeface="Arial"/>
              </a:rPr>
              <a:t>my_data</a:t>
            </a:r>
            <a:r>
              <a:rPr lang="en-US" sz="1050" kern="0" dirty="0">
                <a:solidFill>
                  <a:srgbClr val="000000"/>
                </a:solidFill>
                <a:latin typeface="Arial"/>
              </a:rPr>
              <a:t> </a:t>
            </a:r>
            <a:r>
              <a:rPr lang="en-US" sz="1050" b="1" kern="0" dirty="0">
                <a:solidFill>
                  <a:srgbClr val="000000"/>
                </a:solidFill>
                <a:latin typeface="Arial"/>
              </a:rPr>
              <a:t>*in</a:t>
            </a:r>
            <a:r>
              <a:rPr lang="en-US" sz="1050" kern="0" dirty="0">
                <a:solidFill>
                  <a:srgbClr val="000000"/>
                </a:solidFill>
                <a:latin typeface="Arial"/>
              </a:rPr>
              <a:t>);</a:t>
            </a:r>
          </a:p>
        </p:txBody>
      </p:sp>
      <p:sp>
        <p:nvSpPr>
          <p:cNvPr id="35" name="Rectangle 34">
            <a:extLst>
              <a:ext uri="{FF2B5EF4-FFF2-40B4-BE49-F238E27FC236}">
                <a16:creationId xmlns:a16="http://schemas.microsoft.com/office/drawing/2014/main" id="{89E80B26-113F-4228-B952-F30A59CF67B4}"/>
              </a:ext>
            </a:extLst>
          </p:cNvPr>
          <p:cNvSpPr/>
          <p:nvPr/>
        </p:nvSpPr>
        <p:spPr>
          <a:xfrm>
            <a:off x="9321182" y="2443571"/>
            <a:ext cx="1586993" cy="1152150"/>
          </a:xfrm>
          <a:prstGeom prst="rect">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endParaRPr lang="en-US" kern="0" dirty="0">
              <a:solidFill>
                <a:srgbClr val="FFFFFF"/>
              </a:solidFill>
              <a:latin typeface="Arial"/>
            </a:endParaRPr>
          </a:p>
        </p:txBody>
      </p:sp>
      <p:cxnSp>
        <p:nvCxnSpPr>
          <p:cNvPr id="37" name="Straight Arrow Connector 36">
            <a:extLst>
              <a:ext uri="{FF2B5EF4-FFF2-40B4-BE49-F238E27FC236}">
                <a16:creationId xmlns:a16="http://schemas.microsoft.com/office/drawing/2014/main" id="{8578F66C-A852-43A1-8D05-C7A2005B4E4F}"/>
              </a:ext>
            </a:extLst>
          </p:cNvPr>
          <p:cNvCxnSpPr/>
          <p:nvPr/>
        </p:nvCxnSpPr>
        <p:spPr>
          <a:xfrm>
            <a:off x="8911635" y="2750811"/>
            <a:ext cx="409547" cy="1588"/>
          </a:xfrm>
          <a:prstGeom prst="straightConnector1">
            <a:avLst/>
          </a:prstGeom>
          <a:noFill/>
          <a:ln w="25400" cap="flat" cmpd="sng" algn="ctr">
            <a:solidFill>
              <a:srgbClr val="B20838">
                <a:lumMod val="75000"/>
              </a:srgbClr>
            </a:solidFill>
            <a:prstDash val="solid"/>
            <a:tailEnd type="arrow"/>
          </a:ln>
          <a:effectLst>
            <a:outerShdw blurRad="40000" dist="20000" dir="5400000" rotWithShape="0">
              <a:srgbClr val="000000">
                <a:alpha val="38000"/>
              </a:srgbClr>
            </a:outerShdw>
          </a:effectLst>
        </p:spPr>
      </p:cxnSp>
      <p:sp>
        <p:nvSpPr>
          <p:cNvPr id="38" name="TextBox 37">
            <a:extLst>
              <a:ext uri="{FF2B5EF4-FFF2-40B4-BE49-F238E27FC236}">
                <a16:creationId xmlns:a16="http://schemas.microsoft.com/office/drawing/2014/main" id="{856597D2-98EA-459E-9C2A-23FDF3D6E7C4}"/>
              </a:ext>
            </a:extLst>
          </p:cNvPr>
          <p:cNvSpPr txBox="1"/>
          <p:nvPr/>
        </p:nvSpPr>
        <p:spPr>
          <a:xfrm>
            <a:off x="8438255" y="2597997"/>
            <a:ext cx="510075" cy="276999"/>
          </a:xfrm>
          <a:prstGeom prst="rect">
            <a:avLst/>
          </a:prstGeom>
          <a:noFill/>
        </p:spPr>
        <p:txBody>
          <a:bodyPr wrap="none" rtlCol="0">
            <a:spAutoFit/>
          </a:bodyPr>
          <a:lstStyle/>
          <a:p>
            <a:pPr algn="r" defTabSz="914400" fontAlgn="base">
              <a:spcBef>
                <a:spcPct val="0"/>
              </a:spcBef>
              <a:spcAft>
                <a:spcPct val="0"/>
              </a:spcAft>
              <a:defRPr/>
            </a:pPr>
            <a:r>
              <a:rPr lang="en-US" sz="1200" b="1" kern="0" dirty="0">
                <a:solidFill>
                  <a:srgbClr val="000000"/>
                </a:solidFill>
                <a:latin typeface="Arial"/>
              </a:rPr>
              <a:t>8-bit</a:t>
            </a:r>
          </a:p>
        </p:txBody>
      </p:sp>
      <p:cxnSp>
        <p:nvCxnSpPr>
          <p:cNvPr id="39" name="Straight Arrow Connector 38">
            <a:extLst>
              <a:ext uri="{FF2B5EF4-FFF2-40B4-BE49-F238E27FC236}">
                <a16:creationId xmlns:a16="http://schemas.microsoft.com/office/drawing/2014/main" id="{CCDFCD9D-6DCE-42AA-BFC3-3597E1BD39D3}"/>
              </a:ext>
            </a:extLst>
          </p:cNvPr>
          <p:cNvCxnSpPr/>
          <p:nvPr/>
        </p:nvCxnSpPr>
        <p:spPr>
          <a:xfrm>
            <a:off x="8904216" y="2972273"/>
            <a:ext cx="409547" cy="1588"/>
          </a:xfrm>
          <a:prstGeom prst="straightConnector1">
            <a:avLst/>
          </a:prstGeom>
          <a:noFill/>
          <a:ln w="25400" cap="flat" cmpd="sng" algn="ctr">
            <a:solidFill>
              <a:srgbClr val="B20838">
                <a:lumMod val="75000"/>
              </a:srgbClr>
            </a:solidFill>
            <a:prstDash val="solid"/>
            <a:tailEnd type="arrow"/>
          </a:ln>
          <a:effectLst>
            <a:outerShdw blurRad="40000" dist="20000" dir="5400000" rotWithShape="0">
              <a:srgbClr val="000000">
                <a:alpha val="38000"/>
              </a:srgbClr>
            </a:outerShdw>
          </a:effectLst>
        </p:spPr>
      </p:cxnSp>
      <p:sp>
        <p:nvSpPr>
          <p:cNvPr id="40" name="TextBox 39">
            <a:extLst>
              <a:ext uri="{FF2B5EF4-FFF2-40B4-BE49-F238E27FC236}">
                <a16:creationId xmlns:a16="http://schemas.microsoft.com/office/drawing/2014/main" id="{ADF7AC96-A308-4563-95C6-F89B4438BB25}"/>
              </a:ext>
            </a:extLst>
          </p:cNvPr>
          <p:cNvSpPr txBox="1"/>
          <p:nvPr/>
        </p:nvSpPr>
        <p:spPr>
          <a:xfrm>
            <a:off x="7456212" y="2827623"/>
            <a:ext cx="1484701" cy="276999"/>
          </a:xfrm>
          <a:prstGeom prst="rect">
            <a:avLst/>
          </a:prstGeom>
          <a:noFill/>
        </p:spPr>
        <p:txBody>
          <a:bodyPr wrap="none" rtlCol="0">
            <a:spAutoFit/>
          </a:bodyPr>
          <a:lstStyle/>
          <a:p>
            <a:pPr algn="r" defTabSz="914400" fontAlgn="base">
              <a:spcBef>
                <a:spcPct val="0"/>
              </a:spcBef>
              <a:spcAft>
                <a:spcPct val="0"/>
              </a:spcAft>
              <a:defRPr/>
            </a:pPr>
            <a:r>
              <a:rPr lang="en-US" sz="1200" b="1" kern="0" dirty="0">
                <a:solidFill>
                  <a:srgbClr val="000000"/>
                </a:solidFill>
                <a:latin typeface="Arial"/>
              </a:rPr>
              <a:t>8-bit Memory port</a:t>
            </a:r>
          </a:p>
        </p:txBody>
      </p:sp>
      <p:cxnSp>
        <p:nvCxnSpPr>
          <p:cNvPr id="41" name="Straight Arrow Connector 40">
            <a:extLst>
              <a:ext uri="{FF2B5EF4-FFF2-40B4-BE49-F238E27FC236}">
                <a16:creationId xmlns:a16="http://schemas.microsoft.com/office/drawing/2014/main" id="{858F6BFF-DB3B-410E-B8B3-AFC8EA22F83F}"/>
              </a:ext>
            </a:extLst>
          </p:cNvPr>
          <p:cNvCxnSpPr/>
          <p:nvPr/>
        </p:nvCxnSpPr>
        <p:spPr>
          <a:xfrm>
            <a:off x="8911635" y="3270545"/>
            <a:ext cx="409547" cy="1588"/>
          </a:xfrm>
          <a:prstGeom prst="straightConnector1">
            <a:avLst/>
          </a:prstGeom>
          <a:noFill/>
          <a:ln w="25400" cap="flat" cmpd="sng" algn="ctr">
            <a:solidFill>
              <a:srgbClr val="B20838">
                <a:lumMod val="75000"/>
              </a:srgbClr>
            </a:solidFill>
            <a:prstDash val="solid"/>
            <a:tailEnd type="arrow"/>
          </a:ln>
          <a:effectLst>
            <a:outerShdw blurRad="40000" dist="20000" dir="5400000" rotWithShape="0">
              <a:srgbClr val="000000">
                <a:alpha val="38000"/>
              </a:srgbClr>
            </a:outerShdw>
          </a:effectLst>
        </p:spPr>
      </p:cxnSp>
      <p:sp>
        <p:nvSpPr>
          <p:cNvPr id="42" name="TextBox 41">
            <a:extLst>
              <a:ext uri="{FF2B5EF4-FFF2-40B4-BE49-F238E27FC236}">
                <a16:creationId xmlns:a16="http://schemas.microsoft.com/office/drawing/2014/main" id="{37FBD57F-7BAA-457E-8C7C-EB6FCB45060B}"/>
              </a:ext>
            </a:extLst>
          </p:cNvPr>
          <p:cNvSpPr txBox="1"/>
          <p:nvPr/>
        </p:nvSpPr>
        <p:spPr>
          <a:xfrm>
            <a:off x="8438255" y="3117731"/>
            <a:ext cx="510075" cy="276999"/>
          </a:xfrm>
          <a:prstGeom prst="rect">
            <a:avLst/>
          </a:prstGeom>
          <a:noFill/>
        </p:spPr>
        <p:txBody>
          <a:bodyPr wrap="none" rtlCol="0">
            <a:spAutoFit/>
          </a:bodyPr>
          <a:lstStyle/>
          <a:p>
            <a:pPr algn="r" defTabSz="914400" fontAlgn="base">
              <a:spcBef>
                <a:spcPct val="0"/>
              </a:spcBef>
              <a:spcAft>
                <a:spcPct val="0"/>
              </a:spcAft>
              <a:defRPr/>
            </a:pPr>
            <a:r>
              <a:rPr lang="en-US" sz="1200" b="1" kern="0" dirty="0">
                <a:solidFill>
                  <a:srgbClr val="000000"/>
                </a:solidFill>
                <a:latin typeface="Arial"/>
              </a:rPr>
              <a:t>8-bit</a:t>
            </a:r>
          </a:p>
        </p:txBody>
      </p:sp>
      <p:cxnSp>
        <p:nvCxnSpPr>
          <p:cNvPr id="43" name="Straight Arrow Connector 42">
            <a:extLst>
              <a:ext uri="{FF2B5EF4-FFF2-40B4-BE49-F238E27FC236}">
                <a16:creationId xmlns:a16="http://schemas.microsoft.com/office/drawing/2014/main" id="{1C564C91-6A60-4722-B431-4C99061247A5}"/>
              </a:ext>
            </a:extLst>
          </p:cNvPr>
          <p:cNvCxnSpPr/>
          <p:nvPr/>
        </p:nvCxnSpPr>
        <p:spPr>
          <a:xfrm rot="10800000">
            <a:off x="8860442" y="3056463"/>
            <a:ext cx="409544" cy="1588"/>
          </a:xfrm>
          <a:prstGeom prst="straightConnector1">
            <a:avLst/>
          </a:prstGeom>
          <a:noFill/>
          <a:ln w="25400" cap="flat" cmpd="sng" algn="ctr">
            <a:solidFill>
              <a:srgbClr val="B20838">
                <a:lumMod val="75000"/>
              </a:srgbClr>
            </a:solidFill>
            <a:prstDash val="solid"/>
            <a:tailEnd type="arrow"/>
          </a:ln>
          <a:effectLst>
            <a:outerShdw blurRad="40000" dist="20000" dir="5400000" rotWithShape="0">
              <a:srgbClr val="000000">
                <a:alpha val="38000"/>
              </a:srgbClr>
            </a:outerShdw>
          </a:effectLst>
        </p:spPr>
      </p:cxnSp>
      <p:sp>
        <p:nvSpPr>
          <p:cNvPr id="54" name="Down Arrow 44">
            <a:extLst>
              <a:ext uri="{FF2B5EF4-FFF2-40B4-BE49-F238E27FC236}">
                <a16:creationId xmlns:a16="http://schemas.microsoft.com/office/drawing/2014/main" id="{5C77940C-ADE3-4DFB-A165-5D53F4E89D5C}"/>
              </a:ext>
            </a:extLst>
          </p:cNvPr>
          <p:cNvSpPr/>
          <p:nvPr/>
        </p:nvSpPr>
        <p:spPr>
          <a:xfrm rot="16200000">
            <a:off x="5456024" y="2379711"/>
            <a:ext cx="460860" cy="1126253"/>
          </a:xfrm>
          <a:prstGeom prst="downArrow">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endParaRPr lang="en-US" kern="0">
              <a:solidFill>
                <a:srgbClr val="FFFFFF"/>
              </a:solidFill>
              <a:latin typeface="Arial"/>
            </a:endParaRPr>
          </a:p>
        </p:txBody>
      </p:sp>
      <p:sp>
        <p:nvSpPr>
          <p:cNvPr id="65" name="TextBox 64">
            <a:extLst>
              <a:ext uri="{FF2B5EF4-FFF2-40B4-BE49-F238E27FC236}">
                <a16:creationId xmlns:a16="http://schemas.microsoft.com/office/drawing/2014/main" id="{A78F2C31-9E6D-49C8-A9B6-1C4A8006827D}"/>
              </a:ext>
            </a:extLst>
          </p:cNvPr>
          <p:cNvSpPr txBox="1"/>
          <p:nvPr/>
        </p:nvSpPr>
        <p:spPr>
          <a:xfrm>
            <a:off x="9872285" y="2443573"/>
            <a:ext cx="425116" cy="276999"/>
          </a:xfrm>
          <a:prstGeom prst="rect">
            <a:avLst/>
          </a:prstGeom>
          <a:noFill/>
        </p:spPr>
        <p:txBody>
          <a:bodyPr wrap="none" rtlCol="0">
            <a:spAutoFit/>
          </a:bodyPr>
          <a:lstStyle/>
          <a:p>
            <a:pPr algn="r" defTabSz="914400" fontAlgn="base">
              <a:spcBef>
                <a:spcPct val="0"/>
              </a:spcBef>
              <a:spcAft>
                <a:spcPct val="0"/>
              </a:spcAft>
              <a:defRPr/>
            </a:pPr>
            <a:r>
              <a:rPr lang="en-US" sz="1200" b="1" kern="0" dirty="0" err="1">
                <a:solidFill>
                  <a:srgbClr val="000000"/>
                </a:solidFill>
                <a:latin typeface="Arial"/>
              </a:rPr>
              <a:t>foo</a:t>
            </a:r>
            <a:endParaRPr lang="en-US" sz="1200" b="1" kern="0" dirty="0">
              <a:solidFill>
                <a:srgbClr val="000000"/>
              </a:solidFill>
              <a:latin typeface="Arial"/>
            </a:endParaRPr>
          </a:p>
        </p:txBody>
      </p:sp>
      <p:sp>
        <p:nvSpPr>
          <p:cNvPr id="67" name="TextBox 66">
            <a:extLst>
              <a:ext uri="{FF2B5EF4-FFF2-40B4-BE49-F238E27FC236}">
                <a16:creationId xmlns:a16="http://schemas.microsoft.com/office/drawing/2014/main" id="{A679AE16-4EEC-4666-8156-E137E694F268}"/>
              </a:ext>
            </a:extLst>
          </p:cNvPr>
          <p:cNvSpPr txBox="1"/>
          <p:nvPr/>
        </p:nvSpPr>
        <p:spPr>
          <a:xfrm>
            <a:off x="9319150" y="2595973"/>
            <a:ext cx="295273" cy="276999"/>
          </a:xfrm>
          <a:prstGeom prst="rect">
            <a:avLst/>
          </a:prstGeom>
          <a:noFill/>
        </p:spPr>
        <p:txBody>
          <a:bodyPr wrap="none" rtlCol="0">
            <a:spAutoFit/>
          </a:bodyPr>
          <a:lstStyle/>
          <a:p>
            <a:pPr algn="ctr" defTabSz="914400" fontAlgn="base">
              <a:spcBef>
                <a:spcPct val="0"/>
              </a:spcBef>
              <a:spcAft>
                <a:spcPct val="0"/>
              </a:spcAft>
              <a:defRPr/>
            </a:pPr>
            <a:r>
              <a:rPr lang="en-US" sz="1200" b="1" kern="0" dirty="0">
                <a:solidFill>
                  <a:srgbClr val="000000"/>
                </a:solidFill>
                <a:latin typeface="Arial"/>
              </a:rPr>
              <a:t>A</a:t>
            </a:r>
          </a:p>
        </p:txBody>
      </p:sp>
      <p:sp>
        <p:nvSpPr>
          <p:cNvPr id="68" name="TextBox 67">
            <a:extLst>
              <a:ext uri="{FF2B5EF4-FFF2-40B4-BE49-F238E27FC236}">
                <a16:creationId xmlns:a16="http://schemas.microsoft.com/office/drawing/2014/main" id="{679BD85B-8224-451D-A513-9F7D5CA745F9}"/>
              </a:ext>
            </a:extLst>
          </p:cNvPr>
          <p:cNvSpPr txBox="1"/>
          <p:nvPr/>
        </p:nvSpPr>
        <p:spPr>
          <a:xfrm>
            <a:off x="9317813" y="2866028"/>
            <a:ext cx="287258" cy="276999"/>
          </a:xfrm>
          <a:prstGeom prst="rect">
            <a:avLst/>
          </a:prstGeom>
          <a:noFill/>
        </p:spPr>
        <p:txBody>
          <a:bodyPr wrap="none" rtlCol="0">
            <a:spAutoFit/>
          </a:bodyPr>
          <a:lstStyle/>
          <a:p>
            <a:pPr algn="ctr" defTabSz="914400" fontAlgn="base">
              <a:spcBef>
                <a:spcPct val="0"/>
              </a:spcBef>
              <a:spcAft>
                <a:spcPct val="0"/>
              </a:spcAft>
              <a:defRPr/>
            </a:pPr>
            <a:r>
              <a:rPr lang="en-US" sz="1200" kern="0" dirty="0">
                <a:solidFill>
                  <a:srgbClr val="000000"/>
                </a:solidFill>
                <a:latin typeface="Arial"/>
              </a:rPr>
              <a:t>B</a:t>
            </a:r>
          </a:p>
        </p:txBody>
      </p:sp>
      <p:sp>
        <p:nvSpPr>
          <p:cNvPr id="69" name="TextBox 68">
            <a:extLst>
              <a:ext uri="{FF2B5EF4-FFF2-40B4-BE49-F238E27FC236}">
                <a16:creationId xmlns:a16="http://schemas.microsoft.com/office/drawing/2014/main" id="{356A3532-802D-4991-BBD8-7183342DBC01}"/>
              </a:ext>
            </a:extLst>
          </p:cNvPr>
          <p:cNvSpPr txBox="1"/>
          <p:nvPr/>
        </p:nvSpPr>
        <p:spPr>
          <a:xfrm>
            <a:off x="9319149" y="3126699"/>
            <a:ext cx="295273" cy="276999"/>
          </a:xfrm>
          <a:prstGeom prst="rect">
            <a:avLst/>
          </a:prstGeom>
          <a:noFill/>
        </p:spPr>
        <p:txBody>
          <a:bodyPr wrap="none" rtlCol="0">
            <a:spAutoFit/>
          </a:bodyPr>
          <a:lstStyle/>
          <a:p>
            <a:pPr algn="ctr" defTabSz="914400" fontAlgn="base">
              <a:spcBef>
                <a:spcPct val="0"/>
              </a:spcBef>
              <a:spcAft>
                <a:spcPct val="0"/>
              </a:spcAft>
              <a:defRPr/>
            </a:pPr>
            <a:r>
              <a:rPr lang="en-US" sz="1200" kern="0" dirty="0">
                <a:solidFill>
                  <a:srgbClr val="000000"/>
                </a:solidFill>
                <a:latin typeface="Arial"/>
              </a:rPr>
              <a:t>C</a:t>
            </a:r>
          </a:p>
        </p:txBody>
      </p:sp>
      <p:sp>
        <p:nvSpPr>
          <p:cNvPr id="70" name="TextBox 69">
            <a:extLst>
              <a:ext uri="{FF2B5EF4-FFF2-40B4-BE49-F238E27FC236}">
                <a16:creationId xmlns:a16="http://schemas.microsoft.com/office/drawing/2014/main" id="{F8A1FA86-AB96-4F47-8755-8F70EA7309A3}"/>
              </a:ext>
            </a:extLst>
          </p:cNvPr>
          <p:cNvSpPr txBox="1"/>
          <p:nvPr/>
        </p:nvSpPr>
        <p:spPr>
          <a:xfrm>
            <a:off x="4764975" y="3442102"/>
            <a:ext cx="1382220" cy="307777"/>
          </a:xfrm>
          <a:prstGeom prst="rect">
            <a:avLst/>
          </a:prstGeom>
          <a:solidFill>
            <a:srgbClr val="FFFF99"/>
          </a:solidFill>
          <a:ln w="28575">
            <a:solidFill>
              <a:srgbClr val="000000"/>
            </a:solidFill>
          </a:ln>
          <a:effectLst>
            <a:innerShdw blurRad="63500" dist="50800" dir="2700000">
              <a:prstClr val="black">
                <a:alpha val="50000"/>
              </a:prstClr>
            </a:innerShdw>
          </a:effectLst>
        </p:spPr>
        <p:txBody>
          <a:bodyPr wrap="square" rtlCol="0">
            <a:spAutoFit/>
          </a:bodyPr>
          <a:lstStyle/>
          <a:p>
            <a:pPr algn="ctr" defTabSz="914400" fontAlgn="base">
              <a:spcBef>
                <a:spcPct val="0"/>
              </a:spcBef>
              <a:spcAft>
                <a:spcPct val="0"/>
              </a:spcAft>
              <a:defRPr/>
            </a:pPr>
            <a:r>
              <a:rPr lang="en-US" sz="1400" b="1" kern="0" dirty="0">
                <a:solidFill>
                  <a:srgbClr val="000000"/>
                </a:solidFill>
                <a:latin typeface="Arial"/>
              </a:rPr>
              <a:t>Pointer</a:t>
            </a:r>
          </a:p>
        </p:txBody>
      </p:sp>
      <p:cxnSp>
        <p:nvCxnSpPr>
          <p:cNvPr id="71" name="Straight Arrow Connector 70">
            <a:extLst>
              <a:ext uri="{FF2B5EF4-FFF2-40B4-BE49-F238E27FC236}">
                <a16:creationId xmlns:a16="http://schemas.microsoft.com/office/drawing/2014/main" id="{7C9F4742-E8EB-4B25-8341-BF225761C376}"/>
              </a:ext>
            </a:extLst>
          </p:cNvPr>
          <p:cNvCxnSpPr/>
          <p:nvPr/>
        </p:nvCxnSpPr>
        <p:spPr>
          <a:xfrm flipH="1">
            <a:off x="3948270" y="3595721"/>
            <a:ext cx="716707" cy="0"/>
          </a:xfrm>
          <a:prstGeom prst="straightConnector1">
            <a:avLst/>
          </a:prstGeom>
          <a:noFill/>
          <a:ln w="38100" cap="flat" cmpd="sng" algn="ctr">
            <a:solidFill>
              <a:srgbClr val="000000"/>
            </a:solidFill>
            <a:prstDash val="solid"/>
            <a:headEnd type="none" w="med" len="med"/>
            <a:tailEnd type="triangle" w="med" len="med"/>
          </a:ln>
          <a:effectLst>
            <a:outerShdw blurRad="40000" dist="23000" dir="5400000" rotWithShape="0">
              <a:srgbClr val="000000">
                <a:alpha val="35000"/>
              </a:srgbClr>
            </a:outerShdw>
          </a:effectLst>
        </p:spPr>
      </p:cxnSp>
      <p:sp>
        <p:nvSpPr>
          <p:cNvPr id="72" name="TextBox 71">
            <a:extLst>
              <a:ext uri="{FF2B5EF4-FFF2-40B4-BE49-F238E27FC236}">
                <a16:creationId xmlns:a16="http://schemas.microsoft.com/office/drawing/2014/main" id="{102F62BC-2A59-42D6-9D7F-554516694A47}"/>
              </a:ext>
            </a:extLst>
          </p:cNvPr>
          <p:cNvSpPr txBox="1"/>
          <p:nvPr/>
        </p:nvSpPr>
        <p:spPr>
          <a:xfrm>
            <a:off x="1744567" y="4793108"/>
            <a:ext cx="2457280" cy="1223412"/>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defRPr/>
            </a:pPr>
            <a:r>
              <a:rPr lang="en-US" sz="1050" kern="0" dirty="0" err="1">
                <a:solidFill>
                  <a:srgbClr val="000000"/>
                </a:solidFill>
                <a:latin typeface="Arial"/>
              </a:rPr>
              <a:t>typedef</a:t>
            </a:r>
            <a:r>
              <a:rPr lang="en-US" sz="1050" kern="0" dirty="0">
                <a:solidFill>
                  <a:srgbClr val="000000"/>
                </a:solidFill>
                <a:latin typeface="Arial"/>
              </a:rPr>
              <a:t> struct{  </a:t>
            </a:r>
          </a:p>
          <a:p>
            <a:pPr defTabSz="914400" fontAlgn="base">
              <a:spcBef>
                <a:spcPct val="0"/>
              </a:spcBef>
              <a:spcAft>
                <a:spcPct val="0"/>
              </a:spcAft>
              <a:tabLst>
                <a:tab pos="457200" algn="l"/>
              </a:tabLst>
              <a:defRPr/>
            </a:pPr>
            <a:r>
              <a:rPr lang="en-US" sz="1050" kern="0" dirty="0">
                <a:solidFill>
                  <a:srgbClr val="000000"/>
                </a:solidFill>
                <a:latin typeface="Arial"/>
              </a:rPr>
              <a:t>	unsigned char A;  	unsigned char B[4];  	unsigned char C;</a:t>
            </a:r>
          </a:p>
          <a:p>
            <a:pPr defTabSz="914400" fontAlgn="base">
              <a:spcBef>
                <a:spcPct val="0"/>
              </a:spcBef>
              <a:spcAft>
                <a:spcPct val="0"/>
              </a:spcAft>
              <a:tabLst>
                <a:tab pos="457200" algn="l"/>
              </a:tabLst>
              <a:defRPr/>
            </a:pPr>
            <a:r>
              <a:rPr lang="en-US" sz="1050" kern="0" dirty="0">
                <a:solidFill>
                  <a:srgbClr val="000000"/>
                </a:solidFill>
                <a:latin typeface="Arial"/>
              </a:rPr>
              <a:t>} </a:t>
            </a:r>
            <a:r>
              <a:rPr lang="en-US" sz="1050" kern="0" dirty="0" err="1">
                <a:solidFill>
                  <a:srgbClr val="000000"/>
                </a:solidFill>
                <a:latin typeface="Arial"/>
              </a:rPr>
              <a:t>my_data</a:t>
            </a:r>
            <a:r>
              <a:rPr lang="en-US" sz="1050" kern="0" dirty="0">
                <a:solidFill>
                  <a:srgbClr val="000000"/>
                </a:solidFill>
                <a:latin typeface="Arial"/>
              </a:rPr>
              <a:t>;</a:t>
            </a:r>
          </a:p>
          <a:p>
            <a:pPr defTabSz="914400" fontAlgn="base">
              <a:spcBef>
                <a:spcPct val="0"/>
              </a:spcBef>
              <a:spcAft>
                <a:spcPct val="0"/>
              </a:spcAft>
              <a:tabLst>
                <a:tab pos="457200" algn="l"/>
              </a:tabLst>
              <a:defRPr/>
            </a:pPr>
            <a:endParaRPr lang="en-US" sz="1050" kern="0" dirty="0">
              <a:solidFill>
                <a:srgbClr val="000000"/>
              </a:solidFill>
              <a:latin typeface="Arial"/>
            </a:endParaRPr>
          </a:p>
          <a:p>
            <a:pPr defTabSz="914400" fontAlgn="base">
              <a:spcBef>
                <a:spcPct val="0"/>
              </a:spcBef>
              <a:spcAft>
                <a:spcPct val="0"/>
              </a:spcAft>
              <a:tabLst>
                <a:tab pos="457200" algn="l"/>
              </a:tabLst>
              <a:defRPr/>
            </a:pPr>
            <a:r>
              <a:rPr lang="en-US" sz="1050" kern="0" dirty="0">
                <a:solidFill>
                  <a:srgbClr val="000000"/>
                </a:solidFill>
                <a:latin typeface="Arial"/>
              </a:rPr>
              <a:t>void </a:t>
            </a:r>
            <a:r>
              <a:rPr lang="en-US" sz="1050" kern="0" dirty="0" err="1">
                <a:solidFill>
                  <a:srgbClr val="000000"/>
                </a:solidFill>
                <a:latin typeface="Arial"/>
              </a:rPr>
              <a:t>foo</a:t>
            </a:r>
            <a:r>
              <a:rPr lang="en-US" sz="1050" kern="0" dirty="0">
                <a:solidFill>
                  <a:srgbClr val="000000"/>
                </a:solidFill>
                <a:latin typeface="Arial"/>
              </a:rPr>
              <a:t>(</a:t>
            </a:r>
            <a:r>
              <a:rPr lang="en-US" sz="1050" kern="0" dirty="0" err="1">
                <a:solidFill>
                  <a:srgbClr val="000000"/>
                </a:solidFill>
                <a:latin typeface="Arial"/>
              </a:rPr>
              <a:t>my_data</a:t>
            </a:r>
            <a:r>
              <a:rPr lang="en-US" sz="1050" kern="0" dirty="0">
                <a:solidFill>
                  <a:srgbClr val="000000"/>
                </a:solidFill>
                <a:latin typeface="Arial"/>
              </a:rPr>
              <a:t> </a:t>
            </a:r>
            <a:r>
              <a:rPr lang="en-US" sz="1050" b="1" kern="0" dirty="0">
                <a:solidFill>
                  <a:srgbClr val="000000"/>
                </a:solidFill>
                <a:latin typeface="Arial"/>
              </a:rPr>
              <a:t>in</a:t>
            </a:r>
            <a:r>
              <a:rPr lang="en-US" sz="1050" kern="0" dirty="0">
                <a:solidFill>
                  <a:srgbClr val="000000"/>
                </a:solidFill>
                <a:latin typeface="Arial"/>
              </a:rPr>
              <a:t>);</a:t>
            </a:r>
          </a:p>
        </p:txBody>
      </p:sp>
      <p:sp>
        <p:nvSpPr>
          <p:cNvPr id="73" name="Rectangle 72">
            <a:extLst>
              <a:ext uri="{FF2B5EF4-FFF2-40B4-BE49-F238E27FC236}">
                <a16:creationId xmlns:a16="http://schemas.microsoft.com/office/drawing/2014/main" id="{4F3AE847-4A47-48BA-92EA-C40F30611A51}"/>
              </a:ext>
            </a:extLst>
          </p:cNvPr>
          <p:cNvSpPr/>
          <p:nvPr/>
        </p:nvSpPr>
        <p:spPr>
          <a:xfrm>
            <a:off x="9321182" y="4716298"/>
            <a:ext cx="1586993" cy="1152150"/>
          </a:xfrm>
          <a:prstGeom prst="rect">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endParaRPr lang="en-US" kern="0" dirty="0">
              <a:solidFill>
                <a:srgbClr val="FFFFFF"/>
              </a:solidFill>
              <a:latin typeface="Arial"/>
            </a:endParaRPr>
          </a:p>
        </p:txBody>
      </p:sp>
      <p:cxnSp>
        <p:nvCxnSpPr>
          <p:cNvPr id="74" name="Straight Arrow Connector 73">
            <a:extLst>
              <a:ext uri="{FF2B5EF4-FFF2-40B4-BE49-F238E27FC236}">
                <a16:creationId xmlns:a16="http://schemas.microsoft.com/office/drawing/2014/main" id="{8AA38EED-8691-4D05-A1DA-42D659A07875}"/>
              </a:ext>
            </a:extLst>
          </p:cNvPr>
          <p:cNvCxnSpPr/>
          <p:nvPr/>
        </p:nvCxnSpPr>
        <p:spPr>
          <a:xfrm>
            <a:off x="8911635" y="5023538"/>
            <a:ext cx="409547" cy="1588"/>
          </a:xfrm>
          <a:prstGeom prst="straightConnector1">
            <a:avLst/>
          </a:prstGeom>
          <a:noFill/>
          <a:ln w="25400" cap="flat" cmpd="sng" algn="ctr">
            <a:solidFill>
              <a:srgbClr val="B20838">
                <a:lumMod val="75000"/>
              </a:srgbClr>
            </a:solidFill>
            <a:prstDash val="solid"/>
            <a:tailEnd type="arrow"/>
          </a:ln>
          <a:effectLst>
            <a:outerShdw blurRad="40000" dist="20000" dir="5400000" rotWithShape="0">
              <a:srgbClr val="000000">
                <a:alpha val="38000"/>
              </a:srgbClr>
            </a:outerShdw>
          </a:effectLst>
        </p:spPr>
      </p:cxnSp>
      <p:sp>
        <p:nvSpPr>
          <p:cNvPr id="75" name="TextBox 74">
            <a:extLst>
              <a:ext uri="{FF2B5EF4-FFF2-40B4-BE49-F238E27FC236}">
                <a16:creationId xmlns:a16="http://schemas.microsoft.com/office/drawing/2014/main" id="{8C6FCF1C-7236-4307-84C2-6A39C3B34F47}"/>
              </a:ext>
            </a:extLst>
          </p:cNvPr>
          <p:cNvSpPr txBox="1"/>
          <p:nvPr/>
        </p:nvSpPr>
        <p:spPr>
          <a:xfrm>
            <a:off x="8438255" y="4870724"/>
            <a:ext cx="510075" cy="276999"/>
          </a:xfrm>
          <a:prstGeom prst="rect">
            <a:avLst/>
          </a:prstGeom>
          <a:noFill/>
        </p:spPr>
        <p:txBody>
          <a:bodyPr wrap="none" rtlCol="0">
            <a:spAutoFit/>
          </a:bodyPr>
          <a:lstStyle/>
          <a:p>
            <a:pPr algn="r" defTabSz="914400" fontAlgn="base">
              <a:spcBef>
                <a:spcPct val="0"/>
              </a:spcBef>
              <a:spcAft>
                <a:spcPct val="0"/>
              </a:spcAft>
              <a:defRPr/>
            </a:pPr>
            <a:r>
              <a:rPr lang="en-US" sz="1200" b="1" kern="0" dirty="0">
                <a:solidFill>
                  <a:srgbClr val="000000"/>
                </a:solidFill>
                <a:latin typeface="Arial"/>
              </a:rPr>
              <a:t>8-bit</a:t>
            </a:r>
          </a:p>
        </p:txBody>
      </p:sp>
      <p:cxnSp>
        <p:nvCxnSpPr>
          <p:cNvPr id="76" name="Straight Arrow Connector 75">
            <a:extLst>
              <a:ext uri="{FF2B5EF4-FFF2-40B4-BE49-F238E27FC236}">
                <a16:creationId xmlns:a16="http://schemas.microsoft.com/office/drawing/2014/main" id="{D5D38881-3E97-43D9-97AF-298C6DE717E4}"/>
              </a:ext>
            </a:extLst>
          </p:cNvPr>
          <p:cNvCxnSpPr/>
          <p:nvPr/>
        </p:nvCxnSpPr>
        <p:spPr>
          <a:xfrm>
            <a:off x="8904216" y="5245000"/>
            <a:ext cx="409547" cy="1588"/>
          </a:xfrm>
          <a:prstGeom prst="straightConnector1">
            <a:avLst/>
          </a:prstGeom>
          <a:noFill/>
          <a:ln w="25400" cap="flat" cmpd="sng" algn="ctr">
            <a:solidFill>
              <a:srgbClr val="B20838">
                <a:lumMod val="75000"/>
              </a:srgbClr>
            </a:solidFill>
            <a:prstDash val="solid"/>
            <a:tailEnd type="arrow"/>
          </a:ln>
          <a:effectLst>
            <a:outerShdw blurRad="40000" dist="20000" dir="5400000" rotWithShape="0">
              <a:srgbClr val="000000">
                <a:alpha val="38000"/>
              </a:srgbClr>
            </a:outerShdw>
          </a:effectLst>
        </p:spPr>
      </p:cxnSp>
      <p:sp>
        <p:nvSpPr>
          <p:cNvPr id="77" name="TextBox 76">
            <a:extLst>
              <a:ext uri="{FF2B5EF4-FFF2-40B4-BE49-F238E27FC236}">
                <a16:creationId xmlns:a16="http://schemas.microsoft.com/office/drawing/2014/main" id="{B6050618-2351-441F-A869-F2658A81F126}"/>
              </a:ext>
            </a:extLst>
          </p:cNvPr>
          <p:cNvSpPr txBox="1"/>
          <p:nvPr/>
        </p:nvSpPr>
        <p:spPr>
          <a:xfrm>
            <a:off x="7988408" y="5100350"/>
            <a:ext cx="952504" cy="276999"/>
          </a:xfrm>
          <a:prstGeom prst="rect">
            <a:avLst/>
          </a:prstGeom>
          <a:noFill/>
        </p:spPr>
        <p:txBody>
          <a:bodyPr wrap="none" rtlCol="0">
            <a:spAutoFit/>
          </a:bodyPr>
          <a:lstStyle/>
          <a:p>
            <a:pPr algn="r" defTabSz="914400" fontAlgn="base">
              <a:spcBef>
                <a:spcPct val="0"/>
              </a:spcBef>
              <a:spcAft>
                <a:spcPct val="0"/>
              </a:spcAft>
              <a:defRPr/>
            </a:pPr>
            <a:r>
              <a:rPr lang="en-US" sz="1200" b="1" kern="0" dirty="0">
                <a:solidFill>
                  <a:srgbClr val="000000"/>
                </a:solidFill>
                <a:latin typeface="Arial"/>
              </a:rPr>
              <a:t>32(4x8)-bit</a:t>
            </a:r>
          </a:p>
        </p:txBody>
      </p:sp>
      <p:cxnSp>
        <p:nvCxnSpPr>
          <p:cNvPr id="78" name="Straight Arrow Connector 77">
            <a:extLst>
              <a:ext uri="{FF2B5EF4-FFF2-40B4-BE49-F238E27FC236}">
                <a16:creationId xmlns:a16="http://schemas.microsoft.com/office/drawing/2014/main" id="{9813BE73-81C6-456B-B131-C4F07AC17CC3}"/>
              </a:ext>
            </a:extLst>
          </p:cNvPr>
          <p:cNvCxnSpPr/>
          <p:nvPr/>
        </p:nvCxnSpPr>
        <p:spPr>
          <a:xfrm>
            <a:off x="8911635" y="5543272"/>
            <a:ext cx="409547" cy="1588"/>
          </a:xfrm>
          <a:prstGeom prst="straightConnector1">
            <a:avLst/>
          </a:prstGeom>
          <a:noFill/>
          <a:ln w="25400" cap="flat" cmpd="sng" algn="ctr">
            <a:solidFill>
              <a:srgbClr val="B20838">
                <a:lumMod val="75000"/>
              </a:srgbClr>
            </a:solidFill>
            <a:prstDash val="solid"/>
            <a:tailEnd type="arrow"/>
          </a:ln>
          <a:effectLst>
            <a:outerShdw blurRad="40000" dist="20000" dir="5400000" rotWithShape="0">
              <a:srgbClr val="000000">
                <a:alpha val="38000"/>
              </a:srgbClr>
            </a:outerShdw>
          </a:effectLst>
        </p:spPr>
      </p:cxnSp>
      <p:sp>
        <p:nvSpPr>
          <p:cNvPr id="79" name="TextBox 78">
            <a:extLst>
              <a:ext uri="{FF2B5EF4-FFF2-40B4-BE49-F238E27FC236}">
                <a16:creationId xmlns:a16="http://schemas.microsoft.com/office/drawing/2014/main" id="{BF3FCBA2-D976-4E6A-8D0D-99D172B1806C}"/>
              </a:ext>
            </a:extLst>
          </p:cNvPr>
          <p:cNvSpPr txBox="1"/>
          <p:nvPr/>
        </p:nvSpPr>
        <p:spPr>
          <a:xfrm>
            <a:off x="8438255" y="5390458"/>
            <a:ext cx="510075" cy="276999"/>
          </a:xfrm>
          <a:prstGeom prst="rect">
            <a:avLst/>
          </a:prstGeom>
          <a:noFill/>
        </p:spPr>
        <p:txBody>
          <a:bodyPr wrap="none" rtlCol="0">
            <a:spAutoFit/>
          </a:bodyPr>
          <a:lstStyle/>
          <a:p>
            <a:pPr algn="r" defTabSz="914400" fontAlgn="base">
              <a:spcBef>
                <a:spcPct val="0"/>
              </a:spcBef>
              <a:spcAft>
                <a:spcPct val="0"/>
              </a:spcAft>
              <a:defRPr/>
            </a:pPr>
            <a:r>
              <a:rPr lang="en-US" sz="1200" b="1" kern="0" dirty="0">
                <a:solidFill>
                  <a:srgbClr val="000000"/>
                </a:solidFill>
                <a:latin typeface="Arial"/>
              </a:rPr>
              <a:t>8-bit</a:t>
            </a:r>
          </a:p>
        </p:txBody>
      </p:sp>
      <p:sp>
        <p:nvSpPr>
          <p:cNvPr id="80" name="Down Arrow 54">
            <a:extLst>
              <a:ext uri="{FF2B5EF4-FFF2-40B4-BE49-F238E27FC236}">
                <a16:creationId xmlns:a16="http://schemas.microsoft.com/office/drawing/2014/main" id="{6D6B32D4-207B-4956-94A7-66C34C01FA76}"/>
              </a:ext>
            </a:extLst>
          </p:cNvPr>
          <p:cNvSpPr/>
          <p:nvPr/>
        </p:nvSpPr>
        <p:spPr>
          <a:xfrm rot="16200000">
            <a:off x="5456024" y="4652438"/>
            <a:ext cx="460860" cy="1126253"/>
          </a:xfrm>
          <a:prstGeom prst="downArrow">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endParaRPr lang="en-US" kern="0">
              <a:solidFill>
                <a:srgbClr val="FFFFFF"/>
              </a:solidFill>
              <a:latin typeface="Arial"/>
            </a:endParaRPr>
          </a:p>
        </p:txBody>
      </p:sp>
      <p:sp>
        <p:nvSpPr>
          <p:cNvPr id="81" name="TextBox 80">
            <a:extLst>
              <a:ext uri="{FF2B5EF4-FFF2-40B4-BE49-F238E27FC236}">
                <a16:creationId xmlns:a16="http://schemas.microsoft.com/office/drawing/2014/main" id="{60550930-D6E5-4851-88CE-5A7C996D59F2}"/>
              </a:ext>
            </a:extLst>
          </p:cNvPr>
          <p:cNvSpPr txBox="1"/>
          <p:nvPr/>
        </p:nvSpPr>
        <p:spPr>
          <a:xfrm>
            <a:off x="9934342" y="4733701"/>
            <a:ext cx="425116" cy="276999"/>
          </a:xfrm>
          <a:prstGeom prst="rect">
            <a:avLst/>
          </a:prstGeom>
          <a:noFill/>
        </p:spPr>
        <p:txBody>
          <a:bodyPr wrap="none" rtlCol="0">
            <a:spAutoFit/>
          </a:bodyPr>
          <a:lstStyle/>
          <a:p>
            <a:pPr algn="r" defTabSz="914400" fontAlgn="base">
              <a:spcBef>
                <a:spcPct val="0"/>
              </a:spcBef>
              <a:spcAft>
                <a:spcPct val="0"/>
              </a:spcAft>
              <a:defRPr/>
            </a:pPr>
            <a:r>
              <a:rPr lang="en-US" sz="1200" b="1" kern="0" dirty="0" err="1">
                <a:solidFill>
                  <a:srgbClr val="000000"/>
                </a:solidFill>
                <a:latin typeface="Arial"/>
              </a:rPr>
              <a:t>foo</a:t>
            </a:r>
            <a:endParaRPr lang="en-US" sz="1200" b="1" kern="0" dirty="0">
              <a:solidFill>
                <a:srgbClr val="000000"/>
              </a:solidFill>
              <a:latin typeface="Arial"/>
            </a:endParaRPr>
          </a:p>
        </p:txBody>
      </p:sp>
      <p:sp>
        <p:nvSpPr>
          <p:cNvPr id="82" name="TextBox 81">
            <a:extLst>
              <a:ext uri="{FF2B5EF4-FFF2-40B4-BE49-F238E27FC236}">
                <a16:creationId xmlns:a16="http://schemas.microsoft.com/office/drawing/2014/main" id="{D33A2240-6666-4B78-994F-B6D6617F6392}"/>
              </a:ext>
            </a:extLst>
          </p:cNvPr>
          <p:cNvSpPr txBox="1"/>
          <p:nvPr/>
        </p:nvSpPr>
        <p:spPr>
          <a:xfrm>
            <a:off x="9319150" y="4886101"/>
            <a:ext cx="295273" cy="276999"/>
          </a:xfrm>
          <a:prstGeom prst="rect">
            <a:avLst/>
          </a:prstGeom>
          <a:noFill/>
        </p:spPr>
        <p:txBody>
          <a:bodyPr wrap="none" rtlCol="0">
            <a:spAutoFit/>
          </a:bodyPr>
          <a:lstStyle/>
          <a:p>
            <a:pPr algn="ctr" defTabSz="914400" fontAlgn="base">
              <a:spcBef>
                <a:spcPct val="0"/>
              </a:spcBef>
              <a:spcAft>
                <a:spcPct val="0"/>
              </a:spcAft>
              <a:defRPr/>
            </a:pPr>
            <a:r>
              <a:rPr lang="en-US" sz="1200" b="1" kern="0" dirty="0">
                <a:solidFill>
                  <a:srgbClr val="000000"/>
                </a:solidFill>
                <a:latin typeface="Arial"/>
              </a:rPr>
              <a:t>A</a:t>
            </a:r>
          </a:p>
        </p:txBody>
      </p:sp>
      <p:sp>
        <p:nvSpPr>
          <p:cNvPr id="83" name="TextBox 82">
            <a:extLst>
              <a:ext uri="{FF2B5EF4-FFF2-40B4-BE49-F238E27FC236}">
                <a16:creationId xmlns:a16="http://schemas.microsoft.com/office/drawing/2014/main" id="{6A36ED0A-2632-4347-A5F3-C223157B2D92}"/>
              </a:ext>
            </a:extLst>
          </p:cNvPr>
          <p:cNvSpPr txBox="1"/>
          <p:nvPr/>
        </p:nvSpPr>
        <p:spPr>
          <a:xfrm>
            <a:off x="9317813" y="5156156"/>
            <a:ext cx="287258" cy="276999"/>
          </a:xfrm>
          <a:prstGeom prst="rect">
            <a:avLst/>
          </a:prstGeom>
          <a:noFill/>
        </p:spPr>
        <p:txBody>
          <a:bodyPr wrap="none" rtlCol="0">
            <a:spAutoFit/>
          </a:bodyPr>
          <a:lstStyle/>
          <a:p>
            <a:pPr algn="ctr" defTabSz="914400" fontAlgn="base">
              <a:spcBef>
                <a:spcPct val="0"/>
              </a:spcBef>
              <a:spcAft>
                <a:spcPct val="0"/>
              </a:spcAft>
              <a:defRPr/>
            </a:pPr>
            <a:r>
              <a:rPr lang="en-US" sz="1200" kern="0" dirty="0">
                <a:solidFill>
                  <a:srgbClr val="000000"/>
                </a:solidFill>
                <a:latin typeface="Arial"/>
              </a:rPr>
              <a:t>B</a:t>
            </a:r>
          </a:p>
        </p:txBody>
      </p:sp>
      <p:sp>
        <p:nvSpPr>
          <p:cNvPr id="84" name="TextBox 83">
            <a:extLst>
              <a:ext uri="{FF2B5EF4-FFF2-40B4-BE49-F238E27FC236}">
                <a16:creationId xmlns:a16="http://schemas.microsoft.com/office/drawing/2014/main" id="{35B6ED99-F02D-47A7-BD1B-0AF4CB8536F0}"/>
              </a:ext>
            </a:extLst>
          </p:cNvPr>
          <p:cNvSpPr txBox="1"/>
          <p:nvPr/>
        </p:nvSpPr>
        <p:spPr>
          <a:xfrm>
            <a:off x="9319149" y="5416827"/>
            <a:ext cx="295273" cy="276999"/>
          </a:xfrm>
          <a:prstGeom prst="rect">
            <a:avLst/>
          </a:prstGeom>
          <a:noFill/>
        </p:spPr>
        <p:txBody>
          <a:bodyPr wrap="none" rtlCol="0">
            <a:spAutoFit/>
          </a:bodyPr>
          <a:lstStyle/>
          <a:p>
            <a:pPr algn="ctr" defTabSz="914400" fontAlgn="base">
              <a:spcBef>
                <a:spcPct val="0"/>
              </a:spcBef>
              <a:spcAft>
                <a:spcPct val="0"/>
              </a:spcAft>
              <a:defRPr/>
            </a:pPr>
            <a:r>
              <a:rPr lang="en-US" sz="1200" kern="0" dirty="0">
                <a:solidFill>
                  <a:srgbClr val="000000"/>
                </a:solidFill>
                <a:latin typeface="Arial"/>
              </a:rPr>
              <a:t>C</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Struct Access</a:t>
            </a:r>
          </a:p>
        </p:txBody>
      </p:sp>
      <p:sp>
        <p:nvSpPr>
          <p:cNvPr id="3" name="Content Placeholder 2"/>
          <p:cNvSpPr>
            <a:spLocks noGrp="1"/>
          </p:cNvSpPr>
          <p:nvPr>
            <p:ph idx="1"/>
          </p:nvPr>
        </p:nvSpPr>
        <p:spPr>
          <a:xfrm>
            <a:off x="579121" y="1280160"/>
            <a:ext cx="11033760" cy="4632960"/>
          </a:xfrm>
        </p:spPr>
        <p:txBody>
          <a:bodyPr/>
          <a:lstStyle/>
          <a:p>
            <a:r>
              <a:rPr lang="en-US" sz="2000" dirty="0"/>
              <a:t>Accessing a struct: pass-by-reference</a:t>
            </a:r>
          </a:p>
          <a:p>
            <a:endParaRPr lang="en-US" sz="2000" dirty="0"/>
          </a:p>
          <a:p>
            <a:endParaRPr lang="en-US" sz="2000" dirty="0"/>
          </a:p>
          <a:p>
            <a:endParaRPr lang="en-US" sz="2000" dirty="0"/>
          </a:p>
          <a:p>
            <a:endParaRPr lang="en-US" sz="2000" dirty="0"/>
          </a:p>
          <a:p>
            <a:r>
              <a:rPr lang="en-US" sz="2000" dirty="0"/>
              <a:t>Accessing a struct: pass-by-value</a:t>
            </a:r>
          </a:p>
          <a:p>
            <a:endParaRPr lang="en-US" sz="2000" dirty="0"/>
          </a:p>
        </p:txBody>
      </p:sp>
      <p:sp>
        <p:nvSpPr>
          <p:cNvPr id="12" name="Slide Number Placeholder 5">
            <a:extLst>
              <a:ext uri="{FF2B5EF4-FFF2-40B4-BE49-F238E27FC236}">
                <a16:creationId xmlns:a16="http://schemas.microsoft.com/office/drawing/2014/main" id="{DE4CB92B-4624-47EE-8FCC-BD8D06FFE897}"/>
              </a:ext>
            </a:extLst>
          </p:cNvPr>
          <p:cNvSpPr>
            <a:spLocks noGrp="1"/>
          </p:cNvSpPr>
          <p:nvPr>
            <p:ph type="sldNum" sz="quarter" idx="4"/>
          </p:nvPr>
        </p:nvSpPr>
        <p:spPr/>
        <p:txBody>
          <a:bodyPr/>
          <a:lstStyle/>
          <a:p>
            <a:pPr>
              <a:defRPr/>
            </a:pPr>
            <a:r>
              <a:rPr lang="en-US" dirty="0"/>
              <a:t>Coding Considerations 23- </a:t>
            </a:r>
            <a:fld id="{060BD193-E118-4B16-863C-C8C12C675E3E}" type="slidenum">
              <a:rPr lang="en-US" smtClean="0"/>
              <a:pPr>
                <a:defRPr/>
              </a:pPr>
              <a:t>36</a:t>
            </a:fld>
            <a:endParaRPr lang="en-US" dirty="0"/>
          </a:p>
        </p:txBody>
      </p:sp>
      <p:sp>
        <p:nvSpPr>
          <p:cNvPr id="8" name="TextBox 7">
            <a:extLst>
              <a:ext uri="{FF2B5EF4-FFF2-40B4-BE49-F238E27FC236}">
                <a16:creationId xmlns:a16="http://schemas.microsoft.com/office/drawing/2014/main" id="{4A0C48D5-D5AD-4618-9FA8-9C05D81FD9EE}"/>
              </a:ext>
            </a:extLst>
          </p:cNvPr>
          <p:cNvSpPr txBox="1"/>
          <p:nvPr/>
        </p:nvSpPr>
        <p:spPr>
          <a:xfrm>
            <a:off x="3782537" y="4250737"/>
            <a:ext cx="4812175" cy="2192908"/>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tabLst>
                <a:tab pos="457200" algn="l"/>
                <a:tab pos="914400" algn="l"/>
              </a:tabLst>
              <a:defRPr/>
            </a:pPr>
            <a:r>
              <a:rPr lang="en-US" sz="1050" kern="0" dirty="0" err="1">
                <a:solidFill>
                  <a:srgbClr val="000000"/>
                </a:solidFill>
                <a:latin typeface="Arial"/>
              </a:rPr>
              <a:t>my_data</a:t>
            </a:r>
            <a:r>
              <a:rPr lang="en-US" sz="1050" kern="0" dirty="0">
                <a:solidFill>
                  <a:srgbClr val="000000"/>
                </a:solidFill>
                <a:latin typeface="Arial"/>
              </a:rPr>
              <a:t> </a:t>
            </a:r>
            <a:r>
              <a:rPr lang="en-US" sz="1050" kern="0" dirty="0" err="1">
                <a:solidFill>
                  <a:srgbClr val="000000"/>
                </a:solidFill>
                <a:latin typeface="Arial"/>
              </a:rPr>
              <a:t>foo</a:t>
            </a:r>
            <a:r>
              <a:rPr lang="en-US" sz="1050" kern="0" dirty="0">
                <a:solidFill>
                  <a:srgbClr val="000000"/>
                </a:solidFill>
                <a:latin typeface="Arial"/>
              </a:rPr>
              <a:t>(</a:t>
            </a:r>
            <a:r>
              <a:rPr lang="en-US" sz="1050" kern="0" dirty="0" err="1">
                <a:solidFill>
                  <a:srgbClr val="000000"/>
                </a:solidFill>
                <a:latin typeface="Arial"/>
              </a:rPr>
              <a:t>my_data</a:t>
            </a:r>
            <a:r>
              <a:rPr lang="en-US" sz="1050" kern="0" dirty="0">
                <a:solidFill>
                  <a:srgbClr val="000000"/>
                </a:solidFill>
                <a:latin typeface="Arial"/>
              </a:rPr>
              <a:t> </a:t>
            </a:r>
            <a:r>
              <a:rPr lang="en-US" sz="1050" kern="0" dirty="0" err="1">
                <a:solidFill>
                  <a:srgbClr val="000000"/>
                </a:solidFill>
                <a:latin typeface="Arial"/>
              </a:rPr>
              <a:t>a_in</a:t>
            </a:r>
            <a:r>
              <a:rPr lang="en-US" sz="1050" kern="0" dirty="0">
                <a:solidFill>
                  <a:srgbClr val="000000"/>
                </a:solidFill>
                <a:latin typeface="Arial"/>
              </a:rPr>
              <a:t>, </a:t>
            </a:r>
            <a:r>
              <a:rPr lang="en-US" sz="1050" kern="0" dirty="0" err="1">
                <a:solidFill>
                  <a:srgbClr val="000000"/>
                </a:solidFill>
                <a:latin typeface="Arial"/>
              </a:rPr>
              <a:t>my_data</a:t>
            </a:r>
            <a:r>
              <a:rPr lang="en-US" sz="1050" kern="0" dirty="0">
                <a:solidFill>
                  <a:srgbClr val="000000"/>
                </a:solidFill>
                <a:latin typeface="Arial"/>
              </a:rPr>
              <a:t> </a:t>
            </a:r>
            <a:r>
              <a:rPr lang="en-US" sz="1050" kern="0" dirty="0" err="1">
                <a:solidFill>
                  <a:srgbClr val="000000"/>
                </a:solidFill>
                <a:latin typeface="Arial"/>
              </a:rPr>
              <a:t>b_out</a:t>
            </a:r>
            <a:r>
              <a:rPr lang="en-US" sz="1050" kern="0" dirty="0">
                <a:solidFill>
                  <a:srgbClr val="000000"/>
                </a:solidFill>
                <a:latin typeface="Arial"/>
              </a:rPr>
              <a:t>) {  </a:t>
            </a:r>
          </a:p>
          <a:p>
            <a:pPr defTabSz="914400" fontAlgn="base">
              <a:spcBef>
                <a:spcPct val="0"/>
              </a:spcBef>
              <a:spcAft>
                <a:spcPct val="0"/>
              </a:spcAft>
              <a:tabLst>
                <a:tab pos="457200" algn="l"/>
                <a:tab pos="914400" algn="l"/>
              </a:tabLst>
              <a:defRPr/>
            </a:pPr>
            <a:r>
              <a:rPr lang="en-US" sz="1050" kern="0" dirty="0">
                <a:solidFill>
                  <a:srgbClr val="000000"/>
                </a:solidFill>
                <a:latin typeface="Arial"/>
              </a:rPr>
              <a:t>	int </a:t>
            </a:r>
            <a:r>
              <a:rPr lang="en-US" sz="1050" kern="0" dirty="0" err="1">
                <a:solidFill>
                  <a:srgbClr val="000000"/>
                </a:solidFill>
                <a:latin typeface="Arial"/>
              </a:rPr>
              <a:t>i</a:t>
            </a:r>
            <a:r>
              <a:rPr lang="en-US" sz="1050" kern="0" dirty="0">
                <a:solidFill>
                  <a:srgbClr val="000000"/>
                </a:solidFill>
                <a:latin typeface="Arial"/>
              </a:rPr>
              <a:t>;  </a:t>
            </a:r>
          </a:p>
          <a:p>
            <a:pPr defTabSz="914400" fontAlgn="base">
              <a:spcBef>
                <a:spcPct val="0"/>
              </a:spcBef>
              <a:spcAft>
                <a:spcPct val="0"/>
              </a:spcAft>
              <a:tabLst>
                <a:tab pos="457200" algn="l"/>
                <a:tab pos="914400" algn="l"/>
              </a:tabLst>
              <a:defRPr/>
            </a:pPr>
            <a:endParaRPr lang="en-US" sz="1050" kern="0" dirty="0">
              <a:solidFill>
                <a:srgbClr val="000000"/>
              </a:solidFill>
              <a:latin typeface="Arial"/>
            </a:endParaRPr>
          </a:p>
          <a:p>
            <a:pPr defTabSz="914400" fontAlgn="base">
              <a:spcBef>
                <a:spcPct val="0"/>
              </a:spcBef>
              <a:spcAft>
                <a:spcPct val="0"/>
              </a:spcAft>
              <a:tabLst>
                <a:tab pos="457200" algn="l"/>
                <a:tab pos="914400" algn="l"/>
              </a:tabLst>
              <a:defRPr/>
            </a:pPr>
            <a:r>
              <a:rPr lang="en-US" sz="1050" kern="0" dirty="0">
                <a:solidFill>
                  <a:srgbClr val="000000"/>
                </a:solidFill>
                <a:latin typeface="Arial"/>
              </a:rPr>
              <a:t>	</a:t>
            </a:r>
            <a:r>
              <a:rPr lang="en-US" sz="1050" kern="0" dirty="0" err="1">
                <a:solidFill>
                  <a:srgbClr val="000000"/>
                </a:solidFill>
                <a:latin typeface="Arial"/>
              </a:rPr>
              <a:t>b_out.A</a:t>
            </a:r>
            <a:r>
              <a:rPr lang="en-US" sz="1050" kern="0" dirty="0">
                <a:solidFill>
                  <a:srgbClr val="000000"/>
                </a:solidFill>
                <a:latin typeface="Arial"/>
              </a:rPr>
              <a:t> = a_in.A+1;  </a:t>
            </a:r>
          </a:p>
          <a:p>
            <a:pPr defTabSz="914400" fontAlgn="base">
              <a:spcBef>
                <a:spcPct val="0"/>
              </a:spcBef>
              <a:spcAft>
                <a:spcPct val="0"/>
              </a:spcAft>
              <a:tabLst>
                <a:tab pos="457200" algn="l"/>
                <a:tab pos="914400" algn="l"/>
              </a:tabLst>
              <a:defRPr/>
            </a:pPr>
            <a:endParaRPr lang="en-US" sz="1050" kern="0" dirty="0">
              <a:solidFill>
                <a:srgbClr val="000000"/>
              </a:solidFill>
              <a:latin typeface="Arial"/>
            </a:endParaRPr>
          </a:p>
          <a:p>
            <a:pPr defTabSz="914400" fontAlgn="base">
              <a:spcBef>
                <a:spcPct val="0"/>
              </a:spcBef>
              <a:spcAft>
                <a:spcPct val="0"/>
              </a:spcAft>
              <a:tabLst>
                <a:tab pos="457200" algn="l"/>
                <a:tab pos="914400" algn="l"/>
              </a:tabLst>
              <a:defRPr/>
            </a:pPr>
            <a:r>
              <a:rPr lang="en-US" sz="1050" kern="0" dirty="0">
                <a:solidFill>
                  <a:srgbClr val="000000"/>
                </a:solidFill>
                <a:latin typeface="Arial"/>
              </a:rPr>
              <a:t>	for(</a:t>
            </a:r>
            <a:r>
              <a:rPr lang="en-US" sz="1050" kern="0" dirty="0" err="1">
                <a:solidFill>
                  <a:srgbClr val="000000"/>
                </a:solidFill>
                <a:latin typeface="Arial"/>
              </a:rPr>
              <a:t>i</a:t>
            </a:r>
            <a:r>
              <a:rPr lang="en-US" sz="1050" kern="0" dirty="0">
                <a:solidFill>
                  <a:srgbClr val="000000"/>
                </a:solidFill>
                <a:latin typeface="Arial"/>
              </a:rPr>
              <a:t>=0; </a:t>
            </a:r>
            <a:r>
              <a:rPr lang="en-US" sz="1050" kern="0" dirty="0" err="1">
                <a:solidFill>
                  <a:srgbClr val="000000"/>
                </a:solidFill>
                <a:latin typeface="Arial"/>
              </a:rPr>
              <a:t>i</a:t>
            </a:r>
            <a:r>
              <a:rPr lang="en-US" sz="1050" kern="0" dirty="0">
                <a:solidFill>
                  <a:srgbClr val="000000"/>
                </a:solidFill>
                <a:latin typeface="Arial"/>
              </a:rPr>
              <a:t> &lt;= N-1; </a:t>
            </a:r>
            <a:r>
              <a:rPr lang="en-US" sz="1050" kern="0" dirty="0" err="1">
                <a:solidFill>
                  <a:srgbClr val="000000"/>
                </a:solidFill>
                <a:latin typeface="Arial"/>
              </a:rPr>
              <a:t>i</a:t>
            </a:r>
            <a:r>
              <a:rPr lang="en-US" sz="1050" kern="0" dirty="0">
                <a:solidFill>
                  <a:srgbClr val="000000"/>
                </a:solidFill>
                <a:latin typeface="Arial"/>
              </a:rPr>
              <a:t>++) {    </a:t>
            </a:r>
          </a:p>
          <a:p>
            <a:pPr defTabSz="914400" fontAlgn="base">
              <a:spcBef>
                <a:spcPct val="0"/>
              </a:spcBef>
              <a:spcAft>
                <a:spcPct val="0"/>
              </a:spcAft>
              <a:tabLst>
                <a:tab pos="457200" algn="l"/>
                <a:tab pos="914400" algn="l"/>
              </a:tabLst>
              <a:defRPr/>
            </a:pPr>
            <a:r>
              <a:rPr lang="en-US" sz="1050" kern="0" dirty="0">
                <a:solidFill>
                  <a:srgbClr val="000000"/>
                </a:solidFill>
                <a:latin typeface="Arial"/>
              </a:rPr>
              <a:t>		</a:t>
            </a:r>
            <a:r>
              <a:rPr lang="en-US" sz="1050" kern="0" dirty="0" err="1">
                <a:solidFill>
                  <a:srgbClr val="000000"/>
                </a:solidFill>
                <a:latin typeface="Arial"/>
              </a:rPr>
              <a:t>b_out.B</a:t>
            </a:r>
            <a:r>
              <a:rPr lang="en-US" sz="1050" kern="0" dirty="0">
                <a:solidFill>
                  <a:srgbClr val="000000"/>
                </a:solidFill>
                <a:latin typeface="Arial"/>
              </a:rPr>
              <a:t>[</a:t>
            </a:r>
            <a:r>
              <a:rPr lang="en-US" sz="1050" kern="0" dirty="0" err="1">
                <a:solidFill>
                  <a:srgbClr val="000000"/>
                </a:solidFill>
                <a:latin typeface="Arial"/>
              </a:rPr>
              <a:t>i</a:t>
            </a:r>
            <a:r>
              <a:rPr lang="en-US" sz="1050" kern="0" dirty="0">
                <a:solidFill>
                  <a:srgbClr val="000000"/>
                </a:solidFill>
                <a:latin typeface="Arial"/>
              </a:rPr>
              <a:t>] = </a:t>
            </a:r>
            <a:r>
              <a:rPr lang="en-US" sz="1050" kern="0" dirty="0" err="1">
                <a:solidFill>
                  <a:srgbClr val="000000"/>
                </a:solidFill>
                <a:latin typeface="Arial"/>
              </a:rPr>
              <a:t>a_in.B</a:t>
            </a:r>
            <a:r>
              <a:rPr lang="en-US" sz="1050" kern="0" dirty="0">
                <a:solidFill>
                  <a:srgbClr val="000000"/>
                </a:solidFill>
                <a:latin typeface="Arial"/>
              </a:rPr>
              <a:t>[</a:t>
            </a:r>
            <a:r>
              <a:rPr lang="en-US" sz="1050" kern="0" dirty="0" err="1">
                <a:solidFill>
                  <a:srgbClr val="000000"/>
                </a:solidFill>
                <a:latin typeface="Arial"/>
              </a:rPr>
              <a:t>i</a:t>
            </a:r>
            <a:r>
              <a:rPr lang="en-US" sz="1050" kern="0" dirty="0">
                <a:solidFill>
                  <a:srgbClr val="000000"/>
                </a:solidFill>
                <a:latin typeface="Arial"/>
              </a:rPr>
              <a:t>]+1;  </a:t>
            </a:r>
          </a:p>
          <a:p>
            <a:pPr defTabSz="914400" fontAlgn="base">
              <a:spcBef>
                <a:spcPct val="0"/>
              </a:spcBef>
              <a:spcAft>
                <a:spcPct val="0"/>
              </a:spcAft>
              <a:tabLst>
                <a:tab pos="457200" algn="l"/>
                <a:tab pos="914400" algn="l"/>
              </a:tabLst>
              <a:defRPr/>
            </a:pPr>
            <a:r>
              <a:rPr lang="en-US" sz="1050" kern="0" dirty="0">
                <a:solidFill>
                  <a:srgbClr val="000000"/>
                </a:solidFill>
                <a:latin typeface="Arial"/>
              </a:rPr>
              <a:t>	}  </a:t>
            </a:r>
          </a:p>
          <a:p>
            <a:pPr defTabSz="914400" fontAlgn="base">
              <a:spcBef>
                <a:spcPct val="0"/>
              </a:spcBef>
              <a:spcAft>
                <a:spcPct val="0"/>
              </a:spcAft>
              <a:tabLst>
                <a:tab pos="457200" algn="l"/>
                <a:tab pos="914400" algn="l"/>
              </a:tabLst>
              <a:defRPr/>
            </a:pPr>
            <a:endParaRPr lang="en-US" sz="1050" kern="0" dirty="0">
              <a:solidFill>
                <a:srgbClr val="000000"/>
              </a:solidFill>
              <a:latin typeface="Arial"/>
            </a:endParaRPr>
          </a:p>
          <a:p>
            <a:pPr defTabSz="914400" fontAlgn="base">
              <a:spcBef>
                <a:spcPct val="0"/>
              </a:spcBef>
              <a:spcAft>
                <a:spcPct val="0"/>
              </a:spcAft>
              <a:tabLst>
                <a:tab pos="457200" algn="l"/>
                <a:tab pos="914400" algn="l"/>
              </a:tabLst>
              <a:defRPr/>
            </a:pPr>
            <a:r>
              <a:rPr lang="en-US" sz="1050" kern="0" dirty="0">
                <a:solidFill>
                  <a:srgbClr val="000000"/>
                </a:solidFill>
                <a:latin typeface="Arial"/>
              </a:rPr>
              <a:t>	</a:t>
            </a:r>
            <a:r>
              <a:rPr lang="en-US" sz="1050" kern="0" dirty="0" err="1">
                <a:solidFill>
                  <a:srgbClr val="000000"/>
                </a:solidFill>
                <a:latin typeface="Arial"/>
              </a:rPr>
              <a:t>b_out.C</a:t>
            </a:r>
            <a:r>
              <a:rPr lang="en-US" sz="1050" kern="0" dirty="0">
                <a:solidFill>
                  <a:srgbClr val="000000"/>
                </a:solidFill>
                <a:latin typeface="Arial"/>
              </a:rPr>
              <a:t> = a_in.C+1;  </a:t>
            </a:r>
          </a:p>
          <a:p>
            <a:pPr defTabSz="914400" fontAlgn="base">
              <a:spcBef>
                <a:spcPct val="0"/>
              </a:spcBef>
              <a:spcAft>
                <a:spcPct val="0"/>
              </a:spcAft>
              <a:tabLst>
                <a:tab pos="457200" algn="l"/>
                <a:tab pos="914400" algn="l"/>
              </a:tabLst>
              <a:defRPr/>
            </a:pPr>
            <a:r>
              <a:rPr lang="en-US" sz="1050" kern="0" dirty="0">
                <a:solidFill>
                  <a:srgbClr val="000000"/>
                </a:solidFill>
                <a:latin typeface="Arial"/>
              </a:rPr>
              <a:t>	</a:t>
            </a:r>
          </a:p>
          <a:p>
            <a:pPr defTabSz="914400" fontAlgn="base">
              <a:spcBef>
                <a:spcPct val="0"/>
              </a:spcBef>
              <a:spcAft>
                <a:spcPct val="0"/>
              </a:spcAft>
              <a:tabLst>
                <a:tab pos="457200" algn="l"/>
                <a:tab pos="914400" algn="l"/>
              </a:tabLst>
              <a:defRPr/>
            </a:pPr>
            <a:r>
              <a:rPr lang="en-US" sz="1050" kern="0" dirty="0">
                <a:solidFill>
                  <a:srgbClr val="000000"/>
                </a:solidFill>
                <a:latin typeface="Arial"/>
              </a:rPr>
              <a:t>	return </a:t>
            </a:r>
            <a:r>
              <a:rPr lang="en-US" sz="1050" kern="0" dirty="0" err="1">
                <a:solidFill>
                  <a:srgbClr val="000000"/>
                </a:solidFill>
                <a:latin typeface="Arial"/>
              </a:rPr>
              <a:t>b_out</a:t>
            </a:r>
            <a:r>
              <a:rPr lang="en-US" sz="1050" kern="0" dirty="0">
                <a:solidFill>
                  <a:srgbClr val="000000"/>
                </a:solidFill>
                <a:latin typeface="Arial"/>
              </a:rPr>
              <a:t>;</a:t>
            </a:r>
          </a:p>
          <a:p>
            <a:pPr defTabSz="914400" fontAlgn="base">
              <a:spcBef>
                <a:spcPct val="0"/>
              </a:spcBef>
              <a:spcAft>
                <a:spcPct val="0"/>
              </a:spcAft>
              <a:tabLst>
                <a:tab pos="457200" algn="l"/>
                <a:tab pos="914400" algn="l"/>
              </a:tabLst>
              <a:defRPr/>
            </a:pPr>
            <a:r>
              <a:rPr lang="en-US" sz="1050" kern="0" dirty="0">
                <a:solidFill>
                  <a:srgbClr val="000000"/>
                </a:solidFill>
                <a:latin typeface="Arial"/>
              </a:rPr>
              <a:t>}</a:t>
            </a:r>
          </a:p>
        </p:txBody>
      </p:sp>
      <p:sp>
        <p:nvSpPr>
          <p:cNvPr id="9" name="TextBox 8">
            <a:extLst>
              <a:ext uri="{FF2B5EF4-FFF2-40B4-BE49-F238E27FC236}">
                <a16:creationId xmlns:a16="http://schemas.microsoft.com/office/drawing/2014/main" id="{B7FD609E-D49B-4396-91CD-D35C2D2F2EA4}"/>
              </a:ext>
            </a:extLst>
          </p:cNvPr>
          <p:cNvSpPr txBox="1"/>
          <p:nvPr/>
        </p:nvSpPr>
        <p:spPr>
          <a:xfrm>
            <a:off x="1335022" y="1842061"/>
            <a:ext cx="4812173" cy="1869743"/>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tabLst>
                <a:tab pos="457200" algn="l"/>
                <a:tab pos="914400" algn="l"/>
              </a:tabLst>
              <a:defRPr/>
            </a:pPr>
            <a:r>
              <a:rPr lang="en-US" sz="1050" kern="0" dirty="0">
                <a:solidFill>
                  <a:srgbClr val="000000"/>
                </a:solidFill>
                <a:latin typeface="Arial"/>
              </a:rPr>
              <a:t>void </a:t>
            </a:r>
            <a:r>
              <a:rPr lang="en-US" sz="1050" kern="0" dirty="0" err="1">
                <a:solidFill>
                  <a:srgbClr val="000000"/>
                </a:solidFill>
                <a:latin typeface="Arial"/>
              </a:rPr>
              <a:t>foo</a:t>
            </a:r>
            <a:r>
              <a:rPr lang="en-US" sz="1050" kern="0" dirty="0">
                <a:solidFill>
                  <a:srgbClr val="000000"/>
                </a:solidFill>
                <a:latin typeface="Arial"/>
              </a:rPr>
              <a:t>(</a:t>
            </a:r>
            <a:r>
              <a:rPr lang="en-US" sz="1050" kern="0" dirty="0" err="1">
                <a:solidFill>
                  <a:srgbClr val="000000"/>
                </a:solidFill>
                <a:latin typeface="Arial"/>
              </a:rPr>
              <a:t>my_data</a:t>
            </a:r>
            <a:r>
              <a:rPr lang="en-US" sz="1050" kern="0" dirty="0">
                <a:solidFill>
                  <a:srgbClr val="000000"/>
                </a:solidFill>
                <a:latin typeface="Arial"/>
              </a:rPr>
              <a:t> *</a:t>
            </a:r>
            <a:r>
              <a:rPr lang="en-US" sz="1050" kern="0" dirty="0" err="1">
                <a:solidFill>
                  <a:srgbClr val="000000"/>
                </a:solidFill>
                <a:latin typeface="Arial"/>
              </a:rPr>
              <a:t>a_in</a:t>
            </a:r>
            <a:r>
              <a:rPr lang="en-US" sz="1050" kern="0" dirty="0">
                <a:solidFill>
                  <a:srgbClr val="000000"/>
                </a:solidFill>
                <a:latin typeface="Arial"/>
              </a:rPr>
              <a:t>, </a:t>
            </a:r>
            <a:r>
              <a:rPr lang="en-US" sz="1050" kern="0" dirty="0" err="1">
                <a:solidFill>
                  <a:srgbClr val="000000"/>
                </a:solidFill>
                <a:latin typeface="Arial"/>
              </a:rPr>
              <a:t>my_data</a:t>
            </a:r>
            <a:r>
              <a:rPr lang="en-US" sz="1050" kern="0" dirty="0">
                <a:solidFill>
                  <a:srgbClr val="000000"/>
                </a:solidFill>
                <a:latin typeface="Arial"/>
              </a:rPr>
              <a:t> *</a:t>
            </a:r>
            <a:r>
              <a:rPr lang="en-US" sz="1050" kern="0" dirty="0" err="1">
                <a:solidFill>
                  <a:srgbClr val="000000"/>
                </a:solidFill>
                <a:latin typeface="Arial"/>
              </a:rPr>
              <a:t>b_out</a:t>
            </a:r>
            <a:r>
              <a:rPr lang="en-US" sz="1050" kern="0" dirty="0">
                <a:solidFill>
                  <a:srgbClr val="000000"/>
                </a:solidFill>
                <a:latin typeface="Arial"/>
              </a:rPr>
              <a:t>) {  </a:t>
            </a:r>
          </a:p>
          <a:p>
            <a:pPr defTabSz="914400" fontAlgn="base">
              <a:spcBef>
                <a:spcPct val="0"/>
              </a:spcBef>
              <a:spcAft>
                <a:spcPct val="0"/>
              </a:spcAft>
              <a:tabLst>
                <a:tab pos="457200" algn="l"/>
                <a:tab pos="914400" algn="l"/>
              </a:tabLst>
              <a:defRPr/>
            </a:pPr>
            <a:r>
              <a:rPr lang="en-US" sz="1050" kern="0" dirty="0">
                <a:solidFill>
                  <a:srgbClr val="000000"/>
                </a:solidFill>
                <a:latin typeface="Arial"/>
              </a:rPr>
              <a:t>	int </a:t>
            </a:r>
            <a:r>
              <a:rPr lang="en-US" sz="1050" kern="0" dirty="0" err="1">
                <a:solidFill>
                  <a:srgbClr val="000000"/>
                </a:solidFill>
                <a:latin typeface="Arial"/>
              </a:rPr>
              <a:t>i</a:t>
            </a:r>
            <a:r>
              <a:rPr lang="en-US" sz="1050" kern="0" dirty="0">
                <a:solidFill>
                  <a:srgbClr val="000000"/>
                </a:solidFill>
                <a:latin typeface="Arial"/>
              </a:rPr>
              <a:t>;  </a:t>
            </a:r>
          </a:p>
          <a:p>
            <a:pPr defTabSz="914400" fontAlgn="base">
              <a:spcBef>
                <a:spcPct val="0"/>
              </a:spcBef>
              <a:spcAft>
                <a:spcPct val="0"/>
              </a:spcAft>
              <a:tabLst>
                <a:tab pos="457200" algn="l"/>
                <a:tab pos="914400" algn="l"/>
              </a:tabLst>
              <a:defRPr/>
            </a:pPr>
            <a:endParaRPr lang="en-US" sz="1050" kern="0" dirty="0">
              <a:solidFill>
                <a:srgbClr val="000000"/>
              </a:solidFill>
              <a:latin typeface="Arial"/>
            </a:endParaRPr>
          </a:p>
          <a:p>
            <a:pPr defTabSz="914400" fontAlgn="base">
              <a:spcBef>
                <a:spcPct val="0"/>
              </a:spcBef>
              <a:spcAft>
                <a:spcPct val="0"/>
              </a:spcAft>
              <a:tabLst>
                <a:tab pos="457200" algn="l"/>
                <a:tab pos="914400" algn="l"/>
              </a:tabLst>
              <a:defRPr/>
            </a:pPr>
            <a:r>
              <a:rPr lang="en-US" sz="1050" kern="0" dirty="0">
                <a:solidFill>
                  <a:srgbClr val="000000"/>
                </a:solidFill>
                <a:latin typeface="Arial"/>
              </a:rPr>
              <a:t>	</a:t>
            </a:r>
            <a:r>
              <a:rPr lang="en-US" sz="1050" kern="0" dirty="0" err="1">
                <a:solidFill>
                  <a:srgbClr val="000000"/>
                </a:solidFill>
                <a:latin typeface="Arial"/>
              </a:rPr>
              <a:t>b_out</a:t>
            </a:r>
            <a:r>
              <a:rPr lang="en-US" sz="1050" kern="0" dirty="0">
                <a:solidFill>
                  <a:srgbClr val="000000"/>
                </a:solidFill>
                <a:latin typeface="Arial"/>
              </a:rPr>
              <a:t>-&gt;A = </a:t>
            </a:r>
            <a:r>
              <a:rPr lang="en-US" sz="1050" kern="0" dirty="0" err="1">
                <a:solidFill>
                  <a:srgbClr val="000000"/>
                </a:solidFill>
                <a:latin typeface="Arial"/>
              </a:rPr>
              <a:t>a_in</a:t>
            </a:r>
            <a:r>
              <a:rPr lang="en-US" sz="1050" kern="0" dirty="0">
                <a:solidFill>
                  <a:srgbClr val="000000"/>
                </a:solidFill>
                <a:latin typeface="Arial"/>
              </a:rPr>
              <a:t>-&gt;A + 1; </a:t>
            </a:r>
          </a:p>
          <a:p>
            <a:pPr defTabSz="914400" fontAlgn="base">
              <a:spcBef>
                <a:spcPct val="0"/>
              </a:spcBef>
              <a:spcAft>
                <a:spcPct val="0"/>
              </a:spcAft>
              <a:tabLst>
                <a:tab pos="457200" algn="l"/>
                <a:tab pos="914400" algn="l"/>
              </a:tabLst>
              <a:defRPr/>
            </a:pPr>
            <a:r>
              <a:rPr lang="en-US" sz="1050" kern="0" dirty="0">
                <a:solidFill>
                  <a:srgbClr val="000000"/>
                </a:solidFill>
                <a:latin typeface="Arial"/>
              </a:rPr>
              <a:t> </a:t>
            </a:r>
          </a:p>
          <a:p>
            <a:pPr defTabSz="914400" fontAlgn="base">
              <a:spcBef>
                <a:spcPct val="0"/>
              </a:spcBef>
              <a:spcAft>
                <a:spcPct val="0"/>
              </a:spcAft>
              <a:tabLst>
                <a:tab pos="457200" algn="l"/>
                <a:tab pos="914400" algn="l"/>
              </a:tabLst>
              <a:defRPr/>
            </a:pPr>
            <a:r>
              <a:rPr lang="en-US" sz="1050" kern="0" dirty="0">
                <a:solidFill>
                  <a:srgbClr val="000000"/>
                </a:solidFill>
                <a:latin typeface="Arial"/>
              </a:rPr>
              <a:t>	for(</a:t>
            </a:r>
            <a:r>
              <a:rPr lang="en-US" sz="1050" kern="0" dirty="0" err="1">
                <a:solidFill>
                  <a:srgbClr val="000000"/>
                </a:solidFill>
                <a:latin typeface="Arial"/>
              </a:rPr>
              <a:t>i</a:t>
            </a:r>
            <a:r>
              <a:rPr lang="en-US" sz="1050" kern="0" dirty="0">
                <a:solidFill>
                  <a:srgbClr val="000000"/>
                </a:solidFill>
                <a:latin typeface="Arial"/>
              </a:rPr>
              <a:t>=0; </a:t>
            </a:r>
            <a:r>
              <a:rPr lang="en-US" sz="1050" kern="0" dirty="0" err="1">
                <a:solidFill>
                  <a:srgbClr val="000000"/>
                </a:solidFill>
                <a:latin typeface="Arial"/>
              </a:rPr>
              <a:t>i</a:t>
            </a:r>
            <a:r>
              <a:rPr lang="en-US" sz="1050" kern="0" dirty="0">
                <a:solidFill>
                  <a:srgbClr val="000000"/>
                </a:solidFill>
                <a:latin typeface="Arial"/>
              </a:rPr>
              <a:t> &lt;= 319; </a:t>
            </a:r>
            <a:r>
              <a:rPr lang="en-US" sz="1050" kern="0" dirty="0" err="1">
                <a:solidFill>
                  <a:srgbClr val="000000"/>
                </a:solidFill>
                <a:latin typeface="Arial"/>
              </a:rPr>
              <a:t>i</a:t>
            </a:r>
            <a:r>
              <a:rPr lang="en-US" sz="1050" kern="0" dirty="0">
                <a:solidFill>
                  <a:srgbClr val="000000"/>
                </a:solidFill>
                <a:latin typeface="Arial"/>
              </a:rPr>
              <a:t>++) {    </a:t>
            </a:r>
          </a:p>
          <a:p>
            <a:pPr defTabSz="914400" fontAlgn="base">
              <a:spcBef>
                <a:spcPct val="0"/>
              </a:spcBef>
              <a:spcAft>
                <a:spcPct val="0"/>
              </a:spcAft>
              <a:tabLst>
                <a:tab pos="457200" algn="l"/>
                <a:tab pos="914400" algn="l"/>
              </a:tabLst>
              <a:defRPr/>
            </a:pPr>
            <a:r>
              <a:rPr lang="en-US" sz="1050" kern="0" dirty="0">
                <a:solidFill>
                  <a:srgbClr val="000000"/>
                </a:solidFill>
                <a:latin typeface="Arial"/>
              </a:rPr>
              <a:t>		</a:t>
            </a:r>
            <a:r>
              <a:rPr lang="en-US" sz="1050" kern="0" dirty="0" err="1">
                <a:solidFill>
                  <a:srgbClr val="000000"/>
                </a:solidFill>
                <a:latin typeface="Arial"/>
              </a:rPr>
              <a:t>b_out</a:t>
            </a:r>
            <a:r>
              <a:rPr lang="en-US" sz="1050" kern="0" dirty="0">
                <a:solidFill>
                  <a:srgbClr val="000000"/>
                </a:solidFill>
                <a:latin typeface="Arial"/>
              </a:rPr>
              <a:t>-&gt;B[</a:t>
            </a:r>
            <a:r>
              <a:rPr lang="en-US" sz="1050" kern="0" dirty="0" err="1">
                <a:solidFill>
                  <a:srgbClr val="000000"/>
                </a:solidFill>
                <a:latin typeface="Arial"/>
              </a:rPr>
              <a:t>i</a:t>
            </a:r>
            <a:r>
              <a:rPr lang="en-US" sz="1050" kern="0" dirty="0">
                <a:solidFill>
                  <a:srgbClr val="000000"/>
                </a:solidFill>
                <a:latin typeface="Arial"/>
              </a:rPr>
              <a:t>] = </a:t>
            </a:r>
            <a:r>
              <a:rPr lang="en-US" sz="1050" kern="0" dirty="0" err="1">
                <a:solidFill>
                  <a:srgbClr val="000000"/>
                </a:solidFill>
                <a:latin typeface="Arial"/>
              </a:rPr>
              <a:t>a_in</a:t>
            </a:r>
            <a:r>
              <a:rPr lang="en-US" sz="1050" kern="0" dirty="0">
                <a:solidFill>
                  <a:srgbClr val="000000"/>
                </a:solidFill>
                <a:latin typeface="Arial"/>
              </a:rPr>
              <a:t>-&gt;B[</a:t>
            </a:r>
            <a:r>
              <a:rPr lang="en-US" sz="1050" kern="0" dirty="0" err="1">
                <a:solidFill>
                  <a:srgbClr val="000000"/>
                </a:solidFill>
                <a:latin typeface="Arial"/>
              </a:rPr>
              <a:t>i</a:t>
            </a:r>
            <a:r>
              <a:rPr lang="en-US" sz="1050" kern="0" dirty="0">
                <a:solidFill>
                  <a:srgbClr val="000000"/>
                </a:solidFill>
                <a:latin typeface="Arial"/>
              </a:rPr>
              <a:t>] +1 ;</a:t>
            </a:r>
          </a:p>
          <a:p>
            <a:pPr defTabSz="914400" fontAlgn="base">
              <a:spcBef>
                <a:spcPct val="0"/>
              </a:spcBef>
              <a:spcAft>
                <a:spcPct val="0"/>
              </a:spcAft>
              <a:tabLst>
                <a:tab pos="457200" algn="l"/>
                <a:tab pos="914400" algn="l"/>
              </a:tabLst>
              <a:defRPr/>
            </a:pPr>
            <a:r>
              <a:rPr lang="en-US" sz="1050" kern="0" dirty="0">
                <a:solidFill>
                  <a:srgbClr val="000000"/>
                </a:solidFill>
                <a:latin typeface="Arial"/>
              </a:rPr>
              <a:t>	}</a:t>
            </a:r>
          </a:p>
          <a:p>
            <a:pPr defTabSz="914400" fontAlgn="base">
              <a:spcBef>
                <a:spcPct val="0"/>
              </a:spcBef>
              <a:spcAft>
                <a:spcPct val="0"/>
              </a:spcAft>
              <a:tabLst>
                <a:tab pos="457200" algn="l"/>
                <a:tab pos="914400" algn="l"/>
              </a:tabLst>
              <a:defRPr/>
            </a:pPr>
            <a:endParaRPr lang="en-US" sz="1050" kern="0" dirty="0">
              <a:solidFill>
                <a:srgbClr val="000000"/>
              </a:solidFill>
              <a:latin typeface="Arial"/>
            </a:endParaRPr>
          </a:p>
          <a:p>
            <a:pPr defTabSz="914400" fontAlgn="base">
              <a:spcBef>
                <a:spcPct val="0"/>
              </a:spcBef>
              <a:spcAft>
                <a:spcPct val="0"/>
              </a:spcAft>
              <a:tabLst>
                <a:tab pos="457200" algn="l"/>
                <a:tab pos="914400" algn="l"/>
              </a:tabLst>
              <a:defRPr/>
            </a:pPr>
            <a:r>
              <a:rPr lang="en-US" sz="1050" kern="0" dirty="0">
                <a:solidFill>
                  <a:srgbClr val="000000"/>
                </a:solidFill>
                <a:latin typeface="Arial"/>
              </a:rPr>
              <a:t>	</a:t>
            </a:r>
            <a:r>
              <a:rPr lang="en-US" sz="1050" kern="0" dirty="0" err="1">
                <a:solidFill>
                  <a:srgbClr val="000000"/>
                </a:solidFill>
                <a:latin typeface="Arial"/>
              </a:rPr>
              <a:t>b_out</a:t>
            </a:r>
            <a:r>
              <a:rPr lang="en-US" sz="1050" kern="0" dirty="0">
                <a:solidFill>
                  <a:srgbClr val="000000"/>
                </a:solidFill>
                <a:latin typeface="Arial"/>
              </a:rPr>
              <a:t>-&gt;C = </a:t>
            </a:r>
            <a:r>
              <a:rPr lang="en-US" sz="1050" kern="0" dirty="0" err="1">
                <a:solidFill>
                  <a:srgbClr val="000000"/>
                </a:solidFill>
                <a:latin typeface="Arial"/>
              </a:rPr>
              <a:t>a_in</a:t>
            </a:r>
            <a:r>
              <a:rPr lang="en-US" sz="1050" kern="0" dirty="0">
                <a:solidFill>
                  <a:srgbClr val="000000"/>
                </a:solidFill>
                <a:latin typeface="Arial"/>
              </a:rPr>
              <a:t>-&gt;C +1;  </a:t>
            </a:r>
          </a:p>
          <a:p>
            <a:pPr defTabSz="914400" fontAlgn="base">
              <a:spcBef>
                <a:spcPct val="0"/>
              </a:spcBef>
              <a:spcAft>
                <a:spcPct val="0"/>
              </a:spcAft>
              <a:tabLst>
                <a:tab pos="457200" algn="l"/>
                <a:tab pos="914400" algn="l"/>
              </a:tabLst>
              <a:defRPr/>
            </a:pPr>
            <a:r>
              <a:rPr lang="en-US" sz="1050" kern="0" dirty="0">
                <a:solidFill>
                  <a:srgbClr val="000000"/>
                </a:solidFill>
                <a:latin typeface="Arial"/>
              </a:rPr>
              <a:t>}</a:t>
            </a:r>
          </a:p>
        </p:txBody>
      </p:sp>
      <p:sp>
        <p:nvSpPr>
          <p:cNvPr id="11" name="TextBox 10">
            <a:extLst>
              <a:ext uri="{FF2B5EF4-FFF2-40B4-BE49-F238E27FC236}">
                <a16:creationId xmlns:a16="http://schemas.microsoft.com/office/drawing/2014/main" id="{898A1404-2960-4E9D-864F-B666AA7F4F31}"/>
              </a:ext>
            </a:extLst>
          </p:cNvPr>
          <p:cNvSpPr txBox="1"/>
          <p:nvPr/>
        </p:nvSpPr>
        <p:spPr>
          <a:xfrm>
            <a:off x="6556742" y="1842059"/>
            <a:ext cx="2663679" cy="900246"/>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tabLst>
                <a:tab pos="457200" algn="l"/>
              </a:tabLst>
              <a:defRPr/>
            </a:pPr>
            <a:r>
              <a:rPr lang="en-US" sz="1050" kern="0" dirty="0" err="1">
                <a:solidFill>
                  <a:srgbClr val="000000"/>
                </a:solidFill>
                <a:latin typeface="Arial"/>
              </a:rPr>
              <a:t>typedef</a:t>
            </a:r>
            <a:r>
              <a:rPr lang="en-US" sz="1050" kern="0" dirty="0">
                <a:solidFill>
                  <a:srgbClr val="000000"/>
                </a:solidFill>
                <a:latin typeface="Arial"/>
              </a:rPr>
              <a:t> struct {  </a:t>
            </a:r>
          </a:p>
          <a:p>
            <a:pPr defTabSz="914400" fontAlgn="base">
              <a:spcBef>
                <a:spcPct val="0"/>
              </a:spcBef>
              <a:spcAft>
                <a:spcPct val="0"/>
              </a:spcAft>
              <a:tabLst>
                <a:tab pos="457200" algn="l"/>
              </a:tabLst>
              <a:defRPr/>
            </a:pPr>
            <a:r>
              <a:rPr lang="en-US" sz="1050" kern="0" dirty="0">
                <a:solidFill>
                  <a:srgbClr val="000000"/>
                </a:solidFill>
                <a:latin typeface="Arial"/>
              </a:rPr>
              <a:t>	unsigned char A;  </a:t>
            </a:r>
          </a:p>
          <a:p>
            <a:pPr defTabSz="914400" fontAlgn="base">
              <a:spcBef>
                <a:spcPct val="0"/>
              </a:spcBef>
              <a:spcAft>
                <a:spcPct val="0"/>
              </a:spcAft>
              <a:tabLst>
                <a:tab pos="457200" algn="l"/>
              </a:tabLst>
              <a:defRPr/>
            </a:pPr>
            <a:r>
              <a:rPr lang="en-US" sz="1050" kern="0" dirty="0">
                <a:solidFill>
                  <a:srgbClr val="000000"/>
                </a:solidFill>
                <a:latin typeface="Arial"/>
              </a:rPr>
              <a:t>	unsigned char B[320];  </a:t>
            </a:r>
          </a:p>
          <a:p>
            <a:pPr defTabSz="914400" fontAlgn="base">
              <a:spcBef>
                <a:spcPct val="0"/>
              </a:spcBef>
              <a:spcAft>
                <a:spcPct val="0"/>
              </a:spcAft>
              <a:tabLst>
                <a:tab pos="457200" algn="l"/>
              </a:tabLst>
              <a:defRPr/>
            </a:pPr>
            <a:r>
              <a:rPr lang="en-US" sz="1050" kern="0" dirty="0">
                <a:solidFill>
                  <a:srgbClr val="000000"/>
                </a:solidFill>
                <a:latin typeface="Arial"/>
              </a:rPr>
              <a:t>	unsigned char C;</a:t>
            </a:r>
          </a:p>
          <a:p>
            <a:pPr defTabSz="914400" fontAlgn="base">
              <a:spcBef>
                <a:spcPct val="0"/>
              </a:spcBef>
              <a:spcAft>
                <a:spcPct val="0"/>
              </a:spcAft>
              <a:tabLst>
                <a:tab pos="457200" algn="l"/>
              </a:tabLst>
              <a:defRPr/>
            </a:pPr>
            <a:r>
              <a:rPr lang="en-US" sz="1050" kern="0" dirty="0">
                <a:solidFill>
                  <a:srgbClr val="000000"/>
                </a:solidFill>
                <a:latin typeface="Arial"/>
              </a:rPr>
              <a:t>}</a:t>
            </a:r>
            <a:r>
              <a:rPr lang="en-US" sz="1050" kern="0" dirty="0" err="1">
                <a:solidFill>
                  <a:srgbClr val="000000"/>
                </a:solidFill>
                <a:latin typeface="Arial"/>
              </a:rPr>
              <a:t>my_data</a:t>
            </a:r>
            <a:r>
              <a:rPr lang="en-US" sz="1050" kern="0" dirty="0">
                <a:solidFill>
                  <a:srgbClr val="000000"/>
                </a:solidFill>
                <a:latin typeface="Arial"/>
              </a:rPr>
              <a: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Struct Access</a:t>
            </a:r>
          </a:p>
        </p:txBody>
      </p:sp>
      <p:sp>
        <p:nvSpPr>
          <p:cNvPr id="3" name="Content Placeholder 2"/>
          <p:cNvSpPr>
            <a:spLocks noGrp="1"/>
          </p:cNvSpPr>
          <p:nvPr>
            <p:ph idx="1"/>
          </p:nvPr>
        </p:nvSpPr>
        <p:spPr/>
        <p:txBody>
          <a:bodyPr/>
          <a:lstStyle/>
          <a:p>
            <a:r>
              <a:rPr lang="en-US" dirty="0"/>
              <a:t>Accessing a struct: pass-by-reference</a:t>
            </a:r>
          </a:p>
          <a:p>
            <a:endParaRPr lang="en-US" dirty="0"/>
          </a:p>
          <a:p>
            <a:endParaRPr lang="en-US" dirty="0"/>
          </a:p>
          <a:p>
            <a:endParaRPr lang="en-US" dirty="0"/>
          </a:p>
          <a:p>
            <a:endParaRPr lang="en-US" dirty="0"/>
          </a:p>
          <a:p>
            <a:r>
              <a:rPr lang="en-US" dirty="0"/>
              <a:t>Accessing a struct: pass-by-value</a:t>
            </a:r>
          </a:p>
          <a:p>
            <a:endParaRPr lang="en-US" dirty="0"/>
          </a:p>
        </p:txBody>
      </p:sp>
      <p:sp>
        <p:nvSpPr>
          <p:cNvPr id="10" name="Slide Number Placeholder 9"/>
          <p:cNvSpPr>
            <a:spLocks noGrp="1"/>
          </p:cNvSpPr>
          <p:nvPr>
            <p:ph type="sldNum" sz="quarter" idx="10"/>
          </p:nvPr>
        </p:nvSpPr>
        <p:spPr/>
        <p:txBody>
          <a:bodyPr/>
          <a:lstStyle/>
          <a:p>
            <a:pPr defTabSz="914400">
              <a:defRPr/>
            </a:pPr>
            <a:r>
              <a:rPr lang="en-US" dirty="0">
                <a:solidFill>
                  <a:srgbClr val="0C0C0C">
                    <a:tint val="75000"/>
                  </a:srgbClr>
                </a:solidFill>
                <a:latin typeface="Arial"/>
              </a:rPr>
              <a:t>Coding Considerations 23- </a:t>
            </a:r>
            <a:fld id="{060BD193-E118-4B16-863C-C8C12C675E3E}" type="slidenum">
              <a:rPr lang="en-US">
                <a:solidFill>
                  <a:srgbClr val="0C0C0C">
                    <a:tint val="75000"/>
                  </a:srgbClr>
                </a:solidFill>
                <a:latin typeface="Arial"/>
              </a:rPr>
              <a:pPr defTabSz="914400">
                <a:defRPr/>
              </a:pPr>
              <a:t>37</a:t>
            </a:fld>
            <a:endParaRPr lang="en-US" dirty="0">
              <a:solidFill>
                <a:srgbClr val="0C0C0C">
                  <a:tint val="75000"/>
                </a:srgbClr>
              </a:solidFill>
              <a:latin typeface="Arial"/>
            </a:endParaRPr>
          </a:p>
        </p:txBody>
      </p:sp>
      <p:sp>
        <p:nvSpPr>
          <p:cNvPr id="8" name="TextBox 7">
            <a:extLst>
              <a:ext uri="{FF2B5EF4-FFF2-40B4-BE49-F238E27FC236}">
                <a16:creationId xmlns:a16="http://schemas.microsoft.com/office/drawing/2014/main" id="{4A0C48D5-D5AD-4618-9FA8-9C05D81FD9EE}"/>
              </a:ext>
            </a:extLst>
          </p:cNvPr>
          <p:cNvSpPr txBox="1"/>
          <p:nvPr/>
        </p:nvSpPr>
        <p:spPr>
          <a:xfrm>
            <a:off x="3828572" y="4188402"/>
            <a:ext cx="4812175" cy="2192908"/>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tabLst>
                <a:tab pos="457200" algn="l"/>
                <a:tab pos="914400" algn="l"/>
              </a:tabLst>
              <a:defRPr/>
            </a:pPr>
            <a:r>
              <a:rPr lang="en-US" sz="1050" kern="0" dirty="0" err="1">
                <a:solidFill>
                  <a:srgbClr val="000000"/>
                </a:solidFill>
                <a:latin typeface="Arial"/>
              </a:rPr>
              <a:t>my_data</a:t>
            </a:r>
            <a:r>
              <a:rPr lang="en-US" sz="1050" kern="0" dirty="0">
                <a:solidFill>
                  <a:srgbClr val="000000"/>
                </a:solidFill>
                <a:latin typeface="Arial"/>
              </a:rPr>
              <a:t> </a:t>
            </a:r>
            <a:r>
              <a:rPr lang="en-US" sz="1050" kern="0" dirty="0" err="1">
                <a:solidFill>
                  <a:srgbClr val="000000"/>
                </a:solidFill>
                <a:latin typeface="Arial"/>
              </a:rPr>
              <a:t>foo</a:t>
            </a:r>
            <a:r>
              <a:rPr lang="en-US" sz="1050" kern="0" dirty="0">
                <a:solidFill>
                  <a:srgbClr val="000000"/>
                </a:solidFill>
                <a:latin typeface="Arial"/>
              </a:rPr>
              <a:t>(</a:t>
            </a:r>
            <a:r>
              <a:rPr lang="en-US" sz="1050" kern="0" dirty="0" err="1">
                <a:solidFill>
                  <a:srgbClr val="000000"/>
                </a:solidFill>
                <a:latin typeface="Arial"/>
              </a:rPr>
              <a:t>my_data</a:t>
            </a:r>
            <a:r>
              <a:rPr lang="en-US" sz="1050" kern="0" dirty="0">
                <a:solidFill>
                  <a:srgbClr val="000000"/>
                </a:solidFill>
                <a:latin typeface="Arial"/>
              </a:rPr>
              <a:t> </a:t>
            </a:r>
            <a:r>
              <a:rPr lang="en-US" sz="1050" kern="0" dirty="0" err="1">
                <a:solidFill>
                  <a:srgbClr val="000000"/>
                </a:solidFill>
                <a:latin typeface="Arial"/>
              </a:rPr>
              <a:t>a_in</a:t>
            </a:r>
            <a:r>
              <a:rPr lang="en-US" sz="1050" kern="0" dirty="0">
                <a:solidFill>
                  <a:srgbClr val="000000"/>
                </a:solidFill>
                <a:latin typeface="Arial"/>
              </a:rPr>
              <a:t>, </a:t>
            </a:r>
            <a:r>
              <a:rPr lang="en-US" sz="1050" kern="0" dirty="0" err="1">
                <a:solidFill>
                  <a:srgbClr val="000000"/>
                </a:solidFill>
                <a:latin typeface="Arial"/>
              </a:rPr>
              <a:t>my_data</a:t>
            </a:r>
            <a:r>
              <a:rPr lang="en-US" sz="1050" kern="0" dirty="0">
                <a:solidFill>
                  <a:srgbClr val="000000"/>
                </a:solidFill>
                <a:latin typeface="Arial"/>
              </a:rPr>
              <a:t> </a:t>
            </a:r>
            <a:r>
              <a:rPr lang="en-US" sz="1050" kern="0" dirty="0" err="1">
                <a:solidFill>
                  <a:srgbClr val="000000"/>
                </a:solidFill>
                <a:latin typeface="Arial"/>
              </a:rPr>
              <a:t>b_out</a:t>
            </a:r>
            <a:r>
              <a:rPr lang="en-US" sz="1050" kern="0" dirty="0">
                <a:solidFill>
                  <a:srgbClr val="000000"/>
                </a:solidFill>
                <a:latin typeface="Arial"/>
              </a:rPr>
              <a:t>) {  </a:t>
            </a:r>
          </a:p>
          <a:p>
            <a:pPr defTabSz="914400" fontAlgn="base">
              <a:spcBef>
                <a:spcPct val="0"/>
              </a:spcBef>
              <a:spcAft>
                <a:spcPct val="0"/>
              </a:spcAft>
              <a:tabLst>
                <a:tab pos="457200" algn="l"/>
                <a:tab pos="914400" algn="l"/>
              </a:tabLst>
              <a:defRPr/>
            </a:pPr>
            <a:r>
              <a:rPr lang="en-US" sz="1050" kern="0" dirty="0">
                <a:solidFill>
                  <a:srgbClr val="000000"/>
                </a:solidFill>
                <a:latin typeface="Arial"/>
              </a:rPr>
              <a:t>	int </a:t>
            </a:r>
            <a:r>
              <a:rPr lang="en-US" sz="1050" kern="0" dirty="0" err="1">
                <a:solidFill>
                  <a:srgbClr val="000000"/>
                </a:solidFill>
                <a:latin typeface="Arial"/>
              </a:rPr>
              <a:t>i</a:t>
            </a:r>
            <a:r>
              <a:rPr lang="en-US" sz="1050" kern="0" dirty="0">
                <a:solidFill>
                  <a:srgbClr val="000000"/>
                </a:solidFill>
                <a:latin typeface="Arial"/>
              </a:rPr>
              <a:t>;  </a:t>
            </a:r>
          </a:p>
          <a:p>
            <a:pPr defTabSz="914400" fontAlgn="base">
              <a:spcBef>
                <a:spcPct val="0"/>
              </a:spcBef>
              <a:spcAft>
                <a:spcPct val="0"/>
              </a:spcAft>
              <a:tabLst>
                <a:tab pos="457200" algn="l"/>
                <a:tab pos="914400" algn="l"/>
              </a:tabLst>
              <a:defRPr/>
            </a:pPr>
            <a:endParaRPr lang="en-US" sz="1050" kern="0" dirty="0">
              <a:solidFill>
                <a:srgbClr val="000000"/>
              </a:solidFill>
              <a:latin typeface="Arial"/>
            </a:endParaRPr>
          </a:p>
          <a:p>
            <a:pPr defTabSz="914400" fontAlgn="base">
              <a:spcBef>
                <a:spcPct val="0"/>
              </a:spcBef>
              <a:spcAft>
                <a:spcPct val="0"/>
              </a:spcAft>
              <a:tabLst>
                <a:tab pos="457200" algn="l"/>
                <a:tab pos="914400" algn="l"/>
              </a:tabLst>
              <a:defRPr/>
            </a:pPr>
            <a:r>
              <a:rPr lang="en-US" sz="1050" kern="0" dirty="0">
                <a:solidFill>
                  <a:srgbClr val="000000"/>
                </a:solidFill>
                <a:latin typeface="Arial"/>
              </a:rPr>
              <a:t>	</a:t>
            </a:r>
            <a:r>
              <a:rPr lang="en-US" sz="1050" kern="0" dirty="0" err="1">
                <a:solidFill>
                  <a:srgbClr val="000000"/>
                </a:solidFill>
                <a:latin typeface="Arial"/>
              </a:rPr>
              <a:t>b_out.A</a:t>
            </a:r>
            <a:r>
              <a:rPr lang="en-US" sz="1050" kern="0" dirty="0">
                <a:solidFill>
                  <a:srgbClr val="000000"/>
                </a:solidFill>
                <a:latin typeface="Arial"/>
              </a:rPr>
              <a:t> = a_in.A+1;  </a:t>
            </a:r>
          </a:p>
          <a:p>
            <a:pPr defTabSz="914400" fontAlgn="base">
              <a:spcBef>
                <a:spcPct val="0"/>
              </a:spcBef>
              <a:spcAft>
                <a:spcPct val="0"/>
              </a:spcAft>
              <a:tabLst>
                <a:tab pos="457200" algn="l"/>
                <a:tab pos="914400" algn="l"/>
              </a:tabLst>
              <a:defRPr/>
            </a:pPr>
            <a:endParaRPr lang="en-US" sz="1050" kern="0" dirty="0">
              <a:solidFill>
                <a:srgbClr val="000000"/>
              </a:solidFill>
              <a:latin typeface="Arial"/>
            </a:endParaRPr>
          </a:p>
          <a:p>
            <a:pPr defTabSz="914400" fontAlgn="base">
              <a:spcBef>
                <a:spcPct val="0"/>
              </a:spcBef>
              <a:spcAft>
                <a:spcPct val="0"/>
              </a:spcAft>
              <a:tabLst>
                <a:tab pos="457200" algn="l"/>
                <a:tab pos="914400" algn="l"/>
              </a:tabLst>
              <a:defRPr/>
            </a:pPr>
            <a:r>
              <a:rPr lang="en-US" sz="1050" kern="0" dirty="0">
                <a:solidFill>
                  <a:srgbClr val="000000"/>
                </a:solidFill>
                <a:latin typeface="Arial"/>
              </a:rPr>
              <a:t>	for(</a:t>
            </a:r>
            <a:r>
              <a:rPr lang="en-US" sz="1050" kern="0" dirty="0" err="1">
                <a:solidFill>
                  <a:srgbClr val="000000"/>
                </a:solidFill>
                <a:latin typeface="Arial"/>
              </a:rPr>
              <a:t>i</a:t>
            </a:r>
            <a:r>
              <a:rPr lang="en-US" sz="1050" kern="0" dirty="0">
                <a:solidFill>
                  <a:srgbClr val="000000"/>
                </a:solidFill>
                <a:latin typeface="Arial"/>
              </a:rPr>
              <a:t>=0; </a:t>
            </a:r>
            <a:r>
              <a:rPr lang="en-US" sz="1050" kern="0" dirty="0" err="1">
                <a:solidFill>
                  <a:srgbClr val="000000"/>
                </a:solidFill>
                <a:latin typeface="Arial"/>
              </a:rPr>
              <a:t>i</a:t>
            </a:r>
            <a:r>
              <a:rPr lang="en-US" sz="1050" kern="0" dirty="0">
                <a:solidFill>
                  <a:srgbClr val="000000"/>
                </a:solidFill>
                <a:latin typeface="Arial"/>
              </a:rPr>
              <a:t> &lt;= N-1; </a:t>
            </a:r>
            <a:r>
              <a:rPr lang="en-US" sz="1050" kern="0" dirty="0" err="1">
                <a:solidFill>
                  <a:srgbClr val="000000"/>
                </a:solidFill>
                <a:latin typeface="Arial"/>
              </a:rPr>
              <a:t>i</a:t>
            </a:r>
            <a:r>
              <a:rPr lang="en-US" sz="1050" kern="0" dirty="0">
                <a:solidFill>
                  <a:srgbClr val="000000"/>
                </a:solidFill>
                <a:latin typeface="Arial"/>
              </a:rPr>
              <a:t>++) {    </a:t>
            </a:r>
          </a:p>
          <a:p>
            <a:pPr defTabSz="914400" fontAlgn="base">
              <a:spcBef>
                <a:spcPct val="0"/>
              </a:spcBef>
              <a:spcAft>
                <a:spcPct val="0"/>
              </a:spcAft>
              <a:tabLst>
                <a:tab pos="457200" algn="l"/>
                <a:tab pos="914400" algn="l"/>
              </a:tabLst>
              <a:defRPr/>
            </a:pPr>
            <a:r>
              <a:rPr lang="en-US" sz="1050" kern="0" dirty="0">
                <a:solidFill>
                  <a:srgbClr val="000000"/>
                </a:solidFill>
                <a:latin typeface="Arial"/>
              </a:rPr>
              <a:t>		</a:t>
            </a:r>
            <a:r>
              <a:rPr lang="en-US" sz="1050" kern="0" dirty="0" err="1">
                <a:solidFill>
                  <a:srgbClr val="000000"/>
                </a:solidFill>
                <a:latin typeface="Arial"/>
              </a:rPr>
              <a:t>b_out.B</a:t>
            </a:r>
            <a:r>
              <a:rPr lang="en-US" sz="1050" kern="0" dirty="0">
                <a:solidFill>
                  <a:srgbClr val="000000"/>
                </a:solidFill>
                <a:latin typeface="Arial"/>
              </a:rPr>
              <a:t>[</a:t>
            </a:r>
            <a:r>
              <a:rPr lang="en-US" sz="1050" kern="0" dirty="0" err="1">
                <a:solidFill>
                  <a:srgbClr val="000000"/>
                </a:solidFill>
                <a:latin typeface="Arial"/>
              </a:rPr>
              <a:t>i</a:t>
            </a:r>
            <a:r>
              <a:rPr lang="en-US" sz="1050" kern="0" dirty="0">
                <a:solidFill>
                  <a:srgbClr val="000000"/>
                </a:solidFill>
                <a:latin typeface="Arial"/>
              </a:rPr>
              <a:t>] = </a:t>
            </a:r>
            <a:r>
              <a:rPr lang="en-US" sz="1050" kern="0" dirty="0" err="1">
                <a:solidFill>
                  <a:srgbClr val="000000"/>
                </a:solidFill>
                <a:latin typeface="Arial"/>
              </a:rPr>
              <a:t>a_in.B</a:t>
            </a:r>
            <a:r>
              <a:rPr lang="en-US" sz="1050" kern="0" dirty="0">
                <a:solidFill>
                  <a:srgbClr val="000000"/>
                </a:solidFill>
                <a:latin typeface="Arial"/>
              </a:rPr>
              <a:t>[</a:t>
            </a:r>
            <a:r>
              <a:rPr lang="en-US" sz="1050" kern="0" dirty="0" err="1">
                <a:solidFill>
                  <a:srgbClr val="000000"/>
                </a:solidFill>
                <a:latin typeface="Arial"/>
              </a:rPr>
              <a:t>i</a:t>
            </a:r>
            <a:r>
              <a:rPr lang="en-US" sz="1050" kern="0" dirty="0">
                <a:solidFill>
                  <a:srgbClr val="000000"/>
                </a:solidFill>
                <a:latin typeface="Arial"/>
              </a:rPr>
              <a:t>]+1;  </a:t>
            </a:r>
          </a:p>
          <a:p>
            <a:pPr defTabSz="914400" fontAlgn="base">
              <a:spcBef>
                <a:spcPct val="0"/>
              </a:spcBef>
              <a:spcAft>
                <a:spcPct val="0"/>
              </a:spcAft>
              <a:tabLst>
                <a:tab pos="457200" algn="l"/>
                <a:tab pos="914400" algn="l"/>
              </a:tabLst>
              <a:defRPr/>
            </a:pPr>
            <a:r>
              <a:rPr lang="en-US" sz="1050" kern="0" dirty="0">
                <a:solidFill>
                  <a:srgbClr val="000000"/>
                </a:solidFill>
                <a:latin typeface="Arial"/>
              </a:rPr>
              <a:t>	}  </a:t>
            </a:r>
          </a:p>
          <a:p>
            <a:pPr defTabSz="914400" fontAlgn="base">
              <a:spcBef>
                <a:spcPct val="0"/>
              </a:spcBef>
              <a:spcAft>
                <a:spcPct val="0"/>
              </a:spcAft>
              <a:tabLst>
                <a:tab pos="457200" algn="l"/>
                <a:tab pos="914400" algn="l"/>
              </a:tabLst>
              <a:defRPr/>
            </a:pPr>
            <a:endParaRPr lang="en-US" sz="1050" kern="0" dirty="0">
              <a:solidFill>
                <a:srgbClr val="000000"/>
              </a:solidFill>
              <a:latin typeface="Arial"/>
            </a:endParaRPr>
          </a:p>
          <a:p>
            <a:pPr defTabSz="914400" fontAlgn="base">
              <a:spcBef>
                <a:spcPct val="0"/>
              </a:spcBef>
              <a:spcAft>
                <a:spcPct val="0"/>
              </a:spcAft>
              <a:tabLst>
                <a:tab pos="457200" algn="l"/>
                <a:tab pos="914400" algn="l"/>
              </a:tabLst>
              <a:defRPr/>
            </a:pPr>
            <a:r>
              <a:rPr lang="en-US" sz="1050" kern="0" dirty="0">
                <a:solidFill>
                  <a:srgbClr val="000000"/>
                </a:solidFill>
                <a:latin typeface="Arial"/>
              </a:rPr>
              <a:t>	</a:t>
            </a:r>
            <a:r>
              <a:rPr lang="en-US" sz="1050" kern="0" dirty="0" err="1">
                <a:solidFill>
                  <a:srgbClr val="000000"/>
                </a:solidFill>
                <a:latin typeface="Arial"/>
              </a:rPr>
              <a:t>b_out.C</a:t>
            </a:r>
            <a:r>
              <a:rPr lang="en-US" sz="1050" kern="0" dirty="0">
                <a:solidFill>
                  <a:srgbClr val="000000"/>
                </a:solidFill>
                <a:latin typeface="Arial"/>
              </a:rPr>
              <a:t> = a_in.C+1;  </a:t>
            </a:r>
          </a:p>
          <a:p>
            <a:pPr defTabSz="914400" fontAlgn="base">
              <a:spcBef>
                <a:spcPct val="0"/>
              </a:spcBef>
              <a:spcAft>
                <a:spcPct val="0"/>
              </a:spcAft>
              <a:tabLst>
                <a:tab pos="457200" algn="l"/>
                <a:tab pos="914400" algn="l"/>
              </a:tabLst>
              <a:defRPr/>
            </a:pPr>
            <a:r>
              <a:rPr lang="en-US" sz="1050" kern="0" dirty="0">
                <a:solidFill>
                  <a:srgbClr val="000000"/>
                </a:solidFill>
                <a:latin typeface="Arial"/>
              </a:rPr>
              <a:t>	</a:t>
            </a:r>
          </a:p>
          <a:p>
            <a:pPr defTabSz="914400" fontAlgn="base">
              <a:spcBef>
                <a:spcPct val="0"/>
              </a:spcBef>
              <a:spcAft>
                <a:spcPct val="0"/>
              </a:spcAft>
              <a:tabLst>
                <a:tab pos="457200" algn="l"/>
                <a:tab pos="914400" algn="l"/>
              </a:tabLst>
              <a:defRPr/>
            </a:pPr>
            <a:r>
              <a:rPr lang="en-US" sz="1050" kern="0" dirty="0">
                <a:solidFill>
                  <a:srgbClr val="000000"/>
                </a:solidFill>
                <a:latin typeface="Arial"/>
              </a:rPr>
              <a:t>	return </a:t>
            </a:r>
            <a:r>
              <a:rPr lang="en-US" sz="1050" kern="0" dirty="0" err="1">
                <a:solidFill>
                  <a:srgbClr val="000000"/>
                </a:solidFill>
                <a:latin typeface="Arial"/>
              </a:rPr>
              <a:t>b_out</a:t>
            </a:r>
            <a:r>
              <a:rPr lang="en-US" sz="1050" kern="0" dirty="0">
                <a:solidFill>
                  <a:srgbClr val="000000"/>
                </a:solidFill>
                <a:latin typeface="Arial"/>
              </a:rPr>
              <a:t>;</a:t>
            </a:r>
          </a:p>
          <a:p>
            <a:pPr defTabSz="914400" fontAlgn="base">
              <a:spcBef>
                <a:spcPct val="0"/>
              </a:spcBef>
              <a:spcAft>
                <a:spcPct val="0"/>
              </a:spcAft>
              <a:tabLst>
                <a:tab pos="457200" algn="l"/>
                <a:tab pos="914400" algn="l"/>
              </a:tabLst>
              <a:defRPr/>
            </a:pPr>
            <a:r>
              <a:rPr lang="en-US" sz="1050" kern="0" dirty="0">
                <a:solidFill>
                  <a:srgbClr val="000000"/>
                </a:solidFill>
                <a:latin typeface="Arial"/>
              </a:rPr>
              <a:t>}</a:t>
            </a:r>
          </a:p>
        </p:txBody>
      </p:sp>
      <p:sp>
        <p:nvSpPr>
          <p:cNvPr id="9" name="TextBox 8">
            <a:extLst>
              <a:ext uri="{FF2B5EF4-FFF2-40B4-BE49-F238E27FC236}">
                <a16:creationId xmlns:a16="http://schemas.microsoft.com/office/drawing/2014/main" id="{B7FD609E-D49B-4396-91CD-D35C2D2F2EA4}"/>
              </a:ext>
            </a:extLst>
          </p:cNvPr>
          <p:cNvSpPr txBox="1"/>
          <p:nvPr/>
        </p:nvSpPr>
        <p:spPr>
          <a:xfrm>
            <a:off x="1335022" y="1842061"/>
            <a:ext cx="4812173" cy="1869743"/>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tabLst>
                <a:tab pos="457200" algn="l"/>
                <a:tab pos="914400" algn="l"/>
              </a:tabLst>
              <a:defRPr/>
            </a:pPr>
            <a:r>
              <a:rPr lang="en-US" sz="1050" kern="0" dirty="0">
                <a:solidFill>
                  <a:srgbClr val="000000"/>
                </a:solidFill>
                <a:latin typeface="Arial"/>
              </a:rPr>
              <a:t>void </a:t>
            </a:r>
            <a:r>
              <a:rPr lang="en-US" sz="1050" kern="0" dirty="0" err="1">
                <a:solidFill>
                  <a:srgbClr val="000000"/>
                </a:solidFill>
                <a:latin typeface="Arial"/>
              </a:rPr>
              <a:t>foo</a:t>
            </a:r>
            <a:r>
              <a:rPr lang="en-US" sz="1050" kern="0" dirty="0">
                <a:solidFill>
                  <a:srgbClr val="000000"/>
                </a:solidFill>
                <a:latin typeface="Arial"/>
              </a:rPr>
              <a:t>(</a:t>
            </a:r>
            <a:r>
              <a:rPr lang="en-US" sz="1050" kern="0" dirty="0" err="1">
                <a:solidFill>
                  <a:srgbClr val="000000"/>
                </a:solidFill>
                <a:latin typeface="Arial"/>
              </a:rPr>
              <a:t>my_data</a:t>
            </a:r>
            <a:r>
              <a:rPr lang="en-US" sz="1050" kern="0" dirty="0">
                <a:solidFill>
                  <a:srgbClr val="000000"/>
                </a:solidFill>
                <a:latin typeface="Arial"/>
              </a:rPr>
              <a:t> *</a:t>
            </a:r>
            <a:r>
              <a:rPr lang="en-US" sz="1050" kern="0" dirty="0" err="1">
                <a:solidFill>
                  <a:srgbClr val="000000"/>
                </a:solidFill>
                <a:latin typeface="Arial"/>
              </a:rPr>
              <a:t>a_in</a:t>
            </a:r>
            <a:r>
              <a:rPr lang="en-US" sz="1050" kern="0" dirty="0">
                <a:solidFill>
                  <a:srgbClr val="000000"/>
                </a:solidFill>
                <a:latin typeface="Arial"/>
              </a:rPr>
              <a:t>, </a:t>
            </a:r>
            <a:r>
              <a:rPr lang="en-US" sz="1050" kern="0" dirty="0" err="1">
                <a:solidFill>
                  <a:srgbClr val="000000"/>
                </a:solidFill>
                <a:latin typeface="Arial"/>
              </a:rPr>
              <a:t>my_data</a:t>
            </a:r>
            <a:r>
              <a:rPr lang="en-US" sz="1050" kern="0" dirty="0">
                <a:solidFill>
                  <a:srgbClr val="000000"/>
                </a:solidFill>
                <a:latin typeface="Arial"/>
              </a:rPr>
              <a:t> *</a:t>
            </a:r>
            <a:r>
              <a:rPr lang="en-US" sz="1050" kern="0" dirty="0" err="1">
                <a:solidFill>
                  <a:srgbClr val="000000"/>
                </a:solidFill>
                <a:latin typeface="Arial"/>
              </a:rPr>
              <a:t>b_out</a:t>
            </a:r>
            <a:r>
              <a:rPr lang="en-US" sz="1050" kern="0" dirty="0">
                <a:solidFill>
                  <a:srgbClr val="000000"/>
                </a:solidFill>
                <a:latin typeface="Arial"/>
              </a:rPr>
              <a:t>) {  </a:t>
            </a:r>
          </a:p>
          <a:p>
            <a:pPr defTabSz="914400" fontAlgn="base">
              <a:spcBef>
                <a:spcPct val="0"/>
              </a:spcBef>
              <a:spcAft>
                <a:spcPct val="0"/>
              </a:spcAft>
              <a:tabLst>
                <a:tab pos="457200" algn="l"/>
                <a:tab pos="914400" algn="l"/>
              </a:tabLst>
              <a:defRPr/>
            </a:pPr>
            <a:r>
              <a:rPr lang="en-US" sz="1050" kern="0" dirty="0">
                <a:solidFill>
                  <a:srgbClr val="000000"/>
                </a:solidFill>
                <a:latin typeface="Arial"/>
              </a:rPr>
              <a:t>	int </a:t>
            </a:r>
            <a:r>
              <a:rPr lang="en-US" sz="1050" kern="0" dirty="0" err="1">
                <a:solidFill>
                  <a:srgbClr val="000000"/>
                </a:solidFill>
                <a:latin typeface="Arial"/>
              </a:rPr>
              <a:t>i</a:t>
            </a:r>
            <a:r>
              <a:rPr lang="en-US" sz="1050" kern="0" dirty="0">
                <a:solidFill>
                  <a:srgbClr val="000000"/>
                </a:solidFill>
                <a:latin typeface="Arial"/>
              </a:rPr>
              <a:t>;  </a:t>
            </a:r>
          </a:p>
          <a:p>
            <a:pPr defTabSz="914400" fontAlgn="base">
              <a:spcBef>
                <a:spcPct val="0"/>
              </a:spcBef>
              <a:spcAft>
                <a:spcPct val="0"/>
              </a:spcAft>
              <a:tabLst>
                <a:tab pos="457200" algn="l"/>
                <a:tab pos="914400" algn="l"/>
              </a:tabLst>
              <a:defRPr/>
            </a:pPr>
            <a:endParaRPr lang="en-US" sz="1050" kern="0" dirty="0">
              <a:solidFill>
                <a:srgbClr val="000000"/>
              </a:solidFill>
              <a:latin typeface="Arial"/>
            </a:endParaRPr>
          </a:p>
          <a:p>
            <a:pPr defTabSz="914400" fontAlgn="base">
              <a:spcBef>
                <a:spcPct val="0"/>
              </a:spcBef>
              <a:spcAft>
                <a:spcPct val="0"/>
              </a:spcAft>
              <a:tabLst>
                <a:tab pos="457200" algn="l"/>
                <a:tab pos="914400" algn="l"/>
              </a:tabLst>
              <a:defRPr/>
            </a:pPr>
            <a:r>
              <a:rPr lang="en-US" sz="1050" kern="0" dirty="0">
                <a:solidFill>
                  <a:srgbClr val="000000"/>
                </a:solidFill>
                <a:latin typeface="Arial"/>
              </a:rPr>
              <a:t>	</a:t>
            </a:r>
            <a:r>
              <a:rPr lang="en-US" sz="1050" kern="0" dirty="0" err="1">
                <a:solidFill>
                  <a:srgbClr val="000000"/>
                </a:solidFill>
                <a:latin typeface="Arial"/>
              </a:rPr>
              <a:t>b_out</a:t>
            </a:r>
            <a:r>
              <a:rPr lang="en-US" sz="1050" kern="0" dirty="0">
                <a:solidFill>
                  <a:srgbClr val="000000"/>
                </a:solidFill>
                <a:latin typeface="Arial"/>
              </a:rPr>
              <a:t>-&gt;A = </a:t>
            </a:r>
            <a:r>
              <a:rPr lang="en-US" sz="1050" kern="0" dirty="0" err="1">
                <a:solidFill>
                  <a:srgbClr val="000000"/>
                </a:solidFill>
                <a:latin typeface="Arial"/>
              </a:rPr>
              <a:t>a_in</a:t>
            </a:r>
            <a:r>
              <a:rPr lang="en-US" sz="1050" kern="0" dirty="0">
                <a:solidFill>
                  <a:srgbClr val="000000"/>
                </a:solidFill>
                <a:latin typeface="Arial"/>
              </a:rPr>
              <a:t>-&gt;A + 1; </a:t>
            </a:r>
          </a:p>
          <a:p>
            <a:pPr defTabSz="914400" fontAlgn="base">
              <a:spcBef>
                <a:spcPct val="0"/>
              </a:spcBef>
              <a:spcAft>
                <a:spcPct val="0"/>
              </a:spcAft>
              <a:tabLst>
                <a:tab pos="457200" algn="l"/>
                <a:tab pos="914400" algn="l"/>
              </a:tabLst>
              <a:defRPr/>
            </a:pPr>
            <a:r>
              <a:rPr lang="en-US" sz="1050" kern="0" dirty="0">
                <a:solidFill>
                  <a:srgbClr val="000000"/>
                </a:solidFill>
                <a:latin typeface="Arial"/>
              </a:rPr>
              <a:t> </a:t>
            </a:r>
          </a:p>
          <a:p>
            <a:pPr defTabSz="914400" fontAlgn="base">
              <a:spcBef>
                <a:spcPct val="0"/>
              </a:spcBef>
              <a:spcAft>
                <a:spcPct val="0"/>
              </a:spcAft>
              <a:tabLst>
                <a:tab pos="457200" algn="l"/>
                <a:tab pos="914400" algn="l"/>
              </a:tabLst>
              <a:defRPr/>
            </a:pPr>
            <a:r>
              <a:rPr lang="en-US" sz="1050" kern="0" dirty="0">
                <a:solidFill>
                  <a:srgbClr val="000000"/>
                </a:solidFill>
                <a:latin typeface="Arial"/>
              </a:rPr>
              <a:t>	for(</a:t>
            </a:r>
            <a:r>
              <a:rPr lang="en-US" sz="1050" kern="0" dirty="0" err="1">
                <a:solidFill>
                  <a:srgbClr val="000000"/>
                </a:solidFill>
                <a:latin typeface="Arial"/>
              </a:rPr>
              <a:t>i</a:t>
            </a:r>
            <a:r>
              <a:rPr lang="en-US" sz="1050" kern="0" dirty="0">
                <a:solidFill>
                  <a:srgbClr val="000000"/>
                </a:solidFill>
                <a:latin typeface="Arial"/>
              </a:rPr>
              <a:t>=0; </a:t>
            </a:r>
            <a:r>
              <a:rPr lang="en-US" sz="1050" kern="0" dirty="0" err="1">
                <a:solidFill>
                  <a:srgbClr val="000000"/>
                </a:solidFill>
                <a:latin typeface="Arial"/>
              </a:rPr>
              <a:t>i</a:t>
            </a:r>
            <a:r>
              <a:rPr lang="en-US" sz="1050" kern="0" dirty="0">
                <a:solidFill>
                  <a:srgbClr val="000000"/>
                </a:solidFill>
                <a:latin typeface="Arial"/>
              </a:rPr>
              <a:t> &lt;= 319; </a:t>
            </a:r>
            <a:r>
              <a:rPr lang="en-US" sz="1050" kern="0" dirty="0" err="1">
                <a:solidFill>
                  <a:srgbClr val="000000"/>
                </a:solidFill>
                <a:latin typeface="Arial"/>
              </a:rPr>
              <a:t>i</a:t>
            </a:r>
            <a:r>
              <a:rPr lang="en-US" sz="1050" kern="0" dirty="0">
                <a:solidFill>
                  <a:srgbClr val="000000"/>
                </a:solidFill>
                <a:latin typeface="Arial"/>
              </a:rPr>
              <a:t>++) {    </a:t>
            </a:r>
          </a:p>
          <a:p>
            <a:pPr defTabSz="914400" fontAlgn="base">
              <a:spcBef>
                <a:spcPct val="0"/>
              </a:spcBef>
              <a:spcAft>
                <a:spcPct val="0"/>
              </a:spcAft>
              <a:tabLst>
                <a:tab pos="457200" algn="l"/>
                <a:tab pos="914400" algn="l"/>
              </a:tabLst>
              <a:defRPr/>
            </a:pPr>
            <a:r>
              <a:rPr lang="en-US" sz="1050" kern="0" dirty="0">
                <a:solidFill>
                  <a:srgbClr val="000000"/>
                </a:solidFill>
                <a:latin typeface="Arial"/>
              </a:rPr>
              <a:t>		</a:t>
            </a:r>
            <a:r>
              <a:rPr lang="en-US" sz="1050" kern="0" dirty="0" err="1">
                <a:solidFill>
                  <a:srgbClr val="000000"/>
                </a:solidFill>
                <a:latin typeface="Arial"/>
              </a:rPr>
              <a:t>b_out</a:t>
            </a:r>
            <a:r>
              <a:rPr lang="en-US" sz="1050" kern="0" dirty="0">
                <a:solidFill>
                  <a:srgbClr val="000000"/>
                </a:solidFill>
                <a:latin typeface="Arial"/>
              </a:rPr>
              <a:t>-&gt;B[</a:t>
            </a:r>
            <a:r>
              <a:rPr lang="en-US" sz="1050" kern="0" dirty="0" err="1">
                <a:solidFill>
                  <a:srgbClr val="000000"/>
                </a:solidFill>
                <a:latin typeface="Arial"/>
              </a:rPr>
              <a:t>i</a:t>
            </a:r>
            <a:r>
              <a:rPr lang="en-US" sz="1050" kern="0" dirty="0">
                <a:solidFill>
                  <a:srgbClr val="000000"/>
                </a:solidFill>
                <a:latin typeface="Arial"/>
              </a:rPr>
              <a:t>] = </a:t>
            </a:r>
            <a:r>
              <a:rPr lang="en-US" sz="1050" kern="0" dirty="0" err="1">
                <a:solidFill>
                  <a:srgbClr val="000000"/>
                </a:solidFill>
                <a:latin typeface="Arial"/>
              </a:rPr>
              <a:t>a_in</a:t>
            </a:r>
            <a:r>
              <a:rPr lang="en-US" sz="1050" kern="0" dirty="0">
                <a:solidFill>
                  <a:srgbClr val="000000"/>
                </a:solidFill>
                <a:latin typeface="Arial"/>
              </a:rPr>
              <a:t>-&gt;B[</a:t>
            </a:r>
            <a:r>
              <a:rPr lang="en-US" sz="1050" kern="0" dirty="0" err="1">
                <a:solidFill>
                  <a:srgbClr val="000000"/>
                </a:solidFill>
                <a:latin typeface="Arial"/>
              </a:rPr>
              <a:t>i</a:t>
            </a:r>
            <a:r>
              <a:rPr lang="en-US" sz="1050" kern="0" dirty="0">
                <a:solidFill>
                  <a:srgbClr val="000000"/>
                </a:solidFill>
                <a:latin typeface="Arial"/>
              </a:rPr>
              <a:t>] +1 ;</a:t>
            </a:r>
          </a:p>
          <a:p>
            <a:pPr defTabSz="914400" fontAlgn="base">
              <a:spcBef>
                <a:spcPct val="0"/>
              </a:spcBef>
              <a:spcAft>
                <a:spcPct val="0"/>
              </a:spcAft>
              <a:tabLst>
                <a:tab pos="457200" algn="l"/>
                <a:tab pos="914400" algn="l"/>
              </a:tabLst>
              <a:defRPr/>
            </a:pPr>
            <a:r>
              <a:rPr lang="en-US" sz="1050" kern="0" dirty="0">
                <a:solidFill>
                  <a:srgbClr val="000000"/>
                </a:solidFill>
                <a:latin typeface="Arial"/>
              </a:rPr>
              <a:t>	}</a:t>
            </a:r>
          </a:p>
          <a:p>
            <a:pPr defTabSz="914400" fontAlgn="base">
              <a:spcBef>
                <a:spcPct val="0"/>
              </a:spcBef>
              <a:spcAft>
                <a:spcPct val="0"/>
              </a:spcAft>
              <a:tabLst>
                <a:tab pos="457200" algn="l"/>
                <a:tab pos="914400" algn="l"/>
              </a:tabLst>
              <a:defRPr/>
            </a:pPr>
            <a:endParaRPr lang="en-US" sz="1050" kern="0" dirty="0">
              <a:solidFill>
                <a:srgbClr val="000000"/>
              </a:solidFill>
              <a:latin typeface="Arial"/>
            </a:endParaRPr>
          </a:p>
          <a:p>
            <a:pPr defTabSz="914400" fontAlgn="base">
              <a:spcBef>
                <a:spcPct val="0"/>
              </a:spcBef>
              <a:spcAft>
                <a:spcPct val="0"/>
              </a:spcAft>
              <a:tabLst>
                <a:tab pos="457200" algn="l"/>
                <a:tab pos="914400" algn="l"/>
              </a:tabLst>
              <a:defRPr/>
            </a:pPr>
            <a:r>
              <a:rPr lang="en-US" sz="1050" kern="0" dirty="0">
                <a:solidFill>
                  <a:srgbClr val="000000"/>
                </a:solidFill>
                <a:latin typeface="Arial"/>
              </a:rPr>
              <a:t>	</a:t>
            </a:r>
            <a:r>
              <a:rPr lang="en-US" sz="1050" kern="0" dirty="0" err="1">
                <a:solidFill>
                  <a:srgbClr val="000000"/>
                </a:solidFill>
                <a:latin typeface="Arial"/>
              </a:rPr>
              <a:t>b_out</a:t>
            </a:r>
            <a:r>
              <a:rPr lang="en-US" sz="1050" kern="0" dirty="0">
                <a:solidFill>
                  <a:srgbClr val="000000"/>
                </a:solidFill>
                <a:latin typeface="Arial"/>
              </a:rPr>
              <a:t>-&gt;C = </a:t>
            </a:r>
            <a:r>
              <a:rPr lang="en-US" sz="1050" kern="0" dirty="0" err="1">
                <a:solidFill>
                  <a:srgbClr val="000000"/>
                </a:solidFill>
                <a:latin typeface="Arial"/>
              </a:rPr>
              <a:t>a_in</a:t>
            </a:r>
            <a:r>
              <a:rPr lang="en-US" sz="1050" kern="0" dirty="0">
                <a:solidFill>
                  <a:srgbClr val="000000"/>
                </a:solidFill>
                <a:latin typeface="Arial"/>
              </a:rPr>
              <a:t>-&gt;C +1;  </a:t>
            </a:r>
          </a:p>
          <a:p>
            <a:pPr defTabSz="914400" fontAlgn="base">
              <a:spcBef>
                <a:spcPct val="0"/>
              </a:spcBef>
              <a:spcAft>
                <a:spcPct val="0"/>
              </a:spcAft>
              <a:tabLst>
                <a:tab pos="457200" algn="l"/>
                <a:tab pos="914400" algn="l"/>
              </a:tabLst>
              <a:defRPr/>
            </a:pPr>
            <a:r>
              <a:rPr lang="en-US" sz="1050" kern="0" dirty="0">
                <a:solidFill>
                  <a:srgbClr val="000000"/>
                </a:solidFill>
                <a:latin typeface="Arial"/>
              </a:rPr>
              <a:t>}</a:t>
            </a:r>
          </a:p>
        </p:txBody>
      </p:sp>
      <p:sp>
        <p:nvSpPr>
          <p:cNvPr id="11" name="TextBox 10">
            <a:extLst>
              <a:ext uri="{FF2B5EF4-FFF2-40B4-BE49-F238E27FC236}">
                <a16:creationId xmlns:a16="http://schemas.microsoft.com/office/drawing/2014/main" id="{898A1404-2960-4E9D-864F-B666AA7F4F31}"/>
              </a:ext>
            </a:extLst>
          </p:cNvPr>
          <p:cNvSpPr txBox="1"/>
          <p:nvPr/>
        </p:nvSpPr>
        <p:spPr>
          <a:xfrm>
            <a:off x="6556742" y="1842059"/>
            <a:ext cx="2663679" cy="900246"/>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tabLst>
                <a:tab pos="457200" algn="l"/>
              </a:tabLst>
              <a:defRPr/>
            </a:pPr>
            <a:r>
              <a:rPr lang="en-US" sz="1050" kern="0" dirty="0" err="1">
                <a:solidFill>
                  <a:srgbClr val="000000"/>
                </a:solidFill>
                <a:latin typeface="Arial"/>
              </a:rPr>
              <a:t>typedef</a:t>
            </a:r>
            <a:r>
              <a:rPr lang="en-US" sz="1050" kern="0" dirty="0">
                <a:solidFill>
                  <a:srgbClr val="000000"/>
                </a:solidFill>
                <a:latin typeface="Arial"/>
              </a:rPr>
              <a:t> struct {  </a:t>
            </a:r>
          </a:p>
          <a:p>
            <a:pPr defTabSz="914400" fontAlgn="base">
              <a:spcBef>
                <a:spcPct val="0"/>
              </a:spcBef>
              <a:spcAft>
                <a:spcPct val="0"/>
              </a:spcAft>
              <a:tabLst>
                <a:tab pos="457200" algn="l"/>
              </a:tabLst>
              <a:defRPr/>
            </a:pPr>
            <a:r>
              <a:rPr lang="en-US" sz="1050" kern="0" dirty="0">
                <a:solidFill>
                  <a:srgbClr val="000000"/>
                </a:solidFill>
                <a:latin typeface="Arial"/>
              </a:rPr>
              <a:t>	unsigned char A;  </a:t>
            </a:r>
          </a:p>
          <a:p>
            <a:pPr defTabSz="914400" fontAlgn="base">
              <a:spcBef>
                <a:spcPct val="0"/>
              </a:spcBef>
              <a:spcAft>
                <a:spcPct val="0"/>
              </a:spcAft>
              <a:tabLst>
                <a:tab pos="457200" algn="l"/>
              </a:tabLst>
              <a:defRPr/>
            </a:pPr>
            <a:r>
              <a:rPr lang="en-US" sz="1050" kern="0" dirty="0">
                <a:solidFill>
                  <a:srgbClr val="000000"/>
                </a:solidFill>
                <a:latin typeface="Arial"/>
              </a:rPr>
              <a:t>	unsigned char B[320];  </a:t>
            </a:r>
          </a:p>
          <a:p>
            <a:pPr defTabSz="914400" fontAlgn="base">
              <a:spcBef>
                <a:spcPct val="0"/>
              </a:spcBef>
              <a:spcAft>
                <a:spcPct val="0"/>
              </a:spcAft>
              <a:tabLst>
                <a:tab pos="457200" algn="l"/>
              </a:tabLst>
              <a:defRPr/>
            </a:pPr>
            <a:r>
              <a:rPr lang="en-US" sz="1050" kern="0" dirty="0">
                <a:solidFill>
                  <a:srgbClr val="000000"/>
                </a:solidFill>
                <a:latin typeface="Arial"/>
              </a:rPr>
              <a:t>	unsigned char C;</a:t>
            </a:r>
          </a:p>
          <a:p>
            <a:pPr defTabSz="914400" fontAlgn="base">
              <a:spcBef>
                <a:spcPct val="0"/>
              </a:spcBef>
              <a:spcAft>
                <a:spcPct val="0"/>
              </a:spcAft>
              <a:tabLst>
                <a:tab pos="457200" algn="l"/>
              </a:tabLst>
              <a:defRPr/>
            </a:pPr>
            <a:r>
              <a:rPr lang="en-US" sz="1050" kern="0" dirty="0">
                <a:solidFill>
                  <a:srgbClr val="000000"/>
                </a:solidFill>
                <a:latin typeface="Arial"/>
              </a:rPr>
              <a:t>}</a:t>
            </a:r>
            <a:r>
              <a:rPr lang="en-US" sz="1050" kern="0" dirty="0" err="1">
                <a:solidFill>
                  <a:srgbClr val="000000"/>
                </a:solidFill>
                <a:latin typeface="Arial"/>
              </a:rPr>
              <a:t>my_data</a:t>
            </a:r>
            <a:r>
              <a:rPr lang="en-US" sz="1050" kern="0" dirty="0">
                <a:solidFill>
                  <a:srgbClr val="000000"/>
                </a:solidFill>
                <a:latin typeface="Arial"/>
              </a:rPr>
              <a: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Pointer Arithmetic: One Interface</a:t>
            </a:r>
          </a:p>
        </p:txBody>
      </p:sp>
      <p:sp>
        <p:nvSpPr>
          <p:cNvPr id="3" name="Content Placeholder 2"/>
          <p:cNvSpPr>
            <a:spLocks noGrp="1"/>
          </p:cNvSpPr>
          <p:nvPr>
            <p:ph idx="1"/>
          </p:nvPr>
        </p:nvSpPr>
        <p:spPr>
          <a:xfrm>
            <a:off x="579121" y="1412564"/>
            <a:ext cx="11033760" cy="4632960"/>
          </a:xfrm>
        </p:spPr>
        <p:txBody>
          <a:bodyPr>
            <a:noAutofit/>
          </a:bodyPr>
          <a:lstStyle/>
          <a:p>
            <a:r>
              <a:rPr lang="en-US" sz="1800" dirty="0"/>
              <a:t>Pointer arithmetic</a:t>
            </a:r>
          </a:p>
          <a:p>
            <a:pPr lvl="1"/>
            <a:r>
              <a:rPr lang="en-US" sz="1600" dirty="0"/>
              <a:t>This function uses some pointer arithmetic to accumulate the data values</a:t>
            </a:r>
          </a:p>
          <a:p>
            <a:endParaRPr lang="en-US" dirty="0"/>
          </a:p>
          <a:p>
            <a:endParaRPr lang="en-US" dirty="0"/>
          </a:p>
          <a:p>
            <a:endParaRPr lang="en-US" dirty="0"/>
          </a:p>
          <a:p>
            <a:r>
              <a:rPr lang="en-US" sz="1800" dirty="0"/>
              <a:t>Wire, handshake, FIFO interfaces</a:t>
            </a:r>
            <a:endParaRPr lang="en-US" sz="1800" strike="sngStrike" dirty="0"/>
          </a:p>
          <a:p>
            <a:pPr lvl="1"/>
            <a:r>
              <a:rPr lang="en-US" sz="1600" dirty="0"/>
              <a:t>All reads &amp; writes must be sequential (start from location 0 implied)</a:t>
            </a:r>
          </a:p>
          <a:p>
            <a:r>
              <a:rPr lang="en-US" sz="1800" dirty="0"/>
              <a:t>Modify the code with an array on the interface and implemented with </a:t>
            </a:r>
            <a:r>
              <a:rPr lang="en-US" sz="1800" dirty="0" err="1"/>
              <a:t>ap_memory</a:t>
            </a:r>
            <a:endParaRPr lang="en-US" sz="1800" dirty="0"/>
          </a:p>
          <a:p>
            <a:pPr lvl="1"/>
            <a:r>
              <a:rPr lang="en-US" sz="1600" dirty="0"/>
              <a:t>Output address 4 is never written</a:t>
            </a:r>
          </a:p>
          <a:p>
            <a:pPr lvl="1"/>
            <a:r>
              <a:rPr lang="en-US" sz="1600" dirty="0"/>
              <a:t>If wire, handshake and FIFO interfaces are used here, RTL co-simulation fails</a:t>
            </a:r>
          </a:p>
        </p:txBody>
      </p:sp>
      <p:sp>
        <p:nvSpPr>
          <p:cNvPr id="14" name="Slide Number Placeholder 5">
            <a:extLst>
              <a:ext uri="{FF2B5EF4-FFF2-40B4-BE49-F238E27FC236}">
                <a16:creationId xmlns:a16="http://schemas.microsoft.com/office/drawing/2014/main" id="{AE62FB4F-B9DF-479F-963E-B9173B59C29D}"/>
              </a:ext>
            </a:extLst>
          </p:cNvPr>
          <p:cNvSpPr>
            <a:spLocks noGrp="1"/>
          </p:cNvSpPr>
          <p:nvPr>
            <p:ph type="sldNum" sz="quarter" idx="4"/>
          </p:nvPr>
        </p:nvSpPr>
        <p:spPr/>
        <p:txBody>
          <a:bodyPr/>
          <a:lstStyle/>
          <a:p>
            <a:pPr>
              <a:defRPr/>
            </a:pPr>
            <a:r>
              <a:rPr lang="en-US" dirty="0"/>
              <a:t>Coding Considerations 23- </a:t>
            </a:r>
            <a:fld id="{060BD193-E118-4B16-863C-C8C12C675E3E}" type="slidenum">
              <a:rPr lang="en-US" smtClean="0"/>
              <a:pPr>
                <a:defRPr/>
              </a:pPr>
              <a:t>38</a:t>
            </a:fld>
            <a:endParaRPr lang="en-US" dirty="0"/>
          </a:p>
        </p:txBody>
      </p:sp>
      <p:sp>
        <p:nvSpPr>
          <p:cNvPr id="11" name="TextBox 10">
            <a:extLst>
              <a:ext uri="{FF2B5EF4-FFF2-40B4-BE49-F238E27FC236}">
                <a16:creationId xmlns:a16="http://schemas.microsoft.com/office/drawing/2014/main" id="{A91CCAF5-BD50-4F88-884C-8355243BBD8B}"/>
              </a:ext>
            </a:extLst>
          </p:cNvPr>
          <p:cNvSpPr txBox="1"/>
          <p:nvPr/>
        </p:nvSpPr>
        <p:spPr>
          <a:xfrm>
            <a:off x="1795761" y="2066650"/>
            <a:ext cx="2252507" cy="1869743"/>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defRPr/>
            </a:pPr>
            <a:r>
              <a:rPr lang="en-US" sz="1050" kern="0" dirty="0">
                <a:solidFill>
                  <a:srgbClr val="000000"/>
                </a:solidFill>
                <a:latin typeface="Arial"/>
              </a:rPr>
              <a:t>#include "</a:t>
            </a:r>
            <a:r>
              <a:rPr lang="en-US" sz="1050" kern="0" dirty="0" err="1">
                <a:solidFill>
                  <a:srgbClr val="000000"/>
                </a:solidFill>
                <a:latin typeface="Arial"/>
              </a:rPr>
              <a:t>bus.h</a:t>
            </a:r>
            <a:r>
              <a:rPr lang="en-US" sz="1050" kern="0" dirty="0">
                <a:solidFill>
                  <a:srgbClr val="000000"/>
                </a:solidFill>
                <a:latin typeface="Arial"/>
              </a:rPr>
              <a:t>"</a:t>
            </a:r>
          </a:p>
          <a:p>
            <a:pPr defTabSz="914400" fontAlgn="base">
              <a:spcBef>
                <a:spcPct val="0"/>
              </a:spcBef>
              <a:spcAft>
                <a:spcPct val="0"/>
              </a:spcAft>
              <a:defRPr/>
            </a:pPr>
            <a:endParaRPr lang="en-US" sz="1050" kern="0" dirty="0">
              <a:solidFill>
                <a:srgbClr val="000000"/>
              </a:solidFill>
              <a:latin typeface="Arial"/>
            </a:endParaRPr>
          </a:p>
          <a:p>
            <a:pPr defTabSz="914400" fontAlgn="base">
              <a:spcBef>
                <a:spcPct val="0"/>
              </a:spcBef>
              <a:spcAft>
                <a:spcPct val="0"/>
              </a:spcAft>
              <a:defRPr/>
            </a:pPr>
            <a:r>
              <a:rPr lang="en-US" sz="1050" kern="0" dirty="0">
                <a:solidFill>
                  <a:srgbClr val="000000"/>
                </a:solidFill>
                <a:latin typeface="Arial"/>
              </a:rPr>
              <a:t>void </a:t>
            </a:r>
            <a:r>
              <a:rPr lang="en-US" sz="1050" kern="0" dirty="0" err="1">
                <a:solidFill>
                  <a:srgbClr val="000000"/>
                </a:solidFill>
                <a:latin typeface="Arial"/>
              </a:rPr>
              <a:t>foo</a:t>
            </a:r>
            <a:r>
              <a:rPr lang="en-US" sz="1050" kern="0" dirty="0">
                <a:solidFill>
                  <a:srgbClr val="000000"/>
                </a:solidFill>
                <a:latin typeface="Arial"/>
              </a:rPr>
              <a:t> (int *d) {</a:t>
            </a:r>
          </a:p>
          <a:p>
            <a:pPr defTabSz="914400" fontAlgn="base">
              <a:spcBef>
                <a:spcPct val="0"/>
              </a:spcBef>
              <a:spcAft>
                <a:spcPct val="0"/>
              </a:spcAft>
              <a:defRPr/>
            </a:pPr>
            <a:r>
              <a:rPr lang="en-US" sz="1050" kern="0" dirty="0">
                <a:solidFill>
                  <a:srgbClr val="000000"/>
                </a:solidFill>
                <a:latin typeface="Arial"/>
              </a:rPr>
              <a:t>  static </a:t>
            </a:r>
            <a:r>
              <a:rPr lang="en-US" sz="1050" kern="0" dirty="0" err="1">
                <a:solidFill>
                  <a:srgbClr val="000000"/>
                </a:solidFill>
                <a:latin typeface="Arial"/>
              </a:rPr>
              <a:t>int</a:t>
            </a:r>
            <a:r>
              <a:rPr lang="en-US" sz="1050" kern="0" dirty="0">
                <a:solidFill>
                  <a:srgbClr val="000000"/>
                </a:solidFill>
                <a:latin typeface="Arial"/>
              </a:rPr>
              <a:t> acc = 0;</a:t>
            </a:r>
          </a:p>
          <a:p>
            <a:pPr defTabSz="914400" fontAlgn="base">
              <a:spcBef>
                <a:spcPct val="0"/>
              </a:spcBef>
              <a:spcAft>
                <a:spcPct val="0"/>
              </a:spcAft>
              <a:defRPr/>
            </a:pPr>
            <a:r>
              <a:rPr lang="en-US" sz="1050" kern="0" dirty="0">
                <a:solidFill>
                  <a:srgbClr val="000000"/>
                </a:solidFill>
                <a:latin typeface="Arial"/>
              </a:rPr>
              <a:t>  </a:t>
            </a:r>
            <a:r>
              <a:rPr lang="en-US" sz="1050" kern="0" dirty="0" err="1">
                <a:solidFill>
                  <a:srgbClr val="000000"/>
                </a:solidFill>
                <a:latin typeface="Arial"/>
              </a:rPr>
              <a:t>int</a:t>
            </a:r>
            <a:r>
              <a:rPr lang="en-US" sz="1050" kern="0" dirty="0">
                <a:solidFill>
                  <a:srgbClr val="000000"/>
                </a:solidFill>
                <a:latin typeface="Arial"/>
              </a:rPr>
              <a:t> </a:t>
            </a:r>
            <a:r>
              <a:rPr lang="en-US" sz="1050" kern="0" dirty="0" err="1">
                <a:solidFill>
                  <a:srgbClr val="000000"/>
                </a:solidFill>
                <a:latin typeface="Arial"/>
              </a:rPr>
              <a:t>i</a:t>
            </a:r>
            <a:r>
              <a:rPr lang="en-US" sz="1050" kern="0" dirty="0">
                <a:solidFill>
                  <a:srgbClr val="000000"/>
                </a:solidFill>
                <a:latin typeface="Arial"/>
              </a:rPr>
              <a:t>;</a:t>
            </a:r>
          </a:p>
          <a:p>
            <a:pPr defTabSz="914400" fontAlgn="base">
              <a:spcBef>
                <a:spcPct val="0"/>
              </a:spcBef>
              <a:spcAft>
                <a:spcPct val="0"/>
              </a:spcAft>
              <a:defRPr/>
            </a:pPr>
            <a:r>
              <a:rPr lang="en-US" sz="1050" kern="0" dirty="0">
                <a:solidFill>
                  <a:srgbClr val="000000"/>
                </a:solidFill>
                <a:latin typeface="Arial"/>
              </a:rPr>
              <a:t>  </a:t>
            </a:r>
          </a:p>
          <a:p>
            <a:pPr defTabSz="914400" fontAlgn="base">
              <a:spcBef>
                <a:spcPct val="0"/>
              </a:spcBef>
              <a:spcAft>
                <a:spcPct val="0"/>
              </a:spcAft>
              <a:defRPr/>
            </a:pPr>
            <a:r>
              <a:rPr lang="en-US" sz="1050" kern="0" dirty="0">
                <a:solidFill>
                  <a:srgbClr val="000000"/>
                </a:solidFill>
                <a:latin typeface="Arial"/>
              </a:rPr>
              <a:t>  for (</a:t>
            </a:r>
            <a:r>
              <a:rPr lang="en-US" sz="1050" kern="0" dirty="0" err="1">
                <a:solidFill>
                  <a:srgbClr val="000000"/>
                </a:solidFill>
                <a:latin typeface="Arial"/>
              </a:rPr>
              <a:t>i</a:t>
            </a:r>
            <a:r>
              <a:rPr lang="en-US" sz="1050" kern="0" dirty="0">
                <a:solidFill>
                  <a:srgbClr val="000000"/>
                </a:solidFill>
                <a:latin typeface="Arial"/>
              </a:rPr>
              <a:t>=0;i&lt;4;i++) {</a:t>
            </a:r>
          </a:p>
          <a:p>
            <a:pPr defTabSz="914400" fontAlgn="base">
              <a:spcBef>
                <a:spcPct val="0"/>
              </a:spcBef>
              <a:spcAft>
                <a:spcPct val="0"/>
              </a:spcAft>
              <a:defRPr/>
            </a:pPr>
            <a:r>
              <a:rPr lang="en-US" sz="1050" kern="0" dirty="0">
                <a:solidFill>
                  <a:srgbClr val="000000"/>
                </a:solidFill>
                <a:latin typeface="Arial"/>
              </a:rPr>
              <a:t>    acc += </a:t>
            </a:r>
            <a:r>
              <a:rPr lang="en-US" sz="1050" b="1" kern="0" dirty="0">
                <a:solidFill>
                  <a:srgbClr val="000000"/>
                </a:solidFill>
                <a:latin typeface="Arial"/>
              </a:rPr>
              <a:t>*(d+i+1);</a:t>
            </a:r>
          </a:p>
          <a:p>
            <a:pPr defTabSz="914400" fontAlgn="base">
              <a:spcBef>
                <a:spcPct val="0"/>
              </a:spcBef>
              <a:spcAft>
                <a:spcPct val="0"/>
              </a:spcAft>
              <a:defRPr/>
            </a:pPr>
            <a:r>
              <a:rPr lang="en-US" sz="1050" kern="0" dirty="0">
                <a:solidFill>
                  <a:srgbClr val="000000"/>
                </a:solidFill>
                <a:latin typeface="Arial"/>
              </a:rPr>
              <a:t>    *(</a:t>
            </a:r>
            <a:r>
              <a:rPr lang="en-US" sz="1050" kern="0" dirty="0" err="1">
                <a:solidFill>
                  <a:srgbClr val="000000"/>
                </a:solidFill>
                <a:latin typeface="Arial"/>
              </a:rPr>
              <a:t>d+i</a:t>
            </a:r>
            <a:r>
              <a:rPr lang="en-US" sz="1050" kern="0" dirty="0">
                <a:solidFill>
                  <a:srgbClr val="000000"/>
                </a:solidFill>
                <a:latin typeface="Arial"/>
              </a:rPr>
              <a:t>) = acc;</a:t>
            </a:r>
          </a:p>
          <a:p>
            <a:pPr defTabSz="914400" fontAlgn="base">
              <a:spcBef>
                <a:spcPct val="0"/>
              </a:spcBef>
              <a:spcAft>
                <a:spcPct val="0"/>
              </a:spcAft>
              <a:defRPr/>
            </a:pPr>
            <a:r>
              <a:rPr lang="en-US" sz="1050" kern="0" dirty="0">
                <a:solidFill>
                  <a:srgbClr val="000000"/>
                </a:solidFill>
                <a:latin typeface="Arial"/>
              </a:rPr>
              <a:t>  }</a:t>
            </a:r>
          </a:p>
          <a:p>
            <a:pPr defTabSz="914400" fontAlgn="base">
              <a:spcBef>
                <a:spcPct val="0"/>
              </a:spcBef>
              <a:spcAft>
                <a:spcPct val="0"/>
              </a:spcAft>
              <a:defRPr/>
            </a:pPr>
            <a:r>
              <a:rPr lang="en-US" sz="1050" kern="0" dirty="0">
                <a:solidFill>
                  <a:srgbClr val="000000"/>
                </a:solidFill>
                <a:latin typeface="Arial"/>
              </a:rPr>
              <a:t>}</a:t>
            </a:r>
          </a:p>
        </p:txBody>
      </p:sp>
      <p:sp>
        <p:nvSpPr>
          <p:cNvPr id="13" name="TextBox 12">
            <a:extLst>
              <a:ext uri="{FF2B5EF4-FFF2-40B4-BE49-F238E27FC236}">
                <a16:creationId xmlns:a16="http://schemas.microsoft.com/office/drawing/2014/main" id="{4DF0CB6A-1048-4F2E-BF99-A05270249365}"/>
              </a:ext>
            </a:extLst>
          </p:cNvPr>
          <p:cNvSpPr txBox="1"/>
          <p:nvPr/>
        </p:nvSpPr>
        <p:spPr>
          <a:xfrm>
            <a:off x="4509008" y="3141988"/>
            <a:ext cx="1382220" cy="523220"/>
          </a:xfrm>
          <a:prstGeom prst="rect">
            <a:avLst/>
          </a:prstGeom>
          <a:solidFill>
            <a:srgbClr val="FFFF99"/>
          </a:solidFill>
          <a:ln w="28575">
            <a:solidFill>
              <a:srgbClr val="000000"/>
            </a:solidFill>
          </a:ln>
          <a:effectLst>
            <a:innerShdw blurRad="63500" dist="50800" dir="2700000">
              <a:prstClr val="black">
                <a:alpha val="50000"/>
              </a:prstClr>
            </a:innerShdw>
          </a:effectLst>
        </p:spPr>
        <p:txBody>
          <a:bodyPr wrap="square" rtlCol="0">
            <a:spAutoFit/>
          </a:bodyPr>
          <a:lstStyle/>
          <a:p>
            <a:pPr algn="ctr" defTabSz="914400" fontAlgn="base">
              <a:spcBef>
                <a:spcPct val="0"/>
              </a:spcBef>
              <a:spcAft>
                <a:spcPct val="0"/>
              </a:spcAft>
              <a:defRPr/>
            </a:pPr>
            <a:r>
              <a:rPr lang="en-US" sz="1400" b="1" kern="0" dirty="0">
                <a:solidFill>
                  <a:srgbClr val="000000"/>
                </a:solidFill>
              </a:rPr>
              <a:t>Pointer arithmetic</a:t>
            </a:r>
          </a:p>
        </p:txBody>
      </p:sp>
      <p:cxnSp>
        <p:nvCxnSpPr>
          <p:cNvPr id="19" name="Straight Arrow Connector 18">
            <a:extLst>
              <a:ext uri="{FF2B5EF4-FFF2-40B4-BE49-F238E27FC236}">
                <a16:creationId xmlns:a16="http://schemas.microsoft.com/office/drawing/2014/main" id="{D09AEBF9-0473-4727-A160-C1F50437E964}"/>
              </a:ext>
            </a:extLst>
          </p:cNvPr>
          <p:cNvCxnSpPr/>
          <p:nvPr/>
        </p:nvCxnSpPr>
        <p:spPr>
          <a:xfrm flipH="1">
            <a:off x="3587528" y="3295608"/>
            <a:ext cx="716707" cy="0"/>
          </a:xfrm>
          <a:prstGeom prst="straightConnector1">
            <a:avLst/>
          </a:prstGeom>
          <a:noFill/>
          <a:ln w="38100" cap="flat" cmpd="sng" algn="ctr">
            <a:solidFill>
              <a:srgbClr val="000000"/>
            </a:solidFill>
            <a:prstDash val="solid"/>
            <a:headEnd type="none" w="med" len="med"/>
            <a:tailEnd type="triangle" w="med" len="med"/>
          </a:ln>
          <a:effectLst>
            <a:outerShdw blurRad="40000" dist="23000" dir="5400000" rotWithShape="0">
              <a:srgbClr val="000000">
                <a:alpha val="35000"/>
              </a:srgbClr>
            </a:outerShdw>
          </a:effectLst>
        </p:spPr>
      </p:cxnSp>
      <p:cxnSp>
        <p:nvCxnSpPr>
          <p:cNvPr id="20" name="Straight Arrow Connector 19">
            <a:extLst>
              <a:ext uri="{FF2B5EF4-FFF2-40B4-BE49-F238E27FC236}">
                <a16:creationId xmlns:a16="http://schemas.microsoft.com/office/drawing/2014/main" id="{6D387803-8FB9-4C2F-91A4-972CFC9FB7EB}"/>
              </a:ext>
            </a:extLst>
          </p:cNvPr>
          <p:cNvCxnSpPr/>
          <p:nvPr/>
        </p:nvCxnSpPr>
        <p:spPr>
          <a:xfrm flipH="1">
            <a:off x="3587528" y="3448008"/>
            <a:ext cx="716707" cy="0"/>
          </a:xfrm>
          <a:prstGeom prst="straightConnector1">
            <a:avLst/>
          </a:prstGeom>
          <a:noFill/>
          <a:ln w="38100" cap="flat" cmpd="sng" algn="ctr">
            <a:solidFill>
              <a:srgbClr val="000000"/>
            </a:solidFill>
            <a:prstDash val="solid"/>
            <a:headEnd type="none" w="med" len="med"/>
            <a:tailEnd type="triangle" w="med" len="med"/>
          </a:ln>
          <a:effectLst>
            <a:outerShdw blurRad="40000" dist="23000" dir="5400000" rotWithShape="0">
              <a:srgbClr val="000000">
                <a:alpha val="35000"/>
              </a:srgbClr>
            </a:outerShdw>
          </a:effectLst>
        </p:spPr>
      </p:cxnSp>
      <p:sp>
        <p:nvSpPr>
          <p:cNvPr id="21" name="TextBox 20">
            <a:extLst>
              <a:ext uri="{FF2B5EF4-FFF2-40B4-BE49-F238E27FC236}">
                <a16:creationId xmlns:a16="http://schemas.microsoft.com/office/drawing/2014/main" id="{7ED80F05-6636-4ADE-8EFD-A792AA7A3743}"/>
              </a:ext>
            </a:extLst>
          </p:cNvPr>
          <p:cNvSpPr txBox="1"/>
          <p:nvPr/>
        </p:nvSpPr>
        <p:spPr>
          <a:xfrm>
            <a:off x="8246122" y="1836218"/>
            <a:ext cx="1894153" cy="1892826"/>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defRPr/>
            </a:pPr>
            <a:r>
              <a:rPr lang="en-US" sz="900" kern="0" dirty="0">
                <a:solidFill>
                  <a:srgbClr val="000000"/>
                </a:solidFill>
                <a:latin typeface="Arial"/>
              </a:rPr>
              <a:t># int main () {</a:t>
            </a:r>
          </a:p>
          <a:p>
            <a:pPr defTabSz="914400" fontAlgn="base">
              <a:spcBef>
                <a:spcPct val="0"/>
              </a:spcBef>
              <a:spcAft>
                <a:spcPct val="0"/>
              </a:spcAft>
              <a:defRPr/>
            </a:pPr>
            <a:r>
              <a:rPr lang="en-US" sz="900" kern="0" dirty="0">
                <a:solidFill>
                  <a:srgbClr val="000000"/>
                </a:solidFill>
                <a:latin typeface="Arial"/>
              </a:rPr>
              <a:t>  int d[5];</a:t>
            </a:r>
          </a:p>
          <a:p>
            <a:pPr defTabSz="914400" fontAlgn="base">
              <a:spcBef>
                <a:spcPct val="0"/>
              </a:spcBef>
              <a:spcAft>
                <a:spcPct val="0"/>
              </a:spcAft>
              <a:defRPr/>
            </a:pPr>
            <a:r>
              <a:rPr lang="en-US" sz="900" kern="0" dirty="0">
                <a:solidFill>
                  <a:srgbClr val="000000"/>
                </a:solidFill>
                <a:latin typeface="Arial"/>
              </a:rPr>
              <a:t>  int </a:t>
            </a:r>
            <a:r>
              <a:rPr lang="en-US" sz="900" kern="0" dirty="0" err="1">
                <a:solidFill>
                  <a:srgbClr val="000000"/>
                </a:solidFill>
                <a:latin typeface="Arial"/>
              </a:rPr>
              <a:t>i</a:t>
            </a:r>
            <a:r>
              <a:rPr lang="en-US" sz="900" kern="0" dirty="0">
                <a:solidFill>
                  <a:srgbClr val="000000"/>
                </a:solidFill>
                <a:latin typeface="Arial"/>
              </a:rPr>
              <a:t>;</a:t>
            </a:r>
          </a:p>
          <a:p>
            <a:pPr defTabSz="914400" fontAlgn="base">
              <a:spcBef>
                <a:spcPct val="0"/>
              </a:spcBef>
              <a:spcAft>
                <a:spcPct val="0"/>
              </a:spcAft>
              <a:defRPr/>
            </a:pPr>
            <a:r>
              <a:rPr lang="en-US" sz="900" kern="0" dirty="0">
                <a:solidFill>
                  <a:srgbClr val="000000"/>
                </a:solidFill>
                <a:latin typeface="Arial"/>
              </a:rPr>
              <a:t>  </a:t>
            </a:r>
          </a:p>
          <a:p>
            <a:pPr defTabSz="914400" fontAlgn="base">
              <a:spcBef>
                <a:spcPct val="0"/>
              </a:spcBef>
              <a:spcAft>
                <a:spcPct val="0"/>
              </a:spcAft>
              <a:defRPr/>
            </a:pPr>
            <a:r>
              <a:rPr lang="en-US" sz="900" kern="0" dirty="0">
                <a:solidFill>
                  <a:srgbClr val="000000"/>
                </a:solidFill>
                <a:latin typeface="Arial"/>
              </a:rPr>
              <a:t>for (</a:t>
            </a:r>
            <a:r>
              <a:rPr lang="en-US" sz="900" kern="0" dirty="0" err="1">
                <a:solidFill>
                  <a:srgbClr val="000000"/>
                </a:solidFill>
                <a:latin typeface="Arial"/>
              </a:rPr>
              <a:t>i</a:t>
            </a:r>
            <a:r>
              <a:rPr lang="en-US" sz="900" kern="0" dirty="0">
                <a:solidFill>
                  <a:srgbClr val="000000"/>
                </a:solidFill>
                <a:latin typeface="Arial"/>
              </a:rPr>
              <a:t>=0;i&lt;5;i++) {</a:t>
            </a:r>
          </a:p>
          <a:p>
            <a:pPr defTabSz="914400" fontAlgn="base">
              <a:spcBef>
                <a:spcPct val="0"/>
              </a:spcBef>
              <a:spcAft>
                <a:spcPct val="0"/>
              </a:spcAft>
              <a:defRPr/>
            </a:pPr>
            <a:r>
              <a:rPr lang="en-US" sz="900" kern="0" dirty="0">
                <a:solidFill>
                  <a:srgbClr val="000000"/>
                </a:solidFill>
                <a:latin typeface="Arial"/>
              </a:rPr>
              <a:t>    d[</a:t>
            </a:r>
            <a:r>
              <a:rPr lang="en-US" sz="900" kern="0" dirty="0" err="1">
                <a:solidFill>
                  <a:srgbClr val="000000"/>
                </a:solidFill>
                <a:latin typeface="Arial"/>
              </a:rPr>
              <a:t>i</a:t>
            </a:r>
            <a:r>
              <a:rPr lang="en-US" sz="900" kern="0" dirty="0">
                <a:solidFill>
                  <a:srgbClr val="000000"/>
                </a:solidFill>
                <a:latin typeface="Arial"/>
              </a:rPr>
              <a:t>] = </a:t>
            </a:r>
            <a:r>
              <a:rPr lang="en-US" sz="900" kern="0" dirty="0" err="1">
                <a:solidFill>
                  <a:srgbClr val="000000"/>
                </a:solidFill>
                <a:latin typeface="Arial"/>
              </a:rPr>
              <a:t>i</a:t>
            </a:r>
            <a:r>
              <a:rPr lang="en-US" sz="900" kern="0" dirty="0">
                <a:solidFill>
                  <a:srgbClr val="000000"/>
                </a:solidFill>
                <a:latin typeface="Arial"/>
              </a:rPr>
              <a:t>;</a:t>
            </a:r>
          </a:p>
          <a:p>
            <a:pPr defTabSz="914400" fontAlgn="base">
              <a:spcBef>
                <a:spcPct val="0"/>
              </a:spcBef>
              <a:spcAft>
                <a:spcPct val="0"/>
              </a:spcAft>
              <a:defRPr/>
            </a:pPr>
            <a:r>
              <a:rPr lang="en-US" sz="900" kern="0" dirty="0">
                <a:solidFill>
                  <a:srgbClr val="000000"/>
                </a:solidFill>
                <a:latin typeface="Arial"/>
              </a:rPr>
              <a:t>  }</a:t>
            </a:r>
          </a:p>
          <a:p>
            <a:pPr defTabSz="914400" fontAlgn="base">
              <a:spcBef>
                <a:spcPct val="0"/>
              </a:spcBef>
              <a:spcAft>
                <a:spcPct val="0"/>
              </a:spcAft>
              <a:defRPr/>
            </a:pPr>
            <a:r>
              <a:rPr lang="en-US" sz="900" kern="0" dirty="0">
                <a:solidFill>
                  <a:srgbClr val="000000"/>
                </a:solidFill>
                <a:latin typeface="Arial"/>
              </a:rPr>
              <a:t>  </a:t>
            </a:r>
          </a:p>
          <a:p>
            <a:pPr defTabSz="914400" fontAlgn="base">
              <a:spcBef>
                <a:spcPct val="0"/>
              </a:spcBef>
              <a:spcAft>
                <a:spcPct val="0"/>
              </a:spcAft>
              <a:defRPr/>
            </a:pPr>
            <a:r>
              <a:rPr lang="en-US" sz="900" kern="0" dirty="0" err="1">
                <a:solidFill>
                  <a:srgbClr val="000000"/>
                </a:solidFill>
                <a:latin typeface="Arial"/>
              </a:rPr>
              <a:t>foo</a:t>
            </a:r>
            <a:r>
              <a:rPr lang="en-US" sz="900" kern="0" dirty="0">
                <a:solidFill>
                  <a:srgbClr val="000000"/>
                </a:solidFill>
                <a:latin typeface="Arial"/>
              </a:rPr>
              <a:t>(d);</a:t>
            </a:r>
          </a:p>
          <a:p>
            <a:pPr defTabSz="914400" fontAlgn="base">
              <a:spcBef>
                <a:spcPct val="0"/>
              </a:spcBef>
              <a:spcAft>
                <a:spcPct val="0"/>
              </a:spcAft>
              <a:defRPr/>
            </a:pPr>
            <a:r>
              <a:rPr lang="en-US" sz="900" kern="0" dirty="0">
                <a:solidFill>
                  <a:srgbClr val="000000"/>
                </a:solidFill>
                <a:latin typeface="Arial"/>
              </a:rPr>
              <a:t>  </a:t>
            </a:r>
          </a:p>
          <a:p>
            <a:pPr defTabSz="914400" fontAlgn="base">
              <a:spcBef>
                <a:spcPct val="0"/>
              </a:spcBef>
              <a:spcAft>
                <a:spcPct val="0"/>
              </a:spcAft>
              <a:defRPr/>
            </a:pPr>
            <a:r>
              <a:rPr lang="en-US" sz="900" kern="0" dirty="0">
                <a:solidFill>
                  <a:srgbClr val="000000"/>
                </a:solidFill>
                <a:latin typeface="Arial"/>
              </a:rPr>
              <a:t>// Check results</a:t>
            </a:r>
          </a:p>
          <a:p>
            <a:pPr defTabSz="914400" fontAlgn="base">
              <a:spcBef>
                <a:spcPct val="0"/>
              </a:spcBef>
              <a:spcAft>
                <a:spcPct val="0"/>
              </a:spcAft>
              <a:defRPr/>
            </a:pPr>
            <a:r>
              <a:rPr lang="en-US" sz="900" kern="0" dirty="0">
                <a:solidFill>
                  <a:srgbClr val="000000"/>
                </a:solidFill>
                <a:latin typeface="Arial"/>
              </a:rPr>
              <a:t>…</a:t>
            </a:r>
          </a:p>
          <a:p>
            <a:pPr defTabSz="914400" fontAlgn="base">
              <a:spcBef>
                <a:spcPct val="0"/>
              </a:spcBef>
              <a:spcAft>
                <a:spcPct val="0"/>
              </a:spcAft>
              <a:defRPr/>
            </a:pPr>
            <a:r>
              <a:rPr lang="en-US" sz="900" kern="0" dirty="0">
                <a:solidFill>
                  <a:srgbClr val="000000"/>
                </a:solidFill>
                <a:latin typeface="Arial"/>
              </a:rPr>
              <a:t>}</a:t>
            </a:r>
          </a:p>
        </p:txBody>
      </p:sp>
      <p:sp>
        <p:nvSpPr>
          <p:cNvPr id="22" name="Right Arrow 17">
            <a:extLst>
              <a:ext uri="{FF2B5EF4-FFF2-40B4-BE49-F238E27FC236}">
                <a16:creationId xmlns:a16="http://schemas.microsoft.com/office/drawing/2014/main" id="{E3B3A824-FFA3-4EE1-B317-C44D8F1356C6}"/>
              </a:ext>
            </a:extLst>
          </p:cNvPr>
          <p:cNvSpPr/>
          <p:nvPr/>
        </p:nvSpPr>
        <p:spPr>
          <a:xfrm>
            <a:off x="5225716" y="2192846"/>
            <a:ext cx="2969213" cy="883315"/>
          </a:xfrm>
          <a:prstGeom prst="rightArrow">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r>
              <a:rPr lang="en-US" sz="1200" b="1" kern="0" dirty="0">
                <a:solidFill>
                  <a:srgbClr val="FFFFFF"/>
                </a:solidFill>
                <a:latin typeface="Arial"/>
              </a:rPr>
              <a:t>Value of “d” are defined in the test bench</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Pointer Arithmetic: One Interface</a:t>
            </a:r>
          </a:p>
        </p:txBody>
      </p:sp>
      <p:sp>
        <p:nvSpPr>
          <p:cNvPr id="3" name="Content Placeholder 2"/>
          <p:cNvSpPr>
            <a:spLocks noGrp="1"/>
          </p:cNvSpPr>
          <p:nvPr>
            <p:ph idx="1"/>
          </p:nvPr>
        </p:nvSpPr>
        <p:spPr/>
        <p:txBody>
          <a:bodyPr>
            <a:noAutofit/>
          </a:bodyPr>
          <a:lstStyle/>
          <a:p>
            <a:r>
              <a:rPr lang="en-US" sz="1800" dirty="0"/>
              <a:t>Pointer arithmetic</a:t>
            </a:r>
          </a:p>
          <a:p>
            <a:pPr lvl="1"/>
            <a:r>
              <a:rPr lang="en-US" sz="1600" dirty="0"/>
              <a:t>This function uses some pointer arithmetic </a:t>
            </a:r>
            <a:r>
              <a:rPr lang="en-US" sz="1600" dirty="0">
                <a:highlight>
                  <a:srgbClr val="FFFF00"/>
                </a:highlight>
              </a:rPr>
              <a:t>to accumulate the data values</a:t>
            </a:r>
          </a:p>
          <a:p>
            <a:endParaRPr lang="en-US" dirty="0"/>
          </a:p>
          <a:p>
            <a:endParaRPr lang="en-US" dirty="0"/>
          </a:p>
          <a:p>
            <a:endParaRPr lang="en-US" dirty="0"/>
          </a:p>
          <a:p>
            <a:endParaRPr lang="en-US" dirty="0"/>
          </a:p>
          <a:p>
            <a:pPr lvl="1"/>
            <a:r>
              <a:rPr lang="en-US" sz="1600" strike="sngStrike" dirty="0"/>
              <a:t>Argument can be implemented as ap_bus or ap_fifo</a:t>
            </a:r>
          </a:p>
          <a:p>
            <a:r>
              <a:rPr lang="en-US" sz="1800" strike="sngStrike" dirty="0"/>
              <a:t>With a FIFO </a:t>
            </a:r>
            <a:r>
              <a:rPr lang="en-US" sz="1800" strike="sngStrike" dirty="0" err="1"/>
              <a:t>interface</a:t>
            </a:r>
            <a:r>
              <a:rPr lang="en-US" sz="1800" dirty="0" err="1">
                <a:highlight>
                  <a:srgbClr val="FFFF00"/>
                </a:highlight>
              </a:rPr>
              <a:t>Wire</a:t>
            </a:r>
            <a:r>
              <a:rPr lang="en-US" sz="1800" dirty="0">
                <a:highlight>
                  <a:srgbClr val="FFFF00"/>
                </a:highlight>
              </a:rPr>
              <a:t>, handshake, FIFO interfaces</a:t>
            </a:r>
            <a:endParaRPr lang="en-US" sz="1800" strike="sngStrike" dirty="0">
              <a:highlight>
                <a:srgbClr val="FFFF00"/>
              </a:highlight>
            </a:endParaRPr>
          </a:p>
          <a:p>
            <a:pPr lvl="1"/>
            <a:r>
              <a:rPr lang="en-US" sz="1600" dirty="0"/>
              <a:t>All reads &amp; writes must be sequential (start from location 0 implied)</a:t>
            </a:r>
          </a:p>
          <a:p>
            <a:pPr lvl="1"/>
            <a:r>
              <a:rPr lang="en-US" sz="1600" strike="sngStrike" dirty="0"/>
              <a:t>This functionality can only be implemented using ap_bus</a:t>
            </a:r>
          </a:p>
          <a:p>
            <a:r>
              <a:rPr lang="en-US" sz="1800" strike="sngStrike" dirty="0"/>
              <a:t>Address generated by pointer arithmetic</a:t>
            </a:r>
          </a:p>
          <a:p>
            <a:pPr lvl="1"/>
            <a:r>
              <a:rPr lang="en-US" sz="1600" strike="sngStrike" dirty="0"/>
              <a:t>Can only exported externally using ap_bus</a:t>
            </a:r>
          </a:p>
          <a:p>
            <a:pPr lvl="1"/>
            <a:r>
              <a:rPr lang="en-US" sz="1600" strike="sngStrike" dirty="0"/>
              <a:t>All other pointer interfaces are streaming type</a:t>
            </a:r>
          </a:p>
          <a:p>
            <a:r>
              <a:rPr lang="en-US" sz="1800" dirty="0">
                <a:highlight>
                  <a:srgbClr val="FFFF00"/>
                </a:highlight>
              </a:rPr>
              <a:t>Modify the code with an array on the interface and implemented with </a:t>
            </a:r>
            <a:r>
              <a:rPr lang="en-US" sz="1800" dirty="0" err="1">
                <a:highlight>
                  <a:srgbClr val="FFFF00"/>
                </a:highlight>
              </a:rPr>
              <a:t>ap_memory</a:t>
            </a:r>
            <a:endParaRPr lang="en-US" sz="1800" dirty="0">
              <a:highlight>
                <a:srgbClr val="FFFF00"/>
              </a:highlight>
            </a:endParaRPr>
          </a:p>
          <a:p>
            <a:pPr lvl="1"/>
            <a:r>
              <a:rPr lang="en-US" sz="1600" dirty="0">
                <a:highlight>
                  <a:srgbClr val="FFFF00"/>
                </a:highlight>
              </a:rPr>
              <a:t>Output address 4 is never written</a:t>
            </a:r>
          </a:p>
          <a:p>
            <a:pPr lvl="1"/>
            <a:r>
              <a:rPr lang="en-US" sz="1600" dirty="0">
                <a:highlight>
                  <a:srgbClr val="FFFF00"/>
                </a:highlight>
              </a:rPr>
              <a:t>If wire, handshake and FIFO interfaces are used here, RTL co-simulation fails</a:t>
            </a:r>
          </a:p>
        </p:txBody>
      </p:sp>
      <p:sp>
        <p:nvSpPr>
          <p:cNvPr id="12" name="Slide Number Placeholder 11"/>
          <p:cNvSpPr>
            <a:spLocks noGrp="1"/>
          </p:cNvSpPr>
          <p:nvPr>
            <p:ph type="sldNum" sz="quarter" idx="10"/>
          </p:nvPr>
        </p:nvSpPr>
        <p:spPr/>
        <p:txBody>
          <a:bodyPr/>
          <a:lstStyle/>
          <a:p>
            <a:pPr defTabSz="914400">
              <a:defRPr/>
            </a:pPr>
            <a:r>
              <a:rPr lang="en-US" dirty="0">
                <a:solidFill>
                  <a:srgbClr val="0C0C0C">
                    <a:tint val="75000"/>
                  </a:srgbClr>
                </a:solidFill>
                <a:latin typeface="Arial"/>
              </a:rPr>
              <a:t>Coding Considerations 23- </a:t>
            </a:r>
            <a:fld id="{060BD193-E118-4B16-863C-C8C12C675E3E}" type="slidenum">
              <a:rPr lang="en-US">
                <a:solidFill>
                  <a:srgbClr val="0C0C0C">
                    <a:tint val="75000"/>
                  </a:srgbClr>
                </a:solidFill>
                <a:latin typeface="Arial"/>
              </a:rPr>
              <a:pPr defTabSz="914400">
                <a:defRPr/>
              </a:pPr>
              <a:t>39</a:t>
            </a:fld>
            <a:endParaRPr lang="en-US" dirty="0">
              <a:solidFill>
                <a:srgbClr val="0C0C0C">
                  <a:tint val="75000"/>
                </a:srgbClr>
              </a:solidFill>
              <a:latin typeface="Arial"/>
            </a:endParaRPr>
          </a:p>
        </p:txBody>
      </p:sp>
      <p:sp>
        <p:nvSpPr>
          <p:cNvPr id="11" name="TextBox 10">
            <a:extLst>
              <a:ext uri="{FF2B5EF4-FFF2-40B4-BE49-F238E27FC236}">
                <a16:creationId xmlns:a16="http://schemas.microsoft.com/office/drawing/2014/main" id="{A91CCAF5-BD50-4F88-884C-8355243BBD8B}"/>
              </a:ext>
            </a:extLst>
          </p:cNvPr>
          <p:cNvSpPr txBox="1"/>
          <p:nvPr/>
        </p:nvSpPr>
        <p:spPr>
          <a:xfrm>
            <a:off x="1795761" y="2066650"/>
            <a:ext cx="2252507" cy="1869743"/>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defRPr/>
            </a:pPr>
            <a:r>
              <a:rPr lang="en-US" sz="1050" kern="0" dirty="0">
                <a:solidFill>
                  <a:srgbClr val="000000"/>
                </a:solidFill>
                <a:latin typeface="Arial"/>
              </a:rPr>
              <a:t>#include "</a:t>
            </a:r>
            <a:r>
              <a:rPr lang="en-US" sz="1050" kern="0" dirty="0" err="1">
                <a:solidFill>
                  <a:srgbClr val="000000"/>
                </a:solidFill>
                <a:latin typeface="Arial"/>
              </a:rPr>
              <a:t>bus.h</a:t>
            </a:r>
            <a:r>
              <a:rPr lang="en-US" sz="1050" kern="0" dirty="0">
                <a:solidFill>
                  <a:srgbClr val="000000"/>
                </a:solidFill>
                <a:latin typeface="Arial"/>
              </a:rPr>
              <a:t>"</a:t>
            </a:r>
          </a:p>
          <a:p>
            <a:pPr defTabSz="914400" fontAlgn="base">
              <a:spcBef>
                <a:spcPct val="0"/>
              </a:spcBef>
              <a:spcAft>
                <a:spcPct val="0"/>
              </a:spcAft>
              <a:defRPr/>
            </a:pPr>
            <a:endParaRPr lang="en-US" sz="1050" kern="0" dirty="0">
              <a:solidFill>
                <a:srgbClr val="000000"/>
              </a:solidFill>
              <a:latin typeface="Arial"/>
            </a:endParaRPr>
          </a:p>
          <a:p>
            <a:pPr defTabSz="914400" fontAlgn="base">
              <a:spcBef>
                <a:spcPct val="0"/>
              </a:spcBef>
              <a:spcAft>
                <a:spcPct val="0"/>
              </a:spcAft>
              <a:defRPr/>
            </a:pPr>
            <a:r>
              <a:rPr lang="en-US" sz="1050" kern="0" dirty="0">
                <a:solidFill>
                  <a:srgbClr val="000000"/>
                </a:solidFill>
                <a:latin typeface="Arial"/>
              </a:rPr>
              <a:t>void </a:t>
            </a:r>
            <a:r>
              <a:rPr lang="en-US" sz="1050" kern="0" dirty="0" err="1">
                <a:solidFill>
                  <a:srgbClr val="000000"/>
                </a:solidFill>
                <a:latin typeface="Arial"/>
              </a:rPr>
              <a:t>foo</a:t>
            </a:r>
            <a:r>
              <a:rPr lang="en-US" sz="1050" kern="0" dirty="0">
                <a:solidFill>
                  <a:srgbClr val="000000"/>
                </a:solidFill>
                <a:latin typeface="Arial"/>
              </a:rPr>
              <a:t> (int *d) {</a:t>
            </a:r>
          </a:p>
          <a:p>
            <a:pPr defTabSz="914400" fontAlgn="base">
              <a:spcBef>
                <a:spcPct val="0"/>
              </a:spcBef>
              <a:spcAft>
                <a:spcPct val="0"/>
              </a:spcAft>
              <a:defRPr/>
            </a:pPr>
            <a:r>
              <a:rPr lang="en-US" sz="1050" kern="0" dirty="0">
                <a:solidFill>
                  <a:srgbClr val="000000"/>
                </a:solidFill>
                <a:latin typeface="Arial"/>
              </a:rPr>
              <a:t>  static </a:t>
            </a:r>
            <a:r>
              <a:rPr lang="en-US" sz="1050" kern="0" dirty="0" err="1">
                <a:solidFill>
                  <a:srgbClr val="000000"/>
                </a:solidFill>
                <a:latin typeface="Arial"/>
              </a:rPr>
              <a:t>int</a:t>
            </a:r>
            <a:r>
              <a:rPr lang="en-US" sz="1050" kern="0" dirty="0">
                <a:solidFill>
                  <a:srgbClr val="000000"/>
                </a:solidFill>
                <a:latin typeface="Arial"/>
              </a:rPr>
              <a:t> acc = 0;</a:t>
            </a:r>
          </a:p>
          <a:p>
            <a:pPr defTabSz="914400" fontAlgn="base">
              <a:spcBef>
                <a:spcPct val="0"/>
              </a:spcBef>
              <a:spcAft>
                <a:spcPct val="0"/>
              </a:spcAft>
              <a:defRPr/>
            </a:pPr>
            <a:r>
              <a:rPr lang="en-US" sz="1050" kern="0" dirty="0">
                <a:solidFill>
                  <a:srgbClr val="000000"/>
                </a:solidFill>
                <a:latin typeface="Arial"/>
              </a:rPr>
              <a:t>  </a:t>
            </a:r>
            <a:r>
              <a:rPr lang="en-US" sz="1050" kern="0" dirty="0" err="1">
                <a:solidFill>
                  <a:srgbClr val="000000"/>
                </a:solidFill>
                <a:latin typeface="Arial"/>
              </a:rPr>
              <a:t>int</a:t>
            </a:r>
            <a:r>
              <a:rPr lang="en-US" sz="1050" kern="0" dirty="0">
                <a:solidFill>
                  <a:srgbClr val="000000"/>
                </a:solidFill>
                <a:latin typeface="Arial"/>
              </a:rPr>
              <a:t> </a:t>
            </a:r>
            <a:r>
              <a:rPr lang="en-US" sz="1050" kern="0" dirty="0" err="1">
                <a:solidFill>
                  <a:srgbClr val="000000"/>
                </a:solidFill>
                <a:latin typeface="Arial"/>
              </a:rPr>
              <a:t>i</a:t>
            </a:r>
            <a:r>
              <a:rPr lang="en-US" sz="1050" kern="0" dirty="0">
                <a:solidFill>
                  <a:srgbClr val="000000"/>
                </a:solidFill>
                <a:latin typeface="Arial"/>
              </a:rPr>
              <a:t>;</a:t>
            </a:r>
          </a:p>
          <a:p>
            <a:pPr defTabSz="914400" fontAlgn="base">
              <a:spcBef>
                <a:spcPct val="0"/>
              </a:spcBef>
              <a:spcAft>
                <a:spcPct val="0"/>
              </a:spcAft>
              <a:defRPr/>
            </a:pPr>
            <a:r>
              <a:rPr lang="en-US" sz="1050" kern="0" dirty="0">
                <a:solidFill>
                  <a:srgbClr val="000000"/>
                </a:solidFill>
                <a:latin typeface="Arial"/>
              </a:rPr>
              <a:t>  </a:t>
            </a:r>
          </a:p>
          <a:p>
            <a:pPr defTabSz="914400" fontAlgn="base">
              <a:spcBef>
                <a:spcPct val="0"/>
              </a:spcBef>
              <a:spcAft>
                <a:spcPct val="0"/>
              </a:spcAft>
              <a:defRPr/>
            </a:pPr>
            <a:r>
              <a:rPr lang="en-US" sz="1050" kern="0" dirty="0">
                <a:solidFill>
                  <a:srgbClr val="000000"/>
                </a:solidFill>
                <a:latin typeface="Arial"/>
              </a:rPr>
              <a:t>  for (</a:t>
            </a:r>
            <a:r>
              <a:rPr lang="en-US" sz="1050" kern="0" dirty="0" err="1">
                <a:solidFill>
                  <a:srgbClr val="000000"/>
                </a:solidFill>
                <a:latin typeface="Arial"/>
              </a:rPr>
              <a:t>i</a:t>
            </a:r>
            <a:r>
              <a:rPr lang="en-US" sz="1050" kern="0" dirty="0">
                <a:solidFill>
                  <a:srgbClr val="000000"/>
                </a:solidFill>
                <a:latin typeface="Arial"/>
              </a:rPr>
              <a:t>=0;i&lt;4;i++) {</a:t>
            </a:r>
          </a:p>
          <a:p>
            <a:pPr defTabSz="914400" fontAlgn="base">
              <a:spcBef>
                <a:spcPct val="0"/>
              </a:spcBef>
              <a:spcAft>
                <a:spcPct val="0"/>
              </a:spcAft>
              <a:defRPr/>
            </a:pPr>
            <a:r>
              <a:rPr lang="en-US" sz="1050" kern="0" dirty="0">
                <a:solidFill>
                  <a:srgbClr val="000000"/>
                </a:solidFill>
                <a:latin typeface="Arial"/>
              </a:rPr>
              <a:t>    acc += </a:t>
            </a:r>
            <a:r>
              <a:rPr lang="en-US" sz="1050" b="1" kern="0" dirty="0">
                <a:solidFill>
                  <a:srgbClr val="000000"/>
                </a:solidFill>
                <a:latin typeface="Arial"/>
              </a:rPr>
              <a:t>*(d+i+1);</a:t>
            </a:r>
          </a:p>
          <a:p>
            <a:pPr defTabSz="914400" fontAlgn="base">
              <a:spcBef>
                <a:spcPct val="0"/>
              </a:spcBef>
              <a:spcAft>
                <a:spcPct val="0"/>
              </a:spcAft>
              <a:defRPr/>
            </a:pPr>
            <a:r>
              <a:rPr lang="en-US" sz="1050" kern="0" dirty="0">
                <a:solidFill>
                  <a:srgbClr val="000000"/>
                </a:solidFill>
                <a:latin typeface="Arial"/>
              </a:rPr>
              <a:t>    *(</a:t>
            </a:r>
            <a:r>
              <a:rPr lang="en-US" sz="1050" kern="0" dirty="0" err="1">
                <a:solidFill>
                  <a:srgbClr val="000000"/>
                </a:solidFill>
                <a:latin typeface="Arial"/>
              </a:rPr>
              <a:t>d+i</a:t>
            </a:r>
            <a:r>
              <a:rPr lang="en-US" sz="1050" kern="0" dirty="0">
                <a:solidFill>
                  <a:srgbClr val="000000"/>
                </a:solidFill>
                <a:latin typeface="Arial"/>
              </a:rPr>
              <a:t>) = acc;</a:t>
            </a:r>
          </a:p>
          <a:p>
            <a:pPr defTabSz="914400" fontAlgn="base">
              <a:spcBef>
                <a:spcPct val="0"/>
              </a:spcBef>
              <a:spcAft>
                <a:spcPct val="0"/>
              </a:spcAft>
              <a:defRPr/>
            </a:pPr>
            <a:r>
              <a:rPr lang="en-US" sz="1050" kern="0" dirty="0">
                <a:solidFill>
                  <a:srgbClr val="000000"/>
                </a:solidFill>
                <a:latin typeface="Arial"/>
              </a:rPr>
              <a:t>  }</a:t>
            </a:r>
          </a:p>
          <a:p>
            <a:pPr defTabSz="914400" fontAlgn="base">
              <a:spcBef>
                <a:spcPct val="0"/>
              </a:spcBef>
              <a:spcAft>
                <a:spcPct val="0"/>
              </a:spcAft>
              <a:defRPr/>
            </a:pPr>
            <a:r>
              <a:rPr lang="en-US" sz="1050" kern="0" dirty="0">
                <a:solidFill>
                  <a:srgbClr val="000000"/>
                </a:solidFill>
                <a:latin typeface="Arial"/>
              </a:rPr>
              <a:t>}</a:t>
            </a:r>
          </a:p>
        </p:txBody>
      </p:sp>
      <p:sp>
        <p:nvSpPr>
          <p:cNvPr id="13" name="TextBox 12">
            <a:extLst>
              <a:ext uri="{FF2B5EF4-FFF2-40B4-BE49-F238E27FC236}">
                <a16:creationId xmlns:a16="http://schemas.microsoft.com/office/drawing/2014/main" id="{4DF0CB6A-1048-4F2E-BF99-A05270249365}"/>
              </a:ext>
            </a:extLst>
          </p:cNvPr>
          <p:cNvSpPr txBox="1"/>
          <p:nvPr/>
        </p:nvSpPr>
        <p:spPr>
          <a:xfrm>
            <a:off x="4509008" y="3141988"/>
            <a:ext cx="1382220" cy="523220"/>
          </a:xfrm>
          <a:prstGeom prst="rect">
            <a:avLst/>
          </a:prstGeom>
          <a:solidFill>
            <a:srgbClr val="FFFF99"/>
          </a:solidFill>
          <a:ln w="28575">
            <a:solidFill>
              <a:srgbClr val="000000"/>
            </a:solidFill>
          </a:ln>
          <a:effectLst>
            <a:innerShdw blurRad="63500" dist="50800" dir="2700000">
              <a:prstClr val="black">
                <a:alpha val="50000"/>
              </a:prstClr>
            </a:innerShdw>
          </a:effectLst>
        </p:spPr>
        <p:txBody>
          <a:bodyPr wrap="square" rtlCol="0">
            <a:spAutoFit/>
          </a:bodyPr>
          <a:lstStyle/>
          <a:p>
            <a:pPr algn="ctr" defTabSz="914400" fontAlgn="base">
              <a:spcBef>
                <a:spcPct val="0"/>
              </a:spcBef>
              <a:spcAft>
                <a:spcPct val="0"/>
              </a:spcAft>
              <a:defRPr/>
            </a:pPr>
            <a:r>
              <a:rPr lang="en-US" sz="1400" b="1" kern="0" dirty="0">
                <a:solidFill>
                  <a:srgbClr val="000000"/>
                </a:solidFill>
                <a:latin typeface="Arial"/>
              </a:rPr>
              <a:t>Pointer arithmetic</a:t>
            </a:r>
          </a:p>
        </p:txBody>
      </p:sp>
      <p:cxnSp>
        <p:nvCxnSpPr>
          <p:cNvPr id="19" name="Straight Arrow Connector 18">
            <a:extLst>
              <a:ext uri="{FF2B5EF4-FFF2-40B4-BE49-F238E27FC236}">
                <a16:creationId xmlns:a16="http://schemas.microsoft.com/office/drawing/2014/main" id="{D09AEBF9-0473-4727-A160-C1F50437E964}"/>
              </a:ext>
            </a:extLst>
          </p:cNvPr>
          <p:cNvCxnSpPr/>
          <p:nvPr/>
        </p:nvCxnSpPr>
        <p:spPr>
          <a:xfrm flipH="1">
            <a:off x="3587528" y="3295608"/>
            <a:ext cx="716707" cy="0"/>
          </a:xfrm>
          <a:prstGeom prst="straightConnector1">
            <a:avLst/>
          </a:prstGeom>
          <a:noFill/>
          <a:ln w="38100" cap="flat" cmpd="sng" algn="ctr">
            <a:solidFill>
              <a:srgbClr val="000000"/>
            </a:solidFill>
            <a:prstDash val="solid"/>
            <a:headEnd type="none" w="med" len="med"/>
            <a:tailEnd type="triangle" w="med" len="med"/>
          </a:ln>
          <a:effectLst>
            <a:outerShdw blurRad="40000" dist="23000" dir="5400000" rotWithShape="0">
              <a:srgbClr val="000000">
                <a:alpha val="35000"/>
              </a:srgbClr>
            </a:outerShdw>
          </a:effectLst>
        </p:spPr>
      </p:cxnSp>
      <p:cxnSp>
        <p:nvCxnSpPr>
          <p:cNvPr id="20" name="Straight Arrow Connector 19">
            <a:extLst>
              <a:ext uri="{FF2B5EF4-FFF2-40B4-BE49-F238E27FC236}">
                <a16:creationId xmlns:a16="http://schemas.microsoft.com/office/drawing/2014/main" id="{6D387803-8FB9-4C2F-91A4-972CFC9FB7EB}"/>
              </a:ext>
            </a:extLst>
          </p:cNvPr>
          <p:cNvCxnSpPr/>
          <p:nvPr/>
        </p:nvCxnSpPr>
        <p:spPr>
          <a:xfrm flipH="1">
            <a:off x="3587528" y="3448008"/>
            <a:ext cx="716707" cy="0"/>
          </a:xfrm>
          <a:prstGeom prst="straightConnector1">
            <a:avLst/>
          </a:prstGeom>
          <a:noFill/>
          <a:ln w="38100" cap="flat" cmpd="sng" algn="ctr">
            <a:solidFill>
              <a:srgbClr val="000000"/>
            </a:solidFill>
            <a:prstDash val="solid"/>
            <a:headEnd type="none" w="med" len="med"/>
            <a:tailEnd type="triangle" w="med" len="med"/>
          </a:ln>
          <a:effectLst>
            <a:outerShdw blurRad="40000" dist="23000" dir="5400000" rotWithShape="0">
              <a:srgbClr val="000000">
                <a:alpha val="35000"/>
              </a:srgbClr>
            </a:outerShdw>
          </a:effectLst>
        </p:spPr>
      </p:cxnSp>
      <p:sp>
        <p:nvSpPr>
          <p:cNvPr id="21" name="TextBox 20">
            <a:extLst>
              <a:ext uri="{FF2B5EF4-FFF2-40B4-BE49-F238E27FC236}">
                <a16:creationId xmlns:a16="http://schemas.microsoft.com/office/drawing/2014/main" id="{7ED80F05-6636-4ADE-8EFD-A792AA7A3743}"/>
              </a:ext>
            </a:extLst>
          </p:cNvPr>
          <p:cNvSpPr txBox="1"/>
          <p:nvPr/>
        </p:nvSpPr>
        <p:spPr>
          <a:xfrm>
            <a:off x="8246122" y="1836218"/>
            <a:ext cx="1894153" cy="1892826"/>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defRPr/>
            </a:pPr>
            <a:r>
              <a:rPr lang="en-US" sz="900" kern="0" dirty="0">
                <a:solidFill>
                  <a:srgbClr val="000000"/>
                </a:solidFill>
                <a:latin typeface="Arial"/>
              </a:rPr>
              <a:t># int main () {</a:t>
            </a:r>
          </a:p>
          <a:p>
            <a:pPr defTabSz="914400" fontAlgn="base">
              <a:spcBef>
                <a:spcPct val="0"/>
              </a:spcBef>
              <a:spcAft>
                <a:spcPct val="0"/>
              </a:spcAft>
              <a:defRPr/>
            </a:pPr>
            <a:r>
              <a:rPr lang="en-US" sz="900" kern="0" dirty="0">
                <a:solidFill>
                  <a:srgbClr val="000000"/>
                </a:solidFill>
                <a:latin typeface="Arial"/>
              </a:rPr>
              <a:t>  int d[5];</a:t>
            </a:r>
          </a:p>
          <a:p>
            <a:pPr defTabSz="914400" fontAlgn="base">
              <a:spcBef>
                <a:spcPct val="0"/>
              </a:spcBef>
              <a:spcAft>
                <a:spcPct val="0"/>
              </a:spcAft>
              <a:defRPr/>
            </a:pPr>
            <a:r>
              <a:rPr lang="en-US" sz="900" kern="0" dirty="0">
                <a:solidFill>
                  <a:srgbClr val="000000"/>
                </a:solidFill>
                <a:latin typeface="Arial"/>
              </a:rPr>
              <a:t>  int </a:t>
            </a:r>
            <a:r>
              <a:rPr lang="en-US" sz="900" kern="0" dirty="0" err="1">
                <a:solidFill>
                  <a:srgbClr val="000000"/>
                </a:solidFill>
                <a:latin typeface="Arial"/>
              </a:rPr>
              <a:t>i</a:t>
            </a:r>
            <a:r>
              <a:rPr lang="en-US" sz="900" kern="0" dirty="0">
                <a:solidFill>
                  <a:srgbClr val="000000"/>
                </a:solidFill>
                <a:latin typeface="Arial"/>
              </a:rPr>
              <a:t>;</a:t>
            </a:r>
          </a:p>
          <a:p>
            <a:pPr defTabSz="914400" fontAlgn="base">
              <a:spcBef>
                <a:spcPct val="0"/>
              </a:spcBef>
              <a:spcAft>
                <a:spcPct val="0"/>
              </a:spcAft>
              <a:defRPr/>
            </a:pPr>
            <a:r>
              <a:rPr lang="en-US" sz="900" kern="0" dirty="0">
                <a:solidFill>
                  <a:srgbClr val="000000"/>
                </a:solidFill>
                <a:latin typeface="Arial"/>
              </a:rPr>
              <a:t>  </a:t>
            </a:r>
          </a:p>
          <a:p>
            <a:pPr defTabSz="914400" fontAlgn="base">
              <a:spcBef>
                <a:spcPct val="0"/>
              </a:spcBef>
              <a:spcAft>
                <a:spcPct val="0"/>
              </a:spcAft>
              <a:defRPr/>
            </a:pPr>
            <a:r>
              <a:rPr lang="en-US" sz="900" kern="0" dirty="0">
                <a:solidFill>
                  <a:srgbClr val="000000"/>
                </a:solidFill>
                <a:latin typeface="Arial"/>
              </a:rPr>
              <a:t>for (</a:t>
            </a:r>
            <a:r>
              <a:rPr lang="en-US" sz="900" kern="0" dirty="0" err="1">
                <a:solidFill>
                  <a:srgbClr val="000000"/>
                </a:solidFill>
                <a:latin typeface="Arial"/>
              </a:rPr>
              <a:t>i</a:t>
            </a:r>
            <a:r>
              <a:rPr lang="en-US" sz="900" kern="0" dirty="0">
                <a:solidFill>
                  <a:srgbClr val="000000"/>
                </a:solidFill>
                <a:latin typeface="Arial"/>
              </a:rPr>
              <a:t>=0;i&lt;5;i++) {</a:t>
            </a:r>
          </a:p>
          <a:p>
            <a:pPr defTabSz="914400" fontAlgn="base">
              <a:spcBef>
                <a:spcPct val="0"/>
              </a:spcBef>
              <a:spcAft>
                <a:spcPct val="0"/>
              </a:spcAft>
              <a:defRPr/>
            </a:pPr>
            <a:r>
              <a:rPr lang="en-US" sz="900" kern="0" dirty="0">
                <a:solidFill>
                  <a:srgbClr val="000000"/>
                </a:solidFill>
                <a:latin typeface="Arial"/>
              </a:rPr>
              <a:t>    d[</a:t>
            </a:r>
            <a:r>
              <a:rPr lang="en-US" sz="900" kern="0" dirty="0" err="1">
                <a:solidFill>
                  <a:srgbClr val="000000"/>
                </a:solidFill>
                <a:latin typeface="Arial"/>
              </a:rPr>
              <a:t>i</a:t>
            </a:r>
            <a:r>
              <a:rPr lang="en-US" sz="900" kern="0" dirty="0">
                <a:solidFill>
                  <a:srgbClr val="000000"/>
                </a:solidFill>
                <a:latin typeface="Arial"/>
              </a:rPr>
              <a:t>] = </a:t>
            </a:r>
            <a:r>
              <a:rPr lang="en-US" sz="900" kern="0" dirty="0" err="1">
                <a:solidFill>
                  <a:srgbClr val="000000"/>
                </a:solidFill>
                <a:latin typeface="Arial"/>
              </a:rPr>
              <a:t>i</a:t>
            </a:r>
            <a:r>
              <a:rPr lang="en-US" sz="900" kern="0" dirty="0">
                <a:solidFill>
                  <a:srgbClr val="000000"/>
                </a:solidFill>
                <a:latin typeface="Arial"/>
              </a:rPr>
              <a:t>;</a:t>
            </a:r>
          </a:p>
          <a:p>
            <a:pPr defTabSz="914400" fontAlgn="base">
              <a:spcBef>
                <a:spcPct val="0"/>
              </a:spcBef>
              <a:spcAft>
                <a:spcPct val="0"/>
              </a:spcAft>
              <a:defRPr/>
            </a:pPr>
            <a:r>
              <a:rPr lang="en-US" sz="900" kern="0" dirty="0">
                <a:solidFill>
                  <a:srgbClr val="000000"/>
                </a:solidFill>
                <a:latin typeface="Arial"/>
              </a:rPr>
              <a:t>  }</a:t>
            </a:r>
          </a:p>
          <a:p>
            <a:pPr defTabSz="914400" fontAlgn="base">
              <a:spcBef>
                <a:spcPct val="0"/>
              </a:spcBef>
              <a:spcAft>
                <a:spcPct val="0"/>
              </a:spcAft>
              <a:defRPr/>
            </a:pPr>
            <a:r>
              <a:rPr lang="en-US" sz="900" kern="0" dirty="0">
                <a:solidFill>
                  <a:srgbClr val="000000"/>
                </a:solidFill>
                <a:latin typeface="Arial"/>
              </a:rPr>
              <a:t>  </a:t>
            </a:r>
          </a:p>
          <a:p>
            <a:pPr defTabSz="914400" fontAlgn="base">
              <a:spcBef>
                <a:spcPct val="0"/>
              </a:spcBef>
              <a:spcAft>
                <a:spcPct val="0"/>
              </a:spcAft>
              <a:defRPr/>
            </a:pPr>
            <a:r>
              <a:rPr lang="en-US" sz="900" kern="0" dirty="0" err="1">
                <a:solidFill>
                  <a:srgbClr val="000000"/>
                </a:solidFill>
                <a:latin typeface="Arial"/>
              </a:rPr>
              <a:t>foo</a:t>
            </a:r>
            <a:r>
              <a:rPr lang="en-US" sz="900" kern="0" dirty="0">
                <a:solidFill>
                  <a:srgbClr val="000000"/>
                </a:solidFill>
                <a:latin typeface="Arial"/>
              </a:rPr>
              <a:t>(d);</a:t>
            </a:r>
          </a:p>
          <a:p>
            <a:pPr defTabSz="914400" fontAlgn="base">
              <a:spcBef>
                <a:spcPct val="0"/>
              </a:spcBef>
              <a:spcAft>
                <a:spcPct val="0"/>
              </a:spcAft>
              <a:defRPr/>
            </a:pPr>
            <a:r>
              <a:rPr lang="en-US" sz="900" kern="0" dirty="0">
                <a:solidFill>
                  <a:srgbClr val="000000"/>
                </a:solidFill>
                <a:latin typeface="Arial"/>
              </a:rPr>
              <a:t>  </a:t>
            </a:r>
          </a:p>
          <a:p>
            <a:pPr defTabSz="914400" fontAlgn="base">
              <a:spcBef>
                <a:spcPct val="0"/>
              </a:spcBef>
              <a:spcAft>
                <a:spcPct val="0"/>
              </a:spcAft>
              <a:defRPr/>
            </a:pPr>
            <a:r>
              <a:rPr lang="en-US" sz="900" kern="0" dirty="0">
                <a:solidFill>
                  <a:srgbClr val="000000"/>
                </a:solidFill>
                <a:latin typeface="Arial"/>
              </a:rPr>
              <a:t>// Check results</a:t>
            </a:r>
          </a:p>
          <a:p>
            <a:pPr defTabSz="914400" fontAlgn="base">
              <a:spcBef>
                <a:spcPct val="0"/>
              </a:spcBef>
              <a:spcAft>
                <a:spcPct val="0"/>
              </a:spcAft>
              <a:defRPr/>
            </a:pPr>
            <a:r>
              <a:rPr lang="en-US" sz="900" kern="0" dirty="0">
                <a:solidFill>
                  <a:srgbClr val="000000"/>
                </a:solidFill>
                <a:latin typeface="Arial"/>
              </a:rPr>
              <a:t>…</a:t>
            </a:r>
          </a:p>
          <a:p>
            <a:pPr defTabSz="914400" fontAlgn="base">
              <a:spcBef>
                <a:spcPct val="0"/>
              </a:spcBef>
              <a:spcAft>
                <a:spcPct val="0"/>
              </a:spcAft>
              <a:defRPr/>
            </a:pPr>
            <a:r>
              <a:rPr lang="en-US" sz="900" kern="0" dirty="0">
                <a:solidFill>
                  <a:srgbClr val="000000"/>
                </a:solidFill>
                <a:latin typeface="Arial"/>
              </a:rPr>
              <a:t>}</a:t>
            </a:r>
          </a:p>
        </p:txBody>
      </p:sp>
      <p:sp>
        <p:nvSpPr>
          <p:cNvPr id="22" name="Right Arrow 17">
            <a:extLst>
              <a:ext uri="{FF2B5EF4-FFF2-40B4-BE49-F238E27FC236}">
                <a16:creationId xmlns:a16="http://schemas.microsoft.com/office/drawing/2014/main" id="{E3B3A824-FFA3-4EE1-B317-C44D8F1356C6}"/>
              </a:ext>
            </a:extLst>
          </p:cNvPr>
          <p:cNvSpPr/>
          <p:nvPr/>
        </p:nvSpPr>
        <p:spPr>
          <a:xfrm>
            <a:off x="5225716" y="2192846"/>
            <a:ext cx="2969213" cy="883315"/>
          </a:xfrm>
          <a:prstGeom prst="rightArrow">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r>
              <a:rPr lang="en-US" sz="1200" b="1" kern="0" dirty="0">
                <a:solidFill>
                  <a:srgbClr val="FFFFFF"/>
                </a:solidFill>
                <a:latin typeface="Arial"/>
              </a:rPr>
              <a:t>Value of “d” are defined in the test bench</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Converting Malloc Pointers</a:t>
            </a:r>
          </a:p>
        </p:txBody>
      </p:sp>
      <p:sp>
        <p:nvSpPr>
          <p:cNvPr id="3" name="Content Placeholder 2"/>
          <p:cNvSpPr>
            <a:spLocks noGrp="1"/>
          </p:cNvSpPr>
          <p:nvPr>
            <p:ph sz="half" idx="1"/>
          </p:nvPr>
        </p:nvSpPr>
        <p:spPr/>
        <p:txBody>
          <a:bodyPr/>
          <a:lstStyle/>
          <a:p>
            <a:r>
              <a:rPr lang="en-US" sz="1800" dirty="0"/>
              <a:t>Many design use Malloc and Pointer</a:t>
            </a:r>
          </a:p>
          <a:p>
            <a:pPr lvl="1"/>
            <a:r>
              <a:rPr lang="en-US" sz="1600" dirty="0"/>
              <a:t>Malloc is not supported for synthesis</a:t>
            </a:r>
          </a:p>
          <a:p>
            <a:pPr lvl="1"/>
            <a:r>
              <a:rPr lang="en-US" sz="1600" dirty="0"/>
              <a:t>Must be converted to a resource of a defined size </a:t>
            </a:r>
            <a:r>
              <a:rPr lang="en-US" sz="1600" dirty="0">
                <a:sym typeface="Wingdings" pitchFamily="2" charset="2"/>
              </a:rPr>
              <a:t> array</a:t>
            </a:r>
          </a:p>
          <a:p>
            <a:pPr lvl="1"/>
            <a:r>
              <a:rPr lang="en-US" sz="1600" dirty="0">
                <a:sym typeface="Wingdings" pitchFamily="2" charset="2"/>
              </a:rPr>
              <a:t>This can mean changing lots of code: *</a:t>
            </a:r>
            <a:r>
              <a:rPr lang="en-US" sz="1600" dirty="0" err="1">
                <a:sym typeface="Wingdings" pitchFamily="2" charset="2"/>
              </a:rPr>
              <a:t>var</a:t>
            </a:r>
            <a:r>
              <a:rPr lang="en-US" sz="1600" dirty="0">
                <a:sym typeface="Wingdings" pitchFamily="2" charset="2"/>
              </a:rPr>
              <a:t>  </a:t>
            </a:r>
            <a:r>
              <a:rPr lang="en-US" sz="1600" dirty="0" err="1">
                <a:sym typeface="Wingdings" pitchFamily="2" charset="2"/>
              </a:rPr>
              <a:t>var</a:t>
            </a:r>
            <a:r>
              <a:rPr lang="en-US" sz="1600" dirty="0">
                <a:sym typeface="Wingdings" pitchFamily="2" charset="2"/>
              </a:rPr>
              <a:t>[ ]</a:t>
            </a:r>
          </a:p>
          <a:p>
            <a:r>
              <a:rPr lang="en-US" sz="1800" dirty="0">
                <a:sym typeface="Wingdings" pitchFamily="2" charset="2"/>
              </a:rPr>
              <a:t>The following workaround can ensure limited code impact</a:t>
            </a:r>
          </a:p>
          <a:p>
            <a:pPr lvl="1"/>
            <a:r>
              <a:rPr lang="en-US" sz="1600" dirty="0">
                <a:sym typeface="Wingdings" pitchFamily="2" charset="2"/>
              </a:rPr>
              <a:t>Add user-defined macro NO_SYNTH to select synthesizable and no-synthesizable version</a:t>
            </a:r>
          </a:p>
          <a:p>
            <a:pPr lvl="1"/>
            <a:r>
              <a:rPr lang="en-US" sz="1600" dirty="0">
                <a:sym typeface="Wingdings" pitchFamily="2" charset="2"/>
              </a:rPr>
              <a:t>Enable and disable macro NO_SYNTH for C simulation and verify the results</a:t>
            </a:r>
          </a:p>
          <a:p>
            <a:pPr lvl="1"/>
            <a:r>
              <a:rPr lang="en-US" sz="1600" dirty="0">
                <a:sym typeface="Wingdings" pitchFamily="2" charset="2"/>
              </a:rPr>
              <a:t>Disable macro NO_SYNTH for synthesis</a:t>
            </a:r>
            <a:endParaRPr lang="en-US" sz="1600" dirty="0"/>
          </a:p>
        </p:txBody>
      </p:sp>
      <p:sp>
        <p:nvSpPr>
          <p:cNvPr id="6" name="Slide Number Placeholder 5">
            <a:extLst>
              <a:ext uri="{FF2B5EF4-FFF2-40B4-BE49-F238E27FC236}">
                <a16:creationId xmlns:a16="http://schemas.microsoft.com/office/drawing/2014/main" id="{326E3118-9236-4762-A073-D96F6EFC7C1B}"/>
              </a:ext>
            </a:extLst>
          </p:cNvPr>
          <p:cNvSpPr>
            <a:spLocks noGrp="1"/>
          </p:cNvSpPr>
          <p:nvPr>
            <p:ph type="sldNum" sz="quarter" idx="4"/>
          </p:nvPr>
        </p:nvSpPr>
        <p:spPr/>
        <p:txBody>
          <a:bodyPr/>
          <a:lstStyle/>
          <a:p>
            <a:pPr>
              <a:defRPr/>
            </a:pPr>
            <a:r>
              <a:rPr lang="en-US" dirty="0"/>
              <a:t>Coding Considerations 23- </a:t>
            </a:r>
            <a:fld id="{060BD193-E118-4B16-863C-C8C12C675E3E}" type="slidenum">
              <a:rPr lang="en-US" smtClean="0"/>
              <a:pPr>
                <a:defRPr/>
              </a:pPr>
              <a:t>40</a:t>
            </a:fld>
            <a:endParaRPr lang="en-US" dirty="0"/>
          </a:p>
        </p:txBody>
      </p:sp>
      <p:sp>
        <p:nvSpPr>
          <p:cNvPr id="14" name="TextBox 13">
            <a:extLst>
              <a:ext uri="{FF2B5EF4-FFF2-40B4-BE49-F238E27FC236}">
                <a16:creationId xmlns:a16="http://schemas.microsoft.com/office/drawing/2014/main" id="{0B83B30A-39A6-4103-BF2D-732AAC5858D6}"/>
              </a:ext>
            </a:extLst>
          </p:cNvPr>
          <p:cNvSpPr txBox="1"/>
          <p:nvPr/>
        </p:nvSpPr>
        <p:spPr>
          <a:xfrm>
            <a:off x="6977921" y="447041"/>
            <a:ext cx="4590862" cy="5909310"/>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lvl="0" fontAlgn="base">
              <a:spcBef>
                <a:spcPct val="0"/>
              </a:spcBef>
              <a:spcAft>
                <a:spcPct val="0"/>
              </a:spcAft>
              <a:defRPr/>
            </a:pPr>
            <a:r>
              <a:rPr lang="en-US" sz="1400" kern="0" dirty="0">
                <a:solidFill>
                  <a:srgbClr val="000000"/>
                </a:solidFill>
              </a:rPr>
              <a:t>#include "</a:t>
            </a:r>
            <a:r>
              <a:rPr lang="en-US" sz="1400" kern="0" dirty="0" err="1">
                <a:solidFill>
                  <a:srgbClr val="000000"/>
                </a:solidFill>
              </a:rPr>
              <a:t>malloc_removed.h</a:t>
            </a:r>
            <a:r>
              <a:rPr lang="en-US" sz="1400" kern="0" dirty="0">
                <a:solidFill>
                  <a:srgbClr val="000000"/>
                </a:solidFill>
              </a:rPr>
              <a:t>"</a:t>
            </a:r>
          </a:p>
          <a:p>
            <a:pPr lvl="0" fontAlgn="base">
              <a:spcBef>
                <a:spcPct val="0"/>
              </a:spcBef>
              <a:spcAft>
                <a:spcPct val="0"/>
              </a:spcAft>
              <a:defRPr/>
            </a:pPr>
            <a:r>
              <a:rPr lang="en-US" sz="1400" kern="0" dirty="0">
                <a:solidFill>
                  <a:srgbClr val="000000"/>
                </a:solidFill>
              </a:rPr>
              <a:t>#include &lt;</a:t>
            </a:r>
            <a:r>
              <a:rPr lang="en-US" sz="1400" kern="0" dirty="0" err="1">
                <a:solidFill>
                  <a:srgbClr val="000000"/>
                </a:solidFill>
              </a:rPr>
              <a:t>stdlib.h</a:t>
            </a:r>
            <a:r>
              <a:rPr lang="en-US" sz="1400" kern="0" dirty="0">
                <a:solidFill>
                  <a:srgbClr val="000000"/>
                </a:solidFill>
              </a:rPr>
              <a:t>&gt;</a:t>
            </a:r>
          </a:p>
          <a:p>
            <a:pPr lvl="0" fontAlgn="base">
              <a:spcBef>
                <a:spcPct val="0"/>
              </a:spcBef>
              <a:spcAft>
                <a:spcPct val="0"/>
              </a:spcAft>
              <a:defRPr/>
            </a:pPr>
            <a:r>
              <a:rPr lang="en-US" sz="1400" kern="0" dirty="0">
                <a:solidFill>
                  <a:srgbClr val="000000"/>
                </a:solidFill>
              </a:rPr>
              <a:t>//#define NO_SYNTH</a:t>
            </a:r>
          </a:p>
          <a:p>
            <a:pPr lvl="0" fontAlgn="base">
              <a:spcBef>
                <a:spcPct val="0"/>
              </a:spcBef>
              <a:spcAft>
                <a:spcPct val="0"/>
              </a:spcAft>
              <a:defRPr/>
            </a:pPr>
            <a:r>
              <a:rPr lang="en-US" sz="1400" kern="0" dirty="0" err="1">
                <a:solidFill>
                  <a:srgbClr val="000000"/>
                </a:solidFill>
              </a:rPr>
              <a:t>dout_t</a:t>
            </a:r>
            <a:r>
              <a:rPr lang="en-US" sz="1400" kern="0" dirty="0">
                <a:solidFill>
                  <a:srgbClr val="000000"/>
                </a:solidFill>
              </a:rPr>
              <a:t> </a:t>
            </a:r>
            <a:r>
              <a:rPr lang="en-US" sz="1400" kern="0" dirty="0" err="1">
                <a:solidFill>
                  <a:srgbClr val="000000"/>
                </a:solidFill>
              </a:rPr>
              <a:t>malloc_removed</a:t>
            </a:r>
            <a:r>
              <a:rPr lang="en-US" sz="1400" kern="0" dirty="0">
                <a:solidFill>
                  <a:srgbClr val="000000"/>
                </a:solidFill>
              </a:rPr>
              <a:t>(</a:t>
            </a:r>
            <a:r>
              <a:rPr lang="en-US" sz="1400" kern="0" dirty="0" err="1">
                <a:solidFill>
                  <a:srgbClr val="000000"/>
                </a:solidFill>
              </a:rPr>
              <a:t>din_t</a:t>
            </a:r>
            <a:r>
              <a:rPr lang="en-US" sz="1400" kern="0" dirty="0">
                <a:solidFill>
                  <a:srgbClr val="000000"/>
                </a:solidFill>
              </a:rPr>
              <a:t> din[N], </a:t>
            </a:r>
            <a:r>
              <a:rPr lang="en-US" sz="1400" kern="0" dirty="0" err="1">
                <a:solidFill>
                  <a:srgbClr val="000000"/>
                </a:solidFill>
              </a:rPr>
              <a:t>dsel_t</a:t>
            </a:r>
            <a:r>
              <a:rPr lang="en-US" sz="1400" kern="0" dirty="0">
                <a:solidFill>
                  <a:srgbClr val="000000"/>
                </a:solidFill>
              </a:rPr>
              <a:t> width) {  </a:t>
            </a:r>
          </a:p>
          <a:p>
            <a:pPr lvl="0" fontAlgn="base">
              <a:spcBef>
                <a:spcPct val="0"/>
              </a:spcBef>
              <a:spcAft>
                <a:spcPct val="0"/>
              </a:spcAft>
              <a:defRPr/>
            </a:pPr>
            <a:r>
              <a:rPr lang="en-US" sz="1400" kern="0" dirty="0">
                <a:solidFill>
                  <a:srgbClr val="000000"/>
                </a:solidFill>
              </a:rPr>
              <a:t>#ifdef NO_SYNTH</a:t>
            </a:r>
          </a:p>
          <a:p>
            <a:pPr lvl="0" fontAlgn="base">
              <a:spcBef>
                <a:spcPct val="0"/>
              </a:spcBef>
              <a:spcAft>
                <a:spcPct val="0"/>
              </a:spcAft>
              <a:defRPr/>
            </a:pPr>
            <a:r>
              <a:rPr lang="en-US" sz="1400" kern="0" dirty="0">
                <a:solidFill>
                  <a:srgbClr val="000000"/>
                </a:solidFill>
              </a:rPr>
              <a:t> long </a:t>
            </a:r>
            <a:r>
              <a:rPr lang="en-US" sz="1400" kern="0" dirty="0" err="1">
                <a:solidFill>
                  <a:srgbClr val="000000"/>
                </a:solidFill>
              </a:rPr>
              <a:t>long</a:t>
            </a:r>
            <a:r>
              <a:rPr lang="en-US" sz="1400" kern="0" dirty="0">
                <a:solidFill>
                  <a:srgbClr val="000000"/>
                </a:solidFill>
              </a:rPr>
              <a:t> *</a:t>
            </a:r>
            <a:r>
              <a:rPr lang="en-US" sz="1400" kern="0" dirty="0" err="1">
                <a:solidFill>
                  <a:srgbClr val="000000"/>
                </a:solidFill>
              </a:rPr>
              <a:t>out_accum</a:t>
            </a:r>
            <a:r>
              <a:rPr lang="en-US" sz="1400" kern="0" dirty="0">
                <a:solidFill>
                  <a:srgbClr val="000000"/>
                </a:solidFill>
              </a:rPr>
              <a:t> = malloc (</a:t>
            </a:r>
            <a:r>
              <a:rPr lang="en-US" sz="1400" kern="0" dirty="0" err="1">
                <a:solidFill>
                  <a:srgbClr val="000000"/>
                </a:solidFill>
              </a:rPr>
              <a:t>sizeof</a:t>
            </a:r>
            <a:r>
              <a:rPr lang="en-US" sz="1400" kern="0" dirty="0">
                <a:solidFill>
                  <a:srgbClr val="000000"/>
                </a:solidFill>
              </a:rPr>
              <a:t>(long long));</a:t>
            </a:r>
          </a:p>
          <a:p>
            <a:pPr lvl="0" fontAlgn="base">
              <a:spcBef>
                <a:spcPct val="0"/>
              </a:spcBef>
              <a:spcAft>
                <a:spcPct val="0"/>
              </a:spcAft>
              <a:defRPr/>
            </a:pPr>
            <a:r>
              <a:rPr lang="en-US" sz="1400" kern="0" dirty="0">
                <a:solidFill>
                  <a:srgbClr val="000000"/>
                </a:solidFill>
              </a:rPr>
              <a:t> int* </a:t>
            </a:r>
            <a:r>
              <a:rPr lang="en-US" sz="1400" kern="0" dirty="0" err="1">
                <a:solidFill>
                  <a:srgbClr val="000000"/>
                </a:solidFill>
              </a:rPr>
              <a:t>array_local</a:t>
            </a:r>
            <a:r>
              <a:rPr lang="en-US" sz="1400" kern="0" dirty="0">
                <a:solidFill>
                  <a:srgbClr val="000000"/>
                </a:solidFill>
              </a:rPr>
              <a:t> = malloc (64 * </a:t>
            </a:r>
            <a:r>
              <a:rPr lang="en-US" sz="1400" kern="0" dirty="0" err="1">
                <a:solidFill>
                  <a:srgbClr val="000000"/>
                </a:solidFill>
              </a:rPr>
              <a:t>sizeof</a:t>
            </a:r>
            <a:r>
              <a:rPr lang="en-US" sz="1400" kern="0" dirty="0">
                <a:solidFill>
                  <a:srgbClr val="000000"/>
                </a:solidFill>
              </a:rPr>
              <a:t>(int));</a:t>
            </a:r>
          </a:p>
          <a:p>
            <a:pPr lvl="0" fontAlgn="base">
              <a:spcBef>
                <a:spcPct val="0"/>
              </a:spcBef>
              <a:spcAft>
                <a:spcPct val="0"/>
              </a:spcAft>
              <a:defRPr/>
            </a:pPr>
            <a:r>
              <a:rPr lang="en-US" sz="1400" kern="0" dirty="0">
                <a:solidFill>
                  <a:srgbClr val="000000"/>
                </a:solidFill>
              </a:rPr>
              <a:t>#else</a:t>
            </a:r>
          </a:p>
          <a:p>
            <a:pPr lvl="0" fontAlgn="base">
              <a:spcBef>
                <a:spcPct val="0"/>
              </a:spcBef>
              <a:spcAft>
                <a:spcPct val="0"/>
              </a:spcAft>
              <a:defRPr/>
            </a:pPr>
            <a:r>
              <a:rPr lang="en-US" sz="1400" kern="0" dirty="0">
                <a:solidFill>
                  <a:srgbClr val="000000"/>
                </a:solidFill>
              </a:rPr>
              <a:t> long </a:t>
            </a:r>
            <a:r>
              <a:rPr lang="en-US" sz="1400" kern="0" dirty="0" err="1">
                <a:solidFill>
                  <a:srgbClr val="000000"/>
                </a:solidFill>
              </a:rPr>
              <a:t>long</a:t>
            </a:r>
            <a:r>
              <a:rPr lang="en-US" sz="1400" kern="0" dirty="0">
                <a:solidFill>
                  <a:srgbClr val="000000"/>
                </a:solidFill>
              </a:rPr>
              <a:t> _</a:t>
            </a:r>
            <a:r>
              <a:rPr lang="en-US" sz="1400" kern="0" dirty="0" err="1">
                <a:solidFill>
                  <a:srgbClr val="000000"/>
                </a:solidFill>
              </a:rPr>
              <a:t>out_accum</a:t>
            </a:r>
            <a:r>
              <a:rPr lang="en-US" sz="1400" kern="0" dirty="0">
                <a:solidFill>
                  <a:srgbClr val="000000"/>
                </a:solidFill>
              </a:rPr>
              <a:t>;</a:t>
            </a:r>
          </a:p>
          <a:p>
            <a:pPr lvl="0" fontAlgn="base">
              <a:spcBef>
                <a:spcPct val="0"/>
              </a:spcBef>
              <a:spcAft>
                <a:spcPct val="0"/>
              </a:spcAft>
              <a:defRPr/>
            </a:pPr>
            <a:r>
              <a:rPr lang="en-US" sz="1400" kern="0" dirty="0">
                <a:solidFill>
                  <a:srgbClr val="000000"/>
                </a:solidFill>
              </a:rPr>
              <a:t> long </a:t>
            </a:r>
            <a:r>
              <a:rPr lang="en-US" sz="1400" kern="0" dirty="0" err="1">
                <a:solidFill>
                  <a:srgbClr val="000000"/>
                </a:solidFill>
              </a:rPr>
              <a:t>long</a:t>
            </a:r>
            <a:r>
              <a:rPr lang="en-US" sz="1400" kern="0" dirty="0">
                <a:solidFill>
                  <a:srgbClr val="000000"/>
                </a:solidFill>
              </a:rPr>
              <a:t> *</a:t>
            </a:r>
            <a:r>
              <a:rPr lang="en-US" sz="1400" kern="0" dirty="0" err="1">
                <a:solidFill>
                  <a:srgbClr val="000000"/>
                </a:solidFill>
              </a:rPr>
              <a:t>out_accum</a:t>
            </a:r>
            <a:r>
              <a:rPr lang="en-US" sz="1400" kern="0" dirty="0">
                <a:solidFill>
                  <a:srgbClr val="000000"/>
                </a:solidFill>
              </a:rPr>
              <a:t> = &amp;_</a:t>
            </a:r>
            <a:r>
              <a:rPr lang="en-US" sz="1400" kern="0" dirty="0" err="1">
                <a:solidFill>
                  <a:srgbClr val="000000"/>
                </a:solidFill>
              </a:rPr>
              <a:t>out_accum</a:t>
            </a:r>
            <a:r>
              <a:rPr lang="en-US" sz="1400" kern="0" dirty="0">
                <a:solidFill>
                  <a:srgbClr val="000000"/>
                </a:solidFill>
              </a:rPr>
              <a:t>;</a:t>
            </a:r>
          </a:p>
          <a:p>
            <a:pPr lvl="0" fontAlgn="base">
              <a:spcBef>
                <a:spcPct val="0"/>
              </a:spcBef>
              <a:spcAft>
                <a:spcPct val="0"/>
              </a:spcAft>
              <a:defRPr/>
            </a:pPr>
            <a:r>
              <a:rPr lang="en-US" sz="1400" kern="0" dirty="0">
                <a:solidFill>
                  <a:srgbClr val="000000"/>
                </a:solidFill>
              </a:rPr>
              <a:t> int _</a:t>
            </a:r>
            <a:r>
              <a:rPr lang="en-US" sz="1400" kern="0" dirty="0" err="1">
                <a:solidFill>
                  <a:srgbClr val="000000"/>
                </a:solidFill>
              </a:rPr>
              <a:t>array_local</a:t>
            </a:r>
            <a:r>
              <a:rPr lang="en-US" sz="1400" kern="0" dirty="0">
                <a:solidFill>
                  <a:srgbClr val="000000"/>
                </a:solidFill>
              </a:rPr>
              <a:t>[64];</a:t>
            </a:r>
          </a:p>
          <a:p>
            <a:pPr lvl="0" fontAlgn="base">
              <a:spcBef>
                <a:spcPct val="0"/>
              </a:spcBef>
              <a:spcAft>
                <a:spcPct val="0"/>
              </a:spcAft>
              <a:defRPr/>
            </a:pPr>
            <a:r>
              <a:rPr lang="en-US" sz="1400" kern="0" dirty="0">
                <a:solidFill>
                  <a:srgbClr val="000000"/>
                </a:solidFill>
              </a:rPr>
              <a:t> int* </a:t>
            </a:r>
            <a:r>
              <a:rPr lang="en-US" sz="1400" kern="0" dirty="0" err="1">
                <a:solidFill>
                  <a:srgbClr val="000000"/>
                </a:solidFill>
              </a:rPr>
              <a:t>array_local</a:t>
            </a:r>
            <a:r>
              <a:rPr lang="en-US" sz="1400" kern="0" dirty="0">
                <a:solidFill>
                  <a:srgbClr val="000000"/>
                </a:solidFill>
              </a:rPr>
              <a:t> = &amp;_</a:t>
            </a:r>
            <a:r>
              <a:rPr lang="en-US" sz="1400" kern="0" dirty="0" err="1">
                <a:solidFill>
                  <a:srgbClr val="000000"/>
                </a:solidFill>
              </a:rPr>
              <a:t>array_local</a:t>
            </a:r>
            <a:r>
              <a:rPr lang="en-US" sz="1400" kern="0" dirty="0">
                <a:solidFill>
                  <a:srgbClr val="000000"/>
                </a:solidFill>
              </a:rPr>
              <a:t>[0];</a:t>
            </a:r>
          </a:p>
          <a:p>
            <a:pPr lvl="0" fontAlgn="base">
              <a:spcBef>
                <a:spcPct val="0"/>
              </a:spcBef>
              <a:spcAft>
                <a:spcPct val="0"/>
              </a:spcAft>
              <a:defRPr/>
            </a:pPr>
            <a:r>
              <a:rPr lang="en-US" sz="1400" kern="0" dirty="0">
                <a:solidFill>
                  <a:srgbClr val="000000"/>
                </a:solidFill>
              </a:rPr>
              <a:t>#endif</a:t>
            </a:r>
          </a:p>
          <a:p>
            <a:pPr lvl="0" fontAlgn="base">
              <a:spcBef>
                <a:spcPct val="0"/>
              </a:spcBef>
              <a:spcAft>
                <a:spcPct val="0"/>
              </a:spcAft>
              <a:defRPr/>
            </a:pPr>
            <a:r>
              <a:rPr lang="en-US" sz="1400" kern="0" dirty="0">
                <a:solidFill>
                  <a:srgbClr val="000000"/>
                </a:solidFill>
              </a:rPr>
              <a:t> int </a:t>
            </a:r>
            <a:r>
              <a:rPr lang="en-US" sz="1400" kern="0" dirty="0" err="1">
                <a:solidFill>
                  <a:srgbClr val="000000"/>
                </a:solidFill>
              </a:rPr>
              <a:t>i,j</a:t>
            </a:r>
            <a:r>
              <a:rPr lang="en-US" sz="1400" kern="0" dirty="0">
                <a:solidFill>
                  <a:srgbClr val="000000"/>
                </a:solidFill>
              </a:rPr>
              <a:t>;</a:t>
            </a:r>
          </a:p>
          <a:p>
            <a:pPr lvl="0" fontAlgn="base">
              <a:spcBef>
                <a:spcPct val="0"/>
              </a:spcBef>
              <a:spcAft>
                <a:spcPct val="0"/>
              </a:spcAft>
              <a:defRPr/>
            </a:pPr>
            <a:r>
              <a:rPr lang="en-US" sz="1400" kern="0" dirty="0">
                <a:solidFill>
                  <a:srgbClr val="000000"/>
                </a:solidFill>
              </a:rPr>
              <a:t> </a:t>
            </a:r>
            <a:r>
              <a:rPr lang="en-US" sz="1400" kern="0" dirty="0" err="1">
                <a:solidFill>
                  <a:srgbClr val="000000"/>
                </a:solidFill>
              </a:rPr>
              <a:t>LOOP_SHIFT:for</a:t>
            </a:r>
            <a:r>
              <a:rPr lang="en-US" sz="1400" kern="0" dirty="0">
                <a:solidFill>
                  <a:srgbClr val="000000"/>
                </a:solidFill>
              </a:rPr>
              <a:t> (</a:t>
            </a:r>
            <a:r>
              <a:rPr lang="en-US" sz="1400" kern="0" dirty="0" err="1">
                <a:solidFill>
                  <a:srgbClr val="000000"/>
                </a:solidFill>
              </a:rPr>
              <a:t>i</a:t>
            </a:r>
            <a:r>
              <a:rPr lang="en-US" sz="1400" kern="0" dirty="0">
                <a:solidFill>
                  <a:srgbClr val="000000"/>
                </a:solidFill>
              </a:rPr>
              <a:t>=0;i&lt;N-1; </a:t>
            </a:r>
            <a:r>
              <a:rPr lang="en-US" sz="1400" kern="0" dirty="0" err="1">
                <a:solidFill>
                  <a:srgbClr val="000000"/>
                </a:solidFill>
              </a:rPr>
              <a:t>i</a:t>
            </a:r>
            <a:r>
              <a:rPr lang="en-US" sz="1400" kern="0" dirty="0">
                <a:solidFill>
                  <a:srgbClr val="000000"/>
                </a:solidFill>
              </a:rPr>
              <a:t>++) {</a:t>
            </a:r>
          </a:p>
          <a:p>
            <a:pPr lvl="0" fontAlgn="base">
              <a:spcBef>
                <a:spcPct val="0"/>
              </a:spcBef>
              <a:spcAft>
                <a:spcPct val="0"/>
              </a:spcAft>
              <a:defRPr/>
            </a:pPr>
            <a:r>
              <a:rPr lang="en-US" sz="1400" kern="0" dirty="0">
                <a:solidFill>
                  <a:srgbClr val="000000"/>
                </a:solidFill>
              </a:rPr>
              <a:t> if (</a:t>
            </a:r>
            <a:r>
              <a:rPr lang="en-US" sz="1400" kern="0" dirty="0" err="1">
                <a:solidFill>
                  <a:srgbClr val="000000"/>
                </a:solidFill>
              </a:rPr>
              <a:t>i</a:t>
            </a:r>
            <a:r>
              <a:rPr lang="en-US" sz="1400" kern="0" dirty="0">
                <a:solidFill>
                  <a:srgbClr val="000000"/>
                </a:solidFill>
              </a:rPr>
              <a:t>&lt;width) </a:t>
            </a:r>
          </a:p>
          <a:p>
            <a:pPr lvl="0" fontAlgn="base">
              <a:spcBef>
                <a:spcPct val="0"/>
              </a:spcBef>
              <a:spcAft>
                <a:spcPct val="0"/>
              </a:spcAft>
              <a:defRPr/>
            </a:pPr>
            <a:r>
              <a:rPr lang="en-US" sz="1400" kern="0" dirty="0">
                <a:solidFill>
                  <a:srgbClr val="000000"/>
                </a:solidFill>
              </a:rPr>
              <a:t> *(</a:t>
            </a:r>
            <a:r>
              <a:rPr lang="en-US" sz="1400" kern="0" dirty="0" err="1">
                <a:solidFill>
                  <a:srgbClr val="000000"/>
                </a:solidFill>
              </a:rPr>
              <a:t>array_local+i</a:t>
            </a:r>
            <a:r>
              <a:rPr lang="en-US" sz="1400" kern="0" dirty="0">
                <a:solidFill>
                  <a:srgbClr val="000000"/>
                </a:solidFill>
              </a:rPr>
              <a:t>)=din[</a:t>
            </a:r>
            <a:r>
              <a:rPr lang="en-US" sz="1400" kern="0" dirty="0" err="1">
                <a:solidFill>
                  <a:srgbClr val="000000"/>
                </a:solidFill>
              </a:rPr>
              <a:t>i</a:t>
            </a:r>
            <a:r>
              <a:rPr lang="en-US" sz="1400" kern="0" dirty="0">
                <a:solidFill>
                  <a:srgbClr val="000000"/>
                </a:solidFill>
              </a:rPr>
              <a:t>];</a:t>
            </a:r>
          </a:p>
          <a:p>
            <a:pPr lvl="0" fontAlgn="base">
              <a:spcBef>
                <a:spcPct val="0"/>
              </a:spcBef>
              <a:spcAft>
                <a:spcPct val="0"/>
              </a:spcAft>
              <a:defRPr/>
            </a:pPr>
            <a:r>
              <a:rPr lang="en-US" sz="1400" kern="0" dirty="0">
                <a:solidFill>
                  <a:srgbClr val="000000"/>
                </a:solidFill>
              </a:rPr>
              <a:t> else </a:t>
            </a:r>
          </a:p>
          <a:p>
            <a:pPr lvl="0" fontAlgn="base">
              <a:spcBef>
                <a:spcPct val="0"/>
              </a:spcBef>
              <a:spcAft>
                <a:spcPct val="0"/>
              </a:spcAft>
              <a:defRPr/>
            </a:pPr>
            <a:r>
              <a:rPr lang="en-US" sz="1400" kern="0" dirty="0">
                <a:solidFill>
                  <a:srgbClr val="000000"/>
                </a:solidFill>
              </a:rPr>
              <a:t> *(</a:t>
            </a:r>
            <a:r>
              <a:rPr lang="en-US" sz="1400" kern="0" dirty="0" err="1">
                <a:solidFill>
                  <a:srgbClr val="000000"/>
                </a:solidFill>
              </a:rPr>
              <a:t>array_local+i</a:t>
            </a:r>
            <a:r>
              <a:rPr lang="en-US" sz="1400" kern="0" dirty="0">
                <a:solidFill>
                  <a:srgbClr val="000000"/>
                </a:solidFill>
              </a:rPr>
              <a:t>)=din[</a:t>
            </a:r>
            <a:r>
              <a:rPr lang="en-US" sz="1400" kern="0" dirty="0" err="1">
                <a:solidFill>
                  <a:srgbClr val="000000"/>
                </a:solidFill>
              </a:rPr>
              <a:t>i</a:t>
            </a:r>
            <a:r>
              <a:rPr lang="en-US" sz="1400" kern="0" dirty="0">
                <a:solidFill>
                  <a:srgbClr val="000000"/>
                </a:solidFill>
              </a:rPr>
              <a:t>]&gt;&gt;2;</a:t>
            </a:r>
          </a:p>
          <a:p>
            <a:pPr lvl="0" fontAlgn="base">
              <a:spcBef>
                <a:spcPct val="0"/>
              </a:spcBef>
              <a:spcAft>
                <a:spcPct val="0"/>
              </a:spcAft>
              <a:defRPr/>
            </a:pPr>
            <a:r>
              <a:rPr lang="en-US" sz="1400" kern="0" dirty="0">
                <a:solidFill>
                  <a:srgbClr val="000000"/>
                </a:solidFill>
              </a:rPr>
              <a:t> }</a:t>
            </a:r>
          </a:p>
          <a:p>
            <a:pPr lvl="0" fontAlgn="base">
              <a:spcBef>
                <a:spcPct val="0"/>
              </a:spcBef>
              <a:spcAft>
                <a:spcPct val="0"/>
              </a:spcAft>
              <a:defRPr/>
            </a:pPr>
            <a:r>
              <a:rPr lang="en-US" sz="1400" kern="0" dirty="0">
                <a:solidFill>
                  <a:srgbClr val="000000"/>
                </a:solidFill>
              </a:rPr>
              <a:t> *</a:t>
            </a:r>
            <a:r>
              <a:rPr lang="en-US" sz="1400" kern="0" dirty="0" err="1">
                <a:solidFill>
                  <a:srgbClr val="000000"/>
                </a:solidFill>
              </a:rPr>
              <a:t>out_accum</a:t>
            </a:r>
            <a:r>
              <a:rPr lang="en-US" sz="1400" kern="0" dirty="0">
                <a:solidFill>
                  <a:srgbClr val="000000"/>
                </a:solidFill>
              </a:rPr>
              <a:t>=0;</a:t>
            </a:r>
          </a:p>
          <a:p>
            <a:pPr lvl="0" fontAlgn="base">
              <a:spcBef>
                <a:spcPct val="0"/>
              </a:spcBef>
              <a:spcAft>
                <a:spcPct val="0"/>
              </a:spcAft>
              <a:defRPr/>
            </a:pPr>
            <a:r>
              <a:rPr lang="en-US" sz="1400" kern="0" dirty="0">
                <a:solidFill>
                  <a:srgbClr val="000000"/>
                </a:solidFill>
              </a:rPr>
              <a:t> </a:t>
            </a:r>
            <a:r>
              <a:rPr lang="en-US" sz="1400" kern="0" dirty="0" err="1">
                <a:solidFill>
                  <a:srgbClr val="000000"/>
                </a:solidFill>
              </a:rPr>
              <a:t>LOOP_ACCUM:for</a:t>
            </a:r>
            <a:r>
              <a:rPr lang="en-US" sz="1400" kern="0" dirty="0">
                <a:solidFill>
                  <a:srgbClr val="000000"/>
                </a:solidFill>
              </a:rPr>
              <a:t> (j=0;j&lt;N-1; </a:t>
            </a:r>
            <a:r>
              <a:rPr lang="en-US" sz="1400" kern="0" dirty="0" err="1">
                <a:solidFill>
                  <a:srgbClr val="000000"/>
                </a:solidFill>
              </a:rPr>
              <a:t>j++</a:t>
            </a:r>
            <a:r>
              <a:rPr lang="en-US" sz="1400" kern="0" dirty="0">
                <a:solidFill>
                  <a:srgbClr val="000000"/>
                </a:solidFill>
              </a:rPr>
              <a:t>) {</a:t>
            </a:r>
          </a:p>
          <a:p>
            <a:pPr lvl="0" fontAlgn="base">
              <a:spcBef>
                <a:spcPct val="0"/>
              </a:spcBef>
              <a:spcAft>
                <a:spcPct val="0"/>
              </a:spcAft>
              <a:defRPr/>
            </a:pPr>
            <a:r>
              <a:rPr lang="en-US" sz="1400" kern="0" dirty="0">
                <a:solidFill>
                  <a:srgbClr val="000000"/>
                </a:solidFill>
              </a:rPr>
              <a:t> *</a:t>
            </a:r>
            <a:r>
              <a:rPr lang="en-US" sz="1400" kern="0" dirty="0" err="1">
                <a:solidFill>
                  <a:srgbClr val="000000"/>
                </a:solidFill>
              </a:rPr>
              <a:t>out_accum</a:t>
            </a:r>
            <a:r>
              <a:rPr lang="en-US" sz="1400" kern="0" dirty="0">
                <a:solidFill>
                  <a:srgbClr val="000000"/>
                </a:solidFill>
              </a:rPr>
              <a:t> += *(</a:t>
            </a:r>
            <a:r>
              <a:rPr lang="en-US" sz="1400" kern="0" dirty="0" err="1">
                <a:solidFill>
                  <a:srgbClr val="000000"/>
                </a:solidFill>
              </a:rPr>
              <a:t>array_local+j</a:t>
            </a:r>
            <a:r>
              <a:rPr lang="en-US" sz="1400" kern="0" dirty="0">
                <a:solidFill>
                  <a:srgbClr val="000000"/>
                </a:solidFill>
              </a:rPr>
              <a:t>);</a:t>
            </a:r>
          </a:p>
          <a:p>
            <a:pPr lvl="0" fontAlgn="base">
              <a:spcBef>
                <a:spcPct val="0"/>
              </a:spcBef>
              <a:spcAft>
                <a:spcPct val="0"/>
              </a:spcAft>
              <a:defRPr/>
            </a:pPr>
            <a:r>
              <a:rPr lang="en-US" sz="1400" kern="0" dirty="0">
                <a:solidFill>
                  <a:srgbClr val="000000"/>
                </a:solidFill>
              </a:rPr>
              <a:t> }</a:t>
            </a:r>
          </a:p>
          <a:p>
            <a:pPr lvl="0" fontAlgn="base">
              <a:spcBef>
                <a:spcPct val="0"/>
              </a:spcBef>
              <a:spcAft>
                <a:spcPct val="0"/>
              </a:spcAft>
              <a:defRPr/>
            </a:pPr>
            <a:r>
              <a:rPr lang="en-US" sz="1400" kern="0" dirty="0">
                <a:solidFill>
                  <a:srgbClr val="000000"/>
                </a:solidFill>
              </a:rPr>
              <a:t> return *</a:t>
            </a:r>
            <a:r>
              <a:rPr lang="en-US" sz="1400" kern="0" dirty="0" err="1">
                <a:solidFill>
                  <a:srgbClr val="000000"/>
                </a:solidFill>
              </a:rPr>
              <a:t>out_accum</a:t>
            </a:r>
            <a:r>
              <a:rPr lang="en-US" sz="1400" kern="0" dirty="0">
                <a:solidFill>
                  <a:srgbClr val="000000"/>
                </a:solidFill>
              </a:rPr>
              <a:t>;</a:t>
            </a:r>
          </a:p>
          <a:p>
            <a:pPr lvl="0" fontAlgn="base">
              <a:spcBef>
                <a:spcPct val="0"/>
              </a:spcBef>
              <a:spcAft>
                <a:spcPct val="0"/>
              </a:spcAft>
              <a:defRPr/>
            </a:pPr>
            <a:r>
              <a:rPr lang="en-US" sz="1400" kern="0" dirty="0">
                <a:solidFill>
                  <a:srgbClr val="000000"/>
                </a:solidFill>
              </a:rPr>
              <a:t>}</a:t>
            </a:r>
            <a:endParaRPr lang="en-US" sz="1400" kern="0" dirty="0">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trike="sngStrike" dirty="0"/>
              <a:t>Converting Malloc Pointers</a:t>
            </a:r>
          </a:p>
        </p:txBody>
      </p:sp>
      <p:sp>
        <p:nvSpPr>
          <p:cNvPr id="3" name="Content Placeholder 2"/>
          <p:cNvSpPr>
            <a:spLocks noGrp="1"/>
          </p:cNvSpPr>
          <p:nvPr>
            <p:ph idx="1"/>
          </p:nvPr>
        </p:nvSpPr>
        <p:spPr/>
        <p:txBody>
          <a:bodyPr/>
          <a:lstStyle/>
          <a:p>
            <a:r>
              <a:rPr lang="en-US" sz="1800" dirty="0"/>
              <a:t>Many design use Malloc and Pointer</a:t>
            </a:r>
          </a:p>
          <a:p>
            <a:pPr lvl="1"/>
            <a:r>
              <a:rPr lang="en-US" sz="1600" dirty="0"/>
              <a:t>Malloc is not supported for synthesis</a:t>
            </a:r>
          </a:p>
          <a:p>
            <a:pPr lvl="1"/>
            <a:r>
              <a:rPr lang="en-US" sz="1600" dirty="0"/>
              <a:t>Must be converted to a resource of a defined size </a:t>
            </a:r>
            <a:r>
              <a:rPr lang="en-US" sz="1600" dirty="0">
                <a:sym typeface="Wingdings" pitchFamily="2" charset="2"/>
              </a:rPr>
              <a:t> array</a:t>
            </a:r>
          </a:p>
          <a:p>
            <a:pPr lvl="1"/>
            <a:r>
              <a:rPr lang="en-US" sz="1600" dirty="0">
                <a:sym typeface="Wingdings" pitchFamily="2" charset="2"/>
              </a:rPr>
              <a:t>This can mean changing lots of code: *</a:t>
            </a:r>
            <a:r>
              <a:rPr lang="en-US" sz="1600" dirty="0" err="1">
                <a:sym typeface="Wingdings" pitchFamily="2" charset="2"/>
              </a:rPr>
              <a:t>var</a:t>
            </a:r>
            <a:r>
              <a:rPr lang="en-US" sz="1600" dirty="0">
                <a:sym typeface="Wingdings" pitchFamily="2" charset="2"/>
              </a:rPr>
              <a:t>  </a:t>
            </a:r>
            <a:r>
              <a:rPr lang="en-US" sz="1600" dirty="0" err="1">
                <a:sym typeface="Wingdings" pitchFamily="2" charset="2"/>
              </a:rPr>
              <a:t>var</a:t>
            </a:r>
            <a:r>
              <a:rPr lang="en-US" sz="1600" dirty="0">
                <a:sym typeface="Wingdings" pitchFamily="2" charset="2"/>
              </a:rPr>
              <a:t>[ ]</a:t>
            </a:r>
          </a:p>
          <a:p>
            <a:r>
              <a:rPr lang="en-US" sz="1800" dirty="0">
                <a:sym typeface="Wingdings" pitchFamily="2" charset="2"/>
              </a:rPr>
              <a:t>The following workaround can ensure limited code impact</a:t>
            </a:r>
          </a:p>
          <a:p>
            <a:pPr lvl="1"/>
            <a:r>
              <a:rPr lang="en-US" sz="1600" dirty="0">
                <a:sym typeface="Wingdings" pitchFamily="2" charset="2"/>
              </a:rPr>
              <a:t>Create a dummy variable</a:t>
            </a:r>
          </a:p>
          <a:p>
            <a:pPr lvl="1"/>
            <a:r>
              <a:rPr lang="en-US" sz="1600" dirty="0">
                <a:sym typeface="Wingdings" pitchFamily="2" charset="2"/>
              </a:rPr>
              <a:t>Set the pointer to the dummy variable</a:t>
            </a:r>
            <a:endParaRPr lang="en-US" sz="1600" dirty="0"/>
          </a:p>
        </p:txBody>
      </p:sp>
      <p:sp>
        <p:nvSpPr>
          <p:cNvPr id="16" name="Slide Number Placeholder 15"/>
          <p:cNvSpPr>
            <a:spLocks noGrp="1"/>
          </p:cNvSpPr>
          <p:nvPr>
            <p:ph type="sldNum" sz="quarter" idx="10"/>
          </p:nvPr>
        </p:nvSpPr>
        <p:spPr/>
        <p:txBody>
          <a:bodyPr/>
          <a:lstStyle/>
          <a:p>
            <a:pPr defTabSz="914400">
              <a:defRPr/>
            </a:pPr>
            <a:r>
              <a:rPr lang="en-US" dirty="0">
                <a:solidFill>
                  <a:srgbClr val="0C0C0C">
                    <a:tint val="75000"/>
                  </a:srgbClr>
                </a:solidFill>
                <a:latin typeface="Arial"/>
              </a:rPr>
              <a:t>Coding Considerations 23- </a:t>
            </a:r>
            <a:fld id="{060BD193-E118-4B16-863C-C8C12C675E3E}" type="slidenum">
              <a:rPr lang="en-US">
                <a:solidFill>
                  <a:srgbClr val="0C0C0C">
                    <a:tint val="75000"/>
                  </a:srgbClr>
                </a:solidFill>
                <a:latin typeface="Arial"/>
              </a:rPr>
              <a:pPr defTabSz="914400">
                <a:defRPr/>
              </a:pPr>
              <a:t>41</a:t>
            </a:fld>
            <a:endParaRPr lang="en-US" dirty="0">
              <a:solidFill>
                <a:srgbClr val="0C0C0C">
                  <a:tint val="75000"/>
                </a:srgbClr>
              </a:solidFill>
              <a:latin typeface="Arial"/>
            </a:endParaRPr>
          </a:p>
        </p:txBody>
      </p:sp>
      <p:sp>
        <p:nvSpPr>
          <p:cNvPr id="14" name="TextBox 13">
            <a:extLst>
              <a:ext uri="{FF2B5EF4-FFF2-40B4-BE49-F238E27FC236}">
                <a16:creationId xmlns:a16="http://schemas.microsoft.com/office/drawing/2014/main" id="{0B83B30A-39A6-4103-BF2D-732AAC5858D6}"/>
              </a:ext>
            </a:extLst>
          </p:cNvPr>
          <p:cNvSpPr txBox="1"/>
          <p:nvPr/>
        </p:nvSpPr>
        <p:spPr>
          <a:xfrm>
            <a:off x="1795760" y="3702092"/>
            <a:ext cx="7013486" cy="2462213"/>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defRPr/>
            </a:pPr>
            <a:r>
              <a:rPr lang="en-US" sz="1400" kern="0" dirty="0">
                <a:solidFill>
                  <a:srgbClr val="000000"/>
                </a:solidFill>
                <a:latin typeface="Arial"/>
              </a:rPr>
              <a:t>// Internal image buffers</a:t>
            </a:r>
          </a:p>
          <a:p>
            <a:pPr defTabSz="914400" fontAlgn="base">
              <a:spcBef>
                <a:spcPct val="0"/>
              </a:spcBef>
              <a:spcAft>
                <a:spcPct val="0"/>
              </a:spcAft>
              <a:defRPr/>
            </a:pPr>
            <a:r>
              <a:rPr lang="en-US" sz="1400" kern="0" dirty="0">
                <a:solidFill>
                  <a:srgbClr val="000000"/>
                </a:solidFill>
                <a:latin typeface="Arial"/>
              </a:rPr>
              <a:t>#ifndef __SYNTHESIS__</a:t>
            </a:r>
          </a:p>
          <a:p>
            <a:pPr defTabSz="914400" fontAlgn="base">
              <a:spcBef>
                <a:spcPct val="0"/>
              </a:spcBef>
              <a:spcAft>
                <a:spcPct val="0"/>
              </a:spcAft>
              <a:defRPr/>
            </a:pPr>
            <a:r>
              <a:rPr lang="en-US" sz="1400" kern="0" dirty="0">
                <a:solidFill>
                  <a:srgbClr val="000000"/>
                </a:solidFill>
                <a:latin typeface="Arial"/>
              </a:rPr>
              <a:t>   </a:t>
            </a:r>
            <a:r>
              <a:rPr lang="en-US" sz="1400" kern="0" dirty="0" err="1">
                <a:solidFill>
                  <a:srgbClr val="000000"/>
                </a:solidFill>
                <a:latin typeface="Arial"/>
              </a:rPr>
              <a:t>my_type</a:t>
            </a:r>
            <a:r>
              <a:rPr lang="en-US" sz="1400" kern="0" dirty="0">
                <a:solidFill>
                  <a:srgbClr val="000000"/>
                </a:solidFill>
                <a:latin typeface="Arial"/>
              </a:rPr>
              <a:t> *</a:t>
            </a:r>
            <a:r>
              <a:rPr lang="en-US" sz="1400" kern="0" dirty="0" err="1">
                <a:solidFill>
                  <a:srgbClr val="000000"/>
                </a:solidFill>
                <a:latin typeface="Arial"/>
              </a:rPr>
              <a:t>yuv</a:t>
            </a:r>
            <a:r>
              <a:rPr lang="en-US" sz="1400" kern="0" dirty="0">
                <a:solidFill>
                  <a:srgbClr val="000000"/>
                </a:solidFill>
                <a:latin typeface="Arial"/>
              </a:rPr>
              <a:t> = (</a:t>
            </a:r>
            <a:r>
              <a:rPr lang="en-US" sz="1400" kern="0" dirty="0" err="1">
                <a:solidFill>
                  <a:srgbClr val="000000"/>
                </a:solidFill>
                <a:latin typeface="Arial"/>
              </a:rPr>
              <a:t>my_type</a:t>
            </a:r>
            <a:r>
              <a:rPr lang="en-US" sz="1400" kern="0" dirty="0">
                <a:solidFill>
                  <a:srgbClr val="000000"/>
                </a:solidFill>
                <a:latin typeface="Arial"/>
              </a:rPr>
              <a:t> *)malloc(N*sizeof(</a:t>
            </a:r>
            <a:r>
              <a:rPr lang="en-US" sz="1400" kern="0" dirty="0" err="1">
                <a:solidFill>
                  <a:srgbClr val="000000"/>
                </a:solidFill>
                <a:latin typeface="Arial"/>
              </a:rPr>
              <a:t>my_type</a:t>
            </a:r>
            <a:r>
              <a:rPr lang="en-US" sz="1400" kern="0" dirty="0">
                <a:solidFill>
                  <a:srgbClr val="000000"/>
                </a:solidFill>
                <a:latin typeface="Arial"/>
              </a:rPr>
              <a:t>));</a:t>
            </a:r>
          </a:p>
          <a:p>
            <a:pPr defTabSz="914400" fontAlgn="base">
              <a:spcBef>
                <a:spcPct val="0"/>
              </a:spcBef>
              <a:spcAft>
                <a:spcPct val="0"/>
              </a:spcAft>
              <a:defRPr/>
            </a:pPr>
            <a:r>
              <a:rPr lang="en-US" sz="1400" kern="0" dirty="0">
                <a:solidFill>
                  <a:srgbClr val="000000"/>
                </a:solidFill>
                <a:latin typeface="Arial"/>
              </a:rPr>
              <a:t>   </a:t>
            </a:r>
            <a:r>
              <a:rPr lang="en-US" sz="1400" kern="0" dirty="0" err="1">
                <a:solidFill>
                  <a:srgbClr val="000000"/>
                </a:solidFill>
                <a:latin typeface="Arial"/>
              </a:rPr>
              <a:t>my_type</a:t>
            </a:r>
            <a:r>
              <a:rPr lang="en-US" sz="1400" kern="0" dirty="0">
                <a:solidFill>
                  <a:srgbClr val="000000"/>
                </a:solidFill>
                <a:latin typeface="Arial"/>
              </a:rPr>
              <a:t> *scale = (</a:t>
            </a:r>
            <a:r>
              <a:rPr lang="en-US" sz="1400" kern="0" dirty="0" err="1">
                <a:solidFill>
                  <a:srgbClr val="000000"/>
                </a:solidFill>
                <a:latin typeface="Arial"/>
              </a:rPr>
              <a:t>my_type</a:t>
            </a:r>
            <a:r>
              <a:rPr lang="en-US" sz="1400" kern="0" dirty="0">
                <a:solidFill>
                  <a:srgbClr val="000000"/>
                </a:solidFill>
                <a:latin typeface="Arial"/>
              </a:rPr>
              <a:t> *)malloc(N*sizeof(</a:t>
            </a:r>
            <a:r>
              <a:rPr lang="en-US" sz="1400" kern="0" dirty="0" err="1">
                <a:solidFill>
                  <a:srgbClr val="000000"/>
                </a:solidFill>
                <a:latin typeface="Arial"/>
              </a:rPr>
              <a:t>my_type</a:t>
            </a:r>
            <a:r>
              <a:rPr lang="en-US" sz="1400" kern="0" dirty="0">
                <a:solidFill>
                  <a:srgbClr val="000000"/>
                </a:solidFill>
                <a:latin typeface="Arial"/>
              </a:rPr>
              <a:t>));</a:t>
            </a:r>
          </a:p>
          <a:p>
            <a:pPr defTabSz="914400" fontAlgn="base">
              <a:spcBef>
                <a:spcPct val="0"/>
              </a:spcBef>
              <a:spcAft>
                <a:spcPct val="0"/>
              </a:spcAft>
              <a:defRPr/>
            </a:pPr>
            <a:r>
              <a:rPr lang="en-US" sz="1400" kern="0" dirty="0">
                <a:solidFill>
                  <a:srgbClr val="000000"/>
                </a:solidFill>
                <a:latin typeface="Arial"/>
              </a:rPr>
              <a:t>#else // Workaround malloc() calls w/o changing rest of code</a:t>
            </a:r>
          </a:p>
          <a:p>
            <a:pPr defTabSz="914400" fontAlgn="base">
              <a:spcBef>
                <a:spcPct val="0"/>
              </a:spcBef>
              <a:spcAft>
                <a:spcPct val="0"/>
              </a:spcAft>
              <a:defRPr/>
            </a:pPr>
            <a:r>
              <a:rPr lang="en-US" sz="1400" kern="0" dirty="0">
                <a:solidFill>
                  <a:srgbClr val="000000"/>
                </a:solidFill>
                <a:latin typeface="Arial"/>
              </a:rPr>
              <a:t>   </a:t>
            </a:r>
            <a:r>
              <a:rPr lang="en-US" sz="1400" kern="0" dirty="0" err="1">
                <a:solidFill>
                  <a:srgbClr val="000000"/>
                </a:solidFill>
                <a:latin typeface="Arial"/>
              </a:rPr>
              <a:t>my_type</a:t>
            </a:r>
            <a:r>
              <a:rPr lang="en-US" sz="1400" kern="0" dirty="0">
                <a:solidFill>
                  <a:srgbClr val="000000"/>
                </a:solidFill>
                <a:latin typeface="Arial"/>
              </a:rPr>
              <a:t> _</a:t>
            </a:r>
            <a:r>
              <a:rPr lang="en-US" sz="1400" kern="0" dirty="0" err="1">
                <a:solidFill>
                  <a:srgbClr val="000000"/>
                </a:solidFill>
                <a:latin typeface="Arial"/>
              </a:rPr>
              <a:t>yuv</a:t>
            </a:r>
            <a:r>
              <a:rPr lang="en-US" sz="1400" kern="0" dirty="0">
                <a:solidFill>
                  <a:srgbClr val="000000"/>
                </a:solidFill>
                <a:latin typeface="Arial"/>
              </a:rPr>
              <a:t>[N];</a:t>
            </a:r>
          </a:p>
          <a:p>
            <a:pPr defTabSz="914400" fontAlgn="base">
              <a:spcBef>
                <a:spcPct val="0"/>
              </a:spcBef>
              <a:spcAft>
                <a:spcPct val="0"/>
              </a:spcAft>
              <a:defRPr/>
            </a:pPr>
            <a:r>
              <a:rPr lang="en-US" sz="1400" kern="0" dirty="0">
                <a:solidFill>
                  <a:srgbClr val="000000"/>
                </a:solidFill>
                <a:latin typeface="Arial"/>
              </a:rPr>
              <a:t>   </a:t>
            </a:r>
            <a:r>
              <a:rPr lang="en-US" sz="1400" kern="0" dirty="0" err="1">
                <a:solidFill>
                  <a:srgbClr val="000000"/>
                </a:solidFill>
                <a:latin typeface="Arial"/>
              </a:rPr>
              <a:t>my_type</a:t>
            </a:r>
            <a:r>
              <a:rPr lang="en-US" sz="1400" kern="0" dirty="0">
                <a:solidFill>
                  <a:srgbClr val="000000"/>
                </a:solidFill>
                <a:latin typeface="Arial"/>
              </a:rPr>
              <a:t> _scale[N];</a:t>
            </a:r>
          </a:p>
          <a:p>
            <a:pPr defTabSz="914400" fontAlgn="base">
              <a:spcBef>
                <a:spcPct val="0"/>
              </a:spcBef>
              <a:spcAft>
                <a:spcPct val="0"/>
              </a:spcAft>
              <a:defRPr/>
            </a:pPr>
            <a:r>
              <a:rPr lang="en-US" sz="1400" kern="0" dirty="0">
                <a:solidFill>
                  <a:srgbClr val="000000"/>
                </a:solidFill>
                <a:latin typeface="Arial"/>
              </a:rPr>
              <a:t>   </a:t>
            </a:r>
            <a:r>
              <a:rPr lang="en-US" sz="1400" kern="0" dirty="0" err="1">
                <a:solidFill>
                  <a:srgbClr val="000000"/>
                </a:solidFill>
                <a:latin typeface="Arial"/>
              </a:rPr>
              <a:t>my_type</a:t>
            </a:r>
            <a:r>
              <a:rPr lang="en-US" sz="1400" kern="0" dirty="0">
                <a:solidFill>
                  <a:srgbClr val="000000"/>
                </a:solidFill>
                <a:latin typeface="Arial"/>
              </a:rPr>
              <a:t> *</a:t>
            </a:r>
            <a:r>
              <a:rPr lang="en-US" sz="1400" kern="0" dirty="0" err="1">
                <a:solidFill>
                  <a:srgbClr val="000000"/>
                </a:solidFill>
                <a:latin typeface="Arial"/>
              </a:rPr>
              <a:t>yuv</a:t>
            </a:r>
            <a:r>
              <a:rPr lang="en-US" sz="1400" kern="0" dirty="0">
                <a:solidFill>
                  <a:srgbClr val="000000"/>
                </a:solidFill>
                <a:latin typeface="Arial"/>
              </a:rPr>
              <a:t> = &amp;_</a:t>
            </a:r>
            <a:r>
              <a:rPr lang="en-US" sz="1400" kern="0" dirty="0" err="1">
                <a:solidFill>
                  <a:srgbClr val="000000"/>
                </a:solidFill>
                <a:latin typeface="Arial"/>
              </a:rPr>
              <a:t>yuv</a:t>
            </a:r>
            <a:r>
              <a:rPr lang="en-US" sz="1400" kern="0" dirty="0">
                <a:solidFill>
                  <a:srgbClr val="000000"/>
                </a:solidFill>
                <a:latin typeface="Arial"/>
              </a:rPr>
              <a:t>;</a:t>
            </a:r>
          </a:p>
          <a:p>
            <a:pPr defTabSz="914400" fontAlgn="base">
              <a:spcBef>
                <a:spcPct val="0"/>
              </a:spcBef>
              <a:spcAft>
                <a:spcPct val="0"/>
              </a:spcAft>
              <a:defRPr/>
            </a:pPr>
            <a:r>
              <a:rPr lang="en-US" sz="1400" kern="0" dirty="0">
                <a:solidFill>
                  <a:srgbClr val="000000"/>
                </a:solidFill>
                <a:latin typeface="Arial"/>
              </a:rPr>
              <a:t>   </a:t>
            </a:r>
            <a:r>
              <a:rPr lang="en-US" sz="1400" kern="0" dirty="0" err="1">
                <a:solidFill>
                  <a:srgbClr val="000000"/>
                </a:solidFill>
                <a:latin typeface="Arial"/>
              </a:rPr>
              <a:t>my_type</a:t>
            </a:r>
            <a:r>
              <a:rPr lang="en-US" sz="1400" kern="0" dirty="0">
                <a:solidFill>
                  <a:srgbClr val="000000"/>
                </a:solidFill>
                <a:latin typeface="Arial"/>
              </a:rPr>
              <a:t> *scale = &amp;_scale;</a:t>
            </a:r>
          </a:p>
          <a:p>
            <a:pPr defTabSz="914400" fontAlgn="base">
              <a:spcBef>
                <a:spcPct val="0"/>
              </a:spcBef>
              <a:spcAft>
                <a:spcPct val="0"/>
              </a:spcAft>
              <a:defRPr/>
            </a:pPr>
            <a:r>
              <a:rPr lang="en-US" sz="1400" kern="0" dirty="0">
                <a:solidFill>
                  <a:srgbClr val="000000"/>
                </a:solidFill>
                <a:latin typeface="Arial"/>
              </a:rPr>
              <a:t>#endif</a:t>
            </a:r>
          </a:p>
          <a:p>
            <a:pPr defTabSz="914400" fontAlgn="base">
              <a:spcBef>
                <a:spcPct val="0"/>
              </a:spcBef>
              <a:spcAft>
                <a:spcPct val="0"/>
              </a:spcAft>
              <a:defRPr/>
            </a:pPr>
            <a:r>
              <a:rPr lang="en-US" sz="1400" kern="0" dirty="0">
                <a:solidFill>
                  <a:srgbClr val="000000"/>
                </a:solidFill>
                <a:latin typeface="Arial"/>
              </a:rPr>
              <a:t>res = *</a:t>
            </a:r>
            <a:r>
              <a:rPr lang="en-US" sz="1400" kern="0" dirty="0" err="1">
                <a:solidFill>
                  <a:srgbClr val="000000"/>
                </a:solidFill>
                <a:latin typeface="Arial"/>
              </a:rPr>
              <a:t>yuv</a:t>
            </a:r>
            <a:r>
              <a:rPr lang="en-US" sz="1400" kern="0" dirty="0">
                <a:solidFill>
                  <a:srgbClr val="000000"/>
                </a:solidFill>
                <a:latin typeface="Arial"/>
              </a:rPr>
              <a:t>;</a:t>
            </a:r>
          </a:p>
        </p:txBody>
      </p:sp>
      <p:sp>
        <p:nvSpPr>
          <p:cNvPr id="15" name="TextBox 14">
            <a:extLst>
              <a:ext uri="{FF2B5EF4-FFF2-40B4-BE49-F238E27FC236}">
                <a16:creationId xmlns:a16="http://schemas.microsoft.com/office/drawing/2014/main" id="{BD72428E-A251-4E86-82E0-63E457BBB0B6}"/>
              </a:ext>
            </a:extLst>
          </p:cNvPr>
          <p:cNvSpPr txBox="1"/>
          <p:nvPr/>
        </p:nvSpPr>
        <p:spPr>
          <a:xfrm>
            <a:off x="8604475" y="3958824"/>
            <a:ext cx="3176393" cy="523220"/>
          </a:xfrm>
          <a:prstGeom prst="rect">
            <a:avLst/>
          </a:prstGeom>
          <a:solidFill>
            <a:srgbClr val="FFFF99"/>
          </a:solidFill>
          <a:ln w="28575">
            <a:solidFill>
              <a:srgbClr val="000000"/>
            </a:solidFill>
          </a:ln>
          <a:effectLst>
            <a:innerShdw blurRad="63500" dist="50800" dir="2700000">
              <a:prstClr val="black">
                <a:alpha val="50000"/>
              </a:prstClr>
            </a:innerShdw>
          </a:effectLst>
        </p:spPr>
        <p:txBody>
          <a:bodyPr wrap="square" rtlCol="0">
            <a:spAutoFit/>
          </a:bodyPr>
          <a:lstStyle/>
          <a:p>
            <a:pPr algn="ctr" defTabSz="914400" fontAlgn="base">
              <a:spcBef>
                <a:spcPct val="0"/>
              </a:spcBef>
              <a:spcAft>
                <a:spcPct val="0"/>
              </a:spcAft>
              <a:defRPr/>
            </a:pPr>
            <a:r>
              <a:rPr lang="en-US" sz="1400" b="1" kern="0" dirty="0">
                <a:solidFill>
                  <a:srgbClr val="000000"/>
                </a:solidFill>
                <a:latin typeface="Arial"/>
              </a:rPr>
              <a:t>Code for non-synthesis flow (simulation)</a:t>
            </a:r>
          </a:p>
        </p:txBody>
      </p:sp>
      <p:cxnSp>
        <p:nvCxnSpPr>
          <p:cNvPr id="17" name="Straight Arrow Connector 16">
            <a:extLst>
              <a:ext uri="{FF2B5EF4-FFF2-40B4-BE49-F238E27FC236}">
                <a16:creationId xmlns:a16="http://schemas.microsoft.com/office/drawing/2014/main" id="{18D13A0F-6030-4B87-A0E0-D2AE903506D2}"/>
              </a:ext>
            </a:extLst>
          </p:cNvPr>
          <p:cNvCxnSpPr/>
          <p:nvPr/>
        </p:nvCxnSpPr>
        <p:spPr>
          <a:xfrm flipH="1">
            <a:off x="7785381" y="4189254"/>
            <a:ext cx="716707" cy="0"/>
          </a:xfrm>
          <a:prstGeom prst="straightConnector1">
            <a:avLst/>
          </a:prstGeom>
          <a:noFill/>
          <a:ln w="57150" cap="flat" cmpd="sng" algn="ctr">
            <a:solidFill>
              <a:srgbClr val="000000"/>
            </a:solidFill>
            <a:prstDash val="solid"/>
            <a:headEnd type="none" w="med" len="med"/>
            <a:tailEnd type="triangle" w="med" len="med"/>
          </a:ln>
          <a:effectLst>
            <a:outerShdw blurRad="40000" dist="23000" dir="5400000" rotWithShape="0">
              <a:srgbClr val="000000">
                <a:alpha val="35000"/>
              </a:srgbClr>
            </a:outerShdw>
          </a:effectLst>
        </p:spPr>
      </p:cxnSp>
      <p:sp>
        <p:nvSpPr>
          <p:cNvPr id="18" name="TextBox 17">
            <a:extLst>
              <a:ext uri="{FF2B5EF4-FFF2-40B4-BE49-F238E27FC236}">
                <a16:creationId xmlns:a16="http://schemas.microsoft.com/office/drawing/2014/main" id="{074AF471-4E1D-49EE-AE33-F6DB2B236E76}"/>
              </a:ext>
            </a:extLst>
          </p:cNvPr>
          <p:cNvSpPr txBox="1"/>
          <p:nvPr/>
        </p:nvSpPr>
        <p:spPr>
          <a:xfrm>
            <a:off x="8604475" y="4834580"/>
            <a:ext cx="3176393" cy="307777"/>
          </a:xfrm>
          <a:prstGeom prst="rect">
            <a:avLst/>
          </a:prstGeom>
          <a:solidFill>
            <a:srgbClr val="FFFF99"/>
          </a:solidFill>
          <a:ln w="28575">
            <a:solidFill>
              <a:srgbClr val="000000"/>
            </a:solidFill>
          </a:ln>
          <a:effectLst>
            <a:innerShdw blurRad="63500" dist="50800" dir="2700000">
              <a:prstClr val="black">
                <a:alpha val="50000"/>
              </a:prstClr>
            </a:innerShdw>
          </a:effectLst>
        </p:spPr>
        <p:txBody>
          <a:bodyPr wrap="square" rtlCol="0">
            <a:spAutoFit/>
          </a:bodyPr>
          <a:lstStyle/>
          <a:p>
            <a:pPr algn="ctr" defTabSz="914400" fontAlgn="base">
              <a:spcBef>
                <a:spcPct val="0"/>
              </a:spcBef>
              <a:spcAft>
                <a:spcPct val="0"/>
              </a:spcAft>
              <a:defRPr/>
            </a:pPr>
            <a:r>
              <a:rPr lang="en-US" sz="1400" b="1" kern="0" dirty="0">
                <a:solidFill>
                  <a:srgbClr val="000000"/>
                </a:solidFill>
                <a:latin typeface="Arial"/>
              </a:rPr>
              <a:t>Fixed size resource </a:t>
            </a:r>
          </a:p>
        </p:txBody>
      </p:sp>
      <p:cxnSp>
        <p:nvCxnSpPr>
          <p:cNvPr id="19" name="Straight Arrow Connector 18">
            <a:extLst>
              <a:ext uri="{FF2B5EF4-FFF2-40B4-BE49-F238E27FC236}">
                <a16:creationId xmlns:a16="http://schemas.microsoft.com/office/drawing/2014/main" id="{220C18C2-41E6-4E80-8D19-0ED6E5C091A2}"/>
              </a:ext>
            </a:extLst>
          </p:cNvPr>
          <p:cNvCxnSpPr/>
          <p:nvPr/>
        </p:nvCxnSpPr>
        <p:spPr>
          <a:xfrm flipH="1">
            <a:off x="7785381" y="4995759"/>
            <a:ext cx="716707" cy="0"/>
          </a:xfrm>
          <a:prstGeom prst="straightConnector1">
            <a:avLst/>
          </a:prstGeom>
          <a:noFill/>
          <a:ln w="57150" cap="flat" cmpd="sng" algn="ctr">
            <a:solidFill>
              <a:srgbClr val="000000"/>
            </a:solidFill>
            <a:prstDash val="solid"/>
            <a:headEnd type="none" w="med" len="med"/>
            <a:tailEnd type="triangle" w="med" len="med"/>
          </a:ln>
          <a:effectLst>
            <a:outerShdw blurRad="40000" dist="23000" dir="5400000" rotWithShape="0">
              <a:srgbClr val="000000">
                <a:alpha val="35000"/>
              </a:srgbClr>
            </a:outerShdw>
          </a:effectLst>
        </p:spPr>
      </p:cxnSp>
      <p:sp>
        <p:nvSpPr>
          <p:cNvPr id="20" name="TextBox 19">
            <a:extLst>
              <a:ext uri="{FF2B5EF4-FFF2-40B4-BE49-F238E27FC236}">
                <a16:creationId xmlns:a16="http://schemas.microsoft.com/office/drawing/2014/main" id="{C769F6E7-0EF8-4ACE-A475-692BA3D84580}"/>
              </a:ext>
            </a:extLst>
          </p:cNvPr>
          <p:cNvSpPr txBox="1"/>
          <p:nvPr/>
        </p:nvSpPr>
        <p:spPr>
          <a:xfrm>
            <a:off x="8604475" y="5295439"/>
            <a:ext cx="3176393" cy="307777"/>
          </a:xfrm>
          <a:prstGeom prst="rect">
            <a:avLst/>
          </a:prstGeom>
          <a:solidFill>
            <a:srgbClr val="FFFF99"/>
          </a:solidFill>
          <a:ln w="28575">
            <a:solidFill>
              <a:srgbClr val="000000"/>
            </a:solidFill>
          </a:ln>
          <a:effectLst>
            <a:innerShdw blurRad="63500" dist="50800" dir="2700000">
              <a:prstClr val="black">
                <a:alpha val="50000"/>
              </a:prstClr>
            </a:innerShdw>
          </a:effectLst>
        </p:spPr>
        <p:txBody>
          <a:bodyPr wrap="square" rtlCol="0">
            <a:spAutoFit/>
          </a:bodyPr>
          <a:lstStyle/>
          <a:p>
            <a:pPr algn="ctr" defTabSz="914400" fontAlgn="base">
              <a:spcBef>
                <a:spcPct val="0"/>
              </a:spcBef>
              <a:spcAft>
                <a:spcPct val="0"/>
              </a:spcAft>
              <a:defRPr/>
            </a:pPr>
            <a:r>
              <a:rPr lang="en-US" sz="1400" b="1" kern="0" dirty="0">
                <a:solidFill>
                  <a:srgbClr val="000000"/>
                </a:solidFill>
                <a:latin typeface="Arial"/>
              </a:rPr>
              <a:t>Point to new fixed sized resource</a:t>
            </a:r>
          </a:p>
        </p:txBody>
      </p:sp>
      <p:cxnSp>
        <p:nvCxnSpPr>
          <p:cNvPr id="21" name="Straight Arrow Connector 20">
            <a:extLst>
              <a:ext uri="{FF2B5EF4-FFF2-40B4-BE49-F238E27FC236}">
                <a16:creationId xmlns:a16="http://schemas.microsoft.com/office/drawing/2014/main" id="{632BD98A-2975-440F-9189-AE6B79A4E30E}"/>
              </a:ext>
            </a:extLst>
          </p:cNvPr>
          <p:cNvCxnSpPr/>
          <p:nvPr/>
        </p:nvCxnSpPr>
        <p:spPr>
          <a:xfrm flipH="1">
            <a:off x="7785381" y="5456619"/>
            <a:ext cx="716707" cy="0"/>
          </a:xfrm>
          <a:prstGeom prst="straightConnector1">
            <a:avLst/>
          </a:prstGeom>
          <a:noFill/>
          <a:ln w="57150" cap="flat" cmpd="sng" algn="ctr">
            <a:solidFill>
              <a:srgbClr val="000000"/>
            </a:solidFill>
            <a:prstDash val="solid"/>
            <a:headEnd type="none" w="med" len="med"/>
            <a:tailEnd type="triangle" w="med" len="med"/>
          </a:ln>
          <a:effectLst>
            <a:outerShdw blurRad="40000" dist="23000" dir="5400000" rotWithShape="0">
              <a:srgbClr val="000000">
                <a:alpha val="35000"/>
              </a:srgbClr>
            </a:outerShdw>
          </a:effectLst>
        </p:spPr>
      </p:cxnSp>
      <p:sp>
        <p:nvSpPr>
          <p:cNvPr id="22" name="TextBox 21">
            <a:extLst>
              <a:ext uri="{FF2B5EF4-FFF2-40B4-BE49-F238E27FC236}">
                <a16:creationId xmlns:a16="http://schemas.microsoft.com/office/drawing/2014/main" id="{D9027D12-8AE6-455B-BFDF-3021DA06C468}"/>
              </a:ext>
            </a:extLst>
          </p:cNvPr>
          <p:cNvSpPr txBox="1"/>
          <p:nvPr/>
        </p:nvSpPr>
        <p:spPr>
          <a:xfrm>
            <a:off x="8604475" y="5886502"/>
            <a:ext cx="3176393" cy="307777"/>
          </a:xfrm>
          <a:prstGeom prst="rect">
            <a:avLst/>
          </a:prstGeom>
          <a:solidFill>
            <a:srgbClr val="FFFF99"/>
          </a:solidFill>
          <a:ln w="28575">
            <a:solidFill>
              <a:srgbClr val="000000"/>
            </a:solidFill>
          </a:ln>
          <a:effectLst>
            <a:innerShdw blurRad="63500" dist="50800" dir="2700000">
              <a:prstClr val="black">
                <a:alpha val="50000"/>
              </a:prstClr>
            </a:innerShdw>
          </a:effectLst>
        </p:spPr>
        <p:txBody>
          <a:bodyPr wrap="square" rtlCol="0">
            <a:spAutoFit/>
          </a:bodyPr>
          <a:lstStyle/>
          <a:p>
            <a:pPr algn="ctr" defTabSz="914400" fontAlgn="base">
              <a:spcBef>
                <a:spcPct val="0"/>
              </a:spcBef>
              <a:spcAft>
                <a:spcPct val="0"/>
              </a:spcAft>
              <a:defRPr/>
            </a:pPr>
            <a:r>
              <a:rPr lang="en-US" sz="1400" b="1" kern="0" dirty="0">
                <a:solidFill>
                  <a:srgbClr val="000000"/>
                </a:solidFill>
                <a:latin typeface="Arial"/>
              </a:rPr>
              <a:t>Keep pointer in code</a:t>
            </a:r>
          </a:p>
        </p:txBody>
      </p:sp>
      <p:cxnSp>
        <p:nvCxnSpPr>
          <p:cNvPr id="23" name="Straight Arrow Connector 22">
            <a:extLst>
              <a:ext uri="{FF2B5EF4-FFF2-40B4-BE49-F238E27FC236}">
                <a16:creationId xmlns:a16="http://schemas.microsoft.com/office/drawing/2014/main" id="{7928B1AB-9EE4-42B8-807D-26CFBF30170D}"/>
              </a:ext>
            </a:extLst>
          </p:cNvPr>
          <p:cNvCxnSpPr/>
          <p:nvPr/>
        </p:nvCxnSpPr>
        <p:spPr>
          <a:xfrm flipH="1">
            <a:off x="7785381" y="6047681"/>
            <a:ext cx="716707" cy="0"/>
          </a:xfrm>
          <a:prstGeom prst="straightConnector1">
            <a:avLst/>
          </a:prstGeom>
          <a:noFill/>
          <a:ln w="57150" cap="flat" cmpd="sng" algn="ctr">
            <a:solidFill>
              <a:srgbClr val="000000"/>
            </a:solidFill>
            <a:prstDash val="solid"/>
            <a:headEnd type="none" w="med" len="med"/>
            <a:tailEnd type="triangle" w="med" len="med"/>
          </a:ln>
          <a:effectLst>
            <a:outerShdw blurRad="40000" dist="23000" dir="5400000" rotWithShape="0">
              <a:srgbClr val="000000">
                <a:alpha val="35000"/>
              </a:srgbClr>
            </a:outerShdw>
          </a:effectLst>
        </p:spPr>
      </p:cxnSp>
    </p:spTree>
    <p:extLst>
      <p:ext uri="{BB962C8B-B14F-4D97-AF65-F5344CB8AC3E}">
        <p14:creationId xmlns:p14="http://schemas.microsoft.com/office/powerpoint/2010/main" val="39714660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Converting Malloc Pointers</a:t>
            </a:r>
          </a:p>
        </p:txBody>
      </p:sp>
      <p:sp>
        <p:nvSpPr>
          <p:cNvPr id="3" name="Content Placeholder 2"/>
          <p:cNvSpPr>
            <a:spLocks noGrp="1"/>
          </p:cNvSpPr>
          <p:nvPr>
            <p:ph idx="1"/>
          </p:nvPr>
        </p:nvSpPr>
        <p:spPr>
          <a:xfrm>
            <a:off x="491464" y="1155089"/>
            <a:ext cx="6100110" cy="4759404"/>
          </a:xfrm>
        </p:spPr>
        <p:txBody>
          <a:bodyPr/>
          <a:lstStyle/>
          <a:p>
            <a:r>
              <a:rPr lang="en-US" sz="1800" dirty="0"/>
              <a:t>Many design use Malloc and Pointer</a:t>
            </a:r>
          </a:p>
          <a:p>
            <a:pPr lvl="1"/>
            <a:r>
              <a:rPr lang="en-US" sz="1600" dirty="0"/>
              <a:t>Malloc is not supported for synthesis</a:t>
            </a:r>
          </a:p>
          <a:p>
            <a:pPr lvl="1"/>
            <a:r>
              <a:rPr lang="en-US" sz="1600" dirty="0"/>
              <a:t>Must be converted to a resource of a defined size </a:t>
            </a:r>
            <a:r>
              <a:rPr lang="en-US" sz="1600" dirty="0">
                <a:sym typeface="Wingdings" pitchFamily="2" charset="2"/>
              </a:rPr>
              <a:t> array</a:t>
            </a:r>
          </a:p>
          <a:p>
            <a:pPr lvl="1"/>
            <a:r>
              <a:rPr lang="en-US" sz="1600" dirty="0">
                <a:sym typeface="Wingdings" pitchFamily="2" charset="2"/>
              </a:rPr>
              <a:t>This can mean changing lots of code: *</a:t>
            </a:r>
            <a:r>
              <a:rPr lang="en-US" sz="1600" dirty="0" err="1">
                <a:sym typeface="Wingdings" pitchFamily="2" charset="2"/>
              </a:rPr>
              <a:t>var</a:t>
            </a:r>
            <a:r>
              <a:rPr lang="en-US" sz="1600" dirty="0">
                <a:sym typeface="Wingdings" pitchFamily="2" charset="2"/>
              </a:rPr>
              <a:t>  </a:t>
            </a:r>
            <a:r>
              <a:rPr lang="en-US" sz="1600" dirty="0" err="1">
                <a:sym typeface="Wingdings" pitchFamily="2" charset="2"/>
              </a:rPr>
              <a:t>var</a:t>
            </a:r>
            <a:r>
              <a:rPr lang="en-US" sz="1600" dirty="0">
                <a:sym typeface="Wingdings" pitchFamily="2" charset="2"/>
              </a:rPr>
              <a:t>[ ]</a:t>
            </a:r>
          </a:p>
          <a:p>
            <a:r>
              <a:rPr lang="en-US" sz="1800" dirty="0">
                <a:sym typeface="Wingdings" pitchFamily="2" charset="2"/>
              </a:rPr>
              <a:t>The following workaround can ensure limited code impact</a:t>
            </a:r>
          </a:p>
          <a:p>
            <a:pPr lvl="1"/>
            <a:r>
              <a:rPr lang="en-US" sz="1600" strike="sngStrike" dirty="0">
                <a:sym typeface="Wingdings" pitchFamily="2" charset="2"/>
              </a:rPr>
              <a:t>Create a dummy variable</a:t>
            </a:r>
          </a:p>
          <a:p>
            <a:pPr lvl="1"/>
            <a:r>
              <a:rPr lang="en-US" sz="1600" strike="sngStrike" dirty="0">
                <a:sym typeface="Wingdings" pitchFamily="2" charset="2"/>
              </a:rPr>
              <a:t>Set the pointer to the dummy variable</a:t>
            </a:r>
          </a:p>
          <a:p>
            <a:pPr lvl="1"/>
            <a:r>
              <a:rPr lang="en-US" sz="1600" dirty="0">
                <a:highlight>
                  <a:srgbClr val="FFFF00"/>
                </a:highlight>
                <a:sym typeface="Wingdings" pitchFamily="2" charset="2"/>
              </a:rPr>
              <a:t>Add user-defined macro NO_SYNTH to select synthesizable and no-synthesizable version</a:t>
            </a:r>
          </a:p>
          <a:p>
            <a:pPr lvl="1"/>
            <a:r>
              <a:rPr lang="en-US" sz="1600" dirty="0">
                <a:highlight>
                  <a:srgbClr val="FFFF00"/>
                </a:highlight>
                <a:sym typeface="Wingdings" pitchFamily="2" charset="2"/>
              </a:rPr>
              <a:t>Enable and disable macro NO_SYNTH for C simulation and verify the results</a:t>
            </a:r>
          </a:p>
          <a:p>
            <a:pPr lvl="1"/>
            <a:r>
              <a:rPr lang="en-US" sz="1600" dirty="0">
                <a:highlight>
                  <a:srgbClr val="FFFF00"/>
                </a:highlight>
                <a:sym typeface="Wingdings" pitchFamily="2" charset="2"/>
              </a:rPr>
              <a:t>Disable macro NO_SYNTH for synthesis</a:t>
            </a:r>
            <a:endParaRPr lang="en-US" sz="1600" dirty="0">
              <a:highlight>
                <a:srgbClr val="FFFF00"/>
              </a:highlight>
            </a:endParaRPr>
          </a:p>
        </p:txBody>
      </p:sp>
      <p:sp>
        <p:nvSpPr>
          <p:cNvPr id="16" name="Slide Number Placeholder 15"/>
          <p:cNvSpPr>
            <a:spLocks noGrp="1"/>
          </p:cNvSpPr>
          <p:nvPr>
            <p:ph type="sldNum" sz="quarter" idx="10"/>
          </p:nvPr>
        </p:nvSpPr>
        <p:spPr/>
        <p:txBody>
          <a:bodyPr/>
          <a:lstStyle/>
          <a:p>
            <a:pPr defTabSz="914400">
              <a:defRPr/>
            </a:pPr>
            <a:r>
              <a:rPr lang="en-US" dirty="0">
                <a:solidFill>
                  <a:srgbClr val="0C0C0C">
                    <a:tint val="75000"/>
                  </a:srgbClr>
                </a:solidFill>
                <a:latin typeface="Arial"/>
              </a:rPr>
              <a:t>Coding Considerations 23- </a:t>
            </a:r>
            <a:fld id="{060BD193-E118-4B16-863C-C8C12C675E3E}" type="slidenum">
              <a:rPr lang="en-US">
                <a:solidFill>
                  <a:srgbClr val="0C0C0C">
                    <a:tint val="75000"/>
                  </a:srgbClr>
                </a:solidFill>
                <a:latin typeface="Arial"/>
              </a:rPr>
              <a:pPr defTabSz="914400">
                <a:defRPr/>
              </a:pPr>
              <a:t>42</a:t>
            </a:fld>
            <a:endParaRPr lang="en-US" dirty="0">
              <a:solidFill>
                <a:srgbClr val="0C0C0C">
                  <a:tint val="75000"/>
                </a:srgbClr>
              </a:solidFill>
              <a:latin typeface="Arial"/>
            </a:endParaRPr>
          </a:p>
        </p:txBody>
      </p:sp>
      <p:sp>
        <p:nvSpPr>
          <p:cNvPr id="14" name="TextBox 13">
            <a:extLst>
              <a:ext uri="{FF2B5EF4-FFF2-40B4-BE49-F238E27FC236}">
                <a16:creationId xmlns:a16="http://schemas.microsoft.com/office/drawing/2014/main" id="{0B83B30A-39A6-4103-BF2D-732AAC5858D6}"/>
              </a:ext>
            </a:extLst>
          </p:cNvPr>
          <p:cNvSpPr txBox="1"/>
          <p:nvPr/>
        </p:nvSpPr>
        <p:spPr>
          <a:xfrm>
            <a:off x="6977921" y="447041"/>
            <a:ext cx="4590862" cy="5909310"/>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defRPr/>
            </a:pPr>
            <a:r>
              <a:rPr lang="en-US" sz="1400" kern="0" dirty="0">
                <a:solidFill>
                  <a:srgbClr val="000000"/>
                </a:solidFill>
                <a:highlight>
                  <a:srgbClr val="FFFF00"/>
                </a:highlight>
                <a:latin typeface="Arial"/>
              </a:rPr>
              <a:t>#include "</a:t>
            </a:r>
            <a:r>
              <a:rPr lang="en-US" sz="1400" kern="0" dirty="0" err="1">
                <a:solidFill>
                  <a:srgbClr val="000000"/>
                </a:solidFill>
                <a:highlight>
                  <a:srgbClr val="FFFF00"/>
                </a:highlight>
                <a:latin typeface="Arial"/>
              </a:rPr>
              <a:t>malloc_removed.h</a:t>
            </a:r>
            <a:r>
              <a:rPr lang="en-US" sz="1400" kern="0" dirty="0">
                <a:solidFill>
                  <a:srgbClr val="000000"/>
                </a:solidFill>
                <a:highlight>
                  <a:srgbClr val="FFFF00"/>
                </a:highlight>
                <a:latin typeface="Arial"/>
              </a:rPr>
              <a:t>"</a:t>
            </a:r>
          </a:p>
          <a:p>
            <a:pPr defTabSz="914400" fontAlgn="base">
              <a:spcBef>
                <a:spcPct val="0"/>
              </a:spcBef>
              <a:spcAft>
                <a:spcPct val="0"/>
              </a:spcAft>
              <a:defRPr/>
            </a:pPr>
            <a:r>
              <a:rPr lang="en-US" sz="1400" kern="0" dirty="0">
                <a:solidFill>
                  <a:srgbClr val="000000"/>
                </a:solidFill>
                <a:highlight>
                  <a:srgbClr val="FFFF00"/>
                </a:highlight>
                <a:latin typeface="Arial"/>
              </a:rPr>
              <a:t>#include &lt;</a:t>
            </a:r>
            <a:r>
              <a:rPr lang="en-US" sz="1400" kern="0" dirty="0" err="1">
                <a:solidFill>
                  <a:srgbClr val="000000"/>
                </a:solidFill>
                <a:highlight>
                  <a:srgbClr val="FFFF00"/>
                </a:highlight>
                <a:latin typeface="Arial"/>
              </a:rPr>
              <a:t>stdlib.h</a:t>
            </a:r>
            <a:r>
              <a:rPr lang="en-US" sz="1400" kern="0" dirty="0">
                <a:solidFill>
                  <a:srgbClr val="000000"/>
                </a:solidFill>
                <a:highlight>
                  <a:srgbClr val="FFFF00"/>
                </a:highlight>
                <a:latin typeface="Arial"/>
              </a:rPr>
              <a:t>&gt;</a:t>
            </a:r>
          </a:p>
          <a:p>
            <a:pPr defTabSz="914400" fontAlgn="base">
              <a:spcBef>
                <a:spcPct val="0"/>
              </a:spcBef>
              <a:spcAft>
                <a:spcPct val="0"/>
              </a:spcAft>
              <a:defRPr/>
            </a:pPr>
            <a:r>
              <a:rPr lang="en-US" sz="1400" kern="0" dirty="0">
                <a:solidFill>
                  <a:srgbClr val="000000"/>
                </a:solidFill>
                <a:highlight>
                  <a:srgbClr val="FFFF00"/>
                </a:highlight>
                <a:latin typeface="Arial"/>
              </a:rPr>
              <a:t>//#define NO_SYNTH</a:t>
            </a:r>
          </a:p>
          <a:p>
            <a:pPr defTabSz="914400" fontAlgn="base">
              <a:spcBef>
                <a:spcPct val="0"/>
              </a:spcBef>
              <a:spcAft>
                <a:spcPct val="0"/>
              </a:spcAft>
              <a:defRPr/>
            </a:pPr>
            <a:r>
              <a:rPr lang="en-US" sz="1400" kern="0" dirty="0" err="1">
                <a:solidFill>
                  <a:srgbClr val="000000"/>
                </a:solidFill>
                <a:highlight>
                  <a:srgbClr val="FFFF00"/>
                </a:highlight>
                <a:latin typeface="Arial"/>
              </a:rPr>
              <a:t>dout_t</a:t>
            </a:r>
            <a:r>
              <a:rPr lang="en-US" sz="1400" kern="0" dirty="0">
                <a:solidFill>
                  <a:srgbClr val="000000"/>
                </a:solidFill>
                <a:highlight>
                  <a:srgbClr val="FFFF00"/>
                </a:highlight>
                <a:latin typeface="Arial"/>
              </a:rPr>
              <a:t> </a:t>
            </a:r>
            <a:r>
              <a:rPr lang="en-US" sz="1400" kern="0" dirty="0" err="1">
                <a:solidFill>
                  <a:srgbClr val="000000"/>
                </a:solidFill>
                <a:highlight>
                  <a:srgbClr val="FFFF00"/>
                </a:highlight>
                <a:latin typeface="Arial"/>
              </a:rPr>
              <a:t>malloc_removed</a:t>
            </a:r>
            <a:r>
              <a:rPr lang="en-US" sz="1400" kern="0" dirty="0">
                <a:solidFill>
                  <a:srgbClr val="000000"/>
                </a:solidFill>
                <a:highlight>
                  <a:srgbClr val="FFFF00"/>
                </a:highlight>
                <a:latin typeface="Arial"/>
              </a:rPr>
              <a:t>(</a:t>
            </a:r>
            <a:r>
              <a:rPr lang="en-US" sz="1400" kern="0" dirty="0" err="1">
                <a:solidFill>
                  <a:srgbClr val="000000"/>
                </a:solidFill>
                <a:highlight>
                  <a:srgbClr val="FFFF00"/>
                </a:highlight>
                <a:latin typeface="Arial"/>
              </a:rPr>
              <a:t>din_t</a:t>
            </a:r>
            <a:r>
              <a:rPr lang="en-US" sz="1400" kern="0" dirty="0">
                <a:solidFill>
                  <a:srgbClr val="000000"/>
                </a:solidFill>
                <a:highlight>
                  <a:srgbClr val="FFFF00"/>
                </a:highlight>
                <a:latin typeface="Arial"/>
              </a:rPr>
              <a:t> din[N], </a:t>
            </a:r>
            <a:r>
              <a:rPr lang="en-US" sz="1400" kern="0" dirty="0" err="1">
                <a:solidFill>
                  <a:srgbClr val="000000"/>
                </a:solidFill>
                <a:highlight>
                  <a:srgbClr val="FFFF00"/>
                </a:highlight>
                <a:latin typeface="Arial"/>
              </a:rPr>
              <a:t>dsel_t</a:t>
            </a:r>
            <a:r>
              <a:rPr lang="en-US" sz="1400" kern="0" dirty="0">
                <a:solidFill>
                  <a:srgbClr val="000000"/>
                </a:solidFill>
                <a:highlight>
                  <a:srgbClr val="FFFF00"/>
                </a:highlight>
                <a:latin typeface="Arial"/>
              </a:rPr>
              <a:t> width) {  </a:t>
            </a:r>
          </a:p>
          <a:p>
            <a:pPr defTabSz="914400" fontAlgn="base">
              <a:spcBef>
                <a:spcPct val="0"/>
              </a:spcBef>
              <a:spcAft>
                <a:spcPct val="0"/>
              </a:spcAft>
              <a:defRPr/>
            </a:pPr>
            <a:r>
              <a:rPr lang="en-US" sz="1400" kern="0" dirty="0">
                <a:solidFill>
                  <a:srgbClr val="000000"/>
                </a:solidFill>
                <a:highlight>
                  <a:srgbClr val="FFFF00"/>
                </a:highlight>
                <a:latin typeface="Arial"/>
              </a:rPr>
              <a:t>#ifdef NO_SYNTH</a:t>
            </a:r>
          </a:p>
          <a:p>
            <a:pPr defTabSz="914400" fontAlgn="base">
              <a:spcBef>
                <a:spcPct val="0"/>
              </a:spcBef>
              <a:spcAft>
                <a:spcPct val="0"/>
              </a:spcAft>
              <a:defRPr/>
            </a:pPr>
            <a:r>
              <a:rPr lang="en-US" sz="1400" kern="0" dirty="0">
                <a:solidFill>
                  <a:srgbClr val="000000"/>
                </a:solidFill>
                <a:highlight>
                  <a:srgbClr val="FFFF00"/>
                </a:highlight>
                <a:latin typeface="Arial"/>
              </a:rPr>
              <a:t> long </a:t>
            </a:r>
            <a:r>
              <a:rPr lang="en-US" sz="1400" kern="0" dirty="0" err="1">
                <a:solidFill>
                  <a:srgbClr val="000000"/>
                </a:solidFill>
                <a:highlight>
                  <a:srgbClr val="FFFF00"/>
                </a:highlight>
                <a:latin typeface="Arial"/>
              </a:rPr>
              <a:t>long</a:t>
            </a:r>
            <a:r>
              <a:rPr lang="en-US" sz="1400" kern="0" dirty="0">
                <a:solidFill>
                  <a:srgbClr val="000000"/>
                </a:solidFill>
                <a:highlight>
                  <a:srgbClr val="FFFF00"/>
                </a:highlight>
                <a:latin typeface="Arial"/>
              </a:rPr>
              <a:t> *</a:t>
            </a:r>
            <a:r>
              <a:rPr lang="en-US" sz="1400" kern="0" dirty="0" err="1">
                <a:solidFill>
                  <a:srgbClr val="000000"/>
                </a:solidFill>
                <a:highlight>
                  <a:srgbClr val="FFFF00"/>
                </a:highlight>
                <a:latin typeface="Arial"/>
              </a:rPr>
              <a:t>out_accum</a:t>
            </a:r>
            <a:r>
              <a:rPr lang="en-US" sz="1400" kern="0" dirty="0">
                <a:solidFill>
                  <a:srgbClr val="000000"/>
                </a:solidFill>
                <a:highlight>
                  <a:srgbClr val="FFFF00"/>
                </a:highlight>
                <a:latin typeface="Arial"/>
              </a:rPr>
              <a:t> = malloc (</a:t>
            </a:r>
            <a:r>
              <a:rPr lang="en-US" sz="1400" kern="0" dirty="0" err="1">
                <a:solidFill>
                  <a:srgbClr val="000000"/>
                </a:solidFill>
                <a:highlight>
                  <a:srgbClr val="FFFF00"/>
                </a:highlight>
                <a:latin typeface="Arial"/>
              </a:rPr>
              <a:t>sizeof</a:t>
            </a:r>
            <a:r>
              <a:rPr lang="en-US" sz="1400" kern="0" dirty="0">
                <a:solidFill>
                  <a:srgbClr val="000000"/>
                </a:solidFill>
                <a:highlight>
                  <a:srgbClr val="FFFF00"/>
                </a:highlight>
                <a:latin typeface="Arial"/>
              </a:rPr>
              <a:t>(long long));</a:t>
            </a:r>
          </a:p>
          <a:p>
            <a:pPr defTabSz="914400" fontAlgn="base">
              <a:spcBef>
                <a:spcPct val="0"/>
              </a:spcBef>
              <a:spcAft>
                <a:spcPct val="0"/>
              </a:spcAft>
              <a:defRPr/>
            </a:pPr>
            <a:r>
              <a:rPr lang="en-US" sz="1400" kern="0" dirty="0">
                <a:solidFill>
                  <a:srgbClr val="000000"/>
                </a:solidFill>
                <a:highlight>
                  <a:srgbClr val="FFFF00"/>
                </a:highlight>
                <a:latin typeface="Arial"/>
              </a:rPr>
              <a:t> int* </a:t>
            </a:r>
            <a:r>
              <a:rPr lang="en-US" sz="1400" kern="0" dirty="0" err="1">
                <a:solidFill>
                  <a:srgbClr val="000000"/>
                </a:solidFill>
                <a:highlight>
                  <a:srgbClr val="FFFF00"/>
                </a:highlight>
                <a:latin typeface="Arial"/>
              </a:rPr>
              <a:t>array_local</a:t>
            </a:r>
            <a:r>
              <a:rPr lang="en-US" sz="1400" kern="0" dirty="0">
                <a:solidFill>
                  <a:srgbClr val="000000"/>
                </a:solidFill>
                <a:highlight>
                  <a:srgbClr val="FFFF00"/>
                </a:highlight>
                <a:latin typeface="Arial"/>
              </a:rPr>
              <a:t> = malloc (64 * </a:t>
            </a:r>
            <a:r>
              <a:rPr lang="en-US" sz="1400" kern="0" dirty="0" err="1">
                <a:solidFill>
                  <a:srgbClr val="000000"/>
                </a:solidFill>
                <a:highlight>
                  <a:srgbClr val="FFFF00"/>
                </a:highlight>
                <a:latin typeface="Arial"/>
              </a:rPr>
              <a:t>sizeof</a:t>
            </a:r>
            <a:r>
              <a:rPr lang="en-US" sz="1400" kern="0" dirty="0">
                <a:solidFill>
                  <a:srgbClr val="000000"/>
                </a:solidFill>
                <a:highlight>
                  <a:srgbClr val="FFFF00"/>
                </a:highlight>
                <a:latin typeface="Arial"/>
              </a:rPr>
              <a:t>(int));</a:t>
            </a:r>
          </a:p>
          <a:p>
            <a:pPr defTabSz="914400" fontAlgn="base">
              <a:spcBef>
                <a:spcPct val="0"/>
              </a:spcBef>
              <a:spcAft>
                <a:spcPct val="0"/>
              </a:spcAft>
              <a:defRPr/>
            </a:pPr>
            <a:r>
              <a:rPr lang="en-US" sz="1400" kern="0" dirty="0">
                <a:solidFill>
                  <a:srgbClr val="000000"/>
                </a:solidFill>
                <a:highlight>
                  <a:srgbClr val="FFFF00"/>
                </a:highlight>
                <a:latin typeface="Arial"/>
              </a:rPr>
              <a:t>#else</a:t>
            </a:r>
          </a:p>
          <a:p>
            <a:pPr defTabSz="914400" fontAlgn="base">
              <a:spcBef>
                <a:spcPct val="0"/>
              </a:spcBef>
              <a:spcAft>
                <a:spcPct val="0"/>
              </a:spcAft>
              <a:defRPr/>
            </a:pPr>
            <a:r>
              <a:rPr lang="en-US" sz="1400" kern="0" dirty="0">
                <a:solidFill>
                  <a:srgbClr val="000000"/>
                </a:solidFill>
                <a:highlight>
                  <a:srgbClr val="FFFF00"/>
                </a:highlight>
                <a:latin typeface="Arial"/>
              </a:rPr>
              <a:t> long </a:t>
            </a:r>
            <a:r>
              <a:rPr lang="en-US" sz="1400" kern="0" dirty="0" err="1">
                <a:solidFill>
                  <a:srgbClr val="000000"/>
                </a:solidFill>
                <a:highlight>
                  <a:srgbClr val="FFFF00"/>
                </a:highlight>
                <a:latin typeface="Arial"/>
              </a:rPr>
              <a:t>long</a:t>
            </a:r>
            <a:r>
              <a:rPr lang="en-US" sz="1400" kern="0" dirty="0">
                <a:solidFill>
                  <a:srgbClr val="000000"/>
                </a:solidFill>
                <a:highlight>
                  <a:srgbClr val="FFFF00"/>
                </a:highlight>
                <a:latin typeface="Arial"/>
              </a:rPr>
              <a:t> _</a:t>
            </a:r>
            <a:r>
              <a:rPr lang="en-US" sz="1400" kern="0" dirty="0" err="1">
                <a:solidFill>
                  <a:srgbClr val="000000"/>
                </a:solidFill>
                <a:highlight>
                  <a:srgbClr val="FFFF00"/>
                </a:highlight>
                <a:latin typeface="Arial"/>
              </a:rPr>
              <a:t>out_accum</a:t>
            </a:r>
            <a:r>
              <a:rPr lang="en-US" sz="1400" kern="0" dirty="0">
                <a:solidFill>
                  <a:srgbClr val="000000"/>
                </a:solidFill>
                <a:highlight>
                  <a:srgbClr val="FFFF00"/>
                </a:highlight>
                <a:latin typeface="Arial"/>
              </a:rPr>
              <a:t>;</a:t>
            </a:r>
          </a:p>
          <a:p>
            <a:pPr defTabSz="914400" fontAlgn="base">
              <a:spcBef>
                <a:spcPct val="0"/>
              </a:spcBef>
              <a:spcAft>
                <a:spcPct val="0"/>
              </a:spcAft>
              <a:defRPr/>
            </a:pPr>
            <a:r>
              <a:rPr lang="en-US" sz="1400" kern="0" dirty="0">
                <a:solidFill>
                  <a:srgbClr val="000000"/>
                </a:solidFill>
                <a:highlight>
                  <a:srgbClr val="FFFF00"/>
                </a:highlight>
                <a:latin typeface="Arial"/>
              </a:rPr>
              <a:t> long </a:t>
            </a:r>
            <a:r>
              <a:rPr lang="en-US" sz="1400" kern="0" dirty="0" err="1">
                <a:solidFill>
                  <a:srgbClr val="000000"/>
                </a:solidFill>
                <a:highlight>
                  <a:srgbClr val="FFFF00"/>
                </a:highlight>
                <a:latin typeface="Arial"/>
              </a:rPr>
              <a:t>long</a:t>
            </a:r>
            <a:r>
              <a:rPr lang="en-US" sz="1400" kern="0" dirty="0">
                <a:solidFill>
                  <a:srgbClr val="000000"/>
                </a:solidFill>
                <a:highlight>
                  <a:srgbClr val="FFFF00"/>
                </a:highlight>
                <a:latin typeface="Arial"/>
              </a:rPr>
              <a:t> *</a:t>
            </a:r>
            <a:r>
              <a:rPr lang="en-US" sz="1400" kern="0" dirty="0" err="1">
                <a:solidFill>
                  <a:srgbClr val="000000"/>
                </a:solidFill>
                <a:highlight>
                  <a:srgbClr val="FFFF00"/>
                </a:highlight>
                <a:latin typeface="Arial"/>
              </a:rPr>
              <a:t>out_accum</a:t>
            </a:r>
            <a:r>
              <a:rPr lang="en-US" sz="1400" kern="0" dirty="0">
                <a:solidFill>
                  <a:srgbClr val="000000"/>
                </a:solidFill>
                <a:highlight>
                  <a:srgbClr val="FFFF00"/>
                </a:highlight>
                <a:latin typeface="Arial"/>
              </a:rPr>
              <a:t> = &amp;_</a:t>
            </a:r>
            <a:r>
              <a:rPr lang="en-US" sz="1400" kern="0" dirty="0" err="1">
                <a:solidFill>
                  <a:srgbClr val="000000"/>
                </a:solidFill>
                <a:highlight>
                  <a:srgbClr val="FFFF00"/>
                </a:highlight>
                <a:latin typeface="Arial"/>
              </a:rPr>
              <a:t>out_accum</a:t>
            </a:r>
            <a:r>
              <a:rPr lang="en-US" sz="1400" kern="0" dirty="0">
                <a:solidFill>
                  <a:srgbClr val="000000"/>
                </a:solidFill>
                <a:highlight>
                  <a:srgbClr val="FFFF00"/>
                </a:highlight>
                <a:latin typeface="Arial"/>
              </a:rPr>
              <a:t>;</a:t>
            </a:r>
          </a:p>
          <a:p>
            <a:pPr defTabSz="914400" fontAlgn="base">
              <a:spcBef>
                <a:spcPct val="0"/>
              </a:spcBef>
              <a:spcAft>
                <a:spcPct val="0"/>
              </a:spcAft>
              <a:defRPr/>
            </a:pPr>
            <a:r>
              <a:rPr lang="en-US" sz="1400" kern="0" dirty="0">
                <a:solidFill>
                  <a:srgbClr val="000000"/>
                </a:solidFill>
                <a:highlight>
                  <a:srgbClr val="FFFF00"/>
                </a:highlight>
                <a:latin typeface="Arial"/>
              </a:rPr>
              <a:t> int _</a:t>
            </a:r>
            <a:r>
              <a:rPr lang="en-US" sz="1400" kern="0" dirty="0" err="1">
                <a:solidFill>
                  <a:srgbClr val="000000"/>
                </a:solidFill>
                <a:highlight>
                  <a:srgbClr val="FFFF00"/>
                </a:highlight>
                <a:latin typeface="Arial"/>
              </a:rPr>
              <a:t>array_local</a:t>
            </a:r>
            <a:r>
              <a:rPr lang="en-US" sz="1400" kern="0" dirty="0">
                <a:solidFill>
                  <a:srgbClr val="000000"/>
                </a:solidFill>
                <a:highlight>
                  <a:srgbClr val="FFFF00"/>
                </a:highlight>
                <a:latin typeface="Arial"/>
              </a:rPr>
              <a:t>[64];</a:t>
            </a:r>
          </a:p>
          <a:p>
            <a:pPr defTabSz="914400" fontAlgn="base">
              <a:spcBef>
                <a:spcPct val="0"/>
              </a:spcBef>
              <a:spcAft>
                <a:spcPct val="0"/>
              </a:spcAft>
              <a:defRPr/>
            </a:pPr>
            <a:r>
              <a:rPr lang="en-US" sz="1400" kern="0" dirty="0">
                <a:solidFill>
                  <a:srgbClr val="000000"/>
                </a:solidFill>
                <a:highlight>
                  <a:srgbClr val="FFFF00"/>
                </a:highlight>
                <a:latin typeface="Arial"/>
              </a:rPr>
              <a:t> int* </a:t>
            </a:r>
            <a:r>
              <a:rPr lang="en-US" sz="1400" kern="0" dirty="0" err="1">
                <a:solidFill>
                  <a:srgbClr val="000000"/>
                </a:solidFill>
                <a:highlight>
                  <a:srgbClr val="FFFF00"/>
                </a:highlight>
                <a:latin typeface="Arial"/>
              </a:rPr>
              <a:t>array_local</a:t>
            </a:r>
            <a:r>
              <a:rPr lang="en-US" sz="1400" kern="0" dirty="0">
                <a:solidFill>
                  <a:srgbClr val="000000"/>
                </a:solidFill>
                <a:highlight>
                  <a:srgbClr val="FFFF00"/>
                </a:highlight>
                <a:latin typeface="Arial"/>
              </a:rPr>
              <a:t> = &amp;_</a:t>
            </a:r>
            <a:r>
              <a:rPr lang="en-US" sz="1400" kern="0" dirty="0" err="1">
                <a:solidFill>
                  <a:srgbClr val="000000"/>
                </a:solidFill>
                <a:highlight>
                  <a:srgbClr val="FFFF00"/>
                </a:highlight>
                <a:latin typeface="Arial"/>
              </a:rPr>
              <a:t>array_local</a:t>
            </a:r>
            <a:r>
              <a:rPr lang="en-US" sz="1400" kern="0" dirty="0">
                <a:solidFill>
                  <a:srgbClr val="000000"/>
                </a:solidFill>
                <a:highlight>
                  <a:srgbClr val="FFFF00"/>
                </a:highlight>
                <a:latin typeface="Arial"/>
              </a:rPr>
              <a:t>[0];</a:t>
            </a:r>
          </a:p>
          <a:p>
            <a:pPr defTabSz="914400" fontAlgn="base">
              <a:spcBef>
                <a:spcPct val="0"/>
              </a:spcBef>
              <a:spcAft>
                <a:spcPct val="0"/>
              </a:spcAft>
              <a:defRPr/>
            </a:pPr>
            <a:r>
              <a:rPr lang="en-US" sz="1400" kern="0" dirty="0">
                <a:solidFill>
                  <a:srgbClr val="000000"/>
                </a:solidFill>
                <a:highlight>
                  <a:srgbClr val="FFFF00"/>
                </a:highlight>
                <a:latin typeface="Arial"/>
              </a:rPr>
              <a:t>#endif</a:t>
            </a:r>
          </a:p>
          <a:p>
            <a:pPr defTabSz="914400" fontAlgn="base">
              <a:spcBef>
                <a:spcPct val="0"/>
              </a:spcBef>
              <a:spcAft>
                <a:spcPct val="0"/>
              </a:spcAft>
              <a:defRPr/>
            </a:pPr>
            <a:r>
              <a:rPr lang="en-US" sz="1400" kern="0" dirty="0">
                <a:solidFill>
                  <a:srgbClr val="000000"/>
                </a:solidFill>
                <a:highlight>
                  <a:srgbClr val="FFFF00"/>
                </a:highlight>
                <a:latin typeface="Arial"/>
              </a:rPr>
              <a:t> int </a:t>
            </a:r>
            <a:r>
              <a:rPr lang="en-US" sz="1400" kern="0" dirty="0" err="1">
                <a:solidFill>
                  <a:srgbClr val="000000"/>
                </a:solidFill>
                <a:highlight>
                  <a:srgbClr val="FFFF00"/>
                </a:highlight>
                <a:latin typeface="Arial"/>
              </a:rPr>
              <a:t>i,j</a:t>
            </a:r>
            <a:r>
              <a:rPr lang="en-US" sz="1400" kern="0" dirty="0">
                <a:solidFill>
                  <a:srgbClr val="000000"/>
                </a:solidFill>
                <a:highlight>
                  <a:srgbClr val="FFFF00"/>
                </a:highlight>
                <a:latin typeface="Arial"/>
              </a:rPr>
              <a:t>;</a:t>
            </a:r>
          </a:p>
          <a:p>
            <a:pPr defTabSz="914400" fontAlgn="base">
              <a:spcBef>
                <a:spcPct val="0"/>
              </a:spcBef>
              <a:spcAft>
                <a:spcPct val="0"/>
              </a:spcAft>
              <a:defRPr/>
            </a:pPr>
            <a:r>
              <a:rPr lang="en-US" sz="1400" kern="0" dirty="0">
                <a:solidFill>
                  <a:srgbClr val="000000"/>
                </a:solidFill>
                <a:highlight>
                  <a:srgbClr val="FFFF00"/>
                </a:highlight>
                <a:latin typeface="Arial"/>
              </a:rPr>
              <a:t> </a:t>
            </a:r>
            <a:r>
              <a:rPr lang="en-US" sz="1400" kern="0" dirty="0" err="1">
                <a:solidFill>
                  <a:srgbClr val="000000"/>
                </a:solidFill>
                <a:highlight>
                  <a:srgbClr val="FFFF00"/>
                </a:highlight>
                <a:latin typeface="Arial"/>
              </a:rPr>
              <a:t>LOOP_SHIFT:for</a:t>
            </a:r>
            <a:r>
              <a:rPr lang="en-US" sz="1400" kern="0" dirty="0">
                <a:solidFill>
                  <a:srgbClr val="000000"/>
                </a:solidFill>
                <a:highlight>
                  <a:srgbClr val="FFFF00"/>
                </a:highlight>
                <a:latin typeface="Arial"/>
              </a:rPr>
              <a:t> (</a:t>
            </a:r>
            <a:r>
              <a:rPr lang="en-US" sz="1400" kern="0" dirty="0" err="1">
                <a:solidFill>
                  <a:srgbClr val="000000"/>
                </a:solidFill>
                <a:highlight>
                  <a:srgbClr val="FFFF00"/>
                </a:highlight>
                <a:latin typeface="Arial"/>
              </a:rPr>
              <a:t>i</a:t>
            </a:r>
            <a:r>
              <a:rPr lang="en-US" sz="1400" kern="0" dirty="0">
                <a:solidFill>
                  <a:srgbClr val="000000"/>
                </a:solidFill>
                <a:highlight>
                  <a:srgbClr val="FFFF00"/>
                </a:highlight>
                <a:latin typeface="Arial"/>
              </a:rPr>
              <a:t>=0;i&lt;N-1; </a:t>
            </a:r>
            <a:r>
              <a:rPr lang="en-US" sz="1400" kern="0" dirty="0" err="1">
                <a:solidFill>
                  <a:srgbClr val="000000"/>
                </a:solidFill>
                <a:highlight>
                  <a:srgbClr val="FFFF00"/>
                </a:highlight>
                <a:latin typeface="Arial"/>
              </a:rPr>
              <a:t>i</a:t>
            </a:r>
            <a:r>
              <a:rPr lang="en-US" sz="1400" kern="0" dirty="0">
                <a:solidFill>
                  <a:srgbClr val="000000"/>
                </a:solidFill>
                <a:highlight>
                  <a:srgbClr val="FFFF00"/>
                </a:highlight>
                <a:latin typeface="Arial"/>
              </a:rPr>
              <a:t>++) {</a:t>
            </a:r>
          </a:p>
          <a:p>
            <a:pPr defTabSz="914400" fontAlgn="base">
              <a:spcBef>
                <a:spcPct val="0"/>
              </a:spcBef>
              <a:spcAft>
                <a:spcPct val="0"/>
              </a:spcAft>
              <a:defRPr/>
            </a:pPr>
            <a:r>
              <a:rPr lang="en-US" sz="1400" kern="0" dirty="0">
                <a:solidFill>
                  <a:srgbClr val="000000"/>
                </a:solidFill>
                <a:highlight>
                  <a:srgbClr val="FFFF00"/>
                </a:highlight>
                <a:latin typeface="Arial"/>
              </a:rPr>
              <a:t> if (</a:t>
            </a:r>
            <a:r>
              <a:rPr lang="en-US" sz="1400" kern="0" dirty="0" err="1">
                <a:solidFill>
                  <a:srgbClr val="000000"/>
                </a:solidFill>
                <a:highlight>
                  <a:srgbClr val="FFFF00"/>
                </a:highlight>
                <a:latin typeface="Arial"/>
              </a:rPr>
              <a:t>i</a:t>
            </a:r>
            <a:r>
              <a:rPr lang="en-US" sz="1400" kern="0" dirty="0">
                <a:solidFill>
                  <a:srgbClr val="000000"/>
                </a:solidFill>
                <a:highlight>
                  <a:srgbClr val="FFFF00"/>
                </a:highlight>
                <a:latin typeface="Arial"/>
              </a:rPr>
              <a:t>&lt;width) </a:t>
            </a:r>
          </a:p>
          <a:p>
            <a:pPr defTabSz="914400" fontAlgn="base">
              <a:spcBef>
                <a:spcPct val="0"/>
              </a:spcBef>
              <a:spcAft>
                <a:spcPct val="0"/>
              </a:spcAft>
              <a:defRPr/>
            </a:pPr>
            <a:r>
              <a:rPr lang="en-US" sz="1400" kern="0" dirty="0">
                <a:solidFill>
                  <a:srgbClr val="000000"/>
                </a:solidFill>
                <a:highlight>
                  <a:srgbClr val="FFFF00"/>
                </a:highlight>
                <a:latin typeface="Arial"/>
              </a:rPr>
              <a:t> *(</a:t>
            </a:r>
            <a:r>
              <a:rPr lang="en-US" sz="1400" kern="0" dirty="0" err="1">
                <a:solidFill>
                  <a:srgbClr val="000000"/>
                </a:solidFill>
                <a:highlight>
                  <a:srgbClr val="FFFF00"/>
                </a:highlight>
                <a:latin typeface="Arial"/>
              </a:rPr>
              <a:t>array_local+i</a:t>
            </a:r>
            <a:r>
              <a:rPr lang="en-US" sz="1400" kern="0" dirty="0">
                <a:solidFill>
                  <a:srgbClr val="000000"/>
                </a:solidFill>
                <a:highlight>
                  <a:srgbClr val="FFFF00"/>
                </a:highlight>
                <a:latin typeface="Arial"/>
              </a:rPr>
              <a:t>)=din[</a:t>
            </a:r>
            <a:r>
              <a:rPr lang="en-US" sz="1400" kern="0" dirty="0" err="1">
                <a:solidFill>
                  <a:srgbClr val="000000"/>
                </a:solidFill>
                <a:highlight>
                  <a:srgbClr val="FFFF00"/>
                </a:highlight>
                <a:latin typeface="Arial"/>
              </a:rPr>
              <a:t>i</a:t>
            </a:r>
            <a:r>
              <a:rPr lang="en-US" sz="1400" kern="0" dirty="0">
                <a:solidFill>
                  <a:srgbClr val="000000"/>
                </a:solidFill>
                <a:highlight>
                  <a:srgbClr val="FFFF00"/>
                </a:highlight>
                <a:latin typeface="Arial"/>
              </a:rPr>
              <a:t>];</a:t>
            </a:r>
          </a:p>
          <a:p>
            <a:pPr defTabSz="914400" fontAlgn="base">
              <a:spcBef>
                <a:spcPct val="0"/>
              </a:spcBef>
              <a:spcAft>
                <a:spcPct val="0"/>
              </a:spcAft>
              <a:defRPr/>
            </a:pPr>
            <a:r>
              <a:rPr lang="en-US" sz="1400" kern="0" dirty="0">
                <a:solidFill>
                  <a:srgbClr val="000000"/>
                </a:solidFill>
                <a:highlight>
                  <a:srgbClr val="FFFF00"/>
                </a:highlight>
                <a:latin typeface="Arial"/>
              </a:rPr>
              <a:t> else </a:t>
            </a:r>
          </a:p>
          <a:p>
            <a:pPr defTabSz="914400" fontAlgn="base">
              <a:spcBef>
                <a:spcPct val="0"/>
              </a:spcBef>
              <a:spcAft>
                <a:spcPct val="0"/>
              </a:spcAft>
              <a:defRPr/>
            </a:pPr>
            <a:r>
              <a:rPr lang="en-US" sz="1400" kern="0" dirty="0">
                <a:solidFill>
                  <a:srgbClr val="000000"/>
                </a:solidFill>
                <a:highlight>
                  <a:srgbClr val="FFFF00"/>
                </a:highlight>
                <a:latin typeface="Arial"/>
              </a:rPr>
              <a:t> *(</a:t>
            </a:r>
            <a:r>
              <a:rPr lang="en-US" sz="1400" kern="0" dirty="0" err="1">
                <a:solidFill>
                  <a:srgbClr val="000000"/>
                </a:solidFill>
                <a:highlight>
                  <a:srgbClr val="FFFF00"/>
                </a:highlight>
                <a:latin typeface="Arial"/>
              </a:rPr>
              <a:t>array_local+i</a:t>
            </a:r>
            <a:r>
              <a:rPr lang="en-US" sz="1400" kern="0" dirty="0">
                <a:solidFill>
                  <a:srgbClr val="000000"/>
                </a:solidFill>
                <a:highlight>
                  <a:srgbClr val="FFFF00"/>
                </a:highlight>
                <a:latin typeface="Arial"/>
              </a:rPr>
              <a:t>)=din[</a:t>
            </a:r>
            <a:r>
              <a:rPr lang="en-US" sz="1400" kern="0" dirty="0" err="1">
                <a:solidFill>
                  <a:srgbClr val="000000"/>
                </a:solidFill>
                <a:highlight>
                  <a:srgbClr val="FFFF00"/>
                </a:highlight>
                <a:latin typeface="Arial"/>
              </a:rPr>
              <a:t>i</a:t>
            </a:r>
            <a:r>
              <a:rPr lang="en-US" sz="1400" kern="0" dirty="0">
                <a:solidFill>
                  <a:srgbClr val="000000"/>
                </a:solidFill>
                <a:highlight>
                  <a:srgbClr val="FFFF00"/>
                </a:highlight>
                <a:latin typeface="Arial"/>
              </a:rPr>
              <a:t>]&gt;&gt;2;</a:t>
            </a:r>
          </a:p>
          <a:p>
            <a:pPr defTabSz="914400" fontAlgn="base">
              <a:spcBef>
                <a:spcPct val="0"/>
              </a:spcBef>
              <a:spcAft>
                <a:spcPct val="0"/>
              </a:spcAft>
              <a:defRPr/>
            </a:pPr>
            <a:r>
              <a:rPr lang="en-US" sz="1400" kern="0" dirty="0">
                <a:solidFill>
                  <a:srgbClr val="000000"/>
                </a:solidFill>
                <a:highlight>
                  <a:srgbClr val="FFFF00"/>
                </a:highlight>
                <a:latin typeface="Arial"/>
              </a:rPr>
              <a:t> }</a:t>
            </a:r>
          </a:p>
          <a:p>
            <a:pPr defTabSz="914400" fontAlgn="base">
              <a:spcBef>
                <a:spcPct val="0"/>
              </a:spcBef>
              <a:spcAft>
                <a:spcPct val="0"/>
              </a:spcAft>
              <a:defRPr/>
            </a:pPr>
            <a:r>
              <a:rPr lang="en-US" sz="1400" kern="0" dirty="0">
                <a:solidFill>
                  <a:srgbClr val="000000"/>
                </a:solidFill>
                <a:highlight>
                  <a:srgbClr val="FFFF00"/>
                </a:highlight>
                <a:latin typeface="Arial"/>
              </a:rPr>
              <a:t> *</a:t>
            </a:r>
            <a:r>
              <a:rPr lang="en-US" sz="1400" kern="0" dirty="0" err="1">
                <a:solidFill>
                  <a:srgbClr val="000000"/>
                </a:solidFill>
                <a:highlight>
                  <a:srgbClr val="FFFF00"/>
                </a:highlight>
                <a:latin typeface="Arial"/>
              </a:rPr>
              <a:t>out_accum</a:t>
            </a:r>
            <a:r>
              <a:rPr lang="en-US" sz="1400" kern="0" dirty="0">
                <a:solidFill>
                  <a:srgbClr val="000000"/>
                </a:solidFill>
                <a:highlight>
                  <a:srgbClr val="FFFF00"/>
                </a:highlight>
                <a:latin typeface="Arial"/>
              </a:rPr>
              <a:t>=0;</a:t>
            </a:r>
          </a:p>
          <a:p>
            <a:pPr defTabSz="914400" fontAlgn="base">
              <a:spcBef>
                <a:spcPct val="0"/>
              </a:spcBef>
              <a:spcAft>
                <a:spcPct val="0"/>
              </a:spcAft>
              <a:defRPr/>
            </a:pPr>
            <a:r>
              <a:rPr lang="en-US" sz="1400" kern="0" dirty="0">
                <a:solidFill>
                  <a:srgbClr val="000000"/>
                </a:solidFill>
                <a:highlight>
                  <a:srgbClr val="FFFF00"/>
                </a:highlight>
                <a:latin typeface="Arial"/>
              </a:rPr>
              <a:t> </a:t>
            </a:r>
            <a:r>
              <a:rPr lang="en-US" sz="1400" kern="0" dirty="0" err="1">
                <a:solidFill>
                  <a:srgbClr val="000000"/>
                </a:solidFill>
                <a:highlight>
                  <a:srgbClr val="FFFF00"/>
                </a:highlight>
                <a:latin typeface="Arial"/>
              </a:rPr>
              <a:t>LOOP_ACCUM:for</a:t>
            </a:r>
            <a:r>
              <a:rPr lang="en-US" sz="1400" kern="0" dirty="0">
                <a:solidFill>
                  <a:srgbClr val="000000"/>
                </a:solidFill>
                <a:highlight>
                  <a:srgbClr val="FFFF00"/>
                </a:highlight>
                <a:latin typeface="Arial"/>
              </a:rPr>
              <a:t> (j=0;j&lt;N-1; </a:t>
            </a:r>
            <a:r>
              <a:rPr lang="en-US" sz="1400" kern="0" dirty="0" err="1">
                <a:solidFill>
                  <a:srgbClr val="000000"/>
                </a:solidFill>
                <a:highlight>
                  <a:srgbClr val="FFFF00"/>
                </a:highlight>
                <a:latin typeface="Arial"/>
              </a:rPr>
              <a:t>j++</a:t>
            </a:r>
            <a:r>
              <a:rPr lang="en-US" sz="1400" kern="0" dirty="0">
                <a:solidFill>
                  <a:srgbClr val="000000"/>
                </a:solidFill>
                <a:highlight>
                  <a:srgbClr val="FFFF00"/>
                </a:highlight>
                <a:latin typeface="Arial"/>
              </a:rPr>
              <a:t>) {</a:t>
            </a:r>
          </a:p>
          <a:p>
            <a:pPr defTabSz="914400" fontAlgn="base">
              <a:spcBef>
                <a:spcPct val="0"/>
              </a:spcBef>
              <a:spcAft>
                <a:spcPct val="0"/>
              </a:spcAft>
              <a:defRPr/>
            </a:pPr>
            <a:r>
              <a:rPr lang="en-US" sz="1400" kern="0" dirty="0">
                <a:solidFill>
                  <a:srgbClr val="000000"/>
                </a:solidFill>
                <a:highlight>
                  <a:srgbClr val="FFFF00"/>
                </a:highlight>
                <a:latin typeface="Arial"/>
              </a:rPr>
              <a:t> *</a:t>
            </a:r>
            <a:r>
              <a:rPr lang="en-US" sz="1400" kern="0" dirty="0" err="1">
                <a:solidFill>
                  <a:srgbClr val="000000"/>
                </a:solidFill>
                <a:highlight>
                  <a:srgbClr val="FFFF00"/>
                </a:highlight>
                <a:latin typeface="Arial"/>
              </a:rPr>
              <a:t>out_accum</a:t>
            </a:r>
            <a:r>
              <a:rPr lang="en-US" sz="1400" kern="0" dirty="0">
                <a:solidFill>
                  <a:srgbClr val="000000"/>
                </a:solidFill>
                <a:highlight>
                  <a:srgbClr val="FFFF00"/>
                </a:highlight>
                <a:latin typeface="Arial"/>
              </a:rPr>
              <a:t> += *(</a:t>
            </a:r>
            <a:r>
              <a:rPr lang="en-US" sz="1400" kern="0" dirty="0" err="1">
                <a:solidFill>
                  <a:srgbClr val="000000"/>
                </a:solidFill>
                <a:highlight>
                  <a:srgbClr val="FFFF00"/>
                </a:highlight>
                <a:latin typeface="Arial"/>
              </a:rPr>
              <a:t>array_local+j</a:t>
            </a:r>
            <a:r>
              <a:rPr lang="en-US" sz="1400" kern="0" dirty="0">
                <a:solidFill>
                  <a:srgbClr val="000000"/>
                </a:solidFill>
                <a:highlight>
                  <a:srgbClr val="FFFF00"/>
                </a:highlight>
                <a:latin typeface="Arial"/>
              </a:rPr>
              <a:t>);</a:t>
            </a:r>
          </a:p>
          <a:p>
            <a:pPr defTabSz="914400" fontAlgn="base">
              <a:spcBef>
                <a:spcPct val="0"/>
              </a:spcBef>
              <a:spcAft>
                <a:spcPct val="0"/>
              </a:spcAft>
              <a:defRPr/>
            </a:pPr>
            <a:r>
              <a:rPr lang="en-US" sz="1400" kern="0" dirty="0">
                <a:solidFill>
                  <a:srgbClr val="000000"/>
                </a:solidFill>
                <a:highlight>
                  <a:srgbClr val="FFFF00"/>
                </a:highlight>
                <a:latin typeface="Arial"/>
              </a:rPr>
              <a:t> }</a:t>
            </a:r>
          </a:p>
          <a:p>
            <a:pPr defTabSz="914400" fontAlgn="base">
              <a:spcBef>
                <a:spcPct val="0"/>
              </a:spcBef>
              <a:spcAft>
                <a:spcPct val="0"/>
              </a:spcAft>
              <a:defRPr/>
            </a:pPr>
            <a:r>
              <a:rPr lang="en-US" sz="1400" kern="0" dirty="0">
                <a:solidFill>
                  <a:srgbClr val="000000"/>
                </a:solidFill>
                <a:highlight>
                  <a:srgbClr val="FFFF00"/>
                </a:highlight>
                <a:latin typeface="Arial"/>
              </a:rPr>
              <a:t> return *</a:t>
            </a:r>
            <a:r>
              <a:rPr lang="en-US" sz="1400" kern="0" dirty="0" err="1">
                <a:solidFill>
                  <a:srgbClr val="000000"/>
                </a:solidFill>
                <a:highlight>
                  <a:srgbClr val="FFFF00"/>
                </a:highlight>
                <a:latin typeface="Arial"/>
              </a:rPr>
              <a:t>out_accum</a:t>
            </a:r>
            <a:r>
              <a:rPr lang="en-US" sz="1400" kern="0" dirty="0">
                <a:solidFill>
                  <a:srgbClr val="000000"/>
                </a:solidFill>
                <a:highlight>
                  <a:srgbClr val="FFFF00"/>
                </a:highlight>
                <a:latin typeface="Arial"/>
              </a:rPr>
              <a:t>;</a:t>
            </a:r>
          </a:p>
          <a:p>
            <a:pPr defTabSz="914400" fontAlgn="base">
              <a:spcBef>
                <a:spcPct val="0"/>
              </a:spcBef>
              <a:spcAft>
                <a:spcPct val="0"/>
              </a:spcAft>
              <a:defRPr/>
            </a:pPr>
            <a:r>
              <a:rPr lang="en-US" sz="1400" kern="0" dirty="0">
                <a:solidFill>
                  <a:srgbClr val="000000"/>
                </a:solidFill>
                <a:highlight>
                  <a:srgbClr val="FFFF00"/>
                </a:highlight>
                <a:latin typeface="Arial"/>
              </a:rPr>
              <a: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306A6B-B72E-46B6-B69D-A76738C89FE9}"/>
              </a:ext>
            </a:extLst>
          </p:cNvPr>
          <p:cNvSpPr>
            <a:spLocks noGrp="1"/>
          </p:cNvSpPr>
          <p:nvPr>
            <p:ph type="title"/>
          </p:nvPr>
        </p:nvSpPr>
        <p:spPr/>
        <p:txBody>
          <a:bodyPr/>
          <a:lstStyle/>
          <a:p>
            <a:r>
              <a:rPr lang="en-US" altLang="zh-CN" dirty="0"/>
              <a:t>Coding Considerations and IO</a:t>
            </a:r>
            <a:endParaRPr lang="zh-CN" altLang="en-US" dirty="0"/>
          </a:p>
        </p:txBody>
      </p:sp>
    </p:spTree>
    <p:extLst>
      <p:ext uri="{BB962C8B-B14F-4D97-AF65-F5344CB8AC3E}">
        <p14:creationId xmlns:p14="http://schemas.microsoft.com/office/powerpoint/2010/main" val="14962791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Coding and IO</a:t>
            </a:r>
          </a:p>
        </p:txBody>
      </p:sp>
      <p:sp>
        <p:nvSpPr>
          <p:cNvPr id="3" name="Content Placeholder 2"/>
          <p:cNvSpPr>
            <a:spLocks noGrp="1"/>
          </p:cNvSpPr>
          <p:nvPr>
            <p:ph idx="1"/>
          </p:nvPr>
        </p:nvSpPr>
        <p:spPr/>
        <p:txBody>
          <a:bodyPr/>
          <a:lstStyle/>
          <a:p>
            <a:r>
              <a:rPr lang="en-US" dirty="0"/>
              <a:t>There is one major issue with IO and coding</a:t>
            </a:r>
          </a:p>
          <a:p>
            <a:pPr lvl="1"/>
            <a:r>
              <a:rPr lang="en-US" dirty="0"/>
              <a:t>Multi-access pointers</a:t>
            </a:r>
          </a:p>
          <a:p>
            <a:r>
              <a:rPr lang="en-US" dirty="0"/>
              <a:t>A multi-access pointer is a pointer argument which is …</a:t>
            </a:r>
          </a:p>
          <a:p>
            <a:pPr lvl="1"/>
            <a:r>
              <a:rPr lang="en-US" dirty="0"/>
              <a:t>Read or written to multiple times</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r>
              <a:rPr lang="en-US" altLang="zh-CN" dirty="0"/>
              <a:t>This </a:t>
            </a:r>
            <a:r>
              <a:rPr lang="en-US" dirty="0"/>
              <a:t>introduce unexpected behavior after synthesis</a:t>
            </a:r>
          </a:p>
        </p:txBody>
      </p:sp>
      <p:sp>
        <p:nvSpPr>
          <p:cNvPr id="11" name="Slide Number Placeholder 5">
            <a:extLst>
              <a:ext uri="{FF2B5EF4-FFF2-40B4-BE49-F238E27FC236}">
                <a16:creationId xmlns:a16="http://schemas.microsoft.com/office/drawing/2014/main" id="{968285E2-34C7-422C-B70B-BF538958891A}"/>
              </a:ext>
            </a:extLst>
          </p:cNvPr>
          <p:cNvSpPr>
            <a:spLocks noGrp="1"/>
          </p:cNvSpPr>
          <p:nvPr>
            <p:ph type="sldNum" sz="quarter" idx="4"/>
          </p:nvPr>
        </p:nvSpPr>
        <p:spPr/>
        <p:txBody>
          <a:bodyPr/>
          <a:lstStyle/>
          <a:p>
            <a:pPr>
              <a:defRPr/>
            </a:pPr>
            <a:r>
              <a:rPr lang="en-US" dirty="0"/>
              <a:t>Coding Considerations 23- </a:t>
            </a:r>
            <a:fld id="{060BD193-E118-4B16-863C-C8C12C675E3E}" type="slidenum">
              <a:rPr lang="en-US" smtClean="0"/>
              <a:pPr>
                <a:defRPr/>
              </a:pPr>
              <a:t>44</a:t>
            </a:fld>
            <a:endParaRPr lang="en-US" dirty="0"/>
          </a:p>
        </p:txBody>
      </p:sp>
      <p:sp>
        <p:nvSpPr>
          <p:cNvPr id="15" name="TextBox 14"/>
          <p:cNvSpPr txBox="1"/>
          <p:nvPr/>
        </p:nvSpPr>
        <p:spPr>
          <a:xfrm>
            <a:off x="7587891" y="5357197"/>
            <a:ext cx="3993080" cy="738664"/>
          </a:xfrm>
          <a:prstGeom prst="rect">
            <a:avLst/>
          </a:prstGeom>
          <a:solidFill>
            <a:srgbClr val="FFFF99"/>
          </a:solidFill>
          <a:ln>
            <a:solidFill>
              <a:schemeClr val="tx1"/>
            </a:solidFill>
          </a:ln>
          <a:effectLst>
            <a:innerShdw blurRad="63500" dist="50800" dir="2700000">
              <a:prstClr val="black">
                <a:alpha val="50000"/>
              </a:prstClr>
            </a:innerShdw>
          </a:effectLst>
        </p:spPr>
        <p:txBody>
          <a:bodyPr wrap="square" rtlCol="0">
            <a:spAutoFit/>
          </a:bodyPr>
          <a:lstStyle/>
          <a:p>
            <a:pPr algn="ctr"/>
            <a:r>
              <a:rPr lang="en-US" sz="1400" b="1" dirty="0"/>
              <a:t>Yes, you can use this coding style (if you REALLY wish)…. With the following workarounds</a:t>
            </a:r>
          </a:p>
        </p:txBody>
      </p:sp>
      <p:sp>
        <p:nvSpPr>
          <p:cNvPr id="12" name="TextBox 11">
            <a:extLst>
              <a:ext uri="{FF2B5EF4-FFF2-40B4-BE49-F238E27FC236}">
                <a16:creationId xmlns:a16="http://schemas.microsoft.com/office/drawing/2014/main" id="{4446495D-EEDB-4C1B-B4C5-2EA79985EB0C}"/>
              </a:ext>
            </a:extLst>
          </p:cNvPr>
          <p:cNvSpPr txBox="1"/>
          <p:nvPr/>
        </p:nvSpPr>
        <p:spPr>
          <a:xfrm>
            <a:off x="1181443" y="3525424"/>
            <a:ext cx="2662053" cy="1892826"/>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lvl="0" fontAlgn="base">
              <a:spcBef>
                <a:spcPct val="0"/>
              </a:spcBef>
              <a:spcAft>
                <a:spcPct val="0"/>
              </a:spcAft>
              <a:defRPr/>
            </a:pPr>
            <a:r>
              <a:rPr lang="en-US" sz="900" b="1" kern="0" dirty="0">
                <a:solidFill>
                  <a:srgbClr val="000000"/>
                </a:solidFill>
              </a:rPr>
              <a:t>#include "</a:t>
            </a:r>
            <a:r>
              <a:rPr lang="en-US" sz="900" b="1" kern="0" dirty="0" err="1">
                <a:solidFill>
                  <a:srgbClr val="000000"/>
                </a:solidFill>
              </a:rPr>
              <a:t>pointer_stream_bad.h</a:t>
            </a:r>
            <a:r>
              <a:rPr lang="en-US" sz="900" b="1" kern="0" dirty="0">
                <a:solidFill>
                  <a:srgbClr val="000000"/>
                </a:solidFill>
              </a:rPr>
              <a:t>"</a:t>
            </a:r>
          </a:p>
          <a:p>
            <a:pPr lvl="0" fontAlgn="base">
              <a:spcBef>
                <a:spcPct val="0"/>
              </a:spcBef>
              <a:spcAft>
                <a:spcPct val="0"/>
              </a:spcAft>
              <a:defRPr/>
            </a:pPr>
            <a:endParaRPr lang="en-US" sz="900" b="1" kern="0" dirty="0">
              <a:solidFill>
                <a:srgbClr val="000000"/>
              </a:solidFill>
            </a:endParaRPr>
          </a:p>
          <a:p>
            <a:pPr lvl="0" fontAlgn="base">
              <a:spcBef>
                <a:spcPct val="0"/>
              </a:spcBef>
              <a:spcAft>
                <a:spcPct val="0"/>
              </a:spcAft>
              <a:defRPr/>
            </a:pPr>
            <a:r>
              <a:rPr lang="en-US" sz="900" b="1" kern="0" dirty="0">
                <a:solidFill>
                  <a:srgbClr val="000000"/>
                </a:solidFill>
              </a:rPr>
              <a:t>void </a:t>
            </a:r>
            <a:r>
              <a:rPr lang="en-US" sz="900" b="1" kern="0" dirty="0" err="1">
                <a:solidFill>
                  <a:srgbClr val="000000"/>
                </a:solidFill>
              </a:rPr>
              <a:t>pointer_stream_bad</a:t>
            </a:r>
            <a:r>
              <a:rPr lang="en-US" sz="900" b="1" kern="0" dirty="0">
                <a:solidFill>
                  <a:srgbClr val="000000"/>
                </a:solidFill>
              </a:rPr>
              <a:t> ( </a:t>
            </a:r>
            <a:r>
              <a:rPr lang="en-US" sz="900" b="1" kern="0" dirty="0" err="1">
                <a:solidFill>
                  <a:srgbClr val="000000"/>
                </a:solidFill>
              </a:rPr>
              <a:t>dout_t</a:t>
            </a:r>
            <a:r>
              <a:rPr lang="en-US" sz="900" b="1" kern="0" dirty="0">
                <a:solidFill>
                  <a:srgbClr val="000000"/>
                </a:solidFill>
              </a:rPr>
              <a:t> *</a:t>
            </a:r>
            <a:r>
              <a:rPr lang="en-US" sz="900" b="1" kern="0" dirty="0" err="1">
                <a:solidFill>
                  <a:srgbClr val="000000"/>
                </a:solidFill>
              </a:rPr>
              <a:t>d_o</a:t>
            </a:r>
            <a:r>
              <a:rPr lang="en-US" sz="900" b="1" kern="0" dirty="0">
                <a:solidFill>
                  <a:srgbClr val="000000"/>
                </a:solidFill>
              </a:rPr>
              <a:t>,  </a:t>
            </a:r>
            <a:r>
              <a:rPr lang="en-US" sz="900" b="1" kern="0" dirty="0" err="1">
                <a:solidFill>
                  <a:srgbClr val="000000"/>
                </a:solidFill>
              </a:rPr>
              <a:t>din_t</a:t>
            </a:r>
            <a:r>
              <a:rPr lang="en-US" sz="900" b="1" kern="0" dirty="0">
                <a:solidFill>
                  <a:srgbClr val="000000"/>
                </a:solidFill>
              </a:rPr>
              <a:t> *</a:t>
            </a:r>
            <a:r>
              <a:rPr lang="en-US" sz="900" b="1" kern="0" dirty="0" err="1">
                <a:solidFill>
                  <a:srgbClr val="000000"/>
                </a:solidFill>
              </a:rPr>
              <a:t>d_i</a:t>
            </a:r>
            <a:r>
              <a:rPr lang="en-US" sz="900" b="1" kern="0" dirty="0">
                <a:solidFill>
                  <a:srgbClr val="000000"/>
                </a:solidFill>
              </a:rPr>
              <a:t>) {</a:t>
            </a:r>
          </a:p>
          <a:p>
            <a:pPr lvl="0" fontAlgn="base">
              <a:spcBef>
                <a:spcPct val="0"/>
              </a:spcBef>
              <a:spcAft>
                <a:spcPct val="0"/>
              </a:spcAft>
              <a:defRPr/>
            </a:pPr>
            <a:r>
              <a:rPr lang="en-US" sz="900" b="1" kern="0" dirty="0">
                <a:solidFill>
                  <a:srgbClr val="000000"/>
                </a:solidFill>
              </a:rPr>
              <a:t> </a:t>
            </a:r>
            <a:r>
              <a:rPr lang="en-US" sz="900" b="1" kern="0" dirty="0" err="1">
                <a:solidFill>
                  <a:srgbClr val="000000"/>
                </a:solidFill>
              </a:rPr>
              <a:t>din_t</a:t>
            </a:r>
            <a:r>
              <a:rPr lang="en-US" sz="900" b="1" kern="0" dirty="0">
                <a:solidFill>
                  <a:srgbClr val="000000"/>
                </a:solidFill>
              </a:rPr>
              <a:t> acc = 0;</a:t>
            </a:r>
          </a:p>
          <a:p>
            <a:pPr lvl="0" fontAlgn="base">
              <a:spcBef>
                <a:spcPct val="0"/>
              </a:spcBef>
              <a:spcAft>
                <a:spcPct val="0"/>
              </a:spcAft>
              <a:defRPr/>
            </a:pPr>
            <a:endParaRPr lang="en-US" sz="900" b="1" kern="0" dirty="0">
              <a:solidFill>
                <a:srgbClr val="000000"/>
              </a:solidFill>
            </a:endParaRPr>
          </a:p>
          <a:p>
            <a:pPr lvl="0" fontAlgn="base">
              <a:spcBef>
                <a:spcPct val="0"/>
              </a:spcBef>
              <a:spcAft>
                <a:spcPct val="0"/>
              </a:spcAft>
              <a:defRPr/>
            </a:pPr>
            <a:r>
              <a:rPr lang="en-US" sz="900" b="1" kern="0" dirty="0">
                <a:solidFill>
                  <a:srgbClr val="000000"/>
                </a:solidFill>
              </a:rPr>
              <a:t> acc += *</a:t>
            </a:r>
            <a:r>
              <a:rPr lang="en-US" sz="900" b="1" kern="0" dirty="0" err="1">
                <a:solidFill>
                  <a:srgbClr val="000000"/>
                </a:solidFill>
              </a:rPr>
              <a:t>d_i</a:t>
            </a:r>
            <a:r>
              <a:rPr lang="en-US" sz="900" b="1" kern="0" dirty="0">
                <a:solidFill>
                  <a:srgbClr val="000000"/>
                </a:solidFill>
              </a:rPr>
              <a:t>;</a:t>
            </a:r>
          </a:p>
          <a:p>
            <a:pPr lvl="0" fontAlgn="base">
              <a:spcBef>
                <a:spcPct val="0"/>
              </a:spcBef>
              <a:spcAft>
                <a:spcPct val="0"/>
              </a:spcAft>
              <a:defRPr/>
            </a:pPr>
            <a:r>
              <a:rPr lang="en-US" sz="900" b="1" kern="0" dirty="0">
                <a:solidFill>
                  <a:srgbClr val="000000"/>
                </a:solidFill>
              </a:rPr>
              <a:t> acc += *</a:t>
            </a:r>
            <a:r>
              <a:rPr lang="en-US" sz="900" b="1" kern="0" dirty="0" err="1">
                <a:solidFill>
                  <a:srgbClr val="000000"/>
                </a:solidFill>
              </a:rPr>
              <a:t>d_i</a:t>
            </a:r>
            <a:r>
              <a:rPr lang="en-US" sz="900" b="1" kern="0" dirty="0">
                <a:solidFill>
                  <a:srgbClr val="000000"/>
                </a:solidFill>
              </a:rPr>
              <a:t>;</a:t>
            </a:r>
          </a:p>
          <a:p>
            <a:pPr lvl="0" fontAlgn="base">
              <a:spcBef>
                <a:spcPct val="0"/>
              </a:spcBef>
              <a:spcAft>
                <a:spcPct val="0"/>
              </a:spcAft>
              <a:defRPr/>
            </a:pPr>
            <a:r>
              <a:rPr lang="en-US" sz="900" b="1" kern="0" dirty="0">
                <a:solidFill>
                  <a:srgbClr val="000000"/>
                </a:solidFill>
              </a:rPr>
              <a:t> *</a:t>
            </a:r>
            <a:r>
              <a:rPr lang="en-US" sz="900" b="1" kern="0" dirty="0" err="1">
                <a:solidFill>
                  <a:srgbClr val="000000"/>
                </a:solidFill>
              </a:rPr>
              <a:t>d_o</a:t>
            </a:r>
            <a:r>
              <a:rPr lang="en-US" sz="900" b="1" kern="0" dirty="0">
                <a:solidFill>
                  <a:srgbClr val="000000"/>
                </a:solidFill>
              </a:rPr>
              <a:t> = acc;</a:t>
            </a:r>
          </a:p>
          <a:p>
            <a:pPr lvl="0" fontAlgn="base">
              <a:spcBef>
                <a:spcPct val="0"/>
              </a:spcBef>
              <a:spcAft>
                <a:spcPct val="0"/>
              </a:spcAft>
              <a:defRPr/>
            </a:pPr>
            <a:r>
              <a:rPr lang="en-US" sz="900" b="1" kern="0" dirty="0">
                <a:solidFill>
                  <a:srgbClr val="000000"/>
                </a:solidFill>
              </a:rPr>
              <a:t> acc += *</a:t>
            </a:r>
            <a:r>
              <a:rPr lang="en-US" sz="900" b="1" kern="0" dirty="0" err="1">
                <a:solidFill>
                  <a:srgbClr val="000000"/>
                </a:solidFill>
              </a:rPr>
              <a:t>d_i</a:t>
            </a:r>
            <a:r>
              <a:rPr lang="en-US" sz="900" b="1" kern="0" dirty="0">
                <a:solidFill>
                  <a:srgbClr val="000000"/>
                </a:solidFill>
              </a:rPr>
              <a:t>;</a:t>
            </a:r>
          </a:p>
          <a:p>
            <a:pPr lvl="0" fontAlgn="base">
              <a:spcBef>
                <a:spcPct val="0"/>
              </a:spcBef>
              <a:spcAft>
                <a:spcPct val="0"/>
              </a:spcAft>
              <a:defRPr/>
            </a:pPr>
            <a:r>
              <a:rPr lang="en-US" sz="900" b="1" kern="0" dirty="0">
                <a:solidFill>
                  <a:srgbClr val="000000"/>
                </a:solidFill>
              </a:rPr>
              <a:t> acc += *</a:t>
            </a:r>
            <a:r>
              <a:rPr lang="en-US" sz="900" b="1" kern="0" dirty="0" err="1">
                <a:solidFill>
                  <a:srgbClr val="000000"/>
                </a:solidFill>
              </a:rPr>
              <a:t>d_i</a:t>
            </a:r>
            <a:r>
              <a:rPr lang="en-US" sz="900" b="1" kern="0" dirty="0">
                <a:solidFill>
                  <a:srgbClr val="000000"/>
                </a:solidFill>
              </a:rPr>
              <a:t>;</a:t>
            </a:r>
          </a:p>
          <a:p>
            <a:pPr lvl="0" fontAlgn="base">
              <a:spcBef>
                <a:spcPct val="0"/>
              </a:spcBef>
              <a:spcAft>
                <a:spcPct val="0"/>
              </a:spcAft>
              <a:defRPr/>
            </a:pPr>
            <a:r>
              <a:rPr lang="en-US" sz="900" b="1" kern="0" dirty="0">
                <a:solidFill>
                  <a:srgbClr val="000000"/>
                </a:solidFill>
              </a:rPr>
              <a:t> *</a:t>
            </a:r>
            <a:r>
              <a:rPr lang="en-US" sz="900" b="1" kern="0" dirty="0" err="1">
                <a:solidFill>
                  <a:srgbClr val="000000"/>
                </a:solidFill>
              </a:rPr>
              <a:t>d_o</a:t>
            </a:r>
            <a:r>
              <a:rPr lang="en-US" sz="900" b="1" kern="0" dirty="0">
                <a:solidFill>
                  <a:srgbClr val="000000"/>
                </a:solidFill>
              </a:rPr>
              <a:t> = acc;</a:t>
            </a:r>
          </a:p>
          <a:p>
            <a:pPr lvl="0" fontAlgn="base">
              <a:spcBef>
                <a:spcPct val="0"/>
              </a:spcBef>
              <a:spcAft>
                <a:spcPct val="0"/>
              </a:spcAft>
              <a:defRPr/>
            </a:pPr>
            <a:r>
              <a:rPr lang="en-US" sz="900" b="1" kern="0" dirty="0">
                <a:solidFill>
                  <a:srgbClr val="000000"/>
                </a:solidFill>
              </a:rPr>
              <a:t>}</a:t>
            </a:r>
            <a:endParaRPr lang="en-US" sz="900" b="1" kern="0" dirty="0">
              <a:solidFill>
                <a:srgbClr val="000000"/>
              </a:solidFill>
              <a:latin typeface="Arial"/>
            </a:endParaRPr>
          </a:p>
        </p:txBody>
      </p:sp>
      <p:sp>
        <p:nvSpPr>
          <p:cNvPr id="13" name="TextBox 12">
            <a:extLst>
              <a:ext uri="{FF2B5EF4-FFF2-40B4-BE49-F238E27FC236}">
                <a16:creationId xmlns:a16="http://schemas.microsoft.com/office/drawing/2014/main" id="{6B50FB9F-7917-4F4E-8E65-E000506089C5}"/>
              </a:ext>
            </a:extLst>
          </p:cNvPr>
          <p:cNvSpPr txBox="1"/>
          <p:nvPr/>
        </p:nvSpPr>
        <p:spPr>
          <a:xfrm>
            <a:off x="3997075" y="4447145"/>
            <a:ext cx="2918020" cy="276999"/>
          </a:xfrm>
          <a:prstGeom prst="rect">
            <a:avLst/>
          </a:prstGeom>
          <a:solidFill>
            <a:srgbClr val="FFFF99"/>
          </a:solidFill>
          <a:ln>
            <a:solidFill>
              <a:srgbClr val="000000"/>
            </a:solidFill>
          </a:ln>
          <a:effectLst>
            <a:innerShdw blurRad="63500" dist="50800" dir="2700000">
              <a:prstClr val="black">
                <a:alpha val="50000"/>
              </a:prstClr>
            </a:innerShdw>
          </a:effectLst>
        </p:spPr>
        <p:txBody>
          <a:bodyPr wrap="square" rtlCol="0">
            <a:spAutoFit/>
          </a:bodyPr>
          <a:lstStyle/>
          <a:p>
            <a:pPr algn="ctr" defTabSz="914400" fontAlgn="base">
              <a:spcBef>
                <a:spcPct val="0"/>
              </a:spcBef>
              <a:spcAft>
                <a:spcPct val="0"/>
              </a:spcAft>
              <a:defRPr/>
            </a:pPr>
            <a:r>
              <a:rPr lang="en-US" sz="1200" b="1" kern="0" dirty="0">
                <a:solidFill>
                  <a:srgbClr val="000000"/>
                </a:solidFill>
              </a:rPr>
              <a:t>*</a:t>
            </a:r>
            <a:r>
              <a:rPr lang="en-US" sz="1200" b="1" kern="0" dirty="0" err="1">
                <a:solidFill>
                  <a:srgbClr val="000000"/>
                </a:solidFill>
              </a:rPr>
              <a:t>d_i</a:t>
            </a:r>
            <a:r>
              <a:rPr lang="en-US" sz="1200" b="1" kern="0" dirty="0">
                <a:solidFill>
                  <a:srgbClr val="000000"/>
                </a:solidFill>
              </a:rPr>
              <a:t> is read multiple times</a:t>
            </a:r>
          </a:p>
        </p:txBody>
      </p:sp>
      <p:sp>
        <p:nvSpPr>
          <p:cNvPr id="17" name="TextBox 16">
            <a:extLst>
              <a:ext uri="{FF2B5EF4-FFF2-40B4-BE49-F238E27FC236}">
                <a16:creationId xmlns:a16="http://schemas.microsoft.com/office/drawing/2014/main" id="{5CC6D559-D046-4D99-91C6-F76EB106EBA1}"/>
              </a:ext>
            </a:extLst>
          </p:cNvPr>
          <p:cNvSpPr txBox="1"/>
          <p:nvPr/>
        </p:nvSpPr>
        <p:spPr>
          <a:xfrm>
            <a:off x="3997075" y="4792790"/>
            <a:ext cx="3327567" cy="276999"/>
          </a:xfrm>
          <a:prstGeom prst="rect">
            <a:avLst/>
          </a:prstGeom>
          <a:solidFill>
            <a:srgbClr val="FFFF99"/>
          </a:solidFill>
          <a:ln>
            <a:solidFill>
              <a:srgbClr val="000000"/>
            </a:solidFill>
          </a:ln>
          <a:effectLst>
            <a:innerShdw blurRad="63500" dist="50800" dir="2700000">
              <a:prstClr val="black">
                <a:alpha val="50000"/>
              </a:prstClr>
            </a:innerShdw>
          </a:effectLst>
        </p:spPr>
        <p:txBody>
          <a:bodyPr wrap="square" rtlCol="0">
            <a:spAutoFit/>
          </a:bodyPr>
          <a:lstStyle/>
          <a:p>
            <a:pPr algn="ctr" defTabSz="914400" fontAlgn="base">
              <a:spcBef>
                <a:spcPct val="0"/>
              </a:spcBef>
              <a:spcAft>
                <a:spcPct val="0"/>
              </a:spcAft>
              <a:defRPr/>
            </a:pPr>
            <a:r>
              <a:rPr lang="en-US" sz="1200" b="1" kern="0" dirty="0">
                <a:solidFill>
                  <a:srgbClr val="000000"/>
                </a:solidFill>
              </a:rPr>
              <a:t>*</a:t>
            </a:r>
            <a:r>
              <a:rPr lang="en-US" sz="1200" b="1" kern="0" dirty="0" err="1">
                <a:solidFill>
                  <a:srgbClr val="000000"/>
                </a:solidFill>
              </a:rPr>
              <a:t>d_o</a:t>
            </a:r>
            <a:r>
              <a:rPr lang="en-US" sz="1200" b="1" kern="0" dirty="0">
                <a:solidFill>
                  <a:srgbClr val="000000"/>
                </a:solidFill>
              </a:rPr>
              <a:t> is written to multiple times</a:t>
            </a:r>
          </a:p>
        </p:txBody>
      </p:sp>
      <p:cxnSp>
        <p:nvCxnSpPr>
          <p:cNvPr id="18" name="Straight Arrow Connector 17">
            <a:extLst>
              <a:ext uri="{FF2B5EF4-FFF2-40B4-BE49-F238E27FC236}">
                <a16:creationId xmlns:a16="http://schemas.microsoft.com/office/drawing/2014/main" id="{10CE840A-001B-4F7A-B1E6-ECCE8DA0EA93}"/>
              </a:ext>
            </a:extLst>
          </p:cNvPr>
          <p:cNvCxnSpPr>
            <a:cxnSpLocks/>
            <a:stCxn id="13" idx="1"/>
          </p:cNvCxnSpPr>
          <p:nvPr/>
        </p:nvCxnSpPr>
        <p:spPr>
          <a:xfrm flipH="1" flipV="1">
            <a:off x="1944689" y="4471838"/>
            <a:ext cx="2052386" cy="113806"/>
          </a:xfrm>
          <a:prstGeom prst="straightConnector1">
            <a:avLst/>
          </a:prstGeom>
          <a:noFill/>
          <a:ln w="25400" cap="flat" cmpd="sng" algn="ctr">
            <a:solidFill>
              <a:srgbClr val="000000"/>
            </a:solidFill>
            <a:prstDash val="solid"/>
            <a:tailEnd type="arrow"/>
          </a:ln>
          <a:effectLst>
            <a:outerShdw blurRad="40000" dist="20000" dir="5400000" rotWithShape="0">
              <a:srgbClr val="000000">
                <a:alpha val="38000"/>
              </a:srgbClr>
            </a:outerShdw>
          </a:effectLst>
        </p:spPr>
      </p:cxnSp>
      <p:cxnSp>
        <p:nvCxnSpPr>
          <p:cNvPr id="19" name="Straight Arrow Connector 18">
            <a:extLst>
              <a:ext uri="{FF2B5EF4-FFF2-40B4-BE49-F238E27FC236}">
                <a16:creationId xmlns:a16="http://schemas.microsoft.com/office/drawing/2014/main" id="{4884C41E-3312-4FEF-BFBE-1E9ED68908ED}"/>
              </a:ext>
            </a:extLst>
          </p:cNvPr>
          <p:cNvCxnSpPr>
            <a:cxnSpLocks/>
            <a:stCxn id="17" idx="1"/>
          </p:cNvCxnSpPr>
          <p:nvPr/>
        </p:nvCxnSpPr>
        <p:spPr>
          <a:xfrm flipH="1" flipV="1">
            <a:off x="1944690" y="4760251"/>
            <a:ext cx="2052385" cy="171038"/>
          </a:xfrm>
          <a:prstGeom prst="straightConnector1">
            <a:avLst/>
          </a:prstGeom>
          <a:noFill/>
          <a:ln w="25400" cap="flat" cmpd="sng" algn="ctr">
            <a:solidFill>
              <a:srgbClr val="000000"/>
            </a:solidFill>
            <a:prstDash val="solid"/>
            <a:tailEnd type="arrow"/>
          </a:ln>
          <a:effectLst>
            <a:outerShdw blurRad="40000" dist="20000" dir="5400000" rotWithShape="0">
              <a:srgbClr val="000000">
                <a:alpha val="38000"/>
              </a:srgbClr>
            </a:outerShdw>
          </a:effectLst>
        </p:spPr>
      </p:cxnSp>
    </p:spTree>
    <p:extLst>
      <p:ext uri="{BB962C8B-B14F-4D97-AF65-F5344CB8AC3E}">
        <p14:creationId xmlns:p14="http://schemas.microsoft.com/office/powerpoint/2010/main" val="10363167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checkerboard(across)">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trike="sngStrike" dirty="0"/>
              <a:t>Coding and IO</a:t>
            </a:r>
          </a:p>
        </p:txBody>
      </p:sp>
      <p:sp>
        <p:nvSpPr>
          <p:cNvPr id="3" name="Content Placeholder 2"/>
          <p:cNvSpPr>
            <a:spLocks noGrp="1"/>
          </p:cNvSpPr>
          <p:nvPr>
            <p:ph idx="1"/>
          </p:nvPr>
        </p:nvSpPr>
        <p:spPr/>
        <p:txBody>
          <a:bodyPr/>
          <a:lstStyle/>
          <a:p>
            <a:r>
              <a:rPr lang="en-US" dirty="0"/>
              <a:t>There is one major issue with IO and coding</a:t>
            </a:r>
          </a:p>
          <a:p>
            <a:pPr lvl="1"/>
            <a:r>
              <a:rPr lang="en-US" dirty="0"/>
              <a:t>Multi-access pointers</a:t>
            </a:r>
          </a:p>
          <a:p>
            <a:r>
              <a:rPr lang="en-US" dirty="0"/>
              <a:t>A multi-access pointer is a pointer argument which is …</a:t>
            </a:r>
          </a:p>
          <a:p>
            <a:pPr lvl="1"/>
            <a:r>
              <a:rPr lang="en-US" dirty="0"/>
              <a:t>Read or written to multiple times</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r>
              <a:rPr lang="en-US" dirty="0"/>
              <a:t>This can result in incorrect hardware</a:t>
            </a:r>
          </a:p>
          <a:p>
            <a:pPr lvl="1"/>
            <a:r>
              <a:rPr lang="en-US" dirty="0"/>
              <a:t>This cannot be verified using a test bench</a:t>
            </a:r>
          </a:p>
          <a:p>
            <a:pPr lvl="1"/>
            <a:r>
              <a:rPr lang="en-US" dirty="0"/>
              <a:t>This can give incorrect results at RTL verification</a:t>
            </a:r>
          </a:p>
        </p:txBody>
      </p:sp>
      <p:sp>
        <p:nvSpPr>
          <p:cNvPr id="16" name="Slide Number Placeholder 15"/>
          <p:cNvSpPr>
            <a:spLocks noGrp="1"/>
          </p:cNvSpPr>
          <p:nvPr>
            <p:ph type="sldNum" sz="quarter" idx="10"/>
          </p:nvPr>
        </p:nvSpPr>
        <p:spPr/>
        <p:txBody>
          <a:bodyPr/>
          <a:lstStyle/>
          <a:p>
            <a:pPr defTabSz="914400">
              <a:defRPr/>
            </a:pPr>
            <a:r>
              <a:rPr lang="en-US" dirty="0">
                <a:solidFill>
                  <a:srgbClr val="0C0C0C">
                    <a:tint val="75000"/>
                  </a:srgbClr>
                </a:solidFill>
                <a:latin typeface="Arial"/>
              </a:rPr>
              <a:t>Coding Considerations 23- </a:t>
            </a:r>
            <a:fld id="{060BD193-E118-4B16-863C-C8C12C675E3E}" type="slidenum">
              <a:rPr lang="en-US">
                <a:solidFill>
                  <a:srgbClr val="0C0C0C">
                    <a:tint val="75000"/>
                  </a:srgbClr>
                </a:solidFill>
                <a:latin typeface="Arial"/>
              </a:rPr>
              <a:pPr defTabSz="914400">
                <a:defRPr/>
              </a:pPr>
              <a:t>45</a:t>
            </a:fld>
            <a:endParaRPr lang="en-US" dirty="0">
              <a:solidFill>
                <a:srgbClr val="0C0C0C">
                  <a:tint val="75000"/>
                </a:srgbClr>
              </a:solidFill>
              <a:latin typeface="Arial"/>
            </a:endParaRPr>
          </a:p>
        </p:txBody>
      </p:sp>
      <p:sp>
        <p:nvSpPr>
          <p:cNvPr id="15" name="TextBox 14"/>
          <p:cNvSpPr txBox="1"/>
          <p:nvPr/>
        </p:nvSpPr>
        <p:spPr>
          <a:xfrm>
            <a:off x="7587891" y="5347672"/>
            <a:ext cx="3993080" cy="738664"/>
          </a:xfrm>
          <a:prstGeom prst="rect">
            <a:avLst/>
          </a:prstGeom>
          <a:solidFill>
            <a:srgbClr val="FFFF99"/>
          </a:solidFill>
          <a:ln>
            <a:solidFill>
              <a:schemeClr val="tx1"/>
            </a:solidFill>
          </a:ln>
          <a:effectLst>
            <a:innerShdw blurRad="63500" dist="50800" dir="2700000">
              <a:prstClr val="black">
                <a:alpha val="50000"/>
              </a:prstClr>
            </a:innerShdw>
          </a:effectLst>
        </p:spPr>
        <p:txBody>
          <a:bodyPr wrap="square" rtlCol="0">
            <a:spAutoFit/>
          </a:bodyPr>
          <a:lstStyle/>
          <a:p>
            <a:pPr algn="ctr" defTabSz="914400"/>
            <a:r>
              <a:rPr lang="en-US" sz="1400" b="1" dirty="0">
                <a:solidFill>
                  <a:srgbClr val="0C0C0C"/>
                </a:solidFill>
                <a:latin typeface="Arial"/>
              </a:rPr>
              <a:t>Yes, you can use this coding style (if you REALLY wish)…. With the following workarounds</a:t>
            </a:r>
          </a:p>
        </p:txBody>
      </p:sp>
      <p:sp>
        <p:nvSpPr>
          <p:cNvPr id="12" name="TextBox 11">
            <a:extLst>
              <a:ext uri="{FF2B5EF4-FFF2-40B4-BE49-F238E27FC236}">
                <a16:creationId xmlns:a16="http://schemas.microsoft.com/office/drawing/2014/main" id="{4446495D-EEDB-4C1B-B4C5-2EA79985EB0C}"/>
              </a:ext>
            </a:extLst>
          </p:cNvPr>
          <p:cNvSpPr txBox="1"/>
          <p:nvPr/>
        </p:nvSpPr>
        <p:spPr>
          <a:xfrm>
            <a:off x="1181443" y="3030125"/>
            <a:ext cx="2662053" cy="2031325"/>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defRPr/>
            </a:pPr>
            <a:r>
              <a:rPr lang="en-US" sz="900" b="1" kern="0" dirty="0">
                <a:solidFill>
                  <a:srgbClr val="000000"/>
                </a:solidFill>
                <a:latin typeface="Arial"/>
              </a:rPr>
              <a:t>void </a:t>
            </a:r>
            <a:r>
              <a:rPr lang="en-US" sz="900" b="1" kern="0" dirty="0" err="1">
                <a:solidFill>
                  <a:srgbClr val="000000"/>
                </a:solidFill>
                <a:latin typeface="Arial"/>
              </a:rPr>
              <a:t>fifo</a:t>
            </a:r>
            <a:r>
              <a:rPr lang="en-US" sz="900" b="1" kern="0" dirty="0">
                <a:solidFill>
                  <a:srgbClr val="000000"/>
                </a:solidFill>
                <a:latin typeface="Arial"/>
              </a:rPr>
              <a:t> (int *</a:t>
            </a:r>
            <a:r>
              <a:rPr lang="en-US" sz="900" b="1" kern="0" dirty="0" err="1">
                <a:solidFill>
                  <a:srgbClr val="000000"/>
                </a:solidFill>
                <a:latin typeface="Arial"/>
              </a:rPr>
              <a:t>d_o</a:t>
            </a:r>
            <a:r>
              <a:rPr lang="en-US" sz="900" b="1" kern="0" dirty="0">
                <a:solidFill>
                  <a:srgbClr val="000000"/>
                </a:solidFill>
                <a:latin typeface="Arial"/>
              </a:rPr>
              <a:t>, </a:t>
            </a:r>
          </a:p>
          <a:p>
            <a:pPr defTabSz="914400" fontAlgn="base">
              <a:spcBef>
                <a:spcPct val="0"/>
              </a:spcBef>
              <a:spcAft>
                <a:spcPct val="0"/>
              </a:spcAft>
              <a:defRPr/>
            </a:pPr>
            <a:r>
              <a:rPr lang="en-US" sz="900" b="1" kern="0" dirty="0">
                <a:solidFill>
                  <a:srgbClr val="000000"/>
                </a:solidFill>
                <a:latin typeface="Arial"/>
              </a:rPr>
              <a:t>                int *</a:t>
            </a:r>
            <a:r>
              <a:rPr lang="en-US" sz="900" b="1" kern="0" dirty="0" err="1">
                <a:solidFill>
                  <a:srgbClr val="000000"/>
                </a:solidFill>
                <a:latin typeface="Arial"/>
              </a:rPr>
              <a:t>d_i</a:t>
            </a:r>
            <a:endParaRPr lang="en-US" sz="900" b="1" kern="0" dirty="0">
              <a:solidFill>
                <a:srgbClr val="000000"/>
              </a:solidFill>
              <a:latin typeface="Arial"/>
            </a:endParaRPr>
          </a:p>
          <a:p>
            <a:pPr defTabSz="914400" fontAlgn="base">
              <a:spcBef>
                <a:spcPct val="0"/>
              </a:spcBef>
              <a:spcAft>
                <a:spcPct val="0"/>
              </a:spcAft>
              <a:defRPr/>
            </a:pPr>
            <a:r>
              <a:rPr lang="en-US" sz="900" b="1" kern="0" dirty="0">
                <a:solidFill>
                  <a:srgbClr val="000000"/>
                </a:solidFill>
                <a:latin typeface="Arial"/>
              </a:rPr>
              <a:t>                ) {</a:t>
            </a:r>
          </a:p>
          <a:p>
            <a:pPr defTabSz="914400" fontAlgn="base">
              <a:spcBef>
                <a:spcPct val="0"/>
              </a:spcBef>
              <a:spcAft>
                <a:spcPct val="0"/>
              </a:spcAft>
              <a:defRPr/>
            </a:pPr>
            <a:r>
              <a:rPr lang="en-US" sz="900" b="1" kern="0" dirty="0">
                <a:solidFill>
                  <a:srgbClr val="000000"/>
                </a:solidFill>
                <a:latin typeface="Arial"/>
              </a:rPr>
              <a:t>  static </a:t>
            </a:r>
            <a:r>
              <a:rPr lang="en-US" sz="900" b="1" kern="0" dirty="0" err="1">
                <a:solidFill>
                  <a:srgbClr val="000000"/>
                </a:solidFill>
                <a:latin typeface="Arial"/>
              </a:rPr>
              <a:t>int</a:t>
            </a:r>
            <a:r>
              <a:rPr lang="en-US" sz="900" b="1" kern="0" dirty="0">
                <a:solidFill>
                  <a:srgbClr val="000000"/>
                </a:solidFill>
                <a:latin typeface="Arial"/>
              </a:rPr>
              <a:t> acc = 0;</a:t>
            </a:r>
          </a:p>
          <a:p>
            <a:pPr defTabSz="914400" fontAlgn="base">
              <a:spcBef>
                <a:spcPct val="0"/>
              </a:spcBef>
              <a:spcAft>
                <a:spcPct val="0"/>
              </a:spcAft>
              <a:defRPr/>
            </a:pPr>
            <a:r>
              <a:rPr lang="en-US" sz="900" b="1" kern="0" dirty="0">
                <a:solidFill>
                  <a:srgbClr val="000000"/>
                </a:solidFill>
                <a:latin typeface="Arial"/>
              </a:rPr>
              <a:t>  </a:t>
            </a:r>
            <a:r>
              <a:rPr lang="en-US" sz="900" b="1" kern="0" dirty="0" err="1">
                <a:solidFill>
                  <a:srgbClr val="000000"/>
                </a:solidFill>
                <a:latin typeface="Arial"/>
              </a:rPr>
              <a:t>int</a:t>
            </a:r>
            <a:r>
              <a:rPr lang="en-US" sz="900" b="1" kern="0" dirty="0">
                <a:solidFill>
                  <a:srgbClr val="000000"/>
                </a:solidFill>
                <a:latin typeface="Arial"/>
              </a:rPr>
              <a:t> </a:t>
            </a:r>
            <a:r>
              <a:rPr lang="en-US" sz="900" b="1" kern="0" dirty="0" err="1">
                <a:solidFill>
                  <a:srgbClr val="000000"/>
                </a:solidFill>
                <a:latin typeface="Arial"/>
              </a:rPr>
              <a:t>cnt</a:t>
            </a:r>
            <a:r>
              <a:rPr lang="en-US" sz="900" b="1" kern="0" dirty="0">
                <a:solidFill>
                  <a:srgbClr val="000000"/>
                </a:solidFill>
                <a:latin typeface="Arial"/>
              </a:rPr>
              <a:t>;</a:t>
            </a:r>
          </a:p>
          <a:p>
            <a:pPr defTabSz="914400" fontAlgn="base">
              <a:spcBef>
                <a:spcPct val="0"/>
              </a:spcBef>
              <a:spcAft>
                <a:spcPct val="0"/>
              </a:spcAft>
              <a:defRPr/>
            </a:pPr>
            <a:r>
              <a:rPr lang="en-US" sz="900" b="1" kern="0" dirty="0">
                <a:solidFill>
                  <a:srgbClr val="000000"/>
                </a:solidFill>
                <a:latin typeface="Arial"/>
              </a:rPr>
              <a:t>  </a:t>
            </a:r>
          </a:p>
          <a:p>
            <a:pPr defTabSz="914400" fontAlgn="base">
              <a:spcBef>
                <a:spcPct val="0"/>
              </a:spcBef>
              <a:spcAft>
                <a:spcPct val="0"/>
              </a:spcAft>
              <a:defRPr/>
            </a:pPr>
            <a:r>
              <a:rPr lang="en-US" sz="900" b="1" kern="0" dirty="0">
                <a:solidFill>
                  <a:srgbClr val="000000"/>
                </a:solidFill>
                <a:latin typeface="Arial"/>
              </a:rPr>
              <a:t>  for (</a:t>
            </a:r>
            <a:r>
              <a:rPr lang="en-US" sz="900" b="1" kern="0" dirty="0" err="1">
                <a:solidFill>
                  <a:srgbClr val="000000"/>
                </a:solidFill>
                <a:latin typeface="Arial"/>
              </a:rPr>
              <a:t>cnt</a:t>
            </a:r>
            <a:r>
              <a:rPr lang="en-US" sz="900" b="1" kern="0" dirty="0">
                <a:solidFill>
                  <a:srgbClr val="000000"/>
                </a:solidFill>
                <a:latin typeface="Arial"/>
              </a:rPr>
              <a:t>=0;cnt&lt;4;cnt++) {</a:t>
            </a:r>
          </a:p>
          <a:p>
            <a:pPr defTabSz="914400" fontAlgn="base">
              <a:spcBef>
                <a:spcPct val="0"/>
              </a:spcBef>
              <a:spcAft>
                <a:spcPct val="0"/>
              </a:spcAft>
              <a:defRPr/>
            </a:pPr>
            <a:r>
              <a:rPr lang="en-US" sz="900" b="1" kern="0" dirty="0">
                <a:solidFill>
                  <a:srgbClr val="000000"/>
                </a:solidFill>
                <a:latin typeface="Arial"/>
              </a:rPr>
              <a:t>     acc += *</a:t>
            </a:r>
            <a:r>
              <a:rPr lang="en-US" sz="900" b="1" kern="0" dirty="0" err="1">
                <a:solidFill>
                  <a:srgbClr val="000000"/>
                </a:solidFill>
                <a:latin typeface="Arial"/>
              </a:rPr>
              <a:t>d_i</a:t>
            </a:r>
            <a:r>
              <a:rPr lang="en-US" sz="900" b="1" kern="0" dirty="0">
                <a:solidFill>
                  <a:srgbClr val="000000"/>
                </a:solidFill>
                <a:latin typeface="Arial"/>
              </a:rPr>
              <a:t>;</a:t>
            </a:r>
          </a:p>
          <a:p>
            <a:pPr defTabSz="914400" fontAlgn="base">
              <a:spcBef>
                <a:spcPct val="0"/>
              </a:spcBef>
              <a:spcAft>
                <a:spcPct val="0"/>
              </a:spcAft>
              <a:defRPr/>
            </a:pPr>
            <a:r>
              <a:rPr lang="en-US" sz="900" b="1" kern="0" dirty="0">
                <a:solidFill>
                  <a:srgbClr val="000000"/>
                </a:solidFill>
                <a:latin typeface="Arial"/>
              </a:rPr>
              <a:t>     if (cnt%2==1) {</a:t>
            </a:r>
          </a:p>
          <a:p>
            <a:pPr defTabSz="914400" fontAlgn="base">
              <a:spcBef>
                <a:spcPct val="0"/>
              </a:spcBef>
              <a:spcAft>
                <a:spcPct val="0"/>
              </a:spcAft>
              <a:defRPr/>
            </a:pPr>
            <a:r>
              <a:rPr lang="en-US" sz="900" b="1" kern="0" dirty="0">
                <a:solidFill>
                  <a:srgbClr val="000000"/>
                </a:solidFill>
                <a:latin typeface="Arial"/>
              </a:rPr>
              <a:t>        *</a:t>
            </a:r>
            <a:r>
              <a:rPr lang="en-US" sz="900" b="1" kern="0" dirty="0" err="1">
                <a:solidFill>
                  <a:srgbClr val="000000"/>
                </a:solidFill>
                <a:latin typeface="Arial"/>
              </a:rPr>
              <a:t>d_o</a:t>
            </a:r>
            <a:r>
              <a:rPr lang="en-US" sz="900" b="1" kern="0" dirty="0">
                <a:solidFill>
                  <a:srgbClr val="000000"/>
                </a:solidFill>
                <a:latin typeface="Arial"/>
              </a:rPr>
              <a:t> = acc;</a:t>
            </a:r>
          </a:p>
          <a:p>
            <a:pPr defTabSz="914400" fontAlgn="base">
              <a:spcBef>
                <a:spcPct val="0"/>
              </a:spcBef>
              <a:spcAft>
                <a:spcPct val="0"/>
              </a:spcAft>
              <a:defRPr/>
            </a:pPr>
            <a:r>
              <a:rPr lang="en-US" sz="900" b="1" kern="0" dirty="0">
                <a:solidFill>
                  <a:srgbClr val="000000"/>
                </a:solidFill>
                <a:latin typeface="Arial"/>
              </a:rPr>
              <a:t>     }</a:t>
            </a:r>
          </a:p>
          <a:p>
            <a:pPr defTabSz="914400" fontAlgn="base">
              <a:spcBef>
                <a:spcPct val="0"/>
              </a:spcBef>
              <a:spcAft>
                <a:spcPct val="0"/>
              </a:spcAft>
              <a:defRPr/>
            </a:pPr>
            <a:r>
              <a:rPr lang="en-US" sz="900" b="1" kern="0" dirty="0">
                <a:solidFill>
                  <a:srgbClr val="000000"/>
                </a:solidFill>
                <a:latin typeface="Arial"/>
              </a:rPr>
              <a:t>   }</a:t>
            </a:r>
          </a:p>
          <a:p>
            <a:pPr defTabSz="914400" fontAlgn="base">
              <a:spcBef>
                <a:spcPct val="0"/>
              </a:spcBef>
              <a:spcAft>
                <a:spcPct val="0"/>
              </a:spcAft>
              <a:defRPr/>
            </a:pPr>
            <a:endParaRPr lang="en-US" sz="900" b="1" kern="0" dirty="0">
              <a:solidFill>
                <a:srgbClr val="000000"/>
              </a:solidFill>
              <a:latin typeface="Arial"/>
            </a:endParaRPr>
          </a:p>
          <a:p>
            <a:pPr defTabSz="914400" fontAlgn="base">
              <a:spcBef>
                <a:spcPct val="0"/>
              </a:spcBef>
              <a:spcAft>
                <a:spcPct val="0"/>
              </a:spcAft>
              <a:defRPr/>
            </a:pPr>
            <a:r>
              <a:rPr lang="en-US" sz="900" b="1" kern="0" dirty="0">
                <a:solidFill>
                  <a:srgbClr val="000000"/>
                </a:solidFill>
                <a:latin typeface="Arial"/>
              </a:rPr>
              <a:t>}</a:t>
            </a:r>
          </a:p>
        </p:txBody>
      </p:sp>
      <p:sp>
        <p:nvSpPr>
          <p:cNvPr id="13" name="TextBox 12">
            <a:extLst>
              <a:ext uri="{FF2B5EF4-FFF2-40B4-BE49-F238E27FC236}">
                <a16:creationId xmlns:a16="http://schemas.microsoft.com/office/drawing/2014/main" id="{6B50FB9F-7917-4F4E-8E65-E000506089C5}"/>
              </a:ext>
            </a:extLst>
          </p:cNvPr>
          <p:cNvSpPr txBox="1"/>
          <p:nvPr/>
        </p:nvSpPr>
        <p:spPr>
          <a:xfrm>
            <a:off x="3997075" y="3951845"/>
            <a:ext cx="2918020" cy="276999"/>
          </a:xfrm>
          <a:prstGeom prst="rect">
            <a:avLst/>
          </a:prstGeom>
          <a:solidFill>
            <a:srgbClr val="FFFF99"/>
          </a:solidFill>
          <a:ln>
            <a:solidFill>
              <a:srgbClr val="000000"/>
            </a:solidFill>
          </a:ln>
          <a:effectLst>
            <a:innerShdw blurRad="63500" dist="50800" dir="2700000">
              <a:prstClr val="black">
                <a:alpha val="50000"/>
              </a:prstClr>
            </a:innerShdw>
          </a:effectLst>
        </p:spPr>
        <p:txBody>
          <a:bodyPr wrap="square" rtlCol="0">
            <a:spAutoFit/>
          </a:bodyPr>
          <a:lstStyle/>
          <a:p>
            <a:pPr algn="ctr" defTabSz="914400" fontAlgn="base">
              <a:spcBef>
                <a:spcPct val="0"/>
              </a:spcBef>
              <a:spcAft>
                <a:spcPct val="0"/>
              </a:spcAft>
              <a:defRPr/>
            </a:pPr>
            <a:r>
              <a:rPr lang="en-US" sz="1200" b="1" kern="0" dirty="0">
                <a:solidFill>
                  <a:srgbClr val="000000"/>
                </a:solidFill>
                <a:latin typeface="Arial"/>
              </a:rPr>
              <a:t>*</a:t>
            </a:r>
            <a:r>
              <a:rPr lang="en-US" sz="1200" b="1" kern="0" dirty="0" err="1">
                <a:solidFill>
                  <a:srgbClr val="000000"/>
                </a:solidFill>
                <a:latin typeface="Arial"/>
              </a:rPr>
              <a:t>d_i</a:t>
            </a:r>
            <a:r>
              <a:rPr lang="en-US" sz="1200" b="1" kern="0" dirty="0">
                <a:solidFill>
                  <a:srgbClr val="000000"/>
                </a:solidFill>
                <a:latin typeface="Arial"/>
              </a:rPr>
              <a:t> is read multiple times</a:t>
            </a:r>
          </a:p>
        </p:txBody>
      </p:sp>
      <p:sp>
        <p:nvSpPr>
          <p:cNvPr id="17" name="TextBox 16">
            <a:extLst>
              <a:ext uri="{FF2B5EF4-FFF2-40B4-BE49-F238E27FC236}">
                <a16:creationId xmlns:a16="http://schemas.microsoft.com/office/drawing/2014/main" id="{5CC6D559-D046-4D99-91C6-F76EB106EBA1}"/>
              </a:ext>
            </a:extLst>
          </p:cNvPr>
          <p:cNvSpPr txBox="1"/>
          <p:nvPr/>
        </p:nvSpPr>
        <p:spPr>
          <a:xfrm>
            <a:off x="3997075" y="4297490"/>
            <a:ext cx="3327567" cy="276999"/>
          </a:xfrm>
          <a:prstGeom prst="rect">
            <a:avLst/>
          </a:prstGeom>
          <a:solidFill>
            <a:srgbClr val="FFFF99"/>
          </a:solidFill>
          <a:ln>
            <a:solidFill>
              <a:srgbClr val="000000"/>
            </a:solidFill>
          </a:ln>
          <a:effectLst>
            <a:innerShdw blurRad="63500" dist="50800" dir="2700000">
              <a:prstClr val="black">
                <a:alpha val="50000"/>
              </a:prstClr>
            </a:innerShdw>
          </a:effectLst>
        </p:spPr>
        <p:txBody>
          <a:bodyPr wrap="square" rtlCol="0">
            <a:spAutoFit/>
          </a:bodyPr>
          <a:lstStyle/>
          <a:p>
            <a:pPr algn="ctr" defTabSz="914400" fontAlgn="base">
              <a:spcBef>
                <a:spcPct val="0"/>
              </a:spcBef>
              <a:spcAft>
                <a:spcPct val="0"/>
              </a:spcAft>
              <a:defRPr/>
            </a:pPr>
            <a:r>
              <a:rPr lang="en-US" sz="1200" b="1" kern="0" dirty="0">
                <a:solidFill>
                  <a:srgbClr val="000000"/>
                </a:solidFill>
                <a:latin typeface="Arial"/>
              </a:rPr>
              <a:t>*</a:t>
            </a:r>
            <a:r>
              <a:rPr lang="en-US" sz="1200" b="1" kern="0" dirty="0" err="1">
                <a:solidFill>
                  <a:srgbClr val="000000"/>
                </a:solidFill>
                <a:latin typeface="Arial"/>
              </a:rPr>
              <a:t>d_o</a:t>
            </a:r>
            <a:r>
              <a:rPr lang="en-US" sz="1200" b="1" kern="0" dirty="0">
                <a:solidFill>
                  <a:srgbClr val="000000"/>
                </a:solidFill>
                <a:latin typeface="Arial"/>
              </a:rPr>
              <a:t> is written to multiple times</a:t>
            </a:r>
          </a:p>
        </p:txBody>
      </p:sp>
      <p:cxnSp>
        <p:nvCxnSpPr>
          <p:cNvPr id="18" name="Straight Arrow Connector 17">
            <a:extLst>
              <a:ext uri="{FF2B5EF4-FFF2-40B4-BE49-F238E27FC236}">
                <a16:creationId xmlns:a16="http://schemas.microsoft.com/office/drawing/2014/main" id="{10CE840A-001B-4F7A-B1E6-ECCE8DA0EA93}"/>
              </a:ext>
            </a:extLst>
          </p:cNvPr>
          <p:cNvCxnSpPr>
            <a:stCxn id="13" idx="1"/>
          </p:cNvCxnSpPr>
          <p:nvPr/>
        </p:nvCxnSpPr>
        <p:spPr>
          <a:xfrm rot="10800000" flipV="1">
            <a:off x="2512470" y="4090343"/>
            <a:ext cx="1484607" cy="15120"/>
          </a:xfrm>
          <a:prstGeom prst="straightConnector1">
            <a:avLst/>
          </a:prstGeom>
          <a:noFill/>
          <a:ln w="25400" cap="flat" cmpd="sng" algn="ctr">
            <a:solidFill>
              <a:srgbClr val="000000"/>
            </a:solidFill>
            <a:prstDash val="solid"/>
            <a:tailEnd type="arrow"/>
          </a:ln>
          <a:effectLst>
            <a:outerShdw blurRad="40000" dist="20000" dir="5400000" rotWithShape="0">
              <a:srgbClr val="000000">
                <a:alpha val="38000"/>
              </a:srgbClr>
            </a:outerShdw>
          </a:effectLst>
        </p:spPr>
      </p:cxnSp>
      <p:cxnSp>
        <p:nvCxnSpPr>
          <p:cNvPr id="19" name="Straight Arrow Connector 18">
            <a:extLst>
              <a:ext uri="{FF2B5EF4-FFF2-40B4-BE49-F238E27FC236}">
                <a16:creationId xmlns:a16="http://schemas.microsoft.com/office/drawing/2014/main" id="{4884C41E-3312-4FEF-BFBE-1E9ED68908ED}"/>
              </a:ext>
            </a:extLst>
          </p:cNvPr>
          <p:cNvCxnSpPr>
            <a:stCxn id="17" idx="1"/>
          </p:cNvCxnSpPr>
          <p:nvPr/>
        </p:nvCxnSpPr>
        <p:spPr>
          <a:xfrm rot="10800000">
            <a:off x="2563662" y="4374298"/>
            <a:ext cx="1433413" cy="61690"/>
          </a:xfrm>
          <a:prstGeom prst="straightConnector1">
            <a:avLst/>
          </a:prstGeom>
          <a:noFill/>
          <a:ln w="25400" cap="flat" cmpd="sng" algn="ctr">
            <a:solidFill>
              <a:srgbClr val="000000"/>
            </a:solidFill>
            <a:prstDash val="solid"/>
            <a:tailEnd type="arrow"/>
          </a:ln>
          <a:effectLst>
            <a:outerShdw blurRad="40000" dist="20000" dir="5400000" rotWithShape="0">
              <a:srgbClr val="000000">
                <a:alpha val="38000"/>
              </a:srgbClr>
            </a:outerShdw>
          </a:effectLst>
        </p:spPr>
      </p:cxnSp>
      <p:sp>
        <p:nvSpPr>
          <p:cNvPr id="20" name="Left Bracket 19">
            <a:extLst>
              <a:ext uri="{FF2B5EF4-FFF2-40B4-BE49-F238E27FC236}">
                <a16:creationId xmlns:a16="http://schemas.microsoft.com/office/drawing/2014/main" id="{4E518915-A98B-4C80-9C7A-413B70A71141}"/>
              </a:ext>
            </a:extLst>
          </p:cNvPr>
          <p:cNvSpPr/>
          <p:nvPr/>
        </p:nvSpPr>
        <p:spPr>
          <a:xfrm>
            <a:off x="925475" y="3990248"/>
            <a:ext cx="409547" cy="691290"/>
          </a:xfrm>
          <a:prstGeom prst="leftBracket">
            <a:avLst/>
          </a:prstGeom>
          <a:noFill/>
          <a:ln w="5715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txBody>
          <a:bodyPr rtlCol="0" anchor="ctr"/>
          <a:lstStyle/>
          <a:p>
            <a:pPr algn="ctr" defTabSz="914400" fontAlgn="base">
              <a:spcBef>
                <a:spcPct val="0"/>
              </a:spcBef>
              <a:spcAft>
                <a:spcPct val="0"/>
              </a:spcAft>
              <a:defRPr/>
            </a:pPr>
            <a:endParaRPr lang="en-US" kern="0">
              <a:solidFill>
                <a:srgbClr val="000000"/>
              </a:solidFill>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checkerboard(across)">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Coding and IO</a:t>
            </a:r>
          </a:p>
        </p:txBody>
      </p:sp>
      <p:sp>
        <p:nvSpPr>
          <p:cNvPr id="3" name="Content Placeholder 2"/>
          <p:cNvSpPr>
            <a:spLocks noGrp="1"/>
          </p:cNvSpPr>
          <p:nvPr>
            <p:ph idx="1"/>
          </p:nvPr>
        </p:nvSpPr>
        <p:spPr/>
        <p:txBody>
          <a:bodyPr/>
          <a:lstStyle/>
          <a:p>
            <a:r>
              <a:rPr lang="en-US" dirty="0"/>
              <a:t>There is one major issue with IO and coding</a:t>
            </a:r>
          </a:p>
          <a:p>
            <a:pPr lvl="1"/>
            <a:r>
              <a:rPr lang="en-US" dirty="0"/>
              <a:t>Multi-access pointers</a:t>
            </a:r>
          </a:p>
          <a:p>
            <a:r>
              <a:rPr lang="en-US" dirty="0"/>
              <a:t>A multi-access pointer is a pointer argument which is …</a:t>
            </a:r>
          </a:p>
          <a:p>
            <a:pPr lvl="1"/>
            <a:r>
              <a:rPr lang="en-US" dirty="0"/>
              <a:t>Read or written to multiple times</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r>
              <a:rPr lang="en-US" altLang="zh-CN" dirty="0">
                <a:highlight>
                  <a:srgbClr val="FFFF00"/>
                </a:highlight>
              </a:rPr>
              <a:t>This </a:t>
            </a:r>
            <a:r>
              <a:rPr lang="en-US" dirty="0">
                <a:highlight>
                  <a:srgbClr val="FFFF00"/>
                </a:highlight>
              </a:rPr>
              <a:t>introduce unexpected behavior after synthesis</a:t>
            </a:r>
          </a:p>
          <a:p>
            <a:pPr lvl="1"/>
            <a:r>
              <a:rPr lang="en-US" strike="sngStrike" dirty="0"/>
              <a:t>This can result in incorrect hardware</a:t>
            </a:r>
          </a:p>
          <a:p>
            <a:pPr lvl="1"/>
            <a:r>
              <a:rPr lang="en-US" strike="sngStrike" dirty="0"/>
              <a:t>This cannot be verified using a test bench</a:t>
            </a:r>
          </a:p>
          <a:p>
            <a:pPr lvl="1"/>
            <a:r>
              <a:rPr lang="en-US" strike="sngStrike" dirty="0"/>
              <a:t>This can give incorrect results at RTL verification</a:t>
            </a:r>
          </a:p>
        </p:txBody>
      </p:sp>
      <p:sp>
        <p:nvSpPr>
          <p:cNvPr id="16" name="Slide Number Placeholder 15"/>
          <p:cNvSpPr>
            <a:spLocks noGrp="1"/>
          </p:cNvSpPr>
          <p:nvPr>
            <p:ph type="sldNum" sz="quarter" idx="10"/>
          </p:nvPr>
        </p:nvSpPr>
        <p:spPr/>
        <p:txBody>
          <a:bodyPr/>
          <a:lstStyle/>
          <a:p>
            <a:pPr defTabSz="914400">
              <a:defRPr/>
            </a:pPr>
            <a:r>
              <a:rPr lang="en-US" dirty="0">
                <a:solidFill>
                  <a:srgbClr val="0C0C0C">
                    <a:tint val="75000"/>
                  </a:srgbClr>
                </a:solidFill>
                <a:latin typeface="Arial"/>
              </a:rPr>
              <a:t>Coding Considerations 23- </a:t>
            </a:r>
            <a:fld id="{060BD193-E118-4B16-863C-C8C12C675E3E}" type="slidenum">
              <a:rPr lang="en-US">
                <a:solidFill>
                  <a:srgbClr val="0C0C0C">
                    <a:tint val="75000"/>
                  </a:srgbClr>
                </a:solidFill>
                <a:latin typeface="Arial"/>
              </a:rPr>
              <a:pPr defTabSz="914400">
                <a:defRPr/>
              </a:pPr>
              <a:t>46</a:t>
            </a:fld>
            <a:endParaRPr lang="en-US" dirty="0">
              <a:solidFill>
                <a:srgbClr val="0C0C0C">
                  <a:tint val="75000"/>
                </a:srgbClr>
              </a:solidFill>
              <a:latin typeface="Arial"/>
            </a:endParaRPr>
          </a:p>
        </p:txBody>
      </p:sp>
      <p:sp>
        <p:nvSpPr>
          <p:cNvPr id="15" name="TextBox 14"/>
          <p:cNvSpPr txBox="1"/>
          <p:nvPr/>
        </p:nvSpPr>
        <p:spPr>
          <a:xfrm>
            <a:off x="7587891" y="5347672"/>
            <a:ext cx="3993080" cy="738664"/>
          </a:xfrm>
          <a:prstGeom prst="rect">
            <a:avLst/>
          </a:prstGeom>
          <a:solidFill>
            <a:srgbClr val="FFFF99"/>
          </a:solidFill>
          <a:ln>
            <a:solidFill>
              <a:schemeClr val="tx1"/>
            </a:solidFill>
          </a:ln>
          <a:effectLst>
            <a:innerShdw blurRad="63500" dist="50800" dir="2700000">
              <a:prstClr val="black">
                <a:alpha val="50000"/>
              </a:prstClr>
            </a:innerShdw>
          </a:effectLst>
        </p:spPr>
        <p:txBody>
          <a:bodyPr wrap="square" rtlCol="0">
            <a:spAutoFit/>
          </a:bodyPr>
          <a:lstStyle/>
          <a:p>
            <a:pPr algn="ctr" defTabSz="914400"/>
            <a:r>
              <a:rPr lang="en-US" sz="1400" b="1" dirty="0">
                <a:solidFill>
                  <a:srgbClr val="0C0C0C"/>
                </a:solidFill>
                <a:latin typeface="Arial"/>
              </a:rPr>
              <a:t>Yes, you can use this coding style (if you REALLY wish)…. With the following workarounds</a:t>
            </a:r>
          </a:p>
        </p:txBody>
      </p:sp>
      <p:sp>
        <p:nvSpPr>
          <p:cNvPr id="12" name="TextBox 11">
            <a:extLst>
              <a:ext uri="{FF2B5EF4-FFF2-40B4-BE49-F238E27FC236}">
                <a16:creationId xmlns:a16="http://schemas.microsoft.com/office/drawing/2014/main" id="{4446495D-EEDB-4C1B-B4C5-2EA79985EB0C}"/>
              </a:ext>
            </a:extLst>
          </p:cNvPr>
          <p:cNvSpPr txBox="1"/>
          <p:nvPr/>
        </p:nvSpPr>
        <p:spPr>
          <a:xfrm>
            <a:off x="1181443" y="3030124"/>
            <a:ext cx="2662053" cy="1892826"/>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defRPr/>
            </a:pPr>
            <a:r>
              <a:rPr lang="en-US" sz="900" b="1" kern="0" dirty="0">
                <a:solidFill>
                  <a:srgbClr val="000000"/>
                </a:solidFill>
                <a:highlight>
                  <a:srgbClr val="FFFF00"/>
                </a:highlight>
                <a:latin typeface="Arial"/>
              </a:rPr>
              <a:t>#include "</a:t>
            </a:r>
            <a:r>
              <a:rPr lang="en-US" sz="900" b="1" kern="0" dirty="0" err="1">
                <a:solidFill>
                  <a:srgbClr val="000000"/>
                </a:solidFill>
                <a:highlight>
                  <a:srgbClr val="FFFF00"/>
                </a:highlight>
                <a:latin typeface="Arial"/>
              </a:rPr>
              <a:t>pointer_stream_bad.h</a:t>
            </a:r>
            <a:r>
              <a:rPr lang="en-US" sz="900" b="1" kern="0" dirty="0">
                <a:solidFill>
                  <a:srgbClr val="000000"/>
                </a:solidFill>
                <a:highlight>
                  <a:srgbClr val="FFFF00"/>
                </a:highlight>
                <a:latin typeface="Arial"/>
              </a:rPr>
              <a:t>"</a:t>
            </a:r>
          </a:p>
          <a:p>
            <a:pPr defTabSz="914400" fontAlgn="base">
              <a:spcBef>
                <a:spcPct val="0"/>
              </a:spcBef>
              <a:spcAft>
                <a:spcPct val="0"/>
              </a:spcAft>
              <a:defRPr/>
            </a:pPr>
            <a:endParaRPr lang="en-US" sz="900" b="1" kern="0" dirty="0">
              <a:solidFill>
                <a:srgbClr val="000000"/>
              </a:solidFill>
              <a:highlight>
                <a:srgbClr val="FFFF00"/>
              </a:highlight>
              <a:latin typeface="Arial"/>
            </a:endParaRPr>
          </a:p>
          <a:p>
            <a:pPr defTabSz="914400" fontAlgn="base">
              <a:spcBef>
                <a:spcPct val="0"/>
              </a:spcBef>
              <a:spcAft>
                <a:spcPct val="0"/>
              </a:spcAft>
              <a:defRPr/>
            </a:pPr>
            <a:r>
              <a:rPr lang="en-US" sz="900" b="1" kern="0" dirty="0">
                <a:solidFill>
                  <a:srgbClr val="000000"/>
                </a:solidFill>
                <a:highlight>
                  <a:srgbClr val="FFFF00"/>
                </a:highlight>
                <a:latin typeface="Arial"/>
              </a:rPr>
              <a:t>void </a:t>
            </a:r>
            <a:r>
              <a:rPr lang="en-US" sz="900" b="1" kern="0" dirty="0" err="1">
                <a:solidFill>
                  <a:srgbClr val="000000"/>
                </a:solidFill>
                <a:highlight>
                  <a:srgbClr val="FFFF00"/>
                </a:highlight>
                <a:latin typeface="Arial"/>
              </a:rPr>
              <a:t>pointer_stream_bad</a:t>
            </a:r>
            <a:r>
              <a:rPr lang="en-US" sz="900" b="1" kern="0" dirty="0">
                <a:solidFill>
                  <a:srgbClr val="000000"/>
                </a:solidFill>
                <a:highlight>
                  <a:srgbClr val="FFFF00"/>
                </a:highlight>
                <a:latin typeface="Arial"/>
              </a:rPr>
              <a:t> ( </a:t>
            </a:r>
            <a:r>
              <a:rPr lang="en-US" sz="900" b="1" kern="0" dirty="0" err="1">
                <a:solidFill>
                  <a:srgbClr val="000000"/>
                </a:solidFill>
                <a:highlight>
                  <a:srgbClr val="FFFF00"/>
                </a:highlight>
                <a:latin typeface="Arial"/>
              </a:rPr>
              <a:t>dout_t</a:t>
            </a:r>
            <a:r>
              <a:rPr lang="en-US" sz="900" b="1" kern="0" dirty="0">
                <a:solidFill>
                  <a:srgbClr val="000000"/>
                </a:solidFill>
                <a:highlight>
                  <a:srgbClr val="FFFF00"/>
                </a:highlight>
                <a:latin typeface="Arial"/>
              </a:rPr>
              <a:t> *</a:t>
            </a:r>
            <a:r>
              <a:rPr lang="en-US" sz="900" b="1" kern="0" dirty="0" err="1">
                <a:solidFill>
                  <a:srgbClr val="000000"/>
                </a:solidFill>
                <a:highlight>
                  <a:srgbClr val="FFFF00"/>
                </a:highlight>
                <a:latin typeface="Arial"/>
              </a:rPr>
              <a:t>d_o</a:t>
            </a:r>
            <a:r>
              <a:rPr lang="en-US" sz="900" b="1" kern="0" dirty="0">
                <a:solidFill>
                  <a:srgbClr val="000000"/>
                </a:solidFill>
                <a:highlight>
                  <a:srgbClr val="FFFF00"/>
                </a:highlight>
                <a:latin typeface="Arial"/>
              </a:rPr>
              <a:t>,  </a:t>
            </a:r>
            <a:r>
              <a:rPr lang="en-US" sz="900" b="1" kern="0" dirty="0" err="1">
                <a:solidFill>
                  <a:srgbClr val="000000"/>
                </a:solidFill>
                <a:highlight>
                  <a:srgbClr val="FFFF00"/>
                </a:highlight>
                <a:latin typeface="Arial"/>
              </a:rPr>
              <a:t>din_t</a:t>
            </a:r>
            <a:r>
              <a:rPr lang="en-US" sz="900" b="1" kern="0" dirty="0">
                <a:solidFill>
                  <a:srgbClr val="000000"/>
                </a:solidFill>
                <a:highlight>
                  <a:srgbClr val="FFFF00"/>
                </a:highlight>
                <a:latin typeface="Arial"/>
              </a:rPr>
              <a:t> *</a:t>
            </a:r>
            <a:r>
              <a:rPr lang="en-US" sz="900" b="1" kern="0" dirty="0" err="1">
                <a:solidFill>
                  <a:srgbClr val="000000"/>
                </a:solidFill>
                <a:highlight>
                  <a:srgbClr val="FFFF00"/>
                </a:highlight>
                <a:latin typeface="Arial"/>
              </a:rPr>
              <a:t>d_i</a:t>
            </a:r>
            <a:r>
              <a:rPr lang="en-US" sz="900" b="1" kern="0" dirty="0">
                <a:solidFill>
                  <a:srgbClr val="000000"/>
                </a:solidFill>
                <a:highlight>
                  <a:srgbClr val="FFFF00"/>
                </a:highlight>
                <a:latin typeface="Arial"/>
              </a:rPr>
              <a:t>) {</a:t>
            </a:r>
          </a:p>
          <a:p>
            <a:pPr defTabSz="914400" fontAlgn="base">
              <a:spcBef>
                <a:spcPct val="0"/>
              </a:spcBef>
              <a:spcAft>
                <a:spcPct val="0"/>
              </a:spcAft>
              <a:defRPr/>
            </a:pPr>
            <a:r>
              <a:rPr lang="en-US" sz="900" b="1" kern="0" dirty="0">
                <a:solidFill>
                  <a:srgbClr val="000000"/>
                </a:solidFill>
                <a:highlight>
                  <a:srgbClr val="FFFF00"/>
                </a:highlight>
                <a:latin typeface="Arial"/>
              </a:rPr>
              <a:t> </a:t>
            </a:r>
            <a:r>
              <a:rPr lang="en-US" sz="900" b="1" kern="0" dirty="0" err="1">
                <a:solidFill>
                  <a:srgbClr val="000000"/>
                </a:solidFill>
                <a:highlight>
                  <a:srgbClr val="FFFF00"/>
                </a:highlight>
                <a:latin typeface="Arial"/>
              </a:rPr>
              <a:t>din_t</a:t>
            </a:r>
            <a:r>
              <a:rPr lang="en-US" sz="900" b="1" kern="0" dirty="0">
                <a:solidFill>
                  <a:srgbClr val="000000"/>
                </a:solidFill>
                <a:highlight>
                  <a:srgbClr val="FFFF00"/>
                </a:highlight>
                <a:latin typeface="Arial"/>
              </a:rPr>
              <a:t> acc = 0;</a:t>
            </a:r>
          </a:p>
          <a:p>
            <a:pPr defTabSz="914400" fontAlgn="base">
              <a:spcBef>
                <a:spcPct val="0"/>
              </a:spcBef>
              <a:spcAft>
                <a:spcPct val="0"/>
              </a:spcAft>
              <a:defRPr/>
            </a:pPr>
            <a:endParaRPr lang="en-US" sz="900" b="1" kern="0" dirty="0">
              <a:solidFill>
                <a:srgbClr val="000000"/>
              </a:solidFill>
              <a:highlight>
                <a:srgbClr val="FFFF00"/>
              </a:highlight>
              <a:latin typeface="Arial"/>
            </a:endParaRPr>
          </a:p>
          <a:p>
            <a:pPr defTabSz="914400" fontAlgn="base">
              <a:spcBef>
                <a:spcPct val="0"/>
              </a:spcBef>
              <a:spcAft>
                <a:spcPct val="0"/>
              </a:spcAft>
              <a:defRPr/>
            </a:pPr>
            <a:r>
              <a:rPr lang="en-US" sz="900" b="1" kern="0" dirty="0">
                <a:solidFill>
                  <a:srgbClr val="000000"/>
                </a:solidFill>
                <a:highlight>
                  <a:srgbClr val="FFFF00"/>
                </a:highlight>
                <a:latin typeface="Arial"/>
              </a:rPr>
              <a:t> acc += *</a:t>
            </a:r>
            <a:r>
              <a:rPr lang="en-US" sz="900" b="1" kern="0" dirty="0" err="1">
                <a:solidFill>
                  <a:srgbClr val="000000"/>
                </a:solidFill>
                <a:highlight>
                  <a:srgbClr val="FFFF00"/>
                </a:highlight>
                <a:latin typeface="Arial"/>
              </a:rPr>
              <a:t>d_i</a:t>
            </a:r>
            <a:r>
              <a:rPr lang="en-US" sz="900" b="1" kern="0" dirty="0">
                <a:solidFill>
                  <a:srgbClr val="000000"/>
                </a:solidFill>
                <a:highlight>
                  <a:srgbClr val="FFFF00"/>
                </a:highlight>
                <a:latin typeface="Arial"/>
              </a:rPr>
              <a:t>;</a:t>
            </a:r>
          </a:p>
          <a:p>
            <a:pPr defTabSz="914400" fontAlgn="base">
              <a:spcBef>
                <a:spcPct val="0"/>
              </a:spcBef>
              <a:spcAft>
                <a:spcPct val="0"/>
              </a:spcAft>
              <a:defRPr/>
            </a:pPr>
            <a:r>
              <a:rPr lang="en-US" sz="900" b="1" kern="0" dirty="0">
                <a:solidFill>
                  <a:srgbClr val="000000"/>
                </a:solidFill>
                <a:highlight>
                  <a:srgbClr val="FFFF00"/>
                </a:highlight>
                <a:latin typeface="Arial"/>
              </a:rPr>
              <a:t> acc += *</a:t>
            </a:r>
            <a:r>
              <a:rPr lang="en-US" sz="900" b="1" kern="0" dirty="0" err="1">
                <a:solidFill>
                  <a:srgbClr val="000000"/>
                </a:solidFill>
                <a:highlight>
                  <a:srgbClr val="FFFF00"/>
                </a:highlight>
                <a:latin typeface="Arial"/>
              </a:rPr>
              <a:t>d_i</a:t>
            </a:r>
            <a:r>
              <a:rPr lang="en-US" sz="900" b="1" kern="0" dirty="0">
                <a:solidFill>
                  <a:srgbClr val="000000"/>
                </a:solidFill>
                <a:highlight>
                  <a:srgbClr val="FFFF00"/>
                </a:highlight>
                <a:latin typeface="Arial"/>
              </a:rPr>
              <a:t>;</a:t>
            </a:r>
          </a:p>
          <a:p>
            <a:pPr defTabSz="914400" fontAlgn="base">
              <a:spcBef>
                <a:spcPct val="0"/>
              </a:spcBef>
              <a:spcAft>
                <a:spcPct val="0"/>
              </a:spcAft>
              <a:defRPr/>
            </a:pPr>
            <a:r>
              <a:rPr lang="en-US" sz="900" b="1" kern="0" dirty="0">
                <a:solidFill>
                  <a:srgbClr val="000000"/>
                </a:solidFill>
                <a:highlight>
                  <a:srgbClr val="FFFF00"/>
                </a:highlight>
                <a:latin typeface="Arial"/>
              </a:rPr>
              <a:t> *</a:t>
            </a:r>
            <a:r>
              <a:rPr lang="en-US" sz="900" b="1" kern="0" dirty="0" err="1">
                <a:solidFill>
                  <a:srgbClr val="000000"/>
                </a:solidFill>
                <a:highlight>
                  <a:srgbClr val="FFFF00"/>
                </a:highlight>
                <a:latin typeface="Arial"/>
              </a:rPr>
              <a:t>d_o</a:t>
            </a:r>
            <a:r>
              <a:rPr lang="en-US" sz="900" b="1" kern="0" dirty="0">
                <a:solidFill>
                  <a:srgbClr val="000000"/>
                </a:solidFill>
                <a:highlight>
                  <a:srgbClr val="FFFF00"/>
                </a:highlight>
                <a:latin typeface="Arial"/>
              </a:rPr>
              <a:t> = acc;</a:t>
            </a:r>
          </a:p>
          <a:p>
            <a:pPr defTabSz="914400" fontAlgn="base">
              <a:spcBef>
                <a:spcPct val="0"/>
              </a:spcBef>
              <a:spcAft>
                <a:spcPct val="0"/>
              </a:spcAft>
              <a:defRPr/>
            </a:pPr>
            <a:r>
              <a:rPr lang="en-US" sz="900" b="1" kern="0" dirty="0">
                <a:solidFill>
                  <a:srgbClr val="000000"/>
                </a:solidFill>
                <a:highlight>
                  <a:srgbClr val="FFFF00"/>
                </a:highlight>
                <a:latin typeface="Arial"/>
              </a:rPr>
              <a:t> acc += *</a:t>
            </a:r>
            <a:r>
              <a:rPr lang="en-US" sz="900" b="1" kern="0" dirty="0" err="1">
                <a:solidFill>
                  <a:srgbClr val="000000"/>
                </a:solidFill>
                <a:highlight>
                  <a:srgbClr val="FFFF00"/>
                </a:highlight>
                <a:latin typeface="Arial"/>
              </a:rPr>
              <a:t>d_i</a:t>
            </a:r>
            <a:r>
              <a:rPr lang="en-US" sz="900" b="1" kern="0" dirty="0">
                <a:solidFill>
                  <a:srgbClr val="000000"/>
                </a:solidFill>
                <a:highlight>
                  <a:srgbClr val="FFFF00"/>
                </a:highlight>
                <a:latin typeface="Arial"/>
              </a:rPr>
              <a:t>;</a:t>
            </a:r>
          </a:p>
          <a:p>
            <a:pPr defTabSz="914400" fontAlgn="base">
              <a:spcBef>
                <a:spcPct val="0"/>
              </a:spcBef>
              <a:spcAft>
                <a:spcPct val="0"/>
              </a:spcAft>
              <a:defRPr/>
            </a:pPr>
            <a:r>
              <a:rPr lang="en-US" sz="900" b="1" kern="0" dirty="0">
                <a:solidFill>
                  <a:srgbClr val="000000"/>
                </a:solidFill>
                <a:highlight>
                  <a:srgbClr val="FFFF00"/>
                </a:highlight>
                <a:latin typeface="Arial"/>
              </a:rPr>
              <a:t> acc += *</a:t>
            </a:r>
            <a:r>
              <a:rPr lang="en-US" sz="900" b="1" kern="0" dirty="0" err="1">
                <a:solidFill>
                  <a:srgbClr val="000000"/>
                </a:solidFill>
                <a:highlight>
                  <a:srgbClr val="FFFF00"/>
                </a:highlight>
                <a:latin typeface="Arial"/>
              </a:rPr>
              <a:t>d_i</a:t>
            </a:r>
            <a:r>
              <a:rPr lang="en-US" sz="900" b="1" kern="0" dirty="0">
                <a:solidFill>
                  <a:srgbClr val="000000"/>
                </a:solidFill>
                <a:highlight>
                  <a:srgbClr val="FFFF00"/>
                </a:highlight>
                <a:latin typeface="Arial"/>
              </a:rPr>
              <a:t>;</a:t>
            </a:r>
          </a:p>
          <a:p>
            <a:pPr defTabSz="914400" fontAlgn="base">
              <a:spcBef>
                <a:spcPct val="0"/>
              </a:spcBef>
              <a:spcAft>
                <a:spcPct val="0"/>
              </a:spcAft>
              <a:defRPr/>
            </a:pPr>
            <a:r>
              <a:rPr lang="en-US" sz="900" b="1" kern="0" dirty="0">
                <a:solidFill>
                  <a:srgbClr val="000000"/>
                </a:solidFill>
                <a:highlight>
                  <a:srgbClr val="FFFF00"/>
                </a:highlight>
                <a:latin typeface="Arial"/>
              </a:rPr>
              <a:t> *</a:t>
            </a:r>
            <a:r>
              <a:rPr lang="en-US" sz="900" b="1" kern="0" dirty="0" err="1">
                <a:solidFill>
                  <a:srgbClr val="000000"/>
                </a:solidFill>
                <a:highlight>
                  <a:srgbClr val="FFFF00"/>
                </a:highlight>
                <a:latin typeface="Arial"/>
              </a:rPr>
              <a:t>d_o</a:t>
            </a:r>
            <a:r>
              <a:rPr lang="en-US" sz="900" b="1" kern="0" dirty="0">
                <a:solidFill>
                  <a:srgbClr val="000000"/>
                </a:solidFill>
                <a:highlight>
                  <a:srgbClr val="FFFF00"/>
                </a:highlight>
                <a:latin typeface="Arial"/>
              </a:rPr>
              <a:t> = acc;</a:t>
            </a:r>
          </a:p>
          <a:p>
            <a:pPr defTabSz="914400" fontAlgn="base">
              <a:spcBef>
                <a:spcPct val="0"/>
              </a:spcBef>
              <a:spcAft>
                <a:spcPct val="0"/>
              </a:spcAft>
              <a:defRPr/>
            </a:pPr>
            <a:r>
              <a:rPr lang="en-US" sz="900" b="1" kern="0" dirty="0">
                <a:solidFill>
                  <a:srgbClr val="000000"/>
                </a:solidFill>
                <a:highlight>
                  <a:srgbClr val="FFFF00"/>
                </a:highlight>
                <a:latin typeface="Arial"/>
              </a:rPr>
              <a:t>}</a:t>
            </a:r>
          </a:p>
        </p:txBody>
      </p:sp>
      <p:sp>
        <p:nvSpPr>
          <p:cNvPr id="13" name="TextBox 12">
            <a:extLst>
              <a:ext uri="{FF2B5EF4-FFF2-40B4-BE49-F238E27FC236}">
                <a16:creationId xmlns:a16="http://schemas.microsoft.com/office/drawing/2014/main" id="{6B50FB9F-7917-4F4E-8E65-E000506089C5}"/>
              </a:ext>
            </a:extLst>
          </p:cNvPr>
          <p:cNvSpPr txBox="1"/>
          <p:nvPr/>
        </p:nvSpPr>
        <p:spPr>
          <a:xfrm>
            <a:off x="3997075" y="3951845"/>
            <a:ext cx="2918020" cy="276999"/>
          </a:xfrm>
          <a:prstGeom prst="rect">
            <a:avLst/>
          </a:prstGeom>
          <a:solidFill>
            <a:srgbClr val="FFFF99"/>
          </a:solidFill>
          <a:ln>
            <a:solidFill>
              <a:srgbClr val="000000"/>
            </a:solidFill>
          </a:ln>
          <a:effectLst>
            <a:innerShdw blurRad="63500" dist="50800" dir="2700000">
              <a:prstClr val="black">
                <a:alpha val="50000"/>
              </a:prstClr>
            </a:innerShdw>
          </a:effectLst>
        </p:spPr>
        <p:txBody>
          <a:bodyPr wrap="square" rtlCol="0">
            <a:spAutoFit/>
          </a:bodyPr>
          <a:lstStyle/>
          <a:p>
            <a:pPr algn="ctr" defTabSz="914400" fontAlgn="base">
              <a:spcBef>
                <a:spcPct val="0"/>
              </a:spcBef>
              <a:spcAft>
                <a:spcPct val="0"/>
              </a:spcAft>
              <a:defRPr/>
            </a:pPr>
            <a:r>
              <a:rPr lang="en-US" sz="1200" b="1" kern="0" dirty="0">
                <a:solidFill>
                  <a:srgbClr val="000000"/>
                </a:solidFill>
                <a:latin typeface="Arial"/>
              </a:rPr>
              <a:t>*</a:t>
            </a:r>
            <a:r>
              <a:rPr lang="en-US" sz="1200" b="1" kern="0" dirty="0" err="1">
                <a:solidFill>
                  <a:srgbClr val="000000"/>
                </a:solidFill>
                <a:latin typeface="Arial"/>
              </a:rPr>
              <a:t>d_i</a:t>
            </a:r>
            <a:r>
              <a:rPr lang="en-US" sz="1200" b="1" kern="0" dirty="0">
                <a:solidFill>
                  <a:srgbClr val="000000"/>
                </a:solidFill>
                <a:latin typeface="Arial"/>
              </a:rPr>
              <a:t> is read multiple times</a:t>
            </a:r>
          </a:p>
        </p:txBody>
      </p:sp>
      <p:sp>
        <p:nvSpPr>
          <p:cNvPr id="17" name="TextBox 16">
            <a:extLst>
              <a:ext uri="{FF2B5EF4-FFF2-40B4-BE49-F238E27FC236}">
                <a16:creationId xmlns:a16="http://schemas.microsoft.com/office/drawing/2014/main" id="{5CC6D559-D046-4D99-91C6-F76EB106EBA1}"/>
              </a:ext>
            </a:extLst>
          </p:cNvPr>
          <p:cNvSpPr txBox="1"/>
          <p:nvPr/>
        </p:nvSpPr>
        <p:spPr>
          <a:xfrm>
            <a:off x="3997075" y="4297490"/>
            <a:ext cx="3327567" cy="276999"/>
          </a:xfrm>
          <a:prstGeom prst="rect">
            <a:avLst/>
          </a:prstGeom>
          <a:solidFill>
            <a:srgbClr val="FFFF99"/>
          </a:solidFill>
          <a:ln>
            <a:solidFill>
              <a:srgbClr val="000000"/>
            </a:solidFill>
          </a:ln>
          <a:effectLst>
            <a:innerShdw blurRad="63500" dist="50800" dir="2700000">
              <a:prstClr val="black">
                <a:alpha val="50000"/>
              </a:prstClr>
            </a:innerShdw>
          </a:effectLst>
        </p:spPr>
        <p:txBody>
          <a:bodyPr wrap="square" rtlCol="0">
            <a:spAutoFit/>
          </a:bodyPr>
          <a:lstStyle/>
          <a:p>
            <a:pPr algn="ctr" defTabSz="914400" fontAlgn="base">
              <a:spcBef>
                <a:spcPct val="0"/>
              </a:spcBef>
              <a:spcAft>
                <a:spcPct val="0"/>
              </a:spcAft>
              <a:defRPr/>
            </a:pPr>
            <a:r>
              <a:rPr lang="en-US" sz="1200" b="1" kern="0" dirty="0">
                <a:solidFill>
                  <a:srgbClr val="000000"/>
                </a:solidFill>
                <a:latin typeface="Arial"/>
              </a:rPr>
              <a:t>*</a:t>
            </a:r>
            <a:r>
              <a:rPr lang="en-US" sz="1200" b="1" kern="0" dirty="0" err="1">
                <a:solidFill>
                  <a:srgbClr val="000000"/>
                </a:solidFill>
                <a:latin typeface="Arial"/>
              </a:rPr>
              <a:t>d_o</a:t>
            </a:r>
            <a:r>
              <a:rPr lang="en-US" sz="1200" b="1" kern="0" dirty="0">
                <a:solidFill>
                  <a:srgbClr val="000000"/>
                </a:solidFill>
                <a:latin typeface="Arial"/>
              </a:rPr>
              <a:t> is written to multiple times</a:t>
            </a:r>
          </a:p>
        </p:txBody>
      </p:sp>
      <p:cxnSp>
        <p:nvCxnSpPr>
          <p:cNvPr id="18" name="Straight Arrow Connector 17">
            <a:extLst>
              <a:ext uri="{FF2B5EF4-FFF2-40B4-BE49-F238E27FC236}">
                <a16:creationId xmlns:a16="http://schemas.microsoft.com/office/drawing/2014/main" id="{10CE840A-001B-4F7A-B1E6-ECCE8DA0EA93}"/>
              </a:ext>
            </a:extLst>
          </p:cNvPr>
          <p:cNvCxnSpPr>
            <a:cxnSpLocks/>
            <a:stCxn id="13" idx="1"/>
          </p:cNvCxnSpPr>
          <p:nvPr/>
        </p:nvCxnSpPr>
        <p:spPr>
          <a:xfrm flipH="1" flipV="1">
            <a:off x="1944689" y="3976538"/>
            <a:ext cx="2052386" cy="113806"/>
          </a:xfrm>
          <a:prstGeom prst="straightConnector1">
            <a:avLst/>
          </a:prstGeom>
          <a:noFill/>
          <a:ln w="25400" cap="flat" cmpd="sng" algn="ctr">
            <a:solidFill>
              <a:srgbClr val="000000"/>
            </a:solidFill>
            <a:prstDash val="solid"/>
            <a:tailEnd type="arrow"/>
          </a:ln>
          <a:effectLst>
            <a:outerShdw blurRad="40000" dist="20000" dir="5400000" rotWithShape="0">
              <a:srgbClr val="000000">
                <a:alpha val="38000"/>
              </a:srgbClr>
            </a:outerShdw>
          </a:effectLst>
        </p:spPr>
      </p:cxnSp>
      <p:cxnSp>
        <p:nvCxnSpPr>
          <p:cNvPr id="19" name="Straight Arrow Connector 18">
            <a:extLst>
              <a:ext uri="{FF2B5EF4-FFF2-40B4-BE49-F238E27FC236}">
                <a16:creationId xmlns:a16="http://schemas.microsoft.com/office/drawing/2014/main" id="{4884C41E-3312-4FEF-BFBE-1E9ED68908ED}"/>
              </a:ext>
            </a:extLst>
          </p:cNvPr>
          <p:cNvCxnSpPr>
            <a:cxnSpLocks/>
            <a:stCxn id="17" idx="1"/>
          </p:cNvCxnSpPr>
          <p:nvPr/>
        </p:nvCxnSpPr>
        <p:spPr>
          <a:xfrm flipH="1" flipV="1">
            <a:off x="1944690" y="4264951"/>
            <a:ext cx="2052385" cy="171038"/>
          </a:xfrm>
          <a:prstGeom prst="straightConnector1">
            <a:avLst/>
          </a:prstGeom>
          <a:noFill/>
          <a:ln w="25400" cap="flat" cmpd="sng" algn="ctr">
            <a:solidFill>
              <a:srgbClr val="000000"/>
            </a:solidFill>
            <a:prstDash val="solid"/>
            <a:tailEnd type="arrow"/>
          </a:ln>
          <a:effectLst>
            <a:outerShdw blurRad="40000" dist="20000" dir="5400000" rotWithShape="0">
              <a:srgbClr val="000000">
                <a:alpha val="38000"/>
              </a:srgbClr>
            </a:outerShdw>
          </a:effectLst>
        </p:spPr>
      </p:cxnSp>
    </p:spTree>
    <p:extLst>
      <p:ext uri="{BB962C8B-B14F-4D97-AF65-F5344CB8AC3E}">
        <p14:creationId xmlns:p14="http://schemas.microsoft.com/office/powerpoint/2010/main" val="4260423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checkerboard(across)">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Multi-Access Pointers: Use Volatile!!!</a:t>
            </a:r>
          </a:p>
        </p:txBody>
      </p:sp>
      <p:sp>
        <p:nvSpPr>
          <p:cNvPr id="4" name="Content Placeholder 3"/>
          <p:cNvSpPr>
            <a:spLocks noGrp="1"/>
          </p:cNvSpPr>
          <p:nvPr>
            <p:ph sz="half" idx="1"/>
          </p:nvPr>
        </p:nvSpPr>
        <p:spPr/>
        <p:txBody>
          <a:bodyPr>
            <a:normAutofit/>
          </a:bodyPr>
          <a:lstStyle/>
          <a:p>
            <a:r>
              <a:rPr lang="en-US" dirty="0"/>
              <a:t>Without Volatile</a:t>
            </a:r>
          </a:p>
          <a:p>
            <a:endParaRPr lang="en-US" dirty="0"/>
          </a:p>
          <a:p>
            <a:endParaRPr lang="en-US" dirty="0"/>
          </a:p>
          <a:p>
            <a:pPr>
              <a:buNone/>
            </a:pPr>
            <a:endParaRPr lang="en-US" dirty="0"/>
          </a:p>
          <a:p>
            <a:r>
              <a:rPr lang="en-US" sz="2000" dirty="0"/>
              <a:t>C compilers will optimize to 1 read </a:t>
            </a:r>
            <a:br>
              <a:rPr lang="en-US" sz="2000" dirty="0"/>
            </a:br>
            <a:r>
              <a:rPr lang="en-US" sz="2000" dirty="0"/>
              <a:t>and 1 write</a:t>
            </a:r>
          </a:p>
          <a:p>
            <a:r>
              <a:rPr lang="en-US" sz="2000" dirty="0" err="1"/>
              <a:t>Vi</a:t>
            </a:r>
            <a:r>
              <a:rPr lang="en-US" altLang="zh-CN" sz="2000" dirty="0" err="1"/>
              <a:t>tis</a:t>
            </a:r>
            <a:r>
              <a:rPr lang="en-US" sz="2000" dirty="0"/>
              <a:t> HLS will create a design with 1 read </a:t>
            </a:r>
            <a:br>
              <a:rPr lang="en-US" sz="2000" dirty="0"/>
            </a:br>
            <a:r>
              <a:rPr lang="en-US" sz="2000" dirty="0"/>
              <a:t>and 1 write</a:t>
            </a:r>
          </a:p>
        </p:txBody>
      </p:sp>
      <p:sp>
        <p:nvSpPr>
          <p:cNvPr id="6" name="Content Placeholder 5"/>
          <p:cNvSpPr>
            <a:spLocks noGrp="1"/>
          </p:cNvSpPr>
          <p:nvPr>
            <p:ph sz="half" idx="2"/>
          </p:nvPr>
        </p:nvSpPr>
        <p:spPr>
          <a:prstGeom prst="rect">
            <a:avLst/>
          </a:prstGeom>
        </p:spPr>
        <p:txBody>
          <a:bodyPr>
            <a:normAutofit fontScale="92500" lnSpcReduction="20000"/>
          </a:bodyPr>
          <a:lstStyle/>
          <a:p>
            <a:r>
              <a:rPr lang="en-US" dirty="0"/>
              <a:t>With Volatile</a:t>
            </a:r>
          </a:p>
          <a:p>
            <a:endParaRPr lang="en-US" dirty="0"/>
          </a:p>
          <a:p>
            <a:endParaRPr lang="en-US" dirty="0"/>
          </a:p>
          <a:p>
            <a:endParaRPr lang="en-US" dirty="0"/>
          </a:p>
          <a:p>
            <a:pPr>
              <a:buNone/>
            </a:pPr>
            <a:endParaRPr lang="en-US" dirty="0"/>
          </a:p>
          <a:p>
            <a:r>
              <a:rPr lang="en-US" dirty="0"/>
              <a:t>C Compilers will not optimize the IO accesses</a:t>
            </a:r>
          </a:p>
          <a:p>
            <a:pPr lvl="1"/>
            <a:r>
              <a:rPr lang="en-US" dirty="0"/>
              <a:t>Will assume the pointer value may change outside the scope of the function &amp; leave the accesses</a:t>
            </a:r>
          </a:p>
          <a:p>
            <a:r>
              <a:rPr lang="en-US" dirty="0" err="1"/>
              <a:t>Vitis</a:t>
            </a:r>
            <a:r>
              <a:rPr lang="en-US" dirty="0"/>
              <a:t> HLS will create a design with 4 reads and 2 write</a:t>
            </a:r>
          </a:p>
        </p:txBody>
      </p:sp>
      <p:sp>
        <p:nvSpPr>
          <p:cNvPr id="13" name="Slide Number Placeholder 5">
            <a:extLst>
              <a:ext uri="{FF2B5EF4-FFF2-40B4-BE49-F238E27FC236}">
                <a16:creationId xmlns:a16="http://schemas.microsoft.com/office/drawing/2014/main" id="{C738C81A-87A0-405F-8CF8-9BEEFF6B2857}"/>
              </a:ext>
            </a:extLst>
          </p:cNvPr>
          <p:cNvSpPr>
            <a:spLocks noGrp="1"/>
          </p:cNvSpPr>
          <p:nvPr>
            <p:ph type="sldNum" sz="quarter" idx="4"/>
          </p:nvPr>
        </p:nvSpPr>
        <p:spPr/>
        <p:txBody>
          <a:bodyPr/>
          <a:lstStyle/>
          <a:p>
            <a:pPr>
              <a:defRPr/>
            </a:pPr>
            <a:r>
              <a:rPr lang="en-US" dirty="0"/>
              <a:t>Coding Considerations 23- </a:t>
            </a:r>
            <a:fld id="{060BD193-E118-4B16-863C-C8C12C675E3E}" type="slidenum">
              <a:rPr lang="en-US" smtClean="0"/>
              <a:pPr>
                <a:defRPr/>
              </a:pPr>
              <a:t>47</a:t>
            </a:fld>
            <a:endParaRPr lang="en-US" dirty="0"/>
          </a:p>
        </p:txBody>
      </p:sp>
      <p:sp>
        <p:nvSpPr>
          <p:cNvPr id="9" name="TextBox 8"/>
          <p:cNvSpPr txBox="1"/>
          <p:nvPr/>
        </p:nvSpPr>
        <p:spPr>
          <a:xfrm>
            <a:off x="771894" y="5283642"/>
            <a:ext cx="5324106" cy="523220"/>
          </a:xfrm>
          <a:prstGeom prst="rect">
            <a:avLst/>
          </a:prstGeom>
          <a:solidFill>
            <a:srgbClr val="FFFF99"/>
          </a:solidFill>
          <a:ln>
            <a:solidFill>
              <a:schemeClr val="tx1"/>
            </a:solidFill>
          </a:ln>
          <a:effectLst>
            <a:innerShdw blurRad="63500" dist="50800" dir="2700000">
              <a:prstClr val="black">
                <a:alpha val="50000"/>
              </a:prstClr>
            </a:innerShdw>
          </a:effectLst>
        </p:spPr>
        <p:txBody>
          <a:bodyPr wrap="square" rtlCol="0">
            <a:spAutoFit/>
          </a:bodyPr>
          <a:lstStyle/>
          <a:p>
            <a:pPr algn="ctr"/>
            <a:r>
              <a:rPr lang="en-US" sz="1400" b="1" dirty="0"/>
              <a:t>To complicate matters, if the IF condition is complex, </a:t>
            </a:r>
            <a:r>
              <a:rPr lang="en-US" sz="1400" b="1" dirty="0" err="1"/>
              <a:t>Vitis</a:t>
            </a:r>
            <a:r>
              <a:rPr lang="en-US" sz="1400" b="1" dirty="0"/>
              <a:t> HLS may not be able to optimize the accesses into 1</a:t>
            </a:r>
          </a:p>
        </p:txBody>
      </p:sp>
      <p:sp>
        <p:nvSpPr>
          <p:cNvPr id="11" name="TextBox 10">
            <a:extLst>
              <a:ext uri="{FF2B5EF4-FFF2-40B4-BE49-F238E27FC236}">
                <a16:creationId xmlns:a16="http://schemas.microsoft.com/office/drawing/2014/main" id="{F3E7C923-647F-4151-8C17-F978777AF1CE}"/>
              </a:ext>
            </a:extLst>
          </p:cNvPr>
          <p:cNvSpPr txBox="1"/>
          <p:nvPr/>
        </p:nvSpPr>
        <p:spPr>
          <a:xfrm>
            <a:off x="931246" y="1978057"/>
            <a:ext cx="2457280" cy="1615827"/>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lvl="0" fontAlgn="base">
              <a:spcBef>
                <a:spcPct val="0"/>
              </a:spcBef>
              <a:spcAft>
                <a:spcPct val="0"/>
              </a:spcAft>
              <a:defRPr/>
            </a:pPr>
            <a:r>
              <a:rPr lang="en-US" sz="900" b="1" kern="0" dirty="0">
                <a:solidFill>
                  <a:srgbClr val="000000"/>
                </a:solidFill>
              </a:rPr>
              <a:t>void </a:t>
            </a:r>
            <a:r>
              <a:rPr lang="en-US" sz="900" b="1" kern="0" dirty="0" err="1">
                <a:solidFill>
                  <a:srgbClr val="000000"/>
                </a:solidFill>
              </a:rPr>
              <a:t>pointer_stream_bad</a:t>
            </a:r>
            <a:r>
              <a:rPr lang="en-US" sz="900" b="1" kern="0" dirty="0">
                <a:solidFill>
                  <a:srgbClr val="000000"/>
                </a:solidFill>
              </a:rPr>
              <a:t> ( </a:t>
            </a:r>
            <a:r>
              <a:rPr lang="en-US" sz="900" b="1" kern="0" dirty="0" err="1">
                <a:solidFill>
                  <a:srgbClr val="000000"/>
                </a:solidFill>
              </a:rPr>
              <a:t>dout_t</a:t>
            </a:r>
            <a:r>
              <a:rPr lang="en-US" sz="900" b="1" kern="0" dirty="0">
                <a:solidFill>
                  <a:srgbClr val="000000"/>
                </a:solidFill>
              </a:rPr>
              <a:t> *</a:t>
            </a:r>
            <a:r>
              <a:rPr lang="en-US" sz="900" b="1" kern="0" dirty="0" err="1">
                <a:solidFill>
                  <a:srgbClr val="000000"/>
                </a:solidFill>
              </a:rPr>
              <a:t>d_o</a:t>
            </a:r>
            <a:r>
              <a:rPr lang="en-US" sz="900" b="1" kern="0" dirty="0">
                <a:solidFill>
                  <a:srgbClr val="000000"/>
                </a:solidFill>
              </a:rPr>
              <a:t>,  </a:t>
            </a:r>
            <a:r>
              <a:rPr lang="en-US" sz="900" b="1" kern="0" dirty="0" err="1">
                <a:solidFill>
                  <a:srgbClr val="000000"/>
                </a:solidFill>
              </a:rPr>
              <a:t>din_t</a:t>
            </a:r>
            <a:r>
              <a:rPr lang="en-US" sz="900" b="1" kern="0" dirty="0">
                <a:solidFill>
                  <a:srgbClr val="000000"/>
                </a:solidFill>
              </a:rPr>
              <a:t> *</a:t>
            </a:r>
            <a:r>
              <a:rPr lang="en-US" sz="900" b="1" kern="0" dirty="0" err="1">
                <a:solidFill>
                  <a:srgbClr val="000000"/>
                </a:solidFill>
              </a:rPr>
              <a:t>d_i</a:t>
            </a:r>
            <a:r>
              <a:rPr lang="en-US" sz="900" b="1" kern="0" dirty="0">
                <a:solidFill>
                  <a:srgbClr val="000000"/>
                </a:solidFill>
              </a:rPr>
              <a:t>) {</a:t>
            </a:r>
          </a:p>
          <a:p>
            <a:pPr lvl="0" fontAlgn="base">
              <a:spcBef>
                <a:spcPct val="0"/>
              </a:spcBef>
              <a:spcAft>
                <a:spcPct val="0"/>
              </a:spcAft>
              <a:defRPr/>
            </a:pPr>
            <a:r>
              <a:rPr lang="en-US" sz="900" b="1" kern="0" dirty="0">
                <a:solidFill>
                  <a:srgbClr val="000000"/>
                </a:solidFill>
              </a:rPr>
              <a:t> </a:t>
            </a:r>
            <a:r>
              <a:rPr lang="en-US" sz="900" b="1" kern="0" dirty="0" err="1">
                <a:solidFill>
                  <a:srgbClr val="000000"/>
                </a:solidFill>
              </a:rPr>
              <a:t>din_t</a:t>
            </a:r>
            <a:r>
              <a:rPr lang="en-US" sz="900" b="1" kern="0" dirty="0">
                <a:solidFill>
                  <a:srgbClr val="000000"/>
                </a:solidFill>
              </a:rPr>
              <a:t> acc = 0;</a:t>
            </a:r>
          </a:p>
          <a:p>
            <a:pPr lvl="0" fontAlgn="base">
              <a:spcBef>
                <a:spcPct val="0"/>
              </a:spcBef>
              <a:spcAft>
                <a:spcPct val="0"/>
              </a:spcAft>
              <a:defRPr/>
            </a:pPr>
            <a:endParaRPr lang="en-US" sz="900" b="1" kern="0" dirty="0">
              <a:solidFill>
                <a:srgbClr val="000000"/>
              </a:solidFill>
            </a:endParaRPr>
          </a:p>
          <a:p>
            <a:pPr lvl="0" fontAlgn="base">
              <a:spcBef>
                <a:spcPct val="0"/>
              </a:spcBef>
              <a:spcAft>
                <a:spcPct val="0"/>
              </a:spcAft>
              <a:defRPr/>
            </a:pPr>
            <a:r>
              <a:rPr lang="en-US" sz="900" b="1" kern="0" dirty="0">
                <a:solidFill>
                  <a:srgbClr val="000000"/>
                </a:solidFill>
              </a:rPr>
              <a:t> acc += *</a:t>
            </a:r>
            <a:r>
              <a:rPr lang="en-US" sz="900" b="1" kern="0" dirty="0" err="1">
                <a:solidFill>
                  <a:srgbClr val="000000"/>
                </a:solidFill>
              </a:rPr>
              <a:t>d_i</a:t>
            </a:r>
            <a:r>
              <a:rPr lang="en-US" sz="900" b="1" kern="0" dirty="0">
                <a:solidFill>
                  <a:srgbClr val="000000"/>
                </a:solidFill>
              </a:rPr>
              <a:t>;</a:t>
            </a:r>
          </a:p>
          <a:p>
            <a:pPr lvl="0" fontAlgn="base">
              <a:spcBef>
                <a:spcPct val="0"/>
              </a:spcBef>
              <a:spcAft>
                <a:spcPct val="0"/>
              </a:spcAft>
              <a:defRPr/>
            </a:pPr>
            <a:r>
              <a:rPr lang="en-US" sz="900" b="1" kern="0" dirty="0">
                <a:solidFill>
                  <a:srgbClr val="000000"/>
                </a:solidFill>
              </a:rPr>
              <a:t> acc += *</a:t>
            </a:r>
            <a:r>
              <a:rPr lang="en-US" sz="900" b="1" kern="0" dirty="0" err="1">
                <a:solidFill>
                  <a:srgbClr val="000000"/>
                </a:solidFill>
              </a:rPr>
              <a:t>d_i</a:t>
            </a:r>
            <a:r>
              <a:rPr lang="en-US" sz="900" b="1" kern="0" dirty="0">
                <a:solidFill>
                  <a:srgbClr val="000000"/>
                </a:solidFill>
              </a:rPr>
              <a:t>;</a:t>
            </a:r>
          </a:p>
          <a:p>
            <a:pPr lvl="0" fontAlgn="base">
              <a:spcBef>
                <a:spcPct val="0"/>
              </a:spcBef>
              <a:spcAft>
                <a:spcPct val="0"/>
              </a:spcAft>
              <a:defRPr/>
            </a:pPr>
            <a:r>
              <a:rPr lang="en-US" sz="900" b="1" kern="0" dirty="0">
                <a:solidFill>
                  <a:srgbClr val="000000"/>
                </a:solidFill>
              </a:rPr>
              <a:t> *</a:t>
            </a:r>
            <a:r>
              <a:rPr lang="en-US" sz="900" b="1" kern="0" dirty="0" err="1">
                <a:solidFill>
                  <a:srgbClr val="000000"/>
                </a:solidFill>
              </a:rPr>
              <a:t>d_o</a:t>
            </a:r>
            <a:r>
              <a:rPr lang="en-US" sz="900" b="1" kern="0" dirty="0">
                <a:solidFill>
                  <a:srgbClr val="000000"/>
                </a:solidFill>
              </a:rPr>
              <a:t> = acc;</a:t>
            </a:r>
          </a:p>
          <a:p>
            <a:pPr lvl="0" fontAlgn="base">
              <a:spcBef>
                <a:spcPct val="0"/>
              </a:spcBef>
              <a:spcAft>
                <a:spcPct val="0"/>
              </a:spcAft>
              <a:defRPr/>
            </a:pPr>
            <a:r>
              <a:rPr lang="en-US" sz="900" b="1" kern="0" dirty="0">
                <a:solidFill>
                  <a:srgbClr val="000000"/>
                </a:solidFill>
              </a:rPr>
              <a:t> acc += *</a:t>
            </a:r>
            <a:r>
              <a:rPr lang="en-US" sz="900" b="1" kern="0" dirty="0" err="1">
                <a:solidFill>
                  <a:srgbClr val="000000"/>
                </a:solidFill>
              </a:rPr>
              <a:t>d_i</a:t>
            </a:r>
            <a:r>
              <a:rPr lang="en-US" sz="900" b="1" kern="0" dirty="0">
                <a:solidFill>
                  <a:srgbClr val="000000"/>
                </a:solidFill>
              </a:rPr>
              <a:t>;</a:t>
            </a:r>
          </a:p>
          <a:p>
            <a:pPr lvl="0" fontAlgn="base">
              <a:spcBef>
                <a:spcPct val="0"/>
              </a:spcBef>
              <a:spcAft>
                <a:spcPct val="0"/>
              </a:spcAft>
              <a:defRPr/>
            </a:pPr>
            <a:r>
              <a:rPr lang="en-US" sz="900" b="1" kern="0" dirty="0">
                <a:solidFill>
                  <a:srgbClr val="000000"/>
                </a:solidFill>
              </a:rPr>
              <a:t> acc += *</a:t>
            </a:r>
            <a:r>
              <a:rPr lang="en-US" sz="900" b="1" kern="0" dirty="0" err="1">
                <a:solidFill>
                  <a:srgbClr val="000000"/>
                </a:solidFill>
              </a:rPr>
              <a:t>d_i</a:t>
            </a:r>
            <a:r>
              <a:rPr lang="en-US" sz="900" b="1" kern="0" dirty="0">
                <a:solidFill>
                  <a:srgbClr val="000000"/>
                </a:solidFill>
              </a:rPr>
              <a:t>;</a:t>
            </a:r>
          </a:p>
          <a:p>
            <a:pPr lvl="0" fontAlgn="base">
              <a:spcBef>
                <a:spcPct val="0"/>
              </a:spcBef>
              <a:spcAft>
                <a:spcPct val="0"/>
              </a:spcAft>
              <a:defRPr/>
            </a:pPr>
            <a:r>
              <a:rPr lang="en-US" sz="900" b="1" kern="0" dirty="0">
                <a:solidFill>
                  <a:srgbClr val="000000"/>
                </a:solidFill>
              </a:rPr>
              <a:t> *</a:t>
            </a:r>
            <a:r>
              <a:rPr lang="en-US" sz="900" b="1" kern="0" dirty="0" err="1">
                <a:solidFill>
                  <a:srgbClr val="000000"/>
                </a:solidFill>
              </a:rPr>
              <a:t>d_o</a:t>
            </a:r>
            <a:r>
              <a:rPr lang="en-US" sz="900" b="1" kern="0" dirty="0">
                <a:solidFill>
                  <a:srgbClr val="000000"/>
                </a:solidFill>
              </a:rPr>
              <a:t> = acc;</a:t>
            </a:r>
          </a:p>
          <a:p>
            <a:pPr lvl="0" fontAlgn="base">
              <a:spcBef>
                <a:spcPct val="0"/>
              </a:spcBef>
              <a:spcAft>
                <a:spcPct val="0"/>
              </a:spcAft>
              <a:defRPr/>
            </a:pPr>
            <a:r>
              <a:rPr lang="en-US" sz="900" b="1" kern="0" dirty="0">
                <a:solidFill>
                  <a:srgbClr val="000000"/>
                </a:solidFill>
              </a:rPr>
              <a:t>}</a:t>
            </a:r>
            <a:endParaRPr lang="en-US" sz="900" b="1" kern="0" dirty="0">
              <a:solidFill>
                <a:srgbClr val="000000"/>
              </a:solidFill>
              <a:latin typeface="Arial"/>
            </a:endParaRPr>
          </a:p>
        </p:txBody>
      </p:sp>
      <p:sp>
        <p:nvSpPr>
          <p:cNvPr id="12" name="TextBox 11">
            <a:extLst>
              <a:ext uri="{FF2B5EF4-FFF2-40B4-BE49-F238E27FC236}">
                <a16:creationId xmlns:a16="http://schemas.microsoft.com/office/drawing/2014/main" id="{C03D9B48-AAA5-4A85-8136-056AFF4A1FC0}"/>
              </a:ext>
            </a:extLst>
          </p:cNvPr>
          <p:cNvSpPr txBox="1"/>
          <p:nvPr/>
        </p:nvSpPr>
        <p:spPr>
          <a:xfrm>
            <a:off x="7446108" y="1978056"/>
            <a:ext cx="2303700" cy="1615827"/>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lvl="0" fontAlgn="base">
              <a:spcBef>
                <a:spcPct val="0"/>
              </a:spcBef>
              <a:spcAft>
                <a:spcPct val="0"/>
              </a:spcAft>
              <a:defRPr/>
            </a:pPr>
            <a:r>
              <a:rPr lang="en-US" sz="900" b="1" kern="0" dirty="0">
                <a:solidFill>
                  <a:srgbClr val="000000"/>
                </a:solidFill>
              </a:rPr>
              <a:t>void </a:t>
            </a:r>
            <a:r>
              <a:rPr lang="en-US" sz="900" b="1" kern="0" dirty="0" err="1">
                <a:solidFill>
                  <a:srgbClr val="000000"/>
                </a:solidFill>
              </a:rPr>
              <a:t>pointer_stream_better</a:t>
            </a:r>
            <a:r>
              <a:rPr lang="en-US" sz="900" b="1" kern="0" dirty="0">
                <a:solidFill>
                  <a:srgbClr val="000000"/>
                </a:solidFill>
              </a:rPr>
              <a:t> ( volatile </a:t>
            </a:r>
            <a:r>
              <a:rPr lang="en-US" sz="900" b="1" kern="0" dirty="0" err="1">
                <a:solidFill>
                  <a:srgbClr val="000000"/>
                </a:solidFill>
              </a:rPr>
              <a:t>dout_t</a:t>
            </a:r>
            <a:r>
              <a:rPr lang="en-US" sz="900" b="1" kern="0" dirty="0">
                <a:solidFill>
                  <a:srgbClr val="000000"/>
                </a:solidFill>
              </a:rPr>
              <a:t> *</a:t>
            </a:r>
            <a:r>
              <a:rPr lang="en-US" sz="900" b="1" kern="0" dirty="0" err="1">
                <a:solidFill>
                  <a:srgbClr val="000000"/>
                </a:solidFill>
              </a:rPr>
              <a:t>d_o</a:t>
            </a:r>
            <a:r>
              <a:rPr lang="en-US" sz="900" b="1" kern="0" dirty="0">
                <a:solidFill>
                  <a:srgbClr val="000000"/>
                </a:solidFill>
              </a:rPr>
              <a:t>,  volatile </a:t>
            </a:r>
            <a:r>
              <a:rPr lang="en-US" sz="900" b="1" kern="0" dirty="0" err="1">
                <a:solidFill>
                  <a:srgbClr val="000000"/>
                </a:solidFill>
              </a:rPr>
              <a:t>din_t</a:t>
            </a:r>
            <a:r>
              <a:rPr lang="en-US" sz="900" b="1" kern="0" dirty="0">
                <a:solidFill>
                  <a:srgbClr val="000000"/>
                </a:solidFill>
              </a:rPr>
              <a:t> *</a:t>
            </a:r>
            <a:r>
              <a:rPr lang="en-US" sz="900" b="1" kern="0" dirty="0" err="1">
                <a:solidFill>
                  <a:srgbClr val="000000"/>
                </a:solidFill>
              </a:rPr>
              <a:t>d_i</a:t>
            </a:r>
            <a:r>
              <a:rPr lang="en-US" sz="900" b="1" kern="0" dirty="0">
                <a:solidFill>
                  <a:srgbClr val="000000"/>
                </a:solidFill>
              </a:rPr>
              <a:t>) {</a:t>
            </a:r>
          </a:p>
          <a:p>
            <a:pPr lvl="0" fontAlgn="base">
              <a:spcBef>
                <a:spcPct val="0"/>
              </a:spcBef>
              <a:spcAft>
                <a:spcPct val="0"/>
              </a:spcAft>
              <a:defRPr/>
            </a:pPr>
            <a:r>
              <a:rPr lang="en-US" sz="900" b="1" kern="0" dirty="0">
                <a:solidFill>
                  <a:srgbClr val="000000"/>
                </a:solidFill>
              </a:rPr>
              <a:t> </a:t>
            </a:r>
            <a:r>
              <a:rPr lang="en-US" sz="900" b="1" kern="0" dirty="0" err="1">
                <a:solidFill>
                  <a:srgbClr val="000000"/>
                </a:solidFill>
              </a:rPr>
              <a:t>din_t</a:t>
            </a:r>
            <a:r>
              <a:rPr lang="en-US" sz="900" b="1" kern="0" dirty="0">
                <a:solidFill>
                  <a:srgbClr val="000000"/>
                </a:solidFill>
              </a:rPr>
              <a:t> acc = 0;</a:t>
            </a:r>
          </a:p>
          <a:p>
            <a:pPr lvl="0" fontAlgn="base">
              <a:spcBef>
                <a:spcPct val="0"/>
              </a:spcBef>
              <a:spcAft>
                <a:spcPct val="0"/>
              </a:spcAft>
              <a:defRPr/>
            </a:pPr>
            <a:endParaRPr lang="en-US" sz="900" b="1" kern="0" dirty="0">
              <a:solidFill>
                <a:srgbClr val="000000"/>
              </a:solidFill>
            </a:endParaRPr>
          </a:p>
          <a:p>
            <a:pPr lvl="0" fontAlgn="base">
              <a:spcBef>
                <a:spcPct val="0"/>
              </a:spcBef>
              <a:spcAft>
                <a:spcPct val="0"/>
              </a:spcAft>
              <a:defRPr/>
            </a:pPr>
            <a:r>
              <a:rPr lang="en-US" sz="900" b="1" kern="0" dirty="0">
                <a:solidFill>
                  <a:srgbClr val="000000"/>
                </a:solidFill>
              </a:rPr>
              <a:t> acc += *</a:t>
            </a:r>
            <a:r>
              <a:rPr lang="en-US" sz="900" b="1" kern="0" dirty="0" err="1">
                <a:solidFill>
                  <a:srgbClr val="000000"/>
                </a:solidFill>
              </a:rPr>
              <a:t>d_i</a:t>
            </a:r>
            <a:r>
              <a:rPr lang="en-US" sz="900" b="1" kern="0" dirty="0">
                <a:solidFill>
                  <a:srgbClr val="000000"/>
                </a:solidFill>
              </a:rPr>
              <a:t>;</a:t>
            </a:r>
          </a:p>
          <a:p>
            <a:pPr lvl="0" fontAlgn="base">
              <a:spcBef>
                <a:spcPct val="0"/>
              </a:spcBef>
              <a:spcAft>
                <a:spcPct val="0"/>
              </a:spcAft>
              <a:defRPr/>
            </a:pPr>
            <a:r>
              <a:rPr lang="en-US" sz="900" b="1" kern="0" dirty="0">
                <a:solidFill>
                  <a:srgbClr val="000000"/>
                </a:solidFill>
              </a:rPr>
              <a:t> acc += *</a:t>
            </a:r>
            <a:r>
              <a:rPr lang="en-US" sz="900" b="1" kern="0" dirty="0" err="1">
                <a:solidFill>
                  <a:srgbClr val="000000"/>
                </a:solidFill>
              </a:rPr>
              <a:t>d_i</a:t>
            </a:r>
            <a:r>
              <a:rPr lang="en-US" sz="900" b="1" kern="0" dirty="0">
                <a:solidFill>
                  <a:srgbClr val="000000"/>
                </a:solidFill>
              </a:rPr>
              <a:t>;</a:t>
            </a:r>
          </a:p>
          <a:p>
            <a:pPr lvl="0" fontAlgn="base">
              <a:spcBef>
                <a:spcPct val="0"/>
              </a:spcBef>
              <a:spcAft>
                <a:spcPct val="0"/>
              </a:spcAft>
              <a:defRPr/>
            </a:pPr>
            <a:r>
              <a:rPr lang="en-US" sz="900" b="1" kern="0" dirty="0">
                <a:solidFill>
                  <a:srgbClr val="000000"/>
                </a:solidFill>
              </a:rPr>
              <a:t> *</a:t>
            </a:r>
            <a:r>
              <a:rPr lang="en-US" sz="900" b="1" kern="0" dirty="0" err="1">
                <a:solidFill>
                  <a:srgbClr val="000000"/>
                </a:solidFill>
              </a:rPr>
              <a:t>d_o</a:t>
            </a:r>
            <a:r>
              <a:rPr lang="en-US" sz="900" b="1" kern="0" dirty="0">
                <a:solidFill>
                  <a:srgbClr val="000000"/>
                </a:solidFill>
              </a:rPr>
              <a:t> = acc;</a:t>
            </a:r>
          </a:p>
          <a:p>
            <a:pPr lvl="0" fontAlgn="base">
              <a:spcBef>
                <a:spcPct val="0"/>
              </a:spcBef>
              <a:spcAft>
                <a:spcPct val="0"/>
              </a:spcAft>
              <a:defRPr/>
            </a:pPr>
            <a:r>
              <a:rPr lang="en-US" sz="900" b="1" kern="0" dirty="0">
                <a:solidFill>
                  <a:srgbClr val="000000"/>
                </a:solidFill>
              </a:rPr>
              <a:t> acc += *</a:t>
            </a:r>
            <a:r>
              <a:rPr lang="en-US" sz="900" b="1" kern="0" dirty="0" err="1">
                <a:solidFill>
                  <a:srgbClr val="000000"/>
                </a:solidFill>
              </a:rPr>
              <a:t>d_i</a:t>
            </a:r>
            <a:r>
              <a:rPr lang="en-US" sz="900" b="1" kern="0" dirty="0">
                <a:solidFill>
                  <a:srgbClr val="000000"/>
                </a:solidFill>
              </a:rPr>
              <a:t>;</a:t>
            </a:r>
          </a:p>
          <a:p>
            <a:pPr lvl="0" fontAlgn="base">
              <a:spcBef>
                <a:spcPct val="0"/>
              </a:spcBef>
              <a:spcAft>
                <a:spcPct val="0"/>
              </a:spcAft>
              <a:defRPr/>
            </a:pPr>
            <a:r>
              <a:rPr lang="en-US" sz="900" b="1" kern="0" dirty="0">
                <a:solidFill>
                  <a:srgbClr val="000000"/>
                </a:solidFill>
              </a:rPr>
              <a:t> acc += *</a:t>
            </a:r>
            <a:r>
              <a:rPr lang="en-US" sz="900" b="1" kern="0" dirty="0" err="1">
                <a:solidFill>
                  <a:srgbClr val="000000"/>
                </a:solidFill>
              </a:rPr>
              <a:t>d_i</a:t>
            </a:r>
            <a:r>
              <a:rPr lang="en-US" sz="900" b="1" kern="0" dirty="0">
                <a:solidFill>
                  <a:srgbClr val="000000"/>
                </a:solidFill>
              </a:rPr>
              <a:t>;</a:t>
            </a:r>
          </a:p>
          <a:p>
            <a:pPr lvl="0" fontAlgn="base">
              <a:spcBef>
                <a:spcPct val="0"/>
              </a:spcBef>
              <a:spcAft>
                <a:spcPct val="0"/>
              </a:spcAft>
              <a:defRPr/>
            </a:pPr>
            <a:r>
              <a:rPr lang="en-US" sz="900" b="1" kern="0" dirty="0">
                <a:solidFill>
                  <a:srgbClr val="000000"/>
                </a:solidFill>
              </a:rPr>
              <a:t> *</a:t>
            </a:r>
            <a:r>
              <a:rPr lang="en-US" sz="900" b="1" kern="0" dirty="0" err="1">
                <a:solidFill>
                  <a:srgbClr val="000000"/>
                </a:solidFill>
              </a:rPr>
              <a:t>d_o</a:t>
            </a:r>
            <a:r>
              <a:rPr lang="en-US" sz="900" b="1" kern="0" dirty="0">
                <a:solidFill>
                  <a:srgbClr val="000000"/>
                </a:solidFill>
              </a:rPr>
              <a:t> = acc;</a:t>
            </a:r>
          </a:p>
          <a:p>
            <a:pPr lvl="0" fontAlgn="base">
              <a:spcBef>
                <a:spcPct val="0"/>
              </a:spcBef>
              <a:spcAft>
                <a:spcPct val="0"/>
              </a:spcAft>
              <a:defRPr/>
            </a:pPr>
            <a:r>
              <a:rPr lang="en-US" sz="900" b="1" kern="0" dirty="0">
                <a:solidFill>
                  <a:srgbClr val="000000"/>
                </a:solidFill>
              </a:rPr>
              <a:t>}</a:t>
            </a:r>
            <a:endParaRPr lang="en-US" sz="900" b="1" kern="0" dirty="0">
              <a:solidFill>
                <a:srgbClr val="000000"/>
              </a:solidFill>
              <a:latin typeface="Arial"/>
            </a:endParaRPr>
          </a:p>
        </p:txBody>
      </p:sp>
    </p:spTree>
    <p:extLst>
      <p:ext uri="{BB962C8B-B14F-4D97-AF65-F5344CB8AC3E}">
        <p14:creationId xmlns:p14="http://schemas.microsoft.com/office/powerpoint/2010/main" val="1412771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trike="sngStrike" dirty="0"/>
              <a:t>Multi-Access Pointers: Use Volatile!!!</a:t>
            </a:r>
          </a:p>
        </p:txBody>
      </p:sp>
      <p:sp>
        <p:nvSpPr>
          <p:cNvPr id="4" name="Content Placeholder 3"/>
          <p:cNvSpPr>
            <a:spLocks noGrp="1"/>
          </p:cNvSpPr>
          <p:nvPr>
            <p:ph idx="1"/>
          </p:nvPr>
        </p:nvSpPr>
        <p:spPr/>
        <p:txBody>
          <a:bodyPr>
            <a:normAutofit/>
          </a:bodyPr>
          <a:lstStyle/>
          <a:p>
            <a:r>
              <a:rPr lang="en-US" dirty="0"/>
              <a:t>Without Volatile</a:t>
            </a:r>
          </a:p>
          <a:p>
            <a:endParaRPr lang="en-US" dirty="0"/>
          </a:p>
          <a:p>
            <a:endParaRPr lang="en-US" dirty="0"/>
          </a:p>
          <a:p>
            <a:endParaRPr lang="en-US" dirty="0"/>
          </a:p>
          <a:p>
            <a:pPr>
              <a:buNone/>
            </a:pPr>
            <a:endParaRPr lang="en-US" dirty="0"/>
          </a:p>
          <a:p>
            <a:r>
              <a:rPr lang="en-US" sz="2000" dirty="0"/>
              <a:t>C compilers will optimize to 1 read </a:t>
            </a:r>
            <a:br>
              <a:rPr lang="en-US" sz="2000" dirty="0"/>
            </a:br>
            <a:r>
              <a:rPr lang="en-US" sz="2000" dirty="0"/>
              <a:t>and 1 write</a:t>
            </a:r>
          </a:p>
          <a:p>
            <a:r>
              <a:rPr lang="en-US" sz="2000" dirty="0" err="1"/>
              <a:t>Vivado</a:t>
            </a:r>
            <a:r>
              <a:rPr lang="en-US" sz="2000" dirty="0"/>
              <a:t> HLS will create a design with 1 read </a:t>
            </a:r>
            <a:br>
              <a:rPr lang="en-US" sz="2000" dirty="0"/>
            </a:br>
            <a:r>
              <a:rPr lang="en-US" sz="2000" dirty="0"/>
              <a:t>and 1 write</a:t>
            </a:r>
          </a:p>
        </p:txBody>
      </p:sp>
      <p:sp>
        <p:nvSpPr>
          <p:cNvPr id="10" name="Slide Number Placeholder 9"/>
          <p:cNvSpPr>
            <a:spLocks noGrp="1"/>
          </p:cNvSpPr>
          <p:nvPr>
            <p:ph type="sldNum" sz="quarter" idx="10"/>
          </p:nvPr>
        </p:nvSpPr>
        <p:spPr/>
        <p:txBody>
          <a:bodyPr/>
          <a:lstStyle/>
          <a:p>
            <a:pPr defTabSz="914400">
              <a:defRPr/>
            </a:pPr>
            <a:r>
              <a:rPr lang="en-US" dirty="0">
                <a:solidFill>
                  <a:srgbClr val="0C0C0C">
                    <a:tint val="75000"/>
                  </a:srgbClr>
                </a:solidFill>
                <a:latin typeface="Arial"/>
              </a:rPr>
              <a:t>Coding Considerations 23- </a:t>
            </a:r>
            <a:fld id="{99D29FBF-A473-46DA-BC14-675AC1C8F9A5}" type="slidenum">
              <a:rPr lang="en-US">
                <a:solidFill>
                  <a:srgbClr val="0C0C0C">
                    <a:tint val="75000"/>
                  </a:srgbClr>
                </a:solidFill>
                <a:latin typeface="Arial"/>
              </a:rPr>
              <a:pPr defTabSz="914400">
                <a:defRPr/>
              </a:pPr>
              <a:t>48</a:t>
            </a:fld>
            <a:endParaRPr lang="en-US" dirty="0">
              <a:solidFill>
                <a:srgbClr val="0C0C0C">
                  <a:tint val="75000"/>
                </a:srgbClr>
              </a:solidFill>
              <a:latin typeface="Arial"/>
            </a:endParaRPr>
          </a:p>
        </p:txBody>
      </p:sp>
      <p:sp>
        <p:nvSpPr>
          <p:cNvPr id="6" name="Content Placeholder 5"/>
          <p:cNvSpPr>
            <a:spLocks noGrp="1"/>
          </p:cNvSpPr>
          <p:nvPr>
            <p:ph sz="half" idx="4294967295"/>
          </p:nvPr>
        </p:nvSpPr>
        <p:spPr>
          <a:xfrm>
            <a:off x="7010401" y="1463676"/>
            <a:ext cx="5180012" cy="4835525"/>
          </a:xfrm>
          <a:prstGeom prst="rect">
            <a:avLst/>
          </a:prstGeom>
        </p:spPr>
        <p:txBody>
          <a:bodyPr>
            <a:normAutofit/>
          </a:bodyPr>
          <a:lstStyle/>
          <a:p>
            <a:r>
              <a:rPr lang="en-US" dirty="0"/>
              <a:t>With Volatile</a:t>
            </a:r>
          </a:p>
          <a:p>
            <a:endParaRPr lang="en-US" dirty="0"/>
          </a:p>
          <a:p>
            <a:endParaRPr lang="en-US" dirty="0"/>
          </a:p>
          <a:p>
            <a:endParaRPr lang="en-US" dirty="0"/>
          </a:p>
          <a:p>
            <a:pPr>
              <a:buNone/>
            </a:pPr>
            <a:endParaRPr lang="en-US" dirty="0"/>
          </a:p>
          <a:p>
            <a:r>
              <a:rPr lang="en-US" dirty="0"/>
              <a:t>C Compilers will not optimize the IO accesses</a:t>
            </a:r>
          </a:p>
          <a:p>
            <a:pPr lvl="1"/>
            <a:r>
              <a:rPr lang="en-US" dirty="0"/>
              <a:t>Will assume the pointer value may change outside the scope of the function &amp; leave the accesses</a:t>
            </a:r>
          </a:p>
          <a:p>
            <a:r>
              <a:rPr lang="en-US" dirty="0" err="1"/>
              <a:t>Vivado</a:t>
            </a:r>
            <a:r>
              <a:rPr lang="en-US" dirty="0"/>
              <a:t> HLS will create a design with 4 reads and 2 write</a:t>
            </a:r>
          </a:p>
        </p:txBody>
      </p:sp>
      <p:sp>
        <p:nvSpPr>
          <p:cNvPr id="9" name="TextBox 8"/>
          <p:cNvSpPr txBox="1"/>
          <p:nvPr/>
        </p:nvSpPr>
        <p:spPr>
          <a:xfrm>
            <a:off x="771894" y="5283642"/>
            <a:ext cx="5324106" cy="523220"/>
          </a:xfrm>
          <a:prstGeom prst="rect">
            <a:avLst/>
          </a:prstGeom>
          <a:solidFill>
            <a:srgbClr val="FFFF99"/>
          </a:solidFill>
          <a:ln>
            <a:solidFill>
              <a:schemeClr val="tx1"/>
            </a:solidFill>
          </a:ln>
          <a:effectLst>
            <a:innerShdw blurRad="63500" dist="50800" dir="2700000">
              <a:prstClr val="black">
                <a:alpha val="50000"/>
              </a:prstClr>
            </a:innerShdw>
          </a:effectLst>
        </p:spPr>
        <p:txBody>
          <a:bodyPr wrap="square" rtlCol="0">
            <a:spAutoFit/>
          </a:bodyPr>
          <a:lstStyle/>
          <a:p>
            <a:pPr algn="ctr" defTabSz="914400"/>
            <a:r>
              <a:rPr lang="en-US" sz="1400" b="1" dirty="0">
                <a:solidFill>
                  <a:srgbClr val="0C0C0C"/>
                </a:solidFill>
                <a:latin typeface="Arial"/>
              </a:rPr>
              <a:t>To complicate matters, if the IF condition is complex, </a:t>
            </a:r>
            <a:r>
              <a:rPr lang="en-US" sz="1400" b="1" dirty="0" err="1">
                <a:solidFill>
                  <a:srgbClr val="0C0C0C"/>
                </a:solidFill>
                <a:latin typeface="Arial"/>
              </a:rPr>
              <a:t>Vivado</a:t>
            </a:r>
            <a:r>
              <a:rPr lang="en-US" sz="1400" b="1" dirty="0">
                <a:solidFill>
                  <a:srgbClr val="0C0C0C"/>
                </a:solidFill>
                <a:latin typeface="Arial"/>
              </a:rPr>
              <a:t> HLS may not be able to optimize the accesses into 1</a:t>
            </a:r>
          </a:p>
        </p:txBody>
      </p:sp>
      <p:sp>
        <p:nvSpPr>
          <p:cNvPr id="11" name="TextBox 10">
            <a:extLst>
              <a:ext uri="{FF2B5EF4-FFF2-40B4-BE49-F238E27FC236}">
                <a16:creationId xmlns:a16="http://schemas.microsoft.com/office/drawing/2014/main" id="{F3E7C923-647F-4151-8C17-F978777AF1CE}"/>
              </a:ext>
            </a:extLst>
          </p:cNvPr>
          <p:cNvSpPr txBox="1"/>
          <p:nvPr/>
        </p:nvSpPr>
        <p:spPr>
          <a:xfrm>
            <a:off x="886195" y="1980787"/>
            <a:ext cx="2457280" cy="1615827"/>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defRPr/>
            </a:pPr>
            <a:r>
              <a:rPr lang="en-US" sz="900" b="1" kern="0" dirty="0">
                <a:solidFill>
                  <a:srgbClr val="000000"/>
                </a:solidFill>
                <a:latin typeface="Arial"/>
              </a:rPr>
              <a:t>void </a:t>
            </a:r>
            <a:r>
              <a:rPr lang="en-US" sz="900" b="1" kern="0" dirty="0" err="1">
                <a:solidFill>
                  <a:srgbClr val="000000"/>
                </a:solidFill>
                <a:latin typeface="Arial"/>
              </a:rPr>
              <a:t>fifo</a:t>
            </a:r>
            <a:r>
              <a:rPr lang="en-US" sz="900" b="1" kern="0" dirty="0">
                <a:solidFill>
                  <a:srgbClr val="000000"/>
                </a:solidFill>
                <a:latin typeface="Arial"/>
              </a:rPr>
              <a:t> (int *</a:t>
            </a:r>
            <a:r>
              <a:rPr lang="en-US" sz="900" b="1" kern="0" dirty="0" err="1">
                <a:solidFill>
                  <a:srgbClr val="000000"/>
                </a:solidFill>
                <a:latin typeface="Arial"/>
              </a:rPr>
              <a:t>d_o</a:t>
            </a:r>
            <a:r>
              <a:rPr lang="en-US" sz="900" b="1" kern="0" dirty="0">
                <a:solidFill>
                  <a:srgbClr val="000000"/>
                </a:solidFill>
                <a:latin typeface="Arial"/>
              </a:rPr>
              <a:t>, </a:t>
            </a:r>
            <a:br>
              <a:rPr lang="en-US" sz="900" b="1" kern="0" dirty="0">
                <a:solidFill>
                  <a:srgbClr val="000000"/>
                </a:solidFill>
                <a:latin typeface="Arial"/>
              </a:rPr>
            </a:br>
            <a:r>
              <a:rPr lang="en-US" sz="900" b="1" kern="0" dirty="0">
                <a:solidFill>
                  <a:srgbClr val="000000"/>
                </a:solidFill>
                <a:latin typeface="Arial"/>
              </a:rPr>
              <a:t>                int *</a:t>
            </a:r>
            <a:r>
              <a:rPr lang="en-US" sz="900" b="1" kern="0" dirty="0" err="1">
                <a:solidFill>
                  <a:srgbClr val="000000"/>
                </a:solidFill>
                <a:latin typeface="Arial"/>
              </a:rPr>
              <a:t>d_i</a:t>
            </a:r>
            <a:r>
              <a:rPr lang="en-US" sz="900" b="1" kern="0" dirty="0">
                <a:solidFill>
                  <a:srgbClr val="000000"/>
                </a:solidFill>
                <a:latin typeface="Arial"/>
              </a:rPr>
              <a:t>) {</a:t>
            </a:r>
          </a:p>
          <a:p>
            <a:pPr defTabSz="914400" fontAlgn="base">
              <a:spcBef>
                <a:spcPct val="0"/>
              </a:spcBef>
              <a:spcAft>
                <a:spcPct val="0"/>
              </a:spcAft>
              <a:defRPr/>
            </a:pPr>
            <a:r>
              <a:rPr lang="en-US" sz="900" b="1" kern="0" dirty="0">
                <a:solidFill>
                  <a:srgbClr val="000000"/>
                </a:solidFill>
                <a:latin typeface="Arial"/>
              </a:rPr>
              <a:t>  static </a:t>
            </a:r>
            <a:r>
              <a:rPr lang="en-US" sz="900" b="1" kern="0" dirty="0" err="1">
                <a:solidFill>
                  <a:srgbClr val="000000"/>
                </a:solidFill>
                <a:latin typeface="Arial"/>
              </a:rPr>
              <a:t>int</a:t>
            </a:r>
            <a:r>
              <a:rPr lang="en-US" sz="900" b="1" kern="0" dirty="0">
                <a:solidFill>
                  <a:srgbClr val="000000"/>
                </a:solidFill>
                <a:latin typeface="Arial"/>
              </a:rPr>
              <a:t> acc = 0;</a:t>
            </a:r>
          </a:p>
          <a:p>
            <a:pPr defTabSz="914400" fontAlgn="base">
              <a:spcBef>
                <a:spcPct val="0"/>
              </a:spcBef>
              <a:spcAft>
                <a:spcPct val="0"/>
              </a:spcAft>
              <a:defRPr/>
            </a:pPr>
            <a:r>
              <a:rPr lang="en-US" sz="900" b="1" kern="0" dirty="0">
                <a:solidFill>
                  <a:srgbClr val="000000"/>
                </a:solidFill>
                <a:latin typeface="Arial"/>
              </a:rPr>
              <a:t>  </a:t>
            </a:r>
            <a:r>
              <a:rPr lang="en-US" sz="900" b="1" kern="0" dirty="0" err="1">
                <a:solidFill>
                  <a:srgbClr val="000000"/>
                </a:solidFill>
                <a:latin typeface="Arial"/>
              </a:rPr>
              <a:t>int</a:t>
            </a:r>
            <a:r>
              <a:rPr lang="en-US" sz="900" b="1" kern="0" dirty="0">
                <a:solidFill>
                  <a:srgbClr val="000000"/>
                </a:solidFill>
                <a:latin typeface="Arial"/>
              </a:rPr>
              <a:t> </a:t>
            </a:r>
            <a:r>
              <a:rPr lang="en-US" sz="900" b="1" kern="0" dirty="0" err="1">
                <a:solidFill>
                  <a:srgbClr val="000000"/>
                </a:solidFill>
                <a:latin typeface="Arial"/>
              </a:rPr>
              <a:t>cnt</a:t>
            </a:r>
            <a:r>
              <a:rPr lang="en-US" sz="900" b="1" kern="0" dirty="0">
                <a:solidFill>
                  <a:srgbClr val="000000"/>
                </a:solidFill>
                <a:latin typeface="Arial"/>
              </a:rPr>
              <a:t>;</a:t>
            </a:r>
          </a:p>
          <a:p>
            <a:pPr defTabSz="914400" fontAlgn="base">
              <a:spcBef>
                <a:spcPct val="0"/>
              </a:spcBef>
              <a:spcAft>
                <a:spcPct val="0"/>
              </a:spcAft>
              <a:defRPr/>
            </a:pPr>
            <a:r>
              <a:rPr lang="en-US" sz="900" b="1" kern="0" dirty="0">
                <a:solidFill>
                  <a:srgbClr val="000000"/>
                </a:solidFill>
                <a:latin typeface="Arial"/>
              </a:rPr>
              <a:t>  for (</a:t>
            </a:r>
            <a:r>
              <a:rPr lang="en-US" sz="900" b="1" kern="0" dirty="0" err="1">
                <a:solidFill>
                  <a:srgbClr val="000000"/>
                </a:solidFill>
                <a:latin typeface="Arial"/>
              </a:rPr>
              <a:t>cnt</a:t>
            </a:r>
            <a:r>
              <a:rPr lang="en-US" sz="900" b="1" kern="0" dirty="0">
                <a:solidFill>
                  <a:srgbClr val="000000"/>
                </a:solidFill>
                <a:latin typeface="Arial"/>
              </a:rPr>
              <a:t>=0;cnt&lt;4;cnt++) {</a:t>
            </a:r>
          </a:p>
          <a:p>
            <a:pPr defTabSz="914400" fontAlgn="base">
              <a:spcBef>
                <a:spcPct val="0"/>
              </a:spcBef>
              <a:spcAft>
                <a:spcPct val="0"/>
              </a:spcAft>
              <a:defRPr/>
            </a:pPr>
            <a:r>
              <a:rPr lang="en-US" sz="900" b="1" kern="0" dirty="0">
                <a:solidFill>
                  <a:srgbClr val="000000"/>
                </a:solidFill>
                <a:latin typeface="Arial"/>
              </a:rPr>
              <a:t>     acc += *</a:t>
            </a:r>
            <a:r>
              <a:rPr lang="en-US" sz="900" b="1" kern="0" dirty="0" err="1">
                <a:solidFill>
                  <a:srgbClr val="000000"/>
                </a:solidFill>
                <a:latin typeface="Arial"/>
              </a:rPr>
              <a:t>d_i</a:t>
            </a:r>
            <a:r>
              <a:rPr lang="en-US" sz="900" b="1" kern="0" dirty="0">
                <a:solidFill>
                  <a:srgbClr val="000000"/>
                </a:solidFill>
                <a:latin typeface="Arial"/>
              </a:rPr>
              <a:t>;</a:t>
            </a:r>
          </a:p>
          <a:p>
            <a:pPr defTabSz="914400" fontAlgn="base">
              <a:spcBef>
                <a:spcPct val="0"/>
              </a:spcBef>
              <a:spcAft>
                <a:spcPct val="0"/>
              </a:spcAft>
              <a:defRPr/>
            </a:pPr>
            <a:r>
              <a:rPr lang="en-US" sz="900" b="1" kern="0" dirty="0">
                <a:solidFill>
                  <a:srgbClr val="000000"/>
                </a:solidFill>
                <a:latin typeface="Arial"/>
              </a:rPr>
              <a:t>     if (cnt%2==1) {</a:t>
            </a:r>
          </a:p>
          <a:p>
            <a:pPr defTabSz="914400" fontAlgn="base">
              <a:spcBef>
                <a:spcPct val="0"/>
              </a:spcBef>
              <a:spcAft>
                <a:spcPct val="0"/>
              </a:spcAft>
              <a:defRPr/>
            </a:pPr>
            <a:r>
              <a:rPr lang="en-US" sz="900" b="1" kern="0" dirty="0">
                <a:solidFill>
                  <a:srgbClr val="000000"/>
                </a:solidFill>
                <a:latin typeface="Arial"/>
              </a:rPr>
              <a:t>        *</a:t>
            </a:r>
            <a:r>
              <a:rPr lang="en-US" sz="900" b="1" kern="0" dirty="0" err="1">
                <a:solidFill>
                  <a:srgbClr val="000000"/>
                </a:solidFill>
                <a:latin typeface="Arial"/>
              </a:rPr>
              <a:t>d_o</a:t>
            </a:r>
            <a:r>
              <a:rPr lang="en-US" sz="900" b="1" kern="0" dirty="0">
                <a:solidFill>
                  <a:srgbClr val="000000"/>
                </a:solidFill>
                <a:latin typeface="Arial"/>
              </a:rPr>
              <a:t> = acc;</a:t>
            </a:r>
          </a:p>
          <a:p>
            <a:pPr defTabSz="914400" fontAlgn="base">
              <a:spcBef>
                <a:spcPct val="0"/>
              </a:spcBef>
              <a:spcAft>
                <a:spcPct val="0"/>
              </a:spcAft>
              <a:defRPr/>
            </a:pPr>
            <a:r>
              <a:rPr lang="en-US" sz="900" b="1" kern="0" dirty="0">
                <a:solidFill>
                  <a:srgbClr val="000000"/>
                </a:solidFill>
                <a:latin typeface="Arial"/>
              </a:rPr>
              <a:t>     }</a:t>
            </a:r>
          </a:p>
          <a:p>
            <a:pPr defTabSz="914400" fontAlgn="base">
              <a:spcBef>
                <a:spcPct val="0"/>
              </a:spcBef>
              <a:spcAft>
                <a:spcPct val="0"/>
              </a:spcAft>
              <a:defRPr/>
            </a:pPr>
            <a:r>
              <a:rPr lang="en-US" sz="900" b="1" kern="0" dirty="0">
                <a:solidFill>
                  <a:srgbClr val="000000"/>
                </a:solidFill>
                <a:latin typeface="Arial"/>
              </a:rPr>
              <a:t>   }</a:t>
            </a:r>
          </a:p>
          <a:p>
            <a:pPr defTabSz="914400" fontAlgn="base">
              <a:spcBef>
                <a:spcPct val="0"/>
              </a:spcBef>
              <a:spcAft>
                <a:spcPct val="0"/>
              </a:spcAft>
              <a:defRPr/>
            </a:pPr>
            <a:r>
              <a:rPr lang="en-US" sz="900" b="1" kern="0" dirty="0">
                <a:solidFill>
                  <a:srgbClr val="000000"/>
                </a:solidFill>
                <a:latin typeface="Arial"/>
              </a:rPr>
              <a:t>}</a:t>
            </a:r>
          </a:p>
        </p:txBody>
      </p:sp>
      <p:sp>
        <p:nvSpPr>
          <p:cNvPr id="12" name="TextBox 11">
            <a:extLst>
              <a:ext uri="{FF2B5EF4-FFF2-40B4-BE49-F238E27FC236}">
                <a16:creationId xmlns:a16="http://schemas.microsoft.com/office/drawing/2014/main" id="{C03D9B48-AAA5-4A85-8136-056AFF4A1FC0}"/>
              </a:ext>
            </a:extLst>
          </p:cNvPr>
          <p:cNvSpPr txBox="1"/>
          <p:nvPr/>
        </p:nvSpPr>
        <p:spPr>
          <a:xfrm>
            <a:off x="6757974" y="1981092"/>
            <a:ext cx="2303700" cy="1615827"/>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defRPr/>
            </a:pPr>
            <a:r>
              <a:rPr lang="en-US" sz="900" b="1" kern="0" dirty="0">
                <a:solidFill>
                  <a:srgbClr val="000000"/>
                </a:solidFill>
                <a:latin typeface="Arial"/>
              </a:rPr>
              <a:t>void </a:t>
            </a:r>
            <a:r>
              <a:rPr lang="en-US" sz="900" b="1" kern="0" dirty="0" err="1">
                <a:solidFill>
                  <a:srgbClr val="000000"/>
                </a:solidFill>
                <a:latin typeface="Arial"/>
              </a:rPr>
              <a:t>fifo</a:t>
            </a:r>
            <a:r>
              <a:rPr lang="en-US" sz="900" b="1" kern="0" dirty="0">
                <a:solidFill>
                  <a:srgbClr val="000000"/>
                </a:solidFill>
                <a:latin typeface="Arial"/>
              </a:rPr>
              <a:t> (</a:t>
            </a:r>
            <a:r>
              <a:rPr lang="en-US" sz="900" b="1" kern="0" dirty="0">
                <a:solidFill>
                  <a:srgbClr val="000000"/>
                </a:solidFill>
                <a:latin typeface="Arial Black" pitchFamily="34" charset="0"/>
              </a:rPr>
              <a:t>volatile</a:t>
            </a:r>
            <a:r>
              <a:rPr lang="en-US" sz="900" b="1" kern="0" dirty="0">
                <a:solidFill>
                  <a:srgbClr val="000000"/>
                </a:solidFill>
                <a:latin typeface="Arial"/>
              </a:rPr>
              <a:t> int *</a:t>
            </a:r>
            <a:r>
              <a:rPr lang="en-US" sz="900" b="1" kern="0" dirty="0" err="1">
                <a:solidFill>
                  <a:srgbClr val="000000"/>
                </a:solidFill>
                <a:latin typeface="Arial"/>
              </a:rPr>
              <a:t>d_o</a:t>
            </a:r>
            <a:r>
              <a:rPr lang="en-US" sz="900" b="1" kern="0" dirty="0">
                <a:solidFill>
                  <a:srgbClr val="000000"/>
                </a:solidFill>
                <a:latin typeface="Arial"/>
              </a:rPr>
              <a:t>, </a:t>
            </a:r>
          </a:p>
          <a:p>
            <a:pPr defTabSz="914400" fontAlgn="base">
              <a:spcBef>
                <a:spcPct val="0"/>
              </a:spcBef>
              <a:spcAft>
                <a:spcPct val="0"/>
              </a:spcAft>
              <a:defRPr/>
            </a:pPr>
            <a:r>
              <a:rPr lang="en-US" sz="900" b="1" kern="0" dirty="0">
                <a:solidFill>
                  <a:srgbClr val="000000"/>
                </a:solidFill>
                <a:latin typeface="Arial Black" pitchFamily="34" charset="0"/>
              </a:rPr>
              <a:t>             volatile</a:t>
            </a:r>
            <a:r>
              <a:rPr lang="en-US" sz="900" b="1" kern="0" dirty="0">
                <a:solidFill>
                  <a:srgbClr val="000000"/>
                </a:solidFill>
                <a:latin typeface="Arial"/>
              </a:rPr>
              <a:t> int *</a:t>
            </a:r>
            <a:r>
              <a:rPr lang="en-US" sz="900" b="1" kern="0" dirty="0" err="1">
                <a:solidFill>
                  <a:srgbClr val="000000"/>
                </a:solidFill>
                <a:latin typeface="Arial"/>
              </a:rPr>
              <a:t>d_i</a:t>
            </a:r>
            <a:r>
              <a:rPr lang="en-US" sz="900" b="1" kern="0" dirty="0">
                <a:solidFill>
                  <a:srgbClr val="000000"/>
                </a:solidFill>
                <a:latin typeface="Arial"/>
              </a:rPr>
              <a:t>) {</a:t>
            </a:r>
          </a:p>
          <a:p>
            <a:pPr defTabSz="914400" fontAlgn="base">
              <a:spcBef>
                <a:spcPct val="0"/>
              </a:spcBef>
              <a:spcAft>
                <a:spcPct val="0"/>
              </a:spcAft>
              <a:defRPr/>
            </a:pPr>
            <a:r>
              <a:rPr lang="en-US" sz="900" b="1" kern="0" dirty="0">
                <a:solidFill>
                  <a:srgbClr val="000000"/>
                </a:solidFill>
                <a:latin typeface="Arial"/>
              </a:rPr>
              <a:t>  static </a:t>
            </a:r>
            <a:r>
              <a:rPr lang="en-US" sz="900" b="1" kern="0" dirty="0" err="1">
                <a:solidFill>
                  <a:srgbClr val="000000"/>
                </a:solidFill>
                <a:latin typeface="Arial"/>
              </a:rPr>
              <a:t>int</a:t>
            </a:r>
            <a:r>
              <a:rPr lang="en-US" sz="900" b="1" kern="0" dirty="0">
                <a:solidFill>
                  <a:srgbClr val="000000"/>
                </a:solidFill>
                <a:latin typeface="Arial"/>
              </a:rPr>
              <a:t> acc = 0;</a:t>
            </a:r>
          </a:p>
          <a:p>
            <a:pPr defTabSz="914400" fontAlgn="base">
              <a:spcBef>
                <a:spcPct val="0"/>
              </a:spcBef>
              <a:spcAft>
                <a:spcPct val="0"/>
              </a:spcAft>
              <a:defRPr/>
            </a:pPr>
            <a:r>
              <a:rPr lang="en-US" sz="900" b="1" kern="0" dirty="0">
                <a:solidFill>
                  <a:srgbClr val="000000"/>
                </a:solidFill>
                <a:latin typeface="Arial"/>
              </a:rPr>
              <a:t>  </a:t>
            </a:r>
            <a:r>
              <a:rPr lang="en-US" sz="900" b="1" kern="0" dirty="0" err="1">
                <a:solidFill>
                  <a:srgbClr val="000000"/>
                </a:solidFill>
                <a:latin typeface="Arial"/>
              </a:rPr>
              <a:t>int</a:t>
            </a:r>
            <a:r>
              <a:rPr lang="en-US" sz="900" b="1" kern="0" dirty="0">
                <a:solidFill>
                  <a:srgbClr val="000000"/>
                </a:solidFill>
                <a:latin typeface="Arial"/>
              </a:rPr>
              <a:t> </a:t>
            </a:r>
            <a:r>
              <a:rPr lang="en-US" sz="900" b="1" kern="0" dirty="0" err="1">
                <a:solidFill>
                  <a:srgbClr val="000000"/>
                </a:solidFill>
                <a:latin typeface="Arial"/>
              </a:rPr>
              <a:t>cnt</a:t>
            </a:r>
            <a:r>
              <a:rPr lang="en-US" sz="900" b="1" kern="0" dirty="0">
                <a:solidFill>
                  <a:srgbClr val="000000"/>
                </a:solidFill>
                <a:latin typeface="Arial"/>
              </a:rPr>
              <a:t>;</a:t>
            </a:r>
          </a:p>
          <a:p>
            <a:pPr defTabSz="914400" fontAlgn="base">
              <a:spcBef>
                <a:spcPct val="0"/>
              </a:spcBef>
              <a:spcAft>
                <a:spcPct val="0"/>
              </a:spcAft>
              <a:defRPr/>
            </a:pPr>
            <a:r>
              <a:rPr lang="en-US" sz="900" b="1" kern="0" dirty="0">
                <a:solidFill>
                  <a:srgbClr val="000000"/>
                </a:solidFill>
                <a:latin typeface="Arial"/>
              </a:rPr>
              <a:t>  for (</a:t>
            </a:r>
            <a:r>
              <a:rPr lang="en-US" sz="900" b="1" kern="0" dirty="0" err="1">
                <a:solidFill>
                  <a:srgbClr val="000000"/>
                </a:solidFill>
                <a:latin typeface="Arial"/>
              </a:rPr>
              <a:t>cnt</a:t>
            </a:r>
            <a:r>
              <a:rPr lang="en-US" sz="900" b="1" kern="0" dirty="0">
                <a:solidFill>
                  <a:srgbClr val="000000"/>
                </a:solidFill>
                <a:latin typeface="Arial"/>
              </a:rPr>
              <a:t>=0;cnt&lt;4;cnt++) {</a:t>
            </a:r>
          </a:p>
          <a:p>
            <a:pPr defTabSz="914400" fontAlgn="base">
              <a:spcBef>
                <a:spcPct val="0"/>
              </a:spcBef>
              <a:spcAft>
                <a:spcPct val="0"/>
              </a:spcAft>
              <a:defRPr/>
            </a:pPr>
            <a:r>
              <a:rPr lang="en-US" sz="900" b="1" kern="0" dirty="0">
                <a:solidFill>
                  <a:srgbClr val="000000"/>
                </a:solidFill>
                <a:latin typeface="Arial"/>
              </a:rPr>
              <a:t>     acc += *</a:t>
            </a:r>
            <a:r>
              <a:rPr lang="en-US" sz="900" b="1" kern="0" dirty="0" err="1">
                <a:solidFill>
                  <a:srgbClr val="000000"/>
                </a:solidFill>
                <a:latin typeface="Arial"/>
              </a:rPr>
              <a:t>d_i</a:t>
            </a:r>
            <a:r>
              <a:rPr lang="en-US" sz="900" b="1" kern="0" dirty="0">
                <a:solidFill>
                  <a:srgbClr val="000000"/>
                </a:solidFill>
                <a:latin typeface="Arial"/>
              </a:rPr>
              <a:t>;</a:t>
            </a:r>
          </a:p>
          <a:p>
            <a:pPr defTabSz="914400" fontAlgn="base">
              <a:spcBef>
                <a:spcPct val="0"/>
              </a:spcBef>
              <a:spcAft>
                <a:spcPct val="0"/>
              </a:spcAft>
              <a:defRPr/>
            </a:pPr>
            <a:r>
              <a:rPr lang="en-US" sz="900" b="1" kern="0" dirty="0">
                <a:solidFill>
                  <a:srgbClr val="000000"/>
                </a:solidFill>
                <a:latin typeface="Arial"/>
              </a:rPr>
              <a:t>     if (cnt%2==1) {</a:t>
            </a:r>
          </a:p>
          <a:p>
            <a:pPr defTabSz="914400" fontAlgn="base">
              <a:spcBef>
                <a:spcPct val="0"/>
              </a:spcBef>
              <a:spcAft>
                <a:spcPct val="0"/>
              </a:spcAft>
              <a:defRPr/>
            </a:pPr>
            <a:r>
              <a:rPr lang="en-US" sz="900" b="1" kern="0" dirty="0">
                <a:solidFill>
                  <a:srgbClr val="000000"/>
                </a:solidFill>
                <a:latin typeface="Arial"/>
              </a:rPr>
              <a:t>        *</a:t>
            </a:r>
            <a:r>
              <a:rPr lang="en-US" sz="900" b="1" kern="0" dirty="0" err="1">
                <a:solidFill>
                  <a:srgbClr val="000000"/>
                </a:solidFill>
                <a:latin typeface="Arial"/>
              </a:rPr>
              <a:t>d_o</a:t>
            </a:r>
            <a:r>
              <a:rPr lang="en-US" sz="900" b="1" kern="0" dirty="0">
                <a:solidFill>
                  <a:srgbClr val="000000"/>
                </a:solidFill>
                <a:latin typeface="Arial"/>
              </a:rPr>
              <a:t> = acc;</a:t>
            </a:r>
          </a:p>
          <a:p>
            <a:pPr defTabSz="914400" fontAlgn="base">
              <a:spcBef>
                <a:spcPct val="0"/>
              </a:spcBef>
              <a:spcAft>
                <a:spcPct val="0"/>
              </a:spcAft>
              <a:defRPr/>
            </a:pPr>
            <a:r>
              <a:rPr lang="en-US" sz="900" b="1" kern="0" dirty="0">
                <a:solidFill>
                  <a:srgbClr val="000000"/>
                </a:solidFill>
                <a:latin typeface="Arial"/>
              </a:rPr>
              <a:t>     }</a:t>
            </a:r>
          </a:p>
          <a:p>
            <a:pPr defTabSz="914400" fontAlgn="base">
              <a:spcBef>
                <a:spcPct val="0"/>
              </a:spcBef>
              <a:spcAft>
                <a:spcPct val="0"/>
              </a:spcAft>
              <a:defRPr/>
            </a:pPr>
            <a:r>
              <a:rPr lang="en-US" sz="900" b="1" kern="0" dirty="0">
                <a:solidFill>
                  <a:srgbClr val="000000"/>
                </a:solidFill>
                <a:latin typeface="Arial"/>
              </a:rPr>
              <a:t>   }</a:t>
            </a:r>
          </a:p>
          <a:p>
            <a:pPr defTabSz="914400" fontAlgn="base">
              <a:spcBef>
                <a:spcPct val="0"/>
              </a:spcBef>
              <a:spcAft>
                <a:spcPct val="0"/>
              </a:spcAft>
              <a:defRPr/>
            </a:pPr>
            <a:r>
              <a:rPr lang="en-US" sz="900" b="1" kern="0" dirty="0">
                <a:solidFill>
                  <a:srgbClr val="000000"/>
                </a:solidFill>
                <a:latin typeface="Arial"/>
              </a:rPr>
              <a:t>}</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Multi-Access Pointers: Use Volatile!!!</a:t>
            </a:r>
          </a:p>
        </p:txBody>
      </p:sp>
      <p:sp>
        <p:nvSpPr>
          <p:cNvPr id="4" name="Content Placeholder 3"/>
          <p:cNvSpPr>
            <a:spLocks noGrp="1"/>
          </p:cNvSpPr>
          <p:nvPr>
            <p:ph idx="1"/>
          </p:nvPr>
        </p:nvSpPr>
        <p:spPr/>
        <p:txBody>
          <a:bodyPr>
            <a:normAutofit/>
          </a:bodyPr>
          <a:lstStyle/>
          <a:p>
            <a:r>
              <a:rPr lang="en-US" dirty="0"/>
              <a:t>Without Volatile</a:t>
            </a:r>
          </a:p>
          <a:p>
            <a:endParaRPr lang="en-US" dirty="0"/>
          </a:p>
          <a:p>
            <a:endParaRPr lang="en-US" dirty="0"/>
          </a:p>
          <a:p>
            <a:endParaRPr lang="en-US" dirty="0"/>
          </a:p>
          <a:p>
            <a:pPr>
              <a:buNone/>
            </a:pPr>
            <a:endParaRPr lang="en-US" dirty="0"/>
          </a:p>
          <a:p>
            <a:r>
              <a:rPr lang="en-US" sz="2000" dirty="0"/>
              <a:t>C compilers will optimize to 1 read </a:t>
            </a:r>
            <a:br>
              <a:rPr lang="en-US" sz="2000" dirty="0"/>
            </a:br>
            <a:r>
              <a:rPr lang="en-US" sz="2000" dirty="0"/>
              <a:t>and 1 write</a:t>
            </a:r>
          </a:p>
          <a:p>
            <a:r>
              <a:rPr lang="en-US" sz="2000" dirty="0" err="1">
                <a:highlight>
                  <a:srgbClr val="FFFF00"/>
                </a:highlight>
              </a:rPr>
              <a:t>Vi</a:t>
            </a:r>
            <a:r>
              <a:rPr lang="en-US" altLang="zh-CN" sz="2000" dirty="0" err="1">
                <a:highlight>
                  <a:srgbClr val="FFFF00"/>
                </a:highlight>
              </a:rPr>
              <a:t>tis</a:t>
            </a:r>
            <a:r>
              <a:rPr lang="en-US" sz="2000" dirty="0"/>
              <a:t> HLS will create a design with 1 read </a:t>
            </a:r>
            <a:br>
              <a:rPr lang="en-US" sz="2000" dirty="0"/>
            </a:br>
            <a:r>
              <a:rPr lang="en-US" sz="2000" dirty="0"/>
              <a:t>and 1 write</a:t>
            </a:r>
          </a:p>
        </p:txBody>
      </p:sp>
      <p:sp>
        <p:nvSpPr>
          <p:cNvPr id="10" name="Slide Number Placeholder 9"/>
          <p:cNvSpPr>
            <a:spLocks noGrp="1"/>
          </p:cNvSpPr>
          <p:nvPr>
            <p:ph type="sldNum" sz="quarter" idx="10"/>
          </p:nvPr>
        </p:nvSpPr>
        <p:spPr/>
        <p:txBody>
          <a:bodyPr/>
          <a:lstStyle/>
          <a:p>
            <a:pPr defTabSz="914400">
              <a:defRPr/>
            </a:pPr>
            <a:r>
              <a:rPr lang="en-US" dirty="0">
                <a:solidFill>
                  <a:srgbClr val="0C0C0C">
                    <a:tint val="75000"/>
                  </a:srgbClr>
                </a:solidFill>
                <a:latin typeface="Arial"/>
              </a:rPr>
              <a:t>Coding Considerations 23- </a:t>
            </a:r>
            <a:fld id="{99D29FBF-A473-46DA-BC14-675AC1C8F9A5}" type="slidenum">
              <a:rPr lang="en-US">
                <a:solidFill>
                  <a:srgbClr val="0C0C0C">
                    <a:tint val="75000"/>
                  </a:srgbClr>
                </a:solidFill>
                <a:latin typeface="Arial"/>
              </a:rPr>
              <a:pPr defTabSz="914400">
                <a:defRPr/>
              </a:pPr>
              <a:t>49</a:t>
            </a:fld>
            <a:endParaRPr lang="en-US" dirty="0">
              <a:solidFill>
                <a:srgbClr val="0C0C0C">
                  <a:tint val="75000"/>
                </a:srgbClr>
              </a:solidFill>
              <a:latin typeface="Arial"/>
            </a:endParaRPr>
          </a:p>
        </p:txBody>
      </p:sp>
      <p:sp>
        <p:nvSpPr>
          <p:cNvPr id="6" name="Content Placeholder 5"/>
          <p:cNvSpPr>
            <a:spLocks noGrp="1"/>
          </p:cNvSpPr>
          <p:nvPr>
            <p:ph sz="half" idx="4294967295"/>
          </p:nvPr>
        </p:nvSpPr>
        <p:spPr>
          <a:xfrm>
            <a:off x="7010401" y="1463676"/>
            <a:ext cx="5180012" cy="4835525"/>
          </a:xfrm>
          <a:prstGeom prst="rect">
            <a:avLst/>
          </a:prstGeom>
        </p:spPr>
        <p:txBody>
          <a:bodyPr>
            <a:normAutofit/>
          </a:bodyPr>
          <a:lstStyle/>
          <a:p>
            <a:r>
              <a:rPr lang="en-US" dirty="0"/>
              <a:t>With Volatile</a:t>
            </a:r>
          </a:p>
          <a:p>
            <a:endParaRPr lang="en-US" dirty="0"/>
          </a:p>
          <a:p>
            <a:endParaRPr lang="en-US" dirty="0"/>
          </a:p>
          <a:p>
            <a:endParaRPr lang="en-US" dirty="0"/>
          </a:p>
          <a:p>
            <a:pPr>
              <a:buNone/>
            </a:pPr>
            <a:endParaRPr lang="en-US" dirty="0"/>
          </a:p>
          <a:p>
            <a:r>
              <a:rPr lang="en-US" dirty="0"/>
              <a:t>C Compilers will not optimize the IO accesses</a:t>
            </a:r>
          </a:p>
          <a:p>
            <a:pPr lvl="1"/>
            <a:r>
              <a:rPr lang="en-US" dirty="0"/>
              <a:t>Will assume the pointer value may change outside the scope of the function &amp; leave the accesses</a:t>
            </a:r>
          </a:p>
          <a:p>
            <a:r>
              <a:rPr lang="en-US" dirty="0" err="1">
                <a:highlight>
                  <a:srgbClr val="FFFF00"/>
                </a:highlight>
              </a:rPr>
              <a:t>Vitis</a:t>
            </a:r>
            <a:r>
              <a:rPr lang="en-US" dirty="0"/>
              <a:t> HLS will create a design with 4 reads and 2 write</a:t>
            </a:r>
          </a:p>
        </p:txBody>
      </p:sp>
      <p:sp>
        <p:nvSpPr>
          <p:cNvPr id="9" name="TextBox 8"/>
          <p:cNvSpPr txBox="1"/>
          <p:nvPr/>
        </p:nvSpPr>
        <p:spPr>
          <a:xfrm>
            <a:off x="771894" y="5283642"/>
            <a:ext cx="5324106" cy="523220"/>
          </a:xfrm>
          <a:prstGeom prst="rect">
            <a:avLst/>
          </a:prstGeom>
          <a:solidFill>
            <a:srgbClr val="FFFF99"/>
          </a:solidFill>
          <a:ln>
            <a:solidFill>
              <a:schemeClr val="tx1"/>
            </a:solidFill>
          </a:ln>
          <a:effectLst>
            <a:innerShdw blurRad="63500" dist="50800" dir="2700000">
              <a:prstClr val="black">
                <a:alpha val="50000"/>
              </a:prstClr>
            </a:innerShdw>
          </a:effectLst>
        </p:spPr>
        <p:txBody>
          <a:bodyPr wrap="square" rtlCol="0">
            <a:spAutoFit/>
          </a:bodyPr>
          <a:lstStyle/>
          <a:p>
            <a:pPr algn="ctr" defTabSz="914400"/>
            <a:r>
              <a:rPr lang="en-US" sz="1400" b="1" dirty="0">
                <a:solidFill>
                  <a:srgbClr val="0C0C0C"/>
                </a:solidFill>
                <a:latin typeface="Arial"/>
              </a:rPr>
              <a:t>To complicate matters, if the IF condition is complex, </a:t>
            </a:r>
            <a:r>
              <a:rPr lang="en-US" sz="1400" b="1" dirty="0" err="1">
                <a:solidFill>
                  <a:srgbClr val="FF0000"/>
                </a:solidFill>
                <a:latin typeface="Arial"/>
              </a:rPr>
              <a:t>Vitis</a:t>
            </a:r>
            <a:r>
              <a:rPr lang="en-US" sz="1400" b="1" dirty="0">
                <a:solidFill>
                  <a:srgbClr val="0C0C0C"/>
                </a:solidFill>
                <a:latin typeface="Arial"/>
              </a:rPr>
              <a:t> HLS may not be able to optimize the accesses into 1</a:t>
            </a:r>
          </a:p>
        </p:txBody>
      </p:sp>
      <p:sp>
        <p:nvSpPr>
          <p:cNvPr id="11" name="TextBox 10">
            <a:extLst>
              <a:ext uri="{FF2B5EF4-FFF2-40B4-BE49-F238E27FC236}">
                <a16:creationId xmlns:a16="http://schemas.microsoft.com/office/drawing/2014/main" id="{F3E7C923-647F-4151-8C17-F978777AF1CE}"/>
              </a:ext>
            </a:extLst>
          </p:cNvPr>
          <p:cNvSpPr txBox="1"/>
          <p:nvPr/>
        </p:nvSpPr>
        <p:spPr>
          <a:xfrm>
            <a:off x="931246" y="1978057"/>
            <a:ext cx="2457280" cy="1615827"/>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defRPr/>
            </a:pPr>
            <a:r>
              <a:rPr lang="en-US" sz="900" b="1" kern="0" dirty="0">
                <a:solidFill>
                  <a:srgbClr val="000000"/>
                </a:solidFill>
                <a:highlight>
                  <a:srgbClr val="FFFF00"/>
                </a:highlight>
                <a:latin typeface="Arial"/>
              </a:rPr>
              <a:t>void </a:t>
            </a:r>
            <a:r>
              <a:rPr lang="en-US" sz="900" b="1" kern="0" dirty="0" err="1">
                <a:solidFill>
                  <a:srgbClr val="000000"/>
                </a:solidFill>
                <a:highlight>
                  <a:srgbClr val="FFFF00"/>
                </a:highlight>
                <a:latin typeface="Arial"/>
              </a:rPr>
              <a:t>pointer_stream_bad</a:t>
            </a:r>
            <a:r>
              <a:rPr lang="en-US" sz="900" b="1" kern="0" dirty="0">
                <a:solidFill>
                  <a:srgbClr val="000000"/>
                </a:solidFill>
                <a:highlight>
                  <a:srgbClr val="FFFF00"/>
                </a:highlight>
                <a:latin typeface="Arial"/>
              </a:rPr>
              <a:t> ( </a:t>
            </a:r>
            <a:r>
              <a:rPr lang="en-US" sz="900" b="1" kern="0" dirty="0" err="1">
                <a:solidFill>
                  <a:srgbClr val="000000"/>
                </a:solidFill>
                <a:highlight>
                  <a:srgbClr val="FFFF00"/>
                </a:highlight>
                <a:latin typeface="Arial"/>
              </a:rPr>
              <a:t>dout_t</a:t>
            </a:r>
            <a:r>
              <a:rPr lang="en-US" sz="900" b="1" kern="0" dirty="0">
                <a:solidFill>
                  <a:srgbClr val="000000"/>
                </a:solidFill>
                <a:highlight>
                  <a:srgbClr val="FFFF00"/>
                </a:highlight>
                <a:latin typeface="Arial"/>
              </a:rPr>
              <a:t> *</a:t>
            </a:r>
            <a:r>
              <a:rPr lang="en-US" sz="900" b="1" kern="0" dirty="0" err="1">
                <a:solidFill>
                  <a:srgbClr val="000000"/>
                </a:solidFill>
                <a:highlight>
                  <a:srgbClr val="FFFF00"/>
                </a:highlight>
                <a:latin typeface="Arial"/>
              </a:rPr>
              <a:t>d_o</a:t>
            </a:r>
            <a:r>
              <a:rPr lang="en-US" sz="900" b="1" kern="0" dirty="0">
                <a:solidFill>
                  <a:srgbClr val="000000"/>
                </a:solidFill>
                <a:highlight>
                  <a:srgbClr val="FFFF00"/>
                </a:highlight>
                <a:latin typeface="Arial"/>
              </a:rPr>
              <a:t>,  </a:t>
            </a:r>
            <a:r>
              <a:rPr lang="en-US" sz="900" b="1" kern="0" dirty="0" err="1">
                <a:solidFill>
                  <a:srgbClr val="000000"/>
                </a:solidFill>
                <a:highlight>
                  <a:srgbClr val="FFFF00"/>
                </a:highlight>
                <a:latin typeface="Arial"/>
              </a:rPr>
              <a:t>din_t</a:t>
            </a:r>
            <a:r>
              <a:rPr lang="en-US" sz="900" b="1" kern="0" dirty="0">
                <a:solidFill>
                  <a:srgbClr val="000000"/>
                </a:solidFill>
                <a:highlight>
                  <a:srgbClr val="FFFF00"/>
                </a:highlight>
                <a:latin typeface="Arial"/>
              </a:rPr>
              <a:t> *</a:t>
            </a:r>
            <a:r>
              <a:rPr lang="en-US" sz="900" b="1" kern="0" dirty="0" err="1">
                <a:solidFill>
                  <a:srgbClr val="000000"/>
                </a:solidFill>
                <a:highlight>
                  <a:srgbClr val="FFFF00"/>
                </a:highlight>
                <a:latin typeface="Arial"/>
              </a:rPr>
              <a:t>d_i</a:t>
            </a:r>
            <a:r>
              <a:rPr lang="en-US" sz="900" b="1" kern="0" dirty="0">
                <a:solidFill>
                  <a:srgbClr val="000000"/>
                </a:solidFill>
                <a:highlight>
                  <a:srgbClr val="FFFF00"/>
                </a:highlight>
                <a:latin typeface="Arial"/>
              </a:rPr>
              <a:t>) {</a:t>
            </a:r>
          </a:p>
          <a:p>
            <a:pPr defTabSz="914400" fontAlgn="base">
              <a:spcBef>
                <a:spcPct val="0"/>
              </a:spcBef>
              <a:spcAft>
                <a:spcPct val="0"/>
              </a:spcAft>
              <a:defRPr/>
            </a:pPr>
            <a:r>
              <a:rPr lang="en-US" sz="900" b="1" kern="0" dirty="0">
                <a:solidFill>
                  <a:srgbClr val="000000"/>
                </a:solidFill>
                <a:highlight>
                  <a:srgbClr val="FFFF00"/>
                </a:highlight>
                <a:latin typeface="Arial"/>
              </a:rPr>
              <a:t> </a:t>
            </a:r>
            <a:r>
              <a:rPr lang="en-US" sz="900" b="1" kern="0" dirty="0" err="1">
                <a:solidFill>
                  <a:srgbClr val="000000"/>
                </a:solidFill>
                <a:highlight>
                  <a:srgbClr val="FFFF00"/>
                </a:highlight>
                <a:latin typeface="Arial"/>
              </a:rPr>
              <a:t>din_t</a:t>
            </a:r>
            <a:r>
              <a:rPr lang="en-US" sz="900" b="1" kern="0" dirty="0">
                <a:solidFill>
                  <a:srgbClr val="000000"/>
                </a:solidFill>
                <a:highlight>
                  <a:srgbClr val="FFFF00"/>
                </a:highlight>
                <a:latin typeface="Arial"/>
              </a:rPr>
              <a:t> acc = 0;</a:t>
            </a:r>
          </a:p>
          <a:p>
            <a:pPr defTabSz="914400" fontAlgn="base">
              <a:spcBef>
                <a:spcPct val="0"/>
              </a:spcBef>
              <a:spcAft>
                <a:spcPct val="0"/>
              </a:spcAft>
              <a:defRPr/>
            </a:pPr>
            <a:endParaRPr lang="en-US" sz="900" b="1" kern="0" dirty="0">
              <a:solidFill>
                <a:srgbClr val="000000"/>
              </a:solidFill>
              <a:highlight>
                <a:srgbClr val="FFFF00"/>
              </a:highlight>
              <a:latin typeface="Arial"/>
            </a:endParaRPr>
          </a:p>
          <a:p>
            <a:pPr defTabSz="914400" fontAlgn="base">
              <a:spcBef>
                <a:spcPct val="0"/>
              </a:spcBef>
              <a:spcAft>
                <a:spcPct val="0"/>
              </a:spcAft>
              <a:defRPr/>
            </a:pPr>
            <a:r>
              <a:rPr lang="en-US" sz="900" b="1" kern="0" dirty="0">
                <a:solidFill>
                  <a:srgbClr val="000000"/>
                </a:solidFill>
                <a:highlight>
                  <a:srgbClr val="FFFF00"/>
                </a:highlight>
                <a:latin typeface="Arial"/>
              </a:rPr>
              <a:t> acc += *</a:t>
            </a:r>
            <a:r>
              <a:rPr lang="en-US" sz="900" b="1" kern="0" dirty="0" err="1">
                <a:solidFill>
                  <a:srgbClr val="000000"/>
                </a:solidFill>
                <a:highlight>
                  <a:srgbClr val="FFFF00"/>
                </a:highlight>
                <a:latin typeface="Arial"/>
              </a:rPr>
              <a:t>d_i</a:t>
            </a:r>
            <a:r>
              <a:rPr lang="en-US" sz="900" b="1" kern="0" dirty="0">
                <a:solidFill>
                  <a:srgbClr val="000000"/>
                </a:solidFill>
                <a:highlight>
                  <a:srgbClr val="FFFF00"/>
                </a:highlight>
                <a:latin typeface="Arial"/>
              </a:rPr>
              <a:t>;</a:t>
            </a:r>
          </a:p>
          <a:p>
            <a:pPr defTabSz="914400" fontAlgn="base">
              <a:spcBef>
                <a:spcPct val="0"/>
              </a:spcBef>
              <a:spcAft>
                <a:spcPct val="0"/>
              </a:spcAft>
              <a:defRPr/>
            </a:pPr>
            <a:r>
              <a:rPr lang="en-US" sz="900" b="1" kern="0" dirty="0">
                <a:solidFill>
                  <a:srgbClr val="000000"/>
                </a:solidFill>
                <a:highlight>
                  <a:srgbClr val="FFFF00"/>
                </a:highlight>
                <a:latin typeface="Arial"/>
              </a:rPr>
              <a:t> acc += *</a:t>
            </a:r>
            <a:r>
              <a:rPr lang="en-US" sz="900" b="1" kern="0" dirty="0" err="1">
                <a:solidFill>
                  <a:srgbClr val="000000"/>
                </a:solidFill>
                <a:highlight>
                  <a:srgbClr val="FFFF00"/>
                </a:highlight>
                <a:latin typeface="Arial"/>
              </a:rPr>
              <a:t>d_i</a:t>
            </a:r>
            <a:r>
              <a:rPr lang="en-US" sz="900" b="1" kern="0" dirty="0">
                <a:solidFill>
                  <a:srgbClr val="000000"/>
                </a:solidFill>
                <a:highlight>
                  <a:srgbClr val="FFFF00"/>
                </a:highlight>
                <a:latin typeface="Arial"/>
              </a:rPr>
              <a:t>;</a:t>
            </a:r>
          </a:p>
          <a:p>
            <a:pPr defTabSz="914400" fontAlgn="base">
              <a:spcBef>
                <a:spcPct val="0"/>
              </a:spcBef>
              <a:spcAft>
                <a:spcPct val="0"/>
              </a:spcAft>
              <a:defRPr/>
            </a:pPr>
            <a:r>
              <a:rPr lang="en-US" sz="900" b="1" kern="0" dirty="0">
                <a:solidFill>
                  <a:srgbClr val="000000"/>
                </a:solidFill>
                <a:highlight>
                  <a:srgbClr val="FFFF00"/>
                </a:highlight>
                <a:latin typeface="Arial"/>
              </a:rPr>
              <a:t> *</a:t>
            </a:r>
            <a:r>
              <a:rPr lang="en-US" sz="900" b="1" kern="0" dirty="0" err="1">
                <a:solidFill>
                  <a:srgbClr val="000000"/>
                </a:solidFill>
                <a:highlight>
                  <a:srgbClr val="FFFF00"/>
                </a:highlight>
                <a:latin typeface="Arial"/>
              </a:rPr>
              <a:t>d_o</a:t>
            </a:r>
            <a:r>
              <a:rPr lang="en-US" sz="900" b="1" kern="0" dirty="0">
                <a:solidFill>
                  <a:srgbClr val="000000"/>
                </a:solidFill>
                <a:highlight>
                  <a:srgbClr val="FFFF00"/>
                </a:highlight>
                <a:latin typeface="Arial"/>
              </a:rPr>
              <a:t> = acc;</a:t>
            </a:r>
          </a:p>
          <a:p>
            <a:pPr defTabSz="914400" fontAlgn="base">
              <a:spcBef>
                <a:spcPct val="0"/>
              </a:spcBef>
              <a:spcAft>
                <a:spcPct val="0"/>
              </a:spcAft>
              <a:defRPr/>
            </a:pPr>
            <a:r>
              <a:rPr lang="en-US" sz="900" b="1" kern="0" dirty="0">
                <a:solidFill>
                  <a:srgbClr val="000000"/>
                </a:solidFill>
                <a:highlight>
                  <a:srgbClr val="FFFF00"/>
                </a:highlight>
                <a:latin typeface="Arial"/>
              </a:rPr>
              <a:t> acc += *</a:t>
            </a:r>
            <a:r>
              <a:rPr lang="en-US" sz="900" b="1" kern="0" dirty="0" err="1">
                <a:solidFill>
                  <a:srgbClr val="000000"/>
                </a:solidFill>
                <a:highlight>
                  <a:srgbClr val="FFFF00"/>
                </a:highlight>
                <a:latin typeface="Arial"/>
              </a:rPr>
              <a:t>d_i</a:t>
            </a:r>
            <a:r>
              <a:rPr lang="en-US" sz="900" b="1" kern="0" dirty="0">
                <a:solidFill>
                  <a:srgbClr val="000000"/>
                </a:solidFill>
                <a:highlight>
                  <a:srgbClr val="FFFF00"/>
                </a:highlight>
                <a:latin typeface="Arial"/>
              </a:rPr>
              <a:t>;</a:t>
            </a:r>
          </a:p>
          <a:p>
            <a:pPr defTabSz="914400" fontAlgn="base">
              <a:spcBef>
                <a:spcPct val="0"/>
              </a:spcBef>
              <a:spcAft>
                <a:spcPct val="0"/>
              </a:spcAft>
              <a:defRPr/>
            </a:pPr>
            <a:r>
              <a:rPr lang="en-US" sz="900" b="1" kern="0" dirty="0">
                <a:solidFill>
                  <a:srgbClr val="000000"/>
                </a:solidFill>
                <a:highlight>
                  <a:srgbClr val="FFFF00"/>
                </a:highlight>
                <a:latin typeface="Arial"/>
              </a:rPr>
              <a:t> acc += *</a:t>
            </a:r>
            <a:r>
              <a:rPr lang="en-US" sz="900" b="1" kern="0" dirty="0" err="1">
                <a:solidFill>
                  <a:srgbClr val="000000"/>
                </a:solidFill>
                <a:highlight>
                  <a:srgbClr val="FFFF00"/>
                </a:highlight>
                <a:latin typeface="Arial"/>
              </a:rPr>
              <a:t>d_i</a:t>
            </a:r>
            <a:r>
              <a:rPr lang="en-US" sz="900" b="1" kern="0" dirty="0">
                <a:solidFill>
                  <a:srgbClr val="000000"/>
                </a:solidFill>
                <a:highlight>
                  <a:srgbClr val="FFFF00"/>
                </a:highlight>
                <a:latin typeface="Arial"/>
              </a:rPr>
              <a:t>;</a:t>
            </a:r>
          </a:p>
          <a:p>
            <a:pPr defTabSz="914400" fontAlgn="base">
              <a:spcBef>
                <a:spcPct val="0"/>
              </a:spcBef>
              <a:spcAft>
                <a:spcPct val="0"/>
              </a:spcAft>
              <a:defRPr/>
            </a:pPr>
            <a:r>
              <a:rPr lang="en-US" sz="900" b="1" kern="0" dirty="0">
                <a:solidFill>
                  <a:srgbClr val="000000"/>
                </a:solidFill>
                <a:highlight>
                  <a:srgbClr val="FFFF00"/>
                </a:highlight>
                <a:latin typeface="Arial"/>
              </a:rPr>
              <a:t> *</a:t>
            </a:r>
            <a:r>
              <a:rPr lang="en-US" sz="900" b="1" kern="0" dirty="0" err="1">
                <a:solidFill>
                  <a:srgbClr val="000000"/>
                </a:solidFill>
                <a:highlight>
                  <a:srgbClr val="FFFF00"/>
                </a:highlight>
                <a:latin typeface="Arial"/>
              </a:rPr>
              <a:t>d_o</a:t>
            </a:r>
            <a:r>
              <a:rPr lang="en-US" sz="900" b="1" kern="0" dirty="0">
                <a:solidFill>
                  <a:srgbClr val="000000"/>
                </a:solidFill>
                <a:highlight>
                  <a:srgbClr val="FFFF00"/>
                </a:highlight>
                <a:latin typeface="Arial"/>
              </a:rPr>
              <a:t> = acc;</a:t>
            </a:r>
          </a:p>
          <a:p>
            <a:pPr defTabSz="914400" fontAlgn="base">
              <a:spcBef>
                <a:spcPct val="0"/>
              </a:spcBef>
              <a:spcAft>
                <a:spcPct val="0"/>
              </a:spcAft>
              <a:defRPr/>
            </a:pPr>
            <a:r>
              <a:rPr lang="en-US" sz="900" b="1" kern="0" dirty="0">
                <a:solidFill>
                  <a:srgbClr val="000000"/>
                </a:solidFill>
                <a:highlight>
                  <a:srgbClr val="FFFF00"/>
                </a:highlight>
                <a:latin typeface="Arial"/>
              </a:rPr>
              <a:t>}</a:t>
            </a:r>
          </a:p>
        </p:txBody>
      </p:sp>
      <p:sp>
        <p:nvSpPr>
          <p:cNvPr id="12" name="TextBox 11">
            <a:extLst>
              <a:ext uri="{FF2B5EF4-FFF2-40B4-BE49-F238E27FC236}">
                <a16:creationId xmlns:a16="http://schemas.microsoft.com/office/drawing/2014/main" id="{C03D9B48-AAA5-4A85-8136-056AFF4A1FC0}"/>
              </a:ext>
            </a:extLst>
          </p:cNvPr>
          <p:cNvSpPr txBox="1"/>
          <p:nvPr/>
        </p:nvSpPr>
        <p:spPr>
          <a:xfrm>
            <a:off x="7446108" y="1978056"/>
            <a:ext cx="2303700" cy="1615827"/>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defRPr/>
            </a:pPr>
            <a:r>
              <a:rPr lang="en-US" sz="900" b="1" kern="0" dirty="0">
                <a:solidFill>
                  <a:srgbClr val="000000"/>
                </a:solidFill>
                <a:highlight>
                  <a:srgbClr val="FFFF00"/>
                </a:highlight>
                <a:latin typeface="Arial"/>
              </a:rPr>
              <a:t>void </a:t>
            </a:r>
            <a:r>
              <a:rPr lang="en-US" sz="900" b="1" kern="0" dirty="0" err="1">
                <a:solidFill>
                  <a:srgbClr val="000000"/>
                </a:solidFill>
                <a:highlight>
                  <a:srgbClr val="FFFF00"/>
                </a:highlight>
                <a:latin typeface="Arial"/>
              </a:rPr>
              <a:t>pointer_stream_better</a:t>
            </a:r>
            <a:r>
              <a:rPr lang="en-US" sz="900" b="1" kern="0" dirty="0">
                <a:solidFill>
                  <a:srgbClr val="000000"/>
                </a:solidFill>
                <a:highlight>
                  <a:srgbClr val="FFFF00"/>
                </a:highlight>
                <a:latin typeface="Arial"/>
              </a:rPr>
              <a:t> ( volatile </a:t>
            </a:r>
            <a:r>
              <a:rPr lang="en-US" sz="900" b="1" kern="0" dirty="0" err="1">
                <a:solidFill>
                  <a:srgbClr val="000000"/>
                </a:solidFill>
                <a:highlight>
                  <a:srgbClr val="FFFF00"/>
                </a:highlight>
                <a:latin typeface="Arial"/>
              </a:rPr>
              <a:t>dout_t</a:t>
            </a:r>
            <a:r>
              <a:rPr lang="en-US" sz="900" b="1" kern="0" dirty="0">
                <a:solidFill>
                  <a:srgbClr val="000000"/>
                </a:solidFill>
                <a:highlight>
                  <a:srgbClr val="FFFF00"/>
                </a:highlight>
                <a:latin typeface="Arial"/>
              </a:rPr>
              <a:t> *</a:t>
            </a:r>
            <a:r>
              <a:rPr lang="en-US" sz="900" b="1" kern="0" dirty="0" err="1">
                <a:solidFill>
                  <a:srgbClr val="000000"/>
                </a:solidFill>
                <a:highlight>
                  <a:srgbClr val="FFFF00"/>
                </a:highlight>
                <a:latin typeface="Arial"/>
              </a:rPr>
              <a:t>d_o</a:t>
            </a:r>
            <a:r>
              <a:rPr lang="en-US" sz="900" b="1" kern="0" dirty="0">
                <a:solidFill>
                  <a:srgbClr val="000000"/>
                </a:solidFill>
                <a:highlight>
                  <a:srgbClr val="FFFF00"/>
                </a:highlight>
                <a:latin typeface="Arial"/>
              </a:rPr>
              <a:t>,  volatile </a:t>
            </a:r>
            <a:r>
              <a:rPr lang="en-US" sz="900" b="1" kern="0" dirty="0" err="1">
                <a:solidFill>
                  <a:srgbClr val="000000"/>
                </a:solidFill>
                <a:highlight>
                  <a:srgbClr val="FFFF00"/>
                </a:highlight>
                <a:latin typeface="Arial"/>
              </a:rPr>
              <a:t>din_t</a:t>
            </a:r>
            <a:r>
              <a:rPr lang="en-US" sz="900" b="1" kern="0" dirty="0">
                <a:solidFill>
                  <a:srgbClr val="000000"/>
                </a:solidFill>
                <a:highlight>
                  <a:srgbClr val="FFFF00"/>
                </a:highlight>
                <a:latin typeface="Arial"/>
              </a:rPr>
              <a:t> *</a:t>
            </a:r>
            <a:r>
              <a:rPr lang="en-US" sz="900" b="1" kern="0" dirty="0" err="1">
                <a:solidFill>
                  <a:srgbClr val="000000"/>
                </a:solidFill>
                <a:highlight>
                  <a:srgbClr val="FFFF00"/>
                </a:highlight>
                <a:latin typeface="Arial"/>
              </a:rPr>
              <a:t>d_i</a:t>
            </a:r>
            <a:r>
              <a:rPr lang="en-US" sz="900" b="1" kern="0" dirty="0">
                <a:solidFill>
                  <a:srgbClr val="000000"/>
                </a:solidFill>
                <a:highlight>
                  <a:srgbClr val="FFFF00"/>
                </a:highlight>
                <a:latin typeface="Arial"/>
              </a:rPr>
              <a:t>) {</a:t>
            </a:r>
          </a:p>
          <a:p>
            <a:pPr defTabSz="914400" fontAlgn="base">
              <a:spcBef>
                <a:spcPct val="0"/>
              </a:spcBef>
              <a:spcAft>
                <a:spcPct val="0"/>
              </a:spcAft>
              <a:defRPr/>
            </a:pPr>
            <a:r>
              <a:rPr lang="en-US" sz="900" b="1" kern="0" dirty="0">
                <a:solidFill>
                  <a:srgbClr val="000000"/>
                </a:solidFill>
                <a:highlight>
                  <a:srgbClr val="FFFF00"/>
                </a:highlight>
                <a:latin typeface="Arial"/>
              </a:rPr>
              <a:t> </a:t>
            </a:r>
            <a:r>
              <a:rPr lang="en-US" sz="900" b="1" kern="0" dirty="0" err="1">
                <a:solidFill>
                  <a:srgbClr val="000000"/>
                </a:solidFill>
                <a:highlight>
                  <a:srgbClr val="FFFF00"/>
                </a:highlight>
                <a:latin typeface="Arial"/>
              </a:rPr>
              <a:t>din_t</a:t>
            </a:r>
            <a:r>
              <a:rPr lang="en-US" sz="900" b="1" kern="0" dirty="0">
                <a:solidFill>
                  <a:srgbClr val="000000"/>
                </a:solidFill>
                <a:highlight>
                  <a:srgbClr val="FFFF00"/>
                </a:highlight>
                <a:latin typeface="Arial"/>
              </a:rPr>
              <a:t> acc = 0;</a:t>
            </a:r>
          </a:p>
          <a:p>
            <a:pPr defTabSz="914400" fontAlgn="base">
              <a:spcBef>
                <a:spcPct val="0"/>
              </a:spcBef>
              <a:spcAft>
                <a:spcPct val="0"/>
              </a:spcAft>
              <a:defRPr/>
            </a:pPr>
            <a:endParaRPr lang="en-US" sz="900" b="1" kern="0" dirty="0">
              <a:solidFill>
                <a:srgbClr val="000000"/>
              </a:solidFill>
              <a:highlight>
                <a:srgbClr val="FFFF00"/>
              </a:highlight>
              <a:latin typeface="Arial"/>
            </a:endParaRPr>
          </a:p>
          <a:p>
            <a:pPr defTabSz="914400" fontAlgn="base">
              <a:spcBef>
                <a:spcPct val="0"/>
              </a:spcBef>
              <a:spcAft>
                <a:spcPct val="0"/>
              </a:spcAft>
              <a:defRPr/>
            </a:pPr>
            <a:r>
              <a:rPr lang="en-US" sz="900" b="1" kern="0" dirty="0">
                <a:solidFill>
                  <a:srgbClr val="000000"/>
                </a:solidFill>
                <a:highlight>
                  <a:srgbClr val="FFFF00"/>
                </a:highlight>
                <a:latin typeface="Arial"/>
              </a:rPr>
              <a:t> acc += *</a:t>
            </a:r>
            <a:r>
              <a:rPr lang="en-US" sz="900" b="1" kern="0" dirty="0" err="1">
                <a:solidFill>
                  <a:srgbClr val="000000"/>
                </a:solidFill>
                <a:highlight>
                  <a:srgbClr val="FFFF00"/>
                </a:highlight>
                <a:latin typeface="Arial"/>
              </a:rPr>
              <a:t>d_i</a:t>
            </a:r>
            <a:r>
              <a:rPr lang="en-US" sz="900" b="1" kern="0" dirty="0">
                <a:solidFill>
                  <a:srgbClr val="000000"/>
                </a:solidFill>
                <a:highlight>
                  <a:srgbClr val="FFFF00"/>
                </a:highlight>
                <a:latin typeface="Arial"/>
              </a:rPr>
              <a:t>;</a:t>
            </a:r>
          </a:p>
          <a:p>
            <a:pPr defTabSz="914400" fontAlgn="base">
              <a:spcBef>
                <a:spcPct val="0"/>
              </a:spcBef>
              <a:spcAft>
                <a:spcPct val="0"/>
              </a:spcAft>
              <a:defRPr/>
            </a:pPr>
            <a:r>
              <a:rPr lang="en-US" sz="900" b="1" kern="0" dirty="0">
                <a:solidFill>
                  <a:srgbClr val="000000"/>
                </a:solidFill>
                <a:highlight>
                  <a:srgbClr val="FFFF00"/>
                </a:highlight>
                <a:latin typeface="Arial"/>
              </a:rPr>
              <a:t> acc += *</a:t>
            </a:r>
            <a:r>
              <a:rPr lang="en-US" sz="900" b="1" kern="0" dirty="0" err="1">
                <a:solidFill>
                  <a:srgbClr val="000000"/>
                </a:solidFill>
                <a:highlight>
                  <a:srgbClr val="FFFF00"/>
                </a:highlight>
                <a:latin typeface="Arial"/>
              </a:rPr>
              <a:t>d_i</a:t>
            </a:r>
            <a:r>
              <a:rPr lang="en-US" sz="900" b="1" kern="0" dirty="0">
                <a:solidFill>
                  <a:srgbClr val="000000"/>
                </a:solidFill>
                <a:highlight>
                  <a:srgbClr val="FFFF00"/>
                </a:highlight>
                <a:latin typeface="Arial"/>
              </a:rPr>
              <a:t>;</a:t>
            </a:r>
          </a:p>
          <a:p>
            <a:pPr defTabSz="914400" fontAlgn="base">
              <a:spcBef>
                <a:spcPct val="0"/>
              </a:spcBef>
              <a:spcAft>
                <a:spcPct val="0"/>
              </a:spcAft>
              <a:defRPr/>
            </a:pPr>
            <a:r>
              <a:rPr lang="en-US" sz="900" b="1" kern="0" dirty="0">
                <a:solidFill>
                  <a:srgbClr val="000000"/>
                </a:solidFill>
                <a:highlight>
                  <a:srgbClr val="FFFF00"/>
                </a:highlight>
                <a:latin typeface="Arial"/>
              </a:rPr>
              <a:t> *</a:t>
            </a:r>
            <a:r>
              <a:rPr lang="en-US" sz="900" b="1" kern="0" dirty="0" err="1">
                <a:solidFill>
                  <a:srgbClr val="000000"/>
                </a:solidFill>
                <a:highlight>
                  <a:srgbClr val="FFFF00"/>
                </a:highlight>
                <a:latin typeface="Arial"/>
              </a:rPr>
              <a:t>d_o</a:t>
            </a:r>
            <a:r>
              <a:rPr lang="en-US" sz="900" b="1" kern="0" dirty="0">
                <a:solidFill>
                  <a:srgbClr val="000000"/>
                </a:solidFill>
                <a:highlight>
                  <a:srgbClr val="FFFF00"/>
                </a:highlight>
                <a:latin typeface="Arial"/>
              </a:rPr>
              <a:t> = acc;</a:t>
            </a:r>
          </a:p>
          <a:p>
            <a:pPr defTabSz="914400" fontAlgn="base">
              <a:spcBef>
                <a:spcPct val="0"/>
              </a:spcBef>
              <a:spcAft>
                <a:spcPct val="0"/>
              </a:spcAft>
              <a:defRPr/>
            </a:pPr>
            <a:r>
              <a:rPr lang="en-US" sz="900" b="1" kern="0" dirty="0">
                <a:solidFill>
                  <a:srgbClr val="000000"/>
                </a:solidFill>
                <a:highlight>
                  <a:srgbClr val="FFFF00"/>
                </a:highlight>
                <a:latin typeface="Arial"/>
              </a:rPr>
              <a:t> acc += *</a:t>
            </a:r>
            <a:r>
              <a:rPr lang="en-US" sz="900" b="1" kern="0" dirty="0" err="1">
                <a:solidFill>
                  <a:srgbClr val="000000"/>
                </a:solidFill>
                <a:highlight>
                  <a:srgbClr val="FFFF00"/>
                </a:highlight>
                <a:latin typeface="Arial"/>
              </a:rPr>
              <a:t>d_i</a:t>
            </a:r>
            <a:r>
              <a:rPr lang="en-US" sz="900" b="1" kern="0" dirty="0">
                <a:solidFill>
                  <a:srgbClr val="000000"/>
                </a:solidFill>
                <a:highlight>
                  <a:srgbClr val="FFFF00"/>
                </a:highlight>
                <a:latin typeface="Arial"/>
              </a:rPr>
              <a:t>;</a:t>
            </a:r>
          </a:p>
          <a:p>
            <a:pPr defTabSz="914400" fontAlgn="base">
              <a:spcBef>
                <a:spcPct val="0"/>
              </a:spcBef>
              <a:spcAft>
                <a:spcPct val="0"/>
              </a:spcAft>
              <a:defRPr/>
            </a:pPr>
            <a:r>
              <a:rPr lang="en-US" sz="900" b="1" kern="0" dirty="0">
                <a:solidFill>
                  <a:srgbClr val="000000"/>
                </a:solidFill>
                <a:highlight>
                  <a:srgbClr val="FFFF00"/>
                </a:highlight>
                <a:latin typeface="Arial"/>
              </a:rPr>
              <a:t> acc += *</a:t>
            </a:r>
            <a:r>
              <a:rPr lang="en-US" sz="900" b="1" kern="0" dirty="0" err="1">
                <a:solidFill>
                  <a:srgbClr val="000000"/>
                </a:solidFill>
                <a:highlight>
                  <a:srgbClr val="FFFF00"/>
                </a:highlight>
                <a:latin typeface="Arial"/>
              </a:rPr>
              <a:t>d_i</a:t>
            </a:r>
            <a:r>
              <a:rPr lang="en-US" sz="900" b="1" kern="0" dirty="0">
                <a:solidFill>
                  <a:srgbClr val="000000"/>
                </a:solidFill>
                <a:highlight>
                  <a:srgbClr val="FFFF00"/>
                </a:highlight>
                <a:latin typeface="Arial"/>
              </a:rPr>
              <a:t>;</a:t>
            </a:r>
          </a:p>
          <a:p>
            <a:pPr defTabSz="914400" fontAlgn="base">
              <a:spcBef>
                <a:spcPct val="0"/>
              </a:spcBef>
              <a:spcAft>
                <a:spcPct val="0"/>
              </a:spcAft>
              <a:defRPr/>
            </a:pPr>
            <a:r>
              <a:rPr lang="en-US" sz="900" b="1" kern="0" dirty="0">
                <a:solidFill>
                  <a:srgbClr val="000000"/>
                </a:solidFill>
                <a:highlight>
                  <a:srgbClr val="FFFF00"/>
                </a:highlight>
                <a:latin typeface="Arial"/>
              </a:rPr>
              <a:t> *</a:t>
            </a:r>
            <a:r>
              <a:rPr lang="en-US" sz="900" b="1" kern="0" dirty="0" err="1">
                <a:solidFill>
                  <a:srgbClr val="000000"/>
                </a:solidFill>
                <a:highlight>
                  <a:srgbClr val="FFFF00"/>
                </a:highlight>
                <a:latin typeface="Arial"/>
              </a:rPr>
              <a:t>d_o</a:t>
            </a:r>
            <a:r>
              <a:rPr lang="en-US" sz="900" b="1" kern="0" dirty="0">
                <a:solidFill>
                  <a:srgbClr val="000000"/>
                </a:solidFill>
                <a:highlight>
                  <a:srgbClr val="FFFF00"/>
                </a:highlight>
                <a:latin typeface="Arial"/>
              </a:rPr>
              <a:t> = acc;</a:t>
            </a:r>
          </a:p>
          <a:p>
            <a:pPr defTabSz="914400" fontAlgn="base">
              <a:spcBef>
                <a:spcPct val="0"/>
              </a:spcBef>
              <a:spcAft>
                <a:spcPct val="0"/>
              </a:spcAft>
              <a:defRPr/>
            </a:pPr>
            <a:r>
              <a:rPr lang="en-US" sz="900" b="1" kern="0" dirty="0">
                <a:solidFill>
                  <a:srgbClr val="000000"/>
                </a:solidFill>
                <a:highlight>
                  <a:srgbClr val="FFFF00"/>
                </a:highlight>
                <a:latin typeface="Arial"/>
              </a:rPr>
              <a:t>}</a:t>
            </a:r>
          </a:p>
        </p:txBody>
      </p:sp>
    </p:spTree>
    <p:extLst>
      <p:ext uri="{BB962C8B-B14F-4D97-AF65-F5344CB8AC3E}">
        <p14:creationId xmlns:p14="http://schemas.microsoft.com/office/powerpoint/2010/main" val="133793656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Multi-Access Pointers: the effect of volatile</a:t>
            </a:r>
          </a:p>
        </p:txBody>
      </p:sp>
      <p:sp>
        <p:nvSpPr>
          <p:cNvPr id="3" name="Content Placeholder 2"/>
          <p:cNvSpPr>
            <a:spLocks noGrp="1"/>
          </p:cNvSpPr>
          <p:nvPr>
            <p:ph idx="1"/>
          </p:nvPr>
        </p:nvSpPr>
        <p:spPr>
          <a:xfrm>
            <a:off x="579121" y="1347141"/>
            <a:ext cx="11033760" cy="4632960"/>
          </a:xfrm>
        </p:spPr>
        <p:txBody>
          <a:bodyPr/>
          <a:lstStyle/>
          <a:p>
            <a:r>
              <a:rPr lang="en-US" dirty="0"/>
              <a:t>Easier to see with a simple example</a:t>
            </a:r>
          </a:p>
        </p:txBody>
      </p:sp>
      <p:sp>
        <p:nvSpPr>
          <p:cNvPr id="14" name="Slide Number Placeholder 5">
            <a:extLst>
              <a:ext uri="{FF2B5EF4-FFF2-40B4-BE49-F238E27FC236}">
                <a16:creationId xmlns:a16="http://schemas.microsoft.com/office/drawing/2014/main" id="{0ACEE3CC-9CC9-4782-8937-D6FBA099576D}"/>
              </a:ext>
            </a:extLst>
          </p:cNvPr>
          <p:cNvSpPr>
            <a:spLocks noGrp="1"/>
          </p:cNvSpPr>
          <p:nvPr>
            <p:ph type="sldNum" sz="quarter" idx="4"/>
          </p:nvPr>
        </p:nvSpPr>
        <p:spPr/>
        <p:txBody>
          <a:bodyPr/>
          <a:lstStyle/>
          <a:p>
            <a:pPr>
              <a:defRPr/>
            </a:pPr>
            <a:r>
              <a:rPr lang="en-US" dirty="0"/>
              <a:t>Coding Considerations 23- </a:t>
            </a:r>
            <a:fld id="{060BD193-E118-4B16-863C-C8C12C675E3E}" type="slidenum">
              <a:rPr lang="en-US" smtClean="0"/>
              <a:pPr>
                <a:defRPr/>
              </a:pPr>
              <a:t>50</a:t>
            </a:fld>
            <a:endParaRPr lang="en-US" dirty="0"/>
          </a:p>
        </p:txBody>
      </p:sp>
      <p:sp>
        <p:nvSpPr>
          <p:cNvPr id="16" name="TextBox 15"/>
          <p:cNvSpPr txBox="1"/>
          <p:nvPr/>
        </p:nvSpPr>
        <p:spPr>
          <a:xfrm>
            <a:off x="6966287" y="1124701"/>
            <a:ext cx="4300240" cy="738664"/>
          </a:xfrm>
          <a:prstGeom prst="rect">
            <a:avLst/>
          </a:prstGeom>
          <a:solidFill>
            <a:srgbClr val="FFFF99"/>
          </a:solidFill>
          <a:ln>
            <a:solidFill>
              <a:schemeClr val="tx1"/>
            </a:solidFill>
          </a:ln>
          <a:effectLst>
            <a:innerShdw blurRad="63500" dist="50800" dir="2700000">
              <a:prstClr val="black">
                <a:alpha val="50000"/>
              </a:prstClr>
            </a:innerShdw>
          </a:effectLst>
        </p:spPr>
        <p:txBody>
          <a:bodyPr wrap="square" rtlCol="0">
            <a:spAutoFit/>
          </a:bodyPr>
          <a:lstStyle/>
          <a:p>
            <a:pPr algn="ctr"/>
            <a:r>
              <a:rPr lang="en-US" sz="1400" b="1" dirty="0"/>
              <a:t>C compilers will optimize multiple accesses on the same (non-volatile) pointer into a single access : </a:t>
            </a:r>
            <a:r>
              <a:rPr lang="en-US" sz="1400" b="1" u="sng" dirty="0" err="1"/>
              <a:t>Vitis</a:t>
            </a:r>
            <a:r>
              <a:rPr lang="en-US" sz="1400" b="1" u="sng" dirty="0"/>
              <a:t> HLS matches this behavior</a:t>
            </a:r>
          </a:p>
        </p:txBody>
      </p:sp>
      <p:pic>
        <p:nvPicPr>
          <p:cNvPr id="18" name="Picture 17" descr="402a.PNG">
            <a:extLst>
              <a:ext uri="{FF2B5EF4-FFF2-40B4-BE49-F238E27FC236}">
                <a16:creationId xmlns:a16="http://schemas.microsoft.com/office/drawing/2014/main" id="{7D189CCE-D058-4854-840E-08A4595BBD56}"/>
              </a:ext>
            </a:extLst>
          </p:cNvPr>
          <p:cNvPicPr>
            <a:picLocks noChangeAspect="1"/>
          </p:cNvPicPr>
          <p:nvPr/>
        </p:nvPicPr>
        <p:blipFill>
          <a:blip r:embed="rId2"/>
          <a:stretch>
            <a:fillRect/>
          </a:stretch>
        </p:blipFill>
        <p:spPr>
          <a:xfrm>
            <a:off x="3075595" y="1884595"/>
            <a:ext cx="8934019" cy="1865285"/>
          </a:xfrm>
          <a:prstGeom prst="rect">
            <a:avLst/>
          </a:prstGeom>
          <a:ln>
            <a:noFill/>
          </a:ln>
          <a:effectLst>
            <a:outerShdw blurRad="292100" dist="139700" dir="2700000" algn="tl" rotWithShape="0">
              <a:srgbClr val="333333">
                <a:alpha val="65000"/>
              </a:srgbClr>
            </a:outerShdw>
          </a:effectLst>
        </p:spPr>
      </p:pic>
      <p:sp>
        <p:nvSpPr>
          <p:cNvPr id="19" name="TextBox 18">
            <a:extLst>
              <a:ext uri="{FF2B5EF4-FFF2-40B4-BE49-F238E27FC236}">
                <a16:creationId xmlns:a16="http://schemas.microsoft.com/office/drawing/2014/main" id="{4253D8F4-24FB-48C6-85FE-6AD573DDCAD8}"/>
              </a:ext>
            </a:extLst>
          </p:cNvPr>
          <p:cNvSpPr txBox="1"/>
          <p:nvPr/>
        </p:nvSpPr>
        <p:spPr>
          <a:xfrm>
            <a:off x="361168" y="1807785"/>
            <a:ext cx="2559667" cy="2031325"/>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fontAlgn="base">
              <a:spcBef>
                <a:spcPct val="0"/>
              </a:spcBef>
              <a:spcAft>
                <a:spcPct val="0"/>
              </a:spcAft>
              <a:tabLst>
                <a:tab pos="457200" algn="l"/>
              </a:tabLst>
              <a:defRPr/>
            </a:pPr>
            <a:r>
              <a:rPr lang="en-US" sz="900" kern="0" dirty="0">
                <a:solidFill>
                  <a:srgbClr val="000000"/>
                </a:solidFill>
                <a:latin typeface="Arial"/>
              </a:rPr>
              <a:t>void </a:t>
            </a:r>
            <a:r>
              <a:rPr lang="en-US" sz="900" kern="0" dirty="0" err="1">
                <a:solidFill>
                  <a:srgbClr val="000000"/>
                </a:solidFill>
              </a:rPr>
              <a:t>pointer_stream_bad</a:t>
            </a:r>
            <a:r>
              <a:rPr lang="en-US" sz="900" kern="0" dirty="0">
                <a:solidFill>
                  <a:srgbClr val="000000"/>
                </a:solidFill>
              </a:rPr>
              <a:t> </a:t>
            </a:r>
            <a:r>
              <a:rPr lang="en-US" sz="900" kern="0" dirty="0">
                <a:solidFill>
                  <a:srgbClr val="000000"/>
                </a:solidFill>
                <a:latin typeface="Arial"/>
              </a:rPr>
              <a:t>( </a:t>
            </a:r>
          </a:p>
          <a:p>
            <a:pPr defTabSz="914400" fontAlgn="base">
              <a:spcBef>
                <a:spcPct val="0"/>
              </a:spcBef>
              <a:spcAft>
                <a:spcPct val="0"/>
              </a:spcAft>
              <a:tabLst>
                <a:tab pos="457200" algn="l"/>
              </a:tabLst>
              <a:defRPr/>
            </a:pPr>
            <a:r>
              <a:rPr lang="en-US" sz="900" kern="0" dirty="0">
                <a:solidFill>
                  <a:srgbClr val="000000"/>
                </a:solidFill>
                <a:latin typeface="Arial"/>
              </a:rPr>
              <a:t>	</a:t>
            </a:r>
            <a:r>
              <a:rPr lang="en-US" sz="900" kern="0" dirty="0" err="1">
                <a:solidFill>
                  <a:srgbClr val="000000"/>
                </a:solidFill>
                <a:latin typeface="Arial"/>
              </a:rPr>
              <a:t>int</a:t>
            </a:r>
            <a:r>
              <a:rPr lang="en-US" sz="900" kern="0" dirty="0">
                <a:solidFill>
                  <a:srgbClr val="000000"/>
                </a:solidFill>
                <a:latin typeface="Arial"/>
              </a:rPr>
              <a:t> *</a:t>
            </a:r>
            <a:r>
              <a:rPr lang="en-US" sz="900" kern="0" dirty="0" err="1">
                <a:solidFill>
                  <a:srgbClr val="000000"/>
                </a:solidFill>
                <a:latin typeface="Arial"/>
              </a:rPr>
              <a:t>d_o</a:t>
            </a:r>
            <a:r>
              <a:rPr lang="en-US" sz="900" kern="0" dirty="0">
                <a:solidFill>
                  <a:srgbClr val="000000"/>
                </a:solidFill>
                <a:latin typeface="Arial"/>
              </a:rPr>
              <a:t>,  </a:t>
            </a:r>
          </a:p>
          <a:p>
            <a:pPr defTabSz="914400" fontAlgn="base">
              <a:spcBef>
                <a:spcPct val="0"/>
              </a:spcBef>
              <a:spcAft>
                <a:spcPct val="0"/>
              </a:spcAft>
              <a:tabLst>
                <a:tab pos="457200" algn="l"/>
              </a:tabLst>
              <a:defRPr/>
            </a:pPr>
            <a:r>
              <a:rPr lang="en-US" sz="900" kern="0" dirty="0">
                <a:solidFill>
                  <a:srgbClr val="000000"/>
                </a:solidFill>
                <a:latin typeface="Arial"/>
              </a:rPr>
              <a:t>	</a:t>
            </a:r>
            <a:r>
              <a:rPr lang="en-US" sz="900" kern="0" dirty="0" err="1">
                <a:solidFill>
                  <a:srgbClr val="000000"/>
                </a:solidFill>
                <a:latin typeface="Arial"/>
              </a:rPr>
              <a:t>int</a:t>
            </a:r>
            <a:r>
              <a:rPr lang="en-US" sz="900" kern="0" dirty="0">
                <a:solidFill>
                  <a:srgbClr val="000000"/>
                </a:solidFill>
                <a:latin typeface="Arial"/>
              </a:rPr>
              <a:t> *</a:t>
            </a:r>
            <a:r>
              <a:rPr lang="en-US" sz="900" kern="0" dirty="0" err="1">
                <a:solidFill>
                  <a:srgbClr val="000000"/>
                </a:solidFill>
                <a:latin typeface="Arial"/>
              </a:rPr>
              <a:t>d_i</a:t>
            </a:r>
            <a:endParaRPr lang="en-US" sz="900" kern="0" dirty="0">
              <a:solidFill>
                <a:srgbClr val="000000"/>
              </a:solidFill>
              <a:latin typeface="Arial"/>
            </a:endParaRPr>
          </a:p>
          <a:p>
            <a:pPr defTabSz="914400" fontAlgn="base">
              <a:spcBef>
                <a:spcPct val="0"/>
              </a:spcBef>
              <a:spcAft>
                <a:spcPct val="0"/>
              </a:spcAft>
              <a:tabLst>
                <a:tab pos="457200" algn="l"/>
              </a:tabLst>
              <a:defRPr/>
            </a:pPr>
            <a:r>
              <a:rPr lang="en-US" sz="900" kern="0" dirty="0">
                <a:solidFill>
                  <a:srgbClr val="000000"/>
                </a:solidFill>
                <a:latin typeface="Arial"/>
              </a:rPr>
              <a:t>) {</a:t>
            </a:r>
          </a:p>
          <a:p>
            <a:pPr defTabSz="914400" fontAlgn="base">
              <a:spcBef>
                <a:spcPct val="0"/>
              </a:spcBef>
              <a:spcAft>
                <a:spcPct val="0"/>
              </a:spcAft>
              <a:tabLst>
                <a:tab pos="457200" algn="l"/>
              </a:tabLst>
              <a:defRPr/>
            </a:pPr>
            <a:r>
              <a:rPr lang="en-US" sz="900" kern="0" dirty="0">
                <a:solidFill>
                  <a:srgbClr val="000000"/>
                </a:solidFill>
                <a:latin typeface="Arial"/>
              </a:rPr>
              <a:t>  static </a:t>
            </a:r>
            <a:r>
              <a:rPr lang="en-US" sz="900" kern="0" dirty="0" err="1">
                <a:solidFill>
                  <a:srgbClr val="000000"/>
                </a:solidFill>
                <a:latin typeface="Arial"/>
              </a:rPr>
              <a:t>int</a:t>
            </a:r>
            <a:r>
              <a:rPr lang="en-US" sz="900" kern="0" dirty="0">
                <a:solidFill>
                  <a:srgbClr val="000000"/>
                </a:solidFill>
                <a:latin typeface="Arial"/>
              </a:rPr>
              <a:t> acc = 0;</a:t>
            </a:r>
          </a:p>
          <a:p>
            <a:pPr defTabSz="914400" fontAlgn="base">
              <a:spcBef>
                <a:spcPct val="0"/>
              </a:spcBef>
              <a:spcAft>
                <a:spcPct val="0"/>
              </a:spcAft>
              <a:tabLst>
                <a:tab pos="457200" algn="l"/>
              </a:tabLst>
              <a:defRPr/>
            </a:pPr>
            <a:r>
              <a:rPr lang="en-US" sz="900" strike="sngStrike" kern="0" dirty="0">
                <a:solidFill>
                  <a:srgbClr val="000000"/>
                </a:solidFill>
                <a:latin typeface="Arial"/>
              </a:rPr>
              <a:t>  </a:t>
            </a:r>
            <a:r>
              <a:rPr lang="en-US" sz="900" kern="0" dirty="0">
                <a:solidFill>
                  <a:srgbClr val="000000"/>
                </a:solidFill>
                <a:latin typeface="Arial"/>
              </a:rPr>
              <a:t>  </a:t>
            </a:r>
          </a:p>
          <a:p>
            <a:pPr defTabSz="914400" fontAlgn="base">
              <a:spcBef>
                <a:spcPct val="0"/>
              </a:spcBef>
              <a:spcAft>
                <a:spcPct val="0"/>
              </a:spcAft>
              <a:tabLst>
                <a:tab pos="457200" algn="l"/>
              </a:tabLst>
              <a:defRPr/>
            </a:pPr>
            <a:r>
              <a:rPr lang="en-US" sz="900" kern="0" dirty="0">
                <a:solidFill>
                  <a:srgbClr val="000000"/>
                </a:solidFill>
                <a:latin typeface="Arial"/>
              </a:rPr>
              <a:t>    acc += *</a:t>
            </a:r>
            <a:r>
              <a:rPr lang="en-US" sz="900" kern="0" dirty="0" err="1">
                <a:solidFill>
                  <a:srgbClr val="000000"/>
                </a:solidFill>
                <a:latin typeface="Arial"/>
              </a:rPr>
              <a:t>d_i</a:t>
            </a:r>
            <a:r>
              <a:rPr lang="en-US" sz="900" kern="0" dirty="0">
                <a:solidFill>
                  <a:srgbClr val="000000"/>
                </a:solidFill>
                <a:latin typeface="Arial"/>
              </a:rPr>
              <a:t>;</a:t>
            </a:r>
          </a:p>
          <a:p>
            <a:pPr defTabSz="914400" fontAlgn="base">
              <a:spcBef>
                <a:spcPct val="0"/>
              </a:spcBef>
              <a:spcAft>
                <a:spcPct val="0"/>
              </a:spcAft>
              <a:tabLst>
                <a:tab pos="457200" algn="l"/>
              </a:tabLst>
              <a:defRPr/>
            </a:pPr>
            <a:r>
              <a:rPr lang="en-US" sz="900" kern="0" dirty="0">
                <a:solidFill>
                  <a:srgbClr val="000000"/>
                </a:solidFill>
                <a:latin typeface="Arial"/>
              </a:rPr>
              <a:t>    acc += *</a:t>
            </a:r>
            <a:r>
              <a:rPr lang="en-US" sz="900" kern="0" dirty="0" err="1">
                <a:solidFill>
                  <a:srgbClr val="000000"/>
                </a:solidFill>
                <a:latin typeface="Arial"/>
              </a:rPr>
              <a:t>d_i</a:t>
            </a:r>
            <a:r>
              <a:rPr lang="en-US" sz="900" kern="0" dirty="0">
                <a:solidFill>
                  <a:srgbClr val="000000"/>
                </a:solidFill>
                <a:latin typeface="Arial"/>
              </a:rPr>
              <a:t>;</a:t>
            </a:r>
          </a:p>
          <a:p>
            <a:pPr defTabSz="914400" fontAlgn="base">
              <a:spcBef>
                <a:spcPct val="0"/>
              </a:spcBef>
              <a:spcAft>
                <a:spcPct val="0"/>
              </a:spcAft>
              <a:tabLst>
                <a:tab pos="457200" algn="l"/>
              </a:tabLst>
              <a:defRPr/>
            </a:pPr>
            <a:r>
              <a:rPr lang="en-US" sz="900" kern="0" dirty="0">
                <a:solidFill>
                  <a:srgbClr val="000000"/>
                </a:solidFill>
                <a:latin typeface="Arial"/>
              </a:rPr>
              <a:t>    *</a:t>
            </a:r>
            <a:r>
              <a:rPr lang="en-US" sz="900" kern="0" dirty="0" err="1">
                <a:solidFill>
                  <a:srgbClr val="000000"/>
                </a:solidFill>
                <a:latin typeface="Arial"/>
              </a:rPr>
              <a:t>d_o</a:t>
            </a:r>
            <a:r>
              <a:rPr lang="en-US" sz="900" kern="0" dirty="0">
                <a:solidFill>
                  <a:srgbClr val="000000"/>
                </a:solidFill>
                <a:latin typeface="Arial"/>
              </a:rPr>
              <a:t> = acc;</a:t>
            </a:r>
          </a:p>
          <a:p>
            <a:pPr defTabSz="914400" fontAlgn="base">
              <a:spcBef>
                <a:spcPct val="0"/>
              </a:spcBef>
              <a:spcAft>
                <a:spcPct val="0"/>
              </a:spcAft>
              <a:tabLst>
                <a:tab pos="457200" algn="l"/>
              </a:tabLst>
              <a:defRPr/>
            </a:pPr>
            <a:endParaRPr lang="en-US" sz="900" kern="0" dirty="0">
              <a:solidFill>
                <a:srgbClr val="000000"/>
              </a:solidFill>
              <a:latin typeface="Arial"/>
            </a:endParaRPr>
          </a:p>
          <a:p>
            <a:pPr defTabSz="914400" fontAlgn="base">
              <a:spcBef>
                <a:spcPct val="0"/>
              </a:spcBef>
              <a:spcAft>
                <a:spcPct val="0"/>
              </a:spcAft>
              <a:tabLst>
                <a:tab pos="457200" algn="l"/>
              </a:tabLst>
              <a:defRPr/>
            </a:pPr>
            <a:r>
              <a:rPr lang="en-US" sz="900" kern="0" dirty="0">
                <a:solidFill>
                  <a:srgbClr val="000000"/>
                </a:solidFill>
                <a:latin typeface="Arial"/>
              </a:rPr>
              <a:t>    acc += *</a:t>
            </a:r>
            <a:r>
              <a:rPr lang="en-US" sz="900" kern="0" dirty="0" err="1">
                <a:solidFill>
                  <a:srgbClr val="000000"/>
                </a:solidFill>
                <a:latin typeface="Arial"/>
              </a:rPr>
              <a:t>d_i</a:t>
            </a:r>
            <a:r>
              <a:rPr lang="en-US" sz="900" kern="0" dirty="0">
                <a:solidFill>
                  <a:srgbClr val="000000"/>
                </a:solidFill>
                <a:latin typeface="Arial"/>
              </a:rPr>
              <a:t>;</a:t>
            </a:r>
          </a:p>
          <a:p>
            <a:pPr defTabSz="914400" fontAlgn="base">
              <a:spcBef>
                <a:spcPct val="0"/>
              </a:spcBef>
              <a:spcAft>
                <a:spcPct val="0"/>
              </a:spcAft>
              <a:tabLst>
                <a:tab pos="457200" algn="l"/>
              </a:tabLst>
              <a:defRPr/>
            </a:pPr>
            <a:r>
              <a:rPr lang="en-US" sz="900" kern="0" dirty="0">
                <a:solidFill>
                  <a:srgbClr val="000000"/>
                </a:solidFill>
                <a:latin typeface="Arial"/>
              </a:rPr>
              <a:t>    acc += *</a:t>
            </a:r>
            <a:r>
              <a:rPr lang="en-US" sz="900" kern="0" dirty="0" err="1">
                <a:solidFill>
                  <a:srgbClr val="000000"/>
                </a:solidFill>
                <a:latin typeface="Arial"/>
              </a:rPr>
              <a:t>d_i</a:t>
            </a:r>
            <a:r>
              <a:rPr lang="en-US" sz="900" kern="0" dirty="0">
                <a:solidFill>
                  <a:srgbClr val="000000"/>
                </a:solidFill>
                <a:latin typeface="Arial"/>
              </a:rPr>
              <a:t>;</a:t>
            </a:r>
          </a:p>
          <a:p>
            <a:pPr defTabSz="914400" fontAlgn="base">
              <a:spcBef>
                <a:spcPct val="0"/>
              </a:spcBef>
              <a:spcAft>
                <a:spcPct val="0"/>
              </a:spcAft>
              <a:tabLst>
                <a:tab pos="457200" algn="l"/>
              </a:tabLst>
              <a:defRPr/>
            </a:pPr>
            <a:r>
              <a:rPr lang="en-US" sz="900" kern="0" dirty="0">
                <a:solidFill>
                  <a:srgbClr val="000000"/>
                </a:solidFill>
                <a:latin typeface="Arial"/>
              </a:rPr>
              <a:t>    *</a:t>
            </a:r>
            <a:r>
              <a:rPr lang="en-US" sz="900" kern="0" dirty="0" err="1">
                <a:solidFill>
                  <a:srgbClr val="000000"/>
                </a:solidFill>
                <a:latin typeface="Arial"/>
              </a:rPr>
              <a:t>d_o</a:t>
            </a:r>
            <a:r>
              <a:rPr lang="en-US" sz="900" kern="0" dirty="0">
                <a:solidFill>
                  <a:srgbClr val="000000"/>
                </a:solidFill>
                <a:latin typeface="Arial"/>
              </a:rPr>
              <a:t> = acc;</a:t>
            </a:r>
          </a:p>
          <a:p>
            <a:pPr defTabSz="914400" fontAlgn="base">
              <a:spcBef>
                <a:spcPct val="0"/>
              </a:spcBef>
              <a:spcAft>
                <a:spcPct val="0"/>
              </a:spcAft>
              <a:tabLst>
                <a:tab pos="457200" algn="l"/>
              </a:tabLst>
              <a:defRPr/>
            </a:pPr>
            <a:r>
              <a:rPr lang="en-US" sz="900" kern="0" dirty="0">
                <a:solidFill>
                  <a:srgbClr val="000000"/>
                </a:solidFill>
                <a:latin typeface="Arial"/>
              </a:rPr>
              <a:t>}</a:t>
            </a:r>
          </a:p>
        </p:txBody>
      </p:sp>
      <p:sp>
        <p:nvSpPr>
          <p:cNvPr id="20" name="TextBox 19">
            <a:extLst>
              <a:ext uri="{FF2B5EF4-FFF2-40B4-BE49-F238E27FC236}">
                <a16:creationId xmlns:a16="http://schemas.microsoft.com/office/drawing/2014/main" id="{AADF35C9-1082-4027-A073-29EF418BAB94}"/>
              </a:ext>
            </a:extLst>
          </p:cNvPr>
          <p:cNvSpPr txBox="1"/>
          <p:nvPr/>
        </p:nvSpPr>
        <p:spPr>
          <a:xfrm>
            <a:off x="361168" y="4227300"/>
            <a:ext cx="2559667" cy="2031325"/>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fontAlgn="base">
              <a:spcBef>
                <a:spcPct val="0"/>
              </a:spcBef>
              <a:spcAft>
                <a:spcPct val="0"/>
              </a:spcAft>
              <a:tabLst>
                <a:tab pos="457200" algn="l"/>
              </a:tabLst>
              <a:defRPr/>
            </a:pPr>
            <a:r>
              <a:rPr lang="it-IT" sz="900" kern="0" dirty="0">
                <a:solidFill>
                  <a:srgbClr val="000000"/>
                </a:solidFill>
                <a:latin typeface="Arial"/>
              </a:rPr>
              <a:t>void  </a:t>
            </a:r>
            <a:r>
              <a:rPr lang="it-IT" sz="900" kern="0" dirty="0">
                <a:solidFill>
                  <a:srgbClr val="000000"/>
                </a:solidFill>
              </a:rPr>
              <a:t>pointer_stream_better ( </a:t>
            </a:r>
            <a:endParaRPr lang="it-IT" sz="900" kern="0" dirty="0">
              <a:solidFill>
                <a:srgbClr val="000000"/>
              </a:solidFill>
              <a:latin typeface="Arial"/>
            </a:endParaRPr>
          </a:p>
          <a:p>
            <a:pPr defTabSz="914400" fontAlgn="base">
              <a:spcBef>
                <a:spcPct val="0"/>
              </a:spcBef>
              <a:spcAft>
                <a:spcPct val="0"/>
              </a:spcAft>
              <a:tabLst>
                <a:tab pos="457200" algn="l"/>
              </a:tabLst>
              <a:defRPr/>
            </a:pPr>
            <a:r>
              <a:rPr lang="it-IT" sz="900" b="1" kern="0" dirty="0">
                <a:solidFill>
                  <a:srgbClr val="000000"/>
                </a:solidFill>
                <a:latin typeface="Arial"/>
              </a:rPr>
              <a:t>	volatile int *d_o, </a:t>
            </a:r>
          </a:p>
          <a:p>
            <a:pPr defTabSz="914400" fontAlgn="base">
              <a:spcBef>
                <a:spcPct val="0"/>
              </a:spcBef>
              <a:spcAft>
                <a:spcPct val="0"/>
              </a:spcAft>
              <a:tabLst>
                <a:tab pos="457200" algn="l"/>
              </a:tabLst>
              <a:defRPr/>
            </a:pPr>
            <a:r>
              <a:rPr lang="it-IT" sz="900" b="1" kern="0" dirty="0">
                <a:solidFill>
                  <a:srgbClr val="000000"/>
                </a:solidFill>
                <a:latin typeface="Arial"/>
              </a:rPr>
              <a:t> 	volatile int *d_i</a:t>
            </a:r>
          </a:p>
          <a:p>
            <a:pPr defTabSz="914400" fontAlgn="base">
              <a:spcBef>
                <a:spcPct val="0"/>
              </a:spcBef>
              <a:spcAft>
                <a:spcPct val="0"/>
              </a:spcAft>
              <a:tabLst>
                <a:tab pos="457200" algn="l"/>
              </a:tabLst>
              <a:defRPr/>
            </a:pPr>
            <a:r>
              <a:rPr lang="it-IT" sz="900" kern="0" dirty="0">
                <a:solidFill>
                  <a:srgbClr val="000000"/>
                </a:solidFill>
                <a:latin typeface="Arial"/>
              </a:rPr>
              <a:t>) {</a:t>
            </a:r>
          </a:p>
          <a:p>
            <a:pPr defTabSz="914400" fontAlgn="base">
              <a:spcBef>
                <a:spcPct val="0"/>
              </a:spcBef>
              <a:spcAft>
                <a:spcPct val="0"/>
              </a:spcAft>
              <a:tabLst>
                <a:tab pos="457200" algn="l"/>
              </a:tabLst>
              <a:defRPr/>
            </a:pPr>
            <a:r>
              <a:rPr lang="en-US" sz="900" kern="0" dirty="0">
                <a:solidFill>
                  <a:srgbClr val="000000"/>
                </a:solidFill>
                <a:latin typeface="Arial"/>
              </a:rPr>
              <a:t>  static </a:t>
            </a:r>
            <a:r>
              <a:rPr lang="en-US" sz="900" kern="0" dirty="0" err="1">
                <a:solidFill>
                  <a:srgbClr val="000000"/>
                </a:solidFill>
                <a:latin typeface="Arial"/>
              </a:rPr>
              <a:t>int</a:t>
            </a:r>
            <a:r>
              <a:rPr lang="en-US" sz="900" kern="0" dirty="0">
                <a:solidFill>
                  <a:srgbClr val="000000"/>
                </a:solidFill>
                <a:latin typeface="Arial"/>
              </a:rPr>
              <a:t> acc = 0;</a:t>
            </a:r>
          </a:p>
          <a:p>
            <a:pPr defTabSz="914400" fontAlgn="base">
              <a:spcBef>
                <a:spcPct val="0"/>
              </a:spcBef>
              <a:spcAft>
                <a:spcPct val="0"/>
              </a:spcAft>
              <a:tabLst>
                <a:tab pos="457200" algn="l"/>
              </a:tabLst>
              <a:defRPr/>
            </a:pPr>
            <a:r>
              <a:rPr lang="en-US" sz="900" kern="0" dirty="0">
                <a:solidFill>
                  <a:srgbClr val="000000"/>
                </a:solidFill>
                <a:latin typeface="Arial"/>
              </a:rPr>
              <a:t>  </a:t>
            </a:r>
          </a:p>
          <a:p>
            <a:pPr defTabSz="914400" fontAlgn="base">
              <a:spcBef>
                <a:spcPct val="0"/>
              </a:spcBef>
              <a:spcAft>
                <a:spcPct val="0"/>
              </a:spcAft>
              <a:tabLst>
                <a:tab pos="457200" algn="l"/>
              </a:tabLst>
              <a:defRPr/>
            </a:pPr>
            <a:r>
              <a:rPr lang="en-US" sz="900" kern="0" dirty="0">
                <a:solidFill>
                  <a:srgbClr val="000000"/>
                </a:solidFill>
                <a:latin typeface="Arial"/>
              </a:rPr>
              <a:t>    acc += *</a:t>
            </a:r>
            <a:r>
              <a:rPr lang="en-US" sz="900" kern="0" dirty="0" err="1">
                <a:solidFill>
                  <a:srgbClr val="000000"/>
                </a:solidFill>
                <a:latin typeface="Arial"/>
              </a:rPr>
              <a:t>d_i</a:t>
            </a:r>
            <a:r>
              <a:rPr lang="en-US" sz="900" kern="0" dirty="0">
                <a:solidFill>
                  <a:srgbClr val="000000"/>
                </a:solidFill>
                <a:latin typeface="Arial"/>
              </a:rPr>
              <a:t>;</a:t>
            </a:r>
          </a:p>
          <a:p>
            <a:pPr defTabSz="914400" fontAlgn="base">
              <a:spcBef>
                <a:spcPct val="0"/>
              </a:spcBef>
              <a:spcAft>
                <a:spcPct val="0"/>
              </a:spcAft>
              <a:tabLst>
                <a:tab pos="457200" algn="l"/>
              </a:tabLst>
              <a:defRPr/>
            </a:pPr>
            <a:r>
              <a:rPr lang="en-US" sz="900" kern="0" dirty="0">
                <a:solidFill>
                  <a:srgbClr val="000000"/>
                </a:solidFill>
                <a:latin typeface="Arial"/>
              </a:rPr>
              <a:t>    acc += *</a:t>
            </a:r>
            <a:r>
              <a:rPr lang="en-US" sz="900" kern="0" dirty="0" err="1">
                <a:solidFill>
                  <a:srgbClr val="000000"/>
                </a:solidFill>
                <a:latin typeface="Arial"/>
              </a:rPr>
              <a:t>d_i</a:t>
            </a:r>
            <a:r>
              <a:rPr lang="en-US" sz="900" kern="0" dirty="0">
                <a:solidFill>
                  <a:srgbClr val="000000"/>
                </a:solidFill>
                <a:latin typeface="Arial"/>
              </a:rPr>
              <a:t>;</a:t>
            </a:r>
          </a:p>
          <a:p>
            <a:pPr defTabSz="914400" fontAlgn="base">
              <a:spcBef>
                <a:spcPct val="0"/>
              </a:spcBef>
              <a:spcAft>
                <a:spcPct val="0"/>
              </a:spcAft>
              <a:tabLst>
                <a:tab pos="457200" algn="l"/>
              </a:tabLst>
              <a:defRPr/>
            </a:pPr>
            <a:r>
              <a:rPr lang="en-US" sz="900" kern="0" dirty="0">
                <a:solidFill>
                  <a:srgbClr val="000000"/>
                </a:solidFill>
                <a:latin typeface="Arial"/>
              </a:rPr>
              <a:t>    *</a:t>
            </a:r>
            <a:r>
              <a:rPr lang="en-US" sz="900" kern="0" dirty="0" err="1">
                <a:solidFill>
                  <a:srgbClr val="000000"/>
                </a:solidFill>
                <a:latin typeface="Arial"/>
              </a:rPr>
              <a:t>d_o</a:t>
            </a:r>
            <a:r>
              <a:rPr lang="en-US" sz="900" kern="0" dirty="0">
                <a:solidFill>
                  <a:srgbClr val="000000"/>
                </a:solidFill>
                <a:latin typeface="Arial"/>
              </a:rPr>
              <a:t> = acc;</a:t>
            </a:r>
          </a:p>
          <a:p>
            <a:pPr defTabSz="914400" fontAlgn="base">
              <a:spcBef>
                <a:spcPct val="0"/>
              </a:spcBef>
              <a:spcAft>
                <a:spcPct val="0"/>
              </a:spcAft>
              <a:tabLst>
                <a:tab pos="457200" algn="l"/>
              </a:tabLst>
              <a:defRPr/>
            </a:pPr>
            <a:endParaRPr lang="en-US" sz="900" kern="0" dirty="0">
              <a:solidFill>
                <a:srgbClr val="000000"/>
              </a:solidFill>
              <a:latin typeface="Arial"/>
            </a:endParaRPr>
          </a:p>
          <a:p>
            <a:pPr defTabSz="914400" fontAlgn="base">
              <a:spcBef>
                <a:spcPct val="0"/>
              </a:spcBef>
              <a:spcAft>
                <a:spcPct val="0"/>
              </a:spcAft>
              <a:tabLst>
                <a:tab pos="457200" algn="l"/>
              </a:tabLst>
              <a:defRPr/>
            </a:pPr>
            <a:r>
              <a:rPr lang="en-US" sz="900" kern="0" dirty="0">
                <a:solidFill>
                  <a:srgbClr val="000000"/>
                </a:solidFill>
                <a:latin typeface="Arial"/>
              </a:rPr>
              <a:t>    acc += *</a:t>
            </a:r>
            <a:r>
              <a:rPr lang="en-US" sz="900" kern="0" dirty="0" err="1">
                <a:solidFill>
                  <a:srgbClr val="000000"/>
                </a:solidFill>
                <a:latin typeface="Arial"/>
              </a:rPr>
              <a:t>d_i</a:t>
            </a:r>
            <a:r>
              <a:rPr lang="en-US" sz="900" kern="0" dirty="0">
                <a:solidFill>
                  <a:srgbClr val="000000"/>
                </a:solidFill>
                <a:latin typeface="Arial"/>
              </a:rPr>
              <a:t>;</a:t>
            </a:r>
          </a:p>
          <a:p>
            <a:pPr defTabSz="914400" fontAlgn="base">
              <a:spcBef>
                <a:spcPct val="0"/>
              </a:spcBef>
              <a:spcAft>
                <a:spcPct val="0"/>
              </a:spcAft>
              <a:tabLst>
                <a:tab pos="457200" algn="l"/>
              </a:tabLst>
              <a:defRPr/>
            </a:pPr>
            <a:r>
              <a:rPr lang="en-US" sz="900" kern="0" dirty="0">
                <a:solidFill>
                  <a:srgbClr val="000000"/>
                </a:solidFill>
                <a:latin typeface="Arial"/>
              </a:rPr>
              <a:t>    acc += *</a:t>
            </a:r>
            <a:r>
              <a:rPr lang="en-US" sz="900" kern="0" dirty="0" err="1">
                <a:solidFill>
                  <a:srgbClr val="000000"/>
                </a:solidFill>
                <a:latin typeface="Arial"/>
              </a:rPr>
              <a:t>d_i</a:t>
            </a:r>
            <a:r>
              <a:rPr lang="en-US" sz="900" kern="0" dirty="0">
                <a:solidFill>
                  <a:srgbClr val="000000"/>
                </a:solidFill>
                <a:latin typeface="Arial"/>
              </a:rPr>
              <a:t>;</a:t>
            </a:r>
          </a:p>
          <a:p>
            <a:pPr defTabSz="914400" fontAlgn="base">
              <a:spcBef>
                <a:spcPct val="0"/>
              </a:spcBef>
              <a:spcAft>
                <a:spcPct val="0"/>
              </a:spcAft>
              <a:tabLst>
                <a:tab pos="457200" algn="l"/>
              </a:tabLst>
              <a:defRPr/>
            </a:pPr>
            <a:r>
              <a:rPr lang="en-US" sz="900" kern="0" dirty="0">
                <a:solidFill>
                  <a:srgbClr val="000000"/>
                </a:solidFill>
                <a:latin typeface="Arial"/>
              </a:rPr>
              <a:t>    *</a:t>
            </a:r>
            <a:r>
              <a:rPr lang="en-US" sz="900" kern="0" dirty="0" err="1">
                <a:solidFill>
                  <a:srgbClr val="000000"/>
                </a:solidFill>
                <a:latin typeface="Arial"/>
              </a:rPr>
              <a:t>d_o</a:t>
            </a:r>
            <a:r>
              <a:rPr lang="en-US" sz="900" kern="0" dirty="0">
                <a:solidFill>
                  <a:srgbClr val="000000"/>
                </a:solidFill>
                <a:latin typeface="Arial"/>
              </a:rPr>
              <a:t> = acc;</a:t>
            </a:r>
          </a:p>
          <a:p>
            <a:pPr defTabSz="914400" fontAlgn="base">
              <a:spcBef>
                <a:spcPct val="0"/>
              </a:spcBef>
              <a:spcAft>
                <a:spcPct val="0"/>
              </a:spcAft>
              <a:tabLst>
                <a:tab pos="457200" algn="l"/>
              </a:tabLst>
              <a:defRPr/>
            </a:pPr>
            <a:r>
              <a:rPr lang="en-US" sz="900" kern="0" dirty="0">
                <a:solidFill>
                  <a:srgbClr val="000000"/>
                </a:solidFill>
                <a:latin typeface="Arial"/>
              </a:rPr>
              <a:t>}</a:t>
            </a:r>
          </a:p>
        </p:txBody>
      </p:sp>
      <p:pic>
        <p:nvPicPr>
          <p:cNvPr id="21" name="Picture 20" descr="402b.PNG">
            <a:extLst>
              <a:ext uri="{FF2B5EF4-FFF2-40B4-BE49-F238E27FC236}">
                <a16:creationId xmlns:a16="http://schemas.microsoft.com/office/drawing/2014/main" id="{647A8537-9792-40AA-A419-DCF4FA036C9C}"/>
              </a:ext>
            </a:extLst>
          </p:cNvPr>
          <p:cNvPicPr>
            <a:picLocks noChangeAspect="1"/>
          </p:cNvPicPr>
          <p:nvPr/>
        </p:nvPicPr>
        <p:blipFill>
          <a:blip r:embed="rId3"/>
          <a:stretch>
            <a:fillRect/>
          </a:stretch>
        </p:blipFill>
        <p:spPr>
          <a:xfrm>
            <a:off x="3075594" y="4342515"/>
            <a:ext cx="8907640" cy="1908271"/>
          </a:xfrm>
          <a:prstGeom prst="rect">
            <a:avLst/>
          </a:prstGeom>
          <a:ln>
            <a:noFill/>
          </a:ln>
          <a:effectLst>
            <a:outerShdw blurRad="292100" dist="139700" dir="2700000" algn="tl" rotWithShape="0">
              <a:srgbClr val="333333">
                <a:alpha val="65000"/>
              </a:srgbClr>
            </a:outerShdw>
          </a:effectLst>
        </p:spPr>
      </p:pic>
      <p:sp>
        <p:nvSpPr>
          <p:cNvPr id="22" name="Rounded Rectangle 8">
            <a:extLst>
              <a:ext uri="{FF2B5EF4-FFF2-40B4-BE49-F238E27FC236}">
                <a16:creationId xmlns:a16="http://schemas.microsoft.com/office/drawing/2014/main" id="{01EF65AD-2703-46A9-8E55-A54287111CC6}"/>
              </a:ext>
            </a:extLst>
          </p:cNvPr>
          <p:cNvSpPr/>
          <p:nvPr/>
        </p:nvSpPr>
        <p:spPr>
          <a:xfrm>
            <a:off x="4560202" y="2537478"/>
            <a:ext cx="1586993" cy="205724"/>
          </a:xfrm>
          <a:prstGeom prst="roundRect">
            <a:avLst/>
          </a:prstGeom>
          <a:gradFill rotWithShape="1">
            <a:gsLst>
              <a:gs pos="0">
                <a:srgbClr val="D9DA56">
                  <a:shade val="51000"/>
                  <a:satMod val="130000"/>
                </a:srgbClr>
              </a:gs>
              <a:gs pos="80000">
                <a:srgbClr val="D9DA56">
                  <a:shade val="93000"/>
                  <a:satMod val="130000"/>
                </a:srgbClr>
              </a:gs>
              <a:gs pos="100000">
                <a:srgbClr val="D9DA56">
                  <a:shade val="94000"/>
                  <a:satMod val="135000"/>
                </a:srgbClr>
              </a:gs>
            </a:gsLst>
            <a:lin ang="16200000" scaled="0"/>
          </a:gradFill>
          <a:ln w="9525" cap="flat" cmpd="sng" algn="ctr">
            <a:solidFill>
              <a:srgbClr val="D9DA56">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r>
              <a:rPr lang="en-US" sz="1050" b="1" kern="0" dirty="0">
                <a:solidFill>
                  <a:srgbClr val="FFFFFF"/>
                </a:solidFill>
                <a:latin typeface="Arial"/>
              </a:rPr>
              <a:t>1 Input read</a:t>
            </a:r>
          </a:p>
        </p:txBody>
      </p:sp>
      <p:sp>
        <p:nvSpPr>
          <p:cNvPr id="23" name="Rounded Rectangle 12">
            <a:extLst>
              <a:ext uri="{FF2B5EF4-FFF2-40B4-BE49-F238E27FC236}">
                <a16:creationId xmlns:a16="http://schemas.microsoft.com/office/drawing/2014/main" id="{128B1A09-9D7B-4A85-B502-9CB21D784BA6}"/>
              </a:ext>
            </a:extLst>
          </p:cNvPr>
          <p:cNvSpPr/>
          <p:nvPr/>
        </p:nvSpPr>
        <p:spPr>
          <a:xfrm>
            <a:off x="4560202" y="3138259"/>
            <a:ext cx="1586993" cy="205724"/>
          </a:xfrm>
          <a:prstGeom prst="roundRect">
            <a:avLst/>
          </a:prstGeom>
          <a:gradFill rotWithShape="1">
            <a:gsLst>
              <a:gs pos="0">
                <a:srgbClr val="D9DA56">
                  <a:shade val="51000"/>
                  <a:satMod val="130000"/>
                </a:srgbClr>
              </a:gs>
              <a:gs pos="80000">
                <a:srgbClr val="D9DA56">
                  <a:shade val="93000"/>
                  <a:satMod val="130000"/>
                </a:srgbClr>
              </a:gs>
              <a:gs pos="100000">
                <a:srgbClr val="D9DA56">
                  <a:shade val="94000"/>
                  <a:satMod val="135000"/>
                </a:srgbClr>
              </a:gs>
            </a:gsLst>
            <a:lin ang="16200000" scaled="0"/>
          </a:gradFill>
          <a:ln w="9525" cap="flat" cmpd="sng" algn="ctr">
            <a:solidFill>
              <a:srgbClr val="D9DA56">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r>
              <a:rPr lang="en-US" sz="1050" b="1" kern="0" dirty="0">
                <a:solidFill>
                  <a:srgbClr val="FFFFFF"/>
                </a:solidFill>
                <a:latin typeface="Arial"/>
              </a:rPr>
              <a:t>1 Output write</a:t>
            </a:r>
          </a:p>
        </p:txBody>
      </p:sp>
      <p:sp>
        <p:nvSpPr>
          <p:cNvPr id="24" name="Rounded Rectangle 13">
            <a:extLst>
              <a:ext uri="{FF2B5EF4-FFF2-40B4-BE49-F238E27FC236}">
                <a16:creationId xmlns:a16="http://schemas.microsoft.com/office/drawing/2014/main" id="{E35F76E1-F5BA-4E3B-842F-E56402F2BBB3}"/>
              </a:ext>
            </a:extLst>
          </p:cNvPr>
          <p:cNvSpPr/>
          <p:nvPr/>
        </p:nvSpPr>
        <p:spPr>
          <a:xfrm>
            <a:off x="4611396" y="4995398"/>
            <a:ext cx="1586993" cy="205724"/>
          </a:xfrm>
          <a:prstGeom prst="roundRect">
            <a:avLst/>
          </a:prstGeom>
          <a:gradFill rotWithShape="1">
            <a:gsLst>
              <a:gs pos="0">
                <a:srgbClr val="D9DA56">
                  <a:shade val="51000"/>
                  <a:satMod val="130000"/>
                </a:srgbClr>
              </a:gs>
              <a:gs pos="80000">
                <a:srgbClr val="D9DA56">
                  <a:shade val="93000"/>
                  <a:satMod val="130000"/>
                </a:srgbClr>
              </a:gs>
              <a:gs pos="100000">
                <a:srgbClr val="D9DA56">
                  <a:shade val="94000"/>
                  <a:satMod val="135000"/>
                </a:srgbClr>
              </a:gs>
            </a:gsLst>
            <a:lin ang="16200000" scaled="0"/>
          </a:gradFill>
          <a:ln w="9525" cap="flat" cmpd="sng" algn="ctr">
            <a:solidFill>
              <a:srgbClr val="D9DA56">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r>
              <a:rPr lang="en-US" sz="1050" b="1" kern="0" dirty="0">
                <a:solidFill>
                  <a:srgbClr val="FFFFFF"/>
                </a:solidFill>
                <a:latin typeface="Arial"/>
              </a:rPr>
              <a:t>4 Input reads</a:t>
            </a:r>
          </a:p>
        </p:txBody>
      </p:sp>
      <p:sp>
        <p:nvSpPr>
          <p:cNvPr id="25" name="Rounded Rectangle 14">
            <a:extLst>
              <a:ext uri="{FF2B5EF4-FFF2-40B4-BE49-F238E27FC236}">
                <a16:creationId xmlns:a16="http://schemas.microsoft.com/office/drawing/2014/main" id="{24FC2D5F-D542-4776-8B5E-04A48ABBF24E}"/>
              </a:ext>
            </a:extLst>
          </p:cNvPr>
          <p:cNvSpPr/>
          <p:nvPr/>
        </p:nvSpPr>
        <p:spPr>
          <a:xfrm>
            <a:off x="4611396" y="5596179"/>
            <a:ext cx="1586993" cy="205724"/>
          </a:xfrm>
          <a:prstGeom prst="roundRect">
            <a:avLst/>
          </a:prstGeom>
          <a:gradFill rotWithShape="1">
            <a:gsLst>
              <a:gs pos="0">
                <a:srgbClr val="D9DA56">
                  <a:shade val="51000"/>
                  <a:satMod val="130000"/>
                </a:srgbClr>
              </a:gs>
              <a:gs pos="80000">
                <a:srgbClr val="D9DA56">
                  <a:shade val="93000"/>
                  <a:satMod val="130000"/>
                </a:srgbClr>
              </a:gs>
              <a:gs pos="100000">
                <a:srgbClr val="D9DA56">
                  <a:shade val="94000"/>
                  <a:satMod val="135000"/>
                </a:srgbClr>
              </a:gs>
            </a:gsLst>
            <a:lin ang="16200000" scaled="0"/>
          </a:gradFill>
          <a:ln w="9525" cap="flat" cmpd="sng" algn="ctr">
            <a:solidFill>
              <a:srgbClr val="D9DA56">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r>
              <a:rPr lang="en-US" sz="1050" b="1" kern="0" dirty="0">
                <a:solidFill>
                  <a:srgbClr val="FFFFFF"/>
                </a:solidFill>
                <a:latin typeface="Arial"/>
              </a:rPr>
              <a:t>2 Output writes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Multi-Access Pointers: the effect of volatile</a:t>
            </a:r>
          </a:p>
        </p:txBody>
      </p:sp>
      <p:sp>
        <p:nvSpPr>
          <p:cNvPr id="3" name="Content Placeholder 2"/>
          <p:cNvSpPr>
            <a:spLocks noGrp="1"/>
          </p:cNvSpPr>
          <p:nvPr>
            <p:ph idx="1"/>
          </p:nvPr>
        </p:nvSpPr>
        <p:spPr/>
        <p:txBody>
          <a:bodyPr/>
          <a:lstStyle/>
          <a:p>
            <a:r>
              <a:rPr lang="en-US" dirty="0"/>
              <a:t>Easier to see with a simple example</a:t>
            </a:r>
          </a:p>
        </p:txBody>
      </p:sp>
      <p:sp>
        <p:nvSpPr>
          <p:cNvPr id="17" name="Slide Number Placeholder 16"/>
          <p:cNvSpPr>
            <a:spLocks noGrp="1"/>
          </p:cNvSpPr>
          <p:nvPr>
            <p:ph type="sldNum" sz="quarter" idx="10"/>
          </p:nvPr>
        </p:nvSpPr>
        <p:spPr/>
        <p:txBody>
          <a:bodyPr/>
          <a:lstStyle/>
          <a:p>
            <a:pPr defTabSz="914400">
              <a:defRPr/>
            </a:pPr>
            <a:r>
              <a:rPr lang="en-US" dirty="0">
                <a:solidFill>
                  <a:srgbClr val="0C0C0C">
                    <a:tint val="75000"/>
                  </a:srgbClr>
                </a:solidFill>
                <a:latin typeface="Arial"/>
              </a:rPr>
              <a:t>Coding Considerations 23- </a:t>
            </a:r>
            <a:fld id="{060BD193-E118-4B16-863C-C8C12C675E3E}" type="slidenum">
              <a:rPr lang="en-US">
                <a:solidFill>
                  <a:srgbClr val="0C0C0C">
                    <a:tint val="75000"/>
                  </a:srgbClr>
                </a:solidFill>
                <a:latin typeface="Arial"/>
              </a:rPr>
              <a:pPr defTabSz="914400">
                <a:defRPr/>
              </a:pPr>
              <a:t>51</a:t>
            </a:fld>
            <a:endParaRPr lang="en-US" dirty="0">
              <a:solidFill>
                <a:srgbClr val="0C0C0C">
                  <a:tint val="75000"/>
                </a:srgbClr>
              </a:solidFill>
              <a:latin typeface="Arial"/>
            </a:endParaRPr>
          </a:p>
        </p:txBody>
      </p:sp>
      <p:sp>
        <p:nvSpPr>
          <p:cNvPr id="16" name="TextBox 15"/>
          <p:cNvSpPr txBox="1"/>
          <p:nvPr/>
        </p:nvSpPr>
        <p:spPr>
          <a:xfrm>
            <a:off x="6966287" y="1124701"/>
            <a:ext cx="4300240" cy="738664"/>
          </a:xfrm>
          <a:prstGeom prst="rect">
            <a:avLst/>
          </a:prstGeom>
          <a:solidFill>
            <a:srgbClr val="FFFF99"/>
          </a:solidFill>
          <a:ln>
            <a:solidFill>
              <a:schemeClr val="tx1"/>
            </a:solidFill>
          </a:ln>
          <a:effectLst>
            <a:innerShdw blurRad="63500" dist="50800" dir="2700000">
              <a:prstClr val="black">
                <a:alpha val="50000"/>
              </a:prstClr>
            </a:innerShdw>
          </a:effectLst>
        </p:spPr>
        <p:txBody>
          <a:bodyPr wrap="square" rtlCol="0">
            <a:spAutoFit/>
          </a:bodyPr>
          <a:lstStyle/>
          <a:p>
            <a:pPr algn="ctr" defTabSz="914400"/>
            <a:r>
              <a:rPr lang="en-US" sz="1400" b="1" dirty="0">
                <a:solidFill>
                  <a:srgbClr val="0C0C0C"/>
                </a:solidFill>
                <a:latin typeface="Arial"/>
              </a:rPr>
              <a:t>C compilers will optimize multiple accesses on the same (non-volatile) pointer into a single access : </a:t>
            </a:r>
            <a:r>
              <a:rPr lang="en-US" sz="1400" b="1" u="sng" dirty="0" err="1">
                <a:solidFill>
                  <a:srgbClr val="FF0000"/>
                </a:solidFill>
                <a:latin typeface="Arial"/>
              </a:rPr>
              <a:t>Vitis</a:t>
            </a:r>
            <a:r>
              <a:rPr lang="en-US" sz="1400" b="1" u="sng" dirty="0">
                <a:solidFill>
                  <a:srgbClr val="0C0C0C"/>
                </a:solidFill>
                <a:latin typeface="Arial"/>
              </a:rPr>
              <a:t> HLS matches this behavior</a:t>
            </a:r>
          </a:p>
        </p:txBody>
      </p:sp>
      <p:pic>
        <p:nvPicPr>
          <p:cNvPr id="18" name="Picture 17" descr="402a.PNG">
            <a:extLst>
              <a:ext uri="{FF2B5EF4-FFF2-40B4-BE49-F238E27FC236}">
                <a16:creationId xmlns:a16="http://schemas.microsoft.com/office/drawing/2014/main" id="{7D189CCE-D058-4854-840E-08A4595BBD56}"/>
              </a:ext>
            </a:extLst>
          </p:cNvPr>
          <p:cNvPicPr>
            <a:picLocks noChangeAspect="1"/>
          </p:cNvPicPr>
          <p:nvPr/>
        </p:nvPicPr>
        <p:blipFill>
          <a:blip r:embed="rId2"/>
          <a:stretch>
            <a:fillRect/>
          </a:stretch>
        </p:blipFill>
        <p:spPr>
          <a:xfrm>
            <a:off x="3075595" y="1884595"/>
            <a:ext cx="8934019" cy="1865285"/>
          </a:xfrm>
          <a:prstGeom prst="rect">
            <a:avLst/>
          </a:prstGeom>
          <a:ln>
            <a:noFill/>
          </a:ln>
          <a:effectLst>
            <a:outerShdw blurRad="292100" dist="139700" dir="2700000" algn="tl" rotWithShape="0">
              <a:srgbClr val="333333">
                <a:alpha val="65000"/>
              </a:srgbClr>
            </a:outerShdw>
          </a:effectLst>
        </p:spPr>
      </p:pic>
      <p:sp>
        <p:nvSpPr>
          <p:cNvPr id="19" name="TextBox 18">
            <a:extLst>
              <a:ext uri="{FF2B5EF4-FFF2-40B4-BE49-F238E27FC236}">
                <a16:creationId xmlns:a16="http://schemas.microsoft.com/office/drawing/2014/main" id="{4253D8F4-24FB-48C6-85FE-6AD573DDCAD8}"/>
              </a:ext>
            </a:extLst>
          </p:cNvPr>
          <p:cNvSpPr txBox="1"/>
          <p:nvPr/>
        </p:nvSpPr>
        <p:spPr>
          <a:xfrm>
            <a:off x="361168" y="1807785"/>
            <a:ext cx="2559667" cy="2169825"/>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tabLst>
                <a:tab pos="457200" algn="l"/>
              </a:tabLst>
              <a:defRPr/>
            </a:pPr>
            <a:r>
              <a:rPr lang="en-US" sz="900" kern="0" dirty="0">
                <a:solidFill>
                  <a:srgbClr val="000000"/>
                </a:solidFill>
                <a:latin typeface="Arial"/>
              </a:rPr>
              <a:t>void </a:t>
            </a:r>
            <a:r>
              <a:rPr lang="en-US" sz="900" strike="sngStrike" kern="0" dirty="0" err="1">
                <a:solidFill>
                  <a:srgbClr val="000000"/>
                </a:solidFill>
                <a:latin typeface="Arial"/>
              </a:rPr>
              <a:t>fifo</a:t>
            </a:r>
            <a:r>
              <a:rPr lang="en-US" sz="900" strike="sngStrike" kern="0" dirty="0">
                <a:solidFill>
                  <a:srgbClr val="000000"/>
                </a:solidFill>
                <a:latin typeface="Arial"/>
              </a:rPr>
              <a:t> </a:t>
            </a:r>
            <a:r>
              <a:rPr lang="en-US" sz="900" kern="0" dirty="0" err="1">
                <a:solidFill>
                  <a:srgbClr val="000000"/>
                </a:solidFill>
                <a:highlight>
                  <a:srgbClr val="FFFF00"/>
                </a:highlight>
                <a:latin typeface="Arial"/>
              </a:rPr>
              <a:t>pointer_stream_bad</a:t>
            </a:r>
            <a:r>
              <a:rPr lang="en-US" sz="900" kern="0" dirty="0">
                <a:solidFill>
                  <a:srgbClr val="000000"/>
                </a:solidFill>
                <a:highlight>
                  <a:srgbClr val="FFFF00"/>
                </a:highlight>
                <a:latin typeface="Arial"/>
              </a:rPr>
              <a:t> </a:t>
            </a:r>
            <a:r>
              <a:rPr lang="en-US" sz="900" kern="0" dirty="0">
                <a:solidFill>
                  <a:srgbClr val="000000"/>
                </a:solidFill>
                <a:latin typeface="Arial"/>
              </a:rPr>
              <a:t>( </a:t>
            </a:r>
          </a:p>
          <a:p>
            <a:pPr defTabSz="914400" fontAlgn="base">
              <a:spcBef>
                <a:spcPct val="0"/>
              </a:spcBef>
              <a:spcAft>
                <a:spcPct val="0"/>
              </a:spcAft>
              <a:tabLst>
                <a:tab pos="457200" algn="l"/>
              </a:tabLst>
              <a:defRPr/>
            </a:pPr>
            <a:r>
              <a:rPr lang="en-US" sz="900" kern="0" dirty="0">
                <a:solidFill>
                  <a:srgbClr val="000000"/>
                </a:solidFill>
                <a:latin typeface="Arial"/>
              </a:rPr>
              <a:t>	</a:t>
            </a:r>
            <a:r>
              <a:rPr lang="en-US" sz="900" kern="0" dirty="0" err="1">
                <a:solidFill>
                  <a:srgbClr val="000000"/>
                </a:solidFill>
                <a:latin typeface="Arial"/>
              </a:rPr>
              <a:t>int</a:t>
            </a:r>
            <a:r>
              <a:rPr lang="en-US" sz="900" kern="0" dirty="0">
                <a:solidFill>
                  <a:srgbClr val="000000"/>
                </a:solidFill>
                <a:latin typeface="Arial"/>
              </a:rPr>
              <a:t> *</a:t>
            </a:r>
            <a:r>
              <a:rPr lang="en-US" sz="900" kern="0" dirty="0" err="1">
                <a:solidFill>
                  <a:srgbClr val="000000"/>
                </a:solidFill>
                <a:latin typeface="Arial"/>
              </a:rPr>
              <a:t>d_o</a:t>
            </a:r>
            <a:r>
              <a:rPr lang="en-US" sz="900" kern="0" dirty="0">
                <a:solidFill>
                  <a:srgbClr val="000000"/>
                </a:solidFill>
                <a:latin typeface="Arial"/>
              </a:rPr>
              <a:t>,  </a:t>
            </a:r>
          </a:p>
          <a:p>
            <a:pPr defTabSz="914400" fontAlgn="base">
              <a:spcBef>
                <a:spcPct val="0"/>
              </a:spcBef>
              <a:spcAft>
                <a:spcPct val="0"/>
              </a:spcAft>
              <a:tabLst>
                <a:tab pos="457200" algn="l"/>
              </a:tabLst>
              <a:defRPr/>
            </a:pPr>
            <a:r>
              <a:rPr lang="en-US" sz="900" kern="0" dirty="0">
                <a:solidFill>
                  <a:srgbClr val="000000"/>
                </a:solidFill>
                <a:latin typeface="Arial"/>
              </a:rPr>
              <a:t>	</a:t>
            </a:r>
            <a:r>
              <a:rPr lang="en-US" sz="900" kern="0" dirty="0" err="1">
                <a:solidFill>
                  <a:srgbClr val="000000"/>
                </a:solidFill>
                <a:latin typeface="Arial"/>
              </a:rPr>
              <a:t>int</a:t>
            </a:r>
            <a:r>
              <a:rPr lang="en-US" sz="900" kern="0" dirty="0">
                <a:solidFill>
                  <a:srgbClr val="000000"/>
                </a:solidFill>
                <a:latin typeface="Arial"/>
              </a:rPr>
              <a:t> *</a:t>
            </a:r>
            <a:r>
              <a:rPr lang="en-US" sz="900" kern="0" dirty="0" err="1">
                <a:solidFill>
                  <a:srgbClr val="000000"/>
                </a:solidFill>
                <a:latin typeface="Arial"/>
              </a:rPr>
              <a:t>d_i</a:t>
            </a:r>
            <a:endParaRPr lang="en-US" sz="900" kern="0" dirty="0">
              <a:solidFill>
                <a:srgbClr val="000000"/>
              </a:solidFill>
              <a:latin typeface="Arial"/>
            </a:endParaRPr>
          </a:p>
          <a:p>
            <a:pPr defTabSz="914400" fontAlgn="base">
              <a:spcBef>
                <a:spcPct val="0"/>
              </a:spcBef>
              <a:spcAft>
                <a:spcPct val="0"/>
              </a:spcAft>
              <a:tabLst>
                <a:tab pos="457200" algn="l"/>
              </a:tabLst>
              <a:defRPr/>
            </a:pPr>
            <a:r>
              <a:rPr lang="en-US" sz="900" kern="0" dirty="0">
                <a:solidFill>
                  <a:srgbClr val="000000"/>
                </a:solidFill>
                <a:latin typeface="Arial"/>
              </a:rPr>
              <a:t>) {</a:t>
            </a:r>
          </a:p>
          <a:p>
            <a:pPr defTabSz="914400" fontAlgn="base">
              <a:spcBef>
                <a:spcPct val="0"/>
              </a:spcBef>
              <a:spcAft>
                <a:spcPct val="0"/>
              </a:spcAft>
              <a:tabLst>
                <a:tab pos="457200" algn="l"/>
              </a:tabLst>
              <a:defRPr/>
            </a:pPr>
            <a:r>
              <a:rPr lang="en-US" sz="900" kern="0" dirty="0">
                <a:solidFill>
                  <a:srgbClr val="000000"/>
                </a:solidFill>
                <a:latin typeface="Arial"/>
              </a:rPr>
              <a:t>  static </a:t>
            </a:r>
            <a:r>
              <a:rPr lang="en-US" sz="900" kern="0" dirty="0" err="1">
                <a:solidFill>
                  <a:srgbClr val="000000"/>
                </a:solidFill>
                <a:latin typeface="Arial"/>
              </a:rPr>
              <a:t>int</a:t>
            </a:r>
            <a:r>
              <a:rPr lang="en-US" sz="900" kern="0" dirty="0">
                <a:solidFill>
                  <a:srgbClr val="000000"/>
                </a:solidFill>
                <a:latin typeface="Arial"/>
              </a:rPr>
              <a:t> acc = 0;</a:t>
            </a:r>
          </a:p>
          <a:p>
            <a:pPr defTabSz="914400" fontAlgn="base">
              <a:spcBef>
                <a:spcPct val="0"/>
              </a:spcBef>
              <a:spcAft>
                <a:spcPct val="0"/>
              </a:spcAft>
              <a:tabLst>
                <a:tab pos="457200" algn="l"/>
              </a:tabLst>
              <a:defRPr/>
            </a:pPr>
            <a:r>
              <a:rPr lang="en-US" sz="900" strike="sngStrike" kern="0" dirty="0">
                <a:solidFill>
                  <a:srgbClr val="000000"/>
                </a:solidFill>
                <a:latin typeface="Arial"/>
              </a:rPr>
              <a:t>  </a:t>
            </a:r>
            <a:r>
              <a:rPr lang="en-US" sz="900" strike="sngStrike" kern="0" dirty="0" err="1">
                <a:solidFill>
                  <a:srgbClr val="000000"/>
                </a:solidFill>
                <a:latin typeface="Arial"/>
              </a:rPr>
              <a:t>int</a:t>
            </a:r>
            <a:r>
              <a:rPr lang="en-US" sz="900" strike="sngStrike" kern="0" dirty="0">
                <a:solidFill>
                  <a:srgbClr val="000000"/>
                </a:solidFill>
                <a:latin typeface="Arial"/>
              </a:rPr>
              <a:t> </a:t>
            </a:r>
            <a:r>
              <a:rPr lang="en-US" sz="900" strike="sngStrike" kern="0" dirty="0" err="1">
                <a:solidFill>
                  <a:srgbClr val="000000"/>
                </a:solidFill>
                <a:latin typeface="Arial"/>
              </a:rPr>
              <a:t>cnt</a:t>
            </a:r>
            <a:r>
              <a:rPr lang="en-US" sz="900" strike="sngStrike" kern="0" dirty="0">
                <a:solidFill>
                  <a:srgbClr val="000000"/>
                </a:solidFill>
                <a:latin typeface="Arial"/>
              </a:rPr>
              <a:t>;</a:t>
            </a:r>
          </a:p>
          <a:p>
            <a:pPr defTabSz="914400" fontAlgn="base">
              <a:spcBef>
                <a:spcPct val="0"/>
              </a:spcBef>
              <a:spcAft>
                <a:spcPct val="0"/>
              </a:spcAft>
              <a:tabLst>
                <a:tab pos="457200" algn="l"/>
              </a:tabLst>
              <a:defRPr/>
            </a:pPr>
            <a:r>
              <a:rPr lang="en-US" sz="900" kern="0" dirty="0">
                <a:solidFill>
                  <a:srgbClr val="000000"/>
                </a:solidFill>
                <a:latin typeface="Arial"/>
              </a:rPr>
              <a:t>  </a:t>
            </a:r>
          </a:p>
          <a:p>
            <a:pPr defTabSz="914400" fontAlgn="base">
              <a:spcBef>
                <a:spcPct val="0"/>
              </a:spcBef>
              <a:spcAft>
                <a:spcPct val="0"/>
              </a:spcAft>
              <a:tabLst>
                <a:tab pos="457200" algn="l"/>
              </a:tabLst>
              <a:defRPr/>
            </a:pPr>
            <a:r>
              <a:rPr lang="en-US" sz="900" kern="0" dirty="0">
                <a:solidFill>
                  <a:srgbClr val="000000"/>
                </a:solidFill>
                <a:latin typeface="Arial"/>
              </a:rPr>
              <a:t>    acc += *</a:t>
            </a:r>
            <a:r>
              <a:rPr lang="en-US" sz="900" kern="0" dirty="0" err="1">
                <a:solidFill>
                  <a:srgbClr val="000000"/>
                </a:solidFill>
                <a:latin typeface="Arial"/>
              </a:rPr>
              <a:t>d_i</a:t>
            </a:r>
            <a:r>
              <a:rPr lang="en-US" sz="900" kern="0" dirty="0">
                <a:solidFill>
                  <a:srgbClr val="000000"/>
                </a:solidFill>
                <a:latin typeface="Arial"/>
              </a:rPr>
              <a:t>;</a:t>
            </a:r>
          </a:p>
          <a:p>
            <a:pPr defTabSz="914400" fontAlgn="base">
              <a:spcBef>
                <a:spcPct val="0"/>
              </a:spcBef>
              <a:spcAft>
                <a:spcPct val="0"/>
              </a:spcAft>
              <a:tabLst>
                <a:tab pos="457200" algn="l"/>
              </a:tabLst>
              <a:defRPr/>
            </a:pPr>
            <a:r>
              <a:rPr lang="en-US" sz="900" kern="0" dirty="0">
                <a:solidFill>
                  <a:srgbClr val="000000"/>
                </a:solidFill>
                <a:latin typeface="Arial"/>
              </a:rPr>
              <a:t>    acc += *</a:t>
            </a:r>
            <a:r>
              <a:rPr lang="en-US" sz="900" kern="0" dirty="0" err="1">
                <a:solidFill>
                  <a:srgbClr val="000000"/>
                </a:solidFill>
                <a:latin typeface="Arial"/>
              </a:rPr>
              <a:t>d_i</a:t>
            </a:r>
            <a:r>
              <a:rPr lang="en-US" sz="900" kern="0" dirty="0">
                <a:solidFill>
                  <a:srgbClr val="000000"/>
                </a:solidFill>
                <a:latin typeface="Arial"/>
              </a:rPr>
              <a:t>;</a:t>
            </a:r>
          </a:p>
          <a:p>
            <a:pPr defTabSz="914400" fontAlgn="base">
              <a:spcBef>
                <a:spcPct val="0"/>
              </a:spcBef>
              <a:spcAft>
                <a:spcPct val="0"/>
              </a:spcAft>
              <a:tabLst>
                <a:tab pos="457200" algn="l"/>
              </a:tabLst>
              <a:defRPr/>
            </a:pPr>
            <a:r>
              <a:rPr lang="en-US" sz="900" kern="0" dirty="0">
                <a:solidFill>
                  <a:srgbClr val="000000"/>
                </a:solidFill>
                <a:latin typeface="Arial"/>
              </a:rPr>
              <a:t>    *</a:t>
            </a:r>
            <a:r>
              <a:rPr lang="en-US" sz="900" kern="0" dirty="0" err="1">
                <a:solidFill>
                  <a:srgbClr val="000000"/>
                </a:solidFill>
                <a:latin typeface="Arial"/>
              </a:rPr>
              <a:t>d_o</a:t>
            </a:r>
            <a:r>
              <a:rPr lang="en-US" sz="900" kern="0" dirty="0">
                <a:solidFill>
                  <a:srgbClr val="000000"/>
                </a:solidFill>
                <a:latin typeface="Arial"/>
              </a:rPr>
              <a:t> = acc;</a:t>
            </a:r>
          </a:p>
          <a:p>
            <a:pPr defTabSz="914400" fontAlgn="base">
              <a:spcBef>
                <a:spcPct val="0"/>
              </a:spcBef>
              <a:spcAft>
                <a:spcPct val="0"/>
              </a:spcAft>
              <a:tabLst>
                <a:tab pos="457200" algn="l"/>
              </a:tabLst>
              <a:defRPr/>
            </a:pPr>
            <a:endParaRPr lang="en-US" sz="900" kern="0" dirty="0">
              <a:solidFill>
                <a:srgbClr val="000000"/>
              </a:solidFill>
              <a:latin typeface="Arial"/>
            </a:endParaRPr>
          </a:p>
          <a:p>
            <a:pPr defTabSz="914400" fontAlgn="base">
              <a:spcBef>
                <a:spcPct val="0"/>
              </a:spcBef>
              <a:spcAft>
                <a:spcPct val="0"/>
              </a:spcAft>
              <a:tabLst>
                <a:tab pos="457200" algn="l"/>
              </a:tabLst>
              <a:defRPr/>
            </a:pPr>
            <a:r>
              <a:rPr lang="en-US" sz="900" kern="0" dirty="0">
                <a:solidFill>
                  <a:srgbClr val="000000"/>
                </a:solidFill>
                <a:latin typeface="Arial"/>
              </a:rPr>
              <a:t>    acc += *</a:t>
            </a:r>
            <a:r>
              <a:rPr lang="en-US" sz="900" kern="0" dirty="0" err="1">
                <a:solidFill>
                  <a:srgbClr val="000000"/>
                </a:solidFill>
                <a:latin typeface="Arial"/>
              </a:rPr>
              <a:t>d_i</a:t>
            </a:r>
            <a:r>
              <a:rPr lang="en-US" sz="900" kern="0" dirty="0">
                <a:solidFill>
                  <a:srgbClr val="000000"/>
                </a:solidFill>
                <a:latin typeface="Arial"/>
              </a:rPr>
              <a:t>;</a:t>
            </a:r>
          </a:p>
          <a:p>
            <a:pPr defTabSz="914400" fontAlgn="base">
              <a:spcBef>
                <a:spcPct val="0"/>
              </a:spcBef>
              <a:spcAft>
                <a:spcPct val="0"/>
              </a:spcAft>
              <a:tabLst>
                <a:tab pos="457200" algn="l"/>
              </a:tabLst>
              <a:defRPr/>
            </a:pPr>
            <a:r>
              <a:rPr lang="en-US" sz="900" kern="0" dirty="0">
                <a:solidFill>
                  <a:srgbClr val="000000"/>
                </a:solidFill>
                <a:latin typeface="Arial"/>
              </a:rPr>
              <a:t>    acc += *</a:t>
            </a:r>
            <a:r>
              <a:rPr lang="en-US" sz="900" kern="0" dirty="0" err="1">
                <a:solidFill>
                  <a:srgbClr val="000000"/>
                </a:solidFill>
                <a:latin typeface="Arial"/>
              </a:rPr>
              <a:t>d_i</a:t>
            </a:r>
            <a:r>
              <a:rPr lang="en-US" sz="900" kern="0" dirty="0">
                <a:solidFill>
                  <a:srgbClr val="000000"/>
                </a:solidFill>
                <a:latin typeface="Arial"/>
              </a:rPr>
              <a:t>;</a:t>
            </a:r>
          </a:p>
          <a:p>
            <a:pPr defTabSz="914400" fontAlgn="base">
              <a:spcBef>
                <a:spcPct val="0"/>
              </a:spcBef>
              <a:spcAft>
                <a:spcPct val="0"/>
              </a:spcAft>
              <a:tabLst>
                <a:tab pos="457200" algn="l"/>
              </a:tabLst>
              <a:defRPr/>
            </a:pPr>
            <a:r>
              <a:rPr lang="en-US" sz="900" kern="0" dirty="0">
                <a:solidFill>
                  <a:srgbClr val="000000"/>
                </a:solidFill>
                <a:latin typeface="Arial"/>
              </a:rPr>
              <a:t>    *</a:t>
            </a:r>
            <a:r>
              <a:rPr lang="en-US" sz="900" kern="0" dirty="0" err="1">
                <a:solidFill>
                  <a:srgbClr val="000000"/>
                </a:solidFill>
                <a:latin typeface="Arial"/>
              </a:rPr>
              <a:t>d_o</a:t>
            </a:r>
            <a:r>
              <a:rPr lang="en-US" sz="900" kern="0" dirty="0">
                <a:solidFill>
                  <a:srgbClr val="000000"/>
                </a:solidFill>
                <a:latin typeface="Arial"/>
              </a:rPr>
              <a:t> = acc;</a:t>
            </a:r>
          </a:p>
          <a:p>
            <a:pPr defTabSz="914400" fontAlgn="base">
              <a:spcBef>
                <a:spcPct val="0"/>
              </a:spcBef>
              <a:spcAft>
                <a:spcPct val="0"/>
              </a:spcAft>
              <a:tabLst>
                <a:tab pos="457200" algn="l"/>
              </a:tabLst>
              <a:defRPr/>
            </a:pPr>
            <a:r>
              <a:rPr lang="en-US" sz="900" kern="0" dirty="0">
                <a:solidFill>
                  <a:srgbClr val="000000"/>
                </a:solidFill>
                <a:latin typeface="Arial"/>
              </a:rPr>
              <a:t>}</a:t>
            </a:r>
          </a:p>
        </p:txBody>
      </p:sp>
      <p:sp>
        <p:nvSpPr>
          <p:cNvPr id="20" name="TextBox 19">
            <a:extLst>
              <a:ext uri="{FF2B5EF4-FFF2-40B4-BE49-F238E27FC236}">
                <a16:creationId xmlns:a16="http://schemas.microsoft.com/office/drawing/2014/main" id="{AADF35C9-1082-4027-A073-29EF418BAB94}"/>
              </a:ext>
            </a:extLst>
          </p:cNvPr>
          <p:cNvSpPr txBox="1"/>
          <p:nvPr/>
        </p:nvSpPr>
        <p:spPr>
          <a:xfrm>
            <a:off x="361168" y="4227300"/>
            <a:ext cx="2559667" cy="2169825"/>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tabLst>
                <a:tab pos="457200" algn="l"/>
              </a:tabLst>
              <a:defRPr/>
            </a:pPr>
            <a:r>
              <a:rPr lang="it-IT" sz="900" kern="0" dirty="0">
                <a:solidFill>
                  <a:srgbClr val="000000"/>
                </a:solidFill>
                <a:latin typeface="Arial"/>
              </a:rPr>
              <a:t>void </a:t>
            </a:r>
            <a:r>
              <a:rPr lang="it-IT" sz="900" strike="sngStrike" kern="0" dirty="0">
                <a:solidFill>
                  <a:srgbClr val="000000"/>
                </a:solidFill>
                <a:latin typeface="Arial"/>
              </a:rPr>
              <a:t>fifo</a:t>
            </a:r>
            <a:r>
              <a:rPr lang="it-IT" sz="900" kern="0" dirty="0">
                <a:solidFill>
                  <a:srgbClr val="000000"/>
                </a:solidFill>
                <a:latin typeface="Arial"/>
              </a:rPr>
              <a:t> </a:t>
            </a:r>
            <a:r>
              <a:rPr lang="it-IT" sz="900" kern="0" dirty="0">
                <a:solidFill>
                  <a:srgbClr val="000000"/>
                </a:solidFill>
                <a:highlight>
                  <a:srgbClr val="FFFF00"/>
                </a:highlight>
                <a:latin typeface="Arial"/>
              </a:rPr>
              <a:t>pointer_stream_better </a:t>
            </a:r>
            <a:r>
              <a:rPr lang="it-IT" sz="900" kern="0" dirty="0">
                <a:solidFill>
                  <a:srgbClr val="000000"/>
                </a:solidFill>
                <a:latin typeface="Arial"/>
              </a:rPr>
              <a:t>( </a:t>
            </a:r>
          </a:p>
          <a:p>
            <a:pPr defTabSz="914400" fontAlgn="base">
              <a:spcBef>
                <a:spcPct val="0"/>
              </a:spcBef>
              <a:spcAft>
                <a:spcPct val="0"/>
              </a:spcAft>
              <a:tabLst>
                <a:tab pos="457200" algn="l"/>
              </a:tabLst>
              <a:defRPr/>
            </a:pPr>
            <a:r>
              <a:rPr lang="it-IT" sz="900" b="1" kern="0" dirty="0">
                <a:solidFill>
                  <a:srgbClr val="000000"/>
                </a:solidFill>
                <a:latin typeface="Arial"/>
              </a:rPr>
              <a:t>	volatile int *d_o, </a:t>
            </a:r>
          </a:p>
          <a:p>
            <a:pPr defTabSz="914400" fontAlgn="base">
              <a:spcBef>
                <a:spcPct val="0"/>
              </a:spcBef>
              <a:spcAft>
                <a:spcPct val="0"/>
              </a:spcAft>
              <a:tabLst>
                <a:tab pos="457200" algn="l"/>
              </a:tabLst>
              <a:defRPr/>
            </a:pPr>
            <a:r>
              <a:rPr lang="it-IT" sz="900" b="1" kern="0" dirty="0">
                <a:solidFill>
                  <a:srgbClr val="000000"/>
                </a:solidFill>
                <a:latin typeface="Arial"/>
              </a:rPr>
              <a:t> 	volatile int *d_i</a:t>
            </a:r>
          </a:p>
          <a:p>
            <a:pPr defTabSz="914400" fontAlgn="base">
              <a:spcBef>
                <a:spcPct val="0"/>
              </a:spcBef>
              <a:spcAft>
                <a:spcPct val="0"/>
              </a:spcAft>
              <a:tabLst>
                <a:tab pos="457200" algn="l"/>
              </a:tabLst>
              <a:defRPr/>
            </a:pPr>
            <a:r>
              <a:rPr lang="it-IT" sz="900" kern="0" dirty="0">
                <a:solidFill>
                  <a:srgbClr val="000000"/>
                </a:solidFill>
                <a:latin typeface="Arial"/>
              </a:rPr>
              <a:t>) {</a:t>
            </a:r>
          </a:p>
          <a:p>
            <a:pPr defTabSz="914400" fontAlgn="base">
              <a:spcBef>
                <a:spcPct val="0"/>
              </a:spcBef>
              <a:spcAft>
                <a:spcPct val="0"/>
              </a:spcAft>
              <a:tabLst>
                <a:tab pos="457200" algn="l"/>
              </a:tabLst>
              <a:defRPr/>
            </a:pPr>
            <a:r>
              <a:rPr lang="en-US" sz="900" kern="0" dirty="0">
                <a:solidFill>
                  <a:srgbClr val="000000"/>
                </a:solidFill>
                <a:latin typeface="Arial"/>
              </a:rPr>
              <a:t>  static </a:t>
            </a:r>
            <a:r>
              <a:rPr lang="en-US" sz="900" kern="0" dirty="0" err="1">
                <a:solidFill>
                  <a:srgbClr val="000000"/>
                </a:solidFill>
                <a:latin typeface="Arial"/>
              </a:rPr>
              <a:t>int</a:t>
            </a:r>
            <a:r>
              <a:rPr lang="en-US" sz="900" kern="0" dirty="0">
                <a:solidFill>
                  <a:srgbClr val="000000"/>
                </a:solidFill>
                <a:latin typeface="Arial"/>
              </a:rPr>
              <a:t> acc = 0;</a:t>
            </a:r>
          </a:p>
          <a:p>
            <a:pPr defTabSz="914400" fontAlgn="base">
              <a:spcBef>
                <a:spcPct val="0"/>
              </a:spcBef>
              <a:spcAft>
                <a:spcPct val="0"/>
              </a:spcAft>
              <a:tabLst>
                <a:tab pos="457200" algn="l"/>
              </a:tabLst>
              <a:defRPr/>
            </a:pPr>
            <a:r>
              <a:rPr lang="en-US" sz="900" strike="sngStrike" kern="0" dirty="0">
                <a:solidFill>
                  <a:srgbClr val="000000"/>
                </a:solidFill>
                <a:latin typeface="Arial"/>
              </a:rPr>
              <a:t>  </a:t>
            </a:r>
            <a:r>
              <a:rPr lang="en-US" sz="900" strike="sngStrike" kern="0" dirty="0" err="1">
                <a:solidFill>
                  <a:srgbClr val="000000"/>
                </a:solidFill>
                <a:latin typeface="Arial"/>
              </a:rPr>
              <a:t>int</a:t>
            </a:r>
            <a:r>
              <a:rPr lang="en-US" sz="900" strike="sngStrike" kern="0" dirty="0">
                <a:solidFill>
                  <a:srgbClr val="000000"/>
                </a:solidFill>
                <a:latin typeface="Arial"/>
              </a:rPr>
              <a:t> </a:t>
            </a:r>
            <a:r>
              <a:rPr lang="en-US" sz="900" strike="sngStrike" kern="0" dirty="0" err="1">
                <a:solidFill>
                  <a:srgbClr val="000000"/>
                </a:solidFill>
                <a:latin typeface="Arial"/>
              </a:rPr>
              <a:t>cnt</a:t>
            </a:r>
            <a:r>
              <a:rPr lang="en-US" sz="900" strike="sngStrike" kern="0" dirty="0">
                <a:solidFill>
                  <a:srgbClr val="000000"/>
                </a:solidFill>
                <a:latin typeface="Arial"/>
              </a:rPr>
              <a:t>;</a:t>
            </a:r>
          </a:p>
          <a:p>
            <a:pPr defTabSz="914400" fontAlgn="base">
              <a:spcBef>
                <a:spcPct val="0"/>
              </a:spcBef>
              <a:spcAft>
                <a:spcPct val="0"/>
              </a:spcAft>
              <a:tabLst>
                <a:tab pos="457200" algn="l"/>
              </a:tabLst>
              <a:defRPr/>
            </a:pPr>
            <a:r>
              <a:rPr lang="en-US" sz="900" kern="0" dirty="0">
                <a:solidFill>
                  <a:srgbClr val="000000"/>
                </a:solidFill>
                <a:latin typeface="Arial"/>
              </a:rPr>
              <a:t>  </a:t>
            </a:r>
          </a:p>
          <a:p>
            <a:pPr defTabSz="914400" fontAlgn="base">
              <a:spcBef>
                <a:spcPct val="0"/>
              </a:spcBef>
              <a:spcAft>
                <a:spcPct val="0"/>
              </a:spcAft>
              <a:tabLst>
                <a:tab pos="457200" algn="l"/>
              </a:tabLst>
              <a:defRPr/>
            </a:pPr>
            <a:r>
              <a:rPr lang="en-US" sz="900" kern="0" dirty="0">
                <a:solidFill>
                  <a:srgbClr val="000000"/>
                </a:solidFill>
                <a:latin typeface="Arial"/>
              </a:rPr>
              <a:t>    acc += *</a:t>
            </a:r>
            <a:r>
              <a:rPr lang="en-US" sz="900" kern="0" dirty="0" err="1">
                <a:solidFill>
                  <a:srgbClr val="000000"/>
                </a:solidFill>
                <a:latin typeface="Arial"/>
              </a:rPr>
              <a:t>d_i</a:t>
            </a:r>
            <a:r>
              <a:rPr lang="en-US" sz="900" kern="0" dirty="0">
                <a:solidFill>
                  <a:srgbClr val="000000"/>
                </a:solidFill>
                <a:latin typeface="Arial"/>
              </a:rPr>
              <a:t>;</a:t>
            </a:r>
          </a:p>
          <a:p>
            <a:pPr defTabSz="914400" fontAlgn="base">
              <a:spcBef>
                <a:spcPct val="0"/>
              </a:spcBef>
              <a:spcAft>
                <a:spcPct val="0"/>
              </a:spcAft>
              <a:tabLst>
                <a:tab pos="457200" algn="l"/>
              </a:tabLst>
              <a:defRPr/>
            </a:pPr>
            <a:r>
              <a:rPr lang="en-US" sz="900" kern="0" dirty="0">
                <a:solidFill>
                  <a:srgbClr val="000000"/>
                </a:solidFill>
                <a:latin typeface="Arial"/>
              </a:rPr>
              <a:t>    acc += *</a:t>
            </a:r>
            <a:r>
              <a:rPr lang="en-US" sz="900" kern="0" dirty="0" err="1">
                <a:solidFill>
                  <a:srgbClr val="000000"/>
                </a:solidFill>
                <a:latin typeface="Arial"/>
              </a:rPr>
              <a:t>d_i</a:t>
            </a:r>
            <a:r>
              <a:rPr lang="en-US" sz="900" kern="0" dirty="0">
                <a:solidFill>
                  <a:srgbClr val="000000"/>
                </a:solidFill>
                <a:latin typeface="Arial"/>
              </a:rPr>
              <a:t>;</a:t>
            </a:r>
          </a:p>
          <a:p>
            <a:pPr defTabSz="914400" fontAlgn="base">
              <a:spcBef>
                <a:spcPct val="0"/>
              </a:spcBef>
              <a:spcAft>
                <a:spcPct val="0"/>
              </a:spcAft>
              <a:tabLst>
                <a:tab pos="457200" algn="l"/>
              </a:tabLst>
              <a:defRPr/>
            </a:pPr>
            <a:r>
              <a:rPr lang="en-US" sz="900" kern="0" dirty="0">
                <a:solidFill>
                  <a:srgbClr val="000000"/>
                </a:solidFill>
                <a:latin typeface="Arial"/>
              </a:rPr>
              <a:t>    *</a:t>
            </a:r>
            <a:r>
              <a:rPr lang="en-US" sz="900" kern="0" dirty="0" err="1">
                <a:solidFill>
                  <a:srgbClr val="000000"/>
                </a:solidFill>
                <a:latin typeface="Arial"/>
              </a:rPr>
              <a:t>d_o</a:t>
            </a:r>
            <a:r>
              <a:rPr lang="en-US" sz="900" kern="0" dirty="0">
                <a:solidFill>
                  <a:srgbClr val="000000"/>
                </a:solidFill>
                <a:latin typeface="Arial"/>
              </a:rPr>
              <a:t> = acc;</a:t>
            </a:r>
          </a:p>
          <a:p>
            <a:pPr defTabSz="914400" fontAlgn="base">
              <a:spcBef>
                <a:spcPct val="0"/>
              </a:spcBef>
              <a:spcAft>
                <a:spcPct val="0"/>
              </a:spcAft>
              <a:tabLst>
                <a:tab pos="457200" algn="l"/>
              </a:tabLst>
              <a:defRPr/>
            </a:pPr>
            <a:endParaRPr lang="en-US" sz="900" kern="0" dirty="0">
              <a:solidFill>
                <a:srgbClr val="000000"/>
              </a:solidFill>
              <a:latin typeface="Arial"/>
            </a:endParaRPr>
          </a:p>
          <a:p>
            <a:pPr defTabSz="914400" fontAlgn="base">
              <a:spcBef>
                <a:spcPct val="0"/>
              </a:spcBef>
              <a:spcAft>
                <a:spcPct val="0"/>
              </a:spcAft>
              <a:tabLst>
                <a:tab pos="457200" algn="l"/>
              </a:tabLst>
              <a:defRPr/>
            </a:pPr>
            <a:r>
              <a:rPr lang="en-US" sz="900" kern="0" dirty="0">
                <a:solidFill>
                  <a:srgbClr val="000000"/>
                </a:solidFill>
                <a:latin typeface="Arial"/>
              </a:rPr>
              <a:t>    acc += *</a:t>
            </a:r>
            <a:r>
              <a:rPr lang="en-US" sz="900" kern="0" dirty="0" err="1">
                <a:solidFill>
                  <a:srgbClr val="000000"/>
                </a:solidFill>
                <a:latin typeface="Arial"/>
              </a:rPr>
              <a:t>d_i</a:t>
            </a:r>
            <a:r>
              <a:rPr lang="en-US" sz="900" kern="0" dirty="0">
                <a:solidFill>
                  <a:srgbClr val="000000"/>
                </a:solidFill>
                <a:latin typeface="Arial"/>
              </a:rPr>
              <a:t>;</a:t>
            </a:r>
          </a:p>
          <a:p>
            <a:pPr defTabSz="914400" fontAlgn="base">
              <a:spcBef>
                <a:spcPct val="0"/>
              </a:spcBef>
              <a:spcAft>
                <a:spcPct val="0"/>
              </a:spcAft>
              <a:tabLst>
                <a:tab pos="457200" algn="l"/>
              </a:tabLst>
              <a:defRPr/>
            </a:pPr>
            <a:r>
              <a:rPr lang="en-US" sz="900" kern="0" dirty="0">
                <a:solidFill>
                  <a:srgbClr val="000000"/>
                </a:solidFill>
                <a:latin typeface="Arial"/>
              </a:rPr>
              <a:t>    acc += *</a:t>
            </a:r>
            <a:r>
              <a:rPr lang="en-US" sz="900" kern="0" dirty="0" err="1">
                <a:solidFill>
                  <a:srgbClr val="000000"/>
                </a:solidFill>
                <a:latin typeface="Arial"/>
              </a:rPr>
              <a:t>d_i</a:t>
            </a:r>
            <a:r>
              <a:rPr lang="en-US" sz="900" kern="0" dirty="0">
                <a:solidFill>
                  <a:srgbClr val="000000"/>
                </a:solidFill>
                <a:latin typeface="Arial"/>
              </a:rPr>
              <a:t>;</a:t>
            </a:r>
          </a:p>
          <a:p>
            <a:pPr defTabSz="914400" fontAlgn="base">
              <a:spcBef>
                <a:spcPct val="0"/>
              </a:spcBef>
              <a:spcAft>
                <a:spcPct val="0"/>
              </a:spcAft>
              <a:tabLst>
                <a:tab pos="457200" algn="l"/>
              </a:tabLst>
              <a:defRPr/>
            </a:pPr>
            <a:r>
              <a:rPr lang="en-US" sz="900" kern="0" dirty="0">
                <a:solidFill>
                  <a:srgbClr val="000000"/>
                </a:solidFill>
                <a:latin typeface="Arial"/>
              </a:rPr>
              <a:t>    *</a:t>
            </a:r>
            <a:r>
              <a:rPr lang="en-US" sz="900" kern="0" dirty="0" err="1">
                <a:solidFill>
                  <a:srgbClr val="000000"/>
                </a:solidFill>
                <a:latin typeface="Arial"/>
              </a:rPr>
              <a:t>d_o</a:t>
            </a:r>
            <a:r>
              <a:rPr lang="en-US" sz="900" kern="0" dirty="0">
                <a:solidFill>
                  <a:srgbClr val="000000"/>
                </a:solidFill>
                <a:latin typeface="Arial"/>
              </a:rPr>
              <a:t> = acc;</a:t>
            </a:r>
          </a:p>
          <a:p>
            <a:pPr defTabSz="914400" fontAlgn="base">
              <a:spcBef>
                <a:spcPct val="0"/>
              </a:spcBef>
              <a:spcAft>
                <a:spcPct val="0"/>
              </a:spcAft>
              <a:tabLst>
                <a:tab pos="457200" algn="l"/>
              </a:tabLst>
              <a:defRPr/>
            </a:pPr>
            <a:r>
              <a:rPr lang="en-US" sz="900" kern="0" dirty="0">
                <a:solidFill>
                  <a:srgbClr val="000000"/>
                </a:solidFill>
                <a:latin typeface="Arial"/>
              </a:rPr>
              <a:t>}</a:t>
            </a:r>
          </a:p>
        </p:txBody>
      </p:sp>
      <p:pic>
        <p:nvPicPr>
          <p:cNvPr id="21" name="Picture 20" descr="402b.PNG">
            <a:extLst>
              <a:ext uri="{FF2B5EF4-FFF2-40B4-BE49-F238E27FC236}">
                <a16:creationId xmlns:a16="http://schemas.microsoft.com/office/drawing/2014/main" id="{647A8537-9792-40AA-A419-DCF4FA036C9C}"/>
              </a:ext>
            </a:extLst>
          </p:cNvPr>
          <p:cNvPicPr>
            <a:picLocks noChangeAspect="1"/>
          </p:cNvPicPr>
          <p:nvPr/>
        </p:nvPicPr>
        <p:blipFill>
          <a:blip r:embed="rId3"/>
          <a:stretch>
            <a:fillRect/>
          </a:stretch>
        </p:blipFill>
        <p:spPr>
          <a:xfrm>
            <a:off x="3075594" y="4342515"/>
            <a:ext cx="8907640" cy="1908271"/>
          </a:xfrm>
          <a:prstGeom prst="rect">
            <a:avLst/>
          </a:prstGeom>
          <a:ln>
            <a:noFill/>
          </a:ln>
          <a:effectLst>
            <a:outerShdw blurRad="292100" dist="139700" dir="2700000" algn="tl" rotWithShape="0">
              <a:srgbClr val="333333">
                <a:alpha val="65000"/>
              </a:srgbClr>
            </a:outerShdw>
          </a:effectLst>
        </p:spPr>
      </p:pic>
      <p:sp>
        <p:nvSpPr>
          <p:cNvPr id="22" name="Rounded Rectangle 8">
            <a:extLst>
              <a:ext uri="{FF2B5EF4-FFF2-40B4-BE49-F238E27FC236}">
                <a16:creationId xmlns:a16="http://schemas.microsoft.com/office/drawing/2014/main" id="{01EF65AD-2703-46A9-8E55-A54287111CC6}"/>
              </a:ext>
            </a:extLst>
          </p:cNvPr>
          <p:cNvSpPr/>
          <p:nvPr/>
        </p:nvSpPr>
        <p:spPr>
          <a:xfrm>
            <a:off x="4560202" y="2537478"/>
            <a:ext cx="1586993" cy="205724"/>
          </a:xfrm>
          <a:prstGeom prst="roundRect">
            <a:avLst/>
          </a:prstGeom>
          <a:gradFill rotWithShape="1">
            <a:gsLst>
              <a:gs pos="0">
                <a:srgbClr val="D9DA56">
                  <a:shade val="51000"/>
                  <a:satMod val="130000"/>
                </a:srgbClr>
              </a:gs>
              <a:gs pos="80000">
                <a:srgbClr val="D9DA56">
                  <a:shade val="93000"/>
                  <a:satMod val="130000"/>
                </a:srgbClr>
              </a:gs>
              <a:gs pos="100000">
                <a:srgbClr val="D9DA56">
                  <a:shade val="94000"/>
                  <a:satMod val="135000"/>
                </a:srgbClr>
              </a:gs>
            </a:gsLst>
            <a:lin ang="16200000" scaled="0"/>
          </a:gradFill>
          <a:ln w="9525" cap="flat" cmpd="sng" algn="ctr">
            <a:solidFill>
              <a:srgbClr val="D9DA56">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r>
              <a:rPr lang="en-US" sz="1050" b="1" kern="0" dirty="0">
                <a:solidFill>
                  <a:srgbClr val="FFFFFF"/>
                </a:solidFill>
                <a:latin typeface="Arial"/>
              </a:rPr>
              <a:t>1 Input read</a:t>
            </a:r>
          </a:p>
        </p:txBody>
      </p:sp>
      <p:sp>
        <p:nvSpPr>
          <p:cNvPr id="23" name="Rounded Rectangle 12">
            <a:extLst>
              <a:ext uri="{FF2B5EF4-FFF2-40B4-BE49-F238E27FC236}">
                <a16:creationId xmlns:a16="http://schemas.microsoft.com/office/drawing/2014/main" id="{128B1A09-9D7B-4A85-B502-9CB21D784BA6}"/>
              </a:ext>
            </a:extLst>
          </p:cNvPr>
          <p:cNvSpPr/>
          <p:nvPr/>
        </p:nvSpPr>
        <p:spPr>
          <a:xfrm>
            <a:off x="4560202" y="3138259"/>
            <a:ext cx="1586993" cy="205724"/>
          </a:xfrm>
          <a:prstGeom prst="roundRect">
            <a:avLst/>
          </a:prstGeom>
          <a:gradFill rotWithShape="1">
            <a:gsLst>
              <a:gs pos="0">
                <a:srgbClr val="D9DA56">
                  <a:shade val="51000"/>
                  <a:satMod val="130000"/>
                </a:srgbClr>
              </a:gs>
              <a:gs pos="80000">
                <a:srgbClr val="D9DA56">
                  <a:shade val="93000"/>
                  <a:satMod val="130000"/>
                </a:srgbClr>
              </a:gs>
              <a:gs pos="100000">
                <a:srgbClr val="D9DA56">
                  <a:shade val="94000"/>
                  <a:satMod val="135000"/>
                </a:srgbClr>
              </a:gs>
            </a:gsLst>
            <a:lin ang="16200000" scaled="0"/>
          </a:gradFill>
          <a:ln w="9525" cap="flat" cmpd="sng" algn="ctr">
            <a:solidFill>
              <a:srgbClr val="D9DA56">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r>
              <a:rPr lang="en-US" sz="1050" b="1" kern="0" dirty="0">
                <a:solidFill>
                  <a:srgbClr val="FFFFFF"/>
                </a:solidFill>
                <a:latin typeface="Arial"/>
              </a:rPr>
              <a:t>1 Output write</a:t>
            </a:r>
          </a:p>
        </p:txBody>
      </p:sp>
      <p:sp>
        <p:nvSpPr>
          <p:cNvPr id="24" name="Rounded Rectangle 13">
            <a:extLst>
              <a:ext uri="{FF2B5EF4-FFF2-40B4-BE49-F238E27FC236}">
                <a16:creationId xmlns:a16="http://schemas.microsoft.com/office/drawing/2014/main" id="{E35F76E1-F5BA-4E3B-842F-E56402F2BBB3}"/>
              </a:ext>
            </a:extLst>
          </p:cNvPr>
          <p:cNvSpPr/>
          <p:nvPr/>
        </p:nvSpPr>
        <p:spPr>
          <a:xfrm>
            <a:off x="4611396" y="4995398"/>
            <a:ext cx="1586993" cy="205724"/>
          </a:xfrm>
          <a:prstGeom prst="roundRect">
            <a:avLst/>
          </a:prstGeom>
          <a:gradFill rotWithShape="1">
            <a:gsLst>
              <a:gs pos="0">
                <a:srgbClr val="D9DA56">
                  <a:shade val="51000"/>
                  <a:satMod val="130000"/>
                </a:srgbClr>
              </a:gs>
              <a:gs pos="80000">
                <a:srgbClr val="D9DA56">
                  <a:shade val="93000"/>
                  <a:satMod val="130000"/>
                </a:srgbClr>
              </a:gs>
              <a:gs pos="100000">
                <a:srgbClr val="D9DA56">
                  <a:shade val="94000"/>
                  <a:satMod val="135000"/>
                </a:srgbClr>
              </a:gs>
            </a:gsLst>
            <a:lin ang="16200000" scaled="0"/>
          </a:gradFill>
          <a:ln w="9525" cap="flat" cmpd="sng" algn="ctr">
            <a:solidFill>
              <a:srgbClr val="D9DA56">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r>
              <a:rPr lang="en-US" sz="1050" b="1" kern="0" dirty="0">
                <a:solidFill>
                  <a:srgbClr val="FFFFFF"/>
                </a:solidFill>
                <a:latin typeface="Arial"/>
              </a:rPr>
              <a:t>4 Input reads</a:t>
            </a:r>
          </a:p>
        </p:txBody>
      </p:sp>
      <p:sp>
        <p:nvSpPr>
          <p:cNvPr id="25" name="Rounded Rectangle 14">
            <a:extLst>
              <a:ext uri="{FF2B5EF4-FFF2-40B4-BE49-F238E27FC236}">
                <a16:creationId xmlns:a16="http://schemas.microsoft.com/office/drawing/2014/main" id="{24FC2D5F-D542-4776-8B5E-04A48ABBF24E}"/>
              </a:ext>
            </a:extLst>
          </p:cNvPr>
          <p:cNvSpPr/>
          <p:nvPr/>
        </p:nvSpPr>
        <p:spPr>
          <a:xfrm>
            <a:off x="4611396" y="5596179"/>
            <a:ext cx="1586993" cy="205724"/>
          </a:xfrm>
          <a:prstGeom prst="roundRect">
            <a:avLst/>
          </a:prstGeom>
          <a:gradFill rotWithShape="1">
            <a:gsLst>
              <a:gs pos="0">
                <a:srgbClr val="D9DA56">
                  <a:shade val="51000"/>
                  <a:satMod val="130000"/>
                </a:srgbClr>
              </a:gs>
              <a:gs pos="80000">
                <a:srgbClr val="D9DA56">
                  <a:shade val="93000"/>
                  <a:satMod val="130000"/>
                </a:srgbClr>
              </a:gs>
              <a:gs pos="100000">
                <a:srgbClr val="D9DA56">
                  <a:shade val="94000"/>
                  <a:satMod val="135000"/>
                </a:srgbClr>
              </a:gs>
            </a:gsLst>
            <a:lin ang="16200000" scaled="0"/>
          </a:gradFill>
          <a:ln w="9525" cap="flat" cmpd="sng" algn="ctr">
            <a:solidFill>
              <a:srgbClr val="D9DA56">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r>
              <a:rPr lang="en-US" sz="1050" b="1" kern="0" dirty="0">
                <a:solidFill>
                  <a:srgbClr val="FFFFFF"/>
                </a:solidFill>
                <a:latin typeface="Arial"/>
              </a:rPr>
              <a:t>2 Output writes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Multi-Access Pointers: Limited Visibility</a:t>
            </a:r>
          </a:p>
        </p:txBody>
      </p:sp>
      <p:sp>
        <p:nvSpPr>
          <p:cNvPr id="3" name="Content Placeholder 2"/>
          <p:cNvSpPr>
            <a:spLocks noGrp="1"/>
          </p:cNvSpPr>
          <p:nvPr>
            <p:ph idx="1"/>
          </p:nvPr>
        </p:nvSpPr>
        <p:spPr/>
        <p:txBody>
          <a:bodyPr/>
          <a:lstStyle/>
          <a:p>
            <a:r>
              <a:rPr lang="en-US" dirty="0"/>
              <a:t>The intermediate results are hard to use for verification</a:t>
            </a:r>
          </a:p>
          <a:p>
            <a:pPr lvl="1"/>
            <a:r>
              <a:rPr lang="en-US" dirty="0"/>
              <a:t>Only the final pointer value is passed to the test bench</a:t>
            </a:r>
          </a:p>
          <a:p>
            <a:pPr lvl="1"/>
            <a:endParaRPr lang="en-US" dirty="0"/>
          </a:p>
          <a:p>
            <a:pPr lvl="1">
              <a:buNone/>
            </a:pPr>
            <a:endParaRPr lang="en-US" sz="1000" dirty="0"/>
          </a:p>
          <a:p>
            <a:pPr marL="4111625" lvl="6"/>
            <a:r>
              <a:rPr lang="en-US" sz="1800" dirty="0"/>
              <a:t>The final value of *</a:t>
            </a:r>
            <a:r>
              <a:rPr lang="en-US" sz="1800" dirty="0" err="1"/>
              <a:t>d_o</a:t>
            </a:r>
            <a:r>
              <a:rPr lang="en-US" sz="1800" dirty="0"/>
              <a:t> can be captured in the test bench and compared </a:t>
            </a:r>
          </a:p>
          <a:p>
            <a:pPr marL="4111625" lvl="6"/>
            <a:r>
              <a:rPr lang="en-US" sz="1800" dirty="0"/>
              <a:t>The intermediate values can only be seen by using </a:t>
            </a:r>
            <a:r>
              <a:rPr lang="en-US" sz="1800" dirty="0" err="1"/>
              <a:t>printf</a:t>
            </a:r>
            <a:r>
              <a:rPr lang="en-US" sz="1800" dirty="0"/>
              <a:t> : they cannot be automatically verified by the test bench</a:t>
            </a:r>
          </a:p>
          <a:p>
            <a:pPr marL="4114800" lvl="1">
              <a:buNone/>
            </a:pPr>
            <a:endParaRPr lang="en-US" dirty="0"/>
          </a:p>
          <a:p>
            <a:r>
              <a:rPr lang="en-US" dirty="0"/>
              <a:t>Code could be added to the DUT</a:t>
            </a:r>
          </a:p>
          <a:p>
            <a:pPr lvl="1"/>
            <a:r>
              <a:rPr lang="en-US" dirty="0"/>
              <a:t>Use __SYNTHESIS__ to add un-synthesizable code for checking</a:t>
            </a:r>
          </a:p>
          <a:p>
            <a:pPr lvl="1"/>
            <a:r>
              <a:rPr lang="en-US" dirty="0"/>
              <a:t>Which will not be there in the RTL </a:t>
            </a:r>
          </a:p>
          <a:p>
            <a:pPr lvl="1"/>
            <a:endParaRPr lang="en-US" dirty="0"/>
          </a:p>
          <a:p>
            <a:pPr lvl="1"/>
            <a:r>
              <a:rPr lang="en-US" dirty="0"/>
              <a:t>HLS:STREAMS class can be used instead: discussed in next section</a:t>
            </a:r>
          </a:p>
        </p:txBody>
      </p:sp>
      <p:sp>
        <p:nvSpPr>
          <p:cNvPr id="11" name="Slide Number Placeholder 5">
            <a:extLst>
              <a:ext uri="{FF2B5EF4-FFF2-40B4-BE49-F238E27FC236}">
                <a16:creationId xmlns:a16="http://schemas.microsoft.com/office/drawing/2014/main" id="{1275DDA6-6237-4F33-AC78-A2599E3E4ED4}"/>
              </a:ext>
            </a:extLst>
          </p:cNvPr>
          <p:cNvSpPr>
            <a:spLocks noGrp="1"/>
          </p:cNvSpPr>
          <p:nvPr>
            <p:ph type="sldNum" sz="quarter" idx="4"/>
          </p:nvPr>
        </p:nvSpPr>
        <p:spPr/>
        <p:txBody>
          <a:bodyPr/>
          <a:lstStyle/>
          <a:p>
            <a:pPr>
              <a:defRPr/>
            </a:pPr>
            <a:r>
              <a:rPr lang="en-US" dirty="0"/>
              <a:t>Coding Considerations 23- </a:t>
            </a:r>
            <a:fld id="{060BD193-E118-4B16-863C-C8C12C675E3E}" type="slidenum">
              <a:rPr lang="en-US" smtClean="0"/>
              <a:pPr>
                <a:defRPr/>
              </a:pPr>
              <a:t>52</a:t>
            </a:fld>
            <a:endParaRPr lang="en-US" dirty="0"/>
          </a:p>
        </p:txBody>
      </p:sp>
      <p:sp>
        <p:nvSpPr>
          <p:cNvPr id="15" name="TextBox 14"/>
          <p:cNvSpPr txBox="1"/>
          <p:nvPr/>
        </p:nvSpPr>
        <p:spPr>
          <a:xfrm>
            <a:off x="1869510" y="5641122"/>
            <a:ext cx="5528880" cy="307777"/>
          </a:xfrm>
          <a:prstGeom prst="rect">
            <a:avLst/>
          </a:prstGeom>
          <a:solidFill>
            <a:srgbClr val="FFFF99"/>
          </a:solidFill>
          <a:ln>
            <a:solidFill>
              <a:schemeClr val="tx1"/>
            </a:solidFill>
          </a:ln>
          <a:effectLst>
            <a:innerShdw blurRad="63500" dist="50800" dir="2700000">
              <a:prstClr val="black">
                <a:alpha val="50000"/>
              </a:prstClr>
            </a:innerShdw>
          </a:effectLst>
        </p:spPr>
        <p:txBody>
          <a:bodyPr wrap="square" rtlCol="0">
            <a:spAutoFit/>
          </a:bodyPr>
          <a:lstStyle/>
          <a:p>
            <a:pPr algn="ctr"/>
            <a:r>
              <a:rPr lang="en-US" sz="1400" b="1" dirty="0"/>
              <a:t>Not the most ideal coding style for verification</a:t>
            </a:r>
          </a:p>
        </p:txBody>
      </p:sp>
      <p:sp>
        <p:nvSpPr>
          <p:cNvPr id="8" name="TextBox 7">
            <a:extLst>
              <a:ext uri="{FF2B5EF4-FFF2-40B4-BE49-F238E27FC236}">
                <a16:creationId xmlns:a16="http://schemas.microsoft.com/office/drawing/2014/main" id="{47D18764-BF44-48BD-9DA8-D7706D829E71}"/>
              </a:ext>
            </a:extLst>
          </p:cNvPr>
          <p:cNvSpPr txBox="1"/>
          <p:nvPr/>
        </p:nvSpPr>
        <p:spPr>
          <a:xfrm>
            <a:off x="1181443" y="2242188"/>
            <a:ext cx="2662053" cy="2031325"/>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defRPr/>
            </a:pPr>
            <a:r>
              <a:rPr lang="en-US" sz="900" b="1" kern="0" dirty="0">
                <a:solidFill>
                  <a:srgbClr val="000000"/>
                </a:solidFill>
                <a:latin typeface="Arial"/>
              </a:rPr>
              <a:t>void </a:t>
            </a:r>
            <a:r>
              <a:rPr lang="en-US" sz="900" b="1" kern="0" dirty="0" err="1">
                <a:solidFill>
                  <a:srgbClr val="000000"/>
                </a:solidFill>
                <a:latin typeface="Arial"/>
              </a:rPr>
              <a:t>fifo</a:t>
            </a:r>
            <a:r>
              <a:rPr lang="en-US" sz="900" b="1" kern="0" dirty="0">
                <a:solidFill>
                  <a:srgbClr val="000000"/>
                </a:solidFill>
                <a:latin typeface="Arial"/>
              </a:rPr>
              <a:t> (int *</a:t>
            </a:r>
            <a:r>
              <a:rPr lang="en-US" sz="900" b="1" kern="0" dirty="0" err="1">
                <a:solidFill>
                  <a:srgbClr val="000000"/>
                </a:solidFill>
                <a:latin typeface="Arial"/>
              </a:rPr>
              <a:t>d_o</a:t>
            </a:r>
            <a:r>
              <a:rPr lang="en-US" sz="900" b="1" kern="0" dirty="0">
                <a:solidFill>
                  <a:srgbClr val="000000"/>
                </a:solidFill>
                <a:latin typeface="Arial"/>
              </a:rPr>
              <a:t>, </a:t>
            </a:r>
          </a:p>
          <a:p>
            <a:pPr defTabSz="914400" fontAlgn="base">
              <a:spcBef>
                <a:spcPct val="0"/>
              </a:spcBef>
              <a:spcAft>
                <a:spcPct val="0"/>
              </a:spcAft>
              <a:defRPr/>
            </a:pPr>
            <a:r>
              <a:rPr lang="en-US" sz="900" b="1" kern="0" dirty="0">
                <a:solidFill>
                  <a:srgbClr val="000000"/>
                </a:solidFill>
                <a:latin typeface="Arial"/>
              </a:rPr>
              <a:t>                int *</a:t>
            </a:r>
            <a:r>
              <a:rPr lang="en-US" sz="900" b="1" kern="0" dirty="0" err="1">
                <a:solidFill>
                  <a:srgbClr val="000000"/>
                </a:solidFill>
                <a:latin typeface="Arial"/>
              </a:rPr>
              <a:t>d_i</a:t>
            </a:r>
            <a:endParaRPr lang="en-US" sz="900" b="1" kern="0" dirty="0">
              <a:solidFill>
                <a:srgbClr val="000000"/>
              </a:solidFill>
              <a:latin typeface="Arial"/>
            </a:endParaRPr>
          </a:p>
          <a:p>
            <a:pPr defTabSz="914400" fontAlgn="base">
              <a:spcBef>
                <a:spcPct val="0"/>
              </a:spcBef>
              <a:spcAft>
                <a:spcPct val="0"/>
              </a:spcAft>
              <a:defRPr/>
            </a:pPr>
            <a:r>
              <a:rPr lang="en-US" sz="900" b="1" kern="0" dirty="0">
                <a:solidFill>
                  <a:srgbClr val="000000"/>
                </a:solidFill>
                <a:latin typeface="Arial"/>
              </a:rPr>
              <a:t>                ) {</a:t>
            </a:r>
          </a:p>
          <a:p>
            <a:pPr defTabSz="914400" fontAlgn="base">
              <a:spcBef>
                <a:spcPct val="0"/>
              </a:spcBef>
              <a:spcAft>
                <a:spcPct val="0"/>
              </a:spcAft>
              <a:defRPr/>
            </a:pPr>
            <a:r>
              <a:rPr lang="en-US" sz="900" b="1" kern="0" dirty="0">
                <a:solidFill>
                  <a:srgbClr val="000000"/>
                </a:solidFill>
                <a:latin typeface="Arial"/>
              </a:rPr>
              <a:t>  static </a:t>
            </a:r>
            <a:r>
              <a:rPr lang="en-US" sz="900" b="1" kern="0" dirty="0" err="1">
                <a:solidFill>
                  <a:srgbClr val="000000"/>
                </a:solidFill>
                <a:latin typeface="Arial"/>
              </a:rPr>
              <a:t>int</a:t>
            </a:r>
            <a:r>
              <a:rPr lang="en-US" sz="900" b="1" kern="0" dirty="0">
                <a:solidFill>
                  <a:srgbClr val="000000"/>
                </a:solidFill>
                <a:latin typeface="Arial"/>
              </a:rPr>
              <a:t> acc = 0;</a:t>
            </a:r>
          </a:p>
          <a:p>
            <a:pPr defTabSz="914400" fontAlgn="base">
              <a:spcBef>
                <a:spcPct val="0"/>
              </a:spcBef>
              <a:spcAft>
                <a:spcPct val="0"/>
              </a:spcAft>
              <a:defRPr/>
            </a:pPr>
            <a:r>
              <a:rPr lang="en-US" sz="900" b="1" kern="0" dirty="0">
                <a:solidFill>
                  <a:srgbClr val="000000"/>
                </a:solidFill>
                <a:latin typeface="Arial"/>
              </a:rPr>
              <a:t>  </a:t>
            </a:r>
            <a:r>
              <a:rPr lang="en-US" sz="900" b="1" kern="0" dirty="0" err="1">
                <a:solidFill>
                  <a:srgbClr val="000000"/>
                </a:solidFill>
                <a:latin typeface="Arial"/>
              </a:rPr>
              <a:t>int</a:t>
            </a:r>
            <a:r>
              <a:rPr lang="en-US" sz="900" b="1" kern="0" dirty="0">
                <a:solidFill>
                  <a:srgbClr val="000000"/>
                </a:solidFill>
                <a:latin typeface="Arial"/>
              </a:rPr>
              <a:t> </a:t>
            </a:r>
            <a:r>
              <a:rPr lang="en-US" sz="900" b="1" kern="0" dirty="0" err="1">
                <a:solidFill>
                  <a:srgbClr val="000000"/>
                </a:solidFill>
                <a:latin typeface="Arial"/>
              </a:rPr>
              <a:t>cnt</a:t>
            </a:r>
            <a:r>
              <a:rPr lang="en-US" sz="900" b="1" kern="0" dirty="0">
                <a:solidFill>
                  <a:srgbClr val="000000"/>
                </a:solidFill>
                <a:latin typeface="Arial"/>
              </a:rPr>
              <a:t>;</a:t>
            </a:r>
          </a:p>
          <a:p>
            <a:pPr defTabSz="914400" fontAlgn="base">
              <a:spcBef>
                <a:spcPct val="0"/>
              </a:spcBef>
              <a:spcAft>
                <a:spcPct val="0"/>
              </a:spcAft>
              <a:defRPr/>
            </a:pPr>
            <a:r>
              <a:rPr lang="en-US" sz="900" b="1" kern="0" dirty="0">
                <a:solidFill>
                  <a:srgbClr val="000000"/>
                </a:solidFill>
                <a:latin typeface="Arial"/>
              </a:rPr>
              <a:t>  </a:t>
            </a:r>
          </a:p>
          <a:p>
            <a:pPr defTabSz="914400" fontAlgn="base">
              <a:spcBef>
                <a:spcPct val="0"/>
              </a:spcBef>
              <a:spcAft>
                <a:spcPct val="0"/>
              </a:spcAft>
              <a:defRPr/>
            </a:pPr>
            <a:r>
              <a:rPr lang="en-US" sz="900" b="1" kern="0" dirty="0">
                <a:solidFill>
                  <a:srgbClr val="000000"/>
                </a:solidFill>
                <a:latin typeface="Arial"/>
              </a:rPr>
              <a:t>  for (</a:t>
            </a:r>
            <a:r>
              <a:rPr lang="en-US" sz="900" b="1" kern="0" dirty="0" err="1">
                <a:solidFill>
                  <a:srgbClr val="000000"/>
                </a:solidFill>
                <a:latin typeface="Arial"/>
              </a:rPr>
              <a:t>cnt</a:t>
            </a:r>
            <a:r>
              <a:rPr lang="en-US" sz="900" b="1" kern="0" dirty="0">
                <a:solidFill>
                  <a:srgbClr val="000000"/>
                </a:solidFill>
                <a:latin typeface="Arial"/>
              </a:rPr>
              <a:t>=0;cnt&lt;4;cnt++) {</a:t>
            </a:r>
          </a:p>
          <a:p>
            <a:pPr defTabSz="914400" fontAlgn="base">
              <a:spcBef>
                <a:spcPct val="0"/>
              </a:spcBef>
              <a:spcAft>
                <a:spcPct val="0"/>
              </a:spcAft>
              <a:defRPr/>
            </a:pPr>
            <a:r>
              <a:rPr lang="en-US" sz="900" b="1" kern="0" dirty="0">
                <a:solidFill>
                  <a:srgbClr val="000000"/>
                </a:solidFill>
                <a:latin typeface="Arial"/>
              </a:rPr>
              <a:t>     acc += *</a:t>
            </a:r>
            <a:r>
              <a:rPr lang="en-US" sz="900" b="1" kern="0" dirty="0" err="1">
                <a:solidFill>
                  <a:srgbClr val="000000"/>
                </a:solidFill>
                <a:latin typeface="Arial"/>
              </a:rPr>
              <a:t>d_i</a:t>
            </a:r>
            <a:r>
              <a:rPr lang="en-US" sz="900" b="1" kern="0" dirty="0">
                <a:solidFill>
                  <a:srgbClr val="000000"/>
                </a:solidFill>
                <a:latin typeface="Arial"/>
              </a:rPr>
              <a:t>;</a:t>
            </a:r>
          </a:p>
          <a:p>
            <a:pPr defTabSz="914400" fontAlgn="base">
              <a:spcBef>
                <a:spcPct val="0"/>
              </a:spcBef>
              <a:spcAft>
                <a:spcPct val="0"/>
              </a:spcAft>
              <a:defRPr/>
            </a:pPr>
            <a:r>
              <a:rPr lang="en-US" sz="900" b="1" kern="0" dirty="0">
                <a:solidFill>
                  <a:srgbClr val="000000"/>
                </a:solidFill>
                <a:latin typeface="Arial"/>
              </a:rPr>
              <a:t>     if (cnt%2==1) {</a:t>
            </a:r>
          </a:p>
          <a:p>
            <a:pPr defTabSz="914400" fontAlgn="base">
              <a:spcBef>
                <a:spcPct val="0"/>
              </a:spcBef>
              <a:spcAft>
                <a:spcPct val="0"/>
              </a:spcAft>
              <a:defRPr/>
            </a:pPr>
            <a:r>
              <a:rPr lang="en-US" sz="900" b="1" kern="0" dirty="0">
                <a:solidFill>
                  <a:srgbClr val="000000"/>
                </a:solidFill>
                <a:latin typeface="Arial"/>
              </a:rPr>
              <a:t>        *</a:t>
            </a:r>
            <a:r>
              <a:rPr lang="en-US" sz="900" b="1" kern="0" dirty="0" err="1">
                <a:solidFill>
                  <a:srgbClr val="000000"/>
                </a:solidFill>
                <a:latin typeface="Arial"/>
              </a:rPr>
              <a:t>d_o</a:t>
            </a:r>
            <a:r>
              <a:rPr lang="en-US" sz="900" b="1" kern="0" dirty="0">
                <a:solidFill>
                  <a:srgbClr val="000000"/>
                </a:solidFill>
                <a:latin typeface="Arial"/>
              </a:rPr>
              <a:t> = acc;</a:t>
            </a:r>
          </a:p>
          <a:p>
            <a:pPr defTabSz="914400" fontAlgn="base">
              <a:spcBef>
                <a:spcPct val="0"/>
              </a:spcBef>
              <a:spcAft>
                <a:spcPct val="0"/>
              </a:spcAft>
              <a:defRPr/>
            </a:pPr>
            <a:r>
              <a:rPr lang="en-US" sz="900" b="1" kern="0" dirty="0">
                <a:solidFill>
                  <a:srgbClr val="000000"/>
                </a:solidFill>
                <a:latin typeface="Arial"/>
              </a:rPr>
              <a:t>     }</a:t>
            </a:r>
          </a:p>
          <a:p>
            <a:pPr defTabSz="914400" fontAlgn="base">
              <a:spcBef>
                <a:spcPct val="0"/>
              </a:spcBef>
              <a:spcAft>
                <a:spcPct val="0"/>
              </a:spcAft>
              <a:defRPr/>
            </a:pPr>
            <a:r>
              <a:rPr lang="en-US" sz="900" b="1" kern="0" dirty="0">
                <a:solidFill>
                  <a:srgbClr val="000000"/>
                </a:solidFill>
                <a:latin typeface="Arial"/>
              </a:rPr>
              <a:t>   }</a:t>
            </a:r>
          </a:p>
          <a:p>
            <a:pPr defTabSz="914400" fontAlgn="base">
              <a:spcBef>
                <a:spcPct val="0"/>
              </a:spcBef>
              <a:spcAft>
                <a:spcPct val="0"/>
              </a:spcAft>
              <a:defRPr/>
            </a:pPr>
            <a:endParaRPr lang="en-US" sz="900" b="1" kern="0" dirty="0">
              <a:solidFill>
                <a:srgbClr val="000000"/>
              </a:solidFill>
              <a:latin typeface="Arial"/>
            </a:endParaRPr>
          </a:p>
          <a:p>
            <a:pPr defTabSz="914400" fontAlgn="base">
              <a:spcBef>
                <a:spcPct val="0"/>
              </a:spcBef>
              <a:spcAft>
                <a:spcPct val="0"/>
              </a:spcAft>
              <a:defRPr/>
            </a:pPr>
            <a:r>
              <a:rPr lang="en-US" sz="900" b="1" kern="0" dirty="0">
                <a:solidFill>
                  <a:srgbClr val="000000"/>
                </a:solidFill>
                <a:latin typeface="Arial"/>
              </a:rPr>
              <a:t>}</a:t>
            </a:r>
          </a:p>
        </p:txBody>
      </p:sp>
      <p:sp>
        <p:nvSpPr>
          <p:cNvPr id="9" name="Left Bracket 8">
            <a:extLst>
              <a:ext uri="{FF2B5EF4-FFF2-40B4-BE49-F238E27FC236}">
                <a16:creationId xmlns:a16="http://schemas.microsoft.com/office/drawing/2014/main" id="{B1B72662-E16D-4130-9D97-95E1AF51A005}"/>
              </a:ext>
            </a:extLst>
          </p:cNvPr>
          <p:cNvSpPr/>
          <p:nvPr/>
        </p:nvSpPr>
        <p:spPr>
          <a:xfrm>
            <a:off x="925475" y="3100711"/>
            <a:ext cx="409547" cy="691290"/>
          </a:xfrm>
          <a:prstGeom prst="leftBracket">
            <a:avLst/>
          </a:prstGeom>
          <a:noFill/>
          <a:ln w="5715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txBody>
          <a:bodyPr rtlCol="0" anchor="ctr"/>
          <a:lstStyle/>
          <a:p>
            <a:pPr defTabSz="914400" fontAlgn="base">
              <a:spcBef>
                <a:spcPct val="0"/>
              </a:spcBef>
              <a:spcAft>
                <a:spcPct val="0"/>
              </a:spcAft>
              <a:defRPr/>
            </a:pPr>
            <a:endParaRPr lang="en-US" kern="0">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Multi-Access Pointers: Limited Visibility</a:t>
            </a:r>
          </a:p>
        </p:txBody>
      </p:sp>
      <p:sp>
        <p:nvSpPr>
          <p:cNvPr id="3" name="Content Placeholder 2"/>
          <p:cNvSpPr>
            <a:spLocks noGrp="1"/>
          </p:cNvSpPr>
          <p:nvPr>
            <p:ph idx="1"/>
          </p:nvPr>
        </p:nvSpPr>
        <p:spPr/>
        <p:txBody>
          <a:bodyPr/>
          <a:lstStyle/>
          <a:p>
            <a:r>
              <a:rPr lang="en-US" dirty="0"/>
              <a:t>The intermediate results are hard to use for verification</a:t>
            </a:r>
          </a:p>
          <a:p>
            <a:pPr lvl="1"/>
            <a:r>
              <a:rPr lang="en-US" dirty="0"/>
              <a:t>Only the final pointer value is passed to the test bench</a:t>
            </a:r>
          </a:p>
          <a:p>
            <a:pPr lvl="1"/>
            <a:endParaRPr lang="en-US" dirty="0"/>
          </a:p>
          <a:p>
            <a:pPr lvl="1">
              <a:buNone/>
            </a:pPr>
            <a:endParaRPr lang="en-US" dirty="0"/>
          </a:p>
          <a:p>
            <a:pPr marL="4111625" lvl="6"/>
            <a:r>
              <a:rPr lang="en-US" sz="1800" dirty="0"/>
              <a:t>The final value of *</a:t>
            </a:r>
            <a:r>
              <a:rPr lang="en-US" sz="1800" dirty="0" err="1"/>
              <a:t>d_o</a:t>
            </a:r>
            <a:r>
              <a:rPr lang="en-US" sz="1800" dirty="0"/>
              <a:t> can be captured in the test bench and compared </a:t>
            </a:r>
          </a:p>
          <a:p>
            <a:pPr marL="4111625" lvl="6"/>
            <a:r>
              <a:rPr lang="en-US" sz="1800" dirty="0"/>
              <a:t>The intermediate values can only be seen by using </a:t>
            </a:r>
            <a:r>
              <a:rPr lang="en-US" sz="1800" dirty="0" err="1"/>
              <a:t>printf</a:t>
            </a:r>
            <a:r>
              <a:rPr lang="en-US" sz="1800" dirty="0"/>
              <a:t> : they cannot be automatically verified by the test bench</a:t>
            </a:r>
          </a:p>
          <a:p>
            <a:pPr marL="4114800" lvl="1">
              <a:buNone/>
            </a:pPr>
            <a:endParaRPr lang="en-US" dirty="0"/>
          </a:p>
          <a:p>
            <a:r>
              <a:rPr lang="en-US" dirty="0"/>
              <a:t>Code could be added to the DUT</a:t>
            </a:r>
          </a:p>
          <a:p>
            <a:pPr lvl="1"/>
            <a:r>
              <a:rPr lang="en-US" dirty="0"/>
              <a:t>Use __SYNTHESIS__ to add un</a:t>
            </a:r>
            <a:r>
              <a:rPr lang="en-US" dirty="0">
                <a:highlight>
                  <a:srgbClr val="FFFF00"/>
                </a:highlight>
              </a:rPr>
              <a:t>-</a:t>
            </a:r>
            <a:r>
              <a:rPr lang="en-US" dirty="0"/>
              <a:t>synthesizable code for checking</a:t>
            </a:r>
          </a:p>
          <a:p>
            <a:pPr lvl="1"/>
            <a:r>
              <a:rPr lang="en-US" dirty="0"/>
              <a:t>Which will not be there in the RTL </a:t>
            </a:r>
          </a:p>
          <a:p>
            <a:pPr lvl="1"/>
            <a:endParaRPr lang="en-US" dirty="0"/>
          </a:p>
          <a:p>
            <a:pPr lvl="1"/>
            <a:r>
              <a:rPr lang="en-US" dirty="0"/>
              <a:t>HLS:STREAMS class can be used instead: discussed in next section</a:t>
            </a:r>
          </a:p>
        </p:txBody>
      </p:sp>
      <p:sp>
        <p:nvSpPr>
          <p:cNvPr id="10" name="Slide Number Placeholder 9"/>
          <p:cNvSpPr>
            <a:spLocks noGrp="1"/>
          </p:cNvSpPr>
          <p:nvPr>
            <p:ph type="sldNum" sz="quarter" idx="10"/>
          </p:nvPr>
        </p:nvSpPr>
        <p:spPr/>
        <p:txBody>
          <a:bodyPr/>
          <a:lstStyle/>
          <a:p>
            <a:pPr defTabSz="914400">
              <a:defRPr/>
            </a:pPr>
            <a:r>
              <a:rPr lang="en-US" dirty="0">
                <a:solidFill>
                  <a:srgbClr val="0C0C0C">
                    <a:tint val="75000"/>
                  </a:srgbClr>
                </a:solidFill>
                <a:latin typeface="Arial"/>
              </a:rPr>
              <a:t>Coding Considerations 23- </a:t>
            </a:r>
            <a:fld id="{060BD193-E118-4B16-863C-C8C12C675E3E}" type="slidenum">
              <a:rPr lang="en-US">
                <a:solidFill>
                  <a:srgbClr val="0C0C0C">
                    <a:tint val="75000"/>
                  </a:srgbClr>
                </a:solidFill>
                <a:latin typeface="Arial"/>
              </a:rPr>
              <a:pPr defTabSz="914400">
                <a:defRPr/>
              </a:pPr>
              <a:t>53</a:t>
            </a:fld>
            <a:endParaRPr lang="en-US" dirty="0">
              <a:solidFill>
                <a:srgbClr val="0C0C0C">
                  <a:tint val="75000"/>
                </a:srgbClr>
              </a:solidFill>
              <a:latin typeface="Arial"/>
            </a:endParaRPr>
          </a:p>
        </p:txBody>
      </p:sp>
      <p:sp>
        <p:nvSpPr>
          <p:cNvPr id="15" name="TextBox 14"/>
          <p:cNvSpPr txBox="1"/>
          <p:nvPr/>
        </p:nvSpPr>
        <p:spPr>
          <a:xfrm>
            <a:off x="1612335" y="5241072"/>
            <a:ext cx="5528880" cy="307777"/>
          </a:xfrm>
          <a:prstGeom prst="rect">
            <a:avLst/>
          </a:prstGeom>
          <a:solidFill>
            <a:srgbClr val="FFFF99"/>
          </a:solidFill>
          <a:ln>
            <a:solidFill>
              <a:schemeClr val="tx1"/>
            </a:solidFill>
          </a:ln>
          <a:effectLst>
            <a:innerShdw blurRad="63500" dist="50800" dir="2700000">
              <a:prstClr val="black">
                <a:alpha val="50000"/>
              </a:prstClr>
            </a:innerShdw>
          </a:effectLst>
        </p:spPr>
        <p:txBody>
          <a:bodyPr wrap="square" rtlCol="0">
            <a:spAutoFit/>
          </a:bodyPr>
          <a:lstStyle/>
          <a:p>
            <a:pPr algn="ctr" defTabSz="914400"/>
            <a:r>
              <a:rPr lang="en-US" sz="1400" b="1" dirty="0">
                <a:solidFill>
                  <a:srgbClr val="0C0C0C"/>
                </a:solidFill>
                <a:latin typeface="Arial"/>
              </a:rPr>
              <a:t>Not the most ideal coding style for verification</a:t>
            </a:r>
          </a:p>
        </p:txBody>
      </p:sp>
      <p:sp>
        <p:nvSpPr>
          <p:cNvPr id="8" name="TextBox 7">
            <a:extLst>
              <a:ext uri="{FF2B5EF4-FFF2-40B4-BE49-F238E27FC236}">
                <a16:creationId xmlns:a16="http://schemas.microsoft.com/office/drawing/2014/main" id="{47D18764-BF44-48BD-9DA8-D7706D829E71}"/>
              </a:ext>
            </a:extLst>
          </p:cNvPr>
          <p:cNvSpPr txBox="1"/>
          <p:nvPr/>
        </p:nvSpPr>
        <p:spPr>
          <a:xfrm>
            <a:off x="1181443" y="2185038"/>
            <a:ext cx="2662053" cy="2031325"/>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defRPr/>
            </a:pPr>
            <a:r>
              <a:rPr lang="en-US" sz="900" b="1" kern="0" dirty="0">
                <a:solidFill>
                  <a:srgbClr val="000000"/>
                </a:solidFill>
                <a:latin typeface="Arial"/>
              </a:rPr>
              <a:t>void </a:t>
            </a:r>
            <a:r>
              <a:rPr lang="en-US" sz="900" b="1" kern="0" dirty="0" err="1">
                <a:solidFill>
                  <a:srgbClr val="000000"/>
                </a:solidFill>
                <a:latin typeface="Arial"/>
              </a:rPr>
              <a:t>fifo</a:t>
            </a:r>
            <a:r>
              <a:rPr lang="en-US" sz="900" b="1" kern="0" dirty="0">
                <a:solidFill>
                  <a:srgbClr val="000000"/>
                </a:solidFill>
                <a:latin typeface="Arial"/>
              </a:rPr>
              <a:t> (int *</a:t>
            </a:r>
            <a:r>
              <a:rPr lang="en-US" sz="900" b="1" kern="0" dirty="0" err="1">
                <a:solidFill>
                  <a:srgbClr val="000000"/>
                </a:solidFill>
                <a:latin typeface="Arial"/>
              </a:rPr>
              <a:t>d_o</a:t>
            </a:r>
            <a:r>
              <a:rPr lang="en-US" sz="900" b="1" kern="0" dirty="0">
                <a:solidFill>
                  <a:srgbClr val="000000"/>
                </a:solidFill>
                <a:latin typeface="Arial"/>
              </a:rPr>
              <a:t>, </a:t>
            </a:r>
          </a:p>
          <a:p>
            <a:pPr defTabSz="914400" fontAlgn="base">
              <a:spcBef>
                <a:spcPct val="0"/>
              </a:spcBef>
              <a:spcAft>
                <a:spcPct val="0"/>
              </a:spcAft>
              <a:defRPr/>
            </a:pPr>
            <a:r>
              <a:rPr lang="en-US" sz="900" b="1" kern="0" dirty="0">
                <a:solidFill>
                  <a:srgbClr val="000000"/>
                </a:solidFill>
                <a:latin typeface="Arial"/>
              </a:rPr>
              <a:t>                int *</a:t>
            </a:r>
            <a:r>
              <a:rPr lang="en-US" sz="900" b="1" kern="0" dirty="0" err="1">
                <a:solidFill>
                  <a:srgbClr val="000000"/>
                </a:solidFill>
                <a:latin typeface="Arial"/>
              </a:rPr>
              <a:t>d_i</a:t>
            </a:r>
            <a:endParaRPr lang="en-US" sz="900" b="1" kern="0" dirty="0">
              <a:solidFill>
                <a:srgbClr val="000000"/>
              </a:solidFill>
              <a:latin typeface="Arial"/>
            </a:endParaRPr>
          </a:p>
          <a:p>
            <a:pPr defTabSz="914400" fontAlgn="base">
              <a:spcBef>
                <a:spcPct val="0"/>
              </a:spcBef>
              <a:spcAft>
                <a:spcPct val="0"/>
              </a:spcAft>
              <a:defRPr/>
            </a:pPr>
            <a:r>
              <a:rPr lang="en-US" sz="900" b="1" kern="0" dirty="0">
                <a:solidFill>
                  <a:srgbClr val="000000"/>
                </a:solidFill>
                <a:latin typeface="Arial"/>
              </a:rPr>
              <a:t>                ) {</a:t>
            </a:r>
          </a:p>
          <a:p>
            <a:pPr defTabSz="914400" fontAlgn="base">
              <a:spcBef>
                <a:spcPct val="0"/>
              </a:spcBef>
              <a:spcAft>
                <a:spcPct val="0"/>
              </a:spcAft>
              <a:defRPr/>
            </a:pPr>
            <a:r>
              <a:rPr lang="en-US" sz="900" b="1" kern="0" dirty="0">
                <a:solidFill>
                  <a:srgbClr val="000000"/>
                </a:solidFill>
                <a:latin typeface="Arial"/>
              </a:rPr>
              <a:t>  static </a:t>
            </a:r>
            <a:r>
              <a:rPr lang="en-US" sz="900" b="1" kern="0" dirty="0" err="1">
                <a:solidFill>
                  <a:srgbClr val="000000"/>
                </a:solidFill>
                <a:latin typeface="Arial"/>
              </a:rPr>
              <a:t>int</a:t>
            </a:r>
            <a:r>
              <a:rPr lang="en-US" sz="900" b="1" kern="0" dirty="0">
                <a:solidFill>
                  <a:srgbClr val="000000"/>
                </a:solidFill>
                <a:latin typeface="Arial"/>
              </a:rPr>
              <a:t> acc = 0;</a:t>
            </a:r>
          </a:p>
          <a:p>
            <a:pPr defTabSz="914400" fontAlgn="base">
              <a:spcBef>
                <a:spcPct val="0"/>
              </a:spcBef>
              <a:spcAft>
                <a:spcPct val="0"/>
              </a:spcAft>
              <a:defRPr/>
            </a:pPr>
            <a:r>
              <a:rPr lang="en-US" sz="900" b="1" kern="0" dirty="0">
                <a:solidFill>
                  <a:srgbClr val="000000"/>
                </a:solidFill>
                <a:latin typeface="Arial"/>
              </a:rPr>
              <a:t>  </a:t>
            </a:r>
            <a:r>
              <a:rPr lang="en-US" sz="900" b="1" kern="0" dirty="0" err="1">
                <a:solidFill>
                  <a:srgbClr val="000000"/>
                </a:solidFill>
                <a:latin typeface="Arial"/>
              </a:rPr>
              <a:t>int</a:t>
            </a:r>
            <a:r>
              <a:rPr lang="en-US" sz="900" b="1" kern="0" dirty="0">
                <a:solidFill>
                  <a:srgbClr val="000000"/>
                </a:solidFill>
                <a:latin typeface="Arial"/>
              </a:rPr>
              <a:t> </a:t>
            </a:r>
            <a:r>
              <a:rPr lang="en-US" sz="900" b="1" kern="0" dirty="0" err="1">
                <a:solidFill>
                  <a:srgbClr val="000000"/>
                </a:solidFill>
                <a:latin typeface="Arial"/>
              </a:rPr>
              <a:t>cnt</a:t>
            </a:r>
            <a:r>
              <a:rPr lang="en-US" sz="900" b="1" kern="0" dirty="0">
                <a:solidFill>
                  <a:srgbClr val="000000"/>
                </a:solidFill>
                <a:latin typeface="Arial"/>
              </a:rPr>
              <a:t>;</a:t>
            </a:r>
          </a:p>
          <a:p>
            <a:pPr defTabSz="914400" fontAlgn="base">
              <a:spcBef>
                <a:spcPct val="0"/>
              </a:spcBef>
              <a:spcAft>
                <a:spcPct val="0"/>
              </a:spcAft>
              <a:defRPr/>
            </a:pPr>
            <a:r>
              <a:rPr lang="en-US" sz="900" b="1" kern="0" dirty="0">
                <a:solidFill>
                  <a:srgbClr val="000000"/>
                </a:solidFill>
                <a:latin typeface="Arial"/>
              </a:rPr>
              <a:t>  </a:t>
            </a:r>
          </a:p>
          <a:p>
            <a:pPr defTabSz="914400" fontAlgn="base">
              <a:spcBef>
                <a:spcPct val="0"/>
              </a:spcBef>
              <a:spcAft>
                <a:spcPct val="0"/>
              </a:spcAft>
              <a:defRPr/>
            </a:pPr>
            <a:r>
              <a:rPr lang="en-US" sz="900" b="1" kern="0" dirty="0">
                <a:solidFill>
                  <a:srgbClr val="000000"/>
                </a:solidFill>
                <a:latin typeface="Arial"/>
              </a:rPr>
              <a:t>  for (</a:t>
            </a:r>
            <a:r>
              <a:rPr lang="en-US" sz="900" b="1" kern="0" dirty="0" err="1">
                <a:solidFill>
                  <a:srgbClr val="000000"/>
                </a:solidFill>
                <a:latin typeface="Arial"/>
              </a:rPr>
              <a:t>cnt</a:t>
            </a:r>
            <a:r>
              <a:rPr lang="en-US" sz="900" b="1" kern="0" dirty="0">
                <a:solidFill>
                  <a:srgbClr val="000000"/>
                </a:solidFill>
                <a:latin typeface="Arial"/>
              </a:rPr>
              <a:t>=0;cnt&lt;4;cnt++) {</a:t>
            </a:r>
          </a:p>
          <a:p>
            <a:pPr defTabSz="914400" fontAlgn="base">
              <a:spcBef>
                <a:spcPct val="0"/>
              </a:spcBef>
              <a:spcAft>
                <a:spcPct val="0"/>
              </a:spcAft>
              <a:defRPr/>
            </a:pPr>
            <a:r>
              <a:rPr lang="en-US" sz="900" b="1" kern="0" dirty="0">
                <a:solidFill>
                  <a:srgbClr val="000000"/>
                </a:solidFill>
                <a:latin typeface="Arial"/>
              </a:rPr>
              <a:t>     acc += *</a:t>
            </a:r>
            <a:r>
              <a:rPr lang="en-US" sz="900" b="1" kern="0" dirty="0" err="1">
                <a:solidFill>
                  <a:srgbClr val="000000"/>
                </a:solidFill>
                <a:latin typeface="Arial"/>
              </a:rPr>
              <a:t>d_i</a:t>
            </a:r>
            <a:r>
              <a:rPr lang="en-US" sz="900" b="1" kern="0" dirty="0">
                <a:solidFill>
                  <a:srgbClr val="000000"/>
                </a:solidFill>
                <a:latin typeface="Arial"/>
              </a:rPr>
              <a:t>;</a:t>
            </a:r>
          </a:p>
          <a:p>
            <a:pPr defTabSz="914400" fontAlgn="base">
              <a:spcBef>
                <a:spcPct val="0"/>
              </a:spcBef>
              <a:spcAft>
                <a:spcPct val="0"/>
              </a:spcAft>
              <a:defRPr/>
            </a:pPr>
            <a:r>
              <a:rPr lang="en-US" sz="900" b="1" kern="0" dirty="0">
                <a:solidFill>
                  <a:srgbClr val="000000"/>
                </a:solidFill>
                <a:latin typeface="Arial"/>
              </a:rPr>
              <a:t>     if (cnt%2==1) {</a:t>
            </a:r>
          </a:p>
          <a:p>
            <a:pPr defTabSz="914400" fontAlgn="base">
              <a:spcBef>
                <a:spcPct val="0"/>
              </a:spcBef>
              <a:spcAft>
                <a:spcPct val="0"/>
              </a:spcAft>
              <a:defRPr/>
            </a:pPr>
            <a:r>
              <a:rPr lang="en-US" sz="900" b="1" kern="0" dirty="0">
                <a:solidFill>
                  <a:srgbClr val="000000"/>
                </a:solidFill>
                <a:latin typeface="Arial"/>
              </a:rPr>
              <a:t>        *</a:t>
            </a:r>
            <a:r>
              <a:rPr lang="en-US" sz="900" b="1" kern="0" dirty="0" err="1">
                <a:solidFill>
                  <a:srgbClr val="000000"/>
                </a:solidFill>
                <a:latin typeface="Arial"/>
              </a:rPr>
              <a:t>d_o</a:t>
            </a:r>
            <a:r>
              <a:rPr lang="en-US" sz="900" b="1" kern="0" dirty="0">
                <a:solidFill>
                  <a:srgbClr val="000000"/>
                </a:solidFill>
                <a:latin typeface="Arial"/>
              </a:rPr>
              <a:t> = acc;</a:t>
            </a:r>
          </a:p>
          <a:p>
            <a:pPr defTabSz="914400" fontAlgn="base">
              <a:spcBef>
                <a:spcPct val="0"/>
              </a:spcBef>
              <a:spcAft>
                <a:spcPct val="0"/>
              </a:spcAft>
              <a:defRPr/>
            </a:pPr>
            <a:r>
              <a:rPr lang="en-US" sz="900" b="1" kern="0" dirty="0">
                <a:solidFill>
                  <a:srgbClr val="000000"/>
                </a:solidFill>
                <a:latin typeface="Arial"/>
              </a:rPr>
              <a:t>     }</a:t>
            </a:r>
          </a:p>
          <a:p>
            <a:pPr defTabSz="914400" fontAlgn="base">
              <a:spcBef>
                <a:spcPct val="0"/>
              </a:spcBef>
              <a:spcAft>
                <a:spcPct val="0"/>
              </a:spcAft>
              <a:defRPr/>
            </a:pPr>
            <a:r>
              <a:rPr lang="en-US" sz="900" b="1" kern="0" dirty="0">
                <a:solidFill>
                  <a:srgbClr val="000000"/>
                </a:solidFill>
                <a:latin typeface="Arial"/>
              </a:rPr>
              <a:t>   }</a:t>
            </a:r>
          </a:p>
          <a:p>
            <a:pPr defTabSz="914400" fontAlgn="base">
              <a:spcBef>
                <a:spcPct val="0"/>
              </a:spcBef>
              <a:spcAft>
                <a:spcPct val="0"/>
              </a:spcAft>
              <a:defRPr/>
            </a:pPr>
            <a:endParaRPr lang="en-US" sz="900" b="1" kern="0" dirty="0">
              <a:solidFill>
                <a:srgbClr val="000000"/>
              </a:solidFill>
              <a:latin typeface="Arial"/>
            </a:endParaRPr>
          </a:p>
          <a:p>
            <a:pPr defTabSz="914400" fontAlgn="base">
              <a:spcBef>
                <a:spcPct val="0"/>
              </a:spcBef>
              <a:spcAft>
                <a:spcPct val="0"/>
              </a:spcAft>
              <a:defRPr/>
            </a:pPr>
            <a:r>
              <a:rPr lang="en-US" sz="900" b="1" kern="0" dirty="0">
                <a:solidFill>
                  <a:srgbClr val="000000"/>
                </a:solidFill>
                <a:latin typeface="Arial"/>
              </a:rPr>
              <a:t>}</a:t>
            </a:r>
          </a:p>
        </p:txBody>
      </p:sp>
      <p:sp>
        <p:nvSpPr>
          <p:cNvPr id="9" name="Left Bracket 8">
            <a:extLst>
              <a:ext uri="{FF2B5EF4-FFF2-40B4-BE49-F238E27FC236}">
                <a16:creationId xmlns:a16="http://schemas.microsoft.com/office/drawing/2014/main" id="{B1B72662-E16D-4130-9D97-95E1AF51A005}"/>
              </a:ext>
            </a:extLst>
          </p:cNvPr>
          <p:cNvSpPr/>
          <p:nvPr/>
        </p:nvSpPr>
        <p:spPr>
          <a:xfrm>
            <a:off x="925475" y="3043561"/>
            <a:ext cx="409547" cy="691290"/>
          </a:xfrm>
          <a:prstGeom prst="leftBracket">
            <a:avLst/>
          </a:prstGeom>
          <a:noFill/>
          <a:ln w="5715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txBody>
          <a:bodyPr rtlCol="0" anchor="ctr"/>
          <a:lstStyle/>
          <a:p>
            <a:pPr defTabSz="914400" fontAlgn="base">
              <a:spcBef>
                <a:spcPct val="0"/>
              </a:spcBef>
              <a:spcAft>
                <a:spcPct val="0"/>
              </a:spcAft>
              <a:defRPr/>
            </a:pPr>
            <a:endParaRPr lang="en-US" kern="0">
              <a:solidFill>
                <a:srgbClr val="000000"/>
              </a:solidFill>
              <a:latin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Multi-Access Pointers: Test bench Depth</a:t>
            </a:r>
          </a:p>
        </p:txBody>
      </p:sp>
      <p:sp>
        <p:nvSpPr>
          <p:cNvPr id="3" name="Content Placeholder 2"/>
          <p:cNvSpPr>
            <a:spLocks noGrp="1"/>
          </p:cNvSpPr>
          <p:nvPr>
            <p:ph idx="1"/>
          </p:nvPr>
        </p:nvSpPr>
        <p:spPr>
          <a:xfrm>
            <a:off x="579121" y="1280160"/>
            <a:ext cx="11033760" cy="4632960"/>
          </a:xfrm>
        </p:spPr>
        <p:txBody>
          <a:bodyPr/>
          <a:lstStyle/>
          <a:p>
            <a:r>
              <a:rPr lang="en-US" sz="2000" dirty="0"/>
              <a:t>Let’s look at an example</a:t>
            </a:r>
          </a:p>
          <a:p>
            <a:pPr lvl="1"/>
            <a:r>
              <a:rPr lang="en-US" sz="1800" dirty="0"/>
              <a:t>This code will access four samples using a pointer</a:t>
            </a:r>
          </a:p>
          <a:p>
            <a:pPr lvl="1"/>
            <a:endParaRPr lang="en-US" sz="1800" dirty="0"/>
          </a:p>
          <a:p>
            <a:pPr lvl="2"/>
            <a:endParaRPr lang="en-US" sz="1400" dirty="0"/>
          </a:p>
          <a:p>
            <a:pPr lvl="2"/>
            <a:endParaRPr lang="en-US" sz="1400" dirty="0"/>
          </a:p>
          <a:p>
            <a:pPr lvl="1"/>
            <a:endParaRPr lang="en-US" sz="1800" dirty="0"/>
          </a:p>
          <a:p>
            <a:pPr lvl="1"/>
            <a:endParaRPr lang="en-US" sz="1800" dirty="0"/>
          </a:p>
          <a:p>
            <a:endParaRPr lang="en-US" sz="2000" dirty="0"/>
          </a:p>
          <a:p>
            <a:r>
              <a:rPr lang="en-US" sz="2000" dirty="0"/>
              <a:t>Co-Simulation(RTL Verification) only sees a pointer on the interface</a:t>
            </a:r>
          </a:p>
          <a:p>
            <a:pPr lvl="1"/>
            <a:r>
              <a:rPr lang="en-US" sz="1800" dirty="0"/>
              <a:t>And will create a SystemC co-simulation wrapper to supply or store 1 sample </a:t>
            </a:r>
          </a:p>
          <a:p>
            <a:pPr lvl="1"/>
            <a:r>
              <a:rPr lang="en-US" sz="1800" dirty="0"/>
              <a:t>Use the depth option to specify the actual depth</a:t>
            </a:r>
          </a:p>
          <a:p>
            <a:pPr lvl="1"/>
            <a:r>
              <a:rPr lang="en-US" sz="1800" dirty="0" err="1"/>
              <a:t>Vitis</a:t>
            </a:r>
            <a:r>
              <a:rPr lang="en-US" sz="1800" dirty="0"/>
              <a:t> HLS will issue a warning in case</a:t>
            </a:r>
          </a:p>
        </p:txBody>
      </p:sp>
      <p:sp>
        <p:nvSpPr>
          <p:cNvPr id="16" name="Slide Number Placeholder 5">
            <a:extLst>
              <a:ext uri="{FF2B5EF4-FFF2-40B4-BE49-F238E27FC236}">
                <a16:creationId xmlns:a16="http://schemas.microsoft.com/office/drawing/2014/main" id="{F1124196-25D1-49E1-97CF-2219551A30A4}"/>
              </a:ext>
            </a:extLst>
          </p:cNvPr>
          <p:cNvSpPr>
            <a:spLocks noGrp="1"/>
          </p:cNvSpPr>
          <p:nvPr>
            <p:ph type="sldNum" sz="quarter" idx="4"/>
          </p:nvPr>
        </p:nvSpPr>
        <p:spPr/>
        <p:txBody>
          <a:bodyPr/>
          <a:lstStyle/>
          <a:p>
            <a:pPr>
              <a:defRPr/>
            </a:pPr>
            <a:r>
              <a:rPr lang="en-US" dirty="0"/>
              <a:t>Coding Considerations 23- </a:t>
            </a:r>
            <a:fld id="{060BD193-E118-4B16-863C-C8C12C675E3E}" type="slidenum">
              <a:rPr lang="en-US" smtClean="0"/>
              <a:pPr>
                <a:defRPr/>
              </a:pPr>
              <a:t>54</a:t>
            </a:fld>
            <a:endParaRPr lang="en-US" dirty="0"/>
          </a:p>
        </p:txBody>
      </p:sp>
      <p:pic>
        <p:nvPicPr>
          <p:cNvPr id="4" name="Picture 3">
            <a:extLst>
              <a:ext uri="{FF2B5EF4-FFF2-40B4-BE49-F238E27FC236}">
                <a16:creationId xmlns:a16="http://schemas.microsoft.com/office/drawing/2014/main" id="{C8B77FF6-781D-42F6-8FC4-492898DC5A3C}"/>
              </a:ext>
            </a:extLst>
          </p:cNvPr>
          <p:cNvPicPr>
            <a:picLocks noChangeAspect="1"/>
          </p:cNvPicPr>
          <p:nvPr/>
        </p:nvPicPr>
        <p:blipFill>
          <a:blip r:embed="rId3"/>
          <a:stretch>
            <a:fillRect/>
          </a:stretch>
        </p:blipFill>
        <p:spPr>
          <a:xfrm>
            <a:off x="6096001" y="7595823"/>
            <a:ext cx="2287043" cy="2382907"/>
          </a:xfrm>
          <a:prstGeom prst="rect">
            <a:avLst/>
          </a:prstGeom>
        </p:spPr>
      </p:pic>
      <p:sp>
        <p:nvSpPr>
          <p:cNvPr id="11" name="TextBox 10">
            <a:extLst>
              <a:ext uri="{FF2B5EF4-FFF2-40B4-BE49-F238E27FC236}">
                <a16:creationId xmlns:a16="http://schemas.microsoft.com/office/drawing/2014/main" id="{D73B87FB-788D-48BF-9E4D-8017244CB645}"/>
              </a:ext>
            </a:extLst>
          </p:cNvPr>
          <p:cNvSpPr txBox="1"/>
          <p:nvPr/>
        </p:nvSpPr>
        <p:spPr>
          <a:xfrm>
            <a:off x="1539796" y="2051326"/>
            <a:ext cx="1894153" cy="1615827"/>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defRPr/>
            </a:pPr>
            <a:r>
              <a:rPr lang="en-US" sz="900" b="1" strike="sngStrike" kern="0" dirty="0">
                <a:solidFill>
                  <a:srgbClr val="000000"/>
                </a:solidFill>
                <a:latin typeface="Arial"/>
              </a:rPr>
              <a:t>#include "</a:t>
            </a:r>
            <a:r>
              <a:rPr lang="en-US" sz="900" b="1" strike="sngStrike" kern="0" dirty="0" err="1">
                <a:solidFill>
                  <a:srgbClr val="000000"/>
                </a:solidFill>
                <a:latin typeface="Arial"/>
              </a:rPr>
              <a:t>bus.h</a:t>
            </a:r>
            <a:r>
              <a:rPr lang="en-US" sz="900" b="1" strike="sngStrike" kern="0" dirty="0">
                <a:solidFill>
                  <a:srgbClr val="000000"/>
                </a:solidFill>
                <a:latin typeface="Arial"/>
              </a:rPr>
              <a:t>"</a:t>
            </a:r>
          </a:p>
          <a:p>
            <a:pPr defTabSz="914400" fontAlgn="base">
              <a:spcBef>
                <a:spcPct val="0"/>
              </a:spcBef>
              <a:spcAft>
                <a:spcPct val="0"/>
              </a:spcAft>
              <a:defRPr/>
            </a:pPr>
            <a:endParaRPr lang="en-US" sz="900" b="1" kern="0" dirty="0">
              <a:solidFill>
                <a:srgbClr val="000000"/>
              </a:solidFill>
              <a:latin typeface="Arial"/>
            </a:endParaRPr>
          </a:p>
          <a:p>
            <a:pPr defTabSz="914400" fontAlgn="base">
              <a:spcBef>
                <a:spcPct val="0"/>
              </a:spcBef>
              <a:spcAft>
                <a:spcPct val="0"/>
              </a:spcAft>
              <a:defRPr/>
            </a:pPr>
            <a:r>
              <a:rPr lang="en-US" sz="900" b="1" kern="0" dirty="0">
                <a:solidFill>
                  <a:srgbClr val="000000"/>
                </a:solidFill>
                <a:latin typeface="Arial"/>
              </a:rPr>
              <a:t>void </a:t>
            </a:r>
            <a:r>
              <a:rPr lang="en-US" sz="900" b="1" kern="0" dirty="0" err="1">
                <a:solidFill>
                  <a:srgbClr val="000000"/>
                </a:solidFill>
                <a:latin typeface="Arial"/>
              </a:rPr>
              <a:t>foo</a:t>
            </a:r>
            <a:r>
              <a:rPr lang="en-US" sz="900" b="1" kern="0" dirty="0">
                <a:solidFill>
                  <a:srgbClr val="000000"/>
                </a:solidFill>
                <a:latin typeface="Arial"/>
              </a:rPr>
              <a:t> (int *d) {</a:t>
            </a:r>
          </a:p>
          <a:p>
            <a:pPr defTabSz="914400" fontAlgn="base">
              <a:spcBef>
                <a:spcPct val="0"/>
              </a:spcBef>
              <a:spcAft>
                <a:spcPct val="0"/>
              </a:spcAft>
              <a:defRPr/>
            </a:pPr>
            <a:r>
              <a:rPr lang="en-US" sz="900" b="1" kern="0" dirty="0">
                <a:solidFill>
                  <a:srgbClr val="000000"/>
                </a:solidFill>
                <a:latin typeface="Arial"/>
              </a:rPr>
              <a:t>  static </a:t>
            </a:r>
            <a:r>
              <a:rPr lang="en-US" sz="900" b="1" kern="0" dirty="0" err="1">
                <a:solidFill>
                  <a:srgbClr val="000000"/>
                </a:solidFill>
                <a:latin typeface="Arial"/>
              </a:rPr>
              <a:t>int</a:t>
            </a:r>
            <a:r>
              <a:rPr lang="en-US" sz="900" b="1" kern="0" dirty="0">
                <a:solidFill>
                  <a:srgbClr val="000000"/>
                </a:solidFill>
                <a:latin typeface="Arial"/>
              </a:rPr>
              <a:t> acc = 0;</a:t>
            </a:r>
          </a:p>
          <a:p>
            <a:pPr defTabSz="914400" fontAlgn="base">
              <a:spcBef>
                <a:spcPct val="0"/>
              </a:spcBef>
              <a:spcAft>
                <a:spcPct val="0"/>
              </a:spcAft>
              <a:defRPr/>
            </a:pPr>
            <a:r>
              <a:rPr lang="en-US" sz="900" b="1" kern="0" dirty="0">
                <a:solidFill>
                  <a:srgbClr val="000000"/>
                </a:solidFill>
                <a:latin typeface="Arial"/>
              </a:rPr>
              <a:t>  </a:t>
            </a:r>
            <a:r>
              <a:rPr lang="en-US" sz="900" b="1" kern="0" dirty="0" err="1">
                <a:solidFill>
                  <a:srgbClr val="000000"/>
                </a:solidFill>
                <a:latin typeface="Arial"/>
              </a:rPr>
              <a:t>int</a:t>
            </a:r>
            <a:r>
              <a:rPr lang="en-US" sz="900" b="1" kern="0" dirty="0">
                <a:solidFill>
                  <a:srgbClr val="000000"/>
                </a:solidFill>
                <a:latin typeface="Arial"/>
              </a:rPr>
              <a:t> </a:t>
            </a:r>
            <a:r>
              <a:rPr lang="en-US" sz="900" b="1" kern="0" dirty="0" err="1">
                <a:solidFill>
                  <a:srgbClr val="000000"/>
                </a:solidFill>
                <a:latin typeface="Arial"/>
              </a:rPr>
              <a:t>i</a:t>
            </a:r>
            <a:r>
              <a:rPr lang="en-US" sz="900" b="1" kern="0" dirty="0">
                <a:solidFill>
                  <a:srgbClr val="000000"/>
                </a:solidFill>
                <a:latin typeface="Arial"/>
              </a:rPr>
              <a:t>;</a:t>
            </a:r>
          </a:p>
          <a:p>
            <a:pPr defTabSz="914400" fontAlgn="base">
              <a:spcBef>
                <a:spcPct val="0"/>
              </a:spcBef>
              <a:spcAft>
                <a:spcPct val="0"/>
              </a:spcAft>
              <a:defRPr/>
            </a:pPr>
            <a:r>
              <a:rPr lang="en-US" sz="900" b="1" kern="0" dirty="0">
                <a:solidFill>
                  <a:srgbClr val="000000"/>
                </a:solidFill>
                <a:latin typeface="Arial"/>
              </a:rPr>
              <a:t>  </a:t>
            </a:r>
          </a:p>
          <a:p>
            <a:pPr defTabSz="914400" fontAlgn="base">
              <a:spcBef>
                <a:spcPct val="0"/>
              </a:spcBef>
              <a:spcAft>
                <a:spcPct val="0"/>
              </a:spcAft>
              <a:defRPr/>
            </a:pPr>
            <a:r>
              <a:rPr lang="en-US" sz="900" b="1" kern="0" dirty="0">
                <a:solidFill>
                  <a:srgbClr val="000000"/>
                </a:solidFill>
                <a:latin typeface="Arial"/>
              </a:rPr>
              <a:t>  for (</a:t>
            </a:r>
            <a:r>
              <a:rPr lang="en-US" sz="900" b="1" kern="0" dirty="0" err="1">
                <a:solidFill>
                  <a:srgbClr val="000000"/>
                </a:solidFill>
                <a:latin typeface="Arial"/>
              </a:rPr>
              <a:t>i</a:t>
            </a:r>
            <a:r>
              <a:rPr lang="en-US" sz="900" b="1" kern="0" dirty="0">
                <a:solidFill>
                  <a:srgbClr val="000000"/>
                </a:solidFill>
                <a:latin typeface="Arial"/>
              </a:rPr>
              <a:t>=0;i&lt;4;i++) {</a:t>
            </a:r>
          </a:p>
          <a:p>
            <a:pPr defTabSz="914400" fontAlgn="base">
              <a:spcBef>
                <a:spcPct val="0"/>
              </a:spcBef>
              <a:spcAft>
                <a:spcPct val="0"/>
              </a:spcAft>
              <a:defRPr/>
            </a:pPr>
            <a:r>
              <a:rPr lang="en-US" sz="900" b="1" kern="0" dirty="0">
                <a:solidFill>
                  <a:srgbClr val="000000"/>
                </a:solidFill>
                <a:latin typeface="Arial"/>
              </a:rPr>
              <a:t>    acc += *(</a:t>
            </a:r>
            <a:r>
              <a:rPr lang="en-US" sz="900" b="1" kern="0" dirty="0" err="1">
                <a:solidFill>
                  <a:srgbClr val="000000"/>
                </a:solidFill>
                <a:latin typeface="Arial"/>
              </a:rPr>
              <a:t>d+i</a:t>
            </a:r>
            <a:r>
              <a:rPr lang="en-US" sz="900" b="1" kern="0" dirty="0">
                <a:solidFill>
                  <a:srgbClr val="000000"/>
                </a:solidFill>
                <a:latin typeface="Arial"/>
              </a:rPr>
              <a:t>);</a:t>
            </a:r>
          </a:p>
          <a:p>
            <a:pPr defTabSz="914400" fontAlgn="base">
              <a:spcBef>
                <a:spcPct val="0"/>
              </a:spcBef>
              <a:spcAft>
                <a:spcPct val="0"/>
              </a:spcAft>
              <a:defRPr/>
            </a:pPr>
            <a:r>
              <a:rPr lang="en-US" sz="900" b="1" kern="0" dirty="0">
                <a:solidFill>
                  <a:srgbClr val="000000"/>
                </a:solidFill>
                <a:latin typeface="Arial"/>
              </a:rPr>
              <a:t>    *(</a:t>
            </a:r>
            <a:r>
              <a:rPr lang="en-US" sz="900" b="1" kern="0" dirty="0" err="1">
                <a:solidFill>
                  <a:srgbClr val="000000"/>
                </a:solidFill>
                <a:latin typeface="Arial"/>
              </a:rPr>
              <a:t>d+i</a:t>
            </a:r>
            <a:r>
              <a:rPr lang="en-US" sz="900" b="1" kern="0" dirty="0">
                <a:solidFill>
                  <a:srgbClr val="000000"/>
                </a:solidFill>
                <a:latin typeface="Arial"/>
              </a:rPr>
              <a:t>) = acc;</a:t>
            </a:r>
          </a:p>
          <a:p>
            <a:pPr defTabSz="914400" fontAlgn="base">
              <a:spcBef>
                <a:spcPct val="0"/>
              </a:spcBef>
              <a:spcAft>
                <a:spcPct val="0"/>
              </a:spcAft>
              <a:defRPr/>
            </a:pPr>
            <a:r>
              <a:rPr lang="en-US" sz="900" b="1" kern="0" dirty="0">
                <a:solidFill>
                  <a:srgbClr val="000000"/>
                </a:solidFill>
                <a:latin typeface="Arial"/>
              </a:rPr>
              <a:t>  }</a:t>
            </a:r>
          </a:p>
          <a:p>
            <a:pPr defTabSz="914400" fontAlgn="base">
              <a:spcBef>
                <a:spcPct val="0"/>
              </a:spcBef>
              <a:spcAft>
                <a:spcPct val="0"/>
              </a:spcAft>
              <a:defRPr/>
            </a:pPr>
            <a:r>
              <a:rPr lang="en-US" sz="900" b="1" kern="0" dirty="0">
                <a:solidFill>
                  <a:srgbClr val="000000"/>
                </a:solidFill>
                <a:latin typeface="Arial"/>
              </a:rPr>
              <a:t>}</a:t>
            </a:r>
          </a:p>
        </p:txBody>
      </p:sp>
      <p:sp>
        <p:nvSpPr>
          <p:cNvPr id="13" name="TextBox 12">
            <a:extLst>
              <a:ext uri="{FF2B5EF4-FFF2-40B4-BE49-F238E27FC236}">
                <a16:creationId xmlns:a16="http://schemas.microsoft.com/office/drawing/2014/main" id="{6E259EFE-8C32-475F-926B-909921007598}"/>
              </a:ext>
            </a:extLst>
          </p:cNvPr>
          <p:cNvSpPr txBox="1"/>
          <p:nvPr/>
        </p:nvSpPr>
        <p:spPr>
          <a:xfrm>
            <a:off x="7887768" y="2051324"/>
            <a:ext cx="1689380" cy="1754326"/>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defRPr/>
            </a:pPr>
            <a:r>
              <a:rPr lang="en-US" sz="900" b="1" kern="0" dirty="0">
                <a:solidFill>
                  <a:srgbClr val="000000"/>
                </a:solidFill>
                <a:latin typeface="Arial"/>
              </a:rPr>
              <a:t>int main () {</a:t>
            </a:r>
          </a:p>
          <a:p>
            <a:pPr defTabSz="914400" fontAlgn="base">
              <a:spcBef>
                <a:spcPct val="0"/>
              </a:spcBef>
              <a:spcAft>
                <a:spcPct val="0"/>
              </a:spcAft>
              <a:defRPr/>
            </a:pPr>
            <a:r>
              <a:rPr lang="en-US" sz="900" b="1" kern="0" dirty="0">
                <a:solidFill>
                  <a:srgbClr val="000000"/>
                </a:solidFill>
                <a:latin typeface="Arial"/>
              </a:rPr>
              <a:t>  int d[5];</a:t>
            </a:r>
          </a:p>
          <a:p>
            <a:pPr defTabSz="914400" fontAlgn="base">
              <a:spcBef>
                <a:spcPct val="0"/>
              </a:spcBef>
              <a:spcAft>
                <a:spcPct val="0"/>
              </a:spcAft>
              <a:defRPr/>
            </a:pPr>
            <a:r>
              <a:rPr lang="en-US" sz="900" b="1" kern="0" dirty="0">
                <a:solidFill>
                  <a:srgbClr val="000000"/>
                </a:solidFill>
                <a:latin typeface="Arial"/>
              </a:rPr>
              <a:t>  int </a:t>
            </a:r>
            <a:r>
              <a:rPr lang="en-US" sz="900" b="1" kern="0" dirty="0" err="1">
                <a:solidFill>
                  <a:srgbClr val="000000"/>
                </a:solidFill>
                <a:latin typeface="Arial"/>
              </a:rPr>
              <a:t>i</a:t>
            </a:r>
            <a:r>
              <a:rPr lang="en-US" sz="900" b="1" kern="0" dirty="0">
                <a:solidFill>
                  <a:srgbClr val="000000"/>
                </a:solidFill>
                <a:latin typeface="Arial"/>
              </a:rPr>
              <a:t>;</a:t>
            </a:r>
          </a:p>
          <a:p>
            <a:pPr defTabSz="914400" fontAlgn="base">
              <a:spcBef>
                <a:spcPct val="0"/>
              </a:spcBef>
              <a:spcAft>
                <a:spcPct val="0"/>
              </a:spcAft>
              <a:defRPr/>
            </a:pPr>
            <a:r>
              <a:rPr lang="en-US" sz="900" b="1" kern="0" dirty="0">
                <a:solidFill>
                  <a:srgbClr val="000000"/>
                </a:solidFill>
                <a:latin typeface="Arial"/>
              </a:rPr>
              <a:t>  </a:t>
            </a:r>
          </a:p>
          <a:p>
            <a:pPr defTabSz="914400" fontAlgn="base">
              <a:spcBef>
                <a:spcPct val="0"/>
              </a:spcBef>
              <a:spcAft>
                <a:spcPct val="0"/>
              </a:spcAft>
              <a:defRPr/>
            </a:pPr>
            <a:r>
              <a:rPr lang="en-US" sz="900" b="1" kern="0" dirty="0">
                <a:solidFill>
                  <a:srgbClr val="000000"/>
                </a:solidFill>
                <a:latin typeface="Arial"/>
              </a:rPr>
              <a:t>for (</a:t>
            </a:r>
            <a:r>
              <a:rPr lang="en-US" sz="900" b="1" kern="0" dirty="0" err="1">
                <a:solidFill>
                  <a:srgbClr val="000000"/>
                </a:solidFill>
                <a:latin typeface="Arial"/>
              </a:rPr>
              <a:t>i</a:t>
            </a:r>
            <a:r>
              <a:rPr lang="en-US" sz="900" b="1" kern="0" dirty="0">
                <a:solidFill>
                  <a:srgbClr val="000000"/>
                </a:solidFill>
                <a:latin typeface="Arial"/>
              </a:rPr>
              <a:t>=0;i&lt;4;i++) {</a:t>
            </a:r>
          </a:p>
          <a:p>
            <a:pPr defTabSz="914400" fontAlgn="base">
              <a:spcBef>
                <a:spcPct val="0"/>
              </a:spcBef>
              <a:spcAft>
                <a:spcPct val="0"/>
              </a:spcAft>
              <a:defRPr/>
            </a:pPr>
            <a:r>
              <a:rPr lang="en-US" sz="900" b="1" kern="0" dirty="0">
                <a:solidFill>
                  <a:srgbClr val="000000"/>
                </a:solidFill>
                <a:latin typeface="Arial"/>
              </a:rPr>
              <a:t>    d[</a:t>
            </a:r>
            <a:r>
              <a:rPr lang="en-US" sz="900" b="1" kern="0" dirty="0" err="1">
                <a:solidFill>
                  <a:srgbClr val="000000"/>
                </a:solidFill>
                <a:latin typeface="Arial"/>
              </a:rPr>
              <a:t>i</a:t>
            </a:r>
            <a:r>
              <a:rPr lang="en-US" sz="900" b="1" kern="0" dirty="0">
                <a:solidFill>
                  <a:srgbClr val="000000"/>
                </a:solidFill>
                <a:latin typeface="Arial"/>
              </a:rPr>
              <a:t>] = </a:t>
            </a:r>
            <a:r>
              <a:rPr lang="en-US" sz="900" b="1" kern="0" dirty="0" err="1">
                <a:solidFill>
                  <a:srgbClr val="000000"/>
                </a:solidFill>
                <a:latin typeface="Arial"/>
              </a:rPr>
              <a:t>i</a:t>
            </a:r>
            <a:r>
              <a:rPr lang="en-US" sz="900" b="1" kern="0" dirty="0">
                <a:solidFill>
                  <a:srgbClr val="000000"/>
                </a:solidFill>
                <a:latin typeface="Arial"/>
              </a:rPr>
              <a:t>;</a:t>
            </a:r>
          </a:p>
          <a:p>
            <a:pPr defTabSz="914400" fontAlgn="base">
              <a:spcBef>
                <a:spcPct val="0"/>
              </a:spcBef>
              <a:spcAft>
                <a:spcPct val="0"/>
              </a:spcAft>
              <a:defRPr/>
            </a:pPr>
            <a:r>
              <a:rPr lang="en-US" sz="900" b="1" kern="0" dirty="0">
                <a:solidFill>
                  <a:srgbClr val="000000"/>
                </a:solidFill>
                <a:latin typeface="Arial"/>
              </a:rPr>
              <a:t>  }</a:t>
            </a:r>
          </a:p>
          <a:p>
            <a:pPr defTabSz="914400" fontAlgn="base">
              <a:spcBef>
                <a:spcPct val="0"/>
              </a:spcBef>
              <a:spcAft>
                <a:spcPct val="0"/>
              </a:spcAft>
              <a:defRPr/>
            </a:pPr>
            <a:r>
              <a:rPr lang="en-US" sz="900" b="1" kern="0" dirty="0">
                <a:solidFill>
                  <a:srgbClr val="000000"/>
                </a:solidFill>
                <a:latin typeface="Arial"/>
              </a:rPr>
              <a:t>  </a:t>
            </a:r>
          </a:p>
          <a:p>
            <a:pPr defTabSz="914400" fontAlgn="base">
              <a:spcBef>
                <a:spcPct val="0"/>
              </a:spcBef>
              <a:spcAft>
                <a:spcPct val="0"/>
              </a:spcAft>
              <a:defRPr/>
            </a:pPr>
            <a:r>
              <a:rPr lang="en-US" sz="900" b="1" kern="0" dirty="0" err="1">
                <a:solidFill>
                  <a:srgbClr val="000000"/>
                </a:solidFill>
                <a:latin typeface="Arial"/>
              </a:rPr>
              <a:t>foo</a:t>
            </a:r>
            <a:r>
              <a:rPr lang="en-US" sz="900" b="1" kern="0" dirty="0">
                <a:solidFill>
                  <a:srgbClr val="000000"/>
                </a:solidFill>
                <a:latin typeface="Arial"/>
              </a:rPr>
              <a:t>(d);</a:t>
            </a:r>
          </a:p>
          <a:p>
            <a:pPr defTabSz="914400" fontAlgn="base">
              <a:spcBef>
                <a:spcPct val="0"/>
              </a:spcBef>
              <a:spcAft>
                <a:spcPct val="0"/>
              </a:spcAft>
              <a:defRPr/>
            </a:pPr>
            <a:r>
              <a:rPr lang="en-US" sz="900" b="1" kern="0" dirty="0">
                <a:solidFill>
                  <a:srgbClr val="000000"/>
                </a:solidFill>
                <a:latin typeface="Arial"/>
              </a:rPr>
              <a:t>  </a:t>
            </a:r>
          </a:p>
          <a:p>
            <a:pPr defTabSz="914400" fontAlgn="base">
              <a:spcBef>
                <a:spcPct val="0"/>
              </a:spcBef>
              <a:spcAft>
                <a:spcPct val="0"/>
              </a:spcAft>
              <a:defRPr/>
            </a:pPr>
            <a:r>
              <a:rPr lang="en-US" sz="900" b="1" kern="0" dirty="0">
                <a:solidFill>
                  <a:srgbClr val="000000"/>
                </a:solidFill>
                <a:latin typeface="Arial"/>
              </a:rPr>
              <a:t>return 0;</a:t>
            </a:r>
          </a:p>
          <a:p>
            <a:pPr defTabSz="914400" fontAlgn="base">
              <a:spcBef>
                <a:spcPct val="0"/>
              </a:spcBef>
              <a:spcAft>
                <a:spcPct val="0"/>
              </a:spcAft>
              <a:defRPr/>
            </a:pPr>
            <a:r>
              <a:rPr lang="en-US" sz="900" b="1" kern="0" dirty="0">
                <a:solidFill>
                  <a:srgbClr val="000000"/>
                </a:solidFill>
                <a:latin typeface="Arial"/>
              </a:rPr>
              <a:t>}</a:t>
            </a:r>
          </a:p>
        </p:txBody>
      </p:sp>
      <p:sp>
        <p:nvSpPr>
          <p:cNvPr id="14" name="Right Arrow 6">
            <a:extLst>
              <a:ext uri="{FF2B5EF4-FFF2-40B4-BE49-F238E27FC236}">
                <a16:creationId xmlns:a16="http://schemas.microsoft.com/office/drawing/2014/main" id="{C6E37DCE-D21C-42BF-9BD9-2667C615E45F}"/>
              </a:ext>
            </a:extLst>
          </p:cNvPr>
          <p:cNvSpPr/>
          <p:nvPr/>
        </p:nvSpPr>
        <p:spPr>
          <a:xfrm>
            <a:off x="4048268" y="2243349"/>
            <a:ext cx="3276373" cy="1613010"/>
          </a:xfrm>
          <a:prstGeom prst="rightArrow">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endParaRPr lang="en-US" kern="0">
              <a:solidFill>
                <a:srgbClr val="FFFFFF"/>
              </a:solidFill>
              <a:latin typeface="Arial"/>
            </a:endParaRPr>
          </a:p>
        </p:txBody>
      </p:sp>
      <p:sp>
        <p:nvSpPr>
          <p:cNvPr id="15" name="TextBox 14">
            <a:extLst>
              <a:ext uri="{FF2B5EF4-FFF2-40B4-BE49-F238E27FC236}">
                <a16:creationId xmlns:a16="http://schemas.microsoft.com/office/drawing/2014/main" id="{F6B2F25A-65B5-46E1-94AB-201EC27355D0}"/>
              </a:ext>
            </a:extLst>
          </p:cNvPr>
          <p:cNvSpPr txBox="1"/>
          <p:nvPr/>
        </p:nvSpPr>
        <p:spPr>
          <a:xfrm>
            <a:off x="3997075" y="2781019"/>
            <a:ext cx="3276372" cy="523220"/>
          </a:xfrm>
          <a:prstGeom prst="rect">
            <a:avLst/>
          </a:prstGeom>
          <a:noFill/>
        </p:spPr>
        <p:txBody>
          <a:bodyPr wrap="square" rtlCol="0">
            <a:spAutoFit/>
          </a:bodyPr>
          <a:lstStyle/>
          <a:p>
            <a:pPr algn="ctr" defTabSz="914400" fontAlgn="base">
              <a:spcBef>
                <a:spcPct val="0"/>
              </a:spcBef>
              <a:spcAft>
                <a:spcPct val="0"/>
              </a:spcAft>
              <a:defRPr/>
            </a:pPr>
            <a:r>
              <a:rPr lang="en-US" sz="1400" b="1" kern="0" dirty="0">
                <a:solidFill>
                  <a:srgbClr val="000000"/>
                </a:solidFill>
              </a:rPr>
              <a:t>The C test bench may correctly provide 4 values</a:t>
            </a:r>
          </a:p>
        </p:txBody>
      </p:sp>
      <p:pic>
        <p:nvPicPr>
          <p:cNvPr id="6" name="Picture 5">
            <a:extLst>
              <a:ext uri="{FF2B5EF4-FFF2-40B4-BE49-F238E27FC236}">
                <a16:creationId xmlns:a16="http://schemas.microsoft.com/office/drawing/2014/main" id="{F341C755-EA54-4B30-BDFC-0199A644F6B7}"/>
              </a:ext>
            </a:extLst>
          </p:cNvPr>
          <p:cNvPicPr>
            <a:picLocks noChangeAspect="1"/>
          </p:cNvPicPr>
          <p:nvPr/>
        </p:nvPicPr>
        <p:blipFill>
          <a:blip r:embed="rId4"/>
          <a:stretch>
            <a:fillRect/>
          </a:stretch>
        </p:blipFill>
        <p:spPr>
          <a:xfrm>
            <a:off x="9690027" y="2859239"/>
            <a:ext cx="2067523" cy="3355597"/>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Multi-Access Pointers: Test bench Depth</a:t>
            </a:r>
          </a:p>
        </p:txBody>
      </p:sp>
      <p:sp>
        <p:nvSpPr>
          <p:cNvPr id="3" name="Content Placeholder 2"/>
          <p:cNvSpPr>
            <a:spLocks noGrp="1"/>
          </p:cNvSpPr>
          <p:nvPr>
            <p:ph idx="1"/>
          </p:nvPr>
        </p:nvSpPr>
        <p:spPr>
          <a:xfrm>
            <a:off x="649119" y="1155089"/>
            <a:ext cx="10512862" cy="4759404"/>
          </a:xfrm>
        </p:spPr>
        <p:txBody>
          <a:bodyPr/>
          <a:lstStyle/>
          <a:p>
            <a:r>
              <a:rPr lang="en-US" dirty="0"/>
              <a:t>Let’s look at an example</a:t>
            </a:r>
          </a:p>
          <a:p>
            <a:pPr lvl="1"/>
            <a:r>
              <a:rPr lang="en-US" dirty="0"/>
              <a:t>This code will access four samples using a pointer</a:t>
            </a:r>
          </a:p>
          <a:p>
            <a:pPr lvl="1"/>
            <a:endParaRPr lang="en-US" dirty="0"/>
          </a:p>
          <a:p>
            <a:pPr lvl="2"/>
            <a:endParaRPr lang="en-US" dirty="0"/>
          </a:p>
          <a:p>
            <a:pPr lvl="2"/>
            <a:endParaRPr lang="en-US" dirty="0"/>
          </a:p>
          <a:p>
            <a:pPr lvl="1"/>
            <a:endParaRPr lang="en-US" dirty="0"/>
          </a:p>
          <a:p>
            <a:pPr lvl="1"/>
            <a:endParaRPr lang="en-US" dirty="0"/>
          </a:p>
          <a:p>
            <a:endParaRPr lang="en-US" dirty="0"/>
          </a:p>
          <a:p>
            <a:r>
              <a:rPr lang="en-US" dirty="0"/>
              <a:t>Co-Simulation(RTL Verification) only sees a pointer on the interface</a:t>
            </a:r>
          </a:p>
          <a:p>
            <a:pPr lvl="1"/>
            <a:r>
              <a:rPr lang="en-US" dirty="0"/>
              <a:t>And will create a SystemC co-simulation wrapper to supply or store 1 sample </a:t>
            </a:r>
          </a:p>
          <a:p>
            <a:pPr lvl="1"/>
            <a:r>
              <a:rPr lang="en-US" dirty="0"/>
              <a:t>Use the depth option to specify the actual depth</a:t>
            </a:r>
          </a:p>
          <a:p>
            <a:pPr lvl="1"/>
            <a:r>
              <a:rPr lang="en-US" dirty="0" err="1">
                <a:highlight>
                  <a:srgbClr val="FFFF00"/>
                </a:highlight>
              </a:rPr>
              <a:t>Vitis</a:t>
            </a:r>
            <a:r>
              <a:rPr lang="en-US" dirty="0"/>
              <a:t> HLS will issue a warning in case</a:t>
            </a:r>
          </a:p>
        </p:txBody>
      </p:sp>
      <p:sp>
        <p:nvSpPr>
          <p:cNvPr id="12" name="Slide Number Placeholder 11"/>
          <p:cNvSpPr>
            <a:spLocks noGrp="1"/>
          </p:cNvSpPr>
          <p:nvPr>
            <p:ph type="sldNum" sz="quarter" idx="10"/>
          </p:nvPr>
        </p:nvSpPr>
        <p:spPr/>
        <p:txBody>
          <a:bodyPr/>
          <a:lstStyle/>
          <a:p>
            <a:pPr defTabSz="914400">
              <a:defRPr/>
            </a:pPr>
            <a:r>
              <a:rPr lang="en-US" dirty="0">
                <a:solidFill>
                  <a:srgbClr val="0C0C0C">
                    <a:tint val="75000"/>
                  </a:srgbClr>
                </a:solidFill>
                <a:latin typeface="Arial"/>
              </a:rPr>
              <a:t>Coding Considerations 23- </a:t>
            </a:r>
            <a:fld id="{060BD193-E118-4B16-863C-C8C12C675E3E}" type="slidenum">
              <a:rPr lang="en-US">
                <a:solidFill>
                  <a:srgbClr val="0C0C0C">
                    <a:tint val="75000"/>
                  </a:srgbClr>
                </a:solidFill>
                <a:latin typeface="Arial"/>
              </a:rPr>
              <a:pPr defTabSz="914400">
                <a:defRPr/>
              </a:pPr>
              <a:t>55</a:t>
            </a:fld>
            <a:endParaRPr lang="en-US" dirty="0">
              <a:solidFill>
                <a:srgbClr val="0C0C0C">
                  <a:tint val="75000"/>
                </a:srgbClr>
              </a:solidFill>
              <a:latin typeface="Arial"/>
            </a:endParaRPr>
          </a:p>
        </p:txBody>
      </p:sp>
      <p:sp>
        <p:nvSpPr>
          <p:cNvPr id="10" name="TextBox 9"/>
          <p:cNvSpPr txBox="1"/>
          <p:nvPr/>
        </p:nvSpPr>
        <p:spPr>
          <a:xfrm>
            <a:off x="1408225" y="5446674"/>
            <a:ext cx="6347973" cy="954107"/>
          </a:xfrm>
          <a:prstGeom prst="rect">
            <a:avLst/>
          </a:prstGeom>
          <a:noFill/>
        </p:spPr>
        <p:txBody>
          <a:bodyPr wrap="square" rtlCol="0">
            <a:spAutoFit/>
          </a:bodyPr>
          <a:lstStyle/>
          <a:p>
            <a:pPr defTabSz="914400"/>
            <a:r>
              <a:rPr lang="en-US" sz="1400" b="1" strike="sngStrike" dirty="0">
                <a:solidFill>
                  <a:srgbClr val="0C0C0C"/>
                </a:solidFill>
                <a:latin typeface="Arial"/>
              </a:rPr>
              <a:t>@I [SIM-76] 'd' has a depth of ‘4'. Interface directive option '-depth' can be used to set to a different value. Incorrect depth may result in simulation </a:t>
            </a:r>
            <a:r>
              <a:rPr lang="en-US" sz="1400" b="1" strike="sngStrike" dirty="0" err="1">
                <a:solidFill>
                  <a:srgbClr val="0C0C0C"/>
                </a:solidFill>
                <a:latin typeface="Arial"/>
              </a:rPr>
              <a:t>mismtach</a:t>
            </a:r>
            <a:r>
              <a:rPr lang="en-US" sz="1400" b="1" strike="sngStrike" dirty="0">
                <a:solidFill>
                  <a:srgbClr val="0C0C0C"/>
                </a:solidFill>
                <a:latin typeface="Arial"/>
              </a:rPr>
              <a:t>.</a:t>
            </a:r>
          </a:p>
          <a:p>
            <a:pPr defTabSz="914400"/>
            <a:endParaRPr lang="en-US" sz="1400" b="1" dirty="0" err="1">
              <a:solidFill>
                <a:srgbClr val="0C0C0C"/>
              </a:solidFill>
              <a:latin typeface="Arial"/>
            </a:endParaRPr>
          </a:p>
        </p:txBody>
      </p:sp>
      <p:pic>
        <p:nvPicPr>
          <p:cNvPr id="4" name="Picture 3">
            <a:extLst>
              <a:ext uri="{FF2B5EF4-FFF2-40B4-BE49-F238E27FC236}">
                <a16:creationId xmlns:a16="http://schemas.microsoft.com/office/drawing/2014/main" id="{C8B77FF6-781D-42F6-8FC4-492898DC5A3C}"/>
              </a:ext>
            </a:extLst>
          </p:cNvPr>
          <p:cNvPicPr>
            <a:picLocks noChangeAspect="1"/>
          </p:cNvPicPr>
          <p:nvPr/>
        </p:nvPicPr>
        <p:blipFill>
          <a:blip r:embed="rId3"/>
          <a:stretch>
            <a:fillRect/>
          </a:stretch>
        </p:blipFill>
        <p:spPr>
          <a:xfrm>
            <a:off x="6096001" y="7595823"/>
            <a:ext cx="2287043" cy="2382907"/>
          </a:xfrm>
          <a:prstGeom prst="rect">
            <a:avLst/>
          </a:prstGeom>
        </p:spPr>
      </p:pic>
      <p:sp>
        <p:nvSpPr>
          <p:cNvPr id="11" name="TextBox 10">
            <a:extLst>
              <a:ext uri="{FF2B5EF4-FFF2-40B4-BE49-F238E27FC236}">
                <a16:creationId xmlns:a16="http://schemas.microsoft.com/office/drawing/2014/main" id="{D73B87FB-788D-48BF-9E4D-8017244CB645}"/>
              </a:ext>
            </a:extLst>
          </p:cNvPr>
          <p:cNvSpPr txBox="1"/>
          <p:nvPr/>
        </p:nvSpPr>
        <p:spPr>
          <a:xfrm>
            <a:off x="1539796" y="2051326"/>
            <a:ext cx="1894153" cy="1615827"/>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defRPr/>
            </a:pPr>
            <a:r>
              <a:rPr lang="en-US" sz="900" b="1" strike="sngStrike" kern="0" dirty="0">
                <a:solidFill>
                  <a:srgbClr val="000000"/>
                </a:solidFill>
                <a:latin typeface="Arial"/>
              </a:rPr>
              <a:t>#include "</a:t>
            </a:r>
            <a:r>
              <a:rPr lang="en-US" sz="900" b="1" strike="sngStrike" kern="0" dirty="0" err="1">
                <a:solidFill>
                  <a:srgbClr val="000000"/>
                </a:solidFill>
                <a:latin typeface="Arial"/>
              </a:rPr>
              <a:t>bus.h</a:t>
            </a:r>
            <a:r>
              <a:rPr lang="en-US" sz="900" b="1" strike="sngStrike" kern="0" dirty="0">
                <a:solidFill>
                  <a:srgbClr val="000000"/>
                </a:solidFill>
                <a:latin typeface="Arial"/>
              </a:rPr>
              <a:t>"</a:t>
            </a:r>
          </a:p>
          <a:p>
            <a:pPr defTabSz="914400" fontAlgn="base">
              <a:spcBef>
                <a:spcPct val="0"/>
              </a:spcBef>
              <a:spcAft>
                <a:spcPct val="0"/>
              </a:spcAft>
              <a:defRPr/>
            </a:pPr>
            <a:endParaRPr lang="en-US" sz="900" b="1" kern="0" dirty="0">
              <a:solidFill>
                <a:srgbClr val="000000"/>
              </a:solidFill>
              <a:latin typeface="Arial"/>
            </a:endParaRPr>
          </a:p>
          <a:p>
            <a:pPr defTabSz="914400" fontAlgn="base">
              <a:spcBef>
                <a:spcPct val="0"/>
              </a:spcBef>
              <a:spcAft>
                <a:spcPct val="0"/>
              </a:spcAft>
              <a:defRPr/>
            </a:pPr>
            <a:r>
              <a:rPr lang="en-US" sz="900" b="1" kern="0" dirty="0">
                <a:solidFill>
                  <a:srgbClr val="000000"/>
                </a:solidFill>
                <a:latin typeface="Arial"/>
              </a:rPr>
              <a:t>void </a:t>
            </a:r>
            <a:r>
              <a:rPr lang="en-US" sz="900" b="1" kern="0" dirty="0" err="1">
                <a:solidFill>
                  <a:srgbClr val="000000"/>
                </a:solidFill>
                <a:latin typeface="Arial"/>
              </a:rPr>
              <a:t>foo</a:t>
            </a:r>
            <a:r>
              <a:rPr lang="en-US" sz="900" b="1" kern="0" dirty="0">
                <a:solidFill>
                  <a:srgbClr val="000000"/>
                </a:solidFill>
                <a:latin typeface="Arial"/>
              </a:rPr>
              <a:t> (int *d) {</a:t>
            </a:r>
          </a:p>
          <a:p>
            <a:pPr defTabSz="914400" fontAlgn="base">
              <a:spcBef>
                <a:spcPct val="0"/>
              </a:spcBef>
              <a:spcAft>
                <a:spcPct val="0"/>
              </a:spcAft>
              <a:defRPr/>
            </a:pPr>
            <a:r>
              <a:rPr lang="en-US" sz="900" b="1" kern="0" dirty="0">
                <a:solidFill>
                  <a:srgbClr val="000000"/>
                </a:solidFill>
                <a:latin typeface="Arial"/>
              </a:rPr>
              <a:t>  static </a:t>
            </a:r>
            <a:r>
              <a:rPr lang="en-US" sz="900" b="1" kern="0" dirty="0" err="1">
                <a:solidFill>
                  <a:srgbClr val="000000"/>
                </a:solidFill>
                <a:latin typeface="Arial"/>
              </a:rPr>
              <a:t>int</a:t>
            </a:r>
            <a:r>
              <a:rPr lang="en-US" sz="900" b="1" kern="0" dirty="0">
                <a:solidFill>
                  <a:srgbClr val="000000"/>
                </a:solidFill>
                <a:latin typeface="Arial"/>
              </a:rPr>
              <a:t> acc = 0;</a:t>
            </a:r>
          </a:p>
          <a:p>
            <a:pPr defTabSz="914400" fontAlgn="base">
              <a:spcBef>
                <a:spcPct val="0"/>
              </a:spcBef>
              <a:spcAft>
                <a:spcPct val="0"/>
              </a:spcAft>
              <a:defRPr/>
            </a:pPr>
            <a:r>
              <a:rPr lang="en-US" sz="900" b="1" kern="0" dirty="0">
                <a:solidFill>
                  <a:srgbClr val="000000"/>
                </a:solidFill>
                <a:latin typeface="Arial"/>
              </a:rPr>
              <a:t>  </a:t>
            </a:r>
            <a:r>
              <a:rPr lang="en-US" sz="900" b="1" kern="0" dirty="0" err="1">
                <a:solidFill>
                  <a:srgbClr val="000000"/>
                </a:solidFill>
                <a:latin typeface="Arial"/>
              </a:rPr>
              <a:t>int</a:t>
            </a:r>
            <a:r>
              <a:rPr lang="en-US" sz="900" b="1" kern="0" dirty="0">
                <a:solidFill>
                  <a:srgbClr val="000000"/>
                </a:solidFill>
                <a:latin typeface="Arial"/>
              </a:rPr>
              <a:t> </a:t>
            </a:r>
            <a:r>
              <a:rPr lang="en-US" sz="900" b="1" kern="0" dirty="0" err="1">
                <a:solidFill>
                  <a:srgbClr val="000000"/>
                </a:solidFill>
                <a:latin typeface="Arial"/>
              </a:rPr>
              <a:t>i</a:t>
            </a:r>
            <a:r>
              <a:rPr lang="en-US" sz="900" b="1" kern="0" dirty="0">
                <a:solidFill>
                  <a:srgbClr val="000000"/>
                </a:solidFill>
                <a:latin typeface="Arial"/>
              </a:rPr>
              <a:t>;</a:t>
            </a:r>
          </a:p>
          <a:p>
            <a:pPr defTabSz="914400" fontAlgn="base">
              <a:spcBef>
                <a:spcPct val="0"/>
              </a:spcBef>
              <a:spcAft>
                <a:spcPct val="0"/>
              </a:spcAft>
              <a:defRPr/>
            </a:pPr>
            <a:r>
              <a:rPr lang="en-US" sz="900" b="1" kern="0" dirty="0">
                <a:solidFill>
                  <a:srgbClr val="000000"/>
                </a:solidFill>
                <a:latin typeface="Arial"/>
              </a:rPr>
              <a:t>  </a:t>
            </a:r>
          </a:p>
          <a:p>
            <a:pPr defTabSz="914400" fontAlgn="base">
              <a:spcBef>
                <a:spcPct val="0"/>
              </a:spcBef>
              <a:spcAft>
                <a:spcPct val="0"/>
              </a:spcAft>
              <a:defRPr/>
            </a:pPr>
            <a:r>
              <a:rPr lang="en-US" sz="900" b="1" kern="0" dirty="0">
                <a:solidFill>
                  <a:srgbClr val="000000"/>
                </a:solidFill>
                <a:latin typeface="Arial"/>
              </a:rPr>
              <a:t>  for (</a:t>
            </a:r>
            <a:r>
              <a:rPr lang="en-US" sz="900" b="1" kern="0" dirty="0" err="1">
                <a:solidFill>
                  <a:srgbClr val="000000"/>
                </a:solidFill>
                <a:latin typeface="Arial"/>
              </a:rPr>
              <a:t>i</a:t>
            </a:r>
            <a:r>
              <a:rPr lang="en-US" sz="900" b="1" kern="0" dirty="0">
                <a:solidFill>
                  <a:srgbClr val="000000"/>
                </a:solidFill>
                <a:latin typeface="Arial"/>
              </a:rPr>
              <a:t>=0;i&lt;4;i++) {</a:t>
            </a:r>
          </a:p>
          <a:p>
            <a:pPr defTabSz="914400" fontAlgn="base">
              <a:spcBef>
                <a:spcPct val="0"/>
              </a:spcBef>
              <a:spcAft>
                <a:spcPct val="0"/>
              </a:spcAft>
              <a:defRPr/>
            </a:pPr>
            <a:r>
              <a:rPr lang="en-US" sz="900" b="1" kern="0" dirty="0">
                <a:solidFill>
                  <a:srgbClr val="000000"/>
                </a:solidFill>
                <a:latin typeface="Arial"/>
              </a:rPr>
              <a:t>    acc += *(</a:t>
            </a:r>
            <a:r>
              <a:rPr lang="en-US" sz="900" b="1" kern="0" dirty="0" err="1">
                <a:solidFill>
                  <a:srgbClr val="000000"/>
                </a:solidFill>
                <a:latin typeface="Arial"/>
              </a:rPr>
              <a:t>d+i</a:t>
            </a:r>
            <a:r>
              <a:rPr lang="en-US" sz="900" b="1" kern="0" dirty="0">
                <a:solidFill>
                  <a:srgbClr val="000000"/>
                </a:solidFill>
                <a:latin typeface="Arial"/>
              </a:rPr>
              <a:t>);</a:t>
            </a:r>
          </a:p>
          <a:p>
            <a:pPr defTabSz="914400" fontAlgn="base">
              <a:spcBef>
                <a:spcPct val="0"/>
              </a:spcBef>
              <a:spcAft>
                <a:spcPct val="0"/>
              </a:spcAft>
              <a:defRPr/>
            </a:pPr>
            <a:r>
              <a:rPr lang="en-US" sz="900" b="1" kern="0" dirty="0">
                <a:solidFill>
                  <a:srgbClr val="000000"/>
                </a:solidFill>
                <a:latin typeface="Arial"/>
              </a:rPr>
              <a:t>    *(</a:t>
            </a:r>
            <a:r>
              <a:rPr lang="en-US" sz="900" b="1" kern="0" dirty="0" err="1">
                <a:solidFill>
                  <a:srgbClr val="000000"/>
                </a:solidFill>
                <a:latin typeface="Arial"/>
              </a:rPr>
              <a:t>d+i</a:t>
            </a:r>
            <a:r>
              <a:rPr lang="en-US" sz="900" b="1" kern="0" dirty="0">
                <a:solidFill>
                  <a:srgbClr val="000000"/>
                </a:solidFill>
                <a:latin typeface="Arial"/>
              </a:rPr>
              <a:t>) = acc;</a:t>
            </a:r>
          </a:p>
          <a:p>
            <a:pPr defTabSz="914400" fontAlgn="base">
              <a:spcBef>
                <a:spcPct val="0"/>
              </a:spcBef>
              <a:spcAft>
                <a:spcPct val="0"/>
              </a:spcAft>
              <a:defRPr/>
            </a:pPr>
            <a:r>
              <a:rPr lang="en-US" sz="900" b="1" kern="0" dirty="0">
                <a:solidFill>
                  <a:srgbClr val="000000"/>
                </a:solidFill>
                <a:latin typeface="Arial"/>
              </a:rPr>
              <a:t>  }</a:t>
            </a:r>
          </a:p>
          <a:p>
            <a:pPr defTabSz="914400" fontAlgn="base">
              <a:spcBef>
                <a:spcPct val="0"/>
              </a:spcBef>
              <a:spcAft>
                <a:spcPct val="0"/>
              </a:spcAft>
              <a:defRPr/>
            </a:pPr>
            <a:r>
              <a:rPr lang="en-US" sz="900" b="1" kern="0" dirty="0">
                <a:solidFill>
                  <a:srgbClr val="000000"/>
                </a:solidFill>
                <a:latin typeface="Arial"/>
              </a:rPr>
              <a:t>}</a:t>
            </a:r>
          </a:p>
        </p:txBody>
      </p:sp>
      <p:sp>
        <p:nvSpPr>
          <p:cNvPr id="13" name="TextBox 12">
            <a:extLst>
              <a:ext uri="{FF2B5EF4-FFF2-40B4-BE49-F238E27FC236}">
                <a16:creationId xmlns:a16="http://schemas.microsoft.com/office/drawing/2014/main" id="{6E259EFE-8C32-475F-926B-909921007598}"/>
              </a:ext>
            </a:extLst>
          </p:cNvPr>
          <p:cNvSpPr txBox="1"/>
          <p:nvPr/>
        </p:nvSpPr>
        <p:spPr>
          <a:xfrm>
            <a:off x="7887768" y="2051324"/>
            <a:ext cx="1689380" cy="1754326"/>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defRPr/>
            </a:pPr>
            <a:r>
              <a:rPr lang="en-US" sz="900" b="1" kern="0" dirty="0">
                <a:solidFill>
                  <a:srgbClr val="000000"/>
                </a:solidFill>
                <a:latin typeface="Arial"/>
              </a:rPr>
              <a:t>int main () {</a:t>
            </a:r>
          </a:p>
          <a:p>
            <a:pPr defTabSz="914400" fontAlgn="base">
              <a:spcBef>
                <a:spcPct val="0"/>
              </a:spcBef>
              <a:spcAft>
                <a:spcPct val="0"/>
              </a:spcAft>
              <a:defRPr/>
            </a:pPr>
            <a:r>
              <a:rPr lang="en-US" sz="900" b="1" kern="0" dirty="0">
                <a:solidFill>
                  <a:srgbClr val="000000"/>
                </a:solidFill>
                <a:latin typeface="Arial"/>
              </a:rPr>
              <a:t>  int d[5];</a:t>
            </a:r>
          </a:p>
          <a:p>
            <a:pPr defTabSz="914400" fontAlgn="base">
              <a:spcBef>
                <a:spcPct val="0"/>
              </a:spcBef>
              <a:spcAft>
                <a:spcPct val="0"/>
              </a:spcAft>
              <a:defRPr/>
            </a:pPr>
            <a:r>
              <a:rPr lang="en-US" sz="900" b="1" kern="0" dirty="0">
                <a:solidFill>
                  <a:srgbClr val="000000"/>
                </a:solidFill>
                <a:latin typeface="Arial"/>
              </a:rPr>
              <a:t>  int </a:t>
            </a:r>
            <a:r>
              <a:rPr lang="en-US" sz="900" b="1" kern="0" dirty="0" err="1">
                <a:solidFill>
                  <a:srgbClr val="000000"/>
                </a:solidFill>
                <a:latin typeface="Arial"/>
              </a:rPr>
              <a:t>i</a:t>
            </a:r>
            <a:r>
              <a:rPr lang="en-US" sz="900" b="1" kern="0" dirty="0">
                <a:solidFill>
                  <a:srgbClr val="000000"/>
                </a:solidFill>
                <a:latin typeface="Arial"/>
              </a:rPr>
              <a:t>;</a:t>
            </a:r>
          </a:p>
          <a:p>
            <a:pPr defTabSz="914400" fontAlgn="base">
              <a:spcBef>
                <a:spcPct val="0"/>
              </a:spcBef>
              <a:spcAft>
                <a:spcPct val="0"/>
              </a:spcAft>
              <a:defRPr/>
            </a:pPr>
            <a:r>
              <a:rPr lang="en-US" sz="900" b="1" kern="0" dirty="0">
                <a:solidFill>
                  <a:srgbClr val="000000"/>
                </a:solidFill>
                <a:latin typeface="Arial"/>
              </a:rPr>
              <a:t>  </a:t>
            </a:r>
          </a:p>
          <a:p>
            <a:pPr defTabSz="914400" fontAlgn="base">
              <a:spcBef>
                <a:spcPct val="0"/>
              </a:spcBef>
              <a:spcAft>
                <a:spcPct val="0"/>
              </a:spcAft>
              <a:defRPr/>
            </a:pPr>
            <a:r>
              <a:rPr lang="en-US" sz="900" b="1" kern="0" dirty="0">
                <a:solidFill>
                  <a:srgbClr val="000000"/>
                </a:solidFill>
                <a:latin typeface="Arial"/>
              </a:rPr>
              <a:t>for (</a:t>
            </a:r>
            <a:r>
              <a:rPr lang="en-US" sz="900" b="1" kern="0" dirty="0" err="1">
                <a:solidFill>
                  <a:srgbClr val="000000"/>
                </a:solidFill>
                <a:latin typeface="Arial"/>
              </a:rPr>
              <a:t>i</a:t>
            </a:r>
            <a:r>
              <a:rPr lang="en-US" sz="900" b="1" kern="0" dirty="0">
                <a:solidFill>
                  <a:srgbClr val="000000"/>
                </a:solidFill>
                <a:latin typeface="Arial"/>
              </a:rPr>
              <a:t>=0;i&lt;4;i++) {</a:t>
            </a:r>
          </a:p>
          <a:p>
            <a:pPr defTabSz="914400" fontAlgn="base">
              <a:spcBef>
                <a:spcPct val="0"/>
              </a:spcBef>
              <a:spcAft>
                <a:spcPct val="0"/>
              </a:spcAft>
              <a:defRPr/>
            </a:pPr>
            <a:r>
              <a:rPr lang="en-US" sz="900" b="1" kern="0" dirty="0">
                <a:solidFill>
                  <a:srgbClr val="000000"/>
                </a:solidFill>
                <a:latin typeface="Arial"/>
              </a:rPr>
              <a:t>    d[</a:t>
            </a:r>
            <a:r>
              <a:rPr lang="en-US" sz="900" b="1" kern="0" dirty="0" err="1">
                <a:solidFill>
                  <a:srgbClr val="000000"/>
                </a:solidFill>
                <a:latin typeface="Arial"/>
              </a:rPr>
              <a:t>i</a:t>
            </a:r>
            <a:r>
              <a:rPr lang="en-US" sz="900" b="1" kern="0" dirty="0">
                <a:solidFill>
                  <a:srgbClr val="000000"/>
                </a:solidFill>
                <a:latin typeface="Arial"/>
              </a:rPr>
              <a:t>] = </a:t>
            </a:r>
            <a:r>
              <a:rPr lang="en-US" sz="900" b="1" kern="0" dirty="0" err="1">
                <a:solidFill>
                  <a:srgbClr val="000000"/>
                </a:solidFill>
                <a:latin typeface="Arial"/>
              </a:rPr>
              <a:t>i</a:t>
            </a:r>
            <a:r>
              <a:rPr lang="en-US" sz="900" b="1" kern="0" dirty="0">
                <a:solidFill>
                  <a:srgbClr val="000000"/>
                </a:solidFill>
                <a:latin typeface="Arial"/>
              </a:rPr>
              <a:t>;</a:t>
            </a:r>
          </a:p>
          <a:p>
            <a:pPr defTabSz="914400" fontAlgn="base">
              <a:spcBef>
                <a:spcPct val="0"/>
              </a:spcBef>
              <a:spcAft>
                <a:spcPct val="0"/>
              </a:spcAft>
              <a:defRPr/>
            </a:pPr>
            <a:r>
              <a:rPr lang="en-US" sz="900" b="1" kern="0" dirty="0">
                <a:solidFill>
                  <a:srgbClr val="000000"/>
                </a:solidFill>
                <a:latin typeface="Arial"/>
              </a:rPr>
              <a:t>  }</a:t>
            </a:r>
          </a:p>
          <a:p>
            <a:pPr defTabSz="914400" fontAlgn="base">
              <a:spcBef>
                <a:spcPct val="0"/>
              </a:spcBef>
              <a:spcAft>
                <a:spcPct val="0"/>
              </a:spcAft>
              <a:defRPr/>
            </a:pPr>
            <a:r>
              <a:rPr lang="en-US" sz="900" b="1" kern="0" dirty="0">
                <a:solidFill>
                  <a:srgbClr val="000000"/>
                </a:solidFill>
                <a:latin typeface="Arial"/>
              </a:rPr>
              <a:t>  </a:t>
            </a:r>
          </a:p>
          <a:p>
            <a:pPr defTabSz="914400" fontAlgn="base">
              <a:spcBef>
                <a:spcPct val="0"/>
              </a:spcBef>
              <a:spcAft>
                <a:spcPct val="0"/>
              </a:spcAft>
              <a:defRPr/>
            </a:pPr>
            <a:r>
              <a:rPr lang="en-US" sz="900" b="1" kern="0" dirty="0" err="1">
                <a:solidFill>
                  <a:srgbClr val="000000"/>
                </a:solidFill>
                <a:latin typeface="Arial"/>
              </a:rPr>
              <a:t>foo</a:t>
            </a:r>
            <a:r>
              <a:rPr lang="en-US" sz="900" b="1" kern="0" dirty="0">
                <a:solidFill>
                  <a:srgbClr val="000000"/>
                </a:solidFill>
                <a:latin typeface="Arial"/>
              </a:rPr>
              <a:t>(d);</a:t>
            </a:r>
          </a:p>
          <a:p>
            <a:pPr defTabSz="914400" fontAlgn="base">
              <a:spcBef>
                <a:spcPct val="0"/>
              </a:spcBef>
              <a:spcAft>
                <a:spcPct val="0"/>
              </a:spcAft>
              <a:defRPr/>
            </a:pPr>
            <a:r>
              <a:rPr lang="en-US" sz="900" b="1" kern="0" dirty="0">
                <a:solidFill>
                  <a:srgbClr val="000000"/>
                </a:solidFill>
                <a:latin typeface="Arial"/>
              </a:rPr>
              <a:t>  </a:t>
            </a:r>
          </a:p>
          <a:p>
            <a:pPr defTabSz="914400" fontAlgn="base">
              <a:spcBef>
                <a:spcPct val="0"/>
              </a:spcBef>
              <a:spcAft>
                <a:spcPct val="0"/>
              </a:spcAft>
              <a:defRPr/>
            </a:pPr>
            <a:r>
              <a:rPr lang="en-US" sz="900" b="1" kern="0" dirty="0">
                <a:solidFill>
                  <a:srgbClr val="000000"/>
                </a:solidFill>
                <a:latin typeface="Arial"/>
              </a:rPr>
              <a:t>return 0;</a:t>
            </a:r>
          </a:p>
          <a:p>
            <a:pPr defTabSz="914400" fontAlgn="base">
              <a:spcBef>
                <a:spcPct val="0"/>
              </a:spcBef>
              <a:spcAft>
                <a:spcPct val="0"/>
              </a:spcAft>
              <a:defRPr/>
            </a:pPr>
            <a:r>
              <a:rPr lang="en-US" sz="900" b="1" kern="0" dirty="0">
                <a:solidFill>
                  <a:srgbClr val="000000"/>
                </a:solidFill>
                <a:latin typeface="Arial"/>
              </a:rPr>
              <a:t>}</a:t>
            </a:r>
          </a:p>
        </p:txBody>
      </p:sp>
      <p:sp>
        <p:nvSpPr>
          <p:cNvPr id="14" name="Right Arrow 6">
            <a:extLst>
              <a:ext uri="{FF2B5EF4-FFF2-40B4-BE49-F238E27FC236}">
                <a16:creationId xmlns:a16="http://schemas.microsoft.com/office/drawing/2014/main" id="{C6E37DCE-D21C-42BF-9BD9-2667C615E45F}"/>
              </a:ext>
            </a:extLst>
          </p:cNvPr>
          <p:cNvSpPr/>
          <p:nvPr/>
        </p:nvSpPr>
        <p:spPr>
          <a:xfrm>
            <a:off x="4048268" y="2243349"/>
            <a:ext cx="3276373" cy="1613010"/>
          </a:xfrm>
          <a:prstGeom prst="rightArrow">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endParaRPr lang="en-US" kern="0">
              <a:solidFill>
                <a:srgbClr val="FFFFFF"/>
              </a:solidFill>
              <a:latin typeface="Arial"/>
            </a:endParaRPr>
          </a:p>
        </p:txBody>
      </p:sp>
      <p:sp>
        <p:nvSpPr>
          <p:cNvPr id="15" name="TextBox 14">
            <a:extLst>
              <a:ext uri="{FF2B5EF4-FFF2-40B4-BE49-F238E27FC236}">
                <a16:creationId xmlns:a16="http://schemas.microsoft.com/office/drawing/2014/main" id="{F6B2F25A-65B5-46E1-94AB-201EC27355D0}"/>
              </a:ext>
            </a:extLst>
          </p:cNvPr>
          <p:cNvSpPr txBox="1"/>
          <p:nvPr/>
        </p:nvSpPr>
        <p:spPr>
          <a:xfrm>
            <a:off x="3997075" y="2781019"/>
            <a:ext cx="3276372" cy="523220"/>
          </a:xfrm>
          <a:prstGeom prst="rect">
            <a:avLst/>
          </a:prstGeom>
          <a:noFill/>
        </p:spPr>
        <p:txBody>
          <a:bodyPr wrap="square" rtlCol="0">
            <a:spAutoFit/>
          </a:bodyPr>
          <a:lstStyle/>
          <a:p>
            <a:pPr algn="ctr" defTabSz="914400" fontAlgn="base">
              <a:spcBef>
                <a:spcPct val="0"/>
              </a:spcBef>
              <a:spcAft>
                <a:spcPct val="0"/>
              </a:spcAft>
              <a:defRPr/>
            </a:pPr>
            <a:r>
              <a:rPr lang="en-US" sz="1400" b="1" kern="0" dirty="0">
                <a:solidFill>
                  <a:srgbClr val="000000"/>
                </a:solidFill>
                <a:latin typeface="Arial"/>
              </a:rPr>
              <a:t>The C test bench may correctly provide 4 values</a:t>
            </a:r>
          </a:p>
        </p:txBody>
      </p:sp>
      <p:pic>
        <p:nvPicPr>
          <p:cNvPr id="6" name="Picture 5">
            <a:extLst>
              <a:ext uri="{FF2B5EF4-FFF2-40B4-BE49-F238E27FC236}">
                <a16:creationId xmlns:a16="http://schemas.microsoft.com/office/drawing/2014/main" id="{F341C755-EA54-4B30-BDFC-0199A644F6B7}"/>
              </a:ext>
            </a:extLst>
          </p:cNvPr>
          <p:cNvPicPr>
            <a:picLocks noChangeAspect="1"/>
          </p:cNvPicPr>
          <p:nvPr/>
        </p:nvPicPr>
        <p:blipFill>
          <a:blip r:embed="rId4"/>
          <a:stretch>
            <a:fillRect/>
          </a:stretch>
        </p:blipFill>
        <p:spPr>
          <a:xfrm>
            <a:off x="9690027" y="2859239"/>
            <a:ext cx="2067523" cy="3355597"/>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E81EF-AB02-4F75-B247-0DF6A1D18653}"/>
              </a:ext>
            </a:extLst>
          </p:cNvPr>
          <p:cNvSpPr>
            <a:spLocks noGrp="1"/>
          </p:cNvSpPr>
          <p:nvPr>
            <p:ph type="title"/>
          </p:nvPr>
        </p:nvSpPr>
        <p:spPr/>
        <p:txBody>
          <a:bodyPr/>
          <a:lstStyle/>
          <a:p>
            <a:r>
              <a:rPr lang="en-US" altLang="zh-CN" dirty="0"/>
              <a:t>Streams</a:t>
            </a:r>
            <a:endParaRPr lang="zh-CN" altLang="en-US" dirty="0"/>
          </a:p>
        </p:txBody>
      </p:sp>
    </p:spTree>
    <p:extLst>
      <p:ext uri="{BB962C8B-B14F-4D97-AF65-F5344CB8AC3E}">
        <p14:creationId xmlns:p14="http://schemas.microsoft.com/office/powerpoint/2010/main" val="1867681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Designing with Streams</a:t>
            </a:r>
          </a:p>
        </p:txBody>
      </p:sp>
      <p:sp>
        <p:nvSpPr>
          <p:cNvPr id="2" name="Content Placeholder 1"/>
          <p:cNvSpPr>
            <a:spLocks noGrp="1"/>
          </p:cNvSpPr>
          <p:nvPr>
            <p:ph idx="1"/>
          </p:nvPr>
        </p:nvSpPr>
        <p:spPr/>
        <p:txBody>
          <a:bodyPr/>
          <a:lstStyle/>
          <a:p>
            <a:pPr lvl="0"/>
            <a:r>
              <a:rPr lang="en-US" dirty="0"/>
              <a:t>Streams can be used instead of multi-access pointers</a:t>
            </a:r>
          </a:p>
          <a:p>
            <a:pPr lvl="1"/>
            <a:r>
              <a:rPr lang="en-US" dirty="0"/>
              <a:t>None of the issues</a:t>
            </a:r>
          </a:p>
          <a:p>
            <a:pPr lvl="0"/>
            <a:r>
              <a:rPr lang="en-US" dirty="0"/>
              <a:t>Streams simulate like an infinite FIFO in software</a:t>
            </a:r>
          </a:p>
          <a:p>
            <a:pPr lvl="1"/>
            <a:r>
              <a:rPr lang="en-US" dirty="0"/>
              <a:t>Implemented as a FIFO of user-defined size in hardware</a:t>
            </a:r>
          </a:p>
          <a:p>
            <a:pPr lvl="0"/>
            <a:r>
              <a:rPr lang="en-US" dirty="0"/>
              <a:t>Streams have support for multi-access</a:t>
            </a:r>
          </a:p>
          <a:p>
            <a:pPr lvl="1"/>
            <a:r>
              <a:rPr lang="en-US" dirty="0"/>
              <a:t>Streams interface to the testbench</a:t>
            </a:r>
          </a:p>
          <a:p>
            <a:pPr lvl="1"/>
            <a:r>
              <a:rPr lang="en-US" dirty="0"/>
              <a:t>Streams can be read in the testbench to check the intermediate values</a:t>
            </a:r>
          </a:p>
          <a:p>
            <a:pPr lvl="1"/>
            <a:r>
              <a:rPr lang="en-US" dirty="0"/>
              <a:t>Streams store values: no chance of the volatile effect</a:t>
            </a:r>
          </a:p>
          <a:p>
            <a:pPr lvl="0"/>
            <a:r>
              <a:rPr lang="en-US" dirty="0"/>
              <a:t>Streams are supported on the interface and internally</a:t>
            </a:r>
          </a:p>
          <a:p>
            <a:pPr lvl="1"/>
            <a:r>
              <a:rPr lang="en-US" dirty="0"/>
              <a:t>Define the stream as static to make it internal only</a:t>
            </a:r>
          </a:p>
          <a:p>
            <a:endParaRPr lang="en-US" dirty="0"/>
          </a:p>
        </p:txBody>
      </p:sp>
      <p:sp>
        <p:nvSpPr>
          <p:cNvPr id="5" name="Slide Number Placeholder 5">
            <a:extLst>
              <a:ext uri="{FF2B5EF4-FFF2-40B4-BE49-F238E27FC236}">
                <a16:creationId xmlns:a16="http://schemas.microsoft.com/office/drawing/2014/main" id="{A8FB7CE4-F6B6-47F8-B1D9-23252EFE03C7}"/>
              </a:ext>
            </a:extLst>
          </p:cNvPr>
          <p:cNvSpPr>
            <a:spLocks noGrp="1"/>
          </p:cNvSpPr>
          <p:nvPr>
            <p:ph type="sldNum" sz="quarter" idx="4"/>
          </p:nvPr>
        </p:nvSpPr>
        <p:spPr/>
        <p:txBody>
          <a:bodyPr/>
          <a:lstStyle/>
          <a:p>
            <a:pPr>
              <a:defRPr/>
            </a:pPr>
            <a:r>
              <a:rPr lang="en-US" dirty="0"/>
              <a:t>Coding Considerations 23- </a:t>
            </a:r>
            <a:fld id="{060BD193-E118-4B16-863C-C8C12C675E3E}" type="slidenum">
              <a:rPr lang="en-US" smtClean="0"/>
              <a:pPr>
                <a:defRPr/>
              </a:pPr>
              <a:t>57</a:t>
            </a:fld>
            <a:endParaRPr lang="en-US" dirty="0"/>
          </a:p>
        </p:txBody>
      </p:sp>
    </p:spTree>
    <p:extLst>
      <p:ext uri="{BB962C8B-B14F-4D97-AF65-F5344CB8AC3E}">
        <p14:creationId xmlns:p14="http://schemas.microsoft.com/office/powerpoint/2010/main" val="3178046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Designing with Streams</a:t>
            </a:r>
          </a:p>
        </p:txBody>
      </p:sp>
      <p:sp>
        <p:nvSpPr>
          <p:cNvPr id="2" name="Content Placeholder 1"/>
          <p:cNvSpPr>
            <a:spLocks noGrp="1"/>
          </p:cNvSpPr>
          <p:nvPr>
            <p:ph idx="1"/>
          </p:nvPr>
        </p:nvSpPr>
        <p:spPr/>
        <p:txBody>
          <a:bodyPr/>
          <a:lstStyle/>
          <a:p>
            <a:pPr lvl="0"/>
            <a:r>
              <a:rPr lang="en-US" dirty="0"/>
              <a:t>Streams can be used instead of multi-access pointers</a:t>
            </a:r>
          </a:p>
          <a:p>
            <a:pPr lvl="1"/>
            <a:r>
              <a:rPr lang="en-US" dirty="0"/>
              <a:t>None of the issues</a:t>
            </a:r>
          </a:p>
          <a:p>
            <a:pPr lvl="0"/>
            <a:r>
              <a:rPr lang="en-US" dirty="0"/>
              <a:t>Streams simulate like an infinite FIFO in software</a:t>
            </a:r>
          </a:p>
          <a:p>
            <a:pPr lvl="1"/>
            <a:r>
              <a:rPr lang="en-US" dirty="0"/>
              <a:t>Implemented as a FIFO of user-defined size in hardware</a:t>
            </a:r>
          </a:p>
          <a:p>
            <a:pPr lvl="0"/>
            <a:r>
              <a:rPr lang="en-US" dirty="0"/>
              <a:t>Streams have support for multi-access</a:t>
            </a:r>
          </a:p>
          <a:p>
            <a:pPr lvl="1"/>
            <a:r>
              <a:rPr lang="en-US" dirty="0"/>
              <a:t>Streams interface to the testbench</a:t>
            </a:r>
          </a:p>
          <a:p>
            <a:pPr lvl="1"/>
            <a:r>
              <a:rPr lang="en-US" dirty="0"/>
              <a:t>Streams can be read in the testbench to check the intermediate values</a:t>
            </a:r>
          </a:p>
          <a:p>
            <a:pPr lvl="1"/>
            <a:r>
              <a:rPr lang="en-US" dirty="0"/>
              <a:t>Streams store values: no chance of the volatile effect</a:t>
            </a:r>
          </a:p>
          <a:p>
            <a:pPr lvl="0"/>
            <a:r>
              <a:rPr lang="en-US" dirty="0"/>
              <a:t>Streams are supported on the interface and internally</a:t>
            </a:r>
          </a:p>
          <a:p>
            <a:pPr lvl="1"/>
            <a:r>
              <a:rPr lang="en-US" dirty="0"/>
              <a:t>Define the stream as static to make it internal only</a:t>
            </a:r>
          </a:p>
          <a:p>
            <a:endParaRPr lang="en-US" dirty="0"/>
          </a:p>
        </p:txBody>
      </p:sp>
      <p:sp>
        <p:nvSpPr>
          <p:cNvPr id="3" name="Slide Number Placeholder 2"/>
          <p:cNvSpPr>
            <a:spLocks noGrp="1"/>
          </p:cNvSpPr>
          <p:nvPr>
            <p:ph type="sldNum" sz="quarter" idx="10"/>
          </p:nvPr>
        </p:nvSpPr>
        <p:spPr/>
        <p:txBody>
          <a:bodyPr/>
          <a:lstStyle/>
          <a:p>
            <a:pPr defTabSz="914400">
              <a:defRPr/>
            </a:pPr>
            <a:r>
              <a:rPr lang="en-US" dirty="0">
                <a:solidFill>
                  <a:srgbClr val="0C0C0C">
                    <a:tint val="75000"/>
                  </a:srgbClr>
                </a:solidFill>
                <a:latin typeface="Arial"/>
              </a:rPr>
              <a:t>Coding Considerations 23- </a:t>
            </a:r>
            <a:fld id="{060BD193-E118-4B16-863C-C8C12C675E3E}" type="slidenum">
              <a:rPr lang="en-US">
                <a:solidFill>
                  <a:srgbClr val="0C0C0C">
                    <a:tint val="75000"/>
                  </a:srgbClr>
                </a:solidFill>
                <a:latin typeface="Arial"/>
              </a:rPr>
              <a:pPr defTabSz="914400">
                <a:defRPr/>
              </a:pPr>
              <a:t>58</a:t>
            </a:fld>
            <a:endParaRPr lang="en-US" dirty="0">
              <a:solidFill>
                <a:srgbClr val="0C0C0C">
                  <a:tint val="75000"/>
                </a:srgbClr>
              </a:solidFill>
              <a:latin typeface="Arial"/>
            </a:endParaRPr>
          </a:p>
        </p:txBody>
      </p:sp>
    </p:spTree>
    <p:extLst>
      <p:ext uri="{BB962C8B-B14F-4D97-AF65-F5344CB8AC3E}">
        <p14:creationId xmlns:p14="http://schemas.microsoft.com/office/powerpoint/2010/main" val="293223970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Using Streams</a:t>
            </a:r>
          </a:p>
        </p:txBody>
      </p:sp>
      <p:sp>
        <p:nvSpPr>
          <p:cNvPr id="6" name="Content Placeholder 5"/>
          <p:cNvSpPr>
            <a:spLocks noGrp="1"/>
          </p:cNvSpPr>
          <p:nvPr>
            <p:ph idx="1"/>
          </p:nvPr>
        </p:nvSpPr>
        <p:spPr>
          <a:xfrm>
            <a:off x="579121" y="1280160"/>
            <a:ext cx="11033760" cy="4632960"/>
          </a:xfrm>
        </p:spPr>
        <p:txBody>
          <a:bodyPr/>
          <a:lstStyle/>
          <a:p>
            <a:r>
              <a:rPr lang="en-US" sz="2000" dirty="0"/>
              <a:t>Streams are C++ classes</a:t>
            </a:r>
          </a:p>
          <a:p>
            <a:pPr lvl="1"/>
            <a:r>
              <a:rPr lang="en-US" sz="1800" dirty="0"/>
              <a:t>Modeled in C++ an as infinite depth FIFO</a:t>
            </a:r>
          </a:p>
          <a:p>
            <a:pPr lvl="1"/>
            <a:r>
              <a:rPr lang="en-US" sz="1800" dirty="0"/>
              <a:t>Can be written to or read from</a:t>
            </a:r>
          </a:p>
          <a:p>
            <a:r>
              <a:rPr lang="en-US" sz="2000" dirty="0"/>
              <a:t>Ideal for Hardware Modeling</a:t>
            </a:r>
          </a:p>
          <a:p>
            <a:pPr lvl="1"/>
            <a:r>
              <a:rPr lang="en-US" sz="1800" dirty="0"/>
              <a:t>Ideal for modeling designs in which the data is known to be streaming (data is always in sequential order)</a:t>
            </a:r>
          </a:p>
          <a:p>
            <a:pPr lvl="2"/>
            <a:r>
              <a:rPr lang="en-US" sz="1400" dirty="0"/>
              <a:t>Video or Communication designs typically stream data</a:t>
            </a:r>
          </a:p>
          <a:p>
            <a:pPr lvl="1"/>
            <a:r>
              <a:rPr lang="en-US" sz="1800" dirty="0"/>
              <a:t>No need to model the design in C++ as a “frame” </a:t>
            </a:r>
          </a:p>
          <a:p>
            <a:pPr lvl="1"/>
            <a:r>
              <a:rPr lang="en-US" sz="1800" dirty="0"/>
              <a:t>Streams allow it to be modeled as per-sample processing </a:t>
            </a:r>
          </a:p>
          <a:p>
            <a:pPr lvl="2"/>
            <a:r>
              <a:rPr lang="en-US" sz="1400" dirty="0"/>
              <a:t>Just fill the stream in the test bench</a:t>
            </a:r>
          </a:p>
          <a:p>
            <a:pPr lvl="2"/>
            <a:r>
              <a:rPr lang="en-US" sz="1400" dirty="0"/>
              <a:t>Read and write to the stream as if it’s an infinite FIFO</a:t>
            </a:r>
          </a:p>
          <a:p>
            <a:pPr lvl="2"/>
            <a:r>
              <a:rPr lang="en-US" sz="1400" dirty="0"/>
              <a:t>Read from the stream in the test bench to confirm results</a:t>
            </a:r>
          </a:p>
          <a:p>
            <a:r>
              <a:rPr lang="en-US" sz="2000" dirty="0"/>
              <a:t>Stream are by default implemented as a FIFO of depth 2</a:t>
            </a:r>
          </a:p>
          <a:p>
            <a:pPr lvl="1"/>
            <a:r>
              <a:rPr lang="en-US" sz="1800" dirty="0"/>
              <a:t>Can be specified by the user: needed for decimation/interpolation designs</a:t>
            </a:r>
          </a:p>
        </p:txBody>
      </p:sp>
      <p:sp>
        <p:nvSpPr>
          <p:cNvPr id="8" name="Slide Number Placeholder 5">
            <a:extLst>
              <a:ext uri="{FF2B5EF4-FFF2-40B4-BE49-F238E27FC236}">
                <a16:creationId xmlns:a16="http://schemas.microsoft.com/office/drawing/2014/main" id="{9F42F77D-6047-4C44-8A55-93E7F3012506}"/>
              </a:ext>
            </a:extLst>
          </p:cNvPr>
          <p:cNvSpPr>
            <a:spLocks noGrp="1"/>
          </p:cNvSpPr>
          <p:nvPr>
            <p:ph type="sldNum" sz="quarter" idx="4"/>
          </p:nvPr>
        </p:nvSpPr>
        <p:spPr/>
        <p:txBody>
          <a:bodyPr/>
          <a:lstStyle/>
          <a:p>
            <a:pPr>
              <a:defRPr/>
            </a:pPr>
            <a:r>
              <a:rPr lang="en-US" dirty="0"/>
              <a:t>Coding Considerations 23- </a:t>
            </a:r>
            <a:fld id="{060BD193-E118-4B16-863C-C8C12C675E3E}" type="slidenum">
              <a:rPr lang="en-US" smtClean="0"/>
              <a:pPr>
                <a:defRPr/>
              </a:pPr>
              <a:t>59</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Using Streams</a:t>
            </a:r>
          </a:p>
        </p:txBody>
      </p:sp>
      <p:sp>
        <p:nvSpPr>
          <p:cNvPr id="6" name="Content Placeholder 5"/>
          <p:cNvSpPr>
            <a:spLocks noGrp="1"/>
          </p:cNvSpPr>
          <p:nvPr>
            <p:ph idx="1"/>
          </p:nvPr>
        </p:nvSpPr>
        <p:spPr/>
        <p:txBody>
          <a:bodyPr/>
          <a:lstStyle/>
          <a:p>
            <a:r>
              <a:rPr lang="en-US" dirty="0"/>
              <a:t>Streams are C++ classes</a:t>
            </a:r>
          </a:p>
          <a:p>
            <a:pPr lvl="1"/>
            <a:r>
              <a:rPr lang="en-US" dirty="0"/>
              <a:t>Modeled in C++ an as infinite depth FIFO</a:t>
            </a:r>
          </a:p>
          <a:p>
            <a:pPr lvl="1"/>
            <a:r>
              <a:rPr lang="en-US" dirty="0"/>
              <a:t>Can be written to or read from</a:t>
            </a:r>
          </a:p>
          <a:p>
            <a:r>
              <a:rPr lang="en-US" dirty="0"/>
              <a:t>Ideal for Hardware Modeling</a:t>
            </a:r>
          </a:p>
          <a:p>
            <a:pPr lvl="1"/>
            <a:r>
              <a:rPr lang="en-US" dirty="0"/>
              <a:t>Ideal for modeling designs in which the data is known to be streaming (data is always in sequential order)</a:t>
            </a:r>
          </a:p>
          <a:p>
            <a:pPr lvl="2"/>
            <a:r>
              <a:rPr lang="en-US" dirty="0"/>
              <a:t>Video or Communication designs typically stream data</a:t>
            </a:r>
          </a:p>
          <a:p>
            <a:pPr lvl="1"/>
            <a:r>
              <a:rPr lang="en-US" dirty="0"/>
              <a:t>No need to model the design in C++ as a “frame” </a:t>
            </a:r>
          </a:p>
          <a:p>
            <a:pPr lvl="1"/>
            <a:r>
              <a:rPr lang="en-US" dirty="0"/>
              <a:t>Streams allow it to be modeled as per-sample processing </a:t>
            </a:r>
          </a:p>
          <a:p>
            <a:pPr lvl="2"/>
            <a:r>
              <a:rPr lang="en-US" dirty="0"/>
              <a:t>Just fill the stream in the test bench</a:t>
            </a:r>
          </a:p>
          <a:p>
            <a:pPr lvl="2"/>
            <a:r>
              <a:rPr lang="en-US" dirty="0"/>
              <a:t>Read and write to the stream as if it’s an infinite FIFO</a:t>
            </a:r>
          </a:p>
          <a:p>
            <a:pPr lvl="2"/>
            <a:r>
              <a:rPr lang="en-US" dirty="0"/>
              <a:t>Read from the stream in the test bench to confirm results</a:t>
            </a:r>
          </a:p>
          <a:p>
            <a:r>
              <a:rPr lang="en-US" dirty="0"/>
              <a:t>Stream are by default implemented as a FIFO of depth 2</a:t>
            </a:r>
          </a:p>
          <a:p>
            <a:pPr lvl="1"/>
            <a:r>
              <a:rPr lang="en-US" dirty="0"/>
              <a:t>Can be specified by the user: needed for decimation/interpolation designs</a:t>
            </a:r>
          </a:p>
        </p:txBody>
      </p:sp>
      <p:sp>
        <p:nvSpPr>
          <p:cNvPr id="7" name="Slide Number Placeholder 6"/>
          <p:cNvSpPr>
            <a:spLocks noGrp="1"/>
          </p:cNvSpPr>
          <p:nvPr>
            <p:ph type="sldNum" sz="quarter" idx="10"/>
          </p:nvPr>
        </p:nvSpPr>
        <p:spPr/>
        <p:txBody>
          <a:bodyPr/>
          <a:lstStyle/>
          <a:p>
            <a:pPr defTabSz="914400">
              <a:defRPr/>
            </a:pPr>
            <a:r>
              <a:rPr lang="en-US" dirty="0">
                <a:solidFill>
                  <a:srgbClr val="0C0C0C">
                    <a:tint val="75000"/>
                  </a:srgbClr>
                </a:solidFill>
                <a:latin typeface="Arial"/>
              </a:rPr>
              <a:t>Coding Considerations 23- </a:t>
            </a:r>
            <a:fld id="{060BD193-E118-4B16-863C-C8C12C675E3E}" type="slidenum">
              <a:rPr lang="en-US">
                <a:solidFill>
                  <a:srgbClr val="0C0C0C">
                    <a:tint val="75000"/>
                  </a:srgbClr>
                </a:solidFill>
                <a:latin typeface="Arial"/>
              </a:rPr>
              <a:pPr defTabSz="914400">
                <a:defRPr/>
              </a:pPr>
              <a:t>60</a:t>
            </a:fld>
            <a:endParaRPr lang="en-US" dirty="0">
              <a:solidFill>
                <a:srgbClr val="0C0C0C">
                  <a:tint val="75000"/>
                </a:srgbClr>
              </a:solidFill>
              <a:latin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Stream Example</a:t>
            </a:r>
          </a:p>
        </p:txBody>
      </p:sp>
      <p:sp>
        <p:nvSpPr>
          <p:cNvPr id="2" name="Content Placeholder 1"/>
          <p:cNvSpPr>
            <a:spLocks noGrp="1"/>
          </p:cNvSpPr>
          <p:nvPr>
            <p:ph idx="1"/>
          </p:nvPr>
        </p:nvSpPr>
        <p:spPr>
          <a:xfrm>
            <a:off x="579119" y="1112520"/>
            <a:ext cx="11033760" cy="4632960"/>
          </a:xfrm>
        </p:spPr>
        <p:txBody>
          <a:bodyPr/>
          <a:lstStyle/>
          <a:p>
            <a:r>
              <a:rPr lang="en-US" sz="2000" dirty="0"/>
              <a:t>Create using </a:t>
            </a:r>
            <a:r>
              <a:rPr lang="en-US" sz="2000" dirty="0" err="1"/>
              <a:t>hls</a:t>
            </a:r>
            <a:r>
              <a:rPr lang="en-US" sz="2000" dirty="0"/>
              <a:t>::stream or define the </a:t>
            </a:r>
            <a:r>
              <a:rPr lang="en-US" sz="2000" dirty="0" err="1"/>
              <a:t>hls</a:t>
            </a:r>
            <a:r>
              <a:rPr lang="en-US" sz="2000" dirty="0"/>
              <a:t> namespace</a:t>
            </a:r>
          </a:p>
          <a:p>
            <a:pPr lvl="1"/>
            <a:endParaRPr lang="en-US" sz="1800" dirty="0"/>
          </a:p>
          <a:p>
            <a:pPr lvl="1"/>
            <a:endParaRPr lang="en-US" sz="1800" dirty="0"/>
          </a:p>
          <a:p>
            <a:endParaRPr lang="en-US" sz="2000" dirty="0"/>
          </a:p>
          <a:p>
            <a:r>
              <a:rPr lang="en-US" sz="2000" dirty="0"/>
              <a:t>Blocking and Non-Block accesses supported</a:t>
            </a:r>
          </a:p>
          <a:p>
            <a:pPr lvl="1">
              <a:buNone/>
            </a:pPr>
            <a:endParaRPr lang="en-US" sz="1800" dirty="0"/>
          </a:p>
        </p:txBody>
      </p:sp>
      <p:sp>
        <p:nvSpPr>
          <p:cNvPr id="20" name="Slide Number Placeholder 5">
            <a:extLst>
              <a:ext uri="{FF2B5EF4-FFF2-40B4-BE49-F238E27FC236}">
                <a16:creationId xmlns:a16="http://schemas.microsoft.com/office/drawing/2014/main" id="{BB823541-1F5A-4829-8678-A27102B5690B}"/>
              </a:ext>
            </a:extLst>
          </p:cNvPr>
          <p:cNvSpPr>
            <a:spLocks noGrp="1"/>
          </p:cNvSpPr>
          <p:nvPr>
            <p:ph type="sldNum" sz="quarter" idx="4"/>
          </p:nvPr>
        </p:nvSpPr>
        <p:spPr/>
        <p:txBody>
          <a:bodyPr/>
          <a:lstStyle/>
          <a:p>
            <a:pPr>
              <a:defRPr/>
            </a:pPr>
            <a:r>
              <a:rPr lang="en-US" dirty="0"/>
              <a:t>Coding Considerations 23- </a:t>
            </a:r>
            <a:fld id="{060BD193-E118-4B16-863C-C8C12C675E3E}" type="slidenum">
              <a:rPr lang="en-US" smtClean="0"/>
              <a:pPr>
                <a:defRPr/>
              </a:pPr>
              <a:t>61</a:t>
            </a:fld>
            <a:endParaRPr lang="en-US" dirty="0"/>
          </a:p>
        </p:txBody>
      </p:sp>
      <p:sp>
        <p:nvSpPr>
          <p:cNvPr id="13" name="TextBox 12">
            <a:extLst>
              <a:ext uri="{FF2B5EF4-FFF2-40B4-BE49-F238E27FC236}">
                <a16:creationId xmlns:a16="http://schemas.microsoft.com/office/drawing/2014/main" id="{BB73CB2D-1010-477E-B58E-6A2ACCF7DEC8}"/>
              </a:ext>
            </a:extLst>
          </p:cNvPr>
          <p:cNvSpPr txBox="1"/>
          <p:nvPr/>
        </p:nvSpPr>
        <p:spPr>
          <a:xfrm>
            <a:off x="893212" y="1479774"/>
            <a:ext cx="4747175" cy="1169551"/>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defRPr/>
            </a:pPr>
            <a:r>
              <a:rPr lang="en-US" sz="1000" kern="0" dirty="0">
                <a:solidFill>
                  <a:srgbClr val="000000"/>
                </a:solidFill>
                <a:latin typeface="Arial"/>
              </a:rPr>
              <a:t>#include &lt;ap_int.h&gt;</a:t>
            </a:r>
          </a:p>
          <a:p>
            <a:pPr defTabSz="914400" fontAlgn="base">
              <a:spcBef>
                <a:spcPct val="0"/>
              </a:spcBef>
              <a:spcAft>
                <a:spcPct val="0"/>
              </a:spcAft>
              <a:defRPr/>
            </a:pPr>
            <a:r>
              <a:rPr lang="en-US" sz="1000" kern="0" dirty="0">
                <a:solidFill>
                  <a:srgbClr val="000000"/>
                </a:solidFill>
                <a:latin typeface="Arial"/>
              </a:rPr>
              <a:t>#include &lt;</a:t>
            </a:r>
            <a:r>
              <a:rPr lang="en-US" sz="1000" kern="0" dirty="0" err="1">
                <a:solidFill>
                  <a:srgbClr val="000000"/>
                </a:solidFill>
                <a:latin typeface="Arial"/>
              </a:rPr>
              <a:t>hls_stream.h</a:t>
            </a:r>
            <a:r>
              <a:rPr lang="en-US" sz="1000" kern="0" dirty="0">
                <a:solidFill>
                  <a:srgbClr val="000000"/>
                </a:solidFill>
                <a:latin typeface="Arial"/>
              </a:rPr>
              <a:t>&gt;</a:t>
            </a:r>
          </a:p>
          <a:p>
            <a:pPr defTabSz="914400" fontAlgn="base">
              <a:spcBef>
                <a:spcPct val="0"/>
              </a:spcBef>
              <a:spcAft>
                <a:spcPct val="0"/>
              </a:spcAft>
              <a:defRPr/>
            </a:pPr>
            <a:endParaRPr lang="en-US" sz="1000" kern="0" dirty="0">
              <a:solidFill>
                <a:srgbClr val="000000"/>
              </a:solidFill>
              <a:latin typeface="Arial"/>
            </a:endParaRPr>
          </a:p>
          <a:p>
            <a:pPr defTabSz="914400" fontAlgn="base">
              <a:spcBef>
                <a:spcPct val="0"/>
              </a:spcBef>
              <a:spcAft>
                <a:spcPct val="0"/>
              </a:spcAft>
              <a:defRPr/>
            </a:pPr>
            <a:endParaRPr lang="en-US" sz="1000" kern="0" dirty="0">
              <a:solidFill>
                <a:srgbClr val="000000"/>
              </a:solidFill>
              <a:latin typeface="Arial"/>
            </a:endParaRPr>
          </a:p>
          <a:p>
            <a:pPr defTabSz="914400" fontAlgn="base">
              <a:spcBef>
                <a:spcPct val="0"/>
              </a:spcBef>
              <a:spcAft>
                <a:spcPct val="0"/>
              </a:spcAft>
              <a:defRPr/>
            </a:pPr>
            <a:r>
              <a:rPr lang="en-US" sz="1000" kern="0" dirty="0">
                <a:solidFill>
                  <a:srgbClr val="000000"/>
                </a:solidFill>
                <a:latin typeface="Arial"/>
              </a:rPr>
              <a:t>typedef </a:t>
            </a:r>
            <a:r>
              <a:rPr lang="en-US" sz="1000" kern="0" dirty="0" err="1">
                <a:solidFill>
                  <a:srgbClr val="000000"/>
                </a:solidFill>
                <a:latin typeface="Arial"/>
              </a:rPr>
              <a:t>ap_uint</a:t>
            </a:r>
            <a:r>
              <a:rPr lang="en-US" sz="1000" kern="0" dirty="0">
                <a:solidFill>
                  <a:srgbClr val="000000"/>
                </a:solidFill>
                <a:latin typeface="Arial"/>
              </a:rPr>
              <a:t>&lt;128&gt; uint128_t;                    // 128-bit user defined type</a:t>
            </a:r>
          </a:p>
          <a:p>
            <a:pPr defTabSz="914400" fontAlgn="base">
              <a:spcBef>
                <a:spcPct val="0"/>
              </a:spcBef>
              <a:spcAft>
                <a:spcPct val="0"/>
              </a:spcAft>
              <a:defRPr/>
            </a:pPr>
            <a:endParaRPr lang="en-US" sz="1000" kern="0" dirty="0">
              <a:solidFill>
                <a:srgbClr val="000000"/>
              </a:solidFill>
              <a:latin typeface="Arial"/>
            </a:endParaRPr>
          </a:p>
          <a:p>
            <a:pPr defTabSz="914400" fontAlgn="base">
              <a:spcBef>
                <a:spcPct val="0"/>
              </a:spcBef>
              <a:spcAft>
                <a:spcPct val="0"/>
              </a:spcAft>
              <a:defRPr/>
            </a:pPr>
            <a:r>
              <a:rPr lang="en-US" sz="1000" kern="0" dirty="0" err="1">
                <a:solidFill>
                  <a:srgbClr val="000000"/>
                </a:solidFill>
                <a:latin typeface="Arial"/>
              </a:rPr>
              <a:t>hls</a:t>
            </a:r>
            <a:r>
              <a:rPr lang="en-US" sz="1000" kern="0" dirty="0">
                <a:solidFill>
                  <a:srgbClr val="000000"/>
                </a:solidFill>
                <a:latin typeface="Arial"/>
              </a:rPr>
              <a:t>::stream&lt;uint128_t&gt; </a:t>
            </a:r>
            <a:r>
              <a:rPr lang="en-US" sz="1000" kern="0" dirty="0" err="1">
                <a:solidFill>
                  <a:srgbClr val="000000"/>
                </a:solidFill>
                <a:latin typeface="Arial"/>
              </a:rPr>
              <a:t>my_wide_stream</a:t>
            </a:r>
            <a:r>
              <a:rPr lang="en-US" sz="1000" kern="0" dirty="0">
                <a:solidFill>
                  <a:srgbClr val="000000"/>
                </a:solidFill>
                <a:latin typeface="Arial"/>
              </a:rPr>
              <a:t>;    // A stream declaration</a:t>
            </a:r>
            <a:endParaRPr lang="en-US" sz="1000" b="1" kern="0" dirty="0">
              <a:solidFill>
                <a:srgbClr val="000000"/>
              </a:solidFill>
              <a:latin typeface="Arial"/>
            </a:endParaRPr>
          </a:p>
        </p:txBody>
      </p:sp>
      <p:sp>
        <p:nvSpPr>
          <p:cNvPr id="14" name="TextBox 13">
            <a:extLst>
              <a:ext uri="{FF2B5EF4-FFF2-40B4-BE49-F238E27FC236}">
                <a16:creationId xmlns:a16="http://schemas.microsoft.com/office/drawing/2014/main" id="{315A7B64-4DD6-4635-B96E-C3F9855A5532}"/>
              </a:ext>
            </a:extLst>
          </p:cNvPr>
          <p:cNvSpPr txBox="1"/>
          <p:nvPr/>
        </p:nvSpPr>
        <p:spPr>
          <a:xfrm>
            <a:off x="6479845" y="1465920"/>
            <a:ext cx="4942216" cy="1169551"/>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defRPr/>
            </a:pPr>
            <a:r>
              <a:rPr lang="en-US" sz="1000" kern="0" dirty="0">
                <a:solidFill>
                  <a:srgbClr val="000000"/>
                </a:solidFill>
                <a:latin typeface="Arial"/>
              </a:rPr>
              <a:t>#include &lt;ap_int.h&gt;</a:t>
            </a:r>
          </a:p>
          <a:p>
            <a:pPr defTabSz="914400" fontAlgn="base">
              <a:spcBef>
                <a:spcPct val="0"/>
              </a:spcBef>
              <a:spcAft>
                <a:spcPct val="0"/>
              </a:spcAft>
              <a:defRPr/>
            </a:pPr>
            <a:r>
              <a:rPr lang="en-US" sz="1000" kern="0" dirty="0">
                <a:solidFill>
                  <a:srgbClr val="000000"/>
                </a:solidFill>
                <a:latin typeface="Arial"/>
              </a:rPr>
              <a:t>#include &lt;</a:t>
            </a:r>
            <a:r>
              <a:rPr lang="en-US" sz="1000" kern="0" dirty="0" err="1">
                <a:solidFill>
                  <a:srgbClr val="000000"/>
                </a:solidFill>
                <a:latin typeface="Arial"/>
              </a:rPr>
              <a:t>hls_stream.h</a:t>
            </a:r>
            <a:r>
              <a:rPr lang="en-US" sz="1000" kern="0" dirty="0">
                <a:solidFill>
                  <a:srgbClr val="000000"/>
                </a:solidFill>
                <a:latin typeface="Arial"/>
              </a:rPr>
              <a:t>&gt;</a:t>
            </a:r>
          </a:p>
          <a:p>
            <a:pPr defTabSz="914400" fontAlgn="base">
              <a:spcBef>
                <a:spcPct val="0"/>
              </a:spcBef>
              <a:spcAft>
                <a:spcPct val="0"/>
              </a:spcAft>
              <a:defRPr/>
            </a:pPr>
            <a:r>
              <a:rPr lang="en-US" sz="1000" kern="0" dirty="0">
                <a:solidFill>
                  <a:srgbClr val="000000"/>
                </a:solidFill>
                <a:latin typeface="Arial"/>
              </a:rPr>
              <a:t>using namespace </a:t>
            </a:r>
            <a:r>
              <a:rPr lang="en-US" sz="1000" kern="0" dirty="0" err="1">
                <a:solidFill>
                  <a:srgbClr val="000000"/>
                </a:solidFill>
                <a:latin typeface="Arial"/>
              </a:rPr>
              <a:t>hls</a:t>
            </a:r>
            <a:r>
              <a:rPr lang="en-US" sz="1000" kern="0" dirty="0">
                <a:solidFill>
                  <a:srgbClr val="000000"/>
                </a:solidFill>
                <a:latin typeface="Arial"/>
              </a:rPr>
              <a:t>;                            // Use </a:t>
            </a:r>
            <a:r>
              <a:rPr lang="en-US" sz="1000" kern="0" dirty="0" err="1">
                <a:solidFill>
                  <a:srgbClr val="000000"/>
                </a:solidFill>
                <a:latin typeface="Arial"/>
              </a:rPr>
              <a:t>hls</a:t>
            </a:r>
            <a:r>
              <a:rPr lang="en-US" sz="1000" kern="0" dirty="0">
                <a:solidFill>
                  <a:srgbClr val="000000"/>
                </a:solidFill>
                <a:latin typeface="Arial"/>
              </a:rPr>
              <a:t> namespace</a:t>
            </a:r>
          </a:p>
          <a:p>
            <a:pPr defTabSz="914400" fontAlgn="base">
              <a:spcBef>
                <a:spcPct val="0"/>
              </a:spcBef>
              <a:spcAft>
                <a:spcPct val="0"/>
              </a:spcAft>
              <a:defRPr/>
            </a:pPr>
            <a:endParaRPr lang="en-US" sz="1000" kern="0" dirty="0">
              <a:solidFill>
                <a:srgbClr val="000000"/>
              </a:solidFill>
              <a:latin typeface="Arial"/>
            </a:endParaRPr>
          </a:p>
          <a:p>
            <a:pPr defTabSz="914400" fontAlgn="base">
              <a:spcBef>
                <a:spcPct val="0"/>
              </a:spcBef>
              <a:spcAft>
                <a:spcPct val="0"/>
              </a:spcAft>
              <a:defRPr/>
            </a:pPr>
            <a:r>
              <a:rPr lang="en-US" sz="1000" kern="0" dirty="0">
                <a:solidFill>
                  <a:srgbClr val="000000"/>
                </a:solidFill>
                <a:latin typeface="Arial"/>
              </a:rPr>
              <a:t>typedef </a:t>
            </a:r>
            <a:r>
              <a:rPr lang="en-US" sz="1000" kern="0" dirty="0" err="1">
                <a:solidFill>
                  <a:srgbClr val="000000"/>
                </a:solidFill>
                <a:latin typeface="Arial"/>
              </a:rPr>
              <a:t>ap_uint</a:t>
            </a:r>
            <a:r>
              <a:rPr lang="en-US" sz="1000" kern="0" dirty="0">
                <a:solidFill>
                  <a:srgbClr val="000000"/>
                </a:solidFill>
                <a:latin typeface="Arial"/>
              </a:rPr>
              <a:t>&lt;128&gt; uint128_t;            // 128-bit user defined type</a:t>
            </a:r>
          </a:p>
          <a:p>
            <a:pPr defTabSz="914400" fontAlgn="base">
              <a:spcBef>
                <a:spcPct val="0"/>
              </a:spcBef>
              <a:spcAft>
                <a:spcPct val="0"/>
              </a:spcAft>
              <a:defRPr/>
            </a:pPr>
            <a:endParaRPr lang="en-US" sz="1000" kern="0" dirty="0">
              <a:solidFill>
                <a:srgbClr val="000000"/>
              </a:solidFill>
              <a:latin typeface="Arial"/>
            </a:endParaRPr>
          </a:p>
          <a:p>
            <a:pPr defTabSz="914400" fontAlgn="base">
              <a:spcBef>
                <a:spcPct val="0"/>
              </a:spcBef>
              <a:spcAft>
                <a:spcPct val="0"/>
              </a:spcAft>
              <a:defRPr/>
            </a:pPr>
            <a:r>
              <a:rPr lang="en-US" sz="1000" kern="0" dirty="0">
                <a:solidFill>
                  <a:srgbClr val="000000"/>
                </a:solidFill>
                <a:latin typeface="Arial"/>
              </a:rPr>
              <a:t>stream&lt;uint128_t&gt; </a:t>
            </a:r>
            <a:r>
              <a:rPr lang="en-US" sz="1000" kern="0" dirty="0" err="1">
                <a:solidFill>
                  <a:srgbClr val="000000"/>
                </a:solidFill>
                <a:latin typeface="Arial"/>
              </a:rPr>
              <a:t>my_wide_stream</a:t>
            </a:r>
            <a:r>
              <a:rPr lang="en-US" sz="1000" kern="0" dirty="0">
                <a:solidFill>
                  <a:srgbClr val="000000"/>
                </a:solidFill>
                <a:latin typeface="Arial"/>
              </a:rPr>
              <a:t>;    // </a:t>
            </a:r>
            <a:r>
              <a:rPr lang="en-US" sz="1000" kern="0" dirty="0" err="1">
                <a:solidFill>
                  <a:srgbClr val="000000"/>
                </a:solidFill>
                <a:latin typeface="Arial"/>
              </a:rPr>
              <a:t>hls</a:t>
            </a:r>
            <a:r>
              <a:rPr lang="en-US" sz="1000" kern="0" dirty="0">
                <a:solidFill>
                  <a:srgbClr val="000000"/>
                </a:solidFill>
                <a:latin typeface="Arial"/>
              </a:rPr>
              <a:t>:: no longer required</a:t>
            </a:r>
            <a:endParaRPr lang="en-US" sz="1000" b="1" kern="0" dirty="0">
              <a:solidFill>
                <a:srgbClr val="000000"/>
              </a:solidFill>
              <a:latin typeface="Arial"/>
            </a:endParaRPr>
          </a:p>
        </p:txBody>
      </p:sp>
      <p:sp>
        <p:nvSpPr>
          <p:cNvPr id="15" name="TextBox 14">
            <a:extLst>
              <a:ext uri="{FF2B5EF4-FFF2-40B4-BE49-F238E27FC236}">
                <a16:creationId xmlns:a16="http://schemas.microsoft.com/office/drawing/2014/main" id="{38EEDA55-1D01-4026-8387-4DEBFB5D8507}"/>
              </a:ext>
            </a:extLst>
          </p:cNvPr>
          <p:cNvSpPr txBox="1"/>
          <p:nvPr/>
        </p:nvSpPr>
        <p:spPr>
          <a:xfrm>
            <a:off x="876874" y="3132504"/>
            <a:ext cx="3643418" cy="1015663"/>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defRPr/>
            </a:pPr>
            <a:r>
              <a:rPr lang="en-US" sz="1000" b="1" kern="0" dirty="0">
                <a:solidFill>
                  <a:srgbClr val="000000"/>
                </a:solidFill>
                <a:latin typeface="Arial"/>
              </a:rPr>
              <a:t>// Blocking Write</a:t>
            </a:r>
          </a:p>
          <a:p>
            <a:pPr defTabSz="914400" fontAlgn="base">
              <a:spcBef>
                <a:spcPct val="0"/>
              </a:spcBef>
              <a:spcAft>
                <a:spcPct val="0"/>
              </a:spcAft>
              <a:defRPr/>
            </a:pPr>
            <a:r>
              <a:rPr lang="en-US" sz="1000" kern="0" dirty="0" err="1">
                <a:solidFill>
                  <a:srgbClr val="000000"/>
                </a:solidFill>
                <a:latin typeface="Arial"/>
              </a:rPr>
              <a:t>hls</a:t>
            </a:r>
            <a:r>
              <a:rPr lang="en-US" sz="1000" kern="0" dirty="0">
                <a:solidFill>
                  <a:srgbClr val="000000"/>
                </a:solidFill>
                <a:latin typeface="Arial"/>
              </a:rPr>
              <a:t>::stream&lt;int&gt; </a:t>
            </a:r>
            <a:r>
              <a:rPr lang="en-US" sz="1000" kern="0" dirty="0" err="1">
                <a:solidFill>
                  <a:srgbClr val="000000"/>
                </a:solidFill>
                <a:latin typeface="Arial"/>
              </a:rPr>
              <a:t>my_stream</a:t>
            </a:r>
            <a:r>
              <a:rPr lang="en-US" sz="1000" kern="0" dirty="0">
                <a:solidFill>
                  <a:srgbClr val="000000"/>
                </a:solidFill>
                <a:latin typeface="Arial"/>
              </a:rPr>
              <a:t>;</a:t>
            </a:r>
          </a:p>
          <a:p>
            <a:pPr defTabSz="914400" fontAlgn="base">
              <a:spcBef>
                <a:spcPct val="0"/>
              </a:spcBef>
              <a:spcAft>
                <a:spcPct val="0"/>
              </a:spcAft>
              <a:defRPr/>
            </a:pPr>
            <a:endParaRPr lang="en-US" sz="1000" kern="0" dirty="0">
              <a:solidFill>
                <a:srgbClr val="000000"/>
              </a:solidFill>
              <a:latin typeface="Arial"/>
            </a:endParaRPr>
          </a:p>
          <a:p>
            <a:pPr defTabSz="914400" fontAlgn="base">
              <a:spcBef>
                <a:spcPct val="0"/>
              </a:spcBef>
              <a:spcAft>
                <a:spcPct val="0"/>
              </a:spcAft>
              <a:defRPr/>
            </a:pPr>
            <a:r>
              <a:rPr lang="en-US" sz="1000" kern="0" dirty="0">
                <a:solidFill>
                  <a:srgbClr val="000000"/>
                </a:solidFill>
                <a:latin typeface="Arial"/>
              </a:rPr>
              <a:t>int </a:t>
            </a:r>
            <a:r>
              <a:rPr lang="en-US" sz="1000" kern="0" dirty="0" err="1">
                <a:solidFill>
                  <a:srgbClr val="000000"/>
                </a:solidFill>
                <a:latin typeface="Arial"/>
              </a:rPr>
              <a:t>src_var</a:t>
            </a:r>
            <a:r>
              <a:rPr lang="en-US" sz="1000" kern="0" dirty="0">
                <a:solidFill>
                  <a:srgbClr val="000000"/>
                </a:solidFill>
                <a:latin typeface="Arial"/>
              </a:rPr>
              <a:t> = 42;</a:t>
            </a:r>
          </a:p>
          <a:p>
            <a:pPr defTabSz="914400" fontAlgn="base">
              <a:spcBef>
                <a:spcPct val="0"/>
              </a:spcBef>
              <a:spcAft>
                <a:spcPct val="0"/>
              </a:spcAft>
              <a:defRPr/>
            </a:pPr>
            <a:r>
              <a:rPr lang="en-US" sz="1000" kern="0" dirty="0" err="1">
                <a:solidFill>
                  <a:srgbClr val="000000"/>
                </a:solidFill>
                <a:latin typeface="Arial"/>
              </a:rPr>
              <a:t>my_stream.write</a:t>
            </a:r>
            <a:r>
              <a:rPr lang="en-US" sz="1000" kern="0" dirty="0">
                <a:solidFill>
                  <a:srgbClr val="000000"/>
                </a:solidFill>
                <a:latin typeface="Arial"/>
              </a:rPr>
              <a:t>(</a:t>
            </a:r>
            <a:r>
              <a:rPr lang="en-US" sz="1000" kern="0" dirty="0" err="1">
                <a:solidFill>
                  <a:srgbClr val="000000"/>
                </a:solidFill>
                <a:latin typeface="Arial"/>
              </a:rPr>
              <a:t>src_var</a:t>
            </a:r>
            <a:r>
              <a:rPr lang="en-US" sz="1000" kern="0" dirty="0">
                <a:solidFill>
                  <a:srgbClr val="000000"/>
                </a:solidFill>
                <a:latin typeface="Arial"/>
              </a:rPr>
              <a:t>);</a:t>
            </a:r>
          </a:p>
          <a:p>
            <a:pPr defTabSz="914400" fontAlgn="base">
              <a:spcBef>
                <a:spcPct val="0"/>
              </a:spcBef>
              <a:spcAft>
                <a:spcPct val="0"/>
              </a:spcAft>
              <a:defRPr/>
            </a:pPr>
            <a:r>
              <a:rPr lang="en-US" sz="1000" b="1" kern="0" dirty="0">
                <a:solidFill>
                  <a:srgbClr val="000000"/>
                </a:solidFill>
                <a:latin typeface="Arial"/>
              </a:rPr>
              <a:t>// OR use:  </a:t>
            </a:r>
            <a:r>
              <a:rPr lang="en-US" sz="1000" kern="0" dirty="0" err="1">
                <a:solidFill>
                  <a:srgbClr val="000000"/>
                </a:solidFill>
                <a:latin typeface="Arial"/>
              </a:rPr>
              <a:t>my_stream</a:t>
            </a:r>
            <a:r>
              <a:rPr lang="en-US" sz="1000" kern="0" dirty="0">
                <a:solidFill>
                  <a:srgbClr val="000000"/>
                </a:solidFill>
                <a:latin typeface="Arial"/>
              </a:rPr>
              <a:t> &lt;&lt; </a:t>
            </a:r>
            <a:r>
              <a:rPr lang="en-US" sz="1000" kern="0" dirty="0" err="1">
                <a:solidFill>
                  <a:srgbClr val="000000"/>
                </a:solidFill>
                <a:latin typeface="Arial"/>
              </a:rPr>
              <a:t>src_var</a:t>
            </a:r>
            <a:r>
              <a:rPr lang="en-US" sz="1000" kern="0" dirty="0">
                <a:solidFill>
                  <a:srgbClr val="000000"/>
                </a:solidFill>
                <a:latin typeface="Arial"/>
              </a:rPr>
              <a:t>;</a:t>
            </a:r>
            <a:endParaRPr lang="en-US" sz="1000" b="1" kern="0" dirty="0">
              <a:solidFill>
                <a:srgbClr val="000000"/>
              </a:solidFill>
              <a:latin typeface="Arial"/>
            </a:endParaRPr>
          </a:p>
        </p:txBody>
      </p:sp>
      <p:sp>
        <p:nvSpPr>
          <p:cNvPr id="16" name="TextBox 15">
            <a:extLst>
              <a:ext uri="{FF2B5EF4-FFF2-40B4-BE49-F238E27FC236}">
                <a16:creationId xmlns:a16="http://schemas.microsoft.com/office/drawing/2014/main" id="{23EA21E4-76B3-4830-865F-404AACB7F4FC}"/>
              </a:ext>
            </a:extLst>
          </p:cNvPr>
          <p:cNvSpPr txBox="1"/>
          <p:nvPr/>
        </p:nvSpPr>
        <p:spPr>
          <a:xfrm>
            <a:off x="890071" y="4306154"/>
            <a:ext cx="3643418" cy="1015663"/>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defRPr/>
            </a:pPr>
            <a:r>
              <a:rPr lang="en-US" sz="1000" b="1" kern="0" dirty="0">
                <a:solidFill>
                  <a:srgbClr val="000000"/>
                </a:solidFill>
                <a:latin typeface="Arial"/>
              </a:rPr>
              <a:t>// Blocking Read</a:t>
            </a:r>
          </a:p>
          <a:p>
            <a:pPr defTabSz="914400" fontAlgn="base">
              <a:spcBef>
                <a:spcPct val="0"/>
              </a:spcBef>
              <a:spcAft>
                <a:spcPct val="0"/>
              </a:spcAft>
              <a:defRPr/>
            </a:pPr>
            <a:r>
              <a:rPr lang="en-US" sz="1000" kern="0" dirty="0" err="1">
                <a:solidFill>
                  <a:srgbClr val="000000"/>
                </a:solidFill>
                <a:latin typeface="Arial"/>
              </a:rPr>
              <a:t>hls</a:t>
            </a:r>
            <a:r>
              <a:rPr lang="en-US" sz="1000" kern="0" dirty="0">
                <a:solidFill>
                  <a:srgbClr val="000000"/>
                </a:solidFill>
                <a:latin typeface="Arial"/>
              </a:rPr>
              <a:t>::stream&lt;int&gt; </a:t>
            </a:r>
            <a:r>
              <a:rPr lang="en-US" sz="1000" kern="0" dirty="0" err="1">
                <a:solidFill>
                  <a:srgbClr val="000000"/>
                </a:solidFill>
                <a:latin typeface="Arial"/>
              </a:rPr>
              <a:t>my_stream</a:t>
            </a:r>
            <a:r>
              <a:rPr lang="en-US" sz="1000" kern="0" dirty="0">
                <a:solidFill>
                  <a:srgbClr val="000000"/>
                </a:solidFill>
                <a:latin typeface="Arial"/>
              </a:rPr>
              <a:t>;</a:t>
            </a:r>
          </a:p>
          <a:p>
            <a:pPr defTabSz="914400" fontAlgn="base">
              <a:spcBef>
                <a:spcPct val="0"/>
              </a:spcBef>
              <a:spcAft>
                <a:spcPct val="0"/>
              </a:spcAft>
              <a:defRPr/>
            </a:pPr>
            <a:endParaRPr lang="en-US" sz="1000" kern="0" dirty="0">
              <a:solidFill>
                <a:srgbClr val="000000"/>
              </a:solidFill>
              <a:latin typeface="Arial"/>
            </a:endParaRPr>
          </a:p>
          <a:p>
            <a:pPr defTabSz="914400" fontAlgn="base">
              <a:spcBef>
                <a:spcPct val="0"/>
              </a:spcBef>
              <a:spcAft>
                <a:spcPct val="0"/>
              </a:spcAft>
              <a:defRPr/>
            </a:pPr>
            <a:r>
              <a:rPr lang="en-US" sz="1000" kern="0" dirty="0">
                <a:solidFill>
                  <a:srgbClr val="000000"/>
                </a:solidFill>
                <a:latin typeface="Arial"/>
              </a:rPr>
              <a:t>int </a:t>
            </a:r>
            <a:r>
              <a:rPr lang="en-US" sz="1000" kern="0" dirty="0" err="1">
                <a:solidFill>
                  <a:srgbClr val="000000"/>
                </a:solidFill>
                <a:latin typeface="Arial"/>
              </a:rPr>
              <a:t>dst_var</a:t>
            </a:r>
            <a:r>
              <a:rPr lang="en-US" sz="1000" kern="0" dirty="0">
                <a:solidFill>
                  <a:srgbClr val="000000"/>
                </a:solidFill>
                <a:latin typeface="Arial"/>
              </a:rPr>
              <a:t>;</a:t>
            </a:r>
          </a:p>
          <a:p>
            <a:pPr defTabSz="914400" fontAlgn="base">
              <a:spcBef>
                <a:spcPct val="0"/>
              </a:spcBef>
              <a:spcAft>
                <a:spcPct val="0"/>
              </a:spcAft>
              <a:defRPr/>
            </a:pPr>
            <a:r>
              <a:rPr lang="en-US" sz="1000" kern="0" dirty="0" err="1">
                <a:solidFill>
                  <a:srgbClr val="000000"/>
                </a:solidFill>
                <a:latin typeface="Arial"/>
              </a:rPr>
              <a:t>my_stream.read</a:t>
            </a:r>
            <a:r>
              <a:rPr lang="en-US" sz="1000" kern="0" dirty="0">
                <a:solidFill>
                  <a:srgbClr val="000000"/>
                </a:solidFill>
                <a:latin typeface="Arial"/>
              </a:rPr>
              <a:t>(</a:t>
            </a:r>
            <a:r>
              <a:rPr lang="en-US" sz="1000" kern="0" dirty="0" err="1">
                <a:solidFill>
                  <a:srgbClr val="000000"/>
                </a:solidFill>
                <a:latin typeface="Arial"/>
              </a:rPr>
              <a:t>dst_var</a:t>
            </a:r>
            <a:r>
              <a:rPr lang="en-US" sz="1000" kern="0" dirty="0">
                <a:solidFill>
                  <a:srgbClr val="000000"/>
                </a:solidFill>
                <a:latin typeface="Arial"/>
              </a:rPr>
              <a:t>);</a:t>
            </a:r>
          </a:p>
          <a:p>
            <a:pPr defTabSz="914400" fontAlgn="base">
              <a:spcBef>
                <a:spcPct val="0"/>
              </a:spcBef>
              <a:spcAft>
                <a:spcPct val="0"/>
              </a:spcAft>
              <a:defRPr/>
            </a:pPr>
            <a:r>
              <a:rPr lang="en-US" sz="1000" b="1" kern="0" dirty="0">
                <a:solidFill>
                  <a:srgbClr val="000000"/>
                </a:solidFill>
                <a:latin typeface="Arial"/>
              </a:rPr>
              <a:t>// OR use: </a:t>
            </a:r>
            <a:r>
              <a:rPr lang="en-US" sz="1000" kern="0" dirty="0" err="1">
                <a:solidFill>
                  <a:srgbClr val="000000"/>
                </a:solidFill>
                <a:latin typeface="Arial"/>
              </a:rPr>
              <a:t>dst_var</a:t>
            </a:r>
            <a:r>
              <a:rPr lang="en-US" sz="1000" kern="0" dirty="0">
                <a:solidFill>
                  <a:srgbClr val="000000"/>
                </a:solidFill>
                <a:latin typeface="Arial"/>
              </a:rPr>
              <a:t> = </a:t>
            </a:r>
            <a:r>
              <a:rPr lang="en-US" sz="1000" kern="0" dirty="0" err="1">
                <a:solidFill>
                  <a:srgbClr val="000000"/>
                </a:solidFill>
                <a:latin typeface="Arial"/>
              </a:rPr>
              <a:t>my_stream.read</a:t>
            </a:r>
            <a:r>
              <a:rPr lang="en-US" sz="1000" kern="0" dirty="0">
                <a:solidFill>
                  <a:srgbClr val="000000"/>
                </a:solidFill>
                <a:latin typeface="Arial"/>
              </a:rPr>
              <a:t>();</a:t>
            </a:r>
            <a:endParaRPr lang="en-US" sz="1000" b="1" kern="0" dirty="0">
              <a:solidFill>
                <a:srgbClr val="000000"/>
              </a:solidFill>
              <a:latin typeface="Arial"/>
            </a:endParaRPr>
          </a:p>
        </p:txBody>
      </p:sp>
      <p:sp>
        <p:nvSpPr>
          <p:cNvPr id="17" name="TextBox 16">
            <a:extLst>
              <a:ext uri="{FF2B5EF4-FFF2-40B4-BE49-F238E27FC236}">
                <a16:creationId xmlns:a16="http://schemas.microsoft.com/office/drawing/2014/main" id="{28592266-ECA1-4484-B4E8-52E7778E4EC9}"/>
              </a:ext>
            </a:extLst>
          </p:cNvPr>
          <p:cNvSpPr txBox="1"/>
          <p:nvPr/>
        </p:nvSpPr>
        <p:spPr>
          <a:xfrm>
            <a:off x="4713558" y="3118649"/>
            <a:ext cx="3345319" cy="2246769"/>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defRPr/>
            </a:pPr>
            <a:r>
              <a:rPr lang="en-US" sz="1000" kern="0" dirty="0" err="1">
                <a:solidFill>
                  <a:srgbClr val="000000"/>
                </a:solidFill>
                <a:latin typeface="Arial"/>
              </a:rPr>
              <a:t>hls</a:t>
            </a:r>
            <a:r>
              <a:rPr lang="en-US" sz="1000" kern="0" dirty="0">
                <a:solidFill>
                  <a:srgbClr val="000000"/>
                </a:solidFill>
                <a:latin typeface="Arial"/>
              </a:rPr>
              <a:t>::stream&lt;int&gt; </a:t>
            </a:r>
            <a:r>
              <a:rPr lang="en-US" sz="1000" kern="0" dirty="0" err="1">
                <a:solidFill>
                  <a:srgbClr val="000000"/>
                </a:solidFill>
                <a:latin typeface="Arial"/>
              </a:rPr>
              <a:t>my_stream</a:t>
            </a:r>
            <a:r>
              <a:rPr lang="en-US" sz="1000" kern="0" dirty="0">
                <a:solidFill>
                  <a:srgbClr val="000000"/>
                </a:solidFill>
                <a:latin typeface="Arial"/>
              </a:rPr>
              <a:t>;</a:t>
            </a:r>
          </a:p>
          <a:p>
            <a:pPr defTabSz="914400" fontAlgn="base">
              <a:spcBef>
                <a:spcPct val="0"/>
              </a:spcBef>
              <a:spcAft>
                <a:spcPct val="0"/>
              </a:spcAft>
              <a:defRPr/>
            </a:pPr>
            <a:endParaRPr lang="en-US" sz="1000" kern="0" dirty="0">
              <a:solidFill>
                <a:srgbClr val="000000"/>
              </a:solidFill>
              <a:latin typeface="Arial"/>
            </a:endParaRPr>
          </a:p>
          <a:p>
            <a:pPr defTabSz="914400" fontAlgn="base">
              <a:spcBef>
                <a:spcPct val="0"/>
              </a:spcBef>
              <a:spcAft>
                <a:spcPct val="0"/>
              </a:spcAft>
              <a:defRPr/>
            </a:pPr>
            <a:r>
              <a:rPr lang="en-US" sz="1000" kern="0" dirty="0">
                <a:solidFill>
                  <a:srgbClr val="000000"/>
                </a:solidFill>
                <a:latin typeface="Arial"/>
              </a:rPr>
              <a:t>int </a:t>
            </a:r>
            <a:r>
              <a:rPr lang="en-US" sz="1000" kern="0" dirty="0" err="1">
                <a:solidFill>
                  <a:srgbClr val="000000"/>
                </a:solidFill>
                <a:latin typeface="Arial"/>
              </a:rPr>
              <a:t>src_var</a:t>
            </a:r>
            <a:r>
              <a:rPr lang="en-US" sz="1000" kern="0" dirty="0">
                <a:solidFill>
                  <a:srgbClr val="000000"/>
                </a:solidFill>
                <a:latin typeface="Arial"/>
              </a:rPr>
              <a:t> = 42;</a:t>
            </a:r>
          </a:p>
          <a:p>
            <a:pPr defTabSz="914400" fontAlgn="base">
              <a:spcBef>
                <a:spcPct val="0"/>
              </a:spcBef>
              <a:spcAft>
                <a:spcPct val="0"/>
              </a:spcAft>
              <a:defRPr/>
            </a:pPr>
            <a:r>
              <a:rPr lang="en-US" sz="1000" kern="0" dirty="0">
                <a:solidFill>
                  <a:srgbClr val="000000"/>
                </a:solidFill>
                <a:latin typeface="Arial"/>
              </a:rPr>
              <a:t>bool </a:t>
            </a:r>
            <a:r>
              <a:rPr lang="en-US" sz="1000" kern="0" dirty="0" err="1">
                <a:solidFill>
                  <a:srgbClr val="000000"/>
                </a:solidFill>
                <a:latin typeface="Arial"/>
              </a:rPr>
              <a:t>stream_full</a:t>
            </a:r>
            <a:r>
              <a:rPr lang="en-US" sz="1000" kern="0" dirty="0">
                <a:solidFill>
                  <a:srgbClr val="000000"/>
                </a:solidFill>
                <a:latin typeface="Arial"/>
              </a:rPr>
              <a:t>;</a:t>
            </a:r>
          </a:p>
          <a:p>
            <a:pPr defTabSz="914400" fontAlgn="base">
              <a:spcBef>
                <a:spcPct val="0"/>
              </a:spcBef>
              <a:spcAft>
                <a:spcPct val="0"/>
              </a:spcAft>
              <a:defRPr/>
            </a:pPr>
            <a:endParaRPr lang="en-US" sz="1000" kern="0" dirty="0">
              <a:solidFill>
                <a:srgbClr val="000000"/>
              </a:solidFill>
              <a:latin typeface="Arial"/>
            </a:endParaRPr>
          </a:p>
          <a:p>
            <a:pPr defTabSz="914400" fontAlgn="base">
              <a:spcBef>
                <a:spcPct val="0"/>
              </a:spcBef>
              <a:spcAft>
                <a:spcPct val="0"/>
              </a:spcAft>
              <a:defRPr/>
            </a:pPr>
            <a:r>
              <a:rPr lang="en-US" sz="1000" b="1" kern="0" dirty="0">
                <a:solidFill>
                  <a:srgbClr val="000000"/>
                </a:solidFill>
                <a:latin typeface="Arial"/>
              </a:rPr>
              <a:t>// Non-Blocking Write</a:t>
            </a:r>
          </a:p>
          <a:p>
            <a:pPr defTabSz="914400" fontAlgn="base">
              <a:spcBef>
                <a:spcPct val="0"/>
              </a:spcBef>
              <a:spcAft>
                <a:spcPct val="0"/>
              </a:spcAft>
              <a:defRPr/>
            </a:pPr>
            <a:r>
              <a:rPr lang="en-US" sz="1000" kern="0" dirty="0">
                <a:solidFill>
                  <a:srgbClr val="000000"/>
                </a:solidFill>
                <a:latin typeface="Arial"/>
              </a:rPr>
              <a:t>if (</a:t>
            </a:r>
            <a:r>
              <a:rPr lang="en-US" sz="1000" kern="0" dirty="0" err="1">
                <a:solidFill>
                  <a:srgbClr val="000000"/>
                </a:solidFill>
                <a:latin typeface="Arial"/>
              </a:rPr>
              <a:t>my_stream.write_nb</a:t>
            </a:r>
            <a:r>
              <a:rPr lang="en-US" sz="1000" kern="0" dirty="0">
                <a:solidFill>
                  <a:srgbClr val="000000"/>
                </a:solidFill>
                <a:latin typeface="Arial"/>
              </a:rPr>
              <a:t>(</a:t>
            </a:r>
            <a:r>
              <a:rPr lang="en-US" sz="1000" kern="0" dirty="0" err="1">
                <a:solidFill>
                  <a:srgbClr val="000000"/>
                </a:solidFill>
                <a:latin typeface="Arial"/>
              </a:rPr>
              <a:t>src_var</a:t>
            </a:r>
            <a:r>
              <a:rPr lang="en-US" sz="1000" kern="0" dirty="0">
                <a:solidFill>
                  <a:srgbClr val="000000"/>
                </a:solidFill>
                <a:latin typeface="Arial"/>
              </a:rPr>
              <a:t>)) {</a:t>
            </a:r>
          </a:p>
          <a:p>
            <a:pPr defTabSz="914400" fontAlgn="base">
              <a:spcBef>
                <a:spcPct val="0"/>
              </a:spcBef>
              <a:spcAft>
                <a:spcPct val="0"/>
              </a:spcAft>
              <a:defRPr/>
            </a:pPr>
            <a:r>
              <a:rPr lang="en-US" sz="1000" kern="0" dirty="0">
                <a:solidFill>
                  <a:srgbClr val="000000"/>
                </a:solidFill>
                <a:latin typeface="Arial"/>
              </a:rPr>
              <a:t>      // Perform standard operations</a:t>
            </a:r>
          </a:p>
          <a:p>
            <a:pPr defTabSz="914400" fontAlgn="base">
              <a:spcBef>
                <a:spcPct val="0"/>
              </a:spcBef>
              <a:spcAft>
                <a:spcPct val="0"/>
              </a:spcAft>
              <a:defRPr/>
            </a:pPr>
            <a:r>
              <a:rPr lang="en-US" sz="1000" kern="0" dirty="0">
                <a:solidFill>
                  <a:srgbClr val="000000"/>
                </a:solidFill>
                <a:latin typeface="Arial"/>
              </a:rPr>
              <a:t>} else {</a:t>
            </a:r>
          </a:p>
          <a:p>
            <a:pPr defTabSz="914400" fontAlgn="base">
              <a:spcBef>
                <a:spcPct val="0"/>
              </a:spcBef>
              <a:spcAft>
                <a:spcPct val="0"/>
              </a:spcAft>
              <a:defRPr/>
            </a:pPr>
            <a:r>
              <a:rPr lang="en-US" sz="1000" kern="0" dirty="0">
                <a:solidFill>
                  <a:srgbClr val="000000"/>
                </a:solidFill>
                <a:latin typeface="Arial"/>
              </a:rPr>
              <a:t>      // Write did not happen</a:t>
            </a:r>
          </a:p>
          <a:p>
            <a:pPr defTabSz="914400" fontAlgn="base">
              <a:spcBef>
                <a:spcPct val="0"/>
              </a:spcBef>
              <a:spcAft>
                <a:spcPct val="0"/>
              </a:spcAft>
              <a:defRPr/>
            </a:pPr>
            <a:r>
              <a:rPr lang="en-US" sz="1000" kern="0" dirty="0">
                <a:solidFill>
                  <a:srgbClr val="000000"/>
                </a:solidFill>
                <a:latin typeface="Arial"/>
              </a:rPr>
              <a:t>}</a:t>
            </a:r>
          </a:p>
          <a:p>
            <a:pPr defTabSz="914400" fontAlgn="base">
              <a:spcBef>
                <a:spcPct val="0"/>
              </a:spcBef>
              <a:spcAft>
                <a:spcPct val="0"/>
              </a:spcAft>
              <a:defRPr/>
            </a:pPr>
            <a:endParaRPr lang="en-US" sz="1000" kern="0" dirty="0">
              <a:solidFill>
                <a:srgbClr val="000000"/>
              </a:solidFill>
              <a:latin typeface="Arial"/>
            </a:endParaRPr>
          </a:p>
          <a:p>
            <a:pPr defTabSz="914400" fontAlgn="base">
              <a:spcBef>
                <a:spcPct val="0"/>
              </a:spcBef>
              <a:spcAft>
                <a:spcPct val="0"/>
              </a:spcAft>
              <a:defRPr/>
            </a:pPr>
            <a:r>
              <a:rPr lang="en-US" sz="1000" b="1" kern="0" dirty="0">
                <a:solidFill>
                  <a:srgbClr val="000000"/>
                </a:solidFill>
                <a:latin typeface="Arial"/>
              </a:rPr>
              <a:t>// Full test </a:t>
            </a:r>
          </a:p>
          <a:p>
            <a:pPr defTabSz="914400" fontAlgn="base">
              <a:spcBef>
                <a:spcPct val="0"/>
              </a:spcBef>
              <a:spcAft>
                <a:spcPct val="0"/>
              </a:spcAft>
              <a:defRPr/>
            </a:pPr>
            <a:r>
              <a:rPr lang="en-US" sz="1000" kern="0" dirty="0" err="1">
                <a:solidFill>
                  <a:srgbClr val="000000"/>
                </a:solidFill>
                <a:latin typeface="Arial"/>
              </a:rPr>
              <a:t>stream_full</a:t>
            </a:r>
            <a:r>
              <a:rPr lang="en-US" sz="1000" kern="0" dirty="0">
                <a:solidFill>
                  <a:srgbClr val="000000"/>
                </a:solidFill>
                <a:latin typeface="Arial"/>
              </a:rPr>
              <a:t> = </a:t>
            </a:r>
            <a:r>
              <a:rPr lang="en-US" sz="1000" kern="0" dirty="0" err="1">
                <a:solidFill>
                  <a:srgbClr val="000000"/>
                </a:solidFill>
                <a:latin typeface="Arial"/>
              </a:rPr>
              <a:t>my_stream.full</a:t>
            </a:r>
            <a:r>
              <a:rPr lang="en-US" sz="1000" kern="0" dirty="0">
                <a:solidFill>
                  <a:srgbClr val="000000"/>
                </a:solidFill>
                <a:latin typeface="Arial"/>
              </a:rPr>
              <a:t>();</a:t>
            </a:r>
          </a:p>
        </p:txBody>
      </p:sp>
      <p:sp>
        <p:nvSpPr>
          <p:cNvPr id="18" name="TextBox 17">
            <a:extLst>
              <a:ext uri="{FF2B5EF4-FFF2-40B4-BE49-F238E27FC236}">
                <a16:creationId xmlns:a16="http://schemas.microsoft.com/office/drawing/2014/main" id="{E059BCB5-AA61-4C5F-89E6-47448FC05922}"/>
              </a:ext>
            </a:extLst>
          </p:cNvPr>
          <p:cNvSpPr txBox="1"/>
          <p:nvPr/>
        </p:nvSpPr>
        <p:spPr>
          <a:xfrm>
            <a:off x="8160851" y="3128518"/>
            <a:ext cx="3345319" cy="2246769"/>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defRPr/>
            </a:pPr>
            <a:r>
              <a:rPr lang="en-US" sz="1000" kern="0" dirty="0" err="1">
                <a:solidFill>
                  <a:srgbClr val="000000"/>
                </a:solidFill>
                <a:latin typeface="Arial"/>
              </a:rPr>
              <a:t>hls</a:t>
            </a:r>
            <a:r>
              <a:rPr lang="en-US" sz="1000" kern="0" dirty="0">
                <a:solidFill>
                  <a:srgbClr val="000000"/>
                </a:solidFill>
                <a:latin typeface="Arial"/>
              </a:rPr>
              <a:t>::stream&lt;int&gt; </a:t>
            </a:r>
            <a:r>
              <a:rPr lang="en-US" sz="1000" kern="0" dirty="0" err="1">
                <a:solidFill>
                  <a:srgbClr val="000000"/>
                </a:solidFill>
                <a:latin typeface="Arial"/>
              </a:rPr>
              <a:t>my_stream</a:t>
            </a:r>
            <a:r>
              <a:rPr lang="en-US" sz="1000" kern="0" dirty="0">
                <a:solidFill>
                  <a:srgbClr val="000000"/>
                </a:solidFill>
                <a:latin typeface="Arial"/>
              </a:rPr>
              <a:t>;</a:t>
            </a:r>
          </a:p>
          <a:p>
            <a:pPr defTabSz="914400" fontAlgn="base">
              <a:spcBef>
                <a:spcPct val="0"/>
              </a:spcBef>
              <a:spcAft>
                <a:spcPct val="0"/>
              </a:spcAft>
              <a:defRPr/>
            </a:pPr>
            <a:endParaRPr lang="en-US" sz="1000" kern="0" dirty="0">
              <a:solidFill>
                <a:srgbClr val="000000"/>
              </a:solidFill>
              <a:latin typeface="Arial"/>
            </a:endParaRPr>
          </a:p>
          <a:p>
            <a:pPr defTabSz="914400" fontAlgn="base">
              <a:spcBef>
                <a:spcPct val="0"/>
              </a:spcBef>
              <a:spcAft>
                <a:spcPct val="0"/>
              </a:spcAft>
              <a:defRPr/>
            </a:pPr>
            <a:r>
              <a:rPr lang="en-US" sz="1000" kern="0" dirty="0">
                <a:solidFill>
                  <a:srgbClr val="000000"/>
                </a:solidFill>
                <a:latin typeface="Arial"/>
              </a:rPr>
              <a:t>int </a:t>
            </a:r>
            <a:r>
              <a:rPr lang="en-US" sz="1000" kern="0" dirty="0" err="1">
                <a:solidFill>
                  <a:srgbClr val="000000"/>
                </a:solidFill>
                <a:latin typeface="Arial"/>
              </a:rPr>
              <a:t>dst_var</a:t>
            </a:r>
            <a:r>
              <a:rPr lang="en-US" sz="1000" kern="0" dirty="0">
                <a:solidFill>
                  <a:srgbClr val="000000"/>
                </a:solidFill>
                <a:latin typeface="Arial"/>
              </a:rPr>
              <a:t>;</a:t>
            </a:r>
          </a:p>
          <a:p>
            <a:pPr defTabSz="914400" fontAlgn="base">
              <a:spcBef>
                <a:spcPct val="0"/>
              </a:spcBef>
              <a:spcAft>
                <a:spcPct val="0"/>
              </a:spcAft>
              <a:defRPr/>
            </a:pPr>
            <a:r>
              <a:rPr lang="en-US" sz="1000" kern="0" dirty="0">
                <a:solidFill>
                  <a:srgbClr val="000000"/>
                </a:solidFill>
                <a:latin typeface="Arial"/>
              </a:rPr>
              <a:t>bool </a:t>
            </a:r>
            <a:r>
              <a:rPr lang="en-US" sz="1000" kern="0" dirty="0" err="1">
                <a:solidFill>
                  <a:srgbClr val="000000"/>
                </a:solidFill>
                <a:latin typeface="Arial"/>
              </a:rPr>
              <a:t>stream_empty</a:t>
            </a:r>
            <a:r>
              <a:rPr lang="en-US" sz="1000" kern="0" dirty="0">
                <a:solidFill>
                  <a:srgbClr val="000000"/>
                </a:solidFill>
                <a:latin typeface="Arial"/>
              </a:rPr>
              <a:t>;</a:t>
            </a:r>
          </a:p>
          <a:p>
            <a:pPr defTabSz="914400" fontAlgn="base">
              <a:spcBef>
                <a:spcPct val="0"/>
              </a:spcBef>
              <a:spcAft>
                <a:spcPct val="0"/>
              </a:spcAft>
              <a:defRPr/>
            </a:pPr>
            <a:endParaRPr lang="en-US" sz="1000" kern="0" dirty="0">
              <a:solidFill>
                <a:srgbClr val="000000"/>
              </a:solidFill>
              <a:latin typeface="Arial"/>
            </a:endParaRPr>
          </a:p>
          <a:p>
            <a:pPr defTabSz="914400" fontAlgn="base">
              <a:spcBef>
                <a:spcPct val="0"/>
              </a:spcBef>
              <a:spcAft>
                <a:spcPct val="0"/>
              </a:spcAft>
              <a:defRPr/>
            </a:pPr>
            <a:r>
              <a:rPr lang="en-US" sz="1000" b="1" kern="0" dirty="0">
                <a:solidFill>
                  <a:srgbClr val="000000"/>
                </a:solidFill>
                <a:latin typeface="Arial"/>
              </a:rPr>
              <a:t>// Non-Blocking Read</a:t>
            </a:r>
          </a:p>
          <a:p>
            <a:pPr defTabSz="914400" fontAlgn="base">
              <a:spcBef>
                <a:spcPct val="0"/>
              </a:spcBef>
              <a:spcAft>
                <a:spcPct val="0"/>
              </a:spcAft>
              <a:defRPr/>
            </a:pPr>
            <a:r>
              <a:rPr lang="en-US" sz="1000" kern="0" dirty="0">
                <a:solidFill>
                  <a:srgbClr val="000000"/>
                </a:solidFill>
                <a:latin typeface="Arial"/>
              </a:rPr>
              <a:t>if (</a:t>
            </a:r>
            <a:r>
              <a:rPr lang="en-US" sz="1000" kern="0" dirty="0" err="1">
                <a:solidFill>
                  <a:srgbClr val="000000"/>
                </a:solidFill>
                <a:latin typeface="Arial"/>
              </a:rPr>
              <a:t>my_stream.read_nb</a:t>
            </a:r>
            <a:r>
              <a:rPr lang="en-US" sz="1000" kern="0" dirty="0">
                <a:solidFill>
                  <a:srgbClr val="000000"/>
                </a:solidFill>
                <a:latin typeface="Arial"/>
              </a:rPr>
              <a:t>(</a:t>
            </a:r>
            <a:r>
              <a:rPr lang="en-US" sz="1000" kern="0" dirty="0" err="1">
                <a:solidFill>
                  <a:srgbClr val="000000"/>
                </a:solidFill>
                <a:latin typeface="Arial"/>
              </a:rPr>
              <a:t>dst_var</a:t>
            </a:r>
            <a:r>
              <a:rPr lang="en-US" sz="1000" kern="0" dirty="0">
                <a:solidFill>
                  <a:srgbClr val="000000"/>
                </a:solidFill>
                <a:latin typeface="Arial"/>
              </a:rPr>
              <a:t>)) {</a:t>
            </a:r>
          </a:p>
          <a:p>
            <a:pPr defTabSz="914400" fontAlgn="base">
              <a:spcBef>
                <a:spcPct val="0"/>
              </a:spcBef>
              <a:spcAft>
                <a:spcPct val="0"/>
              </a:spcAft>
              <a:defRPr/>
            </a:pPr>
            <a:r>
              <a:rPr lang="en-US" sz="1000" kern="0" dirty="0">
                <a:solidFill>
                  <a:srgbClr val="000000"/>
                </a:solidFill>
                <a:latin typeface="Arial"/>
              </a:rPr>
              <a:t>       // Perform standard operations</a:t>
            </a:r>
          </a:p>
          <a:p>
            <a:pPr defTabSz="914400" fontAlgn="base">
              <a:spcBef>
                <a:spcPct val="0"/>
              </a:spcBef>
              <a:spcAft>
                <a:spcPct val="0"/>
              </a:spcAft>
              <a:defRPr/>
            </a:pPr>
            <a:r>
              <a:rPr lang="en-US" sz="1000" kern="0" dirty="0">
                <a:solidFill>
                  <a:srgbClr val="000000"/>
                </a:solidFill>
                <a:latin typeface="Arial"/>
              </a:rPr>
              <a:t>} else {</a:t>
            </a:r>
          </a:p>
          <a:p>
            <a:pPr defTabSz="914400" fontAlgn="base">
              <a:spcBef>
                <a:spcPct val="0"/>
              </a:spcBef>
              <a:spcAft>
                <a:spcPct val="0"/>
              </a:spcAft>
              <a:defRPr/>
            </a:pPr>
            <a:r>
              <a:rPr lang="en-US" sz="1000" kern="0" dirty="0">
                <a:solidFill>
                  <a:srgbClr val="000000"/>
                </a:solidFill>
                <a:latin typeface="Arial"/>
              </a:rPr>
              <a:t>        // Read did not happen</a:t>
            </a:r>
          </a:p>
          <a:p>
            <a:pPr defTabSz="914400" fontAlgn="base">
              <a:spcBef>
                <a:spcPct val="0"/>
              </a:spcBef>
              <a:spcAft>
                <a:spcPct val="0"/>
              </a:spcAft>
              <a:defRPr/>
            </a:pPr>
            <a:r>
              <a:rPr lang="en-US" sz="1000" kern="0" dirty="0">
                <a:solidFill>
                  <a:srgbClr val="000000"/>
                </a:solidFill>
                <a:latin typeface="Arial"/>
              </a:rPr>
              <a:t>}</a:t>
            </a:r>
          </a:p>
          <a:p>
            <a:pPr defTabSz="914400" fontAlgn="base">
              <a:spcBef>
                <a:spcPct val="0"/>
              </a:spcBef>
              <a:spcAft>
                <a:spcPct val="0"/>
              </a:spcAft>
              <a:defRPr/>
            </a:pPr>
            <a:endParaRPr lang="en-US" sz="1000" kern="0" dirty="0">
              <a:solidFill>
                <a:srgbClr val="000000"/>
              </a:solidFill>
              <a:latin typeface="Arial"/>
            </a:endParaRPr>
          </a:p>
          <a:p>
            <a:pPr defTabSz="914400" fontAlgn="base">
              <a:spcBef>
                <a:spcPct val="0"/>
              </a:spcBef>
              <a:spcAft>
                <a:spcPct val="0"/>
              </a:spcAft>
              <a:defRPr/>
            </a:pPr>
            <a:r>
              <a:rPr lang="en-US" sz="1000" b="1" kern="0" dirty="0">
                <a:solidFill>
                  <a:srgbClr val="000000"/>
                </a:solidFill>
                <a:latin typeface="Arial"/>
              </a:rPr>
              <a:t>// Empty test</a:t>
            </a:r>
          </a:p>
          <a:p>
            <a:pPr defTabSz="914400" fontAlgn="base">
              <a:spcBef>
                <a:spcPct val="0"/>
              </a:spcBef>
              <a:spcAft>
                <a:spcPct val="0"/>
              </a:spcAft>
              <a:defRPr/>
            </a:pPr>
            <a:r>
              <a:rPr lang="en-US" sz="1000" kern="0" dirty="0" err="1">
                <a:solidFill>
                  <a:srgbClr val="000000"/>
                </a:solidFill>
                <a:latin typeface="Arial"/>
              </a:rPr>
              <a:t>fifo_empty</a:t>
            </a:r>
            <a:r>
              <a:rPr lang="en-US" sz="1000" kern="0" dirty="0">
                <a:solidFill>
                  <a:srgbClr val="000000"/>
                </a:solidFill>
                <a:latin typeface="Arial"/>
              </a:rPr>
              <a:t> = </a:t>
            </a:r>
            <a:r>
              <a:rPr lang="en-US" sz="1000" kern="0" dirty="0" err="1">
                <a:solidFill>
                  <a:srgbClr val="000000"/>
                </a:solidFill>
                <a:latin typeface="Arial"/>
              </a:rPr>
              <a:t>my_stream.empty</a:t>
            </a:r>
            <a:r>
              <a:rPr lang="en-US" sz="1000" kern="0" dirty="0">
                <a:solidFill>
                  <a:srgbClr val="000000"/>
                </a:solidFill>
                <a:latin typeface="Arial"/>
              </a:rPr>
              <a:t>();</a:t>
            </a:r>
          </a:p>
        </p:txBody>
      </p:sp>
      <p:sp>
        <p:nvSpPr>
          <p:cNvPr id="19" name="TextBox 18">
            <a:extLst>
              <a:ext uri="{FF2B5EF4-FFF2-40B4-BE49-F238E27FC236}">
                <a16:creationId xmlns:a16="http://schemas.microsoft.com/office/drawing/2014/main" id="{C3A7AB5D-85B4-4E9B-A647-814CBC09C63A}"/>
              </a:ext>
            </a:extLst>
          </p:cNvPr>
          <p:cNvSpPr txBox="1"/>
          <p:nvPr/>
        </p:nvSpPr>
        <p:spPr>
          <a:xfrm>
            <a:off x="2137148" y="5375286"/>
            <a:ext cx="8685394" cy="738664"/>
          </a:xfrm>
          <a:prstGeom prst="rect">
            <a:avLst/>
          </a:prstGeom>
          <a:solidFill>
            <a:srgbClr val="8B8D09">
              <a:lumMod val="40000"/>
              <a:lumOff val="60000"/>
            </a:srgbClr>
          </a:solidFill>
          <a:ln>
            <a:solidFill>
              <a:srgbClr val="000000"/>
            </a:solidFill>
          </a:ln>
          <a:effectLst>
            <a:outerShdw blurRad="50800" dist="38100" dir="2700000" algn="tl" rotWithShape="0">
              <a:prstClr val="black">
                <a:alpha val="40000"/>
              </a:prstClr>
            </a:outerShdw>
          </a:effectLst>
        </p:spPr>
        <p:txBody>
          <a:bodyPr wrap="square" rtlCol="0">
            <a:spAutoFit/>
          </a:bodyPr>
          <a:lstStyle/>
          <a:p>
            <a:pPr algn="ctr" defTabSz="914400" fontAlgn="base">
              <a:spcBef>
                <a:spcPct val="0"/>
              </a:spcBef>
              <a:spcAft>
                <a:spcPct val="0"/>
              </a:spcAft>
              <a:defRPr/>
            </a:pPr>
            <a:r>
              <a:rPr lang="en-US" sz="1400" kern="0" dirty="0">
                <a:solidFill>
                  <a:srgbClr val="000000"/>
                </a:solidFill>
              </a:rPr>
              <a:t>Stream arrays and structs are not supported for RTL simulation at this time: must be verified manually.</a:t>
            </a:r>
          </a:p>
          <a:p>
            <a:pPr algn="ctr" defTabSz="914400" fontAlgn="base">
              <a:spcBef>
                <a:spcPct val="0"/>
              </a:spcBef>
              <a:spcAft>
                <a:spcPct val="0"/>
              </a:spcAft>
              <a:defRPr/>
            </a:pPr>
            <a:endParaRPr lang="en-US" sz="1400" kern="0" dirty="0">
              <a:solidFill>
                <a:srgbClr val="000000"/>
              </a:solidFill>
            </a:endParaRPr>
          </a:p>
          <a:p>
            <a:pPr algn="ctr" defTabSz="914400" fontAlgn="base">
              <a:spcBef>
                <a:spcPct val="0"/>
              </a:spcBef>
              <a:spcAft>
                <a:spcPct val="0"/>
              </a:spcAft>
              <a:defRPr/>
            </a:pPr>
            <a:r>
              <a:rPr lang="en-US" sz="1400" kern="0" dirty="0">
                <a:solidFill>
                  <a:srgbClr val="000000"/>
                </a:solidFill>
              </a:rPr>
              <a:t>e.g. </a:t>
            </a:r>
            <a:r>
              <a:rPr lang="en-US" sz="1400" kern="0" dirty="0" err="1">
                <a:solidFill>
                  <a:srgbClr val="000000"/>
                </a:solidFill>
              </a:rPr>
              <a:t>hls</a:t>
            </a:r>
            <a:r>
              <a:rPr lang="en-US" sz="1400" kern="0" dirty="0">
                <a:solidFill>
                  <a:srgbClr val="000000"/>
                </a:solidFill>
              </a:rPr>
              <a:t>::stream&lt;uint8_t&gt; </a:t>
            </a:r>
            <a:r>
              <a:rPr lang="en-US" sz="1400" kern="0" dirty="0" err="1">
                <a:solidFill>
                  <a:srgbClr val="000000"/>
                </a:solidFill>
              </a:rPr>
              <a:t>chan</a:t>
            </a:r>
            <a:r>
              <a:rPr lang="en-US" sz="1400" kern="0" dirty="0">
                <a:solidFill>
                  <a:srgbClr val="000000"/>
                </a:solidFill>
              </a:rPr>
              <a:t>[4])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Stream Example</a:t>
            </a:r>
          </a:p>
        </p:txBody>
      </p:sp>
      <p:sp>
        <p:nvSpPr>
          <p:cNvPr id="2" name="Content Placeholder 1"/>
          <p:cNvSpPr>
            <a:spLocks noGrp="1"/>
          </p:cNvSpPr>
          <p:nvPr>
            <p:ph idx="1"/>
          </p:nvPr>
        </p:nvSpPr>
        <p:spPr/>
        <p:txBody>
          <a:bodyPr/>
          <a:lstStyle/>
          <a:p>
            <a:r>
              <a:rPr lang="en-US" dirty="0"/>
              <a:t>Create using </a:t>
            </a:r>
            <a:r>
              <a:rPr lang="en-US" dirty="0" err="1"/>
              <a:t>hls</a:t>
            </a:r>
            <a:r>
              <a:rPr lang="en-US" dirty="0"/>
              <a:t>::stream or define the </a:t>
            </a:r>
            <a:r>
              <a:rPr lang="en-US" dirty="0" err="1"/>
              <a:t>hls</a:t>
            </a:r>
            <a:r>
              <a:rPr lang="en-US" dirty="0"/>
              <a:t> namespace</a:t>
            </a:r>
          </a:p>
          <a:p>
            <a:pPr lvl="1"/>
            <a:endParaRPr lang="en-US" dirty="0"/>
          </a:p>
          <a:p>
            <a:pPr lvl="1"/>
            <a:endParaRPr lang="en-US" dirty="0"/>
          </a:p>
          <a:p>
            <a:endParaRPr lang="en-US" dirty="0"/>
          </a:p>
          <a:p>
            <a:r>
              <a:rPr lang="en-US" dirty="0"/>
              <a:t>Blocking and Non-Block accesses supported</a:t>
            </a:r>
          </a:p>
          <a:p>
            <a:pPr lvl="1">
              <a:buNone/>
            </a:pPr>
            <a:endParaRPr lang="en-US" dirty="0"/>
          </a:p>
        </p:txBody>
      </p:sp>
      <p:sp>
        <p:nvSpPr>
          <p:cNvPr id="12" name="Slide Number Placeholder 11"/>
          <p:cNvSpPr>
            <a:spLocks noGrp="1"/>
          </p:cNvSpPr>
          <p:nvPr>
            <p:ph type="sldNum" sz="quarter" idx="10"/>
          </p:nvPr>
        </p:nvSpPr>
        <p:spPr/>
        <p:txBody>
          <a:bodyPr/>
          <a:lstStyle/>
          <a:p>
            <a:pPr defTabSz="914400">
              <a:defRPr/>
            </a:pPr>
            <a:r>
              <a:rPr lang="en-US" dirty="0">
                <a:solidFill>
                  <a:srgbClr val="0C0C0C">
                    <a:tint val="75000"/>
                  </a:srgbClr>
                </a:solidFill>
                <a:latin typeface="Arial"/>
              </a:rPr>
              <a:t>Coding Considerations 23- </a:t>
            </a:r>
            <a:fld id="{060BD193-E118-4B16-863C-C8C12C675E3E}" type="slidenum">
              <a:rPr lang="en-US">
                <a:solidFill>
                  <a:srgbClr val="0C0C0C">
                    <a:tint val="75000"/>
                  </a:srgbClr>
                </a:solidFill>
                <a:latin typeface="Arial"/>
              </a:rPr>
              <a:pPr defTabSz="914400">
                <a:defRPr/>
              </a:pPr>
              <a:t>62</a:t>
            </a:fld>
            <a:endParaRPr lang="en-US" dirty="0">
              <a:solidFill>
                <a:srgbClr val="0C0C0C">
                  <a:tint val="75000"/>
                </a:srgbClr>
              </a:solidFill>
              <a:latin typeface="Arial"/>
            </a:endParaRPr>
          </a:p>
        </p:txBody>
      </p:sp>
      <p:sp>
        <p:nvSpPr>
          <p:cNvPr id="13" name="TextBox 12">
            <a:extLst>
              <a:ext uri="{FF2B5EF4-FFF2-40B4-BE49-F238E27FC236}">
                <a16:creationId xmlns:a16="http://schemas.microsoft.com/office/drawing/2014/main" id="{BB73CB2D-1010-477E-B58E-6A2ACCF7DEC8}"/>
              </a:ext>
            </a:extLst>
          </p:cNvPr>
          <p:cNvSpPr txBox="1"/>
          <p:nvPr/>
        </p:nvSpPr>
        <p:spPr>
          <a:xfrm>
            <a:off x="893214" y="1837655"/>
            <a:ext cx="4747175" cy="1169551"/>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defRPr/>
            </a:pPr>
            <a:r>
              <a:rPr lang="en-US" sz="1000" kern="0" dirty="0">
                <a:solidFill>
                  <a:srgbClr val="000000"/>
                </a:solidFill>
                <a:latin typeface="Arial"/>
              </a:rPr>
              <a:t>#include &lt;ap_int.h&gt;</a:t>
            </a:r>
          </a:p>
          <a:p>
            <a:pPr defTabSz="914400" fontAlgn="base">
              <a:spcBef>
                <a:spcPct val="0"/>
              </a:spcBef>
              <a:spcAft>
                <a:spcPct val="0"/>
              </a:spcAft>
              <a:defRPr/>
            </a:pPr>
            <a:r>
              <a:rPr lang="en-US" sz="1000" kern="0" dirty="0">
                <a:solidFill>
                  <a:srgbClr val="000000"/>
                </a:solidFill>
                <a:latin typeface="Arial"/>
              </a:rPr>
              <a:t>#include &lt;</a:t>
            </a:r>
            <a:r>
              <a:rPr lang="en-US" sz="1000" kern="0" dirty="0" err="1">
                <a:solidFill>
                  <a:srgbClr val="000000"/>
                </a:solidFill>
                <a:latin typeface="Arial"/>
              </a:rPr>
              <a:t>hls_stream.h</a:t>
            </a:r>
            <a:r>
              <a:rPr lang="en-US" sz="1000" kern="0" dirty="0">
                <a:solidFill>
                  <a:srgbClr val="000000"/>
                </a:solidFill>
                <a:latin typeface="Arial"/>
              </a:rPr>
              <a:t>&gt;</a:t>
            </a:r>
          </a:p>
          <a:p>
            <a:pPr defTabSz="914400" fontAlgn="base">
              <a:spcBef>
                <a:spcPct val="0"/>
              </a:spcBef>
              <a:spcAft>
                <a:spcPct val="0"/>
              </a:spcAft>
              <a:defRPr/>
            </a:pPr>
            <a:endParaRPr lang="en-US" sz="1000" kern="0" dirty="0">
              <a:solidFill>
                <a:srgbClr val="000000"/>
              </a:solidFill>
              <a:latin typeface="Arial"/>
            </a:endParaRPr>
          </a:p>
          <a:p>
            <a:pPr defTabSz="914400" fontAlgn="base">
              <a:spcBef>
                <a:spcPct val="0"/>
              </a:spcBef>
              <a:spcAft>
                <a:spcPct val="0"/>
              </a:spcAft>
              <a:defRPr/>
            </a:pPr>
            <a:endParaRPr lang="en-US" sz="1000" kern="0" dirty="0">
              <a:solidFill>
                <a:srgbClr val="000000"/>
              </a:solidFill>
              <a:latin typeface="Arial"/>
            </a:endParaRPr>
          </a:p>
          <a:p>
            <a:pPr defTabSz="914400" fontAlgn="base">
              <a:spcBef>
                <a:spcPct val="0"/>
              </a:spcBef>
              <a:spcAft>
                <a:spcPct val="0"/>
              </a:spcAft>
              <a:defRPr/>
            </a:pPr>
            <a:r>
              <a:rPr lang="en-US" sz="1000" kern="0" dirty="0">
                <a:solidFill>
                  <a:srgbClr val="000000"/>
                </a:solidFill>
                <a:latin typeface="Arial"/>
              </a:rPr>
              <a:t>typedef </a:t>
            </a:r>
            <a:r>
              <a:rPr lang="en-US" sz="1000" kern="0" dirty="0" err="1">
                <a:solidFill>
                  <a:srgbClr val="000000"/>
                </a:solidFill>
                <a:latin typeface="Arial"/>
              </a:rPr>
              <a:t>ap_uint</a:t>
            </a:r>
            <a:r>
              <a:rPr lang="en-US" sz="1000" kern="0" dirty="0">
                <a:solidFill>
                  <a:srgbClr val="000000"/>
                </a:solidFill>
                <a:latin typeface="Arial"/>
              </a:rPr>
              <a:t>&lt;128&gt; uint128_t;                    // 128-bit user defined type</a:t>
            </a:r>
          </a:p>
          <a:p>
            <a:pPr defTabSz="914400" fontAlgn="base">
              <a:spcBef>
                <a:spcPct val="0"/>
              </a:spcBef>
              <a:spcAft>
                <a:spcPct val="0"/>
              </a:spcAft>
              <a:defRPr/>
            </a:pPr>
            <a:endParaRPr lang="en-US" sz="1000" kern="0" dirty="0">
              <a:solidFill>
                <a:srgbClr val="000000"/>
              </a:solidFill>
              <a:latin typeface="Arial"/>
            </a:endParaRPr>
          </a:p>
          <a:p>
            <a:pPr defTabSz="914400" fontAlgn="base">
              <a:spcBef>
                <a:spcPct val="0"/>
              </a:spcBef>
              <a:spcAft>
                <a:spcPct val="0"/>
              </a:spcAft>
              <a:defRPr/>
            </a:pPr>
            <a:r>
              <a:rPr lang="en-US" sz="1000" kern="0" dirty="0" err="1">
                <a:solidFill>
                  <a:srgbClr val="000000"/>
                </a:solidFill>
                <a:latin typeface="Arial"/>
              </a:rPr>
              <a:t>hls</a:t>
            </a:r>
            <a:r>
              <a:rPr lang="en-US" sz="1000" kern="0" dirty="0">
                <a:solidFill>
                  <a:srgbClr val="000000"/>
                </a:solidFill>
                <a:latin typeface="Arial"/>
              </a:rPr>
              <a:t>::stream&lt;uint128_t&gt; </a:t>
            </a:r>
            <a:r>
              <a:rPr lang="en-US" sz="1000" kern="0" dirty="0" err="1">
                <a:solidFill>
                  <a:srgbClr val="000000"/>
                </a:solidFill>
                <a:latin typeface="Arial"/>
              </a:rPr>
              <a:t>my_wide_stream</a:t>
            </a:r>
            <a:r>
              <a:rPr lang="en-US" sz="1000" kern="0" dirty="0">
                <a:solidFill>
                  <a:srgbClr val="000000"/>
                </a:solidFill>
                <a:latin typeface="Arial"/>
              </a:rPr>
              <a:t>;    // A stream declaration</a:t>
            </a:r>
            <a:endParaRPr lang="en-US" sz="1000" b="1" kern="0" dirty="0">
              <a:solidFill>
                <a:srgbClr val="000000"/>
              </a:solidFill>
              <a:latin typeface="Arial"/>
            </a:endParaRPr>
          </a:p>
        </p:txBody>
      </p:sp>
      <p:sp>
        <p:nvSpPr>
          <p:cNvPr id="14" name="TextBox 13">
            <a:extLst>
              <a:ext uri="{FF2B5EF4-FFF2-40B4-BE49-F238E27FC236}">
                <a16:creationId xmlns:a16="http://schemas.microsoft.com/office/drawing/2014/main" id="{315A7B64-4DD6-4635-B96E-C3F9855A5532}"/>
              </a:ext>
            </a:extLst>
          </p:cNvPr>
          <p:cNvSpPr txBox="1"/>
          <p:nvPr/>
        </p:nvSpPr>
        <p:spPr>
          <a:xfrm>
            <a:off x="6479847" y="1823801"/>
            <a:ext cx="4942216" cy="1169551"/>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defRPr/>
            </a:pPr>
            <a:r>
              <a:rPr lang="en-US" sz="1000" kern="0" dirty="0">
                <a:solidFill>
                  <a:srgbClr val="000000"/>
                </a:solidFill>
                <a:latin typeface="Arial"/>
              </a:rPr>
              <a:t>#include &lt;ap_int.h&gt;</a:t>
            </a:r>
          </a:p>
          <a:p>
            <a:pPr defTabSz="914400" fontAlgn="base">
              <a:spcBef>
                <a:spcPct val="0"/>
              </a:spcBef>
              <a:spcAft>
                <a:spcPct val="0"/>
              </a:spcAft>
              <a:defRPr/>
            </a:pPr>
            <a:r>
              <a:rPr lang="en-US" sz="1000" kern="0" dirty="0">
                <a:solidFill>
                  <a:srgbClr val="000000"/>
                </a:solidFill>
                <a:latin typeface="Arial"/>
              </a:rPr>
              <a:t>#include &lt;</a:t>
            </a:r>
            <a:r>
              <a:rPr lang="en-US" sz="1000" kern="0" dirty="0" err="1">
                <a:solidFill>
                  <a:srgbClr val="000000"/>
                </a:solidFill>
                <a:latin typeface="Arial"/>
              </a:rPr>
              <a:t>hls_stream.h</a:t>
            </a:r>
            <a:r>
              <a:rPr lang="en-US" sz="1000" kern="0" dirty="0">
                <a:solidFill>
                  <a:srgbClr val="000000"/>
                </a:solidFill>
                <a:latin typeface="Arial"/>
              </a:rPr>
              <a:t>&gt;</a:t>
            </a:r>
          </a:p>
          <a:p>
            <a:pPr defTabSz="914400" fontAlgn="base">
              <a:spcBef>
                <a:spcPct val="0"/>
              </a:spcBef>
              <a:spcAft>
                <a:spcPct val="0"/>
              </a:spcAft>
              <a:defRPr/>
            </a:pPr>
            <a:r>
              <a:rPr lang="en-US" sz="1000" kern="0" dirty="0">
                <a:solidFill>
                  <a:srgbClr val="000000"/>
                </a:solidFill>
                <a:latin typeface="Arial"/>
              </a:rPr>
              <a:t>using namespace </a:t>
            </a:r>
            <a:r>
              <a:rPr lang="en-US" sz="1000" kern="0" dirty="0" err="1">
                <a:solidFill>
                  <a:srgbClr val="000000"/>
                </a:solidFill>
                <a:latin typeface="Arial"/>
              </a:rPr>
              <a:t>hls</a:t>
            </a:r>
            <a:r>
              <a:rPr lang="en-US" sz="1000" kern="0" dirty="0">
                <a:solidFill>
                  <a:srgbClr val="000000"/>
                </a:solidFill>
                <a:latin typeface="Arial"/>
              </a:rPr>
              <a:t>;                            // Use </a:t>
            </a:r>
            <a:r>
              <a:rPr lang="en-US" sz="1000" kern="0" dirty="0" err="1">
                <a:solidFill>
                  <a:srgbClr val="000000"/>
                </a:solidFill>
                <a:latin typeface="Arial"/>
              </a:rPr>
              <a:t>hls</a:t>
            </a:r>
            <a:r>
              <a:rPr lang="en-US" sz="1000" kern="0" dirty="0">
                <a:solidFill>
                  <a:srgbClr val="000000"/>
                </a:solidFill>
                <a:latin typeface="Arial"/>
              </a:rPr>
              <a:t> namespace</a:t>
            </a:r>
          </a:p>
          <a:p>
            <a:pPr defTabSz="914400" fontAlgn="base">
              <a:spcBef>
                <a:spcPct val="0"/>
              </a:spcBef>
              <a:spcAft>
                <a:spcPct val="0"/>
              </a:spcAft>
              <a:defRPr/>
            </a:pPr>
            <a:endParaRPr lang="en-US" sz="1000" kern="0" dirty="0">
              <a:solidFill>
                <a:srgbClr val="000000"/>
              </a:solidFill>
              <a:latin typeface="Arial"/>
            </a:endParaRPr>
          </a:p>
          <a:p>
            <a:pPr defTabSz="914400" fontAlgn="base">
              <a:spcBef>
                <a:spcPct val="0"/>
              </a:spcBef>
              <a:spcAft>
                <a:spcPct val="0"/>
              </a:spcAft>
              <a:defRPr/>
            </a:pPr>
            <a:r>
              <a:rPr lang="en-US" sz="1000" kern="0" dirty="0">
                <a:solidFill>
                  <a:srgbClr val="000000"/>
                </a:solidFill>
                <a:latin typeface="Arial"/>
              </a:rPr>
              <a:t>typedef </a:t>
            </a:r>
            <a:r>
              <a:rPr lang="en-US" sz="1000" kern="0" dirty="0" err="1">
                <a:solidFill>
                  <a:srgbClr val="000000"/>
                </a:solidFill>
                <a:latin typeface="Arial"/>
              </a:rPr>
              <a:t>ap_uint</a:t>
            </a:r>
            <a:r>
              <a:rPr lang="en-US" sz="1000" kern="0" dirty="0">
                <a:solidFill>
                  <a:srgbClr val="000000"/>
                </a:solidFill>
                <a:latin typeface="Arial"/>
              </a:rPr>
              <a:t>&lt;128&gt; uint128_t;            // 128-bit user defined type</a:t>
            </a:r>
          </a:p>
          <a:p>
            <a:pPr defTabSz="914400" fontAlgn="base">
              <a:spcBef>
                <a:spcPct val="0"/>
              </a:spcBef>
              <a:spcAft>
                <a:spcPct val="0"/>
              </a:spcAft>
              <a:defRPr/>
            </a:pPr>
            <a:endParaRPr lang="en-US" sz="1000" kern="0" dirty="0">
              <a:solidFill>
                <a:srgbClr val="000000"/>
              </a:solidFill>
              <a:latin typeface="Arial"/>
            </a:endParaRPr>
          </a:p>
          <a:p>
            <a:pPr defTabSz="914400" fontAlgn="base">
              <a:spcBef>
                <a:spcPct val="0"/>
              </a:spcBef>
              <a:spcAft>
                <a:spcPct val="0"/>
              </a:spcAft>
              <a:defRPr/>
            </a:pPr>
            <a:r>
              <a:rPr lang="en-US" sz="1000" kern="0" dirty="0">
                <a:solidFill>
                  <a:srgbClr val="000000"/>
                </a:solidFill>
                <a:latin typeface="Arial"/>
              </a:rPr>
              <a:t>stream&lt;uint128_t&gt; </a:t>
            </a:r>
            <a:r>
              <a:rPr lang="en-US" sz="1000" kern="0" dirty="0" err="1">
                <a:solidFill>
                  <a:srgbClr val="000000"/>
                </a:solidFill>
                <a:latin typeface="Arial"/>
              </a:rPr>
              <a:t>my_wide_stream</a:t>
            </a:r>
            <a:r>
              <a:rPr lang="en-US" sz="1000" kern="0" dirty="0">
                <a:solidFill>
                  <a:srgbClr val="000000"/>
                </a:solidFill>
                <a:latin typeface="Arial"/>
              </a:rPr>
              <a:t>;    // </a:t>
            </a:r>
            <a:r>
              <a:rPr lang="en-US" sz="1000" kern="0" dirty="0" err="1">
                <a:solidFill>
                  <a:srgbClr val="000000"/>
                </a:solidFill>
                <a:latin typeface="Arial"/>
              </a:rPr>
              <a:t>hls</a:t>
            </a:r>
            <a:r>
              <a:rPr lang="en-US" sz="1000" kern="0" dirty="0">
                <a:solidFill>
                  <a:srgbClr val="000000"/>
                </a:solidFill>
                <a:latin typeface="Arial"/>
              </a:rPr>
              <a:t>:: no longer required</a:t>
            </a:r>
            <a:endParaRPr lang="en-US" sz="1000" b="1" kern="0" dirty="0">
              <a:solidFill>
                <a:srgbClr val="000000"/>
              </a:solidFill>
              <a:latin typeface="Arial"/>
            </a:endParaRPr>
          </a:p>
        </p:txBody>
      </p:sp>
      <p:sp>
        <p:nvSpPr>
          <p:cNvPr id="15" name="TextBox 14">
            <a:extLst>
              <a:ext uri="{FF2B5EF4-FFF2-40B4-BE49-F238E27FC236}">
                <a16:creationId xmlns:a16="http://schemas.microsoft.com/office/drawing/2014/main" id="{38EEDA55-1D01-4026-8387-4DEBFB5D8507}"/>
              </a:ext>
            </a:extLst>
          </p:cNvPr>
          <p:cNvSpPr txBox="1"/>
          <p:nvPr/>
        </p:nvSpPr>
        <p:spPr>
          <a:xfrm>
            <a:off x="876876" y="3490385"/>
            <a:ext cx="3643418" cy="1015663"/>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defRPr/>
            </a:pPr>
            <a:r>
              <a:rPr lang="en-US" sz="1000" b="1" kern="0" dirty="0">
                <a:solidFill>
                  <a:srgbClr val="000000"/>
                </a:solidFill>
                <a:latin typeface="Arial"/>
              </a:rPr>
              <a:t>// Blocking Write</a:t>
            </a:r>
          </a:p>
          <a:p>
            <a:pPr defTabSz="914400" fontAlgn="base">
              <a:spcBef>
                <a:spcPct val="0"/>
              </a:spcBef>
              <a:spcAft>
                <a:spcPct val="0"/>
              </a:spcAft>
              <a:defRPr/>
            </a:pPr>
            <a:r>
              <a:rPr lang="en-US" sz="1000" kern="0" dirty="0" err="1">
                <a:solidFill>
                  <a:srgbClr val="000000"/>
                </a:solidFill>
                <a:latin typeface="Arial"/>
              </a:rPr>
              <a:t>hls</a:t>
            </a:r>
            <a:r>
              <a:rPr lang="en-US" sz="1000" kern="0" dirty="0">
                <a:solidFill>
                  <a:srgbClr val="000000"/>
                </a:solidFill>
                <a:latin typeface="Arial"/>
              </a:rPr>
              <a:t>::stream&lt;int&gt; </a:t>
            </a:r>
            <a:r>
              <a:rPr lang="en-US" sz="1000" kern="0" dirty="0" err="1">
                <a:solidFill>
                  <a:srgbClr val="000000"/>
                </a:solidFill>
                <a:latin typeface="Arial"/>
              </a:rPr>
              <a:t>my_stream</a:t>
            </a:r>
            <a:r>
              <a:rPr lang="en-US" sz="1000" kern="0" dirty="0">
                <a:solidFill>
                  <a:srgbClr val="000000"/>
                </a:solidFill>
                <a:latin typeface="Arial"/>
              </a:rPr>
              <a:t>;</a:t>
            </a:r>
          </a:p>
          <a:p>
            <a:pPr defTabSz="914400" fontAlgn="base">
              <a:spcBef>
                <a:spcPct val="0"/>
              </a:spcBef>
              <a:spcAft>
                <a:spcPct val="0"/>
              </a:spcAft>
              <a:defRPr/>
            </a:pPr>
            <a:endParaRPr lang="en-US" sz="1000" kern="0" dirty="0">
              <a:solidFill>
                <a:srgbClr val="000000"/>
              </a:solidFill>
              <a:latin typeface="Arial"/>
            </a:endParaRPr>
          </a:p>
          <a:p>
            <a:pPr defTabSz="914400" fontAlgn="base">
              <a:spcBef>
                <a:spcPct val="0"/>
              </a:spcBef>
              <a:spcAft>
                <a:spcPct val="0"/>
              </a:spcAft>
              <a:defRPr/>
            </a:pPr>
            <a:r>
              <a:rPr lang="en-US" sz="1000" kern="0" dirty="0">
                <a:solidFill>
                  <a:srgbClr val="000000"/>
                </a:solidFill>
                <a:latin typeface="Arial"/>
              </a:rPr>
              <a:t>int </a:t>
            </a:r>
            <a:r>
              <a:rPr lang="en-US" sz="1000" kern="0" dirty="0" err="1">
                <a:solidFill>
                  <a:srgbClr val="000000"/>
                </a:solidFill>
                <a:latin typeface="Arial"/>
              </a:rPr>
              <a:t>src_var</a:t>
            </a:r>
            <a:r>
              <a:rPr lang="en-US" sz="1000" kern="0" dirty="0">
                <a:solidFill>
                  <a:srgbClr val="000000"/>
                </a:solidFill>
                <a:latin typeface="Arial"/>
              </a:rPr>
              <a:t> = 42;</a:t>
            </a:r>
          </a:p>
          <a:p>
            <a:pPr defTabSz="914400" fontAlgn="base">
              <a:spcBef>
                <a:spcPct val="0"/>
              </a:spcBef>
              <a:spcAft>
                <a:spcPct val="0"/>
              </a:spcAft>
              <a:defRPr/>
            </a:pPr>
            <a:r>
              <a:rPr lang="en-US" sz="1000" kern="0" dirty="0" err="1">
                <a:solidFill>
                  <a:srgbClr val="000000"/>
                </a:solidFill>
                <a:latin typeface="Arial"/>
              </a:rPr>
              <a:t>my_stream.write</a:t>
            </a:r>
            <a:r>
              <a:rPr lang="en-US" sz="1000" kern="0" dirty="0">
                <a:solidFill>
                  <a:srgbClr val="000000"/>
                </a:solidFill>
                <a:latin typeface="Arial"/>
              </a:rPr>
              <a:t>(</a:t>
            </a:r>
            <a:r>
              <a:rPr lang="en-US" sz="1000" kern="0" dirty="0" err="1">
                <a:solidFill>
                  <a:srgbClr val="000000"/>
                </a:solidFill>
                <a:latin typeface="Arial"/>
              </a:rPr>
              <a:t>src_var</a:t>
            </a:r>
            <a:r>
              <a:rPr lang="en-US" sz="1000" kern="0" dirty="0">
                <a:solidFill>
                  <a:srgbClr val="000000"/>
                </a:solidFill>
                <a:latin typeface="Arial"/>
              </a:rPr>
              <a:t>);</a:t>
            </a:r>
          </a:p>
          <a:p>
            <a:pPr defTabSz="914400" fontAlgn="base">
              <a:spcBef>
                <a:spcPct val="0"/>
              </a:spcBef>
              <a:spcAft>
                <a:spcPct val="0"/>
              </a:spcAft>
              <a:defRPr/>
            </a:pPr>
            <a:r>
              <a:rPr lang="en-US" sz="1000" b="1" kern="0" dirty="0">
                <a:solidFill>
                  <a:srgbClr val="000000"/>
                </a:solidFill>
                <a:latin typeface="Arial"/>
              </a:rPr>
              <a:t>// OR use:  </a:t>
            </a:r>
            <a:r>
              <a:rPr lang="en-US" sz="1000" kern="0" dirty="0" err="1">
                <a:solidFill>
                  <a:srgbClr val="000000"/>
                </a:solidFill>
                <a:latin typeface="Arial"/>
              </a:rPr>
              <a:t>my_stream</a:t>
            </a:r>
            <a:r>
              <a:rPr lang="en-US" sz="1000" kern="0" dirty="0">
                <a:solidFill>
                  <a:srgbClr val="000000"/>
                </a:solidFill>
                <a:latin typeface="Arial"/>
              </a:rPr>
              <a:t> &lt;&lt; </a:t>
            </a:r>
            <a:r>
              <a:rPr lang="en-US" sz="1000" kern="0" dirty="0" err="1">
                <a:solidFill>
                  <a:srgbClr val="000000"/>
                </a:solidFill>
                <a:latin typeface="Arial"/>
              </a:rPr>
              <a:t>src_var</a:t>
            </a:r>
            <a:r>
              <a:rPr lang="en-US" sz="1000" kern="0" dirty="0">
                <a:solidFill>
                  <a:srgbClr val="000000"/>
                </a:solidFill>
                <a:latin typeface="Arial"/>
              </a:rPr>
              <a:t>;</a:t>
            </a:r>
            <a:endParaRPr lang="en-US" sz="1000" b="1" kern="0" dirty="0">
              <a:solidFill>
                <a:srgbClr val="000000"/>
              </a:solidFill>
              <a:latin typeface="Arial"/>
            </a:endParaRPr>
          </a:p>
        </p:txBody>
      </p:sp>
      <p:sp>
        <p:nvSpPr>
          <p:cNvPr id="16" name="TextBox 15">
            <a:extLst>
              <a:ext uri="{FF2B5EF4-FFF2-40B4-BE49-F238E27FC236}">
                <a16:creationId xmlns:a16="http://schemas.microsoft.com/office/drawing/2014/main" id="{23EA21E4-76B3-4830-865F-404AACB7F4FC}"/>
              </a:ext>
            </a:extLst>
          </p:cNvPr>
          <p:cNvSpPr txBox="1"/>
          <p:nvPr/>
        </p:nvSpPr>
        <p:spPr>
          <a:xfrm>
            <a:off x="890073" y="4664035"/>
            <a:ext cx="3643418" cy="1015663"/>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defRPr/>
            </a:pPr>
            <a:r>
              <a:rPr lang="en-US" sz="1000" b="1" kern="0" dirty="0">
                <a:solidFill>
                  <a:srgbClr val="000000"/>
                </a:solidFill>
                <a:latin typeface="Arial"/>
              </a:rPr>
              <a:t>// Blocking Read</a:t>
            </a:r>
          </a:p>
          <a:p>
            <a:pPr defTabSz="914400" fontAlgn="base">
              <a:spcBef>
                <a:spcPct val="0"/>
              </a:spcBef>
              <a:spcAft>
                <a:spcPct val="0"/>
              </a:spcAft>
              <a:defRPr/>
            </a:pPr>
            <a:r>
              <a:rPr lang="en-US" sz="1000" kern="0" dirty="0" err="1">
                <a:solidFill>
                  <a:srgbClr val="000000"/>
                </a:solidFill>
                <a:latin typeface="Arial"/>
              </a:rPr>
              <a:t>hls</a:t>
            </a:r>
            <a:r>
              <a:rPr lang="en-US" sz="1000" kern="0" dirty="0">
                <a:solidFill>
                  <a:srgbClr val="000000"/>
                </a:solidFill>
                <a:latin typeface="Arial"/>
              </a:rPr>
              <a:t>::stream&lt;int&gt; </a:t>
            </a:r>
            <a:r>
              <a:rPr lang="en-US" sz="1000" kern="0" dirty="0" err="1">
                <a:solidFill>
                  <a:srgbClr val="000000"/>
                </a:solidFill>
                <a:latin typeface="Arial"/>
              </a:rPr>
              <a:t>my_stream</a:t>
            </a:r>
            <a:r>
              <a:rPr lang="en-US" sz="1000" kern="0" dirty="0">
                <a:solidFill>
                  <a:srgbClr val="000000"/>
                </a:solidFill>
                <a:latin typeface="Arial"/>
              </a:rPr>
              <a:t>;</a:t>
            </a:r>
          </a:p>
          <a:p>
            <a:pPr defTabSz="914400" fontAlgn="base">
              <a:spcBef>
                <a:spcPct val="0"/>
              </a:spcBef>
              <a:spcAft>
                <a:spcPct val="0"/>
              </a:spcAft>
              <a:defRPr/>
            </a:pPr>
            <a:endParaRPr lang="en-US" sz="1000" kern="0" dirty="0">
              <a:solidFill>
                <a:srgbClr val="000000"/>
              </a:solidFill>
              <a:latin typeface="Arial"/>
            </a:endParaRPr>
          </a:p>
          <a:p>
            <a:pPr defTabSz="914400" fontAlgn="base">
              <a:spcBef>
                <a:spcPct val="0"/>
              </a:spcBef>
              <a:spcAft>
                <a:spcPct val="0"/>
              </a:spcAft>
              <a:defRPr/>
            </a:pPr>
            <a:r>
              <a:rPr lang="en-US" sz="1000" kern="0" dirty="0">
                <a:solidFill>
                  <a:srgbClr val="000000"/>
                </a:solidFill>
                <a:latin typeface="Arial"/>
              </a:rPr>
              <a:t>int </a:t>
            </a:r>
            <a:r>
              <a:rPr lang="en-US" sz="1000" kern="0" dirty="0" err="1">
                <a:solidFill>
                  <a:srgbClr val="000000"/>
                </a:solidFill>
                <a:latin typeface="Arial"/>
              </a:rPr>
              <a:t>dst_var</a:t>
            </a:r>
            <a:r>
              <a:rPr lang="en-US" sz="1000" kern="0" dirty="0">
                <a:solidFill>
                  <a:srgbClr val="000000"/>
                </a:solidFill>
                <a:latin typeface="Arial"/>
              </a:rPr>
              <a:t>;</a:t>
            </a:r>
          </a:p>
          <a:p>
            <a:pPr defTabSz="914400" fontAlgn="base">
              <a:spcBef>
                <a:spcPct val="0"/>
              </a:spcBef>
              <a:spcAft>
                <a:spcPct val="0"/>
              </a:spcAft>
              <a:defRPr/>
            </a:pPr>
            <a:r>
              <a:rPr lang="en-US" sz="1000" kern="0" dirty="0" err="1">
                <a:solidFill>
                  <a:srgbClr val="000000"/>
                </a:solidFill>
                <a:latin typeface="Arial"/>
              </a:rPr>
              <a:t>my_stream.read</a:t>
            </a:r>
            <a:r>
              <a:rPr lang="en-US" sz="1000" kern="0" dirty="0">
                <a:solidFill>
                  <a:srgbClr val="000000"/>
                </a:solidFill>
                <a:latin typeface="Arial"/>
              </a:rPr>
              <a:t>(</a:t>
            </a:r>
            <a:r>
              <a:rPr lang="en-US" sz="1000" kern="0" dirty="0" err="1">
                <a:solidFill>
                  <a:srgbClr val="000000"/>
                </a:solidFill>
                <a:latin typeface="Arial"/>
              </a:rPr>
              <a:t>dst_var</a:t>
            </a:r>
            <a:r>
              <a:rPr lang="en-US" sz="1000" kern="0" dirty="0">
                <a:solidFill>
                  <a:srgbClr val="000000"/>
                </a:solidFill>
                <a:latin typeface="Arial"/>
              </a:rPr>
              <a:t>);</a:t>
            </a:r>
          </a:p>
          <a:p>
            <a:pPr defTabSz="914400" fontAlgn="base">
              <a:spcBef>
                <a:spcPct val="0"/>
              </a:spcBef>
              <a:spcAft>
                <a:spcPct val="0"/>
              </a:spcAft>
              <a:defRPr/>
            </a:pPr>
            <a:r>
              <a:rPr lang="en-US" sz="1000" b="1" kern="0" dirty="0">
                <a:solidFill>
                  <a:srgbClr val="000000"/>
                </a:solidFill>
                <a:latin typeface="Arial"/>
              </a:rPr>
              <a:t>// OR use: </a:t>
            </a:r>
            <a:r>
              <a:rPr lang="en-US" sz="1000" kern="0" dirty="0" err="1">
                <a:solidFill>
                  <a:srgbClr val="000000"/>
                </a:solidFill>
                <a:latin typeface="Arial"/>
              </a:rPr>
              <a:t>dst_var</a:t>
            </a:r>
            <a:r>
              <a:rPr lang="en-US" sz="1000" kern="0" dirty="0">
                <a:solidFill>
                  <a:srgbClr val="000000"/>
                </a:solidFill>
                <a:latin typeface="Arial"/>
              </a:rPr>
              <a:t> = </a:t>
            </a:r>
            <a:r>
              <a:rPr lang="en-US" sz="1000" kern="0" dirty="0" err="1">
                <a:solidFill>
                  <a:srgbClr val="000000"/>
                </a:solidFill>
                <a:latin typeface="Arial"/>
              </a:rPr>
              <a:t>my_stream.read</a:t>
            </a:r>
            <a:r>
              <a:rPr lang="en-US" sz="1000" kern="0" dirty="0">
                <a:solidFill>
                  <a:srgbClr val="000000"/>
                </a:solidFill>
                <a:latin typeface="Arial"/>
              </a:rPr>
              <a:t>();</a:t>
            </a:r>
            <a:endParaRPr lang="en-US" sz="1000" b="1" kern="0" dirty="0">
              <a:solidFill>
                <a:srgbClr val="000000"/>
              </a:solidFill>
              <a:latin typeface="Arial"/>
            </a:endParaRPr>
          </a:p>
        </p:txBody>
      </p:sp>
      <p:sp>
        <p:nvSpPr>
          <p:cNvPr id="17" name="TextBox 16">
            <a:extLst>
              <a:ext uri="{FF2B5EF4-FFF2-40B4-BE49-F238E27FC236}">
                <a16:creationId xmlns:a16="http://schemas.microsoft.com/office/drawing/2014/main" id="{28592266-ECA1-4484-B4E8-52E7778E4EC9}"/>
              </a:ext>
            </a:extLst>
          </p:cNvPr>
          <p:cNvSpPr txBox="1"/>
          <p:nvPr/>
        </p:nvSpPr>
        <p:spPr>
          <a:xfrm>
            <a:off x="4713560" y="3476530"/>
            <a:ext cx="3345319" cy="2246769"/>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defRPr/>
            </a:pPr>
            <a:r>
              <a:rPr lang="en-US" sz="1000" kern="0" dirty="0" err="1">
                <a:solidFill>
                  <a:srgbClr val="000000"/>
                </a:solidFill>
                <a:latin typeface="Arial"/>
              </a:rPr>
              <a:t>hls</a:t>
            </a:r>
            <a:r>
              <a:rPr lang="en-US" sz="1000" kern="0" dirty="0">
                <a:solidFill>
                  <a:srgbClr val="000000"/>
                </a:solidFill>
                <a:latin typeface="Arial"/>
              </a:rPr>
              <a:t>::stream&lt;int&gt; </a:t>
            </a:r>
            <a:r>
              <a:rPr lang="en-US" sz="1000" kern="0" dirty="0" err="1">
                <a:solidFill>
                  <a:srgbClr val="000000"/>
                </a:solidFill>
                <a:latin typeface="Arial"/>
              </a:rPr>
              <a:t>my_stream</a:t>
            </a:r>
            <a:r>
              <a:rPr lang="en-US" sz="1000" kern="0" dirty="0">
                <a:solidFill>
                  <a:srgbClr val="000000"/>
                </a:solidFill>
                <a:latin typeface="Arial"/>
              </a:rPr>
              <a:t>;</a:t>
            </a:r>
          </a:p>
          <a:p>
            <a:pPr defTabSz="914400" fontAlgn="base">
              <a:spcBef>
                <a:spcPct val="0"/>
              </a:spcBef>
              <a:spcAft>
                <a:spcPct val="0"/>
              </a:spcAft>
              <a:defRPr/>
            </a:pPr>
            <a:endParaRPr lang="en-US" sz="1000" kern="0" dirty="0">
              <a:solidFill>
                <a:srgbClr val="000000"/>
              </a:solidFill>
              <a:latin typeface="Arial"/>
            </a:endParaRPr>
          </a:p>
          <a:p>
            <a:pPr defTabSz="914400" fontAlgn="base">
              <a:spcBef>
                <a:spcPct val="0"/>
              </a:spcBef>
              <a:spcAft>
                <a:spcPct val="0"/>
              </a:spcAft>
              <a:defRPr/>
            </a:pPr>
            <a:r>
              <a:rPr lang="en-US" sz="1000" kern="0" dirty="0">
                <a:solidFill>
                  <a:srgbClr val="000000"/>
                </a:solidFill>
                <a:latin typeface="Arial"/>
              </a:rPr>
              <a:t>int </a:t>
            </a:r>
            <a:r>
              <a:rPr lang="en-US" sz="1000" kern="0" dirty="0" err="1">
                <a:solidFill>
                  <a:srgbClr val="000000"/>
                </a:solidFill>
                <a:latin typeface="Arial"/>
              </a:rPr>
              <a:t>src_var</a:t>
            </a:r>
            <a:r>
              <a:rPr lang="en-US" sz="1000" kern="0" dirty="0">
                <a:solidFill>
                  <a:srgbClr val="000000"/>
                </a:solidFill>
                <a:latin typeface="Arial"/>
              </a:rPr>
              <a:t> = 42;</a:t>
            </a:r>
          </a:p>
          <a:p>
            <a:pPr defTabSz="914400" fontAlgn="base">
              <a:spcBef>
                <a:spcPct val="0"/>
              </a:spcBef>
              <a:spcAft>
                <a:spcPct val="0"/>
              </a:spcAft>
              <a:defRPr/>
            </a:pPr>
            <a:r>
              <a:rPr lang="en-US" sz="1000" kern="0" dirty="0">
                <a:solidFill>
                  <a:srgbClr val="000000"/>
                </a:solidFill>
                <a:latin typeface="Arial"/>
              </a:rPr>
              <a:t>bool </a:t>
            </a:r>
            <a:r>
              <a:rPr lang="en-US" sz="1000" kern="0" dirty="0" err="1">
                <a:solidFill>
                  <a:srgbClr val="000000"/>
                </a:solidFill>
                <a:latin typeface="Arial"/>
              </a:rPr>
              <a:t>stream_full</a:t>
            </a:r>
            <a:r>
              <a:rPr lang="en-US" sz="1000" kern="0" dirty="0">
                <a:solidFill>
                  <a:srgbClr val="000000"/>
                </a:solidFill>
                <a:latin typeface="Arial"/>
              </a:rPr>
              <a:t>;</a:t>
            </a:r>
          </a:p>
          <a:p>
            <a:pPr defTabSz="914400" fontAlgn="base">
              <a:spcBef>
                <a:spcPct val="0"/>
              </a:spcBef>
              <a:spcAft>
                <a:spcPct val="0"/>
              </a:spcAft>
              <a:defRPr/>
            </a:pPr>
            <a:endParaRPr lang="en-US" sz="1000" kern="0" dirty="0">
              <a:solidFill>
                <a:srgbClr val="000000"/>
              </a:solidFill>
              <a:latin typeface="Arial"/>
            </a:endParaRPr>
          </a:p>
          <a:p>
            <a:pPr defTabSz="914400" fontAlgn="base">
              <a:spcBef>
                <a:spcPct val="0"/>
              </a:spcBef>
              <a:spcAft>
                <a:spcPct val="0"/>
              </a:spcAft>
              <a:defRPr/>
            </a:pPr>
            <a:r>
              <a:rPr lang="en-US" sz="1000" b="1" kern="0" dirty="0">
                <a:solidFill>
                  <a:srgbClr val="000000"/>
                </a:solidFill>
                <a:latin typeface="Arial"/>
              </a:rPr>
              <a:t>// Non-Blocking Write</a:t>
            </a:r>
          </a:p>
          <a:p>
            <a:pPr defTabSz="914400" fontAlgn="base">
              <a:spcBef>
                <a:spcPct val="0"/>
              </a:spcBef>
              <a:spcAft>
                <a:spcPct val="0"/>
              </a:spcAft>
              <a:defRPr/>
            </a:pPr>
            <a:r>
              <a:rPr lang="en-US" sz="1000" kern="0" dirty="0">
                <a:solidFill>
                  <a:srgbClr val="000000"/>
                </a:solidFill>
                <a:latin typeface="Arial"/>
              </a:rPr>
              <a:t>if (</a:t>
            </a:r>
            <a:r>
              <a:rPr lang="en-US" sz="1000" kern="0" dirty="0" err="1">
                <a:solidFill>
                  <a:srgbClr val="000000"/>
                </a:solidFill>
                <a:latin typeface="Arial"/>
              </a:rPr>
              <a:t>my_stream.write_nb</a:t>
            </a:r>
            <a:r>
              <a:rPr lang="en-US" sz="1000" kern="0" dirty="0">
                <a:solidFill>
                  <a:srgbClr val="000000"/>
                </a:solidFill>
                <a:latin typeface="Arial"/>
              </a:rPr>
              <a:t>(</a:t>
            </a:r>
            <a:r>
              <a:rPr lang="en-US" sz="1000" kern="0" dirty="0" err="1">
                <a:solidFill>
                  <a:srgbClr val="000000"/>
                </a:solidFill>
                <a:latin typeface="Arial"/>
              </a:rPr>
              <a:t>src_var</a:t>
            </a:r>
            <a:r>
              <a:rPr lang="en-US" sz="1000" kern="0" dirty="0">
                <a:solidFill>
                  <a:srgbClr val="000000"/>
                </a:solidFill>
                <a:latin typeface="Arial"/>
              </a:rPr>
              <a:t>)) {</a:t>
            </a:r>
          </a:p>
          <a:p>
            <a:pPr defTabSz="914400" fontAlgn="base">
              <a:spcBef>
                <a:spcPct val="0"/>
              </a:spcBef>
              <a:spcAft>
                <a:spcPct val="0"/>
              </a:spcAft>
              <a:defRPr/>
            </a:pPr>
            <a:r>
              <a:rPr lang="en-US" sz="1000" kern="0" dirty="0">
                <a:solidFill>
                  <a:srgbClr val="000000"/>
                </a:solidFill>
                <a:latin typeface="Arial"/>
              </a:rPr>
              <a:t>      // Perform standard operations</a:t>
            </a:r>
          </a:p>
          <a:p>
            <a:pPr defTabSz="914400" fontAlgn="base">
              <a:spcBef>
                <a:spcPct val="0"/>
              </a:spcBef>
              <a:spcAft>
                <a:spcPct val="0"/>
              </a:spcAft>
              <a:defRPr/>
            </a:pPr>
            <a:r>
              <a:rPr lang="en-US" sz="1000" kern="0" dirty="0">
                <a:solidFill>
                  <a:srgbClr val="000000"/>
                </a:solidFill>
                <a:latin typeface="Arial"/>
              </a:rPr>
              <a:t>} else {</a:t>
            </a:r>
          </a:p>
          <a:p>
            <a:pPr defTabSz="914400" fontAlgn="base">
              <a:spcBef>
                <a:spcPct val="0"/>
              </a:spcBef>
              <a:spcAft>
                <a:spcPct val="0"/>
              </a:spcAft>
              <a:defRPr/>
            </a:pPr>
            <a:r>
              <a:rPr lang="en-US" sz="1000" kern="0" dirty="0">
                <a:solidFill>
                  <a:srgbClr val="000000"/>
                </a:solidFill>
                <a:latin typeface="Arial"/>
              </a:rPr>
              <a:t>      // Write did not happen</a:t>
            </a:r>
          </a:p>
          <a:p>
            <a:pPr defTabSz="914400" fontAlgn="base">
              <a:spcBef>
                <a:spcPct val="0"/>
              </a:spcBef>
              <a:spcAft>
                <a:spcPct val="0"/>
              </a:spcAft>
              <a:defRPr/>
            </a:pPr>
            <a:r>
              <a:rPr lang="en-US" sz="1000" kern="0" dirty="0">
                <a:solidFill>
                  <a:srgbClr val="000000"/>
                </a:solidFill>
                <a:latin typeface="Arial"/>
              </a:rPr>
              <a:t>}</a:t>
            </a:r>
          </a:p>
          <a:p>
            <a:pPr defTabSz="914400" fontAlgn="base">
              <a:spcBef>
                <a:spcPct val="0"/>
              </a:spcBef>
              <a:spcAft>
                <a:spcPct val="0"/>
              </a:spcAft>
              <a:defRPr/>
            </a:pPr>
            <a:endParaRPr lang="en-US" sz="1000" kern="0" dirty="0">
              <a:solidFill>
                <a:srgbClr val="000000"/>
              </a:solidFill>
              <a:latin typeface="Arial"/>
            </a:endParaRPr>
          </a:p>
          <a:p>
            <a:pPr defTabSz="914400" fontAlgn="base">
              <a:spcBef>
                <a:spcPct val="0"/>
              </a:spcBef>
              <a:spcAft>
                <a:spcPct val="0"/>
              </a:spcAft>
              <a:defRPr/>
            </a:pPr>
            <a:r>
              <a:rPr lang="en-US" sz="1000" b="1" kern="0" dirty="0">
                <a:solidFill>
                  <a:srgbClr val="000000"/>
                </a:solidFill>
                <a:latin typeface="Arial"/>
              </a:rPr>
              <a:t>// Full test </a:t>
            </a:r>
          </a:p>
          <a:p>
            <a:pPr defTabSz="914400" fontAlgn="base">
              <a:spcBef>
                <a:spcPct val="0"/>
              </a:spcBef>
              <a:spcAft>
                <a:spcPct val="0"/>
              </a:spcAft>
              <a:defRPr/>
            </a:pPr>
            <a:r>
              <a:rPr lang="en-US" sz="1000" kern="0" dirty="0" err="1">
                <a:solidFill>
                  <a:srgbClr val="000000"/>
                </a:solidFill>
                <a:latin typeface="Arial"/>
              </a:rPr>
              <a:t>stream_full</a:t>
            </a:r>
            <a:r>
              <a:rPr lang="en-US" sz="1000" kern="0" dirty="0">
                <a:solidFill>
                  <a:srgbClr val="000000"/>
                </a:solidFill>
                <a:latin typeface="Arial"/>
              </a:rPr>
              <a:t> = </a:t>
            </a:r>
            <a:r>
              <a:rPr lang="en-US" sz="1000" kern="0" dirty="0" err="1">
                <a:solidFill>
                  <a:srgbClr val="000000"/>
                </a:solidFill>
                <a:latin typeface="Arial"/>
              </a:rPr>
              <a:t>my_stream.full</a:t>
            </a:r>
            <a:r>
              <a:rPr lang="en-US" sz="1000" kern="0" dirty="0">
                <a:solidFill>
                  <a:srgbClr val="000000"/>
                </a:solidFill>
                <a:latin typeface="Arial"/>
              </a:rPr>
              <a:t>();</a:t>
            </a:r>
          </a:p>
        </p:txBody>
      </p:sp>
      <p:sp>
        <p:nvSpPr>
          <p:cNvPr id="18" name="TextBox 17">
            <a:extLst>
              <a:ext uri="{FF2B5EF4-FFF2-40B4-BE49-F238E27FC236}">
                <a16:creationId xmlns:a16="http://schemas.microsoft.com/office/drawing/2014/main" id="{E059BCB5-AA61-4C5F-89E6-47448FC05922}"/>
              </a:ext>
            </a:extLst>
          </p:cNvPr>
          <p:cNvSpPr txBox="1"/>
          <p:nvPr/>
        </p:nvSpPr>
        <p:spPr>
          <a:xfrm>
            <a:off x="8160853" y="3486399"/>
            <a:ext cx="3345319" cy="2246769"/>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defRPr/>
            </a:pPr>
            <a:r>
              <a:rPr lang="en-US" sz="1000" kern="0" dirty="0" err="1">
                <a:solidFill>
                  <a:srgbClr val="000000"/>
                </a:solidFill>
                <a:latin typeface="Arial"/>
              </a:rPr>
              <a:t>hls</a:t>
            </a:r>
            <a:r>
              <a:rPr lang="en-US" sz="1000" kern="0" dirty="0">
                <a:solidFill>
                  <a:srgbClr val="000000"/>
                </a:solidFill>
                <a:latin typeface="Arial"/>
              </a:rPr>
              <a:t>::stream&lt;int&gt; </a:t>
            </a:r>
            <a:r>
              <a:rPr lang="en-US" sz="1000" kern="0" dirty="0" err="1">
                <a:solidFill>
                  <a:srgbClr val="000000"/>
                </a:solidFill>
                <a:latin typeface="Arial"/>
              </a:rPr>
              <a:t>my_stream</a:t>
            </a:r>
            <a:r>
              <a:rPr lang="en-US" sz="1000" kern="0" dirty="0">
                <a:solidFill>
                  <a:srgbClr val="000000"/>
                </a:solidFill>
                <a:latin typeface="Arial"/>
              </a:rPr>
              <a:t>;</a:t>
            </a:r>
          </a:p>
          <a:p>
            <a:pPr defTabSz="914400" fontAlgn="base">
              <a:spcBef>
                <a:spcPct val="0"/>
              </a:spcBef>
              <a:spcAft>
                <a:spcPct val="0"/>
              </a:spcAft>
              <a:defRPr/>
            </a:pPr>
            <a:endParaRPr lang="en-US" sz="1000" kern="0" dirty="0">
              <a:solidFill>
                <a:srgbClr val="000000"/>
              </a:solidFill>
              <a:latin typeface="Arial"/>
            </a:endParaRPr>
          </a:p>
          <a:p>
            <a:pPr defTabSz="914400" fontAlgn="base">
              <a:spcBef>
                <a:spcPct val="0"/>
              </a:spcBef>
              <a:spcAft>
                <a:spcPct val="0"/>
              </a:spcAft>
              <a:defRPr/>
            </a:pPr>
            <a:r>
              <a:rPr lang="en-US" sz="1000" kern="0" dirty="0">
                <a:solidFill>
                  <a:srgbClr val="000000"/>
                </a:solidFill>
                <a:latin typeface="Arial"/>
              </a:rPr>
              <a:t>int </a:t>
            </a:r>
            <a:r>
              <a:rPr lang="en-US" sz="1000" kern="0" dirty="0" err="1">
                <a:solidFill>
                  <a:srgbClr val="000000"/>
                </a:solidFill>
                <a:latin typeface="Arial"/>
              </a:rPr>
              <a:t>dst_var</a:t>
            </a:r>
            <a:r>
              <a:rPr lang="en-US" sz="1000" kern="0" dirty="0">
                <a:solidFill>
                  <a:srgbClr val="000000"/>
                </a:solidFill>
                <a:latin typeface="Arial"/>
              </a:rPr>
              <a:t>;</a:t>
            </a:r>
          </a:p>
          <a:p>
            <a:pPr defTabSz="914400" fontAlgn="base">
              <a:spcBef>
                <a:spcPct val="0"/>
              </a:spcBef>
              <a:spcAft>
                <a:spcPct val="0"/>
              </a:spcAft>
              <a:defRPr/>
            </a:pPr>
            <a:r>
              <a:rPr lang="en-US" sz="1000" kern="0" dirty="0">
                <a:solidFill>
                  <a:srgbClr val="000000"/>
                </a:solidFill>
                <a:latin typeface="Arial"/>
              </a:rPr>
              <a:t>bool </a:t>
            </a:r>
            <a:r>
              <a:rPr lang="en-US" sz="1000" kern="0" dirty="0" err="1">
                <a:solidFill>
                  <a:srgbClr val="000000"/>
                </a:solidFill>
                <a:latin typeface="Arial"/>
              </a:rPr>
              <a:t>stream_empty</a:t>
            </a:r>
            <a:r>
              <a:rPr lang="en-US" sz="1000" kern="0" dirty="0">
                <a:solidFill>
                  <a:srgbClr val="000000"/>
                </a:solidFill>
                <a:latin typeface="Arial"/>
              </a:rPr>
              <a:t>;</a:t>
            </a:r>
          </a:p>
          <a:p>
            <a:pPr defTabSz="914400" fontAlgn="base">
              <a:spcBef>
                <a:spcPct val="0"/>
              </a:spcBef>
              <a:spcAft>
                <a:spcPct val="0"/>
              </a:spcAft>
              <a:defRPr/>
            </a:pPr>
            <a:endParaRPr lang="en-US" sz="1000" kern="0" dirty="0">
              <a:solidFill>
                <a:srgbClr val="000000"/>
              </a:solidFill>
              <a:latin typeface="Arial"/>
            </a:endParaRPr>
          </a:p>
          <a:p>
            <a:pPr defTabSz="914400" fontAlgn="base">
              <a:spcBef>
                <a:spcPct val="0"/>
              </a:spcBef>
              <a:spcAft>
                <a:spcPct val="0"/>
              </a:spcAft>
              <a:defRPr/>
            </a:pPr>
            <a:r>
              <a:rPr lang="en-US" sz="1000" b="1" kern="0" dirty="0">
                <a:solidFill>
                  <a:srgbClr val="000000"/>
                </a:solidFill>
                <a:latin typeface="Arial"/>
              </a:rPr>
              <a:t>// Non-Blocking Read</a:t>
            </a:r>
          </a:p>
          <a:p>
            <a:pPr defTabSz="914400" fontAlgn="base">
              <a:spcBef>
                <a:spcPct val="0"/>
              </a:spcBef>
              <a:spcAft>
                <a:spcPct val="0"/>
              </a:spcAft>
              <a:defRPr/>
            </a:pPr>
            <a:r>
              <a:rPr lang="en-US" sz="1000" kern="0" dirty="0">
                <a:solidFill>
                  <a:srgbClr val="000000"/>
                </a:solidFill>
                <a:latin typeface="Arial"/>
              </a:rPr>
              <a:t>if (</a:t>
            </a:r>
            <a:r>
              <a:rPr lang="en-US" sz="1000" kern="0" dirty="0" err="1">
                <a:solidFill>
                  <a:srgbClr val="000000"/>
                </a:solidFill>
                <a:latin typeface="Arial"/>
              </a:rPr>
              <a:t>my_stream.read_nb</a:t>
            </a:r>
            <a:r>
              <a:rPr lang="en-US" sz="1000" kern="0" dirty="0">
                <a:solidFill>
                  <a:srgbClr val="000000"/>
                </a:solidFill>
                <a:latin typeface="Arial"/>
              </a:rPr>
              <a:t>(</a:t>
            </a:r>
            <a:r>
              <a:rPr lang="en-US" sz="1000" kern="0" dirty="0" err="1">
                <a:solidFill>
                  <a:srgbClr val="000000"/>
                </a:solidFill>
                <a:latin typeface="Arial"/>
              </a:rPr>
              <a:t>dst_var</a:t>
            </a:r>
            <a:r>
              <a:rPr lang="en-US" sz="1000" kern="0" dirty="0">
                <a:solidFill>
                  <a:srgbClr val="000000"/>
                </a:solidFill>
                <a:latin typeface="Arial"/>
              </a:rPr>
              <a:t>)) {</a:t>
            </a:r>
          </a:p>
          <a:p>
            <a:pPr defTabSz="914400" fontAlgn="base">
              <a:spcBef>
                <a:spcPct val="0"/>
              </a:spcBef>
              <a:spcAft>
                <a:spcPct val="0"/>
              </a:spcAft>
              <a:defRPr/>
            </a:pPr>
            <a:r>
              <a:rPr lang="en-US" sz="1000" kern="0" dirty="0">
                <a:solidFill>
                  <a:srgbClr val="000000"/>
                </a:solidFill>
                <a:latin typeface="Arial"/>
              </a:rPr>
              <a:t>       // Perform standard operations</a:t>
            </a:r>
          </a:p>
          <a:p>
            <a:pPr defTabSz="914400" fontAlgn="base">
              <a:spcBef>
                <a:spcPct val="0"/>
              </a:spcBef>
              <a:spcAft>
                <a:spcPct val="0"/>
              </a:spcAft>
              <a:defRPr/>
            </a:pPr>
            <a:r>
              <a:rPr lang="en-US" sz="1000" kern="0" dirty="0">
                <a:solidFill>
                  <a:srgbClr val="000000"/>
                </a:solidFill>
                <a:latin typeface="Arial"/>
              </a:rPr>
              <a:t>} else {</a:t>
            </a:r>
          </a:p>
          <a:p>
            <a:pPr defTabSz="914400" fontAlgn="base">
              <a:spcBef>
                <a:spcPct val="0"/>
              </a:spcBef>
              <a:spcAft>
                <a:spcPct val="0"/>
              </a:spcAft>
              <a:defRPr/>
            </a:pPr>
            <a:r>
              <a:rPr lang="en-US" sz="1000" kern="0" dirty="0">
                <a:solidFill>
                  <a:srgbClr val="000000"/>
                </a:solidFill>
                <a:latin typeface="Arial"/>
              </a:rPr>
              <a:t>        // Read did not happen</a:t>
            </a:r>
          </a:p>
          <a:p>
            <a:pPr defTabSz="914400" fontAlgn="base">
              <a:spcBef>
                <a:spcPct val="0"/>
              </a:spcBef>
              <a:spcAft>
                <a:spcPct val="0"/>
              </a:spcAft>
              <a:defRPr/>
            </a:pPr>
            <a:r>
              <a:rPr lang="en-US" sz="1000" kern="0" dirty="0">
                <a:solidFill>
                  <a:srgbClr val="000000"/>
                </a:solidFill>
                <a:latin typeface="Arial"/>
              </a:rPr>
              <a:t>}</a:t>
            </a:r>
          </a:p>
          <a:p>
            <a:pPr defTabSz="914400" fontAlgn="base">
              <a:spcBef>
                <a:spcPct val="0"/>
              </a:spcBef>
              <a:spcAft>
                <a:spcPct val="0"/>
              </a:spcAft>
              <a:defRPr/>
            </a:pPr>
            <a:endParaRPr lang="en-US" sz="1000" kern="0" dirty="0">
              <a:solidFill>
                <a:srgbClr val="000000"/>
              </a:solidFill>
              <a:latin typeface="Arial"/>
            </a:endParaRPr>
          </a:p>
          <a:p>
            <a:pPr defTabSz="914400" fontAlgn="base">
              <a:spcBef>
                <a:spcPct val="0"/>
              </a:spcBef>
              <a:spcAft>
                <a:spcPct val="0"/>
              </a:spcAft>
              <a:defRPr/>
            </a:pPr>
            <a:r>
              <a:rPr lang="en-US" sz="1000" b="1" kern="0" dirty="0">
                <a:solidFill>
                  <a:srgbClr val="000000"/>
                </a:solidFill>
                <a:latin typeface="Arial"/>
              </a:rPr>
              <a:t>// Empty test</a:t>
            </a:r>
          </a:p>
          <a:p>
            <a:pPr defTabSz="914400" fontAlgn="base">
              <a:spcBef>
                <a:spcPct val="0"/>
              </a:spcBef>
              <a:spcAft>
                <a:spcPct val="0"/>
              </a:spcAft>
              <a:defRPr/>
            </a:pPr>
            <a:r>
              <a:rPr lang="en-US" sz="1000" kern="0" dirty="0" err="1">
                <a:solidFill>
                  <a:srgbClr val="000000"/>
                </a:solidFill>
                <a:latin typeface="Arial"/>
              </a:rPr>
              <a:t>fifo_empty</a:t>
            </a:r>
            <a:r>
              <a:rPr lang="en-US" sz="1000" kern="0" dirty="0">
                <a:solidFill>
                  <a:srgbClr val="000000"/>
                </a:solidFill>
                <a:latin typeface="Arial"/>
              </a:rPr>
              <a:t> = </a:t>
            </a:r>
            <a:r>
              <a:rPr lang="en-US" sz="1000" kern="0" dirty="0" err="1">
                <a:solidFill>
                  <a:srgbClr val="000000"/>
                </a:solidFill>
                <a:latin typeface="Arial"/>
              </a:rPr>
              <a:t>my_stream.empty</a:t>
            </a:r>
            <a:r>
              <a:rPr lang="en-US" sz="1000" kern="0" dirty="0">
                <a:solidFill>
                  <a:srgbClr val="000000"/>
                </a:solidFill>
                <a:latin typeface="Arial"/>
              </a:rPr>
              <a:t>();</a:t>
            </a:r>
          </a:p>
        </p:txBody>
      </p:sp>
      <p:sp>
        <p:nvSpPr>
          <p:cNvPr id="19" name="TextBox 18">
            <a:extLst>
              <a:ext uri="{FF2B5EF4-FFF2-40B4-BE49-F238E27FC236}">
                <a16:creationId xmlns:a16="http://schemas.microsoft.com/office/drawing/2014/main" id="{C3A7AB5D-85B4-4E9B-A647-814CBC09C63A}"/>
              </a:ext>
            </a:extLst>
          </p:cNvPr>
          <p:cNvSpPr txBox="1"/>
          <p:nvPr/>
        </p:nvSpPr>
        <p:spPr>
          <a:xfrm>
            <a:off x="2137150" y="5733167"/>
            <a:ext cx="8685394" cy="738664"/>
          </a:xfrm>
          <a:prstGeom prst="rect">
            <a:avLst/>
          </a:prstGeom>
          <a:solidFill>
            <a:srgbClr val="8B8D09">
              <a:lumMod val="40000"/>
              <a:lumOff val="60000"/>
            </a:srgbClr>
          </a:solidFill>
          <a:ln>
            <a:solidFill>
              <a:srgbClr val="000000"/>
            </a:solidFill>
          </a:ln>
          <a:effectLst>
            <a:outerShdw blurRad="50800" dist="38100" dir="2700000" algn="tl" rotWithShape="0">
              <a:prstClr val="black">
                <a:alpha val="40000"/>
              </a:prstClr>
            </a:outerShdw>
          </a:effectLst>
        </p:spPr>
        <p:txBody>
          <a:bodyPr wrap="square" rtlCol="0">
            <a:spAutoFit/>
          </a:bodyPr>
          <a:lstStyle/>
          <a:p>
            <a:pPr algn="ctr" defTabSz="914400" fontAlgn="base">
              <a:spcBef>
                <a:spcPct val="0"/>
              </a:spcBef>
              <a:spcAft>
                <a:spcPct val="0"/>
              </a:spcAft>
              <a:defRPr/>
            </a:pPr>
            <a:r>
              <a:rPr lang="en-US" sz="1400" kern="0" dirty="0">
                <a:solidFill>
                  <a:srgbClr val="000000"/>
                </a:solidFill>
                <a:latin typeface="Arial"/>
              </a:rPr>
              <a:t>Stream arrays and structs are not supported for RTL simulation at this time: must be verified manually.</a:t>
            </a:r>
          </a:p>
          <a:p>
            <a:pPr algn="ctr" defTabSz="914400" fontAlgn="base">
              <a:spcBef>
                <a:spcPct val="0"/>
              </a:spcBef>
              <a:spcAft>
                <a:spcPct val="0"/>
              </a:spcAft>
              <a:defRPr/>
            </a:pPr>
            <a:endParaRPr lang="en-US" sz="1400" kern="0" dirty="0">
              <a:solidFill>
                <a:srgbClr val="000000"/>
              </a:solidFill>
              <a:latin typeface="Arial"/>
            </a:endParaRPr>
          </a:p>
          <a:p>
            <a:pPr algn="ctr" defTabSz="914400" fontAlgn="base">
              <a:spcBef>
                <a:spcPct val="0"/>
              </a:spcBef>
              <a:spcAft>
                <a:spcPct val="0"/>
              </a:spcAft>
              <a:defRPr/>
            </a:pPr>
            <a:r>
              <a:rPr lang="en-US" sz="1400" kern="0" dirty="0">
                <a:solidFill>
                  <a:srgbClr val="000000"/>
                </a:solidFill>
                <a:latin typeface="Arial"/>
              </a:rPr>
              <a:t>e.g. </a:t>
            </a:r>
            <a:r>
              <a:rPr lang="en-US" sz="1400" kern="0" dirty="0" err="1">
                <a:solidFill>
                  <a:srgbClr val="000000"/>
                </a:solidFill>
                <a:latin typeface="Arial"/>
              </a:rPr>
              <a:t>hls</a:t>
            </a:r>
            <a:r>
              <a:rPr lang="en-US" sz="1400" kern="0" dirty="0">
                <a:solidFill>
                  <a:srgbClr val="000000"/>
                </a:solidFill>
                <a:latin typeface="Arial"/>
              </a:rPr>
              <a:t>::stream&lt;uint8_t&gt; </a:t>
            </a:r>
            <a:r>
              <a:rPr lang="en-US" sz="1400" kern="0" dirty="0" err="1">
                <a:solidFill>
                  <a:srgbClr val="000000"/>
                </a:solidFill>
                <a:latin typeface="Arial"/>
              </a:rPr>
              <a:t>chan</a:t>
            </a:r>
            <a:r>
              <a:rPr lang="en-US" sz="1400" kern="0" dirty="0">
                <a:solidFill>
                  <a:srgbClr val="000000"/>
                </a:solidFill>
                <a:latin typeface="Arial"/>
              </a:rPr>
              <a:t>[4])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85C8A-E023-4A9C-986A-7072F951517A}"/>
              </a:ext>
            </a:extLst>
          </p:cNvPr>
          <p:cNvSpPr>
            <a:spLocks noGrp="1"/>
          </p:cNvSpPr>
          <p:nvPr>
            <p:ph type="title"/>
          </p:nvPr>
        </p:nvSpPr>
        <p:spPr/>
        <p:txBody>
          <a:bodyPr/>
          <a:lstStyle/>
          <a:p>
            <a:r>
              <a:rPr lang="en-US" altLang="zh-CN" dirty="0"/>
              <a:t>Libraries Support - </a:t>
            </a:r>
            <a:br>
              <a:rPr lang="en-US" altLang="zh-CN" dirty="0"/>
            </a:br>
            <a:r>
              <a:rPr lang="en-US" altLang="zh-CN" dirty="0"/>
              <a:t>FFT, FIR and Shift Registers</a:t>
            </a:r>
            <a:endParaRPr lang="zh-CN" altLang="en-US" dirty="0"/>
          </a:p>
        </p:txBody>
      </p:sp>
    </p:spTree>
    <p:extLst>
      <p:ext uri="{BB962C8B-B14F-4D97-AF65-F5344CB8AC3E}">
        <p14:creationId xmlns:p14="http://schemas.microsoft.com/office/powerpoint/2010/main" val="2785421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FFT and FIR IP in HLS</a:t>
            </a:r>
          </a:p>
        </p:txBody>
      </p:sp>
      <p:sp>
        <p:nvSpPr>
          <p:cNvPr id="2" name="Content Placeholder 1"/>
          <p:cNvSpPr>
            <a:spLocks noGrp="1"/>
          </p:cNvSpPr>
          <p:nvPr>
            <p:ph idx="1"/>
          </p:nvPr>
        </p:nvSpPr>
        <p:spPr/>
        <p:txBody>
          <a:bodyPr/>
          <a:lstStyle/>
          <a:p>
            <a:r>
              <a:rPr lang="en-US" dirty="0"/>
              <a:t>The Xilinx FFT and FIR IP are available in </a:t>
            </a:r>
            <a:r>
              <a:rPr lang="en-US" dirty="0" err="1"/>
              <a:t>Vitis</a:t>
            </a:r>
            <a:r>
              <a:rPr lang="en-US" dirty="0"/>
              <a:t> HLS</a:t>
            </a:r>
          </a:p>
          <a:p>
            <a:pPr lvl="1"/>
            <a:r>
              <a:rPr lang="en-US" dirty="0"/>
              <a:t>Fully configurable within the C++ source code</a:t>
            </a:r>
          </a:p>
          <a:p>
            <a:pPr lvl="2"/>
            <a:r>
              <a:rPr lang="en-US" dirty="0"/>
              <a:t>Pre-defined C++ structs allow the IP to be configured &amp; accessed</a:t>
            </a:r>
          </a:p>
          <a:p>
            <a:r>
              <a:rPr lang="en-US" dirty="0"/>
              <a:t>Supported only for C++ </a:t>
            </a:r>
          </a:p>
          <a:p>
            <a:pPr lvl="1"/>
            <a:r>
              <a:rPr lang="en-US" dirty="0"/>
              <a:t>Implemented with templates</a:t>
            </a:r>
          </a:p>
          <a:p>
            <a:r>
              <a:rPr lang="en-US" dirty="0"/>
              <a:t>High-Quality Implementation</a:t>
            </a:r>
          </a:p>
          <a:p>
            <a:pPr lvl="1"/>
            <a:r>
              <a:rPr lang="en-US" dirty="0"/>
              <a:t>Same hardware as implemented by RTL versions of this IP </a:t>
            </a:r>
          </a:p>
          <a:p>
            <a:pPr lvl="1"/>
            <a:r>
              <a:rPr lang="en-US" dirty="0"/>
              <a:t>Functionality fully described in Xilinx Documentation</a:t>
            </a:r>
          </a:p>
          <a:p>
            <a:pPr lvl="2"/>
            <a:r>
              <a:rPr lang="en-US" dirty="0" err="1"/>
              <a:t>LogiCORE</a:t>
            </a:r>
            <a:r>
              <a:rPr lang="en-US" dirty="0"/>
              <a:t> IP Fast Fourier Transform v9.1 (document PG109)</a:t>
            </a:r>
          </a:p>
          <a:p>
            <a:pPr lvl="2"/>
            <a:r>
              <a:rPr lang="en-US" dirty="0" err="1"/>
              <a:t>LogiCORE</a:t>
            </a:r>
            <a:r>
              <a:rPr lang="en-US" dirty="0"/>
              <a:t> IP FIR Compiler v7.2 (document PG149)</a:t>
            </a:r>
          </a:p>
        </p:txBody>
      </p:sp>
      <p:sp>
        <p:nvSpPr>
          <p:cNvPr id="5" name="Slide Number Placeholder 5">
            <a:extLst>
              <a:ext uri="{FF2B5EF4-FFF2-40B4-BE49-F238E27FC236}">
                <a16:creationId xmlns:a16="http://schemas.microsoft.com/office/drawing/2014/main" id="{9EE938AF-76BE-4EA4-A47A-CDE3B027765D}"/>
              </a:ext>
            </a:extLst>
          </p:cNvPr>
          <p:cNvSpPr>
            <a:spLocks noGrp="1"/>
          </p:cNvSpPr>
          <p:nvPr>
            <p:ph type="sldNum" sz="quarter" idx="4"/>
          </p:nvPr>
        </p:nvSpPr>
        <p:spPr/>
        <p:txBody>
          <a:bodyPr/>
          <a:lstStyle/>
          <a:p>
            <a:pPr>
              <a:defRPr/>
            </a:pPr>
            <a:r>
              <a:rPr lang="en-US" dirty="0"/>
              <a:t>Coding Considerations 23- </a:t>
            </a:r>
            <a:fld id="{060BD193-E118-4B16-863C-C8C12C675E3E}" type="slidenum">
              <a:rPr lang="en-US" smtClean="0"/>
              <a:pPr>
                <a:defRPr/>
              </a:pPr>
              <a:t>64</a:t>
            </a:fld>
            <a:endParaRPr lang="en-US" dirty="0"/>
          </a:p>
        </p:txBody>
      </p:sp>
    </p:spTree>
    <p:extLst>
      <p:ext uri="{BB962C8B-B14F-4D97-AF65-F5344CB8AC3E}">
        <p14:creationId xmlns:p14="http://schemas.microsoft.com/office/powerpoint/2010/main" val="15206374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FFT and FIR IP in HLS</a:t>
            </a:r>
          </a:p>
        </p:txBody>
      </p:sp>
      <p:sp>
        <p:nvSpPr>
          <p:cNvPr id="2" name="Content Placeholder 1"/>
          <p:cNvSpPr>
            <a:spLocks noGrp="1"/>
          </p:cNvSpPr>
          <p:nvPr>
            <p:ph idx="1"/>
          </p:nvPr>
        </p:nvSpPr>
        <p:spPr/>
        <p:txBody>
          <a:bodyPr/>
          <a:lstStyle/>
          <a:p>
            <a:r>
              <a:rPr lang="en-US" dirty="0"/>
              <a:t>The Xilinx FFT and FIR IP are available in </a:t>
            </a:r>
            <a:r>
              <a:rPr lang="en-US" dirty="0" err="1">
                <a:highlight>
                  <a:srgbClr val="FFFF00"/>
                </a:highlight>
              </a:rPr>
              <a:t>Vitis</a:t>
            </a:r>
            <a:r>
              <a:rPr lang="en-US" dirty="0"/>
              <a:t> HLS</a:t>
            </a:r>
          </a:p>
          <a:p>
            <a:pPr lvl="1"/>
            <a:r>
              <a:rPr lang="en-US" strike="sngStrike" dirty="0"/>
              <a:t>C simulates with a bit-accurate model</a:t>
            </a:r>
          </a:p>
          <a:p>
            <a:pPr lvl="1"/>
            <a:r>
              <a:rPr lang="en-US" dirty="0"/>
              <a:t>Fully configurable within the C++ source code</a:t>
            </a:r>
          </a:p>
          <a:p>
            <a:pPr lvl="2"/>
            <a:r>
              <a:rPr lang="en-US" dirty="0"/>
              <a:t>Pre-defined C++ structs allow the IP to be configured &amp; accessed</a:t>
            </a:r>
          </a:p>
          <a:p>
            <a:r>
              <a:rPr lang="en-US" dirty="0"/>
              <a:t>Supported only for C++ </a:t>
            </a:r>
          </a:p>
          <a:p>
            <a:pPr lvl="1"/>
            <a:r>
              <a:rPr lang="en-US" dirty="0"/>
              <a:t>Implemented with templates</a:t>
            </a:r>
          </a:p>
          <a:p>
            <a:r>
              <a:rPr lang="en-US" dirty="0"/>
              <a:t>High-Quality Implementation</a:t>
            </a:r>
          </a:p>
          <a:p>
            <a:pPr lvl="1"/>
            <a:r>
              <a:rPr lang="en-US" dirty="0"/>
              <a:t>Same hardware as implemented by RTL versions of this IP </a:t>
            </a:r>
          </a:p>
          <a:p>
            <a:pPr lvl="1"/>
            <a:r>
              <a:rPr lang="en-US" dirty="0"/>
              <a:t>Functionality fully described in Xilinx Documentation</a:t>
            </a:r>
          </a:p>
          <a:p>
            <a:pPr lvl="2"/>
            <a:r>
              <a:rPr lang="en-US" dirty="0" err="1"/>
              <a:t>LogiCORE</a:t>
            </a:r>
            <a:r>
              <a:rPr lang="en-US" dirty="0"/>
              <a:t> IP Fast Fourier Transform </a:t>
            </a:r>
            <a:r>
              <a:rPr lang="en-US" strike="sngStrike" dirty="0"/>
              <a:t>v9.0</a:t>
            </a:r>
            <a:r>
              <a:rPr lang="en-US" dirty="0">
                <a:highlight>
                  <a:srgbClr val="FFFF00"/>
                </a:highlight>
              </a:rPr>
              <a:t>v9.1</a:t>
            </a:r>
            <a:r>
              <a:rPr lang="en-US" dirty="0"/>
              <a:t> (document PG109)</a:t>
            </a:r>
          </a:p>
          <a:p>
            <a:pPr lvl="2"/>
            <a:r>
              <a:rPr lang="en-US" dirty="0" err="1"/>
              <a:t>LogiCORE</a:t>
            </a:r>
            <a:r>
              <a:rPr lang="en-US" dirty="0"/>
              <a:t> IP FIR Compiler v7.2 (document PG149)</a:t>
            </a:r>
          </a:p>
        </p:txBody>
      </p:sp>
      <p:sp>
        <p:nvSpPr>
          <p:cNvPr id="7" name="Slide Number Placeholder 6"/>
          <p:cNvSpPr>
            <a:spLocks noGrp="1"/>
          </p:cNvSpPr>
          <p:nvPr>
            <p:ph type="sldNum" sz="quarter" idx="10"/>
          </p:nvPr>
        </p:nvSpPr>
        <p:spPr/>
        <p:txBody>
          <a:bodyPr/>
          <a:lstStyle/>
          <a:p>
            <a:pPr defTabSz="914400">
              <a:defRPr/>
            </a:pPr>
            <a:r>
              <a:rPr lang="en-US" dirty="0">
                <a:solidFill>
                  <a:srgbClr val="0C0C0C">
                    <a:tint val="75000"/>
                  </a:srgbClr>
                </a:solidFill>
                <a:latin typeface="Arial"/>
              </a:rPr>
              <a:t>Coding Considerations 23- </a:t>
            </a:r>
            <a:fld id="{060BD193-E118-4B16-863C-C8C12C675E3E}" type="slidenum">
              <a:rPr lang="en-US">
                <a:solidFill>
                  <a:srgbClr val="0C0C0C">
                    <a:tint val="75000"/>
                  </a:srgbClr>
                </a:solidFill>
                <a:latin typeface="Arial"/>
              </a:rPr>
              <a:pPr defTabSz="914400">
                <a:defRPr/>
              </a:pPr>
              <a:t>65</a:t>
            </a:fld>
            <a:endParaRPr lang="en-US" dirty="0">
              <a:solidFill>
                <a:srgbClr val="0C0C0C">
                  <a:tint val="75000"/>
                </a:srgbClr>
              </a:solidFill>
              <a:latin typeface="Arial"/>
            </a:endParaRPr>
          </a:p>
        </p:txBody>
      </p:sp>
    </p:spTree>
    <p:extLst>
      <p:ext uri="{BB962C8B-B14F-4D97-AF65-F5344CB8AC3E}">
        <p14:creationId xmlns:p14="http://schemas.microsoft.com/office/powerpoint/2010/main" val="277101853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FFT Function</a:t>
            </a:r>
          </a:p>
        </p:txBody>
      </p:sp>
      <p:sp>
        <p:nvSpPr>
          <p:cNvPr id="2" name="Content Placeholder 1"/>
          <p:cNvSpPr>
            <a:spLocks noGrp="1"/>
          </p:cNvSpPr>
          <p:nvPr>
            <p:ph idx="1"/>
          </p:nvPr>
        </p:nvSpPr>
        <p:spPr/>
        <p:txBody>
          <a:bodyPr/>
          <a:lstStyle/>
          <a:p>
            <a:r>
              <a:rPr lang="en-US" dirty="0"/>
              <a:t>Using the FFT</a:t>
            </a:r>
          </a:p>
          <a:p>
            <a:pPr lvl="1"/>
            <a:r>
              <a:rPr lang="en-US" dirty="0"/>
              <a:t>Include the </a:t>
            </a:r>
            <a:r>
              <a:rPr lang="en-US" dirty="0" err="1"/>
              <a:t>hls_fft.h</a:t>
            </a:r>
            <a:r>
              <a:rPr lang="en-US" dirty="0"/>
              <a:t> library in the code</a:t>
            </a:r>
          </a:p>
          <a:p>
            <a:pPr lvl="2"/>
            <a:r>
              <a:rPr lang="en-US" dirty="0"/>
              <a:t>This defines the FFT and supporting </a:t>
            </a:r>
            <a:br>
              <a:rPr lang="en-US" dirty="0"/>
            </a:br>
            <a:r>
              <a:rPr lang="en-US" dirty="0" err="1"/>
              <a:t>structs</a:t>
            </a:r>
            <a:r>
              <a:rPr lang="en-US" dirty="0"/>
              <a:t> and types</a:t>
            </a:r>
          </a:p>
          <a:p>
            <a:pPr lvl="2"/>
            <a:r>
              <a:rPr lang="en-US" dirty="0"/>
              <a:t>Allows </a:t>
            </a:r>
            <a:r>
              <a:rPr lang="en-US" dirty="0" err="1">
                <a:solidFill>
                  <a:schemeClr val="accent6">
                    <a:lumMod val="75000"/>
                  </a:schemeClr>
                </a:solidFill>
              </a:rPr>
              <a:t>hls</a:t>
            </a:r>
            <a:r>
              <a:rPr lang="en-US" dirty="0">
                <a:solidFill>
                  <a:schemeClr val="accent6">
                    <a:lumMod val="75000"/>
                  </a:schemeClr>
                </a:solidFill>
              </a:rPr>
              <a:t>::</a:t>
            </a:r>
            <a:r>
              <a:rPr lang="en-US" dirty="0" err="1">
                <a:solidFill>
                  <a:schemeClr val="accent6">
                    <a:lumMod val="75000"/>
                  </a:schemeClr>
                </a:solidFill>
              </a:rPr>
              <a:t>fft</a:t>
            </a:r>
            <a:r>
              <a:rPr lang="en-US" dirty="0">
                <a:solidFill>
                  <a:schemeClr val="accent6">
                    <a:lumMod val="75000"/>
                  </a:schemeClr>
                </a:solidFill>
              </a:rPr>
              <a:t> </a:t>
            </a:r>
            <a:r>
              <a:rPr lang="en-US" dirty="0"/>
              <a:t>to be instantiated in your code</a:t>
            </a:r>
          </a:p>
          <a:p>
            <a:pPr lvl="1"/>
            <a:r>
              <a:rPr lang="en-US" dirty="0"/>
              <a:t>Use the STATIC_PARAM template parameter to parameterize the FFT</a:t>
            </a:r>
          </a:p>
          <a:p>
            <a:pPr lvl="2"/>
            <a:r>
              <a:rPr lang="en-US" dirty="0"/>
              <a:t>The STATIC_PARAM template parameter defines all static configuration values</a:t>
            </a:r>
          </a:p>
          <a:p>
            <a:pPr lvl="2"/>
            <a:r>
              <a:rPr lang="en-US" dirty="0"/>
              <a:t>The Library provides a pre-defined struct </a:t>
            </a:r>
            <a:r>
              <a:rPr lang="en-US" dirty="0" err="1">
                <a:solidFill>
                  <a:schemeClr val="accent6">
                    <a:lumMod val="75000"/>
                  </a:schemeClr>
                </a:solidFill>
              </a:rPr>
              <a:t>hls</a:t>
            </a:r>
            <a:r>
              <a:rPr lang="en-US" dirty="0">
                <a:solidFill>
                  <a:schemeClr val="accent6">
                    <a:lumMod val="75000"/>
                  </a:schemeClr>
                </a:solidFill>
              </a:rPr>
              <a:t>::</a:t>
            </a:r>
            <a:r>
              <a:rPr lang="en-US" dirty="0" err="1">
                <a:solidFill>
                  <a:schemeClr val="accent6">
                    <a:lumMod val="75000"/>
                  </a:schemeClr>
                </a:solidFill>
              </a:rPr>
              <a:t>ip_fft</a:t>
            </a:r>
            <a:r>
              <a:rPr lang="en-US" dirty="0">
                <a:solidFill>
                  <a:schemeClr val="accent6">
                    <a:lumMod val="75000"/>
                  </a:schemeClr>
                </a:solidFill>
              </a:rPr>
              <a:t>::</a:t>
            </a:r>
            <a:r>
              <a:rPr lang="en-US" dirty="0" err="1">
                <a:solidFill>
                  <a:schemeClr val="accent6">
                    <a:lumMod val="75000"/>
                  </a:schemeClr>
                </a:solidFill>
              </a:rPr>
              <a:t>params_t</a:t>
            </a:r>
            <a:r>
              <a:rPr lang="en-US" dirty="0">
                <a:solidFill>
                  <a:schemeClr val="accent6">
                    <a:lumMod val="75000"/>
                  </a:schemeClr>
                </a:solidFill>
              </a:rPr>
              <a:t> </a:t>
            </a:r>
            <a:r>
              <a:rPr lang="en-US" dirty="0"/>
              <a:t>to perform this</a:t>
            </a:r>
          </a:p>
          <a:p>
            <a:pPr lvl="1"/>
            <a:r>
              <a:rPr lang="en-US" dirty="0"/>
              <a:t>Optionally modify the default parameters by creating a  new user defined STATIC_PARAM struct based on the default </a:t>
            </a:r>
          </a:p>
          <a:p>
            <a:pPr lvl="1"/>
            <a:endParaRPr lang="en-US" dirty="0"/>
          </a:p>
        </p:txBody>
      </p:sp>
      <p:sp>
        <p:nvSpPr>
          <p:cNvPr id="8" name="Slide Number Placeholder 5">
            <a:extLst>
              <a:ext uri="{FF2B5EF4-FFF2-40B4-BE49-F238E27FC236}">
                <a16:creationId xmlns:a16="http://schemas.microsoft.com/office/drawing/2014/main" id="{449F3570-17E4-4474-8C38-1530A01C0761}"/>
              </a:ext>
            </a:extLst>
          </p:cNvPr>
          <p:cNvSpPr>
            <a:spLocks noGrp="1"/>
          </p:cNvSpPr>
          <p:nvPr>
            <p:ph type="sldNum" sz="quarter" idx="4"/>
          </p:nvPr>
        </p:nvSpPr>
        <p:spPr/>
        <p:txBody>
          <a:bodyPr/>
          <a:lstStyle/>
          <a:p>
            <a:pPr>
              <a:defRPr/>
            </a:pPr>
            <a:r>
              <a:rPr lang="en-US" dirty="0"/>
              <a:t>Coding Considerations 23- </a:t>
            </a:r>
            <a:fld id="{060BD193-E118-4B16-863C-C8C12C675E3E}" type="slidenum">
              <a:rPr lang="en-US" smtClean="0"/>
              <a:pPr>
                <a:defRPr/>
              </a:pPr>
              <a:t>66</a:t>
            </a:fld>
            <a:endParaRPr lang="en-US" dirty="0"/>
          </a:p>
        </p:txBody>
      </p:sp>
      <p:sp>
        <p:nvSpPr>
          <p:cNvPr id="7" name="TextBox 6">
            <a:extLst>
              <a:ext uri="{FF2B5EF4-FFF2-40B4-BE49-F238E27FC236}">
                <a16:creationId xmlns:a16="http://schemas.microsoft.com/office/drawing/2014/main" id="{7D8EB1E9-6FC9-4926-937C-DD9FC31FC698}"/>
              </a:ext>
            </a:extLst>
          </p:cNvPr>
          <p:cNvSpPr txBox="1"/>
          <p:nvPr/>
        </p:nvSpPr>
        <p:spPr bwMode="auto">
          <a:xfrm>
            <a:off x="6348907" y="1618883"/>
            <a:ext cx="5117274" cy="1277273"/>
          </a:xfrm>
          <a:prstGeom prst="rect">
            <a:avLst/>
          </a:prstGeom>
          <a:solidFill>
            <a:srgbClr val="008CA8">
              <a:lumMod val="20000"/>
              <a:lumOff val="80000"/>
            </a:srgbClr>
          </a:solidFill>
          <a:ln w="9525">
            <a:noFill/>
            <a:miter lim="800000"/>
            <a:headEnd/>
            <a:tailEnd/>
          </a:ln>
          <a:effectLst>
            <a:outerShdw blurRad="50800" dist="38100" dir="2700000" algn="tl" rotWithShape="0">
              <a:prstClr val="black">
                <a:alpha val="40000"/>
              </a:prstClr>
            </a:outerShdw>
          </a:effectLst>
        </p:spPr>
        <p:txBody>
          <a:bodyPr vert="horz" wrap="square" lIns="0" tIns="45720" rIns="91440" bIns="45720" numCol="1" rtlCol="0" anchor="t" anchorCtr="0" compatLnSpc="1">
            <a:prstTxWarp prst="textNoShape">
              <a:avLst/>
            </a:prstTxWarp>
            <a:spAutoFit/>
          </a:bodyPr>
          <a:lstStyle>
            <a:defPPr>
              <a:defRPr lang="en-US"/>
            </a:defPPr>
            <a:lvl1pPr>
              <a:defRPr sz="1100"/>
            </a:lvl1pPr>
          </a:lstStyle>
          <a:p>
            <a:pPr defTabSz="914400" fontAlgn="base">
              <a:spcBef>
                <a:spcPct val="0"/>
              </a:spcBef>
              <a:spcAft>
                <a:spcPct val="0"/>
              </a:spcAft>
              <a:defRPr/>
            </a:pPr>
            <a:r>
              <a:rPr lang="en-US" b="1" kern="0" dirty="0">
                <a:solidFill>
                  <a:srgbClr val="3F3F3F"/>
                </a:solidFill>
              </a:rPr>
              <a:t> </a:t>
            </a:r>
            <a:r>
              <a:rPr lang="en-US" kern="0" dirty="0">
                <a:solidFill>
                  <a:srgbClr val="000000"/>
                </a:solidFill>
              </a:rPr>
              <a:t>#include "</a:t>
            </a:r>
            <a:r>
              <a:rPr lang="en-US" b="1" kern="0" dirty="0" err="1">
                <a:solidFill>
                  <a:srgbClr val="000000"/>
                </a:solidFill>
              </a:rPr>
              <a:t>hls_fft.h</a:t>
            </a:r>
            <a:r>
              <a:rPr lang="en-US" kern="0" dirty="0">
                <a:solidFill>
                  <a:srgbClr val="000000"/>
                </a:solidFill>
              </a:rPr>
              <a:t>“</a:t>
            </a:r>
          </a:p>
          <a:p>
            <a:pPr defTabSz="914400" fontAlgn="base">
              <a:spcBef>
                <a:spcPct val="0"/>
              </a:spcBef>
              <a:spcAft>
                <a:spcPct val="0"/>
              </a:spcAft>
              <a:defRPr/>
            </a:pPr>
            <a:endParaRPr lang="en-US" kern="0" dirty="0">
              <a:solidFill>
                <a:srgbClr val="000000"/>
              </a:solidFill>
            </a:endParaRPr>
          </a:p>
          <a:p>
            <a:pPr defTabSz="914400" fontAlgn="base">
              <a:spcBef>
                <a:spcPct val="0"/>
              </a:spcBef>
              <a:spcAft>
                <a:spcPct val="0"/>
              </a:spcAft>
              <a:defRPr/>
            </a:pPr>
            <a:r>
              <a:rPr lang="en-US" b="1" kern="0" dirty="0" err="1">
                <a:solidFill>
                  <a:srgbClr val="8B8D09">
                    <a:lumMod val="75000"/>
                  </a:srgbClr>
                </a:solidFill>
              </a:rPr>
              <a:t>hls</a:t>
            </a:r>
            <a:r>
              <a:rPr lang="en-US" b="1" kern="0" dirty="0">
                <a:solidFill>
                  <a:srgbClr val="8B8D09">
                    <a:lumMod val="75000"/>
                  </a:srgbClr>
                </a:solidFill>
              </a:rPr>
              <a:t>::</a:t>
            </a:r>
            <a:r>
              <a:rPr lang="en-US" b="1" kern="0" dirty="0" err="1">
                <a:solidFill>
                  <a:srgbClr val="8B8D09">
                    <a:lumMod val="75000"/>
                  </a:srgbClr>
                </a:solidFill>
              </a:rPr>
              <a:t>fft</a:t>
            </a:r>
            <a:r>
              <a:rPr lang="en-US" kern="0" dirty="0">
                <a:solidFill>
                  <a:srgbClr val="000000"/>
                </a:solidFill>
              </a:rPr>
              <a:t>&lt;</a:t>
            </a:r>
            <a:r>
              <a:rPr lang="en-US" b="1" kern="0" dirty="0">
                <a:solidFill>
                  <a:srgbClr val="000000"/>
                </a:solidFill>
              </a:rPr>
              <a:t>STATIC_PARAM</a:t>
            </a:r>
            <a:r>
              <a:rPr lang="en-US" kern="0" dirty="0">
                <a:solidFill>
                  <a:srgbClr val="000000"/>
                </a:solidFill>
              </a:rPr>
              <a:t>&gt; (                          </a:t>
            </a:r>
            <a:r>
              <a:rPr lang="en-US" b="1" kern="0" dirty="0">
                <a:solidFill>
                  <a:srgbClr val="000000"/>
                </a:solidFill>
              </a:rPr>
              <a:t>// Static Parameterization Struct</a:t>
            </a:r>
          </a:p>
          <a:p>
            <a:pPr defTabSz="914400" fontAlgn="base">
              <a:spcBef>
                <a:spcPct val="0"/>
              </a:spcBef>
              <a:spcAft>
                <a:spcPct val="0"/>
              </a:spcAft>
              <a:defRPr/>
            </a:pPr>
            <a:r>
              <a:rPr lang="en-US" kern="0" dirty="0">
                <a:solidFill>
                  <a:srgbClr val="000000"/>
                </a:solidFill>
              </a:rPr>
              <a:t>  INPUT_DATA_ARRAY,            	// Input data fixed or float</a:t>
            </a:r>
          </a:p>
          <a:p>
            <a:pPr defTabSz="914400" fontAlgn="base">
              <a:spcBef>
                <a:spcPct val="0"/>
              </a:spcBef>
              <a:spcAft>
                <a:spcPct val="0"/>
              </a:spcAft>
              <a:defRPr/>
            </a:pPr>
            <a:r>
              <a:rPr lang="en-US" kern="0" dirty="0">
                <a:solidFill>
                  <a:srgbClr val="000000"/>
                </a:solidFill>
              </a:rPr>
              <a:t>  OUTPUT_DATA_ARRAY,        	// Output data fixed or float</a:t>
            </a:r>
          </a:p>
          <a:p>
            <a:pPr defTabSz="914400" fontAlgn="base">
              <a:spcBef>
                <a:spcPct val="0"/>
              </a:spcBef>
              <a:spcAft>
                <a:spcPct val="0"/>
              </a:spcAft>
              <a:defRPr/>
            </a:pPr>
            <a:r>
              <a:rPr lang="en-US" kern="0" dirty="0">
                <a:solidFill>
                  <a:srgbClr val="000000"/>
                </a:solidFill>
              </a:rPr>
              <a:t>  OUTPUT_STATUS,                 	// Output Status</a:t>
            </a:r>
          </a:p>
          <a:p>
            <a:pPr defTabSz="914400" fontAlgn="base">
              <a:spcBef>
                <a:spcPct val="0"/>
              </a:spcBef>
              <a:spcAft>
                <a:spcPct val="0"/>
              </a:spcAft>
              <a:defRPr/>
            </a:pPr>
            <a:r>
              <a:rPr lang="en-US" kern="0" dirty="0">
                <a:solidFill>
                  <a:srgbClr val="000000"/>
                </a:solidFill>
              </a:rPr>
              <a:t>  INPUT_RUN_TIME_CONFIGURATION); 	// Input Run Time Configuration</a:t>
            </a:r>
          </a:p>
        </p:txBody>
      </p:sp>
    </p:spTree>
    <p:extLst>
      <p:ext uri="{BB962C8B-B14F-4D97-AF65-F5344CB8AC3E}">
        <p14:creationId xmlns:p14="http://schemas.microsoft.com/office/powerpoint/2010/main" val="29553310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FFT Function</a:t>
            </a:r>
          </a:p>
        </p:txBody>
      </p:sp>
      <p:sp>
        <p:nvSpPr>
          <p:cNvPr id="2" name="Content Placeholder 1"/>
          <p:cNvSpPr>
            <a:spLocks noGrp="1"/>
          </p:cNvSpPr>
          <p:nvPr>
            <p:ph idx="1"/>
          </p:nvPr>
        </p:nvSpPr>
        <p:spPr/>
        <p:txBody>
          <a:bodyPr/>
          <a:lstStyle/>
          <a:p>
            <a:r>
              <a:rPr lang="en-US" dirty="0"/>
              <a:t>Using the FFT</a:t>
            </a:r>
          </a:p>
          <a:p>
            <a:pPr lvl="1"/>
            <a:r>
              <a:rPr lang="en-US" dirty="0"/>
              <a:t>Include the </a:t>
            </a:r>
            <a:r>
              <a:rPr lang="en-US" dirty="0" err="1"/>
              <a:t>hls_fft.h</a:t>
            </a:r>
            <a:r>
              <a:rPr lang="en-US" dirty="0"/>
              <a:t> library in the code</a:t>
            </a:r>
          </a:p>
          <a:p>
            <a:pPr lvl="2"/>
            <a:r>
              <a:rPr lang="en-US" dirty="0"/>
              <a:t>This defines the FFT and supporting </a:t>
            </a:r>
            <a:br>
              <a:rPr lang="en-US" dirty="0"/>
            </a:br>
            <a:r>
              <a:rPr lang="en-US" dirty="0" err="1"/>
              <a:t>structs</a:t>
            </a:r>
            <a:r>
              <a:rPr lang="en-US" dirty="0"/>
              <a:t> and types</a:t>
            </a:r>
          </a:p>
          <a:p>
            <a:pPr lvl="2"/>
            <a:r>
              <a:rPr lang="en-US" dirty="0"/>
              <a:t>Allows </a:t>
            </a:r>
            <a:r>
              <a:rPr lang="en-US" dirty="0" err="1">
                <a:solidFill>
                  <a:schemeClr val="accent6">
                    <a:lumMod val="75000"/>
                  </a:schemeClr>
                </a:solidFill>
              </a:rPr>
              <a:t>hls</a:t>
            </a:r>
            <a:r>
              <a:rPr lang="en-US" dirty="0">
                <a:solidFill>
                  <a:schemeClr val="accent6">
                    <a:lumMod val="75000"/>
                  </a:schemeClr>
                </a:solidFill>
              </a:rPr>
              <a:t>::</a:t>
            </a:r>
            <a:r>
              <a:rPr lang="en-US" dirty="0" err="1">
                <a:solidFill>
                  <a:schemeClr val="accent6">
                    <a:lumMod val="75000"/>
                  </a:schemeClr>
                </a:solidFill>
              </a:rPr>
              <a:t>fft</a:t>
            </a:r>
            <a:r>
              <a:rPr lang="en-US" dirty="0">
                <a:solidFill>
                  <a:schemeClr val="accent6">
                    <a:lumMod val="75000"/>
                  </a:schemeClr>
                </a:solidFill>
              </a:rPr>
              <a:t> </a:t>
            </a:r>
            <a:r>
              <a:rPr lang="en-US" dirty="0"/>
              <a:t>to be instantiated in your code</a:t>
            </a:r>
          </a:p>
          <a:p>
            <a:pPr lvl="1"/>
            <a:r>
              <a:rPr lang="en-US" dirty="0"/>
              <a:t>Use the STATIC_PARAM template parameter to parameterize the FFT</a:t>
            </a:r>
          </a:p>
          <a:p>
            <a:pPr lvl="2"/>
            <a:r>
              <a:rPr lang="en-US" dirty="0"/>
              <a:t>The STATIC_PARAM template parameter defines all static configuration values</a:t>
            </a:r>
          </a:p>
          <a:p>
            <a:pPr lvl="2"/>
            <a:r>
              <a:rPr lang="en-US" dirty="0"/>
              <a:t>The Library provides a pre-defined struct </a:t>
            </a:r>
            <a:r>
              <a:rPr lang="en-US" dirty="0" err="1">
                <a:solidFill>
                  <a:schemeClr val="accent6">
                    <a:lumMod val="75000"/>
                  </a:schemeClr>
                </a:solidFill>
              </a:rPr>
              <a:t>hls</a:t>
            </a:r>
            <a:r>
              <a:rPr lang="en-US" dirty="0">
                <a:solidFill>
                  <a:schemeClr val="accent6">
                    <a:lumMod val="75000"/>
                  </a:schemeClr>
                </a:solidFill>
              </a:rPr>
              <a:t>::</a:t>
            </a:r>
            <a:r>
              <a:rPr lang="en-US" dirty="0" err="1">
                <a:solidFill>
                  <a:schemeClr val="accent6">
                    <a:lumMod val="75000"/>
                  </a:schemeClr>
                </a:solidFill>
              </a:rPr>
              <a:t>ip_fft</a:t>
            </a:r>
            <a:r>
              <a:rPr lang="en-US" dirty="0">
                <a:solidFill>
                  <a:schemeClr val="accent6">
                    <a:lumMod val="75000"/>
                  </a:schemeClr>
                </a:solidFill>
              </a:rPr>
              <a:t>::</a:t>
            </a:r>
            <a:r>
              <a:rPr lang="en-US" dirty="0" err="1">
                <a:solidFill>
                  <a:schemeClr val="accent6">
                    <a:lumMod val="75000"/>
                  </a:schemeClr>
                </a:solidFill>
              </a:rPr>
              <a:t>params_t</a:t>
            </a:r>
            <a:r>
              <a:rPr lang="en-US" dirty="0">
                <a:solidFill>
                  <a:schemeClr val="accent6">
                    <a:lumMod val="75000"/>
                  </a:schemeClr>
                </a:solidFill>
              </a:rPr>
              <a:t> </a:t>
            </a:r>
            <a:r>
              <a:rPr lang="en-US" dirty="0"/>
              <a:t>to perform this</a:t>
            </a:r>
          </a:p>
          <a:p>
            <a:pPr lvl="1"/>
            <a:r>
              <a:rPr lang="en-US" dirty="0"/>
              <a:t>Optionally modify the default parameters by creating a  new user defined STATIC_PARAM struct based on the default </a:t>
            </a:r>
          </a:p>
          <a:p>
            <a:pPr lvl="1"/>
            <a:endParaRPr lang="en-US" dirty="0"/>
          </a:p>
        </p:txBody>
      </p:sp>
      <p:sp>
        <p:nvSpPr>
          <p:cNvPr id="6" name="Slide Number Placeholder 5"/>
          <p:cNvSpPr>
            <a:spLocks noGrp="1"/>
          </p:cNvSpPr>
          <p:nvPr>
            <p:ph type="sldNum" sz="quarter" idx="10"/>
          </p:nvPr>
        </p:nvSpPr>
        <p:spPr/>
        <p:txBody>
          <a:bodyPr/>
          <a:lstStyle/>
          <a:p>
            <a:pPr defTabSz="914400">
              <a:defRPr/>
            </a:pPr>
            <a:r>
              <a:rPr lang="en-US" dirty="0">
                <a:solidFill>
                  <a:srgbClr val="0C0C0C">
                    <a:tint val="75000"/>
                  </a:srgbClr>
                </a:solidFill>
                <a:latin typeface="Arial"/>
              </a:rPr>
              <a:t>Coding Considerations 23- </a:t>
            </a:r>
            <a:fld id="{060BD193-E118-4B16-863C-C8C12C675E3E}" type="slidenum">
              <a:rPr lang="en-US">
                <a:solidFill>
                  <a:srgbClr val="0C0C0C">
                    <a:tint val="75000"/>
                  </a:srgbClr>
                </a:solidFill>
                <a:latin typeface="Arial"/>
              </a:rPr>
              <a:pPr defTabSz="914400">
                <a:defRPr/>
              </a:pPr>
              <a:t>67</a:t>
            </a:fld>
            <a:endParaRPr lang="en-US" dirty="0">
              <a:solidFill>
                <a:srgbClr val="0C0C0C">
                  <a:tint val="75000"/>
                </a:srgbClr>
              </a:solidFill>
              <a:latin typeface="Arial"/>
            </a:endParaRPr>
          </a:p>
        </p:txBody>
      </p:sp>
      <p:sp>
        <p:nvSpPr>
          <p:cNvPr id="7" name="TextBox 6">
            <a:extLst>
              <a:ext uri="{FF2B5EF4-FFF2-40B4-BE49-F238E27FC236}">
                <a16:creationId xmlns:a16="http://schemas.microsoft.com/office/drawing/2014/main" id="{7D8EB1E9-6FC9-4926-937C-DD9FC31FC698}"/>
              </a:ext>
            </a:extLst>
          </p:cNvPr>
          <p:cNvSpPr txBox="1"/>
          <p:nvPr/>
        </p:nvSpPr>
        <p:spPr bwMode="auto">
          <a:xfrm>
            <a:off x="6348907" y="1618883"/>
            <a:ext cx="5117274" cy="1277273"/>
          </a:xfrm>
          <a:prstGeom prst="rect">
            <a:avLst/>
          </a:prstGeom>
          <a:solidFill>
            <a:srgbClr val="008CA8">
              <a:lumMod val="20000"/>
              <a:lumOff val="80000"/>
            </a:srgbClr>
          </a:solidFill>
          <a:ln w="9525">
            <a:noFill/>
            <a:miter lim="800000"/>
            <a:headEnd/>
            <a:tailEnd/>
          </a:ln>
          <a:effectLst>
            <a:outerShdw blurRad="50800" dist="38100" dir="2700000" algn="tl" rotWithShape="0">
              <a:prstClr val="black">
                <a:alpha val="40000"/>
              </a:prstClr>
            </a:outerShdw>
          </a:effectLst>
        </p:spPr>
        <p:txBody>
          <a:bodyPr vert="horz" wrap="square" lIns="0" tIns="45720" rIns="91440" bIns="45720" numCol="1" rtlCol="0" anchor="t" anchorCtr="0" compatLnSpc="1">
            <a:prstTxWarp prst="textNoShape">
              <a:avLst/>
            </a:prstTxWarp>
            <a:spAutoFit/>
          </a:bodyPr>
          <a:lstStyle>
            <a:defPPr>
              <a:defRPr lang="en-US"/>
            </a:defPPr>
            <a:lvl1pPr>
              <a:defRPr sz="1100"/>
            </a:lvl1pPr>
          </a:lstStyle>
          <a:p>
            <a:pPr defTabSz="914400" fontAlgn="base">
              <a:spcBef>
                <a:spcPct val="0"/>
              </a:spcBef>
              <a:spcAft>
                <a:spcPct val="0"/>
              </a:spcAft>
              <a:defRPr/>
            </a:pPr>
            <a:r>
              <a:rPr lang="en-US" b="1" kern="0" dirty="0">
                <a:solidFill>
                  <a:srgbClr val="3F3F3F"/>
                </a:solidFill>
                <a:latin typeface="Arial"/>
              </a:rPr>
              <a:t> </a:t>
            </a:r>
            <a:r>
              <a:rPr lang="en-US" kern="0" dirty="0">
                <a:solidFill>
                  <a:srgbClr val="000000"/>
                </a:solidFill>
                <a:latin typeface="Arial"/>
              </a:rPr>
              <a:t>#include "</a:t>
            </a:r>
            <a:r>
              <a:rPr lang="en-US" b="1" kern="0" dirty="0" err="1">
                <a:solidFill>
                  <a:srgbClr val="000000"/>
                </a:solidFill>
                <a:latin typeface="Arial"/>
              </a:rPr>
              <a:t>hls_fft.h</a:t>
            </a:r>
            <a:r>
              <a:rPr lang="en-US" kern="0" dirty="0">
                <a:solidFill>
                  <a:srgbClr val="000000"/>
                </a:solidFill>
                <a:latin typeface="Arial"/>
              </a:rPr>
              <a:t>“</a:t>
            </a:r>
          </a:p>
          <a:p>
            <a:pPr defTabSz="914400" fontAlgn="base">
              <a:spcBef>
                <a:spcPct val="0"/>
              </a:spcBef>
              <a:spcAft>
                <a:spcPct val="0"/>
              </a:spcAft>
              <a:defRPr/>
            </a:pPr>
            <a:endParaRPr lang="en-US" kern="0" dirty="0">
              <a:solidFill>
                <a:srgbClr val="000000"/>
              </a:solidFill>
              <a:latin typeface="Arial"/>
            </a:endParaRPr>
          </a:p>
          <a:p>
            <a:pPr defTabSz="914400" fontAlgn="base">
              <a:spcBef>
                <a:spcPct val="0"/>
              </a:spcBef>
              <a:spcAft>
                <a:spcPct val="0"/>
              </a:spcAft>
              <a:defRPr/>
            </a:pPr>
            <a:r>
              <a:rPr lang="en-US" b="1" kern="0" dirty="0" err="1">
                <a:solidFill>
                  <a:srgbClr val="8B8D09">
                    <a:lumMod val="75000"/>
                  </a:srgbClr>
                </a:solidFill>
                <a:latin typeface="Arial"/>
              </a:rPr>
              <a:t>hls</a:t>
            </a:r>
            <a:r>
              <a:rPr lang="en-US" b="1" kern="0" dirty="0">
                <a:solidFill>
                  <a:srgbClr val="8B8D09">
                    <a:lumMod val="75000"/>
                  </a:srgbClr>
                </a:solidFill>
                <a:latin typeface="Arial"/>
              </a:rPr>
              <a:t>::</a:t>
            </a:r>
            <a:r>
              <a:rPr lang="en-US" b="1" kern="0" dirty="0" err="1">
                <a:solidFill>
                  <a:srgbClr val="8B8D09">
                    <a:lumMod val="75000"/>
                  </a:srgbClr>
                </a:solidFill>
                <a:latin typeface="Arial"/>
              </a:rPr>
              <a:t>fft</a:t>
            </a:r>
            <a:r>
              <a:rPr lang="en-US" kern="0" dirty="0">
                <a:solidFill>
                  <a:srgbClr val="000000"/>
                </a:solidFill>
                <a:latin typeface="Arial"/>
              </a:rPr>
              <a:t>&lt;</a:t>
            </a:r>
            <a:r>
              <a:rPr lang="en-US" b="1" kern="0" dirty="0">
                <a:solidFill>
                  <a:srgbClr val="000000"/>
                </a:solidFill>
                <a:latin typeface="Arial"/>
              </a:rPr>
              <a:t>STATIC_PARAM</a:t>
            </a:r>
            <a:r>
              <a:rPr lang="en-US" kern="0" dirty="0">
                <a:solidFill>
                  <a:srgbClr val="000000"/>
                </a:solidFill>
                <a:latin typeface="Arial"/>
              </a:rPr>
              <a:t>&gt; (                          </a:t>
            </a:r>
            <a:r>
              <a:rPr lang="en-US" b="1" kern="0" dirty="0">
                <a:solidFill>
                  <a:srgbClr val="000000"/>
                </a:solidFill>
                <a:latin typeface="Arial"/>
              </a:rPr>
              <a:t>// Static Parameterization Struct</a:t>
            </a:r>
          </a:p>
          <a:p>
            <a:pPr defTabSz="914400" fontAlgn="base">
              <a:spcBef>
                <a:spcPct val="0"/>
              </a:spcBef>
              <a:spcAft>
                <a:spcPct val="0"/>
              </a:spcAft>
              <a:defRPr/>
            </a:pPr>
            <a:r>
              <a:rPr lang="en-US" kern="0" dirty="0">
                <a:solidFill>
                  <a:srgbClr val="000000"/>
                </a:solidFill>
                <a:latin typeface="Arial"/>
              </a:rPr>
              <a:t>  INPUT_DATA_ARRAY,            	// Input data fixed or float</a:t>
            </a:r>
          </a:p>
          <a:p>
            <a:pPr defTabSz="914400" fontAlgn="base">
              <a:spcBef>
                <a:spcPct val="0"/>
              </a:spcBef>
              <a:spcAft>
                <a:spcPct val="0"/>
              </a:spcAft>
              <a:defRPr/>
            </a:pPr>
            <a:r>
              <a:rPr lang="en-US" kern="0" dirty="0">
                <a:solidFill>
                  <a:srgbClr val="000000"/>
                </a:solidFill>
                <a:latin typeface="Arial"/>
              </a:rPr>
              <a:t>  OUTPUT_DATA_ARRAY,        	// Output data fixed or float</a:t>
            </a:r>
          </a:p>
          <a:p>
            <a:pPr defTabSz="914400" fontAlgn="base">
              <a:spcBef>
                <a:spcPct val="0"/>
              </a:spcBef>
              <a:spcAft>
                <a:spcPct val="0"/>
              </a:spcAft>
              <a:defRPr/>
            </a:pPr>
            <a:r>
              <a:rPr lang="en-US" kern="0" dirty="0">
                <a:solidFill>
                  <a:srgbClr val="000000"/>
                </a:solidFill>
                <a:latin typeface="Arial"/>
              </a:rPr>
              <a:t>  OUTPUT_STATUS,                 	// Output Status</a:t>
            </a:r>
          </a:p>
          <a:p>
            <a:pPr defTabSz="914400" fontAlgn="base">
              <a:spcBef>
                <a:spcPct val="0"/>
              </a:spcBef>
              <a:spcAft>
                <a:spcPct val="0"/>
              </a:spcAft>
              <a:defRPr/>
            </a:pPr>
            <a:r>
              <a:rPr lang="en-US" kern="0" dirty="0">
                <a:solidFill>
                  <a:srgbClr val="000000"/>
                </a:solidFill>
                <a:latin typeface="Arial"/>
              </a:rPr>
              <a:t>  INPUT_RUN_TIME_CONFIGURATION); 	// Input Run Time Configuration</a:t>
            </a:r>
          </a:p>
        </p:txBody>
      </p:sp>
    </p:spTree>
    <p:extLst>
      <p:ext uri="{BB962C8B-B14F-4D97-AF65-F5344CB8AC3E}">
        <p14:creationId xmlns:p14="http://schemas.microsoft.com/office/powerpoint/2010/main" val="414537972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FFT Static Configuration </a:t>
            </a:r>
          </a:p>
        </p:txBody>
      </p:sp>
      <p:sp>
        <p:nvSpPr>
          <p:cNvPr id="2" name="Content Placeholder 1"/>
          <p:cNvSpPr>
            <a:spLocks noGrp="1"/>
          </p:cNvSpPr>
          <p:nvPr>
            <p:ph idx="1"/>
          </p:nvPr>
        </p:nvSpPr>
        <p:spPr/>
        <p:txBody>
          <a:bodyPr/>
          <a:lstStyle/>
          <a:p>
            <a:r>
              <a:rPr lang="en-US" sz="2000" dirty="0"/>
              <a:t>Default Configuration Pre-defined</a:t>
            </a:r>
          </a:p>
          <a:p>
            <a:pPr lvl="1"/>
            <a:r>
              <a:rPr lang="en-US" sz="1800" dirty="0"/>
              <a:t>The </a:t>
            </a:r>
            <a:r>
              <a:rPr lang="en-US" sz="1800" dirty="0" err="1"/>
              <a:t>hls_fft.h</a:t>
            </a:r>
            <a:r>
              <a:rPr lang="en-US" sz="1800" dirty="0"/>
              <a:t> header file defines struct </a:t>
            </a:r>
            <a:r>
              <a:rPr lang="en-US" sz="1800" dirty="0" err="1">
                <a:solidFill>
                  <a:schemeClr val="accent6">
                    <a:lumMod val="75000"/>
                  </a:schemeClr>
                </a:solidFill>
              </a:rPr>
              <a:t>hls</a:t>
            </a:r>
            <a:r>
              <a:rPr lang="en-US" sz="1800" dirty="0">
                <a:solidFill>
                  <a:schemeClr val="accent6">
                    <a:lumMod val="75000"/>
                  </a:schemeClr>
                </a:solidFill>
              </a:rPr>
              <a:t>::</a:t>
            </a:r>
            <a:r>
              <a:rPr lang="en-US" sz="1800" dirty="0" err="1">
                <a:solidFill>
                  <a:schemeClr val="accent6">
                    <a:lumMod val="75000"/>
                  </a:schemeClr>
                </a:solidFill>
              </a:rPr>
              <a:t>ip_fft</a:t>
            </a:r>
            <a:r>
              <a:rPr lang="en-US" sz="1800" dirty="0">
                <a:solidFill>
                  <a:schemeClr val="accent6">
                    <a:lumMod val="75000"/>
                  </a:schemeClr>
                </a:solidFill>
              </a:rPr>
              <a:t>::</a:t>
            </a:r>
            <a:r>
              <a:rPr lang="en-US" sz="1800" dirty="0" err="1">
                <a:solidFill>
                  <a:schemeClr val="accent6">
                    <a:lumMod val="75000"/>
                  </a:schemeClr>
                </a:solidFill>
              </a:rPr>
              <a:t>params_t</a:t>
            </a:r>
            <a:endParaRPr lang="en-US" sz="1800" dirty="0">
              <a:solidFill>
                <a:schemeClr val="accent6">
                  <a:lumMod val="75000"/>
                </a:schemeClr>
              </a:solidFill>
            </a:endParaRPr>
          </a:p>
          <a:p>
            <a:pPr lvl="1"/>
            <a:r>
              <a:rPr lang="en-US" sz="1800" dirty="0"/>
              <a:t>This contains the default values for configuring the FFT</a:t>
            </a:r>
          </a:p>
          <a:p>
            <a:r>
              <a:rPr lang="en-US" sz="2000" dirty="0"/>
              <a:t>User defined struct</a:t>
            </a:r>
          </a:p>
          <a:p>
            <a:pPr lvl="1"/>
            <a:r>
              <a:rPr lang="en-US" sz="1800" dirty="0"/>
              <a:t>Allows the FFT to be easily configured</a:t>
            </a:r>
          </a:p>
          <a:p>
            <a:pPr lvl="1"/>
            <a:r>
              <a:rPr lang="en-US" sz="1800" dirty="0"/>
              <a:t>Based on </a:t>
            </a:r>
            <a:r>
              <a:rPr lang="en-US" sz="1800" dirty="0" err="1">
                <a:solidFill>
                  <a:schemeClr val="accent6">
                    <a:lumMod val="75000"/>
                  </a:schemeClr>
                </a:solidFill>
              </a:rPr>
              <a:t>hls</a:t>
            </a:r>
            <a:r>
              <a:rPr lang="en-US" sz="1800" dirty="0">
                <a:solidFill>
                  <a:schemeClr val="accent6">
                    <a:lumMod val="75000"/>
                  </a:schemeClr>
                </a:solidFill>
              </a:rPr>
              <a:t>::</a:t>
            </a:r>
            <a:r>
              <a:rPr lang="en-US" sz="1800" dirty="0" err="1">
                <a:solidFill>
                  <a:schemeClr val="accent6">
                    <a:lumMod val="75000"/>
                  </a:schemeClr>
                </a:solidFill>
              </a:rPr>
              <a:t>ip_fft</a:t>
            </a:r>
            <a:r>
              <a:rPr lang="en-US" sz="1800" dirty="0">
                <a:solidFill>
                  <a:schemeClr val="accent6">
                    <a:lumMod val="75000"/>
                  </a:schemeClr>
                </a:solidFill>
              </a:rPr>
              <a:t>::</a:t>
            </a:r>
            <a:r>
              <a:rPr lang="en-US" sz="1800" dirty="0" err="1">
                <a:solidFill>
                  <a:schemeClr val="accent6">
                    <a:lumMod val="75000"/>
                  </a:schemeClr>
                </a:solidFill>
              </a:rPr>
              <a:t>params_t</a:t>
            </a:r>
            <a:endParaRPr lang="en-US" sz="1800" dirty="0">
              <a:solidFill>
                <a:schemeClr val="accent6">
                  <a:lumMod val="75000"/>
                </a:schemeClr>
              </a:solidFill>
            </a:endParaRPr>
          </a:p>
          <a:p>
            <a:pPr lvl="1"/>
            <a:r>
              <a:rPr lang="en-US" sz="1800" dirty="0"/>
              <a:t>User struct simply updates any specified value </a:t>
            </a:r>
          </a:p>
          <a:p>
            <a:pPr lvl="1"/>
            <a:endParaRPr lang="en-US" sz="1800" dirty="0"/>
          </a:p>
        </p:txBody>
      </p:sp>
      <p:sp>
        <p:nvSpPr>
          <p:cNvPr id="12" name="Slide Number Placeholder 5">
            <a:extLst>
              <a:ext uri="{FF2B5EF4-FFF2-40B4-BE49-F238E27FC236}">
                <a16:creationId xmlns:a16="http://schemas.microsoft.com/office/drawing/2014/main" id="{ED4D60D7-6DAD-4AFD-9423-ECF5D0A997C3}"/>
              </a:ext>
            </a:extLst>
          </p:cNvPr>
          <p:cNvSpPr>
            <a:spLocks noGrp="1"/>
          </p:cNvSpPr>
          <p:nvPr>
            <p:ph type="sldNum" sz="quarter" idx="4"/>
          </p:nvPr>
        </p:nvSpPr>
        <p:spPr/>
        <p:txBody>
          <a:bodyPr/>
          <a:lstStyle/>
          <a:p>
            <a:pPr>
              <a:defRPr/>
            </a:pPr>
            <a:r>
              <a:rPr lang="en-US" dirty="0"/>
              <a:t>Coding Considerations 23- </a:t>
            </a:r>
            <a:fld id="{060BD193-E118-4B16-863C-C8C12C675E3E}" type="slidenum">
              <a:rPr lang="en-US" smtClean="0"/>
              <a:pPr>
                <a:defRPr/>
              </a:pPr>
              <a:t>68</a:t>
            </a:fld>
            <a:endParaRPr lang="en-US" dirty="0"/>
          </a:p>
        </p:txBody>
      </p:sp>
      <p:sp>
        <p:nvSpPr>
          <p:cNvPr id="8" name="TextBox 7">
            <a:extLst>
              <a:ext uri="{FF2B5EF4-FFF2-40B4-BE49-F238E27FC236}">
                <a16:creationId xmlns:a16="http://schemas.microsoft.com/office/drawing/2014/main" id="{12536452-8428-4DF5-B49C-C040D3DD852C}"/>
              </a:ext>
            </a:extLst>
          </p:cNvPr>
          <p:cNvSpPr txBox="1"/>
          <p:nvPr/>
        </p:nvSpPr>
        <p:spPr bwMode="auto">
          <a:xfrm>
            <a:off x="1651221" y="4106881"/>
            <a:ext cx="4067780" cy="1785104"/>
          </a:xfrm>
          <a:prstGeom prst="rect">
            <a:avLst/>
          </a:prstGeom>
          <a:solidFill>
            <a:srgbClr val="008CA8">
              <a:lumMod val="20000"/>
              <a:lumOff val="80000"/>
            </a:srgbClr>
          </a:solidFill>
          <a:ln w="9525">
            <a:noFill/>
            <a:miter lim="800000"/>
            <a:headEnd/>
            <a:tailEnd/>
          </a:ln>
          <a:effectLst>
            <a:outerShdw blurRad="50800" dist="38100" dir="2700000" algn="tl" rotWithShape="0">
              <a:prstClr val="black">
                <a:alpha val="40000"/>
              </a:prstClr>
            </a:outerShdw>
          </a:effectLst>
        </p:spPr>
        <p:txBody>
          <a:bodyPr vert="horz" wrap="none" lIns="0" tIns="45720" rIns="91440" bIns="45720" numCol="1" rtlCol="0" anchor="t" anchorCtr="0" compatLnSpc="1">
            <a:prstTxWarp prst="textNoShape">
              <a:avLst/>
            </a:prstTxWarp>
            <a:spAutoFit/>
          </a:bodyPr>
          <a:lstStyle/>
          <a:p>
            <a:pPr defTabSz="914400" fontAlgn="base">
              <a:spcBef>
                <a:spcPct val="0"/>
              </a:spcBef>
              <a:spcAft>
                <a:spcPct val="0"/>
              </a:spcAft>
              <a:defRPr/>
            </a:pPr>
            <a:r>
              <a:rPr lang="en-US" sz="1100" b="1" kern="0" dirty="0">
                <a:solidFill>
                  <a:srgbClr val="3F3F3F"/>
                </a:solidFill>
              </a:rPr>
              <a:t> </a:t>
            </a:r>
            <a:r>
              <a:rPr lang="en-US" sz="1100" kern="0" dirty="0">
                <a:solidFill>
                  <a:srgbClr val="000000"/>
                </a:solidFill>
              </a:rPr>
              <a:t>#include "</a:t>
            </a:r>
            <a:r>
              <a:rPr lang="en-US" sz="1100" kern="0" dirty="0" err="1">
                <a:solidFill>
                  <a:srgbClr val="000000"/>
                </a:solidFill>
              </a:rPr>
              <a:t>hls_fft.h</a:t>
            </a:r>
            <a:r>
              <a:rPr lang="en-US" sz="1100" kern="0" dirty="0">
                <a:solidFill>
                  <a:srgbClr val="000000"/>
                </a:solidFill>
              </a:rPr>
              <a:t>“</a:t>
            </a:r>
          </a:p>
          <a:p>
            <a:pPr defTabSz="914400" fontAlgn="base">
              <a:spcBef>
                <a:spcPct val="0"/>
              </a:spcBef>
              <a:spcAft>
                <a:spcPct val="0"/>
              </a:spcAft>
              <a:defRPr/>
            </a:pPr>
            <a:endParaRPr lang="en-US" sz="1100" kern="0" dirty="0">
              <a:solidFill>
                <a:srgbClr val="000000"/>
              </a:solidFill>
            </a:endParaRPr>
          </a:p>
          <a:p>
            <a:pPr defTabSz="914400" fontAlgn="base">
              <a:spcBef>
                <a:spcPct val="0"/>
              </a:spcBef>
              <a:spcAft>
                <a:spcPct val="0"/>
              </a:spcAft>
              <a:defRPr/>
            </a:pPr>
            <a:r>
              <a:rPr lang="en-US" sz="1100" kern="0" dirty="0">
                <a:solidFill>
                  <a:srgbClr val="000000"/>
                </a:solidFill>
              </a:rPr>
              <a:t>struct </a:t>
            </a:r>
            <a:r>
              <a:rPr lang="en-US" sz="1100" b="1" kern="0" dirty="0">
                <a:solidFill>
                  <a:srgbClr val="000000"/>
                </a:solidFill>
              </a:rPr>
              <a:t>param1</a:t>
            </a:r>
            <a:r>
              <a:rPr lang="en-US" sz="1100" kern="0" dirty="0">
                <a:solidFill>
                  <a:srgbClr val="000000"/>
                </a:solidFill>
              </a:rPr>
              <a:t> : </a:t>
            </a:r>
            <a:r>
              <a:rPr lang="en-US" sz="1100" kern="0" dirty="0" err="1">
                <a:solidFill>
                  <a:srgbClr val="8B8D09">
                    <a:lumMod val="75000"/>
                  </a:srgbClr>
                </a:solidFill>
              </a:rPr>
              <a:t>hls</a:t>
            </a:r>
            <a:r>
              <a:rPr lang="en-US" sz="1100" kern="0" dirty="0">
                <a:solidFill>
                  <a:srgbClr val="8B8D09">
                    <a:lumMod val="75000"/>
                  </a:srgbClr>
                </a:solidFill>
              </a:rPr>
              <a:t>::</a:t>
            </a:r>
            <a:r>
              <a:rPr lang="en-US" sz="1100" kern="0" dirty="0" err="1">
                <a:solidFill>
                  <a:srgbClr val="8B8D09">
                    <a:lumMod val="75000"/>
                  </a:srgbClr>
                </a:solidFill>
              </a:rPr>
              <a:t>ip_fft</a:t>
            </a:r>
            <a:r>
              <a:rPr lang="en-US" sz="1100" kern="0" dirty="0">
                <a:solidFill>
                  <a:srgbClr val="8B8D09">
                    <a:lumMod val="75000"/>
                  </a:srgbClr>
                </a:solidFill>
              </a:rPr>
              <a:t>::</a:t>
            </a:r>
            <a:r>
              <a:rPr lang="en-US" sz="1100" kern="0" dirty="0" err="1">
                <a:solidFill>
                  <a:srgbClr val="8B8D09">
                    <a:lumMod val="75000"/>
                  </a:srgbClr>
                </a:solidFill>
              </a:rPr>
              <a:t>params_t</a:t>
            </a:r>
            <a:r>
              <a:rPr lang="en-US" sz="1100" kern="0" dirty="0">
                <a:solidFill>
                  <a:srgbClr val="8B8D09">
                    <a:lumMod val="75000"/>
                  </a:srgbClr>
                </a:solidFill>
              </a:rPr>
              <a:t> </a:t>
            </a:r>
            <a:r>
              <a:rPr lang="en-US" sz="1100" kern="0" dirty="0">
                <a:solidFill>
                  <a:srgbClr val="000000"/>
                </a:solidFill>
              </a:rPr>
              <a:t>{</a:t>
            </a:r>
          </a:p>
          <a:p>
            <a:pPr defTabSz="914400" fontAlgn="base">
              <a:spcBef>
                <a:spcPct val="0"/>
              </a:spcBef>
              <a:spcAft>
                <a:spcPct val="0"/>
              </a:spcAft>
              <a:defRPr/>
            </a:pPr>
            <a:r>
              <a:rPr lang="en-US" sz="1100" kern="0" dirty="0">
                <a:solidFill>
                  <a:srgbClr val="000000"/>
                </a:solidFill>
              </a:rPr>
              <a:t>    static </a:t>
            </a:r>
            <a:r>
              <a:rPr lang="en-US" sz="1100" kern="0" dirty="0" err="1">
                <a:solidFill>
                  <a:srgbClr val="000000"/>
                </a:solidFill>
              </a:rPr>
              <a:t>const</a:t>
            </a:r>
            <a:r>
              <a:rPr lang="en-US" sz="1100" kern="0" dirty="0">
                <a:solidFill>
                  <a:srgbClr val="000000"/>
                </a:solidFill>
              </a:rPr>
              <a:t> unsigned </a:t>
            </a:r>
            <a:r>
              <a:rPr lang="en-US" sz="1100" kern="0" dirty="0" err="1">
                <a:solidFill>
                  <a:srgbClr val="000000"/>
                </a:solidFill>
              </a:rPr>
              <a:t>ordering_opt</a:t>
            </a:r>
            <a:r>
              <a:rPr lang="en-US" sz="1100" kern="0" dirty="0">
                <a:solidFill>
                  <a:srgbClr val="000000"/>
                </a:solidFill>
              </a:rPr>
              <a:t> = </a:t>
            </a:r>
            <a:r>
              <a:rPr lang="en-US" sz="1100" kern="0" dirty="0" err="1">
                <a:solidFill>
                  <a:srgbClr val="000000"/>
                </a:solidFill>
              </a:rPr>
              <a:t>hls</a:t>
            </a:r>
            <a:r>
              <a:rPr lang="en-US" sz="1100" kern="0" dirty="0">
                <a:solidFill>
                  <a:srgbClr val="000000"/>
                </a:solidFill>
              </a:rPr>
              <a:t>::</a:t>
            </a:r>
            <a:r>
              <a:rPr lang="en-US" sz="1100" kern="0" dirty="0" err="1">
                <a:solidFill>
                  <a:srgbClr val="000000"/>
                </a:solidFill>
              </a:rPr>
              <a:t>ip_fft</a:t>
            </a:r>
            <a:r>
              <a:rPr lang="en-US" sz="1100" kern="0" dirty="0">
                <a:solidFill>
                  <a:srgbClr val="000000"/>
                </a:solidFill>
              </a:rPr>
              <a:t>::</a:t>
            </a:r>
            <a:r>
              <a:rPr lang="en-US" sz="1100" kern="0" dirty="0" err="1">
                <a:solidFill>
                  <a:srgbClr val="000000"/>
                </a:solidFill>
              </a:rPr>
              <a:t>natural_order</a:t>
            </a:r>
            <a:r>
              <a:rPr lang="en-US" sz="1100" kern="0" dirty="0">
                <a:solidFill>
                  <a:srgbClr val="000000"/>
                </a:solidFill>
              </a:rPr>
              <a:t>;</a:t>
            </a:r>
          </a:p>
          <a:p>
            <a:pPr defTabSz="914400" fontAlgn="base">
              <a:spcBef>
                <a:spcPct val="0"/>
              </a:spcBef>
              <a:spcAft>
                <a:spcPct val="0"/>
              </a:spcAft>
              <a:defRPr/>
            </a:pPr>
            <a:r>
              <a:rPr lang="en-US" sz="1100" kern="0" dirty="0">
                <a:solidFill>
                  <a:srgbClr val="000000"/>
                </a:solidFill>
              </a:rPr>
              <a:t>    static </a:t>
            </a:r>
            <a:r>
              <a:rPr lang="en-US" sz="1100" kern="0" dirty="0" err="1">
                <a:solidFill>
                  <a:srgbClr val="000000"/>
                </a:solidFill>
              </a:rPr>
              <a:t>const</a:t>
            </a:r>
            <a:r>
              <a:rPr lang="en-US" sz="1100" kern="0" dirty="0">
                <a:solidFill>
                  <a:srgbClr val="000000"/>
                </a:solidFill>
              </a:rPr>
              <a:t> unsigned </a:t>
            </a:r>
            <a:r>
              <a:rPr lang="en-US" sz="1100" kern="0" dirty="0" err="1">
                <a:solidFill>
                  <a:srgbClr val="000000"/>
                </a:solidFill>
              </a:rPr>
              <a:t>config_width</a:t>
            </a:r>
            <a:r>
              <a:rPr lang="en-US" sz="1100" kern="0" dirty="0">
                <a:solidFill>
                  <a:srgbClr val="000000"/>
                </a:solidFill>
              </a:rPr>
              <a:t> = FFT_CONFIG_WIDTH;</a:t>
            </a:r>
          </a:p>
          <a:p>
            <a:pPr defTabSz="914400" fontAlgn="base">
              <a:spcBef>
                <a:spcPct val="0"/>
              </a:spcBef>
              <a:spcAft>
                <a:spcPct val="0"/>
              </a:spcAft>
              <a:defRPr/>
            </a:pPr>
            <a:r>
              <a:rPr lang="en-US" sz="1100" kern="0" dirty="0">
                <a:solidFill>
                  <a:srgbClr val="000000"/>
                </a:solidFill>
              </a:rPr>
              <a:t>    static </a:t>
            </a:r>
            <a:r>
              <a:rPr lang="en-US" sz="1100" kern="0" dirty="0" err="1">
                <a:solidFill>
                  <a:srgbClr val="000000"/>
                </a:solidFill>
              </a:rPr>
              <a:t>const</a:t>
            </a:r>
            <a:r>
              <a:rPr lang="en-US" sz="1100" kern="0" dirty="0">
                <a:solidFill>
                  <a:srgbClr val="000000"/>
                </a:solidFill>
              </a:rPr>
              <a:t> unsigned </a:t>
            </a:r>
            <a:r>
              <a:rPr lang="en-US" sz="1100" kern="0" dirty="0" err="1">
                <a:solidFill>
                  <a:srgbClr val="000000"/>
                </a:solidFill>
              </a:rPr>
              <a:t>status_width</a:t>
            </a:r>
            <a:r>
              <a:rPr lang="en-US" sz="1100" kern="0" dirty="0">
                <a:solidFill>
                  <a:srgbClr val="000000"/>
                </a:solidFill>
              </a:rPr>
              <a:t> = FFT_STATUS_WIDTH;</a:t>
            </a:r>
          </a:p>
          <a:p>
            <a:pPr defTabSz="914400" fontAlgn="base">
              <a:spcBef>
                <a:spcPct val="0"/>
              </a:spcBef>
              <a:spcAft>
                <a:spcPct val="0"/>
              </a:spcAft>
              <a:defRPr/>
            </a:pPr>
            <a:r>
              <a:rPr lang="en-US" sz="1100" kern="0" dirty="0">
                <a:solidFill>
                  <a:srgbClr val="000000"/>
                </a:solidFill>
              </a:rPr>
              <a:t>};</a:t>
            </a:r>
          </a:p>
          <a:p>
            <a:pPr defTabSz="914400" fontAlgn="base">
              <a:spcBef>
                <a:spcPct val="0"/>
              </a:spcBef>
              <a:spcAft>
                <a:spcPct val="0"/>
              </a:spcAft>
              <a:defRPr/>
            </a:pPr>
            <a:endParaRPr lang="en-US" sz="1100" kern="0" dirty="0">
              <a:solidFill>
                <a:srgbClr val="000000"/>
              </a:solidFill>
            </a:endParaRPr>
          </a:p>
          <a:p>
            <a:pPr defTabSz="914400" fontAlgn="base">
              <a:spcBef>
                <a:spcPct val="0"/>
              </a:spcBef>
              <a:spcAft>
                <a:spcPct val="0"/>
              </a:spcAft>
              <a:defRPr/>
            </a:pPr>
            <a:r>
              <a:rPr lang="en-US" sz="1100" kern="0" dirty="0">
                <a:solidFill>
                  <a:srgbClr val="000000"/>
                </a:solidFill>
              </a:rPr>
              <a:t> // FFT IP</a:t>
            </a:r>
          </a:p>
          <a:p>
            <a:pPr defTabSz="914400" fontAlgn="base">
              <a:spcBef>
                <a:spcPct val="0"/>
              </a:spcBef>
              <a:spcAft>
                <a:spcPct val="0"/>
              </a:spcAft>
              <a:defRPr/>
            </a:pPr>
            <a:r>
              <a:rPr lang="en-US" sz="1100" kern="0" dirty="0">
                <a:solidFill>
                  <a:srgbClr val="000000"/>
                </a:solidFill>
              </a:rPr>
              <a:t>    </a:t>
            </a:r>
            <a:r>
              <a:rPr lang="en-US" sz="1100" kern="0" dirty="0" err="1">
                <a:solidFill>
                  <a:srgbClr val="000000"/>
                </a:solidFill>
              </a:rPr>
              <a:t>hls</a:t>
            </a:r>
            <a:r>
              <a:rPr lang="en-US" sz="1100" kern="0" dirty="0">
                <a:solidFill>
                  <a:srgbClr val="000000"/>
                </a:solidFill>
              </a:rPr>
              <a:t>::</a:t>
            </a:r>
            <a:r>
              <a:rPr lang="en-US" sz="1100" kern="0" dirty="0" err="1">
                <a:solidFill>
                  <a:srgbClr val="000000"/>
                </a:solidFill>
              </a:rPr>
              <a:t>fft</a:t>
            </a:r>
            <a:r>
              <a:rPr lang="en-US" sz="1100" kern="0" dirty="0">
                <a:solidFill>
                  <a:srgbClr val="000000"/>
                </a:solidFill>
              </a:rPr>
              <a:t>&lt;</a:t>
            </a:r>
            <a:r>
              <a:rPr lang="en-US" sz="1100" b="1" kern="0" dirty="0">
                <a:solidFill>
                  <a:srgbClr val="000000"/>
                </a:solidFill>
              </a:rPr>
              <a:t>param1</a:t>
            </a:r>
            <a:r>
              <a:rPr lang="en-US" sz="1100" kern="0" dirty="0">
                <a:solidFill>
                  <a:srgbClr val="000000"/>
                </a:solidFill>
              </a:rPr>
              <a:t>&gt; (xn1, xk1, &amp;fft_status1, &amp;fft_config1);</a:t>
            </a:r>
          </a:p>
        </p:txBody>
      </p:sp>
      <p:sp>
        <p:nvSpPr>
          <p:cNvPr id="9" name="TextBox 8">
            <a:extLst>
              <a:ext uri="{FF2B5EF4-FFF2-40B4-BE49-F238E27FC236}">
                <a16:creationId xmlns:a16="http://schemas.microsoft.com/office/drawing/2014/main" id="{ED079E11-0516-473C-B833-2C8D2FA6E612}"/>
              </a:ext>
            </a:extLst>
          </p:cNvPr>
          <p:cNvSpPr txBox="1"/>
          <p:nvPr/>
        </p:nvSpPr>
        <p:spPr bwMode="auto">
          <a:xfrm>
            <a:off x="6839880" y="4106883"/>
            <a:ext cx="2328202" cy="264111"/>
          </a:xfrm>
          <a:prstGeom prst="rect">
            <a:avLst/>
          </a:prstGeom>
          <a:solidFill>
            <a:srgbClr val="FFFF99"/>
          </a:soli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0" tIns="45720" rIns="91440" bIns="45720" numCol="1" rtlCol="0" anchor="t" anchorCtr="0" compatLnSpc="1">
            <a:prstTxWarp prst="textNoShape">
              <a:avLst/>
            </a:prstTxWarp>
            <a:spAutoFit/>
          </a:bodyPr>
          <a:lstStyle/>
          <a:p>
            <a:pPr defTabSz="914400" eaLnBrk="0" fontAlgn="base" hangingPunct="0">
              <a:lnSpc>
                <a:spcPct val="110000"/>
              </a:lnSpc>
              <a:spcBef>
                <a:spcPct val="20000"/>
              </a:spcBef>
              <a:spcAft>
                <a:spcPct val="0"/>
              </a:spcAft>
              <a:buClr>
                <a:srgbClr val="EC891D"/>
              </a:buClr>
              <a:buSzPct val="88000"/>
              <a:defRPr/>
            </a:pPr>
            <a:r>
              <a:rPr lang="en-US" sz="1100" b="1" kern="0" dirty="0">
                <a:solidFill>
                  <a:srgbClr val="000000"/>
                </a:solidFill>
                <a:latin typeface="Arial"/>
              </a:rPr>
              <a:t>  Include Header File</a:t>
            </a:r>
          </a:p>
        </p:txBody>
      </p:sp>
      <p:sp>
        <p:nvSpPr>
          <p:cNvPr id="11" name="TextBox 10">
            <a:extLst>
              <a:ext uri="{FF2B5EF4-FFF2-40B4-BE49-F238E27FC236}">
                <a16:creationId xmlns:a16="http://schemas.microsoft.com/office/drawing/2014/main" id="{31D0321A-6061-45D3-9A33-83E12F1D9CF8}"/>
              </a:ext>
            </a:extLst>
          </p:cNvPr>
          <p:cNvSpPr txBox="1"/>
          <p:nvPr/>
        </p:nvSpPr>
        <p:spPr bwMode="auto">
          <a:xfrm>
            <a:off x="6842256" y="4539039"/>
            <a:ext cx="5024780" cy="1061829"/>
          </a:xfrm>
          <a:prstGeom prst="rect">
            <a:avLst/>
          </a:prstGeom>
          <a:solidFill>
            <a:srgbClr val="FFFF99"/>
          </a:soli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0" tIns="45720" rIns="91440" bIns="45720" numCol="1" rtlCol="0" anchor="t" anchorCtr="0" compatLnSpc="1">
            <a:prstTxWarp prst="textNoShape">
              <a:avLst/>
            </a:prstTxWarp>
            <a:spAutoFit/>
          </a:bodyPr>
          <a:lstStyle/>
          <a:p>
            <a:pPr defTabSz="914400" eaLnBrk="0" fontAlgn="base" hangingPunct="0">
              <a:lnSpc>
                <a:spcPct val="110000"/>
              </a:lnSpc>
              <a:spcBef>
                <a:spcPct val="20000"/>
              </a:spcBef>
              <a:spcAft>
                <a:spcPct val="0"/>
              </a:spcAft>
              <a:buClr>
                <a:srgbClr val="EC891D"/>
              </a:buClr>
              <a:buSzPct val="88000"/>
              <a:defRPr/>
            </a:pPr>
            <a:r>
              <a:rPr lang="en-US" sz="1000" b="1" kern="0" dirty="0">
                <a:solidFill>
                  <a:srgbClr val="000000"/>
                </a:solidFill>
                <a:latin typeface="Arial"/>
              </a:rPr>
              <a:t>  Create struct based on </a:t>
            </a:r>
            <a:r>
              <a:rPr lang="en-US" sz="1000" b="1" kern="0" dirty="0" err="1">
                <a:solidFill>
                  <a:srgbClr val="000000"/>
                </a:solidFill>
                <a:latin typeface="Arial"/>
              </a:rPr>
              <a:t>hls</a:t>
            </a:r>
            <a:r>
              <a:rPr lang="en-US" sz="1000" b="1" kern="0" dirty="0">
                <a:solidFill>
                  <a:srgbClr val="000000"/>
                </a:solidFill>
                <a:latin typeface="Arial"/>
              </a:rPr>
              <a:t>::</a:t>
            </a:r>
            <a:r>
              <a:rPr lang="en-US" sz="1000" b="1" kern="0" dirty="0" err="1">
                <a:solidFill>
                  <a:srgbClr val="000000"/>
                </a:solidFill>
                <a:latin typeface="Arial"/>
              </a:rPr>
              <a:t>ip</a:t>
            </a:r>
            <a:r>
              <a:rPr lang="en-US" sz="1000" b="1" kern="0" dirty="0">
                <a:solidFill>
                  <a:srgbClr val="000000"/>
                </a:solidFill>
                <a:latin typeface="Arial"/>
              </a:rPr>
              <a:t>::</a:t>
            </a:r>
            <a:r>
              <a:rPr lang="en-US" sz="1000" b="1" kern="0" dirty="0" err="1">
                <a:solidFill>
                  <a:srgbClr val="000000"/>
                </a:solidFill>
                <a:latin typeface="Arial"/>
              </a:rPr>
              <a:t>fft:params_t</a:t>
            </a:r>
            <a:endParaRPr lang="en-US" sz="1000" b="1" kern="0" dirty="0">
              <a:solidFill>
                <a:srgbClr val="000000"/>
              </a:solidFill>
              <a:latin typeface="Arial"/>
            </a:endParaRPr>
          </a:p>
          <a:p>
            <a:pPr marL="628650" lvl="1" indent="-171450" defTabSz="914400" eaLnBrk="0" fontAlgn="base" hangingPunct="0">
              <a:lnSpc>
                <a:spcPct val="110000"/>
              </a:lnSpc>
              <a:spcBef>
                <a:spcPct val="20000"/>
              </a:spcBef>
              <a:spcAft>
                <a:spcPct val="0"/>
              </a:spcAft>
              <a:buClr>
                <a:srgbClr val="EC891D"/>
              </a:buClr>
              <a:buSzPct val="88000"/>
              <a:buFont typeface="Arial" pitchFamily="34" charset="0"/>
              <a:buChar char="•"/>
              <a:defRPr/>
            </a:pPr>
            <a:r>
              <a:rPr lang="en-US" sz="1000" b="1" kern="0" dirty="0" err="1">
                <a:solidFill>
                  <a:srgbClr val="000000"/>
                </a:solidFill>
                <a:latin typeface="Arial"/>
              </a:rPr>
              <a:t>params_t</a:t>
            </a:r>
            <a:r>
              <a:rPr lang="en-US" sz="1000" b="1" kern="0" dirty="0">
                <a:solidFill>
                  <a:srgbClr val="000000"/>
                </a:solidFill>
                <a:latin typeface="Arial"/>
              </a:rPr>
              <a:t> includes the default values</a:t>
            </a:r>
          </a:p>
          <a:p>
            <a:pPr marL="628650" lvl="1" indent="-171450" defTabSz="914400" eaLnBrk="0" fontAlgn="base" hangingPunct="0">
              <a:lnSpc>
                <a:spcPct val="110000"/>
              </a:lnSpc>
              <a:spcBef>
                <a:spcPct val="20000"/>
              </a:spcBef>
              <a:spcAft>
                <a:spcPct val="0"/>
              </a:spcAft>
              <a:buClr>
                <a:srgbClr val="EC891D"/>
              </a:buClr>
              <a:buSzPct val="88000"/>
              <a:buFont typeface="Arial" pitchFamily="34" charset="0"/>
              <a:buChar char="•"/>
              <a:defRPr/>
            </a:pPr>
            <a:r>
              <a:rPr lang="en-US" sz="1000" b="1" kern="0" dirty="0">
                <a:solidFill>
                  <a:srgbClr val="000000"/>
                </a:solidFill>
                <a:latin typeface="Arial"/>
              </a:rPr>
              <a:t>Struct </a:t>
            </a:r>
            <a:r>
              <a:rPr lang="en-US" sz="1000" b="1" i="1" kern="0" dirty="0">
                <a:solidFill>
                  <a:srgbClr val="000000"/>
                </a:solidFill>
                <a:latin typeface="Arial"/>
              </a:rPr>
              <a:t>param1</a:t>
            </a:r>
            <a:r>
              <a:rPr lang="en-US" sz="1000" b="1" kern="0" dirty="0">
                <a:solidFill>
                  <a:srgbClr val="000000"/>
                </a:solidFill>
                <a:latin typeface="Arial"/>
              </a:rPr>
              <a:t> overrides 3 default values in this example</a:t>
            </a:r>
          </a:p>
          <a:p>
            <a:pPr marL="628650" lvl="1" indent="-171450" defTabSz="914400" eaLnBrk="0" fontAlgn="base" hangingPunct="0">
              <a:lnSpc>
                <a:spcPct val="110000"/>
              </a:lnSpc>
              <a:spcBef>
                <a:spcPct val="20000"/>
              </a:spcBef>
              <a:spcAft>
                <a:spcPct val="0"/>
              </a:spcAft>
              <a:buClr>
                <a:srgbClr val="EC891D"/>
              </a:buClr>
              <a:buSzPct val="88000"/>
              <a:buFont typeface="Arial" pitchFamily="34" charset="0"/>
              <a:buChar char="•"/>
              <a:defRPr/>
            </a:pPr>
            <a:r>
              <a:rPr lang="en-US" sz="1000" b="1" kern="0" dirty="0">
                <a:solidFill>
                  <a:srgbClr val="000000"/>
                </a:solidFill>
                <a:latin typeface="Arial"/>
              </a:rPr>
              <a:t>Struct </a:t>
            </a:r>
            <a:r>
              <a:rPr lang="en-US" sz="1000" b="1" i="1" kern="0" dirty="0">
                <a:solidFill>
                  <a:srgbClr val="000000"/>
                </a:solidFill>
                <a:latin typeface="Arial"/>
              </a:rPr>
              <a:t>param1</a:t>
            </a:r>
            <a:r>
              <a:rPr lang="en-US" sz="1000" b="1" kern="0" dirty="0">
                <a:solidFill>
                  <a:srgbClr val="000000"/>
                </a:solidFill>
                <a:latin typeface="Arial"/>
              </a:rPr>
              <a:t> is then used to configure the FFT </a:t>
            </a:r>
          </a:p>
          <a:p>
            <a:pPr marL="628650" lvl="1" indent="-171450" defTabSz="914400" eaLnBrk="0" fontAlgn="base" hangingPunct="0">
              <a:lnSpc>
                <a:spcPct val="110000"/>
              </a:lnSpc>
              <a:spcBef>
                <a:spcPct val="20000"/>
              </a:spcBef>
              <a:spcAft>
                <a:spcPct val="0"/>
              </a:spcAft>
              <a:buClr>
                <a:srgbClr val="EC891D"/>
              </a:buClr>
              <a:buSzPct val="88000"/>
              <a:buFont typeface="Arial" pitchFamily="34" charset="0"/>
              <a:buChar char="•"/>
              <a:defRPr/>
            </a:pPr>
            <a:r>
              <a:rPr lang="en-US" sz="1000" b="1" kern="0" dirty="0">
                <a:solidFill>
                  <a:srgbClr val="000000"/>
                </a:solidFill>
                <a:latin typeface="Arial"/>
              </a:rPr>
              <a:t>Used as STATIC_PARAM in previous slide</a:t>
            </a:r>
          </a:p>
        </p:txBody>
      </p:sp>
    </p:spTree>
    <p:extLst>
      <p:ext uri="{BB962C8B-B14F-4D97-AF65-F5344CB8AC3E}">
        <p14:creationId xmlns:p14="http://schemas.microsoft.com/office/powerpoint/2010/main" val="31277539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FFT Static Configuration </a:t>
            </a:r>
          </a:p>
        </p:txBody>
      </p:sp>
      <p:sp>
        <p:nvSpPr>
          <p:cNvPr id="2" name="Content Placeholder 1"/>
          <p:cNvSpPr>
            <a:spLocks noGrp="1"/>
          </p:cNvSpPr>
          <p:nvPr>
            <p:ph idx="1"/>
          </p:nvPr>
        </p:nvSpPr>
        <p:spPr/>
        <p:txBody>
          <a:bodyPr/>
          <a:lstStyle/>
          <a:p>
            <a:r>
              <a:rPr lang="en-US" dirty="0"/>
              <a:t>Default Configuration Pre-defined</a:t>
            </a:r>
          </a:p>
          <a:p>
            <a:pPr lvl="1"/>
            <a:r>
              <a:rPr lang="en-US" dirty="0"/>
              <a:t>The </a:t>
            </a:r>
            <a:r>
              <a:rPr lang="en-US" dirty="0" err="1"/>
              <a:t>hls_fft.h</a:t>
            </a:r>
            <a:r>
              <a:rPr lang="en-US" dirty="0"/>
              <a:t> header file defines struct </a:t>
            </a:r>
            <a:r>
              <a:rPr lang="en-US" dirty="0" err="1">
                <a:solidFill>
                  <a:schemeClr val="accent6">
                    <a:lumMod val="75000"/>
                  </a:schemeClr>
                </a:solidFill>
              </a:rPr>
              <a:t>hls</a:t>
            </a:r>
            <a:r>
              <a:rPr lang="en-US" dirty="0">
                <a:solidFill>
                  <a:schemeClr val="accent6">
                    <a:lumMod val="75000"/>
                  </a:schemeClr>
                </a:solidFill>
              </a:rPr>
              <a:t>::</a:t>
            </a:r>
            <a:r>
              <a:rPr lang="en-US" dirty="0" err="1">
                <a:solidFill>
                  <a:schemeClr val="accent6">
                    <a:lumMod val="75000"/>
                  </a:schemeClr>
                </a:solidFill>
              </a:rPr>
              <a:t>ip_fft</a:t>
            </a:r>
            <a:r>
              <a:rPr lang="en-US" dirty="0">
                <a:solidFill>
                  <a:schemeClr val="accent6">
                    <a:lumMod val="75000"/>
                  </a:schemeClr>
                </a:solidFill>
              </a:rPr>
              <a:t>::</a:t>
            </a:r>
            <a:r>
              <a:rPr lang="en-US" dirty="0" err="1">
                <a:solidFill>
                  <a:schemeClr val="accent6">
                    <a:lumMod val="75000"/>
                  </a:schemeClr>
                </a:solidFill>
              </a:rPr>
              <a:t>params_t</a:t>
            </a:r>
            <a:endParaRPr lang="en-US" dirty="0">
              <a:solidFill>
                <a:schemeClr val="accent6">
                  <a:lumMod val="75000"/>
                </a:schemeClr>
              </a:solidFill>
            </a:endParaRPr>
          </a:p>
          <a:p>
            <a:pPr lvl="1"/>
            <a:r>
              <a:rPr lang="en-US" dirty="0"/>
              <a:t>This contains the default values for configuring the FFT</a:t>
            </a:r>
          </a:p>
          <a:p>
            <a:r>
              <a:rPr lang="en-US" dirty="0"/>
              <a:t>User defined struct</a:t>
            </a:r>
          </a:p>
          <a:p>
            <a:pPr lvl="1"/>
            <a:r>
              <a:rPr lang="en-US" dirty="0"/>
              <a:t>Allows the FFT to be easily configured</a:t>
            </a:r>
          </a:p>
          <a:p>
            <a:pPr lvl="1"/>
            <a:r>
              <a:rPr lang="en-US" dirty="0"/>
              <a:t>Based on </a:t>
            </a:r>
            <a:r>
              <a:rPr lang="en-US" dirty="0" err="1">
                <a:solidFill>
                  <a:schemeClr val="accent6">
                    <a:lumMod val="75000"/>
                  </a:schemeClr>
                </a:solidFill>
              </a:rPr>
              <a:t>hls</a:t>
            </a:r>
            <a:r>
              <a:rPr lang="en-US" dirty="0">
                <a:solidFill>
                  <a:schemeClr val="accent6">
                    <a:lumMod val="75000"/>
                  </a:schemeClr>
                </a:solidFill>
              </a:rPr>
              <a:t>::</a:t>
            </a:r>
            <a:r>
              <a:rPr lang="en-US" dirty="0" err="1">
                <a:solidFill>
                  <a:schemeClr val="accent6">
                    <a:lumMod val="75000"/>
                  </a:schemeClr>
                </a:solidFill>
              </a:rPr>
              <a:t>ip_fft</a:t>
            </a:r>
            <a:r>
              <a:rPr lang="en-US" dirty="0">
                <a:solidFill>
                  <a:schemeClr val="accent6">
                    <a:lumMod val="75000"/>
                  </a:schemeClr>
                </a:solidFill>
              </a:rPr>
              <a:t>::</a:t>
            </a:r>
            <a:r>
              <a:rPr lang="en-US" dirty="0" err="1">
                <a:solidFill>
                  <a:schemeClr val="accent6">
                    <a:lumMod val="75000"/>
                  </a:schemeClr>
                </a:solidFill>
              </a:rPr>
              <a:t>params_t</a:t>
            </a:r>
            <a:endParaRPr lang="en-US" dirty="0">
              <a:solidFill>
                <a:schemeClr val="accent6">
                  <a:lumMod val="75000"/>
                </a:schemeClr>
              </a:solidFill>
            </a:endParaRPr>
          </a:p>
          <a:p>
            <a:pPr lvl="1"/>
            <a:r>
              <a:rPr lang="en-US" dirty="0"/>
              <a:t>User struct simply updates any specified value </a:t>
            </a:r>
          </a:p>
          <a:p>
            <a:pPr lvl="1"/>
            <a:endParaRPr lang="en-US" dirty="0"/>
          </a:p>
        </p:txBody>
      </p:sp>
      <p:sp>
        <p:nvSpPr>
          <p:cNvPr id="10" name="Slide Number Placeholder 9"/>
          <p:cNvSpPr>
            <a:spLocks noGrp="1"/>
          </p:cNvSpPr>
          <p:nvPr>
            <p:ph type="sldNum" sz="quarter" idx="10"/>
          </p:nvPr>
        </p:nvSpPr>
        <p:spPr/>
        <p:txBody>
          <a:bodyPr/>
          <a:lstStyle/>
          <a:p>
            <a:pPr defTabSz="914400">
              <a:defRPr/>
            </a:pPr>
            <a:r>
              <a:rPr lang="en-US" dirty="0">
                <a:solidFill>
                  <a:srgbClr val="0C0C0C">
                    <a:tint val="75000"/>
                  </a:srgbClr>
                </a:solidFill>
                <a:latin typeface="Arial"/>
              </a:rPr>
              <a:t>Coding Considerations 23- </a:t>
            </a:r>
            <a:fld id="{060BD193-E118-4B16-863C-C8C12C675E3E}" type="slidenum">
              <a:rPr lang="en-US">
                <a:solidFill>
                  <a:srgbClr val="0C0C0C">
                    <a:tint val="75000"/>
                  </a:srgbClr>
                </a:solidFill>
                <a:latin typeface="Arial"/>
              </a:rPr>
              <a:pPr defTabSz="914400">
                <a:defRPr/>
              </a:pPr>
              <a:t>69</a:t>
            </a:fld>
            <a:endParaRPr lang="en-US" dirty="0">
              <a:solidFill>
                <a:srgbClr val="0C0C0C">
                  <a:tint val="75000"/>
                </a:srgbClr>
              </a:solidFill>
              <a:latin typeface="Arial"/>
            </a:endParaRPr>
          </a:p>
        </p:txBody>
      </p:sp>
      <p:sp>
        <p:nvSpPr>
          <p:cNvPr id="8" name="TextBox 7">
            <a:extLst>
              <a:ext uri="{FF2B5EF4-FFF2-40B4-BE49-F238E27FC236}">
                <a16:creationId xmlns:a16="http://schemas.microsoft.com/office/drawing/2014/main" id="{12536452-8428-4DF5-B49C-C040D3DD852C}"/>
              </a:ext>
            </a:extLst>
          </p:cNvPr>
          <p:cNvSpPr txBox="1"/>
          <p:nvPr/>
        </p:nvSpPr>
        <p:spPr bwMode="auto">
          <a:xfrm>
            <a:off x="1651221" y="4106881"/>
            <a:ext cx="4067780" cy="1785104"/>
          </a:xfrm>
          <a:prstGeom prst="rect">
            <a:avLst/>
          </a:prstGeom>
          <a:solidFill>
            <a:srgbClr val="008CA8">
              <a:lumMod val="20000"/>
              <a:lumOff val="80000"/>
            </a:srgbClr>
          </a:solidFill>
          <a:ln w="9525">
            <a:noFill/>
            <a:miter lim="800000"/>
            <a:headEnd/>
            <a:tailEnd/>
          </a:ln>
          <a:effectLst>
            <a:outerShdw blurRad="50800" dist="38100" dir="2700000" algn="tl" rotWithShape="0">
              <a:prstClr val="black">
                <a:alpha val="40000"/>
              </a:prstClr>
            </a:outerShdw>
          </a:effectLst>
        </p:spPr>
        <p:txBody>
          <a:bodyPr vert="horz" wrap="none" lIns="0" tIns="45720" rIns="91440" bIns="45720" numCol="1" rtlCol="0" anchor="t" anchorCtr="0" compatLnSpc="1">
            <a:prstTxWarp prst="textNoShape">
              <a:avLst/>
            </a:prstTxWarp>
            <a:spAutoFit/>
          </a:bodyPr>
          <a:lstStyle/>
          <a:p>
            <a:pPr defTabSz="914400" fontAlgn="base">
              <a:spcBef>
                <a:spcPct val="0"/>
              </a:spcBef>
              <a:spcAft>
                <a:spcPct val="0"/>
              </a:spcAft>
              <a:defRPr/>
            </a:pPr>
            <a:r>
              <a:rPr lang="en-US" sz="1100" b="1" kern="0" dirty="0">
                <a:solidFill>
                  <a:srgbClr val="3F3F3F"/>
                </a:solidFill>
                <a:latin typeface="Arial"/>
              </a:rPr>
              <a:t> </a:t>
            </a:r>
            <a:r>
              <a:rPr lang="en-US" sz="1100" kern="0" dirty="0">
                <a:solidFill>
                  <a:srgbClr val="000000"/>
                </a:solidFill>
                <a:latin typeface="Arial"/>
              </a:rPr>
              <a:t>#include "</a:t>
            </a:r>
            <a:r>
              <a:rPr lang="en-US" sz="1100" kern="0" dirty="0" err="1">
                <a:solidFill>
                  <a:srgbClr val="000000"/>
                </a:solidFill>
                <a:latin typeface="Arial"/>
              </a:rPr>
              <a:t>hls_fft.h</a:t>
            </a:r>
            <a:r>
              <a:rPr lang="en-US" sz="1100" kern="0" dirty="0">
                <a:solidFill>
                  <a:srgbClr val="000000"/>
                </a:solidFill>
                <a:latin typeface="Arial"/>
              </a:rPr>
              <a:t>“</a:t>
            </a:r>
          </a:p>
          <a:p>
            <a:pPr defTabSz="914400" fontAlgn="base">
              <a:spcBef>
                <a:spcPct val="0"/>
              </a:spcBef>
              <a:spcAft>
                <a:spcPct val="0"/>
              </a:spcAft>
              <a:defRPr/>
            </a:pPr>
            <a:endParaRPr lang="en-US" sz="1100" kern="0" dirty="0">
              <a:solidFill>
                <a:srgbClr val="000000"/>
              </a:solidFill>
              <a:latin typeface="Arial"/>
            </a:endParaRPr>
          </a:p>
          <a:p>
            <a:pPr defTabSz="914400" fontAlgn="base">
              <a:spcBef>
                <a:spcPct val="0"/>
              </a:spcBef>
              <a:spcAft>
                <a:spcPct val="0"/>
              </a:spcAft>
              <a:defRPr/>
            </a:pPr>
            <a:r>
              <a:rPr lang="en-US" sz="1100" kern="0" dirty="0">
                <a:solidFill>
                  <a:srgbClr val="000000"/>
                </a:solidFill>
                <a:latin typeface="Arial"/>
              </a:rPr>
              <a:t>struct </a:t>
            </a:r>
            <a:r>
              <a:rPr lang="en-US" sz="1100" b="1" kern="0" dirty="0">
                <a:solidFill>
                  <a:srgbClr val="000000"/>
                </a:solidFill>
                <a:latin typeface="Arial"/>
              </a:rPr>
              <a:t>param1</a:t>
            </a:r>
            <a:r>
              <a:rPr lang="en-US" sz="1100" kern="0" dirty="0">
                <a:solidFill>
                  <a:srgbClr val="000000"/>
                </a:solidFill>
                <a:latin typeface="Arial"/>
              </a:rPr>
              <a:t> : </a:t>
            </a:r>
            <a:r>
              <a:rPr lang="en-US" sz="1100" kern="0" dirty="0" err="1">
                <a:solidFill>
                  <a:srgbClr val="8B8D09">
                    <a:lumMod val="75000"/>
                  </a:srgbClr>
                </a:solidFill>
                <a:latin typeface="Arial"/>
              </a:rPr>
              <a:t>hls</a:t>
            </a:r>
            <a:r>
              <a:rPr lang="en-US" sz="1100" kern="0" dirty="0">
                <a:solidFill>
                  <a:srgbClr val="8B8D09">
                    <a:lumMod val="75000"/>
                  </a:srgbClr>
                </a:solidFill>
                <a:latin typeface="Arial"/>
              </a:rPr>
              <a:t>::</a:t>
            </a:r>
            <a:r>
              <a:rPr lang="en-US" sz="1100" kern="0" dirty="0" err="1">
                <a:solidFill>
                  <a:srgbClr val="8B8D09">
                    <a:lumMod val="75000"/>
                  </a:srgbClr>
                </a:solidFill>
                <a:latin typeface="Arial"/>
              </a:rPr>
              <a:t>ip_fft</a:t>
            </a:r>
            <a:r>
              <a:rPr lang="en-US" sz="1100" kern="0" dirty="0">
                <a:solidFill>
                  <a:srgbClr val="8B8D09">
                    <a:lumMod val="75000"/>
                  </a:srgbClr>
                </a:solidFill>
                <a:latin typeface="Arial"/>
              </a:rPr>
              <a:t>::</a:t>
            </a:r>
            <a:r>
              <a:rPr lang="en-US" sz="1100" kern="0" dirty="0" err="1">
                <a:solidFill>
                  <a:srgbClr val="8B8D09">
                    <a:lumMod val="75000"/>
                  </a:srgbClr>
                </a:solidFill>
                <a:latin typeface="Arial"/>
              </a:rPr>
              <a:t>params_t</a:t>
            </a:r>
            <a:r>
              <a:rPr lang="en-US" sz="1100" kern="0" dirty="0">
                <a:solidFill>
                  <a:srgbClr val="8B8D09">
                    <a:lumMod val="75000"/>
                  </a:srgbClr>
                </a:solidFill>
                <a:latin typeface="Arial"/>
              </a:rPr>
              <a:t> </a:t>
            </a:r>
            <a:r>
              <a:rPr lang="en-US" sz="1100" kern="0" dirty="0">
                <a:solidFill>
                  <a:srgbClr val="000000"/>
                </a:solidFill>
                <a:latin typeface="Arial"/>
              </a:rPr>
              <a:t>{</a:t>
            </a:r>
          </a:p>
          <a:p>
            <a:pPr defTabSz="914400" fontAlgn="base">
              <a:spcBef>
                <a:spcPct val="0"/>
              </a:spcBef>
              <a:spcAft>
                <a:spcPct val="0"/>
              </a:spcAft>
              <a:defRPr/>
            </a:pPr>
            <a:r>
              <a:rPr lang="en-US" sz="1100" kern="0" dirty="0">
                <a:solidFill>
                  <a:srgbClr val="000000"/>
                </a:solidFill>
                <a:latin typeface="Arial"/>
              </a:rPr>
              <a:t>    static </a:t>
            </a:r>
            <a:r>
              <a:rPr lang="en-US" sz="1100" kern="0" dirty="0" err="1">
                <a:solidFill>
                  <a:srgbClr val="000000"/>
                </a:solidFill>
                <a:latin typeface="Arial"/>
              </a:rPr>
              <a:t>const</a:t>
            </a:r>
            <a:r>
              <a:rPr lang="en-US" sz="1100" kern="0" dirty="0">
                <a:solidFill>
                  <a:srgbClr val="000000"/>
                </a:solidFill>
                <a:latin typeface="Arial"/>
              </a:rPr>
              <a:t> unsigned </a:t>
            </a:r>
            <a:r>
              <a:rPr lang="en-US" sz="1100" kern="0" dirty="0" err="1">
                <a:solidFill>
                  <a:srgbClr val="000000"/>
                </a:solidFill>
                <a:latin typeface="Arial"/>
              </a:rPr>
              <a:t>ordering_opt</a:t>
            </a:r>
            <a:r>
              <a:rPr lang="en-US" sz="1100" kern="0" dirty="0">
                <a:solidFill>
                  <a:srgbClr val="000000"/>
                </a:solidFill>
                <a:latin typeface="Arial"/>
              </a:rPr>
              <a:t> = </a:t>
            </a:r>
            <a:r>
              <a:rPr lang="en-US" sz="1100" kern="0" dirty="0" err="1">
                <a:solidFill>
                  <a:srgbClr val="000000"/>
                </a:solidFill>
                <a:latin typeface="Arial"/>
              </a:rPr>
              <a:t>hls</a:t>
            </a:r>
            <a:r>
              <a:rPr lang="en-US" sz="1100" kern="0" dirty="0">
                <a:solidFill>
                  <a:srgbClr val="000000"/>
                </a:solidFill>
                <a:latin typeface="Arial"/>
              </a:rPr>
              <a:t>::</a:t>
            </a:r>
            <a:r>
              <a:rPr lang="en-US" sz="1100" kern="0" dirty="0" err="1">
                <a:solidFill>
                  <a:srgbClr val="000000"/>
                </a:solidFill>
                <a:latin typeface="Arial"/>
              </a:rPr>
              <a:t>ip_fft</a:t>
            </a:r>
            <a:r>
              <a:rPr lang="en-US" sz="1100" kern="0" dirty="0">
                <a:solidFill>
                  <a:srgbClr val="000000"/>
                </a:solidFill>
                <a:latin typeface="Arial"/>
              </a:rPr>
              <a:t>::</a:t>
            </a:r>
            <a:r>
              <a:rPr lang="en-US" sz="1100" kern="0" dirty="0" err="1">
                <a:solidFill>
                  <a:srgbClr val="000000"/>
                </a:solidFill>
                <a:latin typeface="Arial"/>
              </a:rPr>
              <a:t>natural_order</a:t>
            </a:r>
            <a:r>
              <a:rPr lang="en-US" sz="1100" kern="0" dirty="0">
                <a:solidFill>
                  <a:srgbClr val="000000"/>
                </a:solidFill>
                <a:latin typeface="Arial"/>
              </a:rPr>
              <a:t>;</a:t>
            </a:r>
          </a:p>
          <a:p>
            <a:pPr defTabSz="914400" fontAlgn="base">
              <a:spcBef>
                <a:spcPct val="0"/>
              </a:spcBef>
              <a:spcAft>
                <a:spcPct val="0"/>
              </a:spcAft>
              <a:defRPr/>
            </a:pPr>
            <a:r>
              <a:rPr lang="en-US" sz="1100" kern="0" dirty="0">
                <a:solidFill>
                  <a:srgbClr val="000000"/>
                </a:solidFill>
                <a:latin typeface="Arial"/>
              </a:rPr>
              <a:t>    static </a:t>
            </a:r>
            <a:r>
              <a:rPr lang="en-US" sz="1100" kern="0" dirty="0" err="1">
                <a:solidFill>
                  <a:srgbClr val="000000"/>
                </a:solidFill>
                <a:latin typeface="Arial"/>
              </a:rPr>
              <a:t>const</a:t>
            </a:r>
            <a:r>
              <a:rPr lang="en-US" sz="1100" kern="0" dirty="0">
                <a:solidFill>
                  <a:srgbClr val="000000"/>
                </a:solidFill>
                <a:latin typeface="Arial"/>
              </a:rPr>
              <a:t> unsigned </a:t>
            </a:r>
            <a:r>
              <a:rPr lang="en-US" sz="1100" kern="0" dirty="0" err="1">
                <a:solidFill>
                  <a:srgbClr val="000000"/>
                </a:solidFill>
                <a:latin typeface="Arial"/>
              </a:rPr>
              <a:t>config_width</a:t>
            </a:r>
            <a:r>
              <a:rPr lang="en-US" sz="1100" kern="0" dirty="0">
                <a:solidFill>
                  <a:srgbClr val="000000"/>
                </a:solidFill>
                <a:latin typeface="Arial"/>
              </a:rPr>
              <a:t> = FFT_CONFIG_WIDTH;</a:t>
            </a:r>
          </a:p>
          <a:p>
            <a:pPr defTabSz="914400" fontAlgn="base">
              <a:spcBef>
                <a:spcPct val="0"/>
              </a:spcBef>
              <a:spcAft>
                <a:spcPct val="0"/>
              </a:spcAft>
              <a:defRPr/>
            </a:pPr>
            <a:r>
              <a:rPr lang="en-US" sz="1100" kern="0" dirty="0">
                <a:solidFill>
                  <a:srgbClr val="000000"/>
                </a:solidFill>
                <a:latin typeface="Arial"/>
              </a:rPr>
              <a:t>    static </a:t>
            </a:r>
            <a:r>
              <a:rPr lang="en-US" sz="1100" kern="0" dirty="0" err="1">
                <a:solidFill>
                  <a:srgbClr val="000000"/>
                </a:solidFill>
                <a:latin typeface="Arial"/>
              </a:rPr>
              <a:t>const</a:t>
            </a:r>
            <a:r>
              <a:rPr lang="en-US" sz="1100" kern="0" dirty="0">
                <a:solidFill>
                  <a:srgbClr val="000000"/>
                </a:solidFill>
                <a:latin typeface="Arial"/>
              </a:rPr>
              <a:t> unsigned </a:t>
            </a:r>
            <a:r>
              <a:rPr lang="en-US" sz="1100" kern="0" dirty="0" err="1">
                <a:solidFill>
                  <a:srgbClr val="000000"/>
                </a:solidFill>
                <a:latin typeface="Arial"/>
              </a:rPr>
              <a:t>status_width</a:t>
            </a:r>
            <a:r>
              <a:rPr lang="en-US" sz="1100" kern="0" dirty="0">
                <a:solidFill>
                  <a:srgbClr val="000000"/>
                </a:solidFill>
                <a:latin typeface="Arial"/>
              </a:rPr>
              <a:t> = FFT_STATUS_WIDTH;</a:t>
            </a:r>
          </a:p>
          <a:p>
            <a:pPr defTabSz="914400" fontAlgn="base">
              <a:spcBef>
                <a:spcPct val="0"/>
              </a:spcBef>
              <a:spcAft>
                <a:spcPct val="0"/>
              </a:spcAft>
              <a:defRPr/>
            </a:pPr>
            <a:r>
              <a:rPr lang="en-US" sz="1100" kern="0" dirty="0">
                <a:solidFill>
                  <a:srgbClr val="000000"/>
                </a:solidFill>
                <a:latin typeface="Arial"/>
              </a:rPr>
              <a:t>};</a:t>
            </a:r>
          </a:p>
          <a:p>
            <a:pPr defTabSz="914400" fontAlgn="base">
              <a:spcBef>
                <a:spcPct val="0"/>
              </a:spcBef>
              <a:spcAft>
                <a:spcPct val="0"/>
              </a:spcAft>
              <a:defRPr/>
            </a:pPr>
            <a:endParaRPr lang="en-US" sz="1100" kern="0" dirty="0">
              <a:solidFill>
                <a:srgbClr val="000000"/>
              </a:solidFill>
              <a:latin typeface="Arial"/>
            </a:endParaRPr>
          </a:p>
          <a:p>
            <a:pPr defTabSz="914400" fontAlgn="base">
              <a:spcBef>
                <a:spcPct val="0"/>
              </a:spcBef>
              <a:spcAft>
                <a:spcPct val="0"/>
              </a:spcAft>
              <a:defRPr/>
            </a:pPr>
            <a:r>
              <a:rPr lang="en-US" sz="1100" kern="0" dirty="0">
                <a:solidFill>
                  <a:srgbClr val="000000"/>
                </a:solidFill>
                <a:latin typeface="Arial"/>
              </a:rPr>
              <a:t> // FFT IP</a:t>
            </a:r>
          </a:p>
          <a:p>
            <a:pPr defTabSz="914400" fontAlgn="base">
              <a:spcBef>
                <a:spcPct val="0"/>
              </a:spcBef>
              <a:spcAft>
                <a:spcPct val="0"/>
              </a:spcAft>
              <a:defRPr/>
            </a:pPr>
            <a:r>
              <a:rPr lang="en-US" sz="1100" kern="0" dirty="0">
                <a:solidFill>
                  <a:srgbClr val="000000"/>
                </a:solidFill>
                <a:latin typeface="Arial"/>
              </a:rPr>
              <a:t>    </a:t>
            </a:r>
            <a:r>
              <a:rPr lang="en-US" sz="1100" kern="0" dirty="0" err="1">
                <a:solidFill>
                  <a:srgbClr val="000000"/>
                </a:solidFill>
                <a:latin typeface="Arial"/>
              </a:rPr>
              <a:t>hls</a:t>
            </a:r>
            <a:r>
              <a:rPr lang="en-US" sz="1100" kern="0" dirty="0">
                <a:solidFill>
                  <a:srgbClr val="000000"/>
                </a:solidFill>
                <a:latin typeface="Arial"/>
              </a:rPr>
              <a:t>::</a:t>
            </a:r>
            <a:r>
              <a:rPr lang="en-US" sz="1100" kern="0" dirty="0" err="1">
                <a:solidFill>
                  <a:srgbClr val="000000"/>
                </a:solidFill>
                <a:latin typeface="Arial"/>
              </a:rPr>
              <a:t>fft</a:t>
            </a:r>
            <a:r>
              <a:rPr lang="en-US" sz="1100" kern="0" dirty="0">
                <a:solidFill>
                  <a:srgbClr val="000000"/>
                </a:solidFill>
                <a:latin typeface="Arial"/>
              </a:rPr>
              <a:t>&lt;</a:t>
            </a:r>
            <a:r>
              <a:rPr lang="en-US" sz="1100" b="1" kern="0" dirty="0">
                <a:solidFill>
                  <a:srgbClr val="000000"/>
                </a:solidFill>
                <a:latin typeface="Arial"/>
              </a:rPr>
              <a:t>param1</a:t>
            </a:r>
            <a:r>
              <a:rPr lang="en-US" sz="1100" kern="0" dirty="0">
                <a:solidFill>
                  <a:srgbClr val="000000"/>
                </a:solidFill>
                <a:latin typeface="Arial"/>
              </a:rPr>
              <a:t>&gt; (xn1, xk1, &amp;fft_status1, &amp;fft_config1);</a:t>
            </a:r>
          </a:p>
        </p:txBody>
      </p:sp>
      <p:sp>
        <p:nvSpPr>
          <p:cNvPr id="9" name="TextBox 8">
            <a:extLst>
              <a:ext uri="{FF2B5EF4-FFF2-40B4-BE49-F238E27FC236}">
                <a16:creationId xmlns:a16="http://schemas.microsoft.com/office/drawing/2014/main" id="{ED079E11-0516-473C-B833-2C8D2FA6E612}"/>
              </a:ext>
            </a:extLst>
          </p:cNvPr>
          <p:cNvSpPr txBox="1"/>
          <p:nvPr/>
        </p:nvSpPr>
        <p:spPr bwMode="auto">
          <a:xfrm>
            <a:off x="6839880" y="4106883"/>
            <a:ext cx="2328202" cy="264111"/>
          </a:xfrm>
          <a:prstGeom prst="rect">
            <a:avLst/>
          </a:prstGeom>
          <a:solidFill>
            <a:srgbClr val="FFFF99"/>
          </a:soli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0" tIns="45720" rIns="91440" bIns="45720" numCol="1" rtlCol="0" anchor="t" anchorCtr="0" compatLnSpc="1">
            <a:prstTxWarp prst="textNoShape">
              <a:avLst/>
            </a:prstTxWarp>
            <a:spAutoFit/>
          </a:bodyPr>
          <a:lstStyle/>
          <a:p>
            <a:pPr defTabSz="914400" eaLnBrk="0" fontAlgn="base" hangingPunct="0">
              <a:lnSpc>
                <a:spcPct val="110000"/>
              </a:lnSpc>
              <a:spcBef>
                <a:spcPct val="20000"/>
              </a:spcBef>
              <a:spcAft>
                <a:spcPct val="0"/>
              </a:spcAft>
              <a:buClr>
                <a:srgbClr val="EC891D"/>
              </a:buClr>
              <a:buSzPct val="88000"/>
              <a:defRPr/>
            </a:pPr>
            <a:r>
              <a:rPr lang="en-US" sz="1100" b="1" kern="0" dirty="0">
                <a:solidFill>
                  <a:srgbClr val="000000"/>
                </a:solidFill>
                <a:latin typeface="Arial"/>
              </a:rPr>
              <a:t>  Include Header File</a:t>
            </a:r>
          </a:p>
        </p:txBody>
      </p:sp>
      <p:sp>
        <p:nvSpPr>
          <p:cNvPr id="11" name="TextBox 10">
            <a:extLst>
              <a:ext uri="{FF2B5EF4-FFF2-40B4-BE49-F238E27FC236}">
                <a16:creationId xmlns:a16="http://schemas.microsoft.com/office/drawing/2014/main" id="{31D0321A-6061-45D3-9A33-83E12F1D9CF8}"/>
              </a:ext>
            </a:extLst>
          </p:cNvPr>
          <p:cNvSpPr txBox="1"/>
          <p:nvPr/>
        </p:nvSpPr>
        <p:spPr bwMode="auto">
          <a:xfrm>
            <a:off x="6842256" y="4539039"/>
            <a:ext cx="5024780" cy="1061829"/>
          </a:xfrm>
          <a:prstGeom prst="rect">
            <a:avLst/>
          </a:prstGeom>
          <a:solidFill>
            <a:srgbClr val="FFFF99"/>
          </a:soli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0" tIns="45720" rIns="91440" bIns="45720" numCol="1" rtlCol="0" anchor="t" anchorCtr="0" compatLnSpc="1">
            <a:prstTxWarp prst="textNoShape">
              <a:avLst/>
            </a:prstTxWarp>
            <a:spAutoFit/>
          </a:bodyPr>
          <a:lstStyle/>
          <a:p>
            <a:pPr defTabSz="914400" eaLnBrk="0" fontAlgn="base" hangingPunct="0">
              <a:lnSpc>
                <a:spcPct val="110000"/>
              </a:lnSpc>
              <a:spcBef>
                <a:spcPct val="20000"/>
              </a:spcBef>
              <a:spcAft>
                <a:spcPct val="0"/>
              </a:spcAft>
              <a:buClr>
                <a:srgbClr val="EC891D"/>
              </a:buClr>
              <a:buSzPct val="88000"/>
              <a:defRPr/>
            </a:pPr>
            <a:r>
              <a:rPr lang="en-US" sz="1000" b="1" kern="0" dirty="0">
                <a:solidFill>
                  <a:srgbClr val="000000"/>
                </a:solidFill>
                <a:latin typeface="Arial"/>
              </a:rPr>
              <a:t>  Create struct based on </a:t>
            </a:r>
            <a:r>
              <a:rPr lang="en-US" sz="1000" b="1" kern="0" dirty="0" err="1">
                <a:solidFill>
                  <a:srgbClr val="000000"/>
                </a:solidFill>
                <a:latin typeface="Arial"/>
              </a:rPr>
              <a:t>hls</a:t>
            </a:r>
            <a:r>
              <a:rPr lang="en-US" sz="1000" b="1" kern="0" dirty="0">
                <a:solidFill>
                  <a:srgbClr val="000000"/>
                </a:solidFill>
                <a:latin typeface="Arial"/>
              </a:rPr>
              <a:t>::</a:t>
            </a:r>
            <a:r>
              <a:rPr lang="en-US" sz="1000" b="1" kern="0" dirty="0" err="1">
                <a:solidFill>
                  <a:srgbClr val="000000"/>
                </a:solidFill>
                <a:latin typeface="Arial"/>
              </a:rPr>
              <a:t>ip</a:t>
            </a:r>
            <a:r>
              <a:rPr lang="en-US" sz="1000" b="1" kern="0" dirty="0">
                <a:solidFill>
                  <a:srgbClr val="000000"/>
                </a:solidFill>
                <a:latin typeface="Arial"/>
              </a:rPr>
              <a:t>::</a:t>
            </a:r>
            <a:r>
              <a:rPr lang="en-US" sz="1000" b="1" kern="0" dirty="0" err="1">
                <a:solidFill>
                  <a:srgbClr val="000000"/>
                </a:solidFill>
                <a:latin typeface="Arial"/>
              </a:rPr>
              <a:t>fft:params_t</a:t>
            </a:r>
            <a:endParaRPr lang="en-US" sz="1000" b="1" kern="0" dirty="0">
              <a:solidFill>
                <a:srgbClr val="000000"/>
              </a:solidFill>
              <a:latin typeface="Arial"/>
            </a:endParaRPr>
          </a:p>
          <a:p>
            <a:pPr marL="628650" lvl="1" indent="-171450" defTabSz="914400" eaLnBrk="0" fontAlgn="base" hangingPunct="0">
              <a:lnSpc>
                <a:spcPct val="110000"/>
              </a:lnSpc>
              <a:spcBef>
                <a:spcPct val="20000"/>
              </a:spcBef>
              <a:spcAft>
                <a:spcPct val="0"/>
              </a:spcAft>
              <a:buClr>
                <a:srgbClr val="EC891D"/>
              </a:buClr>
              <a:buSzPct val="88000"/>
              <a:buFont typeface="Arial" pitchFamily="34" charset="0"/>
              <a:buChar char="•"/>
              <a:defRPr/>
            </a:pPr>
            <a:r>
              <a:rPr lang="en-US" sz="1000" b="1" kern="0" dirty="0" err="1">
                <a:solidFill>
                  <a:srgbClr val="000000"/>
                </a:solidFill>
                <a:latin typeface="Arial"/>
              </a:rPr>
              <a:t>params_t</a:t>
            </a:r>
            <a:r>
              <a:rPr lang="en-US" sz="1000" b="1" kern="0" dirty="0">
                <a:solidFill>
                  <a:srgbClr val="000000"/>
                </a:solidFill>
                <a:latin typeface="Arial"/>
              </a:rPr>
              <a:t> includes the default values</a:t>
            </a:r>
          </a:p>
          <a:p>
            <a:pPr marL="628650" lvl="1" indent="-171450" defTabSz="914400" eaLnBrk="0" fontAlgn="base" hangingPunct="0">
              <a:lnSpc>
                <a:spcPct val="110000"/>
              </a:lnSpc>
              <a:spcBef>
                <a:spcPct val="20000"/>
              </a:spcBef>
              <a:spcAft>
                <a:spcPct val="0"/>
              </a:spcAft>
              <a:buClr>
                <a:srgbClr val="EC891D"/>
              </a:buClr>
              <a:buSzPct val="88000"/>
              <a:buFont typeface="Arial" pitchFamily="34" charset="0"/>
              <a:buChar char="•"/>
              <a:defRPr/>
            </a:pPr>
            <a:r>
              <a:rPr lang="en-US" sz="1000" b="1" kern="0" dirty="0">
                <a:solidFill>
                  <a:srgbClr val="000000"/>
                </a:solidFill>
                <a:latin typeface="Arial"/>
              </a:rPr>
              <a:t>Struct </a:t>
            </a:r>
            <a:r>
              <a:rPr lang="en-US" sz="1000" b="1" i="1" kern="0" dirty="0">
                <a:solidFill>
                  <a:srgbClr val="000000"/>
                </a:solidFill>
                <a:latin typeface="Arial"/>
              </a:rPr>
              <a:t>param1</a:t>
            </a:r>
            <a:r>
              <a:rPr lang="en-US" sz="1000" b="1" kern="0" dirty="0">
                <a:solidFill>
                  <a:srgbClr val="000000"/>
                </a:solidFill>
                <a:latin typeface="Arial"/>
              </a:rPr>
              <a:t> overrides 3 default values in this example</a:t>
            </a:r>
          </a:p>
          <a:p>
            <a:pPr marL="628650" lvl="1" indent="-171450" defTabSz="914400" eaLnBrk="0" fontAlgn="base" hangingPunct="0">
              <a:lnSpc>
                <a:spcPct val="110000"/>
              </a:lnSpc>
              <a:spcBef>
                <a:spcPct val="20000"/>
              </a:spcBef>
              <a:spcAft>
                <a:spcPct val="0"/>
              </a:spcAft>
              <a:buClr>
                <a:srgbClr val="EC891D"/>
              </a:buClr>
              <a:buSzPct val="88000"/>
              <a:buFont typeface="Arial" pitchFamily="34" charset="0"/>
              <a:buChar char="•"/>
              <a:defRPr/>
            </a:pPr>
            <a:r>
              <a:rPr lang="en-US" sz="1000" b="1" kern="0" dirty="0">
                <a:solidFill>
                  <a:srgbClr val="000000"/>
                </a:solidFill>
                <a:latin typeface="Arial"/>
              </a:rPr>
              <a:t>Struct </a:t>
            </a:r>
            <a:r>
              <a:rPr lang="en-US" sz="1000" b="1" i="1" kern="0" dirty="0">
                <a:solidFill>
                  <a:srgbClr val="000000"/>
                </a:solidFill>
                <a:latin typeface="Arial"/>
              </a:rPr>
              <a:t>param1</a:t>
            </a:r>
            <a:r>
              <a:rPr lang="en-US" sz="1000" b="1" kern="0" dirty="0">
                <a:solidFill>
                  <a:srgbClr val="000000"/>
                </a:solidFill>
                <a:latin typeface="Arial"/>
              </a:rPr>
              <a:t> is then used to configure the FFT </a:t>
            </a:r>
          </a:p>
          <a:p>
            <a:pPr marL="628650" lvl="1" indent="-171450" defTabSz="914400" eaLnBrk="0" fontAlgn="base" hangingPunct="0">
              <a:lnSpc>
                <a:spcPct val="110000"/>
              </a:lnSpc>
              <a:spcBef>
                <a:spcPct val="20000"/>
              </a:spcBef>
              <a:spcAft>
                <a:spcPct val="0"/>
              </a:spcAft>
              <a:buClr>
                <a:srgbClr val="EC891D"/>
              </a:buClr>
              <a:buSzPct val="88000"/>
              <a:buFont typeface="Arial" pitchFamily="34" charset="0"/>
              <a:buChar char="•"/>
              <a:defRPr/>
            </a:pPr>
            <a:r>
              <a:rPr lang="en-US" sz="1000" b="1" kern="0" dirty="0">
                <a:solidFill>
                  <a:srgbClr val="000000"/>
                </a:solidFill>
                <a:latin typeface="Arial"/>
              </a:rPr>
              <a:t>Used as STATIC_PARAM in previous slide</a:t>
            </a:r>
          </a:p>
        </p:txBody>
      </p:sp>
    </p:spTree>
    <p:extLst>
      <p:ext uri="{BB962C8B-B14F-4D97-AF65-F5344CB8AC3E}">
        <p14:creationId xmlns:p14="http://schemas.microsoft.com/office/powerpoint/2010/main" val="91359556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FFT Configuration Parameters</a:t>
            </a:r>
          </a:p>
        </p:txBody>
      </p:sp>
      <p:sp>
        <p:nvSpPr>
          <p:cNvPr id="10" name="Slide Number Placeholder 5">
            <a:extLst>
              <a:ext uri="{FF2B5EF4-FFF2-40B4-BE49-F238E27FC236}">
                <a16:creationId xmlns:a16="http://schemas.microsoft.com/office/drawing/2014/main" id="{C8D1D74E-F365-4487-A1FF-906AF7A00EDC}"/>
              </a:ext>
            </a:extLst>
          </p:cNvPr>
          <p:cNvSpPr>
            <a:spLocks noGrp="1"/>
          </p:cNvSpPr>
          <p:nvPr>
            <p:ph type="sldNum" sz="quarter" idx="4"/>
          </p:nvPr>
        </p:nvSpPr>
        <p:spPr/>
        <p:txBody>
          <a:bodyPr/>
          <a:lstStyle/>
          <a:p>
            <a:pPr>
              <a:defRPr/>
            </a:pPr>
            <a:r>
              <a:rPr lang="en-US" dirty="0"/>
              <a:t>Coding Considerations 23- </a:t>
            </a:r>
            <a:fld id="{060BD193-E118-4B16-863C-C8C12C675E3E}" type="slidenum">
              <a:rPr lang="en-US" smtClean="0"/>
              <a:pPr>
                <a:defRPr/>
              </a:pPr>
              <a:t>70</a:t>
            </a:fld>
            <a:endParaRPr lang="en-US" dirty="0"/>
          </a:p>
        </p:txBody>
      </p:sp>
      <p:sp>
        <p:nvSpPr>
          <p:cNvPr id="7" name="TextBox 6"/>
          <p:cNvSpPr txBox="1"/>
          <p:nvPr/>
        </p:nvSpPr>
        <p:spPr bwMode="auto">
          <a:xfrm>
            <a:off x="548842" y="5825609"/>
            <a:ext cx="6454652" cy="404663"/>
          </a:xfrm>
          <a:prstGeom prst="rect">
            <a:avLst/>
          </a:prstGeom>
          <a:noFill/>
          <a:ln w="9525">
            <a:noFill/>
            <a:miter lim="800000"/>
            <a:headEnd/>
            <a:tailEnd/>
          </a:ln>
        </p:spPr>
        <p:txBody>
          <a:bodyPr vert="horz" wrap="none" lIns="0" tIns="45720" rIns="91440" bIns="45720" numCol="1" rtlCol="0" anchor="t" anchorCtr="0" compatLnSpc="1">
            <a:prstTxWarp prst="textNoShape">
              <a:avLst/>
            </a:prstTxWarp>
            <a:spAutoFit/>
          </a:bodyPr>
          <a:lstStyle/>
          <a:p>
            <a:pPr marL="228600" indent="-228600" defTabSz="914400" eaLnBrk="0" fontAlgn="base" hangingPunct="0">
              <a:lnSpc>
                <a:spcPct val="110000"/>
              </a:lnSpc>
              <a:spcBef>
                <a:spcPct val="20000"/>
              </a:spcBef>
              <a:spcAft>
                <a:spcPct val="0"/>
              </a:spcAft>
              <a:buClr>
                <a:schemeClr val="tx2"/>
              </a:buClr>
              <a:buSzPct val="88000"/>
            </a:pPr>
            <a:r>
              <a:rPr lang="en-US" sz="2000" b="1" kern="0" dirty="0">
                <a:solidFill>
                  <a:schemeClr val="accent4"/>
                </a:solidFill>
              </a:rPr>
              <a:t>These parameters are defined in </a:t>
            </a:r>
            <a:r>
              <a:rPr lang="en-US" sz="2000" b="1" kern="0" dirty="0" err="1">
                <a:solidFill>
                  <a:schemeClr val="accent6">
                    <a:lumMod val="75000"/>
                  </a:schemeClr>
                </a:solidFill>
              </a:rPr>
              <a:t>param_t</a:t>
            </a:r>
            <a:r>
              <a:rPr lang="en-US" sz="2000" b="1" kern="0" dirty="0">
                <a:solidFill>
                  <a:schemeClr val="accent4"/>
                </a:solidFill>
              </a:rPr>
              <a:t> in </a:t>
            </a:r>
            <a:r>
              <a:rPr lang="en-US" sz="2000" b="1" kern="0" dirty="0" err="1">
                <a:solidFill>
                  <a:schemeClr val="accent6">
                    <a:lumMod val="75000"/>
                  </a:schemeClr>
                </a:solidFill>
              </a:rPr>
              <a:t>hls_fft.h</a:t>
            </a:r>
            <a:endParaRPr lang="en-US" sz="2000" b="1" kern="0" dirty="0">
              <a:solidFill>
                <a:schemeClr val="accent6">
                  <a:lumMod val="75000"/>
                </a:schemeClr>
              </a:solidFill>
            </a:endParaRPr>
          </a:p>
        </p:txBody>
      </p:sp>
      <p:sp>
        <p:nvSpPr>
          <p:cNvPr id="8" name="Content Placeholder 1">
            <a:extLst>
              <a:ext uri="{FF2B5EF4-FFF2-40B4-BE49-F238E27FC236}">
                <a16:creationId xmlns:a16="http://schemas.microsoft.com/office/drawing/2014/main" id="{76314363-6BB7-4BD8-8E03-0BBB7E02C97F}"/>
              </a:ext>
            </a:extLst>
          </p:cNvPr>
          <p:cNvSpPr txBox="1">
            <a:spLocks/>
          </p:cNvSpPr>
          <p:nvPr/>
        </p:nvSpPr>
        <p:spPr>
          <a:xfrm>
            <a:off x="1085038" y="1327153"/>
            <a:ext cx="10501328" cy="4268337"/>
          </a:xfrm>
          <a:prstGeom prst="rect">
            <a:avLst/>
          </a:prstGeom>
        </p:spPr>
        <p:txBody>
          <a:bodyPr/>
          <a:lstStyle>
            <a:lvl1pPr marL="290426" indent="-290426" algn="l" rtl="0" eaLnBrk="0" fontAlgn="base" hangingPunct="0">
              <a:lnSpc>
                <a:spcPct val="110000"/>
              </a:lnSpc>
              <a:spcBef>
                <a:spcPts val="800"/>
              </a:spcBef>
              <a:spcAft>
                <a:spcPct val="0"/>
              </a:spcAft>
              <a:buClr>
                <a:schemeClr val="tx2"/>
              </a:buClr>
              <a:buSzPct val="88000"/>
              <a:buFont typeface="Wingdings" pitchFamily="2" charset="2"/>
              <a:buBlip>
                <a:blip r:embed="rId3"/>
              </a:buBlip>
              <a:defRPr lang="en-US" sz="2399" b="0" dirty="0" smtClean="0">
                <a:solidFill>
                  <a:schemeClr val="accent4"/>
                </a:solidFill>
                <a:latin typeface="+mn-lt"/>
                <a:ea typeface="+mn-ea"/>
                <a:cs typeface="+mn-cs"/>
              </a:defRPr>
            </a:lvl1pPr>
            <a:lvl2pPr marL="463411" indent="-174573" algn="l" rtl="0" eaLnBrk="1" fontAlgn="base" hangingPunct="1">
              <a:lnSpc>
                <a:spcPct val="110000"/>
              </a:lnSpc>
              <a:spcBef>
                <a:spcPct val="20000"/>
              </a:spcBef>
              <a:spcAft>
                <a:spcPct val="0"/>
              </a:spcAft>
              <a:buClr>
                <a:schemeClr val="tx1"/>
              </a:buClr>
              <a:buChar char="–"/>
              <a:defRPr lang="en-US" sz="1799" b="0">
                <a:solidFill>
                  <a:schemeClr val="tx1"/>
                </a:solidFill>
                <a:latin typeface="+mn-lt"/>
                <a:ea typeface="+mn-ea"/>
                <a:cs typeface="+mn-cs"/>
              </a:defRPr>
            </a:lvl2pPr>
            <a:lvl3pPr marL="682420" indent="-172986" algn="l" rtl="0" eaLnBrk="1" fontAlgn="base" hangingPunct="1">
              <a:lnSpc>
                <a:spcPct val="110000"/>
              </a:lnSpc>
              <a:spcBef>
                <a:spcPct val="20000"/>
              </a:spcBef>
              <a:spcAft>
                <a:spcPct val="0"/>
              </a:spcAft>
              <a:buClr>
                <a:schemeClr val="tx1"/>
              </a:buClr>
              <a:buChar char="•"/>
              <a:defRPr lang="en-US" sz="1600" b="0">
                <a:solidFill>
                  <a:schemeClr val="tx1"/>
                </a:solidFill>
                <a:latin typeface="+mn-lt"/>
                <a:ea typeface="+mn-ea"/>
                <a:cs typeface="+mn-cs"/>
              </a:defRPr>
            </a:lvl3pPr>
            <a:lvl4pPr marL="914126" indent="-172986" algn="l" rtl="0" eaLnBrk="1" fontAlgn="base" hangingPunct="1">
              <a:lnSpc>
                <a:spcPct val="110000"/>
              </a:lnSpc>
              <a:spcBef>
                <a:spcPct val="20000"/>
              </a:spcBef>
              <a:spcAft>
                <a:spcPct val="0"/>
              </a:spcAft>
              <a:buClr>
                <a:schemeClr val="tx1"/>
              </a:buClr>
              <a:buFont typeface="Arial" pitchFamily="34" charset="0"/>
              <a:buChar char="–"/>
              <a:defRPr lang="en-US" sz="1400" b="0">
                <a:solidFill>
                  <a:schemeClr val="tx1"/>
                </a:solidFill>
                <a:latin typeface="+mn-lt"/>
                <a:ea typeface="+mn-ea"/>
                <a:cs typeface="+mn-cs"/>
              </a:defRPr>
            </a:lvl4pPr>
            <a:lvl5pPr marL="1318817" indent="-347559" algn="l" rtl="0" eaLnBrk="1" fontAlgn="base" hangingPunct="1">
              <a:lnSpc>
                <a:spcPct val="110000"/>
              </a:lnSpc>
              <a:spcBef>
                <a:spcPct val="20000"/>
              </a:spcBef>
              <a:spcAft>
                <a:spcPct val="0"/>
              </a:spcAft>
              <a:buClr>
                <a:schemeClr val="tx1"/>
              </a:buClr>
              <a:buChar char="»"/>
              <a:defRPr lang="en-US" sz="1600" b="0">
                <a:solidFill>
                  <a:schemeClr val="tx1"/>
                </a:solidFill>
                <a:latin typeface="+mn-lt"/>
                <a:ea typeface="+mn-ea"/>
                <a:cs typeface="+mn-cs"/>
              </a:defRPr>
            </a:lvl5pPr>
            <a:lvl6pPr marL="2459887" indent="-174573" algn="l" rtl="0" eaLnBrk="1" fontAlgn="base" hangingPunct="1">
              <a:lnSpc>
                <a:spcPct val="110000"/>
              </a:lnSpc>
              <a:spcBef>
                <a:spcPct val="20000"/>
              </a:spcBef>
              <a:spcAft>
                <a:spcPct val="0"/>
              </a:spcAft>
              <a:buChar char="»"/>
              <a:defRPr sz="1200">
                <a:solidFill>
                  <a:schemeClr val="tx1"/>
                </a:solidFill>
                <a:latin typeface="+mn-lt"/>
              </a:defRPr>
            </a:lvl6pPr>
            <a:lvl7pPr marL="2916950" indent="-174573" algn="l" rtl="0" eaLnBrk="1" fontAlgn="base" hangingPunct="1">
              <a:lnSpc>
                <a:spcPct val="110000"/>
              </a:lnSpc>
              <a:spcBef>
                <a:spcPct val="20000"/>
              </a:spcBef>
              <a:spcAft>
                <a:spcPct val="0"/>
              </a:spcAft>
              <a:buChar char="»"/>
              <a:defRPr sz="1200">
                <a:solidFill>
                  <a:schemeClr val="tx1"/>
                </a:solidFill>
                <a:latin typeface="+mn-lt"/>
              </a:defRPr>
            </a:lvl7pPr>
            <a:lvl8pPr marL="3374012" indent="-174573" algn="l" rtl="0" eaLnBrk="1" fontAlgn="base" hangingPunct="1">
              <a:lnSpc>
                <a:spcPct val="110000"/>
              </a:lnSpc>
              <a:spcBef>
                <a:spcPct val="20000"/>
              </a:spcBef>
              <a:spcAft>
                <a:spcPct val="0"/>
              </a:spcAft>
              <a:buChar char="»"/>
              <a:defRPr sz="1200">
                <a:solidFill>
                  <a:schemeClr val="tx1"/>
                </a:solidFill>
                <a:latin typeface="+mn-lt"/>
              </a:defRPr>
            </a:lvl8pPr>
            <a:lvl9pPr marL="3831075" indent="-174573" algn="l" rtl="0" eaLnBrk="1" fontAlgn="base" hangingPunct="1">
              <a:lnSpc>
                <a:spcPct val="110000"/>
              </a:lnSpc>
              <a:spcBef>
                <a:spcPct val="20000"/>
              </a:spcBef>
              <a:spcAft>
                <a:spcPct val="0"/>
              </a:spcAft>
              <a:buChar char="»"/>
              <a:defRPr sz="1200">
                <a:solidFill>
                  <a:schemeClr val="tx1"/>
                </a:solidFill>
                <a:latin typeface="+mn-lt"/>
              </a:defRPr>
            </a:lvl9pPr>
          </a:lstStyle>
          <a:p>
            <a:pPr defTabSz="914400">
              <a:buClr>
                <a:srgbClr val="EC891D"/>
              </a:buClr>
              <a:defRPr/>
            </a:pPr>
            <a:endParaRPr lang="zh-CN" altLang="en-US" kern="0">
              <a:solidFill>
                <a:srgbClr val="3F3F3F"/>
              </a:solidFill>
              <a:latin typeface="Arial"/>
            </a:endParaRPr>
          </a:p>
        </p:txBody>
      </p:sp>
      <p:graphicFrame>
        <p:nvGraphicFramePr>
          <p:cNvPr id="9" name="Table 8">
            <a:extLst>
              <a:ext uri="{FF2B5EF4-FFF2-40B4-BE49-F238E27FC236}">
                <a16:creationId xmlns:a16="http://schemas.microsoft.com/office/drawing/2014/main" id="{C586C32B-E344-40F8-BC75-002D362F7671}"/>
              </a:ext>
            </a:extLst>
          </p:cNvPr>
          <p:cNvGraphicFramePr>
            <a:graphicFrameLocks noGrp="1"/>
          </p:cNvGraphicFramePr>
          <p:nvPr/>
        </p:nvGraphicFramePr>
        <p:xfrm>
          <a:off x="573717" y="1343607"/>
          <a:ext cx="10554902" cy="4268778"/>
        </p:xfrm>
        <a:graphic>
          <a:graphicData uri="http://schemas.openxmlformats.org/drawingml/2006/table">
            <a:tbl>
              <a:tblPr firstRow="1" firstCol="1" bandRow="1"/>
              <a:tblGrid>
                <a:gridCol w="2598616">
                  <a:extLst>
                    <a:ext uri="{9D8B030D-6E8A-4147-A177-3AD203B41FA5}">
                      <a16:colId xmlns:a16="http://schemas.microsoft.com/office/drawing/2014/main" val="20000"/>
                    </a:ext>
                  </a:extLst>
                </a:gridCol>
                <a:gridCol w="7956286">
                  <a:extLst>
                    <a:ext uri="{9D8B030D-6E8A-4147-A177-3AD203B41FA5}">
                      <a16:colId xmlns:a16="http://schemas.microsoft.com/office/drawing/2014/main" val="20001"/>
                    </a:ext>
                  </a:extLst>
                </a:gridCol>
              </a:tblGrid>
              <a:tr h="185599">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dirty="0">
                          <a:effectLst/>
                        </a:rPr>
                        <a:t>Parameter </a:t>
                      </a:r>
                      <a:endParaRPr lang="en-US" sz="1100" dirty="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dirty="0">
                          <a:effectLst/>
                        </a:rPr>
                        <a:t>Description</a:t>
                      </a:r>
                      <a:endParaRPr lang="en-US" sz="1100" dirty="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8CA8"/>
                    </a:solidFill>
                  </a:tcPr>
                </a:tc>
                <a:extLst>
                  <a:ext uri="{0D108BD9-81ED-4DB2-BD59-A6C34878D82A}">
                    <a16:rowId xmlns:a16="http://schemas.microsoft.com/office/drawing/2014/main" val="10000"/>
                  </a:ext>
                </a:extLst>
              </a:tr>
              <a:tr h="185599">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a:effectLst/>
                        </a:rPr>
                        <a:t>input_width</a:t>
                      </a:r>
                      <a:endParaRPr lang="en-US" sz="110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1100" dirty="0">
                          <a:effectLst/>
                        </a:rPr>
                        <a:t>Data input port width</a:t>
                      </a:r>
                      <a:endParaRPr lang="en-US" sz="1100" dirty="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1"/>
                  </a:ext>
                </a:extLst>
              </a:tr>
              <a:tr h="185599">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a:effectLst/>
                        </a:rPr>
                        <a:t>output_width</a:t>
                      </a:r>
                      <a:endParaRPr lang="en-US" sz="110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1100" dirty="0">
                          <a:effectLst/>
                        </a:rPr>
                        <a:t>Data output port width</a:t>
                      </a:r>
                      <a:endParaRPr lang="en-US" sz="1100" dirty="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2"/>
                  </a:ext>
                </a:extLst>
              </a:tr>
              <a:tr h="185599">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a:effectLst/>
                        </a:rPr>
                        <a:t>status_width </a:t>
                      </a:r>
                      <a:endParaRPr lang="en-US" sz="110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1100" dirty="0">
                          <a:effectLst/>
                        </a:rPr>
                        <a:t>Output status port width</a:t>
                      </a:r>
                      <a:endParaRPr lang="en-US" sz="1100" dirty="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3"/>
                  </a:ext>
                </a:extLst>
              </a:tr>
              <a:tr h="185599">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a:effectLst/>
                        </a:rPr>
                        <a:t>config_width</a:t>
                      </a:r>
                      <a:endParaRPr lang="en-US" sz="110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1100" dirty="0">
                          <a:effectLst/>
                        </a:rPr>
                        <a:t>Input configuration port width</a:t>
                      </a:r>
                      <a:endParaRPr lang="en-US" sz="1100" dirty="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4"/>
                  </a:ext>
                </a:extLst>
              </a:tr>
              <a:tr h="185599">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a:effectLst/>
                        </a:rPr>
                        <a:t>max_nfft</a:t>
                      </a:r>
                      <a:endParaRPr lang="en-US" sz="110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1100" dirty="0">
                          <a:effectLst/>
                        </a:rPr>
                        <a:t>The size of the FFT data set is specified as  1 &lt;&lt; </a:t>
                      </a:r>
                      <a:r>
                        <a:rPr lang="en-US" sz="1100" dirty="0" err="1">
                          <a:effectLst/>
                        </a:rPr>
                        <a:t>max_nfft</a:t>
                      </a:r>
                      <a:endParaRPr lang="en-US" sz="1100" dirty="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5"/>
                  </a:ext>
                </a:extLst>
              </a:tr>
              <a:tr h="185599">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a:effectLst/>
                        </a:rPr>
                        <a:t>has_nfft</a:t>
                      </a:r>
                      <a:endParaRPr lang="en-US" sz="110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1100" dirty="0">
                          <a:effectLst/>
                        </a:rPr>
                        <a:t>Determines if the size of the FFT can be run time configurable</a:t>
                      </a:r>
                      <a:endParaRPr lang="en-US" sz="1100" dirty="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6"/>
                  </a:ext>
                </a:extLst>
              </a:tr>
              <a:tr h="185599">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a:effectLst/>
                        </a:rPr>
                        <a:t>channels</a:t>
                      </a:r>
                      <a:endParaRPr lang="en-US" sz="110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1100" dirty="0">
                          <a:effectLst/>
                        </a:rPr>
                        <a:t>Number of channels</a:t>
                      </a:r>
                      <a:endParaRPr lang="en-US" sz="1100" dirty="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7"/>
                  </a:ext>
                </a:extLst>
              </a:tr>
              <a:tr h="185599">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a:effectLst/>
                        </a:rPr>
                        <a:t>arch_opt</a:t>
                      </a:r>
                      <a:endParaRPr lang="en-US" sz="110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1100" dirty="0">
                          <a:effectLst/>
                        </a:rPr>
                        <a:t>The implementation architecture.</a:t>
                      </a:r>
                      <a:endParaRPr lang="en-US" sz="1100" dirty="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8"/>
                  </a:ext>
                </a:extLst>
              </a:tr>
              <a:tr h="185599">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a:effectLst/>
                        </a:rPr>
                        <a:t>phase_factor_width</a:t>
                      </a:r>
                      <a:endParaRPr lang="en-US" sz="110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1100" dirty="0">
                          <a:effectLst/>
                        </a:rPr>
                        <a:t>Configure the internal phase factor precision</a:t>
                      </a:r>
                      <a:endParaRPr lang="en-US" sz="1100" dirty="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9"/>
                  </a:ext>
                </a:extLst>
              </a:tr>
              <a:tr h="185599">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a:effectLst/>
                        </a:rPr>
                        <a:t>ordering_opt</a:t>
                      </a:r>
                      <a:endParaRPr lang="en-US" sz="110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1100" dirty="0">
                          <a:effectLst/>
                        </a:rPr>
                        <a:t>The output ordering mode</a:t>
                      </a:r>
                      <a:endParaRPr lang="en-US" sz="1100" dirty="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10"/>
                  </a:ext>
                </a:extLst>
              </a:tr>
              <a:tr h="185599">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a:effectLst/>
                        </a:rPr>
                        <a:t>ovflo</a:t>
                      </a:r>
                      <a:endParaRPr lang="en-US" sz="110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1100" dirty="0">
                          <a:effectLst/>
                        </a:rPr>
                        <a:t>Enable overflow mode</a:t>
                      </a:r>
                      <a:endParaRPr lang="en-US" sz="1100" dirty="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11"/>
                  </a:ext>
                </a:extLst>
              </a:tr>
              <a:tr h="185599">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dirty="0" err="1">
                          <a:effectLst/>
                        </a:rPr>
                        <a:t>scaling_opt</a:t>
                      </a:r>
                      <a:endParaRPr lang="en-US" sz="1100" dirty="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1100" dirty="0">
                          <a:effectLst/>
                        </a:rPr>
                        <a:t>Define the scaling options</a:t>
                      </a:r>
                      <a:endParaRPr lang="en-US" sz="1100" dirty="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12"/>
                  </a:ext>
                </a:extLst>
              </a:tr>
              <a:tr h="185599">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a:effectLst/>
                        </a:rPr>
                        <a:t>rounding_opt</a:t>
                      </a:r>
                      <a:endParaRPr lang="en-US" sz="110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1100" dirty="0">
                          <a:effectLst/>
                        </a:rPr>
                        <a:t>Define the rounding modes</a:t>
                      </a:r>
                      <a:endParaRPr lang="en-US" sz="1100" dirty="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13"/>
                  </a:ext>
                </a:extLst>
              </a:tr>
              <a:tr h="185599">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a:effectLst/>
                        </a:rPr>
                        <a:t>mem_data</a:t>
                      </a:r>
                      <a:endParaRPr lang="en-US" sz="110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1100" dirty="0">
                          <a:effectLst/>
                        </a:rPr>
                        <a:t>Specify using block or distributed RAM for data memory</a:t>
                      </a:r>
                      <a:endParaRPr lang="en-US" sz="1100" dirty="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14"/>
                  </a:ext>
                </a:extLst>
              </a:tr>
              <a:tr h="185599">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a:effectLst/>
                        </a:rPr>
                        <a:t>mem_phase_factors</a:t>
                      </a:r>
                      <a:endParaRPr lang="en-US" sz="110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1100" dirty="0">
                          <a:effectLst/>
                        </a:rPr>
                        <a:t>Specify using block or distributed RAM for phase factors memory</a:t>
                      </a:r>
                      <a:endParaRPr lang="en-US" sz="1100" dirty="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15"/>
                  </a:ext>
                </a:extLst>
              </a:tr>
              <a:tr h="185599">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a:effectLst/>
                        </a:rPr>
                        <a:t>mem_reorder</a:t>
                      </a:r>
                      <a:endParaRPr lang="en-US" sz="110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1100" dirty="0">
                          <a:effectLst/>
                        </a:rPr>
                        <a:t>Specify using block or distributed RAM for output reorder memory</a:t>
                      </a:r>
                      <a:endParaRPr lang="en-US" sz="1100" dirty="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16"/>
                  </a:ext>
                </a:extLst>
              </a:tr>
              <a:tr h="185599">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a:effectLst/>
                        </a:rPr>
                        <a:t>stages_block_ram</a:t>
                      </a:r>
                      <a:endParaRPr lang="en-US" sz="110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1100" dirty="0">
                          <a:effectLst/>
                        </a:rPr>
                        <a:t>Defines the number of block RAM stages used in the implementation</a:t>
                      </a:r>
                      <a:endParaRPr lang="en-US" sz="1100" dirty="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17"/>
                  </a:ext>
                </a:extLst>
              </a:tr>
              <a:tr h="556798">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a:effectLst/>
                        </a:rPr>
                        <a:t>mem_hybrid</a:t>
                      </a:r>
                      <a:endParaRPr lang="en-US" sz="110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1100" dirty="0">
                          <a:effectLst/>
                        </a:rPr>
                        <a:t>When block RAMs are specified for data, phase factor, or reorder buffer, </a:t>
                      </a:r>
                      <a:r>
                        <a:rPr lang="en-US" sz="1100" dirty="0" err="1">
                          <a:effectLst/>
                        </a:rPr>
                        <a:t>mem_hybird</a:t>
                      </a:r>
                      <a:r>
                        <a:rPr lang="en-US" sz="1100" dirty="0">
                          <a:effectLst/>
                        </a:rPr>
                        <a:t> specifies where or not to use a hybrid of block and distributed RAMs to reduce block RAM count in certain configurations</a:t>
                      </a:r>
                      <a:endParaRPr lang="en-US" sz="1100" dirty="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18"/>
                  </a:ext>
                </a:extLst>
              </a:tr>
              <a:tr h="185599">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a:effectLst/>
                        </a:rPr>
                        <a:t>complex_mult_type</a:t>
                      </a:r>
                      <a:endParaRPr lang="en-US" sz="110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1100" dirty="0">
                          <a:effectLst/>
                        </a:rPr>
                        <a:t>Defines the types of multiplier to use for complex multiplications</a:t>
                      </a:r>
                      <a:endParaRPr lang="en-US" sz="1100" dirty="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19"/>
                  </a:ext>
                </a:extLst>
              </a:tr>
              <a:tr h="185599">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a:effectLst/>
                        </a:rPr>
                        <a:t>butterfly_type</a:t>
                      </a:r>
                      <a:endParaRPr lang="en-US" sz="110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1100" dirty="0">
                          <a:effectLst/>
                        </a:rPr>
                        <a:t>Defines the implementation used for the FFT butterfly</a:t>
                      </a:r>
                      <a:endParaRPr lang="en-US" sz="1100" dirty="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31339183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FFT Configuration Parameters</a:t>
            </a:r>
          </a:p>
        </p:txBody>
      </p:sp>
      <p:sp>
        <p:nvSpPr>
          <p:cNvPr id="6" name="Slide Number Placeholder 5"/>
          <p:cNvSpPr>
            <a:spLocks noGrp="1"/>
          </p:cNvSpPr>
          <p:nvPr>
            <p:ph type="sldNum" sz="quarter" idx="10"/>
          </p:nvPr>
        </p:nvSpPr>
        <p:spPr/>
        <p:txBody>
          <a:bodyPr/>
          <a:lstStyle/>
          <a:p>
            <a:pPr defTabSz="914400">
              <a:defRPr/>
            </a:pPr>
            <a:r>
              <a:rPr lang="en-US" dirty="0">
                <a:solidFill>
                  <a:srgbClr val="0C0C0C">
                    <a:tint val="75000"/>
                  </a:srgbClr>
                </a:solidFill>
                <a:latin typeface="Arial"/>
              </a:rPr>
              <a:t>Coding Considerations 23- </a:t>
            </a:r>
            <a:fld id="{060BD193-E118-4B16-863C-C8C12C675E3E}" type="slidenum">
              <a:rPr lang="en-US">
                <a:solidFill>
                  <a:srgbClr val="0C0C0C">
                    <a:tint val="75000"/>
                  </a:srgbClr>
                </a:solidFill>
                <a:latin typeface="Arial"/>
              </a:rPr>
              <a:pPr defTabSz="914400">
                <a:defRPr/>
              </a:pPr>
              <a:t>71</a:t>
            </a:fld>
            <a:endParaRPr lang="en-US" dirty="0">
              <a:solidFill>
                <a:srgbClr val="0C0C0C">
                  <a:tint val="75000"/>
                </a:srgbClr>
              </a:solidFill>
              <a:latin typeface="Arial"/>
            </a:endParaRPr>
          </a:p>
        </p:txBody>
      </p:sp>
      <p:sp>
        <p:nvSpPr>
          <p:cNvPr id="7" name="TextBox 6"/>
          <p:cNvSpPr txBox="1"/>
          <p:nvPr/>
        </p:nvSpPr>
        <p:spPr bwMode="auto">
          <a:xfrm>
            <a:off x="548842" y="5825609"/>
            <a:ext cx="6454652" cy="404663"/>
          </a:xfrm>
          <a:prstGeom prst="rect">
            <a:avLst/>
          </a:prstGeom>
          <a:noFill/>
          <a:ln w="9525">
            <a:noFill/>
            <a:miter lim="800000"/>
            <a:headEnd/>
            <a:tailEnd/>
          </a:ln>
        </p:spPr>
        <p:txBody>
          <a:bodyPr vert="horz" wrap="none" lIns="0" tIns="45720" rIns="91440" bIns="45720" numCol="1" rtlCol="0" anchor="t" anchorCtr="0" compatLnSpc="1">
            <a:prstTxWarp prst="textNoShape">
              <a:avLst/>
            </a:prstTxWarp>
            <a:spAutoFit/>
          </a:bodyPr>
          <a:lstStyle/>
          <a:p>
            <a:pPr marL="228600" indent="-228600" defTabSz="914400" eaLnBrk="0" fontAlgn="base" hangingPunct="0">
              <a:lnSpc>
                <a:spcPct val="110000"/>
              </a:lnSpc>
              <a:spcBef>
                <a:spcPct val="20000"/>
              </a:spcBef>
              <a:spcAft>
                <a:spcPct val="0"/>
              </a:spcAft>
              <a:buClr>
                <a:srgbClr val="161C2E"/>
              </a:buClr>
              <a:buSzPct val="88000"/>
            </a:pPr>
            <a:r>
              <a:rPr lang="en-US" sz="2000" b="1" kern="0" dirty="0">
                <a:solidFill>
                  <a:srgbClr val="1B3866"/>
                </a:solidFill>
                <a:latin typeface="Arial"/>
              </a:rPr>
              <a:t>These parameters are defined in </a:t>
            </a:r>
            <a:r>
              <a:rPr lang="en-US" sz="2000" b="1" kern="0" dirty="0" err="1">
                <a:solidFill>
                  <a:srgbClr val="1E640E">
                    <a:lumMod val="75000"/>
                  </a:srgbClr>
                </a:solidFill>
                <a:latin typeface="Arial"/>
              </a:rPr>
              <a:t>param_t</a:t>
            </a:r>
            <a:r>
              <a:rPr lang="en-US" sz="2000" b="1" kern="0" dirty="0">
                <a:solidFill>
                  <a:srgbClr val="1B3866"/>
                </a:solidFill>
                <a:latin typeface="Arial"/>
              </a:rPr>
              <a:t> in </a:t>
            </a:r>
            <a:r>
              <a:rPr lang="en-US" sz="2000" b="1" kern="0" dirty="0" err="1">
                <a:solidFill>
                  <a:srgbClr val="1E640E">
                    <a:lumMod val="75000"/>
                  </a:srgbClr>
                </a:solidFill>
                <a:latin typeface="Arial"/>
              </a:rPr>
              <a:t>hls_fft.h</a:t>
            </a:r>
            <a:endParaRPr lang="en-US" sz="2000" b="1" kern="0" dirty="0">
              <a:solidFill>
                <a:srgbClr val="1E640E">
                  <a:lumMod val="75000"/>
                </a:srgbClr>
              </a:solidFill>
              <a:latin typeface="Arial"/>
            </a:endParaRPr>
          </a:p>
        </p:txBody>
      </p:sp>
      <p:sp>
        <p:nvSpPr>
          <p:cNvPr id="8" name="Content Placeholder 1">
            <a:extLst>
              <a:ext uri="{FF2B5EF4-FFF2-40B4-BE49-F238E27FC236}">
                <a16:creationId xmlns:a16="http://schemas.microsoft.com/office/drawing/2014/main" id="{76314363-6BB7-4BD8-8E03-0BBB7E02C97F}"/>
              </a:ext>
            </a:extLst>
          </p:cNvPr>
          <p:cNvSpPr txBox="1">
            <a:spLocks/>
          </p:cNvSpPr>
          <p:nvPr/>
        </p:nvSpPr>
        <p:spPr>
          <a:xfrm>
            <a:off x="1085038" y="1327153"/>
            <a:ext cx="10501328" cy="4268337"/>
          </a:xfrm>
          <a:prstGeom prst="rect">
            <a:avLst/>
          </a:prstGeom>
        </p:spPr>
        <p:txBody>
          <a:bodyPr/>
          <a:lstStyle>
            <a:lvl1pPr marL="290426" indent="-290426" algn="l" rtl="0" eaLnBrk="0" fontAlgn="base" hangingPunct="0">
              <a:lnSpc>
                <a:spcPct val="110000"/>
              </a:lnSpc>
              <a:spcBef>
                <a:spcPts val="800"/>
              </a:spcBef>
              <a:spcAft>
                <a:spcPct val="0"/>
              </a:spcAft>
              <a:buClr>
                <a:schemeClr val="tx2"/>
              </a:buClr>
              <a:buSzPct val="88000"/>
              <a:buFont typeface="Wingdings" pitchFamily="2" charset="2"/>
              <a:buBlip>
                <a:blip r:embed="rId3"/>
              </a:buBlip>
              <a:defRPr lang="en-US" sz="2399" b="0" dirty="0" smtClean="0">
                <a:solidFill>
                  <a:schemeClr val="accent4"/>
                </a:solidFill>
                <a:latin typeface="+mn-lt"/>
                <a:ea typeface="+mn-ea"/>
                <a:cs typeface="+mn-cs"/>
              </a:defRPr>
            </a:lvl1pPr>
            <a:lvl2pPr marL="463411" indent="-174573" algn="l" rtl="0" eaLnBrk="1" fontAlgn="base" hangingPunct="1">
              <a:lnSpc>
                <a:spcPct val="110000"/>
              </a:lnSpc>
              <a:spcBef>
                <a:spcPct val="20000"/>
              </a:spcBef>
              <a:spcAft>
                <a:spcPct val="0"/>
              </a:spcAft>
              <a:buClr>
                <a:schemeClr val="tx1"/>
              </a:buClr>
              <a:buChar char="–"/>
              <a:defRPr lang="en-US" sz="1799" b="0">
                <a:solidFill>
                  <a:schemeClr val="tx1"/>
                </a:solidFill>
                <a:latin typeface="+mn-lt"/>
                <a:ea typeface="+mn-ea"/>
                <a:cs typeface="+mn-cs"/>
              </a:defRPr>
            </a:lvl2pPr>
            <a:lvl3pPr marL="682420" indent="-172986" algn="l" rtl="0" eaLnBrk="1" fontAlgn="base" hangingPunct="1">
              <a:lnSpc>
                <a:spcPct val="110000"/>
              </a:lnSpc>
              <a:spcBef>
                <a:spcPct val="20000"/>
              </a:spcBef>
              <a:spcAft>
                <a:spcPct val="0"/>
              </a:spcAft>
              <a:buClr>
                <a:schemeClr val="tx1"/>
              </a:buClr>
              <a:buChar char="•"/>
              <a:defRPr lang="en-US" sz="1600" b="0">
                <a:solidFill>
                  <a:schemeClr val="tx1"/>
                </a:solidFill>
                <a:latin typeface="+mn-lt"/>
                <a:ea typeface="+mn-ea"/>
                <a:cs typeface="+mn-cs"/>
              </a:defRPr>
            </a:lvl3pPr>
            <a:lvl4pPr marL="914126" indent="-172986" algn="l" rtl="0" eaLnBrk="1" fontAlgn="base" hangingPunct="1">
              <a:lnSpc>
                <a:spcPct val="110000"/>
              </a:lnSpc>
              <a:spcBef>
                <a:spcPct val="20000"/>
              </a:spcBef>
              <a:spcAft>
                <a:spcPct val="0"/>
              </a:spcAft>
              <a:buClr>
                <a:schemeClr val="tx1"/>
              </a:buClr>
              <a:buFont typeface="Arial" pitchFamily="34" charset="0"/>
              <a:buChar char="–"/>
              <a:defRPr lang="en-US" sz="1400" b="0">
                <a:solidFill>
                  <a:schemeClr val="tx1"/>
                </a:solidFill>
                <a:latin typeface="+mn-lt"/>
                <a:ea typeface="+mn-ea"/>
                <a:cs typeface="+mn-cs"/>
              </a:defRPr>
            </a:lvl4pPr>
            <a:lvl5pPr marL="1318817" indent="-347559" algn="l" rtl="0" eaLnBrk="1" fontAlgn="base" hangingPunct="1">
              <a:lnSpc>
                <a:spcPct val="110000"/>
              </a:lnSpc>
              <a:spcBef>
                <a:spcPct val="20000"/>
              </a:spcBef>
              <a:spcAft>
                <a:spcPct val="0"/>
              </a:spcAft>
              <a:buClr>
                <a:schemeClr val="tx1"/>
              </a:buClr>
              <a:buChar char="»"/>
              <a:defRPr lang="en-US" sz="1600" b="0">
                <a:solidFill>
                  <a:schemeClr val="tx1"/>
                </a:solidFill>
                <a:latin typeface="+mn-lt"/>
                <a:ea typeface="+mn-ea"/>
                <a:cs typeface="+mn-cs"/>
              </a:defRPr>
            </a:lvl5pPr>
            <a:lvl6pPr marL="2459887" indent="-174573" algn="l" rtl="0" eaLnBrk="1" fontAlgn="base" hangingPunct="1">
              <a:lnSpc>
                <a:spcPct val="110000"/>
              </a:lnSpc>
              <a:spcBef>
                <a:spcPct val="20000"/>
              </a:spcBef>
              <a:spcAft>
                <a:spcPct val="0"/>
              </a:spcAft>
              <a:buChar char="»"/>
              <a:defRPr sz="1200">
                <a:solidFill>
                  <a:schemeClr val="tx1"/>
                </a:solidFill>
                <a:latin typeface="+mn-lt"/>
              </a:defRPr>
            </a:lvl6pPr>
            <a:lvl7pPr marL="2916950" indent="-174573" algn="l" rtl="0" eaLnBrk="1" fontAlgn="base" hangingPunct="1">
              <a:lnSpc>
                <a:spcPct val="110000"/>
              </a:lnSpc>
              <a:spcBef>
                <a:spcPct val="20000"/>
              </a:spcBef>
              <a:spcAft>
                <a:spcPct val="0"/>
              </a:spcAft>
              <a:buChar char="»"/>
              <a:defRPr sz="1200">
                <a:solidFill>
                  <a:schemeClr val="tx1"/>
                </a:solidFill>
                <a:latin typeface="+mn-lt"/>
              </a:defRPr>
            </a:lvl7pPr>
            <a:lvl8pPr marL="3374012" indent="-174573" algn="l" rtl="0" eaLnBrk="1" fontAlgn="base" hangingPunct="1">
              <a:lnSpc>
                <a:spcPct val="110000"/>
              </a:lnSpc>
              <a:spcBef>
                <a:spcPct val="20000"/>
              </a:spcBef>
              <a:spcAft>
                <a:spcPct val="0"/>
              </a:spcAft>
              <a:buChar char="»"/>
              <a:defRPr sz="1200">
                <a:solidFill>
                  <a:schemeClr val="tx1"/>
                </a:solidFill>
                <a:latin typeface="+mn-lt"/>
              </a:defRPr>
            </a:lvl8pPr>
            <a:lvl9pPr marL="3831075" indent="-174573" algn="l" rtl="0" eaLnBrk="1" fontAlgn="base" hangingPunct="1">
              <a:lnSpc>
                <a:spcPct val="110000"/>
              </a:lnSpc>
              <a:spcBef>
                <a:spcPct val="20000"/>
              </a:spcBef>
              <a:spcAft>
                <a:spcPct val="0"/>
              </a:spcAft>
              <a:buChar char="»"/>
              <a:defRPr sz="1200">
                <a:solidFill>
                  <a:schemeClr val="tx1"/>
                </a:solidFill>
                <a:latin typeface="+mn-lt"/>
              </a:defRPr>
            </a:lvl9pPr>
          </a:lstStyle>
          <a:p>
            <a:pPr defTabSz="914400">
              <a:buClr>
                <a:srgbClr val="EC891D"/>
              </a:buClr>
              <a:defRPr/>
            </a:pPr>
            <a:endParaRPr lang="zh-CN" altLang="en-US" kern="0">
              <a:solidFill>
                <a:srgbClr val="3F3F3F"/>
              </a:solidFill>
              <a:latin typeface="Arial"/>
            </a:endParaRPr>
          </a:p>
        </p:txBody>
      </p:sp>
      <p:graphicFrame>
        <p:nvGraphicFramePr>
          <p:cNvPr id="9" name="Table 8">
            <a:extLst>
              <a:ext uri="{FF2B5EF4-FFF2-40B4-BE49-F238E27FC236}">
                <a16:creationId xmlns:a16="http://schemas.microsoft.com/office/drawing/2014/main" id="{C586C32B-E344-40F8-BC75-002D362F7671}"/>
              </a:ext>
            </a:extLst>
          </p:cNvPr>
          <p:cNvGraphicFramePr>
            <a:graphicFrameLocks noGrp="1"/>
          </p:cNvGraphicFramePr>
          <p:nvPr/>
        </p:nvGraphicFramePr>
        <p:xfrm>
          <a:off x="573717" y="1343607"/>
          <a:ext cx="10554902" cy="4268778"/>
        </p:xfrm>
        <a:graphic>
          <a:graphicData uri="http://schemas.openxmlformats.org/drawingml/2006/table">
            <a:tbl>
              <a:tblPr firstRow="1" firstCol="1" bandRow="1"/>
              <a:tblGrid>
                <a:gridCol w="2598616">
                  <a:extLst>
                    <a:ext uri="{9D8B030D-6E8A-4147-A177-3AD203B41FA5}">
                      <a16:colId xmlns:a16="http://schemas.microsoft.com/office/drawing/2014/main" val="20000"/>
                    </a:ext>
                  </a:extLst>
                </a:gridCol>
                <a:gridCol w="7956286">
                  <a:extLst>
                    <a:ext uri="{9D8B030D-6E8A-4147-A177-3AD203B41FA5}">
                      <a16:colId xmlns:a16="http://schemas.microsoft.com/office/drawing/2014/main" val="20001"/>
                    </a:ext>
                  </a:extLst>
                </a:gridCol>
              </a:tblGrid>
              <a:tr h="185599">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dirty="0">
                          <a:effectLst/>
                        </a:rPr>
                        <a:t>Parameter </a:t>
                      </a:r>
                      <a:endParaRPr lang="en-US" sz="1100" dirty="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dirty="0">
                          <a:effectLst/>
                        </a:rPr>
                        <a:t>Description</a:t>
                      </a:r>
                      <a:endParaRPr lang="en-US" sz="1100" dirty="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8CA8"/>
                    </a:solidFill>
                  </a:tcPr>
                </a:tc>
                <a:extLst>
                  <a:ext uri="{0D108BD9-81ED-4DB2-BD59-A6C34878D82A}">
                    <a16:rowId xmlns:a16="http://schemas.microsoft.com/office/drawing/2014/main" val="10000"/>
                  </a:ext>
                </a:extLst>
              </a:tr>
              <a:tr h="185599">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a:effectLst/>
                        </a:rPr>
                        <a:t>input_width</a:t>
                      </a:r>
                      <a:endParaRPr lang="en-US" sz="110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1100" dirty="0">
                          <a:effectLst/>
                        </a:rPr>
                        <a:t>Data input port width</a:t>
                      </a:r>
                      <a:endParaRPr lang="en-US" sz="1100" dirty="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1"/>
                  </a:ext>
                </a:extLst>
              </a:tr>
              <a:tr h="185599">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a:effectLst/>
                        </a:rPr>
                        <a:t>output_width</a:t>
                      </a:r>
                      <a:endParaRPr lang="en-US" sz="110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1100" dirty="0">
                          <a:effectLst/>
                        </a:rPr>
                        <a:t>Data output port width</a:t>
                      </a:r>
                      <a:endParaRPr lang="en-US" sz="1100" dirty="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2"/>
                  </a:ext>
                </a:extLst>
              </a:tr>
              <a:tr h="185599">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a:effectLst/>
                        </a:rPr>
                        <a:t>status_width </a:t>
                      </a:r>
                      <a:endParaRPr lang="en-US" sz="110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1100" dirty="0">
                          <a:effectLst/>
                        </a:rPr>
                        <a:t>Output status port width</a:t>
                      </a:r>
                      <a:endParaRPr lang="en-US" sz="1100" dirty="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3"/>
                  </a:ext>
                </a:extLst>
              </a:tr>
              <a:tr h="185599">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a:effectLst/>
                        </a:rPr>
                        <a:t>config_width</a:t>
                      </a:r>
                      <a:endParaRPr lang="en-US" sz="110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1100" dirty="0">
                          <a:effectLst/>
                        </a:rPr>
                        <a:t>Input configuration port width</a:t>
                      </a:r>
                      <a:endParaRPr lang="en-US" sz="1100" dirty="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4"/>
                  </a:ext>
                </a:extLst>
              </a:tr>
              <a:tr h="185599">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a:effectLst/>
                        </a:rPr>
                        <a:t>max_nfft</a:t>
                      </a:r>
                      <a:endParaRPr lang="en-US" sz="110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1100" dirty="0">
                          <a:effectLst/>
                        </a:rPr>
                        <a:t>The size of the FFT data set is specified as  1 &lt;&lt; </a:t>
                      </a:r>
                      <a:r>
                        <a:rPr lang="en-US" sz="1100" dirty="0" err="1">
                          <a:effectLst/>
                        </a:rPr>
                        <a:t>max_nfft</a:t>
                      </a:r>
                      <a:endParaRPr lang="en-US" sz="1100" dirty="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5"/>
                  </a:ext>
                </a:extLst>
              </a:tr>
              <a:tr h="185599">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a:effectLst/>
                        </a:rPr>
                        <a:t>has_nfft</a:t>
                      </a:r>
                      <a:endParaRPr lang="en-US" sz="110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1100" dirty="0">
                          <a:effectLst/>
                        </a:rPr>
                        <a:t>Determines if the size of the FFT can be run time configurable</a:t>
                      </a:r>
                      <a:endParaRPr lang="en-US" sz="1100" dirty="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6"/>
                  </a:ext>
                </a:extLst>
              </a:tr>
              <a:tr h="185599">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a:effectLst/>
                        </a:rPr>
                        <a:t>channels</a:t>
                      </a:r>
                      <a:endParaRPr lang="en-US" sz="110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1100" dirty="0">
                          <a:effectLst/>
                        </a:rPr>
                        <a:t>Number of channels</a:t>
                      </a:r>
                      <a:endParaRPr lang="en-US" sz="1100" dirty="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7"/>
                  </a:ext>
                </a:extLst>
              </a:tr>
              <a:tr h="185599">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a:effectLst/>
                        </a:rPr>
                        <a:t>arch_opt</a:t>
                      </a:r>
                      <a:endParaRPr lang="en-US" sz="110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1100" dirty="0">
                          <a:effectLst/>
                        </a:rPr>
                        <a:t>The implementation architecture.</a:t>
                      </a:r>
                      <a:endParaRPr lang="en-US" sz="1100" dirty="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8"/>
                  </a:ext>
                </a:extLst>
              </a:tr>
              <a:tr h="185599">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a:effectLst/>
                        </a:rPr>
                        <a:t>phase_factor_width</a:t>
                      </a:r>
                      <a:endParaRPr lang="en-US" sz="110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1100" dirty="0">
                          <a:effectLst/>
                        </a:rPr>
                        <a:t>Configure the internal phase factor precision</a:t>
                      </a:r>
                      <a:endParaRPr lang="en-US" sz="1100" dirty="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9"/>
                  </a:ext>
                </a:extLst>
              </a:tr>
              <a:tr h="185599">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a:effectLst/>
                        </a:rPr>
                        <a:t>ordering_opt</a:t>
                      </a:r>
                      <a:endParaRPr lang="en-US" sz="110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1100" dirty="0">
                          <a:effectLst/>
                        </a:rPr>
                        <a:t>The output ordering mode</a:t>
                      </a:r>
                      <a:endParaRPr lang="en-US" sz="1100" dirty="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10"/>
                  </a:ext>
                </a:extLst>
              </a:tr>
              <a:tr h="185599">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a:effectLst/>
                        </a:rPr>
                        <a:t>ovflo</a:t>
                      </a:r>
                      <a:endParaRPr lang="en-US" sz="110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1100" dirty="0">
                          <a:effectLst/>
                        </a:rPr>
                        <a:t>Enable overflow mode</a:t>
                      </a:r>
                      <a:endParaRPr lang="en-US" sz="1100" dirty="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11"/>
                  </a:ext>
                </a:extLst>
              </a:tr>
              <a:tr h="185599">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dirty="0" err="1">
                          <a:effectLst/>
                        </a:rPr>
                        <a:t>scaling_opt</a:t>
                      </a:r>
                      <a:endParaRPr lang="en-US" sz="1100" dirty="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1100" dirty="0">
                          <a:effectLst/>
                        </a:rPr>
                        <a:t>Define the scaling options</a:t>
                      </a:r>
                      <a:endParaRPr lang="en-US" sz="1100" dirty="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12"/>
                  </a:ext>
                </a:extLst>
              </a:tr>
              <a:tr h="185599">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a:effectLst/>
                        </a:rPr>
                        <a:t>rounding_opt</a:t>
                      </a:r>
                      <a:endParaRPr lang="en-US" sz="110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1100" dirty="0">
                          <a:effectLst/>
                        </a:rPr>
                        <a:t>Define the rounding modes</a:t>
                      </a:r>
                      <a:endParaRPr lang="en-US" sz="1100" dirty="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13"/>
                  </a:ext>
                </a:extLst>
              </a:tr>
              <a:tr h="185599">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a:effectLst/>
                        </a:rPr>
                        <a:t>mem_data</a:t>
                      </a:r>
                      <a:endParaRPr lang="en-US" sz="110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1100" dirty="0">
                          <a:effectLst/>
                        </a:rPr>
                        <a:t>Specify using block or distributed RAM for data memory</a:t>
                      </a:r>
                      <a:endParaRPr lang="en-US" sz="1100" dirty="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14"/>
                  </a:ext>
                </a:extLst>
              </a:tr>
              <a:tr h="185599">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a:effectLst/>
                        </a:rPr>
                        <a:t>mem_phase_factors</a:t>
                      </a:r>
                      <a:endParaRPr lang="en-US" sz="110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1100" dirty="0">
                          <a:effectLst/>
                        </a:rPr>
                        <a:t>Specify using block or distributed RAM for phase factors memory</a:t>
                      </a:r>
                      <a:endParaRPr lang="en-US" sz="1100" dirty="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15"/>
                  </a:ext>
                </a:extLst>
              </a:tr>
              <a:tr h="185599">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a:effectLst/>
                        </a:rPr>
                        <a:t>mem_reorder</a:t>
                      </a:r>
                      <a:endParaRPr lang="en-US" sz="110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1100" dirty="0">
                          <a:effectLst/>
                        </a:rPr>
                        <a:t>Specify using block or distributed RAM for output reorder memory</a:t>
                      </a:r>
                      <a:endParaRPr lang="en-US" sz="1100" dirty="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16"/>
                  </a:ext>
                </a:extLst>
              </a:tr>
              <a:tr h="185599">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a:effectLst/>
                        </a:rPr>
                        <a:t>stages_block_ram</a:t>
                      </a:r>
                      <a:endParaRPr lang="en-US" sz="110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1100" dirty="0">
                          <a:effectLst/>
                        </a:rPr>
                        <a:t>Defines the number of block RAM stages used in the implementation</a:t>
                      </a:r>
                      <a:endParaRPr lang="en-US" sz="1100" dirty="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17"/>
                  </a:ext>
                </a:extLst>
              </a:tr>
              <a:tr h="556798">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a:effectLst/>
                        </a:rPr>
                        <a:t>mem_hybrid</a:t>
                      </a:r>
                      <a:endParaRPr lang="en-US" sz="110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1100" dirty="0">
                          <a:effectLst/>
                        </a:rPr>
                        <a:t>When block RAMs are specified for data, phase factor, or reorder buffer, </a:t>
                      </a:r>
                      <a:r>
                        <a:rPr lang="en-US" sz="1100" dirty="0" err="1">
                          <a:effectLst/>
                        </a:rPr>
                        <a:t>mem_hybird</a:t>
                      </a:r>
                      <a:r>
                        <a:rPr lang="en-US" sz="1100" dirty="0">
                          <a:effectLst/>
                        </a:rPr>
                        <a:t> specifies where or not to use a hybrid of block and distributed RAMs to reduce block RAM count in certain configurations</a:t>
                      </a:r>
                      <a:endParaRPr lang="en-US" sz="1100" dirty="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18"/>
                  </a:ext>
                </a:extLst>
              </a:tr>
              <a:tr h="185599">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a:effectLst/>
                        </a:rPr>
                        <a:t>complex_mult_type</a:t>
                      </a:r>
                      <a:endParaRPr lang="en-US" sz="110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1100" dirty="0">
                          <a:effectLst/>
                        </a:rPr>
                        <a:t>Defines the types of multiplier to use for complex multiplications</a:t>
                      </a:r>
                      <a:endParaRPr lang="en-US" sz="1100" dirty="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19"/>
                  </a:ext>
                </a:extLst>
              </a:tr>
              <a:tr h="185599">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a:effectLst/>
                        </a:rPr>
                        <a:t>butterfly_type</a:t>
                      </a:r>
                      <a:endParaRPr lang="en-US" sz="110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1100" dirty="0">
                          <a:effectLst/>
                        </a:rPr>
                        <a:t>Defines the implementation used for the FFT butterfly</a:t>
                      </a:r>
                      <a:endParaRPr lang="en-US" sz="1100" dirty="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372211853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FFT Configuration Defaults and Valid Values</a:t>
            </a:r>
          </a:p>
        </p:txBody>
      </p:sp>
      <p:sp>
        <p:nvSpPr>
          <p:cNvPr id="5" name="Slide Number Placeholder 5">
            <a:extLst>
              <a:ext uri="{FF2B5EF4-FFF2-40B4-BE49-F238E27FC236}">
                <a16:creationId xmlns:a16="http://schemas.microsoft.com/office/drawing/2014/main" id="{4F4BEF4C-59BF-462A-A50B-B37012E2BAAE}"/>
              </a:ext>
            </a:extLst>
          </p:cNvPr>
          <p:cNvSpPr>
            <a:spLocks noGrp="1"/>
          </p:cNvSpPr>
          <p:nvPr>
            <p:ph type="sldNum" sz="quarter" idx="4"/>
          </p:nvPr>
        </p:nvSpPr>
        <p:spPr/>
        <p:txBody>
          <a:bodyPr/>
          <a:lstStyle/>
          <a:p>
            <a:pPr>
              <a:defRPr/>
            </a:pPr>
            <a:r>
              <a:rPr lang="en-US" dirty="0"/>
              <a:t>Coding Considerations 23- </a:t>
            </a:r>
            <a:fld id="{060BD193-E118-4B16-863C-C8C12C675E3E}" type="slidenum">
              <a:rPr lang="en-US" smtClean="0"/>
              <a:pPr>
                <a:defRPr/>
              </a:pPr>
              <a:t>72</a:t>
            </a:fld>
            <a:endParaRPr lang="en-US" dirty="0"/>
          </a:p>
        </p:txBody>
      </p:sp>
      <p:graphicFrame>
        <p:nvGraphicFramePr>
          <p:cNvPr id="7" name="Content Placeholder 3">
            <a:extLst>
              <a:ext uri="{FF2B5EF4-FFF2-40B4-BE49-F238E27FC236}">
                <a16:creationId xmlns:a16="http://schemas.microsoft.com/office/drawing/2014/main" id="{7347E18A-E9CE-4B4D-891F-56789585F0E4}"/>
              </a:ext>
            </a:extLst>
          </p:cNvPr>
          <p:cNvGraphicFramePr>
            <a:graphicFrameLocks/>
          </p:cNvGraphicFramePr>
          <p:nvPr>
            <p:extLst>
              <p:ext uri="{D42A27DB-BD31-4B8C-83A1-F6EECF244321}">
                <p14:modId xmlns:p14="http://schemas.microsoft.com/office/powerpoint/2010/main" val="2182453555"/>
              </p:ext>
            </p:extLst>
          </p:nvPr>
        </p:nvGraphicFramePr>
        <p:xfrm>
          <a:off x="924007" y="1110333"/>
          <a:ext cx="10501024" cy="5030926"/>
        </p:xfrm>
        <a:graphic>
          <a:graphicData uri="http://schemas.openxmlformats.org/drawingml/2006/table">
            <a:tbl>
              <a:tblPr firstRow="1" firstCol="1" bandRow="1"/>
              <a:tblGrid>
                <a:gridCol w="2471922">
                  <a:extLst>
                    <a:ext uri="{9D8B030D-6E8A-4147-A177-3AD203B41FA5}">
                      <a16:colId xmlns:a16="http://schemas.microsoft.com/office/drawing/2014/main" val="20000"/>
                    </a:ext>
                  </a:extLst>
                </a:gridCol>
                <a:gridCol w="914557">
                  <a:extLst>
                    <a:ext uri="{9D8B030D-6E8A-4147-A177-3AD203B41FA5}">
                      <a16:colId xmlns:a16="http://schemas.microsoft.com/office/drawing/2014/main" val="20001"/>
                    </a:ext>
                  </a:extLst>
                </a:gridCol>
                <a:gridCol w="2624900">
                  <a:extLst>
                    <a:ext uri="{9D8B030D-6E8A-4147-A177-3AD203B41FA5}">
                      <a16:colId xmlns:a16="http://schemas.microsoft.com/office/drawing/2014/main" val="20002"/>
                    </a:ext>
                  </a:extLst>
                </a:gridCol>
                <a:gridCol w="4489645">
                  <a:extLst>
                    <a:ext uri="{9D8B030D-6E8A-4147-A177-3AD203B41FA5}">
                      <a16:colId xmlns:a16="http://schemas.microsoft.com/office/drawing/2014/main" val="20003"/>
                    </a:ext>
                  </a:extLst>
                </a:gridCol>
              </a:tblGrid>
              <a:tr h="124389">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dirty="0">
                          <a:effectLst/>
                        </a:rPr>
                        <a:t>Parameter </a:t>
                      </a:r>
                      <a:endParaRPr lang="en-US" sz="11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dirty="0">
                          <a:effectLst/>
                        </a:rPr>
                        <a:t>C Type</a:t>
                      </a:r>
                      <a:endParaRPr lang="en-US" sz="11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dirty="0">
                          <a:effectLst/>
                        </a:rPr>
                        <a:t>Default Value</a:t>
                      </a:r>
                      <a:endParaRPr lang="en-US" sz="11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dirty="0">
                          <a:effectLst/>
                        </a:rPr>
                        <a:t>Valid Values</a:t>
                      </a:r>
                      <a:endParaRPr lang="en-US" sz="11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8CA8"/>
                    </a:solidFill>
                  </a:tcPr>
                </a:tc>
                <a:extLst>
                  <a:ext uri="{0D108BD9-81ED-4DB2-BD59-A6C34878D82A}">
                    <a16:rowId xmlns:a16="http://schemas.microsoft.com/office/drawing/2014/main" val="10000"/>
                  </a:ext>
                </a:extLst>
              </a:tr>
              <a:tr h="124389">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dirty="0" err="1">
                          <a:effectLst/>
                        </a:rPr>
                        <a:t>input_width</a:t>
                      </a:r>
                      <a:endParaRPr lang="en-US" sz="11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unsigned</a:t>
                      </a:r>
                      <a:endParaRPr lang="en-US" sz="90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16</a:t>
                      </a:r>
                      <a:endParaRPr lang="en-US" sz="90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8-34</a:t>
                      </a:r>
                      <a:endParaRPr lang="en-US" sz="90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1"/>
                  </a:ext>
                </a:extLst>
              </a:tr>
              <a:tr h="248777">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dirty="0" err="1">
                          <a:effectLst/>
                        </a:rPr>
                        <a:t>output_width</a:t>
                      </a:r>
                      <a:endParaRPr lang="en-US" sz="11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dirty="0">
                          <a:effectLst/>
                        </a:rPr>
                        <a:t>unsigned</a:t>
                      </a:r>
                      <a:endParaRPr lang="en-US" sz="9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16</a:t>
                      </a:r>
                      <a:endParaRPr lang="en-US" sz="90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input_width to (input_width + max_nfft + 1)</a:t>
                      </a:r>
                      <a:endParaRPr lang="en-US" sz="90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2"/>
                  </a:ext>
                </a:extLst>
              </a:tr>
              <a:tr h="124389">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dirty="0" err="1">
                          <a:effectLst/>
                        </a:rPr>
                        <a:t>status_width</a:t>
                      </a:r>
                      <a:r>
                        <a:rPr lang="en-US" sz="1100" dirty="0">
                          <a:effectLst/>
                        </a:rPr>
                        <a:t> </a:t>
                      </a:r>
                      <a:endParaRPr lang="en-US" sz="11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dirty="0">
                          <a:effectLst/>
                        </a:rPr>
                        <a:t>unsigned</a:t>
                      </a:r>
                      <a:endParaRPr lang="en-US" sz="9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dirty="0">
                          <a:effectLst/>
                        </a:rPr>
                        <a:t> 8</a:t>
                      </a:r>
                      <a:endParaRPr lang="en-US" sz="9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dirty="0">
                          <a:effectLst/>
                        </a:rPr>
                        <a:t>Depends on FFT configuration</a:t>
                      </a:r>
                      <a:endParaRPr lang="en-US" sz="9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3"/>
                  </a:ext>
                </a:extLst>
              </a:tr>
              <a:tr h="124389">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a:effectLst/>
                        </a:rPr>
                        <a:t>config_width</a:t>
                      </a:r>
                      <a:endParaRPr lang="en-US" sz="110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dirty="0">
                          <a:effectLst/>
                        </a:rPr>
                        <a:t>unsigned</a:t>
                      </a:r>
                      <a:endParaRPr lang="en-US" sz="9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16</a:t>
                      </a:r>
                      <a:endParaRPr lang="en-US" sz="90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Depends on FFT configuration</a:t>
                      </a:r>
                      <a:endParaRPr lang="en-US" sz="90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4"/>
                  </a:ext>
                </a:extLst>
              </a:tr>
              <a:tr h="124389">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dirty="0" err="1">
                          <a:effectLst/>
                        </a:rPr>
                        <a:t>max_nfft</a:t>
                      </a:r>
                      <a:endParaRPr lang="en-US" sz="11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dirty="0">
                          <a:effectLst/>
                        </a:rPr>
                        <a:t>unsigned</a:t>
                      </a:r>
                      <a:endParaRPr lang="en-US" sz="9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10</a:t>
                      </a:r>
                      <a:endParaRPr lang="en-US" sz="90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3-16</a:t>
                      </a:r>
                      <a:endParaRPr lang="en-US" sz="90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5"/>
                  </a:ext>
                </a:extLst>
              </a:tr>
              <a:tr h="124389">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dirty="0" err="1">
                          <a:effectLst/>
                        </a:rPr>
                        <a:t>has_nfft</a:t>
                      </a:r>
                      <a:endParaRPr lang="en-US" sz="11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dirty="0" err="1">
                          <a:effectLst/>
                        </a:rPr>
                        <a:t>bool</a:t>
                      </a:r>
                      <a:endParaRPr lang="en-US" sz="9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false</a:t>
                      </a:r>
                      <a:endParaRPr lang="en-US" sz="90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dirty="0">
                          <a:effectLst/>
                        </a:rPr>
                        <a:t>True, False</a:t>
                      </a:r>
                      <a:endParaRPr lang="en-US" sz="9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6"/>
                  </a:ext>
                </a:extLst>
              </a:tr>
              <a:tr h="124389">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dirty="0">
                          <a:effectLst/>
                        </a:rPr>
                        <a:t>channels</a:t>
                      </a:r>
                      <a:endParaRPr lang="en-US" sz="11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dirty="0">
                          <a:effectLst/>
                        </a:rPr>
                        <a:t>unsigned  </a:t>
                      </a:r>
                      <a:endParaRPr lang="en-US" sz="9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1</a:t>
                      </a:r>
                      <a:endParaRPr lang="en-US" sz="90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1-12</a:t>
                      </a:r>
                      <a:endParaRPr lang="en-US" sz="90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7"/>
                  </a:ext>
                </a:extLst>
              </a:tr>
              <a:tr h="345325">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dirty="0" err="1">
                          <a:effectLst/>
                        </a:rPr>
                        <a:t>arch_opt</a:t>
                      </a:r>
                      <a:endParaRPr lang="en-US" sz="11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unsigned  </a:t>
                      </a:r>
                      <a:endParaRPr lang="en-US" sz="90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dirty="0" err="1">
                          <a:effectLst/>
                        </a:rPr>
                        <a:t>pipelined_streaming_io</a:t>
                      </a:r>
                      <a:endParaRPr lang="en-US" sz="9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dirty="0" err="1">
                          <a:effectLst/>
                        </a:rPr>
                        <a:t>automatically_select</a:t>
                      </a:r>
                      <a:r>
                        <a:rPr lang="en-US" sz="900" dirty="0">
                          <a:effectLst/>
                        </a:rPr>
                        <a:t>,</a:t>
                      </a:r>
                      <a:r>
                        <a:rPr lang="en-US" sz="900" baseline="0" dirty="0">
                          <a:effectLst/>
                        </a:rPr>
                        <a:t> </a:t>
                      </a:r>
                      <a:r>
                        <a:rPr lang="en-US" sz="800" dirty="0" err="1">
                          <a:effectLst/>
                        </a:rPr>
                        <a:t>pipelined_streaming_io</a:t>
                      </a:r>
                      <a:r>
                        <a:rPr lang="en-US" sz="900" dirty="0">
                          <a:effectLst/>
                        </a:rPr>
                        <a:t>,</a:t>
                      </a:r>
                      <a:r>
                        <a:rPr lang="en-US" sz="900" baseline="0" dirty="0">
                          <a:effectLst/>
                        </a:rPr>
                        <a:t> </a:t>
                      </a:r>
                      <a:r>
                        <a:rPr lang="en-US" sz="800" dirty="0">
                          <a:effectLst/>
                        </a:rPr>
                        <a:t>radix_4_burst_io, </a:t>
                      </a:r>
                      <a:endParaRPr lang="en-US" sz="900" dirty="0">
                        <a:effectLst/>
                      </a:endParaRPr>
                    </a:p>
                    <a:p>
                      <a:pPr marL="0" marR="0">
                        <a:lnSpc>
                          <a:spcPct val="115000"/>
                        </a:lnSpc>
                        <a:spcBef>
                          <a:spcPts val="0"/>
                        </a:spcBef>
                        <a:spcAft>
                          <a:spcPts val="0"/>
                        </a:spcAft>
                      </a:pPr>
                      <a:r>
                        <a:rPr lang="en-US" sz="800" dirty="0">
                          <a:effectLst/>
                        </a:rPr>
                        <a:t>radix_2_burst_io</a:t>
                      </a:r>
                      <a:r>
                        <a:rPr lang="en-US" sz="900" dirty="0">
                          <a:effectLst/>
                        </a:rPr>
                        <a:t>,</a:t>
                      </a:r>
                      <a:r>
                        <a:rPr lang="en-US" sz="900" baseline="0" dirty="0">
                          <a:effectLst/>
                        </a:rPr>
                        <a:t> </a:t>
                      </a:r>
                      <a:r>
                        <a:rPr lang="en-US" sz="800" dirty="0">
                          <a:effectLst/>
                        </a:rPr>
                        <a:t>radix_2_lite_burst_io</a:t>
                      </a:r>
                      <a:endParaRPr lang="en-US" sz="9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8"/>
                  </a:ext>
                </a:extLst>
              </a:tr>
              <a:tr h="124389">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dirty="0" err="1">
                          <a:effectLst/>
                        </a:rPr>
                        <a:t>phase_factor_width</a:t>
                      </a:r>
                      <a:endParaRPr lang="en-US" sz="11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unsigned</a:t>
                      </a:r>
                      <a:endParaRPr lang="en-US" sz="90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dirty="0">
                          <a:effectLst/>
                        </a:rPr>
                        <a:t>16</a:t>
                      </a:r>
                      <a:endParaRPr lang="en-US" sz="9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8-34</a:t>
                      </a:r>
                      <a:endParaRPr lang="en-US" sz="90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9"/>
                  </a:ext>
                </a:extLst>
              </a:tr>
              <a:tr h="214853">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dirty="0" err="1">
                          <a:effectLst/>
                        </a:rPr>
                        <a:t>ordering_opt</a:t>
                      </a:r>
                      <a:endParaRPr lang="en-US" sz="11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unsigned</a:t>
                      </a:r>
                      <a:endParaRPr lang="en-US" sz="90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dirty="0" err="1">
                          <a:effectLst/>
                        </a:rPr>
                        <a:t>bit_reversed_order</a:t>
                      </a:r>
                      <a:endParaRPr lang="en-US" sz="9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bit_reversed_order</a:t>
                      </a:r>
                      <a:endParaRPr lang="en-US" sz="900">
                        <a:effectLst/>
                      </a:endParaRPr>
                    </a:p>
                    <a:p>
                      <a:pPr marL="0" marR="0">
                        <a:lnSpc>
                          <a:spcPct val="115000"/>
                        </a:lnSpc>
                        <a:spcBef>
                          <a:spcPts val="0"/>
                        </a:spcBef>
                        <a:spcAft>
                          <a:spcPts val="0"/>
                        </a:spcAft>
                      </a:pPr>
                      <a:r>
                        <a:rPr lang="en-US" sz="800">
                          <a:effectLst/>
                        </a:rPr>
                        <a:t>natural_order</a:t>
                      </a:r>
                      <a:endParaRPr lang="en-US" sz="90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10"/>
                  </a:ext>
                </a:extLst>
              </a:tr>
              <a:tr h="214853">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dirty="0" err="1">
                          <a:effectLst/>
                        </a:rPr>
                        <a:t>ovflo</a:t>
                      </a:r>
                      <a:endParaRPr lang="en-US" sz="11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bool</a:t>
                      </a:r>
                      <a:endParaRPr lang="en-US" sz="90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dirty="0">
                          <a:effectLst/>
                        </a:rPr>
                        <a:t>true</a:t>
                      </a:r>
                      <a:endParaRPr lang="en-US" sz="9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dirty="0">
                          <a:effectLst/>
                        </a:rPr>
                        <a:t>false</a:t>
                      </a:r>
                      <a:endParaRPr lang="en-US" sz="900" dirty="0">
                        <a:effectLst/>
                      </a:endParaRPr>
                    </a:p>
                    <a:p>
                      <a:pPr marL="0" marR="0">
                        <a:lnSpc>
                          <a:spcPct val="115000"/>
                        </a:lnSpc>
                        <a:spcBef>
                          <a:spcPts val="0"/>
                        </a:spcBef>
                        <a:spcAft>
                          <a:spcPts val="0"/>
                        </a:spcAft>
                      </a:pPr>
                      <a:r>
                        <a:rPr lang="en-US" sz="800" dirty="0">
                          <a:effectLst/>
                        </a:rPr>
                        <a:t>true</a:t>
                      </a:r>
                      <a:endParaRPr lang="en-US" sz="9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11"/>
                  </a:ext>
                </a:extLst>
              </a:tr>
              <a:tr h="230389">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dirty="0" err="1">
                          <a:effectLst/>
                        </a:rPr>
                        <a:t>scaling_opt</a:t>
                      </a:r>
                      <a:endParaRPr lang="en-US" sz="11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unsigned</a:t>
                      </a:r>
                      <a:endParaRPr lang="en-US" sz="90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dirty="0">
                          <a:effectLst/>
                        </a:rPr>
                        <a:t>scaled</a:t>
                      </a:r>
                      <a:endParaRPr lang="en-US" sz="9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dirty="0">
                          <a:effectLst/>
                        </a:rPr>
                        <a:t>Scaled</a:t>
                      </a:r>
                      <a:r>
                        <a:rPr lang="en-US" sz="900" dirty="0">
                          <a:effectLst/>
                        </a:rPr>
                        <a:t>, </a:t>
                      </a:r>
                      <a:r>
                        <a:rPr lang="en-US" sz="800" dirty="0" err="1">
                          <a:effectLst/>
                        </a:rPr>
                        <a:t>unscaled</a:t>
                      </a:r>
                      <a:r>
                        <a:rPr lang="en-US" sz="900" dirty="0">
                          <a:effectLst/>
                        </a:rPr>
                        <a:t>,</a:t>
                      </a:r>
                      <a:r>
                        <a:rPr lang="en-US" sz="900" baseline="0" dirty="0">
                          <a:effectLst/>
                        </a:rPr>
                        <a:t> </a:t>
                      </a:r>
                      <a:r>
                        <a:rPr lang="en-US" sz="800" dirty="0" err="1">
                          <a:effectLst/>
                        </a:rPr>
                        <a:t>block_floating_point</a:t>
                      </a:r>
                      <a:endParaRPr lang="en-US" sz="9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12"/>
                  </a:ext>
                </a:extLst>
              </a:tr>
              <a:tr h="214853">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dirty="0" err="1">
                          <a:effectLst/>
                        </a:rPr>
                        <a:t>rounding_opt</a:t>
                      </a:r>
                      <a:endParaRPr lang="en-US" sz="11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unsigned</a:t>
                      </a:r>
                      <a:endParaRPr lang="en-US" sz="90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dirty="0">
                          <a:effectLst/>
                        </a:rPr>
                        <a:t>truncation</a:t>
                      </a:r>
                      <a:endParaRPr lang="en-US" sz="9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dirty="0">
                          <a:effectLst/>
                        </a:rPr>
                        <a:t>truncation</a:t>
                      </a:r>
                      <a:endParaRPr lang="en-US" sz="900" dirty="0">
                        <a:effectLst/>
                      </a:endParaRPr>
                    </a:p>
                    <a:p>
                      <a:pPr marL="0" marR="0">
                        <a:lnSpc>
                          <a:spcPct val="115000"/>
                        </a:lnSpc>
                        <a:spcBef>
                          <a:spcPts val="0"/>
                        </a:spcBef>
                        <a:spcAft>
                          <a:spcPts val="0"/>
                        </a:spcAft>
                      </a:pPr>
                      <a:r>
                        <a:rPr lang="en-US" sz="800" dirty="0" err="1">
                          <a:effectLst/>
                        </a:rPr>
                        <a:t>convergent_rounding</a:t>
                      </a:r>
                      <a:endParaRPr lang="en-US" sz="9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13"/>
                  </a:ext>
                </a:extLst>
              </a:tr>
              <a:tr h="214853">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dirty="0" err="1">
                          <a:effectLst/>
                        </a:rPr>
                        <a:t>mem_data</a:t>
                      </a:r>
                      <a:endParaRPr lang="en-US" sz="11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unsigned</a:t>
                      </a:r>
                      <a:endParaRPr lang="en-US" sz="90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dirty="0" err="1">
                          <a:effectLst/>
                        </a:rPr>
                        <a:t>block_ram</a:t>
                      </a:r>
                      <a:endParaRPr lang="en-US" sz="9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dirty="0" err="1">
                          <a:effectLst/>
                        </a:rPr>
                        <a:t>block_ram</a:t>
                      </a:r>
                      <a:endParaRPr lang="en-US" sz="900" dirty="0">
                        <a:effectLst/>
                      </a:endParaRPr>
                    </a:p>
                    <a:p>
                      <a:pPr marL="0" marR="0">
                        <a:lnSpc>
                          <a:spcPct val="115000"/>
                        </a:lnSpc>
                        <a:spcBef>
                          <a:spcPts val="0"/>
                        </a:spcBef>
                        <a:spcAft>
                          <a:spcPts val="0"/>
                        </a:spcAft>
                      </a:pPr>
                      <a:r>
                        <a:rPr lang="en-US" sz="800" dirty="0" err="1">
                          <a:effectLst/>
                        </a:rPr>
                        <a:t>distributed_ram</a:t>
                      </a:r>
                      <a:endParaRPr lang="en-US" sz="9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14"/>
                  </a:ext>
                </a:extLst>
              </a:tr>
              <a:tr h="214853">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dirty="0" err="1">
                          <a:effectLst/>
                        </a:rPr>
                        <a:t>mem_phase_factors</a:t>
                      </a:r>
                      <a:endParaRPr lang="en-US" sz="11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unsigned</a:t>
                      </a:r>
                      <a:endParaRPr lang="en-US" sz="90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block_ram</a:t>
                      </a:r>
                      <a:endParaRPr lang="en-US" sz="90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dirty="0" err="1">
                          <a:effectLst/>
                        </a:rPr>
                        <a:t>block_ram</a:t>
                      </a:r>
                      <a:endParaRPr lang="en-US" sz="900" dirty="0">
                        <a:effectLst/>
                      </a:endParaRPr>
                    </a:p>
                    <a:p>
                      <a:pPr marL="0" marR="0">
                        <a:lnSpc>
                          <a:spcPct val="115000"/>
                        </a:lnSpc>
                        <a:spcBef>
                          <a:spcPts val="0"/>
                        </a:spcBef>
                        <a:spcAft>
                          <a:spcPts val="0"/>
                        </a:spcAft>
                      </a:pPr>
                      <a:r>
                        <a:rPr lang="en-US" sz="800" dirty="0" err="1">
                          <a:effectLst/>
                        </a:rPr>
                        <a:t>distributed_ram</a:t>
                      </a:r>
                      <a:endParaRPr lang="en-US" sz="9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15"/>
                  </a:ext>
                </a:extLst>
              </a:tr>
              <a:tr h="214853">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dirty="0" err="1">
                          <a:effectLst/>
                        </a:rPr>
                        <a:t>mem_reorder</a:t>
                      </a:r>
                      <a:endParaRPr lang="en-US" sz="11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unsigned</a:t>
                      </a:r>
                      <a:endParaRPr lang="en-US" sz="90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block_ram</a:t>
                      </a:r>
                      <a:endParaRPr lang="en-US" sz="90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dirty="0" err="1">
                          <a:effectLst/>
                        </a:rPr>
                        <a:t>block_ram</a:t>
                      </a:r>
                      <a:endParaRPr lang="en-US" sz="900" dirty="0">
                        <a:effectLst/>
                      </a:endParaRPr>
                    </a:p>
                    <a:p>
                      <a:pPr marL="0" marR="0">
                        <a:lnSpc>
                          <a:spcPct val="115000"/>
                        </a:lnSpc>
                        <a:spcBef>
                          <a:spcPts val="0"/>
                        </a:spcBef>
                        <a:spcAft>
                          <a:spcPts val="0"/>
                        </a:spcAft>
                      </a:pPr>
                      <a:r>
                        <a:rPr lang="en-US" sz="800" dirty="0" err="1">
                          <a:effectLst/>
                        </a:rPr>
                        <a:t>distributed_ram</a:t>
                      </a:r>
                      <a:endParaRPr lang="en-US" sz="9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16"/>
                  </a:ext>
                </a:extLst>
              </a:tr>
              <a:tr h="124389">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dirty="0" err="1">
                          <a:effectLst/>
                        </a:rPr>
                        <a:t>stages_block_ram</a:t>
                      </a:r>
                      <a:endParaRPr lang="en-US" sz="11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unsigned</a:t>
                      </a:r>
                      <a:endParaRPr lang="en-US" sz="90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(max_nfft &lt; 10) ? 0 : (max_nfft - 9)</a:t>
                      </a:r>
                      <a:endParaRPr lang="en-US" sz="90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0-11</a:t>
                      </a:r>
                      <a:endParaRPr lang="en-US" sz="90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17"/>
                  </a:ext>
                </a:extLst>
              </a:tr>
              <a:tr h="214853">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dirty="0" err="1">
                          <a:effectLst/>
                        </a:rPr>
                        <a:t>mem_hybrid</a:t>
                      </a:r>
                      <a:endParaRPr lang="en-US" sz="11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bool</a:t>
                      </a:r>
                      <a:endParaRPr lang="en-US" sz="90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false</a:t>
                      </a:r>
                      <a:endParaRPr lang="en-US" sz="90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dirty="0">
                          <a:effectLst/>
                        </a:rPr>
                        <a:t>false</a:t>
                      </a:r>
                      <a:endParaRPr lang="en-US" sz="900" dirty="0">
                        <a:effectLst/>
                      </a:endParaRPr>
                    </a:p>
                    <a:p>
                      <a:pPr marL="0" marR="0">
                        <a:lnSpc>
                          <a:spcPct val="115000"/>
                        </a:lnSpc>
                        <a:spcBef>
                          <a:spcPts val="0"/>
                        </a:spcBef>
                        <a:spcAft>
                          <a:spcPts val="0"/>
                        </a:spcAft>
                      </a:pPr>
                      <a:r>
                        <a:rPr lang="en-US" sz="800" dirty="0">
                          <a:effectLst/>
                        </a:rPr>
                        <a:t>true</a:t>
                      </a:r>
                      <a:endParaRPr lang="en-US" sz="9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18"/>
                  </a:ext>
                </a:extLst>
              </a:tr>
              <a:tr h="322279">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dirty="0" err="1">
                          <a:effectLst/>
                        </a:rPr>
                        <a:t>complex_mult_type</a:t>
                      </a:r>
                      <a:endParaRPr lang="en-US" sz="11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unsigned</a:t>
                      </a:r>
                      <a:endParaRPr lang="en-US" sz="90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914400" rtl="0" eaLnBrk="1" fontAlgn="auto" latinLnBrk="0" hangingPunct="1">
                        <a:lnSpc>
                          <a:spcPct val="115000"/>
                        </a:lnSpc>
                        <a:spcBef>
                          <a:spcPts val="0"/>
                        </a:spcBef>
                        <a:spcAft>
                          <a:spcPts val="0"/>
                        </a:spcAft>
                        <a:buClrTx/>
                        <a:buSzTx/>
                        <a:buFontTx/>
                        <a:buNone/>
                        <a:tabLst/>
                        <a:defRPr/>
                      </a:pPr>
                      <a:r>
                        <a:rPr lang="en-US" sz="900" dirty="0" err="1">
                          <a:effectLst/>
                        </a:rPr>
                        <a:t>use_mults_resources</a:t>
                      </a:r>
                      <a:endParaRPr lang="en-US" sz="1000" dirty="0">
                        <a:effectLst/>
                      </a:endParaRPr>
                    </a:p>
                    <a:p>
                      <a:pPr marL="0" marR="0">
                        <a:lnSpc>
                          <a:spcPct val="115000"/>
                        </a:lnSpc>
                        <a:spcBef>
                          <a:spcPts val="0"/>
                        </a:spcBef>
                        <a:spcAft>
                          <a:spcPts val="0"/>
                        </a:spcAft>
                      </a:pPr>
                      <a:endParaRPr lang="en-US" sz="9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dirty="0" err="1">
                          <a:effectLst/>
                        </a:rPr>
                        <a:t>use_luts</a:t>
                      </a:r>
                      <a:endParaRPr lang="en-US" sz="900" dirty="0">
                        <a:effectLst/>
                      </a:endParaRPr>
                    </a:p>
                    <a:p>
                      <a:pPr marL="0" marR="0">
                        <a:lnSpc>
                          <a:spcPct val="115000"/>
                        </a:lnSpc>
                        <a:spcBef>
                          <a:spcPts val="0"/>
                        </a:spcBef>
                        <a:spcAft>
                          <a:spcPts val="0"/>
                        </a:spcAft>
                      </a:pPr>
                      <a:r>
                        <a:rPr lang="en-US" sz="800" dirty="0" err="1">
                          <a:effectLst/>
                        </a:rPr>
                        <a:t>use_mults_resources</a:t>
                      </a:r>
                      <a:endParaRPr lang="en-US" sz="900" dirty="0">
                        <a:effectLst/>
                      </a:endParaRPr>
                    </a:p>
                    <a:p>
                      <a:pPr marL="0" marR="0">
                        <a:lnSpc>
                          <a:spcPct val="115000"/>
                        </a:lnSpc>
                        <a:spcBef>
                          <a:spcPts val="0"/>
                        </a:spcBef>
                        <a:spcAft>
                          <a:spcPts val="0"/>
                        </a:spcAft>
                      </a:pPr>
                      <a:r>
                        <a:rPr lang="en-US" sz="800" dirty="0" err="1">
                          <a:effectLst/>
                        </a:rPr>
                        <a:t>use_mults_performance</a:t>
                      </a:r>
                      <a:endParaRPr lang="en-US" sz="9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19"/>
                  </a:ext>
                </a:extLst>
              </a:tr>
              <a:tr h="214853">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dirty="0" err="1">
                          <a:effectLst/>
                        </a:rPr>
                        <a:t>butterfly_type</a:t>
                      </a:r>
                      <a:endParaRPr lang="en-US" sz="11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unsigned</a:t>
                      </a:r>
                      <a:endParaRPr lang="en-US" sz="90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use_luts</a:t>
                      </a:r>
                      <a:endParaRPr lang="en-US" sz="90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dirty="0" err="1">
                          <a:effectLst/>
                        </a:rPr>
                        <a:t>use_luts</a:t>
                      </a:r>
                      <a:endParaRPr lang="en-US" sz="900" dirty="0">
                        <a:effectLst/>
                      </a:endParaRPr>
                    </a:p>
                    <a:p>
                      <a:pPr marL="0" marR="0">
                        <a:lnSpc>
                          <a:spcPct val="115000"/>
                        </a:lnSpc>
                        <a:spcBef>
                          <a:spcPts val="0"/>
                        </a:spcBef>
                        <a:spcAft>
                          <a:spcPts val="0"/>
                        </a:spcAft>
                      </a:pPr>
                      <a:r>
                        <a:rPr lang="en-US" sz="800" dirty="0" err="1">
                          <a:effectLst/>
                        </a:rPr>
                        <a:t>use_xtremedsp_slices</a:t>
                      </a:r>
                      <a:endParaRPr lang="en-US" sz="9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749778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FFT Configuration Defaults and Valid Values</a:t>
            </a:r>
          </a:p>
        </p:txBody>
      </p:sp>
      <p:sp>
        <p:nvSpPr>
          <p:cNvPr id="6" name="Slide Number Placeholder 5"/>
          <p:cNvSpPr>
            <a:spLocks noGrp="1"/>
          </p:cNvSpPr>
          <p:nvPr>
            <p:ph type="sldNum" sz="quarter" idx="10"/>
          </p:nvPr>
        </p:nvSpPr>
        <p:spPr/>
        <p:txBody>
          <a:bodyPr/>
          <a:lstStyle/>
          <a:p>
            <a:pPr defTabSz="914400">
              <a:defRPr/>
            </a:pPr>
            <a:r>
              <a:rPr lang="en-US" dirty="0">
                <a:solidFill>
                  <a:srgbClr val="0C0C0C">
                    <a:tint val="75000"/>
                  </a:srgbClr>
                </a:solidFill>
                <a:latin typeface="Arial"/>
              </a:rPr>
              <a:t>Coding Considerations 23- </a:t>
            </a:r>
            <a:fld id="{060BD193-E118-4B16-863C-C8C12C675E3E}" type="slidenum">
              <a:rPr lang="en-US">
                <a:solidFill>
                  <a:srgbClr val="0C0C0C">
                    <a:tint val="75000"/>
                  </a:srgbClr>
                </a:solidFill>
                <a:latin typeface="Arial"/>
              </a:rPr>
              <a:pPr defTabSz="914400">
                <a:defRPr/>
              </a:pPr>
              <a:t>73</a:t>
            </a:fld>
            <a:endParaRPr lang="en-US" dirty="0">
              <a:solidFill>
                <a:srgbClr val="0C0C0C">
                  <a:tint val="75000"/>
                </a:srgbClr>
              </a:solidFill>
              <a:latin typeface="Arial"/>
            </a:endParaRPr>
          </a:p>
        </p:txBody>
      </p:sp>
      <p:graphicFrame>
        <p:nvGraphicFramePr>
          <p:cNvPr id="7" name="Content Placeholder 3">
            <a:extLst>
              <a:ext uri="{FF2B5EF4-FFF2-40B4-BE49-F238E27FC236}">
                <a16:creationId xmlns:a16="http://schemas.microsoft.com/office/drawing/2014/main" id="{7347E18A-E9CE-4B4D-891F-56789585F0E4}"/>
              </a:ext>
            </a:extLst>
          </p:cNvPr>
          <p:cNvGraphicFramePr>
            <a:graphicFrameLocks/>
          </p:cNvGraphicFramePr>
          <p:nvPr/>
        </p:nvGraphicFramePr>
        <p:xfrm>
          <a:off x="1084263" y="1327150"/>
          <a:ext cx="10501024" cy="5030926"/>
        </p:xfrm>
        <a:graphic>
          <a:graphicData uri="http://schemas.openxmlformats.org/drawingml/2006/table">
            <a:tbl>
              <a:tblPr firstRow="1" firstCol="1" bandRow="1"/>
              <a:tblGrid>
                <a:gridCol w="2471922">
                  <a:extLst>
                    <a:ext uri="{9D8B030D-6E8A-4147-A177-3AD203B41FA5}">
                      <a16:colId xmlns:a16="http://schemas.microsoft.com/office/drawing/2014/main" val="20000"/>
                    </a:ext>
                  </a:extLst>
                </a:gridCol>
                <a:gridCol w="914557">
                  <a:extLst>
                    <a:ext uri="{9D8B030D-6E8A-4147-A177-3AD203B41FA5}">
                      <a16:colId xmlns:a16="http://schemas.microsoft.com/office/drawing/2014/main" val="20001"/>
                    </a:ext>
                  </a:extLst>
                </a:gridCol>
                <a:gridCol w="2624900">
                  <a:extLst>
                    <a:ext uri="{9D8B030D-6E8A-4147-A177-3AD203B41FA5}">
                      <a16:colId xmlns:a16="http://schemas.microsoft.com/office/drawing/2014/main" val="20002"/>
                    </a:ext>
                  </a:extLst>
                </a:gridCol>
                <a:gridCol w="4489645">
                  <a:extLst>
                    <a:ext uri="{9D8B030D-6E8A-4147-A177-3AD203B41FA5}">
                      <a16:colId xmlns:a16="http://schemas.microsoft.com/office/drawing/2014/main" val="20003"/>
                    </a:ext>
                  </a:extLst>
                </a:gridCol>
              </a:tblGrid>
              <a:tr h="124389">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dirty="0">
                          <a:effectLst/>
                        </a:rPr>
                        <a:t>Parameter </a:t>
                      </a:r>
                      <a:endParaRPr lang="en-US" sz="11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dirty="0">
                          <a:effectLst/>
                        </a:rPr>
                        <a:t>C Type</a:t>
                      </a:r>
                      <a:endParaRPr lang="en-US" sz="11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dirty="0">
                          <a:effectLst/>
                        </a:rPr>
                        <a:t>Default Value</a:t>
                      </a:r>
                      <a:endParaRPr lang="en-US" sz="11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dirty="0">
                          <a:effectLst/>
                        </a:rPr>
                        <a:t>Valid Values</a:t>
                      </a:r>
                      <a:endParaRPr lang="en-US" sz="11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8CA8"/>
                    </a:solidFill>
                  </a:tcPr>
                </a:tc>
                <a:extLst>
                  <a:ext uri="{0D108BD9-81ED-4DB2-BD59-A6C34878D82A}">
                    <a16:rowId xmlns:a16="http://schemas.microsoft.com/office/drawing/2014/main" val="10000"/>
                  </a:ext>
                </a:extLst>
              </a:tr>
              <a:tr h="124389">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dirty="0" err="1">
                          <a:effectLst/>
                        </a:rPr>
                        <a:t>input_width</a:t>
                      </a:r>
                      <a:endParaRPr lang="en-US" sz="11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unsigned</a:t>
                      </a:r>
                      <a:endParaRPr lang="en-US" sz="90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16</a:t>
                      </a:r>
                      <a:endParaRPr lang="en-US" sz="90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8-34</a:t>
                      </a:r>
                      <a:endParaRPr lang="en-US" sz="90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1"/>
                  </a:ext>
                </a:extLst>
              </a:tr>
              <a:tr h="248777">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dirty="0" err="1">
                          <a:effectLst/>
                        </a:rPr>
                        <a:t>output_width</a:t>
                      </a:r>
                      <a:endParaRPr lang="en-US" sz="11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dirty="0">
                          <a:effectLst/>
                        </a:rPr>
                        <a:t>unsigned</a:t>
                      </a:r>
                      <a:endParaRPr lang="en-US" sz="9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16</a:t>
                      </a:r>
                      <a:endParaRPr lang="en-US" sz="90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input_width to (input_width + max_nfft + 1)</a:t>
                      </a:r>
                      <a:endParaRPr lang="en-US" sz="90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2"/>
                  </a:ext>
                </a:extLst>
              </a:tr>
              <a:tr h="124389">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dirty="0" err="1">
                          <a:effectLst/>
                        </a:rPr>
                        <a:t>status_width</a:t>
                      </a:r>
                      <a:r>
                        <a:rPr lang="en-US" sz="1100" dirty="0">
                          <a:effectLst/>
                        </a:rPr>
                        <a:t> </a:t>
                      </a:r>
                      <a:endParaRPr lang="en-US" sz="11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dirty="0">
                          <a:effectLst/>
                        </a:rPr>
                        <a:t>unsigned</a:t>
                      </a:r>
                      <a:endParaRPr lang="en-US" sz="9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dirty="0">
                          <a:effectLst/>
                        </a:rPr>
                        <a:t> 8</a:t>
                      </a:r>
                      <a:endParaRPr lang="en-US" sz="9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dirty="0">
                          <a:effectLst/>
                        </a:rPr>
                        <a:t>Depends on FFT configuration</a:t>
                      </a:r>
                      <a:endParaRPr lang="en-US" sz="9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3"/>
                  </a:ext>
                </a:extLst>
              </a:tr>
              <a:tr h="124389">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a:effectLst/>
                        </a:rPr>
                        <a:t>config_width</a:t>
                      </a:r>
                      <a:endParaRPr lang="en-US" sz="110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dirty="0">
                          <a:effectLst/>
                        </a:rPr>
                        <a:t>unsigned</a:t>
                      </a:r>
                      <a:endParaRPr lang="en-US" sz="9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16</a:t>
                      </a:r>
                      <a:endParaRPr lang="en-US" sz="90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Depends on FFT configuration</a:t>
                      </a:r>
                      <a:endParaRPr lang="en-US" sz="90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4"/>
                  </a:ext>
                </a:extLst>
              </a:tr>
              <a:tr h="124389">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dirty="0" err="1">
                          <a:effectLst/>
                        </a:rPr>
                        <a:t>max_nfft</a:t>
                      </a:r>
                      <a:endParaRPr lang="en-US" sz="11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dirty="0">
                          <a:effectLst/>
                        </a:rPr>
                        <a:t>unsigned</a:t>
                      </a:r>
                      <a:endParaRPr lang="en-US" sz="9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10</a:t>
                      </a:r>
                      <a:endParaRPr lang="en-US" sz="90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3-16</a:t>
                      </a:r>
                      <a:endParaRPr lang="en-US" sz="90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5"/>
                  </a:ext>
                </a:extLst>
              </a:tr>
              <a:tr h="124389">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dirty="0" err="1">
                          <a:effectLst/>
                        </a:rPr>
                        <a:t>has_nfft</a:t>
                      </a:r>
                      <a:endParaRPr lang="en-US" sz="11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dirty="0" err="1">
                          <a:effectLst/>
                        </a:rPr>
                        <a:t>bool</a:t>
                      </a:r>
                      <a:endParaRPr lang="en-US" sz="9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false</a:t>
                      </a:r>
                      <a:endParaRPr lang="en-US" sz="90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dirty="0">
                          <a:effectLst/>
                        </a:rPr>
                        <a:t>True, False</a:t>
                      </a:r>
                      <a:endParaRPr lang="en-US" sz="9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6"/>
                  </a:ext>
                </a:extLst>
              </a:tr>
              <a:tr h="124389">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dirty="0">
                          <a:effectLst/>
                        </a:rPr>
                        <a:t>channels</a:t>
                      </a:r>
                      <a:endParaRPr lang="en-US" sz="11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dirty="0">
                          <a:effectLst/>
                        </a:rPr>
                        <a:t>unsigned  </a:t>
                      </a:r>
                      <a:endParaRPr lang="en-US" sz="9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1</a:t>
                      </a:r>
                      <a:endParaRPr lang="en-US" sz="90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1-12</a:t>
                      </a:r>
                      <a:endParaRPr lang="en-US" sz="90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7"/>
                  </a:ext>
                </a:extLst>
              </a:tr>
              <a:tr h="345325">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dirty="0" err="1">
                          <a:effectLst/>
                        </a:rPr>
                        <a:t>arch_opt</a:t>
                      </a:r>
                      <a:endParaRPr lang="en-US" sz="11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unsigned  </a:t>
                      </a:r>
                      <a:endParaRPr lang="en-US" sz="90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dirty="0" err="1">
                          <a:effectLst/>
                        </a:rPr>
                        <a:t>pipelined_streaming_io</a:t>
                      </a:r>
                      <a:endParaRPr lang="en-US" sz="9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dirty="0" err="1">
                          <a:effectLst/>
                        </a:rPr>
                        <a:t>automatically_select</a:t>
                      </a:r>
                      <a:r>
                        <a:rPr lang="en-US" sz="900" dirty="0">
                          <a:effectLst/>
                        </a:rPr>
                        <a:t>,</a:t>
                      </a:r>
                      <a:r>
                        <a:rPr lang="en-US" sz="900" baseline="0" dirty="0">
                          <a:effectLst/>
                        </a:rPr>
                        <a:t> </a:t>
                      </a:r>
                      <a:r>
                        <a:rPr lang="en-US" sz="800" dirty="0" err="1">
                          <a:effectLst/>
                        </a:rPr>
                        <a:t>pipelined_streaming_io</a:t>
                      </a:r>
                      <a:r>
                        <a:rPr lang="en-US" sz="900" dirty="0">
                          <a:effectLst/>
                        </a:rPr>
                        <a:t>,</a:t>
                      </a:r>
                      <a:r>
                        <a:rPr lang="en-US" sz="900" baseline="0" dirty="0">
                          <a:effectLst/>
                        </a:rPr>
                        <a:t> </a:t>
                      </a:r>
                      <a:r>
                        <a:rPr lang="en-US" sz="800" dirty="0">
                          <a:effectLst/>
                        </a:rPr>
                        <a:t>radix_4_burst_io, </a:t>
                      </a:r>
                      <a:endParaRPr lang="en-US" sz="900" dirty="0">
                        <a:effectLst/>
                      </a:endParaRPr>
                    </a:p>
                    <a:p>
                      <a:pPr marL="0" marR="0">
                        <a:lnSpc>
                          <a:spcPct val="115000"/>
                        </a:lnSpc>
                        <a:spcBef>
                          <a:spcPts val="0"/>
                        </a:spcBef>
                        <a:spcAft>
                          <a:spcPts val="0"/>
                        </a:spcAft>
                      </a:pPr>
                      <a:r>
                        <a:rPr lang="en-US" sz="800" dirty="0">
                          <a:effectLst/>
                        </a:rPr>
                        <a:t>radix_2_burst_io</a:t>
                      </a:r>
                      <a:r>
                        <a:rPr lang="en-US" sz="900" dirty="0">
                          <a:effectLst/>
                        </a:rPr>
                        <a:t>,</a:t>
                      </a:r>
                      <a:r>
                        <a:rPr lang="en-US" sz="900" baseline="0" dirty="0">
                          <a:effectLst/>
                        </a:rPr>
                        <a:t> </a:t>
                      </a:r>
                      <a:r>
                        <a:rPr lang="en-US" sz="800" dirty="0">
                          <a:effectLst/>
                        </a:rPr>
                        <a:t>radix_2_lite_burst_io</a:t>
                      </a:r>
                      <a:endParaRPr lang="en-US" sz="9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8"/>
                  </a:ext>
                </a:extLst>
              </a:tr>
              <a:tr h="124389">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dirty="0" err="1">
                          <a:effectLst/>
                        </a:rPr>
                        <a:t>phase_factor_width</a:t>
                      </a:r>
                      <a:endParaRPr lang="en-US" sz="11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unsigned</a:t>
                      </a:r>
                      <a:endParaRPr lang="en-US" sz="90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dirty="0">
                          <a:effectLst/>
                        </a:rPr>
                        <a:t>16</a:t>
                      </a:r>
                      <a:endParaRPr lang="en-US" sz="9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8-34</a:t>
                      </a:r>
                      <a:endParaRPr lang="en-US" sz="90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9"/>
                  </a:ext>
                </a:extLst>
              </a:tr>
              <a:tr h="214853">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dirty="0" err="1">
                          <a:effectLst/>
                        </a:rPr>
                        <a:t>ordering_opt</a:t>
                      </a:r>
                      <a:endParaRPr lang="en-US" sz="11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unsigned</a:t>
                      </a:r>
                      <a:endParaRPr lang="en-US" sz="90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dirty="0" err="1">
                          <a:effectLst/>
                        </a:rPr>
                        <a:t>bit_reversed_order</a:t>
                      </a:r>
                      <a:endParaRPr lang="en-US" sz="9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bit_reversed_order</a:t>
                      </a:r>
                      <a:endParaRPr lang="en-US" sz="900">
                        <a:effectLst/>
                      </a:endParaRPr>
                    </a:p>
                    <a:p>
                      <a:pPr marL="0" marR="0">
                        <a:lnSpc>
                          <a:spcPct val="115000"/>
                        </a:lnSpc>
                        <a:spcBef>
                          <a:spcPts val="0"/>
                        </a:spcBef>
                        <a:spcAft>
                          <a:spcPts val="0"/>
                        </a:spcAft>
                      </a:pPr>
                      <a:r>
                        <a:rPr lang="en-US" sz="800">
                          <a:effectLst/>
                        </a:rPr>
                        <a:t>natural_order</a:t>
                      </a:r>
                      <a:endParaRPr lang="en-US" sz="90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10"/>
                  </a:ext>
                </a:extLst>
              </a:tr>
              <a:tr h="214853">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dirty="0" err="1">
                          <a:effectLst/>
                        </a:rPr>
                        <a:t>ovflo</a:t>
                      </a:r>
                      <a:endParaRPr lang="en-US" sz="11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bool</a:t>
                      </a:r>
                      <a:endParaRPr lang="en-US" sz="90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dirty="0">
                          <a:effectLst/>
                        </a:rPr>
                        <a:t>true</a:t>
                      </a:r>
                      <a:endParaRPr lang="en-US" sz="9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dirty="0">
                          <a:effectLst/>
                        </a:rPr>
                        <a:t>false</a:t>
                      </a:r>
                      <a:endParaRPr lang="en-US" sz="900" dirty="0">
                        <a:effectLst/>
                      </a:endParaRPr>
                    </a:p>
                    <a:p>
                      <a:pPr marL="0" marR="0">
                        <a:lnSpc>
                          <a:spcPct val="115000"/>
                        </a:lnSpc>
                        <a:spcBef>
                          <a:spcPts val="0"/>
                        </a:spcBef>
                        <a:spcAft>
                          <a:spcPts val="0"/>
                        </a:spcAft>
                      </a:pPr>
                      <a:r>
                        <a:rPr lang="en-US" sz="800" dirty="0">
                          <a:effectLst/>
                        </a:rPr>
                        <a:t>true</a:t>
                      </a:r>
                      <a:endParaRPr lang="en-US" sz="9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11"/>
                  </a:ext>
                </a:extLst>
              </a:tr>
              <a:tr h="230389">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dirty="0" err="1">
                          <a:effectLst/>
                        </a:rPr>
                        <a:t>scaling_opt</a:t>
                      </a:r>
                      <a:endParaRPr lang="en-US" sz="11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unsigned</a:t>
                      </a:r>
                      <a:endParaRPr lang="en-US" sz="90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dirty="0">
                          <a:effectLst/>
                        </a:rPr>
                        <a:t>scaled</a:t>
                      </a:r>
                      <a:endParaRPr lang="en-US" sz="9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dirty="0">
                          <a:effectLst/>
                        </a:rPr>
                        <a:t>Scaled</a:t>
                      </a:r>
                      <a:r>
                        <a:rPr lang="en-US" sz="900" dirty="0">
                          <a:effectLst/>
                        </a:rPr>
                        <a:t>, </a:t>
                      </a:r>
                      <a:r>
                        <a:rPr lang="en-US" sz="800" dirty="0" err="1">
                          <a:effectLst/>
                        </a:rPr>
                        <a:t>unscaled</a:t>
                      </a:r>
                      <a:r>
                        <a:rPr lang="en-US" sz="900" dirty="0">
                          <a:effectLst/>
                        </a:rPr>
                        <a:t>,</a:t>
                      </a:r>
                      <a:r>
                        <a:rPr lang="en-US" sz="900" baseline="0" dirty="0">
                          <a:effectLst/>
                        </a:rPr>
                        <a:t> </a:t>
                      </a:r>
                      <a:r>
                        <a:rPr lang="en-US" sz="800" dirty="0" err="1">
                          <a:effectLst/>
                        </a:rPr>
                        <a:t>block_floating_point</a:t>
                      </a:r>
                      <a:endParaRPr lang="en-US" sz="9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12"/>
                  </a:ext>
                </a:extLst>
              </a:tr>
              <a:tr h="214853">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dirty="0" err="1">
                          <a:effectLst/>
                        </a:rPr>
                        <a:t>rounding_opt</a:t>
                      </a:r>
                      <a:endParaRPr lang="en-US" sz="11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unsigned</a:t>
                      </a:r>
                      <a:endParaRPr lang="en-US" sz="90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dirty="0">
                          <a:effectLst/>
                        </a:rPr>
                        <a:t>truncation</a:t>
                      </a:r>
                      <a:endParaRPr lang="en-US" sz="9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dirty="0">
                          <a:effectLst/>
                        </a:rPr>
                        <a:t>truncation</a:t>
                      </a:r>
                      <a:endParaRPr lang="en-US" sz="900" dirty="0">
                        <a:effectLst/>
                      </a:endParaRPr>
                    </a:p>
                    <a:p>
                      <a:pPr marL="0" marR="0">
                        <a:lnSpc>
                          <a:spcPct val="115000"/>
                        </a:lnSpc>
                        <a:spcBef>
                          <a:spcPts val="0"/>
                        </a:spcBef>
                        <a:spcAft>
                          <a:spcPts val="0"/>
                        </a:spcAft>
                      </a:pPr>
                      <a:r>
                        <a:rPr lang="en-US" sz="800" dirty="0" err="1">
                          <a:effectLst/>
                        </a:rPr>
                        <a:t>convergent_rounding</a:t>
                      </a:r>
                      <a:endParaRPr lang="en-US" sz="9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13"/>
                  </a:ext>
                </a:extLst>
              </a:tr>
              <a:tr h="214853">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dirty="0" err="1">
                          <a:effectLst/>
                        </a:rPr>
                        <a:t>mem_data</a:t>
                      </a:r>
                      <a:endParaRPr lang="en-US" sz="11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unsigned</a:t>
                      </a:r>
                      <a:endParaRPr lang="en-US" sz="90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dirty="0" err="1">
                          <a:effectLst/>
                        </a:rPr>
                        <a:t>block_ram</a:t>
                      </a:r>
                      <a:endParaRPr lang="en-US" sz="9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dirty="0" err="1">
                          <a:effectLst/>
                        </a:rPr>
                        <a:t>block_ram</a:t>
                      </a:r>
                      <a:endParaRPr lang="en-US" sz="900" dirty="0">
                        <a:effectLst/>
                      </a:endParaRPr>
                    </a:p>
                    <a:p>
                      <a:pPr marL="0" marR="0">
                        <a:lnSpc>
                          <a:spcPct val="115000"/>
                        </a:lnSpc>
                        <a:spcBef>
                          <a:spcPts val="0"/>
                        </a:spcBef>
                        <a:spcAft>
                          <a:spcPts val="0"/>
                        </a:spcAft>
                      </a:pPr>
                      <a:r>
                        <a:rPr lang="en-US" sz="800" dirty="0" err="1">
                          <a:effectLst/>
                        </a:rPr>
                        <a:t>distributed_ram</a:t>
                      </a:r>
                      <a:endParaRPr lang="en-US" sz="9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14"/>
                  </a:ext>
                </a:extLst>
              </a:tr>
              <a:tr h="214853">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dirty="0" err="1">
                          <a:effectLst/>
                        </a:rPr>
                        <a:t>mem_phase_factors</a:t>
                      </a:r>
                      <a:endParaRPr lang="en-US" sz="11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unsigned</a:t>
                      </a:r>
                      <a:endParaRPr lang="en-US" sz="90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block_ram</a:t>
                      </a:r>
                      <a:endParaRPr lang="en-US" sz="90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block_ram</a:t>
                      </a:r>
                      <a:endParaRPr lang="en-US" sz="900">
                        <a:effectLst/>
                      </a:endParaRPr>
                    </a:p>
                    <a:p>
                      <a:pPr marL="0" marR="0">
                        <a:lnSpc>
                          <a:spcPct val="115000"/>
                        </a:lnSpc>
                        <a:spcBef>
                          <a:spcPts val="0"/>
                        </a:spcBef>
                        <a:spcAft>
                          <a:spcPts val="0"/>
                        </a:spcAft>
                      </a:pPr>
                      <a:r>
                        <a:rPr lang="en-US" sz="800">
                          <a:effectLst/>
                        </a:rPr>
                        <a:t>distributed_ram</a:t>
                      </a:r>
                      <a:endParaRPr lang="en-US" sz="90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15"/>
                  </a:ext>
                </a:extLst>
              </a:tr>
              <a:tr h="214853">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dirty="0" err="1">
                          <a:effectLst/>
                        </a:rPr>
                        <a:t>mem_reorder</a:t>
                      </a:r>
                      <a:endParaRPr lang="en-US" sz="11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unsigned</a:t>
                      </a:r>
                      <a:endParaRPr lang="en-US" sz="90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block_ram</a:t>
                      </a:r>
                      <a:endParaRPr lang="en-US" sz="90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dirty="0" err="1">
                          <a:effectLst/>
                        </a:rPr>
                        <a:t>block_ram</a:t>
                      </a:r>
                      <a:endParaRPr lang="en-US" sz="900" dirty="0">
                        <a:effectLst/>
                      </a:endParaRPr>
                    </a:p>
                    <a:p>
                      <a:pPr marL="0" marR="0">
                        <a:lnSpc>
                          <a:spcPct val="115000"/>
                        </a:lnSpc>
                        <a:spcBef>
                          <a:spcPts val="0"/>
                        </a:spcBef>
                        <a:spcAft>
                          <a:spcPts val="0"/>
                        </a:spcAft>
                      </a:pPr>
                      <a:r>
                        <a:rPr lang="en-US" sz="800" dirty="0" err="1">
                          <a:effectLst/>
                        </a:rPr>
                        <a:t>distributed_ram</a:t>
                      </a:r>
                      <a:endParaRPr lang="en-US" sz="9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16"/>
                  </a:ext>
                </a:extLst>
              </a:tr>
              <a:tr h="124389">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dirty="0" err="1">
                          <a:effectLst/>
                        </a:rPr>
                        <a:t>stages_block_ram</a:t>
                      </a:r>
                      <a:endParaRPr lang="en-US" sz="11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unsigned</a:t>
                      </a:r>
                      <a:endParaRPr lang="en-US" sz="90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(max_nfft &lt; 10) ? 0 : (max_nfft - 9)</a:t>
                      </a:r>
                      <a:endParaRPr lang="en-US" sz="90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0-11</a:t>
                      </a:r>
                      <a:endParaRPr lang="en-US" sz="90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17"/>
                  </a:ext>
                </a:extLst>
              </a:tr>
              <a:tr h="214853">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dirty="0" err="1">
                          <a:effectLst/>
                        </a:rPr>
                        <a:t>mem_hybrid</a:t>
                      </a:r>
                      <a:endParaRPr lang="en-US" sz="11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bool</a:t>
                      </a:r>
                      <a:endParaRPr lang="en-US" sz="90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false</a:t>
                      </a:r>
                      <a:endParaRPr lang="en-US" sz="90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dirty="0">
                          <a:effectLst/>
                        </a:rPr>
                        <a:t>false</a:t>
                      </a:r>
                      <a:endParaRPr lang="en-US" sz="900" dirty="0">
                        <a:effectLst/>
                      </a:endParaRPr>
                    </a:p>
                    <a:p>
                      <a:pPr marL="0" marR="0">
                        <a:lnSpc>
                          <a:spcPct val="115000"/>
                        </a:lnSpc>
                        <a:spcBef>
                          <a:spcPts val="0"/>
                        </a:spcBef>
                        <a:spcAft>
                          <a:spcPts val="0"/>
                        </a:spcAft>
                      </a:pPr>
                      <a:r>
                        <a:rPr lang="en-US" sz="800" dirty="0">
                          <a:effectLst/>
                        </a:rPr>
                        <a:t>true</a:t>
                      </a:r>
                      <a:endParaRPr lang="en-US" sz="9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18"/>
                  </a:ext>
                </a:extLst>
              </a:tr>
              <a:tr h="322279">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dirty="0" err="1">
                          <a:effectLst/>
                        </a:rPr>
                        <a:t>complex_mult_type</a:t>
                      </a:r>
                      <a:endParaRPr lang="en-US" sz="11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unsigned</a:t>
                      </a:r>
                      <a:endParaRPr lang="en-US" sz="90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indent="0" algn="l" defTabSz="914400" rtl="0" eaLnBrk="1" fontAlgn="auto" latinLnBrk="0" hangingPunct="1">
                        <a:lnSpc>
                          <a:spcPct val="115000"/>
                        </a:lnSpc>
                        <a:spcBef>
                          <a:spcPts val="0"/>
                        </a:spcBef>
                        <a:spcAft>
                          <a:spcPts val="0"/>
                        </a:spcAft>
                        <a:buClrTx/>
                        <a:buSzTx/>
                        <a:buFontTx/>
                        <a:buNone/>
                        <a:tabLst/>
                        <a:defRPr/>
                      </a:pPr>
                      <a:r>
                        <a:rPr lang="en-US" sz="900" dirty="0" err="1">
                          <a:effectLst/>
                        </a:rPr>
                        <a:t>use_mults_resources</a:t>
                      </a:r>
                      <a:endParaRPr lang="en-US" sz="1000" dirty="0">
                        <a:effectLst/>
                      </a:endParaRPr>
                    </a:p>
                    <a:p>
                      <a:pPr marL="0" marR="0">
                        <a:lnSpc>
                          <a:spcPct val="115000"/>
                        </a:lnSpc>
                        <a:spcBef>
                          <a:spcPts val="0"/>
                        </a:spcBef>
                        <a:spcAft>
                          <a:spcPts val="0"/>
                        </a:spcAft>
                      </a:pPr>
                      <a:endParaRPr lang="en-US" sz="9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dirty="0" err="1">
                          <a:effectLst/>
                        </a:rPr>
                        <a:t>use_luts</a:t>
                      </a:r>
                      <a:endParaRPr lang="en-US" sz="900" dirty="0">
                        <a:effectLst/>
                      </a:endParaRPr>
                    </a:p>
                    <a:p>
                      <a:pPr marL="0" marR="0">
                        <a:lnSpc>
                          <a:spcPct val="115000"/>
                        </a:lnSpc>
                        <a:spcBef>
                          <a:spcPts val="0"/>
                        </a:spcBef>
                        <a:spcAft>
                          <a:spcPts val="0"/>
                        </a:spcAft>
                      </a:pPr>
                      <a:r>
                        <a:rPr lang="en-US" sz="800" dirty="0" err="1">
                          <a:effectLst/>
                        </a:rPr>
                        <a:t>use_mults_resources</a:t>
                      </a:r>
                      <a:endParaRPr lang="en-US" sz="900" dirty="0">
                        <a:effectLst/>
                      </a:endParaRPr>
                    </a:p>
                    <a:p>
                      <a:pPr marL="0" marR="0">
                        <a:lnSpc>
                          <a:spcPct val="115000"/>
                        </a:lnSpc>
                        <a:spcBef>
                          <a:spcPts val="0"/>
                        </a:spcBef>
                        <a:spcAft>
                          <a:spcPts val="0"/>
                        </a:spcAft>
                      </a:pPr>
                      <a:r>
                        <a:rPr lang="en-US" sz="800" dirty="0" err="1">
                          <a:effectLst/>
                        </a:rPr>
                        <a:t>use_mults_performance</a:t>
                      </a:r>
                      <a:endParaRPr lang="en-US" sz="9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19"/>
                  </a:ext>
                </a:extLst>
              </a:tr>
              <a:tr h="214853">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100" dirty="0" err="1">
                          <a:effectLst/>
                        </a:rPr>
                        <a:t>butterfly_type</a:t>
                      </a:r>
                      <a:endParaRPr lang="en-US" sz="11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unsigned</a:t>
                      </a:r>
                      <a:endParaRPr lang="en-US" sz="90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use_luts</a:t>
                      </a:r>
                      <a:endParaRPr lang="en-US" sz="90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dirty="0" err="1">
                          <a:effectLst/>
                        </a:rPr>
                        <a:t>use_luts</a:t>
                      </a:r>
                      <a:endParaRPr lang="en-US" sz="900" dirty="0">
                        <a:effectLst/>
                      </a:endParaRPr>
                    </a:p>
                    <a:p>
                      <a:pPr marL="0" marR="0">
                        <a:lnSpc>
                          <a:spcPct val="115000"/>
                        </a:lnSpc>
                        <a:spcBef>
                          <a:spcPts val="0"/>
                        </a:spcBef>
                        <a:spcAft>
                          <a:spcPts val="0"/>
                        </a:spcAft>
                      </a:pPr>
                      <a:r>
                        <a:rPr lang="en-US" sz="800" dirty="0" err="1">
                          <a:effectLst/>
                        </a:rPr>
                        <a:t>use_xtremedsp_slices</a:t>
                      </a:r>
                      <a:endParaRPr lang="en-US" sz="900" dirty="0">
                        <a:effectLst/>
                        <a:latin typeface="Calibri"/>
                        <a:ea typeface="Calibri"/>
                        <a:cs typeface="Times New Roman"/>
                      </a:endParaRPr>
                    </a:p>
                  </a:txBody>
                  <a:tcPr marL="56326" marR="56326"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23708384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FFT Function: Data</a:t>
            </a:r>
          </a:p>
        </p:txBody>
      </p:sp>
      <p:sp>
        <p:nvSpPr>
          <p:cNvPr id="2" name="Content Placeholder 1"/>
          <p:cNvSpPr>
            <a:spLocks noGrp="1"/>
          </p:cNvSpPr>
          <p:nvPr>
            <p:ph sz="half" idx="1"/>
          </p:nvPr>
        </p:nvSpPr>
        <p:spPr/>
        <p:txBody>
          <a:bodyPr/>
          <a:lstStyle/>
          <a:p>
            <a:r>
              <a:rPr lang="en-US" dirty="0"/>
              <a:t>Input &amp; Output Data</a:t>
            </a:r>
          </a:p>
          <a:p>
            <a:pPr lvl="1"/>
            <a:r>
              <a:rPr lang="en-US" dirty="0"/>
              <a:t>Data Input and Output</a:t>
            </a:r>
          </a:p>
          <a:p>
            <a:pPr lvl="2"/>
            <a:r>
              <a:rPr lang="en-US" dirty="0"/>
              <a:t>Array arguments of type </a:t>
            </a:r>
            <a:r>
              <a:rPr lang="en-US" dirty="0" err="1"/>
              <a:t>ap_fixed</a:t>
            </a:r>
            <a:r>
              <a:rPr lang="en-US" dirty="0"/>
              <a:t> or float type</a:t>
            </a:r>
          </a:p>
          <a:p>
            <a:pPr lvl="2"/>
            <a:r>
              <a:rPr lang="en-US" dirty="0"/>
              <a:t>Two-dimensional arrays are used for </a:t>
            </a:r>
            <a:br>
              <a:rPr lang="en-US" dirty="0"/>
            </a:br>
            <a:r>
              <a:rPr lang="en-US" dirty="0"/>
              <a:t>multi-channel functionality</a:t>
            </a:r>
          </a:p>
          <a:p>
            <a:pPr lvl="3"/>
            <a:r>
              <a:rPr lang="en-US" sz="1400" dirty="0"/>
              <a:t>First dimension represents the channels; Second dimension the FFT data</a:t>
            </a:r>
            <a:endParaRPr lang="en-US" sz="1400" strike="sngStrike" dirty="0"/>
          </a:p>
        </p:txBody>
      </p:sp>
      <p:sp>
        <p:nvSpPr>
          <p:cNvPr id="7" name="Slide Number Placeholder 5">
            <a:extLst>
              <a:ext uri="{FF2B5EF4-FFF2-40B4-BE49-F238E27FC236}">
                <a16:creationId xmlns:a16="http://schemas.microsoft.com/office/drawing/2014/main" id="{7AFC017E-24F5-478B-A8CC-83FE92984D8A}"/>
              </a:ext>
            </a:extLst>
          </p:cNvPr>
          <p:cNvSpPr>
            <a:spLocks noGrp="1"/>
          </p:cNvSpPr>
          <p:nvPr>
            <p:ph type="sldNum" sz="quarter" idx="4"/>
          </p:nvPr>
        </p:nvSpPr>
        <p:spPr/>
        <p:txBody>
          <a:bodyPr/>
          <a:lstStyle/>
          <a:p>
            <a:pPr>
              <a:defRPr/>
            </a:pPr>
            <a:r>
              <a:rPr lang="en-US" dirty="0"/>
              <a:t>Coding Considerations 23- </a:t>
            </a:r>
            <a:fld id="{060BD193-E118-4B16-863C-C8C12C675E3E}" type="slidenum">
              <a:rPr lang="en-US" smtClean="0"/>
              <a:pPr>
                <a:defRPr/>
              </a:pPr>
              <a:t>74</a:t>
            </a:fld>
            <a:endParaRPr lang="en-US" dirty="0"/>
          </a:p>
        </p:txBody>
      </p:sp>
      <p:sp>
        <p:nvSpPr>
          <p:cNvPr id="9" name="TextBox 8">
            <a:extLst>
              <a:ext uri="{FF2B5EF4-FFF2-40B4-BE49-F238E27FC236}">
                <a16:creationId xmlns:a16="http://schemas.microsoft.com/office/drawing/2014/main" id="{634D9E9F-434C-466E-9A15-FD9933C8C940}"/>
              </a:ext>
            </a:extLst>
          </p:cNvPr>
          <p:cNvSpPr txBox="1"/>
          <p:nvPr/>
        </p:nvSpPr>
        <p:spPr bwMode="auto">
          <a:xfrm>
            <a:off x="6096000" y="1618883"/>
            <a:ext cx="5942774" cy="1277273"/>
          </a:xfrm>
          <a:prstGeom prst="rect">
            <a:avLst/>
          </a:prstGeom>
          <a:solidFill>
            <a:srgbClr val="008CA8">
              <a:lumMod val="20000"/>
              <a:lumOff val="80000"/>
            </a:srgbClr>
          </a:solidFill>
          <a:ln w="9525">
            <a:noFill/>
            <a:miter lim="800000"/>
            <a:headEnd/>
            <a:tailEnd/>
          </a:ln>
          <a:effectLst>
            <a:outerShdw blurRad="50800" dist="38100" dir="2700000" algn="tl" rotWithShape="0">
              <a:prstClr val="black">
                <a:alpha val="40000"/>
              </a:prstClr>
            </a:outerShdw>
          </a:effectLst>
        </p:spPr>
        <p:txBody>
          <a:bodyPr vert="horz" wrap="square" lIns="0" tIns="45720" rIns="91440" bIns="45720" numCol="1" rtlCol="0" anchor="t" anchorCtr="0" compatLnSpc="1">
            <a:prstTxWarp prst="textNoShape">
              <a:avLst/>
            </a:prstTxWarp>
            <a:spAutoFit/>
          </a:bodyPr>
          <a:lstStyle>
            <a:defPPr>
              <a:defRPr lang="en-US"/>
            </a:defPPr>
            <a:lvl1pPr>
              <a:defRPr sz="1100"/>
            </a:lvl1pPr>
          </a:lstStyle>
          <a:p>
            <a:pPr defTabSz="914400" fontAlgn="base">
              <a:spcBef>
                <a:spcPct val="0"/>
              </a:spcBef>
              <a:spcAft>
                <a:spcPct val="0"/>
              </a:spcAft>
              <a:defRPr/>
            </a:pPr>
            <a:r>
              <a:rPr lang="en-US" b="1" kern="0" dirty="0">
                <a:solidFill>
                  <a:srgbClr val="3F3F3F"/>
                </a:solidFill>
              </a:rPr>
              <a:t> </a:t>
            </a:r>
            <a:r>
              <a:rPr lang="en-US" kern="0" dirty="0">
                <a:solidFill>
                  <a:srgbClr val="000000"/>
                </a:solidFill>
              </a:rPr>
              <a:t>#include "</a:t>
            </a:r>
            <a:r>
              <a:rPr lang="en-US" kern="0" dirty="0" err="1">
                <a:solidFill>
                  <a:srgbClr val="000000"/>
                </a:solidFill>
              </a:rPr>
              <a:t>hls_fft.h</a:t>
            </a:r>
            <a:r>
              <a:rPr lang="en-US" kern="0" dirty="0">
                <a:solidFill>
                  <a:srgbClr val="000000"/>
                </a:solidFill>
              </a:rPr>
              <a:t>“</a:t>
            </a:r>
          </a:p>
          <a:p>
            <a:pPr defTabSz="914400" fontAlgn="base">
              <a:spcBef>
                <a:spcPct val="0"/>
              </a:spcBef>
              <a:spcAft>
                <a:spcPct val="0"/>
              </a:spcAft>
              <a:defRPr/>
            </a:pPr>
            <a:endParaRPr lang="en-US" kern="0" dirty="0">
              <a:solidFill>
                <a:srgbClr val="000000"/>
              </a:solidFill>
            </a:endParaRPr>
          </a:p>
          <a:p>
            <a:pPr defTabSz="914400" fontAlgn="base">
              <a:spcBef>
                <a:spcPct val="0"/>
              </a:spcBef>
              <a:spcAft>
                <a:spcPct val="0"/>
              </a:spcAft>
              <a:defRPr/>
            </a:pPr>
            <a:r>
              <a:rPr lang="en-US" kern="0" dirty="0" err="1">
                <a:solidFill>
                  <a:srgbClr val="000000"/>
                </a:solidFill>
              </a:rPr>
              <a:t>hls</a:t>
            </a:r>
            <a:r>
              <a:rPr lang="en-US" kern="0" dirty="0">
                <a:solidFill>
                  <a:srgbClr val="000000"/>
                </a:solidFill>
              </a:rPr>
              <a:t>::</a:t>
            </a:r>
            <a:r>
              <a:rPr lang="en-US" kern="0" dirty="0" err="1">
                <a:solidFill>
                  <a:srgbClr val="000000"/>
                </a:solidFill>
              </a:rPr>
              <a:t>fft</a:t>
            </a:r>
            <a:r>
              <a:rPr lang="en-US" kern="0" dirty="0">
                <a:solidFill>
                  <a:srgbClr val="000000"/>
                </a:solidFill>
              </a:rPr>
              <a:t>&lt;STATIC_PARAM&gt; (                           		// Static Parameterization Struct</a:t>
            </a:r>
          </a:p>
          <a:p>
            <a:pPr defTabSz="914400" fontAlgn="base">
              <a:spcBef>
                <a:spcPct val="0"/>
              </a:spcBef>
              <a:spcAft>
                <a:spcPct val="0"/>
              </a:spcAft>
              <a:defRPr/>
            </a:pPr>
            <a:r>
              <a:rPr lang="en-US" b="1" kern="0" dirty="0">
                <a:solidFill>
                  <a:srgbClr val="000000"/>
                </a:solidFill>
              </a:rPr>
              <a:t>  INPUT_DATA_ARRAY,            		// Input data fixed or float</a:t>
            </a:r>
          </a:p>
          <a:p>
            <a:pPr defTabSz="914400" fontAlgn="base">
              <a:spcBef>
                <a:spcPct val="0"/>
              </a:spcBef>
              <a:spcAft>
                <a:spcPct val="0"/>
              </a:spcAft>
              <a:defRPr/>
            </a:pPr>
            <a:r>
              <a:rPr lang="en-US" b="1" kern="0" dirty="0">
                <a:solidFill>
                  <a:srgbClr val="000000"/>
                </a:solidFill>
              </a:rPr>
              <a:t>  OUTPUT_DATA_ARRAY,        		// Output data fixed or float</a:t>
            </a:r>
          </a:p>
          <a:p>
            <a:pPr defTabSz="914400" fontAlgn="base">
              <a:spcBef>
                <a:spcPct val="0"/>
              </a:spcBef>
              <a:spcAft>
                <a:spcPct val="0"/>
              </a:spcAft>
              <a:defRPr/>
            </a:pPr>
            <a:r>
              <a:rPr lang="en-US" kern="0" dirty="0">
                <a:solidFill>
                  <a:srgbClr val="000000"/>
                </a:solidFill>
              </a:rPr>
              <a:t>  OUTPUT_STATUS,                 		// Output Status</a:t>
            </a:r>
          </a:p>
          <a:p>
            <a:pPr defTabSz="914400" fontAlgn="base">
              <a:spcBef>
                <a:spcPct val="0"/>
              </a:spcBef>
              <a:spcAft>
                <a:spcPct val="0"/>
              </a:spcAft>
              <a:defRPr/>
            </a:pPr>
            <a:r>
              <a:rPr lang="en-US" kern="0" dirty="0">
                <a:solidFill>
                  <a:srgbClr val="000000"/>
                </a:solidFill>
              </a:rPr>
              <a:t>  INPUT_RUN_TIME_CONFIGURATION); 		// Input Run Time Configuration</a:t>
            </a:r>
          </a:p>
        </p:txBody>
      </p:sp>
    </p:spTree>
    <p:extLst>
      <p:ext uri="{BB962C8B-B14F-4D97-AF65-F5344CB8AC3E}">
        <p14:creationId xmlns:p14="http://schemas.microsoft.com/office/powerpoint/2010/main" val="2740867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FFT Function: Data</a:t>
            </a:r>
          </a:p>
        </p:txBody>
      </p:sp>
      <p:sp>
        <p:nvSpPr>
          <p:cNvPr id="2" name="Content Placeholder 1"/>
          <p:cNvSpPr>
            <a:spLocks noGrp="1"/>
          </p:cNvSpPr>
          <p:nvPr>
            <p:ph sz="half" idx="1"/>
          </p:nvPr>
        </p:nvSpPr>
        <p:spPr/>
        <p:txBody>
          <a:bodyPr/>
          <a:lstStyle/>
          <a:p>
            <a:r>
              <a:rPr lang="en-US" dirty="0"/>
              <a:t>Input &amp; Output Data</a:t>
            </a:r>
          </a:p>
          <a:p>
            <a:pPr lvl="1"/>
            <a:r>
              <a:rPr lang="en-US" dirty="0"/>
              <a:t>Data Input and Output</a:t>
            </a:r>
          </a:p>
          <a:p>
            <a:pPr lvl="2"/>
            <a:r>
              <a:rPr lang="en-US" dirty="0"/>
              <a:t>Array arguments of type </a:t>
            </a:r>
            <a:r>
              <a:rPr lang="en-US" dirty="0" err="1"/>
              <a:t>ap_fixed</a:t>
            </a:r>
            <a:r>
              <a:rPr lang="en-US" dirty="0"/>
              <a:t> or float type</a:t>
            </a:r>
          </a:p>
          <a:p>
            <a:pPr lvl="2"/>
            <a:r>
              <a:rPr lang="en-US" dirty="0"/>
              <a:t>Two-dimensional arrays are used for </a:t>
            </a:r>
            <a:br>
              <a:rPr lang="en-US" dirty="0"/>
            </a:br>
            <a:r>
              <a:rPr lang="en-US" dirty="0"/>
              <a:t>multi-channel functionality</a:t>
            </a:r>
          </a:p>
          <a:p>
            <a:pPr lvl="3"/>
            <a:r>
              <a:rPr lang="en-US" sz="1400" dirty="0"/>
              <a:t>First dimension represents the channels; Second dimension the FFT data </a:t>
            </a:r>
            <a:r>
              <a:rPr lang="en-US" sz="1400" strike="sngStrike" dirty="0"/>
              <a:t>for each channel</a:t>
            </a:r>
          </a:p>
          <a:p>
            <a:pPr lvl="3"/>
            <a:r>
              <a:rPr lang="en-US" sz="1400" strike="sngStrike" dirty="0"/>
              <a:t>IP only supports multi-channels for </a:t>
            </a:r>
            <a:r>
              <a:rPr lang="en-US" sz="1400" strike="sngStrike" dirty="0" err="1"/>
              <a:t>ap_fixed</a:t>
            </a:r>
            <a:r>
              <a:rPr lang="en-US" sz="1400" strike="sngStrike" dirty="0"/>
              <a:t> (not float)</a:t>
            </a:r>
          </a:p>
        </p:txBody>
      </p:sp>
      <p:sp>
        <p:nvSpPr>
          <p:cNvPr id="6" name="Slide Number Placeholder 5"/>
          <p:cNvSpPr>
            <a:spLocks noGrp="1"/>
          </p:cNvSpPr>
          <p:nvPr>
            <p:ph type="sldNum" sz="quarter" idx="10"/>
          </p:nvPr>
        </p:nvSpPr>
        <p:spPr/>
        <p:txBody>
          <a:bodyPr/>
          <a:lstStyle/>
          <a:p>
            <a:pPr defTabSz="914400">
              <a:defRPr/>
            </a:pPr>
            <a:r>
              <a:rPr lang="en-US" dirty="0">
                <a:solidFill>
                  <a:srgbClr val="0C0C0C">
                    <a:tint val="75000"/>
                  </a:srgbClr>
                </a:solidFill>
                <a:latin typeface="Arial"/>
              </a:rPr>
              <a:t>Coding Considerations 23- </a:t>
            </a:r>
            <a:fld id="{060BD193-E118-4B16-863C-C8C12C675E3E}" type="slidenum">
              <a:rPr lang="en-US">
                <a:solidFill>
                  <a:srgbClr val="0C0C0C">
                    <a:tint val="75000"/>
                  </a:srgbClr>
                </a:solidFill>
                <a:latin typeface="Arial"/>
              </a:rPr>
              <a:pPr defTabSz="914400">
                <a:defRPr/>
              </a:pPr>
              <a:t>75</a:t>
            </a:fld>
            <a:endParaRPr lang="en-US" dirty="0">
              <a:solidFill>
                <a:srgbClr val="0C0C0C">
                  <a:tint val="75000"/>
                </a:srgbClr>
              </a:solidFill>
              <a:latin typeface="Arial"/>
            </a:endParaRPr>
          </a:p>
        </p:txBody>
      </p:sp>
      <p:sp>
        <p:nvSpPr>
          <p:cNvPr id="9" name="TextBox 8">
            <a:extLst>
              <a:ext uri="{FF2B5EF4-FFF2-40B4-BE49-F238E27FC236}">
                <a16:creationId xmlns:a16="http://schemas.microsoft.com/office/drawing/2014/main" id="{634D9E9F-434C-466E-9A15-FD9933C8C940}"/>
              </a:ext>
            </a:extLst>
          </p:cNvPr>
          <p:cNvSpPr txBox="1"/>
          <p:nvPr/>
        </p:nvSpPr>
        <p:spPr bwMode="auto">
          <a:xfrm>
            <a:off x="6096000" y="1618883"/>
            <a:ext cx="5942774" cy="1277273"/>
          </a:xfrm>
          <a:prstGeom prst="rect">
            <a:avLst/>
          </a:prstGeom>
          <a:solidFill>
            <a:srgbClr val="008CA8">
              <a:lumMod val="20000"/>
              <a:lumOff val="80000"/>
            </a:srgbClr>
          </a:solidFill>
          <a:ln w="9525">
            <a:noFill/>
            <a:miter lim="800000"/>
            <a:headEnd/>
            <a:tailEnd/>
          </a:ln>
          <a:effectLst>
            <a:outerShdw blurRad="50800" dist="38100" dir="2700000" algn="tl" rotWithShape="0">
              <a:prstClr val="black">
                <a:alpha val="40000"/>
              </a:prstClr>
            </a:outerShdw>
          </a:effectLst>
        </p:spPr>
        <p:txBody>
          <a:bodyPr vert="horz" wrap="square" lIns="0" tIns="45720" rIns="91440" bIns="45720" numCol="1" rtlCol="0" anchor="t" anchorCtr="0" compatLnSpc="1">
            <a:prstTxWarp prst="textNoShape">
              <a:avLst/>
            </a:prstTxWarp>
            <a:spAutoFit/>
          </a:bodyPr>
          <a:lstStyle>
            <a:defPPr>
              <a:defRPr lang="en-US"/>
            </a:defPPr>
            <a:lvl1pPr>
              <a:defRPr sz="1100"/>
            </a:lvl1pPr>
          </a:lstStyle>
          <a:p>
            <a:pPr defTabSz="914400" fontAlgn="base">
              <a:spcBef>
                <a:spcPct val="0"/>
              </a:spcBef>
              <a:spcAft>
                <a:spcPct val="0"/>
              </a:spcAft>
              <a:defRPr/>
            </a:pPr>
            <a:r>
              <a:rPr lang="en-US" b="1" kern="0" dirty="0">
                <a:solidFill>
                  <a:srgbClr val="3F3F3F"/>
                </a:solidFill>
                <a:latin typeface="Arial"/>
              </a:rPr>
              <a:t> </a:t>
            </a:r>
            <a:r>
              <a:rPr lang="en-US" kern="0" dirty="0">
                <a:solidFill>
                  <a:srgbClr val="000000"/>
                </a:solidFill>
                <a:latin typeface="Arial"/>
              </a:rPr>
              <a:t>#include "</a:t>
            </a:r>
            <a:r>
              <a:rPr lang="en-US" kern="0" dirty="0" err="1">
                <a:solidFill>
                  <a:srgbClr val="000000"/>
                </a:solidFill>
                <a:latin typeface="Arial"/>
              </a:rPr>
              <a:t>hls_fft.h</a:t>
            </a:r>
            <a:r>
              <a:rPr lang="en-US" kern="0" dirty="0">
                <a:solidFill>
                  <a:srgbClr val="000000"/>
                </a:solidFill>
                <a:latin typeface="Arial"/>
              </a:rPr>
              <a:t>“</a:t>
            </a:r>
          </a:p>
          <a:p>
            <a:pPr defTabSz="914400" fontAlgn="base">
              <a:spcBef>
                <a:spcPct val="0"/>
              </a:spcBef>
              <a:spcAft>
                <a:spcPct val="0"/>
              </a:spcAft>
              <a:defRPr/>
            </a:pPr>
            <a:endParaRPr lang="en-US" kern="0" dirty="0">
              <a:solidFill>
                <a:srgbClr val="000000"/>
              </a:solidFill>
              <a:latin typeface="Arial"/>
            </a:endParaRPr>
          </a:p>
          <a:p>
            <a:pPr defTabSz="914400" fontAlgn="base">
              <a:spcBef>
                <a:spcPct val="0"/>
              </a:spcBef>
              <a:spcAft>
                <a:spcPct val="0"/>
              </a:spcAft>
              <a:defRPr/>
            </a:pPr>
            <a:r>
              <a:rPr lang="en-US" kern="0" dirty="0" err="1">
                <a:solidFill>
                  <a:srgbClr val="000000"/>
                </a:solidFill>
                <a:latin typeface="Arial"/>
              </a:rPr>
              <a:t>hls</a:t>
            </a:r>
            <a:r>
              <a:rPr lang="en-US" kern="0" dirty="0">
                <a:solidFill>
                  <a:srgbClr val="000000"/>
                </a:solidFill>
                <a:latin typeface="Arial"/>
              </a:rPr>
              <a:t>::</a:t>
            </a:r>
            <a:r>
              <a:rPr lang="en-US" kern="0" dirty="0" err="1">
                <a:solidFill>
                  <a:srgbClr val="000000"/>
                </a:solidFill>
                <a:latin typeface="Arial"/>
              </a:rPr>
              <a:t>fft</a:t>
            </a:r>
            <a:r>
              <a:rPr lang="en-US" kern="0" dirty="0">
                <a:solidFill>
                  <a:srgbClr val="000000"/>
                </a:solidFill>
                <a:latin typeface="Arial"/>
              </a:rPr>
              <a:t>&lt;STATIC_PARAM&gt; (                           		// Static Parameterization Struct</a:t>
            </a:r>
          </a:p>
          <a:p>
            <a:pPr defTabSz="914400" fontAlgn="base">
              <a:spcBef>
                <a:spcPct val="0"/>
              </a:spcBef>
              <a:spcAft>
                <a:spcPct val="0"/>
              </a:spcAft>
              <a:defRPr/>
            </a:pPr>
            <a:r>
              <a:rPr lang="en-US" b="1" kern="0" dirty="0">
                <a:solidFill>
                  <a:srgbClr val="000000"/>
                </a:solidFill>
                <a:latin typeface="Arial"/>
              </a:rPr>
              <a:t>  INPUT_DATA_ARRAY,            		// Input data fixed or float</a:t>
            </a:r>
          </a:p>
          <a:p>
            <a:pPr defTabSz="914400" fontAlgn="base">
              <a:spcBef>
                <a:spcPct val="0"/>
              </a:spcBef>
              <a:spcAft>
                <a:spcPct val="0"/>
              </a:spcAft>
              <a:defRPr/>
            </a:pPr>
            <a:r>
              <a:rPr lang="en-US" b="1" kern="0" dirty="0">
                <a:solidFill>
                  <a:srgbClr val="000000"/>
                </a:solidFill>
                <a:latin typeface="Arial"/>
              </a:rPr>
              <a:t>  OUTPUT_DATA_ARRAY,        		// Output data fixed or float</a:t>
            </a:r>
          </a:p>
          <a:p>
            <a:pPr defTabSz="914400" fontAlgn="base">
              <a:spcBef>
                <a:spcPct val="0"/>
              </a:spcBef>
              <a:spcAft>
                <a:spcPct val="0"/>
              </a:spcAft>
              <a:defRPr/>
            </a:pPr>
            <a:r>
              <a:rPr lang="en-US" kern="0" dirty="0">
                <a:solidFill>
                  <a:srgbClr val="000000"/>
                </a:solidFill>
                <a:latin typeface="Arial"/>
              </a:rPr>
              <a:t>  OUTPUT_STATUS,                 		// Output Status</a:t>
            </a:r>
          </a:p>
          <a:p>
            <a:pPr defTabSz="914400" fontAlgn="base">
              <a:spcBef>
                <a:spcPct val="0"/>
              </a:spcBef>
              <a:spcAft>
                <a:spcPct val="0"/>
              </a:spcAft>
              <a:defRPr/>
            </a:pPr>
            <a:r>
              <a:rPr lang="en-US" kern="0" dirty="0">
                <a:solidFill>
                  <a:srgbClr val="000000"/>
                </a:solidFill>
                <a:latin typeface="Arial"/>
              </a:rPr>
              <a:t>  INPUT_RUN_TIME_CONFIGURATION); 		// Input Run Time Configuration</a:t>
            </a:r>
          </a:p>
        </p:txBody>
      </p:sp>
    </p:spTree>
    <p:extLst>
      <p:ext uri="{BB962C8B-B14F-4D97-AF65-F5344CB8AC3E}">
        <p14:creationId xmlns:p14="http://schemas.microsoft.com/office/powerpoint/2010/main" val="59644187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FFT Function: Run Time Configuration</a:t>
            </a:r>
          </a:p>
        </p:txBody>
      </p:sp>
      <p:sp>
        <p:nvSpPr>
          <p:cNvPr id="2" name="Content Placeholder 1"/>
          <p:cNvSpPr>
            <a:spLocks noGrp="1"/>
          </p:cNvSpPr>
          <p:nvPr>
            <p:ph idx="1"/>
          </p:nvPr>
        </p:nvSpPr>
        <p:spPr/>
        <p:txBody>
          <a:bodyPr/>
          <a:lstStyle/>
          <a:p>
            <a:r>
              <a:rPr lang="en-US" sz="2000" dirty="0"/>
              <a:t>Dynamic Configuration</a:t>
            </a:r>
          </a:p>
          <a:p>
            <a:endParaRPr lang="en-US" sz="100" dirty="0"/>
          </a:p>
          <a:p>
            <a:pPr lvl="1"/>
            <a:r>
              <a:rPr lang="en-US" sz="1800" dirty="0"/>
              <a:t>Parameter INPUT_RUN_TIME_CONFIGURATION </a:t>
            </a:r>
            <a:br>
              <a:rPr lang="en-US" sz="1800" dirty="0"/>
            </a:br>
            <a:r>
              <a:rPr lang="en-US" sz="1800" dirty="0"/>
              <a:t>can be changed at run time</a:t>
            </a:r>
          </a:p>
          <a:p>
            <a:pPr lvl="1"/>
            <a:r>
              <a:rPr lang="en-US" sz="1800" dirty="0"/>
              <a:t>Access is made using the pre-defined </a:t>
            </a:r>
            <a:br>
              <a:rPr lang="en-US" sz="1800" dirty="0"/>
            </a:br>
            <a:r>
              <a:rPr lang="en-US" sz="1800" dirty="0" err="1"/>
              <a:t>struct</a:t>
            </a:r>
            <a:r>
              <a:rPr lang="en-US" sz="1800" dirty="0"/>
              <a:t> </a:t>
            </a:r>
            <a:r>
              <a:rPr lang="en-US" sz="1800" dirty="0" err="1">
                <a:solidFill>
                  <a:srgbClr val="008000"/>
                </a:solidFill>
              </a:rPr>
              <a:t>hls</a:t>
            </a:r>
            <a:r>
              <a:rPr lang="en-US" sz="1800" dirty="0">
                <a:solidFill>
                  <a:srgbClr val="008000"/>
                </a:solidFill>
              </a:rPr>
              <a:t>::</a:t>
            </a:r>
            <a:r>
              <a:rPr lang="en-US" sz="1800" dirty="0" err="1">
                <a:solidFill>
                  <a:srgbClr val="008000"/>
                </a:solidFill>
              </a:rPr>
              <a:t>ip_fft</a:t>
            </a:r>
            <a:r>
              <a:rPr lang="en-US" sz="1800" dirty="0">
                <a:solidFill>
                  <a:srgbClr val="008000"/>
                </a:solidFill>
              </a:rPr>
              <a:t>::</a:t>
            </a:r>
            <a:r>
              <a:rPr lang="en-US" sz="1800" dirty="0" err="1">
                <a:solidFill>
                  <a:srgbClr val="008000"/>
                </a:solidFill>
              </a:rPr>
              <a:t>config_t</a:t>
            </a:r>
            <a:r>
              <a:rPr lang="en-US" sz="1800" dirty="0">
                <a:solidFill>
                  <a:schemeClr val="accent6">
                    <a:lumMod val="75000"/>
                  </a:schemeClr>
                </a:solidFill>
              </a:rPr>
              <a:t>&lt;</a:t>
            </a:r>
            <a:r>
              <a:rPr lang="en-US" sz="1800" dirty="0">
                <a:solidFill>
                  <a:srgbClr val="7030A0"/>
                </a:solidFill>
              </a:rPr>
              <a:t>STATIC_PARAM</a:t>
            </a:r>
            <a:r>
              <a:rPr lang="en-US" sz="1800" dirty="0">
                <a:solidFill>
                  <a:schemeClr val="accent6">
                    <a:lumMod val="75000"/>
                  </a:schemeClr>
                </a:solidFill>
              </a:rPr>
              <a:t>&gt;</a:t>
            </a:r>
          </a:p>
          <a:p>
            <a:pPr lvl="2"/>
            <a:r>
              <a:rPr lang="en-US" sz="1400" dirty="0"/>
              <a:t>Notice, this also uses the FFT parameterization struct </a:t>
            </a:r>
            <a:endParaRPr lang="en-US" sz="1100" dirty="0"/>
          </a:p>
          <a:p>
            <a:pPr lvl="1"/>
            <a:endParaRPr lang="en-US" sz="1800" dirty="0"/>
          </a:p>
        </p:txBody>
      </p:sp>
      <p:sp>
        <p:nvSpPr>
          <p:cNvPr id="8" name="Slide Number Placeholder 5">
            <a:extLst>
              <a:ext uri="{FF2B5EF4-FFF2-40B4-BE49-F238E27FC236}">
                <a16:creationId xmlns:a16="http://schemas.microsoft.com/office/drawing/2014/main" id="{76477845-CE0E-4F0A-8186-992B379AAA9C}"/>
              </a:ext>
            </a:extLst>
          </p:cNvPr>
          <p:cNvSpPr>
            <a:spLocks noGrp="1"/>
          </p:cNvSpPr>
          <p:nvPr>
            <p:ph type="sldNum" sz="quarter" idx="4"/>
          </p:nvPr>
        </p:nvSpPr>
        <p:spPr/>
        <p:txBody>
          <a:bodyPr/>
          <a:lstStyle/>
          <a:p>
            <a:pPr>
              <a:defRPr/>
            </a:pPr>
            <a:r>
              <a:rPr lang="en-US" dirty="0"/>
              <a:t>Coding Considerations 23- </a:t>
            </a:r>
            <a:fld id="{060BD193-E118-4B16-863C-C8C12C675E3E}" type="slidenum">
              <a:rPr lang="en-US" smtClean="0"/>
              <a:pPr>
                <a:defRPr/>
              </a:pPr>
              <a:t>76</a:t>
            </a:fld>
            <a:endParaRPr lang="en-US" dirty="0"/>
          </a:p>
        </p:txBody>
      </p:sp>
      <p:sp>
        <p:nvSpPr>
          <p:cNvPr id="10" name="TextBox 9">
            <a:extLst>
              <a:ext uri="{FF2B5EF4-FFF2-40B4-BE49-F238E27FC236}">
                <a16:creationId xmlns:a16="http://schemas.microsoft.com/office/drawing/2014/main" id="{5558CCD8-68D2-4EC8-B068-B04426EABA32}"/>
              </a:ext>
            </a:extLst>
          </p:cNvPr>
          <p:cNvSpPr txBox="1"/>
          <p:nvPr/>
        </p:nvSpPr>
        <p:spPr bwMode="auto">
          <a:xfrm>
            <a:off x="6931633" y="2002879"/>
            <a:ext cx="5015523" cy="1277273"/>
          </a:xfrm>
          <a:prstGeom prst="rect">
            <a:avLst/>
          </a:prstGeom>
          <a:solidFill>
            <a:srgbClr val="008CA8">
              <a:lumMod val="20000"/>
              <a:lumOff val="80000"/>
            </a:srgbClr>
          </a:solidFill>
          <a:ln w="9525">
            <a:noFill/>
            <a:miter lim="800000"/>
            <a:headEnd/>
            <a:tailEnd/>
          </a:ln>
          <a:effectLst>
            <a:outerShdw blurRad="50800" dist="38100" dir="2700000" algn="tl" rotWithShape="0">
              <a:prstClr val="black">
                <a:alpha val="40000"/>
              </a:prstClr>
            </a:outerShdw>
          </a:effectLst>
        </p:spPr>
        <p:txBody>
          <a:bodyPr vert="horz" wrap="square" lIns="0" tIns="45720" rIns="91440" bIns="45720" numCol="1" rtlCol="0" anchor="t" anchorCtr="0" compatLnSpc="1">
            <a:prstTxWarp prst="textNoShape">
              <a:avLst/>
            </a:prstTxWarp>
            <a:spAutoFit/>
          </a:bodyPr>
          <a:lstStyle>
            <a:defPPr>
              <a:defRPr lang="en-US"/>
            </a:defPPr>
            <a:lvl1pPr>
              <a:defRPr sz="1100"/>
            </a:lvl1pPr>
          </a:lstStyle>
          <a:p>
            <a:pPr defTabSz="914400" fontAlgn="base">
              <a:spcBef>
                <a:spcPct val="0"/>
              </a:spcBef>
              <a:spcAft>
                <a:spcPct val="0"/>
              </a:spcAft>
              <a:defRPr/>
            </a:pPr>
            <a:r>
              <a:rPr lang="en-US" b="1" kern="0" dirty="0">
                <a:solidFill>
                  <a:srgbClr val="3F3F3F"/>
                </a:solidFill>
              </a:rPr>
              <a:t> </a:t>
            </a:r>
            <a:r>
              <a:rPr lang="en-US" kern="0" dirty="0">
                <a:solidFill>
                  <a:srgbClr val="000000"/>
                </a:solidFill>
              </a:rPr>
              <a:t>#include "</a:t>
            </a:r>
            <a:r>
              <a:rPr lang="en-US" kern="0" dirty="0" err="1">
                <a:solidFill>
                  <a:srgbClr val="000000"/>
                </a:solidFill>
              </a:rPr>
              <a:t>hls_fft.h</a:t>
            </a:r>
            <a:r>
              <a:rPr lang="en-US" kern="0" dirty="0">
                <a:solidFill>
                  <a:srgbClr val="000000"/>
                </a:solidFill>
              </a:rPr>
              <a:t>“</a:t>
            </a:r>
          </a:p>
          <a:p>
            <a:pPr defTabSz="914400" fontAlgn="base">
              <a:spcBef>
                <a:spcPct val="0"/>
              </a:spcBef>
              <a:spcAft>
                <a:spcPct val="0"/>
              </a:spcAft>
              <a:defRPr/>
            </a:pPr>
            <a:endParaRPr lang="en-US" kern="0" dirty="0">
              <a:solidFill>
                <a:srgbClr val="000000"/>
              </a:solidFill>
            </a:endParaRPr>
          </a:p>
          <a:p>
            <a:pPr defTabSz="914400" fontAlgn="base">
              <a:spcBef>
                <a:spcPct val="0"/>
              </a:spcBef>
              <a:spcAft>
                <a:spcPct val="0"/>
              </a:spcAft>
              <a:defRPr/>
            </a:pPr>
            <a:r>
              <a:rPr lang="en-US" kern="0" dirty="0" err="1">
                <a:solidFill>
                  <a:srgbClr val="000000"/>
                </a:solidFill>
              </a:rPr>
              <a:t>hls</a:t>
            </a:r>
            <a:r>
              <a:rPr lang="en-US" kern="0" dirty="0">
                <a:solidFill>
                  <a:srgbClr val="000000"/>
                </a:solidFill>
              </a:rPr>
              <a:t>::</a:t>
            </a:r>
            <a:r>
              <a:rPr lang="en-US" kern="0" dirty="0" err="1">
                <a:solidFill>
                  <a:srgbClr val="000000"/>
                </a:solidFill>
              </a:rPr>
              <a:t>fft</a:t>
            </a:r>
            <a:r>
              <a:rPr lang="en-US" kern="0" dirty="0">
                <a:solidFill>
                  <a:srgbClr val="000000"/>
                </a:solidFill>
              </a:rPr>
              <a:t>&lt;STATIC_PARAM&gt; (                           	// Static Parameterization Struct</a:t>
            </a:r>
          </a:p>
          <a:p>
            <a:pPr defTabSz="914400" fontAlgn="base">
              <a:spcBef>
                <a:spcPct val="0"/>
              </a:spcBef>
              <a:spcAft>
                <a:spcPct val="0"/>
              </a:spcAft>
              <a:defRPr/>
            </a:pPr>
            <a:r>
              <a:rPr lang="en-US" kern="0" dirty="0">
                <a:solidFill>
                  <a:srgbClr val="000000"/>
                </a:solidFill>
              </a:rPr>
              <a:t>  INPUT_DATA_ARRAY,            	// Input data fixed or float</a:t>
            </a:r>
          </a:p>
          <a:p>
            <a:pPr defTabSz="914400" fontAlgn="base">
              <a:spcBef>
                <a:spcPct val="0"/>
              </a:spcBef>
              <a:spcAft>
                <a:spcPct val="0"/>
              </a:spcAft>
              <a:defRPr/>
            </a:pPr>
            <a:r>
              <a:rPr lang="en-US" kern="0" dirty="0">
                <a:solidFill>
                  <a:srgbClr val="000000"/>
                </a:solidFill>
              </a:rPr>
              <a:t>  OUTPUT_DATA_ARRAY,        	// Output data fixed or float</a:t>
            </a:r>
          </a:p>
          <a:p>
            <a:pPr defTabSz="914400" fontAlgn="base">
              <a:spcBef>
                <a:spcPct val="0"/>
              </a:spcBef>
              <a:spcAft>
                <a:spcPct val="0"/>
              </a:spcAft>
              <a:defRPr/>
            </a:pPr>
            <a:r>
              <a:rPr lang="en-US" kern="0" dirty="0">
                <a:solidFill>
                  <a:srgbClr val="000000"/>
                </a:solidFill>
              </a:rPr>
              <a:t>  OUTPUT_STATUS,                 	// Output Status</a:t>
            </a:r>
          </a:p>
          <a:p>
            <a:pPr defTabSz="914400" fontAlgn="base">
              <a:spcBef>
                <a:spcPct val="0"/>
              </a:spcBef>
              <a:spcAft>
                <a:spcPct val="0"/>
              </a:spcAft>
              <a:defRPr/>
            </a:pPr>
            <a:r>
              <a:rPr lang="en-US" b="1" kern="0" dirty="0">
                <a:solidFill>
                  <a:srgbClr val="000000"/>
                </a:solidFill>
              </a:rPr>
              <a:t>  INPUT_RUN_TIME_CONFIGURATION); 	// Input Run Time Configuration</a:t>
            </a:r>
          </a:p>
        </p:txBody>
      </p:sp>
      <p:sp>
        <p:nvSpPr>
          <p:cNvPr id="11" name="TextBox 10">
            <a:extLst>
              <a:ext uri="{FF2B5EF4-FFF2-40B4-BE49-F238E27FC236}">
                <a16:creationId xmlns:a16="http://schemas.microsoft.com/office/drawing/2014/main" id="{C3B81DB0-F446-4979-81AA-0E3B58CF952B}"/>
              </a:ext>
            </a:extLst>
          </p:cNvPr>
          <p:cNvSpPr txBox="1"/>
          <p:nvPr/>
        </p:nvSpPr>
        <p:spPr bwMode="auto">
          <a:xfrm>
            <a:off x="1416564" y="3636553"/>
            <a:ext cx="4223824" cy="1954381"/>
          </a:xfrm>
          <a:prstGeom prst="rect">
            <a:avLst/>
          </a:prstGeom>
          <a:solidFill>
            <a:srgbClr val="008CA8">
              <a:lumMod val="20000"/>
              <a:lumOff val="80000"/>
            </a:srgbClr>
          </a:solidFill>
          <a:ln w="9525">
            <a:noFill/>
            <a:miter lim="800000"/>
            <a:headEnd/>
            <a:tailEnd/>
          </a:ln>
          <a:effectLst>
            <a:outerShdw blurRad="50800" dist="38100" dir="2700000" algn="tl" rotWithShape="0">
              <a:prstClr val="black">
                <a:alpha val="40000"/>
              </a:prstClr>
            </a:outerShdw>
          </a:effectLst>
        </p:spPr>
        <p:txBody>
          <a:bodyPr vert="horz" wrap="square" lIns="0" tIns="45720" rIns="91440" bIns="45720" numCol="1" rtlCol="0" anchor="t" anchorCtr="0" compatLnSpc="1">
            <a:prstTxWarp prst="textNoShape">
              <a:avLst/>
            </a:prstTxWarp>
            <a:spAutoFit/>
          </a:bodyPr>
          <a:lstStyle>
            <a:defPPr>
              <a:defRPr lang="en-US"/>
            </a:defPPr>
            <a:lvl1pPr>
              <a:defRPr sz="1100"/>
            </a:lvl1pPr>
          </a:lstStyle>
          <a:p>
            <a:pPr defTabSz="914400" fontAlgn="base">
              <a:spcBef>
                <a:spcPct val="0"/>
              </a:spcBef>
              <a:spcAft>
                <a:spcPct val="0"/>
              </a:spcAft>
              <a:defRPr/>
            </a:pPr>
            <a:r>
              <a:rPr lang="en-US" kern="0" dirty="0">
                <a:solidFill>
                  <a:srgbClr val="000000"/>
                </a:solidFill>
              </a:rPr>
              <a:t>#include "</a:t>
            </a:r>
            <a:r>
              <a:rPr lang="en-US" kern="0" dirty="0" err="1">
                <a:solidFill>
                  <a:srgbClr val="000000"/>
                </a:solidFill>
              </a:rPr>
              <a:t>hls_fft.h</a:t>
            </a:r>
            <a:r>
              <a:rPr lang="en-US" kern="0" dirty="0">
                <a:solidFill>
                  <a:srgbClr val="000000"/>
                </a:solidFill>
              </a:rPr>
              <a:t>“</a:t>
            </a:r>
          </a:p>
          <a:p>
            <a:pPr defTabSz="914400" fontAlgn="base">
              <a:spcBef>
                <a:spcPct val="0"/>
              </a:spcBef>
              <a:spcAft>
                <a:spcPct val="0"/>
              </a:spcAft>
              <a:defRPr/>
            </a:pPr>
            <a:endParaRPr lang="en-US" kern="0" dirty="0">
              <a:solidFill>
                <a:srgbClr val="000000"/>
              </a:solidFill>
            </a:endParaRPr>
          </a:p>
          <a:p>
            <a:pPr defTabSz="914400" fontAlgn="base">
              <a:spcBef>
                <a:spcPct val="0"/>
              </a:spcBef>
              <a:spcAft>
                <a:spcPct val="0"/>
              </a:spcAft>
              <a:defRPr/>
            </a:pPr>
            <a:r>
              <a:rPr lang="en-US" kern="0" dirty="0">
                <a:solidFill>
                  <a:srgbClr val="000000"/>
                </a:solidFill>
              </a:rPr>
              <a:t>struct </a:t>
            </a:r>
            <a:r>
              <a:rPr lang="en-US" b="1" kern="0" dirty="0">
                <a:solidFill>
                  <a:srgbClr val="7030A0"/>
                </a:solidFill>
              </a:rPr>
              <a:t>param1</a:t>
            </a:r>
            <a:r>
              <a:rPr lang="en-US" kern="0" dirty="0">
                <a:solidFill>
                  <a:srgbClr val="7030A0"/>
                </a:solidFill>
              </a:rPr>
              <a:t> </a:t>
            </a:r>
            <a:r>
              <a:rPr lang="en-US" kern="0" dirty="0">
                <a:solidFill>
                  <a:srgbClr val="000000"/>
                </a:solidFill>
              </a:rPr>
              <a:t>: </a:t>
            </a:r>
            <a:r>
              <a:rPr lang="en-US" kern="0" dirty="0" err="1">
                <a:solidFill>
                  <a:srgbClr val="8B8D09">
                    <a:lumMod val="75000"/>
                  </a:srgbClr>
                </a:solidFill>
              </a:rPr>
              <a:t>hls</a:t>
            </a:r>
            <a:r>
              <a:rPr lang="en-US" kern="0" dirty="0">
                <a:solidFill>
                  <a:srgbClr val="8B8D09">
                    <a:lumMod val="75000"/>
                  </a:srgbClr>
                </a:solidFill>
              </a:rPr>
              <a:t>::</a:t>
            </a:r>
            <a:r>
              <a:rPr lang="en-US" kern="0" dirty="0" err="1">
                <a:solidFill>
                  <a:srgbClr val="8B8D09">
                    <a:lumMod val="75000"/>
                  </a:srgbClr>
                </a:solidFill>
              </a:rPr>
              <a:t>ip_fft</a:t>
            </a:r>
            <a:r>
              <a:rPr lang="en-US" kern="0" dirty="0">
                <a:solidFill>
                  <a:srgbClr val="8B8D09">
                    <a:lumMod val="75000"/>
                  </a:srgbClr>
                </a:solidFill>
              </a:rPr>
              <a:t>::</a:t>
            </a:r>
            <a:r>
              <a:rPr lang="en-US" kern="0" dirty="0" err="1">
                <a:solidFill>
                  <a:srgbClr val="8B8D09">
                    <a:lumMod val="75000"/>
                  </a:srgbClr>
                </a:solidFill>
              </a:rPr>
              <a:t>params_t</a:t>
            </a:r>
            <a:r>
              <a:rPr lang="en-US" kern="0" dirty="0">
                <a:solidFill>
                  <a:srgbClr val="8B8D09">
                    <a:lumMod val="75000"/>
                  </a:srgbClr>
                </a:solidFill>
              </a:rPr>
              <a:t> </a:t>
            </a:r>
            <a:r>
              <a:rPr lang="en-US" kern="0" dirty="0">
                <a:solidFill>
                  <a:srgbClr val="000000"/>
                </a:solidFill>
              </a:rPr>
              <a:t>{</a:t>
            </a:r>
          </a:p>
          <a:p>
            <a:pPr defTabSz="914400" fontAlgn="base">
              <a:spcBef>
                <a:spcPct val="0"/>
              </a:spcBef>
              <a:spcAft>
                <a:spcPct val="0"/>
              </a:spcAft>
              <a:defRPr/>
            </a:pPr>
            <a:r>
              <a:rPr lang="en-US" kern="0" dirty="0">
                <a:solidFill>
                  <a:srgbClr val="000000"/>
                </a:solidFill>
              </a:rPr>
              <a:t>    static </a:t>
            </a:r>
            <a:r>
              <a:rPr lang="en-US" kern="0" dirty="0" err="1">
                <a:solidFill>
                  <a:srgbClr val="000000"/>
                </a:solidFill>
              </a:rPr>
              <a:t>const</a:t>
            </a:r>
            <a:r>
              <a:rPr lang="en-US" kern="0" dirty="0">
                <a:solidFill>
                  <a:srgbClr val="000000"/>
                </a:solidFill>
              </a:rPr>
              <a:t> unsigned </a:t>
            </a:r>
            <a:r>
              <a:rPr lang="en-US" kern="0" dirty="0" err="1">
                <a:solidFill>
                  <a:srgbClr val="000000"/>
                </a:solidFill>
              </a:rPr>
              <a:t>ordering_opt</a:t>
            </a:r>
            <a:r>
              <a:rPr lang="en-US" kern="0" dirty="0">
                <a:solidFill>
                  <a:srgbClr val="000000"/>
                </a:solidFill>
              </a:rPr>
              <a:t> = </a:t>
            </a:r>
            <a:r>
              <a:rPr lang="en-US" kern="0" dirty="0" err="1">
                <a:solidFill>
                  <a:srgbClr val="000000"/>
                </a:solidFill>
              </a:rPr>
              <a:t>hls</a:t>
            </a:r>
            <a:r>
              <a:rPr lang="en-US" kern="0" dirty="0">
                <a:solidFill>
                  <a:srgbClr val="000000"/>
                </a:solidFill>
              </a:rPr>
              <a:t>::</a:t>
            </a:r>
            <a:r>
              <a:rPr lang="en-US" kern="0" dirty="0" err="1">
                <a:solidFill>
                  <a:srgbClr val="000000"/>
                </a:solidFill>
              </a:rPr>
              <a:t>ip_fft</a:t>
            </a:r>
            <a:r>
              <a:rPr lang="en-US" kern="0" dirty="0">
                <a:solidFill>
                  <a:srgbClr val="000000"/>
                </a:solidFill>
              </a:rPr>
              <a:t>::</a:t>
            </a:r>
            <a:r>
              <a:rPr lang="en-US" kern="0" dirty="0" err="1">
                <a:solidFill>
                  <a:srgbClr val="000000"/>
                </a:solidFill>
              </a:rPr>
              <a:t>natural_order</a:t>
            </a:r>
            <a:r>
              <a:rPr lang="en-US" kern="0" dirty="0">
                <a:solidFill>
                  <a:srgbClr val="000000"/>
                </a:solidFill>
              </a:rPr>
              <a:t>;</a:t>
            </a:r>
          </a:p>
          <a:p>
            <a:pPr defTabSz="914400" fontAlgn="base">
              <a:spcBef>
                <a:spcPct val="0"/>
              </a:spcBef>
              <a:spcAft>
                <a:spcPct val="0"/>
              </a:spcAft>
              <a:defRPr/>
            </a:pPr>
            <a:r>
              <a:rPr lang="en-US" kern="0" dirty="0">
                <a:solidFill>
                  <a:srgbClr val="000000"/>
                </a:solidFill>
              </a:rPr>
              <a:t>    static </a:t>
            </a:r>
            <a:r>
              <a:rPr lang="en-US" kern="0" dirty="0" err="1">
                <a:solidFill>
                  <a:srgbClr val="000000"/>
                </a:solidFill>
              </a:rPr>
              <a:t>const</a:t>
            </a:r>
            <a:r>
              <a:rPr lang="en-US" kern="0" dirty="0">
                <a:solidFill>
                  <a:srgbClr val="000000"/>
                </a:solidFill>
              </a:rPr>
              <a:t> unsigned </a:t>
            </a:r>
            <a:r>
              <a:rPr lang="en-US" kern="0" dirty="0" err="1">
                <a:solidFill>
                  <a:srgbClr val="000000"/>
                </a:solidFill>
              </a:rPr>
              <a:t>config_width</a:t>
            </a:r>
            <a:r>
              <a:rPr lang="en-US" kern="0" dirty="0">
                <a:solidFill>
                  <a:srgbClr val="000000"/>
                </a:solidFill>
              </a:rPr>
              <a:t> = FFT_CONFIG_WIDTH;</a:t>
            </a:r>
          </a:p>
          <a:p>
            <a:pPr defTabSz="914400" fontAlgn="base">
              <a:spcBef>
                <a:spcPct val="0"/>
              </a:spcBef>
              <a:spcAft>
                <a:spcPct val="0"/>
              </a:spcAft>
              <a:defRPr/>
            </a:pPr>
            <a:r>
              <a:rPr lang="en-US" kern="0" dirty="0">
                <a:solidFill>
                  <a:srgbClr val="000000"/>
                </a:solidFill>
              </a:rPr>
              <a:t>    static </a:t>
            </a:r>
            <a:r>
              <a:rPr lang="en-US" kern="0" dirty="0" err="1">
                <a:solidFill>
                  <a:srgbClr val="000000"/>
                </a:solidFill>
              </a:rPr>
              <a:t>const</a:t>
            </a:r>
            <a:r>
              <a:rPr lang="en-US" kern="0" dirty="0">
                <a:solidFill>
                  <a:srgbClr val="000000"/>
                </a:solidFill>
              </a:rPr>
              <a:t> unsigned </a:t>
            </a:r>
            <a:r>
              <a:rPr lang="en-US" kern="0" dirty="0" err="1">
                <a:solidFill>
                  <a:srgbClr val="000000"/>
                </a:solidFill>
              </a:rPr>
              <a:t>status_width</a:t>
            </a:r>
            <a:r>
              <a:rPr lang="en-US" kern="0" dirty="0">
                <a:solidFill>
                  <a:srgbClr val="000000"/>
                </a:solidFill>
              </a:rPr>
              <a:t> = FFT_STATUS_WIDTH;</a:t>
            </a:r>
          </a:p>
          <a:p>
            <a:pPr defTabSz="914400" fontAlgn="base">
              <a:spcBef>
                <a:spcPct val="0"/>
              </a:spcBef>
              <a:spcAft>
                <a:spcPct val="0"/>
              </a:spcAft>
              <a:defRPr/>
            </a:pPr>
            <a:r>
              <a:rPr lang="en-US" kern="0" dirty="0">
                <a:solidFill>
                  <a:srgbClr val="000000"/>
                </a:solidFill>
              </a:rPr>
              <a:t>};</a:t>
            </a:r>
          </a:p>
          <a:p>
            <a:pPr defTabSz="914400" fontAlgn="base">
              <a:spcBef>
                <a:spcPct val="0"/>
              </a:spcBef>
              <a:spcAft>
                <a:spcPct val="0"/>
              </a:spcAft>
              <a:defRPr/>
            </a:pPr>
            <a:endParaRPr lang="en-US" kern="0" dirty="0">
              <a:solidFill>
                <a:srgbClr val="000000"/>
              </a:solidFill>
            </a:endParaRPr>
          </a:p>
          <a:p>
            <a:pPr defTabSz="914400" fontAlgn="base">
              <a:spcBef>
                <a:spcPct val="0"/>
              </a:spcBef>
              <a:spcAft>
                <a:spcPct val="0"/>
              </a:spcAft>
              <a:defRPr/>
            </a:pPr>
            <a:r>
              <a:rPr lang="en-US" kern="0" dirty="0" err="1">
                <a:solidFill>
                  <a:srgbClr val="000000"/>
                </a:solidFill>
              </a:rPr>
              <a:t>typedef</a:t>
            </a:r>
            <a:r>
              <a:rPr lang="en-US" kern="0" dirty="0">
                <a:solidFill>
                  <a:srgbClr val="000000"/>
                </a:solidFill>
              </a:rPr>
              <a:t> </a:t>
            </a:r>
            <a:r>
              <a:rPr lang="en-US" b="1" kern="0" dirty="0" err="1">
                <a:solidFill>
                  <a:srgbClr val="008000"/>
                </a:solidFill>
              </a:rPr>
              <a:t>hls</a:t>
            </a:r>
            <a:r>
              <a:rPr lang="en-US" b="1" kern="0" dirty="0">
                <a:solidFill>
                  <a:srgbClr val="008000"/>
                </a:solidFill>
              </a:rPr>
              <a:t>::</a:t>
            </a:r>
            <a:r>
              <a:rPr lang="en-US" b="1" kern="0" dirty="0" err="1">
                <a:solidFill>
                  <a:srgbClr val="008000"/>
                </a:solidFill>
              </a:rPr>
              <a:t>ip_fft</a:t>
            </a:r>
            <a:r>
              <a:rPr lang="en-US" b="1" kern="0" dirty="0">
                <a:solidFill>
                  <a:srgbClr val="008000"/>
                </a:solidFill>
              </a:rPr>
              <a:t>::</a:t>
            </a:r>
            <a:r>
              <a:rPr lang="en-US" b="1" kern="0" dirty="0" err="1">
                <a:solidFill>
                  <a:srgbClr val="008000"/>
                </a:solidFill>
              </a:rPr>
              <a:t>config_t</a:t>
            </a:r>
            <a:r>
              <a:rPr lang="en-US" kern="0" dirty="0">
                <a:solidFill>
                  <a:srgbClr val="000000"/>
                </a:solidFill>
              </a:rPr>
              <a:t>&lt;</a:t>
            </a:r>
            <a:r>
              <a:rPr lang="en-US" b="1" kern="0" dirty="0">
                <a:solidFill>
                  <a:srgbClr val="7030A0"/>
                </a:solidFill>
              </a:rPr>
              <a:t>param1</a:t>
            </a:r>
            <a:r>
              <a:rPr lang="en-US" kern="0" dirty="0">
                <a:solidFill>
                  <a:srgbClr val="000000"/>
                </a:solidFill>
              </a:rPr>
              <a:t>&gt; </a:t>
            </a:r>
            <a:r>
              <a:rPr lang="en-US" kern="0" dirty="0" err="1">
                <a:solidFill>
                  <a:srgbClr val="000000"/>
                </a:solidFill>
              </a:rPr>
              <a:t>config_t</a:t>
            </a:r>
            <a:r>
              <a:rPr lang="en-US" kern="0" dirty="0">
                <a:solidFill>
                  <a:srgbClr val="000000"/>
                </a:solidFill>
              </a:rPr>
              <a:t>;</a:t>
            </a:r>
          </a:p>
          <a:p>
            <a:pPr defTabSz="914400" fontAlgn="base">
              <a:spcBef>
                <a:spcPct val="0"/>
              </a:spcBef>
              <a:spcAft>
                <a:spcPct val="0"/>
              </a:spcAft>
              <a:defRPr/>
            </a:pPr>
            <a:r>
              <a:rPr lang="en-US" kern="0" dirty="0" err="1">
                <a:solidFill>
                  <a:srgbClr val="000000"/>
                </a:solidFill>
              </a:rPr>
              <a:t>config_t</a:t>
            </a:r>
            <a:r>
              <a:rPr lang="en-US" kern="0" dirty="0">
                <a:solidFill>
                  <a:srgbClr val="000000"/>
                </a:solidFill>
              </a:rPr>
              <a:t> </a:t>
            </a:r>
            <a:r>
              <a:rPr lang="en-US" b="1" kern="0" dirty="0">
                <a:solidFill>
                  <a:srgbClr val="000000"/>
                </a:solidFill>
              </a:rPr>
              <a:t>fft_config1</a:t>
            </a:r>
            <a:r>
              <a:rPr lang="en-US" kern="0" dirty="0">
                <a:solidFill>
                  <a:srgbClr val="000000"/>
                </a:solidFill>
              </a:rPr>
              <a:t>;</a:t>
            </a:r>
          </a:p>
          <a:p>
            <a:pPr defTabSz="914400" fontAlgn="base">
              <a:spcBef>
                <a:spcPct val="0"/>
              </a:spcBef>
              <a:spcAft>
                <a:spcPct val="0"/>
              </a:spcAft>
              <a:defRPr/>
            </a:pPr>
            <a:endParaRPr lang="en-US" kern="0" dirty="0">
              <a:solidFill>
                <a:srgbClr val="000000"/>
              </a:solidFill>
            </a:endParaRPr>
          </a:p>
        </p:txBody>
      </p:sp>
      <p:sp>
        <p:nvSpPr>
          <p:cNvPr id="12" name="TextBox 11">
            <a:extLst>
              <a:ext uri="{FF2B5EF4-FFF2-40B4-BE49-F238E27FC236}">
                <a16:creationId xmlns:a16="http://schemas.microsoft.com/office/drawing/2014/main" id="{17D1D248-2FEC-40B6-A499-7756BDC24A82}"/>
              </a:ext>
            </a:extLst>
          </p:cNvPr>
          <p:cNvSpPr txBox="1"/>
          <p:nvPr/>
        </p:nvSpPr>
        <p:spPr bwMode="auto">
          <a:xfrm>
            <a:off x="6463892" y="3636553"/>
            <a:ext cx="3689472" cy="2292935"/>
          </a:xfrm>
          <a:prstGeom prst="rect">
            <a:avLst/>
          </a:prstGeom>
          <a:solidFill>
            <a:srgbClr val="008CA8">
              <a:lumMod val="20000"/>
              <a:lumOff val="80000"/>
            </a:srgbClr>
          </a:solidFill>
          <a:ln w="9525">
            <a:noFill/>
            <a:miter lim="800000"/>
            <a:headEnd/>
            <a:tailEnd/>
          </a:ln>
          <a:effectLst>
            <a:outerShdw blurRad="50800" dist="38100" dir="2700000" algn="tl" rotWithShape="0">
              <a:prstClr val="black">
                <a:alpha val="40000"/>
              </a:prstClr>
            </a:outerShdw>
          </a:effectLst>
        </p:spPr>
        <p:txBody>
          <a:bodyPr vert="horz" wrap="none" lIns="0" tIns="45720" rIns="91440" bIns="45720" numCol="1" rtlCol="0" anchor="t" anchorCtr="0" compatLnSpc="1">
            <a:prstTxWarp prst="textNoShape">
              <a:avLst/>
            </a:prstTxWarp>
            <a:spAutoFit/>
          </a:bodyPr>
          <a:lstStyle/>
          <a:p>
            <a:pPr defTabSz="914400" fontAlgn="base">
              <a:spcBef>
                <a:spcPct val="0"/>
              </a:spcBef>
              <a:spcAft>
                <a:spcPct val="0"/>
              </a:spcAft>
              <a:defRPr/>
            </a:pPr>
            <a:r>
              <a:rPr lang="en-US" sz="1100" kern="0" dirty="0">
                <a:solidFill>
                  <a:srgbClr val="000000"/>
                </a:solidFill>
              </a:rPr>
              <a:t>// Set FFT length to 512 =&gt; log2(512) =&gt;9</a:t>
            </a:r>
          </a:p>
          <a:p>
            <a:pPr defTabSz="914400" fontAlgn="base">
              <a:spcBef>
                <a:spcPct val="0"/>
              </a:spcBef>
              <a:spcAft>
                <a:spcPct val="0"/>
              </a:spcAft>
              <a:defRPr/>
            </a:pPr>
            <a:r>
              <a:rPr lang="en-US" sz="1100" b="1" kern="0" dirty="0">
                <a:solidFill>
                  <a:srgbClr val="000000"/>
                </a:solidFill>
              </a:rPr>
              <a:t>fft_config1</a:t>
            </a:r>
            <a:r>
              <a:rPr lang="en-US" sz="1100" kern="0" dirty="0">
                <a:solidFill>
                  <a:srgbClr val="000000"/>
                </a:solidFill>
              </a:rPr>
              <a:t>-&gt; </a:t>
            </a:r>
            <a:r>
              <a:rPr lang="en-US" sz="1100" kern="0" dirty="0" err="1">
                <a:solidFill>
                  <a:srgbClr val="000000"/>
                </a:solidFill>
              </a:rPr>
              <a:t>setNfft</a:t>
            </a:r>
            <a:r>
              <a:rPr lang="en-US" sz="1100" kern="0" dirty="0">
                <a:solidFill>
                  <a:srgbClr val="000000"/>
                </a:solidFill>
              </a:rPr>
              <a:t>(9);</a:t>
            </a:r>
          </a:p>
          <a:p>
            <a:pPr defTabSz="914400" fontAlgn="base">
              <a:spcBef>
                <a:spcPct val="0"/>
              </a:spcBef>
              <a:spcAft>
                <a:spcPct val="0"/>
              </a:spcAft>
              <a:defRPr/>
            </a:pPr>
            <a:endParaRPr lang="en-US" sz="1100" kern="0" dirty="0">
              <a:solidFill>
                <a:srgbClr val="000000"/>
              </a:solidFill>
            </a:endParaRPr>
          </a:p>
          <a:p>
            <a:pPr defTabSz="914400" fontAlgn="base">
              <a:spcBef>
                <a:spcPct val="0"/>
              </a:spcBef>
              <a:spcAft>
                <a:spcPct val="0"/>
              </a:spcAft>
              <a:defRPr/>
            </a:pPr>
            <a:r>
              <a:rPr lang="en-US" sz="1100" kern="0" dirty="0">
                <a:solidFill>
                  <a:srgbClr val="000000"/>
                </a:solidFill>
              </a:rPr>
              <a:t>// Forward FFT</a:t>
            </a:r>
          </a:p>
          <a:p>
            <a:pPr defTabSz="914400" fontAlgn="base">
              <a:spcBef>
                <a:spcPct val="0"/>
              </a:spcBef>
              <a:spcAft>
                <a:spcPct val="0"/>
              </a:spcAft>
              <a:defRPr/>
            </a:pPr>
            <a:r>
              <a:rPr lang="en-US" sz="1100" b="1" kern="0" dirty="0">
                <a:solidFill>
                  <a:srgbClr val="000000"/>
                </a:solidFill>
              </a:rPr>
              <a:t>fft_config1</a:t>
            </a:r>
            <a:r>
              <a:rPr lang="en-US" sz="1100" kern="0" dirty="0">
                <a:solidFill>
                  <a:srgbClr val="000000"/>
                </a:solidFill>
              </a:rPr>
              <a:t>-&gt;</a:t>
            </a:r>
            <a:r>
              <a:rPr lang="en-US" sz="1100" kern="0" dirty="0" err="1">
                <a:solidFill>
                  <a:srgbClr val="000000"/>
                </a:solidFill>
              </a:rPr>
              <a:t>setDir</a:t>
            </a:r>
            <a:r>
              <a:rPr lang="en-US" sz="1100" kern="0" dirty="0">
                <a:solidFill>
                  <a:srgbClr val="000000"/>
                </a:solidFill>
              </a:rPr>
              <a:t>(0);</a:t>
            </a:r>
          </a:p>
          <a:p>
            <a:pPr defTabSz="914400" fontAlgn="base">
              <a:spcBef>
                <a:spcPct val="0"/>
              </a:spcBef>
              <a:spcAft>
                <a:spcPct val="0"/>
              </a:spcAft>
              <a:defRPr/>
            </a:pPr>
            <a:r>
              <a:rPr lang="en-US" sz="1100" kern="0" dirty="0">
                <a:solidFill>
                  <a:srgbClr val="000000"/>
                </a:solidFill>
              </a:rPr>
              <a:t>// Inverse FFT </a:t>
            </a:r>
          </a:p>
          <a:p>
            <a:pPr defTabSz="914400" fontAlgn="base">
              <a:spcBef>
                <a:spcPct val="0"/>
              </a:spcBef>
              <a:spcAft>
                <a:spcPct val="0"/>
              </a:spcAft>
              <a:defRPr/>
            </a:pPr>
            <a:r>
              <a:rPr lang="en-US" sz="1100" b="1" kern="0" dirty="0">
                <a:solidFill>
                  <a:srgbClr val="000000"/>
                </a:solidFill>
              </a:rPr>
              <a:t>fft_config</a:t>
            </a:r>
            <a:r>
              <a:rPr lang="en-US" sz="1100" kern="0" dirty="0">
                <a:solidFill>
                  <a:srgbClr val="000000"/>
                </a:solidFill>
              </a:rPr>
              <a:t>1-&gt;</a:t>
            </a:r>
            <a:r>
              <a:rPr lang="en-US" sz="1100" kern="0" dirty="0" err="1">
                <a:solidFill>
                  <a:srgbClr val="000000"/>
                </a:solidFill>
              </a:rPr>
              <a:t>setDir</a:t>
            </a:r>
            <a:r>
              <a:rPr lang="en-US" sz="1100" kern="0" dirty="0">
                <a:solidFill>
                  <a:srgbClr val="000000"/>
                </a:solidFill>
              </a:rPr>
              <a:t>(1);</a:t>
            </a:r>
          </a:p>
          <a:p>
            <a:pPr defTabSz="914400" fontAlgn="base">
              <a:spcBef>
                <a:spcPct val="0"/>
              </a:spcBef>
              <a:spcAft>
                <a:spcPct val="0"/>
              </a:spcAft>
              <a:defRPr/>
            </a:pPr>
            <a:endParaRPr lang="en-US" sz="1100" kern="0" dirty="0">
              <a:solidFill>
                <a:srgbClr val="000000"/>
              </a:solidFill>
            </a:endParaRPr>
          </a:p>
          <a:p>
            <a:pPr defTabSz="914400" fontAlgn="base">
              <a:spcBef>
                <a:spcPct val="0"/>
              </a:spcBef>
              <a:spcAft>
                <a:spcPct val="0"/>
              </a:spcAft>
              <a:defRPr/>
            </a:pPr>
            <a:r>
              <a:rPr lang="en-US" sz="1100" kern="0" dirty="0">
                <a:solidFill>
                  <a:srgbClr val="000000"/>
                </a:solidFill>
              </a:rPr>
              <a:t>// Set FFT Scaling</a:t>
            </a:r>
          </a:p>
          <a:p>
            <a:pPr defTabSz="914400" fontAlgn="base">
              <a:spcBef>
                <a:spcPct val="0"/>
              </a:spcBef>
              <a:spcAft>
                <a:spcPct val="0"/>
              </a:spcAft>
              <a:defRPr/>
            </a:pPr>
            <a:r>
              <a:rPr lang="en-US" sz="1100" b="1" kern="0" dirty="0">
                <a:solidFill>
                  <a:srgbClr val="000000"/>
                </a:solidFill>
              </a:rPr>
              <a:t>fft_config1</a:t>
            </a:r>
            <a:r>
              <a:rPr lang="en-US" sz="1100" kern="0" dirty="0">
                <a:solidFill>
                  <a:srgbClr val="000000"/>
                </a:solidFill>
              </a:rPr>
              <a:t>-&gt;</a:t>
            </a:r>
            <a:r>
              <a:rPr lang="en-US" sz="1100" kern="0" dirty="0" err="1">
                <a:solidFill>
                  <a:srgbClr val="000000"/>
                </a:solidFill>
              </a:rPr>
              <a:t>setSch</a:t>
            </a:r>
            <a:r>
              <a:rPr lang="en-US" sz="1100" kern="0" dirty="0">
                <a:solidFill>
                  <a:srgbClr val="000000"/>
                </a:solidFill>
              </a:rPr>
              <a:t>(0x2AB);</a:t>
            </a:r>
          </a:p>
          <a:p>
            <a:pPr defTabSz="914400" fontAlgn="base">
              <a:spcBef>
                <a:spcPct val="0"/>
              </a:spcBef>
              <a:spcAft>
                <a:spcPct val="0"/>
              </a:spcAft>
              <a:defRPr/>
            </a:pPr>
            <a:endParaRPr lang="en-US" sz="1100" kern="0" dirty="0">
              <a:solidFill>
                <a:srgbClr val="000000"/>
              </a:solidFill>
            </a:endParaRPr>
          </a:p>
          <a:p>
            <a:pPr defTabSz="914400" fontAlgn="base">
              <a:spcBef>
                <a:spcPct val="0"/>
              </a:spcBef>
              <a:spcAft>
                <a:spcPct val="0"/>
              </a:spcAft>
              <a:defRPr/>
            </a:pPr>
            <a:r>
              <a:rPr lang="en-US" sz="1100" kern="0" dirty="0">
                <a:solidFill>
                  <a:srgbClr val="000000"/>
                </a:solidFill>
              </a:rPr>
              <a:t> // FFT IP</a:t>
            </a:r>
          </a:p>
          <a:p>
            <a:pPr defTabSz="914400" fontAlgn="base">
              <a:spcBef>
                <a:spcPct val="0"/>
              </a:spcBef>
              <a:spcAft>
                <a:spcPct val="0"/>
              </a:spcAft>
              <a:defRPr/>
            </a:pPr>
            <a:r>
              <a:rPr lang="en-US" sz="1100" kern="0" dirty="0">
                <a:solidFill>
                  <a:srgbClr val="000000"/>
                </a:solidFill>
              </a:rPr>
              <a:t>    </a:t>
            </a:r>
            <a:r>
              <a:rPr lang="en-US" sz="1100" kern="0" dirty="0" err="1">
                <a:solidFill>
                  <a:srgbClr val="000000"/>
                </a:solidFill>
              </a:rPr>
              <a:t>hls</a:t>
            </a:r>
            <a:r>
              <a:rPr lang="en-US" sz="1100" kern="0" dirty="0">
                <a:solidFill>
                  <a:srgbClr val="000000"/>
                </a:solidFill>
              </a:rPr>
              <a:t>::</a:t>
            </a:r>
            <a:r>
              <a:rPr lang="en-US" sz="1100" kern="0" dirty="0" err="1">
                <a:solidFill>
                  <a:srgbClr val="000000"/>
                </a:solidFill>
              </a:rPr>
              <a:t>fft</a:t>
            </a:r>
            <a:r>
              <a:rPr lang="en-US" sz="1100" kern="0" dirty="0">
                <a:solidFill>
                  <a:srgbClr val="000000"/>
                </a:solidFill>
              </a:rPr>
              <a:t>&lt;</a:t>
            </a:r>
            <a:r>
              <a:rPr lang="en-US" sz="1100" b="1" kern="0" dirty="0">
                <a:solidFill>
                  <a:srgbClr val="7030A0"/>
                </a:solidFill>
              </a:rPr>
              <a:t>param1</a:t>
            </a:r>
            <a:r>
              <a:rPr lang="en-US" sz="1100" kern="0" dirty="0">
                <a:solidFill>
                  <a:srgbClr val="000000"/>
                </a:solidFill>
              </a:rPr>
              <a:t>&gt; (xn1, xk1, &amp;fft_status1, &amp;</a:t>
            </a:r>
            <a:r>
              <a:rPr lang="en-US" sz="1100" b="1" kern="0" dirty="0">
                <a:solidFill>
                  <a:srgbClr val="000000"/>
                </a:solidFill>
              </a:rPr>
              <a:t>fft_config1</a:t>
            </a:r>
            <a:r>
              <a:rPr lang="en-US" sz="1100" kern="0" dirty="0">
                <a:solidFill>
                  <a:srgbClr val="000000"/>
                </a:solidFill>
              </a:rPr>
              <a:t>);</a:t>
            </a:r>
          </a:p>
        </p:txBody>
      </p:sp>
    </p:spTree>
    <p:extLst>
      <p:ext uri="{BB962C8B-B14F-4D97-AF65-F5344CB8AC3E}">
        <p14:creationId xmlns:p14="http://schemas.microsoft.com/office/powerpoint/2010/main" val="2435407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FFT Function: Run Time Configuration</a:t>
            </a:r>
          </a:p>
        </p:txBody>
      </p:sp>
      <p:sp>
        <p:nvSpPr>
          <p:cNvPr id="2" name="Content Placeholder 1"/>
          <p:cNvSpPr>
            <a:spLocks noGrp="1"/>
          </p:cNvSpPr>
          <p:nvPr>
            <p:ph idx="1"/>
          </p:nvPr>
        </p:nvSpPr>
        <p:spPr/>
        <p:txBody>
          <a:bodyPr/>
          <a:lstStyle/>
          <a:p>
            <a:r>
              <a:rPr lang="en-US" dirty="0"/>
              <a:t>Dynamic Configuration</a:t>
            </a:r>
          </a:p>
          <a:p>
            <a:endParaRPr lang="en-US" sz="200" dirty="0"/>
          </a:p>
          <a:p>
            <a:pPr lvl="1"/>
            <a:r>
              <a:rPr lang="en-US" dirty="0"/>
              <a:t>Parameter INPUT_RUN_TIME_CONFIGURATION </a:t>
            </a:r>
            <a:br>
              <a:rPr lang="en-US" dirty="0"/>
            </a:br>
            <a:r>
              <a:rPr lang="en-US" dirty="0"/>
              <a:t>can be changed at run time</a:t>
            </a:r>
          </a:p>
          <a:p>
            <a:pPr lvl="1"/>
            <a:r>
              <a:rPr lang="en-US" dirty="0"/>
              <a:t>Access is made using the pre-defined </a:t>
            </a:r>
            <a:br>
              <a:rPr lang="en-US" dirty="0"/>
            </a:br>
            <a:r>
              <a:rPr lang="en-US" dirty="0" err="1"/>
              <a:t>struct</a:t>
            </a:r>
            <a:r>
              <a:rPr lang="en-US" dirty="0"/>
              <a:t> </a:t>
            </a:r>
            <a:r>
              <a:rPr lang="en-US" dirty="0" err="1">
                <a:solidFill>
                  <a:srgbClr val="008000"/>
                </a:solidFill>
              </a:rPr>
              <a:t>hls</a:t>
            </a:r>
            <a:r>
              <a:rPr lang="en-US" dirty="0">
                <a:solidFill>
                  <a:srgbClr val="008000"/>
                </a:solidFill>
              </a:rPr>
              <a:t>::</a:t>
            </a:r>
            <a:r>
              <a:rPr lang="en-US" dirty="0" err="1">
                <a:solidFill>
                  <a:srgbClr val="008000"/>
                </a:solidFill>
              </a:rPr>
              <a:t>ip_fft</a:t>
            </a:r>
            <a:r>
              <a:rPr lang="en-US" dirty="0">
                <a:solidFill>
                  <a:srgbClr val="008000"/>
                </a:solidFill>
              </a:rPr>
              <a:t>::</a:t>
            </a:r>
            <a:r>
              <a:rPr lang="en-US" dirty="0" err="1">
                <a:solidFill>
                  <a:srgbClr val="008000"/>
                </a:solidFill>
              </a:rPr>
              <a:t>config_t</a:t>
            </a:r>
            <a:r>
              <a:rPr lang="en-US" dirty="0">
                <a:solidFill>
                  <a:schemeClr val="accent6">
                    <a:lumMod val="75000"/>
                  </a:schemeClr>
                </a:solidFill>
              </a:rPr>
              <a:t>&lt;</a:t>
            </a:r>
            <a:r>
              <a:rPr lang="en-US" dirty="0">
                <a:solidFill>
                  <a:srgbClr val="7030A0"/>
                </a:solidFill>
              </a:rPr>
              <a:t>STATIC_PARAM</a:t>
            </a:r>
            <a:r>
              <a:rPr lang="en-US" dirty="0">
                <a:solidFill>
                  <a:schemeClr val="accent6">
                    <a:lumMod val="75000"/>
                  </a:schemeClr>
                </a:solidFill>
              </a:rPr>
              <a:t>&gt;</a:t>
            </a:r>
          </a:p>
          <a:p>
            <a:pPr lvl="2"/>
            <a:r>
              <a:rPr lang="en-US" dirty="0"/>
              <a:t>Notice, this also uses the FFT parameterization struct </a:t>
            </a:r>
            <a:endParaRPr lang="en-US" sz="1200" dirty="0"/>
          </a:p>
          <a:p>
            <a:pPr lvl="1"/>
            <a:endParaRPr lang="en-US" dirty="0"/>
          </a:p>
        </p:txBody>
      </p:sp>
      <p:sp>
        <p:nvSpPr>
          <p:cNvPr id="9" name="Slide Number Placeholder 8"/>
          <p:cNvSpPr>
            <a:spLocks noGrp="1"/>
          </p:cNvSpPr>
          <p:nvPr>
            <p:ph type="sldNum" sz="quarter" idx="10"/>
          </p:nvPr>
        </p:nvSpPr>
        <p:spPr/>
        <p:txBody>
          <a:bodyPr/>
          <a:lstStyle/>
          <a:p>
            <a:pPr defTabSz="914400">
              <a:defRPr/>
            </a:pPr>
            <a:r>
              <a:rPr lang="en-US" dirty="0">
                <a:solidFill>
                  <a:srgbClr val="0C0C0C">
                    <a:tint val="75000"/>
                  </a:srgbClr>
                </a:solidFill>
                <a:latin typeface="Arial"/>
              </a:rPr>
              <a:t>Coding Considerations 23- </a:t>
            </a:r>
            <a:fld id="{060BD193-E118-4B16-863C-C8C12C675E3E}" type="slidenum">
              <a:rPr lang="en-US">
                <a:solidFill>
                  <a:srgbClr val="0C0C0C">
                    <a:tint val="75000"/>
                  </a:srgbClr>
                </a:solidFill>
                <a:latin typeface="Arial"/>
              </a:rPr>
              <a:pPr defTabSz="914400">
                <a:defRPr/>
              </a:pPr>
              <a:t>77</a:t>
            </a:fld>
            <a:endParaRPr lang="en-US" dirty="0">
              <a:solidFill>
                <a:srgbClr val="0C0C0C">
                  <a:tint val="75000"/>
                </a:srgbClr>
              </a:solidFill>
              <a:latin typeface="Arial"/>
            </a:endParaRPr>
          </a:p>
        </p:txBody>
      </p:sp>
      <p:sp>
        <p:nvSpPr>
          <p:cNvPr id="10" name="TextBox 9">
            <a:extLst>
              <a:ext uri="{FF2B5EF4-FFF2-40B4-BE49-F238E27FC236}">
                <a16:creationId xmlns:a16="http://schemas.microsoft.com/office/drawing/2014/main" id="{5558CCD8-68D2-4EC8-B068-B04426EABA32}"/>
              </a:ext>
            </a:extLst>
          </p:cNvPr>
          <p:cNvSpPr txBox="1"/>
          <p:nvPr/>
        </p:nvSpPr>
        <p:spPr bwMode="auto">
          <a:xfrm>
            <a:off x="6931633" y="2002879"/>
            <a:ext cx="5015523" cy="1277273"/>
          </a:xfrm>
          <a:prstGeom prst="rect">
            <a:avLst/>
          </a:prstGeom>
          <a:solidFill>
            <a:srgbClr val="008CA8">
              <a:lumMod val="20000"/>
              <a:lumOff val="80000"/>
            </a:srgbClr>
          </a:solidFill>
          <a:ln w="9525">
            <a:noFill/>
            <a:miter lim="800000"/>
            <a:headEnd/>
            <a:tailEnd/>
          </a:ln>
          <a:effectLst>
            <a:outerShdw blurRad="50800" dist="38100" dir="2700000" algn="tl" rotWithShape="0">
              <a:prstClr val="black">
                <a:alpha val="40000"/>
              </a:prstClr>
            </a:outerShdw>
          </a:effectLst>
        </p:spPr>
        <p:txBody>
          <a:bodyPr vert="horz" wrap="square" lIns="0" tIns="45720" rIns="91440" bIns="45720" numCol="1" rtlCol="0" anchor="t" anchorCtr="0" compatLnSpc="1">
            <a:prstTxWarp prst="textNoShape">
              <a:avLst/>
            </a:prstTxWarp>
            <a:spAutoFit/>
          </a:bodyPr>
          <a:lstStyle>
            <a:defPPr>
              <a:defRPr lang="en-US"/>
            </a:defPPr>
            <a:lvl1pPr>
              <a:defRPr sz="1100"/>
            </a:lvl1pPr>
          </a:lstStyle>
          <a:p>
            <a:pPr defTabSz="914400" fontAlgn="base">
              <a:spcBef>
                <a:spcPct val="0"/>
              </a:spcBef>
              <a:spcAft>
                <a:spcPct val="0"/>
              </a:spcAft>
              <a:defRPr/>
            </a:pPr>
            <a:r>
              <a:rPr lang="en-US" b="1" kern="0" dirty="0">
                <a:solidFill>
                  <a:srgbClr val="3F3F3F"/>
                </a:solidFill>
                <a:latin typeface="Arial"/>
              </a:rPr>
              <a:t> </a:t>
            </a:r>
            <a:r>
              <a:rPr lang="en-US" kern="0" dirty="0">
                <a:solidFill>
                  <a:srgbClr val="000000"/>
                </a:solidFill>
                <a:latin typeface="Arial"/>
              </a:rPr>
              <a:t>#include "</a:t>
            </a:r>
            <a:r>
              <a:rPr lang="en-US" kern="0" dirty="0" err="1">
                <a:solidFill>
                  <a:srgbClr val="000000"/>
                </a:solidFill>
                <a:latin typeface="Arial"/>
              </a:rPr>
              <a:t>hls_fft.h</a:t>
            </a:r>
            <a:r>
              <a:rPr lang="en-US" kern="0" dirty="0">
                <a:solidFill>
                  <a:srgbClr val="000000"/>
                </a:solidFill>
                <a:latin typeface="Arial"/>
              </a:rPr>
              <a:t>“</a:t>
            </a:r>
          </a:p>
          <a:p>
            <a:pPr defTabSz="914400" fontAlgn="base">
              <a:spcBef>
                <a:spcPct val="0"/>
              </a:spcBef>
              <a:spcAft>
                <a:spcPct val="0"/>
              </a:spcAft>
              <a:defRPr/>
            </a:pPr>
            <a:endParaRPr lang="en-US" kern="0" dirty="0">
              <a:solidFill>
                <a:srgbClr val="000000"/>
              </a:solidFill>
              <a:latin typeface="Arial"/>
            </a:endParaRPr>
          </a:p>
          <a:p>
            <a:pPr defTabSz="914400" fontAlgn="base">
              <a:spcBef>
                <a:spcPct val="0"/>
              </a:spcBef>
              <a:spcAft>
                <a:spcPct val="0"/>
              </a:spcAft>
              <a:defRPr/>
            </a:pPr>
            <a:r>
              <a:rPr lang="en-US" kern="0" dirty="0" err="1">
                <a:solidFill>
                  <a:srgbClr val="000000"/>
                </a:solidFill>
                <a:latin typeface="Arial"/>
              </a:rPr>
              <a:t>hls</a:t>
            </a:r>
            <a:r>
              <a:rPr lang="en-US" kern="0" dirty="0">
                <a:solidFill>
                  <a:srgbClr val="000000"/>
                </a:solidFill>
                <a:latin typeface="Arial"/>
              </a:rPr>
              <a:t>::</a:t>
            </a:r>
            <a:r>
              <a:rPr lang="en-US" kern="0" dirty="0" err="1">
                <a:solidFill>
                  <a:srgbClr val="000000"/>
                </a:solidFill>
                <a:latin typeface="Arial"/>
              </a:rPr>
              <a:t>fft</a:t>
            </a:r>
            <a:r>
              <a:rPr lang="en-US" kern="0" dirty="0">
                <a:solidFill>
                  <a:srgbClr val="000000"/>
                </a:solidFill>
                <a:latin typeface="Arial"/>
              </a:rPr>
              <a:t>&lt;STATIC_PARAM&gt; (                           	// Static Parameterization Struct</a:t>
            </a:r>
          </a:p>
          <a:p>
            <a:pPr defTabSz="914400" fontAlgn="base">
              <a:spcBef>
                <a:spcPct val="0"/>
              </a:spcBef>
              <a:spcAft>
                <a:spcPct val="0"/>
              </a:spcAft>
              <a:defRPr/>
            </a:pPr>
            <a:r>
              <a:rPr lang="en-US" kern="0" dirty="0">
                <a:solidFill>
                  <a:srgbClr val="000000"/>
                </a:solidFill>
                <a:latin typeface="Arial"/>
              </a:rPr>
              <a:t>  INPUT_DATA_ARRAY,            	// Input data fixed or float</a:t>
            </a:r>
          </a:p>
          <a:p>
            <a:pPr defTabSz="914400" fontAlgn="base">
              <a:spcBef>
                <a:spcPct val="0"/>
              </a:spcBef>
              <a:spcAft>
                <a:spcPct val="0"/>
              </a:spcAft>
              <a:defRPr/>
            </a:pPr>
            <a:r>
              <a:rPr lang="en-US" kern="0" dirty="0">
                <a:solidFill>
                  <a:srgbClr val="000000"/>
                </a:solidFill>
                <a:latin typeface="Arial"/>
              </a:rPr>
              <a:t>  OUTPUT_DATA_ARRAY,        	// Output data fixed or float</a:t>
            </a:r>
          </a:p>
          <a:p>
            <a:pPr defTabSz="914400" fontAlgn="base">
              <a:spcBef>
                <a:spcPct val="0"/>
              </a:spcBef>
              <a:spcAft>
                <a:spcPct val="0"/>
              </a:spcAft>
              <a:defRPr/>
            </a:pPr>
            <a:r>
              <a:rPr lang="en-US" kern="0" dirty="0">
                <a:solidFill>
                  <a:srgbClr val="000000"/>
                </a:solidFill>
                <a:latin typeface="Arial"/>
              </a:rPr>
              <a:t>  OUTPUT_STATUS,                 	// Output Status</a:t>
            </a:r>
          </a:p>
          <a:p>
            <a:pPr defTabSz="914400" fontAlgn="base">
              <a:spcBef>
                <a:spcPct val="0"/>
              </a:spcBef>
              <a:spcAft>
                <a:spcPct val="0"/>
              </a:spcAft>
              <a:defRPr/>
            </a:pPr>
            <a:r>
              <a:rPr lang="en-US" b="1" kern="0" dirty="0">
                <a:solidFill>
                  <a:srgbClr val="000000"/>
                </a:solidFill>
                <a:latin typeface="Arial"/>
              </a:rPr>
              <a:t>  INPUT_RUN_TIME_CONFIGURATION); 	// Input Run Time Configuration</a:t>
            </a:r>
          </a:p>
        </p:txBody>
      </p:sp>
      <p:sp>
        <p:nvSpPr>
          <p:cNvPr id="11" name="TextBox 10">
            <a:extLst>
              <a:ext uri="{FF2B5EF4-FFF2-40B4-BE49-F238E27FC236}">
                <a16:creationId xmlns:a16="http://schemas.microsoft.com/office/drawing/2014/main" id="{C3B81DB0-F446-4979-81AA-0E3B58CF952B}"/>
              </a:ext>
            </a:extLst>
          </p:cNvPr>
          <p:cNvSpPr txBox="1"/>
          <p:nvPr/>
        </p:nvSpPr>
        <p:spPr bwMode="auto">
          <a:xfrm>
            <a:off x="1416564" y="3636553"/>
            <a:ext cx="4223824" cy="1954381"/>
          </a:xfrm>
          <a:prstGeom prst="rect">
            <a:avLst/>
          </a:prstGeom>
          <a:solidFill>
            <a:srgbClr val="008CA8">
              <a:lumMod val="20000"/>
              <a:lumOff val="80000"/>
            </a:srgbClr>
          </a:solidFill>
          <a:ln w="9525">
            <a:noFill/>
            <a:miter lim="800000"/>
            <a:headEnd/>
            <a:tailEnd/>
          </a:ln>
          <a:effectLst>
            <a:outerShdw blurRad="50800" dist="38100" dir="2700000" algn="tl" rotWithShape="0">
              <a:prstClr val="black">
                <a:alpha val="40000"/>
              </a:prstClr>
            </a:outerShdw>
          </a:effectLst>
        </p:spPr>
        <p:txBody>
          <a:bodyPr vert="horz" wrap="square" lIns="0" tIns="45720" rIns="91440" bIns="45720" numCol="1" rtlCol="0" anchor="t" anchorCtr="0" compatLnSpc="1">
            <a:prstTxWarp prst="textNoShape">
              <a:avLst/>
            </a:prstTxWarp>
            <a:spAutoFit/>
          </a:bodyPr>
          <a:lstStyle>
            <a:defPPr>
              <a:defRPr lang="en-US"/>
            </a:defPPr>
            <a:lvl1pPr>
              <a:defRPr sz="1100"/>
            </a:lvl1pPr>
          </a:lstStyle>
          <a:p>
            <a:pPr defTabSz="914400" fontAlgn="base">
              <a:spcBef>
                <a:spcPct val="0"/>
              </a:spcBef>
              <a:spcAft>
                <a:spcPct val="0"/>
              </a:spcAft>
              <a:defRPr/>
            </a:pPr>
            <a:r>
              <a:rPr lang="en-US" kern="0" dirty="0">
                <a:solidFill>
                  <a:srgbClr val="000000"/>
                </a:solidFill>
                <a:latin typeface="Arial"/>
              </a:rPr>
              <a:t>#include "</a:t>
            </a:r>
            <a:r>
              <a:rPr lang="en-US" kern="0" dirty="0" err="1">
                <a:solidFill>
                  <a:srgbClr val="000000"/>
                </a:solidFill>
                <a:latin typeface="Arial"/>
              </a:rPr>
              <a:t>hls_fft.h</a:t>
            </a:r>
            <a:r>
              <a:rPr lang="en-US" kern="0" dirty="0">
                <a:solidFill>
                  <a:srgbClr val="000000"/>
                </a:solidFill>
                <a:latin typeface="Arial"/>
              </a:rPr>
              <a:t>“</a:t>
            </a:r>
          </a:p>
          <a:p>
            <a:pPr defTabSz="914400" fontAlgn="base">
              <a:spcBef>
                <a:spcPct val="0"/>
              </a:spcBef>
              <a:spcAft>
                <a:spcPct val="0"/>
              </a:spcAft>
              <a:defRPr/>
            </a:pPr>
            <a:endParaRPr lang="en-US" kern="0" dirty="0">
              <a:solidFill>
                <a:srgbClr val="000000"/>
              </a:solidFill>
              <a:latin typeface="Arial"/>
            </a:endParaRPr>
          </a:p>
          <a:p>
            <a:pPr defTabSz="914400" fontAlgn="base">
              <a:spcBef>
                <a:spcPct val="0"/>
              </a:spcBef>
              <a:spcAft>
                <a:spcPct val="0"/>
              </a:spcAft>
              <a:defRPr/>
            </a:pPr>
            <a:r>
              <a:rPr lang="en-US" kern="0" dirty="0">
                <a:solidFill>
                  <a:srgbClr val="000000"/>
                </a:solidFill>
                <a:latin typeface="Arial"/>
              </a:rPr>
              <a:t>struct </a:t>
            </a:r>
            <a:r>
              <a:rPr lang="en-US" b="1" kern="0" dirty="0">
                <a:solidFill>
                  <a:srgbClr val="7030A0"/>
                </a:solidFill>
                <a:latin typeface="Arial"/>
              </a:rPr>
              <a:t>param1</a:t>
            </a:r>
            <a:r>
              <a:rPr lang="en-US" kern="0" dirty="0">
                <a:solidFill>
                  <a:srgbClr val="7030A0"/>
                </a:solidFill>
                <a:latin typeface="Arial"/>
              </a:rPr>
              <a:t> </a:t>
            </a:r>
            <a:r>
              <a:rPr lang="en-US" kern="0" dirty="0">
                <a:solidFill>
                  <a:srgbClr val="000000"/>
                </a:solidFill>
                <a:latin typeface="Arial"/>
              </a:rPr>
              <a:t>: </a:t>
            </a:r>
            <a:r>
              <a:rPr lang="en-US" kern="0" dirty="0" err="1">
                <a:solidFill>
                  <a:srgbClr val="8B8D09">
                    <a:lumMod val="75000"/>
                  </a:srgbClr>
                </a:solidFill>
                <a:latin typeface="Arial"/>
              </a:rPr>
              <a:t>hls</a:t>
            </a:r>
            <a:r>
              <a:rPr lang="en-US" kern="0" dirty="0">
                <a:solidFill>
                  <a:srgbClr val="8B8D09">
                    <a:lumMod val="75000"/>
                  </a:srgbClr>
                </a:solidFill>
                <a:latin typeface="Arial"/>
              </a:rPr>
              <a:t>::</a:t>
            </a:r>
            <a:r>
              <a:rPr lang="en-US" kern="0" dirty="0" err="1">
                <a:solidFill>
                  <a:srgbClr val="8B8D09">
                    <a:lumMod val="75000"/>
                  </a:srgbClr>
                </a:solidFill>
                <a:latin typeface="Arial"/>
              </a:rPr>
              <a:t>ip_fft</a:t>
            </a:r>
            <a:r>
              <a:rPr lang="en-US" kern="0" dirty="0">
                <a:solidFill>
                  <a:srgbClr val="8B8D09">
                    <a:lumMod val="75000"/>
                  </a:srgbClr>
                </a:solidFill>
                <a:latin typeface="Arial"/>
              </a:rPr>
              <a:t>::</a:t>
            </a:r>
            <a:r>
              <a:rPr lang="en-US" kern="0" dirty="0" err="1">
                <a:solidFill>
                  <a:srgbClr val="8B8D09">
                    <a:lumMod val="75000"/>
                  </a:srgbClr>
                </a:solidFill>
                <a:latin typeface="Arial"/>
              </a:rPr>
              <a:t>params_t</a:t>
            </a:r>
            <a:r>
              <a:rPr lang="en-US" kern="0" dirty="0">
                <a:solidFill>
                  <a:srgbClr val="8B8D09">
                    <a:lumMod val="75000"/>
                  </a:srgbClr>
                </a:solidFill>
                <a:latin typeface="Arial"/>
              </a:rPr>
              <a:t> </a:t>
            </a:r>
            <a:r>
              <a:rPr lang="en-US" kern="0" dirty="0">
                <a:solidFill>
                  <a:srgbClr val="000000"/>
                </a:solidFill>
                <a:latin typeface="Arial"/>
              </a:rPr>
              <a:t>{</a:t>
            </a:r>
          </a:p>
          <a:p>
            <a:pPr defTabSz="914400" fontAlgn="base">
              <a:spcBef>
                <a:spcPct val="0"/>
              </a:spcBef>
              <a:spcAft>
                <a:spcPct val="0"/>
              </a:spcAft>
              <a:defRPr/>
            </a:pPr>
            <a:r>
              <a:rPr lang="en-US" kern="0" dirty="0">
                <a:solidFill>
                  <a:srgbClr val="000000"/>
                </a:solidFill>
                <a:latin typeface="Arial"/>
              </a:rPr>
              <a:t>    static </a:t>
            </a:r>
            <a:r>
              <a:rPr lang="en-US" kern="0" dirty="0" err="1">
                <a:solidFill>
                  <a:srgbClr val="000000"/>
                </a:solidFill>
                <a:latin typeface="Arial"/>
              </a:rPr>
              <a:t>const</a:t>
            </a:r>
            <a:r>
              <a:rPr lang="en-US" kern="0" dirty="0">
                <a:solidFill>
                  <a:srgbClr val="000000"/>
                </a:solidFill>
                <a:latin typeface="Arial"/>
              </a:rPr>
              <a:t> unsigned </a:t>
            </a:r>
            <a:r>
              <a:rPr lang="en-US" kern="0" dirty="0" err="1">
                <a:solidFill>
                  <a:srgbClr val="000000"/>
                </a:solidFill>
                <a:latin typeface="Arial"/>
              </a:rPr>
              <a:t>ordering_opt</a:t>
            </a:r>
            <a:r>
              <a:rPr lang="en-US" kern="0" dirty="0">
                <a:solidFill>
                  <a:srgbClr val="000000"/>
                </a:solidFill>
                <a:latin typeface="Arial"/>
              </a:rPr>
              <a:t> = </a:t>
            </a:r>
            <a:r>
              <a:rPr lang="en-US" kern="0" dirty="0" err="1">
                <a:solidFill>
                  <a:srgbClr val="000000"/>
                </a:solidFill>
                <a:latin typeface="Arial"/>
              </a:rPr>
              <a:t>hls</a:t>
            </a:r>
            <a:r>
              <a:rPr lang="en-US" kern="0" dirty="0">
                <a:solidFill>
                  <a:srgbClr val="000000"/>
                </a:solidFill>
                <a:latin typeface="Arial"/>
              </a:rPr>
              <a:t>::</a:t>
            </a:r>
            <a:r>
              <a:rPr lang="en-US" kern="0" dirty="0" err="1">
                <a:solidFill>
                  <a:srgbClr val="000000"/>
                </a:solidFill>
                <a:latin typeface="Arial"/>
              </a:rPr>
              <a:t>ip_fft</a:t>
            </a:r>
            <a:r>
              <a:rPr lang="en-US" kern="0" dirty="0">
                <a:solidFill>
                  <a:srgbClr val="000000"/>
                </a:solidFill>
                <a:latin typeface="Arial"/>
              </a:rPr>
              <a:t>::</a:t>
            </a:r>
            <a:r>
              <a:rPr lang="en-US" kern="0" dirty="0" err="1">
                <a:solidFill>
                  <a:srgbClr val="000000"/>
                </a:solidFill>
                <a:latin typeface="Arial"/>
              </a:rPr>
              <a:t>natural_order</a:t>
            </a:r>
            <a:r>
              <a:rPr lang="en-US" kern="0" dirty="0">
                <a:solidFill>
                  <a:srgbClr val="000000"/>
                </a:solidFill>
                <a:latin typeface="Arial"/>
              </a:rPr>
              <a:t>;</a:t>
            </a:r>
          </a:p>
          <a:p>
            <a:pPr defTabSz="914400" fontAlgn="base">
              <a:spcBef>
                <a:spcPct val="0"/>
              </a:spcBef>
              <a:spcAft>
                <a:spcPct val="0"/>
              </a:spcAft>
              <a:defRPr/>
            </a:pPr>
            <a:r>
              <a:rPr lang="en-US" kern="0" dirty="0">
                <a:solidFill>
                  <a:srgbClr val="000000"/>
                </a:solidFill>
                <a:latin typeface="Arial"/>
              </a:rPr>
              <a:t>    static </a:t>
            </a:r>
            <a:r>
              <a:rPr lang="en-US" kern="0" dirty="0" err="1">
                <a:solidFill>
                  <a:srgbClr val="000000"/>
                </a:solidFill>
                <a:latin typeface="Arial"/>
              </a:rPr>
              <a:t>const</a:t>
            </a:r>
            <a:r>
              <a:rPr lang="en-US" kern="0" dirty="0">
                <a:solidFill>
                  <a:srgbClr val="000000"/>
                </a:solidFill>
                <a:latin typeface="Arial"/>
              </a:rPr>
              <a:t> unsigned </a:t>
            </a:r>
            <a:r>
              <a:rPr lang="en-US" kern="0" dirty="0" err="1">
                <a:solidFill>
                  <a:srgbClr val="000000"/>
                </a:solidFill>
                <a:latin typeface="Arial"/>
              </a:rPr>
              <a:t>config_width</a:t>
            </a:r>
            <a:r>
              <a:rPr lang="en-US" kern="0" dirty="0">
                <a:solidFill>
                  <a:srgbClr val="000000"/>
                </a:solidFill>
                <a:latin typeface="Arial"/>
              </a:rPr>
              <a:t> = FFT_CONFIG_WIDTH;</a:t>
            </a:r>
          </a:p>
          <a:p>
            <a:pPr defTabSz="914400" fontAlgn="base">
              <a:spcBef>
                <a:spcPct val="0"/>
              </a:spcBef>
              <a:spcAft>
                <a:spcPct val="0"/>
              </a:spcAft>
              <a:defRPr/>
            </a:pPr>
            <a:r>
              <a:rPr lang="en-US" kern="0" dirty="0">
                <a:solidFill>
                  <a:srgbClr val="000000"/>
                </a:solidFill>
                <a:latin typeface="Arial"/>
              </a:rPr>
              <a:t>    static </a:t>
            </a:r>
            <a:r>
              <a:rPr lang="en-US" kern="0" dirty="0" err="1">
                <a:solidFill>
                  <a:srgbClr val="000000"/>
                </a:solidFill>
                <a:latin typeface="Arial"/>
              </a:rPr>
              <a:t>const</a:t>
            </a:r>
            <a:r>
              <a:rPr lang="en-US" kern="0" dirty="0">
                <a:solidFill>
                  <a:srgbClr val="000000"/>
                </a:solidFill>
                <a:latin typeface="Arial"/>
              </a:rPr>
              <a:t> unsigned </a:t>
            </a:r>
            <a:r>
              <a:rPr lang="en-US" kern="0" dirty="0" err="1">
                <a:solidFill>
                  <a:srgbClr val="000000"/>
                </a:solidFill>
                <a:latin typeface="Arial"/>
              </a:rPr>
              <a:t>status_width</a:t>
            </a:r>
            <a:r>
              <a:rPr lang="en-US" kern="0" dirty="0">
                <a:solidFill>
                  <a:srgbClr val="000000"/>
                </a:solidFill>
                <a:latin typeface="Arial"/>
              </a:rPr>
              <a:t> = FFT_STATUS_WIDTH;</a:t>
            </a:r>
          </a:p>
          <a:p>
            <a:pPr defTabSz="914400" fontAlgn="base">
              <a:spcBef>
                <a:spcPct val="0"/>
              </a:spcBef>
              <a:spcAft>
                <a:spcPct val="0"/>
              </a:spcAft>
              <a:defRPr/>
            </a:pPr>
            <a:r>
              <a:rPr lang="en-US" kern="0" dirty="0">
                <a:solidFill>
                  <a:srgbClr val="000000"/>
                </a:solidFill>
                <a:latin typeface="Arial"/>
              </a:rPr>
              <a:t>};</a:t>
            </a:r>
          </a:p>
          <a:p>
            <a:pPr defTabSz="914400" fontAlgn="base">
              <a:spcBef>
                <a:spcPct val="0"/>
              </a:spcBef>
              <a:spcAft>
                <a:spcPct val="0"/>
              </a:spcAft>
              <a:defRPr/>
            </a:pPr>
            <a:endParaRPr lang="en-US" kern="0" dirty="0">
              <a:solidFill>
                <a:srgbClr val="000000"/>
              </a:solidFill>
              <a:latin typeface="Arial"/>
            </a:endParaRPr>
          </a:p>
          <a:p>
            <a:pPr defTabSz="914400" fontAlgn="base">
              <a:spcBef>
                <a:spcPct val="0"/>
              </a:spcBef>
              <a:spcAft>
                <a:spcPct val="0"/>
              </a:spcAft>
              <a:defRPr/>
            </a:pPr>
            <a:r>
              <a:rPr lang="en-US" kern="0" dirty="0" err="1">
                <a:solidFill>
                  <a:srgbClr val="000000"/>
                </a:solidFill>
                <a:latin typeface="Arial"/>
              </a:rPr>
              <a:t>typedef</a:t>
            </a:r>
            <a:r>
              <a:rPr lang="en-US" kern="0" dirty="0">
                <a:solidFill>
                  <a:srgbClr val="000000"/>
                </a:solidFill>
                <a:latin typeface="Arial"/>
              </a:rPr>
              <a:t> </a:t>
            </a:r>
            <a:r>
              <a:rPr lang="en-US" b="1" kern="0" dirty="0" err="1">
                <a:solidFill>
                  <a:srgbClr val="008000"/>
                </a:solidFill>
                <a:latin typeface="Arial"/>
              </a:rPr>
              <a:t>hls</a:t>
            </a:r>
            <a:r>
              <a:rPr lang="en-US" b="1" kern="0" dirty="0">
                <a:solidFill>
                  <a:srgbClr val="008000"/>
                </a:solidFill>
                <a:latin typeface="Arial"/>
              </a:rPr>
              <a:t>::</a:t>
            </a:r>
            <a:r>
              <a:rPr lang="en-US" b="1" kern="0" dirty="0" err="1">
                <a:solidFill>
                  <a:srgbClr val="008000"/>
                </a:solidFill>
                <a:latin typeface="Arial"/>
              </a:rPr>
              <a:t>ip_fft</a:t>
            </a:r>
            <a:r>
              <a:rPr lang="en-US" b="1" kern="0" dirty="0">
                <a:solidFill>
                  <a:srgbClr val="008000"/>
                </a:solidFill>
                <a:latin typeface="Arial"/>
              </a:rPr>
              <a:t>::</a:t>
            </a:r>
            <a:r>
              <a:rPr lang="en-US" b="1" kern="0" dirty="0" err="1">
                <a:solidFill>
                  <a:srgbClr val="008000"/>
                </a:solidFill>
                <a:latin typeface="Arial"/>
              </a:rPr>
              <a:t>config_t</a:t>
            </a:r>
            <a:r>
              <a:rPr lang="en-US" kern="0" dirty="0">
                <a:solidFill>
                  <a:srgbClr val="000000"/>
                </a:solidFill>
                <a:latin typeface="Arial"/>
              </a:rPr>
              <a:t>&lt;</a:t>
            </a:r>
            <a:r>
              <a:rPr lang="en-US" b="1" kern="0" dirty="0">
                <a:solidFill>
                  <a:srgbClr val="7030A0"/>
                </a:solidFill>
                <a:latin typeface="Arial"/>
              </a:rPr>
              <a:t>param1</a:t>
            </a:r>
            <a:r>
              <a:rPr lang="en-US" kern="0" dirty="0">
                <a:solidFill>
                  <a:srgbClr val="000000"/>
                </a:solidFill>
                <a:latin typeface="Arial"/>
              </a:rPr>
              <a:t>&gt; </a:t>
            </a:r>
            <a:r>
              <a:rPr lang="en-US" kern="0" dirty="0" err="1">
                <a:solidFill>
                  <a:srgbClr val="000000"/>
                </a:solidFill>
                <a:latin typeface="Arial"/>
              </a:rPr>
              <a:t>config_t</a:t>
            </a:r>
            <a:r>
              <a:rPr lang="en-US" kern="0" dirty="0">
                <a:solidFill>
                  <a:srgbClr val="000000"/>
                </a:solidFill>
                <a:latin typeface="Arial"/>
              </a:rPr>
              <a:t>;</a:t>
            </a:r>
          </a:p>
          <a:p>
            <a:pPr defTabSz="914400" fontAlgn="base">
              <a:spcBef>
                <a:spcPct val="0"/>
              </a:spcBef>
              <a:spcAft>
                <a:spcPct val="0"/>
              </a:spcAft>
              <a:defRPr/>
            </a:pPr>
            <a:r>
              <a:rPr lang="en-US" kern="0" dirty="0" err="1">
                <a:solidFill>
                  <a:srgbClr val="000000"/>
                </a:solidFill>
                <a:latin typeface="Arial"/>
              </a:rPr>
              <a:t>config_t</a:t>
            </a:r>
            <a:r>
              <a:rPr lang="en-US" kern="0" dirty="0">
                <a:solidFill>
                  <a:srgbClr val="000000"/>
                </a:solidFill>
                <a:latin typeface="Arial"/>
              </a:rPr>
              <a:t> </a:t>
            </a:r>
            <a:r>
              <a:rPr lang="en-US" b="1" kern="0" dirty="0">
                <a:solidFill>
                  <a:srgbClr val="000000"/>
                </a:solidFill>
                <a:latin typeface="Arial"/>
              </a:rPr>
              <a:t>fft_config1</a:t>
            </a:r>
            <a:r>
              <a:rPr lang="en-US" kern="0" dirty="0">
                <a:solidFill>
                  <a:srgbClr val="000000"/>
                </a:solidFill>
                <a:latin typeface="Arial"/>
              </a:rPr>
              <a:t>;</a:t>
            </a:r>
          </a:p>
          <a:p>
            <a:pPr defTabSz="914400" fontAlgn="base">
              <a:spcBef>
                <a:spcPct val="0"/>
              </a:spcBef>
              <a:spcAft>
                <a:spcPct val="0"/>
              </a:spcAft>
              <a:defRPr/>
            </a:pPr>
            <a:endParaRPr lang="en-US" kern="0" dirty="0">
              <a:solidFill>
                <a:srgbClr val="000000"/>
              </a:solidFill>
              <a:latin typeface="Arial"/>
            </a:endParaRPr>
          </a:p>
        </p:txBody>
      </p:sp>
      <p:sp>
        <p:nvSpPr>
          <p:cNvPr id="12" name="TextBox 11">
            <a:extLst>
              <a:ext uri="{FF2B5EF4-FFF2-40B4-BE49-F238E27FC236}">
                <a16:creationId xmlns:a16="http://schemas.microsoft.com/office/drawing/2014/main" id="{17D1D248-2FEC-40B6-A499-7756BDC24A82}"/>
              </a:ext>
            </a:extLst>
          </p:cNvPr>
          <p:cNvSpPr txBox="1"/>
          <p:nvPr/>
        </p:nvSpPr>
        <p:spPr bwMode="auto">
          <a:xfrm>
            <a:off x="6463892" y="3636553"/>
            <a:ext cx="3689472" cy="2292935"/>
          </a:xfrm>
          <a:prstGeom prst="rect">
            <a:avLst/>
          </a:prstGeom>
          <a:solidFill>
            <a:srgbClr val="008CA8">
              <a:lumMod val="20000"/>
              <a:lumOff val="80000"/>
            </a:srgbClr>
          </a:solidFill>
          <a:ln w="9525">
            <a:noFill/>
            <a:miter lim="800000"/>
            <a:headEnd/>
            <a:tailEnd/>
          </a:ln>
          <a:effectLst>
            <a:outerShdw blurRad="50800" dist="38100" dir="2700000" algn="tl" rotWithShape="0">
              <a:prstClr val="black">
                <a:alpha val="40000"/>
              </a:prstClr>
            </a:outerShdw>
          </a:effectLst>
        </p:spPr>
        <p:txBody>
          <a:bodyPr vert="horz" wrap="none" lIns="0" tIns="45720" rIns="91440" bIns="45720" numCol="1" rtlCol="0" anchor="t" anchorCtr="0" compatLnSpc="1">
            <a:prstTxWarp prst="textNoShape">
              <a:avLst/>
            </a:prstTxWarp>
            <a:spAutoFit/>
          </a:bodyPr>
          <a:lstStyle/>
          <a:p>
            <a:pPr defTabSz="914400" fontAlgn="base">
              <a:spcBef>
                <a:spcPct val="0"/>
              </a:spcBef>
              <a:spcAft>
                <a:spcPct val="0"/>
              </a:spcAft>
              <a:defRPr/>
            </a:pPr>
            <a:r>
              <a:rPr lang="en-US" sz="1100" kern="0" dirty="0">
                <a:solidFill>
                  <a:srgbClr val="000000"/>
                </a:solidFill>
                <a:latin typeface="Arial"/>
              </a:rPr>
              <a:t>// Set FFT length to 512 =&gt; log2(512) =&gt;9</a:t>
            </a:r>
          </a:p>
          <a:p>
            <a:pPr defTabSz="914400" fontAlgn="base">
              <a:spcBef>
                <a:spcPct val="0"/>
              </a:spcBef>
              <a:spcAft>
                <a:spcPct val="0"/>
              </a:spcAft>
              <a:defRPr/>
            </a:pPr>
            <a:r>
              <a:rPr lang="en-US" sz="1100" b="1" kern="0" dirty="0">
                <a:solidFill>
                  <a:srgbClr val="000000"/>
                </a:solidFill>
                <a:latin typeface="Arial"/>
              </a:rPr>
              <a:t>fft_config1</a:t>
            </a:r>
            <a:r>
              <a:rPr lang="en-US" sz="1100" kern="0" dirty="0">
                <a:solidFill>
                  <a:srgbClr val="000000"/>
                </a:solidFill>
                <a:latin typeface="Arial"/>
              </a:rPr>
              <a:t>-&gt; </a:t>
            </a:r>
            <a:r>
              <a:rPr lang="en-US" sz="1100" kern="0" dirty="0" err="1">
                <a:solidFill>
                  <a:srgbClr val="000000"/>
                </a:solidFill>
                <a:latin typeface="Arial"/>
              </a:rPr>
              <a:t>setNfft</a:t>
            </a:r>
            <a:r>
              <a:rPr lang="en-US" sz="1100" kern="0" dirty="0">
                <a:solidFill>
                  <a:srgbClr val="000000"/>
                </a:solidFill>
                <a:latin typeface="Arial"/>
              </a:rPr>
              <a:t>(9);</a:t>
            </a:r>
          </a:p>
          <a:p>
            <a:pPr defTabSz="914400" fontAlgn="base">
              <a:spcBef>
                <a:spcPct val="0"/>
              </a:spcBef>
              <a:spcAft>
                <a:spcPct val="0"/>
              </a:spcAft>
              <a:defRPr/>
            </a:pPr>
            <a:endParaRPr lang="en-US" sz="1100" kern="0" dirty="0">
              <a:solidFill>
                <a:srgbClr val="000000"/>
              </a:solidFill>
              <a:latin typeface="Arial"/>
            </a:endParaRPr>
          </a:p>
          <a:p>
            <a:pPr defTabSz="914400" fontAlgn="base">
              <a:spcBef>
                <a:spcPct val="0"/>
              </a:spcBef>
              <a:spcAft>
                <a:spcPct val="0"/>
              </a:spcAft>
              <a:defRPr/>
            </a:pPr>
            <a:r>
              <a:rPr lang="en-US" sz="1100" kern="0" dirty="0">
                <a:solidFill>
                  <a:srgbClr val="000000"/>
                </a:solidFill>
                <a:latin typeface="Arial"/>
              </a:rPr>
              <a:t>// Forward FFT</a:t>
            </a:r>
          </a:p>
          <a:p>
            <a:pPr defTabSz="914400" fontAlgn="base">
              <a:spcBef>
                <a:spcPct val="0"/>
              </a:spcBef>
              <a:spcAft>
                <a:spcPct val="0"/>
              </a:spcAft>
              <a:defRPr/>
            </a:pPr>
            <a:r>
              <a:rPr lang="en-US" sz="1100" b="1" kern="0" dirty="0">
                <a:solidFill>
                  <a:srgbClr val="000000"/>
                </a:solidFill>
                <a:latin typeface="Arial"/>
              </a:rPr>
              <a:t>fft_config1</a:t>
            </a:r>
            <a:r>
              <a:rPr lang="en-US" sz="1100" kern="0" dirty="0">
                <a:solidFill>
                  <a:srgbClr val="000000"/>
                </a:solidFill>
                <a:latin typeface="Arial"/>
              </a:rPr>
              <a:t>-&gt;</a:t>
            </a:r>
            <a:r>
              <a:rPr lang="en-US" sz="1100" kern="0" dirty="0" err="1">
                <a:solidFill>
                  <a:srgbClr val="000000"/>
                </a:solidFill>
                <a:latin typeface="Arial"/>
              </a:rPr>
              <a:t>setDir</a:t>
            </a:r>
            <a:r>
              <a:rPr lang="en-US" sz="1100" kern="0" dirty="0">
                <a:solidFill>
                  <a:srgbClr val="000000"/>
                </a:solidFill>
                <a:latin typeface="Arial"/>
              </a:rPr>
              <a:t>(0);</a:t>
            </a:r>
          </a:p>
          <a:p>
            <a:pPr defTabSz="914400" fontAlgn="base">
              <a:spcBef>
                <a:spcPct val="0"/>
              </a:spcBef>
              <a:spcAft>
                <a:spcPct val="0"/>
              </a:spcAft>
              <a:defRPr/>
            </a:pPr>
            <a:r>
              <a:rPr lang="en-US" sz="1100" kern="0" dirty="0">
                <a:solidFill>
                  <a:srgbClr val="000000"/>
                </a:solidFill>
                <a:latin typeface="Arial"/>
              </a:rPr>
              <a:t>// Inverse FFT </a:t>
            </a:r>
          </a:p>
          <a:p>
            <a:pPr defTabSz="914400" fontAlgn="base">
              <a:spcBef>
                <a:spcPct val="0"/>
              </a:spcBef>
              <a:spcAft>
                <a:spcPct val="0"/>
              </a:spcAft>
              <a:defRPr/>
            </a:pPr>
            <a:r>
              <a:rPr lang="en-US" sz="1100" b="1" kern="0" dirty="0">
                <a:solidFill>
                  <a:srgbClr val="000000"/>
                </a:solidFill>
                <a:latin typeface="Arial"/>
              </a:rPr>
              <a:t>fft_config</a:t>
            </a:r>
            <a:r>
              <a:rPr lang="en-US" sz="1100" kern="0" dirty="0">
                <a:solidFill>
                  <a:srgbClr val="000000"/>
                </a:solidFill>
                <a:latin typeface="Arial"/>
              </a:rPr>
              <a:t>1-&gt;</a:t>
            </a:r>
            <a:r>
              <a:rPr lang="en-US" sz="1100" kern="0" dirty="0" err="1">
                <a:solidFill>
                  <a:srgbClr val="000000"/>
                </a:solidFill>
                <a:latin typeface="Arial"/>
              </a:rPr>
              <a:t>setDir</a:t>
            </a:r>
            <a:r>
              <a:rPr lang="en-US" sz="1100" kern="0" dirty="0">
                <a:solidFill>
                  <a:srgbClr val="000000"/>
                </a:solidFill>
                <a:latin typeface="Arial"/>
              </a:rPr>
              <a:t>(1);</a:t>
            </a:r>
          </a:p>
          <a:p>
            <a:pPr defTabSz="914400" fontAlgn="base">
              <a:spcBef>
                <a:spcPct val="0"/>
              </a:spcBef>
              <a:spcAft>
                <a:spcPct val="0"/>
              </a:spcAft>
              <a:defRPr/>
            </a:pPr>
            <a:endParaRPr lang="en-US" sz="1100" kern="0" dirty="0">
              <a:solidFill>
                <a:srgbClr val="000000"/>
              </a:solidFill>
              <a:latin typeface="Arial"/>
            </a:endParaRPr>
          </a:p>
          <a:p>
            <a:pPr defTabSz="914400" fontAlgn="base">
              <a:spcBef>
                <a:spcPct val="0"/>
              </a:spcBef>
              <a:spcAft>
                <a:spcPct val="0"/>
              </a:spcAft>
              <a:defRPr/>
            </a:pPr>
            <a:r>
              <a:rPr lang="en-US" sz="1100" kern="0" dirty="0">
                <a:solidFill>
                  <a:srgbClr val="000000"/>
                </a:solidFill>
                <a:latin typeface="Arial"/>
              </a:rPr>
              <a:t>// Set FFT Scaling</a:t>
            </a:r>
          </a:p>
          <a:p>
            <a:pPr defTabSz="914400" fontAlgn="base">
              <a:spcBef>
                <a:spcPct val="0"/>
              </a:spcBef>
              <a:spcAft>
                <a:spcPct val="0"/>
              </a:spcAft>
              <a:defRPr/>
            </a:pPr>
            <a:r>
              <a:rPr lang="en-US" sz="1100" b="1" kern="0" dirty="0">
                <a:solidFill>
                  <a:srgbClr val="000000"/>
                </a:solidFill>
                <a:latin typeface="Arial"/>
              </a:rPr>
              <a:t>fft_config1</a:t>
            </a:r>
            <a:r>
              <a:rPr lang="en-US" sz="1100" kern="0" dirty="0">
                <a:solidFill>
                  <a:srgbClr val="000000"/>
                </a:solidFill>
                <a:latin typeface="Arial"/>
              </a:rPr>
              <a:t>-&gt;</a:t>
            </a:r>
            <a:r>
              <a:rPr lang="en-US" sz="1100" kern="0" dirty="0" err="1">
                <a:solidFill>
                  <a:srgbClr val="000000"/>
                </a:solidFill>
                <a:latin typeface="Arial"/>
              </a:rPr>
              <a:t>setSch</a:t>
            </a:r>
            <a:r>
              <a:rPr lang="en-US" sz="1100" kern="0" dirty="0">
                <a:solidFill>
                  <a:srgbClr val="000000"/>
                </a:solidFill>
                <a:latin typeface="Arial"/>
              </a:rPr>
              <a:t>(0x2AB);</a:t>
            </a:r>
          </a:p>
          <a:p>
            <a:pPr defTabSz="914400" fontAlgn="base">
              <a:spcBef>
                <a:spcPct val="0"/>
              </a:spcBef>
              <a:spcAft>
                <a:spcPct val="0"/>
              </a:spcAft>
              <a:defRPr/>
            </a:pPr>
            <a:endParaRPr lang="en-US" sz="1100" kern="0" dirty="0">
              <a:solidFill>
                <a:srgbClr val="000000"/>
              </a:solidFill>
              <a:latin typeface="Arial"/>
            </a:endParaRPr>
          </a:p>
          <a:p>
            <a:pPr defTabSz="914400" fontAlgn="base">
              <a:spcBef>
                <a:spcPct val="0"/>
              </a:spcBef>
              <a:spcAft>
                <a:spcPct val="0"/>
              </a:spcAft>
              <a:defRPr/>
            </a:pPr>
            <a:r>
              <a:rPr lang="en-US" sz="1100" kern="0" dirty="0">
                <a:solidFill>
                  <a:srgbClr val="000000"/>
                </a:solidFill>
                <a:latin typeface="Arial"/>
              </a:rPr>
              <a:t> // FFT IP</a:t>
            </a:r>
          </a:p>
          <a:p>
            <a:pPr defTabSz="914400" fontAlgn="base">
              <a:spcBef>
                <a:spcPct val="0"/>
              </a:spcBef>
              <a:spcAft>
                <a:spcPct val="0"/>
              </a:spcAft>
              <a:defRPr/>
            </a:pPr>
            <a:r>
              <a:rPr lang="en-US" sz="1100" kern="0" dirty="0">
                <a:solidFill>
                  <a:srgbClr val="000000"/>
                </a:solidFill>
                <a:latin typeface="Arial"/>
              </a:rPr>
              <a:t>    </a:t>
            </a:r>
            <a:r>
              <a:rPr lang="en-US" sz="1100" kern="0" dirty="0" err="1">
                <a:solidFill>
                  <a:srgbClr val="000000"/>
                </a:solidFill>
                <a:latin typeface="Arial"/>
              </a:rPr>
              <a:t>hls</a:t>
            </a:r>
            <a:r>
              <a:rPr lang="en-US" sz="1100" kern="0" dirty="0">
                <a:solidFill>
                  <a:srgbClr val="000000"/>
                </a:solidFill>
                <a:latin typeface="Arial"/>
              </a:rPr>
              <a:t>::</a:t>
            </a:r>
            <a:r>
              <a:rPr lang="en-US" sz="1100" kern="0" dirty="0" err="1">
                <a:solidFill>
                  <a:srgbClr val="000000"/>
                </a:solidFill>
                <a:latin typeface="Arial"/>
              </a:rPr>
              <a:t>fft</a:t>
            </a:r>
            <a:r>
              <a:rPr lang="en-US" sz="1100" kern="0" dirty="0">
                <a:solidFill>
                  <a:srgbClr val="000000"/>
                </a:solidFill>
                <a:latin typeface="Arial"/>
              </a:rPr>
              <a:t>&lt;</a:t>
            </a:r>
            <a:r>
              <a:rPr lang="en-US" sz="1100" b="1" kern="0" dirty="0">
                <a:solidFill>
                  <a:srgbClr val="7030A0"/>
                </a:solidFill>
                <a:latin typeface="Arial"/>
              </a:rPr>
              <a:t>param1</a:t>
            </a:r>
            <a:r>
              <a:rPr lang="en-US" sz="1100" kern="0" dirty="0">
                <a:solidFill>
                  <a:srgbClr val="000000"/>
                </a:solidFill>
                <a:latin typeface="Arial"/>
              </a:rPr>
              <a:t>&gt; (xn1, xk1, &amp;fft_status1, &amp;</a:t>
            </a:r>
            <a:r>
              <a:rPr lang="en-US" sz="1100" b="1" kern="0" dirty="0">
                <a:solidFill>
                  <a:srgbClr val="000000"/>
                </a:solidFill>
                <a:latin typeface="Arial"/>
              </a:rPr>
              <a:t>fft_config1</a:t>
            </a:r>
            <a:r>
              <a:rPr lang="en-US" sz="1100" kern="0" dirty="0">
                <a:solidFill>
                  <a:srgbClr val="000000"/>
                </a:solidFill>
                <a:latin typeface="Arial"/>
              </a:rPr>
              <a:t>);</a:t>
            </a:r>
          </a:p>
        </p:txBody>
      </p:sp>
    </p:spTree>
    <p:extLst>
      <p:ext uri="{BB962C8B-B14F-4D97-AF65-F5344CB8AC3E}">
        <p14:creationId xmlns:p14="http://schemas.microsoft.com/office/powerpoint/2010/main" val="30710873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FFT Function: Run Time Output Status</a:t>
            </a:r>
          </a:p>
        </p:txBody>
      </p:sp>
      <p:sp>
        <p:nvSpPr>
          <p:cNvPr id="2" name="Content Placeholder 1"/>
          <p:cNvSpPr>
            <a:spLocks noGrp="1"/>
          </p:cNvSpPr>
          <p:nvPr>
            <p:ph idx="1"/>
          </p:nvPr>
        </p:nvSpPr>
        <p:spPr/>
        <p:txBody>
          <a:bodyPr/>
          <a:lstStyle/>
          <a:p>
            <a:r>
              <a:rPr lang="en-US" sz="2000" dirty="0"/>
              <a:t>Dynamic Status Monitoring</a:t>
            </a:r>
          </a:p>
          <a:p>
            <a:pPr lvl="1"/>
            <a:r>
              <a:rPr lang="en-US" sz="1800" dirty="0"/>
              <a:t>Parameter OUTPUT_STATUS can be read at run time</a:t>
            </a:r>
            <a:endParaRPr lang="en-US" sz="1400" dirty="0"/>
          </a:p>
          <a:p>
            <a:pPr lvl="1"/>
            <a:r>
              <a:rPr lang="en-US" sz="1800" dirty="0"/>
              <a:t>Access is made using the pre-defined </a:t>
            </a:r>
            <a:br>
              <a:rPr lang="en-US" sz="1800" dirty="0"/>
            </a:br>
            <a:r>
              <a:rPr lang="en-US" sz="1800" dirty="0" err="1"/>
              <a:t>struct</a:t>
            </a:r>
            <a:r>
              <a:rPr lang="en-US" sz="1800" dirty="0"/>
              <a:t> </a:t>
            </a:r>
            <a:r>
              <a:rPr lang="en-US" sz="1800" dirty="0" err="1">
                <a:solidFill>
                  <a:srgbClr val="0070C0"/>
                </a:solidFill>
              </a:rPr>
              <a:t>hls</a:t>
            </a:r>
            <a:r>
              <a:rPr lang="en-US" sz="1800" dirty="0">
                <a:solidFill>
                  <a:srgbClr val="0070C0"/>
                </a:solidFill>
              </a:rPr>
              <a:t>::</a:t>
            </a:r>
            <a:r>
              <a:rPr lang="en-US" sz="1800" dirty="0" err="1">
                <a:solidFill>
                  <a:srgbClr val="0070C0"/>
                </a:solidFill>
              </a:rPr>
              <a:t>ip_fft</a:t>
            </a:r>
            <a:r>
              <a:rPr lang="en-US" sz="1800" dirty="0">
                <a:solidFill>
                  <a:srgbClr val="0070C0"/>
                </a:solidFill>
              </a:rPr>
              <a:t>::</a:t>
            </a:r>
            <a:r>
              <a:rPr lang="en-US" sz="1800" dirty="0" err="1">
                <a:solidFill>
                  <a:srgbClr val="0070C0"/>
                </a:solidFill>
              </a:rPr>
              <a:t>status_t</a:t>
            </a:r>
            <a:r>
              <a:rPr lang="en-US" sz="1800" dirty="0">
                <a:solidFill>
                  <a:schemeClr val="accent6">
                    <a:lumMod val="75000"/>
                  </a:schemeClr>
                </a:solidFill>
              </a:rPr>
              <a:t>&lt;</a:t>
            </a:r>
            <a:r>
              <a:rPr lang="en-US" sz="1800" dirty="0">
                <a:solidFill>
                  <a:srgbClr val="7030A0"/>
                </a:solidFill>
              </a:rPr>
              <a:t>STATIC_PARAM</a:t>
            </a:r>
            <a:r>
              <a:rPr lang="en-US" sz="1800" dirty="0">
                <a:solidFill>
                  <a:schemeClr val="accent6">
                    <a:lumMod val="75000"/>
                  </a:schemeClr>
                </a:solidFill>
              </a:rPr>
              <a:t>&gt;</a:t>
            </a:r>
          </a:p>
          <a:p>
            <a:pPr lvl="2"/>
            <a:r>
              <a:rPr lang="en-US" sz="1400" dirty="0"/>
              <a:t>Notice, this also uses the FFT parameterization struct </a:t>
            </a:r>
          </a:p>
          <a:p>
            <a:pPr lvl="1"/>
            <a:endParaRPr lang="en-US" sz="1400" dirty="0"/>
          </a:p>
        </p:txBody>
      </p:sp>
      <p:sp>
        <p:nvSpPr>
          <p:cNvPr id="10" name="Slide Number Placeholder 5">
            <a:extLst>
              <a:ext uri="{FF2B5EF4-FFF2-40B4-BE49-F238E27FC236}">
                <a16:creationId xmlns:a16="http://schemas.microsoft.com/office/drawing/2014/main" id="{470495AD-9058-490E-8706-695D33272A0C}"/>
              </a:ext>
            </a:extLst>
          </p:cNvPr>
          <p:cNvSpPr>
            <a:spLocks noGrp="1"/>
          </p:cNvSpPr>
          <p:nvPr>
            <p:ph type="sldNum" sz="quarter" idx="4"/>
          </p:nvPr>
        </p:nvSpPr>
        <p:spPr/>
        <p:txBody>
          <a:bodyPr/>
          <a:lstStyle/>
          <a:p>
            <a:pPr>
              <a:defRPr/>
            </a:pPr>
            <a:r>
              <a:rPr lang="en-US" dirty="0"/>
              <a:t>Coding Considerations 23- </a:t>
            </a:r>
            <a:fld id="{060BD193-E118-4B16-863C-C8C12C675E3E}" type="slidenum">
              <a:rPr lang="en-US" smtClean="0"/>
              <a:pPr>
                <a:defRPr/>
              </a:pPr>
              <a:t>78</a:t>
            </a:fld>
            <a:endParaRPr lang="en-US" dirty="0"/>
          </a:p>
        </p:txBody>
      </p:sp>
      <p:sp>
        <p:nvSpPr>
          <p:cNvPr id="9" name="TextBox 8">
            <a:extLst>
              <a:ext uri="{FF2B5EF4-FFF2-40B4-BE49-F238E27FC236}">
                <a16:creationId xmlns:a16="http://schemas.microsoft.com/office/drawing/2014/main" id="{903102FA-B0F3-48E0-BD3B-D6D2045255C4}"/>
              </a:ext>
            </a:extLst>
          </p:cNvPr>
          <p:cNvSpPr txBox="1"/>
          <p:nvPr/>
        </p:nvSpPr>
        <p:spPr bwMode="auto">
          <a:xfrm>
            <a:off x="902215" y="3445766"/>
            <a:ext cx="5370789" cy="1954381"/>
          </a:xfrm>
          <a:prstGeom prst="rect">
            <a:avLst/>
          </a:prstGeom>
          <a:solidFill>
            <a:srgbClr val="008CA8">
              <a:lumMod val="20000"/>
              <a:lumOff val="80000"/>
            </a:srgbClr>
          </a:solidFill>
          <a:ln w="9525">
            <a:noFill/>
            <a:miter lim="800000"/>
            <a:headEnd/>
            <a:tailEnd/>
          </a:ln>
          <a:effectLst>
            <a:outerShdw blurRad="50800" dist="38100" dir="2700000" algn="tl" rotWithShape="0">
              <a:prstClr val="black">
                <a:alpha val="40000"/>
              </a:prstClr>
            </a:outerShdw>
          </a:effectLst>
        </p:spPr>
        <p:txBody>
          <a:bodyPr vert="horz" wrap="square" lIns="0" tIns="45720" rIns="91440" bIns="45720" numCol="1" rtlCol="0" anchor="t" anchorCtr="0" compatLnSpc="1">
            <a:prstTxWarp prst="textNoShape">
              <a:avLst/>
            </a:prstTxWarp>
            <a:spAutoFit/>
          </a:bodyPr>
          <a:lstStyle>
            <a:defPPr>
              <a:defRPr lang="en-US"/>
            </a:defPPr>
            <a:lvl1pPr>
              <a:defRPr sz="1100"/>
            </a:lvl1pPr>
          </a:lstStyle>
          <a:p>
            <a:pPr defTabSz="914400" fontAlgn="base">
              <a:spcBef>
                <a:spcPct val="0"/>
              </a:spcBef>
              <a:spcAft>
                <a:spcPct val="0"/>
              </a:spcAft>
              <a:defRPr/>
            </a:pPr>
            <a:r>
              <a:rPr lang="en-US" kern="0" dirty="0">
                <a:solidFill>
                  <a:srgbClr val="000000"/>
                </a:solidFill>
              </a:rPr>
              <a:t>#include "</a:t>
            </a:r>
            <a:r>
              <a:rPr lang="en-US" kern="0" dirty="0" err="1">
                <a:solidFill>
                  <a:srgbClr val="000000"/>
                </a:solidFill>
              </a:rPr>
              <a:t>hls_fft.h</a:t>
            </a:r>
            <a:r>
              <a:rPr lang="en-US" kern="0" dirty="0">
                <a:solidFill>
                  <a:srgbClr val="000000"/>
                </a:solidFill>
              </a:rPr>
              <a:t>“</a:t>
            </a:r>
          </a:p>
          <a:p>
            <a:pPr defTabSz="914400" fontAlgn="base">
              <a:spcBef>
                <a:spcPct val="0"/>
              </a:spcBef>
              <a:spcAft>
                <a:spcPct val="0"/>
              </a:spcAft>
              <a:defRPr/>
            </a:pPr>
            <a:endParaRPr lang="en-US" kern="0" dirty="0">
              <a:solidFill>
                <a:srgbClr val="000000"/>
              </a:solidFill>
            </a:endParaRPr>
          </a:p>
          <a:p>
            <a:pPr defTabSz="914400" fontAlgn="base">
              <a:spcBef>
                <a:spcPct val="0"/>
              </a:spcBef>
              <a:spcAft>
                <a:spcPct val="0"/>
              </a:spcAft>
              <a:defRPr/>
            </a:pPr>
            <a:r>
              <a:rPr lang="en-US" kern="0" dirty="0">
                <a:solidFill>
                  <a:srgbClr val="000000"/>
                </a:solidFill>
              </a:rPr>
              <a:t>struct </a:t>
            </a:r>
            <a:r>
              <a:rPr lang="en-US" b="1" kern="0" dirty="0">
                <a:solidFill>
                  <a:srgbClr val="7030A0"/>
                </a:solidFill>
              </a:rPr>
              <a:t>param1</a:t>
            </a:r>
            <a:r>
              <a:rPr lang="en-US" kern="0" dirty="0">
                <a:solidFill>
                  <a:srgbClr val="7030A0"/>
                </a:solidFill>
              </a:rPr>
              <a:t> </a:t>
            </a:r>
            <a:r>
              <a:rPr lang="en-US" kern="0" dirty="0">
                <a:solidFill>
                  <a:srgbClr val="000000"/>
                </a:solidFill>
              </a:rPr>
              <a:t>: </a:t>
            </a:r>
            <a:r>
              <a:rPr lang="en-US" kern="0" dirty="0" err="1">
                <a:solidFill>
                  <a:srgbClr val="8B8D09">
                    <a:lumMod val="75000"/>
                  </a:srgbClr>
                </a:solidFill>
              </a:rPr>
              <a:t>hls</a:t>
            </a:r>
            <a:r>
              <a:rPr lang="en-US" kern="0" dirty="0">
                <a:solidFill>
                  <a:srgbClr val="8B8D09">
                    <a:lumMod val="75000"/>
                  </a:srgbClr>
                </a:solidFill>
              </a:rPr>
              <a:t>::</a:t>
            </a:r>
            <a:r>
              <a:rPr lang="en-US" kern="0" dirty="0" err="1">
                <a:solidFill>
                  <a:srgbClr val="8B8D09">
                    <a:lumMod val="75000"/>
                  </a:srgbClr>
                </a:solidFill>
              </a:rPr>
              <a:t>ip_fft</a:t>
            </a:r>
            <a:r>
              <a:rPr lang="en-US" kern="0" dirty="0">
                <a:solidFill>
                  <a:srgbClr val="8B8D09">
                    <a:lumMod val="75000"/>
                  </a:srgbClr>
                </a:solidFill>
              </a:rPr>
              <a:t>::</a:t>
            </a:r>
            <a:r>
              <a:rPr lang="en-US" kern="0" dirty="0" err="1">
                <a:solidFill>
                  <a:srgbClr val="8B8D09">
                    <a:lumMod val="75000"/>
                  </a:srgbClr>
                </a:solidFill>
              </a:rPr>
              <a:t>params_t</a:t>
            </a:r>
            <a:r>
              <a:rPr lang="en-US" kern="0" dirty="0">
                <a:solidFill>
                  <a:srgbClr val="8B8D09">
                    <a:lumMod val="75000"/>
                  </a:srgbClr>
                </a:solidFill>
              </a:rPr>
              <a:t> </a:t>
            </a:r>
            <a:r>
              <a:rPr lang="en-US" kern="0" dirty="0">
                <a:solidFill>
                  <a:srgbClr val="000000"/>
                </a:solidFill>
              </a:rPr>
              <a:t>{</a:t>
            </a:r>
          </a:p>
          <a:p>
            <a:pPr defTabSz="914400" fontAlgn="base">
              <a:spcBef>
                <a:spcPct val="0"/>
              </a:spcBef>
              <a:spcAft>
                <a:spcPct val="0"/>
              </a:spcAft>
              <a:defRPr/>
            </a:pPr>
            <a:r>
              <a:rPr lang="en-US" kern="0" dirty="0">
                <a:solidFill>
                  <a:srgbClr val="000000"/>
                </a:solidFill>
              </a:rPr>
              <a:t>    static </a:t>
            </a:r>
            <a:r>
              <a:rPr lang="en-US" kern="0" dirty="0" err="1">
                <a:solidFill>
                  <a:srgbClr val="000000"/>
                </a:solidFill>
              </a:rPr>
              <a:t>const</a:t>
            </a:r>
            <a:r>
              <a:rPr lang="en-US" kern="0" dirty="0">
                <a:solidFill>
                  <a:srgbClr val="000000"/>
                </a:solidFill>
              </a:rPr>
              <a:t> unsigned </a:t>
            </a:r>
            <a:r>
              <a:rPr lang="en-US" kern="0" dirty="0" err="1">
                <a:solidFill>
                  <a:srgbClr val="000000"/>
                </a:solidFill>
              </a:rPr>
              <a:t>ordering_opt</a:t>
            </a:r>
            <a:r>
              <a:rPr lang="en-US" kern="0" dirty="0">
                <a:solidFill>
                  <a:srgbClr val="000000"/>
                </a:solidFill>
              </a:rPr>
              <a:t> = </a:t>
            </a:r>
            <a:r>
              <a:rPr lang="en-US" kern="0" dirty="0" err="1">
                <a:solidFill>
                  <a:srgbClr val="000000"/>
                </a:solidFill>
              </a:rPr>
              <a:t>hls</a:t>
            </a:r>
            <a:r>
              <a:rPr lang="en-US" kern="0" dirty="0">
                <a:solidFill>
                  <a:srgbClr val="000000"/>
                </a:solidFill>
              </a:rPr>
              <a:t>::</a:t>
            </a:r>
            <a:r>
              <a:rPr lang="en-US" kern="0" dirty="0" err="1">
                <a:solidFill>
                  <a:srgbClr val="000000"/>
                </a:solidFill>
              </a:rPr>
              <a:t>ip_fft</a:t>
            </a:r>
            <a:r>
              <a:rPr lang="en-US" kern="0" dirty="0">
                <a:solidFill>
                  <a:srgbClr val="000000"/>
                </a:solidFill>
              </a:rPr>
              <a:t>::</a:t>
            </a:r>
            <a:r>
              <a:rPr lang="en-US" kern="0" dirty="0" err="1">
                <a:solidFill>
                  <a:srgbClr val="000000"/>
                </a:solidFill>
              </a:rPr>
              <a:t>natural_order</a:t>
            </a:r>
            <a:r>
              <a:rPr lang="en-US" kern="0" dirty="0">
                <a:solidFill>
                  <a:srgbClr val="000000"/>
                </a:solidFill>
              </a:rPr>
              <a:t>;</a:t>
            </a:r>
          </a:p>
          <a:p>
            <a:pPr defTabSz="914400" fontAlgn="base">
              <a:spcBef>
                <a:spcPct val="0"/>
              </a:spcBef>
              <a:spcAft>
                <a:spcPct val="0"/>
              </a:spcAft>
              <a:defRPr/>
            </a:pPr>
            <a:r>
              <a:rPr lang="en-US" kern="0" dirty="0">
                <a:solidFill>
                  <a:srgbClr val="000000"/>
                </a:solidFill>
              </a:rPr>
              <a:t>    static </a:t>
            </a:r>
            <a:r>
              <a:rPr lang="en-US" kern="0" dirty="0" err="1">
                <a:solidFill>
                  <a:srgbClr val="000000"/>
                </a:solidFill>
              </a:rPr>
              <a:t>const</a:t>
            </a:r>
            <a:r>
              <a:rPr lang="en-US" kern="0" dirty="0">
                <a:solidFill>
                  <a:srgbClr val="000000"/>
                </a:solidFill>
              </a:rPr>
              <a:t> unsigned </a:t>
            </a:r>
            <a:r>
              <a:rPr lang="en-US" kern="0" dirty="0" err="1">
                <a:solidFill>
                  <a:srgbClr val="000000"/>
                </a:solidFill>
              </a:rPr>
              <a:t>config_width</a:t>
            </a:r>
            <a:r>
              <a:rPr lang="en-US" kern="0" dirty="0">
                <a:solidFill>
                  <a:srgbClr val="000000"/>
                </a:solidFill>
              </a:rPr>
              <a:t> = FFT_CONFIG_WIDTH;</a:t>
            </a:r>
          </a:p>
          <a:p>
            <a:pPr defTabSz="914400" fontAlgn="base">
              <a:spcBef>
                <a:spcPct val="0"/>
              </a:spcBef>
              <a:spcAft>
                <a:spcPct val="0"/>
              </a:spcAft>
              <a:defRPr/>
            </a:pPr>
            <a:r>
              <a:rPr lang="en-US" kern="0" dirty="0">
                <a:solidFill>
                  <a:srgbClr val="000000"/>
                </a:solidFill>
              </a:rPr>
              <a:t>    static </a:t>
            </a:r>
            <a:r>
              <a:rPr lang="en-US" kern="0" dirty="0" err="1">
                <a:solidFill>
                  <a:srgbClr val="000000"/>
                </a:solidFill>
              </a:rPr>
              <a:t>const</a:t>
            </a:r>
            <a:r>
              <a:rPr lang="en-US" kern="0" dirty="0">
                <a:solidFill>
                  <a:srgbClr val="000000"/>
                </a:solidFill>
              </a:rPr>
              <a:t> unsigned </a:t>
            </a:r>
            <a:r>
              <a:rPr lang="en-US" kern="0" dirty="0" err="1">
                <a:solidFill>
                  <a:srgbClr val="000000"/>
                </a:solidFill>
              </a:rPr>
              <a:t>status_width</a:t>
            </a:r>
            <a:r>
              <a:rPr lang="en-US" kern="0" dirty="0">
                <a:solidFill>
                  <a:srgbClr val="000000"/>
                </a:solidFill>
              </a:rPr>
              <a:t> = FFT_STATUS_WIDTH;</a:t>
            </a:r>
          </a:p>
          <a:p>
            <a:pPr defTabSz="914400" fontAlgn="base">
              <a:spcBef>
                <a:spcPct val="0"/>
              </a:spcBef>
              <a:spcAft>
                <a:spcPct val="0"/>
              </a:spcAft>
              <a:defRPr/>
            </a:pPr>
            <a:r>
              <a:rPr lang="en-US" kern="0" dirty="0">
                <a:solidFill>
                  <a:srgbClr val="000000"/>
                </a:solidFill>
              </a:rPr>
              <a:t>};</a:t>
            </a:r>
          </a:p>
          <a:p>
            <a:pPr defTabSz="914400" fontAlgn="base">
              <a:spcBef>
                <a:spcPct val="0"/>
              </a:spcBef>
              <a:spcAft>
                <a:spcPct val="0"/>
              </a:spcAft>
              <a:defRPr/>
            </a:pPr>
            <a:endParaRPr lang="en-US" kern="0" dirty="0">
              <a:solidFill>
                <a:srgbClr val="000000"/>
              </a:solidFill>
            </a:endParaRPr>
          </a:p>
          <a:p>
            <a:pPr defTabSz="914400" fontAlgn="base">
              <a:spcBef>
                <a:spcPct val="0"/>
              </a:spcBef>
              <a:spcAft>
                <a:spcPct val="0"/>
              </a:spcAft>
              <a:defRPr/>
            </a:pPr>
            <a:r>
              <a:rPr lang="en-US" kern="0" dirty="0" err="1">
                <a:solidFill>
                  <a:srgbClr val="000000"/>
                </a:solidFill>
              </a:rPr>
              <a:t>typedef</a:t>
            </a:r>
            <a:r>
              <a:rPr lang="en-US" kern="0" dirty="0">
                <a:solidFill>
                  <a:srgbClr val="000000"/>
                </a:solidFill>
              </a:rPr>
              <a:t> </a:t>
            </a:r>
            <a:r>
              <a:rPr lang="en-US" b="1" kern="0" dirty="0" err="1">
                <a:solidFill>
                  <a:srgbClr val="0070C0"/>
                </a:solidFill>
              </a:rPr>
              <a:t>hls</a:t>
            </a:r>
            <a:r>
              <a:rPr lang="en-US" b="1" kern="0" dirty="0">
                <a:solidFill>
                  <a:srgbClr val="0070C0"/>
                </a:solidFill>
              </a:rPr>
              <a:t>::</a:t>
            </a:r>
            <a:r>
              <a:rPr lang="en-US" b="1" kern="0" dirty="0" err="1">
                <a:solidFill>
                  <a:srgbClr val="0070C0"/>
                </a:solidFill>
              </a:rPr>
              <a:t>ip_fft</a:t>
            </a:r>
            <a:r>
              <a:rPr lang="en-US" b="1" kern="0" dirty="0">
                <a:solidFill>
                  <a:srgbClr val="0070C0"/>
                </a:solidFill>
              </a:rPr>
              <a:t>::</a:t>
            </a:r>
            <a:r>
              <a:rPr lang="en-US" b="1" kern="0" dirty="0" err="1">
                <a:solidFill>
                  <a:srgbClr val="0070C0"/>
                </a:solidFill>
              </a:rPr>
              <a:t>status_t</a:t>
            </a:r>
            <a:r>
              <a:rPr lang="en-US" kern="0" dirty="0">
                <a:solidFill>
                  <a:srgbClr val="000000"/>
                </a:solidFill>
              </a:rPr>
              <a:t>&lt;</a:t>
            </a:r>
            <a:r>
              <a:rPr lang="en-US" b="1" kern="0" dirty="0">
                <a:solidFill>
                  <a:srgbClr val="7030A0"/>
                </a:solidFill>
              </a:rPr>
              <a:t>param1</a:t>
            </a:r>
            <a:r>
              <a:rPr lang="en-US" kern="0" dirty="0">
                <a:solidFill>
                  <a:srgbClr val="000000"/>
                </a:solidFill>
              </a:rPr>
              <a:t>&gt; </a:t>
            </a:r>
            <a:r>
              <a:rPr lang="en-US" kern="0" dirty="0" err="1">
                <a:solidFill>
                  <a:srgbClr val="000000"/>
                </a:solidFill>
              </a:rPr>
              <a:t>status_t</a:t>
            </a:r>
            <a:r>
              <a:rPr lang="en-US" kern="0" dirty="0">
                <a:solidFill>
                  <a:srgbClr val="000000"/>
                </a:solidFill>
              </a:rPr>
              <a:t>;</a:t>
            </a:r>
          </a:p>
          <a:p>
            <a:pPr defTabSz="914400" fontAlgn="base">
              <a:spcBef>
                <a:spcPct val="0"/>
              </a:spcBef>
              <a:spcAft>
                <a:spcPct val="0"/>
              </a:spcAft>
              <a:defRPr/>
            </a:pPr>
            <a:r>
              <a:rPr lang="en-US" kern="0" dirty="0" err="1">
                <a:solidFill>
                  <a:srgbClr val="000000"/>
                </a:solidFill>
              </a:rPr>
              <a:t>status_t</a:t>
            </a:r>
            <a:r>
              <a:rPr lang="en-US" kern="0" dirty="0">
                <a:solidFill>
                  <a:srgbClr val="000000"/>
                </a:solidFill>
              </a:rPr>
              <a:t> </a:t>
            </a:r>
            <a:r>
              <a:rPr lang="en-US" b="1" kern="0" dirty="0">
                <a:solidFill>
                  <a:srgbClr val="000000"/>
                </a:solidFill>
              </a:rPr>
              <a:t>fft_status1</a:t>
            </a:r>
            <a:r>
              <a:rPr lang="en-US" kern="0" dirty="0">
                <a:solidFill>
                  <a:srgbClr val="000000"/>
                </a:solidFill>
              </a:rPr>
              <a:t>;</a:t>
            </a:r>
          </a:p>
          <a:p>
            <a:pPr defTabSz="914400" fontAlgn="base">
              <a:spcBef>
                <a:spcPct val="0"/>
              </a:spcBef>
              <a:spcAft>
                <a:spcPct val="0"/>
              </a:spcAft>
              <a:defRPr/>
            </a:pPr>
            <a:endParaRPr lang="en-US" kern="0" dirty="0">
              <a:solidFill>
                <a:srgbClr val="000000"/>
              </a:solidFill>
            </a:endParaRPr>
          </a:p>
        </p:txBody>
      </p:sp>
      <p:sp>
        <p:nvSpPr>
          <p:cNvPr id="11" name="TextBox 10">
            <a:extLst>
              <a:ext uri="{FF2B5EF4-FFF2-40B4-BE49-F238E27FC236}">
                <a16:creationId xmlns:a16="http://schemas.microsoft.com/office/drawing/2014/main" id="{9CF4AF0F-B78E-4984-A569-BCEC243E9789}"/>
              </a:ext>
            </a:extLst>
          </p:cNvPr>
          <p:cNvSpPr txBox="1"/>
          <p:nvPr/>
        </p:nvSpPr>
        <p:spPr bwMode="auto">
          <a:xfrm>
            <a:off x="6469889" y="3453006"/>
            <a:ext cx="3683060" cy="1615827"/>
          </a:xfrm>
          <a:prstGeom prst="rect">
            <a:avLst/>
          </a:prstGeom>
          <a:solidFill>
            <a:srgbClr val="008CA8">
              <a:lumMod val="20000"/>
              <a:lumOff val="80000"/>
            </a:srgbClr>
          </a:solidFill>
          <a:ln w="9525">
            <a:noFill/>
            <a:miter lim="800000"/>
            <a:headEnd/>
            <a:tailEnd/>
          </a:ln>
          <a:effectLst>
            <a:outerShdw blurRad="50800" dist="38100" dir="2700000" algn="tl" rotWithShape="0">
              <a:prstClr val="black">
                <a:alpha val="40000"/>
              </a:prstClr>
            </a:outerShdw>
          </a:effectLst>
        </p:spPr>
        <p:txBody>
          <a:bodyPr vert="horz" wrap="none" lIns="0" tIns="45720" rIns="91440" bIns="45720" numCol="1" rtlCol="0" anchor="t" anchorCtr="0" compatLnSpc="1">
            <a:prstTxWarp prst="textNoShape">
              <a:avLst/>
            </a:prstTxWarp>
            <a:spAutoFit/>
          </a:bodyPr>
          <a:lstStyle/>
          <a:p>
            <a:pPr defTabSz="914400" fontAlgn="base">
              <a:spcBef>
                <a:spcPct val="0"/>
              </a:spcBef>
              <a:spcAft>
                <a:spcPct val="0"/>
              </a:spcAft>
              <a:defRPr/>
            </a:pPr>
            <a:r>
              <a:rPr lang="en-US" sz="1100" kern="0" dirty="0">
                <a:solidFill>
                  <a:srgbClr val="000000"/>
                </a:solidFill>
              </a:rPr>
              <a:t> // FFT IP</a:t>
            </a:r>
          </a:p>
          <a:p>
            <a:pPr defTabSz="914400" fontAlgn="base">
              <a:spcBef>
                <a:spcPct val="0"/>
              </a:spcBef>
              <a:spcAft>
                <a:spcPct val="0"/>
              </a:spcAft>
              <a:defRPr/>
            </a:pPr>
            <a:r>
              <a:rPr lang="en-US" sz="1100" kern="0" dirty="0">
                <a:solidFill>
                  <a:srgbClr val="000000"/>
                </a:solidFill>
              </a:rPr>
              <a:t>    </a:t>
            </a:r>
            <a:r>
              <a:rPr lang="en-US" sz="1100" kern="0" dirty="0" err="1">
                <a:solidFill>
                  <a:srgbClr val="000000"/>
                </a:solidFill>
              </a:rPr>
              <a:t>hls</a:t>
            </a:r>
            <a:r>
              <a:rPr lang="en-US" sz="1100" kern="0" dirty="0">
                <a:solidFill>
                  <a:srgbClr val="000000"/>
                </a:solidFill>
              </a:rPr>
              <a:t>::</a:t>
            </a:r>
            <a:r>
              <a:rPr lang="en-US" sz="1100" kern="0" dirty="0" err="1">
                <a:solidFill>
                  <a:srgbClr val="000000"/>
                </a:solidFill>
              </a:rPr>
              <a:t>fft</a:t>
            </a:r>
            <a:r>
              <a:rPr lang="en-US" sz="1100" kern="0" dirty="0">
                <a:solidFill>
                  <a:srgbClr val="000000"/>
                </a:solidFill>
              </a:rPr>
              <a:t>&lt;</a:t>
            </a:r>
            <a:r>
              <a:rPr lang="en-US" sz="1100" b="1" kern="0" dirty="0">
                <a:solidFill>
                  <a:srgbClr val="7030A0"/>
                </a:solidFill>
              </a:rPr>
              <a:t>param1</a:t>
            </a:r>
            <a:r>
              <a:rPr lang="en-US" sz="1100" kern="0" dirty="0">
                <a:solidFill>
                  <a:srgbClr val="000000"/>
                </a:solidFill>
              </a:rPr>
              <a:t>&gt; (xn1, xk1, &amp;</a:t>
            </a:r>
            <a:r>
              <a:rPr lang="en-US" sz="1100" b="1" kern="0" dirty="0">
                <a:solidFill>
                  <a:srgbClr val="000000"/>
                </a:solidFill>
              </a:rPr>
              <a:t>fft_status1</a:t>
            </a:r>
            <a:r>
              <a:rPr lang="en-US" sz="1100" kern="0" dirty="0">
                <a:solidFill>
                  <a:srgbClr val="000000"/>
                </a:solidFill>
              </a:rPr>
              <a:t>, &amp;fft_config1);</a:t>
            </a:r>
          </a:p>
          <a:p>
            <a:pPr defTabSz="914400" fontAlgn="base">
              <a:spcBef>
                <a:spcPct val="0"/>
              </a:spcBef>
              <a:spcAft>
                <a:spcPct val="0"/>
              </a:spcAft>
              <a:defRPr/>
            </a:pPr>
            <a:endParaRPr lang="en-US" sz="1100" kern="0" dirty="0">
              <a:solidFill>
                <a:srgbClr val="000000"/>
              </a:solidFill>
            </a:endParaRPr>
          </a:p>
          <a:p>
            <a:pPr defTabSz="914400" fontAlgn="base">
              <a:spcBef>
                <a:spcPct val="0"/>
              </a:spcBef>
              <a:spcAft>
                <a:spcPct val="0"/>
              </a:spcAft>
              <a:defRPr/>
            </a:pPr>
            <a:r>
              <a:rPr lang="en-US" sz="1100" kern="0" dirty="0">
                <a:solidFill>
                  <a:srgbClr val="000000"/>
                </a:solidFill>
              </a:rPr>
              <a:t>// Check the overflow flag</a:t>
            </a:r>
          </a:p>
          <a:p>
            <a:pPr defTabSz="914400" fontAlgn="base">
              <a:spcBef>
                <a:spcPct val="0"/>
              </a:spcBef>
              <a:spcAft>
                <a:spcPct val="0"/>
              </a:spcAft>
              <a:defRPr/>
            </a:pPr>
            <a:r>
              <a:rPr lang="en-US" sz="1100" kern="0" dirty="0">
                <a:solidFill>
                  <a:srgbClr val="000000"/>
                </a:solidFill>
              </a:rPr>
              <a:t>    </a:t>
            </a:r>
            <a:r>
              <a:rPr lang="en-US" sz="1100" kern="0" dirty="0" err="1">
                <a:solidFill>
                  <a:srgbClr val="000000"/>
                </a:solidFill>
              </a:rPr>
              <a:t>bool</a:t>
            </a:r>
            <a:r>
              <a:rPr lang="en-US" sz="1100" kern="0" dirty="0">
                <a:solidFill>
                  <a:srgbClr val="000000"/>
                </a:solidFill>
              </a:rPr>
              <a:t> *</a:t>
            </a:r>
            <a:r>
              <a:rPr lang="en-US" sz="1100" kern="0" dirty="0" err="1">
                <a:solidFill>
                  <a:srgbClr val="000000"/>
                </a:solidFill>
              </a:rPr>
              <a:t>ovflo</a:t>
            </a:r>
            <a:r>
              <a:rPr lang="en-US" sz="1100" kern="0" dirty="0">
                <a:solidFill>
                  <a:srgbClr val="000000"/>
                </a:solidFill>
              </a:rPr>
              <a:t> = </a:t>
            </a:r>
            <a:r>
              <a:rPr lang="en-US" sz="1100" b="1" kern="0" dirty="0">
                <a:solidFill>
                  <a:srgbClr val="000000"/>
                </a:solidFill>
              </a:rPr>
              <a:t>fft_status1-</a:t>
            </a:r>
            <a:r>
              <a:rPr lang="en-US" sz="1100" kern="0" dirty="0">
                <a:solidFill>
                  <a:srgbClr val="000000"/>
                </a:solidFill>
              </a:rPr>
              <a:t>&gt;</a:t>
            </a:r>
            <a:r>
              <a:rPr lang="en-US" sz="1100" kern="0" dirty="0" err="1">
                <a:solidFill>
                  <a:srgbClr val="000000"/>
                </a:solidFill>
              </a:rPr>
              <a:t>getOvflo</a:t>
            </a:r>
            <a:r>
              <a:rPr lang="en-US" sz="1100" kern="0" dirty="0">
                <a:solidFill>
                  <a:srgbClr val="000000"/>
                </a:solidFill>
              </a:rPr>
              <a:t>();</a:t>
            </a:r>
          </a:p>
          <a:p>
            <a:pPr defTabSz="914400" fontAlgn="base">
              <a:spcBef>
                <a:spcPct val="0"/>
              </a:spcBef>
              <a:spcAft>
                <a:spcPct val="0"/>
              </a:spcAft>
              <a:defRPr/>
            </a:pPr>
            <a:r>
              <a:rPr lang="en-US" sz="1100" kern="0" dirty="0">
                <a:solidFill>
                  <a:srgbClr val="000000"/>
                </a:solidFill>
              </a:rPr>
              <a:t> </a:t>
            </a:r>
          </a:p>
          <a:p>
            <a:pPr defTabSz="914400" fontAlgn="base">
              <a:spcBef>
                <a:spcPct val="0"/>
              </a:spcBef>
              <a:spcAft>
                <a:spcPct val="0"/>
              </a:spcAft>
              <a:defRPr/>
            </a:pPr>
            <a:r>
              <a:rPr lang="en-US" sz="1100" kern="0" dirty="0">
                <a:solidFill>
                  <a:srgbClr val="000000"/>
                </a:solidFill>
              </a:rPr>
              <a:t>// Obtain the block exponent</a:t>
            </a:r>
          </a:p>
          <a:p>
            <a:pPr defTabSz="914400" fontAlgn="base">
              <a:spcBef>
                <a:spcPct val="0"/>
              </a:spcBef>
              <a:spcAft>
                <a:spcPct val="0"/>
              </a:spcAft>
              <a:defRPr/>
            </a:pPr>
            <a:r>
              <a:rPr lang="en-US" sz="1100" kern="0" dirty="0">
                <a:solidFill>
                  <a:srgbClr val="000000"/>
                </a:solidFill>
              </a:rPr>
              <a:t>    unsigned </a:t>
            </a:r>
            <a:r>
              <a:rPr lang="en-US" sz="1100" kern="0" dirty="0" err="1">
                <a:solidFill>
                  <a:srgbClr val="000000"/>
                </a:solidFill>
              </a:rPr>
              <a:t>int</a:t>
            </a:r>
            <a:r>
              <a:rPr lang="en-US" sz="1100" kern="0" dirty="0">
                <a:solidFill>
                  <a:srgbClr val="000000"/>
                </a:solidFill>
              </a:rPr>
              <a:t> *</a:t>
            </a:r>
            <a:r>
              <a:rPr lang="en-US" sz="1100" kern="0" dirty="0" err="1">
                <a:solidFill>
                  <a:srgbClr val="000000"/>
                </a:solidFill>
              </a:rPr>
              <a:t>blk_exp</a:t>
            </a:r>
            <a:r>
              <a:rPr lang="en-US" sz="1100" kern="0" dirty="0">
                <a:solidFill>
                  <a:srgbClr val="000000"/>
                </a:solidFill>
              </a:rPr>
              <a:t> = </a:t>
            </a:r>
            <a:r>
              <a:rPr lang="en-US" sz="1100" b="1" kern="0" dirty="0">
                <a:solidFill>
                  <a:srgbClr val="000000"/>
                </a:solidFill>
              </a:rPr>
              <a:t>fft_status1-</a:t>
            </a:r>
            <a:r>
              <a:rPr lang="en-US" sz="1100" kern="0" dirty="0">
                <a:solidFill>
                  <a:srgbClr val="000000"/>
                </a:solidFill>
              </a:rPr>
              <a:t>&gt; </a:t>
            </a:r>
            <a:r>
              <a:rPr lang="en-US" sz="1100" kern="0" dirty="0" err="1">
                <a:solidFill>
                  <a:srgbClr val="000000"/>
                </a:solidFill>
              </a:rPr>
              <a:t>getBlkExp</a:t>
            </a:r>
            <a:r>
              <a:rPr lang="en-US" sz="1100" kern="0" dirty="0">
                <a:solidFill>
                  <a:srgbClr val="000000"/>
                </a:solidFill>
              </a:rPr>
              <a:t>();</a:t>
            </a:r>
          </a:p>
          <a:p>
            <a:pPr defTabSz="914400" fontAlgn="base">
              <a:spcBef>
                <a:spcPct val="0"/>
              </a:spcBef>
              <a:spcAft>
                <a:spcPct val="0"/>
              </a:spcAft>
              <a:defRPr/>
            </a:pPr>
            <a:endParaRPr lang="en-US" sz="1100" kern="0" dirty="0">
              <a:solidFill>
                <a:srgbClr val="000000"/>
              </a:solidFill>
            </a:endParaRPr>
          </a:p>
        </p:txBody>
      </p:sp>
      <p:sp>
        <p:nvSpPr>
          <p:cNvPr id="12" name="TextBox 11">
            <a:extLst>
              <a:ext uri="{FF2B5EF4-FFF2-40B4-BE49-F238E27FC236}">
                <a16:creationId xmlns:a16="http://schemas.microsoft.com/office/drawing/2014/main" id="{B841CA17-B20E-48F5-9AA2-BAA03D7E1BCA}"/>
              </a:ext>
            </a:extLst>
          </p:cNvPr>
          <p:cNvSpPr txBox="1"/>
          <p:nvPr/>
        </p:nvSpPr>
        <p:spPr bwMode="auto">
          <a:xfrm>
            <a:off x="7191763" y="1830693"/>
            <a:ext cx="4852668" cy="1277273"/>
          </a:xfrm>
          <a:prstGeom prst="rect">
            <a:avLst/>
          </a:prstGeom>
          <a:solidFill>
            <a:srgbClr val="008CA8">
              <a:lumMod val="20000"/>
              <a:lumOff val="80000"/>
            </a:srgbClr>
          </a:solidFill>
          <a:ln w="9525">
            <a:noFill/>
            <a:miter lim="800000"/>
            <a:headEnd/>
            <a:tailEnd/>
          </a:ln>
          <a:effectLst>
            <a:outerShdw blurRad="50800" dist="38100" dir="2700000" algn="tl" rotWithShape="0">
              <a:prstClr val="black">
                <a:alpha val="40000"/>
              </a:prstClr>
            </a:outerShdw>
          </a:effectLst>
        </p:spPr>
        <p:txBody>
          <a:bodyPr vert="horz" wrap="square" lIns="0" tIns="45720" rIns="91440" bIns="45720" numCol="1" rtlCol="0" anchor="t" anchorCtr="0" compatLnSpc="1">
            <a:prstTxWarp prst="textNoShape">
              <a:avLst/>
            </a:prstTxWarp>
            <a:spAutoFit/>
          </a:bodyPr>
          <a:lstStyle>
            <a:defPPr>
              <a:defRPr lang="en-US"/>
            </a:defPPr>
            <a:lvl1pPr>
              <a:defRPr sz="1100"/>
            </a:lvl1pPr>
          </a:lstStyle>
          <a:p>
            <a:pPr defTabSz="914400" fontAlgn="base">
              <a:spcBef>
                <a:spcPct val="0"/>
              </a:spcBef>
              <a:spcAft>
                <a:spcPct val="0"/>
              </a:spcAft>
              <a:defRPr/>
            </a:pPr>
            <a:r>
              <a:rPr lang="en-US" b="1" kern="0" dirty="0">
                <a:solidFill>
                  <a:srgbClr val="3F3F3F"/>
                </a:solidFill>
              </a:rPr>
              <a:t> </a:t>
            </a:r>
            <a:r>
              <a:rPr lang="en-US" kern="0" dirty="0">
                <a:solidFill>
                  <a:srgbClr val="000000"/>
                </a:solidFill>
              </a:rPr>
              <a:t>#include "</a:t>
            </a:r>
            <a:r>
              <a:rPr lang="en-US" kern="0" dirty="0" err="1">
                <a:solidFill>
                  <a:srgbClr val="000000"/>
                </a:solidFill>
              </a:rPr>
              <a:t>hls_fft.h</a:t>
            </a:r>
            <a:r>
              <a:rPr lang="en-US" kern="0" dirty="0">
                <a:solidFill>
                  <a:srgbClr val="000000"/>
                </a:solidFill>
              </a:rPr>
              <a:t>“</a:t>
            </a:r>
          </a:p>
          <a:p>
            <a:pPr defTabSz="914400" fontAlgn="base">
              <a:spcBef>
                <a:spcPct val="0"/>
              </a:spcBef>
              <a:spcAft>
                <a:spcPct val="0"/>
              </a:spcAft>
              <a:defRPr/>
            </a:pPr>
            <a:endParaRPr lang="en-US" kern="0" dirty="0">
              <a:solidFill>
                <a:srgbClr val="000000"/>
              </a:solidFill>
            </a:endParaRPr>
          </a:p>
          <a:p>
            <a:pPr defTabSz="914400" fontAlgn="base">
              <a:spcBef>
                <a:spcPct val="0"/>
              </a:spcBef>
              <a:spcAft>
                <a:spcPct val="0"/>
              </a:spcAft>
              <a:defRPr/>
            </a:pPr>
            <a:r>
              <a:rPr lang="en-US" kern="0" dirty="0" err="1">
                <a:solidFill>
                  <a:srgbClr val="000000"/>
                </a:solidFill>
              </a:rPr>
              <a:t>hls</a:t>
            </a:r>
            <a:r>
              <a:rPr lang="en-US" kern="0" dirty="0">
                <a:solidFill>
                  <a:srgbClr val="000000"/>
                </a:solidFill>
              </a:rPr>
              <a:t>::</a:t>
            </a:r>
            <a:r>
              <a:rPr lang="en-US" kern="0" dirty="0" err="1">
                <a:solidFill>
                  <a:srgbClr val="000000"/>
                </a:solidFill>
              </a:rPr>
              <a:t>fft</a:t>
            </a:r>
            <a:r>
              <a:rPr lang="en-US" kern="0" dirty="0">
                <a:solidFill>
                  <a:srgbClr val="000000"/>
                </a:solidFill>
              </a:rPr>
              <a:t>&lt;STATIC_PARAM&gt; (                           	// Static Parameterization Struct</a:t>
            </a:r>
          </a:p>
          <a:p>
            <a:pPr defTabSz="914400" fontAlgn="base">
              <a:spcBef>
                <a:spcPct val="0"/>
              </a:spcBef>
              <a:spcAft>
                <a:spcPct val="0"/>
              </a:spcAft>
              <a:defRPr/>
            </a:pPr>
            <a:r>
              <a:rPr lang="en-US" kern="0" dirty="0">
                <a:solidFill>
                  <a:srgbClr val="000000"/>
                </a:solidFill>
              </a:rPr>
              <a:t>  INPUT_DATA_ARRAY,            	// Input data fixed or float</a:t>
            </a:r>
          </a:p>
          <a:p>
            <a:pPr defTabSz="914400" fontAlgn="base">
              <a:spcBef>
                <a:spcPct val="0"/>
              </a:spcBef>
              <a:spcAft>
                <a:spcPct val="0"/>
              </a:spcAft>
              <a:defRPr/>
            </a:pPr>
            <a:r>
              <a:rPr lang="en-US" kern="0" dirty="0">
                <a:solidFill>
                  <a:srgbClr val="000000"/>
                </a:solidFill>
              </a:rPr>
              <a:t>  OUTPUT_DATA_ARRAY,        	// Output data fixed or float</a:t>
            </a:r>
          </a:p>
          <a:p>
            <a:pPr defTabSz="914400" fontAlgn="base">
              <a:spcBef>
                <a:spcPct val="0"/>
              </a:spcBef>
              <a:spcAft>
                <a:spcPct val="0"/>
              </a:spcAft>
              <a:defRPr/>
            </a:pPr>
            <a:r>
              <a:rPr lang="en-US" b="1" kern="0" dirty="0">
                <a:solidFill>
                  <a:srgbClr val="000000"/>
                </a:solidFill>
              </a:rPr>
              <a:t>  OUTPUT_STATUS,                 	// Output Status</a:t>
            </a:r>
          </a:p>
          <a:p>
            <a:pPr defTabSz="914400" fontAlgn="base">
              <a:spcBef>
                <a:spcPct val="0"/>
              </a:spcBef>
              <a:spcAft>
                <a:spcPct val="0"/>
              </a:spcAft>
              <a:defRPr/>
            </a:pPr>
            <a:r>
              <a:rPr lang="en-US" kern="0" dirty="0">
                <a:solidFill>
                  <a:srgbClr val="000000"/>
                </a:solidFill>
              </a:rPr>
              <a:t>  INPUT_RUN_TIME_CONFIGURATION); 	// Input Run Time Configuration</a:t>
            </a:r>
          </a:p>
        </p:txBody>
      </p:sp>
    </p:spTree>
    <p:extLst>
      <p:ext uri="{BB962C8B-B14F-4D97-AF65-F5344CB8AC3E}">
        <p14:creationId xmlns:p14="http://schemas.microsoft.com/office/powerpoint/2010/main" val="2997207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FFT Function: Run Time Output Status</a:t>
            </a:r>
          </a:p>
        </p:txBody>
      </p:sp>
      <p:sp>
        <p:nvSpPr>
          <p:cNvPr id="2" name="Content Placeholder 1"/>
          <p:cNvSpPr>
            <a:spLocks noGrp="1"/>
          </p:cNvSpPr>
          <p:nvPr>
            <p:ph idx="1"/>
          </p:nvPr>
        </p:nvSpPr>
        <p:spPr/>
        <p:txBody>
          <a:bodyPr/>
          <a:lstStyle/>
          <a:p>
            <a:r>
              <a:rPr lang="en-US" dirty="0"/>
              <a:t>Dynamic Status Monitoring</a:t>
            </a:r>
          </a:p>
          <a:p>
            <a:pPr lvl="1"/>
            <a:r>
              <a:rPr lang="en-US" dirty="0"/>
              <a:t>Parameter OUTPUT_STATUS can be read at run time</a:t>
            </a:r>
            <a:endParaRPr lang="en-US" sz="1600" dirty="0"/>
          </a:p>
          <a:p>
            <a:pPr lvl="1"/>
            <a:r>
              <a:rPr lang="en-US" dirty="0"/>
              <a:t>Access is made using the pre-defined </a:t>
            </a:r>
            <a:br>
              <a:rPr lang="en-US" dirty="0"/>
            </a:br>
            <a:r>
              <a:rPr lang="en-US" dirty="0" err="1"/>
              <a:t>struct</a:t>
            </a:r>
            <a:r>
              <a:rPr lang="en-US" dirty="0"/>
              <a:t> </a:t>
            </a:r>
            <a:r>
              <a:rPr lang="en-US" dirty="0" err="1">
                <a:solidFill>
                  <a:srgbClr val="0070C0"/>
                </a:solidFill>
              </a:rPr>
              <a:t>hls</a:t>
            </a:r>
            <a:r>
              <a:rPr lang="en-US" dirty="0">
                <a:solidFill>
                  <a:srgbClr val="0070C0"/>
                </a:solidFill>
              </a:rPr>
              <a:t>::</a:t>
            </a:r>
            <a:r>
              <a:rPr lang="en-US" dirty="0" err="1">
                <a:solidFill>
                  <a:srgbClr val="0070C0"/>
                </a:solidFill>
              </a:rPr>
              <a:t>ip_fft</a:t>
            </a:r>
            <a:r>
              <a:rPr lang="en-US" dirty="0">
                <a:solidFill>
                  <a:srgbClr val="0070C0"/>
                </a:solidFill>
              </a:rPr>
              <a:t>::</a:t>
            </a:r>
            <a:r>
              <a:rPr lang="en-US" dirty="0" err="1">
                <a:solidFill>
                  <a:srgbClr val="0070C0"/>
                </a:solidFill>
              </a:rPr>
              <a:t>status_t</a:t>
            </a:r>
            <a:r>
              <a:rPr lang="en-US" dirty="0">
                <a:solidFill>
                  <a:schemeClr val="accent6">
                    <a:lumMod val="75000"/>
                  </a:schemeClr>
                </a:solidFill>
              </a:rPr>
              <a:t>&lt;</a:t>
            </a:r>
            <a:r>
              <a:rPr lang="en-US" dirty="0">
                <a:solidFill>
                  <a:srgbClr val="7030A0"/>
                </a:solidFill>
              </a:rPr>
              <a:t>STATIC_PARAM</a:t>
            </a:r>
            <a:r>
              <a:rPr lang="en-US" dirty="0">
                <a:solidFill>
                  <a:schemeClr val="accent6">
                    <a:lumMod val="75000"/>
                  </a:schemeClr>
                </a:solidFill>
              </a:rPr>
              <a:t>&gt;</a:t>
            </a:r>
          </a:p>
          <a:p>
            <a:pPr lvl="2"/>
            <a:r>
              <a:rPr lang="en-US" dirty="0"/>
              <a:t>Notice, this also uses the FFT parameterization struct </a:t>
            </a:r>
          </a:p>
          <a:p>
            <a:pPr lvl="1"/>
            <a:endParaRPr lang="en-US" sz="1600" dirty="0"/>
          </a:p>
        </p:txBody>
      </p:sp>
      <p:sp>
        <p:nvSpPr>
          <p:cNvPr id="8" name="Slide Number Placeholder 7"/>
          <p:cNvSpPr>
            <a:spLocks noGrp="1"/>
          </p:cNvSpPr>
          <p:nvPr>
            <p:ph type="sldNum" sz="quarter" idx="10"/>
          </p:nvPr>
        </p:nvSpPr>
        <p:spPr/>
        <p:txBody>
          <a:bodyPr/>
          <a:lstStyle/>
          <a:p>
            <a:pPr defTabSz="914400">
              <a:defRPr/>
            </a:pPr>
            <a:r>
              <a:rPr lang="en-US" dirty="0">
                <a:solidFill>
                  <a:srgbClr val="0C0C0C">
                    <a:tint val="75000"/>
                  </a:srgbClr>
                </a:solidFill>
                <a:latin typeface="Arial"/>
              </a:rPr>
              <a:t>Coding Considerations 23- </a:t>
            </a:r>
            <a:fld id="{060BD193-E118-4B16-863C-C8C12C675E3E}" type="slidenum">
              <a:rPr lang="en-US">
                <a:solidFill>
                  <a:srgbClr val="0C0C0C">
                    <a:tint val="75000"/>
                  </a:srgbClr>
                </a:solidFill>
                <a:latin typeface="Arial"/>
              </a:rPr>
              <a:pPr defTabSz="914400">
                <a:defRPr/>
              </a:pPr>
              <a:t>79</a:t>
            </a:fld>
            <a:endParaRPr lang="en-US" dirty="0">
              <a:solidFill>
                <a:srgbClr val="0C0C0C">
                  <a:tint val="75000"/>
                </a:srgbClr>
              </a:solidFill>
              <a:latin typeface="Arial"/>
            </a:endParaRPr>
          </a:p>
        </p:txBody>
      </p:sp>
      <p:sp>
        <p:nvSpPr>
          <p:cNvPr id="9" name="TextBox 8">
            <a:extLst>
              <a:ext uri="{FF2B5EF4-FFF2-40B4-BE49-F238E27FC236}">
                <a16:creationId xmlns:a16="http://schemas.microsoft.com/office/drawing/2014/main" id="{903102FA-B0F3-48E0-BD3B-D6D2045255C4}"/>
              </a:ext>
            </a:extLst>
          </p:cNvPr>
          <p:cNvSpPr txBox="1"/>
          <p:nvPr/>
        </p:nvSpPr>
        <p:spPr bwMode="auto">
          <a:xfrm>
            <a:off x="902215" y="3445766"/>
            <a:ext cx="5370789" cy="1954381"/>
          </a:xfrm>
          <a:prstGeom prst="rect">
            <a:avLst/>
          </a:prstGeom>
          <a:solidFill>
            <a:srgbClr val="008CA8">
              <a:lumMod val="20000"/>
              <a:lumOff val="80000"/>
            </a:srgbClr>
          </a:solidFill>
          <a:ln w="9525">
            <a:noFill/>
            <a:miter lim="800000"/>
            <a:headEnd/>
            <a:tailEnd/>
          </a:ln>
          <a:effectLst>
            <a:outerShdw blurRad="50800" dist="38100" dir="2700000" algn="tl" rotWithShape="0">
              <a:prstClr val="black">
                <a:alpha val="40000"/>
              </a:prstClr>
            </a:outerShdw>
          </a:effectLst>
        </p:spPr>
        <p:txBody>
          <a:bodyPr vert="horz" wrap="square" lIns="0" tIns="45720" rIns="91440" bIns="45720" numCol="1" rtlCol="0" anchor="t" anchorCtr="0" compatLnSpc="1">
            <a:prstTxWarp prst="textNoShape">
              <a:avLst/>
            </a:prstTxWarp>
            <a:spAutoFit/>
          </a:bodyPr>
          <a:lstStyle>
            <a:defPPr>
              <a:defRPr lang="en-US"/>
            </a:defPPr>
            <a:lvl1pPr>
              <a:defRPr sz="1100"/>
            </a:lvl1pPr>
          </a:lstStyle>
          <a:p>
            <a:pPr defTabSz="914400" fontAlgn="base">
              <a:spcBef>
                <a:spcPct val="0"/>
              </a:spcBef>
              <a:spcAft>
                <a:spcPct val="0"/>
              </a:spcAft>
              <a:defRPr/>
            </a:pPr>
            <a:r>
              <a:rPr lang="en-US" kern="0" dirty="0">
                <a:solidFill>
                  <a:srgbClr val="000000"/>
                </a:solidFill>
                <a:latin typeface="Arial"/>
              </a:rPr>
              <a:t>#include "</a:t>
            </a:r>
            <a:r>
              <a:rPr lang="en-US" kern="0" dirty="0" err="1">
                <a:solidFill>
                  <a:srgbClr val="000000"/>
                </a:solidFill>
                <a:latin typeface="Arial"/>
              </a:rPr>
              <a:t>hls_fft.h</a:t>
            </a:r>
            <a:r>
              <a:rPr lang="en-US" kern="0" dirty="0">
                <a:solidFill>
                  <a:srgbClr val="000000"/>
                </a:solidFill>
                <a:latin typeface="Arial"/>
              </a:rPr>
              <a:t>“</a:t>
            </a:r>
          </a:p>
          <a:p>
            <a:pPr defTabSz="914400" fontAlgn="base">
              <a:spcBef>
                <a:spcPct val="0"/>
              </a:spcBef>
              <a:spcAft>
                <a:spcPct val="0"/>
              </a:spcAft>
              <a:defRPr/>
            </a:pPr>
            <a:endParaRPr lang="en-US" kern="0" dirty="0">
              <a:solidFill>
                <a:srgbClr val="000000"/>
              </a:solidFill>
              <a:latin typeface="Arial"/>
            </a:endParaRPr>
          </a:p>
          <a:p>
            <a:pPr defTabSz="914400" fontAlgn="base">
              <a:spcBef>
                <a:spcPct val="0"/>
              </a:spcBef>
              <a:spcAft>
                <a:spcPct val="0"/>
              </a:spcAft>
              <a:defRPr/>
            </a:pPr>
            <a:r>
              <a:rPr lang="en-US" kern="0" dirty="0">
                <a:solidFill>
                  <a:srgbClr val="000000"/>
                </a:solidFill>
                <a:latin typeface="Arial"/>
              </a:rPr>
              <a:t>struct </a:t>
            </a:r>
            <a:r>
              <a:rPr lang="en-US" b="1" kern="0" dirty="0">
                <a:solidFill>
                  <a:srgbClr val="7030A0"/>
                </a:solidFill>
                <a:latin typeface="Arial"/>
              </a:rPr>
              <a:t>param1</a:t>
            </a:r>
            <a:r>
              <a:rPr lang="en-US" kern="0" dirty="0">
                <a:solidFill>
                  <a:srgbClr val="7030A0"/>
                </a:solidFill>
                <a:latin typeface="Arial"/>
              </a:rPr>
              <a:t> </a:t>
            </a:r>
            <a:r>
              <a:rPr lang="en-US" kern="0" dirty="0">
                <a:solidFill>
                  <a:srgbClr val="000000"/>
                </a:solidFill>
                <a:latin typeface="Arial"/>
              </a:rPr>
              <a:t>: </a:t>
            </a:r>
            <a:r>
              <a:rPr lang="en-US" kern="0" dirty="0" err="1">
                <a:solidFill>
                  <a:srgbClr val="8B8D09">
                    <a:lumMod val="75000"/>
                  </a:srgbClr>
                </a:solidFill>
                <a:latin typeface="Arial"/>
              </a:rPr>
              <a:t>hls</a:t>
            </a:r>
            <a:r>
              <a:rPr lang="en-US" kern="0" dirty="0">
                <a:solidFill>
                  <a:srgbClr val="8B8D09">
                    <a:lumMod val="75000"/>
                  </a:srgbClr>
                </a:solidFill>
                <a:latin typeface="Arial"/>
              </a:rPr>
              <a:t>::</a:t>
            </a:r>
            <a:r>
              <a:rPr lang="en-US" kern="0" dirty="0" err="1">
                <a:solidFill>
                  <a:srgbClr val="8B8D09">
                    <a:lumMod val="75000"/>
                  </a:srgbClr>
                </a:solidFill>
                <a:latin typeface="Arial"/>
              </a:rPr>
              <a:t>ip_fft</a:t>
            </a:r>
            <a:r>
              <a:rPr lang="en-US" kern="0" dirty="0">
                <a:solidFill>
                  <a:srgbClr val="8B8D09">
                    <a:lumMod val="75000"/>
                  </a:srgbClr>
                </a:solidFill>
                <a:latin typeface="Arial"/>
              </a:rPr>
              <a:t>::</a:t>
            </a:r>
            <a:r>
              <a:rPr lang="en-US" kern="0" dirty="0" err="1">
                <a:solidFill>
                  <a:srgbClr val="8B8D09">
                    <a:lumMod val="75000"/>
                  </a:srgbClr>
                </a:solidFill>
                <a:latin typeface="Arial"/>
              </a:rPr>
              <a:t>params_t</a:t>
            </a:r>
            <a:r>
              <a:rPr lang="en-US" kern="0" dirty="0">
                <a:solidFill>
                  <a:srgbClr val="8B8D09">
                    <a:lumMod val="75000"/>
                  </a:srgbClr>
                </a:solidFill>
                <a:latin typeface="Arial"/>
              </a:rPr>
              <a:t> </a:t>
            </a:r>
            <a:r>
              <a:rPr lang="en-US" kern="0" dirty="0">
                <a:solidFill>
                  <a:srgbClr val="000000"/>
                </a:solidFill>
                <a:latin typeface="Arial"/>
              </a:rPr>
              <a:t>{</a:t>
            </a:r>
          </a:p>
          <a:p>
            <a:pPr defTabSz="914400" fontAlgn="base">
              <a:spcBef>
                <a:spcPct val="0"/>
              </a:spcBef>
              <a:spcAft>
                <a:spcPct val="0"/>
              </a:spcAft>
              <a:defRPr/>
            </a:pPr>
            <a:r>
              <a:rPr lang="en-US" kern="0" dirty="0">
                <a:solidFill>
                  <a:srgbClr val="000000"/>
                </a:solidFill>
                <a:latin typeface="Arial"/>
              </a:rPr>
              <a:t>    static </a:t>
            </a:r>
            <a:r>
              <a:rPr lang="en-US" kern="0" dirty="0" err="1">
                <a:solidFill>
                  <a:srgbClr val="000000"/>
                </a:solidFill>
                <a:latin typeface="Arial"/>
              </a:rPr>
              <a:t>const</a:t>
            </a:r>
            <a:r>
              <a:rPr lang="en-US" kern="0" dirty="0">
                <a:solidFill>
                  <a:srgbClr val="000000"/>
                </a:solidFill>
                <a:latin typeface="Arial"/>
              </a:rPr>
              <a:t> unsigned </a:t>
            </a:r>
            <a:r>
              <a:rPr lang="en-US" kern="0" dirty="0" err="1">
                <a:solidFill>
                  <a:srgbClr val="000000"/>
                </a:solidFill>
                <a:latin typeface="Arial"/>
              </a:rPr>
              <a:t>ordering_opt</a:t>
            </a:r>
            <a:r>
              <a:rPr lang="en-US" kern="0" dirty="0">
                <a:solidFill>
                  <a:srgbClr val="000000"/>
                </a:solidFill>
                <a:latin typeface="Arial"/>
              </a:rPr>
              <a:t> = </a:t>
            </a:r>
            <a:r>
              <a:rPr lang="en-US" kern="0" dirty="0" err="1">
                <a:solidFill>
                  <a:srgbClr val="000000"/>
                </a:solidFill>
                <a:latin typeface="Arial"/>
              </a:rPr>
              <a:t>hls</a:t>
            </a:r>
            <a:r>
              <a:rPr lang="en-US" kern="0" dirty="0">
                <a:solidFill>
                  <a:srgbClr val="000000"/>
                </a:solidFill>
                <a:latin typeface="Arial"/>
              </a:rPr>
              <a:t>::</a:t>
            </a:r>
            <a:r>
              <a:rPr lang="en-US" kern="0" dirty="0" err="1">
                <a:solidFill>
                  <a:srgbClr val="000000"/>
                </a:solidFill>
                <a:latin typeface="Arial"/>
              </a:rPr>
              <a:t>ip_fft</a:t>
            </a:r>
            <a:r>
              <a:rPr lang="en-US" kern="0" dirty="0">
                <a:solidFill>
                  <a:srgbClr val="000000"/>
                </a:solidFill>
                <a:latin typeface="Arial"/>
              </a:rPr>
              <a:t>::</a:t>
            </a:r>
            <a:r>
              <a:rPr lang="en-US" kern="0" dirty="0" err="1">
                <a:solidFill>
                  <a:srgbClr val="000000"/>
                </a:solidFill>
                <a:latin typeface="Arial"/>
              </a:rPr>
              <a:t>natural_order</a:t>
            </a:r>
            <a:r>
              <a:rPr lang="en-US" kern="0" dirty="0">
                <a:solidFill>
                  <a:srgbClr val="000000"/>
                </a:solidFill>
                <a:latin typeface="Arial"/>
              </a:rPr>
              <a:t>;</a:t>
            </a:r>
          </a:p>
          <a:p>
            <a:pPr defTabSz="914400" fontAlgn="base">
              <a:spcBef>
                <a:spcPct val="0"/>
              </a:spcBef>
              <a:spcAft>
                <a:spcPct val="0"/>
              </a:spcAft>
              <a:defRPr/>
            </a:pPr>
            <a:r>
              <a:rPr lang="en-US" kern="0" dirty="0">
                <a:solidFill>
                  <a:srgbClr val="000000"/>
                </a:solidFill>
                <a:latin typeface="Arial"/>
              </a:rPr>
              <a:t>    static </a:t>
            </a:r>
            <a:r>
              <a:rPr lang="en-US" kern="0" dirty="0" err="1">
                <a:solidFill>
                  <a:srgbClr val="000000"/>
                </a:solidFill>
                <a:latin typeface="Arial"/>
              </a:rPr>
              <a:t>const</a:t>
            </a:r>
            <a:r>
              <a:rPr lang="en-US" kern="0" dirty="0">
                <a:solidFill>
                  <a:srgbClr val="000000"/>
                </a:solidFill>
                <a:latin typeface="Arial"/>
              </a:rPr>
              <a:t> unsigned </a:t>
            </a:r>
            <a:r>
              <a:rPr lang="en-US" kern="0" dirty="0" err="1">
                <a:solidFill>
                  <a:srgbClr val="000000"/>
                </a:solidFill>
                <a:latin typeface="Arial"/>
              </a:rPr>
              <a:t>config_width</a:t>
            </a:r>
            <a:r>
              <a:rPr lang="en-US" kern="0" dirty="0">
                <a:solidFill>
                  <a:srgbClr val="000000"/>
                </a:solidFill>
                <a:latin typeface="Arial"/>
              </a:rPr>
              <a:t> = FFT_CONFIG_WIDTH;</a:t>
            </a:r>
          </a:p>
          <a:p>
            <a:pPr defTabSz="914400" fontAlgn="base">
              <a:spcBef>
                <a:spcPct val="0"/>
              </a:spcBef>
              <a:spcAft>
                <a:spcPct val="0"/>
              </a:spcAft>
              <a:defRPr/>
            </a:pPr>
            <a:r>
              <a:rPr lang="en-US" kern="0" dirty="0">
                <a:solidFill>
                  <a:srgbClr val="000000"/>
                </a:solidFill>
                <a:latin typeface="Arial"/>
              </a:rPr>
              <a:t>    static </a:t>
            </a:r>
            <a:r>
              <a:rPr lang="en-US" kern="0" dirty="0" err="1">
                <a:solidFill>
                  <a:srgbClr val="000000"/>
                </a:solidFill>
                <a:latin typeface="Arial"/>
              </a:rPr>
              <a:t>const</a:t>
            </a:r>
            <a:r>
              <a:rPr lang="en-US" kern="0" dirty="0">
                <a:solidFill>
                  <a:srgbClr val="000000"/>
                </a:solidFill>
                <a:latin typeface="Arial"/>
              </a:rPr>
              <a:t> unsigned </a:t>
            </a:r>
            <a:r>
              <a:rPr lang="en-US" kern="0" dirty="0" err="1">
                <a:solidFill>
                  <a:srgbClr val="000000"/>
                </a:solidFill>
                <a:latin typeface="Arial"/>
              </a:rPr>
              <a:t>status_width</a:t>
            </a:r>
            <a:r>
              <a:rPr lang="en-US" kern="0" dirty="0">
                <a:solidFill>
                  <a:srgbClr val="000000"/>
                </a:solidFill>
                <a:latin typeface="Arial"/>
              </a:rPr>
              <a:t> = FFT_STATUS_WIDTH;</a:t>
            </a:r>
          </a:p>
          <a:p>
            <a:pPr defTabSz="914400" fontAlgn="base">
              <a:spcBef>
                <a:spcPct val="0"/>
              </a:spcBef>
              <a:spcAft>
                <a:spcPct val="0"/>
              </a:spcAft>
              <a:defRPr/>
            </a:pPr>
            <a:r>
              <a:rPr lang="en-US" kern="0" dirty="0">
                <a:solidFill>
                  <a:srgbClr val="000000"/>
                </a:solidFill>
                <a:latin typeface="Arial"/>
              </a:rPr>
              <a:t>};</a:t>
            </a:r>
          </a:p>
          <a:p>
            <a:pPr defTabSz="914400" fontAlgn="base">
              <a:spcBef>
                <a:spcPct val="0"/>
              </a:spcBef>
              <a:spcAft>
                <a:spcPct val="0"/>
              </a:spcAft>
              <a:defRPr/>
            </a:pPr>
            <a:endParaRPr lang="en-US" kern="0" dirty="0">
              <a:solidFill>
                <a:srgbClr val="000000"/>
              </a:solidFill>
              <a:latin typeface="Arial"/>
            </a:endParaRPr>
          </a:p>
          <a:p>
            <a:pPr defTabSz="914400" fontAlgn="base">
              <a:spcBef>
                <a:spcPct val="0"/>
              </a:spcBef>
              <a:spcAft>
                <a:spcPct val="0"/>
              </a:spcAft>
              <a:defRPr/>
            </a:pPr>
            <a:r>
              <a:rPr lang="en-US" kern="0" dirty="0" err="1">
                <a:solidFill>
                  <a:srgbClr val="000000"/>
                </a:solidFill>
                <a:latin typeface="Arial"/>
              </a:rPr>
              <a:t>typedef</a:t>
            </a:r>
            <a:r>
              <a:rPr lang="en-US" kern="0" dirty="0">
                <a:solidFill>
                  <a:srgbClr val="000000"/>
                </a:solidFill>
                <a:latin typeface="Arial"/>
              </a:rPr>
              <a:t> </a:t>
            </a:r>
            <a:r>
              <a:rPr lang="en-US" b="1" kern="0" dirty="0" err="1">
                <a:solidFill>
                  <a:srgbClr val="0070C0"/>
                </a:solidFill>
                <a:latin typeface="Arial"/>
              </a:rPr>
              <a:t>hls</a:t>
            </a:r>
            <a:r>
              <a:rPr lang="en-US" b="1" kern="0" dirty="0">
                <a:solidFill>
                  <a:srgbClr val="0070C0"/>
                </a:solidFill>
                <a:latin typeface="Arial"/>
              </a:rPr>
              <a:t>::</a:t>
            </a:r>
            <a:r>
              <a:rPr lang="en-US" b="1" kern="0" dirty="0" err="1">
                <a:solidFill>
                  <a:srgbClr val="0070C0"/>
                </a:solidFill>
                <a:latin typeface="Arial"/>
              </a:rPr>
              <a:t>ip_fft</a:t>
            </a:r>
            <a:r>
              <a:rPr lang="en-US" b="1" kern="0" dirty="0">
                <a:solidFill>
                  <a:srgbClr val="0070C0"/>
                </a:solidFill>
                <a:latin typeface="Arial"/>
              </a:rPr>
              <a:t>::</a:t>
            </a:r>
            <a:r>
              <a:rPr lang="en-US" b="1" kern="0" dirty="0" err="1">
                <a:solidFill>
                  <a:srgbClr val="0070C0"/>
                </a:solidFill>
                <a:latin typeface="Arial"/>
              </a:rPr>
              <a:t>status_t</a:t>
            </a:r>
            <a:r>
              <a:rPr lang="en-US" kern="0" dirty="0">
                <a:solidFill>
                  <a:srgbClr val="000000"/>
                </a:solidFill>
                <a:latin typeface="Arial"/>
              </a:rPr>
              <a:t>&lt;</a:t>
            </a:r>
            <a:r>
              <a:rPr lang="en-US" b="1" kern="0" dirty="0">
                <a:solidFill>
                  <a:srgbClr val="7030A0"/>
                </a:solidFill>
                <a:latin typeface="Arial"/>
              </a:rPr>
              <a:t>param1</a:t>
            </a:r>
            <a:r>
              <a:rPr lang="en-US" kern="0" dirty="0">
                <a:solidFill>
                  <a:srgbClr val="000000"/>
                </a:solidFill>
                <a:latin typeface="Arial"/>
              </a:rPr>
              <a:t>&gt; </a:t>
            </a:r>
            <a:r>
              <a:rPr lang="en-US" kern="0" dirty="0" err="1">
                <a:solidFill>
                  <a:srgbClr val="000000"/>
                </a:solidFill>
                <a:latin typeface="Arial"/>
              </a:rPr>
              <a:t>status_t</a:t>
            </a:r>
            <a:r>
              <a:rPr lang="en-US" kern="0" dirty="0">
                <a:solidFill>
                  <a:srgbClr val="000000"/>
                </a:solidFill>
                <a:latin typeface="Arial"/>
              </a:rPr>
              <a:t>;</a:t>
            </a:r>
          </a:p>
          <a:p>
            <a:pPr defTabSz="914400" fontAlgn="base">
              <a:spcBef>
                <a:spcPct val="0"/>
              </a:spcBef>
              <a:spcAft>
                <a:spcPct val="0"/>
              </a:spcAft>
              <a:defRPr/>
            </a:pPr>
            <a:r>
              <a:rPr lang="en-US" kern="0" dirty="0" err="1">
                <a:solidFill>
                  <a:srgbClr val="000000"/>
                </a:solidFill>
                <a:latin typeface="Arial"/>
              </a:rPr>
              <a:t>status_t</a:t>
            </a:r>
            <a:r>
              <a:rPr lang="en-US" kern="0" dirty="0">
                <a:solidFill>
                  <a:srgbClr val="000000"/>
                </a:solidFill>
                <a:latin typeface="Arial"/>
              </a:rPr>
              <a:t> </a:t>
            </a:r>
            <a:r>
              <a:rPr lang="en-US" b="1" kern="0" dirty="0">
                <a:solidFill>
                  <a:srgbClr val="000000"/>
                </a:solidFill>
                <a:latin typeface="Arial"/>
              </a:rPr>
              <a:t>fft_status1</a:t>
            </a:r>
            <a:r>
              <a:rPr lang="en-US" kern="0" dirty="0">
                <a:solidFill>
                  <a:srgbClr val="000000"/>
                </a:solidFill>
                <a:latin typeface="Arial"/>
              </a:rPr>
              <a:t>;</a:t>
            </a:r>
          </a:p>
          <a:p>
            <a:pPr defTabSz="914400" fontAlgn="base">
              <a:spcBef>
                <a:spcPct val="0"/>
              </a:spcBef>
              <a:spcAft>
                <a:spcPct val="0"/>
              </a:spcAft>
              <a:defRPr/>
            </a:pPr>
            <a:endParaRPr lang="en-US" kern="0" dirty="0">
              <a:solidFill>
                <a:srgbClr val="000000"/>
              </a:solidFill>
              <a:latin typeface="Arial"/>
            </a:endParaRPr>
          </a:p>
        </p:txBody>
      </p:sp>
      <p:sp>
        <p:nvSpPr>
          <p:cNvPr id="11" name="TextBox 10">
            <a:extLst>
              <a:ext uri="{FF2B5EF4-FFF2-40B4-BE49-F238E27FC236}">
                <a16:creationId xmlns:a16="http://schemas.microsoft.com/office/drawing/2014/main" id="{9CF4AF0F-B78E-4984-A569-BCEC243E9789}"/>
              </a:ext>
            </a:extLst>
          </p:cNvPr>
          <p:cNvSpPr txBox="1"/>
          <p:nvPr/>
        </p:nvSpPr>
        <p:spPr bwMode="auto">
          <a:xfrm>
            <a:off x="6469889" y="3453006"/>
            <a:ext cx="3683060" cy="1615827"/>
          </a:xfrm>
          <a:prstGeom prst="rect">
            <a:avLst/>
          </a:prstGeom>
          <a:solidFill>
            <a:srgbClr val="008CA8">
              <a:lumMod val="20000"/>
              <a:lumOff val="80000"/>
            </a:srgbClr>
          </a:solidFill>
          <a:ln w="9525">
            <a:noFill/>
            <a:miter lim="800000"/>
            <a:headEnd/>
            <a:tailEnd/>
          </a:ln>
          <a:effectLst>
            <a:outerShdw blurRad="50800" dist="38100" dir="2700000" algn="tl" rotWithShape="0">
              <a:prstClr val="black">
                <a:alpha val="40000"/>
              </a:prstClr>
            </a:outerShdw>
          </a:effectLst>
        </p:spPr>
        <p:txBody>
          <a:bodyPr vert="horz" wrap="none" lIns="0" tIns="45720" rIns="91440" bIns="45720" numCol="1" rtlCol="0" anchor="t" anchorCtr="0" compatLnSpc="1">
            <a:prstTxWarp prst="textNoShape">
              <a:avLst/>
            </a:prstTxWarp>
            <a:spAutoFit/>
          </a:bodyPr>
          <a:lstStyle/>
          <a:p>
            <a:pPr defTabSz="914400" fontAlgn="base">
              <a:spcBef>
                <a:spcPct val="0"/>
              </a:spcBef>
              <a:spcAft>
                <a:spcPct val="0"/>
              </a:spcAft>
              <a:defRPr/>
            </a:pPr>
            <a:r>
              <a:rPr lang="en-US" sz="1100" kern="0" dirty="0">
                <a:solidFill>
                  <a:srgbClr val="000000"/>
                </a:solidFill>
                <a:latin typeface="Arial"/>
              </a:rPr>
              <a:t> // FFT IP</a:t>
            </a:r>
          </a:p>
          <a:p>
            <a:pPr defTabSz="914400" fontAlgn="base">
              <a:spcBef>
                <a:spcPct val="0"/>
              </a:spcBef>
              <a:spcAft>
                <a:spcPct val="0"/>
              </a:spcAft>
              <a:defRPr/>
            </a:pPr>
            <a:r>
              <a:rPr lang="en-US" sz="1100" kern="0" dirty="0">
                <a:solidFill>
                  <a:srgbClr val="000000"/>
                </a:solidFill>
                <a:latin typeface="Arial"/>
              </a:rPr>
              <a:t>    </a:t>
            </a:r>
            <a:r>
              <a:rPr lang="en-US" sz="1100" kern="0" dirty="0" err="1">
                <a:solidFill>
                  <a:srgbClr val="000000"/>
                </a:solidFill>
                <a:latin typeface="Arial"/>
              </a:rPr>
              <a:t>hls</a:t>
            </a:r>
            <a:r>
              <a:rPr lang="en-US" sz="1100" kern="0" dirty="0">
                <a:solidFill>
                  <a:srgbClr val="000000"/>
                </a:solidFill>
                <a:latin typeface="Arial"/>
              </a:rPr>
              <a:t>::</a:t>
            </a:r>
            <a:r>
              <a:rPr lang="en-US" sz="1100" kern="0" dirty="0" err="1">
                <a:solidFill>
                  <a:srgbClr val="000000"/>
                </a:solidFill>
                <a:latin typeface="Arial"/>
              </a:rPr>
              <a:t>fft</a:t>
            </a:r>
            <a:r>
              <a:rPr lang="en-US" sz="1100" kern="0" dirty="0">
                <a:solidFill>
                  <a:srgbClr val="000000"/>
                </a:solidFill>
                <a:latin typeface="Arial"/>
              </a:rPr>
              <a:t>&lt;</a:t>
            </a:r>
            <a:r>
              <a:rPr lang="en-US" sz="1100" b="1" kern="0" dirty="0">
                <a:solidFill>
                  <a:srgbClr val="7030A0"/>
                </a:solidFill>
                <a:latin typeface="Arial"/>
              </a:rPr>
              <a:t>param1</a:t>
            </a:r>
            <a:r>
              <a:rPr lang="en-US" sz="1100" kern="0" dirty="0">
                <a:solidFill>
                  <a:srgbClr val="000000"/>
                </a:solidFill>
                <a:latin typeface="Arial"/>
              </a:rPr>
              <a:t>&gt; (xn1, xk1, &amp;</a:t>
            </a:r>
            <a:r>
              <a:rPr lang="en-US" sz="1100" b="1" kern="0" dirty="0">
                <a:solidFill>
                  <a:srgbClr val="000000"/>
                </a:solidFill>
                <a:latin typeface="Arial"/>
              </a:rPr>
              <a:t>fft_status1</a:t>
            </a:r>
            <a:r>
              <a:rPr lang="en-US" sz="1100" kern="0" dirty="0">
                <a:solidFill>
                  <a:srgbClr val="000000"/>
                </a:solidFill>
                <a:latin typeface="Arial"/>
              </a:rPr>
              <a:t>, &amp;fft_config1);</a:t>
            </a:r>
          </a:p>
          <a:p>
            <a:pPr defTabSz="914400" fontAlgn="base">
              <a:spcBef>
                <a:spcPct val="0"/>
              </a:spcBef>
              <a:spcAft>
                <a:spcPct val="0"/>
              </a:spcAft>
              <a:defRPr/>
            </a:pPr>
            <a:endParaRPr lang="en-US" sz="1100" kern="0" dirty="0">
              <a:solidFill>
                <a:srgbClr val="000000"/>
              </a:solidFill>
              <a:latin typeface="Arial"/>
            </a:endParaRPr>
          </a:p>
          <a:p>
            <a:pPr defTabSz="914400" fontAlgn="base">
              <a:spcBef>
                <a:spcPct val="0"/>
              </a:spcBef>
              <a:spcAft>
                <a:spcPct val="0"/>
              </a:spcAft>
              <a:defRPr/>
            </a:pPr>
            <a:r>
              <a:rPr lang="en-US" sz="1100" kern="0" dirty="0">
                <a:solidFill>
                  <a:srgbClr val="000000"/>
                </a:solidFill>
                <a:latin typeface="Arial"/>
              </a:rPr>
              <a:t>// Check the overflow flag</a:t>
            </a:r>
          </a:p>
          <a:p>
            <a:pPr defTabSz="914400" fontAlgn="base">
              <a:spcBef>
                <a:spcPct val="0"/>
              </a:spcBef>
              <a:spcAft>
                <a:spcPct val="0"/>
              </a:spcAft>
              <a:defRPr/>
            </a:pPr>
            <a:r>
              <a:rPr lang="en-US" sz="1100" kern="0" dirty="0">
                <a:solidFill>
                  <a:srgbClr val="000000"/>
                </a:solidFill>
                <a:latin typeface="Arial"/>
              </a:rPr>
              <a:t>    </a:t>
            </a:r>
            <a:r>
              <a:rPr lang="en-US" sz="1100" kern="0" dirty="0" err="1">
                <a:solidFill>
                  <a:srgbClr val="000000"/>
                </a:solidFill>
                <a:latin typeface="Arial"/>
              </a:rPr>
              <a:t>bool</a:t>
            </a:r>
            <a:r>
              <a:rPr lang="en-US" sz="1100" kern="0" dirty="0">
                <a:solidFill>
                  <a:srgbClr val="000000"/>
                </a:solidFill>
                <a:latin typeface="Arial"/>
              </a:rPr>
              <a:t> *</a:t>
            </a:r>
            <a:r>
              <a:rPr lang="en-US" sz="1100" kern="0" dirty="0" err="1">
                <a:solidFill>
                  <a:srgbClr val="000000"/>
                </a:solidFill>
                <a:latin typeface="Arial"/>
              </a:rPr>
              <a:t>ovflo</a:t>
            </a:r>
            <a:r>
              <a:rPr lang="en-US" sz="1100" kern="0" dirty="0">
                <a:solidFill>
                  <a:srgbClr val="000000"/>
                </a:solidFill>
                <a:latin typeface="Arial"/>
              </a:rPr>
              <a:t> = </a:t>
            </a:r>
            <a:r>
              <a:rPr lang="en-US" sz="1100" b="1" kern="0" dirty="0">
                <a:solidFill>
                  <a:srgbClr val="000000"/>
                </a:solidFill>
                <a:latin typeface="Arial"/>
              </a:rPr>
              <a:t>fft_status1-</a:t>
            </a:r>
            <a:r>
              <a:rPr lang="en-US" sz="1100" kern="0" dirty="0">
                <a:solidFill>
                  <a:srgbClr val="000000"/>
                </a:solidFill>
                <a:latin typeface="Arial"/>
              </a:rPr>
              <a:t>&gt;</a:t>
            </a:r>
            <a:r>
              <a:rPr lang="en-US" sz="1100" kern="0" dirty="0" err="1">
                <a:solidFill>
                  <a:srgbClr val="000000"/>
                </a:solidFill>
                <a:latin typeface="Arial"/>
              </a:rPr>
              <a:t>getOvflo</a:t>
            </a:r>
            <a:r>
              <a:rPr lang="en-US" sz="1100" kern="0" dirty="0">
                <a:solidFill>
                  <a:srgbClr val="000000"/>
                </a:solidFill>
                <a:latin typeface="Arial"/>
              </a:rPr>
              <a:t>();</a:t>
            </a:r>
          </a:p>
          <a:p>
            <a:pPr defTabSz="914400" fontAlgn="base">
              <a:spcBef>
                <a:spcPct val="0"/>
              </a:spcBef>
              <a:spcAft>
                <a:spcPct val="0"/>
              </a:spcAft>
              <a:defRPr/>
            </a:pPr>
            <a:r>
              <a:rPr lang="en-US" sz="1100" kern="0" dirty="0">
                <a:solidFill>
                  <a:srgbClr val="000000"/>
                </a:solidFill>
                <a:latin typeface="Arial"/>
              </a:rPr>
              <a:t> </a:t>
            </a:r>
          </a:p>
          <a:p>
            <a:pPr defTabSz="914400" fontAlgn="base">
              <a:spcBef>
                <a:spcPct val="0"/>
              </a:spcBef>
              <a:spcAft>
                <a:spcPct val="0"/>
              </a:spcAft>
              <a:defRPr/>
            </a:pPr>
            <a:r>
              <a:rPr lang="en-US" sz="1100" kern="0" dirty="0">
                <a:solidFill>
                  <a:srgbClr val="000000"/>
                </a:solidFill>
                <a:latin typeface="Arial"/>
              </a:rPr>
              <a:t>// Obtain the block exponent</a:t>
            </a:r>
          </a:p>
          <a:p>
            <a:pPr defTabSz="914400" fontAlgn="base">
              <a:spcBef>
                <a:spcPct val="0"/>
              </a:spcBef>
              <a:spcAft>
                <a:spcPct val="0"/>
              </a:spcAft>
              <a:defRPr/>
            </a:pPr>
            <a:r>
              <a:rPr lang="en-US" sz="1100" kern="0" dirty="0">
                <a:solidFill>
                  <a:srgbClr val="000000"/>
                </a:solidFill>
                <a:latin typeface="Arial"/>
              </a:rPr>
              <a:t>    unsigned </a:t>
            </a:r>
            <a:r>
              <a:rPr lang="en-US" sz="1100" kern="0" dirty="0" err="1">
                <a:solidFill>
                  <a:srgbClr val="000000"/>
                </a:solidFill>
                <a:latin typeface="Arial"/>
              </a:rPr>
              <a:t>int</a:t>
            </a:r>
            <a:r>
              <a:rPr lang="en-US" sz="1100" kern="0" dirty="0">
                <a:solidFill>
                  <a:srgbClr val="000000"/>
                </a:solidFill>
                <a:latin typeface="Arial"/>
              </a:rPr>
              <a:t> *</a:t>
            </a:r>
            <a:r>
              <a:rPr lang="en-US" sz="1100" kern="0" dirty="0" err="1">
                <a:solidFill>
                  <a:srgbClr val="000000"/>
                </a:solidFill>
                <a:latin typeface="Arial"/>
              </a:rPr>
              <a:t>blk_exp</a:t>
            </a:r>
            <a:r>
              <a:rPr lang="en-US" sz="1100" kern="0" dirty="0">
                <a:solidFill>
                  <a:srgbClr val="000000"/>
                </a:solidFill>
                <a:latin typeface="Arial"/>
              </a:rPr>
              <a:t> = </a:t>
            </a:r>
            <a:r>
              <a:rPr lang="en-US" sz="1100" b="1" kern="0" dirty="0">
                <a:solidFill>
                  <a:srgbClr val="000000"/>
                </a:solidFill>
                <a:latin typeface="Arial"/>
              </a:rPr>
              <a:t>fft_status1-</a:t>
            </a:r>
            <a:r>
              <a:rPr lang="en-US" sz="1100" kern="0" dirty="0">
                <a:solidFill>
                  <a:srgbClr val="000000"/>
                </a:solidFill>
                <a:latin typeface="Arial"/>
              </a:rPr>
              <a:t>&gt; </a:t>
            </a:r>
            <a:r>
              <a:rPr lang="en-US" sz="1100" kern="0" dirty="0" err="1">
                <a:solidFill>
                  <a:srgbClr val="000000"/>
                </a:solidFill>
                <a:latin typeface="Arial"/>
              </a:rPr>
              <a:t>getBlkExp</a:t>
            </a:r>
            <a:r>
              <a:rPr lang="en-US" sz="1100" kern="0" dirty="0">
                <a:solidFill>
                  <a:srgbClr val="000000"/>
                </a:solidFill>
                <a:latin typeface="Arial"/>
              </a:rPr>
              <a:t>();</a:t>
            </a:r>
          </a:p>
          <a:p>
            <a:pPr defTabSz="914400" fontAlgn="base">
              <a:spcBef>
                <a:spcPct val="0"/>
              </a:spcBef>
              <a:spcAft>
                <a:spcPct val="0"/>
              </a:spcAft>
              <a:defRPr/>
            </a:pPr>
            <a:endParaRPr lang="en-US" sz="1100" kern="0" dirty="0">
              <a:solidFill>
                <a:srgbClr val="000000"/>
              </a:solidFill>
              <a:latin typeface="Arial"/>
            </a:endParaRPr>
          </a:p>
        </p:txBody>
      </p:sp>
      <p:sp>
        <p:nvSpPr>
          <p:cNvPr id="12" name="TextBox 11">
            <a:extLst>
              <a:ext uri="{FF2B5EF4-FFF2-40B4-BE49-F238E27FC236}">
                <a16:creationId xmlns:a16="http://schemas.microsoft.com/office/drawing/2014/main" id="{B841CA17-B20E-48F5-9AA2-BAA03D7E1BCA}"/>
              </a:ext>
            </a:extLst>
          </p:cNvPr>
          <p:cNvSpPr txBox="1"/>
          <p:nvPr/>
        </p:nvSpPr>
        <p:spPr bwMode="auto">
          <a:xfrm>
            <a:off x="7191763" y="1830693"/>
            <a:ext cx="4852668" cy="1277273"/>
          </a:xfrm>
          <a:prstGeom prst="rect">
            <a:avLst/>
          </a:prstGeom>
          <a:solidFill>
            <a:srgbClr val="008CA8">
              <a:lumMod val="20000"/>
              <a:lumOff val="80000"/>
            </a:srgbClr>
          </a:solidFill>
          <a:ln w="9525">
            <a:noFill/>
            <a:miter lim="800000"/>
            <a:headEnd/>
            <a:tailEnd/>
          </a:ln>
          <a:effectLst>
            <a:outerShdw blurRad="50800" dist="38100" dir="2700000" algn="tl" rotWithShape="0">
              <a:prstClr val="black">
                <a:alpha val="40000"/>
              </a:prstClr>
            </a:outerShdw>
          </a:effectLst>
        </p:spPr>
        <p:txBody>
          <a:bodyPr vert="horz" wrap="square" lIns="0" tIns="45720" rIns="91440" bIns="45720" numCol="1" rtlCol="0" anchor="t" anchorCtr="0" compatLnSpc="1">
            <a:prstTxWarp prst="textNoShape">
              <a:avLst/>
            </a:prstTxWarp>
            <a:spAutoFit/>
          </a:bodyPr>
          <a:lstStyle>
            <a:defPPr>
              <a:defRPr lang="en-US"/>
            </a:defPPr>
            <a:lvl1pPr>
              <a:defRPr sz="1100"/>
            </a:lvl1pPr>
          </a:lstStyle>
          <a:p>
            <a:pPr defTabSz="914400" fontAlgn="base">
              <a:spcBef>
                <a:spcPct val="0"/>
              </a:spcBef>
              <a:spcAft>
                <a:spcPct val="0"/>
              </a:spcAft>
              <a:defRPr/>
            </a:pPr>
            <a:r>
              <a:rPr lang="en-US" b="1" kern="0" dirty="0">
                <a:solidFill>
                  <a:srgbClr val="3F3F3F"/>
                </a:solidFill>
                <a:latin typeface="Arial"/>
              </a:rPr>
              <a:t> </a:t>
            </a:r>
            <a:r>
              <a:rPr lang="en-US" kern="0" dirty="0">
                <a:solidFill>
                  <a:srgbClr val="000000"/>
                </a:solidFill>
                <a:latin typeface="Arial"/>
              </a:rPr>
              <a:t>#include "</a:t>
            </a:r>
            <a:r>
              <a:rPr lang="en-US" kern="0" dirty="0" err="1">
                <a:solidFill>
                  <a:srgbClr val="000000"/>
                </a:solidFill>
                <a:latin typeface="Arial"/>
              </a:rPr>
              <a:t>hls_fft.h</a:t>
            </a:r>
            <a:r>
              <a:rPr lang="en-US" kern="0" dirty="0">
                <a:solidFill>
                  <a:srgbClr val="000000"/>
                </a:solidFill>
                <a:latin typeface="Arial"/>
              </a:rPr>
              <a:t>“</a:t>
            </a:r>
          </a:p>
          <a:p>
            <a:pPr defTabSz="914400" fontAlgn="base">
              <a:spcBef>
                <a:spcPct val="0"/>
              </a:spcBef>
              <a:spcAft>
                <a:spcPct val="0"/>
              </a:spcAft>
              <a:defRPr/>
            </a:pPr>
            <a:endParaRPr lang="en-US" kern="0" dirty="0">
              <a:solidFill>
                <a:srgbClr val="000000"/>
              </a:solidFill>
              <a:latin typeface="Arial"/>
            </a:endParaRPr>
          </a:p>
          <a:p>
            <a:pPr defTabSz="914400" fontAlgn="base">
              <a:spcBef>
                <a:spcPct val="0"/>
              </a:spcBef>
              <a:spcAft>
                <a:spcPct val="0"/>
              </a:spcAft>
              <a:defRPr/>
            </a:pPr>
            <a:r>
              <a:rPr lang="en-US" kern="0" dirty="0" err="1">
                <a:solidFill>
                  <a:srgbClr val="000000"/>
                </a:solidFill>
                <a:latin typeface="Arial"/>
              </a:rPr>
              <a:t>hls</a:t>
            </a:r>
            <a:r>
              <a:rPr lang="en-US" kern="0" dirty="0">
                <a:solidFill>
                  <a:srgbClr val="000000"/>
                </a:solidFill>
                <a:latin typeface="Arial"/>
              </a:rPr>
              <a:t>::</a:t>
            </a:r>
            <a:r>
              <a:rPr lang="en-US" kern="0" dirty="0" err="1">
                <a:solidFill>
                  <a:srgbClr val="000000"/>
                </a:solidFill>
                <a:latin typeface="Arial"/>
              </a:rPr>
              <a:t>fft</a:t>
            </a:r>
            <a:r>
              <a:rPr lang="en-US" kern="0" dirty="0">
                <a:solidFill>
                  <a:srgbClr val="000000"/>
                </a:solidFill>
                <a:latin typeface="Arial"/>
              </a:rPr>
              <a:t>&lt;STATIC_PARAM&gt; (                           	// Static Parameterization Struct</a:t>
            </a:r>
          </a:p>
          <a:p>
            <a:pPr defTabSz="914400" fontAlgn="base">
              <a:spcBef>
                <a:spcPct val="0"/>
              </a:spcBef>
              <a:spcAft>
                <a:spcPct val="0"/>
              </a:spcAft>
              <a:defRPr/>
            </a:pPr>
            <a:r>
              <a:rPr lang="en-US" kern="0" dirty="0">
                <a:solidFill>
                  <a:srgbClr val="000000"/>
                </a:solidFill>
                <a:latin typeface="Arial"/>
              </a:rPr>
              <a:t>  INPUT_DATA_ARRAY,            	// Input data fixed or float</a:t>
            </a:r>
          </a:p>
          <a:p>
            <a:pPr defTabSz="914400" fontAlgn="base">
              <a:spcBef>
                <a:spcPct val="0"/>
              </a:spcBef>
              <a:spcAft>
                <a:spcPct val="0"/>
              </a:spcAft>
              <a:defRPr/>
            </a:pPr>
            <a:r>
              <a:rPr lang="en-US" kern="0" dirty="0">
                <a:solidFill>
                  <a:srgbClr val="000000"/>
                </a:solidFill>
                <a:latin typeface="Arial"/>
              </a:rPr>
              <a:t>  OUTPUT_DATA_ARRAY,        	// Output data fixed or float</a:t>
            </a:r>
          </a:p>
          <a:p>
            <a:pPr defTabSz="914400" fontAlgn="base">
              <a:spcBef>
                <a:spcPct val="0"/>
              </a:spcBef>
              <a:spcAft>
                <a:spcPct val="0"/>
              </a:spcAft>
              <a:defRPr/>
            </a:pPr>
            <a:r>
              <a:rPr lang="en-US" b="1" kern="0" dirty="0">
                <a:solidFill>
                  <a:srgbClr val="000000"/>
                </a:solidFill>
                <a:latin typeface="Arial"/>
              </a:rPr>
              <a:t>  OUTPUT_STATUS,                 	// Output Status</a:t>
            </a:r>
          </a:p>
          <a:p>
            <a:pPr defTabSz="914400" fontAlgn="base">
              <a:spcBef>
                <a:spcPct val="0"/>
              </a:spcBef>
              <a:spcAft>
                <a:spcPct val="0"/>
              </a:spcAft>
              <a:defRPr/>
            </a:pPr>
            <a:r>
              <a:rPr lang="en-US" kern="0" dirty="0">
                <a:solidFill>
                  <a:srgbClr val="000000"/>
                </a:solidFill>
                <a:latin typeface="Arial"/>
              </a:rPr>
              <a:t>  INPUT_RUN_TIME_CONFIGURATION); 	// Input Run Time Configuration</a:t>
            </a:r>
          </a:p>
        </p:txBody>
      </p:sp>
    </p:spTree>
    <p:extLst>
      <p:ext uri="{BB962C8B-B14F-4D97-AF65-F5344CB8AC3E}">
        <p14:creationId xmlns:p14="http://schemas.microsoft.com/office/powerpoint/2010/main" val="83969600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FIR Function</a:t>
            </a:r>
          </a:p>
        </p:txBody>
      </p:sp>
      <p:sp>
        <p:nvSpPr>
          <p:cNvPr id="2" name="Content Placeholder 1"/>
          <p:cNvSpPr>
            <a:spLocks noGrp="1"/>
          </p:cNvSpPr>
          <p:nvPr>
            <p:ph idx="1"/>
          </p:nvPr>
        </p:nvSpPr>
        <p:spPr/>
        <p:txBody>
          <a:bodyPr/>
          <a:lstStyle/>
          <a:p>
            <a:r>
              <a:rPr lang="en-US" dirty="0"/>
              <a:t>Using the FIR</a:t>
            </a:r>
          </a:p>
          <a:p>
            <a:pPr lvl="1"/>
            <a:r>
              <a:rPr lang="en-US" dirty="0"/>
              <a:t>Include the </a:t>
            </a:r>
            <a:r>
              <a:rPr lang="en-US" dirty="0" err="1"/>
              <a:t>hls_fir.h</a:t>
            </a:r>
            <a:r>
              <a:rPr lang="en-US" dirty="0"/>
              <a:t> library in the code</a:t>
            </a:r>
          </a:p>
          <a:p>
            <a:pPr lvl="2"/>
            <a:r>
              <a:rPr lang="en-US" dirty="0"/>
              <a:t>This defines the FIR and supporting structs and types</a:t>
            </a:r>
          </a:p>
          <a:p>
            <a:pPr lvl="2"/>
            <a:r>
              <a:rPr lang="en-US" dirty="0"/>
              <a:t>Allows </a:t>
            </a:r>
            <a:r>
              <a:rPr lang="en-US" dirty="0" err="1">
                <a:solidFill>
                  <a:schemeClr val="accent6">
                    <a:lumMod val="75000"/>
                  </a:schemeClr>
                </a:solidFill>
              </a:rPr>
              <a:t>hls</a:t>
            </a:r>
            <a:r>
              <a:rPr lang="en-US" dirty="0">
                <a:solidFill>
                  <a:schemeClr val="accent6">
                    <a:lumMod val="75000"/>
                  </a:schemeClr>
                </a:solidFill>
              </a:rPr>
              <a:t>::FIR </a:t>
            </a:r>
            <a:r>
              <a:rPr lang="en-US" dirty="0"/>
              <a:t>to be instantiated in your code</a:t>
            </a:r>
          </a:p>
          <a:p>
            <a:pPr lvl="2"/>
            <a:r>
              <a:rPr lang="en-US" dirty="0"/>
              <a:t>Unlike the FFT, the FIR is instantiated as a class </a:t>
            </a:r>
            <a:br>
              <a:rPr lang="en-US" dirty="0"/>
            </a:br>
            <a:r>
              <a:rPr lang="en-US" dirty="0"/>
              <a:t>and executed with the run method</a:t>
            </a:r>
          </a:p>
          <a:p>
            <a:pPr lvl="1"/>
            <a:r>
              <a:rPr lang="en-US" dirty="0"/>
              <a:t>Create the STATIC_PARAM template parameter to configure the FIR</a:t>
            </a:r>
          </a:p>
          <a:p>
            <a:pPr lvl="2"/>
            <a:r>
              <a:rPr lang="en-US" dirty="0"/>
              <a:t>The STATIC_PARAM template parameter defines all static configuration values</a:t>
            </a:r>
          </a:p>
          <a:p>
            <a:pPr lvl="2"/>
            <a:r>
              <a:rPr lang="en-US" dirty="0"/>
              <a:t>The library provides a pre-defined struct </a:t>
            </a:r>
            <a:r>
              <a:rPr lang="en-US" dirty="0" err="1">
                <a:solidFill>
                  <a:schemeClr val="accent6">
                    <a:lumMod val="75000"/>
                  </a:schemeClr>
                </a:solidFill>
              </a:rPr>
              <a:t>hls</a:t>
            </a:r>
            <a:r>
              <a:rPr lang="en-US" dirty="0">
                <a:solidFill>
                  <a:schemeClr val="accent6">
                    <a:lumMod val="75000"/>
                  </a:schemeClr>
                </a:solidFill>
              </a:rPr>
              <a:t>::</a:t>
            </a:r>
            <a:r>
              <a:rPr lang="en-US" dirty="0" err="1">
                <a:solidFill>
                  <a:schemeClr val="accent6">
                    <a:lumMod val="75000"/>
                  </a:schemeClr>
                </a:solidFill>
              </a:rPr>
              <a:t>ip_fir</a:t>
            </a:r>
            <a:r>
              <a:rPr lang="en-US" dirty="0">
                <a:solidFill>
                  <a:schemeClr val="accent6">
                    <a:lumMod val="75000"/>
                  </a:schemeClr>
                </a:solidFill>
              </a:rPr>
              <a:t>::</a:t>
            </a:r>
            <a:r>
              <a:rPr lang="en-US" dirty="0" err="1">
                <a:solidFill>
                  <a:schemeClr val="accent6">
                    <a:lumMod val="75000"/>
                  </a:schemeClr>
                </a:solidFill>
              </a:rPr>
              <a:t>params_t</a:t>
            </a:r>
            <a:r>
              <a:rPr lang="en-US" dirty="0">
                <a:solidFill>
                  <a:schemeClr val="accent6">
                    <a:lumMod val="75000"/>
                  </a:schemeClr>
                </a:solidFill>
              </a:rPr>
              <a:t> </a:t>
            </a:r>
            <a:r>
              <a:rPr lang="en-US" dirty="0"/>
              <a:t>to perform this</a:t>
            </a:r>
            <a:endParaRPr lang="en-US" sz="1800" dirty="0"/>
          </a:p>
          <a:p>
            <a:pPr lvl="1"/>
            <a:r>
              <a:rPr lang="en-US" dirty="0"/>
              <a:t>There are no default values for the Coefficients</a:t>
            </a:r>
          </a:p>
          <a:p>
            <a:pPr lvl="2"/>
            <a:r>
              <a:rPr lang="en-US" u="sng" dirty="0"/>
              <a:t>You Must Always </a:t>
            </a:r>
            <a:r>
              <a:rPr lang="en-US" dirty="0"/>
              <a:t>create a user defined struct based on </a:t>
            </a:r>
            <a:r>
              <a:rPr lang="en-US" dirty="0" err="1">
                <a:solidFill>
                  <a:schemeClr val="accent6">
                    <a:lumMod val="75000"/>
                  </a:schemeClr>
                </a:solidFill>
              </a:rPr>
              <a:t>hls</a:t>
            </a:r>
            <a:r>
              <a:rPr lang="en-US" dirty="0">
                <a:solidFill>
                  <a:schemeClr val="accent6">
                    <a:lumMod val="75000"/>
                  </a:schemeClr>
                </a:solidFill>
              </a:rPr>
              <a:t>::</a:t>
            </a:r>
            <a:r>
              <a:rPr lang="en-US" dirty="0" err="1">
                <a:solidFill>
                  <a:schemeClr val="accent6">
                    <a:lumMod val="75000"/>
                  </a:schemeClr>
                </a:solidFill>
              </a:rPr>
              <a:t>ip_fir</a:t>
            </a:r>
            <a:r>
              <a:rPr lang="en-US" dirty="0">
                <a:solidFill>
                  <a:schemeClr val="accent6">
                    <a:lumMod val="75000"/>
                  </a:schemeClr>
                </a:solidFill>
              </a:rPr>
              <a:t>::</a:t>
            </a:r>
            <a:r>
              <a:rPr lang="en-US" dirty="0" err="1">
                <a:solidFill>
                  <a:schemeClr val="accent6">
                    <a:lumMod val="75000"/>
                  </a:schemeClr>
                </a:solidFill>
              </a:rPr>
              <a:t>params_t</a:t>
            </a:r>
            <a:r>
              <a:rPr lang="en-US" dirty="0">
                <a:solidFill>
                  <a:schemeClr val="accent6">
                    <a:lumMod val="75000"/>
                  </a:schemeClr>
                </a:solidFill>
              </a:rPr>
              <a:t> </a:t>
            </a:r>
            <a:endParaRPr lang="en-US" sz="1400" dirty="0">
              <a:solidFill>
                <a:schemeClr val="accent6">
                  <a:lumMod val="75000"/>
                </a:schemeClr>
              </a:solidFill>
            </a:endParaRPr>
          </a:p>
          <a:p>
            <a:pPr lvl="2"/>
            <a:endParaRPr lang="en-US" sz="1400" dirty="0"/>
          </a:p>
          <a:p>
            <a:pPr lvl="1"/>
            <a:endParaRPr lang="en-US" dirty="0"/>
          </a:p>
        </p:txBody>
      </p:sp>
      <p:sp>
        <p:nvSpPr>
          <p:cNvPr id="8" name="Slide Number Placeholder 5">
            <a:extLst>
              <a:ext uri="{FF2B5EF4-FFF2-40B4-BE49-F238E27FC236}">
                <a16:creationId xmlns:a16="http://schemas.microsoft.com/office/drawing/2014/main" id="{0871027B-FCD0-41A6-9DE3-E2E57939C3E8}"/>
              </a:ext>
            </a:extLst>
          </p:cNvPr>
          <p:cNvSpPr>
            <a:spLocks noGrp="1"/>
          </p:cNvSpPr>
          <p:nvPr>
            <p:ph type="sldNum" sz="quarter" idx="4"/>
          </p:nvPr>
        </p:nvSpPr>
        <p:spPr/>
        <p:txBody>
          <a:bodyPr/>
          <a:lstStyle/>
          <a:p>
            <a:pPr>
              <a:defRPr/>
            </a:pPr>
            <a:r>
              <a:rPr lang="en-US" dirty="0"/>
              <a:t>Coding Considerations 23- </a:t>
            </a:r>
            <a:fld id="{060BD193-E118-4B16-863C-C8C12C675E3E}" type="slidenum">
              <a:rPr lang="en-US" smtClean="0"/>
              <a:pPr>
                <a:defRPr/>
              </a:pPr>
              <a:t>80</a:t>
            </a:fld>
            <a:endParaRPr lang="en-US" dirty="0"/>
          </a:p>
        </p:txBody>
      </p:sp>
      <p:sp>
        <p:nvSpPr>
          <p:cNvPr id="6" name="TextBox 5">
            <a:extLst>
              <a:ext uri="{FF2B5EF4-FFF2-40B4-BE49-F238E27FC236}">
                <a16:creationId xmlns:a16="http://schemas.microsoft.com/office/drawing/2014/main" id="{6515FC5E-B8E1-4DC3-A9F5-6F41C921DF86}"/>
              </a:ext>
            </a:extLst>
          </p:cNvPr>
          <p:cNvSpPr txBox="1"/>
          <p:nvPr/>
        </p:nvSpPr>
        <p:spPr bwMode="auto">
          <a:xfrm>
            <a:off x="6810966" y="1723579"/>
            <a:ext cx="4591440" cy="1446550"/>
          </a:xfrm>
          <a:prstGeom prst="rect">
            <a:avLst/>
          </a:prstGeom>
          <a:solidFill>
            <a:srgbClr val="008CA8">
              <a:lumMod val="20000"/>
              <a:lumOff val="80000"/>
            </a:srgbClr>
          </a:solidFill>
          <a:ln w="9525">
            <a:noFill/>
            <a:miter lim="800000"/>
            <a:headEnd/>
            <a:tailEnd/>
          </a:ln>
          <a:effectLst>
            <a:outerShdw blurRad="50800" dist="38100" dir="2700000" algn="tl" rotWithShape="0">
              <a:prstClr val="black">
                <a:alpha val="40000"/>
              </a:prstClr>
            </a:outerShdw>
          </a:effectLst>
        </p:spPr>
        <p:txBody>
          <a:bodyPr vert="horz" wrap="square" lIns="0" tIns="45720" rIns="91440" bIns="45720" numCol="1" rtlCol="0" anchor="t" anchorCtr="0" compatLnSpc="1">
            <a:prstTxWarp prst="textNoShape">
              <a:avLst/>
            </a:prstTxWarp>
            <a:spAutoFit/>
          </a:bodyPr>
          <a:lstStyle>
            <a:defPPr>
              <a:defRPr lang="en-US"/>
            </a:defPPr>
            <a:lvl1pPr>
              <a:defRPr sz="1100"/>
            </a:lvl1pPr>
          </a:lstStyle>
          <a:p>
            <a:pPr defTabSz="914400" fontAlgn="base">
              <a:spcBef>
                <a:spcPct val="0"/>
              </a:spcBef>
              <a:spcAft>
                <a:spcPct val="0"/>
              </a:spcAft>
              <a:defRPr/>
            </a:pPr>
            <a:r>
              <a:rPr lang="en-US" b="1" kern="0" dirty="0">
                <a:solidFill>
                  <a:srgbClr val="3F3F3F"/>
                </a:solidFill>
              </a:rPr>
              <a:t> </a:t>
            </a:r>
            <a:r>
              <a:rPr lang="en-US" b="1" kern="0" dirty="0">
                <a:solidFill>
                  <a:srgbClr val="000000"/>
                </a:solidFill>
              </a:rPr>
              <a:t>#include "</a:t>
            </a:r>
            <a:r>
              <a:rPr lang="en-US" b="1" kern="0" dirty="0" err="1">
                <a:solidFill>
                  <a:srgbClr val="000000"/>
                </a:solidFill>
              </a:rPr>
              <a:t>hls_fir.h</a:t>
            </a:r>
            <a:r>
              <a:rPr lang="en-US" b="1" kern="0" dirty="0">
                <a:solidFill>
                  <a:srgbClr val="000000"/>
                </a:solidFill>
              </a:rPr>
              <a:t>“</a:t>
            </a:r>
          </a:p>
          <a:p>
            <a:pPr defTabSz="914400" fontAlgn="base">
              <a:spcBef>
                <a:spcPct val="0"/>
              </a:spcBef>
              <a:spcAft>
                <a:spcPct val="0"/>
              </a:spcAft>
              <a:defRPr/>
            </a:pPr>
            <a:endParaRPr lang="en-US" kern="0" dirty="0">
              <a:solidFill>
                <a:srgbClr val="000000"/>
              </a:solidFill>
            </a:endParaRPr>
          </a:p>
          <a:p>
            <a:pPr defTabSz="914400" fontAlgn="base">
              <a:spcBef>
                <a:spcPct val="0"/>
              </a:spcBef>
              <a:spcAft>
                <a:spcPct val="0"/>
              </a:spcAft>
              <a:defRPr/>
            </a:pPr>
            <a:r>
              <a:rPr lang="en-US" kern="0" dirty="0">
                <a:solidFill>
                  <a:srgbClr val="000000"/>
                </a:solidFill>
              </a:rPr>
              <a:t>// Create an instance of the FIR </a:t>
            </a:r>
          </a:p>
          <a:p>
            <a:pPr defTabSz="914400" fontAlgn="base">
              <a:spcBef>
                <a:spcPct val="0"/>
              </a:spcBef>
              <a:spcAft>
                <a:spcPct val="0"/>
              </a:spcAft>
              <a:defRPr/>
            </a:pPr>
            <a:r>
              <a:rPr lang="en-US" kern="0" dirty="0">
                <a:solidFill>
                  <a:srgbClr val="000000"/>
                </a:solidFill>
              </a:rPr>
              <a:t>static </a:t>
            </a:r>
            <a:r>
              <a:rPr lang="en-US" kern="0" dirty="0" err="1">
                <a:solidFill>
                  <a:srgbClr val="000000"/>
                </a:solidFill>
              </a:rPr>
              <a:t>hls</a:t>
            </a:r>
            <a:r>
              <a:rPr lang="en-US" kern="0" dirty="0">
                <a:solidFill>
                  <a:srgbClr val="000000"/>
                </a:solidFill>
              </a:rPr>
              <a:t>::FIR&lt;STATIC_PARAM&gt; </a:t>
            </a:r>
            <a:r>
              <a:rPr lang="en-US" b="1" kern="0" dirty="0">
                <a:solidFill>
                  <a:srgbClr val="000000"/>
                </a:solidFill>
              </a:rPr>
              <a:t>fir1</a:t>
            </a:r>
            <a:r>
              <a:rPr lang="en-US" kern="0" dirty="0">
                <a:solidFill>
                  <a:srgbClr val="000000"/>
                </a:solidFill>
              </a:rPr>
              <a:t>;	// Static parameterization</a:t>
            </a:r>
          </a:p>
          <a:p>
            <a:pPr defTabSz="914400" fontAlgn="base">
              <a:spcBef>
                <a:spcPct val="0"/>
              </a:spcBef>
              <a:spcAft>
                <a:spcPct val="0"/>
              </a:spcAft>
              <a:defRPr/>
            </a:pPr>
            <a:endParaRPr lang="en-US" kern="0" dirty="0">
              <a:solidFill>
                <a:srgbClr val="000000"/>
              </a:solidFill>
            </a:endParaRPr>
          </a:p>
          <a:p>
            <a:pPr defTabSz="914400" fontAlgn="base">
              <a:spcBef>
                <a:spcPct val="0"/>
              </a:spcBef>
              <a:spcAft>
                <a:spcPct val="0"/>
              </a:spcAft>
              <a:defRPr/>
            </a:pPr>
            <a:r>
              <a:rPr lang="en-US" kern="0" dirty="0">
                <a:solidFill>
                  <a:srgbClr val="000000"/>
                </a:solidFill>
              </a:rPr>
              <a:t>// Execute the FIR instance fir1</a:t>
            </a:r>
          </a:p>
          <a:p>
            <a:pPr defTabSz="914400" fontAlgn="base">
              <a:spcBef>
                <a:spcPct val="0"/>
              </a:spcBef>
              <a:spcAft>
                <a:spcPct val="0"/>
              </a:spcAft>
              <a:defRPr/>
            </a:pPr>
            <a:r>
              <a:rPr lang="en-US" b="1" kern="0" dirty="0">
                <a:solidFill>
                  <a:srgbClr val="000000"/>
                </a:solidFill>
              </a:rPr>
              <a:t>fir1</a:t>
            </a:r>
            <a:r>
              <a:rPr lang="en-US" kern="0" dirty="0">
                <a:solidFill>
                  <a:srgbClr val="000000"/>
                </a:solidFill>
              </a:rPr>
              <a:t>.</a:t>
            </a:r>
            <a:r>
              <a:rPr lang="en-US" b="1" kern="0" dirty="0">
                <a:solidFill>
                  <a:srgbClr val="000000"/>
                </a:solidFill>
              </a:rPr>
              <a:t>run</a:t>
            </a:r>
            <a:r>
              <a:rPr lang="en-US" kern="0" dirty="0">
                <a:solidFill>
                  <a:srgbClr val="000000"/>
                </a:solidFill>
              </a:rPr>
              <a:t>(INPUT_DATA_ARRAY, 	// Input Data</a:t>
            </a:r>
          </a:p>
          <a:p>
            <a:pPr defTabSz="914400" fontAlgn="base">
              <a:spcBef>
                <a:spcPct val="0"/>
              </a:spcBef>
              <a:spcAft>
                <a:spcPct val="0"/>
              </a:spcAft>
              <a:defRPr/>
            </a:pPr>
            <a:r>
              <a:rPr lang="en-US" kern="0" dirty="0">
                <a:solidFill>
                  <a:srgbClr val="000000"/>
                </a:solidFill>
              </a:rPr>
              <a:t>             OUTPUT_DATA_ARRAY);	// Output Data</a:t>
            </a:r>
          </a:p>
        </p:txBody>
      </p:sp>
    </p:spTree>
    <p:extLst>
      <p:ext uri="{BB962C8B-B14F-4D97-AF65-F5344CB8AC3E}">
        <p14:creationId xmlns:p14="http://schemas.microsoft.com/office/powerpoint/2010/main" val="27810312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FIR Function</a:t>
            </a:r>
          </a:p>
        </p:txBody>
      </p:sp>
      <p:sp>
        <p:nvSpPr>
          <p:cNvPr id="2" name="Content Placeholder 1"/>
          <p:cNvSpPr>
            <a:spLocks noGrp="1"/>
          </p:cNvSpPr>
          <p:nvPr>
            <p:ph idx="1"/>
          </p:nvPr>
        </p:nvSpPr>
        <p:spPr/>
        <p:txBody>
          <a:bodyPr/>
          <a:lstStyle/>
          <a:p>
            <a:r>
              <a:rPr lang="en-US" dirty="0"/>
              <a:t>Using the FIR</a:t>
            </a:r>
          </a:p>
          <a:p>
            <a:pPr lvl="1"/>
            <a:r>
              <a:rPr lang="en-US" dirty="0"/>
              <a:t>Include the </a:t>
            </a:r>
            <a:r>
              <a:rPr lang="en-US" dirty="0" err="1"/>
              <a:t>hls_fir.h</a:t>
            </a:r>
            <a:r>
              <a:rPr lang="en-US" dirty="0"/>
              <a:t> library in the code</a:t>
            </a:r>
          </a:p>
          <a:p>
            <a:pPr lvl="2"/>
            <a:r>
              <a:rPr lang="en-US" dirty="0"/>
              <a:t>This defines the FIR and supporting structs and types</a:t>
            </a:r>
          </a:p>
          <a:p>
            <a:pPr lvl="2"/>
            <a:r>
              <a:rPr lang="en-US" dirty="0"/>
              <a:t>Allows </a:t>
            </a:r>
            <a:r>
              <a:rPr lang="en-US" dirty="0" err="1">
                <a:solidFill>
                  <a:schemeClr val="accent6">
                    <a:lumMod val="75000"/>
                  </a:schemeClr>
                </a:solidFill>
              </a:rPr>
              <a:t>hls</a:t>
            </a:r>
            <a:r>
              <a:rPr lang="en-US" dirty="0">
                <a:solidFill>
                  <a:schemeClr val="accent6">
                    <a:lumMod val="75000"/>
                  </a:schemeClr>
                </a:solidFill>
              </a:rPr>
              <a:t>::FIR </a:t>
            </a:r>
            <a:r>
              <a:rPr lang="en-US" dirty="0"/>
              <a:t>to be instantiated in your code</a:t>
            </a:r>
          </a:p>
          <a:p>
            <a:pPr lvl="2"/>
            <a:r>
              <a:rPr lang="en-US" dirty="0"/>
              <a:t>Unlike the FFT, the FIR is instantiated as a class </a:t>
            </a:r>
            <a:br>
              <a:rPr lang="en-US" dirty="0"/>
            </a:br>
            <a:r>
              <a:rPr lang="en-US" dirty="0"/>
              <a:t>and executed with the run method</a:t>
            </a:r>
          </a:p>
          <a:p>
            <a:pPr lvl="1"/>
            <a:r>
              <a:rPr lang="en-US" dirty="0"/>
              <a:t>Create the STATIC_PARAM template parameter to configure the FIR</a:t>
            </a:r>
          </a:p>
          <a:p>
            <a:pPr lvl="2"/>
            <a:r>
              <a:rPr lang="en-US" dirty="0"/>
              <a:t>The STATIC_PARAM template parameter defines all static configuration values</a:t>
            </a:r>
          </a:p>
          <a:p>
            <a:pPr lvl="2"/>
            <a:r>
              <a:rPr lang="en-US" dirty="0"/>
              <a:t>The library provides a pre-defined struct </a:t>
            </a:r>
            <a:r>
              <a:rPr lang="en-US" dirty="0" err="1">
                <a:solidFill>
                  <a:schemeClr val="accent6">
                    <a:lumMod val="75000"/>
                  </a:schemeClr>
                </a:solidFill>
              </a:rPr>
              <a:t>hls</a:t>
            </a:r>
            <a:r>
              <a:rPr lang="en-US" dirty="0">
                <a:solidFill>
                  <a:schemeClr val="accent6">
                    <a:lumMod val="75000"/>
                  </a:schemeClr>
                </a:solidFill>
              </a:rPr>
              <a:t>::</a:t>
            </a:r>
            <a:r>
              <a:rPr lang="en-US" dirty="0" err="1">
                <a:solidFill>
                  <a:schemeClr val="accent6">
                    <a:lumMod val="75000"/>
                  </a:schemeClr>
                </a:solidFill>
              </a:rPr>
              <a:t>ip_fir</a:t>
            </a:r>
            <a:r>
              <a:rPr lang="en-US" dirty="0">
                <a:solidFill>
                  <a:schemeClr val="accent6">
                    <a:lumMod val="75000"/>
                  </a:schemeClr>
                </a:solidFill>
              </a:rPr>
              <a:t>::</a:t>
            </a:r>
            <a:r>
              <a:rPr lang="en-US" dirty="0" err="1">
                <a:solidFill>
                  <a:schemeClr val="accent6">
                    <a:lumMod val="75000"/>
                  </a:schemeClr>
                </a:solidFill>
              </a:rPr>
              <a:t>params_t</a:t>
            </a:r>
            <a:r>
              <a:rPr lang="en-US" dirty="0">
                <a:solidFill>
                  <a:schemeClr val="accent6">
                    <a:lumMod val="75000"/>
                  </a:schemeClr>
                </a:solidFill>
              </a:rPr>
              <a:t> </a:t>
            </a:r>
            <a:r>
              <a:rPr lang="en-US" dirty="0"/>
              <a:t>to perform this</a:t>
            </a:r>
            <a:endParaRPr lang="en-US" sz="1800" dirty="0"/>
          </a:p>
          <a:p>
            <a:pPr lvl="1"/>
            <a:r>
              <a:rPr lang="en-US" dirty="0"/>
              <a:t>There are no default values for the Coefficients</a:t>
            </a:r>
          </a:p>
          <a:p>
            <a:pPr lvl="2"/>
            <a:r>
              <a:rPr lang="en-US" u="sng" dirty="0"/>
              <a:t>You Must Always </a:t>
            </a:r>
            <a:r>
              <a:rPr lang="en-US" dirty="0"/>
              <a:t>create a user defined struct based on </a:t>
            </a:r>
            <a:r>
              <a:rPr lang="en-US" dirty="0" err="1">
                <a:solidFill>
                  <a:schemeClr val="accent6">
                    <a:lumMod val="75000"/>
                  </a:schemeClr>
                </a:solidFill>
              </a:rPr>
              <a:t>hls</a:t>
            </a:r>
            <a:r>
              <a:rPr lang="en-US" dirty="0">
                <a:solidFill>
                  <a:schemeClr val="accent6">
                    <a:lumMod val="75000"/>
                  </a:schemeClr>
                </a:solidFill>
              </a:rPr>
              <a:t>::</a:t>
            </a:r>
            <a:r>
              <a:rPr lang="en-US" dirty="0" err="1">
                <a:solidFill>
                  <a:schemeClr val="accent6">
                    <a:lumMod val="75000"/>
                  </a:schemeClr>
                </a:solidFill>
              </a:rPr>
              <a:t>ip_fir</a:t>
            </a:r>
            <a:r>
              <a:rPr lang="en-US" dirty="0">
                <a:solidFill>
                  <a:schemeClr val="accent6">
                    <a:lumMod val="75000"/>
                  </a:schemeClr>
                </a:solidFill>
              </a:rPr>
              <a:t>::</a:t>
            </a:r>
            <a:r>
              <a:rPr lang="en-US" dirty="0" err="1">
                <a:solidFill>
                  <a:schemeClr val="accent6">
                    <a:lumMod val="75000"/>
                  </a:schemeClr>
                </a:solidFill>
              </a:rPr>
              <a:t>params_t</a:t>
            </a:r>
            <a:r>
              <a:rPr lang="en-US" dirty="0">
                <a:solidFill>
                  <a:schemeClr val="accent6">
                    <a:lumMod val="75000"/>
                  </a:schemeClr>
                </a:solidFill>
              </a:rPr>
              <a:t> </a:t>
            </a:r>
            <a:endParaRPr lang="en-US" sz="1400" dirty="0">
              <a:solidFill>
                <a:schemeClr val="accent6">
                  <a:lumMod val="75000"/>
                </a:schemeClr>
              </a:solidFill>
            </a:endParaRPr>
          </a:p>
          <a:p>
            <a:pPr lvl="2"/>
            <a:endParaRPr lang="en-US" sz="1400" dirty="0"/>
          </a:p>
          <a:p>
            <a:pPr lvl="1"/>
            <a:endParaRPr lang="en-US" dirty="0"/>
          </a:p>
        </p:txBody>
      </p:sp>
      <p:sp>
        <p:nvSpPr>
          <p:cNvPr id="7" name="Slide Number Placeholder 6"/>
          <p:cNvSpPr>
            <a:spLocks noGrp="1"/>
          </p:cNvSpPr>
          <p:nvPr>
            <p:ph type="sldNum" sz="quarter" idx="10"/>
          </p:nvPr>
        </p:nvSpPr>
        <p:spPr/>
        <p:txBody>
          <a:bodyPr/>
          <a:lstStyle/>
          <a:p>
            <a:pPr defTabSz="914400">
              <a:defRPr/>
            </a:pPr>
            <a:r>
              <a:rPr lang="en-US" dirty="0">
                <a:solidFill>
                  <a:srgbClr val="0C0C0C">
                    <a:tint val="75000"/>
                  </a:srgbClr>
                </a:solidFill>
                <a:latin typeface="Arial"/>
              </a:rPr>
              <a:t>Coding Considerations 23- </a:t>
            </a:r>
            <a:fld id="{060BD193-E118-4B16-863C-C8C12C675E3E}" type="slidenum">
              <a:rPr lang="en-US">
                <a:solidFill>
                  <a:srgbClr val="0C0C0C">
                    <a:tint val="75000"/>
                  </a:srgbClr>
                </a:solidFill>
                <a:latin typeface="Arial"/>
              </a:rPr>
              <a:pPr defTabSz="914400">
                <a:defRPr/>
              </a:pPr>
              <a:t>81</a:t>
            </a:fld>
            <a:endParaRPr lang="en-US" dirty="0">
              <a:solidFill>
                <a:srgbClr val="0C0C0C">
                  <a:tint val="75000"/>
                </a:srgbClr>
              </a:solidFill>
              <a:latin typeface="Arial"/>
            </a:endParaRPr>
          </a:p>
        </p:txBody>
      </p:sp>
      <p:sp>
        <p:nvSpPr>
          <p:cNvPr id="6" name="TextBox 5">
            <a:extLst>
              <a:ext uri="{FF2B5EF4-FFF2-40B4-BE49-F238E27FC236}">
                <a16:creationId xmlns:a16="http://schemas.microsoft.com/office/drawing/2014/main" id="{6515FC5E-B8E1-4DC3-A9F5-6F41C921DF86}"/>
              </a:ext>
            </a:extLst>
          </p:cNvPr>
          <p:cNvSpPr txBox="1"/>
          <p:nvPr/>
        </p:nvSpPr>
        <p:spPr bwMode="auto">
          <a:xfrm>
            <a:off x="6810966" y="1723579"/>
            <a:ext cx="4591440" cy="1446550"/>
          </a:xfrm>
          <a:prstGeom prst="rect">
            <a:avLst/>
          </a:prstGeom>
          <a:solidFill>
            <a:srgbClr val="008CA8">
              <a:lumMod val="20000"/>
              <a:lumOff val="80000"/>
            </a:srgbClr>
          </a:solidFill>
          <a:ln w="9525">
            <a:noFill/>
            <a:miter lim="800000"/>
            <a:headEnd/>
            <a:tailEnd/>
          </a:ln>
          <a:effectLst>
            <a:outerShdw blurRad="50800" dist="38100" dir="2700000" algn="tl" rotWithShape="0">
              <a:prstClr val="black">
                <a:alpha val="40000"/>
              </a:prstClr>
            </a:outerShdw>
          </a:effectLst>
        </p:spPr>
        <p:txBody>
          <a:bodyPr vert="horz" wrap="square" lIns="0" tIns="45720" rIns="91440" bIns="45720" numCol="1" rtlCol="0" anchor="t" anchorCtr="0" compatLnSpc="1">
            <a:prstTxWarp prst="textNoShape">
              <a:avLst/>
            </a:prstTxWarp>
            <a:spAutoFit/>
          </a:bodyPr>
          <a:lstStyle>
            <a:defPPr>
              <a:defRPr lang="en-US"/>
            </a:defPPr>
            <a:lvl1pPr>
              <a:defRPr sz="1100"/>
            </a:lvl1pPr>
          </a:lstStyle>
          <a:p>
            <a:pPr defTabSz="914400" fontAlgn="base">
              <a:spcBef>
                <a:spcPct val="0"/>
              </a:spcBef>
              <a:spcAft>
                <a:spcPct val="0"/>
              </a:spcAft>
              <a:defRPr/>
            </a:pPr>
            <a:r>
              <a:rPr lang="en-US" b="1" kern="0" dirty="0">
                <a:solidFill>
                  <a:srgbClr val="3F3F3F"/>
                </a:solidFill>
                <a:latin typeface="Arial"/>
              </a:rPr>
              <a:t> </a:t>
            </a:r>
            <a:r>
              <a:rPr lang="en-US" b="1" kern="0" dirty="0">
                <a:solidFill>
                  <a:srgbClr val="000000"/>
                </a:solidFill>
                <a:latin typeface="Arial"/>
              </a:rPr>
              <a:t>#include "</a:t>
            </a:r>
            <a:r>
              <a:rPr lang="en-US" b="1" kern="0" dirty="0" err="1">
                <a:solidFill>
                  <a:srgbClr val="000000"/>
                </a:solidFill>
                <a:latin typeface="Arial"/>
              </a:rPr>
              <a:t>hls_fir.h</a:t>
            </a:r>
            <a:r>
              <a:rPr lang="en-US" b="1" kern="0" dirty="0">
                <a:solidFill>
                  <a:srgbClr val="000000"/>
                </a:solidFill>
                <a:latin typeface="Arial"/>
              </a:rPr>
              <a:t>“</a:t>
            </a:r>
          </a:p>
          <a:p>
            <a:pPr defTabSz="914400" fontAlgn="base">
              <a:spcBef>
                <a:spcPct val="0"/>
              </a:spcBef>
              <a:spcAft>
                <a:spcPct val="0"/>
              </a:spcAft>
              <a:defRPr/>
            </a:pPr>
            <a:endParaRPr lang="en-US" kern="0" dirty="0">
              <a:solidFill>
                <a:srgbClr val="000000"/>
              </a:solidFill>
              <a:latin typeface="Arial"/>
            </a:endParaRPr>
          </a:p>
          <a:p>
            <a:pPr defTabSz="914400" fontAlgn="base">
              <a:spcBef>
                <a:spcPct val="0"/>
              </a:spcBef>
              <a:spcAft>
                <a:spcPct val="0"/>
              </a:spcAft>
              <a:defRPr/>
            </a:pPr>
            <a:r>
              <a:rPr lang="en-US" kern="0" dirty="0">
                <a:solidFill>
                  <a:srgbClr val="000000"/>
                </a:solidFill>
                <a:latin typeface="Arial"/>
              </a:rPr>
              <a:t>// Create an instance of the FIR </a:t>
            </a:r>
          </a:p>
          <a:p>
            <a:pPr defTabSz="914400" fontAlgn="base">
              <a:spcBef>
                <a:spcPct val="0"/>
              </a:spcBef>
              <a:spcAft>
                <a:spcPct val="0"/>
              </a:spcAft>
              <a:defRPr/>
            </a:pPr>
            <a:r>
              <a:rPr lang="en-US" kern="0" dirty="0">
                <a:solidFill>
                  <a:srgbClr val="000000"/>
                </a:solidFill>
                <a:latin typeface="Arial"/>
              </a:rPr>
              <a:t>static </a:t>
            </a:r>
            <a:r>
              <a:rPr lang="en-US" kern="0" dirty="0" err="1">
                <a:solidFill>
                  <a:srgbClr val="000000"/>
                </a:solidFill>
                <a:latin typeface="Arial"/>
              </a:rPr>
              <a:t>hls</a:t>
            </a:r>
            <a:r>
              <a:rPr lang="en-US" kern="0" dirty="0">
                <a:solidFill>
                  <a:srgbClr val="000000"/>
                </a:solidFill>
                <a:latin typeface="Arial"/>
              </a:rPr>
              <a:t>::FIR&lt;STATIC_PARAM&gt; </a:t>
            </a:r>
            <a:r>
              <a:rPr lang="en-US" b="1" kern="0" dirty="0">
                <a:solidFill>
                  <a:srgbClr val="000000"/>
                </a:solidFill>
                <a:latin typeface="Arial"/>
              </a:rPr>
              <a:t>fir1</a:t>
            </a:r>
            <a:r>
              <a:rPr lang="en-US" kern="0" dirty="0">
                <a:solidFill>
                  <a:srgbClr val="000000"/>
                </a:solidFill>
                <a:latin typeface="Arial"/>
              </a:rPr>
              <a:t>;	// Static parameterization</a:t>
            </a:r>
          </a:p>
          <a:p>
            <a:pPr defTabSz="914400" fontAlgn="base">
              <a:spcBef>
                <a:spcPct val="0"/>
              </a:spcBef>
              <a:spcAft>
                <a:spcPct val="0"/>
              </a:spcAft>
              <a:defRPr/>
            </a:pPr>
            <a:endParaRPr lang="en-US" kern="0" dirty="0">
              <a:solidFill>
                <a:srgbClr val="000000"/>
              </a:solidFill>
              <a:latin typeface="Arial"/>
            </a:endParaRPr>
          </a:p>
          <a:p>
            <a:pPr defTabSz="914400" fontAlgn="base">
              <a:spcBef>
                <a:spcPct val="0"/>
              </a:spcBef>
              <a:spcAft>
                <a:spcPct val="0"/>
              </a:spcAft>
              <a:defRPr/>
            </a:pPr>
            <a:r>
              <a:rPr lang="en-US" kern="0" dirty="0">
                <a:solidFill>
                  <a:srgbClr val="000000"/>
                </a:solidFill>
                <a:latin typeface="Arial"/>
              </a:rPr>
              <a:t>// Execute the FIR instance fir1</a:t>
            </a:r>
          </a:p>
          <a:p>
            <a:pPr defTabSz="914400" fontAlgn="base">
              <a:spcBef>
                <a:spcPct val="0"/>
              </a:spcBef>
              <a:spcAft>
                <a:spcPct val="0"/>
              </a:spcAft>
              <a:defRPr/>
            </a:pPr>
            <a:r>
              <a:rPr lang="en-US" b="1" kern="0" dirty="0">
                <a:solidFill>
                  <a:srgbClr val="000000"/>
                </a:solidFill>
                <a:latin typeface="Arial"/>
              </a:rPr>
              <a:t>fir1</a:t>
            </a:r>
            <a:r>
              <a:rPr lang="en-US" kern="0" dirty="0">
                <a:solidFill>
                  <a:srgbClr val="000000"/>
                </a:solidFill>
                <a:latin typeface="Arial"/>
              </a:rPr>
              <a:t>.</a:t>
            </a:r>
            <a:r>
              <a:rPr lang="en-US" b="1" kern="0" dirty="0">
                <a:solidFill>
                  <a:srgbClr val="000000"/>
                </a:solidFill>
                <a:latin typeface="Arial"/>
              </a:rPr>
              <a:t>run</a:t>
            </a:r>
            <a:r>
              <a:rPr lang="en-US" kern="0" dirty="0">
                <a:solidFill>
                  <a:srgbClr val="000000"/>
                </a:solidFill>
                <a:latin typeface="Arial"/>
              </a:rPr>
              <a:t>(INPUT_DATA_ARRAY, 	// Input Data</a:t>
            </a:r>
          </a:p>
          <a:p>
            <a:pPr defTabSz="914400" fontAlgn="base">
              <a:spcBef>
                <a:spcPct val="0"/>
              </a:spcBef>
              <a:spcAft>
                <a:spcPct val="0"/>
              </a:spcAft>
              <a:defRPr/>
            </a:pPr>
            <a:r>
              <a:rPr lang="en-US" kern="0" dirty="0">
                <a:solidFill>
                  <a:srgbClr val="000000"/>
                </a:solidFill>
                <a:latin typeface="Arial"/>
              </a:rPr>
              <a:t>             OUTPUT_DATA_ARRAY);	// Output Data</a:t>
            </a:r>
          </a:p>
        </p:txBody>
      </p:sp>
    </p:spTree>
    <p:extLst>
      <p:ext uri="{BB962C8B-B14F-4D97-AF65-F5344CB8AC3E}">
        <p14:creationId xmlns:p14="http://schemas.microsoft.com/office/powerpoint/2010/main" val="7804404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FIR Static Configuration </a:t>
            </a:r>
          </a:p>
        </p:txBody>
      </p:sp>
      <p:sp>
        <p:nvSpPr>
          <p:cNvPr id="2" name="Content Placeholder 1"/>
          <p:cNvSpPr>
            <a:spLocks noGrp="1"/>
          </p:cNvSpPr>
          <p:nvPr>
            <p:ph idx="1"/>
          </p:nvPr>
        </p:nvSpPr>
        <p:spPr/>
        <p:txBody>
          <a:bodyPr/>
          <a:lstStyle/>
          <a:p>
            <a:r>
              <a:rPr lang="en-US" sz="2000" dirty="0"/>
              <a:t>Default Configuration Pre-defined</a:t>
            </a:r>
          </a:p>
          <a:p>
            <a:pPr lvl="1"/>
            <a:r>
              <a:rPr lang="en-US" sz="1800" dirty="0"/>
              <a:t>The </a:t>
            </a:r>
            <a:r>
              <a:rPr lang="en-US" sz="1800" dirty="0" err="1"/>
              <a:t>hls_fir.h</a:t>
            </a:r>
            <a:r>
              <a:rPr lang="en-US" sz="1800" dirty="0"/>
              <a:t> header file defines struct </a:t>
            </a:r>
            <a:r>
              <a:rPr lang="en-US" sz="1800" dirty="0" err="1">
                <a:solidFill>
                  <a:schemeClr val="accent6">
                    <a:lumMod val="75000"/>
                  </a:schemeClr>
                </a:solidFill>
              </a:rPr>
              <a:t>hls</a:t>
            </a:r>
            <a:r>
              <a:rPr lang="en-US" sz="1800" dirty="0">
                <a:solidFill>
                  <a:schemeClr val="accent6">
                    <a:lumMod val="75000"/>
                  </a:schemeClr>
                </a:solidFill>
              </a:rPr>
              <a:t>::</a:t>
            </a:r>
            <a:r>
              <a:rPr lang="en-US" sz="1800" dirty="0" err="1">
                <a:solidFill>
                  <a:schemeClr val="accent6">
                    <a:lumMod val="75000"/>
                  </a:schemeClr>
                </a:solidFill>
              </a:rPr>
              <a:t>ip_fir</a:t>
            </a:r>
            <a:r>
              <a:rPr lang="en-US" sz="1800" dirty="0">
                <a:solidFill>
                  <a:schemeClr val="accent6">
                    <a:lumMod val="75000"/>
                  </a:schemeClr>
                </a:solidFill>
              </a:rPr>
              <a:t>::</a:t>
            </a:r>
            <a:r>
              <a:rPr lang="en-US" sz="1800" dirty="0" err="1">
                <a:solidFill>
                  <a:schemeClr val="accent6">
                    <a:lumMod val="75000"/>
                  </a:schemeClr>
                </a:solidFill>
              </a:rPr>
              <a:t>params_t</a:t>
            </a:r>
            <a:endParaRPr lang="en-US" sz="1800" dirty="0">
              <a:solidFill>
                <a:schemeClr val="accent6">
                  <a:lumMod val="75000"/>
                </a:schemeClr>
              </a:solidFill>
            </a:endParaRPr>
          </a:p>
          <a:p>
            <a:pPr lvl="1"/>
            <a:r>
              <a:rPr lang="en-US" sz="1800" dirty="0"/>
              <a:t>This contains the most default values for configuring the FIR</a:t>
            </a:r>
          </a:p>
          <a:p>
            <a:r>
              <a:rPr lang="en-US" sz="2000" dirty="0"/>
              <a:t>User defined struct must be created</a:t>
            </a:r>
          </a:p>
          <a:p>
            <a:pPr lvl="1"/>
            <a:r>
              <a:rPr lang="en-US" sz="1800" dirty="0"/>
              <a:t>Allows the FIR to be easily configured</a:t>
            </a:r>
          </a:p>
          <a:p>
            <a:pPr lvl="1"/>
            <a:r>
              <a:rPr lang="en-US" sz="1800" dirty="0"/>
              <a:t>Based on </a:t>
            </a:r>
            <a:r>
              <a:rPr lang="en-US" sz="1800" dirty="0" err="1">
                <a:solidFill>
                  <a:schemeClr val="accent6">
                    <a:lumMod val="75000"/>
                  </a:schemeClr>
                </a:solidFill>
              </a:rPr>
              <a:t>hls</a:t>
            </a:r>
            <a:r>
              <a:rPr lang="en-US" sz="1800" dirty="0">
                <a:solidFill>
                  <a:schemeClr val="accent6">
                    <a:lumMod val="75000"/>
                  </a:schemeClr>
                </a:solidFill>
              </a:rPr>
              <a:t>::</a:t>
            </a:r>
            <a:r>
              <a:rPr lang="en-US" sz="1800" dirty="0" err="1">
                <a:solidFill>
                  <a:schemeClr val="accent6">
                    <a:lumMod val="75000"/>
                  </a:schemeClr>
                </a:solidFill>
              </a:rPr>
              <a:t>ip_fir</a:t>
            </a:r>
            <a:r>
              <a:rPr lang="en-US" sz="1800" dirty="0">
                <a:solidFill>
                  <a:schemeClr val="accent6">
                    <a:lumMod val="75000"/>
                  </a:schemeClr>
                </a:solidFill>
              </a:rPr>
              <a:t>::</a:t>
            </a:r>
            <a:r>
              <a:rPr lang="en-US" sz="1800" dirty="0" err="1">
                <a:solidFill>
                  <a:schemeClr val="accent6">
                    <a:lumMod val="75000"/>
                  </a:schemeClr>
                </a:solidFill>
              </a:rPr>
              <a:t>params_t</a:t>
            </a:r>
            <a:endParaRPr lang="en-US" sz="1800" dirty="0">
              <a:solidFill>
                <a:schemeClr val="accent6">
                  <a:lumMod val="75000"/>
                </a:schemeClr>
              </a:solidFill>
            </a:endParaRPr>
          </a:p>
          <a:p>
            <a:pPr lvl="1"/>
            <a:r>
              <a:rPr lang="en-US" sz="1800" dirty="0"/>
              <a:t>User struct simply updates any specified value </a:t>
            </a:r>
          </a:p>
          <a:p>
            <a:pPr lvl="1"/>
            <a:endParaRPr lang="en-US" sz="1800" dirty="0"/>
          </a:p>
        </p:txBody>
      </p:sp>
      <p:sp>
        <p:nvSpPr>
          <p:cNvPr id="12" name="Slide Number Placeholder 5">
            <a:extLst>
              <a:ext uri="{FF2B5EF4-FFF2-40B4-BE49-F238E27FC236}">
                <a16:creationId xmlns:a16="http://schemas.microsoft.com/office/drawing/2014/main" id="{7404DA43-BAF8-43C6-A413-098DA2FB38E9}"/>
              </a:ext>
            </a:extLst>
          </p:cNvPr>
          <p:cNvSpPr>
            <a:spLocks noGrp="1"/>
          </p:cNvSpPr>
          <p:nvPr>
            <p:ph type="sldNum" sz="quarter" idx="4"/>
          </p:nvPr>
        </p:nvSpPr>
        <p:spPr/>
        <p:txBody>
          <a:bodyPr/>
          <a:lstStyle/>
          <a:p>
            <a:pPr>
              <a:defRPr/>
            </a:pPr>
            <a:r>
              <a:rPr lang="en-US" dirty="0"/>
              <a:t>Coding Considerations 23- </a:t>
            </a:r>
            <a:fld id="{060BD193-E118-4B16-863C-C8C12C675E3E}" type="slidenum">
              <a:rPr lang="en-US" smtClean="0"/>
              <a:pPr>
                <a:defRPr/>
              </a:pPr>
              <a:t>82</a:t>
            </a:fld>
            <a:endParaRPr lang="en-US" dirty="0"/>
          </a:p>
        </p:txBody>
      </p:sp>
      <p:sp>
        <p:nvSpPr>
          <p:cNvPr id="8" name="TextBox 7">
            <a:extLst>
              <a:ext uri="{FF2B5EF4-FFF2-40B4-BE49-F238E27FC236}">
                <a16:creationId xmlns:a16="http://schemas.microsoft.com/office/drawing/2014/main" id="{BC67042F-2DC3-4E20-84B5-71A7992B9123}"/>
              </a:ext>
            </a:extLst>
          </p:cNvPr>
          <p:cNvSpPr txBox="1"/>
          <p:nvPr/>
        </p:nvSpPr>
        <p:spPr bwMode="auto">
          <a:xfrm>
            <a:off x="1666167" y="4154124"/>
            <a:ext cx="4157548" cy="1954381"/>
          </a:xfrm>
          <a:prstGeom prst="rect">
            <a:avLst/>
          </a:prstGeom>
          <a:solidFill>
            <a:srgbClr val="008CA8">
              <a:lumMod val="20000"/>
              <a:lumOff val="80000"/>
            </a:srgbClr>
          </a:solidFill>
          <a:ln w="9525">
            <a:noFill/>
            <a:miter lim="800000"/>
            <a:headEnd/>
            <a:tailEnd/>
          </a:ln>
          <a:effectLst>
            <a:outerShdw blurRad="50800" dist="38100" dir="2700000" algn="tl" rotWithShape="0">
              <a:prstClr val="black">
                <a:alpha val="40000"/>
              </a:prstClr>
            </a:outerShdw>
          </a:effectLst>
        </p:spPr>
        <p:txBody>
          <a:bodyPr vert="horz" wrap="none" lIns="0" tIns="45720" rIns="91440" bIns="45720" numCol="1" rtlCol="0" anchor="t" anchorCtr="0" compatLnSpc="1">
            <a:prstTxWarp prst="textNoShape">
              <a:avLst/>
            </a:prstTxWarp>
            <a:spAutoFit/>
          </a:bodyPr>
          <a:lstStyle/>
          <a:p>
            <a:pPr defTabSz="914400" fontAlgn="base">
              <a:spcBef>
                <a:spcPct val="0"/>
              </a:spcBef>
              <a:spcAft>
                <a:spcPct val="0"/>
              </a:spcAft>
              <a:defRPr/>
            </a:pPr>
            <a:r>
              <a:rPr lang="en-US" sz="1100" b="1" kern="0" dirty="0">
                <a:solidFill>
                  <a:srgbClr val="3F3F3F"/>
                </a:solidFill>
              </a:rPr>
              <a:t> </a:t>
            </a:r>
            <a:r>
              <a:rPr lang="en-US" sz="1100" kern="0" dirty="0">
                <a:solidFill>
                  <a:srgbClr val="000000"/>
                </a:solidFill>
              </a:rPr>
              <a:t>#include "</a:t>
            </a:r>
            <a:r>
              <a:rPr lang="en-US" sz="1100" kern="0" dirty="0" err="1">
                <a:solidFill>
                  <a:srgbClr val="000000"/>
                </a:solidFill>
              </a:rPr>
              <a:t>hls_fir.h</a:t>
            </a:r>
            <a:r>
              <a:rPr lang="en-US" sz="1100" kern="0" dirty="0">
                <a:solidFill>
                  <a:srgbClr val="000000"/>
                </a:solidFill>
              </a:rPr>
              <a:t>“</a:t>
            </a:r>
          </a:p>
          <a:p>
            <a:pPr defTabSz="914400" fontAlgn="base">
              <a:spcBef>
                <a:spcPct val="0"/>
              </a:spcBef>
              <a:spcAft>
                <a:spcPct val="0"/>
              </a:spcAft>
              <a:defRPr/>
            </a:pPr>
            <a:endParaRPr lang="en-US" sz="1100" kern="0" dirty="0">
              <a:solidFill>
                <a:srgbClr val="000000"/>
              </a:solidFill>
            </a:endParaRPr>
          </a:p>
          <a:p>
            <a:pPr defTabSz="914400" fontAlgn="base">
              <a:spcBef>
                <a:spcPct val="0"/>
              </a:spcBef>
              <a:spcAft>
                <a:spcPct val="0"/>
              </a:spcAft>
              <a:defRPr/>
            </a:pPr>
            <a:r>
              <a:rPr lang="en-US" sz="1100" kern="0" dirty="0">
                <a:solidFill>
                  <a:srgbClr val="000000"/>
                </a:solidFill>
              </a:rPr>
              <a:t>struct </a:t>
            </a:r>
            <a:r>
              <a:rPr lang="en-US" sz="1100" b="1" kern="0" dirty="0">
                <a:solidFill>
                  <a:srgbClr val="000000"/>
                </a:solidFill>
              </a:rPr>
              <a:t>param1</a:t>
            </a:r>
            <a:r>
              <a:rPr lang="en-US" sz="1100" kern="0" dirty="0">
                <a:solidFill>
                  <a:srgbClr val="000000"/>
                </a:solidFill>
              </a:rPr>
              <a:t> : </a:t>
            </a:r>
            <a:r>
              <a:rPr lang="en-US" sz="1100" kern="0" dirty="0" err="1">
                <a:solidFill>
                  <a:srgbClr val="8B8D09">
                    <a:lumMod val="75000"/>
                  </a:srgbClr>
                </a:solidFill>
              </a:rPr>
              <a:t>hls</a:t>
            </a:r>
            <a:r>
              <a:rPr lang="en-US" sz="1100" kern="0" dirty="0">
                <a:solidFill>
                  <a:srgbClr val="8B8D09">
                    <a:lumMod val="75000"/>
                  </a:srgbClr>
                </a:solidFill>
              </a:rPr>
              <a:t>::</a:t>
            </a:r>
            <a:r>
              <a:rPr lang="en-US" sz="1100" kern="0" dirty="0" err="1">
                <a:solidFill>
                  <a:srgbClr val="8B8D09">
                    <a:lumMod val="75000"/>
                  </a:srgbClr>
                </a:solidFill>
              </a:rPr>
              <a:t>ip_fir</a:t>
            </a:r>
            <a:r>
              <a:rPr lang="en-US" sz="1100" kern="0" dirty="0">
                <a:solidFill>
                  <a:srgbClr val="8B8D09">
                    <a:lumMod val="75000"/>
                  </a:srgbClr>
                </a:solidFill>
              </a:rPr>
              <a:t>::</a:t>
            </a:r>
            <a:r>
              <a:rPr lang="en-US" sz="1100" kern="0" dirty="0" err="1">
                <a:solidFill>
                  <a:srgbClr val="8B8D09">
                    <a:lumMod val="75000"/>
                  </a:srgbClr>
                </a:solidFill>
              </a:rPr>
              <a:t>params_t</a:t>
            </a:r>
            <a:r>
              <a:rPr lang="en-US" sz="1100" kern="0" dirty="0">
                <a:solidFill>
                  <a:srgbClr val="8B8D09">
                    <a:lumMod val="75000"/>
                  </a:srgbClr>
                </a:solidFill>
              </a:rPr>
              <a:t> </a:t>
            </a:r>
            <a:r>
              <a:rPr lang="en-US" sz="1100" kern="0" dirty="0">
                <a:solidFill>
                  <a:srgbClr val="000000"/>
                </a:solidFill>
              </a:rPr>
              <a:t>{</a:t>
            </a:r>
          </a:p>
          <a:p>
            <a:pPr defTabSz="914400" fontAlgn="base">
              <a:spcBef>
                <a:spcPct val="0"/>
              </a:spcBef>
              <a:spcAft>
                <a:spcPct val="0"/>
              </a:spcAft>
              <a:defRPr/>
            </a:pPr>
            <a:r>
              <a:rPr lang="en-US" sz="1100" kern="0" dirty="0">
                <a:solidFill>
                  <a:srgbClr val="000000"/>
                </a:solidFill>
              </a:rPr>
              <a:t>    static </a:t>
            </a:r>
            <a:r>
              <a:rPr lang="en-US" sz="1100" kern="0" dirty="0" err="1">
                <a:solidFill>
                  <a:srgbClr val="000000"/>
                </a:solidFill>
              </a:rPr>
              <a:t>const</a:t>
            </a:r>
            <a:r>
              <a:rPr lang="en-US" sz="1100" kern="0" dirty="0">
                <a:solidFill>
                  <a:srgbClr val="000000"/>
                </a:solidFill>
              </a:rPr>
              <a:t> double </a:t>
            </a:r>
            <a:r>
              <a:rPr lang="en-US" sz="1100" kern="0" dirty="0" err="1">
                <a:solidFill>
                  <a:srgbClr val="000000"/>
                </a:solidFill>
              </a:rPr>
              <a:t>coeff_vec</a:t>
            </a:r>
            <a:r>
              <a:rPr lang="en-US" sz="1100" kern="0" dirty="0">
                <a:solidFill>
                  <a:srgbClr val="000000"/>
                </a:solidFill>
              </a:rPr>
              <a:t>[</a:t>
            </a:r>
            <a:r>
              <a:rPr lang="en-US" sz="1100" kern="0" dirty="0" err="1">
                <a:solidFill>
                  <a:srgbClr val="000000"/>
                </a:solidFill>
              </a:rPr>
              <a:t>sg_fir_srrc_coeffs_len</a:t>
            </a:r>
            <a:r>
              <a:rPr lang="en-US" sz="1100" kern="0" dirty="0">
                <a:solidFill>
                  <a:srgbClr val="000000"/>
                </a:solidFill>
              </a:rPr>
              <a:t>];</a:t>
            </a:r>
          </a:p>
          <a:p>
            <a:pPr defTabSz="914400" fontAlgn="base">
              <a:spcBef>
                <a:spcPct val="0"/>
              </a:spcBef>
              <a:spcAft>
                <a:spcPct val="0"/>
              </a:spcAft>
              <a:defRPr/>
            </a:pPr>
            <a:r>
              <a:rPr lang="en-US" sz="1100" kern="0" dirty="0">
                <a:solidFill>
                  <a:srgbClr val="000000"/>
                </a:solidFill>
              </a:rPr>
              <a:t>    static </a:t>
            </a:r>
            <a:r>
              <a:rPr lang="en-US" sz="1100" kern="0" dirty="0" err="1">
                <a:solidFill>
                  <a:srgbClr val="000000"/>
                </a:solidFill>
              </a:rPr>
              <a:t>const</a:t>
            </a:r>
            <a:r>
              <a:rPr lang="en-US" sz="1100" kern="0" dirty="0">
                <a:solidFill>
                  <a:srgbClr val="000000"/>
                </a:solidFill>
              </a:rPr>
              <a:t> unsigned </a:t>
            </a:r>
            <a:r>
              <a:rPr lang="en-US" sz="1100" kern="0" dirty="0" err="1">
                <a:solidFill>
                  <a:srgbClr val="000000"/>
                </a:solidFill>
              </a:rPr>
              <a:t>num_coeffs</a:t>
            </a:r>
            <a:r>
              <a:rPr lang="en-US" sz="1100" kern="0" dirty="0">
                <a:solidFill>
                  <a:srgbClr val="000000"/>
                </a:solidFill>
              </a:rPr>
              <a:t> = </a:t>
            </a:r>
            <a:r>
              <a:rPr lang="en-US" sz="1100" kern="0" dirty="0" err="1">
                <a:solidFill>
                  <a:srgbClr val="000000"/>
                </a:solidFill>
              </a:rPr>
              <a:t>sg_fir_srrc_coeffs_len</a:t>
            </a:r>
            <a:r>
              <a:rPr lang="en-US" sz="1100" kern="0" dirty="0">
                <a:solidFill>
                  <a:srgbClr val="000000"/>
                </a:solidFill>
              </a:rPr>
              <a:t>;</a:t>
            </a:r>
          </a:p>
          <a:p>
            <a:pPr defTabSz="914400" fontAlgn="base">
              <a:spcBef>
                <a:spcPct val="0"/>
              </a:spcBef>
              <a:spcAft>
                <a:spcPct val="0"/>
              </a:spcAft>
              <a:defRPr/>
            </a:pPr>
            <a:r>
              <a:rPr lang="en-US" sz="1100" kern="0" dirty="0">
                <a:solidFill>
                  <a:srgbClr val="000000"/>
                </a:solidFill>
              </a:rPr>
              <a:t>    static </a:t>
            </a:r>
            <a:r>
              <a:rPr lang="en-US" sz="1100" kern="0" dirty="0" err="1">
                <a:solidFill>
                  <a:srgbClr val="000000"/>
                </a:solidFill>
              </a:rPr>
              <a:t>const</a:t>
            </a:r>
            <a:r>
              <a:rPr lang="en-US" sz="1100" kern="0" dirty="0">
                <a:solidFill>
                  <a:srgbClr val="000000"/>
                </a:solidFill>
              </a:rPr>
              <a:t> unsigned </a:t>
            </a:r>
            <a:r>
              <a:rPr lang="en-US" sz="1100" kern="0" dirty="0" err="1">
                <a:solidFill>
                  <a:srgbClr val="000000"/>
                </a:solidFill>
              </a:rPr>
              <a:t>input_width</a:t>
            </a:r>
            <a:r>
              <a:rPr lang="en-US" sz="1100" kern="0" dirty="0">
                <a:solidFill>
                  <a:srgbClr val="000000"/>
                </a:solidFill>
              </a:rPr>
              <a:t> = INPUT_WIDTH; </a:t>
            </a:r>
          </a:p>
          <a:p>
            <a:pPr defTabSz="914400" fontAlgn="base">
              <a:spcBef>
                <a:spcPct val="0"/>
              </a:spcBef>
              <a:spcAft>
                <a:spcPct val="0"/>
              </a:spcAft>
              <a:defRPr/>
            </a:pPr>
            <a:r>
              <a:rPr lang="en-US" sz="1100" kern="0" dirty="0">
                <a:solidFill>
                  <a:srgbClr val="000000"/>
                </a:solidFill>
              </a:rPr>
              <a:t>    static </a:t>
            </a:r>
            <a:r>
              <a:rPr lang="en-US" sz="1100" kern="0" dirty="0" err="1">
                <a:solidFill>
                  <a:srgbClr val="000000"/>
                </a:solidFill>
              </a:rPr>
              <a:t>const</a:t>
            </a:r>
            <a:r>
              <a:rPr lang="en-US" sz="1100" kern="0" dirty="0">
                <a:solidFill>
                  <a:srgbClr val="000000"/>
                </a:solidFill>
              </a:rPr>
              <a:t> unsigned quantization = </a:t>
            </a:r>
            <a:r>
              <a:rPr lang="en-US" sz="1100" kern="0" dirty="0" err="1">
                <a:solidFill>
                  <a:srgbClr val="000000"/>
                </a:solidFill>
              </a:rPr>
              <a:t>hls</a:t>
            </a:r>
            <a:r>
              <a:rPr lang="en-US" sz="1100" kern="0" dirty="0">
                <a:solidFill>
                  <a:srgbClr val="000000"/>
                </a:solidFill>
              </a:rPr>
              <a:t>::</a:t>
            </a:r>
            <a:r>
              <a:rPr lang="en-US" sz="1100" kern="0" dirty="0" err="1">
                <a:solidFill>
                  <a:srgbClr val="000000"/>
                </a:solidFill>
              </a:rPr>
              <a:t>ip_fir</a:t>
            </a:r>
            <a:r>
              <a:rPr lang="en-US" sz="1100" kern="0" dirty="0">
                <a:solidFill>
                  <a:srgbClr val="000000"/>
                </a:solidFill>
              </a:rPr>
              <a:t>::</a:t>
            </a:r>
            <a:r>
              <a:rPr lang="en-US" sz="1100" kern="0" dirty="0" err="1">
                <a:solidFill>
                  <a:srgbClr val="000000"/>
                </a:solidFill>
              </a:rPr>
              <a:t>quantize_only</a:t>
            </a:r>
            <a:r>
              <a:rPr lang="en-US" sz="1100" kern="0" dirty="0">
                <a:solidFill>
                  <a:srgbClr val="000000"/>
                </a:solidFill>
              </a:rPr>
              <a:t>;};</a:t>
            </a:r>
          </a:p>
          <a:p>
            <a:pPr defTabSz="914400" fontAlgn="base">
              <a:spcBef>
                <a:spcPct val="0"/>
              </a:spcBef>
              <a:spcAft>
                <a:spcPct val="0"/>
              </a:spcAft>
              <a:defRPr/>
            </a:pPr>
            <a:endParaRPr lang="en-US" sz="1100" kern="0" dirty="0">
              <a:solidFill>
                <a:srgbClr val="000000"/>
              </a:solidFill>
            </a:endParaRPr>
          </a:p>
          <a:p>
            <a:pPr defTabSz="914400" fontAlgn="base">
              <a:spcBef>
                <a:spcPct val="0"/>
              </a:spcBef>
              <a:spcAft>
                <a:spcPct val="0"/>
              </a:spcAft>
              <a:defRPr/>
            </a:pPr>
            <a:r>
              <a:rPr lang="en-US" sz="1100" kern="0" dirty="0">
                <a:solidFill>
                  <a:srgbClr val="000000"/>
                </a:solidFill>
              </a:rPr>
              <a:t>// Execute FIR</a:t>
            </a:r>
          </a:p>
          <a:p>
            <a:pPr defTabSz="914400" fontAlgn="base">
              <a:spcBef>
                <a:spcPct val="0"/>
              </a:spcBef>
              <a:spcAft>
                <a:spcPct val="0"/>
              </a:spcAft>
              <a:defRPr/>
            </a:pPr>
            <a:r>
              <a:rPr lang="en-US" sz="1100" kern="0" dirty="0">
                <a:solidFill>
                  <a:srgbClr val="000000"/>
                </a:solidFill>
              </a:rPr>
              <a:t>static </a:t>
            </a:r>
            <a:r>
              <a:rPr lang="en-US" sz="1100" kern="0" dirty="0" err="1">
                <a:solidFill>
                  <a:srgbClr val="000000"/>
                </a:solidFill>
              </a:rPr>
              <a:t>hls</a:t>
            </a:r>
            <a:r>
              <a:rPr lang="en-US" sz="1100" kern="0" dirty="0">
                <a:solidFill>
                  <a:srgbClr val="000000"/>
                </a:solidFill>
              </a:rPr>
              <a:t>::FIR&lt;</a:t>
            </a:r>
            <a:r>
              <a:rPr lang="en-US" sz="1100" b="1" kern="0" dirty="0">
                <a:solidFill>
                  <a:srgbClr val="000000"/>
                </a:solidFill>
              </a:rPr>
              <a:t>param1</a:t>
            </a:r>
            <a:r>
              <a:rPr lang="en-US" sz="1100" kern="0" dirty="0">
                <a:solidFill>
                  <a:srgbClr val="000000"/>
                </a:solidFill>
              </a:rPr>
              <a:t>&gt; fir1;</a:t>
            </a:r>
          </a:p>
          <a:p>
            <a:pPr defTabSz="914400" fontAlgn="base">
              <a:spcBef>
                <a:spcPct val="0"/>
              </a:spcBef>
              <a:spcAft>
                <a:spcPct val="0"/>
              </a:spcAft>
              <a:defRPr/>
            </a:pPr>
            <a:r>
              <a:rPr lang="en-US" sz="1100" kern="0" dirty="0">
                <a:solidFill>
                  <a:srgbClr val="000000"/>
                </a:solidFill>
              </a:rPr>
              <a:t>fir1.run(</a:t>
            </a:r>
            <a:r>
              <a:rPr lang="en-US" sz="1100" kern="0" dirty="0" err="1">
                <a:solidFill>
                  <a:srgbClr val="000000"/>
                </a:solidFill>
              </a:rPr>
              <a:t>fir_in</a:t>
            </a:r>
            <a:r>
              <a:rPr lang="en-US" sz="1100" kern="0" dirty="0">
                <a:solidFill>
                  <a:srgbClr val="000000"/>
                </a:solidFill>
              </a:rPr>
              <a:t>, </a:t>
            </a:r>
            <a:r>
              <a:rPr lang="en-US" sz="1100" kern="0" dirty="0" err="1">
                <a:solidFill>
                  <a:srgbClr val="000000"/>
                </a:solidFill>
              </a:rPr>
              <a:t>fir_out</a:t>
            </a:r>
            <a:r>
              <a:rPr lang="en-US" sz="1100" kern="0" dirty="0">
                <a:solidFill>
                  <a:srgbClr val="000000"/>
                </a:solidFill>
              </a:rPr>
              <a:t>);</a:t>
            </a:r>
          </a:p>
        </p:txBody>
      </p:sp>
      <p:sp>
        <p:nvSpPr>
          <p:cNvPr id="9" name="TextBox 8">
            <a:extLst>
              <a:ext uri="{FF2B5EF4-FFF2-40B4-BE49-F238E27FC236}">
                <a16:creationId xmlns:a16="http://schemas.microsoft.com/office/drawing/2014/main" id="{51533ECB-03FE-4508-93F1-7EB909C5833E}"/>
              </a:ext>
            </a:extLst>
          </p:cNvPr>
          <p:cNvSpPr txBox="1"/>
          <p:nvPr/>
        </p:nvSpPr>
        <p:spPr bwMode="auto">
          <a:xfrm>
            <a:off x="6839880" y="4154124"/>
            <a:ext cx="2328202" cy="264111"/>
          </a:xfrm>
          <a:prstGeom prst="rect">
            <a:avLst/>
          </a:prstGeom>
          <a:solidFill>
            <a:srgbClr val="FFFF99"/>
          </a:soli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0" tIns="45720" rIns="91440" bIns="45720" numCol="1" rtlCol="0" anchor="t" anchorCtr="0" compatLnSpc="1">
            <a:prstTxWarp prst="textNoShape">
              <a:avLst/>
            </a:prstTxWarp>
            <a:spAutoFit/>
          </a:bodyPr>
          <a:lstStyle/>
          <a:p>
            <a:pPr defTabSz="914400" eaLnBrk="0" fontAlgn="base" hangingPunct="0">
              <a:lnSpc>
                <a:spcPct val="110000"/>
              </a:lnSpc>
              <a:spcBef>
                <a:spcPct val="20000"/>
              </a:spcBef>
              <a:spcAft>
                <a:spcPct val="0"/>
              </a:spcAft>
              <a:buClr>
                <a:srgbClr val="EC891D"/>
              </a:buClr>
              <a:buSzPct val="88000"/>
              <a:defRPr/>
            </a:pPr>
            <a:r>
              <a:rPr lang="en-US" sz="1100" b="1" kern="0" dirty="0">
                <a:solidFill>
                  <a:srgbClr val="000000"/>
                </a:solidFill>
                <a:latin typeface="Arial"/>
              </a:rPr>
              <a:t>  Include Header File</a:t>
            </a:r>
          </a:p>
        </p:txBody>
      </p:sp>
      <p:sp>
        <p:nvSpPr>
          <p:cNvPr id="11" name="TextBox 10">
            <a:extLst>
              <a:ext uri="{FF2B5EF4-FFF2-40B4-BE49-F238E27FC236}">
                <a16:creationId xmlns:a16="http://schemas.microsoft.com/office/drawing/2014/main" id="{2CC5B1CA-26D3-4CEB-B5FE-710F1F02A6D2}"/>
              </a:ext>
            </a:extLst>
          </p:cNvPr>
          <p:cNvSpPr txBox="1"/>
          <p:nvPr/>
        </p:nvSpPr>
        <p:spPr bwMode="auto">
          <a:xfrm>
            <a:off x="6842256" y="4586281"/>
            <a:ext cx="5024780" cy="1431161"/>
          </a:xfrm>
          <a:prstGeom prst="rect">
            <a:avLst/>
          </a:prstGeom>
          <a:solidFill>
            <a:srgbClr val="FFFF99"/>
          </a:soli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0" tIns="45720" rIns="91440" bIns="45720" numCol="1" rtlCol="0" anchor="t" anchorCtr="0" compatLnSpc="1">
            <a:prstTxWarp prst="textNoShape">
              <a:avLst/>
            </a:prstTxWarp>
            <a:spAutoFit/>
          </a:bodyPr>
          <a:lstStyle/>
          <a:p>
            <a:pPr defTabSz="914400" eaLnBrk="0" fontAlgn="base" hangingPunct="0">
              <a:lnSpc>
                <a:spcPct val="110000"/>
              </a:lnSpc>
              <a:spcBef>
                <a:spcPct val="20000"/>
              </a:spcBef>
              <a:spcAft>
                <a:spcPct val="0"/>
              </a:spcAft>
              <a:buClr>
                <a:srgbClr val="EC891D"/>
              </a:buClr>
              <a:buSzPct val="88000"/>
              <a:defRPr/>
            </a:pPr>
            <a:r>
              <a:rPr lang="en-US" sz="1000" b="1" kern="0" dirty="0">
                <a:solidFill>
                  <a:srgbClr val="000000"/>
                </a:solidFill>
                <a:latin typeface="Arial"/>
              </a:rPr>
              <a:t>  Create struct based on </a:t>
            </a:r>
            <a:r>
              <a:rPr lang="en-US" sz="1000" b="1" kern="0" dirty="0" err="1">
                <a:solidFill>
                  <a:srgbClr val="000000"/>
                </a:solidFill>
                <a:latin typeface="Arial"/>
              </a:rPr>
              <a:t>hls</a:t>
            </a:r>
            <a:r>
              <a:rPr lang="en-US" sz="1000" b="1" kern="0" dirty="0">
                <a:solidFill>
                  <a:srgbClr val="000000"/>
                </a:solidFill>
                <a:latin typeface="Arial"/>
              </a:rPr>
              <a:t>::</a:t>
            </a:r>
            <a:r>
              <a:rPr lang="en-US" sz="1000" b="1" kern="0" dirty="0" err="1">
                <a:solidFill>
                  <a:srgbClr val="000000"/>
                </a:solidFill>
                <a:latin typeface="Arial"/>
              </a:rPr>
              <a:t>ip</a:t>
            </a:r>
            <a:r>
              <a:rPr lang="en-US" sz="1000" b="1" kern="0" dirty="0">
                <a:solidFill>
                  <a:srgbClr val="000000"/>
                </a:solidFill>
                <a:latin typeface="Arial"/>
              </a:rPr>
              <a:t>::</a:t>
            </a:r>
            <a:r>
              <a:rPr lang="en-US" sz="1000" b="1" kern="0" dirty="0" err="1">
                <a:solidFill>
                  <a:srgbClr val="000000"/>
                </a:solidFill>
                <a:latin typeface="Arial"/>
              </a:rPr>
              <a:t>fir:params_t</a:t>
            </a:r>
            <a:endParaRPr lang="en-US" sz="1000" b="1" kern="0" dirty="0">
              <a:solidFill>
                <a:srgbClr val="000000"/>
              </a:solidFill>
              <a:latin typeface="Arial"/>
            </a:endParaRPr>
          </a:p>
          <a:p>
            <a:pPr marL="628650" lvl="1" indent="-171450" defTabSz="914400" eaLnBrk="0" fontAlgn="base" hangingPunct="0">
              <a:lnSpc>
                <a:spcPct val="110000"/>
              </a:lnSpc>
              <a:spcBef>
                <a:spcPct val="20000"/>
              </a:spcBef>
              <a:spcAft>
                <a:spcPct val="0"/>
              </a:spcAft>
              <a:buClr>
                <a:srgbClr val="EC891D"/>
              </a:buClr>
              <a:buSzPct val="88000"/>
              <a:buFont typeface="Arial" pitchFamily="34" charset="0"/>
              <a:buChar char="•"/>
              <a:defRPr/>
            </a:pPr>
            <a:r>
              <a:rPr lang="en-US" sz="1000" b="1" kern="0" dirty="0" err="1">
                <a:solidFill>
                  <a:srgbClr val="000000"/>
                </a:solidFill>
                <a:latin typeface="Arial"/>
              </a:rPr>
              <a:t>params_t</a:t>
            </a:r>
            <a:r>
              <a:rPr lang="en-US" sz="1000" b="1" kern="0" dirty="0">
                <a:solidFill>
                  <a:srgbClr val="000000"/>
                </a:solidFill>
                <a:latin typeface="Arial"/>
              </a:rPr>
              <a:t> includes the default values</a:t>
            </a:r>
          </a:p>
          <a:p>
            <a:pPr marL="628650" lvl="1" indent="-171450" defTabSz="914400" eaLnBrk="0" fontAlgn="base" hangingPunct="0">
              <a:lnSpc>
                <a:spcPct val="110000"/>
              </a:lnSpc>
              <a:spcBef>
                <a:spcPct val="20000"/>
              </a:spcBef>
              <a:spcAft>
                <a:spcPct val="0"/>
              </a:spcAft>
              <a:buClr>
                <a:srgbClr val="EC891D"/>
              </a:buClr>
              <a:buSzPct val="88000"/>
              <a:buFont typeface="Arial" pitchFamily="34" charset="0"/>
              <a:buChar char="•"/>
              <a:defRPr/>
            </a:pPr>
            <a:r>
              <a:rPr lang="en-US" sz="1000" b="1" kern="0" dirty="0">
                <a:solidFill>
                  <a:srgbClr val="000000"/>
                </a:solidFill>
                <a:latin typeface="Arial"/>
              </a:rPr>
              <a:t>Struct </a:t>
            </a:r>
            <a:r>
              <a:rPr lang="en-US" sz="1000" b="1" i="1" kern="0" dirty="0">
                <a:solidFill>
                  <a:srgbClr val="000000"/>
                </a:solidFill>
                <a:latin typeface="Arial"/>
              </a:rPr>
              <a:t>param1</a:t>
            </a:r>
            <a:r>
              <a:rPr lang="en-US" sz="1000" b="1" kern="0" dirty="0">
                <a:solidFill>
                  <a:srgbClr val="000000"/>
                </a:solidFill>
                <a:latin typeface="Arial"/>
              </a:rPr>
              <a:t> overrides 3 default value in this example  and specifies the coefficients </a:t>
            </a:r>
          </a:p>
          <a:p>
            <a:pPr marL="1085850" lvl="2" indent="-171450" defTabSz="914400" eaLnBrk="0" fontAlgn="base" hangingPunct="0">
              <a:lnSpc>
                <a:spcPct val="110000"/>
              </a:lnSpc>
              <a:spcBef>
                <a:spcPct val="20000"/>
              </a:spcBef>
              <a:spcAft>
                <a:spcPct val="0"/>
              </a:spcAft>
              <a:buClr>
                <a:srgbClr val="EC891D"/>
              </a:buClr>
              <a:buSzPct val="88000"/>
              <a:buFont typeface="Arial" pitchFamily="34" charset="0"/>
              <a:buChar char="•"/>
              <a:defRPr/>
            </a:pPr>
            <a:r>
              <a:rPr lang="en-US" sz="1000" b="1" kern="0" dirty="0">
                <a:solidFill>
                  <a:srgbClr val="000000"/>
                </a:solidFill>
                <a:latin typeface="Arial"/>
              </a:rPr>
              <a:t>The </a:t>
            </a:r>
            <a:r>
              <a:rPr lang="en-US" sz="1000" b="1" kern="0" dirty="0" err="1">
                <a:solidFill>
                  <a:srgbClr val="000000"/>
                </a:solidFill>
                <a:latin typeface="Arial"/>
              </a:rPr>
              <a:t>coeff_vec</a:t>
            </a:r>
            <a:r>
              <a:rPr lang="en-US" sz="1000" b="1" kern="0" dirty="0">
                <a:solidFill>
                  <a:srgbClr val="000000"/>
                </a:solidFill>
                <a:latin typeface="Arial"/>
              </a:rPr>
              <a:t> has no default</a:t>
            </a:r>
          </a:p>
          <a:p>
            <a:pPr marL="628650" lvl="1" indent="-171450" defTabSz="914400" eaLnBrk="0" fontAlgn="base" hangingPunct="0">
              <a:lnSpc>
                <a:spcPct val="110000"/>
              </a:lnSpc>
              <a:spcBef>
                <a:spcPct val="20000"/>
              </a:spcBef>
              <a:spcAft>
                <a:spcPct val="0"/>
              </a:spcAft>
              <a:buClr>
                <a:srgbClr val="EC891D"/>
              </a:buClr>
              <a:buSzPct val="88000"/>
              <a:buFont typeface="Arial" pitchFamily="34" charset="0"/>
              <a:buChar char="•"/>
              <a:defRPr/>
            </a:pPr>
            <a:r>
              <a:rPr lang="en-US" sz="1000" b="1" kern="0" dirty="0">
                <a:solidFill>
                  <a:srgbClr val="000000"/>
                </a:solidFill>
                <a:latin typeface="Arial"/>
              </a:rPr>
              <a:t>Struct </a:t>
            </a:r>
            <a:r>
              <a:rPr lang="en-US" sz="1000" b="1" i="1" kern="0" dirty="0">
                <a:solidFill>
                  <a:srgbClr val="000000"/>
                </a:solidFill>
                <a:latin typeface="Arial"/>
              </a:rPr>
              <a:t>param1</a:t>
            </a:r>
            <a:r>
              <a:rPr lang="en-US" sz="1000" b="1" kern="0" dirty="0">
                <a:solidFill>
                  <a:srgbClr val="000000"/>
                </a:solidFill>
                <a:latin typeface="Arial"/>
              </a:rPr>
              <a:t> is then used to configure the FIR </a:t>
            </a:r>
          </a:p>
          <a:p>
            <a:pPr marL="628650" lvl="1" indent="-171450" defTabSz="914400" eaLnBrk="0" fontAlgn="base" hangingPunct="0">
              <a:lnSpc>
                <a:spcPct val="110000"/>
              </a:lnSpc>
              <a:spcBef>
                <a:spcPct val="20000"/>
              </a:spcBef>
              <a:spcAft>
                <a:spcPct val="0"/>
              </a:spcAft>
              <a:buClr>
                <a:srgbClr val="EC891D"/>
              </a:buClr>
              <a:buSzPct val="88000"/>
              <a:buFont typeface="Arial" pitchFamily="34" charset="0"/>
              <a:buChar char="•"/>
              <a:defRPr/>
            </a:pPr>
            <a:r>
              <a:rPr lang="en-US" sz="1000" b="1" kern="0" dirty="0">
                <a:solidFill>
                  <a:srgbClr val="000000"/>
                </a:solidFill>
                <a:latin typeface="Arial"/>
              </a:rPr>
              <a:t>Used as STATIC_PARAM in previous slide</a:t>
            </a:r>
          </a:p>
        </p:txBody>
      </p:sp>
    </p:spTree>
    <p:extLst>
      <p:ext uri="{BB962C8B-B14F-4D97-AF65-F5344CB8AC3E}">
        <p14:creationId xmlns:p14="http://schemas.microsoft.com/office/powerpoint/2010/main" val="20578865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FIR Static Configuration </a:t>
            </a:r>
          </a:p>
        </p:txBody>
      </p:sp>
      <p:sp>
        <p:nvSpPr>
          <p:cNvPr id="2" name="Content Placeholder 1"/>
          <p:cNvSpPr>
            <a:spLocks noGrp="1"/>
          </p:cNvSpPr>
          <p:nvPr>
            <p:ph idx="1"/>
          </p:nvPr>
        </p:nvSpPr>
        <p:spPr/>
        <p:txBody>
          <a:bodyPr/>
          <a:lstStyle/>
          <a:p>
            <a:r>
              <a:rPr lang="en-US" dirty="0"/>
              <a:t>Default Configuration Pre-defined</a:t>
            </a:r>
          </a:p>
          <a:p>
            <a:pPr lvl="1"/>
            <a:r>
              <a:rPr lang="en-US" dirty="0"/>
              <a:t>The </a:t>
            </a:r>
            <a:r>
              <a:rPr lang="en-US" dirty="0" err="1"/>
              <a:t>hls_fir.h</a:t>
            </a:r>
            <a:r>
              <a:rPr lang="en-US" dirty="0"/>
              <a:t> header file defines struct </a:t>
            </a:r>
            <a:r>
              <a:rPr lang="en-US" dirty="0" err="1">
                <a:solidFill>
                  <a:schemeClr val="accent6">
                    <a:lumMod val="75000"/>
                  </a:schemeClr>
                </a:solidFill>
              </a:rPr>
              <a:t>hls</a:t>
            </a:r>
            <a:r>
              <a:rPr lang="en-US" dirty="0">
                <a:solidFill>
                  <a:schemeClr val="accent6">
                    <a:lumMod val="75000"/>
                  </a:schemeClr>
                </a:solidFill>
              </a:rPr>
              <a:t>::</a:t>
            </a:r>
            <a:r>
              <a:rPr lang="en-US" dirty="0" err="1">
                <a:solidFill>
                  <a:schemeClr val="accent6">
                    <a:lumMod val="75000"/>
                  </a:schemeClr>
                </a:solidFill>
              </a:rPr>
              <a:t>ip_fir</a:t>
            </a:r>
            <a:r>
              <a:rPr lang="en-US" dirty="0">
                <a:solidFill>
                  <a:schemeClr val="accent6">
                    <a:lumMod val="75000"/>
                  </a:schemeClr>
                </a:solidFill>
              </a:rPr>
              <a:t>::</a:t>
            </a:r>
            <a:r>
              <a:rPr lang="en-US" dirty="0" err="1">
                <a:solidFill>
                  <a:schemeClr val="accent6">
                    <a:lumMod val="75000"/>
                  </a:schemeClr>
                </a:solidFill>
              </a:rPr>
              <a:t>params_t</a:t>
            </a:r>
            <a:endParaRPr lang="en-US" dirty="0">
              <a:solidFill>
                <a:schemeClr val="accent6">
                  <a:lumMod val="75000"/>
                </a:schemeClr>
              </a:solidFill>
            </a:endParaRPr>
          </a:p>
          <a:p>
            <a:pPr lvl="1"/>
            <a:r>
              <a:rPr lang="en-US" dirty="0"/>
              <a:t>This contains the </a:t>
            </a:r>
            <a:r>
              <a:rPr lang="en-US" dirty="0">
                <a:highlight>
                  <a:srgbClr val="FFFF00"/>
                </a:highlight>
              </a:rPr>
              <a:t>most </a:t>
            </a:r>
            <a:r>
              <a:rPr lang="en-US" dirty="0"/>
              <a:t>default values for configuring the FIR</a:t>
            </a:r>
          </a:p>
          <a:p>
            <a:r>
              <a:rPr lang="en-US" dirty="0"/>
              <a:t>User defined struct must be created</a:t>
            </a:r>
          </a:p>
          <a:p>
            <a:pPr lvl="1"/>
            <a:r>
              <a:rPr lang="en-US" dirty="0"/>
              <a:t>Allows the FIR to be easily configured</a:t>
            </a:r>
          </a:p>
          <a:p>
            <a:pPr lvl="1"/>
            <a:r>
              <a:rPr lang="en-US" dirty="0"/>
              <a:t>Based on </a:t>
            </a:r>
            <a:r>
              <a:rPr lang="en-US" dirty="0" err="1">
                <a:solidFill>
                  <a:schemeClr val="accent6">
                    <a:lumMod val="75000"/>
                  </a:schemeClr>
                </a:solidFill>
              </a:rPr>
              <a:t>hls</a:t>
            </a:r>
            <a:r>
              <a:rPr lang="en-US" dirty="0">
                <a:solidFill>
                  <a:schemeClr val="accent6">
                    <a:lumMod val="75000"/>
                  </a:schemeClr>
                </a:solidFill>
              </a:rPr>
              <a:t>::</a:t>
            </a:r>
            <a:r>
              <a:rPr lang="en-US" dirty="0" err="1">
                <a:solidFill>
                  <a:schemeClr val="accent6">
                    <a:lumMod val="75000"/>
                  </a:schemeClr>
                </a:solidFill>
              </a:rPr>
              <a:t>ip_fir</a:t>
            </a:r>
            <a:r>
              <a:rPr lang="en-US" dirty="0">
                <a:solidFill>
                  <a:schemeClr val="accent6">
                    <a:lumMod val="75000"/>
                  </a:schemeClr>
                </a:solidFill>
              </a:rPr>
              <a:t>::</a:t>
            </a:r>
            <a:r>
              <a:rPr lang="en-US" dirty="0" err="1">
                <a:solidFill>
                  <a:schemeClr val="accent6">
                    <a:lumMod val="75000"/>
                  </a:schemeClr>
                </a:solidFill>
              </a:rPr>
              <a:t>params_t</a:t>
            </a:r>
            <a:endParaRPr lang="en-US" dirty="0">
              <a:solidFill>
                <a:schemeClr val="accent6">
                  <a:lumMod val="75000"/>
                </a:schemeClr>
              </a:solidFill>
            </a:endParaRPr>
          </a:p>
          <a:p>
            <a:pPr lvl="1"/>
            <a:r>
              <a:rPr lang="en-US" dirty="0"/>
              <a:t>User struct simply updates any specified value </a:t>
            </a:r>
          </a:p>
          <a:p>
            <a:pPr lvl="1"/>
            <a:endParaRPr lang="en-US" dirty="0"/>
          </a:p>
        </p:txBody>
      </p:sp>
      <p:sp>
        <p:nvSpPr>
          <p:cNvPr id="10" name="Slide Number Placeholder 9"/>
          <p:cNvSpPr>
            <a:spLocks noGrp="1"/>
          </p:cNvSpPr>
          <p:nvPr>
            <p:ph type="sldNum" sz="quarter" idx="10"/>
          </p:nvPr>
        </p:nvSpPr>
        <p:spPr/>
        <p:txBody>
          <a:bodyPr/>
          <a:lstStyle/>
          <a:p>
            <a:pPr defTabSz="914400">
              <a:defRPr/>
            </a:pPr>
            <a:r>
              <a:rPr lang="en-US" dirty="0">
                <a:solidFill>
                  <a:srgbClr val="0C0C0C">
                    <a:tint val="75000"/>
                  </a:srgbClr>
                </a:solidFill>
                <a:latin typeface="Arial"/>
              </a:rPr>
              <a:t>Coding Considerations 23- </a:t>
            </a:r>
            <a:fld id="{060BD193-E118-4B16-863C-C8C12C675E3E}" type="slidenum">
              <a:rPr lang="en-US">
                <a:solidFill>
                  <a:srgbClr val="0C0C0C">
                    <a:tint val="75000"/>
                  </a:srgbClr>
                </a:solidFill>
                <a:latin typeface="Arial"/>
              </a:rPr>
              <a:pPr defTabSz="914400">
                <a:defRPr/>
              </a:pPr>
              <a:t>83</a:t>
            </a:fld>
            <a:endParaRPr lang="en-US" dirty="0">
              <a:solidFill>
                <a:srgbClr val="0C0C0C">
                  <a:tint val="75000"/>
                </a:srgbClr>
              </a:solidFill>
              <a:latin typeface="Arial"/>
            </a:endParaRPr>
          </a:p>
        </p:txBody>
      </p:sp>
      <p:sp>
        <p:nvSpPr>
          <p:cNvPr id="8" name="TextBox 7">
            <a:extLst>
              <a:ext uri="{FF2B5EF4-FFF2-40B4-BE49-F238E27FC236}">
                <a16:creationId xmlns:a16="http://schemas.microsoft.com/office/drawing/2014/main" id="{BC67042F-2DC3-4E20-84B5-71A7992B9123}"/>
              </a:ext>
            </a:extLst>
          </p:cNvPr>
          <p:cNvSpPr txBox="1"/>
          <p:nvPr/>
        </p:nvSpPr>
        <p:spPr bwMode="auto">
          <a:xfrm>
            <a:off x="1666167" y="4154124"/>
            <a:ext cx="4157548" cy="1954381"/>
          </a:xfrm>
          <a:prstGeom prst="rect">
            <a:avLst/>
          </a:prstGeom>
          <a:solidFill>
            <a:srgbClr val="008CA8">
              <a:lumMod val="20000"/>
              <a:lumOff val="80000"/>
            </a:srgbClr>
          </a:solidFill>
          <a:ln w="9525">
            <a:noFill/>
            <a:miter lim="800000"/>
            <a:headEnd/>
            <a:tailEnd/>
          </a:ln>
          <a:effectLst>
            <a:outerShdw blurRad="50800" dist="38100" dir="2700000" algn="tl" rotWithShape="0">
              <a:prstClr val="black">
                <a:alpha val="40000"/>
              </a:prstClr>
            </a:outerShdw>
          </a:effectLst>
        </p:spPr>
        <p:txBody>
          <a:bodyPr vert="horz" wrap="none" lIns="0" tIns="45720" rIns="91440" bIns="45720" numCol="1" rtlCol="0" anchor="t" anchorCtr="0" compatLnSpc="1">
            <a:prstTxWarp prst="textNoShape">
              <a:avLst/>
            </a:prstTxWarp>
            <a:spAutoFit/>
          </a:bodyPr>
          <a:lstStyle/>
          <a:p>
            <a:pPr defTabSz="914400" fontAlgn="base">
              <a:spcBef>
                <a:spcPct val="0"/>
              </a:spcBef>
              <a:spcAft>
                <a:spcPct val="0"/>
              </a:spcAft>
              <a:defRPr/>
            </a:pPr>
            <a:r>
              <a:rPr lang="en-US" sz="1100" b="1" kern="0" dirty="0">
                <a:solidFill>
                  <a:srgbClr val="3F3F3F"/>
                </a:solidFill>
                <a:latin typeface="Arial"/>
              </a:rPr>
              <a:t> </a:t>
            </a:r>
            <a:r>
              <a:rPr lang="en-US" sz="1100" kern="0" dirty="0">
                <a:solidFill>
                  <a:srgbClr val="000000"/>
                </a:solidFill>
                <a:latin typeface="Arial"/>
              </a:rPr>
              <a:t>#include "</a:t>
            </a:r>
            <a:r>
              <a:rPr lang="en-US" sz="1100" kern="0" dirty="0" err="1">
                <a:solidFill>
                  <a:srgbClr val="000000"/>
                </a:solidFill>
                <a:latin typeface="Arial"/>
              </a:rPr>
              <a:t>hls_fir.h</a:t>
            </a:r>
            <a:r>
              <a:rPr lang="en-US" sz="1100" kern="0" dirty="0">
                <a:solidFill>
                  <a:srgbClr val="000000"/>
                </a:solidFill>
                <a:latin typeface="Arial"/>
              </a:rPr>
              <a:t>“</a:t>
            </a:r>
          </a:p>
          <a:p>
            <a:pPr defTabSz="914400" fontAlgn="base">
              <a:spcBef>
                <a:spcPct val="0"/>
              </a:spcBef>
              <a:spcAft>
                <a:spcPct val="0"/>
              </a:spcAft>
              <a:defRPr/>
            </a:pPr>
            <a:endParaRPr lang="en-US" sz="1100" kern="0" dirty="0">
              <a:solidFill>
                <a:srgbClr val="000000"/>
              </a:solidFill>
              <a:latin typeface="Arial"/>
            </a:endParaRPr>
          </a:p>
          <a:p>
            <a:pPr defTabSz="914400" fontAlgn="base">
              <a:spcBef>
                <a:spcPct val="0"/>
              </a:spcBef>
              <a:spcAft>
                <a:spcPct val="0"/>
              </a:spcAft>
              <a:defRPr/>
            </a:pPr>
            <a:r>
              <a:rPr lang="en-US" sz="1100" kern="0" dirty="0">
                <a:solidFill>
                  <a:srgbClr val="000000"/>
                </a:solidFill>
                <a:latin typeface="Arial"/>
              </a:rPr>
              <a:t>struct </a:t>
            </a:r>
            <a:r>
              <a:rPr lang="en-US" sz="1100" b="1" kern="0" dirty="0">
                <a:solidFill>
                  <a:srgbClr val="000000"/>
                </a:solidFill>
                <a:latin typeface="Arial"/>
              </a:rPr>
              <a:t>param1</a:t>
            </a:r>
            <a:r>
              <a:rPr lang="en-US" sz="1100" kern="0" dirty="0">
                <a:solidFill>
                  <a:srgbClr val="000000"/>
                </a:solidFill>
                <a:latin typeface="Arial"/>
              </a:rPr>
              <a:t> : </a:t>
            </a:r>
            <a:r>
              <a:rPr lang="en-US" sz="1100" kern="0" dirty="0" err="1">
                <a:solidFill>
                  <a:srgbClr val="8B8D09">
                    <a:lumMod val="75000"/>
                  </a:srgbClr>
                </a:solidFill>
                <a:latin typeface="Arial"/>
              </a:rPr>
              <a:t>hls</a:t>
            </a:r>
            <a:r>
              <a:rPr lang="en-US" sz="1100" kern="0" dirty="0">
                <a:solidFill>
                  <a:srgbClr val="8B8D09">
                    <a:lumMod val="75000"/>
                  </a:srgbClr>
                </a:solidFill>
                <a:latin typeface="Arial"/>
              </a:rPr>
              <a:t>::</a:t>
            </a:r>
            <a:r>
              <a:rPr lang="en-US" sz="1100" kern="0" dirty="0" err="1">
                <a:solidFill>
                  <a:srgbClr val="8B8D09">
                    <a:lumMod val="75000"/>
                  </a:srgbClr>
                </a:solidFill>
                <a:latin typeface="Arial"/>
              </a:rPr>
              <a:t>ip_fir</a:t>
            </a:r>
            <a:r>
              <a:rPr lang="en-US" sz="1100" kern="0" dirty="0">
                <a:solidFill>
                  <a:srgbClr val="8B8D09">
                    <a:lumMod val="75000"/>
                  </a:srgbClr>
                </a:solidFill>
                <a:latin typeface="Arial"/>
              </a:rPr>
              <a:t>::</a:t>
            </a:r>
            <a:r>
              <a:rPr lang="en-US" sz="1100" kern="0" dirty="0" err="1">
                <a:solidFill>
                  <a:srgbClr val="8B8D09">
                    <a:lumMod val="75000"/>
                  </a:srgbClr>
                </a:solidFill>
                <a:latin typeface="Arial"/>
              </a:rPr>
              <a:t>params_t</a:t>
            </a:r>
            <a:r>
              <a:rPr lang="en-US" sz="1100" kern="0" dirty="0">
                <a:solidFill>
                  <a:srgbClr val="8B8D09">
                    <a:lumMod val="75000"/>
                  </a:srgbClr>
                </a:solidFill>
                <a:latin typeface="Arial"/>
              </a:rPr>
              <a:t> </a:t>
            </a:r>
            <a:r>
              <a:rPr lang="en-US" sz="1100" kern="0" dirty="0">
                <a:solidFill>
                  <a:srgbClr val="000000"/>
                </a:solidFill>
                <a:latin typeface="Arial"/>
              </a:rPr>
              <a:t>{</a:t>
            </a:r>
          </a:p>
          <a:p>
            <a:pPr defTabSz="914400" fontAlgn="base">
              <a:spcBef>
                <a:spcPct val="0"/>
              </a:spcBef>
              <a:spcAft>
                <a:spcPct val="0"/>
              </a:spcAft>
              <a:defRPr/>
            </a:pPr>
            <a:r>
              <a:rPr lang="en-US" sz="1100" kern="0" dirty="0">
                <a:solidFill>
                  <a:srgbClr val="000000"/>
                </a:solidFill>
                <a:latin typeface="Arial"/>
              </a:rPr>
              <a:t>    static </a:t>
            </a:r>
            <a:r>
              <a:rPr lang="en-US" sz="1100" kern="0" dirty="0" err="1">
                <a:solidFill>
                  <a:srgbClr val="000000"/>
                </a:solidFill>
                <a:latin typeface="Arial"/>
              </a:rPr>
              <a:t>const</a:t>
            </a:r>
            <a:r>
              <a:rPr lang="en-US" sz="1100" kern="0" dirty="0">
                <a:solidFill>
                  <a:srgbClr val="000000"/>
                </a:solidFill>
                <a:latin typeface="Arial"/>
              </a:rPr>
              <a:t> double </a:t>
            </a:r>
            <a:r>
              <a:rPr lang="en-US" sz="1100" kern="0" dirty="0" err="1">
                <a:solidFill>
                  <a:srgbClr val="000000"/>
                </a:solidFill>
                <a:latin typeface="Arial"/>
              </a:rPr>
              <a:t>coeff_vec</a:t>
            </a:r>
            <a:r>
              <a:rPr lang="en-US" sz="1100" kern="0" dirty="0">
                <a:solidFill>
                  <a:srgbClr val="000000"/>
                </a:solidFill>
                <a:latin typeface="Arial"/>
              </a:rPr>
              <a:t>[</a:t>
            </a:r>
            <a:r>
              <a:rPr lang="en-US" sz="1100" kern="0" dirty="0" err="1">
                <a:solidFill>
                  <a:srgbClr val="000000"/>
                </a:solidFill>
                <a:latin typeface="Arial"/>
              </a:rPr>
              <a:t>sg_fir_srrc_coeffs_len</a:t>
            </a:r>
            <a:r>
              <a:rPr lang="en-US" sz="1100" kern="0" dirty="0">
                <a:solidFill>
                  <a:srgbClr val="000000"/>
                </a:solidFill>
                <a:latin typeface="Arial"/>
              </a:rPr>
              <a:t>];</a:t>
            </a:r>
          </a:p>
          <a:p>
            <a:pPr defTabSz="914400" fontAlgn="base">
              <a:spcBef>
                <a:spcPct val="0"/>
              </a:spcBef>
              <a:spcAft>
                <a:spcPct val="0"/>
              </a:spcAft>
              <a:defRPr/>
            </a:pPr>
            <a:r>
              <a:rPr lang="en-US" sz="1100" kern="0" dirty="0">
                <a:solidFill>
                  <a:srgbClr val="000000"/>
                </a:solidFill>
                <a:latin typeface="Arial"/>
              </a:rPr>
              <a:t>    static </a:t>
            </a:r>
            <a:r>
              <a:rPr lang="en-US" sz="1100" kern="0" dirty="0" err="1">
                <a:solidFill>
                  <a:srgbClr val="000000"/>
                </a:solidFill>
                <a:latin typeface="Arial"/>
              </a:rPr>
              <a:t>const</a:t>
            </a:r>
            <a:r>
              <a:rPr lang="en-US" sz="1100" kern="0" dirty="0">
                <a:solidFill>
                  <a:srgbClr val="000000"/>
                </a:solidFill>
                <a:latin typeface="Arial"/>
              </a:rPr>
              <a:t> unsigned </a:t>
            </a:r>
            <a:r>
              <a:rPr lang="en-US" sz="1100" kern="0" dirty="0" err="1">
                <a:solidFill>
                  <a:srgbClr val="000000"/>
                </a:solidFill>
                <a:latin typeface="Arial"/>
              </a:rPr>
              <a:t>num_coeffs</a:t>
            </a:r>
            <a:r>
              <a:rPr lang="en-US" sz="1100" kern="0" dirty="0">
                <a:solidFill>
                  <a:srgbClr val="000000"/>
                </a:solidFill>
                <a:latin typeface="Arial"/>
              </a:rPr>
              <a:t> = </a:t>
            </a:r>
            <a:r>
              <a:rPr lang="en-US" sz="1100" kern="0" dirty="0" err="1">
                <a:solidFill>
                  <a:srgbClr val="000000"/>
                </a:solidFill>
                <a:latin typeface="Arial"/>
              </a:rPr>
              <a:t>sg_fir_srrc_coeffs_len</a:t>
            </a:r>
            <a:r>
              <a:rPr lang="en-US" sz="1100" kern="0" dirty="0">
                <a:solidFill>
                  <a:srgbClr val="000000"/>
                </a:solidFill>
                <a:latin typeface="Arial"/>
              </a:rPr>
              <a:t>;</a:t>
            </a:r>
          </a:p>
          <a:p>
            <a:pPr defTabSz="914400" fontAlgn="base">
              <a:spcBef>
                <a:spcPct val="0"/>
              </a:spcBef>
              <a:spcAft>
                <a:spcPct val="0"/>
              </a:spcAft>
              <a:defRPr/>
            </a:pPr>
            <a:r>
              <a:rPr lang="en-US" sz="1100" kern="0" dirty="0">
                <a:solidFill>
                  <a:srgbClr val="000000"/>
                </a:solidFill>
                <a:latin typeface="Arial"/>
              </a:rPr>
              <a:t>    static </a:t>
            </a:r>
            <a:r>
              <a:rPr lang="en-US" sz="1100" kern="0" dirty="0" err="1">
                <a:solidFill>
                  <a:srgbClr val="000000"/>
                </a:solidFill>
                <a:latin typeface="Arial"/>
              </a:rPr>
              <a:t>const</a:t>
            </a:r>
            <a:r>
              <a:rPr lang="en-US" sz="1100" kern="0" dirty="0">
                <a:solidFill>
                  <a:srgbClr val="000000"/>
                </a:solidFill>
                <a:latin typeface="Arial"/>
              </a:rPr>
              <a:t> unsigned </a:t>
            </a:r>
            <a:r>
              <a:rPr lang="en-US" sz="1100" kern="0" dirty="0" err="1">
                <a:solidFill>
                  <a:srgbClr val="000000"/>
                </a:solidFill>
                <a:latin typeface="Arial"/>
              </a:rPr>
              <a:t>input_width</a:t>
            </a:r>
            <a:r>
              <a:rPr lang="en-US" sz="1100" kern="0" dirty="0">
                <a:solidFill>
                  <a:srgbClr val="000000"/>
                </a:solidFill>
                <a:latin typeface="Arial"/>
              </a:rPr>
              <a:t> = INPUT_WIDTH; </a:t>
            </a:r>
          </a:p>
          <a:p>
            <a:pPr defTabSz="914400" fontAlgn="base">
              <a:spcBef>
                <a:spcPct val="0"/>
              </a:spcBef>
              <a:spcAft>
                <a:spcPct val="0"/>
              </a:spcAft>
              <a:defRPr/>
            </a:pPr>
            <a:r>
              <a:rPr lang="en-US" sz="1100" kern="0" dirty="0">
                <a:solidFill>
                  <a:srgbClr val="000000"/>
                </a:solidFill>
                <a:latin typeface="Arial"/>
              </a:rPr>
              <a:t>    static </a:t>
            </a:r>
            <a:r>
              <a:rPr lang="en-US" sz="1100" kern="0" dirty="0" err="1">
                <a:solidFill>
                  <a:srgbClr val="000000"/>
                </a:solidFill>
                <a:latin typeface="Arial"/>
              </a:rPr>
              <a:t>const</a:t>
            </a:r>
            <a:r>
              <a:rPr lang="en-US" sz="1100" kern="0" dirty="0">
                <a:solidFill>
                  <a:srgbClr val="000000"/>
                </a:solidFill>
                <a:latin typeface="Arial"/>
              </a:rPr>
              <a:t> unsigned quantization = </a:t>
            </a:r>
            <a:r>
              <a:rPr lang="en-US" sz="1100" kern="0" dirty="0" err="1">
                <a:solidFill>
                  <a:srgbClr val="000000"/>
                </a:solidFill>
                <a:latin typeface="Arial"/>
              </a:rPr>
              <a:t>hls</a:t>
            </a:r>
            <a:r>
              <a:rPr lang="en-US" sz="1100" kern="0" dirty="0">
                <a:solidFill>
                  <a:srgbClr val="000000"/>
                </a:solidFill>
                <a:latin typeface="Arial"/>
              </a:rPr>
              <a:t>::</a:t>
            </a:r>
            <a:r>
              <a:rPr lang="en-US" sz="1100" kern="0" dirty="0" err="1">
                <a:solidFill>
                  <a:srgbClr val="000000"/>
                </a:solidFill>
                <a:latin typeface="Arial"/>
              </a:rPr>
              <a:t>ip_fir</a:t>
            </a:r>
            <a:r>
              <a:rPr lang="en-US" sz="1100" kern="0" dirty="0">
                <a:solidFill>
                  <a:srgbClr val="000000"/>
                </a:solidFill>
                <a:latin typeface="Arial"/>
              </a:rPr>
              <a:t>::</a:t>
            </a:r>
            <a:r>
              <a:rPr lang="en-US" sz="1100" kern="0" dirty="0" err="1">
                <a:solidFill>
                  <a:srgbClr val="000000"/>
                </a:solidFill>
                <a:latin typeface="Arial"/>
              </a:rPr>
              <a:t>quantize_only</a:t>
            </a:r>
            <a:r>
              <a:rPr lang="en-US" sz="1100" kern="0" dirty="0">
                <a:solidFill>
                  <a:srgbClr val="000000"/>
                </a:solidFill>
                <a:latin typeface="Arial"/>
              </a:rPr>
              <a:t>;};</a:t>
            </a:r>
          </a:p>
          <a:p>
            <a:pPr defTabSz="914400" fontAlgn="base">
              <a:spcBef>
                <a:spcPct val="0"/>
              </a:spcBef>
              <a:spcAft>
                <a:spcPct val="0"/>
              </a:spcAft>
              <a:defRPr/>
            </a:pPr>
            <a:endParaRPr lang="en-US" sz="1100" kern="0" dirty="0">
              <a:solidFill>
                <a:srgbClr val="000000"/>
              </a:solidFill>
              <a:latin typeface="Arial"/>
            </a:endParaRPr>
          </a:p>
          <a:p>
            <a:pPr defTabSz="914400" fontAlgn="base">
              <a:spcBef>
                <a:spcPct val="0"/>
              </a:spcBef>
              <a:spcAft>
                <a:spcPct val="0"/>
              </a:spcAft>
              <a:defRPr/>
            </a:pPr>
            <a:r>
              <a:rPr lang="en-US" sz="1100" kern="0" dirty="0">
                <a:solidFill>
                  <a:srgbClr val="000000"/>
                </a:solidFill>
                <a:latin typeface="Arial"/>
              </a:rPr>
              <a:t>// Execute FIR</a:t>
            </a:r>
          </a:p>
          <a:p>
            <a:pPr defTabSz="914400" fontAlgn="base">
              <a:spcBef>
                <a:spcPct val="0"/>
              </a:spcBef>
              <a:spcAft>
                <a:spcPct val="0"/>
              </a:spcAft>
              <a:defRPr/>
            </a:pPr>
            <a:r>
              <a:rPr lang="en-US" sz="1100" kern="0" dirty="0">
                <a:solidFill>
                  <a:srgbClr val="000000"/>
                </a:solidFill>
                <a:latin typeface="Arial"/>
              </a:rPr>
              <a:t>static </a:t>
            </a:r>
            <a:r>
              <a:rPr lang="en-US" sz="1100" kern="0" dirty="0" err="1">
                <a:solidFill>
                  <a:srgbClr val="000000"/>
                </a:solidFill>
                <a:latin typeface="Arial"/>
              </a:rPr>
              <a:t>hls</a:t>
            </a:r>
            <a:r>
              <a:rPr lang="en-US" sz="1100" kern="0" dirty="0">
                <a:solidFill>
                  <a:srgbClr val="000000"/>
                </a:solidFill>
                <a:latin typeface="Arial"/>
              </a:rPr>
              <a:t>::FIR&lt;</a:t>
            </a:r>
            <a:r>
              <a:rPr lang="en-US" sz="1100" b="1" kern="0" dirty="0">
                <a:solidFill>
                  <a:srgbClr val="000000"/>
                </a:solidFill>
                <a:latin typeface="Arial"/>
              </a:rPr>
              <a:t>param1</a:t>
            </a:r>
            <a:r>
              <a:rPr lang="en-US" sz="1100" kern="0" dirty="0">
                <a:solidFill>
                  <a:srgbClr val="000000"/>
                </a:solidFill>
                <a:latin typeface="Arial"/>
              </a:rPr>
              <a:t>&gt; fir1;</a:t>
            </a:r>
          </a:p>
          <a:p>
            <a:pPr defTabSz="914400" fontAlgn="base">
              <a:spcBef>
                <a:spcPct val="0"/>
              </a:spcBef>
              <a:spcAft>
                <a:spcPct val="0"/>
              </a:spcAft>
              <a:defRPr/>
            </a:pPr>
            <a:r>
              <a:rPr lang="en-US" sz="1100" kern="0" dirty="0">
                <a:solidFill>
                  <a:srgbClr val="000000"/>
                </a:solidFill>
                <a:latin typeface="Arial"/>
              </a:rPr>
              <a:t>fir1.run(</a:t>
            </a:r>
            <a:r>
              <a:rPr lang="en-US" sz="1100" kern="0" dirty="0" err="1">
                <a:solidFill>
                  <a:srgbClr val="000000"/>
                </a:solidFill>
                <a:latin typeface="Arial"/>
              </a:rPr>
              <a:t>fir_in</a:t>
            </a:r>
            <a:r>
              <a:rPr lang="en-US" sz="1100" kern="0" dirty="0">
                <a:solidFill>
                  <a:srgbClr val="000000"/>
                </a:solidFill>
                <a:latin typeface="Arial"/>
              </a:rPr>
              <a:t>, </a:t>
            </a:r>
            <a:r>
              <a:rPr lang="en-US" sz="1100" kern="0" dirty="0" err="1">
                <a:solidFill>
                  <a:srgbClr val="000000"/>
                </a:solidFill>
                <a:latin typeface="Arial"/>
              </a:rPr>
              <a:t>fir_out</a:t>
            </a:r>
            <a:r>
              <a:rPr lang="en-US" sz="1100" kern="0" dirty="0">
                <a:solidFill>
                  <a:srgbClr val="000000"/>
                </a:solidFill>
                <a:latin typeface="Arial"/>
              </a:rPr>
              <a:t>);</a:t>
            </a:r>
          </a:p>
        </p:txBody>
      </p:sp>
      <p:sp>
        <p:nvSpPr>
          <p:cNvPr id="9" name="TextBox 8">
            <a:extLst>
              <a:ext uri="{FF2B5EF4-FFF2-40B4-BE49-F238E27FC236}">
                <a16:creationId xmlns:a16="http://schemas.microsoft.com/office/drawing/2014/main" id="{51533ECB-03FE-4508-93F1-7EB909C5833E}"/>
              </a:ext>
            </a:extLst>
          </p:cNvPr>
          <p:cNvSpPr txBox="1"/>
          <p:nvPr/>
        </p:nvSpPr>
        <p:spPr bwMode="auto">
          <a:xfrm>
            <a:off x="6839880" y="4154124"/>
            <a:ext cx="2328202" cy="264111"/>
          </a:xfrm>
          <a:prstGeom prst="rect">
            <a:avLst/>
          </a:prstGeom>
          <a:solidFill>
            <a:srgbClr val="FFFF99"/>
          </a:soli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0" tIns="45720" rIns="91440" bIns="45720" numCol="1" rtlCol="0" anchor="t" anchorCtr="0" compatLnSpc="1">
            <a:prstTxWarp prst="textNoShape">
              <a:avLst/>
            </a:prstTxWarp>
            <a:spAutoFit/>
          </a:bodyPr>
          <a:lstStyle/>
          <a:p>
            <a:pPr defTabSz="914400" eaLnBrk="0" fontAlgn="base" hangingPunct="0">
              <a:lnSpc>
                <a:spcPct val="110000"/>
              </a:lnSpc>
              <a:spcBef>
                <a:spcPct val="20000"/>
              </a:spcBef>
              <a:spcAft>
                <a:spcPct val="0"/>
              </a:spcAft>
              <a:buClr>
                <a:srgbClr val="EC891D"/>
              </a:buClr>
              <a:buSzPct val="88000"/>
              <a:defRPr/>
            </a:pPr>
            <a:r>
              <a:rPr lang="en-US" sz="1100" b="1" kern="0" dirty="0">
                <a:solidFill>
                  <a:srgbClr val="000000"/>
                </a:solidFill>
                <a:latin typeface="Arial"/>
              </a:rPr>
              <a:t>  Include Header File</a:t>
            </a:r>
          </a:p>
        </p:txBody>
      </p:sp>
      <p:sp>
        <p:nvSpPr>
          <p:cNvPr id="11" name="TextBox 10">
            <a:extLst>
              <a:ext uri="{FF2B5EF4-FFF2-40B4-BE49-F238E27FC236}">
                <a16:creationId xmlns:a16="http://schemas.microsoft.com/office/drawing/2014/main" id="{2CC5B1CA-26D3-4CEB-B5FE-710F1F02A6D2}"/>
              </a:ext>
            </a:extLst>
          </p:cNvPr>
          <p:cNvSpPr txBox="1"/>
          <p:nvPr/>
        </p:nvSpPr>
        <p:spPr bwMode="auto">
          <a:xfrm>
            <a:off x="6842256" y="4586281"/>
            <a:ext cx="5024780" cy="1431161"/>
          </a:xfrm>
          <a:prstGeom prst="rect">
            <a:avLst/>
          </a:prstGeom>
          <a:solidFill>
            <a:srgbClr val="FFFF99"/>
          </a:solidFill>
          <a:ln>
            <a:noFill/>
            <a:headEnd/>
            <a:tailE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0" tIns="45720" rIns="91440" bIns="45720" numCol="1" rtlCol="0" anchor="t" anchorCtr="0" compatLnSpc="1">
            <a:prstTxWarp prst="textNoShape">
              <a:avLst/>
            </a:prstTxWarp>
            <a:spAutoFit/>
          </a:bodyPr>
          <a:lstStyle/>
          <a:p>
            <a:pPr defTabSz="914400" eaLnBrk="0" fontAlgn="base" hangingPunct="0">
              <a:lnSpc>
                <a:spcPct val="110000"/>
              </a:lnSpc>
              <a:spcBef>
                <a:spcPct val="20000"/>
              </a:spcBef>
              <a:spcAft>
                <a:spcPct val="0"/>
              </a:spcAft>
              <a:buClr>
                <a:srgbClr val="EC891D"/>
              </a:buClr>
              <a:buSzPct val="88000"/>
              <a:defRPr/>
            </a:pPr>
            <a:r>
              <a:rPr lang="en-US" sz="1000" b="1" kern="0" dirty="0">
                <a:solidFill>
                  <a:srgbClr val="000000"/>
                </a:solidFill>
                <a:latin typeface="Arial"/>
              </a:rPr>
              <a:t>  Create struct based on </a:t>
            </a:r>
            <a:r>
              <a:rPr lang="en-US" sz="1000" b="1" kern="0" dirty="0" err="1">
                <a:solidFill>
                  <a:srgbClr val="000000"/>
                </a:solidFill>
                <a:latin typeface="Arial"/>
              </a:rPr>
              <a:t>hls</a:t>
            </a:r>
            <a:r>
              <a:rPr lang="en-US" sz="1000" b="1" kern="0" dirty="0">
                <a:solidFill>
                  <a:srgbClr val="000000"/>
                </a:solidFill>
                <a:latin typeface="Arial"/>
              </a:rPr>
              <a:t>::</a:t>
            </a:r>
            <a:r>
              <a:rPr lang="en-US" sz="1000" b="1" kern="0" dirty="0" err="1">
                <a:solidFill>
                  <a:srgbClr val="000000"/>
                </a:solidFill>
                <a:latin typeface="Arial"/>
              </a:rPr>
              <a:t>ip</a:t>
            </a:r>
            <a:r>
              <a:rPr lang="en-US" sz="1000" b="1" kern="0" dirty="0">
                <a:solidFill>
                  <a:srgbClr val="000000"/>
                </a:solidFill>
                <a:latin typeface="Arial"/>
              </a:rPr>
              <a:t>::</a:t>
            </a:r>
            <a:r>
              <a:rPr lang="en-US" sz="1000" b="1" kern="0" dirty="0" err="1">
                <a:solidFill>
                  <a:srgbClr val="000000"/>
                </a:solidFill>
                <a:latin typeface="Arial"/>
              </a:rPr>
              <a:t>fir:params_t</a:t>
            </a:r>
            <a:endParaRPr lang="en-US" sz="1000" b="1" kern="0" dirty="0">
              <a:solidFill>
                <a:srgbClr val="000000"/>
              </a:solidFill>
              <a:latin typeface="Arial"/>
            </a:endParaRPr>
          </a:p>
          <a:p>
            <a:pPr marL="628650" lvl="1" indent="-171450" defTabSz="914400" eaLnBrk="0" fontAlgn="base" hangingPunct="0">
              <a:lnSpc>
                <a:spcPct val="110000"/>
              </a:lnSpc>
              <a:spcBef>
                <a:spcPct val="20000"/>
              </a:spcBef>
              <a:spcAft>
                <a:spcPct val="0"/>
              </a:spcAft>
              <a:buClr>
                <a:srgbClr val="EC891D"/>
              </a:buClr>
              <a:buSzPct val="88000"/>
              <a:buFont typeface="Arial" pitchFamily="34" charset="0"/>
              <a:buChar char="•"/>
              <a:defRPr/>
            </a:pPr>
            <a:r>
              <a:rPr lang="en-US" sz="1000" b="1" kern="0" dirty="0" err="1">
                <a:solidFill>
                  <a:srgbClr val="000000"/>
                </a:solidFill>
                <a:latin typeface="Arial"/>
              </a:rPr>
              <a:t>params_t</a:t>
            </a:r>
            <a:r>
              <a:rPr lang="en-US" sz="1000" b="1" kern="0" dirty="0">
                <a:solidFill>
                  <a:srgbClr val="000000"/>
                </a:solidFill>
                <a:latin typeface="Arial"/>
              </a:rPr>
              <a:t> includes the default values</a:t>
            </a:r>
          </a:p>
          <a:p>
            <a:pPr marL="628650" lvl="1" indent="-171450" defTabSz="914400" eaLnBrk="0" fontAlgn="base" hangingPunct="0">
              <a:lnSpc>
                <a:spcPct val="110000"/>
              </a:lnSpc>
              <a:spcBef>
                <a:spcPct val="20000"/>
              </a:spcBef>
              <a:spcAft>
                <a:spcPct val="0"/>
              </a:spcAft>
              <a:buClr>
                <a:srgbClr val="EC891D"/>
              </a:buClr>
              <a:buSzPct val="88000"/>
              <a:buFont typeface="Arial" pitchFamily="34" charset="0"/>
              <a:buChar char="•"/>
              <a:defRPr/>
            </a:pPr>
            <a:r>
              <a:rPr lang="en-US" sz="1000" b="1" kern="0" dirty="0">
                <a:solidFill>
                  <a:srgbClr val="000000"/>
                </a:solidFill>
                <a:latin typeface="Arial"/>
              </a:rPr>
              <a:t>Struct </a:t>
            </a:r>
            <a:r>
              <a:rPr lang="en-US" sz="1000" b="1" i="1" kern="0" dirty="0">
                <a:solidFill>
                  <a:srgbClr val="000000"/>
                </a:solidFill>
                <a:latin typeface="Arial"/>
              </a:rPr>
              <a:t>param1</a:t>
            </a:r>
            <a:r>
              <a:rPr lang="en-US" sz="1000" b="1" kern="0" dirty="0">
                <a:solidFill>
                  <a:srgbClr val="000000"/>
                </a:solidFill>
                <a:latin typeface="Arial"/>
              </a:rPr>
              <a:t> overrides 3 default value in this example  and specifies the coefficients </a:t>
            </a:r>
          </a:p>
          <a:p>
            <a:pPr marL="1085850" lvl="2" indent="-171450" defTabSz="914400" eaLnBrk="0" fontAlgn="base" hangingPunct="0">
              <a:lnSpc>
                <a:spcPct val="110000"/>
              </a:lnSpc>
              <a:spcBef>
                <a:spcPct val="20000"/>
              </a:spcBef>
              <a:spcAft>
                <a:spcPct val="0"/>
              </a:spcAft>
              <a:buClr>
                <a:srgbClr val="EC891D"/>
              </a:buClr>
              <a:buSzPct val="88000"/>
              <a:buFont typeface="Arial" pitchFamily="34" charset="0"/>
              <a:buChar char="•"/>
              <a:defRPr/>
            </a:pPr>
            <a:r>
              <a:rPr lang="en-US" sz="1000" b="1" kern="0" dirty="0">
                <a:solidFill>
                  <a:srgbClr val="000000"/>
                </a:solidFill>
                <a:latin typeface="Arial"/>
              </a:rPr>
              <a:t>The </a:t>
            </a:r>
            <a:r>
              <a:rPr lang="en-US" sz="1000" b="1" kern="0" dirty="0" err="1">
                <a:solidFill>
                  <a:srgbClr val="000000"/>
                </a:solidFill>
                <a:latin typeface="Arial"/>
              </a:rPr>
              <a:t>coeff_vec</a:t>
            </a:r>
            <a:r>
              <a:rPr lang="en-US" sz="1000" b="1" kern="0" dirty="0">
                <a:solidFill>
                  <a:srgbClr val="000000"/>
                </a:solidFill>
                <a:latin typeface="Arial"/>
              </a:rPr>
              <a:t> has no default</a:t>
            </a:r>
          </a:p>
          <a:p>
            <a:pPr marL="628650" lvl="1" indent="-171450" defTabSz="914400" eaLnBrk="0" fontAlgn="base" hangingPunct="0">
              <a:lnSpc>
                <a:spcPct val="110000"/>
              </a:lnSpc>
              <a:spcBef>
                <a:spcPct val="20000"/>
              </a:spcBef>
              <a:spcAft>
                <a:spcPct val="0"/>
              </a:spcAft>
              <a:buClr>
                <a:srgbClr val="EC891D"/>
              </a:buClr>
              <a:buSzPct val="88000"/>
              <a:buFont typeface="Arial" pitchFamily="34" charset="0"/>
              <a:buChar char="•"/>
              <a:defRPr/>
            </a:pPr>
            <a:r>
              <a:rPr lang="en-US" sz="1000" b="1" kern="0" dirty="0">
                <a:solidFill>
                  <a:srgbClr val="000000"/>
                </a:solidFill>
                <a:latin typeface="Arial"/>
              </a:rPr>
              <a:t>Struct </a:t>
            </a:r>
            <a:r>
              <a:rPr lang="en-US" sz="1000" b="1" i="1" kern="0" dirty="0">
                <a:solidFill>
                  <a:srgbClr val="000000"/>
                </a:solidFill>
                <a:latin typeface="Arial"/>
              </a:rPr>
              <a:t>param1</a:t>
            </a:r>
            <a:r>
              <a:rPr lang="en-US" sz="1000" b="1" kern="0" dirty="0">
                <a:solidFill>
                  <a:srgbClr val="000000"/>
                </a:solidFill>
                <a:latin typeface="Arial"/>
              </a:rPr>
              <a:t> is then used to configure the FIR </a:t>
            </a:r>
          </a:p>
          <a:p>
            <a:pPr marL="628650" lvl="1" indent="-171450" defTabSz="914400" eaLnBrk="0" fontAlgn="base" hangingPunct="0">
              <a:lnSpc>
                <a:spcPct val="110000"/>
              </a:lnSpc>
              <a:spcBef>
                <a:spcPct val="20000"/>
              </a:spcBef>
              <a:spcAft>
                <a:spcPct val="0"/>
              </a:spcAft>
              <a:buClr>
                <a:srgbClr val="EC891D"/>
              </a:buClr>
              <a:buSzPct val="88000"/>
              <a:buFont typeface="Arial" pitchFamily="34" charset="0"/>
              <a:buChar char="•"/>
              <a:defRPr/>
            </a:pPr>
            <a:r>
              <a:rPr lang="en-US" sz="1000" b="1" kern="0" dirty="0">
                <a:solidFill>
                  <a:srgbClr val="000000"/>
                </a:solidFill>
                <a:latin typeface="Arial"/>
              </a:rPr>
              <a:t>Used as STATIC_PARAM in previous slide</a:t>
            </a:r>
          </a:p>
        </p:txBody>
      </p:sp>
    </p:spTree>
    <p:extLst>
      <p:ext uri="{BB962C8B-B14F-4D97-AF65-F5344CB8AC3E}">
        <p14:creationId xmlns:p14="http://schemas.microsoft.com/office/powerpoint/2010/main" val="233720960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FIR Configuration Parameters</a:t>
            </a:r>
          </a:p>
        </p:txBody>
      </p:sp>
      <p:sp>
        <p:nvSpPr>
          <p:cNvPr id="9" name="Slide Number Placeholder 5">
            <a:extLst>
              <a:ext uri="{FF2B5EF4-FFF2-40B4-BE49-F238E27FC236}">
                <a16:creationId xmlns:a16="http://schemas.microsoft.com/office/drawing/2014/main" id="{72333F16-8CA1-4D21-B6DD-C14C633C6CE2}"/>
              </a:ext>
            </a:extLst>
          </p:cNvPr>
          <p:cNvSpPr>
            <a:spLocks noGrp="1"/>
          </p:cNvSpPr>
          <p:nvPr>
            <p:ph type="sldNum" sz="quarter" idx="4"/>
          </p:nvPr>
        </p:nvSpPr>
        <p:spPr/>
        <p:txBody>
          <a:bodyPr/>
          <a:lstStyle/>
          <a:p>
            <a:pPr>
              <a:defRPr/>
            </a:pPr>
            <a:r>
              <a:rPr lang="en-US" dirty="0"/>
              <a:t>Coding Considerations 23- </a:t>
            </a:r>
            <a:fld id="{060BD193-E118-4B16-863C-C8C12C675E3E}" type="slidenum">
              <a:rPr lang="en-US" smtClean="0"/>
              <a:pPr>
                <a:defRPr/>
              </a:pPr>
              <a:t>84</a:t>
            </a:fld>
            <a:endParaRPr lang="en-US" dirty="0"/>
          </a:p>
        </p:txBody>
      </p:sp>
      <p:sp>
        <p:nvSpPr>
          <p:cNvPr id="7" name="TextBox 6"/>
          <p:cNvSpPr txBox="1"/>
          <p:nvPr/>
        </p:nvSpPr>
        <p:spPr bwMode="auto">
          <a:xfrm>
            <a:off x="1085039" y="5879126"/>
            <a:ext cx="6454652" cy="404663"/>
          </a:xfrm>
          <a:prstGeom prst="rect">
            <a:avLst/>
          </a:prstGeom>
          <a:noFill/>
          <a:ln w="9525">
            <a:noFill/>
            <a:miter lim="800000"/>
            <a:headEnd/>
            <a:tailEnd/>
          </a:ln>
        </p:spPr>
        <p:txBody>
          <a:bodyPr vert="horz" wrap="none" lIns="0" tIns="45720" rIns="91440" bIns="45720" numCol="1" rtlCol="0" anchor="t" anchorCtr="0" compatLnSpc="1">
            <a:prstTxWarp prst="textNoShape">
              <a:avLst/>
            </a:prstTxWarp>
            <a:spAutoFit/>
          </a:bodyPr>
          <a:lstStyle/>
          <a:p>
            <a:pPr marL="228600" indent="-228600" defTabSz="914400" eaLnBrk="0" fontAlgn="base" hangingPunct="0">
              <a:lnSpc>
                <a:spcPct val="110000"/>
              </a:lnSpc>
              <a:spcBef>
                <a:spcPct val="20000"/>
              </a:spcBef>
              <a:spcAft>
                <a:spcPct val="0"/>
              </a:spcAft>
              <a:buClr>
                <a:schemeClr val="tx2"/>
              </a:buClr>
              <a:buSzPct val="88000"/>
            </a:pPr>
            <a:r>
              <a:rPr lang="en-US" sz="2000" b="1" kern="0" dirty="0">
                <a:solidFill>
                  <a:schemeClr val="accent4"/>
                </a:solidFill>
              </a:rPr>
              <a:t>These parameters are defined in </a:t>
            </a:r>
            <a:r>
              <a:rPr lang="en-US" sz="2000" b="1" kern="0" dirty="0" err="1">
                <a:solidFill>
                  <a:schemeClr val="accent6">
                    <a:lumMod val="75000"/>
                  </a:schemeClr>
                </a:solidFill>
              </a:rPr>
              <a:t>param_t</a:t>
            </a:r>
            <a:r>
              <a:rPr lang="en-US" sz="2000" b="1" kern="0" dirty="0">
                <a:solidFill>
                  <a:schemeClr val="accent4"/>
                </a:solidFill>
              </a:rPr>
              <a:t> in </a:t>
            </a:r>
            <a:r>
              <a:rPr lang="en-US" sz="2000" b="1" kern="0" dirty="0" err="1">
                <a:solidFill>
                  <a:schemeClr val="accent6">
                    <a:lumMod val="75000"/>
                  </a:schemeClr>
                </a:solidFill>
              </a:rPr>
              <a:t>hls_fir.h</a:t>
            </a:r>
            <a:endParaRPr lang="en-US" sz="2000" b="1" kern="0" dirty="0">
              <a:solidFill>
                <a:schemeClr val="accent6">
                  <a:lumMod val="75000"/>
                </a:schemeClr>
              </a:solidFill>
            </a:endParaRPr>
          </a:p>
        </p:txBody>
      </p:sp>
      <p:graphicFrame>
        <p:nvGraphicFramePr>
          <p:cNvPr id="8" name="Table 7">
            <a:extLst>
              <a:ext uri="{FF2B5EF4-FFF2-40B4-BE49-F238E27FC236}">
                <a16:creationId xmlns:a16="http://schemas.microsoft.com/office/drawing/2014/main" id="{03EDCF55-BB70-4D70-9809-F14F12589C5F}"/>
              </a:ext>
            </a:extLst>
          </p:cNvPr>
          <p:cNvGraphicFramePr>
            <a:graphicFrameLocks noGrp="1"/>
          </p:cNvGraphicFramePr>
          <p:nvPr/>
        </p:nvGraphicFramePr>
        <p:xfrm>
          <a:off x="1172599" y="1009183"/>
          <a:ext cx="7356446" cy="4869942"/>
        </p:xfrm>
        <a:graphic>
          <a:graphicData uri="http://schemas.openxmlformats.org/drawingml/2006/table">
            <a:tbl>
              <a:tblPr firstRow="1" firstCol="1" bandRow="1"/>
              <a:tblGrid>
                <a:gridCol w="2355534">
                  <a:extLst>
                    <a:ext uri="{9D8B030D-6E8A-4147-A177-3AD203B41FA5}">
                      <a16:colId xmlns:a16="http://schemas.microsoft.com/office/drawing/2014/main" val="20000"/>
                    </a:ext>
                  </a:extLst>
                </a:gridCol>
                <a:gridCol w="5000912">
                  <a:extLst>
                    <a:ext uri="{9D8B030D-6E8A-4147-A177-3AD203B41FA5}">
                      <a16:colId xmlns:a16="http://schemas.microsoft.com/office/drawing/2014/main" val="20001"/>
                    </a:ext>
                  </a:extLst>
                </a:gridCol>
              </a:tblGrid>
              <a:tr h="129357">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900" dirty="0">
                          <a:effectLst/>
                        </a:rPr>
                        <a:t>Parameter </a:t>
                      </a:r>
                      <a:endParaRPr lang="en-US" sz="900" dirty="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900" dirty="0">
                          <a:effectLst/>
                        </a:rPr>
                        <a:t>Description</a:t>
                      </a:r>
                      <a:endParaRPr lang="en-US" sz="900" dirty="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8CA8"/>
                    </a:solidFill>
                  </a:tcPr>
                </a:tc>
                <a:extLst>
                  <a:ext uri="{0D108BD9-81ED-4DB2-BD59-A6C34878D82A}">
                    <a16:rowId xmlns:a16="http://schemas.microsoft.com/office/drawing/2014/main" val="10000"/>
                  </a:ext>
                </a:extLst>
              </a:tr>
              <a:tr h="129357">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900">
                          <a:effectLst/>
                        </a:rPr>
                        <a:t>input_width</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Data input port width</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1"/>
                  </a:ext>
                </a:extLst>
              </a:tr>
              <a:tr h="129357">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900">
                          <a:effectLst/>
                        </a:rPr>
                        <a:t>input_fractional_bits</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Number of fractional bits on the input port</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2"/>
                  </a:ext>
                </a:extLst>
              </a:tr>
              <a:tr h="129357">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900">
                          <a:effectLst/>
                        </a:rPr>
                        <a:t>output_width</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Data output port width</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3"/>
                  </a:ext>
                </a:extLst>
              </a:tr>
              <a:tr h="129357">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900">
                          <a:effectLst/>
                        </a:rPr>
                        <a:t>output_fractional_bits</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Number of fractional bits on the output port</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4"/>
                  </a:ext>
                </a:extLst>
              </a:tr>
              <a:tr h="129357">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900">
                          <a:effectLst/>
                        </a:rPr>
                        <a:t>coeff_width</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Bit-width of the coefficients</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5"/>
                  </a:ext>
                </a:extLst>
              </a:tr>
              <a:tr h="129357">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900">
                          <a:effectLst/>
                        </a:rPr>
                        <a:t>coeff_fractional_bits</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Number of fractional bits in the coefficients</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6"/>
                  </a:ext>
                </a:extLst>
              </a:tr>
              <a:tr h="129357">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900">
                          <a:effectLst/>
                        </a:rPr>
                        <a:t>num_coeffs</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Number of coefficients</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7"/>
                  </a:ext>
                </a:extLst>
              </a:tr>
              <a:tr h="129357">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900" dirty="0" err="1">
                          <a:effectLst/>
                        </a:rPr>
                        <a:t>coeff_sets</a:t>
                      </a:r>
                      <a:endParaRPr lang="en-US" sz="900" dirty="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Number of coefficient sets</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8"/>
                  </a:ext>
                </a:extLst>
              </a:tr>
              <a:tr h="129357">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900">
                          <a:effectLst/>
                        </a:rPr>
                        <a:t>input_length</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Number of samples in the input data</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9"/>
                  </a:ext>
                </a:extLst>
              </a:tr>
              <a:tr h="129357">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900">
                          <a:effectLst/>
                        </a:rPr>
                        <a:t>output_length</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Number of samples in the output data</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10"/>
                  </a:ext>
                </a:extLst>
              </a:tr>
              <a:tr h="129357">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900">
                          <a:effectLst/>
                        </a:rPr>
                        <a:t>num_channels</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Specify the number of channels of data to process</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11"/>
                  </a:ext>
                </a:extLst>
              </a:tr>
              <a:tr h="129357">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900">
                          <a:effectLst/>
                        </a:rPr>
                        <a:t>total_number_coeff</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Total number of coefficients</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12"/>
                  </a:ext>
                </a:extLst>
              </a:tr>
              <a:tr h="129357">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900">
                          <a:effectLst/>
                        </a:rPr>
                        <a:t>coeff_vec[total_num_coeff]</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The coefficient array</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13"/>
                  </a:ext>
                </a:extLst>
              </a:tr>
              <a:tr h="129357">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900">
                          <a:effectLst/>
                        </a:rPr>
                        <a:t>filter_type</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The type implementation used for the filter</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14"/>
                  </a:ext>
                </a:extLst>
              </a:tr>
              <a:tr h="129357">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900">
                          <a:effectLst/>
                        </a:rPr>
                        <a:t>rate_change</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Specifies integer or fractional rate changes</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15"/>
                  </a:ext>
                </a:extLst>
              </a:tr>
              <a:tr h="129357">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900">
                          <a:effectLst/>
                        </a:rPr>
                        <a:t>interp_rate</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The interpolation rate</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16"/>
                  </a:ext>
                </a:extLst>
              </a:tr>
              <a:tr h="129357">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tabLst>
                          <a:tab pos="680085" algn="ctr"/>
                        </a:tabLst>
                      </a:pPr>
                      <a:r>
                        <a:rPr lang="en-US" sz="900">
                          <a:effectLst/>
                        </a:rPr>
                        <a:t>decim_rate</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The decimation rate</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17"/>
                  </a:ext>
                </a:extLst>
              </a:tr>
              <a:tr h="129357">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900" dirty="0" err="1">
                          <a:effectLst/>
                        </a:rPr>
                        <a:t>zero_pack_factor</a:t>
                      </a:r>
                      <a:endParaRPr lang="en-US" sz="900" dirty="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Number of zero coefficients used in interpolation</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18"/>
                  </a:ext>
                </a:extLst>
              </a:tr>
              <a:tr h="129357">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900">
                          <a:effectLst/>
                        </a:rPr>
                        <a:t>rate_specification</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Specify the rate as frequency or period</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19"/>
                  </a:ext>
                </a:extLst>
              </a:tr>
              <a:tr h="129357">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900">
                          <a:effectLst/>
                        </a:rPr>
                        <a:t>hardware_oversampling_rate</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Specify the rate of over-sampling</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20"/>
                  </a:ext>
                </a:extLst>
              </a:tr>
              <a:tr h="129357">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900">
                          <a:effectLst/>
                        </a:rPr>
                        <a:t>sample_period</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The hardware oversample period</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21"/>
                  </a:ext>
                </a:extLst>
              </a:tr>
              <a:tr h="129357">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900">
                          <a:effectLst/>
                        </a:rPr>
                        <a:t>sample_frequency</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The hardware oversample frequency</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22"/>
                  </a:ext>
                </a:extLst>
              </a:tr>
              <a:tr h="129357">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900">
                          <a:effectLst/>
                        </a:rPr>
                        <a:t>quantization</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The quantitation method to be used</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23"/>
                  </a:ext>
                </a:extLst>
              </a:tr>
              <a:tr h="129357">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900">
                          <a:effectLst/>
                        </a:rPr>
                        <a:t>best_precision</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Enable or disable the best precision</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24"/>
                  </a:ext>
                </a:extLst>
              </a:tr>
              <a:tr h="129357">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900">
                          <a:effectLst/>
                        </a:rPr>
                        <a:t>coeff_structure</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The type of coefficient structure to be used</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25"/>
                  </a:ext>
                </a:extLst>
              </a:tr>
              <a:tr h="129357">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900">
                          <a:effectLst/>
                        </a:rPr>
                        <a:t>output_rounding_mode</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Type of rounding used on the output </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26"/>
                  </a:ext>
                </a:extLst>
              </a:tr>
              <a:tr h="129357">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900">
                          <a:effectLst/>
                        </a:rPr>
                        <a:t>filter_arch</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Selects a systolic or transposed architecture </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27"/>
                  </a:ext>
                </a:extLst>
              </a:tr>
              <a:tr h="129357">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900">
                          <a:effectLst/>
                        </a:rPr>
                        <a:t>optimization_goal</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Specify a speed or area goal for optimization</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28"/>
                  </a:ext>
                </a:extLst>
              </a:tr>
              <a:tr h="129357">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900">
                          <a:effectLst/>
                        </a:rPr>
                        <a:t>inter_column_pipe_length</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The pipeline length required between DSP columns</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29"/>
                  </a:ext>
                </a:extLst>
              </a:tr>
              <a:tr h="129357">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900">
                          <a:effectLst/>
                        </a:rPr>
                        <a:t>column_config</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Specifies the number of DSP48 column</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30"/>
                  </a:ext>
                </a:extLst>
              </a:tr>
              <a:tr h="129357">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900">
                          <a:effectLst/>
                        </a:rPr>
                        <a:t>config_method</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Specifies how the DSP48 columns are configured</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31"/>
                  </a:ext>
                </a:extLst>
              </a:tr>
              <a:tr h="129357">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900">
                          <a:effectLst/>
                        </a:rPr>
                        <a:t>coeff_padding</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dirty="0">
                          <a:effectLst/>
                        </a:rPr>
                        <a:t>Number of zero padding added to the front of the filter</a:t>
                      </a:r>
                      <a:endParaRPr lang="en-US" sz="900" dirty="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32"/>
                  </a:ext>
                </a:extLst>
              </a:tr>
            </a:tbl>
          </a:graphicData>
        </a:graphic>
      </p:graphicFrame>
    </p:spTree>
    <p:extLst>
      <p:ext uri="{BB962C8B-B14F-4D97-AF65-F5344CB8AC3E}">
        <p14:creationId xmlns:p14="http://schemas.microsoft.com/office/powerpoint/2010/main" val="37765285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FIR Configuration Parameters</a:t>
            </a:r>
          </a:p>
        </p:txBody>
      </p:sp>
      <p:sp>
        <p:nvSpPr>
          <p:cNvPr id="6" name="Slide Number Placeholder 5"/>
          <p:cNvSpPr>
            <a:spLocks noGrp="1"/>
          </p:cNvSpPr>
          <p:nvPr>
            <p:ph type="sldNum" sz="quarter" idx="10"/>
          </p:nvPr>
        </p:nvSpPr>
        <p:spPr/>
        <p:txBody>
          <a:bodyPr/>
          <a:lstStyle/>
          <a:p>
            <a:pPr defTabSz="914400">
              <a:defRPr/>
            </a:pPr>
            <a:r>
              <a:rPr lang="en-US" dirty="0">
                <a:solidFill>
                  <a:srgbClr val="0C0C0C">
                    <a:tint val="75000"/>
                  </a:srgbClr>
                </a:solidFill>
                <a:latin typeface="Arial"/>
              </a:rPr>
              <a:t>Coding Considerations 23- </a:t>
            </a:r>
            <a:fld id="{060BD193-E118-4B16-863C-C8C12C675E3E}" type="slidenum">
              <a:rPr lang="en-US">
                <a:solidFill>
                  <a:srgbClr val="0C0C0C">
                    <a:tint val="75000"/>
                  </a:srgbClr>
                </a:solidFill>
                <a:latin typeface="Arial"/>
              </a:rPr>
              <a:pPr defTabSz="914400">
                <a:defRPr/>
              </a:pPr>
              <a:t>85</a:t>
            </a:fld>
            <a:endParaRPr lang="en-US" dirty="0">
              <a:solidFill>
                <a:srgbClr val="0C0C0C">
                  <a:tint val="75000"/>
                </a:srgbClr>
              </a:solidFill>
              <a:latin typeface="Arial"/>
            </a:endParaRPr>
          </a:p>
        </p:txBody>
      </p:sp>
      <p:sp>
        <p:nvSpPr>
          <p:cNvPr id="7" name="TextBox 6"/>
          <p:cNvSpPr txBox="1"/>
          <p:nvPr/>
        </p:nvSpPr>
        <p:spPr bwMode="auto">
          <a:xfrm>
            <a:off x="1085039" y="5879126"/>
            <a:ext cx="6454652" cy="404663"/>
          </a:xfrm>
          <a:prstGeom prst="rect">
            <a:avLst/>
          </a:prstGeom>
          <a:noFill/>
          <a:ln w="9525">
            <a:noFill/>
            <a:miter lim="800000"/>
            <a:headEnd/>
            <a:tailEnd/>
          </a:ln>
        </p:spPr>
        <p:txBody>
          <a:bodyPr vert="horz" wrap="none" lIns="0" tIns="45720" rIns="91440" bIns="45720" numCol="1" rtlCol="0" anchor="t" anchorCtr="0" compatLnSpc="1">
            <a:prstTxWarp prst="textNoShape">
              <a:avLst/>
            </a:prstTxWarp>
            <a:spAutoFit/>
          </a:bodyPr>
          <a:lstStyle/>
          <a:p>
            <a:pPr marL="228600" indent="-228600" defTabSz="914400" eaLnBrk="0" fontAlgn="base" hangingPunct="0">
              <a:lnSpc>
                <a:spcPct val="110000"/>
              </a:lnSpc>
              <a:spcBef>
                <a:spcPct val="20000"/>
              </a:spcBef>
              <a:spcAft>
                <a:spcPct val="0"/>
              </a:spcAft>
              <a:buClr>
                <a:srgbClr val="161C2E"/>
              </a:buClr>
              <a:buSzPct val="88000"/>
            </a:pPr>
            <a:r>
              <a:rPr lang="en-US" sz="2000" b="1" kern="0" dirty="0">
                <a:solidFill>
                  <a:srgbClr val="1B3866"/>
                </a:solidFill>
                <a:latin typeface="Arial"/>
              </a:rPr>
              <a:t>These parameters are defined in </a:t>
            </a:r>
            <a:r>
              <a:rPr lang="en-US" sz="2000" b="1" kern="0" dirty="0" err="1">
                <a:solidFill>
                  <a:srgbClr val="1E640E">
                    <a:lumMod val="75000"/>
                  </a:srgbClr>
                </a:solidFill>
                <a:latin typeface="Arial"/>
              </a:rPr>
              <a:t>param_t</a:t>
            </a:r>
            <a:r>
              <a:rPr lang="en-US" sz="2000" b="1" kern="0" dirty="0">
                <a:solidFill>
                  <a:srgbClr val="1B3866"/>
                </a:solidFill>
                <a:latin typeface="Arial"/>
              </a:rPr>
              <a:t> in </a:t>
            </a:r>
            <a:r>
              <a:rPr lang="en-US" sz="2000" b="1" kern="0" dirty="0" err="1">
                <a:solidFill>
                  <a:srgbClr val="1E640E">
                    <a:lumMod val="75000"/>
                  </a:srgbClr>
                </a:solidFill>
                <a:latin typeface="Arial"/>
              </a:rPr>
              <a:t>hls_fir.h</a:t>
            </a:r>
            <a:endParaRPr lang="en-US" sz="2000" b="1" kern="0" dirty="0">
              <a:solidFill>
                <a:srgbClr val="1E640E">
                  <a:lumMod val="75000"/>
                </a:srgbClr>
              </a:solidFill>
              <a:latin typeface="Arial"/>
            </a:endParaRPr>
          </a:p>
        </p:txBody>
      </p:sp>
      <p:graphicFrame>
        <p:nvGraphicFramePr>
          <p:cNvPr id="8" name="Table 7">
            <a:extLst>
              <a:ext uri="{FF2B5EF4-FFF2-40B4-BE49-F238E27FC236}">
                <a16:creationId xmlns:a16="http://schemas.microsoft.com/office/drawing/2014/main" id="{03EDCF55-BB70-4D70-9809-F14F12589C5F}"/>
              </a:ext>
            </a:extLst>
          </p:cNvPr>
          <p:cNvGraphicFramePr>
            <a:graphicFrameLocks noGrp="1"/>
          </p:cNvGraphicFramePr>
          <p:nvPr/>
        </p:nvGraphicFramePr>
        <p:xfrm>
          <a:off x="1172599" y="1009183"/>
          <a:ext cx="7356446" cy="4869942"/>
        </p:xfrm>
        <a:graphic>
          <a:graphicData uri="http://schemas.openxmlformats.org/drawingml/2006/table">
            <a:tbl>
              <a:tblPr firstRow="1" firstCol="1" bandRow="1"/>
              <a:tblGrid>
                <a:gridCol w="2355534">
                  <a:extLst>
                    <a:ext uri="{9D8B030D-6E8A-4147-A177-3AD203B41FA5}">
                      <a16:colId xmlns:a16="http://schemas.microsoft.com/office/drawing/2014/main" val="20000"/>
                    </a:ext>
                  </a:extLst>
                </a:gridCol>
                <a:gridCol w="5000912">
                  <a:extLst>
                    <a:ext uri="{9D8B030D-6E8A-4147-A177-3AD203B41FA5}">
                      <a16:colId xmlns:a16="http://schemas.microsoft.com/office/drawing/2014/main" val="20001"/>
                    </a:ext>
                  </a:extLst>
                </a:gridCol>
              </a:tblGrid>
              <a:tr h="129357">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900" dirty="0">
                          <a:effectLst/>
                        </a:rPr>
                        <a:t>Parameter </a:t>
                      </a:r>
                      <a:endParaRPr lang="en-US" sz="900" dirty="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900" dirty="0">
                          <a:effectLst/>
                        </a:rPr>
                        <a:t>Description</a:t>
                      </a:r>
                      <a:endParaRPr lang="en-US" sz="900" dirty="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8CA8"/>
                    </a:solidFill>
                  </a:tcPr>
                </a:tc>
                <a:extLst>
                  <a:ext uri="{0D108BD9-81ED-4DB2-BD59-A6C34878D82A}">
                    <a16:rowId xmlns:a16="http://schemas.microsoft.com/office/drawing/2014/main" val="10000"/>
                  </a:ext>
                </a:extLst>
              </a:tr>
              <a:tr h="129357">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900">
                          <a:effectLst/>
                        </a:rPr>
                        <a:t>input_width</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Data input port width</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1"/>
                  </a:ext>
                </a:extLst>
              </a:tr>
              <a:tr h="129357">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900">
                          <a:effectLst/>
                        </a:rPr>
                        <a:t>input_fractional_bits</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Number of fractional bits on the input port</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2"/>
                  </a:ext>
                </a:extLst>
              </a:tr>
              <a:tr h="129357">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900">
                          <a:effectLst/>
                        </a:rPr>
                        <a:t>output_width</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Data output port width</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3"/>
                  </a:ext>
                </a:extLst>
              </a:tr>
              <a:tr h="129357">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900">
                          <a:effectLst/>
                        </a:rPr>
                        <a:t>output_fractional_bits</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Number of fractional bits on the output port</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4"/>
                  </a:ext>
                </a:extLst>
              </a:tr>
              <a:tr h="129357">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900">
                          <a:effectLst/>
                        </a:rPr>
                        <a:t>coeff_width</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Bit-width of the coefficients</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5"/>
                  </a:ext>
                </a:extLst>
              </a:tr>
              <a:tr h="129357">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900">
                          <a:effectLst/>
                        </a:rPr>
                        <a:t>coeff_fractional_bits</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Number of fractional bits in the coefficients</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6"/>
                  </a:ext>
                </a:extLst>
              </a:tr>
              <a:tr h="129357">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900">
                          <a:effectLst/>
                        </a:rPr>
                        <a:t>num_coeffs</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Number of coefficients</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7"/>
                  </a:ext>
                </a:extLst>
              </a:tr>
              <a:tr h="129357">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900" dirty="0" err="1">
                          <a:effectLst/>
                        </a:rPr>
                        <a:t>coeff_sets</a:t>
                      </a:r>
                      <a:endParaRPr lang="en-US" sz="900" dirty="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Number of coefficient sets</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8"/>
                  </a:ext>
                </a:extLst>
              </a:tr>
              <a:tr h="129357">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900">
                          <a:effectLst/>
                        </a:rPr>
                        <a:t>input_length</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Number of samples in the input data</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9"/>
                  </a:ext>
                </a:extLst>
              </a:tr>
              <a:tr h="129357">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900">
                          <a:effectLst/>
                        </a:rPr>
                        <a:t>output_length</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Number of samples in the output data</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10"/>
                  </a:ext>
                </a:extLst>
              </a:tr>
              <a:tr h="129357">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900">
                          <a:effectLst/>
                        </a:rPr>
                        <a:t>num_channels</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Specify the number of channels of data to process</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11"/>
                  </a:ext>
                </a:extLst>
              </a:tr>
              <a:tr h="129357">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900">
                          <a:effectLst/>
                        </a:rPr>
                        <a:t>total_number_coeff</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Total number of coefficients</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12"/>
                  </a:ext>
                </a:extLst>
              </a:tr>
              <a:tr h="129357">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900">
                          <a:effectLst/>
                        </a:rPr>
                        <a:t>coeff_vec[total_num_coeff]</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The coefficient array</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13"/>
                  </a:ext>
                </a:extLst>
              </a:tr>
              <a:tr h="129357">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900">
                          <a:effectLst/>
                        </a:rPr>
                        <a:t>filter_type</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The type implementation used for the filter</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14"/>
                  </a:ext>
                </a:extLst>
              </a:tr>
              <a:tr h="129357">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900">
                          <a:effectLst/>
                        </a:rPr>
                        <a:t>rate_change</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Specifies integer or fractional rate changes</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15"/>
                  </a:ext>
                </a:extLst>
              </a:tr>
              <a:tr h="129357">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900">
                          <a:effectLst/>
                        </a:rPr>
                        <a:t>interp_rate</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The interpolation rate</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16"/>
                  </a:ext>
                </a:extLst>
              </a:tr>
              <a:tr h="129357">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tabLst>
                          <a:tab pos="680085" algn="ctr"/>
                        </a:tabLst>
                      </a:pPr>
                      <a:r>
                        <a:rPr lang="en-US" sz="900">
                          <a:effectLst/>
                        </a:rPr>
                        <a:t>decim_rate</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The decimation rate</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17"/>
                  </a:ext>
                </a:extLst>
              </a:tr>
              <a:tr h="129357">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900" dirty="0" err="1">
                          <a:effectLst/>
                        </a:rPr>
                        <a:t>zero_pack_factor</a:t>
                      </a:r>
                      <a:endParaRPr lang="en-US" sz="900" dirty="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Number of zero coefficients used in interpolation</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18"/>
                  </a:ext>
                </a:extLst>
              </a:tr>
              <a:tr h="129357">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900">
                          <a:effectLst/>
                        </a:rPr>
                        <a:t>rate_specification</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Specify the rate as frequency or period</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19"/>
                  </a:ext>
                </a:extLst>
              </a:tr>
              <a:tr h="129357">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900">
                          <a:effectLst/>
                        </a:rPr>
                        <a:t>hardware_oversampling_rate</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Specify the rate of over-sampling</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20"/>
                  </a:ext>
                </a:extLst>
              </a:tr>
              <a:tr h="129357">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900">
                          <a:effectLst/>
                        </a:rPr>
                        <a:t>sample_period</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The hardware oversample period</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21"/>
                  </a:ext>
                </a:extLst>
              </a:tr>
              <a:tr h="129357">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900">
                          <a:effectLst/>
                        </a:rPr>
                        <a:t>sample_frequency</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The hardware oversample frequency</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22"/>
                  </a:ext>
                </a:extLst>
              </a:tr>
              <a:tr h="129357">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900">
                          <a:effectLst/>
                        </a:rPr>
                        <a:t>quantization</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The quantitation method to be used</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23"/>
                  </a:ext>
                </a:extLst>
              </a:tr>
              <a:tr h="129357">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900">
                          <a:effectLst/>
                        </a:rPr>
                        <a:t>best_precision</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Enable or disable the best precision</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24"/>
                  </a:ext>
                </a:extLst>
              </a:tr>
              <a:tr h="129357">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900">
                          <a:effectLst/>
                        </a:rPr>
                        <a:t>coeff_structure</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The type of coefficient structure to be used</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25"/>
                  </a:ext>
                </a:extLst>
              </a:tr>
              <a:tr h="129357">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900">
                          <a:effectLst/>
                        </a:rPr>
                        <a:t>output_rounding_mode</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Type of rounding used on the output </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26"/>
                  </a:ext>
                </a:extLst>
              </a:tr>
              <a:tr h="129357">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900">
                          <a:effectLst/>
                        </a:rPr>
                        <a:t>filter_arch</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Selects a systolic or transposed architecture </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27"/>
                  </a:ext>
                </a:extLst>
              </a:tr>
              <a:tr h="129357">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900">
                          <a:effectLst/>
                        </a:rPr>
                        <a:t>optimization_goal</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Specify a speed or area goal for optimization</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28"/>
                  </a:ext>
                </a:extLst>
              </a:tr>
              <a:tr h="129357">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900">
                          <a:effectLst/>
                        </a:rPr>
                        <a:t>inter_column_pipe_length</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The pipeline length required between DSP columns</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29"/>
                  </a:ext>
                </a:extLst>
              </a:tr>
              <a:tr h="129357">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900">
                          <a:effectLst/>
                        </a:rPr>
                        <a:t>column_config</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Specifies the number of DSP48 column</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30"/>
                  </a:ext>
                </a:extLst>
              </a:tr>
              <a:tr h="129357">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900">
                          <a:effectLst/>
                        </a:rPr>
                        <a:t>config_method</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a:effectLst/>
                        </a:rPr>
                        <a:t>Specifies how the DSP48 columns are configured</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31"/>
                  </a:ext>
                </a:extLst>
              </a:tr>
              <a:tr h="129357">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900">
                          <a:effectLst/>
                        </a:rPr>
                        <a:t>coeff_padding</a:t>
                      </a:r>
                      <a:endParaRPr lang="en-US" sz="90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900" dirty="0">
                          <a:effectLst/>
                        </a:rPr>
                        <a:t>Number of zero padding added to the front of the filter</a:t>
                      </a:r>
                      <a:endParaRPr lang="en-US" sz="900" dirty="0">
                        <a:effectLst/>
                        <a:latin typeface="Calibri"/>
                        <a:ea typeface="Calibri"/>
                        <a:cs typeface="Times New Roman"/>
                      </a:endParaRPr>
                    </a:p>
                  </a:txBody>
                  <a:tcPr marL="61339" marR="6133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32"/>
                  </a:ext>
                </a:extLst>
              </a:tr>
            </a:tbl>
          </a:graphicData>
        </a:graphic>
      </p:graphicFrame>
    </p:spTree>
    <p:extLst>
      <p:ext uri="{BB962C8B-B14F-4D97-AF65-F5344CB8AC3E}">
        <p14:creationId xmlns:p14="http://schemas.microsoft.com/office/powerpoint/2010/main" val="53626114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FIR Configuration Defaults and Valid Values</a:t>
            </a:r>
          </a:p>
        </p:txBody>
      </p:sp>
      <p:sp>
        <p:nvSpPr>
          <p:cNvPr id="6" name="Slide Number Placeholder 5">
            <a:extLst>
              <a:ext uri="{FF2B5EF4-FFF2-40B4-BE49-F238E27FC236}">
                <a16:creationId xmlns:a16="http://schemas.microsoft.com/office/drawing/2014/main" id="{D48DD964-328A-4A0D-A18E-06382EDD35D1}"/>
              </a:ext>
            </a:extLst>
          </p:cNvPr>
          <p:cNvSpPr>
            <a:spLocks noGrp="1"/>
          </p:cNvSpPr>
          <p:nvPr>
            <p:ph type="sldNum" sz="quarter" idx="4"/>
          </p:nvPr>
        </p:nvSpPr>
        <p:spPr/>
        <p:txBody>
          <a:bodyPr/>
          <a:lstStyle/>
          <a:p>
            <a:pPr>
              <a:defRPr/>
            </a:pPr>
            <a:r>
              <a:rPr lang="en-US" dirty="0"/>
              <a:t>Coding Considerations 23- </a:t>
            </a:r>
            <a:fld id="{060BD193-E118-4B16-863C-C8C12C675E3E}" type="slidenum">
              <a:rPr lang="en-US" smtClean="0"/>
              <a:pPr>
                <a:defRPr/>
              </a:pPr>
              <a:t>86</a:t>
            </a:fld>
            <a:endParaRPr lang="en-US" dirty="0"/>
          </a:p>
        </p:txBody>
      </p:sp>
      <p:graphicFrame>
        <p:nvGraphicFramePr>
          <p:cNvPr id="8" name="Content Placeholder 6">
            <a:extLst>
              <a:ext uri="{FF2B5EF4-FFF2-40B4-BE49-F238E27FC236}">
                <a16:creationId xmlns:a16="http://schemas.microsoft.com/office/drawing/2014/main" id="{83C6A5DA-DC20-422B-B774-1676EFA3F735}"/>
              </a:ext>
            </a:extLst>
          </p:cNvPr>
          <p:cNvGraphicFramePr>
            <a:graphicFrameLocks/>
          </p:cNvGraphicFramePr>
          <p:nvPr/>
        </p:nvGraphicFramePr>
        <p:xfrm>
          <a:off x="1080103" y="858245"/>
          <a:ext cx="10500868" cy="5348429"/>
        </p:xfrm>
        <a:graphic>
          <a:graphicData uri="http://schemas.openxmlformats.org/drawingml/2006/table">
            <a:tbl>
              <a:tblPr firstRow="1" firstCol="1" bandRow="1"/>
              <a:tblGrid>
                <a:gridCol w="2545260">
                  <a:extLst>
                    <a:ext uri="{9D8B030D-6E8A-4147-A177-3AD203B41FA5}">
                      <a16:colId xmlns:a16="http://schemas.microsoft.com/office/drawing/2014/main" val="20000"/>
                    </a:ext>
                  </a:extLst>
                </a:gridCol>
                <a:gridCol w="1425880">
                  <a:extLst>
                    <a:ext uri="{9D8B030D-6E8A-4147-A177-3AD203B41FA5}">
                      <a16:colId xmlns:a16="http://schemas.microsoft.com/office/drawing/2014/main" val="20001"/>
                    </a:ext>
                  </a:extLst>
                </a:gridCol>
                <a:gridCol w="2252089">
                  <a:extLst>
                    <a:ext uri="{9D8B030D-6E8A-4147-A177-3AD203B41FA5}">
                      <a16:colId xmlns:a16="http://schemas.microsoft.com/office/drawing/2014/main" val="20002"/>
                    </a:ext>
                  </a:extLst>
                </a:gridCol>
                <a:gridCol w="4277639">
                  <a:extLst>
                    <a:ext uri="{9D8B030D-6E8A-4147-A177-3AD203B41FA5}">
                      <a16:colId xmlns:a16="http://schemas.microsoft.com/office/drawing/2014/main" val="20003"/>
                    </a:ext>
                  </a:extLst>
                </a:gridCol>
              </a:tblGrid>
              <a:tr h="127028">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800" dirty="0">
                          <a:effectLst/>
                        </a:rPr>
                        <a:t>Parameter </a:t>
                      </a:r>
                      <a:endParaRPr lang="en-US" sz="800" dirty="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800">
                          <a:effectLst/>
                        </a:rPr>
                        <a:t>C Type</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800">
                          <a:effectLst/>
                        </a:rPr>
                        <a:t>Default Value</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800">
                          <a:effectLst/>
                        </a:rPr>
                        <a:t>Valid Values</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8CA8"/>
                    </a:solidFill>
                  </a:tcPr>
                </a:tc>
                <a:extLst>
                  <a:ext uri="{0D108BD9-81ED-4DB2-BD59-A6C34878D82A}">
                    <a16:rowId xmlns:a16="http://schemas.microsoft.com/office/drawing/2014/main" val="10000"/>
                  </a:ext>
                </a:extLst>
              </a:tr>
              <a:tr h="127028">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800">
                          <a:effectLst/>
                        </a:rPr>
                        <a:t>input_width</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unsigned</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16</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dirty="0">
                          <a:effectLst/>
                        </a:rPr>
                        <a:t>No limitation</a:t>
                      </a:r>
                      <a:endParaRPr lang="en-US" sz="800" dirty="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1"/>
                  </a:ext>
                </a:extLst>
              </a:tr>
              <a:tr h="127028">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800">
                          <a:effectLst/>
                        </a:rPr>
                        <a:t>input_fractional_bits</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unsigned</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0</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Limited by size of input_width</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2"/>
                  </a:ext>
                </a:extLst>
              </a:tr>
              <a:tr h="127028">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800">
                          <a:effectLst/>
                        </a:rPr>
                        <a:t>output_width</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unsigned</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24</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No Limitation</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3"/>
                  </a:ext>
                </a:extLst>
              </a:tr>
              <a:tr h="127028">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800">
                          <a:effectLst/>
                        </a:rPr>
                        <a:t>output_fractional_bits</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unsigned</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0</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Limited by size of output_width</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4"/>
                  </a:ext>
                </a:extLst>
              </a:tr>
              <a:tr h="127028">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800">
                          <a:effectLst/>
                        </a:rPr>
                        <a:t>coeff_width</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unsigned</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16</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No Limitation</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5"/>
                  </a:ext>
                </a:extLst>
              </a:tr>
              <a:tr h="127028">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800">
                          <a:effectLst/>
                        </a:rPr>
                        <a:t>coeff_fractional_bits</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unsigned</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0</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Limited by size of coeff_width</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6"/>
                  </a:ext>
                </a:extLst>
              </a:tr>
              <a:tr h="127028">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800">
                          <a:effectLst/>
                        </a:rPr>
                        <a:t>num_coeffs</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bool  </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21</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Full</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7"/>
                  </a:ext>
                </a:extLst>
              </a:tr>
              <a:tr h="127028">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800">
                          <a:effectLst/>
                        </a:rPr>
                        <a:t>coeff_sets</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unsigned  </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1</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1-1024</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8"/>
                  </a:ext>
                </a:extLst>
              </a:tr>
              <a:tr h="127028">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800">
                          <a:effectLst/>
                        </a:rPr>
                        <a:t>input_length</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unsigned</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21</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No Limitation</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9"/>
                  </a:ext>
                </a:extLst>
              </a:tr>
              <a:tr h="127028">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800">
                          <a:effectLst/>
                        </a:rPr>
                        <a:t>output_length</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unsigned</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21</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No Limitation</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10"/>
                  </a:ext>
                </a:extLst>
              </a:tr>
              <a:tr h="127028">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800">
                          <a:effectLst/>
                        </a:rPr>
                        <a:t>num_channels</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unsigned</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1</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1-1024</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11"/>
                  </a:ext>
                </a:extLst>
              </a:tr>
              <a:tr h="127028">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800">
                          <a:effectLst/>
                        </a:rPr>
                        <a:t>total_number_coeff</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unsigned</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21</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num_coeffs * coeff_sets</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12"/>
                  </a:ext>
                </a:extLst>
              </a:tr>
              <a:tr h="127028">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800">
                          <a:effectLst/>
                        </a:rPr>
                        <a:t>coeff_vec[total_num_coeff]</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double array</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None</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Not applicable</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13"/>
                  </a:ext>
                </a:extLst>
              </a:tr>
              <a:tr h="207357">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800">
                          <a:effectLst/>
                        </a:rPr>
                        <a:t>filter_type</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unsigned</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single_rate</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700">
                          <a:effectLst/>
                        </a:rPr>
                        <a:t>single_rate, interpolation, decimation, hibert, interpolated</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14"/>
                  </a:ext>
                </a:extLst>
              </a:tr>
              <a:tr h="127028">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800">
                          <a:effectLst/>
                        </a:rPr>
                        <a:t>rate_change</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unsigned</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integer</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700">
                          <a:effectLst/>
                        </a:rPr>
                        <a:t>integer, fixed_fractional</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15"/>
                  </a:ext>
                </a:extLst>
              </a:tr>
              <a:tr h="127028">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800">
                          <a:effectLst/>
                        </a:rPr>
                        <a:t>interp_rate</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unsigned</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1</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2-1024</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16"/>
                  </a:ext>
                </a:extLst>
              </a:tr>
              <a:tr h="127028">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tabLst>
                          <a:tab pos="680085" algn="ctr"/>
                        </a:tabLst>
                      </a:pPr>
                      <a:r>
                        <a:rPr lang="en-US" sz="800">
                          <a:effectLst/>
                        </a:rPr>
                        <a:t>decim_rate</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unsigned</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1</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2-1024</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17"/>
                  </a:ext>
                </a:extLst>
              </a:tr>
              <a:tr h="127028">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800" dirty="0" err="1">
                          <a:effectLst/>
                        </a:rPr>
                        <a:t>zero_pack_factor</a:t>
                      </a:r>
                      <a:endParaRPr lang="en-US" sz="800" dirty="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unsigned</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1</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2-8</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18"/>
                  </a:ext>
                </a:extLst>
              </a:tr>
              <a:tr h="127028">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800">
                          <a:effectLst/>
                        </a:rPr>
                        <a:t>rate_specification</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unsigned</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period</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700">
                          <a:effectLst/>
                        </a:rPr>
                        <a:t>frequency,period</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19"/>
                  </a:ext>
                </a:extLst>
              </a:tr>
              <a:tr h="127028">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800">
                          <a:effectLst/>
                        </a:rPr>
                        <a:t>hardware_oversampling_rate</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unsigned</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1</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No Limitation</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20"/>
                  </a:ext>
                </a:extLst>
              </a:tr>
              <a:tr h="127028">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800">
                          <a:effectLst/>
                        </a:rPr>
                        <a:t>sample_period</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bool</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1</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No Limitation</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21"/>
                  </a:ext>
                </a:extLst>
              </a:tr>
              <a:tr h="127028">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800">
                          <a:effectLst/>
                        </a:rPr>
                        <a:t>sample_frequency</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unsigned</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0.001</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No Limitation</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22"/>
                  </a:ext>
                </a:extLst>
              </a:tr>
              <a:tr h="240097">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800">
                          <a:effectLst/>
                        </a:rPr>
                        <a:t>quantization</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unsigned</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integer_coefficients</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700">
                          <a:effectLst/>
                        </a:rPr>
                        <a:t>integer_coefficients , quantize_only, maximize_dynamic_range</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23"/>
                  </a:ext>
                </a:extLst>
              </a:tr>
              <a:tr h="211712">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800">
                          <a:effectLst/>
                        </a:rPr>
                        <a:t>best_precision</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unsigned</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false</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700">
                          <a:effectLst/>
                        </a:rPr>
                        <a:t>false</a:t>
                      </a:r>
                      <a:endParaRPr lang="en-US" sz="800">
                        <a:effectLst/>
                      </a:endParaRPr>
                    </a:p>
                    <a:p>
                      <a:pPr marL="0" marR="0">
                        <a:lnSpc>
                          <a:spcPct val="115000"/>
                        </a:lnSpc>
                        <a:spcBef>
                          <a:spcPts val="0"/>
                        </a:spcBef>
                        <a:spcAft>
                          <a:spcPts val="0"/>
                        </a:spcAft>
                      </a:pPr>
                      <a:r>
                        <a:rPr lang="en-US" sz="700">
                          <a:effectLst/>
                        </a:rPr>
                        <a:t>true</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24"/>
                  </a:ext>
                </a:extLst>
              </a:tr>
              <a:tr h="211712">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800">
                          <a:effectLst/>
                        </a:rPr>
                        <a:t>coeff_structure</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unsigned</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non_synmetric</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700">
                          <a:effectLst/>
                        </a:rPr>
                        <a:t>inferred , non_symmetric, symmetric, negative_symmetric, half_band, hilbert</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25"/>
                  </a:ext>
                </a:extLst>
              </a:tr>
              <a:tr h="549263">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800">
                          <a:effectLst/>
                        </a:rPr>
                        <a:t>output_rounding_mode</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unsigned</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full_precision</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700" dirty="0" err="1">
                          <a:effectLst/>
                        </a:rPr>
                        <a:t>full_precision</a:t>
                      </a:r>
                      <a:r>
                        <a:rPr lang="en-US" sz="700" dirty="0">
                          <a:effectLst/>
                        </a:rPr>
                        <a:t>, </a:t>
                      </a:r>
                      <a:r>
                        <a:rPr lang="en-US" sz="700" dirty="0" err="1">
                          <a:effectLst/>
                        </a:rPr>
                        <a:t>truncate_lsbs</a:t>
                      </a:r>
                      <a:r>
                        <a:rPr lang="en-US" sz="700" dirty="0">
                          <a:effectLst/>
                        </a:rPr>
                        <a:t>, </a:t>
                      </a:r>
                      <a:r>
                        <a:rPr lang="en-US" sz="700" dirty="0" err="1">
                          <a:effectLst/>
                        </a:rPr>
                        <a:t>non_symmetric_rounding_down</a:t>
                      </a:r>
                      <a:r>
                        <a:rPr lang="en-US" sz="700" dirty="0">
                          <a:effectLst/>
                        </a:rPr>
                        <a:t>,        </a:t>
                      </a:r>
                      <a:r>
                        <a:rPr lang="en-US" sz="700" dirty="0" err="1">
                          <a:effectLst/>
                        </a:rPr>
                        <a:t>non_symmetric_rounding_up</a:t>
                      </a:r>
                      <a:r>
                        <a:rPr lang="en-US" sz="700" dirty="0">
                          <a:effectLst/>
                        </a:rPr>
                        <a:t>, </a:t>
                      </a:r>
                      <a:r>
                        <a:rPr lang="en-US" sz="700" dirty="0" err="1">
                          <a:effectLst/>
                        </a:rPr>
                        <a:t>symmetric_rounding_to_zero</a:t>
                      </a:r>
                      <a:r>
                        <a:rPr lang="en-US" sz="700" dirty="0">
                          <a:effectLst/>
                        </a:rPr>
                        <a:t>,                       </a:t>
                      </a:r>
                      <a:r>
                        <a:rPr lang="en-US" sz="700" dirty="0" err="1">
                          <a:effectLst/>
                        </a:rPr>
                        <a:t>symmetric_rounding_to_infinity</a:t>
                      </a:r>
                      <a:r>
                        <a:rPr lang="en-US" sz="700" dirty="0">
                          <a:effectLst/>
                        </a:rPr>
                        <a:t>, </a:t>
                      </a:r>
                      <a:r>
                        <a:rPr lang="en-US" sz="700" dirty="0" err="1">
                          <a:effectLst/>
                        </a:rPr>
                        <a:t>convergent_rounding_to_even</a:t>
                      </a:r>
                      <a:r>
                        <a:rPr lang="en-US" sz="700" dirty="0">
                          <a:effectLst/>
                        </a:rPr>
                        <a:t>,        </a:t>
                      </a:r>
                      <a:r>
                        <a:rPr lang="en-US" sz="700" dirty="0" err="1">
                          <a:effectLst/>
                        </a:rPr>
                        <a:t>convergent_rounding_to_odd</a:t>
                      </a:r>
                      <a:endParaRPr lang="en-US" sz="800" dirty="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26"/>
                  </a:ext>
                </a:extLst>
              </a:tr>
              <a:tr h="254054">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800">
                          <a:effectLst/>
                        </a:rPr>
                        <a:t>filter_arch</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unsigned</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systolic_multiply_accumulate</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dirty="0" err="1">
                          <a:effectLst/>
                        </a:rPr>
                        <a:t>systolic_multiply_accumulate</a:t>
                      </a:r>
                      <a:r>
                        <a:rPr lang="en-US" sz="800" dirty="0">
                          <a:effectLst/>
                        </a:rPr>
                        <a:t>, </a:t>
                      </a:r>
                      <a:r>
                        <a:rPr lang="en-US" sz="800" dirty="0" err="1">
                          <a:effectLst/>
                        </a:rPr>
                        <a:t>transpose_multiply_accumulate</a:t>
                      </a:r>
                      <a:endParaRPr lang="en-US" sz="800" dirty="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27"/>
                  </a:ext>
                </a:extLst>
              </a:tr>
              <a:tr h="127028">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800">
                          <a:effectLst/>
                        </a:rPr>
                        <a:t>optimization_goal</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unsigned</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area</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700">
                          <a:effectLst/>
                        </a:rPr>
                        <a:t>area, speed</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28"/>
                  </a:ext>
                </a:extLst>
              </a:tr>
              <a:tr h="127028">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800">
                          <a:effectLst/>
                        </a:rPr>
                        <a:t>inter_column_pipe_length</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unsigned</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4</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700">
                          <a:effectLst/>
                        </a:rPr>
                        <a:t>1-16</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29"/>
                  </a:ext>
                </a:extLst>
              </a:tr>
              <a:tr h="127028">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800">
                          <a:effectLst/>
                        </a:rPr>
                        <a:t>column_config</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unsigned</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1</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700">
                          <a:effectLst/>
                        </a:rPr>
                        <a:t>Limited by number of DSP48s used</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30"/>
                  </a:ext>
                </a:extLst>
              </a:tr>
              <a:tr h="127028">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800">
                          <a:effectLst/>
                        </a:rPr>
                        <a:t>config_method</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unsigned</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single</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700">
                          <a:effectLst/>
                        </a:rPr>
                        <a:t>single, by_channel</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31"/>
                  </a:ext>
                </a:extLst>
              </a:tr>
              <a:tr h="211712">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800">
                          <a:effectLst/>
                        </a:rPr>
                        <a:t>coeff_padding</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bool</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false</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700" dirty="0">
                          <a:effectLst/>
                        </a:rPr>
                        <a:t>false</a:t>
                      </a:r>
                      <a:endParaRPr lang="en-US" sz="800" dirty="0">
                        <a:effectLst/>
                      </a:endParaRPr>
                    </a:p>
                    <a:p>
                      <a:pPr marL="0" marR="0">
                        <a:lnSpc>
                          <a:spcPct val="115000"/>
                        </a:lnSpc>
                        <a:spcBef>
                          <a:spcPts val="0"/>
                        </a:spcBef>
                        <a:spcAft>
                          <a:spcPts val="0"/>
                        </a:spcAft>
                      </a:pPr>
                      <a:r>
                        <a:rPr lang="en-US" sz="700" dirty="0">
                          <a:effectLst/>
                        </a:rPr>
                        <a:t>true</a:t>
                      </a:r>
                      <a:endParaRPr lang="en-US" sz="800" dirty="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32"/>
                  </a:ext>
                </a:extLst>
              </a:tr>
            </a:tbl>
          </a:graphicData>
        </a:graphic>
      </p:graphicFrame>
    </p:spTree>
    <p:extLst>
      <p:ext uri="{BB962C8B-B14F-4D97-AF65-F5344CB8AC3E}">
        <p14:creationId xmlns:p14="http://schemas.microsoft.com/office/powerpoint/2010/main" val="3458949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FIR Configuration Defaults and Valid Values</a:t>
            </a:r>
          </a:p>
        </p:txBody>
      </p:sp>
      <p:sp>
        <p:nvSpPr>
          <p:cNvPr id="5" name="Slide Number Placeholder 4"/>
          <p:cNvSpPr>
            <a:spLocks noGrp="1"/>
          </p:cNvSpPr>
          <p:nvPr>
            <p:ph type="sldNum" sz="quarter" idx="10"/>
          </p:nvPr>
        </p:nvSpPr>
        <p:spPr/>
        <p:txBody>
          <a:bodyPr/>
          <a:lstStyle/>
          <a:p>
            <a:pPr defTabSz="914400">
              <a:defRPr/>
            </a:pPr>
            <a:r>
              <a:rPr lang="en-US" dirty="0">
                <a:solidFill>
                  <a:srgbClr val="0C0C0C">
                    <a:tint val="75000"/>
                  </a:srgbClr>
                </a:solidFill>
                <a:latin typeface="Arial"/>
              </a:rPr>
              <a:t>Coding Considerations 23- </a:t>
            </a:r>
            <a:fld id="{060BD193-E118-4B16-863C-C8C12C675E3E}" type="slidenum">
              <a:rPr lang="en-US">
                <a:solidFill>
                  <a:srgbClr val="0C0C0C">
                    <a:tint val="75000"/>
                  </a:srgbClr>
                </a:solidFill>
                <a:latin typeface="Arial"/>
              </a:rPr>
              <a:pPr defTabSz="914400">
                <a:defRPr/>
              </a:pPr>
              <a:t>87</a:t>
            </a:fld>
            <a:endParaRPr lang="en-US" dirty="0">
              <a:solidFill>
                <a:srgbClr val="0C0C0C">
                  <a:tint val="75000"/>
                </a:srgbClr>
              </a:solidFill>
              <a:latin typeface="Arial"/>
            </a:endParaRPr>
          </a:p>
        </p:txBody>
      </p:sp>
      <p:graphicFrame>
        <p:nvGraphicFramePr>
          <p:cNvPr id="8" name="Content Placeholder 6">
            <a:extLst>
              <a:ext uri="{FF2B5EF4-FFF2-40B4-BE49-F238E27FC236}">
                <a16:creationId xmlns:a16="http://schemas.microsoft.com/office/drawing/2014/main" id="{83C6A5DA-DC20-422B-B774-1676EFA3F735}"/>
              </a:ext>
            </a:extLst>
          </p:cNvPr>
          <p:cNvGraphicFramePr>
            <a:graphicFrameLocks/>
          </p:cNvGraphicFramePr>
          <p:nvPr/>
        </p:nvGraphicFramePr>
        <p:xfrm>
          <a:off x="1080103" y="858245"/>
          <a:ext cx="10500868" cy="5348429"/>
        </p:xfrm>
        <a:graphic>
          <a:graphicData uri="http://schemas.openxmlformats.org/drawingml/2006/table">
            <a:tbl>
              <a:tblPr firstRow="1" firstCol="1" bandRow="1"/>
              <a:tblGrid>
                <a:gridCol w="2545260">
                  <a:extLst>
                    <a:ext uri="{9D8B030D-6E8A-4147-A177-3AD203B41FA5}">
                      <a16:colId xmlns:a16="http://schemas.microsoft.com/office/drawing/2014/main" val="20000"/>
                    </a:ext>
                  </a:extLst>
                </a:gridCol>
                <a:gridCol w="1425880">
                  <a:extLst>
                    <a:ext uri="{9D8B030D-6E8A-4147-A177-3AD203B41FA5}">
                      <a16:colId xmlns:a16="http://schemas.microsoft.com/office/drawing/2014/main" val="20001"/>
                    </a:ext>
                  </a:extLst>
                </a:gridCol>
                <a:gridCol w="2252089">
                  <a:extLst>
                    <a:ext uri="{9D8B030D-6E8A-4147-A177-3AD203B41FA5}">
                      <a16:colId xmlns:a16="http://schemas.microsoft.com/office/drawing/2014/main" val="20002"/>
                    </a:ext>
                  </a:extLst>
                </a:gridCol>
                <a:gridCol w="4277639">
                  <a:extLst>
                    <a:ext uri="{9D8B030D-6E8A-4147-A177-3AD203B41FA5}">
                      <a16:colId xmlns:a16="http://schemas.microsoft.com/office/drawing/2014/main" val="20003"/>
                    </a:ext>
                  </a:extLst>
                </a:gridCol>
              </a:tblGrid>
              <a:tr h="127028">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800" dirty="0">
                          <a:effectLst/>
                        </a:rPr>
                        <a:t>Parameter </a:t>
                      </a:r>
                      <a:endParaRPr lang="en-US" sz="800" dirty="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800">
                          <a:effectLst/>
                        </a:rPr>
                        <a:t>C Type</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800">
                          <a:effectLst/>
                        </a:rPr>
                        <a:t>Default Value</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800">
                          <a:effectLst/>
                        </a:rPr>
                        <a:t>Valid Values</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8CA8"/>
                    </a:solidFill>
                  </a:tcPr>
                </a:tc>
                <a:extLst>
                  <a:ext uri="{0D108BD9-81ED-4DB2-BD59-A6C34878D82A}">
                    <a16:rowId xmlns:a16="http://schemas.microsoft.com/office/drawing/2014/main" val="10000"/>
                  </a:ext>
                </a:extLst>
              </a:tr>
              <a:tr h="127028">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800">
                          <a:effectLst/>
                        </a:rPr>
                        <a:t>input_width</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unsigned</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16</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dirty="0">
                          <a:effectLst/>
                        </a:rPr>
                        <a:t>No limitation</a:t>
                      </a:r>
                      <a:endParaRPr lang="en-US" sz="800" dirty="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1"/>
                  </a:ext>
                </a:extLst>
              </a:tr>
              <a:tr h="127028">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800">
                          <a:effectLst/>
                        </a:rPr>
                        <a:t>input_fractional_bits</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unsigned</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0</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Limited by size of input_width</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2"/>
                  </a:ext>
                </a:extLst>
              </a:tr>
              <a:tr h="127028">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800">
                          <a:effectLst/>
                        </a:rPr>
                        <a:t>output_width</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unsigned</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24</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No Limitation</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3"/>
                  </a:ext>
                </a:extLst>
              </a:tr>
              <a:tr h="127028">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800">
                          <a:effectLst/>
                        </a:rPr>
                        <a:t>output_fractional_bits</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unsigned</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0</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Limited by size of output_width</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4"/>
                  </a:ext>
                </a:extLst>
              </a:tr>
              <a:tr h="127028">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800">
                          <a:effectLst/>
                        </a:rPr>
                        <a:t>coeff_width</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unsigned</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16</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No Limitation</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5"/>
                  </a:ext>
                </a:extLst>
              </a:tr>
              <a:tr h="127028">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800">
                          <a:effectLst/>
                        </a:rPr>
                        <a:t>coeff_fractional_bits</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unsigned</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0</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Limited by size of coeff_width</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6"/>
                  </a:ext>
                </a:extLst>
              </a:tr>
              <a:tr h="127028">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800">
                          <a:effectLst/>
                        </a:rPr>
                        <a:t>num_coeffs</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bool  </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21</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Full</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7"/>
                  </a:ext>
                </a:extLst>
              </a:tr>
              <a:tr h="127028">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800">
                          <a:effectLst/>
                        </a:rPr>
                        <a:t>coeff_sets</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unsigned  </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1</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1-1024</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8"/>
                  </a:ext>
                </a:extLst>
              </a:tr>
              <a:tr h="127028">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800">
                          <a:effectLst/>
                        </a:rPr>
                        <a:t>input_length</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unsigned</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21</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No Limitation</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9"/>
                  </a:ext>
                </a:extLst>
              </a:tr>
              <a:tr h="127028">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800">
                          <a:effectLst/>
                        </a:rPr>
                        <a:t>output_length</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unsigned</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21</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No Limitation</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10"/>
                  </a:ext>
                </a:extLst>
              </a:tr>
              <a:tr h="127028">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800">
                          <a:effectLst/>
                        </a:rPr>
                        <a:t>num_channels</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unsigned</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1</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1-1024</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11"/>
                  </a:ext>
                </a:extLst>
              </a:tr>
              <a:tr h="127028">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800">
                          <a:effectLst/>
                        </a:rPr>
                        <a:t>total_number_coeff</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unsigned</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21</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num_coeffs * coeff_sets</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12"/>
                  </a:ext>
                </a:extLst>
              </a:tr>
              <a:tr h="127028">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800">
                          <a:effectLst/>
                        </a:rPr>
                        <a:t>coeff_vec[total_num_coeff]</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double array</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None</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Not applicable</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13"/>
                  </a:ext>
                </a:extLst>
              </a:tr>
              <a:tr h="207357">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800">
                          <a:effectLst/>
                        </a:rPr>
                        <a:t>filter_type</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unsigned</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single_rate</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700">
                          <a:effectLst/>
                        </a:rPr>
                        <a:t>single_rate, interpolation, decimation, hibert, interpolated</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14"/>
                  </a:ext>
                </a:extLst>
              </a:tr>
              <a:tr h="127028">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800">
                          <a:effectLst/>
                        </a:rPr>
                        <a:t>rate_change</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unsigned</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integer</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700">
                          <a:effectLst/>
                        </a:rPr>
                        <a:t>integer, fixed_fractional</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15"/>
                  </a:ext>
                </a:extLst>
              </a:tr>
              <a:tr h="127028">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800">
                          <a:effectLst/>
                        </a:rPr>
                        <a:t>interp_rate</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unsigned</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1</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2-1024</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16"/>
                  </a:ext>
                </a:extLst>
              </a:tr>
              <a:tr h="127028">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tabLst>
                          <a:tab pos="680085" algn="ctr"/>
                        </a:tabLst>
                      </a:pPr>
                      <a:r>
                        <a:rPr lang="en-US" sz="800">
                          <a:effectLst/>
                        </a:rPr>
                        <a:t>decim_rate</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unsigned</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1</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2-1024</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17"/>
                  </a:ext>
                </a:extLst>
              </a:tr>
              <a:tr h="127028">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800" dirty="0" err="1">
                          <a:effectLst/>
                        </a:rPr>
                        <a:t>zero_pack_factor</a:t>
                      </a:r>
                      <a:endParaRPr lang="en-US" sz="800" dirty="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unsigned</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1</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2-8</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18"/>
                  </a:ext>
                </a:extLst>
              </a:tr>
              <a:tr h="127028">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800">
                          <a:effectLst/>
                        </a:rPr>
                        <a:t>rate_specification</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unsigned</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period</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700">
                          <a:effectLst/>
                        </a:rPr>
                        <a:t>frequency,period</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19"/>
                  </a:ext>
                </a:extLst>
              </a:tr>
              <a:tr h="127028">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800">
                          <a:effectLst/>
                        </a:rPr>
                        <a:t>hardware_oversampling_rate</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unsigned</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1</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No Limitation</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20"/>
                  </a:ext>
                </a:extLst>
              </a:tr>
              <a:tr h="127028">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800">
                          <a:effectLst/>
                        </a:rPr>
                        <a:t>sample_period</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bool</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1</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No Limitation</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21"/>
                  </a:ext>
                </a:extLst>
              </a:tr>
              <a:tr h="127028">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800">
                          <a:effectLst/>
                        </a:rPr>
                        <a:t>sample_frequency</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unsigned</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0.001</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No Limitation</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22"/>
                  </a:ext>
                </a:extLst>
              </a:tr>
              <a:tr h="240097">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800">
                          <a:effectLst/>
                        </a:rPr>
                        <a:t>quantization</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unsigned</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integer_coefficients</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700">
                          <a:effectLst/>
                        </a:rPr>
                        <a:t>integer_coefficients , quantize_only, maximize_dynamic_range</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23"/>
                  </a:ext>
                </a:extLst>
              </a:tr>
              <a:tr h="211712">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800">
                          <a:effectLst/>
                        </a:rPr>
                        <a:t>best_precision</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unsigned</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false</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700">
                          <a:effectLst/>
                        </a:rPr>
                        <a:t>false</a:t>
                      </a:r>
                      <a:endParaRPr lang="en-US" sz="800">
                        <a:effectLst/>
                      </a:endParaRPr>
                    </a:p>
                    <a:p>
                      <a:pPr marL="0" marR="0">
                        <a:lnSpc>
                          <a:spcPct val="115000"/>
                        </a:lnSpc>
                        <a:spcBef>
                          <a:spcPts val="0"/>
                        </a:spcBef>
                        <a:spcAft>
                          <a:spcPts val="0"/>
                        </a:spcAft>
                      </a:pPr>
                      <a:r>
                        <a:rPr lang="en-US" sz="700">
                          <a:effectLst/>
                        </a:rPr>
                        <a:t>true</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24"/>
                  </a:ext>
                </a:extLst>
              </a:tr>
              <a:tr h="211712">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800">
                          <a:effectLst/>
                        </a:rPr>
                        <a:t>coeff_structure</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unsigned</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non_synmetric</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700">
                          <a:effectLst/>
                        </a:rPr>
                        <a:t>inferred , non_symmetric, symmetric, negative_symmetric, half_band, hilbert</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25"/>
                  </a:ext>
                </a:extLst>
              </a:tr>
              <a:tr h="549263">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800">
                          <a:effectLst/>
                        </a:rPr>
                        <a:t>output_rounding_mode</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unsigned</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full_precision</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700" dirty="0" err="1">
                          <a:effectLst/>
                        </a:rPr>
                        <a:t>full_precision</a:t>
                      </a:r>
                      <a:r>
                        <a:rPr lang="en-US" sz="700" dirty="0">
                          <a:effectLst/>
                        </a:rPr>
                        <a:t>, </a:t>
                      </a:r>
                      <a:r>
                        <a:rPr lang="en-US" sz="700" dirty="0" err="1">
                          <a:effectLst/>
                        </a:rPr>
                        <a:t>truncate_lsbs</a:t>
                      </a:r>
                      <a:r>
                        <a:rPr lang="en-US" sz="700" dirty="0">
                          <a:effectLst/>
                        </a:rPr>
                        <a:t>, </a:t>
                      </a:r>
                      <a:r>
                        <a:rPr lang="en-US" sz="700" dirty="0" err="1">
                          <a:effectLst/>
                        </a:rPr>
                        <a:t>non_symmetric_rounding_down</a:t>
                      </a:r>
                      <a:r>
                        <a:rPr lang="en-US" sz="700" dirty="0">
                          <a:effectLst/>
                        </a:rPr>
                        <a:t>,        </a:t>
                      </a:r>
                      <a:r>
                        <a:rPr lang="en-US" sz="700" dirty="0" err="1">
                          <a:effectLst/>
                        </a:rPr>
                        <a:t>non_symmetric_rounding_up</a:t>
                      </a:r>
                      <a:r>
                        <a:rPr lang="en-US" sz="700" dirty="0">
                          <a:effectLst/>
                        </a:rPr>
                        <a:t>, </a:t>
                      </a:r>
                      <a:r>
                        <a:rPr lang="en-US" sz="700" dirty="0" err="1">
                          <a:effectLst/>
                        </a:rPr>
                        <a:t>symmetric_rounding_to_zero</a:t>
                      </a:r>
                      <a:r>
                        <a:rPr lang="en-US" sz="700" dirty="0">
                          <a:effectLst/>
                        </a:rPr>
                        <a:t>,                       </a:t>
                      </a:r>
                      <a:r>
                        <a:rPr lang="en-US" sz="700" dirty="0" err="1">
                          <a:effectLst/>
                        </a:rPr>
                        <a:t>symmetric_rounding_to_infinity</a:t>
                      </a:r>
                      <a:r>
                        <a:rPr lang="en-US" sz="700" dirty="0">
                          <a:effectLst/>
                        </a:rPr>
                        <a:t>, </a:t>
                      </a:r>
                      <a:r>
                        <a:rPr lang="en-US" sz="700" dirty="0" err="1">
                          <a:effectLst/>
                        </a:rPr>
                        <a:t>convergent_rounding_to_even</a:t>
                      </a:r>
                      <a:r>
                        <a:rPr lang="en-US" sz="700" dirty="0">
                          <a:effectLst/>
                        </a:rPr>
                        <a:t>,        </a:t>
                      </a:r>
                      <a:r>
                        <a:rPr lang="en-US" sz="700" dirty="0" err="1">
                          <a:effectLst/>
                        </a:rPr>
                        <a:t>convergent_rounding_to_odd</a:t>
                      </a:r>
                      <a:endParaRPr lang="en-US" sz="800" dirty="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26"/>
                  </a:ext>
                </a:extLst>
              </a:tr>
              <a:tr h="254054">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800">
                          <a:effectLst/>
                        </a:rPr>
                        <a:t>filter_arch</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unsigned</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systolic_multiply_accumulate</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dirty="0" err="1">
                          <a:effectLst/>
                        </a:rPr>
                        <a:t>systolic_multiply_accumulate</a:t>
                      </a:r>
                      <a:r>
                        <a:rPr lang="en-US" sz="800" dirty="0">
                          <a:effectLst/>
                        </a:rPr>
                        <a:t>, </a:t>
                      </a:r>
                      <a:r>
                        <a:rPr lang="en-US" sz="800" dirty="0" err="1">
                          <a:effectLst/>
                        </a:rPr>
                        <a:t>transpose_multiply_accumulate</a:t>
                      </a:r>
                      <a:endParaRPr lang="en-US" sz="800" dirty="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27"/>
                  </a:ext>
                </a:extLst>
              </a:tr>
              <a:tr h="127028">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800">
                          <a:effectLst/>
                        </a:rPr>
                        <a:t>optimization_goal</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unsigned</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area</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700">
                          <a:effectLst/>
                        </a:rPr>
                        <a:t>area, speed</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28"/>
                  </a:ext>
                </a:extLst>
              </a:tr>
              <a:tr h="127028">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800">
                          <a:effectLst/>
                        </a:rPr>
                        <a:t>inter_column_pipe_length</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unsigned</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4</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700">
                          <a:effectLst/>
                        </a:rPr>
                        <a:t>1-16</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29"/>
                  </a:ext>
                </a:extLst>
              </a:tr>
              <a:tr h="127028">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800">
                          <a:effectLst/>
                        </a:rPr>
                        <a:t>column_config</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unsigned</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1</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700">
                          <a:effectLst/>
                        </a:rPr>
                        <a:t>Limited by number of DSP48s used</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30"/>
                  </a:ext>
                </a:extLst>
              </a:tr>
              <a:tr h="127028">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800">
                          <a:effectLst/>
                        </a:rPr>
                        <a:t>config_method</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unsigned</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single</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700">
                          <a:effectLst/>
                        </a:rPr>
                        <a:t>single, by_channel</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31"/>
                  </a:ext>
                </a:extLst>
              </a:tr>
              <a:tr h="211712">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800">
                          <a:effectLst/>
                        </a:rPr>
                        <a:t>coeff_padding</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bool</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800">
                          <a:effectLst/>
                        </a:rPr>
                        <a:t>false</a:t>
                      </a:r>
                      <a:endParaRPr lang="en-US" sz="80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0" marR="0">
                        <a:lnSpc>
                          <a:spcPct val="115000"/>
                        </a:lnSpc>
                        <a:spcBef>
                          <a:spcPts val="0"/>
                        </a:spcBef>
                        <a:spcAft>
                          <a:spcPts val="0"/>
                        </a:spcAft>
                      </a:pPr>
                      <a:r>
                        <a:rPr lang="en-US" sz="700" dirty="0">
                          <a:effectLst/>
                        </a:rPr>
                        <a:t>false</a:t>
                      </a:r>
                      <a:endParaRPr lang="en-US" sz="800" dirty="0">
                        <a:effectLst/>
                      </a:endParaRPr>
                    </a:p>
                    <a:p>
                      <a:pPr marL="0" marR="0">
                        <a:lnSpc>
                          <a:spcPct val="115000"/>
                        </a:lnSpc>
                        <a:spcBef>
                          <a:spcPts val="0"/>
                        </a:spcBef>
                        <a:spcAft>
                          <a:spcPts val="0"/>
                        </a:spcAft>
                      </a:pPr>
                      <a:r>
                        <a:rPr lang="en-US" sz="700" dirty="0">
                          <a:effectLst/>
                        </a:rPr>
                        <a:t>true</a:t>
                      </a:r>
                      <a:endParaRPr lang="en-US" sz="800" dirty="0">
                        <a:effectLst/>
                        <a:latin typeface="Calibri"/>
                        <a:ea typeface="Calibri"/>
                        <a:cs typeface="Times New Roman"/>
                      </a:endParaRPr>
                    </a:p>
                  </a:txBody>
                  <a:tcPr marL="50490" marR="50490"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32"/>
                  </a:ext>
                </a:extLst>
              </a:tr>
            </a:tbl>
          </a:graphicData>
        </a:graphic>
      </p:graphicFrame>
    </p:spTree>
    <p:extLst>
      <p:ext uri="{BB962C8B-B14F-4D97-AF65-F5344CB8AC3E}">
        <p14:creationId xmlns:p14="http://schemas.microsoft.com/office/powerpoint/2010/main" val="173432154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FIR Function: Data</a:t>
            </a:r>
          </a:p>
        </p:txBody>
      </p:sp>
      <p:sp>
        <p:nvSpPr>
          <p:cNvPr id="2" name="Content Placeholder 1"/>
          <p:cNvSpPr>
            <a:spLocks noGrp="1"/>
          </p:cNvSpPr>
          <p:nvPr>
            <p:ph idx="1"/>
          </p:nvPr>
        </p:nvSpPr>
        <p:spPr/>
        <p:txBody>
          <a:bodyPr/>
          <a:lstStyle/>
          <a:p>
            <a:r>
              <a:rPr lang="en-US" sz="2000" dirty="0"/>
              <a:t>Input &amp; Output Data</a:t>
            </a:r>
          </a:p>
          <a:p>
            <a:pPr lvl="1"/>
            <a:r>
              <a:rPr lang="en-US" sz="1800" dirty="0"/>
              <a:t>Data Input and Output</a:t>
            </a:r>
          </a:p>
          <a:p>
            <a:pPr lvl="2"/>
            <a:r>
              <a:rPr lang="en-US" sz="1400" dirty="0"/>
              <a:t>Array arguments</a:t>
            </a:r>
            <a:r>
              <a:rPr lang="en-US" sz="1200" dirty="0"/>
              <a:t> </a:t>
            </a:r>
          </a:p>
          <a:p>
            <a:r>
              <a:rPr lang="en-US" sz="2000" dirty="0"/>
              <a:t>Multi-channel functionality</a:t>
            </a:r>
          </a:p>
          <a:p>
            <a:pPr lvl="1"/>
            <a:r>
              <a:rPr lang="en-US" sz="1800" dirty="0"/>
              <a:t>Supported through interleaving the data</a:t>
            </a:r>
          </a:p>
          <a:p>
            <a:pPr marL="288925" lvl="1" indent="0">
              <a:buNone/>
            </a:pPr>
            <a:r>
              <a:rPr lang="en-US" sz="1800" dirty="0"/>
              <a:t> </a:t>
            </a:r>
          </a:p>
          <a:p>
            <a:pPr lvl="2"/>
            <a:endParaRPr lang="en-US" sz="1200" dirty="0"/>
          </a:p>
          <a:p>
            <a:pPr lvl="1"/>
            <a:endParaRPr lang="en-US" sz="1800" dirty="0"/>
          </a:p>
        </p:txBody>
      </p:sp>
      <p:sp>
        <p:nvSpPr>
          <p:cNvPr id="15" name="Slide Number Placeholder 5">
            <a:extLst>
              <a:ext uri="{FF2B5EF4-FFF2-40B4-BE49-F238E27FC236}">
                <a16:creationId xmlns:a16="http://schemas.microsoft.com/office/drawing/2014/main" id="{765EE5AF-02FB-449B-B460-17BF8AB365B2}"/>
              </a:ext>
            </a:extLst>
          </p:cNvPr>
          <p:cNvSpPr>
            <a:spLocks noGrp="1"/>
          </p:cNvSpPr>
          <p:nvPr>
            <p:ph type="sldNum" sz="quarter" idx="4"/>
          </p:nvPr>
        </p:nvSpPr>
        <p:spPr/>
        <p:txBody>
          <a:bodyPr/>
          <a:lstStyle/>
          <a:p>
            <a:pPr>
              <a:defRPr/>
            </a:pPr>
            <a:r>
              <a:rPr lang="en-US" dirty="0"/>
              <a:t>Coding Considerations 23- </a:t>
            </a:r>
            <a:fld id="{060BD193-E118-4B16-863C-C8C12C675E3E}" type="slidenum">
              <a:rPr lang="en-US" smtClean="0"/>
              <a:pPr>
                <a:defRPr/>
              </a:pPr>
              <a:t>88</a:t>
            </a:fld>
            <a:endParaRPr lang="en-US" dirty="0"/>
          </a:p>
        </p:txBody>
      </p:sp>
      <p:sp>
        <p:nvSpPr>
          <p:cNvPr id="4" name="TextBox 3"/>
          <p:cNvSpPr txBox="1"/>
          <p:nvPr/>
        </p:nvSpPr>
        <p:spPr bwMode="auto">
          <a:xfrm>
            <a:off x="1160527" y="3459849"/>
            <a:ext cx="2961708" cy="279757"/>
          </a:xfrm>
          <a:prstGeom prst="rect">
            <a:avLst/>
          </a:prstGeom>
          <a:noFill/>
          <a:ln w="9525">
            <a:noFill/>
            <a:miter lim="800000"/>
            <a:headEnd/>
            <a:tailEnd/>
          </a:ln>
        </p:spPr>
        <p:txBody>
          <a:bodyPr vert="horz" wrap="none" lIns="0" tIns="45720" rIns="91440" bIns="45720" numCol="1" rtlCol="0" anchor="t" anchorCtr="0" compatLnSpc="1">
            <a:prstTxWarp prst="textNoShape">
              <a:avLst/>
            </a:prstTxWarp>
            <a:spAutoFit/>
          </a:bodyPr>
          <a:lstStyle/>
          <a:p>
            <a:pPr marL="228600" indent="-228600" defTabSz="914400" eaLnBrk="0" fontAlgn="base" hangingPunct="0">
              <a:lnSpc>
                <a:spcPct val="110000"/>
              </a:lnSpc>
              <a:spcBef>
                <a:spcPct val="20000"/>
              </a:spcBef>
              <a:spcAft>
                <a:spcPct val="0"/>
              </a:spcAft>
              <a:buClr>
                <a:schemeClr val="tx2"/>
              </a:buClr>
              <a:buSzPct val="88000"/>
            </a:pPr>
            <a:r>
              <a:rPr lang="en-US" sz="1200" b="1" u="sng" kern="0" dirty="0">
                <a:solidFill>
                  <a:schemeClr val="accent4"/>
                </a:solidFill>
              </a:rPr>
              <a:t>Interleave 2 channels into the FIR input</a:t>
            </a:r>
          </a:p>
        </p:txBody>
      </p:sp>
      <p:sp>
        <p:nvSpPr>
          <p:cNvPr id="10" name="TextBox 9"/>
          <p:cNvSpPr txBox="1"/>
          <p:nvPr/>
        </p:nvSpPr>
        <p:spPr bwMode="auto">
          <a:xfrm>
            <a:off x="6263478" y="3459847"/>
            <a:ext cx="3368871" cy="279757"/>
          </a:xfrm>
          <a:prstGeom prst="rect">
            <a:avLst/>
          </a:prstGeom>
          <a:noFill/>
          <a:ln w="9525">
            <a:noFill/>
            <a:miter lim="800000"/>
            <a:headEnd/>
            <a:tailEnd/>
          </a:ln>
        </p:spPr>
        <p:txBody>
          <a:bodyPr vert="horz" wrap="none" lIns="0" tIns="45720" rIns="91440" bIns="45720" numCol="1" rtlCol="0" anchor="t" anchorCtr="0" compatLnSpc="1">
            <a:prstTxWarp prst="textNoShape">
              <a:avLst/>
            </a:prstTxWarp>
            <a:spAutoFit/>
          </a:bodyPr>
          <a:lstStyle/>
          <a:p>
            <a:pPr marL="228600" indent="-228600" defTabSz="914400" eaLnBrk="0" fontAlgn="base" hangingPunct="0">
              <a:lnSpc>
                <a:spcPct val="110000"/>
              </a:lnSpc>
              <a:spcBef>
                <a:spcPct val="20000"/>
              </a:spcBef>
              <a:spcAft>
                <a:spcPct val="0"/>
              </a:spcAft>
              <a:buClr>
                <a:schemeClr val="tx2"/>
              </a:buClr>
              <a:buSzPct val="88000"/>
            </a:pPr>
            <a:r>
              <a:rPr lang="en-US" sz="1200" b="1" u="sng" kern="0" dirty="0">
                <a:solidFill>
                  <a:schemeClr val="accent4"/>
                </a:solidFill>
              </a:rPr>
              <a:t>De-Interleave 2 channels from the FIR output</a:t>
            </a:r>
          </a:p>
        </p:txBody>
      </p:sp>
      <p:sp>
        <p:nvSpPr>
          <p:cNvPr id="11" name="TextBox 10">
            <a:extLst>
              <a:ext uri="{FF2B5EF4-FFF2-40B4-BE49-F238E27FC236}">
                <a16:creationId xmlns:a16="http://schemas.microsoft.com/office/drawing/2014/main" id="{2338EEBE-0225-4D56-89DA-E16874F37F1B}"/>
              </a:ext>
            </a:extLst>
          </p:cNvPr>
          <p:cNvSpPr txBox="1"/>
          <p:nvPr/>
        </p:nvSpPr>
        <p:spPr bwMode="auto">
          <a:xfrm>
            <a:off x="6260340" y="1791088"/>
            <a:ext cx="5118063" cy="1446550"/>
          </a:xfrm>
          <a:prstGeom prst="rect">
            <a:avLst/>
          </a:prstGeom>
          <a:solidFill>
            <a:srgbClr val="008CA8">
              <a:lumMod val="20000"/>
              <a:lumOff val="80000"/>
            </a:srgbClr>
          </a:solidFill>
          <a:ln w="9525">
            <a:noFill/>
            <a:miter lim="800000"/>
            <a:headEnd/>
            <a:tailEnd/>
          </a:ln>
          <a:effectLst>
            <a:outerShdw blurRad="50800" dist="38100" dir="2700000" algn="tl" rotWithShape="0">
              <a:prstClr val="black">
                <a:alpha val="40000"/>
              </a:prstClr>
            </a:outerShdw>
          </a:effectLst>
        </p:spPr>
        <p:txBody>
          <a:bodyPr vert="horz" wrap="square" lIns="0" tIns="45720" rIns="91440" bIns="45720" numCol="1" rtlCol="0" anchor="t" anchorCtr="0" compatLnSpc="1">
            <a:prstTxWarp prst="textNoShape">
              <a:avLst/>
            </a:prstTxWarp>
            <a:spAutoFit/>
          </a:bodyPr>
          <a:lstStyle>
            <a:defPPr>
              <a:defRPr lang="en-US"/>
            </a:defPPr>
            <a:lvl1pPr>
              <a:defRPr sz="1100"/>
            </a:lvl1pPr>
          </a:lstStyle>
          <a:p>
            <a:pPr defTabSz="914400" fontAlgn="base">
              <a:spcBef>
                <a:spcPct val="0"/>
              </a:spcBef>
              <a:spcAft>
                <a:spcPct val="0"/>
              </a:spcAft>
              <a:defRPr/>
            </a:pPr>
            <a:r>
              <a:rPr lang="en-US" b="1" kern="0" dirty="0">
                <a:solidFill>
                  <a:srgbClr val="3F3F3F"/>
                </a:solidFill>
              </a:rPr>
              <a:t> </a:t>
            </a:r>
            <a:r>
              <a:rPr lang="en-US" kern="0" dirty="0">
                <a:solidFill>
                  <a:srgbClr val="000000"/>
                </a:solidFill>
              </a:rPr>
              <a:t>#include "</a:t>
            </a:r>
            <a:r>
              <a:rPr lang="en-US" kern="0" dirty="0" err="1">
                <a:solidFill>
                  <a:srgbClr val="000000"/>
                </a:solidFill>
              </a:rPr>
              <a:t>hls_fir.h</a:t>
            </a:r>
            <a:r>
              <a:rPr lang="en-US" kern="0" dirty="0">
                <a:solidFill>
                  <a:srgbClr val="000000"/>
                </a:solidFill>
              </a:rPr>
              <a:t>“</a:t>
            </a:r>
          </a:p>
          <a:p>
            <a:pPr defTabSz="914400" fontAlgn="base">
              <a:spcBef>
                <a:spcPct val="0"/>
              </a:spcBef>
              <a:spcAft>
                <a:spcPct val="0"/>
              </a:spcAft>
              <a:defRPr/>
            </a:pPr>
            <a:endParaRPr lang="en-US" kern="0" dirty="0">
              <a:solidFill>
                <a:srgbClr val="000000"/>
              </a:solidFill>
            </a:endParaRPr>
          </a:p>
          <a:p>
            <a:pPr defTabSz="914400" fontAlgn="base">
              <a:spcBef>
                <a:spcPct val="0"/>
              </a:spcBef>
              <a:spcAft>
                <a:spcPct val="0"/>
              </a:spcAft>
              <a:defRPr/>
            </a:pPr>
            <a:r>
              <a:rPr lang="en-US" kern="0" dirty="0">
                <a:solidFill>
                  <a:srgbClr val="000000"/>
                </a:solidFill>
              </a:rPr>
              <a:t>// Create an instance of the FIR </a:t>
            </a:r>
          </a:p>
          <a:p>
            <a:pPr defTabSz="914400" fontAlgn="base">
              <a:spcBef>
                <a:spcPct val="0"/>
              </a:spcBef>
              <a:spcAft>
                <a:spcPct val="0"/>
              </a:spcAft>
              <a:defRPr/>
            </a:pPr>
            <a:r>
              <a:rPr lang="en-US" kern="0" dirty="0">
                <a:solidFill>
                  <a:srgbClr val="000000"/>
                </a:solidFill>
              </a:rPr>
              <a:t>static </a:t>
            </a:r>
            <a:r>
              <a:rPr lang="en-US" kern="0" dirty="0" err="1">
                <a:solidFill>
                  <a:srgbClr val="000000"/>
                </a:solidFill>
              </a:rPr>
              <a:t>hls</a:t>
            </a:r>
            <a:r>
              <a:rPr lang="en-US" kern="0" dirty="0">
                <a:solidFill>
                  <a:srgbClr val="000000"/>
                </a:solidFill>
              </a:rPr>
              <a:t>::FIR&lt;STATIC_PARAM&gt; fir1;	// Static parameterization</a:t>
            </a:r>
          </a:p>
          <a:p>
            <a:pPr defTabSz="914400" fontAlgn="base">
              <a:spcBef>
                <a:spcPct val="0"/>
              </a:spcBef>
              <a:spcAft>
                <a:spcPct val="0"/>
              </a:spcAft>
              <a:defRPr/>
            </a:pPr>
            <a:endParaRPr lang="en-US" kern="0" dirty="0">
              <a:solidFill>
                <a:srgbClr val="000000"/>
              </a:solidFill>
            </a:endParaRPr>
          </a:p>
          <a:p>
            <a:pPr defTabSz="914400" fontAlgn="base">
              <a:spcBef>
                <a:spcPct val="0"/>
              </a:spcBef>
              <a:spcAft>
                <a:spcPct val="0"/>
              </a:spcAft>
              <a:defRPr/>
            </a:pPr>
            <a:r>
              <a:rPr lang="en-US" kern="0" dirty="0">
                <a:solidFill>
                  <a:srgbClr val="000000"/>
                </a:solidFill>
              </a:rPr>
              <a:t>// Execute the FIR instance fir1</a:t>
            </a:r>
          </a:p>
          <a:p>
            <a:pPr defTabSz="914400" fontAlgn="base">
              <a:spcBef>
                <a:spcPct val="0"/>
              </a:spcBef>
              <a:spcAft>
                <a:spcPct val="0"/>
              </a:spcAft>
              <a:defRPr/>
            </a:pPr>
            <a:r>
              <a:rPr lang="en-US" kern="0" dirty="0">
                <a:solidFill>
                  <a:srgbClr val="000000"/>
                </a:solidFill>
              </a:rPr>
              <a:t>fir1.run</a:t>
            </a:r>
            <a:r>
              <a:rPr lang="en-US" b="1" kern="0" dirty="0">
                <a:solidFill>
                  <a:srgbClr val="000000"/>
                </a:solidFill>
              </a:rPr>
              <a:t>(INPUT_DATA_ARRAY, 	// Input Data</a:t>
            </a:r>
          </a:p>
          <a:p>
            <a:pPr defTabSz="914400" fontAlgn="base">
              <a:spcBef>
                <a:spcPct val="0"/>
              </a:spcBef>
              <a:spcAft>
                <a:spcPct val="0"/>
              </a:spcAft>
              <a:defRPr/>
            </a:pPr>
            <a:r>
              <a:rPr lang="en-US" b="1" kern="0" dirty="0">
                <a:solidFill>
                  <a:srgbClr val="000000"/>
                </a:solidFill>
              </a:rPr>
              <a:t>            OUTPUT_DATA_ARRAY);	// Output Data</a:t>
            </a:r>
          </a:p>
        </p:txBody>
      </p:sp>
      <p:sp>
        <p:nvSpPr>
          <p:cNvPr id="13" name="TextBox 12">
            <a:extLst>
              <a:ext uri="{FF2B5EF4-FFF2-40B4-BE49-F238E27FC236}">
                <a16:creationId xmlns:a16="http://schemas.microsoft.com/office/drawing/2014/main" id="{987751ED-5F68-41B0-8FF0-4C62DDFF185F}"/>
              </a:ext>
            </a:extLst>
          </p:cNvPr>
          <p:cNvSpPr txBox="1"/>
          <p:nvPr/>
        </p:nvSpPr>
        <p:spPr bwMode="auto">
          <a:xfrm>
            <a:off x="1160529" y="3739606"/>
            <a:ext cx="3641965" cy="769441"/>
          </a:xfrm>
          <a:prstGeom prst="rect">
            <a:avLst/>
          </a:prstGeom>
          <a:solidFill>
            <a:srgbClr val="008CA8">
              <a:lumMod val="20000"/>
              <a:lumOff val="80000"/>
            </a:srgbClr>
          </a:solidFill>
          <a:ln w="9525">
            <a:noFill/>
            <a:miter lim="800000"/>
            <a:headEnd/>
            <a:tailEnd/>
          </a:ln>
          <a:effectLst>
            <a:outerShdw blurRad="50800" dist="38100" dir="2700000" algn="tl" rotWithShape="0">
              <a:prstClr val="black">
                <a:alpha val="40000"/>
              </a:prstClr>
            </a:outerShdw>
          </a:effectLst>
        </p:spPr>
        <p:txBody>
          <a:bodyPr vert="horz" wrap="square" lIns="0" tIns="45720" rIns="91440" bIns="45720" numCol="1" rtlCol="0" anchor="t" anchorCtr="0" compatLnSpc="1">
            <a:prstTxWarp prst="textNoShape">
              <a:avLst/>
            </a:prstTxWarp>
            <a:spAutoFit/>
          </a:bodyPr>
          <a:lstStyle>
            <a:defPPr>
              <a:defRPr lang="en-US"/>
            </a:defPPr>
            <a:lvl1pPr>
              <a:defRPr sz="1100"/>
            </a:lvl1pPr>
          </a:lstStyle>
          <a:p>
            <a:pPr defTabSz="914400" fontAlgn="base">
              <a:spcBef>
                <a:spcPct val="0"/>
              </a:spcBef>
              <a:spcAft>
                <a:spcPct val="0"/>
              </a:spcAft>
              <a:defRPr/>
            </a:pPr>
            <a:r>
              <a:rPr lang="en-US" kern="0" dirty="0">
                <a:solidFill>
                  <a:srgbClr val="000000"/>
                </a:solidFill>
              </a:rPr>
              <a:t> for (unsigned </a:t>
            </a:r>
            <a:r>
              <a:rPr lang="en-US" kern="0" dirty="0" err="1">
                <a:solidFill>
                  <a:srgbClr val="000000"/>
                </a:solidFill>
              </a:rPr>
              <a:t>i</a:t>
            </a:r>
            <a:r>
              <a:rPr lang="en-US" kern="0" dirty="0">
                <a:solidFill>
                  <a:srgbClr val="000000"/>
                </a:solidFill>
              </a:rPr>
              <a:t> = 0; </a:t>
            </a:r>
            <a:r>
              <a:rPr lang="en-US" kern="0" dirty="0" err="1">
                <a:solidFill>
                  <a:srgbClr val="000000"/>
                </a:solidFill>
              </a:rPr>
              <a:t>i</a:t>
            </a:r>
            <a:r>
              <a:rPr lang="en-US" kern="0" dirty="0">
                <a:solidFill>
                  <a:srgbClr val="000000"/>
                </a:solidFill>
              </a:rPr>
              <a:t> &lt; LENGTH; ++</a:t>
            </a:r>
            <a:r>
              <a:rPr lang="en-US" kern="0" dirty="0" err="1">
                <a:solidFill>
                  <a:srgbClr val="000000"/>
                </a:solidFill>
              </a:rPr>
              <a:t>i</a:t>
            </a:r>
            <a:r>
              <a:rPr lang="en-US" kern="0" dirty="0">
                <a:solidFill>
                  <a:srgbClr val="000000"/>
                </a:solidFill>
              </a:rPr>
              <a:t>) {</a:t>
            </a:r>
          </a:p>
          <a:p>
            <a:pPr defTabSz="914400" fontAlgn="base">
              <a:spcBef>
                <a:spcPct val="0"/>
              </a:spcBef>
              <a:spcAft>
                <a:spcPct val="0"/>
              </a:spcAft>
              <a:defRPr/>
            </a:pPr>
            <a:r>
              <a:rPr lang="en-US" kern="0" dirty="0">
                <a:solidFill>
                  <a:srgbClr val="000000"/>
                </a:solidFill>
              </a:rPr>
              <a:t>        </a:t>
            </a:r>
            <a:r>
              <a:rPr lang="en-US" kern="0" dirty="0" err="1">
                <a:solidFill>
                  <a:srgbClr val="000000"/>
                </a:solidFill>
              </a:rPr>
              <a:t>fir_input_data</a:t>
            </a:r>
            <a:r>
              <a:rPr lang="en-US" kern="0" dirty="0">
                <a:solidFill>
                  <a:srgbClr val="000000"/>
                </a:solidFill>
              </a:rPr>
              <a:t>[2*</a:t>
            </a:r>
            <a:r>
              <a:rPr lang="en-US" kern="0" dirty="0" err="1">
                <a:solidFill>
                  <a:srgbClr val="000000"/>
                </a:solidFill>
              </a:rPr>
              <a:t>i</a:t>
            </a:r>
            <a:r>
              <a:rPr lang="en-US" kern="0" dirty="0">
                <a:solidFill>
                  <a:srgbClr val="000000"/>
                </a:solidFill>
              </a:rPr>
              <a:t>] = din_ch1[</a:t>
            </a:r>
            <a:r>
              <a:rPr lang="en-US" kern="0" dirty="0" err="1">
                <a:solidFill>
                  <a:srgbClr val="000000"/>
                </a:solidFill>
              </a:rPr>
              <a:t>i</a:t>
            </a:r>
            <a:r>
              <a:rPr lang="en-US" kern="0" dirty="0">
                <a:solidFill>
                  <a:srgbClr val="000000"/>
                </a:solidFill>
              </a:rPr>
              <a:t>];</a:t>
            </a:r>
          </a:p>
          <a:p>
            <a:pPr defTabSz="914400" fontAlgn="base">
              <a:spcBef>
                <a:spcPct val="0"/>
              </a:spcBef>
              <a:spcAft>
                <a:spcPct val="0"/>
              </a:spcAft>
              <a:defRPr/>
            </a:pPr>
            <a:r>
              <a:rPr lang="en-US" kern="0" dirty="0">
                <a:solidFill>
                  <a:srgbClr val="000000"/>
                </a:solidFill>
              </a:rPr>
              <a:t>        </a:t>
            </a:r>
            <a:r>
              <a:rPr lang="en-US" kern="0" dirty="0" err="1">
                <a:solidFill>
                  <a:srgbClr val="000000"/>
                </a:solidFill>
              </a:rPr>
              <a:t>fir_input_data</a:t>
            </a:r>
            <a:r>
              <a:rPr lang="en-US" kern="0" dirty="0">
                <a:solidFill>
                  <a:srgbClr val="000000"/>
                </a:solidFill>
              </a:rPr>
              <a:t>[2*</a:t>
            </a:r>
            <a:r>
              <a:rPr lang="en-US" kern="0" dirty="0" err="1">
                <a:solidFill>
                  <a:srgbClr val="000000"/>
                </a:solidFill>
              </a:rPr>
              <a:t>i</a:t>
            </a:r>
            <a:r>
              <a:rPr lang="en-US" kern="0" dirty="0">
                <a:solidFill>
                  <a:srgbClr val="000000"/>
                </a:solidFill>
              </a:rPr>
              <a:t> + 1] = din_ch2[</a:t>
            </a:r>
            <a:r>
              <a:rPr lang="en-US" kern="0" dirty="0" err="1">
                <a:solidFill>
                  <a:srgbClr val="000000"/>
                </a:solidFill>
              </a:rPr>
              <a:t>i</a:t>
            </a:r>
            <a:r>
              <a:rPr lang="en-US" kern="0" dirty="0">
                <a:solidFill>
                  <a:srgbClr val="000000"/>
                </a:solidFill>
              </a:rPr>
              <a:t>];</a:t>
            </a:r>
          </a:p>
          <a:p>
            <a:pPr defTabSz="914400" fontAlgn="base">
              <a:spcBef>
                <a:spcPct val="0"/>
              </a:spcBef>
              <a:spcAft>
                <a:spcPct val="0"/>
              </a:spcAft>
              <a:defRPr/>
            </a:pPr>
            <a:r>
              <a:rPr lang="en-US" kern="0" dirty="0">
                <a:solidFill>
                  <a:srgbClr val="000000"/>
                </a:solidFill>
              </a:rPr>
              <a:t>    }</a:t>
            </a:r>
          </a:p>
        </p:txBody>
      </p:sp>
      <p:sp>
        <p:nvSpPr>
          <p:cNvPr id="14" name="TextBox 13">
            <a:extLst>
              <a:ext uri="{FF2B5EF4-FFF2-40B4-BE49-F238E27FC236}">
                <a16:creationId xmlns:a16="http://schemas.microsoft.com/office/drawing/2014/main" id="{42DA3E41-FD27-4A37-9EB0-1CA3FDBA450B}"/>
              </a:ext>
            </a:extLst>
          </p:cNvPr>
          <p:cNvSpPr txBox="1"/>
          <p:nvPr/>
        </p:nvSpPr>
        <p:spPr bwMode="auto">
          <a:xfrm>
            <a:off x="6260340" y="3739604"/>
            <a:ext cx="3641965" cy="769441"/>
          </a:xfrm>
          <a:prstGeom prst="rect">
            <a:avLst/>
          </a:prstGeom>
          <a:solidFill>
            <a:srgbClr val="008CA8">
              <a:lumMod val="20000"/>
              <a:lumOff val="80000"/>
            </a:srgbClr>
          </a:solidFill>
          <a:ln w="9525">
            <a:noFill/>
            <a:miter lim="800000"/>
            <a:headEnd/>
            <a:tailEnd/>
          </a:ln>
          <a:effectLst>
            <a:outerShdw blurRad="50800" dist="38100" dir="2700000" algn="tl" rotWithShape="0">
              <a:prstClr val="black">
                <a:alpha val="40000"/>
              </a:prstClr>
            </a:outerShdw>
          </a:effectLst>
        </p:spPr>
        <p:txBody>
          <a:bodyPr vert="horz" wrap="square" lIns="0" tIns="45720" rIns="91440" bIns="45720" numCol="1" rtlCol="0" anchor="t" anchorCtr="0" compatLnSpc="1">
            <a:prstTxWarp prst="textNoShape">
              <a:avLst/>
            </a:prstTxWarp>
            <a:spAutoFit/>
          </a:bodyPr>
          <a:lstStyle>
            <a:defPPr>
              <a:defRPr lang="en-US"/>
            </a:defPPr>
            <a:lvl1pPr>
              <a:defRPr sz="1100"/>
            </a:lvl1pPr>
          </a:lstStyle>
          <a:p>
            <a:pPr defTabSz="914400" fontAlgn="base">
              <a:spcBef>
                <a:spcPct val="0"/>
              </a:spcBef>
              <a:spcAft>
                <a:spcPct val="0"/>
              </a:spcAft>
              <a:defRPr/>
            </a:pPr>
            <a:r>
              <a:rPr lang="en-US" kern="0" dirty="0">
                <a:solidFill>
                  <a:srgbClr val="000000"/>
                </a:solidFill>
              </a:rPr>
              <a:t> for(unsigned </a:t>
            </a:r>
            <a:r>
              <a:rPr lang="en-US" kern="0" dirty="0" err="1">
                <a:solidFill>
                  <a:srgbClr val="000000"/>
                </a:solidFill>
              </a:rPr>
              <a:t>i</a:t>
            </a:r>
            <a:r>
              <a:rPr lang="en-US" kern="0" dirty="0">
                <a:solidFill>
                  <a:srgbClr val="000000"/>
                </a:solidFill>
              </a:rPr>
              <a:t> = 0; </a:t>
            </a:r>
            <a:r>
              <a:rPr lang="en-US" kern="0" dirty="0" err="1">
                <a:solidFill>
                  <a:srgbClr val="000000"/>
                </a:solidFill>
              </a:rPr>
              <a:t>i</a:t>
            </a:r>
            <a:r>
              <a:rPr lang="en-US" kern="0" dirty="0">
                <a:solidFill>
                  <a:srgbClr val="000000"/>
                </a:solidFill>
              </a:rPr>
              <a:t> &lt; LENGTH; ++</a:t>
            </a:r>
            <a:r>
              <a:rPr lang="en-US" kern="0" dirty="0" err="1">
                <a:solidFill>
                  <a:srgbClr val="000000"/>
                </a:solidFill>
              </a:rPr>
              <a:t>i</a:t>
            </a:r>
            <a:r>
              <a:rPr lang="en-US" kern="0" dirty="0">
                <a:solidFill>
                  <a:srgbClr val="000000"/>
                </a:solidFill>
              </a:rPr>
              <a:t>) {</a:t>
            </a:r>
          </a:p>
          <a:p>
            <a:pPr defTabSz="914400" fontAlgn="base">
              <a:spcBef>
                <a:spcPct val="0"/>
              </a:spcBef>
              <a:spcAft>
                <a:spcPct val="0"/>
              </a:spcAft>
              <a:defRPr/>
            </a:pPr>
            <a:r>
              <a:rPr lang="en-US" kern="0" dirty="0">
                <a:solidFill>
                  <a:srgbClr val="000000"/>
                </a:solidFill>
              </a:rPr>
              <a:t>        dout_ch1[</a:t>
            </a:r>
            <a:r>
              <a:rPr lang="en-US" kern="0" dirty="0" err="1">
                <a:solidFill>
                  <a:srgbClr val="000000"/>
                </a:solidFill>
              </a:rPr>
              <a:t>i</a:t>
            </a:r>
            <a:r>
              <a:rPr lang="en-US" kern="0" dirty="0">
                <a:solidFill>
                  <a:srgbClr val="000000"/>
                </a:solidFill>
              </a:rPr>
              <a:t>] = </a:t>
            </a:r>
            <a:r>
              <a:rPr lang="en-US" kern="0" dirty="0" err="1">
                <a:solidFill>
                  <a:srgbClr val="000000"/>
                </a:solidFill>
              </a:rPr>
              <a:t>fir_output_data</a:t>
            </a:r>
            <a:r>
              <a:rPr lang="en-US" kern="0" dirty="0">
                <a:solidFill>
                  <a:srgbClr val="000000"/>
                </a:solidFill>
              </a:rPr>
              <a:t>[2*</a:t>
            </a:r>
            <a:r>
              <a:rPr lang="en-US" kern="0" dirty="0" err="1">
                <a:solidFill>
                  <a:srgbClr val="000000"/>
                </a:solidFill>
              </a:rPr>
              <a:t>i</a:t>
            </a:r>
            <a:r>
              <a:rPr lang="en-US" kern="0" dirty="0">
                <a:solidFill>
                  <a:srgbClr val="000000"/>
                </a:solidFill>
              </a:rPr>
              <a:t>];</a:t>
            </a:r>
          </a:p>
          <a:p>
            <a:pPr defTabSz="914400" fontAlgn="base">
              <a:spcBef>
                <a:spcPct val="0"/>
              </a:spcBef>
              <a:spcAft>
                <a:spcPct val="0"/>
              </a:spcAft>
              <a:defRPr/>
            </a:pPr>
            <a:r>
              <a:rPr lang="en-US" kern="0" dirty="0">
                <a:solidFill>
                  <a:srgbClr val="000000"/>
                </a:solidFill>
              </a:rPr>
              <a:t>        dout_ch2[</a:t>
            </a:r>
            <a:r>
              <a:rPr lang="en-US" kern="0" dirty="0" err="1">
                <a:solidFill>
                  <a:srgbClr val="000000"/>
                </a:solidFill>
              </a:rPr>
              <a:t>i</a:t>
            </a:r>
            <a:r>
              <a:rPr lang="en-US" kern="0" dirty="0">
                <a:solidFill>
                  <a:srgbClr val="000000"/>
                </a:solidFill>
              </a:rPr>
              <a:t>] = </a:t>
            </a:r>
            <a:r>
              <a:rPr lang="en-US" kern="0" dirty="0" err="1">
                <a:solidFill>
                  <a:srgbClr val="000000"/>
                </a:solidFill>
              </a:rPr>
              <a:t>fir_output_data</a:t>
            </a:r>
            <a:r>
              <a:rPr lang="en-US" kern="0" dirty="0">
                <a:solidFill>
                  <a:srgbClr val="000000"/>
                </a:solidFill>
              </a:rPr>
              <a:t>[2*i+1];</a:t>
            </a:r>
          </a:p>
          <a:p>
            <a:pPr defTabSz="914400" fontAlgn="base">
              <a:spcBef>
                <a:spcPct val="0"/>
              </a:spcBef>
              <a:spcAft>
                <a:spcPct val="0"/>
              </a:spcAft>
              <a:defRPr/>
            </a:pPr>
            <a:r>
              <a:rPr lang="en-US" kern="0" dirty="0">
                <a:solidFill>
                  <a:srgbClr val="000000"/>
                </a:solidFill>
              </a:rPr>
              <a:t>    }</a:t>
            </a:r>
          </a:p>
        </p:txBody>
      </p:sp>
    </p:spTree>
    <p:extLst>
      <p:ext uri="{BB962C8B-B14F-4D97-AF65-F5344CB8AC3E}">
        <p14:creationId xmlns:p14="http://schemas.microsoft.com/office/powerpoint/2010/main" val="3412975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FIR Function: Data</a:t>
            </a:r>
          </a:p>
        </p:txBody>
      </p:sp>
      <p:sp>
        <p:nvSpPr>
          <p:cNvPr id="2" name="Content Placeholder 1"/>
          <p:cNvSpPr>
            <a:spLocks noGrp="1"/>
          </p:cNvSpPr>
          <p:nvPr>
            <p:ph idx="1"/>
          </p:nvPr>
        </p:nvSpPr>
        <p:spPr/>
        <p:txBody>
          <a:bodyPr/>
          <a:lstStyle/>
          <a:p>
            <a:r>
              <a:rPr lang="en-US" dirty="0"/>
              <a:t>Input &amp; Output Data</a:t>
            </a:r>
          </a:p>
          <a:p>
            <a:pPr lvl="1"/>
            <a:r>
              <a:rPr lang="en-US" dirty="0"/>
              <a:t>Data Input and Output</a:t>
            </a:r>
          </a:p>
          <a:p>
            <a:pPr lvl="2"/>
            <a:r>
              <a:rPr lang="en-US" dirty="0"/>
              <a:t>Array arguments</a:t>
            </a:r>
            <a:r>
              <a:rPr lang="en-US" sz="1400" dirty="0"/>
              <a:t> </a:t>
            </a:r>
          </a:p>
          <a:p>
            <a:r>
              <a:rPr lang="en-US" dirty="0"/>
              <a:t>Multi-channel functionality</a:t>
            </a:r>
          </a:p>
          <a:p>
            <a:pPr lvl="1"/>
            <a:r>
              <a:rPr lang="en-US" dirty="0"/>
              <a:t>Supported through interleaving the data</a:t>
            </a:r>
          </a:p>
          <a:p>
            <a:pPr marL="288925" lvl="1" indent="0">
              <a:buNone/>
            </a:pPr>
            <a:r>
              <a:rPr lang="en-US" dirty="0"/>
              <a:t> </a:t>
            </a:r>
          </a:p>
          <a:p>
            <a:pPr lvl="2"/>
            <a:endParaRPr lang="en-US" sz="1400" dirty="0"/>
          </a:p>
          <a:p>
            <a:pPr lvl="1"/>
            <a:endParaRPr lang="en-US" dirty="0"/>
          </a:p>
        </p:txBody>
      </p:sp>
      <p:sp>
        <p:nvSpPr>
          <p:cNvPr id="12" name="Slide Number Placeholder 11"/>
          <p:cNvSpPr>
            <a:spLocks noGrp="1"/>
          </p:cNvSpPr>
          <p:nvPr>
            <p:ph type="sldNum" sz="quarter" idx="10"/>
          </p:nvPr>
        </p:nvSpPr>
        <p:spPr/>
        <p:txBody>
          <a:bodyPr/>
          <a:lstStyle/>
          <a:p>
            <a:pPr defTabSz="914400">
              <a:defRPr/>
            </a:pPr>
            <a:r>
              <a:rPr lang="en-US" dirty="0">
                <a:solidFill>
                  <a:srgbClr val="0C0C0C">
                    <a:tint val="75000"/>
                  </a:srgbClr>
                </a:solidFill>
                <a:latin typeface="Arial"/>
              </a:rPr>
              <a:t>Coding Considerations 23- </a:t>
            </a:r>
            <a:fld id="{060BD193-E118-4B16-863C-C8C12C675E3E}" type="slidenum">
              <a:rPr lang="en-US">
                <a:solidFill>
                  <a:srgbClr val="0C0C0C">
                    <a:tint val="75000"/>
                  </a:srgbClr>
                </a:solidFill>
                <a:latin typeface="Arial"/>
              </a:rPr>
              <a:pPr defTabSz="914400">
                <a:defRPr/>
              </a:pPr>
              <a:t>89</a:t>
            </a:fld>
            <a:endParaRPr lang="en-US" dirty="0">
              <a:solidFill>
                <a:srgbClr val="0C0C0C">
                  <a:tint val="75000"/>
                </a:srgbClr>
              </a:solidFill>
              <a:latin typeface="Arial"/>
            </a:endParaRPr>
          </a:p>
        </p:txBody>
      </p:sp>
      <p:sp>
        <p:nvSpPr>
          <p:cNvPr id="4" name="TextBox 3"/>
          <p:cNvSpPr txBox="1"/>
          <p:nvPr/>
        </p:nvSpPr>
        <p:spPr bwMode="auto">
          <a:xfrm>
            <a:off x="1160527" y="3459849"/>
            <a:ext cx="2961708" cy="279757"/>
          </a:xfrm>
          <a:prstGeom prst="rect">
            <a:avLst/>
          </a:prstGeom>
          <a:noFill/>
          <a:ln w="9525">
            <a:noFill/>
            <a:miter lim="800000"/>
            <a:headEnd/>
            <a:tailEnd/>
          </a:ln>
        </p:spPr>
        <p:txBody>
          <a:bodyPr vert="horz" wrap="none" lIns="0" tIns="45720" rIns="91440" bIns="45720" numCol="1" rtlCol="0" anchor="t" anchorCtr="0" compatLnSpc="1">
            <a:prstTxWarp prst="textNoShape">
              <a:avLst/>
            </a:prstTxWarp>
            <a:spAutoFit/>
          </a:bodyPr>
          <a:lstStyle/>
          <a:p>
            <a:pPr marL="228600" indent="-228600" defTabSz="914400" eaLnBrk="0" fontAlgn="base" hangingPunct="0">
              <a:lnSpc>
                <a:spcPct val="110000"/>
              </a:lnSpc>
              <a:spcBef>
                <a:spcPct val="20000"/>
              </a:spcBef>
              <a:spcAft>
                <a:spcPct val="0"/>
              </a:spcAft>
              <a:buClr>
                <a:srgbClr val="161C2E"/>
              </a:buClr>
              <a:buSzPct val="88000"/>
            </a:pPr>
            <a:r>
              <a:rPr lang="en-US" sz="1200" b="1" u="sng" kern="0" dirty="0">
                <a:solidFill>
                  <a:srgbClr val="1B3866"/>
                </a:solidFill>
                <a:latin typeface="Arial"/>
              </a:rPr>
              <a:t>Interleave 2 channels into the FIR input</a:t>
            </a:r>
          </a:p>
        </p:txBody>
      </p:sp>
      <p:sp>
        <p:nvSpPr>
          <p:cNvPr id="10" name="TextBox 9"/>
          <p:cNvSpPr txBox="1"/>
          <p:nvPr/>
        </p:nvSpPr>
        <p:spPr bwMode="auto">
          <a:xfrm>
            <a:off x="6263478" y="3459847"/>
            <a:ext cx="3368871" cy="279757"/>
          </a:xfrm>
          <a:prstGeom prst="rect">
            <a:avLst/>
          </a:prstGeom>
          <a:noFill/>
          <a:ln w="9525">
            <a:noFill/>
            <a:miter lim="800000"/>
            <a:headEnd/>
            <a:tailEnd/>
          </a:ln>
        </p:spPr>
        <p:txBody>
          <a:bodyPr vert="horz" wrap="none" lIns="0" tIns="45720" rIns="91440" bIns="45720" numCol="1" rtlCol="0" anchor="t" anchorCtr="0" compatLnSpc="1">
            <a:prstTxWarp prst="textNoShape">
              <a:avLst/>
            </a:prstTxWarp>
            <a:spAutoFit/>
          </a:bodyPr>
          <a:lstStyle/>
          <a:p>
            <a:pPr marL="228600" indent="-228600" defTabSz="914400" eaLnBrk="0" fontAlgn="base" hangingPunct="0">
              <a:lnSpc>
                <a:spcPct val="110000"/>
              </a:lnSpc>
              <a:spcBef>
                <a:spcPct val="20000"/>
              </a:spcBef>
              <a:spcAft>
                <a:spcPct val="0"/>
              </a:spcAft>
              <a:buClr>
                <a:srgbClr val="161C2E"/>
              </a:buClr>
              <a:buSzPct val="88000"/>
            </a:pPr>
            <a:r>
              <a:rPr lang="en-US" sz="1200" b="1" u="sng" kern="0" dirty="0">
                <a:solidFill>
                  <a:srgbClr val="1B3866"/>
                </a:solidFill>
                <a:latin typeface="Arial"/>
              </a:rPr>
              <a:t>De-Interleave 2 channels from the FIR output</a:t>
            </a:r>
          </a:p>
        </p:txBody>
      </p:sp>
      <p:sp>
        <p:nvSpPr>
          <p:cNvPr id="11" name="TextBox 10">
            <a:extLst>
              <a:ext uri="{FF2B5EF4-FFF2-40B4-BE49-F238E27FC236}">
                <a16:creationId xmlns:a16="http://schemas.microsoft.com/office/drawing/2014/main" id="{2338EEBE-0225-4D56-89DA-E16874F37F1B}"/>
              </a:ext>
            </a:extLst>
          </p:cNvPr>
          <p:cNvSpPr txBox="1"/>
          <p:nvPr/>
        </p:nvSpPr>
        <p:spPr bwMode="auto">
          <a:xfrm>
            <a:off x="6260340" y="1791088"/>
            <a:ext cx="5118063" cy="1446550"/>
          </a:xfrm>
          <a:prstGeom prst="rect">
            <a:avLst/>
          </a:prstGeom>
          <a:solidFill>
            <a:srgbClr val="008CA8">
              <a:lumMod val="20000"/>
              <a:lumOff val="80000"/>
            </a:srgbClr>
          </a:solidFill>
          <a:ln w="9525">
            <a:noFill/>
            <a:miter lim="800000"/>
            <a:headEnd/>
            <a:tailEnd/>
          </a:ln>
          <a:effectLst>
            <a:outerShdw blurRad="50800" dist="38100" dir="2700000" algn="tl" rotWithShape="0">
              <a:prstClr val="black">
                <a:alpha val="40000"/>
              </a:prstClr>
            </a:outerShdw>
          </a:effectLst>
        </p:spPr>
        <p:txBody>
          <a:bodyPr vert="horz" wrap="square" lIns="0" tIns="45720" rIns="91440" bIns="45720" numCol="1" rtlCol="0" anchor="t" anchorCtr="0" compatLnSpc="1">
            <a:prstTxWarp prst="textNoShape">
              <a:avLst/>
            </a:prstTxWarp>
            <a:spAutoFit/>
          </a:bodyPr>
          <a:lstStyle>
            <a:defPPr>
              <a:defRPr lang="en-US"/>
            </a:defPPr>
            <a:lvl1pPr>
              <a:defRPr sz="1100"/>
            </a:lvl1pPr>
          </a:lstStyle>
          <a:p>
            <a:pPr defTabSz="914400" fontAlgn="base">
              <a:spcBef>
                <a:spcPct val="0"/>
              </a:spcBef>
              <a:spcAft>
                <a:spcPct val="0"/>
              </a:spcAft>
              <a:defRPr/>
            </a:pPr>
            <a:r>
              <a:rPr lang="en-US" b="1" kern="0" dirty="0">
                <a:solidFill>
                  <a:srgbClr val="3F3F3F"/>
                </a:solidFill>
                <a:latin typeface="Arial"/>
              </a:rPr>
              <a:t> </a:t>
            </a:r>
            <a:r>
              <a:rPr lang="en-US" kern="0" dirty="0">
                <a:solidFill>
                  <a:srgbClr val="000000"/>
                </a:solidFill>
                <a:latin typeface="Arial"/>
              </a:rPr>
              <a:t>#include "</a:t>
            </a:r>
            <a:r>
              <a:rPr lang="en-US" kern="0" dirty="0" err="1">
                <a:solidFill>
                  <a:srgbClr val="000000"/>
                </a:solidFill>
                <a:latin typeface="Arial"/>
              </a:rPr>
              <a:t>hls_fir.h</a:t>
            </a:r>
            <a:r>
              <a:rPr lang="en-US" kern="0" dirty="0">
                <a:solidFill>
                  <a:srgbClr val="000000"/>
                </a:solidFill>
                <a:latin typeface="Arial"/>
              </a:rPr>
              <a:t>“</a:t>
            </a:r>
          </a:p>
          <a:p>
            <a:pPr defTabSz="914400" fontAlgn="base">
              <a:spcBef>
                <a:spcPct val="0"/>
              </a:spcBef>
              <a:spcAft>
                <a:spcPct val="0"/>
              </a:spcAft>
              <a:defRPr/>
            </a:pPr>
            <a:endParaRPr lang="en-US" kern="0" dirty="0">
              <a:solidFill>
                <a:srgbClr val="000000"/>
              </a:solidFill>
              <a:latin typeface="Arial"/>
            </a:endParaRPr>
          </a:p>
          <a:p>
            <a:pPr defTabSz="914400" fontAlgn="base">
              <a:spcBef>
                <a:spcPct val="0"/>
              </a:spcBef>
              <a:spcAft>
                <a:spcPct val="0"/>
              </a:spcAft>
              <a:defRPr/>
            </a:pPr>
            <a:r>
              <a:rPr lang="en-US" kern="0" dirty="0">
                <a:solidFill>
                  <a:srgbClr val="000000"/>
                </a:solidFill>
                <a:latin typeface="Arial"/>
              </a:rPr>
              <a:t>// Create an instance of the FIR </a:t>
            </a:r>
          </a:p>
          <a:p>
            <a:pPr defTabSz="914400" fontAlgn="base">
              <a:spcBef>
                <a:spcPct val="0"/>
              </a:spcBef>
              <a:spcAft>
                <a:spcPct val="0"/>
              </a:spcAft>
              <a:defRPr/>
            </a:pPr>
            <a:r>
              <a:rPr lang="en-US" kern="0" dirty="0">
                <a:solidFill>
                  <a:srgbClr val="000000"/>
                </a:solidFill>
                <a:latin typeface="Arial"/>
              </a:rPr>
              <a:t>static </a:t>
            </a:r>
            <a:r>
              <a:rPr lang="en-US" kern="0" dirty="0" err="1">
                <a:solidFill>
                  <a:srgbClr val="000000"/>
                </a:solidFill>
                <a:latin typeface="Arial"/>
              </a:rPr>
              <a:t>hls</a:t>
            </a:r>
            <a:r>
              <a:rPr lang="en-US" kern="0" dirty="0">
                <a:solidFill>
                  <a:srgbClr val="000000"/>
                </a:solidFill>
                <a:latin typeface="Arial"/>
              </a:rPr>
              <a:t>::FIR&lt;STATIC_PARAM&gt; fir1;	// Static parameterization</a:t>
            </a:r>
          </a:p>
          <a:p>
            <a:pPr defTabSz="914400" fontAlgn="base">
              <a:spcBef>
                <a:spcPct val="0"/>
              </a:spcBef>
              <a:spcAft>
                <a:spcPct val="0"/>
              </a:spcAft>
              <a:defRPr/>
            </a:pPr>
            <a:endParaRPr lang="en-US" kern="0" dirty="0">
              <a:solidFill>
                <a:srgbClr val="000000"/>
              </a:solidFill>
              <a:latin typeface="Arial"/>
            </a:endParaRPr>
          </a:p>
          <a:p>
            <a:pPr defTabSz="914400" fontAlgn="base">
              <a:spcBef>
                <a:spcPct val="0"/>
              </a:spcBef>
              <a:spcAft>
                <a:spcPct val="0"/>
              </a:spcAft>
              <a:defRPr/>
            </a:pPr>
            <a:r>
              <a:rPr lang="en-US" kern="0" dirty="0">
                <a:solidFill>
                  <a:srgbClr val="000000"/>
                </a:solidFill>
                <a:latin typeface="Arial"/>
              </a:rPr>
              <a:t>// Execute the FIR instance fir1</a:t>
            </a:r>
          </a:p>
          <a:p>
            <a:pPr defTabSz="914400" fontAlgn="base">
              <a:spcBef>
                <a:spcPct val="0"/>
              </a:spcBef>
              <a:spcAft>
                <a:spcPct val="0"/>
              </a:spcAft>
              <a:defRPr/>
            </a:pPr>
            <a:r>
              <a:rPr lang="en-US" kern="0" dirty="0">
                <a:solidFill>
                  <a:srgbClr val="000000"/>
                </a:solidFill>
                <a:latin typeface="Arial"/>
              </a:rPr>
              <a:t>fir1.run</a:t>
            </a:r>
            <a:r>
              <a:rPr lang="en-US" b="1" kern="0" dirty="0">
                <a:solidFill>
                  <a:srgbClr val="000000"/>
                </a:solidFill>
                <a:latin typeface="Arial"/>
              </a:rPr>
              <a:t>(INPUT_DATA_ARRAY, 	// Input Data</a:t>
            </a:r>
          </a:p>
          <a:p>
            <a:pPr defTabSz="914400" fontAlgn="base">
              <a:spcBef>
                <a:spcPct val="0"/>
              </a:spcBef>
              <a:spcAft>
                <a:spcPct val="0"/>
              </a:spcAft>
              <a:defRPr/>
            </a:pPr>
            <a:r>
              <a:rPr lang="en-US" b="1" kern="0" dirty="0">
                <a:solidFill>
                  <a:srgbClr val="000000"/>
                </a:solidFill>
                <a:latin typeface="Arial"/>
              </a:rPr>
              <a:t>            OUTPUT_DATA_ARRAY);	// Output Data</a:t>
            </a:r>
          </a:p>
        </p:txBody>
      </p:sp>
      <p:sp>
        <p:nvSpPr>
          <p:cNvPr id="13" name="TextBox 12">
            <a:extLst>
              <a:ext uri="{FF2B5EF4-FFF2-40B4-BE49-F238E27FC236}">
                <a16:creationId xmlns:a16="http://schemas.microsoft.com/office/drawing/2014/main" id="{987751ED-5F68-41B0-8FF0-4C62DDFF185F}"/>
              </a:ext>
            </a:extLst>
          </p:cNvPr>
          <p:cNvSpPr txBox="1"/>
          <p:nvPr/>
        </p:nvSpPr>
        <p:spPr bwMode="auto">
          <a:xfrm>
            <a:off x="1160529" y="3739606"/>
            <a:ext cx="3641965" cy="769441"/>
          </a:xfrm>
          <a:prstGeom prst="rect">
            <a:avLst/>
          </a:prstGeom>
          <a:solidFill>
            <a:srgbClr val="008CA8">
              <a:lumMod val="20000"/>
              <a:lumOff val="80000"/>
            </a:srgbClr>
          </a:solidFill>
          <a:ln w="9525">
            <a:noFill/>
            <a:miter lim="800000"/>
            <a:headEnd/>
            <a:tailEnd/>
          </a:ln>
          <a:effectLst>
            <a:outerShdw blurRad="50800" dist="38100" dir="2700000" algn="tl" rotWithShape="0">
              <a:prstClr val="black">
                <a:alpha val="40000"/>
              </a:prstClr>
            </a:outerShdw>
          </a:effectLst>
        </p:spPr>
        <p:txBody>
          <a:bodyPr vert="horz" wrap="square" lIns="0" tIns="45720" rIns="91440" bIns="45720" numCol="1" rtlCol="0" anchor="t" anchorCtr="0" compatLnSpc="1">
            <a:prstTxWarp prst="textNoShape">
              <a:avLst/>
            </a:prstTxWarp>
            <a:spAutoFit/>
          </a:bodyPr>
          <a:lstStyle>
            <a:defPPr>
              <a:defRPr lang="en-US"/>
            </a:defPPr>
            <a:lvl1pPr>
              <a:defRPr sz="1100"/>
            </a:lvl1pPr>
          </a:lstStyle>
          <a:p>
            <a:pPr defTabSz="914400" fontAlgn="base">
              <a:spcBef>
                <a:spcPct val="0"/>
              </a:spcBef>
              <a:spcAft>
                <a:spcPct val="0"/>
              </a:spcAft>
              <a:defRPr/>
            </a:pPr>
            <a:r>
              <a:rPr lang="en-US" kern="0" dirty="0">
                <a:solidFill>
                  <a:srgbClr val="000000"/>
                </a:solidFill>
                <a:latin typeface="Arial"/>
              </a:rPr>
              <a:t> for (unsigned </a:t>
            </a:r>
            <a:r>
              <a:rPr lang="en-US" kern="0" dirty="0" err="1">
                <a:solidFill>
                  <a:srgbClr val="000000"/>
                </a:solidFill>
                <a:latin typeface="Arial"/>
              </a:rPr>
              <a:t>i</a:t>
            </a:r>
            <a:r>
              <a:rPr lang="en-US" kern="0" dirty="0">
                <a:solidFill>
                  <a:srgbClr val="000000"/>
                </a:solidFill>
                <a:latin typeface="Arial"/>
              </a:rPr>
              <a:t> = 0; </a:t>
            </a:r>
            <a:r>
              <a:rPr lang="en-US" kern="0" dirty="0" err="1">
                <a:solidFill>
                  <a:srgbClr val="000000"/>
                </a:solidFill>
                <a:latin typeface="Arial"/>
              </a:rPr>
              <a:t>i</a:t>
            </a:r>
            <a:r>
              <a:rPr lang="en-US" kern="0" dirty="0">
                <a:solidFill>
                  <a:srgbClr val="000000"/>
                </a:solidFill>
                <a:latin typeface="Arial"/>
              </a:rPr>
              <a:t> &lt; LENGTH; ++</a:t>
            </a:r>
            <a:r>
              <a:rPr lang="en-US" kern="0" dirty="0" err="1">
                <a:solidFill>
                  <a:srgbClr val="000000"/>
                </a:solidFill>
                <a:latin typeface="Arial"/>
              </a:rPr>
              <a:t>i</a:t>
            </a:r>
            <a:r>
              <a:rPr lang="en-US" kern="0" dirty="0">
                <a:solidFill>
                  <a:srgbClr val="000000"/>
                </a:solidFill>
                <a:latin typeface="Arial"/>
              </a:rPr>
              <a:t>) {</a:t>
            </a:r>
          </a:p>
          <a:p>
            <a:pPr defTabSz="914400" fontAlgn="base">
              <a:spcBef>
                <a:spcPct val="0"/>
              </a:spcBef>
              <a:spcAft>
                <a:spcPct val="0"/>
              </a:spcAft>
              <a:defRPr/>
            </a:pPr>
            <a:r>
              <a:rPr lang="en-US" kern="0" dirty="0">
                <a:solidFill>
                  <a:srgbClr val="000000"/>
                </a:solidFill>
                <a:latin typeface="Arial"/>
              </a:rPr>
              <a:t>        </a:t>
            </a:r>
            <a:r>
              <a:rPr lang="en-US" kern="0" dirty="0" err="1">
                <a:solidFill>
                  <a:srgbClr val="000000"/>
                </a:solidFill>
                <a:latin typeface="Arial"/>
              </a:rPr>
              <a:t>fir_input_data</a:t>
            </a:r>
            <a:r>
              <a:rPr lang="en-US" kern="0" dirty="0">
                <a:solidFill>
                  <a:srgbClr val="000000"/>
                </a:solidFill>
                <a:latin typeface="Arial"/>
              </a:rPr>
              <a:t>[2*</a:t>
            </a:r>
            <a:r>
              <a:rPr lang="en-US" kern="0" dirty="0" err="1">
                <a:solidFill>
                  <a:srgbClr val="000000"/>
                </a:solidFill>
                <a:latin typeface="Arial"/>
              </a:rPr>
              <a:t>i</a:t>
            </a:r>
            <a:r>
              <a:rPr lang="en-US" kern="0" dirty="0">
                <a:solidFill>
                  <a:srgbClr val="000000"/>
                </a:solidFill>
                <a:latin typeface="Arial"/>
              </a:rPr>
              <a:t>] = din_ch1[</a:t>
            </a:r>
            <a:r>
              <a:rPr lang="en-US" kern="0" dirty="0" err="1">
                <a:solidFill>
                  <a:srgbClr val="000000"/>
                </a:solidFill>
                <a:latin typeface="Arial"/>
              </a:rPr>
              <a:t>i</a:t>
            </a:r>
            <a:r>
              <a:rPr lang="en-US" kern="0" dirty="0">
                <a:solidFill>
                  <a:srgbClr val="000000"/>
                </a:solidFill>
                <a:latin typeface="Arial"/>
              </a:rPr>
              <a:t>];</a:t>
            </a:r>
          </a:p>
          <a:p>
            <a:pPr defTabSz="914400" fontAlgn="base">
              <a:spcBef>
                <a:spcPct val="0"/>
              </a:spcBef>
              <a:spcAft>
                <a:spcPct val="0"/>
              </a:spcAft>
              <a:defRPr/>
            </a:pPr>
            <a:r>
              <a:rPr lang="en-US" kern="0" dirty="0">
                <a:solidFill>
                  <a:srgbClr val="000000"/>
                </a:solidFill>
                <a:latin typeface="Arial"/>
              </a:rPr>
              <a:t>        </a:t>
            </a:r>
            <a:r>
              <a:rPr lang="en-US" kern="0" dirty="0" err="1">
                <a:solidFill>
                  <a:srgbClr val="000000"/>
                </a:solidFill>
                <a:latin typeface="Arial"/>
              </a:rPr>
              <a:t>fir_input_data</a:t>
            </a:r>
            <a:r>
              <a:rPr lang="en-US" kern="0" dirty="0">
                <a:solidFill>
                  <a:srgbClr val="000000"/>
                </a:solidFill>
                <a:latin typeface="Arial"/>
              </a:rPr>
              <a:t>[2*</a:t>
            </a:r>
            <a:r>
              <a:rPr lang="en-US" kern="0" dirty="0" err="1">
                <a:solidFill>
                  <a:srgbClr val="000000"/>
                </a:solidFill>
                <a:latin typeface="Arial"/>
              </a:rPr>
              <a:t>i</a:t>
            </a:r>
            <a:r>
              <a:rPr lang="en-US" kern="0" dirty="0">
                <a:solidFill>
                  <a:srgbClr val="000000"/>
                </a:solidFill>
                <a:latin typeface="Arial"/>
              </a:rPr>
              <a:t> + 1] = din_ch2[</a:t>
            </a:r>
            <a:r>
              <a:rPr lang="en-US" kern="0" dirty="0" err="1">
                <a:solidFill>
                  <a:srgbClr val="000000"/>
                </a:solidFill>
                <a:latin typeface="Arial"/>
              </a:rPr>
              <a:t>i</a:t>
            </a:r>
            <a:r>
              <a:rPr lang="en-US" kern="0" dirty="0">
                <a:solidFill>
                  <a:srgbClr val="000000"/>
                </a:solidFill>
                <a:latin typeface="Arial"/>
              </a:rPr>
              <a:t>];</a:t>
            </a:r>
          </a:p>
          <a:p>
            <a:pPr defTabSz="914400" fontAlgn="base">
              <a:spcBef>
                <a:spcPct val="0"/>
              </a:spcBef>
              <a:spcAft>
                <a:spcPct val="0"/>
              </a:spcAft>
              <a:defRPr/>
            </a:pPr>
            <a:r>
              <a:rPr lang="en-US" kern="0" dirty="0">
                <a:solidFill>
                  <a:srgbClr val="000000"/>
                </a:solidFill>
                <a:latin typeface="Arial"/>
              </a:rPr>
              <a:t>    }</a:t>
            </a:r>
          </a:p>
        </p:txBody>
      </p:sp>
      <p:sp>
        <p:nvSpPr>
          <p:cNvPr id="14" name="TextBox 13">
            <a:extLst>
              <a:ext uri="{FF2B5EF4-FFF2-40B4-BE49-F238E27FC236}">
                <a16:creationId xmlns:a16="http://schemas.microsoft.com/office/drawing/2014/main" id="{42DA3E41-FD27-4A37-9EB0-1CA3FDBA450B}"/>
              </a:ext>
            </a:extLst>
          </p:cNvPr>
          <p:cNvSpPr txBox="1"/>
          <p:nvPr/>
        </p:nvSpPr>
        <p:spPr bwMode="auto">
          <a:xfrm>
            <a:off x="6260340" y="3739604"/>
            <a:ext cx="3641965" cy="769441"/>
          </a:xfrm>
          <a:prstGeom prst="rect">
            <a:avLst/>
          </a:prstGeom>
          <a:solidFill>
            <a:srgbClr val="008CA8">
              <a:lumMod val="20000"/>
              <a:lumOff val="80000"/>
            </a:srgbClr>
          </a:solidFill>
          <a:ln w="9525">
            <a:noFill/>
            <a:miter lim="800000"/>
            <a:headEnd/>
            <a:tailEnd/>
          </a:ln>
          <a:effectLst>
            <a:outerShdw blurRad="50800" dist="38100" dir="2700000" algn="tl" rotWithShape="0">
              <a:prstClr val="black">
                <a:alpha val="40000"/>
              </a:prstClr>
            </a:outerShdw>
          </a:effectLst>
        </p:spPr>
        <p:txBody>
          <a:bodyPr vert="horz" wrap="square" lIns="0" tIns="45720" rIns="91440" bIns="45720" numCol="1" rtlCol="0" anchor="t" anchorCtr="0" compatLnSpc="1">
            <a:prstTxWarp prst="textNoShape">
              <a:avLst/>
            </a:prstTxWarp>
            <a:spAutoFit/>
          </a:bodyPr>
          <a:lstStyle>
            <a:defPPr>
              <a:defRPr lang="en-US"/>
            </a:defPPr>
            <a:lvl1pPr>
              <a:defRPr sz="1100"/>
            </a:lvl1pPr>
          </a:lstStyle>
          <a:p>
            <a:pPr defTabSz="914400" fontAlgn="base">
              <a:spcBef>
                <a:spcPct val="0"/>
              </a:spcBef>
              <a:spcAft>
                <a:spcPct val="0"/>
              </a:spcAft>
              <a:defRPr/>
            </a:pPr>
            <a:r>
              <a:rPr lang="en-US" kern="0" dirty="0">
                <a:solidFill>
                  <a:srgbClr val="000000"/>
                </a:solidFill>
                <a:latin typeface="Arial"/>
              </a:rPr>
              <a:t> for(unsigned </a:t>
            </a:r>
            <a:r>
              <a:rPr lang="en-US" kern="0" dirty="0" err="1">
                <a:solidFill>
                  <a:srgbClr val="000000"/>
                </a:solidFill>
                <a:latin typeface="Arial"/>
              </a:rPr>
              <a:t>i</a:t>
            </a:r>
            <a:r>
              <a:rPr lang="en-US" kern="0" dirty="0">
                <a:solidFill>
                  <a:srgbClr val="000000"/>
                </a:solidFill>
                <a:latin typeface="Arial"/>
              </a:rPr>
              <a:t> = 0; </a:t>
            </a:r>
            <a:r>
              <a:rPr lang="en-US" kern="0" dirty="0" err="1">
                <a:solidFill>
                  <a:srgbClr val="000000"/>
                </a:solidFill>
                <a:latin typeface="Arial"/>
              </a:rPr>
              <a:t>i</a:t>
            </a:r>
            <a:r>
              <a:rPr lang="en-US" kern="0" dirty="0">
                <a:solidFill>
                  <a:srgbClr val="000000"/>
                </a:solidFill>
                <a:latin typeface="Arial"/>
              </a:rPr>
              <a:t> &lt; LENGTH; ++</a:t>
            </a:r>
            <a:r>
              <a:rPr lang="en-US" kern="0" dirty="0" err="1">
                <a:solidFill>
                  <a:srgbClr val="000000"/>
                </a:solidFill>
                <a:latin typeface="Arial"/>
              </a:rPr>
              <a:t>i</a:t>
            </a:r>
            <a:r>
              <a:rPr lang="en-US" kern="0" dirty="0">
                <a:solidFill>
                  <a:srgbClr val="000000"/>
                </a:solidFill>
                <a:latin typeface="Arial"/>
              </a:rPr>
              <a:t>) {</a:t>
            </a:r>
          </a:p>
          <a:p>
            <a:pPr defTabSz="914400" fontAlgn="base">
              <a:spcBef>
                <a:spcPct val="0"/>
              </a:spcBef>
              <a:spcAft>
                <a:spcPct val="0"/>
              </a:spcAft>
              <a:defRPr/>
            </a:pPr>
            <a:r>
              <a:rPr lang="en-US" kern="0" dirty="0">
                <a:solidFill>
                  <a:srgbClr val="000000"/>
                </a:solidFill>
                <a:latin typeface="Arial"/>
              </a:rPr>
              <a:t>        dout_ch1[</a:t>
            </a:r>
            <a:r>
              <a:rPr lang="en-US" kern="0" dirty="0" err="1">
                <a:solidFill>
                  <a:srgbClr val="000000"/>
                </a:solidFill>
                <a:latin typeface="Arial"/>
              </a:rPr>
              <a:t>i</a:t>
            </a:r>
            <a:r>
              <a:rPr lang="en-US" kern="0" dirty="0">
                <a:solidFill>
                  <a:srgbClr val="000000"/>
                </a:solidFill>
                <a:latin typeface="Arial"/>
              </a:rPr>
              <a:t>] = </a:t>
            </a:r>
            <a:r>
              <a:rPr lang="en-US" kern="0" dirty="0" err="1">
                <a:solidFill>
                  <a:srgbClr val="000000"/>
                </a:solidFill>
                <a:latin typeface="Arial"/>
              </a:rPr>
              <a:t>fir_output_data</a:t>
            </a:r>
            <a:r>
              <a:rPr lang="en-US" kern="0" dirty="0">
                <a:solidFill>
                  <a:srgbClr val="000000"/>
                </a:solidFill>
                <a:latin typeface="Arial"/>
              </a:rPr>
              <a:t>[2*</a:t>
            </a:r>
            <a:r>
              <a:rPr lang="en-US" kern="0" dirty="0" err="1">
                <a:solidFill>
                  <a:srgbClr val="000000"/>
                </a:solidFill>
                <a:latin typeface="Arial"/>
              </a:rPr>
              <a:t>i</a:t>
            </a:r>
            <a:r>
              <a:rPr lang="en-US" kern="0" dirty="0">
                <a:solidFill>
                  <a:srgbClr val="000000"/>
                </a:solidFill>
                <a:latin typeface="Arial"/>
              </a:rPr>
              <a:t>];</a:t>
            </a:r>
          </a:p>
          <a:p>
            <a:pPr defTabSz="914400" fontAlgn="base">
              <a:spcBef>
                <a:spcPct val="0"/>
              </a:spcBef>
              <a:spcAft>
                <a:spcPct val="0"/>
              </a:spcAft>
              <a:defRPr/>
            </a:pPr>
            <a:r>
              <a:rPr lang="en-US" kern="0" dirty="0">
                <a:solidFill>
                  <a:srgbClr val="000000"/>
                </a:solidFill>
                <a:latin typeface="Arial"/>
              </a:rPr>
              <a:t>        dout_ch2[</a:t>
            </a:r>
            <a:r>
              <a:rPr lang="en-US" kern="0" dirty="0" err="1">
                <a:solidFill>
                  <a:srgbClr val="000000"/>
                </a:solidFill>
                <a:latin typeface="Arial"/>
              </a:rPr>
              <a:t>i</a:t>
            </a:r>
            <a:r>
              <a:rPr lang="en-US" kern="0" dirty="0">
                <a:solidFill>
                  <a:srgbClr val="000000"/>
                </a:solidFill>
                <a:latin typeface="Arial"/>
              </a:rPr>
              <a:t>] = </a:t>
            </a:r>
            <a:r>
              <a:rPr lang="en-US" kern="0" dirty="0" err="1">
                <a:solidFill>
                  <a:srgbClr val="000000"/>
                </a:solidFill>
                <a:latin typeface="Arial"/>
              </a:rPr>
              <a:t>fir_output_data</a:t>
            </a:r>
            <a:r>
              <a:rPr lang="en-US" kern="0" dirty="0">
                <a:solidFill>
                  <a:srgbClr val="000000"/>
                </a:solidFill>
                <a:latin typeface="Arial"/>
              </a:rPr>
              <a:t>[2*i+1];</a:t>
            </a:r>
          </a:p>
          <a:p>
            <a:pPr defTabSz="914400" fontAlgn="base">
              <a:spcBef>
                <a:spcPct val="0"/>
              </a:spcBef>
              <a:spcAft>
                <a:spcPct val="0"/>
              </a:spcAft>
              <a:defRPr/>
            </a:pPr>
            <a:r>
              <a:rPr lang="en-US" kern="0" dirty="0">
                <a:solidFill>
                  <a:srgbClr val="000000"/>
                </a:solidFill>
                <a:latin typeface="Arial"/>
              </a:rPr>
              <a:t>    }</a:t>
            </a:r>
          </a:p>
        </p:txBody>
      </p:sp>
    </p:spTree>
    <p:extLst>
      <p:ext uri="{BB962C8B-B14F-4D97-AF65-F5344CB8AC3E}">
        <p14:creationId xmlns:p14="http://schemas.microsoft.com/office/powerpoint/2010/main" val="95814768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FIR Function: Run Time Configuration</a:t>
            </a:r>
          </a:p>
        </p:txBody>
      </p:sp>
      <p:sp>
        <p:nvSpPr>
          <p:cNvPr id="2" name="Content Placeholder 1"/>
          <p:cNvSpPr>
            <a:spLocks noGrp="1"/>
          </p:cNvSpPr>
          <p:nvPr>
            <p:ph idx="1"/>
          </p:nvPr>
        </p:nvSpPr>
        <p:spPr/>
        <p:txBody>
          <a:bodyPr/>
          <a:lstStyle/>
          <a:p>
            <a:r>
              <a:rPr lang="en-US" sz="2000" dirty="0"/>
              <a:t>Dynamic Configuration</a:t>
            </a:r>
          </a:p>
          <a:p>
            <a:pPr lvl="1"/>
            <a:r>
              <a:rPr lang="en-US" sz="1800" dirty="0"/>
              <a:t>Parameter INPUT_RUN_TIME_CONFIGURATION </a:t>
            </a:r>
            <a:br>
              <a:rPr lang="en-US" sz="1800" dirty="0"/>
            </a:br>
            <a:r>
              <a:rPr lang="en-US" sz="1800" dirty="0"/>
              <a:t>can be changed at run time</a:t>
            </a:r>
            <a:endParaRPr lang="en-US" sz="1400" dirty="0"/>
          </a:p>
          <a:p>
            <a:pPr lvl="1"/>
            <a:endParaRPr lang="en-US" sz="1800" dirty="0"/>
          </a:p>
          <a:p>
            <a:pPr lvl="1"/>
            <a:r>
              <a:rPr lang="en-US" sz="1800" dirty="0"/>
              <a:t>In some modes a dynamic input can control </a:t>
            </a:r>
            <a:br>
              <a:rPr lang="en-US" sz="1800" dirty="0"/>
            </a:br>
            <a:r>
              <a:rPr lang="en-US" sz="1800" dirty="0"/>
              <a:t>how the coefficients are used</a:t>
            </a:r>
            <a:endParaRPr lang="en-US" sz="1800" dirty="0">
              <a:solidFill>
                <a:schemeClr val="accent6">
                  <a:lumMod val="75000"/>
                </a:schemeClr>
              </a:solidFill>
            </a:endParaRPr>
          </a:p>
          <a:p>
            <a:pPr lvl="2"/>
            <a:r>
              <a:rPr lang="en-US" sz="1400" dirty="0"/>
              <a:t>This is a standard 8-bit input </a:t>
            </a:r>
          </a:p>
          <a:p>
            <a:pPr lvl="1"/>
            <a:endParaRPr lang="en-US" sz="1800" dirty="0"/>
          </a:p>
        </p:txBody>
      </p:sp>
      <p:sp>
        <p:nvSpPr>
          <p:cNvPr id="8" name="Slide Number Placeholder 5">
            <a:extLst>
              <a:ext uri="{FF2B5EF4-FFF2-40B4-BE49-F238E27FC236}">
                <a16:creationId xmlns:a16="http://schemas.microsoft.com/office/drawing/2014/main" id="{DD4B1E22-391C-4B0D-9889-86AC0DE3E7D5}"/>
              </a:ext>
            </a:extLst>
          </p:cNvPr>
          <p:cNvSpPr>
            <a:spLocks noGrp="1"/>
          </p:cNvSpPr>
          <p:nvPr>
            <p:ph type="sldNum" sz="quarter" idx="4"/>
          </p:nvPr>
        </p:nvSpPr>
        <p:spPr/>
        <p:txBody>
          <a:bodyPr/>
          <a:lstStyle/>
          <a:p>
            <a:pPr>
              <a:defRPr/>
            </a:pPr>
            <a:r>
              <a:rPr lang="en-US" dirty="0"/>
              <a:t>Coding Considerations 23- </a:t>
            </a:r>
            <a:fld id="{060BD193-E118-4B16-863C-C8C12C675E3E}" type="slidenum">
              <a:rPr lang="en-US" smtClean="0"/>
              <a:pPr>
                <a:defRPr/>
              </a:pPr>
              <a:t>90</a:t>
            </a:fld>
            <a:endParaRPr lang="en-US" dirty="0"/>
          </a:p>
        </p:txBody>
      </p:sp>
      <p:sp>
        <p:nvSpPr>
          <p:cNvPr id="9" name="TextBox 8">
            <a:extLst>
              <a:ext uri="{FF2B5EF4-FFF2-40B4-BE49-F238E27FC236}">
                <a16:creationId xmlns:a16="http://schemas.microsoft.com/office/drawing/2014/main" id="{923B0175-1235-47FB-B943-2AA8F2138F88}"/>
              </a:ext>
            </a:extLst>
          </p:cNvPr>
          <p:cNvSpPr txBox="1"/>
          <p:nvPr/>
        </p:nvSpPr>
        <p:spPr bwMode="auto">
          <a:xfrm>
            <a:off x="6255181" y="2121776"/>
            <a:ext cx="5794665" cy="1615827"/>
          </a:xfrm>
          <a:prstGeom prst="rect">
            <a:avLst/>
          </a:prstGeom>
          <a:solidFill>
            <a:srgbClr val="008CA8">
              <a:lumMod val="20000"/>
              <a:lumOff val="80000"/>
            </a:srgbClr>
          </a:solidFill>
          <a:ln w="9525">
            <a:noFill/>
            <a:miter lim="800000"/>
            <a:headEnd/>
            <a:tailEnd/>
          </a:ln>
          <a:effectLst>
            <a:outerShdw blurRad="50800" dist="38100" dir="2700000" algn="tl" rotWithShape="0">
              <a:prstClr val="black">
                <a:alpha val="40000"/>
              </a:prstClr>
            </a:outerShdw>
          </a:effectLst>
        </p:spPr>
        <p:txBody>
          <a:bodyPr vert="horz" wrap="square" lIns="0" tIns="45720" rIns="91440" bIns="45720" numCol="1" rtlCol="0" anchor="t" anchorCtr="0" compatLnSpc="1">
            <a:prstTxWarp prst="textNoShape">
              <a:avLst/>
            </a:prstTxWarp>
            <a:spAutoFit/>
          </a:bodyPr>
          <a:lstStyle>
            <a:defPPr>
              <a:defRPr lang="en-US"/>
            </a:defPPr>
            <a:lvl1pPr>
              <a:defRPr sz="1100"/>
            </a:lvl1pPr>
          </a:lstStyle>
          <a:p>
            <a:pPr defTabSz="914400" fontAlgn="base">
              <a:spcBef>
                <a:spcPct val="0"/>
              </a:spcBef>
              <a:spcAft>
                <a:spcPct val="0"/>
              </a:spcAft>
              <a:defRPr/>
            </a:pPr>
            <a:r>
              <a:rPr lang="en-US" b="1" kern="0" dirty="0">
                <a:solidFill>
                  <a:srgbClr val="3F3F3F"/>
                </a:solidFill>
              </a:rPr>
              <a:t> </a:t>
            </a:r>
            <a:r>
              <a:rPr lang="en-US" kern="0" dirty="0">
                <a:solidFill>
                  <a:srgbClr val="000000"/>
                </a:solidFill>
              </a:rPr>
              <a:t>#include "</a:t>
            </a:r>
            <a:r>
              <a:rPr lang="en-US" kern="0" dirty="0" err="1">
                <a:solidFill>
                  <a:srgbClr val="000000"/>
                </a:solidFill>
              </a:rPr>
              <a:t>hls_fir.h</a:t>
            </a:r>
            <a:r>
              <a:rPr lang="en-US" kern="0" dirty="0">
                <a:solidFill>
                  <a:srgbClr val="000000"/>
                </a:solidFill>
              </a:rPr>
              <a:t>“</a:t>
            </a:r>
          </a:p>
          <a:p>
            <a:pPr defTabSz="914400" fontAlgn="base">
              <a:spcBef>
                <a:spcPct val="0"/>
              </a:spcBef>
              <a:spcAft>
                <a:spcPct val="0"/>
              </a:spcAft>
              <a:defRPr/>
            </a:pPr>
            <a:endParaRPr lang="en-US" kern="0" dirty="0">
              <a:solidFill>
                <a:srgbClr val="000000"/>
              </a:solidFill>
            </a:endParaRPr>
          </a:p>
          <a:p>
            <a:pPr defTabSz="914400" fontAlgn="base">
              <a:spcBef>
                <a:spcPct val="0"/>
              </a:spcBef>
              <a:spcAft>
                <a:spcPct val="0"/>
              </a:spcAft>
              <a:defRPr/>
            </a:pPr>
            <a:r>
              <a:rPr lang="en-US" kern="0" dirty="0">
                <a:solidFill>
                  <a:srgbClr val="000000"/>
                </a:solidFill>
              </a:rPr>
              <a:t>// Create an instance of the FIR </a:t>
            </a:r>
          </a:p>
          <a:p>
            <a:pPr defTabSz="914400" fontAlgn="base">
              <a:spcBef>
                <a:spcPct val="0"/>
              </a:spcBef>
              <a:spcAft>
                <a:spcPct val="0"/>
              </a:spcAft>
              <a:defRPr/>
            </a:pPr>
            <a:r>
              <a:rPr lang="en-US" kern="0" dirty="0">
                <a:solidFill>
                  <a:srgbClr val="000000"/>
                </a:solidFill>
              </a:rPr>
              <a:t>static </a:t>
            </a:r>
            <a:r>
              <a:rPr lang="en-US" kern="0" dirty="0" err="1">
                <a:solidFill>
                  <a:srgbClr val="000000"/>
                </a:solidFill>
              </a:rPr>
              <a:t>hls</a:t>
            </a:r>
            <a:r>
              <a:rPr lang="en-US" kern="0" dirty="0">
                <a:solidFill>
                  <a:srgbClr val="000000"/>
                </a:solidFill>
              </a:rPr>
              <a:t>::FIR&lt;STATIC_PARAM&gt; </a:t>
            </a:r>
            <a:r>
              <a:rPr lang="en-US" b="1" kern="0" dirty="0">
                <a:solidFill>
                  <a:srgbClr val="000000"/>
                </a:solidFill>
              </a:rPr>
              <a:t>fir1</a:t>
            </a:r>
            <a:r>
              <a:rPr lang="en-US" kern="0" dirty="0">
                <a:solidFill>
                  <a:srgbClr val="000000"/>
                </a:solidFill>
              </a:rPr>
              <a:t>;		// Static parameterization</a:t>
            </a:r>
          </a:p>
          <a:p>
            <a:pPr defTabSz="914400" fontAlgn="base">
              <a:spcBef>
                <a:spcPct val="0"/>
              </a:spcBef>
              <a:spcAft>
                <a:spcPct val="0"/>
              </a:spcAft>
              <a:defRPr/>
            </a:pPr>
            <a:endParaRPr lang="en-US" kern="0" dirty="0">
              <a:solidFill>
                <a:srgbClr val="000000"/>
              </a:solidFill>
            </a:endParaRPr>
          </a:p>
          <a:p>
            <a:pPr defTabSz="914400" fontAlgn="base">
              <a:spcBef>
                <a:spcPct val="0"/>
              </a:spcBef>
              <a:spcAft>
                <a:spcPct val="0"/>
              </a:spcAft>
              <a:defRPr/>
            </a:pPr>
            <a:r>
              <a:rPr lang="en-US" kern="0" dirty="0">
                <a:solidFill>
                  <a:srgbClr val="000000"/>
                </a:solidFill>
              </a:rPr>
              <a:t>// Execute the FIR instance fir1</a:t>
            </a:r>
          </a:p>
          <a:p>
            <a:pPr defTabSz="914400" fontAlgn="base">
              <a:spcBef>
                <a:spcPct val="0"/>
              </a:spcBef>
              <a:spcAft>
                <a:spcPct val="0"/>
              </a:spcAft>
              <a:defRPr/>
            </a:pPr>
            <a:r>
              <a:rPr lang="en-US" b="1" kern="0" dirty="0">
                <a:solidFill>
                  <a:srgbClr val="000000"/>
                </a:solidFill>
              </a:rPr>
              <a:t>fir1</a:t>
            </a:r>
            <a:r>
              <a:rPr lang="en-US" kern="0" dirty="0">
                <a:solidFill>
                  <a:srgbClr val="000000"/>
                </a:solidFill>
              </a:rPr>
              <a:t>.run(INPUT_DATA_ARRAY, 		// Input Data</a:t>
            </a:r>
          </a:p>
          <a:p>
            <a:pPr defTabSz="914400" fontAlgn="base">
              <a:spcBef>
                <a:spcPct val="0"/>
              </a:spcBef>
              <a:spcAft>
                <a:spcPct val="0"/>
              </a:spcAft>
              <a:defRPr/>
            </a:pPr>
            <a:r>
              <a:rPr lang="en-US" kern="0" dirty="0">
                <a:solidFill>
                  <a:srgbClr val="000000"/>
                </a:solidFill>
              </a:rPr>
              <a:t>             OUTPUT_DATA_ARRAY,		// Output Data</a:t>
            </a:r>
          </a:p>
          <a:p>
            <a:pPr defTabSz="914400" fontAlgn="base">
              <a:spcBef>
                <a:spcPct val="0"/>
              </a:spcBef>
              <a:spcAft>
                <a:spcPct val="0"/>
              </a:spcAft>
              <a:defRPr/>
            </a:pPr>
            <a:r>
              <a:rPr lang="en-US" b="1" kern="0" dirty="0">
                <a:solidFill>
                  <a:srgbClr val="000000"/>
                </a:solidFill>
              </a:rPr>
              <a:t>             INPUT_RUN_TIME_CONFIGURATION);	// Run time input configuration</a:t>
            </a:r>
          </a:p>
        </p:txBody>
      </p:sp>
      <p:sp>
        <p:nvSpPr>
          <p:cNvPr id="11" name="TextBox 10">
            <a:extLst>
              <a:ext uri="{FF2B5EF4-FFF2-40B4-BE49-F238E27FC236}">
                <a16:creationId xmlns:a16="http://schemas.microsoft.com/office/drawing/2014/main" id="{56F6FFF8-26D5-49F0-8AD7-D8AFE9298270}"/>
              </a:ext>
            </a:extLst>
          </p:cNvPr>
          <p:cNvSpPr txBox="1"/>
          <p:nvPr/>
        </p:nvSpPr>
        <p:spPr bwMode="auto">
          <a:xfrm>
            <a:off x="1164464" y="4089755"/>
            <a:ext cx="5482348" cy="1785104"/>
          </a:xfrm>
          <a:prstGeom prst="rect">
            <a:avLst/>
          </a:prstGeom>
          <a:solidFill>
            <a:srgbClr val="008CA8">
              <a:lumMod val="20000"/>
              <a:lumOff val="80000"/>
            </a:srgbClr>
          </a:solidFill>
          <a:ln w="9525">
            <a:noFill/>
            <a:miter lim="800000"/>
            <a:headEnd/>
            <a:tailEnd/>
          </a:ln>
          <a:effectLst>
            <a:outerShdw blurRad="50800" dist="38100" dir="2700000" algn="tl" rotWithShape="0">
              <a:prstClr val="black">
                <a:alpha val="40000"/>
              </a:prstClr>
            </a:outerShdw>
          </a:effectLst>
        </p:spPr>
        <p:txBody>
          <a:bodyPr vert="horz" wrap="square" lIns="0" tIns="45720" rIns="91440" bIns="45720" numCol="1" rtlCol="0" anchor="t" anchorCtr="0" compatLnSpc="1">
            <a:prstTxWarp prst="textNoShape">
              <a:avLst/>
            </a:prstTxWarp>
            <a:spAutoFit/>
          </a:bodyPr>
          <a:lstStyle>
            <a:defPPr>
              <a:defRPr lang="en-US"/>
            </a:defPPr>
            <a:lvl1pPr>
              <a:defRPr sz="1100"/>
            </a:lvl1pPr>
          </a:lstStyle>
          <a:p>
            <a:pPr defTabSz="914400" fontAlgn="base">
              <a:spcBef>
                <a:spcPct val="0"/>
              </a:spcBef>
              <a:spcAft>
                <a:spcPct val="0"/>
              </a:spcAft>
              <a:defRPr/>
            </a:pPr>
            <a:r>
              <a:rPr lang="en-US" kern="0" dirty="0">
                <a:solidFill>
                  <a:srgbClr val="000000"/>
                </a:solidFill>
              </a:rPr>
              <a:t>#include "</a:t>
            </a:r>
            <a:r>
              <a:rPr lang="en-US" kern="0" dirty="0" err="1">
                <a:solidFill>
                  <a:srgbClr val="000000"/>
                </a:solidFill>
              </a:rPr>
              <a:t>hls_fir.h</a:t>
            </a:r>
            <a:r>
              <a:rPr lang="en-US" kern="0" dirty="0">
                <a:solidFill>
                  <a:srgbClr val="000000"/>
                </a:solidFill>
              </a:rPr>
              <a:t>“</a:t>
            </a:r>
          </a:p>
          <a:p>
            <a:pPr defTabSz="914400" fontAlgn="base">
              <a:spcBef>
                <a:spcPct val="0"/>
              </a:spcBef>
              <a:spcAft>
                <a:spcPct val="0"/>
              </a:spcAft>
              <a:defRPr/>
            </a:pPr>
            <a:endParaRPr lang="en-US" kern="0" dirty="0">
              <a:solidFill>
                <a:srgbClr val="000000"/>
              </a:solidFill>
            </a:endParaRPr>
          </a:p>
          <a:p>
            <a:pPr defTabSz="914400" fontAlgn="base">
              <a:spcBef>
                <a:spcPct val="0"/>
              </a:spcBef>
              <a:spcAft>
                <a:spcPct val="0"/>
              </a:spcAft>
              <a:defRPr/>
            </a:pPr>
            <a:r>
              <a:rPr lang="en-US" kern="0" dirty="0">
                <a:solidFill>
                  <a:srgbClr val="000000"/>
                </a:solidFill>
              </a:rPr>
              <a:t>struct </a:t>
            </a:r>
            <a:r>
              <a:rPr lang="en-US" b="1" kern="0" dirty="0">
                <a:solidFill>
                  <a:srgbClr val="000000"/>
                </a:solidFill>
              </a:rPr>
              <a:t>param1</a:t>
            </a:r>
            <a:r>
              <a:rPr lang="en-US" kern="0" dirty="0">
                <a:solidFill>
                  <a:srgbClr val="000000"/>
                </a:solidFill>
              </a:rPr>
              <a:t> : </a:t>
            </a:r>
            <a:r>
              <a:rPr lang="en-US" kern="0" dirty="0" err="1">
                <a:solidFill>
                  <a:srgbClr val="8B8D09">
                    <a:lumMod val="75000"/>
                  </a:srgbClr>
                </a:solidFill>
              </a:rPr>
              <a:t>hls</a:t>
            </a:r>
            <a:r>
              <a:rPr lang="en-US" kern="0" dirty="0">
                <a:solidFill>
                  <a:srgbClr val="8B8D09">
                    <a:lumMod val="75000"/>
                  </a:srgbClr>
                </a:solidFill>
              </a:rPr>
              <a:t>::</a:t>
            </a:r>
            <a:r>
              <a:rPr lang="en-US" kern="0" dirty="0" err="1">
                <a:solidFill>
                  <a:srgbClr val="8B8D09">
                    <a:lumMod val="75000"/>
                  </a:srgbClr>
                </a:solidFill>
              </a:rPr>
              <a:t>ip_fir</a:t>
            </a:r>
            <a:r>
              <a:rPr lang="en-US" kern="0" dirty="0">
                <a:solidFill>
                  <a:srgbClr val="8B8D09">
                    <a:lumMod val="75000"/>
                  </a:srgbClr>
                </a:solidFill>
              </a:rPr>
              <a:t>::</a:t>
            </a:r>
            <a:r>
              <a:rPr lang="en-US" kern="0" dirty="0" err="1">
                <a:solidFill>
                  <a:srgbClr val="8B8D09">
                    <a:lumMod val="75000"/>
                  </a:srgbClr>
                </a:solidFill>
              </a:rPr>
              <a:t>params_t</a:t>
            </a:r>
            <a:r>
              <a:rPr lang="en-US" kern="0" dirty="0">
                <a:solidFill>
                  <a:srgbClr val="8B8D09">
                    <a:lumMod val="75000"/>
                  </a:srgbClr>
                </a:solidFill>
              </a:rPr>
              <a:t> </a:t>
            </a:r>
            <a:r>
              <a:rPr lang="en-US" kern="0" dirty="0">
                <a:solidFill>
                  <a:srgbClr val="000000"/>
                </a:solidFill>
              </a:rPr>
              <a:t>{</a:t>
            </a:r>
          </a:p>
          <a:p>
            <a:pPr defTabSz="914400" fontAlgn="base">
              <a:spcBef>
                <a:spcPct val="0"/>
              </a:spcBef>
              <a:spcAft>
                <a:spcPct val="0"/>
              </a:spcAft>
              <a:defRPr/>
            </a:pPr>
            <a:r>
              <a:rPr lang="en-US" kern="0" dirty="0">
                <a:solidFill>
                  <a:srgbClr val="000000"/>
                </a:solidFill>
              </a:rPr>
              <a:t>    static </a:t>
            </a:r>
            <a:r>
              <a:rPr lang="en-US" kern="0" dirty="0" err="1">
                <a:solidFill>
                  <a:srgbClr val="000000"/>
                </a:solidFill>
              </a:rPr>
              <a:t>const</a:t>
            </a:r>
            <a:r>
              <a:rPr lang="en-US" kern="0" dirty="0">
                <a:solidFill>
                  <a:srgbClr val="000000"/>
                </a:solidFill>
              </a:rPr>
              <a:t> double </a:t>
            </a:r>
            <a:r>
              <a:rPr lang="en-US" kern="0" dirty="0" err="1">
                <a:solidFill>
                  <a:srgbClr val="000000"/>
                </a:solidFill>
              </a:rPr>
              <a:t>coeff_vec</a:t>
            </a:r>
            <a:r>
              <a:rPr lang="en-US" kern="0" dirty="0">
                <a:solidFill>
                  <a:srgbClr val="000000"/>
                </a:solidFill>
              </a:rPr>
              <a:t>[</a:t>
            </a:r>
            <a:r>
              <a:rPr lang="en-US" kern="0" dirty="0" err="1">
                <a:solidFill>
                  <a:srgbClr val="000000"/>
                </a:solidFill>
              </a:rPr>
              <a:t>sg_fir_srrc_coeffs_len</a:t>
            </a:r>
            <a:r>
              <a:rPr lang="en-US" kern="0" dirty="0">
                <a:solidFill>
                  <a:srgbClr val="000000"/>
                </a:solidFill>
              </a:rPr>
              <a:t>];</a:t>
            </a:r>
          </a:p>
          <a:p>
            <a:pPr defTabSz="914400" fontAlgn="base">
              <a:spcBef>
                <a:spcPct val="0"/>
              </a:spcBef>
              <a:spcAft>
                <a:spcPct val="0"/>
              </a:spcAft>
              <a:defRPr/>
            </a:pPr>
            <a:r>
              <a:rPr lang="en-US" kern="0" dirty="0">
                <a:solidFill>
                  <a:srgbClr val="000000"/>
                </a:solidFill>
              </a:rPr>
              <a:t>    static </a:t>
            </a:r>
            <a:r>
              <a:rPr lang="en-US" kern="0" dirty="0" err="1">
                <a:solidFill>
                  <a:srgbClr val="000000"/>
                </a:solidFill>
              </a:rPr>
              <a:t>const</a:t>
            </a:r>
            <a:r>
              <a:rPr lang="en-US" kern="0" dirty="0">
                <a:solidFill>
                  <a:srgbClr val="000000"/>
                </a:solidFill>
              </a:rPr>
              <a:t> unsigned </a:t>
            </a:r>
            <a:r>
              <a:rPr lang="en-US" kern="0" dirty="0" err="1">
                <a:solidFill>
                  <a:srgbClr val="000000"/>
                </a:solidFill>
              </a:rPr>
              <a:t>num_coeffs</a:t>
            </a:r>
            <a:r>
              <a:rPr lang="en-US" kern="0" dirty="0">
                <a:solidFill>
                  <a:srgbClr val="000000"/>
                </a:solidFill>
              </a:rPr>
              <a:t> = </a:t>
            </a:r>
            <a:r>
              <a:rPr lang="en-US" kern="0" dirty="0" err="1">
                <a:solidFill>
                  <a:srgbClr val="000000"/>
                </a:solidFill>
              </a:rPr>
              <a:t>sg_fir_srrc_coeffs_len</a:t>
            </a:r>
            <a:r>
              <a:rPr lang="en-US" kern="0" dirty="0">
                <a:solidFill>
                  <a:srgbClr val="000000"/>
                </a:solidFill>
              </a:rPr>
              <a:t>;</a:t>
            </a:r>
          </a:p>
          <a:p>
            <a:pPr defTabSz="914400" fontAlgn="base">
              <a:spcBef>
                <a:spcPct val="0"/>
              </a:spcBef>
              <a:spcAft>
                <a:spcPct val="0"/>
              </a:spcAft>
              <a:defRPr/>
            </a:pPr>
            <a:r>
              <a:rPr lang="en-US" kern="0" dirty="0">
                <a:solidFill>
                  <a:srgbClr val="000000"/>
                </a:solidFill>
              </a:rPr>
              <a:t>    static </a:t>
            </a:r>
            <a:r>
              <a:rPr lang="en-US" kern="0" dirty="0" err="1">
                <a:solidFill>
                  <a:srgbClr val="000000"/>
                </a:solidFill>
              </a:rPr>
              <a:t>const</a:t>
            </a:r>
            <a:r>
              <a:rPr lang="en-US" kern="0" dirty="0">
                <a:solidFill>
                  <a:srgbClr val="000000"/>
                </a:solidFill>
              </a:rPr>
              <a:t> unsigned </a:t>
            </a:r>
            <a:r>
              <a:rPr lang="en-US" kern="0" dirty="0" err="1">
                <a:solidFill>
                  <a:srgbClr val="000000"/>
                </a:solidFill>
              </a:rPr>
              <a:t>input_width</a:t>
            </a:r>
            <a:r>
              <a:rPr lang="en-US" kern="0" dirty="0">
                <a:solidFill>
                  <a:srgbClr val="000000"/>
                </a:solidFill>
              </a:rPr>
              <a:t> = INPUT_WIDTH; </a:t>
            </a:r>
          </a:p>
          <a:p>
            <a:pPr defTabSz="914400" fontAlgn="base">
              <a:spcBef>
                <a:spcPct val="0"/>
              </a:spcBef>
              <a:spcAft>
                <a:spcPct val="0"/>
              </a:spcAft>
              <a:defRPr/>
            </a:pPr>
            <a:r>
              <a:rPr lang="en-US" kern="0" dirty="0">
                <a:solidFill>
                  <a:srgbClr val="000000"/>
                </a:solidFill>
              </a:rPr>
              <a:t>    static </a:t>
            </a:r>
            <a:r>
              <a:rPr lang="en-US" kern="0" dirty="0" err="1">
                <a:solidFill>
                  <a:srgbClr val="000000"/>
                </a:solidFill>
              </a:rPr>
              <a:t>const</a:t>
            </a:r>
            <a:r>
              <a:rPr lang="en-US" kern="0" dirty="0">
                <a:solidFill>
                  <a:srgbClr val="000000"/>
                </a:solidFill>
              </a:rPr>
              <a:t> unsigned quantization = </a:t>
            </a:r>
            <a:r>
              <a:rPr lang="en-US" kern="0" dirty="0" err="1">
                <a:solidFill>
                  <a:srgbClr val="000000"/>
                </a:solidFill>
              </a:rPr>
              <a:t>hls</a:t>
            </a:r>
            <a:r>
              <a:rPr lang="en-US" kern="0" dirty="0">
                <a:solidFill>
                  <a:srgbClr val="000000"/>
                </a:solidFill>
              </a:rPr>
              <a:t>::</a:t>
            </a:r>
            <a:r>
              <a:rPr lang="en-US" kern="0" dirty="0" err="1">
                <a:solidFill>
                  <a:srgbClr val="000000"/>
                </a:solidFill>
              </a:rPr>
              <a:t>ip_fir</a:t>
            </a:r>
            <a:r>
              <a:rPr lang="en-US" kern="0" dirty="0">
                <a:solidFill>
                  <a:srgbClr val="000000"/>
                </a:solidFill>
              </a:rPr>
              <a:t>::</a:t>
            </a:r>
            <a:r>
              <a:rPr lang="en-US" kern="0" dirty="0" err="1">
                <a:solidFill>
                  <a:srgbClr val="000000"/>
                </a:solidFill>
              </a:rPr>
              <a:t>quantize_only</a:t>
            </a:r>
            <a:r>
              <a:rPr lang="en-US" kern="0" dirty="0">
                <a:solidFill>
                  <a:srgbClr val="000000"/>
                </a:solidFill>
              </a:rPr>
              <a:t>;</a:t>
            </a:r>
          </a:p>
          <a:p>
            <a:pPr defTabSz="914400" fontAlgn="base">
              <a:spcBef>
                <a:spcPct val="0"/>
              </a:spcBef>
              <a:spcAft>
                <a:spcPct val="0"/>
              </a:spcAft>
              <a:defRPr/>
            </a:pPr>
            <a:r>
              <a:rPr lang="en-US" kern="0" dirty="0">
                <a:solidFill>
                  <a:srgbClr val="000000"/>
                </a:solidFill>
              </a:rPr>
              <a:t>};</a:t>
            </a:r>
          </a:p>
          <a:p>
            <a:pPr defTabSz="914400" fontAlgn="base">
              <a:spcBef>
                <a:spcPct val="0"/>
              </a:spcBef>
              <a:spcAft>
                <a:spcPct val="0"/>
              </a:spcAft>
              <a:defRPr/>
            </a:pPr>
            <a:endParaRPr lang="en-US" kern="0" dirty="0">
              <a:solidFill>
                <a:srgbClr val="000000"/>
              </a:solidFill>
            </a:endParaRPr>
          </a:p>
          <a:p>
            <a:pPr defTabSz="914400" fontAlgn="base">
              <a:spcBef>
                <a:spcPct val="0"/>
              </a:spcBef>
              <a:spcAft>
                <a:spcPct val="0"/>
              </a:spcAft>
              <a:defRPr/>
            </a:pPr>
            <a:endParaRPr lang="en-US" kern="0" dirty="0">
              <a:solidFill>
                <a:srgbClr val="000000"/>
              </a:solidFill>
            </a:endParaRPr>
          </a:p>
        </p:txBody>
      </p:sp>
      <p:sp>
        <p:nvSpPr>
          <p:cNvPr id="12" name="TextBox 11">
            <a:extLst>
              <a:ext uri="{FF2B5EF4-FFF2-40B4-BE49-F238E27FC236}">
                <a16:creationId xmlns:a16="http://schemas.microsoft.com/office/drawing/2014/main" id="{01638DF1-1E08-4203-B8D7-1F99EDF3BA68}"/>
              </a:ext>
            </a:extLst>
          </p:cNvPr>
          <p:cNvSpPr txBox="1"/>
          <p:nvPr/>
        </p:nvSpPr>
        <p:spPr bwMode="auto">
          <a:xfrm>
            <a:off x="7146454" y="4089755"/>
            <a:ext cx="4066100" cy="1785104"/>
          </a:xfrm>
          <a:prstGeom prst="rect">
            <a:avLst/>
          </a:prstGeom>
          <a:solidFill>
            <a:srgbClr val="008CA8">
              <a:lumMod val="20000"/>
              <a:lumOff val="80000"/>
            </a:srgbClr>
          </a:solidFill>
          <a:ln w="9525">
            <a:noFill/>
            <a:miter lim="800000"/>
            <a:headEnd/>
            <a:tailEnd/>
          </a:ln>
          <a:effectLst>
            <a:outerShdw blurRad="50800" dist="38100" dir="2700000" algn="tl" rotWithShape="0">
              <a:prstClr val="black">
                <a:alpha val="40000"/>
              </a:prstClr>
            </a:outerShdw>
          </a:effectLst>
        </p:spPr>
        <p:txBody>
          <a:bodyPr vert="horz" wrap="square" lIns="0" tIns="45720" rIns="91440" bIns="45720" numCol="1" rtlCol="0" anchor="t" anchorCtr="0" compatLnSpc="1">
            <a:prstTxWarp prst="textNoShape">
              <a:avLst/>
            </a:prstTxWarp>
            <a:spAutoFit/>
          </a:bodyPr>
          <a:lstStyle/>
          <a:p>
            <a:pPr defTabSz="914400" fontAlgn="base">
              <a:spcBef>
                <a:spcPct val="0"/>
              </a:spcBef>
              <a:spcAft>
                <a:spcPct val="0"/>
              </a:spcAft>
              <a:defRPr/>
            </a:pPr>
            <a:r>
              <a:rPr lang="en-US" sz="1100" kern="0" dirty="0">
                <a:solidFill>
                  <a:srgbClr val="000000"/>
                </a:solidFill>
              </a:rPr>
              <a:t>// Define the configuration type</a:t>
            </a:r>
          </a:p>
          <a:p>
            <a:pPr defTabSz="914400" fontAlgn="base">
              <a:spcBef>
                <a:spcPct val="0"/>
              </a:spcBef>
              <a:spcAft>
                <a:spcPct val="0"/>
              </a:spcAft>
              <a:defRPr/>
            </a:pPr>
            <a:r>
              <a:rPr lang="en-US" sz="1100" b="1" kern="0" dirty="0" err="1">
                <a:solidFill>
                  <a:srgbClr val="000000"/>
                </a:solidFill>
              </a:rPr>
              <a:t>typedef</a:t>
            </a:r>
            <a:r>
              <a:rPr lang="en-US" sz="1100" b="1" kern="0" dirty="0">
                <a:solidFill>
                  <a:srgbClr val="000000"/>
                </a:solidFill>
              </a:rPr>
              <a:t> </a:t>
            </a:r>
            <a:r>
              <a:rPr lang="en-US" sz="1100" b="1" kern="0" dirty="0" err="1">
                <a:solidFill>
                  <a:srgbClr val="000000"/>
                </a:solidFill>
              </a:rPr>
              <a:t>ap_uint</a:t>
            </a:r>
            <a:r>
              <a:rPr lang="en-US" sz="1100" b="1" kern="0" dirty="0">
                <a:solidFill>
                  <a:srgbClr val="000000"/>
                </a:solidFill>
              </a:rPr>
              <a:t>&lt;8&gt; </a:t>
            </a:r>
            <a:r>
              <a:rPr lang="en-US" sz="1100" b="1" kern="0" dirty="0" err="1">
                <a:solidFill>
                  <a:srgbClr val="000000"/>
                </a:solidFill>
              </a:rPr>
              <a:t>config_t</a:t>
            </a:r>
            <a:r>
              <a:rPr lang="en-US" sz="1100" b="1" kern="0" dirty="0">
                <a:solidFill>
                  <a:srgbClr val="000000"/>
                </a:solidFill>
              </a:rPr>
              <a:t>;</a:t>
            </a:r>
          </a:p>
          <a:p>
            <a:pPr defTabSz="914400" fontAlgn="base">
              <a:spcBef>
                <a:spcPct val="0"/>
              </a:spcBef>
              <a:spcAft>
                <a:spcPct val="0"/>
              </a:spcAft>
              <a:defRPr/>
            </a:pPr>
            <a:endParaRPr lang="en-US" sz="1100" kern="0" dirty="0">
              <a:solidFill>
                <a:srgbClr val="000000"/>
              </a:solidFill>
            </a:endParaRPr>
          </a:p>
          <a:p>
            <a:pPr defTabSz="914400" fontAlgn="base">
              <a:spcBef>
                <a:spcPct val="0"/>
              </a:spcBef>
              <a:spcAft>
                <a:spcPct val="0"/>
              </a:spcAft>
              <a:defRPr/>
            </a:pPr>
            <a:r>
              <a:rPr lang="en-US" sz="1100" kern="0" dirty="0">
                <a:solidFill>
                  <a:srgbClr val="000000"/>
                </a:solidFill>
              </a:rPr>
              <a:t>// Define the configuration variable</a:t>
            </a:r>
          </a:p>
          <a:p>
            <a:pPr defTabSz="914400" fontAlgn="base">
              <a:spcBef>
                <a:spcPct val="0"/>
              </a:spcBef>
              <a:spcAft>
                <a:spcPct val="0"/>
              </a:spcAft>
              <a:defRPr/>
            </a:pPr>
            <a:r>
              <a:rPr lang="en-US" sz="1100" kern="0" dirty="0" err="1">
                <a:solidFill>
                  <a:srgbClr val="000000"/>
                </a:solidFill>
              </a:rPr>
              <a:t>config_t</a:t>
            </a:r>
            <a:r>
              <a:rPr lang="en-US" sz="1100" kern="0" dirty="0">
                <a:solidFill>
                  <a:srgbClr val="000000"/>
                </a:solidFill>
              </a:rPr>
              <a:t> </a:t>
            </a:r>
            <a:r>
              <a:rPr lang="en-US" sz="1100" kern="0" dirty="0" err="1">
                <a:solidFill>
                  <a:srgbClr val="000000"/>
                </a:solidFill>
              </a:rPr>
              <a:t>fir_config</a:t>
            </a:r>
            <a:r>
              <a:rPr lang="en-US" sz="1100" kern="0" dirty="0">
                <a:solidFill>
                  <a:srgbClr val="000000"/>
                </a:solidFill>
              </a:rPr>
              <a:t> = 8;</a:t>
            </a:r>
          </a:p>
          <a:p>
            <a:pPr defTabSz="914400" fontAlgn="base">
              <a:spcBef>
                <a:spcPct val="0"/>
              </a:spcBef>
              <a:spcAft>
                <a:spcPct val="0"/>
              </a:spcAft>
              <a:defRPr/>
            </a:pPr>
            <a:endParaRPr lang="en-US" sz="1100" kern="0" dirty="0">
              <a:solidFill>
                <a:srgbClr val="000000"/>
              </a:solidFill>
            </a:endParaRPr>
          </a:p>
          <a:p>
            <a:pPr defTabSz="914400" fontAlgn="base">
              <a:spcBef>
                <a:spcPct val="0"/>
              </a:spcBef>
              <a:spcAft>
                <a:spcPct val="0"/>
              </a:spcAft>
              <a:defRPr/>
            </a:pPr>
            <a:r>
              <a:rPr lang="en-US" sz="1100" kern="0" dirty="0">
                <a:solidFill>
                  <a:srgbClr val="000000"/>
                </a:solidFill>
              </a:rPr>
              <a:t>// Use the configuration in the FFT</a:t>
            </a:r>
          </a:p>
          <a:p>
            <a:pPr defTabSz="914400" fontAlgn="base">
              <a:spcBef>
                <a:spcPct val="0"/>
              </a:spcBef>
              <a:spcAft>
                <a:spcPct val="0"/>
              </a:spcAft>
              <a:defRPr/>
            </a:pPr>
            <a:r>
              <a:rPr lang="en-US" sz="1100" kern="0" dirty="0">
                <a:solidFill>
                  <a:srgbClr val="000000"/>
                </a:solidFill>
              </a:rPr>
              <a:t>static </a:t>
            </a:r>
            <a:r>
              <a:rPr lang="en-US" sz="1100" kern="0" dirty="0" err="1">
                <a:solidFill>
                  <a:srgbClr val="000000"/>
                </a:solidFill>
              </a:rPr>
              <a:t>hls</a:t>
            </a:r>
            <a:r>
              <a:rPr lang="en-US" sz="1100" kern="0" dirty="0">
                <a:solidFill>
                  <a:srgbClr val="000000"/>
                </a:solidFill>
              </a:rPr>
              <a:t>::FIR&lt;</a:t>
            </a:r>
            <a:r>
              <a:rPr lang="en-US" sz="1100" b="1" kern="0" dirty="0">
                <a:solidFill>
                  <a:srgbClr val="000000"/>
                </a:solidFill>
              </a:rPr>
              <a:t>param1</a:t>
            </a:r>
            <a:r>
              <a:rPr lang="en-US" sz="1100" kern="0" dirty="0">
                <a:solidFill>
                  <a:srgbClr val="000000"/>
                </a:solidFill>
              </a:rPr>
              <a:t>&gt; fir1;</a:t>
            </a:r>
          </a:p>
          <a:p>
            <a:pPr defTabSz="914400" fontAlgn="base">
              <a:spcBef>
                <a:spcPct val="0"/>
              </a:spcBef>
              <a:spcAft>
                <a:spcPct val="0"/>
              </a:spcAft>
              <a:defRPr/>
            </a:pPr>
            <a:r>
              <a:rPr lang="en-US" sz="1100" kern="0" dirty="0">
                <a:solidFill>
                  <a:srgbClr val="000000"/>
                </a:solidFill>
              </a:rPr>
              <a:t>fir1.run(</a:t>
            </a:r>
            <a:r>
              <a:rPr lang="en-US" sz="1100" kern="0" dirty="0" err="1">
                <a:solidFill>
                  <a:srgbClr val="000000"/>
                </a:solidFill>
              </a:rPr>
              <a:t>fir_in</a:t>
            </a:r>
            <a:r>
              <a:rPr lang="en-US" sz="1100" kern="0" dirty="0">
                <a:solidFill>
                  <a:srgbClr val="000000"/>
                </a:solidFill>
              </a:rPr>
              <a:t>, </a:t>
            </a:r>
            <a:r>
              <a:rPr lang="en-US" sz="1100" kern="0" dirty="0" err="1">
                <a:solidFill>
                  <a:srgbClr val="000000"/>
                </a:solidFill>
              </a:rPr>
              <a:t>fir_out</a:t>
            </a:r>
            <a:r>
              <a:rPr lang="en-US" sz="1100" kern="0" dirty="0">
                <a:solidFill>
                  <a:srgbClr val="000000"/>
                </a:solidFill>
              </a:rPr>
              <a:t>, &amp;</a:t>
            </a:r>
            <a:r>
              <a:rPr lang="en-US" sz="1100" b="1" kern="0" dirty="0" err="1">
                <a:solidFill>
                  <a:srgbClr val="000000"/>
                </a:solidFill>
              </a:rPr>
              <a:t>fir_config</a:t>
            </a:r>
            <a:r>
              <a:rPr lang="en-US" sz="1100" kern="0" dirty="0">
                <a:solidFill>
                  <a:srgbClr val="000000"/>
                </a:solidFill>
              </a:rPr>
              <a:t>);</a:t>
            </a:r>
          </a:p>
          <a:p>
            <a:pPr defTabSz="914400" fontAlgn="base">
              <a:spcBef>
                <a:spcPct val="0"/>
              </a:spcBef>
              <a:spcAft>
                <a:spcPct val="0"/>
              </a:spcAft>
              <a:defRPr/>
            </a:pPr>
            <a:endParaRPr lang="en-US" sz="1100" kern="0" dirty="0">
              <a:solidFill>
                <a:srgbClr val="000000"/>
              </a:solidFill>
            </a:endParaRPr>
          </a:p>
        </p:txBody>
      </p:sp>
    </p:spTree>
    <p:extLst>
      <p:ext uri="{BB962C8B-B14F-4D97-AF65-F5344CB8AC3E}">
        <p14:creationId xmlns:p14="http://schemas.microsoft.com/office/powerpoint/2010/main" val="1373648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FIR Function: Run Time Configuration</a:t>
            </a:r>
          </a:p>
        </p:txBody>
      </p:sp>
      <p:sp>
        <p:nvSpPr>
          <p:cNvPr id="2" name="Content Placeholder 1"/>
          <p:cNvSpPr>
            <a:spLocks noGrp="1"/>
          </p:cNvSpPr>
          <p:nvPr>
            <p:ph idx="1"/>
          </p:nvPr>
        </p:nvSpPr>
        <p:spPr/>
        <p:txBody>
          <a:bodyPr/>
          <a:lstStyle/>
          <a:p>
            <a:r>
              <a:rPr lang="en-US" dirty="0"/>
              <a:t>Dynamic Configuration</a:t>
            </a:r>
          </a:p>
          <a:p>
            <a:pPr lvl="1"/>
            <a:r>
              <a:rPr lang="en-US" dirty="0"/>
              <a:t>Parameter INPUT_RUN_TIME_CONFIGURATION </a:t>
            </a:r>
            <a:br>
              <a:rPr lang="en-US" dirty="0"/>
            </a:br>
            <a:r>
              <a:rPr lang="en-US" dirty="0"/>
              <a:t>can be changed at run time</a:t>
            </a:r>
            <a:endParaRPr lang="en-US" sz="1600" dirty="0"/>
          </a:p>
          <a:p>
            <a:pPr lvl="1"/>
            <a:endParaRPr lang="en-US" dirty="0"/>
          </a:p>
          <a:p>
            <a:pPr lvl="1"/>
            <a:r>
              <a:rPr lang="en-US" dirty="0"/>
              <a:t>In some modes a dynamic input can control </a:t>
            </a:r>
            <a:br>
              <a:rPr lang="en-US" dirty="0"/>
            </a:br>
            <a:r>
              <a:rPr lang="en-US" dirty="0"/>
              <a:t>how the coefficients are used</a:t>
            </a:r>
            <a:endParaRPr lang="en-US" dirty="0">
              <a:solidFill>
                <a:schemeClr val="accent6">
                  <a:lumMod val="75000"/>
                </a:schemeClr>
              </a:solidFill>
            </a:endParaRPr>
          </a:p>
          <a:p>
            <a:pPr lvl="2"/>
            <a:r>
              <a:rPr lang="en-US" dirty="0"/>
              <a:t>This is a standard 8-bit input </a:t>
            </a:r>
          </a:p>
          <a:p>
            <a:pPr lvl="1"/>
            <a:endParaRPr lang="en-US" dirty="0"/>
          </a:p>
        </p:txBody>
      </p:sp>
      <p:sp>
        <p:nvSpPr>
          <p:cNvPr id="10" name="Slide Number Placeholder 9"/>
          <p:cNvSpPr>
            <a:spLocks noGrp="1"/>
          </p:cNvSpPr>
          <p:nvPr>
            <p:ph type="sldNum" sz="quarter" idx="10"/>
          </p:nvPr>
        </p:nvSpPr>
        <p:spPr/>
        <p:txBody>
          <a:bodyPr/>
          <a:lstStyle/>
          <a:p>
            <a:pPr defTabSz="914400">
              <a:defRPr/>
            </a:pPr>
            <a:r>
              <a:rPr lang="en-US" dirty="0">
                <a:solidFill>
                  <a:srgbClr val="0C0C0C">
                    <a:tint val="75000"/>
                  </a:srgbClr>
                </a:solidFill>
                <a:latin typeface="Arial"/>
              </a:rPr>
              <a:t>Coding Considerations 23- </a:t>
            </a:r>
            <a:fld id="{060BD193-E118-4B16-863C-C8C12C675E3E}" type="slidenum">
              <a:rPr lang="en-US">
                <a:solidFill>
                  <a:srgbClr val="0C0C0C">
                    <a:tint val="75000"/>
                  </a:srgbClr>
                </a:solidFill>
                <a:latin typeface="Arial"/>
              </a:rPr>
              <a:pPr defTabSz="914400">
                <a:defRPr/>
              </a:pPr>
              <a:t>91</a:t>
            </a:fld>
            <a:endParaRPr lang="en-US" dirty="0">
              <a:solidFill>
                <a:srgbClr val="0C0C0C">
                  <a:tint val="75000"/>
                </a:srgbClr>
              </a:solidFill>
              <a:latin typeface="Arial"/>
            </a:endParaRPr>
          </a:p>
        </p:txBody>
      </p:sp>
      <p:sp>
        <p:nvSpPr>
          <p:cNvPr id="9" name="TextBox 8">
            <a:extLst>
              <a:ext uri="{FF2B5EF4-FFF2-40B4-BE49-F238E27FC236}">
                <a16:creationId xmlns:a16="http://schemas.microsoft.com/office/drawing/2014/main" id="{923B0175-1235-47FB-B943-2AA8F2138F88}"/>
              </a:ext>
            </a:extLst>
          </p:cNvPr>
          <p:cNvSpPr txBox="1"/>
          <p:nvPr/>
        </p:nvSpPr>
        <p:spPr bwMode="auto">
          <a:xfrm>
            <a:off x="6255181" y="2121776"/>
            <a:ext cx="5794665" cy="1615827"/>
          </a:xfrm>
          <a:prstGeom prst="rect">
            <a:avLst/>
          </a:prstGeom>
          <a:solidFill>
            <a:srgbClr val="008CA8">
              <a:lumMod val="20000"/>
              <a:lumOff val="80000"/>
            </a:srgbClr>
          </a:solidFill>
          <a:ln w="9525">
            <a:noFill/>
            <a:miter lim="800000"/>
            <a:headEnd/>
            <a:tailEnd/>
          </a:ln>
          <a:effectLst>
            <a:outerShdw blurRad="50800" dist="38100" dir="2700000" algn="tl" rotWithShape="0">
              <a:prstClr val="black">
                <a:alpha val="40000"/>
              </a:prstClr>
            </a:outerShdw>
          </a:effectLst>
        </p:spPr>
        <p:txBody>
          <a:bodyPr vert="horz" wrap="square" lIns="0" tIns="45720" rIns="91440" bIns="45720" numCol="1" rtlCol="0" anchor="t" anchorCtr="0" compatLnSpc="1">
            <a:prstTxWarp prst="textNoShape">
              <a:avLst/>
            </a:prstTxWarp>
            <a:spAutoFit/>
          </a:bodyPr>
          <a:lstStyle>
            <a:defPPr>
              <a:defRPr lang="en-US"/>
            </a:defPPr>
            <a:lvl1pPr>
              <a:defRPr sz="1100"/>
            </a:lvl1pPr>
          </a:lstStyle>
          <a:p>
            <a:pPr defTabSz="914400" fontAlgn="base">
              <a:spcBef>
                <a:spcPct val="0"/>
              </a:spcBef>
              <a:spcAft>
                <a:spcPct val="0"/>
              </a:spcAft>
              <a:defRPr/>
            </a:pPr>
            <a:r>
              <a:rPr lang="en-US" b="1" kern="0" dirty="0">
                <a:solidFill>
                  <a:srgbClr val="3F3F3F"/>
                </a:solidFill>
                <a:latin typeface="Arial"/>
              </a:rPr>
              <a:t> </a:t>
            </a:r>
            <a:r>
              <a:rPr lang="en-US" kern="0" dirty="0">
                <a:solidFill>
                  <a:srgbClr val="000000"/>
                </a:solidFill>
                <a:latin typeface="Arial"/>
              </a:rPr>
              <a:t>#include "</a:t>
            </a:r>
            <a:r>
              <a:rPr lang="en-US" kern="0" dirty="0" err="1">
                <a:solidFill>
                  <a:srgbClr val="000000"/>
                </a:solidFill>
                <a:latin typeface="Arial"/>
              </a:rPr>
              <a:t>hls_fir.h</a:t>
            </a:r>
            <a:r>
              <a:rPr lang="en-US" kern="0" dirty="0">
                <a:solidFill>
                  <a:srgbClr val="000000"/>
                </a:solidFill>
                <a:latin typeface="Arial"/>
              </a:rPr>
              <a:t>“</a:t>
            </a:r>
          </a:p>
          <a:p>
            <a:pPr defTabSz="914400" fontAlgn="base">
              <a:spcBef>
                <a:spcPct val="0"/>
              </a:spcBef>
              <a:spcAft>
                <a:spcPct val="0"/>
              </a:spcAft>
              <a:defRPr/>
            </a:pPr>
            <a:endParaRPr lang="en-US" kern="0" dirty="0">
              <a:solidFill>
                <a:srgbClr val="000000"/>
              </a:solidFill>
              <a:latin typeface="Arial"/>
            </a:endParaRPr>
          </a:p>
          <a:p>
            <a:pPr defTabSz="914400" fontAlgn="base">
              <a:spcBef>
                <a:spcPct val="0"/>
              </a:spcBef>
              <a:spcAft>
                <a:spcPct val="0"/>
              </a:spcAft>
              <a:defRPr/>
            </a:pPr>
            <a:r>
              <a:rPr lang="en-US" kern="0" dirty="0">
                <a:solidFill>
                  <a:srgbClr val="000000"/>
                </a:solidFill>
                <a:latin typeface="Arial"/>
              </a:rPr>
              <a:t>// Create an instance of the FIR </a:t>
            </a:r>
          </a:p>
          <a:p>
            <a:pPr defTabSz="914400" fontAlgn="base">
              <a:spcBef>
                <a:spcPct val="0"/>
              </a:spcBef>
              <a:spcAft>
                <a:spcPct val="0"/>
              </a:spcAft>
              <a:defRPr/>
            </a:pPr>
            <a:r>
              <a:rPr lang="en-US" kern="0" dirty="0">
                <a:solidFill>
                  <a:srgbClr val="000000"/>
                </a:solidFill>
                <a:latin typeface="Arial"/>
              </a:rPr>
              <a:t>static </a:t>
            </a:r>
            <a:r>
              <a:rPr lang="en-US" kern="0" dirty="0" err="1">
                <a:solidFill>
                  <a:srgbClr val="000000"/>
                </a:solidFill>
                <a:latin typeface="Arial"/>
              </a:rPr>
              <a:t>hls</a:t>
            </a:r>
            <a:r>
              <a:rPr lang="en-US" kern="0" dirty="0">
                <a:solidFill>
                  <a:srgbClr val="000000"/>
                </a:solidFill>
                <a:latin typeface="Arial"/>
              </a:rPr>
              <a:t>::FIR&lt;STATIC_PARAM&gt; </a:t>
            </a:r>
            <a:r>
              <a:rPr lang="en-US" b="1" kern="0" dirty="0">
                <a:solidFill>
                  <a:srgbClr val="000000"/>
                </a:solidFill>
                <a:latin typeface="Arial"/>
              </a:rPr>
              <a:t>fir1</a:t>
            </a:r>
            <a:r>
              <a:rPr lang="en-US" kern="0" dirty="0">
                <a:solidFill>
                  <a:srgbClr val="000000"/>
                </a:solidFill>
                <a:latin typeface="Arial"/>
              </a:rPr>
              <a:t>;		// Static parameterization</a:t>
            </a:r>
          </a:p>
          <a:p>
            <a:pPr defTabSz="914400" fontAlgn="base">
              <a:spcBef>
                <a:spcPct val="0"/>
              </a:spcBef>
              <a:spcAft>
                <a:spcPct val="0"/>
              </a:spcAft>
              <a:defRPr/>
            </a:pPr>
            <a:endParaRPr lang="en-US" kern="0" dirty="0">
              <a:solidFill>
                <a:srgbClr val="000000"/>
              </a:solidFill>
              <a:latin typeface="Arial"/>
            </a:endParaRPr>
          </a:p>
          <a:p>
            <a:pPr defTabSz="914400" fontAlgn="base">
              <a:spcBef>
                <a:spcPct val="0"/>
              </a:spcBef>
              <a:spcAft>
                <a:spcPct val="0"/>
              </a:spcAft>
              <a:defRPr/>
            </a:pPr>
            <a:r>
              <a:rPr lang="en-US" kern="0" dirty="0">
                <a:solidFill>
                  <a:srgbClr val="000000"/>
                </a:solidFill>
                <a:latin typeface="Arial"/>
              </a:rPr>
              <a:t>// Execute the FIR instance fir1</a:t>
            </a:r>
          </a:p>
          <a:p>
            <a:pPr defTabSz="914400" fontAlgn="base">
              <a:spcBef>
                <a:spcPct val="0"/>
              </a:spcBef>
              <a:spcAft>
                <a:spcPct val="0"/>
              </a:spcAft>
              <a:defRPr/>
            </a:pPr>
            <a:r>
              <a:rPr lang="en-US" b="1" kern="0" dirty="0">
                <a:solidFill>
                  <a:srgbClr val="000000"/>
                </a:solidFill>
                <a:latin typeface="Arial"/>
              </a:rPr>
              <a:t>fir1</a:t>
            </a:r>
            <a:r>
              <a:rPr lang="en-US" kern="0" dirty="0">
                <a:solidFill>
                  <a:srgbClr val="000000"/>
                </a:solidFill>
                <a:latin typeface="Arial"/>
              </a:rPr>
              <a:t>.run(INPUT_DATA_ARRAY, 		// Input Data</a:t>
            </a:r>
          </a:p>
          <a:p>
            <a:pPr defTabSz="914400" fontAlgn="base">
              <a:spcBef>
                <a:spcPct val="0"/>
              </a:spcBef>
              <a:spcAft>
                <a:spcPct val="0"/>
              </a:spcAft>
              <a:defRPr/>
            </a:pPr>
            <a:r>
              <a:rPr lang="en-US" kern="0" dirty="0">
                <a:solidFill>
                  <a:srgbClr val="000000"/>
                </a:solidFill>
                <a:latin typeface="Arial"/>
              </a:rPr>
              <a:t>             OUTPUT_DATA_ARRAY,		// Output Data</a:t>
            </a:r>
          </a:p>
          <a:p>
            <a:pPr defTabSz="914400" fontAlgn="base">
              <a:spcBef>
                <a:spcPct val="0"/>
              </a:spcBef>
              <a:spcAft>
                <a:spcPct val="0"/>
              </a:spcAft>
              <a:defRPr/>
            </a:pPr>
            <a:r>
              <a:rPr lang="en-US" b="1" kern="0" dirty="0">
                <a:solidFill>
                  <a:srgbClr val="000000"/>
                </a:solidFill>
                <a:latin typeface="Arial"/>
              </a:rPr>
              <a:t>             INPUT_RUN_TIME_CONFIGURATION);	// Run time input configuration</a:t>
            </a:r>
          </a:p>
        </p:txBody>
      </p:sp>
      <p:sp>
        <p:nvSpPr>
          <p:cNvPr id="11" name="TextBox 10">
            <a:extLst>
              <a:ext uri="{FF2B5EF4-FFF2-40B4-BE49-F238E27FC236}">
                <a16:creationId xmlns:a16="http://schemas.microsoft.com/office/drawing/2014/main" id="{56F6FFF8-26D5-49F0-8AD7-D8AFE9298270}"/>
              </a:ext>
            </a:extLst>
          </p:cNvPr>
          <p:cNvSpPr txBox="1"/>
          <p:nvPr/>
        </p:nvSpPr>
        <p:spPr bwMode="auto">
          <a:xfrm>
            <a:off x="1164464" y="4089755"/>
            <a:ext cx="5482348" cy="1785104"/>
          </a:xfrm>
          <a:prstGeom prst="rect">
            <a:avLst/>
          </a:prstGeom>
          <a:solidFill>
            <a:srgbClr val="008CA8">
              <a:lumMod val="20000"/>
              <a:lumOff val="80000"/>
            </a:srgbClr>
          </a:solidFill>
          <a:ln w="9525">
            <a:noFill/>
            <a:miter lim="800000"/>
            <a:headEnd/>
            <a:tailEnd/>
          </a:ln>
          <a:effectLst>
            <a:outerShdw blurRad="50800" dist="38100" dir="2700000" algn="tl" rotWithShape="0">
              <a:prstClr val="black">
                <a:alpha val="40000"/>
              </a:prstClr>
            </a:outerShdw>
          </a:effectLst>
        </p:spPr>
        <p:txBody>
          <a:bodyPr vert="horz" wrap="square" lIns="0" tIns="45720" rIns="91440" bIns="45720" numCol="1" rtlCol="0" anchor="t" anchorCtr="0" compatLnSpc="1">
            <a:prstTxWarp prst="textNoShape">
              <a:avLst/>
            </a:prstTxWarp>
            <a:spAutoFit/>
          </a:bodyPr>
          <a:lstStyle>
            <a:defPPr>
              <a:defRPr lang="en-US"/>
            </a:defPPr>
            <a:lvl1pPr>
              <a:defRPr sz="1100"/>
            </a:lvl1pPr>
          </a:lstStyle>
          <a:p>
            <a:pPr defTabSz="914400" fontAlgn="base">
              <a:spcBef>
                <a:spcPct val="0"/>
              </a:spcBef>
              <a:spcAft>
                <a:spcPct val="0"/>
              </a:spcAft>
              <a:defRPr/>
            </a:pPr>
            <a:r>
              <a:rPr lang="en-US" kern="0" dirty="0">
                <a:solidFill>
                  <a:srgbClr val="000000"/>
                </a:solidFill>
                <a:latin typeface="Arial"/>
              </a:rPr>
              <a:t>#include "</a:t>
            </a:r>
            <a:r>
              <a:rPr lang="en-US" kern="0" dirty="0" err="1">
                <a:solidFill>
                  <a:srgbClr val="000000"/>
                </a:solidFill>
                <a:latin typeface="Arial"/>
              </a:rPr>
              <a:t>hls_fir.h</a:t>
            </a:r>
            <a:r>
              <a:rPr lang="en-US" kern="0" dirty="0">
                <a:solidFill>
                  <a:srgbClr val="000000"/>
                </a:solidFill>
                <a:latin typeface="Arial"/>
              </a:rPr>
              <a:t>“</a:t>
            </a:r>
          </a:p>
          <a:p>
            <a:pPr defTabSz="914400" fontAlgn="base">
              <a:spcBef>
                <a:spcPct val="0"/>
              </a:spcBef>
              <a:spcAft>
                <a:spcPct val="0"/>
              </a:spcAft>
              <a:defRPr/>
            </a:pPr>
            <a:endParaRPr lang="en-US" kern="0" dirty="0">
              <a:solidFill>
                <a:srgbClr val="000000"/>
              </a:solidFill>
              <a:latin typeface="Arial"/>
            </a:endParaRPr>
          </a:p>
          <a:p>
            <a:pPr defTabSz="914400" fontAlgn="base">
              <a:spcBef>
                <a:spcPct val="0"/>
              </a:spcBef>
              <a:spcAft>
                <a:spcPct val="0"/>
              </a:spcAft>
              <a:defRPr/>
            </a:pPr>
            <a:r>
              <a:rPr lang="en-US" kern="0" dirty="0">
                <a:solidFill>
                  <a:srgbClr val="000000"/>
                </a:solidFill>
                <a:latin typeface="Arial"/>
              </a:rPr>
              <a:t>struct </a:t>
            </a:r>
            <a:r>
              <a:rPr lang="en-US" b="1" kern="0" dirty="0">
                <a:solidFill>
                  <a:srgbClr val="000000"/>
                </a:solidFill>
                <a:latin typeface="Arial"/>
              </a:rPr>
              <a:t>param1</a:t>
            </a:r>
            <a:r>
              <a:rPr lang="en-US" kern="0" dirty="0">
                <a:solidFill>
                  <a:srgbClr val="000000"/>
                </a:solidFill>
                <a:latin typeface="Arial"/>
              </a:rPr>
              <a:t> : </a:t>
            </a:r>
            <a:r>
              <a:rPr lang="en-US" kern="0" dirty="0" err="1">
                <a:solidFill>
                  <a:srgbClr val="8B8D09">
                    <a:lumMod val="75000"/>
                  </a:srgbClr>
                </a:solidFill>
                <a:latin typeface="Arial"/>
              </a:rPr>
              <a:t>hls</a:t>
            </a:r>
            <a:r>
              <a:rPr lang="en-US" kern="0" dirty="0">
                <a:solidFill>
                  <a:srgbClr val="8B8D09">
                    <a:lumMod val="75000"/>
                  </a:srgbClr>
                </a:solidFill>
                <a:latin typeface="Arial"/>
              </a:rPr>
              <a:t>::</a:t>
            </a:r>
            <a:r>
              <a:rPr lang="en-US" kern="0" dirty="0" err="1">
                <a:solidFill>
                  <a:srgbClr val="8B8D09">
                    <a:lumMod val="75000"/>
                  </a:srgbClr>
                </a:solidFill>
                <a:latin typeface="Arial"/>
              </a:rPr>
              <a:t>ip_fir</a:t>
            </a:r>
            <a:r>
              <a:rPr lang="en-US" kern="0" dirty="0">
                <a:solidFill>
                  <a:srgbClr val="8B8D09">
                    <a:lumMod val="75000"/>
                  </a:srgbClr>
                </a:solidFill>
                <a:latin typeface="Arial"/>
              </a:rPr>
              <a:t>::</a:t>
            </a:r>
            <a:r>
              <a:rPr lang="en-US" kern="0" dirty="0" err="1">
                <a:solidFill>
                  <a:srgbClr val="8B8D09">
                    <a:lumMod val="75000"/>
                  </a:srgbClr>
                </a:solidFill>
                <a:latin typeface="Arial"/>
              </a:rPr>
              <a:t>params_t</a:t>
            </a:r>
            <a:r>
              <a:rPr lang="en-US" kern="0" dirty="0">
                <a:solidFill>
                  <a:srgbClr val="8B8D09">
                    <a:lumMod val="75000"/>
                  </a:srgbClr>
                </a:solidFill>
                <a:latin typeface="Arial"/>
              </a:rPr>
              <a:t> </a:t>
            </a:r>
            <a:r>
              <a:rPr lang="en-US" kern="0" dirty="0">
                <a:solidFill>
                  <a:srgbClr val="000000"/>
                </a:solidFill>
                <a:latin typeface="Arial"/>
              </a:rPr>
              <a:t>{</a:t>
            </a:r>
          </a:p>
          <a:p>
            <a:pPr defTabSz="914400" fontAlgn="base">
              <a:spcBef>
                <a:spcPct val="0"/>
              </a:spcBef>
              <a:spcAft>
                <a:spcPct val="0"/>
              </a:spcAft>
              <a:defRPr/>
            </a:pPr>
            <a:r>
              <a:rPr lang="en-US" kern="0" dirty="0">
                <a:solidFill>
                  <a:srgbClr val="000000"/>
                </a:solidFill>
                <a:latin typeface="Arial"/>
              </a:rPr>
              <a:t>    static </a:t>
            </a:r>
            <a:r>
              <a:rPr lang="en-US" kern="0" dirty="0" err="1">
                <a:solidFill>
                  <a:srgbClr val="000000"/>
                </a:solidFill>
                <a:latin typeface="Arial"/>
              </a:rPr>
              <a:t>const</a:t>
            </a:r>
            <a:r>
              <a:rPr lang="en-US" kern="0" dirty="0">
                <a:solidFill>
                  <a:srgbClr val="000000"/>
                </a:solidFill>
                <a:latin typeface="Arial"/>
              </a:rPr>
              <a:t> double </a:t>
            </a:r>
            <a:r>
              <a:rPr lang="en-US" kern="0" dirty="0" err="1">
                <a:solidFill>
                  <a:srgbClr val="000000"/>
                </a:solidFill>
                <a:latin typeface="Arial"/>
              </a:rPr>
              <a:t>coeff_vec</a:t>
            </a:r>
            <a:r>
              <a:rPr lang="en-US" kern="0" dirty="0">
                <a:solidFill>
                  <a:srgbClr val="000000"/>
                </a:solidFill>
                <a:latin typeface="Arial"/>
              </a:rPr>
              <a:t>[</a:t>
            </a:r>
            <a:r>
              <a:rPr lang="en-US" kern="0" dirty="0" err="1">
                <a:solidFill>
                  <a:srgbClr val="000000"/>
                </a:solidFill>
                <a:latin typeface="Arial"/>
              </a:rPr>
              <a:t>sg_fir_srrc_coeffs_len</a:t>
            </a:r>
            <a:r>
              <a:rPr lang="en-US" kern="0" dirty="0">
                <a:solidFill>
                  <a:srgbClr val="000000"/>
                </a:solidFill>
                <a:latin typeface="Arial"/>
              </a:rPr>
              <a:t>];</a:t>
            </a:r>
          </a:p>
          <a:p>
            <a:pPr defTabSz="914400" fontAlgn="base">
              <a:spcBef>
                <a:spcPct val="0"/>
              </a:spcBef>
              <a:spcAft>
                <a:spcPct val="0"/>
              </a:spcAft>
              <a:defRPr/>
            </a:pPr>
            <a:r>
              <a:rPr lang="en-US" kern="0" dirty="0">
                <a:solidFill>
                  <a:srgbClr val="000000"/>
                </a:solidFill>
                <a:latin typeface="Arial"/>
              </a:rPr>
              <a:t>    static </a:t>
            </a:r>
            <a:r>
              <a:rPr lang="en-US" kern="0" dirty="0" err="1">
                <a:solidFill>
                  <a:srgbClr val="000000"/>
                </a:solidFill>
                <a:latin typeface="Arial"/>
              </a:rPr>
              <a:t>const</a:t>
            </a:r>
            <a:r>
              <a:rPr lang="en-US" kern="0" dirty="0">
                <a:solidFill>
                  <a:srgbClr val="000000"/>
                </a:solidFill>
                <a:latin typeface="Arial"/>
              </a:rPr>
              <a:t> unsigned </a:t>
            </a:r>
            <a:r>
              <a:rPr lang="en-US" kern="0" dirty="0" err="1">
                <a:solidFill>
                  <a:srgbClr val="000000"/>
                </a:solidFill>
                <a:latin typeface="Arial"/>
              </a:rPr>
              <a:t>num_coeffs</a:t>
            </a:r>
            <a:r>
              <a:rPr lang="en-US" kern="0" dirty="0">
                <a:solidFill>
                  <a:srgbClr val="000000"/>
                </a:solidFill>
                <a:latin typeface="Arial"/>
              </a:rPr>
              <a:t> = </a:t>
            </a:r>
            <a:r>
              <a:rPr lang="en-US" kern="0" dirty="0" err="1">
                <a:solidFill>
                  <a:srgbClr val="000000"/>
                </a:solidFill>
                <a:latin typeface="Arial"/>
              </a:rPr>
              <a:t>sg_fir_srrc_coeffs_len</a:t>
            </a:r>
            <a:r>
              <a:rPr lang="en-US" kern="0" dirty="0">
                <a:solidFill>
                  <a:srgbClr val="000000"/>
                </a:solidFill>
                <a:latin typeface="Arial"/>
              </a:rPr>
              <a:t>;</a:t>
            </a:r>
          </a:p>
          <a:p>
            <a:pPr defTabSz="914400" fontAlgn="base">
              <a:spcBef>
                <a:spcPct val="0"/>
              </a:spcBef>
              <a:spcAft>
                <a:spcPct val="0"/>
              </a:spcAft>
              <a:defRPr/>
            </a:pPr>
            <a:r>
              <a:rPr lang="en-US" kern="0" dirty="0">
                <a:solidFill>
                  <a:srgbClr val="000000"/>
                </a:solidFill>
                <a:latin typeface="Arial"/>
              </a:rPr>
              <a:t>    static </a:t>
            </a:r>
            <a:r>
              <a:rPr lang="en-US" kern="0" dirty="0" err="1">
                <a:solidFill>
                  <a:srgbClr val="000000"/>
                </a:solidFill>
                <a:latin typeface="Arial"/>
              </a:rPr>
              <a:t>const</a:t>
            </a:r>
            <a:r>
              <a:rPr lang="en-US" kern="0" dirty="0">
                <a:solidFill>
                  <a:srgbClr val="000000"/>
                </a:solidFill>
                <a:latin typeface="Arial"/>
              </a:rPr>
              <a:t> unsigned </a:t>
            </a:r>
            <a:r>
              <a:rPr lang="en-US" kern="0" dirty="0" err="1">
                <a:solidFill>
                  <a:srgbClr val="000000"/>
                </a:solidFill>
                <a:latin typeface="Arial"/>
              </a:rPr>
              <a:t>input_width</a:t>
            </a:r>
            <a:r>
              <a:rPr lang="en-US" kern="0" dirty="0">
                <a:solidFill>
                  <a:srgbClr val="000000"/>
                </a:solidFill>
                <a:latin typeface="Arial"/>
              </a:rPr>
              <a:t> = INPUT_WIDTH; </a:t>
            </a:r>
          </a:p>
          <a:p>
            <a:pPr defTabSz="914400" fontAlgn="base">
              <a:spcBef>
                <a:spcPct val="0"/>
              </a:spcBef>
              <a:spcAft>
                <a:spcPct val="0"/>
              </a:spcAft>
              <a:defRPr/>
            </a:pPr>
            <a:r>
              <a:rPr lang="en-US" kern="0" dirty="0">
                <a:solidFill>
                  <a:srgbClr val="000000"/>
                </a:solidFill>
                <a:latin typeface="Arial"/>
              </a:rPr>
              <a:t>    static </a:t>
            </a:r>
            <a:r>
              <a:rPr lang="en-US" kern="0" dirty="0" err="1">
                <a:solidFill>
                  <a:srgbClr val="000000"/>
                </a:solidFill>
                <a:latin typeface="Arial"/>
              </a:rPr>
              <a:t>const</a:t>
            </a:r>
            <a:r>
              <a:rPr lang="en-US" kern="0" dirty="0">
                <a:solidFill>
                  <a:srgbClr val="000000"/>
                </a:solidFill>
                <a:latin typeface="Arial"/>
              </a:rPr>
              <a:t> unsigned quantization = </a:t>
            </a:r>
            <a:r>
              <a:rPr lang="en-US" kern="0" dirty="0" err="1">
                <a:solidFill>
                  <a:srgbClr val="000000"/>
                </a:solidFill>
                <a:latin typeface="Arial"/>
              </a:rPr>
              <a:t>hls</a:t>
            </a:r>
            <a:r>
              <a:rPr lang="en-US" kern="0" dirty="0">
                <a:solidFill>
                  <a:srgbClr val="000000"/>
                </a:solidFill>
                <a:latin typeface="Arial"/>
              </a:rPr>
              <a:t>::</a:t>
            </a:r>
            <a:r>
              <a:rPr lang="en-US" kern="0" dirty="0" err="1">
                <a:solidFill>
                  <a:srgbClr val="000000"/>
                </a:solidFill>
                <a:latin typeface="Arial"/>
              </a:rPr>
              <a:t>ip_fir</a:t>
            </a:r>
            <a:r>
              <a:rPr lang="en-US" kern="0" dirty="0">
                <a:solidFill>
                  <a:srgbClr val="000000"/>
                </a:solidFill>
                <a:latin typeface="Arial"/>
              </a:rPr>
              <a:t>::</a:t>
            </a:r>
            <a:r>
              <a:rPr lang="en-US" kern="0" dirty="0" err="1">
                <a:solidFill>
                  <a:srgbClr val="000000"/>
                </a:solidFill>
                <a:latin typeface="Arial"/>
              </a:rPr>
              <a:t>quantize_only</a:t>
            </a:r>
            <a:r>
              <a:rPr lang="en-US" kern="0" dirty="0">
                <a:solidFill>
                  <a:srgbClr val="000000"/>
                </a:solidFill>
                <a:latin typeface="Arial"/>
              </a:rPr>
              <a:t>;</a:t>
            </a:r>
          </a:p>
          <a:p>
            <a:pPr defTabSz="914400" fontAlgn="base">
              <a:spcBef>
                <a:spcPct val="0"/>
              </a:spcBef>
              <a:spcAft>
                <a:spcPct val="0"/>
              </a:spcAft>
              <a:defRPr/>
            </a:pPr>
            <a:r>
              <a:rPr lang="en-US" kern="0" dirty="0">
                <a:solidFill>
                  <a:srgbClr val="000000"/>
                </a:solidFill>
                <a:latin typeface="Arial"/>
              </a:rPr>
              <a:t>};</a:t>
            </a:r>
          </a:p>
          <a:p>
            <a:pPr defTabSz="914400" fontAlgn="base">
              <a:spcBef>
                <a:spcPct val="0"/>
              </a:spcBef>
              <a:spcAft>
                <a:spcPct val="0"/>
              </a:spcAft>
              <a:defRPr/>
            </a:pPr>
            <a:endParaRPr lang="en-US" kern="0" dirty="0">
              <a:solidFill>
                <a:srgbClr val="000000"/>
              </a:solidFill>
              <a:latin typeface="Arial"/>
            </a:endParaRPr>
          </a:p>
          <a:p>
            <a:pPr defTabSz="914400" fontAlgn="base">
              <a:spcBef>
                <a:spcPct val="0"/>
              </a:spcBef>
              <a:spcAft>
                <a:spcPct val="0"/>
              </a:spcAft>
              <a:defRPr/>
            </a:pPr>
            <a:endParaRPr lang="en-US" kern="0" dirty="0">
              <a:solidFill>
                <a:srgbClr val="000000"/>
              </a:solidFill>
              <a:latin typeface="Arial"/>
            </a:endParaRPr>
          </a:p>
        </p:txBody>
      </p:sp>
      <p:sp>
        <p:nvSpPr>
          <p:cNvPr id="12" name="TextBox 11">
            <a:extLst>
              <a:ext uri="{FF2B5EF4-FFF2-40B4-BE49-F238E27FC236}">
                <a16:creationId xmlns:a16="http://schemas.microsoft.com/office/drawing/2014/main" id="{01638DF1-1E08-4203-B8D7-1F99EDF3BA68}"/>
              </a:ext>
            </a:extLst>
          </p:cNvPr>
          <p:cNvSpPr txBox="1"/>
          <p:nvPr/>
        </p:nvSpPr>
        <p:spPr bwMode="auto">
          <a:xfrm>
            <a:off x="7146454" y="4089755"/>
            <a:ext cx="4066100" cy="1785104"/>
          </a:xfrm>
          <a:prstGeom prst="rect">
            <a:avLst/>
          </a:prstGeom>
          <a:solidFill>
            <a:srgbClr val="008CA8">
              <a:lumMod val="20000"/>
              <a:lumOff val="80000"/>
            </a:srgbClr>
          </a:solidFill>
          <a:ln w="9525">
            <a:noFill/>
            <a:miter lim="800000"/>
            <a:headEnd/>
            <a:tailEnd/>
          </a:ln>
          <a:effectLst>
            <a:outerShdw blurRad="50800" dist="38100" dir="2700000" algn="tl" rotWithShape="0">
              <a:prstClr val="black">
                <a:alpha val="40000"/>
              </a:prstClr>
            </a:outerShdw>
          </a:effectLst>
        </p:spPr>
        <p:txBody>
          <a:bodyPr vert="horz" wrap="square" lIns="0" tIns="45720" rIns="91440" bIns="45720" numCol="1" rtlCol="0" anchor="t" anchorCtr="0" compatLnSpc="1">
            <a:prstTxWarp prst="textNoShape">
              <a:avLst/>
            </a:prstTxWarp>
            <a:spAutoFit/>
          </a:bodyPr>
          <a:lstStyle/>
          <a:p>
            <a:pPr defTabSz="914400" fontAlgn="base">
              <a:spcBef>
                <a:spcPct val="0"/>
              </a:spcBef>
              <a:spcAft>
                <a:spcPct val="0"/>
              </a:spcAft>
              <a:defRPr/>
            </a:pPr>
            <a:r>
              <a:rPr lang="en-US" sz="1100" kern="0" dirty="0">
                <a:solidFill>
                  <a:srgbClr val="000000"/>
                </a:solidFill>
                <a:latin typeface="Arial"/>
              </a:rPr>
              <a:t>// Define the configuration type</a:t>
            </a:r>
          </a:p>
          <a:p>
            <a:pPr defTabSz="914400" fontAlgn="base">
              <a:spcBef>
                <a:spcPct val="0"/>
              </a:spcBef>
              <a:spcAft>
                <a:spcPct val="0"/>
              </a:spcAft>
              <a:defRPr/>
            </a:pPr>
            <a:r>
              <a:rPr lang="en-US" sz="1100" b="1" kern="0" dirty="0" err="1">
                <a:solidFill>
                  <a:srgbClr val="000000"/>
                </a:solidFill>
                <a:latin typeface="Arial"/>
              </a:rPr>
              <a:t>typedef</a:t>
            </a:r>
            <a:r>
              <a:rPr lang="en-US" sz="1100" b="1" kern="0" dirty="0">
                <a:solidFill>
                  <a:srgbClr val="000000"/>
                </a:solidFill>
                <a:latin typeface="Arial"/>
              </a:rPr>
              <a:t> </a:t>
            </a:r>
            <a:r>
              <a:rPr lang="en-US" sz="1100" b="1" kern="0" dirty="0" err="1">
                <a:solidFill>
                  <a:srgbClr val="000000"/>
                </a:solidFill>
                <a:latin typeface="Arial"/>
              </a:rPr>
              <a:t>ap_uint</a:t>
            </a:r>
            <a:r>
              <a:rPr lang="en-US" sz="1100" b="1" kern="0" dirty="0">
                <a:solidFill>
                  <a:srgbClr val="000000"/>
                </a:solidFill>
                <a:latin typeface="Arial"/>
              </a:rPr>
              <a:t>&lt;8&gt; </a:t>
            </a:r>
            <a:r>
              <a:rPr lang="en-US" sz="1100" b="1" kern="0" dirty="0" err="1">
                <a:solidFill>
                  <a:srgbClr val="000000"/>
                </a:solidFill>
                <a:latin typeface="Arial"/>
              </a:rPr>
              <a:t>config_t</a:t>
            </a:r>
            <a:r>
              <a:rPr lang="en-US" sz="1100" b="1" kern="0" dirty="0">
                <a:solidFill>
                  <a:srgbClr val="000000"/>
                </a:solidFill>
                <a:latin typeface="Arial"/>
              </a:rPr>
              <a:t>;</a:t>
            </a:r>
          </a:p>
          <a:p>
            <a:pPr defTabSz="914400" fontAlgn="base">
              <a:spcBef>
                <a:spcPct val="0"/>
              </a:spcBef>
              <a:spcAft>
                <a:spcPct val="0"/>
              </a:spcAft>
              <a:defRPr/>
            </a:pPr>
            <a:endParaRPr lang="en-US" sz="1100" kern="0" dirty="0">
              <a:solidFill>
                <a:srgbClr val="000000"/>
              </a:solidFill>
              <a:latin typeface="Arial"/>
            </a:endParaRPr>
          </a:p>
          <a:p>
            <a:pPr defTabSz="914400" fontAlgn="base">
              <a:spcBef>
                <a:spcPct val="0"/>
              </a:spcBef>
              <a:spcAft>
                <a:spcPct val="0"/>
              </a:spcAft>
              <a:defRPr/>
            </a:pPr>
            <a:r>
              <a:rPr lang="en-US" sz="1100" kern="0" dirty="0">
                <a:solidFill>
                  <a:srgbClr val="000000"/>
                </a:solidFill>
                <a:latin typeface="Arial"/>
              </a:rPr>
              <a:t>// Define the configuration variable</a:t>
            </a:r>
          </a:p>
          <a:p>
            <a:pPr defTabSz="914400" fontAlgn="base">
              <a:spcBef>
                <a:spcPct val="0"/>
              </a:spcBef>
              <a:spcAft>
                <a:spcPct val="0"/>
              </a:spcAft>
              <a:defRPr/>
            </a:pPr>
            <a:r>
              <a:rPr lang="en-US" sz="1100" kern="0" dirty="0" err="1">
                <a:solidFill>
                  <a:srgbClr val="000000"/>
                </a:solidFill>
                <a:latin typeface="Arial"/>
              </a:rPr>
              <a:t>config_t</a:t>
            </a:r>
            <a:r>
              <a:rPr lang="en-US" sz="1100" kern="0" dirty="0">
                <a:solidFill>
                  <a:srgbClr val="000000"/>
                </a:solidFill>
                <a:latin typeface="Arial"/>
              </a:rPr>
              <a:t> </a:t>
            </a:r>
            <a:r>
              <a:rPr lang="en-US" sz="1100" kern="0" dirty="0" err="1">
                <a:solidFill>
                  <a:srgbClr val="000000"/>
                </a:solidFill>
                <a:latin typeface="Arial"/>
              </a:rPr>
              <a:t>fir_config</a:t>
            </a:r>
            <a:r>
              <a:rPr lang="en-US" sz="1100" kern="0" dirty="0">
                <a:solidFill>
                  <a:srgbClr val="000000"/>
                </a:solidFill>
                <a:latin typeface="Arial"/>
              </a:rPr>
              <a:t> = 8;</a:t>
            </a:r>
          </a:p>
          <a:p>
            <a:pPr defTabSz="914400" fontAlgn="base">
              <a:spcBef>
                <a:spcPct val="0"/>
              </a:spcBef>
              <a:spcAft>
                <a:spcPct val="0"/>
              </a:spcAft>
              <a:defRPr/>
            </a:pPr>
            <a:endParaRPr lang="en-US" sz="1100" kern="0" dirty="0">
              <a:solidFill>
                <a:srgbClr val="000000"/>
              </a:solidFill>
              <a:latin typeface="Arial"/>
            </a:endParaRPr>
          </a:p>
          <a:p>
            <a:pPr defTabSz="914400" fontAlgn="base">
              <a:spcBef>
                <a:spcPct val="0"/>
              </a:spcBef>
              <a:spcAft>
                <a:spcPct val="0"/>
              </a:spcAft>
              <a:defRPr/>
            </a:pPr>
            <a:r>
              <a:rPr lang="en-US" sz="1100" kern="0" dirty="0">
                <a:solidFill>
                  <a:srgbClr val="000000"/>
                </a:solidFill>
                <a:latin typeface="Arial"/>
              </a:rPr>
              <a:t>// Use the configuration in the FFT</a:t>
            </a:r>
          </a:p>
          <a:p>
            <a:pPr defTabSz="914400" fontAlgn="base">
              <a:spcBef>
                <a:spcPct val="0"/>
              </a:spcBef>
              <a:spcAft>
                <a:spcPct val="0"/>
              </a:spcAft>
              <a:defRPr/>
            </a:pPr>
            <a:r>
              <a:rPr lang="en-US" sz="1100" kern="0" dirty="0">
                <a:solidFill>
                  <a:srgbClr val="000000"/>
                </a:solidFill>
                <a:latin typeface="Arial"/>
              </a:rPr>
              <a:t>static </a:t>
            </a:r>
            <a:r>
              <a:rPr lang="en-US" sz="1100" kern="0" dirty="0" err="1">
                <a:solidFill>
                  <a:srgbClr val="000000"/>
                </a:solidFill>
                <a:latin typeface="Arial"/>
              </a:rPr>
              <a:t>hls</a:t>
            </a:r>
            <a:r>
              <a:rPr lang="en-US" sz="1100" kern="0" dirty="0">
                <a:solidFill>
                  <a:srgbClr val="000000"/>
                </a:solidFill>
                <a:latin typeface="Arial"/>
              </a:rPr>
              <a:t>::FIR&lt;</a:t>
            </a:r>
            <a:r>
              <a:rPr lang="en-US" sz="1100" b="1" kern="0" dirty="0">
                <a:solidFill>
                  <a:srgbClr val="000000"/>
                </a:solidFill>
                <a:latin typeface="Arial"/>
              </a:rPr>
              <a:t>param1</a:t>
            </a:r>
            <a:r>
              <a:rPr lang="en-US" sz="1100" kern="0" dirty="0">
                <a:solidFill>
                  <a:srgbClr val="000000"/>
                </a:solidFill>
                <a:latin typeface="Arial"/>
              </a:rPr>
              <a:t>&gt; fir1;</a:t>
            </a:r>
          </a:p>
          <a:p>
            <a:pPr defTabSz="914400" fontAlgn="base">
              <a:spcBef>
                <a:spcPct val="0"/>
              </a:spcBef>
              <a:spcAft>
                <a:spcPct val="0"/>
              </a:spcAft>
              <a:defRPr/>
            </a:pPr>
            <a:r>
              <a:rPr lang="en-US" sz="1100" kern="0" dirty="0">
                <a:solidFill>
                  <a:srgbClr val="000000"/>
                </a:solidFill>
                <a:latin typeface="Arial"/>
              </a:rPr>
              <a:t>fir1.run(</a:t>
            </a:r>
            <a:r>
              <a:rPr lang="en-US" sz="1100" kern="0" dirty="0" err="1">
                <a:solidFill>
                  <a:srgbClr val="000000"/>
                </a:solidFill>
                <a:latin typeface="Arial"/>
              </a:rPr>
              <a:t>fir_in</a:t>
            </a:r>
            <a:r>
              <a:rPr lang="en-US" sz="1100" kern="0" dirty="0">
                <a:solidFill>
                  <a:srgbClr val="000000"/>
                </a:solidFill>
                <a:latin typeface="Arial"/>
              </a:rPr>
              <a:t>, </a:t>
            </a:r>
            <a:r>
              <a:rPr lang="en-US" sz="1100" kern="0" dirty="0" err="1">
                <a:solidFill>
                  <a:srgbClr val="000000"/>
                </a:solidFill>
                <a:latin typeface="Arial"/>
              </a:rPr>
              <a:t>fir_out</a:t>
            </a:r>
            <a:r>
              <a:rPr lang="en-US" sz="1100" kern="0" dirty="0">
                <a:solidFill>
                  <a:srgbClr val="000000"/>
                </a:solidFill>
                <a:latin typeface="Arial"/>
              </a:rPr>
              <a:t>, &amp;</a:t>
            </a:r>
            <a:r>
              <a:rPr lang="en-US" sz="1100" b="1" kern="0" dirty="0" err="1">
                <a:solidFill>
                  <a:srgbClr val="000000"/>
                </a:solidFill>
                <a:latin typeface="Arial"/>
              </a:rPr>
              <a:t>fir_config</a:t>
            </a:r>
            <a:r>
              <a:rPr lang="en-US" sz="1100" kern="0" dirty="0">
                <a:solidFill>
                  <a:srgbClr val="000000"/>
                </a:solidFill>
                <a:latin typeface="Arial"/>
              </a:rPr>
              <a:t>);</a:t>
            </a:r>
          </a:p>
          <a:p>
            <a:pPr defTabSz="914400" fontAlgn="base">
              <a:spcBef>
                <a:spcPct val="0"/>
              </a:spcBef>
              <a:spcAft>
                <a:spcPct val="0"/>
              </a:spcAft>
              <a:defRPr/>
            </a:pPr>
            <a:endParaRPr lang="en-US" sz="1100" kern="0" dirty="0">
              <a:solidFill>
                <a:srgbClr val="000000"/>
              </a:solidFill>
              <a:latin typeface="Arial"/>
            </a:endParaRPr>
          </a:p>
        </p:txBody>
      </p:sp>
    </p:spTree>
    <p:extLst>
      <p:ext uri="{BB962C8B-B14F-4D97-AF65-F5344CB8AC3E}">
        <p14:creationId xmlns:p14="http://schemas.microsoft.com/office/powerpoint/2010/main" val="334379815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Using the FFT and FIR IP</a:t>
            </a:r>
          </a:p>
        </p:txBody>
      </p:sp>
      <p:sp>
        <p:nvSpPr>
          <p:cNvPr id="2" name="Content Placeholder 1"/>
          <p:cNvSpPr>
            <a:spLocks noGrp="1"/>
          </p:cNvSpPr>
          <p:nvPr>
            <p:ph idx="1"/>
          </p:nvPr>
        </p:nvSpPr>
        <p:spPr/>
        <p:txBody>
          <a:bodyPr/>
          <a:lstStyle/>
          <a:p>
            <a:r>
              <a:rPr lang="en-US" sz="2000" dirty="0"/>
              <a:t>FFT and FIR support pipelined implementations</a:t>
            </a:r>
          </a:p>
          <a:p>
            <a:pPr lvl="1"/>
            <a:r>
              <a:rPr lang="en-US" sz="1800" dirty="0"/>
              <a:t>The functions themselves cannot be pipelined</a:t>
            </a:r>
          </a:p>
          <a:p>
            <a:pPr lvl="1"/>
            <a:r>
              <a:rPr lang="en-US" sz="1800" dirty="0"/>
              <a:t>They should be parameterized for pipelined operation</a:t>
            </a:r>
          </a:p>
          <a:p>
            <a:r>
              <a:rPr lang="en-US" sz="2000" dirty="0"/>
              <a:t>The data arguments are always arrays</a:t>
            </a:r>
          </a:p>
          <a:p>
            <a:pPr lvl="1"/>
            <a:r>
              <a:rPr lang="en-US" sz="1800" dirty="0"/>
              <a:t>These will be implemented as AXI4 Streams in the RTL</a:t>
            </a:r>
          </a:p>
          <a:p>
            <a:pPr lvl="2"/>
            <a:r>
              <a:rPr lang="en-US" sz="1400" dirty="0"/>
              <a:t>By default, arrays are implemented as BRAM interfaces</a:t>
            </a:r>
          </a:p>
          <a:p>
            <a:r>
              <a:rPr lang="en-US" sz="2000" dirty="0"/>
              <a:t>Recommendation</a:t>
            </a:r>
          </a:p>
          <a:p>
            <a:pPr lvl="1"/>
            <a:r>
              <a:rPr lang="en-US" sz="1800" dirty="0"/>
              <a:t>Use these IP in regions where dataflow optimization is used</a:t>
            </a:r>
          </a:p>
          <a:p>
            <a:pPr lvl="1"/>
            <a:r>
              <a:rPr lang="en-US" sz="1800" dirty="0"/>
              <a:t>This will auto-convert the input and output arrays into streaming arrays</a:t>
            </a:r>
          </a:p>
          <a:p>
            <a:r>
              <a:rPr lang="en-US" sz="2000" dirty="0"/>
              <a:t>Alternatively, a Requirement:</a:t>
            </a:r>
          </a:p>
          <a:p>
            <a:pPr lvl="1"/>
            <a:r>
              <a:rPr lang="en-US" sz="1800" dirty="0"/>
              <a:t>The input and output arrays must be marked as streaming using the command </a:t>
            </a:r>
            <a:r>
              <a:rPr lang="en-US" sz="1800" dirty="0" err="1"/>
              <a:t>set_directive_stream</a:t>
            </a:r>
            <a:r>
              <a:rPr lang="en-US" sz="1800" dirty="0"/>
              <a:t> (pragma HLS STREAM)</a:t>
            </a:r>
          </a:p>
        </p:txBody>
      </p:sp>
      <p:sp>
        <p:nvSpPr>
          <p:cNvPr id="5" name="Slide Number Placeholder 5">
            <a:extLst>
              <a:ext uri="{FF2B5EF4-FFF2-40B4-BE49-F238E27FC236}">
                <a16:creationId xmlns:a16="http://schemas.microsoft.com/office/drawing/2014/main" id="{A854D226-6198-46D4-9464-8042372FBDF8}"/>
              </a:ext>
            </a:extLst>
          </p:cNvPr>
          <p:cNvSpPr>
            <a:spLocks noGrp="1"/>
          </p:cNvSpPr>
          <p:nvPr>
            <p:ph type="sldNum" sz="quarter" idx="4"/>
          </p:nvPr>
        </p:nvSpPr>
        <p:spPr/>
        <p:txBody>
          <a:bodyPr/>
          <a:lstStyle/>
          <a:p>
            <a:pPr>
              <a:defRPr/>
            </a:pPr>
            <a:r>
              <a:rPr lang="en-US" dirty="0"/>
              <a:t>Coding Considerations 23- </a:t>
            </a:r>
            <a:fld id="{060BD193-E118-4B16-863C-C8C12C675E3E}" type="slidenum">
              <a:rPr lang="en-US" smtClean="0"/>
              <a:pPr>
                <a:defRPr/>
              </a:pPr>
              <a:t>92</a:t>
            </a:fld>
            <a:endParaRPr lang="en-US" dirty="0"/>
          </a:p>
        </p:txBody>
      </p:sp>
    </p:spTree>
    <p:extLst>
      <p:ext uri="{BB962C8B-B14F-4D97-AF65-F5344CB8AC3E}">
        <p14:creationId xmlns:p14="http://schemas.microsoft.com/office/powerpoint/2010/main" val="3357286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Using the FFT and FIR IP</a:t>
            </a:r>
          </a:p>
        </p:txBody>
      </p:sp>
      <p:sp>
        <p:nvSpPr>
          <p:cNvPr id="2" name="Content Placeholder 1"/>
          <p:cNvSpPr>
            <a:spLocks noGrp="1"/>
          </p:cNvSpPr>
          <p:nvPr>
            <p:ph idx="1"/>
          </p:nvPr>
        </p:nvSpPr>
        <p:spPr/>
        <p:txBody>
          <a:bodyPr/>
          <a:lstStyle/>
          <a:p>
            <a:r>
              <a:rPr lang="en-US" dirty="0"/>
              <a:t>FFT and FIR support pipelined implementations</a:t>
            </a:r>
          </a:p>
          <a:p>
            <a:pPr lvl="1"/>
            <a:r>
              <a:rPr lang="en-US" dirty="0"/>
              <a:t>The functions themselves cannot be pipelined</a:t>
            </a:r>
          </a:p>
          <a:p>
            <a:pPr lvl="1"/>
            <a:r>
              <a:rPr lang="en-US" dirty="0"/>
              <a:t>They should be parameterized for pipelined operation</a:t>
            </a:r>
          </a:p>
          <a:p>
            <a:r>
              <a:rPr lang="en-US" dirty="0"/>
              <a:t>The data arguments are always arrays</a:t>
            </a:r>
          </a:p>
          <a:p>
            <a:pPr lvl="1"/>
            <a:r>
              <a:rPr lang="en-US" dirty="0"/>
              <a:t>These will be implemented as AXI4 Streams in the RTL</a:t>
            </a:r>
          </a:p>
          <a:p>
            <a:pPr lvl="2"/>
            <a:r>
              <a:rPr lang="en-US" dirty="0"/>
              <a:t>By default, arrays are implemented as BRAM interfaces</a:t>
            </a:r>
          </a:p>
          <a:p>
            <a:r>
              <a:rPr lang="en-US" dirty="0"/>
              <a:t>Recommendation</a:t>
            </a:r>
          </a:p>
          <a:p>
            <a:pPr lvl="1"/>
            <a:r>
              <a:rPr lang="en-US" dirty="0"/>
              <a:t>Use these IP in regions where dataflow optimization is used</a:t>
            </a:r>
          </a:p>
          <a:p>
            <a:pPr lvl="1"/>
            <a:r>
              <a:rPr lang="en-US" dirty="0"/>
              <a:t>This will auto-convert the input and output arrays into streaming arrays</a:t>
            </a:r>
          </a:p>
          <a:p>
            <a:r>
              <a:rPr lang="en-US" dirty="0"/>
              <a:t>Alternatively, a Requirement:</a:t>
            </a:r>
          </a:p>
          <a:p>
            <a:pPr lvl="1"/>
            <a:r>
              <a:rPr lang="en-US" dirty="0"/>
              <a:t>The input and output arrays must be marked as streaming using the command </a:t>
            </a:r>
            <a:r>
              <a:rPr lang="en-US" dirty="0" err="1"/>
              <a:t>set_directive_stream</a:t>
            </a:r>
            <a:r>
              <a:rPr lang="en-US" dirty="0"/>
              <a:t> (pragma </a:t>
            </a:r>
            <a:r>
              <a:rPr lang="en-US" dirty="0">
                <a:highlight>
                  <a:srgbClr val="FFFF00"/>
                </a:highlight>
              </a:rPr>
              <a:t>HLS</a:t>
            </a:r>
            <a:r>
              <a:rPr lang="en-US" dirty="0"/>
              <a:t> STREAM)</a:t>
            </a:r>
          </a:p>
        </p:txBody>
      </p:sp>
      <p:sp>
        <p:nvSpPr>
          <p:cNvPr id="7" name="Slide Number Placeholder 6"/>
          <p:cNvSpPr>
            <a:spLocks noGrp="1"/>
          </p:cNvSpPr>
          <p:nvPr>
            <p:ph type="sldNum" sz="quarter" idx="10"/>
          </p:nvPr>
        </p:nvSpPr>
        <p:spPr/>
        <p:txBody>
          <a:bodyPr/>
          <a:lstStyle/>
          <a:p>
            <a:pPr defTabSz="914400">
              <a:defRPr/>
            </a:pPr>
            <a:r>
              <a:rPr lang="en-US" dirty="0">
                <a:solidFill>
                  <a:srgbClr val="0C0C0C">
                    <a:tint val="75000"/>
                  </a:srgbClr>
                </a:solidFill>
                <a:latin typeface="Arial"/>
              </a:rPr>
              <a:t>Coding Considerations 23- </a:t>
            </a:r>
            <a:fld id="{060BD193-E118-4B16-863C-C8C12C675E3E}" type="slidenum">
              <a:rPr lang="en-US">
                <a:solidFill>
                  <a:srgbClr val="0C0C0C">
                    <a:tint val="75000"/>
                  </a:srgbClr>
                </a:solidFill>
                <a:latin typeface="Arial"/>
              </a:rPr>
              <a:pPr defTabSz="914400">
                <a:defRPr/>
              </a:pPr>
              <a:t>93</a:t>
            </a:fld>
            <a:endParaRPr lang="en-US" dirty="0">
              <a:solidFill>
                <a:srgbClr val="0C0C0C">
                  <a:tint val="75000"/>
                </a:srgbClr>
              </a:solidFill>
              <a:latin typeface="Arial"/>
            </a:endParaRPr>
          </a:p>
        </p:txBody>
      </p:sp>
    </p:spTree>
    <p:extLst>
      <p:ext uri="{BB962C8B-B14F-4D97-AF65-F5344CB8AC3E}">
        <p14:creationId xmlns:p14="http://schemas.microsoft.com/office/powerpoint/2010/main" val="357248769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Shift Registers</a:t>
            </a:r>
          </a:p>
        </p:txBody>
      </p:sp>
      <p:sp>
        <p:nvSpPr>
          <p:cNvPr id="2" name="Content Placeholder 1"/>
          <p:cNvSpPr>
            <a:spLocks noGrp="1"/>
          </p:cNvSpPr>
          <p:nvPr>
            <p:ph idx="1"/>
          </p:nvPr>
        </p:nvSpPr>
        <p:spPr/>
        <p:txBody>
          <a:bodyPr/>
          <a:lstStyle/>
          <a:p>
            <a:r>
              <a:rPr lang="en-US" sz="2000" dirty="0"/>
              <a:t>Many C algorithms sequentially shift data through arrays</a:t>
            </a:r>
          </a:p>
          <a:p>
            <a:pPr lvl="1"/>
            <a:r>
              <a:rPr lang="en-US" sz="1800" b="0" dirty="0"/>
              <a:t>Add a new value to the start of the array, </a:t>
            </a:r>
          </a:p>
          <a:p>
            <a:pPr lvl="1"/>
            <a:r>
              <a:rPr lang="en-US" sz="1800" b="0" dirty="0"/>
              <a:t>Shift the existing data through array, and </a:t>
            </a:r>
          </a:p>
          <a:p>
            <a:pPr lvl="1"/>
            <a:r>
              <a:rPr lang="en-US" sz="1800" b="0" dirty="0"/>
              <a:t>Drop the oldest data value</a:t>
            </a:r>
          </a:p>
          <a:p>
            <a:r>
              <a:rPr lang="en-US" sz="2000" dirty="0"/>
              <a:t>Common way to implement a shift register from C into hardware </a:t>
            </a:r>
          </a:p>
          <a:p>
            <a:pPr lvl="1"/>
            <a:r>
              <a:rPr lang="en-US" sz="1800" b="0" dirty="0"/>
              <a:t>Completely partition the array into individual elements, and allow the data dependencies between the elements in the RTL to imply a shift register</a:t>
            </a:r>
          </a:p>
          <a:p>
            <a:r>
              <a:rPr lang="en-US" sz="2000" dirty="0"/>
              <a:t>SRL architectural resource is most efficient to implement the desired shift registers</a:t>
            </a:r>
          </a:p>
          <a:p>
            <a:pPr lvl="1"/>
            <a:r>
              <a:rPr lang="en-US" sz="1800" b="0" dirty="0"/>
              <a:t>When data is accessed in the middle of the shift register, logic synthesis cannot directly infer an SRL</a:t>
            </a:r>
          </a:p>
          <a:p>
            <a:pPr lvl="1"/>
            <a:r>
              <a:rPr lang="en-US" sz="1800" b="0" dirty="0"/>
              <a:t>Logic synthesis may implement the shift-resister in flip-flops, due to other factors</a:t>
            </a:r>
          </a:p>
          <a:p>
            <a:r>
              <a:rPr lang="en-US" sz="2000" dirty="0"/>
              <a:t>Use the </a:t>
            </a:r>
            <a:r>
              <a:rPr lang="en-US" sz="2000" dirty="0">
                <a:latin typeface="Courier New" panose="02070309020205020404" pitchFamily="49" charset="0"/>
                <a:cs typeface="Courier New" panose="02070309020205020404" pitchFamily="49" charset="0"/>
              </a:rPr>
              <a:t>ap_shift_reg</a:t>
            </a:r>
            <a:r>
              <a:rPr lang="en-US" sz="2000" dirty="0"/>
              <a:t> class</a:t>
            </a:r>
          </a:p>
        </p:txBody>
      </p:sp>
      <p:sp>
        <p:nvSpPr>
          <p:cNvPr id="5" name="Slide Number Placeholder 5">
            <a:extLst>
              <a:ext uri="{FF2B5EF4-FFF2-40B4-BE49-F238E27FC236}">
                <a16:creationId xmlns:a16="http://schemas.microsoft.com/office/drawing/2014/main" id="{BBD798D3-935F-4762-8C7A-C895CEECCBFD}"/>
              </a:ext>
            </a:extLst>
          </p:cNvPr>
          <p:cNvSpPr>
            <a:spLocks noGrp="1"/>
          </p:cNvSpPr>
          <p:nvPr>
            <p:ph type="sldNum" sz="quarter" idx="4"/>
          </p:nvPr>
        </p:nvSpPr>
        <p:spPr/>
        <p:txBody>
          <a:bodyPr/>
          <a:lstStyle/>
          <a:p>
            <a:pPr>
              <a:defRPr/>
            </a:pPr>
            <a:r>
              <a:rPr lang="en-US" dirty="0"/>
              <a:t>Coding Considerations 23- </a:t>
            </a:r>
            <a:fld id="{060BD193-E118-4B16-863C-C8C12C675E3E}" type="slidenum">
              <a:rPr lang="en-US" smtClean="0"/>
              <a:pPr>
                <a:defRPr/>
              </a:pPr>
              <a:t>94</a:t>
            </a:fld>
            <a:endParaRPr lang="en-US" dirty="0"/>
          </a:p>
        </p:txBody>
      </p:sp>
    </p:spTree>
    <p:extLst>
      <p:ext uri="{BB962C8B-B14F-4D97-AF65-F5344CB8AC3E}">
        <p14:creationId xmlns:p14="http://schemas.microsoft.com/office/powerpoint/2010/main" val="2451961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Shift Registers</a:t>
            </a:r>
          </a:p>
        </p:txBody>
      </p:sp>
      <p:sp>
        <p:nvSpPr>
          <p:cNvPr id="2" name="Content Placeholder 1"/>
          <p:cNvSpPr>
            <a:spLocks noGrp="1"/>
          </p:cNvSpPr>
          <p:nvPr>
            <p:ph idx="1"/>
          </p:nvPr>
        </p:nvSpPr>
        <p:spPr/>
        <p:txBody>
          <a:bodyPr/>
          <a:lstStyle/>
          <a:p>
            <a:r>
              <a:rPr lang="en-US" dirty="0"/>
              <a:t>Many C algorithms sequentially shift data through arrays</a:t>
            </a:r>
          </a:p>
          <a:p>
            <a:pPr lvl="1"/>
            <a:r>
              <a:rPr lang="en-US" b="0" dirty="0"/>
              <a:t>Add a new value to the start of the array, </a:t>
            </a:r>
          </a:p>
          <a:p>
            <a:pPr lvl="1"/>
            <a:r>
              <a:rPr lang="en-US" b="0" dirty="0"/>
              <a:t>Shift the existing data through array, and </a:t>
            </a:r>
          </a:p>
          <a:p>
            <a:pPr lvl="1"/>
            <a:r>
              <a:rPr lang="en-US" b="0" dirty="0"/>
              <a:t>Drop the oldest data value</a:t>
            </a:r>
          </a:p>
          <a:p>
            <a:r>
              <a:rPr lang="en-US" dirty="0"/>
              <a:t>Common way to implement a shift register from C into hardware </a:t>
            </a:r>
          </a:p>
          <a:p>
            <a:pPr lvl="1"/>
            <a:r>
              <a:rPr lang="en-US" b="0" dirty="0"/>
              <a:t>Completely partition the array into individual elements, and allow the data dependencies between the elements in the RTL to imply a shift register</a:t>
            </a:r>
          </a:p>
          <a:p>
            <a:r>
              <a:rPr lang="en-US" dirty="0"/>
              <a:t>SRL architectural resource is most efficient to implement the desired shift registers</a:t>
            </a:r>
          </a:p>
          <a:p>
            <a:pPr lvl="1"/>
            <a:r>
              <a:rPr lang="en-US" b="0" dirty="0"/>
              <a:t>When data is accessed in the middle of the shift register, logic synthesis cannot directly infer an SRL</a:t>
            </a:r>
          </a:p>
          <a:p>
            <a:pPr lvl="1"/>
            <a:r>
              <a:rPr lang="en-US" b="0" dirty="0"/>
              <a:t>Logic synthesis may implement the shift-resister in flip-flops, due to other factors</a:t>
            </a:r>
          </a:p>
          <a:p>
            <a:r>
              <a:rPr lang="en-US" dirty="0"/>
              <a:t>Use the </a:t>
            </a:r>
            <a:r>
              <a:rPr lang="en-US" dirty="0">
                <a:latin typeface="Courier New" panose="02070309020205020404" pitchFamily="49" charset="0"/>
                <a:cs typeface="Courier New" panose="02070309020205020404" pitchFamily="49" charset="0"/>
              </a:rPr>
              <a:t>ap_shift_reg</a:t>
            </a:r>
            <a:r>
              <a:rPr lang="en-US" dirty="0"/>
              <a:t> class</a:t>
            </a:r>
          </a:p>
        </p:txBody>
      </p:sp>
      <p:sp>
        <p:nvSpPr>
          <p:cNvPr id="3" name="Slide Number Placeholder 2"/>
          <p:cNvSpPr>
            <a:spLocks noGrp="1"/>
          </p:cNvSpPr>
          <p:nvPr>
            <p:ph type="sldNum" sz="quarter" idx="10"/>
          </p:nvPr>
        </p:nvSpPr>
        <p:spPr/>
        <p:txBody>
          <a:bodyPr/>
          <a:lstStyle/>
          <a:p>
            <a:pPr defTabSz="914400">
              <a:defRPr/>
            </a:pPr>
            <a:r>
              <a:rPr lang="en-US" dirty="0">
                <a:solidFill>
                  <a:srgbClr val="0C0C0C">
                    <a:tint val="75000"/>
                  </a:srgbClr>
                </a:solidFill>
                <a:latin typeface="Arial"/>
              </a:rPr>
              <a:t>Coding Considerations 23- </a:t>
            </a:r>
            <a:fld id="{060BD193-E118-4B16-863C-C8C12C675E3E}" type="slidenum">
              <a:rPr lang="en-US">
                <a:solidFill>
                  <a:srgbClr val="0C0C0C">
                    <a:tint val="75000"/>
                  </a:srgbClr>
                </a:solidFill>
                <a:latin typeface="Arial"/>
              </a:rPr>
              <a:pPr defTabSz="914400">
                <a:defRPr/>
              </a:pPr>
              <a:t>95</a:t>
            </a:fld>
            <a:endParaRPr lang="en-US" dirty="0">
              <a:solidFill>
                <a:srgbClr val="0C0C0C">
                  <a:tint val="75000"/>
                </a:srgbClr>
              </a:solidFill>
              <a:latin typeface="Arial"/>
            </a:endParaRPr>
          </a:p>
        </p:txBody>
      </p:sp>
    </p:spTree>
    <p:extLst>
      <p:ext uri="{BB962C8B-B14F-4D97-AF65-F5344CB8AC3E}">
        <p14:creationId xmlns:p14="http://schemas.microsoft.com/office/powerpoint/2010/main" val="94105599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AP_SHIFT_REG Class</a:t>
            </a:r>
          </a:p>
        </p:txBody>
      </p:sp>
      <p:sp>
        <p:nvSpPr>
          <p:cNvPr id="2" name="Content Placeholder 1"/>
          <p:cNvSpPr>
            <a:spLocks noGrp="1"/>
          </p:cNvSpPr>
          <p:nvPr>
            <p:ph idx="1"/>
          </p:nvPr>
        </p:nvSpPr>
        <p:spPr/>
        <p:txBody>
          <a:bodyPr/>
          <a:lstStyle/>
          <a:p>
            <a:pPr lvl="0"/>
            <a:r>
              <a:rPr lang="en-US" sz="1800" dirty="0"/>
              <a:t>Class AP_SHIFT_REG infers an SRL</a:t>
            </a:r>
          </a:p>
          <a:p>
            <a:pPr lvl="1"/>
            <a:r>
              <a:rPr lang="en-US" sz="1600" dirty="0"/>
              <a:t>Ensures that the behavior of an SRL component can be modeled in C</a:t>
            </a:r>
          </a:p>
          <a:p>
            <a:pPr lvl="2"/>
            <a:r>
              <a:rPr lang="en-US" sz="1400" dirty="0"/>
              <a:t>Addressable shift register</a:t>
            </a:r>
          </a:p>
          <a:p>
            <a:pPr lvl="1"/>
            <a:r>
              <a:rPr lang="en-US" sz="1600" dirty="0"/>
              <a:t>Ensures that an SRL is in fact used in the implementation</a:t>
            </a:r>
          </a:p>
          <a:p>
            <a:pPr lvl="2"/>
            <a:r>
              <a:rPr lang="en-US" sz="1400" i="1" dirty="0"/>
              <a:t>Guarantees</a:t>
            </a:r>
            <a:r>
              <a:rPr lang="en-US" sz="1400" dirty="0"/>
              <a:t> that the high-performance Xilinx primitive is used</a:t>
            </a:r>
          </a:p>
          <a:p>
            <a:pPr lvl="0"/>
            <a:r>
              <a:rPr lang="en-US" sz="1800" dirty="0"/>
              <a:t>Using the AP_SHIFT_REG</a:t>
            </a:r>
          </a:p>
          <a:p>
            <a:pPr lvl="1"/>
            <a:r>
              <a:rPr lang="en-US" sz="1600" dirty="0"/>
              <a:t>For use in C++ designs</a:t>
            </a:r>
          </a:p>
          <a:p>
            <a:pPr lvl="1"/>
            <a:r>
              <a:rPr lang="en-US" sz="1600" dirty="0"/>
              <a:t>Defined in the </a:t>
            </a:r>
            <a:r>
              <a:rPr lang="en-US" sz="1600" dirty="0" err="1"/>
              <a:t>Vitis</a:t>
            </a:r>
            <a:r>
              <a:rPr lang="en-US" sz="1600" dirty="0"/>
              <a:t> HLS tool header file </a:t>
            </a:r>
            <a:r>
              <a:rPr lang="en-US" sz="1600" i="1" dirty="0"/>
              <a:t>ap_shift_reg.h</a:t>
            </a:r>
            <a:endParaRPr lang="en-US" sz="1600" dirty="0"/>
          </a:p>
          <a:p>
            <a:pPr lvl="2"/>
            <a:r>
              <a:rPr lang="en-US" sz="1400" dirty="0"/>
              <a:t>Must be included</a:t>
            </a:r>
          </a:p>
          <a:p>
            <a:pPr lvl="0"/>
            <a:r>
              <a:rPr lang="en-US" sz="1800" dirty="0"/>
              <a:t>SRL operations modeled in C</a:t>
            </a:r>
          </a:p>
          <a:p>
            <a:pPr lvl="1"/>
            <a:r>
              <a:rPr lang="en-US" sz="1600" dirty="0"/>
              <a:t>Supported in the C code</a:t>
            </a:r>
          </a:p>
          <a:p>
            <a:pPr lvl="1"/>
            <a:r>
              <a:rPr lang="en-US" sz="1600" dirty="0"/>
              <a:t>Addressable read from the shift register</a:t>
            </a:r>
          </a:p>
          <a:p>
            <a:pPr lvl="1"/>
            <a:r>
              <a:rPr lang="en-US" sz="1600" dirty="0"/>
              <a:t>Addressable read from the shift register and shift</a:t>
            </a:r>
          </a:p>
          <a:p>
            <a:pPr lvl="1"/>
            <a:r>
              <a:rPr lang="en-US" sz="1600" dirty="0"/>
              <a:t>Addressable read from the shift register and shift if enabled</a:t>
            </a:r>
          </a:p>
          <a:p>
            <a:endParaRPr lang="en-US" sz="1800" dirty="0"/>
          </a:p>
        </p:txBody>
      </p:sp>
      <p:sp>
        <p:nvSpPr>
          <p:cNvPr id="5" name="Slide Number Placeholder 5">
            <a:extLst>
              <a:ext uri="{FF2B5EF4-FFF2-40B4-BE49-F238E27FC236}">
                <a16:creationId xmlns:a16="http://schemas.microsoft.com/office/drawing/2014/main" id="{4078658D-9298-4724-882E-17F0BA750A44}"/>
              </a:ext>
            </a:extLst>
          </p:cNvPr>
          <p:cNvSpPr>
            <a:spLocks noGrp="1"/>
          </p:cNvSpPr>
          <p:nvPr>
            <p:ph type="sldNum" sz="quarter" idx="4"/>
          </p:nvPr>
        </p:nvSpPr>
        <p:spPr/>
        <p:txBody>
          <a:bodyPr/>
          <a:lstStyle/>
          <a:p>
            <a:pPr>
              <a:defRPr/>
            </a:pPr>
            <a:r>
              <a:rPr lang="en-US" dirty="0"/>
              <a:t>Coding Considerations 23- </a:t>
            </a:r>
            <a:fld id="{060BD193-E118-4B16-863C-C8C12C675E3E}" type="slidenum">
              <a:rPr lang="en-US" smtClean="0"/>
              <a:pPr>
                <a:defRPr/>
              </a:pPr>
              <a:t>96</a:t>
            </a:fld>
            <a:endParaRPr lang="en-US" dirty="0"/>
          </a:p>
        </p:txBody>
      </p:sp>
    </p:spTree>
    <p:extLst>
      <p:ext uri="{BB962C8B-B14F-4D97-AF65-F5344CB8AC3E}">
        <p14:creationId xmlns:p14="http://schemas.microsoft.com/office/powerpoint/2010/main" val="31569401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AP_SHIFT_REG Class</a:t>
            </a:r>
          </a:p>
        </p:txBody>
      </p:sp>
      <p:sp>
        <p:nvSpPr>
          <p:cNvPr id="2" name="Content Placeholder 1"/>
          <p:cNvSpPr>
            <a:spLocks noGrp="1"/>
          </p:cNvSpPr>
          <p:nvPr>
            <p:ph idx="1"/>
          </p:nvPr>
        </p:nvSpPr>
        <p:spPr/>
        <p:txBody>
          <a:bodyPr/>
          <a:lstStyle/>
          <a:p>
            <a:pPr lvl="0"/>
            <a:r>
              <a:rPr lang="en-US" sz="1800" dirty="0"/>
              <a:t>Class AP_SHIFT_REG infers an SRL</a:t>
            </a:r>
          </a:p>
          <a:p>
            <a:pPr lvl="1"/>
            <a:r>
              <a:rPr lang="en-US" sz="1600" dirty="0"/>
              <a:t>Ensures that the behavior of an SRL component can be modeled in C</a:t>
            </a:r>
          </a:p>
          <a:p>
            <a:pPr lvl="2"/>
            <a:r>
              <a:rPr lang="en-US" sz="1400" dirty="0"/>
              <a:t>Addressable shift register</a:t>
            </a:r>
          </a:p>
          <a:p>
            <a:pPr lvl="1"/>
            <a:r>
              <a:rPr lang="en-US" sz="1600" dirty="0"/>
              <a:t>Ensures that an SRL is in fact used in the implementation</a:t>
            </a:r>
          </a:p>
          <a:p>
            <a:pPr lvl="2"/>
            <a:r>
              <a:rPr lang="en-US" sz="1400" i="1" dirty="0"/>
              <a:t>Guarantees</a:t>
            </a:r>
            <a:r>
              <a:rPr lang="en-US" sz="1400" dirty="0"/>
              <a:t> that the high-performance Xilinx primitive is used</a:t>
            </a:r>
          </a:p>
          <a:p>
            <a:pPr lvl="0"/>
            <a:r>
              <a:rPr lang="en-US" sz="1800" dirty="0"/>
              <a:t>Using the AP_SHIFT_REG</a:t>
            </a:r>
          </a:p>
          <a:p>
            <a:pPr lvl="1"/>
            <a:r>
              <a:rPr lang="en-US" sz="1600" dirty="0"/>
              <a:t>For use in C++ designs</a:t>
            </a:r>
          </a:p>
          <a:p>
            <a:pPr lvl="1"/>
            <a:r>
              <a:rPr lang="en-US" sz="1600" dirty="0"/>
              <a:t>Defined in the </a:t>
            </a:r>
            <a:r>
              <a:rPr lang="en-US" sz="1600" dirty="0" err="1">
                <a:highlight>
                  <a:srgbClr val="FFFF00"/>
                </a:highlight>
              </a:rPr>
              <a:t>Vitis</a:t>
            </a:r>
            <a:r>
              <a:rPr lang="en-US" sz="1600" dirty="0"/>
              <a:t> HLS tool header file </a:t>
            </a:r>
            <a:r>
              <a:rPr lang="en-US" sz="1600" i="1" dirty="0"/>
              <a:t>ap_shift_reg.h</a:t>
            </a:r>
            <a:endParaRPr lang="en-US" sz="1600" dirty="0"/>
          </a:p>
          <a:p>
            <a:pPr lvl="2"/>
            <a:r>
              <a:rPr lang="en-US" sz="1400" dirty="0"/>
              <a:t>Must be included</a:t>
            </a:r>
          </a:p>
          <a:p>
            <a:pPr lvl="0"/>
            <a:r>
              <a:rPr lang="en-US" sz="1800" dirty="0"/>
              <a:t>SRL operations modeled in C</a:t>
            </a:r>
          </a:p>
          <a:p>
            <a:pPr lvl="1"/>
            <a:r>
              <a:rPr lang="en-US" sz="1600" dirty="0"/>
              <a:t>Supported in the C code</a:t>
            </a:r>
          </a:p>
          <a:p>
            <a:pPr lvl="1"/>
            <a:r>
              <a:rPr lang="en-US" sz="1600" dirty="0"/>
              <a:t>Addressable read from the shift register</a:t>
            </a:r>
          </a:p>
          <a:p>
            <a:pPr lvl="1"/>
            <a:r>
              <a:rPr lang="en-US" sz="1600" dirty="0"/>
              <a:t>Addressable read from the shift register and shift</a:t>
            </a:r>
          </a:p>
          <a:p>
            <a:pPr lvl="1"/>
            <a:r>
              <a:rPr lang="en-US" sz="1600" dirty="0"/>
              <a:t>Addressable read from the shift register and shift if enabled</a:t>
            </a:r>
          </a:p>
          <a:p>
            <a:endParaRPr lang="en-US" sz="1800" dirty="0"/>
          </a:p>
        </p:txBody>
      </p:sp>
      <p:sp>
        <p:nvSpPr>
          <p:cNvPr id="3" name="Slide Number Placeholder 2"/>
          <p:cNvSpPr>
            <a:spLocks noGrp="1"/>
          </p:cNvSpPr>
          <p:nvPr>
            <p:ph type="sldNum" sz="quarter" idx="10"/>
          </p:nvPr>
        </p:nvSpPr>
        <p:spPr/>
        <p:txBody>
          <a:bodyPr/>
          <a:lstStyle/>
          <a:p>
            <a:pPr defTabSz="914400">
              <a:defRPr/>
            </a:pPr>
            <a:r>
              <a:rPr lang="en-US" dirty="0">
                <a:solidFill>
                  <a:srgbClr val="0C0C0C">
                    <a:tint val="75000"/>
                  </a:srgbClr>
                </a:solidFill>
                <a:latin typeface="Arial"/>
              </a:rPr>
              <a:t>Coding Considerations 23- </a:t>
            </a:r>
            <a:fld id="{060BD193-E118-4B16-863C-C8C12C675E3E}" type="slidenum">
              <a:rPr lang="en-US">
                <a:solidFill>
                  <a:srgbClr val="0C0C0C">
                    <a:tint val="75000"/>
                  </a:srgbClr>
                </a:solidFill>
                <a:latin typeface="Arial"/>
              </a:rPr>
              <a:pPr defTabSz="914400">
                <a:defRPr/>
              </a:pPr>
              <a:t>97</a:t>
            </a:fld>
            <a:endParaRPr lang="en-US" dirty="0">
              <a:solidFill>
                <a:srgbClr val="0C0C0C">
                  <a:tint val="75000"/>
                </a:srgbClr>
              </a:solidFill>
              <a:latin typeface="Arial"/>
            </a:endParaRPr>
          </a:p>
        </p:txBody>
      </p:sp>
    </p:spTree>
    <p:extLst>
      <p:ext uri="{BB962C8B-B14F-4D97-AF65-F5344CB8AC3E}">
        <p14:creationId xmlns:p14="http://schemas.microsoft.com/office/powerpoint/2010/main" val="314980684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Using </a:t>
            </a:r>
            <a:r>
              <a:rPr lang="en-US" dirty="0" err="1"/>
              <a:t>ap_shift_reg</a:t>
            </a:r>
            <a:r>
              <a:rPr lang="en-US" dirty="0"/>
              <a:t> class</a:t>
            </a:r>
          </a:p>
        </p:txBody>
      </p:sp>
      <p:sp>
        <p:nvSpPr>
          <p:cNvPr id="2" name="Content Placeholder 1"/>
          <p:cNvSpPr>
            <a:spLocks noGrp="1"/>
          </p:cNvSpPr>
          <p:nvPr>
            <p:ph idx="1"/>
          </p:nvPr>
        </p:nvSpPr>
        <p:spPr>
          <a:xfrm>
            <a:off x="579120" y="1280160"/>
            <a:ext cx="11033760" cy="4632960"/>
          </a:xfrm>
        </p:spPr>
        <p:txBody>
          <a:bodyPr/>
          <a:lstStyle/>
          <a:p>
            <a:pPr lvl="0"/>
            <a:r>
              <a:rPr lang="en-US" sz="2000" dirty="0"/>
              <a:t>Read from the shift register</a:t>
            </a:r>
          </a:p>
          <a:p>
            <a:endParaRPr lang="en-US" sz="2000" dirty="0"/>
          </a:p>
          <a:p>
            <a:endParaRPr lang="en-US" sz="2000" dirty="0"/>
          </a:p>
          <a:p>
            <a:endParaRPr lang="en-US" sz="2000" dirty="0"/>
          </a:p>
          <a:p>
            <a:endParaRPr lang="en-US" sz="2000" dirty="0"/>
          </a:p>
          <a:p>
            <a:pPr lvl="0"/>
            <a:r>
              <a:rPr lang="en-US" sz="2000" dirty="0"/>
              <a:t>Read from and write to the shift register</a:t>
            </a:r>
          </a:p>
          <a:p>
            <a:pPr marL="0" indent="0">
              <a:buNone/>
            </a:pPr>
            <a:endParaRPr lang="en-US" sz="2000" dirty="0"/>
          </a:p>
        </p:txBody>
      </p:sp>
      <p:sp>
        <p:nvSpPr>
          <p:cNvPr id="7" name="Slide Number Placeholder 5">
            <a:extLst>
              <a:ext uri="{FF2B5EF4-FFF2-40B4-BE49-F238E27FC236}">
                <a16:creationId xmlns:a16="http://schemas.microsoft.com/office/drawing/2014/main" id="{4BDF49E8-2340-4BB6-8FFB-0AAE537A7C29}"/>
              </a:ext>
            </a:extLst>
          </p:cNvPr>
          <p:cNvSpPr>
            <a:spLocks noGrp="1"/>
          </p:cNvSpPr>
          <p:nvPr>
            <p:ph type="sldNum" sz="quarter" idx="4"/>
          </p:nvPr>
        </p:nvSpPr>
        <p:spPr/>
        <p:txBody>
          <a:bodyPr/>
          <a:lstStyle/>
          <a:p>
            <a:pPr>
              <a:defRPr/>
            </a:pPr>
            <a:r>
              <a:rPr lang="en-US" dirty="0"/>
              <a:t>Coding Considerations 23- </a:t>
            </a:r>
            <a:fld id="{060BD193-E118-4B16-863C-C8C12C675E3E}" type="slidenum">
              <a:rPr lang="en-US" smtClean="0"/>
              <a:pPr>
                <a:defRPr/>
              </a:pPr>
              <a:t>98</a:t>
            </a:fld>
            <a:endParaRPr lang="en-US" dirty="0"/>
          </a:p>
        </p:txBody>
      </p:sp>
      <p:pic>
        <p:nvPicPr>
          <p:cNvPr id="1026"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44664" y="1680648"/>
            <a:ext cx="7771965" cy="1952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 name="Picture 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3713" y="4230106"/>
            <a:ext cx="8377384" cy="209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038575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Using </a:t>
            </a:r>
            <a:r>
              <a:rPr lang="en-US" dirty="0" err="1"/>
              <a:t>ap_shift_reg</a:t>
            </a:r>
            <a:r>
              <a:rPr lang="en-US" dirty="0"/>
              <a:t> class</a:t>
            </a:r>
          </a:p>
        </p:txBody>
      </p:sp>
      <p:sp>
        <p:nvSpPr>
          <p:cNvPr id="2" name="Content Placeholder 1"/>
          <p:cNvSpPr>
            <a:spLocks noGrp="1"/>
          </p:cNvSpPr>
          <p:nvPr>
            <p:ph idx="1"/>
          </p:nvPr>
        </p:nvSpPr>
        <p:spPr/>
        <p:txBody>
          <a:bodyPr/>
          <a:lstStyle/>
          <a:p>
            <a:pPr lvl="0"/>
            <a:r>
              <a:rPr lang="en-US" dirty="0"/>
              <a:t>Read from the shift register</a:t>
            </a:r>
          </a:p>
          <a:p>
            <a:endParaRPr lang="en-US" dirty="0"/>
          </a:p>
          <a:p>
            <a:endParaRPr lang="en-US" dirty="0"/>
          </a:p>
          <a:p>
            <a:endParaRPr lang="en-US" dirty="0"/>
          </a:p>
          <a:p>
            <a:endParaRPr lang="en-US" dirty="0"/>
          </a:p>
          <a:p>
            <a:pPr lvl="0"/>
            <a:r>
              <a:rPr lang="en-US" dirty="0"/>
              <a:t>Read from and write to the shift register</a:t>
            </a:r>
          </a:p>
          <a:p>
            <a:pPr marL="0" indent="0">
              <a:buNone/>
            </a:pPr>
            <a:endParaRPr lang="en-US" dirty="0"/>
          </a:p>
        </p:txBody>
      </p:sp>
      <p:sp>
        <p:nvSpPr>
          <p:cNvPr id="3" name="Slide Number Placeholder 2"/>
          <p:cNvSpPr>
            <a:spLocks noGrp="1"/>
          </p:cNvSpPr>
          <p:nvPr>
            <p:ph type="sldNum" sz="quarter" idx="10"/>
          </p:nvPr>
        </p:nvSpPr>
        <p:spPr/>
        <p:txBody>
          <a:bodyPr/>
          <a:lstStyle/>
          <a:p>
            <a:pPr defTabSz="914400">
              <a:defRPr/>
            </a:pPr>
            <a:r>
              <a:rPr lang="en-US" dirty="0">
                <a:solidFill>
                  <a:srgbClr val="0C0C0C">
                    <a:tint val="75000"/>
                  </a:srgbClr>
                </a:solidFill>
                <a:latin typeface="Arial"/>
              </a:rPr>
              <a:t>Coding Considerations 23- </a:t>
            </a:r>
            <a:fld id="{060BD193-E118-4B16-863C-C8C12C675E3E}" type="slidenum">
              <a:rPr lang="en-US">
                <a:solidFill>
                  <a:srgbClr val="0C0C0C">
                    <a:tint val="75000"/>
                  </a:srgbClr>
                </a:solidFill>
                <a:latin typeface="Arial"/>
              </a:rPr>
              <a:pPr defTabSz="914400">
                <a:defRPr/>
              </a:pPr>
              <a:t>99</a:t>
            </a:fld>
            <a:endParaRPr lang="en-US" dirty="0">
              <a:solidFill>
                <a:srgbClr val="0C0C0C">
                  <a:tint val="75000"/>
                </a:srgbClr>
              </a:solidFill>
              <a:latin typeface="Arial"/>
            </a:endParaRPr>
          </a:p>
        </p:txBody>
      </p:sp>
      <p:pic>
        <p:nvPicPr>
          <p:cNvPr id="1026"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44664" y="1812992"/>
            <a:ext cx="7771965" cy="1952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 name="Picture 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3713" y="4362450"/>
            <a:ext cx="8377384" cy="209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9803187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Using </a:t>
            </a:r>
            <a:r>
              <a:rPr lang="en-US" dirty="0" err="1"/>
              <a:t>ap_shift_reg</a:t>
            </a:r>
            <a:r>
              <a:rPr lang="en-US" dirty="0"/>
              <a:t> class</a:t>
            </a:r>
          </a:p>
        </p:txBody>
      </p:sp>
      <p:sp>
        <p:nvSpPr>
          <p:cNvPr id="2" name="Content Placeholder 1"/>
          <p:cNvSpPr>
            <a:spLocks noGrp="1"/>
          </p:cNvSpPr>
          <p:nvPr>
            <p:ph idx="1"/>
          </p:nvPr>
        </p:nvSpPr>
        <p:spPr>
          <a:xfrm>
            <a:off x="579121" y="1008488"/>
            <a:ext cx="11033760" cy="4632960"/>
          </a:xfrm>
        </p:spPr>
        <p:txBody>
          <a:bodyPr/>
          <a:lstStyle/>
          <a:p>
            <a:pPr lvl="0"/>
            <a:r>
              <a:rPr lang="en-US" sz="2000" dirty="0"/>
              <a:t>Read from and optionally write to the shift register</a:t>
            </a:r>
          </a:p>
          <a:p>
            <a:pPr lvl="0"/>
            <a:endParaRPr lang="en-US" sz="2000" dirty="0"/>
          </a:p>
          <a:p>
            <a:endParaRPr lang="en-US" sz="2000" dirty="0"/>
          </a:p>
          <a:p>
            <a:endParaRPr lang="en-US" sz="2000" dirty="0"/>
          </a:p>
          <a:p>
            <a:pPr marL="0" indent="0">
              <a:buNone/>
            </a:pPr>
            <a:endParaRPr lang="en-US" sz="2000" dirty="0"/>
          </a:p>
          <a:p>
            <a:pPr lvl="0"/>
            <a:r>
              <a:rPr lang="en-US" sz="2000" dirty="0"/>
              <a:t>Shift only</a:t>
            </a:r>
          </a:p>
          <a:p>
            <a:endParaRPr lang="en-US" sz="2000" dirty="0"/>
          </a:p>
        </p:txBody>
      </p:sp>
      <p:sp>
        <p:nvSpPr>
          <p:cNvPr id="7" name="Slide Number Placeholder 5">
            <a:extLst>
              <a:ext uri="{FF2B5EF4-FFF2-40B4-BE49-F238E27FC236}">
                <a16:creationId xmlns:a16="http://schemas.microsoft.com/office/drawing/2014/main" id="{B1EA8EBA-42A6-4FBA-A3B9-B028D741AC65}"/>
              </a:ext>
            </a:extLst>
          </p:cNvPr>
          <p:cNvSpPr>
            <a:spLocks noGrp="1"/>
          </p:cNvSpPr>
          <p:nvPr>
            <p:ph type="sldNum" sz="quarter" idx="4"/>
          </p:nvPr>
        </p:nvSpPr>
        <p:spPr>
          <a:xfrm>
            <a:off x="579119" y="6325606"/>
            <a:ext cx="2314909" cy="365125"/>
          </a:xfrm>
        </p:spPr>
        <p:txBody>
          <a:bodyPr/>
          <a:lstStyle/>
          <a:p>
            <a:pPr>
              <a:defRPr/>
            </a:pPr>
            <a:r>
              <a:rPr lang="en-US" dirty="0"/>
              <a:t>Coding Considerations 23- </a:t>
            </a:r>
            <a:fld id="{060BD193-E118-4B16-863C-C8C12C675E3E}" type="slidenum">
              <a:rPr lang="en-US" smtClean="0"/>
              <a:pPr>
                <a:defRPr/>
              </a:pPr>
              <a:t>100</a:t>
            </a:fld>
            <a:endParaRPr lang="en-US" dirty="0"/>
          </a:p>
        </p:txBody>
      </p:sp>
      <p:pic>
        <p:nvPicPr>
          <p:cNvPr id="2050"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9561" y="1425005"/>
            <a:ext cx="7267574" cy="2140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1" name="Picture 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9562" y="4152486"/>
            <a:ext cx="8492289"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36780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Using </a:t>
            </a:r>
            <a:r>
              <a:rPr lang="en-US" dirty="0" err="1"/>
              <a:t>ap_shift_reg</a:t>
            </a:r>
            <a:r>
              <a:rPr lang="en-US" dirty="0"/>
              <a:t> class</a:t>
            </a:r>
          </a:p>
        </p:txBody>
      </p:sp>
      <p:sp>
        <p:nvSpPr>
          <p:cNvPr id="2" name="Content Placeholder 1"/>
          <p:cNvSpPr>
            <a:spLocks noGrp="1"/>
          </p:cNvSpPr>
          <p:nvPr>
            <p:ph idx="1"/>
          </p:nvPr>
        </p:nvSpPr>
        <p:spPr>
          <a:xfrm>
            <a:off x="677226" y="1049298"/>
            <a:ext cx="10512862" cy="4759404"/>
          </a:xfrm>
        </p:spPr>
        <p:txBody>
          <a:bodyPr/>
          <a:lstStyle/>
          <a:p>
            <a:pPr lvl="0"/>
            <a:r>
              <a:rPr lang="en-US" dirty="0"/>
              <a:t>Read from and optionally write to the shift register</a:t>
            </a:r>
          </a:p>
          <a:p>
            <a:pPr lvl="0"/>
            <a:endParaRPr lang="en-US" dirty="0"/>
          </a:p>
          <a:p>
            <a:endParaRPr lang="en-US" dirty="0"/>
          </a:p>
          <a:p>
            <a:endParaRPr lang="en-US" dirty="0"/>
          </a:p>
          <a:p>
            <a:endParaRPr lang="en-US" dirty="0"/>
          </a:p>
          <a:p>
            <a:endParaRPr lang="en-US" dirty="0"/>
          </a:p>
          <a:p>
            <a:pPr lvl="0"/>
            <a:r>
              <a:rPr lang="en-US" dirty="0"/>
              <a:t>Shift only</a:t>
            </a:r>
          </a:p>
          <a:p>
            <a:endParaRPr lang="en-US" dirty="0"/>
          </a:p>
        </p:txBody>
      </p:sp>
      <p:sp>
        <p:nvSpPr>
          <p:cNvPr id="3" name="Slide Number Placeholder 2"/>
          <p:cNvSpPr>
            <a:spLocks noGrp="1"/>
          </p:cNvSpPr>
          <p:nvPr>
            <p:ph type="sldNum" sz="quarter" idx="10"/>
          </p:nvPr>
        </p:nvSpPr>
        <p:spPr/>
        <p:txBody>
          <a:bodyPr/>
          <a:lstStyle/>
          <a:p>
            <a:pPr defTabSz="914400">
              <a:defRPr/>
            </a:pPr>
            <a:r>
              <a:rPr lang="en-US" dirty="0">
                <a:solidFill>
                  <a:srgbClr val="0C0C0C">
                    <a:tint val="75000"/>
                  </a:srgbClr>
                </a:solidFill>
                <a:latin typeface="Arial"/>
              </a:rPr>
              <a:t>Coding Considerations 23- </a:t>
            </a:r>
            <a:fld id="{060BD193-E118-4B16-863C-C8C12C675E3E}" type="slidenum">
              <a:rPr lang="en-US">
                <a:solidFill>
                  <a:srgbClr val="0C0C0C">
                    <a:tint val="75000"/>
                  </a:srgbClr>
                </a:solidFill>
                <a:latin typeface="Arial"/>
              </a:rPr>
              <a:pPr defTabSz="914400">
                <a:defRPr/>
              </a:pPr>
              <a:t>101</a:t>
            </a:fld>
            <a:endParaRPr lang="en-US" dirty="0">
              <a:solidFill>
                <a:srgbClr val="0C0C0C">
                  <a:tint val="75000"/>
                </a:srgbClr>
              </a:solidFill>
              <a:latin typeface="Arial"/>
            </a:endParaRPr>
          </a:p>
        </p:txBody>
      </p:sp>
      <p:pic>
        <p:nvPicPr>
          <p:cNvPr id="2050"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9561" y="1425005"/>
            <a:ext cx="7267574" cy="2140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1" name="Picture 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9562" y="4152486"/>
            <a:ext cx="8492289"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9382353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trike="sngStrike" dirty="0"/>
              <a:t>Linear Algebra Library</a:t>
            </a:r>
          </a:p>
        </p:txBody>
      </p:sp>
      <p:sp>
        <p:nvSpPr>
          <p:cNvPr id="2" name="Content Placeholder 1"/>
          <p:cNvSpPr>
            <a:spLocks noGrp="1"/>
          </p:cNvSpPr>
          <p:nvPr>
            <p:ph idx="1"/>
          </p:nvPr>
        </p:nvSpPr>
        <p:spPr/>
        <p:txBody>
          <a:bodyPr/>
          <a:lstStyle/>
          <a:p>
            <a:r>
              <a:rPr lang="en-US" dirty="0"/>
              <a:t>Provides a number of commonly used linear algebra functions</a:t>
            </a:r>
          </a:p>
          <a:p>
            <a:pPr lvl="1"/>
            <a:r>
              <a:rPr lang="en-US" b="0" dirty="0"/>
              <a:t>All functions in this library use two-dimensional arrays to represent matrices</a:t>
            </a:r>
          </a:p>
          <a:p>
            <a:endParaRPr lang="en-US" dirty="0"/>
          </a:p>
        </p:txBody>
      </p:sp>
      <p:sp>
        <p:nvSpPr>
          <p:cNvPr id="3" name="Slide Number Placeholder 2"/>
          <p:cNvSpPr>
            <a:spLocks noGrp="1"/>
          </p:cNvSpPr>
          <p:nvPr>
            <p:ph type="sldNum" sz="quarter" idx="10"/>
          </p:nvPr>
        </p:nvSpPr>
        <p:spPr/>
        <p:txBody>
          <a:bodyPr/>
          <a:lstStyle/>
          <a:p>
            <a:pPr defTabSz="914400">
              <a:defRPr/>
            </a:pPr>
            <a:r>
              <a:rPr lang="en-US" dirty="0">
                <a:solidFill>
                  <a:srgbClr val="0C0C0C">
                    <a:tint val="75000"/>
                  </a:srgbClr>
                </a:solidFill>
                <a:latin typeface="Arial"/>
              </a:rPr>
              <a:t>Coding Considerations 23- </a:t>
            </a:r>
            <a:fld id="{060BD193-E118-4B16-863C-C8C12C675E3E}" type="slidenum">
              <a:rPr lang="en-US">
                <a:solidFill>
                  <a:srgbClr val="0C0C0C">
                    <a:tint val="75000"/>
                  </a:srgbClr>
                </a:solidFill>
                <a:latin typeface="Arial"/>
              </a:rPr>
              <a:pPr defTabSz="914400">
                <a:defRPr/>
              </a:pPr>
              <a:t>102</a:t>
            </a:fld>
            <a:endParaRPr lang="en-US" dirty="0">
              <a:solidFill>
                <a:srgbClr val="0C0C0C">
                  <a:tint val="75000"/>
                </a:srgbClr>
              </a:solidFill>
              <a:latin typeface="Arial"/>
            </a:endParaRPr>
          </a:p>
        </p:txBody>
      </p:sp>
      <p:graphicFrame>
        <p:nvGraphicFramePr>
          <p:cNvPr id="7" name="Table 6">
            <a:extLst>
              <a:ext uri="{FF2B5EF4-FFF2-40B4-BE49-F238E27FC236}">
                <a16:creationId xmlns:a16="http://schemas.microsoft.com/office/drawing/2014/main" id="{4260D123-1F4A-4310-93EF-31A5B60B40B2}"/>
              </a:ext>
            </a:extLst>
          </p:cNvPr>
          <p:cNvGraphicFramePr>
            <a:graphicFrameLocks noGrp="1"/>
          </p:cNvGraphicFramePr>
          <p:nvPr/>
        </p:nvGraphicFramePr>
        <p:xfrm>
          <a:off x="1204106" y="2214541"/>
          <a:ext cx="10257797" cy="4104386"/>
        </p:xfrm>
        <a:graphic>
          <a:graphicData uri="http://schemas.openxmlformats.org/drawingml/2006/table">
            <a:tbl>
              <a:tblPr firstRow="1" firstCol="1" bandRow="1"/>
              <a:tblGrid>
                <a:gridCol w="1751973">
                  <a:extLst>
                    <a:ext uri="{9D8B030D-6E8A-4147-A177-3AD203B41FA5}">
                      <a16:colId xmlns:a16="http://schemas.microsoft.com/office/drawing/2014/main" val="20000"/>
                    </a:ext>
                  </a:extLst>
                </a:gridCol>
                <a:gridCol w="2038350">
                  <a:extLst>
                    <a:ext uri="{9D8B030D-6E8A-4147-A177-3AD203B41FA5}">
                      <a16:colId xmlns:a16="http://schemas.microsoft.com/office/drawing/2014/main" val="20001"/>
                    </a:ext>
                  </a:extLst>
                </a:gridCol>
                <a:gridCol w="6467474">
                  <a:extLst>
                    <a:ext uri="{9D8B030D-6E8A-4147-A177-3AD203B41FA5}">
                      <a16:colId xmlns:a16="http://schemas.microsoft.com/office/drawing/2014/main" val="20002"/>
                    </a:ext>
                  </a:extLst>
                </a:gridCol>
              </a:tblGrid>
              <a:tr h="185599">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600" dirty="0">
                          <a:effectLst/>
                        </a:rPr>
                        <a:t>Functions</a:t>
                      </a:r>
                      <a:endParaRPr lang="en-US" sz="1600" dirty="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600" dirty="0">
                          <a:effectLst/>
                        </a:rPr>
                        <a:t>Data Types</a:t>
                      </a:r>
                      <a:endParaRPr lang="en-US" sz="1600" dirty="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600" dirty="0">
                          <a:effectLst/>
                          <a:latin typeface="Calibri"/>
                          <a:ea typeface="Calibri"/>
                          <a:cs typeface="Times New Roman"/>
                        </a:rPr>
                        <a:t>Description</a:t>
                      </a:r>
                    </a:p>
                  </a:txBody>
                  <a:tcPr marL="88009" marR="88009" marT="0" marB="0">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8CA8"/>
                    </a:solidFill>
                  </a:tcPr>
                </a:tc>
                <a:extLst>
                  <a:ext uri="{0D108BD9-81ED-4DB2-BD59-A6C34878D82A}">
                    <a16:rowId xmlns:a16="http://schemas.microsoft.com/office/drawing/2014/main" val="10000"/>
                  </a:ext>
                </a:extLst>
              </a:tr>
              <a:tr h="185599">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400" b="0" i="0" u="none" strike="noStrike" kern="1200" baseline="0" dirty="0" err="1">
                          <a:solidFill>
                            <a:schemeClr val="lt1"/>
                          </a:solidFill>
                          <a:latin typeface="+mn-lt"/>
                          <a:ea typeface="+mn-ea"/>
                          <a:cs typeface="+mn-cs"/>
                        </a:rPr>
                        <a:t>cholesky</a:t>
                      </a:r>
                      <a:endParaRPr lang="en-US" sz="1000" dirty="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r>
                        <a:rPr lang="en-US" sz="1400" b="0" i="0" u="none" strike="noStrike" kern="1200" baseline="0" dirty="0">
                          <a:solidFill>
                            <a:schemeClr val="dk1"/>
                          </a:solidFill>
                          <a:latin typeface="+mn-lt"/>
                          <a:ea typeface="+mn-ea"/>
                          <a:cs typeface="+mn-cs"/>
                        </a:rPr>
                        <a:t>float</a:t>
                      </a:r>
                    </a:p>
                    <a:p>
                      <a:r>
                        <a:rPr lang="en-US" sz="1400" b="0" i="0" u="none" strike="noStrike" kern="1200" baseline="0" dirty="0" err="1">
                          <a:solidFill>
                            <a:schemeClr val="dk1"/>
                          </a:solidFill>
                          <a:latin typeface="+mn-lt"/>
                          <a:ea typeface="+mn-ea"/>
                          <a:cs typeface="+mn-cs"/>
                        </a:rPr>
                        <a:t>ap_fixed</a:t>
                      </a:r>
                      <a:endParaRPr lang="en-US" sz="1400" b="0" i="0" u="none" strike="noStrike" kern="1200" baseline="0" dirty="0">
                        <a:solidFill>
                          <a:schemeClr val="dk1"/>
                        </a:solidFill>
                        <a:latin typeface="+mn-lt"/>
                        <a:ea typeface="+mn-ea"/>
                        <a:cs typeface="+mn-cs"/>
                      </a:endParaRPr>
                    </a:p>
                    <a:p>
                      <a:r>
                        <a:rPr lang="en-US" sz="1400" b="0" i="0" u="none" strike="noStrike" kern="1200" baseline="0" dirty="0" err="1">
                          <a:solidFill>
                            <a:schemeClr val="dk1"/>
                          </a:solidFill>
                          <a:latin typeface="+mn-lt"/>
                          <a:ea typeface="+mn-ea"/>
                          <a:cs typeface="+mn-cs"/>
                        </a:rPr>
                        <a:t>x_complex</a:t>
                      </a:r>
                      <a:r>
                        <a:rPr lang="en-US" sz="1400" b="0" i="0" u="none" strike="noStrike" kern="1200" baseline="0" dirty="0">
                          <a:solidFill>
                            <a:schemeClr val="dk1"/>
                          </a:solidFill>
                          <a:latin typeface="+mn-lt"/>
                          <a:ea typeface="+mn-ea"/>
                          <a:cs typeface="+mn-cs"/>
                        </a:rPr>
                        <a:t>&lt;float&gt;</a:t>
                      </a:r>
                    </a:p>
                    <a:p>
                      <a:r>
                        <a:rPr lang="en-US" sz="1400" b="0" i="0" u="none" strike="noStrike" kern="1200" baseline="0" dirty="0" err="1">
                          <a:solidFill>
                            <a:schemeClr val="dk1"/>
                          </a:solidFill>
                          <a:latin typeface="+mn-lt"/>
                          <a:ea typeface="+mn-ea"/>
                          <a:cs typeface="+mn-cs"/>
                        </a:rPr>
                        <a:t>x_complex</a:t>
                      </a:r>
                      <a:r>
                        <a:rPr lang="en-US" sz="1400" b="0" i="0" u="none" strike="noStrike" kern="1200" baseline="0" dirty="0">
                          <a:solidFill>
                            <a:schemeClr val="dk1"/>
                          </a:solidFill>
                          <a:latin typeface="+mn-lt"/>
                          <a:ea typeface="+mn-ea"/>
                          <a:cs typeface="+mn-cs"/>
                        </a:rPr>
                        <a:t>&lt;</a:t>
                      </a:r>
                      <a:r>
                        <a:rPr lang="en-US" sz="1400" b="0" i="0" u="none" strike="noStrike" kern="1200" baseline="0" dirty="0" err="1">
                          <a:solidFill>
                            <a:schemeClr val="dk1"/>
                          </a:solidFill>
                          <a:latin typeface="+mn-lt"/>
                          <a:ea typeface="+mn-ea"/>
                          <a:cs typeface="+mn-cs"/>
                        </a:rPr>
                        <a:t>ap_fixed</a:t>
                      </a:r>
                      <a:r>
                        <a:rPr lang="en-US" sz="1400" b="0" i="0" u="none" strike="noStrike" kern="1200" baseline="0" dirty="0">
                          <a:solidFill>
                            <a:schemeClr val="dk1"/>
                          </a:solidFill>
                          <a:latin typeface="+mn-lt"/>
                          <a:ea typeface="+mn-ea"/>
                          <a:cs typeface="+mn-cs"/>
                        </a:rPr>
                        <a:t>&gt;</a:t>
                      </a:r>
                      <a:endParaRPr lang="en-US" sz="1000" dirty="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r>
                        <a:rPr lang="en-US" sz="1400" b="0" i="0" u="none" strike="noStrike" kern="1200" baseline="0" dirty="0">
                          <a:solidFill>
                            <a:schemeClr val="dk1"/>
                          </a:solidFill>
                          <a:latin typeface="+mn-lt"/>
                          <a:ea typeface="+mn-ea"/>
                          <a:cs typeface="+mn-cs"/>
                        </a:rPr>
                        <a:t>Computes the </a:t>
                      </a:r>
                      <a:r>
                        <a:rPr lang="en-US" sz="1400" b="0" i="0" u="none" strike="noStrike" kern="1200" baseline="0" dirty="0" err="1">
                          <a:solidFill>
                            <a:schemeClr val="dk1"/>
                          </a:solidFill>
                          <a:latin typeface="+mn-lt"/>
                          <a:ea typeface="+mn-ea"/>
                          <a:cs typeface="+mn-cs"/>
                        </a:rPr>
                        <a:t>Cholesky</a:t>
                      </a:r>
                      <a:r>
                        <a:rPr lang="en-US" sz="1400" b="0" i="0" u="none" strike="noStrike" kern="1200" baseline="0" dirty="0">
                          <a:solidFill>
                            <a:schemeClr val="dk1"/>
                          </a:solidFill>
                          <a:latin typeface="+mn-lt"/>
                          <a:ea typeface="+mn-ea"/>
                          <a:cs typeface="+mn-cs"/>
                        </a:rPr>
                        <a:t> decomposition of input matrix A, returning matrix L. Matrix L can be upper or lower</a:t>
                      </a:r>
                      <a:r>
                        <a:rPr lang="en-US" sz="1600" b="0" i="0" u="none" strike="noStrike" kern="1200" baseline="0" dirty="0">
                          <a:solidFill>
                            <a:schemeClr val="dk1"/>
                          </a:solidFill>
                          <a:latin typeface="+mn-lt"/>
                          <a:ea typeface="+mn-ea"/>
                          <a:cs typeface="+mn-cs"/>
                        </a:rPr>
                        <a:t> triangular </a:t>
                      </a:r>
                      <a:endParaRPr lang="en-US" sz="1600" dirty="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1"/>
                  </a:ext>
                </a:extLst>
              </a:tr>
              <a:tr h="185599">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400" b="0" i="0" u="none" strike="noStrike" kern="1200" baseline="0" dirty="0" err="1">
                          <a:solidFill>
                            <a:schemeClr val="lt1"/>
                          </a:solidFill>
                          <a:latin typeface="+mn-lt"/>
                          <a:ea typeface="+mn-ea"/>
                          <a:cs typeface="+mn-cs"/>
                        </a:rPr>
                        <a:t>cholesky_inverse</a:t>
                      </a:r>
                      <a:endParaRPr lang="en-US" sz="1000" dirty="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r>
                        <a:rPr lang="en-US" sz="1400" b="0" i="0" u="none" strike="noStrike" kern="1200" baseline="0" dirty="0">
                          <a:solidFill>
                            <a:schemeClr val="dk1"/>
                          </a:solidFill>
                          <a:latin typeface="+mn-lt"/>
                          <a:ea typeface="+mn-ea"/>
                          <a:cs typeface="+mn-cs"/>
                        </a:rPr>
                        <a:t>float</a:t>
                      </a:r>
                    </a:p>
                    <a:p>
                      <a:r>
                        <a:rPr lang="en-US" sz="1400" b="0" i="0" u="none" strike="noStrike" kern="1200" baseline="0" dirty="0" err="1">
                          <a:solidFill>
                            <a:schemeClr val="dk1"/>
                          </a:solidFill>
                          <a:latin typeface="+mn-lt"/>
                          <a:ea typeface="+mn-ea"/>
                          <a:cs typeface="+mn-cs"/>
                        </a:rPr>
                        <a:t>ap_fixed</a:t>
                      </a:r>
                      <a:endParaRPr lang="en-US" sz="1400" b="0" i="0" u="none" strike="noStrike" kern="1200" baseline="0" dirty="0">
                        <a:solidFill>
                          <a:schemeClr val="dk1"/>
                        </a:solidFill>
                        <a:latin typeface="+mn-lt"/>
                        <a:ea typeface="+mn-ea"/>
                        <a:cs typeface="+mn-cs"/>
                      </a:endParaRPr>
                    </a:p>
                    <a:p>
                      <a:r>
                        <a:rPr lang="en-US" sz="1400" b="0" i="0" u="none" strike="noStrike" kern="1200" baseline="0" dirty="0" err="1">
                          <a:solidFill>
                            <a:schemeClr val="dk1"/>
                          </a:solidFill>
                          <a:latin typeface="+mn-lt"/>
                          <a:ea typeface="+mn-ea"/>
                          <a:cs typeface="+mn-cs"/>
                        </a:rPr>
                        <a:t>x_complex</a:t>
                      </a:r>
                      <a:r>
                        <a:rPr lang="en-US" sz="1400" b="0" i="0" u="none" strike="noStrike" kern="1200" baseline="0" dirty="0">
                          <a:solidFill>
                            <a:schemeClr val="dk1"/>
                          </a:solidFill>
                          <a:latin typeface="+mn-lt"/>
                          <a:ea typeface="+mn-ea"/>
                          <a:cs typeface="+mn-cs"/>
                        </a:rPr>
                        <a:t>&lt;float&gt;</a:t>
                      </a:r>
                    </a:p>
                    <a:p>
                      <a:r>
                        <a:rPr lang="en-US" sz="1400" b="0" i="0" u="none" strike="noStrike" kern="1200" baseline="0" dirty="0" err="1">
                          <a:solidFill>
                            <a:schemeClr val="dk1"/>
                          </a:solidFill>
                          <a:latin typeface="+mn-lt"/>
                          <a:ea typeface="+mn-ea"/>
                          <a:cs typeface="+mn-cs"/>
                        </a:rPr>
                        <a:t>x_complex</a:t>
                      </a:r>
                      <a:r>
                        <a:rPr lang="en-US" sz="1400" b="0" i="0" u="none" strike="noStrike" kern="1200" baseline="0" dirty="0">
                          <a:solidFill>
                            <a:schemeClr val="dk1"/>
                          </a:solidFill>
                          <a:latin typeface="+mn-lt"/>
                          <a:ea typeface="+mn-ea"/>
                          <a:cs typeface="+mn-cs"/>
                        </a:rPr>
                        <a:t>&lt;</a:t>
                      </a:r>
                      <a:r>
                        <a:rPr lang="en-US" sz="1400" b="0" i="0" u="none" strike="noStrike" kern="1200" baseline="0" dirty="0" err="1">
                          <a:solidFill>
                            <a:schemeClr val="dk1"/>
                          </a:solidFill>
                          <a:latin typeface="+mn-lt"/>
                          <a:ea typeface="+mn-ea"/>
                          <a:cs typeface="+mn-cs"/>
                        </a:rPr>
                        <a:t>ap_fixed</a:t>
                      </a:r>
                      <a:r>
                        <a:rPr lang="en-US" sz="1400" b="0" i="0" u="none" strike="noStrike" kern="1200" baseline="0" dirty="0">
                          <a:solidFill>
                            <a:schemeClr val="dk1"/>
                          </a:solidFill>
                          <a:latin typeface="+mn-lt"/>
                          <a:ea typeface="+mn-ea"/>
                          <a:cs typeface="+mn-cs"/>
                        </a:rPr>
                        <a:t>&gt;</a:t>
                      </a:r>
                      <a:endParaRPr lang="en-US" sz="1000" dirty="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r>
                        <a:rPr lang="en-US" sz="1400" b="0" i="0" u="none" strike="noStrike" kern="1200" baseline="0" dirty="0">
                          <a:solidFill>
                            <a:schemeClr val="dk1"/>
                          </a:solidFill>
                          <a:latin typeface="+mn-lt"/>
                          <a:ea typeface="+mn-ea"/>
                          <a:cs typeface="+mn-cs"/>
                        </a:rPr>
                        <a:t>Computes the inverse of symmetric positive definite input matrix A by the </a:t>
                      </a:r>
                      <a:r>
                        <a:rPr lang="en-US" sz="1400" b="0" i="0" u="none" strike="noStrike" kern="1200" baseline="0" dirty="0" err="1">
                          <a:solidFill>
                            <a:schemeClr val="dk1"/>
                          </a:solidFill>
                          <a:latin typeface="+mn-lt"/>
                          <a:ea typeface="+mn-ea"/>
                          <a:cs typeface="+mn-cs"/>
                        </a:rPr>
                        <a:t>Cholesky</a:t>
                      </a:r>
                      <a:r>
                        <a:rPr lang="en-US" sz="1400" b="0" i="0" u="none" strike="noStrike" kern="1200" baseline="0" dirty="0">
                          <a:solidFill>
                            <a:schemeClr val="dk1"/>
                          </a:solidFill>
                          <a:latin typeface="+mn-lt"/>
                          <a:ea typeface="+mn-ea"/>
                          <a:cs typeface="+mn-cs"/>
                        </a:rPr>
                        <a:t> decomposition method, producing matrix </a:t>
                      </a:r>
                      <a:r>
                        <a:rPr lang="en-US" sz="1400" b="0" i="0" u="none" strike="noStrike" kern="1200" baseline="0" dirty="0" err="1">
                          <a:solidFill>
                            <a:schemeClr val="dk1"/>
                          </a:solidFill>
                          <a:latin typeface="+mn-lt"/>
                          <a:ea typeface="+mn-ea"/>
                          <a:cs typeface="+mn-cs"/>
                        </a:rPr>
                        <a:t>InverseA</a:t>
                      </a:r>
                      <a:endParaRPr lang="en-US" sz="1000" dirty="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2"/>
                  </a:ext>
                </a:extLst>
              </a:tr>
              <a:tr h="185599">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400" b="0" i="0" u="none" strike="noStrike" kern="1200" baseline="0" dirty="0" err="1">
                          <a:solidFill>
                            <a:schemeClr val="lt1"/>
                          </a:solidFill>
                          <a:latin typeface="+mn-lt"/>
                          <a:ea typeface="+mn-ea"/>
                          <a:cs typeface="+mn-cs"/>
                        </a:rPr>
                        <a:t>matrix_multiply</a:t>
                      </a:r>
                      <a:endParaRPr lang="en-US" sz="1000" dirty="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r>
                        <a:rPr lang="en-US" sz="1400" b="0" i="0" u="none" strike="noStrike" kern="1200" baseline="0" dirty="0">
                          <a:solidFill>
                            <a:schemeClr val="dk1"/>
                          </a:solidFill>
                          <a:latin typeface="+mn-lt"/>
                          <a:ea typeface="+mn-ea"/>
                          <a:cs typeface="+mn-cs"/>
                        </a:rPr>
                        <a:t>float</a:t>
                      </a:r>
                    </a:p>
                    <a:p>
                      <a:r>
                        <a:rPr lang="en-US" sz="1400" b="0" i="0" u="none" strike="noStrike" kern="1200" baseline="0" dirty="0" err="1">
                          <a:solidFill>
                            <a:schemeClr val="dk1"/>
                          </a:solidFill>
                          <a:latin typeface="+mn-lt"/>
                          <a:ea typeface="+mn-ea"/>
                          <a:cs typeface="+mn-cs"/>
                        </a:rPr>
                        <a:t>ap_fixed</a:t>
                      </a:r>
                      <a:endParaRPr lang="en-US" sz="1400" b="0" i="0" u="none" strike="noStrike" kern="1200" baseline="0" dirty="0">
                        <a:solidFill>
                          <a:schemeClr val="dk1"/>
                        </a:solidFill>
                        <a:latin typeface="+mn-lt"/>
                        <a:ea typeface="+mn-ea"/>
                        <a:cs typeface="+mn-cs"/>
                      </a:endParaRPr>
                    </a:p>
                    <a:p>
                      <a:r>
                        <a:rPr lang="en-US" sz="1400" b="0" i="0" u="none" strike="noStrike" kern="1200" baseline="0" dirty="0" err="1">
                          <a:solidFill>
                            <a:schemeClr val="dk1"/>
                          </a:solidFill>
                          <a:latin typeface="+mn-lt"/>
                          <a:ea typeface="+mn-ea"/>
                          <a:cs typeface="+mn-cs"/>
                        </a:rPr>
                        <a:t>x_complex</a:t>
                      </a:r>
                      <a:r>
                        <a:rPr lang="en-US" sz="1400" b="0" i="0" u="none" strike="noStrike" kern="1200" baseline="0" dirty="0">
                          <a:solidFill>
                            <a:schemeClr val="dk1"/>
                          </a:solidFill>
                          <a:latin typeface="+mn-lt"/>
                          <a:ea typeface="+mn-ea"/>
                          <a:cs typeface="+mn-cs"/>
                        </a:rPr>
                        <a:t>&lt;float&gt;</a:t>
                      </a:r>
                    </a:p>
                    <a:p>
                      <a:r>
                        <a:rPr lang="en-US" sz="1400" b="0" i="0" u="none" strike="noStrike" kern="1200" baseline="0" dirty="0" err="1">
                          <a:solidFill>
                            <a:schemeClr val="dk1"/>
                          </a:solidFill>
                          <a:latin typeface="+mn-lt"/>
                          <a:ea typeface="+mn-ea"/>
                          <a:cs typeface="+mn-cs"/>
                        </a:rPr>
                        <a:t>x_complex</a:t>
                      </a:r>
                      <a:r>
                        <a:rPr lang="en-US" sz="1400" b="0" i="0" u="none" strike="noStrike" kern="1200" baseline="0" dirty="0">
                          <a:solidFill>
                            <a:schemeClr val="dk1"/>
                          </a:solidFill>
                          <a:latin typeface="+mn-lt"/>
                          <a:ea typeface="+mn-ea"/>
                          <a:cs typeface="+mn-cs"/>
                        </a:rPr>
                        <a:t>&lt;</a:t>
                      </a:r>
                      <a:r>
                        <a:rPr lang="en-US" sz="1400" b="0" i="0" u="none" strike="noStrike" kern="1200" baseline="0" dirty="0" err="1">
                          <a:solidFill>
                            <a:schemeClr val="dk1"/>
                          </a:solidFill>
                          <a:latin typeface="+mn-lt"/>
                          <a:ea typeface="+mn-ea"/>
                          <a:cs typeface="+mn-cs"/>
                        </a:rPr>
                        <a:t>ap_fixed</a:t>
                      </a:r>
                      <a:r>
                        <a:rPr lang="en-US" sz="1400" b="0" i="0" u="none" strike="noStrike" kern="1200" baseline="0" dirty="0">
                          <a:solidFill>
                            <a:schemeClr val="dk1"/>
                          </a:solidFill>
                          <a:latin typeface="+mn-lt"/>
                          <a:ea typeface="+mn-ea"/>
                          <a:cs typeface="+mn-cs"/>
                        </a:rPr>
                        <a:t>&gt;</a:t>
                      </a:r>
                      <a:endParaRPr lang="en-US" sz="1000" dirty="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r>
                        <a:rPr lang="en-US" sz="1400" b="0" i="0" u="none" strike="noStrike" kern="1200" baseline="0" dirty="0">
                          <a:solidFill>
                            <a:schemeClr val="dk1"/>
                          </a:solidFill>
                          <a:latin typeface="+mn-lt"/>
                          <a:ea typeface="+mn-ea"/>
                          <a:cs typeface="+mn-cs"/>
                        </a:rPr>
                        <a:t>Computes the product of two matrices, returning a third matrix</a:t>
                      </a:r>
                      <a:endParaRPr lang="en-US" sz="800" dirty="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3"/>
                  </a:ext>
                </a:extLst>
              </a:tr>
              <a:tr h="185599">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400" b="0" i="0" u="none" strike="noStrike" kern="1200" baseline="0" dirty="0" err="1">
                          <a:solidFill>
                            <a:schemeClr val="lt1"/>
                          </a:solidFill>
                          <a:latin typeface="+mn-lt"/>
                          <a:ea typeface="+mn-ea"/>
                          <a:cs typeface="+mn-cs"/>
                        </a:rPr>
                        <a:t>qrf</a:t>
                      </a:r>
                      <a:endParaRPr lang="en-US" sz="1400" dirty="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r>
                        <a:rPr lang="en-US" sz="1400" b="0" i="0" u="none" strike="noStrike" kern="1200" baseline="0" dirty="0">
                          <a:solidFill>
                            <a:schemeClr val="dk1"/>
                          </a:solidFill>
                          <a:latin typeface="+mn-lt"/>
                          <a:ea typeface="+mn-ea"/>
                          <a:cs typeface="+mn-cs"/>
                        </a:rPr>
                        <a:t>float</a:t>
                      </a:r>
                    </a:p>
                    <a:p>
                      <a:r>
                        <a:rPr lang="en-US" sz="1400" b="0" i="0" u="none" strike="noStrike" kern="1200" baseline="0" dirty="0" err="1">
                          <a:solidFill>
                            <a:schemeClr val="dk1"/>
                          </a:solidFill>
                          <a:latin typeface="+mn-lt"/>
                          <a:ea typeface="+mn-ea"/>
                          <a:cs typeface="+mn-cs"/>
                        </a:rPr>
                        <a:t>x_complex</a:t>
                      </a:r>
                      <a:r>
                        <a:rPr lang="en-US" sz="1400" b="0" i="0" u="none" strike="noStrike" kern="1200" baseline="0" dirty="0">
                          <a:solidFill>
                            <a:schemeClr val="dk1"/>
                          </a:solidFill>
                          <a:latin typeface="+mn-lt"/>
                          <a:ea typeface="+mn-ea"/>
                          <a:cs typeface="+mn-cs"/>
                        </a:rPr>
                        <a:t>&lt;float&gt;</a:t>
                      </a:r>
                      <a:endParaRPr lang="en-US" sz="1400" dirty="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r>
                        <a:rPr lang="en-US" sz="1400" b="0" i="0" u="none" strike="noStrike" kern="1200" baseline="0" dirty="0">
                          <a:solidFill>
                            <a:schemeClr val="dk1"/>
                          </a:solidFill>
                          <a:latin typeface="+mn-lt"/>
                          <a:ea typeface="+mn-ea"/>
                          <a:cs typeface="+mn-cs"/>
                        </a:rPr>
                        <a:t>Computes the full QR factorization (QR decomposition) of input matrix A, producing orthogonal output matrix Q and upper-triangular matrix R</a:t>
                      </a:r>
                      <a:endParaRPr lang="en-US" sz="1100" dirty="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4"/>
                  </a:ext>
                </a:extLst>
              </a:tr>
              <a:tr h="185599">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400" b="0" i="0" u="none" strike="noStrike" kern="1200" baseline="0" dirty="0" err="1">
                          <a:solidFill>
                            <a:schemeClr val="lt1"/>
                          </a:solidFill>
                          <a:latin typeface="+mn-lt"/>
                          <a:ea typeface="+mn-ea"/>
                          <a:cs typeface="+mn-cs"/>
                        </a:rPr>
                        <a:t>qr_inverse</a:t>
                      </a:r>
                      <a:endParaRPr lang="en-US" sz="1400" dirty="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r>
                        <a:rPr lang="en-US" sz="1400" b="0" i="0" u="none" strike="noStrike" kern="1200" baseline="0" dirty="0">
                          <a:solidFill>
                            <a:schemeClr val="dk1"/>
                          </a:solidFill>
                          <a:latin typeface="+mn-lt"/>
                          <a:ea typeface="+mn-ea"/>
                          <a:cs typeface="+mn-cs"/>
                        </a:rPr>
                        <a:t>float</a:t>
                      </a:r>
                    </a:p>
                    <a:p>
                      <a:r>
                        <a:rPr lang="en-US" sz="1400" b="0" i="0" u="none" strike="noStrike" kern="1200" baseline="0" dirty="0" err="1">
                          <a:solidFill>
                            <a:schemeClr val="dk1"/>
                          </a:solidFill>
                          <a:latin typeface="+mn-lt"/>
                          <a:ea typeface="+mn-ea"/>
                          <a:cs typeface="+mn-cs"/>
                        </a:rPr>
                        <a:t>x_complex</a:t>
                      </a:r>
                      <a:r>
                        <a:rPr lang="en-US" sz="1400" b="0" i="0" u="none" strike="noStrike" kern="1200" baseline="0" dirty="0">
                          <a:solidFill>
                            <a:schemeClr val="dk1"/>
                          </a:solidFill>
                          <a:latin typeface="+mn-lt"/>
                          <a:ea typeface="+mn-ea"/>
                          <a:cs typeface="+mn-cs"/>
                        </a:rPr>
                        <a:t>&lt;float&gt;</a:t>
                      </a:r>
                      <a:endParaRPr lang="en-US" sz="1400" dirty="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r>
                        <a:rPr lang="en-US" sz="1400" b="0" i="0" u="none" strike="noStrike" kern="1200" baseline="0" dirty="0">
                          <a:solidFill>
                            <a:schemeClr val="dk1"/>
                          </a:solidFill>
                          <a:latin typeface="+mn-lt"/>
                          <a:ea typeface="+mn-ea"/>
                          <a:cs typeface="+mn-cs"/>
                        </a:rPr>
                        <a:t>Computes the inverse of input matrix A by the QR factorization method, producing matrix </a:t>
                      </a:r>
                      <a:r>
                        <a:rPr lang="en-US" sz="1400" b="0" i="0" u="none" strike="noStrike" kern="1200" baseline="0" dirty="0" err="1">
                          <a:solidFill>
                            <a:schemeClr val="dk1"/>
                          </a:solidFill>
                          <a:latin typeface="+mn-lt"/>
                          <a:ea typeface="+mn-ea"/>
                          <a:cs typeface="+mn-cs"/>
                        </a:rPr>
                        <a:t>InverseA</a:t>
                      </a:r>
                      <a:endParaRPr lang="en-US" sz="1100" dirty="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40000"/>
                      </a:srgbClr>
                    </a:solidFill>
                  </a:tcPr>
                </a:tc>
                <a:extLst>
                  <a:ext uri="{0D108BD9-81ED-4DB2-BD59-A6C34878D82A}">
                    <a16:rowId xmlns:a16="http://schemas.microsoft.com/office/drawing/2014/main" val="10005"/>
                  </a:ext>
                </a:extLst>
              </a:tr>
              <a:tr h="185599">
                <a:tc>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marL="0" marR="0">
                        <a:lnSpc>
                          <a:spcPct val="115000"/>
                        </a:lnSpc>
                        <a:spcBef>
                          <a:spcPts val="0"/>
                        </a:spcBef>
                        <a:spcAft>
                          <a:spcPts val="0"/>
                        </a:spcAft>
                      </a:pPr>
                      <a:r>
                        <a:rPr lang="en-US" sz="1400" b="0" i="0" u="none" strike="noStrike" kern="1200" baseline="0" dirty="0" err="1">
                          <a:solidFill>
                            <a:schemeClr val="lt1"/>
                          </a:solidFill>
                          <a:latin typeface="+mn-lt"/>
                          <a:ea typeface="+mn-ea"/>
                          <a:cs typeface="+mn-cs"/>
                        </a:rPr>
                        <a:t>svd</a:t>
                      </a:r>
                      <a:endParaRPr lang="en-US" sz="1400" dirty="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r>
                        <a:rPr lang="en-US" sz="1400" b="0" i="0" u="none" strike="noStrike" kern="1200" baseline="0" dirty="0">
                          <a:solidFill>
                            <a:schemeClr val="dk1"/>
                          </a:solidFill>
                          <a:latin typeface="+mn-lt"/>
                          <a:ea typeface="+mn-ea"/>
                          <a:cs typeface="+mn-cs"/>
                        </a:rPr>
                        <a:t>float</a:t>
                      </a:r>
                    </a:p>
                    <a:p>
                      <a:r>
                        <a:rPr lang="en-US" sz="1400" b="0" i="0" u="none" strike="noStrike" kern="1200" baseline="0" dirty="0" err="1">
                          <a:solidFill>
                            <a:schemeClr val="dk1"/>
                          </a:solidFill>
                          <a:latin typeface="+mn-lt"/>
                          <a:ea typeface="+mn-ea"/>
                          <a:cs typeface="+mn-cs"/>
                        </a:rPr>
                        <a:t>x_complex</a:t>
                      </a:r>
                      <a:r>
                        <a:rPr lang="en-US" sz="1400" b="0" i="0" u="none" strike="noStrike" kern="1200" baseline="0" dirty="0">
                          <a:solidFill>
                            <a:schemeClr val="dk1"/>
                          </a:solidFill>
                          <a:latin typeface="+mn-lt"/>
                          <a:ea typeface="+mn-ea"/>
                          <a:cs typeface="+mn-cs"/>
                        </a:rPr>
                        <a:t>&lt;float&gt;</a:t>
                      </a:r>
                      <a:endParaRPr lang="en-US" sz="1400" dirty="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r>
                        <a:rPr lang="en-US" sz="1400" b="0" i="0" u="none" strike="noStrike" kern="1200" baseline="0" dirty="0">
                          <a:solidFill>
                            <a:schemeClr val="dk1"/>
                          </a:solidFill>
                          <a:latin typeface="+mn-lt"/>
                          <a:ea typeface="+mn-ea"/>
                          <a:cs typeface="+mn-cs"/>
                        </a:rPr>
                        <a:t>Computes the singular value decomposition of input matrix A, producing matrices U, S and V</a:t>
                      </a:r>
                      <a:endParaRPr lang="en-US" sz="1400" dirty="0">
                        <a:effectLst/>
                        <a:latin typeface="Calibri"/>
                        <a:ea typeface="Calibri"/>
                        <a:cs typeface="Times New Roman"/>
                      </a:endParaRPr>
                    </a:p>
                  </a:txBody>
                  <a:tcPr marL="88009" marR="88009" marT="0" marB="0">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8CA8">
                        <a:tint val="20000"/>
                      </a:srgbClr>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9551150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2BA28-C6F5-4160-9EB6-5053095ED3C4}"/>
              </a:ext>
            </a:extLst>
          </p:cNvPr>
          <p:cNvSpPr>
            <a:spLocks noGrp="1"/>
          </p:cNvSpPr>
          <p:nvPr>
            <p:ph type="title"/>
          </p:nvPr>
        </p:nvSpPr>
        <p:spPr/>
        <p:txBody>
          <a:bodyPr/>
          <a:lstStyle/>
          <a:p>
            <a:r>
              <a:rPr lang="en-US" altLang="zh-CN" dirty="0"/>
              <a:t>Libraries Support - </a:t>
            </a:r>
            <a:br>
              <a:rPr lang="en-US" altLang="zh-CN" dirty="0"/>
            </a:br>
            <a:r>
              <a:rPr lang="en-US" altLang="zh-CN" dirty="0" err="1"/>
              <a:t>Vitis</a:t>
            </a:r>
            <a:r>
              <a:rPr lang="en-US" altLang="zh-CN" dirty="0"/>
              <a:t> Vision</a:t>
            </a:r>
            <a:endParaRPr lang="zh-CN" altLang="en-US" dirty="0"/>
          </a:p>
        </p:txBody>
      </p:sp>
    </p:spTree>
    <p:extLst>
      <p:ext uri="{BB962C8B-B14F-4D97-AF65-F5344CB8AC3E}">
        <p14:creationId xmlns:p14="http://schemas.microsoft.com/office/powerpoint/2010/main" val="3085781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6E3B15-8AB2-46D0-A1C4-7AE39A67DFAE}"/>
              </a:ext>
            </a:extLst>
          </p:cNvPr>
          <p:cNvSpPr>
            <a:spLocks noGrp="1"/>
          </p:cNvSpPr>
          <p:nvPr>
            <p:ph type="title"/>
          </p:nvPr>
        </p:nvSpPr>
        <p:spPr/>
        <p:txBody>
          <a:bodyPr/>
          <a:lstStyle/>
          <a:p>
            <a:r>
              <a:rPr lang="en-US" b="0" dirty="0"/>
              <a:t>Migrating HLS Video Library to </a:t>
            </a:r>
            <a:r>
              <a:rPr lang="en-US" b="0" dirty="0" err="1"/>
              <a:t>Vitis</a:t>
            </a:r>
            <a:r>
              <a:rPr lang="en-US" b="0" dirty="0"/>
              <a:t> vision</a:t>
            </a:r>
            <a:endParaRPr lang="en-US" dirty="0"/>
          </a:p>
        </p:txBody>
      </p:sp>
      <p:sp>
        <p:nvSpPr>
          <p:cNvPr id="3" name="Content Placeholder 2">
            <a:extLst>
              <a:ext uri="{FF2B5EF4-FFF2-40B4-BE49-F238E27FC236}">
                <a16:creationId xmlns:a16="http://schemas.microsoft.com/office/drawing/2014/main" id="{6C273412-45CB-4F54-B18C-01FF8A5A141F}"/>
              </a:ext>
            </a:extLst>
          </p:cNvPr>
          <p:cNvSpPr>
            <a:spLocks noGrp="1"/>
          </p:cNvSpPr>
          <p:nvPr>
            <p:ph idx="1"/>
          </p:nvPr>
        </p:nvSpPr>
        <p:spPr/>
        <p:txBody>
          <a:bodyPr/>
          <a:lstStyle/>
          <a:p>
            <a:r>
              <a:rPr lang="en-US" dirty="0"/>
              <a:t>The HLS video library has been deprecated.</a:t>
            </a:r>
          </a:p>
          <a:p>
            <a:pPr lvl="1"/>
            <a:r>
              <a:rPr lang="en-US" dirty="0"/>
              <a:t>All the functions and most of the infrastructure available in HLS video library are now available in </a:t>
            </a:r>
            <a:r>
              <a:rPr lang="en-US" dirty="0" err="1"/>
              <a:t>Vitis</a:t>
            </a:r>
            <a:r>
              <a:rPr lang="en-US" dirty="0"/>
              <a:t> vision with their names changed and some modifications. </a:t>
            </a:r>
          </a:p>
          <a:p>
            <a:pPr lvl="1"/>
            <a:r>
              <a:rPr lang="en-US" dirty="0"/>
              <a:t>These HLS video library functions ported to </a:t>
            </a:r>
            <a:r>
              <a:rPr lang="en-US" dirty="0" err="1"/>
              <a:t>Vitis</a:t>
            </a:r>
            <a:r>
              <a:rPr lang="en-US" dirty="0"/>
              <a:t> vision supports build flow also.</a:t>
            </a:r>
          </a:p>
          <a:p>
            <a:r>
              <a:rPr lang="en-US" dirty="0" err="1"/>
              <a:t>Vitis</a:t>
            </a:r>
            <a:r>
              <a:rPr lang="en-US" dirty="0"/>
              <a:t> Vision Library</a:t>
            </a:r>
          </a:p>
          <a:p>
            <a:pPr lvl="1"/>
            <a:r>
              <a:rPr lang="en-US" dirty="0"/>
              <a:t>The </a:t>
            </a:r>
            <a:r>
              <a:rPr lang="en-US" dirty="0" err="1"/>
              <a:t>Vitis</a:t>
            </a:r>
            <a:r>
              <a:rPr lang="en-US" dirty="0"/>
              <a:t> Vision library is a set of 90+ kernels, optimized for Xilinx™ FPGAs, AI Engine™, and SoCs, based on the OpenCV computer vision library. </a:t>
            </a:r>
          </a:p>
          <a:p>
            <a:pPr lvl="1"/>
            <a:r>
              <a:rPr lang="en-US" dirty="0"/>
              <a:t>All the functions under L1 folder of the </a:t>
            </a:r>
            <a:r>
              <a:rPr lang="en-US" dirty="0" err="1"/>
              <a:t>Vitis</a:t>
            </a:r>
            <a:r>
              <a:rPr lang="en-US" dirty="0"/>
              <a:t> Vision library can be built through </a:t>
            </a:r>
            <a:r>
              <a:rPr lang="en-US" dirty="0" err="1"/>
              <a:t>Vitis</a:t>
            </a:r>
            <a:r>
              <a:rPr lang="en-US" dirty="0"/>
              <a:t> HLS flow in the following two modes:</a:t>
            </a:r>
          </a:p>
          <a:p>
            <a:pPr lvl="2"/>
            <a:r>
              <a:rPr lang="fr-FR" dirty="0" err="1"/>
              <a:t>Tcl</a:t>
            </a:r>
            <a:r>
              <a:rPr lang="fr-FR" dirty="0"/>
              <a:t> Script Mode</a:t>
            </a:r>
          </a:p>
          <a:p>
            <a:pPr lvl="2"/>
            <a:r>
              <a:rPr lang="fr-FR" dirty="0"/>
              <a:t>GUI Mode</a:t>
            </a:r>
          </a:p>
          <a:p>
            <a:pPr lvl="1"/>
            <a:r>
              <a:rPr lang="fr-FR" b="0" dirty="0" err="1"/>
              <a:t>Github</a:t>
            </a:r>
            <a:r>
              <a:rPr lang="fr-FR" b="0" dirty="0"/>
              <a:t>:</a:t>
            </a:r>
          </a:p>
          <a:p>
            <a:pPr lvl="2"/>
            <a:r>
              <a:rPr lang="en-US" dirty="0">
                <a:hlinkClick r:id="rId2"/>
              </a:rPr>
              <a:t>https://github.com/Xilinx/Vitis_Libraries/tree/master/vision</a:t>
            </a:r>
            <a:endParaRPr lang="en-US" dirty="0"/>
          </a:p>
          <a:p>
            <a:pPr lvl="2"/>
            <a:endParaRPr lang="en-US" b="0" dirty="0"/>
          </a:p>
        </p:txBody>
      </p:sp>
      <p:sp>
        <p:nvSpPr>
          <p:cNvPr id="4" name="Slide Number Placeholder 3">
            <a:extLst>
              <a:ext uri="{FF2B5EF4-FFF2-40B4-BE49-F238E27FC236}">
                <a16:creationId xmlns:a16="http://schemas.microsoft.com/office/drawing/2014/main" id="{A29DFA67-89FF-4558-8068-38ED64A321E8}"/>
              </a:ext>
            </a:extLst>
          </p:cNvPr>
          <p:cNvSpPr>
            <a:spLocks noGrp="1"/>
          </p:cNvSpPr>
          <p:nvPr>
            <p:ph type="sldNum" sz="quarter" idx="4"/>
          </p:nvPr>
        </p:nvSpPr>
        <p:spPr>
          <a:xfrm>
            <a:off x="579120" y="6325606"/>
            <a:ext cx="2597713" cy="365125"/>
          </a:xfrm>
        </p:spPr>
        <p:txBody>
          <a:bodyPr/>
          <a:lstStyle/>
          <a:p>
            <a:pPr>
              <a:defRPr/>
            </a:pPr>
            <a:r>
              <a:rPr lang="en-US" dirty="0"/>
              <a:t>Coding Considerations 23- </a:t>
            </a:r>
            <a:fld id="{060BD193-E118-4B16-863C-C8C12C675E3E}" type="slidenum">
              <a:rPr lang="en-US" smtClean="0"/>
              <a:pPr>
                <a:defRPr/>
              </a:pPr>
              <a:t>104</a:t>
            </a:fld>
            <a:endParaRPr lang="en-US" dirty="0"/>
          </a:p>
        </p:txBody>
      </p:sp>
    </p:spTree>
    <p:extLst>
      <p:ext uri="{BB962C8B-B14F-4D97-AF65-F5344CB8AC3E}">
        <p14:creationId xmlns:p14="http://schemas.microsoft.com/office/powerpoint/2010/main" val="37841485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346F2-F6E3-4EA9-8794-02AF75A45909}"/>
              </a:ext>
            </a:extLst>
          </p:cNvPr>
          <p:cNvSpPr>
            <a:spLocks noGrp="1"/>
          </p:cNvSpPr>
          <p:nvPr>
            <p:ph type="title"/>
          </p:nvPr>
        </p:nvSpPr>
        <p:spPr/>
        <p:txBody>
          <a:bodyPr/>
          <a:lstStyle/>
          <a:p>
            <a:r>
              <a:rPr lang="en-US" dirty="0"/>
              <a:t>AXI Video Interface Functions</a:t>
            </a:r>
          </a:p>
        </p:txBody>
      </p:sp>
      <p:sp>
        <p:nvSpPr>
          <p:cNvPr id="3" name="Content Placeholder 2">
            <a:extLst>
              <a:ext uri="{FF2B5EF4-FFF2-40B4-BE49-F238E27FC236}">
                <a16:creationId xmlns:a16="http://schemas.microsoft.com/office/drawing/2014/main" id="{FAE33F14-201C-444B-8DF5-CCD90A200772}"/>
              </a:ext>
            </a:extLst>
          </p:cNvPr>
          <p:cNvSpPr>
            <a:spLocks noGrp="1"/>
          </p:cNvSpPr>
          <p:nvPr>
            <p:ph idx="1"/>
          </p:nvPr>
        </p:nvSpPr>
        <p:spPr/>
        <p:txBody>
          <a:bodyPr/>
          <a:lstStyle/>
          <a:p>
            <a:r>
              <a:rPr lang="en-US" dirty="0" err="1"/>
              <a:t>Vitis</a:t>
            </a:r>
            <a:r>
              <a:rPr lang="en-US" dirty="0"/>
              <a:t> vision has functions that will transform the </a:t>
            </a:r>
            <a:r>
              <a:rPr lang="en-US" dirty="0" err="1"/>
              <a:t>xf</a:t>
            </a:r>
            <a:r>
              <a:rPr lang="en-US" dirty="0"/>
              <a:t>::cv::Mat into Xilinx® Video Streaming interface and vice-versa</a:t>
            </a:r>
          </a:p>
          <a:p>
            <a:pPr lvl="1"/>
            <a:r>
              <a:rPr lang="en-US" dirty="0" err="1"/>
              <a:t>xf</a:t>
            </a:r>
            <a:r>
              <a:rPr lang="en-US" dirty="0"/>
              <a:t>::cv::AXIvideo2xfMat() and </a:t>
            </a:r>
            <a:r>
              <a:rPr lang="en-US" dirty="0" err="1"/>
              <a:t>xf</a:t>
            </a:r>
            <a:r>
              <a:rPr lang="en-US" dirty="0"/>
              <a:t>::cv::xfMat2AXIVideo() act as video interfaces to the </a:t>
            </a:r>
            <a:r>
              <a:rPr lang="en-US" dirty="0" err="1"/>
              <a:t>Ips</a:t>
            </a:r>
            <a:endParaRPr lang="en-US" dirty="0"/>
          </a:p>
          <a:p>
            <a:pPr lvl="1"/>
            <a:r>
              <a:rPr lang="en-US" dirty="0"/>
              <a:t>cvMat2AXIvideoxf&lt;NPC&gt; and AXIvideo2cvMatxf&lt;NPC&gt; are used on the host side</a:t>
            </a:r>
          </a:p>
        </p:txBody>
      </p:sp>
      <p:sp>
        <p:nvSpPr>
          <p:cNvPr id="4" name="Slide Number Placeholder 3">
            <a:extLst>
              <a:ext uri="{FF2B5EF4-FFF2-40B4-BE49-F238E27FC236}">
                <a16:creationId xmlns:a16="http://schemas.microsoft.com/office/drawing/2014/main" id="{AD2EB1C7-707B-46E9-A395-182856754A26}"/>
              </a:ext>
            </a:extLst>
          </p:cNvPr>
          <p:cNvSpPr>
            <a:spLocks noGrp="1"/>
          </p:cNvSpPr>
          <p:nvPr>
            <p:ph type="sldNum" sz="quarter" idx="4"/>
          </p:nvPr>
        </p:nvSpPr>
        <p:spPr>
          <a:xfrm>
            <a:off x="579120" y="6325606"/>
            <a:ext cx="2456311" cy="365125"/>
          </a:xfrm>
        </p:spPr>
        <p:txBody>
          <a:bodyPr/>
          <a:lstStyle/>
          <a:p>
            <a:pPr>
              <a:defRPr/>
            </a:pPr>
            <a:r>
              <a:rPr lang="en-US" dirty="0"/>
              <a:t>Coding Considerations 23- </a:t>
            </a:r>
            <a:fld id="{060BD193-E118-4B16-863C-C8C12C675E3E}" type="slidenum">
              <a:rPr lang="en-US" smtClean="0"/>
              <a:pPr>
                <a:defRPr/>
              </a:pPr>
              <a:t>105</a:t>
            </a:fld>
            <a:endParaRPr lang="en-US" dirty="0"/>
          </a:p>
        </p:txBody>
      </p:sp>
      <p:graphicFrame>
        <p:nvGraphicFramePr>
          <p:cNvPr id="7" name="Table 6">
            <a:extLst>
              <a:ext uri="{FF2B5EF4-FFF2-40B4-BE49-F238E27FC236}">
                <a16:creationId xmlns:a16="http://schemas.microsoft.com/office/drawing/2014/main" id="{8A73F5B4-DF26-4FB1-B604-A793C1020DF4}"/>
              </a:ext>
            </a:extLst>
          </p:cNvPr>
          <p:cNvGraphicFramePr>
            <a:graphicFrameLocks noGrp="1"/>
          </p:cNvGraphicFramePr>
          <p:nvPr>
            <p:extLst>
              <p:ext uri="{D42A27DB-BD31-4B8C-83A1-F6EECF244321}">
                <p14:modId xmlns:p14="http://schemas.microsoft.com/office/powerpoint/2010/main" val="1190011368"/>
              </p:ext>
            </p:extLst>
          </p:nvPr>
        </p:nvGraphicFramePr>
        <p:xfrm>
          <a:off x="839788" y="3194765"/>
          <a:ext cx="10515600" cy="2682240"/>
        </p:xfrm>
        <a:graphic>
          <a:graphicData uri="http://schemas.openxmlformats.org/drawingml/2006/table">
            <a:tbl>
              <a:tblPr firstRow="1" bandRow="1">
                <a:tableStyleId>{D27102A9-8310-4765-A935-A1911B00CA55}</a:tableStyleId>
              </a:tblPr>
              <a:tblGrid>
                <a:gridCol w="5257800">
                  <a:extLst>
                    <a:ext uri="{9D8B030D-6E8A-4147-A177-3AD203B41FA5}">
                      <a16:colId xmlns:a16="http://schemas.microsoft.com/office/drawing/2014/main" val="589210413"/>
                    </a:ext>
                  </a:extLst>
                </a:gridCol>
                <a:gridCol w="5257800">
                  <a:extLst>
                    <a:ext uri="{9D8B030D-6E8A-4147-A177-3AD203B41FA5}">
                      <a16:colId xmlns:a16="http://schemas.microsoft.com/office/drawing/2014/main" val="1195264950"/>
                    </a:ext>
                  </a:extLst>
                </a:gridCol>
              </a:tblGrid>
              <a:tr h="310517">
                <a:tc>
                  <a:txBody>
                    <a:bodyPr/>
                    <a:lstStyle/>
                    <a:p>
                      <a:pPr marL="0" algn="l" defTabSz="914445" rtl="0" eaLnBrk="1" fontAlgn="ctr" latinLnBrk="0" hangingPunct="1"/>
                      <a:r>
                        <a:rPr lang="en-US" sz="1400" kern="1200" dirty="0"/>
                        <a:t>Video Library Function</a:t>
                      </a:r>
                      <a:endParaRPr lang="en-US" sz="1400" b="1" kern="1200" dirty="0">
                        <a:solidFill>
                          <a:schemeClr val="tx1"/>
                        </a:solidFill>
                        <a:latin typeface="+mn-lt"/>
                        <a:ea typeface="+mn-ea"/>
                        <a:cs typeface="+mn-cs"/>
                      </a:endParaRPr>
                    </a:p>
                  </a:txBody>
                  <a:tcPr marL="152400" marR="152400" marT="76200" marB="76200" anchor="ctr"/>
                </a:tc>
                <a:tc>
                  <a:txBody>
                    <a:bodyPr/>
                    <a:lstStyle/>
                    <a:p>
                      <a:pPr marL="0" algn="l" defTabSz="914445" rtl="0" eaLnBrk="1" fontAlgn="ctr" latinLnBrk="0" hangingPunct="1"/>
                      <a:r>
                        <a:rPr lang="en-US" sz="1400" kern="1200"/>
                        <a:t>Description</a:t>
                      </a:r>
                      <a:endParaRPr lang="en-US" sz="1400" b="1" kern="1200">
                        <a:solidFill>
                          <a:schemeClr val="tx1"/>
                        </a:solidFill>
                        <a:latin typeface="+mn-lt"/>
                        <a:ea typeface="+mn-ea"/>
                        <a:cs typeface="+mn-cs"/>
                      </a:endParaRPr>
                    </a:p>
                  </a:txBody>
                  <a:tcPr marL="152400" marR="152400" marT="76200" marB="76200" anchor="ctr"/>
                </a:tc>
                <a:extLst>
                  <a:ext uri="{0D108BD9-81ED-4DB2-BD59-A6C34878D82A}">
                    <a16:rowId xmlns:a16="http://schemas.microsoft.com/office/drawing/2014/main" val="154648736"/>
                  </a:ext>
                </a:extLst>
              </a:tr>
              <a:tr h="491651">
                <a:tc>
                  <a:txBody>
                    <a:bodyPr/>
                    <a:lstStyle/>
                    <a:p>
                      <a:pPr marL="0" algn="l" defTabSz="914445" rtl="0" eaLnBrk="1" fontAlgn="ctr" latinLnBrk="0" hangingPunct="1"/>
                      <a:r>
                        <a:rPr lang="en-US" sz="1400" kern="1200" dirty="0"/>
                        <a:t>AXIvideo2xfMat</a:t>
                      </a:r>
                      <a:endParaRPr lang="en-US" sz="1400" b="1" kern="1200" dirty="0">
                        <a:solidFill>
                          <a:schemeClr val="tx1"/>
                        </a:solidFill>
                        <a:latin typeface="+mn-lt"/>
                        <a:ea typeface="+mn-ea"/>
                        <a:cs typeface="+mn-cs"/>
                      </a:endParaRPr>
                    </a:p>
                  </a:txBody>
                  <a:tcPr marL="152400" marR="152400" marT="76200" marB="76200" anchor="ctr"/>
                </a:tc>
                <a:tc>
                  <a:txBody>
                    <a:bodyPr/>
                    <a:lstStyle/>
                    <a:p>
                      <a:pPr marL="0" algn="l" defTabSz="914445" rtl="0" eaLnBrk="1" fontAlgn="ctr" latinLnBrk="0" hangingPunct="1"/>
                      <a:r>
                        <a:rPr lang="en-US" sz="1400" kern="1200"/>
                        <a:t>Converts data from an AXI4 video stream representation to xf::cv::Mat format.</a:t>
                      </a:r>
                      <a:endParaRPr lang="en-US" sz="1400" b="1" kern="1200">
                        <a:solidFill>
                          <a:schemeClr val="tx1"/>
                        </a:solidFill>
                        <a:latin typeface="+mn-lt"/>
                        <a:ea typeface="+mn-ea"/>
                        <a:cs typeface="+mn-cs"/>
                      </a:endParaRPr>
                    </a:p>
                  </a:txBody>
                  <a:tcPr marL="152400" marR="152400" marT="76200" marB="76200" anchor="ctr"/>
                </a:tc>
                <a:extLst>
                  <a:ext uri="{0D108BD9-81ED-4DB2-BD59-A6C34878D82A}">
                    <a16:rowId xmlns:a16="http://schemas.microsoft.com/office/drawing/2014/main" val="4200361066"/>
                  </a:ext>
                </a:extLst>
              </a:tr>
              <a:tr h="491651">
                <a:tc>
                  <a:txBody>
                    <a:bodyPr/>
                    <a:lstStyle/>
                    <a:p>
                      <a:pPr marL="0" algn="l" defTabSz="914445" rtl="0" eaLnBrk="1" fontAlgn="ctr" latinLnBrk="0" hangingPunct="1"/>
                      <a:r>
                        <a:rPr lang="en-US" sz="1400" kern="1200" dirty="0"/>
                        <a:t>xfMat2AXIvideo</a:t>
                      </a:r>
                      <a:endParaRPr lang="en-US" sz="1400" b="1" kern="1200" dirty="0">
                        <a:solidFill>
                          <a:schemeClr val="tx1"/>
                        </a:solidFill>
                        <a:latin typeface="+mn-lt"/>
                        <a:ea typeface="+mn-ea"/>
                        <a:cs typeface="+mn-cs"/>
                      </a:endParaRPr>
                    </a:p>
                  </a:txBody>
                  <a:tcPr marL="152400" marR="152400" marT="76200" marB="76200" anchor="ctr"/>
                </a:tc>
                <a:tc>
                  <a:txBody>
                    <a:bodyPr/>
                    <a:lstStyle/>
                    <a:p>
                      <a:pPr marL="0" algn="l" defTabSz="914445" rtl="0" eaLnBrk="1" fontAlgn="ctr" latinLnBrk="0" hangingPunct="1"/>
                      <a:r>
                        <a:rPr lang="en-US" sz="1400" kern="1200"/>
                        <a:t>Converts data stored as xf::cv::Mat format to an AXI4 video stream.</a:t>
                      </a:r>
                      <a:endParaRPr lang="en-US" sz="1400" b="1" kern="1200">
                        <a:solidFill>
                          <a:schemeClr val="tx1"/>
                        </a:solidFill>
                        <a:latin typeface="+mn-lt"/>
                        <a:ea typeface="+mn-ea"/>
                        <a:cs typeface="+mn-cs"/>
                      </a:endParaRPr>
                    </a:p>
                  </a:txBody>
                  <a:tcPr marL="152400" marR="152400" marT="76200" marB="76200" anchor="ctr"/>
                </a:tc>
                <a:extLst>
                  <a:ext uri="{0D108BD9-81ED-4DB2-BD59-A6C34878D82A}">
                    <a16:rowId xmlns:a16="http://schemas.microsoft.com/office/drawing/2014/main" val="4165366739"/>
                  </a:ext>
                </a:extLst>
              </a:tr>
              <a:tr h="491651">
                <a:tc>
                  <a:txBody>
                    <a:bodyPr/>
                    <a:lstStyle/>
                    <a:p>
                      <a:pPr marL="0" algn="l" defTabSz="914445" rtl="0" eaLnBrk="1" fontAlgn="ctr" latinLnBrk="0" hangingPunct="1"/>
                      <a:r>
                        <a:rPr lang="en-US" sz="1400" kern="1200" dirty="0"/>
                        <a:t>cvMat2AXIvideoxf</a:t>
                      </a:r>
                      <a:endParaRPr lang="en-US" sz="1400" b="1" kern="1200" dirty="0">
                        <a:solidFill>
                          <a:schemeClr val="tx1"/>
                        </a:solidFill>
                        <a:latin typeface="+mn-lt"/>
                        <a:ea typeface="+mn-ea"/>
                        <a:cs typeface="+mn-cs"/>
                      </a:endParaRPr>
                    </a:p>
                  </a:txBody>
                  <a:tcPr marL="152400" marR="152400" marT="76200" marB="76200" anchor="ctr"/>
                </a:tc>
                <a:tc>
                  <a:txBody>
                    <a:bodyPr/>
                    <a:lstStyle/>
                    <a:p>
                      <a:pPr marL="0" algn="l" defTabSz="914445" rtl="0" eaLnBrk="1" fontAlgn="ctr" latinLnBrk="0" hangingPunct="1"/>
                      <a:r>
                        <a:rPr lang="en-US" sz="1400" kern="1200" dirty="0"/>
                        <a:t>Converts data stored as cv::Mat format to an AXI4 video stream</a:t>
                      </a:r>
                      <a:endParaRPr lang="en-US" sz="1400" b="1" kern="1200" dirty="0">
                        <a:solidFill>
                          <a:schemeClr val="tx1"/>
                        </a:solidFill>
                        <a:latin typeface="+mn-lt"/>
                        <a:ea typeface="+mn-ea"/>
                        <a:cs typeface="+mn-cs"/>
                      </a:endParaRPr>
                    </a:p>
                  </a:txBody>
                  <a:tcPr marL="152400" marR="152400" marT="76200" marB="76200" anchor="ctr"/>
                </a:tc>
                <a:extLst>
                  <a:ext uri="{0D108BD9-81ED-4DB2-BD59-A6C34878D82A}">
                    <a16:rowId xmlns:a16="http://schemas.microsoft.com/office/drawing/2014/main" val="3809510690"/>
                  </a:ext>
                </a:extLst>
              </a:tr>
              <a:tr h="491651">
                <a:tc>
                  <a:txBody>
                    <a:bodyPr/>
                    <a:lstStyle/>
                    <a:p>
                      <a:pPr marL="0" algn="l" defTabSz="914445" rtl="0" eaLnBrk="1" fontAlgn="ctr" latinLnBrk="0" hangingPunct="1"/>
                      <a:r>
                        <a:rPr lang="en-US" sz="1400" kern="1200" dirty="0"/>
                        <a:t>AXIvideo2cvMatxf</a:t>
                      </a:r>
                      <a:endParaRPr lang="en-US" sz="1400" b="1" kern="1200" dirty="0">
                        <a:solidFill>
                          <a:schemeClr val="tx1"/>
                        </a:solidFill>
                        <a:latin typeface="+mn-lt"/>
                        <a:ea typeface="+mn-ea"/>
                        <a:cs typeface="+mn-cs"/>
                      </a:endParaRPr>
                    </a:p>
                  </a:txBody>
                  <a:tcPr marL="152400" marR="152400" marT="76200" marB="76200" anchor="ctr"/>
                </a:tc>
                <a:tc>
                  <a:txBody>
                    <a:bodyPr/>
                    <a:lstStyle/>
                    <a:p>
                      <a:pPr marL="0" algn="l" defTabSz="914445" rtl="0" eaLnBrk="1" fontAlgn="ctr" latinLnBrk="0" hangingPunct="1"/>
                      <a:r>
                        <a:rPr lang="en-US" sz="1400" kern="1200" dirty="0"/>
                        <a:t>Converts data from an AXI4 video stream representation to cv::Mat format.</a:t>
                      </a:r>
                      <a:endParaRPr lang="en-US" sz="1400" b="1" kern="1200" dirty="0">
                        <a:solidFill>
                          <a:schemeClr val="tx1"/>
                        </a:solidFill>
                        <a:latin typeface="+mn-lt"/>
                        <a:ea typeface="+mn-ea"/>
                        <a:cs typeface="+mn-cs"/>
                      </a:endParaRPr>
                    </a:p>
                  </a:txBody>
                  <a:tcPr marL="152400" marR="152400" marT="76200" marB="76200" anchor="ctr"/>
                </a:tc>
                <a:extLst>
                  <a:ext uri="{0D108BD9-81ED-4DB2-BD59-A6C34878D82A}">
                    <a16:rowId xmlns:a16="http://schemas.microsoft.com/office/drawing/2014/main" val="2215413344"/>
                  </a:ext>
                </a:extLst>
              </a:tr>
            </a:tbl>
          </a:graphicData>
        </a:graphic>
      </p:graphicFrame>
    </p:spTree>
    <p:extLst>
      <p:ext uri="{BB962C8B-B14F-4D97-AF65-F5344CB8AC3E}">
        <p14:creationId xmlns:p14="http://schemas.microsoft.com/office/powerpoint/2010/main" val="2927635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trike="sngStrike" dirty="0"/>
              <a:t>Video Libraries Supported in </a:t>
            </a:r>
            <a:r>
              <a:rPr lang="en-US" strike="sngStrike" dirty="0" err="1">
                <a:highlight>
                  <a:srgbClr val="FFFF00"/>
                </a:highlight>
              </a:rPr>
              <a:t>Vitis</a:t>
            </a:r>
            <a:r>
              <a:rPr lang="en-US" strike="sngStrike" dirty="0"/>
              <a:t> HLS</a:t>
            </a:r>
          </a:p>
        </p:txBody>
      </p:sp>
      <p:sp>
        <p:nvSpPr>
          <p:cNvPr id="2" name="Content Placeholder 1"/>
          <p:cNvSpPr>
            <a:spLocks noGrp="1"/>
          </p:cNvSpPr>
          <p:nvPr>
            <p:ph idx="1"/>
          </p:nvPr>
        </p:nvSpPr>
        <p:spPr/>
        <p:txBody>
          <a:bodyPr/>
          <a:lstStyle/>
          <a:p>
            <a:pPr lvl="0"/>
            <a:r>
              <a:rPr lang="en-US" dirty="0"/>
              <a:t>C video libraries</a:t>
            </a:r>
          </a:p>
          <a:p>
            <a:pPr lvl="1"/>
            <a:r>
              <a:rPr lang="en-US" dirty="0"/>
              <a:t>Available within </a:t>
            </a:r>
            <a:r>
              <a:rPr lang="en-US" dirty="0" err="1">
                <a:highlight>
                  <a:srgbClr val="FFFF00"/>
                </a:highlight>
              </a:rPr>
              <a:t>Vitis</a:t>
            </a:r>
            <a:r>
              <a:rPr lang="en-US" dirty="0"/>
              <a:t> HLS tool header files</a:t>
            </a:r>
          </a:p>
          <a:p>
            <a:pPr lvl="2"/>
            <a:r>
              <a:rPr lang="en-US" i="1" strike="sngStrike" dirty="0"/>
              <a:t>hls_video.h</a:t>
            </a:r>
            <a:r>
              <a:rPr lang="en-US" strike="sngStrike" dirty="0"/>
              <a:t> library</a:t>
            </a:r>
          </a:p>
          <a:p>
            <a:pPr lvl="2"/>
            <a:r>
              <a:rPr lang="en-US" i="1" strike="sngStrike" dirty="0"/>
              <a:t>hls_opencv.h</a:t>
            </a:r>
            <a:r>
              <a:rPr lang="en-US" strike="sngStrike" dirty="0"/>
              <a:t> library</a:t>
            </a:r>
          </a:p>
          <a:p>
            <a:pPr lvl="0"/>
            <a:r>
              <a:rPr lang="en-US" dirty="0"/>
              <a:t>Enable migration of OpenCV designs for use with the </a:t>
            </a:r>
            <a:r>
              <a:rPr lang="en-US" dirty="0" err="1">
                <a:highlight>
                  <a:srgbClr val="FFFF00"/>
                </a:highlight>
              </a:rPr>
              <a:t>Vitis</a:t>
            </a:r>
            <a:r>
              <a:rPr lang="en-US" dirty="0"/>
              <a:t> HLS tool</a:t>
            </a:r>
          </a:p>
          <a:p>
            <a:pPr lvl="0"/>
            <a:r>
              <a:rPr lang="en-US" strike="sngStrike" dirty="0"/>
              <a:t>HLS </a:t>
            </a:r>
            <a:r>
              <a:rPr lang="en-US" strike="sngStrike" dirty="0" err="1"/>
              <a:t>video</a:t>
            </a:r>
            <a:r>
              <a:rPr lang="en-US" altLang="zh-CN" dirty="0" err="1">
                <a:highlight>
                  <a:srgbClr val="FFFF00"/>
                </a:highlight>
              </a:rPr>
              <a:t>Vitis</a:t>
            </a:r>
            <a:r>
              <a:rPr lang="en-US" altLang="zh-CN" dirty="0">
                <a:highlight>
                  <a:srgbClr val="FFFF00"/>
                </a:highlight>
              </a:rPr>
              <a:t> Vision </a:t>
            </a:r>
            <a:r>
              <a:rPr lang="en-US" dirty="0"/>
              <a:t>library is intended to replace many basic OpenCV functions</a:t>
            </a:r>
          </a:p>
          <a:p>
            <a:pPr lvl="1"/>
            <a:r>
              <a:rPr lang="en-US" dirty="0"/>
              <a:t>Similar interfaces and algorithms to OpenCV</a:t>
            </a:r>
          </a:p>
          <a:p>
            <a:pPr lvl="1"/>
            <a:r>
              <a:rPr lang="en-US" dirty="0"/>
              <a:t>Focus on image processing functions implemented in FPGA fabric such as full HD video processing</a:t>
            </a:r>
          </a:p>
          <a:p>
            <a:pPr lvl="1"/>
            <a:r>
              <a:rPr lang="en-US" dirty="0"/>
              <a:t>Includes FPGA-specific optimizations</a:t>
            </a:r>
          </a:p>
          <a:p>
            <a:pPr lvl="2"/>
            <a:r>
              <a:rPr lang="en-US" dirty="0"/>
              <a:t>Fixed-point operations instead of floating point</a:t>
            </a:r>
          </a:p>
          <a:p>
            <a:pPr lvl="2"/>
            <a:r>
              <a:rPr lang="en-US" dirty="0"/>
              <a:t>On-chip line buffers and window buffers</a:t>
            </a:r>
          </a:p>
          <a:p>
            <a:pPr lvl="1"/>
            <a:r>
              <a:rPr lang="en-US" dirty="0"/>
              <a:t>Not necessarily bit-accurate</a:t>
            </a:r>
          </a:p>
          <a:p>
            <a:pPr lvl="1"/>
            <a:r>
              <a:rPr lang="en-US" dirty="0"/>
              <a:t>Libraries support standard AXI4 interfaces for easy system integration</a:t>
            </a:r>
          </a:p>
          <a:p>
            <a:endParaRPr lang="en-US" dirty="0"/>
          </a:p>
        </p:txBody>
      </p:sp>
      <p:sp>
        <p:nvSpPr>
          <p:cNvPr id="3" name="Slide Number Placeholder 2"/>
          <p:cNvSpPr>
            <a:spLocks noGrp="1"/>
          </p:cNvSpPr>
          <p:nvPr>
            <p:ph type="sldNum" sz="quarter" idx="10"/>
          </p:nvPr>
        </p:nvSpPr>
        <p:spPr/>
        <p:txBody>
          <a:bodyPr/>
          <a:lstStyle/>
          <a:p>
            <a:pPr defTabSz="914400">
              <a:defRPr/>
            </a:pPr>
            <a:r>
              <a:rPr lang="en-US" dirty="0">
                <a:solidFill>
                  <a:srgbClr val="0C0C0C">
                    <a:tint val="75000"/>
                  </a:srgbClr>
                </a:solidFill>
                <a:latin typeface="Arial"/>
              </a:rPr>
              <a:t>Coding Considerations 23- </a:t>
            </a:r>
            <a:fld id="{060BD193-E118-4B16-863C-C8C12C675E3E}" type="slidenum">
              <a:rPr lang="en-US">
                <a:solidFill>
                  <a:srgbClr val="0C0C0C">
                    <a:tint val="75000"/>
                  </a:srgbClr>
                </a:solidFill>
                <a:latin typeface="Arial"/>
              </a:rPr>
              <a:pPr defTabSz="914400">
                <a:defRPr/>
              </a:pPr>
              <a:t>106</a:t>
            </a:fld>
            <a:endParaRPr lang="en-US" dirty="0">
              <a:solidFill>
                <a:srgbClr val="0C0C0C">
                  <a:tint val="75000"/>
                </a:srgbClr>
              </a:solidFill>
              <a:latin typeface="Arial"/>
            </a:endParaRPr>
          </a:p>
        </p:txBody>
      </p:sp>
    </p:spTree>
    <p:extLst>
      <p:ext uri="{BB962C8B-B14F-4D97-AF65-F5344CB8AC3E}">
        <p14:creationId xmlns:p14="http://schemas.microsoft.com/office/powerpoint/2010/main" val="170184903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trike="sngStrike" dirty="0"/>
              <a:t>Video Library Functions</a:t>
            </a:r>
          </a:p>
        </p:txBody>
      </p:sp>
      <p:sp>
        <p:nvSpPr>
          <p:cNvPr id="2" name="Content Placeholder 1"/>
          <p:cNvSpPr>
            <a:spLocks noGrp="1"/>
          </p:cNvSpPr>
          <p:nvPr>
            <p:ph idx="1"/>
          </p:nvPr>
        </p:nvSpPr>
        <p:spPr/>
        <p:txBody>
          <a:bodyPr/>
          <a:lstStyle/>
          <a:p>
            <a:pPr lvl="0"/>
            <a:r>
              <a:rPr lang="en-US" dirty="0"/>
              <a:t>C++ code contained in hls namespace: #include “hls_video.h”</a:t>
            </a:r>
          </a:p>
          <a:p>
            <a:pPr lvl="0"/>
            <a:r>
              <a:rPr lang="en-US" dirty="0"/>
              <a:t>Similar interface; equivalent behavior with OpenCV</a:t>
            </a:r>
          </a:p>
          <a:p>
            <a:pPr lvl="1"/>
            <a:r>
              <a:rPr lang="en-US" dirty="0"/>
              <a:t>OpenCV library: cvScale(src, dst, scale, shift);</a:t>
            </a:r>
          </a:p>
          <a:p>
            <a:pPr lvl="1"/>
            <a:r>
              <a:rPr lang="en-US" dirty="0"/>
              <a:t>HLS video library: hls::Scale&lt;...&gt;(src, dst, scale, shift);</a:t>
            </a:r>
          </a:p>
          <a:p>
            <a:pPr lvl="0"/>
            <a:r>
              <a:rPr lang="en-US" dirty="0"/>
              <a:t>Some constructor arguments have corresponding or replacement template parameters</a:t>
            </a:r>
          </a:p>
          <a:p>
            <a:pPr lvl="1"/>
            <a:r>
              <a:rPr lang="en-US" dirty="0"/>
              <a:t>OpenCV library: cv::Mat mat(rows, cols, CV_8UC3);</a:t>
            </a:r>
          </a:p>
          <a:p>
            <a:pPr lvl="1"/>
            <a:r>
              <a:rPr lang="en-US" dirty="0"/>
              <a:t>HLS video library: hls::Mat&lt;ROWS, COLS, HLS_8UC3&gt; mat(rows, cols);</a:t>
            </a:r>
          </a:p>
          <a:p>
            <a:pPr lvl="2"/>
            <a:r>
              <a:rPr lang="en-US" dirty="0"/>
              <a:t>ROWS and COLS specify the maximum size of an image processed</a:t>
            </a:r>
          </a:p>
          <a:p>
            <a:endParaRPr lang="en-US" dirty="0"/>
          </a:p>
        </p:txBody>
      </p:sp>
      <p:sp>
        <p:nvSpPr>
          <p:cNvPr id="3" name="Slide Number Placeholder 2"/>
          <p:cNvSpPr>
            <a:spLocks noGrp="1"/>
          </p:cNvSpPr>
          <p:nvPr>
            <p:ph type="sldNum" sz="quarter" idx="10"/>
          </p:nvPr>
        </p:nvSpPr>
        <p:spPr/>
        <p:txBody>
          <a:bodyPr/>
          <a:lstStyle/>
          <a:p>
            <a:pPr defTabSz="914400">
              <a:defRPr/>
            </a:pPr>
            <a:r>
              <a:rPr lang="en-US">
                <a:solidFill>
                  <a:srgbClr val="0C0C0C">
                    <a:tint val="75000"/>
                  </a:srgbClr>
                </a:solidFill>
                <a:latin typeface="Arial"/>
              </a:rPr>
              <a:t>Coding Considerations 23- </a:t>
            </a:r>
            <a:fld id="{060BD193-E118-4B16-863C-C8C12C675E3E}" type="slidenum">
              <a:rPr lang="en-US">
                <a:solidFill>
                  <a:srgbClr val="0C0C0C">
                    <a:tint val="75000"/>
                  </a:srgbClr>
                </a:solidFill>
                <a:latin typeface="Arial"/>
              </a:rPr>
              <a:pPr defTabSz="914400">
                <a:defRPr/>
              </a:pPr>
              <a:t>107</a:t>
            </a:fld>
            <a:endParaRPr lang="en-US" dirty="0">
              <a:solidFill>
                <a:srgbClr val="0C0C0C">
                  <a:tint val="75000"/>
                </a:srgbClr>
              </a:solidFill>
              <a:latin typeface="Arial"/>
            </a:endParaRPr>
          </a:p>
        </p:txBody>
      </p:sp>
    </p:spTree>
    <p:extLst>
      <p:ext uri="{BB962C8B-B14F-4D97-AF65-F5344CB8AC3E}">
        <p14:creationId xmlns:p14="http://schemas.microsoft.com/office/powerpoint/2010/main" val="75033141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Video Library Supported Functions</a:t>
            </a:r>
          </a:p>
        </p:txBody>
      </p:sp>
      <p:sp>
        <p:nvSpPr>
          <p:cNvPr id="3" name="Slide Number Placeholder 2"/>
          <p:cNvSpPr>
            <a:spLocks noGrp="1"/>
          </p:cNvSpPr>
          <p:nvPr>
            <p:ph type="sldNum" sz="quarter" idx="4"/>
          </p:nvPr>
        </p:nvSpPr>
        <p:spPr>
          <a:xfrm>
            <a:off x="579120" y="6325606"/>
            <a:ext cx="2494018" cy="365125"/>
          </a:xfrm>
        </p:spPr>
        <p:txBody>
          <a:bodyPr/>
          <a:lstStyle/>
          <a:p>
            <a:pPr>
              <a:defRPr/>
            </a:pPr>
            <a:r>
              <a:rPr lang="en-US" dirty="0"/>
              <a:t>Coding Considerations 23- </a:t>
            </a:r>
            <a:fld id="{060BD193-E118-4B16-863C-C8C12C675E3E}" type="slidenum">
              <a:rPr lang="en-US" smtClean="0"/>
              <a:pPr>
                <a:defRPr/>
              </a:pPr>
              <a:t>108</a:t>
            </a:fld>
            <a:endParaRPr lang="en-US" dirty="0"/>
          </a:p>
        </p:txBody>
      </p:sp>
      <p:graphicFrame>
        <p:nvGraphicFramePr>
          <p:cNvPr id="4" name="Table 4">
            <a:extLst>
              <a:ext uri="{FF2B5EF4-FFF2-40B4-BE49-F238E27FC236}">
                <a16:creationId xmlns:a16="http://schemas.microsoft.com/office/drawing/2014/main" id="{F3460A92-1B2C-4264-8A7C-D672F8AE4046}"/>
              </a:ext>
            </a:extLst>
          </p:cNvPr>
          <p:cNvGraphicFramePr>
            <a:graphicFrameLocks noGrp="1"/>
          </p:cNvGraphicFramePr>
          <p:nvPr>
            <p:extLst>
              <p:ext uri="{D42A27DB-BD31-4B8C-83A1-F6EECF244321}">
                <p14:modId xmlns:p14="http://schemas.microsoft.com/office/powerpoint/2010/main" val="1433092737"/>
              </p:ext>
            </p:extLst>
          </p:nvPr>
        </p:nvGraphicFramePr>
        <p:xfrm>
          <a:off x="623218" y="1033464"/>
          <a:ext cx="4913756" cy="670560"/>
        </p:xfrm>
        <a:graphic>
          <a:graphicData uri="http://schemas.openxmlformats.org/drawingml/2006/table">
            <a:tbl>
              <a:tblPr firstRow="1" bandRow="1">
                <a:tableStyleId>{D27102A9-8310-4765-A935-A1911B00CA55}</a:tableStyleId>
              </a:tblPr>
              <a:tblGrid>
                <a:gridCol w="2456878">
                  <a:extLst>
                    <a:ext uri="{9D8B030D-6E8A-4147-A177-3AD203B41FA5}">
                      <a16:colId xmlns:a16="http://schemas.microsoft.com/office/drawing/2014/main" val="1293150969"/>
                    </a:ext>
                  </a:extLst>
                </a:gridCol>
                <a:gridCol w="2456878">
                  <a:extLst>
                    <a:ext uri="{9D8B030D-6E8A-4147-A177-3AD203B41FA5}">
                      <a16:colId xmlns:a16="http://schemas.microsoft.com/office/drawing/2014/main" val="2239407222"/>
                    </a:ext>
                  </a:extLst>
                </a:gridCol>
              </a:tblGrid>
              <a:tr h="182886">
                <a:tc gridSpan="2">
                  <a:txBody>
                    <a:bodyPr/>
                    <a:lstStyle/>
                    <a:p>
                      <a:r>
                        <a:rPr lang="en-US" sz="1600" dirty="0"/>
                        <a:t>Video Data Modeling</a:t>
                      </a:r>
                    </a:p>
                  </a:txBody>
                  <a:tcPr/>
                </a:tc>
                <a:tc hMerge="1">
                  <a:txBody>
                    <a:bodyPr/>
                    <a:lstStyle/>
                    <a:p>
                      <a:endParaRPr lang="en-US" dirty="0"/>
                    </a:p>
                  </a:txBody>
                  <a:tcPr/>
                </a:tc>
                <a:extLst>
                  <a:ext uri="{0D108BD9-81ED-4DB2-BD59-A6C34878D82A}">
                    <a16:rowId xmlns:a16="http://schemas.microsoft.com/office/drawing/2014/main" val="979508014"/>
                  </a:ext>
                </a:extLst>
              </a:tr>
              <a:tr h="320035">
                <a:tc>
                  <a:txBody>
                    <a:bodyPr/>
                    <a:lstStyle/>
                    <a:p>
                      <a:r>
                        <a:rPr lang="en-US" sz="1600" dirty="0"/>
                        <a:t>Memory Window Buffer</a:t>
                      </a:r>
                    </a:p>
                  </a:txBody>
                  <a:tcPr/>
                </a:tc>
                <a:tc>
                  <a:txBody>
                    <a:bodyPr/>
                    <a:lstStyle/>
                    <a:p>
                      <a:r>
                        <a:rPr lang="en-US" sz="1600" dirty="0"/>
                        <a:t>Memory Line Buffer</a:t>
                      </a:r>
                    </a:p>
                  </a:txBody>
                  <a:tcPr/>
                </a:tc>
                <a:extLst>
                  <a:ext uri="{0D108BD9-81ED-4DB2-BD59-A6C34878D82A}">
                    <a16:rowId xmlns:a16="http://schemas.microsoft.com/office/drawing/2014/main" val="3999701613"/>
                  </a:ext>
                </a:extLst>
              </a:tr>
            </a:tbl>
          </a:graphicData>
        </a:graphic>
      </p:graphicFrame>
      <p:graphicFrame>
        <p:nvGraphicFramePr>
          <p:cNvPr id="7" name="Table 4">
            <a:extLst>
              <a:ext uri="{FF2B5EF4-FFF2-40B4-BE49-F238E27FC236}">
                <a16:creationId xmlns:a16="http://schemas.microsoft.com/office/drawing/2014/main" id="{5B9BD53F-9ACC-469F-9EEB-86CB2FB009D3}"/>
              </a:ext>
            </a:extLst>
          </p:cNvPr>
          <p:cNvGraphicFramePr>
            <a:graphicFrameLocks noGrp="1"/>
          </p:cNvGraphicFramePr>
          <p:nvPr/>
        </p:nvGraphicFramePr>
        <p:xfrm>
          <a:off x="6206907" y="1221612"/>
          <a:ext cx="4913756" cy="1005840"/>
        </p:xfrm>
        <a:graphic>
          <a:graphicData uri="http://schemas.openxmlformats.org/drawingml/2006/table">
            <a:tbl>
              <a:tblPr firstRow="1" bandRow="1">
                <a:tableStyleId>{D27102A9-8310-4765-A935-A1911B00CA55}</a:tableStyleId>
              </a:tblPr>
              <a:tblGrid>
                <a:gridCol w="2456878">
                  <a:extLst>
                    <a:ext uri="{9D8B030D-6E8A-4147-A177-3AD203B41FA5}">
                      <a16:colId xmlns:a16="http://schemas.microsoft.com/office/drawing/2014/main" val="1293150969"/>
                    </a:ext>
                  </a:extLst>
                </a:gridCol>
                <a:gridCol w="2456878">
                  <a:extLst>
                    <a:ext uri="{9D8B030D-6E8A-4147-A177-3AD203B41FA5}">
                      <a16:colId xmlns:a16="http://schemas.microsoft.com/office/drawing/2014/main" val="2239407222"/>
                    </a:ext>
                  </a:extLst>
                </a:gridCol>
              </a:tblGrid>
              <a:tr h="182886">
                <a:tc gridSpan="2">
                  <a:txBody>
                    <a:bodyPr/>
                    <a:lstStyle/>
                    <a:p>
                      <a:r>
                        <a:rPr lang="en-US" sz="1600" dirty="0"/>
                        <a:t>AXI4-Stream I/O Functions</a:t>
                      </a:r>
                    </a:p>
                  </a:txBody>
                  <a:tcPr/>
                </a:tc>
                <a:tc hMerge="1">
                  <a:txBody>
                    <a:bodyPr/>
                    <a:lstStyle/>
                    <a:p>
                      <a:endParaRPr lang="en-US" dirty="0"/>
                    </a:p>
                  </a:txBody>
                  <a:tcPr/>
                </a:tc>
                <a:extLst>
                  <a:ext uri="{0D108BD9-81ED-4DB2-BD59-A6C34878D82A}">
                    <a16:rowId xmlns:a16="http://schemas.microsoft.com/office/drawing/2014/main" val="979508014"/>
                  </a:ext>
                </a:extLst>
              </a:tr>
              <a:tr h="320035">
                <a:tc>
                  <a:txBody>
                    <a:bodyPr/>
                    <a:lstStyle/>
                    <a:p>
                      <a:r>
                        <a:rPr lang="en-US" sz="1600" dirty="0"/>
                        <a:t>AXIvideo2xfMat</a:t>
                      </a:r>
                    </a:p>
                  </a:txBody>
                  <a:tcPr/>
                </a:tc>
                <a:tc>
                  <a:txBody>
                    <a:bodyPr/>
                    <a:lstStyle/>
                    <a:p>
                      <a:r>
                        <a:rPr lang="en-US" sz="1600" dirty="0"/>
                        <a:t>xfMat2AXIvideo</a:t>
                      </a:r>
                    </a:p>
                  </a:txBody>
                  <a:tcPr/>
                </a:tc>
                <a:extLst>
                  <a:ext uri="{0D108BD9-81ED-4DB2-BD59-A6C34878D82A}">
                    <a16:rowId xmlns:a16="http://schemas.microsoft.com/office/drawing/2014/main" val="3999701613"/>
                  </a:ext>
                </a:extLst>
              </a:tr>
              <a:tr h="320035">
                <a:tc>
                  <a:txBody>
                    <a:bodyPr/>
                    <a:lstStyle/>
                    <a:p>
                      <a:r>
                        <a:rPr lang="en-US" sz="1600" dirty="0"/>
                        <a:t>cvMat2AXIvideoxf</a:t>
                      </a:r>
                    </a:p>
                  </a:txBody>
                  <a:tcPr/>
                </a:tc>
                <a:tc>
                  <a:txBody>
                    <a:bodyPr/>
                    <a:lstStyle/>
                    <a:p>
                      <a:r>
                        <a:rPr lang="en-US" sz="1600" dirty="0"/>
                        <a:t>AXIvideo2cvMatxf</a:t>
                      </a:r>
                    </a:p>
                  </a:txBody>
                  <a:tcPr/>
                </a:tc>
                <a:extLst>
                  <a:ext uri="{0D108BD9-81ED-4DB2-BD59-A6C34878D82A}">
                    <a16:rowId xmlns:a16="http://schemas.microsoft.com/office/drawing/2014/main" val="82713413"/>
                  </a:ext>
                </a:extLst>
              </a:tr>
            </a:tbl>
          </a:graphicData>
        </a:graphic>
      </p:graphicFrame>
      <p:graphicFrame>
        <p:nvGraphicFramePr>
          <p:cNvPr id="8" name="Table 4">
            <a:extLst>
              <a:ext uri="{FF2B5EF4-FFF2-40B4-BE49-F238E27FC236}">
                <a16:creationId xmlns:a16="http://schemas.microsoft.com/office/drawing/2014/main" id="{B906E368-D751-4D64-B2C2-FF44AB531F38}"/>
              </a:ext>
            </a:extLst>
          </p:cNvPr>
          <p:cNvGraphicFramePr>
            <a:graphicFrameLocks noGrp="1"/>
          </p:cNvGraphicFramePr>
          <p:nvPr/>
        </p:nvGraphicFramePr>
        <p:xfrm>
          <a:off x="623218" y="1874394"/>
          <a:ext cx="4913756" cy="670560"/>
        </p:xfrm>
        <a:graphic>
          <a:graphicData uri="http://schemas.openxmlformats.org/drawingml/2006/table">
            <a:tbl>
              <a:tblPr firstRow="1" bandRow="1">
                <a:tableStyleId>{D27102A9-8310-4765-A935-A1911B00CA55}</a:tableStyleId>
              </a:tblPr>
              <a:tblGrid>
                <a:gridCol w="2456878">
                  <a:extLst>
                    <a:ext uri="{9D8B030D-6E8A-4147-A177-3AD203B41FA5}">
                      <a16:colId xmlns:a16="http://schemas.microsoft.com/office/drawing/2014/main" val="1293150969"/>
                    </a:ext>
                  </a:extLst>
                </a:gridCol>
                <a:gridCol w="2456878">
                  <a:extLst>
                    <a:ext uri="{9D8B030D-6E8A-4147-A177-3AD203B41FA5}">
                      <a16:colId xmlns:a16="http://schemas.microsoft.com/office/drawing/2014/main" val="2239407222"/>
                    </a:ext>
                  </a:extLst>
                </a:gridCol>
              </a:tblGrid>
              <a:tr h="182886">
                <a:tc gridSpan="2">
                  <a:txBody>
                    <a:bodyPr/>
                    <a:lstStyle/>
                    <a:p>
                      <a:r>
                        <a:rPr lang="en-US" sz="1600" dirty="0"/>
                        <a:t>OpenCV interface functions</a:t>
                      </a:r>
                    </a:p>
                  </a:txBody>
                  <a:tcPr/>
                </a:tc>
                <a:tc hMerge="1">
                  <a:txBody>
                    <a:bodyPr/>
                    <a:lstStyle/>
                    <a:p>
                      <a:endParaRPr lang="en-US" dirty="0"/>
                    </a:p>
                  </a:txBody>
                  <a:tcPr/>
                </a:tc>
                <a:extLst>
                  <a:ext uri="{0D108BD9-81ED-4DB2-BD59-A6C34878D82A}">
                    <a16:rowId xmlns:a16="http://schemas.microsoft.com/office/drawing/2014/main" val="979508014"/>
                  </a:ext>
                </a:extLst>
              </a:tr>
              <a:tr h="320035">
                <a:tc>
                  <a:txBody>
                    <a:bodyPr/>
                    <a:lstStyle/>
                    <a:p>
                      <a:r>
                        <a:rPr lang="en-US" sz="1600" dirty="0"/>
                        <a:t>cvMat2AXIvideo</a:t>
                      </a:r>
                    </a:p>
                  </a:txBody>
                  <a:tcPr/>
                </a:tc>
                <a:tc>
                  <a:txBody>
                    <a:bodyPr/>
                    <a:lstStyle/>
                    <a:p>
                      <a:r>
                        <a:rPr lang="en-US" sz="1600" dirty="0"/>
                        <a:t>AXIvideo2cvMat</a:t>
                      </a:r>
                    </a:p>
                  </a:txBody>
                  <a:tcPr/>
                </a:tc>
                <a:extLst>
                  <a:ext uri="{0D108BD9-81ED-4DB2-BD59-A6C34878D82A}">
                    <a16:rowId xmlns:a16="http://schemas.microsoft.com/office/drawing/2014/main" val="3999701613"/>
                  </a:ext>
                </a:extLst>
              </a:tr>
            </a:tbl>
          </a:graphicData>
        </a:graphic>
      </p:graphicFrame>
      <p:graphicFrame>
        <p:nvGraphicFramePr>
          <p:cNvPr id="9" name="Table 4">
            <a:extLst>
              <a:ext uri="{FF2B5EF4-FFF2-40B4-BE49-F238E27FC236}">
                <a16:creationId xmlns:a16="http://schemas.microsoft.com/office/drawing/2014/main" id="{5719A106-915C-4FC0-BF9C-E1063E557098}"/>
              </a:ext>
            </a:extLst>
          </p:cNvPr>
          <p:cNvGraphicFramePr>
            <a:graphicFrameLocks noGrp="1"/>
          </p:cNvGraphicFramePr>
          <p:nvPr>
            <p:extLst>
              <p:ext uri="{D42A27DB-BD31-4B8C-83A1-F6EECF244321}">
                <p14:modId xmlns:p14="http://schemas.microsoft.com/office/powerpoint/2010/main" val="1907692145"/>
              </p:ext>
            </p:extLst>
          </p:nvPr>
        </p:nvGraphicFramePr>
        <p:xfrm>
          <a:off x="623219" y="2715325"/>
          <a:ext cx="10497445" cy="3383153"/>
        </p:xfrm>
        <a:graphic>
          <a:graphicData uri="http://schemas.openxmlformats.org/drawingml/2006/table">
            <a:tbl>
              <a:tblPr firstRow="1" bandRow="1">
                <a:tableStyleId>{D27102A9-8310-4765-A935-A1911B00CA55}</a:tableStyleId>
              </a:tblPr>
              <a:tblGrid>
                <a:gridCol w="2099489">
                  <a:extLst>
                    <a:ext uri="{9D8B030D-6E8A-4147-A177-3AD203B41FA5}">
                      <a16:colId xmlns:a16="http://schemas.microsoft.com/office/drawing/2014/main" val="1293150969"/>
                    </a:ext>
                  </a:extLst>
                </a:gridCol>
                <a:gridCol w="2099489">
                  <a:extLst>
                    <a:ext uri="{9D8B030D-6E8A-4147-A177-3AD203B41FA5}">
                      <a16:colId xmlns:a16="http://schemas.microsoft.com/office/drawing/2014/main" val="2239407222"/>
                    </a:ext>
                  </a:extLst>
                </a:gridCol>
                <a:gridCol w="2099489">
                  <a:extLst>
                    <a:ext uri="{9D8B030D-6E8A-4147-A177-3AD203B41FA5}">
                      <a16:colId xmlns:a16="http://schemas.microsoft.com/office/drawing/2014/main" val="225172937"/>
                    </a:ext>
                  </a:extLst>
                </a:gridCol>
                <a:gridCol w="2099489">
                  <a:extLst>
                    <a:ext uri="{9D8B030D-6E8A-4147-A177-3AD203B41FA5}">
                      <a16:colId xmlns:a16="http://schemas.microsoft.com/office/drawing/2014/main" val="2989606590"/>
                    </a:ext>
                  </a:extLst>
                </a:gridCol>
                <a:gridCol w="2099489">
                  <a:extLst>
                    <a:ext uri="{9D8B030D-6E8A-4147-A177-3AD203B41FA5}">
                      <a16:colId xmlns:a16="http://schemas.microsoft.com/office/drawing/2014/main" val="203172771"/>
                    </a:ext>
                  </a:extLst>
                </a:gridCol>
              </a:tblGrid>
              <a:tr h="169816">
                <a:tc gridSpan="2">
                  <a:txBody>
                    <a:bodyPr/>
                    <a:lstStyle/>
                    <a:p>
                      <a:r>
                        <a:rPr lang="en-US" sz="1600" dirty="0"/>
                        <a:t>Videos functions</a:t>
                      </a:r>
                    </a:p>
                  </a:txBody>
                  <a:tcPr/>
                </a:tc>
                <a:tc hMerge="1">
                  <a:txBody>
                    <a:bodyPr/>
                    <a:lstStyle/>
                    <a:p>
                      <a:endParaRPr lang="en-US" dirty="0"/>
                    </a:p>
                  </a:txBody>
                  <a:tcPr/>
                </a:tc>
                <a:tc>
                  <a:txBody>
                    <a:bodyPr/>
                    <a:lstStyle/>
                    <a:p>
                      <a:endParaRPr lang="en-US" sz="1600" dirty="0"/>
                    </a:p>
                  </a:txBody>
                  <a:tcPr/>
                </a:tc>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979508014"/>
                  </a:ext>
                </a:extLst>
              </a:tr>
              <a:tr h="0">
                <a:tc>
                  <a:txBody>
                    <a:bodyPr/>
                    <a:lstStyle/>
                    <a:p>
                      <a:r>
                        <a:rPr lang="en-US" sz="1600" dirty="0" err="1"/>
                        <a:t>addS</a:t>
                      </a:r>
                      <a:endParaRPr lang="en-US" sz="1600" dirty="0"/>
                    </a:p>
                  </a:txBody>
                  <a:tcPr/>
                </a:tc>
                <a:tc>
                  <a:txBody>
                    <a:bodyPr/>
                    <a:lstStyle/>
                    <a:p>
                      <a:r>
                        <a:rPr lang="en-US" sz="1600" dirty="0" err="1"/>
                        <a:t>AddWeighted</a:t>
                      </a:r>
                      <a:endParaRPr lang="en-US" sz="1600" dirty="0"/>
                    </a:p>
                  </a:txBody>
                  <a:tcPr/>
                </a:tc>
                <a:tc>
                  <a:txBody>
                    <a:bodyPr/>
                    <a:lstStyle/>
                    <a:p>
                      <a:r>
                        <a:rPr lang="en-US" sz="1600" dirty="0" err="1"/>
                        <a:t>Cmp</a:t>
                      </a:r>
                      <a:endParaRPr lang="en-US" sz="1600" dirty="0"/>
                    </a:p>
                  </a:txBody>
                  <a:tcPr/>
                </a:tc>
                <a:tc>
                  <a:txBody>
                    <a:bodyPr/>
                    <a:lstStyle/>
                    <a:p>
                      <a:r>
                        <a:rPr lang="en-US" sz="1600" dirty="0" err="1"/>
                        <a:t>CmpS</a:t>
                      </a:r>
                      <a:endParaRPr lang="en-US" sz="1600" dirty="0"/>
                    </a:p>
                  </a:txBody>
                  <a:tcPr/>
                </a:tc>
                <a:tc>
                  <a:txBody>
                    <a:bodyPr/>
                    <a:lstStyle/>
                    <a:p>
                      <a:r>
                        <a:rPr lang="en-US" sz="1600" dirty="0"/>
                        <a:t>Max</a:t>
                      </a:r>
                    </a:p>
                  </a:txBody>
                  <a:tcPr/>
                </a:tc>
                <a:extLst>
                  <a:ext uri="{0D108BD9-81ED-4DB2-BD59-A6C34878D82A}">
                    <a16:rowId xmlns:a16="http://schemas.microsoft.com/office/drawing/2014/main" val="3999701613"/>
                  </a:ext>
                </a:extLst>
              </a:tr>
              <a:tr h="0">
                <a:tc>
                  <a:txBody>
                    <a:bodyPr/>
                    <a:lstStyle/>
                    <a:p>
                      <a:r>
                        <a:rPr lang="en-US" sz="1600" dirty="0" err="1"/>
                        <a:t>MaxS</a:t>
                      </a:r>
                      <a:endParaRPr lang="en-US" sz="1600" dirty="0"/>
                    </a:p>
                  </a:txBody>
                  <a:tcPr/>
                </a:tc>
                <a:tc>
                  <a:txBody>
                    <a:bodyPr/>
                    <a:lstStyle/>
                    <a:p>
                      <a:r>
                        <a:rPr lang="en-US" sz="1600" dirty="0"/>
                        <a:t>Min</a:t>
                      </a:r>
                    </a:p>
                  </a:txBody>
                  <a:tcPr/>
                </a:tc>
                <a:tc>
                  <a:txBody>
                    <a:bodyPr/>
                    <a:lstStyle/>
                    <a:p>
                      <a:r>
                        <a:rPr lang="en-US" sz="1600" dirty="0" err="1"/>
                        <a:t>MinS</a:t>
                      </a:r>
                      <a:endParaRPr lang="en-US" sz="1600" dirty="0"/>
                    </a:p>
                  </a:txBody>
                  <a:tcPr/>
                </a:tc>
                <a:tc>
                  <a:txBody>
                    <a:bodyPr/>
                    <a:lstStyle/>
                    <a:p>
                      <a:r>
                        <a:rPr lang="en-US" sz="1600" dirty="0" err="1"/>
                        <a:t>PaintMask</a:t>
                      </a:r>
                      <a:r>
                        <a:rPr lang="en-US" sz="1600" dirty="0"/>
                        <a:t>	</a:t>
                      </a:r>
                    </a:p>
                  </a:txBody>
                  <a:tcPr/>
                </a:tc>
                <a:tc>
                  <a:txBody>
                    <a:bodyPr/>
                    <a:lstStyle/>
                    <a:p>
                      <a:r>
                        <a:rPr lang="en-US" sz="1600" dirty="0"/>
                        <a:t>Reduce</a:t>
                      </a:r>
                    </a:p>
                  </a:txBody>
                  <a:tcPr/>
                </a:tc>
                <a:extLst>
                  <a:ext uri="{0D108BD9-81ED-4DB2-BD59-A6C34878D82A}">
                    <a16:rowId xmlns:a16="http://schemas.microsoft.com/office/drawing/2014/main" val="44957819"/>
                  </a:ext>
                </a:extLst>
              </a:tr>
              <a:tr h="0">
                <a:tc>
                  <a:txBody>
                    <a:bodyPr/>
                    <a:lstStyle/>
                    <a:p>
                      <a:r>
                        <a:rPr lang="en-US" sz="1600" dirty="0"/>
                        <a:t>Zero</a:t>
                      </a:r>
                    </a:p>
                  </a:txBody>
                  <a:tcPr/>
                </a:tc>
                <a:tc>
                  <a:txBody>
                    <a:bodyPr/>
                    <a:lstStyle/>
                    <a:p>
                      <a:r>
                        <a:rPr lang="en-US" sz="1600" dirty="0"/>
                        <a:t>Sum</a:t>
                      </a:r>
                    </a:p>
                  </a:txBody>
                  <a:tcPr/>
                </a:tc>
                <a:tc>
                  <a:txBody>
                    <a:bodyPr/>
                    <a:lstStyle/>
                    <a:p>
                      <a:r>
                        <a:rPr lang="en-US" sz="1600" dirty="0" err="1"/>
                        <a:t>SubS</a:t>
                      </a:r>
                      <a:endParaRPr lang="en-US" sz="1600" dirty="0"/>
                    </a:p>
                  </a:txBody>
                  <a:tcPr/>
                </a:tc>
                <a:tc>
                  <a:txBody>
                    <a:bodyPr/>
                    <a:lstStyle/>
                    <a:p>
                      <a:r>
                        <a:rPr lang="en-US" sz="1600" dirty="0" err="1"/>
                        <a:t>SubRS</a:t>
                      </a:r>
                      <a:endParaRPr lang="en-US" sz="1600" dirty="0"/>
                    </a:p>
                  </a:txBody>
                  <a:tcPr/>
                </a:tc>
                <a:tc>
                  <a:txBody>
                    <a:bodyPr/>
                    <a:lstStyle/>
                    <a:p>
                      <a:r>
                        <a:rPr lang="en-US" sz="1600" dirty="0"/>
                        <a:t>Set</a:t>
                      </a:r>
                    </a:p>
                  </a:txBody>
                  <a:tcPr/>
                </a:tc>
                <a:extLst>
                  <a:ext uri="{0D108BD9-81ED-4DB2-BD59-A6C34878D82A}">
                    <a16:rowId xmlns:a16="http://schemas.microsoft.com/office/drawing/2014/main" val="2542122610"/>
                  </a:ext>
                </a:extLst>
              </a:tr>
              <a:tr h="0">
                <a:tc>
                  <a:txBody>
                    <a:bodyPr/>
                    <a:lstStyle/>
                    <a:p>
                      <a:r>
                        <a:rPr lang="en-US" sz="1600" dirty="0" err="1"/>
                        <a:t>Absdiff</a:t>
                      </a:r>
                      <a:endParaRPr lang="en-US" sz="1600" dirty="0"/>
                    </a:p>
                  </a:txBody>
                  <a:tcPr/>
                </a:tc>
                <a:tc>
                  <a:txBody>
                    <a:bodyPr/>
                    <a:lstStyle/>
                    <a:p>
                      <a:r>
                        <a:rPr lang="en-US" sz="1600" dirty="0"/>
                        <a:t>And</a:t>
                      </a:r>
                    </a:p>
                  </a:txBody>
                  <a:tcPr/>
                </a:tc>
                <a:tc>
                  <a:txBody>
                    <a:bodyPr/>
                    <a:lstStyle/>
                    <a:p>
                      <a:r>
                        <a:rPr lang="en-US" sz="1600" dirty="0"/>
                        <a:t>Dilate</a:t>
                      </a:r>
                    </a:p>
                  </a:txBody>
                  <a:tcPr/>
                </a:tc>
                <a:tc>
                  <a:txBody>
                    <a:bodyPr/>
                    <a:lstStyle/>
                    <a:p>
                      <a:r>
                        <a:rPr lang="en-US" sz="1600" dirty="0"/>
                        <a:t>Duplicate</a:t>
                      </a:r>
                    </a:p>
                  </a:txBody>
                  <a:tcPr/>
                </a:tc>
                <a:tc>
                  <a:txBody>
                    <a:bodyPr/>
                    <a:lstStyle/>
                    <a:p>
                      <a:r>
                        <a:rPr lang="en-US" sz="1600" dirty="0" err="1"/>
                        <a:t>EqualizeHist</a:t>
                      </a:r>
                      <a:endParaRPr lang="en-US" sz="1600" dirty="0"/>
                    </a:p>
                  </a:txBody>
                  <a:tcPr/>
                </a:tc>
                <a:extLst>
                  <a:ext uri="{0D108BD9-81ED-4DB2-BD59-A6C34878D82A}">
                    <a16:rowId xmlns:a16="http://schemas.microsoft.com/office/drawing/2014/main" val="1026300422"/>
                  </a:ext>
                </a:extLst>
              </a:tr>
              <a:tr h="0">
                <a:tc>
                  <a:txBody>
                    <a:bodyPr/>
                    <a:lstStyle/>
                    <a:p>
                      <a:r>
                        <a:rPr lang="en-US" sz="1600" dirty="0"/>
                        <a:t>erode</a:t>
                      </a:r>
                    </a:p>
                  </a:txBody>
                  <a:tcPr/>
                </a:tc>
                <a:tc>
                  <a:txBody>
                    <a:bodyPr/>
                    <a:lstStyle/>
                    <a:p>
                      <a:r>
                        <a:rPr lang="en-US" sz="1600" dirty="0"/>
                        <a:t>FASTX</a:t>
                      </a:r>
                    </a:p>
                  </a:txBody>
                  <a:tcPr/>
                </a:tc>
                <a:tc>
                  <a:txBody>
                    <a:bodyPr/>
                    <a:lstStyle/>
                    <a:p>
                      <a:r>
                        <a:rPr lang="en-US" sz="1600" dirty="0"/>
                        <a:t>Filter2D</a:t>
                      </a:r>
                    </a:p>
                  </a:txBody>
                  <a:tcPr/>
                </a:tc>
                <a:tc>
                  <a:txBody>
                    <a:bodyPr/>
                    <a:lstStyle/>
                    <a:p>
                      <a:r>
                        <a:rPr lang="en-US" sz="1600" dirty="0" err="1"/>
                        <a:t>GaussianBlur</a:t>
                      </a:r>
                      <a:endParaRPr lang="en-US" sz="1600" dirty="0"/>
                    </a:p>
                  </a:txBody>
                  <a:tcPr/>
                </a:tc>
                <a:tc>
                  <a:txBody>
                    <a:bodyPr/>
                    <a:lstStyle/>
                    <a:p>
                      <a:r>
                        <a:rPr lang="en-US" sz="1600" dirty="0"/>
                        <a:t>Harris</a:t>
                      </a:r>
                    </a:p>
                  </a:txBody>
                  <a:tcPr/>
                </a:tc>
                <a:extLst>
                  <a:ext uri="{0D108BD9-81ED-4DB2-BD59-A6C34878D82A}">
                    <a16:rowId xmlns:a16="http://schemas.microsoft.com/office/drawing/2014/main" val="2672163720"/>
                  </a:ext>
                </a:extLst>
              </a:tr>
              <a:tr h="0">
                <a:tc>
                  <a:txBody>
                    <a:bodyPr/>
                    <a:lstStyle/>
                    <a:p>
                      <a:r>
                        <a:rPr lang="en-US" sz="1600" dirty="0" err="1"/>
                        <a:t>CornerHarris</a:t>
                      </a:r>
                      <a:endParaRPr lang="en-US" sz="1600" dirty="0"/>
                    </a:p>
                  </a:txBody>
                  <a:tcPr/>
                </a:tc>
                <a:tc>
                  <a:txBody>
                    <a:bodyPr/>
                    <a:lstStyle/>
                    <a:p>
                      <a:r>
                        <a:rPr lang="en-US" sz="1600" dirty="0"/>
                        <a:t>HoughLines2</a:t>
                      </a:r>
                    </a:p>
                  </a:txBody>
                  <a:tcPr/>
                </a:tc>
                <a:tc>
                  <a:txBody>
                    <a:bodyPr/>
                    <a:lstStyle/>
                    <a:p>
                      <a:r>
                        <a:rPr lang="en-US" sz="1600" dirty="0"/>
                        <a:t>Integral</a:t>
                      </a:r>
                    </a:p>
                  </a:txBody>
                  <a:tcPr/>
                </a:tc>
                <a:tc>
                  <a:txBody>
                    <a:bodyPr/>
                    <a:lstStyle/>
                    <a:p>
                      <a:r>
                        <a:rPr lang="en-US" sz="1600" dirty="0"/>
                        <a:t>Merge</a:t>
                      </a:r>
                    </a:p>
                  </a:txBody>
                  <a:tcPr/>
                </a:tc>
                <a:tc>
                  <a:txBody>
                    <a:bodyPr/>
                    <a:lstStyle/>
                    <a:p>
                      <a:r>
                        <a:rPr lang="en-US" sz="1799" b="0" i="0" kern="1200" dirty="0" err="1">
                          <a:solidFill>
                            <a:schemeClr val="tx1"/>
                          </a:solidFill>
                          <a:effectLst/>
                          <a:latin typeface="+mn-lt"/>
                          <a:ea typeface="+mn-ea"/>
                          <a:cs typeface="+mn-cs"/>
                        </a:rPr>
                        <a:t>MinMaxLoc</a:t>
                      </a:r>
                      <a:endParaRPr lang="en-US" sz="1600" dirty="0"/>
                    </a:p>
                  </a:txBody>
                  <a:tcPr/>
                </a:tc>
                <a:extLst>
                  <a:ext uri="{0D108BD9-81ED-4DB2-BD59-A6C34878D82A}">
                    <a16:rowId xmlns:a16="http://schemas.microsoft.com/office/drawing/2014/main" val="4068527856"/>
                  </a:ext>
                </a:extLst>
              </a:tr>
              <a:tr h="0">
                <a:tc>
                  <a:txBody>
                    <a:bodyPr/>
                    <a:lstStyle/>
                    <a:p>
                      <a:r>
                        <a:rPr lang="en-US" sz="1600" dirty="0" err="1"/>
                        <a:t>Mul</a:t>
                      </a:r>
                      <a:endParaRPr lang="en-US" sz="1600" dirty="0"/>
                    </a:p>
                  </a:txBody>
                  <a:tcPr/>
                </a:tc>
                <a:tc>
                  <a:txBody>
                    <a:bodyPr/>
                    <a:lstStyle/>
                    <a:p>
                      <a:r>
                        <a:rPr lang="en-US" sz="1600" dirty="0"/>
                        <a:t>Not</a:t>
                      </a:r>
                    </a:p>
                  </a:txBody>
                  <a:tcPr/>
                </a:tc>
                <a:tc>
                  <a:txBody>
                    <a:bodyPr/>
                    <a:lstStyle/>
                    <a:p>
                      <a:r>
                        <a:rPr lang="en-US" sz="1600" dirty="0"/>
                        <a:t>Range</a:t>
                      </a:r>
                    </a:p>
                  </a:txBody>
                  <a:tcPr/>
                </a:tc>
                <a:tc>
                  <a:txBody>
                    <a:bodyPr/>
                    <a:lstStyle/>
                    <a:p>
                      <a:r>
                        <a:rPr lang="en-US" sz="1600" dirty="0"/>
                        <a:t>Resize</a:t>
                      </a:r>
                    </a:p>
                  </a:txBody>
                  <a:tcPr/>
                </a:tc>
                <a:tc>
                  <a:txBody>
                    <a:bodyPr/>
                    <a:lstStyle/>
                    <a:p>
                      <a:r>
                        <a:rPr lang="en-US" sz="1600" dirty="0" err="1"/>
                        <a:t>sobel</a:t>
                      </a:r>
                      <a:endParaRPr lang="en-US" sz="1600" dirty="0"/>
                    </a:p>
                  </a:txBody>
                  <a:tcPr/>
                </a:tc>
                <a:extLst>
                  <a:ext uri="{0D108BD9-81ED-4DB2-BD59-A6C34878D82A}">
                    <a16:rowId xmlns:a16="http://schemas.microsoft.com/office/drawing/2014/main" val="443224137"/>
                  </a:ext>
                </a:extLst>
              </a:tr>
              <a:tr h="0">
                <a:tc>
                  <a:txBody>
                    <a:bodyPr/>
                    <a:lstStyle/>
                    <a:p>
                      <a:r>
                        <a:rPr lang="en-US" sz="1600" dirty="0"/>
                        <a:t>split</a:t>
                      </a:r>
                    </a:p>
                  </a:txBody>
                  <a:tcPr/>
                </a:tc>
                <a:tc>
                  <a:txBody>
                    <a:bodyPr/>
                    <a:lstStyle/>
                    <a:p>
                      <a:r>
                        <a:rPr lang="en-US" sz="1600" dirty="0"/>
                        <a:t>Threshold</a:t>
                      </a:r>
                    </a:p>
                  </a:txBody>
                  <a:tcPr/>
                </a:tc>
                <a:tc>
                  <a:txBody>
                    <a:bodyPr/>
                    <a:lstStyle/>
                    <a:p>
                      <a:r>
                        <a:rPr lang="en-US" sz="1600" dirty="0"/>
                        <a:t>Scale</a:t>
                      </a:r>
                    </a:p>
                  </a:txBody>
                  <a:tcPr/>
                </a:tc>
                <a:tc>
                  <a:txBody>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lang="en-US" sz="1600" dirty="0" err="1"/>
                        <a:t>CvtColor</a:t>
                      </a:r>
                      <a:endParaRPr lang="en-US" sz="1600" dirty="0"/>
                    </a:p>
                  </a:txBody>
                  <a:tcPr/>
                </a:tc>
                <a:tc>
                  <a:txBody>
                    <a:bodyPr/>
                    <a:lstStyle/>
                    <a:p>
                      <a:endParaRPr lang="en-US" sz="1600" dirty="0"/>
                    </a:p>
                  </a:txBody>
                  <a:tcPr/>
                </a:tc>
                <a:extLst>
                  <a:ext uri="{0D108BD9-81ED-4DB2-BD59-A6C34878D82A}">
                    <a16:rowId xmlns:a16="http://schemas.microsoft.com/office/drawing/2014/main" val="2313785467"/>
                  </a:ext>
                </a:extLst>
              </a:tr>
              <a:tr h="0">
                <a:tc gridSpan="3">
                  <a:txBody>
                    <a:bodyPr/>
                    <a:lstStyle/>
                    <a:p>
                      <a:r>
                        <a:rPr lang="en-US" sz="1600" dirty="0" err="1"/>
                        <a:t>InitUndistortRectifyMapInverse</a:t>
                      </a:r>
                      <a:endParaRPr lang="en-US" sz="1600" dirty="0"/>
                    </a:p>
                  </a:txBody>
                  <a:tcPr/>
                </a:tc>
                <a:tc hMerge="1">
                  <a:txBody>
                    <a:bodyPr/>
                    <a:lstStyle/>
                    <a:p>
                      <a:endParaRPr lang="en-US" sz="1600" dirty="0"/>
                    </a:p>
                  </a:txBody>
                  <a:tcPr/>
                </a:tc>
                <a:tc hMerge="1">
                  <a:txBody>
                    <a:bodyPr/>
                    <a:lstStyle/>
                    <a:p>
                      <a:endParaRPr lang="en-US" sz="1600" dirty="0"/>
                    </a:p>
                  </a:txBody>
                  <a:tcPr/>
                </a:tc>
                <a:tc gridSpan="2">
                  <a:txBody>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lang="en-US" sz="1600" dirty="0"/>
                        <a:t>Avg, mean, </a:t>
                      </a:r>
                      <a:r>
                        <a:rPr lang="en-US" sz="1600" dirty="0" err="1"/>
                        <a:t>AvgStddev</a:t>
                      </a:r>
                      <a:endParaRPr lang="en-US" sz="1600" dirty="0"/>
                    </a:p>
                  </a:txBody>
                  <a:tcPr/>
                </a:tc>
                <a:tc hMerge="1">
                  <a:txBody>
                    <a:bodyPr/>
                    <a:lstStyle/>
                    <a:p>
                      <a:endParaRPr lang="en-US" sz="1600" dirty="0"/>
                    </a:p>
                  </a:txBody>
                  <a:tcPr/>
                </a:tc>
                <a:extLst>
                  <a:ext uri="{0D108BD9-81ED-4DB2-BD59-A6C34878D82A}">
                    <a16:rowId xmlns:a16="http://schemas.microsoft.com/office/drawing/2014/main" val="2440928803"/>
                  </a:ext>
                </a:extLst>
              </a:tr>
            </a:tbl>
          </a:graphicData>
        </a:graphic>
      </p:graphicFrame>
    </p:spTree>
    <p:extLst>
      <p:ext uri="{BB962C8B-B14F-4D97-AF65-F5344CB8AC3E}">
        <p14:creationId xmlns:p14="http://schemas.microsoft.com/office/powerpoint/2010/main" val="4058545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Video Library Supported Functions</a:t>
            </a:r>
          </a:p>
        </p:txBody>
      </p:sp>
      <p:sp>
        <p:nvSpPr>
          <p:cNvPr id="3" name="Slide Number Placeholder 2"/>
          <p:cNvSpPr>
            <a:spLocks noGrp="1"/>
          </p:cNvSpPr>
          <p:nvPr>
            <p:ph type="sldNum" sz="quarter" idx="10"/>
          </p:nvPr>
        </p:nvSpPr>
        <p:spPr/>
        <p:txBody>
          <a:bodyPr/>
          <a:lstStyle/>
          <a:p>
            <a:pPr defTabSz="914400">
              <a:defRPr/>
            </a:pPr>
            <a:r>
              <a:rPr lang="en-US" dirty="0">
                <a:solidFill>
                  <a:srgbClr val="0C0C0C">
                    <a:tint val="75000"/>
                  </a:srgbClr>
                </a:solidFill>
                <a:latin typeface="Arial"/>
              </a:rPr>
              <a:t>Coding Considerations 23- </a:t>
            </a:r>
            <a:fld id="{060BD193-E118-4B16-863C-C8C12C675E3E}" type="slidenum">
              <a:rPr lang="en-US">
                <a:solidFill>
                  <a:srgbClr val="0C0C0C">
                    <a:tint val="75000"/>
                  </a:srgbClr>
                </a:solidFill>
                <a:latin typeface="Arial"/>
              </a:rPr>
              <a:pPr defTabSz="914400">
                <a:defRPr/>
              </a:pPr>
              <a:t>109</a:t>
            </a:fld>
            <a:endParaRPr lang="en-US" dirty="0">
              <a:solidFill>
                <a:srgbClr val="0C0C0C">
                  <a:tint val="75000"/>
                </a:srgbClr>
              </a:solidFill>
              <a:latin typeface="Arial"/>
            </a:endParaRPr>
          </a:p>
        </p:txBody>
      </p:sp>
      <p:pic>
        <p:nvPicPr>
          <p:cNvPr id="3074" name="Picture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82179" y="1033465"/>
            <a:ext cx="8163133" cy="5505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 name="Table 4">
            <a:extLst>
              <a:ext uri="{FF2B5EF4-FFF2-40B4-BE49-F238E27FC236}">
                <a16:creationId xmlns:a16="http://schemas.microsoft.com/office/drawing/2014/main" id="{F3460A92-1B2C-4264-8A7C-D672F8AE4046}"/>
              </a:ext>
            </a:extLst>
          </p:cNvPr>
          <p:cNvGraphicFramePr>
            <a:graphicFrameLocks noGrp="1"/>
          </p:cNvGraphicFramePr>
          <p:nvPr/>
        </p:nvGraphicFramePr>
        <p:xfrm>
          <a:off x="623218" y="1033464"/>
          <a:ext cx="4913756" cy="670560"/>
        </p:xfrm>
        <a:graphic>
          <a:graphicData uri="http://schemas.openxmlformats.org/drawingml/2006/table">
            <a:tbl>
              <a:tblPr firstRow="1" bandRow="1">
                <a:tableStyleId>{D27102A9-8310-4765-A935-A1911B00CA55}</a:tableStyleId>
              </a:tblPr>
              <a:tblGrid>
                <a:gridCol w="2456878">
                  <a:extLst>
                    <a:ext uri="{9D8B030D-6E8A-4147-A177-3AD203B41FA5}">
                      <a16:colId xmlns:a16="http://schemas.microsoft.com/office/drawing/2014/main" val="1293150969"/>
                    </a:ext>
                  </a:extLst>
                </a:gridCol>
                <a:gridCol w="2456878">
                  <a:extLst>
                    <a:ext uri="{9D8B030D-6E8A-4147-A177-3AD203B41FA5}">
                      <a16:colId xmlns:a16="http://schemas.microsoft.com/office/drawing/2014/main" val="2239407222"/>
                    </a:ext>
                  </a:extLst>
                </a:gridCol>
              </a:tblGrid>
              <a:tr h="182886">
                <a:tc gridSpan="2">
                  <a:txBody>
                    <a:bodyPr/>
                    <a:lstStyle/>
                    <a:p>
                      <a:r>
                        <a:rPr lang="en-US" sz="1600" dirty="0"/>
                        <a:t>Video Data Modeling</a:t>
                      </a:r>
                    </a:p>
                  </a:txBody>
                  <a:tcPr/>
                </a:tc>
                <a:tc hMerge="1">
                  <a:txBody>
                    <a:bodyPr/>
                    <a:lstStyle/>
                    <a:p>
                      <a:endParaRPr lang="en-US" dirty="0"/>
                    </a:p>
                  </a:txBody>
                  <a:tcPr/>
                </a:tc>
                <a:extLst>
                  <a:ext uri="{0D108BD9-81ED-4DB2-BD59-A6C34878D82A}">
                    <a16:rowId xmlns:a16="http://schemas.microsoft.com/office/drawing/2014/main" val="979508014"/>
                  </a:ext>
                </a:extLst>
              </a:tr>
              <a:tr h="320035">
                <a:tc>
                  <a:txBody>
                    <a:bodyPr/>
                    <a:lstStyle/>
                    <a:p>
                      <a:r>
                        <a:rPr lang="en-US" sz="1600" dirty="0"/>
                        <a:t>Memory Window Buffer</a:t>
                      </a:r>
                    </a:p>
                  </a:txBody>
                  <a:tcPr/>
                </a:tc>
                <a:tc>
                  <a:txBody>
                    <a:bodyPr/>
                    <a:lstStyle/>
                    <a:p>
                      <a:r>
                        <a:rPr lang="en-US" sz="1600" dirty="0"/>
                        <a:t>Memory Line Buffer</a:t>
                      </a:r>
                    </a:p>
                  </a:txBody>
                  <a:tcPr/>
                </a:tc>
                <a:extLst>
                  <a:ext uri="{0D108BD9-81ED-4DB2-BD59-A6C34878D82A}">
                    <a16:rowId xmlns:a16="http://schemas.microsoft.com/office/drawing/2014/main" val="3999701613"/>
                  </a:ext>
                </a:extLst>
              </a:tr>
            </a:tbl>
          </a:graphicData>
        </a:graphic>
      </p:graphicFrame>
      <p:graphicFrame>
        <p:nvGraphicFramePr>
          <p:cNvPr id="7" name="Table 4">
            <a:extLst>
              <a:ext uri="{FF2B5EF4-FFF2-40B4-BE49-F238E27FC236}">
                <a16:creationId xmlns:a16="http://schemas.microsoft.com/office/drawing/2014/main" id="{5B9BD53F-9ACC-469F-9EEB-86CB2FB009D3}"/>
              </a:ext>
            </a:extLst>
          </p:cNvPr>
          <p:cNvGraphicFramePr>
            <a:graphicFrameLocks noGrp="1"/>
          </p:cNvGraphicFramePr>
          <p:nvPr/>
        </p:nvGraphicFramePr>
        <p:xfrm>
          <a:off x="6206907" y="1221612"/>
          <a:ext cx="4913756" cy="1005840"/>
        </p:xfrm>
        <a:graphic>
          <a:graphicData uri="http://schemas.openxmlformats.org/drawingml/2006/table">
            <a:tbl>
              <a:tblPr firstRow="1" bandRow="1">
                <a:tableStyleId>{D27102A9-8310-4765-A935-A1911B00CA55}</a:tableStyleId>
              </a:tblPr>
              <a:tblGrid>
                <a:gridCol w="2456878">
                  <a:extLst>
                    <a:ext uri="{9D8B030D-6E8A-4147-A177-3AD203B41FA5}">
                      <a16:colId xmlns:a16="http://schemas.microsoft.com/office/drawing/2014/main" val="1293150969"/>
                    </a:ext>
                  </a:extLst>
                </a:gridCol>
                <a:gridCol w="2456878">
                  <a:extLst>
                    <a:ext uri="{9D8B030D-6E8A-4147-A177-3AD203B41FA5}">
                      <a16:colId xmlns:a16="http://schemas.microsoft.com/office/drawing/2014/main" val="2239407222"/>
                    </a:ext>
                  </a:extLst>
                </a:gridCol>
              </a:tblGrid>
              <a:tr h="182886">
                <a:tc gridSpan="2">
                  <a:txBody>
                    <a:bodyPr/>
                    <a:lstStyle/>
                    <a:p>
                      <a:r>
                        <a:rPr lang="en-US" sz="1600" dirty="0"/>
                        <a:t>AXI4-Stream I/O Functions</a:t>
                      </a:r>
                    </a:p>
                  </a:txBody>
                  <a:tcPr/>
                </a:tc>
                <a:tc hMerge="1">
                  <a:txBody>
                    <a:bodyPr/>
                    <a:lstStyle/>
                    <a:p>
                      <a:endParaRPr lang="en-US" dirty="0"/>
                    </a:p>
                  </a:txBody>
                  <a:tcPr/>
                </a:tc>
                <a:extLst>
                  <a:ext uri="{0D108BD9-81ED-4DB2-BD59-A6C34878D82A}">
                    <a16:rowId xmlns:a16="http://schemas.microsoft.com/office/drawing/2014/main" val="979508014"/>
                  </a:ext>
                </a:extLst>
              </a:tr>
              <a:tr h="320035">
                <a:tc>
                  <a:txBody>
                    <a:bodyPr/>
                    <a:lstStyle/>
                    <a:p>
                      <a:r>
                        <a:rPr lang="en-US" sz="1600" dirty="0"/>
                        <a:t>AXIvideo2xfMat</a:t>
                      </a:r>
                    </a:p>
                  </a:txBody>
                  <a:tcPr/>
                </a:tc>
                <a:tc>
                  <a:txBody>
                    <a:bodyPr/>
                    <a:lstStyle/>
                    <a:p>
                      <a:r>
                        <a:rPr lang="en-US" sz="1600" dirty="0"/>
                        <a:t>xfMat2AXIvideo</a:t>
                      </a:r>
                    </a:p>
                  </a:txBody>
                  <a:tcPr/>
                </a:tc>
                <a:extLst>
                  <a:ext uri="{0D108BD9-81ED-4DB2-BD59-A6C34878D82A}">
                    <a16:rowId xmlns:a16="http://schemas.microsoft.com/office/drawing/2014/main" val="3999701613"/>
                  </a:ext>
                </a:extLst>
              </a:tr>
              <a:tr h="320035">
                <a:tc>
                  <a:txBody>
                    <a:bodyPr/>
                    <a:lstStyle/>
                    <a:p>
                      <a:r>
                        <a:rPr lang="en-US" sz="1600" dirty="0"/>
                        <a:t>cvMat2AXIvideoxf</a:t>
                      </a:r>
                    </a:p>
                  </a:txBody>
                  <a:tcPr/>
                </a:tc>
                <a:tc>
                  <a:txBody>
                    <a:bodyPr/>
                    <a:lstStyle/>
                    <a:p>
                      <a:r>
                        <a:rPr lang="en-US" sz="1600" dirty="0"/>
                        <a:t>AXIvideo2cvMatxf</a:t>
                      </a:r>
                    </a:p>
                  </a:txBody>
                  <a:tcPr/>
                </a:tc>
                <a:extLst>
                  <a:ext uri="{0D108BD9-81ED-4DB2-BD59-A6C34878D82A}">
                    <a16:rowId xmlns:a16="http://schemas.microsoft.com/office/drawing/2014/main" val="82713413"/>
                  </a:ext>
                </a:extLst>
              </a:tr>
            </a:tbl>
          </a:graphicData>
        </a:graphic>
      </p:graphicFrame>
      <p:graphicFrame>
        <p:nvGraphicFramePr>
          <p:cNvPr id="8" name="Table 4">
            <a:extLst>
              <a:ext uri="{FF2B5EF4-FFF2-40B4-BE49-F238E27FC236}">
                <a16:creationId xmlns:a16="http://schemas.microsoft.com/office/drawing/2014/main" id="{B906E368-D751-4D64-B2C2-FF44AB531F38}"/>
              </a:ext>
            </a:extLst>
          </p:cNvPr>
          <p:cNvGraphicFramePr>
            <a:graphicFrameLocks noGrp="1"/>
          </p:cNvGraphicFramePr>
          <p:nvPr/>
        </p:nvGraphicFramePr>
        <p:xfrm>
          <a:off x="623218" y="1874394"/>
          <a:ext cx="4913756" cy="670560"/>
        </p:xfrm>
        <a:graphic>
          <a:graphicData uri="http://schemas.openxmlformats.org/drawingml/2006/table">
            <a:tbl>
              <a:tblPr firstRow="1" bandRow="1">
                <a:tableStyleId>{D27102A9-8310-4765-A935-A1911B00CA55}</a:tableStyleId>
              </a:tblPr>
              <a:tblGrid>
                <a:gridCol w="2456878">
                  <a:extLst>
                    <a:ext uri="{9D8B030D-6E8A-4147-A177-3AD203B41FA5}">
                      <a16:colId xmlns:a16="http://schemas.microsoft.com/office/drawing/2014/main" val="1293150969"/>
                    </a:ext>
                  </a:extLst>
                </a:gridCol>
                <a:gridCol w="2456878">
                  <a:extLst>
                    <a:ext uri="{9D8B030D-6E8A-4147-A177-3AD203B41FA5}">
                      <a16:colId xmlns:a16="http://schemas.microsoft.com/office/drawing/2014/main" val="2239407222"/>
                    </a:ext>
                  </a:extLst>
                </a:gridCol>
              </a:tblGrid>
              <a:tr h="182886">
                <a:tc gridSpan="2">
                  <a:txBody>
                    <a:bodyPr/>
                    <a:lstStyle/>
                    <a:p>
                      <a:r>
                        <a:rPr lang="en-US" sz="1600" dirty="0"/>
                        <a:t>OpenCV interface functions</a:t>
                      </a:r>
                    </a:p>
                  </a:txBody>
                  <a:tcPr/>
                </a:tc>
                <a:tc hMerge="1">
                  <a:txBody>
                    <a:bodyPr/>
                    <a:lstStyle/>
                    <a:p>
                      <a:endParaRPr lang="en-US" dirty="0"/>
                    </a:p>
                  </a:txBody>
                  <a:tcPr/>
                </a:tc>
                <a:extLst>
                  <a:ext uri="{0D108BD9-81ED-4DB2-BD59-A6C34878D82A}">
                    <a16:rowId xmlns:a16="http://schemas.microsoft.com/office/drawing/2014/main" val="979508014"/>
                  </a:ext>
                </a:extLst>
              </a:tr>
              <a:tr h="320035">
                <a:tc>
                  <a:txBody>
                    <a:bodyPr/>
                    <a:lstStyle/>
                    <a:p>
                      <a:r>
                        <a:rPr lang="en-US" sz="1600" dirty="0"/>
                        <a:t>cvMat2AXIvideo</a:t>
                      </a:r>
                    </a:p>
                  </a:txBody>
                  <a:tcPr/>
                </a:tc>
                <a:tc>
                  <a:txBody>
                    <a:bodyPr/>
                    <a:lstStyle/>
                    <a:p>
                      <a:r>
                        <a:rPr lang="en-US" sz="1600" dirty="0"/>
                        <a:t>AXIvideo2cvMat</a:t>
                      </a:r>
                    </a:p>
                  </a:txBody>
                  <a:tcPr/>
                </a:tc>
                <a:extLst>
                  <a:ext uri="{0D108BD9-81ED-4DB2-BD59-A6C34878D82A}">
                    <a16:rowId xmlns:a16="http://schemas.microsoft.com/office/drawing/2014/main" val="3999701613"/>
                  </a:ext>
                </a:extLst>
              </a:tr>
            </a:tbl>
          </a:graphicData>
        </a:graphic>
      </p:graphicFrame>
      <p:graphicFrame>
        <p:nvGraphicFramePr>
          <p:cNvPr id="9" name="Table 4">
            <a:extLst>
              <a:ext uri="{FF2B5EF4-FFF2-40B4-BE49-F238E27FC236}">
                <a16:creationId xmlns:a16="http://schemas.microsoft.com/office/drawing/2014/main" id="{5719A106-915C-4FC0-BF9C-E1063E557098}"/>
              </a:ext>
            </a:extLst>
          </p:cNvPr>
          <p:cNvGraphicFramePr>
            <a:graphicFrameLocks noGrp="1"/>
          </p:cNvGraphicFramePr>
          <p:nvPr/>
        </p:nvGraphicFramePr>
        <p:xfrm>
          <a:off x="623219" y="2715325"/>
          <a:ext cx="10497445" cy="3383153"/>
        </p:xfrm>
        <a:graphic>
          <a:graphicData uri="http://schemas.openxmlformats.org/drawingml/2006/table">
            <a:tbl>
              <a:tblPr firstRow="1" bandRow="1">
                <a:tableStyleId>{D27102A9-8310-4765-A935-A1911B00CA55}</a:tableStyleId>
              </a:tblPr>
              <a:tblGrid>
                <a:gridCol w="2099489">
                  <a:extLst>
                    <a:ext uri="{9D8B030D-6E8A-4147-A177-3AD203B41FA5}">
                      <a16:colId xmlns:a16="http://schemas.microsoft.com/office/drawing/2014/main" val="1293150969"/>
                    </a:ext>
                  </a:extLst>
                </a:gridCol>
                <a:gridCol w="2099489">
                  <a:extLst>
                    <a:ext uri="{9D8B030D-6E8A-4147-A177-3AD203B41FA5}">
                      <a16:colId xmlns:a16="http://schemas.microsoft.com/office/drawing/2014/main" val="2239407222"/>
                    </a:ext>
                  </a:extLst>
                </a:gridCol>
                <a:gridCol w="2099489">
                  <a:extLst>
                    <a:ext uri="{9D8B030D-6E8A-4147-A177-3AD203B41FA5}">
                      <a16:colId xmlns:a16="http://schemas.microsoft.com/office/drawing/2014/main" val="225172937"/>
                    </a:ext>
                  </a:extLst>
                </a:gridCol>
                <a:gridCol w="2099489">
                  <a:extLst>
                    <a:ext uri="{9D8B030D-6E8A-4147-A177-3AD203B41FA5}">
                      <a16:colId xmlns:a16="http://schemas.microsoft.com/office/drawing/2014/main" val="2989606590"/>
                    </a:ext>
                  </a:extLst>
                </a:gridCol>
                <a:gridCol w="2099489">
                  <a:extLst>
                    <a:ext uri="{9D8B030D-6E8A-4147-A177-3AD203B41FA5}">
                      <a16:colId xmlns:a16="http://schemas.microsoft.com/office/drawing/2014/main" val="203172771"/>
                    </a:ext>
                  </a:extLst>
                </a:gridCol>
              </a:tblGrid>
              <a:tr h="169816">
                <a:tc gridSpan="2">
                  <a:txBody>
                    <a:bodyPr/>
                    <a:lstStyle/>
                    <a:p>
                      <a:r>
                        <a:rPr lang="en-US" sz="1600" dirty="0"/>
                        <a:t>Videos functions</a:t>
                      </a:r>
                    </a:p>
                  </a:txBody>
                  <a:tcPr/>
                </a:tc>
                <a:tc hMerge="1">
                  <a:txBody>
                    <a:bodyPr/>
                    <a:lstStyle/>
                    <a:p>
                      <a:endParaRPr lang="en-US" dirty="0"/>
                    </a:p>
                  </a:txBody>
                  <a:tcPr/>
                </a:tc>
                <a:tc>
                  <a:txBody>
                    <a:bodyPr/>
                    <a:lstStyle/>
                    <a:p>
                      <a:endParaRPr lang="en-US" sz="1600" dirty="0"/>
                    </a:p>
                  </a:txBody>
                  <a:tcPr/>
                </a:tc>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979508014"/>
                  </a:ext>
                </a:extLst>
              </a:tr>
              <a:tr h="0">
                <a:tc>
                  <a:txBody>
                    <a:bodyPr/>
                    <a:lstStyle/>
                    <a:p>
                      <a:r>
                        <a:rPr lang="en-US" sz="1600" dirty="0" err="1"/>
                        <a:t>addS</a:t>
                      </a:r>
                      <a:endParaRPr lang="en-US" sz="1600" dirty="0"/>
                    </a:p>
                  </a:txBody>
                  <a:tcPr/>
                </a:tc>
                <a:tc>
                  <a:txBody>
                    <a:bodyPr/>
                    <a:lstStyle/>
                    <a:p>
                      <a:r>
                        <a:rPr lang="en-US" sz="1600" dirty="0" err="1"/>
                        <a:t>AddWeighted</a:t>
                      </a:r>
                      <a:endParaRPr lang="en-US" sz="1600" dirty="0"/>
                    </a:p>
                  </a:txBody>
                  <a:tcPr/>
                </a:tc>
                <a:tc>
                  <a:txBody>
                    <a:bodyPr/>
                    <a:lstStyle/>
                    <a:p>
                      <a:r>
                        <a:rPr lang="en-US" sz="1600" dirty="0" err="1"/>
                        <a:t>Cmp</a:t>
                      </a:r>
                      <a:endParaRPr lang="en-US" sz="1600" dirty="0"/>
                    </a:p>
                  </a:txBody>
                  <a:tcPr/>
                </a:tc>
                <a:tc>
                  <a:txBody>
                    <a:bodyPr/>
                    <a:lstStyle/>
                    <a:p>
                      <a:r>
                        <a:rPr lang="en-US" sz="1600" dirty="0" err="1"/>
                        <a:t>CmpS</a:t>
                      </a:r>
                      <a:endParaRPr lang="en-US" sz="1600" dirty="0"/>
                    </a:p>
                  </a:txBody>
                  <a:tcPr/>
                </a:tc>
                <a:tc>
                  <a:txBody>
                    <a:bodyPr/>
                    <a:lstStyle/>
                    <a:p>
                      <a:r>
                        <a:rPr lang="en-US" sz="1600" dirty="0"/>
                        <a:t>Max</a:t>
                      </a:r>
                    </a:p>
                  </a:txBody>
                  <a:tcPr/>
                </a:tc>
                <a:extLst>
                  <a:ext uri="{0D108BD9-81ED-4DB2-BD59-A6C34878D82A}">
                    <a16:rowId xmlns:a16="http://schemas.microsoft.com/office/drawing/2014/main" val="3999701613"/>
                  </a:ext>
                </a:extLst>
              </a:tr>
              <a:tr h="0">
                <a:tc>
                  <a:txBody>
                    <a:bodyPr/>
                    <a:lstStyle/>
                    <a:p>
                      <a:r>
                        <a:rPr lang="en-US" sz="1600" dirty="0" err="1"/>
                        <a:t>MaxS</a:t>
                      </a:r>
                      <a:endParaRPr lang="en-US" sz="1600" dirty="0"/>
                    </a:p>
                  </a:txBody>
                  <a:tcPr/>
                </a:tc>
                <a:tc>
                  <a:txBody>
                    <a:bodyPr/>
                    <a:lstStyle/>
                    <a:p>
                      <a:r>
                        <a:rPr lang="en-US" sz="1600" dirty="0"/>
                        <a:t>Min</a:t>
                      </a:r>
                    </a:p>
                  </a:txBody>
                  <a:tcPr/>
                </a:tc>
                <a:tc>
                  <a:txBody>
                    <a:bodyPr/>
                    <a:lstStyle/>
                    <a:p>
                      <a:r>
                        <a:rPr lang="en-US" sz="1600" dirty="0" err="1"/>
                        <a:t>MinS</a:t>
                      </a:r>
                      <a:endParaRPr lang="en-US" sz="1600" dirty="0"/>
                    </a:p>
                  </a:txBody>
                  <a:tcPr/>
                </a:tc>
                <a:tc>
                  <a:txBody>
                    <a:bodyPr/>
                    <a:lstStyle/>
                    <a:p>
                      <a:r>
                        <a:rPr lang="en-US" sz="1600" dirty="0" err="1"/>
                        <a:t>PaintMask</a:t>
                      </a:r>
                      <a:r>
                        <a:rPr lang="en-US" sz="1600" dirty="0"/>
                        <a:t>	</a:t>
                      </a:r>
                    </a:p>
                  </a:txBody>
                  <a:tcPr/>
                </a:tc>
                <a:tc>
                  <a:txBody>
                    <a:bodyPr/>
                    <a:lstStyle/>
                    <a:p>
                      <a:r>
                        <a:rPr lang="en-US" sz="1600" dirty="0"/>
                        <a:t>Reduce</a:t>
                      </a:r>
                    </a:p>
                  </a:txBody>
                  <a:tcPr/>
                </a:tc>
                <a:extLst>
                  <a:ext uri="{0D108BD9-81ED-4DB2-BD59-A6C34878D82A}">
                    <a16:rowId xmlns:a16="http://schemas.microsoft.com/office/drawing/2014/main" val="44957819"/>
                  </a:ext>
                </a:extLst>
              </a:tr>
              <a:tr h="0">
                <a:tc>
                  <a:txBody>
                    <a:bodyPr/>
                    <a:lstStyle/>
                    <a:p>
                      <a:r>
                        <a:rPr lang="en-US" sz="1600" dirty="0"/>
                        <a:t>Zero</a:t>
                      </a:r>
                    </a:p>
                  </a:txBody>
                  <a:tcPr/>
                </a:tc>
                <a:tc>
                  <a:txBody>
                    <a:bodyPr/>
                    <a:lstStyle/>
                    <a:p>
                      <a:r>
                        <a:rPr lang="en-US" sz="1600" dirty="0"/>
                        <a:t>Sum</a:t>
                      </a:r>
                    </a:p>
                  </a:txBody>
                  <a:tcPr/>
                </a:tc>
                <a:tc>
                  <a:txBody>
                    <a:bodyPr/>
                    <a:lstStyle/>
                    <a:p>
                      <a:r>
                        <a:rPr lang="en-US" sz="1600" dirty="0" err="1"/>
                        <a:t>SubS</a:t>
                      </a:r>
                      <a:endParaRPr lang="en-US" sz="1600" dirty="0"/>
                    </a:p>
                  </a:txBody>
                  <a:tcPr/>
                </a:tc>
                <a:tc>
                  <a:txBody>
                    <a:bodyPr/>
                    <a:lstStyle/>
                    <a:p>
                      <a:r>
                        <a:rPr lang="en-US" sz="1600" dirty="0" err="1"/>
                        <a:t>SubRS</a:t>
                      </a:r>
                      <a:endParaRPr lang="en-US" sz="1600" dirty="0"/>
                    </a:p>
                  </a:txBody>
                  <a:tcPr/>
                </a:tc>
                <a:tc>
                  <a:txBody>
                    <a:bodyPr/>
                    <a:lstStyle/>
                    <a:p>
                      <a:r>
                        <a:rPr lang="en-US" sz="1600" dirty="0"/>
                        <a:t>Set</a:t>
                      </a:r>
                    </a:p>
                  </a:txBody>
                  <a:tcPr/>
                </a:tc>
                <a:extLst>
                  <a:ext uri="{0D108BD9-81ED-4DB2-BD59-A6C34878D82A}">
                    <a16:rowId xmlns:a16="http://schemas.microsoft.com/office/drawing/2014/main" val="2542122610"/>
                  </a:ext>
                </a:extLst>
              </a:tr>
              <a:tr h="0">
                <a:tc>
                  <a:txBody>
                    <a:bodyPr/>
                    <a:lstStyle/>
                    <a:p>
                      <a:r>
                        <a:rPr lang="en-US" sz="1600" dirty="0" err="1"/>
                        <a:t>Absdiff</a:t>
                      </a:r>
                      <a:endParaRPr lang="en-US" sz="1600" dirty="0"/>
                    </a:p>
                  </a:txBody>
                  <a:tcPr/>
                </a:tc>
                <a:tc>
                  <a:txBody>
                    <a:bodyPr/>
                    <a:lstStyle/>
                    <a:p>
                      <a:r>
                        <a:rPr lang="en-US" sz="1600" dirty="0"/>
                        <a:t>And</a:t>
                      </a:r>
                    </a:p>
                  </a:txBody>
                  <a:tcPr/>
                </a:tc>
                <a:tc>
                  <a:txBody>
                    <a:bodyPr/>
                    <a:lstStyle/>
                    <a:p>
                      <a:r>
                        <a:rPr lang="en-US" sz="1600" dirty="0"/>
                        <a:t>Dilate</a:t>
                      </a:r>
                    </a:p>
                  </a:txBody>
                  <a:tcPr/>
                </a:tc>
                <a:tc>
                  <a:txBody>
                    <a:bodyPr/>
                    <a:lstStyle/>
                    <a:p>
                      <a:r>
                        <a:rPr lang="en-US" sz="1600" dirty="0"/>
                        <a:t>Duplicate</a:t>
                      </a:r>
                    </a:p>
                  </a:txBody>
                  <a:tcPr/>
                </a:tc>
                <a:tc>
                  <a:txBody>
                    <a:bodyPr/>
                    <a:lstStyle/>
                    <a:p>
                      <a:r>
                        <a:rPr lang="en-US" sz="1600" dirty="0" err="1"/>
                        <a:t>EqualizeHist</a:t>
                      </a:r>
                      <a:endParaRPr lang="en-US" sz="1600" dirty="0"/>
                    </a:p>
                  </a:txBody>
                  <a:tcPr/>
                </a:tc>
                <a:extLst>
                  <a:ext uri="{0D108BD9-81ED-4DB2-BD59-A6C34878D82A}">
                    <a16:rowId xmlns:a16="http://schemas.microsoft.com/office/drawing/2014/main" val="1026300422"/>
                  </a:ext>
                </a:extLst>
              </a:tr>
              <a:tr h="0">
                <a:tc>
                  <a:txBody>
                    <a:bodyPr/>
                    <a:lstStyle/>
                    <a:p>
                      <a:r>
                        <a:rPr lang="en-US" sz="1600" dirty="0"/>
                        <a:t>erode</a:t>
                      </a:r>
                    </a:p>
                  </a:txBody>
                  <a:tcPr/>
                </a:tc>
                <a:tc>
                  <a:txBody>
                    <a:bodyPr/>
                    <a:lstStyle/>
                    <a:p>
                      <a:r>
                        <a:rPr lang="en-US" sz="1600" dirty="0"/>
                        <a:t>FASTX</a:t>
                      </a:r>
                    </a:p>
                  </a:txBody>
                  <a:tcPr/>
                </a:tc>
                <a:tc>
                  <a:txBody>
                    <a:bodyPr/>
                    <a:lstStyle/>
                    <a:p>
                      <a:r>
                        <a:rPr lang="en-US" sz="1600" dirty="0"/>
                        <a:t>Filter2D</a:t>
                      </a:r>
                    </a:p>
                  </a:txBody>
                  <a:tcPr/>
                </a:tc>
                <a:tc>
                  <a:txBody>
                    <a:bodyPr/>
                    <a:lstStyle/>
                    <a:p>
                      <a:r>
                        <a:rPr lang="en-US" sz="1600" dirty="0" err="1"/>
                        <a:t>GaussianBlur</a:t>
                      </a:r>
                      <a:endParaRPr lang="en-US" sz="1600" dirty="0"/>
                    </a:p>
                  </a:txBody>
                  <a:tcPr/>
                </a:tc>
                <a:tc>
                  <a:txBody>
                    <a:bodyPr/>
                    <a:lstStyle/>
                    <a:p>
                      <a:r>
                        <a:rPr lang="en-US" sz="1600" dirty="0"/>
                        <a:t>Harris</a:t>
                      </a:r>
                    </a:p>
                  </a:txBody>
                  <a:tcPr/>
                </a:tc>
                <a:extLst>
                  <a:ext uri="{0D108BD9-81ED-4DB2-BD59-A6C34878D82A}">
                    <a16:rowId xmlns:a16="http://schemas.microsoft.com/office/drawing/2014/main" val="2672163720"/>
                  </a:ext>
                </a:extLst>
              </a:tr>
              <a:tr h="0">
                <a:tc>
                  <a:txBody>
                    <a:bodyPr/>
                    <a:lstStyle/>
                    <a:p>
                      <a:r>
                        <a:rPr lang="en-US" sz="1600" dirty="0" err="1"/>
                        <a:t>CornerHarris</a:t>
                      </a:r>
                      <a:endParaRPr lang="en-US" sz="1600" dirty="0"/>
                    </a:p>
                  </a:txBody>
                  <a:tcPr/>
                </a:tc>
                <a:tc>
                  <a:txBody>
                    <a:bodyPr/>
                    <a:lstStyle/>
                    <a:p>
                      <a:r>
                        <a:rPr lang="en-US" sz="1600" dirty="0"/>
                        <a:t>HoughLines2</a:t>
                      </a:r>
                    </a:p>
                  </a:txBody>
                  <a:tcPr/>
                </a:tc>
                <a:tc>
                  <a:txBody>
                    <a:bodyPr/>
                    <a:lstStyle/>
                    <a:p>
                      <a:r>
                        <a:rPr lang="en-US" sz="1600" dirty="0"/>
                        <a:t>Integral</a:t>
                      </a:r>
                    </a:p>
                  </a:txBody>
                  <a:tcPr/>
                </a:tc>
                <a:tc>
                  <a:txBody>
                    <a:bodyPr/>
                    <a:lstStyle/>
                    <a:p>
                      <a:r>
                        <a:rPr lang="en-US" sz="1600" dirty="0"/>
                        <a:t>Merge</a:t>
                      </a:r>
                    </a:p>
                  </a:txBody>
                  <a:tcPr/>
                </a:tc>
                <a:tc>
                  <a:txBody>
                    <a:bodyPr/>
                    <a:lstStyle/>
                    <a:p>
                      <a:r>
                        <a:rPr lang="en-US" sz="1799" b="0" i="0" kern="1200" dirty="0" err="1">
                          <a:solidFill>
                            <a:schemeClr val="tx1"/>
                          </a:solidFill>
                          <a:effectLst/>
                          <a:latin typeface="+mn-lt"/>
                          <a:ea typeface="+mn-ea"/>
                          <a:cs typeface="+mn-cs"/>
                        </a:rPr>
                        <a:t>MinMaxLoc</a:t>
                      </a:r>
                      <a:endParaRPr lang="en-US" sz="1600" dirty="0"/>
                    </a:p>
                  </a:txBody>
                  <a:tcPr/>
                </a:tc>
                <a:extLst>
                  <a:ext uri="{0D108BD9-81ED-4DB2-BD59-A6C34878D82A}">
                    <a16:rowId xmlns:a16="http://schemas.microsoft.com/office/drawing/2014/main" val="4068527856"/>
                  </a:ext>
                </a:extLst>
              </a:tr>
              <a:tr h="0">
                <a:tc>
                  <a:txBody>
                    <a:bodyPr/>
                    <a:lstStyle/>
                    <a:p>
                      <a:r>
                        <a:rPr lang="en-US" sz="1600" dirty="0" err="1"/>
                        <a:t>Mul</a:t>
                      </a:r>
                      <a:endParaRPr lang="en-US" sz="1600" dirty="0"/>
                    </a:p>
                  </a:txBody>
                  <a:tcPr/>
                </a:tc>
                <a:tc>
                  <a:txBody>
                    <a:bodyPr/>
                    <a:lstStyle/>
                    <a:p>
                      <a:r>
                        <a:rPr lang="en-US" sz="1600" dirty="0"/>
                        <a:t>Not</a:t>
                      </a:r>
                    </a:p>
                  </a:txBody>
                  <a:tcPr/>
                </a:tc>
                <a:tc>
                  <a:txBody>
                    <a:bodyPr/>
                    <a:lstStyle/>
                    <a:p>
                      <a:r>
                        <a:rPr lang="en-US" sz="1600" dirty="0"/>
                        <a:t>Range</a:t>
                      </a:r>
                    </a:p>
                  </a:txBody>
                  <a:tcPr/>
                </a:tc>
                <a:tc>
                  <a:txBody>
                    <a:bodyPr/>
                    <a:lstStyle/>
                    <a:p>
                      <a:r>
                        <a:rPr lang="en-US" sz="1600" dirty="0"/>
                        <a:t>Resize</a:t>
                      </a:r>
                    </a:p>
                  </a:txBody>
                  <a:tcPr/>
                </a:tc>
                <a:tc>
                  <a:txBody>
                    <a:bodyPr/>
                    <a:lstStyle/>
                    <a:p>
                      <a:r>
                        <a:rPr lang="en-US" sz="1600" dirty="0" err="1"/>
                        <a:t>sobel</a:t>
                      </a:r>
                      <a:endParaRPr lang="en-US" sz="1600" dirty="0"/>
                    </a:p>
                  </a:txBody>
                  <a:tcPr/>
                </a:tc>
                <a:extLst>
                  <a:ext uri="{0D108BD9-81ED-4DB2-BD59-A6C34878D82A}">
                    <a16:rowId xmlns:a16="http://schemas.microsoft.com/office/drawing/2014/main" val="443224137"/>
                  </a:ext>
                </a:extLst>
              </a:tr>
              <a:tr h="0">
                <a:tc>
                  <a:txBody>
                    <a:bodyPr/>
                    <a:lstStyle/>
                    <a:p>
                      <a:r>
                        <a:rPr lang="en-US" sz="1600" dirty="0"/>
                        <a:t>split</a:t>
                      </a:r>
                    </a:p>
                  </a:txBody>
                  <a:tcPr/>
                </a:tc>
                <a:tc>
                  <a:txBody>
                    <a:bodyPr/>
                    <a:lstStyle/>
                    <a:p>
                      <a:r>
                        <a:rPr lang="en-US" sz="1600" dirty="0"/>
                        <a:t>Threshold</a:t>
                      </a:r>
                    </a:p>
                  </a:txBody>
                  <a:tcPr/>
                </a:tc>
                <a:tc>
                  <a:txBody>
                    <a:bodyPr/>
                    <a:lstStyle/>
                    <a:p>
                      <a:r>
                        <a:rPr lang="en-US" sz="1600" dirty="0"/>
                        <a:t>Scale</a:t>
                      </a:r>
                    </a:p>
                  </a:txBody>
                  <a:tcPr/>
                </a:tc>
                <a:tc>
                  <a:txBody>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lang="en-US" sz="1600" dirty="0" err="1"/>
                        <a:t>CvtColor</a:t>
                      </a:r>
                      <a:endParaRPr lang="en-US" sz="1600" dirty="0"/>
                    </a:p>
                  </a:txBody>
                  <a:tcPr/>
                </a:tc>
                <a:tc>
                  <a:txBody>
                    <a:bodyPr/>
                    <a:lstStyle/>
                    <a:p>
                      <a:endParaRPr lang="en-US" sz="1600" dirty="0"/>
                    </a:p>
                  </a:txBody>
                  <a:tcPr/>
                </a:tc>
                <a:extLst>
                  <a:ext uri="{0D108BD9-81ED-4DB2-BD59-A6C34878D82A}">
                    <a16:rowId xmlns:a16="http://schemas.microsoft.com/office/drawing/2014/main" val="2313785467"/>
                  </a:ext>
                </a:extLst>
              </a:tr>
              <a:tr h="0">
                <a:tc gridSpan="3">
                  <a:txBody>
                    <a:bodyPr/>
                    <a:lstStyle/>
                    <a:p>
                      <a:r>
                        <a:rPr lang="en-US" sz="1600" dirty="0" err="1"/>
                        <a:t>InitUndistortRectifyMapInverse</a:t>
                      </a:r>
                      <a:endParaRPr lang="en-US" sz="1600" dirty="0"/>
                    </a:p>
                  </a:txBody>
                  <a:tcPr/>
                </a:tc>
                <a:tc hMerge="1">
                  <a:txBody>
                    <a:bodyPr/>
                    <a:lstStyle/>
                    <a:p>
                      <a:endParaRPr lang="en-US" sz="1600" dirty="0"/>
                    </a:p>
                  </a:txBody>
                  <a:tcPr/>
                </a:tc>
                <a:tc hMerge="1">
                  <a:txBody>
                    <a:bodyPr/>
                    <a:lstStyle/>
                    <a:p>
                      <a:endParaRPr lang="en-US" sz="1600" dirty="0"/>
                    </a:p>
                  </a:txBody>
                  <a:tcPr/>
                </a:tc>
                <a:tc gridSpan="2">
                  <a:txBody>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lang="en-US" sz="1600" dirty="0"/>
                        <a:t>Avg, mean, </a:t>
                      </a:r>
                      <a:r>
                        <a:rPr lang="en-US" sz="1600" dirty="0" err="1"/>
                        <a:t>AvgStddev</a:t>
                      </a:r>
                      <a:endParaRPr lang="en-US" sz="1600" dirty="0"/>
                    </a:p>
                  </a:txBody>
                  <a:tcPr/>
                </a:tc>
                <a:tc hMerge="1">
                  <a:txBody>
                    <a:bodyPr/>
                    <a:lstStyle/>
                    <a:p>
                      <a:endParaRPr lang="en-US" sz="1600" dirty="0"/>
                    </a:p>
                  </a:txBody>
                  <a:tcPr/>
                </a:tc>
                <a:extLst>
                  <a:ext uri="{0D108BD9-81ED-4DB2-BD59-A6C34878D82A}">
                    <a16:rowId xmlns:a16="http://schemas.microsoft.com/office/drawing/2014/main" val="2440928803"/>
                  </a:ext>
                </a:extLst>
              </a:tr>
            </a:tbl>
          </a:graphicData>
        </a:graphic>
      </p:graphicFrame>
    </p:spTree>
    <p:extLst>
      <p:ext uri="{BB962C8B-B14F-4D97-AF65-F5344CB8AC3E}">
        <p14:creationId xmlns:p14="http://schemas.microsoft.com/office/powerpoint/2010/main" val="119724461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Using </a:t>
            </a:r>
            <a:r>
              <a:rPr lang="en-US" dirty="0" err="1"/>
              <a:t>OpenCV</a:t>
            </a:r>
            <a:r>
              <a:rPr lang="en-US" dirty="0"/>
              <a:t> in FPGA Designs</a:t>
            </a:r>
          </a:p>
        </p:txBody>
      </p:sp>
      <p:sp>
        <p:nvSpPr>
          <p:cNvPr id="3" name="Slide Number Placeholder 2"/>
          <p:cNvSpPr>
            <a:spLocks noGrp="1"/>
          </p:cNvSpPr>
          <p:nvPr>
            <p:ph type="sldNum" sz="quarter" idx="4"/>
          </p:nvPr>
        </p:nvSpPr>
        <p:spPr>
          <a:xfrm>
            <a:off x="579120" y="6325606"/>
            <a:ext cx="2732792" cy="365125"/>
          </a:xfrm>
        </p:spPr>
        <p:txBody>
          <a:bodyPr/>
          <a:lstStyle/>
          <a:p>
            <a:pPr>
              <a:defRPr/>
            </a:pPr>
            <a:r>
              <a:rPr lang="en-US" dirty="0"/>
              <a:t>Coding Considerations 23- </a:t>
            </a:r>
            <a:fld id="{060BD193-E118-4B16-863C-C8C12C675E3E}" type="slidenum">
              <a:rPr lang="en-US" smtClean="0"/>
              <a:pPr>
                <a:defRPr/>
              </a:pPr>
              <a:t>110</a:t>
            </a:fld>
            <a:endParaRPr lang="en-US" dirty="0"/>
          </a:p>
        </p:txBody>
      </p:sp>
      <p:pic>
        <p:nvPicPr>
          <p:cNvPr id="4098"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2635" y="1271732"/>
            <a:ext cx="8067947" cy="4612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67932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Using </a:t>
            </a:r>
            <a:r>
              <a:rPr lang="en-US" dirty="0" err="1"/>
              <a:t>OpenCV</a:t>
            </a:r>
            <a:r>
              <a:rPr lang="en-US" dirty="0"/>
              <a:t> in FPGA Designs</a:t>
            </a:r>
          </a:p>
        </p:txBody>
      </p:sp>
      <p:sp>
        <p:nvSpPr>
          <p:cNvPr id="3" name="Slide Number Placeholder 2"/>
          <p:cNvSpPr>
            <a:spLocks noGrp="1"/>
          </p:cNvSpPr>
          <p:nvPr>
            <p:ph type="sldNum" sz="quarter" idx="10"/>
          </p:nvPr>
        </p:nvSpPr>
        <p:spPr/>
        <p:txBody>
          <a:bodyPr/>
          <a:lstStyle/>
          <a:p>
            <a:pPr defTabSz="914400">
              <a:defRPr/>
            </a:pPr>
            <a:r>
              <a:rPr lang="en-US" dirty="0">
                <a:solidFill>
                  <a:srgbClr val="0C0C0C">
                    <a:tint val="75000"/>
                  </a:srgbClr>
                </a:solidFill>
                <a:latin typeface="Arial"/>
              </a:rPr>
              <a:t>Coding Considerations 23- </a:t>
            </a:r>
            <a:fld id="{060BD193-E118-4B16-863C-C8C12C675E3E}" type="slidenum">
              <a:rPr lang="en-US">
                <a:solidFill>
                  <a:srgbClr val="0C0C0C">
                    <a:tint val="75000"/>
                  </a:srgbClr>
                </a:solidFill>
                <a:latin typeface="Arial"/>
              </a:rPr>
              <a:pPr defTabSz="914400">
                <a:defRPr/>
              </a:pPr>
              <a:t>111</a:t>
            </a:fld>
            <a:endParaRPr lang="en-US" dirty="0">
              <a:solidFill>
                <a:srgbClr val="0C0C0C">
                  <a:tint val="75000"/>
                </a:srgbClr>
              </a:solidFill>
              <a:latin typeface="Arial"/>
            </a:endParaRPr>
          </a:p>
        </p:txBody>
      </p:sp>
      <p:pic>
        <p:nvPicPr>
          <p:cNvPr id="4098"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2635" y="1271732"/>
            <a:ext cx="8067947" cy="4612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6750258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Partitioned </a:t>
            </a:r>
            <a:r>
              <a:rPr lang="en-US" dirty="0" err="1"/>
              <a:t>OpenCV</a:t>
            </a:r>
            <a:r>
              <a:rPr lang="en-US" dirty="0"/>
              <a:t> Application</a:t>
            </a:r>
          </a:p>
        </p:txBody>
      </p:sp>
      <p:sp>
        <p:nvSpPr>
          <p:cNvPr id="3" name="Slide Number Placeholder 2"/>
          <p:cNvSpPr>
            <a:spLocks noGrp="1"/>
          </p:cNvSpPr>
          <p:nvPr>
            <p:ph type="sldNum" sz="quarter" idx="4"/>
          </p:nvPr>
        </p:nvSpPr>
        <p:spPr>
          <a:xfrm>
            <a:off x="579120" y="6325606"/>
            <a:ext cx="2743943" cy="365125"/>
          </a:xfrm>
        </p:spPr>
        <p:txBody>
          <a:bodyPr/>
          <a:lstStyle/>
          <a:p>
            <a:pPr>
              <a:defRPr/>
            </a:pPr>
            <a:r>
              <a:rPr lang="en-US" dirty="0"/>
              <a:t>Coding Considerations 23- </a:t>
            </a:r>
            <a:fld id="{060BD193-E118-4B16-863C-C8C12C675E3E}" type="slidenum">
              <a:rPr lang="en-US" smtClean="0"/>
              <a:pPr>
                <a:defRPr/>
              </a:pPr>
              <a:t>112</a:t>
            </a:fld>
            <a:endParaRPr lang="en-US" dirty="0"/>
          </a:p>
        </p:txBody>
      </p:sp>
      <p:pic>
        <p:nvPicPr>
          <p:cNvPr id="5122"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39359" y="1176338"/>
            <a:ext cx="7531722" cy="450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099310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Partitioned </a:t>
            </a:r>
            <a:r>
              <a:rPr lang="en-US" dirty="0" err="1"/>
              <a:t>OpenCV</a:t>
            </a:r>
            <a:r>
              <a:rPr lang="en-US" dirty="0"/>
              <a:t> Application</a:t>
            </a:r>
          </a:p>
        </p:txBody>
      </p:sp>
      <p:sp>
        <p:nvSpPr>
          <p:cNvPr id="3" name="Slide Number Placeholder 2"/>
          <p:cNvSpPr>
            <a:spLocks noGrp="1"/>
          </p:cNvSpPr>
          <p:nvPr>
            <p:ph type="sldNum" sz="quarter" idx="10"/>
          </p:nvPr>
        </p:nvSpPr>
        <p:spPr/>
        <p:txBody>
          <a:bodyPr/>
          <a:lstStyle/>
          <a:p>
            <a:pPr defTabSz="914400">
              <a:defRPr/>
            </a:pPr>
            <a:r>
              <a:rPr lang="en-US" dirty="0">
                <a:solidFill>
                  <a:srgbClr val="0C0C0C">
                    <a:tint val="75000"/>
                  </a:srgbClr>
                </a:solidFill>
                <a:latin typeface="Arial"/>
              </a:rPr>
              <a:t>Coding Considerations 23- </a:t>
            </a:r>
            <a:fld id="{060BD193-E118-4B16-863C-C8C12C675E3E}" type="slidenum">
              <a:rPr lang="en-US">
                <a:solidFill>
                  <a:srgbClr val="0C0C0C">
                    <a:tint val="75000"/>
                  </a:srgbClr>
                </a:solidFill>
                <a:latin typeface="Arial"/>
              </a:rPr>
              <a:pPr defTabSz="914400">
                <a:defRPr/>
              </a:pPr>
              <a:t>113</a:t>
            </a:fld>
            <a:endParaRPr lang="en-US" dirty="0">
              <a:solidFill>
                <a:srgbClr val="0C0C0C">
                  <a:tint val="75000"/>
                </a:srgbClr>
              </a:solidFill>
              <a:latin typeface="Arial"/>
            </a:endParaRPr>
          </a:p>
        </p:txBody>
      </p:sp>
      <p:pic>
        <p:nvPicPr>
          <p:cNvPr id="5122"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39359" y="1176338"/>
            <a:ext cx="7531722" cy="450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21449414"/>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err="1"/>
              <a:t>OpenCV</a:t>
            </a:r>
            <a:r>
              <a:rPr lang="en-US" dirty="0"/>
              <a:t> Design Flow</a:t>
            </a:r>
          </a:p>
        </p:txBody>
      </p:sp>
      <p:sp>
        <p:nvSpPr>
          <p:cNvPr id="2" name="Content Placeholder 1"/>
          <p:cNvSpPr>
            <a:spLocks noGrp="1"/>
          </p:cNvSpPr>
          <p:nvPr>
            <p:ph idx="1"/>
          </p:nvPr>
        </p:nvSpPr>
        <p:spPr/>
        <p:txBody>
          <a:bodyPr/>
          <a:lstStyle/>
          <a:p>
            <a:pPr lvl="0"/>
            <a:r>
              <a:rPr lang="en-US" dirty="0"/>
              <a:t>Develop OpenCV application on desktop</a:t>
            </a:r>
          </a:p>
          <a:p>
            <a:pPr lvl="0"/>
            <a:r>
              <a:rPr lang="en-US" dirty="0"/>
              <a:t>Run OpenCV application on ARM® cores </a:t>
            </a:r>
            <a:br>
              <a:rPr lang="en-US" dirty="0"/>
            </a:br>
            <a:r>
              <a:rPr lang="en-US" dirty="0"/>
              <a:t>without modification</a:t>
            </a:r>
          </a:p>
          <a:p>
            <a:pPr lvl="0"/>
            <a:r>
              <a:rPr lang="en-US" dirty="0"/>
              <a:t>Abstract FPGA portion using I/O functions</a:t>
            </a:r>
          </a:p>
          <a:p>
            <a:pPr lvl="0"/>
            <a:r>
              <a:rPr lang="en-US" dirty="0"/>
              <a:t>Replace OpenCV function calls with </a:t>
            </a:r>
            <a:br>
              <a:rPr lang="en-US" dirty="0"/>
            </a:br>
            <a:r>
              <a:rPr lang="en-US" dirty="0"/>
              <a:t>synthesizable code</a:t>
            </a:r>
          </a:p>
          <a:p>
            <a:pPr lvl="0"/>
            <a:r>
              <a:rPr lang="en-US" dirty="0"/>
              <a:t>Run HLS to generate FPGA accelerator</a:t>
            </a:r>
          </a:p>
          <a:p>
            <a:r>
              <a:rPr lang="en-US" dirty="0"/>
              <a:t>Replace call to synthesizable code with call to </a:t>
            </a:r>
            <a:br>
              <a:rPr lang="en-US" dirty="0"/>
            </a:br>
            <a:r>
              <a:rPr lang="en-US" dirty="0"/>
              <a:t>FPGA accelerator</a:t>
            </a:r>
          </a:p>
        </p:txBody>
      </p:sp>
      <p:sp>
        <p:nvSpPr>
          <p:cNvPr id="3" name="Slide Number Placeholder 2"/>
          <p:cNvSpPr>
            <a:spLocks noGrp="1"/>
          </p:cNvSpPr>
          <p:nvPr>
            <p:ph type="sldNum" sz="quarter" idx="4"/>
          </p:nvPr>
        </p:nvSpPr>
        <p:spPr>
          <a:xfrm>
            <a:off x="579120" y="6325606"/>
            <a:ext cx="2465163" cy="365125"/>
          </a:xfrm>
        </p:spPr>
        <p:txBody>
          <a:bodyPr/>
          <a:lstStyle/>
          <a:p>
            <a:pPr>
              <a:defRPr/>
            </a:pPr>
            <a:r>
              <a:rPr lang="en-US" dirty="0"/>
              <a:t>Coding Considerations 23- </a:t>
            </a:r>
            <a:fld id="{060BD193-E118-4B16-863C-C8C12C675E3E}" type="slidenum">
              <a:rPr lang="en-US" smtClean="0"/>
              <a:pPr>
                <a:defRPr/>
              </a:pPr>
              <a:t>114</a:t>
            </a:fld>
            <a:endParaRPr lang="en-US" dirty="0"/>
          </a:p>
        </p:txBody>
      </p:sp>
      <p:pic>
        <p:nvPicPr>
          <p:cNvPr id="6146"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79649" y="832262"/>
            <a:ext cx="3209925" cy="4698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976823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err="1"/>
              <a:t>OpenCV</a:t>
            </a:r>
            <a:r>
              <a:rPr lang="en-US" dirty="0"/>
              <a:t> Design Flow</a:t>
            </a:r>
          </a:p>
        </p:txBody>
      </p:sp>
      <p:sp>
        <p:nvSpPr>
          <p:cNvPr id="2" name="Content Placeholder 1"/>
          <p:cNvSpPr>
            <a:spLocks noGrp="1"/>
          </p:cNvSpPr>
          <p:nvPr>
            <p:ph sz="half" idx="1"/>
          </p:nvPr>
        </p:nvSpPr>
        <p:spPr/>
        <p:txBody>
          <a:bodyPr/>
          <a:lstStyle/>
          <a:p>
            <a:pPr lvl="0"/>
            <a:r>
              <a:rPr lang="en-US" dirty="0"/>
              <a:t>Develop OpenCV application on desktop</a:t>
            </a:r>
          </a:p>
          <a:p>
            <a:pPr lvl="0"/>
            <a:r>
              <a:rPr lang="en-US" dirty="0"/>
              <a:t>Run OpenCV application on ARM® cores </a:t>
            </a:r>
            <a:br>
              <a:rPr lang="en-US" dirty="0"/>
            </a:br>
            <a:r>
              <a:rPr lang="en-US" dirty="0"/>
              <a:t>without modification</a:t>
            </a:r>
          </a:p>
          <a:p>
            <a:pPr lvl="0"/>
            <a:r>
              <a:rPr lang="en-US" dirty="0"/>
              <a:t>Abstract FPGA portion using I/O functions</a:t>
            </a:r>
          </a:p>
          <a:p>
            <a:pPr lvl="0"/>
            <a:r>
              <a:rPr lang="en-US" dirty="0"/>
              <a:t>Replace OpenCV function calls with </a:t>
            </a:r>
            <a:br>
              <a:rPr lang="en-US" dirty="0"/>
            </a:br>
            <a:r>
              <a:rPr lang="en-US" dirty="0"/>
              <a:t>synthesizable code</a:t>
            </a:r>
          </a:p>
          <a:p>
            <a:pPr lvl="0"/>
            <a:r>
              <a:rPr lang="en-US" dirty="0"/>
              <a:t>Run HLS to generate FPGA accelerator</a:t>
            </a:r>
          </a:p>
          <a:p>
            <a:r>
              <a:rPr lang="en-US" dirty="0"/>
              <a:t>Replace call to synthesizable code with call to </a:t>
            </a:r>
            <a:br>
              <a:rPr lang="en-US" dirty="0"/>
            </a:br>
            <a:r>
              <a:rPr lang="en-US" dirty="0"/>
              <a:t>FPGA accelerator</a:t>
            </a:r>
          </a:p>
        </p:txBody>
      </p:sp>
      <p:sp>
        <p:nvSpPr>
          <p:cNvPr id="3" name="Slide Number Placeholder 2"/>
          <p:cNvSpPr>
            <a:spLocks noGrp="1"/>
          </p:cNvSpPr>
          <p:nvPr>
            <p:ph type="sldNum" sz="quarter" idx="10"/>
          </p:nvPr>
        </p:nvSpPr>
        <p:spPr/>
        <p:txBody>
          <a:bodyPr/>
          <a:lstStyle/>
          <a:p>
            <a:pPr defTabSz="914400">
              <a:defRPr/>
            </a:pPr>
            <a:r>
              <a:rPr lang="en-US" dirty="0">
                <a:solidFill>
                  <a:srgbClr val="0C0C0C">
                    <a:tint val="75000"/>
                  </a:srgbClr>
                </a:solidFill>
                <a:latin typeface="Arial"/>
              </a:rPr>
              <a:t>Coding Considerations 23- </a:t>
            </a:r>
            <a:fld id="{060BD193-E118-4B16-863C-C8C12C675E3E}" type="slidenum">
              <a:rPr lang="en-US">
                <a:solidFill>
                  <a:srgbClr val="0C0C0C">
                    <a:tint val="75000"/>
                  </a:srgbClr>
                </a:solidFill>
                <a:latin typeface="Arial"/>
              </a:rPr>
              <a:pPr defTabSz="914400">
                <a:defRPr/>
              </a:pPr>
              <a:t>115</a:t>
            </a:fld>
            <a:endParaRPr lang="en-US" dirty="0">
              <a:solidFill>
                <a:srgbClr val="0C0C0C">
                  <a:tint val="75000"/>
                </a:srgbClr>
              </a:solidFill>
              <a:latin typeface="Arial"/>
            </a:endParaRPr>
          </a:p>
        </p:txBody>
      </p:sp>
      <p:pic>
        <p:nvPicPr>
          <p:cNvPr id="6146"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79649" y="832262"/>
            <a:ext cx="3209925" cy="4698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09598080"/>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trike="sngStrike" dirty="0"/>
              <a:t>C </a:t>
            </a:r>
            <a:r>
              <a:rPr lang="en-US" strike="sngStrike" dirty="0" err="1"/>
              <a:t>Testbench</a:t>
            </a:r>
            <a:r>
              <a:rPr lang="en-US" strike="sngStrike" dirty="0"/>
              <a:t>: Interface Library Example</a:t>
            </a:r>
          </a:p>
        </p:txBody>
      </p:sp>
      <p:sp>
        <p:nvSpPr>
          <p:cNvPr id="2" name="Content Placeholder 1"/>
          <p:cNvSpPr>
            <a:spLocks noGrp="1"/>
          </p:cNvSpPr>
          <p:nvPr>
            <p:ph idx="1"/>
          </p:nvPr>
        </p:nvSpPr>
        <p:spPr/>
        <p:txBody>
          <a:bodyPr/>
          <a:lstStyle/>
          <a:p>
            <a:pPr lvl="0"/>
            <a:r>
              <a:rPr lang="en-US" dirty="0"/>
              <a:t>Interface libraries convert to/from OpenCV image to HLS type</a:t>
            </a:r>
          </a:p>
          <a:p>
            <a:pPr lvl="1"/>
            <a:r>
              <a:rPr lang="en-US" dirty="0"/>
              <a:t>HLS MAT format: synthesizable and AXI4 Stream support </a:t>
            </a:r>
          </a:p>
        </p:txBody>
      </p:sp>
      <p:sp>
        <p:nvSpPr>
          <p:cNvPr id="3" name="Slide Number Placeholder 2"/>
          <p:cNvSpPr>
            <a:spLocks noGrp="1"/>
          </p:cNvSpPr>
          <p:nvPr>
            <p:ph type="sldNum" sz="quarter" idx="10"/>
          </p:nvPr>
        </p:nvSpPr>
        <p:spPr/>
        <p:txBody>
          <a:bodyPr/>
          <a:lstStyle/>
          <a:p>
            <a:pPr defTabSz="914400">
              <a:defRPr/>
            </a:pPr>
            <a:r>
              <a:rPr lang="en-US" dirty="0">
                <a:solidFill>
                  <a:srgbClr val="0C0C0C">
                    <a:tint val="75000"/>
                  </a:srgbClr>
                </a:solidFill>
                <a:latin typeface="Arial"/>
              </a:rPr>
              <a:t>Coding Considerations 23- </a:t>
            </a:r>
            <a:fld id="{060BD193-E118-4B16-863C-C8C12C675E3E}" type="slidenum">
              <a:rPr lang="en-US">
                <a:solidFill>
                  <a:srgbClr val="0C0C0C">
                    <a:tint val="75000"/>
                  </a:srgbClr>
                </a:solidFill>
                <a:latin typeface="Arial"/>
              </a:rPr>
              <a:pPr defTabSz="914400">
                <a:defRPr/>
              </a:pPr>
              <a:t>116</a:t>
            </a:fld>
            <a:endParaRPr lang="en-US" dirty="0">
              <a:solidFill>
                <a:srgbClr val="0C0C0C">
                  <a:tint val="75000"/>
                </a:srgbClr>
              </a:solidFill>
              <a:latin typeface="Arial"/>
            </a:endParaRPr>
          </a:p>
        </p:txBody>
      </p:sp>
      <p:pic>
        <p:nvPicPr>
          <p:cNvPr id="7170"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1788" y="2552700"/>
            <a:ext cx="8904238"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26260241"/>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trike="sngStrike" dirty="0"/>
              <a:t>Synthesizable C Function Example</a:t>
            </a:r>
          </a:p>
        </p:txBody>
      </p:sp>
      <p:sp>
        <p:nvSpPr>
          <p:cNvPr id="3" name="Slide Number Placeholder 2"/>
          <p:cNvSpPr>
            <a:spLocks noGrp="1"/>
          </p:cNvSpPr>
          <p:nvPr>
            <p:ph type="sldNum" sz="quarter" idx="10"/>
          </p:nvPr>
        </p:nvSpPr>
        <p:spPr/>
        <p:txBody>
          <a:bodyPr/>
          <a:lstStyle/>
          <a:p>
            <a:pPr defTabSz="914400">
              <a:defRPr/>
            </a:pPr>
            <a:r>
              <a:rPr lang="en-US">
                <a:solidFill>
                  <a:srgbClr val="0C0C0C">
                    <a:tint val="75000"/>
                  </a:srgbClr>
                </a:solidFill>
                <a:latin typeface="Arial"/>
              </a:rPr>
              <a:t>Coding Considerations 23- </a:t>
            </a:r>
            <a:fld id="{060BD193-E118-4B16-863C-C8C12C675E3E}" type="slidenum">
              <a:rPr lang="en-US">
                <a:solidFill>
                  <a:srgbClr val="0C0C0C">
                    <a:tint val="75000"/>
                  </a:srgbClr>
                </a:solidFill>
                <a:latin typeface="Arial"/>
              </a:rPr>
              <a:pPr defTabSz="914400">
                <a:defRPr/>
              </a:pPr>
              <a:t>117</a:t>
            </a:fld>
            <a:endParaRPr lang="en-US" dirty="0">
              <a:solidFill>
                <a:srgbClr val="0C0C0C">
                  <a:tint val="75000"/>
                </a:srgbClr>
              </a:solidFill>
              <a:latin typeface="Arial"/>
            </a:endParaRPr>
          </a:p>
        </p:txBody>
      </p:sp>
      <p:pic>
        <p:nvPicPr>
          <p:cNvPr id="8194"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2238" y="1581150"/>
            <a:ext cx="9400556" cy="476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57942676"/>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45210-F2A8-4F0E-841F-5CA988952A38}"/>
              </a:ext>
            </a:extLst>
          </p:cNvPr>
          <p:cNvSpPr>
            <a:spLocks noGrp="1"/>
          </p:cNvSpPr>
          <p:nvPr>
            <p:ph type="title"/>
          </p:nvPr>
        </p:nvSpPr>
        <p:spPr/>
        <p:txBody>
          <a:bodyPr/>
          <a:lstStyle/>
          <a:p>
            <a:r>
              <a:rPr lang="en-US" altLang="zh-CN" dirty="0"/>
              <a:t>Summary</a:t>
            </a:r>
            <a:endParaRPr lang="zh-CN" altLang="en-US" dirty="0"/>
          </a:p>
        </p:txBody>
      </p:sp>
    </p:spTree>
    <p:extLst>
      <p:ext uri="{BB962C8B-B14F-4D97-AF65-F5344CB8AC3E}">
        <p14:creationId xmlns:p14="http://schemas.microsoft.com/office/powerpoint/2010/main" val="781057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p:txBody>
          <a:bodyPr>
            <a:normAutofit fontScale="85000" lnSpcReduction="20000"/>
          </a:bodyPr>
          <a:lstStyle/>
          <a:p>
            <a:r>
              <a:rPr lang="en-US" dirty="0" err="1"/>
              <a:t>Vitis</a:t>
            </a:r>
            <a:r>
              <a:rPr lang="en-US" dirty="0"/>
              <a:t> HLS supports C, C++</a:t>
            </a:r>
          </a:p>
          <a:p>
            <a:r>
              <a:rPr lang="en-US" dirty="0"/>
              <a:t>Vast majority of constructs are synthesizable provided they are statically defined at compile time</a:t>
            </a:r>
          </a:p>
          <a:p>
            <a:r>
              <a:rPr lang="en-US" dirty="0"/>
              <a:t>Some of the unsupported constructs are</a:t>
            </a:r>
          </a:p>
          <a:p>
            <a:pPr lvl="1"/>
            <a:r>
              <a:rPr lang="en-US" dirty="0"/>
              <a:t>System calls and function pointer</a:t>
            </a:r>
          </a:p>
          <a:p>
            <a:pPr lvl="1"/>
            <a:r>
              <a:rPr lang="en-US" dirty="0"/>
              <a:t>Forward declared data type</a:t>
            </a:r>
          </a:p>
          <a:p>
            <a:pPr lvl="1"/>
            <a:r>
              <a:rPr lang="en-US" dirty="0"/>
              <a:t>Recursive type functions</a:t>
            </a:r>
          </a:p>
          <a:p>
            <a:pPr lvl="1"/>
            <a:r>
              <a:rPr lang="en-US" dirty="0"/>
              <a:t>Dynamic memory allocation</a:t>
            </a:r>
          </a:p>
          <a:p>
            <a:pPr lvl="1"/>
            <a:r>
              <a:rPr lang="en-US" dirty="0"/>
              <a:t>Dynamic virtual calls</a:t>
            </a:r>
          </a:p>
          <a:p>
            <a:pPr lvl="1"/>
            <a:r>
              <a:rPr lang="en-US" dirty="0"/>
              <a:t>Pointer reinterpretation</a:t>
            </a:r>
          </a:p>
          <a:p>
            <a:r>
              <a:rPr lang="en-US" dirty="0"/>
              <a:t>Multi-access pointer is a pointer which is read and written to multiple times</a:t>
            </a:r>
          </a:p>
          <a:p>
            <a:pPr lvl="1"/>
            <a:r>
              <a:rPr lang="en-US" dirty="0"/>
              <a:t>Must be marked as volatile or reads and writes will be optimized away</a:t>
            </a:r>
          </a:p>
          <a:p>
            <a:pPr lvl="1"/>
            <a:r>
              <a:rPr lang="en-US" dirty="0"/>
              <a:t>Cannot be rigorously validated with C simulation</a:t>
            </a:r>
          </a:p>
          <a:p>
            <a:pPr lvl="1"/>
            <a:r>
              <a:rPr lang="en-US" dirty="0"/>
              <a:t>Require a depth specification for RTL simulation</a:t>
            </a:r>
          </a:p>
        </p:txBody>
      </p:sp>
      <p:sp>
        <p:nvSpPr>
          <p:cNvPr id="5" name="Slide Number Placeholder 5">
            <a:extLst>
              <a:ext uri="{FF2B5EF4-FFF2-40B4-BE49-F238E27FC236}">
                <a16:creationId xmlns:a16="http://schemas.microsoft.com/office/drawing/2014/main" id="{A0B4CBD9-1B36-4979-9B98-DB58AE39B003}"/>
              </a:ext>
            </a:extLst>
          </p:cNvPr>
          <p:cNvSpPr>
            <a:spLocks noGrp="1"/>
          </p:cNvSpPr>
          <p:nvPr>
            <p:ph type="sldNum" sz="quarter" idx="4"/>
          </p:nvPr>
        </p:nvSpPr>
        <p:spPr>
          <a:xfrm>
            <a:off x="579120" y="6325606"/>
            <a:ext cx="2654734" cy="365125"/>
          </a:xfrm>
        </p:spPr>
        <p:txBody>
          <a:bodyPr/>
          <a:lstStyle/>
          <a:p>
            <a:pPr>
              <a:defRPr/>
            </a:pPr>
            <a:r>
              <a:rPr lang="en-US" dirty="0"/>
              <a:t>Coding Considerations 23- </a:t>
            </a:r>
            <a:fld id="{060BD193-E118-4B16-863C-C8C12C675E3E}" type="slidenum">
              <a:rPr lang="en-US" smtClean="0"/>
              <a:pPr>
                <a:defRPr/>
              </a:pPr>
              <a:t>119</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p:txBody>
          <a:bodyPr>
            <a:normAutofit/>
          </a:bodyPr>
          <a:lstStyle/>
          <a:p>
            <a:r>
              <a:rPr lang="en-US" dirty="0" err="1">
                <a:highlight>
                  <a:srgbClr val="FFFF00"/>
                </a:highlight>
              </a:rPr>
              <a:t>Vitis</a:t>
            </a:r>
            <a:r>
              <a:rPr lang="en-US" dirty="0"/>
              <a:t> HLS supports C, C++, </a:t>
            </a:r>
            <a:r>
              <a:rPr lang="en-US" strike="sngStrike" dirty="0"/>
              <a:t>and </a:t>
            </a:r>
            <a:r>
              <a:rPr lang="en-US" strike="sngStrike" dirty="0" err="1"/>
              <a:t>SystemC</a:t>
            </a:r>
            <a:endParaRPr lang="en-US" strike="sngStrike" dirty="0"/>
          </a:p>
          <a:p>
            <a:pPr lvl="1"/>
            <a:r>
              <a:rPr lang="en-US" dirty="0"/>
              <a:t>Vast majority of constructs are synthesizable provided they are statically defined at compile time</a:t>
            </a:r>
          </a:p>
          <a:p>
            <a:r>
              <a:rPr lang="en-US" dirty="0"/>
              <a:t>Some of the unsupported constructs are</a:t>
            </a:r>
          </a:p>
          <a:p>
            <a:pPr lvl="1"/>
            <a:r>
              <a:rPr lang="en-US" dirty="0"/>
              <a:t>System calls and function pointer</a:t>
            </a:r>
          </a:p>
          <a:p>
            <a:pPr lvl="1"/>
            <a:r>
              <a:rPr lang="en-US" dirty="0"/>
              <a:t>Forward declared data type</a:t>
            </a:r>
          </a:p>
          <a:p>
            <a:pPr lvl="1"/>
            <a:r>
              <a:rPr lang="en-US" dirty="0"/>
              <a:t>Recursive type functions</a:t>
            </a:r>
          </a:p>
          <a:p>
            <a:pPr lvl="1"/>
            <a:r>
              <a:rPr lang="en-US" dirty="0"/>
              <a:t>Dynamic memory allocation</a:t>
            </a:r>
          </a:p>
          <a:p>
            <a:pPr lvl="1"/>
            <a:r>
              <a:rPr lang="en-US" dirty="0"/>
              <a:t>Dynamic virtual calls</a:t>
            </a:r>
          </a:p>
          <a:p>
            <a:pPr lvl="1"/>
            <a:r>
              <a:rPr lang="en-US" dirty="0"/>
              <a:t>Pointer reinterpretation</a:t>
            </a:r>
          </a:p>
          <a:p>
            <a:r>
              <a:rPr lang="en-US" dirty="0"/>
              <a:t>Multi-access pointer is a pointer which is read and written to multiple times</a:t>
            </a:r>
          </a:p>
          <a:p>
            <a:pPr lvl="1"/>
            <a:r>
              <a:rPr lang="en-US" dirty="0"/>
              <a:t>Must be marked as volatile or reads and writes will be optimized away</a:t>
            </a:r>
          </a:p>
          <a:p>
            <a:pPr lvl="1"/>
            <a:r>
              <a:rPr lang="en-US" dirty="0"/>
              <a:t>Cannot be rigorously validated with C simulation</a:t>
            </a:r>
          </a:p>
          <a:p>
            <a:pPr lvl="1"/>
            <a:r>
              <a:rPr lang="en-US" dirty="0"/>
              <a:t>Require a depth specification for RTL simulation</a:t>
            </a:r>
          </a:p>
        </p:txBody>
      </p:sp>
      <p:sp>
        <p:nvSpPr>
          <p:cNvPr id="6" name="Slide Number Placeholder 5"/>
          <p:cNvSpPr>
            <a:spLocks noGrp="1"/>
          </p:cNvSpPr>
          <p:nvPr>
            <p:ph type="sldNum" sz="quarter" idx="10"/>
          </p:nvPr>
        </p:nvSpPr>
        <p:spPr/>
        <p:txBody>
          <a:bodyPr/>
          <a:lstStyle/>
          <a:p>
            <a:pPr defTabSz="914400">
              <a:defRPr/>
            </a:pPr>
            <a:r>
              <a:rPr lang="en-US" dirty="0">
                <a:solidFill>
                  <a:srgbClr val="0C0C0C">
                    <a:tint val="75000"/>
                  </a:srgbClr>
                </a:solidFill>
                <a:latin typeface="Arial"/>
              </a:rPr>
              <a:t>Coding Considerations 23- </a:t>
            </a:r>
            <a:fld id="{060BD193-E118-4B16-863C-C8C12C675E3E}" type="slidenum">
              <a:rPr lang="en-US">
                <a:solidFill>
                  <a:srgbClr val="0C0C0C">
                    <a:tint val="75000"/>
                  </a:srgbClr>
                </a:solidFill>
                <a:latin typeface="Arial"/>
              </a:rPr>
              <a:pPr defTabSz="914400">
                <a:defRPr/>
              </a:pPr>
              <a:t>120</a:t>
            </a:fld>
            <a:endParaRPr lang="en-US" dirty="0">
              <a:solidFill>
                <a:srgbClr val="0C0C0C">
                  <a:tint val="75000"/>
                </a:srgbClr>
              </a:solidFill>
              <a:latin typeface="Arial"/>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p:txBody>
          <a:bodyPr/>
          <a:lstStyle/>
          <a:p>
            <a:r>
              <a:rPr lang="en-US" dirty="0"/>
              <a:t>When </a:t>
            </a:r>
            <a:r>
              <a:rPr lang="en-US" dirty="0" err="1"/>
              <a:t>struct</a:t>
            </a:r>
            <a:r>
              <a:rPr lang="en-US" dirty="0"/>
              <a:t> is passed as a pointer the data are accessed as pass-by-reference</a:t>
            </a:r>
          </a:p>
          <a:p>
            <a:r>
              <a:rPr lang="en-US" dirty="0"/>
              <a:t>When </a:t>
            </a:r>
            <a:r>
              <a:rPr lang="en-US" dirty="0" err="1"/>
              <a:t>struct</a:t>
            </a:r>
            <a:r>
              <a:rPr lang="en-US" dirty="0"/>
              <a:t> is not passed a pointer the data are accessed as by value</a:t>
            </a:r>
          </a:p>
          <a:p>
            <a:r>
              <a:rPr lang="en-US" dirty="0"/>
              <a:t>Stream can be used instead of multiple-access pointer</a:t>
            </a:r>
          </a:p>
          <a:p>
            <a:r>
              <a:rPr lang="en-US" dirty="0" err="1"/>
              <a:t>Vitis</a:t>
            </a:r>
            <a:r>
              <a:rPr lang="en-US" dirty="0"/>
              <a:t> HLS provides support for FFT, FIR, SRL</a:t>
            </a:r>
          </a:p>
          <a:p>
            <a:r>
              <a:rPr lang="en-US" dirty="0"/>
              <a:t>Stream and shift registers classes may model and implement hardware better</a:t>
            </a:r>
          </a:p>
          <a:p>
            <a:pPr lvl="0"/>
            <a:r>
              <a:rPr lang="en-US" dirty="0" err="1"/>
              <a:t>Vitis</a:t>
            </a:r>
            <a:r>
              <a:rPr lang="en-US" dirty="0"/>
              <a:t> Vision</a:t>
            </a:r>
          </a:p>
          <a:p>
            <a:pPr marL="0" indent="0">
              <a:buNone/>
            </a:pPr>
            <a:endParaRPr lang="en-US" dirty="0"/>
          </a:p>
          <a:p>
            <a:endParaRPr lang="en-US" dirty="0"/>
          </a:p>
        </p:txBody>
      </p:sp>
      <p:sp>
        <p:nvSpPr>
          <p:cNvPr id="5" name="Slide Number Placeholder 5">
            <a:extLst>
              <a:ext uri="{FF2B5EF4-FFF2-40B4-BE49-F238E27FC236}">
                <a16:creationId xmlns:a16="http://schemas.microsoft.com/office/drawing/2014/main" id="{A6BFB9B7-F94E-4E1E-A05B-FF5E2C4E089E}"/>
              </a:ext>
            </a:extLst>
          </p:cNvPr>
          <p:cNvSpPr>
            <a:spLocks noGrp="1"/>
          </p:cNvSpPr>
          <p:nvPr>
            <p:ph type="sldNum" sz="quarter" idx="4"/>
          </p:nvPr>
        </p:nvSpPr>
        <p:spPr>
          <a:xfrm>
            <a:off x="579120" y="6325606"/>
            <a:ext cx="2710835" cy="365125"/>
          </a:xfrm>
        </p:spPr>
        <p:txBody>
          <a:bodyPr/>
          <a:lstStyle/>
          <a:p>
            <a:pPr>
              <a:defRPr/>
            </a:pPr>
            <a:r>
              <a:rPr lang="en-US" dirty="0"/>
              <a:t>Coding Considerations 23- </a:t>
            </a:r>
            <a:fld id="{060BD193-E118-4B16-863C-C8C12C675E3E}" type="slidenum">
              <a:rPr lang="en-US" smtClean="0"/>
              <a:pPr>
                <a:defRPr/>
              </a:pPr>
              <a:t>121</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p:txBody>
          <a:bodyPr/>
          <a:lstStyle/>
          <a:p>
            <a:r>
              <a:rPr lang="en-US" dirty="0"/>
              <a:t>When </a:t>
            </a:r>
            <a:r>
              <a:rPr lang="en-US" dirty="0" err="1"/>
              <a:t>struct</a:t>
            </a:r>
            <a:r>
              <a:rPr lang="en-US" dirty="0"/>
              <a:t> is passed as a pointer the data are accessed as pass-by-reference</a:t>
            </a:r>
          </a:p>
          <a:p>
            <a:r>
              <a:rPr lang="en-US" dirty="0"/>
              <a:t>When </a:t>
            </a:r>
            <a:r>
              <a:rPr lang="en-US" dirty="0" err="1"/>
              <a:t>struct</a:t>
            </a:r>
            <a:r>
              <a:rPr lang="en-US" dirty="0"/>
              <a:t> is not passed a pointer the data are accessed as by value</a:t>
            </a:r>
          </a:p>
          <a:p>
            <a:r>
              <a:rPr lang="en-US" strike="sngStrike" dirty="0"/>
              <a:t>When pointer arithmetic is performed, argument may be implemented as </a:t>
            </a:r>
            <a:r>
              <a:rPr lang="en-US" strike="sngStrike" dirty="0" err="1"/>
              <a:t>ap_bus</a:t>
            </a:r>
            <a:r>
              <a:rPr lang="en-US" strike="sngStrike" dirty="0"/>
              <a:t> or </a:t>
            </a:r>
            <a:r>
              <a:rPr lang="en-US" strike="sngStrike" dirty="0" err="1"/>
              <a:t>ap_fifo</a:t>
            </a:r>
            <a:endParaRPr lang="en-US" strike="sngStrike" dirty="0"/>
          </a:p>
          <a:p>
            <a:r>
              <a:rPr lang="en-US" dirty="0"/>
              <a:t>Stream can be used instead of multiple-access pointer</a:t>
            </a:r>
          </a:p>
          <a:p>
            <a:r>
              <a:rPr lang="en-US" dirty="0" err="1">
                <a:highlight>
                  <a:srgbClr val="FFFF00"/>
                </a:highlight>
              </a:rPr>
              <a:t>Vitis</a:t>
            </a:r>
            <a:r>
              <a:rPr lang="en-US" dirty="0"/>
              <a:t> HLS provides support for FFT, FIR, SRL, </a:t>
            </a:r>
            <a:r>
              <a:rPr lang="en-US" strike="sngStrike" dirty="0"/>
              <a:t>and Linear Algebra</a:t>
            </a:r>
          </a:p>
          <a:p>
            <a:pPr lvl="0"/>
            <a:r>
              <a:rPr lang="en-US" dirty="0"/>
              <a:t>Stream and shift registers classes may model and implement hardware better</a:t>
            </a:r>
          </a:p>
          <a:p>
            <a:pPr lvl="0"/>
            <a:r>
              <a:rPr lang="en-US" strike="sngStrike" dirty="0"/>
              <a:t>HLS video </a:t>
            </a:r>
            <a:r>
              <a:rPr lang="en-US" strike="sngStrike" dirty="0" err="1"/>
              <a:t>libraries</a:t>
            </a:r>
            <a:r>
              <a:rPr lang="en-US" altLang="zh-CN" dirty="0" err="1">
                <a:highlight>
                  <a:srgbClr val="FFFF00"/>
                </a:highlight>
              </a:rPr>
              <a:t>Vitis</a:t>
            </a:r>
            <a:r>
              <a:rPr lang="en-US" altLang="zh-CN" dirty="0">
                <a:highlight>
                  <a:srgbClr val="FFFF00"/>
                </a:highlight>
              </a:rPr>
              <a:t> Vision</a:t>
            </a:r>
            <a:endParaRPr lang="en-US" strike="sngStrike" dirty="0"/>
          </a:p>
          <a:p>
            <a:pPr lvl="1"/>
            <a:r>
              <a:rPr lang="en-US" strike="sngStrike" dirty="0"/>
              <a:t>Drop-in replacement for OpenCV and provide high QoR</a:t>
            </a:r>
          </a:p>
          <a:p>
            <a:endParaRPr lang="en-US" sz="2400" dirty="0"/>
          </a:p>
          <a:p>
            <a:endParaRPr lang="en-US" dirty="0"/>
          </a:p>
        </p:txBody>
      </p:sp>
      <p:sp>
        <p:nvSpPr>
          <p:cNvPr id="12" name="Slide Number Placeholder 11"/>
          <p:cNvSpPr>
            <a:spLocks noGrp="1"/>
          </p:cNvSpPr>
          <p:nvPr>
            <p:ph type="sldNum" sz="quarter" idx="10"/>
          </p:nvPr>
        </p:nvSpPr>
        <p:spPr/>
        <p:txBody>
          <a:bodyPr/>
          <a:lstStyle/>
          <a:p>
            <a:pPr defTabSz="914400">
              <a:defRPr/>
            </a:pPr>
            <a:r>
              <a:rPr lang="en-US" dirty="0">
                <a:solidFill>
                  <a:srgbClr val="0C0C0C">
                    <a:tint val="75000"/>
                  </a:srgbClr>
                </a:solidFill>
                <a:latin typeface="Arial"/>
              </a:rPr>
              <a:t>Coding Considerations 23- </a:t>
            </a:r>
            <a:fld id="{060BD193-E118-4B16-863C-C8C12C675E3E}" type="slidenum">
              <a:rPr lang="en-US">
                <a:solidFill>
                  <a:srgbClr val="0C0C0C">
                    <a:tint val="75000"/>
                  </a:srgbClr>
                </a:solidFill>
                <a:latin typeface="Arial"/>
              </a:rPr>
              <a:pPr defTabSz="914400">
                <a:defRPr/>
              </a:pPr>
              <a:t>122</a:t>
            </a:fld>
            <a:endParaRPr lang="en-US" dirty="0">
              <a:solidFill>
                <a:srgbClr val="0C0C0C">
                  <a:tint val="75000"/>
                </a:srgbClr>
              </a:solidFill>
              <a:latin typeface="Arial"/>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8152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0253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Xilinx-5">
  <a:themeElements>
    <a:clrScheme name="Custom 1">
      <a:dk1>
        <a:srgbClr val="0C0C0C"/>
      </a:dk1>
      <a:lt1>
        <a:srgbClr val="FFFFFF"/>
      </a:lt1>
      <a:dk2>
        <a:srgbClr val="161C2E"/>
      </a:dk2>
      <a:lt2>
        <a:srgbClr val="5F5F5F"/>
      </a:lt2>
      <a:accent1>
        <a:srgbClr val="E20000"/>
      </a:accent1>
      <a:accent2>
        <a:srgbClr val="282D3F"/>
      </a:accent2>
      <a:accent3>
        <a:srgbClr val="8D919A"/>
      </a:accent3>
      <a:accent4>
        <a:srgbClr val="055C99"/>
      </a:accent4>
      <a:accent5>
        <a:srgbClr val="0D9079"/>
      </a:accent5>
      <a:accent6>
        <a:srgbClr val="00B2BA"/>
      </a:accent6>
      <a:hlink>
        <a:srgbClr val="055C99"/>
      </a:hlink>
      <a:folHlink>
        <a:srgbClr val="5F5F5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xilinx-amd-corporate-ppt-template-2021" id="{7CC915E4-ED56-F440-A372-8A06D175C5EE}" vid="{9CD3E2E4-A2A3-2840-AEBD-8A66C2529386}"/>
    </a:ext>
  </a:extLst>
</a:theme>
</file>

<file path=ppt/theme/theme2.xml><?xml version="1.0" encoding="utf-8"?>
<a:theme xmlns:a="http://schemas.openxmlformats.org/drawingml/2006/main" name="1_Xilinx-5">
  <a:themeElements>
    <a:clrScheme name="Custom 1">
      <a:dk1>
        <a:srgbClr val="0C0C0C"/>
      </a:dk1>
      <a:lt1>
        <a:srgbClr val="FFFFFF"/>
      </a:lt1>
      <a:dk2>
        <a:srgbClr val="161C2E"/>
      </a:dk2>
      <a:lt2>
        <a:srgbClr val="7F7F7F"/>
      </a:lt2>
      <a:accent1>
        <a:srgbClr val="EB1C23"/>
      </a:accent1>
      <a:accent2>
        <a:srgbClr val="30364B"/>
      </a:accent2>
      <a:accent3>
        <a:srgbClr val="5F5F5F"/>
      </a:accent3>
      <a:accent4>
        <a:srgbClr val="1B3866"/>
      </a:accent4>
      <a:accent5>
        <a:srgbClr val="AC171F"/>
      </a:accent5>
      <a:accent6>
        <a:srgbClr val="1E640E"/>
      </a:accent6>
      <a:hlink>
        <a:srgbClr val="055C99"/>
      </a:hlink>
      <a:folHlink>
        <a:srgbClr val="5F5F5F"/>
      </a:folHlink>
    </a:clrScheme>
    <a:fontScheme name="Xilinx 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Xilinx Template-2018_Final" id="{59614F72-ED6C-4F13-AF1A-893C27C977D5}" vid="{23EBD899-BF60-4C88-B6F9-094F3CC04C9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13AA4F4-3B34-2743-ACD6-F6D573A82AF7}">
  <we:reference id="f9ac8e4d-ed29-46df-aca6-61a4f7a9a1d6" version="1.0.0.1" store="developer" storeType="Registry"/>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58A00A9B6178BD498632E37D0AD5CC8E" ma:contentTypeVersion="3" ma:contentTypeDescription="Create a new document." ma:contentTypeScope="" ma:versionID="fbaca91dc24b034817257c3a25d93af0">
  <xsd:schema xmlns:xsd="http://www.w3.org/2001/XMLSchema" xmlns:xs="http://www.w3.org/2001/XMLSchema" xmlns:p="http://schemas.microsoft.com/office/2006/metadata/properties" xmlns:ns2="ee71d666-e06f-4bed-b53d-75a975332d6d" targetNamespace="http://schemas.microsoft.com/office/2006/metadata/properties" ma:root="true" ma:fieldsID="14a92504b4f4f9b68fc7bcdaff1e0a50" ns2:_="">
    <xsd:import namespace="ee71d666-e06f-4bed-b53d-75a975332d6d"/>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e71d666-e06f-4bed-b53d-75a975332d6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BE94A12-9E97-40EB-A974-3BC9F5C18103}">
  <ds:schemaRefs>
    <ds:schemaRef ds:uri="http://schemas.microsoft.com/sharepoint/v3/contenttype/forms"/>
  </ds:schemaRefs>
</ds:datastoreItem>
</file>

<file path=customXml/itemProps2.xml><?xml version="1.0" encoding="utf-8"?>
<ds:datastoreItem xmlns:ds="http://schemas.openxmlformats.org/officeDocument/2006/customXml" ds:itemID="{F4DF82DF-52AA-4D1D-AC7B-8F45A830CAF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e71d666-e06f-4bed-b53d-75a975332d6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60316F9-D49B-43D3-B1A5-38BBC2E7659C}">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ee71d666-e06f-4bed-b53d-75a975332d6d"/>
    <ds:schemaRef ds:uri="http://purl.org/dc/elements/1.1/"/>
    <ds:schemaRef ds:uri="http://schemas.microsoft.com/office/2006/metadata/properti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0</TotalTime>
  <Words>19870</Words>
  <Application>Microsoft Office PowerPoint</Application>
  <PresentationFormat>宽屏</PresentationFormat>
  <Paragraphs>3317</Paragraphs>
  <Slides>124</Slides>
  <Notes>36</Notes>
  <HiddenSlides>61</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124</vt:i4>
      </vt:variant>
    </vt:vector>
  </HeadingPairs>
  <TitlesOfParts>
    <vt:vector size="135" baseType="lpstr">
      <vt:lpstr>Arial</vt:lpstr>
      <vt:lpstr>Arial Black</vt:lpstr>
      <vt:lpstr>Arial Narrow</vt:lpstr>
      <vt:lpstr>Calibri</vt:lpstr>
      <vt:lpstr>Courier New</vt:lpstr>
      <vt:lpstr>Microsoft Sans Serif</vt:lpstr>
      <vt:lpstr>Webdings</vt:lpstr>
      <vt:lpstr>Wingdings</vt:lpstr>
      <vt:lpstr>Wingdings 3</vt:lpstr>
      <vt:lpstr>Xilinx-5</vt:lpstr>
      <vt:lpstr>1_Xilinx-5</vt:lpstr>
      <vt:lpstr>Coding Considerations</vt:lpstr>
      <vt:lpstr>Objectives</vt:lpstr>
      <vt:lpstr>Objectives</vt:lpstr>
      <vt:lpstr>Outline</vt:lpstr>
      <vt:lpstr>Outline</vt:lpstr>
      <vt:lpstr>C/C++ Support</vt:lpstr>
      <vt:lpstr>Comprehensive C/C++ Support</vt:lpstr>
      <vt:lpstr>C/C++ Support</vt:lpstr>
      <vt:lpstr>Comprehensive C/C++ Support</vt:lpstr>
      <vt:lpstr>C, C++ Support</vt:lpstr>
      <vt:lpstr>C, C++ and SystemC Support</vt:lpstr>
      <vt:lpstr>FIR Filter with C</vt:lpstr>
      <vt:lpstr>FIR Filter with C</vt:lpstr>
      <vt:lpstr>Arrays to RAMs : Initialization</vt:lpstr>
      <vt:lpstr>Arrays to RAMs : Initialization</vt:lpstr>
      <vt:lpstr>FIR Filter with C++</vt:lpstr>
      <vt:lpstr>FIR Filter with C++</vt:lpstr>
      <vt:lpstr>FIR Filter with SystemC</vt:lpstr>
      <vt:lpstr>Unsupported C/C++ Constructs: Overview</vt:lpstr>
      <vt:lpstr>Unsupported C/C++ Constructs: Overview</vt:lpstr>
      <vt:lpstr>Unsupported: Dynamic Memory Allocation</vt:lpstr>
      <vt:lpstr>Unsupported: Dynamic Memory Allocation</vt:lpstr>
      <vt:lpstr>Unsupported: System Calls</vt:lpstr>
      <vt:lpstr>Unsupported: System Calls</vt:lpstr>
      <vt:lpstr>Unsupported: General Pointer Casting </vt:lpstr>
      <vt:lpstr>Unsupported: General Pointer Casting </vt:lpstr>
      <vt:lpstr>Unsupported: Recursive Functions</vt:lpstr>
      <vt:lpstr>Unsupported: Recursive Functions</vt:lpstr>
      <vt:lpstr>Test Bench: Gotcha 1</vt:lpstr>
      <vt:lpstr>Test Bench : Gotcha 2</vt:lpstr>
      <vt:lpstr>Pointers</vt:lpstr>
      <vt:lpstr>Using Pointer </vt:lpstr>
      <vt:lpstr>Using Pointer </vt:lpstr>
      <vt:lpstr>Pointer &amp; Structs</vt:lpstr>
      <vt:lpstr>Pointer &amp; Structs</vt:lpstr>
      <vt:lpstr>Struct Access</vt:lpstr>
      <vt:lpstr>Struct Access</vt:lpstr>
      <vt:lpstr>Pointer Arithmetic: One Interface</vt:lpstr>
      <vt:lpstr>Pointer Arithmetic: One Interface</vt:lpstr>
      <vt:lpstr>Converting Malloc Pointers</vt:lpstr>
      <vt:lpstr>Converting Malloc Pointers</vt:lpstr>
      <vt:lpstr>Converting Malloc Pointers</vt:lpstr>
      <vt:lpstr>Coding Considerations and IO</vt:lpstr>
      <vt:lpstr>Coding and IO</vt:lpstr>
      <vt:lpstr>Coding and IO</vt:lpstr>
      <vt:lpstr>Coding and IO</vt:lpstr>
      <vt:lpstr>Multi-Access Pointers: Use Volatile!!!</vt:lpstr>
      <vt:lpstr>Multi-Access Pointers: Use Volatile!!!</vt:lpstr>
      <vt:lpstr>Multi-Access Pointers: Use Volatile!!!</vt:lpstr>
      <vt:lpstr>Multi-Access Pointers: the effect of volatile</vt:lpstr>
      <vt:lpstr>Multi-Access Pointers: the effect of volatile</vt:lpstr>
      <vt:lpstr>Multi-Access Pointers: Limited Visibility</vt:lpstr>
      <vt:lpstr>Multi-Access Pointers: Limited Visibility</vt:lpstr>
      <vt:lpstr>Multi-Access Pointers: Test bench Depth</vt:lpstr>
      <vt:lpstr>Multi-Access Pointers: Test bench Depth</vt:lpstr>
      <vt:lpstr>Streams</vt:lpstr>
      <vt:lpstr>Designing with Streams</vt:lpstr>
      <vt:lpstr>Designing with Streams</vt:lpstr>
      <vt:lpstr>Using Streams</vt:lpstr>
      <vt:lpstr>Using Streams</vt:lpstr>
      <vt:lpstr>Stream Example</vt:lpstr>
      <vt:lpstr>Stream Example</vt:lpstr>
      <vt:lpstr>Libraries Support -  FFT, FIR and Shift Registers</vt:lpstr>
      <vt:lpstr>FFT and FIR IP in HLS</vt:lpstr>
      <vt:lpstr>FFT and FIR IP in HLS</vt:lpstr>
      <vt:lpstr>FFT Function</vt:lpstr>
      <vt:lpstr>FFT Function</vt:lpstr>
      <vt:lpstr>FFT Static Configuration </vt:lpstr>
      <vt:lpstr>FFT Static Configuration </vt:lpstr>
      <vt:lpstr>FFT Configuration Parameters</vt:lpstr>
      <vt:lpstr>FFT Configuration Parameters</vt:lpstr>
      <vt:lpstr>FFT Configuration Defaults and Valid Values</vt:lpstr>
      <vt:lpstr>FFT Configuration Defaults and Valid Values</vt:lpstr>
      <vt:lpstr>FFT Function: Data</vt:lpstr>
      <vt:lpstr>FFT Function: Data</vt:lpstr>
      <vt:lpstr>FFT Function: Run Time Configuration</vt:lpstr>
      <vt:lpstr>FFT Function: Run Time Configuration</vt:lpstr>
      <vt:lpstr>FFT Function: Run Time Output Status</vt:lpstr>
      <vt:lpstr>FFT Function: Run Time Output Status</vt:lpstr>
      <vt:lpstr>FIR Function</vt:lpstr>
      <vt:lpstr>FIR Function</vt:lpstr>
      <vt:lpstr>FIR Static Configuration </vt:lpstr>
      <vt:lpstr>FIR Static Configuration </vt:lpstr>
      <vt:lpstr>FIR Configuration Parameters</vt:lpstr>
      <vt:lpstr>FIR Configuration Parameters</vt:lpstr>
      <vt:lpstr>FIR Configuration Defaults and Valid Values</vt:lpstr>
      <vt:lpstr>FIR Configuration Defaults and Valid Values</vt:lpstr>
      <vt:lpstr>FIR Function: Data</vt:lpstr>
      <vt:lpstr>FIR Function: Data</vt:lpstr>
      <vt:lpstr>FIR Function: Run Time Configuration</vt:lpstr>
      <vt:lpstr>FIR Function: Run Time Configuration</vt:lpstr>
      <vt:lpstr>Using the FFT and FIR IP</vt:lpstr>
      <vt:lpstr>Using the FFT and FIR IP</vt:lpstr>
      <vt:lpstr>Shift Registers</vt:lpstr>
      <vt:lpstr>Shift Registers</vt:lpstr>
      <vt:lpstr>AP_SHIFT_REG Class</vt:lpstr>
      <vt:lpstr>AP_SHIFT_REG Class</vt:lpstr>
      <vt:lpstr>Using ap_shift_reg class</vt:lpstr>
      <vt:lpstr>Using ap_shift_reg class</vt:lpstr>
      <vt:lpstr>Using ap_shift_reg class</vt:lpstr>
      <vt:lpstr>Using ap_shift_reg class</vt:lpstr>
      <vt:lpstr>Linear Algebra Library</vt:lpstr>
      <vt:lpstr>Libraries Support -  Vitis Vision</vt:lpstr>
      <vt:lpstr>Migrating HLS Video Library to Vitis vision</vt:lpstr>
      <vt:lpstr>AXI Video Interface Functions</vt:lpstr>
      <vt:lpstr>Video Libraries Supported in Vitis HLS</vt:lpstr>
      <vt:lpstr>Video Library Functions</vt:lpstr>
      <vt:lpstr>Video Library Supported Functions</vt:lpstr>
      <vt:lpstr>Video Library Supported Functions</vt:lpstr>
      <vt:lpstr>Using OpenCV in FPGA Designs</vt:lpstr>
      <vt:lpstr>Using OpenCV in FPGA Designs</vt:lpstr>
      <vt:lpstr>Partitioned OpenCV Application</vt:lpstr>
      <vt:lpstr>Partitioned OpenCV Application</vt:lpstr>
      <vt:lpstr>OpenCV Design Flow</vt:lpstr>
      <vt:lpstr>OpenCV Design Flow</vt:lpstr>
      <vt:lpstr>C Testbench: Interface Library Example</vt:lpstr>
      <vt:lpstr>Synthesizable C Function Example</vt:lpstr>
      <vt:lpstr>Summary</vt:lpstr>
      <vt:lpstr>Summary</vt:lpstr>
      <vt:lpstr>Summary</vt:lpstr>
      <vt:lpstr>Summary</vt:lpstr>
      <vt:lpstr>Summary</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STOP (Read Instructions Below)</dc:title>
  <dc:subject/>
  <dc:creator/>
  <cp:keywords>Public</cp:keywords>
  <dc:description/>
  <cp:revision>2</cp:revision>
  <dcterms:created xsi:type="dcterms:W3CDTF">2019-10-16T21:50:31Z</dcterms:created>
  <dcterms:modified xsi:type="dcterms:W3CDTF">2022-04-13T21:14:37Z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XilinxClassification">
    <vt:lpwstr>Public</vt:lpwstr>
  </property>
  <property fmtid="{D5CDD505-2E9C-101B-9397-08002B2CF9AE}" pid="3" name="IDENTIFIER">
    <vt:lpwstr>12B622CE-7949-4BC8-8A85-7A5041597B9E</vt:lpwstr>
  </property>
  <property fmtid="{D5CDD505-2E9C-101B-9397-08002B2CF9AE}" pid="4" name="TitusGUID">
    <vt:lpwstr>a413d598-f1be-4df0-b170-66a66f988779</vt:lpwstr>
  </property>
  <property fmtid="{D5CDD505-2E9C-101B-9397-08002B2CF9AE}" pid="5" name="ContentTypeId">
    <vt:lpwstr>0x01010058A00A9B6178BD498632E37D0AD5CC8E</vt:lpwstr>
  </property>
  <property fmtid="{D5CDD505-2E9C-101B-9397-08002B2CF9AE}" pid="6" name="VisualMarkings">
    <vt:lpwstr>Yes</vt:lpwstr>
  </property>
  <property fmtid="{D5CDD505-2E9C-101B-9397-08002B2CF9AE}" pid="7" name="PublicationYear">
    <vt:lpwstr>2022</vt:lpwstr>
  </property>
</Properties>
</file>