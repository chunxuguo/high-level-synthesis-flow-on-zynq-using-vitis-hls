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 id="2147483991" r:id="rId5"/>
  </p:sldMasterIdLst>
  <p:notesMasterIdLst>
    <p:notesMasterId r:id="rId129"/>
  </p:notesMasterIdLst>
  <p:handoutMasterIdLst>
    <p:handoutMasterId r:id="rId130"/>
  </p:handoutMasterIdLst>
  <p:sldIdLst>
    <p:sldId id="351" r:id="rId6"/>
    <p:sldId id="960" r:id="rId7"/>
    <p:sldId id="1050" r:id="rId8"/>
    <p:sldId id="1038" r:id="rId9"/>
    <p:sldId id="1051" r:id="rId10"/>
    <p:sldId id="962" r:id="rId11"/>
    <p:sldId id="1052" r:id="rId12"/>
    <p:sldId id="999" r:id="rId13"/>
    <p:sldId id="1053" r:id="rId14"/>
    <p:sldId id="963" r:id="rId15"/>
    <p:sldId id="1054" r:id="rId16"/>
    <p:sldId id="964" r:id="rId17"/>
    <p:sldId id="1055" r:id="rId18"/>
    <p:sldId id="965" r:id="rId19"/>
    <p:sldId id="1056" r:id="rId20"/>
    <p:sldId id="966" r:id="rId21"/>
    <p:sldId id="1057" r:id="rId22"/>
    <p:sldId id="967" r:id="rId23"/>
    <p:sldId id="968" r:id="rId24"/>
    <p:sldId id="1058" r:id="rId25"/>
    <p:sldId id="969" r:id="rId26"/>
    <p:sldId id="1059" r:id="rId27"/>
    <p:sldId id="970" r:id="rId28"/>
    <p:sldId id="1060" r:id="rId29"/>
    <p:sldId id="971" r:id="rId30"/>
    <p:sldId id="1061" r:id="rId31"/>
    <p:sldId id="972" r:id="rId32"/>
    <p:sldId id="1062" r:id="rId33"/>
    <p:sldId id="973" r:id="rId34"/>
    <p:sldId id="974" r:id="rId35"/>
    <p:sldId id="1039" r:id="rId36"/>
    <p:sldId id="982" r:id="rId37"/>
    <p:sldId id="1063" r:id="rId38"/>
    <p:sldId id="983" r:id="rId39"/>
    <p:sldId id="1064" r:id="rId40"/>
    <p:sldId id="984" r:id="rId41"/>
    <p:sldId id="1065" r:id="rId42"/>
    <p:sldId id="985" r:id="rId43"/>
    <p:sldId id="1066" r:id="rId44"/>
    <p:sldId id="986" r:id="rId45"/>
    <p:sldId id="1045" r:id="rId46"/>
    <p:sldId id="1067" r:id="rId47"/>
    <p:sldId id="1040" r:id="rId48"/>
    <p:sldId id="1046" r:id="rId49"/>
    <p:sldId id="976" r:id="rId50"/>
    <p:sldId id="1068" r:id="rId51"/>
    <p:sldId id="1047" r:id="rId52"/>
    <p:sldId id="977" r:id="rId53"/>
    <p:sldId id="1069" r:id="rId54"/>
    <p:sldId id="978" r:id="rId55"/>
    <p:sldId id="1070" r:id="rId56"/>
    <p:sldId id="979" r:id="rId57"/>
    <p:sldId id="1071" r:id="rId58"/>
    <p:sldId id="980" r:id="rId59"/>
    <p:sldId id="1072" r:id="rId60"/>
    <p:sldId id="1041" r:id="rId61"/>
    <p:sldId id="1005" r:id="rId62"/>
    <p:sldId id="1073" r:id="rId63"/>
    <p:sldId id="996" r:id="rId64"/>
    <p:sldId id="1074" r:id="rId65"/>
    <p:sldId id="998" r:id="rId66"/>
    <p:sldId id="1075" r:id="rId67"/>
    <p:sldId id="1042" r:id="rId68"/>
    <p:sldId id="1019" r:id="rId69"/>
    <p:sldId id="1091" r:id="rId70"/>
    <p:sldId id="1021" r:id="rId71"/>
    <p:sldId id="1092" r:id="rId72"/>
    <p:sldId id="1022" r:id="rId73"/>
    <p:sldId id="1093" r:id="rId74"/>
    <p:sldId id="1023" r:id="rId75"/>
    <p:sldId id="1094" r:id="rId76"/>
    <p:sldId id="1024" r:id="rId77"/>
    <p:sldId id="1076" r:id="rId78"/>
    <p:sldId id="1025" r:id="rId79"/>
    <p:sldId id="1077" r:id="rId80"/>
    <p:sldId id="1026" r:id="rId81"/>
    <p:sldId id="1078" r:id="rId82"/>
    <p:sldId id="1027" r:id="rId83"/>
    <p:sldId id="1079" r:id="rId84"/>
    <p:sldId id="1028" r:id="rId85"/>
    <p:sldId id="1080" r:id="rId86"/>
    <p:sldId id="1029" r:id="rId87"/>
    <p:sldId id="1081" r:id="rId88"/>
    <p:sldId id="1030" r:id="rId89"/>
    <p:sldId id="1082" r:id="rId90"/>
    <p:sldId id="1031" r:id="rId91"/>
    <p:sldId id="1083" r:id="rId92"/>
    <p:sldId id="1032" r:id="rId93"/>
    <p:sldId id="1084" r:id="rId94"/>
    <p:sldId id="1033" r:id="rId95"/>
    <p:sldId id="1085" r:id="rId96"/>
    <p:sldId id="1034" r:id="rId97"/>
    <p:sldId id="1086" r:id="rId98"/>
    <p:sldId id="1035" r:id="rId99"/>
    <p:sldId id="1087" r:id="rId100"/>
    <p:sldId id="1006" r:id="rId101"/>
    <p:sldId id="1088" r:id="rId102"/>
    <p:sldId id="1007" r:id="rId103"/>
    <p:sldId id="1089" r:id="rId104"/>
    <p:sldId id="1008" r:id="rId105"/>
    <p:sldId id="1090" r:id="rId106"/>
    <p:sldId id="1036" r:id="rId107"/>
    <p:sldId id="1043" r:id="rId108"/>
    <p:sldId id="1048" r:id="rId109"/>
    <p:sldId id="1049" r:id="rId110"/>
    <p:sldId id="1009" r:id="rId111"/>
    <p:sldId id="1010" r:id="rId112"/>
    <p:sldId id="1011" r:id="rId113"/>
    <p:sldId id="1095" r:id="rId114"/>
    <p:sldId id="1012" r:id="rId115"/>
    <p:sldId id="1096" r:id="rId116"/>
    <p:sldId id="1013" r:id="rId117"/>
    <p:sldId id="1097" r:id="rId118"/>
    <p:sldId id="1014" r:id="rId119"/>
    <p:sldId id="1098" r:id="rId120"/>
    <p:sldId id="1015" r:id="rId121"/>
    <p:sldId id="1016" r:id="rId122"/>
    <p:sldId id="1044" r:id="rId123"/>
    <p:sldId id="994" r:id="rId124"/>
    <p:sldId id="1099" r:id="rId125"/>
    <p:sldId id="995" r:id="rId126"/>
    <p:sldId id="1100" r:id="rId127"/>
    <p:sldId id="440" r:id="rId128"/>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30"/>
    <p:restoredTop sz="94694"/>
  </p:normalViewPr>
  <p:slideViewPr>
    <p:cSldViewPr snapToGrid="0">
      <p:cViewPr varScale="1">
        <p:scale>
          <a:sx n="81" d="100"/>
          <a:sy n="81" d="100"/>
        </p:scale>
        <p:origin x="307" y="5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117" Type="http://schemas.openxmlformats.org/officeDocument/2006/relationships/slide" Target="slides/slide112.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12" Type="http://schemas.openxmlformats.org/officeDocument/2006/relationships/slide" Target="slides/slide107.xml"/><Relationship Id="rId133" Type="http://schemas.openxmlformats.org/officeDocument/2006/relationships/theme" Target="theme/theme1.xml"/><Relationship Id="rId16" Type="http://schemas.openxmlformats.org/officeDocument/2006/relationships/slide" Target="slides/slide11.xml"/><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123" Type="http://schemas.openxmlformats.org/officeDocument/2006/relationships/slide" Target="slides/slide118.xml"/><Relationship Id="rId128" Type="http://schemas.openxmlformats.org/officeDocument/2006/relationships/slide" Target="slides/slide123.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113" Type="http://schemas.openxmlformats.org/officeDocument/2006/relationships/slide" Target="slides/slide108.xml"/><Relationship Id="rId118" Type="http://schemas.openxmlformats.org/officeDocument/2006/relationships/slide" Target="slides/slide113.xml"/><Relationship Id="rId126" Type="http://schemas.openxmlformats.org/officeDocument/2006/relationships/slide" Target="slides/slide121.xml"/><Relationship Id="rId134" Type="http://schemas.openxmlformats.org/officeDocument/2006/relationships/tableStyles" Target="tableStyle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80" Type="http://schemas.openxmlformats.org/officeDocument/2006/relationships/slide" Target="slides/slide75.xml"/><Relationship Id="rId85" Type="http://schemas.openxmlformats.org/officeDocument/2006/relationships/slide" Target="slides/slide80.xml"/><Relationship Id="rId93" Type="http://schemas.openxmlformats.org/officeDocument/2006/relationships/slide" Target="slides/slide88.xml"/><Relationship Id="rId98" Type="http://schemas.openxmlformats.org/officeDocument/2006/relationships/slide" Target="slides/slide93.xml"/><Relationship Id="rId121" Type="http://schemas.openxmlformats.org/officeDocument/2006/relationships/slide" Target="slides/slide11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103" Type="http://schemas.openxmlformats.org/officeDocument/2006/relationships/slide" Target="slides/slide98.xml"/><Relationship Id="rId108" Type="http://schemas.openxmlformats.org/officeDocument/2006/relationships/slide" Target="slides/slide103.xml"/><Relationship Id="rId116" Type="http://schemas.openxmlformats.org/officeDocument/2006/relationships/slide" Target="slides/slide111.xml"/><Relationship Id="rId124" Type="http://schemas.openxmlformats.org/officeDocument/2006/relationships/slide" Target="slides/slide119.xml"/><Relationship Id="rId129" Type="http://schemas.openxmlformats.org/officeDocument/2006/relationships/notesMaster" Target="notesMasters/notesMaster1.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slide" Target="slides/slide91.xml"/><Relationship Id="rId111" Type="http://schemas.openxmlformats.org/officeDocument/2006/relationships/slide" Target="slides/slide106.xml"/><Relationship Id="rId132"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slide" Target="slides/slide101.xml"/><Relationship Id="rId114" Type="http://schemas.openxmlformats.org/officeDocument/2006/relationships/slide" Target="slides/slide109.xml"/><Relationship Id="rId119" Type="http://schemas.openxmlformats.org/officeDocument/2006/relationships/slide" Target="slides/slide114.xml"/><Relationship Id="rId127" Type="http://schemas.openxmlformats.org/officeDocument/2006/relationships/slide" Target="slides/slide12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122" Type="http://schemas.openxmlformats.org/officeDocument/2006/relationships/slide" Target="slides/slide117.xml"/><Relationship Id="rId13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120" Type="http://schemas.openxmlformats.org/officeDocument/2006/relationships/slide" Target="slides/slide115.xml"/><Relationship Id="rId125" Type="http://schemas.openxmlformats.org/officeDocument/2006/relationships/slide" Target="slides/slide120.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slide" Target="slides/slide110.xml"/><Relationship Id="rId131" Type="http://schemas.openxmlformats.org/officeDocument/2006/relationships/presProps" Target="presProps.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3/14/2022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3/14/2022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docs.xilinx.com/r/en-US/ug1399-vitis-hls/Deprecated-and-Unsupported-Features" TargetMode="External"/><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37890"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9515852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Rot="1" noChangeAspect="1" noTextEdit="1"/>
          </p:cNvSpPr>
          <p:nvPr>
            <p:ph type="sldImg"/>
          </p:nvPr>
        </p:nvSpPr>
        <p:spPr bwMode="auto">
          <a:xfrm>
            <a:off x="473075" y="711200"/>
            <a:ext cx="6372225" cy="3586163"/>
          </a:xfrm>
          <a:noFill/>
          <a:ln>
            <a:solidFill>
              <a:srgbClr val="000000"/>
            </a:solidFill>
            <a:miter lim="800000"/>
            <a:headEnd/>
            <a:tailEnd/>
          </a:ln>
        </p:spPr>
      </p:sp>
      <p:sp>
        <p:nvSpPr>
          <p:cNvPr id="37890"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95158521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39938"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31581506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2"/>
          <p:cNvSpPr>
            <a:spLocks noGrp="1" noRot="1" noChangeAspect="1" noTextEdit="1"/>
          </p:cNvSpPr>
          <p:nvPr>
            <p:ph type="sldImg"/>
          </p:nvPr>
        </p:nvSpPr>
        <p:spPr bwMode="auto">
          <a:xfrm>
            <a:off x="473075" y="711200"/>
            <a:ext cx="6372225" cy="3586163"/>
          </a:xfrm>
          <a:noFill/>
          <a:ln>
            <a:solidFill>
              <a:srgbClr val="000000"/>
            </a:solidFill>
            <a:miter lim="800000"/>
            <a:headEnd/>
            <a:tailEnd/>
          </a:ln>
        </p:spPr>
      </p:sp>
      <p:sp>
        <p:nvSpPr>
          <p:cNvPr id="39938"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31581506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46082"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597283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Rectangle 2"/>
          <p:cNvSpPr>
            <a:spLocks noGrp="1" noRot="1" noChangeAspect="1" noTextEdit="1"/>
          </p:cNvSpPr>
          <p:nvPr>
            <p:ph type="sldImg"/>
          </p:nvPr>
        </p:nvSpPr>
        <p:spPr bwMode="auto">
          <a:xfrm>
            <a:off x="473075" y="711200"/>
            <a:ext cx="6372225" cy="3586163"/>
          </a:xfrm>
          <a:noFill/>
          <a:ln>
            <a:solidFill>
              <a:srgbClr val="000000"/>
            </a:solidFill>
            <a:miter lim="800000"/>
            <a:headEnd/>
            <a:tailEnd/>
          </a:ln>
        </p:spPr>
      </p:sp>
      <p:sp>
        <p:nvSpPr>
          <p:cNvPr id="46082"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5972834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41986"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10927348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Rectangle 2"/>
          <p:cNvSpPr>
            <a:spLocks noGrp="1" noRot="1" noChangeAspect="1" noTextEdit="1"/>
          </p:cNvSpPr>
          <p:nvPr>
            <p:ph type="sldImg"/>
          </p:nvPr>
        </p:nvSpPr>
        <p:spPr bwMode="auto">
          <a:xfrm>
            <a:off x="473075" y="711200"/>
            <a:ext cx="6372225" cy="3586163"/>
          </a:xfrm>
          <a:noFill/>
          <a:ln>
            <a:solidFill>
              <a:srgbClr val="000000"/>
            </a:solidFill>
            <a:miter lim="800000"/>
            <a:headEnd/>
            <a:tailEnd/>
          </a:ln>
        </p:spPr>
      </p:sp>
      <p:sp>
        <p:nvSpPr>
          <p:cNvPr id="41986"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10927348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2"/>
          <p:cNvSpPr>
            <a:spLocks noGrp="1" noRot="1" noChangeAspect="1" noTextEdit="1"/>
          </p:cNvSpPr>
          <p:nvPr>
            <p:ph type="sldImg"/>
          </p:nvPr>
        </p:nvSpPr>
        <p:spPr bwMode="auto">
          <a:xfrm>
            <a:off x="471488" y="711200"/>
            <a:ext cx="6375400" cy="3586163"/>
          </a:xfrm>
          <a:noFill/>
          <a:ln>
            <a:solidFill>
              <a:srgbClr val="000000"/>
            </a:solidFill>
            <a:miter lim="800000"/>
            <a:headEnd/>
            <a:tailEnd/>
          </a:ln>
        </p:spPr>
      </p:sp>
      <p:sp>
        <p:nvSpPr>
          <p:cNvPr id="44034"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197166365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Rectangle 2"/>
          <p:cNvSpPr>
            <a:spLocks noGrp="1" noRot="1" noChangeAspect="1" noTextEdit="1"/>
          </p:cNvSpPr>
          <p:nvPr>
            <p:ph type="sldImg"/>
          </p:nvPr>
        </p:nvSpPr>
        <p:spPr bwMode="auto">
          <a:xfrm>
            <a:off x="473075" y="711200"/>
            <a:ext cx="6372225" cy="3586163"/>
          </a:xfrm>
          <a:noFill/>
          <a:ln>
            <a:solidFill>
              <a:srgbClr val="000000"/>
            </a:solidFill>
            <a:miter lim="800000"/>
            <a:headEnd/>
            <a:tailEnd/>
          </a:ln>
        </p:spPr>
      </p:sp>
      <p:sp>
        <p:nvSpPr>
          <p:cNvPr id="44034" name="Rectangle 3"/>
          <p:cNvSpPr>
            <a:spLocks noGrp="1"/>
          </p:cNvSpPr>
          <p:nvPr>
            <p:ph type="body" idx="1"/>
          </p:nvPr>
        </p:nvSpPr>
        <p:spPr bwMode="auto">
          <a:xfrm>
            <a:off x="1005369" y="4559544"/>
            <a:ext cx="5304465" cy="4350971"/>
          </a:xfrm>
          <a:noFill/>
        </p:spPr>
        <p:txBody>
          <a:bodyPr/>
          <a:lstStyle/>
          <a:p>
            <a:endParaRPr lang="zh-CN" altLang="en-US">
              <a:ea typeface="宋体" charset="-122"/>
            </a:endParaRPr>
          </a:p>
        </p:txBody>
      </p:sp>
    </p:spTree>
    <p:extLst>
      <p:ext uri="{BB962C8B-B14F-4D97-AF65-F5344CB8AC3E}">
        <p14:creationId xmlns:p14="http://schemas.microsoft.com/office/powerpoint/2010/main" val="19716636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0468195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Tree>
    <p:extLst>
      <p:ext uri="{BB962C8B-B14F-4D97-AF65-F5344CB8AC3E}">
        <p14:creationId xmlns:p14="http://schemas.microsoft.com/office/powerpoint/2010/main" val="30468195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err="1"/>
              <a:t>ap_bus</a:t>
            </a:r>
            <a:r>
              <a:rPr lang="en-US" sz="1200" dirty="0"/>
              <a:t> no longer support</a:t>
            </a:r>
            <a:endParaRPr lang="en-US" dirty="0"/>
          </a:p>
        </p:txBody>
      </p:sp>
    </p:spTree>
    <p:extLst>
      <p:ext uri="{BB962C8B-B14F-4D97-AF65-F5344CB8AC3E}">
        <p14:creationId xmlns:p14="http://schemas.microsoft.com/office/powerpoint/2010/main" val="267487553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err="1"/>
              <a:t>ap_bus</a:t>
            </a:r>
            <a:r>
              <a:rPr lang="en-US" sz="1200" dirty="0"/>
              <a:t> no longer support</a:t>
            </a:r>
            <a:endParaRPr lang="en-US" dirty="0"/>
          </a:p>
        </p:txBody>
      </p:sp>
    </p:spTree>
    <p:extLst>
      <p:ext uri="{BB962C8B-B14F-4D97-AF65-F5344CB8AC3E}">
        <p14:creationId xmlns:p14="http://schemas.microsoft.com/office/powerpoint/2010/main" val="26748755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UG1399-&gt;</a:t>
            </a:r>
            <a:r>
              <a:rPr lang="en-US" dirty="0" err="1"/>
              <a:t>Vitis</a:t>
            </a:r>
            <a:r>
              <a:rPr lang="en-US" dirty="0"/>
              <a:t> HLS Coding styles-&gt;Unsupported C/C++ Constructs-&gt;Dynamic Memory Usage</a:t>
            </a:r>
          </a:p>
        </p:txBody>
      </p:sp>
    </p:spTree>
    <p:extLst>
      <p:ext uri="{BB962C8B-B14F-4D97-AF65-F5344CB8AC3E}">
        <p14:creationId xmlns:p14="http://schemas.microsoft.com/office/powerpoint/2010/main" val="34311052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UG1399-&gt;</a:t>
            </a:r>
            <a:r>
              <a:rPr lang="en-US" dirty="0" err="1"/>
              <a:t>Vitis</a:t>
            </a:r>
            <a:r>
              <a:rPr lang="en-US" dirty="0"/>
              <a:t> HLS Coding styles-&gt;Unsupported C/C++ Constructs-&gt;Dynamic Memory Usage</a:t>
            </a:r>
          </a:p>
        </p:txBody>
      </p:sp>
    </p:spTree>
    <p:extLst>
      <p:ext uri="{BB962C8B-B14F-4D97-AF65-F5344CB8AC3E}">
        <p14:creationId xmlns:p14="http://schemas.microsoft.com/office/powerpoint/2010/main" val="34311052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D42829-8409-4711-B36D-25AE5703B863}" type="slidenum">
              <a:rPr lang="en-US" smtClean="0"/>
              <a:pPr/>
              <a:t>45</a:t>
            </a:fld>
            <a:endParaRPr lang="en-US"/>
          </a:p>
        </p:txBody>
      </p:sp>
    </p:spTree>
    <p:extLst>
      <p:ext uri="{BB962C8B-B14F-4D97-AF65-F5344CB8AC3E}">
        <p14:creationId xmlns:p14="http://schemas.microsoft.com/office/powerpoint/2010/main" val="19352313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Didn’t see warning in </a:t>
            </a:r>
            <a:r>
              <a:rPr lang="en-US" dirty="0" err="1"/>
              <a:t>vitis</a:t>
            </a:r>
            <a:endParaRPr lang="en-US" dirty="0"/>
          </a:p>
        </p:txBody>
      </p:sp>
    </p:spTree>
    <p:extLst>
      <p:ext uri="{BB962C8B-B14F-4D97-AF65-F5344CB8AC3E}">
        <p14:creationId xmlns:p14="http://schemas.microsoft.com/office/powerpoint/2010/main" val="20584270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Didn’t see warning in </a:t>
            </a:r>
            <a:r>
              <a:rPr lang="en-US" dirty="0" err="1"/>
              <a:t>vitis</a:t>
            </a:r>
            <a:endParaRPr lang="en-US" dirty="0"/>
          </a:p>
        </p:txBody>
      </p:sp>
    </p:spTree>
    <p:extLst>
      <p:ext uri="{BB962C8B-B14F-4D97-AF65-F5344CB8AC3E}">
        <p14:creationId xmlns:p14="http://schemas.microsoft.com/office/powerpoint/2010/main" val="20584270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charset="0"/>
                <a:ea typeface="+mn-ea"/>
                <a:cs typeface="+mn-cs"/>
              </a:rPr>
              <a:t>By default, an </a:t>
            </a:r>
            <a:r>
              <a:rPr lang="en-US" dirty="0" err="1"/>
              <a:t>hls</a:t>
            </a:r>
            <a:r>
              <a:rPr lang="en-US" dirty="0"/>
              <a:t>::stream</a:t>
            </a:r>
            <a:r>
              <a:rPr lang="en-US" sz="1200" b="0" i="0" kern="1200" dirty="0">
                <a:solidFill>
                  <a:schemeClr val="tx1"/>
                </a:solidFill>
                <a:effectLst/>
                <a:latin typeface="Arial" charset="0"/>
                <a:ea typeface="+mn-ea"/>
                <a:cs typeface="+mn-cs"/>
              </a:rPr>
              <a:t> is implemented as a FIFO with a depth of 2. </a:t>
            </a:r>
            <a:endParaRPr lang="en-US" dirty="0"/>
          </a:p>
        </p:txBody>
      </p:sp>
    </p:spTree>
    <p:extLst>
      <p:ext uri="{BB962C8B-B14F-4D97-AF65-F5344CB8AC3E}">
        <p14:creationId xmlns:p14="http://schemas.microsoft.com/office/powerpoint/2010/main" val="4959461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Arial" charset="0"/>
                <a:ea typeface="+mn-ea"/>
                <a:cs typeface="+mn-cs"/>
              </a:rPr>
              <a:t>By default, an </a:t>
            </a:r>
            <a:r>
              <a:rPr lang="en-US" dirty="0" err="1"/>
              <a:t>hls</a:t>
            </a:r>
            <a:r>
              <a:rPr lang="en-US" dirty="0"/>
              <a:t>::stream</a:t>
            </a:r>
            <a:r>
              <a:rPr lang="en-US" sz="1200" b="0" i="0" kern="1200" dirty="0">
                <a:solidFill>
                  <a:schemeClr val="tx1"/>
                </a:solidFill>
                <a:effectLst/>
                <a:latin typeface="Arial" charset="0"/>
                <a:ea typeface="+mn-ea"/>
                <a:cs typeface="+mn-cs"/>
              </a:rPr>
              <a:t> is implemented as a FIFO with a depth of 2. </a:t>
            </a:r>
            <a:endParaRPr lang="en-US" dirty="0"/>
          </a:p>
        </p:txBody>
      </p:sp>
    </p:spTree>
    <p:extLst>
      <p:ext uri="{BB962C8B-B14F-4D97-AF65-F5344CB8AC3E}">
        <p14:creationId xmlns:p14="http://schemas.microsoft.com/office/powerpoint/2010/main" val="49594618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fld id="{76F0A2C8-C80D-4FA6-9395-33B607B809E4}" type="slidenum">
              <a:rPr lang="en-US" smtClean="0"/>
              <a:pPr/>
              <a:t>70</a:t>
            </a:fld>
            <a:endParaRPr lang="en-US" dirty="0"/>
          </a:p>
        </p:txBody>
      </p:sp>
    </p:spTree>
    <p:extLst>
      <p:ext uri="{BB962C8B-B14F-4D97-AF65-F5344CB8AC3E}">
        <p14:creationId xmlns:p14="http://schemas.microsoft.com/office/powerpoint/2010/main" val="33380804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pPr marL="0" marR="0" lvl="0" indent="0" algn="l" defTabSz="914400" rtl="0" eaLnBrk="1" fontAlgn="auto" latinLnBrk="0" hangingPunct="1">
              <a:lnSpc>
                <a:spcPct val="100000"/>
              </a:lnSpc>
              <a:spcBef>
                <a:spcPts val="0"/>
              </a:spcBef>
              <a:spcAft>
                <a:spcPts val="0"/>
              </a:spcAft>
              <a:buClrTx/>
              <a:buSzTx/>
              <a:buFontTx/>
              <a:buNone/>
              <a:tabLst/>
              <a:defRPr/>
            </a:pPr>
            <a:fld id="{76F0A2C8-C80D-4FA6-9395-33B607B809E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71</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33380804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fld id="{76F0A2C8-C80D-4FA6-9395-33B607B809E4}" type="slidenum">
              <a:rPr lang="en-US" smtClean="0"/>
              <a:pPr/>
              <a:t>72</a:t>
            </a:fld>
            <a:endParaRPr lang="en-US" dirty="0"/>
          </a:p>
        </p:txBody>
      </p:sp>
    </p:spTree>
    <p:extLst>
      <p:ext uri="{BB962C8B-B14F-4D97-AF65-F5344CB8AC3E}">
        <p14:creationId xmlns:p14="http://schemas.microsoft.com/office/powerpoint/2010/main" val="13827286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pPr marL="0" marR="0" lvl="0" indent="0" algn="l" defTabSz="914400" rtl="0" eaLnBrk="1" fontAlgn="auto" latinLnBrk="0" hangingPunct="1">
              <a:lnSpc>
                <a:spcPct val="100000"/>
              </a:lnSpc>
              <a:spcBef>
                <a:spcPts val="0"/>
              </a:spcBef>
              <a:spcAft>
                <a:spcPts val="0"/>
              </a:spcAft>
              <a:buClrTx/>
              <a:buSzTx/>
              <a:buFontTx/>
              <a:buNone/>
              <a:tabLst/>
              <a:defRPr/>
            </a:pPr>
            <a:fld id="{76F0A2C8-C80D-4FA6-9395-33B607B809E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73</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138272868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typedef float </a:t>
            </a:r>
            <a:r>
              <a:rPr lang="en-US" dirty="0" err="1"/>
              <a:t>data_t</a:t>
            </a:r>
            <a:r>
              <a:rPr lang="en-US" dirty="0"/>
              <a:t>; </a:t>
            </a:r>
          </a:p>
          <a:p>
            <a:r>
              <a:rPr lang="en-US" dirty="0"/>
              <a:t>static complex&lt;</a:t>
            </a:r>
            <a:r>
              <a:rPr lang="en-US" dirty="0" err="1"/>
              <a:t>data_t</a:t>
            </a:r>
            <a:r>
              <a:rPr lang="en-US" dirty="0"/>
              <a:t>&gt; </a:t>
            </a:r>
            <a:r>
              <a:rPr lang="en-US" dirty="0" err="1"/>
              <a:t>xn</a:t>
            </a:r>
            <a:r>
              <a:rPr lang="en-US" dirty="0"/>
              <a:t>[CHANNEL][FFT_LENGTH]; </a:t>
            </a:r>
          </a:p>
          <a:p>
            <a:r>
              <a:rPr lang="en-US" dirty="0"/>
              <a:t>static complex&lt;</a:t>
            </a:r>
            <a:r>
              <a:rPr lang="en-US" dirty="0" err="1"/>
              <a:t>data_t</a:t>
            </a:r>
            <a:r>
              <a:rPr lang="en-US" dirty="0"/>
              <a:t>&gt; </a:t>
            </a:r>
            <a:r>
              <a:rPr lang="en-US" dirty="0" err="1"/>
              <a:t>xk</a:t>
            </a:r>
            <a:r>
              <a:rPr lang="en-US" dirty="0"/>
              <a:t>[CHANELL][FFT_LENGTH];</a:t>
            </a:r>
          </a:p>
        </p:txBody>
      </p:sp>
    </p:spTree>
    <p:extLst>
      <p:ext uri="{BB962C8B-B14F-4D97-AF65-F5344CB8AC3E}">
        <p14:creationId xmlns:p14="http://schemas.microsoft.com/office/powerpoint/2010/main" val="30239992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typedef float </a:t>
            </a:r>
            <a:r>
              <a:rPr lang="en-US" dirty="0" err="1"/>
              <a:t>data_t</a:t>
            </a:r>
            <a:r>
              <a:rPr lang="en-US" dirty="0"/>
              <a:t>; </a:t>
            </a:r>
          </a:p>
          <a:p>
            <a:r>
              <a:rPr lang="en-US" dirty="0"/>
              <a:t>static complex&lt;</a:t>
            </a:r>
            <a:r>
              <a:rPr lang="en-US" dirty="0" err="1"/>
              <a:t>data_t</a:t>
            </a:r>
            <a:r>
              <a:rPr lang="en-US" dirty="0"/>
              <a:t>&gt; </a:t>
            </a:r>
            <a:r>
              <a:rPr lang="en-US" dirty="0" err="1"/>
              <a:t>xn</a:t>
            </a:r>
            <a:r>
              <a:rPr lang="en-US" dirty="0"/>
              <a:t>[CHANNEL][FFT_LENGTH]; </a:t>
            </a:r>
          </a:p>
          <a:p>
            <a:r>
              <a:rPr lang="en-US" dirty="0"/>
              <a:t>static complex&lt;</a:t>
            </a:r>
            <a:r>
              <a:rPr lang="en-US" dirty="0" err="1"/>
              <a:t>data_t</a:t>
            </a:r>
            <a:r>
              <a:rPr lang="en-US" dirty="0"/>
              <a:t>&gt; </a:t>
            </a:r>
            <a:r>
              <a:rPr lang="en-US" dirty="0" err="1"/>
              <a:t>xk</a:t>
            </a:r>
            <a:r>
              <a:rPr lang="en-US" dirty="0"/>
              <a:t>[CHANELL][FFT_LENGTH];</a:t>
            </a:r>
          </a:p>
        </p:txBody>
      </p:sp>
    </p:spTree>
    <p:extLst>
      <p:ext uri="{BB962C8B-B14F-4D97-AF65-F5344CB8AC3E}">
        <p14:creationId xmlns:p14="http://schemas.microsoft.com/office/powerpoint/2010/main" val="30239992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fld id="{76F0A2C8-C80D-4FA6-9395-33B607B809E4}" type="slidenum">
              <a:rPr lang="en-US" smtClean="0"/>
              <a:pPr/>
              <a:t>84</a:t>
            </a:fld>
            <a:endParaRPr lang="en-US" dirty="0"/>
          </a:p>
        </p:txBody>
      </p:sp>
    </p:spTree>
    <p:extLst>
      <p:ext uri="{BB962C8B-B14F-4D97-AF65-F5344CB8AC3E}">
        <p14:creationId xmlns:p14="http://schemas.microsoft.com/office/powerpoint/2010/main" val="3338080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pPr marL="0" marR="0" lvl="0" indent="0" algn="l" defTabSz="914400" rtl="0" eaLnBrk="1" fontAlgn="auto" latinLnBrk="0" hangingPunct="1">
              <a:lnSpc>
                <a:spcPct val="100000"/>
              </a:lnSpc>
              <a:spcBef>
                <a:spcPts val="0"/>
              </a:spcBef>
              <a:spcAft>
                <a:spcPts val="0"/>
              </a:spcAft>
              <a:buClrTx/>
              <a:buSzTx/>
              <a:buFontTx/>
              <a:buNone/>
              <a:tabLst/>
              <a:defRPr/>
            </a:pPr>
            <a:fld id="{76F0A2C8-C80D-4FA6-9395-33B607B809E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85</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333808042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fld id="{76F0A2C8-C80D-4FA6-9395-33B607B809E4}" type="slidenum">
              <a:rPr lang="en-US" smtClean="0"/>
              <a:pPr/>
              <a:t>86</a:t>
            </a:fld>
            <a:endParaRPr lang="en-US" dirty="0"/>
          </a:p>
        </p:txBody>
      </p:sp>
    </p:spTree>
    <p:extLst>
      <p:ext uri="{BB962C8B-B14F-4D97-AF65-F5344CB8AC3E}">
        <p14:creationId xmlns:p14="http://schemas.microsoft.com/office/powerpoint/2010/main" val="13827286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19138"/>
            <a:ext cx="6400800" cy="3602037"/>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a:xfrm>
            <a:off x="4143587" y="9119474"/>
            <a:ext cx="3169920" cy="480060"/>
          </a:xfrm>
          <a:prstGeom prst="rect">
            <a:avLst/>
          </a:prstGeom>
        </p:spPr>
        <p:txBody>
          <a:bodyPr lIns="94851" tIns="47425" rIns="94851" bIns="47425"/>
          <a:lstStyle/>
          <a:p>
            <a:pPr marL="0" marR="0" lvl="0" indent="0" algn="l" defTabSz="914400" rtl="0" eaLnBrk="1" fontAlgn="auto" latinLnBrk="0" hangingPunct="1">
              <a:lnSpc>
                <a:spcPct val="100000"/>
              </a:lnSpc>
              <a:spcBef>
                <a:spcPts val="0"/>
              </a:spcBef>
              <a:spcAft>
                <a:spcPts val="0"/>
              </a:spcAft>
              <a:buClrTx/>
              <a:buSzTx/>
              <a:buFontTx/>
              <a:buNone/>
              <a:tabLst/>
              <a:defRPr/>
            </a:pPr>
            <a:fld id="{76F0A2C8-C80D-4FA6-9395-33B607B809E4}" type="slidenum">
              <a:rPr kumimoji="0" lang="en-US" sz="1800" b="0" i="0" u="none" strike="noStrike" kern="1200" cap="none" spc="0" normalizeH="0" baseline="0" noProof="0" smtClean="0">
                <a:ln>
                  <a:noFill/>
                </a:ln>
                <a:solidFill>
                  <a:srgbClr val="000000"/>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87</a:t>
            </a:fld>
            <a:endParaRPr kumimoji="0" lang="en-US" sz="1800" b="0" i="0" u="none" strike="noStrike" kern="1200" cap="none" spc="0" normalizeH="0" baseline="0" noProof="0" dirty="0">
              <a:ln>
                <a:noFill/>
              </a:ln>
              <a:solidFill>
                <a:srgbClr val="000000"/>
              </a:solidFill>
              <a:effectLst/>
              <a:uLnTx/>
              <a:uFillTx/>
              <a:latin typeface="Calibri"/>
              <a:ea typeface="+mn-ea"/>
              <a:cs typeface="+mn-cs"/>
            </a:endParaRPr>
          </a:p>
        </p:txBody>
      </p:sp>
    </p:spTree>
    <p:extLst>
      <p:ext uri="{BB962C8B-B14F-4D97-AF65-F5344CB8AC3E}">
        <p14:creationId xmlns:p14="http://schemas.microsoft.com/office/powerpoint/2010/main" val="138272868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support </a:t>
            </a:r>
            <a:r>
              <a:rPr lang="en-US" sz="1200" b="0" i="0" kern="1200" dirty="0" err="1">
                <a:solidFill>
                  <a:schemeClr val="tx1"/>
                </a:solidFill>
                <a:effectLst/>
                <a:latin typeface="Arial" charset="0"/>
                <a:ea typeface="+mn-ea"/>
                <a:cs typeface="+mn-cs"/>
              </a:rPr>
              <a:t>potrf</a:t>
            </a:r>
            <a:endParaRPr lang="en-US" sz="1200" b="0" i="0" kern="1200" dirty="0">
              <a:solidFill>
                <a:schemeClr val="tx1"/>
              </a:solidFill>
              <a:effectLst/>
              <a:latin typeface="Arial" charset="0"/>
              <a:ea typeface="+mn-ea"/>
              <a:cs typeface="+mn-cs"/>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b="1" i="0" u="none" strike="noStrike" kern="1200" dirty="0">
                <a:solidFill>
                  <a:schemeClr val="tx1"/>
                </a:solidFill>
                <a:effectLst/>
                <a:latin typeface="Arial" charset="0"/>
                <a:ea typeface="+mn-ea"/>
                <a:cs typeface="+mn-cs"/>
                <a:hlinkClick r:id="rId3" tooltip="Deprecated and Unsupported Features"/>
              </a:rPr>
              <a:t>Deprecated and Unsupported Features</a:t>
            </a:r>
            <a:endParaRPr lang="en-US" dirty="0"/>
          </a:p>
          <a:p>
            <a:endParaRPr lang="en-US" dirty="0"/>
          </a:p>
        </p:txBody>
      </p:sp>
    </p:spTree>
    <p:extLst>
      <p:ext uri="{BB962C8B-B14F-4D97-AF65-F5344CB8AC3E}">
        <p14:creationId xmlns:p14="http://schemas.microsoft.com/office/powerpoint/2010/main" val="33824020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14589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39581090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624372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6243728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2.xml"/><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95538199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3269867238"/>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074720321"/>
      </p:ext>
    </p:extLst>
  </p:cSld>
  <p:clrMapOvr>
    <a:masterClrMapping/>
  </p:clrMapOvr>
  <p:hf hdr="0" dt="0"/>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3" name="Name, Title, Date"/>
          <p:cNvSpPr>
            <a:spLocks noGrp="1"/>
          </p:cNvSpPr>
          <p:nvPr>
            <p:ph type="subTitle" idx="1" hasCustomPrompt="1"/>
          </p:nvPr>
        </p:nvSpPr>
        <p:spPr>
          <a:xfrm>
            <a:off x="872570" y="4513635"/>
            <a:ext cx="7417990" cy="1092607"/>
          </a:xfrm>
        </p:spPr>
        <p:txBody>
          <a:bodyPr wrap="square">
            <a:sp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2" name="Title 1"/>
          <p:cNvSpPr>
            <a:spLocks noGrp="1"/>
          </p:cNvSpPr>
          <p:nvPr>
            <p:ph type="ctrTitle" hasCustomPrompt="1"/>
          </p:nvPr>
        </p:nvSpPr>
        <p:spPr>
          <a:xfrm>
            <a:off x="872570" y="2122996"/>
            <a:ext cx="7417990" cy="707886"/>
          </a:xfrm>
        </p:spPr>
        <p:txBody>
          <a:bodyPr wrap="square" anchor="t">
            <a:sp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8" name="object 6">
            <a:extLst>
              <a:ext uri="{FF2B5EF4-FFF2-40B4-BE49-F238E27FC236}">
                <a16:creationId xmlns:a16="http://schemas.microsoft.com/office/drawing/2014/main" id="{F6833D8A-D81B-AA4D-BC0C-B9F9B99BDC1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3" name="object 6">
            <a:extLst>
              <a:ext uri="{FF2B5EF4-FFF2-40B4-BE49-F238E27FC236}">
                <a16:creationId xmlns:a16="http://schemas.microsoft.com/office/drawing/2014/main" id="{6DC90665-93DD-BA43-AEB2-9473ED9E14A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7" name="object 6">
            <a:extLst>
              <a:ext uri="{FF2B5EF4-FFF2-40B4-BE49-F238E27FC236}">
                <a16:creationId xmlns:a16="http://schemas.microsoft.com/office/drawing/2014/main" id="{B1B3D47F-2C53-4E4B-A632-F9836852D48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6" name="Rectangle 5"/>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0" name="Picture 19" descr="ww.png">
            <a:extLst>
              <a:ext uri="{FF2B5EF4-FFF2-40B4-BE49-F238E27FC236}">
                <a16:creationId xmlns:a16="http://schemas.microsoft.com/office/drawing/2014/main" id="{BD515A1B-E781-9542-B11E-020D7530B53B}"/>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18" name="object 6">
            <a:extLst>
              <a:ext uri="{FF2B5EF4-FFF2-40B4-BE49-F238E27FC236}">
                <a16:creationId xmlns:a16="http://schemas.microsoft.com/office/drawing/2014/main" id="{30CB90D7-B2ED-5F4B-9C4A-4C5F388B660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2" name="object 6">
            <a:extLst>
              <a:ext uri="{FF2B5EF4-FFF2-40B4-BE49-F238E27FC236}">
                <a16:creationId xmlns:a16="http://schemas.microsoft.com/office/drawing/2014/main" id="{B3322536-4D68-4C45-93CB-EBED08E3C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5" name="Picture 4">
            <a:extLst>
              <a:ext uri="{FF2B5EF4-FFF2-40B4-BE49-F238E27FC236}">
                <a16:creationId xmlns:a16="http://schemas.microsoft.com/office/drawing/2014/main" id="{A2289EF4-0CD0-CE40-B328-01966A945EE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4" name="object 6">
            <a:extLst>
              <a:ext uri="{FF2B5EF4-FFF2-40B4-BE49-F238E27FC236}">
                <a16:creationId xmlns:a16="http://schemas.microsoft.com/office/drawing/2014/main" id="{8C16838A-F495-2546-9F44-BF6397F12E0C}"/>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5" name="Picture 14">
            <a:extLst>
              <a:ext uri="{FF2B5EF4-FFF2-40B4-BE49-F238E27FC236}">
                <a16:creationId xmlns:a16="http://schemas.microsoft.com/office/drawing/2014/main" id="{3D4E9A42-40D8-6146-BC40-79DAE6208D2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9" name="object 6">
            <a:extLst>
              <a:ext uri="{FF2B5EF4-FFF2-40B4-BE49-F238E27FC236}">
                <a16:creationId xmlns:a16="http://schemas.microsoft.com/office/drawing/2014/main" id="{2EF15590-5F1E-D542-BD85-EFD08C30A69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67CB4086-1311-4B49-818E-1966244940C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4" name="object 6">
            <a:extLst>
              <a:ext uri="{FF2B5EF4-FFF2-40B4-BE49-F238E27FC236}">
                <a16:creationId xmlns:a16="http://schemas.microsoft.com/office/drawing/2014/main" id="{F0122A65-85C0-6541-8107-BF11595575F3}"/>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46713B90-AF64-CD41-A82E-7B206B39F34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2067459915"/>
      </p:ext>
    </p:extLst>
  </p:cSld>
  <p:clrMapOvr>
    <a:overrideClrMapping bg1="dk1" tx1="lt1" bg2="dk2" tx2="lt2" accent1="accent1" accent2="accent2" accent3="accent3" accent4="accent4" accent5="accent5" accent6="accent6" hlink="hlink" folHlink="folHlink"/>
  </p:clrMapOvr>
  <p:hf hd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Slide Layout (Custom Graphic)">
    <p:bg>
      <p:bgPr>
        <a:solidFill>
          <a:schemeClr val="bg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B1F99C1-A850-AA46-A3A6-13755C4E5C56}"/>
              </a:ext>
            </a:extLst>
          </p:cNvPr>
          <p:cNvPicPr>
            <a:picLocks noChangeAspect="1"/>
          </p:cNvPicPr>
          <p:nvPr/>
        </p:nvPicPr>
        <p:blipFill>
          <a:blip r:embed="rId2">
            <a:alphaModFix amt="10000"/>
            <a:extLst>
              <a:ext uri="{28A0092B-C50C-407E-A947-70E740481C1C}">
                <a14:useLocalDpi xmlns:a14="http://schemas.microsoft.com/office/drawing/2010/main" val="0"/>
              </a:ext>
            </a:extLst>
          </a:blip>
          <a:stretch>
            <a:fillRect/>
          </a:stretch>
        </p:blipFill>
        <p:spPr>
          <a:xfrm>
            <a:off x="1" y="-36231"/>
            <a:ext cx="8384875" cy="6894231"/>
          </a:xfrm>
          <a:prstGeom prst="rect">
            <a:avLst/>
          </a:prstGeom>
        </p:spPr>
      </p:pic>
      <p:sp>
        <p:nvSpPr>
          <p:cNvPr id="13" name="Title 1"/>
          <p:cNvSpPr>
            <a:spLocks noGrp="1"/>
          </p:cNvSpPr>
          <p:nvPr>
            <p:ph type="ctrTitle" hasCustomPrompt="1"/>
          </p:nvPr>
        </p:nvSpPr>
        <p:spPr>
          <a:xfrm>
            <a:off x="872570" y="2122996"/>
            <a:ext cx="6259750" cy="757130"/>
          </a:xfrm>
        </p:spPr>
        <p:txBody>
          <a:bodyPr anchor="t">
            <a:normAutofit/>
          </a:bodyPr>
          <a:lstStyle>
            <a:lvl1pPr marL="0" algn="l" defTabSz="914126" rtl="0" eaLnBrk="1" latinLnBrk="0" hangingPunct="1">
              <a:lnSpc>
                <a:spcPct val="100000"/>
              </a:lnSpc>
              <a:spcBef>
                <a:spcPct val="0"/>
              </a:spcBef>
              <a:buNone/>
              <a:defRPr lang="en-US" sz="3999" b="1" i="0" kern="1200" baseline="0" dirty="0">
                <a:solidFill>
                  <a:schemeClr val="tx1"/>
                </a:solidFill>
                <a:latin typeface="Arial" charset="0"/>
                <a:ea typeface="+mj-ea"/>
                <a:cs typeface="Arial" charset="0"/>
              </a:defRPr>
            </a:lvl1pPr>
          </a:lstStyle>
          <a:p>
            <a:r>
              <a:rPr lang="en-US" dirty="0"/>
              <a:t>Presentation Title</a:t>
            </a:r>
          </a:p>
        </p:txBody>
      </p:sp>
      <p:sp>
        <p:nvSpPr>
          <p:cNvPr id="12" name="Name, Title, Date"/>
          <p:cNvSpPr>
            <a:spLocks noGrp="1"/>
          </p:cNvSpPr>
          <p:nvPr>
            <p:ph type="subTitle" idx="1" hasCustomPrompt="1"/>
          </p:nvPr>
        </p:nvSpPr>
        <p:spPr>
          <a:xfrm>
            <a:off x="872570" y="4513635"/>
            <a:ext cx="4877066" cy="1092607"/>
          </a:xfrm>
        </p:spPr>
        <p:txBody>
          <a:bodyPr>
            <a:normAutofit/>
          </a:bodyPr>
          <a:lstStyle>
            <a:lvl1pPr marL="0" indent="0" algn="l">
              <a:spcBef>
                <a:spcPts val="300"/>
              </a:spcBef>
              <a:buNone/>
              <a:defRPr lang="en-US" sz="1999" b="0" i="0" kern="1200" baseline="0" dirty="0">
                <a:solidFill>
                  <a:schemeClr val="tx1"/>
                </a:solidFill>
                <a:latin typeface="Arial" charset="0"/>
                <a:ea typeface="Arial" charset="0"/>
                <a:cs typeface="Arial" charset="0"/>
              </a:defRPr>
            </a:lvl1pPr>
            <a:lvl2pPr marL="457063" indent="0" algn="ctr">
              <a:buNone/>
              <a:defRPr sz="1999"/>
            </a:lvl2pPr>
            <a:lvl3pPr marL="914126" indent="0" algn="ctr">
              <a:buNone/>
              <a:defRPr sz="1799"/>
            </a:lvl3pPr>
            <a:lvl4pPr marL="1371189" indent="0" algn="ctr">
              <a:buNone/>
              <a:defRPr sz="1600"/>
            </a:lvl4pPr>
            <a:lvl5pPr marL="1828251" indent="0" algn="ctr">
              <a:buNone/>
              <a:defRPr sz="1600"/>
            </a:lvl5pPr>
            <a:lvl6pPr marL="2285314" indent="0" algn="ctr">
              <a:buNone/>
              <a:defRPr sz="1600"/>
            </a:lvl6pPr>
            <a:lvl7pPr marL="2742377" indent="0" algn="ctr">
              <a:buNone/>
              <a:defRPr sz="1600"/>
            </a:lvl7pPr>
            <a:lvl8pPr marL="3199440" indent="0" algn="ctr">
              <a:buNone/>
              <a:defRPr sz="1600"/>
            </a:lvl8pPr>
            <a:lvl9pPr marL="3656503" indent="0" algn="ctr">
              <a:buNone/>
              <a:defRPr sz="1600"/>
            </a:lvl9pPr>
          </a:lstStyle>
          <a:p>
            <a:r>
              <a:rPr lang="en-US" dirty="0"/>
              <a:t>Name</a:t>
            </a:r>
          </a:p>
          <a:p>
            <a:r>
              <a:rPr lang="en-US" dirty="0"/>
              <a:t>Title</a:t>
            </a:r>
          </a:p>
          <a:p>
            <a:r>
              <a:rPr lang="en-US" dirty="0"/>
              <a:t>Date</a:t>
            </a:r>
          </a:p>
        </p:txBody>
      </p:sp>
      <p:sp>
        <p:nvSpPr>
          <p:cNvPr id="14"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6" name="object 6">
            <a:extLst>
              <a:ext uri="{FF2B5EF4-FFF2-40B4-BE49-F238E27FC236}">
                <a16:creationId xmlns:a16="http://schemas.microsoft.com/office/drawing/2014/main" id="{79F46B48-C01A-1340-8C6B-DA07FABAAD3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0" name="object 6">
            <a:extLst>
              <a:ext uri="{FF2B5EF4-FFF2-40B4-BE49-F238E27FC236}">
                <a16:creationId xmlns:a16="http://schemas.microsoft.com/office/drawing/2014/main" id="{529EC48C-88EC-4F48-B6BB-B7BB27D37DBD}"/>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4" name="object 6">
            <a:extLst>
              <a:ext uri="{FF2B5EF4-FFF2-40B4-BE49-F238E27FC236}">
                <a16:creationId xmlns:a16="http://schemas.microsoft.com/office/drawing/2014/main" id="{14E96798-EC8B-FA4C-AC7D-DE75AF3811AF}"/>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Rectangle 2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25" name="Picture 24" descr="ww.png">
            <a:extLst>
              <a:ext uri="{FF2B5EF4-FFF2-40B4-BE49-F238E27FC236}">
                <a16:creationId xmlns:a16="http://schemas.microsoft.com/office/drawing/2014/main" id="{6CB568A7-486F-7E43-8841-829B657830D1}"/>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b="3185"/>
          <a:stretch/>
        </p:blipFill>
        <p:spPr>
          <a:xfrm>
            <a:off x="8912570" y="-1"/>
            <a:ext cx="3279430" cy="6858001"/>
          </a:xfrm>
          <a:prstGeom prst="rect">
            <a:avLst/>
          </a:prstGeom>
        </p:spPr>
      </p:pic>
      <p:sp>
        <p:nvSpPr>
          <p:cNvPr id="26" name="object 6">
            <a:extLst>
              <a:ext uri="{FF2B5EF4-FFF2-40B4-BE49-F238E27FC236}">
                <a16:creationId xmlns:a16="http://schemas.microsoft.com/office/drawing/2014/main" id="{55A0589D-3199-824F-BB2E-0165FD1B46B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0" name="object 6">
            <a:extLst>
              <a:ext uri="{FF2B5EF4-FFF2-40B4-BE49-F238E27FC236}">
                <a16:creationId xmlns:a16="http://schemas.microsoft.com/office/drawing/2014/main" id="{4AB8CBEA-6665-9A4C-BAFF-830C38095BF8}"/>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2" name="Picture 31">
            <a:extLst>
              <a:ext uri="{FF2B5EF4-FFF2-40B4-BE49-F238E27FC236}">
                <a16:creationId xmlns:a16="http://schemas.microsoft.com/office/drawing/2014/main" id="{BBC7CEB1-422C-D04C-9AF5-6F9B7A7142B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5" name="object 6">
            <a:extLst>
              <a:ext uri="{FF2B5EF4-FFF2-40B4-BE49-F238E27FC236}">
                <a16:creationId xmlns:a16="http://schemas.microsoft.com/office/drawing/2014/main" id="{C6EFF017-BB71-2946-8429-D5C445CE839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CD59F683-89D6-C24E-B6D3-272BC62A268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18" name="object 6">
            <a:extLst>
              <a:ext uri="{FF2B5EF4-FFF2-40B4-BE49-F238E27FC236}">
                <a16:creationId xmlns:a16="http://schemas.microsoft.com/office/drawing/2014/main" id="{BCF7B235-4328-1747-AC5E-57DC6D753214}"/>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9" name="Picture 18">
            <a:extLst>
              <a:ext uri="{FF2B5EF4-FFF2-40B4-BE49-F238E27FC236}">
                <a16:creationId xmlns:a16="http://schemas.microsoft.com/office/drawing/2014/main" id="{6A880B90-D46C-0D44-8AFE-4A062DD38A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21" name="object 6">
            <a:extLst>
              <a:ext uri="{FF2B5EF4-FFF2-40B4-BE49-F238E27FC236}">
                <a16:creationId xmlns:a16="http://schemas.microsoft.com/office/drawing/2014/main" id="{EC8AB604-7AB0-AA4A-8D3F-975F013C2F5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2" name="Picture 21">
            <a:extLst>
              <a:ext uri="{FF2B5EF4-FFF2-40B4-BE49-F238E27FC236}">
                <a16:creationId xmlns:a16="http://schemas.microsoft.com/office/drawing/2014/main" id="{4D0C4FA3-D3E2-BF43-880D-3DA206335E1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193075314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Agenda Slide">
    <p:bg>
      <p:bgPr>
        <a:solidFill>
          <a:schemeClr val="bg2"/>
        </a:solidFill>
        <a:effectLst/>
      </p:bgPr>
    </p:bg>
    <p:spTree>
      <p:nvGrpSpPr>
        <p:cNvPr id="1" name=""/>
        <p:cNvGrpSpPr/>
        <p:nvPr/>
      </p:nvGrpSpPr>
      <p:grpSpPr>
        <a:xfrm>
          <a:off x="0" y="0"/>
          <a:ext cx="0" cy="0"/>
          <a:chOff x="0" y="0"/>
          <a:chExt cx="0" cy="0"/>
        </a:xfrm>
      </p:grpSpPr>
      <p:sp>
        <p:nvSpPr>
          <p:cNvPr id="10"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1" name="Picture 10" descr="ww.png"/>
          <p:cNvPicPr>
            <a:picLocks noChangeAspect="1"/>
          </p:cNvPicPr>
          <p:nvPr/>
        </p:nvPicPr>
        <p:blipFill rotWithShape="1">
          <a:blip r:embed="rId2" cstate="print">
            <a:extLst>
              <a:ext uri="{28A0092B-C50C-407E-A947-70E740481C1C}">
                <a14:useLocalDpi xmlns:a14="http://schemas.microsoft.com/office/drawing/2010/main" val="0"/>
              </a:ext>
            </a:extLst>
          </a:blip>
          <a:srcRect b="3185"/>
          <a:stretch/>
        </p:blipFill>
        <p:spPr>
          <a:xfrm>
            <a:off x="8912570" y="2"/>
            <a:ext cx="3279430" cy="6858001"/>
          </a:xfrm>
          <a:prstGeom prst="rect">
            <a:avLst/>
          </a:prstGeom>
        </p:spPr>
      </p:pic>
      <p:sp>
        <p:nvSpPr>
          <p:cNvPr id="7" name="Title 1">
            <a:extLst>
              <a:ext uri="{FF2B5EF4-FFF2-40B4-BE49-F238E27FC236}">
                <a16:creationId xmlns:a16="http://schemas.microsoft.com/office/drawing/2014/main" id="{E89E807F-F94B-F442-B5BC-972820E2E7DF}"/>
              </a:ext>
            </a:extLst>
          </p:cNvPr>
          <p:cNvSpPr>
            <a:spLocks noGrp="1"/>
          </p:cNvSpPr>
          <p:nvPr>
            <p:ph type="title" hasCustomPrompt="1"/>
          </p:nvPr>
        </p:nvSpPr>
        <p:spPr>
          <a:xfrm>
            <a:off x="621793" y="210312"/>
            <a:ext cx="10541508" cy="502920"/>
          </a:xfrm>
        </p:spPr>
        <p:txBody>
          <a:bodyPr/>
          <a:lstStyle>
            <a:lvl1pPr>
              <a:defRPr/>
            </a:lvl1pPr>
          </a:lstStyle>
          <a:p>
            <a:r>
              <a:rPr lang="en-US" dirty="0"/>
              <a:t>Agenda Slide</a:t>
            </a:r>
          </a:p>
        </p:txBody>
      </p:sp>
      <p:sp>
        <p:nvSpPr>
          <p:cNvPr id="8" name="Content Placeholder 2">
            <a:extLst>
              <a:ext uri="{FF2B5EF4-FFF2-40B4-BE49-F238E27FC236}">
                <a16:creationId xmlns:a16="http://schemas.microsoft.com/office/drawing/2014/main" id="{9A49FD6F-DB7C-B74F-8B28-DE0F77ACFB62}"/>
              </a:ext>
            </a:extLst>
          </p:cNvPr>
          <p:cNvSpPr>
            <a:spLocks noGrp="1"/>
          </p:cNvSpPr>
          <p:nvPr>
            <p:ph idx="1" hasCustomPrompt="1"/>
          </p:nvPr>
        </p:nvSpPr>
        <p:spPr>
          <a:xfrm>
            <a:off x="647700" y="1463040"/>
            <a:ext cx="10515600" cy="4759404"/>
          </a:xfrm>
        </p:spPr>
        <p:txBody>
          <a:bodyPr>
            <a:normAutofit/>
          </a:bodyPr>
          <a:lstStyle>
            <a:lvl1pPr>
              <a:lnSpc>
                <a:spcPct val="150000"/>
              </a:lnSpc>
              <a:defRPr sz="2799" b="0" baseline="0">
                <a:solidFill>
                  <a:schemeClr val="tx1"/>
                </a:solidFill>
              </a:defRPr>
            </a:lvl1pPr>
            <a:lvl2pPr>
              <a:defRPr>
                <a:solidFill>
                  <a:schemeClr val="accent3">
                    <a:lumMod val="50000"/>
                  </a:schemeClr>
                </a:solidFill>
              </a:defRPr>
            </a:lvl2pPr>
            <a:lvl3pPr>
              <a:defRPr sz="1600">
                <a:solidFill>
                  <a:schemeClr val="accent3">
                    <a:lumMod val="50000"/>
                  </a:schemeClr>
                </a:solidFill>
              </a:defRPr>
            </a:lvl3pPr>
            <a:lvl4pPr>
              <a:defRPr sz="1400">
                <a:solidFill>
                  <a:schemeClr val="accent3">
                    <a:lumMod val="50000"/>
                  </a:schemeClr>
                </a:solidFill>
              </a:defRPr>
            </a:lvl4pPr>
            <a:lvl5pPr>
              <a:tabLst>
                <a:tab pos="2626525" algn="l"/>
              </a:tabLst>
              <a:defRPr sz="1400">
                <a:solidFill>
                  <a:schemeClr val="accent3">
                    <a:lumMod val="50000"/>
                  </a:schemeClr>
                </a:solidFill>
              </a:defRPr>
            </a:lvl5pPr>
          </a:lstStyle>
          <a:p>
            <a:pPr lvl="0"/>
            <a:r>
              <a:rPr lang="en-US" dirty="0"/>
              <a:t>Agenda Item 1</a:t>
            </a:r>
          </a:p>
          <a:p>
            <a:pPr lvl="0"/>
            <a:r>
              <a:rPr lang="en-US" dirty="0"/>
              <a:t>Agenda Item 2</a:t>
            </a:r>
          </a:p>
          <a:p>
            <a:pPr lvl="0"/>
            <a:r>
              <a:rPr lang="en-US" dirty="0"/>
              <a:t>Agenda Item 3</a:t>
            </a:r>
          </a:p>
          <a:p>
            <a:pPr lvl="0"/>
            <a:r>
              <a:rPr lang="en-US" dirty="0"/>
              <a:t>Agenda Item 4</a:t>
            </a:r>
          </a:p>
        </p:txBody>
      </p:sp>
      <p:sp>
        <p:nvSpPr>
          <p:cNvPr id="9" name="Slide Number Placeholder 8">
            <a:extLst>
              <a:ext uri="{FF2B5EF4-FFF2-40B4-BE49-F238E27FC236}">
                <a16:creationId xmlns:a16="http://schemas.microsoft.com/office/drawing/2014/main" id="{94FEC80D-D41B-2941-AA64-3734E35A7DC4}"/>
              </a:ext>
            </a:extLst>
          </p:cNvPr>
          <p:cNvSpPr>
            <a:spLocks noGrp="1"/>
          </p:cNvSpPr>
          <p:nvPr>
            <p:ph type="sldNum" sz="quarter" idx="10"/>
          </p:nvPr>
        </p:nvSpPr>
        <p:spPr>
          <a:xfrm>
            <a:off x="647700" y="6356352"/>
            <a:ext cx="2743200" cy="365125"/>
          </a:xfrm>
        </p:spPr>
        <p:txBody>
          <a:bodyPr/>
          <a:lstStyle/>
          <a:p>
            <a:r>
              <a:rPr lang="en-US"/>
              <a:t>&gt;&gt; </a:t>
            </a:r>
            <a:fld id="{626C978B-826E-438C-909A-E9C381D3FF04}" type="slidenum">
              <a:rPr lang="en-US" smtClean="0"/>
              <a:pPr/>
              <a:t>‹#›</a:t>
            </a:fld>
            <a:endParaRPr lang="en-US" dirty="0"/>
          </a:p>
        </p:txBody>
      </p:sp>
      <p:sp>
        <p:nvSpPr>
          <p:cNvPr id="14" name="object 6">
            <a:extLst>
              <a:ext uri="{FF2B5EF4-FFF2-40B4-BE49-F238E27FC236}">
                <a16:creationId xmlns:a16="http://schemas.microsoft.com/office/drawing/2014/main" id="{4ED245F3-5FE2-8B4D-AEBC-08059B7700D5}"/>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19" name="object 6">
            <a:extLst>
              <a:ext uri="{FF2B5EF4-FFF2-40B4-BE49-F238E27FC236}">
                <a16:creationId xmlns:a16="http://schemas.microsoft.com/office/drawing/2014/main" id="{EEB66CA7-5B90-DE44-B07F-CDF1B056C556}"/>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3" name="object 6">
            <a:extLst>
              <a:ext uri="{FF2B5EF4-FFF2-40B4-BE49-F238E27FC236}">
                <a16:creationId xmlns:a16="http://schemas.microsoft.com/office/drawing/2014/main" id="{9C841668-2641-8344-93D0-BFAF1E0B06C9}"/>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27" name="object 6">
            <a:extLst>
              <a:ext uri="{FF2B5EF4-FFF2-40B4-BE49-F238E27FC236}">
                <a16:creationId xmlns:a16="http://schemas.microsoft.com/office/drawing/2014/main" id="{F5A8D482-5528-2243-9F47-5B9C75E8D18E}"/>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31" name="object 6">
            <a:extLst>
              <a:ext uri="{FF2B5EF4-FFF2-40B4-BE49-F238E27FC236}">
                <a16:creationId xmlns:a16="http://schemas.microsoft.com/office/drawing/2014/main" id="{01786C18-A62A-8D40-BE6D-E91ED01BEB52}"/>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35" name="Picture 34">
            <a:extLst>
              <a:ext uri="{FF2B5EF4-FFF2-40B4-BE49-F238E27FC236}">
                <a16:creationId xmlns:a16="http://schemas.microsoft.com/office/drawing/2014/main" id="{5D2F0128-2932-DB49-BB4F-4E6C92A36F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5" name="object 6">
            <a:extLst>
              <a:ext uri="{FF2B5EF4-FFF2-40B4-BE49-F238E27FC236}">
                <a16:creationId xmlns:a16="http://schemas.microsoft.com/office/drawing/2014/main" id="{C4518266-97F4-5E48-8B44-08654EC2969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17" name="Picture 16">
            <a:extLst>
              <a:ext uri="{FF2B5EF4-FFF2-40B4-BE49-F238E27FC236}">
                <a16:creationId xmlns:a16="http://schemas.microsoft.com/office/drawing/2014/main" id="{0BDBBB27-6F71-7C43-BFA5-6B2E8E1AC9A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18" name="object 6">
            <a:extLst>
              <a:ext uri="{FF2B5EF4-FFF2-40B4-BE49-F238E27FC236}">
                <a16:creationId xmlns:a16="http://schemas.microsoft.com/office/drawing/2014/main" id="{33854958-1BAD-BE47-ACAC-E9903DAE90C1}"/>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1" name="Picture 20">
            <a:extLst>
              <a:ext uri="{FF2B5EF4-FFF2-40B4-BE49-F238E27FC236}">
                <a16:creationId xmlns:a16="http://schemas.microsoft.com/office/drawing/2014/main" id="{98B423B7-B99A-5744-8625-DC905867261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22" name="object 6">
            <a:extLst>
              <a:ext uri="{FF2B5EF4-FFF2-40B4-BE49-F238E27FC236}">
                <a16:creationId xmlns:a16="http://schemas.microsoft.com/office/drawing/2014/main" id="{838CE688-24EB-EF4C-8127-F226875D5747}"/>
              </a:ext>
            </a:extLst>
          </p:cNvPr>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pic>
        <p:nvPicPr>
          <p:cNvPr id="25" name="Picture 24">
            <a:extLst>
              <a:ext uri="{FF2B5EF4-FFF2-40B4-BE49-F238E27FC236}">
                <a16:creationId xmlns:a16="http://schemas.microsoft.com/office/drawing/2014/main" id="{B76E6D9E-81DB-064A-A067-E1DB17AB7CD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989131" y="6515519"/>
            <a:ext cx="950976" cy="192980"/>
          </a:xfrm>
          <a:prstGeom prst="rect">
            <a:avLst/>
          </a:prstGeom>
        </p:spPr>
      </p:pic>
      <p:sp>
        <p:nvSpPr>
          <p:cNvPr id="20" name="TextBox 19">
            <a:extLst>
              <a:ext uri="{FF2B5EF4-FFF2-40B4-BE49-F238E27FC236}">
                <a16:creationId xmlns:a16="http://schemas.microsoft.com/office/drawing/2014/main" id="{E8C289BB-C59D-407E-9F90-1D15403C0749}"/>
              </a:ext>
            </a:extLst>
          </p:cNvPr>
          <p:cNvSpPr txBox="1"/>
          <p:nvPr userDrawn="1"/>
        </p:nvSpPr>
        <p:spPr>
          <a:xfrm>
            <a:off x="5335817" y="6587011"/>
            <a:ext cx="1520364" cy="246221"/>
          </a:xfrm>
          <a:prstGeom prst="rect">
            <a:avLst/>
          </a:prstGeom>
          <a:noFill/>
        </p:spPr>
        <p:txBody>
          <a:bodyPr wrap="non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US" altLang="zh-CN" sz="1000" dirty="0"/>
              <a:t>© Copyright 2018 Xilinx</a:t>
            </a:r>
          </a:p>
        </p:txBody>
      </p:sp>
    </p:spTree>
    <p:extLst>
      <p:ext uri="{BB962C8B-B14F-4D97-AF65-F5344CB8AC3E}">
        <p14:creationId xmlns:p14="http://schemas.microsoft.com/office/powerpoint/2010/main" val="3325649290"/>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pic>
        <p:nvPicPr>
          <p:cNvPr id="5" name="Picture 4" descr="1.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3979975274"/>
      </p:ext>
    </p:extLst>
  </p:cSld>
  <p:clrMapOvr>
    <a:masterClrMapping/>
  </p:clrMapOvr>
  <p:hf hd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924661125"/>
      </p:ext>
    </p:extLst>
  </p:cSld>
  <p:clrMapOvr>
    <a:masterClrMapping/>
  </p:clrMapOvr>
  <p:hf hd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872571" y="2971081"/>
            <a:ext cx="6727039" cy="761747"/>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Tree>
    <p:extLst>
      <p:ext uri="{BB962C8B-B14F-4D97-AF65-F5344CB8AC3E}">
        <p14:creationId xmlns:p14="http://schemas.microsoft.com/office/powerpoint/2010/main" val="3879458788"/>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with Picture)">
    <p:bg>
      <p:bgPr>
        <a:solidFill>
          <a:schemeClr val="bg2"/>
        </a:solidFill>
        <a:effectLst/>
      </p:bgPr>
    </p:bg>
    <p:spTree>
      <p:nvGrpSpPr>
        <p:cNvPr id="1" name=""/>
        <p:cNvGrpSpPr/>
        <p:nvPr/>
      </p:nvGrpSpPr>
      <p:grpSpPr>
        <a:xfrm>
          <a:off x="0" y="0"/>
          <a:ext cx="0" cy="0"/>
          <a:chOff x="0" y="0"/>
          <a:chExt cx="0" cy="0"/>
        </a:xfrm>
      </p:grpSpPr>
      <p:sp>
        <p:nvSpPr>
          <p:cNvPr id="12" name="Title 1"/>
          <p:cNvSpPr>
            <a:spLocks noGrp="1"/>
          </p:cNvSpPr>
          <p:nvPr>
            <p:ph type="title" hasCustomPrompt="1"/>
          </p:nvPr>
        </p:nvSpPr>
        <p:spPr>
          <a:xfrm>
            <a:off x="960121" y="2971081"/>
            <a:ext cx="5440678" cy="2686771"/>
          </a:xfrm>
        </p:spPr>
        <p:txBody>
          <a:bodyPr lIns="0" tIns="0" rIns="0" bIns="0" anchor="t">
            <a:noAutofit/>
          </a:bodyPr>
          <a:lstStyle>
            <a:lvl1pPr marL="0" algn="l" defTabSz="914126" rtl="0" eaLnBrk="1" latinLnBrk="0" hangingPunct="1">
              <a:lnSpc>
                <a:spcPct val="100000"/>
              </a:lnSpc>
              <a:spcBef>
                <a:spcPct val="0"/>
              </a:spcBef>
              <a:buNone/>
              <a:defRPr lang="en-US" sz="3599" b="1" i="0" kern="1200" baseline="0" dirty="0">
                <a:solidFill>
                  <a:schemeClr val="tx1"/>
                </a:solidFill>
                <a:latin typeface="Arial" charset="0"/>
                <a:ea typeface="+mj-ea"/>
                <a:cs typeface="Arial" charset="0"/>
              </a:defRPr>
            </a:lvl1pPr>
          </a:lstStyle>
          <a:p>
            <a:r>
              <a:rPr lang="en-US" dirty="0"/>
              <a:t>Insert Section Title Here</a:t>
            </a:r>
          </a:p>
        </p:txBody>
      </p:sp>
      <p:sp>
        <p:nvSpPr>
          <p:cNvPr id="13" name="Rectangle 12"/>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3" name="Right Triangle 2">
            <a:extLst>
              <a:ext uri="{FF2B5EF4-FFF2-40B4-BE49-F238E27FC236}">
                <a16:creationId xmlns:a16="http://schemas.microsoft.com/office/drawing/2014/main" id="{30B7BA82-6A86-384D-B04E-8D5191D59474}"/>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71A1DA86-877F-0F49-BEED-32E9369C39C3}"/>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E398C142-ECE9-DD49-BB91-2DA6D9B51231}"/>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1" name="Right Triangle 10">
            <a:extLst>
              <a:ext uri="{FF2B5EF4-FFF2-40B4-BE49-F238E27FC236}">
                <a16:creationId xmlns:a16="http://schemas.microsoft.com/office/drawing/2014/main" id="{228A73BA-1743-4F4E-913D-21292EC9018A}"/>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48DF7FB5-0303-8F4D-A597-E38379253F50}"/>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8BDABBB2-33CA-9440-B11D-5EAC9D5D4358}"/>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5CE9204F-1C73-5D4A-8857-934625F01F43}"/>
              </a:ext>
            </a:extLst>
          </p:cNvPr>
          <p:cNvSpPr/>
          <p:nvPr/>
        </p:nvSpPr>
        <p:spPr>
          <a:xfrm rot="10800000">
            <a:off x="7412966" y="0"/>
            <a:ext cx="4792936" cy="4792936"/>
          </a:xfrm>
          <a:prstGeom prst="r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5" name="Picture Placeholder 426"/>
          <p:cNvSpPr>
            <a:spLocks noGrp="1"/>
          </p:cNvSpPr>
          <p:nvPr>
            <p:ph type="pic" sz="quarter" idx="11"/>
          </p:nvPr>
        </p:nvSpPr>
        <p:spPr>
          <a:xfrm>
            <a:off x="6820346" y="1200150"/>
            <a:ext cx="4457700" cy="4457700"/>
          </a:xfrm>
          <a:solidFill>
            <a:schemeClr val="accent3"/>
          </a:solidFill>
        </p:spPr>
        <p:txBody>
          <a:bodyPr tIns="1371600" bIns="0" anchor="ctr" anchorCtr="0">
            <a:noAutofit/>
          </a:bodyPr>
          <a:lstStyle>
            <a:lvl1pPr algn="ctr">
              <a:defRPr sz="1350">
                <a:solidFill>
                  <a:schemeClr val="bg1"/>
                </a:solidFill>
              </a:defRPr>
            </a:lvl1pPr>
          </a:lstStyle>
          <a:p>
            <a:r>
              <a:rPr lang="en-US" altLang="zh-CN"/>
              <a:t>Click icon to add picture</a:t>
            </a:r>
            <a:endParaRPr lang="en-US" dirty="0"/>
          </a:p>
        </p:txBody>
      </p:sp>
    </p:spTree>
    <p:extLst>
      <p:ext uri="{BB962C8B-B14F-4D97-AF65-F5344CB8AC3E}">
        <p14:creationId xmlns:p14="http://schemas.microsoft.com/office/powerpoint/2010/main" val="1571448891"/>
      </p:ext>
    </p:extLst>
  </p:cSld>
  <p:clrMapOvr>
    <a:overrideClrMapping bg1="dk1" tx1="lt1" bg2="dk2" tx2="lt2" accent1="accent1" accent2="accent2" accent3="accent3" accent4="accent4" accent5="accent5" accent6="accent6" hlink="hlink" folHlink="folHlink"/>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pic>
        <p:nvPicPr>
          <p:cNvPr id="6" name="Picture 5" descr="1.png">
            <a:extLst>
              <a:ext uri="{FF2B5EF4-FFF2-40B4-BE49-F238E27FC236}">
                <a16:creationId xmlns:a16="http://schemas.microsoft.com/office/drawing/2014/main" id="{175C80C8-C178-9C4A-9F97-6978E22E311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86687642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wo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621793" y="1463042"/>
            <a:ext cx="5181600" cy="4835843"/>
          </a:xfrm>
        </p:spPr>
        <p:txBody>
          <a:bodyPr/>
          <a:lstStyle>
            <a:lvl1pPr>
              <a:defRPr sz="1799">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5955793" y="1463042"/>
            <a:ext cx="5181600" cy="4835843"/>
          </a:xfrm>
        </p:spPr>
        <p:txBody>
          <a:bodyPr/>
          <a:lstStyle>
            <a:lvl1pPr>
              <a:defRPr sz="1799">
                <a:solidFill>
                  <a:schemeClr val="tx1"/>
                </a:solidFill>
              </a:defRPr>
            </a:lvl1pPr>
            <a:lvl2pPr>
              <a:defRPr sz="1600">
                <a:solidFill>
                  <a:schemeClr val="tx1"/>
                </a:solidFill>
              </a:defRPr>
            </a:lvl2pPr>
            <a:lvl3pPr>
              <a:defRPr sz="1799">
                <a:solidFill>
                  <a:schemeClr val="tx1"/>
                </a:solidFill>
              </a:defRPr>
            </a:lvl3pPr>
            <a:lvl4pPr>
              <a:defRPr sz="1600">
                <a:solidFill>
                  <a:schemeClr val="tx1"/>
                </a:solidFill>
              </a:defRPr>
            </a:lvl4pPr>
            <a:lvl5pPr>
              <a:defRPr sz="16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072006547"/>
      </p:ext>
    </p:extLst>
  </p:cSld>
  <p:clrMapOvr>
    <a:masterClrMapping/>
  </p:clrMapOvr>
  <p:hf hd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pic>
        <p:nvPicPr>
          <p:cNvPr id="4" name="Picture 3" descr="1.png">
            <a:extLst>
              <a:ext uri="{FF2B5EF4-FFF2-40B4-BE49-F238E27FC236}">
                <a16:creationId xmlns:a16="http://schemas.microsoft.com/office/drawing/2014/main" id="{0C30E8B4-72CA-F045-86DE-DA0CF9BCF0B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576304662"/>
      </p:ext>
    </p:extLst>
  </p:cSld>
  <p:clrMapOvr>
    <a:masterClrMapping/>
  </p:clrMapOvr>
  <p:hf hd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8" name="Slide Number Placeholder 7"/>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694216362"/>
      </p:ext>
    </p:extLst>
  </p:cSld>
  <p:clrMapOvr>
    <a:masterClrMapping/>
  </p:clrMapOvr>
  <p:hf hd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hree Picture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6" name="Slide Number Placeholder 5"/>
          <p:cNvSpPr>
            <a:spLocks noGrp="1"/>
          </p:cNvSpPr>
          <p:nvPr>
            <p:ph type="sldNum" sz="quarter" idx="10"/>
          </p:nvPr>
        </p:nvSpPr>
        <p:spPr/>
        <p:txBody>
          <a:bodyPr/>
          <a:lstStyle/>
          <a:p>
            <a:pPr>
              <a:defRPr/>
            </a:pPr>
            <a:r>
              <a:rPr lang="en-US"/>
              <a:t>Coding Considerations 23- </a:t>
            </a:r>
            <a:fld id="{060BD193-E118-4B16-863C-C8C12C675E3E}" type="slidenum">
              <a:rPr lang="en-US" smtClean="0"/>
              <a:pPr>
                <a:defRPr/>
              </a:pPr>
              <a:t>‹#›</a:t>
            </a:fld>
            <a:endParaRPr lang="en-US" dirty="0"/>
          </a:p>
        </p:txBody>
      </p:sp>
      <p:sp>
        <p:nvSpPr>
          <p:cNvPr id="4" name="Text Placeholder 6"/>
          <p:cNvSpPr>
            <a:spLocks noGrp="1"/>
          </p:cNvSpPr>
          <p:nvPr>
            <p:ph type="body" sz="quarter" idx="16" hasCustomPrompt="1"/>
          </p:nvPr>
        </p:nvSpPr>
        <p:spPr>
          <a:xfrm>
            <a:off x="9138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5" name="Text Placeholder 6"/>
          <p:cNvSpPr>
            <a:spLocks noGrp="1"/>
          </p:cNvSpPr>
          <p:nvPr>
            <p:ph type="body" sz="quarter" idx="17" hasCustomPrompt="1"/>
          </p:nvPr>
        </p:nvSpPr>
        <p:spPr>
          <a:xfrm>
            <a:off x="4514270" y="4884003"/>
            <a:ext cx="3078480" cy="553998"/>
          </a:xfrm>
        </p:spPr>
        <p:txBody>
          <a:bodyPr/>
          <a:lstStyle>
            <a:lvl1pPr marL="0" indent="0">
              <a:buNone/>
              <a:defRPr sz="1799">
                <a:solidFill>
                  <a:schemeClr val="tx1"/>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7" name="Text Placeholder 6"/>
          <p:cNvSpPr>
            <a:spLocks noGrp="1"/>
          </p:cNvSpPr>
          <p:nvPr>
            <p:ph type="body" sz="quarter" idx="18" hasCustomPrompt="1"/>
          </p:nvPr>
        </p:nvSpPr>
        <p:spPr>
          <a:xfrm>
            <a:off x="8114720" y="4884003"/>
            <a:ext cx="3078480" cy="553998"/>
          </a:xfrm>
        </p:spPr>
        <p:txBody>
          <a:bodyPr/>
          <a:lstStyle>
            <a:lvl1pPr marL="0" indent="0">
              <a:buNone/>
              <a:defRPr sz="1799">
                <a:solidFill>
                  <a:srgbClr val="171C2D"/>
                </a:solidFill>
              </a:defRPr>
            </a:lvl1pPr>
            <a:lvl2pPr>
              <a:defRPr sz="1350"/>
            </a:lvl2pPr>
            <a:lvl3pPr>
              <a:defRPr sz="1350"/>
            </a:lvl3pPr>
            <a:lvl4pPr>
              <a:defRPr sz="1350"/>
            </a:lvl4pPr>
            <a:lvl5pPr>
              <a:defRPr sz="1350"/>
            </a:lvl5pPr>
          </a:lstStyle>
          <a:p>
            <a:pPr lvl="0"/>
            <a:r>
              <a:rPr lang="en-US" dirty="0"/>
              <a:t>Insert additional supporting text here.</a:t>
            </a:r>
          </a:p>
        </p:txBody>
      </p:sp>
      <p:sp>
        <p:nvSpPr>
          <p:cNvPr id="8" name="Picture Placeholder 426"/>
          <p:cNvSpPr>
            <a:spLocks noGrp="1"/>
          </p:cNvSpPr>
          <p:nvPr>
            <p:ph type="pic" sz="quarter" idx="11"/>
          </p:nvPr>
        </p:nvSpPr>
        <p:spPr>
          <a:xfrm>
            <a:off x="810710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9" name="Picture Placeholder 426"/>
          <p:cNvSpPr>
            <a:spLocks noGrp="1"/>
          </p:cNvSpPr>
          <p:nvPr>
            <p:ph type="pic" sz="quarter" idx="19"/>
          </p:nvPr>
        </p:nvSpPr>
        <p:spPr>
          <a:xfrm>
            <a:off x="906201"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
        <p:nvSpPr>
          <p:cNvPr id="10" name="Picture Placeholder 426"/>
          <p:cNvSpPr>
            <a:spLocks noGrp="1"/>
          </p:cNvSpPr>
          <p:nvPr>
            <p:ph type="pic" sz="quarter" idx="20"/>
          </p:nvPr>
        </p:nvSpPr>
        <p:spPr>
          <a:xfrm>
            <a:off x="4514270" y="1455003"/>
            <a:ext cx="3086100" cy="3086100"/>
          </a:xfrm>
          <a:solidFill>
            <a:schemeClr val="accent3"/>
          </a:solidFill>
        </p:spPr>
        <p:txBody>
          <a:bodyPr tIns="1371600" bIns="0" anchor="ctr" anchorCtr="0">
            <a:noAutofit/>
          </a:bodyPr>
          <a:lstStyle>
            <a:lvl1pPr marL="0" indent="0" algn="ctr">
              <a:buNone/>
              <a:defRPr sz="1350"/>
            </a:lvl1pPr>
          </a:lstStyle>
          <a:p>
            <a:r>
              <a:rPr lang="en-US" altLang="zh-CN"/>
              <a:t>Click icon to add picture</a:t>
            </a:r>
            <a:endParaRPr lang="en-US" dirty="0"/>
          </a:p>
        </p:txBody>
      </p:sp>
    </p:spTree>
    <p:extLst>
      <p:ext uri="{BB962C8B-B14F-4D97-AF65-F5344CB8AC3E}">
        <p14:creationId xmlns:p14="http://schemas.microsoft.com/office/powerpoint/2010/main" val="986005322"/>
      </p:ext>
    </p:extLst>
  </p:cSld>
  <p:clrMapOvr>
    <a:masterClrMapping/>
  </p:clrMapOvr>
  <p:hf hd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imple Statement">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2743200" cy="365125"/>
          </a:xfrm>
        </p:spPr>
        <p:txBody>
          <a:bodyPr/>
          <a:lstStyle/>
          <a:p>
            <a:pPr>
              <a:defRPr/>
            </a:pPr>
            <a:r>
              <a:rPr lang="en-US"/>
              <a:t>Coding Considerations 23-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pic>
        <p:nvPicPr>
          <p:cNvPr id="8" name="Picture 7" descr="111.png">
            <a:extLst>
              <a:ext uri="{FF2B5EF4-FFF2-40B4-BE49-F238E27FC236}">
                <a16:creationId xmlns:a16="http://schemas.microsoft.com/office/drawing/2014/main" id="{6E287EE2-21D3-F44C-813F-02BED688E843}"/>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3090"/>
          <a:stretch/>
        </p:blipFill>
        <p:spPr>
          <a:xfrm>
            <a:off x="8903980" y="2"/>
            <a:ext cx="3288021" cy="6882659"/>
          </a:xfrm>
          <a:prstGeom prst="rect">
            <a:avLst/>
          </a:prstGeom>
        </p:spPr>
      </p:pic>
    </p:spTree>
    <p:extLst>
      <p:ext uri="{BB962C8B-B14F-4D97-AF65-F5344CB8AC3E}">
        <p14:creationId xmlns:p14="http://schemas.microsoft.com/office/powerpoint/2010/main" val="3451537969"/>
      </p:ext>
    </p:extLst>
  </p:cSld>
  <p:clrMapOvr>
    <a:masterClrMapping/>
  </p:clrMapOvr>
  <p:hf hd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Simple Statement with Pictur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952501" y="2286762"/>
            <a:ext cx="5772150" cy="761746"/>
          </a:xfrm>
        </p:spPr>
        <p:txBody>
          <a:bodyPr/>
          <a:lstStyle>
            <a:lvl1pPr>
              <a:defRPr lang="en-US" sz="4799" b="1" i="0" kern="1200" dirty="0">
                <a:solidFill>
                  <a:srgbClr val="171C2D"/>
                </a:solidFill>
                <a:latin typeface="Arial" charset="0"/>
                <a:ea typeface="+mj-ea"/>
                <a:cs typeface="Arial" charset="0"/>
              </a:defRPr>
            </a:lvl1pPr>
          </a:lstStyle>
          <a:p>
            <a:r>
              <a:rPr lang="en-US" dirty="0"/>
              <a:t>Simple Statement</a:t>
            </a:r>
          </a:p>
        </p:txBody>
      </p:sp>
      <p:sp>
        <p:nvSpPr>
          <p:cNvPr id="5" name="Slide Number Placeholder 2">
            <a:extLst>
              <a:ext uri="{FF2B5EF4-FFF2-40B4-BE49-F238E27FC236}">
                <a16:creationId xmlns:a16="http://schemas.microsoft.com/office/drawing/2014/main" id="{2C22C299-FDA6-164A-B353-229958A83E52}"/>
              </a:ext>
            </a:extLst>
          </p:cNvPr>
          <p:cNvSpPr>
            <a:spLocks noGrp="1"/>
          </p:cNvSpPr>
          <p:nvPr>
            <p:ph type="sldNum" sz="quarter" idx="10"/>
          </p:nvPr>
        </p:nvSpPr>
        <p:spPr>
          <a:xfrm>
            <a:off x="647700" y="6356352"/>
            <a:ext cx="2743200" cy="365125"/>
          </a:xfrm>
        </p:spPr>
        <p:txBody>
          <a:bodyPr/>
          <a:lstStyle/>
          <a:p>
            <a:pPr>
              <a:defRPr/>
            </a:pPr>
            <a:r>
              <a:rPr lang="en-US"/>
              <a:t>Coding Considerations 23- </a:t>
            </a:r>
            <a:fld id="{060BD193-E118-4B16-863C-C8C12C675E3E}" type="slidenum">
              <a:rPr lang="en-US" smtClean="0"/>
              <a:pPr>
                <a:defRPr/>
              </a:pPr>
              <a:t>‹#›</a:t>
            </a:fld>
            <a:endParaRPr lang="en-US" dirty="0"/>
          </a:p>
        </p:txBody>
      </p:sp>
      <p:sp>
        <p:nvSpPr>
          <p:cNvPr id="6" name="Text Placeholder 5">
            <a:extLst>
              <a:ext uri="{FF2B5EF4-FFF2-40B4-BE49-F238E27FC236}">
                <a16:creationId xmlns:a16="http://schemas.microsoft.com/office/drawing/2014/main" id="{EE658E4E-230D-8D43-99E8-0341ED808C7C}"/>
              </a:ext>
            </a:extLst>
          </p:cNvPr>
          <p:cNvSpPr>
            <a:spLocks noGrp="1"/>
          </p:cNvSpPr>
          <p:nvPr>
            <p:ph type="body" sz="quarter" idx="12" hasCustomPrompt="1"/>
          </p:nvPr>
        </p:nvSpPr>
        <p:spPr>
          <a:xfrm>
            <a:off x="952501" y="3048511"/>
            <a:ext cx="5772150" cy="1354217"/>
          </a:xfrm>
        </p:spPr>
        <p:txBody>
          <a:bodyPr/>
          <a:lstStyle>
            <a:lvl1pPr marL="0" indent="0">
              <a:buNone/>
              <a:defRPr sz="4399" b="0" i="0" baseline="0">
                <a:solidFill>
                  <a:srgbClr val="EC1C24"/>
                </a:solidFill>
                <a:latin typeface="Arial" charset="0"/>
                <a:ea typeface="Arial" charset="0"/>
                <a:cs typeface="Arial" charset="0"/>
              </a:defRPr>
            </a:lvl1pPr>
          </a:lstStyle>
          <a:p>
            <a:pPr lvl="0"/>
            <a:r>
              <a:rPr lang="en-US" dirty="0"/>
              <a:t>Introduction or Concept Slide</a:t>
            </a:r>
          </a:p>
        </p:txBody>
      </p:sp>
      <p:sp>
        <p:nvSpPr>
          <p:cNvPr id="7" name="Picture Placeholder 14">
            <a:extLst>
              <a:ext uri="{FF2B5EF4-FFF2-40B4-BE49-F238E27FC236}">
                <a16:creationId xmlns:a16="http://schemas.microsoft.com/office/drawing/2014/main" id="{89EAEFDD-B284-E94B-8F1D-D7E1627370F6}"/>
              </a:ext>
            </a:extLst>
          </p:cNvPr>
          <p:cNvSpPr>
            <a:spLocks noGrp="1"/>
          </p:cNvSpPr>
          <p:nvPr>
            <p:ph type="pic" sz="quarter" idx="13"/>
          </p:nvPr>
        </p:nvSpPr>
        <p:spPr>
          <a:xfrm>
            <a:off x="6781801" y="1200150"/>
            <a:ext cx="4457700" cy="4457700"/>
          </a:xfrm>
        </p:spPr>
        <p:txBody>
          <a:bodyPr/>
          <a:lstStyle>
            <a:lvl1pPr marL="0" indent="0">
              <a:buNone/>
              <a:defRPr/>
            </a:lvl1pPr>
          </a:lstStyle>
          <a:p>
            <a:r>
              <a:rPr lang="en-US" altLang="zh-CN"/>
              <a:t>Click icon to add picture</a:t>
            </a:r>
            <a:endParaRPr lang="en-US" dirty="0"/>
          </a:p>
        </p:txBody>
      </p:sp>
      <p:pic>
        <p:nvPicPr>
          <p:cNvPr id="9" name="Picture 8" descr="1.png">
            <a:extLst>
              <a:ext uri="{FF2B5EF4-FFF2-40B4-BE49-F238E27FC236}">
                <a16:creationId xmlns:a16="http://schemas.microsoft.com/office/drawing/2014/main" id="{D28EDF51-090C-9841-AE58-2273CEB9716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017001" y="0"/>
            <a:ext cx="3175000" cy="6858000"/>
          </a:xfrm>
          <a:prstGeom prst="rect">
            <a:avLst/>
          </a:prstGeom>
        </p:spPr>
      </p:pic>
    </p:spTree>
    <p:extLst>
      <p:ext uri="{BB962C8B-B14F-4D97-AF65-F5344CB8AC3E}">
        <p14:creationId xmlns:p14="http://schemas.microsoft.com/office/powerpoint/2010/main" val="2211828887"/>
      </p:ext>
    </p:extLst>
  </p:cSld>
  <p:clrMapOvr>
    <a:masterClrMapping/>
  </p:clrMapOvr>
  <p:hf hd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Layout (WHITE)">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F2364798-7D9C-B84C-856F-0C65222D9551}"/>
              </a:ext>
            </a:extLst>
          </p:cNvPr>
          <p:cNvSpPr>
            <a:spLocks noGrp="1"/>
          </p:cNvSpPr>
          <p:nvPr>
            <p:ph type="sldNum" sz="quarter" idx="10"/>
          </p:nvPr>
        </p:nvSpPr>
        <p:spPr>
          <a:xfrm>
            <a:off x="647700" y="6356352"/>
            <a:ext cx="2743200" cy="365125"/>
          </a:xfrm>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727419413"/>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ake-Away Slide (Sub-Headers)">
    <p:spTree>
      <p:nvGrpSpPr>
        <p:cNvPr id="1" name=""/>
        <p:cNvGrpSpPr/>
        <p:nvPr/>
      </p:nvGrpSpPr>
      <p:grpSpPr>
        <a:xfrm>
          <a:off x="0" y="0"/>
          <a:ext cx="0" cy="0"/>
          <a:chOff x="0" y="0"/>
          <a:chExt cx="0" cy="0"/>
        </a:xfrm>
      </p:grpSpPr>
      <p:sp>
        <p:nvSpPr>
          <p:cNvPr id="8" name="Title 1"/>
          <p:cNvSpPr>
            <a:spLocks noGrp="1"/>
          </p:cNvSpPr>
          <p:nvPr>
            <p:ph type="title" hasCustomPrompt="1"/>
          </p:nvPr>
        </p:nvSpPr>
        <p:spPr>
          <a:xfrm>
            <a:off x="617221" y="212985"/>
            <a:ext cx="10614040" cy="492443"/>
          </a:xfrm>
        </p:spPr>
        <p:txBody>
          <a:bodyPr/>
          <a:lstStyle>
            <a:lvl1pPr>
              <a:defRPr sz="3199" baseline="0"/>
            </a:lvl1pPr>
          </a:lstStyle>
          <a:p>
            <a:r>
              <a:rPr lang="en-US" dirty="0"/>
              <a:t>Take-Away Slide</a:t>
            </a:r>
          </a:p>
        </p:txBody>
      </p:sp>
      <p:sp>
        <p:nvSpPr>
          <p:cNvPr id="7" name="Text Placeholder 3"/>
          <p:cNvSpPr>
            <a:spLocks noGrp="1"/>
          </p:cNvSpPr>
          <p:nvPr>
            <p:ph type="body" sz="quarter" idx="15" hasCustomPrompt="1"/>
          </p:nvPr>
        </p:nvSpPr>
        <p:spPr>
          <a:xfrm>
            <a:off x="960121" y="1538984"/>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9" name="Text Placeholder 2"/>
          <p:cNvSpPr>
            <a:spLocks noGrp="1"/>
          </p:cNvSpPr>
          <p:nvPr>
            <p:ph type="body" sz="quarter" idx="17" hasCustomPrompt="1"/>
          </p:nvPr>
        </p:nvSpPr>
        <p:spPr>
          <a:xfrm>
            <a:off x="960119" y="2101124"/>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3" name="Text Placeholder 3"/>
          <p:cNvSpPr>
            <a:spLocks noGrp="1"/>
          </p:cNvSpPr>
          <p:nvPr>
            <p:ph type="body" sz="quarter" idx="23" hasCustomPrompt="1"/>
          </p:nvPr>
        </p:nvSpPr>
        <p:spPr>
          <a:xfrm>
            <a:off x="960121" y="3153729"/>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4" name="Text Placeholder 2"/>
          <p:cNvSpPr>
            <a:spLocks noGrp="1"/>
          </p:cNvSpPr>
          <p:nvPr>
            <p:ph type="body" sz="quarter" idx="24" hasCustomPrompt="1"/>
          </p:nvPr>
        </p:nvSpPr>
        <p:spPr>
          <a:xfrm>
            <a:off x="960119" y="3705948"/>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Text Placeholder 3"/>
          <p:cNvSpPr>
            <a:spLocks noGrp="1"/>
          </p:cNvSpPr>
          <p:nvPr>
            <p:ph type="body" sz="quarter" idx="25" hasCustomPrompt="1"/>
          </p:nvPr>
        </p:nvSpPr>
        <p:spPr>
          <a:xfrm>
            <a:off x="960121" y="4768475"/>
            <a:ext cx="10256520" cy="508722"/>
          </a:xfrm>
          <a:no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16" name="Text Placeholder 2"/>
          <p:cNvSpPr>
            <a:spLocks noGrp="1"/>
          </p:cNvSpPr>
          <p:nvPr>
            <p:ph type="body" sz="quarter" idx="26" hasCustomPrompt="1"/>
          </p:nvPr>
        </p:nvSpPr>
        <p:spPr>
          <a:xfrm>
            <a:off x="960119" y="5330615"/>
            <a:ext cx="10248939" cy="562137"/>
          </a:xfrm>
        </p:spPr>
        <p:txBody>
          <a:bodyPr lIns="0" tIns="0" rIns="0" bIns="91440"/>
          <a:lstStyle>
            <a:lvl1pPr marL="0" indent="0">
              <a:lnSpc>
                <a:spcPct val="100000"/>
              </a:lnSpc>
              <a:spcBef>
                <a:spcPts val="600"/>
              </a:spcBef>
              <a:spcAft>
                <a:spcPts val="600"/>
              </a:spcAft>
              <a:buNone/>
              <a:defRPr lang="en-US" b="0" dirty="0"/>
            </a:lvl1pPr>
            <a:lvl2pPr marL="171399" indent="-163464">
              <a:lnSpc>
                <a:spcPct val="150000"/>
              </a:lnSpc>
              <a:buFontTx/>
              <a:buBlip>
                <a:blip r:embed="rId2"/>
              </a:buBlip>
              <a:tabLst/>
              <a:defRPr sz="1799">
                <a:solidFill>
                  <a:srgbClr val="5D606C"/>
                </a:solidFill>
              </a:defRPr>
            </a:lvl2pPr>
            <a:lvl3pPr marL="461824" indent="-290426">
              <a:lnSpc>
                <a:spcPct val="150000"/>
              </a:lnSpc>
              <a:buFontTx/>
              <a:buBlip>
                <a:blip r:embed="rId3"/>
              </a:buBlip>
              <a:tabLst/>
              <a:defRPr sz="1799">
                <a:solidFill>
                  <a:srgbClr val="5D606C"/>
                </a:solidFill>
              </a:defRPr>
            </a:lvl3pPr>
            <a:lvl4pPr>
              <a:defRPr>
                <a:solidFill>
                  <a:srgbClr val="5D606C"/>
                </a:solidFill>
              </a:defRPr>
            </a:lvl4pPr>
            <a:lvl5pPr>
              <a:defRPr>
                <a:solidFill>
                  <a:srgbClr val="5D606C"/>
                </a:solidFill>
              </a:defRPr>
            </a:lvl5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0" name="Slide Number Placeholder 2">
            <a:extLst>
              <a:ext uri="{FF2B5EF4-FFF2-40B4-BE49-F238E27FC236}">
                <a16:creationId xmlns:a16="http://schemas.microsoft.com/office/drawing/2014/main" id="{22A52D08-28C6-7046-85C5-29DDBD4D27E0}"/>
              </a:ext>
            </a:extLst>
          </p:cNvPr>
          <p:cNvSpPr>
            <a:spLocks noGrp="1"/>
          </p:cNvSpPr>
          <p:nvPr>
            <p:ph type="sldNum" sz="quarter" idx="10"/>
          </p:nvPr>
        </p:nvSpPr>
        <p:spPr>
          <a:xfrm>
            <a:off x="647700" y="6356352"/>
            <a:ext cx="2743200" cy="365125"/>
          </a:xfrm>
        </p:spPr>
        <p:txBody>
          <a:bodyPr/>
          <a:lstStyle/>
          <a:p>
            <a:pPr>
              <a:defRPr/>
            </a:pPr>
            <a:r>
              <a:rPr lang="en-US"/>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408574904"/>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hf hd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ake-Away Slide (Bullets)">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21B7EA41-46BF-B947-8230-37EB3728F525}"/>
              </a:ext>
            </a:extLst>
          </p:cNvPr>
          <p:cNvSpPr>
            <a:spLocks noGrp="1"/>
          </p:cNvSpPr>
          <p:nvPr>
            <p:ph type="title" hasCustomPrompt="1"/>
          </p:nvPr>
        </p:nvSpPr>
        <p:spPr>
          <a:xfrm>
            <a:off x="617221" y="212985"/>
            <a:ext cx="10589668" cy="492443"/>
          </a:xfrm>
        </p:spPr>
        <p:txBody>
          <a:bodyPr/>
          <a:lstStyle>
            <a:lvl1pPr>
              <a:defRPr sz="3199" baseline="0"/>
            </a:lvl1pPr>
          </a:lstStyle>
          <a:p>
            <a:r>
              <a:rPr lang="en-US" dirty="0"/>
              <a:t>Take-Away Slide With Bullets</a:t>
            </a:r>
          </a:p>
        </p:txBody>
      </p:sp>
      <p:sp>
        <p:nvSpPr>
          <p:cNvPr id="26" name="Text Placeholder 3">
            <a:extLst>
              <a:ext uri="{FF2B5EF4-FFF2-40B4-BE49-F238E27FC236}">
                <a16:creationId xmlns:a16="http://schemas.microsoft.com/office/drawing/2014/main" id="{4D465602-9518-D549-819E-52FFB5D1AC53}"/>
              </a:ext>
            </a:extLst>
          </p:cNvPr>
          <p:cNvSpPr>
            <a:spLocks noGrp="1"/>
          </p:cNvSpPr>
          <p:nvPr>
            <p:ph type="body" sz="quarter" idx="15" hasCustomPrompt="1"/>
          </p:nvPr>
        </p:nvSpPr>
        <p:spPr>
          <a:xfrm>
            <a:off x="960121" y="1538984"/>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7" name="Text Placeholder 3">
            <a:extLst>
              <a:ext uri="{FF2B5EF4-FFF2-40B4-BE49-F238E27FC236}">
                <a16:creationId xmlns:a16="http://schemas.microsoft.com/office/drawing/2014/main" id="{15273868-A160-3B46-8F69-A41EDF54BDA2}"/>
              </a:ext>
            </a:extLst>
          </p:cNvPr>
          <p:cNvSpPr>
            <a:spLocks noGrp="1"/>
          </p:cNvSpPr>
          <p:nvPr>
            <p:ph type="body" sz="quarter" idx="23" hasCustomPrompt="1"/>
          </p:nvPr>
        </p:nvSpPr>
        <p:spPr>
          <a:xfrm>
            <a:off x="960121" y="3195489"/>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28" name="Text Placeholder 3">
            <a:extLst>
              <a:ext uri="{FF2B5EF4-FFF2-40B4-BE49-F238E27FC236}">
                <a16:creationId xmlns:a16="http://schemas.microsoft.com/office/drawing/2014/main" id="{2C165392-FF16-194E-BB96-47B05786B74E}"/>
              </a:ext>
            </a:extLst>
          </p:cNvPr>
          <p:cNvSpPr>
            <a:spLocks noGrp="1"/>
          </p:cNvSpPr>
          <p:nvPr>
            <p:ph type="body" sz="quarter" idx="25" hasCustomPrompt="1"/>
          </p:nvPr>
        </p:nvSpPr>
        <p:spPr>
          <a:xfrm>
            <a:off x="960121" y="4851993"/>
            <a:ext cx="10232969" cy="508722"/>
          </a:xfrm>
          <a:solidFill>
            <a:schemeClr val="bg1"/>
          </a:solidFill>
        </p:spPr>
        <p:txBody>
          <a:bodyPr tIns="0" bIns="0" anchor="ctr"/>
          <a:lstStyle>
            <a:lvl1pPr marL="0" indent="0">
              <a:buNone/>
              <a:defRPr sz="3399" b="0">
                <a:solidFill>
                  <a:srgbClr val="FF0000"/>
                </a:solidFill>
              </a:defRPr>
            </a:lvl1pPr>
          </a:lstStyle>
          <a:p>
            <a:r>
              <a:rPr lang="en-US" kern="0" dirty="0"/>
              <a:t>List item header text style</a:t>
            </a:r>
          </a:p>
        </p:txBody>
      </p:sp>
      <p:sp>
        <p:nvSpPr>
          <p:cNvPr id="44" name="Slide Number Placeholder 2">
            <a:extLst>
              <a:ext uri="{FF2B5EF4-FFF2-40B4-BE49-F238E27FC236}">
                <a16:creationId xmlns:a16="http://schemas.microsoft.com/office/drawing/2014/main" id="{7C1986B2-675B-824C-8649-7C9AC5CE346C}"/>
              </a:ext>
            </a:extLst>
          </p:cNvPr>
          <p:cNvSpPr>
            <a:spLocks noGrp="1"/>
          </p:cNvSpPr>
          <p:nvPr>
            <p:ph type="sldNum" sz="quarter" idx="10"/>
          </p:nvPr>
        </p:nvSpPr>
        <p:spPr>
          <a:xfrm>
            <a:off x="647700" y="6356352"/>
            <a:ext cx="2743200" cy="365125"/>
          </a:xfrm>
        </p:spPr>
        <p:txBody>
          <a:bodyPr/>
          <a:lstStyle/>
          <a:p>
            <a:pPr>
              <a:defRPr/>
            </a:pPr>
            <a:r>
              <a:rPr lang="en-US"/>
              <a:t>Coding Considerations 23- </a:t>
            </a:r>
            <a:fld id="{060BD193-E118-4B16-863C-C8C12C675E3E}" type="slidenum">
              <a:rPr lang="en-US" smtClean="0"/>
              <a:pPr>
                <a:defRPr/>
              </a:pPr>
              <a:t>‹#›</a:t>
            </a:fld>
            <a:endParaRPr lang="en-US" dirty="0"/>
          </a:p>
        </p:txBody>
      </p:sp>
      <p:sp>
        <p:nvSpPr>
          <p:cNvPr id="4" name="Content Placeholder 3"/>
          <p:cNvSpPr>
            <a:spLocks noGrp="1"/>
          </p:cNvSpPr>
          <p:nvPr>
            <p:ph sz="quarter" idx="29" hasCustomPrompt="1"/>
          </p:nvPr>
        </p:nvSpPr>
        <p:spPr>
          <a:xfrm>
            <a:off x="966789" y="207422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4" name="Content Placeholder 3"/>
          <p:cNvSpPr>
            <a:spLocks noGrp="1"/>
          </p:cNvSpPr>
          <p:nvPr>
            <p:ph sz="quarter" idx="30" hasCustomPrompt="1"/>
          </p:nvPr>
        </p:nvSpPr>
        <p:spPr>
          <a:xfrm>
            <a:off x="976949" y="3738837"/>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
        <p:nvSpPr>
          <p:cNvPr id="15" name="Content Placeholder 3"/>
          <p:cNvSpPr>
            <a:spLocks noGrp="1"/>
          </p:cNvSpPr>
          <p:nvPr>
            <p:ph sz="quarter" idx="31" hasCustomPrompt="1"/>
          </p:nvPr>
        </p:nvSpPr>
        <p:spPr>
          <a:xfrm>
            <a:off x="976949" y="5381035"/>
            <a:ext cx="10226675" cy="709616"/>
          </a:xfrm>
        </p:spPr>
        <p:txBody>
          <a:bodyPr/>
          <a:lstStyle>
            <a:lvl1pPr>
              <a:spcBef>
                <a:spcPts val="600"/>
              </a:spcBef>
              <a:defRPr b="0"/>
            </a:lvl1pPr>
            <a:lvl2pPr marL="457063" indent="0">
              <a:buNone/>
              <a:defRPr/>
            </a:lvl2pPr>
          </a:lstStyle>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a:p>
            <a:pPr lvl="0"/>
            <a:r>
              <a:rPr lang="en-US" dirty="0"/>
              <a:t>List item subhead text style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sed</a:t>
            </a:r>
            <a:r>
              <a:rPr lang="en-US" dirty="0"/>
              <a:t> do.</a:t>
            </a:r>
          </a:p>
        </p:txBody>
      </p:sp>
    </p:spTree>
    <p:extLst>
      <p:ext uri="{BB962C8B-B14F-4D97-AF65-F5344CB8AC3E}">
        <p14:creationId xmlns:p14="http://schemas.microsoft.com/office/powerpoint/2010/main" val="767660020"/>
      </p:ext>
    </p:extLst>
  </p:cSld>
  <p:clrMapOvr>
    <a:masterClrMapping/>
  </p:clrMapOvr>
  <p:hf hd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End Slide">
    <p:bg>
      <p:bgPr>
        <a:solidFill>
          <a:srgbClr val="141724"/>
        </a:solidFill>
        <a:effectLst/>
      </p:bgPr>
    </p:bg>
    <p:spTree>
      <p:nvGrpSpPr>
        <p:cNvPr id="1" name=""/>
        <p:cNvGrpSpPr/>
        <p:nvPr/>
      </p:nvGrpSpPr>
      <p:grpSpPr>
        <a:xfrm>
          <a:off x="0" y="0"/>
          <a:ext cx="0" cy="0"/>
          <a:chOff x="0" y="0"/>
          <a:chExt cx="0" cy="0"/>
        </a:xfrm>
      </p:grpSpPr>
      <p:sp>
        <p:nvSpPr>
          <p:cNvPr id="24" name="Rectangle 23"/>
          <p:cNvSpPr/>
          <p:nvPr/>
        </p:nvSpPr>
        <p:spPr>
          <a:xfrm>
            <a:off x="10832950" y="6443472"/>
            <a:ext cx="1176170" cy="371856"/>
          </a:xfrm>
          <a:prstGeom prst="rect">
            <a:avLst/>
          </a:prstGeom>
          <a:solidFill>
            <a:srgbClr val="161C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 name="Right Triangle 18">
            <a:extLst>
              <a:ext uri="{FF2B5EF4-FFF2-40B4-BE49-F238E27FC236}">
                <a16:creationId xmlns:a16="http://schemas.microsoft.com/office/drawing/2014/main" id="{60FB99D6-8BE6-3843-87F0-1BF2F1338A6C}"/>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 name="Right Triangle 19">
            <a:extLst>
              <a:ext uri="{FF2B5EF4-FFF2-40B4-BE49-F238E27FC236}">
                <a16:creationId xmlns:a16="http://schemas.microsoft.com/office/drawing/2014/main" id="{7E68A1B2-3ABC-9D4A-B378-06C02AF8EB0C}"/>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Right Triangle 5">
            <a:extLst>
              <a:ext uri="{FF2B5EF4-FFF2-40B4-BE49-F238E27FC236}">
                <a16:creationId xmlns:a16="http://schemas.microsoft.com/office/drawing/2014/main" id="{60184228-3525-514A-86C4-3C16B3BD69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7" name="Right Triangle 6">
            <a:extLst>
              <a:ext uri="{FF2B5EF4-FFF2-40B4-BE49-F238E27FC236}">
                <a16:creationId xmlns:a16="http://schemas.microsoft.com/office/drawing/2014/main" id="{DB5B8B0E-1006-BC4A-9FBE-4C9A0F8CB908}"/>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9" name="Right Triangle 8">
            <a:extLst>
              <a:ext uri="{FF2B5EF4-FFF2-40B4-BE49-F238E27FC236}">
                <a16:creationId xmlns:a16="http://schemas.microsoft.com/office/drawing/2014/main" id="{CD6377F4-2164-4C47-B26D-2B2C92B343C5}"/>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 name="Right Triangle 9">
            <a:extLst>
              <a:ext uri="{FF2B5EF4-FFF2-40B4-BE49-F238E27FC236}">
                <a16:creationId xmlns:a16="http://schemas.microsoft.com/office/drawing/2014/main" id="{50D1EABC-9772-9C41-B944-B07DB09ED607}"/>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3" name="Right Triangle 12">
            <a:extLst>
              <a:ext uri="{FF2B5EF4-FFF2-40B4-BE49-F238E27FC236}">
                <a16:creationId xmlns:a16="http://schemas.microsoft.com/office/drawing/2014/main" id="{CCEBED41-AE49-0A45-88A5-DA613F2CC363}"/>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4" name="Right Triangle 13">
            <a:extLst>
              <a:ext uri="{FF2B5EF4-FFF2-40B4-BE49-F238E27FC236}">
                <a16:creationId xmlns:a16="http://schemas.microsoft.com/office/drawing/2014/main" id="{1003DCE0-C55E-6448-AC1E-9D71F3EBB562}"/>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ight Triangle 15">
            <a:extLst>
              <a:ext uri="{FF2B5EF4-FFF2-40B4-BE49-F238E27FC236}">
                <a16:creationId xmlns:a16="http://schemas.microsoft.com/office/drawing/2014/main" id="{31979BB4-D02E-AE4E-A8A8-2A7A55AB79CA}"/>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8" name="Right Triangle 17">
            <a:extLst>
              <a:ext uri="{FF2B5EF4-FFF2-40B4-BE49-F238E27FC236}">
                <a16:creationId xmlns:a16="http://schemas.microsoft.com/office/drawing/2014/main" id="{A03168C6-AAF2-8A4D-AE31-BF4FFA4AA02E}"/>
              </a:ext>
            </a:extLst>
          </p:cNvPr>
          <p:cNvSpPr/>
          <p:nvPr/>
        </p:nvSpPr>
        <p:spPr>
          <a:xfrm rot="10800000">
            <a:off x="7412966" y="0"/>
            <a:ext cx="4792936" cy="4792936"/>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 name="Right Triangle 21">
            <a:extLst>
              <a:ext uri="{FF2B5EF4-FFF2-40B4-BE49-F238E27FC236}">
                <a16:creationId xmlns:a16="http://schemas.microsoft.com/office/drawing/2014/main" id="{0F9A8760-B4C4-654E-B224-4A478CF0477F}"/>
              </a:ext>
            </a:extLst>
          </p:cNvPr>
          <p:cNvSpPr/>
          <p:nvPr/>
        </p:nvSpPr>
        <p:spPr>
          <a:xfrm rot="16200000">
            <a:off x="7412966" y="2078967"/>
            <a:ext cx="4779034" cy="4779034"/>
          </a:xfrm>
          <a:prstGeom prst="rtTriangle">
            <a:avLst/>
          </a:prstGeom>
          <a:solidFill>
            <a:schemeClr val="accent3">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3" name="Right Triangle 22">
            <a:extLst>
              <a:ext uri="{FF2B5EF4-FFF2-40B4-BE49-F238E27FC236}">
                <a16:creationId xmlns:a16="http://schemas.microsoft.com/office/drawing/2014/main" id="{2227A6DD-EC13-EF49-9819-F92827EA4822}"/>
              </a:ext>
            </a:extLst>
          </p:cNvPr>
          <p:cNvSpPr/>
          <p:nvPr/>
        </p:nvSpPr>
        <p:spPr>
          <a:xfrm rot="10800000">
            <a:off x="7412966" y="0"/>
            <a:ext cx="4792936" cy="4792936"/>
          </a:xfrm>
          <a:prstGeom prst="rtTriangle">
            <a:avLst/>
          </a:prstGeom>
          <a:solidFill>
            <a:srgbClr val="EB1B2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pic>
        <p:nvPicPr>
          <p:cNvPr id="17" name="Picture 16" descr="11.png"/>
          <p:cNvPicPr>
            <a:picLocks noChangeAspect="1"/>
          </p:cNvPicPr>
          <p:nvPr/>
        </p:nvPicPr>
        <p:blipFill rotWithShape="1">
          <a:blip r:embed="rId2" cstate="print">
            <a:alphaModFix amt="70000"/>
            <a:extLst>
              <a:ext uri="{28A0092B-C50C-407E-A947-70E740481C1C}">
                <a14:useLocalDpi xmlns:a14="http://schemas.microsoft.com/office/drawing/2010/main" val="0"/>
              </a:ext>
            </a:extLst>
          </a:blip>
          <a:srcRect t="-2013" b="2013"/>
          <a:stretch/>
        </p:blipFill>
        <p:spPr>
          <a:xfrm>
            <a:off x="9017001" y="0"/>
            <a:ext cx="3175000" cy="6858000"/>
          </a:xfrm>
          <a:prstGeom prst="rect">
            <a:avLst/>
          </a:prstGeom>
        </p:spPr>
      </p:pic>
      <p:pic>
        <p:nvPicPr>
          <p:cNvPr id="21" name="Picture 20">
            <a:extLst>
              <a:ext uri="{FF2B5EF4-FFF2-40B4-BE49-F238E27FC236}">
                <a16:creationId xmlns:a16="http://schemas.microsoft.com/office/drawing/2014/main" id="{DF656EFA-286F-5E4A-9F0B-E6DE9CBD22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72571" y="6020571"/>
            <a:ext cx="1280160" cy="259781"/>
          </a:xfrm>
          <a:prstGeom prst="rect">
            <a:avLst/>
          </a:prstGeom>
        </p:spPr>
      </p:pic>
      <p:sp>
        <p:nvSpPr>
          <p:cNvPr id="4" name="TextBox 3">
            <a:extLst>
              <a:ext uri="{FF2B5EF4-FFF2-40B4-BE49-F238E27FC236}">
                <a16:creationId xmlns:a16="http://schemas.microsoft.com/office/drawing/2014/main" id="{3388527C-82D0-9645-A44A-89CA1AE03B1F}"/>
              </a:ext>
            </a:extLst>
          </p:cNvPr>
          <p:cNvSpPr txBox="1"/>
          <p:nvPr/>
        </p:nvSpPr>
        <p:spPr>
          <a:xfrm>
            <a:off x="872571" y="2644170"/>
            <a:ext cx="5390207" cy="1569660"/>
          </a:xfrm>
          <a:prstGeom prst="rect">
            <a:avLst/>
          </a:prstGeom>
          <a:noFill/>
        </p:spPr>
        <p:txBody>
          <a:bodyPr wrap="square" rtlCol="0">
            <a:spAutoFit/>
          </a:bodyPr>
          <a:lstStyle/>
          <a:p>
            <a:r>
              <a:rPr lang="en-US" sz="4799" b="1" dirty="0"/>
              <a:t>Adaptable.</a:t>
            </a:r>
            <a:br>
              <a:rPr lang="en-US" sz="4799" b="1" dirty="0"/>
            </a:br>
            <a:r>
              <a:rPr lang="en-US" sz="4799" b="1" dirty="0">
                <a:solidFill>
                  <a:srgbClr val="FF0000"/>
                </a:solidFill>
              </a:rPr>
              <a:t>Intelligent.</a:t>
            </a:r>
            <a:endParaRPr lang="en-US" sz="4799" b="1" dirty="0"/>
          </a:p>
        </p:txBody>
      </p:sp>
    </p:spTree>
    <p:extLst>
      <p:ext uri="{BB962C8B-B14F-4D97-AF65-F5344CB8AC3E}">
        <p14:creationId xmlns:p14="http://schemas.microsoft.com/office/powerpoint/2010/main" val="3111257825"/>
      </p:ext>
    </p:extLst>
  </p:cSld>
  <p:clrMapOvr>
    <a:overrideClrMapping bg1="dk1" tx1="lt1" bg2="dk2" tx2="lt2" accent1="accent1" accent2="accent2" accent3="accent3" accent4="accent4" accent5="accent5" accent6="accent6" hlink="hlink" folHlink="folHlink"/>
  </p:clrMapOvr>
  <p:hf hdr="0" dt="0"/>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Title and Content Standard">
    <p:spTree>
      <p:nvGrpSpPr>
        <p:cNvPr id="1" name=""/>
        <p:cNvGrpSpPr/>
        <p:nvPr/>
      </p:nvGrpSpPr>
      <p:grpSpPr>
        <a:xfrm>
          <a:off x="0" y="0"/>
          <a:ext cx="0" cy="0"/>
          <a:chOff x="0" y="0"/>
          <a:chExt cx="0" cy="0"/>
        </a:xfrm>
      </p:grpSpPr>
      <p:sp>
        <p:nvSpPr>
          <p:cNvPr id="6" name="Rectangle 11"/>
          <p:cNvSpPr>
            <a:spLocks noGrp="1" noChangeArrowheads="1"/>
          </p:cNvSpPr>
          <p:nvPr>
            <p:ph type="title"/>
          </p:nvPr>
        </p:nvSpPr>
        <p:spPr bwMode="auto">
          <a:xfrm>
            <a:off x="1083733" y="209551"/>
            <a:ext cx="10498667" cy="530352"/>
          </a:xfrm>
          <a:prstGeom prst="rect">
            <a:avLst/>
          </a:prstGeom>
          <a:noFill/>
          <a:ln w="9525">
            <a:noFill/>
            <a:miter lim="800000"/>
            <a:headEnd/>
            <a:tailEnd/>
          </a:ln>
        </p:spPr>
        <p:txBody>
          <a:bodyPr vert="horz" wrap="square" lIns="0" tIns="45720" rIns="91440" bIns="45720" numCol="1" anchor="t" anchorCtr="0" compatLnSpc="1">
            <a:prstTxWarp prst="textNoShape">
              <a:avLst/>
            </a:prstTxWarp>
          </a:bodyPr>
          <a:lstStyle/>
          <a:p>
            <a:pPr lvl="0"/>
            <a:r>
              <a:rPr lang="en-US"/>
              <a:t>Click to edit Master title style</a:t>
            </a:r>
            <a:endParaRPr lang="en-US" dirty="0"/>
          </a:p>
        </p:txBody>
      </p:sp>
      <p:sp>
        <p:nvSpPr>
          <p:cNvPr id="8" name="Text Placeholder 2">
            <a:extLst>
              <a:ext uri="{FF2B5EF4-FFF2-40B4-BE49-F238E27FC236}">
                <a16:creationId xmlns:a16="http://schemas.microsoft.com/office/drawing/2014/main" id="{5186495B-315C-4C3E-B3D4-71BB48AAEE61}"/>
              </a:ext>
            </a:extLst>
          </p:cNvPr>
          <p:cNvSpPr>
            <a:spLocks noGrp="1"/>
          </p:cNvSpPr>
          <p:nvPr>
            <p:ph idx="1"/>
          </p:nvPr>
        </p:nvSpPr>
        <p:spPr>
          <a:xfrm>
            <a:off x="1066799" y="1410005"/>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lide Number Placeholder 4">
            <a:extLst>
              <a:ext uri="{FF2B5EF4-FFF2-40B4-BE49-F238E27FC236}">
                <a16:creationId xmlns:a16="http://schemas.microsoft.com/office/drawing/2014/main" id="{57E0F098-AE5A-4BFB-B240-38D40348DBEA}"/>
              </a:ext>
            </a:extLst>
          </p:cNvPr>
          <p:cNvSpPr>
            <a:spLocks noGrp="1"/>
          </p:cNvSpPr>
          <p:nvPr>
            <p:ph type="sldNum" sz="quarter" idx="4"/>
          </p:nvPr>
        </p:nvSpPr>
        <p:spPr>
          <a:xfrm>
            <a:off x="494041" y="6465126"/>
            <a:ext cx="2564510"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dirty="0"/>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2453746449"/>
      </p:ext>
    </p:extLst>
  </p:cSld>
  <p:clrMapOvr>
    <a:masterClrMapping/>
  </p:clrMapOvr>
  <p:hf hdr="0" dt="0"/>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Title No Body Copy">
    <p:spTree>
      <p:nvGrpSpPr>
        <p:cNvPr id="1" name=""/>
        <p:cNvGrpSpPr/>
        <p:nvPr/>
      </p:nvGrpSpPr>
      <p:grpSpPr>
        <a:xfrm>
          <a:off x="0" y="0"/>
          <a:ext cx="0" cy="0"/>
          <a:chOff x="0" y="0"/>
          <a:chExt cx="0" cy="0"/>
        </a:xfrm>
      </p:grpSpPr>
      <p:sp>
        <p:nvSpPr>
          <p:cNvPr id="4" name="Title 1"/>
          <p:cNvSpPr>
            <a:spLocks noGrp="1"/>
          </p:cNvSpPr>
          <p:nvPr>
            <p:ph type="title"/>
          </p:nvPr>
        </p:nvSpPr>
        <p:spPr>
          <a:xfrm>
            <a:off x="1083734" y="209551"/>
            <a:ext cx="11017956" cy="530352"/>
          </a:xfrm>
        </p:spPr>
        <p:txBody>
          <a:bodyPr/>
          <a:lstStyle/>
          <a:p>
            <a:r>
              <a:rPr lang="en-US"/>
              <a:t>Click to edit Master title style</a:t>
            </a:r>
          </a:p>
        </p:txBody>
      </p:sp>
      <p:sp>
        <p:nvSpPr>
          <p:cNvPr id="7" name="Slide Number Placeholder 4">
            <a:extLst>
              <a:ext uri="{FF2B5EF4-FFF2-40B4-BE49-F238E27FC236}">
                <a16:creationId xmlns:a16="http://schemas.microsoft.com/office/drawing/2014/main" id="{2226F909-149E-41D6-AEDB-D097B81A07DD}"/>
              </a:ext>
            </a:extLst>
          </p:cNvPr>
          <p:cNvSpPr>
            <a:spLocks noGrp="1"/>
          </p:cNvSpPr>
          <p:nvPr>
            <p:ph type="sldNum" sz="quarter" idx="4"/>
          </p:nvPr>
        </p:nvSpPr>
        <p:spPr>
          <a:xfrm>
            <a:off x="494041" y="6465126"/>
            <a:ext cx="2564510"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dirty="0"/>
              <a:t>Coding Considerations 23-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428027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18" Type="http://schemas.openxmlformats.org/officeDocument/2006/relationships/slideLayout" Target="../slideLayouts/slideLayout30.xml"/><Relationship Id="rId3" Type="http://schemas.openxmlformats.org/officeDocument/2006/relationships/slideLayout" Target="../slideLayouts/slideLayout15.xml"/><Relationship Id="rId21" Type="http://schemas.openxmlformats.org/officeDocument/2006/relationships/theme" Target="../theme/theme2.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0" Type="http://schemas.openxmlformats.org/officeDocument/2006/relationships/slideLayout" Target="../slideLayouts/slideLayout32.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23" Type="http://schemas.openxmlformats.org/officeDocument/2006/relationships/image" Target="../media/image4.png"/><Relationship Id="rId10" Type="http://schemas.openxmlformats.org/officeDocument/2006/relationships/slideLayout" Target="../slideLayouts/slideLayout22.xml"/><Relationship Id="rId19" Type="http://schemas.openxmlformats.org/officeDocument/2006/relationships/slideLayout" Target="../slideLayouts/slideLayout31.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 Id="rId22"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4"/>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CE072B75-8A37-4B3B-A6CE-FBFBBE9CD744}"/>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 id="2147483989" r:id="rId11"/>
    <p:sldLayoutId id="2147483990"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1793" y="210312"/>
            <a:ext cx="10541508" cy="502920"/>
          </a:xfrm>
          <a:prstGeom prst="rect">
            <a:avLst/>
          </a:prstGeom>
        </p:spPr>
        <p:txBody>
          <a:bodyPr vert="horz" lIns="91440" tIns="45720" rIns="91440" bIns="45720" rtlCol="0" anchor="t" anchorCtr="0">
            <a:noAutofit/>
          </a:bodyPr>
          <a:lstStyle/>
          <a:p>
            <a:r>
              <a:rPr lang="en-US" altLang="zh-CN"/>
              <a:t>Click to edit Master title style</a:t>
            </a:r>
            <a:endParaRPr lang="en-US" dirty="0"/>
          </a:p>
        </p:txBody>
      </p:sp>
      <p:sp>
        <p:nvSpPr>
          <p:cNvPr id="3" name="Text Placeholder 2"/>
          <p:cNvSpPr>
            <a:spLocks noGrp="1"/>
          </p:cNvSpPr>
          <p:nvPr>
            <p:ph type="body" idx="1"/>
          </p:nvPr>
        </p:nvSpPr>
        <p:spPr>
          <a:xfrm>
            <a:off x="647700" y="1344168"/>
            <a:ext cx="10515600" cy="4756356"/>
          </a:xfrm>
          <a:prstGeom prst="rect">
            <a:avLst/>
          </a:prstGeom>
        </p:spPr>
        <p:txBody>
          <a:bodyPr vert="horz" lIns="91440" tIns="45720" rIns="91440" bIns="4572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object 6"/>
          <p:cNvSpPr/>
          <p:nvPr/>
        </p:nvSpPr>
        <p:spPr>
          <a:xfrm>
            <a:off x="0" y="0"/>
            <a:ext cx="647700" cy="647700"/>
          </a:xfrm>
          <a:custGeom>
            <a:avLst/>
            <a:gdLst/>
            <a:ahLst/>
            <a:cxnLst/>
            <a:rect l="l" t="t" r="r" b="b"/>
            <a:pathLst>
              <a:path w="863600" h="863600">
                <a:moveTo>
                  <a:pt x="863600" y="0"/>
                </a:moveTo>
                <a:lnTo>
                  <a:pt x="0" y="0"/>
                </a:lnTo>
                <a:lnTo>
                  <a:pt x="0" y="863600"/>
                </a:lnTo>
                <a:lnTo>
                  <a:pt x="863600" y="0"/>
                </a:lnTo>
                <a:close/>
              </a:path>
            </a:pathLst>
          </a:custGeom>
          <a:solidFill>
            <a:srgbClr val="F11212"/>
          </a:solidFill>
        </p:spPr>
        <p:txBody>
          <a:bodyPr wrap="square" lIns="0" tIns="0" rIns="0" bIns="0" rtlCol="0"/>
          <a:lstStyle/>
          <a:p>
            <a:endParaRPr sz="1013"/>
          </a:p>
        </p:txBody>
      </p:sp>
      <p:sp>
        <p:nvSpPr>
          <p:cNvPr id="5" name="Slide Number Placeholder 4"/>
          <p:cNvSpPr>
            <a:spLocks noGrp="1"/>
          </p:cNvSpPr>
          <p:nvPr>
            <p:ph type="sldNum" sz="quarter" idx="4"/>
          </p:nvPr>
        </p:nvSpPr>
        <p:spPr>
          <a:xfrm>
            <a:off x="647700" y="6356352"/>
            <a:ext cx="2740121" cy="365125"/>
          </a:xfrm>
          <a:prstGeom prst="rect">
            <a:avLst/>
          </a:prstGeom>
        </p:spPr>
        <p:txBody>
          <a:bodyPr vert="horz" lIns="91440" tIns="45720" rIns="91440" bIns="45720" rtlCol="0" anchor="ctr"/>
          <a:lstStyle>
            <a:lvl1pPr algn="l">
              <a:defRPr sz="1200" b="1">
                <a:solidFill>
                  <a:schemeClr val="tx1">
                    <a:tint val="75000"/>
                  </a:schemeClr>
                </a:solidFill>
              </a:defRPr>
            </a:lvl1pPr>
          </a:lstStyle>
          <a:p>
            <a:pPr>
              <a:defRPr/>
            </a:pPr>
            <a:r>
              <a:rPr lang="en-US"/>
              <a:t>Coding Considerations 23- </a:t>
            </a:r>
            <a:fld id="{060BD193-E118-4B16-863C-C8C12C675E3E}" type="slidenum">
              <a:rPr lang="en-US" smtClean="0"/>
              <a:pPr>
                <a:defRPr/>
              </a:pPr>
              <a:t>‹#›</a:t>
            </a:fld>
            <a:endParaRPr lang="en-US" dirty="0"/>
          </a:p>
        </p:txBody>
      </p:sp>
      <p:pic>
        <p:nvPicPr>
          <p:cNvPr id="26" name="Picture 25">
            <a:extLst>
              <a:ext uri="{FF2B5EF4-FFF2-40B4-BE49-F238E27FC236}">
                <a16:creationId xmlns:a16="http://schemas.microsoft.com/office/drawing/2014/main" id="{44F068DF-C691-E142-9A8F-9F62E4FF6DFA}"/>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10989131" y="6517141"/>
            <a:ext cx="950976" cy="192980"/>
          </a:xfrm>
          <a:prstGeom prst="rect">
            <a:avLst/>
          </a:prstGeom>
        </p:spPr>
      </p:pic>
      <p:sp>
        <p:nvSpPr>
          <p:cNvPr id="8" name="TextBox 7">
            <a:extLst>
              <a:ext uri="{FF2B5EF4-FFF2-40B4-BE49-F238E27FC236}">
                <a16:creationId xmlns:a16="http://schemas.microsoft.com/office/drawing/2014/main" id="{7807F5D4-8104-4068-822D-D1AD7990DD22}"/>
              </a:ext>
            </a:extLst>
          </p:cNvPr>
          <p:cNvSpPr txBox="1"/>
          <p:nvPr userDrawn="1"/>
        </p:nvSpPr>
        <p:spPr>
          <a:xfrm>
            <a:off x="5335817" y="6587011"/>
            <a:ext cx="1520364" cy="246221"/>
          </a:xfrm>
          <a:prstGeom prst="rect">
            <a:avLst/>
          </a:prstGeom>
          <a:noFill/>
        </p:spPr>
        <p:txBody>
          <a:bodyPr wrap="none" rtlCol="0">
            <a:spAutoFit/>
          </a:bodyPr>
          <a:lstStyle/>
          <a:p>
            <a:pPr marL="0" marR="0" lvl="0" indent="0" algn="ctr" defTabSz="914400" rtl="0" eaLnBrk="1" fontAlgn="base" latinLnBrk="0" hangingPunct="1">
              <a:lnSpc>
                <a:spcPct val="100000"/>
              </a:lnSpc>
              <a:spcBef>
                <a:spcPct val="0"/>
              </a:spcBef>
              <a:spcAft>
                <a:spcPct val="0"/>
              </a:spcAft>
              <a:buClrTx/>
              <a:buSzTx/>
              <a:buFontTx/>
              <a:buNone/>
              <a:tabLst/>
              <a:defRPr/>
            </a:pPr>
            <a:r>
              <a:rPr lang="en-US" altLang="zh-CN" sz="1000" dirty="0"/>
              <a:t>© Copyright 2018 Xilinx</a:t>
            </a:r>
          </a:p>
        </p:txBody>
      </p:sp>
    </p:spTree>
    <p:extLst>
      <p:ext uri="{BB962C8B-B14F-4D97-AF65-F5344CB8AC3E}">
        <p14:creationId xmlns:p14="http://schemas.microsoft.com/office/powerpoint/2010/main" val="2827539990"/>
      </p:ext>
    </p:extLst>
  </p:cSld>
  <p:clrMap bg1="lt1" tx1="dk1" bg2="lt2" tx2="dk2" accent1="accent1" accent2="accent2" accent3="accent3" accent4="accent4" accent5="accent5" accent6="accent6" hlink="hlink" folHlink="folHlink"/>
  <p:sldLayoutIdLst>
    <p:sldLayoutId id="2147483992" r:id="rId1"/>
    <p:sldLayoutId id="2147483993" r:id="rId2"/>
    <p:sldLayoutId id="2147483994" r:id="rId3"/>
    <p:sldLayoutId id="2147483995" r:id="rId4"/>
    <p:sldLayoutId id="2147483996" r:id="rId5"/>
    <p:sldLayoutId id="2147483997" r:id="rId6"/>
    <p:sldLayoutId id="2147483998" r:id="rId7"/>
    <p:sldLayoutId id="2147483999" r:id="rId8"/>
    <p:sldLayoutId id="2147484000" r:id="rId9"/>
    <p:sldLayoutId id="2147484001" r:id="rId10"/>
    <p:sldLayoutId id="2147484002" r:id="rId11"/>
    <p:sldLayoutId id="2147484003" r:id="rId12"/>
    <p:sldLayoutId id="2147484004" r:id="rId13"/>
    <p:sldLayoutId id="2147484005" r:id="rId14"/>
    <p:sldLayoutId id="2147484006" r:id="rId15"/>
    <p:sldLayoutId id="2147484007" r:id="rId16"/>
    <p:sldLayoutId id="2147484008" r:id="rId17"/>
    <p:sldLayoutId id="2147484009" r:id="rId18"/>
    <p:sldLayoutId id="2147484010" r:id="rId19"/>
    <p:sldLayoutId id="2147484011" r:id="rId20"/>
  </p:sldLayoutIdLst>
  <p:hf hdr="0" dt="0"/>
  <p:txStyles>
    <p:titleStyle>
      <a:lvl1pPr algn="l" defTabSz="914126" rtl="0" eaLnBrk="1" latinLnBrk="0" hangingPunct="1">
        <a:lnSpc>
          <a:spcPct val="90000"/>
        </a:lnSpc>
        <a:spcBef>
          <a:spcPct val="0"/>
        </a:spcBef>
        <a:buNone/>
        <a:defRPr lang="en-US" sz="3199" b="1" i="0" kern="1200" dirty="0" smtClean="0">
          <a:solidFill>
            <a:srgbClr val="EC1C24"/>
          </a:solidFill>
          <a:latin typeface="Arial" charset="0"/>
          <a:ea typeface="+mj-ea"/>
          <a:cs typeface="Arial" charset="0"/>
        </a:defRPr>
      </a:lvl1pPr>
    </p:titleStyle>
    <p:bodyStyle>
      <a:lvl1pPr marL="228531" indent="-228531" algn="l" defTabSz="914126" rtl="0" eaLnBrk="1" latinLnBrk="0" hangingPunct="1">
        <a:lnSpc>
          <a:spcPct val="100000"/>
        </a:lnSpc>
        <a:spcBef>
          <a:spcPts val="1200"/>
        </a:spcBef>
        <a:buClr>
          <a:srgbClr val="FF0000"/>
        </a:buClr>
        <a:buFont typeface="Calibri" panose="020F0502020204030204" pitchFamily="34" charset="0"/>
        <a:buChar char="˃"/>
        <a:defRPr sz="1999" b="1" kern="1200">
          <a:solidFill>
            <a:schemeClr val="tx1">
              <a:lumMod val="50000"/>
            </a:schemeClr>
          </a:solidFill>
          <a:latin typeface="Arial" panose="020B0604020202020204" pitchFamily="34" charset="0"/>
          <a:ea typeface="+mn-ea"/>
          <a:cs typeface="Arial" panose="020B0604020202020204" pitchFamily="34" charset="0"/>
        </a:defRPr>
      </a:lvl1pPr>
      <a:lvl2pPr marL="742727" indent="-285664" algn="l" defTabSz="914126" rtl="0" eaLnBrk="1" latinLnBrk="0" hangingPunct="1">
        <a:lnSpc>
          <a:spcPct val="90000"/>
        </a:lnSpc>
        <a:spcBef>
          <a:spcPts val="500"/>
        </a:spcBef>
        <a:buFontTx/>
        <a:buBlip>
          <a:blip r:embed="rId23"/>
        </a:buBlip>
        <a:defRPr sz="1799" kern="1200">
          <a:solidFill>
            <a:schemeClr val="tx1"/>
          </a:solidFill>
          <a:latin typeface="Arial" panose="020B0604020202020204" pitchFamily="34" charset="0"/>
          <a:ea typeface="+mn-ea"/>
          <a:cs typeface="Arial" panose="020B0604020202020204" pitchFamily="34" charset="0"/>
        </a:defRPr>
      </a:lvl2pPr>
      <a:lvl3pPr marL="1142657" indent="-228531" algn="l" defTabSz="914126" rtl="0" eaLnBrk="1" latinLnBrk="0" hangingPunct="1">
        <a:lnSpc>
          <a:spcPct val="90000"/>
        </a:lnSpc>
        <a:spcBef>
          <a:spcPts val="500"/>
        </a:spcBef>
        <a:buFont typeface="Calibri" panose="020F0502020204030204" pitchFamily="34" charset="0"/>
        <a:buChar char="‒"/>
        <a:defRPr sz="1999" kern="1200">
          <a:solidFill>
            <a:schemeClr val="tx1"/>
          </a:solidFill>
          <a:latin typeface="Arial" panose="020B0604020202020204" pitchFamily="34" charset="0"/>
          <a:ea typeface="+mn-ea"/>
          <a:cs typeface="Arial" panose="020B0604020202020204" pitchFamily="34" charset="0"/>
        </a:defRPr>
      </a:lvl3pPr>
      <a:lvl4pPr marL="1599720" indent="-228531" algn="l" defTabSz="914126" rtl="0" eaLnBrk="1" latinLnBrk="0" hangingPunct="1">
        <a:lnSpc>
          <a:spcPct val="90000"/>
        </a:lnSpc>
        <a:spcBef>
          <a:spcPts val="500"/>
        </a:spcBef>
        <a:buFont typeface="Wingdings" panose="05000000000000000000" pitchFamily="2" charset="2"/>
        <a:buChar char="§"/>
        <a:defRPr sz="1799" kern="1200">
          <a:solidFill>
            <a:schemeClr val="tx1"/>
          </a:solidFill>
          <a:latin typeface="Arial" panose="020B0604020202020204" pitchFamily="34" charset="0"/>
          <a:ea typeface="+mn-ea"/>
          <a:cs typeface="Arial" panose="020B0604020202020204" pitchFamily="34" charset="0"/>
        </a:defRPr>
      </a:lvl4pPr>
      <a:lvl5pPr marL="2056783"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Arial" panose="020B0604020202020204" pitchFamily="34" charset="0"/>
          <a:ea typeface="+mn-ea"/>
          <a:cs typeface="Arial" panose="020B0604020202020204" pitchFamily="34" charset="0"/>
        </a:defRPr>
      </a:lvl5pPr>
      <a:lvl6pPr marL="2513846"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908"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971"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5034" indent="-228531" algn="l" defTabSz="914126"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126" rtl="0" eaLnBrk="1" latinLnBrk="0" hangingPunct="1">
        <a:defRPr sz="1799" kern="1200">
          <a:solidFill>
            <a:schemeClr val="tx1"/>
          </a:solidFill>
          <a:latin typeface="+mn-lt"/>
          <a:ea typeface="+mn-ea"/>
          <a:cs typeface="+mn-cs"/>
        </a:defRPr>
      </a:lvl1pPr>
      <a:lvl2pPr marL="457063" algn="l" defTabSz="914126" rtl="0" eaLnBrk="1" latinLnBrk="0" hangingPunct="1">
        <a:defRPr sz="1799" kern="1200">
          <a:solidFill>
            <a:schemeClr val="tx1"/>
          </a:solidFill>
          <a:latin typeface="+mn-lt"/>
          <a:ea typeface="+mn-ea"/>
          <a:cs typeface="+mn-cs"/>
        </a:defRPr>
      </a:lvl2pPr>
      <a:lvl3pPr marL="914126" algn="l" defTabSz="914126" rtl="0" eaLnBrk="1" latinLnBrk="0" hangingPunct="1">
        <a:defRPr sz="1799" kern="1200">
          <a:solidFill>
            <a:schemeClr val="tx1"/>
          </a:solidFill>
          <a:latin typeface="+mn-lt"/>
          <a:ea typeface="+mn-ea"/>
          <a:cs typeface="+mn-cs"/>
        </a:defRPr>
      </a:lvl3pPr>
      <a:lvl4pPr marL="1371189" algn="l" defTabSz="914126" rtl="0" eaLnBrk="1" latinLnBrk="0" hangingPunct="1">
        <a:defRPr sz="1799" kern="1200">
          <a:solidFill>
            <a:schemeClr val="tx1"/>
          </a:solidFill>
          <a:latin typeface="+mn-lt"/>
          <a:ea typeface="+mn-ea"/>
          <a:cs typeface="+mn-cs"/>
        </a:defRPr>
      </a:lvl4pPr>
      <a:lvl5pPr marL="1828251" algn="l" defTabSz="914126" rtl="0" eaLnBrk="1" latinLnBrk="0" hangingPunct="1">
        <a:defRPr sz="1799" kern="1200">
          <a:solidFill>
            <a:schemeClr val="tx1"/>
          </a:solidFill>
          <a:latin typeface="+mn-lt"/>
          <a:ea typeface="+mn-ea"/>
          <a:cs typeface="+mn-cs"/>
        </a:defRPr>
      </a:lvl5pPr>
      <a:lvl6pPr marL="2285314" algn="l" defTabSz="914126" rtl="0" eaLnBrk="1" latinLnBrk="0" hangingPunct="1">
        <a:defRPr sz="1799" kern="1200">
          <a:solidFill>
            <a:schemeClr val="tx1"/>
          </a:solidFill>
          <a:latin typeface="+mn-lt"/>
          <a:ea typeface="+mn-ea"/>
          <a:cs typeface="+mn-cs"/>
        </a:defRPr>
      </a:lvl6pPr>
      <a:lvl7pPr marL="2742377" algn="l" defTabSz="914126" rtl="0" eaLnBrk="1" latinLnBrk="0" hangingPunct="1">
        <a:defRPr sz="1799" kern="1200">
          <a:solidFill>
            <a:schemeClr val="tx1"/>
          </a:solidFill>
          <a:latin typeface="+mn-lt"/>
          <a:ea typeface="+mn-ea"/>
          <a:cs typeface="+mn-cs"/>
        </a:defRPr>
      </a:lvl7pPr>
      <a:lvl8pPr marL="3199440" algn="l" defTabSz="914126" rtl="0" eaLnBrk="1" latinLnBrk="0" hangingPunct="1">
        <a:defRPr sz="1799" kern="1200">
          <a:solidFill>
            <a:schemeClr val="tx1"/>
          </a:solidFill>
          <a:latin typeface="+mn-lt"/>
          <a:ea typeface="+mn-ea"/>
          <a:cs typeface="+mn-cs"/>
        </a:defRPr>
      </a:lvl8pPr>
      <a:lvl9pPr marL="3656503" algn="l" defTabSz="914126" rtl="0" eaLnBrk="1" latinLnBrk="0" hangingPunct="1">
        <a:defRPr sz="179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10.xml"/><Relationship Id="rId4" Type="http://schemas.openxmlformats.org/officeDocument/2006/relationships/image" Target="../media/image19.png"/></Relationships>
</file>

<file path=ppt/slides/_rels/slide5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7.xml"/><Relationship Id="rId4" Type="http://schemas.openxmlformats.org/officeDocument/2006/relationships/image" Target="../media/image1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9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9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7.xml"/></Relationships>
</file>

<file path=ppt/slides/_rels/slide10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0.xml"/></Relationships>
</file>

<file path=ppt/slides/_rels/slide10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104.xml.rels><?xml version="1.0" encoding="UTF-8" standalone="yes"?>
<Relationships xmlns="http://schemas.openxmlformats.org/package/2006/relationships"><Relationship Id="rId2" Type="http://schemas.openxmlformats.org/officeDocument/2006/relationships/hyperlink" Target="https://github.com/Xilinx/Vitis_Libraries/tree/master/vision" TargetMode="External"/><Relationship Id="rId1" Type="http://schemas.openxmlformats.org/officeDocument/2006/relationships/slideLayout" Target="../slideLayouts/slideLayout10.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10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_rels/slide1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3.xml"/></Relationships>
</file>

<file path=ppt/slides/_rels/slide11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1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1.xml"/></Relationships>
</file>

<file path=ppt/slides/_rels/slide11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1.xml"/></Relationships>
</file>

<file path=ppt/slides/_rels/slide1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7.xml"/></Relationships>
</file>

<file path=ppt/slides/_rels/slide117.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le 28">
            <a:extLst>
              <a:ext uri="{FF2B5EF4-FFF2-40B4-BE49-F238E27FC236}">
                <a16:creationId xmlns:a16="http://schemas.microsoft.com/office/drawing/2014/main" id="{EF8704FD-C618-6F4D-A857-18A38D773A3B}"/>
              </a:ext>
            </a:extLst>
          </p:cNvPr>
          <p:cNvSpPr>
            <a:spLocks noGrp="1"/>
          </p:cNvSpPr>
          <p:nvPr>
            <p:ph type="title"/>
          </p:nvPr>
        </p:nvSpPr>
        <p:spPr/>
        <p:txBody>
          <a:bodyPr/>
          <a:lstStyle/>
          <a:p>
            <a:r>
              <a:rPr lang="en-US" altLang="zh-CN" dirty="0">
                <a:ea typeface="SimSun" pitchFamily="2" charset="-122"/>
              </a:rPr>
              <a:t>Coding Considerations</a:t>
            </a:r>
            <a:endParaRPr lang="en-US" dirty="0"/>
          </a:p>
        </p:txBody>
      </p:sp>
      <p:sp>
        <p:nvSpPr>
          <p:cNvPr id="9" name="Text Placeholder 8"/>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4016103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List language support in </a:t>
            </a:r>
            <a:r>
              <a:rPr lang="en-US" dirty="0" err="1"/>
              <a:t>Vitis</a:t>
            </a:r>
            <a:r>
              <a:rPr lang="en-US" dirty="0"/>
              <a:t> HLS</a:t>
            </a:r>
          </a:p>
          <a:p>
            <a:pPr lvl="1"/>
            <a:r>
              <a:rPr lang="en-US" dirty="0"/>
              <a:t>State when a construct is not synthesizable</a:t>
            </a:r>
          </a:p>
          <a:p>
            <a:pPr lvl="1"/>
            <a:r>
              <a:rPr lang="en-US" dirty="0"/>
              <a:t>List unsupported constructs</a:t>
            </a:r>
          </a:p>
          <a:p>
            <a:pPr lvl="1"/>
            <a:r>
              <a:rPr lang="en-US" dirty="0"/>
              <a:t>Describe multi-access pointer and restriction imposed on using it</a:t>
            </a:r>
          </a:p>
          <a:p>
            <a:pPr lvl="1"/>
            <a:r>
              <a:rPr lang="en-US" dirty="0"/>
              <a:t>Describe how structs and pointers are handled in </a:t>
            </a:r>
            <a:r>
              <a:rPr lang="en-US" dirty="0" err="1"/>
              <a:t>Vitis</a:t>
            </a:r>
            <a:r>
              <a:rPr lang="en-US" dirty="0"/>
              <a:t> HLS</a:t>
            </a:r>
          </a:p>
          <a:p>
            <a:pPr lvl="1"/>
            <a:r>
              <a:rPr lang="en-US" dirty="0"/>
              <a:t>Generate efficient hardware from C sources using stream and shift register classes</a:t>
            </a:r>
          </a:p>
          <a:p>
            <a:pPr lvl="1"/>
            <a:r>
              <a:rPr lang="en-US" dirty="0"/>
              <a:t>List supported functions in </a:t>
            </a:r>
            <a:r>
              <a:rPr lang="en-US" dirty="0" err="1"/>
              <a:t>Vitis</a:t>
            </a:r>
            <a:r>
              <a:rPr lang="en-US" dirty="0"/>
              <a:t> Vision library</a:t>
            </a:r>
          </a:p>
        </p:txBody>
      </p:sp>
      <p:sp>
        <p:nvSpPr>
          <p:cNvPr id="6" name="Slide Number Placeholder 5"/>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module, you will be able to:</a:t>
            </a:r>
          </a:p>
          <a:p>
            <a:pPr>
              <a:lnSpc>
                <a:spcPts val="1000"/>
              </a:lnSpc>
              <a:buNone/>
            </a:pPr>
            <a:endParaRPr lang="en-US" altLang="zh-CN" dirty="0">
              <a:solidFill>
                <a:schemeClr val="tx1"/>
              </a:solidFill>
            </a:endParaRPr>
          </a:p>
          <a:p>
            <a:pPr lvl="1"/>
            <a:r>
              <a:rPr lang="en-US" dirty="0"/>
              <a:t>List language support in </a:t>
            </a:r>
            <a:r>
              <a:rPr lang="en-US" dirty="0" err="1">
                <a:highlight>
                  <a:srgbClr val="FFFF00"/>
                </a:highlight>
              </a:rPr>
              <a:t>Vitis</a:t>
            </a:r>
            <a:r>
              <a:rPr lang="en-US" dirty="0"/>
              <a:t> HLS</a:t>
            </a:r>
          </a:p>
          <a:p>
            <a:pPr lvl="1"/>
            <a:r>
              <a:rPr lang="en-US" dirty="0"/>
              <a:t>State when a construct is not synthesizable</a:t>
            </a:r>
          </a:p>
          <a:p>
            <a:pPr lvl="1"/>
            <a:r>
              <a:rPr lang="en-US" dirty="0"/>
              <a:t>List unsupported constructs</a:t>
            </a:r>
          </a:p>
          <a:p>
            <a:pPr lvl="1"/>
            <a:r>
              <a:rPr lang="en-US" dirty="0"/>
              <a:t>Describe multi-access pointer and restriction imposed on using it</a:t>
            </a:r>
          </a:p>
          <a:p>
            <a:pPr lvl="1"/>
            <a:r>
              <a:rPr lang="en-US" dirty="0"/>
              <a:t>Describe how structs and pointers are handled in </a:t>
            </a:r>
            <a:r>
              <a:rPr lang="en-US" dirty="0" err="1">
                <a:highlight>
                  <a:srgbClr val="FFFF00"/>
                </a:highlight>
              </a:rPr>
              <a:t>Vitis</a:t>
            </a:r>
            <a:r>
              <a:rPr lang="en-US" dirty="0"/>
              <a:t> HLS</a:t>
            </a:r>
          </a:p>
          <a:p>
            <a:pPr lvl="1"/>
            <a:r>
              <a:rPr lang="en-US" dirty="0"/>
              <a:t>Generate efficient hardware from C sources using stream and shift register classes</a:t>
            </a:r>
          </a:p>
          <a:p>
            <a:pPr lvl="1"/>
            <a:r>
              <a:rPr lang="en-US" dirty="0"/>
              <a:t>List supported functions in </a:t>
            </a:r>
            <a:r>
              <a:rPr lang="en-US" strike="sngStrike" dirty="0" err="1"/>
              <a:t>OpenCV</a:t>
            </a:r>
            <a:r>
              <a:rPr lang="en-US" dirty="0" err="1">
                <a:highlight>
                  <a:srgbClr val="FFFF00"/>
                </a:highlight>
              </a:rPr>
              <a:t>Vitis</a:t>
            </a:r>
            <a:r>
              <a:rPr lang="en-US" dirty="0">
                <a:highlight>
                  <a:srgbClr val="FFFF00"/>
                </a:highlight>
              </a:rPr>
              <a:t> Vision </a:t>
            </a:r>
            <a:r>
              <a:rPr lang="en-US" dirty="0"/>
              <a:t>library</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3</a:t>
            </a:fld>
            <a:endParaRPr lang="en-US" dirty="0">
              <a:solidFill>
                <a:srgbClr val="0C0C0C">
                  <a:tint val="75000"/>
                </a:srgbClr>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CC0A5-195A-40FC-9B2B-25B3732E42A9}"/>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35C66582-3D3E-49B0-8953-A46440BDD173}"/>
              </a:ext>
            </a:extLst>
          </p:cNvPr>
          <p:cNvSpPr>
            <a:spLocks noGrp="1"/>
          </p:cNvSpPr>
          <p:nvPr>
            <p:ph idx="1"/>
          </p:nvPr>
        </p:nvSpPr>
        <p:spPr/>
        <p:txBody>
          <a:bodyPr>
            <a:normAutofit fontScale="92500" lnSpcReduction="10000"/>
          </a:bodyPr>
          <a:lstStyle/>
          <a:p>
            <a:r>
              <a:rPr lang="en-US" altLang="zh-CN" dirty="0"/>
              <a:t>Language Support</a:t>
            </a:r>
          </a:p>
          <a:p>
            <a:r>
              <a:rPr lang="en-US" altLang="zh-CN" dirty="0"/>
              <a:t>Pointers</a:t>
            </a:r>
          </a:p>
          <a:p>
            <a:r>
              <a:rPr lang="en-US" altLang="zh-CN" dirty="0"/>
              <a:t>Coding Considerations and IO</a:t>
            </a:r>
          </a:p>
          <a:p>
            <a:r>
              <a:rPr lang="en-US" altLang="zh-CN" dirty="0"/>
              <a:t>Streams</a:t>
            </a:r>
          </a:p>
          <a:p>
            <a:r>
              <a:rPr lang="en-US" altLang="zh-CN" dirty="0"/>
              <a:t>Libraries Support </a:t>
            </a:r>
          </a:p>
          <a:p>
            <a:pPr lvl="1"/>
            <a:r>
              <a:rPr lang="en-US" altLang="zh-CN" dirty="0"/>
              <a:t>FFT, FIR and Shift Registers</a:t>
            </a:r>
          </a:p>
          <a:p>
            <a:pPr lvl="1"/>
            <a:r>
              <a:rPr lang="en-US" altLang="zh-CN" dirty="0" err="1"/>
              <a:t>Vitis</a:t>
            </a:r>
            <a:r>
              <a:rPr lang="en-US" altLang="zh-CN" dirty="0"/>
              <a:t> Vision</a:t>
            </a:r>
          </a:p>
          <a:p>
            <a:r>
              <a:rPr lang="en-US" altLang="zh-CN" dirty="0"/>
              <a:t>Summary</a:t>
            </a:r>
            <a:endParaRPr lang="zh-CN" altLang="en-US" dirty="0"/>
          </a:p>
        </p:txBody>
      </p:sp>
      <p:sp>
        <p:nvSpPr>
          <p:cNvPr id="4" name="Slide Number Placeholder 5">
            <a:extLst>
              <a:ext uri="{FF2B5EF4-FFF2-40B4-BE49-F238E27FC236}">
                <a16:creationId xmlns:a16="http://schemas.microsoft.com/office/drawing/2014/main" id="{561C7EB9-F5C5-4C72-A9F4-86AB1EA50D31}"/>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4</a:t>
            </a:fld>
            <a:endParaRPr lang="en-US" dirty="0"/>
          </a:p>
        </p:txBody>
      </p:sp>
    </p:spTree>
    <p:extLst>
      <p:ext uri="{BB962C8B-B14F-4D97-AF65-F5344CB8AC3E}">
        <p14:creationId xmlns:p14="http://schemas.microsoft.com/office/powerpoint/2010/main" val="27496194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CC0A5-195A-40FC-9B2B-25B3732E42A9}"/>
              </a:ext>
            </a:extLst>
          </p:cNvPr>
          <p:cNvSpPr>
            <a:spLocks noGrp="1"/>
          </p:cNvSpPr>
          <p:nvPr>
            <p:ph type="title"/>
          </p:nvPr>
        </p:nvSpPr>
        <p:spPr/>
        <p:txBody>
          <a:bodyPr/>
          <a:lstStyle/>
          <a:p>
            <a:r>
              <a:rPr lang="en-US" altLang="zh-CN" dirty="0"/>
              <a:t>Outline</a:t>
            </a:r>
            <a:endParaRPr lang="zh-CN" altLang="en-US" dirty="0"/>
          </a:p>
        </p:txBody>
      </p:sp>
      <p:sp>
        <p:nvSpPr>
          <p:cNvPr id="3" name="Content Placeholder 2">
            <a:extLst>
              <a:ext uri="{FF2B5EF4-FFF2-40B4-BE49-F238E27FC236}">
                <a16:creationId xmlns:a16="http://schemas.microsoft.com/office/drawing/2014/main" id="{35C66582-3D3E-49B0-8953-A46440BDD173}"/>
              </a:ext>
            </a:extLst>
          </p:cNvPr>
          <p:cNvSpPr>
            <a:spLocks noGrp="1"/>
          </p:cNvSpPr>
          <p:nvPr>
            <p:ph idx="1"/>
          </p:nvPr>
        </p:nvSpPr>
        <p:spPr/>
        <p:txBody>
          <a:bodyPr>
            <a:normAutofit fontScale="92500" lnSpcReduction="10000"/>
          </a:bodyPr>
          <a:lstStyle/>
          <a:p>
            <a:r>
              <a:rPr lang="en-US" altLang="zh-CN" dirty="0"/>
              <a:t>Language Support</a:t>
            </a:r>
          </a:p>
          <a:p>
            <a:r>
              <a:rPr lang="en-US" altLang="zh-CN" dirty="0"/>
              <a:t>Pointers</a:t>
            </a:r>
          </a:p>
          <a:p>
            <a:r>
              <a:rPr lang="en-US" altLang="zh-CN" dirty="0"/>
              <a:t>Coding Considerations and IO</a:t>
            </a:r>
          </a:p>
          <a:p>
            <a:r>
              <a:rPr lang="en-US" altLang="zh-CN" dirty="0"/>
              <a:t>Streams</a:t>
            </a:r>
          </a:p>
          <a:p>
            <a:r>
              <a:rPr lang="en-US" altLang="zh-CN" dirty="0"/>
              <a:t>Libraries Support </a:t>
            </a:r>
          </a:p>
          <a:p>
            <a:pPr lvl="1"/>
            <a:r>
              <a:rPr lang="en-US" altLang="zh-CN" dirty="0">
                <a:solidFill>
                  <a:srgbClr val="FFFFFF"/>
                </a:solidFill>
              </a:rPr>
              <a:t>FFT, FIR, Shift Registers and Linear Algebra</a:t>
            </a:r>
          </a:p>
          <a:p>
            <a:pPr lvl="1"/>
            <a:r>
              <a:rPr lang="en-US" altLang="zh-CN" strike="sngStrike" dirty="0" err="1">
                <a:solidFill>
                  <a:srgbClr val="FFFFFF"/>
                </a:solidFill>
              </a:rPr>
              <a:t>OpenCV</a:t>
            </a:r>
            <a:r>
              <a:rPr lang="en-US" altLang="zh-CN" dirty="0" err="1">
                <a:solidFill>
                  <a:srgbClr val="FFFFFF"/>
                </a:solidFill>
                <a:highlight>
                  <a:srgbClr val="FF0000"/>
                </a:highlight>
              </a:rPr>
              <a:t>Vitis</a:t>
            </a:r>
            <a:r>
              <a:rPr lang="en-US" altLang="zh-CN" dirty="0">
                <a:solidFill>
                  <a:srgbClr val="FFFFFF"/>
                </a:solidFill>
                <a:highlight>
                  <a:srgbClr val="FF0000"/>
                </a:highlight>
              </a:rPr>
              <a:t> Vision</a:t>
            </a:r>
          </a:p>
          <a:p>
            <a:r>
              <a:rPr lang="en-US" altLang="zh-CN" dirty="0"/>
              <a:t>Summary</a:t>
            </a:r>
            <a:endParaRPr lang="zh-CN" altLang="en-US" dirty="0"/>
          </a:p>
        </p:txBody>
      </p:sp>
    </p:spTree>
    <p:extLst>
      <p:ext uri="{BB962C8B-B14F-4D97-AF65-F5344CB8AC3E}">
        <p14:creationId xmlns:p14="http://schemas.microsoft.com/office/powerpoint/2010/main" val="4119904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C/C++ Support</a:t>
            </a:r>
          </a:p>
        </p:txBody>
      </p:sp>
      <p:sp>
        <p:nvSpPr>
          <p:cNvPr id="3" name="Content Placeholder 2"/>
          <p:cNvSpPr>
            <a:spLocks noGrp="1"/>
          </p:cNvSpPr>
          <p:nvPr>
            <p:ph idx="1"/>
          </p:nvPr>
        </p:nvSpPr>
        <p:spPr>
          <a:xfrm>
            <a:off x="579119" y="1210056"/>
            <a:ext cx="10515600" cy="4759404"/>
          </a:xfrm>
        </p:spPr>
        <p:txBody>
          <a:bodyPr/>
          <a:lstStyle/>
          <a:p>
            <a:r>
              <a:rPr lang="en-US" dirty="0"/>
              <a:t>A Complete C/C++ Validation &amp; Verification Environment</a:t>
            </a:r>
          </a:p>
          <a:p>
            <a:pPr lvl="1"/>
            <a:r>
              <a:rPr lang="en-US" dirty="0" err="1"/>
              <a:t>Vitis</a:t>
            </a:r>
            <a:r>
              <a:rPr lang="en-US" dirty="0"/>
              <a:t> HLS supports complete bit-accurate validation of the C++ model</a:t>
            </a:r>
          </a:p>
          <a:p>
            <a:pPr lvl="1"/>
            <a:r>
              <a:rPr lang="en-US" dirty="0" err="1"/>
              <a:t>Vitis</a:t>
            </a:r>
            <a:r>
              <a:rPr lang="en-US" dirty="0"/>
              <a:t> HLS provides a productive C-RTL co-simulation verification solution </a:t>
            </a:r>
          </a:p>
          <a:p>
            <a:r>
              <a:rPr lang="en-US" dirty="0" err="1"/>
              <a:t>Vitis</a:t>
            </a:r>
            <a:r>
              <a:rPr lang="en-US" dirty="0"/>
              <a:t> HLS supports C, C++</a:t>
            </a:r>
            <a:endParaRPr lang="en-US" strike="sngStrike" dirty="0"/>
          </a:p>
          <a:p>
            <a:pPr lvl="1"/>
            <a:r>
              <a:rPr lang="en-US" dirty="0"/>
              <a:t>Functions can be written in C or C++</a:t>
            </a:r>
            <a:endParaRPr lang="en-US" strike="sngStrike" dirty="0"/>
          </a:p>
          <a:p>
            <a:pPr lvl="1"/>
            <a:r>
              <a:rPr lang="en-US" dirty="0"/>
              <a:t>Wide support for coding constructs in C and C++</a:t>
            </a:r>
            <a:endParaRPr lang="en-US" strike="sngStrike" dirty="0"/>
          </a:p>
          <a:p>
            <a:pPr lvl="2"/>
            <a:r>
              <a:rPr lang="en-US" dirty="0"/>
              <a:t>It’s easier to discuss what’s not supported than what is</a:t>
            </a:r>
          </a:p>
          <a:p>
            <a:r>
              <a:rPr lang="en-US" dirty="0"/>
              <a:t>Modeling with bit-accuracy</a:t>
            </a:r>
          </a:p>
          <a:p>
            <a:pPr lvl="1"/>
            <a:r>
              <a:rPr lang="en-US" dirty="0"/>
              <a:t>Supports arbitrary precision types for C++</a:t>
            </a:r>
            <a:endParaRPr lang="en-US" strike="sngStrike" dirty="0"/>
          </a:p>
          <a:p>
            <a:pPr lvl="1"/>
            <a:r>
              <a:rPr lang="en-US" dirty="0"/>
              <a:t>Allowing the exact bit-widths to be modeled and synthesized</a:t>
            </a:r>
          </a:p>
          <a:p>
            <a:r>
              <a:rPr lang="en-US" dirty="0"/>
              <a:t>Floating point support</a:t>
            </a:r>
          </a:p>
          <a:p>
            <a:pPr lvl="1"/>
            <a:r>
              <a:rPr lang="en-US" dirty="0"/>
              <a:t>Support for the use of float and double in the code</a:t>
            </a:r>
          </a:p>
        </p:txBody>
      </p:sp>
      <p:sp>
        <p:nvSpPr>
          <p:cNvPr id="5" name="Slide Number Placeholder 5">
            <a:extLst>
              <a:ext uri="{FF2B5EF4-FFF2-40B4-BE49-F238E27FC236}">
                <a16:creationId xmlns:a16="http://schemas.microsoft.com/office/drawing/2014/main" id="{22344D7D-5823-49D0-91CD-651777552931}"/>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6</a:t>
            </a:fld>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Comprehensive</a:t>
            </a:r>
            <a:r>
              <a:rPr lang="en-US" dirty="0"/>
              <a:t> C</a:t>
            </a:r>
            <a:r>
              <a:rPr lang="en-US" dirty="0">
                <a:highlight>
                  <a:srgbClr val="FFFF00"/>
                </a:highlight>
              </a:rPr>
              <a:t>/C++ </a:t>
            </a:r>
            <a:r>
              <a:rPr lang="en-US" dirty="0"/>
              <a:t>Support</a:t>
            </a:r>
          </a:p>
        </p:txBody>
      </p:sp>
      <p:sp>
        <p:nvSpPr>
          <p:cNvPr id="3" name="Content Placeholder 2"/>
          <p:cNvSpPr>
            <a:spLocks noGrp="1"/>
          </p:cNvSpPr>
          <p:nvPr>
            <p:ph idx="1"/>
          </p:nvPr>
        </p:nvSpPr>
        <p:spPr/>
        <p:txBody>
          <a:bodyPr/>
          <a:lstStyle/>
          <a:p>
            <a:r>
              <a:rPr lang="en-US" dirty="0"/>
              <a:t>A Complete C</a:t>
            </a:r>
            <a:r>
              <a:rPr lang="en-US" dirty="0">
                <a:highlight>
                  <a:srgbClr val="FFFF00"/>
                </a:highlight>
              </a:rPr>
              <a:t>/C++ </a:t>
            </a:r>
            <a:r>
              <a:rPr lang="en-US" dirty="0"/>
              <a:t>Validation &amp; Verification Environment</a:t>
            </a:r>
          </a:p>
          <a:p>
            <a:pPr lvl="1"/>
            <a:r>
              <a:rPr lang="en-US" dirty="0" err="1">
                <a:highlight>
                  <a:srgbClr val="FFFF00"/>
                </a:highlight>
              </a:rPr>
              <a:t>Vitis</a:t>
            </a:r>
            <a:r>
              <a:rPr lang="en-US" dirty="0"/>
              <a:t> HLS supports complete bit-accurate validation of the C</a:t>
            </a:r>
            <a:r>
              <a:rPr lang="en-US" dirty="0">
                <a:highlight>
                  <a:srgbClr val="FFFF00"/>
                </a:highlight>
              </a:rPr>
              <a:t>++ </a:t>
            </a:r>
            <a:r>
              <a:rPr lang="en-US" dirty="0"/>
              <a:t>model</a:t>
            </a:r>
          </a:p>
          <a:p>
            <a:pPr lvl="1"/>
            <a:r>
              <a:rPr lang="en-US" dirty="0" err="1">
                <a:highlight>
                  <a:srgbClr val="FFFF00"/>
                </a:highlight>
              </a:rPr>
              <a:t>Vitis</a:t>
            </a:r>
            <a:r>
              <a:rPr lang="en-US" dirty="0"/>
              <a:t> HLS provides a productive C-RTL co-simulation verification solution </a:t>
            </a:r>
          </a:p>
          <a:p>
            <a:r>
              <a:rPr lang="en-US" dirty="0" err="1">
                <a:highlight>
                  <a:srgbClr val="FFFF00"/>
                </a:highlight>
              </a:rPr>
              <a:t>Vitis</a:t>
            </a:r>
            <a:r>
              <a:rPr lang="en-US" dirty="0"/>
              <a:t> HLS supports C, C++ </a:t>
            </a:r>
            <a:r>
              <a:rPr lang="en-US" strike="sngStrike" dirty="0"/>
              <a:t>and SystemC</a:t>
            </a:r>
          </a:p>
          <a:p>
            <a:pPr lvl="1"/>
            <a:r>
              <a:rPr lang="en-US" dirty="0"/>
              <a:t>Functions can be written in </a:t>
            </a:r>
            <a:r>
              <a:rPr lang="en-US" strike="sngStrike" dirty="0"/>
              <a:t>any version of C</a:t>
            </a:r>
            <a:r>
              <a:rPr lang="en-US" dirty="0">
                <a:highlight>
                  <a:srgbClr val="FFFF00"/>
                </a:highlight>
              </a:rPr>
              <a:t>C or C++</a:t>
            </a:r>
            <a:endParaRPr lang="en-US" strike="sngStrike" dirty="0">
              <a:highlight>
                <a:srgbClr val="FFFF00"/>
              </a:highlight>
            </a:endParaRPr>
          </a:p>
          <a:p>
            <a:pPr lvl="1"/>
            <a:r>
              <a:rPr lang="en-US" dirty="0"/>
              <a:t>Wide support for coding constructs in </a:t>
            </a:r>
            <a:r>
              <a:rPr lang="en-US" strike="sngStrike" dirty="0"/>
              <a:t>all three variants of C</a:t>
            </a:r>
            <a:r>
              <a:rPr lang="en-US" dirty="0">
                <a:highlight>
                  <a:srgbClr val="FFFF00"/>
                </a:highlight>
              </a:rPr>
              <a:t>C and C++</a:t>
            </a:r>
            <a:endParaRPr lang="en-US" strike="sngStrike" dirty="0">
              <a:highlight>
                <a:srgbClr val="FFFF00"/>
              </a:highlight>
            </a:endParaRPr>
          </a:p>
          <a:p>
            <a:pPr lvl="2"/>
            <a:r>
              <a:rPr lang="en-US" dirty="0"/>
              <a:t>It’s easier to discuss what’s not supported than what is</a:t>
            </a:r>
          </a:p>
          <a:p>
            <a:r>
              <a:rPr lang="en-US" dirty="0"/>
              <a:t>Modeling with bit-accuracy</a:t>
            </a:r>
          </a:p>
          <a:p>
            <a:pPr lvl="1"/>
            <a:r>
              <a:rPr lang="en-US" dirty="0"/>
              <a:t>Supports arbitrary precision types for </a:t>
            </a:r>
            <a:r>
              <a:rPr lang="en-US" strike="sngStrike" dirty="0"/>
              <a:t>all input languages</a:t>
            </a:r>
            <a:r>
              <a:rPr lang="en-US" dirty="0"/>
              <a:t> </a:t>
            </a:r>
            <a:r>
              <a:rPr lang="en-US" dirty="0">
                <a:highlight>
                  <a:srgbClr val="FFFF00"/>
                </a:highlight>
              </a:rPr>
              <a:t>C++</a:t>
            </a:r>
            <a:endParaRPr lang="en-US" strike="sngStrike" dirty="0">
              <a:highlight>
                <a:srgbClr val="FFFF00"/>
              </a:highlight>
            </a:endParaRPr>
          </a:p>
          <a:p>
            <a:pPr lvl="1"/>
            <a:r>
              <a:rPr lang="en-US" dirty="0"/>
              <a:t>Allowing the exact bit-widths to be modeled and synthesized</a:t>
            </a:r>
          </a:p>
          <a:p>
            <a:r>
              <a:rPr lang="en-US" dirty="0"/>
              <a:t>Floating point support</a:t>
            </a:r>
          </a:p>
          <a:p>
            <a:pPr lvl="1"/>
            <a:r>
              <a:rPr lang="en-US" dirty="0"/>
              <a:t>Support for the use of float and double in the code</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7</a:t>
            </a:fld>
            <a:endParaRPr lang="en-US" dirty="0">
              <a:solidFill>
                <a:srgbClr val="0C0C0C">
                  <a:tint val="75000"/>
                </a:srgbClr>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C/C++ Support</a:t>
            </a:r>
          </a:p>
        </p:txBody>
      </p:sp>
      <p:sp>
        <p:nvSpPr>
          <p:cNvPr id="3" name="Content Placeholder 2"/>
          <p:cNvSpPr>
            <a:spLocks noGrp="1"/>
          </p:cNvSpPr>
          <p:nvPr>
            <p:ph idx="1"/>
          </p:nvPr>
        </p:nvSpPr>
        <p:spPr/>
        <p:txBody>
          <a:bodyPr/>
          <a:lstStyle/>
          <a:p>
            <a:r>
              <a:rPr lang="en-US" dirty="0"/>
              <a:t>Pointers based applications</a:t>
            </a:r>
          </a:p>
          <a:p>
            <a:pPr lvl="1"/>
            <a:r>
              <a:rPr lang="en-US" dirty="0"/>
              <a:t>Multi-access pointer issues and streams</a:t>
            </a:r>
          </a:p>
          <a:p>
            <a:r>
              <a:rPr lang="en-US" dirty="0"/>
              <a:t>Streaming and shift registering applications</a:t>
            </a:r>
          </a:p>
          <a:p>
            <a:pPr lvl="1"/>
            <a:r>
              <a:rPr lang="en-US" dirty="0"/>
              <a:t>Generate efficient hardware from C sources using stream and shift register classes</a:t>
            </a:r>
          </a:p>
          <a:p>
            <a:pPr lvl="0"/>
            <a:r>
              <a:rPr lang="en-US" dirty="0"/>
              <a:t>Support for OpenCV functions</a:t>
            </a:r>
          </a:p>
          <a:p>
            <a:pPr lvl="1"/>
            <a:r>
              <a:rPr lang="en-US" dirty="0"/>
              <a:t>Enable migration of OpenCV designs into Xilinx FPGA</a:t>
            </a:r>
          </a:p>
          <a:p>
            <a:pPr lvl="1"/>
            <a:r>
              <a:rPr lang="en-US" dirty="0" err="1"/>
              <a:t>Vitis</a:t>
            </a:r>
            <a:r>
              <a:rPr lang="en-US" dirty="0"/>
              <a:t> vision libraries target real-time full HD video processing</a:t>
            </a:r>
          </a:p>
        </p:txBody>
      </p:sp>
      <p:sp>
        <p:nvSpPr>
          <p:cNvPr id="5" name="Slide Number Placeholder 5">
            <a:extLst>
              <a:ext uri="{FF2B5EF4-FFF2-40B4-BE49-F238E27FC236}">
                <a16:creationId xmlns:a16="http://schemas.microsoft.com/office/drawing/2014/main" id="{ED5A6FF1-03A3-4C36-92A1-E0B05AE18F39}"/>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8</a:t>
            </a:fld>
            <a:endParaRPr lang="en-US" dirty="0"/>
          </a:p>
        </p:txBody>
      </p:sp>
    </p:spTree>
    <p:extLst>
      <p:ext uri="{BB962C8B-B14F-4D97-AF65-F5344CB8AC3E}">
        <p14:creationId xmlns:p14="http://schemas.microsoft.com/office/powerpoint/2010/main" val="1122673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Comprehensive</a:t>
            </a:r>
            <a:r>
              <a:rPr lang="en-US" dirty="0"/>
              <a:t> </a:t>
            </a:r>
            <a:r>
              <a:rPr lang="en-US" dirty="0">
                <a:highlight>
                  <a:srgbClr val="FFFF00"/>
                </a:highlight>
              </a:rPr>
              <a:t>C/C++ </a:t>
            </a:r>
            <a:r>
              <a:rPr lang="en-US" dirty="0"/>
              <a:t>Support</a:t>
            </a:r>
          </a:p>
        </p:txBody>
      </p:sp>
      <p:sp>
        <p:nvSpPr>
          <p:cNvPr id="3" name="Content Placeholder 2"/>
          <p:cNvSpPr>
            <a:spLocks noGrp="1"/>
          </p:cNvSpPr>
          <p:nvPr>
            <p:ph idx="1"/>
          </p:nvPr>
        </p:nvSpPr>
        <p:spPr/>
        <p:txBody>
          <a:bodyPr/>
          <a:lstStyle/>
          <a:p>
            <a:r>
              <a:rPr lang="en-US" dirty="0"/>
              <a:t>Pointers based applications</a:t>
            </a:r>
          </a:p>
          <a:p>
            <a:pPr lvl="1"/>
            <a:r>
              <a:rPr lang="en-US" dirty="0"/>
              <a:t>Multi-access pointer issues and streams</a:t>
            </a:r>
          </a:p>
          <a:p>
            <a:r>
              <a:rPr lang="en-US" dirty="0"/>
              <a:t>Streaming and shift registering applications</a:t>
            </a:r>
          </a:p>
          <a:p>
            <a:pPr lvl="1"/>
            <a:r>
              <a:rPr lang="en-US" dirty="0"/>
              <a:t>Generate efficient hardware from C sources using stream and shift register classes</a:t>
            </a:r>
          </a:p>
          <a:p>
            <a:pPr lvl="0"/>
            <a:r>
              <a:rPr lang="en-US" dirty="0"/>
              <a:t>Support for OpenCV functions</a:t>
            </a:r>
          </a:p>
          <a:p>
            <a:pPr lvl="1"/>
            <a:r>
              <a:rPr lang="en-US" dirty="0"/>
              <a:t>Enable migration of OpenCV designs into Xilinx FPGA</a:t>
            </a:r>
          </a:p>
          <a:p>
            <a:pPr lvl="1"/>
            <a:r>
              <a:rPr lang="en-US" dirty="0" err="1">
                <a:highlight>
                  <a:srgbClr val="FFFF00"/>
                </a:highlight>
              </a:rPr>
              <a:t>Vitis</a:t>
            </a:r>
            <a:r>
              <a:rPr lang="en-US" dirty="0">
                <a:highlight>
                  <a:srgbClr val="FFFF00"/>
                </a:highlight>
              </a:rPr>
              <a:t> vision </a:t>
            </a:r>
            <a:r>
              <a:rPr lang="en-US" dirty="0"/>
              <a:t>libraries target real-time full HD video processing</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9</a:t>
            </a:fld>
            <a:endParaRPr lang="en-US" dirty="0">
              <a:solidFill>
                <a:srgbClr val="0C0C0C">
                  <a:tint val="75000"/>
                </a:srgbClr>
              </a:solidFill>
              <a:latin typeface="Arial"/>
            </a:endParaRPr>
          </a:p>
        </p:txBody>
      </p:sp>
    </p:spTree>
    <p:extLst>
      <p:ext uri="{BB962C8B-B14F-4D97-AF65-F5344CB8AC3E}">
        <p14:creationId xmlns:p14="http://schemas.microsoft.com/office/powerpoint/2010/main" val="35564728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 Support</a:t>
            </a:r>
          </a:p>
        </p:txBody>
      </p:sp>
      <p:sp>
        <p:nvSpPr>
          <p:cNvPr id="3" name="Content Placeholder 2"/>
          <p:cNvSpPr>
            <a:spLocks noGrp="1"/>
          </p:cNvSpPr>
          <p:nvPr>
            <p:ph idx="1"/>
          </p:nvPr>
        </p:nvSpPr>
        <p:spPr/>
        <p:txBody>
          <a:bodyPr/>
          <a:lstStyle/>
          <a:p>
            <a:r>
              <a:rPr lang="en-US" dirty="0"/>
              <a:t>The vast majority of C, C++ is supported</a:t>
            </a:r>
          </a:p>
          <a:p>
            <a:pPr lvl="1"/>
            <a:r>
              <a:rPr lang="en-US" dirty="0"/>
              <a:t>Provided it is statically defined at </a:t>
            </a:r>
            <a:r>
              <a:rPr lang="en-US" b="1" u="sng" dirty="0"/>
              <a:t>compile time</a:t>
            </a:r>
          </a:p>
          <a:p>
            <a:pPr lvl="1"/>
            <a:r>
              <a:rPr lang="en-US" dirty="0"/>
              <a:t>The C constructs must be of a fixed or bounded size and must be </a:t>
            </a:r>
            <a:r>
              <a:rPr lang="en-US" dirty="0" err="1"/>
              <a:t>unamiguous</a:t>
            </a:r>
            <a:endParaRPr lang="en-US" dirty="0"/>
          </a:p>
          <a:p>
            <a:pPr lvl="1"/>
            <a:r>
              <a:rPr lang="en-US" dirty="0"/>
              <a:t>If it’s not defined until </a:t>
            </a:r>
            <a:r>
              <a:rPr lang="en-US" b="1" u="sng" dirty="0"/>
              <a:t>run time</a:t>
            </a:r>
            <a:r>
              <a:rPr lang="en-US" dirty="0"/>
              <a:t>, it won’t be synthesizable</a:t>
            </a:r>
          </a:p>
          <a:p>
            <a:pPr lvl="1"/>
            <a:r>
              <a:rPr lang="en-US" dirty="0"/>
              <a:t>System calls to OS are not synthesizable</a:t>
            </a:r>
          </a:p>
          <a:p>
            <a:pPr lvl="1"/>
            <a:r>
              <a:rPr lang="en-US" dirty="0"/>
              <a:t>If C is used, </a:t>
            </a:r>
            <a:r>
              <a:rPr lang="en-US" dirty="0" err="1"/>
              <a:t>Vitis</a:t>
            </a:r>
            <a:r>
              <a:rPr lang="en-US" dirty="0"/>
              <a:t> HLS expects the file extensions to be .c</a:t>
            </a:r>
          </a:p>
          <a:p>
            <a:pPr lvl="1"/>
            <a:r>
              <a:rPr lang="en-US" dirty="0"/>
              <a:t>For C++ it expects file extensions .</a:t>
            </a:r>
            <a:r>
              <a:rPr lang="en-US" dirty="0" err="1"/>
              <a:t>cpp</a:t>
            </a:r>
            <a:endParaRPr lang="en-US" dirty="0"/>
          </a:p>
          <a:p>
            <a:r>
              <a:rPr lang="en-US" dirty="0"/>
              <a:t>Let’s look at an example using a FIR</a:t>
            </a:r>
          </a:p>
          <a:p>
            <a:pPr lvl="1"/>
            <a:r>
              <a:rPr lang="en-US" dirty="0"/>
              <a:t>Single data input x</a:t>
            </a:r>
          </a:p>
          <a:p>
            <a:pPr lvl="1"/>
            <a:r>
              <a:rPr lang="en-US" dirty="0"/>
              <a:t>Coefficients are stored in a ROM</a:t>
            </a:r>
          </a:p>
          <a:p>
            <a:pPr lvl="1"/>
            <a:r>
              <a:rPr lang="en-US" dirty="0"/>
              <a:t>A single output: function return</a:t>
            </a:r>
          </a:p>
          <a:p>
            <a:pPr lvl="1"/>
            <a:endParaRPr lang="en-US" dirty="0"/>
          </a:p>
          <a:p>
            <a:pPr lvl="1"/>
            <a:endParaRPr lang="en-US" dirty="0"/>
          </a:p>
        </p:txBody>
      </p:sp>
      <p:sp>
        <p:nvSpPr>
          <p:cNvPr id="5" name="Slide Number Placeholder 5">
            <a:extLst>
              <a:ext uri="{FF2B5EF4-FFF2-40B4-BE49-F238E27FC236}">
                <a16:creationId xmlns:a16="http://schemas.microsoft.com/office/drawing/2014/main" id="{9B97B338-BC3C-4D58-88A6-FC70C3811D2B}"/>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10</a:t>
            </a:fld>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 </a:t>
            </a:r>
            <a:r>
              <a:rPr lang="en-US" strike="sngStrike" dirty="0"/>
              <a:t>and SystemC </a:t>
            </a:r>
            <a:r>
              <a:rPr lang="en-US" dirty="0"/>
              <a:t>Support</a:t>
            </a:r>
          </a:p>
        </p:txBody>
      </p:sp>
      <p:sp>
        <p:nvSpPr>
          <p:cNvPr id="3" name="Content Placeholder 2"/>
          <p:cNvSpPr>
            <a:spLocks noGrp="1"/>
          </p:cNvSpPr>
          <p:nvPr>
            <p:ph idx="1"/>
          </p:nvPr>
        </p:nvSpPr>
        <p:spPr/>
        <p:txBody>
          <a:bodyPr/>
          <a:lstStyle/>
          <a:p>
            <a:r>
              <a:rPr lang="en-US" dirty="0"/>
              <a:t>The vast majority of C, C++ </a:t>
            </a:r>
            <a:r>
              <a:rPr lang="en-US" strike="sngStrike" dirty="0"/>
              <a:t>and SystemC</a:t>
            </a:r>
            <a:r>
              <a:rPr lang="en-US" dirty="0"/>
              <a:t> is supported</a:t>
            </a:r>
          </a:p>
          <a:p>
            <a:pPr lvl="1"/>
            <a:r>
              <a:rPr lang="en-US" dirty="0"/>
              <a:t>Provided it is statically defined at </a:t>
            </a:r>
            <a:r>
              <a:rPr lang="en-US" b="1" u="sng" dirty="0"/>
              <a:t>compile time</a:t>
            </a:r>
          </a:p>
          <a:p>
            <a:pPr lvl="1"/>
            <a:r>
              <a:rPr lang="en-US" dirty="0"/>
              <a:t>The C constructs must be of a fixed or bounded size and must be </a:t>
            </a:r>
            <a:r>
              <a:rPr lang="en-US" dirty="0" err="1"/>
              <a:t>unamiguous</a:t>
            </a:r>
            <a:endParaRPr lang="en-US" dirty="0"/>
          </a:p>
          <a:p>
            <a:pPr lvl="1"/>
            <a:r>
              <a:rPr lang="en-US" dirty="0"/>
              <a:t>If it’s not defined until </a:t>
            </a:r>
            <a:r>
              <a:rPr lang="en-US" b="1" u="sng" dirty="0"/>
              <a:t>run time</a:t>
            </a:r>
            <a:r>
              <a:rPr lang="en-US" dirty="0"/>
              <a:t>, it won’t be synthesizable</a:t>
            </a:r>
          </a:p>
          <a:p>
            <a:pPr lvl="1"/>
            <a:r>
              <a:rPr lang="en-US" dirty="0"/>
              <a:t>System calls to OS are not synthesizable</a:t>
            </a:r>
          </a:p>
          <a:p>
            <a:r>
              <a:rPr lang="en-US" strike="sngStrike" dirty="0"/>
              <a:t>Any of the three variants of C can be used</a:t>
            </a:r>
          </a:p>
          <a:p>
            <a:pPr lvl="1"/>
            <a:r>
              <a:rPr lang="en-US" dirty="0"/>
              <a:t>If C is used, </a:t>
            </a:r>
            <a:r>
              <a:rPr lang="en-US" dirty="0" err="1">
                <a:highlight>
                  <a:srgbClr val="FFFF00"/>
                </a:highlight>
              </a:rPr>
              <a:t>Vitis</a:t>
            </a:r>
            <a:r>
              <a:rPr lang="en-US" dirty="0"/>
              <a:t> HLS expects the file extensions to be .c</a:t>
            </a:r>
          </a:p>
          <a:p>
            <a:pPr lvl="1"/>
            <a:r>
              <a:rPr lang="en-US" dirty="0"/>
              <a:t>For C</a:t>
            </a:r>
            <a:r>
              <a:rPr lang="en-US" strike="sngStrike" dirty="0"/>
              <a:t>++ and SystemC </a:t>
            </a:r>
            <a:r>
              <a:rPr lang="en-US" dirty="0"/>
              <a:t>it expects file extensions .</a:t>
            </a:r>
            <a:r>
              <a:rPr lang="en-US" dirty="0" err="1"/>
              <a:t>cpp</a:t>
            </a:r>
            <a:endParaRPr lang="en-US" dirty="0"/>
          </a:p>
          <a:p>
            <a:r>
              <a:rPr lang="en-US" dirty="0"/>
              <a:t>Let’s look at an example using a FIR</a:t>
            </a:r>
          </a:p>
          <a:p>
            <a:pPr lvl="1"/>
            <a:r>
              <a:rPr lang="en-US" dirty="0"/>
              <a:t>Single data input x</a:t>
            </a:r>
          </a:p>
          <a:p>
            <a:pPr lvl="1"/>
            <a:r>
              <a:rPr lang="en-US" dirty="0"/>
              <a:t>Coefficients are stored in a ROM</a:t>
            </a:r>
          </a:p>
          <a:p>
            <a:pPr lvl="1"/>
            <a:r>
              <a:rPr lang="en-US" dirty="0"/>
              <a:t>A single output: function return</a:t>
            </a:r>
          </a:p>
          <a:p>
            <a:pPr lvl="1"/>
            <a:endParaRPr lang="en-US" dirty="0"/>
          </a:p>
          <a:p>
            <a:pPr lvl="1"/>
            <a:endParaRPr lang="en-US" dirty="0"/>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11</a:t>
            </a:fld>
            <a:endParaRPr lang="en-US" dirty="0">
              <a:solidFill>
                <a:srgbClr val="0C0C0C">
                  <a:tint val="75000"/>
                </a:srgbClr>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FIR Filter with C</a:t>
            </a:r>
          </a:p>
        </p:txBody>
      </p:sp>
      <p:sp>
        <p:nvSpPr>
          <p:cNvPr id="3" name="Content Placeholder 2"/>
          <p:cNvSpPr>
            <a:spLocks noGrp="1"/>
          </p:cNvSpPr>
          <p:nvPr>
            <p:ph idx="1"/>
          </p:nvPr>
        </p:nvSpPr>
        <p:spPr>
          <a:xfrm>
            <a:off x="579119" y="1210056"/>
            <a:ext cx="10515600" cy="4759404"/>
          </a:xfrm>
        </p:spPr>
        <p:txBody>
          <a:bodyPr>
            <a:noAutofit/>
          </a:bodyPr>
          <a:lstStyle/>
          <a:p>
            <a:r>
              <a:rPr lang="en-US" sz="1800" dirty="0"/>
              <a:t>C coding style</a:t>
            </a:r>
          </a:p>
          <a:p>
            <a:pPr lvl="1"/>
            <a:r>
              <a:rPr lang="en-US" sz="1600" dirty="0"/>
              <a:t>The top-level function defines the IO ports</a:t>
            </a:r>
          </a:p>
          <a:p>
            <a:pPr lvl="1"/>
            <a:r>
              <a:rPr lang="en-US" sz="1600" dirty="0"/>
              <a:t>If required, sub-functions can be added</a:t>
            </a:r>
          </a:p>
          <a:p>
            <a:r>
              <a:rPr lang="en-US" sz="1800" dirty="0"/>
              <a:t>Storage</a:t>
            </a:r>
          </a:p>
          <a:p>
            <a:pPr lvl="1"/>
            <a:r>
              <a:rPr lang="en-US" sz="1600" dirty="0"/>
              <a:t>Static: required for anything which must hold it’s </a:t>
            </a:r>
            <a:br>
              <a:rPr lang="en-US" sz="1600" dirty="0"/>
            </a:br>
            <a:r>
              <a:rPr lang="en-US" sz="1600" dirty="0"/>
              <a:t>value between invocations</a:t>
            </a:r>
          </a:p>
          <a:p>
            <a:pPr lvl="2"/>
            <a:r>
              <a:rPr lang="en-US" sz="1400" dirty="0"/>
              <a:t>A C simulation will confirm what is required to be </a:t>
            </a:r>
            <a:br>
              <a:rPr lang="en-US" sz="1400" dirty="0"/>
            </a:br>
            <a:r>
              <a:rPr lang="en-US" sz="1400" dirty="0"/>
              <a:t>a static</a:t>
            </a:r>
          </a:p>
          <a:p>
            <a:pPr lvl="2"/>
            <a:r>
              <a:rPr lang="en-US" sz="1400" dirty="0"/>
              <a:t>Will become a register or memory</a:t>
            </a:r>
          </a:p>
          <a:p>
            <a:pPr lvl="2"/>
            <a:r>
              <a:rPr lang="en-US" sz="1400" dirty="0"/>
              <a:t>Other variables may become storage, depending on </a:t>
            </a:r>
            <a:br>
              <a:rPr lang="en-US" sz="1400" dirty="0"/>
            </a:br>
            <a:r>
              <a:rPr lang="en-US" sz="1400" dirty="0"/>
              <a:t>the implementation</a:t>
            </a:r>
          </a:p>
          <a:p>
            <a:pPr lvl="1"/>
            <a:r>
              <a:rPr lang="en-US" sz="1600" dirty="0"/>
              <a:t>Const: ensures the values are seen as constants </a:t>
            </a:r>
            <a:br>
              <a:rPr lang="en-US" sz="1600" dirty="0"/>
            </a:br>
            <a:r>
              <a:rPr lang="en-US" sz="1600" dirty="0"/>
              <a:t>which never changed</a:t>
            </a:r>
          </a:p>
          <a:p>
            <a:r>
              <a:rPr lang="en-US" sz="1800" dirty="0"/>
              <a:t>FIR details</a:t>
            </a:r>
          </a:p>
          <a:p>
            <a:pPr lvl="1"/>
            <a:r>
              <a:rPr lang="en-US" sz="1600" dirty="0"/>
              <a:t>Coefficients are loaded from a file</a:t>
            </a:r>
          </a:p>
          <a:p>
            <a:pPr lvl="2"/>
            <a:r>
              <a:rPr lang="en-US" sz="1400" dirty="0"/>
              <a:t>Use the “const” keyword to ensure the data is seen as </a:t>
            </a:r>
            <a:br>
              <a:rPr lang="en-US" sz="1400" dirty="0"/>
            </a:br>
            <a:r>
              <a:rPr lang="en-US" sz="1400" dirty="0"/>
              <a:t>constant and a ROM is used</a:t>
            </a:r>
          </a:p>
        </p:txBody>
      </p:sp>
      <p:sp>
        <p:nvSpPr>
          <p:cNvPr id="12" name="TextBox 11">
            <a:extLst>
              <a:ext uri="{FF2B5EF4-FFF2-40B4-BE49-F238E27FC236}">
                <a16:creationId xmlns:a16="http://schemas.microsoft.com/office/drawing/2014/main" id="{F26D0B01-A3FE-4262-B6CF-88318EFE2E99}"/>
              </a:ext>
            </a:extLst>
          </p:cNvPr>
          <p:cNvSpPr txBox="1"/>
          <p:nvPr/>
        </p:nvSpPr>
        <p:spPr>
          <a:xfrm>
            <a:off x="6249581" y="2008017"/>
            <a:ext cx="3532340" cy="424731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fir (</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tabLst>
                <a:tab pos="457200" algn="l"/>
              </a:tabLst>
              <a:defRPr/>
            </a:pPr>
            <a:r>
              <a:rPr lang="en-US" sz="1000" kern="0" dirty="0">
                <a:solidFill>
                  <a:srgbClr val="000000"/>
                </a:solidFill>
                <a:latin typeface="Arial"/>
              </a:rPr>
              <a:t>      ) {</a:t>
            </a:r>
          </a:p>
          <a:p>
            <a:pPr defTabSz="914400" fontAlgn="base">
              <a:spcBef>
                <a:spcPct val="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[N];</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50000"/>
              </a:spcBef>
              <a:spcAft>
                <a:spcPct val="0"/>
              </a:spcAft>
              <a:tabLst>
                <a:tab pos="457200" algn="l"/>
              </a:tabLst>
              <a:defRPr/>
            </a:pPr>
            <a:r>
              <a:rPr lang="en-US" altLang="zh-CN" sz="1000" kern="0" dirty="0">
                <a:solidFill>
                  <a:srgbClr val="000000"/>
                </a:solidFill>
                <a:latin typeface="Arial"/>
                <a:ea typeface="宋体" charset="-122"/>
              </a:rPr>
              <a:t>     const </a:t>
            </a:r>
            <a:r>
              <a:rPr lang="en-US" altLang="zh-CN" sz="1000" kern="0" dirty="0" err="1">
                <a:solidFill>
                  <a:srgbClr val="000000"/>
                </a:solidFill>
                <a:latin typeface="Arial"/>
                <a:ea typeface="宋体" charset="-122"/>
              </a:rPr>
              <a:t>coef_t</a:t>
            </a:r>
            <a:r>
              <a:rPr lang="en-US" altLang="zh-CN" sz="1000" kern="0" dirty="0">
                <a:solidFill>
                  <a:srgbClr val="000000"/>
                </a:solidFill>
                <a:latin typeface="Arial"/>
                <a:ea typeface="宋体" charset="-122"/>
              </a:rPr>
              <a:t> c[N+1]={</a:t>
            </a:r>
          </a:p>
          <a:p>
            <a:pPr defTabSz="914400" fontAlgn="base">
              <a:spcBef>
                <a:spcPct val="50000"/>
              </a:spcBef>
              <a:spcAft>
                <a:spcPct val="0"/>
              </a:spcAft>
              <a:tabLst>
                <a:tab pos="457200" algn="l"/>
              </a:tabLst>
              <a:defRPr/>
            </a:pPr>
            <a:r>
              <a:rPr lang="en-US" altLang="zh-CN" sz="1000" kern="0" dirty="0">
                <a:solidFill>
                  <a:srgbClr val="000000"/>
                </a:solidFill>
                <a:latin typeface="Arial"/>
                <a:ea typeface="宋体" charset="-122"/>
              </a:rPr>
              <a:t>#include "</a:t>
            </a:r>
            <a:r>
              <a:rPr lang="en-US" altLang="zh-CN" sz="1000" kern="0" dirty="0" err="1">
                <a:solidFill>
                  <a:srgbClr val="000000"/>
                </a:solidFill>
                <a:latin typeface="Arial"/>
                <a:ea typeface="宋体" charset="-122"/>
              </a:rPr>
              <a:t>fir_coef.h</a:t>
            </a:r>
            <a:r>
              <a:rPr lang="en-US" altLang="zh-CN" sz="1000" kern="0" dirty="0">
                <a:solidFill>
                  <a:srgbClr val="000000"/>
                </a:solidFill>
                <a:latin typeface="Arial"/>
                <a:ea typeface="宋体" charset="-122"/>
              </a:rPr>
              <a:t>"</a:t>
            </a:r>
          </a:p>
          <a:p>
            <a:pPr defTabSz="914400" fontAlgn="base">
              <a:spcBef>
                <a:spcPct val="50000"/>
              </a:spcBef>
              <a:spcAft>
                <a:spcPct val="0"/>
              </a:spcAft>
              <a:tabLst>
                <a:tab pos="457200" algn="l"/>
              </a:tabLst>
              <a:defRPr/>
            </a:pPr>
            <a:r>
              <a:rPr lang="en-US" altLang="zh-CN" sz="1000" kern="0" dirty="0">
                <a:solidFill>
                  <a:srgbClr val="000000"/>
                </a:solidFill>
                <a:latin typeface="Arial"/>
                <a:ea typeface="宋体" charset="-122"/>
              </a:rPr>
              <a:t>      };</a:t>
            </a:r>
          </a:p>
          <a:p>
            <a:pPr defTabSz="914400" fontAlgn="base">
              <a:spcBef>
                <a:spcPct val="5000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acc=0;</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b="1" kern="0" dirty="0" err="1">
                <a:solidFill>
                  <a:srgbClr val="000000"/>
                </a:solidFill>
                <a:latin typeface="Arial"/>
              </a:rPr>
              <a:t>mac_loop</a:t>
            </a:r>
            <a:r>
              <a:rPr lang="en-US" sz="1000" kern="0" dirty="0">
                <a:solidFill>
                  <a:srgbClr val="000000"/>
                </a:solidFill>
                <a:latin typeface="Arial"/>
              </a:rPr>
              <a:t>: for (</a:t>
            </a:r>
            <a:r>
              <a:rPr lang="en-US" sz="1000" kern="0" dirty="0" err="1">
                <a:solidFill>
                  <a:srgbClr val="000000"/>
                </a:solidFill>
                <a:latin typeface="Arial"/>
              </a:rPr>
              <a:t>i</a:t>
            </a:r>
            <a:r>
              <a:rPr lang="en-US" sz="1000" kern="0" dirty="0">
                <a:solidFill>
                  <a:srgbClr val="000000"/>
                </a:solidFill>
                <a:latin typeface="Arial"/>
              </a:rPr>
              <a:t>=N-1;i&gt;=0;i--) {</a:t>
            </a:r>
          </a:p>
          <a:p>
            <a:pPr defTabSz="914400" fontAlgn="base">
              <a:spcBef>
                <a:spcPct val="0"/>
              </a:spcBef>
              <a:spcAft>
                <a:spcPct val="0"/>
              </a:spcAft>
              <a:tabLst>
                <a:tab pos="457200" algn="l"/>
              </a:tabLs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tabLst>
                <a:tab pos="457200" algn="l"/>
              </a:tabLst>
              <a:defRPr/>
            </a:pPr>
            <a:r>
              <a:rPr lang="en-US" sz="1000" kern="0" dirty="0">
                <a:solidFill>
                  <a:srgbClr val="000000"/>
                </a:solidFill>
                <a:latin typeface="Arial"/>
              </a:rPr>
              <a:t>           acc+=x*c[0];</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tabLst>
                <a:tab pos="457200" algn="l"/>
              </a:tabLst>
              <a:defRPr/>
            </a:pPr>
            <a:r>
              <a:rPr lang="en-US" sz="1000" kern="0" dirty="0">
                <a:solidFill>
                  <a:srgbClr val="000000"/>
                </a:solidFill>
                <a:latin typeface="Arial"/>
              </a:rPr>
              <a:t>         } else {</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tabLst>
                <a:tab pos="457200" algn="l"/>
              </a:tabLs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return=acc;</a:t>
            </a:r>
          </a:p>
          <a:p>
            <a:pPr defTabSz="914400" fontAlgn="base">
              <a:spcBef>
                <a:spcPct val="0"/>
              </a:spcBef>
              <a:spcAft>
                <a:spcPct val="0"/>
              </a:spcAft>
              <a:tabLst>
                <a:tab pos="457200" algn="l"/>
              </a:tabLst>
              <a:defRPr/>
            </a:pPr>
            <a:r>
              <a:rPr lang="en-US" sz="1000" kern="0" dirty="0">
                <a:solidFill>
                  <a:srgbClr val="000000"/>
                </a:solidFill>
                <a:latin typeface="Arial"/>
              </a:rPr>
              <a:t>     }</a:t>
            </a:r>
          </a:p>
        </p:txBody>
      </p:sp>
      <p:cxnSp>
        <p:nvCxnSpPr>
          <p:cNvPr id="14" name="Straight Arrow Connector 13">
            <a:extLst>
              <a:ext uri="{FF2B5EF4-FFF2-40B4-BE49-F238E27FC236}">
                <a16:creationId xmlns:a16="http://schemas.microsoft.com/office/drawing/2014/main" id="{91F9F5B1-C897-4188-B71B-C7A8B8E471CB}"/>
              </a:ext>
            </a:extLst>
          </p:cNvPr>
          <p:cNvCxnSpPr/>
          <p:nvPr/>
        </p:nvCxnSpPr>
        <p:spPr>
          <a:xfrm flipH="1">
            <a:off x="8297317" y="3659430"/>
            <a:ext cx="1638185" cy="0"/>
          </a:xfrm>
          <a:prstGeom prst="straightConnector1">
            <a:avLst/>
          </a:prstGeom>
          <a:noFill/>
          <a:ln w="38100" cap="flat" cmpd="sng" algn="ctr">
            <a:solidFill>
              <a:srgbClr val="000000"/>
            </a:solidFill>
            <a:prstDash val="solid"/>
            <a:headEnd type="none" w="med" len="med"/>
            <a:tailEnd type="triangle" w="med" len="med"/>
          </a:ln>
          <a:effectLst>
            <a:outerShdw blurRad="40000" dist="20000" dir="5400000" rotWithShape="0">
              <a:srgbClr val="000000">
                <a:alpha val="38000"/>
              </a:srgbClr>
            </a:outerShdw>
          </a:effectLst>
        </p:spPr>
      </p:cxnSp>
      <p:sp>
        <p:nvSpPr>
          <p:cNvPr id="17" name="TextBox 16">
            <a:extLst>
              <a:ext uri="{FF2B5EF4-FFF2-40B4-BE49-F238E27FC236}">
                <a16:creationId xmlns:a16="http://schemas.microsoft.com/office/drawing/2014/main" id="{D6F4EF95-C223-4082-96E9-7EE7B03DEB0A}"/>
              </a:ext>
            </a:extLst>
          </p:cNvPr>
          <p:cNvSpPr txBox="1"/>
          <p:nvPr/>
        </p:nvSpPr>
        <p:spPr>
          <a:xfrm>
            <a:off x="8727513" y="1854395"/>
            <a:ext cx="431528"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ctr" defTabSz="914400" fontAlgn="base">
              <a:spcBef>
                <a:spcPct val="0"/>
              </a:spcBef>
              <a:spcAft>
                <a:spcPct val="0"/>
              </a:spcAft>
              <a:defRPr/>
            </a:pPr>
            <a:r>
              <a:rPr lang="en-US" sz="1050" b="1" kern="0" dirty="0" err="1">
                <a:solidFill>
                  <a:srgbClr val="FFFFFF"/>
                </a:solidFill>
                <a:latin typeface="Arial"/>
              </a:rPr>
              <a:t>fir.c</a:t>
            </a:r>
            <a:endParaRPr lang="en-US" sz="1050" b="1" kern="0" dirty="0">
              <a:solidFill>
                <a:srgbClr val="FFFFFF"/>
              </a:solidFill>
              <a:latin typeface="Arial"/>
            </a:endParaRPr>
          </a:p>
        </p:txBody>
      </p:sp>
      <p:sp>
        <p:nvSpPr>
          <p:cNvPr id="18" name="TextBox 17">
            <a:extLst>
              <a:ext uri="{FF2B5EF4-FFF2-40B4-BE49-F238E27FC236}">
                <a16:creationId xmlns:a16="http://schemas.microsoft.com/office/drawing/2014/main" id="{54C2B479-C3B8-4F01-8943-87AA3C245943}"/>
              </a:ext>
            </a:extLst>
          </p:cNvPr>
          <p:cNvSpPr txBox="1"/>
          <p:nvPr/>
        </p:nvSpPr>
        <p:spPr>
          <a:xfrm>
            <a:off x="10037888" y="2872856"/>
            <a:ext cx="716707" cy="178510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-1,</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84,</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370,</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88,</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a:t>
            </a:r>
          </a:p>
        </p:txBody>
      </p:sp>
      <p:sp>
        <p:nvSpPr>
          <p:cNvPr id="19" name="TextBox 18">
            <a:extLst>
              <a:ext uri="{FF2B5EF4-FFF2-40B4-BE49-F238E27FC236}">
                <a16:creationId xmlns:a16="http://schemas.microsoft.com/office/drawing/2014/main" id="{0D749868-CFD9-40CF-BC02-1BDD29E33251}"/>
              </a:ext>
            </a:extLst>
          </p:cNvPr>
          <p:cNvSpPr txBox="1"/>
          <p:nvPr/>
        </p:nvSpPr>
        <p:spPr>
          <a:xfrm>
            <a:off x="9833114" y="2565616"/>
            <a:ext cx="122864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fir_coeff.h</a:t>
            </a:r>
            <a:endParaRPr lang="en-US" sz="1050" b="1" kern="0" dirty="0">
              <a:solidFill>
                <a:srgbClr val="FFFFFF"/>
              </a:solidFill>
              <a:latin typeface="Arial"/>
            </a:endParaRPr>
          </a:p>
        </p:txBody>
      </p:sp>
      <p:sp>
        <p:nvSpPr>
          <p:cNvPr id="10" name="Slide Number Placeholder 5">
            <a:extLst>
              <a:ext uri="{FF2B5EF4-FFF2-40B4-BE49-F238E27FC236}">
                <a16:creationId xmlns:a16="http://schemas.microsoft.com/office/drawing/2014/main" id="{D52D62E4-40B4-48F1-AC78-46668A978DDF}"/>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FIR Filter with C</a:t>
            </a:r>
          </a:p>
        </p:txBody>
      </p:sp>
      <p:sp>
        <p:nvSpPr>
          <p:cNvPr id="3" name="Content Placeholder 2"/>
          <p:cNvSpPr>
            <a:spLocks noGrp="1"/>
          </p:cNvSpPr>
          <p:nvPr>
            <p:ph idx="1"/>
          </p:nvPr>
        </p:nvSpPr>
        <p:spPr/>
        <p:txBody>
          <a:bodyPr>
            <a:noAutofit/>
          </a:bodyPr>
          <a:lstStyle/>
          <a:p>
            <a:r>
              <a:rPr lang="en-US" sz="1800" dirty="0"/>
              <a:t>C coding style</a:t>
            </a:r>
          </a:p>
          <a:p>
            <a:pPr lvl="1"/>
            <a:r>
              <a:rPr lang="en-US" sz="1600" dirty="0"/>
              <a:t>The top-level function defines the IO ports</a:t>
            </a:r>
          </a:p>
          <a:p>
            <a:pPr lvl="1"/>
            <a:r>
              <a:rPr lang="en-US" sz="1600" dirty="0"/>
              <a:t>If required, sub-functions can be added</a:t>
            </a:r>
          </a:p>
          <a:p>
            <a:r>
              <a:rPr lang="en-US" sz="1800" dirty="0"/>
              <a:t>Storage</a:t>
            </a:r>
          </a:p>
          <a:p>
            <a:pPr lvl="1"/>
            <a:r>
              <a:rPr lang="en-US" sz="1600" dirty="0"/>
              <a:t>Static: required for anything which must hold it’s </a:t>
            </a:r>
            <a:br>
              <a:rPr lang="en-US" sz="1600" dirty="0"/>
            </a:br>
            <a:r>
              <a:rPr lang="en-US" sz="1600" dirty="0"/>
              <a:t>value between invocations</a:t>
            </a:r>
          </a:p>
          <a:p>
            <a:pPr lvl="2"/>
            <a:r>
              <a:rPr lang="en-US" sz="1400" dirty="0"/>
              <a:t>A C simulation will confirm what is required to be </a:t>
            </a:r>
            <a:br>
              <a:rPr lang="en-US" sz="1400" dirty="0"/>
            </a:br>
            <a:r>
              <a:rPr lang="en-US" sz="1400" dirty="0"/>
              <a:t>a static</a:t>
            </a:r>
          </a:p>
          <a:p>
            <a:pPr lvl="2"/>
            <a:r>
              <a:rPr lang="en-US" sz="1400" dirty="0"/>
              <a:t>Will become a register or memory</a:t>
            </a:r>
          </a:p>
          <a:p>
            <a:pPr lvl="2"/>
            <a:r>
              <a:rPr lang="en-US" sz="1400" dirty="0"/>
              <a:t>Other variables may become storage, depending on </a:t>
            </a:r>
            <a:br>
              <a:rPr lang="en-US" sz="1400" dirty="0"/>
            </a:br>
            <a:r>
              <a:rPr lang="en-US" sz="1400" dirty="0"/>
              <a:t>the implementation</a:t>
            </a:r>
          </a:p>
          <a:p>
            <a:pPr lvl="1"/>
            <a:r>
              <a:rPr lang="en-US" sz="1600" dirty="0"/>
              <a:t>Const: ensures the values are seen as constants </a:t>
            </a:r>
            <a:br>
              <a:rPr lang="en-US" sz="1600" dirty="0"/>
            </a:br>
            <a:r>
              <a:rPr lang="en-US" sz="1600" dirty="0"/>
              <a:t>which never changed</a:t>
            </a:r>
          </a:p>
          <a:p>
            <a:r>
              <a:rPr lang="en-US" sz="1800" dirty="0"/>
              <a:t>FIR details</a:t>
            </a:r>
          </a:p>
          <a:p>
            <a:pPr lvl="1"/>
            <a:r>
              <a:rPr lang="en-US" sz="1600" dirty="0"/>
              <a:t>Coefficients are loaded from a file</a:t>
            </a:r>
          </a:p>
          <a:p>
            <a:pPr lvl="2"/>
            <a:r>
              <a:rPr lang="en-US" sz="1400" dirty="0"/>
              <a:t>Use the “const” keyword to ensure the data is seen as </a:t>
            </a:r>
            <a:br>
              <a:rPr lang="en-US" sz="1400" dirty="0"/>
            </a:br>
            <a:r>
              <a:rPr lang="en-US" sz="1400" dirty="0"/>
              <a:t>constant and a ROM is used</a:t>
            </a: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13</a:t>
            </a:fld>
            <a:endParaRPr lang="en-US" dirty="0">
              <a:solidFill>
                <a:srgbClr val="0C0C0C">
                  <a:tint val="75000"/>
                </a:srgbClr>
              </a:solidFill>
              <a:latin typeface="Arial"/>
            </a:endParaRPr>
          </a:p>
        </p:txBody>
      </p:sp>
      <p:sp>
        <p:nvSpPr>
          <p:cNvPr id="12" name="TextBox 11">
            <a:extLst>
              <a:ext uri="{FF2B5EF4-FFF2-40B4-BE49-F238E27FC236}">
                <a16:creationId xmlns:a16="http://schemas.microsoft.com/office/drawing/2014/main" id="{F26D0B01-A3FE-4262-B6CF-88318EFE2E99}"/>
              </a:ext>
            </a:extLst>
          </p:cNvPr>
          <p:cNvSpPr txBox="1"/>
          <p:nvPr/>
        </p:nvSpPr>
        <p:spPr>
          <a:xfrm>
            <a:off x="6249581" y="2008017"/>
            <a:ext cx="3532340" cy="424731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fir (</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tabLst>
                <a:tab pos="457200" algn="l"/>
              </a:tabLst>
              <a:defRPr/>
            </a:pPr>
            <a:r>
              <a:rPr lang="en-US" sz="1000" kern="0" dirty="0">
                <a:solidFill>
                  <a:srgbClr val="000000"/>
                </a:solidFill>
                <a:latin typeface="Arial"/>
              </a:rPr>
              <a:t>      ) {</a:t>
            </a:r>
          </a:p>
          <a:p>
            <a:pPr defTabSz="914400" fontAlgn="base">
              <a:spcBef>
                <a:spcPct val="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static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[N];</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int</a:t>
            </a:r>
            <a:r>
              <a:rPr lang="en-US" sz="1000" kern="0" dirty="0">
                <a:solidFill>
                  <a:srgbClr val="000000"/>
                </a:solidFill>
                <a:latin typeface="Arial"/>
              </a:rPr>
              <a: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50000"/>
              </a:spcBef>
              <a:spcAft>
                <a:spcPct val="0"/>
              </a:spcAft>
              <a:tabLst>
                <a:tab pos="457200" algn="l"/>
              </a:tabLst>
              <a:defRPr/>
            </a:pPr>
            <a:r>
              <a:rPr lang="en-US" altLang="zh-CN" sz="1000" kern="0" dirty="0">
                <a:solidFill>
                  <a:srgbClr val="000000"/>
                </a:solidFill>
                <a:latin typeface="Arial"/>
                <a:ea typeface="宋体" charset="-122"/>
              </a:rPr>
              <a:t>     const </a:t>
            </a:r>
            <a:r>
              <a:rPr lang="en-US" altLang="zh-CN" sz="1000" kern="0" dirty="0" err="1">
                <a:solidFill>
                  <a:srgbClr val="000000"/>
                </a:solidFill>
                <a:latin typeface="Arial"/>
                <a:ea typeface="宋体" charset="-122"/>
              </a:rPr>
              <a:t>coef_t</a:t>
            </a:r>
            <a:r>
              <a:rPr lang="en-US" altLang="zh-CN" sz="1000" kern="0" dirty="0">
                <a:solidFill>
                  <a:srgbClr val="000000"/>
                </a:solidFill>
                <a:latin typeface="Arial"/>
                <a:ea typeface="宋体" charset="-122"/>
              </a:rPr>
              <a:t> c[N+1]={</a:t>
            </a:r>
          </a:p>
          <a:p>
            <a:pPr defTabSz="914400" fontAlgn="base">
              <a:spcBef>
                <a:spcPct val="50000"/>
              </a:spcBef>
              <a:spcAft>
                <a:spcPct val="0"/>
              </a:spcAft>
              <a:tabLst>
                <a:tab pos="457200" algn="l"/>
              </a:tabLst>
              <a:defRPr/>
            </a:pPr>
            <a:r>
              <a:rPr lang="en-US" altLang="zh-CN" sz="1000" kern="0" dirty="0">
                <a:solidFill>
                  <a:srgbClr val="000000"/>
                </a:solidFill>
                <a:latin typeface="Arial"/>
                <a:ea typeface="宋体" charset="-122"/>
              </a:rPr>
              <a:t>#include "</a:t>
            </a:r>
            <a:r>
              <a:rPr lang="en-US" altLang="zh-CN" sz="1000" kern="0" dirty="0" err="1">
                <a:solidFill>
                  <a:srgbClr val="000000"/>
                </a:solidFill>
                <a:latin typeface="Arial"/>
                <a:ea typeface="宋体" charset="-122"/>
              </a:rPr>
              <a:t>fir_coef.h</a:t>
            </a:r>
            <a:r>
              <a:rPr lang="en-US" altLang="zh-CN" sz="1000" kern="0" dirty="0">
                <a:solidFill>
                  <a:srgbClr val="000000"/>
                </a:solidFill>
                <a:latin typeface="Arial"/>
                <a:ea typeface="宋体" charset="-122"/>
              </a:rPr>
              <a:t>"</a:t>
            </a:r>
          </a:p>
          <a:p>
            <a:pPr defTabSz="914400" fontAlgn="base">
              <a:spcBef>
                <a:spcPct val="50000"/>
              </a:spcBef>
              <a:spcAft>
                <a:spcPct val="0"/>
              </a:spcAft>
              <a:tabLst>
                <a:tab pos="457200" algn="l"/>
              </a:tabLst>
              <a:defRPr/>
            </a:pPr>
            <a:r>
              <a:rPr lang="en-US" altLang="zh-CN" sz="1000" kern="0" dirty="0">
                <a:solidFill>
                  <a:srgbClr val="000000"/>
                </a:solidFill>
                <a:latin typeface="Arial"/>
                <a:ea typeface="宋体" charset="-122"/>
              </a:rPr>
              <a:t>      };</a:t>
            </a:r>
          </a:p>
          <a:p>
            <a:pPr defTabSz="914400" fontAlgn="base">
              <a:spcBef>
                <a:spcPct val="5000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acc=0;</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b="1" kern="0" dirty="0" err="1">
                <a:solidFill>
                  <a:srgbClr val="000000"/>
                </a:solidFill>
                <a:latin typeface="Arial"/>
              </a:rPr>
              <a:t>mac_loop</a:t>
            </a:r>
            <a:r>
              <a:rPr lang="en-US" sz="1000" kern="0" dirty="0">
                <a:solidFill>
                  <a:srgbClr val="000000"/>
                </a:solidFill>
                <a:latin typeface="Arial"/>
              </a:rPr>
              <a:t>: for (</a:t>
            </a:r>
            <a:r>
              <a:rPr lang="en-US" sz="1000" kern="0" dirty="0" err="1">
                <a:solidFill>
                  <a:srgbClr val="000000"/>
                </a:solidFill>
                <a:latin typeface="Arial"/>
              </a:rPr>
              <a:t>i</a:t>
            </a:r>
            <a:r>
              <a:rPr lang="en-US" sz="1000" kern="0" dirty="0">
                <a:solidFill>
                  <a:srgbClr val="000000"/>
                </a:solidFill>
                <a:latin typeface="Arial"/>
              </a:rPr>
              <a:t>=N-1;i&gt;=0;i--) {</a:t>
            </a:r>
          </a:p>
          <a:p>
            <a:pPr defTabSz="914400" fontAlgn="base">
              <a:spcBef>
                <a:spcPct val="0"/>
              </a:spcBef>
              <a:spcAft>
                <a:spcPct val="0"/>
              </a:spcAft>
              <a:tabLst>
                <a:tab pos="457200" algn="l"/>
              </a:tabLs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tabLst>
                <a:tab pos="457200" algn="l"/>
              </a:tabLst>
              <a:defRPr/>
            </a:pPr>
            <a:r>
              <a:rPr lang="en-US" sz="1000" kern="0" dirty="0">
                <a:solidFill>
                  <a:srgbClr val="000000"/>
                </a:solidFill>
                <a:latin typeface="Arial"/>
              </a:rPr>
              <a:t>           acc+=x*c[0];</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tabLst>
                <a:tab pos="457200" algn="l"/>
              </a:tabLst>
              <a:defRPr/>
            </a:pPr>
            <a:r>
              <a:rPr lang="en-US" sz="1000" kern="0" dirty="0">
                <a:solidFill>
                  <a:srgbClr val="000000"/>
                </a:solidFill>
                <a:latin typeface="Arial"/>
              </a:rPr>
              <a:t>         } else {</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tabLst>
                <a:tab pos="457200" algn="l"/>
              </a:tabLs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return=acc;</a:t>
            </a:r>
          </a:p>
          <a:p>
            <a:pPr defTabSz="914400" fontAlgn="base">
              <a:spcBef>
                <a:spcPct val="0"/>
              </a:spcBef>
              <a:spcAft>
                <a:spcPct val="0"/>
              </a:spcAft>
              <a:tabLst>
                <a:tab pos="457200" algn="l"/>
              </a:tabLst>
              <a:defRPr/>
            </a:pPr>
            <a:r>
              <a:rPr lang="en-US" sz="1000" kern="0" dirty="0">
                <a:solidFill>
                  <a:srgbClr val="000000"/>
                </a:solidFill>
                <a:latin typeface="Arial"/>
              </a:rPr>
              <a:t>     }</a:t>
            </a:r>
          </a:p>
        </p:txBody>
      </p:sp>
      <p:cxnSp>
        <p:nvCxnSpPr>
          <p:cNvPr id="14" name="Straight Arrow Connector 13">
            <a:extLst>
              <a:ext uri="{FF2B5EF4-FFF2-40B4-BE49-F238E27FC236}">
                <a16:creationId xmlns:a16="http://schemas.microsoft.com/office/drawing/2014/main" id="{91F9F5B1-C897-4188-B71B-C7A8B8E471CB}"/>
              </a:ext>
            </a:extLst>
          </p:cNvPr>
          <p:cNvCxnSpPr/>
          <p:nvPr/>
        </p:nvCxnSpPr>
        <p:spPr>
          <a:xfrm flipH="1">
            <a:off x="8297317" y="3659430"/>
            <a:ext cx="1638185" cy="0"/>
          </a:xfrm>
          <a:prstGeom prst="straightConnector1">
            <a:avLst/>
          </a:prstGeom>
          <a:noFill/>
          <a:ln w="38100" cap="flat" cmpd="sng" algn="ctr">
            <a:solidFill>
              <a:srgbClr val="000000"/>
            </a:solidFill>
            <a:prstDash val="solid"/>
            <a:headEnd type="none" w="med" len="med"/>
            <a:tailEnd type="triangle" w="med" len="med"/>
          </a:ln>
          <a:effectLst>
            <a:outerShdw blurRad="40000" dist="20000" dir="5400000" rotWithShape="0">
              <a:srgbClr val="000000">
                <a:alpha val="38000"/>
              </a:srgbClr>
            </a:outerShdw>
          </a:effectLst>
        </p:spPr>
      </p:cxnSp>
      <p:sp>
        <p:nvSpPr>
          <p:cNvPr id="17" name="TextBox 16">
            <a:extLst>
              <a:ext uri="{FF2B5EF4-FFF2-40B4-BE49-F238E27FC236}">
                <a16:creationId xmlns:a16="http://schemas.microsoft.com/office/drawing/2014/main" id="{D6F4EF95-C223-4082-96E9-7EE7B03DEB0A}"/>
              </a:ext>
            </a:extLst>
          </p:cNvPr>
          <p:cNvSpPr txBox="1"/>
          <p:nvPr/>
        </p:nvSpPr>
        <p:spPr>
          <a:xfrm>
            <a:off x="8727513" y="1854395"/>
            <a:ext cx="431528"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none" rtlCol="0">
            <a:spAutoFit/>
          </a:bodyPr>
          <a:lstStyle/>
          <a:p>
            <a:pPr algn="ctr" defTabSz="914400" fontAlgn="base">
              <a:spcBef>
                <a:spcPct val="0"/>
              </a:spcBef>
              <a:spcAft>
                <a:spcPct val="0"/>
              </a:spcAft>
              <a:defRPr/>
            </a:pPr>
            <a:r>
              <a:rPr lang="en-US" sz="1050" b="1" kern="0" dirty="0" err="1">
                <a:solidFill>
                  <a:srgbClr val="FFFFFF"/>
                </a:solidFill>
                <a:latin typeface="Arial"/>
              </a:rPr>
              <a:t>fir.c</a:t>
            </a:r>
            <a:endParaRPr lang="en-US" sz="1050" b="1" kern="0" dirty="0">
              <a:solidFill>
                <a:srgbClr val="FFFFFF"/>
              </a:solidFill>
              <a:latin typeface="Arial"/>
            </a:endParaRPr>
          </a:p>
        </p:txBody>
      </p:sp>
      <p:sp>
        <p:nvSpPr>
          <p:cNvPr id="18" name="TextBox 17">
            <a:extLst>
              <a:ext uri="{FF2B5EF4-FFF2-40B4-BE49-F238E27FC236}">
                <a16:creationId xmlns:a16="http://schemas.microsoft.com/office/drawing/2014/main" id="{54C2B479-C3B8-4F01-8943-87AA3C245943}"/>
              </a:ext>
            </a:extLst>
          </p:cNvPr>
          <p:cNvSpPr txBox="1"/>
          <p:nvPr/>
        </p:nvSpPr>
        <p:spPr>
          <a:xfrm>
            <a:off x="10037888" y="2872856"/>
            <a:ext cx="716707" cy="178510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-1,</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84,</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370,</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88,</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a:t>
            </a:r>
          </a:p>
        </p:txBody>
      </p:sp>
      <p:sp>
        <p:nvSpPr>
          <p:cNvPr id="19" name="TextBox 18">
            <a:extLst>
              <a:ext uri="{FF2B5EF4-FFF2-40B4-BE49-F238E27FC236}">
                <a16:creationId xmlns:a16="http://schemas.microsoft.com/office/drawing/2014/main" id="{0D749868-CFD9-40CF-BC02-1BDD29E33251}"/>
              </a:ext>
            </a:extLst>
          </p:cNvPr>
          <p:cNvSpPr txBox="1"/>
          <p:nvPr/>
        </p:nvSpPr>
        <p:spPr>
          <a:xfrm>
            <a:off x="9833114" y="2565616"/>
            <a:ext cx="122864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fir_coeff.h</a:t>
            </a:r>
            <a:endParaRPr lang="en-US" sz="1050" b="1" kern="0" dirty="0">
              <a:solidFill>
                <a:srgbClr val="FFFFFF"/>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to RAMs : Initialization</a:t>
            </a:r>
          </a:p>
        </p:txBody>
      </p:sp>
      <p:sp>
        <p:nvSpPr>
          <p:cNvPr id="3" name="Content Placeholder 2"/>
          <p:cNvSpPr>
            <a:spLocks noGrp="1"/>
          </p:cNvSpPr>
          <p:nvPr>
            <p:ph idx="1"/>
          </p:nvPr>
        </p:nvSpPr>
        <p:spPr>
          <a:xfrm>
            <a:off x="647700" y="1480796"/>
            <a:ext cx="10515600" cy="4759404"/>
          </a:xfrm>
        </p:spPr>
        <p:txBody>
          <a:bodyPr>
            <a:noAutofit/>
          </a:bodyPr>
          <a:lstStyle/>
          <a:p>
            <a:r>
              <a:rPr lang="en-US" sz="1800" dirty="0"/>
              <a:t>Static and Const have great impact on array implementation</a:t>
            </a:r>
          </a:p>
          <a:p>
            <a:pPr lvl="1"/>
            <a:r>
              <a:rPr lang="en-US" sz="1600" dirty="0"/>
              <a:t>Const, as shown on previous slide, implies a ROM</a:t>
            </a:r>
          </a:p>
          <a:p>
            <a:pPr lvl="1"/>
            <a:r>
              <a:rPr lang="en-US" sz="1600" dirty="0"/>
              <a:t>Static can impact how RAMs are initialized</a:t>
            </a:r>
          </a:p>
          <a:p>
            <a:r>
              <a:rPr lang="en-US" sz="1800" dirty="0"/>
              <a:t>A typical coding style changes</a:t>
            </a:r>
          </a:p>
          <a:p>
            <a:pPr lvl="1"/>
            <a:endParaRPr lang="en-US" sz="1600" dirty="0"/>
          </a:p>
          <a:p>
            <a:pPr lvl="1">
              <a:buNone/>
            </a:pPr>
            <a:endParaRPr lang="en-US" sz="1600" dirty="0"/>
          </a:p>
          <a:p>
            <a:pPr lvl="1"/>
            <a:r>
              <a:rPr lang="en-US" sz="1600" dirty="0"/>
              <a:t>Implies </a:t>
            </a:r>
            <a:r>
              <a:rPr lang="en-US" sz="1600" dirty="0" err="1"/>
              <a:t>coeff</a:t>
            </a:r>
            <a:r>
              <a:rPr lang="en-US" sz="1600" dirty="0"/>
              <a:t> is set each time the function is executed</a:t>
            </a:r>
          </a:p>
          <a:p>
            <a:pPr lvl="1"/>
            <a:r>
              <a:rPr lang="en-US" sz="1600" dirty="0"/>
              <a:t>Resets in the RAM being explicitly loaded each transaction</a:t>
            </a:r>
          </a:p>
          <a:p>
            <a:pPr lvl="2"/>
            <a:r>
              <a:rPr lang="en-US" sz="1400" dirty="0"/>
              <a:t>Costs clock cycles</a:t>
            </a:r>
          </a:p>
          <a:p>
            <a:pPr lvl="1"/>
            <a:r>
              <a:rPr lang="en-US" sz="1600" dirty="0"/>
              <a:t>The array can be initialized as a static</a:t>
            </a:r>
          </a:p>
          <a:p>
            <a:pPr lvl="1"/>
            <a:endParaRPr lang="en-US" sz="1600" dirty="0"/>
          </a:p>
          <a:p>
            <a:pPr lvl="1"/>
            <a:endParaRPr lang="en-US" sz="1600" dirty="0"/>
          </a:p>
          <a:p>
            <a:pPr lvl="1"/>
            <a:r>
              <a:rPr lang="en-US" sz="1600" dirty="0"/>
              <a:t>Statics are initialized at “start up” only</a:t>
            </a:r>
          </a:p>
          <a:p>
            <a:pPr lvl="2"/>
            <a:r>
              <a:rPr lang="en-US" sz="1400" dirty="0"/>
              <a:t>In the C, in the RTL via bitstream</a:t>
            </a:r>
          </a:p>
        </p:txBody>
      </p:sp>
      <p:sp>
        <p:nvSpPr>
          <p:cNvPr id="117" name="TextBox 116">
            <a:extLst>
              <a:ext uri="{FF2B5EF4-FFF2-40B4-BE49-F238E27FC236}">
                <a16:creationId xmlns:a16="http://schemas.microsoft.com/office/drawing/2014/main" id="{ED5E7939-669D-4A31-B4A9-05DFC7531A5D}"/>
              </a:ext>
            </a:extLst>
          </p:cNvPr>
          <p:cNvSpPr txBox="1"/>
          <p:nvPr/>
        </p:nvSpPr>
        <p:spPr>
          <a:xfrm>
            <a:off x="1386216" y="2932942"/>
            <a:ext cx="4044273" cy="50783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int coeff[8] = {-2, 8, -4, 10, 14, 10, -4, 8, -2};</a:t>
            </a:r>
          </a:p>
          <a:p>
            <a:pPr defTabSz="914400" fontAlgn="base">
              <a:spcBef>
                <a:spcPct val="0"/>
              </a:spcBef>
              <a:spcAft>
                <a:spcPct val="0"/>
              </a:spcAft>
              <a:defRPr/>
            </a:pPr>
            <a:endParaRPr lang="en-US" sz="900" b="1" kern="0" dirty="0">
              <a:solidFill>
                <a:srgbClr val="000000"/>
              </a:solidFill>
              <a:latin typeface="Arial"/>
            </a:endParaRPr>
          </a:p>
        </p:txBody>
      </p:sp>
      <p:grpSp>
        <p:nvGrpSpPr>
          <p:cNvPr id="118" name="Group 71">
            <a:extLst>
              <a:ext uri="{FF2B5EF4-FFF2-40B4-BE49-F238E27FC236}">
                <a16:creationId xmlns:a16="http://schemas.microsoft.com/office/drawing/2014/main" id="{B22EA522-9B3D-4235-9C78-1F1481A83DE7}"/>
              </a:ext>
            </a:extLst>
          </p:cNvPr>
          <p:cNvGrpSpPr/>
          <p:nvPr/>
        </p:nvGrpSpPr>
        <p:grpSpPr>
          <a:xfrm>
            <a:off x="9376032" y="2932941"/>
            <a:ext cx="457082" cy="228600"/>
            <a:chOff x="-66694" y="1130300"/>
            <a:chExt cx="533401" cy="228600"/>
          </a:xfrm>
          <a:effectLst>
            <a:outerShdw blurRad="50800" dist="38100" dir="2700000" algn="tl" rotWithShape="0">
              <a:prstClr val="black">
                <a:alpha val="40000"/>
              </a:prstClr>
            </a:outerShdw>
          </a:effectLst>
        </p:grpSpPr>
        <p:cxnSp>
          <p:nvCxnSpPr>
            <p:cNvPr id="119" name="Straight Connector 118">
              <a:extLst>
                <a:ext uri="{FF2B5EF4-FFF2-40B4-BE49-F238E27FC236}">
                  <a16:creationId xmlns:a16="http://schemas.microsoft.com/office/drawing/2014/main" id="{2E677022-4315-494A-99D7-1661F39E949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0" name="Straight Connector 119">
              <a:extLst>
                <a:ext uri="{FF2B5EF4-FFF2-40B4-BE49-F238E27FC236}">
                  <a16:creationId xmlns:a16="http://schemas.microsoft.com/office/drawing/2014/main" id="{60B4D4AE-D14B-41E7-80A3-7C6054D50E8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1" name="Straight Connector 120">
              <a:extLst>
                <a:ext uri="{FF2B5EF4-FFF2-40B4-BE49-F238E27FC236}">
                  <a16:creationId xmlns:a16="http://schemas.microsoft.com/office/drawing/2014/main" id="{14DB0F5C-49C7-4376-BABA-4DD99CFFF0C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2" name="Straight Connector 121">
              <a:extLst>
                <a:ext uri="{FF2B5EF4-FFF2-40B4-BE49-F238E27FC236}">
                  <a16:creationId xmlns:a16="http://schemas.microsoft.com/office/drawing/2014/main" id="{C4FB0ECE-3C02-44DD-9E17-DD8F343CE33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3" name="Rounded Rectangle 10">
            <a:extLst>
              <a:ext uri="{FF2B5EF4-FFF2-40B4-BE49-F238E27FC236}">
                <a16:creationId xmlns:a16="http://schemas.microsoft.com/office/drawing/2014/main" id="{A77A13CE-03EA-49A3-82A3-8AEBDF7909F0}"/>
              </a:ext>
            </a:extLst>
          </p:cNvPr>
          <p:cNvSpPr/>
          <p:nvPr/>
        </p:nvSpPr>
        <p:spPr>
          <a:xfrm>
            <a:off x="11164141" y="3240182"/>
            <a:ext cx="716707" cy="230431"/>
          </a:xfrm>
          <a:prstGeom prst="roundRect">
            <a:avLst/>
          </a:prstGeom>
          <a:solidFill>
            <a:srgbClr val="6D7076"/>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sz="800" b="1" kern="0" dirty="0">
                <a:solidFill>
                  <a:srgbClr val="FFFFFF"/>
                </a:solidFill>
                <a:latin typeface="Arial"/>
              </a:rPr>
              <a:t>Run</a:t>
            </a:r>
          </a:p>
        </p:txBody>
      </p:sp>
      <p:grpSp>
        <p:nvGrpSpPr>
          <p:cNvPr id="124" name="Group 71">
            <a:extLst>
              <a:ext uri="{FF2B5EF4-FFF2-40B4-BE49-F238E27FC236}">
                <a16:creationId xmlns:a16="http://schemas.microsoft.com/office/drawing/2014/main" id="{6BD4BEDF-00ED-4C85-AEFF-C260AF363768}"/>
              </a:ext>
            </a:extLst>
          </p:cNvPr>
          <p:cNvGrpSpPr/>
          <p:nvPr/>
        </p:nvGrpSpPr>
        <p:grpSpPr>
          <a:xfrm>
            <a:off x="9833115" y="2932941"/>
            <a:ext cx="457082" cy="228600"/>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FA0182C9-7F1E-49FF-9161-202E94E3B8B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222D01D3-2E93-44B7-8E43-B36A992BAB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FED45784-D634-4837-8D2B-563D8C03899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DC388C4A-1A7C-425B-A91C-D6E0354EF46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9" name="Group 71">
            <a:extLst>
              <a:ext uri="{FF2B5EF4-FFF2-40B4-BE49-F238E27FC236}">
                <a16:creationId xmlns:a16="http://schemas.microsoft.com/office/drawing/2014/main" id="{26ED1114-8576-4043-AF8B-2B0302279EA7}"/>
              </a:ext>
            </a:extLst>
          </p:cNvPr>
          <p:cNvGrpSpPr/>
          <p:nvPr/>
        </p:nvGrpSpPr>
        <p:grpSpPr>
          <a:xfrm>
            <a:off x="10293854" y="2932941"/>
            <a:ext cx="457082" cy="228600"/>
            <a:chOff x="-66694" y="1130300"/>
            <a:chExt cx="533401" cy="228600"/>
          </a:xfrm>
          <a:effectLst>
            <a:outerShdw blurRad="50800" dist="38100" dir="2700000" algn="tl" rotWithShape="0">
              <a:prstClr val="black">
                <a:alpha val="40000"/>
              </a:prstClr>
            </a:outerShdw>
          </a:effectLst>
        </p:grpSpPr>
        <p:cxnSp>
          <p:nvCxnSpPr>
            <p:cNvPr id="130" name="Straight Connector 129">
              <a:extLst>
                <a:ext uri="{FF2B5EF4-FFF2-40B4-BE49-F238E27FC236}">
                  <a16:creationId xmlns:a16="http://schemas.microsoft.com/office/drawing/2014/main" id="{936789A4-62B7-4711-9E5D-C9FE1041044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BA057EF0-8BC1-4980-9531-C116852CD65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1BC82BA2-B0CF-4B4A-B349-CAC94A7F196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E24A481B-9B27-4BC7-BD41-7CD03BA6BBC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4" name="Group 71">
            <a:extLst>
              <a:ext uri="{FF2B5EF4-FFF2-40B4-BE49-F238E27FC236}">
                <a16:creationId xmlns:a16="http://schemas.microsoft.com/office/drawing/2014/main" id="{6E9F0BC9-7A01-43E7-B2B3-837D6CE81B1D}"/>
              </a:ext>
            </a:extLst>
          </p:cNvPr>
          <p:cNvGrpSpPr/>
          <p:nvPr/>
        </p:nvGrpSpPr>
        <p:grpSpPr>
          <a:xfrm>
            <a:off x="10754594" y="2932941"/>
            <a:ext cx="457082" cy="228600"/>
            <a:chOff x="-66694" y="1130300"/>
            <a:chExt cx="533401" cy="228600"/>
          </a:xfrm>
          <a:effectLst>
            <a:outerShdw blurRad="50800" dist="38100" dir="2700000" algn="tl" rotWithShape="0">
              <a:prstClr val="black">
                <a:alpha val="40000"/>
              </a:prstClr>
            </a:outerShdw>
          </a:effectLst>
        </p:grpSpPr>
        <p:cxnSp>
          <p:nvCxnSpPr>
            <p:cNvPr id="135" name="Straight Connector 134">
              <a:extLst>
                <a:ext uri="{FF2B5EF4-FFF2-40B4-BE49-F238E27FC236}">
                  <a16:creationId xmlns:a16="http://schemas.microsoft.com/office/drawing/2014/main" id="{EBF629DB-7F33-4117-8002-12FB36EECD3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89FBD5D2-812F-4BAA-8608-985583304C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9AC4A272-4CF6-4571-BEF9-11EFE270096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51D0BEF2-B728-4619-B54E-7FD9791C5E4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9" name="Group 71">
            <a:extLst>
              <a:ext uri="{FF2B5EF4-FFF2-40B4-BE49-F238E27FC236}">
                <a16:creationId xmlns:a16="http://schemas.microsoft.com/office/drawing/2014/main" id="{2055AB4D-02DA-4D18-8D75-C12E3F640A7C}"/>
              </a:ext>
            </a:extLst>
          </p:cNvPr>
          <p:cNvGrpSpPr/>
          <p:nvPr/>
        </p:nvGrpSpPr>
        <p:grpSpPr>
          <a:xfrm>
            <a:off x="11218992" y="2932941"/>
            <a:ext cx="457082" cy="228600"/>
            <a:chOff x="-66694" y="1130300"/>
            <a:chExt cx="533401" cy="228600"/>
          </a:xfrm>
          <a:effectLst>
            <a:outerShdw blurRad="50800" dist="38100" dir="2700000" algn="tl" rotWithShape="0">
              <a:prstClr val="black">
                <a:alpha val="40000"/>
              </a:prstClr>
            </a:outerShdw>
          </a:effectLst>
        </p:grpSpPr>
        <p:cxnSp>
          <p:nvCxnSpPr>
            <p:cNvPr id="140" name="Straight Connector 139">
              <a:extLst>
                <a:ext uri="{FF2B5EF4-FFF2-40B4-BE49-F238E27FC236}">
                  <a16:creationId xmlns:a16="http://schemas.microsoft.com/office/drawing/2014/main" id="{54728429-CF3C-421E-B22D-505EF2318CD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1" name="Straight Connector 140">
              <a:extLst>
                <a:ext uri="{FF2B5EF4-FFF2-40B4-BE49-F238E27FC236}">
                  <a16:creationId xmlns:a16="http://schemas.microsoft.com/office/drawing/2014/main" id="{D506D7C6-3114-4404-9E67-40217C0C6FB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2" name="Straight Connector 141">
              <a:extLst>
                <a:ext uri="{FF2B5EF4-FFF2-40B4-BE49-F238E27FC236}">
                  <a16:creationId xmlns:a16="http://schemas.microsoft.com/office/drawing/2014/main" id="{CA0E5AF7-FA87-4903-B168-F6F11269709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3" name="Straight Connector 142">
              <a:extLst>
                <a:ext uri="{FF2B5EF4-FFF2-40B4-BE49-F238E27FC236}">
                  <a16:creationId xmlns:a16="http://schemas.microsoft.com/office/drawing/2014/main" id="{B01336DB-704D-47C2-9C85-F107F378BF4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4" name="Right Arrow 33">
            <a:extLst>
              <a:ext uri="{FF2B5EF4-FFF2-40B4-BE49-F238E27FC236}">
                <a16:creationId xmlns:a16="http://schemas.microsoft.com/office/drawing/2014/main" id="{0901144A-D182-4F01-9667-AD1A412516C2}"/>
              </a:ext>
            </a:extLst>
          </p:cNvPr>
          <p:cNvSpPr/>
          <p:nvPr/>
        </p:nvSpPr>
        <p:spPr>
          <a:xfrm>
            <a:off x="5788842" y="2971345"/>
            <a:ext cx="81909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145" name="Rounded Rectangle 34">
            <a:extLst>
              <a:ext uri="{FF2B5EF4-FFF2-40B4-BE49-F238E27FC236}">
                <a16:creationId xmlns:a16="http://schemas.microsoft.com/office/drawing/2014/main" id="{016E34D8-A605-4CAA-B2E9-B5709F4209A2}"/>
              </a:ext>
            </a:extLst>
          </p:cNvPr>
          <p:cNvSpPr/>
          <p:nvPr/>
        </p:nvSpPr>
        <p:spPr>
          <a:xfrm>
            <a:off x="7068675" y="3240180"/>
            <a:ext cx="4044272" cy="23043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sz="800" b="1" kern="0" dirty="0">
                <a:solidFill>
                  <a:srgbClr val="FFFFFF"/>
                </a:solidFill>
                <a:latin typeface="Arial"/>
              </a:rPr>
              <a:t>Init  RAM</a:t>
            </a:r>
          </a:p>
        </p:txBody>
      </p:sp>
      <p:grpSp>
        <p:nvGrpSpPr>
          <p:cNvPr id="146" name="Group 71">
            <a:extLst>
              <a:ext uri="{FF2B5EF4-FFF2-40B4-BE49-F238E27FC236}">
                <a16:creationId xmlns:a16="http://schemas.microsoft.com/office/drawing/2014/main" id="{56EA0A67-7A0C-42D5-AD2C-496EEFA63F0A}"/>
              </a:ext>
            </a:extLst>
          </p:cNvPr>
          <p:cNvGrpSpPr/>
          <p:nvPr/>
        </p:nvGrpSpPr>
        <p:grpSpPr>
          <a:xfrm>
            <a:off x="7068676" y="2932940"/>
            <a:ext cx="457082" cy="228600"/>
            <a:chOff x="-66694" y="1130300"/>
            <a:chExt cx="533401" cy="228600"/>
          </a:xfrm>
          <a:effectLst>
            <a:outerShdw blurRad="50800" dist="38100" dir="2700000" algn="tl" rotWithShape="0">
              <a:prstClr val="black">
                <a:alpha val="40000"/>
              </a:prstClr>
            </a:outerShdw>
          </a:effectLst>
        </p:grpSpPr>
        <p:cxnSp>
          <p:nvCxnSpPr>
            <p:cNvPr id="147" name="Straight Connector 146">
              <a:extLst>
                <a:ext uri="{FF2B5EF4-FFF2-40B4-BE49-F238E27FC236}">
                  <a16:creationId xmlns:a16="http://schemas.microsoft.com/office/drawing/2014/main" id="{864A3D24-7B9B-45F1-A469-CE4205D418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EEF5CFF5-C955-47A1-ABE6-55F29378A98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9" name="Straight Connector 148">
              <a:extLst>
                <a:ext uri="{FF2B5EF4-FFF2-40B4-BE49-F238E27FC236}">
                  <a16:creationId xmlns:a16="http://schemas.microsoft.com/office/drawing/2014/main" id="{4DBB6AD5-FEC1-40D0-829D-1C238F89D33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381516AC-F5E1-4BF2-95F6-B3005FC1FF8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1" name="Group 71">
            <a:extLst>
              <a:ext uri="{FF2B5EF4-FFF2-40B4-BE49-F238E27FC236}">
                <a16:creationId xmlns:a16="http://schemas.microsoft.com/office/drawing/2014/main" id="{DB320CBE-3E53-4266-AA18-00BEF8707167}"/>
              </a:ext>
            </a:extLst>
          </p:cNvPr>
          <p:cNvGrpSpPr/>
          <p:nvPr/>
        </p:nvGrpSpPr>
        <p:grpSpPr>
          <a:xfrm>
            <a:off x="7525758" y="2932940"/>
            <a:ext cx="457082" cy="228600"/>
            <a:chOff x="-66694" y="1130300"/>
            <a:chExt cx="533401" cy="228600"/>
          </a:xfrm>
          <a:effectLst>
            <a:outerShdw blurRad="50800" dist="38100" dir="2700000" algn="tl" rotWithShape="0">
              <a:prstClr val="black">
                <a:alpha val="40000"/>
              </a:prstClr>
            </a:outerShdw>
          </a:effectLst>
        </p:grpSpPr>
        <p:cxnSp>
          <p:nvCxnSpPr>
            <p:cNvPr id="152" name="Straight Connector 151">
              <a:extLst>
                <a:ext uri="{FF2B5EF4-FFF2-40B4-BE49-F238E27FC236}">
                  <a16:creationId xmlns:a16="http://schemas.microsoft.com/office/drawing/2014/main" id="{A5BFB495-4884-43CE-AC26-537BB516C9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5C989E20-6EBF-406D-9D4E-EA36E41AA88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BC30B061-2005-46B4-9B3F-45182E3DFF1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5" name="Straight Connector 154">
              <a:extLst>
                <a:ext uri="{FF2B5EF4-FFF2-40B4-BE49-F238E27FC236}">
                  <a16:creationId xmlns:a16="http://schemas.microsoft.com/office/drawing/2014/main" id="{BF014B9E-A510-4B83-8533-7913B110485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6" name="Group 71">
            <a:extLst>
              <a:ext uri="{FF2B5EF4-FFF2-40B4-BE49-F238E27FC236}">
                <a16:creationId xmlns:a16="http://schemas.microsoft.com/office/drawing/2014/main" id="{28DD6C8F-5368-4455-9CE3-2321311BB67A}"/>
              </a:ext>
            </a:extLst>
          </p:cNvPr>
          <p:cNvGrpSpPr/>
          <p:nvPr/>
        </p:nvGrpSpPr>
        <p:grpSpPr>
          <a:xfrm>
            <a:off x="7986498" y="2932940"/>
            <a:ext cx="457082" cy="228600"/>
            <a:chOff x="-66694" y="1130300"/>
            <a:chExt cx="533401" cy="228600"/>
          </a:xfrm>
          <a:effectLst>
            <a:outerShdw blurRad="50800" dist="38100" dir="2700000" algn="tl" rotWithShape="0">
              <a:prstClr val="black">
                <a:alpha val="40000"/>
              </a:prstClr>
            </a:outerShdw>
          </a:effectLst>
        </p:grpSpPr>
        <p:cxnSp>
          <p:nvCxnSpPr>
            <p:cNvPr id="157" name="Straight Connector 156">
              <a:extLst>
                <a:ext uri="{FF2B5EF4-FFF2-40B4-BE49-F238E27FC236}">
                  <a16:creationId xmlns:a16="http://schemas.microsoft.com/office/drawing/2014/main" id="{8D1B14E0-2A7A-4B52-B069-CF86CFDF459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B2E64D31-A907-43B2-84B3-C548A81FA6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237FB2AE-E31D-4CBC-AE57-7AB52E7F3C8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0" name="Straight Connector 159">
              <a:extLst>
                <a:ext uri="{FF2B5EF4-FFF2-40B4-BE49-F238E27FC236}">
                  <a16:creationId xmlns:a16="http://schemas.microsoft.com/office/drawing/2014/main" id="{20C66D55-06DE-4048-97B6-70D34687B0F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1" name="Group 71">
            <a:extLst>
              <a:ext uri="{FF2B5EF4-FFF2-40B4-BE49-F238E27FC236}">
                <a16:creationId xmlns:a16="http://schemas.microsoft.com/office/drawing/2014/main" id="{A9DA886D-022F-4984-8F40-3CAEC5D6D996}"/>
              </a:ext>
            </a:extLst>
          </p:cNvPr>
          <p:cNvGrpSpPr/>
          <p:nvPr/>
        </p:nvGrpSpPr>
        <p:grpSpPr>
          <a:xfrm>
            <a:off x="8447238" y="2932940"/>
            <a:ext cx="457082" cy="228600"/>
            <a:chOff x="-66694" y="1130300"/>
            <a:chExt cx="533401" cy="228600"/>
          </a:xfrm>
          <a:effectLst>
            <a:outerShdw blurRad="50800" dist="38100" dir="2700000" algn="tl" rotWithShape="0">
              <a:prstClr val="black">
                <a:alpha val="40000"/>
              </a:prstClr>
            </a:outerShdw>
          </a:effectLst>
        </p:grpSpPr>
        <p:cxnSp>
          <p:nvCxnSpPr>
            <p:cNvPr id="162" name="Straight Connector 161">
              <a:extLst>
                <a:ext uri="{FF2B5EF4-FFF2-40B4-BE49-F238E27FC236}">
                  <a16:creationId xmlns:a16="http://schemas.microsoft.com/office/drawing/2014/main" id="{3BED7D02-951E-4CA0-B7BD-762B8CA939E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3" name="Straight Connector 162">
              <a:extLst>
                <a:ext uri="{FF2B5EF4-FFF2-40B4-BE49-F238E27FC236}">
                  <a16:creationId xmlns:a16="http://schemas.microsoft.com/office/drawing/2014/main" id="{0B5341D2-5599-422B-805F-0599D55F519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4" name="Straight Connector 163">
              <a:extLst>
                <a:ext uri="{FF2B5EF4-FFF2-40B4-BE49-F238E27FC236}">
                  <a16:creationId xmlns:a16="http://schemas.microsoft.com/office/drawing/2014/main" id="{A9642DB1-6399-4829-984F-8C3F5937737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5" name="Straight Connector 164">
              <a:extLst>
                <a:ext uri="{FF2B5EF4-FFF2-40B4-BE49-F238E27FC236}">
                  <a16:creationId xmlns:a16="http://schemas.microsoft.com/office/drawing/2014/main" id="{CD4223F5-93DC-492F-9BB5-872D4A0BFA5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6" name="Group 71">
            <a:extLst>
              <a:ext uri="{FF2B5EF4-FFF2-40B4-BE49-F238E27FC236}">
                <a16:creationId xmlns:a16="http://schemas.microsoft.com/office/drawing/2014/main" id="{ADC06F96-B577-4B6B-945E-B3DFE2F2DC89}"/>
              </a:ext>
            </a:extLst>
          </p:cNvPr>
          <p:cNvGrpSpPr/>
          <p:nvPr/>
        </p:nvGrpSpPr>
        <p:grpSpPr>
          <a:xfrm>
            <a:off x="8911636" y="2932940"/>
            <a:ext cx="457082" cy="228600"/>
            <a:chOff x="-66694" y="1130300"/>
            <a:chExt cx="533401" cy="228600"/>
          </a:xfrm>
          <a:effectLst>
            <a:outerShdw blurRad="50800" dist="38100" dir="2700000" algn="tl" rotWithShape="0">
              <a:prstClr val="black">
                <a:alpha val="40000"/>
              </a:prstClr>
            </a:outerShdw>
          </a:effectLst>
        </p:grpSpPr>
        <p:cxnSp>
          <p:nvCxnSpPr>
            <p:cNvPr id="167" name="Straight Connector 166">
              <a:extLst>
                <a:ext uri="{FF2B5EF4-FFF2-40B4-BE49-F238E27FC236}">
                  <a16:creationId xmlns:a16="http://schemas.microsoft.com/office/drawing/2014/main" id="{C0216B9E-F835-4B4F-85CD-83086850854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A1445241-CF37-417A-A06F-080E06D6DA6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9" name="Straight Connector 168">
              <a:extLst>
                <a:ext uri="{FF2B5EF4-FFF2-40B4-BE49-F238E27FC236}">
                  <a16:creationId xmlns:a16="http://schemas.microsoft.com/office/drawing/2014/main" id="{95E833B3-8FD1-472F-B682-97209E29792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C34B8378-427C-4FC0-87A2-5408351BAB0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1" name="TextBox 170">
            <a:extLst>
              <a:ext uri="{FF2B5EF4-FFF2-40B4-BE49-F238E27FC236}">
                <a16:creationId xmlns:a16="http://schemas.microsoft.com/office/drawing/2014/main" id="{C283802B-FDB7-4F9C-99E4-C210C8ADA863}"/>
              </a:ext>
            </a:extLst>
          </p:cNvPr>
          <p:cNvSpPr txBox="1"/>
          <p:nvPr/>
        </p:nvSpPr>
        <p:spPr>
          <a:xfrm>
            <a:off x="1386215" y="4798341"/>
            <a:ext cx="4197853" cy="50783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static int coeff[8] = {4, -2, 8, -4, 10, 14, 10, -4, 8, -2, 4};</a:t>
            </a:r>
          </a:p>
          <a:p>
            <a:pPr defTabSz="914400" fontAlgn="base">
              <a:spcBef>
                <a:spcPct val="0"/>
              </a:spcBef>
              <a:spcAft>
                <a:spcPct val="0"/>
              </a:spcAft>
              <a:defRPr/>
            </a:pPr>
            <a:endParaRPr lang="en-US" sz="900" b="1" kern="0" dirty="0">
              <a:solidFill>
                <a:srgbClr val="000000"/>
              </a:solidFill>
              <a:latin typeface="Arial"/>
            </a:endParaRPr>
          </a:p>
        </p:txBody>
      </p:sp>
      <p:grpSp>
        <p:nvGrpSpPr>
          <p:cNvPr id="172" name="Group 71">
            <a:extLst>
              <a:ext uri="{FF2B5EF4-FFF2-40B4-BE49-F238E27FC236}">
                <a16:creationId xmlns:a16="http://schemas.microsoft.com/office/drawing/2014/main" id="{AF17D94D-FD30-4AF6-A75D-21A2CBA28495}"/>
              </a:ext>
            </a:extLst>
          </p:cNvPr>
          <p:cNvGrpSpPr/>
          <p:nvPr/>
        </p:nvGrpSpPr>
        <p:grpSpPr>
          <a:xfrm>
            <a:off x="9376032" y="4798340"/>
            <a:ext cx="457082" cy="228600"/>
            <a:chOff x="-66694" y="1130300"/>
            <a:chExt cx="533401" cy="228600"/>
          </a:xfrm>
          <a:effectLst>
            <a:outerShdw blurRad="50800" dist="38100" dir="2700000" algn="tl" rotWithShape="0">
              <a:prstClr val="black">
                <a:alpha val="40000"/>
              </a:prstClr>
            </a:outerShdw>
          </a:effectLst>
        </p:grpSpPr>
        <p:cxnSp>
          <p:nvCxnSpPr>
            <p:cNvPr id="173" name="Straight Connector 172">
              <a:extLst>
                <a:ext uri="{FF2B5EF4-FFF2-40B4-BE49-F238E27FC236}">
                  <a16:creationId xmlns:a16="http://schemas.microsoft.com/office/drawing/2014/main" id="{2FC1AD07-3E26-423B-A3B9-31CC06199EB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4" name="Straight Connector 173">
              <a:extLst>
                <a:ext uri="{FF2B5EF4-FFF2-40B4-BE49-F238E27FC236}">
                  <a16:creationId xmlns:a16="http://schemas.microsoft.com/office/drawing/2014/main" id="{F1B97FED-69DF-4D94-A794-6A4D58D0815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5" name="Straight Connector 174">
              <a:extLst>
                <a:ext uri="{FF2B5EF4-FFF2-40B4-BE49-F238E27FC236}">
                  <a16:creationId xmlns:a16="http://schemas.microsoft.com/office/drawing/2014/main" id="{7244A561-B23D-455C-8908-A3BB090794B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63910688-D7EC-4166-AEC8-46EEEB08A81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7" name="Rounded Rectangle 66">
            <a:extLst>
              <a:ext uri="{FF2B5EF4-FFF2-40B4-BE49-F238E27FC236}">
                <a16:creationId xmlns:a16="http://schemas.microsoft.com/office/drawing/2014/main" id="{5BF278D1-47B7-4F22-962B-F26ABD5FDECD}"/>
              </a:ext>
            </a:extLst>
          </p:cNvPr>
          <p:cNvSpPr/>
          <p:nvPr/>
        </p:nvSpPr>
        <p:spPr>
          <a:xfrm>
            <a:off x="7068674" y="5105581"/>
            <a:ext cx="4556208" cy="230431"/>
          </a:xfrm>
          <a:prstGeom prst="roundRect">
            <a:avLst/>
          </a:prstGeom>
          <a:solidFill>
            <a:srgbClr val="6D7076"/>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sz="800" b="1" kern="0" dirty="0">
                <a:solidFill>
                  <a:srgbClr val="FFFFFF"/>
                </a:solidFill>
                <a:latin typeface="Arial"/>
              </a:rPr>
              <a:t>Run</a:t>
            </a:r>
          </a:p>
        </p:txBody>
      </p:sp>
      <p:grpSp>
        <p:nvGrpSpPr>
          <p:cNvPr id="178" name="Group 71">
            <a:extLst>
              <a:ext uri="{FF2B5EF4-FFF2-40B4-BE49-F238E27FC236}">
                <a16:creationId xmlns:a16="http://schemas.microsoft.com/office/drawing/2014/main" id="{FD6C5FBA-57A2-440B-B52E-35482F49E6AD}"/>
              </a:ext>
            </a:extLst>
          </p:cNvPr>
          <p:cNvGrpSpPr/>
          <p:nvPr/>
        </p:nvGrpSpPr>
        <p:grpSpPr>
          <a:xfrm>
            <a:off x="9833115" y="4798340"/>
            <a:ext cx="457082" cy="228600"/>
            <a:chOff x="-66694" y="1130300"/>
            <a:chExt cx="533401" cy="228600"/>
          </a:xfrm>
          <a:effectLst>
            <a:outerShdw blurRad="50800" dist="38100" dir="2700000" algn="tl" rotWithShape="0">
              <a:prstClr val="black">
                <a:alpha val="40000"/>
              </a:prstClr>
            </a:outerShdw>
          </a:effectLst>
        </p:grpSpPr>
        <p:cxnSp>
          <p:nvCxnSpPr>
            <p:cNvPr id="179" name="Straight Connector 178">
              <a:extLst>
                <a:ext uri="{FF2B5EF4-FFF2-40B4-BE49-F238E27FC236}">
                  <a16:creationId xmlns:a16="http://schemas.microsoft.com/office/drawing/2014/main" id="{2AE982ED-6BFE-4768-9690-5B5D7541AF9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0" name="Straight Connector 179">
              <a:extLst>
                <a:ext uri="{FF2B5EF4-FFF2-40B4-BE49-F238E27FC236}">
                  <a16:creationId xmlns:a16="http://schemas.microsoft.com/office/drawing/2014/main" id="{27421E7A-2CC1-4939-8B5C-B558D63C013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1" name="Straight Connector 180">
              <a:extLst>
                <a:ext uri="{FF2B5EF4-FFF2-40B4-BE49-F238E27FC236}">
                  <a16:creationId xmlns:a16="http://schemas.microsoft.com/office/drawing/2014/main" id="{A5912DDF-7DBD-4F6F-B7C5-718E2AA6BB9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2" name="Straight Connector 181">
              <a:extLst>
                <a:ext uri="{FF2B5EF4-FFF2-40B4-BE49-F238E27FC236}">
                  <a16:creationId xmlns:a16="http://schemas.microsoft.com/office/drawing/2014/main" id="{DDC0636E-E7C9-473D-BFF6-F67931A2304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3" name="Group 71">
            <a:extLst>
              <a:ext uri="{FF2B5EF4-FFF2-40B4-BE49-F238E27FC236}">
                <a16:creationId xmlns:a16="http://schemas.microsoft.com/office/drawing/2014/main" id="{D053D0C3-B1A6-455F-B811-D16C95947FEA}"/>
              </a:ext>
            </a:extLst>
          </p:cNvPr>
          <p:cNvGrpSpPr/>
          <p:nvPr/>
        </p:nvGrpSpPr>
        <p:grpSpPr>
          <a:xfrm>
            <a:off x="10293854" y="4798340"/>
            <a:ext cx="457082" cy="228600"/>
            <a:chOff x="-66694" y="1130300"/>
            <a:chExt cx="533401" cy="228600"/>
          </a:xfrm>
          <a:effectLst>
            <a:outerShdw blurRad="50800" dist="38100" dir="2700000" algn="tl" rotWithShape="0">
              <a:prstClr val="black">
                <a:alpha val="40000"/>
              </a:prstClr>
            </a:outerShdw>
          </a:effectLst>
        </p:grpSpPr>
        <p:cxnSp>
          <p:nvCxnSpPr>
            <p:cNvPr id="184" name="Straight Connector 183">
              <a:extLst>
                <a:ext uri="{FF2B5EF4-FFF2-40B4-BE49-F238E27FC236}">
                  <a16:creationId xmlns:a16="http://schemas.microsoft.com/office/drawing/2014/main" id="{F01BE0B6-65DC-4DDC-B0DB-043CC5285CC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5" name="Straight Connector 184">
              <a:extLst>
                <a:ext uri="{FF2B5EF4-FFF2-40B4-BE49-F238E27FC236}">
                  <a16:creationId xmlns:a16="http://schemas.microsoft.com/office/drawing/2014/main" id="{CA13A9FD-9A79-4A2E-98D3-4E43ADB22C4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106F6E93-2D92-4200-A2BE-B6E442492BD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2CE0DF9A-0CD2-4894-9064-1270547AB09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8" name="Group 71">
            <a:extLst>
              <a:ext uri="{FF2B5EF4-FFF2-40B4-BE49-F238E27FC236}">
                <a16:creationId xmlns:a16="http://schemas.microsoft.com/office/drawing/2014/main" id="{619DEEED-E7CA-4499-AC59-53BAF7B9ED02}"/>
              </a:ext>
            </a:extLst>
          </p:cNvPr>
          <p:cNvGrpSpPr/>
          <p:nvPr/>
        </p:nvGrpSpPr>
        <p:grpSpPr>
          <a:xfrm>
            <a:off x="10754594" y="4798340"/>
            <a:ext cx="457082" cy="228600"/>
            <a:chOff x="-66694" y="1130300"/>
            <a:chExt cx="533401" cy="228600"/>
          </a:xfrm>
          <a:effectLst>
            <a:outerShdw blurRad="50800" dist="38100" dir="2700000" algn="tl" rotWithShape="0">
              <a:prstClr val="black">
                <a:alpha val="40000"/>
              </a:prstClr>
            </a:outerShdw>
          </a:effectLst>
        </p:grpSpPr>
        <p:cxnSp>
          <p:nvCxnSpPr>
            <p:cNvPr id="189" name="Straight Connector 188">
              <a:extLst>
                <a:ext uri="{FF2B5EF4-FFF2-40B4-BE49-F238E27FC236}">
                  <a16:creationId xmlns:a16="http://schemas.microsoft.com/office/drawing/2014/main" id="{7526AAC1-7B1C-464C-911B-1AD62F67F83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0" name="Straight Connector 189">
              <a:extLst>
                <a:ext uri="{FF2B5EF4-FFF2-40B4-BE49-F238E27FC236}">
                  <a16:creationId xmlns:a16="http://schemas.microsoft.com/office/drawing/2014/main" id="{84FBA1F9-8355-4EFA-B6E1-D64E57A1E24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1" name="Straight Connector 190">
              <a:extLst>
                <a:ext uri="{FF2B5EF4-FFF2-40B4-BE49-F238E27FC236}">
                  <a16:creationId xmlns:a16="http://schemas.microsoft.com/office/drawing/2014/main" id="{D7848658-2E19-497D-B6BA-746CF5B2CF9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3CC8A9E4-16D7-4AF1-97B5-A662BC69F0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3" name="Group 71">
            <a:extLst>
              <a:ext uri="{FF2B5EF4-FFF2-40B4-BE49-F238E27FC236}">
                <a16:creationId xmlns:a16="http://schemas.microsoft.com/office/drawing/2014/main" id="{723AD7F8-9A85-4CA4-BA6A-6508F0097CE7}"/>
              </a:ext>
            </a:extLst>
          </p:cNvPr>
          <p:cNvGrpSpPr/>
          <p:nvPr/>
        </p:nvGrpSpPr>
        <p:grpSpPr>
          <a:xfrm>
            <a:off x="11218992" y="4798340"/>
            <a:ext cx="457082" cy="228600"/>
            <a:chOff x="-66694" y="1130300"/>
            <a:chExt cx="533401" cy="228600"/>
          </a:xfrm>
          <a:effectLst>
            <a:outerShdw blurRad="50800" dist="38100" dir="2700000" algn="tl" rotWithShape="0">
              <a:prstClr val="black">
                <a:alpha val="40000"/>
              </a:prstClr>
            </a:outerShdw>
          </a:effectLst>
        </p:grpSpPr>
        <p:cxnSp>
          <p:nvCxnSpPr>
            <p:cNvPr id="194" name="Straight Connector 193">
              <a:extLst>
                <a:ext uri="{FF2B5EF4-FFF2-40B4-BE49-F238E27FC236}">
                  <a16:creationId xmlns:a16="http://schemas.microsoft.com/office/drawing/2014/main" id="{A4EEF26E-0A2B-4F74-9A4B-55784172250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5" name="Straight Connector 194">
              <a:extLst>
                <a:ext uri="{FF2B5EF4-FFF2-40B4-BE49-F238E27FC236}">
                  <a16:creationId xmlns:a16="http://schemas.microsoft.com/office/drawing/2014/main" id="{A72DB035-8D86-43F1-8BA3-30AB5B02A02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79855B21-3CC3-497D-B96C-CE6C7EDA6DC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C47E9BBD-79C1-4FAC-A9AB-5E1884B9F2A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98" name="TextBox 197">
            <a:extLst>
              <a:ext uri="{FF2B5EF4-FFF2-40B4-BE49-F238E27FC236}">
                <a16:creationId xmlns:a16="http://schemas.microsoft.com/office/drawing/2014/main" id="{82E8D914-5DD1-48B8-BF0C-F6F50F90FB56}"/>
              </a:ext>
            </a:extLst>
          </p:cNvPr>
          <p:cNvSpPr txBox="1"/>
          <p:nvPr/>
        </p:nvSpPr>
        <p:spPr>
          <a:xfrm>
            <a:off x="7375835" y="5451224"/>
            <a:ext cx="3993080" cy="600164"/>
          </a:xfrm>
          <a:prstGeom prst="rect">
            <a:avLst/>
          </a:prstGeom>
          <a:solidFill>
            <a:srgbClr val="FFFF99"/>
          </a:solidFill>
          <a:ln w="38100">
            <a:solidFill>
              <a:srgbClr val="FF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rPr>
              <a:t>A coefficient array does not need to be initialized every time but doing that costs “nothing” in software, unlike hardware</a:t>
            </a:r>
          </a:p>
        </p:txBody>
      </p:sp>
      <p:sp>
        <p:nvSpPr>
          <p:cNvPr id="199" name="Right Arrow 88">
            <a:extLst>
              <a:ext uri="{FF2B5EF4-FFF2-40B4-BE49-F238E27FC236}">
                <a16:creationId xmlns:a16="http://schemas.microsoft.com/office/drawing/2014/main" id="{11C3D4C5-842A-4BA2-A4DB-A1BEB57C483D}"/>
              </a:ext>
            </a:extLst>
          </p:cNvPr>
          <p:cNvSpPr/>
          <p:nvPr/>
        </p:nvSpPr>
        <p:spPr>
          <a:xfrm>
            <a:off x="5788842" y="4836744"/>
            <a:ext cx="81909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grpSp>
        <p:nvGrpSpPr>
          <p:cNvPr id="200" name="Group 71">
            <a:extLst>
              <a:ext uri="{FF2B5EF4-FFF2-40B4-BE49-F238E27FC236}">
                <a16:creationId xmlns:a16="http://schemas.microsoft.com/office/drawing/2014/main" id="{B309B5FE-0075-4F79-AF93-3ACD30F7ED2E}"/>
              </a:ext>
            </a:extLst>
          </p:cNvPr>
          <p:cNvGrpSpPr/>
          <p:nvPr/>
        </p:nvGrpSpPr>
        <p:grpSpPr>
          <a:xfrm>
            <a:off x="7068676" y="4798339"/>
            <a:ext cx="457082" cy="228600"/>
            <a:chOff x="-66694" y="1130300"/>
            <a:chExt cx="533401" cy="228600"/>
          </a:xfrm>
          <a:effectLst>
            <a:outerShdw blurRad="50800" dist="38100" dir="2700000" algn="tl" rotWithShape="0">
              <a:prstClr val="black">
                <a:alpha val="40000"/>
              </a:prstClr>
            </a:outerShdw>
          </a:effectLst>
        </p:grpSpPr>
        <p:cxnSp>
          <p:nvCxnSpPr>
            <p:cNvPr id="201" name="Straight Connector 200">
              <a:extLst>
                <a:ext uri="{FF2B5EF4-FFF2-40B4-BE49-F238E27FC236}">
                  <a16:creationId xmlns:a16="http://schemas.microsoft.com/office/drawing/2014/main" id="{A409C3C1-C6F3-4A79-B58E-1BC1000D561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1587CAFA-AED7-411B-8DB8-6EFF84ACB59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3" name="Straight Connector 202">
              <a:extLst>
                <a:ext uri="{FF2B5EF4-FFF2-40B4-BE49-F238E27FC236}">
                  <a16:creationId xmlns:a16="http://schemas.microsoft.com/office/drawing/2014/main" id="{B051BF7D-3667-4AE3-92F1-C9E399EE4E7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F1F9FB33-4345-4D90-B997-3456E3477A2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05" name="Group 71">
            <a:extLst>
              <a:ext uri="{FF2B5EF4-FFF2-40B4-BE49-F238E27FC236}">
                <a16:creationId xmlns:a16="http://schemas.microsoft.com/office/drawing/2014/main" id="{AAF8F8E3-D9AD-4A41-ADA1-C04E3CE0A2DC}"/>
              </a:ext>
            </a:extLst>
          </p:cNvPr>
          <p:cNvGrpSpPr/>
          <p:nvPr/>
        </p:nvGrpSpPr>
        <p:grpSpPr>
          <a:xfrm>
            <a:off x="7525758" y="4798339"/>
            <a:ext cx="457082" cy="228600"/>
            <a:chOff x="-66694" y="1130300"/>
            <a:chExt cx="533401" cy="228600"/>
          </a:xfrm>
          <a:effectLst>
            <a:outerShdw blurRad="50800" dist="38100" dir="2700000" algn="tl" rotWithShape="0">
              <a:prstClr val="black">
                <a:alpha val="40000"/>
              </a:prstClr>
            </a:outerShdw>
          </a:effectLst>
        </p:grpSpPr>
        <p:cxnSp>
          <p:nvCxnSpPr>
            <p:cNvPr id="206" name="Straight Connector 205">
              <a:extLst>
                <a:ext uri="{FF2B5EF4-FFF2-40B4-BE49-F238E27FC236}">
                  <a16:creationId xmlns:a16="http://schemas.microsoft.com/office/drawing/2014/main" id="{BC82BF38-46C0-46BE-B5A5-6F2D86F0985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7" name="Straight Connector 206">
              <a:extLst>
                <a:ext uri="{FF2B5EF4-FFF2-40B4-BE49-F238E27FC236}">
                  <a16:creationId xmlns:a16="http://schemas.microsoft.com/office/drawing/2014/main" id="{9985AF77-A2AF-4BB2-930D-07B91813498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8" name="Straight Connector 207">
              <a:extLst>
                <a:ext uri="{FF2B5EF4-FFF2-40B4-BE49-F238E27FC236}">
                  <a16:creationId xmlns:a16="http://schemas.microsoft.com/office/drawing/2014/main" id="{B8238A20-26BB-4C69-A728-9E59ECE6631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9" name="Straight Connector 208">
              <a:extLst>
                <a:ext uri="{FF2B5EF4-FFF2-40B4-BE49-F238E27FC236}">
                  <a16:creationId xmlns:a16="http://schemas.microsoft.com/office/drawing/2014/main" id="{2C658A12-5494-4923-A3EA-62357DA20FC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10" name="Group 71">
            <a:extLst>
              <a:ext uri="{FF2B5EF4-FFF2-40B4-BE49-F238E27FC236}">
                <a16:creationId xmlns:a16="http://schemas.microsoft.com/office/drawing/2014/main" id="{4122EAA7-89C0-4FDD-BBA0-4115C9EF349E}"/>
              </a:ext>
            </a:extLst>
          </p:cNvPr>
          <p:cNvGrpSpPr/>
          <p:nvPr/>
        </p:nvGrpSpPr>
        <p:grpSpPr>
          <a:xfrm>
            <a:off x="7986498" y="4798339"/>
            <a:ext cx="457082" cy="228600"/>
            <a:chOff x="-66694" y="1130300"/>
            <a:chExt cx="533401" cy="228600"/>
          </a:xfrm>
          <a:effectLst>
            <a:outerShdw blurRad="50800" dist="38100" dir="2700000" algn="tl" rotWithShape="0">
              <a:prstClr val="black">
                <a:alpha val="40000"/>
              </a:prstClr>
            </a:outerShdw>
          </a:effectLst>
        </p:grpSpPr>
        <p:cxnSp>
          <p:nvCxnSpPr>
            <p:cNvPr id="211" name="Straight Connector 210">
              <a:extLst>
                <a:ext uri="{FF2B5EF4-FFF2-40B4-BE49-F238E27FC236}">
                  <a16:creationId xmlns:a16="http://schemas.microsoft.com/office/drawing/2014/main" id="{916D9A30-B82E-4C8C-AE63-07E6912C691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2" name="Straight Connector 211">
              <a:extLst>
                <a:ext uri="{FF2B5EF4-FFF2-40B4-BE49-F238E27FC236}">
                  <a16:creationId xmlns:a16="http://schemas.microsoft.com/office/drawing/2014/main" id="{EAEE4A75-EADD-41E8-AC37-B75857FFAE3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3" name="Straight Connector 212">
              <a:extLst>
                <a:ext uri="{FF2B5EF4-FFF2-40B4-BE49-F238E27FC236}">
                  <a16:creationId xmlns:a16="http://schemas.microsoft.com/office/drawing/2014/main" id="{945AB16F-C80C-43A0-8A41-4DAFBDB16F7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4" name="Straight Connector 213">
              <a:extLst>
                <a:ext uri="{FF2B5EF4-FFF2-40B4-BE49-F238E27FC236}">
                  <a16:creationId xmlns:a16="http://schemas.microsoft.com/office/drawing/2014/main" id="{2AF6AE36-A2A5-4AFE-BE14-BF88BAA733D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15" name="Group 71">
            <a:extLst>
              <a:ext uri="{FF2B5EF4-FFF2-40B4-BE49-F238E27FC236}">
                <a16:creationId xmlns:a16="http://schemas.microsoft.com/office/drawing/2014/main" id="{89BAF926-1563-4312-ACA9-187B62AD6B7D}"/>
              </a:ext>
            </a:extLst>
          </p:cNvPr>
          <p:cNvGrpSpPr/>
          <p:nvPr/>
        </p:nvGrpSpPr>
        <p:grpSpPr>
          <a:xfrm>
            <a:off x="8447238" y="4798339"/>
            <a:ext cx="457082" cy="228600"/>
            <a:chOff x="-66694" y="1130300"/>
            <a:chExt cx="533401" cy="228600"/>
          </a:xfrm>
          <a:effectLst>
            <a:outerShdw blurRad="50800" dist="38100" dir="2700000" algn="tl" rotWithShape="0">
              <a:prstClr val="black">
                <a:alpha val="40000"/>
              </a:prstClr>
            </a:outerShdw>
          </a:effectLst>
        </p:grpSpPr>
        <p:cxnSp>
          <p:nvCxnSpPr>
            <p:cNvPr id="216" name="Straight Connector 215">
              <a:extLst>
                <a:ext uri="{FF2B5EF4-FFF2-40B4-BE49-F238E27FC236}">
                  <a16:creationId xmlns:a16="http://schemas.microsoft.com/office/drawing/2014/main" id="{36647AB6-3B9E-4528-AE32-5DE9028950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7" name="Straight Connector 216">
              <a:extLst>
                <a:ext uri="{FF2B5EF4-FFF2-40B4-BE49-F238E27FC236}">
                  <a16:creationId xmlns:a16="http://schemas.microsoft.com/office/drawing/2014/main" id="{8F8990BC-D11B-4173-821A-3FEED289547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8" name="Straight Connector 217">
              <a:extLst>
                <a:ext uri="{FF2B5EF4-FFF2-40B4-BE49-F238E27FC236}">
                  <a16:creationId xmlns:a16="http://schemas.microsoft.com/office/drawing/2014/main" id="{5789E112-3DC9-4052-9A7A-0580E80DA1D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9" name="Straight Connector 218">
              <a:extLst>
                <a:ext uri="{FF2B5EF4-FFF2-40B4-BE49-F238E27FC236}">
                  <a16:creationId xmlns:a16="http://schemas.microsoft.com/office/drawing/2014/main" id="{960CBCD3-FFEB-4EB5-A40D-4702706190C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20" name="Group 71">
            <a:extLst>
              <a:ext uri="{FF2B5EF4-FFF2-40B4-BE49-F238E27FC236}">
                <a16:creationId xmlns:a16="http://schemas.microsoft.com/office/drawing/2014/main" id="{D9DED428-9F23-46EF-AC33-CFA3642CBF44}"/>
              </a:ext>
            </a:extLst>
          </p:cNvPr>
          <p:cNvGrpSpPr/>
          <p:nvPr/>
        </p:nvGrpSpPr>
        <p:grpSpPr>
          <a:xfrm>
            <a:off x="8911636" y="4798339"/>
            <a:ext cx="457082" cy="228600"/>
            <a:chOff x="-66694" y="1130300"/>
            <a:chExt cx="533401" cy="228600"/>
          </a:xfrm>
          <a:effectLst>
            <a:outerShdw blurRad="50800" dist="38100" dir="2700000" algn="tl" rotWithShape="0">
              <a:prstClr val="black">
                <a:alpha val="40000"/>
              </a:prstClr>
            </a:outerShdw>
          </a:effectLst>
        </p:grpSpPr>
        <p:cxnSp>
          <p:nvCxnSpPr>
            <p:cNvPr id="221" name="Straight Connector 220">
              <a:extLst>
                <a:ext uri="{FF2B5EF4-FFF2-40B4-BE49-F238E27FC236}">
                  <a16:creationId xmlns:a16="http://schemas.microsoft.com/office/drawing/2014/main" id="{752D6904-F646-49D1-BF80-3D8AF2DF569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2" name="Straight Connector 221">
              <a:extLst>
                <a:ext uri="{FF2B5EF4-FFF2-40B4-BE49-F238E27FC236}">
                  <a16:creationId xmlns:a16="http://schemas.microsoft.com/office/drawing/2014/main" id="{CF4AD1B3-B940-484D-BDE9-769FCF38F1E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3" name="Straight Connector 222">
              <a:extLst>
                <a:ext uri="{FF2B5EF4-FFF2-40B4-BE49-F238E27FC236}">
                  <a16:creationId xmlns:a16="http://schemas.microsoft.com/office/drawing/2014/main" id="{D2D7A1F8-196B-4004-91AC-46E9A7C36BD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4" name="Straight Connector 223">
              <a:extLst>
                <a:ext uri="{FF2B5EF4-FFF2-40B4-BE49-F238E27FC236}">
                  <a16:creationId xmlns:a16="http://schemas.microsoft.com/office/drawing/2014/main" id="{55BF262C-457C-46D8-825B-A37E4CCE6E7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13" name="Slide Number Placeholder 5">
            <a:extLst>
              <a:ext uri="{FF2B5EF4-FFF2-40B4-BE49-F238E27FC236}">
                <a16:creationId xmlns:a16="http://schemas.microsoft.com/office/drawing/2014/main" id="{0A30A4D1-F634-48EF-9D40-89E2C14AAD7F}"/>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14</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98"/>
                                        </p:tgtEl>
                                        <p:attrNameLst>
                                          <p:attrName>style.visibility</p:attrName>
                                        </p:attrNameLst>
                                      </p:cBhvr>
                                      <p:to>
                                        <p:strVal val="visible"/>
                                      </p:to>
                                    </p:set>
                                    <p:animEffect transition="in" filter="checkerboard(across)">
                                      <p:cBhvr>
                                        <p:cTn id="7" dur="500"/>
                                        <p:tgtEl>
                                          <p:spTgt spid="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8"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Arrays to RAMs : Initialization</a:t>
            </a:r>
          </a:p>
        </p:txBody>
      </p:sp>
      <p:sp>
        <p:nvSpPr>
          <p:cNvPr id="3" name="Content Placeholder 2"/>
          <p:cNvSpPr>
            <a:spLocks noGrp="1"/>
          </p:cNvSpPr>
          <p:nvPr>
            <p:ph idx="1"/>
          </p:nvPr>
        </p:nvSpPr>
        <p:spPr/>
        <p:txBody>
          <a:bodyPr>
            <a:noAutofit/>
          </a:bodyPr>
          <a:lstStyle/>
          <a:p>
            <a:r>
              <a:rPr lang="en-US" sz="1800" dirty="0"/>
              <a:t>Static and Const have great impact on array implementation</a:t>
            </a:r>
          </a:p>
          <a:p>
            <a:pPr lvl="1"/>
            <a:r>
              <a:rPr lang="en-US" sz="1600" dirty="0"/>
              <a:t>Const, as shown on previous slide, implies a ROM</a:t>
            </a:r>
          </a:p>
          <a:p>
            <a:pPr lvl="1"/>
            <a:r>
              <a:rPr lang="en-US" sz="1600" dirty="0"/>
              <a:t>Static can impact how RAMs are initialized</a:t>
            </a:r>
          </a:p>
          <a:p>
            <a:r>
              <a:rPr lang="en-US" sz="1800" dirty="0"/>
              <a:t>A typical coding style changes</a:t>
            </a:r>
          </a:p>
          <a:p>
            <a:pPr lvl="1"/>
            <a:endParaRPr lang="en-US" sz="1600" dirty="0"/>
          </a:p>
          <a:p>
            <a:pPr lvl="1">
              <a:buNone/>
            </a:pPr>
            <a:endParaRPr lang="en-US" sz="1600" dirty="0"/>
          </a:p>
          <a:p>
            <a:pPr lvl="1"/>
            <a:r>
              <a:rPr lang="en-US" sz="1600" dirty="0"/>
              <a:t>Implies </a:t>
            </a:r>
            <a:r>
              <a:rPr lang="en-US" sz="1600" dirty="0" err="1"/>
              <a:t>coeff</a:t>
            </a:r>
            <a:r>
              <a:rPr lang="en-US" sz="1600" dirty="0"/>
              <a:t> is set each time the function is executed</a:t>
            </a:r>
          </a:p>
          <a:p>
            <a:pPr lvl="1"/>
            <a:r>
              <a:rPr lang="en-US" sz="1600" dirty="0"/>
              <a:t>Resets in the RAM being explicitly loaded each transaction</a:t>
            </a:r>
          </a:p>
          <a:p>
            <a:pPr lvl="2"/>
            <a:r>
              <a:rPr lang="en-US" sz="1400" dirty="0"/>
              <a:t>Costs clock cycles</a:t>
            </a:r>
          </a:p>
          <a:p>
            <a:pPr lvl="1"/>
            <a:r>
              <a:rPr lang="en-US" sz="1600" dirty="0"/>
              <a:t>The array can be initialized as a static</a:t>
            </a:r>
          </a:p>
          <a:p>
            <a:pPr lvl="1"/>
            <a:endParaRPr lang="en-US" sz="1600" dirty="0"/>
          </a:p>
          <a:p>
            <a:pPr lvl="1"/>
            <a:endParaRPr lang="en-US" sz="1600" dirty="0"/>
          </a:p>
          <a:p>
            <a:pPr lvl="1"/>
            <a:r>
              <a:rPr lang="en-US" sz="1600" dirty="0"/>
              <a:t>Statics are initialized at “start up” only</a:t>
            </a:r>
          </a:p>
          <a:p>
            <a:pPr lvl="2"/>
            <a:r>
              <a:rPr lang="en-US" sz="1400" dirty="0"/>
              <a:t>In the C, in the RTL via bitstream</a:t>
            </a:r>
          </a:p>
        </p:txBody>
      </p:sp>
      <p:sp>
        <p:nvSpPr>
          <p:cNvPr id="116" name="Slide Number Placeholder 11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15</a:t>
            </a:fld>
            <a:endParaRPr lang="en-US" dirty="0">
              <a:solidFill>
                <a:srgbClr val="0C0C0C">
                  <a:tint val="75000"/>
                </a:srgbClr>
              </a:solidFill>
              <a:latin typeface="Arial"/>
            </a:endParaRPr>
          </a:p>
        </p:txBody>
      </p:sp>
      <p:sp>
        <p:nvSpPr>
          <p:cNvPr id="117" name="TextBox 116">
            <a:extLst>
              <a:ext uri="{FF2B5EF4-FFF2-40B4-BE49-F238E27FC236}">
                <a16:creationId xmlns:a16="http://schemas.microsoft.com/office/drawing/2014/main" id="{ED5E7939-669D-4A31-B4A9-05DFC7531A5D}"/>
              </a:ext>
            </a:extLst>
          </p:cNvPr>
          <p:cNvSpPr txBox="1"/>
          <p:nvPr/>
        </p:nvSpPr>
        <p:spPr>
          <a:xfrm>
            <a:off x="1386216" y="2817528"/>
            <a:ext cx="4044273" cy="50783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int coeff[8] = {-2, 8, -4, 10, 14, 10, -4, 8, -2};</a:t>
            </a:r>
          </a:p>
          <a:p>
            <a:pPr defTabSz="914400" fontAlgn="base">
              <a:spcBef>
                <a:spcPct val="0"/>
              </a:spcBef>
              <a:spcAft>
                <a:spcPct val="0"/>
              </a:spcAft>
              <a:defRPr/>
            </a:pPr>
            <a:endParaRPr lang="en-US" sz="900" b="1" kern="0" dirty="0">
              <a:solidFill>
                <a:srgbClr val="000000"/>
              </a:solidFill>
              <a:latin typeface="Arial"/>
            </a:endParaRPr>
          </a:p>
        </p:txBody>
      </p:sp>
      <p:grpSp>
        <p:nvGrpSpPr>
          <p:cNvPr id="118" name="Group 71">
            <a:extLst>
              <a:ext uri="{FF2B5EF4-FFF2-40B4-BE49-F238E27FC236}">
                <a16:creationId xmlns:a16="http://schemas.microsoft.com/office/drawing/2014/main" id="{B22EA522-9B3D-4235-9C78-1F1481A83DE7}"/>
              </a:ext>
            </a:extLst>
          </p:cNvPr>
          <p:cNvGrpSpPr/>
          <p:nvPr/>
        </p:nvGrpSpPr>
        <p:grpSpPr>
          <a:xfrm>
            <a:off x="9376032" y="2817527"/>
            <a:ext cx="457082" cy="228600"/>
            <a:chOff x="-66694" y="1130300"/>
            <a:chExt cx="533401" cy="228600"/>
          </a:xfrm>
          <a:effectLst>
            <a:outerShdw blurRad="50800" dist="38100" dir="2700000" algn="tl" rotWithShape="0">
              <a:prstClr val="black">
                <a:alpha val="40000"/>
              </a:prstClr>
            </a:outerShdw>
          </a:effectLst>
        </p:grpSpPr>
        <p:cxnSp>
          <p:nvCxnSpPr>
            <p:cNvPr id="119" name="Straight Connector 118">
              <a:extLst>
                <a:ext uri="{FF2B5EF4-FFF2-40B4-BE49-F238E27FC236}">
                  <a16:creationId xmlns:a16="http://schemas.microsoft.com/office/drawing/2014/main" id="{2E677022-4315-494A-99D7-1661F39E949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0" name="Straight Connector 119">
              <a:extLst>
                <a:ext uri="{FF2B5EF4-FFF2-40B4-BE49-F238E27FC236}">
                  <a16:creationId xmlns:a16="http://schemas.microsoft.com/office/drawing/2014/main" id="{60B4D4AE-D14B-41E7-80A3-7C6054D50E8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1" name="Straight Connector 120">
              <a:extLst>
                <a:ext uri="{FF2B5EF4-FFF2-40B4-BE49-F238E27FC236}">
                  <a16:creationId xmlns:a16="http://schemas.microsoft.com/office/drawing/2014/main" id="{14DB0F5C-49C7-4376-BABA-4DD99CFFF0C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2" name="Straight Connector 121">
              <a:extLst>
                <a:ext uri="{FF2B5EF4-FFF2-40B4-BE49-F238E27FC236}">
                  <a16:creationId xmlns:a16="http://schemas.microsoft.com/office/drawing/2014/main" id="{C4FB0ECE-3C02-44DD-9E17-DD8F343CE33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23" name="Rounded Rectangle 10">
            <a:extLst>
              <a:ext uri="{FF2B5EF4-FFF2-40B4-BE49-F238E27FC236}">
                <a16:creationId xmlns:a16="http://schemas.microsoft.com/office/drawing/2014/main" id="{A77A13CE-03EA-49A3-82A3-8AEBDF7909F0}"/>
              </a:ext>
            </a:extLst>
          </p:cNvPr>
          <p:cNvSpPr/>
          <p:nvPr/>
        </p:nvSpPr>
        <p:spPr>
          <a:xfrm>
            <a:off x="11164141" y="3124768"/>
            <a:ext cx="716707" cy="230431"/>
          </a:xfrm>
          <a:prstGeom prst="roundRect">
            <a:avLst/>
          </a:prstGeom>
          <a:solidFill>
            <a:srgbClr val="6D7076"/>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sz="800" b="1" kern="0" dirty="0">
                <a:solidFill>
                  <a:srgbClr val="FFFFFF"/>
                </a:solidFill>
                <a:latin typeface="Arial"/>
              </a:rPr>
              <a:t>Run</a:t>
            </a:r>
          </a:p>
        </p:txBody>
      </p:sp>
      <p:grpSp>
        <p:nvGrpSpPr>
          <p:cNvPr id="124" name="Group 71">
            <a:extLst>
              <a:ext uri="{FF2B5EF4-FFF2-40B4-BE49-F238E27FC236}">
                <a16:creationId xmlns:a16="http://schemas.microsoft.com/office/drawing/2014/main" id="{6BD4BEDF-00ED-4C85-AEFF-C260AF363768}"/>
              </a:ext>
            </a:extLst>
          </p:cNvPr>
          <p:cNvGrpSpPr/>
          <p:nvPr/>
        </p:nvGrpSpPr>
        <p:grpSpPr>
          <a:xfrm>
            <a:off x="9833115" y="2817527"/>
            <a:ext cx="457082" cy="228600"/>
            <a:chOff x="-66694" y="1130300"/>
            <a:chExt cx="533401" cy="228600"/>
          </a:xfrm>
          <a:effectLst>
            <a:outerShdw blurRad="50800" dist="38100" dir="2700000" algn="tl" rotWithShape="0">
              <a:prstClr val="black">
                <a:alpha val="40000"/>
              </a:prstClr>
            </a:outerShdw>
          </a:effectLst>
        </p:grpSpPr>
        <p:cxnSp>
          <p:nvCxnSpPr>
            <p:cNvPr id="125" name="Straight Connector 124">
              <a:extLst>
                <a:ext uri="{FF2B5EF4-FFF2-40B4-BE49-F238E27FC236}">
                  <a16:creationId xmlns:a16="http://schemas.microsoft.com/office/drawing/2014/main" id="{FA0182C9-7F1E-49FF-9161-202E94E3B8B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6" name="Straight Connector 125">
              <a:extLst>
                <a:ext uri="{FF2B5EF4-FFF2-40B4-BE49-F238E27FC236}">
                  <a16:creationId xmlns:a16="http://schemas.microsoft.com/office/drawing/2014/main" id="{222D01D3-2E93-44B7-8E43-B36A992BABC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7" name="Straight Connector 126">
              <a:extLst>
                <a:ext uri="{FF2B5EF4-FFF2-40B4-BE49-F238E27FC236}">
                  <a16:creationId xmlns:a16="http://schemas.microsoft.com/office/drawing/2014/main" id="{FED45784-D634-4837-8D2B-563D8C03899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28" name="Straight Connector 127">
              <a:extLst>
                <a:ext uri="{FF2B5EF4-FFF2-40B4-BE49-F238E27FC236}">
                  <a16:creationId xmlns:a16="http://schemas.microsoft.com/office/drawing/2014/main" id="{DC388C4A-1A7C-425B-A91C-D6E0354EF460}"/>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29" name="Group 71">
            <a:extLst>
              <a:ext uri="{FF2B5EF4-FFF2-40B4-BE49-F238E27FC236}">
                <a16:creationId xmlns:a16="http://schemas.microsoft.com/office/drawing/2014/main" id="{26ED1114-8576-4043-AF8B-2B0302279EA7}"/>
              </a:ext>
            </a:extLst>
          </p:cNvPr>
          <p:cNvGrpSpPr/>
          <p:nvPr/>
        </p:nvGrpSpPr>
        <p:grpSpPr>
          <a:xfrm>
            <a:off x="10293854" y="2817527"/>
            <a:ext cx="457082" cy="228600"/>
            <a:chOff x="-66694" y="1130300"/>
            <a:chExt cx="533401" cy="228600"/>
          </a:xfrm>
          <a:effectLst>
            <a:outerShdw blurRad="50800" dist="38100" dir="2700000" algn="tl" rotWithShape="0">
              <a:prstClr val="black">
                <a:alpha val="40000"/>
              </a:prstClr>
            </a:outerShdw>
          </a:effectLst>
        </p:grpSpPr>
        <p:cxnSp>
          <p:nvCxnSpPr>
            <p:cNvPr id="130" name="Straight Connector 129">
              <a:extLst>
                <a:ext uri="{FF2B5EF4-FFF2-40B4-BE49-F238E27FC236}">
                  <a16:creationId xmlns:a16="http://schemas.microsoft.com/office/drawing/2014/main" id="{936789A4-62B7-4711-9E5D-C9FE1041044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1" name="Straight Connector 130">
              <a:extLst>
                <a:ext uri="{FF2B5EF4-FFF2-40B4-BE49-F238E27FC236}">
                  <a16:creationId xmlns:a16="http://schemas.microsoft.com/office/drawing/2014/main" id="{BA057EF0-8BC1-4980-9531-C116852CD657}"/>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2" name="Straight Connector 131">
              <a:extLst>
                <a:ext uri="{FF2B5EF4-FFF2-40B4-BE49-F238E27FC236}">
                  <a16:creationId xmlns:a16="http://schemas.microsoft.com/office/drawing/2014/main" id="{1BC82BA2-B0CF-4B4A-B349-CAC94A7F196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3" name="Straight Connector 132">
              <a:extLst>
                <a:ext uri="{FF2B5EF4-FFF2-40B4-BE49-F238E27FC236}">
                  <a16:creationId xmlns:a16="http://schemas.microsoft.com/office/drawing/2014/main" id="{E24A481B-9B27-4BC7-BD41-7CD03BA6BBC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4" name="Group 71">
            <a:extLst>
              <a:ext uri="{FF2B5EF4-FFF2-40B4-BE49-F238E27FC236}">
                <a16:creationId xmlns:a16="http://schemas.microsoft.com/office/drawing/2014/main" id="{6E9F0BC9-7A01-43E7-B2B3-837D6CE81B1D}"/>
              </a:ext>
            </a:extLst>
          </p:cNvPr>
          <p:cNvGrpSpPr/>
          <p:nvPr/>
        </p:nvGrpSpPr>
        <p:grpSpPr>
          <a:xfrm>
            <a:off x="10754594" y="2817527"/>
            <a:ext cx="457082" cy="228600"/>
            <a:chOff x="-66694" y="1130300"/>
            <a:chExt cx="533401" cy="228600"/>
          </a:xfrm>
          <a:effectLst>
            <a:outerShdw blurRad="50800" dist="38100" dir="2700000" algn="tl" rotWithShape="0">
              <a:prstClr val="black">
                <a:alpha val="40000"/>
              </a:prstClr>
            </a:outerShdw>
          </a:effectLst>
        </p:grpSpPr>
        <p:cxnSp>
          <p:nvCxnSpPr>
            <p:cNvPr id="135" name="Straight Connector 134">
              <a:extLst>
                <a:ext uri="{FF2B5EF4-FFF2-40B4-BE49-F238E27FC236}">
                  <a16:creationId xmlns:a16="http://schemas.microsoft.com/office/drawing/2014/main" id="{EBF629DB-7F33-4117-8002-12FB36EECD34}"/>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6" name="Straight Connector 135">
              <a:extLst>
                <a:ext uri="{FF2B5EF4-FFF2-40B4-BE49-F238E27FC236}">
                  <a16:creationId xmlns:a16="http://schemas.microsoft.com/office/drawing/2014/main" id="{89FBD5D2-812F-4BAA-8608-985583304C4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7" name="Straight Connector 136">
              <a:extLst>
                <a:ext uri="{FF2B5EF4-FFF2-40B4-BE49-F238E27FC236}">
                  <a16:creationId xmlns:a16="http://schemas.microsoft.com/office/drawing/2014/main" id="{9AC4A272-4CF6-4571-BEF9-11EFE270096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38" name="Straight Connector 137">
              <a:extLst>
                <a:ext uri="{FF2B5EF4-FFF2-40B4-BE49-F238E27FC236}">
                  <a16:creationId xmlns:a16="http://schemas.microsoft.com/office/drawing/2014/main" id="{51D0BEF2-B728-4619-B54E-7FD9791C5E4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39" name="Group 71">
            <a:extLst>
              <a:ext uri="{FF2B5EF4-FFF2-40B4-BE49-F238E27FC236}">
                <a16:creationId xmlns:a16="http://schemas.microsoft.com/office/drawing/2014/main" id="{2055AB4D-02DA-4D18-8D75-C12E3F640A7C}"/>
              </a:ext>
            </a:extLst>
          </p:cNvPr>
          <p:cNvGrpSpPr/>
          <p:nvPr/>
        </p:nvGrpSpPr>
        <p:grpSpPr>
          <a:xfrm>
            <a:off x="11218992" y="2817527"/>
            <a:ext cx="457082" cy="228600"/>
            <a:chOff x="-66694" y="1130300"/>
            <a:chExt cx="533401" cy="228600"/>
          </a:xfrm>
          <a:effectLst>
            <a:outerShdw blurRad="50800" dist="38100" dir="2700000" algn="tl" rotWithShape="0">
              <a:prstClr val="black">
                <a:alpha val="40000"/>
              </a:prstClr>
            </a:outerShdw>
          </a:effectLst>
        </p:grpSpPr>
        <p:cxnSp>
          <p:nvCxnSpPr>
            <p:cNvPr id="140" name="Straight Connector 139">
              <a:extLst>
                <a:ext uri="{FF2B5EF4-FFF2-40B4-BE49-F238E27FC236}">
                  <a16:creationId xmlns:a16="http://schemas.microsoft.com/office/drawing/2014/main" id="{54728429-CF3C-421E-B22D-505EF2318CD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1" name="Straight Connector 140">
              <a:extLst>
                <a:ext uri="{FF2B5EF4-FFF2-40B4-BE49-F238E27FC236}">
                  <a16:creationId xmlns:a16="http://schemas.microsoft.com/office/drawing/2014/main" id="{D506D7C6-3114-4404-9E67-40217C0C6FB6}"/>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2" name="Straight Connector 141">
              <a:extLst>
                <a:ext uri="{FF2B5EF4-FFF2-40B4-BE49-F238E27FC236}">
                  <a16:creationId xmlns:a16="http://schemas.microsoft.com/office/drawing/2014/main" id="{CA0E5AF7-FA87-4903-B168-F6F11269709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3" name="Straight Connector 142">
              <a:extLst>
                <a:ext uri="{FF2B5EF4-FFF2-40B4-BE49-F238E27FC236}">
                  <a16:creationId xmlns:a16="http://schemas.microsoft.com/office/drawing/2014/main" id="{B01336DB-704D-47C2-9C85-F107F378BF42}"/>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44" name="Right Arrow 33">
            <a:extLst>
              <a:ext uri="{FF2B5EF4-FFF2-40B4-BE49-F238E27FC236}">
                <a16:creationId xmlns:a16="http://schemas.microsoft.com/office/drawing/2014/main" id="{0901144A-D182-4F01-9667-AD1A412516C2}"/>
              </a:ext>
            </a:extLst>
          </p:cNvPr>
          <p:cNvSpPr/>
          <p:nvPr/>
        </p:nvSpPr>
        <p:spPr>
          <a:xfrm>
            <a:off x="5788842" y="2855931"/>
            <a:ext cx="81909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sp>
        <p:nvSpPr>
          <p:cNvPr id="145" name="Rounded Rectangle 34">
            <a:extLst>
              <a:ext uri="{FF2B5EF4-FFF2-40B4-BE49-F238E27FC236}">
                <a16:creationId xmlns:a16="http://schemas.microsoft.com/office/drawing/2014/main" id="{016E34D8-A605-4CAA-B2E9-B5709F4209A2}"/>
              </a:ext>
            </a:extLst>
          </p:cNvPr>
          <p:cNvSpPr/>
          <p:nvPr/>
        </p:nvSpPr>
        <p:spPr>
          <a:xfrm>
            <a:off x="7068675" y="3124766"/>
            <a:ext cx="4044272" cy="230430"/>
          </a:xfrm>
          <a:prstGeom prst="roundRect">
            <a:avLst/>
          </a:prstGeom>
          <a:solidFill>
            <a:srgbClr val="008CA8"/>
          </a:solidFill>
          <a:ln w="25400" cap="flat" cmpd="sng" algn="ctr">
            <a:solidFill>
              <a:srgbClr val="008CA8">
                <a:shade val="50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sz="800" b="1" kern="0" dirty="0">
                <a:solidFill>
                  <a:srgbClr val="FFFFFF"/>
                </a:solidFill>
                <a:latin typeface="Arial"/>
              </a:rPr>
              <a:t>Init  RAM</a:t>
            </a:r>
          </a:p>
        </p:txBody>
      </p:sp>
      <p:grpSp>
        <p:nvGrpSpPr>
          <p:cNvPr id="146" name="Group 71">
            <a:extLst>
              <a:ext uri="{FF2B5EF4-FFF2-40B4-BE49-F238E27FC236}">
                <a16:creationId xmlns:a16="http://schemas.microsoft.com/office/drawing/2014/main" id="{56EA0A67-7A0C-42D5-AD2C-496EEFA63F0A}"/>
              </a:ext>
            </a:extLst>
          </p:cNvPr>
          <p:cNvGrpSpPr/>
          <p:nvPr/>
        </p:nvGrpSpPr>
        <p:grpSpPr>
          <a:xfrm>
            <a:off x="7068676" y="2817526"/>
            <a:ext cx="457082" cy="228600"/>
            <a:chOff x="-66694" y="1130300"/>
            <a:chExt cx="533401" cy="228600"/>
          </a:xfrm>
          <a:effectLst>
            <a:outerShdw blurRad="50800" dist="38100" dir="2700000" algn="tl" rotWithShape="0">
              <a:prstClr val="black">
                <a:alpha val="40000"/>
              </a:prstClr>
            </a:outerShdw>
          </a:effectLst>
        </p:grpSpPr>
        <p:cxnSp>
          <p:nvCxnSpPr>
            <p:cNvPr id="147" name="Straight Connector 146">
              <a:extLst>
                <a:ext uri="{FF2B5EF4-FFF2-40B4-BE49-F238E27FC236}">
                  <a16:creationId xmlns:a16="http://schemas.microsoft.com/office/drawing/2014/main" id="{864A3D24-7B9B-45F1-A469-CE4205D418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8" name="Straight Connector 147">
              <a:extLst>
                <a:ext uri="{FF2B5EF4-FFF2-40B4-BE49-F238E27FC236}">
                  <a16:creationId xmlns:a16="http://schemas.microsoft.com/office/drawing/2014/main" id="{EEF5CFF5-C955-47A1-ABE6-55F29378A98B}"/>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49" name="Straight Connector 148">
              <a:extLst>
                <a:ext uri="{FF2B5EF4-FFF2-40B4-BE49-F238E27FC236}">
                  <a16:creationId xmlns:a16="http://schemas.microsoft.com/office/drawing/2014/main" id="{4DBB6AD5-FEC1-40D0-829D-1C238F89D338}"/>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0" name="Straight Connector 149">
              <a:extLst>
                <a:ext uri="{FF2B5EF4-FFF2-40B4-BE49-F238E27FC236}">
                  <a16:creationId xmlns:a16="http://schemas.microsoft.com/office/drawing/2014/main" id="{381516AC-F5E1-4BF2-95F6-B3005FC1FF8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1" name="Group 71">
            <a:extLst>
              <a:ext uri="{FF2B5EF4-FFF2-40B4-BE49-F238E27FC236}">
                <a16:creationId xmlns:a16="http://schemas.microsoft.com/office/drawing/2014/main" id="{DB320CBE-3E53-4266-AA18-00BEF8707167}"/>
              </a:ext>
            </a:extLst>
          </p:cNvPr>
          <p:cNvGrpSpPr/>
          <p:nvPr/>
        </p:nvGrpSpPr>
        <p:grpSpPr>
          <a:xfrm>
            <a:off x="7525758" y="2817526"/>
            <a:ext cx="457082" cy="228600"/>
            <a:chOff x="-66694" y="1130300"/>
            <a:chExt cx="533401" cy="228600"/>
          </a:xfrm>
          <a:effectLst>
            <a:outerShdw blurRad="50800" dist="38100" dir="2700000" algn="tl" rotWithShape="0">
              <a:prstClr val="black">
                <a:alpha val="40000"/>
              </a:prstClr>
            </a:outerShdw>
          </a:effectLst>
        </p:grpSpPr>
        <p:cxnSp>
          <p:nvCxnSpPr>
            <p:cNvPr id="152" name="Straight Connector 151">
              <a:extLst>
                <a:ext uri="{FF2B5EF4-FFF2-40B4-BE49-F238E27FC236}">
                  <a16:creationId xmlns:a16="http://schemas.microsoft.com/office/drawing/2014/main" id="{A5BFB495-4884-43CE-AC26-537BB516C96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3" name="Straight Connector 152">
              <a:extLst>
                <a:ext uri="{FF2B5EF4-FFF2-40B4-BE49-F238E27FC236}">
                  <a16:creationId xmlns:a16="http://schemas.microsoft.com/office/drawing/2014/main" id="{5C989E20-6EBF-406D-9D4E-EA36E41AA889}"/>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4" name="Straight Connector 153">
              <a:extLst>
                <a:ext uri="{FF2B5EF4-FFF2-40B4-BE49-F238E27FC236}">
                  <a16:creationId xmlns:a16="http://schemas.microsoft.com/office/drawing/2014/main" id="{BC30B061-2005-46B4-9B3F-45182E3DFF1F}"/>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5" name="Straight Connector 154">
              <a:extLst>
                <a:ext uri="{FF2B5EF4-FFF2-40B4-BE49-F238E27FC236}">
                  <a16:creationId xmlns:a16="http://schemas.microsoft.com/office/drawing/2014/main" id="{BF014B9E-A510-4B83-8533-7913B110485B}"/>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56" name="Group 71">
            <a:extLst>
              <a:ext uri="{FF2B5EF4-FFF2-40B4-BE49-F238E27FC236}">
                <a16:creationId xmlns:a16="http://schemas.microsoft.com/office/drawing/2014/main" id="{28DD6C8F-5368-4455-9CE3-2321311BB67A}"/>
              </a:ext>
            </a:extLst>
          </p:cNvPr>
          <p:cNvGrpSpPr/>
          <p:nvPr/>
        </p:nvGrpSpPr>
        <p:grpSpPr>
          <a:xfrm>
            <a:off x="7986498" y="2817526"/>
            <a:ext cx="457082" cy="228600"/>
            <a:chOff x="-66694" y="1130300"/>
            <a:chExt cx="533401" cy="228600"/>
          </a:xfrm>
          <a:effectLst>
            <a:outerShdw blurRad="50800" dist="38100" dir="2700000" algn="tl" rotWithShape="0">
              <a:prstClr val="black">
                <a:alpha val="40000"/>
              </a:prstClr>
            </a:outerShdw>
          </a:effectLst>
        </p:grpSpPr>
        <p:cxnSp>
          <p:nvCxnSpPr>
            <p:cNvPr id="157" name="Straight Connector 156">
              <a:extLst>
                <a:ext uri="{FF2B5EF4-FFF2-40B4-BE49-F238E27FC236}">
                  <a16:creationId xmlns:a16="http://schemas.microsoft.com/office/drawing/2014/main" id="{8D1B14E0-2A7A-4B52-B069-CF86CFDF459E}"/>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8" name="Straight Connector 157">
              <a:extLst>
                <a:ext uri="{FF2B5EF4-FFF2-40B4-BE49-F238E27FC236}">
                  <a16:creationId xmlns:a16="http://schemas.microsoft.com/office/drawing/2014/main" id="{B2E64D31-A907-43B2-84B3-C548A81FA6A5}"/>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59" name="Straight Connector 158">
              <a:extLst>
                <a:ext uri="{FF2B5EF4-FFF2-40B4-BE49-F238E27FC236}">
                  <a16:creationId xmlns:a16="http://schemas.microsoft.com/office/drawing/2014/main" id="{237FB2AE-E31D-4CBC-AE57-7AB52E7F3C8E}"/>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0" name="Straight Connector 159">
              <a:extLst>
                <a:ext uri="{FF2B5EF4-FFF2-40B4-BE49-F238E27FC236}">
                  <a16:creationId xmlns:a16="http://schemas.microsoft.com/office/drawing/2014/main" id="{20C66D55-06DE-4048-97B6-70D34687B0F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1" name="Group 71">
            <a:extLst>
              <a:ext uri="{FF2B5EF4-FFF2-40B4-BE49-F238E27FC236}">
                <a16:creationId xmlns:a16="http://schemas.microsoft.com/office/drawing/2014/main" id="{A9DA886D-022F-4984-8F40-3CAEC5D6D996}"/>
              </a:ext>
            </a:extLst>
          </p:cNvPr>
          <p:cNvGrpSpPr/>
          <p:nvPr/>
        </p:nvGrpSpPr>
        <p:grpSpPr>
          <a:xfrm>
            <a:off x="8447238" y="2817526"/>
            <a:ext cx="457082" cy="228600"/>
            <a:chOff x="-66694" y="1130300"/>
            <a:chExt cx="533401" cy="228600"/>
          </a:xfrm>
          <a:effectLst>
            <a:outerShdw blurRad="50800" dist="38100" dir="2700000" algn="tl" rotWithShape="0">
              <a:prstClr val="black">
                <a:alpha val="40000"/>
              </a:prstClr>
            </a:outerShdw>
          </a:effectLst>
        </p:grpSpPr>
        <p:cxnSp>
          <p:nvCxnSpPr>
            <p:cNvPr id="162" name="Straight Connector 161">
              <a:extLst>
                <a:ext uri="{FF2B5EF4-FFF2-40B4-BE49-F238E27FC236}">
                  <a16:creationId xmlns:a16="http://schemas.microsoft.com/office/drawing/2014/main" id="{3BED7D02-951E-4CA0-B7BD-762B8CA939E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3" name="Straight Connector 162">
              <a:extLst>
                <a:ext uri="{FF2B5EF4-FFF2-40B4-BE49-F238E27FC236}">
                  <a16:creationId xmlns:a16="http://schemas.microsoft.com/office/drawing/2014/main" id="{0B5341D2-5599-422B-805F-0599D55F5198}"/>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4" name="Straight Connector 163">
              <a:extLst>
                <a:ext uri="{FF2B5EF4-FFF2-40B4-BE49-F238E27FC236}">
                  <a16:creationId xmlns:a16="http://schemas.microsoft.com/office/drawing/2014/main" id="{A9642DB1-6399-4829-984F-8C3F5937737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5" name="Straight Connector 164">
              <a:extLst>
                <a:ext uri="{FF2B5EF4-FFF2-40B4-BE49-F238E27FC236}">
                  <a16:creationId xmlns:a16="http://schemas.microsoft.com/office/drawing/2014/main" id="{CD4223F5-93DC-492F-9BB5-872D4A0BFA56}"/>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66" name="Group 71">
            <a:extLst>
              <a:ext uri="{FF2B5EF4-FFF2-40B4-BE49-F238E27FC236}">
                <a16:creationId xmlns:a16="http://schemas.microsoft.com/office/drawing/2014/main" id="{ADC06F96-B577-4B6B-945E-B3DFE2F2DC89}"/>
              </a:ext>
            </a:extLst>
          </p:cNvPr>
          <p:cNvGrpSpPr/>
          <p:nvPr/>
        </p:nvGrpSpPr>
        <p:grpSpPr>
          <a:xfrm>
            <a:off x="8911636" y="2817526"/>
            <a:ext cx="457082" cy="228600"/>
            <a:chOff x="-66694" y="1130300"/>
            <a:chExt cx="533401" cy="228600"/>
          </a:xfrm>
          <a:effectLst>
            <a:outerShdw blurRad="50800" dist="38100" dir="2700000" algn="tl" rotWithShape="0">
              <a:prstClr val="black">
                <a:alpha val="40000"/>
              </a:prstClr>
            </a:outerShdw>
          </a:effectLst>
        </p:grpSpPr>
        <p:cxnSp>
          <p:nvCxnSpPr>
            <p:cNvPr id="167" name="Straight Connector 166">
              <a:extLst>
                <a:ext uri="{FF2B5EF4-FFF2-40B4-BE49-F238E27FC236}">
                  <a16:creationId xmlns:a16="http://schemas.microsoft.com/office/drawing/2014/main" id="{C0216B9E-F835-4B4F-85CD-83086850854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8" name="Straight Connector 167">
              <a:extLst>
                <a:ext uri="{FF2B5EF4-FFF2-40B4-BE49-F238E27FC236}">
                  <a16:creationId xmlns:a16="http://schemas.microsoft.com/office/drawing/2014/main" id="{A1445241-CF37-417A-A06F-080E06D6DA6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69" name="Straight Connector 168">
              <a:extLst>
                <a:ext uri="{FF2B5EF4-FFF2-40B4-BE49-F238E27FC236}">
                  <a16:creationId xmlns:a16="http://schemas.microsoft.com/office/drawing/2014/main" id="{95E833B3-8FD1-472F-B682-97209E29792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0" name="Straight Connector 169">
              <a:extLst>
                <a:ext uri="{FF2B5EF4-FFF2-40B4-BE49-F238E27FC236}">
                  <a16:creationId xmlns:a16="http://schemas.microsoft.com/office/drawing/2014/main" id="{C34B8378-427C-4FC0-87A2-5408351BAB0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1" name="TextBox 170">
            <a:extLst>
              <a:ext uri="{FF2B5EF4-FFF2-40B4-BE49-F238E27FC236}">
                <a16:creationId xmlns:a16="http://schemas.microsoft.com/office/drawing/2014/main" id="{C283802B-FDB7-4F9C-99E4-C210C8ADA863}"/>
              </a:ext>
            </a:extLst>
          </p:cNvPr>
          <p:cNvSpPr txBox="1"/>
          <p:nvPr/>
        </p:nvSpPr>
        <p:spPr>
          <a:xfrm>
            <a:off x="1386215" y="4496492"/>
            <a:ext cx="4197853" cy="50783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static int coeff[8] = {4, -2, 8, -4, 10, 14, 10, -4, 8, -2, 4};</a:t>
            </a:r>
          </a:p>
          <a:p>
            <a:pPr defTabSz="914400" fontAlgn="base">
              <a:spcBef>
                <a:spcPct val="0"/>
              </a:spcBef>
              <a:spcAft>
                <a:spcPct val="0"/>
              </a:spcAft>
              <a:defRPr/>
            </a:pPr>
            <a:endParaRPr lang="en-US" sz="900" b="1" kern="0" dirty="0">
              <a:solidFill>
                <a:srgbClr val="000000"/>
              </a:solidFill>
              <a:latin typeface="Arial"/>
            </a:endParaRPr>
          </a:p>
        </p:txBody>
      </p:sp>
      <p:grpSp>
        <p:nvGrpSpPr>
          <p:cNvPr id="172" name="Group 71">
            <a:extLst>
              <a:ext uri="{FF2B5EF4-FFF2-40B4-BE49-F238E27FC236}">
                <a16:creationId xmlns:a16="http://schemas.microsoft.com/office/drawing/2014/main" id="{AF17D94D-FD30-4AF6-A75D-21A2CBA28495}"/>
              </a:ext>
            </a:extLst>
          </p:cNvPr>
          <p:cNvGrpSpPr/>
          <p:nvPr/>
        </p:nvGrpSpPr>
        <p:grpSpPr>
          <a:xfrm>
            <a:off x="9376032" y="4496491"/>
            <a:ext cx="457082" cy="228600"/>
            <a:chOff x="-66694" y="1130300"/>
            <a:chExt cx="533401" cy="228600"/>
          </a:xfrm>
          <a:effectLst>
            <a:outerShdw blurRad="50800" dist="38100" dir="2700000" algn="tl" rotWithShape="0">
              <a:prstClr val="black">
                <a:alpha val="40000"/>
              </a:prstClr>
            </a:outerShdw>
          </a:effectLst>
        </p:grpSpPr>
        <p:cxnSp>
          <p:nvCxnSpPr>
            <p:cNvPr id="173" name="Straight Connector 172">
              <a:extLst>
                <a:ext uri="{FF2B5EF4-FFF2-40B4-BE49-F238E27FC236}">
                  <a16:creationId xmlns:a16="http://schemas.microsoft.com/office/drawing/2014/main" id="{2FC1AD07-3E26-423B-A3B9-31CC06199EB5}"/>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4" name="Straight Connector 173">
              <a:extLst>
                <a:ext uri="{FF2B5EF4-FFF2-40B4-BE49-F238E27FC236}">
                  <a16:creationId xmlns:a16="http://schemas.microsoft.com/office/drawing/2014/main" id="{F1B97FED-69DF-4D94-A794-6A4D58D0815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5" name="Straight Connector 174">
              <a:extLst>
                <a:ext uri="{FF2B5EF4-FFF2-40B4-BE49-F238E27FC236}">
                  <a16:creationId xmlns:a16="http://schemas.microsoft.com/office/drawing/2014/main" id="{7244A561-B23D-455C-8908-A3BB090794B6}"/>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76" name="Straight Connector 175">
              <a:extLst>
                <a:ext uri="{FF2B5EF4-FFF2-40B4-BE49-F238E27FC236}">
                  <a16:creationId xmlns:a16="http://schemas.microsoft.com/office/drawing/2014/main" id="{63910688-D7EC-4166-AEC8-46EEEB08A814}"/>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77" name="Rounded Rectangle 66">
            <a:extLst>
              <a:ext uri="{FF2B5EF4-FFF2-40B4-BE49-F238E27FC236}">
                <a16:creationId xmlns:a16="http://schemas.microsoft.com/office/drawing/2014/main" id="{5BF278D1-47B7-4F22-962B-F26ABD5FDECD}"/>
              </a:ext>
            </a:extLst>
          </p:cNvPr>
          <p:cNvSpPr/>
          <p:nvPr/>
        </p:nvSpPr>
        <p:spPr>
          <a:xfrm>
            <a:off x="7068674" y="4803732"/>
            <a:ext cx="4556208" cy="230431"/>
          </a:xfrm>
          <a:prstGeom prst="roundRect">
            <a:avLst/>
          </a:prstGeom>
          <a:solidFill>
            <a:srgbClr val="6D7076"/>
          </a:solidFill>
          <a:ln w="25400" cap="flat" cmpd="sng" algn="ctr">
            <a:solidFill>
              <a:srgbClr val="6D7076">
                <a:shade val="50000"/>
              </a:srgbClr>
            </a:solidFill>
            <a:prstDash val="solid"/>
          </a:ln>
          <a:effectLst>
            <a:outerShdw blurRad="50800" dist="38100" dir="2700000" algn="tl" rotWithShape="0">
              <a:prstClr val="black">
                <a:alpha val="40000"/>
              </a:prstClr>
            </a:outerShdw>
          </a:effectLst>
        </p:spPr>
        <p:txBody>
          <a:bodyPr rtlCol="0" anchor="ctr"/>
          <a:lstStyle/>
          <a:p>
            <a:pPr algn="ctr" defTabSz="914400" fontAlgn="base">
              <a:spcBef>
                <a:spcPct val="0"/>
              </a:spcBef>
              <a:spcAft>
                <a:spcPct val="0"/>
              </a:spcAft>
              <a:defRPr/>
            </a:pPr>
            <a:r>
              <a:rPr lang="en-US" sz="800" b="1" kern="0" dirty="0">
                <a:solidFill>
                  <a:srgbClr val="FFFFFF"/>
                </a:solidFill>
                <a:latin typeface="Arial"/>
              </a:rPr>
              <a:t>Run</a:t>
            </a:r>
          </a:p>
        </p:txBody>
      </p:sp>
      <p:grpSp>
        <p:nvGrpSpPr>
          <p:cNvPr id="178" name="Group 71">
            <a:extLst>
              <a:ext uri="{FF2B5EF4-FFF2-40B4-BE49-F238E27FC236}">
                <a16:creationId xmlns:a16="http://schemas.microsoft.com/office/drawing/2014/main" id="{FD6C5FBA-57A2-440B-B52E-35482F49E6AD}"/>
              </a:ext>
            </a:extLst>
          </p:cNvPr>
          <p:cNvGrpSpPr/>
          <p:nvPr/>
        </p:nvGrpSpPr>
        <p:grpSpPr>
          <a:xfrm>
            <a:off x="9833115" y="4496491"/>
            <a:ext cx="457082" cy="228600"/>
            <a:chOff x="-66694" y="1130300"/>
            <a:chExt cx="533401" cy="228600"/>
          </a:xfrm>
          <a:effectLst>
            <a:outerShdw blurRad="50800" dist="38100" dir="2700000" algn="tl" rotWithShape="0">
              <a:prstClr val="black">
                <a:alpha val="40000"/>
              </a:prstClr>
            </a:outerShdw>
          </a:effectLst>
        </p:grpSpPr>
        <p:cxnSp>
          <p:nvCxnSpPr>
            <p:cNvPr id="179" name="Straight Connector 178">
              <a:extLst>
                <a:ext uri="{FF2B5EF4-FFF2-40B4-BE49-F238E27FC236}">
                  <a16:creationId xmlns:a16="http://schemas.microsoft.com/office/drawing/2014/main" id="{2AE982ED-6BFE-4768-9690-5B5D7541AF99}"/>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0" name="Straight Connector 179">
              <a:extLst>
                <a:ext uri="{FF2B5EF4-FFF2-40B4-BE49-F238E27FC236}">
                  <a16:creationId xmlns:a16="http://schemas.microsoft.com/office/drawing/2014/main" id="{27421E7A-2CC1-4939-8B5C-B558D63C0134}"/>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1" name="Straight Connector 180">
              <a:extLst>
                <a:ext uri="{FF2B5EF4-FFF2-40B4-BE49-F238E27FC236}">
                  <a16:creationId xmlns:a16="http://schemas.microsoft.com/office/drawing/2014/main" id="{A5912DDF-7DBD-4F6F-B7C5-718E2AA6BB9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2" name="Straight Connector 181">
              <a:extLst>
                <a:ext uri="{FF2B5EF4-FFF2-40B4-BE49-F238E27FC236}">
                  <a16:creationId xmlns:a16="http://schemas.microsoft.com/office/drawing/2014/main" id="{DDC0636E-E7C9-473D-BFF6-F67931A23045}"/>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3" name="Group 71">
            <a:extLst>
              <a:ext uri="{FF2B5EF4-FFF2-40B4-BE49-F238E27FC236}">
                <a16:creationId xmlns:a16="http://schemas.microsoft.com/office/drawing/2014/main" id="{D053D0C3-B1A6-455F-B811-D16C95947FEA}"/>
              </a:ext>
            </a:extLst>
          </p:cNvPr>
          <p:cNvGrpSpPr/>
          <p:nvPr/>
        </p:nvGrpSpPr>
        <p:grpSpPr>
          <a:xfrm>
            <a:off x="10293854" y="4496491"/>
            <a:ext cx="457082" cy="228600"/>
            <a:chOff x="-66694" y="1130300"/>
            <a:chExt cx="533401" cy="228600"/>
          </a:xfrm>
          <a:effectLst>
            <a:outerShdw blurRad="50800" dist="38100" dir="2700000" algn="tl" rotWithShape="0">
              <a:prstClr val="black">
                <a:alpha val="40000"/>
              </a:prstClr>
            </a:outerShdw>
          </a:effectLst>
        </p:grpSpPr>
        <p:cxnSp>
          <p:nvCxnSpPr>
            <p:cNvPr id="184" name="Straight Connector 183">
              <a:extLst>
                <a:ext uri="{FF2B5EF4-FFF2-40B4-BE49-F238E27FC236}">
                  <a16:creationId xmlns:a16="http://schemas.microsoft.com/office/drawing/2014/main" id="{F01BE0B6-65DC-4DDC-B0DB-043CC5285CC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5" name="Straight Connector 184">
              <a:extLst>
                <a:ext uri="{FF2B5EF4-FFF2-40B4-BE49-F238E27FC236}">
                  <a16:creationId xmlns:a16="http://schemas.microsoft.com/office/drawing/2014/main" id="{CA13A9FD-9A79-4A2E-98D3-4E43ADB22C41}"/>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6" name="Straight Connector 185">
              <a:extLst>
                <a:ext uri="{FF2B5EF4-FFF2-40B4-BE49-F238E27FC236}">
                  <a16:creationId xmlns:a16="http://schemas.microsoft.com/office/drawing/2014/main" id="{106F6E93-2D92-4200-A2BE-B6E442492BD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87" name="Straight Connector 186">
              <a:extLst>
                <a:ext uri="{FF2B5EF4-FFF2-40B4-BE49-F238E27FC236}">
                  <a16:creationId xmlns:a16="http://schemas.microsoft.com/office/drawing/2014/main" id="{2CE0DF9A-0CD2-4894-9064-1270547AB09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88" name="Group 71">
            <a:extLst>
              <a:ext uri="{FF2B5EF4-FFF2-40B4-BE49-F238E27FC236}">
                <a16:creationId xmlns:a16="http://schemas.microsoft.com/office/drawing/2014/main" id="{619DEEED-E7CA-4499-AC59-53BAF7B9ED02}"/>
              </a:ext>
            </a:extLst>
          </p:cNvPr>
          <p:cNvGrpSpPr/>
          <p:nvPr/>
        </p:nvGrpSpPr>
        <p:grpSpPr>
          <a:xfrm>
            <a:off x="10754594" y="4496491"/>
            <a:ext cx="457082" cy="228600"/>
            <a:chOff x="-66694" y="1130300"/>
            <a:chExt cx="533401" cy="228600"/>
          </a:xfrm>
          <a:effectLst>
            <a:outerShdw blurRad="50800" dist="38100" dir="2700000" algn="tl" rotWithShape="0">
              <a:prstClr val="black">
                <a:alpha val="40000"/>
              </a:prstClr>
            </a:outerShdw>
          </a:effectLst>
        </p:grpSpPr>
        <p:cxnSp>
          <p:nvCxnSpPr>
            <p:cNvPr id="189" name="Straight Connector 188">
              <a:extLst>
                <a:ext uri="{FF2B5EF4-FFF2-40B4-BE49-F238E27FC236}">
                  <a16:creationId xmlns:a16="http://schemas.microsoft.com/office/drawing/2014/main" id="{7526AAC1-7B1C-464C-911B-1AD62F67F83F}"/>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0" name="Straight Connector 189">
              <a:extLst>
                <a:ext uri="{FF2B5EF4-FFF2-40B4-BE49-F238E27FC236}">
                  <a16:creationId xmlns:a16="http://schemas.microsoft.com/office/drawing/2014/main" id="{84FBA1F9-8355-4EFA-B6E1-D64E57A1E240}"/>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1" name="Straight Connector 190">
              <a:extLst>
                <a:ext uri="{FF2B5EF4-FFF2-40B4-BE49-F238E27FC236}">
                  <a16:creationId xmlns:a16="http://schemas.microsoft.com/office/drawing/2014/main" id="{D7848658-2E19-497D-B6BA-746CF5B2CF9A}"/>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2" name="Straight Connector 191">
              <a:extLst>
                <a:ext uri="{FF2B5EF4-FFF2-40B4-BE49-F238E27FC236}">
                  <a16:creationId xmlns:a16="http://schemas.microsoft.com/office/drawing/2014/main" id="{3CC8A9E4-16D7-4AF1-97B5-A662BC69F0A8}"/>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193" name="Group 71">
            <a:extLst>
              <a:ext uri="{FF2B5EF4-FFF2-40B4-BE49-F238E27FC236}">
                <a16:creationId xmlns:a16="http://schemas.microsoft.com/office/drawing/2014/main" id="{723AD7F8-9A85-4CA4-BA6A-6508F0097CE7}"/>
              </a:ext>
            </a:extLst>
          </p:cNvPr>
          <p:cNvGrpSpPr/>
          <p:nvPr/>
        </p:nvGrpSpPr>
        <p:grpSpPr>
          <a:xfrm>
            <a:off x="11218992" y="4496491"/>
            <a:ext cx="457082" cy="228600"/>
            <a:chOff x="-66694" y="1130300"/>
            <a:chExt cx="533401" cy="228600"/>
          </a:xfrm>
          <a:effectLst>
            <a:outerShdw blurRad="50800" dist="38100" dir="2700000" algn="tl" rotWithShape="0">
              <a:prstClr val="black">
                <a:alpha val="40000"/>
              </a:prstClr>
            </a:outerShdw>
          </a:effectLst>
        </p:grpSpPr>
        <p:cxnSp>
          <p:nvCxnSpPr>
            <p:cNvPr id="194" name="Straight Connector 193">
              <a:extLst>
                <a:ext uri="{FF2B5EF4-FFF2-40B4-BE49-F238E27FC236}">
                  <a16:creationId xmlns:a16="http://schemas.microsoft.com/office/drawing/2014/main" id="{A4EEF26E-0A2B-4F74-9A4B-55784172250B}"/>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5" name="Straight Connector 194">
              <a:extLst>
                <a:ext uri="{FF2B5EF4-FFF2-40B4-BE49-F238E27FC236}">
                  <a16:creationId xmlns:a16="http://schemas.microsoft.com/office/drawing/2014/main" id="{A72DB035-8D86-43F1-8BA3-30AB5B02A02F}"/>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6" name="Straight Connector 195">
              <a:extLst>
                <a:ext uri="{FF2B5EF4-FFF2-40B4-BE49-F238E27FC236}">
                  <a16:creationId xmlns:a16="http://schemas.microsoft.com/office/drawing/2014/main" id="{79855B21-3CC3-497D-B96C-CE6C7EDA6DC5}"/>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197" name="Straight Connector 196">
              <a:extLst>
                <a:ext uri="{FF2B5EF4-FFF2-40B4-BE49-F238E27FC236}">
                  <a16:creationId xmlns:a16="http://schemas.microsoft.com/office/drawing/2014/main" id="{C47E9BBD-79C1-4FAC-A9AB-5E1884B9F2A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
        <p:nvSpPr>
          <p:cNvPr id="198" name="TextBox 197">
            <a:extLst>
              <a:ext uri="{FF2B5EF4-FFF2-40B4-BE49-F238E27FC236}">
                <a16:creationId xmlns:a16="http://schemas.microsoft.com/office/drawing/2014/main" id="{82E8D914-5DD1-48B8-BF0C-F6F50F90FB56}"/>
              </a:ext>
            </a:extLst>
          </p:cNvPr>
          <p:cNvSpPr txBox="1"/>
          <p:nvPr/>
        </p:nvSpPr>
        <p:spPr>
          <a:xfrm>
            <a:off x="7375835" y="5149375"/>
            <a:ext cx="3993080" cy="600164"/>
          </a:xfrm>
          <a:prstGeom prst="rect">
            <a:avLst/>
          </a:prstGeom>
          <a:solidFill>
            <a:srgbClr val="FFFF99"/>
          </a:solidFill>
          <a:ln w="38100">
            <a:solidFill>
              <a:srgbClr val="FF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A coefficient array does not need to be initialized every time but doing that costs “nothing” in software, unlike hardware</a:t>
            </a:r>
          </a:p>
        </p:txBody>
      </p:sp>
      <p:sp>
        <p:nvSpPr>
          <p:cNvPr id="199" name="Right Arrow 88">
            <a:extLst>
              <a:ext uri="{FF2B5EF4-FFF2-40B4-BE49-F238E27FC236}">
                <a16:creationId xmlns:a16="http://schemas.microsoft.com/office/drawing/2014/main" id="{11C3D4C5-842A-4BA2-A4DB-A1BEB57C483D}"/>
              </a:ext>
            </a:extLst>
          </p:cNvPr>
          <p:cNvSpPr/>
          <p:nvPr/>
        </p:nvSpPr>
        <p:spPr>
          <a:xfrm>
            <a:off x="5788842" y="4534895"/>
            <a:ext cx="819093" cy="38405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grpSp>
        <p:nvGrpSpPr>
          <p:cNvPr id="200" name="Group 71">
            <a:extLst>
              <a:ext uri="{FF2B5EF4-FFF2-40B4-BE49-F238E27FC236}">
                <a16:creationId xmlns:a16="http://schemas.microsoft.com/office/drawing/2014/main" id="{B309B5FE-0075-4F79-AF93-3ACD30F7ED2E}"/>
              </a:ext>
            </a:extLst>
          </p:cNvPr>
          <p:cNvGrpSpPr/>
          <p:nvPr/>
        </p:nvGrpSpPr>
        <p:grpSpPr>
          <a:xfrm>
            <a:off x="7068676" y="4496490"/>
            <a:ext cx="457082" cy="228600"/>
            <a:chOff x="-66694" y="1130300"/>
            <a:chExt cx="533401" cy="228600"/>
          </a:xfrm>
          <a:effectLst>
            <a:outerShdw blurRad="50800" dist="38100" dir="2700000" algn="tl" rotWithShape="0">
              <a:prstClr val="black">
                <a:alpha val="40000"/>
              </a:prstClr>
            </a:outerShdw>
          </a:effectLst>
        </p:grpSpPr>
        <p:cxnSp>
          <p:nvCxnSpPr>
            <p:cNvPr id="201" name="Straight Connector 200">
              <a:extLst>
                <a:ext uri="{FF2B5EF4-FFF2-40B4-BE49-F238E27FC236}">
                  <a16:creationId xmlns:a16="http://schemas.microsoft.com/office/drawing/2014/main" id="{A409C3C1-C6F3-4A79-B58E-1BC1000D5617}"/>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2" name="Straight Connector 201">
              <a:extLst>
                <a:ext uri="{FF2B5EF4-FFF2-40B4-BE49-F238E27FC236}">
                  <a16:creationId xmlns:a16="http://schemas.microsoft.com/office/drawing/2014/main" id="{1587CAFA-AED7-411B-8DB8-6EFF84ACB59A}"/>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3" name="Straight Connector 202">
              <a:extLst>
                <a:ext uri="{FF2B5EF4-FFF2-40B4-BE49-F238E27FC236}">
                  <a16:creationId xmlns:a16="http://schemas.microsoft.com/office/drawing/2014/main" id="{B051BF7D-3667-4AE3-92F1-C9E399EE4E79}"/>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4" name="Straight Connector 203">
              <a:extLst>
                <a:ext uri="{FF2B5EF4-FFF2-40B4-BE49-F238E27FC236}">
                  <a16:creationId xmlns:a16="http://schemas.microsoft.com/office/drawing/2014/main" id="{F1F9FB33-4345-4D90-B997-3456E3477A2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05" name="Group 71">
            <a:extLst>
              <a:ext uri="{FF2B5EF4-FFF2-40B4-BE49-F238E27FC236}">
                <a16:creationId xmlns:a16="http://schemas.microsoft.com/office/drawing/2014/main" id="{AAF8F8E3-D9AD-4A41-ADA1-C04E3CE0A2DC}"/>
              </a:ext>
            </a:extLst>
          </p:cNvPr>
          <p:cNvGrpSpPr/>
          <p:nvPr/>
        </p:nvGrpSpPr>
        <p:grpSpPr>
          <a:xfrm>
            <a:off x="7525758" y="4496490"/>
            <a:ext cx="457082" cy="228600"/>
            <a:chOff x="-66694" y="1130300"/>
            <a:chExt cx="533401" cy="228600"/>
          </a:xfrm>
          <a:effectLst>
            <a:outerShdw blurRad="50800" dist="38100" dir="2700000" algn="tl" rotWithShape="0">
              <a:prstClr val="black">
                <a:alpha val="40000"/>
              </a:prstClr>
            </a:outerShdw>
          </a:effectLst>
        </p:grpSpPr>
        <p:cxnSp>
          <p:nvCxnSpPr>
            <p:cNvPr id="206" name="Straight Connector 205">
              <a:extLst>
                <a:ext uri="{FF2B5EF4-FFF2-40B4-BE49-F238E27FC236}">
                  <a16:creationId xmlns:a16="http://schemas.microsoft.com/office/drawing/2014/main" id="{BC82BF38-46C0-46BE-B5A5-6F2D86F09853}"/>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7" name="Straight Connector 206">
              <a:extLst>
                <a:ext uri="{FF2B5EF4-FFF2-40B4-BE49-F238E27FC236}">
                  <a16:creationId xmlns:a16="http://schemas.microsoft.com/office/drawing/2014/main" id="{9985AF77-A2AF-4BB2-930D-07B91813498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8" name="Straight Connector 207">
              <a:extLst>
                <a:ext uri="{FF2B5EF4-FFF2-40B4-BE49-F238E27FC236}">
                  <a16:creationId xmlns:a16="http://schemas.microsoft.com/office/drawing/2014/main" id="{B8238A20-26BB-4C69-A728-9E59ECE6631D}"/>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09" name="Straight Connector 208">
              <a:extLst>
                <a:ext uri="{FF2B5EF4-FFF2-40B4-BE49-F238E27FC236}">
                  <a16:creationId xmlns:a16="http://schemas.microsoft.com/office/drawing/2014/main" id="{2C658A12-5494-4923-A3EA-62357DA20FCE}"/>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10" name="Group 71">
            <a:extLst>
              <a:ext uri="{FF2B5EF4-FFF2-40B4-BE49-F238E27FC236}">
                <a16:creationId xmlns:a16="http://schemas.microsoft.com/office/drawing/2014/main" id="{4122EAA7-89C0-4FDD-BBA0-4115C9EF349E}"/>
              </a:ext>
            </a:extLst>
          </p:cNvPr>
          <p:cNvGrpSpPr/>
          <p:nvPr/>
        </p:nvGrpSpPr>
        <p:grpSpPr>
          <a:xfrm>
            <a:off x="7986498" y="4496490"/>
            <a:ext cx="457082" cy="228600"/>
            <a:chOff x="-66694" y="1130300"/>
            <a:chExt cx="533401" cy="228600"/>
          </a:xfrm>
          <a:effectLst>
            <a:outerShdw blurRad="50800" dist="38100" dir="2700000" algn="tl" rotWithShape="0">
              <a:prstClr val="black">
                <a:alpha val="40000"/>
              </a:prstClr>
            </a:outerShdw>
          </a:effectLst>
        </p:grpSpPr>
        <p:cxnSp>
          <p:nvCxnSpPr>
            <p:cNvPr id="211" name="Straight Connector 210">
              <a:extLst>
                <a:ext uri="{FF2B5EF4-FFF2-40B4-BE49-F238E27FC236}">
                  <a16:creationId xmlns:a16="http://schemas.microsoft.com/office/drawing/2014/main" id="{916D9A30-B82E-4C8C-AE63-07E6912C691A}"/>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2" name="Straight Connector 211">
              <a:extLst>
                <a:ext uri="{FF2B5EF4-FFF2-40B4-BE49-F238E27FC236}">
                  <a16:creationId xmlns:a16="http://schemas.microsoft.com/office/drawing/2014/main" id="{EAEE4A75-EADD-41E8-AC37-B75857FFAE3D}"/>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3" name="Straight Connector 212">
              <a:extLst>
                <a:ext uri="{FF2B5EF4-FFF2-40B4-BE49-F238E27FC236}">
                  <a16:creationId xmlns:a16="http://schemas.microsoft.com/office/drawing/2014/main" id="{945AB16F-C80C-43A0-8A41-4DAFBDB16F73}"/>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4" name="Straight Connector 213">
              <a:extLst>
                <a:ext uri="{FF2B5EF4-FFF2-40B4-BE49-F238E27FC236}">
                  <a16:creationId xmlns:a16="http://schemas.microsoft.com/office/drawing/2014/main" id="{2AF6AE36-A2A5-4AFE-BE14-BF88BAA733DA}"/>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15" name="Group 71">
            <a:extLst>
              <a:ext uri="{FF2B5EF4-FFF2-40B4-BE49-F238E27FC236}">
                <a16:creationId xmlns:a16="http://schemas.microsoft.com/office/drawing/2014/main" id="{89BAF926-1563-4312-ACA9-187B62AD6B7D}"/>
              </a:ext>
            </a:extLst>
          </p:cNvPr>
          <p:cNvGrpSpPr/>
          <p:nvPr/>
        </p:nvGrpSpPr>
        <p:grpSpPr>
          <a:xfrm>
            <a:off x="8447238" y="4496490"/>
            <a:ext cx="457082" cy="228600"/>
            <a:chOff x="-66694" y="1130300"/>
            <a:chExt cx="533401" cy="228600"/>
          </a:xfrm>
          <a:effectLst>
            <a:outerShdw blurRad="50800" dist="38100" dir="2700000" algn="tl" rotWithShape="0">
              <a:prstClr val="black">
                <a:alpha val="40000"/>
              </a:prstClr>
            </a:outerShdw>
          </a:effectLst>
        </p:grpSpPr>
        <p:cxnSp>
          <p:nvCxnSpPr>
            <p:cNvPr id="216" name="Straight Connector 215">
              <a:extLst>
                <a:ext uri="{FF2B5EF4-FFF2-40B4-BE49-F238E27FC236}">
                  <a16:creationId xmlns:a16="http://schemas.microsoft.com/office/drawing/2014/main" id="{36647AB6-3B9E-4528-AE32-5DE9028950B8}"/>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7" name="Straight Connector 216">
              <a:extLst>
                <a:ext uri="{FF2B5EF4-FFF2-40B4-BE49-F238E27FC236}">
                  <a16:creationId xmlns:a16="http://schemas.microsoft.com/office/drawing/2014/main" id="{8F8990BC-D11B-4173-821A-3FEED2895473}"/>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8" name="Straight Connector 217">
              <a:extLst>
                <a:ext uri="{FF2B5EF4-FFF2-40B4-BE49-F238E27FC236}">
                  <a16:creationId xmlns:a16="http://schemas.microsoft.com/office/drawing/2014/main" id="{5789E112-3DC9-4052-9A7A-0580E80DA1DB}"/>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19" name="Straight Connector 218">
              <a:extLst>
                <a:ext uri="{FF2B5EF4-FFF2-40B4-BE49-F238E27FC236}">
                  <a16:creationId xmlns:a16="http://schemas.microsoft.com/office/drawing/2014/main" id="{960CBCD3-FFEB-4EB5-A40D-4702706190C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grpSp>
        <p:nvGrpSpPr>
          <p:cNvPr id="220" name="Group 71">
            <a:extLst>
              <a:ext uri="{FF2B5EF4-FFF2-40B4-BE49-F238E27FC236}">
                <a16:creationId xmlns:a16="http://schemas.microsoft.com/office/drawing/2014/main" id="{D9DED428-9F23-46EF-AC33-CFA3642CBF44}"/>
              </a:ext>
            </a:extLst>
          </p:cNvPr>
          <p:cNvGrpSpPr/>
          <p:nvPr/>
        </p:nvGrpSpPr>
        <p:grpSpPr>
          <a:xfrm>
            <a:off x="8911636" y="4496490"/>
            <a:ext cx="457082" cy="228600"/>
            <a:chOff x="-66694" y="1130300"/>
            <a:chExt cx="533401" cy="228600"/>
          </a:xfrm>
          <a:effectLst>
            <a:outerShdw blurRad="50800" dist="38100" dir="2700000" algn="tl" rotWithShape="0">
              <a:prstClr val="black">
                <a:alpha val="40000"/>
              </a:prstClr>
            </a:outerShdw>
          </a:effectLst>
        </p:grpSpPr>
        <p:cxnSp>
          <p:nvCxnSpPr>
            <p:cNvPr id="221" name="Straight Connector 220">
              <a:extLst>
                <a:ext uri="{FF2B5EF4-FFF2-40B4-BE49-F238E27FC236}">
                  <a16:creationId xmlns:a16="http://schemas.microsoft.com/office/drawing/2014/main" id="{752D6904-F646-49D1-BF80-3D8AF2DF569D}"/>
                </a:ext>
              </a:extLst>
            </p:cNvPr>
            <p:cNvCxnSpPr/>
            <p:nvPr/>
          </p:nvCxnSpPr>
          <p:spPr>
            <a:xfrm>
              <a:off x="-66693" y="11303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2" name="Straight Connector 221">
              <a:extLst>
                <a:ext uri="{FF2B5EF4-FFF2-40B4-BE49-F238E27FC236}">
                  <a16:creationId xmlns:a16="http://schemas.microsoft.com/office/drawing/2014/main" id="{CF4AD1B3-B940-484D-BDE9-769FCF38F1E2}"/>
                </a:ext>
              </a:extLst>
            </p:cNvPr>
            <p:cNvCxnSpPr/>
            <p:nvPr/>
          </p:nvCxnSpPr>
          <p:spPr>
            <a:xfrm rot="5400000">
              <a:off x="85707"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3" name="Straight Connector 222">
              <a:extLst>
                <a:ext uri="{FF2B5EF4-FFF2-40B4-BE49-F238E27FC236}">
                  <a16:creationId xmlns:a16="http://schemas.microsoft.com/office/drawing/2014/main" id="{D2D7A1F8-196B-4004-91AC-46E9A7C36BD7}"/>
                </a:ext>
              </a:extLst>
            </p:cNvPr>
            <p:cNvCxnSpPr/>
            <p:nvPr/>
          </p:nvCxnSpPr>
          <p:spPr>
            <a:xfrm rot="5400000">
              <a:off x="-180994" y="1244600"/>
              <a:ext cx="2286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cxnSp>
          <p:nvCxnSpPr>
            <p:cNvPr id="224" name="Straight Connector 223">
              <a:extLst>
                <a:ext uri="{FF2B5EF4-FFF2-40B4-BE49-F238E27FC236}">
                  <a16:creationId xmlns:a16="http://schemas.microsoft.com/office/drawing/2014/main" id="{55BF262C-457C-46D8-825B-A37E4CCE6E77}"/>
                </a:ext>
              </a:extLst>
            </p:cNvPr>
            <p:cNvCxnSpPr/>
            <p:nvPr/>
          </p:nvCxnSpPr>
          <p:spPr>
            <a:xfrm>
              <a:off x="200007" y="1358900"/>
              <a:ext cx="266700" cy="0"/>
            </a:xfrm>
            <a:prstGeom prst="line">
              <a:avLst/>
            </a:prstGeom>
            <a:noFill/>
            <a:ln w="25400" cap="flat" cmpd="sng" algn="ctr">
              <a:solidFill>
                <a:srgbClr val="008CA8"/>
              </a:solidFill>
              <a:prstDash val="solid"/>
            </a:ln>
            <a:effectLst>
              <a:outerShdw blurRad="40000" dist="20000" dir="5400000" rotWithShape="0">
                <a:srgbClr val="000000">
                  <a:alpha val="38000"/>
                </a:srgbClr>
              </a:outerShdw>
            </a:effectLst>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98"/>
                                        </p:tgtEl>
                                        <p:attrNameLst>
                                          <p:attrName>style.visibility</p:attrName>
                                        </p:attrNameLst>
                                      </p:cBhvr>
                                      <p:to>
                                        <p:strVal val="visible"/>
                                      </p:to>
                                    </p:set>
                                    <p:animEffect transition="in" filter="checkerboard(across)">
                                      <p:cBhvr>
                                        <p:cTn id="7" dur="500"/>
                                        <p:tgtEl>
                                          <p:spTgt spid="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FIR Filter with C++</a:t>
            </a:r>
          </a:p>
        </p:txBody>
      </p:sp>
      <p:sp>
        <p:nvSpPr>
          <p:cNvPr id="3" name="Content Placeholder 2"/>
          <p:cNvSpPr>
            <a:spLocks noGrp="1"/>
          </p:cNvSpPr>
          <p:nvPr>
            <p:ph idx="1"/>
          </p:nvPr>
        </p:nvSpPr>
        <p:spPr>
          <a:xfrm>
            <a:off x="647700" y="1285480"/>
            <a:ext cx="10515600" cy="4759404"/>
          </a:xfrm>
        </p:spPr>
        <p:txBody>
          <a:bodyPr>
            <a:normAutofit/>
          </a:bodyPr>
          <a:lstStyle/>
          <a:p>
            <a:r>
              <a:rPr lang="en-US" dirty="0"/>
              <a:t>C++ Coding Style</a:t>
            </a:r>
          </a:p>
          <a:p>
            <a:pPr lvl="1"/>
            <a:r>
              <a:rPr lang="en-US" sz="1600" dirty="0"/>
              <a:t>Top-level defines RTL IO</a:t>
            </a:r>
          </a:p>
          <a:p>
            <a:pPr lvl="1"/>
            <a:r>
              <a:rPr lang="en-US" sz="1600" dirty="0"/>
              <a:t>A class defines the functionality</a:t>
            </a:r>
          </a:p>
          <a:p>
            <a:pPr lvl="2"/>
            <a:r>
              <a:rPr lang="en-US" sz="1400" dirty="0"/>
              <a:t>Additional classes or sub-functions </a:t>
            </a:r>
            <a:br>
              <a:rPr lang="en-US" sz="1400" dirty="0"/>
            </a:br>
            <a:r>
              <a:rPr lang="en-US" sz="1400" dirty="0"/>
              <a:t>can be added</a:t>
            </a:r>
          </a:p>
          <a:p>
            <a:pPr lvl="1"/>
            <a:r>
              <a:rPr lang="en-US" sz="1600" dirty="0"/>
              <a:t>The class is instantiated in the </a:t>
            </a:r>
            <a:br>
              <a:rPr lang="en-US" sz="1600" dirty="0"/>
            </a:br>
            <a:r>
              <a:rPr lang="en-US" sz="1600" dirty="0"/>
              <a:t>top-level function</a:t>
            </a:r>
          </a:p>
          <a:p>
            <a:pPr lvl="2"/>
            <a:r>
              <a:rPr lang="en-US" sz="1400" dirty="0"/>
              <a:t>Methods can be used</a:t>
            </a:r>
            <a:endParaRPr lang="en-US" dirty="0"/>
          </a:p>
        </p:txBody>
      </p:sp>
      <p:sp>
        <p:nvSpPr>
          <p:cNvPr id="15" name="TextBox 14">
            <a:extLst>
              <a:ext uri="{FF2B5EF4-FFF2-40B4-BE49-F238E27FC236}">
                <a16:creationId xmlns:a16="http://schemas.microsoft.com/office/drawing/2014/main" id="{9C46CCEB-6AE8-46E9-8603-5C3E7C67007A}"/>
              </a:ext>
            </a:extLst>
          </p:cNvPr>
          <p:cNvSpPr txBox="1"/>
          <p:nvPr/>
        </p:nvSpPr>
        <p:spPr>
          <a:xfrm>
            <a:off x="464734" y="3839300"/>
            <a:ext cx="4607400" cy="237744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#include “</a:t>
            </a:r>
            <a:r>
              <a:rPr lang="en-US" sz="1000" kern="0" dirty="0" err="1">
                <a:solidFill>
                  <a:srgbClr val="000000"/>
                </a:solidFill>
                <a:latin typeface="Arial"/>
              </a:rPr>
              <a:t>types.h</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template&lt;class </a:t>
            </a:r>
            <a:r>
              <a:rPr lang="en-US" sz="1000" kern="0" dirty="0" err="1">
                <a:solidFill>
                  <a:srgbClr val="000000"/>
                </a:solidFill>
                <a:latin typeface="Arial"/>
              </a:rPr>
              <a:t>coef_T</a:t>
            </a:r>
            <a:r>
              <a:rPr lang="en-US" sz="1000" kern="0" dirty="0">
                <a:solidFill>
                  <a:srgbClr val="000000"/>
                </a:solidFill>
                <a:latin typeface="Arial"/>
              </a:rPr>
              <a:t>, class </a:t>
            </a:r>
            <a:r>
              <a:rPr lang="en-US" sz="1000" kern="0" dirty="0" err="1">
                <a:solidFill>
                  <a:srgbClr val="000000"/>
                </a:solidFill>
                <a:latin typeface="Arial"/>
              </a:rPr>
              <a:t>data_T</a:t>
            </a:r>
            <a:r>
              <a:rPr lang="en-US" sz="1000" kern="0" dirty="0">
                <a:solidFill>
                  <a:srgbClr val="000000"/>
                </a:solidFill>
                <a:latin typeface="Arial"/>
              </a:rPr>
              <a:t>, class </a:t>
            </a:r>
            <a:r>
              <a:rPr lang="en-US" sz="1000" kern="0" dirty="0" err="1">
                <a:solidFill>
                  <a:srgbClr val="000000"/>
                </a:solidFill>
                <a:latin typeface="Arial"/>
              </a:rPr>
              <a:t>acc_T</a:t>
            </a:r>
            <a:r>
              <a:rPr lang="en-US" sz="1000" kern="0" dirty="0">
                <a:solidFill>
                  <a:srgbClr val="000000"/>
                </a:solidFill>
                <a:latin typeface="Arial"/>
              </a:rPr>
              <a:t>&gt;</a:t>
            </a:r>
          </a:p>
          <a:p>
            <a:pPr defTabSz="914400" fontAlgn="base">
              <a:spcBef>
                <a:spcPct val="0"/>
              </a:spcBef>
              <a:spcAft>
                <a:spcPct val="0"/>
              </a:spcAft>
              <a:defRPr/>
            </a:pPr>
            <a:r>
              <a:rPr lang="en-US" sz="1000" kern="0" dirty="0">
                <a:solidFill>
                  <a:srgbClr val="000000"/>
                </a:solidFill>
                <a:latin typeface="Arial"/>
              </a:rPr>
              <a:t>class </a:t>
            </a:r>
            <a:r>
              <a:rPr lang="en-US" sz="1000" b="1" kern="0" dirty="0" err="1">
                <a:solidFill>
                  <a:srgbClr val="000000"/>
                </a:solidFill>
                <a:latin typeface="Arial"/>
              </a:rPr>
              <a:t>CFir</a:t>
            </a:r>
            <a:endParaRPr lang="en-US" sz="1000" b="1"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protected:</a:t>
            </a:r>
          </a:p>
          <a:p>
            <a:pPr defTabSz="914400" fontAlgn="base">
              <a:spcBef>
                <a:spcPct val="0"/>
              </a:spcBef>
              <a:spcAft>
                <a:spcPct val="0"/>
              </a:spcAft>
              <a:defRPr/>
            </a:pPr>
            <a:r>
              <a:rPr lang="en-US" sz="1000" kern="0" dirty="0">
                <a:solidFill>
                  <a:srgbClr val="000000"/>
                </a:solidFill>
                <a:latin typeface="Arial"/>
              </a:rPr>
              <a:t>  static const </a:t>
            </a:r>
            <a:r>
              <a:rPr lang="en-US" sz="1000" kern="0" dirty="0" err="1">
                <a:solidFill>
                  <a:srgbClr val="000000"/>
                </a:solidFill>
                <a:latin typeface="Arial"/>
              </a:rPr>
              <a:t>coef_T</a:t>
            </a:r>
            <a:r>
              <a:rPr lang="en-US" sz="1000" kern="0" dirty="0">
                <a:solidFill>
                  <a:srgbClr val="000000"/>
                </a:solidFill>
                <a:latin typeface="Arial"/>
              </a:rPr>
              <a:t> 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[N-1];</a:t>
            </a:r>
          </a:p>
          <a:p>
            <a:pPr defTabSz="914400" fontAlgn="base">
              <a:spcBef>
                <a:spcPct val="0"/>
              </a:spcBef>
              <a:spcAft>
                <a:spcPct val="0"/>
              </a:spcAft>
              <a:defRPr/>
            </a:pPr>
            <a:r>
              <a:rPr lang="en-US" sz="1000" kern="0" dirty="0">
                <a:solidFill>
                  <a:srgbClr val="000000"/>
                </a:solidFill>
                <a:latin typeface="Arial"/>
              </a:rPr>
              <a:t>private:</a:t>
            </a:r>
          </a:p>
          <a:p>
            <a:pPr defTabSz="914400" fontAlgn="base">
              <a:spcBef>
                <a:spcPct val="0"/>
              </a:spcBef>
              <a:spcAft>
                <a:spcPct val="0"/>
              </a:spcAft>
              <a:defRPr/>
            </a:pPr>
            <a:r>
              <a:rPr lang="en-US" sz="1000" kern="0" dirty="0">
                <a:solidFill>
                  <a:srgbClr val="000000"/>
                </a:solidFill>
                <a:latin typeface="Arial"/>
              </a:rPr>
              <a:t>public: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b="1" kern="0" dirty="0">
                <a:solidFill>
                  <a:srgbClr val="000000"/>
                </a:solidFill>
                <a:latin typeface="Arial"/>
              </a:rPr>
              <a:t>operator()</a:t>
            </a:r>
            <a:r>
              <a:rPr lang="en-US" sz="1000" kern="0" dirty="0">
                <a:solidFill>
                  <a:srgbClr val="000000"/>
                </a:solidFill>
                <a:latin typeface="Arial"/>
              </a:rPr>
              <a:t>(</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template&lt;class </a:t>
            </a:r>
            <a:r>
              <a:rPr lang="en-US" sz="1000" kern="0" dirty="0" err="1">
                <a:solidFill>
                  <a:srgbClr val="000000"/>
                </a:solidFill>
                <a:latin typeface="Arial"/>
              </a:rPr>
              <a:t>coef_TT</a:t>
            </a:r>
            <a:r>
              <a:rPr lang="en-US" sz="1000" kern="0" dirty="0">
                <a:solidFill>
                  <a:srgbClr val="000000"/>
                </a:solidFill>
                <a:latin typeface="Arial"/>
              </a:rPr>
              <a:t>, class </a:t>
            </a:r>
            <a:r>
              <a:rPr lang="en-US" sz="1000" kern="0" dirty="0" err="1">
                <a:solidFill>
                  <a:srgbClr val="000000"/>
                </a:solidFill>
                <a:latin typeface="Arial"/>
              </a:rPr>
              <a:t>data_TT</a:t>
            </a:r>
            <a:r>
              <a:rPr lang="en-US" sz="1000" kern="0" dirty="0">
                <a:solidFill>
                  <a:srgbClr val="000000"/>
                </a:solidFill>
                <a:latin typeface="Arial"/>
              </a:rPr>
              <a:t>, class </a:t>
            </a:r>
            <a:r>
              <a:rPr lang="en-US" sz="1000" kern="0" dirty="0" err="1">
                <a:solidFill>
                  <a:srgbClr val="000000"/>
                </a:solidFill>
                <a:latin typeface="Arial"/>
              </a:rPr>
              <a:t>acc_TT</a:t>
            </a:r>
            <a:r>
              <a:rPr lang="en-US" sz="1000" kern="0" dirty="0">
                <a:solidFill>
                  <a:srgbClr val="000000"/>
                </a:solidFill>
                <a:latin typeface="Arial"/>
              </a:rPr>
              <a:t>&gt;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err="1">
                <a:solidFill>
                  <a:srgbClr val="000000"/>
                </a:solidFill>
                <a:latin typeface="Arial"/>
              </a:rPr>
              <a:t>data_t</a:t>
            </a:r>
            <a:r>
              <a:rPr lang="en-US" sz="1000" kern="0" dirty="0">
                <a:solidFill>
                  <a:srgbClr val="000000"/>
                </a:solidFill>
                <a:latin typeface="Arial"/>
              </a:rPr>
              <a:t> fir(</a:t>
            </a:r>
            <a:r>
              <a:rPr lang="en-US" sz="1000" kern="0" dirty="0" err="1">
                <a:solidFill>
                  <a:srgbClr val="000000"/>
                </a:solidFill>
                <a:latin typeface="Arial"/>
              </a:rPr>
              <a:t>data_t</a:t>
            </a:r>
            <a:r>
              <a:rPr lang="en-US" sz="1000" kern="0" dirty="0">
                <a:solidFill>
                  <a:srgbClr val="000000"/>
                </a:solidFill>
                <a:latin typeface="Arial"/>
              </a:rPr>
              <a:t> x);</a:t>
            </a:r>
          </a:p>
        </p:txBody>
      </p:sp>
      <p:sp>
        <p:nvSpPr>
          <p:cNvPr id="21" name="TextBox 20">
            <a:extLst>
              <a:ext uri="{FF2B5EF4-FFF2-40B4-BE49-F238E27FC236}">
                <a16:creationId xmlns:a16="http://schemas.microsoft.com/office/drawing/2014/main" id="{CF632DE5-02F5-40FD-AFC9-D50495AEB8E4}"/>
              </a:ext>
            </a:extLst>
          </p:cNvPr>
          <p:cNvSpPr txBox="1"/>
          <p:nvPr/>
        </p:nvSpPr>
        <p:spPr>
          <a:xfrm>
            <a:off x="4304235" y="3762490"/>
            <a:ext cx="76790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fir.h</a:t>
            </a:r>
            <a:endParaRPr lang="en-US" sz="1050" b="1" kern="0" dirty="0">
              <a:solidFill>
                <a:srgbClr val="FFFFFF"/>
              </a:solidFill>
              <a:latin typeface="Arial"/>
            </a:endParaRPr>
          </a:p>
        </p:txBody>
      </p:sp>
      <p:sp>
        <p:nvSpPr>
          <p:cNvPr id="22" name="TextBox 21">
            <a:extLst>
              <a:ext uri="{FF2B5EF4-FFF2-40B4-BE49-F238E27FC236}">
                <a16:creationId xmlns:a16="http://schemas.microsoft.com/office/drawing/2014/main" id="{D9E0259D-43AD-466C-80E9-BF5BD6857545}"/>
              </a:ext>
            </a:extLst>
          </p:cNvPr>
          <p:cNvSpPr txBox="1"/>
          <p:nvPr/>
        </p:nvSpPr>
        <p:spPr>
          <a:xfrm>
            <a:off x="2102921" y="5759550"/>
            <a:ext cx="1996540"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err="1">
                <a:solidFill>
                  <a:srgbClr val="000000"/>
                </a:solidFill>
                <a:ea typeface="宋体" charset="-122"/>
              </a:rPr>
              <a:t>CFir</a:t>
            </a:r>
            <a:r>
              <a:rPr lang="en-US" altLang="zh-CN" sz="1050" b="1" kern="0" dirty="0">
                <a:solidFill>
                  <a:srgbClr val="000000"/>
                </a:solidFill>
                <a:ea typeface="宋体" charset="-122"/>
              </a:rPr>
              <a:t> Class defined</a:t>
            </a:r>
          </a:p>
        </p:txBody>
      </p:sp>
      <p:sp>
        <p:nvSpPr>
          <p:cNvPr id="23" name="TextBox 22">
            <a:extLst>
              <a:ext uri="{FF2B5EF4-FFF2-40B4-BE49-F238E27FC236}">
                <a16:creationId xmlns:a16="http://schemas.microsoft.com/office/drawing/2014/main" id="{21D9CE5F-0B0D-4658-90D1-8C918629838B}"/>
              </a:ext>
            </a:extLst>
          </p:cNvPr>
          <p:cNvSpPr txBox="1"/>
          <p:nvPr/>
        </p:nvSpPr>
        <p:spPr>
          <a:xfrm>
            <a:off x="5328102" y="1227760"/>
            <a:ext cx="5324106" cy="499265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template&lt;class </a:t>
            </a:r>
            <a:r>
              <a:rPr lang="en-US" sz="1000" kern="0" dirty="0" err="1">
                <a:solidFill>
                  <a:srgbClr val="000000"/>
                </a:solidFill>
                <a:latin typeface="Arial"/>
              </a:rPr>
              <a:t>coef_T</a:t>
            </a:r>
            <a:r>
              <a:rPr lang="en-US" sz="1000" kern="0" dirty="0">
                <a:solidFill>
                  <a:srgbClr val="000000"/>
                </a:solidFill>
                <a:latin typeface="Arial"/>
              </a:rPr>
              <a:t>, class </a:t>
            </a:r>
            <a:r>
              <a:rPr lang="en-US" sz="1000" kern="0" dirty="0" err="1">
                <a:solidFill>
                  <a:srgbClr val="000000"/>
                </a:solidFill>
                <a:latin typeface="Arial"/>
              </a:rPr>
              <a:t>data_T</a:t>
            </a:r>
            <a:r>
              <a:rPr lang="en-US" sz="1000" kern="0" dirty="0">
                <a:solidFill>
                  <a:srgbClr val="000000"/>
                </a:solidFill>
                <a:latin typeface="Arial"/>
              </a:rPr>
              <a:t>, class </a:t>
            </a:r>
            <a:r>
              <a:rPr lang="en-US" sz="1000" kern="0" dirty="0" err="1">
                <a:solidFill>
                  <a:srgbClr val="000000"/>
                </a:solidFill>
                <a:latin typeface="Arial"/>
              </a:rPr>
              <a:t>acc_T</a:t>
            </a:r>
            <a:r>
              <a:rPr lang="en-US" sz="1000" kern="0" dirty="0">
                <a:solidFill>
                  <a:srgbClr val="000000"/>
                </a:solidFill>
                <a:latin typeface="Arial"/>
              </a:rPr>
              <a:t>&gt;</a:t>
            </a:r>
          </a:p>
          <a:p>
            <a:pPr defTabSz="914400" fontAlgn="base">
              <a:spcBef>
                <a:spcPct val="0"/>
              </a:spcBef>
              <a:spcAft>
                <a:spcPct val="0"/>
              </a:spcAft>
              <a:defRPr/>
            </a:pPr>
            <a:r>
              <a:rPr lang="en-US" sz="1000" kern="0" dirty="0">
                <a:solidFill>
                  <a:srgbClr val="000000"/>
                </a:solidFill>
                <a:latin typeface="Arial"/>
              </a:rPr>
              <a:t>const </a:t>
            </a:r>
            <a:r>
              <a:rPr lang="en-US" sz="1000" kern="0" dirty="0" err="1">
                <a:solidFill>
                  <a:srgbClr val="000000"/>
                </a:solidFill>
                <a:latin typeface="Arial"/>
              </a:rPr>
              <a:t>coef_T</a:t>
            </a:r>
            <a:r>
              <a:rPr lang="en-US" sz="1000" kern="0" dirty="0">
                <a:solidFill>
                  <a:srgbClr val="000000"/>
                </a:solidFill>
                <a:latin typeface="Arial"/>
              </a:rPr>
              <a:t> </a:t>
            </a:r>
            <a:r>
              <a:rPr lang="en-US" sz="1000" kern="0" dirty="0" err="1">
                <a:solidFill>
                  <a:srgbClr val="000000"/>
                </a:solidFill>
                <a:latin typeface="Arial"/>
              </a:rPr>
              <a:t>CFir</a:t>
            </a:r>
            <a:r>
              <a:rPr lang="en-US" sz="1000" kern="0" dirty="0">
                <a:solidFill>
                  <a:srgbClr val="000000"/>
                </a:solidFill>
                <a:latin typeface="Arial"/>
              </a:rPr>
              <a:t>&lt;</a:t>
            </a:r>
            <a:r>
              <a:rPr lang="en-US" sz="1000" kern="0" dirty="0" err="1">
                <a:solidFill>
                  <a:srgbClr val="000000"/>
                </a:solidFill>
                <a:latin typeface="Arial"/>
              </a:rPr>
              <a:t>coef_T</a:t>
            </a: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&gt;::c[]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#include "</a:t>
            </a:r>
            <a:r>
              <a:rPr lang="en-US" sz="1000" kern="0" dirty="0" err="1">
                <a:solidFill>
                  <a:srgbClr val="000000"/>
                </a:solidFill>
                <a:latin typeface="Arial"/>
              </a:rPr>
              <a:t>fir_coeff.h</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template&lt;class </a:t>
            </a:r>
            <a:r>
              <a:rPr lang="en-US" sz="1000" kern="0" dirty="0" err="1">
                <a:solidFill>
                  <a:srgbClr val="000000"/>
                </a:solidFill>
                <a:latin typeface="Arial"/>
              </a:rPr>
              <a:t>coef_T</a:t>
            </a:r>
            <a:r>
              <a:rPr lang="en-US" sz="1000" kern="0" dirty="0">
                <a:solidFill>
                  <a:srgbClr val="000000"/>
                </a:solidFill>
                <a:latin typeface="Arial"/>
              </a:rPr>
              <a:t>, class </a:t>
            </a:r>
            <a:r>
              <a:rPr lang="en-US" sz="1000" kern="0" dirty="0" err="1">
                <a:solidFill>
                  <a:srgbClr val="000000"/>
                </a:solidFill>
                <a:latin typeface="Arial"/>
              </a:rPr>
              <a:t>data_T</a:t>
            </a:r>
            <a:r>
              <a:rPr lang="en-US" sz="1000" kern="0" dirty="0">
                <a:solidFill>
                  <a:srgbClr val="000000"/>
                </a:solidFill>
                <a:latin typeface="Arial"/>
              </a:rPr>
              <a:t>, class </a:t>
            </a:r>
            <a:r>
              <a:rPr lang="en-US" sz="1000" kern="0" dirty="0" err="1">
                <a:solidFill>
                  <a:srgbClr val="000000"/>
                </a:solidFill>
                <a:latin typeface="Arial"/>
              </a:rPr>
              <a:t>acc_T</a:t>
            </a:r>
            <a:r>
              <a:rPr lang="en-US" sz="1000" kern="0" dirty="0">
                <a:solidFill>
                  <a:srgbClr val="000000"/>
                </a:solidFill>
                <a:latin typeface="Arial"/>
              </a:rPr>
              <a:t>&gt;</a:t>
            </a:r>
          </a:p>
          <a:p>
            <a:pPr defTabSz="914400" fontAlgn="base">
              <a:spcBef>
                <a:spcPct val="0"/>
              </a:spcBef>
              <a:spcAft>
                <a:spcPct val="0"/>
              </a:spcAft>
              <a:defRPr/>
            </a:pPr>
            <a:r>
              <a:rPr lang="en-US" sz="1000" kern="0" dirty="0" err="1">
                <a:solidFill>
                  <a:srgbClr val="000000"/>
                </a:solidFill>
                <a:latin typeface="Arial"/>
              </a:rPr>
              <a:t>data_T</a:t>
            </a:r>
            <a:r>
              <a:rPr lang="en-US" sz="1000" kern="0" dirty="0">
                <a:solidFill>
                  <a:srgbClr val="000000"/>
                </a:solidFill>
                <a:latin typeface="Arial"/>
              </a:rPr>
              <a:t> </a:t>
            </a:r>
            <a:r>
              <a:rPr lang="en-US" sz="1000" b="1" kern="0" dirty="0" err="1">
                <a:solidFill>
                  <a:srgbClr val="000000"/>
                </a:solidFill>
                <a:latin typeface="Arial"/>
              </a:rPr>
              <a:t>CFir</a:t>
            </a:r>
            <a:r>
              <a:rPr lang="en-US" sz="1000" kern="0" dirty="0">
                <a:solidFill>
                  <a:srgbClr val="000000"/>
                </a:solidFill>
                <a:latin typeface="Arial"/>
              </a:rPr>
              <a:t>&lt;</a:t>
            </a:r>
            <a:r>
              <a:rPr lang="en-US" sz="1000" kern="0" dirty="0" err="1">
                <a:solidFill>
                  <a:srgbClr val="000000"/>
                </a:solidFill>
                <a:latin typeface="Arial"/>
              </a:rPr>
              <a:t>coef_T</a:t>
            </a: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&gt;::</a:t>
            </a:r>
            <a:r>
              <a:rPr lang="en-US" sz="1000" b="1" kern="0" dirty="0">
                <a:solidFill>
                  <a:srgbClr val="000000"/>
                </a:solidFill>
                <a:latin typeface="Arial"/>
              </a:rPr>
              <a:t>operator()</a:t>
            </a:r>
            <a:r>
              <a:rPr lang="en-US" sz="1000" kern="0" dirty="0">
                <a:solidFill>
                  <a:srgbClr val="000000"/>
                </a:solidFill>
                <a:latin typeface="Arial"/>
              </a:rPr>
              <a:t>(</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int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 = 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m;</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a:t>
            </a:r>
            <a:r>
              <a:rPr lang="en-US" sz="1000" b="1" kern="0" dirty="0" err="1">
                <a:solidFill>
                  <a:srgbClr val="000000"/>
                </a:solidFill>
                <a:latin typeface="Arial"/>
              </a:rPr>
              <a:t>mac_loop</a:t>
            </a:r>
            <a:r>
              <a:rPr lang="en-US" sz="1000" kern="0" dirty="0">
                <a:solidFill>
                  <a:srgbClr val="000000"/>
                </a:solidFill>
                <a:latin typeface="Arial"/>
              </a:rPr>
              <a:t>: for (</a:t>
            </a:r>
            <a:r>
              <a:rPr lang="en-US" sz="1000" kern="0" dirty="0" err="1">
                <a:solidFill>
                  <a:srgbClr val="000000"/>
                </a:solidFill>
                <a:latin typeface="Arial"/>
              </a:rPr>
              <a:t>i</a:t>
            </a:r>
            <a:r>
              <a:rPr lang="en-US" sz="1000" kern="0" dirty="0">
                <a:solidFill>
                  <a:srgbClr val="000000"/>
                </a:solidFill>
                <a:latin typeface="Arial"/>
              </a:rPr>
              <a:t>=N-1;i&gt;=0;i--)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r>
              <a:rPr lang="en-US" sz="1000" kern="0" dirty="0">
                <a:solidFill>
                  <a:srgbClr val="000000"/>
                </a:solidFill>
                <a:latin typeface="Arial"/>
              </a:rPr>
              <a:t>   return acc;</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err="1">
                <a:solidFill>
                  <a:srgbClr val="000000"/>
                </a:solidFill>
                <a:latin typeface="Arial"/>
              </a:rPr>
              <a:t>data_t</a:t>
            </a:r>
            <a:r>
              <a:rPr lang="en-US" sz="1000" b="1" kern="0" dirty="0">
                <a:solidFill>
                  <a:srgbClr val="000000"/>
                </a:solidFill>
                <a:latin typeface="Arial"/>
              </a:rPr>
              <a:t> fir(</a:t>
            </a:r>
            <a:r>
              <a:rPr lang="en-US" sz="1000" b="1" kern="0" dirty="0" err="1">
                <a:solidFill>
                  <a:srgbClr val="000000"/>
                </a:solidFill>
                <a:latin typeface="Arial"/>
              </a:rPr>
              <a:t>data_t</a:t>
            </a:r>
            <a:r>
              <a:rPr lang="en-US" sz="1000" b="1" kern="0" dirty="0">
                <a:solidFill>
                  <a:srgbClr val="000000"/>
                </a:solidFill>
                <a:latin typeface="Arial"/>
              </a:rPr>
              <a:t> x)</a:t>
            </a:r>
          </a:p>
          <a:p>
            <a:pPr defTabSz="914400" fontAlgn="base">
              <a:spcBef>
                <a:spcPct val="0"/>
              </a:spcBef>
              <a:spcAft>
                <a:spcPct val="0"/>
              </a:spcAft>
              <a:defRPr/>
            </a:pPr>
            <a:r>
              <a:rPr lang="en-US" sz="1000" b="1" kern="0" dirty="0">
                <a:solidFill>
                  <a:srgbClr val="000000"/>
                </a:solidFill>
                <a:latin typeface="Arial"/>
              </a:rPr>
              <a:t>  {</a:t>
            </a:r>
          </a:p>
          <a:p>
            <a:pPr defTabSz="914400" fontAlgn="base">
              <a:spcBef>
                <a:spcPct val="0"/>
              </a:spcBef>
              <a:spcAft>
                <a:spcPct val="0"/>
              </a:spcAft>
              <a:defRPr/>
            </a:pPr>
            <a:r>
              <a:rPr lang="en-US" sz="1000" b="1" kern="0" dirty="0">
                <a:solidFill>
                  <a:srgbClr val="000000"/>
                </a:solidFill>
                <a:latin typeface="Arial"/>
              </a:rPr>
              <a:t>    static </a:t>
            </a:r>
            <a:r>
              <a:rPr lang="en-US" sz="1000" b="1" kern="0" dirty="0" err="1">
                <a:solidFill>
                  <a:srgbClr val="000000"/>
                </a:solidFill>
                <a:latin typeface="Arial"/>
              </a:rPr>
              <a:t>CFir</a:t>
            </a:r>
            <a:r>
              <a:rPr lang="en-US" sz="1000" b="1" kern="0" dirty="0">
                <a:solidFill>
                  <a:srgbClr val="000000"/>
                </a:solidFill>
                <a:latin typeface="Arial"/>
              </a:rPr>
              <a:t>&lt;</a:t>
            </a:r>
            <a:r>
              <a:rPr lang="en-US" sz="1000" b="1" kern="0" dirty="0" err="1">
                <a:solidFill>
                  <a:srgbClr val="000000"/>
                </a:solidFill>
                <a:latin typeface="Arial"/>
              </a:rPr>
              <a:t>coef_t</a:t>
            </a:r>
            <a:r>
              <a:rPr lang="en-US" sz="1000" b="1" kern="0" dirty="0">
                <a:solidFill>
                  <a:srgbClr val="000000"/>
                </a:solidFill>
                <a:latin typeface="Arial"/>
              </a:rPr>
              <a:t>, </a:t>
            </a:r>
            <a:r>
              <a:rPr lang="en-US" sz="1000" b="1" kern="0" dirty="0" err="1">
                <a:solidFill>
                  <a:srgbClr val="000000"/>
                </a:solidFill>
                <a:latin typeface="Arial"/>
              </a:rPr>
              <a:t>data_t</a:t>
            </a:r>
            <a:r>
              <a:rPr lang="en-US" sz="1000" b="1" kern="0" dirty="0">
                <a:solidFill>
                  <a:srgbClr val="000000"/>
                </a:solidFill>
                <a:latin typeface="Arial"/>
              </a:rPr>
              <a:t>, </a:t>
            </a:r>
            <a:r>
              <a:rPr lang="en-US" sz="1000" b="1" kern="0" dirty="0" err="1">
                <a:solidFill>
                  <a:srgbClr val="000000"/>
                </a:solidFill>
                <a:latin typeface="Arial"/>
              </a:rPr>
              <a:t>acc_t</a:t>
            </a:r>
            <a:r>
              <a:rPr lang="en-US" sz="1000" b="1" kern="0" dirty="0">
                <a:solidFill>
                  <a:srgbClr val="000000"/>
                </a:solidFill>
                <a:latin typeface="Arial"/>
              </a:rPr>
              <a:t>&gt; fir1;</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return fir1(x);</a:t>
            </a:r>
          </a:p>
          <a:p>
            <a:pPr defTabSz="914400" fontAlgn="base">
              <a:spcBef>
                <a:spcPct val="0"/>
              </a:spcBef>
              <a:spcAft>
                <a:spcPct val="0"/>
              </a:spcAft>
              <a:defRPr/>
            </a:pPr>
            <a:r>
              <a:rPr lang="en-US" sz="1000" b="1" kern="0" dirty="0">
                <a:solidFill>
                  <a:srgbClr val="000000"/>
                </a:solidFill>
                <a:latin typeface="Arial"/>
              </a:rPr>
              <a:t>  }</a:t>
            </a:r>
          </a:p>
        </p:txBody>
      </p:sp>
      <p:sp>
        <p:nvSpPr>
          <p:cNvPr id="24" name="TextBox 23">
            <a:extLst>
              <a:ext uri="{FF2B5EF4-FFF2-40B4-BE49-F238E27FC236}">
                <a16:creationId xmlns:a16="http://schemas.microsoft.com/office/drawing/2014/main" id="{E7EACEDE-4987-4378-BA0B-D6B75984F33A}"/>
              </a:ext>
            </a:extLst>
          </p:cNvPr>
          <p:cNvSpPr txBox="1"/>
          <p:nvPr/>
        </p:nvSpPr>
        <p:spPr>
          <a:xfrm>
            <a:off x="10908174" y="1727025"/>
            <a:ext cx="716707" cy="178510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-1,</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84,</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370,</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88,</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a:t>
            </a:r>
          </a:p>
        </p:txBody>
      </p:sp>
      <p:cxnSp>
        <p:nvCxnSpPr>
          <p:cNvPr id="25" name="Straight Arrow Connector 24">
            <a:extLst>
              <a:ext uri="{FF2B5EF4-FFF2-40B4-BE49-F238E27FC236}">
                <a16:creationId xmlns:a16="http://schemas.microsoft.com/office/drawing/2014/main" id="{CBFAB425-1BAE-456F-B181-1A94E53D54D0}"/>
              </a:ext>
            </a:extLst>
          </p:cNvPr>
          <p:cNvCxnSpPr/>
          <p:nvPr/>
        </p:nvCxnSpPr>
        <p:spPr>
          <a:xfrm flipH="1">
            <a:off x="8348510" y="2149480"/>
            <a:ext cx="2406085" cy="0"/>
          </a:xfrm>
          <a:prstGeom prst="straightConnector1">
            <a:avLst/>
          </a:prstGeom>
          <a:noFill/>
          <a:ln w="38100" cap="flat" cmpd="sng" algn="ctr">
            <a:solidFill>
              <a:srgbClr val="000000"/>
            </a:solidFill>
            <a:prstDash val="solid"/>
            <a:headEnd type="none" w="med" len="med"/>
            <a:tailEnd type="triangle" w="med" len="med"/>
          </a:ln>
          <a:effectLst>
            <a:outerShdw blurRad="40000" dist="20000" dir="5400000" rotWithShape="0">
              <a:srgbClr val="000000">
                <a:alpha val="38000"/>
              </a:srgbClr>
            </a:outerShdw>
          </a:effectLst>
        </p:spPr>
      </p:cxnSp>
      <p:sp>
        <p:nvSpPr>
          <p:cNvPr id="26" name="TextBox 25">
            <a:extLst>
              <a:ext uri="{FF2B5EF4-FFF2-40B4-BE49-F238E27FC236}">
                <a16:creationId xmlns:a16="http://schemas.microsoft.com/office/drawing/2014/main" id="{D2B87A9D-6816-4466-9F69-4D510B6B93CD}"/>
              </a:ext>
            </a:extLst>
          </p:cNvPr>
          <p:cNvSpPr txBox="1"/>
          <p:nvPr/>
        </p:nvSpPr>
        <p:spPr>
          <a:xfrm>
            <a:off x="9628341" y="1227760"/>
            <a:ext cx="1023867"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a:solidFill>
                  <a:srgbClr val="FFFFFF"/>
                </a:solidFill>
                <a:latin typeface="Arial"/>
              </a:rPr>
              <a:t>fir.cpp</a:t>
            </a:r>
          </a:p>
        </p:txBody>
      </p:sp>
      <p:sp>
        <p:nvSpPr>
          <p:cNvPr id="27" name="TextBox 26">
            <a:extLst>
              <a:ext uri="{FF2B5EF4-FFF2-40B4-BE49-F238E27FC236}">
                <a16:creationId xmlns:a16="http://schemas.microsoft.com/office/drawing/2014/main" id="{9C5B1E91-6D30-4533-BCAC-623278FD52FF}"/>
              </a:ext>
            </a:extLst>
          </p:cNvPr>
          <p:cNvSpPr txBox="1"/>
          <p:nvPr/>
        </p:nvSpPr>
        <p:spPr>
          <a:xfrm>
            <a:off x="10754594" y="1419785"/>
            <a:ext cx="122864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fir_coeff.h</a:t>
            </a:r>
            <a:endParaRPr lang="en-US" sz="1050" b="1" kern="0" dirty="0">
              <a:solidFill>
                <a:srgbClr val="FFFFFF"/>
              </a:solidFill>
              <a:latin typeface="Arial"/>
            </a:endParaRPr>
          </a:p>
        </p:txBody>
      </p:sp>
      <p:sp>
        <p:nvSpPr>
          <p:cNvPr id="28" name="TextBox 27">
            <a:extLst>
              <a:ext uri="{FF2B5EF4-FFF2-40B4-BE49-F238E27FC236}">
                <a16:creationId xmlns:a16="http://schemas.microsoft.com/office/drawing/2014/main" id="{DB66A518-0424-4886-921D-8D6A414787BF}"/>
              </a:ext>
            </a:extLst>
          </p:cNvPr>
          <p:cNvSpPr txBox="1"/>
          <p:nvPr/>
        </p:nvSpPr>
        <p:spPr>
          <a:xfrm>
            <a:off x="8860440" y="5375500"/>
            <a:ext cx="3071600" cy="415498"/>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ea typeface="宋体" charset="-122"/>
              </a:rPr>
              <a:t>Top-level function defines the IO Class CFIR is instantiated as fir1</a:t>
            </a:r>
          </a:p>
        </p:txBody>
      </p:sp>
      <p:sp>
        <p:nvSpPr>
          <p:cNvPr id="29" name="TextBox 28">
            <a:extLst>
              <a:ext uri="{FF2B5EF4-FFF2-40B4-BE49-F238E27FC236}">
                <a16:creationId xmlns:a16="http://schemas.microsoft.com/office/drawing/2014/main" id="{2808EB09-02FE-481C-8ADD-23F7B2E2654D}"/>
              </a:ext>
            </a:extLst>
          </p:cNvPr>
          <p:cNvSpPr txBox="1"/>
          <p:nvPr/>
        </p:nvSpPr>
        <p:spPr>
          <a:xfrm>
            <a:off x="7017481" y="2802365"/>
            <a:ext cx="2559667"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err="1">
                <a:solidFill>
                  <a:srgbClr val="000000"/>
                </a:solidFill>
                <a:ea typeface="宋体" charset="-122"/>
              </a:rPr>
              <a:t>CFir</a:t>
            </a:r>
            <a:r>
              <a:rPr lang="en-US" altLang="zh-CN" sz="1050" b="1" kern="0" dirty="0">
                <a:solidFill>
                  <a:srgbClr val="000000"/>
                </a:solidFill>
                <a:ea typeface="宋体" charset="-122"/>
              </a:rPr>
              <a:t> functionality defined</a:t>
            </a:r>
          </a:p>
        </p:txBody>
      </p:sp>
      <p:sp>
        <p:nvSpPr>
          <p:cNvPr id="16" name="Slide Number Placeholder 5">
            <a:extLst>
              <a:ext uri="{FF2B5EF4-FFF2-40B4-BE49-F238E27FC236}">
                <a16:creationId xmlns:a16="http://schemas.microsoft.com/office/drawing/2014/main" id="{3659652B-B071-4E98-80B3-7FC2C87BD07B}"/>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16</a:t>
            </a:fld>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FIR Filter with C++</a:t>
            </a:r>
          </a:p>
        </p:txBody>
      </p:sp>
      <p:sp>
        <p:nvSpPr>
          <p:cNvPr id="3" name="Content Placeholder 2"/>
          <p:cNvSpPr>
            <a:spLocks noGrp="1"/>
          </p:cNvSpPr>
          <p:nvPr>
            <p:ph idx="1"/>
          </p:nvPr>
        </p:nvSpPr>
        <p:spPr/>
        <p:txBody>
          <a:bodyPr>
            <a:normAutofit/>
          </a:bodyPr>
          <a:lstStyle/>
          <a:p>
            <a:r>
              <a:rPr lang="en-US" dirty="0"/>
              <a:t>C++ Coding Style</a:t>
            </a:r>
          </a:p>
          <a:p>
            <a:pPr lvl="1"/>
            <a:r>
              <a:rPr lang="en-US" sz="1600" dirty="0"/>
              <a:t>Top-level defines RTL IO</a:t>
            </a:r>
          </a:p>
          <a:p>
            <a:pPr lvl="1"/>
            <a:r>
              <a:rPr lang="en-US" sz="1600" dirty="0"/>
              <a:t>A class defines the functionality</a:t>
            </a:r>
          </a:p>
          <a:p>
            <a:pPr lvl="2"/>
            <a:r>
              <a:rPr lang="en-US" sz="1400" dirty="0"/>
              <a:t>Additional classes or sub-functions </a:t>
            </a:r>
            <a:br>
              <a:rPr lang="en-US" sz="1400" dirty="0"/>
            </a:br>
            <a:r>
              <a:rPr lang="en-US" sz="1400" dirty="0"/>
              <a:t>can be added</a:t>
            </a:r>
          </a:p>
          <a:p>
            <a:pPr lvl="1"/>
            <a:r>
              <a:rPr lang="en-US" sz="1600" dirty="0"/>
              <a:t>The class is instantiated in the </a:t>
            </a:r>
            <a:br>
              <a:rPr lang="en-US" sz="1600" dirty="0"/>
            </a:br>
            <a:r>
              <a:rPr lang="en-US" sz="1600" dirty="0"/>
              <a:t>top-level function</a:t>
            </a:r>
          </a:p>
          <a:p>
            <a:pPr lvl="2"/>
            <a:r>
              <a:rPr lang="en-US" sz="1400" dirty="0"/>
              <a:t>Methods can be used</a:t>
            </a:r>
            <a:endParaRPr lang="en-US" dirty="0"/>
          </a:p>
        </p:txBody>
      </p:sp>
      <p:sp>
        <p:nvSpPr>
          <p:cNvPr id="20" name="Slide Number Placeholder 1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17</a:t>
            </a:fld>
            <a:endParaRPr lang="en-US" dirty="0">
              <a:solidFill>
                <a:srgbClr val="0C0C0C">
                  <a:tint val="75000"/>
                </a:srgbClr>
              </a:solidFill>
              <a:latin typeface="Arial"/>
            </a:endParaRPr>
          </a:p>
        </p:txBody>
      </p:sp>
      <p:sp>
        <p:nvSpPr>
          <p:cNvPr id="15" name="TextBox 14">
            <a:extLst>
              <a:ext uri="{FF2B5EF4-FFF2-40B4-BE49-F238E27FC236}">
                <a16:creationId xmlns:a16="http://schemas.microsoft.com/office/drawing/2014/main" id="{9C46CCEB-6AE8-46E9-8603-5C3E7C67007A}"/>
              </a:ext>
            </a:extLst>
          </p:cNvPr>
          <p:cNvSpPr txBox="1"/>
          <p:nvPr/>
        </p:nvSpPr>
        <p:spPr>
          <a:xfrm>
            <a:off x="464734" y="4016860"/>
            <a:ext cx="4607400" cy="237744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#include “</a:t>
            </a:r>
            <a:r>
              <a:rPr lang="en-US" sz="1000" kern="0" dirty="0" err="1">
                <a:solidFill>
                  <a:srgbClr val="000000"/>
                </a:solidFill>
                <a:latin typeface="Arial"/>
              </a:rPr>
              <a:t>types.h</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template&lt;class </a:t>
            </a:r>
            <a:r>
              <a:rPr lang="en-US" sz="1000" kern="0" dirty="0" err="1">
                <a:solidFill>
                  <a:srgbClr val="000000"/>
                </a:solidFill>
                <a:latin typeface="Arial"/>
              </a:rPr>
              <a:t>coef_T</a:t>
            </a:r>
            <a:r>
              <a:rPr lang="en-US" sz="1000" kern="0" dirty="0">
                <a:solidFill>
                  <a:srgbClr val="000000"/>
                </a:solidFill>
                <a:latin typeface="Arial"/>
              </a:rPr>
              <a:t>, class </a:t>
            </a:r>
            <a:r>
              <a:rPr lang="en-US" sz="1000" kern="0" dirty="0" err="1">
                <a:solidFill>
                  <a:srgbClr val="000000"/>
                </a:solidFill>
                <a:latin typeface="Arial"/>
              </a:rPr>
              <a:t>data_T</a:t>
            </a:r>
            <a:r>
              <a:rPr lang="en-US" sz="1000" kern="0" dirty="0">
                <a:solidFill>
                  <a:srgbClr val="000000"/>
                </a:solidFill>
                <a:latin typeface="Arial"/>
              </a:rPr>
              <a:t>, class </a:t>
            </a:r>
            <a:r>
              <a:rPr lang="en-US" sz="1000" kern="0" dirty="0" err="1">
                <a:solidFill>
                  <a:srgbClr val="000000"/>
                </a:solidFill>
                <a:latin typeface="Arial"/>
              </a:rPr>
              <a:t>acc_T</a:t>
            </a:r>
            <a:r>
              <a:rPr lang="en-US" sz="1000" kern="0" dirty="0">
                <a:solidFill>
                  <a:srgbClr val="000000"/>
                </a:solidFill>
                <a:latin typeface="Arial"/>
              </a:rPr>
              <a:t>&gt;</a:t>
            </a:r>
          </a:p>
          <a:p>
            <a:pPr defTabSz="914400" fontAlgn="base">
              <a:spcBef>
                <a:spcPct val="0"/>
              </a:spcBef>
              <a:spcAft>
                <a:spcPct val="0"/>
              </a:spcAft>
              <a:defRPr/>
            </a:pPr>
            <a:r>
              <a:rPr lang="en-US" sz="1000" kern="0" dirty="0">
                <a:solidFill>
                  <a:srgbClr val="000000"/>
                </a:solidFill>
                <a:latin typeface="Arial"/>
              </a:rPr>
              <a:t>class </a:t>
            </a:r>
            <a:r>
              <a:rPr lang="en-US" sz="1000" b="1" kern="0" dirty="0" err="1">
                <a:solidFill>
                  <a:srgbClr val="000000"/>
                </a:solidFill>
                <a:latin typeface="Arial"/>
              </a:rPr>
              <a:t>CFir</a:t>
            </a:r>
            <a:endParaRPr lang="en-US" sz="1000" b="1"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protected:</a:t>
            </a:r>
          </a:p>
          <a:p>
            <a:pPr defTabSz="914400" fontAlgn="base">
              <a:spcBef>
                <a:spcPct val="0"/>
              </a:spcBef>
              <a:spcAft>
                <a:spcPct val="0"/>
              </a:spcAft>
              <a:defRPr/>
            </a:pPr>
            <a:r>
              <a:rPr lang="en-US" sz="1000" kern="0" dirty="0">
                <a:solidFill>
                  <a:srgbClr val="000000"/>
                </a:solidFill>
                <a:latin typeface="Arial"/>
              </a:rPr>
              <a:t>  static const </a:t>
            </a:r>
            <a:r>
              <a:rPr lang="en-US" sz="1000" kern="0" dirty="0" err="1">
                <a:solidFill>
                  <a:srgbClr val="000000"/>
                </a:solidFill>
                <a:latin typeface="Arial"/>
              </a:rPr>
              <a:t>coef_T</a:t>
            </a:r>
            <a:r>
              <a:rPr lang="en-US" sz="1000" kern="0" dirty="0">
                <a:solidFill>
                  <a:srgbClr val="000000"/>
                </a:solidFill>
                <a:latin typeface="Arial"/>
              </a:rPr>
              <a:t> 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[N-1];</a:t>
            </a:r>
          </a:p>
          <a:p>
            <a:pPr defTabSz="914400" fontAlgn="base">
              <a:spcBef>
                <a:spcPct val="0"/>
              </a:spcBef>
              <a:spcAft>
                <a:spcPct val="0"/>
              </a:spcAft>
              <a:defRPr/>
            </a:pPr>
            <a:r>
              <a:rPr lang="en-US" sz="1000" kern="0" dirty="0">
                <a:solidFill>
                  <a:srgbClr val="000000"/>
                </a:solidFill>
                <a:latin typeface="Arial"/>
              </a:rPr>
              <a:t>private:</a:t>
            </a:r>
          </a:p>
          <a:p>
            <a:pPr defTabSz="914400" fontAlgn="base">
              <a:spcBef>
                <a:spcPct val="0"/>
              </a:spcBef>
              <a:spcAft>
                <a:spcPct val="0"/>
              </a:spcAft>
              <a:defRPr/>
            </a:pPr>
            <a:r>
              <a:rPr lang="en-US" sz="1000" kern="0" dirty="0">
                <a:solidFill>
                  <a:srgbClr val="000000"/>
                </a:solidFill>
                <a:latin typeface="Arial"/>
              </a:rPr>
              <a:t>public:</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b="1" kern="0" dirty="0">
                <a:solidFill>
                  <a:srgbClr val="000000"/>
                </a:solidFill>
                <a:latin typeface="Arial"/>
              </a:rPr>
              <a:t>operator()</a:t>
            </a:r>
            <a:r>
              <a:rPr lang="en-US" sz="1000" kern="0" dirty="0">
                <a:solidFill>
                  <a:srgbClr val="000000"/>
                </a:solidFill>
                <a:latin typeface="Arial"/>
              </a:rPr>
              <a:t>(</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template&lt;class </a:t>
            </a:r>
            <a:r>
              <a:rPr lang="en-US" sz="1000" kern="0" dirty="0" err="1">
                <a:solidFill>
                  <a:srgbClr val="000000"/>
                </a:solidFill>
                <a:latin typeface="Arial"/>
              </a:rPr>
              <a:t>coef_TT</a:t>
            </a:r>
            <a:r>
              <a:rPr lang="en-US" sz="1000" kern="0" dirty="0">
                <a:solidFill>
                  <a:srgbClr val="000000"/>
                </a:solidFill>
                <a:latin typeface="Arial"/>
              </a:rPr>
              <a:t>, class </a:t>
            </a:r>
            <a:r>
              <a:rPr lang="en-US" sz="1000" kern="0" dirty="0" err="1">
                <a:solidFill>
                  <a:srgbClr val="000000"/>
                </a:solidFill>
                <a:latin typeface="Arial"/>
              </a:rPr>
              <a:t>data_TT</a:t>
            </a:r>
            <a:r>
              <a:rPr lang="en-US" sz="1000" kern="0" dirty="0">
                <a:solidFill>
                  <a:srgbClr val="000000"/>
                </a:solidFill>
                <a:latin typeface="Arial"/>
              </a:rPr>
              <a:t>, class </a:t>
            </a:r>
            <a:r>
              <a:rPr lang="en-US" sz="1000" kern="0" dirty="0" err="1">
                <a:solidFill>
                  <a:srgbClr val="000000"/>
                </a:solidFill>
                <a:latin typeface="Arial"/>
              </a:rPr>
              <a:t>acc_TT</a:t>
            </a:r>
            <a:r>
              <a:rPr lang="en-US" sz="1000" kern="0" dirty="0">
                <a:solidFill>
                  <a:srgbClr val="000000"/>
                </a:solidFill>
                <a:latin typeface="Arial"/>
              </a:rPr>
              <a:t>&gt;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err="1">
                <a:solidFill>
                  <a:srgbClr val="000000"/>
                </a:solidFill>
                <a:latin typeface="Arial"/>
              </a:rPr>
              <a:t>data_t</a:t>
            </a:r>
            <a:r>
              <a:rPr lang="en-US" sz="1000" kern="0" dirty="0">
                <a:solidFill>
                  <a:srgbClr val="000000"/>
                </a:solidFill>
                <a:latin typeface="Arial"/>
              </a:rPr>
              <a:t> fir(</a:t>
            </a:r>
            <a:r>
              <a:rPr lang="en-US" sz="1000" kern="0" dirty="0" err="1">
                <a:solidFill>
                  <a:srgbClr val="000000"/>
                </a:solidFill>
                <a:latin typeface="Arial"/>
              </a:rPr>
              <a:t>data_t</a:t>
            </a:r>
            <a:r>
              <a:rPr lang="en-US" sz="1000" kern="0" dirty="0">
                <a:solidFill>
                  <a:srgbClr val="000000"/>
                </a:solidFill>
                <a:latin typeface="Arial"/>
              </a:rPr>
              <a:t> x);</a:t>
            </a:r>
          </a:p>
        </p:txBody>
      </p:sp>
      <p:sp>
        <p:nvSpPr>
          <p:cNvPr id="21" name="TextBox 20">
            <a:extLst>
              <a:ext uri="{FF2B5EF4-FFF2-40B4-BE49-F238E27FC236}">
                <a16:creationId xmlns:a16="http://schemas.microsoft.com/office/drawing/2014/main" id="{CF632DE5-02F5-40FD-AFC9-D50495AEB8E4}"/>
              </a:ext>
            </a:extLst>
          </p:cNvPr>
          <p:cNvSpPr txBox="1"/>
          <p:nvPr/>
        </p:nvSpPr>
        <p:spPr>
          <a:xfrm>
            <a:off x="4304235" y="3940050"/>
            <a:ext cx="76790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fir.h</a:t>
            </a:r>
            <a:endParaRPr lang="en-US" sz="1050" b="1" kern="0" dirty="0">
              <a:solidFill>
                <a:srgbClr val="FFFFFF"/>
              </a:solidFill>
              <a:latin typeface="Arial"/>
            </a:endParaRPr>
          </a:p>
        </p:txBody>
      </p:sp>
      <p:sp>
        <p:nvSpPr>
          <p:cNvPr id="22" name="TextBox 21">
            <a:extLst>
              <a:ext uri="{FF2B5EF4-FFF2-40B4-BE49-F238E27FC236}">
                <a16:creationId xmlns:a16="http://schemas.microsoft.com/office/drawing/2014/main" id="{D9E0259D-43AD-466C-80E9-BF5BD6857545}"/>
              </a:ext>
            </a:extLst>
          </p:cNvPr>
          <p:cNvSpPr txBox="1"/>
          <p:nvPr/>
        </p:nvSpPr>
        <p:spPr>
          <a:xfrm>
            <a:off x="2102921" y="5937110"/>
            <a:ext cx="1996540"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err="1">
                <a:solidFill>
                  <a:srgbClr val="000000"/>
                </a:solidFill>
                <a:latin typeface="Arial"/>
                <a:ea typeface="宋体" charset="-122"/>
              </a:rPr>
              <a:t>CFir</a:t>
            </a:r>
            <a:r>
              <a:rPr lang="en-US" altLang="zh-CN" sz="1050" b="1" kern="0" dirty="0">
                <a:solidFill>
                  <a:srgbClr val="000000"/>
                </a:solidFill>
                <a:latin typeface="Arial"/>
                <a:ea typeface="宋体" charset="-122"/>
              </a:rPr>
              <a:t> Class defined</a:t>
            </a:r>
          </a:p>
        </p:txBody>
      </p:sp>
      <p:sp>
        <p:nvSpPr>
          <p:cNvPr id="23" name="TextBox 22">
            <a:extLst>
              <a:ext uri="{FF2B5EF4-FFF2-40B4-BE49-F238E27FC236}">
                <a16:creationId xmlns:a16="http://schemas.microsoft.com/office/drawing/2014/main" id="{21D9CE5F-0B0D-4658-90D1-8C918629838B}"/>
              </a:ext>
            </a:extLst>
          </p:cNvPr>
          <p:cNvSpPr txBox="1"/>
          <p:nvPr/>
        </p:nvSpPr>
        <p:spPr>
          <a:xfrm>
            <a:off x="5328102" y="1405320"/>
            <a:ext cx="5324106" cy="499265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template&lt;class </a:t>
            </a:r>
            <a:r>
              <a:rPr lang="en-US" sz="1000" kern="0" dirty="0" err="1">
                <a:solidFill>
                  <a:srgbClr val="000000"/>
                </a:solidFill>
                <a:latin typeface="Arial"/>
              </a:rPr>
              <a:t>coef_T</a:t>
            </a:r>
            <a:r>
              <a:rPr lang="en-US" sz="1000" kern="0" dirty="0">
                <a:solidFill>
                  <a:srgbClr val="000000"/>
                </a:solidFill>
                <a:latin typeface="Arial"/>
              </a:rPr>
              <a:t>, class </a:t>
            </a:r>
            <a:r>
              <a:rPr lang="en-US" sz="1000" kern="0" dirty="0" err="1">
                <a:solidFill>
                  <a:srgbClr val="000000"/>
                </a:solidFill>
                <a:latin typeface="Arial"/>
              </a:rPr>
              <a:t>data_T</a:t>
            </a:r>
            <a:r>
              <a:rPr lang="en-US" sz="1000" kern="0" dirty="0">
                <a:solidFill>
                  <a:srgbClr val="000000"/>
                </a:solidFill>
                <a:latin typeface="Arial"/>
              </a:rPr>
              <a:t>, class </a:t>
            </a:r>
            <a:r>
              <a:rPr lang="en-US" sz="1000" kern="0" dirty="0" err="1">
                <a:solidFill>
                  <a:srgbClr val="000000"/>
                </a:solidFill>
                <a:latin typeface="Arial"/>
              </a:rPr>
              <a:t>acc_T</a:t>
            </a:r>
            <a:r>
              <a:rPr lang="en-US" sz="1000" kern="0" dirty="0">
                <a:solidFill>
                  <a:srgbClr val="000000"/>
                </a:solidFill>
                <a:latin typeface="Arial"/>
              </a:rPr>
              <a:t>&gt;</a:t>
            </a:r>
          </a:p>
          <a:p>
            <a:pPr defTabSz="914400" fontAlgn="base">
              <a:spcBef>
                <a:spcPct val="0"/>
              </a:spcBef>
              <a:spcAft>
                <a:spcPct val="0"/>
              </a:spcAft>
              <a:defRPr/>
            </a:pPr>
            <a:r>
              <a:rPr lang="en-US" sz="1000" kern="0" dirty="0">
                <a:solidFill>
                  <a:srgbClr val="000000"/>
                </a:solidFill>
                <a:latin typeface="Arial"/>
              </a:rPr>
              <a:t>const </a:t>
            </a:r>
            <a:r>
              <a:rPr lang="en-US" sz="1000" kern="0" dirty="0" err="1">
                <a:solidFill>
                  <a:srgbClr val="000000"/>
                </a:solidFill>
                <a:latin typeface="Arial"/>
              </a:rPr>
              <a:t>coef_T</a:t>
            </a:r>
            <a:r>
              <a:rPr lang="en-US" sz="1000" kern="0" dirty="0">
                <a:solidFill>
                  <a:srgbClr val="000000"/>
                </a:solidFill>
                <a:latin typeface="Arial"/>
              </a:rPr>
              <a:t> </a:t>
            </a:r>
            <a:r>
              <a:rPr lang="en-US" sz="1000" kern="0" dirty="0" err="1">
                <a:solidFill>
                  <a:srgbClr val="000000"/>
                </a:solidFill>
                <a:latin typeface="Arial"/>
              </a:rPr>
              <a:t>CFir</a:t>
            </a:r>
            <a:r>
              <a:rPr lang="en-US" sz="1000" kern="0" dirty="0">
                <a:solidFill>
                  <a:srgbClr val="000000"/>
                </a:solidFill>
                <a:latin typeface="Arial"/>
              </a:rPr>
              <a:t>&lt;</a:t>
            </a:r>
            <a:r>
              <a:rPr lang="en-US" sz="1000" kern="0" dirty="0" err="1">
                <a:solidFill>
                  <a:srgbClr val="000000"/>
                </a:solidFill>
                <a:latin typeface="Arial"/>
              </a:rPr>
              <a:t>coef_T</a:t>
            </a: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&gt;::c[]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#include "</a:t>
            </a:r>
            <a:r>
              <a:rPr lang="en-US" sz="1000" kern="0" dirty="0" err="1">
                <a:solidFill>
                  <a:srgbClr val="000000"/>
                </a:solidFill>
                <a:latin typeface="Arial"/>
              </a:rPr>
              <a:t>fir_coeff.h</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template&lt;class </a:t>
            </a:r>
            <a:r>
              <a:rPr lang="en-US" sz="1000" kern="0" dirty="0" err="1">
                <a:solidFill>
                  <a:srgbClr val="000000"/>
                </a:solidFill>
                <a:latin typeface="Arial"/>
              </a:rPr>
              <a:t>coef_T</a:t>
            </a:r>
            <a:r>
              <a:rPr lang="en-US" sz="1000" kern="0" dirty="0">
                <a:solidFill>
                  <a:srgbClr val="000000"/>
                </a:solidFill>
                <a:latin typeface="Arial"/>
              </a:rPr>
              <a:t>, class </a:t>
            </a:r>
            <a:r>
              <a:rPr lang="en-US" sz="1000" kern="0" dirty="0" err="1">
                <a:solidFill>
                  <a:srgbClr val="000000"/>
                </a:solidFill>
                <a:latin typeface="Arial"/>
              </a:rPr>
              <a:t>data_T</a:t>
            </a:r>
            <a:r>
              <a:rPr lang="en-US" sz="1000" kern="0" dirty="0">
                <a:solidFill>
                  <a:srgbClr val="000000"/>
                </a:solidFill>
                <a:latin typeface="Arial"/>
              </a:rPr>
              <a:t>, class </a:t>
            </a:r>
            <a:r>
              <a:rPr lang="en-US" sz="1000" kern="0" dirty="0" err="1">
                <a:solidFill>
                  <a:srgbClr val="000000"/>
                </a:solidFill>
                <a:latin typeface="Arial"/>
              </a:rPr>
              <a:t>acc_T</a:t>
            </a:r>
            <a:r>
              <a:rPr lang="en-US" sz="1000" kern="0" dirty="0">
                <a:solidFill>
                  <a:srgbClr val="000000"/>
                </a:solidFill>
                <a:latin typeface="Arial"/>
              </a:rPr>
              <a:t>&gt;</a:t>
            </a:r>
          </a:p>
          <a:p>
            <a:pPr defTabSz="914400" fontAlgn="base">
              <a:spcBef>
                <a:spcPct val="0"/>
              </a:spcBef>
              <a:spcAft>
                <a:spcPct val="0"/>
              </a:spcAft>
              <a:defRPr/>
            </a:pPr>
            <a:r>
              <a:rPr lang="en-US" sz="1000" kern="0" dirty="0" err="1">
                <a:solidFill>
                  <a:srgbClr val="000000"/>
                </a:solidFill>
                <a:latin typeface="Arial"/>
              </a:rPr>
              <a:t>data_T</a:t>
            </a:r>
            <a:r>
              <a:rPr lang="en-US" sz="1000" kern="0" dirty="0">
                <a:solidFill>
                  <a:srgbClr val="000000"/>
                </a:solidFill>
                <a:latin typeface="Arial"/>
              </a:rPr>
              <a:t> </a:t>
            </a:r>
            <a:r>
              <a:rPr lang="en-US" sz="1000" b="1" kern="0" dirty="0" err="1">
                <a:solidFill>
                  <a:srgbClr val="000000"/>
                </a:solidFill>
                <a:latin typeface="Arial"/>
              </a:rPr>
              <a:t>CFir</a:t>
            </a:r>
            <a:r>
              <a:rPr lang="en-US" sz="1000" kern="0" dirty="0">
                <a:solidFill>
                  <a:srgbClr val="000000"/>
                </a:solidFill>
                <a:latin typeface="Arial"/>
              </a:rPr>
              <a:t>&lt;</a:t>
            </a:r>
            <a:r>
              <a:rPr lang="en-US" sz="1000" kern="0" dirty="0" err="1">
                <a:solidFill>
                  <a:srgbClr val="000000"/>
                </a:solidFill>
                <a:latin typeface="Arial"/>
              </a:rPr>
              <a:t>coef_T</a:t>
            </a: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&gt;::</a:t>
            </a:r>
            <a:r>
              <a:rPr lang="en-US" sz="1000" b="1" kern="0" dirty="0">
                <a:solidFill>
                  <a:srgbClr val="000000"/>
                </a:solidFill>
                <a:latin typeface="Arial"/>
              </a:rPr>
              <a:t>operator()</a:t>
            </a:r>
            <a:r>
              <a:rPr lang="en-US" sz="1000" kern="0" dirty="0">
                <a:solidFill>
                  <a:srgbClr val="000000"/>
                </a:solidFill>
                <a:latin typeface="Arial"/>
              </a:rPr>
              <a:t>(</a:t>
            </a:r>
            <a:r>
              <a:rPr lang="en-US" sz="1000" kern="0" dirty="0" err="1">
                <a:solidFill>
                  <a:srgbClr val="000000"/>
                </a:solidFill>
                <a:latin typeface="Arial"/>
              </a:rPr>
              <a:t>data_T</a:t>
            </a:r>
            <a:r>
              <a:rPr lang="en-US" sz="1000" kern="0" dirty="0">
                <a:solidFill>
                  <a:srgbClr val="000000"/>
                </a:solidFill>
                <a:latin typeface="Arial"/>
              </a:rPr>
              <a:t> x)</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int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acc_t</a:t>
            </a:r>
            <a:r>
              <a:rPr lang="en-US" sz="1000" kern="0" dirty="0">
                <a:solidFill>
                  <a:srgbClr val="000000"/>
                </a:solidFill>
                <a:latin typeface="Arial"/>
              </a:rPr>
              <a:t> acc = 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data_t</a:t>
            </a:r>
            <a:r>
              <a:rPr lang="en-US" sz="1000" kern="0" dirty="0">
                <a:solidFill>
                  <a:srgbClr val="000000"/>
                </a:solidFill>
                <a:latin typeface="Arial"/>
              </a:rPr>
              <a:t> m;</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a:t>
            </a:r>
            <a:r>
              <a:rPr lang="en-US" sz="1000" b="1" kern="0" dirty="0" err="1">
                <a:solidFill>
                  <a:srgbClr val="000000"/>
                </a:solidFill>
                <a:latin typeface="Arial"/>
              </a:rPr>
              <a:t>mac_loop</a:t>
            </a:r>
            <a:r>
              <a:rPr lang="en-US" sz="1000" kern="0" dirty="0">
                <a:solidFill>
                  <a:srgbClr val="000000"/>
                </a:solidFill>
                <a:latin typeface="Arial"/>
              </a:rPr>
              <a:t>: for (</a:t>
            </a:r>
            <a:r>
              <a:rPr lang="en-US" sz="1000" kern="0" dirty="0" err="1">
                <a:solidFill>
                  <a:srgbClr val="000000"/>
                </a:solidFill>
                <a:latin typeface="Arial"/>
              </a:rPr>
              <a:t>i</a:t>
            </a:r>
            <a:r>
              <a:rPr lang="en-US" sz="1000" kern="0" dirty="0">
                <a:solidFill>
                  <a:srgbClr val="000000"/>
                </a:solidFill>
                <a:latin typeface="Arial"/>
              </a:rPr>
              <a:t>=N-1;i&gt;=0;i--) {</a:t>
            </a:r>
          </a:p>
          <a:p>
            <a:pPr defTabSz="914400" fontAlgn="base">
              <a:spcBef>
                <a:spcPct val="0"/>
              </a:spcBef>
              <a:spcAft>
                <a:spcPct val="0"/>
              </a:spcAft>
              <a:defRPr/>
            </a:pPr>
            <a:r>
              <a:rPr lang="en-US" sz="1000" kern="0" dirty="0">
                <a:solidFill>
                  <a:srgbClr val="000000"/>
                </a:solidFill>
                <a:latin typeface="Arial"/>
              </a:rPr>
              <a:t>         if (</a:t>
            </a:r>
            <a:r>
              <a:rPr lang="en-US" sz="1000" kern="0" dirty="0" err="1">
                <a:solidFill>
                  <a:srgbClr val="000000"/>
                </a:solidFill>
                <a:latin typeface="Arial"/>
              </a:rPr>
              <a:t>i</a:t>
            </a:r>
            <a:r>
              <a:rPr lang="en-US" sz="1000" kern="0" dirty="0">
                <a:solidFill>
                  <a:srgbClr val="000000"/>
                </a:solidFill>
                <a:latin typeface="Arial"/>
              </a:rPr>
              <a:t>==0) {</a:t>
            </a:r>
          </a:p>
          <a:p>
            <a:pPr defTabSz="914400" fontAlgn="base">
              <a:spcBef>
                <a:spcPct val="0"/>
              </a:spcBef>
              <a:spcAft>
                <a:spcPct val="0"/>
              </a:spcAft>
              <a:defRPr/>
            </a:pPr>
            <a:r>
              <a:rPr lang="en-US" sz="1000" kern="0" dirty="0">
                <a:solidFill>
                  <a:srgbClr val="000000"/>
                </a:solidFill>
                <a:latin typeface="Arial"/>
              </a:rPr>
              <a:t>           acc+=x*c[0];</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[0]=x;</a:t>
            </a:r>
          </a:p>
          <a:p>
            <a:pPr defTabSz="914400" fontAlgn="base">
              <a:spcBef>
                <a:spcPct val="0"/>
              </a:spcBef>
              <a:spcAft>
                <a:spcPct val="0"/>
              </a:spcAft>
              <a:defRPr/>
            </a:pPr>
            <a:r>
              <a:rPr lang="en-US" sz="1000" kern="0" dirty="0">
                <a:solidFill>
                  <a:srgbClr val="000000"/>
                </a:solidFill>
                <a:latin typeface="Arial"/>
              </a:rPr>
              <a:t>         } else {</a:t>
            </a:r>
          </a:p>
          <a:p>
            <a:pPr defTabSz="914400" fontAlgn="base">
              <a:spcBef>
                <a:spcPct val="0"/>
              </a:spcBef>
              <a:spcAft>
                <a:spcPct val="0"/>
              </a:spcAft>
              <a:defRPr/>
            </a:pPr>
            <a:r>
              <a:rPr lang="en-US" sz="1000" kern="0" dirty="0">
                <a:solidFill>
                  <a:srgbClr val="000000"/>
                </a:solidFill>
                <a:latin typeface="Arial"/>
              </a:rPr>
              <a:t>           </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a:t>
            </a:r>
            <a:r>
              <a:rPr lang="en-US" sz="1000" kern="0" dirty="0" err="1">
                <a:solidFill>
                  <a:srgbClr val="000000"/>
                </a:solidFill>
                <a:latin typeface="Arial"/>
              </a:rPr>
              <a:t>shift_reg</a:t>
            </a:r>
            <a:r>
              <a:rPr lang="en-US" sz="1000" kern="0" dirty="0">
                <a:solidFill>
                  <a:srgbClr val="000000"/>
                </a:solidFill>
                <a:latin typeface="Arial"/>
              </a:rPr>
              <a:t>[i-1];  </a:t>
            </a:r>
          </a:p>
          <a:p>
            <a:pPr defTabSz="914400" fontAlgn="base">
              <a:spcBef>
                <a:spcPct val="0"/>
              </a:spcBef>
              <a:spcAft>
                <a:spcPct val="0"/>
              </a:spcAft>
              <a:defRPr/>
            </a:pPr>
            <a:r>
              <a:rPr lang="en-US" sz="1000" kern="0" dirty="0">
                <a:solidFill>
                  <a:srgbClr val="000000"/>
                </a:solidFill>
                <a:latin typeface="Arial"/>
              </a:rPr>
              <a:t>           acc+=</a:t>
            </a:r>
            <a:r>
              <a:rPr lang="en-US" sz="1000" kern="0" dirty="0" err="1">
                <a:solidFill>
                  <a:srgbClr val="000000"/>
                </a:solidFill>
                <a:latin typeface="Arial"/>
              </a:rPr>
              <a:t>shift_reg</a:t>
            </a:r>
            <a:r>
              <a:rPr lang="en-US" sz="1000" kern="0" dirty="0">
                <a:solidFill>
                  <a:srgbClr val="000000"/>
                </a:solidFill>
                <a:latin typeface="Arial"/>
              </a:rPr>
              <a:t>[</a:t>
            </a:r>
            <a:r>
              <a:rPr lang="en-US" sz="1000" kern="0" dirty="0" err="1">
                <a:solidFill>
                  <a:srgbClr val="000000"/>
                </a:solidFill>
                <a:latin typeface="Arial"/>
              </a:rPr>
              <a:t>i</a:t>
            </a:r>
            <a:r>
              <a:rPr lang="en-US" sz="1000" kern="0" dirty="0">
                <a:solidFill>
                  <a:srgbClr val="000000"/>
                </a:solidFill>
                <a:latin typeface="Arial"/>
              </a:rPr>
              <a:t>]*c[</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    </a:t>
            </a:r>
          </a:p>
          <a:p>
            <a:pPr defTabSz="914400" fontAlgn="base">
              <a:spcBef>
                <a:spcPct val="0"/>
              </a:spcBef>
              <a:spcAft>
                <a:spcPct val="0"/>
              </a:spcAft>
              <a:defRPr/>
            </a:pPr>
            <a:r>
              <a:rPr lang="en-US" sz="1000" kern="0" dirty="0">
                <a:solidFill>
                  <a:srgbClr val="000000"/>
                </a:solidFill>
                <a:latin typeface="Arial"/>
              </a:rPr>
              <a:t>   return acc;</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err="1">
                <a:solidFill>
                  <a:srgbClr val="000000"/>
                </a:solidFill>
                <a:latin typeface="Arial"/>
              </a:rPr>
              <a:t>data_t</a:t>
            </a:r>
            <a:r>
              <a:rPr lang="en-US" sz="1000" b="1" kern="0" dirty="0">
                <a:solidFill>
                  <a:srgbClr val="000000"/>
                </a:solidFill>
                <a:latin typeface="Arial"/>
              </a:rPr>
              <a:t> fir(</a:t>
            </a:r>
            <a:r>
              <a:rPr lang="en-US" sz="1000" b="1" kern="0" dirty="0" err="1">
                <a:solidFill>
                  <a:srgbClr val="000000"/>
                </a:solidFill>
                <a:latin typeface="Arial"/>
              </a:rPr>
              <a:t>data_t</a:t>
            </a:r>
            <a:r>
              <a:rPr lang="en-US" sz="1000" b="1" kern="0" dirty="0">
                <a:solidFill>
                  <a:srgbClr val="000000"/>
                </a:solidFill>
                <a:latin typeface="Arial"/>
              </a:rPr>
              <a:t> x)</a:t>
            </a:r>
          </a:p>
          <a:p>
            <a:pPr defTabSz="914400" fontAlgn="base">
              <a:spcBef>
                <a:spcPct val="0"/>
              </a:spcBef>
              <a:spcAft>
                <a:spcPct val="0"/>
              </a:spcAft>
              <a:defRPr/>
            </a:pPr>
            <a:r>
              <a:rPr lang="en-US" sz="1000" b="1" kern="0" dirty="0">
                <a:solidFill>
                  <a:srgbClr val="000000"/>
                </a:solidFill>
                <a:latin typeface="Arial"/>
              </a:rPr>
              <a:t>  {</a:t>
            </a:r>
          </a:p>
          <a:p>
            <a:pPr defTabSz="914400" fontAlgn="base">
              <a:spcBef>
                <a:spcPct val="0"/>
              </a:spcBef>
              <a:spcAft>
                <a:spcPct val="0"/>
              </a:spcAft>
              <a:defRPr/>
            </a:pPr>
            <a:r>
              <a:rPr lang="en-US" sz="1000" b="1" kern="0" dirty="0">
                <a:solidFill>
                  <a:srgbClr val="000000"/>
                </a:solidFill>
                <a:latin typeface="Arial"/>
              </a:rPr>
              <a:t>    static </a:t>
            </a:r>
            <a:r>
              <a:rPr lang="en-US" sz="1000" b="1" kern="0" dirty="0" err="1">
                <a:solidFill>
                  <a:srgbClr val="000000"/>
                </a:solidFill>
                <a:latin typeface="Arial"/>
              </a:rPr>
              <a:t>CFir</a:t>
            </a:r>
            <a:r>
              <a:rPr lang="en-US" sz="1000" b="1" kern="0" dirty="0">
                <a:solidFill>
                  <a:srgbClr val="000000"/>
                </a:solidFill>
                <a:latin typeface="Arial"/>
              </a:rPr>
              <a:t>&lt;</a:t>
            </a:r>
            <a:r>
              <a:rPr lang="en-US" sz="1000" b="1" kern="0" dirty="0" err="1">
                <a:solidFill>
                  <a:srgbClr val="000000"/>
                </a:solidFill>
                <a:latin typeface="Arial"/>
              </a:rPr>
              <a:t>coef_t</a:t>
            </a:r>
            <a:r>
              <a:rPr lang="en-US" sz="1000" b="1" kern="0" dirty="0">
                <a:solidFill>
                  <a:srgbClr val="000000"/>
                </a:solidFill>
                <a:latin typeface="Arial"/>
              </a:rPr>
              <a:t>, </a:t>
            </a:r>
            <a:r>
              <a:rPr lang="en-US" sz="1000" b="1" kern="0" dirty="0" err="1">
                <a:solidFill>
                  <a:srgbClr val="000000"/>
                </a:solidFill>
                <a:latin typeface="Arial"/>
              </a:rPr>
              <a:t>data_t</a:t>
            </a:r>
            <a:r>
              <a:rPr lang="en-US" sz="1000" b="1" kern="0" dirty="0">
                <a:solidFill>
                  <a:srgbClr val="000000"/>
                </a:solidFill>
                <a:latin typeface="Arial"/>
              </a:rPr>
              <a:t>, </a:t>
            </a:r>
            <a:r>
              <a:rPr lang="en-US" sz="1000" b="1" kern="0" dirty="0" err="1">
                <a:solidFill>
                  <a:srgbClr val="000000"/>
                </a:solidFill>
                <a:latin typeface="Arial"/>
              </a:rPr>
              <a:t>acc_t</a:t>
            </a:r>
            <a:r>
              <a:rPr lang="en-US" sz="1000" b="1" kern="0" dirty="0">
                <a:solidFill>
                  <a:srgbClr val="000000"/>
                </a:solidFill>
                <a:latin typeface="Arial"/>
              </a:rPr>
              <a:t>&gt; fir1;</a:t>
            </a:r>
          </a:p>
          <a:p>
            <a:pPr defTabSz="914400" fontAlgn="base">
              <a:spcBef>
                <a:spcPct val="0"/>
              </a:spcBef>
              <a:spcAft>
                <a:spcPct val="0"/>
              </a:spcAft>
              <a:defRPr/>
            </a:pPr>
            <a:endParaRPr lang="en-US" sz="1000" b="1"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return fir1(x);</a:t>
            </a:r>
          </a:p>
          <a:p>
            <a:pPr defTabSz="914400" fontAlgn="base">
              <a:spcBef>
                <a:spcPct val="0"/>
              </a:spcBef>
              <a:spcAft>
                <a:spcPct val="0"/>
              </a:spcAft>
              <a:defRPr/>
            </a:pPr>
            <a:r>
              <a:rPr lang="en-US" sz="1000" b="1" kern="0" dirty="0">
                <a:solidFill>
                  <a:srgbClr val="000000"/>
                </a:solidFill>
                <a:latin typeface="Arial"/>
              </a:rPr>
              <a:t>  }</a:t>
            </a:r>
          </a:p>
        </p:txBody>
      </p:sp>
      <p:sp>
        <p:nvSpPr>
          <p:cNvPr id="24" name="TextBox 23">
            <a:extLst>
              <a:ext uri="{FF2B5EF4-FFF2-40B4-BE49-F238E27FC236}">
                <a16:creationId xmlns:a16="http://schemas.microsoft.com/office/drawing/2014/main" id="{E7EACEDE-4987-4378-BA0B-D6B75984F33A}"/>
              </a:ext>
            </a:extLst>
          </p:cNvPr>
          <p:cNvSpPr txBox="1"/>
          <p:nvPr/>
        </p:nvSpPr>
        <p:spPr>
          <a:xfrm>
            <a:off x="10908174" y="1904585"/>
            <a:ext cx="716707" cy="178510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-1,</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84,</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370,</a:t>
            </a:r>
          </a:p>
          <a:p>
            <a:pPr defTabSz="914400" fontAlgn="base">
              <a:spcBef>
                <a:spcPct val="0"/>
              </a:spcBef>
              <a:spcAft>
                <a:spcPct val="0"/>
              </a:spcAft>
              <a:defRPr/>
            </a:pPr>
            <a:r>
              <a:rPr lang="en-US" sz="1000" kern="0" dirty="0">
                <a:solidFill>
                  <a:srgbClr val="000000"/>
                </a:solidFill>
                <a:latin typeface="Arial"/>
              </a:rPr>
              <a:t>271,</a:t>
            </a:r>
          </a:p>
          <a:p>
            <a:pPr defTabSz="914400" fontAlgn="base">
              <a:spcBef>
                <a:spcPct val="0"/>
              </a:spcBef>
              <a:spcAft>
                <a:spcPct val="0"/>
              </a:spcAft>
              <a:defRPr/>
            </a:pPr>
            <a:r>
              <a:rPr lang="en-US" sz="1000" kern="0" dirty="0">
                <a:solidFill>
                  <a:srgbClr val="000000"/>
                </a:solidFill>
                <a:latin typeface="Arial"/>
              </a:rPr>
              <a:t>88,</a:t>
            </a:r>
          </a:p>
          <a:p>
            <a:pPr defTabSz="914400" fontAlgn="base">
              <a:spcBef>
                <a:spcPct val="0"/>
              </a:spcBef>
              <a:spcAft>
                <a:spcPct val="0"/>
              </a:spcAft>
              <a:defRPr/>
            </a:pPr>
            <a:r>
              <a:rPr lang="en-US" sz="1000" kern="0" dirty="0">
                <a:solidFill>
                  <a:srgbClr val="000000"/>
                </a:solidFill>
                <a:latin typeface="Arial"/>
              </a:rPr>
              <a:t>-19,</a:t>
            </a:r>
          </a:p>
          <a:p>
            <a:pPr defTabSz="914400" fontAlgn="base">
              <a:spcBef>
                <a:spcPct val="0"/>
              </a:spcBef>
              <a:spcAft>
                <a:spcPct val="0"/>
              </a:spcAft>
              <a:defRPr/>
            </a:pPr>
            <a:r>
              <a:rPr lang="en-US" sz="1000" kern="0" dirty="0">
                <a:solidFill>
                  <a:srgbClr val="000000"/>
                </a:solidFill>
                <a:latin typeface="Arial"/>
              </a:rPr>
              <a:t>-20,</a:t>
            </a:r>
          </a:p>
          <a:p>
            <a:pPr defTabSz="914400" fontAlgn="base">
              <a:spcBef>
                <a:spcPct val="0"/>
              </a:spcBef>
              <a:spcAft>
                <a:spcPct val="0"/>
              </a:spcAft>
              <a:defRPr/>
            </a:pPr>
            <a:r>
              <a:rPr lang="en-US" sz="1000" kern="0" dirty="0">
                <a:solidFill>
                  <a:srgbClr val="000000"/>
                </a:solidFill>
                <a:latin typeface="Arial"/>
              </a:rPr>
              <a:t>-1,</a:t>
            </a:r>
          </a:p>
        </p:txBody>
      </p:sp>
      <p:cxnSp>
        <p:nvCxnSpPr>
          <p:cNvPr id="25" name="Straight Arrow Connector 24">
            <a:extLst>
              <a:ext uri="{FF2B5EF4-FFF2-40B4-BE49-F238E27FC236}">
                <a16:creationId xmlns:a16="http://schemas.microsoft.com/office/drawing/2014/main" id="{CBFAB425-1BAE-456F-B181-1A94E53D54D0}"/>
              </a:ext>
            </a:extLst>
          </p:cNvPr>
          <p:cNvCxnSpPr/>
          <p:nvPr/>
        </p:nvCxnSpPr>
        <p:spPr>
          <a:xfrm flipH="1">
            <a:off x="8348510" y="2327040"/>
            <a:ext cx="2406085" cy="0"/>
          </a:xfrm>
          <a:prstGeom prst="straightConnector1">
            <a:avLst/>
          </a:prstGeom>
          <a:noFill/>
          <a:ln w="38100" cap="flat" cmpd="sng" algn="ctr">
            <a:solidFill>
              <a:srgbClr val="000000"/>
            </a:solidFill>
            <a:prstDash val="solid"/>
            <a:headEnd type="none" w="med" len="med"/>
            <a:tailEnd type="triangle" w="med" len="med"/>
          </a:ln>
          <a:effectLst>
            <a:outerShdw blurRad="40000" dist="20000" dir="5400000" rotWithShape="0">
              <a:srgbClr val="000000">
                <a:alpha val="38000"/>
              </a:srgbClr>
            </a:outerShdw>
          </a:effectLst>
        </p:spPr>
      </p:cxnSp>
      <p:sp>
        <p:nvSpPr>
          <p:cNvPr id="26" name="TextBox 25">
            <a:extLst>
              <a:ext uri="{FF2B5EF4-FFF2-40B4-BE49-F238E27FC236}">
                <a16:creationId xmlns:a16="http://schemas.microsoft.com/office/drawing/2014/main" id="{D2B87A9D-6816-4466-9F69-4D510B6B93CD}"/>
              </a:ext>
            </a:extLst>
          </p:cNvPr>
          <p:cNvSpPr txBox="1"/>
          <p:nvPr/>
        </p:nvSpPr>
        <p:spPr>
          <a:xfrm>
            <a:off x="9628341" y="1405320"/>
            <a:ext cx="1023867"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a:solidFill>
                  <a:srgbClr val="FFFFFF"/>
                </a:solidFill>
                <a:latin typeface="Arial"/>
              </a:rPr>
              <a:t>fir.cpp</a:t>
            </a:r>
          </a:p>
        </p:txBody>
      </p:sp>
      <p:sp>
        <p:nvSpPr>
          <p:cNvPr id="27" name="TextBox 26">
            <a:extLst>
              <a:ext uri="{FF2B5EF4-FFF2-40B4-BE49-F238E27FC236}">
                <a16:creationId xmlns:a16="http://schemas.microsoft.com/office/drawing/2014/main" id="{9C5B1E91-6D30-4533-BCAC-623278FD52FF}"/>
              </a:ext>
            </a:extLst>
          </p:cNvPr>
          <p:cNvSpPr txBox="1"/>
          <p:nvPr/>
        </p:nvSpPr>
        <p:spPr>
          <a:xfrm>
            <a:off x="10754594" y="1597345"/>
            <a:ext cx="122864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fir_coeff.h</a:t>
            </a:r>
            <a:endParaRPr lang="en-US" sz="1050" b="1" kern="0" dirty="0">
              <a:solidFill>
                <a:srgbClr val="FFFFFF"/>
              </a:solidFill>
              <a:latin typeface="Arial"/>
            </a:endParaRPr>
          </a:p>
        </p:txBody>
      </p:sp>
      <p:sp>
        <p:nvSpPr>
          <p:cNvPr id="28" name="TextBox 27">
            <a:extLst>
              <a:ext uri="{FF2B5EF4-FFF2-40B4-BE49-F238E27FC236}">
                <a16:creationId xmlns:a16="http://schemas.microsoft.com/office/drawing/2014/main" id="{DB66A518-0424-4886-921D-8D6A414787BF}"/>
              </a:ext>
            </a:extLst>
          </p:cNvPr>
          <p:cNvSpPr txBox="1"/>
          <p:nvPr/>
        </p:nvSpPr>
        <p:spPr>
          <a:xfrm>
            <a:off x="8860440" y="5553060"/>
            <a:ext cx="3071600" cy="415498"/>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latin typeface="Arial"/>
                <a:ea typeface="宋体" charset="-122"/>
              </a:rPr>
              <a:t>Top-level function defines the IO Class CFIR is instantiated as fir1</a:t>
            </a:r>
          </a:p>
        </p:txBody>
      </p:sp>
      <p:sp>
        <p:nvSpPr>
          <p:cNvPr id="29" name="TextBox 28">
            <a:extLst>
              <a:ext uri="{FF2B5EF4-FFF2-40B4-BE49-F238E27FC236}">
                <a16:creationId xmlns:a16="http://schemas.microsoft.com/office/drawing/2014/main" id="{2808EB09-02FE-481C-8ADD-23F7B2E2654D}"/>
              </a:ext>
            </a:extLst>
          </p:cNvPr>
          <p:cNvSpPr txBox="1"/>
          <p:nvPr/>
        </p:nvSpPr>
        <p:spPr>
          <a:xfrm>
            <a:off x="7017481" y="2979925"/>
            <a:ext cx="2559667"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err="1">
                <a:solidFill>
                  <a:srgbClr val="000000"/>
                </a:solidFill>
                <a:latin typeface="Arial"/>
                <a:ea typeface="宋体" charset="-122"/>
              </a:rPr>
              <a:t>CFir</a:t>
            </a:r>
            <a:r>
              <a:rPr lang="en-US" altLang="zh-CN" sz="1050" b="1" kern="0" dirty="0">
                <a:solidFill>
                  <a:srgbClr val="000000"/>
                </a:solidFill>
                <a:latin typeface="Arial"/>
                <a:ea typeface="宋体" charset="-122"/>
              </a:rPr>
              <a:t> functionality defined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FIR Filter with SystemC</a:t>
            </a:r>
          </a:p>
        </p:txBody>
      </p:sp>
      <p:sp>
        <p:nvSpPr>
          <p:cNvPr id="3" name="Content Placeholder 2"/>
          <p:cNvSpPr>
            <a:spLocks noGrp="1"/>
          </p:cNvSpPr>
          <p:nvPr>
            <p:ph sz="half" idx="1"/>
          </p:nvPr>
        </p:nvSpPr>
        <p:spPr/>
        <p:txBody>
          <a:bodyPr>
            <a:normAutofit/>
          </a:bodyPr>
          <a:lstStyle/>
          <a:p>
            <a:r>
              <a:rPr lang="en-US" dirty="0"/>
              <a:t>SystemC Style</a:t>
            </a:r>
          </a:p>
          <a:p>
            <a:pPr lvl="1"/>
            <a:r>
              <a:rPr lang="en-US" dirty="0"/>
              <a:t>The header defines the IO ports</a:t>
            </a:r>
          </a:p>
          <a:p>
            <a:pPr lvl="1"/>
            <a:r>
              <a:rPr lang="en-US" dirty="0"/>
              <a:t>The constructor calls the functions</a:t>
            </a:r>
          </a:p>
          <a:p>
            <a:pPr lvl="2"/>
            <a:r>
              <a:rPr lang="en-US" sz="1400" dirty="0"/>
              <a:t>Can be SC_CTHREAD sensitive on the clock (with optional reset)</a:t>
            </a:r>
          </a:p>
          <a:p>
            <a:pPr lvl="2"/>
            <a:r>
              <a:rPr lang="en-US" sz="1400" dirty="0"/>
              <a:t>Can be SC_METHOD sensitive on any signal</a:t>
            </a:r>
          </a:p>
          <a:p>
            <a:pPr lvl="1"/>
            <a:r>
              <a:rPr lang="en-US" dirty="0"/>
              <a:t>Multiple threads, methods and functions can be used</a:t>
            </a:r>
          </a:p>
        </p:txBody>
      </p:sp>
      <p:sp>
        <p:nvSpPr>
          <p:cNvPr id="23" name="Slide Number Placeholder 2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18</a:t>
            </a:fld>
            <a:endParaRPr lang="en-US" dirty="0">
              <a:solidFill>
                <a:srgbClr val="0C0C0C">
                  <a:tint val="75000"/>
                </a:srgbClr>
              </a:solidFill>
              <a:latin typeface="Arial"/>
            </a:endParaRPr>
          </a:p>
        </p:txBody>
      </p:sp>
      <p:sp>
        <p:nvSpPr>
          <p:cNvPr id="16" name="TextBox 15">
            <a:extLst>
              <a:ext uri="{FF2B5EF4-FFF2-40B4-BE49-F238E27FC236}">
                <a16:creationId xmlns:a16="http://schemas.microsoft.com/office/drawing/2014/main" id="{A60CA41F-D920-4DE8-B20B-E503A8F45A34}"/>
              </a:ext>
            </a:extLst>
          </p:cNvPr>
          <p:cNvSpPr txBox="1"/>
          <p:nvPr/>
        </p:nvSpPr>
        <p:spPr>
          <a:xfrm>
            <a:off x="925475" y="3659432"/>
            <a:ext cx="3333002" cy="258532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kern="0" dirty="0">
                <a:solidFill>
                  <a:srgbClr val="000000"/>
                </a:solidFill>
                <a:latin typeface="Arial"/>
              </a:rPr>
              <a:t>SC_MODULE (fir) {</a:t>
            </a:r>
          </a:p>
          <a:p>
            <a:pPr defTabSz="914400" fontAlgn="base">
              <a:spcBef>
                <a:spcPct val="0"/>
              </a:spcBef>
              <a:spcAft>
                <a:spcPct val="0"/>
              </a:spcAft>
              <a:defRPr/>
            </a:pPr>
            <a:r>
              <a:rPr lang="en-US" sz="900" kern="0" dirty="0">
                <a:solidFill>
                  <a:srgbClr val="000000"/>
                </a:solidFill>
                <a:latin typeface="Arial"/>
              </a:rPr>
              <a:t>//-----------Input Ports---------------</a:t>
            </a:r>
          </a:p>
          <a:p>
            <a:pPr defTabSz="914400" fontAlgn="base">
              <a:spcBef>
                <a:spcPct val="0"/>
              </a:spcBef>
              <a:spcAft>
                <a:spcPct val="0"/>
              </a:spcAft>
              <a:defRPr/>
            </a:pPr>
            <a:r>
              <a:rPr lang="en-US" sz="900" kern="0" dirty="0" err="1">
                <a:solidFill>
                  <a:srgbClr val="000000"/>
                </a:solidFill>
                <a:latin typeface="Arial"/>
              </a:rPr>
              <a:t>sc_in</a:t>
            </a:r>
            <a:r>
              <a:rPr lang="en-US" sz="900" kern="0" dirty="0">
                <a:solidFill>
                  <a:srgbClr val="000000"/>
                </a:solidFill>
                <a:latin typeface="Arial"/>
              </a:rPr>
              <a:t>    &lt;</a:t>
            </a:r>
            <a:r>
              <a:rPr lang="en-US" sz="900" kern="0" dirty="0" err="1">
                <a:solidFill>
                  <a:srgbClr val="000000"/>
                </a:solidFill>
                <a:latin typeface="Arial"/>
              </a:rPr>
              <a:t>bool</a:t>
            </a:r>
            <a:r>
              <a:rPr lang="en-US" sz="900" kern="0" dirty="0">
                <a:solidFill>
                  <a:srgbClr val="000000"/>
                </a:solidFill>
                <a:latin typeface="Arial"/>
              </a:rPr>
              <a:t>&gt;        	</a:t>
            </a:r>
            <a:r>
              <a:rPr lang="en-US" sz="900" kern="0" dirty="0" err="1">
                <a:solidFill>
                  <a:srgbClr val="000000"/>
                </a:solidFill>
                <a:latin typeface="Arial"/>
              </a:rPr>
              <a:t>clk</a:t>
            </a:r>
            <a:r>
              <a:rPr lang="en-US" sz="900" kern="0" dirty="0">
                <a:solidFill>
                  <a:srgbClr val="000000"/>
                </a:solidFill>
                <a:latin typeface="Arial"/>
              </a:rPr>
              <a:t>;</a:t>
            </a:r>
          </a:p>
          <a:p>
            <a:pPr defTabSz="914400" fontAlgn="base">
              <a:spcBef>
                <a:spcPct val="0"/>
              </a:spcBef>
              <a:spcAft>
                <a:spcPct val="0"/>
              </a:spcAft>
              <a:defRPr/>
            </a:pPr>
            <a:r>
              <a:rPr lang="en-US" sz="900" kern="0" dirty="0" err="1">
                <a:solidFill>
                  <a:srgbClr val="000000"/>
                </a:solidFill>
                <a:latin typeface="Arial"/>
              </a:rPr>
              <a:t>sc_in</a:t>
            </a:r>
            <a:r>
              <a:rPr lang="en-US" sz="900" kern="0" dirty="0">
                <a:solidFill>
                  <a:srgbClr val="000000"/>
                </a:solidFill>
                <a:latin typeface="Arial"/>
              </a:rPr>
              <a:t>    &lt;</a:t>
            </a:r>
            <a:r>
              <a:rPr lang="en-US" sz="900" kern="0" dirty="0" err="1">
                <a:solidFill>
                  <a:srgbClr val="000000"/>
                </a:solidFill>
                <a:latin typeface="Arial"/>
              </a:rPr>
              <a:t>bool</a:t>
            </a:r>
            <a:r>
              <a:rPr lang="en-US" sz="900" kern="0" dirty="0">
                <a:solidFill>
                  <a:srgbClr val="000000"/>
                </a:solidFill>
                <a:latin typeface="Arial"/>
              </a:rPr>
              <a:t>&gt;        	reset;</a:t>
            </a:r>
          </a:p>
          <a:p>
            <a:pPr defTabSz="914400" fontAlgn="base">
              <a:spcBef>
                <a:spcPct val="0"/>
              </a:spcBef>
              <a:spcAft>
                <a:spcPct val="0"/>
              </a:spcAft>
              <a:defRPr/>
            </a:pPr>
            <a:r>
              <a:rPr lang="en-US" sz="900" kern="0" dirty="0" err="1">
                <a:solidFill>
                  <a:srgbClr val="000000"/>
                </a:solidFill>
                <a:latin typeface="Arial"/>
              </a:rPr>
              <a:t>sc_in</a:t>
            </a:r>
            <a:r>
              <a:rPr lang="en-US" sz="900" kern="0" dirty="0">
                <a:solidFill>
                  <a:srgbClr val="000000"/>
                </a:solidFill>
                <a:latin typeface="Arial"/>
              </a:rPr>
              <a:t>    &lt;</a:t>
            </a:r>
            <a:r>
              <a:rPr lang="en-US" sz="900" kern="0" dirty="0" err="1">
                <a:solidFill>
                  <a:srgbClr val="000000"/>
                </a:solidFill>
                <a:latin typeface="Arial"/>
              </a:rPr>
              <a:t>sc_uint</a:t>
            </a:r>
            <a:r>
              <a:rPr lang="en-US" sz="900" kern="0" dirty="0">
                <a:solidFill>
                  <a:srgbClr val="000000"/>
                </a:solidFill>
                <a:latin typeface="Arial"/>
              </a:rPr>
              <a:t>&lt;8&gt; &gt;     x;</a:t>
            </a:r>
          </a:p>
          <a:p>
            <a:pPr defTabSz="914400" fontAlgn="base">
              <a:spcBef>
                <a:spcPct val="0"/>
              </a:spcBef>
              <a:spcAft>
                <a:spcPct val="0"/>
              </a:spcAft>
              <a:defRPr/>
            </a:pPr>
            <a:r>
              <a:rPr lang="en-US" sz="900" kern="0" dirty="0">
                <a:solidFill>
                  <a:srgbClr val="000000"/>
                </a:solidFill>
                <a:latin typeface="Arial"/>
              </a:rPr>
              <a:t>//-----------Output Ports---------------</a:t>
            </a:r>
          </a:p>
          <a:p>
            <a:pPr defTabSz="914400" fontAlgn="base">
              <a:spcBef>
                <a:spcPct val="0"/>
              </a:spcBef>
              <a:spcAft>
                <a:spcPct val="0"/>
              </a:spcAft>
              <a:defRPr/>
            </a:pPr>
            <a:r>
              <a:rPr lang="en-US" sz="900" kern="0" dirty="0" err="1">
                <a:solidFill>
                  <a:srgbClr val="000000"/>
                </a:solidFill>
                <a:latin typeface="Arial"/>
              </a:rPr>
              <a:t>sc_out</a:t>
            </a:r>
            <a:r>
              <a:rPr lang="en-US" sz="900" kern="0" dirty="0">
                <a:solidFill>
                  <a:srgbClr val="000000"/>
                </a:solidFill>
                <a:latin typeface="Arial"/>
              </a:rPr>
              <a:t>   &lt;</a:t>
            </a:r>
            <a:r>
              <a:rPr lang="en-US" sz="900" kern="0" dirty="0" err="1">
                <a:solidFill>
                  <a:srgbClr val="000000"/>
                </a:solidFill>
                <a:latin typeface="Arial"/>
              </a:rPr>
              <a:t>sc_uint</a:t>
            </a:r>
            <a:r>
              <a:rPr lang="en-US" sz="900" kern="0" dirty="0">
                <a:solidFill>
                  <a:srgbClr val="000000"/>
                </a:solidFill>
                <a:latin typeface="Arial"/>
              </a:rPr>
              <a:t>&lt;8&gt; &gt;    y;</a:t>
            </a:r>
          </a:p>
          <a:p>
            <a:pPr defTabSz="914400" fontAlgn="base">
              <a:spcBef>
                <a:spcPct val="0"/>
              </a:spcBef>
              <a:spcAft>
                <a:spcPct val="0"/>
              </a:spcAft>
              <a:defRPr/>
            </a:pPr>
            <a:r>
              <a:rPr lang="en-US" sz="900" kern="0" dirty="0">
                <a:solidFill>
                  <a:srgbClr val="000000"/>
                </a:solidFill>
                <a:latin typeface="Arial"/>
              </a:rPr>
              <a:t>//------------Internal Variables--------</a:t>
            </a:r>
          </a:p>
          <a:p>
            <a:pPr defTabSz="914400" fontAlgn="base">
              <a:spcBef>
                <a:spcPct val="0"/>
              </a:spcBef>
              <a:spcAft>
                <a:spcPct val="0"/>
              </a:spcAft>
              <a:defRPr/>
            </a:pPr>
            <a:r>
              <a:rPr lang="en-US" sz="900" kern="0" dirty="0" err="1">
                <a:solidFill>
                  <a:srgbClr val="000000"/>
                </a:solidFill>
                <a:latin typeface="Arial"/>
              </a:rPr>
              <a:t>sc_uint</a:t>
            </a:r>
            <a:r>
              <a:rPr lang="en-US" sz="900" kern="0" dirty="0">
                <a:solidFill>
                  <a:srgbClr val="000000"/>
                </a:solidFill>
                <a:latin typeface="Arial"/>
              </a:rPr>
              <a:t>&lt;8&gt;  acc, m, </a:t>
            </a:r>
            <a:r>
              <a:rPr lang="en-US" sz="900" kern="0" dirty="0" err="1">
                <a:solidFill>
                  <a:srgbClr val="000000"/>
                </a:solidFill>
                <a:latin typeface="Arial"/>
              </a:rPr>
              <a:t>i</a:t>
            </a:r>
            <a:r>
              <a:rPr lang="en-US" sz="900" kern="0" dirty="0">
                <a:solidFill>
                  <a:srgbClr val="000000"/>
                </a:solidFill>
                <a:latin typeface="Arial"/>
              </a:rPr>
              <a:t>;</a:t>
            </a:r>
          </a:p>
          <a:p>
            <a:pPr defTabSz="914400" fontAlgn="base">
              <a:spcBef>
                <a:spcPct val="0"/>
              </a:spcBef>
              <a:spcAft>
                <a:spcPct val="0"/>
              </a:spcAft>
              <a:defRPr/>
            </a:pPr>
            <a:r>
              <a:rPr lang="en-US" sz="900" kern="0" dirty="0" err="1">
                <a:solidFill>
                  <a:srgbClr val="000000"/>
                </a:solidFill>
                <a:latin typeface="Arial"/>
              </a:rPr>
              <a:t>sc_uint</a:t>
            </a:r>
            <a:r>
              <a:rPr lang="en-US" sz="900" kern="0" dirty="0">
                <a:solidFill>
                  <a:srgbClr val="000000"/>
                </a:solidFill>
                <a:latin typeface="Arial"/>
              </a:rPr>
              <a:t>&lt;8&gt; </a:t>
            </a:r>
            <a:r>
              <a:rPr lang="en-US" sz="900" kern="0" dirty="0" err="1">
                <a:solidFill>
                  <a:srgbClr val="000000"/>
                </a:solidFill>
                <a:latin typeface="Arial"/>
              </a:rPr>
              <a:t>shift_reg</a:t>
            </a:r>
            <a:r>
              <a:rPr lang="en-US" sz="900" kern="0" dirty="0">
                <a:solidFill>
                  <a:srgbClr val="000000"/>
                </a:solidFill>
                <a:latin typeface="Arial"/>
              </a:rPr>
              <a:t>[N];	</a:t>
            </a:r>
          </a:p>
          <a:p>
            <a:pPr defTabSz="914400" fontAlgn="base">
              <a:spcBef>
                <a:spcPct val="0"/>
              </a:spcBef>
              <a:spcAft>
                <a:spcPct val="0"/>
              </a:spcAft>
              <a:defRPr/>
            </a:pPr>
            <a:r>
              <a:rPr lang="en-US" sz="900" kern="0" dirty="0">
                <a:solidFill>
                  <a:srgbClr val="000000"/>
                </a:solidFill>
                <a:latin typeface="Arial"/>
              </a:rPr>
              <a:t>//-------------Code Starts Here---------</a:t>
            </a:r>
          </a:p>
          <a:p>
            <a:pPr defTabSz="914400" fontAlgn="base">
              <a:spcBef>
                <a:spcPct val="0"/>
              </a:spcBef>
              <a:spcAft>
                <a:spcPct val="0"/>
              </a:spcAft>
              <a:defRPr/>
            </a:pPr>
            <a:r>
              <a:rPr lang="en-US" sz="900" kern="0" dirty="0">
                <a:solidFill>
                  <a:srgbClr val="000000"/>
                </a:solidFill>
                <a:latin typeface="Arial"/>
              </a:rPr>
              <a:t>void go ();</a:t>
            </a:r>
          </a:p>
          <a:p>
            <a:pPr defTabSz="914400" fontAlgn="base">
              <a:spcBef>
                <a:spcPct val="0"/>
              </a:spcBef>
              <a:spcAft>
                <a:spcPct val="0"/>
              </a:spcAft>
              <a:defRPr/>
            </a:pPr>
            <a:endParaRPr lang="en-US" sz="900" kern="0" dirty="0">
              <a:solidFill>
                <a:srgbClr val="000000"/>
              </a:solidFill>
              <a:latin typeface="Arial"/>
            </a:endParaRPr>
          </a:p>
          <a:p>
            <a:pPr defTabSz="914400" fontAlgn="base">
              <a:spcBef>
                <a:spcPct val="0"/>
              </a:spcBef>
              <a:spcAft>
                <a:spcPct val="0"/>
              </a:spcAft>
              <a:defRPr/>
            </a:pPr>
            <a:r>
              <a:rPr lang="en-US" sz="900" kern="0" dirty="0">
                <a:solidFill>
                  <a:srgbClr val="000000"/>
                </a:solidFill>
                <a:latin typeface="Arial"/>
              </a:rPr>
              <a:t>SC_CTOR(fir) {</a:t>
            </a:r>
          </a:p>
          <a:p>
            <a:pPr defTabSz="914400" fontAlgn="base">
              <a:spcBef>
                <a:spcPct val="0"/>
              </a:spcBef>
              <a:spcAft>
                <a:spcPct val="0"/>
              </a:spcAft>
              <a:defRPr/>
            </a:pPr>
            <a:r>
              <a:rPr lang="en-US" sz="900" kern="0" dirty="0">
                <a:solidFill>
                  <a:srgbClr val="000000"/>
                </a:solidFill>
                <a:latin typeface="Arial"/>
              </a:rPr>
              <a:t>	SC_CTHREAD (go, clk.pos());</a:t>
            </a:r>
          </a:p>
          <a:p>
            <a:pPr defTabSz="914400" fontAlgn="base">
              <a:spcBef>
                <a:spcPct val="0"/>
              </a:spcBef>
              <a:spcAft>
                <a:spcPct val="0"/>
              </a:spcAft>
              <a:defRPr/>
            </a:pPr>
            <a:r>
              <a:rPr lang="en-US" sz="900" kern="0" dirty="0">
                <a:solidFill>
                  <a:srgbClr val="000000"/>
                </a:solidFill>
                <a:latin typeface="Arial"/>
              </a:rPr>
              <a:t>	</a:t>
            </a:r>
            <a:r>
              <a:rPr lang="en-US" sz="900" kern="0" dirty="0" err="1">
                <a:solidFill>
                  <a:srgbClr val="000000"/>
                </a:solidFill>
                <a:latin typeface="Arial"/>
              </a:rPr>
              <a:t>reset_signal_is</a:t>
            </a:r>
            <a:r>
              <a:rPr lang="en-US" sz="900" kern="0" dirty="0">
                <a:solidFill>
                  <a:srgbClr val="000000"/>
                </a:solidFill>
                <a:latin typeface="Arial"/>
              </a:rPr>
              <a:t>(reset, true);</a:t>
            </a:r>
          </a:p>
          <a:p>
            <a:pPr defTabSz="914400" fontAlgn="base">
              <a:spcBef>
                <a:spcPct val="0"/>
              </a:spcBef>
              <a:spcAft>
                <a:spcPct val="0"/>
              </a:spcAft>
              <a:defRPr/>
            </a:pPr>
            <a:r>
              <a:rPr lang="en-US" sz="900" kern="0" dirty="0">
                <a:solidFill>
                  <a:srgbClr val="000000"/>
                </a:solidFill>
                <a:latin typeface="Arial"/>
              </a:rPr>
              <a:t>	} </a:t>
            </a:r>
          </a:p>
          <a:p>
            <a:pPr defTabSz="914400" fontAlgn="base">
              <a:spcBef>
                <a:spcPct val="0"/>
              </a:spcBef>
              <a:spcAft>
                <a:spcPct val="0"/>
              </a:spcAft>
              <a:defRPr/>
            </a:pPr>
            <a:r>
              <a:rPr lang="en-US" sz="900" kern="0" dirty="0">
                <a:solidFill>
                  <a:srgbClr val="000000"/>
                </a:solidFill>
                <a:latin typeface="Arial"/>
              </a:rPr>
              <a:t>};</a:t>
            </a:r>
          </a:p>
        </p:txBody>
      </p:sp>
      <p:sp>
        <p:nvSpPr>
          <p:cNvPr id="26" name="TextBox 25">
            <a:extLst>
              <a:ext uri="{FF2B5EF4-FFF2-40B4-BE49-F238E27FC236}">
                <a16:creationId xmlns:a16="http://schemas.microsoft.com/office/drawing/2014/main" id="{CFBFC706-646E-4EB6-9D9B-3DDD1998D430}"/>
              </a:ext>
            </a:extLst>
          </p:cNvPr>
          <p:cNvSpPr txBox="1"/>
          <p:nvPr/>
        </p:nvSpPr>
        <p:spPr>
          <a:xfrm>
            <a:off x="4048268" y="3582620"/>
            <a:ext cx="76790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fir.h</a:t>
            </a:r>
            <a:endParaRPr lang="en-US" sz="1050" b="1" kern="0" dirty="0">
              <a:solidFill>
                <a:srgbClr val="FFFFFF"/>
              </a:solidFill>
              <a:latin typeface="Arial"/>
            </a:endParaRPr>
          </a:p>
        </p:txBody>
      </p:sp>
      <p:sp>
        <p:nvSpPr>
          <p:cNvPr id="27" name="TextBox 26">
            <a:extLst>
              <a:ext uri="{FF2B5EF4-FFF2-40B4-BE49-F238E27FC236}">
                <a16:creationId xmlns:a16="http://schemas.microsoft.com/office/drawing/2014/main" id="{A06ADCE8-0BA3-4DA4-9362-28663E8BEA5A}"/>
              </a:ext>
            </a:extLst>
          </p:cNvPr>
          <p:cNvSpPr txBox="1"/>
          <p:nvPr/>
        </p:nvSpPr>
        <p:spPr>
          <a:xfrm>
            <a:off x="3382756" y="4312315"/>
            <a:ext cx="1586993"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latin typeface="Arial"/>
                <a:ea typeface="宋体" charset="-122"/>
              </a:rPr>
              <a:t>IO defined</a:t>
            </a:r>
          </a:p>
        </p:txBody>
      </p:sp>
      <p:sp>
        <p:nvSpPr>
          <p:cNvPr id="28" name="TextBox 27">
            <a:extLst>
              <a:ext uri="{FF2B5EF4-FFF2-40B4-BE49-F238E27FC236}">
                <a16:creationId xmlns:a16="http://schemas.microsoft.com/office/drawing/2014/main" id="{3C5DDD8B-EFD4-4B69-8A8E-88594EB4AAAF}"/>
              </a:ext>
            </a:extLst>
          </p:cNvPr>
          <p:cNvSpPr txBox="1"/>
          <p:nvPr/>
        </p:nvSpPr>
        <p:spPr>
          <a:xfrm>
            <a:off x="3843495" y="5541275"/>
            <a:ext cx="3890693" cy="738664"/>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latin typeface="Arial"/>
                <a:ea typeface="宋体" charset="-122"/>
              </a:rPr>
              <a:t>Clock sensitive thread (SC_CTHREAD)</a:t>
            </a:r>
          </a:p>
          <a:p>
            <a:pPr algn="ctr" defTabSz="914400" fontAlgn="base">
              <a:spcBef>
                <a:spcPct val="50000"/>
              </a:spcBef>
              <a:spcAft>
                <a:spcPct val="0"/>
              </a:spcAft>
              <a:defRPr/>
            </a:pPr>
            <a:r>
              <a:rPr lang="en-US" altLang="zh-CN" sz="1050" b="1" kern="0" dirty="0">
                <a:solidFill>
                  <a:srgbClr val="000000"/>
                </a:solidFill>
                <a:latin typeface="Arial"/>
                <a:ea typeface="宋体" charset="-122"/>
              </a:rPr>
              <a:t>SC_METHOD is also supported (combo)</a:t>
            </a:r>
          </a:p>
          <a:p>
            <a:pPr algn="ctr" defTabSz="914400" fontAlgn="base">
              <a:spcBef>
                <a:spcPct val="50000"/>
              </a:spcBef>
              <a:spcAft>
                <a:spcPct val="0"/>
              </a:spcAft>
              <a:defRPr/>
            </a:pPr>
            <a:r>
              <a:rPr lang="en-US" altLang="zh-CN" sz="1050" b="1" kern="0" dirty="0">
                <a:solidFill>
                  <a:srgbClr val="000000"/>
                </a:solidFill>
                <a:latin typeface="Arial"/>
                <a:ea typeface="宋体" charset="-122"/>
              </a:rPr>
              <a:t>SC_THREAD is not supported</a:t>
            </a:r>
          </a:p>
        </p:txBody>
      </p:sp>
      <p:sp>
        <p:nvSpPr>
          <p:cNvPr id="29" name="TextBox 28">
            <a:extLst>
              <a:ext uri="{FF2B5EF4-FFF2-40B4-BE49-F238E27FC236}">
                <a16:creationId xmlns:a16="http://schemas.microsoft.com/office/drawing/2014/main" id="{CCE84606-1905-4FCA-A824-83AF7A600B6A}"/>
              </a:ext>
            </a:extLst>
          </p:cNvPr>
          <p:cNvSpPr txBox="1"/>
          <p:nvPr/>
        </p:nvSpPr>
        <p:spPr>
          <a:xfrm>
            <a:off x="7017481" y="1854396"/>
            <a:ext cx="4459256" cy="369331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kern="0" dirty="0">
                <a:solidFill>
                  <a:srgbClr val="000000"/>
                </a:solidFill>
                <a:latin typeface="Arial"/>
              </a:rPr>
              <a:t>#include “</a:t>
            </a:r>
            <a:r>
              <a:rPr lang="en-US" sz="900" kern="0" dirty="0" err="1">
                <a:solidFill>
                  <a:srgbClr val="000000"/>
                </a:solidFill>
                <a:latin typeface="Arial"/>
              </a:rPr>
              <a:t>fir.h</a:t>
            </a:r>
            <a:r>
              <a:rPr lang="en-US" sz="900" kern="0" dirty="0">
                <a:solidFill>
                  <a:srgbClr val="000000"/>
                </a:solidFill>
                <a:latin typeface="Arial"/>
              </a:rPr>
              <a:t>"</a:t>
            </a:r>
          </a:p>
          <a:p>
            <a:pPr defTabSz="914400" fontAlgn="base">
              <a:spcBef>
                <a:spcPct val="0"/>
              </a:spcBef>
              <a:spcAft>
                <a:spcPct val="0"/>
              </a:spcAft>
              <a:defRPr/>
            </a:pPr>
            <a:endParaRPr lang="en-US" sz="900" kern="0" dirty="0">
              <a:solidFill>
                <a:srgbClr val="000000"/>
              </a:solidFill>
              <a:latin typeface="Arial"/>
            </a:endParaRPr>
          </a:p>
          <a:p>
            <a:pPr defTabSz="914400" fontAlgn="base">
              <a:spcBef>
                <a:spcPct val="0"/>
              </a:spcBef>
              <a:spcAft>
                <a:spcPct val="0"/>
              </a:spcAft>
              <a:defRPr/>
            </a:pPr>
            <a:r>
              <a:rPr lang="en-US" sz="900" kern="0" dirty="0">
                <a:solidFill>
                  <a:srgbClr val="000000"/>
                </a:solidFill>
                <a:latin typeface="Arial"/>
              </a:rPr>
              <a:t>const </a:t>
            </a:r>
            <a:r>
              <a:rPr lang="en-US" sz="900" kern="0" dirty="0" err="1">
                <a:solidFill>
                  <a:srgbClr val="000000"/>
                </a:solidFill>
                <a:latin typeface="Arial"/>
              </a:rPr>
              <a:t>sc_int</a:t>
            </a:r>
            <a:r>
              <a:rPr lang="en-US" sz="900" kern="0" dirty="0">
                <a:solidFill>
                  <a:srgbClr val="000000"/>
                </a:solidFill>
                <a:latin typeface="Arial"/>
              </a:rPr>
              <a:t>&lt;8&gt; c ={</a:t>
            </a:r>
          </a:p>
          <a:p>
            <a:pPr defTabSz="914400" fontAlgn="base">
              <a:spcBef>
                <a:spcPct val="0"/>
              </a:spcBef>
              <a:spcAft>
                <a:spcPct val="0"/>
              </a:spcAft>
              <a:defRPr/>
            </a:pPr>
            <a:r>
              <a:rPr lang="en-US" sz="900" kern="0" dirty="0">
                <a:solidFill>
                  <a:srgbClr val="000000"/>
                </a:solidFill>
                <a:latin typeface="Arial"/>
              </a:rPr>
              <a:t>#include "</a:t>
            </a:r>
            <a:r>
              <a:rPr lang="en-US" sz="900" kern="0" dirty="0" err="1">
                <a:solidFill>
                  <a:srgbClr val="000000"/>
                </a:solidFill>
                <a:latin typeface="Arial"/>
              </a:rPr>
              <a:t>fir_coeff.h</a:t>
            </a: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endParaRPr lang="en-US" sz="900" kern="0" dirty="0">
              <a:solidFill>
                <a:srgbClr val="000000"/>
              </a:solidFill>
              <a:latin typeface="Arial"/>
            </a:endParaRPr>
          </a:p>
          <a:p>
            <a:pPr defTabSz="914400" fontAlgn="base">
              <a:spcBef>
                <a:spcPct val="0"/>
              </a:spcBef>
              <a:spcAft>
                <a:spcPct val="0"/>
              </a:spcAft>
              <a:defRPr/>
            </a:pPr>
            <a:r>
              <a:rPr lang="en-US" sz="900" kern="0" dirty="0">
                <a:solidFill>
                  <a:srgbClr val="000000"/>
                </a:solidFill>
                <a:latin typeface="Arial"/>
              </a:rPr>
              <a:t>void fir::go (void) {</a:t>
            </a:r>
          </a:p>
          <a:p>
            <a:pPr defTabSz="914400" fontAlgn="base">
              <a:spcBef>
                <a:spcPct val="0"/>
              </a:spcBef>
              <a:spcAft>
                <a:spcPct val="0"/>
              </a:spcAft>
              <a:defRPr/>
            </a:pPr>
            <a:r>
              <a:rPr lang="en-US" sz="900" kern="0" dirty="0">
                <a:solidFill>
                  <a:srgbClr val="000000"/>
                </a:solidFill>
                <a:latin typeface="Arial"/>
              </a:rPr>
              <a:t>	if (</a:t>
            </a:r>
            <a:r>
              <a:rPr lang="en-US" sz="900" kern="0" dirty="0" err="1">
                <a:solidFill>
                  <a:srgbClr val="000000"/>
                </a:solidFill>
                <a:latin typeface="Arial"/>
              </a:rPr>
              <a:t>reset.read</a:t>
            </a:r>
            <a:r>
              <a:rPr lang="en-US" sz="900" kern="0" dirty="0">
                <a:solidFill>
                  <a:srgbClr val="000000"/>
                </a:solidFill>
                <a:latin typeface="Arial"/>
              </a:rPr>
              <a:t>() == 1) {</a:t>
            </a:r>
          </a:p>
          <a:p>
            <a:pPr defTabSz="914400" fontAlgn="base">
              <a:spcBef>
                <a:spcPct val="0"/>
              </a:spcBef>
              <a:spcAft>
                <a:spcPct val="0"/>
              </a:spcAft>
              <a:tabLst>
                <a:tab pos="1371600" algn="l"/>
              </a:tabLst>
              <a:defRPr/>
            </a:pPr>
            <a:r>
              <a:rPr lang="en-US" sz="900" kern="0" dirty="0">
                <a:solidFill>
                  <a:srgbClr val="000000"/>
                </a:solidFill>
                <a:latin typeface="Arial"/>
              </a:rPr>
              <a:t>	acc=0;</a:t>
            </a:r>
          </a:p>
          <a:p>
            <a:pPr defTabSz="914400" fontAlgn="base">
              <a:spcBef>
                <a:spcPct val="0"/>
              </a:spcBef>
              <a:spcAft>
                <a:spcPct val="0"/>
              </a:spcAft>
              <a:tabLst>
                <a:tab pos="1371600" algn="l"/>
              </a:tabLst>
              <a:defRPr/>
            </a:pPr>
            <a:r>
              <a:rPr lang="en-US" sz="900" kern="0" dirty="0">
                <a:solidFill>
                  <a:srgbClr val="000000"/>
                </a:solidFill>
                <a:latin typeface="Arial"/>
              </a:rPr>
              <a:t>	</a:t>
            </a:r>
            <a:r>
              <a:rPr lang="en-US" sz="900" kern="0" dirty="0" err="1">
                <a:solidFill>
                  <a:srgbClr val="000000"/>
                </a:solidFill>
                <a:latin typeface="Arial"/>
              </a:rPr>
              <a:t>i</a:t>
            </a:r>
            <a:r>
              <a:rPr lang="en-US" sz="900" kern="0" dirty="0">
                <a:solidFill>
                  <a:srgbClr val="000000"/>
                </a:solidFill>
                <a:latin typeface="Arial"/>
              </a:rPr>
              <a:t>=0;</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wait ();</a:t>
            </a:r>
          </a:p>
          <a:p>
            <a:pPr defTabSz="914400" fontAlgn="base">
              <a:spcBef>
                <a:spcPct val="0"/>
              </a:spcBef>
              <a:spcAft>
                <a:spcPct val="0"/>
              </a:spcAft>
              <a:defRPr/>
            </a:pPr>
            <a:r>
              <a:rPr lang="en-US" sz="900" kern="0" dirty="0">
                <a:solidFill>
                  <a:srgbClr val="000000"/>
                </a:solidFill>
                <a:latin typeface="Arial"/>
              </a:rPr>
              <a:t>	while (1) {</a:t>
            </a:r>
          </a:p>
          <a:p>
            <a:pPr defTabSz="914400" fontAlgn="base">
              <a:spcBef>
                <a:spcPct val="0"/>
              </a:spcBef>
              <a:spcAft>
                <a:spcPct val="0"/>
              </a:spcAft>
              <a:defRPr/>
            </a:pPr>
            <a:r>
              <a:rPr lang="en-US" sz="900" kern="0" dirty="0">
                <a:solidFill>
                  <a:srgbClr val="000000"/>
                </a:solidFill>
                <a:latin typeface="Arial"/>
              </a:rPr>
              <a:t>	         </a:t>
            </a:r>
            <a:r>
              <a:rPr lang="en-US" sz="900" b="1" kern="0" dirty="0" err="1">
                <a:solidFill>
                  <a:srgbClr val="000000"/>
                </a:solidFill>
                <a:latin typeface="Arial"/>
              </a:rPr>
              <a:t>mac_loop</a:t>
            </a:r>
            <a:r>
              <a:rPr lang="en-US" sz="900" kern="0" dirty="0">
                <a:solidFill>
                  <a:srgbClr val="000000"/>
                </a:solidFill>
                <a:latin typeface="Arial"/>
              </a:rPr>
              <a:t>: for (</a:t>
            </a:r>
            <a:r>
              <a:rPr lang="en-US" sz="900" kern="0" dirty="0" err="1">
                <a:solidFill>
                  <a:srgbClr val="000000"/>
                </a:solidFill>
                <a:latin typeface="Arial"/>
              </a:rPr>
              <a:t>i</a:t>
            </a:r>
            <a:r>
              <a:rPr lang="en-US" sz="900" kern="0" dirty="0">
                <a:solidFill>
                  <a:srgbClr val="000000"/>
                </a:solidFill>
                <a:latin typeface="Arial"/>
              </a:rPr>
              <a:t>=N-1;i&gt;=0;i--) {</a:t>
            </a:r>
          </a:p>
          <a:p>
            <a:pPr marL="0" lvl="2" defTabSz="914400" fontAlgn="base">
              <a:spcBef>
                <a:spcPct val="0"/>
              </a:spcBef>
              <a:spcAft>
                <a:spcPct val="0"/>
              </a:spcAft>
              <a:defRPr/>
            </a:pPr>
            <a:r>
              <a:rPr lang="en-US" sz="900" kern="0" dirty="0">
                <a:solidFill>
                  <a:srgbClr val="000000"/>
                </a:solidFill>
                <a:latin typeface="Arial"/>
              </a:rPr>
              <a:t>         if (</a:t>
            </a:r>
            <a:r>
              <a:rPr lang="en-US" sz="900" kern="0" dirty="0" err="1">
                <a:solidFill>
                  <a:srgbClr val="000000"/>
                </a:solidFill>
                <a:latin typeface="Arial"/>
              </a:rPr>
              <a:t>i</a:t>
            </a:r>
            <a:r>
              <a:rPr lang="en-US" sz="900" kern="0" dirty="0">
                <a:solidFill>
                  <a:srgbClr val="000000"/>
                </a:solidFill>
                <a:latin typeface="Arial"/>
              </a:rPr>
              <a:t>==0) {</a:t>
            </a:r>
          </a:p>
          <a:p>
            <a:pPr marL="0" lvl="2" defTabSz="914400" fontAlgn="base">
              <a:spcBef>
                <a:spcPct val="0"/>
              </a:spcBef>
              <a:spcAft>
                <a:spcPct val="0"/>
              </a:spcAft>
              <a:tabLst>
                <a:tab pos="1371600" algn="l"/>
              </a:tabLst>
              <a:defRPr/>
            </a:pPr>
            <a:r>
              <a:rPr lang="en-US" sz="900" kern="0" dirty="0">
                <a:solidFill>
                  <a:srgbClr val="000000"/>
                </a:solidFill>
                <a:latin typeface="Arial"/>
              </a:rPr>
              <a:t>           	acc+=x*c[0];</a:t>
            </a:r>
          </a:p>
          <a:p>
            <a:pPr marL="0" lvl="2" defTabSz="914400" fontAlgn="base">
              <a:spcBef>
                <a:spcPct val="0"/>
              </a:spcBef>
              <a:spcAft>
                <a:spcPct val="0"/>
              </a:spcAft>
              <a:tabLst>
                <a:tab pos="1371600" algn="l"/>
              </a:tabLst>
              <a:defRPr/>
            </a:pPr>
            <a:r>
              <a:rPr lang="en-US" sz="900" kern="0" dirty="0">
                <a:solidFill>
                  <a:srgbClr val="000000"/>
                </a:solidFill>
                <a:latin typeface="Arial"/>
              </a:rPr>
              <a:t>           	</a:t>
            </a:r>
            <a:r>
              <a:rPr lang="en-US" sz="900" kern="0" dirty="0" err="1">
                <a:solidFill>
                  <a:srgbClr val="000000"/>
                </a:solidFill>
                <a:latin typeface="Arial"/>
              </a:rPr>
              <a:t>shift_reg</a:t>
            </a:r>
            <a:r>
              <a:rPr lang="en-US" sz="900" kern="0" dirty="0">
                <a:solidFill>
                  <a:srgbClr val="000000"/>
                </a:solidFill>
                <a:latin typeface="Arial"/>
              </a:rPr>
              <a:t>[0]=x;</a:t>
            </a:r>
          </a:p>
          <a:p>
            <a:pPr marL="0" lvl="2" defTabSz="914400" fontAlgn="base">
              <a:spcBef>
                <a:spcPct val="0"/>
              </a:spcBef>
              <a:spcAft>
                <a:spcPct val="0"/>
              </a:spcAft>
              <a:defRPr/>
            </a:pPr>
            <a:r>
              <a:rPr lang="en-US" sz="900" kern="0" dirty="0">
                <a:solidFill>
                  <a:srgbClr val="000000"/>
                </a:solidFill>
                <a:latin typeface="Arial"/>
              </a:rPr>
              <a:t>         } else {</a:t>
            </a:r>
          </a:p>
          <a:p>
            <a:pPr marL="0" lvl="2" defTabSz="914400" fontAlgn="base">
              <a:spcBef>
                <a:spcPct val="0"/>
              </a:spcBef>
              <a:spcAft>
                <a:spcPct val="0"/>
              </a:spcAft>
              <a:tabLst>
                <a:tab pos="1371600" algn="l"/>
              </a:tabLst>
              <a:defRPr/>
            </a:pPr>
            <a:r>
              <a:rPr lang="en-US" sz="900" kern="0" dirty="0">
                <a:solidFill>
                  <a:srgbClr val="000000"/>
                </a:solidFill>
                <a:latin typeface="Arial"/>
              </a:rPr>
              <a:t>           	</a:t>
            </a:r>
            <a:r>
              <a:rPr lang="en-US" sz="900" kern="0" dirty="0" err="1">
                <a:solidFill>
                  <a:srgbClr val="000000"/>
                </a:solidFill>
                <a:latin typeface="Arial"/>
              </a:rPr>
              <a:t>shift_reg</a:t>
            </a:r>
            <a:r>
              <a:rPr lang="en-US" sz="900" kern="0" dirty="0">
                <a:solidFill>
                  <a:srgbClr val="000000"/>
                </a:solidFill>
                <a:latin typeface="Arial"/>
              </a:rPr>
              <a:t>[</a:t>
            </a:r>
            <a:r>
              <a:rPr lang="en-US" sz="900" kern="0" dirty="0" err="1">
                <a:solidFill>
                  <a:srgbClr val="000000"/>
                </a:solidFill>
                <a:latin typeface="Arial"/>
              </a:rPr>
              <a:t>i</a:t>
            </a:r>
            <a:r>
              <a:rPr lang="en-US" sz="900" kern="0" dirty="0">
                <a:solidFill>
                  <a:srgbClr val="000000"/>
                </a:solidFill>
                <a:latin typeface="Arial"/>
              </a:rPr>
              <a:t>]=</a:t>
            </a:r>
            <a:r>
              <a:rPr lang="en-US" sz="900" kern="0" dirty="0" err="1">
                <a:solidFill>
                  <a:srgbClr val="000000"/>
                </a:solidFill>
                <a:latin typeface="Arial"/>
              </a:rPr>
              <a:t>shift_reg</a:t>
            </a:r>
            <a:r>
              <a:rPr lang="en-US" sz="900" kern="0" dirty="0">
                <a:solidFill>
                  <a:srgbClr val="000000"/>
                </a:solidFill>
                <a:latin typeface="Arial"/>
              </a:rPr>
              <a:t>[i-1];  </a:t>
            </a:r>
          </a:p>
          <a:p>
            <a:pPr marL="0" lvl="2" defTabSz="914400" fontAlgn="base">
              <a:spcBef>
                <a:spcPct val="0"/>
              </a:spcBef>
              <a:spcAft>
                <a:spcPct val="0"/>
              </a:spcAft>
              <a:tabLst>
                <a:tab pos="1371600" algn="l"/>
              </a:tabLst>
              <a:defRPr/>
            </a:pPr>
            <a:r>
              <a:rPr lang="en-US" sz="900" kern="0" dirty="0">
                <a:solidFill>
                  <a:srgbClr val="000000"/>
                </a:solidFill>
                <a:latin typeface="Arial"/>
              </a:rPr>
              <a:t>           	acc+=</a:t>
            </a:r>
            <a:r>
              <a:rPr lang="en-US" sz="900" kern="0" dirty="0" err="1">
                <a:solidFill>
                  <a:srgbClr val="000000"/>
                </a:solidFill>
                <a:latin typeface="Arial"/>
              </a:rPr>
              <a:t>shift_reg</a:t>
            </a:r>
            <a:r>
              <a:rPr lang="en-US" sz="900" kern="0" dirty="0">
                <a:solidFill>
                  <a:srgbClr val="000000"/>
                </a:solidFill>
                <a:latin typeface="Arial"/>
              </a:rPr>
              <a:t>[</a:t>
            </a:r>
            <a:r>
              <a:rPr lang="en-US" sz="900" kern="0" dirty="0" err="1">
                <a:solidFill>
                  <a:srgbClr val="000000"/>
                </a:solidFill>
                <a:latin typeface="Arial"/>
              </a:rPr>
              <a:t>i</a:t>
            </a:r>
            <a:r>
              <a:rPr lang="en-US" sz="900" kern="0" dirty="0">
                <a:solidFill>
                  <a:srgbClr val="000000"/>
                </a:solidFill>
                <a:latin typeface="Arial"/>
              </a:rPr>
              <a:t>]*c[</a:t>
            </a:r>
            <a:r>
              <a:rPr lang="en-US" sz="900" kern="0" dirty="0" err="1">
                <a:solidFill>
                  <a:srgbClr val="000000"/>
                </a:solidFill>
                <a:latin typeface="Arial"/>
              </a:rPr>
              <a:t>i</a:t>
            </a:r>
            <a:r>
              <a:rPr lang="en-US" sz="900" kern="0" dirty="0">
                <a:solidFill>
                  <a:srgbClr val="000000"/>
                </a:solidFill>
                <a:latin typeface="Arial"/>
              </a:rPr>
              <a:t>];</a:t>
            </a:r>
          </a:p>
          <a:p>
            <a:pPr marL="0" lvl="2" defTabSz="914400" fontAlgn="base">
              <a:spcBef>
                <a:spcPct val="0"/>
              </a:spcBef>
              <a:spcAft>
                <a:spcPct val="0"/>
              </a:spcAft>
              <a:defRPr/>
            </a:pPr>
            <a:r>
              <a:rPr lang="en-US" sz="900" kern="0" dirty="0">
                <a:solidFill>
                  <a:srgbClr val="000000"/>
                </a:solidFill>
                <a:latin typeface="Arial"/>
              </a:rPr>
              <a:t>         }</a:t>
            </a:r>
          </a:p>
          <a:p>
            <a:pPr marL="0" lvl="2" defTabSz="914400" fontAlgn="base">
              <a:spcBef>
                <a:spcPct val="0"/>
              </a:spcBef>
              <a:spcAft>
                <a:spcPct val="0"/>
              </a:spcAft>
              <a:defRPr/>
            </a:pPr>
            <a:r>
              <a:rPr lang="en-US" sz="900" kern="0" dirty="0">
                <a:solidFill>
                  <a:srgbClr val="000000"/>
                </a:solidFill>
                <a:latin typeface="Arial"/>
              </a:rPr>
              <a:t>}    </a:t>
            </a:r>
          </a:p>
          <a:p>
            <a:pPr marL="0" lvl="2" defTabSz="914400" fontAlgn="base">
              <a:spcBef>
                <a:spcPct val="0"/>
              </a:spcBef>
              <a:spcAft>
                <a:spcPct val="0"/>
              </a:spcAft>
              <a:defRPr/>
            </a:pPr>
            <a:r>
              <a:rPr lang="en-US" sz="900" kern="0" dirty="0">
                <a:solidFill>
                  <a:srgbClr val="000000"/>
                </a:solidFill>
                <a:latin typeface="Arial"/>
              </a:rPr>
              <a:t>y=acc; 		</a:t>
            </a:r>
          </a:p>
          <a:p>
            <a:pPr marL="0" lvl="2" defTabSz="914400" fontAlgn="base">
              <a:spcBef>
                <a:spcPct val="0"/>
              </a:spcBef>
              <a:spcAft>
                <a:spcPct val="0"/>
              </a:spcAft>
              <a:defRPr/>
            </a:pPr>
            <a:r>
              <a:rPr lang="en-US" sz="900" b="1" kern="0" dirty="0">
                <a:solidFill>
                  <a:srgbClr val="000000"/>
                </a:solidFill>
                <a:latin typeface="Arial"/>
              </a:rPr>
              <a:t>wait();</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a:t>
            </a:r>
          </a:p>
        </p:txBody>
      </p:sp>
      <p:sp>
        <p:nvSpPr>
          <p:cNvPr id="30" name="TextBox 29">
            <a:extLst>
              <a:ext uri="{FF2B5EF4-FFF2-40B4-BE49-F238E27FC236}">
                <a16:creationId xmlns:a16="http://schemas.microsoft.com/office/drawing/2014/main" id="{CE02B1B6-4A42-46F2-A161-970D787937AC}"/>
              </a:ext>
            </a:extLst>
          </p:cNvPr>
          <p:cNvSpPr txBox="1"/>
          <p:nvPr/>
        </p:nvSpPr>
        <p:spPr>
          <a:xfrm>
            <a:off x="9421162" y="2783072"/>
            <a:ext cx="2715653" cy="415498"/>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latin typeface="Arial"/>
                <a:ea typeface="宋体" charset="-122"/>
              </a:rPr>
              <a:t>Reset  behavior is defined in the code (optional)</a:t>
            </a:r>
          </a:p>
        </p:txBody>
      </p:sp>
      <p:sp>
        <p:nvSpPr>
          <p:cNvPr id="31" name="TextBox 30">
            <a:extLst>
              <a:ext uri="{FF2B5EF4-FFF2-40B4-BE49-F238E27FC236}">
                <a16:creationId xmlns:a16="http://schemas.microsoft.com/office/drawing/2014/main" id="{4689497D-2080-49E3-9EB7-55848C4F52D6}"/>
              </a:ext>
            </a:extLst>
          </p:cNvPr>
          <p:cNvSpPr txBox="1"/>
          <p:nvPr/>
        </p:nvSpPr>
        <p:spPr>
          <a:xfrm>
            <a:off x="9781921" y="1700775"/>
            <a:ext cx="1023867"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a:solidFill>
                  <a:srgbClr val="FFFFFF"/>
                </a:solidFill>
                <a:latin typeface="Arial"/>
              </a:rPr>
              <a:t>fir.cpp</a:t>
            </a:r>
          </a:p>
        </p:txBody>
      </p:sp>
      <p:sp>
        <p:nvSpPr>
          <p:cNvPr id="32" name="TextBox 31">
            <a:extLst>
              <a:ext uri="{FF2B5EF4-FFF2-40B4-BE49-F238E27FC236}">
                <a16:creationId xmlns:a16="http://schemas.microsoft.com/office/drawing/2014/main" id="{AC1DFB1D-92D5-410B-9A58-A8C8BE38FF7E}"/>
              </a:ext>
            </a:extLst>
          </p:cNvPr>
          <p:cNvSpPr txBox="1"/>
          <p:nvPr/>
        </p:nvSpPr>
        <p:spPr>
          <a:xfrm>
            <a:off x="8960421" y="4895347"/>
            <a:ext cx="3071600" cy="415498"/>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latin typeface="Arial"/>
                <a:ea typeface="宋体" charset="-122"/>
              </a:rPr>
              <a:t>Wait() allows for a break in the infinitive processing loop</a:t>
            </a:r>
          </a:p>
        </p:txBody>
      </p:sp>
      <p:cxnSp>
        <p:nvCxnSpPr>
          <p:cNvPr id="33" name="Straight Arrow Connector 32">
            <a:extLst>
              <a:ext uri="{FF2B5EF4-FFF2-40B4-BE49-F238E27FC236}">
                <a16:creationId xmlns:a16="http://schemas.microsoft.com/office/drawing/2014/main" id="{11B00696-BDFB-4F27-B7EB-BD61F4E410D4}"/>
              </a:ext>
            </a:extLst>
          </p:cNvPr>
          <p:cNvCxnSpPr/>
          <p:nvPr/>
        </p:nvCxnSpPr>
        <p:spPr>
          <a:xfrm flipH="1">
            <a:off x="8758055" y="2392065"/>
            <a:ext cx="2406085" cy="0"/>
          </a:xfrm>
          <a:prstGeom prst="straightConnector1">
            <a:avLst/>
          </a:prstGeom>
          <a:noFill/>
          <a:ln w="38100" cap="flat" cmpd="sng" algn="ctr">
            <a:solidFill>
              <a:srgbClr val="000000"/>
            </a:solidFill>
            <a:prstDash val="solid"/>
            <a:headEnd type="none" w="med" len="med"/>
            <a:tailEnd type="triangle" w="med" len="med"/>
          </a:ln>
          <a:effectLst>
            <a:outerShdw blurRad="40000" dist="20000" dir="5400000" rotWithShape="0">
              <a:srgbClr val="000000">
                <a:alpha val="38000"/>
              </a:srgbClr>
            </a:outerShdw>
          </a:effectLst>
        </p:spPr>
      </p:cxnSp>
      <p:sp>
        <p:nvSpPr>
          <p:cNvPr id="34" name="TextBox 33">
            <a:extLst>
              <a:ext uri="{FF2B5EF4-FFF2-40B4-BE49-F238E27FC236}">
                <a16:creationId xmlns:a16="http://schemas.microsoft.com/office/drawing/2014/main" id="{453E2919-1559-4BFA-B4D5-425B7729144F}"/>
              </a:ext>
            </a:extLst>
          </p:cNvPr>
          <p:cNvSpPr txBox="1"/>
          <p:nvPr/>
        </p:nvSpPr>
        <p:spPr>
          <a:xfrm>
            <a:off x="10652207" y="2276850"/>
            <a:ext cx="1228640" cy="253916"/>
          </a:xfrm>
          <a:prstGeom prst="rect">
            <a:avLst/>
          </a:prstGeom>
          <a:solidFill>
            <a:srgbClr val="7030A0"/>
          </a:solidFill>
          <a:ln w="9525" cap="flat" cmpd="sng" algn="ctr">
            <a:solidFill>
              <a:srgbClr val="3F3F3F">
                <a:shade val="95000"/>
                <a:satMod val="105000"/>
              </a:srgbClr>
            </a:solidFill>
            <a:prstDash val="solid"/>
          </a:ln>
          <a:effectLst>
            <a:outerShdw blurRad="40000" dist="23000" dir="5400000" rotWithShape="0">
              <a:srgbClr val="000000">
                <a:alpha val="35000"/>
              </a:srgbClr>
            </a:outerShdw>
          </a:effectLst>
        </p:spPr>
        <p:txBody>
          <a:bodyPr wrap="square" rtlCol="0">
            <a:spAutoFit/>
          </a:bodyPr>
          <a:lstStyle/>
          <a:p>
            <a:pPr algn="ctr" defTabSz="914400" fontAlgn="base">
              <a:spcBef>
                <a:spcPct val="0"/>
              </a:spcBef>
              <a:spcAft>
                <a:spcPct val="0"/>
              </a:spcAft>
              <a:defRPr/>
            </a:pPr>
            <a:r>
              <a:rPr lang="en-US" sz="1050" b="1" kern="0" dirty="0" err="1">
                <a:solidFill>
                  <a:srgbClr val="FFFFFF"/>
                </a:solidFill>
                <a:latin typeface="Arial"/>
              </a:rPr>
              <a:t>fir_coeff.h</a:t>
            </a:r>
            <a:endParaRPr lang="en-US" sz="1050" b="1" kern="0" dirty="0">
              <a:solidFill>
                <a:srgbClr val="FFFFFF"/>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2"/>
          <p:cNvSpPr>
            <a:spLocks noGrp="1"/>
          </p:cNvSpPr>
          <p:nvPr>
            <p:ph type="title"/>
          </p:nvPr>
        </p:nvSpPr>
        <p:spPr/>
        <p:txBody>
          <a:bodyPr/>
          <a:lstStyle/>
          <a:p>
            <a:r>
              <a:rPr lang="en-US" altLang="zh-CN" dirty="0">
                <a:ea typeface="宋体" charset="-122"/>
              </a:rPr>
              <a:t>Unsupported C/C++ Constructs: Overview</a:t>
            </a:r>
          </a:p>
        </p:txBody>
      </p:sp>
      <p:sp>
        <p:nvSpPr>
          <p:cNvPr id="36866" name="Rectangle 3"/>
          <p:cNvSpPr>
            <a:spLocks noGrp="1"/>
          </p:cNvSpPr>
          <p:nvPr>
            <p:ph idx="1"/>
          </p:nvPr>
        </p:nvSpPr>
        <p:spPr/>
        <p:txBody>
          <a:bodyPr>
            <a:normAutofit fontScale="77500" lnSpcReduction="20000"/>
          </a:bodyPr>
          <a:lstStyle/>
          <a:p>
            <a:r>
              <a:rPr lang="en-US" altLang="zh-CN" sz="2600" dirty="0">
                <a:ea typeface="宋体" charset="-122"/>
              </a:rPr>
              <a:t>System calls and function pointers</a:t>
            </a:r>
          </a:p>
          <a:p>
            <a:pPr lvl="1"/>
            <a:r>
              <a:rPr lang="en-US" altLang="zh-CN" sz="2300" dirty="0">
                <a:ea typeface="宋体" charset="-122"/>
              </a:rPr>
              <a:t>Dynamic memory allocation</a:t>
            </a:r>
          </a:p>
          <a:p>
            <a:pPr lvl="2"/>
            <a:r>
              <a:rPr lang="en-US" altLang="zh-CN" sz="2000" dirty="0">
                <a:ea typeface="宋体" charset="-122"/>
              </a:rPr>
              <a:t>malloc()/free()/</a:t>
            </a:r>
            <a:r>
              <a:rPr lang="en-US" altLang="zh-CN" sz="2000" dirty="0" err="1">
                <a:ea typeface="宋体" charset="-122"/>
              </a:rPr>
              <a:t>alloc</a:t>
            </a:r>
            <a:r>
              <a:rPr lang="en-US" altLang="zh-CN" sz="2000" dirty="0">
                <a:ea typeface="宋体" charset="-122"/>
              </a:rPr>
              <a:t>()</a:t>
            </a:r>
          </a:p>
          <a:p>
            <a:pPr lvl="1"/>
            <a:r>
              <a:rPr lang="en-US" altLang="zh-CN" sz="2300" dirty="0">
                <a:ea typeface="宋体" charset="-122"/>
              </a:rPr>
              <a:t>Standard I/0 and file I/O operations</a:t>
            </a:r>
          </a:p>
          <a:p>
            <a:pPr lvl="2"/>
            <a:r>
              <a:rPr lang="en-US" altLang="zh-CN" sz="2000" dirty="0">
                <a:ea typeface="宋体" charset="-122"/>
              </a:rPr>
              <a:t>fprintf() / fscanf() etc.</a:t>
            </a:r>
          </a:p>
          <a:p>
            <a:pPr lvl="1"/>
            <a:r>
              <a:rPr lang="en-US" altLang="zh-CN" sz="2300" dirty="0">
                <a:ea typeface="宋体" charset="-122"/>
              </a:rPr>
              <a:t>System calls</a:t>
            </a:r>
          </a:p>
          <a:p>
            <a:pPr lvl="2"/>
            <a:r>
              <a:rPr lang="en-US" altLang="zh-CN" sz="2000" dirty="0">
                <a:ea typeface="宋体" charset="-122"/>
              </a:rPr>
              <a:t>time(), sleep() etc.</a:t>
            </a:r>
          </a:p>
          <a:p>
            <a:r>
              <a:rPr lang="en-US" altLang="zh-CN" sz="2600" dirty="0">
                <a:ea typeface="宋体" charset="-122"/>
              </a:rPr>
              <a:t>Recursive Functions</a:t>
            </a:r>
          </a:p>
          <a:p>
            <a:pPr lvl="1"/>
            <a:r>
              <a:rPr lang="en-US" dirty="0"/>
              <a:t>Recursive functions cannot be synthesized. This applies to functions that can form endless recursion</a:t>
            </a:r>
          </a:p>
          <a:p>
            <a:pPr lvl="1"/>
            <a:r>
              <a:rPr lang="en-US" dirty="0" err="1"/>
              <a:t>Vitis</a:t>
            </a:r>
            <a:r>
              <a:rPr lang="en-US" dirty="0"/>
              <a:t> HLS also does not support tail recursion, in which there is a finite number of function calls</a:t>
            </a:r>
            <a:endParaRPr lang="en-US" altLang="zh-CN" sz="2200" dirty="0">
              <a:ea typeface="宋体" charset="-122"/>
            </a:endParaRPr>
          </a:p>
          <a:p>
            <a:r>
              <a:rPr lang="en-US" altLang="zh-CN" sz="2600" dirty="0">
                <a:ea typeface="宋体" charset="-122"/>
              </a:rPr>
              <a:t>Non-standard Pointers</a:t>
            </a:r>
          </a:p>
          <a:p>
            <a:pPr lvl="1"/>
            <a:r>
              <a:rPr lang="en-US" altLang="zh-CN" sz="2300" dirty="0">
                <a:ea typeface="宋体" charset="-122"/>
              </a:rPr>
              <a:t>Pointer casting between general data types</a:t>
            </a:r>
          </a:p>
          <a:p>
            <a:pPr lvl="2"/>
            <a:r>
              <a:rPr lang="en-US" altLang="zh-CN" sz="2000" dirty="0">
                <a:ea typeface="宋体" charset="-122"/>
              </a:rPr>
              <a:t>OK with native integers types</a:t>
            </a:r>
          </a:p>
          <a:p>
            <a:pPr lvl="1"/>
            <a:r>
              <a:rPr lang="en-US" altLang="zh-CN" sz="2300" dirty="0">
                <a:ea typeface="宋体" charset="-122"/>
              </a:rPr>
              <a:t>Function pointers are not supported. </a:t>
            </a:r>
          </a:p>
          <a:p>
            <a:pPr lvl="2"/>
            <a:r>
              <a:rPr lang="en-US" altLang="zh-CN" sz="2000" dirty="0">
                <a:ea typeface="宋体" charset="-122"/>
              </a:rPr>
              <a:t>Pointer to pointer is not supported.</a:t>
            </a:r>
          </a:p>
        </p:txBody>
      </p:sp>
      <p:sp>
        <p:nvSpPr>
          <p:cNvPr id="5" name="Slide Number Placeholder 5">
            <a:extLst>
              <a:ext uri="{FF2B5EF4-FFF2-40B4-BE49-F238E27FC236}">
                <a16:creationId xmlns:a16="http://schemas.microsoft.com/office/drawing/2014/main" id="{2DD5F0BB-DC09-41B7-A853-C97E0C5A73AF}"/>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19</a:t>
            </a:fld>
            <a:endParaRPr lang="en-US" dirty="0"/>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6865" name="Rectangle 2"/>
          <p:cNvSpPr>
            <a:spLocks noGrp="1"/>
          </p:cNvSpPr>
          <p:nvPr>
            <p:ph type="title"/>
          </p:nvPr>
        </p:nvSpPr>
        <p:spPr/>
        <p:txBody>
          <a:bodyPr/>
          <a:lstStyle/>
          <a:p>
            <a:r>
              <a:rPr lang="en-US" altLang="zh-CN" dirty="0">
                <a:ea typeface="宋体" charset="-122"/>
              </a:rPr>
              <a:t>Unsupported </a:t>
            </a:r>
            <a:r>
              <a:rPr lang="en-US" altLang="zh-CN" dirty="0">
                <a:highlight>
                  <a:srgbClr val="FFFF00"/>
                </a:highlight>
                <a:ea typeface="宋体" charset="-122"/>
              </a:rPr>
              <a:t>C/C++ </a:t>
            </a:r>
            <a:r>
              <a:rPr lang="en-US" altLang="zh-CN" dirty="0">
                <a:ea typeface="宋体" charset="-122"/>
              </a:rPr>
              <a:t>Constructs: Overview</a:t>
            </a:r>
          </a:p>
        </p:txBody>
      </p:sp>
      <p:sp>
        <p:nvSpPr>
          <p:cNvPr id="36866" name="Rectangle 3"/>
          <p:cNvSpPr>
            <a:spLocks noGrp="1"/>
          </p:cNvSpPr>
          <p:nvPr>
            <p:ph idx="1"/>
          </p:nvPr>
        </p:nvSpPr>
        <p:spPr/>
        <p:txBody>
          <a:bodyPr>
            <a:normAutofit fontScale="55000" lnSpcReduction="20000"/>
          </a:bodyPr>
          <a:lstStyle/>
          <a:p>
            <a:r>
              <a:rPr lang="en-US" altLang="zh-CN" sz="2600" dirty="0">
                <a:ea typeface="宋体" charset="-122"/>
              </a:rPr>
              <a:t>System calls and function pointers</a:t>
            </a:r>
          </a:p>
          <a:p>
            <a:pPr lvl="1"/>
            <a:r>
              <a:rPr lang="en-US" altLang="zh-CN" sz="2300" dirty="0">
                <a:ea typeface="宋体" charset="-122"/>
              </a:rPr>
              <a:t>Dynamic memory allocation</a:t>
            </a:r>
          </a:p>
          <a:p>
            <a:pPr lvl="2"/>
            <a:r>
              <a:rPr lang="en-US" altLang="zh-CN" sz="2000" dirty="0">
                <a:ea typeface="宋体" charset="-122"/>
              </a:rPr>
              <a:t>malloc()  </a:t>
            </a:r>
            <a:r>
              <a:rPr lang="en-US" altLang="zh-CN" sz="2000" strike="sngStrike" dirty="0">
                <a:ea typeface="宋体" charset="-122"/>
              </a:rPr>
              <a:t>&amp; </a:t>
            </a:r>
            <a:r>
              <a:rPr lang="en-US" altLang="zh-CN" sz="2000" dirty="0">
                <a:ea typeface="宋体" charset="-122"/>
              </a:rPr>
              <a:t>/free()/</a:t>
            </a:r>
            <a:r>
              <a:rPr lang="en-US" altLang="zh-CN" sz="2000" dirty="0" err="1">
                <a:highlight>
                  <a:srgbClr val="FFFF00"/>
                </a:highlight>
                <a:ea typeface="宋体" charset="-122"/>
              </a:rPr>
              <a:t>alloc</a:t>
            </a:r>
            <a:r>
              <a:rPr lang="en-US" altLang="zh-CN" sz="2000" dirty="0">
                <a:highlight>
                  <a:srgbClr val="FFFF00"/>
                </a:highlight>
                <a:ea typeface="宋体" charset="-122"/>
              </a:rPr>
              <a:t>()</a:t>
            </a:r>
          </a:p>
          <a:p>
            <a:pPr lvl="1"/>
            <a:r>
              <a:rPr lang="en-US" altLang="zh-CN" sz="2300" dirty="0">
                <a:ea typeface="宋体" charset="-122"/>
              </a:rPr>
              <a:t>Standard I/0 and file I/O operations</a:t>
            </a:r>
          </a:p>
          <a:p>
            <a:pPr lvl="2"/>
            <a:r>
              <a:rPr lang="en-US" altLang="zh-CN" sz="2000" dirty="0">
                <a:ea typeface="宋体" charset="-122"/>
              </a:rPr>
              <a:t>fprintf() / fscanf() etc.</a:t>
            </a:r>
          </a:p>
          <a:p>
            <a:pPr lvl="1"/>
            <a:r>
              <a:rPr lang="en-US" altLang="zh-CN" sz="2300" dirty="0">
                <a:ea typeface="宋体" charset="-122"/>
              </a:rPr>
              <a:t>System calls</a:t>
            </a:r>
          </a:p>
          <a:p>
            <a:pPr lvl="2"/>
            <a:r>
              <a:rPr lang="en-US" altLang="zh-CN" sz="2000" dirty="0">
                <a:ea typeface="宋体" charset="-122"/>
              </a:rPr>
              <a:t>time(), sleep() etc.</a:t>
            </a:r>
          </a:p>
          <a:p>
            <a:r>
              <a:rPr lang="en-US" altLang="zh-CN" sz="2600" strike="sngStrike" dirty="0">
                <a:ea typeface="宋体" charset="-122"/>
              </a:rPr>
              <a:t>Data types</a:t>
            </a:r>
          </a:p>
          <a:p>
            <a:pPr lvl="1"/>
            <a:r>
              <a:rPr lang="en-US" altLang="zh-CN" sz="2300" strike="sngStrike" dirty="0">
                <a:ea typeface="宋体" charset="-122"/>
              </a:rPr>
              <a:t>Forward declared type</a:t>
            </a:r>
          </a:p>
          <a:p>
            <a:pPr lvl="1"/>
            <a:r>
              <a:rPr lang="en-US" altLang="zh-CN" sz="2300" strike="sngStrike" dirty="0">
                <a:ea typeface="宋体" charset="-122"/>
              </a:rPr>
              <a:t>Recursive type definitions</a:t>
            </a:r>
          </a:p>
          <a:p>
            <a:pPr lvl="2"/>
            <a:r>
              <a:rPr lang="en-US" altLang="zh-CN" sz="2000" strike="sngStrike" dirty="0">
                <a:ea typeface="宋体" charset="-122"/>
              </a:rPr>
              <a:t>Type contains members with the same type</a:t>
            </a:r>
            <a:endParaRPr lang="en-US" altLang="zh-CN" sz="1700" strike="sngStrike" dirty="0">
              <a:ea typeface="宋体" charset="-122"/>
            </a:endParaRPr>
          </a:p>
          <a:p>
            <a:r>
              <a:rPr lang="en-US" altLang="zh-CN" sz="2600" dirty="0">
                <a:highlight>
                  <a:srgbClr val="FFFF00"/>
                </a:highlight>
                <a:ea typeface="宋体" charset="-122"/>
              </a:rPr>
              <a:t>Recursive Functions</a:t>
            </a:r>
          </a:p>
          <a:p>
            <a:pPr lvl="1"/>
            <a:r>
              <a:rPr lang="en-US" dirty="0">
                <a:highlight>
                  <a:srgbClr val="FFFF00"/>
                </a:highlight>
              </a:rPr>
              <a:t>Recursive functions cannot be synthesized. This applies to functions that can form endless recursion</a:t>
            </a:r>
          </a:p>
          <a:p>
            <a:pPr lvl="1"/>
            <a:r>
              <a:rPr lang="en-US" dirty="0" err="1">
                <a:highlight>
                  <a:srgbClr val="FFFF00"/>
                </a:highlight>
              </a:rPr>
              <a:t>Vitis</a:t>
            </a:r>
            <a:r>
              <a:rPr lang="en-US" dirty="0">
                <a:highlight>
                  <a:srgbClr val="FFFF00"/>
                </a:highlight>
              </a:rPr>
              <a:t> HLS also does not support tail recursion, in which there is a finite number of function calls</a:t>
            </a:r>
            <a:endParaRPr lang="en-US" altLang="zh-CN" sz="2200" dirty="0">
              <a:highlight>
                <a:srgbClr val="FFFF00"/>
              </a:highlight>
              <a:ea typeface="宋体" charset="-122"/>
            </a:endParaRPr>
          </a:p>
          <a:p>
            <a:r>
              <a:rPr lang="en-US" altLang="zh-CN" sz="2600" dirty="0">
                <a:ea typeface="宋体" charset="-122"/>
              </a:rPr>
              <a:t>Non-standard Pointers</a:t>
            </a:r>
          </a:p>
          <a:p>
            <a:pPr lvl="1"/>
            <a:r>
              <a:rPr lang="en-US" altLang="zh-CN" sz="2300" dirty="0">
                <a:ea typeface="宋体" charset="-122"/>
              </a:rPr>
              <a:t>Pointer casting between general data types</a:t>
            </a:r>
          </a:p>
          <a:p>
            <a:pPr lvl="2"/>
            <a:r>
              <a:rPr lang="en-US" altLang="zh-CN" sz="2000" dirty="0">
                <a:ea typeface="宋体" charset="-122"/>
              </a:rPr>
              <a:t>OK with native integers types</a:t>
            </a:r>
          </a:p>
          <a:p>
            <a:pPr lvl="1"/>
            <a:r>
              <a:rPr lang="en-US" altLang="zh-CN" sz="2300" strike="sngStrike" dirty="0">
                <a:ea typeface="宋体" charset="-122"/>
              </a:rPr>
              <a:t>If a double pointer is used in multiple functions, </a:t>
            </a:r>
            <a:r>
              <a:rPr lang="en-US" altLang="zh-CN" sz="2300" strike="sngStrike" dirty="0" err="1">
                <a:ea typeface="宋体" charset="-122"/>
              </a:rPr>
              <a:t>Vivado</a:t>
            </a:r>
            <a:r>
              <a:rPr lang="en-US" altLang="zh-CN" sz="2300" strike="sngStrike" dirty="0">
                <a:ea typeface="宋体" charset="-122"/>
              </a:rPr>
              <a:t> HLS will inline all the functions </a:t>
            </a:r>
          </a:p>
          <a:p>
            <a:pPr lvl="2"/>
            <a:r>
              <a:rPr lang="en-US" altLang="zh-CN" sz="2000" strike="sngStrike" dirty="0">
                <a:ea typeface="宋体" charset="-122"/>
              </a:rPr>
              <a:t>Slower synthesis, may increase area &amp; run time</a:t>
            </a:r>
          </a:p>
          <a:p>
            <a:pPr lvl="1"/>
            <a:r>
              <a:rPr lang="en-US" altLang="zh-CN" sz="2300" dirty="0">
                <a:highlight>
                  <a:srgbClr val="FFFF00"/>
                </a:highlight>
                <a:ea typeface="宋体" charset="-122"/>
              </a:rPr>
              <a:t>Function pointers are not supported. </a:t>
            </a:r>
          </a:p>
          <a:p>
            <a:pPr lvl="2"/>
            <a:r>
              <a:rPr lang="en-US" altLang="zh-CN" sz="2000" dirty="0">
                <a:highlight>
                  <a:srgbClr val="FFFF00"/>
                </a:highlight>
                <a:ea typeface="宋体" charset="-122"/>
              </a:rPr>
              <a:t>Pointer to pointer is not supported.</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20</a:t>
            </a:fld>
            <a:endParaRPr lang="en-US" dirty="0">
              <a:solidFill>
                <a:srgbClr val="0C0C0C">
                  <a:tint val="75000"/>
                </a:srgbClr>
              </a:solidFill>
              <a:latin typeface="Arial"/>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2"/>
          <p:cNvSpPr>
            <a:spLocks noGrp="1"/>
          </p:cNvSpPr>
          <p:nvPr>
            <p:ph type="title"/>
          </p:nvPr>
        </p:nvSpPr>
        <p:spPr/>
        <p:txBody>
          <a:bodyPr/>
          <a:lstStyle/>
          <a:p>
            <a:r>
              <a:rPr lang="en-US" altLang="zh-CN" dirty="0">
                <a:ea typeface="宋体" charset="-122"/>
              </a:rPr>
              <a:t>Unsupported: Dynamic Memory Allocation</a:t>
            </a:r>
          </a:p>
        </p:txBody>
      </p:sp>
      <p:sp>
        <p:nvSpPr>
          <p:cNvPr id="38914" name="Rectangle 3"/>
          <p:cNvSpPr>
            <a:spLocks noGrp="1"/>
          </p:cNvSpPr>
          <p:nvPr>
            <p:ph idx="1"/>
          </p:nvPr>
        </p:nvSpPr>
        <p:spPr/>
        <p:txBody>
          <a:bodyPr/>
          <a:lstStyle/>
          <a:p>
            <a:r>
              <a:rPr lang="en-US" altLang="zh-CN" dirty="0">
                <a:ea typeface="宋体" charset="-122"/>
              </a:rPr>
              <a:t>Dynamic memory allocation</a:t>
            </a:r>
          </a:p>
          <a:p>
            <a:pPr lvl="1"/>
            <a:r>
              <a:rPr lang="en-US" altLang="zh-CN" dirty="0">
                <a:ea typeface="宋体" charset="-122"/>
              </a:rPr>
              <a:t>Not allowed since it requires the construction (or destruction) of hardware at runtime</a:t>
            </a:r>
          </a:p>
          <a:p>
            <a:pPr lvl="1"/>
            <a:r>
              <a:rPr lang="en-US" altLang="zh-CN" i="1" dirty="0">
                <a:ea typeface="宋体" charset="-122"/>
              </a:rPr>
              <a:t>malloc</a:t>
            </a:r>
            <a:r>
              <a:rPr lang="en-US" altLang="zh-CN" dirty="0">
                <a:ea typeface="宋体" charset="-122"/>
              </a:rPr>
              <a:t>, </a:t>
            </a:r>
            <a:r>
              <a:rPr lang="en-US" altLang="zh-CN" i="1" dirty="0">
                <a:ea typeface="宋体" charset="-122"/>
              </a:rPr>
              <a:t>alloc</a:t>
            </a:r>
            <a:r>
              <a:rPr lang="en-US" altLang="zh-CN" dirty="0">
                <a:ea typeface="宋体" charset="-122"/>
              </a:rPr>
              <a:t>, </a:t>
            </a:r>
            <a:r>
              <a:rPr lang="en-US" altLang="zh-CN" i="1" dirty="0">
                <a:ea typeface="宋体" charset="-122"/>
              </a:rPr>
              <a:t>free</a:t>
            </a:r>
            <a:r>
              <a:rPr lang="en-US" altLang="zh-CN" dirty="0">
                <a:ea typeface="宋体" charset="-122"/>
              </a:rPr>
              <a:t> are </a:t>
            </a:r>
            <a:r>
              <a:rPr lang="en-US" altLang="zh-CN" b="1" u="sng" dirty="0">
                <a:ea typeface="宋体" charset="-122"/>
              </a:rPr>
              <a:t>not</a:t>
            </a:r>
            <a:r>
              <a:rPr lang="en-US" altLang="zh-CN" dirty="0">
                <a:ea typeface="宋体" charset="-122"/>
              </a:rPr>
              <a:t> synthesizable</a:t>
            </a:r>
          </a:p>
          <a:p>
            <a:pPr lvl="1"/>
            <a:r>
              <a:rPr lang="en-US" altLang="zh-CN" dirty="0">
                <a:ea typeface="宋体" charset="-122"/>
              </a:rPr>
              <a:t>Similarly for constructor initialization</a:t>
            </a:r>
          </a:p>
          <a:p>
            <a:pPr lvl="1">
              <a:buNone/>
            </a:pPr>
            <a:endParaRPr lang="en-US" altLang="zh-CN" dirty="0">
              <a:ea typeface="宋体" charset="-122"/>
            </a:endParaRPr>
          </a:p>
          <a:p>
            <a:pPr lvl="1"/>
            <a:r>
              <a:rPr lang="en-US" altLang="zh-CN" dirty="0">
                <a:ea typeface="宋体" charset="-122"/>
              </a:rPr>
              <a:t>Use persistent static variables and fixed-size arrays instead </a:t>
            </a:r>
          </a:p>
          <a:p>
            <a:pPr lvl="1"/>
            <a:endParaRPr lang="en-US" altLang="zh-CN" dirty="0">
              <a:ea typeface="宋体" charset="-122"/>
            </a:endParaRPr>
          </a:p>
          <a:p>
            <a:r>
              <a:rPr lang="en-US" altLang="zh-CN" dirty="0">
                <a:ea typeface="宋体" charset="-122"/>
              </a:rPr>
              <a:t>Dynamic virtual function call</a:t>
            </a:r>
          </a:p>
          <a:p>
            <a:pPr lvl="1"/>
            <a:r>
              <a:rPr lang="en-US" altLang="zh-CN" dirty="0">
                <a:ea typeface="宋体" charset="-122"/>
              </a:rPr>
              <a:t>Virtual Functions are not supported</a:t>
            </a:r>
          </a:p>
          <a:p>
            <a:endParaRPr lang="en-US" altLang="zh-CN" dirty="0">
              <a:ea typeface="宋体" charset="-122"/>
            </a:endParaRPr>
          </a:p>
          <a:p>
            <a:pPr lvl="1"/>
            <a:endParaRPr lang="en-US" altLang="zh-CN" dirty="0">
              <a:ea typeface="宋体" charset="-122"/>
            </a:endParaRPr>
          </a:p>
          <a:p>
            <a:pPr lvl="1"/>
            <a:endParaRPr lang="en-US" altLang="zh-CN" dirty="0">
              <a:ea typeface="宋体" charset="-122"/>
            </a:endParaRPr>
          </a:p>
          <a:p>
            <a:pPr lvl="1"/>
            <a:endParaRPr lang="en-US" altLang="zh-CN" dirty="0">
              <a:ea typeface="宋体" charset="-122"/>
            </a:endParaRPr>
          </a:p>
          <a:p>
            <a:pPr lvl="2"/>
            <a:endParaRPr lang="en-US" altLang="zh-CN" dirty="0">
              <a:ea typeface="宋体" charset="-122"/>
            </a:endParaRPr>
          </a:p>
        </p:txBody>
      </p:sp>
      <p:sp>
        <p:nvSpPr>
          <p:cNvPr id="10" name="TextBox 9">
            <a:extLst>
              <a:ext uri="{FF2B5EF4-FFF2-40B4-BE49-F238E27FC236}">
                <a16:creationId xmlns:a16="http://schemas.microsoft.com/office/drawing/2014/main" id="{1C1E9F12-C505-4FB3-9EB1-3721ED7782A7}"/>
              </a:ext>
            </a:extLst>
          </p:cNvPr>
          <p:cNvSpPr txBox="1"/>
          <p:nvPr/>
        </p:nvSpPr>
        <p:spPr>
          <a:xfrm>
            <a:off x="7375834" y="2527421"/>
            <a:ext cx="3993080" cy="70788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altLang="zh-CN" sz="1000" kern="0" dirty="0">
                <a:solidFill>
                  <a:srgbClr val="000000"/>
                </a:solidFill>
                <a:latin typeface="Arial"/>
                <a:ea typeface="宋体" charset="-122"/>
              </a:rPr>
              <a:t>long long x = malloc (sizeof(long long));</a:t>
            </a:r>
          </a:p>
          <a:p>
            <a:pPr defTabSz="914400" fontAlgn="base">
              <a:spcBef>
                <a:spcPct val="0"/>
              </a:spcBef>
              <a:spcAft>
                <a:spcPct val="0"/>
              </a:spcAft>
              <a:defRPr/>
            </a:pPr>
            <a:endParaRPr lang="en-US" altLang="zh-CN" sz="1000" kern="0" dirty="0">
              <a:solidFill>
                <a:srgbClr val="000000"/>
              </a:solidFill>
              <a:latin typeface="Arial"/>
              <a:ea typeface="宋体" charset="-122"/>
            </a:endParaRPr>
          </a:p>
          <a:p>
            <a:pPr defTabSz="914400" fontAlgn="base">
              <a:spcBef>
                <a:spcPct val="0"/>
              </a:spcBef>
              <a:spcAft>
                <a:spcPct val="0"/>
              </a:spcAft>
              <a:defRPr/>
            </a:pPr>
            <a:r>
              <a:rPr lang="en-US" altLang="zh-CN" sz="1000" kern="0" dirty="0">
                <a:solidFill>
                  <a:srgbClr val="000000"/>
                </a:solidFill>
                <a:latin typeface="Arial"/>
                <a:ea typeface="宋体" charset="-122"/>
              </a:rPr>
              <a:t>int* arr = malloc (64 * sizeof(int));</a:t>
            </a:r>
          </a:p>
          <a:p>
            <a:pPr defTabSz="914400" fontAlgn="base">
              <a:spcBef>
                <a:spcPct val="0"/>
              </a:spcBef>
              <a:spcAft>
                <a:spcPct val="0"/>
              </a:spcAft>
              <a:defRPr/>
            </a:pPr>
            <a:endParaRPr lang="en-US" altLang="zh-CN" sz="1000" kern="0" dirty="0">
              <a:solidFill>
                <a:srgbClr val="000000"/>
              </a:solidFill>
              <a:latin typeface="Arial"/>
              <a:ea typeface="宋体" charset="-122"/>
            </a:endParaRPr>
          </a:p>
        </p:txBody>
      </p:sp>
      <p:sp>
        <p:nvSpPr>
          <p:cNvPr id="12" name="TextBox 11">
            <a:extLst>
              <a:ext uri="{FF2B5EF4-FFF2-40B4-BE49-F238E27FC236}">
                <a16:creationId xmlns:a16="http://schemas.microsoft.com/office/drawing/2014/main" id="{2AC4CEE9-D174-4BB1-9A2C-C8391763CD9E}"/>
              </a:ext>
            </a:extLst>
          </p:cNvPr>
          <p:cNvSpPr txBox="1"/>
          <p:nvPr/>
        </p:nvSpPr>
        <p:spPr>
          <a:xfrm>
            <a:off x="7375834" y="3700423"/>
            <a:ext cx="3993080" cy="70788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altLang="zh-CN" sz="1000" kern="0" dirty="0">
                <a:solidFill>
                  <a:srgbClr val="000000"/>
                </a:solidFill>
                <a:latin typeface="Arial"/>
                <a:ea typeface="宋体" charset="-122"/>
              </a:rPr>
              <a:t>static long long x;</a:t>
            </a:r>
          </a:p>
          <a:p>
            <a:pPr defTabSz="914400" fontAlgn="base">
              <a:spcBef>
                <a:spcPct val="0"/>
              </a:spcBef>
              <a:spcAft>
                <a:spcPct val="0"/>
              </a:spcAft>
              <a:defRPr/>
            </a:pPr>
            <a:endParaRPr lang="en-US" altLang="zh-CN" sz="1000" kern="0" dirty="0">
              <a:solidFill>
                <a:srgbClr val="000000"/>
              </a:solidFill>
              <a:latin typeface="Arial"/>
              <a:ea typeface="宋体" charset="-122"/>
            </a:endParaRPr>
          </a:p>
          <a:p>
            <a:pPr defTabSz="914400" fontAlgn="base">
              <a:spcBef>
                <a:spcPct val="0"/>
              </a:spcBef>
              <a:spcAft>
                <a:spcPct val="0"/>
              </a:spcAft>
              <a:defRPr/>
            </a:pPr>
            <a:r>
              <a:rPr lang="en-US" altLang="zh-CN" sz="1000" kern="0" dirty="0">
                <a:solidFill>
                  <a:srgbClr val="000000"/>
                </a:solidFill>
                <a:latin typeface="Arial"/>
                <a:ea typeface="宋体" charset="-122"/>
              </a:rPr>
              <a:t>int array[64];</a:t>
            </a:r>
          </a:p>
          <a:p>
            <a:pPr defTabSz="914400" fontAlgn="base">
              <a:spcBef>
                <a:spcPct val="0"/>
              </a:spcBef>
              <a:spcAft>
                <a:spcPct val="0"/>
              </a:spcAft>
              <a:defRPr/>
            </a:pPr>
            <a:endParaRPr lang="en-US" altLang="zh-CN" sz="1000" kern="0" dirty="0">
              <a:solidFill>
                <a:srgbClr val="000000"/>
              </a:solidFill>
              <a:latin typeface="Arial"/>
              <a:ea typeface="宋体" charset="-122"/>
            </a:endParaRPr>
          </a:p>
        </p:txBody>
      </p:sp>
      <p:sp>
        <p:nvSpPr>
          <p:cNvPr id="13" name="TextBox 12">
            <a:extLst>
              <a:ext uri="{FF2B5EF4-FFF2-40B4-BE49-F238E27FC236}">
                <a16:creationId xmlns:a16="http://schemas.microsoft.com/office/drawing/2014/main" id="{AF5CC799-425C-4286-9EDE-8921D4ACC68A}"/>
              </a:ext>
            </a:extLst>
          </p:cNvPr>
          <p:cNvSpPr txBox="1"/>
          <p:nvPr/>
        </p:nvSpPr>
        <p:spPr>
          <a:xfrm>
            <a:off x="5206825" y="4465935"/>
            <a:ext cx="2713247" cy="86177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Class A {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public:</a:t>
            </a:r>
          </a:p>
          <a:p>
            <a:pPr defTabSz="914400" fontAlgn="base">
              <a:spcBef>
                <a:spcPct val="50000"/>
              </a:spcBef>
              <a:spcAft>
                <a:spcPct val="0"/>
              </a:spcAft>
              <a:defRPr/>
            </a:pPr>
            <a:r>
              <a:rPr lang="en-US" altLang="zh-CN" sz="1000" kern="0" dirty="0">
                <a:solidFill>
                  <a:srgbClr val="000000"/>
                </a:solidFill>
                <a:latin typeface="Arial"/>
                <a:ea typeface="宋体" charset="-122"/>
              </a:rPr>
              <a:t>  virtual void bar() {…}; </a:t>
            </a:r>
          </a:p>
          <a:p>
            <a:pPr defTabSz="914400" fontAlgn="base">
              <a:spcBef>
                <a:spcPct val="50000"/>
              </a:spcBef>
              <a:spcAft>
                <a:spcPct val="0"/>
              </a:spcAft>
              <a:defRPr/>
            </a:pPr>
            <a:r>
              <a:rPr lang="en-US" altLang="zh-CN" sz="1000" kern="0" dirty="0">
                <a:solidFill>
                  <a:srgbClr val="000000"/>
                </a:solidFill>
                <a:latin typeface="Arial"/>
                <a:ea typeface="宋体" charset="-122"/>
              </a:rPr>
              <a:t>};</a:t>
            </a:r>
          </a:p>
        </p:txBody>
      </p:sp>
      <p:sp>
        <p:nvSpPr>
          <p:cNvPr id="14" name="TextBox 13">
            <a:extLst>
              <a:ext uri="{FF2B5EF4-FFF2-40B4-BE49-F238E27FC236}">
                <a16:creationId xmlns:a16="http://schemas.microsoft.com/office/drawing/2014/main" id="{21470D86-D3D4-4E0A-A1C8-DC1E8FA071D8}"/>
              </a:ext>
            </a:extLst>
          </p:cNvPr>
          <p:cNvSpPr txBox="1"/>
          <p:nvPr/>
        </p:nvSpPr>
        <p:spPr>
          <a:xfrm>
            <a:off x="7203365" y="4888392"/>
            <a:ext cx="2713247" cy="140038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void fun(A* a) {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a-&gt;bar();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a:p>
            <a:pPr defTabSz="914400" fontAlgn="base">
              <a:spcBef>
                <a:spcPct val="50000"/>
              </a:spcBef>
              <a:spcAft>
                <a:spcPct val="0"/>
              </a:spcAft>
              <a:defRPr/>
            </a:pPr>
            <a:r>
              <a:rPr lang="en-US" altLang="zh-CN" sz="1000" kern="0" dirty="0">
                <a:solidFill>
                  <a:srgbClr val="000000"/>
                </a:solidFill>
                <a:latin typeface="Arial"/>
                <a:ea typeface="宋体" charset="-122"/>
              </a:rPr>
              <a:t>A* a = 0;</a:t>
            </a:r>
          </a:p>
          <a:p>
            <a:pPr defTabSz="914400" fontAlgn="base">
              <a:spcBef>
                <a:spcPct val="50000"/>
              </a:spcBef>
              <a:spcAft>
                <a:spcPct val="0"/>
              </a:spcAft>
              <a:defRPr/>
            </a:pPr>
            <a:r>
              <a:rPr lang="en-US" altLang="zh-CN" sz="1000" kern="0" dirty="0">
                <a:solidFill>
                  <a:srgbClr val="000000"/>
                </a:solidFill>
                <a:latin typeface="Arial"/>
                <a:ea typeface="宋体" charset="-122"/>
              </a:rPr>
              <a:t>if (base) A= </a:t>
            </a:r>
            <a:r>
              <a:rPr lang="en-US" altLang="zh-CN" sz="1000" b="1" kern="0" dirty="0">
                <a:solidFill>
                  <a:srgbClr val="000000"/>
                </a:solidFill>
                <a:latin typeface="Arial"/>
                <a:ea typeface="宋体" charset="-122"/>
              </a:rPr>
              <a:t>new</a:t>
            </a:r>
            <a:r>
              <a:rPr lang="en-US" altLang="zh-CN" sz="1000" kern="0" dirty="0">
                <a:solidFill>
                  <a:srgbClr val="000000"/>
                </a:solidFill>
                <a:latin typeface="Arial"/>
                <a:ea typeface="宋体" charset="-122"/>
              </a:rPr>
              <a:t> A();</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else A = </a:t>
            </a:r>
            <a:r>
              <a:rPr lang="en-US" altLang="zh-CN" sz="1000" b="1" kern="0" dirty="0">
                <a:solidFill>
                  <a:srgbClr val="000000"/>
                </a:solidFill>
                <a:latin typeface="Arial"/>
                <a:ea typeface="宋体" charset="-122"/>
              </a:rPr>
              <a:t>new</a:t>
            </a:r>
            <a:r>
              <a:rPr lang="en-US" altLang="zh-CN" sz="1000" kern="0" dirty="0">
                <a:solidFill>
                  <a:srgbClr val="000000"/>
                </a:solidFill>
                <a:latin typeface="Arial"/>
                <a:ea typeface="宋体" charset="-122"/>
              </a:rPr>
              <a:t> B();</a:t>
            </a:r>
          </a:p>
          <a:p>
            <a:pPr defTabSz="914400" fontAlgn="base">
              <a:spcBef>
                <a:spcPct val="50000"/>
              </a:spcBef>
              <a:spcAft>
                <a:spcPct val="0"/>
              </a:spcAft>
              <a:defRPr/>
            </a:pPr>
            <a:r>
              <a:rPr lang="en-US" altLang="zh-CN" sz="1000" kern="0" dirty="0">
                <a:solidFill>
                  <a:srgbClr val="000000"/>
                </a:solidFill>
                <a:latin typeface="Arial"/>
                <a:ea typeface="宋体" charset="-122"/>
              </a:rPr>
              <a:t>foo(a);</a:t>
            </a:r>
          </a:p>
        </p:txBody>
      </p:sp>
      <p:sp>
        <p:nvSpPr>
          <p:cNvPr id="9" name="Slide Number Placeholder 5">
            <a:extLst>
              <a:ext uri="{FF2B5EF4-FFF2-40B4-BE49-F238E27FC236}">
                <a16:creationId xmlns:a16="http://schemas.microsoft.com/office/drawing/2014/main" id="{F1E77CED-D37F-448B-91D9-D81594E8A67F}"/>
              </a:ext>
            </a:extLst>
          </p:cNvPr>
          <p:cNvSpPr txBox="1">
            <a:spLocks/>
          </p:cNvSpPr>
          <p:nvPr/>
        </p:nvSpPr>
        <p:spPr>
          <a:xfrm>
            <a:off x="579120" y="6325606"/>
            <a:ext cx="2261733" cy="365125"/>
          </a:xfrm>
          <a:prstGeom prst="rect">
            <a:avLst/>
          </a:prstGeom>
        </p:spPr>
        <p:txBody>
          <a:bodyPr vert="horz" lIns="91440" tIns="45720" rIns="91440" bIns="45720" rtlCol="0" anchor="ctr"/>
          <a:lstStyle>
            <a:defPPr>
              <a:defRPr lang="en-US"/>
            </a:defPPr>
            <a:lvl1pPr marL="0" indent="0" algn="l" defTabSz="914240" rtl="0" eaLnBrk="1" latinLnBrk="0" hangingPunct="1">
              <a:buFont typeface="Arial" panose="020B0604020202020204" pitchFamily="34" charset="0"/>
              <a:buNone/>
              <a:defRPr sz="1133" b="1"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a:lstStyle>
          <a:p>
            <a:pPr>
              <a:defRPr/>
            </a:pPr>
            <a:r>
              <a:rPr lang="en-US" dirty="0"/>
              <a:t>Coding Considerations 23- </a:t>
            </a:r>
            <a:fld id="{060BD193-E118-4B16-863C-C8C12C675E3E}" type="slidenum">
              <a:rPr lang="en-US" smtClean="0"/>
              <a:pPr>
                <a:defRPr/>
              </a:pPr>
              <a:t>21</a:t>
            </a:fld>
            <a:endParaRPr lang="en-US" dirty="0"/>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8913" name="Rectangle 2"/>
          <p:cNvSpPr>
            <a:spLocks noGrp="1"/>
          </p:cNvSpPr>
          <p:nvPr>
            <p:ph type="title"/>
          </p:nvPr>
        </p:nvSpPr>
        <p:spPr/>
        <p:txBody>
          <a:bodyPr/>
          <a:lstStyle/>
          <a:p>
            <a:r>
              <a:rPr lang="en-US" altLang="zh-CN" dirty="0">
                <a:ea typeface="宋体" charset="-122"/>
              </a:rPr>
              <a:t>Unsupported: Dynamic Memory Allocation</a:t>
            </a:r>
          </a:p>
        </p:txBody>
      </p:sp>
      <p:sp>
        <p:nvSpPr>
          <p:cNvPr id="38914" name="Rectangle 3"/>
          <p:cNvSpPr>
            <a:spLocks noGrp="1"/>
          </p:cNvSpPr>
          <p:nvPr>
            <p:ph idx="1"/>
          </p:nvPr>
        </p:nvSpPr>
        <p:spPr/>
        <p:txBody>
          <a:bodyPr/>
          <a:lstStyle/>
          <a:p>
            <a:r>
              <a:rPr lang="en-US" altLang="zh-CN" dirty="0">
                <a:ea typeface="宋体" charset="-122"/>
              </a:rPr>
              <a:t>Dynamic memory allocation</a:t>
            </a:r>
          </a:p>
          <a:p>
            <a:pPr lvl="1"/>
            <a:r>
              <a:rPr lang="en-US" altLang="zh-CN" dirty="0">
                <a:ea typeface="宋体" charset="-122"/>
              </a:rPr>
              <a:t>Not allowed since it requires the construction (or destruction) of hardware at runtime</a:t>
            </a:r>
          </a:p>
          <a:p>
            <a:pPr lvl="1"/>
            <a:r>
              <a:rPr lang="en-US" altLang="zh-CN" i="1" dirty="0">
                <a:ea typeface="宋体" charset="-122"/>
              </a:rPr>
              <a:t>malloc</a:t>
            </a:r>
            <a:r>
              <a:rPr lang="en-US" altLang="zh-CN" dirty="0">
                <a:ea typeface="宋体" charset="-122"/>
              </a:rPr>
              <a:t>, </a:t>
            </a:r>
            <a:r>
              <a:rPr lang="en-US" altLang="zh-CN" i="1" dirty="0">
                <a:ea typeface="宋体" charset="-122"/>
              </a:rPr>
              <a:t>alloc</a:t>
            </a:r>
            <a:r>
              <a:rPr lang="en-US" altLang="zh-CN" dirty="0">
                <a:ea typeface="宋体" charset="-122"/>
              </a:rPr>
              <a:t>, </a:t>
            </a:r>
            <a:r>
              <a:rPr lang="en-US" altLang="zh-CN" i="1" dirty="0">
                <a:ea typeface="宋体" charset="-122"/>
              </a:rPr>
              <a:t>free</a:t>
            </a:r>
            <a:r>
              <a:rPr lang="en-US" altLang="zh-CN" dirty="0">
                <a:ea typeface="宋体" charset="-122"/>
              </a:rPr>
              <a:t> are </a:t>
            </a:r>
            <a:r>
              <a:rPr lang="en-US" altLang="zh-CN" b="1" u="sng" dirty="0">
                <a:ea typeface="宋体" charset="-122"/>
              </a:rPr>
              <a:t>not</a:t>
            </a:r>
            <a:r>
              <a:rPr lang="en-US" altLang="zh-CN" dirty="0">
                <a:ea typeface="宋体" charset="-122"/>
              </a:rPr>
              <a:t> synthesizable</a:t>
            </a:r>
          </a:p>
          <a:p>
            <a:pPr lvl="1"/>
            <a:r>
              <a:rPr lang="en-US" altLang="zh-CN" dirty="0">
                <a:ea typeface="宋体" charset="-122"/>
              </a:rPr>
              <a:t>Similarly for constructor initialization</a:t>
            </a:r>
          </a:p>
          <a:p>
            <a:pPr lvl="1">
              <a:buNone/>
            </a:pPr>
            <a:endParaRPr lang="en-US" altLang="zh-CN" dirty="0">
              <a:ea typeface="宋体" charset="-122"/>
            </a:endParaRPr>
          </a:p>
          <a:p>
            <a:pPr lvl="1"/>
            <a:r>
              <a:rPr lang="en-US" altLang="zh-CN" dirty="0">
                <a:ea typeface="宋体" charset="-122"/>
              </a:rPr>
              <a:t>Use persistent static variables and fixed-size arrays instead </a:t>
            </a:r>
          </a:p>
          <a:p>
            <a:pPr lvl="1"/>
            <a:endParaRPr lang="en-US" altLang="zh-CN" dirty="0">
              <a:ea typeface="宋体" charset="-122"/>
            </a:endParaRPr>
          </a:p>
          <a:p>
            <a:r>
              <a:rPr lang="en-US" altLang="zh-CN" dirty="0">
                <a:ea typeface="宋体" charset="-122"/>
              </a:rPr>
              <a:t>Dynamic virtual function call</a:t>
            </a:r>
          </a:p>
          <a:p>
            <a:pPr lvl="1"/>
            <a:r>
              <a:rPr lang="en-US" altLang="zh-CN" dirty="0">
                <a:highlight>
                  <a:srgbClr val="FFFF00"/>
                </a:highlight>
                <a:ea typeface="宋体" charset="-122"/>
              </a:rPr>
              <a:t>Virtual Functions are not supported</a:t>
            </a:r>
          </a:p>
          <a:p>
            <a:endParaRPr lang="en-US" altLang="zh-CN" dirty="0">
              <a:ea typeface="宋体" charset="-122"/>
            </a:endParaRPr>
          </a:p>
          <a:p>
            <a:pPr lvl="1"/>
            <a:endParaRPr lang="en-US" altLang="zh-CN" dirty="0">
              <a:ea typeface="宋体" charset="-122"/>
            </a:endParaRPr>
          </a:p>
          <a:p>
            <a:pPr lvl="1"/>
            <a:endParaRPr lang="en-US" altLang="zh-CN" dirty="0">
              <a:ea typeface="宋体" charset="-122"/>
            </a:endParaRPr>
          </a:p>
          <a:p>
            <a:pPr lvl="1"/>
            <a:endParaRPr lang="en-US" altLang="zh-CN" dirty="0">
              <a:ea typeface="宋体" charset="-122"/>
            </a:endParaRPr>
          </a:p>
          <a:p>
            <a:pPr lvl="2"/>
            <a:endParaRPr lang="en-US" altLang="zh-CN" dirty="0">
              <a:ea typeface="宋体" charset="-122"/>
            </a:endParaRP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22</a:t>
            </a:fld>
            <a:endParaRPr lang="en-US" dirty="0">
              <a:solidFill>
                <a:srgbClr val="0C0C0C">
                  <a:tint val="75000"/>
                </a:srgbClr>
              </a:solidFill>
              <a:latin typeface="Arial"/>
            </a:endParaRPr>
          </a:p>
        </p:txBody>
      </p:sp>
      <p:sp>
        <p:nvSpPr>
          <p:cNvPr id="10" name="TextBox 9">
            <a:extLst>
              <a:ext uri="{FF2B5EF4-FFF2-40B4-BE49-F238E27FC236}">
                <a16:creationId xmlns:a16="http://schemas.microsoft.com/office/drawing/2014/main" id="{1C1E9F12-C505-4FB3-9EB1-3721ED7782A7}"/>
              </a:ext>
            </a:extLst>
          </p:cNvPr>
          <p:cNvSpPr txBox="1"/>
          <p:nvPr/>
        </p:nvSpPr>
        <p:spPr>
          <a:xfrm>
            <a:off x="7375834" y="2367622"/>
            <a:ext cx="3993080" cy="70788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altLang="zh-CN" sz="1000" kern="0" dirty="0">
                <a:solidFill>
                  <a:srgbClr val="000000"/>
                </a:solidFill>
                <a:latin typeface="Arial"/>
                <a:ea typeface="宋体" charset="-122"/>
              </a:rPr>
              <a:t>long long x = malloc (sizeof(long long));</a:t>
            </a:r>
          </a:p>
          <a:p>
            <a:pPr defTabSz="914400" fontAlgn="base">
              <a:spcBef>
                <a:spcPct val="0"/>
              </a:spcBef>
              <a:spcAft>
                <a:spcPct val="0"/>
              </a:spcAft>
              <a:defRPr/>
            </a:pPr>
            <a:endParaRPr lang="en-US" altLang="zh-CN" sz="1000" kern="0" dirty="0">
              <a:solidFill>
                <a:srgbClr val="000000"/>
              </a:solidFill>
              <a:latin typeface="Arial"/>
              <a:ea typeface="宋体" charset="-122"/>
            </a:endParaRPr>
          </a:p>
          <a:p>
            <a:pPr defTabSz="914400" fontAlgn="base">
              <a:spcBef>
                <a:spcPct val="0"/>
              </a:spcBef>
              <a:spcAft>
                <a:spcPct val="0"/>
              </a:spcAft>
              <a:defRPr/>
            </a:pPr>
            <a:r>
              <a:rPr lang="en-US" altLang="zh-CN" sz="1000" kern="0" dirty="0">
                <a:solidFill>
                  <a:srgbClr val="000000"/>
                </a:solidFill>
                <a:latin typeface="Arial"/>
                <a:ea typeface="宋体" charset="-122"/>
              </a:rPr>
              <a:t>int* arr = malloc (64 * sizeof(int));</a:t>
            </a:r>
          </a:p>
          <a:p>
            <a:pPr defTabSz="914400" fontAlgn="base">
              <a:spcBef>
                <a:spcPct val="0"/>
              </a:spcBef>
              <a:spcAft>
                <a:spcPct val="0"/>
              </a:spcAft>
              <a:defRPr/>
            </a:pPr>
            <a:endParaRPr lang="en-US" altLang="zh-CN" sz="1000" kern="0" dirty="0">
              <a:solidFill>
                <a:srgbClr val="000000"/>
              </a:solidFill>
              <a:latin typeface="Arial"/>
              <a:ea typeface="宋体" charset="-122"/>
            </a:endParaRPr>
          </a:p>
        </p:txBody>
      </p:sp>
      <p:sp>
        <p:nvSpPr>
          <p:cNvPr id="12" name="TextBox 11">
            <a:extLst>
              <a:ext uri="{FF2B5EF4-FFF2-40B4-BE49-F238E27FC236}">
                <a16:creationId xmlns:a16="http://schemas.microsoft.com/office/drawing/2014/main" id="{2AC4CEE9-D174-4BB1-9A2C-C8391763CD9E}"/>
              </a:ext>
            </a:extLst>
          </p:cNvPr>
          <p:cNvSpPr txBox="1"/>
          <p:nvPr/>
        </p:nvSpPr>
        <p:spPr>
          <a:xfrm>
            <a:off x="7375834" y="3540624"/>
            <a:ext cx="3993080" cy="70788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altLang="zh-CN" sz="1000" kern="0" dirty="0">
                <a:solidFill>
                  <a:srgbClr val="000000"/>
                </a:solidFill>
                <a:latin typeface="Arial"/>
                <a:ea typeface="宋体" charset="-122"/>
              </a:rPr>
              <a:t>static long long x;</a:t>
            </a:r>
          </a:p>
          <a:p>
            <a:pPr defTabSz="914400" fontAlgn="base">
              <a:spcBef>
                <a:spcPct val="0"/>
              </a:spcBef>
              <a:spcAft>
                <a:spcPct val="0"/>
              </a:spcAft>
              <a:defRPr/>
            </a:pPr>
            <a:endParaRPr lang="en-US" altLang="zh-CN" sz="1000" kern="0" dirty="0">
              <a:solidFill>
                <a:srgbClr val="000000"/>
              </a:solidFill>
              <a:latin typeface="Arial"/>
              <a:ea typeface="宋体" charset="-122"/>
            </a:endParaRPr>
          </a:p>
          <a:p>
            <a:pPr defTabSz="914400" fontAlgn="base">
              <a:spcBef>
                <a:spcPct val="0"/>
              </a:spcBef>
              <a:spcAft>
                <a:spcPct val="0"/>
              </a:spcAft>
              <a:defRPr/>
            </a:pPr>
            <a:r>
              <a:rPr lang="en-US" altLang="zh-CN" sz="1000" kern="0" dirty="0">
                <a:solidFill>
                  <a:srgbClr val="000000"/>
                </a:solidFill>
                <a:latin typeface="Arial"/>
                <a:ea typeface="宋体" charset="-122"/>
              </a:rPr>
              <a:t>int array[64];</a:t>
            </a:r>
          </a:p>
          <a:p>
            <a:pPr defTabSz="914400" fontAlgn="base">
              <a:spcBef>
                <a:spcPct val="0"/>
              </a:spcBef>
              <a:spcAft>
                <a:spcPct val="0"/>
              </a:spcAft>
              <a:defRPr/>
            </a:pPr>
            <a:endParaRPr lang="en-US" altLang="zh-CN" sz="1000" kern="0" dirty="0">
              <a:solidFill>
                <a:srgbClr val="000000"/>
              </a:solidFill>
              <a:latin typeface="Arial"/>
              <a:ea typeface="宋体" charset="-122"/>
            </a:endParaRPr>
          </a:p>
        </p:txBody>
      </p:sp>
      <p:sp>
        <p:nvSpPr>
          <p:cNvPr id="13" name="TextBox 12">
            <a:extLst>
              <a:ext uri="{FF2B5EF4-FFF2-40B4-BE49-F238E27FC236}">
                <a16:creationId xmlns:a16="http://schemas.microsoft.com/office/drawing/2014/main" id="{AF5CC799-425C-4286-9EDE-8921D4ACC68A}"/>
              </a:ext>
            </a:extLst>
          </p:cNvPr>
          <p:cNvSpPr txBox="1"/>
          <p:nvPr/>
        </p:nvSpPr>
        <p:spPr>
          <a:xfrm>
            <a:off x="3280369" y="4465935"/>
            <a:ext cx="2713247" cy="86177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Class A {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public:</a:t>
            </a:r>
          </a:p>
          <a:p>
            <a:pPr defTabSz="914400" fontAlgn="base">
              <a:spcBef>
                <a:spcPct val="50000"/>
              </a:spcBef>
              <a:spcAft>
                <a:spcPct val="0"/>
              </a:spcAft>
              <a:defRPr/>
            </a:pPr>
            <a:r>
              <a:rPr lang="en-US" altLang="zh-CN" sz="1000" kern="0" dirty="0">
                <a:solidFill>
                  <a:srgbClr val="000000"/>
                </a:solidFill>
                <a:latin typeface="Arial"/>
                <a:ea typeface="宋体" charset="-122"/>
              </a:rPr>
              <a:t>  virtual void bar() {…}; </a:t>
            </a:r>
          </a:p>
          <a:p>
            <a:pPr defTabSz="914400" fontAlgn="base">
              <a:spcBef>
                <a:spcPct val="50000"/>
              </a:spcBef>
              <a:spcAft>
                <a:spcPct val="0"/>
              </a:spcAft>
              <a:defRPr/>
            </a:pPr>
            <a:r>
              <a:rPr lang="en-US" altLang="zh-CN" sz="1000" kern="0" dirty="0">
                <a:solidFill>
                  <a:srgbClr val="000000"/>
                </a:solidFill>
                <a:latin typeface="Arial"/>
                <a:ea typeface="宋体" charset="-122"/>
              </a:rPr>
              <a:t>};</a:t>
            </a:r>
          </a:p>
        </p:txBody>
      </p:sp>
      <p:sp>
        <p:nvSpPr>
          <p:cNvPr id="14" name="TextBox 13">
            <a:extLst>
              <a:ext uri="{FF2B5EF4-FFF2-40B4-BE49-F238E27FC236}">
                <a16:creationId xmlns:a16="http://schemas.microsoft.com/office/drawing/2014/main" id="{21470D86-D3D4-4E0A-A1C8-DC1E8FA071D8}"/>
              </a:ext>
            </a:extLst>
          </p:cNvPr>
          <p:cNvSpPr txBox="1"/>
          <p:nvPr/>
        </p:nvSpPr>
        <p:spPr>
          <a:xfrm>
            <a:off x="5276909" y="4888392"/>
            <a:ext cx="2713247" cy="140038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void fun(A* a) {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a-&gt;bar();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a:p>
            <a:pPr defTabSz="914400" fontAlgn="base">
              <a:spcBef>
                <a:spcPct val="50000"/>
              </a:spcBef>
              <a:spcAft>
                <a:spcPct val="0"/>
              </a:spcAft>
              <a:defRPr/>
            </a:pPr>
            <a:r>
              <a:rPr lang="en-US" altLang="zh-CN" sz="1000" kern="0" dirty="0">
                <a:solidFill>
                  <a:srgbClr val="000000"/>
                </a:solidFill>
                <a:latin typeface="Arial"/>
                <a:ea typeface="宋体" charset="-122"/>
              </a:rPr>
              <a:t>A* a = 0;</a:t>
            </a:r>
          </a:p>
          <a:p>
            <a:pPr defTabSz="914400" fontAlgn="base">
              <a:spcBef>
                <a:spcPct val="50000"/>
              </a:spcBef>
              <a:spcAft>
                <a:spcPct val="0"/>
              </a:spcAft>
              <a:defRPr/>
            </a:pPr>
            <a:r>
              <a:rPr lang="en-US" altLang="zh-CN" sz="1000" kern="0" dirty="0">
                <a:solidFill>
                  <a:srgbClr val="000000"/>
                </a:solidFill>
                <a:latin typeface="Arial"/>
                <a:ea typeface="宋体" charset="-122"/>
              </a:rPr>
              <a:t>if (base) A= </a:t>
            </a:r>
            <a:r>
              <a:rPr lang="en-US" altLang="zh-CN" sz="1000" b="1" kern="0" dirty="0">
                <a:solidFill>
                  <a:srgbClr val="000000"/>
                </a:solidFill>
                <a:latin typeface="Arial"/>
                <a:ea typeface="宋体" charset="-122"/>
              </a:rPr>
              <a:t>new</a:t>
            </a:r>
            <a:r>
              <a:rPr lang="en-US" altLang="zh-CN" sz="1000" kern="0" dirty="0">
                <a:solidFill>
                  <a:srgbClr val="000000"/>
                </a:solidFill>
                <a:latin typeface="Arial"/>
                <a:ea typeface="宋体" charset="-122"/>
              </a:rPr>
              <a:t> A();</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else A = </a:t>
            </a:r>
            <a:r>
              <a:rPr lang="en-US" altLang="zh-CN" sz="1000" b="1" kern="0" dirty="0">
                <a:solidFill>
                  <a:srgbClr val="000000"/>
                </a:solidFill>
                <a:latin typeface="Arial"/>
                <a:ea typeface="宋体" charset="-122"/>
              </a:rPr>
              <a:t>new</a:t>
            </a:r>
            <a:r>
              <a:rPr lang="en-US" altLang="zh-CN" sz="1000" kern="0" dirty="0">
                <a:solidFill>
                  <a:srgbClr val="000000"/>
                </a:solidFill>
                <a:latin typeface="Arial"/>
                <a:ea typeface="宋体" charset="-122"/>
              </a:rPr>
              <a:t> B();</a:t>
            </a:r>
          </a:p>
          <a:p>
            <a:pPr defTabSz="914400" fontAlgn="base">
              <a:spcBef>
                <a:spcPct val="50000"/>
              </a:spcBef>
              <a:spcAft>
                <a:spcPct val="0"/>
              </a:spcAft>
              <a:defRPr/>
            </a:pPr>
            <a:r>
              <a:rPr lang="en-US" altLang="zh-CN" sz="1000" kern="0" dirty="0">
                <a:solidFill>
                  <a:srgbClr val="000000"/>
                </a:solidFill>
                <a:latin typeface="Arial"/>
                <a:ea typeface="宋体" charset="-122"/>
              </a:rPr>
              <a:t>foo(a);</a:t>
            </a: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Rectangle 2"/>
          <p:cNvSpPr>
            <a:spLocks noGrp="1"/>
          </p:cNvSpPr>
          <p:nvPr>
            <p:ph type="title"/>
          </p:nvPr>
        </p:nvSpPr>
        <p:spPr/>
        <p:txBody>
          <a:bodyPr/>
          <a:lstStyle/>
          <a:p>
            <a:r>
              <a:rPr lang="en-US" altLang="zh-CN" dirty="0">
                <a:ea typeface="宋体" charset="-122"/>
              </a:rPr>
              <a:t>Unsupported: System Calls</a:t>
            </a:r>
          </a:p>
        </p:txBody>
      </p:sp>
      <p:sp>
        <p:nvSpPr>
          <p:cNvPr id="45058" name="Rectangle 3"/>
          <p:cNvSpPr>
            <a:spLocks noGrp="1"/>
          </p:cNvSpPr>
          <p:nvPr>
            <p:ph idx="1"/>
          </p:nvPr>
        </p:nvSpPr>
        <p:spPr/>
        <p:txBody>
          <a:bodyPr>
            <a:normAutofit/>
          </a:bodyPr>
          <a:lstStyle/>
          <a:p>
            <a:r>
              <a:rPr lang="en-US" altLang="zh-CN" dirty="0">
                <a:ea typeface="宋体" charset="-122"/>
              </a:rPr>
              <a:t>System calls</a:t>
            </a:r>
          </a:p>
          <a:p>
            <a:pPr lvl="1"/>
            <a:r>
              <a:rPr lang="en-US" altLang="zh-CN" dirty="0">
                <a:ea typeface="宋体" charset="-122"/>
              </a:rPr>
              <a:t>Most of C system calls do not have hardware counterparts and are not synthesizable</a:t>
            </a:r>
          </a:p>
          <a:p>
            <a:pPr lvl="2"/>
            <a:r>
              <a:rPr lang="en-US" altLang="zh-CN" dirty="0">
                <a:ea typeface="宋体" charset="-122"/>
              </a:rPr>
              <a:t>printf(), getc(), time(), </a:t>
            </a:r>
            <a:r>
              <a:rPr lang="en-US" altLang="zh-CN" dirty="0">
                <a:latin typeface="Arial Narrow" pitchFamily="34" charset="0"/>
                <a:ea typeface="宋体" charset="-122"/>
              </a:rPr>
              <a:t>…   </a:t>
            </a:r>
          </a:p>
          <a:p>
            <a:pPr lvl="1"/>
            <a:r>
              <a:rPr lang="en-US" altLang="zh-CN" dirty="0" err="1">
                <a:ea typeface="宋体" charset="-122"/>
              </a:rPr>
              <a:t>Vitis</a:t>
            </a:r>
            <a:r>
              <a:rPr lang="en-US" altLang="zh-CN" dirty="0">
                <a:ea typeface="宋体" charset="-122"/>
              </a:rPr>
              <a:t> HLS will ignore system calls</a:t>
            </a:r>
          </a:p>
          <a:p>
            <a:pPr lvl="2"/>
            <a:r>
              <a:rPr lang="en-US" altLang="zh-CN" dirty="0">
                <a:ea typeface="宋体" charset="-122"/>
              </a:rPr>
              <a:t>They can also be removed by the __SYNTHESIS__ macro</a:t>
            </a:r>
          </a:p>
          <a:p>
            <a:pPr lvl="1"/>
            <a:r>
              <a:rPr lang="en-US" altLang="zh-CN" dirty="0">
                <a:ea typeface="宋体" charset="-122"/>
              </a:rPr>
              <a:t>Good Practice: </a:t>
            </a:r>
          </a:p>
          <a:p>
            <a:pPr lvl="2"/>
            <a:r>
              <a:rPr lang="en-US" altLang="zh-CN" dirty="0">
                <a:ea typeface="宋体" charset="-122"/>
              </a:rPr>
              <a:t>Use </a:t>
            </a:r>
            <a:r>
              <a:rPr lang="en-US" altLang="zh-CN" dirty="0">
                <a:latin typeface="Arial Narrow" pitchFamily="34" charset="0"/>
                <a:ea typeface="宋体" charset="-122"/>
              </a:rPr>
              <a:t>Macro “</a:t>
            </a:r>
            <a:r>
              <a:rPr lang="en-US" altLang="zh-CN" dirty="0">
                <a:ea typeface="宋体" charset="-122"/>
              </a:rPr>
              <a:t>__SYNTHESIS__</a:t>
            </a:r>
            <a:r>
              <a:rPr lang="en-US" altLang="zh-CN" dirty="0">
                <a:latin typeface="Arial Narrow" pitchFamily="34" charset="0"/>
                <a:ea typeface="宋体" charset="-122"/>
              </a:rPr>
              <a:t>”</a:t>
            </a:r>
            <a:r>
              <a:rPr lang="en-US" altLang="zh-CN" dirty="0">
                <a:ea typeface="宋体" charset="-122"/>
              </a:rPr>
              <a:t> to remove code segment involving system calls from synthesis</a:t>
            </a:r>
          </a:p>
          <a:p>
            <a:pPr lvl="2"/>
            <a:r>
              <a:rPr lang="en-US" altLang="zh-CN" dirty="0">
                <a:ea typeface="宋体" charset="-122"/>
              </a:rPr>
              <a:t>Macro “__SYNTHESIS__” is automatically defined by the </a:t>
            </a:r>
            <a:r>
              <a:rPr lang="en-US" altLang="zh-CN" dirty="0" err="1">
                <a:ea typeface="宋体" charset="-122"/>
              </a:rPr>
              <a:t>Vivado</a:t>
            </a:r>
            <a:r>
              <a:rPr lang="en-US" altLang="zh-CN" dirty="0">
                <a:ea typeface="宋体" charset="-122"/>
              </a:rPr>
              <a:t> HLS during elaboration</a:t>
            </a: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buNone/>
            </a:pPr>
            <a:endParaRPr lang="en-US" altLang="zh-CN" dirty="0">
              <a:ea typeface="宋体" charset="-122"/>
            </a:endParaRPr>
          </a:p>
        </p:txBody>
      </p:sp>
      <p:sp>
        <p:nvSpPr>
          <p:cNvPr id="10" name="TextBox 9">
            <a:extLst>
              <a:ext uri="{FF2B5EF4-FFF2-40B4-BE49-F238E27FC236}">
                <a16:creationId xmlns:a16="http://schemas.microsoft.com/office/drawing/2014/main" id="{B62B8496-9D04-4D8E-82FE-296E72B9A1D3}"/>
              </a:ext>
            </a:extLst>
          </p:cNvPr>
          <p:cNvSpPr txBox="1"/>
          <p:nvPr/>
        </p:nvSpPr>
        <p:spPr>
          <a:xfrm>
            <a:off x="5174520" y="4465935"/>
            <a:ext cx="3993080" cy="178510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void foo (…]) {</a:t>
            </a:r>
          </a:p>
          <a:p>
            <a:pPr defTabSz="914400" fontAlgn="base">
              <a:spcBef>
                <a:spcPct val="50000"/>
              </a:spcBef>
              <a:spcAft>
                <a:spcPct val="0"/>
              </a:spcAft>
              <a:defRPr/>
            </a:pPr>
            <a:r>
              <a:rPr lang="en-US" altLang="zh-CN" sz="1000" kern="0" dirty="0">
                <a:solidFill>
                  <a:srgbClr val="000000"/>
                </a:solidFill>
                <a:latin typeface="Arial"/>
                <a:ea typeface="宋体" charset="-122"/>
              </a:rPr>
              <a:t>   ...</a:t>
            </a:r>
          </a:p>
          <a:p>
            <a:pPr defTabSz="914400" fontAlgn="base">
              <a:spcBef>
                <a:spcPct val="50000"/>
              </a:spcBef>
              <a:spcAft>
                <a:spcPct val="0"/>
              </a:spcAft>
              <a:defRPr/>
            </a:pPr>
            <a:r>
              <a:rPr lang="en-US" altLang="zh-CN" sz="1000" b="1" kern="0" dirty="0">
                <a:solidFill>
                  <a:srgbClr val="000000"/>
                </a:solidFill>
                <a:latin typeface="Arial"/>
                <a:ea typeface="宋体" charset="-122"/>
              </a:rPr>
              <a:t>#ifndef __SYNTHESIS__ </a:t>
            </a:r>
          </a:p>
          <a:p>
            <a:pPr defTabSz="914400" fontAlgn="base">
              <a:spcBef>
                <a:spcPct val="50000"/>
              </a:spcBef>
              <a:spcAft>
                <a:spcPct val="0"/>
              </a:spcAft>
              <a:defRPr/>
            </a:pPr>
            <a:r>
              <a:rPr lang="en-US" altLang="zh-CN" sz="1000" b="1" kern="0" dirty="0">
                <a:solidFill>
                  <a:srgbClr val="000000"/>
                </a:solidFill>
                <a:latin typeface="Arial"/>
                <a:ea typeface="宋体" charset="-122"/>
              </a:rPr>
              <a:t>  Code will  be seen by simulation.</a:t>
            </a:r>
          </a:p>
          <a:p>
            <a:pPr defTabSz="914400" fontAlgn="base">
              <a:spcBef>
                <a:spcPct val="50000"/>
              </a:spcBef>
              <a:spcAft>
                <a:spcPct val="0"/>
              </a:spcAft>
              <a:defRPr/>
            </a:pPr>
            <a:r>
              <a:rPr lang="en-US" altLang="zh-CN" sz="1000" b="1" kern="0" dirty="0">
                <a:solidFill>
                  <a:srgbClr val="000000"/>
                </a:solidFill>
                <a:latin typeface="Arial"/>
                <a:ea typeface="宋体" charset="-122"/>
              </a:rPr>
              <a:t>  But not synthesis.</a:t>
            </a:r>
          </a:p>
          <a:p>
            <a:pPr defTabSz="914400" fontAlgn="base">
              <a:spcBef>
                <a:spcPct val="50000"/>
              </a:spcBef>
              <a:spcAft>
                <a:spcPct val="0"/>
              </a:spcAft>
              <a:defRPr/>
            </a:pPr>
            <a:r>
              <a:rPr lang="en-US" altLang="zh-CN" sz="1000" b="1" kern="0" dirty="0">
                <a:solidFill>
                  <a:srgbClr val="000000"/>
                </a:solidFill>
                <a:latin typeface="Arial"/>
                <a:ea typeface="宋体" charset="-122"/>
              </a:rPr>
              <a:t>#endif</a:t>
            </a:r>
          </a:p>
          <a:p>
            <a:pPr defTabSz="914400" fontAlgn="base">
              <a:spcBef>
                <a:spcPct val="50000"/>
              </a:spcBef>
              <a:spcAft>
                <a:spcPct val="0"/>
              </a:spcAft>
              <a:defRPr/>
            </a:pPr>
            <a:r>
              <a:rPr lang="en-US" altLang="zh-CN" sz="1000" kern="0" dirty="0">
                <a:solidFill>
                  <a:srgbClr val="000000"/>
                </a:solidFill>
                <a:latin typeface="Arial"/>
                <a:ea typeface="宋体" charset="-122"/>
              </a:rPr>
              <a:t>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p:txBody>
      </p:sp>
      <p:cxnSp>
        <p:nvCxnSpPr>
          <p:cNvPr id="12" name="Straight Arrow Connector 11">
            <a:extLst>
              <a:ext uri="{FF2B5EF4-FFF2-40B4-BE49-F238E27FC236}">
                <a16:creationId xmlns:a16="http://schemas.microsoft.com/office/drawing/2014/main" id="{33D1DC4D-248B-4E05-95EC-FD75E4C5F2FF}"/>
              </a:ext>
            </a:extLst>
          </p:cNvPr>
          <p:cNvCxnSpPr/>
          <p:nvPr/>
        </p:nvCxnSpPr>
        <p:spPr>
          <a:xfrm rot="5400000">
            <a:off x="4785157" y="5347465"/>
            <a:ext cx="576075" cy="2117"/>
          </a:xfrm>
          <a:prstGeom prst="straightConnector1">
            <a:avLst/>
          </a:prstGeom>
          <a:noFill/>
          <a:ln w="38100" cap="flat" cmpd="sng" algn="ctr">
            <a:solidFill>
              <a:srgbClr val="000000"/>
            </a:solidFill>
            <a:prstDash val="solid"/>
            <a:headEnd type="triangle" w="med" len="med"/>
            <a:tailEnd type="triangle" w="med" len="med"/>
          </a:ln>
          <a:effectLst>
            <a:outerShdw blurRad="40000" dist="20000" dir="5400000" rotWithShape="0">
              <a:srgbClr val="000000">
                <a:alpha val="38000"/>
              </a:srgbClr>
            </a:outerShdw>
          </a:effectLst>
        </p:spPr>
      </p:cxnSp>
      <p:sp>
        <p:nvSpPr>
          <p:cNvPr id="13" name="TextBox 12">
            <a:extLst>
              <a:ext uri="{FF2B5EF4-FFF2-40B4-BE49-F238E27FC236}">
                <a16:creationId xmlns:a16="http://schemas.microsoft.com/office/drawing/2014/main" id="{9F9DD75A-1DF0-4DF3-84ED-685303DC0325}"/>
              </a:ext>
            </a:extLst>
          </p:cNvPr>
          <p:cNvSpPr txBox="1"/>
          <p:nvPr/>
        </p:nvSpPr>
        <p:spPr>
          <a:xfrm>
            <a:off x="2205309" y="5137296"/>
            <a:ext cx="2764439" cy="430887"/>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rPr>
              <a:t>Only read this code if macro __SYNTHESIS__ is </a:t>
            </a:r>
            <a:r>
              <a:rPr lang="en-US" sz="1100" b="1" u="sng" kern="0" dirty="0">
                <a:solidFill>
                  <a:srgbClr val="000000"/>
                </a:solidFill>
              </a:rPr>
              <a:t>not</a:t>
            </a:r>
            <a:r>
              <a:rPr lang="en-US" sz="1100" b="1" kern="0" dirty="0">
                <a:solidFill>
                  <a:srgbClr val="000000"/>
                </a:solidFill>
              </a:rPr>
              <a:t> set</a:t>
            </a:r>
          </a:p>
        </p:txBody>
      </p:sp>
      <p:sp>
        <p:nvSpPr>
          <p:cNvPr id="8" name="Slide Number Placeholder 5">
            <a:extLst>
              <a:ext uri="{FF2B5EF4-FFF2-40B4-BE49-F238E27FC236}">
                <a16:creationId xmlns:a16="http://schemas.microsoft.com/office/drawing/2014/main" id="{20313A52-0D70-4C93-9F3D-841ACAD73223}"/>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23</a:t>
            </a:fld>
            <a:endParaRPr lang="en-US" dirty="0"/>
          </a:p>
        </p:txBody>
      </p:sp>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5057" name="Rectangle 2"/>
          <p:cNvSpPr>
            <a:spLocks noGrp="1"/>
          </p:cNvSpPr>
          <p:nvPr>
            <p:ph type="title"/>
          </p:nvPr>
        </p:nvSpPr>
        <p:spPr/>
        <p:txBody>
          <a:bodyPr/>
          <a:lstStyle/>
          <a:p>
            <a:r>
              <a:rPr lang="en-US" altLang="zh-CN" dirty="0">
                <a:ea typeface="宋体" charset="-122"/>
              </a:rPr>
              <a:t>Unsupported: System Calls</a:t>
            </a:r>
          </a:p>
        </p:txBody>
      </p:sp>
      <p:sp>
        <p:nvSpPr>
          <p:cNvPr id="45058" name="Rectangle 3"/>
          <p:cNvSpPr>
            <a:spLocks noGrp="1"/>
          </p:cNvSpPr>
          <p:nvPr>
            <p:ph idx="1"/>
          </p:nvPr>
        </p:nvSpPr>
        <p:spPr/>
        <p:txBody>
          <a:bodyPr>
            <a:normAutofit/>
          </a:bodyPr>
          <a:lstStyle/>
          <a:p>
            <a:r>
              <a:rPr lang="en-US" altLang="zh-CN" dirty="0">
                <a:ea typeface="宋体" charset="-122"/>
              </a:rPr>
              <a:t>System calls</a:t>
            </a:r>
          </a:p>
          <a:p>
            <a:pPr lvl="1"/>
            <a:r>
              <a:rPr lang="en-US" altLang="zh-CN" dirty="0">
                <a:ea typeface="宋体" charset="-122"/>
              </a:rPr>
              <a:t>Most of C system calls do not have hardware counterparts and are not synthesizable</a:t>
            </a:r>
          </a:p>
          <a:p>
            <a:pPr lvl="2"/>
            <a:r>
              <a:rPr lang="en-US" altLang="zh-CN" dirty="0">
                <a:ea typeface="宋体" charset="-122"/>
              </a:rPr>
              <a:t>printf(), getc(), time(), </a:t>
            </a:r>
            <a:r>
              <a:rPr lang="en-US" altLang="zh-CN" dirty="0">
                <a:latin typeface="Arial Narrow" pitchFamily="34" charset="0"/>
                <a:ea typeface="宋体" charset="-122"/>
              </a:rPr>
              <a:t>…   </a:t>
            </a:r>
          </a:p>
          <a:p>
            <a:pPr lvl="1"/>
            <a:r>
              <a:rPr lang="en-US" altLang="zh-CN" dirty="0" err="1">
                <a:highlight>
                  <a:srgbClr val="FFFF00"/>
                </a:highlight>
                <a:ea typeface="宋体" charset="-122"/>
              </a:rPr>
              <a:t>Vitis</a:t>
            </a:r>
            <a:r>
              <a:rPr lang="en-US" altLang="zh-CN" dirty="0">
                <a:ea typeface="宋体" charset="-122"/>
              </a:rPr>
              <a:t> HLS will ignore system calls</a:t>
            </a:r>
          </a:p>
          <a:p>
            <a:pPr lvl="2"/>
            <a:r>
              <a:rPr lang="en-US" altLang="zh-CN" dirty="0">
                <a:ea typeface="宋体" charset="-122"/>
              </a:rPr>
              <a:t>They can also be removed by the __SYNTHESIS__ macro</a:t>
            </a:r>
          </a:p>
          <a:p>
            <a:pPr lvl="1"/>
            <a:r>
              <a:rPr lang="en-US" altLang="zh-CN" dirty="0">
                <a:ea typeface="宋体" charset="-122"/>
              </a:rPr>
              <a:t>Good Practice: </a:t>
            </a:r>
          </a:p>
          <a:p>
            <a:pPr lvl="2"/>
            <a:r>
              <a:rPr lang="en-US" altLang="zh-CN" dirty="0">
                <a:ea typeface="宋体" charset="-122"/>
              </a:rPr>
              <a:t>Use </a:t>
            </a:r>
            <a:r>
              <a:rPr lang="en-US" altLang="zh-CN" dirty="0">
                <a:latin typeface="Arial Narrow" pitchFamily="34" charset="0"/>
                <a:ea typeface="宋体" charset="-122"/>
              </a:rPr>
              <a:t>Macro “</a:t>
            </a:r>
            <a:r>
              <a:rPr lang="en-US" altLang="zh-CN" dirty="0">
                <a:ea typeface="宋体" charset="-122"/>
              </a:rPr>
              <a:t>__SYNTHESIS__</a:t>
            </a:r>
            <a:r>
              <a:rPr lang="en-US" altLang="zh-CN" dirty="0">
                <a:latin typeface="Arial Narrow" pitchFamily="34" charset="0"/>
                <a:ea typeface="宋体" charset="-122"/>
              </a:rPr>
              <a:t>”</a:t>
            </a:r>
            <a:r>
              <a:rPr lang="en-US" altLang="zh-CN" dirty="0">
                <a:ea typeface="宋体" charset="-122"/>
              </a:rPr>
              <a:t> to remove code segment involving system calls from synthesis</a:t>
            </a:r>
          </a:p>
          <a:p>
            <a:pPr lvl="2"/>
            <a:r>
              <a:rPr lang="en-US" altLang="zh-CN" dirty="0">
                <a:ea typeface="宋体" charset="-122"/>
              </a:rPr>
              <a:t>Macro “__SYNTHESIS__” is automatically defined by the </a:t>
            </a:r>
            <a:r>
              <a:rPr lang="en-US" altLang="zh-CN" dirty="0" err="1">
                <a:ea typeface="宋体" charset="-122"/>
              </a:rPr>
              <a:t>Vivado</a:t>
            </a:r>
            <a:r>
              <a:rPr lang="en-US" altLang="zh-CN" dirty="0">
                <a:ea typeface="宋体" charset="-122"/>
              </a:rPr>
              <a:t> HLS during elaboration</a:t>
            </a: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buNone/>
            </a:pPr>
            <a:endParaRPr lang="en-US" altLang="zh-CN" dirty="0">
              <a:ea typeface="宋体" charset="-122"/>
            </a:endParaRPr>
          </a:p>
        </p:txBody>
      </p:sp>
      <p:sp>
        <p:nvSpPr>
          <p:cNvPr id="11" name="Slide Number Placeholder 10"/>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24</a:t>
            </a:fld>
            <a:endParaRPr lang="en-US" dirty="0">
              <a:solidFill>
                <a:srgbClr val="0C0C0C">
                  <a:tint val="75000"/>
                </a:srgbClr>
              </a:solidFill>
              <a:latin typeface="Arial"/>
            </a:endParaRPr>
          </a:p>
        </p:txBody>
      </p:sp>
      <p:sp>
        <p:nvSpPr>
          <p:cNvPr id="10" name="TextBox 9">
            <a:extLst>
              <a:ext uri="{FF2B5EF4-FFF2-40B4-BE49-F238E27FC236}">
                <a16:creationId xmlns:a16="http://schemas.microsoft.com/office/drawing/2014/main" id="{B62B8496-9D04-4D8E-82FE-296E72B9A1D3}"/>
              </a:ext>
            </a:extLst>
          </p:cNvPr>
          <p:cNvSpPr txBox="1"/>
          <p:nvPr/>
        </p:nvSpPr>
        <p:spPr>
          <a:xfrm>
            <a:off x="5174520" y="4465935"/>
            <a:ext cx="3993080" cy="178510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void foo (…]) {</a:t>
            </a:r>
          </a:p>
          <a:p>
            <a:pPr defTabSz="914400" fontAlgn="base">
              <a:spcBef>
                <a:spcPct val="50000"/>
              </a:spcBef>
              <a:spcAft>
                <a:spcPct val="0"/>
              </a:spcAft>
              <a:defRPr/>
            </a:pPr>
            <a:r>
              <a:rPr lang="en-US" altLang="zh-CN" sz="1000" kern="0" dirty="0">
                <a:solidFill>
                  <a:srgbClr val="000000"/>
                </a:solidFill>
                <a:latin typeface="Arial"/>
                <a:ea typeface="宋体" charset="-122"/>
              </a:rPr>
              <a:t>   ...</a:t>
            </a:r>
          </a:p>
          <a:p>
            <a:pPr defTabSz="914400" fontAlgn="base">
              <a:spcBef>
                <a:spcPct val="50000"/>
              </a:spcBef>
              <a:spcAft>
                <a:spcPct val="0"/>
              </a:spcAft>
              <a:defRPr/>
            </a:pPr>
            <a:r>
              <a:rPr lang="en-US" altLang="zh-CN" sz="1000" b="1" kern="0" dirty="0">
                <a:solidFill>
                  <a:srgbClr val="000000"/>
                </a:solidFill>
                <a:latin typeface="Arial"/>
                <a:ea typeface="宋体" charset="-122"/>
              </a:rPr>
              <a:t>#ifndef __SYNTHESIS__ </a:t>
            </a:r>
          </a:p>
          <a:p>
            <a:pPr defTabSz="914400" fontAlgn="base">
              <a:spcBef>
                <a:spcPct val="50000"/>
              </a:spcBef>
              <a:spcAft>
                <a:spcPct val="0"/>
              </a:spcAft>
              <a:defRPr/>
            </a:pPr>
            <a:r>
              <a:rPr lang="en-US" altLang="zh-CN" sz="1000" b="1" kern="0" dirty="0">
                <a:solidFill>
                  <a:srgbClr val="000000"/>
                </a:solidFill>
                <a:latin typeface="Arial"/>
                <a:ea typeface="宋体" charset="-122"/>
              </a:rPr>
              <a:t>  Code will  be seen by simulation.</a:t>
            </a:r>
          </a:p>
          <a:p>
            <a:pPr defTabSz="914400" fontAlgn="base">
              <a:spcBef>
                <a:spcPct val="50000"/>
              </a:spcBef>
              <a:spcAft>
                <a:spcPct val="0"/>
              </a:spcAft>
              <a:defRPr/>
            </a:pPr>
            <a:r>
              <a:rPr lang="en-US" altLang="zh-CN" sz="1000" b="1" kern="0" dirty="0">
                <a:solidFill>
                  <a:srgbClr val="000000"/>
                </a:solidFill>
                <a:latin typeface="Arial"/>
                <a:ea typeface="宋体" charset="-122"/>
              </a:rPr>
              <a:t>  But not synthesis.</a:t>
            </a:r>
          </a:p>
          <a:p>
            <a:pPr defTabSz="914400" fontAlgn="base">
              <a:spcBef>
                <a:spcPct val="50000"/>
              </a:spcBef>
              <a:spcAft>
                <a:spcPct val="0"/>
              </a:spcAft>
              <a:defRPr/>
            </a:pPr>
            <a:r>
              <a:rPr lang="en-US" altLang="zh-CN" sz="1000" b="1" kern="0" dirty="0">
                <a:solidFill>
                  <a:srgbClr val="000000"/>
                </a:solidFill>
                <a:latin typeface="Arial"/>
                <a:ea typeface="宋体" charset="-122"/>
              </a:rPr>
              <a:t>#endif</a:t>
            </a:r>
          </a:p>
          <a:p>
            <a:pPr defTabSz="914400" fontAlgn="base">
              <a:spcBef>
                <a:spcPct val="50000"/>
              </a:spcBef>
              <a:spcAft>
                <a:spcPct val="0"/>
              </a:spcAft>
              <a:defRPr/>
            </a:pPr>
            <a:r>
              <a:rPr lang="en-US" altLang="zh-CN" sz="1000" kern="0" dirty="0">
                <a:solidFill>
                  <a:srgbClr val="000000"/>
                </a:solidFill>
                <a:latin typeface="Arial"/>
                <a:ea typeface="宋体" charset="-122"/>
              </a:rPr>
              <a:t>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p:txBody>
      </p:sp>
      <p:cxnSp>
        <p:nvCxnSpPr>
          <p:cNvPr id="12" name="Straight Arrow Connector 11">
            <a:extLst>
              <a:ext uri="{FF2B5EF4-FFF2-40B4-BE49-F238E27FC236}">
                <a16:creationId xmlns:a16="http://schemas.microsoft.com/office/drawing/2014/main" id="{33D1DC4D-248B-4E05-95EC-FD75E4C5F2FF}"/>
              </a:ext>
            </a:extLst>
          </p:cNvPr>
          <p:cNvCxnSpPr/>
          <p:nvPr/>
        </p:nvCxnSpPr>
        <p:spPr>
          <a:xfrm rot="5400000">
            <a:off x="4785157" y="5347465"/>
            <a:ext cx="576075" cy="2117"/>
          </a:xfrm>
          <a:prstGeom prst="straightConnector1">
            <a:avLst/>
          </a:prstGeom>
          <a:noFill/>
          <a:ln w="38100" cap="flat" cmpd="sng" algn="ctr">
            <a:solidFill>
              <a:srgbClr val="000000"/>
            </a:solidFill>
            <a:prstDash val="solid"/>
            <a:headEnd type="triangle" w="med" len="med"/>
            <a:tailEnd type="triangle" w="med" len="med"/>
          </a:ln>
          <a:effectLst>
            <a:outerShdw blurRad="40000" dist="20000" dir="5400000" rotWithShape="0">
              <a:srgbClr val="000000">
                <a:alpha val="38000"/>
              </a:srgbClr>
            </a:outerShdw>
          </a:effectLst>
        </p:spPr>
      </p:cxnSp>
      <p:sp>
        <p:nvSpPr>
          <p:cNvPr id="13" name="TextBox 12">
            <a:extLst>
              <a:ext uri="{FF2B5EF4-FFF2-40B4-BE49-F238E27FC236}">
                <a16:creationId xmlns:a16="http://schemas.microsoft.com/office/drawing/2014/main" id="{9F9DD75A-1DF0-4DF3-84ED-685303DC0325}"/>
              </a:ext>
            </a:extLst>
          </p:cNvPr>
          <p:cNvSpPr txBox="1"/>
          <p:nvPr/>
        </p:nvSpPr>
        <p:spPr>
          <a:xfrm>
            <a:off x="2205309" y="5137296"/>
            <a:ext cx="2764439" cy="430887"/>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100" b="1" kern="0" dirty="0">
                <a:solidFill>
                  <a:srgbClr val="000000"/>
                </a:solidFill>
                <a:latin typeface="Arial"/>
              </a:rPr>
              <a:t>Only read this code if macro __SYNTHESIS__ is </a:t>
            </a:r>
            <a:r>
              <a:rPr lang="en-US" sz="1100" b="1" u="sng" kern="0" dirty="0">
                <a:solidFill>
                  <a:srgbClr val="000000"/>
                </a:solidFill>
                <a:latin typeface="Arial"/>
              </a:rPr>
              <a:t>not</a:t>
            </a:r>
            <a:r>
              <a:rPr lang="en-US" sz="1100" b="1" kern="0" dirty="0">
                <a:solidFill>
                  <a:srgbClr val="000000"/>
                </a:solidFill>
                <a:latin typeface="Arial"/>
              </a:rPr>
              <a:t> set</a:t>
            </a: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2"/>
          <p:cNvSpPr>
            <a:spLocks noGrp="1"/>
          </p:cNvSpPr>
          <p:nvPr>
            <p:ph type="title"/>
          </p:nvPr>
        </p:nvSpPr>
        <p:spPr/>
        <p:txBody>
          <a:bodyPr/>
          <a:lstStyle/>
          <a:p>
            <a:r>
              <a:rPr lang="en-US" altLang="zh-CN" dirty="0">
                <a:ea typeface="宋体" charset="-122"/>
              </a:rPr>
              <a:t>Unsupported: General Pointer Casting </a:t>
            </a:r>
          </a:p>
        </p:txBody>
      </p:sp>
      <p:sp>
        <p:nvSpPr>
          <p:cNvPr id="40962" name="Rectangle 3"/>
          <p:cNvSpPr>
            <a:spLocks noGrp="1"/>
          </p:cNvSpPr>
          <p:nvPr>
            <p:ph idx="1"/>
          </p:nvPr>
        </p:nvSpPr>
        <p:spPr/>
        <p:txBody>
          <a:bodyPr/>
          <a:lstStyle/>
          <a:p>
            <a:r>
              <a:rPr lang="en-US" altLang="zh-CN" dirty="0">
                <a:ea typeface="宋体" charset="-122"/>
              </a:rPr>
              <a:t>Pointer reinterpretation</a:t>
            </a:r>
          </a:p>
          <a:p>
            <a:pPr lvl="1"/>
            <a:r>
              <a:rPr lang="en-US" altLang="zh-CN" dirty="0">
                <a:ea typeface="宋体" charset="-122"/>
              </a:rPr>
              <a:t>Casting a pointer to a different type is </a:t>
            </a:r>
            <a:br>
              <a:rPr lang="en-US" altLang="zh-CN" dirty="0">
                <a:ea typeface="宋体" charset="-122"/>
              </a:rPr>
            </a:br>
            <a:r>
              <a:rPr lang="en-US" altLang="zh-CN" dirty="0">
                <a:ea typeface="宋体" charset="-122"/>
              </a:rPr>
              <a:t>not allowed in the general case</a:t>
            </a:r>
          </a:p>
          <a:p>
            <a:pPr lvl="1"/>
            <a:endParaRPr lang="en-US" altLang="zh-CN" dirty="0">
              <a:ea typeface="宋体" charset="-122"/>
            </a:endParaRPr>
          </a:p>
          <a:p>
            <a:pPr lvl="1"/>
            <a:endParaRPr lang="en-US" altLang="zh-CN" dirty="0">
              <a:ea typeface="宋体" charset="-122"/>
            </a:endParaRPr>
          </a:p>
          <a:p>
            <a:pPr lvl="1">
              <a:buNone/>
            </a:pPr>
            <a:endParaRPr lang="en-US" altLang="zh-CN" dirty="0">
              <a:ea typeface="宋体" charset="-122"/>
            </a:endParaRPr>
          </a:p>
          <a:p>
            <a:r>
              <a:rPr lang="en-US" altLang="zh-CN" dirty="0">
                <a:ea typeface="宋体" charset="-122"/>
              </a:rPr>
              <a:t>Pointer casting </a:t>
            </a:r>
            <a:r>
              <a:rPr lang="en-US" altLang="zh-CN" u="sng" dirty="0">
                <a:ea typeface="宋体" charset="-122"/>
              </a:rPr>
              <a:t>is allowed </a:t>
            </a:r>
            <a:r>
              <a:rPr lang="en-US" altLang="zh-CN" dirty="0">
                <a:ea typeface="宋体" charset="-122"/>
              </a:rPr>
              <a:t>between native C integer types</a:t>
            </a:r>
          </a:p>
          <a:p>
            <a:pPr lvl="1"/>
            <a:endParaRPr lang="en-US" altLang="zh-CN" dirty="0">
              <a:ea typeface="宋体" charset="-122"/>
            </a:endParaRPr>
          </a:p>
          <a:p>
            <a:pPr lvl="1"/>
            <a:endParaRPr lang="en-US" altLang="zh-CN" dirty="0">
              <a:ea typeface="宋体" charset="-122"/>
            </a:endParaRPr>
          </a:p>
        </p:txBody>
      </p:sp>
      <p:sp>
        <p:nvSpPr>
          <p:cNvPr id="10" name="Rectangle 3"/>
          <p:cNvSpPr txBox="1">
            <a:spLocks/>
          </p:cNvSpPr>
          <p:nvPr/>
        </p:nvSpPr>
        <p:spPr bwMode="auto">
          <a:xfrm>
            <a:off x="6147196" y="1672022"/>
            <a:ext cx="5733653" cy="272675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p>
            <a:pPr marL="742950" lvl="1" indent="-285750" defTabSz="457200" fontAlgn="base">
              <a:spcBef>
                <a:spcPct val="20000"/>
              </a:spcBef>
              <a:spcAft>
                <a:spcPct val="0"/>
              </a:spcAft>
              <a:buFont typeface="Arial" charset="0"/>
              <a:buChar char="–"/>
              <a:defRPr/>
            </a:pPr>
            <a:endParaRPr lang="en-US" altLang="zh-CN" dirty="0">
              <a:ea typeface="宋体" charset="-122"/>
            </a:endParaRPr>
          </a:p>
          <a:p>
            <a:pPr marL="742950" lvl="1" indent="-285750" defTabSz="457200" fontAlgn="base">
              <a:spcBef>
                <a:spcPct val="20000"/>
              </a:spcBef>
              <a:spcAft>
                <a:spcPct val="0"/>
              </a:spcAft>
              <a:buFont typeface="Arial" charset="0"/>
              <a:buChar char="–"/>
              <a:defRPr/>
            </a:pPr>
            <a:r>
              <a:rPr lang="en-US" altLang="zh-CN" dirty="0">
                <a:ea typeface="宋体" charset="-122"/>
              </a:rPr>
              <a:t>Solution: assign values using the original type</a:t>
            </a:r>
          </a:p>
          <a:p>
            <a:pPr marL="742950" lvl="1" indent="-285750" defTabSz="457200" fontAlgn="base">
              <a:spcBef>
                <a:spcPct val="20000"/>
              </a:spcBef>
              <a:spcAft>
                <a:spcPct val="0"/>
              </a:spcAft>
              <a:buFont typeface="Arial" charset="0"/>
              <a:buChar char="–"/>
              <a:defRPr/>
            </a:pPr>
            <a:endParaRPr lang="en-US" altLang="zh-CN" dirty="0">
              <a:ea typeface="宋体" charset="-122"/>
            </a:endParaRPr>
          </a:p>
          <a:p>
            <a:pPr marL="742950" lvl="1" indent="-285750" defTabSz="457200" fontAlgn="base">
              <a:spcBef>
                <a:spcPct val="20000"/>
              </a:spcBef>
              <a:spcAft>
                <a:spcPct val="0"/>
              </a:spcAft>
              <a:buFont typeface="Arial" charset="0"/>
              <a:buChar char="–"/>
              <a:defRPr/>
            </a:pPr>
            <a:endParaRPr lang="en-US" altLang="zh-CN" dirty="0">
              <a:ea typeface="宋体" charset="-122"/>
            </a:endParaRPr>
          </a:p>
          <a:p>
            <a:pPr marL="742950" lvl="1" indent="-285750" defTabSz="457200" fontAlgn="base">
              <a:spcBef>
                <a:spcPct val="20000"/>
              </a:spcBef>
              <a:spcAft>
                <a:spcPct val="0"/>
              </a:spcAft>
              <a:buFont typeface="Arial" charset="0"/>
              <a:buChar char="–"/>
              <a:defRPr/>
            </a:pPr>
            <a:endParaRPr lang="en-US" altLang="zh-CN" dirty="0">
              <a:ea typeface="宋体" charset="-122"/>
            </a:endParaRPr>
          </a:p>
          <a:p>
            <a:pPr marL="742950" lvl="1" indent="-285750" defTabSz="457200" fontAlgn="base">
              <a:spcBef>
                <a:spcPct val="20000"/>
              </a:spcBef>
              <a:spcAft>
                <a:spcPct val="0"/>
              </a:spcAft>
              <a:buFont typeface="Arial" charset="0"/>
              <a:buChar char="–"/>
              <a:defRPr/>
            </a:pPr>
            <a:endParaRPr lang="en-US" altLang="zh-CN" dirty="0">
              <a:ea typeface="宋体" charset="-122"/>
            </a:endParaRPr>
          </a:p>
          <a:p>
            <a:pPr marL="742950" lvl="1" indent="-285750" defTabSz="457200" fontAlgn="base">
              <a:spcBef>
                <a:spcPct val="20000"/>
              </a:spcBef>
              <a:spcAft>
                <a:spcPct val="0"/>
              </a:spcAft>
              <a:buFont typeface="Arial" charset="0"/>
              <a:buChar char="–"/>
              <a:defRPr/>
            </a:pPr>
            <a:endParaRPr lang="en-US" altLang="zh-CN" dirty="0">
              <a:ea typeface="宋体" charset="-122"/>
            </a:endParaRPr>
          </a:p>
          <a:p>
            <a:pPr marL="742950" lvl="1" indent="-285750" defTabSz="457200" fontAlgn="base">
              <a:spcBef>
                <a:spcPct val="20000"/>
              </a:spcBef>
              <a:spcAft>
                <a:spcPct val="0"/>
              </a:spcAft>
              <a:buFont typeface="Arial" charset="0"/>
              <a:buChar char="–"/>
              <a:defRPr/>
            </a:pPr>
            <a:endParaRPr lang="en-US" altLang="zh-CN" dirty="0">
              <a:ea typeface="宋体" charset="-122"/>
            </a:endParaRPr>
          </a:p>
        </p:txBody>
      </p:sp>
      <p:sp>
        <p:nvSpPr>
          <p:cNvPr id="12" name="TextBox 11">
            <a:extLst>
              <a:ext uri="{FF2B5EF4-FFF2-40B4-BE49-F238E27FC236}">
                <a16:creationId xmlns:a16="http://schemas.microsoft.com/office/drawing/2014/main" id="{C9C6D5F8-7CC8-4F08-B3D5-447BC51CD4ED}"/>
              </a:ext>
            </a:extLst>
          </p:cNvPr>
          <p:cNvSpPr txBox="1"/>
          <p:nvPr/>
        </p:nvSpPr>
        <p:spPr>
          <a:xfrm>
            <a:off x="2346472" y="2708571"/>
            <a:ext cx="2201313" cy="114262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50" kern="0" dirty="0">
                <a:solidFill>
                  <a:srgbClr val="000000"/>
                </a:solidFill>
                <a:latin typeface="Arial"/>
                <a:ea typeface="宋体" charset="-122"/>
              </a:rPr>
              <a:t>struct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first;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second;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pair;</a:t>
            </a:r>
          </a:p>
          <a:p>
            <a:pPr defTabSz="914400" fontAlgn="base">
              <a:spcBef>
                <a:spcPct val="50000"/>
              </a:spcBef>
              <a:spcAft>
                <a:spcPct val="0"/>
              </a:spcAft>
              <a:defRPr/>
            </a:pPr>
            <a:r>
              <a:rPr lang="en-US" altLang="zh-CN" sz="1050" kern="0" dirty="0">
                <a:solidFill>
                  <a:srgbClr val="000000"/>
                </a:solidFill>
                <a:latin typeface="Arial"/>
                <a:ea typeface="宋体" charset="-122"/>
              </a:rPr>
              <a:t>*(unsigned*)pair = -1U;</a:t>
            </a:r>
          </a:p>
          <a:p>
            <a:pPr defTabSz="914400" fontAlgn="base">
              <a:spcBef>
                <a:spcPct val="0"/>
              </a:spcBef>
              <a:spcAft>
                <a:spcPct val="0"/>
              </a:spcAft>
              <a:defRPr/>
            </a:pPr>
            <a:endParaRPr lang="en-US" altLang="zh-CN" sz="1050" kern="0" dirty="0">
              <a:solidFill>
                <a:srgbClr val="000000"/>
              </a:solidFill>
              <a:latin typeface="Arial"/>
              <a:ea typeface="宋体" charset="-122"/>
            </a:endParaRPr>
          </a:p>
        </p:txBody>
      </p:sp>
      <p:sp>
        <p:nvSpPr>
          <p:cNvPr id="14" name="TextBox 13">
            <a:extLst>
              <a:ext uri="{FF2B5EF4-FFF2-40B4-BE49-F238E27FC236}">
                <a16:creationId xmlns:a16="http://schemas.microsoft.com/office/drawing/2014/main" id="{B3F69239-7EA8-4081-8CFB-755591F779E2}"/>
              </a:ext>
            </a:extLst>
          </p:cNvPr>
          <p:cNvSpPr txBox="1"/>
          <p:nvPr/>
        </p:nvSpPr>
        <p:spPr>
          <a:xfrm>
            <a:off x="7824157" y="2631761"/>
            <a:ext cx="2150120" cy="114262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50" kern="0" dirty="0">
                <a:solidFill>
                  <a:srgbClr val="000000"/>
                </a:solidFill>
                <a:latin typeface="Arial"/>
                <a:ea typeface="宋体" charset="-122"/>
              </a:rPr>
              <a:t>struct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first;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second;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pair;</a:t>
            </a:r>
          </a:p>
          <a:p>
            <a:pPr defTabSz="914400" fontAlgn="base">
              <a:spcBef>
                <a:spcPct val="50000"/>
              </a:spcBef>
              <a:spcAft>
                <a:spcPct val="0"/>
              </a:spcAft>
              <a:defRPr/>
            </a:pPr>
            <a:r>
              <a:rPr lang="en-US" altLang="zh-CN" sz="1050" kern="0" dirty="0">
                <a:solidFill>
                  <a:srgbClr val="000000"/>
                </a:solidFill>
                <a:latin typeface="Arial"/>
                <a:ea typeface="宋体" charset="-122"/>
              </a:rPr>
              <a:t>pair.first = -1U;</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pair.second = -1U;</a:t>
            </a:r>
          </a:p>
        </p:txBody>
      </p:sp>
      <p:sp>
        <p:nvSpPr>
          <p:cNvPr id="15" name="TextBox 14">
            <a:extLst>
              <a:ext uri="{FF2B5EF4-FFF2-40B4-BE49-F238E27FC236}">
                <a16:creationId xmlns:a16="http://schemas.microsoft.com/office/drawing/2014/main" id="{13335088-0DFD-4B43-B694-2AFAD1D3C733}"/>
              </a:ext>
            </a:extLst>
          </p:cNvPr>
          <p:cNvSpPr txBox="1"/>
          <p:nvPr/>
        </p:nvSpPr>
        <p:spPr>
          <a:xfrm>
            <a:off x="4150656" y="4327524"/>
            <a:ext cx="3993080" cy="193899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int foo (int index,  int A[N])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char* ptr;</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int i =0, result = 0;</a:t>
            </a:r>
          </a:p>
          <a:p>
            <a:pPr defTabSz="914400" fontAlgn="base">
              <a:spcBef>
                <a:spcPct val="50000"/>
              </a:spcBef>
              <a:spcAft>
                <a:spcPct val="0"/>
              </a:spcAft>
              <a:defRPr/>
            </a:pPr>
            <a:r>
              <a:rPr lang="en-US" altLang="zh-CN" sz="1000" b="1" kern="0" dirty="0">
                <a:solidFill>
                  <a:srgbClr val="000000"/>
                </a:solidFill>
                <a:latin typeface="Arial"/>
                <a:ea typeface="宋体" charset="-122"/>
              </a:rPr>
              <a:t>  ptr = (char*)(&amp;A[index]);</a:t>
            </a:r>
          </a:p>
          <a:p>
            <a:pPr defTabSz="914400" fontAlgn="base">
              <a:spcBef>
                <a:spcPct val="50000"/>
              </a:spcBef>
              <a:spcAft>
                <a:spcPct val="0"/>
              </a:spcAft>
              <a:defRPr/>
            </a:pPr>
            <a:br>
              <a:rPr lang="en-US" altLang="zh-CN" sz="1000" kern="0" dirty="0">
                <a:solidFill>
                  <a:srgbClr val="009900"/>
                </a:solidFill>
                <a:latin typeface="Arial"/>
                <a:ea typeface="宋体" charset="-122"/>
              </a:rPr>
            </a:br>
            <a:r>
              <a:rPr lang="en-US" altLang="zh-CN" sz="1000" kern="0" dirty="0">
                <a:solidFill>
                  <a:srgbClr val="000000"/>
                </a:solidFill>
                <a:latin typeface="Arial"/>
                <a:ea typeface="宋体" charset="-122"/>
              </a:rPr>
              <a:t>  for (i = 0; i &lt; 4*N; ++i)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result += *ptr;</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ptr+=1;</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return result;</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p:txBody>
      </p:sp>
      <p:sp>
        <p:nvSpPr>
          <p:cNvPr id="9" name="Slide Number Placeholder 5">
            <a:extLst>
              <a:ext uri="{FF2B5EF4-FFF2-40B4-BE49-F238E27FC236}">
                <a16:creationId xmlns:a16="http://schemas.microsoft.com/office/drawing/2014/main" id="{05A56C09-F6D3-41DB-BC4E-740D663A3F7A}"/>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25</a:t>
            </a:fld>
            <a:endParaRPr lang="en-US" dirty="0"/>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961" name="Rectangle 2"/>
          <p:cNvSpPr>
            <a:spLocks noGrp="1"/>
          </p:cNvSpPr>
          <p:nvPr>
            <p:ph type="title"/>
          </p:nvPr>
        </p:nvSpPr>
        <p:spPr/>
        <p:txBody>
          <a:bodyPr/>
          <a:lstStyle/>
          <a:p>
            <a:r>
              <a:rPr lang="en-US" altLang="zh-CN" dirty="0">
                <a:ea typeface="宋体" charset="-122"/>
              </a:rPr>
              <a:t>Unsupported: General Pointer Casting </a:t>
            </a:r>
          </a:p>
        </p:txBody>
      </p:sp>
      <p:sp>
        <p:nvSpPr>
          <p:cNvPr id="40962" name="Rectangle 3"/>
          <p:cNvSpPr>
            <a:spLocks noGrp="1"/>
          </p:cNvSpPr>
          <p:nvPr>
            <p:ph idx="1"/>
          </p:nvPr>
        </p:nvSpPr>
        <p:spPr/>
        <p:txBody>
          <a:bodyPr/>
          <a:lstStyle/>
          <a:p>
            <a:r>
              <a:rPr lang="en-US" altLang="zh-CN" dirty="0">
                <a:ea typeface="宋体" charset="-122"/>
              </a:rPr>
              <a:t>Pointer reinterpretation</a:t>
            </a:r>
          </a:p>
          <a:p>
            <a:pPr lvl="1"/>
            <a:r>
              <a:rPr lang="en-US" altLang="zh-CN" dirty="0">
                <a:ea typeface="宋体" charset="-122"/>
              </a:rPr>
              <a:t>Casting a pointer to a different type is </a:t>
            </a:r>
            <a:br>
              <a:rPr lang="en-US" altLang="zh-CN" dirty="0">
                <a:ea typeface="宋体" charset="-122"/>
              </a:rPr>
            </a:br>
            <a:r>
              <a:rPr lang="en-US" altLang="zh-CN" dirty="0">
                <a:ea typeface="宋体" charset="-122"/>
              </a:rPr>
              <a:t>not allowed in the general case</a:t>
            </a:r>
          </a:p>
          <a:p>
            <a:pPr lvl="1"/>
            <a:endParaRPr lang="en-US" altLang="zh-CN" dirty="0">
              <a:ea typeface="宋体" charset="-122"/>
            </a:endParaRPr>
          </a:p>
          <a:p>
            <a:pPr lvl="1"/>
            <a:endParaRPr lang="en-US" altLang="zh-CN" dirty="0">
              <a:ea typeface="宋体" charset="-122"/>
            </a:endParaRPr>
          </a:p>
          <a:p>
            <a:pPr lvl="1"/>
            <a:endParaRPr lang="en-US" altLang="zh-CN" dirty="0">
              <a:ea typeface="宋体" charset="-122"/>
            </a:endParaRPr>
          </a:p>
          <a:p>
            <a:pPr lvl="1">
              <a:buNone/>
            </a:pPr>
            <a:endParaRPr lang="en-US" altLang="zh-CN" dirty="0">
              <a:ea typeface="宋体" charset="-122"/>
            </a:endParaRPr>
          </a:p>
          <a:p>
            <a:r>
              <a:rPr lang="en-US" altLang="zh-CN" dirty="0">
                <a:ea typeface="宋体" charset="-122"/>
              </a:rPr>
              <a:t>Pointer casting </a:t>
            </a:r>
            <a:r>
              <a:rPr lang="en-US" altLang="zh-CN" u="sng" dirty="0">
                <a:ea typeface="宋体" charset="-122"/>
              </a:rPr>
              <a:t>is allowed </a:t>
            </a:r>
            <a:r>
              <a:rPr lang="en-US" altLang="zh-CN" dirty="0">
                <a:ea typeface="宋体" charset="-122"/>
              </a:rPr>
              <a:t>between native C integer types</a:t>
            </a:r>
          </a:p>
          <a:p>
            <a:pPr lvl="1"/>
            <a:endParaRPr lang="en-US" altLang="zh-CN" dirty="0">
              <a:ea typeface="宋体" charset="-122"/>
            </a:endParaRPr>
          </a:p>
          <a:p>
            <a:pPr lvl="1"/>
            <a:endParaRPr lang="en-US" altLang="zh-CN" dirty="0">
              <a:ea typeface="宋体" charset="-122"/>
            </a:endParaRPr>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26</a:t>
            </a:fld>
            <a:endParaRPr lang="en-US" dirty="0">
              <a:solidFill>
                <a:srgbClr val="0C0C0C">
                  <a:tint val="75000"/>
                </a:srgbClr>
              </a:solidFill>
              <a:latin typeface="Arial"/>
            </a:endParaRPr>
          </a:p>
        </p:txBody>
      </p:sp>
      <p:sp>
        <p:nvSpPr>
          <p:cNvPr id="10" name="Rectangle 3"/>
          <p:cNvSpPr txBox="1">
            <a:spLocks/>
          </p:cNvSpPr>
          <p:nvPr/>
        </p:nvSpPr>
        <p:spPr bwMode="auto">
          <a:xfrm>
            <a:off x="6147196" y="1672022"/>
            <a:ext cx="5733653" cy="272675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a:p>
            <a:pPr marL="742950" lvl="1" indent="-285750" defTabSz="457200" fontAlgn="base">
              <a:spcBef>
                <a:spcPct val="20000"/>
              </a:spcBef>
              <a:spcAft>
                <a:spcPct val="0"/>
              </a:spcAft>
              <a:buFont typeface="Arial" charset="0"/>
              <a:buChar char="–"/>
              <a:defRPr/>
            </a:pPr>
            <a:r>
              <a:rPr lang="en-US" altLang="zh-CN" dirty="0">
                <a:solidFill>
                  <a:srgbClr val="0C0C0C"/>
                </a:solidFill>
                <a:latin typeface="Arial"/>
                <a:ea typeface="宋体" charset="-122"/>
              </a:rPr>
              <a:t>Solution: assign values using the original type</a:t>
            </a:r>
          </a:p>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a:p>
            <a:pPr marL="742950" lvl="1" indent="-285750" defTabSz="457200" fontAlgn="base">
              <a:spcBef>
                <a:spcPct val="20000"/>
              </a:spcBef>
              <a:spcAft>
                <a:spcPct val="0"/>
              </a:spcAft>
              <a:buFont typeface="Arial" charset="0"/>
              <a:buChar char="–"/>
              <a:defRPr/>
            </a:pPr>
            <a:endParaRPr lang="en-US" altLang="zh-CN" dirty="0">
              <a:solidFill>
                <a:srgbClr val="0C0C0C"/>
              </a:solidFill>
              <a:latin typeface="Arial"/>
              <a:ea typeface="宋体" charset="-122"/>
            </a:endParaRPr>
          </a:p>
        </p:txBody>
      </p:sp>
      <p:sp>
        <p:nvSpPr>
          <p:cNvPr id="12" name="TextBox 11">
            <a:extLst>
              <a:ext uri="{FF2B5EF4-FFF2-40B4-BE49-F238E27FC236}">
                <a16:creationId xmlns:a16="http://schemas.microsoft.com/office/drawing/2014/main" id="{C9C6D5F8-7CC8-4F08-B3D5-447BC51CD4ED}"/>
              </a:ext>
            </a:extLst>
          </p:cNvPr>
          <p:cNvSpPr txBox="1"/>
          <p:nvPr/>
        </p:nvSpPr>
        <p:spPr>
          <a:xfrm>
            <a:off x="2346472" y="2513264"/>
            <a:ext cx="2201313" cy="114262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50" kern="0" dirty="0">
                <a:solidFill>
                  <a:srgbClr val="000000"/>
                </a:solidFill>
                <a:latin typeface="Arial"/>
                <a:ea typeface="宋体" charset="-122"/>
              </a:rPr>
              <a:t>struct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first;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second;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pair;</a:t>
            </a:r>
          </a:p>
          <a:p>
            <a:pPr defTabSz="914400" fontAlgn="base">
              <a:spcBef>
                <a:spcPct val="50000"/>
              </a:spcBef>
              <a:spcAft>
                <a:spcPct val="0"/>
              </a:spcAft>
              <a:defRPr/>
            </a:pPr>
            <a:r>
              <a:rPr lang="en-US" altLang="zh-CN" sz="1050" kern="0" dirty="0">
                <a:solidFill>
                  <a:srgbClr val="000000"/>
                </a:solidFill>
                <a:latin typeface="Arial"/>
                <a:ea typeface="宋体" charset="-122"/>
              </a:rPr>
              <a:t>*(unsigned*)pair = -1U;</a:t>
            </a:r>
          </a:p>
          <a:p>
            <a:pPr defTabSz="914400" fontAlgn="base">
              <a:spcBef>
                <a:spcPct val="0"/>
              </a:spcBef>
              <a:spcAft>
                <a:spcPct val="0"/>
              </a:spcAft>
              <a:defRPr/>
            </a:pPr>
            <a:endParaRPr lang="en-US" altLang="zh-CN" sz="1050" kern="0" dirty="0">
              <a:solidFill>
                <a:srgbClr val="000000"/>
              </a:solidFill>
              <a:latin typeface="Arial"/>
              <a:ea typeface="宋体" charset="-122"/>
            </a:endParaRPr>
          </a:p>
        </p:txBody>
      </p:sp>
      <p:sp>
        <p:nvSpPr>
          <p:cNvPr id="14" name="TextBox 13">
            <a:extLst>
              <a:ext uri="{FF2B5EF4-FFF2-40B4-BE49-F238E27FC236}">
                <a16:creationId xmlns:a16="http://schemas.microsoft.com/office/drawing/2014/main" id="{B3F69239-7EA8-4081-8CFB-755591F779E2}"/>
              </a:ext>
            </a:extLst>
          </p:cNvPr>
          <p:cNvSpPr txBox="1"/>
          <p:nvPr/>
        </p:nvSpPr>
        <p:spPr>
          <a:xfrm>
            <a:off x="7824157" y="2436454"/>
            <a:ext cx="2150120" cy="114262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50" kern="0" dirty="0">
                <a:solidFill>
                  <a:srgbClr val="000000"/>
                </a:solidFill>
                <a:latin typeface="Arial"/>
                <a:ea typeface="宋体" charset="-122"/>
              </a:rPr>
              <a:t>struct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first;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short second; </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 pair;</a:t>
            </a:r>
          </a:p>
          <a:p>
            <a:pPr defTabSz="914400" fontAlgn="base">
              <a:spcBef>
                <a:spcPct val="50000"/>
              </a:spcBef>
              <a:spcAft>
                <a:spcPct val="0"/>
              </a:spcAft>
              <a:defRPr/>
            </a:pPr>
            <a:r>
              <a:rPr lang="en-US" altLang="zh-CN" sz="1050" kern="0" dirty="0">
                <a:solidFill>
                  <a:srgbClr val="000000"/>
                </a:solidFill>
                <a:latin typeface="Arial"/>
                <a:ea typeface="宋体" charset="-122"/>
              </a:rPr>
              <a:t>pair.first = -1U;</a:t>
            </a:r>
            <a:br>
              <a:rPr lang="en-US" altLang="zh-CN" sz="1050" kern="0" dirty="0">
                <a:solidFill>
                  <a:srgbClr val="000000"/>
                </a:solidFill>
                <a:latin typeface="Arial"/>
                <a:ea typeface="宋体" charset="-122"/>
              </a:rPr>
            </a:br>
            <a:r>
              <a:rPr lang="en-US" altLang="zh-CN" sz="1050" kern="0" dirty="0">
                <a:solidFill>
                  <a:srgbClr val="000000"/>
                </a:solidFill>
                <a:latin typeface="Arial"/>
                <a:ea typeface="宋体" charset="-122"/>
              </a:rPr>
              <a:t>pair.second = -1U;</a:t>
            </a:r>
          </a:p>
        </p:txBody>
      </p:sp>
      <p:sp>
        <p:nvSpPr>
          <p:cNvPr id="15" name="TextBox 14">
            <a:extLst>
              <a:ext uri="{FF2B5EF4-FFF2-40B4-BE49-F238E27FC236}">
                <a16:creationId xmlns:a16="http://schemas.microsoft.com/office/drawing/2014/main" id="{13335088-0DFD-4B43-B694-2AFAD1D3C733}"/>
              </a:ext>
            </a:extLst>
          </p:cNvPr>
          <p:cNvSpPr txBox="1"/>
          <p:nvPr/>
        </p:nvSpPr>
        <p:spPr>
          <a:xfrm>
            <a:off x="4141384" y="4212182"/>
            <a:ext cx="3993080" cy="193899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int foo (int index,  int A[N])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char* ptr;</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int i =0, result = 0;</a:t>
            </a:r>
          </a:p>
          <a:p>
            <a:pPr defTabSz="914400" fontAlgn="base">
              <a:spcBef>
                <a:spcPct val="50000"/>
              </a:spcBef>
              <a:spcAft>
                <a:spcPct val="0"/>
              </a:spcAft>
              <a:defRPr/>
            </a:pPr>
            <a:r>
              <a:rPr lang="en-US" altLang="zh-CN" sz="1000" b="1" kern="0" dirty="0">
                <a:solidFill>
                  <a:srgbClr val="000000"/>
                </a:solidFill>
                <a:latin typeface="Arial"/>
                <a:ea typeface="宋体" charset="-122"/>
              </a:rPr>
              <a:t>  ptr = (char*)(&amp;A[index]);</a:t>
            </a:r>
          </a:p>
          <a:p>
            <a:pPr defTabSz="914400" fontAlgn="base">
              <a:spcBef>
                <a:spcPct val="50000"/>
              </a:spcBef>
              <a:spcAft>
                <a:spcPct val="0"/>
              </a:spcAft>
              <a:defRPr/>
            </a:pPr>
            <a:br>
              <a:rPr lang="en-US" altLang="zh-CN" sz="1000" kern="0" dirty="0">
                <a:solidFill>
                  <a:srgbClr val="009900"/>
                </a:solidFill>
                <a:latin typeface="Arial"/>
                <a:ea typeface="宋体" charset="-122"/>
              </a:rPr>
            </a:br>
            <a:r>
              <a:rPr lang="en-US" altLang="zh-CN" sz="1000" kern="0" dirty="0">
                <a:solidFill>
                  <a:srgbClr val="000000"/>
                </a:solidFill>
                <a:latin typeface="Arial"/>
                <a:ea typeface="宋体" charset="-122"/>
              </a:rPr>
              <a:t>  for (i = 0; i &lt; 4*N; ++i)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result += *ptr;</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ptr+=1;</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return result;</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p:txBody>
      </p:sp>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Rectangle 2"/>
          <p:cNvSpPr>
            <a:spLocks noGrp="1"/>
          </p:cNvSpPr>
          <p:nvPr>
            <p:ph type="title"/>
          </p:nvPr>
        </p:nvSpPr>
        <p:spPr/>
        <p:txBody>
          <a:bodyPr/>
          <a:lstStyle/>
          <a:p>
            <a:r>
              <a:rPr lang="en-US" altLang="zh-CN" dirty="0">
                <a:ea typeface="宋体" charset="-122"/>
              </a:rPr>
              <a:t>Unsupported: Recursive Functions</a:t>
            </a:r>
          </a:p>
        </p:txBody>
      </p:sp>
      <p:sp>
        <p:nvSpPr>
          <p:cNvPr id="43010" name="Rectangle 3"/>
          <p:cNvSpPr>
            <a:spLocks noGrp="1"/>
          </p:cNvSpPr>
          <p:nvPr>
            <p:ph idx="1"/>
          </p:nvPr>
        </p:nvSpPr>
        <p:spPr/>
        <p:txBody>
          <a:bodyPr>
            <a:normAutofit fontScale="92500" lnSpcReduction="20000"/>
          </a:bodyPr>
          <a:lstStyle/>
          <a:p>
            <a:r>
              <a:rPr lang="en-US" altLang="zh-CN" dirty="0">
                <a:ea typeface="宋体" charset="-122"/>
              </a:rPr>
              <a:t>Avoid recursive functions</a:t>
            </a:r>
          </a:p>
          <a:p>
            <a:pPr lvl="1"/>
            <a:r>
              <a:rPr lang="en-US" altLang="zh-CN" dirty="0">
                <a:ea typeface="宋体" charset="-122"/>
              </a:rPr>
              <a:t>Not synthesizable in general </a:t>
            </a:r>
          </a:p>
          <a:p>
            <a:pPr lvl="2"/>
            <a:r>
              <a:rPr lang="en-US" altLang="zh-CN" dirty="0">
                <a:ea typeface="宋体" charset="-122"/>
              </a:rPr>
              <a:t>The code re-entrance indirectly uses dynamic memory allocation</a:t>
            </a: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buNone/>
            </a:pPr>
            <a:endParaRPr lang="en-US" altLang="zh-CN" dirty="0">
              <a:ea typeface="宋体" charset="-122"/>
            </a:endParaRPr>
          </a:p>
          <a:p>
            <a:r>
              <a:rPr lang="en-US" altLang="zh-CN" dirty="0">
                <a:ea typeface="宋体" charset="-122"/>
              </a:rPr>
              <a:t>Standard Template Libraries (STLs)</a:t>
            </a:r>
          </a:p>
          <a:p>
            <a:pPr lvl="1"/>
            <a:r>
              <a:rPr lang="en-US" altLang="zh-CN" dirty="0">
                <a:ea typeface="宋体" charset="-122"/>
              </a:rPr>
              <a:t>Many are unbounded or use recursive functions</a:t>
            </a:r>
          </a:p>
          <a:p>
            <a:pPr lvl="2"/>
            <a:r>
              <a:rPr lang="en-US" altLang="zh-CN" dirty="0">
                <a:ea typeface="宋体" charset="-122"/>
              </a:rPr>
              <a:t>In general they cannot be synthesized</a:t>
            </a:r>
          </a:p>
          <a:p>
            <a:pPr lvl="1"/>
            <a:r>
              <a:rPr lang="en-US" altLang="zh-CN" dirty="0">
                <a:ea typeface="宋体" charset="-122"/>
              </a:rPr>
              <a:t>Re-code to create a local bounded model</a:t>
            </a:r>
          </a:p>
          <a:p>
            <a:pPr lvl="2"/>
            <a:r>
              <a:rPr lang="en-US" altLang="zh-CN" dirty="0">
                <a:ea typeface="宋体" charset="-122"/>
              </a:rPr>
              <a:t>Use arrays instead of vectors</a:t>
            </a:r>
          </a:p>
          <a:p>
            <a:pPr lvl="2"/>
            <a:r>
              <a:rPr lang="en-US" altLang="zh-CN" dirty="0">
                <a:ea typeface="宋体" charset="-122"/>
              </a:rPr>
              <a:t>Shifts instead of queues</a:t>
            </a:r>
          </a:p>
          <a:p>
            <a:pPr lvl="2">
              <a:buNone/>
            </a:pPr>
            <a:endParaRPr lang="en-US" altLang="zh-CN" dirty="0">
              <a:ea typeface="宋体" charset="-122"/>
            </a:endParaRPr>
          </a:p>
        </p:txBody>
      </p:sp>
      <p:sp>
        <p:nvSpPr>
          <p:cNvPr id="7" name="TextBox 6">
            <a:extLst>
              <a:ext uri="{FF2B5EF4-FFF2-40B4-BE49-F238E27FC236}">
                <a16:creationId xmlns:a16="http://schemas.microsoft.com/office/drawing/2014/main" id="{54F7E31A-A533-44AD-A64D-EFF16B3F290E}"/>
              </a:ext>
            </a:extLst>
          </p:cNvPr>
          <p:cNvSpPr txBox="1"/>
          <p:nvPr/>
        </p:nvSpPr>
        <p:spPr>
          <a:xfrm>
            <a:off x="1362360" y="2529204"/>
            <a:ext cx="4249048" cy="86177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unsigned </a:t>
            </a:r>
            <a:r>
              <a:rPr lang="en-US" altLang="zh-CN" sz="1000" b="1" kern="0" dirty="0">
                <a:solidFill>
                  <a:srgbClr val="000000"/>
                </a:solidFill>
                <a:latin typeface="Arial"/>
                <a:ea typeface="宋体" charset="-122"/>
              </a:rPr>
              <a:t>foo </a:t>
            </a:r>
            <a:r>
              <a:rPr lang="en-US" altLang="zh-CN" sz="1000" kern="0" dirty="0">
                <a:solidFill>
                  <a:srgbClr val="000000"/>
                </a:solidFill>
                <a:latin typeface="Arial"/>
                <a:ea typeface="宋体" charset="-122"/>
              </a:rPr>
              <a:t>(unsigned n)</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if (n == 0 || n == 1) return 1;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return (</a:t>
            </a:r>
            <a:r>
              <a:rPr lang="en-US" altLang="zh-CN" sz="1000" b="1" kern="0" dirty="0">
                <a:solidFill>
                  <a:srgbClr val="000000"/>
                </a:solidFill>
                <a:latin typeface="Arial"/>
                <a:ea typeface="宋体" charset="-122"/>
              </a:rPr>
              <a:t>foo(n-2)</a:t>
            </a:r>
            <a:r>
              <a:rPr lang="en-US" altLang="zh-CN" sz="1000" kern="0" dirty="0">
                <a:solidFill>
                  <a:srgbClr val="000000"/>
                </a:solidFill>
                <a:latin typeface="Arial"/>
                <a:ea typeface="宋体" charset="-122"/>
              </a:rPr>
              <a:t> + foo(n-1));</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p:txBody>
      </p:sp>
      <p:sp>
        <p:nvSpPr>
          <p:cNvPr id="8" name="TextBox 7">
            <a:extLst>
              <a:ext uri="{FF2B5EF4-FFF2-40B4-BE49-F238E27FC236}">
                <a16:creationId xmlns:a16="http://schemas.microsoft.com/office/drawing/2014/main" id="{4A62C0C4-9EC5-4E1C-9CD9-2AFD2C2CD0A2}"/>
              </a:ext>
            </a:extLst>
          </p:cNvPr>
          <p:cNvSpPr txBox="1"/>
          <p:nvPr/>
        </p:nvSpPr>
        <p:spPr>
          <a:xfrm>
            <a:off x="1567135" y="3527734"/>
            <a:ext cx="3941887"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ea typeface="宋体" charset="-122"/>
              </a:rPr>
              <a:t>Not synthesizable: Endless recursion</a:t>
            </a:r>
          </a:p>
        </p:txBody>
      </p:sp>
      <p:sp>
        <p:nvSpPr>
          <p:cNvPr id="10" name="Slide Number Placeholder 5">
            <a:extLst>
              <a:ext uri="{FF2B5EF4-FFF2-40B4-BE49-F238E27FC236}">
                <a16:creationId xmlns:a16="http://schemas.microsoft.com/office/drawing/2014/main" id="{307D3219-35D1-4531-9D93-A44703C3167A}"/>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27</a:t>
            </a:fld>
            <a:endParaRPr lang="en-US" dirty="0"/>
          </a:p>
        </p:txBody>
      </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3009" name="Rectangle 2"/>
          <p:cNvSpPr>
            <a:spLocks noGrp="1"/>
          </p:cNvSpPr>
          <p:nvPr>
            <p:ph type="title"/>
          </p:nvPr>
        </p:nvSpPr>
        <p:spPr/>
        <p:txBody>
          <a:bodyPr/>
          <a:lstStyle/>
          <a:p>
            <a:r>
              <a:rPr lang="en-US" altLang="zh-CN" dirty="0">
                <a:ea typeface="宋体" charset="-122"/>
              </a:rPr>
              <a:t>Unsupported: Recursive Functions</a:t>
            </a:r>
          </a:p>
        </p:txBody>
      </p:sp>
      <p:sp>
        <p:nvSpPr>
          <p:cNvPr id="43010" name="Rectangle 3"/>
          <p:cNvSpPr>
            <a:spLocks noGrp="1"/>
          </p:cNvSpPr>
          <p:nvPr>
            <p:ph idx="1"/>
          </p:nvPr>
        </p:nvSpPr>
        <p:spPr/>
        <p:txBody>
          <a:bodyPr>
            <a:normAutofit/>
          </a:bodyPr>
          <a:lstStyle/>
          <a:p>
            <a:r>
              <a:rPr lang="en-US" altLang="zh-CN" dirty="0">
                <a:ea typeface="宋体" charset="-122"/>
              </a:rPr>
              <a:t>Avoid recursive functions</a:t>
            </a:r>
          </a:p>
          <a:p>
            <a:pPr lvl="1"/>
            <a:r>
              <a:rPr lang="en-US" altLang="zh-CN" dirty="0">
                <a:ea typeface="宋体" charset="-122"/>
              </a:rPr>
              <a:t>Not synthesizable in general </a:t>
            </a:r>
          </a:p>
          <a:p>
            <a:pPr lvl="2"/>
            <a:r>
              <a:rPr lang="en-US" altLang="zh-CN" dirty="0">
                <a:ea typeface="宋体" charset="-122"/>
              </a:rPr>
              <a:t>The code re-entrance indirectly uses dynamic memory allocation</a:t>
            </a: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endParaRPr lang="en-US" altLang="zh-CN" dirty="0">
              <a:ea typeface="宋体" charset="-122"/>
            </a:endParaRPr>
          </a:p>
          <a:p>
            <a:pPr lvl="2">
              <a:buNone/>
            </a:pPr>
            <a:endParaRPr lang="en-US" altLang="zh-CN" dirty="0">
              <a:ea typeface="宋体" charset="-122"/>
            </a:endParaRPr>
          </a:p>
          <a:p>
            <a:r>
              <a:rPr lang="en-US" altLang="zh-CN" dirty="0">
                <a:ea typeface="宋体" charset="-122"/>
              </a:rPr>
              <a:t>Standard Template Libraries (STLs)</a:t>
            </a:r>
          </a:p>
          <a:p>
            <a:pPr lvl="1"/>
            <a:r>
              <a:rPr lang="en-US" altLang="zh-CN" dirty="0">
                <a:ea typeface="宋体" charset="-122"/>
              </a:rPr>
              <a:t>Many are unbounded or use recursive functions</a:t>
            </a:r>
          </a:p>
          <a:p>
            <a:pPr lvl="2"/>
            <a:r>
              <a:rPr lang="en-US" altLang="zh-CN" dirty="0">
                <a:ea typeface="宋体" charset="-122"/>
              </a:rPr>
              <a:t>In general they cannot be synthesized</a:t>
            </a:r>
          </a:p>
          <a:p>
            <a:pPr lvl="1"/>
            <a:r>
              <a:rPr lang="en-US" altLang="zh-CN" dirty="0">
                <a:ea typeface="宋体" charset="-122"/>
              </a:rPr>
              <a:t>Re-code to create a local bounded model</a:t>
            </a:r>
          </a:p>
          <a:p>
            <a:pPr lvl="2"/>
            <a:r>
              <a:rPr lang="en-US" altLang="zh-CN" dirty="0">
                <a:ea typeface="宋体" charset="-122"/>
              </a:rPr>
              <a:t>Use arrays instead of vectors</a:t>
            </a:r>
          </a:p>
          <a:p>
            <a:pPr lvl="2"/>
            <a:r>
              <a:rPr lang="en-US" altLang="zh-CN" dirty="0">
                <a:ea typeface="宋体" charset="-122"/>
              </a:rPr>
              <a:t>Shifts instead of queues</a:t>
            </a:r>
          </a:p>
          <a:p>
            <a:pPr lvl="2">
              <a:buNone/>
            </a:pPr>
            <a:endParaRPr lang="en-US" altLang="zh-CN" dirty="0">
              <a:ea typeface="宋体" charset="-122"/>
            </a:endParaRPr>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28</a:t>
            </a:fld>
            <a:endParaRPr lang="en-US" dirty="0">
              <a:solidFill>
                <a:srgbClr val="0C0C0C">
                  <a:tint val="75000"/>
                </a:srgbClr>
              </a:solidFill>
              <a:latin typeface="Arial"/>
            </a:endParaRPr>
          </a:p>
        </p:txBody>
      </p:sp>
      <p:sp>
        <p:nvSpPr>
          <p:cNvPr id="7" name="TextBox 6">
            <a:extLst>
              <a:ext uri="{FF2B5EF4-FFF2-40B4-BE49-F238E27FC236}">
                <a16:creationId xmlns:a16="http://schemas.microsoft.com/office/drawing/2014/main" id="{54F7E31A-A533-44AD-A64D-EFF16B3F290E}"/>
              </a:ext>
            </a:extLst>
          </p:cNvPr>
          <p:cNvSpPr txBox="1"/>
          <p:nvPr/>
        </p:nvSpPr>
        <p:spPr>
          <a:xfrm>
            <a:off x="1362360" y="2529204"/>
            <a:ext cx="4249048" cy="861774"/>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50000"/>
              </a:spcBef>
              <a:spcAft>
                <a:spcPct val="0"/>
              </a:spcAft>
              <a:defRPr/>
            </a:pPr>
            <a:r>
              <a:rPr lang="en-US" altLang="zh-CN" sz="1000" kern="0" dirty="0">
                <a:solidFill>
                  <a:srgbClr val="000000"/>
                </a:solidFill>
                <a:latin typeface="Arial"/>
                <a:ea typeface="宋体" charset="-122"/>
              </a:rPr>
              <a:t>unsigned </a:t>
            </a:r>
            <a:r>
              <a:rPr lang="en-US" altLang="zh-CN" sz="1000" b="1" kern="0" dirty="0">
                <a:solidFill>
                  <a:srgbClr val="000000"/>
                </a:solidFill>
                <a:latin typeface="Arial"/>
                <a:ea typeface="宋体" charset="-122"/>
              </a:rPr>
              <a:t>foo </a:t>
            </a:r>
            <a:r>
              <a:rPr lang="en-US" altLang="zh-CN" sz="1000" kern="0" dirty="0">
                <a:solidFill>
                  <a:srgbClr val="000000"/>
                </a:solidFill>
                <a:latin typeface="Arial"/>
                <a:ea typeface="宋体" charset="-122"/>
              </a:rPr>
              <a:t>(unsigned n)</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if (n == 0 || n == 1) return 1; </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    return (</a:t>
            </a:r>
            <a:r>
              <a:rPr lang="en-US" altLang="zh-CN" sz="1000" b="1" kern="0" dirty="0">
                <a:solidFill>
                  <a:srgbClr val="000000"/>
                </a:solidFill>
                <a:latin typeface="Arial"/>
                <a:ea typeface="宋体" charset="-122"/>
              </a:rPr>
              <a:t>foo(n-2)</a:t>
            </a:r>
            <a:r>
              <a:rPr lang="en-US" altLang="zh-CN" sz="1000" kern="0" dirty="0">
                <a:solidFill>
                  <a:srgbClr val="000000"/>
                </a:solidFill>
                <a:latin typeface="Arial"/>
                <a:ea typeface="宋体" charset="-122"/>
              </a:rPr>
              <a:t> + foo(n-1));</a:t>
            </a:r>
            <a:br>
              <a:rPr lang="en-US" altLang="zh-CN" sz="1000" kern="0" dirty="0">
                <a:solidFill>
                  <a:srgbClr val="000000"/>
                </a:solidFill>
                <a:latin typeface="Arial"/>
                <a:ea typeface="宋体" charset="-122"/>
              </a:rPr>
            </a:br>
            <a:r>
              <a:rPr lang="en-US" altLang="zh-CN" sz="1000" kern="0" dirty="0">
                <a:solidFill>
                  <a:srgbClr val="000000"/>
                </a:solidFill>
                <a:latin typeface="Arial"/>
                <a:ea typeface="宋体" charset="-122"/>
              </a:rPr>
              <a:t>}</a:t>
            </a:r>
          </a:p>
        </p:txBody>
      </p:sp>
      <p:sp>
        <p:nvSpPr>
          <p:cNvPr id="8" name="TextBox 7">
            <a:extLst>
              <a:ext uri="{FF2B5EF4-FFF2-40B4-BE49-F238E27FC236}">
                <a16:creationId xmlns:a16="http://schemas.microsoft.com/office/drawing/2014/main" id="{4A62C0C4-9EC5-4E1C-9CD9-2AFD2C2CD0A2}"/>
              </a:ext>
            </a:extLst>
          </p:cNvPr>
          <p:cNvSpPr txBox="1"/>
          <p:nvPr/>
        </p:nvSpPr>
        <p:spPr>
          <a:xfrm>
            <a:off x="1567135" y="3527734"/>
            <a:ext cx="3941887" cy="253916"/>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50000"/>
              </a:spcBef>
              <a:spcAft>
                <a:spcPct val="0"/>
              </a:spcAft>
              <a:defRPr/>
            </a:pPr>
            <a:r>
              <a:rPr lang="en-US" altLang="zh-CN" sz="1050" b="1" kern="0" dirty="0">
                <a:solidFill>
                  <a:srgbClr val="000000"/>
                </a:solidFill>
                <a:latin typeface="Arial"/>
                <a:ea typeface="宋体" charset="-122"/>
              </a:rPr>
              <a:t>Not synthesizable: Endless recursion</a:t>
            </a:r>
          </a:p>
        </p:txBody>
      </p:sp>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Test Bench: Gotcha 1</a:t>
            </a:r>
          </a:p>
        </p:txBody>
      </p:sp>
      <p:sp>
        <p:nvSpPr>
          <p:cNvPr id="3" name="Content Placeholder 2"/>
          <p:cNvSpPr>
            <a:spLocks noGrp="1"/>
          </p:cNvSpPr>
          <p:nvPr>
            <p:ph idx="1"/>
          </p:nvPr>
        </p:nvSpPr>
        <p:spPr/>
        <p:txBody>
          <a:bodyPr>
            <a:normAutofit/>
          </a:bodyPr>
          <a:lstStyle/>
          <a:p>
            <a:r>
              <a:rPr lang="en-US" dirty="0"/>
              <a:t>Use a RETURN value</a:t>
            </a:r>
          </a:p>
          <a:p>
            <a:pPr lvl="1"/>
            <a:r>
              <a:rPr lang="en-US" dirty="0"/>
              <a:t>RTL verification re-uses the C test bench to verify the RTL design</a:t>
            </a:r>
          </a:p>
          <a:p>
            <a:pPr lvl="1"/>
            <a:r>
              <a:rPr lang="en-US" dirty="0"/>
              <a:t>If the test bench does not return a 0, RTL </a:t>
            </a:r>
            <a:r>
              <a:rPr lang="en-US" dirty="0" err="1"/>
              <a:t>sim</a:t>
            </a:r>
            <a:r>
              <a:rPr lang="en-US" dirty="0"/>
              <a:t> will say it failed</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29</a:t>
            </a:fld>
            <a:endParaRPr lang="en-US" dirty="0">
              <a:solidFill>
                <a:srgbClr val="0C0C0C">
                  <a:tint val="75000"/>
                </a:srgbClr>
              </a:solidFill>
              <a:latin typeface="Arial"/>
            </a:endParaRPr>
          </a:p>
        </p:txBody>
      </p:sp>
      <p:sp>
        <p:nvSpPr>
          <p:cNvPr id="5" name="Rectangle 4"/>
          <p:cNvSpPr/>
          <p:nvPr/>
        </p:nvSpPr>
        <p:spPr>
          <a:xfrm>
            <a:off x="1488601" y="2740097"/>
            <a:ext cx="6143200" cy="1977954"/>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defTabSz="914400"/>
            <a:r>
              <a:rPr lang="en-US" sz="800" dirty="0">
                <a:solidFill>
                  <a:srgbClr val="0C0C0C"/>
                </a:solidFill>
                <a:latin typeface="Arial"/>
              </a:rPr>
              <a:t>@I [LIC-101] Checked in features [ </a:t>
            </a:r>
            <a:r>
              <a:rPr lang="en-US" sz="800" dirty="0" err="1">
                <a:solidFill>
                  <a:srgbClr val="0C0C0C"/>
                </a:solidFill>
                <a:latin typeface="Arial"/>
              </a:rPr>
              <a:t>Vivado</a:t>
            </a:r>
            <a:r>
              <a:rPr lang="en-US" sz="800" dirty="0">
                <a:solidFill>
                  <a:srgbClr val="0C0C0C"/>
                </a:solidFill>
                <a:latin typeface="Arial"/>
              </a:rPr>
              <a:t> HLS_FLOW </a:t>
            </a:r>
            <a:r>
              <a:rPr lang="en-US" sz="800" dirty="0" err="1">
                <a:solidFill>
                  <a:srgbClr val="0C0C0C"/>
                </a:solidFill>
                <a:latin typeface="Arial"/>
              </a:rPr>
              <a:t>Vivado</a:t>
            </a:r>
            <a:r>
              <a:rPr lang="en-US" sz="800" dirty="0">
                <a:solidFill>
                  <a:srgbClr val="0C0C0C"/>
                </a:solidFill>
                <a:latin typeface="Arial"/>
              </a:rPr>
              <a:t> HLS_OPT </a:t>
            </a:r>
            <a:r>
              <a:rPr lang="en-US" sz="800" dirty="0" err="1">
                <a:solidFill>
                  <a:srgbClr val="0C0C0C"/>
                </a:solidFill>
                <a:latin typeface="Arial"/>
              </a:rPr>
              <a:t>Vivado</a:t>
            </a:r>
            <a:r>
              <a:rPr lang="en-US" sz="800" dirty="0">
                <a:solidFill>
                  <a:srgbClr val="0C0C0C"/>
                </a:solidFill>
                <a:latin typeface="Arial"/>
              </a:rPr>
              <a:t> HLS_SC </a:t>
            </a:r>
            <a:r>
              <a:rPr lang="en-US" sz="800" dirty="0" err="1">
                <a:solidFill>
                  <a:srgbClr val="0C0C0C"/>
                </a:solidFill>
                <a:latin typeface="Arial"/>
              </a:rPr>
              <a:t>Vivado</a:t>
            </a:r>
            <a:r>
              <a:rPr lang="en-US" sz="800" dirty="0">
                <a:solidFill>
                  <a:srgbClr val="0C0C0C"/>
                </a:solidFill>
                <a:latin typeface="Arial"/>
              </a:rPr>
              <a:t> HLS_XILINX ]</a:t>
            </a:r>
          </a:p>
          <a:p>
            <a:pPr defTabSz="914400"/>
            <a:r>
              <a:rPr lang="en-US" sz="800" dirty="0">
                <a:solidFill>
                  <a:srgbClr val="0C0C0C"/>
                </a:solidFill>
                <a:latin typeface="Arial"/>
              </a:rPr>
              <a:t>   Generating </a:t>
            </a:r>
            <a:r>
              <a:rPr lang="en-US" sz="800" dirty="0" err="1">
                <a:solidFill>
                  <a:srgbClr val="0C0C0C"/>
                </a:solidFill>
                <a:latin typeface="Arial"/>
              </a:rPr>
              <a:t>autosim.sc.exe</a:t>
            </a:r>
            <a:endParaRPr lang="en-US" sz="800" dirty="0">
              <a:solidFill>
                <a:srgbClr val="0C0C0C"/>
              </a:solidFill>
              <a:latin typeface="Arial"/>
            </a:endParaRPr>
          </a:p>
          <a:p>
            <a:pPr defTabSz="914400"/>
            <a:r>
              <a:rPr lang="en-US" sz="800" dirty="0">
                <a:solidFill>
                  <a:srgbClr val="0C0C0C"/>
                </a:solidFill>
                <a:latin typeface="Arial"/>
              </a:rPr>
              <a:t>@I [SIM-6] Starting SystemC simulation ...</a:t>
            </a:r>
          </a:p>
          <a:p>
            <a:pPr defTabSz="914400"/>
            <a:endParaRPr lang="en-US" sz="800" dirty="0">
              <a:solidFill>
                <a:srgbClr val="0C0C0C"/>
              </a:solidFill>
              <a:latin typeface="Arial"/>
            </a:endParaRPr>
          </a:p>
          <a:p>
            <a:pPr defTabSz="914400"/>
            <a:r>
              <a:rPr lang="en-US" sz="800" dirty="0">
                <a:solidFill>
                  <a:srgbClr val="0C0C0C"/>
                </a:solidFill>
                <a:latin typeface="Arial"/>
              </a:rPr>
              <a:t>             SystemC 2.2.0 --- Sep 15 2011 23:59:06</a:t>
            </a:r>
          </a:p>
          <a:p>
            <a:pPr defTabSz="914400"/>
            <a:r>
              <a:rPr lang="en-US" sz="800" dirty="0">
                <a:solidFill>
                  <a:srgbClr val="0C0C0C"/>
                </a:solidFill>
                <a:latin typeface="Arial"/>
              </a:rPr>
              <a:t>        Copyright (c) 1996-2006 by all Contributors</a:t>
            </a:r>
          </a:p>
          <a:p>
            <a:pPr defTabSz="914400"/>
            <a:r>
              <a:rPr lang="en-US" sz="800" dirty="0">
                <a:solidFill>
                  <a:srgbClr val="0C0C0C"/>
                </a:solidFill>
                <a:latin typeface="Arial"/>
              </a:rPr>
              <a:t>                    ALL RIGHTS RESERVED</a:t>
            </a:r>
          </a:p>
          <a:p>
            <a:pPr defTabSz="914400"/>
            <a:r>
              <a:rPr lang="en-US" sz="800" dirty="0">
                <a:solidFill>
                  <a:srgbClr val="0C0C0C"/>
                </a:solidFill>
                <a:latin typeface="Arial"/>
              </a:rPr>
              <a:t>Note: VCD trace timescale unit is set by user to 1.000000e-12 sec.</a:t>
            </a:r>
          </a:p>
          <a:p>
            <a:pPr defTabSz="914400"/>
            <a:r>
              <a:rPr lang="en-US" sz="800" dirty="0">
                <a:solidFill>
                  <a:srgbClr val="0C0C0C"/>
                </a:solidFill>
                <a:latin typeface="Arial"/>
              </a:rPr>
              <a:t>  0 3</a:t>
            </a:r>
          </a:p>
          <a:p>
            <a:pPr defTabSz="914400"/>
            <a:r>
              <a:rPr lang="en-US" sz="800" dirty="0">
                <a:solidFill>
                  <a:srgbClr val="0C0C0C"/>
                </a:solidFill>
                <a:latin typeface="Arial"/>
              </a:rPr>
              <a:t>  1 2</a:t>
            </a:r>
          </a:p>
          <a:p>
            <a:pPr defTabSz="914400"/>
            <a:r>
              <a:rPr lang="en-US" sz="800" dirty="0">
                <a:solidFill>
                  <a:srgbClr val="0C0C0C"/>
                </a:solidFill>
                <a:latin typeface="Arial"/>
              </a:rPr>
              <a:t>  2 1</a:t>
            </a:r>
          </a:p>
          <a:p>
            <a:pPr defTabSz="914400"/>
            <a:r>
              <a:rPr lang="en-US" sz="800" dirty="0">
                <a:solidFill>
                  <a:srgbClr val="0C0C0C"/>
                </a:solidFill>
                <a:latin typeface="Arial"/>
              </a:rPr>
              <a:t>  3 0</a:t>
            </a:r>
          </a:p>
          <a:p>
            <a:pPr defTabSz="914400"/>
            <a:r>
              <a:rPr lang="en-US" sz="800" b="1" dirty="0">
                <a:solidFill>
                  <a:srgbClr val="0C0C0C"/>
                </a:solidFill>
                <a:latin typeface="Arial"/>
              </a:rPr>
              <a:t>@E Simulation failed: Function 'main' returns nonzero value '1'.</a:t>
            </a:r>
          </a:p>
          <a:p>
            <a:pPr defTabSz="914400"/>
            <a:r>
              <a:rPr lang="en-US" sz="800" b="1" dirty="0">
                <a:solidFill>
                  <a:srgbClr val="0C0C0C"/>
                </a:solidFill>
                <a:latin typeface="Arial"/>
              </a:rPr>
              <a:t>@E [SIM-1] '</a:t>
            </a:r>
            <a:r>
              <a:rPr lang="en-US" sz="800" b="1" dirty="0" err="1">
                <a:solidFill>
                  <a:srgbClr val="0C0C0C"/>
                </a:solidFill>
                <a:latin typeface="Arial"/>
              </a:rPr>
              <a:t>csim_design</a:t>
            </a:r>
            <a:r>
              <a:rPr lang="en-US" sz="800" b="1" dirty="0">
                <a:solidFill>
                  <a:srgbClr val="0C0C0C"/>
                </a:solidFill>
                <a:latin typeface="Arial"/>
              </a:rPr>
              <a:t>' failed: nonzero return value*</a:t>
            </a:r>
          </a:p>
        </p:txBody>
      </p:sp>
      <p:sp>
        <p:nvSpPr>
          <p:cNvPr id="6" name="TextBox 5"/>
          <p:cNvSpPr txBox="1"/>
          <p:nvPr/>
        </p:nvSpPr>
        <p:spPr>
          <a:xfrm>
            <a:off x="5686455" y="3711270"/>
            <a:ext cx="2713247" cy="400110"/>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000" b="1" dirty="0">
                <a:solidFill>
                  <a:srgbClr val="0C0C0C"/>
                </a:solidFill>
                <a:latin typeface="Arial"/>
              </a:rPr>
              <a:t>The test bench </a:t>
            </a:r>
            <a:r>
              <a:rPr lang="en-US" sz="1000" b="1" i="1" dirty="0">
                <a:solidFill>
                  <a:srgbClr val="0C0C0C"/>
                </a:solidFill>
                <a:latin typeface="Arial"/>
              </a:rPr>
              <a:t>could</a:t>
            </a:r>
            <a:r>
              <a:rPr lang="en-US" sz="1000" b="1" dirty="0">
                <a:solidFill>
                  <a:srgbClr val="0C0C0C"/>
                </a:solidFill>
                <a:latin typeface="Arial"/>
              </a:rPr>
              <a:t> show the correct results after RTL </a:t>
            </a:r>
            <a:r>
              <a:rPr lang="en-US" sz="1000" b="1" dirty="0" err="1">
                <a:solidFill>
                  <a:srgbClr val="0C0C0C"/>
                </a:solidFill>
                <a:latin typeface="Arial"/>
              </a:rPr>
              <a:t>sim</a:t>
            </a:r>
            <a:endParaRPr lang="en-US" sz="1000" b="1" dirty="0">
              <a:solidFill>
                <a:srgbClr val="0C0C0C"/>
              </a:solidFill>
              <a:latin typeface="Arial"/>
            </a:endParaRPr>
          </a:p>
        </p:txBody>
      </p:sp>
      <p:sp>
        <p:nvSpPr>
          <p:cNvPr id="7" name="TextBox 6"/>
          <p:cNvSpPr txBox="1"/>
          <p:nvPr/>
        </p:nvSpPr>
        <p:spPr>
          <a:xfrm>
            <a:off x="5686455" y="4172130"/>
            <a:ext cx="2713247" cy="400110"/>
          </a:xfrm>
          <a:prstGeom prst="rect">
            <a:avLst/>
          </a:prstGeom>
          <a:solidFill>
            <a:srgbClr val="FFFF99"/>
          </a:solidFill>
          <a:ln w="28575">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000" b="1" dirty="0">
                <a:solidFill>
                  <a:srgbClr val="0C0C0C"/>
                </a:solidFill>
                <a:latin typeface="Arial"/>
              </a:rPr>
              <a:t>But if there is no return 0, </a:t>
            </a:r>
            <a:r>
              <a:rPr lang="en-US" sz="1000" b="1" dirty="0" err="1">
                <a:solidFill>
                  <a:srgbClr val="0C0C0C"/>
                </a:solidFill>
                <a:latin typeface="Arial"/>
              </a:rPr>
              <a:t>Vivado</a:t>
            </a:r>
            <a:r>
              <a:rPr lang="en-US" sz="1000" b="1" dirty="0">
                <a:solidFill>
                  <a:srgbClr val="0C0C0C"/>
                </a:solidFill>
                <a:latin typeface="Arial"/>
              </a:rPr>
              <a:t> HLS will report a failure</a:t>
            </a:r>
          </a:p>
        </p:txBody>
      </p:sp>
      <p:cxnSp>
        <p:nvCxnSpPr>
          <p:cNvPr id="9" name="Straight Arrow Connector 8"/>
          <p:cNvCxnSpPr/>
          <p:nvPr/>
        </p:nvCxnSpPr>
        <p:spPr>
          <a:xfrm flipH="1">
            <a:off x="5020943" y="4018510"/>
            <a:ext cx="511932" cy="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11" name="Straight Arrow Connector 10"/>
          <p:cNvCxnSpPr/>
          <p:nvPr/>
        </p:nvCxnSpPr>
        <p:spPr>
          <a:xfrm flipH="1">
            <a:off x="5020941" y="4440965"/>
            <a:ext cx="511932" cy="0"/>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Test Bench : Gotcha 2</a:t>
            </a:r>
          </a:p>
        </p:txBody>
      </p:sp>
      <p:sp>
        <p:nvSpPr>
          <p:cNvPr id="3" name="Content Placeholder 2"/>
          <p:cNvSpPr>
            <a:spLocks noGrp="1"/>
          </p:cNvSpPr>
          <p:nvPr>
            <p:ph idx="1"/>
          </p:nvPr>
        </p:nvSpPr>
        <p:spPr/>
        <p:txBody>
          <a:bodyPr/>
          <a:lstStyle/>
          <a:p>
            <a:r>
              <a:rPr lang="en-US" dirty="0"/>
              <a:t>Include all files used by the test bench in </a:t>
            </a:r>
            <a:r>
              <a:rPr lang="en-US" dirty="0" err="1"/>
              <a:t>Vivado</a:t>
            </a:r>
            <a:r>
              <a:rPr lang="en-US" dirty="0"/>
              <a:t> HLS</a:t>
            </a:r>
          </a:p>
          <a:p>
            <a:pPr lvl="1"/>
            <a:r>
              <a:rPr lang="en-US" dirty="0"/>
              <a:t>This test bench reads golden data from files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marL="457063" lvl="1" indent="0">
              <a:buNone/>
            </a:pPr>
            <a:endParaRPr lang="en-US" dirty="0"/>
          </a:p>
          <a:p>
            <a:pPr lvl="1"/>
            <a:endParaRPr lang="en-US" dirty="0"/>
          </a:p>
          <a:p>
            <a:pPr lvl="1"/>
            <a:endParaRPr lang="en-US" dirty="0"/>
          </a:p>
          <a:p>
            <a:pPr lvl="1"/>
            <a:r>
              <a:rPr lang="en-US" dirty="0"/>
              <a:t>Include all files or RTL verification </a:t>
            </a:r>
            <a:r>
              <a:rPr lang="en-US" b="1" u="sng" dirty="0"/>
              <a:t>will</a:t>
            </a:r>
            <a:r>
              <a:rPr lang="en-US" dirty="0"/>
              <a:t> fail</a:t>
            </a:r>
          </a:p>
          <a:p>
            <a:pPr lvl="1">
              <a:buNone/>
            </a:pPr>
            <a:endParaRPr lang="en-US" dirty="0"/>
          </a:p>
        </p:txBody>
      </p:sp>
      <p:sp>
        <p:nvSpPr>
          <p:cNvPr id="13" name="Slide Number Placeholder 1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30</a:t>
            </a:fld>
            <a:endParaRPr lang="en-US" dirty="0">
              <a:solidFill>
                <a:srgbClr val="0C0C0C">
                  <a:tint val="75000"/>
                </a:srgbClr>
              </a:solidFill>
              <a:latin typeface="Arial"/>
            </a:endParaRPr>
          </a:p>
        </p:txBody>
      </p:sp>
      <p:pic>
        <p:nvPicPr>
          <p:cNvPr id="14" name="Picture 13" descr="68_add_tb_files.PNG">
            <a:extLst>
              <a:ext uri="{FF2B5EF4-FFF2-40B4-BE49-F238E27FC236}">
                <a16:creationId xmlns:a16="http://schemas.microsoft.com/office/drawing/2014/main" id="{C5DD9180-6FF7-4E71-95DB-7A3CA4BA1B34}"/>
              </a:ext>
            </a:extLst>
          </p:cNvPr>
          <p:cNvPicPr>
            <a:picLocks noChangeAspect="1"/>
          </p:cNvPicPr>
          <p:nvPr/>
        </p:nvPicPr>
        <p:blipFill>
          <a:blip r:embed="rId2"/>
          <a:stretch>
            <a:fillRect/>
          </a:stretch>
        </p:blipFill>
        <p:spPr>
          <a:xfrm>
            <a:off x="7198401" y="4238415"/>
            <a:ext cx="4137817" cy="1767202"/>
          </a:xfrm>
          <a:prstGeom prst="rect">
            <a:avLst/>
          </a:prstGeom>
          <a:ln>
            <a:noFill/>
          </a:ln>
          <a:effectLst>
            <a:outerShdw blurRad="292100" dist="139700" dir="2700000" algn="tl" rotWithShape="0">
              <a:srgbClr val="333333">
                <a:alpha val="65000"/>
              </a:srgbClr>
            </a:outerShdw>
          </a:effectLst>
        </p:spPr>
      </p:pic>
      <p:sp>
        <p:nvSpPr>
          <p:cNvPr id="15" name="TextBox 14">
            <a:extLst>
              <a:ext uri="{FF2B5EF4-FFF2-40B4-BE49-F238E27FC236}">
                <a16:creationId xmlns:a16="http://schemas.microsoft.com/office/drawing/2014/main" id="{B448A6ED-6714-45A1-8F52-4ABA943AB58D}"/>
              </a:ext>
            </a:extLst>
          </p:cNvPr>
          <p:cNvSpPr txBox="1"/>
          <p:nvPr/>
        </p:nvSpPr>
        <p:spPr>
          <a:xfrm>
            <a:off x="1362361" y="2203523"/>
            <a:ext cx="3634727" cy="332398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err="1">
                <a:solidFill>
                  <a:srgbClr val="000000"/>
                </a:solidFill>
                <a:latin typeface="Arial"/>
              </a:rPr>
              <a:t>int</a:t>
            </a:r>
            <a:r>
              <a:rPr lang="en-US" sz="1000" b="1" kern="0" dirty="0">
                <a:solidFill>
                  <a:srgbClr val="000000"/>
                </a:solidFill>
                <a:latin typeface="Arial"/>
              </a:rPr>
              <a:t> main </a:t>
            </a:r>
            <a:r>
              <a:rPr lang="en-US" sz="1000" kern="0" dirty="0">
                <a:solidFill>
                  <a:srgbClr val="000000"/>
                </a:solidFill>
                <a:latin typeface="Arial"/>
              </a:rPr>
              <a:t>() { </a:t>
            </a:r>
          </a:p>
          <a:p>
            <a:pPr defTabSz="914400" fontAlgn="base">
              <a:spcBef>
                <a:spcPct val="0"/>
              </a:spcBef>
              <a:spcAft>
                <a:spcPct val="0"/>
              </a:spcAft>
              <a:defRPr/>
            </a:pPr>
            <a:r>
              <a:rPr lang="en-US" sz="1000" kern="0" dirty="0">
                <a:solidFill>
                  <a:srgbClr val="000000"/>
                </a:solidFill>
                <a:latin typeface="Arial"/>
              </a:rPr>
              <a:t>   …</a:t>
            </a:r>
          </a:p>
          <a:p>
            <a:pPr defTabSz="914400" fontAlgn="base">
              <a:spcBef>
                <a:spcPct val="0"/>
              </a:spcBef>
              <a:spcAft>
                <a:spcPct val="0"/>
              </a:spcAft>
              <a:tabLst>
                <a:tab pos="457200" algn="l"/>
              </a:tabLst>
              <a:defRPr/>
            </a:pPr>
            <a:r>
              <a:rPr lang="en-US" sz="1000" b="1" kern="0" dirty="0">
                <a:solidFill>
                  <a:srgbClr val="000000"/>
                </a:solidFill>
                <a:latin typeface="Arial"/>
              </a:rPr>
              <a:t>	</a:t>
            </a:r>
            <a:r>
              <a:rPr lang="en-US" sz="1000" kern="0" dirty="0">
                <a:solidFill>
                  <a:srgbClr val="000000"/>
                </a:solidFill>
                <a:latin typeface="Arial"/>
              </a:rPr>
              <a:t>// Get data from files</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fp</a:t>
            </a:r>
            <a:r>
              <a:rPr lang="en-US" sz="1000" kern="0" dirty="0">
                <a:solidFill>
                  <a:srgbClr val="000000"/>
                </a:solidFill>
                <a:latin typeface="Arial"/>
              </a:rPr>
              <a:t>=</a:t>
            </a:r>
            <a:r>
              <a:rPr lang="en-US" sz="1000" kern="0" dirty="0" err="1">
                <a:solidFill>
                  <a:srgbClr val="000000"/>
                </a:solidFill>
                <a:latin typeface="Arial"/>
              </a:rPr>
              <a:t>fopen</a:t>
            </a:r>
            <a:r>
              <a:rPr lang="en-US" sz="1000" kern="0" dirty="0">
                <a:solidFill>
                  <a:srgbClr val="000000"/>
                </a:solidFill>
                <a:latin typeface="Arial"/>
              </a:rPr>
              <a:t>("</a:t>
            </a:r>
            <a:r>
              <a:rPr lang="en-US" sz="1000" b="1" kern="0" dirty="0" err="1">
                <a:solidFill>
                  <a:srgbClr val="000000"/>
                </a:solidFill>
                <a:latin typeface="Arial"/>
              </a:rPr>
              <a:t>tb_data</a:t>
            </a:r>
            <a:r>
              <a:rPr lang="en-US" sz="1000" b="1" kern="0" dirty="0">
                <a:solidFill>
                  <a:srgbClr val="000000"/>
                </a:solidFill>
                <a:latin typeface="Arial"/>
              </a:rPr>
              <a:t>/</a:t>
            </a:r>
            <a:r>
              <a:rPr lang="en-US" sz="1000" b="1" kern="0" dirty="0" err="1">
                <a:solidFill>
                  <a:srgbClr val="000000"/>
                </a:solidFill>
                <a:latin typeface="Arial"/>
              </a:rPr>
              <a:t>inA.dat</a:t>
            </a:r>
            <a:r>
              <a:rPr lang="en-US" sz="1000" kern="0" dirty="0" err="1">
                <a:solidFill>
                  <a:srgbClr val="000000"/>
                </a:solidFill>
                <a:latin typeface="Arial"/>
              </a:rPr>
              <a:t>","r</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for (</a:t>
            </a:r>
            <a:r>
              <a:rPr lang="en-US" sz="1000" kern="0" dirty="0" err="1">
                <a:solidFill>
                  <a:srgbClr val="000000"/>
                </a:solidFill>
                <a:latin typeface="Arial"/>
              </a:rPr>
              <a:t>i</a:t>
            </a:r>
            <a:r>
              <a:rPr lang="en-US" sz="1000" kern="0" dirty="0">
                <a:solidFill>
                  <a:srgbClr val="000000"/>
                </a:solidFill>
                <a:latin typeface="Arial"/>
              </a:rPr>
              <a:t>=0; </a:t>
            </a:r>
            <a:r>
              <a:rPr lang="en-US" sz="1000" kern="0" dirty="0" err="1">
                <a:solidFill>
                  <a:srgbClr val="000000"/>
                </a:solidFill>
                <a:latin typeface="Arial"/>
              </a:rPr>
              <a:t>i</a:t>
            </a:r>
            <a:r>
              <a:rPr lang="en-US" sz="1000" kern="0" dirty="0">
                <a:solidFill>
                  <a:srgbClr val="000000"/>
                </a:solidFill>
                <a:latin typeface="Arial"/>
              </a:rPr>
              <a:t>&lt;N*NUM_TRANS;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int </a:t>
            </a:r>
            <a:r>
              <a:rPr lang="en-US" sz="1000" kern="0" dirty="0" err="1">
                <a:solidFill>
                  <a:srgbClr val="000000"/>
                </a:solidFill>
                <a:latin typeface="Arial"/>
              </a:rPr>
              <a:t>tmp</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fscanf(</a:t>
            </a:r>
            <a:r>
              <a:rPr lang="en-US" sz="1000" kern="0" dirty="0" err="1">
                <a:solidFill>
                  <a:srgbClr val="000000"/>
                </a:solidFill>
                <a:latin typeface="Arial"/>
              </a:rPr>
              <a:t>fp</a:t>
            </a:r>
            <a:r>
              <a:rPr lang="en-US" sz="1000" kern="0" dirty="0">
                <a:solidFill>
                  <a:srgbClr val="000000"/>
                </a:solidFill>
                <a:latin typeface="Arial"/>
              </a:rPr>
              <a:t>, "%d", &amp;</a:t>
            </a:r>
            <a:r>
              <a:rPr lang="en-US" sz="1000" kern="0" dirty="0" err="1">
                <a:solidFill>
                  <a:srgbClr val="000000"/>
                </a:solidFill>
                <a:latin typeface="Arial"/>
              </a:rPr>
              <a:t>tmp</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b="1" kern="0" dirty="0">
                <a:solidFill>
                  <a:srgbClr val="000000"/>
                </a:solidFill>
                <a:latin typeface="Arial"/>
              </a:rPr>
              <a:t>		</a:t>
            </a:r>
            <a:r>
              <a:rPr lang="en-US" sz="1000" b="1" kern="0" dirty="0" err="1">
                <a:solidFill>
                  <a:srgbClr val="000000"/>
                </a:solidFill>
                <a:latin typeface="Arial"/>
              </a:rPr>
              <a:t>a_gold</a:t>
            </a:r>
            <a:r>
              <a:rPr lang="en-US" sz="1000" b="1" kern="0" dirty="0">
                <a:solidFill>
                  <a:srgbClr val="000000"/>
                </a:solidFill>
                <a:latin typeface="Arial"/>
              </a:rPr>
              <a:t>[</a:t>
            </a:r>
            <a:r>
              <a:rPr lang="en-US" sz="1000" b="1" kern="0" dirty="0" err="1">
                <a:solidFill>
                  <a:srgbClr val="000000"/>
                </a:solidFill>
                <a:latin typeface="Arial"/>
              </a:rPr>
              <a:t>i</a:t>
            </a:r>
            <a:r>
              <a:rPr lang="en-US" sz="1000" b="1" kern="0" dirty="0">
                <a:solidFill>
                  <a:srgbClr val="000000"/>
                </a:solidFill>
                <a:latin typeface="Arial"/>
              </a:rPr>
              <a:t>] = </a:t>
            </a:r>
            <a:r>
              <a:rPr lang="en-US" sz="1000" b="1" kern="0" dirty="0" err="1">
                <a:solidFill>
                  <a:srgbClr val="000000"/>
                </a:solidFill>
                <a:latin typeface="Arial"/>
              </a:rPr>
              <a:t>tmp</a:t>
            </a:r>
            <a:r>
              <a:rPr lang="en-US" sz="1000" b="1"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 </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fclose</a:t>
            </a:r>
            <a:r>
              <a:rPr lang="en-US" sz="1000" kern="0" dirty="0">
                <a:solidFill>
                  <a:srgbClr val="000000"/>
                </a:solidFill>
                <a:latin typeface="Arial"/>
              </a:rPr>
              <a:t>(</a:t>
            </a:r>
            <a:r>
              <a:rPr lang="en-US" sz="1000" kern="0" dirty="0" err="1">
                <a:solidFill>
                  <a:srgbClr val="000000"/>
                </a:solidFill>
                <a:latin typeface="Arial"/>
              </a:rPr>
              <a:t>fp</a:t>
            </a:r>
            <a:r>
              <a:rPr lang="en-US" sz="1000" kern="0" dirty="0">
                <a:solidFill>
                  <a:srgbClr val="000000"/>
                </a:solidFill>
                <a:latin typeface="Arial"/>
              </a:rPr>
              <a:t>);</a:t>
            </a:r>
          </a:p>
          <a:p>
            <a:pPr defTabSz="914400" fontAlgn="base">
              <a:spcBef>
                <a:spcPct val="0"/>
              </a:spcBef>
              <a:spcAft>
                <a:spcPct val="0"/>
              </a:spcAft>
              <a:tabLst>
                <a:tab pos="457200" algn="l"/>
              </a:tabLst>
              <a:defRPr/>
            </a:pPr>
            <a:endParaRPr lang="en-US" sz="1000" kern="0" dirty="0">
              <a:solidFill>
                <a:srgbClr val="000000"/>
              </a:solidFill>
              <a:latin typeface="Arial"/>
            </a:endParaRP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fp</a:t>
            </a:r>
            <a:r>
              <a:rPr lang="en-US" sz="1000" kern="0" dirty="0">
                <a:solidFill>
                  <a:srgbClr val="000000"/>
                </a:solidFill>
                <a:latin typeface="Arial"/>
              </a:rPr>
              <a:t>=</a:t>
            </a:r>
            <a:r>
              <a:rPr lang="en-US" sz="1000" kern="0" dirty="0" err="1">
                <a:solidFill>
                  <a:srgbClr val="000000"/>
                </a:solidFill>
                <a:latin typeface="Arial"/>
              </a:rPr>
              <a:t>fopen</a:t>
            </a:r>
            <a:r>
              <a:rPr lang="en-US" sz="1000" kern="0" dirty="0">
                <a:solidFill>
                  <a:srgbClr val="000000"/>
                </a:solidFill>
                <a:latin typeface="Arial"/>
              </a:rPr>
              <a:t>("</a:t>
            </a:r>
            <a:r>
              <a:rPr lang="en-US" sz="1000" b="1" kern="0" dirty="0" err="1">
                <a:solidFill>
                  <a:srgbClr val="000000"/>
                </a:solidFill>
                <a:latin typeface="Arial"/>
              </a:rPr>
              <a:t>tb_data</a:t>
            </a:r>
            <a:r>
              <a:rPr lang="en-US" sz="1000" b="1" kern="0" dirty="0">
                <a:solidFill>
                  <a:srgbClr val="000000"/>
                </a:solidFill>
                <a:latin typeface="Arial"/>
              </a:rPr>
              <a:t>/</a:t>
            </a:r>
            <a:r>
              <a:rPr lang="en-US" sz="1000" b="1" kern="0" dirty="0" err="1">
                <a:solidFill>
                  <a:srgbClr val="000000"/>
                </a:solidFill>
                <a:latin typeface="Arial"/>
              </a:rPr>
              <a:t>inB.dat</a:t>
            </a:r>
            <a:r>
              <a:rPr lang="en-US" sz="1000" kern="0" dirty="0" err="1">
                <a:solidFill>
                  <a:srgbClr val="000000"/>
                </a:solidFill>
                <a:latin typeface="Arial"/>
              </a:rPr>
              <a:t>","r</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for (</a:t>
            </a:r>
            <a:r>
              <a:rPr lang="en-US" sz="1000" kern="0" dirty="0" err="1">
                <a:solidFill>
                  <a:srgbClr val="000000"/>
                </a:solidFill>
                <a:latin typeface="Arial"/>
              </a:rPr>
              <a:t>i</a:t>
            </a:r>
            <a:r>
              <a:rPr lang="en-US" sz="1000" kern="0" dirty="0">
                <a:solidFill>
                  <a:srgbClr val="000000"/>
                </a:solidFill>
                <a:latin typeface="Arial"/>
              </a:rPr>
              <a:t>=0; </a:t>
            </a:r>
            <a:r>
              <a:rPr lang="en-US" sz="1000" kern="0" dirty="0" err="1">
                <a:solidFill>
                  <a:srgbClr val="000000"/>
                </a:solidFill>
                <a:latin typeface="Arial"/>
              </a:rPr>
              <a:t>i</a:t>
            </a:r>
            <a:r>
              <a:rPr lang="en-US" sz="1000" kern="0" dirty="0">
                <a:solidFill>
                  <a:srgbClr val="000000"/>
                </a:solidFill>
                <a:latin typeface="Arial"/>
              </a:rPr>
              <a:t>&lt;N*NUM_TRANS; </a:t>
            </a:r>
            <a:r>
              <a:rPr lang="en-US" sz="1000" kern="0" dirty="0" err="1">
                <a:solidFill>
                  <a:srgbClr val="000000"/>
                </a:solidFill>
                <a:latin typeface="Arial"/>
              </a:rPr>
              <a:t>i</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int </a:t>
            </a:r>
            <a:r>
              <a:rPr lang="en-US" sz="1000" kern="0" dirty="0" err="1">
                <a:solidFill>
                  <a:srgbClr val="000000"/>
                </a:solidFill>
                <a:latin typeface="Arial"/>
              </a:rPr>
              <a:t>tmp</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fscanf(</a:t>
            </a:r>
            <a:r>
              <a:rPr lang="en-US" sz="1000" kern="0" dirty="0" err="1">
                <a:solidFill>
                  <a:srgbClr val="000000"/>
                </a:solidFill>
                <a:latin typeface="Arial"/>
              </a:rPr>
              <a:t>fp</a:t>
            </a:r>
            <a:r>
              <a:rPr lang="en-US" sz="1000" kern="0" dirty="0">
                <a:solidFill>
                  <a:srgbClr val="000000"/>
                </a:solidFill>
                <a:latin typeface="Arial"/>
              </a:rPr>
              <a:t>, "%d", &amp;</a:t>
            </a:r>
            <a:r>
              <a:rPr lang="en-US" sz="1000" kern="0" dirty="0" err="1">
                <a:solidFill>
                  <a:srgbClr val="000000"/>
                </a:solidFill>
                <a:latin typeface="Arial"/>
              </a:rPr>
              <a:t>tmp</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b="1" kern="0" dirty="0">
                <a:solidFill>
                  <a:srgbClr val="000000"/>
                </a:solidFill>
                <a:latin typeface="Arial"/>
              </a:rPr>
              <a:t>		</a:t>
            </a:r>
            <a:r>
              <a:rPr lang="en-US" sz="1000" b="1" kern="0" dirty="0" err="1">
                <a:solidFill>
                  <a:srgbClr val="000000"/>
                </a:solidFill>
                <a:latin typeface="Arial"/>
              </a:rPr>
              <a:t>b_gold</a:t>
            </a:r>
            <a:r>
              <a:rPr lang="en-US" sz="1000" b="1" kern="0" dirty="0">
                <a:solidFill>
                  <a:srgbClr val="000000"/>
                </a:solidFill>
                <a:latin typeface="Arial"/>
              </a:rPr>
              <a:t>[</a:t>
            </a:r>
            <a:r>
              <a:rPr lang="en-US" sz="1000" b="1" kern="0" dirty="0" err="1">
                <a:solidFill>
                  <a:srgbClr val="000000"/>
                </a:solidFill>
                <a:latin typeface="Arial"/>
              </a:rPr>
              <a:t>i</a:t>
            </a:r>
            <a:r>
              <a:rPr lang="en-US" sz="1000" b="1" kern="0" dirty="0">
                <a:solidFill>
                  <a:srgbClr val="000000"/>
                </a:solidFill>
                <a:latin typeface="Arial"/>
              </a:rPr>
              <a:t>] = </a:t>
            </a:r>
            <a:r>
              <a:rPr lang="en-US" sz="1000" b="1" kern="0" dirty="0" err="1">
                <a:solidFill>
                  <a:srgbClr val="000000"/>
                </a:solidFill>
                <a:latin typeface="Arial"/>
              </a:rPr>
              <a:t>tmp</a:t>
            </a:r>
            <a:r>
              <a:rPr lang="en-US" sz="1000" b="1"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 </a:t>
            </a:r>
          </a:p>
          <a:p>
            <a:pPr defTabSz="914400" fontAlgn="base">
              <a:spcBef>
                <a:spcPct val="0"/>
              </a:spcBef>
              <a:spcAft>
                <a:spcPct val="0"/>
              </a:spcAft>
              <a:tabLst>
                <a:tab pos="457200" algn="l"/>
              </a:tabLst>
              <a:defRPr/>
            </a:pPr>
            <a:r>
              <a:rPr lang="en-US" sz="1000" kern="0" dirty="0">
                <a:solidFill>
                  <a:srgbClr val="000000"/>
                </a:solidFill>
                <a:latin typeface="Arial"/>
              </a:rPr>
              <a:t>	</a:t>
            </a:r>
            <a:r>
              <a:rPr lang="en-US" sz="1000" kern="0" dirty="0" err="1">
                <a:solidFill>
                  <a:srgbClr val="000000"/>
                </a:solidFill>
                <a:latin typeface="Arial"/>
              </a:rPr>
              <a:t>fclose</a:t>
            </a:r>
            <a:r>
              <a:rPr lang="en-US" sz="1000" kern="0" dirty="0">
                <a:solidFill>
                  <a:srgbClr val="000000"/>
                </a:solidFill>
                <a:latin typeface="Arial"/>
              </a:rPr>
              <a:t>(</a:t>
            </a:r>
            <a:r>
              <a:rPr lang="en-US" sz="1000" kern="0" dirty="0" err="1">
                <a:solidFill>
                  <a:srgbClr val="000000"/>
                </a:solidFill>
                <a:latin typeface="Arial"/>
              </a:rPr>
              <a:t>fp</a:t>
            </a:r>
            <a:r>
              <a:rPr lang="en-US" sz="1000" kern="0" dirty="0">
                <a:solidFill>
                  <a:srgbClr val="000000"/>
                </a:solidFill>
                <a:latin typeface="Arial"/>
              </a:rPr>
              <a:t>);</a:t>
            </a:r>
          </a:p>
          <a:p>
            <a:pPr defTabSz="914400" fontAlgn="base">
              <a:spcBef>
                <a:spcPct val="0"/>
              </a:spcBef>
              <a:spcAft>
                <a:spcPct val="0"/>
              </a:spcAft>
              <a:tabLst>
                <a:tab pos="457200" algn="l"/>
              </a:tabLst>
              <a:defRPr/>
            </a:pP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return ret;</a:t>
            </a:r>
          </a:p>
          <a:p>
            <a:pPr defTabSz="914400" fontAlgn="base">
              <a:spcBef>
                <a:spcPct val="0"/>
              </a:spcBef>
              <a:spcAft>
                <a:spcPct val="0"/>
              </a:spcAft>
              <a:defRPr/>
            </a:pPr>
            <a:r>
              <a:rPr lang="en-US" sz="1000" kern="0" dirty="0">
                <a:solidFill>
                  <a:srgbClr val="000000"/>
                </a:solidFill>
                <a:latin typeface="Arial"/>
              </a:rPr>
              <a:t>}</a:t>
            </a:r>
          </a:p>
        </p:txBody>
      </p:sp>
      <p:pic>
        <p:nvPicPr>
          <p:cNvPr id="16" name="Picture 15" descr="67_add_tb.PNG">
            <a:extLst>
              <a:ext uri="{FF2B5EF4-FFF2-40B4-BE49-F238E27FC236}">
                <a16:creationId xmlns:a16="http://schemas.microsoft.com/office/drawing/2014/main" id="{6287A3F6-82B5-4941-8390-3CC1C04B83B9}"/>
              </a:ext>
            </a:extLst>
          </p:cNvPr>
          <p:cNvPicPr>
            <a:picLocks noChangeAspect="1"/>
          </p:cNvPicPr>
          <p:nvPr/>
        </p:nvPicPr>
        <p:blipFill>
          <a:blip r:embed="rId3"/>
          <a:stretch>
            <a:fillRect/>
          </a:stretch>
        </p:blipFill>
        <p:spPr>
          <a:xfrm>
            <a:off x="7195387" y="2202950"/>
            <a:ext cx="4102997" cy="1824376"/>
          </a:xfrm>
          <a:prstGeom prst="rect">
            <a:avLst/>
          </a:prstGeom>
          <a:ln>
            <a:noFill/>
          </a:ln>
          <a:effectLst>
            <a:outerShdw blurRad="292100" dist="139700" dir="2700000" algn="tl" rotWithShape="0">
              <a:srgbClr val="333333">
                <a:alpha val="65000"/>
              </a:srgbClr>
            </a:outerShdw>
          </a:effectLst>
        </p:spPr>
      </p:pic>
      <p:sp>
        <p:nvSpPr>
          <p:cNvPr id="17" name="Right Arrow 7">
            <a:extLst>
              <a:ext uri="{FF2B5EF4-FFF2-40B4-BE49-F238E27FC236}">
                <a16:creationId xmlns:a16="http://schemas.microsoft.com/office/drawing/2014/main" id="{114F859E-0274-4DD7-9E14-04AA591D8D64}"/>
              </a:ext>
            </a:extLst>
          </p:cNvPr>
          <p:cNvSpPr/>
          <p:nvPr/>
        </p:nvSpPr>
        <p:spPr>
          <a:xfrm>
            <a:off x="4843507" y="2702787"/>
            <a:ext cx="2815633" cy="107534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8" name="TextBox 17">
            <a:extLst>
              <a:ext uri="{FF2B5EF4-FFF2-40B4-BE49-F238E27FC236}">
                <a16:creationId xmlns:a16="http://schemas.microsoft.com/office/drawing/2014/main" id="{2C325397-BAD1-4E24-A27E-E11FD03C1018}"/>
              </a:ext>
            </a:extLst>
          </p:cNvPr>
          <p:cNvSpPr txBox="1"/>
          <p:nvPr/>
        </p:nvSpPr>
        <p:spPr>
          <a:xfrm>
            <a:off x="4792314" y="3010029"/>
            <a:ext cx="2559667" cy="461665"/>
          </a:xfrm>
          <a:prstGeom prst="rect">
            <a:avLst/>
          </a:prstGeom>
          <a:noFill/>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Include file directory with the test bench</a:t>
            </a:r>
          </a:p>
        </p:txBody>
      </p:sp>
      <p:sp>
        <p:nvSpPr>
          <p:cNvPr id="19" name="Right Arrow 9">
            <a:extLst>
              <a:ext uri="{FF2B5EF4-FFF2-40B4-BE49-F238E27FC236}">
                <a16:creationId xmlns:a16="http://schemas.microsoft.com/office/drawing/2014/main" id="{AE642988-0CCC-48AC-9415-6B99F73231F7}"/>
              </a:ext>
            </a:extLst>
          </p:cNvPr>
          <p:cNvSpPr/>
          <p:nvPr/>
        </p:nvSpPr>
        <p:spPr>
          <a:xfrm>
            <a:off x="4792315" y="4507822"/>
            <a:ext cx="2815633" cy="107534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20" name="TextBox 19">
            <a:extLst>
              <a:ext uri="{FF2B5EF4-FFF2-40B4-BE49-F238E27FC236}">
                <a16:creationId xmlns:a16="http://schemas.microsoft.com/office/drawing/2014/main" id="{438C4C2C-9F2F-458A-83A9-9A92887DB797}"/>
              </a:ext>
            </a:extLst>
          </p:cNvPr>
          <p:cNvSpPr txBox="1"/>
          <p:nvPr/>
        </p:nvSpPr>
        <p:spPr>
          <a:xfrm>
            <a:off x="4741122" y="4930279"/>
            <a:ext cx="2559667" cy="276999"/>
          </a:xfrm>
          <a:prstGeom prst="rect">
            <a:avLst/>
          </a:prstGeom>
          <a:noFill/>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Or include both files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E8B68-914A-4413-9C46-714B7797B6FF}"/>
              </a:ext>
            </a:extLst>
          </p:cNvPr>
          <p:cNvSpPr>
            <a:spLocks noGrp="1"/>
          </p:cNvSpPr>
          <p:nvPr>
            <p:ph type="title"/>
          </p:nvPr>
        </p:nvSpPr>
        <p:spPr/>
        <p:txBody>
          <a:bodyPr/>
          <a:lstStyle/>
          <a:p>
            <a:r>
              <a:rPr lang="en-US" altLang="zh-CN" dirty="0"/>
              <a:t>Pointers</a:t>
            </a:r>
            <a:endParaRPr lang="zh-CN" altLang="en-US" dirty="0"/>
          </a:p>
        </p:txBody>
      </p:sp>
    </p:spTree>
    <p:extLst>
      <p:ext uri="{BB962C8B-B14F-4D97-AF65-F5344CB8AC3E}">
        <p14:creationId xmlns:p14="http://schemas.microsoft.com/office/powerpoint/2010/main" val="23821239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Using Pointer	</a:t>
            </a:r>
          </a:p>
        </p:txBody>
      </p:sp>
      <p:sp>
        <p:nvSpPr>
          <p:cNvPr id="3" name="Content Placeholder 2"/>
          <p:cNvSpPr>
            <a:spLocks noGrp="1"/>
          </p:cNvSpPr>
          <p:nvPr>
            <p:ph idx="1"/>
          </p:nvPr>
        </p:nvSpPr>
        <p:spPr>
          <a:xfrm>
            <a:off x="636168" y="1155089"/>
            <a:ext cx="10512862" cy="4759404"/>
          </a:xfrm>
        </p:spPr>
        <p:txBody>
          <a:bodyPr/>
          <a:lstStyle/>
          <a:p>
            <a:r>
              <a:rPr lang="en-US" sz="1800" dirty="0"/>
              <a:t>Structs as pointers </a:t>
            </a:r>
          </a:p>
          <a:p>
            <a:pPr lvl="1"/>
            <a:r>
              <a:rPr lang="en-US" sz="1600" dirty="0"/>
              <a:t>Structs are implemented differently as pointers or pass-by-value</a:t>
            </a:r>
          </a:p>
          <a:p>
            <a:r>
              <a:rPr lang="en-US" sz="1800" dirty="0"/>
              <a:t>Pointer arithmetic</a:t>
            </a:r>
          </a:p>
          <a:p>
            <a:pPr lvl="1"/>
            <a:r>
              <a:rPr lang="en-US" sz="1600" dirty="0"/>
              <a:t>The pointer arithmetic does not access the pointer data in sequence</a:t>
            </a:r>
          </a:p>
          <a:p>
            <a:pPr lvl="1"/>
            <a:r>
              <a:rPr lang="en-US" sz="1600" dirty="0"/>
              <a:t>The interface supplies an address to index the data</a:t>
            </a:r>
          </a:p>
          <a:p>
            <a:r>
              <a:rPr lang="en-US" sz="1800" dirty="0"/>
              <a:t>Converting pointers using malloc</a:t>
            </a:r>
          </a:p>
          <a:p>
            <a:pPr lvl="1"/>
            <a:r>
              <a:rPr lang="en-US" sz="1600" dirty="0"/>
              <a:t>Must be converted to fixed sized resources</a:t>
            </a:r>
          </a:p>
          <a:p>
            <a:r>
              <a:rPr lang="en-US" sz="1800" dirty="0"/>
              <a:t>Multi-access Pointers</a:t>
            </a:r>
          </a:p>
          <a:p>
            <a:pPr lvl="1"/>
            <a:r>
              <a:rPr lang="en-US" sz="1600" dirty="0"/>
              <a:t>Must be marked as volatile or reads and writes will be optimized away</a:t>
            </a:r>
          </a:p>
          <a:p>
            <a:pPr lvl="1"/>
            <a:r>
              <a:rPr lang="en-US" sz="1600" dirty="0"/>
              <a:t>Cannot be rigorously validated with C simulation</a:t>
            </a:r>
          </a:p>
          <a:p>
            <a:pPr lvl="1"/>
            <a:r>
              <a:rPr lang="en-US" sz="1600" dirty="0"/>
              <a:t>Require a depth specification for RTL simulation</a:t>
            </a:r>
          </a:p>
          <a:p>
            <a:r>
              <a:rPr lang="en-US" sz="1800" dirty="0"/>
              <a:t>Arrays of Pointers</a:t>
            </a:r>
          </a:p>
          <a:p>
            <a:pPr lvl="1"/>
            <a:r>
              <a:rPr lang="en-US" sz="1600" b="0" dirty="0"/>
              <a:t>When using arrays of pointers, each pointer must point to a scalar or a scalar array (not another pointer)</a:t>
            </a:r>
            <a:endParaRPr lang="en-US" sz="1600" dirty="0"/>
          </a:p>
          <a:p>
            <a:pPr>
              <a:buNone/>
            </a:pPr>
            <a:endParaRPr lang="en-US" sz="1800" dirty="0"/>
          </a:p>
        </p:txBody>
      </p:sp>
      <p:sp>
        <p:nvSpPr>
          <p:cNvPr id="5" name="Slide Number Placeholder 5">
            <a:extLst>
              <a:ext uri="{FF2B5EF4-FFF2-40B4-BE49-F238E27FC236}">
                <a16:creationId xmlns:a16="http://schemas.microsoft.com/office/drawing/2014/main" id="{A2CC17E6-967F-4640-8557-973198C95413}"/>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32</a:t>
            </a:fld>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Using Pointer	</a:t>
            </a:r>
          </a:p>
        </p:txBody>
      </p:sp>
      <p:sp>
        <p:nvSpPr>
          <p:cNvPr id="3" name="Content Placeholder 2"/>
          <p:cNvSpPr>
            <a:spLocks noGrp="1"/>
          </p:cNvSpPr>
          <p:nvPr>
            <p:ph idx="1"/>
          </p:nvPr>
        </p:nvSpPr>
        <p:spPr>
          <a:xfrm>
            <a:off x="636168" y="1155089"/>
            <a:ext cx="10512862" cy="4759404"/>
          </a:xfrm>
        </p:spPr>
        <p:txBody>
          <a:bodyPr/>
          <a:lstStyle/>
          <a:p>
            <a:r>
              <a:rPr lang="en-US" dirty="0"/>
              <a:t>Structs as pointers </a:t>
            </a:r>
          </a:p>
          <a:p>
            <a:pPr lvl="1"/>
            <a:r>
              <a:rPr lang="en-US" dirty="0"/>
              <a:t>Structs are implemented differently as pointers or pass-by-value</a:t>
            </a:r>
          </a:p>
          <a:p>
            <a:r>
              <a:rPr lang="en-US" dirty="0"/>
              <a:t>Pointer arithmetic</a:t>
            </a:r>
          </a:p>
          <a:p>
            <a:pPr lvl="1"/>
            <a:r>
              <a:rPr lang="en-US" strike="sngStrike" dirty="0"/>
              <a:t>Only supported as interface using </a:t>
            </a:r>
            <a:r>
              <a:rPr lang="en-US" strike="sngStrike" dirty="0" err="1"/>
              <a:t>ap_bus</a:t>
            </a:r>
            <a:endParaRPr lang="en-US" strike="sngStrike" dirty="0"/>
          </a:p>
          <a:p>
            <a:pPr lvl="1"/>
            <a:r>
              <a:rPr lang="en-US" dirty="0">
                <a:highlight>
                  <a:srgbClr val="FFFF00"/>
                </a:highlight>
              </a:rPr>
              <a:t>The pointer arithmetic does not access the pointer data in sequence</a:t>
            </a:r>
          </a:p>
          <a:p>
            <a:pPr lvl="1"/>
            <a:r>
              <a:rPr lang="en-US" dirty="0">
                <a:highlight>
                  <a:srgbClr val="FFFF00"/>
                </a:highlight>
              </a:rPr>
              <a:t>The interface supplies an address to index the data</a:t>
            </a:r>
          </a:p>
          <a:p>
            <a:r>
              <a:rPr lang="en-US" dirty="0"/>
              <a:t>Converting pointers using malloc</a:t>
            </a:r>
          </a:p>
          <a:p>
            <a:pPr lvl="1"/>
            <a:r>
              <a:rPr lang="en-US" dirty="0"/>
              <a:t>Must be converted to fixed sized resources</a:t>
            </a:r>
          </a:p>
          <a:p>
            <a:r>
              <a:rPr lang="en-US" dirty="0"/>
              <a:t>Multi-access Pointers</a:t>
            </a:r>
          </a:p>
          <a:p>
            <a:pPr lvl="1"/>
            <a:r>
              <a:rPr lang="en-US" dirty="0"/>
              <a:t>Must be marked as volatile or reads and writes will be optimized away</a:t>
            </a:r>
          </a:p>
          <a:p>
            <a:pPr lvl="1"/>
            <a:r>
              <a:rPr lang="en-US" dirty="0"/>
              <a:t>Cannot be rigorously validated with C simulation</a:t>
            </a:r>
          </a:p>
          <a:p>
            <a:pPr lvl="1"/>
            <a:r>
              <a:rPr lang="en-US" dirty="0"/>
              <a:t>Require a depth specification for RTL simulation</a:t>
            </a:r>
          </a:p>
          <a:p>
            <a:r>
              <a:rPr lang="en-US" dirty="0"/>
              <a:t>Arrays of Pointers</a:t>
            </a:r>
          </a:p>
          <a:p>
            <a:pPr lvl="1"/>
            <a:r>
              <a:rPr lang="en-US" b="0" dirty="0"/>
              <a:t>When using arrays of pointers, each pointer must point to a scalar or a scalar array (not another pointer)</a:t>
            </a:r>
            <a:endParaRPr lang="en-US" dirty="0"/>
          </a:p>
          <a:p>
            <a:pPr>
              <a:buNone/>
            </a:pPr>
            <a:endParaRPr lang="en-US" dirty="0"/>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33</a:t>
            </a:fld>
            <a:endParaRPr lang="en-US" dirty="0">
              <a:solidFill>
                <a:srgbClr val="0C0C0C">
                  <a:tint val="75000"/>
                </a:srgbClr>
              </a:solidFill>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Pointer &amp; Structs</a:t>
            </a:r>
          </a:p>
        </p:txBody>
      </p:sp>
      <p:sp>
        <p:nvSpPr>
          <p:cNvPr id="3" name="Content Placeholder 2"/>
          <p:cNvSpPr>
            <a:spLocks noGrp="1"/>
          </p:cNvSpPr>
          <p:nvPr>
            <p:ph idx="1"/>
          </p:nvPr>
        </p:nvSpPr>
        <p:spPr/>
        <p:txBody>
          <a:bodyPr/>
          <a:lstStyle/>
          <a:p>
            <a:r>
              <a:rPr lang="en-US" sz="2000" dirty="0"/>
              <a:t>Struct passed as a pointer</a:t>
            </a:r>
          </a:p>
          <a:p>
            <a:pPr lvl="1"/>
            <a:r>
              <a:rPr lang="en-US" sz="1800" dirty="0"/>
              <a:t>When a struct is passed as a pointer</a:t>
            </a:r>
          </a:p>
          <a:p>
            <a:pPr lvl="1"/>
            <a:r>
              <a:rPr lang="en-US" sz="1800" dirty="0"/>
              <a:t>The data will be accessed as pass-by-reference</a:t>
            </a:r>
          </a:p>
          <a:p>
            <a:pPr lvl="1"/>
            <a:endParaRPr lang="en-US" sz="1400" dirty="0"/>
          </a:p>
          <a:p>
            <a:pPr lvl="1"/>
            <a:endParaRPr lang="en-US" sz="1400" dirty="0"/>
          </a:p>
          <a:p>
            <a:pPr lvl="1">
              <a:buNone/>
            </a:pPr>
            <a:endParaRPr lang="en-US" sz="1400" dirty="0"/>
          </a:p>
          <a:p>
            <a:pPr lvl="1">
              <a:buNone/>
            </a:pPr>
            <a:endParaRPr lang="en-US" sz="1400" dirty="0"/>
          </a:p>
          <a:p>
            <a:r>
              <a:rPr lang="en-US" sz="2000" dirty="0"/>
              <a:t>Struct passed by-value</a:t>
            </a:r>
          </a:p>
          <a:p>
            <a:pPr lvl="1"/>
            <a:r>
              <a:rPr lang="en-US" sz="1800" dirty="0"/>
              <a:t>When a struct is passed directly and not as a pointer</a:t>
            </a:r>
          </a:p>
          <a:p>
            <a:pPr lvl="1"/>
            <a:r>
              <a:rPr lang="en-US" sz="1800" dirty="0"/>
              <a:t>The data will be accessed as pass-by-value</a:t>
            </a:r>
          </a:p>
          <a:p>
            <a:endParaRPr lang="en-US" sz="2000" dirty="0"/>
          </a:p>
        </p:txBody>
      </p:sp>
      <p:sp>
        <p:nvSpPr>
          <p:cNvPr id="34" name="TextBox 33">
            <a:extLst>
              <a:ext uri="{FF2B5EF4-FFF2-40B4-BE49-F238E27FC236}">
                <a16:creationId xmlns:a16="http://schemas.microsoft.com/office/drawing/2014/main" id="{ABFAA15F-346B-4638-8488-678105B4E987}"/>
              </a:ext>
            </a:extLst>
          </p:cNvPr>
          <p:cNvSpPr txBox="1"/>
          <p:nvPr/>
        </p:nvSpPr>
        <p:spPr>
          <a:xfrm>
            <a:off x="1744567" y="2600283"/>
            <a:ext cx="2457280" cy="122341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1050" kern="0" dirty="0" err="1">
                <a:solidFill>
                  <a:srgbClr val="000000"/>
                </a:solidFill>
                <a:latin typeface="Arial"/>
              </a:rPr>
              <a:t>typedef</a:t>
            </a:r>
            <a:r>
              <a:rPr lang="en-US" sz="1050" kern="0" dirty="0">
                <a:solidFill>
                  <a:srgbClr val="000000"/>
                </a:solidFill>
                <a:latin typeface="Arial"/>
              </a:rPr>
              <a:t> struct{  </a:t>
            </a:r>
          </a:p>
          <a:p>
            <a:pPr defTabSz="914400" fontAlgn="base">
              <a:spcBef>
                <a:spcPct val="0"/>
              </a:spcBef>
              <a:spcAft>
                <a:spcPct val="0"/>
              </a:spcAft>
              <a:tabLst>
                <a:tab pos="457200" algn="l"/>
              </a:tabLst>
              <a:defRPr/>
            </a:pPr>
            <a:r>
              <a:rPr lang="en-US" sz="1050" kern="0" dirty="0">
                <a:solidFill>
                  <a:srgbClr val="000000"/>
                </a:solidFill>
                <a:latin typeface="Arial"/>
              </a:rPr>
              <a:t>	unsigned char A;  	unsigned char B[4];  	unsigned char C;</a:t>
            </a:r>
          </a:p>
          <a:p>
            <a:pPr defTabSz="914400" fontAlgn="base">
              <a:spcBef>
                <a:spcPct val="0"/>
              </a:spcBef>
              <a:spcAft>
                <a:spcPct val="0"/>
              </a:spcAft>
              <a:tabLst>
                <a:tab pos="457200" algn="l"/>
              </a:tabLst>
              <a:defRPr/>
            </a:pP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a:t>
            </a:r>
          </a:p>
          <a:p>
            <a:pPr defTabSz="914400" fontAlgn="base">
              <a:spcBef>
                <a:spcPct val="0"/>
              </a:spcBef>
              <a:spcAft>
                <a:spcPct val="0"/>
              </a:spcAft>
              <a:tabLst>
                <a:tab pos="457200" algn="l"/>
              </a:tabLst>
              <a:defRPr/>
            </a:pPr>
            <a:endParaRPr lang="en-US" sz="1050" kern="0" dirty="0">
              <a:solidFill>
                <a:srgbClr val="000000"/>
              </a:solidFill>
              <a:latin typeface="Arial"/>
            </a:endParaRPr>
          </a:p>
          <a:p>
            <a:pPr defTabSz="914400" fontAlgn="base">
              <a:spcBef>
                <a:spcPct val="0"/>
              </a:spcBef>
              <a:spcAft>
                <a:spcPct val="0"/>
              </a:spcAft>
              <a:tabLst>
                <a:tab pos="457200" algn="l"/>
              </a:tabLst>
              <a:defRPr/>
            </a:pPr>
            <a:r>
              <a:rPr lang="en-US" sz="1050" kern="0" dirty="0">
                <a:solidFill>
                  <a:srgbClr val="000000"/>
                </a:solidFill>
                <a:latin typeface="Arial"/>
              </a:rPr>
              <a:t>void foo(</a:t>
            </a:r>
            <a:r>
              <a:rPr lang="en-US" sz="1050" kern="0" dirty="0" err="1">
                <a:solidFill>
                  <a:srgbClr val="000000"/>
                </a:solidFill>
                <a:latin typeface="Arial"/>
              </a:rPr>
              <a:t>my_data</a:t>
            </a:r>
            <a:r>
              <a:rPr lang="en-US" sz="1050" kern="0" dirty="0">
                <a:solidFill>
                  <a:srgbClr val="000000"/>
                </a:solidFill>
                <a:latin typeface="Arial"/>
              </a:rPr>
              <a:t> </a:t>
            </a:r>
            <a:r>
              <a:rPr lang="en-US" sz="1050" b="1" kern="0" dirty="0">
                <a:solidFill>
                  <a:srgbClr val="000000"/>
                </a:solidFill>
                <a:latin typeface="Arial"/>
              </a:rPr>
              <a:t>*in</a:t>
            </a:r>
            <a:r>
              <a:rPr lang="en-US" sz="1050" kern="0" dirty="0">
                <a:solidFill>
                  <a:srgbClr val="000000"/>
                </a:solidFill>
                <a:latin typeface="Arial"/>
              </a:rPr>
              <a:t>);</a:t>
            </a:r>
          </a:p>
        </p:txBody>
      </p:sp>
      <p:sp>
        <p:nvSpPr>
          <p:cNvPr id="35" name="Rectangle 34">
            <a:extLst>
              <a:ext uri="{FF2B5EF4-FFF2-40B4-BE49-F238E27FC236}">
                <a16:creationId xmlns:a16="http://schemas.microsoft.com/office/drawing/2014/main" id="{89E80B26-113F-4228-B952-F30A59CF67B4}"/>
              </a:ext>
            </a:extLst>
          </p:cNvPr>
          <p:cNvSpPr/>
          <p:nvPr/>
        </p:nvSpPr>
        <p:spPr>
          <a:xfrm>
            <a:off x="9321182" y="2523473"/>
            <a:ext cx="1586993" cy="115215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cxnSp>
        <p:nvCxnSpPr>
          <p:cNvPr id="37" name="Straight Arrow Connector 36">
            <a:extLst>
              <a:ext uri="{FF2B5EF4-FFF2-40B4-BE49-F238E27FC236}">
                <a16:creationId xmlns:a16="http://schemas.microsoft.com/office/drawing/2014/main" id="{8578F66C-A852-43A1-8D05-C7A2005B4E4F}"/>
              </a:ext>
            </a:extLst>
          </p:cNvPr>
          <p:cNvCxnSpPr/>
          <p:nvPr/>
        </p:nvCxnSpPr>
        <p:spPr>
          <a:xfrm>
            <a:off x="8911635" y="283071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38" name="TextBox 37">
            <a:extLst>
              <a:ext uri="{FF2B5EF4-FFF2-40B4-BE49-F238E27FC236}">
                <a16:creationId xmlns:a16="http://schemas.microsoft.com/office/drawing/2014/main" id="{856597D2-98EA-459E-9C2A-23FDF3D6E7C4}"/>
              </a:ext>
            </a:extLst>
          </p:cNvPr>
          <p:cNvSpPr txBox="1"/>
          <p:nvPr/>
        </p:nvSpPr>
        <p:spPr>
          <a:xfrm>
            <a:off x="8438255" y="2677899"/>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8-bit</a:t>
            </a:r>
          </a:p>
        </p:txBody>
      </p:sp>
      <p:cxnSp>
        <p:nvCxnSpPr>
          <p:cNvPr id="39" name="Straight Arrow Connector 38">
            <a:extLst>
              <a:ext uri="{FF2B5EF4-FFF2-40B4-BE49-F238E27FC236}">
                <a16:creationId xmlns:a16="http://schemas.microsoft.com/office/drawing/2014/main" id="{CCDFCD9D-6DCE-42AA-BFC3-3597E1BD39D3}"/>
              </a:ext>
            </a:extLst>
          </p:cNvPr>
          <p:cNvCxnSpPr/>
          <p:nvPr/>
        </p:nvCxnSpPr>
        <p:spPr>
          <a:xfrm>
            <a:off x="8904216" y="3052175"/>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0" name="TextBox 39">
            <a:extLst>
              <a:ext uri="{FF2B5EF4-FFF2-40B4-BE49-F238E27FC236}">
                <a16:creationId xmlns:a16="http://schemas.microsoft.com/office/drawing/2014/main" id="{ADF7AC96-A308-4563-95C6-F89B4438BB25}"/>
              </a:ext>
            </a:extLst>
          </p:cNvPr>
          <p:cNvSpPr txBox="1"/>
          <p:nvPr/>
        </p:nvSpPr>
        <p:spPr>
          <a:xfrm>
            <a:off x="7456212" y="2907525"/>
            <a:ext cx="1484701"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8-bit Memory port</a:t>
            </a:r>
          </a:p>
        </p:txBody>
      </p:sp>
      <p:cxnSp>
        <p:nvCxnSpPr>
          <p:cNvPr id="41" name="Straight Arrow Connector 40">
            <a:extLst>
              <a:ext uri="{FF2B5EF4-FFF2-40B4-BE49-F238E27FC236}">
                <a16:creationId xmlns:a16="http://schemas.microsoft.com/office/drawing/2014/main" id="{858F6BFF-DB3B-410E-B8B3-AFC8EA22F83F}"/>
              </a:ext>
            </a:extLst>
          </p:cNvPr>
          <p:cNvCxnSpPr/>
          <p:nvPr/>
        </p:nvCxnSpPr>
        <p:spPr>
          <a:xfrm>
            <a:off x="8911635" y="3350447"/>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2" name="TextBox 41">
            <a:extLst>
              <a:ext uri="{FF2B5EF4-FFF2-40B4-BE49-F238E27FC236}">
                <a16:creationId xmlns:a16="http://schemas.microsoft.com/office/drawing/2014/main" id="{37FBD57F-7BAA-457E-8C7C-EB6FCB45060B}"/>
              </a:ext>
            </a:extLst>
          </p:cNvPr>
          <p:cNvSpPr txBox="1"/>
          <p:nvPr/>
        </p:nvSpPr>
        <p:spPr>
          <a:xfrm>
            <a:off x="8438255" y="3197633"/>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8-bit</a:t>
            </a:r>
          </a:p>
        </p:txBody>
      </p:sp>
      <p:cxnSp>
        <p:nvCxnSpPr>
          <p:cNvPr id="43" name="Straight Arrow Connector 42">
            <a:extLst>
              <a:ext uri="{FF2B5EF4-FFF2-40B4-BE49-F238E27FC236}">
                <a16:creationId xmlns:a16="http://schemas.microsoft.com/office/drawing/2014/main" id="{1C564C91-6A60-4722-B431-4C99061247A5}"/>
              </a:ext>
            </a:extLst>
          </p:cNvPr>
          <p:cNvCxnSpPr/>
          <p:nvPr/>
        </p:nvCxnSpPr>
        <p:spPr>
          <a:xfrm rot="10800000">
            <a:off x="8860442" y="3136365"/>
            <a:ext cx="409544"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54" name="Down Arrow 44">
            <a:extLst>
              <a:ext uri="{FF2B5EF4-FFF2-40B4-BE49-F238E27FC236}">
                <a16:creationId xmlns:a16="http://schemas.microsoft.com/office/drawing/2014/main" id="{5C77940C-ADE3-4DFB-A165-5D53F4E89D5C}"/>
              </a:ext>
            </a:extLst>
          </p:cNvPr>
          <p:cNvSpPr/>
          <p:nvPr/>
        </p:nvSpPr>
        <p:spPr>
          <a:xfrm rot="16200000">
            <a:off x="5456024" y="2459613"/>
            <a:ext cx="460860" cy="1126253"/>
          </a:xfrm>
          <a:prstGeom prst="down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65" name="TextBox 64">
            <a:extLst>
              <a:ext uri="{FF2B5EF4-FFF2-40B4-BE49-F238E27FC236}">
                <a16:creationId xmlns:a16="http://schemas.microsoft.com/office/drawing/2014/main" id="{A78F2C31-9E6D-49C8-A9B6-1C4A8006827D}"/>
              </a:ext>
            </a:extLst>
          </p:cNvPr>
          <p:cNvSpPr txBox="1"/>
          <p:nvPr/>
        </p:nvSpPr>
        <p:spPr>
          <a:xfrm>
            <a:off x="9872285" y="2523475"/>
            <a:ext cx="425116"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err="1">
                <a:solidFill>
                  <a:srgbClr val="000000"/>
                </a:solidFill>
              </a:rPr>
              <a:t>foo</a:t>
            </a:r>
            <a:endParaRPr lang="en-US" sz="1200" b="1" kern="0" dirty="0">
              <a:solidFill>
                <a:srgbClr val="000000"/>
              </a:solidFill>
            </a:endParaRPr>
          </a:p>
        </p:txBody>
      </p:sp>
      <p:sp>
        <p:nvSpPr>
          <p:cNvPr id="67" name="TextBox 66">
            <a:extLst>
              <a:ext uri="{FF2B5EF4-FFF2-40B4-BE49-F238E27FC236}">
                <a16:creationId xmlns:a16="http://schemas.microsoft.com/office/drawing/2014/main" id="{A679AE16-4EEC-4666-8156-E137E694F268}"/>
              </a:ext>
            </a:extLst>
          </p:cNvPr>
          <p:cNvSpPr txBox="1"/>
          <p:nvPr/>
        </p:nvSpPr>
        <p:spPr>
          <a:xfrm>
            <a:off x="9319150" y="2675875"/>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A</a:t>
            </a:r>
          </a:p>
        </p:txBody>
      </p:sp>
      <p:sp>
        <p:nvSpPr>
          <p:cNvPr id="68" name="TextBox 67">
            <a:extLst>
              <a:ext uri="{FF2B5EF4-FFF2-40B4-BE49-F238E27FC236}">
                <a16:creationId xmlns:a16="http://schemas.microsoft.com/office/drawing/2014/main" id="{679BD85B-8224-451D-A513-9F7D5CA745F9}"/>
              </a:ext>
            </a:extLst>
          </p:cNvPr>
          <p:cNvSpPr txBox="1"/>
          <p:nvPr/>
        </p:nvSpPr>
        <p:spPr>
          <a:xfrm>
            <a:off x="9317813" y="2945930"/>
            <a:ext cx="287258"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rPr>
              <a:t>B</a:t>
            </a:r>
          </a:p>
        </p:txBody>
      </p:sp>
      <p:sp>
        <p:nvSpPr>
          <p:cNvPr id="69" name="TextBox 68">
            <a:extLst>
              <a:ext uri="{FF2B5EF4-FFF2-40B4-BE49-F238E27FC236}">
                <a16:creationId xmlns:a16="http://schemas.microsoft.com/office/drawing/2014/main" id="{356A3532-802D-4991-BBD8-7183342DBC01}"/>
              </a:ext>
            </a:extLst>
          </p:cNvPr>
          <p:cNvSpPr txBox="1"/>
          <p:nvPr/>
        </p:nvSpPr>
        <p:spPr>
          <a:xfrm>
            <a:off x="9319149" y="3206601"/>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rPr>
              <a:t>C</a:t>
            </a:r>
          </a:p>
        </p:txBody>
      </p:sp>
      <p:sp>
        <p:nvSpPr>
          <p:cNvPr id="70" name="TextBox 69">
            <a:extLst>
              <a:ext uri="{FF2B5EF4-FFF2-40B4-BE49-F238E27FC236}">
                <a16:creationId xmlns:a16="http://schemas.microsoft.com/office/drawing/2014/main" id="{F8A1FA86-AB96-4F47-8755-8F70EA7309A3}"/>
              </a:ext>
            </a:extLst>
          </p:cNvPr>
          <p:cNvSpPr txBox="1"/>
          <p:nvPr/>
        </p:nvSpPr>
        <p:spPr>
          <a:xfrm>
            <a:off x="4764975" y="3522004"/>
            <a:ext cx="1382220" cy="30777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Pointer</a:t>
            </a:r>
          </a:p>
        </p:txBody>
      </p:sp>
      <p:cxnSp>
        <p:nvCxnSpPr>
          <p:cNvPr id="71" name="Straight Arrow Connector 70">
            <a:extLst>
              <a:ext uri="{FF2B5EF4-FFF2-40B4-BE49-F238E27FC236}">
                <a16:creationId xmlns:a16="http://schemas.microsoft.com/office/drawing/2014/main" id="{7C9F4742-E8EB-4B25-8341-BF225761C376}"/>
              </a:ext>
            </a:extLst>
          </p:cNvPr>
          <p:cNvCxnSpPr/>
          <p:nvPr/>
        </p:nvCxnSpPr>
        <p:spPr>
          <a:xfrm flipH="1">
            <a:off x="3948270" y="3675623"/>
            <a:ext cx="716707" cy="0"/>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72" name="TextBox 71">
            <a:extLst>
              <a:ext uri="{FF2B5EF4-FFF2-40B4-BE49-F238E27FC236}">
                <a16:creationId xmlns:a16="http://schemas.microsoft.com/office/drawing/2014/main" id="{102F62BC-2A59-42D6-9D7F-554516694A47}"/>
              </a:ext>
            </a:extLst>
          </p:cNvPr>
          <p:cNvSpPr txBox="1"/>
          <p:nvPr/>
        </p:nvSpPr>
        <p:spPr>
          <a:xfrm>
            <a:off x="1744567" y="4793108"/>
            <a:ext cx="2457280" cy="122341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kern="0" dirty="0" err="1">
                <a:solidFill>
                  <a:srgbClr val="000000"/>
                </a:solidFill>
                <a:latin typeface="Arial"/>
              </a:rPr>
              <a:t>typedef</a:t>
            </a:r>
            <a:r>
              <a:rPr lang="en-US" sz="1050" kern="0" dirty="0">
                <a:solidFill>
                  <a:srgbClr val="000000"/>
                </a:solidFill>
                <a:latin typeface="Arial"/>
              </a:rPr>
              <a:t> struct{  </a:t>
            </a:r>
          </a:p>
          <a:p>
            <a:pPr defTabSz="914400" fontAlgn="base">
              <a:spcBef>
                <a:spcPct val="0"/>
              </a:spcBef>
              <a:spcAft>
                <a:spcPct val="0"/>
              </a:spcAft>
              <a:tabLst>
                <a:tab pos="457200" algn="l"/>
              </a:tabLst>
              <a:defRPr/>
            </a:pPr>
            <a:r>
              <a:rPr lang="en-US" sz="1050" kern="0" dirty="0">
                <a:solidFill>
                  <a:srgbClr val="000000"/>
                </a:solidFill>
                <a:latin typeface="Arial"/>
              </a:rPr>
              <a:t>	unsigned char A;  	unsigned char B[4];  	unsigned char C;</a:t>
            </a:r>
          </a:p>
          <a:p>
            <a:pPr defTabSz="914400" fontAlgn="base">
              <a:spcBef>
                <a:spcPct val="0"/>
              </a:spcBef>
              <a:spcAft>
                <a:spcPct val="0"/>
              </a:spcAft>
              <a:tabLst>
                <a:tab pos="457200" algn="l"/>
              </a:tabLst>
              <a:defRPr/>
            </a:pP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a:t>
            </a:r>
          </a:p>
          <a:p>
            <a:pPr defTabSz="914400" fontAlgn="base">
              <a:spcBef>
                <a:spcPct val="0"/>
              </a:spcBef>
              <a:spcAft>
                <a:spcPct val="0"/>
              </a:spcAft>
              <a:tabLst>
                <a:tab pos="457200" algn="l"/>
              </a:tabLst>
              <a:defRPr/>
            </a:pPr>
            <a:endParaRPr lang="en-US" sz="1050" kern="0" dirty="0">
              <a:solidFill>
                <a:srgbClr val="000000"/>
              </a:solidFill>
              <a:latin typeface="Arial"/>
            </a:endParaRPr>
          </a:p>
          <a:p>
            <a:pPr defTabSz="914400" fontAlgn="base">
              <a:spcBef>
                <a:spcPct val="0"/>
              </a:spcBef>
              <a:spcAft>
                <a:spcPct val="0"/>
              </a:spcAft>
              <a:tabLst>
                <a:tab pos="457200" algn="l"/>
              </a:tabLst>
              <a:defRPr/>
            </a:pPr>
            <a:r>
              <a:rPr lang="en-US" sz="1050" kern="0" dirty="0">
                <a:solidFill>
                  <a:srgbClr val="000000"/>
                </a:solidFill>
                <a:latin typeface="Arial"/>
              </a:rPr>
              <a:t>void </a:t>
            </a:r>
            <a:r>
              <a:rPr lang="en-US" sz="1050" kern="0" dirty="0" err="1">
                <a:solidFill>
                  <a:srgbClr val="000000"/>
                </a:solidFill>
                <a:latin typeface="Arial"/>
              </a:rPr>
              <a:t>foo</a:t>
            </a: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 </a:t>
            </a:r>
            <a:r>
              <a:rPr lang="en-US" sz="1050" b="1" kern="0" dirty="0">
                <a:solidFill>
                  <a:srgbClr val="000000"/>
                </a:solidFill>
                <a:latin typeface="Arial"/>
              </a:rPr>
              <a:t>in</a:t>
            </a:r>
            <a:r>
              <a:rPr lang="en-US" sz="1050" kern="0" dirty="0">
                <a:solidFill>
                  <a:srgbClr val="000000"/>
                </a:solidFill>
                <a:latin typeface="Arial"/>
              </a:rPr>
              <a:t>);</a:t>
            </a:r>
          </a:p>
        </p:txBody>
      </p:sp>
      <p:sp>
        <p:nvSpPr>
          <p:cNvPr id="73" name="Rectangle 72">
            <a:extLst>
              <a:ext uri="{FF2B5EF4-FFF2-40B4-BE49-F238E27FC236}">
                <a16:creationId xmlns:a16="http://schemas.microsoft.com/office/drawing/2014/main" id="{4F3AE847-4A47-48BA-92EA-C40F30611A51}"/>
              </a:ext>
            </a:extLst>
          </p:cNvPr>
          <p:cNvSpPr/>
          <p:nvPr/>
        </p:nvSpPr>
        <p:spPr>
          <a:xfrm>
            <a:off x="9321182" y="4716298"/>
            <a:ext cx="1586993" cy="115215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cxnSp>
        <p:nvCxnSpPr>
          <p:cNvPr id="74" name="Straight Arrow Connector 73">
            <a:extLst>
              <a:ext uri="{FF2B5EF4-FFF2-40B4-BE49-F238E27FC236}">
                <a16:creationId xmlns:a16="http://schemas.microsoft.com/office/drawing/2014/main" id="{8AA38EED-8691-4D05-A1DA-42D659A07875}"/>
              </a:ext>
            </a:extLst>
          </p:cNvPr>
          <p:cNvCxnSpPr/>
          <p:nvPr/>
        </p:nvCxnSpPr>
        <p:spPr>
          <a:xfrm>
            <a:off x="8911635" y="5023538"/>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75" name="TextBox 74">
            <a:extLst>
              <a:ext uri="{FF2B5EF4-FFF2-40B4-BE49-F238E27FC236}">
                <a16:creationId xmlns:a16="http://schemas.microsoft.com/office/drawing/2014/main" id="{8C6FCF1C-7236-4307-84C2-6A39C3B34F47}"/>
              </a:ext>
            </a:extLst>
          </p:cNvPr>
          <p:cNvSpPr txBox="1"/>
          <p:nvPr/>
        </p:nvSpPr>
        <p:spPr>
          <a:xfrm>
            <a:off x="8438255" y="4870724"/>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8-bit</a:t>
            </a:r>
          </a:p>
        </p:txBody>
      </p:sp>
      <p:cxnSp>
        <p:nvCxnSpPr>
          <p:cNvPr id="76" name="Straight Arrow Connector 75">
            <a:extLst>
              <a:ext uri="{FF2B5EF4-FFF2-40B4-BE49-F238E27FC236}">
                <a16:creationId xmlns:a16="http://schemas.microsoft.com/office/drawing/2014/main" id="{D5D38881-3E97-43D9-97AF-298C6DE717E4}"/>
              </a:ext>
            </a:extLst>
          </p:cNvPr>
          <p:cNvCxnSpPr/>
          <p:nvPr/>
        </p:nvCxnSpPr>
        <p:spPr>
          <a:xfrm>
            <a:off x="8904216" y="5245000"/>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77" name="TextBox 76">
            <a:extLst>
              <a:ext uri="{FF2B5EF4-FFF2-40B4-BE49-F238E27FC236}">
                <a16:creationId xmlns:a16="http://schemas.microsoft.com/office/drawing/2014/main" id="{B6050618-2351-441F-A869-F2658A81F126}"/>
              </a:ext>
            </a:extLst>
          </p:cNvPr>
          <p:cNvSpPr txBox="1"/>
          <p:nvPr/>
        </p:nvSpPr>
        <p:spPr>
          <a:xfrm>
            <a:off x="7988408" y="5100350"/>
            <a:ext cx="952504"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32(4x8)-bit</a:t>
            </a:r>
          </a:p>
        </p:txBody>
      </p:sp>
      <p:cxnSp>
        <p:nvCxnSpPr>
          <p:cNvPr id="78" name="Straight Arrow Connector 77">
            <a:extLst>
              <a:ext uri="{FF2B5EF4-FFF2-40B4-BE49-F238E27FC236}">
                <a16:creationId xmlns:a16="http://schemas.microsoft.com/office/drawing/2014/main" id="{9813BE73-81C6-456B-B131-C4F07AC17CC3}"/>
              </a:ext>
            </a:extLst>
          </p:cNvPr>
          <p:cNvCxnSpPr/>
          <p:nvPr/>
        </p:nvCxnSpPr>
        <p:spPr>
          <a:xfrm>
            <a:off x="8911635" y="5543272"/>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79" name="TextBox 78">
            <a:extLst>
              <a:ext uri="{FF2B5EF4-FFF2-40B4-BE49-F238E27FC236}">
                <a16:creationId xmlns:a16="http://schemas.microsoft.com/office/drawing/2014/main" id="{BF3FCBA2-D976-4E6A-8D0D-99D172B1806C}"/>
              </a:ext>
            </a:extLst>
          </p:cNvPr>
          <p:cNvSpPr txBox="1"/>
          <p:nvPr/>
        </p:nvSpPr>
        <p:spPr>
          <a:xfrm>
            <a:off x="8438255" y="5390458"/>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rPr>
              <a:t>8-bit</a:t>
            </a:r>
          </a:p>
        </p:txBody>
      </p:sp>
      <p:sp>
        <p:nvSpPr>
          <p:cNvPr id="80" name="Down Arrow 54">
            <a:extLst>
              <a:ext uri="{FF2B5EF4-FFF2-40B4-BE49-F238E27FC236}">
                <a16:creationId xmlns:a16="http://schemas.microsoft.com/office/drawing/2014/main" id="{6D6B32D4-207B-4956-94A7-66C34C01FA76}"/>
              </a:ext>
            </a:extLst>
          </p:cNvPr>
          <p:cNvSpPr/>
          <p:nvPr/>
        </p:nvSpPr>
        <p:spPr>
          <a:xfrm rot="16200000">
            <a:off x="5456024" y="4652438"/>
            <a:ext cx="460860" cy="1126253"/>
          </a:xfrm>
          <a:prstGeom prst="down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81" name="TextBox 80">
            <a:extLst>
              <a:ext uri="{FF2B5EF4-FFF2-40B4-BE49-F238E27FC236}">
                <a16:creationId xmlns:a16="http://schemas.microsoft.com/office/drawing/2014/main" id="{60550930-D6E5-4851-88CE-5A7C996D59F2}"/>
              </a:ext>
            </a:extLst>
          </p:cNvPr>
          <p:cNvSpPr txBox="1"/>
          <p:nvPr/>
        </p:nvSpPr>
        <p:spPr>
          <a:xfrm>
            <a:off x="9934342" y="4733701"/>
            <a:ext cx="425116"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err="1">
                <a:solidFill>
                  <a:srgbClr val="000000"/>
                </a:solidFill>
              </a:rPr>
              <a:t>foo</a:t>
            </a:r>
            <a:endParaRPr lang="en-US" sz="1200" b="1" kern="0" dirty="0">
              <a:solidFill>
                <a:srgbClr val="000000"/>
              </a:solidFill>
            </a:endParaRPr>
          </a:p>
        </p:txBody>
      </p:sp>
      <p:sp>
        <p:nvSpPr>
          <p:cNvPr id="82" name="TextBox 81">
            <a:extLst>
              <a:ext uri="{FF2B5EF4-FFF2-40B4-BE49-F238E27FC236}">
                <a16:creationId xmlns:a16="http://schemas.microsoft.com/office/drawing/2014/main" id="{D33A2240-6666-4B78-994F-B6D6617F6392}"/>
              </a:ext>
            </a:extLst>
          </p:cNvPr>
          <p:cNvSpPr txBox="1"/>
          <p:nvPr/>
        </p:nvSpPr>
        <p:spPr>
          <a:xfrm>
            <a:off x="9319150" y="4886101"/>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rPr>
              <a:t>A</a:t>
            </a:r>
          </a:p>
        </p:txBody>
      </p:sp>
      <p:sp>
        <p:nvSpPr>
          <p:cNvPr id="83" name="TextBox 82">
            <a:extLst>
              <a:ext uri="{FF2B5EF4-FFF2-40B4-BE49-F238E27FC236}">
                <a16:creationId xmlns:a16="http://schemas.microsoft.com/office/drawing/2014/main" id="{6A36ED0A-2632-4347-A5F3-C223157B2D92}"/>
              </a:ext>
            </a:extLst>
          </p:cNvPr>
          <p:cNvSpPr txBox="1"/>
          <p:nvPr/>
        </p:nvSpPr>
        <p:spPr>
          <a:xfrm>
            <a:off x="9317813" y="5156156"/>
            <a:ext cx="287258"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rPr>
              <a:t>B</a:t>
            </a:r>
          </a:p>
        </p:txBody>
      </p:sp>
      <p:sp>
        <p:nvSpPr>
          <p:cNvPr id="84" name="TextBox 83">
            <a:extLst>
              <a:ext uri="{FF2B5EF4-FFF2-40B4-BE49-F238E27FC236}">
                <a16:creationId xmlns:a16="http://schemas.microsoft.com/office/drawing/2014/main" id="{35B6ED99-F02D-47A7-BD1B-0AF4CB8536F0}"/>
              </a:ext>
            </a:extLst>
          </p:cNvPr>
          <p:cNvSpPr txBox="1"/>
          <p:nvPr/>
        </p:nvSpPr>
        <p:spPr>
          <a:xfrm>
            <a:off x="9319149" y="5416827"/>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rPr>
              <a:t>C</a:t>
            </a:r>
          </a:p>
        </p:txBody>
      </p:sp>
      <p:sp>
        <p:nvSpPr>
          <p:cNvPr id="44" name="Slide Number Placeholder 5">
            <a:extLst>
              <a:ext uri="{FF2B5EF4-FFF2-40B4-BE49-F238E27FC236}">
                <a16:creationId xmlns:a16="http://schemas.microsoft.com/office/drawing/2014/main" id="{1286781B-30FC-4C16-9251-57CDC2980552}"/>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34</a:t>
            </a:fld>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Pointer &amp; Structs</a:t>
            </a:r>
          </a:p>
        </p:txBody>
      </p:sp>
      <p:sp>
        <p:nvSpPr>
          <p:cNvPr id="3" name="Content Placeholder 2"/>
          <p:cNvSpPr>
            <a:spLocks noGrp="1"/>
          </p:cNvSpPr>
          <p:nvPr>
            <p:ph idx="1"/>
          </p:nvPr>
        </p:nvSpPr>
        <p:spPr/>
        <p:txBody>
          <a:bodyPr/>
          <a:lstStyle/>
          <a:p>
            <a:r>
              <a:rPr lang="en-US" dirty="0"/>
              <a:t>Struct passed as a pointer</a:t>
            </a:r>
          </a:p>
          <a:p>
            <a:pPr lvl="1"/>
            <a:r>
              <a:rPr lang="en-US" dirty="0"/>
              <a:t>When a struct is passed as a pointer</a:t>
            </a:r>
          </a:p>
          <a:p>
            <a:pPr lvl="1"/>
            <a:r>
              <a:rPr lang="en-US" dirty="0"/>
              <a:t>The data will be accessed as pass-by-reference</a:t>
            </a:r>
          </a:p>
          <a:p>
            <a:pPr lvl="1"/>
            <a:endParaRPr lang="en-US" sz="1600" dirty="0"/>
          </a:p>
          <a:p>
            <a:pPr lvl="1"/>
            <a:endParaRPr lang="en-US" sz="1600" dirty="0"/>
          </a:p>
          <a:p>
            <a:pPr lvl="1">
              <a:buNone/>
            </a:pPr>
            <a:endParaRPr lang="en-US" sz="1600" dirty="0"/>
          </a:p>
          <a:p>
            <a:pPr lvl="1">
              <a:buNone/>
            </a:pPr>
            <a:endParaRPr lang="en-US" dirty="0"/>
          </a:p>
          <a:p>
            <a:r>
              <a:rPr lang="en-US" dirty="0"/>
              <a:t>Struct passed by-value</a:t>
            </a:r>
          </a:p>
          <a:p>
            <a:pPr lvl="1"/>
            <a:r>
              <a:rPr lang="en-US" dirty="0"/>
              <a:t>When a struct is passed directly and not as a pointer</a:t>
            </a:r>
          </a:p>
          <a:p>
            <a:pPr lvl="1"/>
            <a:r>
              <a:rPr lang="en-US" dirty="0"/>
              <a:t>The data will be accessed as pass-by-value</a:t>
            </a:r>
          </a:p>
          <a:p>
            <a:endParaRPr lang="en-US" dirty="0"/>
          </a:p>
        </p:txBody>
      </p:sp>
      <p:sp>
        <p:nvSpPr>
          <p:cNvPr id="36" name="Slide Number Placeholder 3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35</a:t>
            </a:fld>
            <a:endParaRPr lang="en-US" dirty="0">
              <a:solidFill>
                <a:srgbClr val="0C0C0C">
                  <a:tint val="75000"/>
                </a:srgbClr>
              </a:solidFill>
              <a:latin typeface="Arial"/>
            </a:endParaRPr>
          </a:p>
        </p:txBody>
      </p:sp>
      <p:sp>
        <p:nvSpPr>
          <p:cNvPr id="34" name="TextBox 33">
            <a:extLst>
              <a:ext uri="{FF2B5EF4-FFF2-40B4-BE49-F238E27FC236}">
                <a16:creationId xmlns:a16="http://schemas.microsoft.com/office/drawing/2014/main" id="{ABFAA15F-346B-4638-8488-678105B4E987}"/>
              </a:ext>
            </a:extLst>
          </p:cNvPr>
          <p:cNvSpPr txBox="1"/>
          <p:nvPr/>
        </p:nvSpPr>
        <p:spPr>
          <a:xfrm>
            <a:off x="1744567" y="2520381"/>
            <a:ext cx="2457280" cy="122341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1050" kern="0" dirty="0" err="1">
                <a:solidFill>
                  <a:srgbClr val="000000"/>
                </a:solidFill>
                <a:latin typeface="Arial"/>
              </a:rPr>
              <a:t>typedef</a:t>
            </a:r>
            <a:r>
              <a:rPr lang="en-US" sz="1050" kern="0" dirty="0">
                <a:solidFill>
                  <a:srgbClr val="000000"/>
                </a:solidFill>
                <a:latin typeface="Arial"/>
              </a:rPr>
              <a:t> struct{  </a:t>
            </a:r>
          </a:p>
          <a:p>
            <a:pPr defTabSz="914400" fontAlgn="base">
              <a:spcBef>
                <a:spcPct val="0"/>
              </a:spcBef>
              <a:spcAft>
                <a:spcPct val="0"/>
              </a:spcAft>
              <a:tabLst>
                <a:tab pos="457200" algn="l"/>
              </a:tabLst>
              <a:defRPr/>
            </a:pPr>
            <a:r>
              <a:rPr lang="en-US" sz="1050" kern="0" dirty="0">
                <a:solidFill>
                  <a:srgbClr val="000000"/>
                </a:solidFill>
                <a:latin typeface="Arial"/>
              </a:rPr>
              <a:t>	unsigned char A;  	unsigned char B[4];  	unsigned char C;</a:t>
            </a:r>
          </a:p>
          <a:p>
            <a:pPr defTabSz="914400" fontAlgn="base">
              <a:spcBef>
                <a:spcPct val="0"/>
              </a:spcBef>
              <a:spcAft>
                <a:spcPct val="0"/>
              </a:spcAft>
              <a:tabLst>
                <a:tab pos="457200" algn="l"/>
              </a:tabLst>
              <a:defRPr/>
            </a:pP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a:t>
            </a:r>
          </a:p>
          <a:p>
            <a:pPr defTabSz="914400" fontAlgn="base">
              <a:spcBef>
                <a:spcPct val="0"/>
              </a:spcBef>
              <a:spcAft>
                <a:spcPct val="0"/>
              </a:spcAft>
              <a:tabLst>
                <a:tab pos="457200" algn="l"/>
              </a:tabLst>
              <a:defRPr/>
            </a:pPr>
            <a:endParaRPr lang="en-US" sz="1050" kern="0" dirty="0">
              <a:solidFill>
                <a:srgbClr val="000000"/>
              </a:solidFill>
              <a:latin typeface="Arial"/>
            </a:endParaRPr>
          </a:p>
          <a:p>
            <a:pPr defTabSz="914400" fontAlgn="base">
              <a:spcBef>
                <a:spcPct val="0"/>
              </a:spcBef>
              <a:spcAft>
                <a:spcPct val="0"/>
              </a:spcAft>
              <a:tabLst>
                <a:tab pos="457200" algn="l"/>
              </a:tabLst>
              <a:defRPr/>
            </a:pPr>
            <a:r>
              <a:rPr lang="en-US" sz="1050" kern="0" dirty="0">
                <a:solidFill>
                  <a:srgbClr val="000000"/>
                </a:solidFill>
                <a:latin typeface="Arial"/>
              </a:rPr>
              <a:t>void foo(</a:t>
            </a:r>
            <a:r>
              <a:rPr lang="en-US" sz="1050" kern="0" dirty="0" err="1">
                <a:solidFill>
                  <a:srgbClr val="000000"/>
                </a:solidFill>
                <a:latin typeface="Arial"/>
              </a:rPr>
              <a:t>my_data</a:t>
            </a:r>
            <a:r>
              <a:rPr lang="en-US" sz="1050" kern="0" dirty="0">
                <a:solidFill>
                  <a:srgbClr val="000000"/>
                </a:solidFill>
                <a:latin typeface="Arial"/>
              </a:rPr>
              <a:t> </a:t>
            </a:r>
            <a:r>
              <a:rPr lang="en-US" sz="1050" b="1" kern="0" dirty="0">
                <a:solidFill>
                  <a:srgbClr val="000000"/>
                </a:solidFill>
                <a:latin typeface="Arial"/>
              </a:rPr>
              <a:t>*in</a:t>
            </a:r>
            <a:r>
              <a:rPr lang="en-US" sz="1050" kern="0" dirty="0">
                <a:solidFill>
                  <a:srgbClr val="000000"/>
                </a:solidFill>
                <a:latin typeface="Arial"/>
              </a:rPr>
              <a:t>);</a:t>
            </a:r>
          </a:p>
        </p:txBody>
      </p:sp>
      <p:sp>
        <p:nvSpPr>
          <p:cNvPr id="35" name="Rectangle 34">
            <a:extLst>
              <a:ext uri="{FF2B5EF4-FFF2-40B4-BE49-F238E27FC236}">
                <a16:creationId xmlns:a16="http://schemas.microsoft.com/office/drawing/2014/main" id="{89E80B26-113F-4228-B952-F30A59CF67B4}"/>
              </a:ext>
            </a:extLst>
          </p:cNvPr>
          <p:cNvSpPr/>
          <p:nvPr/>
        </p:nvSpPr>
        <p:spPr>
          <a:xfrm>
            <a:off x="9321182" y="2443571"/>
            <a:ext cx="1586993" cy="115215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cxnSp>
        <p:nvCxnSpPr>
          <p:cNvPr id="37" name="Straight Arrow Connector 36">
            <a:extLst>
              <a:ext uri="{FF2B5EF4-FFF2-40B4-BE49-F238E27FC236}">
                <a16:creationId xmlns:a16="http://schemas.microsoft.com/office/drawing/2014/main" id="{8578F66C-A852-43A1-8D05-C7A2005B4E4F}"/>
              </a:ext>
            </a:extLst>
          </p:cNvPr>
          <p:cNvCxnSpPr/>
          <p:nvPr/>
        </p:nvCxnSpPr>
        <p:spPr>
          <a:xfrm>
            <a:off x="8911635" y="2750811"/>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38" name="TextBox 37">
            <a:extLst>
              <a:ext uri="{FF2B5EF4-FFF2-40B4-BE49-F238E27FC236}">
                <a16:creationId xmlns:a16="http://schemas.microsoft.com/office/drawing/2014/main" id="{856597D2-98EA-459E-9C2A-23FDF3D6E7C4}"/>
              </a:ext>
            </a:extLst>
          </p:cNvPr>
          <p:cNvSpPr txBox="1"/>
          <p:nvPr/>
        </p:nvSpPr>
        <p:spPr>
          <a:xfrm>
            <a:off x="8438255" y="2597997"/>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8-bit</a:t>
            </a:r>
          </a:p>
        </p:txBody>
      </p:sp>
      <p:cxnSp>
        <p:nvCxnSpPr>
          <p:cNvPr id="39" name="Straight Arrow Connector 38">
            <a:extLst>
              <a:ext uri="{FF2B5EF4-FFF2-40B4-BE49-F238E27FC236}">
                <a16:creationId xmlns:a16="http://schemas.microsoft.com/office/drawing/2014/main" id="{CCDFCD9D-6DCE-42AA-BFC3-3597E1BD39D3}"/>
              </a:ext>
            </a:extLst>
          </p:cNvPr>
          <p:cNvCxnSpPr/>
          <p:nvPr/>
        </p:nvCxnSpPr>
        <p:spPr>
          <a:xfrm>
            <a:off x="8904216" y="2972273"/>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0" name="TextBox 39">
            <a:extLst>
              <a:ext uri="{FF2B5EF4-FFF2-40B4-BE49-F238E27FC236}">
                <a16:creationId xmlns:a16="http://schemas.microsoft.com/office/drawing/2014/main" id="{ADF7AC96-A308-4563-95C6-F89B4438BB25}"/>
              </a:ext>
            </a:extLst>
          </p:cNvPr>
          <p:cNvSpPr txBox="1"/>
          <p:nvPr/>
        </p:nvSpPr>
        <p:spPr>
          <a:xfrm>
            <a:off x="7456212" y="2827623"/>
            <a:ext cx="1484701"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8-bit Memory port</a:t>
            </a:r>
          </a:p>
        </p:txBody>
      </p:sp>
      <p:cxnSp>
        <p:nvCxnSpPr>
          <p:cNvPr id="41" name="Straight Arrow Connector 40">
            <a:extLst>
              <a:ext uri="{FF2B5EF4-FFF2-40B4-BE49-F238E27FC236}">
                <a16:creationId xmlns:a16="http://schemas.microsoft.com/office/drawing/2014/main" id="{858F6BFF-DB3B-410E-B8B3-AFC8EA22F83F}"/>
              </a:ext>
            </a:extLst>
          </p:cNvPr>
          <p:cNvCxnSpPr/>
          <p:nvPr/>
        </p:nvCxnSpPr>
        <p:spPr>
          <a:xfrm>
            <a:off x="8911635" y="3270545"/>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42" name="TextBox 41">
            <a:extLst>
              <a:ext uri="{FF2B5EF4-FFF2-40B4-BE49-F238E27FC236}">
                <a16:creationId xmlns:a16="http://schemas.microsoft.com/office/drawing/2014/main" id="{37FBD57F-7BAA-457E-8C7C-EB6FCB45060B}"/>
              </a:ext>
            </a:extLst>
          </p:cNvPr>
          <p:cNvSpPr txBox="1"/>
          <p:nvPr/>
        </p:nvSpPr>
        <p:spPr>
          <a:xfrm>
            <a:off x="8438255" y="3117731"/>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8-bit</a:t>
            </a:r>
          </a:p>
        </p:txBody>
      </p:sp>
      <p:cxnSp>
        <p:nvCxnSpPr>
          <p:cNvPr id="43" name="Straight Arrow Connector 42">
            <a:extLst>
              <a:ext uri="{FF2B5EF4-FFF2-40B4-BE49-F238E27FC236}">
                <a16:creationId xmlns:a16="http://schemas.microsoft.com/office/drawing/2014/main" id="{1C564C91-6A60-4722-B431-4C99061247A5}"/>
              </a:ext>
            </a:extLst>
          </p:cNvPr>
          <p:cNvCxnSpPr/>
          <p:nvPr/>
        </p:nvCxnSpPr>
        <p:spPr>
          <a:xfrm rot="10800000">
            <a:off x="8860442" y="3056463"/>
            <a:ext cx="409544"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54" name="Down Arrow 44">
            <a:extLst>
              <a:ext uri="{FF2B5EF4-FFF2-40B4-BE49-F238E27FC236}">
                <a16:creationId xmlns:a16="http://schemas.microsoft.com/office/drawing/2014/main" id="{5C77940C-ADE3-4DFB-A165-5D53F4E89D5C}"/>
              </a:ext>
            </a:extLst>
          </p:cNvPr>
          <p:cNvSpPr/>
          <p:nvPr/>
        </p:nvSpPr>
        <p:spPr>
          <a:xfrm rot="16200000">
            <a:off x="5456024" y="2379711"/>
            <a:ext cx="460860" cy="1126253"/>
          </a:xfrm>
          <a:prstGeom prst="down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65" name="TextBox 64">
            <a:extLst>
              <a:ext uri="{FF2B5EF4-FFF2-40B4-BE49-F238E27FC236}">
                <a16:creationId xmlns:a16="http://schemas.microsoft.com/office/drawing/2014/main" id="{A78F2C31-9E6D-49C8-A9B6-1C4A8006827D}"/>
              </a:ext>
            </a:extLst>
          </p:cNvPr>
          <p:cNvSpPr txBox="1"/>
          <p:nvPr/>
        </p:nvSpPr>
        <p:spPr>
          <a:xfrm>
            <a:off x="9872285" y="2443573"/>
            <a:ext cx="425116"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err="1">
                <a:solidFill>
                  <a:srgbClr val="000000"/>
                </a:solidFill>
                <a:latin typeface="Arial"/>
              </a:rPr>
              <a:t>foo</a:t>
            </a:r>
            <a:endParaRPr lang="en-US" sz="1200" b="1" kern="0" dirty="0">
              <a:solidFill>
                <a:srgbClr val="000000"/>
              </a:solidFill>
              <a:latin typeface="Arial"/>
            </a:endParaRPr>
          </a:p>
        </p:txBody>
      </p:sp>
      <p:sp>
        <p:nvSpPr>
          <p:cNvPr id="67" name="TextBox 66">
            <a:extLst>
              <a:ext uri="{FF2B5EF4-FFF2-40B4-BE49-F238E27FC236}">
                <a16:creationId xmlns:a16="http://schemas.microsoft.com/office/drawing/2014/main" id="{A679AE16-4EEC-4666-8156-E137E694F268}"/>
              </a:ext>
            </a:extLst>
          </p:cNvPr>
          <p:cNvSpPr txBox="1"/>
          <p:nvPr/>
        </p:nvSpPr>
        <p:spPr>
          <a:xfrm>
            <a:off x="9319150" y="2595973"/>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A</a:t>
            </a:r>
          </a:p>
        </p:txBody>
      </p:sp>
      <p:sp>
        <p:nvSpPr>
          <p:cNvPr id="68" name="TextBox 67">
            <a:extLst>
              <a:ext uri="{FF2B5EF4-FFF2-40B4-BE49-F238E27FC236}">
                <a16:creationId xmlns:a16="http://schemas.microsoft.com/office/drawing/2014/main" id="{679BD85B-8224-451D-A513-9F7D5CA745F9}"/>
              </a:ext>
            </a:extLst>
          </p:cNvPr>
          <p:cNvSpPr txBox="1"/>
          <p:nvPr/>
        </p:nvSpPr>
        <p:spPr>
          <a:xfrm>
            <a:off x="9317813" y="2866028"/>
            <a:ext cx="287258"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Arial"/>
              </a:rPr>
              <a:t>B</a:t>
            </a:r>
          </a:p>
        </p:txBody>
      </p:sp>
      <p:sp>
        <p:nvSpPr>
          <p:cNvPr id="69" name="TextBox 68">
            <a:extLst>
              <a:ext uri="{FF2B5EF4-FFF2-40B4-BE49-F238E27FC236}">
                <a16:creationId xmlns:a16="http://schemas.microsoft.com/office/drawing/2014/main" id="{356A3532-802D-4991-BBD8-7183342DBC01}"/>
              </a:ext>
            </a:extLst>
          </p:cNvPr>
          <p:cNvSpPr txBox="1"/>
          <p:nvPr/>
        </p:nvSpPr>
        <p:spPr>
          <a:xfrm>
            <a:off x="9319149" y="3126699"/>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Arial"/>
              </a:rPr>
              <a:t>C</a:t>
            </a:r>
          </a:p>
        </p:txBody>
      </p:sp>
      <p:sp>
        <p:nvSpPr>
          <p:cNvPr id="70" name="TextBox 69">
            <a:extLst>
              <a:ext uri="{FF2B5EF4-FFF2-40B4-BE49-F238E27FC236}">
                <a16:creationId xmlns:a16="http://schemas.microsoft.com/office/drawing/2014/main" id="{F8A1FA86-AB96-4F47-8755-8F70EA7309A3}"/>
              </a:ext>
            </a:extLst>
          </p:cNvPr>
          <p:cNvSpPr txBox="1"/>
          <p:nvPr/>
        </p:nvSpPr>
        <p:spPr>
          <a:xfrm>
            <a:off x="4764975" y="3442102"/>
            <a:ext cx="1382220" cy="30777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Pointer</a:t>
            </a:r>
          </a:p>
        </p:txBody>
      </p:sp>
      <p:cxnSp>
        <p:nvCxnSpPr>
          <p:cNvPr id="71" name="Straight Arrow Connector 70">
            <a:extLst>
              <a:ext uri="{FF2B5EF4-FFF2-40B4-BE49-F238E27FC236}">
                <a16:creationId xmlns:a16="http://schemas.microsoft.com/office/drawing/2014/main" id="{7C9F4742-E8EB-4B25-8341-BF225761C376}"/>
              </a:ext>
            </a:extLst>
          </p:cNvPr>
          <p:cNvCxnSpPr/>
          <p:nvPr/>
        </p:nvCxnSpPr>
        <p:spPr>
          <a:xfrm flipH="1">
            <a:off x="3948270" y="3595721"/>
            <a:ext cx="716707" cy="0"/>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72" name="TextBox 71">
            <a:extLst>
              <a:ext uri="{FF2B5EF4-FFF2-40B4-BE49-F238E27FC236}">
                <a16:creationId xmlns:a16="http://schemas.microsoft.com/office/drawing/2014/main" id="{102F62BC-2A59-42D6-9D7F-554516694A47}"/>
              </a:ext>
            </a:extLst>
          </p:cNvPr>
          <p:cNvSpPr txBox="1"/>
          <p:nvPr/>
        </p:nvSpPr>
        <p:spPr>
          <a:xfrm>
            <a:off x="1744567" y="4793108"/>
            <a:ext cx="2457280" cy="1223412"/>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kern="0" dirty="0" err="1">
                <a:solidFill>
                  <a:srgbClr val="000000"/>
                </a:solidFill>
                <a:latin typeface="Arial"/>
              </a:rPr>
              <a:t>typedef</a:t>
            </a:r>
            <a:r>
              <a:rPr lang="en-US" sz="1050" kern="0" dirty="0">
                <a:solidFill>
                  <a:srgbClr val="000000"/>
                </a:solidFill>
                <a:latin typeface="Arial"/>
              </a:rPr>
              <a:t> struct{  </a:t>
            </a:r>
          </a:p>
          <a:p>
            <a:pPr defTabSz="914400" fontAlgn="base">
              <a:spcBef>
                <a:spcPct val="0"/>
              </a:spcBef>
              <a:spcAft>
                <a:spcPct val="0"/>
              </a:spcAft>
              <a:tabLst>
                <a:tab pos="457200" algn="l"/>
              </a:tabLst>
              <a:defRPr/>
            </a:pPr>
            <a:r>
              <a:rPr lang="en-US" sz="1050" kern="0" dirty="0">
                <a:solidFill>
                  <a:srgbClr val="000000"/>
                </a:solidFill>
                <a:latin typeface="Arial"/>
              </a:rPr>
              <a:t>	unsigned char A;  	unsigned char B[4];  	unsigned char C;</a:t>
            </a:r>
          </a:p>
          <a:p>
            <a:pPr defTabSz="914400" fontAlgn="base">
              <a:spcBef>
                <a:spcPct val="0"/>
              </a:spcBef>
              <a:spcAft>
                <a:spcPct val="0"/>
              </a:spcAft>
              <a:tabLst>
                <a:tab pos="457200" algn="l"/>
              </a:tabLst>
              <a:defRPr/>
            </a:pP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a:t>
            </a:r>
          </a:p>
          <a:p>
            <a:pPr defTabSz="914400" fontAlgn="base">
              <a:spcBef>
                <a:spcPct val="0"/>
              </a:spcBef>
              <a:spcAft>
                <a:spcPct val="0"/>
              </a:spcAft>
              <a:tabLst>
                <a:tab pos="457200" algn="l"/>
              </a:tabLst>
              <a:defRPr/>
            </a:pPr>
            <a:endParaRPr lang="en-US" sz="1050" kern="0" dirty="0">
              <a:solidFill>
                <a:srgbClr val="000000"/>
              </a:solidFill>
              <a:latin typeface="Arial"/>
            </a:endParaRPr>
          </a:p>
          <a:p>
            <a:pPr defTabSz="914400" fontAlgn="base">
              <a:spcBef>
                <a:spcPct val="0"/>
              </a:spcBef>
              <a:spcAft>
                <a:spcPct val="0"/>
              </a:spcAft>
              <a:tabLst>
                <a:tab pos="457200" algn="l"/>
              </a:tabLst>
              <a:defRPr/>
            </a:pPr>
            <a:r>
              <a:rPr lang="en-US" sz="1050" kern="0" dirty="0">
                <a:solidFill>
                  <a:srgbClr val="000000"/>
                </a:solidFill>
                <a:latin typeface="Arial"/>
              </a:rPr>
              <a:t>void </a:t>
            </a:r>
            <a:r>
              <a:rPr lang="en-US" sz="1050" kern="0" dirty="0" err="1">
                <a:solidFill>
                  <a:srgbClr val="000000"/>
                </a:solidFill>
                <a:latin typeface="Arial"/>
              </a:rPr>
              <a:t>foo</a:t>
            </a: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 </a:t>
            </a:r>
            <a:r>
              <a:rPr lang="en-US" sz="1050" b="1" kern="0" dirty="0">
                <a:solidFill>
                  <a:srgbClr val="000000"/>
                </a:solidFill>
                <a:latin typeface="Arial"/>
              </a:rPr>
              <a:t>in</a:t>
            </a:r>
            <a:r>
              <a:rPr lang="en-US" sz="1050" kern="0" dirty="0">
                <a:solidFill>
                  <a:srgbClr val="000000"/>
                </a:solidFill>
                <a:latin typeface="Arial"/>
              </a:rPr>
              <a:t>);</a:t>
            </a:r>
          </a:p>
        </p:txBody>
      </p:sp>
      <p:sp>
        <p:nvSpPr>
          <p:cNvPr id="73" name="Rectangle 72">
            <a:extLst>
              <a:ext uri="{FF2B5EF4-FFF2-40B4-BE49-F238E27FC236}">
                <a16:creationId xmlns:a16="http://schemas.microsoft.com/office/drawing/2014/main" id="{4F3AE847-4A47-48BA-92EA-C40F30611A51}"/>
              </a:ext>
            </a:extLst>
          </p:cNvPr>
          <p:cNvSpPr/>
          <p:nvPr/>
        </p:nvSpPr>
        <p:spPr>
          <a:xfrm>
            <a:off x="9321182" y="4716298"/>
            <a:ext cx="1586993" cy="1152150"/>
          </a:xfrm>
          <a:prstGeom prst="rect">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dirty="0">
              <a:solidFill>
                <a:srgbClr val="FFFFFF"/>
              </a:solidFill>
              <a:latin typeface="Arial"/>
            </a:endParaRPr>
          </a:p>
        </p:txBody>
      </p:sp>
      <p:cxnSp>
        <p:nvCxnSpPr>
          <p:cNvPr id="74" name="Straight Arrow Connector 73">
            <a:extLst>
              <a:ext uri="{FF2B5EF4-FFF2-40B4-BE49-F238E27FC236}">
                <a16:creationId xmlns:a16="http://schemas.microsoft.com/office/drawing/2014/main" id="{8AA38EED-8691-4D05-A1DA-42D659A07875}"/>
              </a:ext>
            </a:extLst>
          </p:cNvPr>
          <p:cNvCxnSpPr/>
          <p:nvPr/>
        </p:nvCxnSpPr>
        <p:spPr>
          <a:xfrm>
            <a:off x="8911635" y="5023538"/>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75" name="TextBox 74">
            <a:extLst>
              <a:ext uri="{FF2B5EF4-FFF2-40B4-BE49-F238E27FC236}">
                <a16:creationId xmlns:a16="http://schemas.microsoft.com/office/drawing/2014/main" id="{8C6FCF1C-7236-4307-84C2-6A39C3B34F47}"/>
              </a:ext>
            </a:extLst>
          </p:cNvPr>
          <p:cNvSpPr txBox="1"/>
          <p:nvPr/>
        </p:nvSpPr>
        <p:spPr>
          <a:xfrm>
            <a:off x="8438255" y="4870724"/>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8-bit</a:t>
            </a:r>
          </a:p>
        </p:txBody>
      </p:sp>
      <p:cxnSp>
        <p:nvCxnSpPr>
          <p:cNvPr id="76" name="Straight Arrow Connector 75">
            <a:extLst>
              <a:ext uri="{FF2B5EF4-FFF2-40B4-BE49-F238E27FC236}">
                <a16:creationId xmlns:a16="http://schemas.microsoft.com/office/drawing/2014/main" id="{D5D38881-3E97-43D9-97AF-298C6DE717E4}"/>
              </a:ext>
            </a:extLst>
          </p:cNvPr>
          <p:cNvCxnSpPr/>
          <p:nvPr/>
        </p:nvCxnSpPr>
        <p:spPr>
          <a:xfrm>
            <a:off x="8904216" y="5245000"/>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77" name="TextBox 76">
            <a:extLst>
              <a:ext uri="{FF2B5EF4-FFF2-40B4-BE49-F238E27FC236}">
                <a16:creationId xmlns:a16="http://schemas.microsoft.com/office/drawing/2014/main" id="{B6050618-2351-441F-A869-F2658A81F126}"/>
              </a:ext>
            </a:extLst>
          </p:cNvPr>
          <p:cNvSpPr txBox="1"/>
          <p:nvPr/>
        </p:nvSpPr>
        <p:spPr>
          <a:xfrm>
            <a:off x="7988408" y="5100350"/>
            <a:ext cx="952504"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32(4x8)-bit</a:t>
            </a:r>
          </a:p>
        </p:txBody>
      </p:sp>
      <p:cxnSp>
        <p:nvCxnSpPr>
          <p:cNvPr id="78" name="Straight Arrow Connector 77">
            <a:extLst>
              <a:ext uri="{FF2B5EF4-FFF2-40B4-BE49-F238E27FC236}">
                <a16:creationId xmlns:a16="http://schemas.microsoft.com/office/drawing/2014/main" id="{9813BE73-81C6-456B-B131-C4F07AC17CC3}"/>
              </a:ext>
            </a:extLst>
          </p:cNvPr>
          <p:cNvCxnSpPr/>
          <p:nvPr/>
        </p:nvCxnSpPr>
        <p:spPr>
          <a:xfrm>
            <a:off x="8911635" y="5543272"/>
            <a:ext cx="409547" cy="1588"/>
          </a:xfrm>
          <a:prstGeom prst="straightConnector1">
            <a:avLst/>
          </a:prstGeom>
          <a:noFill/>
          <a:ln w="25400" cap="flat" cmpd="sng" algn="ctr">
            <a:solidFill>
              <a:srgbClr val="B20838">
                <a:lumMod val="75000"/>
              </a:srgbClr>
            </a:solidFill>
            <a:prstDash val="solid"/>
            <a:tailEnd type="arrow"/>
          </a:ln>
          <a:effectLst>
            <a:outerShdw blurRad="40000" dist="20000" dir="5400000" rotWithShape="0">
              <a:srgbClr val="000000">
                <a:alpha val="38000"/>
              </a:srgbClr>
            </a:outerShdw>
          </a:effectLst>
        </p:spPr>
      </p:cxnSp>
      <p:sp>
        <p:nvSpPr>
          <p:cNvPr id="79" name="TextBox 78">
            <a:extLst>
              <a:ext uri="{FF2B5EF4-FFF2-40B4-BE49-F238E27FC236}">
                <a16:creationId xmlns:a16="http://schemas.microsoft.com/office/drawing/2014/main" id="{BF3FCBA2-D976-4E6A-8D0D-99D172B1806C}"/>
              </a:ext>
            </a:extLst>
          </p:cNvPr>
          <p:cNvSpPr txBox="1"/>
          <p:nvPr/>
        </p:nvSpPr>
        <p:spPr>
          <a:xfrm>
            <a:off x="8438255" y="5390458"/>
            <a:ext cx="510075"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a:solidFill>
                  <a:srgbClr val="000000"/>
                </a:solidFill>
                <a:latin typeface="Arial"/>
              </a:rPr>
              <a:t>8-bit</a:t>
            </a:r>
          </a:p>
        </p:txBody>
      </p:sp>
      <p:sp>
        <p:nvSpPr>
          <p:cNvPr id="80" name="Down Arrow 54">
            <a:extLst>
              <a:ext uri="{FF2B5EF4-FFF2-40B4-BE49-F238E27FC236}">
                <a16:creationId xmlns:a16="http://schemas.microsoft.com/office/drawing/2014/main" id="{6D6B32D4-207B-4956-94A7-66C34C01FA76}"/>
              </a:ext>
            </a:extLst>
          </p:cNvPr>
          <p:cNvSpPr/>
          <p:nvPr/>
        </p:nvSpPr>
        <p:spPr>
          <a:xfrm rot="16200000">
            <a:off x="5456024" y="4652438"/>
            <a:ext cx="460860" cy="1126253"/>
          </a:xfrm>
          <a:prstGeom prst="down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81" name="TextBox 80">
            <a:extLst>
              <a:ext uri="{FF2B5EF4-FFF2-40B4-BE49-F238E27FC236}">
                <a16:creationId xmlns:a16="http://schemas.microsoft.com/office/drawing/2014/main" id="{60550930-D6E5-4851-88CE-5A7C996D59F2}"/>
              </a:ext>
            </a:extLst>
          </p:cNvPr>
          <p:cNvSpPr txBox="1"/>
          <p:nvPr/>
        </p:nvSpPr>
        <p:spPr>
          <a:xfrm>
            <a:off x="9934342" y="4733701"/>
            <a:ext cx="425116" cy="276999"/>
          </a:xfrm>
          <a:prstGeom prst="rect">
            <a:avLst/>
          </a:prstGeom>
          <a:noFill/>
        </p:spPr>
        <p:txBody>
          <a:bodyPr wrap="none" rtlCol="0">
            <a:spAutoFit/>
          </a:bodyPr>
          <a:lstStyle/>
          <a:p>
            <a:pPr algn="r" defTabSz="914400" fontAlgn="base">
              <a:spcBef>
                <a:spcPct val="0"/>
              </a:spcBef>
              <a:spcAft>
                <a:spcPct val="0"/>
              </a:spcAft>
              <a:defRPr/>
            </a:pPr>
            <a:r>
              <a:rPr lang="en-US" sz="1200" b="1" kern="0" dirty="0" err="1">
                <a:solidFill>
                  <a:srgbClr val="000000"/>
                </a:solidFill>
                <a:latin typeface="Arial"/>
              </a:rPr>
              <a:t>foo</a:t>
            </a:r>
            <a:endParaRPr lang="en-US" sz="1200" b="1" kern="0" dirty="0">
              <a:solidFill>
                <a:srgbClr val="000000"/>
              </a:solidFill>
              <a:latin typeface="Arial"/>
            </a:endParaRPr>
          </a:p>
        </p:txBody>
      </p:sp>
      <p:sp>
        <p:nvSpPr>
          <p:cNvPr id="82" name="TextBox 81">
            <a:extLst>
              <a:ext uri="{FF2B5EF4-FFF2-40B4-BE49-F238E27FC236}">
                <a16:creationId xmlns:a16="http://schemas.microsoft.com/office/drawing/2014/main" id="{D33A2240-6666-4B78-994F-B6D6617F6392}"/>
              </a:ext>
            </a:extLst>
          </p:cNvPr>
          <p:cNvSpPr txBox="1"/>
          <p:nvPr/>
        </p:nvSpPr>
        <p:spPr>
          <a:xfrm>
            <a:off x="9319150" y="4886101"/>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b="1" kern="0" dirty="0">
                <a:solidFill>
                  <a:srgbClr val="000000"/>
                </a:solidFill>
                <a:latin typeface="Arial"/>
              </a:rPr>
              <a:t>A</a:t>
            </a:r>
          </a:p>
        </p:txBody>
      </p:sp>
      <p:sp>
        <p:nvSpPr>
          <p:cNvPr id="83" name="TextBox 82">
            <a:extLst>
              <a:ext uri="{FF2B5EF4-FFF2-40B4-BE49-F238E27FC236}">
                <a16:creationId xmlns:a16="http://schemas.microsoft.com/office/drawing/2014/main" id="{6A36ED0A-2632-4347-A5F3-C223157B2D92}"/>
              </a:ext>
            </a:extLst>
          </p:cNvPr>
          <p:cNvSpPr txBox="1"/>
          <p:nvPr/>
        </p:nvSpPr>
        <p:spPr>
          <a:xfrm>
            <a:off x="9317813" y="5156156"/>
            <a:ext cx="287258"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Arial"/>
              </a:rPr>
              <a:t>B</a:t>
            </a:r>
          </a:p>
        </p:txBody>
      </p:sp>
      <p:sp>
        <p:nvSpPr>
          <p:cNvPr id="84" name="TextBox 83">
            <a:extLst>
              <a:ext uri="{FF2B5EF4-FFF2-40B4-BE49-F238E27FC236}">
                <a16:creationId xmlns:a16="http://schemas.microsoft.com/office/drawing/2014/main" id="{35B6ED99-F02D-47A7-BD1B-0AF4CB8536F0}"/>
              </a:ext>
            </a:extLst>
          </p:cNvPr>
          <p:cNvSpPr txBox="1"/>
          <p:nvPr/>
        </p:nvSpPr>
        <p:spPr>
          <a:xfrm>
            <a:off x="9319149" y="5416827"/>
            <a:ext cx="295273" cy="276999"/>
          </a:xfrm>
          <a:prstGeom prst="rect">
            <a:avLst/>
          </a:prstGeom>
          <a:noFill/>
        </p:spPr>
        <p:txBody>
          <a:bodyPr wrap="none" rtlCol="0">
            <a:spAutoFit/>
          </a:bodyPr>
          <a:lstStyle/>
          <a:p>
            <a:pPr algn="ctr" defTabSz="914400" fontAlgn="base">
              <a:spcBef>
                <a:spcPct val="0"/>
              </a:spcBef>
              <a:spcAft>
                <a:spcPct val="0"/>
              </a:spcAft>
              <a:defRPr/>
            </a:pPr>
            <a:r>
              <a:rPr lang="en-US" sz="1200" kern="0" dirty="0">
                <a:solidFill>
                  <a:srgbClr val="000000"/>
                </a:solidFill>
                <a:latin typeface="Arial"/>
              </a:rPr>
              <a:t>C</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Struct Access</a:t>
            </a:r>
          </a:p>
        </p:txBody>
      </p:sp>
      <p:sp>
        <p:nvSpPr>
          <p:cNvPr id="3" name="Content Placeholder 2"/>
          <p:cNvSpPr>
            <a:spLocks noGrp="1"/>
          </p:cNvSpPr>
          <p:nvPr>
            <p:ph idx="1"/>
          </p:nvPr>
        </p:nvSpPr>
        <p:spPr>
          <a:xfrm>
            <a:off x="579120" y="1327903"/>
            <a:ext cx="10515600" cy="4759404"/>
          </a:xfrm>
        </p:spPr>
        <p:txBody>
          <a:bodyPr/>
          <a:lstStyle/>
          <a:p>
            <a:r>
              <a:rPr lang="en-US" sz="2000" dirty="0"/>
              <a:t>Accessing a struct: pass-by-reference</a:t>
            </a:r>
          </a:p>
          <a:p>
            <a:endParaRPr lang="en-US" sz="2000" dirty="0"/>
          </a:p>
          <a:p>
            <a:endParaRPr lang="en-US" sz="2000" dirty="0"/>
          </a:p>
          <a:p>
            <a:endParaRPr lang="en-US" sz="2000" dirty="0"/>
          </a:p>
          <a:p>
            <a:endParaRPr lang="en-US" sz="2000" dirty="0"/>
          </a:p>
          <a:p>
            <a:r>
              <a:rPr lang="en-US" sz="2000" dirty="0"/>
              <a:t>Accessing a struct: pass-by-value</a:t>
            </a:r>
          </a:p>
          <a:p>
            <a:endParaRPr lang="en-US" sz="2000" dirty="0"/>
          </a:p>
        </p:txBody>
      </p:sp>
      <p:sp>
        <p:nvSpPr>
          <p:cNvPr id="8" name="TextBox 7">
            <a:extLst>
              <a:ext uri="{FF2B5EF4-FFF2-40B4-BE49-F238E27FC236}">
                <a16:creationId xmlns:a16="http://schemas.microsoft.com/office/drawing/2014/main" id="{4A0C48D5-D5AD-4618-9FA8-9C05D81FD9EE}"/>
              </a:ext>
            </a:extLst>
          </p:cNvPr>
          <p:cNvSpPr txBox="1"/>
          <p:nvPr/>
        </p:nvSpPr>
        <p:spPr>
          <a:xfrm>
            <a:off x="3782537" y="4250737"/>
            <a:ext cx="4812175" cy="219290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 pos="914400" algn="l"/>
              </a:tabLst>
              <a:defRPr/>
            </a:pP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foo</a:t>
            </a: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a_in</a:t>
            </a: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int </a:t>
            </a:r>
            <a:r>
              <a:rPr lang="en-US" sz="1050" kern="0" dirty="0" err="1">
                <a:solidFill>
                  <a:srgbClr val="000000"/>
                </a:solidFill>
                <a:latin typeface="Arial"/>
              </a:rPr>
              <a:t>i</a:t>
            </a: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a:t>
            </a:r>
            <a:r>
              <a:rPr lang="en-US" sz="1050" kern="0" dirty="0">
                <a:solidFill>
                  <a:srgbClr val="000000"/>
                </a:solidFill>
                <a:latin typeface="Arial"/>
              </a:rPr>
              <a:t> = a_in.A+1;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for(</a:t>
            </a:r>
            <a:r>
              <a:rPr lang="en-US" sz="1050" kern="0" dirty="0" err="1">
                <a:solidFill>
                  <a:srgbClr val="000000"/>
                </a:solidFill>
                <a:latin typeface="Arial"/>
              </a:rPr>
              <a:t>i</a:t>
            </a:r>
            <a:r>
              <a:rPr lang="en-US" sz="1050" kern="0" dirty="0">
                <a:solidFill>
                  <a:srgbClr val="000000"/>
                </a:solidFill>
                <a:latin typeface="Arial"/>
              </a:rPr>
              <a:t>=0; </a:t>
            </a:r>
            <a:r>
              <a:rPr lang="en-US" sz="1050" kern="0" dirty="0" err="1">
                <a:solidFill>
                  <a:srgbClr val="000000"/>
                </a:solidFill>
                <a:latin typeface="Arial"/>
              </a:rPr>
              <a:t>i</a:t>
            </a:r>
            <a:r>
              <a:rPr lang="en-US" sz="1050" kern="0" dirty="0">
                <a:solidFill>
                  <a:srgbClr val="000000"/>
                </a:solidFill>
                <a:latin typeface="Arial"/>
              </a:rPr>
              <a:t> &lt;= N-1; </a:t>
            </a:r>
            <a:r>
              <a:rPr lang="en-US" sz="1050" kern="0" dirty="0" err="1">
                <a:solidFill>
                  <a:srgbClr val="000000"/>
                </a:solidFill>
                <a:latin typeface="Arial"/>
              </a:rPr>
              <a:t>i</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b_out.B</a:t>
            </a:r>
            <a:r>
              <a:rPr lang="en-US" sz="1050" kern="0" dirty="0">
                <a:solidFill>
                  <a:srgbClr val="000000"/>
                </a:solidFill>
                <a:latin typeface="Arial"/>
              </a:rPr>
              <a:t>[</a:t>
            </a:r>
            <a:r>
              <a:rPr lang="en-US" sz="1050" kern="0" dirty="0" err="1">
                <a:solidFill>
                  <a:srgbClr val="000000"/>
                </a:solidFill>
                <a:latin typeface="Arial"/>
              </a:rPr>
              <a:t>i</a:t>
            </a:r>
            <a:r>
              <a:rPr lang="en-US" sz="1050" kern="0" dirty="0">
                <a:solidFill>
                  <a:srgbClr val="000000"/>
                </a:solidFill>
                <a:latin typeface="Arial"/>
              </a:rPr>
              <a:t>] = </a:t>
            </a:r>
            <a:r>
              <a:rPr lang="en-US" sz="1050" kern="0" dirty="0" err="1">
                <a:solidFill>
                  <a:srgbClr val="000000"/>
                </a:solidFill>
                <a:latin typeface="Arial"/>
              </a:rPr>
              <a:t>a_in.B</a:t>
            </a:r>
            <a:r>
              <a:rPr lang="en-US" sz="1050" kern="0" dirty="0">
                <a:solidFill>
                  <a:srgbClr val="000000"/>
                </a:solidFill>
                <a:latin typeface="Arial"/>
              </a:rPr>
              <a:t>[</a:t>
            </a:r>
            <a:r>
              <a:rPr lang="en-US" sz="1050" kern="0" dirty="0" err="1">
                <a:solidFill>
                  <a:srgbClr val="000000"/>
                </a:solidFill>
                <a:latin typeface="Arial"/>
              </a:rPr>
              <a:t>i</a:t>
            </a:r>
            <a:r>
              <a:rPr lang="en-US" sz="1050" kern="0" dirty="0">
                <a:solidFill>
                  <a:srgbClr val="000000"/>
                </a:solidFill>
                <a:latin typeface="Arial"/>
              </a:rPr>
              <a:t>]+1;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b_out.C</a:t>
            </a:r>
            <a:r>
              <a:rPr lang="en-US" sz="1050" kern="0" dirty="0">
                <a:solidFill>
                  <a:srgbClr val="000000"/>
                </a:solidFill>
                <a:latin typeface="Arial"/>
              </a:rPr>
              <a:t> = a_in.C+1;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return </a:t>
            </a:r>
            <a:r>
              <a:rPr lang="en-US" sz="1050" kern="0" dirty="0" err="1">
                <a:solidFill>
                  <a:srgbClr val="000000"/>
                </a:solidFill>
                <a:latin typeface="Arial"/>
              </a:rPr>
              <a:t>b_out</a:t>
            </a:r>
            <a:r>
              <a:rPr lang="en-US" sz="1050" kern="0" dirty="0">
                <a:solidFill>
                  <a:srgbClr val="000000"/>
                </a:solidFill>
                <a:latin typeface="Arial"/>
              </a:rPr>
              <a:t>;</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a:t>
            </a:r>
          </a:p>
        </p:txBody>
      </p:sp>
      <p:sp>
        <p:nvSpPr>
          <p:cNvPr id="9" name="TextBox 8">
            <a:extLst>
              <a:ext uri="{FF2B5EF4-FFF2-40B4-BE49-F238E27FC236}">
                <a16:creationId xmlns:a16="http://schemas.microsoft.com/office/drawing/2014/main" id="{B7FD609E-D49B-4396-91CD-D35C2D2F2EA4}"/>
              </a:ext>
            </a:extLst>
          </p:cNvPr>
          <p:cNvSpPr txBox="1"/>
          <p:nvPr/>
        </p:nvSpPr>
        <p:spPr>
          <a:xfrm>
            <a:off x="1335022" y="1842061"/>
            <a:ext cx="4812173"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 pos="914400" algn="l"/>
              </a:tabLst>
              <a:defRPr/>
            </a:pPr>
            <a:r>
              <a:rPr lang="en-US" sz="1050" kern="0" dirty="0">
                <a:solidFill>
                  <a:srgbClr val="000000"/>
                </a:solidFill>
                <a:latin typeface="Arial"/>
              </a:rPr>
              <a:t>void </a:t>
            </a:r>
            <a:r>
              <a:rPr lang="en-US" sz="1050" kern="0" dirty="0" err="1">
                <a:solidFill>
                  <a:srgbClr val="000000"/>
                </a:solidFill>
                <a:latin typeface="Arial"/>
              </a:rPr>
              <a:t>foo</a:t>
            </a: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a_in</a:t>
            </a: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int </a:t>
            </a:r>
            <a:r>
              <a:rPr lang="en-US" sz="1050" kern="0" dirty="0" err="1">
                <a:solidFill>
                  <a:srgbClr val="000000"/>
                </a:solidFill>
                <a:latin typeface="Arial"/>
              </a:rPr>
              <a:t>i</a:t>
            </a: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-&gt;A = </a:t>
            </a:r>
            <a:r>
              <a:rPr lang="en-US" sz="1050" kern="0" dirty="0" err="1">
                <a:solidFill>
                  <a:srgbClr val="000000"/>
                </a:solidFill>
                <a:latin typeface="Arial"/>
              </a:rPr>
              <a:t>a_in</a:t>
            </a:r>
            <a:r>
              <a:rPr lang="en-US" sz="1050" kern="0" dirty="0">
                <a:solidFill>
                  <a:srgbClr val="000000"/>
                </a:solidFill>
                <a:latin typeface="Arial"/>
              </a:rPr>
              <a:t>-&gt;A + 1;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for(</a:t>
            </a:r>
            <a:r>
              <a:rPr lang="en-US" sz="1050" kern="0" dirty="0" err="1">
                <a:solidFill>
                  <a:srgbClr val="000000"/>
                </a:solidFill>
                <a:latin typeface="Arial"/>
              </a:rPr>
              <a:t>i</a:t>
            </a:r>
            <a:r>
              <a:rPr lang="en-US" sz="1050" kern="0" dirty="0">
                <a:solidFill>
                  <a:srgbClr val="000000"/>
                </a:solidFill>
                <a:latin typeface="Arial"/>
              </a:rPr>
              <a:t>=0; </a:t>
            </a:r>
            <a:r>
              <a:rPr lang="en-US" sz="1050" kern="0" dirty="0" err="1">
                <a:solidFill>
                  <a:srgbClr val="000000"/>
                </a:solidFill>
                <a:latin typeface="Arial"/>
              </a:rPr>
              <a:t>i</a:t>
            </a:r>
            <a:r>
              <a:rPr lang="en-US" sz="1050" kern="0" dirty="0">
                <a:solidFill>
                  <a:srgbClr val="000000"/>
                </a:solidFill>
                <a:latin typeface="Arial"/>
              </a:rPr>
              <a:t> &lt;= 319; </a:t>
            </a:r>
            <a:r>
              <a:rPr lang="en-US" sz="1050" kern="0" dirty="0" err="1">
                <a:solidFill>
                  <a:srgbClr val="000000"/>
                </a:solidFill>
                <a:latin typeface="Arial"/>
              </a:rPr>
              <a:t>i</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-&gt;B[</a:t>
            </a:r>
            <a:r>
              <a:rPr lang="en-US" sz="1050" kern="0" dirty="0" err="1">
                <a:solidFill>
                  <a:srgbClr val="000000"/>
                </a:solidFill>
                <a:latin typeface="Arial"/>
              </a:rPr>
              <a:t>i</a:t>
            </a:r>
            <a:r>
              <a:rPr lang="en-US" sz="1050" kern="0" dirty="0">
                <a:solidFill>
                  <a:srgbClr val="000000"/>
                </a:solidFill>
                <a:latin typeface="Arial"/>
              </a:rPr>
              <a:t>] = </a:t>
            </a:r>
            <a:r>
              <a:rPr lang="en-US" sz="1050" kern="0" dirty="0" err="1">
                <a:solidFill>
                  <a:srgbClr val="000000"/>
                </a:solidFill>
                <a:latin typeface="Arial"/>
              </a:rPr>
              <a:t>a_in</a:t>
            </a:r>
            <a:r>
              <a:rPr lang="en-US" sz="1050" kern="0" dirty="0">
                <a:solidFill>
                  <a:srgbClr val="000000"/>
                </a:solidFill>
                <a:latin typeface="Arial"/>
              </a:rPr>
              <a:t>-&gt;B[</a:t>
            </a:r>
            <a:r>
              <a:rPr lang="en-US" sz="1050" kern="0" dirty="0" err="1">
                <a:solidFill>
                  <a:srgbClr val="000000"/>
                </a:solidFill>
                <a:latin typeface="Arial"/>
              </a:rPr>
              <a:t>i</a:t>
            </a:r>
            <a:r>
              <a:rPr lang="en-US" sz="1050" kern="0" dirty="0">
                <a:solidFill>
                  <a:srgbClr val="000000"/>
                </a:solidFill>
                <a:latin typeface="Arial"/>
              </a:rPr>
              <a:t>] +1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-&gt;C = </a:t>
            </a:r>
            <a:r>
              <a:rPr lang="en-US" sz="1050" kern="0" dirty="0" err="1">
                <a:solidFill>
                  <a:srgbClr val="000000"/>
                </a:solidFill>
                <a:latin typeface="Arial"/>
              </a:rPr>
              <a:t>a_in</a:t>
            </a:r>
            <a:r>
              <a:rPr lang="en-US" sz="1050" kern="0" dirty="0">
                <a:solidFill>
                  <a:srgbClr val="000000"/>
                </a:solidFill>
                <a:latin typeface="Arial"/>
              </a:rPr>
              <a:t>-&gt;C +1;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a:t>
            </a:r>
          </a:p>
        </p:txBody>
      </p:sp>
      <p:sp>
        <p:nvSpPr>
          <p:cNvPr id="11" name="TextBox 10">
            <a:extLst>
              <a:ext uri="{FF2B5EF4-FFF2-40B4-BE49-F238E27FC236}">
                <a16:creationId xmlns:a16="http://schemas.microsoft.com/office/drawing/2014/main" id="{898A1404-2960-4E9D-864F-B666AA7F4F31}"/>
              </a:ext>
            </a:extLst>
          </p:cNvPr>
          <p:cNvSpPr txBox="1"/>
          <p:nvPr/>
        </p:nvSpPr>
        <p:spPr>
          <a:xfrm>
            <a:off x="6556742" y="1842059"/>
            <a:ext cx="2663679"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1050" kern="0" dirty="0" err="1">
                <a:solidFill>
                  <a:srgbClr val="000000"/>
                </a:solidFill>
                <a:latin typeface="Arial"/>
              </a:rPr>
              <a:t>typedef</a:t>
            </a:r>
            <a:r>
              <a:rPr lang="en-US" sz="1050" kern="0" dirty="0">
                <a:solidFill>
                  <a:srgbClr val="000000"/>
                </a:solidFill>
                <a:latin typeface="Arial"/>
              </a:rPr>
              <a:t> struct {  </a:t>
            </a:r>
          </a:p>
          <a:p>
            <a:pPr defTabSz="914400" fontAlgn="base">
              <a:spcBef>
                <a:spcPct val="0"/>
              </a:spcBef>
              <a:spcAft>
                <a:spcPct val="0"/>
              </a:spcAft>
              <a:tabLst>
                <a:tab pos="457200" algn="l"/>
              </a:tabLst>
              <a:defRPr/>
            </a:pPr>
            <a:r>
              <a:rPr lang="en-US" sz="1050" kern="0" dirty="0">
                <a:solidFill>
                  <a:srgbClr val="000000"/>
                </a:solidFill>
                <a:latin typeface="Arial"/>
              </a:rPr>
              <a:t>	unsigned char A;  </a:t>
            </a:r>
          </a:p>
          <a:p>
            <a:pPr defTabSz="914400" fontAlgn="base">
              <a:spcBef>
                <a:spcPct val="0"/>
              </a:spcBef>
              <a:spcAft>
                <a:spcPct val="0"/>
              </a:spcAft>
              <a:tabLst>
                <a:tab pos="457200" algn="l"/>
              </a:tabLst>
              <a:defRPr/>
            </a:pPr>
            <a:r>
              <a:rPr lang="en-US" sz="1050" kern="0" dirty="0">
                <a:solidFill>
                  <a:srgbClr val="000000"/>
                </a:solidFill>
                <a:latin typeface="Arial"/>
              </a:rPr>
              <a:t>	unsigned char B[320];  </a:t>
            </a:r>
          </a:p>
          <a:p>
            <a:pPr defTabSz="914400" fontAlgn="base">
              <a:spcBef>
                <a:spcPct val="0"/>
              </a:spcBef>
              <a:spcAft>
                <a:spcPct val="0"/>
              </a:spcAft>
              <a:tabLst>
                <a:tab pos="457200" algn="l"/>
              </a:tabLst>
              <a:defRPr/>
            </a:pPr>
            <a:r>
              <a:rPr lang="en-US" sz="1050" kern="0" dirty="0">
                <a:solidFill>
                  <a:srgbClr val="000000"/>
                </a:solidFill>
                <a:latin typeface="Arial"/>
              </a:rPr>
              <a:t>	unsigned char C;</a:t>
            </a:r>
          </a:p>
          <a:p>
            <a:pPr defTabSz="914400" fontAlgn="base">
              <a:spcBef>
                <a:spcPct val="0"/>
              </a:spcBef>
              <a:spcAft>
                <a:spcPct val="0"/>
              </a:spcAft>
              <a:tabLst>
                <a:tab pos="457200" algn="l"/>
              </a:tabLst>
              <a:defRPr/>
            </a:pP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a:t>
            </a:r>
          </a:p>
        </p:txBody>
      </p:sp>
      <p:sp>
        <p:nvSpPr>
          <p:cNvPr id="12" name="Slide Number Placeholder 5">
            <a:extLst>
              <a:ext uri="{FF2B5EF4-FFF2-40B4-BE49-F238E27FC236}">
                <a16:creationId xmlns:a16="http://schemas.microsoft.com/office/drawing/2014/main" id="{DE4CB92B-4624-47EE-8FCC-BD8D06FFE897}"/>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36</a:t>
            </a:fld>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Struct Access</a:t>
            </a:r>
          </a:p>
        </p:txBody>
      </p:sp>
      <p:sp>
        <p:nvSpPr>
          <p:cNvPr id="3" name="Content Placeholder 2"/>
          <p:cNvSpPr>
            <a:spLocks noGrp="1"/>
          </p:cNvSpPr>
          <p:nvPr>
            <p:ph idx="1"/>
          </p:nvPr>
        </p:nvSpPr>
        <p:spPr/>
        <p:txBody>
          <a:bodyPr/>
          <a:lstStyle/>
          <a:p>
            <a:r>
              <a:rPr lang="en-US" dirty="0"/>
              <a:t>Accessing a struct: pass-by-reference</a:t>
            </a:r>
          </a:p>
          <a:p>
            <a:endParaRPr lang="en-US" dirty="0"/>
          </a:p>
          <a:p>
            <a:endParaRPr lang="en-US" dirty="0"/>
          </a:p>
          <a:p>
            <a:endParaRPr lang="en-US" dirty="0"/>
          </a:p>
          <a:p>
            <a:endParaRPr lang="en-US" dirty="0"/>
          </a:p>
          <a:p>
            <a:r>
              <a:rPr lang="en-US" dirty="0"/>
              <a:t>Accessing a struct: pass-by-value</a:t>
            </a:r>
          </a:p>
          <a:p>
            <a:endParaRPr lang="en-US" dirty="0"/>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37</a:t>
            </a:fld>
            <a:endParaRPr lang="en-US" dirty="0">
              <a:solidFill>
                <a:srgbClr val="0C0C0C">
                  <a:tint val="75000"/>
                </a:srgbClr>
              </a:solidFill>
              <a:latin typeface="Arial"/>
            </a:endParaRPr>
          </a:p>
        </p:txBody>
      </p:sp>
      <p:sp>
        <p:nvSpPr>
          <p:cNvPr id="8" name="TextBox 7">
            <a:extLst>
              <a:ext uri="{FF2B5EF4-FFF2-40B4-BE49-F238E27FC236}">
                <a16:creationId xmlns:a16="http://schemas.microsoft.com/office/drawing/2014/main" id="{4A0C48D5-D5AD-4618-9FA8-9C05D81FD9EE}"/>
              </a:ext>
            </a:extLst>
          </p:cNvPr>
          <p:cNvSpPr txBox="1"/>
          <p:nvPr/>
        </p:nvSpPr>
        <p:spPr>
          <a:xfrm>
            <a:off x="3828572" y="4188402"/>
            <a:ext cx="4812175" cy="2192908"/>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 pos="914400" algn="l"/>
              </a:tabLst>
              <a:defRPr/>
            </a:pP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foo</a:t>
            </a: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a_in</a:t>
            </a: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int </a:t>
            </a:r>
            <a:r>
              <a:rPr lang="en-US" sz="1050" kern="0" dirty="0" err="1">
                <a:solidFill>
                  <a:srgbClr val="000000"/>
                </a:solidFill>
                <a:latin typeface="Arial"/>
              </a:rPr>
              <a:t>i</a:t>
            </a: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a:t>
            </a:r>
            <a:r>
              <a:rPr lang="en-US" sz="1050" kern="0" dirty="0">
                <a:solidFill>
                  <a:srgbClr val="000000"/>
                </a:solidFill>
                <a:latin typeface="Arial"/>
              </a:rPr>
              <a:t> = a_in.A+1;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for(</a:t>
            </a:r>
            <a:r>
              <a:rPr lang="en-US" sz="1050" kern="0" dirty="0" err="1">
                <a:solidFill>
                  <a:srgbClr val="000000"/>
                </a:solidFill>
                <a:latin typeface="Arial"/>
              </a:rPr>
              <a:t>i</a:t>
            </a:r>
            <a:r>
              <a:rPr lang="en-US" sz="1050" kern="0" dirty="0">
                <a:solidFill>
                  <a:srgbClr val="000000"/>
                </a:solidFill>
                <a:latin typeface="Arial"/>
              </a:rPr>
              <a:t>=0; </a:t>
            </a:r>
            <a:r>
              <a:rPr lang="en-US" sz="1050" kern="0" dirty="0" err="1">
                <a:solidFill>
                  <a:srgbClr val="000000"/>
                </a:solidFill>
                <a:latin typeface="Arial"/>
              </a:rPr>
              <a:t>i</a:t>
            </a:r>
            <a:r>
              <a:rPr lang="en-US" sz="1050" kern="0" dirty="0">
                <a:solidFill>
                  <a:srgbClr val="000000"/>
                </a:solidFill>
                <a:latin typeface="Arial"/>
              </a:rPr>
              <a:t> &lt;= N-1; </a:t>
            </a:r>
            <a:r>
              <a:rPr lang="en-US" sz="1050" kern="0" dirty="0" err="1">
                <a:solidFill>
                  <a:srgbClr val="000000"/>
                </a:solidFill>
                <a:latin typeface="Arial"/>
              </a:rPr>
              <a:t>i</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b_out.B</a:t>
            </a:r>
            <a:r>
              <a:rPr lang="en-US" sz="1050" kern="0" dirty="0">
                <a:solidFill>
                  <a:srgbClr val="000000"/>
                </a:solidFill>
                <a:latin typeface="Arial"/>
              </a:rPr>
              <a:t>[</a:t>
            </a:r>
            <a:r>
              <a:rPr lang="en-US" sz="1050" kern="0" dirty="0" err="1">
                <a:solidFill>
                  <a:srgbClr val="000000"/>
                </a:solidFill>
                <a:latin typeface="Arial"/>
              </a:rPr>
              <a:t>i</a:t>
            </a:r>
            <a:r>
              <a:rPr lang="en-US" sz="1050" kern="0" dirty="0">
                <a:solidFill>
                  <a:srgbClr val="000000"/>
                </a:solidFill>
                <a:latin typeface="Arial"/>
              </a:rPr>
              <a:t>] = </a:t>
            </a:r>
            <a:r>
              <a:rPr lang="en-US" sz="1050" kern="0" dirty="0" err="1">
                <a:solidFill>
                  <a:srgbClr val="000000"/>
                </a:solidFill>
                <a:latin typeface="Arial"/>
              </a:rPr>
              <a:t>a_in.B</a:t>
            </a:r>
            <a:r>
              <a:rPr lang="en-US" sz="1050" kern="0" dirty="0">
                <a:solidFill>
                  <a:srgbClr val="000000"/>
                </a:solidFill>
                <a:latin typeface="Arial"/>
              </a:rPr>
              <a:t>[</a:t>
            </a:r>
            <a:r>
              <a:rPr lang="en-US" sz="1050" kern="0" dirty="0" err="1">
                <a:solidFill>
                  <a:srgbClr val="000000"/>
                </a:solidFill>
                <a:latin typeface="Arial"/>
              </a:rPr>
              <a:t>i</a:t>
            </a:r>
            <a:r>
              <a:rPr lang="en-US" sz="1050" kern="0" dirty="0">
                <a:solidFill>
                  <a:srgbClr val="000000"/>
                </a:solidFill>
                <a:latin typeface="Arial"/>
              </a:rPr>
              <a:t>]+1;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b_out.C</a:t>
            </a:r>
            <a:r>
              <a:rPr lang="en-US" sz="1050" kern="0" dirty="0">
                <a:solidFill>
                  <a:srgbClr val="000000"/>
                </a:solidFill>
                <a:latin typeface="Arial"/>
              </a:rPr>
              <a:t> = a_in.C+1;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return </a:t>
            </a:r>
            <a:r>
              <a:rPr lang="en-US" sz="1050" kern="0" dirty="0" err="1">
                <a:solidFill>
                  <a:srgbClr val="000000"/>
                </a:solidFill>
                <a:latin typeface="Arial"/>
              </a:rPr>
              <a:t>b_out</a:t>
            </a:r>
            <a:r>
              <a:rPr lang="en-US" sz="1050" kern="0" dirty="0">
                <a:solidFill>
                  <a:srgbClr val="000000"/>
                </a:solidFill>
                <a:latin typeface="Arial"/>
              </a:rPr>
              <a:t>;</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a:t>
            </a:r>
          </a:p>
        </p:txBody>
      </p:sp>
      <p:sp>
        <p:nvSpPr>
          <p:cNvPr id="9" name="TextBox 8">
            <a:extLst>
              <a:ext uri="{FF2B5EF4-FFF2-40B4-BE49-F238E27FC236}">
                <a16:creationId xmlns:a16="http://schemas.microsoft.com/office/drawing/2014/main" id="{B7FD609E-D49B-4396-91CD-D35C2D2F2EA4}"/>
              </a:ext>
            </a:extLst>
          </p:cNvPr>
          <p:cNvSpPr txBox="1"/>
          <p:nvPr/>
        </p:nvSpPr>
        <p:spPr>
          <a:xfrm>
            <a:off x="1335022" y="1842061"/>
            <a:ext cx="4812173"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 pos="914400" algn="l"/>
              </a:tabLst>
              <a:defRPr/>
            </a:pPr>
            <a:r>
              <a:rPr lang="en-US" sz="1050" kern="0" dirty="0">
                <a:solidFill>
                  <a:srgbClr val="000000"/>
                </a:solidFill>
                <a:latin typeface="Arial"/>
              </a:rPr>
              <a:t>void </a:t>
            </a:r>
            <a:r>
              <a:rPr lang="en-US" sz="1050" kern="0" dirty="0" err="1">
                <a:solidFill>
                  <a:srgbClr val="000000"/>
                </a:solidFill>
                <a:latin typeface="Arial"/>
              </a:rPr>
              <a:t>foo</a:t>
            </a: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a_in</a:t>
            </a:r>
            <a:r>
              <a:rPr lang="en-US" sz="1050" kern="0" dirty="0">
                <a:solidFill>
                  <a:srgbClr val="000000"/>
                </a:solidFill>
                <a:latin typeface="Arial"/>
              </a:rPr>
              <a:t>, </a:t>
            </a:r>
            <a:r>
              <a:rPr lang="en-US" sz="1050" kern="0" dirty="0" err="1">
                <a:solidFill>
                  <a:srgbClr val="000000"/>
                </a:solidFill>
                <a:latin typeface="Arial"/>
              </a:rPr>
              <a:t>my_data</a:t>
            </a: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int </a:t>
            </a:r>
            <a:r>
              <a:rPr lang="en-US" sz="1050" kern="0" dirty="0" err="1">
                <a:solidFill>
                  <a:srgbClr val="000000"/>
                </a:solidFill>
                <a:latin typeface="Arial"/>
              </a:rPr>
              <a:t>i</a:t>
            </a: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-&gt;A = </a:t>
            </a:r>
            <a:r>
              <a:rPr lang="en-US" sz="1050" kern="0" dirty="0" err="1">
                <a:solidFill>
                  <a:srgbClr val="000000"/>
                </a:solidFill>
                <a:latin typeface="Arial"/>
              </a:rPr>
              <a:t>a_in</a:t>
            </a:r>
            <a:r>
              <a:rPr lang="en-US" sz="1050" kern="0" dirty="0">
                <a:solidFill>
                  <a:srgbClr val="000000"/>
                </a:solidFill>
                <a:latin typeface="Arial"/>
              </a:rPr>
              <a:t>-&gt;A + 1;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for(</a:t>
            </a:r>
            <a:r>
              <a:rPr lang="en-US" sz="1050" kern="0" dirty="0" err="1">
                <a:solidFill>
                  <a:srgbClr val="000000"/>
                </a:solidFill>
                <a:latin typeface="Arial"/>
              </a:rPr>
              <a:t>i</a:t>
            </a:r>
            <a:r>
              <a:rPr lang="en-US" sz="1050" kern="0" dirty="0">
                <a:solidFill>
                  <a:srgbClr val="000000"/>
                </a:solidFill>
                <a:latin typeface="Arial"/>
              </a:rPr>
              <a:t>=0; </a:t>
            </a:r>
            <a:r>
              <a:rPr lang="en-US" sz="1050" kern="0" dirty="0" err="1">
                <a:solidFill>
                  <a:srgbClr val="000000"/>
                </a:solidFill>
                <a:latin typeface="Arial"/>
              </a:rPr>
              <a:t>i</a:t>
            </a:r>
            <a:r>
              <a:rPr lang="en-US" sz="1050" kern="0" dirty="0">
                <a:solidFill>
                  <a:srgbClr val="000000"/>
                </a:solidFill>
                <a:latin typeface="Arial"/>
              </a:rPr>
              <a:t> &lt;= 319; </a:t>
            </a:r>
            <a:r>
              <a:rPr lang="en-US" sz="1050" kern="0" dirty="0" err="1">
                <a:solidFill>
                  <a:srgbClr val="000000"/>
                </a:solidFill>
                <a:latin typeface="Arial"/>
              </a:rPr>
              <a:t>i</a:t>
            </a:r>
            <a:r>
              <a:rPr lang="en-US" sz="1050" kern="0" dirty="0">
                <a:solidFill>
                  <a:srgbClr val="000000"/>
                </a:solidFill>
                <a:latin typeface="Arial"/>
              </a:rPr>
              <a:t>++) {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-&gt;B[</a:t>
            </a:r>
            <a:r>
              <a:rPr lang="en-US" sz="1050" kern="0" dirty="0" err="1">
                <a:solidFill>
                  <a:srgbClr val="000000"/>
                </a:solidFill>
                <a:latin typeface="Arial"/>
              </a:rPr>
              <a:t>i</a:t>
            </a:r>
            <a:r>
              <a:rPr lang="en-US" sz="1050" kern="0" dirty="0">
                <a:solidFill>
                  <a:srgbClr val="000000"/>
                </a:solidFill>
                <a:latin typeface="Arial"/>
              </a:rPr>
              <a:t>] = </a:t>
            </a:r>
            <a:r>
              <a:rPr lang="en-US" sz="1050" kern="0" dirty="0" err="1">
                <a:solidFill>
                  <a:srgbClr val="000000"/>
                </a:solidFill>
                <a:latin typeface="Arial"/>
              </a:rPr>
              <a:t>a_in</a:t>
            </a:r>
            <a:r>
              <a:rPr lang="en-US" sz="1050" kern="0" dirty="0">
                <a:solidFill>
                  <a:srgbClr val="000000"/>
                </a:solidFill>
                <a:latin typeface="Arial"/>
              </a:rPr>
              <a:t>-&gt;B[</a:t>
            </a:r>
            <a:r>
              <a:rPr lang="en-US" sz="1050" kern="0" dirty="0" err="1">
                <a:solidFill>
                  <a:srgbClr val="000000"/>
                </a:solidFill>
                <a:latin typeface="Arial"/>
              </a:rPr>
              <a:t>i</a:t>
            </a:r>
            <a:r>
              <a:rPr lang="en-US" sz="1050" kern="0" dirty="0">
                <a:solidFill>
                  <a:srgbClr val="000000"/>
                </a:solidFill>
                <a:latin typeface="Arial"/>
              </a:rPr>
              <a:t>] +1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p>
          <a:p>
            <a:pPr defTabSz="914400" fontAlgn="base">
              <a:spcBef>
                <a:spcPct val="0"/>
              </a:spcBef>
              <a:spcAft>
                <a:spcPct val="0"/>
              </a:spcAft>
              <a:tabLst>
                <a:tab pos="457200" algn="l"/>
                <a:tab pos="914400" algn="l"/>
              </a:tabLst>
              <a:defRPr/>
            </a:pPr>
            <a:endParaRPr lang="en-US" sz="1050" kern="0" dirty="0">
              <a:solidFill>
                <a:srgbClr val="000000"/>
              </a:solidFill>
              <a:latin typeface="Arial"/>
            </a:endParaRPr>
          </a:p>
          <a:p>
            <a:pPr defTabSz="914400" fontAlgn="base">
              <a:spcBef>
                <a:spcPct val="0"/>
              </a:spcBef>
              <a:spcAft>
                <a:spcPct val="0"/>
              </a:spcAft>
              <a:tabLst>
                <a:tab pos="457200" algn="l"/>
                <a:tab pos="914400" algn="l"/>
              </a:tabLst>
              <a:defRPr/>
            </a:pPr>
            <a:r>
              <a:rPr lang="en-US" sz="1050" kern="0" dirty="0">
                <a:solidFill>
                  <a:srgbClr val="000000"/>
                </a:solidFill>
                <a:latin typeface="Arial"/>
              </a:rPr>
              <a:t>	</a:t>
            </a:r>
            <a:r>
              <a:rPr lang="en-US" sz="1050" kern="0" dirty="0" err="1">
                <a:solidFill>
                  <a:srgbClr val="000000"/>
                </a:solidFill>
                <a:latin typeface="Arial"/>
              </a:rPr>
              <a:t>b_out</a:t>
            </a:r>
            <a:r>
              <a:rPr lang="en-US" sz="1050" kern="0" dirty="0">
                <a:solidFill>
                  <a:srgbClr val="000000"/>
                </a:solidFill>
                <a:latin typeface="Arial"/>
              </a:rPr>
              <a:t>-&gt;C = </a:t>
            </a:r>
            <a:r>
              <a:rPr lang="en-US" sz="1050" kern="0" dirty="0" err="1">
                <a:solidFill>
                  <a:srgbClr val="000000"/>
                </a:solidFill>
                <a:latin typeface="Arial"/>
              </a:rPr>
              <a:t>a_in</a:t>
            </a:r>
            <a:r>
              <a:rPr lang="en-US" sz="1050" kern="0" dirty="0">
                <a:solidFill>
                  <a:srgbClr val="000000"/>
                </a:solidFill>
                <a:latin typeface="Arial"/>
              </a:rPr>
              <a:t>-&gt;C +1;  </a:t>
            </a:r>
          </a:p>
          <a:p>
            <a:pPr defTabSz="914400" fontAlgn="base">
              <a:spcBef>
                <a:spcPct val="0"/>
              </a:spcBef>
              <a:spcAft>
                <a:spcPct val="0"/>
              </a:spcAft>
              <a:tabLst>
                <a:tab pos="457200" algn="l"/>
                <a:tab pos="914400" algn="l"/>
              </a:tabLst>
              <a:defRPr/>
            </a:pPr>
            <a:r>
              <a:rPr lang="en-US" sz="1050" kern="0" dirty="0">
                <a:solidFill>
                  <a:srgbClr val="000000"/>
                </a:solidFill>
                <a:latin typeface="Arial"/>
              </a:rPr>
              <a:t>}</a:t>
            </a:r>
          </a:p>
        </p:txBody>
      </p:sp>
      <p:sp>
        <p:nvSpPr>
          <p:cNvPr id="11" name="TextBox 10">
            <a:extLst>
              <a:ext uri="{FF2B5EF4-FFF2-40B4-BE49-F238E27FC236}">
                <a16:creationId xmlns:a16="http://schemas.microsoft.com/office/drawing/2014/main" id="{898A1404-2960-4E9D-864F-B666AA7F4F31}"/>
              </a:ext>
            </a:extLst>
          </p:cNvPr>
          <p:cNvSpPr txBox="1"/>
          <p:nvPr/>
        </p:nvSpPr>
        <p:spPr>
          <a:xfrm>
            <a:off x="6556742" y="1842059"/>
            <a:ext cx="2663679" cy="90024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1050" kern="0" dirty="0" err="1">
                <a:solidFill>
                  <a:srgbClr val="000000"/>
                </a:solidFill>
                <a:latin typeface="Arial"/>
              </a:rPr>
              <a:t>typedef</a:t>
            </a:r>
            <a:r>
              <a:rPr lang="en-US" sz="1050" kern="0" dirty="0">
                <a:solidFill>
                  <a:srgbClr val="000000"/>
                </a:solidFill>
                <a:latin typeface="Arial"/>
              </a:rPr>
              <a:t> struct {  </a:t>
            </a:r>
          </a:p>
          <a:p>
            <a:pPr defTabSz="914400" fontAlgn="base">
              <a:spcBef>
                <a:spcPct val="0"/>
              </a:spcBef>
              <a:spcAft>
                <a:spcPct val="0"/>
              </a:spcAft>
              <a:tabLst>
                <a:tab pos="457200" algn="l"/>
              </a:tabLst>
              <a:defRPr/>
            </a:pPr>
            <a:r>
              <a:rPr lang="en-US" sz="1050" kern="0" dirty="0">
                <a:solidFill>
                  <a:srgbClr val="000000"/>
                </a:solidFill>
                <a:latin typeface="Arial"/>
              </a:rPr>
              <a:t>	unsigned char A;  </a:t>
            </a:r>
          </a:p>
          <a:p>
            <a:pPr defTabSz="914400" fontAlgn="base">
              <a:spcBef>
                <a:spcPct val="0"/>
              </a:spcBef>
              <a:spcAft>
                <a:spcPct val="0"/>
              </a:spcAft>
              <a:tabLst>
                <a:tab pos="457200" algn="l"/>
              </a:tabLst>
              <a:defRPr/>
            </a:pPr>
            <a:r>
              <a:rPr lang="en-US" sz="1050" kern="0" dirty="0">
                <a:solidFill>
                  <a:srgbClr val="000000"/>
                </a:solidFill>
                <a:latin typeface="Arial"/>
              </a:rPr>
              <a:t>	unsigned char B[320];  </a:t>
            </a:r>
          </a:p>
          <a:p>
            <a:pPr defTabSz="914400" fontAlgn="base">
              <a:spcBef>
                <a:spcPct val="0"/>
              </a:spcBef>
              <a:spcAft>
                <a:spcPct val="0"/>
              </a:spcAft>
              <a:tabLst>
                <a:tab pos="457200" algn="l"/>
              </a:tabLst>
              <a:defRPr/>
            </a:pPr>
            <a:r>
              <a:rPr lang="en-US" sz="1050" kern="0" dirty="0">
                <a:solidFill>
                  <a:srgbClr val="000000"/>
                </a:solidFill>
                <a:latin typeface="Arial"/>
              </a:rPr>
              <a:t>	unsigned char C;</a:t>
            </a:r>
          </a:p>
          <a:p>
            <a:pPr defTabSz="914400" fontAlgn="base">
              <a:spcBef>
                <a:spcPct val="0"/>
              </a:spcBef>
              <a:spcAft>
                <a:spcPct val="0"/>
              </a:spcAft>
              <a:tabLst>
                <a:tab pos="457200" algn="l"/>
              </a:tabLst>
              <a:defRPr/>
            </a:pPr>
            <a:r>
              <a:rPr lang="en-US" sz="1050" kern="0" dirty="0">
                <a:solidFill>
                  <a:srgbClr val="000000"/>
                </a:solidFill>
                <a:latin typeface="Arial"/>
              </a:rPr>
              <a:t>}</a:t>
            </a:r>
            <a:r>
              <a:rPr lang="en-US" sz="1050" kern="0" dirty="0" err="1">
                <a:solidFill>
                  <a:srgbClr val="000000"/>
                </a:solidFill>
                <a:latin typeface="Arial"/>
              </a:rPr>
              <a:t>my_data</a:t>
            </a:r>
            <a:r>
              <a:rPr lang="en-US" sz="1050" kern="0" dirty="0">
                <a:solidFill>
                  <a:srgbClr val="000000"/>
                </a:solidFill>
                <a:latin typeface="Arial"/>
              </a:rPr>
              <a: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Pointer Arithmetic: One Interface</a:t>
            </a:r>
          </a:p>
        </p:txBody>
      </p:sp>
      <p:sp>
        <p:nvSpPr>
          <p:cNvPr id="3" name="Content Placeholder 2"/>
          <p:cNvSpPr>
            <a:spLocks noGrp="1"/>
          </p:cNvSpPr>
          <p:nvPr>
            <p:ph idx="1"/>
          </p:nvPr>
        </p:nvSpPr>
        <p:spPr/>
        <p:txBody>
          <a:bodyPr>
            <a:noAutofit/>
          </a:bodyPr>
          <a:lstStyle/>
          <a:p>
            <a:r>
              <a:rPr lang="en-US" sz="1800" dirty="0"/>
              <a:t>Pointer arithmetic</a:t>
            </a:r>
          </a:p>
          <a:p>
            <a:pPr lvl="1"/>
            <a:r>
              <a:rPr lang="en-US" sz="1600" dirty="0"/>
              <a:t>This function uses some pointer arithmetic to accumulate the data values</a:t>
            </a:r>
          </a:p>
          <a:p>
            <a:endParaRPr lang="en-US" dirty="0"/>
          </a:p>
          <a:p>
            <a:endParaRPr lang="en-US" dirty="0"/>
          </a:p>
          <a:p>
            <a:endParaRPr lang="en-US" dirty="0"/>
          </a:p>
          <a:p>
            <a:r>
              <a:rPr lang="en-US" sz="1800" dirty="0"/>
              <a:t>Wire, handshake, FIFO interfaces</a:t>
            </a:r>
            <a:endParaRPr lang="en-US" sz="1800" strike="sngStrike" dirty="0"/>
          </a:p>
          <a:p>
            <a:pPr lvl="1"/>
            <a:r>
              <a:rPr lang="en-US" sz="1600" dirty="0"/>
              <a:t>All reads &amp; writes must be sequential (start from location 0 implied)</a:t>
            </a:r>
          </a:p>
          <a:p>
            <a:r>
              <a:rPr lang="en-US" sz="1800" dirty="0"/>
              <a:t>Modify the code with an array on the interface and implemented with </a:t>
            </a:r>
            <a:r>
              <a:rPr lang="en-US" sz="1800" dirty="0" err="1"/>
              <a:t>ap_memory</a:t>
            </a:r>
            <a:endParaRPr lang="en-US" sz="1800" dirty="0"/>
          </a:p>
          <a:p>
            <a:pPr lvl="1"/>
            <a:r>
              <a:rPr lang="en-US" sz="1600" dirty="0"/>
              <a:t>Output address 4 is never written</a:t>
            </a:r>
          </a:p>
          <a:p>
            <a:pPr lvl="1"/>
            <a:r>
              <a:rPr lang="en-US" sz="1600" dirty="0"/>
              <a:t>If wire, handshake and FIFO interfaces are used here, RTL co-simulation fails</a:t>
            </a:r>
          </a:p>
        </p:txBody>
      </p:sp>
      <p:sp>
        <p:nvSpPr>
          <p:cNvPr id="11" name="TextBox 10">
            <a:extLst>
              <a:ext uri="{FF2B5EF4-FFF2-40B4-BE49-F238E27FC236}">
                <a16:creationId xmlns:a16="http://schemas.microsoft.com/office/drawing/2014/main" id="{A91CCAF5-BD50-4F88-884C-8355243BBD8B}"/>
              </a:ext>
            </a:extLst>
          </p:cNvPr>
          <p:cNvSpPr txBox="1"/>
          <p:nvPr/>
        </p:nvSpPr>
        <p:spPr>
          <a:xfrm>
            <a:off x="1795761" y="2066650"/>
            <a:ext cx="2252507"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kern="0" dirty="0">
                <a:solidFill>
                  <a:srgbClr val="000000"/>
                </a:solidFill>
                <a:latin typeface="Arial"/>
              </a:rPr>
              <a:t>#include "</a:t>
            </a:r>
            <a:r>
              <a:rPr lang="en-US" sz="1050" kern="0" dirty="0" err="1">
                <a:solidFill>
                  <a:srgbClr val="000000"/>
                </a:solidFill>
                <a:latin typeface="Arial"/>
              </a:rPr>
              <a:t>bus.h</a:t>
            </a:r>
            <a:r>
              <a:rPr lang="en-US" sz="1050" kern="0" dirty="0">
                <a:solidFill>
                  <a:srgbClr val="000000"/>
                </a:solidFill>
                <a:latin typeface="Arial"/>
              </a:rPr>
              <a:t>"</a:t>
            </a:r>
          </a:p>
          <a:p>
            <a:pPr defTabSz="914400" fontAlgn="base">
              <a:spcBef>
                <a:spcPct val="0"/>
              </a:spcBef>
              <a:spcAft>
                <a:spcPct val="0"/>
              </a:spcAft>
              <a:defRPr/>
            </a:pPr>
            <a:endParaRPr lang="en-US" sz="1050" kern="0" dirty="0">
              <a:solidFill>
                <a:srgbClr val="000000"/>
              </a:solidFill>
              <a:latin typeface="Arial"/>
            </a:endParaRPr>
          </a:p>
          <a:p>
            <a:pPr defTabSz="914400" fontAlgn="base">
              <a:spcBef>
                <a:spcPct val="0"/>
              </a:spcBef>
              <a:spcAft>
                <a:spcPct val="0"/>
              </a:spcAft>
              <a:defRPr/>
            </a:pPr>
            <a:r>
              <a:rPr lang="en-US" sz="1050" kern="0" dirty="0">
                <a:solidFill>
                  <a:srgbClr val="000000"/>
                </a:solidFill>
                <a:latin typeface="Arial"/>
              </a:rPr>
              <a:t>void </a:t>
            </a:r>
            <a:r>
              <a:rPr lang="en-US" sz="1050" kern="0" dirty="0" err="1">
                <a:solidFill>
                  <a:srgbClr val="000000"/>
                </a:solidFill>
                <a:latin typeface="Arial"/>
              </a:rPr>
              <a:t>foo</a:t>
            </a:r>
            <a:r>
              <a:rPr lang="en-US" sz="1050" kern="0" dirty="0">
                <a:solidFill>
                  <a:srgbClr val="000000"/>
                </a:solidFill>
                <a:latin typeface="Arial"/>
              </a:rPr>
              <a:t> (int *d) {</a:t>
            </a:r>
          </a:p>
          <a:p>
            <a:pPr defTabSz="914400" fontAlgn="base">
              <a:spcBef>
                <a:spcPct val="0"/>
              </a:spcBef>
              <a:spcAft>
                <a:spcPct val="0"/>
              </a:spcAft>
              <a:defRPr/>
            </a:pPr>
            <a:r>
              <a:rPr lang="en-US" sz="1050" kern="0" dirty="0">
                <a:solidFill>
                  <a:srgbClr val="000000"/>
                </a:solidFill>
                <a:latin typeface="Arial"/>
              </a:rPr>
              <a:t>  static </a:t>
            </a:r>
            <a:r>
              <a:rPr lang="en-US" sz="1050" kern="0" dirty="0" err="1">
                <a:solidFill>
                  <a:srgbClr val="000000"/>
                </a:solidFill>
                <a:latin typeface="Arial"/>
              </a:rPr>
              <a:t>int</a:t>
            </a:r>
            <a:r>
              <a:rPr lang="en-US" sz="1050" kern="0" dirty="0">
                <a:solidFill>
                  <a:srgbClr val="000000"/>
                </a:solidFill>
                <a:latin typeface="Arial"/>
              </a:rPr>
              <a:t> acc = 0;</a:t>
            </a:r>
          </a:p>
          <a:p>
            <a:pPr defTabSz="914400" fontAlgn="base">
              <a:spcBef>
                <a:spcPct val="0"/>
              </a:spcBef>
              <a:spcAft>
                <a:spcPct val="0"/>
              </a:spcAft>
              <a:defRPr/>
            </a:pPr>
            <a:r>
              <a:rPr lang="en-US" sz="1050" kern="0" dirty="0">
                <a:solidFill>
                  <a:srgbClr val="000000"/>
                </a:solidFill>
                <a:latin typeface="Arial"/>
              </a:rPr>
              <a:t>  </a:t>
            </a:r>
            <a:r>
              <a:rPr lang="en-US" sz="1050" kern="0" dirty="0" err="1">
                <a:solidFill>
                  <a:srgbClr val="000000"/>
                </a:solidFill>
                <a:latin typeface="Arial"/>
              </a:rPr>
              <a:t>int</a:t>
            </a:r>
            <a:r>
              <a:rPr lang="en-US" sz="1050" kern="0" dirty="0">
                <a:solidFill>
                  <a:srgbClr val="000000"/>
                </a:solidFill>
                <a:latin typeface="Arial"/>
              </a:rPr>
              <a:t> </a:t>
            </a:r>
            <a:r>
              <a:rPr lang="en-US" sz="1050" kern="0" dirty="0" err="1">
                <a:solidFill>
                  <a:srgbClr val="000000"/>
                </a:solidFill>
                <a:latin typeface="Arial"/>
              </a:rPr>
              <a:t>i</a:t>
            </a:r>
            <a:r>
              <a:rPr lang="en-US" sz="1050" kern="0" dirty="0">
                <a:solidFill>
                  <a:srgbClr val="000000"/>
                </a:solidFill>
                <a:latin typeface="Arial"/>
              </a:rPr>
              <a:t>;</a:t>
            </a:r>
          </a:p>
          <a:p>
            <a:pPr defTabSz="914400" fontAlgn="base">
              <a:spcBef>
                <a:spcPct val="0"/>
              </a:spcBef>
              <a:spcAft>
                <a:spcPct val="0"/>
              </a:spcAft>
              <a:defRPr/>
            </a:pPr>
            <a:r>
              <a:rPr lang="en-US" sz="1050" kern="0" dirty="0">
                <a:solidFill>
                  <a:srgbClr val="000000"/>
                </a:solidFill>
                <a:latin typeface="Arial"/>
              </a:rPr>
              <a:t>  </a:t>
            </a:r>
          </a:p>
          <a:p>
            <a:pPr defTabSz="914400" fontAlgn="base">
              <a:spcBef>
                <a:spcPct val="0"/>
              </a:spcBef>
              <a:spcAft>
                <a:spcPct val="0"/>
              </a:spcAft>
              <a:defRPr/>
            </a:pPr>
            <a:r>
              <a:rPr lang="en-US" sz="1050" kern="0" dirty="0">
                <a:solidFill>
                  <a:srgbClr val="000000"/>
                </a:solidFill>
                <a:latin typeface="Arial"/>
              </a:rPr>
              <a:t>  for (</a:t>
            </a:r>
            <a:r>
              <a:rPr lang="en-US" sz="1050" kern="0" dirty="0" err="1">
                <a:solidFill>
                  <a:srgbClr val="000000"/>
                </a:solidFill>
                <a:latin typeface="Arial"/>
              </a:rPr>
              <a:t>i</a:t>
            </a:r>
            <a:r>
              <a:rPr lang="en-US" sz="1050" kern="0" dirty="0">
                <a:solidFill>
                  <a:srgbClr val="000000"/>
                </a:solidFill>
                <a:latin typeface="Arial"/>
              </a:rPr>
              <a:t>=0;i&lt;4;i++) {</a:t>
            </a:r>
          </a:p>
          <a:p>
            <a:pPr defTabSz="914400" fontAlgn="base">
              <a:spcBef>
                <a:spcPct val="0"/>
              </a:spcBef>
              <a:spcAft>
                <a:spcPct val="0"/>
              </a:spcAft>
              <a:defRPr/>
            </a:pPr>
            <a:r>
              <a:rPr lang="en-US" sz="1050" kern="0" dirty="0">
                <a:solidFill>
                  <a:srgbClr val="000000"/>
                </a:solidFill>
                <a:latin typeface="Arial"/>
              </a:rPr>
              <a:t>    acc += </a:t>
            </a:r>
            <a:r>
              <a:rPr lang="en-US" sz="1050" b="1" kern="0" dirty="0">
                <a:solidFill>
                  <a:srgbClr val="000000"/>
                </a:solidFill>
                <a:latin typeface="Arial"/>
              </a:rPr>
              <a:t>*(d+i+1);</a:t>
            </a:r>
          </a:p>
          <a:p>
            <a:pPr defTabSz="914400" fontAlgn="base">
              <a:spcBef>
                <a:spcPct val="0"/>
              </a:spcBef>
              <a:spcAft>
                <a:spcPct val="0"/>
              </a:spcAft>
              <a:defRPr/>
            </a:pPr>
            <a:r>
              <a:rPr lang="en-US" sz="1050" kern="0" dirty="0">
                <a:solidFill>
                  <a:srgbClr val="000000"/>
                </a:solidFill>
                <a:latin typeface="Arial"/>
              </a:rPr>
              <a:t>    *(</a:t>
            </a:r>
            <a:r>
              <a:rPr lang="en-US" sz="1050" kern="0" dirty="0" err="1">
                <a:solidFill>
                  <a:srgbClr val="000000"/>
                </a:solidFill>
                <a:latin typeface="Arial"/>
              </a:rPr>
              <a:t>d+i</a:t>
            </a:r>
            <a:r>
              <a:rPr lang="en-US" sz="1050" kern="0" dirty="0">
                <a:solidFill>
                  <a:srgbClr val="000000"/>
                </a:solidFill>
                <a:latin typeface="Arial"/>
              </a:rPr>
              <a:t>) = acc;</a:t>
            </a:r>
          </a:p>
          <a:p>
            <a:pPr defTabSz="914400" fontAlgn="base">
              <a:spcBef>
                <a:spcPct val="0"/>
              </a:spcBef>
              <a:spcAft>
                <a:spcPct val="0"/>
              </a:spcAft>
              <a:defRPr/>
            </a:pPr>
            <a:r>
              <a:rPr lang="en-US" sz="1050" kern="0" dirty="0">
                <a:solidFill>
                  <a:srgbClr val="000000"/>
                </a:solidFill>
                <a:latin typeface="Arial"/>
              </a:rPr>
              <a:t>  }</a:t>
            </a:r>
          </a:p>
          <a:p>
            <a:pPr defTabSz="914400" fontAlgn="base">
              <a:spcBef>
                <a:spcPct val="0"/>
              </a:spcBef>
              <a:spcAft>
                <a:spcPct val="0"/>
              </a:spcAft>
              <a:defRPr/>
            </a:pPr>
            <a:r>
              <a:rPr lang="en-US" sz="1050" kern="0" dirty="0">
                <a:solidFill>
                  <a:srgbClr val="000000"/>
                </a:solidFill>
                <a:latin typeface="Arial"/>
              </a:rPr>
              <a:t>}</a:t>
            </a:r>
          </a:p>
        </p:txBody>
      </p:sp>
      <p:sp>
        <p:nvSpPr>
          <p:cNvPr id="13" name="TextBox 12">
            <a:extLst>
              <a:ext uri="{FF2B5EF4-FFF2-40B4-BE49-F238E27FC236}">
                <a16:creationId xmlns:a16="http://schemas.microsoft.com/office/drawing/2014/main" id="{4DF0CB6A-1048-4F2E-BF99-A05270249365}"/>
              </a:ext>
            </a:extLst>
          </p:cNvPr>
          <p:cNvSpPr txBox="1"/>
          <p:nvPr/>
        </p:nvSpPr>
        <p:spPr>
          <a:xfrm>
            <a:off x="4509008" y="3141988"/>
            <a:ext cx="1382220"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rPr>
              <a:t>Pointer arithmetic</a:t>
            </a:r>
          </a:p>
        </p:txBody>
      </p:sp>
      <p:cxnSp>
        <p:nvCxnSpPr>
          <p:cNvPr id="19" name="Straight Arrow Connector 18">
            <a:extLst>
              <a:ext uri="{FF2B5EF4-FFF2-40B4-BE49-F238E27FC236}">
                <a16:creationId xmlns:a16="http://schemas.microsoft.com/office/drawing/2014/main" id="{D09AEBF9-0473-4727-A160-C1F50437E964}"/>
              </a:ext>
            </a:extLst>
          </p:cNvPr>
          <p:cNvCxnSpPr/>
          <p:nvPr/>
        </p:nvCxnSpPr>
        <p:spPr>
          <a:xfrm flipH="1">
            <a:off x="3587528" y="3295608"/>
            <a:ext cx="716707" cy="0"/>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cxnSp>
        <p:nvCxnSpPr>
          <p:cNvPr id="20" name="Straight Arrow Connector 19">
            <a:extLst>
              <a:ext uri="{FF2B5EF4-FFF2-40B4-BE49-F238E27FC236}">
                <a16:creationId xmlns:a16="http://schemas.microsoft.com/office/drawing/2014/main" id="{6D387803-8FB9-4C2F-91A4-972CFC9FB7EB}"/>
              </a:ext>
            </a:extLst>
          </p:cNvPr>
          <p:cNvCxnSpPr/>
          <p:nvPr/>
        </p:nvCxnSpPr>
        <p:spPr>
          <a:xfrm flipH="1">
            <a:off x="3587528" y="3448008"/>
            <a:ext cx="716707" cy="0"/>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21" name="TextBox 20">
            <a:extLst>
              <a:ext uri="{FF2B5EF4-FFF2-40B4-BE49-F238E27FC236}">
                <a16:creationId xmlns:a16="http://schemas.microsoft.com/office/drawing/2014/main" id="{7ED80F05-6636-4ADE-8EFD-A792AA7A3743}"/>
              </a:ext>
            </a:extLst>
          </p:cNvPr>
          <p:cNvSpPr txBox="1"/>
          <p:nvPr/>
        </p:nvSpPr>
        <p:spPr>
          <a:xfrm>
            <a:off x="8246122" y="1836218"/>
            <a:ext cx="1894153" cy="18928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kern="0" dirty="0">
                <a:solidFill>
                  <a:srgbClr val="000000"/>
                </a:solidFill>
                <a:latin typeface="Arial"/>
              </a:rPr>
              <a:t># int main () {</a:t>
            </a:r>
          </a:p>
          <a:p>
            <a:pPr defTabSz="914400" fontAlgn="base">
              <a:spcBef>
                <a:spcPct val="0"/>
              </a:spcBef>
              <a:spcAft>
                <a:spcPct val="0"/>
              </a:spcAft>
              <a:defRPr/>
            </a:pPr>
            <a:r>
              <a:rPr lang="en-US" sz="900" kern="0" dirty="0">
                <a:solidFill>
                  <a:srgbClr val="000000"/>
                </a:solidFill>
                <a:latin typeface="Arial"/>
              </a:rPr>
              <a:t>  int d[5];</a:t>
            </a:r>
          </a:p>
          <a:p>
            <a:pPr defTabSz="914400" fontAlgn="base">
              <a:spcBef>
                <a:spcPct val="0"/>
              </a:spcBef>
              <a:spcAft>
                <a:spcPct val="0"/>
              </a:spcAft>
              <a:defRPr/>
            </a:pPr>
            <a:r>
              <a:rPr lang="en-US" sz="900" kern="0" dirty="0">
                <a:solidFill>
                  <a:srgbClr val="000000"/>
                </a:solidFill>
                <a:latin typeface="Arial"/>
              </a:rPr>
              <a:t>  int </a:t>
            </a:r>
            <a:r>
              <a:rPr lang="en-US" sz="900" kern="0" dirty="0" err="1">
                <a:solidFill>
                  <a:srgbClr val="000000"/>
                </a:solidFill>
                <a:latin typeface="Arial"/>
              </a:rPr>
              <a:t>i</a:t>
            </a: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for (</a:t>
            </a:r>
            <a:r>
              <a:rPr lang="en-US" sz="900" kern="0" dirty="0" err="1">
                <a:solidFill>
                  <a:srgbClr val="000000"/>
                </a:solidFill>
                <a:latin typeface="Arial"/>
              </a:rPr>
              <a:t>i</a:t>
            </a:r>
            <a:r>
              <a:rPr lang="en-US" sz="900" kern="0" dirty="0">
                <a:solidFill>
                  <a:srgbClr val="000000"/>
                </a:solidFill>
                <a:latin typeface="Arial"/>
              </a:rPr>
              <a:t>=0;i&lt;5;i++) {</a:t>
            </a:r>
          </a:p>
          <a:p>
            <a:pPr defTabSz="914400" fontAlgn="base">
              <a:spcBef>
                <a:spcPct val="0"/>
              </a:spcBef>
              <a:spcAft>
                <a:spcPct val="0"/>
              </a:spcAft>
              <a:defRPr/>
            </a:pPr>
            <a:r>
              <a:rPr lang="en-US" sz="900" kern="0" dirty="0">
                <a:solidFill>
                  <a:srgbClr val="000000"/>
                </a:solidFill>
                <a:latin typeface="Arial"/>
              </a:rPr>
              <a:t>    d[</a:t>
            </a:r>
            <a:r>
              <a:rPr lang="en-US" sz="900" kern="0" dirty="0" err="1">
                <a:solidFill>
                  <a:srgbClr val="000000"/>
                </a:solidFill>
                <a:latin typeface="Arial"/>
              </a:rPr>
              <a:t>i</a:t>
            </a:r>
            <a:r>
              <a:rPr lang="en-US" sz="900" kern="0" dirty="0">
                <a:solidFill>
                  <a:srgbClr val="000000"/>
                </a:solidFill>
                <a:latin typeface="Arial"/>
              </a:rPr>
              <a:t>] = </a:t>
            </a:r>
            <a:r>
              <a:rPr lang="en-US" sz="900" kern="0" dirty="0" err="1">
                <a:solidFill>
                  <a:srgbClr val="000000"/>
                </a:solidFill>
                <a:latin typeface="Arial"/>
              </a:rPr>
              <a:t>i</a:t>
            </a: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err="1">
                <a:solidFill>
                  <a:srgbClr val="000000"/>
                </a:solidFill>
                <a:latin typeface="Arial"/>
              </a:rPr>
              <a:t>foo</a:t>
            </a:r>
            <a:r>
              <a:rPr lang="en-US" sz="900" kern="0" dirty="0">
                <a:solidFill>
                  <a:srgbClr val="000000"/>
                </a:solidFill>
                <a:latin typeface="Arial"/>
              </a:rPr>
              <a:t>(d);</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 Check results</a:t>
            </a:r>
          </a:p>
          <a:p>
            <a:pPr defTabSz="914400" fontAlgn="base">
              <a:spcBef>
                <a:spcPct val="0"/>
              </a:spcBef>
              <a:spcAft>
                <a:spcPct val="0"/>
              </a:spcAft>
              <a:defRPr/>
            </a:pP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a:t>
            </a:r>
          </a:p>
        </p:txBody>
      </p:sp>
      <p:sp>
        <p:nvSpPr>
          <p:cNvPr id="22" name="Right Arrow 17">
            <a:extLst>
              <a:ext uri="{FF2B5EF4-FFF2-40B4-BE49-F238E27FC236}">
                <a16:creationId xmlns:a16="http://schemas.microsoft.com/office/drawing/2014/main" id="{E3B3A824-FFA3-4EE1-B317-C44D8F1356C6}"/>
              </a:ext>
            </a:extLst>
          </p:cNvPr>
          <p:cNvSpPr/>
          <p:nvPr/>
        </p:nvSpPr>
        <p:spPr>
          <a:xfrm>
            <a:off x="5225716" y="2192846"/>
            <a:ext cx="2969213" cy="88331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200" b="1" kern="0" dirty="0">
                <a:solidFill>
                  <a:srgbClr val="FFFFFF"/>
                </a:solidFill>
                <a:latin typeface="Arial"/>
              </a:rPr>
              <a:t>Value of “d” are defined in the test bench</a:t>
            </a:r>
          </a:p>
        </p:txBody>
      </p:sp>
      <p:sp>
        <p:nvSpPr>
          <p:cNvPr id="14" name="Slide Number Placeholder 5">
            <a:extLst>
              <a:ext uri="{FF2B5EF4-FFF2-40B4-BE49-F238E27FC236}">
                <a16:creationId xmlns:a16="http://schemas.microsoft.com/office/drawing/2014/main" id="{AE62FB4F-B9DF-479F-963E-B9173B59C29D}"/>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38</a:t>
            </a:fld>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Pointer Arithmetic: One Interface</a:t>
            </a:r>
          </a:p>
        </p:txBody>
      </p:sp>
      <p:sp>
        <p:nvSpPr>
          <p:cNvPr id="3" name="Content Placeholder 2"/>
          <p:cNvSpPr>
            <a:spLocks noGrp="1"/>
          </p:cNvSpPr>
          <p:nvPr>
            <p:ph idx="1"/>
          </p:nvPr>
        </p:nvSpPr>
        <p:spPr/>
        <p:txBody>
          <a:bodyPr>
            <a:noAutofit/>
          </a:bodyPr>
          <a:lstStyle/>
          <a:p>
            <a:r>
              <a:rPr lang="en-US" sz="1800" dirty="0"/>
              <a:t>Pointer arithmetic</a:t>
            </a:r>
          </a:p>
          <a:p>
            <a:pPr lvl="1"/>
            <a:r>
              <a:rPr lang="en-US" sz="1600" dirty="0"/>
              <a:t>This function uses some pointer arithmetic </a:t>
            </a:r>
            <a:r>
              <a:rPr lang="en-US" sz="1600" dirty="0">
                <a:highlight>
                  <a:srgbClr val="FFFF00"/>
                </a:highlight>
              </a:rPr>
              <a:t>to accumulate the data values</a:t>
            </a:r>
          </a:p>
          <a:p>
            <a:endParaRPr lang="en-US" dirty="0"/>
          </a:p>
          <a:p>
            <a:endParaRPr lang="en-US" dirty="0"/>
          </a:p>
          <a:p>
            <a:endParaRPr lang="en-US" dirty="0"/>
          </a:p>
          <a:p>
            <a:endParaRPr lang="en-US" dirty="0"/>
          </a:p>
          <a:p>
            <a:pPr lvl="1"/>
            <a:r>
              <a:rPr lang="en-US" sz="1600" strike="sngStrike" dirty="0"/>
              <a:t>Argument can be implemented as ap_bus or ap_fifo</a:t>
            </a:r>
          </a:p>
          <a:p>
            <a:r>
              <a:rPr lang="en-US" sz="1800" strike="sngStrike" dirty="0"/>
              <a:t>With a FIFO </a:t>
            </a:r>
            <a:r>
              <a:rPr lang="en-US" sz="1800" strike="sngStrike" dirty="0" err="1"/>
              <a:t>interface</a:t>
            </a:r>
            <a:r>
              <a:rPr lang="en-US" sz="1800" dirty="0" err="1">
                <a:highlight>
                  <a:srgbClr val="FFFF00"/>
                </a:highlight>
              </a:rPr>
              <a:t>Wire</a:t>
            </a:r>
            <a:r>
              <a:rPr lang="en-US" sz="1800" dirty="0">
                <a:highlight>
                  <a:srgbClr val="FFFF00"/>
                </a:highlight>
              </a:rPr>
              <a:t>, handshake, FIFO interfaces</a:t>
            </a:r>
            <a:endParaRPr lang="en-US" sz="1800" strike="sngStrike" dirty="0">
              <a:highlight>
                <a:srgbClr val="FFFF00"/>
              </a:highlight>
            </a:endParaRPr>
          </a:p>
          <a:p>
            <a:pPr lvl="1"/>
            <a:r>
              <a:rPr lang="en-US" sz="1600" dirty="0"/>
              <a:t>All reads &amp; writes must be sequential (start from location 0 implied)</a:t>
            </a:r>
          </a:p>
          <a:p>
            <a:pPr lvl="1"/>
            <a:r>
              <a:rPr lang="en-US" sz="1600" strike="sngStrike" dirty="0"/>
              <a:t>This functionality can only be implemented using ap_bus</a:t>
            </a:r>
          </a:p>
          <a:p>
            <a:r>
              <a:rPr lang="en-US" sz="1800" strike="sngStrike" dirty="0"/>
              <a:t>Address generated by pointer arithmetic</a:t>
            </a:r>
          </a:p>
          <a:p>
            <a:pPr lvl="1"/>
            <a:r>
              <a:rPr lang="en-US" sz="1600" strike="sngStrike" dirty="0"/>
              <a:t>Can only exported externally using ap_bus</a:t>
            </a:r>
          </a:p>
          <a:p>
            <a:pPr lvl="1"/>
            <a:r>
              <a:rPr lang="en-US" sz="1600" strike="sngStrike" dirty="0"/>
              <a:t>All other pointer interfaces are streaming type</a:t>
            </a:r>
          </a:p>
          <a:p>
            <a:r>
              <a:rPr lang="en-US" sz="1800" dirty="0">
                <a:highlight>
                  <a:srgbClr val="FFFF00"/>
                </a:highlight>
              </a:rPr>
              <a:t>Modify the code with an array on the interface and implemented with </a:t>
            </a:r>
            <a:r>
              <a:rPr lang="en-US" sz="1800" dirty="0" err="1">
                <a:highlight>
                  <a:srgbClr val="FFFF00"/>
                </a:highlight>
              </a:rPr>
              <a:t>ap_memory</a:t>
            </a:r>
            <a:endParaRPr lang="en-US" sz="1800" dirty="0">
              <a:highlight>
                <a:srgbClr val="FFFF00"/>
              </a:highlight>
            </a:endParaRPr>
          </a:p>
          <a:p>
            <a:pPr lvl="1"/>
            <a:r>
              <a:rPr lang="en-US" sz="1600" dirty="0">
                <a:highlight>
                  <a:srgbClr val="FFFF00"/>
                </a:highlight>
              </a:rPr>
              <a:t>Output address 4 is never written</a:t>
            </a:r>
          </a:p>
          <a:p>
            <a:pPr lvl="1"/>
            <a:r>
              <a:rPr lang="en-US" sz="1600" dirty="0">
                <a:highlight>
                  <a:srgbClr val="FFFF00"/>
                </a:highlight>
              </a:rPr>
              <a:t>If wire, handshake and FIFO interfaces are used here, RTL co-simulation fails</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39</a:t>
            </a:fld>
            <a:endParaRPr lang="en-US" dirty="0">
              <a:solidFill>
                <a:srgbClr val="0C0C0C">
                  <a:tint val="75000"/>
                </a:srgbClr>
              </a:solidFill>
              <a:latin typeface="Arial"/>
            </a:endParaRPr>
          </a:p>
        </p:txBody>
      </p:sp>
      <p:sp>
        <p:nvSpPr>
          <p:cNvPr id="11" name="TextBox 10">
            <a:extLst>
              <a:ext uri="{FF2B5EF4-FFF2-40B4-BE49-F238E27FC236}">
                <a16:creationId xmlns:a16="http://schemas.microsoft.com/office/drawing/2014/main" id="{A91CCAF5-BD50-4F88-884C-8355243BBD8B}"/>
              </a:ext>
            </a:extLst>
          </p:cNvPr>
          <p:cNvSpPr txBox="1"/>
          <p:nvPr/>
        </p:nvSpPr>
        <p:spPr>
          <a:xfrm>
            <a:off x="1795761" y="2066650"/>
            <a:ext cx="2252507" cy="186974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50" kern="0" dirty="0">
                <a:solidFill>
                  <a:srgbClr val="000000"/>
                </a:solidFill>
                <a:latin typeface="Arial"/>
              </a:rPr>
              <a:t>#include "</a:t>
            </a:r>
            <a:r>
              <a:rPr lang="en-US" sz="1050" kern="0" dirty="0" err="1">
                <a:solidFill>
                  <a:srgbClr val="000000"/>
                </a:solidFill>
                <a:latin typeface="Arial"/>
              </a:rPr>
              <a:t>bus.h</a:t>
            </a:r>
            <a:r>
              <a:rPr lang="en-US" sz="1050" kern="0" dirty="0">
                <a:solidFill>
                  <a:srgbClr val="000000"/>
                </a:solidFill>
                <a:latin typeface="Arial"/>
              </a:rPr>
              <a:t>"</a:t>
            </a:r>
          </a:p>
          <a:p>
            <a:pPr defTabSz="914400" fontAlgn="base">
              <a:spcBef>
                <a:spcPct val="0"/>
              </a:spcBef>
              <a:spcAft>
                <a:spcPct val="0"/>
              </a:spcAft>
              <a:defRPr/>
            </a:pPr>
            <a:endParaRPr lang="en-US" sz="1050" kern="0" dirty="0">
              <a:solidFill>
                <a:srgbClr val="000000"/>
              </a:solidFill>
              <a:latin typeface="Arial"/>
            </a:endParaRPr>
          </a:p>
          <a:p>
            <a:pPr defTabSz="914400" fontAlgn="base">
              <a:spcBef>
                <a:spcPct val="0"/>
              </a:spcBef>
              <a:spcAft>
                <a:spcPct val="0"/>
              </a:spcAft>
              <a:defRPr/>
            </a:pPr>
            <a:r>
              <a:rPr lang="en-US" sz="1050" kern="0" dirty="0">
                <a:solidFill>
                  <a:srgbClr val="000000"/>
                </a:solidFill>
                <a:latin typeface="Arial"/>
              </a:rPr>
              <a:t>void </a:t>
            </a:r>
            <a:r>
              <a:rPr lang="en-US" sz="1050" kern="0" dirty="0" err="1">
                <a:solidFill>
                  <a:srgbClr val="000000"/>
                </a:solidFill>
                <a:latin typeface="Arial"/>
              </a:rPr>
              <a:t>foo</a:t>
            </a:r>
            <a:r>
              <a:rPr lang="en-US" sz="1050" kern="0" dirty="0">
                <a:solidFill>
                  <a:srgbClr val="000000"/>
                </a:solidFill>
                <a:latin typeface="Arial"/>
              </a:rPr>
              <a:t> (int *d) {</a:t>
            </a:r>
          </a:p>
          <a:p>
            <a:pPr defTabSz="914400" fontAlgn="base">
              <a:spcBef>
                <a:spcPct val="0"/>
              </a:spcBef>
              <a:spcAft>
                <a:spcPct val="0"/>
              </a:spcAft>
              <a:defRPr/>
            </a:pPr>
            <a:r>
              <a:rPr lang="en-US" sz="1050" kern="0" dirty="0">
                <a:solidFill>
                  <a:srgbClr val="000000"/>
                </a:solidFill>
                <a:latin typeface="Arial"/>
              </a:rPr>
              <a:t>  static </a:t>
            </a:r>
            <a:r>
              <a:rPr lang="en-US" sz="1050" kern="0" dirty="0" err="1">
                <a:solidFill>
                  <a:srgbClr val="000000"/>
                </a:solidFill>
                <a:latin typeface="Arial"/>
              </a:rPr>
              <a:t>int</a:t>
            </a:r>
            <a:r>
              <a:rPr lang="en-US" sz="1050" kern="0" dirty="0">
                <a:solidFill>
                  <a:srgbClr val="000000"/>
                </a:solidFill>
                <a:latin typeface="Arial"/>
              </a:rPr>
              <a:t> acc = 0;</a:t>
            </a:r>
          </a:p>
          <a:p>
            <a:pPr defTabSz="914400" fontAlgn="base">
              <a:spcBef>
                <a:spcPct val="0"/>
              </a:spcBef>
              <a:spcAft>
                <a:spcPct val="0"/>
              </a:spcAft>
              <a:defRPr/>
            </a:pPr>
            <a:r>
              <a:rPr lang="en-US" sz="1050" kern="0" dirty="0">
                <a:solidFill>
                  <a:srgbClr val="000000"/>
                </a:solidFill>
                <a:latin typeface="Arial"/>
              </a:rPr>
              <a:t>  </a:t>
            </a:r>
            <a:r>
              <a:rPr lang="en-US" sz="1050" kern="0" dirty="0" err="1">
                <a:solidFill>
                  <a:srgbClr val="000000"/>
                </a:solidFill>
                <a:latin typeface="Arial"/>
              </a:rPr>
              <a:t>int</a:t>
            </a:r>
            <a:r>
              <a:rPr lang="en-US" sz="1050" kern="0" dirty="0">
                <a:solidFill>
                  <a:srgbClr val="000000"/>
                </a:solidFill>
                <a:latin typeface="Arial"/>
              </a:rPr>
              <a:t> </a:t>
            </a:r>
            <a:r>
              <a:rPr lang="en-US" sz="1050" kern="0" dirty="0" err="1">
                <a:solidFill>
                  <a:srgbClr val="000000"/>
                </a:solidFill>
                <a:latin typeface="Arial"/>
              </a:rPr>
              <a:t>i</a:t>
            </a:r>
            <a:r>
              <a:rPr lang="en-US" sz="1050" kern="0" dirty="0">
                <a:solidFill>
                  <a:srgbClr val="000000"/>
                </a:solidFill>
                <a:latin typeface="Arial"/>
              </a:rPr>
              <a:t>;</a:t>
            </a:r>
          </a:p>
          <a:p>
            <a:pPr defTabSz="914400" fontAlgn="base">
              <a:spcBef>
                <a:spcPct val="0"/>
              </a:spcBef>
              <a:spcAft>
                <a:spcPct val="0"/>
              </a:spcAft>
              <a:defRPr/>
            </a:pPr>
            <a:r>
              <a:rPr lang="en-US" sz="1050" kern="0" dirty="0">
                <a:solidFill>
                  <a:srgbClr val="000000"/>
                </a:solidFill>
                <a:latin typeface="Arial"/>
              </a:rPr>
              <a:t>  </a:t>
            </a:r>
          </a:p>
          <a:p>
            <a:pPr defTabSz="914400" fontAlgn="base">
              <a:spcBef>
                <a:spcPct val="0"/>
              </a:spcBef>
              <a:spcAft>
                <a:spcPct val="0"/>
              </a:spcAft>
              <a:defRPr/>
            </a:pPr>
            <a:r>
              <a:rPr lang="en-US" sz="1050" kern="0" dirty="0">
                <a:solidFill>
                  <a:srgbClr val="000000"/>
                </a:solidFill>
                <a:latin typeface="Arial"/>
              </a:rPr>
              <a:t>  for (</a:t>
            </a:r>
            <a:r>
              <a:rPr lang="en-US" sz="1050" kern="0" dirty="0" err="1">
                <a:solidFill>
                  <a:srgbClr val="000000"/>
                </a:solidFill>
                <a:latin typeface="Arial"/>
              </a:rPr>
              <a:t>i</a:t>
            </a:r>
            <a:r>
              <a:rPr lang="en-US" sz="1050" kern="0" dirty="0">
                <a:solidFill>
                  <a:srgbClr val="000000"/>
                </a:solidFill>
                <a:latin typeface="Arial"/>
              </a:rPr>
              <a:t>=0;i&lt;4;i++) {</a:t>
            </a:r>
          </a:p>
          <a:p>
            <a:pPr defTabSz="914400" fontAlgn="base">
              <a:spcBef>
                <a:spcPct val="0"/>
              </a:spcBef>
              <a:spcAft>
                <a:spcPct val="0"/>
              </a:spcAft>
              <a:defRPr/>
            </a:pPr>
            <a:r>
              <a:rPr lang="en-US" sz="1050" kern="0" dirty="0">
                <a:solidFill>
                  <a:srgbClr val="000000"/>
                </a:solidFill>
                <a:latin typeface="Arial"/>
              </a:rPr>
              <a:t>    acc += </a:t>
            </a:r>
            <a:r>
              <a:rPr lang="en-US" sz="1050" b="1" kern="0" dirty="0">
                <a:solidFill>
                  <a:srgbClr val="000000"/>
                </a:solidFill>
                <a:latin typeface="Arial"/>
              </a:rPr>
              <a:t>*(d+i+1);</a:t>
            </a:r>
          </a:p>
          <a:p>
            <a:pPr defTabSz="914400" fontAlgn="base">
              <a:spcBef>
                <a:spcPct val="0"/>
              </a:spcBef>
              <a:spcAft>
                <a:spcPct val="0"/>
              </a:spcAft>
              <a:defRPr/>
            </a:pPr>
            <a:r>
              <a:rPr lang="en-US" sz="1050" kern="0" dirty="0">
                <a:solidFill>
                  <a:srgbClr val="000000"/>
                </a:solidFill>
                <a:latin typeface="Arial"/>
              </a:rPr>
              <a:t>    *(</a:t>
            </a:r>
            <a:r>
              <a:rPr lang="en-US" sz="1050" kern="0" dirty="0" err="1">
                <a:solidFill>
                  <a:srgbClr val="000000"/>
                </a:solidFill>
                <a:latin typeface="Arial"/>
              </a:rPr>
              <a:t>d+i</a:t>
            </a:r>
            <a:r>
              <a:rPr lang="en-US" sz="1050" kern="0" dirty="0">
                <a:solidFill>
                  <a:srgbClr val="000000"/>
                </a:solidFill>
                <a:latin typeface="Arial"/>
              </a:rPr>
              <a:t>) = acc;</a:t>
            </a:r>
          </a:p>
          <a:p>
            <a:pPr defTabSz="914400" fontAlgn="base">
              <a:spcBef>
                <a:spcPct val="0"/>
              </a:spcBef>
              <a:spcAft>
                <a:spcPct val="0"/>
              </a:spcAft>
              <a:defRPr/>
            </a:pPr>
            <a:r>
              <a:rPr lang="en-US" sz="1050" kern="0" dirty="0">
                <a:solidFill>
                  <a:srgbClr val="000000"/>
                </a:solidFill>
                <a:latin typeface="Arial"/>
              </a:rPr>
              <a:t>  }</a:t>
            </a:r>
          </a:p>
          <a:p>
            <a:pPr defTabSz="914400" fontAlgn="base">
              <a:spcBef>
                <a:spcPct val="0"/>
              </a:spcBef>
              <a:spcAft>
                <a:spcPct val="0"/>
              </a:spcAft>
              <a:defRPr/>
            </a:pPr>
            <a:r>
              <a:rPr lang="en-US" sz="1050" kern="0" dirty="0">
                <a:solidFill>
                  <a:srgbClr val="000000"/>
                </a:solidFill>
                <a:latin typeface="Arial"/>
              </a:rPr>
              <a:t>}</a:t>
            </a:r>
          </a:p>
        </p:txBody>
      </p:sp>
      <p:sp>
        <p:nvSpPr>
          <p:cNvPr id="13" name="TextBox 12">
            <a:extLst>
              <a:ext uri="{FF2B5EF4-FFF2-40B4-BE49-F238E27FC236}">
                <a16:creationId xmlns:a16="http://schemas.microsoft.com/office/drawing/2014/main" id="{4DF0CB6A-1048-4F2E-BF99-A05270249365}"/>
              </a:ext>
            </a:extLst>
          </p:cNvPr>
          <p:cNvSpPr txBox="1"/>
          <p:nvPr/>
        </p:nvSpPr>
        <p:spPr>
          <a:xfrm>
            <a:off x="4509008" y="3141988"/>
            <a:ext cx="1382220"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Pointer arithmetic</a:t>
            </a:r>
          </a:p>
        </p:txBody>
      </p:sp>
      <p:cxnSp>
        <p:nvCxnSpPr>
          <p:cNvPr id="19" name="Straight Arrow Connector 18">
            <a:extLst>
              <a:ext uri="{FF2B5EF4-FFF2-40B4-BE49-F238E27FC236}">
                <a16:creationId xmlns:a16="http://schemas.microsoft.com/office/drawing/2014/main" id="{D09AEBF9-0473-4727-A160-C1F50437E964}"/>
              </a:ext>
            </a:extLst>
          </p:cNvPr>
          <p:cNvCxnSpPr/>
          <p:nvPr/>
        </p:nvCxnSpPr>
        <p:spPr>
          <a:xfrm flipH="1">
            <a:off x="3587528" y="3295608"/>
            <a:ext cx="716707" cy="0"/>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cxnSp>
        <p:nvCxnSpPr>
          <p:cNvPr id="20" name="Straight Arrow Connector 19">
            <a:extLst>
              <a:ext uri="{FF2B5EF4-FFF2-40B4-BE49-F238E27FC236}">
                <a16:creationId xmlns:a16="http://schemas.microsoft.com/office/drawing/2014/main" id="{6D387803-8FB9-4C2F-91A4-972CFC9FB7EB}"/>
              </a:ext>
            </a:extLst>
          </p:cNvPr>
          <p:cNvCxnSpPr/>
          <p:nvPr/>
        </p:nvCxnSpPr>
        <p:spPr>
          <a:xfrm flipH="1">
            <a:off x="3587528" y="3448008"/>
            <a:ext cx="716707" cy="0"/>
          </a:xfrm>
          <a:prstGeom prst="straightConnector1">
            <a:avLst/>
          </a:prstGeom>
          <a:noFill/>
          <a:ln w="3810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21" name="TextBox 20">
            <a:extLst>
              <a:ext uri="{FF2B5EF4-FFF2-40B4-BE49-F238E27FC236}">
                <a16:creationId xmlns:a16="http://schemas.microsoft.com/office/drawing/2014/main" id="{7ED80F05-6636-4ADE-8EFD-A792AA7A3743}"/>
              </a:ext>
            </a:extLst>
          </p:cNvPr>
          <p:cNvSpPr txBox="1"/>
          <p:nvPr/>
        </p:nvSpPr>
        <p:spPr>
          <a:xfrm>
            <a:off x="8246122" y="1836218"/>
            <a:ext cx="1894153" cy="18928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kern="0" dirty="0">
                <a:solidFill>
                  <a:srgbClr val="000000"/>
                </a:solidFill>
                <a:latin typeface="Arial"/>
              </a:rPr>
              <a:t># int main () {</a:t>
            </a:r>
          </a:p>
          <a:p>
            <a:pPr defTabSz="914400" fontAlgn="base">
              <a:spcBef>
                <a:spcPct val="0"/>
              </a:spcBef>
              <a:spcAft>
                <a:spcPct val="0"/>
              </a:spcAft>
              <a:defRPr/>
            </a:pPr>
            <a:r>
              <a:rPr lang="en-US" sz="900" kern="0" dirty="0">
                <a:solidFill>
                  <a:srgbClr val="000000"/>
                </a:solidFill>
                <a:latin typeface="Arial"/>
              </a:rPr>
              <a:t>  int d[5];</a:t>
            </a:r>
          </a:p>
          <a:p>
            <a:pPr defTabSz="914400" fontAlgn="base">
              <a:spcBef>
                <a:spcPct val="0"/>
              </a:spcBef>
              <a:spcAft>
                <a:spcPct val="0"/>
              </a:spcAft>
              <a:defRPr/>
            </a:pPr>
            <a:r>
              <a:rPr lang="en-US" sz="900" kern="0" dirty="0">
                <a:solidFill>
                  <a:srgbClr val="000000"/>
                </a:solidFill>
                <a:latin typeface="Arial"/>
              </a:rPr>
              <a:t>  int </a:t>
            </a:r>
            <a:r>
              <a:rPr lang="en-US" sz="900" kern="0" dirty="0" err="1">
                <a:solidFill>
                  <a:srgbClr val="000000"/>
                </a:solidFill>
                <a:latin typeface="Arial"/>
              </a:rPr>
              <a:t>i</a:t>
            </a: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for (</a:t>
            </a:r>
            <a:r>
              <a:rPr lang="en-US" sz="900" kern="0" dirty="0" err="1">
                <a:solidFill>
                  <a:srgbClr val="000000"/>
                </a:solidFill>
                <a:latin typeface="Arial"/>
              </a:rPr>
              <a:t>i</a:t>
            </a:r>
            <a:r>
              <a:rPr lang="en-US" sz="900" kern="0" dirty="0">
                <a:solidFill>
                  <a:srgbClr val="000000"/>
                </a:solidFill>
                <a:latin typeface="Arial"/>
              </a:rPr>
              <a:t>=0;i&lt;5;i++) {</a:t>
            </a:r>
          </a:p>
          <a:p>
            <a:pPr defTabSz="914400" fontAlgn="base">
              <a:spcBef>
                <a:spcPct val="0"/>
              </a:spcBef>
              <a:spcAft>
                <a:spcPct val="0"/>
              </a:spcAft>
              <a:defRPr/>
            </a:pPr>
            <a:r>
              <a:rPr lang="en-US" sz="900" kern="0" dirty="0">
                <a:solidFill>
                  <a:srgbClr val="000000"/>
                </a:solidFill>
                <a:latin typeface="Arial"/>
              </a:rPr>
              <a:t>    d[</a:t>
            </a:r>
            <a:r>
              <a:rPr lang="en-US" sz="900" kern="0" dirty="0" err="1">
                <a:solidFill>
                  <a:srgbClr val="000000"/>
                </a:solidFill>
                <a:latin typeface="Arial"/>
              </a:rPr>
              <a:t>i</a:t>
            </a:r>
            <a:r>
              <a:rPr lang="en-US" sz="900" kern="0" dirty="0">
                <a:solidFill>
                  <a:srgbClr val="000000"/>
                </a:solidFill>
                <a:latin typeface="Arial"/>
              </a:rPr>
              <a:t>] = </a:t>
            </a:r>
            <a:r>
              <a:rPr lang="en-US" sz="900" kern="0" dirty="0" err="1">
                <a:solidFill>
                  <a:srgbClr val="000000"/>
                </a:solidFill>
                <a:latin typeface="Arial"/>
              </a:rPr>
              <a:t>i</a:t>
            </a: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err="1">
                <a:solidFill>
                  <a:srgbClr val="000000"/>
                </a:solidFill>
                <a:latin typeface="Arial"/>
              </a:rPr>
              <a:t>foo</a:t>
            </a:r>
            <a:r>
              <a:rPr lang="en-US" sz="900" kern="0" dirty="0">
                <a:solidFill>
                  <a:srgbClr val="000000"/>
                </a:solidFill>
                <a:latin typeface="Arial"/>
              </a:rPr>
              <a:t>(d);</a:t>
            </a:r>
          </a:p>
          <a:p>
            <a:pPr defTabSz="914400" fontAlgn="base">
              <a:spcBef>
                <a:spcPct val="0"/>
              </a:spcBef>
              <a:spcAft>
                <a:spcPct val="0"/>
              </a:spcAft>
              <a:defRPr/>
            </a:pPr>
            <a:r>
              <a:rPr lang="en-US" sz="900" kern="0" dirty="0">
                <a:solidFill>
                  <a:srgbClr val="000000"/>
                </a:solidFill>
                <a:latin typeface="Arial"/>
              </a:rPr>
              <a:t>  </a:t>
            </a:r>
          </a:p>
          <a:p>
            <a:pPr defTabSz="914400" fontAlgn="base">
              <a:spcBef>
                <a:spcPct val="0"/>
              </a:spcBef>
              <a:spcAft>
                <a:spcPct val="0"/>
              </a:spcAft>
              <a:defRPr/>
            </a:pPr>
            <a:r>
              <a:rPr lang="en-US" sz="900" kern="0" dirty="0">
                <a:solidFill>
                  <a:srgbClr val="000000"/>
                </a:solidFill>
                <a:latin typeface="Arial"/>
              </a:rPr>
              <a:t>// Check results</a:t>
            </a:r>
          </a:p>
          <a:p>
            <a:pPr defTabSz="914400" fontAlgn="base">
              <a:spcBef>
                <a:spcPct val="0"/>
              </a:spcBef>
              <a:spcAft>
                <a:spcPct val="0"/>
              </a:spcAft>
              <a:defRPr/>
            </a:pPr>
            <a:r>
              <a:rPr lang="en-US" sz="900" kern="0" dirty="0">
                <a:solidFill>
                  <a:srgbClr val="000000"/>
                </a:solidFill>
                <a:latin typeface="Arial"/>
              </a:rPr>
              <a:t>…</a:t>
            </a:r>
          </a:p>
          <a:p>
            <a:pPr defTabSz="914400" fontAlgn="base">
              <a:spcBef>
                <a:spcPct val="0"/>
              </a:spcBef>
              <a:spcAft>
                <a:spcPct val="0"/>
              </a:spcAft>
              <a:defRPr/>
            </a:pPr>
            <a:r>
              <a:rPr lang="en-US" sz="900" kern="0" dirty="0">
                <a:solidFill>
                  <a:srgbClr val="000000"/>
                </a:solidFill>
                <a:latin typeface="Arial"/>
              </a:rPr>
              <a:t>}</a:t>
            </a:r>
          </a:p>
        </p:txBody>
      </p:sp>
      <p:sp>
        <p:nvSpPr>
          <p:cNvPr id="22" name="Right Arrow 17">
            <a:extLst>
              <a:ext uri="{FF2B5EF4-FFF2-40B4-BE49-F238E27FC236}">
                <a16:creationId xmlns:a16="http://schemas.microsoft.com/office/drawing/2014/main" id="{E3B3A824-FFA3-4EE1-B317-C44D8F1356C6}"/>
              </a:ext>
            </a:extLst>
          </p:cNvPr>
          <p:cNvSpPr/>
          <p:nvPr/>
        </p:nvSpPr>
        <p:spPr>
          <a:xfrm>
            <a:off x="5225716" y="2192846"/>
            <a:ext cx="2969213" cy="883315"/>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200" b="1" kern="0" dirty="0">
                <a:solidFill>
                  <a:srgbClr val="FFFFFF"/>
                </a:solidFill>
                <a:latin typeface="Arial"/>
              </a:rPr>
              <a:t>Value of “d” are defined in the test bench</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Converting Malloc Pointers</a:t>
            </a:r>
          </a:p>
        </p:txBody>
      </p:sp>
      <p:sp>
        <p:nvSpPr>
          <p:cNvPr id="3" name="Content Placeholder 2"/>
          <p:cNvSpPr>
            <a:spLocks noGrp="1"/>
          </p:cNvSpPr>
          <p:nvPr>
            <p:ph idx="1"/>
          </p:nvPr>
        </p:nvSpPr>
        <p:spPr>
          <a:xfrm>
            <a:off x="491464" y="1155089"/>
            <a:ext cx="6100110" cy="4759404"/>
          </a:xfrm>
        </p:spPr>
        <p:txBody>
          <a:bodyPr/>
          <a:lstStyle/>
          <a:p>
            <a:r>
              <a:rPr lang="en-US" sz="1800" dirty="0"/>
              <a:t>Many design use Malloc and Pointer</a:t>
            </a:r>
          </a:p>
          <a:p>
            <a:pPr lvl="1"/>
            <a:r>
              <a:rPr lang="en-US" sz="1600" dirty="0"/>
              <a:t>Malloc is not supported for synthesis</a:t>
            </a:r>
          </a:p>
          <a:p>
            <a:pPr lvl="1"/>
            <a:r>
              <a:rPr lang="en-US" sz="1600" dirty="0"/>
              <a:t>Must be converted to a resource of a defined size </a:t>
            </a:r>
            <a:r>
              <a:rPr lang="en-US" sz="1600" dirty="0">
                <a:sym typeface="Wingdings" pitchFamily="2" charset="2"/>
              </a:rPr>
              <a:t> array</a:t>
            </a:r>
          </a:p>
          <a:p>
            <a:pPr lvl="1"/>
            <a:r>
              <a:rPr lang="en-US" sz="1600" dirty="0">
                <a:sym typeface="Wingdings" pitchFamily="2" charset="2"/>
              </a:rPr>
              <a:t>This can mean changing lots of code: *</a:t>
            </a:r>
            <a:r>
              <a:rPr lang="en-US" sz="1600" dirty="0" err="1">
                <a:sym typeface="Wingdings" pitchFamily="2" charset="2"/>
              </a:rPr>
              <a:t>var</a:t>
            </a:r>
            <a:r>
              <a:rPr lang="en-US" sz="1600" dirty="0">
                <a:sym typeface="Wingdings" pitchFamily="2" charset="2"/>
              </a:rPr>
              <a:t>  </a:t>
            </a:r>
            <a:r>
              <a:rPr lang="en-US" sz="1600" dirty="0" err="1">
                <a:sym typeface="Wingdings" pitchFamily="2" charset="2"/>
              </a:rPr>
              <a:t>var</a:t>
            </a:r>
            <a:r>
              <a:rPr lang="en-US" sz="1600" dirty="0">
                <a:sym typeface="Wingdings" pitchFamily="2" charset="2"/>
              </a:rPr>
              <a:t>[ ]</a:t>
            </a:r>
          </a:p>
          <a:p>
            <a:r>
              <a:rPr lang="en-US" sz="1800" dirty="0">
                <a:sym typeface="Wingdings" pitchFamily="2" charset="2"/>
              </a:rPr>
              <a:t>The following workaround can ensure limited code impact</a:t>
            </a:r>
          </a:p>
          <a:p>
            <a:pPr lvl="1"/>
            <a:r>
              <a:rPr lang="en-US" sz="1600" dirty="0">
                <a:sym typeface="Wingdings" pitchFamily="2" charset="2"/>
              </a:rPr>
              <a:t>Add user-defined macro NO_SYNTH to select synthesizable and no-synthesizable version</a:t>
            </a:r>
          </a:p>
          <a:p>
            <a:pPr lvl="1"/>
            <a:r>
              <a:rPr lang="en-US" sz="1600" dirty="0">
                <a:sym typeface="Wingdings" pitchFamily="2" charset="2"/>
              </a:rPr>
              <a:t>Enable and disable macro NO_SYNTH for C simulation and verify the results</a:t>
            </a:r>
          </a:p>
          <a:p>
            <a:pPr lvl="1"/>
            <a:r>
              <a:rPr lang="en-US" sz="1600" dirty="0">
                <a:sym typeface="Wingdings" pitchFamily="2" charset="2"/>
              </a:rPr>
              <a:t>Disable macro NO_SYNTH for synthesis</a:t>
            </a:r>
            <a:endParaRPr lang="en-US" sz="1600" dirty="0"/>
          </a:p>
        </p:txBody>
      </p:sp>
      <p:sp>
        <p:nvSpPr>
          <p:cNvPr id="14" name="TextBox 13">
            <a:extLst>
              <a:ext uri="{FF2B5EF4-FFF2-40B4-BE49-F238E27FC236}">
                <a16:creationId xmlns:a16="http://schemas.microsoft.com/office/drawing/2014/main" id="{0B83B30A-39A6-4103-BF2D-732AAC5858D6}"/>
              </a:ext>
            </a:extLst>
          </p:cNvPr>
          <p:cNvSpPr txBox="1"/>
          <p:nvPr/>
        </p:nvSpPr>
        <p:spPr>
          <a:xfrm>
            <a:off x="6977921" y="447041"/>
            <a:ext cx="4590862" cy="590931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lvl="0" fontAlgn="base">
              <a:spcBef>
                <a:spcPct val="0"/>
              </a:spcBef>
              <a:spcAft>
                <a:spcPct val="0"/>
              </a:spcAft>
              <a:defRPr/>
            </a:pPr>
            <a:r>
              <a:rPr lang="en-US" sz="1400" kern="0" dirty="0">
                <a:solidFill>
                  <a:srgbClr val="000000"/>
                </a:solidFill>
              </a:rPr>
              <a:t>#include "</a:t>
            </a:r>
            <a:r>
              <a:rPr lang="en-US" sz="1400" kern="0" dirty="0" err="1">
                <a:solidFill>
                  <a:srgbClr val="000000"/>
                </a:solidFill>
              </a:rPr>
              <a:t>malloc_removed.h</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#include &lt;</a:t>
            </a:r>
            <a:r>
              <a:rPr lang="en-US" sz="1400" kern="0" dirty="0" err="1">
                <a:solidFill>
                  <a:srgbClr val="000000"/>
                </a:solidFill>
              </a:rPr>
              <a:t>stdlib.h</a:t>
            </a:r>
            <a:r>
              <a:rPr lang="en-US" sz="1400" kern="0" dirty="0">
                <a:solidFill>
                  <a:srgbClr val="000000"/>
                </a:solidFill>
              </a:rPr>
              <a:t>&gt;</a:t>
            </a:r>
          </a:p>
          <a:p>
            <a:pPr lvl="0" fontAlgn="base">
              <a:spcBef>
                <a:spcPct val="0"/>
              </a:spcBef>
              <a:spcAft>
                <a:spcPct val="0"/>
              </a:spcAft>
              <a:defRPr/>
            </a:pPr>
            <a:r>
              <a:rPr lang="en-US" sz="1400" kern="0" dirty="0">
                <a:solidFill>
                  <a:srgbClr val="000000"/>
                </a:solidFill>
              </a:rPr>
              <a:t>//#define NO_SYNTH</a:t>
            </a:r>
          </a:p>
          <a:p>
            <a:pPr lvl="0" fontAlgn="base">
              <a:spcBef>
                <a:spcPct val="0"/>
              </a:spcBef>
              <a:spcAft>
                <a:spcPct val="0"/>
              </a:spcAft>
              <a:defRPr/>
            </a:pPr>
            <a:r>
              <a:rPr lang="en-US" sz="1400" kern="0" dirty="0" err="1">
                <a:solidFill>
                  <a:srgbClr val="000000"/>
                </a:solidFill>
              </a:rPr>
              <a:t>dout_t</a:t>
            </a:r>
            <a:r>
              <a:rPr lang="en-US" sz="1400" kern="0" dirty="0">
                <a:solidFill>
                  <a:srgbClr val="000000"/>
                </a:solidFill>
              </a:rPr>
              <a:t> </a:t>
            </a:r>
            <a:r>
              <a:rPr lang="en-US" sz="1400" kern="0" dirty="0" err="1">
                <a:solidFill>
                  <a:srgbClr val="000000"/>
                </a:solidFill>
              </a:rPr>
              <a:t>malloc_removed</a:t>
            </a:r>
            <a:r>
              <a:rPr lang="en-US" sz="1400" kern="0" dirty="0">
                <a:solidFill>
                  <a:srgbClr val="000000"/>
                </a:solidFill>
              </a:rPr>
              <a:t>(</a:t>
            </a:r>
            <a:r>
              <a:rPr lang="en-US" sz="1400" kern="0" dirty="0" err="1">
                <a:solidFill>
                  <a:srgbClr val="000000"/>
                </a:solidFill>
              </a:rPr>
              <a:t>din_t</a:t>
            </a:r>
            <a:r>
              <a:rPr lang="en-US" sz="1400" kern="0" dirty="0">
                <a:solidFill>
                  <a:srgbClr val="000000"/>
                </a:solidFill>
              </a:rPr>
              <a:t> din[N], </a:t>
            </a:r>
            <a:r>
              <a:rPr lang="en-US" sz="1400" kern="0" dirty="0" err="1">
                <a:solidFill>
                  <a:srgbClr val="000000"/>
                </a:solidFill>
              </a:rPr>
              <a:t>dsel_t</a:t>
            </a:r>
            <a:r>
              <a:rPr lang="en-US" sz="1400" kern="0" dirty="0">
                <a:solidFill>
                  <a:srgbClr val="000000"/>
                </a:solidFill>
              </a:rPr>
              <a:t> width) {  </a:t>
            </a:r>
          </a:p>
          <a:p>
            <a:pPr lvl="0" fontAlgn="base">
              <a:spcBef>
                <a:spcPct val="0"/>
              </a:spcBef>
              <a:spcAft>
                <a:spcPct val="0"/>
              </a:spcAft>
              <a:defRPr/>
            </a:pPr>
            <a:r>
              <a:rPr lang="en-US" sz="1400" kern="0" dirty="0">
                <a:solidFill>
                  <a:srgbClr val="000000"/>
                </a:solidFill>
              </a:rPr>
              <a:t>#ifdef NO_SYNTH</a:t>
            </a:r>
          </a:p>
          <a:p>
            <a:pPr lvl="0" fontAlgn="base">
              <a:spcBef>
                <a:spcPct val="0"/>
              </a:spcBef>
              <a:spcAft>
                <a:spcPct val="0"/>
              </a:spcAft>
              <a:defRPr/>
            </a:pPr>
            <a:r>
              <a:rPr lang="en-US" sz="1400" kern="0" dirty="0">
                <a:solidFill>
                  <a:srgbClr val="000000"/>
                </a:solidFill>
              </a:rPr>
              <a:t> long </a:t>
            </a:r>
            <a:r>
              <a:rPr lang="en-US" sz="1400" kern="0" dirty="0" err="1">
                <a:solidFill>
                  <a:srgbClr val="000000"/>
                </a:solidFill>
              </a:rPr>
              <a:t>long</a:t>
            </a:r>
            <a:r>
              <a:rPr lang="en-US" sz="1400" kern="0" dirty="0">
                <a:solidFill>
                  <a:srgbClr val="000000"/>
                </a:solidFill>
              </a:rPr>
              <a:t> *</a:t>
            </a:r>
            <a:r>
              <a:rPr lang="en-US" sz="1400" kern="0" dirty="0" err="1">
                <a:solidFill>
                  <a:srgbClr val="000000"/>
                </a:solidFill>
              </a:rPr>
              <a:t>out_accum</a:t>
            </a:r>
            <a:r>
              <a:rPr lang="en-US" sz="1400" kern="0" dirty="0">
                <a:solidFill>
                  <a:srgbClr val="000000"/>
                </a:solidFill>
              </a:rPr>
              <a:t> = malloc (</a:t>
            </a:r>
            <a:r>
              <a:rPr lang="en-US" sz="1400" kern="0" dirty="0" err="1">
                <a:solidFill>
                  <a:srgbClr val="000000"/>
                </a:solidFill>
              </a:rPr>
              <a:t>sizeof</a:t>
            </a:r>
            <a:r>
              <a:rPr lang="en-US" sz="1400" kern="0" dirty="0">
                <a:solidFill>
                  <a:srgbClr val="000000"/>
                </a:solidFill>
              </a:rPr>
              <a:t>(long long));</a:t>
            </a:r>
          </a:p>
          <a:p>
            <a:pPr lvl="0" fontAlgn="base">
              <a:spcBef>
                <a:spcPct val="0"/>
              </a:spcBef>
              <a:spcAft>
                <a:spcPct val="0"/>
              </a:spcAft>
              <a:defRPr/>
            </a:pPr>
            <a:r>
              <a:rPr lang="en-US" sz="1400" kern="0" dirty="0">
                <a:solidFill>
                  <a:srgbClr val="000000"/>
                </a:solidFill>
              </a:rPr>
              <a:t> int* </a:t>
            </a:r>
            <a:r>
              <a:rPr lang="en-US" sz="1400" kern="0" dirty="0" err="1">
                <a:solidFill>
                  <a:srgbClr val="000000"/>
                </a:solidFill>
              </a:rPr>
              <a:t>array_local</a:t>
            </a:r>
            <a:r>
              <a:rPr lang="en-US" sz="1400" kern="0" dirty="0">
                <a:solidFill>
                  <a:srgbClr val="000000"/>
                </a:solidFill>
              </a:rPr>
              <a:t> = malloc (64 * </a:t>
            </a:r>
            <a:r>
              <a:rPr lang="en-US" sz="1400" kern="0" dirty="0" err="1">
                <a:solidFill>
                  <a:srgbClr val="000000"/>
                </a:solidFill>
              </a:rPr>
              <a:t>sizeof</a:t>
            </a:r>
            <a:r>
              <a:rPr lang="en-US" sz="1400" kern="0" dirty="0">
                <a:solidFill>
                  <a:srgbClr val="000000"/>
                </a:solidFill>
              </a:rPr>
              <a:t>(int));</a:t>
            </a:r>
          </a:p>
          <a:p>
            <a:pPr lvl="0" fontAlgn="base">
              <a:spcBef>
                <a:spcPct val="0"/>
              </a:spcBef>
              <a:spcAft>
                <a:spcPct val="0"/>
              </a:spcAft>
              <a:defRPr/>
            </a:pPr>
            <a:r>
              <a:rPr lang="en-US" sz="1400" kern="0" dirty="0">
                <a:solidFill>
                  <a:srgbClr val="000000"/>
                </a:solidFill>
              </a:rPr>
              <a:t>#else</a:t>
            </a:r>
          </a:p>
          <a:p>
            <a:pPr lvl="0" fontAlgn="base">
              <a:spcBef>
                <a:spcPct val="0"/>
              </a:spcBef>
              <a:spcAft>
                <a:spcPct val="0"/>
              </a:spcAft>
              <a:defRPr/>
            </a:pPr>
            <a:r>
              <a:rPr lang="en-US" sz="1400" kern="0" dirty="0">
                <a:solidFill>
                  <a:srgbClr val="000000"/>
                </a:solidFill>
              </a:rPr>
              <a:t> long </a:t>
            </a:r>
            <a:r>
              <a:rPr lang="en-US" sz="1400" kern="0" dirty="0" err="1">
                <a:solidFill>
                  <a:srgbClr val="000000"/>
                </a:solidFill>
              </a:rPr>
              <a:t>long</a:t>
            </a:r>
            <a:r>
              <a:rPr lang="en-US" sz="1400" kern="0" dirty="0">
                <a:solidFill>
                  <a:srgbClr val="000000"/>
                </a:solidFill>
              </a:rPr>
              <a:t> _</a:t>
            </a:r>
            <a:r>
              <a:rPr lang="en-US" sz="1400" kern="0" dirty="0" err="1">
                <a:solidFill>
                  <a:srgbClr val="000000"/>
                </a:solidFill>
              </a:rPr>
              <a:t>out_accum</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 long </a:t>
            </a:r>
            <a:r>
              <a:rPr lang="en-US" sz="1400" kern="0" dirty="0" err="1">
                <a:solidFill>
                  <a:srgbClr val="000000"/>
                </a:solidFill>
              </a:rPr>
              <a:t>long</a:t>
            </a:r>
            <a:r>
              <a:rPr lang="en-US" sz="1400" kern="0" dirty="0">
                <a:solidFill>
                  <a:srgbClr val="000000"/>
                </a:solidFill>
              </a:rPr>
              <a:t> *</a:t>
            </a:r>
            <a:r>
              <a:rPr lang="en-US" sz="1400" kern="0" dirty="0" err="1">
                <a:solidFill>
                  <a:srgbClr val="000000"/>
                </a:solidFill>
              </a:rPr>
              <a:t>out_accum</a:t>
            </a:r>
            <a:r>
              <a:rPr lang="en-US" sz="1400" kern="0" dirty="0">
                <a:solidFill>
                  <a:srgbClr val="000000"/>
                </a:solidFill>
              </a:rPr>
              <a:t> = &amp;_</a:t>
            </a:r>
            <a:r>
              <a:rPr lang="en-US" sz="1400" kern="0" dirty="0" err="1">
                <a:solidFill>
                  <a:srgbClr val="000000"/>
                </a:solidFill>
              </a:rPr>
              <a:t>out_accum</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 int _</a:t>
            </a:r>
            <a:r>
              <a:rPr lang="en-US" sz="1400" kern="0" dirty="0" err="1">
                <a:solidFill>
                  <a:srgbClr val="000000"/>
                </a:solidFill>
              </a:rPr>
              <a:t>array_local</a:t>
            </a:r>
            <a:r>
              <a:rPr lang="en-US" sz="1400" kern="0" dirty="0">
                <a:solidFill>
                  <a:srgbClr val="000000"/>
                </a:solidFill>
              </a:rPr>
              <a:t>[64];</a:t>
            </a:r>
          </a:p>
          <a:p>
            <a:pPr lvl="0" fontAlgn="base">
              <a:spcBef>
                <a:spcPct val="0"/>
              </a:spcBef>
              <a:spcAft>
                <a:spcPct val="0"/>
              </a:spcAft>
              <a:defRPr/>
            </a:pPr>
            <a:r>
              <a:rPr lang="en-US" sz="1400" kern="0" dirty="0">
                <a:solidFill>
                  <a:srgbClr val="000000"/>
                </a:solidFill>
              </a:rPr>
              <a:t> int* </a:t>
            </a:r>
            <a:r>
              <a:rPr lang="en-US" sz="1400" kern="0" dirty="0" err="1">
                <a:solidFill>
                  <a:srgbClr val="000000"/>
                </a:solidFill>
              </a:rPr>
              <a:t>array_local</a:t>
            </a:r>
            <a:r>
              <a:rPr lang="en-US" sz="1400" kern="0" dirty="0">
                <a:solidFill>
                  <a:srgbClr val="000000"/>
                </a:solidFill>
              </a:rPr>
              <a:t> = &amp;_</a:t>
            </a:r>
            <a:r>
              <a:rPr lang="en-US" sz="1400" kern="0" dirty="0" err="1">
                <a:solidFill>
                  <a:srgbClr val="000000"/>
                </a:solidFill>
              </a:rPr>
              <a:t>array_local</a:t>
            </a:r>
            <a:r>
              <a:rPr lang="en-US" sz="1400" kern="0" dirty="0">
                <a:solidFill>
                  <a:srgbClr val="000000"/>
                </a:solidFill>
              </a:rPr>
              <a:t>[0];</a:t>
            </a:r>
          </a:p>
          <a:p>
            <a:pPr lvl="0" fontAlgn="base">
              <a:spcBef>
                <a:spcPct val="0"/>
              </a:spcBef>
              <a:spcAft>
                <a:spcPct val="0"/>
              </a:spcAft>
              <a:defRPr/>
            </a:pPr>
            <a:r>
              <a:rPr lang="en-US" sz="1400" kern="0" dirty="0">
                <a:solidFill>
                  <a:srgbClr val="000000"/>
                </a:solidFill>
              </a:rPr>
              <a:t>#endif</a:t>
            </a:r>
          </a:p>
          <a:p>
            <a:pPr lvl="0" fontAlgn="base">
              <a:spcBef>
                <a:spcPct val="0"/>
              </a:spcBef>
              <a:spcAft>
                <a:spcPct val="0"/>
              </a:spcAft>
              <a:defRPr/>
            </a:pPr>
            <a:r>
              <a:rPr lang="en-US" sz="1400" kern="0" dirty="0">
                <a:solidFill>
                  <a:srgbClr val="000000"/>
                </a:solidFill>
              </a:rPr>
              <a:t> int </a:t>
            </a:r>
            <a:r>
              <a:rPr lang="en-US" sz="1400" kern="0" dirty="0" err="1">
                <a:solidFill>
                  <a:srgbClr val="000000"/>
                </a:solidFill>
              </a:rPr>
              <a:t>i,j</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 </a:t>
            </a:r>
            <a:r>
              <a:rPr lang="en-US" sz="1400" kern="0" dirty="0" err="1">
                <a:solidFill>
                  <a:srgbClr val="000000"/>
                </a:solidFill>
              </a:rPr>
              <a:t>LOOP_SHIFT:for</a:t>
            </a:r>
            <a:r>
              <a:rPr lang="en-US" sz="1400" kern="0" dirty="0">
                <a:solidFill>
                  <a:srgbClr val="000000"/>
                </a:solidFill>
              </a:rPr>
              <a:t> (</a:t>
            </a:r>
            <a:r>
              <a:rPr lang="en-US" sz="1400" kern="0" dirty="0" err="1">
                <a:solidFill>
                  <a:srgbClr val="000000"/>
                </a:solidFill>
              </a:rPr>
              <a:t>i</a:t>
            </a:r>
            <a:r>
              <a:rPr lang="en-US" sz="1400" kern="0" dirty="0">
                <a:solidFill>
                  <a:srgbClr val="000000"/>
                </a:solidFill>
              </a:rPr>
              <a:t>=0;i&lt;N-1; </a:t>
            </a:r>
            <a:r>
              <a:rPr lang="en-US" sz="1400" kern="0" dirty="0" err="1">
                <a:solidFill>
                  <a:srgbClr val="000000"/>
                </a:solidFill>
              </a:rPr>
              <a:t>i</a:t>
            </a:r>
            <a:r>
              <a:rPr lang="en-US" sz="1400" kern="0" dirty="0">
                <a:solidFill>
                  <a:srgbClr val="000000"/>
                </a:solidFill>
              </a:rPr>
              <a:t>++) {</a:t>
            </a:r>
          </a:p>
          <a:p>
            <a:pPr lvl="0" fontAlgn="base">
              <a:spcBef>
                <a:spcPct val="0"/>
              </a:spcBef>
              <a:spcAft>
                <a:spcPct val="0"/>
              </a:spcAft>
              <a:defRPr/>
            </a:pPr>
            <a:r>
              <a:rPr lang="en-US" sz="1400" kern="0" dirty="0">
                <a:solidFill>
                  <a:srgbClr val="000000"/>
                </a:solidFill>
              </a:rPr>
              <a:t> if (</a:t>
            </a:r>
            <a:r>
              <a:rPr lang="en-US" sz="1400" kern="0" dirty="0" err="1">
                <a:solidFill>
                  <a:srgbClr val="000000"/>
                </a:solidFill>
              </a:rPr>
              <a:t>i</a:t>
            </a:r>
            <a:r>
              <a:rPr lang="en-US" sz="1400" kern="0" dirty="0">
                <a:solidFill>
                  <a:srgbClr val="000000"/>
                </a:solidFill>
              </a:rPr>
              <a:t>&lt;width) </a:t>
            </a:r>
          </a:p>
          <a:p>
            <a:pPr lvl="0" fontAlgn="base">
              <a:spcBef>
                <a:spcPct val="0"/>
              </a:spcBef>
              <a:spcAft>
                <a:spcPct val="0"/>
              </a:spcAft>
              <a:defRPr/>
            </a:pPr>
            <a:r>
              <a:rPr lang="en-US" sz="1400" kern="0" dirty="0">
                <a:solidFill>
                  <a:srgbClr val="000000"/>
                </a:solidFill>
              </a:rPr>
              <a:t> *(</a:t>
            </a:r>
            <a:r>
              <a:rPr lang="en-US" sz="1400" kern="0" dirty="0" err="1">
                <a:solidFill>
                  <a:srgbClr val="000000"/>
                </a:solidFill>
              </a:rPr>
              <a:t>array_local+i</a:t>
            </a:r>
            <a:r>
              <a:rPr lang="en-US" sz="1400" kern="0" dirty="0">
                <a:solidFill>
                  <a:srgbClr val="000000"/>
                </a:solidFill>
              </a:rPr>
              <a:t>)=din[</a:t>
            </a:r>
            <a:r>
              <a:rPr lang="en-US" sz="1400" kern="0" dirty="0" err="1">
                <a:solidFill>
                  <a:srgbClr val="000000"/>
                </a:solidFill>
              </a:rPr>
              <a:t>i</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 else </a:t>
            </a:r>
          </a:p>
          <a:p>
            <a:pPr lvl="0" fontAlgn="base">
              <a:spcBef>
                <a:spcPct val="0"/>
              </a:spcBef>
              <a:spcAft>
                <a:spcPct val="0"/>
              </a:spcAft>
              <a:defRPr/>
            </a:pPr>
            <a:r>
              <a:rPr lang="en-US" sz="1400" kern="0" dirty="0">
                <a:solidFill>
                  <a:srgbClr val="000000"/>
                </a:solidFill>
              </a:rPr>
              <a:t> *(</a:t>
            </a:r>
            <a:r>
              <a:rPr lang="en-US" sz="1400" kern="0" dirty="0" err="1">
                <a:solidFill>
                  <a:srgbClr val="000000"/>
                </a:solidFill>
              </a:rPr>
              <a:t>array_local+i</a:t>
            </a:r>
            <a:r>
              <a:rPr lang="en-US" sz="1400" kern="0" dirty="0">
                <a:solidFill>
                  <a:srgbClr val="000000"/>
                </a:solidFill>
              </a:rPr>
              <a:t>)=din[</a:t>
            </a:r>
            <a:r>
              <a:rPr lang="en-US" sz="1400" kern="0" dirty="0" err="1">
                <a:solidFill>
                  <a:srgbClr val="000000"/>
                </a:solidFill>
              </a:rPr>
              <a:t>i</a:t>
            </a:r>
            <a:r>
              <a:rPr lang="en-US" sz="1400" kern="0" dirty="0">
                <a:solidFill>
                  <a:srgbClr val="000000"/>
                </a:solidFill>
              </a:rPr>
              <a:t>]&gt;&gt;2;</a:t>
            </a:r>
          </a:p>
          <a:p>
            <a:pPr lvl="0" fontAlgn="base">
              <a:spcBef>
                <a:spcPct val="0"/>
              </a:spcBef>
              <a:spcAft>
                <a:spcPct val="0"/>
              </a:spcAft>
              <a:defRPr/>
            </a:pPr>
            <a:r>
              <a:rPr lang="en-US" sz="1400" kern="0" dirty="0">
                <a:solidFill>
                  <a:srgbClr val="000000"/>
                </a:solidFill>
              </a:rPr>
              <a:t> }</a:t>
            </a:r>
          </a:p>
          <a:p>
            <a:pPr lvl="0" fontAlgn="base">
              <a:spcBef>
                <a:spcPct val="0"/>
              </a:spcBef>
              <a:spcAft>
                <a:spcPct val="0"/>
              </a:spcAft>
              <a:defRPr/>
            </a:pPr>
            <a:r>
              <a:rPr lang="en-US" sz="1400" kern="0" dirty="0">
                <a:solidFill>
                  <a:srgbClr val="000000"/>
                </a:solidFill>
              </a:rPr>
              <a:t> *</a:t>
            </a:r>
            <a:r>
              <a:rPr lang="en-US" sz="1400" kern="0" dirty="0" err="1">
                <a:solidFill>
                  <a:srgbClr val="000000"/>
                </a:solidFill>
              </a:rPr>
              <a:t>out_accum</a:t>
            </a:r>
            <a:r>
              <a:rPr lang="en-US" sz="1400" kern="0" dirty="0">
                <a:solidFill>
                  <a:srgbClr val="000000"/>
                </a:solidFill>
              </a:rPr>
              <a:t>=0;</a:t>
            </a:r>
          </a:p>
          <a:p>
            <a:pPr lvl="0" fontAlgn="base">
              <a:spcBef>
                <a:spcPct val="0"/>
              </a:spcBef>
              <a:spcAft>
                <a:spcPct val="0"/>
              </a:spcAft>
              <a:defRPr/>
            </a:pPr>
            <a:r>
              <a:rPr lang="en-US" sz="1400" kern="0" dirty="0">
                <a:solidFill>
                  <a:srgbClr val="000000"/>
                </a:solidFill>
              </a:rPr>
              <a:t> </a:t>
            </a:r>
            <a:r>
              <a:rPr lang="en-US" sz="1400" kern="0" dirty="0" err="1">
                <a:solidFill>
                  <a:srgbClr val="000000"/>
                </a:solidFill>
              </a:rPr>
              <a:t>LOOP_ACCUM:for</a:t>
            </a:r>
            <a:r>
              <a:rPr lang="en-US" sz="1400" kern="0" dirty="0">
                <a:solidFill>
                  <a:srgbClr val="000000"/>
                </a:solidFill>
              </a:rPr>
              <a:t> (j=0;j&lt;N-1; </a:t>
            </a:r>
            <a:r>
              <a:rPr lang="en-US" sz="1400" kern="0" dirty="0" err="1">
                <a:solidFill>
                  <a:srgbClr val="000000"/>
                </a:solidFill>
              </a:rPr>
              <a:t>j++</a:t>
            </a:r>
            <a:r>
              <a:rPr lang="en-US" sz="1400" kern="0" dirty="0">
                <a:solidFill>
                  <a:srgbClr val="000000"/>
                </a:solidFill>
              </a:rPr>
              <a:t>) {</a:t>
            </a:r>
          </a:p>
          <a:p>
            <a:pPr lvl="0" fontAlgn="base">
              <a:spcBef>
                <a:spcPct val="0"/>
              </a:spcBef>
              <a:spcAft>
                <a:spcPct val="0"/>
              </a:spcAft>
              <a:defRPr/>
            </a:pPr>
            <a:r>
              <a:rPr lang="en-US" sz="1400" kern="0" dirty="0">
                <a:solidFill>
                  <a:srgbClr val="000000"/>
                </a:solidFill>
              </a:rPr>
              <a:t> *</a:t>
            </a:r>
            <a:r>
              <a:rPr lang="en-US" sz="1400" kern="0" dirty="0" err="1">
                <a:solidFill>
                  <a:srgbClr val="000000"/>
                </a:solidFill>
              </a:rPr>
              <a:t>out_accum</a:t>
            </a:r>
            <a:r>
              <a:rPr lang="en-US" sz="1400" kern="0" dirty="0">
                <a:solidFill>
                  <a:srgbClr val="000000"/>
                </a:solidFill>
              </a:rPr>
              <a:t> += *(</a:t>
            </a:r>
            <a:r>
              <a:rPr lang="en-US" sz="1400" kern="0" dirty="0" err="1">
                <a:solidFill>
                  <a:srgbClr val="000000"/>
                </a:solidFill>
              </a:rPr>
              <a:t>array_local+j</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 }</a:t>
            </a:r>
          </a:p>
          <a:p>
            <a:pPr lvl="0" fontAlgn="base">
              <a:spcBef>
                <a:spcPct val="0"/>
              </a:spcBef>
              <a:spcAft>
                <a:spcPct val="0"/>
              </a:spcAft>
              <a:defRPr/>
            </a:pPr>
            <a:r>
              <a:rPr lang="en-US" sz="1400" kern="0" dirty="0">
                <a:solidFill>
                  <a:srgbClr val="000000"/>
                </a:solidFill>
              </a:rPr>
              <a:t> return *</a:t>
            </a:r>
            <a:r>
              <a:rPr lang="en-US" sz="1400" kern="0" dirty="0" err="1">
                <a:solidFill>
                  <a:srgbClr val="000000"/>
                </a:solidFill>
              </a:rPr>
              <a:t>out_accum</a:t>
            </a:r>
            <a:r>
              <a:rPr lang="en-US" sz="1400" kern="0" dirty="0">
                <a:solidFill>
                  <a:srgbClr val="000000"/>
                </a:solidFill>
              </a:rPr>
              <a:t>;</a:t>
            </a:r>
          </a:p>
          <a:p>
            <a:pPr lvl="0" fontAlgn="base">
              <a:spcBef>
                <a:spcPct val="0"/>
              </a:spcBef>
              <a:spcAft>
                <a:spcPct val="0"/>
              </a:spcAft>
              <a:defRPr/>
            </a:pPr>
            <a:r>
              <a:rPr lang="en-US" sz="1400" kern="0" dirty="0">
                <a:solidFill>
                  <a:srgbClr val="000000"/>
                </a:solidFill>
              </a:rPr>
              <a:t>}</a:t>
            </a:r>
            <a:endParaRPr lang="en-US" sz="1400" kern="0" dirty="0">
              <a:solidFill>
                <a:srgbClr val="000000"/>
              </a:solidFill>
              <a:latin typeface="Arial"/>
            </a:endParaRPr>
          </a:p>
        </p:txBody>
      </p:sp>
      <p:sp>
        <p:nvSpPr>
          <p:cNvPr id="6" name="Slide Number Placeholder 5">
            <a:extLst>
              <a:ext uri="{FF2B5EF4-FFF2-40B4-BE49-F238E27FC236}">
                <a16:creationId xmlns:a16="http://schemas.microsoft.com/office/drawing/2014/main" id="{326E3118-9236-4762-A073-D96F6EFC7C1B}"/>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40</a:t>
            </a:fld>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Converting Malloc Pointers</a:t>
            </a:r>
          </a:p>
        </p:txBody>
      </p:sp>
      <p:sp>
        <p:nvSpPr>
          <p:cNvPr id="3" name="Content Placeholder 2"/>
          <p:cNvSpPr>
            <a:spLocks noGrp="1"/>
          </p:cNvSpPr>
          <p:nvPr>
            <p:ph idx="1"/>
          </p:nvPr>
        </p:nvSpPr>
        <p:spPr/>
        <p:txBody>
          <a:bodyPr/>
          <a:lstStyle/>
          <a:p>
            <a:r>
              <a:rPr lang="en-US" sz="1800" dirty="0"/>
              <a:t>Many design use Malloc and Pointer</a:t>
            </a:r>
          </a:p>
          <a:p>
            <a:pPr lvl="1"/>
            <a:r>
              <a:rPr lang="en-US" sz="1600" dirty="0"/>
              <a:t>Malloc is not supported for synthesis</a:t>
            </a:r>
          </a:p>
          <a:p>
            <a:pPr lvl="1"/>
            <a:r>
              <a:rPr lang="en-US" sz="1600" dirty="0"/>
              <a:t>Must be converted to a resource of a defined size </a:t>
            </a:r>
            <a:r>
              <a:rPr lang="en-US" sz="1600" dirty="0">
                <a:sym typeface="Wingdings" pitchFamily="2" charset="2"/>
              </a:rPr>
              <a:t> array</a:t>
            </a:r>
          </a:p>
          <a:p>
            <a:pPr lvl="1"/>
            <a:r>
              <a:rPr lang="en-US" sz="1600" dirty="0">
                <a:sym typeface="Wingdings" pitchFamily="2" charset="2"/>
              </a:rPr>
              <a:t>This can mean changing lots of code: *</a:t>
            </a:r>
            <a:r>
              <a:rPr lang="en-US" sz="1600" dirty="0" err="1">
                <a:sym typeface="Wingdings" pitchFamily="2" charset="2"/>
              </a:rPr>
              <a:t>var</a:t>
            </a:r>
            <a:r>
              <a:rPr lang="en-US" sz="1600" dirty="0">
                <a:sym typeface="Wingdings" pitchFamily="2" charset="2"/>
              </a:rPr>
              <a:t>  </a:t>
            </a:r>
            <a:r>
              <a:rPr lang="en-US" sz="1600" dirty="0" err="1">
                <a:sym typeface="Wingdings" pitchFamily="2" charset="2"/>
              </a:rPr>
              <a:t>var</a:t>
            </a:r>
            <a:r>
              <a:rPr lang="en-US" sz="1600" dirty="0">
                <a:sym typeface="Wingdings" pitchFamily="2" charset="2"/>
              </a:rPr>
              <a:t>[ ]</a:t>
            </a:r>
          </a:p>
          <a:p>
            <a:r>
              <a:rPr lang="en-US" sz="1800" dirty="0">
                <a:sym typeface="Wingdings" pitchFamily="2" charset="2"/>
              </a:rPr>
              <a:t>The following workaround can ensure limited code impact</a:t>
            </a:r>
          </a:p>
          <a:p>
            <a:pPr lvl="1"/>
            <a:r>
              <a:rPr lang="en-US" sz="1600" dirty="0">
                <a:sym typeface="Wingdings" pitchFamily="2" charset="2"/>
              </a:rPr>
              <a:t>Create a dummy variable</a:t>
            </a:r>
          </a:p>
          <a:p>
            <a:pPr lvl="1"/>
            <a:r>
              <a:rPr lang="en-US" sz="1600" dirty="0">
                <a:sym typeface="Wingdings" pitchFamily="2" charset="2"/>
              </a:rPr>
              <a:t>Set the pointer to the dummy variable</a:t>
            </a:r>
            <a:endParaRPr lang="en-US" sz="1600" dirty="0"/>
          </a:p>
        </p:txBody>
      </p:sp>
      <p:sp>
        <p:nvSpPr>
          <p:cNvPr id="16" name="Slide Number Placeholder 1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41</a:t>
            </a:fld>
            <a:endParaRPr lang="en-US" dirty="0">
              <a:solidFill>
                <a:srgbClr val="0C0C0C">
                  <a:tint val="75000"/>
                </a:srgbClr>
              </a:solidFill>
              <a:latin typeface="Arial"/>
            </a:endParaRPr>
          </a:p>
        </p:txBody>
      </p:sp>
      <p:sp>
        <p:nvSpPr>
          <p:cNvPr id="14" name="TextBox 13">
            <a:extLst>
              <a:ext uri="{FF2B5EF4-FFF2-40B4-BE49-F238E27FC236}">
                <a16:creationId xmlns:a16="http://schemas.microsoft.com/office/drawing/2014/main" id="{0B83B30A-39A6-4103-BF2D-732AAC5858D6}"/>
              </a:ext>
            </a:extLst>
          </p:cNvPr>
          <p:cNvSpPr txBox="1"/>
          <p:nvPr/>
        </p:nvSpPr>
        <p:spPr>
          <a:xfrm>
            <a:off x="1795760" y="3702092"/>
            <a:ext cx="7013486" cy="246221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400" kern="0" dirty="0">
                <a:solidFill>
                  <a:srgbClr val="000000"/>
                </a:solidFill>
                <a:latin typeface="Arial"/>
              </a:rPr>
              <a:t>// Internal image buffers</a:t>
            </a:r>
          </a:p>
          <a:p>
            <a:pPr defTabSz="914400" fontAlgn="base">
              <a:spcBef>
                <a:spcPct val="0"/>
              </a:spcBef>
              <a:spcAft>
                <a:spcPct val="0"/>
              </a:spcAft>
              <a:defRPr/>
            </a:pPr>
            <a:r>
              <a:rPr lang="en-US" sz="1400" kern="0" dirty="0">
                <a:solidFill>
                  <a:srgbClr val="000000"/>
                </a:solidFill>
                <a:latin typeface="Arial"/>
              </a:rPr>
              <a:t>#ifndef __SYNTHESIS__</a:t>
            </a:r>
          </a:p>
          <a:p>
            <a:pPr defTabSz="914400" fontAlgn="base">
              <a:spcBef>
                <a:spcPct val="0"/>
              </a:spcBef>
              <a:spcAft>
                <a:spcPct val="0"/>
              </a:spcAft>
              <a:defRPr/>
            </a:pPr>
            <a:r>
              <a:rPr lang="en-US" sz="1400" kern="0" dirty="0">
                <a:solidFill>
                  <a:srgbClr val="000000"/>
                </a:solidFill>
                <a:latin typeface="Arial"/>
              </a:rPr>
              <a:t>   </a:t>
            </a:r>
            <a:r>
              <a:rPr lang="en-US" sz="1400" kern="0" dirty="0" err="1">
                <a:solidFill>
                  <a:srgbClr val="000000"/>
                </a:solidFill>
                <a:latin typeface="Arial"/>
              </a:rPr>
              <a:t>my_type</a:t>
            </a:r>
            <a:r>
              <a:rPr lang="en-US" sz="1400" kern="0" dirty="0">
                <a:solidFill>
                  <a:srgbClr val="000000"/>
                </a:solidFill>
                <a:latin typeface="Arial"/>
              </a:rPr>
              <a:t> *</a:t>
            </a:r>
            <a:r>
              <a:rPr lang="en-US" sz="1400" kern="0" dirty="0" err="1">
                <a:solidFill>
                  <a:srgbClr val="000000"/>
                </a:solidFill>
                <a:latin typeface="Arial"/>
              </a:rPr>
              <a:t>yuv</a:t>
            </a:r>
            <a:r>
              <a:rPr lang="en-US" sz="1400" kern="0" dirty="0">
                <a:solidFill>
                  <a:srgbClr val="000000"/>
                </a:solidFill>
                <a:latin typeface="Arial"/>
              </a:rPr>
              <a:t> = (</a:t>
            </a:r>
            <a:r>
              <a:rPr lang="en-US" sz="1400" kern="0" dirty="0" err="1">
                <a:solidFill>
                  <a:srgbClr val="000000"/>
                </a:solidFill>
                <a:latin typeface="Arial"/>
              </a:rPr>
              <a:t>my_type</a:t>
            </a:r>
            <a:r>
              <a:rPr lang="en-US" sz="1400" kern="0" dirty="0">
                <a:solidFill>
                  <a:srgbClr val="000000"/>
                </a:solidFill>
                <a:latin typeface="Arial"/>
              </a:rPr>
              <a:t> *)malloc(N*sizeof(</a:t>
            </a:r>
            <a:r>
              <a:rPr lang="en-US" sz="1400" kern="0" dirty="0" err="1">
                <a:solidFill>
                  <a:srgbClr val="000000"/>
                </a:solidFill>
                <a:latin typeface="Arial"/>
              </a:rPr>
              <a:t>my_type</a:t>
            </a:r>
            <a:r>
              <a:rPr lang="en-US" sz="1400" kern="0" dirty="0">
                <a:solidFill>
                  <a:srgbClr val="000000"/>
                </a:solidFill>
                <a:latin typeface="Arial"/>
              </a:rPr>
              <a:t>));</a:t>
            </a:r>
          </a:p>
          <a:p>
            <a:pPr defTabSz="914400" fontAlgn="base">
              <a:spcBef>
                <a:spcPct val="0"/>
              </a:spcBef>
              <a:spcAft>
                <a:spcPct val="0"/>
              </a:spcAft>
              <a:defRPr/>
            </a:pPr>
            <a:r>
              <a:rPr lang="en-US" sz="1400" kern="0" dirty="0">
                <a:solidFill>
                  <a:srgbClr val="000000"/>
                </a:solidFill>
                <a:latin typeface="Arial"/>
              </a:rPr>
              <a:t>   </a:t>
            </a:r>
            <a:r>
              <a:rPr lang="en-US" sz="1400" kern="0" dirty="0" err="1">
                <a:solidFill>
                  <a:srgbClr val="000000"/>
                </a:solidFill>
                <a:latin typeface="Arial"/>
              </a:rPr>
              <a:t>my_type</a:t>
            </a:r>
            <a:r>
              <a:rPr lang="en-US" sz="1400" kern="0" dirty="0">
                <a:solidFill>
                  <a:srgbClr val="000000"/>
                </a:solidFill>
                <a:latin typeface="Arial"/>
              </a:rPr>
              <a:t> *scale = (</a:t>
            </a:r>
            <a:r>
              <a:rPr lang="en-US" sz="1400" kern="0" dirty="0" err="1">
                <a:solidFill>
                  <a:srgbClr val="000000"/>
                </a:solidFill>
                <a:latin typeface="Arial"/>
              </a:rPr>
              <a:t>my_type</a:t>
            </a:r>
            <a:r>
              <a:rPr lang="en-US" sz="1400" kern="0" dirty="0">
                <a:solidFill>
                  <a:srgbClr val="000000"/>
                </a:solidFill>
                <a:latin typeface="Arial"/>
              </a:rPr>
              <a:t> *)malloc(N*sizeof(</a:t>
            </a:r>
            <a:r>
              <a:rPr lang="en-US" sz="1400" kern="0" dirty="0" err="1">
                <a:solidFill>
                  <a:srgbClr val="000000"/>
                </a:solidFill>
                <a:latin typeface="Arial"/>
              </a:rPr>
              <a:t>my_type</a:t>
            </a:r>
            <a:r>
              <a:rPr lang="en-US" sz="1400" kern="0" dirty="0">
                <a:solidFill>
                  <a:srgbClr val="000000"/>
                </a:solidFill>
                <a:latin typeface="Arial"/>
              </a:rPr>
              <a:t>));</a:t>
            </a:r>
          </a:p>
          <a:p>
            <a:pPr defTabSz="914400" fontAlgn="base">
              <a:spcBef>
                <a:spcPct val="0"/>
              </a:spcBef>
              <a:spcAft>
                <a:spcPct val="0"/>
              </a:spcAft>
              <a:defRPr/>
            </a:pPr>
            <a:r>
              <a:rPr lang="en-US" sz="1400" kern="0" dirty="0">
                <a:solidFill>
                  <a:srgbClr val="000000"/>
                </a:solidFill>
                <a:latin typeface="Arial"/>
              </a:rPr>
              <a:t>#else // Workaround malloc() calls w/o changing rest of code</a:t>
            </a:r>
          </a:p>
          <a:p>
            <a:pPr defTabSz="914400" fontAlgn="base">
              <a:spcBef>
                <a:spcPct val="0"/>
              </a:spcBef>
              <a:spcAft>
                <a:spcPct val="0"/>
              </a:spcAft>
              <a:defRPr/>
            </a:pPr>
            <a:r>
              <a:rPr lang="en-US" sz="1400" kern="0" dirty="0">
                <a:solidFill>
                  <a:srgbClr val="000000"/>
                </a:solidFill>
                <a:latin typeface="Arial"/>
              </a:rPr>
              <a:t>   </a:t>
            </a:r>
            <a:r>
              <a:rPr lang="en-US" sz="1400" kern="0" dirty="0" err="1">
                <a:solidFill>
                  <a:srgbClr val="000000"/>
                </a:solidFill>
                <a:latin typeface="Arial"/>
              </a:rPr>
              <a:t>my_type</a:t>
            </a:r>
            <a:r>
              <a:rPr lang="en-US" sz="1400" kern="0" dirty="0">
                <a:solidFill>
                  <a:srgbClr val="000000"/>
                </a:solidFill>
                <a:latin typeface="Arial"/>
              </a:rPr>
              <a:t> _</a:t>
            </a:r>
            <a:r>
              <a:rPr lang="en-US" sz="1400" kern="0" dirty="0" err="1">
                <a:solidFill>
                  <a:srgbClr val="000000"/>
                </a:solidFill>
                <a:latin typeface="Arial"/>
              </a:rPr>
              <a:t>yuv</a:t>
            </a:r>
            <a:r>
              <a:rPr lang="en-US" sz="1400" kern="0" dirty="0">
                <a:solidFill>
                  <a:srgbClr val="000000"/>
                </a:solidFill>
                <a:latin typeface="Arial"/>
              </a:rPr>
              <a:t>[N];</a:t>
            </a:r>
          </a:p>
          <a:p>
            <a:pPr defTabSz="914400" fontAlgn="base">
              <a:spcBef>
                <a:spcPct val="0"/>
              </a:spcBef>
              <a:spcAft>
                <a:spcPct val="0"/>
              </a:spcAft>
              <a:defRPr/>
            </a:pPr>
            <a:r>
              <a:rPr lang="en-US" sz="1400" kern="0" dirty="0">
                <a:solidFill>
                  <a:srgbClr val="000000"/>
                </a:solidFill>
                <a:latin typeface="Arial"/>
              </a:rPr>
              <a:t>   </a:t>
            </a:r>
            <a:r>
              <a:rPr lang="en-US" sz="1400" kern="0" dirty="0" err="1">
                <a:solidFill>
                  <a:srgbClr val="000000"/>
                </a:solidFill>
                <a:latin typeface="Arial"/>
              </a:rPr>
              <a:t>my_type</a:t>
            </a:r>
            <a:r>
              <a:rPr lang="en-US" sz="1400" kern="0" dirty="0">
                <a:solidFill>
                  <a:srgbClr val="000000"/>
                </a:solidFill>
                <a:latin typeface="Arial"/>
              </a:rPr>
              <a:t> _scale[N];</a:t>
            </a:r>
          </a:p>
          <a:p>
            <a:pPr defTabSz="914400" fontAlgn="base">
              <a:spcBef>
                <a:spcPct val="0"/>
              </a:spcBef>
              <a:spcAft>
                <a:spcPct val="0"/>
              </a:spcAft>
              <a:defRPr/>
            </a:pPr>
            <a:r>
              <a:rPr lang="en-US" sz="1400" kern="0" dirty="0">
                <a:solidFill>
                  <a:srgbClr val="000000"/>
                </a:solidFill>
                <a:latin typeface="Arial"/>
              </a:rPr>
              <a:t>   </a:t>
            </a:r>
            <a:r>
              <a:rPr lang="en-US" sz="1400" kern="0" dirty="0" err="1">
                <a:solidFill>
                  <a:srgbClr val="000000"/>
                </a:solidFill>
                <a:latin typeface="Arial"/>
              </a:rPr>
              <a:t>my_type</a:t>
            </a:r>
            <a:r>
              <a:rPr lang="en-US" sz="1400" kern="0" dirty="0">
                <a:solidFill>
                  <a:srgbClr val="000000"/>
                </a:solidFill>
                <a:latin typeface="Arial"/>
              </a:rPr>
              <a:t> *</a:t>
            </a:r>
            <a:r>
              <a:rPr lang="en-US" sz="1400" kern="0" dirty="0" err="1">
                <a:solidFill>
                  <a:srgbClr val="000000"/>
                </a:solidFill>
                <a:latin typeface="Arial"/>
              </a:rPr>
              <a:t>yuv</a:t>
            </a:r>
            <a:r>
              <a:rPr lang="en-US" sz="1400" kern="0" dirty="0">
                <a:solidFill>
                  <a:srgbClr val="000000"/>
                </a:solidFill>
                <a:latin typeface="Arial"/>
              </a:rPr>
              <a:t> = &amp;_</a:t>
            </a:r>
            <a:r>
              <a:rPr lang="en-US" sz="1400" kern="0" dirty="0" err="1">
                <a:solidFill>
                  <a:srgbClr val="000000"/>
                </a:solidFill>
                <a:latin typeface="Arial"/>
              </a:rPr>
              <a:t>yuv</a:t>
            </a:r>
            <a:r>
              <a:rPr lang="en-US" sz="1400" kern="0" dirty="0">
                <a:solidFill>
                  <a:srgbClr val="000000"/>
                </a:solidFill>
                <a:latin typeface="Arial"/>
              </a:rPr>
              <a:t>;</a:t>
            </a:r>
          </a:p>
          <a:p>
            <a:pPr defTabSz="914400" fontAlgn="base">
              <a:spcBef>
                <a:spcPct val="0"/>
              </a:spcBef>
              <a:spcAft>
                <a:spcPct val="0"/>
              </a:spcAft>
              <a:defRPr/>
            </a:pPr>
            <a:r>
              <a:rPr lang="en-US" sz="1400" kern="0" dirty="0">
                <a:solidFill>
                  <a:srgbClr val="000000"/>
                </a:solidFill>
                <a:latin typeface="Arial"/>
              </a:rPr>
              <a:t>   </a:t>
            </a:r>
            <a:r>
              <a:rPr lang="en-US" sz="1400" kern="0" dirty="0" err="1">
                <a:solidFill>
                  <a:srgbClr val="000000"/>
                </a:solidFill>
                <a:latin typeface="Arial"/>
              </a:rPr>
              <a:t>my_type</a:t>
            </a:r>
            <a:r>
              <a:rPr lang="en-US" sz="1400" kern="0" dirty="0">
                <a:solidFill>
                  <a:srgbClr val="000000"/>
                </a:solidFill>
                <a:latin typeface="Arial"/>
              </a:rPr>
              <a:t> *scale = &amp;_scale;</a:t>
            </a:r>
          </a:p>
          <a:p>
            <a:pPr defTabSz="914400" fontAlgn="base">
              <a:spcBef>
                <a:spcPct val="0"/>
              </a:spcBef>
              <a:spcAft>
                <a:spcPct val="0"/>
              </a:spcAft>
              <a:defRPr/>
            </a:pPr>
            <a:r>
              <a:rPr lang="en-US" sz="1400" kern="0" dirty="0">
                <a:solidFill>
                  <a:srgbClr val="000000"/>
                </a:solidFill>
                <a:latin typeface="Arial"/>
              </a:rPr>
              <a:t>#endif</a:t>
            </a:r>
          </a:p>
          <a:p>
            <a:pPr defTabSz="914400" fontAlgn="base">
              <a:spcBef>
                <a:spcPct val="0"/>
              </a:spcBef>
              <a:spcAft>
                <a:spcPct val="0"/>
              </a:spcAft>
              <a:defRPr/>
            </a:pPr>
            <a:r>
              <a:rPr lang="en-US" sz="1400" kern="0" dirty="0">
                <a:solidFill>
                  <a:srgbClr val="000000"/>
                </a:solidFill>
                <a:latin typeface="Arial"/>
              </a:rPr>
              <a:t>res = *</a:t>
            </a:r>
            <a:r>
              <a:rPr lang="en-US" sz="1400" kern="0" dirty="0" err="1">
                <a:solidFill>
                  <a:srgbClr val="000000"/>
                </a:solidFill>
                <a:latin typeface="Arial"/>
              </a:rPr>
              <a:t>yuv</a:t>
            </a:r>
            <a:r>
              <a:rPr lang="en-US" sz="1400" kern="0" dirty="0">
                <a:solidFill>
                  <a:srgbClr val="000000"/>
                </a:solidFill>
                <a:latin typeface="Arial"/>
              </a:rPr>
              <a:t>;</a:t>
            </a:r>
          </a:p>
        </p:txBody>
      </p:sp>
      <p:sp>
        <p:nvSpPr>
          <p:cNvPr id="15" name="TextBox 14">
            <a:extLst>
              <a:ext uri="{FF2B5EF4-FFF2-40B4-BE49-F238E27FC236}">
                <a16:creationId xmlns:a16="http://schemas.microsoft.com/office/drawing/2014/main" id="{BD72428E-A251-4E86-82E0-63E457BBB0B6}"/>
              </a:ext>
            </a:extLst>
          </p:cNvPr>
          <p:cNvSpPr txBox="1"/>
          <p:nvPr/>
        </p:nvSpPr>
        <p:spPr>
          <a:xfrm>
            <a:off x="8604475" y="3958824"/>
            <a:ext cx="3176393" cy="523220"/>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Code for non-synthesis flow (simulation)</a:t>
            </a:r>
          </a:p>
        </p:txBody>
      </p:sp>
      <p:cxnSp>
        <p:nvCxnSpPr>
          <p:cNvPr id="17" name="Straight Arrow Connector 16">
            <a:extLst>
              <a:ext uri="{FF2B5EF4-FFF2-40B4-BE49-F238E27FC236}">
                <a16:creationId xmlns:a16="http://schemas.microsoft.com/office/drawing/2014/main" id="{18D13A0F-6030-4B87-A0E0-D2AE903506D2}"/>
              </a:ext>
            </a:extLst>
          </p:cNvPr>
          <p:cNvCxnSpPr/>
          <p:nvPr/>
        </p:nvCxnSpPr>
        <p:spPr>
          <a:xfrm flipH="1">
            <a:off x="7785381" y="4189254"/>
            <a:ext cx="716707" cy="0"/>
          </a:xfrm>
          <a:prstGeom prst="straightConnector1">
            <a:avLst/>
          </a:prstGeom>
          <a:noFill/>
          <a:ln w="5715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18" name="TextBox 17">
            <a:extLst>
              <a:ext uri="{FF2B5EF4-FFF2-40B4-BE49-F238E27FC236}">
                <a16:creationId xmlns:a16="http://schemas.microsoft.com/office/drawing/2014/main" id="{074AF471-4E1D-49EE-AE33-F6DB2B236E76}"/>
              </a:ext>
            </a:extLst>
          </p:cNvPr>
          <p:cNvSpPr txBox="1"/>
          <p:nvPr/>
        </p:nvSpPr>
        <p:spPr>
          <a:xfrm>
            <a:off x="8604475" y="4834580"/>
            <a:ext cx="3176393" cy="30777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Fixed size resource </a:t>
            </a:r>
          </a:p>
        </p:txBody>
      </p:sp>
      <p:cxnSp>
        <p:nvCxnSpPr>
          <p:cNvPr id="19" name="Straight Arrow Connector 18">
            <a:extLst>
              <a:ext uri="{FF2B5EF4-FFF2-40B4-BE49-F238E27FC236}">
                <a16:creationId xmlns:a16="http://schemas.microsoft.com/office/drawing/2014/main" id="{220C18C2-41E6-4E80-8D19-0ED6E5C091A2}"/>
              </a:ext>
            </a:extLst>
          </p:cNvPr>
          <p:cNvCxnSpPr/>
          <p:nvPr/>
        </p:nvCxnSpPr>
        <p:spPr>
          <a:xfrm flipH="1">
            <a:off x="7785381" y="4995759"/>
            <a:ext cx="716707" cy="0"/>
          </a:xfrm>
          <a:prstGeom prst="straightConnector1">
            <a:avLst/>
          </a:prstGeom>
          <a:noFill/>
          <a:ln w="5715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20" name="TextBox 19">
            <a:extLst>
              <a:ext uri="{FF2B5EF4-FFF2-40B4-BE49-F238E27FC236}">
                <a16:creationId xmlns:a16="http://schemas.microsoft.com/office/drawing/2014/main" id="{C769F6E7-0EF8-4ACE-A475-692BA3D84580}"/>
              </a:ext>
            </a:extLst>
          </p:cNvPr>
          <p:cNvSpPr txBox="1"/>
          <p:nvPr/>
        </p:nvSpPr>
        <p:spPr>
          <a:xfrm>
            <a:off x="8604475" y="5295439"/>
            <a:ext cx="3176393" cy="30777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Point to new fixed sized resource</a:t>
            </a:r>
          </a:p>
        </p:txBody>
      </p:sp>
      <p:cxnSp>
        <p:nvCxnSpPr>
          <p:cNvPr id="21" name="Straight Arrow Connector 20">
            <a:extLst>
              <a:ext uri="{FF2B5EF4-FFF2-40B4-BE49-F238E27FC236}">
                <a16:creationId xmlns:a16="http://schemas.microsoft.com/office/drawing/2014/main" id="{632BD98A-2975-440F-9189-AE6B79A4E30E}"/>
              </a:ext>
            </a:extLst>
          </p:cNvPr>
          <p:cNvCxnSpPr/>
          <p:nvPr/>
        </p:nvCxnSpPr>
        <p:spPr>
          <a:xfrm flipH="1">
            <a:off x="7785381" y="5456619"/>
            <a:ext cx="716707" cy="0"/>
          </a:xfrm>
          <a:prstGeom prst="straightConnector1">
            <a:avLst/>
          </a:prstGeom>
          <a:noFill/>
          <a:ln w="5715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
        <p:nvSpPr>
          <p:cNvPr id="22" name="TextBox 21">
            <a:extLst>
              <a:ext uri="{FF2B5EF4-FFF2-40B4-BE49-F238E27FC236}">
                <a16:creationId xmlns:a16="http://schemas.microsoft.com/office/drawing/2014/main" id="{D9027D12-8AE6-455B-BFDF-3021DA06C468}"/>
              </a:ext>
            </a:extLst>
          </p:cNvPr>
          <p:cNvSpPr txBox="1"/>
          <p:nvPr/>
        </p:nvSpPr>
        <p:spPr>
          <a:xfrm>
            <a:off x="8604475" y="5886502"/>
            <a:ext cx="3176393" cy="307777"/>
          </a:xfrm>
          <a:prstGeom prst="rect">
            <a:avLst/>
          </a:prstGeom>
          <a:solidFill>
            <a:srgbClr val="FFFF99"/>
          </a:solidFill>
          <a:ln w="28575">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Keep pointer in code</a:t>
            </a:r>
          </a:p>
        </p:txBody>
      </p:sp>
      <p:cxnSp>
        <p:nvCxnSpPr>
          <p:cNvPr id="23" name="Straight Arrow Connector 22">
            <a:extLst>
              <a:ext uri="{FF2B5EF4-FFF2-40B4-BE49-F238E27FC236}">
                <a16:creationId xmlns:a16="http://schemas.microsoft.com/office/drawing/2014/main" id="{7928B1AB-9EE4-42B8-807D-26CFBF30170D}"/>
              </a:ext>
            </a:extLst>
          </p:cNvPr>
          <p:cNvCxnSpPr/>
          <p:nvPr/>
        </p:nvCxnSpPr>
        <p:spPr>
          <a:xfrm flipH="1">
            <a:off x="7785381" y="6047681"/>
            <a:ext cx="716707" cy="0"/>
          </a:xfrm>
          <a:prstGeom prst="straightConnector1">
            <a:avLst/>
          </a:prstGeom>
          <a:noFill/>
          <a:ln w="57150" cap="flat" cmpd="sng" algn="ctr">
            <a:solidFill>
              <a:srgbClr val="000000"/>
            </a:solidFill>
            <a:prstDash val="solid"/>
            <a:headEnd type="none" w="med" len="med"/>
            <a:tailEnd type="triangle" w="med" len="med"/>
          </a:ln>
          <a:effectLst>
            <a:outerShdw blurRad="40000" dist="23000" dir="5400000" rotWithShape="0">
              <a:srgbClr val="000000">
                <a:alpha val="35000"/>
              </a:srgbClr>
            </a:outerShdw>
          </a:effectLst>
        </p:spPr>
      </p:cxnSp>
    </p:spTree>
    <p:extLst>
      <p:ext uri="{BB962C8B-B14F-4D97-AF65-F5344CB8AC3E}">
        <p14:creationId xmlns:p14="http://schemas.microsoft.com/office/powerpoint/2010/main" val="39714660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Converting Malloc Pointers</a:t>
            </a:r>
          </a:p>
        </p:txBody>
      </p:sp>
      <p:sp>
        <p:nvSpPr>
          <p:cNvPr id="3" name="Content Placeholder 2"/>
          <p:cNvSpPr>
            <a:spLocks noGrp="1"/>
          </p:cNvSpPr>
          <p:nvPr>
            <p:ph idx="1"/>
          </p:nvPr>
        </p:nvSpPr>
        <p:spPr>
          <a:xfrm>
            <a:off x="491464" y="1155089"/>
            <a:ext cx="6100110" cy="4759404"/>
          </a:xfrm>
        </p:spPr>
        <p:txBody>
          <a:bodyPr/>
          <a:lstStyle/>
          <a:p>
            <a:r>
              <a:rPr lang="en-US" sz="1800" dirty="0"/>
              <a:t>Many design use Malloc and Pointer</a:t>
            </a:r>
          </a:p>
          <a:p>
            <a:pPr lvl="1"/>
            <a:r>
              <a:rPr lang="en-US" sz="1600" dirty="0"/>
              <a:t>Malloc is not supported for synthesis</a:t>
            </a:r>
          </a:p>
          <a:p>
            <a:pPr lvl="1"/>
            <a:r>
              <a:rPr lang="en-US" sz="1600" dirty="0"/>
              <a:t>Must be converted to a resource of a defined size </a:t>
            </a:r>
            <a:r>
              <a:rPr lang="en-US" sz="1600" dirty="0">
                <a:sym typeface="Wingdings" pitchFamily="2" charset="2"/>
              </a:rPr>
              <a:t> array</a:t>
            </a:r>
          </a:p>
          <a:p>
            <a:pPr lvl="1"/>
            <a:r>
              <a:rPr lang="en-US" sz="1600" dirty="0">
                <a:sym typeface="Wingdings" pitchFamily="2" charset="2"/>
              </a:rPr>
              <a:t>This can mean changing lots of code: *</a:t>
            </a:r>
            <a:r>
              <a:rPr lang="en-US" sz="1600" dirty="0" err="1">
                <a:sym typeface="Wingdings" pitchFamily="2" charset="2"/>
              </a:rPr>
              <a:t>var</a:t>
            </a:r>
            <a:r>
              <a:rPr lang="en-US" sz="1600" dirty="0">
                <a:sym typeface="Wingdings" pitchFamily="2" charset="2"/>
              </a:rPr>
              <a:t>  </a:t>
            </a:r>
            <a:r>
              <a:rPr lang="en-US" sz="1600" dirty="0" err="1">
                <a:sym typeface="Wingdings" pitchFamily="2" charset="2"/>
              </a:rPr>
              <a:t>var</a:t>
            </a:r>
            <a:r>
              <a:rPr lang="en-US" sz="1600" dirty="0">
                <a:sym typeface="Wingdings" pitchFamily="2" charset="2"/>
              </a:rPr>
              <a:t>[ ]</a:t>
            </a:r>
          </a:p>
          <a:p>
            <a:r>
              <a:rPr lang="en-US" sz="1800" dirty="0">
                <a:sym typeface="Wingdings" pitchFamily="2" charset="2"/>
              </a:rPr>
              <a:t>The following workaround can ensure limited code impact</a:t>
            </a:r>
          </a:p>
          <a:p>
            <a:pPr lvl="1"/>
            <a:r>
              <a:rPr lang="en-US" sz="1600" strike="sngStrike" dirty="0">
                <a:sym typeface="Wingdings" pitchFamily="2" charset="2"/>
              </a:rPr>
              <a:t>Create a dummy variable</a:t>
            </a:r>
          </a:p>
          <a:p>
            <a:pPr lvl="1"/>
            <a:r>
              <a:rPr lang="en-US" sz="1600" strike="sngStrike" dirty="0">
                <a:sym typeface="Wingdings" pitchFamily="2" charset="2"/>
              </a:rPr>
              <a:t>Set the pointer to the dummy variable</a:t>
            </a:r>
          </a:p>
          <a:p>
            <a:pPr lvl="1"/>
            <a:r>
              <a:rPr lang="en-US" sz="1600" dirty="0">
                <a:highlight>
                  <a:srgbClr val="FFFF00"/>
                </a:highlight>
                <a:sym typeface="Wingdings" pitchFamily="2" charset="2"/>
              </a:rPr>
              <a:t>Add user-defined macro NO_SYNTH to select synthesizable and no-synthesizable version</a:t>
            </a:r>
          </a:p>
          <a:p>
            <a:pPr lvl="1"/>
            <a:r>
              <a:rPr lang="en-US" sz="1600" dirty="0">
                <a:highlight>
                  <a:srgbClr val="FFFF00"/>
                </a:highlight>
                <a:sym typeface="Wingdings" pitchFamily="2" charset="2"/>
              </a:rPr>
              <a:t>Enable and disable macro NO_SYNTH for C simulation and verify the results</a:t>
            </a:r>
          </a:p>
          <a:p>
            <a:pPr lvl="1"/>
            <a:r>
              <a:rPr lang="en-US" sz="1600" dirty="0">
                <a:highlight>
                  <a:srgbClr val="FFFF00"/>
                </a:highlight>
                <a:sym typeface="Wingdings" pitchFamily="2" charset="2"/>
              </a:rPr>
              <a:t>Disable macro NO_SYNTH for synthesis</a:t>
            </a:r>
            <a:endParaRPr lang="en-US" sz="1600" dirty="0">
              <a:highlight>
                <a:srgbClr val="FFFF00"/>
              </a:highlight>
            </a:endParaRPr>
          </a:p>
        </p:txBody>
      </p:sp>
      <p:sp>
        <p:nvSpPr>
          <p:cNvPr id="16" name="Slide Number Placeholder 1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42</a:t>
            </a:fld>
            <a:endParaRPr lang="en-US" dirty="0">
              <a:solidFill>
                <a:srgbClr val="0C0C0C">
                  <a:tint val="75000"/>
                </a:srgbClr>
              </a:solidFill>
              <a:latin typeface="Arial"/>
            </a:endParaRPr>
          </a:p>
        </p:txBody>
      </p:sp>
      <p:sp>
        <p:nvSpPr>
          <p:cNvPr id="14" name="TextBox 13">
            <a:extLst>
              <a:ext uri="{FF2B5EF4-FFF2-40B4-BE49-F238E27FC236}">
                <a16:creationId xmlns:a16="http://schemas.microsoft.com/office/drawing/2014/main" id="{0B83B30A-39A6-4103-BF2D-732AAC5858D6}"/>
              </a:ext>
            </a:extLst>
          </p:cNvPr>
          <p:cNvSpPr txBox="1"/>
          <p:nvPr/>
        </p:nvSpPr>
        <p:spPr>
          <a:xfrm>
            <a:off x="6977921" y="447041"/>
            <a:ext cx="4590862" cy="5909310"/>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400" kern="0" dirty="0">
                <a:solidFill>
                  <a:srgbClr val="000000"/>
                </a:solidFill>
                <a:highlight>
                  <a:srgbClr val="FFFF00"/>
                </a:highlight>
                <a:latin typeface="Arial"/>
              </a:rPr>
              <a:t>#include "</a:t>
            </a:r>
            <a:r>
              <a:rPr lang="en-US" sz="1400" kern="0" dirty="0" err="1">
                <a:solidFill>
                  <a:srgbClr val="000000"/>
                </a:solidFill>
                <a:highlight>
                  <a:srgbClr val="FFFF00"/>
                </a:highlight>
                <a:latin typeface="Arial"/>
              </a:rPr>
              <a:t>malloc_removed.h</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#include &lt;</a:t>
            </a:r>
            <a:r>
              <a:rPr lang="en-US" sz="1400" kern="0" dirty="0" err="1">
                <a:solidFill>
                  <a:srgbClr val="000000"/>
                </a:solidFill>
                <a:highlight>
                  <a:srgbClr val="FFFF00"/>
                </a:highlight>
                <a:latin typeface="Arial"/>
              </a:rPr>
              <a:t>stdlib.h</a:t>
            </a:r>
            <a:r>
              <a:rPr lang="en-US" sz="1400" kern="0" dirty="0">
                <a:solidFill>
                  <a:srgbClr val="000000"/>
                </a:solidFill>
                <a:highlight>
                  <a:srgbClr val="FFFF00"/>
                </a:highlight>
                <a:latin typeface="Arial"/>
              </a:rPr>
              <a:t>&gt;</a:t>
            </a:r>
          </a:p>
          <a:p>
            <a:pPr defTabSz="914400" fontAlgn="base">
              <a:spcBef>
                <a:spcPct val="0"/>
              </a:spcBef>
              <a:spcAft>
                <a:spcPct val="0"/>
              </a:spcAft>
              <a:defRPr/>
            </a:pPr>
            <a:r>
              <a:rPr lang="en-US" sz="1400" kern="0" dirty="0">
                <a:solidFill>
                  <a:srgbClr val="000000"/>
                </a:solidFill>
                <a:highlight>
                  <a:srgbClr val="FFFF00"/>
                </a:highlight>
                <a:latin typeface="Arial"/>
              </a:rPr>
              <a:t>//#define NO_SYNTH</a:t>
            </a:r>
          </a:p>
          <a:p>
            <a:pPr defTabSz="914400" fontAlgn="base">
              <a:spcBef>
                <a:spcPct val="0"/>
              </a:spcBef>
              <a:spcAft>
                <a:spcPct val="0"/>
              </a:spcAft>
              <a:defRPr/>
            </a:pPr>
            <a:r>
              <a:rPr lang="en-US" sz="1400" kern="0" dirty="0" err="1">
                <a:solidFill>
                  <a:srgbClr val="000000"/>
                </a:solidFill>
                <a:highlight>
                  <a:srgbClr val="FFFF00"/>
                </a:highlight>
                <a:latin typeface="Arial"/>
              </a:rPr>
              <a:t>dout_t</a:t>
            </a: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malloc_removed</a:t>
            </a:r>
            <a:r>
              <a:rPr lang="en-US" sz="1400" kern="0" dirty="0">
                <a:solidFill>
                  <a:srgbClr val="000000"/>
                </a:solidFill>
                <a:highlight>
                  <a:srgbClr val="FFFF00"/>
                </a:highlight>
                <a:latin typeface="Arial"/>
              </a:rPr>
              <a:t>(</a:t>
            </a:r>
            <a:r>
              <a:rPr lang="en-US" sz="1400" kern="0" dirty="0" err="1">
                <a:solidFill>
                  <a:srgbClr val="000000"/>
                </a:solidFill>
                <a:highlight>
                  <a:srgbClr val="FFFF00"/>
                </a:highlight>
                <a:latin typeface="Arial"/>
              </a:rPr>
              <a:t>din_t</a:t>
            </a:r>
            <a:r>
              <a:rPr lang="en-US" sz="1400" kern="0" dirty="0">
                <a:solidFill>
                  <a:srgbClr val="000000"/>
                </a:solidFill>
                <a:highlight>
                  <a:srgbClr val="FFFF00"/>
                </a:highlight>
                <a:latin typeface="Arial"/>
              </a:rPr>
              <a:t> din[N], </a:t>
            </a:r>
            <a:r>
              <a:rPr lang="en-US" sz="1400" kern="0" dirty="0" err="1">
                <a:solidFill>
                  <a:srgbClr val="000000"/>
                </a:solidFill>
                <a:highlight>
                  <a:srgbClr val="FFFF00"/>
                </a:highlight>
                <a:latin typeface="Arial"/>
              </a:rPr>
              <a:t>dsel_t</a:t>
            </a:r>
            <a:r>
              <a:rPr lang="en-US" sz="1400" kern="0" dirty="0">
                <a:solidFill>
                  <a:srgbClr val="000000"/>
                </a:solidFill>
                <a:highlight>
                  <a:srgbClr val="FFFF00"/>
                </a:highlight>
                <a:latin typeface="Arial"/>
              </a:rPr>
              <a:t> width) {  </a:t>
            </a:r>
          </a:p>
          <a:p>
            <a:pPr defTabSz="914400" fontAlgn="base">
              <a:spcBef>
                <a:spcPct val="0"/>
              </a:spcBef>
              <a:spcAft>
                <a:spcPct val="0"/>
              </a:spcAft>
              <a:defRPr/>
            </a:pPr>
            <a:r>
              <a:rPr lang="en-US" sz="1400" kern="0" dirty="0">
                <a:solidFill>
                  <a:srgbClr val="000000"/>
                </a:solidFill>
                <a:highlight>
                  <a:srgbClr val="FFFF00"/>
                </a:highlight>
                <a:latin typeface="Arial"/>
              </a:rPr>
              <a:t>#ifdef NO_SYNTH</a:t>
            </a:r>
          </a:p>
          <a:p>
            <a:pPr defTabSz="914400" fontAlgn="base">
              <a:spcBef>
                <a:spcPct val="0"/>
              </a:spcBef>
              <a:spcAft>
                <a:spcPct val="0"/>
              </a:spcAft>
              <a:defRPr/>
            </a:pPr>
            <a:r>
              <a:rPr lang="en-US" sz="1400" kern="0" dirty="0">
                <a:solidFill>
                  <a:srgbClr val="000000"/>
                </a:solidFill>
                <a:highlight>
                  <a:srgbClr val="FFFF00"/>
                </a:highlight>
                <a:latin typeface="Arial"/>
              </a:rPr>
              <a:t> long </a:t>
            </a:r>
            <a:r>
              <a:rPr lang="en-US" sz="1400" kern="0" dirty="0" err="1">
                <a:solidFill>
                  <a:srgbClr val="000000"/>
                </a:solidFill>
                <a:highlight>
                  <a:srgbClr val="FFFF00"/>
                </a:highlight>
                <a:latin typeface="Arial"/>
              </a:rPr>
              <a:t>long</a:t>
            </a: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 = malloc (</a:t>
            </a:r>
            <a:r>
              <a:rPr lang="en-US" sz="1400" kern="0" dirty="0" err="1">
                <a:solidFill>
                  <a:srgbClr val="000000"/>
                </a:solidFill>
                <a:highlight>
                  <a:srgbClr val="FFFF00"/>
                </a:highlight>
                <a:latin typeface="Arial"/>
              </a:rPr>
              <a:t>sizeof</a:t>
            </a:r>
            <a:r>
              <a:rPr lang="en-US" sz="1400" kern="0" dirty="0">
                <a:solidFill>
                  <a:srgbClr val="000000"/>
                </a:solidFill>
                <a:highlight>
                  <a:srgbClr val="FFFF00"/>
                </a:highlight>
                <a:latin typeface="Arial"/>
              </a:rPr>
              <a:t>(long long));</a:t>
            </a:r>
          </a:p>
          <a:p>
            <a:pPr defTabSz="914400" fontAlgn="base">
              <a:spcBef>
                <a:spcPct val="0"/>
              </a:spcBef>
              <a:spcAft>
                <a:spcPct val="0"/>
              </a:spcAft>
              <a:defRPr/>
            </a:pPr>
            <a:r>
              <a:rPr lang="en-US" sz="1400" kern="0" dirty="0">
                <a:solidFill>
                  <a:srgbClr val="000000"/>
                </a:solidFill>
                <a:highlight>
                  <a:srgbClr val="FFFF00"/>
                </a:highlight>
                <a:latin typeface="Arial"/>
              </a:rPr>
              <a:t> int* </a:t>
            </a:r>
            <a:r>
              <a:rPr lang="en-US" sz="1400" kern="0" dirty="0" err="1">
                <a:solidFill>
                  <a:srgbClr val="000000"/>
                </a:solidFill>
                <a:highlight>
                  <a:srgbClr val="FFFF00"/>
                </a:highlight>
                <a:latin typeface="Arial"/>
              </a:rPr>
              <a:t>array_local</a:t>
            </a:r>
            <a:r>
              <a:rPr lang="en-US" sz="1400" kern="0" dirty="0">
                <a:solidFill>
                  <a:srgbClr val="000000"/>
                </a:solidFill>
                <a:highlight>
                  <a:srgbClr val="FFFF00"/>
                </a:highlight>
                <a:latin typeface="Arial"/>
              </a:rPr>
              <a:t> = malloc (64 * </a:t>
            </a:r>
            <a:r>
              <a:rPr lang="en-US" sz="1400" kern="0" dirty="0" err="1">
                <a:solidFill>
                  <a:srgbClr val="000000"/>
                </a:solidFill>
                <a:highlight>
                  <a:srgbClr val="FFFF00"/>
                </a:highlight>
                <a:latin typeface="Arial"/>
              </a:rPr>
              <a:t>sizeof</a:t>
            </a:r>
            <a:r>
              <a:rPr lang="en-US" sz="1400" kern="0" dirty="0">
                <a:solidFill>
                  <a:srgbClr val="000000"/>
                </a:solidFill>
                <a:highlight>
                  <a:srgbClr val="FFFF00"/>
                </a:highlight>
                <a:latin typeface="Arial"/>
              </a:rPr>
              <a:t>(int));</a:t>
            </a:r>
          </a:p>
          <a:p>
            <a:pPr defTabSz="914400" fontAlgn="base">
              <a:spcBef>
                <a:spcPct val="0"/>
              </a:spcBef>
              <a:spcAft>
                <a:spcPct val="0"/>
              </a:spcAft>
              <a:defRPr/>
            </a:pPr>
            <a:r>
              <a:rPr lang="en-US" sz="1400" kern="0" dirty="0">
                <a:solidFill>
                  <a:srgbClr val="000000"/>
                </a:solidFill>
                <a:highlight>
                  <a:srgbClr val="FFFF00"/>
                </a:highlight>
                <a:latin typeface="Arial"/>
              </a:rPr>
              <a:t>#else</a:t>
            </a:r>
          </a:p>
          <a:p>
            <a:pPr defTabSz="914400" fontAlgn="base">
              <a:spcBef>
                <a:spcPct val="0"/>
              </a:spcBef>
              <a:spcAft>
                <a:spcPct val="0"/>
              </a:spcAft>
              <a:defRPr/>
            </a:pPr>
            <a:r>
              <a:rPr lang="en-US" sz="1400" kern="0" dirty="0">
                <a:solidFill>
                  <a:srgbClr val="000000"/>
                </a:solidFill>
                <a:highlight>
                  <a:srgbClr val="FFFF00"/>
                </a:highlight>
                <a:latin typeface="Arial"/>
              </a:rPr>
              <a:t> long </a:t>
            </a:r>
            <a:r>
              <a:rPr lang="en-US" sz="1400" kern="0" dirty="0" err="1">
                <a:solidFill>
                  <a:srgbClr val="000000"/>
                </a:solidFill>
                <a:highlight>
                  <a:srgbClr val="FFFF00"/>
                </a:highlight>
                <a:latin typeface="Arial"/>
              </a:rPr>
              <a:t>long</a:t>
            </a:r>
            <a:r>
              <a:rPr lang="en-US" sz="1400" kern="0" dirty="0">
                <a:solidFill>
                  <a:srgbClr val="000000"/>
                </a:solidFill>
                <a:highlight>
                  <a:srgbClr val="FFFF00"/>
                </a:highlight>
                <a:latin typeface="Arial"/>
              </a:rPr>
              <a:t> _</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 long </a:t>
            </a:r>
            <a:r>
              <a:rPr lang="en-US" sz="1400" kern="0" dirty="0" err="1">
                <a:solidFill>
                  <a:srgbClr val="000000"/>
                </a:solidFill>
                <a:highlight>
                  <a:srgbClr val="FFFF00"/>
                </a:highlight>
                <a:latin typeface="Arial"/>
              </a:rPr>
              <a:t>long</a:t>
            </a: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 = &amp;_</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 int _</a:t>
            </a:r>
            <a:r>
              <a:rPr lang="en-US" sz="1400" kern="0" dirty="0" err="1">
                <a:solidFill>
                  <a:srgbClr val="000000"/>
                </a:solidFill>
                <a:highlight>
                  <a:srgbClr val="FFFF00"/>
                </a:highlight>
                <a:latin typeface="Arial"/>
              </a:rPr>
              <a:t>array_local</a:t>
            </a:r>
            <a:r>
              <a:rPr lang="en-US" sz="1400" kern="0" dirty="0">
                <a:solidFill>
                  <a:srgbClr val="000000"/>
                </a:solidFill>
                <a:highlight>
                  <a:srgbClr val="FFFF00"/>
                </a:highlight>
                <a:latin typeface="Arial"/>
              </a:rPr>
              <a:t>[64];</a:t>
            </a:r>
          </a:p>
          <a:p>
            <a:pPr defTabSz="914400" fontAlgn="base">
              <a:spcBef>
                <a:spcPct val="0"/>
              </a:spcBef>
              <a:spcAft>
                <a:spcPct val="0"/>
              </a:spcAft>
              <a:defRPr/>
            </a:pPr>
            <a:r>
              <a:rPr lang="en-US" sz="1400" kern="0" dirty="0">
                <a:solidFill>
                  <a:srgbClr val="000000"/>
                </a:solidFill>
                <a:highlight>
                  <a:srgbClr val="FFFF00"/>
                </a:highlight>
                <a:latin typeface="Arial"/>
              </a:rPr>
              <a:t> int* </a:t>
            </a:r>
            <a:r>
              <a:rPr lang="en-US" sz="1400" kern="0" dirty="0" err="1">
                <a:solidFill>
                  <a:srgbClr val="000000"/>
                </a:solidFill>
                <a:highlight>
                  <a:srgbClr val="FFFF00"/>
                </a:highlight>
                <a:latin typeface="Arial"/>
              </a:rPr>
              <a:t>array_local</a:t>
            </a:r>
            <a:r>
              <a:rPr lang="en-US" sz="1400" kern="0" dirty="0">
                <a:solidFill>
                  <a:srgbClr val="000000"/>
                </a:solidFill>
                <a:highlight>
                  <a:srgbClr val="FFFF00"/>
                </a:highlight>
                <a:latin typeface="Arial"/>
              </a:rPr>
              <a:t> = &amp;_</a:t>
            </a:r>
            <a:r>
              <a:rPr lang="en-US" sz="1400" kern="0" dirty="0" err="1">
                <a:solidFill>
                  <a:srgbClr val="000000"/>
                </a:solidFill>
                <a:highlight>
                  <a:srgbClr val="FFFF00"/>
                </a:highlight>
                <a:latin typeface="Arial"/>
              </a:rPr>
              <a:t>array_local</a:t>
            </a:r>
            <a:r>
              <a:rPr lang="en-US" sz="1400" kern="0" dirty="0">
                <a:solidFill>
                  <a:srgbClr val="000000"/>
                </a:solidFill>
                <a:highlight>
                  <a:srgbClr val="FFFF00"/>
                </a:highlight>
                <a:latin typeface="Arial"/>
              </a:rPr>
              <a:t>[0];</a:t>
            </a:r>
          </a:p>
          <a:p>
            <a:pPr defTabSz="914400" fontAlgn="base">
              <a:spcBef>
                <a:spcPct val="0"/>
              </a:spcBef>
              <a:spcAft>
                <a:spcPct val="0"/>
              </a:spcAft>
              <a:defRPr/>
            </a:pPr>
            <a:r>
              <a:rPr lang="en-US" sz="1400" kern="0" dirty="0">
                <a:solidFill>
                  <a:srgbClr val="000000"/>
                </a:solidFill>
                <a:highlight>
                  <a:srgbClr val="FFFF00"/>
                </a:highlight>
                <a:latin typeface="Arial"/>
              </a:rPr>
              <a:t>#endif</a:t>
            </a:r>
          </a:p>
          <a:p>
            <a:pPr defTabSz="914400" fontAlgn="base">
              <a:spcBef>
                <a:spcPct val="0"/>
              </a:spcBef>
              <a:spcAft>
                <a:spcPct val="0"/>
              </a:spcAft>
              <a:defRPr/>
            </a:pPr>
            <a:r>
              <a:rPr lang="en-US" sz="1400" kern="0" dirty="0">
                <a:solidFill>
                  <a:srgbClr val="000000"/>
                </a:solidFill>
                <a:highlight>
                  <a:srgbClr val="FFFF00"/>
                </a:highlight>
                <a:latin typeface="Arial"/>
              </a:rPr>
              <a:t> int </a:t>
            </a:r>
            <a:r>
              <a:rPr lang="en-US" sz="1400" kern="0" dirty="0" err="1">
                <a:solidFill>
                  <a:srgbClr val="000000"/>
                </a:solidFill>
                <a:highlight>
                  <a:srgbClr val="FFFF00"/>
                </a:highlight>
                <a:latin typeface="Arial"/>
              </a:rPr>
              <a:t>i,j</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LOOP_SHIFT:for</a:t>
            </a: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i</a:t>
            </a:r>
            <a:r>
              <a:rPr lang="en-US" sz="1400" kern="0" dirty="0">
                <a:solidFill>
                  <a:srgbClr val="000000"/>
                </a:solidFill>
                <a:highlight>
                  <a:srgbClr val="FFFF00"/>
                </a:highlight>
                <a:latin typeface="Arial"/>
              </a:rPr>
              <a:t>=0;i&lt;N-1; </a:t>
            </a:r>
            <a:r>
              <a:rPr lang="en-US" sz="1400" kern="0" dirty="0" err="1">
                <a:solidFill>
                  <a:srgbClr val="000000"/>
                </a:solidFill>
                <a:highlight>
                  <a:srgbClr val="FFFF00"/>
                </a:highlight>
                <a:latin typeface="Arial"/>
              </a:rPr>
              <a:t>i</a:t>
            </a:r>
            <a:r>
              <a:rPr lang="en-US" sz="1400" kern="0" dirty="0">
                <a:solidFill>
                  <a:srgbClr val="000000"/>
                </a:solidFill>
                <a:highlight>
                  <a:srgbClr val="FFFF00"/>
                </a:highlight>
                <a:latin typeface="Arial"/>
              </a:rPr>
              <a:t>++) {</a:t>
            </a:r>
          </a:p>
          <a:p>
            <a:pPr defTabSz="914400" fontAlgn="base">
              <a:spcBef>
                <a:spcPct val="0"/>
              </a:spcBef>
              <a:spcAft>
                <a:spcPct val="0"/>
              </a:spcAft>
              <a:defRPr/>
            </a:pPr>
            <a:r>
              <a:rPr lang="en-US" sz="1400" kern="0" dirty="0">
                <a:solidFill>
                  <a:srgbClr val="000000"/>
                </a:solidFill>
                <a:highlight>
                  <a:srgbClr val="FFFF00"/>
                </a:highlight>
                <a:latin typeface="Arial"/>
              </a:rPr>
              <a:t> if (</a:t>
            </a:r>
            <a:r>
              <a:rPr lang="en-US" sz="1400" kern="0" dirty="0" err="1">
                <a:solidFill>
                  <a:srgbClr val="000000"/>
                </a:solidFill>
                <a:highlight>
                  <a:srgbClr val="FFFF00"/>
                </a:highlight>
                <a:latin typeface="Arial"/>
              </a:rPr>
              <a:t>i</a:t>
            </a:r>
            <a:r>
              <a:rPr lang="en-US" sz="1400" kern="0" dirty="0">
                <a:solidFill>
                  <a:srgbClr val="000000"/>
                </a:solidFill>
                <a:highlight>
                  <a:srgbClr val="FFFF00"/>
                </a:highlight>
                <a:latin typeface="Arial"/>
              </a:rPr>
              <a:t>&lt;width) </a:t>
            </a:r>
          </a:p>
          <a:p>
            <a:pPr defTabSz="914400" fontAlgn="base">
              <a:spcBef>
                <a:spcPct val="0"/>
              </a:spcBef>
              <a:spcAft>
                <a:spcPct val="0"/>
              </a:spcAft>
              <a:defRPr/>
            </a:pP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array_local+i</a:t>
            </a:r>
            <a:r>
              <a:rPr lang="en-US" sz="1400" kern="0" dirty="0">
                <a:solidFill>
                  <a:srgbClr val="000000"/>
                </a:solidFill>
                <a:highlight>
                  <a:srgbClr val="FFFF00"/>
                </a:highlight>
                <a:latin typeface="Arial"/>
              </a:rPr>
              <a:t>)=din[</a:t>
            </a:r>
            <a:r>
              <a:rPr lang="en-US" sz="1400" kern="0" dirty="0" err="1">
                <a:solidFill>
                  <a:srgbClr val="000000"/>
                </a:solidFill>
                <a:highlight>
                  <a:srgbClr val="FFFF00"/>
                </a:highlight>
                <a:latin typeface="Arial"/>
              </a:rPr>
              <a:t>i</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 else </a:t>
            </a:r>
          </a:p>
          <a:p>
            <a:pPr defTabSz="914400" fontAlgn="base">
              <a:spcBef>
                <a:spcPct val="0"/>
              </a:spcBef>
              <a:spcAft>
                <a:spcPct val="0"/>
              </a:spcAft>
              <a:defRPr/>
            </a:pP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array_local+i</a:t>
            </a:r>
            <a:r>
              <a:rPr lang="en-US" sz="1400" kern="0" dirty="0">
                <a:solidFill>
                  <a:srgbClr val="000000"/>
                </a:solidFill>
                <a:highlight>
                  <a:srgbClr val="FFFF00"/>
                </a:highlight>
                <a:latin typeface="Arial"/>
              </a:rPr>
              <a:t>)=din[</a:t>
            </a:r>
            <a:r>
              <a:rPr lang="en-US" sz="1400" kern="0" dirty="0" err="1">
                <a:solidFill>
                  <a:srgbClr val="000000"/>
                </a:solidFill>
                <a:highlight>
                  <a:srgbClr val="FFFF00"/>
                </a:highlight>
                <a:latin typeface="Arial"/>
              </a:rPr>
              <a:t>i</a:t>
            </a:r>
            <a:r>
              <a:rPr lang="en-US" sz="1400" kern="0" dirty="0">
                <a:solidFill>
                  <a:srgbClr val="000000"/>
                </a:solidFill>
                <a:highlight>
                  <a:srgbClr val="FFFF00"/>
                </a:highlight>
                <a:latin typeface="Arial"/>
              </a:rPr>
              <a:t>]&gt;&gt;2;</a:t>
            </a:r>
          </a:p>
          <a:p>
            <a:pPr defTabSz="914400" fontAlgn="base">
              <a:spcBef>
                <a:spcPct val="0"/>
              </a:spcBef>
              <a:spcAft>
                <a:spcPct val="0"/>
              </a:spcAft>
              <a:defRPr/>
            </a:pPr>
            <a:r>
              <a:rPr lang="en-US" sz="1400" kern="0" dirty="0">
                <a:solidFill>
                  <a:srgbClr val="000000"/>
                </a:solidFill>
                <a:highlight>
                  <a:srgbClr val="FFFF00"/>
                </a:highlight>
                <a:latin typeface="Arial"/>
              </a:rPr>
              <a:t> }</a:t>
            </a:r>
          </a:p>
          <a:p>
            <a:pPr defTabSz="914400" fontAlgn="base">
              <a:spcBef>
                <a:spcPct val="0"/>
              </a:spcBef>
              <a:spcAft>
                <a:spcPct val="0"/>
              </a:spcAft>
              <a:defRPr/>
            </a:pP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=0;</a:t>
            </a:r>
          </a:p>
          <a:p>
            <a:pPr defTabSz="914400" fontAlgn="base">
              <a:spcBef>
                <a:spcPct val="0"/>
              </a:spcBef>
              <a:spcAft>
                <a:spcPct val="0"/>
              </a:spcAft>
              <a:defRPr/>
            </a:pP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LOOP_ACCUM:for</a:t>
            </a:r>
            <a:r>
              <a:rPr lang="en-US" sz="1400" kern="0" dirty="0">
                <a:solidFill>
                  <a:srgbClr val="000000"/>
                </a:solidFill>
                <a:highlight>
                  <a:srgbClr val="FFFF00"/>
                </a:highlight>
                <a:latin typeface="Arial"/>
              </a:rPr>
              <a:t> (j=0;j&lt;N-1; </a:t>
            </a:r>
            <a:r>
              <a:rPr lang="en-US" sz="1400" kern="0" dirty="0" err="1">
                <a:solidFill>
                  <a:srgbClr val="000000"/>
                </a:solidFill>
                <a:highlight>
                  <a:srgbClr val="FFFF00"/>
                </a:highlight>
                <a:latin typeface="Arial"/>
              </a:rPr>
              <a:t>j++</a:t>
            </a:r>
            <a:r>
              <a:rPr lang="en-US" sz="1400" kern="0" dirty="0">
                <a:solidFill>
                  <a:srgbClr val="000000"/>
                </a:solidFill>
                <a:highlight>
                  <a:srgbClr val="FFFF00"/>
                </a:highlight>
                <a:latin typeface="Arial"/>
              </a:rPr>
              <a:t>) {</a:t>
            </a:r>
          </a:p>
          <a:p>
            <a:pPr defTabSz="914400" fontAlgn="base">
              <a:spcBef>
                <a:spcPct val="0"/>
              </a:spcBef>
              <a:spcAft>
                <a:spcPct val="0"/>
              </a:spcAft>
              <a:defRPr/>
            </a:pPr>
            <a:r>
              <a:rPr lang="en-US" sz="1400" kern="0" dirty="0">
                <a:solidFill>
                  <a:srgbClr val="000000"/>
                </a:solidFill>
                <a:highlight>
                  <a:srgbClr val="FFFF00"/>
                </a:highlight>
                <a:latin typeface="Arial"/>
              </a:rPr>
              <a:t> *</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 += *(</a:t>
            </a:r>
            <a:r>
              <a:rPr lang="en-US" sz="1400" kern="0" dirty="0" err="1">
                <a:solidFill>
                  <a:srgbClr val="000000"/>
                </a:solidFill>
                <a:highlight>
                  <a:srgbClr val="FFFF00"/>
                </a:highlight>
                <a:latin typeface="Arial"/>
              </a:rPr>
              <a:t>array_local+j</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 }</a:t>
            </a:r>
          </a:p>
          <a:p>
            <a:pPr defTabSz="914400" fontAlgn="base">
              <a:spcBef>
                <a:spcPct val="0"/>
              </a:spcBef>
              <a:spcAft>
                <a:spcPct val="0"/>
              </a:spcAft>
              <a:defRPr/>
            </a:pPr>
            <a:r>
              <a:rPr lang="en-US" sz="1400" kern="0" dirty="0">
                <a:solidFill>
                  <a:srgbClr val="000000"/>
                </a:solidFill>
                <a:highlight>
                  <a:srgbClr val="FFFF00"/>
                </a:highlight>
                <a:latin typeface="Arial"/>
              </a:rPr>
              <a:t> return *</a:t>
            </a:r>
            <a:r>
              <a:rPr lang="en-US" sz="1400" kern="0" dirty="0" err="1">
                <a:solidFill>
                  <a:srgbClr val="000000"/>
                </a:solidFill>
                <a:highlight>
                  <a:srgbClr val="FFFF00"/>
                </a:highlight>
                <a:latin typeface="Arial"/>
              </a:rPr>
              <a:t>out_accum</a:t>
            </a:r>
            <a:r>
              <a:rPr lang="en-US" sz="1400" kern="0" dirty="0">
                <a:solidFill>
                  <a:srgbClr val="000000"/>
                </a:solidFill>
                <a:highlight>
                  <a:srgbClr val="FFFF00"/>
                </a:highlight>
                <a:latin typeface="Arial"/>
              </a:rPr>
              <a:t>;</a:t>
            </a:r>
          </a:p>
          <a:p>
            <a:pPr defTabSz="914400" fontAlgn="base">
              <a:spcBef>
                <a:spcPct val="0"/>
              </a:spcBef>
              <a:spcAft>
                <a:spcPct val="0"/>
              </a:spcAft>
              <a:defRPr/>
            </a:pPr>
            <a:r>
              <a:rPr lang="en-US" sz="1400" kern="0" dirty="0">
                <a:solidFill>
                  <a:srgbClr val="000000"/>
                </a:solidFill>
                <a:highlight>
                  <a:srgbClr val="FFFF00"/>
                </a:highlight>
                <a:latin typeface="Arial"/>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306A6B-B72E-46B6-B69D-A76738C89FE9}"/>
              </a:ext>
            </a:extLst>
          </p:cNvPr>
          <p:cNvSpPr>
            <a:spLocks noGrp="1"/>
          </p:cNvSpPr>
          <p:nvPr>
            <p:ph type="title"/>
          </p:nvPr>
        </p:nvSpPr>
        <p:spPr/>
        <p:txBody>
          <a:bodyPr/>
          <a:lstStyle/>
          <a:p>
            <a:r>
              <a:rPr lang="en-US" altLang="zh-CN" dirty="0"/>
              <a:t>Coding Considerations and IO</a:t>
            </a:r>
            <a:endParaRPr lang="zh-CN" altLang="en-US" dirty="0"/>
          </a:p>
        </p:txBody>
      </p:sp>
    </p:spTree>
    <p:extLst>
      <p:ext uri="{BB962C8B-B14F-4D97-AF65-F5344CB8AC3E}">
        <p14:creationId xmlns:p14="http://schemas.microsoft.com/office/powerpoint/2010/main" val="14962791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Coding and IO</a:t>
            </a:r>
          </a:p>
        </p:txBody>
      </p:sp>
      <p:sp>
        <p:nvSpPr>
          <p:cNvPr id="3" name="Content Placeholder 2"/>
          <p:cNvSpPr>
            <a:spLocks noGrp="1"/>
          </p:cNvSpPr>
          <p:nvPr>
            <p:ph idx="1"/>
          </p:nvPr>
        </p:nvSpPr>
        <p:spPr/>
        <p:txBody>
          <a:bodyPr/>
          <a:lstStyle/>
          <a:p>
            <a:r>
              <a:rPr lang="en-US" dirty="0"/>
              <a:t>There is one major issue with IO and coding</a:t>
            </a:r>
          </a:p>
          <a:p>
            <a:pPr lvl="1"/>
            <a:r>
              <a:rPr lang="en-US" dirty="0"/>
              <a:t>Multi-access pointers</a:t>
            </a:r>
          </a:p>
          <a:p>
            <a:r>
              <a:rPr lang="en-US" dirty="0"/>
              <a:t>A multi-access pointer is a pointer argument which is …</a:t>
            </a:r>
          </a:p>
          <a:p>
            <a:pPr lvl="1"/>
            <a:r>
              <a:rPr lang="en-US" dirty="0"/>
              <a:t>Read or written to multiple times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r>
              <a:rPr lang="en-US" altLang="zh-CN" dirty="0"/>
              <a:t>This </a:t>
            </a:r>
            <a:r>
              <a:rPr lang="en-US" dirty="0"/>
              <a:t>introduce unexpected behavior after synthesis</a:t>
            </a:r>
          </a:p>
        </p:txBody>
      </p:sp>
      <p:sp>
        <p:nvSpPr>
          <p:cNvPr id="15" name="TextBox 14"/>
          <p:cNvSpPr txBox="1"/>
          <p:nvPr/>
        </p:nvSpPr>
        <p:spPr>
          <a:xfrm>
            <a:off x="7587891" y="5357197"/>
            <a:ext cx="3993080"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400" b="1" dirty="0"/>
              <a:t>Yes, you can use this coding style (if you REALLY wish)…. With the following workarounds</a:t>
            </a:r>
          </a:p>
        </p:txBody>
      </p:sp>
      <p:sp>
        <p:nvSpPr>
          <p:cNvPr id="12" name="TextBox 11">
            <a:extLst>
              <a:ext uri="{FF2B5EF4-FFF2-40B4-BE49-F238E27FC236}">
                <a16:creationId xmlns:a16="http://schemas.microsoft.com/office/drawing/2014/main" id="{4446495D-EEDB-4C1B-B4C5-2EA79985EB0C}"/>
              </a:ext>
            </a:extLst>
          </p:cNvPr>
          <p:cNvSpPr txBox="1"/>
          <p:nvPr/>
        </p:nvSpPr>
        <p:spPr>
          <a:xfrm>
            <a:off x="1181443" y="3525424"/>
            <a:ext cx="2662053" cy="18928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lvl="0" fontAlgn="base">
              <a:spcBef>
                <a:spcPct val="0"/>
              </a:spcBef>
              <a:spcAft>
                <a:spcPct val="0"/>
              </a:spcAft>
              <a:defRPr/>
            </a:pPr>
            <a:r>
              <a:rPr lang="en-US" sz="900" b="1" kern="0" dirty="0">
                <a:solidFill>
                  <a:srgbClr val="000000"/>
                </a:solidFill>
              </a:rPr>
              <a:t>#include "</a:t>
            </a:r>
            <a:r>
              <a:rPr lang="en-US" sz="900" b="1" kern="0" dirty="0" err="1">
                <a:solidFill>
                  <a:srgbClr val="000000"/>
                </a:solidFill>
              </a:rPr>
              <a:t>pointer_stream_bad.h</a:t>
            </a:r>
            <a:r>
              <a:rPr lang="en-US" sz="900" b="1" kern="0" dirty="0">
                <a:solidFill>
                  <a:srgbClr val="000000"/>
                </a:solidFill>
              </a:rPr>
              <a:t>"</a:t>
            </a:r>
          </a:p>
          <a:p>
            <a:pPr lvl="0" fontAlgn="base">
              <a:spcBef>
                <a:spcPct val="0"/>
              </a:spcBef>
              <a:spcAft>
                <a:spcPct val="0"/>
              </a:spcAft>
              <a:defRPr/>
            </a:pPr>
            <a:endParaRPr lang="en-US" sz="900" b="1" kern="0" dirty="0">
              <a:solidFill>
                <a:srgbClr val="000000"/>
              </a:solidFill>
            </a:endParaRPr>
          </a:p>
          <a:p>
            <a:pPr lvl="0" fontAlgn="base">
              <a:spcBef>
                <a:spcPct val="0"/>
              </a:spcBef>
              <a:spcAft>
                <a:spcPct val="0"/>
              </a:spcAft>
              <a:defRPr/>
            </a:pPr>
            <a:r>
              <a:rPr lang="en-US" sz="900" b="1" kern="0" dirty="0">
                <a:solidFill>
                  <a:srgbClr val="000000"/>
                </a:solidFill>
              </a:rPr>
              <a:t>void </a:t>
            </a:r>
            <a:r>
              <a:rPr lang="en-US" sz="900" b="1" kern="0" dirty="0" err="1">
                <a:solidFill>
                  <a:srgbClr val="000000"/>
                </a:solidFill>
              </a:rPr>
              <a:t>pointer_stream_bad</a:t>
            </a:r>
            <a:r>
              <a:rPr lang="en-US" sz="900" b="1" kern="0" dirty="0">
                <a:solidFill>
                  <a:srgbClr val="000000"/>
                </a:solidFill>
              </a:rPr>
              <a:t> ( </a:t>
            </a:r>
            <a:r>
              <a:rPr lang="en-US" sz="900" b="1" kern="0" dirty="0" err="1">
                <a:solidFill>
                  <a:srgbClr val="000000"/>
                </a:solidFill>
              </a:rPr>
              <a:t>dout_t</a:t>
            </a: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a:t>
            </a:r>
            <a:r>
              <a:rPr lang="en-US" sz="900" b="1" kern="0" dirty="0" err="1">
                <a:solidFill>
                  <a:srgbClr val="000000"/>
                </a:solidFill>
              </a:rPr>
              <a:t>din_t</a:t>
            </a:r>
            <a:r>
              <a:rPr lang="en-US" sz="900" b="1" kern="0" dirty="0">
                <a:solidFill>
                  <a:srgbClr val="000000"/>
                </a:solidFill>
              </a:rPr>
              <a:t> *</a:t>
            </a:r>
            <a:r>
              <a:rPr lang="en-US" sz="900" b="1" kern="0" dirty="0" err="1">
                <a:solidFill>
                  <a:srgbClr val="000000"/>
                </a:solidFill>
              </a:rPr>
              <a:t>d_i</a:t>
            </a:r>
            <a:r>
              <a:rPr lang="en-US" sz="900" b="1" kern="0" dirty="0">
                <a:solidFill>
                  <a:srgbClr val="000000"/>
                </a:solidFill>
              </a:rPr>
              <a:t>) {</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din_t</a:t>
            </a:r>
            <a:r>
              <a:rPr lang="en-US" sz="900" b="1" kern="0" dirty="0">
                <a:solidFill>
                  <a:srgbClr val="000000"/>
                </a:solidFill>
              </a:rPr>
              <a:t> acc = 0;</a:t>
            </a:r>
          </a:p>
          <a:p>
            <a:pPr lvl="0" fontAlgn="base">
              <a:spcBef>
                <a:spcPct val="0"/>
              </a:spcBef>
              <a:spcAft>
                <a:spcPct val="0"/>
              </a:spcAft>
              <a:defRPr/>
            </a:pPr>
            <a:endParaRPr lang="en-US" sz="900" b="1" kern="0" dirty="0">
              <a:solidFill>
                <a:srgbClr val="000000"/>
              </a:solidFill>
            </a:endParaRP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 acc;</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 acc;</a:t>
            </a:r>
          </a:p>
          <a:p>
            <a:pPr lvl="0" fontAlgn="base">
              <a:spcBef>
                <a:spcPct val="0"/>
              </a:spcBef>
              <a:spcAft>
                <a:spcPct val="0"/>
              </a:spcAft>
              <a:defRPr/>
            </a:pPr>
            <a:r>
              <a:rPr lang="en-US" sz="900" b="1" kern="0" dirty="0">
                <a:solidFill>
                  <a:srgbClr val="000000"/>
                </a:solidFill>
              </a:rPr>
              <a:t>}</a:t>
            </a:r>
            <a:endParaRPr lang="en-US" sz="900" b="1" kern="0" dirty="0">
              <a:solidFill>
                <a:srgbClr val="000000"/>
              </a:solidFill>
              <a:latin typeface="Arial"/>
            </a:endParaRPr>
          </a:p>
        </p:txBody>
      </p:sp>
      <p:sp>
        <p:nvSpPr>
          <p:cNvPr id="13" name="TextBox 12">
            <a:extLst>
              <a:ext uri="{FF2B5EF4-FFF2-40B4-BE49-F238E27FC236}">
                <a16:creationId xmlns:a16="http://schemas.microsoft.com/office/drawing/2014/main" id="{6B50FB9F-7917-4F4E-8E65-E000506089C5}"/>
              </a:ext>
            </a:extLst>
          </p:cNvPr>
          <p:cNvSpPr txBox="1"/>
          <p:nvPr/>
        </p:nvSpPr>
        <p:spPr>
          <a:xfrm>
            <a:off x="3997075" y="4447145"/>
            <a:ext cx="2918020" cy="276999"/>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a:t>
            </a:r>
            <a:r>
              <a:rPr lang="en-US" sz="1200" b="1" kern="0" dirty="0" err="1">
                <a:solidFill>
                  <a:srgbClr val="000000"/>
                </a:solidFill>
              </a:rPr>
              <a:t>d_i</a:t>
            </a:r>
            <a:r>
              <a:rPr lang="en-US" sz="1200" b="1" kern="0" dirty="0">
                <a:solidFill>
                  <a:srgbClr val="000000"/>
                </a:solidFill>
              </a:rPr>
              <a:t> is read multiple times</a:t>
            </a:r>
          </a:p>
        </p:txBody>
      </p:sp>
      <p:sp>
        <p:nvSpPr>
          <p:cNvPr id="17" name="TextBox 16">
            <a:extLst>
              <a:ext uri="{FF2B5EF4-FFF2-40B4-BE49-F238E27FC236}">
                <a16:creationId xmlns:a16="http://schemas.microsoft.com/office/drawing/2014/main" id="{5CC6D559-D046-4D99-91C6-F76EB106EBA1}"/>
              </a:ext>
            </a:extLst>
          </p:cNvPr>
          <p:cNvSpPr txBox="1"/>
          <p:nvPr/>
        </p:nvSpPr>
        <p:spPr>
          <a:xfrm>
            <a:off x="3997075" y="4792790"/>
            <a:ext cx="3327567" cy="276999"/>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rPr>
              <a:t>*</a:t>
            </a:r>
            <a:r>
              <a:rPr lang="en-US" sz="1200" b="1" kern="0" dirty="0" err="1">
                <a:solidFill>
                  <a:srgbClr val="000000"/>
                </a:solidFill>
              </a:rPr>
              <a:t>d_o</a:t>
            </a:r>
            <a:r>
              <a:rPr lang="en-US" sz="1200" b="1" kern="0" dirty="0">
                <a:solidFill>
                  <a:srgbClr val="000000"/>
                </a:solidFill>
              </a:rPr>
              <a:t> is written to multiple times</a:t>
            </a:r>
          </a:p>
        </p:txBody>
      </p:sp>
      <p:cxnSp>
        <p:nvCxnSpPr>
          <p:cNvPr id="18" name="Straight Arrow Connector 17">
            <a:extLst>
              <a:ext uri="{FF2B5EF4-FFF2-40B4-BE49-F238E27FC236}">
                <a16:creationId xmlns:a16="http://schemas.microsoft.com/office/drawing/2014/main" id="{10CE840A-001B-4F7A-B1E6-ECCE8DA0EA93}"/>
              </a:ext>
            </a:extLst>
          </p:cNvPr>
          <p:cNvCxnSpPr>
            <a:cxnSpLocks/>
            <a:stCxn id="13" idx="1"/>
          </p:cNvCxnSpPr>
          <p:nvPr/>
        </p:nvCxnSpPr>
        <p:spPr>
          <a:xfrm flipH="1" flipV="1">
            <a:off x="1944689" y="4471838"/>
            <a:ext cx="2052386" cy="113806"/>
          </a:xfrm>
          <a:prstGeom prst="straightConnector1">
            <a:avLst/>
          </a:prstGeom>
          <a:noFill/>
          <a:ln w="25400" cap="flat" cmpd="sng" algn="ctr">
            <a:solidFill>
              <a:srgbClr val="000000"/>
            </a:solidFill>
            <a:prstDash val="solid"/>
            <a:tailEnd type="arrow"/>
          </a:ln>
          <a:effectLst>
            <a:outerShdw blurRad="40000" dist="20000" dir="5400000" rotWithShape="0">
              <a:srgbClr val="000000">
                <a:alpha val="38000"/>
              </a:srgbClr>
            </a:outerShdw>
          </a:effectLst>
        </p:spPr>
      </p:cxnSp>
      <p:cxnSp>
        <p:nvCxnSpPr>
          <p:cNvPr id="19" name="Straight Arrow Connector 18">
            <a:extLst>
              <a:ext uri="{FF2B5EF4-FFF2-40B4-BE49-F238E27FC236}">
                <a16:creationId xmlns:a16="http://schemas.microsoft.com/office/drawing/2014/main" id="{4884C41E-3312-4FEF-BFBE-1E9ED68908ED}"/>
              </a:ext>
            </a:extLst>
          </p:cNvPr>
          <p:cNvCxnSpPr>
            <a:cxnSpLocks/>
            <a:stCxn id="17" idx="1"/>
          </p:cNvCxnSpPr>
          <p:nvPr/>
        </p:nvCxnSpPr>
        <p:spPr>
          <a:xfrm flipH="1" flipV="1">
            <a:off x="1944690" y="4760251"/>
            <a:ext cx="2052385" cy="171038"/>
          </a:xfrm>
          <a:prstGeom prst="straightConnector1">
            <a:avLst/>
          </a:prstGeom>
          <a:noFill/>
          <a:ln w="25400" cap="flat" cmpd="sng" algn="ctr">
            <a:solidFill>
              <a:srgbClr val="000000"/>
            </a:solidFill>
            <a:prstDash val="solid"/>
            <a:tailEnd type="arrow"/>
          </a:ln>
          <a:effectLst>
            <a:outerShdw blurRad="40000" dist="20000" dir="5400000" rotWithShape="0">
              <a:srgbClr val="000000">
                <a:alpha val="38000"/>
              </a:srgbClr>
            </a:outerShdw>
          </a:effectLst>
        </p:spPr>
      </p:cxnSp>
      <p:sp>
        <p:nvSpPr>
          <p:cNvPr id="11" name="Slide Number Placeholder 5">
            <a:extLst>
              <a:ext uri="{FF2B5EF4-FFF2-40B4-BE49-F238E27FC236}">
                <a16:creationId xmlns:a16="http://schemas.microsoft.com/office/drawing/2014/main" id="{968285E2-34C7-422C-B70B-BF538958891A}"/>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44</a:t>
            </a:fld>
            <a:endParaRPr lang="en-US" dirty="0"/>
          </a:p>
        </p:txBody>
      </p:sp>
    </p:spTree>
    <p:extLst>
      <p:ext uri="{BB962C8B-B14F-4D97-AF65-F5344CB8AC3E}">
        <p14:creationId xmlns:p14="http://schemas.microsoft.com/office/powerpoint/2010/main" val="1036316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checkerboard(across)">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Coding and IO</a:t>
            </a:r>
          </a:p>
        </p:txBody>
      </p:sp>
      <p:sp>
        <p:nvSpPr>
          <p:cNvPr id="3" name="Content Placeholder 2"/>
          <p:cNvSpPr>
            <a:spLocks noGrp="1"/>
          </p:cNvSpPr>
          <p:nvPr>
            <p:ph idx="1"/>
          </p:nvPr>
        </p:nvSpPr>
        <p:spPr/>
        <p:txBody>
          <a:bodyPr/>
          <a:lstStyle/>
          <a:p>
            <a:r>
              <a:rPr lang="en-US" dirty="0"/>
              <a:t>There is one major issue with IO and coding</a:t>
            </a:r>
          </a:p>
          <a:p>
            <a:pPr lvl="1"/>
            <a:r>
              <a:rPr lang="en-US" dirty="0"/>
              <a:t>Multi-access pointers</a:t>
            </a:r>
          </a:p>
          <a:p>
            <a:r>
              <a:rPr lang="en-US" dirty="0"/>
              <a:t>A multi-access pointer is a pointer argument which is …</a:t>
            </a:r>
          </a:p>
          <a:p>
            <a:pPr lvl="1"/>
            <a:r>
              <a:rPr lang="en-US" dirty="0"/>
              <a:t>Read or written to multiple times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r>
              <a:rPr lang="en-US" dirty="0"/>
              <a:t>This can result in incorrect hardware</a:t>
            </a:r>
          </a:p>
          <a:p>
            <a:pPr lvl="1"/>
            <a:r>
              <a:rPr lang="en-US" dirty="0"/>
              <a:t>This cannot be verified using a test bench</a:t>
            </a:r>
          </a:p>
          <a:p>
            <a:pPr lvl="1"/>
            <a:r>
              <a:rPr lang="en-US" dirty="0"/>
              <a:t>This can give incorrect results at RTL verification</a:t>
            </a:r>
          </a:p>
        </p:txBody>
      </p:sp>
      <p:sp>
        <p:nvSpPr>
          <p:cNvPr id="16" name="Slide Number Placeholder 1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45</a:t>
            </a:fld>
            <a:endParaRPr lang="en-US" dirty="0">
              <a:solidFill>
                <a:srgbClr val="0C0C0C">
                  <a:tint val="75000"/>
                </a:srgbClr>
              </a:solidFill>
              <a:latin typeface="Arial"/>
            </a:endParaRPr>
          </a:p>
        </p:txBody>
      </p:sp>
      <p:sp>
        <p:nvSpPr>
          <p:cNvPr id="15" name="TextBox 14"/>
          <p:cNvSpPr txBox="1"/>
          <p:nvPr/>
        </p:nvSpPr>
        <p:spPr>
          <a:xfrm>
            <a:off x="7587891" y="5347672"/>
            <a:ext cx="3993080"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Yes, you can use this coding style (if you REALLY wish)…. With the following workarounds</a:t>
            </a:r>
          </a:p>
        </p:txBody>
      </p:sp>
      <p:sp>
        <p:nvSpPr>
          <p:cNvPr id="12" name="TextBox 11">
            <a:extLst>
              <a:ext uri="{FF2B5EF4-FFF2-40B4-BE49-F238E27FC236}">
                <a16:creationId xmlns:a16="http://schemas.microsoft.com/office/drawing/2014/main" id="{4446495D-EEDB-4C1B-B4C5-2EA79985EB0C}"/>
              </a:ext>
            </a:extLst>
          </p:cNvPr>
          <p:cNvSpPr txBox="1"/>
          <p:nvPr/>
        </p:nvSpPr>
        <p:spPr>
          <a:xfrm>
            <a:off x="1181443" y="3030125"/>
            <a:ext cx="2662053" cy="20313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fifo</a:t>
            </a:r>
            <a:r>
              <a:rPr lang="en-US" sz="900" b="1" kern="0" dirty="0">
                <a:solidFill>
                  <a:srgbClr val="000000"/>
                </a:solidFill>
                <a:latin typeface="Arial"/>
              </a:rPr>
              <a:t> (int *</a:t>
            </a:r>
            <a:r>
              <a:rPr lang="en-US" sz="900" b="1" kern="0" dirty="0" err="1">
                <a:solidFill>
                  <a:srgbClr val="000000"/>
                </a:solidFill>
                <a:latin typeface="Arial"/>
              </a:rPr>
              <a:t>d_o</a:t>
            </a: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int *</a:t>
            </a:r>
            <a:r>
              <a:rPr lang="en-US" sz="900" b="1" kern="0" dirty="0" err="1">
                <a:solidFill>
                  <a:srgbClr val="000000"/>
                </a:solidFill>
                <a:latin typeface="Arial"/>
              </a:rPr>
              <a:t>d_i</a:t>
            </a: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                )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cnt</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cnt</a:t>
            </a:r>
            <a:r>
              <a:rPr lang="en-US" sz="900" b="1" kern="0" dirty="0">
                <a:solidFill>
                  <a:srgbClr val="000000"/>
                </a:solidFill>
                <a:latin typeface="Arial"/>
              </a:rPr>
              <a:t>=0;cnt&lt;4;cnt++)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d_i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if (cnt%2==1) {</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d_o</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a:t>
            </a:r>
          </a:p>
        </p:txBody>
      </p:sp>
      <p:sp>
        <p:nvSpPr>
          <p:cNvPr id="13" name="TextBox 12">
            <a:extLst>
              <a:ext uri="{FF2B5EF4-FFF2-40B4-BE49-F238E27FC236}">
                <a16:creationId xmlns:a16="http://schemas.microsoft.com/office/drawing/2014/main" id="{6B50FB9F-7917-4F4E-8E65-E000506089C5}"/>
              </a:ext>
            </a:extLst>
          </p:cNvPr>
          <p:cNvSpPr txBox="1"/>
          <p:nvPr/>
        </p:nvSpPr>
        <p:spPr>
          <a:xfrm>
            <a:off x="3997075" y="3951845"/>
            <a:ext cx="2918020" cy="276999"/>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t>
            </a:r>
            <a:r>
              <a:rPr lang="en-US" sz="1200" b="1" kern="0" dirty="0" err="1">
                <a:solidFill>
                  <a:srgbClr val="000000"/>
                </a:solidFill>
                <a:latin typeface="Arial"/>
              </a:rPr>
              <a:t>d_i</a:t>
            </a:r>
            <a:r>
              <a:rPr lang="en-US" sz="1200" b="1" kern="0" dirty="0">
                <a:solidFill>
                  <a:srgbClr val="000000"/>
                </a:solidFill>
                <a:latin typeface="Arial"/>
              </a:rPr>
              <a:t> is read multiple times</a:t>
            </a:r>
          </a:p>
        </p:txBody>
      </p:sp>
      <p:sp>
        <p:nvSpPr>
          <p:cNvPr id="17" name="TextBox 16">
            <a:extLst>
              <a:ext uri="{FF2B5EF4-FFF2-40B4-BE49-F238E27FC236}">
                <a16:creationId xmlns:a16="http://schemas.microsoft.com/office/drawing/2014/main" id="{5CC6D559-D046-4D99-91C6-F76EB106EBA1}"/>
              </a:ext>
            </a:extLst>
          </p:cNvPr>
          <p:cNvSpPr txBox="1"/>
          <p:nvPr/>
        </p:nvSpPr>
        <p:spPr>
          <a:xfrm>
            <a:off x="3997075" y="4297490"/>
            <a:ext cx="3327567" cy="276999"/>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t>
            </a:r>
            <a:r>
              <a:rPr lang="en-US" sz="1200" b="1" kern="0" dirty="0" err="1">
                <a:solidFill>
                  <a:srgbClr val="000000"/>
                </a:solidFill>
                <a:latin typeface="Arial"/>
              </a:rPr>
              <a:t>d_o</a:t>
            </a:r>
            <a:r>
              <a:rPr lang="en-US" sz="1200" b="1" kern="0" dirty="0">
                <a:solidFill>
                  <a:srgbClr val="000000"/>
                </a:solidFill>
                <a:latin typeface="Arial"/>
              </a:rPr>
              <a:t> is written to multiple times</a:t>
            </a:r>
          </a:p>
        </p:txBody>
      </p:sp>
      <p:cxnSp>
        <p:nvCxnSpPr>
          <p:cNvPr id="18" name="Straight Arrow Connector 17">
            <a:extLst>
              <a:ext uri="{FF2B5EF4-FFF2-40B4-BE49-F238E27FC236}">
                <a16:creationId xmlns:a16="http://schemas.microsoft.com/office/drawing/2014/main" id="{10CE840A-001B-4F7A-B1E6-ECCE8DA0EA93}"/>
              </a:ext>
            </a:extLst>
          </p:cNvPr>
          <p:cNvCxnSpPr>
            <a:stCxn id="13" idx="1"/>
          </p:cNvCxnSpPr>
          <p:nvPr/>
        </p:nvCxnSpPr>
        <p:spPr>
          <a:xfrm rot="10800000" flipV="1">
            <a:off x="2512470" y="4090343"/>
            <a:ext cx="1484607" cy="15120"/>
          </a:xfrm>
          <a:prstGeom prst="straightConnector1">
            <a:avLst/>
          </a:prstGeom>
          <a:noFill/>
          <a:ln w="25400" cap="flat" cmpd="sng" algn="ctr">
            <a:solidFill>
              <a:srgbClr val="000000"/>
            </a:solidFill>
            <a:prstDash val="solid"/>
            <a:tailEnd type="arrow"/>
          </a:ln>
          <a:effectLst>
            <a:outerShdw blurRad="40000" dist="20000" dir="5400000" rotWithShape="0">
              <a:srgbClr val="000000">
                <a:alpha val="38000"/>
              </a:srgbClr>
            </a:outerShdw>
          </a:effectLst>
        </p:spPr>
      </p:cxnSp>
      <p:cxnSp>
        <p:nvCxnSpPr>
          <p:cNvPr id="19" name="Straight Arrow Connector 18">
            <a:extLst>
              <a:ext uri="{FF2B5EF4-FFF2-40B4-BE49-F238E27FC236}">
                <a16:creationId xmlns:a16="http://schemas.microsoft.com/office/drawing/2014/main" id="{4884C41E-3312-4FEF-BFBE-1E9ED68908ED}"/>
              </a:ext>
            </a:extLst>
          </p:cNvPr>
          <p:cNvCxnSpPr>
            <a:stCxn id="17" idx="1"/>
          </p:cNvCxnSpPr>
          <p:nvPr/>
        </p:nvCxnSpPr>
        <p:spPr>
          <a:xfrm rot="10800000">
            <a:off x="2563662" y="4374298"/>
            <a:ext cx="1433413" cy="61690"/>
          </a:xfrm>
          <a:prstGeom prst="straightConnector1">
            <a:avLst/>
          </a:prstGeom>
          <a:noFill/>
          <a:ln w="25400" cap="flat" cmpd="sng" algn="ctr">
            <a:solidFill>
              <a:srgbClr val="000000"/>
            </a:solidFill>
            <a:prstDash val="solid"/>
            <a:tailEnd type="arrow"/>
          </a:ln>
          <a:effectLst>
            <a:outerShdw blurRad="40000" dist="20000" dir="5400000" rotWithShape="0">
              <a:srgbClr val="000000">
                <a:alpha val="38000"/>
              </a:srgbClr>
            </a:outerShdw>
          </a:effectLst>
        </p:spPr>
      </p:cxnSp>
      <p:sp>
        <p:nvSpPr>
          <p:cNvPr id="20" name="Left Bracket 19">
            <a:extLst>
              <a:ext uri="{FF2B5EF4-FFF2-40B4-BE49-F238E27FC236}">
                <a16:creationId xmlns:a16="http://schemas.microsoft.com/office/drawing/2014/main" id="{4E518915-A98B-4C80-9C7A-413B70A71141}"/>
              </a:ext>
            </a:extLst>
          </p:cNvPr>
          <p:cNvSpPr/>
          <p:nvPr/>
        </p:nvSpPr>
        <p:spPr>
          <a:xfrm>
            <a:off x="925475" y="3990248"/>
            <a:ext cx="409547" cy="691290"/>
          </a:xfrm>
          <a:prstGeom prst="leftBracket">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algn="ctr" defTabSz="914400" fontAlgn="base">
              <a:spcBef>
                <a:spcPct val="0"/>
              </a:spcBef>
              <a:spcAft>
                <a:spcPct val="0"/>
              </a:spcAft>
              <a:defRPr/>
            </a:pPr>
            <a:endParaRPr lang="en-US" kern="0">
              <a:solidFill>
                <a:srgbClr val="000000"/>
              </a:solidFill>
              <a:latin typeface="Aria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checkerboard(across)">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Coding and IO</a:t>
            </a:r>
          </a:p>
        </p:txBody>
      </p:sp>
      <p:sp>
        <p:nvSpPr>
          <p:cNvPr id="3" name="Content Placeholder 2"/>
          <p:cNvSpPr>
            <a:spLocks noGrp="1"/>
          </p:cNvSpPr>
          <p:nvPr>
            <p:ph idx="1"/>
          </p:nvPr>
        </p:nvSpPr>
        <p:spPr/>
        <p:txBody>
          <a:bodyPr/>
          <a:lstStyle/>
          <a:p>
            <a:r>
              <a:rPr lang="en-US" dirty="0"/>
              <a:t>There is one major issue with IO and coding</a:t>
            </a:r>
          </a:p>
          <a:p>
            <a:pPr lvl="1"/>
            <a:r>
              <a:rPr lang="en-US" dirty="0"/>
              <a:t>Multi-access pointers</a:t>
            </a:r>
          </a:p>
          <a:p>
            <a:r>
              <a:rPr lang="en-US" dirty="0"/>
              <a:t>A multi-access pointer is a pointer argument which is …</a:t>
            </a:r>
          </a:p>
          <a:p>
            <a:pPr lvl="1"/>
            <a:r>
              <a:rPr lang="en-US" dirty="0"/>
              <a:t>Read or written to multiple times</a:t>
            </a:r>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dirty="0"/>
          </a:p>
          <a:p>
            <a:pPr lvl="1"/>
            <a:r>
              <a:rPr lang="en-US" altLang="zh-CN" dirty="0">
                <a:highlight>
                  <a:srgbClr val="FFFF00"/>
                </a:highlight>
              </a:rPr>
              <a:t>This </a:t>
            </a:r>
            <a:r>
              <a:rPr lang="en-US" dirty="0">
                <a:highlight>
                  <a:srgbClr val="FFFF00"/>
                </a:highlight>
              </a:rPr>
              <a:t>introduce unexpected behavior after synthesis</a:t>
            </a:r>
          </a:p>
          <a:p>
            <a:pPr lvl="1"/>
            <a:r>
              <a:rPr lang="en-US" strike="sngStrike" dirty="0"/>
              <a:t>This can result in incorrect hardware</a:t>
            </a:r>
          </a:p>
          <a:p>
            <a:pPr lvl="1"/>
            <a:r>
              <a:rPr lang="en-US" strike="sngStrike" dirty="0"/>
              <a:t>This cannot be verified using a test bench</a:t>
            </a:r>
          </a:p>
          <a:p>
            <a:pPr lvl="1"/>
            <a:r>
              <a:rPr lang="en-US" strike="sngStrike" dirty="0"/>
              <a:t>This can give incorrect results at RTL verification</a:t>
            </a:r>
          </a:p>
        </p:txBody>
      </p:sp>
      <p:sp>
        <p:nvSpPr>
          <p:cNvPr id="16" name="Slide Number Placeholder 1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46</a:t>
            </a:fld>
            <a:endParaRPr lang="en-US" dirty="0">
              <a:solidFill>
                <a:srgbClr val="0C0C0C">
                  <a:tint val="75000"/>
                </a:srgbClr>
              </a:solidFill>
              <a:latin typeface="Arial"/>
            </a:endParaRPr>
          </a:p>
        </p:txBody>
      </p:sp>
      <p:sp>
        <p:nvSpPr>
          <p:cNvPr id="15" name="TextBox 14"/>
          <p:cNvSpPr txBox="1"/>
          <p:nvPr/>
        </p:nvSpPr>
        <p:spPr>
          <a:xfrm>
            <a:off x="7587891" y="5347672"/>
            <a:ext cx="3993080"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Yes, you can use this coding style (if you REALLY wish)…. With the following workarounds</a:t>
            </a:r>
          </a:p>
        </p:txBody>
      </p:sp>
      <p:sp>
        <p:nvSpPr>
          <p:cNvPr id="12" name="TextBox 11">
            <a:extLst>
              <a:ext uri="{FF2B5EF4-FFF2-40B4-BE49-F238E27FC236}">
                <a16:creationId xmlns:a16="http://schemas.microsoft.com/office/drawing/2014/main" id="{4446495D-EEDB-4C1B-B4C5-2EA79985EB0C}"/>
              </a:ext>
            </a:extLst>
          </p:cNvPr>
          <p:cNvSpPr txBox="1"/>
          <p:nvPr/>
        </p:nvSpPr>
        <p:spPr>
          <a:xfrm>
            <a:off x="1181443" y="3030124"/>
            <a:ext cx="2662053" cy="18928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highlight>
                  <a:srgbClr val="FFFF00"/>
                </a:highlight>
                <a:latin typeface="Arial"/>
              </a:rPr>
              <a:t>#include "</a:t>
            </a:r>
            <a:r>
              <a:rPr lang="en-US" sz="900" b="1" kern="0" dirty="0" err="1">
                <a:solidFill>
                  <a:srgbClr val="000000"/>
                </a:solidFill>
                <a:highlight>
                  <a:srgbClr val="FFFF00"/>
                </a:highlight>
                <a:latin typeface="Arial"/>
              </a:rPr>
              <a:t>pointer_stream_bad.h</a:t>
            </a:r>
            <a:r>
              <a:rPr lang="en-US" sz="900" b="1" kern="0" dirty="0">
                <a:solidFill>
                  <a:srgbClr val="000000"/>
                </a:solidFill>
                <a:highlight>
                  <a:srgbClr val="FFFF00"/>
                </a:highlight>
                <a:latin typeface="Arial"/>
              </a:rPr>
              <a:t>"</a:t>
            </a:r>
          </a:p>
          <a:p>
            <a:pPr defTabSz="914400" fontAlgn="base">
              <a:spcBef>
                <a:spcPct val="0"/>
              </a:spcBef>
              <a:spcAft>
                <a:spcPct val="0"/>
              </a:spcAft>
              <a:defRPr/>
            </a:pPr>
            <a:endParaRPr lang="en-US" sz="900" b="1" kern="0" dirty="0">
              <a:solidFill>
                <a:srgbClr val="000000"/>
              </a:solidFill>
              <a:highlight>
                <a:srgbClr val="FFFF00"/>
              </a:highlight>
              <a:latin typeface="Arial"/>
            </a:endParaRPr>
          </a:p>
          <a:p>
            <a:pPr defTabSz="914400" fontAlgn="base">
              <a:spcBef>
                <a:spcPct val="0"/>
              </a:spcBef>
              <a:spcAft>
                <a:spcPct val="0"/>
              </a:spcAft>
              <a:defRPr/>
            </a:pPr>
            <a:r>
              <a:rPr lang="en-US" sz="900" b="1" kern="0" dirty="0">
                <a:solidFill>
                  <a:srgbClr val="000000"/>
                </a:solidFill>
                <a:highlight>
                  <a:srgbClr val="FFFF00"/>
                </a:highlight>
                <a:latin typeface="Arial"/>
              </a:rPr>
              <a:t>void </a:t>
            </a:r>
            <a:r>
              <a:rPr lang="en-US" sz="900" b="1" kern="0" dirty="0" err="1">
                <a:solidFill>
                  <a:srgbClr val="000000"/>
                </a:solidFill>
                <a:highlight>
                  <a:srgbClr val="FFFF00"/>
                </a:highlight>
                <a:latin typeface="Arial"/>
              </a:rPr>
              <a:t>pointer_stream_bad</a:t>
            </a:r>
            <a:r>
              <a:rPr lang="en-US" sz="900" b="1" kern="0" dirty="0">
                <a:solidFill>
                  <a:srgbClr val="000000"/>
                </a:solidFill>
                <a:highlight>
                  <a:srgbClr val="FFFF00"/>
                </a:highlight>
                <a:latin typeface="Arial"/>
              </a:rPr>
              <a:t> ( </a:t>
            </a:r>
            <a:r>
              <a:rPr lang="en-US" sz="900" b="1" kern="0" dirty="0" err="1">
                <a:solidFill>
                  <a:srgbClr val="000000"/>
                </a:solidFill>
                <a:highlight>
                  <a:srgbClr val="FFFF00"/>
                </a:highlight>
                <a:latin typeface="Arial"/>
              </a:rPr>
              <a:t>dout_t</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din_t</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 {</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din_t</a:t>
            </a:r>
            <a:r>
              <a:rPr lang="en-US" sz="900" b="1" kern="0" dirty="0">
                <a:solidFill>
                  <a:srgbClr val="000000"/>
                </a:solidFill>
                <a:highlight>
                  <a:srgbClr val="FFFF00"/>
                </a:highlight>
                <a:latin typeface="Arial"/>
              </a:rPr>
              <a:t> acc = 0;</a:t>
            </a:r>
          </a:p>
          <a:p>
            <a:pPr defTabSz="914400" fontAlgn="base">
              <a:spcBef>
                <a:spcPct val="0"/>
              </a:spcBef>
              <a:spcAft>
                <a:spcPct val="0"/>
              </a:spcAft>
              <a:defRPr/>
            </a:pPr>
            <a:endParaRPr lang="en-US" sz="900" b="1" kern="0" dirty="0">
              <a:solidFill>
                <a:srgbClr val="000000"/>
              </a:solidFill>
              <a:highlight>
                <a:srgbClr val="FFFF00"/>
              </a:highlight>
              <a:latin typeface="Arial"/>
            </a:endParaRP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 acc;</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 acc;</a:t>
            </a:r>
          </a:p>
          <a:p>
            <a:pPr defTabSz="914400" fontAlgn="base">
              <a:spcBef>
                <a:spcPct val="0"/>
              </a:spcBef>
              <a:spcAft>
                <a:spcPct val="0"/>
              </a:spcAft>
              <a:defRPr/>
            </a:pPr>
            <a:r>
              <a:rPr lang="en-US" sz="900" b="1" kern="0" dirty="0">
                <a:solidFill>
                  <a:srgbClr val="000000"/>
                </a:solidFill>
                <a:highlight>
                  <a:srgbClr val="FFFF00"/>
                </a:highlight>
                <a:latin typeface="Arial"/>
              </a:rPr>
              <a:t>}</a:t>
            </a:r>
          </a:p>
        </p:txBody>
      </p:sp>
      <p:sp>
        <p:nvSpPr>
          <p:cNvPr id="13" name="TextBox 12">
            <a:extLst>
              <a:ext uri="{FF2B5EF4-FFF2-40B4-BE49-F238E27FC236}">
                <a16:creationId xmlns:a16="http://schemas.microsoft.com/office/drawing/2014/main" id="{6B50FB9F-7917-4F4E-8E65-E000506089C5}"/>
              </a:ext>
            </a:extLst>
          </p:cNvPr>
          <p:cNvSpPr txBox="1"/>
          <p:nvPr/>
        </p:nvSpPr>
        <p:spPr>
          <a:xfrm>
            <a:off x="3997075" y="3951845"/>
            <a:ext cx="2918020" cy="276999"/>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t>
            </a:r>
            <a:r>
              <a:rPr lang="en-US" sz="1200" b="1" kern="0" dirty="0" err="1">
                <a:solidFill>
                  <a:srgbClr val="000000"/>
                </a:solidFill>
                <a:latin typeface="Arial"/>
              </a:rPr>
              <a:t>d_i</a:t>
            </a:r>
            <a:r>
              <a:rPr lang="en-US" sz="1200" b="1" kern="0" dirty="0">
                <a:solidFill>
                  <a:srgbClr val="000000"/>
                </a:solidFill>
                <a:latin typeface="Arial"/>
              </a:rPr>
              <a:t> is read multiple times</a:t>
            </a:r>
          </a:p>
        </p:txBody>
      </p:sp>
      <p:sp>
        <p:nvSpPr>
          <p:cNvPr id="17" name="TextBox 16">
            <a:extLst>
              <a:ext uri="{FF2B5EF4-FFF2-40B4-BE49-F238E27FC236}">
                <a16:creationId xmlns:a16="http://schemas.microsoft.com/office/drawing/2014/main" id="{5CC6D559-D046-4D99-91C6-F76EB106EBA1}"/>
              </a:ext>
            </a:extLst>
          </p:cNvPr>
          <p:cNvSpPr txBox="1"/>
          <p:nvPr/>
        </p:nvSpPr>
        <p:spPr>
          <a:xfrm>
            <a:off x="3997075" y="4297490"/>
            <a:ext cx="3327567" cy="276999"/>
          </a:xfrm>
          <a:prstGeom prst="rect">
            <a:avLst/>
          </a:prstGeom>
          <a:solidFill>
            <a:srgbClr val="FFFF99"/>
          </a:solidFill>
          <a:ln>
            <a:solidFill>
              <a:srgbClr val="000000"/>
            </a:solidFill>
          </a:ln>
          <a:effectLst>
            <a:innerShdw blurRad="63500" dist="50800" dir="2700000">
              <a:prstClr val="black">
                <a:alpha val="50000"/>
              </a:prstClr>
            </a:innerShdw>
          </a:effectLst>
        </p:spPr>
        <p:txBody>
          <a:bodyPr wrap="square" rtlCol="0">
            <a:spAutoFit/>
          </a:bodyPr>
          <a:lstStyle/>
          <a:p>
            <a:pPr algn="ctr" defTabSz="914400" fontAlgn="base">
              <a:spcBef>
                <a:spcPct val="0"/>
              </a:spcBef>
              <a:spcAft>
                <a:spcPct val="0"/>
              </a:spcAft>
              <a:defRPr/>
            </a:pPr>
            <a:r>
              <a:rPr lang="en-US" sz="1200" b="1" kern="0" dirty="0">
                <a:solidFill>
                  <a:srgbClr val="000000"/>
                </a:solidFill>
                <a:latin typeface="Arial"/>
              </a:rPr>
              <a:t>*</a:t>
            </a:r>
            <a:r>
              <a:rPr lang="en-US" sz="1200" b="1" kern="0" dirty="0" err="1">
                <a:solidFill>
                  <a:srgbClr val="000000"/>
                </a:solidFill>
                <a:latin typeface="Arial"/>
              </a:rPr>
              <a:t>d_o</a:t>
            </a:r>
            <a:r>
              <a:rPr lang="en-US" sz="1200" b="1" kern="0" dirty="0">
                <a:solidFill>
                  <a:srgbClr val="000000"/>
                </a:solidFill>
                <a:latin typeface="Arial"/>
              </a:rPr>
              <a:t> is written to multiple times</a:t>
            </a:r>
          </a:p>
        </p:txBody>
      </p:sp>
      <p:cxnSp>
        <p:nvCxnSpPr>
          <p:cNvPr id="18" name="Straight Arrow Connector 17">
            <a:extLst>
              <a:ext uri="{FF2B5EF4-FFF2-40B4-BE49-F238E27FC236}">
                <a16:creationId xmlns:a16="http://schemas.microsoft.com/office/drawing/2014/main" id="{10CE840A-001B-4F7A-B1E6-ECCE8DA0EA93}"/>
              </a:ext>
            </a:extLst>
          </p:cNvPr>
          <p:cNvCxnSpPr>
            <a:cxnSpLocks/>
            <a:stCxn id="13" idx="1"/>
          </p:cNvCxnSpPr>
          <p:nvPr/>
        </p:nvCxnSpPr>
        <p:spPr>
          <a:xfrm flipH="1" flipV="1">
            <a:off x="1944689" y="3976538"/>
            <a:ext cx="2052386" cy="113806"/>
          </a:xfrm>
          <a:prstGeom prst="straightConnector1">
            <a:avLst/>
          </a:prstGeom>
          <a:noFill/>
          <a:ln w="25400" cap="flat" cmpd="sng" algn="ctr">
            <a:solidFill>
              <a:srgbClr val="000000"/>
            </a:solidFill>
            <a:prstDash val="solid"/>
            <a:tailEnd type="arrow"/>
          </a:ln>
          <a:effectLst>
            <a:outerShdw blurRad="40000" dist="20000" dir="5400000" rotWithShape="0">
              <a:srgbClr val="000000">
                <a:alpha val="38000"/>
              </a:srgbClr>
            </a:outerShdw>
          </a:effectLst>
        </p:spPr>
      </p:cxnSp>
      <p:cxnSp>
        <p:nvCxnSpPr>
          <p:cNvPr id="19" name="Straight Arrow Connector 18">
            <a:extLst>
              <a:ext uri="{FF2B5EF4-FFF2-40B4-BE49-F238E27FC236}">
                <a16:creationId xmlns:a16="http://schemas.microsoft.com/office/drawing/2014/main" id="{4884C41E-3312-4FEF-BFBE-1E9ED68908ED}"/>
              </a:ext>
            </a:extLst>
          </p:cNvPr>
          <p:cNvCxnSpPr>
            <a:cxnSpLocks/>
            <a:stCxn id="17" idx="1"/>
          </p:cNvCxnSpPr>
          <p:nvPr/>
        </p:nvCxnSpPr>
        <p:spPr>
          <a:xfrm flipH="1" flipV="1">
            <a:off x="1944690" y="4264951"/>
            <a:ext cx="2052385" cy="171038"/>
          </a:xfrm>
          <a:prstGeom prst="straightConnector1">
            <a:avLst/>
          </a:prstGeom>
          <a:noFill/>
          <a:ln w="25400" cap="flat" cmpd="sng" algn="ctr">
            <a:solidFill>
              <a:srgbClr val="000000"/>
            </a:solidFill>
            <a:prstDash val="solid"/>
            <a:tailEnd type="arrow"/>
          </a:ln>
          <a:effectLst>
            <a:outerShdw blurRad="40000" dist="20000" dir="5400000" rotWithShape="0">
              <a:srgbClr val="000000">
                <a:alpha val="38000"/>
              </a:srgbClr>
            </a:outerShdw>
          </a:effectLst>
        </p:spPr>
      </p:cxnSp>
    </p:spTree>
    <p:extLst>
      <p:ext uri="{BB962C8B-B14F-4D97-AF65-F5344CB8AC3E}">
        <p14:creationId xmlns:p14="http://schemas.microsoft.com/office/powerpoint/2010/main" val="4260423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 presetClass="entr" presetSubtype="1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checkerboard(across)">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Use Volatile!!!</a:t>
            </a:r>
          </a:p>
        </p:txBody>
      </p:sp>
      <p:sp>
        <p:nvSpPr>
          <p:cNvPr id="4" name="Content Placeholder 3"/>
          <p:cNvSpPr>
            <a:spLocks noGrp="1"/>
          </p:cNvSpPr>
          <p:nvPr>
            <p:ph idx="1"/>
          </p:nvPr>
        </p:nvSpPr>
        <p:spPr/>
        <p:txBody>
          <a:bodyPr>
            <a:normAutofit/>
          </a:bodyPr>
          <a:lstStyle/>
          <a:p>
            <a:r>
              <a:rPr lang="en-US" dirty="0"/>
              <a:t>Without Volatile</a:t>
            </a:r>
          </a:p>
          <a:p>
            <a:endParaRPr lang="en-US" dirty="0"/>
          </a:p>
          <a:p>
            <a:endParaRPr lang="en-US" dirty="0"/>
          </a:p>
          <a:p>
            <a:pPr>
              <a:buNone/>
            </a:pPr>
            <a:endParaRPr lang="en-US" dirty="0"/>
          </a:p>
          <a:p>
            <a:r>
              <a:rPr lang="en-US" sz="2000" dirty="0"/>
              <a:t>C compilers will optimize to 1 read </a:t>
            </a:r>
            <a:br>
              <a:rPr lang="en-US" sz="2000" dirty="0"/>
            </a:br>
            <a:r>
              <a:rPr lang="en-US" sz="2000" dirty="0"/>
              <a:t>and 1 write</a:t>
            </a:r>
          </a:p>
          <a:p>
            <a:r>
              <a:rPr lang="en-US" sz="2000" dirty="0" err="1"/>
              <a:t>Vi</a:t>
            </a:r>
            <a:r>
              <a:rPr lang="en-US" altLang="zh-CN" sz="2000" dirty="0" err="1"/>
              <a:t>tis</a:t>
            </a:r>
            <a:r>
              <a:rPr lang="en-US" sz="2000" dirty="0"/>
              <a:t> HLS will create a design with 1 read </a:t>
            </a:r>
            <a:br>
              <a:rPr lang="en-US" sz="2000" dirty="0"/>
            </a:br>
            <a:r>
              <a:rPr lang="en-US" sz="2000" dirty="0"/>
              <a:t>and 1 write</a:t>
            </a:r>
          </a:p>
        </p:txBody>
      </p:sp>
      <p:sp>
        <p:nvSpPr>
          <p:cNvPr id="6" name="Content Placeholder 5"/>
          <p:cNvSpPr>
            <a:spLocks noGrp="1"/>
          </p:cNvSpPr>
          <p:nvPr>
            <p:ph sz="half" idx="4294967295"/>
          </p:nvPr>
        </p:nvSpPr>
        <p:spPr>
          <a:xfrm>
            <a:off x="7010401" y="1463676"/>
            <a:ext cx="5180012" cy="4835525"/>
          </a:xfrm>
          <a:prstGeom prst="rect">
            <a:avLst/>
          </a:prstGeom>
        </p:spPr>
        <p:txBody>
          <a:bodyPr>
            <a:normAutofit fontScale="92500" lnSpcReduction="20000"/>
          </a:bodyPr>
          <a:lstStyle/>
          <a:p>
            <a:r>
              <a:rPr lang="en-US" dirty="0"/>
              <a:t>With Volatile</a:t>
            </a:r>
          </a:p>
          <a:p>
            <a:endParaRPr lang="en-US" dirty="0"/>
          </a:p>
          <a:p>
            <a:endParaRPr lang="en-US" dirty="0"/>
          </a:p>
          <a:p>
            <a:endParaRPr lang="en-US" dirty="0"/>
          </a:p>
          <a:p>
            <a:pPr>
              <a:buNone/>
            </a:pPr>
            <a:endParaRPr lang="en-US" dirty="0"/>
          </a:p>
          <a:p>
            <a:r>
              <a:rPr lang="en-US" dirty="0"/>
              <a:t>C Compilers will not optimize the IO accesses</a:t>
            </a:r>
          </a:p>
          <a:p>
            <a:pPr lvl="1"/>
            <a:r>
              <a:rPr lang="en-US" dirty="0"/>
              <a:t>Will assume the pointer value may change outside the scope of the function &amp; leave the accesses</a:t>
            </a:r>
          </a:p>
          <a:p>
            <a:r>
              <a:rPr lang="en-US" dirty="0" err="1"/>
              <a:t>Vitis</a:t>
            </a:r>
            <a:r>
              <a:rPr lang="en-US" dirty="0"/>
              <a:t> HLS will create a design with 4 reads and 2 write</a:t>
            </a:r>
          </a:p>
        </p:txBody>
      </p:sp>
      <p:sp>
        <p:nvSpPr>
          <p:cNvPr id="9" name="TextBox 8"/>
          <p:cNvSpPr txBox="1"/>
          <p:nvPr/>
        </p:nvSpPr>
        <p:spPr>
          <a:xfrm>
            <a:off x="771894" y="5283642"/>
            <a:ext cx="5324106"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400" b="1" dirty="0"/>
              <a:t>To complicate matters, if the IF condition is complex, </a:t>
            </a:r>
            <a:r>
              <a:rPr lang="en-US" sz="1400" b="1" dirty="0" err="1"/>
              <a:t>Vitis</a:t>
            </a:r>
            <a:r>
              <a:rPr lang="en-US" sz="1400" b="1" dirty="0"/>
              <a:t> HLS may not be able to optimize the accesses into 1</a:t>
            </a:r>
          </a:p>
        </p:txBody>
      </p:sp>
      <p:sp>
        <p:nvSpPr>
          <p:cNvPr id="11" name="TextBox 10">
            <a:extLst>
              <a:ext uri="{FF2B5EF4-FFF2-40B4-BE49-F238E27FC236}">
                <a16:creationId xmlns:a16="http://schemas.microsoft.com/office/drawing/2014/main" id="{F3E7C923-647F-4151-8C17-F978777AF1CE}"/>
              </a:ext>
            </a:extLst>
          </p:cNvPr>
          <p:cNvSpPr txBox="1"/>
          <p:nvPr/>
        </p:nvSpPr>
        <p:spPr>
          <a:xfrm>
            <a:off x="931246" y="1978057"/>
            <a:ext cx="2457280"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lvl="0" fontAlgn="base">
              <a:spcBef>
                <a:spcPct val="0"/>
              </a:spcBef>
              <a:spcAft>
                <a:spcPct val="0"/>
              </a:spcAft>
              <a:defRPr/>
            </a:pPr>
            <a:r>
              <a:rPr lang="en-US" sz="900" b="1" kern="0" dirty="0">
                <a:solidFill>
                  <a:srgbClr val="000000"/>
                </a:solidFill>
              </a:rPr>
              <a:t>void </a:t>
            </a:r>
            <a:r>
              <a:rPr lang="en-US" sz="900" b="1" kern="0" dirty="0" err="1">
                <a:solidFill>
                  <a:srgbClr val="000000"/>
                </a:solidFill>
              </a:rPr>
              <a:t>pointer_stream_bad</a:t>
            </a:r>
            <a:r>
              <a:rPr lang="en-US" sz="900" b="1" kern="0" dirty="0">
                <a:solidFill>
                  <a:srgbClr val="000000"/>
                </a:solidFill>
              </a:rPr>
              <a:t> ( </a:t>
            </a:r>
            <a:r>
              <a:rPr lang="en-US" sz="900" b="1" kern="0" dirty="0" err="1">
                <a:solidFill>
                  <a:srgbClr val="000000"/>
                </a:solidFill>
              </a:rPr>
              <a:t>dout_t</a:t>
            </a: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a:t>
            </a:r>
            <a:r>
              <a:rPr lang="en-US" sz="900" b="1" kern="0" dirty="0" err="1">
                <a:solidFill>
                  <a:srgbClr val="000000"/>
                </a:solidFill>
              </a:rPr>
              <a:t>din_t</a:t>
            </a:r>
            <a:r>
              <a:rPr lang="en-US" sz="900" b="1" kern="0" dirty="0">
                <a:solidFill>
                  <a:srgbClr val="000000"/>
                </a:solidFill>
              </a:rPr>
              <a:t> *</a:t>
            </a:r>
            <a:r>
              <a:rPr lang="en-US" sz="900" b="1" kern="0" dirty="0" err="1">
                <a:solidFill>
                  <a:srgbClr val="000000"/>
                </a:solidFill>
              </a:rPr>
              <a:t>d_i</a:t>
            </a:r>
            <a:r>
              <a:rPr lang="en-US" sz="900" b="1" kern="0" dirty="0">
                <a:solidFill>
                  <a:srgbClr val="000000"/>
                </a:solidFill>
              </a:rPr>
              <a:t>) {</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din_t</a:t>
            </a:r>
            <a:r>
              <a:rPr lang="en-US" sz="900" b="1" kern="0" dirty="0">
                <a:solidFill>
                  <a:srgbClr val="000000"/>
                </a:solidFill>
              </a:rPr>
              <a:t> acc = 0;</a:t>
            </a:r>
          </a:p>
          <a:p>
            <a:pPr lvl="0" fontAlgn="base">
              <a:spcBef>
                <a:spcPct val="0"/>
              </a:spcBef>
              <a:spcAft>
                <a:spcPct val="0"/>
              </a:spcAft>
              <a:defRPr/>
            </a:pPr>
            <a:endParaRPr lang="en-US" sz="900" b="1" kern="0" dirty="0">
              <a:solidFill>
                <a:srgbClr val="000000"/>
              </a:solidFill>
            </a:endParaRP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 acc;</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 acc;</a:t>
            </a:r>
          </a:p>
          <a:p>
            <a:pPr lvl="0" fontAlgn="base">
              <a:spcBef>
                <a:spcPct val="0"/>
              </a:spcBef>
              <a:spcAft>
                <a:spcPct val="0"/>
              </a:spcAft>
              <a:defRPr/>
            </a:pPr>
            <a:r>
              <a:rPr lang="en-US" sz="900" b="1" kern="0" dirty="0">
                <a:solidFill>
                  <a:srgbClr val="000000"/>
                </a:solidFill>
              </a:rPr>
              <a:t>}</a:t>
            </a:r>
            <a:endParaRPr lang="en-US" sz="900" b="1" kern="0" dirty="0">
              <a:solidFill>
                <a:srgbClr val="000000"/>
              </a:solidFill>
              <a:latin typeface="Arial"/>
            </a:endParaRPr>
          </a:p>
        </p:txBody>
      </p:sp>
      <p:sp>
        <p:nvSpPr>
          <p:cNvPr id="12" name="TextBox 11">
            <a:extLst>
              <a:ext uri="{FF2B5EF4-FFF2-40B4-BE49-F238E27FC236}">
                <a16:creationId xmlns:a16="http://schemas.microsoft.com/office/drawing/2014/main" id="{C03D9B48-AAA5-4A85-8136-056AFF4A1FC0}"/>
              </a:ext>
            </a:extLst>
          </p:cNvPr>
          <p:cNvSpPr txBox="1"/>
          <p:nvPr/>
        </p:nvSpPr>
        <p:spPr>
          <a:xfrm>
            <a:off x="7446108" y="1978056"/>
            <a:ext cx="2303700"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lvl="0" fontAlgn="base">
              <a:spcBef>
                <a:spcPct val="0"/>
              </a:spcBef>
              <a:spcAft>
                <a:spcPct val="0"/>
              </a:spcAft>
              <a:defRPr/>
            </a:pPr>
            <a:r>
              <a:rPr lang="en-US" sz="900" b="1" kern="0" dirty="0">
                <a:solidFill>
                  <a:srgbClr val="000000"/>
                </a:solidFill>
              </a:rPr>
              <a:t>void </a:t>
            </a:r>
            <a:r>
              <a:rPr lang="en-US" sz="900" b="1" kern="0" dirty="0" err="1">
                <a:solidFill>
                  <a:srgbClr val="000000"/>
                </a:solidFill>
              </a:rPr>
              <a:t>pointer_stream_better</a:t>
            </a:r>
            <a:r>
              <a:rPr lang="en-US" sz="900" b="1" kern="0" dirty="0">
                <a:solidFill>
                  <a:srgbClr val="000000"/>
                </a:solidFill>
              </a:rPr>
              <a:t> ( volatile </a:t>
            </a:r>
            <a:r>
              <a:rPr lang="en-US" sz="900" b="1" kern="0" dirty="0" err="1">
                <a:solidFill>
                  <a:srgbClr val="000000"/>
                </a:solidFill>
              </a:rPr>
              <a:t>dout_t</a:t>
            </a: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volatile </a:t>
            </a:r>
            <a:r>
              <a:rPr lang="en-US" sz="900" b="1" kern="0" dirty="0" err="1">
                <a:solidFill>
                  <a:srgbClr val="000000"/>
                </a:solidFill>
              </a:rPr>
              <a:t>din_t</a:t>
            </a:r>
            <a:r>
              <a:rPr lang="en-US" sz="900" b="1" kern="0" dirty="0">
                <a:solidFill>
                  <a:srgbClr val="000000"/>
                </a:solidFill>
              </a:rPr>
              <a:t> *</a:t>
            </a:r>
            <a:r>
              <a:rPr lang="en-US" sz="900" b="1" kern="0" dirty="0" err="1">
                <a:solidFill>
                  <a:srgbClr val="000000"/>
                </a:solidFill>
              </a:rPr>
              <a:t>d_i</a:t>
            </a:r>
            <a:r>
              <a:rPr lang="en-US" sz="900" b="1" kern="0" dirty="0">
                <a:solidFill>
                  <a:srgbClr val="000000"/>
                </a:solidFill>
              </a:rPr>
              <a:t>) {</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din_t</a:t>
            </a:r>
            <a:r>
              <a:rPr lang="en-US" sz="900" b="1" kern="0" dirty="0">
                <a:solidFill>
                  <a:srgbClr val="000000"/>
                </a:solidFill>
              </a:rPr>
              <a:t> acc = 0;</a:t>
            </a:r>
          </a:p>
          <a:p>
            <a:pPr lvl="0" fontAlgn="base">
              <a:spcBef>
                <a:spcPct val="0"/>
              </a:spcBef>
              <a:spcAft>
                <a:spcPct val="0"/>
              </a:spcAft>
              <a:defRPr/>
            </a:pPr>
            <a:endParaRPr lang="en-US" sz="900" b="1" kern="0" dirty="0">
              <a:solidFill>
                <a:srgbClr val="000000"/>
              </a:solidFill>
            </a:endParaRP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 acc;</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acc += *</a:t>
            </a:r>
            <a:r>
              <a:rPr lang="en-US" sz="900" b="1" kern="0" dirty="0" err="1">
                <a:solidFill>
                  <a:srgbClr val="000000"/>
                </a:solidFill>
              </a:rPr>
              <a:t>d_i</a:t>
            </a:r>
            <a:r>
              <a:rPr lang="en-US" sz="900" b="1" kern="0" dirty="0">
                <a:solidFill>
                  <a:srgbClr val="000000"/>
                </a:solidFill>
              </a:rPr>
              <a:t>;</a:t>
            </a:r>
          </a:p>
          <a:p>
            <a:pPr lvl="0" fontAlgn="base">
              <a:spcBef>
                <a:spcPct val="0"/>
              </a:spcBef>
              <a:spcAft>
                <a:spcPct val="0"/>
              </a:spcAft>
              <a:defRPr/>
            </a:pPr>
            <a:r>
              <a:rPr lang="en-US" sz="900" b="1" kern="0" dirty="0">
                <a:solidFill>
                  <a:srgbClr val="000000"/>
                </a:solidFill>
              </a:rPr>
              <a:t> *</a:t>
            </a:r>
            <a:r>
              <a:rPr lang="en-US" sz="900" b="1" kern="0" dirty="0" err="1">
                <a:solidFill>
                  <a:srgbClr val="000000"/>
                </a:solidFill>
              </a:rPr>
              <a:t>d_o</a:t>
            </a:r>
            <a:r>
              <a:rPr lang="en-US" sz="900" b="1" kern="0" dirty="0">
                <a:solidFill>
                  <a:srgbClr val="000000"/>
                </a:solidFill>
              </a:rPr>
              <a:t> = acc;</a:t>
            </a:r>
          </a:p>
          <a:p>
            <a:pPr lvl="0" fontAlgn="base">
              <a:spcBef>
                <a:spcPct val="0"/>
              </a:spcBef>
              <a:spcAft>
                <a:spcPct val="0"/>
              </a:spcAft>
              <a:defRPr/>
            </a:pPr>
            <a:r>
              <a:rPr lang="en-US" sz="900" b="1" kern="0" dirty="0">
                <a:solidFill>
                  <a:srgbClr val="000000"/>
                </a:solidFill>
              </a:rPr>
              <a:t>}</a:t>
            </a:r>
            <a:endParaRPr lang="en-US" sz="900" b="1" kern="0" dirty="0">
              <a:solidFill>
                <a:srgbClr val="000000"/>
              </a:solidFill>
              <a:latin typeface="Arial"/>
            </a:endParaRPr>
          </a:p>
        </p:txBody>
      </p:sp>
      <p:sp>
        <p:nvSpPr>
          <p:cNvPr id="13" name="Slide Number Placeholder 5">
            <a:extLst>
              <a:ext uri="{FF2B5EF4-FFF2-40B4-BE49-F238E27FC236}">
                <a16:creationId xmlns:a16="http://schemas.microsoft.com/office/drawing/2014/main" id="{C738C81A-87A0-405F-8CF8-9BEEFF6B2857}"/>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47</a:t>
            </a:fld>
            <a:endParaRPr lang="en-US" dirty="0"/>
          </a:p>
        </p:txBody>
      </p:sp>
    </p:spTree>
    <p:extLst>
      <p:ext uri="{BB962C8B-B14F-4D97-AF65-F5344CB8AC3E}">
        <p14:creationId xmlns:p14="http://schemas.microsoft.com/office/powerpoint/2010/main" val="14127719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trike="sngStrike" dirty="0"/>
              <a:t>Multi-Access Pointers: Use Volatile!!!</a:t>
            </a:r>
          </a:p>
        </p:txBody>
      </p:sp>
      <p:sp>
        <p:nvSpPr>
          <p:cNvPr id="4" name="Content Placeholder 3"/>
          <p:cNvSpPr>
            <a:spLocks noGrp="1"/>
          </p:cNvSpPr>
          <p:nvPr>
            <p:ph idx="1"/>
          </p:nvPr>
        </p:nvSpPr>
        <p:spPr/>
        <p:txBody>
          <a:bodyPr>
            <a:normAutofit/>
          </a:bodyPr>
          <a:lstStyle/>
          <a:p>
            <a:r>
              <a:rPr lang="en-US" dirty="0"/>
              <a:t>Without Volatile</a:t>
            </a:r>
          </a:p>
          <a:p>
            <a:endParaRPr lang="en-US" dirty="0"/>
          </a:p>
          <a:p>
            <a:endParaRPr lang="en-US" dirty="0"/>
          </a:p>
          <a:p>
            <a:endParaRPr lang="en-US" dirty="0"/>
          </a:p>
          <a:p>
            <a:pPr>
              <a:buNone/>
            </a:pPr>
            <a:endParaRPr lang="en-US" dirty="0"/>
          </a:p>
          <a:p>
            <a:r>
              <a:rPr lang="en-US" sz="2000" dirty="0"/>
              <a:t>C compilers will optimize to 1 read </a:t>
            </a:r>
            <a:br>
              <a:rPr lang="en-US" sz="2000" dirty="0"/>
            </a:br>
            <a:r>
              <a:rPr lang="en-US" sz="2000" dirty="0"/>
              <a:t>and 1 write</a:t>
            </a:r>
          </a:p>
          <a:p>
            <a:r>
              <a:rPr lang="en-US" sz="2000" dirty="0" err="1"/>
              <a:t>Vivado</a:t>
            </a:r>
            <a:r>
              <a:rPr lang="en-US" sz="2000" dirty="0"/>
              <a:t> HLS will create a design with 1 read </a:t>
            </a:r>
            <a:br>
              <a:rPr lang="en-US" sz="2000" dirty="0"/>
            </a:br>
            <a:r>
              <a:rPr lang="en-US" sz="2000" dirty="0"/>
              <a:t>and 1 write</a:t>
            </a:r>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99D29FBF-A473-46DA-BC14-675AC1C8F9A5}" type="slidenum">
              <a:rPr lang="en-US">
                <a:solidFill>
                  <a:srgbClr val="0C0C0C">
                    <a:tint val="75000"/>
                  </a:srgbClr>
                </a:solidFill>
                <a:latin typeface="Arial"/>
              </a:rPr>
              <a:pPr defTabSz="914400">
                <a:defRPr/>
              </a:pPr>
              <a:t>48</a:t>
            </a:fld>
            <a:endParaRPr lang="en-US" dirty="0">
              <a:solidFill>
                <a:srgbClr val="0C0C0C">
                  <a:tint val="75000"/>
                </a:srgbClr>
              </a:solidFill>
              <a:latin typeface="Arial"/>
            </a:endParaRPr>
          </a:p>
        </p:txBody>
      </p:sp>
      <p:sp>
        <p:nvSpPr>
          <p:cNvPr id="6" name="Content Placeholder 5"/>
          <p:cNvSpPr>
            <a:spLocks noGrp="1"/>
          </p:cNvSpPr>
          <p:nvPr>
            <p:ph sz="half" idx="4294967295"/>
          </p:nvPr>
        </p:nvSpPr>
        <p:spPr>
          <a:xfrm>
            <a:off x="7010401" y="1463676"/>
            <a:ext cx="5180012" cy="4835525"/>
          </a:xfrm>
          <a:prstGeom prst="rect">
            <a:avLst/>
          </a:prstGeom>
        </p:spPr>
        <p:txBody>
          <a:bodyPr>
            <a:normAutofit/>
          </a:bodyPr>
          <a:lstStyle/>
          <a:p>
            <a:r>
              <a:rPr lang="en-US" dirty="0"/>
              <a:t>With Volatile</a:t>
            </a:r>
          </a:p>
          <a:p>
            <a:endParaRPr lang="en-US" dirty="0"/>
          </a:p>
          <a:p>
            <a:endParaRPr lang="en-US" dirty="0"/>
          </a:p>
          <a:p>
            <a:endParaRPr lang="en-US" dirty="0"/>
          </a:p>
          <a:p>
            <a:pPr>
              <a:buNone/>
            </a:pPr>
            <a:endParaRPr lang="en-US" dirty="0"/>
          </a:p>
          <a:p>
            <a:r>
              <a:rPr lang="en-US" dirty="0"/>
              <a:t>C Compilers will not optimize the IO accesses</a:t>
            </a:r>
          </a:p>
          <a:p>
            <a:pPr lvl="1"/>
            <a:r>
              <a:rPr lang="en-US" dirty="0"/>
              <a:t>Will assume the pointer value may change outside the scope of the function &amp; leave the accesses</a:t>
            </a:r>
          </a:p>
          <a:p>
            <a:r>
              <a:rPr lang="en-US" dirty="0" err="1"/>
              <a:t>Vivado</a:t>
            </a:r>
            <a:r>
              <a:rPr lang="en-US" dirty="0"/>
              <a:t> HLS will create a design with 4 reads and 2 write</a:t>
            </a:r>
          </a:p>
        </p:txBody>
      </p:sp>
      <p:sp>
        <p:nvSpPr>
          <p:cNvPr id="9" name="TextBox 8"/>
          <p:cNvSpPr txBox="1"/>
          <p:nvPr/>
        </p:nvSpPr>
        <p:spPr>
          <a:xfrm>
            <a:off x="771894" y="5283642"/>
            <a:ext cx="5324106"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To complicate matters, if the IF condition is complex, </a:t>
            </a:r>
            <a:r>
              <a:rPr lang="en-US" sz="1400" b="1" dirty="0" err="1">
                <a:solidFill>
                  <a:srgbClr val="0C0C0C"/>
                </a:solidFill>
                <a:latin typeface="Arial"/>
              </a:rPr>
              <a:t>Vivado</a:t>
            </a:r>
            <a:r>
              <a:rPr lang="en-US" sz="1400" b="1" dirty="0">
                <a:solidFill>
                  <a:srgbClr val="0C0C0C"/>
                </a:solidFill>
                <a:latin typeface="Arial"/>
              </a:rPr>
              <a:t> HLS may not be able to optimize the accesses into 1</a:t>
            </a:r>
          </a:p>
        </p:txBody>
      </p:sp>
      <p:sp>
        <p:nvSpPr>
          <p:cNvPr id="11" name="TextBox 10">
            <a:extLst>
              <a:ext uri="{FF2B5EF4-FFF2-40B4-BE49-F238E27FC236}">
                <a16:creationId xmlns:a16="http://schemas.microsoft.com/office/drawing/2014/main" id="{F3E7C923-647F-4151-8C17-F978777AF1CE}"/>
              </a:ext>
            </a:extLst>
          </p:cNvPr>
          <p:cNvSpPr txBox="1"/>
          <p:nvPr/>
        </p:nvSpPr>
        <p:spPr>
          <a:xfrm>
            <a:off x="886195" y="1980787"/>
            <a:ext cx="2457280"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fifo</a:t>
            </a:r>
            <a:r>
              <a:rPr lang="en-US" sz="900" b="1" kern="0" dirty="0">
                <a:solidFill>
                  <a:srgbClr val="000000"/>
                </a:solidFill>
                <a:latin typeface="Arial"/>
              </a:rPr>
              <a:t> (int *</a:t>
            </a:r>
            <a:r>
              <a:rPr lang="en-US" sz="900" b="1" kern="0" dirty="0" err="1">
                <a:solidFill>
                  <a:srgbClr val="000000"/>
                </a:solidFill>
                <a:latin typeface="Arial"/>
              </a:rPr>
              <a:t>d_o</a:t>
            </a:r>
            <a:r>
              <a:rPr lang="en-US" sz="900" b="1" kern="0" dirty="0">
                <a:solidFill>
                  <a:srgbClr val="000000"/>
                </a:solidFill>
                <a:latin typeface="Arial"/>
              </a:rPr>
              <a:t>, </a:t>
            </a:r>
            <a:br>
              <a:rPr lang="en-US" sz="900" b="1" kern="0" dirty="0">
                <a:solidFill>
                  <a:srgbClr val="000000"/>
                </a:solidFill>
                <a:latin typeface="Arial"/>
              </a:rPr>
            </a:br>
            <a:r>
              <a:rPr lang="en-US" sz="900" b="1" kern="0" dirty="0">
                <a:solidFill>
                  <a:srgbClr val="000000"/>
                </a:solidFill>
                <a:latin typeface="Arial"/>
              </a:rPr>
              <a:t>                int *</a:t>
            </a:r>
            <a:r>
              <a:rPr lang="en-US" sz="900" b="1" kern="0" dirty="0" err="1">
                <a:solidFill>
                  <a:srgbClr val="000000"/>
                </a:solidFill>
                <a:latin typeface="Arial"/>
              </a:rPr>
              <a:t>d_i</a:t>
            </a: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cnt</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cnt</a:t>
            </a:r>
            <a:r>
              <a:rPr lang="en-US" sz="900" b="1" kern="0" dirty="0">
                <a:solidFill>
                  <a:srgbClr val="000000"/>
                </a:solidFill>
                <a:latin typeface="Arial"/>
              </a:rPr>
              <a:t>=0;cnt&lt;4;cnt++)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d_i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if (cnt%2==1) {</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d_o</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a:t>
            </a:r>
          </a:p>
        </p:txBody>
      </p:sp>
      <p:sp>
        <p:nvSpPr>
          <p:cNvPr id="12" name="TextBox 11">
            <a:extLst>
              <a:ext uri="{FF2B5EF4-FFF2-40B4-BE49-F238E27FC236}">
                <a16:creationId xmlns:a16="http://schemas.microsoft.com/office/drawing/2014/main" id="{C03D9B48-AAA5-4A85-8136-056AFF4A1FC0}"/>
              </a:ext>
            </a:extLst>
          </p:cNvPr>
          <p:cNvSpPr txBox="1"/>
          <p:nvPr/>
        </p:nvSpPr>
        <p:spPr>
          <a:xfrm>
            <a:off x="6757974" y="1981092"/>
            <a:ext cx="2303700"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fifo</a:t>
            </a:r>
            <a:r>
              <a:rPr lang="en-US" sz="900" b="1" kern="0" dirty="0">
                <a:solidFill>
                  <a:srgbClr val="000000"/>
                </a:solidFill>
                <a:latin typeface="Arial"/>
              </a:rPr>
              <a:t> (</a:t>
            </a:r>
            <a:r>
              <a:rPr lang="en-US" sz="900" b="1" kern="0" dirty="0">
                <a:solidFill>
                  <a:srgbClr val="000000"/>
                </a:solidFill>
                <a:latin typeface="Arial Black" pitchFamily="34" charset="0"/>
              </a:rPr>
              <a:t>volatile</a:t>
            </a:r>
            <a:r>
              <a:rPr lang="en-US" sz="900" b="1" kern="0" dirty="0">
                <a:solidFill>
                  <a:srgbClr val="000000"/>
                </a:solidFill>
                <a:latin typeface="Arial"/>
              </a:rPr>
              <a:t> int *</a:t>
            </a:r>
            <a:r>
              <a:rPr lang="en-US" sz="900" b="1" kern="0" dirty="0" err="1">
                <a:solidFill>
                  <a:srgbClr val="000000"/>
                </a:solidFill>
                <a:latin typeface="Arial"/>
              </a:rPr>
              <a:t>d_o</a:t>
            </a: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Black" pitchFamily="34" charset="0"/>
              </a:rPr>
              <a:t>             volatile</a:t>
            </a:r>
            <a:r>
              <a:rPr lang="en-US" sz="900" b="1" kern="0" dirty="0">
                <a:solidFill>
                  <a:srgbClr val="000000"/>
                </a:solidFill>
                <a:latin typeface="Arial"/>
              </a:rPr>
              <a:t> int *</a:t>
            </a:r>
            <a:r>
              <a:rPr lang="en-US" sz="900" b="1" kern="0" dirty="0" err="1">
                <a:solidFill>
                  <a:srgbClr val="000000"/>
                </a:solidFill>
                <a:latin typeface="Arial"/>
              </a:rPr>
              <a:t>d_i</a:t>
            </a: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cnt</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cnt</a:t>
            </a:r>
            <a:r>
              <a:rPr lang="en-US" sz="900" b="1" kern="0" dirty="0">
                <a:solidFill>
                  <a:srgbClr val="000000"/>
                </a:solidFill>
                <a:latin typeface="Arial"/>
              </a:rPr>
              <a:t>=0;cnt&lt;4;cnt++)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d_i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if (cnt%2==1) {</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d_o</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Use Volatile!!!</a:t>
            </a:r>
          </a:p>
        </p:txBody>
      </p:sp>
      <p:sp>
        <p:nvSpPr>
          <p:cNvPr id="4" name="Content Placeholder 3"/>
          <p:cNvSpPr>
            <a:spLocks noGrp="1"/>
          </p:cNvSpPr>
          <p:nvPr>
            <p:ph idx="1"/>
          </p:nvPr>
        </p:nvSpPr>
        <p:spPr/>
        <p:txBody>
          <a:bodyPr>
            <a:normAutofit/>
          </a:bodyPr>
          <a:lstStyle/>
          <a:p>
            <a:r>
              <a:rPr lang="en-US" dirty="0"/>
              <a:t>Without Volatile</a:t>
            </a:r>
          </a:p>
          <a:p>
            <a:endParaRPr lang="en-US" dirty="0"/>
          </a:p>
          <a:p>
            <a:endParaRPr lang="en-US" dirty="0"/>
          </a:p>
          <a:p>
            <a:endParaRPr lang="en-US" dirty="0"/>
          </a:p>
          <a:p>
            <a:pPr>
              <a:buNone/>
            </a:pPr>
            <a:endParaRPr lang="en-US" dirty="0"/>
          </a:p>
          <a:p>
            <a:r>
              <a:rPr lang="en-US" sz="2000" dirty="0"/>
              <a:t>C compilers will optimize to 1 read </a:t>
            </a:r>
            <a:br>
              <a:rPr lang="en-US" sz="2000" dirty="0"/>
            </a:br>
            <a:r>
              <a:rPr lang="en-US" sz="2000" dirty="0"/>
              <a:t>and 1 write</a:t>
            </a:r>
          </a:p>
          <a:p>
            <a:r>
              <a:rPr lang="en-US" sz="2000" dirty="0" err="1">
                <a:highlight>
                  <a:srgbClr val="FFFF00"/>
                </a:highlight>
              </a:rPr>
              <a:t>Vi</a:t>
            </a:r>
            <a:r>
              <a:rPr lang="en-US" altLang="zh-CN" sz="2000" dirty="0" err="1">
                <a:highlight>
                  <a:srgbClr val="FFFF00"/>
                </a:highlight>
              </a:rPr>
              <a:t>tis</a:t>
            </a:r>
            <a:r>
              <a:rPr lang="en-US" sz="2000" dirty="0"/>
              <a:t> HLS will create a design with 1 read </a:t>
            </a:r>
            <a:br>
              <a:rPr lang="en-US" sz="2000" dirty="0"/>
            </a:br>
            <a:r>
              <a:rPr lang="en-US" sz="2000" dirty="0"/>
              <a:t>and 1 write</a:t>
            </a:r>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99D29FBF-A473-46DA-BC14-675AC1C8F9A5}" type="slidenum">
              <a:rPr lang="en-US">
                <a:solidFill>
                  <a:srgbClr val="0C0C0C">
                    <a:tint val="75000"/>
                  </a:srgbClr>
                </a:solidFill>
                <a:latin typeface="Arial"/>
              </a:rPr>
              <a:pPr defTabSz="914400">
                <a:defRPr/>
              </a:pPr>
              <a:t>49</a:t>
            </a:fld>
            <a:endParaRPr lang="en-US" dirty="0">
              <a:solidFill>
                <a:srgbClr val="0C0C0C">
                  <a:tint val="75000"/>
                </a:srgbClr>
              </a:solidFill>
              <a:latin typeface="Arial"/>
            </a:endParaRPr>
          </a:p>
        </p:txBody>
      </p:sp>
      <p:sp>
        <p:nvSpPr>
          <p:cNvPr id="6" name="Content Placeholder 5"/>
          <p:cNvSpPr>
            <a:spLocks noGrp="1"/>
          </p:cNvSpPr>
          <p:nvPr>
            <p:ph sz="half" idx="4294967295"/>
          </p:nvPr>
        </p:nvSpPr>
        <p:spPr>
          <a:xfrm>
            <a:off x="7010401" y="1463676"/>
            <a:ext cx="5180012" cy="4835525"/>
          </a:xfrm>
          <a:prstGeom prst="rect">
            <a:avLst/>
          </a:prstGeom>
        </p:spPr>
        <p:txBody>
          <a:bodyPr>
            <a:normAutofit/>
          </a:bodyPr>
          <a:lstStyle/>
          <a:p>
            <a:r>
              <a:rPr lang="en-US" dirty="0"/>
              <a:t>With Volatile</a:t>
            </a:r>
          </a:p>
          <a:p>
            <a:endParaRPr lang="en-US" dirty="0"/>
          </a:p>
          <a:p>
            <a:endParaRPr lang="en-US" dirty="0"/>
          </a:p>
          <a:p>
            <a:endParaRPr lang="en-US" dirty="0"/>
          </a:p>
          <a:p>
            <a:pPr>
              <a:buNone/>
            </a:pPr>
            <a:endParaRPr lang="en-US" dirty="0"/>
          </a:p>
          <a:p>
            <a:r>
              <a:rPr lang="en-US" dirty="0"/>
              <a:t>C Compilers will not optimize the IO accesses</a:t>
            </a:r>
          </a:p>
          <a:p>
            <a:pPr lvl="1"/>
            <a:r>
              <a:rPr lang="en-US" dirty="0"/>
              <a:t>Will assume the pointer value may change outside the scope of the function &amp; leave the accesses</a:t>
            </a:r>
          </a:p>
          <a:p>
            <a:r>
              <a:rPr lang="en-US" dirty="0" err="1">
                <a:highlight>
                  <a:srgbClr val="FFFF00"/>
                </a:highlight>
              </a:rPr>
              <a:t>Vitis</a:t>
            </a:r>
            <a:r>
              <a:rPr lang="en-US" dirty="0"/>
              <a:t> HLS will create a design with 4 reads and 2 write</a:t>
            </a:r>
          </a:p>
        </p:txBody>
      </p:sp>
      <p:sp>
        <p:nvSpPr>
          <p:cNvPr id="9" name="TextBox 8"/>
          <p:cNvSpPr txBox="1"/>
          <p:nvPr/>
        </p:nvSpPr>
        <p:spPr>
          <a:xfrm>
            <a:off x="771894" y="5283642"/>
            <a:ext cx="5324106" cy="523220"/>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To complicate matters, if the IF condition is complex, </a:t>
            </a:r>
            <a:r>
              <a:rPr lang="en-US" sz="1400" b="1" dirty="0" err="1">
                <a:solidFill>
                  <a:srgbClr val="FF0000"/>
                </a:solidFill>
                <a:latin typeface="Arial"/>
              </a:rPr>
              <a:t>Vitis</a:t>
            </a:r>
            <a:r>
              <a:rPr lang="en-US" sz="1400" b="1" dirty="0">
                <a:solidFill>
                  <a:srgbClr val="0C0C0C"/>
                </a:solidFill>
                <a:latin typeface="Arial"/>
              </a:rPr>
              <a:t> HLS may not be able to optimize the accesses into 1</a:t>
            </a:r>
          </a:p>
        </p:txBody>
      </p:sp>
      <p:sp>
        <p:nvSpPr>
          <p:cNvPr id="11" name="TextBox 10">
            <a:extLst>
              <a:ext uri="{FF2B5EF4-FFF2-40B4-BE49-F238E27FC236}">
                <a16:creationId xmlns:a16="http://schemas.microsoft.com/office/drawing/2014/main" id="{F3E7C923-647F-4151-8C17-F978777AF1CE}"/>
              </a:ext>
            </a:extLst>
          </p:cNvPr>
          <p:cNvSpPr txBox="1"/>
          <p:nvPr/>
        </p:nvSpPr>
        <p:spPr>
          <a:xfrm>
            <a:off x="931246" y="1978057"/>
            <a:ext cx="2457280"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highlight>
                  <a:srgbClr val="FFFF00"/>
                </a:highlight>
                <a:latin typeface="Arial"/>
              </a:rPr>
              <a:t>void </a:t>
            </a:r>
            <a:r>
              <a:rPr lang="en-US" sz="900" b="1" kern="0" dirty="0" err="1">
                <a:solidFill>
                  <a:srgbClr val="000000"/>
                </a:solidFill>
                <a:highlight>
                  <a:srgbClr val="FFFF00"/>
                </a:highlight>
                <a:latin typeface="Arial"/>
              </a:rPr>
              <a:t>pointer_stream_bad</a:t>
            </a:r>
            <a:r>
              <a:rPr lang="en-US" sz="900" b="1" kern="0" dirty="0">
                <a:solidFill>
                  <a:srgbClr val="000000"/>
                </a:solidFill>
                <a:highlight>
                  <a:srgbClr val="FFFF00"/>
                </a:highlight>
                <a:latin typeface="Arial"/>
              </a:rPr>
              <a:t> ( </a:t>
            </a:r>
            <a:r>
              <a:rPr lang="en-US" sz="900" b="1" kern="0" dirty="0" err="1">
                <a:solidFill>
                  <a:srgbClr val="000000"/>
                </a:solidFill>
                <a:highlight>
                  <a:srgbClr val="FFFF00"/>
                </a:highlight>
                <a:latin typeface="Arial"/>
              </a:rPr>
              <a:t>dout_t</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din_t</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 {</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din_t</a:t>
            </a:r>
            <a:r>
              <a:rPr lang="en-US" sz="900" b="1" kern="0" dirty="0">
                <a:solidFill>
                  <a:srgbClr val="000000"/>
                </a:solidFill>
                <a:highlight>
                  <a:srgbClr val="FFFF00"/>
                </a:highlight>
                <a:latin typeface="Arial"/>
              </a:rPr>
              <a:t> acc = 0;</a:t>
            </a:r>
          </a:p>
          <a:p>
            <a:pPr defTabSz="914400" fontAlgn="base">
              <a:spcBef>
                <a:spcPct val="0"/>
              </a:spcBef>
              <a:spcAft>
                <a:spcPct val="0"/>
              </a:spcAft>
              <a:defRPr/>
            </a:pPr>
            <a:endParaRPr lang="en-US" sz="900" b="1" kern="0" dirty="0">
              <a:solidFill>
                <a:srgbClr val="000000"/>
              </a:solidFill>
              <a:highlight>
                <a:srgbClr val="FFFF00"/>
              </a:highlight>
              <a:latin typeface="Arial"/>
            </a:endParaRP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 acc;</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 acc;</a:t>
            </a:r>
          </a:p>
          <a:p>
            <a:pPr defTabSz="914400" fontAlgn="base">
              <a:spcBef>
                <a:spcPct val="0"/>
              </a:spcBef>
              <a:spcAft>
                <a:spcPct val="0"/>
              </a:spcAft>
              <a:defRPr/>
            </a:pPr>
            <a:r>
              <a:rPr lang="en-US" sz="900" b="1" kern="0" dirty="0">
                <a:solidFill>
                  <a:srgbClr val="000000"/>
                </a:solidFill>
                <a:highlight>
                  <a:srgbClr val="FFFF00"/>
                </a:highlight>
                <a:latin typeface="Arial"/>
              </a:rPr>
              <a:t>}</a:t>
            </a:r>
          </a:p>
        </p:txBody>
      </p:sp>
      <p:sp>
        <p:nvSpPr>
          <p:cNvPr id="12" name="TextBox 11">
            <a:extLst>
              <a:ext uri="{FF2B5EF4-FFF2-40B4-BE49-F238E27FC236}">
                <a16:creationId xmlns:a16="http://schemas.microsoft.com/office/drawing/2014/main" id="{C03D9B48-AAA5-4A85-8136-056AFF4A1FC0}"/>
              </a:ext>
            </a:extLst>
          </p:cNvPr>
          <p:cNvSpPr txBox="1"/>
          <p:nvPr/>
        </p:nvSpPr>
        <p:spPr>
          <a:xfrm>
            <a:off x="7446108" y="1978056"/>
            <a:ext cx="2303700"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highlight>
                  <a:srgbClr val="FFFF00"/>
                </a:highlight>
                <a:latin typeface="Arial"/>
              </a:rPr>
              <a:t>void </a:t>
            </a:r>
            <a:r>
              <a:rPr lang="en-US" sz="900" b="1" kern="0" dirty="0" err="1">
                <a:solidFill>
                  <a:srgbClr val="000000"/>
                </a:solidFill>
                <a:highlight>
                  <a:srgbClr val="FFFF00"/>
                </a:highlight>
                <a:latin typeface="Arial"/>
              </a:rPr>
              <a:t>pointer_stream_better</a:t>
            </a:r>
            <a:r>
              <a:rPr lang="en-US" sz="900" b="1" kern="0" dirty="0">
                <a:solidFill>
                  <a:srgbClr val="000000"/>
                </a:solidFill>
                <a:highlight>
                  <a:srgbClr val="FFFF00"/>
                </a:highlight>
                <a:latin typeface="Arial"/>
              </a:rPr>
              <a:t> ( volatile </a:t>
            </a:r>
            <a:r>
              <a:rPr lang="en-US" sz="900" b="1" kern="0" dirty="0" err="1">
                <a:solidFill>
                  <a:srgbClr val="000000"/>
                </a:solidFill>
                <a:highlight>
                  <a:srgbClr val="FFFF00"/>
                </a:highlight>
                <a:latin typeface="Arial"/>
              </a:rPr>
              <a:t>dout_t</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volatile </a:t>
            </a:r>
            <a:r>
              <a:rPr lang="en-US" sz="900" b="1" kern="0" dirty="0" err="1">
                <a:solidFill>
                  <a:srgbClr val="000000"/>
                </a:solidFill>
                <a:highlight>
                  <a:srgbClr val="FFFF00"/>
                </a:highlight>
                <a:latin typeface="Arial"/>
              </a:rPr>
              <a:t>din_t</a:t>
            </a: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 {</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din_t</a:t>
            </a:r>
            <a:r>
              <a:rPr lang="en-US" sz="900" b="1" kern="0" dirty="0">
                <a:solidFill>
                  <a:srgbClr val="000000"/>
                </a:solidFill>
                <a:highlight>
                  <a:srgbClr val="FFFF00"/>
                </a:highlight>
                <a:latin typeface="Arial"/>
              </a:rPr>
              <a:t> acc = 0;</a:t>
            </a:r>
          </a:p>
          <a:p>
            <a:pPr defTabSz="914400" fontAlgn="base">
              <a:spcBef>
                <a:spcPct val="0"/>
              </a:spcBef>
              <a:spcAft>
                <a:spcPct val="0"/>
              </a:spcAft>
              <a:defRPr/>
            </a:pPr>
            <a:endParaRPr lang="en-US" sz="900" b="1" kern="0" dirty="0">
              <a:solidFill>
                <a:srgbClr val="000000"/>
              </a:solidFill>
              <a:highlight>
                <a:srgbClr val="FFFF00"/>
              </a:highlight>
              <a:latin typeface="Arial"/>
            </a:endParaRP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 acc;</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acc += *</a:t>
            </a:r>
            <a:r>
              <a:rPr lang="en-US" sz="900" b="1" kern="0" dirty="0" err="1">
                <a:solidFill>
                  <a:srgbClr val="000000"/>
                </a:solidFill>
                <a:highlight>
                  <a:srgbClr val="FFFF00"/>
                </a:highlight>
                <a:latin typeface="Arial"/>
              </a:rPr>
              <a:t>d_i</a:t>
            </a:r>
            <a:r>
              <a:rPr lang="en-US" sz="900" b="1" kern="0" dirty="0">
                <a:solidFill>
                  <a:srgbClr val="000000"/>
                </a:solidFill>
                <a:highlight>
                  <a:srgbClr val="FFFF00"/>
                </a:highlight>
                <a:latin typeface="Arial"/>
              </a:rPr>
              <a:t>;</a:t>
            </a:r>
          </a:p>
          <a:p>
            <a:pPr defTabSz="914400" fontAlgn="base">
              <a:spcBef>
                <a:spcPct val="0"/>
              </a:spcBef>
              <a:spcAft>
                <a:spcPct val="0"/>
              </a:spcAft>
              <a:defRPr/>
            </a:pPr>
            <a:r>
              <a:rPr lang="en-US" sz="900" b="1" kern="0" dirty="0">
                <a:solidFill>
                  <a:srgbClr val="000000"/>
                </a:solidFill>
                <a:highlight>
                  <a:srgbClr val="FFFF00"/>
                </a:highlight>
                <a:latin typeface="Arial"/>
              </a:rPr>
              <a:t> *</a:t>
            </a:r>
            <a:r>
              <a:rPr lang="en-US" sz="900" b="1" kern="0" dirty="0" err="1">
                <a:solidFill>
                  <a:srgbClr val="000000"/>
                </a:solidFill>
                <a:highlight>
                  <a:srgbClr val="FFFF00"/>
                </a:highlight>
                <a:latin typeface="Arial"/>
              </a:rPr>
              <a:t>d_o</a:t>
            </a:r>
            <a:r>
              <a:rPr lang="en-US" sz="900" b="1" kern="0" dirty="0">
                <a:solidFill>
                  <a:srgbClr val="000000"/>
                </a:solidFill>
                <a:highlight>
                  <a:srgbClr val="FFFF00"/>
                </a:highlight>
                <a:latin typeface="Arial"/>
              </a:rPr>
              <a:t> = acc;</a:t>
            </a:r>
          </a:p>
          <a:p>
            <a:pPr defTabSz="914400" fontAlgn="base">
              <a:spcBef>
                <a:spcPct val="0"/>
              </a:spcBef>
              <a:spcAft>
                <a:spcPct val="0"/>
              </a:spcAft>
              <a:defRPr/>
            </a:pPr>
            <a:r>
              <a:rPr lang="en-US" sz="900" b="1" kern="0" dirty="0">
                <a:solidFill>
                  <a:srgbClr val="000000"/>
                </a:solidFill>
                <a:highlight>
                  <a:srgbClr val="FFFF00"/>
                </a:highlight>
                <a:latin typeface="Arial"/>
              </a:rPr>
              <a:t>}</a:t>
            </a:r>
          </a:p>
        </p:txBody>
      </p:sp>
    </p:spTree>
    <p:extLst>
      <p:ext uri="{BB962C8B-B14F-4D97-AF65-F5344CB8AC3E}">
        <p14:creationId xmlns:p14="http://schemas.microsoft.com/office/powerpoint/2010/main" val="13379365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the effect of volatile</a:t>
            </a:r>
          </a:p>
        </p:txBody>
      </p:sp>
      <p:sp>
        <p:nvSpPr>
          <p:cNvPr id="3" name="Content Placeholder 2"/>
          <p:cNvSpPr>
            <a:spLocks noGrp="1"/>
          </p:cNvSpPr>
          <p:nvPr>
            <p:ph idx="1"/>
          </p:nvPr>
        </p:nvSpPr>
        <p:spPr/>
        <p:txBody>
          <a:bodyPr/>
          <a:lstStyle/>
          <a:p>
            <a:r>
              <a:rPr lang="en-US" dirty="0"/>
              <a:t>Easier to see with a simple example</a:t>
            </a:r>
          </a:p>
        </p:txBody>
      </p:sp>
      <p:sp>
        <p:nvSpPr>
          <p:cNvPr id="16" name="TextBox 15"/>
          <p:cNvSpPr txBox="1"/>
          <p:nvPr/>
        </p:nvSpPr>
        <p:spPr>
          <a:xfrm>
            <a:off x="6966287" y="1124701"/>
            <a:ext cx="4300240"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400" b="1" dirty="0"/>
              <a:t>C compilers will optimize multiple accesses on the same (non-volatile) pointer into a single access : </a:t>
            </a:r>
            <a:r>
              <a:rPr lang="en-US" sz="1400" b="1" u="sng" dirty="0" err="1"/>
              <a:t>Vitis</a:t>
            </a:r>
            <a:r>
              <a:rPr lang="en-US" sz="1400" b="1" u="sng" dirty="0"/>
              <a:t> HLS matches this behavior</a:t>
            </a:r>
          </a:p>
        </p:txBody>
      </p:sp>
      <p:pic>
        <p:nvPicPr>
          <p:cNvPr id="18" name="Picture 17" descr="402a.PNG">
            <a:extLst>
              <a:ext uri="{FF2B5EF4-FFF2-40B4-BE49-F238E27FC236}">
                <a16:creationId xmlns:a16="http://schemas.microsoft.com/office/drawing/2014/main" id="{7D189CCE-D058-4854-840E-08A4595BBD56}"/>
              </a:ext>
            </a:extLst>
          </p:cNvPr>
          <p:cNvPicPr>
            <a:picLocks noChangeAspect="1"/>
          </p:cNvPicPr>
          <p:nvPr/>
        </p:nvPicPr>
        <p:blipFill>
          <a:blip r:embed="rId2"/>
          <a:stretch>
            <a:fillRect/>
          </a:stretch>
        </p:blipFill>
        <p:spPr>
          <a:xfrm>
            <a:off x="3075595" y="1884595"/>
            <a:ext cx="8934019" cy="1865285"/>
          </a:xfrm>
          <a:prstGeom prst="rect">
            <a:avLst/>
          </a:prstGeom>
          <a:ln>
            <a:noFill/>
          </a:ln>
          <a:effectLst>
            <a:outerShdw blurRad="292100" dist="139700" dir="2700000" algn="tl" rotWithShape="0">
              <a:srgbClr val="333333">
                <a:alpha val="65000"/>
              </a:srgbClr>
            </a:outerShdw>
          </a:effectLst>
        </p:spPr>
      </p:pic>
      <p:sp>
        <p:nvSpPr>
          <p:cNvPr id="19" name="TextBox 18">
            <a:extLst>
              <a:ext uri="{FF2B5EF4-FFF2-40B4-BE49-F238E27FC236}">
                <a16:creationId xmlns:a16="http://schemas.microsoft.com/office/drawing/2014/main" id="{4253D8F4-24FB-48C6-85FE-6AD573DDCAD8}"/>
              </a:ext>
            </a:extLst>
          </p:cNvPr>
          <p:cNvSpPr txBox="1"/>
          <p:nvPr/>
        </p:nvSpPr>
        <p:spPr>
          <a:xfrm>
            <a:off x="361168" y="1807785"/>
            <a:ext cx="2559667" cy="20313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fontAlgn="base">
              <a:spcBef>
                <a:spcPct val="0"/>
              </a:spcBef>
              <a:spcAft>
                <a:spcPct val="0"/>
              </a:spcAft>
              <a:tabLst>
                <a:tab pos="457200" algn="l"/>
              </a:tabLst>
              <a:defRPr/>
            </a:pPr>
            <a:r>
              <a:rPr lang="en-US" sz="900" kern="0" dirty="0">
                <a:solidFill>
                  <a:srgbClr val="000000"/>
                </a:solidFill>
                <a:latin typeface="Arial"/>
              </a:rPr>
              <a:t>void </a:t>
            </a:r>
            <a:r>
              <a:rPr lang="en-US" sz="900" kern="0" dirty="0" err="1">
                <a:solidFill>
                  <a:srgbClr val="000000"/>
                </a:solidFill>
              </a:rPr>
              <a:t>pointer_stream_bad</a:t>
            </a:r>
            <a:r>
              <a:rPr lang="en-US" sz="900" kern="0" dirty="0">
                <a:solidFill>
                  <a:srgbClr val="000000"/>
                </a:solidFill>
              </a:rPr>
              <a:t> </a:t>
            </a: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int</a:t>
            </a: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int</a:t>
            </a:r>
            <a:r>
              <a:rPr lang="en-US" sz="900" kern="0" dirty="0">
                <a:solidFill>
                  <a:srgbClr val="000000"/>
                </a:solidFill>
                <a:latin typeface="Arial"/>
              </a:rPr>
              <a:t> *</a:t>
            </a:r>
            <a:r>
              <a:rPr lang="en-US" sz="900" kern="0" dirty="0" err="1">
                <a:solidFill>
                  <a:srgbClr val="000000"/>
                </a:solidFill>
                <a:latin typeface="Arial"/>
              </a:rPr>
              <a:t>d_i</a:t>
            </a:r>
            <a:endParaRPr lang="en-US" sz="900" kern="0" dirty="0">
              <a:solidFill>
                <a:srgbClr val="000000"/>
              </a:solidFill>
              <a:latin typeface="Arial"/>
            </a:endParaRPr>
          </a:p>
          <a:p>
            <a:pPr defTabSz="914400" fontAlgn="base">
              <a:spcBef>
                <a:spcPct val="0"/>
              </a:spcBef>
              <a:spcAft>
                <a:spcPct val="0"/>
              </a:spcAft>
              <a:tabLst>
                <a:tab pos="457200" algn="l"/>
              </a:tabLst>
              <a:defRPr/>
            </a:pP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static </a:t>
            </a:r>
            <a:r>
              <a:rPr lang="en-US" sz="900" kern="0" dirty="0" err="1">
                <a:solidFill>
                  <a:srgbClr val="000000"/>
                </a:solidFill>
                <a:latin typeface="Arial"/>
              </a:rPr>
              <a:t>int</a:t>
            </a:r>
            <a:r>
              <a:rPr lang="en-US" sz="900" kern="0" dirty="0">
                <a:solidFill>
                  <a:srgbClr val="000000"/>
                </a:solidFill>
                <a:latin typeface="Arial"/>
              </a:rPr>
              <a:t> acc = 0;</a:t>
            </a:r>
          </a:p>
          <a:p>
            <a:pPr defTabSz="914400" fontAlgn="base">
              <a:spcBef>
                <a:spcPct val="0"/>
              </a:spcBef>
              <a:spcAft>
                <a:spcPct val="0"/>
              </a:spcAft>
              <a:tabLst>
                <a:tab pos="457200" algn="l"/>
              </a:tabLst>
              <a:defRPr/>
            </a:pPr>
            <a:r>
              <a:rPr lang="en-US" sz="900" strike="sngStrike" kern="0" dirty="0">
                <a:solidFill>
                  <a:srgbClr val="000000"/>
                </a:solidFill>
                <a:latin typeface="Arial"/>
              </a:rPr>
              <a:t>  </a:t>
            </a: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endParaRPr lang="en-US" sz="900" kern="0" dirty="0">
              <a:solidFill>
                <a:srgbClr val="000000"/>
              </a:solidFill>
              <a:latin typeface="Arial"/>
            </a:endParaRP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r>
              <a:rPr lang="en-US" sz="900" kern="0" dirty="0">
                <a:solidFill>
                  <a:srgbClr val="000000"/>
                </a:solidFill>
                <a:latin typeface="Arial"/>
              </a:rPr>
              <a:t>}</a:t>
            </a:r>
          </a:p>
        </p:txBody>
      </p:sp>
      <p:sp>
        <p:nvSpPr>
          <p:cNvPr id="20" name="TextBox 19">
            <a:extLst>
              <a:ext uri="{FF2B5EF4-FFF2-40B4-BE49-F238E27FC236}">
                <a16:creationId xmlns:a16="http://schemas.microsoft.com/office/drawing/2014/main" id="{AADF35C9-1082-4027-A073-29EF418BAB94}"/>
              </a:ext>
            </a:extLst>
          </p:cNvPr>
          <p:cNvSpPr txBox="1"/>
          <p:nvPr/>
        </p:nvSpPr>
        <p:spPr>
          <a:xfrm>
            <a:off x="361168" y="4227300"/>
            <a:ext cx="2559667" cy="20313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fontAlgn="base">
              <a:spcBef>
                <a:spcPct val="0"/>
              </a:spcBef>
              <a:spcAft>
                <a:spcPct val="0"/>
              </a:spcAft>
              <a:tabLst>
                <a:tab pos="457200" algn="l"/>
              </a:tabLst>
              <a:defRPr/>
            </a:pPr>
            <a:r>
              <a:rPr lang="it-IT" sz="900" kern="0" dirty="0">
                <a:solidFill>
                  <a:srgbClr val="000000"/>
                </a:solidFill>
                <a:latin typeface="Arial"/>
              </a:rPr>
              <a:t>void  </a:t>
            </a:r>
            <a:r>
              <a:rPr lang="it-IT" sz="900" kern="0" dirty="0">
                <a:solidFill>
                  <a:srgbClr val="000000"/>
                </a:solidFill>
              </a:rPr>
              <a:t>pointer_stream_better ( </a:t>
            </a:r>
            <a:endParaRPr lang="it-IT" sz="900" kern="0" dirty="0">
              <a:solidFill>
                <a:srgbClr val="000000"/>
              </a:solidFill>
              <a:latin typeface="Arial"/>
            </a:endParaRPr>
          </a:p>
          <a:p>
            <a:pPr defTabSz="914400" fontAlgn="base">
              <a:spcBef>
                <a:spcPct val="0"/>
              </a:spcBef>
              <a:spcAft>
                <a:spcPct val="0"/>
              </a:spcAft>
              <a:tabLst>
                <a:tab pos="457200" algn="l"/>
              </a:tabLst>
              <a:defRPr/>
            </a:pPr>
            <a:r>
              <a:rPr lang="it-IT" sz="900" b="1" kern="0" dirty="0">
                <a:solidFill>
                  <a:srgbClr val="000000"/>
                </a:solidFill>
                <a:latin typeface="Arial"/>
              </a:rPr>
              <a:t>	volatile int *d_o, </a:t>
            </a:r>
          </a:p>
          <a:p>
            <a:pPr defTabSz="914400" fontAlgn="base">
              <a:spcBef>
                <a:spcPct val="0"/>
              </a:spcBef>
              <a:spcAft>
                <a:spcPct val="0"/>
              </a:spcAft>
              <a:tabLst>
                <a:tab pos="457200" algn="l"/>
              </a:tabLst>
              <a:defRPr/>
            </a:pPr>
            <a:r>
              <a:rPr lang="it-IT" sz="900" b="1" kern="0" dirty="0">
                <a:solidFill>
                  <a:srgbClr val="000000"/>
                </a:solidFill>
                <a:latin typeface="Arial"/>
              </a:rPr>
              <a:t> 	volatile int *d_i</a:t>
            </a:r>
          </a:p>
          <a:p>
            <a:pPr defTabSz="914400" fontAlgn="base">
              <a:spcBef>
                <a:spcPct val="0"/>
              </a:spcBef>
              <a:spcAft>
                <a:spcPct val="0"/>
              </a:spcAft>
              <a:tabLst>
                <a:tab pos="457200" algn="l"/>
              </a:tabLst>
              <a:defRPr/>
            </a:pPr>
            <a:r>
              <a:rPr lang="it-IT"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static </a:t>
            </a:r>
            <a:r>
              <a:rPr lang="en-US" sz="900" kern="0" dirty="0" err="1">
                <a:solidFill>
                  <a:srgbClr val="000000"/>
                </a:solidFill>
                <a:latin typeface="Arial"/>
              </a:rPr>
              <a:t>int</a:t>
            </a:r>
            <a:r>
              <a:rPr lang="en-US" sz="900" kern="0" dirty="0">
                <a:solidFill>
                  <a:srgbClr val="000000"/>
                </a:solidFill>
                <a:latin typeface="Arial"/>
              </a:rPr>
              <a:t> acc = 0;</a:t>
            </a:r>
          </a:p>
          <a:p>
            <a:pPr defTabSz="914400" fontAlgn="base">
              <a:spcBef>
                <a:spcPct val="0"/>
              </a:spcBef>
              <a:spcAft>
                <a:spcPct val="0"/>
              </a:spcAft>
              <a:tabLst>
                <a:tab pos="457200" algn="l"/>
              </a:tabLst>
              <a:defRPr/>
            </a:pP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endParaRPr lang="en-US" sz="900" kern="0" dirty="0">
              <a:solidFill>
                <a:srgbClr val="000000"/>
              </a:solidFill>
              <a:latin typeface="Arial"/>
            </a:endParaRP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r>
              <a:rPr lang="en-US" sz="900" kern="0" dirty="0">
                <a:solidFill>
                  <a:srgbClr val="000000"/>
                </a:solidFill>
                <a:latin typeface="Arial"/>
              </a:rPr>
              <a:t>}</a:t>
            </a:r>
          </a:p>
        </p:txBody>
      </p:sp>
      <p:pic>
        <p:nvPicPr>
          <p:cNvPr id="21" name="Picture 20" descr="402b.PNG">
            <a:extLst>
              <a:ext uri="{FF2B5EF4-FFF2-40B4-BE49-F238E27FC236}">
                <a16:creationId xmlns:a16="http://schemas.microsoft.com/office/drawing/2014/main" id="{647A8537-9792-40AA-A419-DCF4FA036C9C}"/>
              </a:ext>
            </a:extLst>
          </p:cNvPr>
          <p:cNvPicPr>
            <a:picLocks noChangeAspect="1"/>
          </p:cNvPicPr>
          <p:nvPr/>
        </p:nvPicPr>
        <p:blipFill>
          <a:blip r:embed="rId3"/>
          <a:stretch>
            <a:fillRect/>
          </a:stretch>
        </p:blipFill>
        <p:spPr>
          <a:xfrm>
            <a:off x="3075594" y="4342515"/>
            <a:ext cx="8907640" cy="1908271"/>
          </a:xfrm>
          <a:prstGeom prst="rect">
            <a:avLst/>
          </a:prstGeom>
          <a:ln>
            <a:noFill/>
          </a:ln>
          <a:effectLst>
            <a:outerShdw blurRad="292100" dist="139700" dir="2700000" algn="tl" rotWithShape="0">
              <a:srgbClr val="333333">
                <a:alpha val="65000"/>
              </a:srgbClr>
            </a:outerShdw>
          </a:effectLst>
        </p:spPr>
      </p:pic>
      <p:sp>
        <p:nvSpPr>
          <p:cNvPr id="22" name="Rounded Rectangle 8">
            <a:extLst>
              <a:ext uri="{FF2B5EF4-FFF2-40B4-BE49-F238E27FC236}">
                <a16:creationId xmlns:a16="http://schemas.microsoft.com/office/drawing/2014/main" id="{01EF65AD-2703-46A9-8E55-A54287111CC6}"/>
              </a:ext>
            </a:extLst>
          </p:cNvPr>
          <p:cNvSpPr/>
          <p:nvPr/>
        </p:nvSpPr>
        <p:spPr>
          <a:xfrm>
            <a:off x="4560202" y="2537478"/>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1 Input read</a:t>
            </a:r>
          </a:p>
        </p:txBody>
      </p:sp>
      <p:sp>
        <p:nvSpPr>
          <p:cNvPr id="23" name="Rounded Rectangle 12">
            <a:extLst>
              <a:ext uri="{FF2B5EF4-FFF2-40B4-BE49-F238E27FC236}">
                <a16:creationId xmlns:a16="http://schemas.microsoft.com/office/drawing/2014/main" id="{128B1A09-9D7B-4A85-B502-9CB21D784BA6}"/>
              </a:ext>
            </a:extLst>
          </p:cNvPr>
          <p:cNvSpPr/>
          <p:nvPr/>
        </p:nvSpPr>
        <p:spPr>
          <a:xfrm>
            <a:off x="4560202" y="3138259"/>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1 Output write</a:t>
            </a:r>
          </a:p>
        </p:txBody>
      </p:sp>
      <p:sp>
        <p:nvSpPr>
          <p:cNvPr id="24" name="Rounded Rectangle 13">
            <a:extLst>
              <a:ext uri="{FF2B5EF4-FFF2-40B4-BE49-F238E27FC236}">
                <a16:creationId xmlns:a16="http://schemas.microsoft.com/office/drawing/2014/main" id="{E35F76E1-F5BA-4E3B-842F-E56402F2BBB3}"/>
              </a:ext>
            </a:extLst>
          </p:cNvPr>
          <p:cNvSpPr/>
          <p:nvPr/>
        </p:nvSpPr>
        <p:spPr>
          <a:xfrm>
            <a:off x="4611396" y="4995398"/>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4 Input reads</a:t>
            </a:r>
          </a:p>
        </p:txBody>
      </p:sp>
      <p:sp>
        <p:nvSpPr>
          <p:cNvPr id="25" name="Rounded Rectangle 14">
            <a:extLst>
              <a:ext uri="{FF2B5EF4-FFF2-40B4-BE49-F238E27FC236}">
                <a16:creationId xmlns:a16="http://schemas.microsoft.com/office/drawing/2014/main" id="{24FC2D5F-D542-4776-8B5E-04A48ABBF24E}"/>
              </a:ext>
            </a:extLst>
          </p:cNvPr>
          <p:cNvSpPr/>
          <p:nvPr/>
        </p:nvSpPr>
        <p:spPr>
          <a:xfrm>
            <a:off x="4611396" y="5596179"/>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2 Output writes</a:t>
            </a:r>
          </a:p>
        </p:txBody>
      </p:sp>
      <p:sp>
        <p:nvSpPr>
          <p:cNvPr id="14" name="Slide Number Placeholder 5">
            <a:extLst>
              <a:ext uri="{FF2B5EF4-FFF2-40B4-BE49-F238E27FC236}">
                <a16:creationId xmlns:a16="http://schemas.microsoft.com/office/drawing/2014/main" id="{0ACEE3CC-9CC9-4782-8937-D6FBA099576D}"/>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50</a:t>
            </a:fld>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the effect of volatile</a:t>
            </a:r>
          </a:p>
        </p:txBody>
      </p:sp>
      <p:sp>
        <p:nvSpPr>
          <p:cNvPr id="3" name="Content Placeholder 2"/>
          <p:cNvSpPr>
            <a:spLocks noGrp="1"/>
          </p:cNvSpPr>
          <p:nvPr>
            <p:ph idx="1"/>
          </p:nvPr>
        </p:nvSpPr>
        <p:spPr/>
        <p:txBody>
          <a:bodyPr/>
          <a:lstStyle/>
          <a:p>
            <a:r>
              <a:rPr lang="en-US" dirty="0"/>
              <a:t>Easier to see with a simple example</a:t>
            </a:r>
          </a:p>
        </p:txBody>
      </p:sp>
      <p:sp>
        <p:nvSpPr>
          <p:cNvPr id="17" name="Slide Number Placeholder 1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51</a:t>
            </a:fld>
            <a:endParaRPr lang="en-US" dirty="0">
              <a:solidFill>
                <a:srgbClr val="0C0C0C">
                  <a:tint val="75000"/>
                </a:srgbClr>
              </a:solidFill>
              <a:latin typeface="Arial"/>
            </a:endParaRPr>
          </a:p>
        </p:txBody>
      </p:sp>
      <p:sp>
        <p:nvSpPr>
          <p:cNvPr id="16" name="TextBox 15"/>
          <p:cNvSpPr txBox="1"/>
          <p:nvPr/>
        </p:nvSpPr>
        <p:spPr>
          <a:xfrm>
            <a:off x="6966287" y="1124701"/>
            <a:ext cx="4300240" cy="738664"/>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C compilers will optimize multiple accesses on the same (non-volatile) pointer into a single access : </a:t>
            </a:r>
            <a:r>
              <a:rPr lang="en-US" sz="1400" b="1" u="sng" dirty="0" err="1">
                <a:solidFill>
                  <a:srgbClr val="FF0000"/>
                </a:solidFill>
                <a:latin typeface="Arial"/>
              </a:rPr>
              <a:t>Vitis</a:t>
            </a:r>
            <a:r>
              <a:rPr lang="en-US" sz="1400" b="1" u="sng" dirty="0">
                <a:solidFill>
                  <a:srgbClr val="0C0C0C"/>
                </a:solidFill>
                <a:latin typeface="Arial"/>
              </a:rPr>
              <a:t> HLS matches this behavior</a:t>
            </a:r>
          </a:p>
        </p:txBody>
      </p:sp>
      <p:pic>
        <p:nvPicPr>
          <p:cNvPr id="18" name="Picture 17" descr="402a.PNG">
            <a:extLst>
              <a:ext uri="{FF2B5EF4-FFF2-40B4-BE49-F238E27FC236}">
                <a16:creationId xmlns:a16="http://schemas.microsoft.com/office/drawing/2014/main" id="{7D189CCE-D058-4854-840E-08A4595BBD56}"/>
              </a:ext>
            </a:extLst>
          </p:cNvPr>
          <p:cNvPicPr>
            <a:picLocks noChangeAspect="1"/>
          </p:cNvPicPr>
          <p:nvPr/>
        </p:nvPicPr>
        <p:blipFill>
          <a:blip r:embed="rId2"/>
          <a:stretch>
            <a:fillRect/>
          </a:stretch>
        </p:blipFill>
        <p:spPr>
          <a:xfrm>
            <a:off x="3075595" y="1884595"/>
            <a:ext cx="8934019" cy="1865285"/>
          </a:xfrm>
          <a:prstGeom prst="rect">
            <a:avLst/>
          </a:prstGeom>
          <a:ln>
            <a:noFill/>
          </a:ln>
          <a:effectLst>
            <a:outerShdw blurRad="292100" dist="139700" dir="2700000" algn="tl" rotWithShape="0">
              <a:srgbClr val="333333">
                <a:alpha val="65000"/>
              </a:srgbClr>
            </a:outerShdw>
          </a:effectLst>
        </p:spPr>
      </p:pic>
      <p:sp>
        <p:nvSpPr>
          <p:cNvPr id="19" name="TextBox 18">
            <a:extLst>
              <a:ext uri="{FF2B5EF4-FFF2-40B4-BE49-F238E27FC236}">
                <a16:creationId xmlns:a16="http://schemas.microsoft.com/office/drawing/2014/main" id="{4253D8F4-24FB-48C6-85FE-6AD573DDCAD8}"/>
              </a:ext>
            </a:extLst>
          </p:cNvPr>
          <p:cNvSpPr txBox="1"/>
          <p:nvPr/>
        </p:nvSpPr>
        <p:spPr>
          <a:xfrm>
            <a:off x="361168" y="1807785"/>
            <a:ext cx="2559667" cy="21698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en-US" sz="900" kern="0" dirty="0">
                <a:solidFill>
                  <a:srgbClr val="000000"/>
                </a:solidFill>
                <a:latin typeface="Arial"/>
              </a:rPr>
              <a:t>void </a:t>
            </a:r>
            <a:r>
              <a:rPr lang="en-US" sz="900" strike="sngStrike" kern="0" dirty="0" err="1">
                <a:solidFill>
                  <a:srgbClr val="000000"/>
                </a:solidFill>
                <a:latin typeface="Arial"/>
              </a:rPr>
              <a:t>fifo</a:t>
            </a:r>
            <a:r>
              <a:rPr lang="en-US" sz="900" strike="sngStrike" kern="0" dirty="0">
                <a:solidFill>
                  <a:srgbClr val="000000"/>
                </a:solidFill>
                <a:latin typeface="Arial"/>
              </a:rPr>
              <a:t> </a:t>
            </a:r>
            <a:r>
              <a:rPr lang="en-US" sz="900" kern="0" dirty="0" err="1">
                <a:solidFill>
                  <a:srgbClr val="000000"/>
                </a:solidFill>
                <a:highlight>
                  <a:srgbClr val="FFFF00"/>
                </a:highlight>
                <a:latin typeface="Arial"/>
              </a:rPr>
              <a:t>pointer_stream_bad</a:t>
            </a:r>
            <a:r>
              <a:rPr lang="en-US" sz="900" kern="0" dirty="0">
                <a:solidFill>
                  <a:srgbClr val="000000"/>
                </a:solidFill>
                <a:highlight>
                  <a:srgbClr val="FFFF00"/>
                </a:highlight>
                <a:latin typeface="Arial"/>
              </a:rPr>
              <a:t> </a:t>
            </a: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int</a:t>
            </a: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int</a:t>
            </a:r>
            <a:r>
              <a:rPr lang="en-US" sz="900" kern="0" dirty="0">
                <a:solidFill>
                  <a:srgbClr val="000000"/>
                </a:solidFill>
                <a:latin typeface="Arial"/>
              </a:rPr>
              <a:t> *</a:t>
            </a:r>
            <a:r>
              <a:rPr lang="en-US" sz="900" kern="0" dirty="0" err="1">
                <a:solidFill>
                  <a:srgbClr val="000000"/>
                </a:solidFill>
                <a:latin typeface="Arial"/>
              </a:rPr>
              <a:t>d_i</a:t>
            </a:r>
            <a:endParaRPr lang="en-US" sz="900" kern="0" dirty="0">
              <a:solidFill>
                <a:srgbClr val="000000"/>
              </a:solidFill>
              <a:latin typeface="Arial"/>
            </a:endParaRPr>
          </a:p>
          <a:p>
            <a:pPr defTabSz="914400" fontAlgn="base">
              <a:spcBef>
                <a:spcPct val="0"/>
              </a:spcBef>
              <a:spcAft>
                <a:spcPct val="0"/>
              </a:spcAft>
              <a:tabLst>
                <a:tab pos="457200" algn="l"/>
              </a:tabLst>
              <a:defRPr/>
            </a:pP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static </a:t>
            </a:r>
            <a:r>
              <a:rPr lang="en-US" sz="900" kern="0" dirty="0" err="1">
                <a:solidFill>
                  <a:srgbClr val="000000"/>
                </a:solidFill>
                <a:latin typeface="Arial"/>
              </a:rPr>
              <a:t>int</a:t>
            </a:r>
            <a:r>
              <a:rPr lang="en-US" sz="900" kern="0" dirty="0">
                <a:solidFill>
                  <a:srgbClr val="000000"/>
                </a:solidFill>
                <a:latin typeface="Arial"/>
              </a:rPr>
              <a:t> acc = 0;</a:t>
            </a:r>
          </a:p>
          <a:p>
            <a:pPr defTabSz="914400" fontAlgn="base">
              <a:spcBef>
                <a:spcPct val="0"/>
              </a:spcBef>
              <a:spcAft>
                <a:spcPct val="0"/>
              </a:spcAft>
              <a:tabLst>
                <a:tab pos="457200" algn="l"/>
              </a:tabLst>
              <a:defRPr/>
            </a:pPr>
            <a:r>
              <a:rPr lang="en-US" sz="900" strike="sngStrike" kern="0" dirty="0">
                <a:solidFill>
                  <a:srgbClr val="000000"/>
                </a:solidFill>
                <a:latin typeface="Arial"/>
              </a:rPr>
              <a:t>  </a:t>
            </a:r>
            <a:r>
              <a:rPr lang="en-US" sz="900" strike="sngStrike" kern="0" dirty="0" err="1">
                <a:solidFill>
                  <a:srgbClr val="000000"/>
                </a:solidFill>
                <a:latin typeface="Arial"/>
              </a:rPr>
              <a:t>int</a:t>
            </a:r>
            <a:r>
              <a:rPr lang="en-US" sz="900" strike="sngStrike" kern="0" dirty="0">
                <a:solidFill>
                  <a:srgbClr val="000000"/>
                </a:solidFill>
                <a:latin typeface="Arial"/>
              </a:rPr>
              <a:t> </a:t>
            </a:r>
            <a:r>
              <a:rPr lang="en-US" sz="900" strike="sngStrike" kern="0" dirty="0" err="1">
                <a:solidFill>
                  <a:srgbClr val="000000"/>
                </a:solidFill>
                <a:latin typeface="Arial"/>
              </a:rPr>
              <a:t>cnt</a:t>
            </a:r>
            <a:r>
              <a:rPr lang="en-US" sz="900" strike="sngStrike"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endParaRPr lang="en-US" sz="900" kern="0" dirty="0">
              <a:solidFill>
                <a:srgbClr val="000000"/>
              </a:solidFill>
              <a:latin typeface="Arial"/>
            </a:endParaRP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r>
              <a:rPr lang="en-US" sz="900" kern="0" dirty="0">
                <a:solidFill>
                  <a:srgbClr val="000000"/>
                </a:solidFill>
                <a:latin typeface="Arial"/>
              </a:rPr>
              <a:t>}</a:t>
            </a:r>
          </a:p>
        </p:txBody>
      </p:sp>
      <p:sp>
        <p:nvSpPr>
          <p:cNvPr id="20" name="TextBox 19">
            <a:extLst>
              <a:ext uri="{FF2B5EF4-FFF2-40B4-BE49-F238E27FC236}">
                <a16:creationId xmlns:a16="http://schemas.microsoft.com/office/drawing/2014/main" id="{AADF35C9-1082-4027-A073-29EF418BAB94}"/>
              </a:ext>
            </a:extLst>
          </p:cNvPr>
          <p:cNvSpPr txBox="1"/>
          <p:nvPr/>
        </p:nvSpPr>
        <p:spPr>
          <a:xfrm>
            <a:off x="361168" y="4227300"/>
            <a:ext cx="2559667" cy="21698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tabLst>
                <a:tab pos="457200" algn="l"/>
              </a:tabLst>
              <a:defRPr/>
            </a:pPr>
            <a:r>
              <a:rPr lang="it-IT" sz="900" kern="0" dirty="0">
                <a:solidFill>
                  <a:srgbClr val="000000"/>
                </a:solidFill>
                <a:latin typeface="Arial"/>
              </a:rPr>
              <a:t>void </a:t>
            </a:r>
            <a:r>
              <a:rPr lang="it-IT" sz="900" strike="sngStrike" kern="0" dirty="0">
                <a:solidFill>
                  <a:srgbClr val="000000"/>
                </a:solidFill>
                <a:latin typeface="Arial"/>
              </a:rPr>
              <a:t>fifo</a:t>
            </a:r>
            <a:r>
              <a:rPr lang="it-IT" sz="900" kern="0" dirty="0">
                <a:solidFill>
                  <a:srgbClr val="000000"/>
                </a:solidFill>
                <a:latin typeface="Arial"/>
              </a:rPr>
              <a:t> </a:t>
            </a:r>
            <a:r>
              <a:rPr lang="it-IT" sz="900" kern="0" dirty="0">
                <a:solidFill>
                  <a:srgbClr val="000000"/>
                </a:solidFill>
                <a:highlight>
                  <a:srgbClr val="FFFF00"/>
                </a:highlight>
                <a:latin typeface="Arial"/>
              </a:rPr>
              <a:t>pointer_stream_better </a:t>
            </a:r>
            <a:r>
              <a:rPr lang="it-IT" sz="900" kern="0" dirty="0">
                <a:solidFill>
                  <a:srgbClr val="000000"/>
                </a:solidFill>
                <a:latin typeface="Arial"/>
              </a:rPr>
              <a:t>( </a:t>
            </a:r>
          </a:p>
          <a:p>
            <a:pPr defTabSz="914400" fontAlgn="base">
              <a:spcBef>
                <a:spcPct val="0"/>
              </a:spcBef>
              <a:spcAft>
                <a:spcPct val="0"/>
              </a:spcAft>
              <a:tabLst>
                <a:tab pos="457200" algn="l"/>
              </a:tabLst>
              <a:defRPr/>
            </a:pPr>
            <a:r>
              <a:rPr lang="it-IT" sz="900" b="1" kern="0" dirty="0">
                <a:solidFill>
                  <a:srgbClr val="000000"/>
                </a:solidFill>
                <a:latin typeface="Arial"/>
              </a:rPr>
              <a:t>	volatile int *d_o, </a:t>
            </a:r>
          </a:p>
          <a:p>
            <a:pPr defTabSz="914400" fontAlgn="base">
              <a:spcBef>
                <a:spcPct val="0"/>
              </a:spcBef>
              <a:spcAft>
                <a:spcPct val="0"/>
              </a:spcAft>
              <a:tabLst>
                <a:tab pos="457200" algn="l"/>
              </a:tabLst>
              <a:defRPr/>
            </a:pPr>
            <a:r>
              <a:rPr lang="it-IT" sz="900" b="1" kern="0" dirty="0">
                <a:solidFill>
                  <a:srgbClr val="000000"/>
                </a:solidFill>
                <a:latin typeface="Arial"/>
              </a:rPr>
              <a:t> 	volatile int *d_i</a:t>
            </a:r>
          </a:p>
          <a:p>
            <a:pPr defTabSz="914400" fontAlgn="base">
              <a:spcBef>
                <a:spcPct val="0"/>
              </a:spcBef>
              <a:spcAft>
                <a:spcPct val="0"/>
              </a:spcAft>
              <a:tabLst>
                <a:tab pos="457200" algn="l"/>
              </a:tabLst>
              <a:defRPr/>
            </a:pPr>
            <a:r>
              <a:rPr lang="it-IT"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static </a:t>
            </a:r>
            <a:r>
              <a:rPr lang="en-US" sz="900" kern="0" dirty="0" err="1">
                <a:solidFill>
                  <a:srgbClr val="000000"/>
                </a:solidFill>
                <a:latin typeface="Arial"/>
              </a:rPr>
              <a:t>int</a:t>
            </a:r>
            <a:r>
              <a:rPr lang="en-US" sz="900" kern="0" dirty="0">
                <a:solidFill>
                  <a:srgbClr val="000000"/>
                </a:solidFill>
                <a:latin typeface="Arial"/>
              </a:rPr>
              <a:t> acc = 0;</a:t>
            </a:r>
          </a:p>
          <a:p>
            <a:pPr defTabSz="914400" fontAlgn="base">
              <a:spcBef>
                <a:spcPct val="0"/>
              </a:spcBef>
              <a:spcAft>
                <a:spcPct val="0"/>
              </a:spcAft>
              <a:tabLst>
                <a:tab pos="457200" algn="l"/>
              </a:tabLst>
              <a:defRPr/>
            </a:pPr>
            <a:r>
              <a:rPr lang="en-US" sz="900" strike="sngStrike" kern="0" dirty="0">
                <a:solidFill>
                  <a:srgbClr val="000000"/>
                </a:solidFill>
                <a:latin typeface="Arial"/>
              </a:rPr>
              <a:t>  </a:t>
            </a:r>
            <a:r>
              <a:rPr lang="en-US" sz="900" strike="sngStrike" kern="0" dirty="0" err="1">
                <a:solidFill>
                  <a:srgbClr val="000000"/>
                </a:solidFill>
                <a:latin typeface="Arial"/>
              </a:rPr>
              <a:t>int</a:t>
            </a:r>
            <a:r>
              <a:rPr lang="en-US" sz="900" strike="sngStrike" kern="0" dirty="0">
                <a:solidFill>
                  <a:srgbClr val="000000"/>
                </a:solidFill>
                <a:latin typeface="Arial"/>
              </a:rPr>
              <a:t> </a:t>
            </a:r>
            <a:r>
              <a:rPr lang="en-US" sz="900" strike="sngStrike" kern="0" dirty="0" err="1">
                <a:solidFill>
                  <a:srgbClr val="000000"/>
                </a:solidFill>
                <a:latin typeface="Arial"/>
              </a:rPr>
              <a:t>cnt</a:t>
            </a:r>
            <a:r>
              <a:rPr lang="en-US" sz="900" strike="sngStrike"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endParaRPr lang="en-US" sz="900" kern="0" dirty="0">
              <a:solidFill>
                <a:srgbClr val="000000"/>
              </a:solidFill>
              <a:latin typeface="Arial"/>
            </a:endParaRP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acc += *</a:t>
            </a:r>
            <a:r>
              <a:rPr lang="en-US" sz="900" kern="0" dirty="0" err="1">
                <a:solidFill>
                  <a:srgbClr val="000000"/>
                </a:solidFill>
                <a:latin typeface="Arial"/>
              </a:rPr>
              <a:t>d_i</a:t>
            </a:r>
            <a:r>
              <a:rPr lang="en-US" sz="900" kern="0" dirty="0">
                <a:solidFill>
                  <a:srgbClr val="000000"/>
                </a:solidFill>
                <a:latin typeface="Arial"/>
              </a:rPr>
              <a:t>;</a:t>
            </a:r>
          </a:p>
          <a:p>
            <a:pPr defTabSz="914400" fontAlgn="base">
              <a:spcBef>
                <a:spcPct val="0"/>
              </a:spcBef>
              <a:spcAft>
                <a:spcPct val="0"/>
              </a:spcAft>
              <a:tabLst>
                <a:tab pos="457200" algn="l"/>
              </a:tabLst>
              <a:defRPr/>
            </a:pPr>
            <a:r>
              <a:rPr lang="en-US" sz="900" kern="0" dirty="0">
                <a:solidFill>
                  <a:srgbClr val="000000"/>
                </a:solidFill>
                <a:latin typeface="Arial"/>
              </a:rPr>
              <a:t>    *</a:t>
            </a:r>
            <a:r>
              <a:rPr lang="en-US" sz="900" kern="0" dirty="0" err="1">
                <a:solidFill>
                  <a:srgbClr val="000000"/>
                </a:solidFill>
                <a:latin typeface="Arial"/>
              </a:rPr>
              <a:t>d_o</a:t>
            </a:r>
            <a:r>
              <a:rPr lang="en-US" sz="900" kern="0" dirty="0">
                <a:solidFill>
                  <a:srgbClr val="000000"/>
                </a:solidFill>
                <a:latin typeface="Arial"/>
              </a:rPr>
              <a:t> = acc;</a:t>
            </a:r>
          </a:p>
          <a:p>
            <a:pPr defTabSz="914400" fontAlgn="base">
              <a:spcBef>
                <a:spcPct val="0"/>
              </a:spcBef>
              <a:spcAft>
                <a:spcPct val="0"/>
              </a:spcAft>
              <a:tabLst>
                <a:tab pos="457200" algn="l"/>
              </a:tabLst>
              <a:defRPr/>
            </a:pPr>
            <a:r>
              <a:rPr lang="en-US" sz="900" kern="0" dirty="0">
                <a:solidFill>
                  <a:srgbClr val="000000"/>
                </a:solidFill>
                <a:latin typeface="Arial"/>
              </a:rPr>
              <a:t>}</a:t>
            </a:r>
          </a:p>
        </p:txBody>
      </p:sp>
      <p:pic>
        <p:nvPicPr>
          <p:cNvPr id="21" name="Picture 20" descr="402b.PNG">
            <a:extLst>
              <a:ext uri="{FF2B5EF4-FFF2-40B4-BE49-F238E27FC236}">
                <a16:creationId xmlns:a16="http://schemas.microsoft.com/office/drawing/2014/main" id="{647A8537-9792-40AA-A419-DCF4FA036C9C}"/>
              </a:ext>
            </a:extLst>
          </p:cNvPr>
          <p:cNvPicPr>
            <a:picLocks noChangeAspect="1"/>
          </p:cNvPicPr>
          <p:nvPr/>
        </p:nvPicPr>
        <p:blipFill>
          <a:blip r:embed="rId3"/>
          <a:stretch>
            <a:fillRect/>
          </a:stretch>
        </p:blipFill>
        <p:spPr>
          <a:xfrm>
            <a:off x="3075594" y="4342515"/>
            <a:ext cx="8907640" cy="1908271"/>
          </a:xfrm>
          <a:prstGeom prst="rect">
            <a:avLst/>
          </a:prstGeom>
          <a:ln>
            <a:noFill/>
          </a:ln>
          <a:effectLst>
            <a:outerShdw blurRad="292100" dist="139700" dir="2700000" algn="tl" rotWithShape="0">
              <a:srgbClr val="333333">
                <a:alpha val="65000"/>
              </a:srgbClr>
            </a:outerShdw>
          </a:effectLst>
        </p:spPr>
      </p:pic>
      <p:sp>
        <p:nvSpPr>
          <p:cNvPr id="22" name="Rounded Rectangle 8">
            <a:extLst>
              <a:ext uri="{FF2B5EF4-FFF2-40B4-BE49-F238E27FC236}">
                <a16:creationId xmlns:a16="http://schemas.microsoft.com/office/drawing/2014/main" id="{01EF65AD-2703-46A9-8E55-A54287111CC6}"/>
              </a:ext>
            </a:extLst>
          </p:cNvPr>
          <p:cNvSpPr/>
          <p:nvPr/>
        </p:nvSpPr>
        <p:spPr>
          <a:xfrm>
            <a:off x="4560202" y="2537478"/>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1 Input read</a:t>
            </a:r>
          </a:p>
        </p:txBody>
      </p:sp>
      <p:sp>
        <p:nvSpPr>
          <p:cNvPr id="23" name="Rounded Rectangle 12">
            <a:extLst>
              <a:ext uri="{FF2B5EF4-FFF2-40B4-BE49-F238E27FC236}">
                <a16:creationId xmlns:a16="http://schemas.microsoft.com/office/drawing/2014/main" id="{128B1A09-9D7B-4A85-B502-9CB21D784BA6}"/>
              </a:ext>
            </a:extLst>
          </p:cNvPr>
          <p:cNvSpPr/>
          <p:nvPr/>
        </p:nvSpPr>
        <p:spPr>
          <a:xfrm>
            <a:off x="4560202" y="3138259"/>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1 Output write</a:t>
            </a:r>
          </a:p>
        </p:txBody>
      </p:sp>
      <p:sp>
        <p:nvSpPr>
          <p:cNvPr id="24" name="Rounded Rectangle 13">
            <a:extLst>
              <a:ext uri="{FF2B5EF4-FFF2-40B4-BE49-F238E27FC236}">
                <a16:creationId xmlns:a16="http://schemas.microsoft.com/office/drawing/2014/main" id="{E35F76E1-F5BA-4E3B-842F-E56402F2BBB3}"/>
              </a:ext>
            </a:extLst>
          </p:cNvPr>
          <p:cNvSpPr/>
          <p:nvPr/>
        </p:nvSpPr>
        <p:spPr>
          <a:xfrm>
            <a:off x="4611396" y="4995398"/>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4 Input reads</a:t>
            </a:r>
          </a:p>
        </p:txBody>
      </p:sp>
      <p:sp>
        <p:nvSpPr>
          <p:cNvPr id="25" name="Rounded Rectangle 14">
            <a:extLst>
              <a:ext uri="{FF2B5EF4-FFF2-40B4-BE49-F238E27FC236}">
                <a16:creationId xmlns:a16="http://schemas.microsoft.com/office/drawing/2014/main" id="{24FC2D5F-D542-4776-8B5E-04A48ABBF24E}"/>
              </a:ext>
            </a:extLst>
          </p:cNvPr>
          <p:cNvSpPr/>
          <p:nvPr/>
        </p:nvSpPr>
        <p:spPr>
          <a:xfrm>
            <a:off x="4611396" y="5596179"/>
            <a:ext cx="1586993" cy="205724"/>
          </a:xfrm>
          <a:prstGeom prst="roundRect">
            <a:avLst/>
          </a:prstGeom>
          <a:gradFill rotWithShape="1">
            <a:gsLst>
              <a:gs pos="0">
                <a:srgbClr val="D9DA56">
                  <a:shade val="51000"/>
                  <a:satMod val="130000"/>
                </a:srgbClr>
              </a:gs>
              <a:gs pos="80000">
                <a:srgbClr val="D9DA56">
                  <a:shade val="93000"/>
                  <a:satMod val="130000"/>
                </a:srgbClr>
              </a:gs>
              <a:gs pos="100000">
                <a:srgbClr val="D9DA56">
                  <a:shade val="94000"/>
                  <a:satMod val="135000"/>
                </a:srgbClr>
              </a:gs>
            </a:gsLst>
            <a:lin ang="16200000" scaled="0"/>
          </a:gradFill>
          <a:ln w="9525" cap="flat" cmpd="sng" algn="ctr">
            <a:solidFill>
              <a:srgbClr val="D9DA56">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r>
              <a:rPr lang="en-US" sz="1050" b="1" kern="0" dirty="0">
                <a:solidFill>
                  <a:srgbClr val="FFFFFF"/>
                </a:solidFill>
                <a:latin typeface="Arial"/>
              </a:rPr>
              <a:t>2 Output writes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Limited Visibility</a:t>
            </a:r>
          </a:p>
        </p:txBody>
      </p:sp>
      <p:sp>
        <p:nvSpPr>
          <p:cNvPr id="3" name="Content Placeholder 2"/>
          <p:cNvSpPr>
            <a:spLocks noGrp="1"/>
          </p:cNvSpPr>
          <p:nvPr>
            <p:ph idx="1"/>
          </p:nvPr>
        </p:nvSpPr>
        <p:spPr/>
        <p:txBody>
          <a:bodyPr/>
          <a:lstStyle/>
          <a:p>
            <a:r>
              <a:rPr lang="en-US" dirty="0"/>
              <a:t>The intermediate results are hard to use for verification</a:t>
            </a:r>
          </a:p>
          <a:p>
            <a:pPr lvl="1"/>
            <a:r>
              <a:rPr lang="en-US" dirty="0"/>
              <a:t>Only the final pointer value is passed to the test bench</a:t>
            </a:r>
          </a:p>
          <a:p>
            <a:pPr lvl="1"/>
            <a:endParaRPr lang="en-US" dirty="0"/>
          </a:p>
          <a:p>
            <a:pPr lvl="1">
              <a:buNone/>
            </a:pPr>
            <a:endParaRPr lang="en-US" sz="1000" dirty="0"/>
          </a:p>
          <a:p>
            <a:pPr marL="4111625" lvl="6"/>
            <a:r>
              <a:rPr lang="en-US" sz="1800" dirty="0"/>
              <a:t>The final value of *</a:t>
            </a:r>
            <a:r>
              <a:rPr lang="en-US" sz="1800" dirty="0" err="1"/>
              <a:t>d_o</a:t>
            </a:r>
            <a:r>
              <a:rPr lang="en-US" sz="1800" dirty="0"/>
              <a:t> can be captured in the test bench and compared </a:t>
            </a:r>
          </a:p>
          <a:p>
            <a:pPr marL="4111625" lvl="6"/>
            <a:r>
              <a:rPr lang="en-US" sz="1800" dirty="0"/>
              <a:t>The intermediate values can only be seen by using </a:t>
            </a:r>
            <a:r>
              <a:rPr lang="en-US" sz="1800" dirty="0" err="1"/>
              <a:t>printf</a:t>
            </a:r>
            <a:r>
              <a:rPr lang="en-US" sz="1800" dirty="0"/>
              <a:t> : they cannot be automatically verified by the test bench</a:t>
            </a:r>
          </a:p>
          <a:p>
            <a:pPr marL="4114800" lvl="1">
              <a:buNone/>
            </a:pPr>
            <a:endParaRPr lang="en-US" dirty="0"/>
          </a:p>
          <a:p>
            <a:r>
              <a:rPr lang="en-US" dirty="0"/>
              <a:t>Code could be added to the DUT</a:t>
            </a:r>
          </a:p>
          <a:p>
            <a:pPr lvl="1"/>
            <a:r>
              <a:rPr lang="en-US" dirty="0"/>
              <a:t>Use __SYNTHESIS__ to add un-synthesizable code for checking</a:t>
            </a:r>
          </a:p>
          <a:p>
            <a:pPr lvl="1"/>
            <a:r>
              <a:rPr lang="en-US" dirty="0"/>
              <a:t>Which will not be there in the RTL </a:t>
            </a:r>
          </a:p>
          <a:p>
            <a:pPr lvl="1"/>
            <a:endParaRPr lang="en-US" dirty="0"/>
          </a:p>
          <a:p>
            <a:pPr lvl="1"/>
            <a:r>
              <a:rPr lang="en-US" dirty="0"/>
              <a:t>HLS:STREAMS class can be used instead: discussed in next section</a:t>
            </a:r>
          </a:p>
        </p:txBody>
      </p:sp>
      <p:sp>
        <p:nvSpPr>
          <p:cNvPr id="15" name="TextBox 14"/>
          <p:cNvSpPr txBox="1"/>
          <p:nvPr/>
        </p:nvSpPr>
        <p:spPr>
          <a:xfrm>
            <a:off x="1869510" y="5641122"/>
            <a:ext cx="5528880" cy="30777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a:r>
              <a:rPr lang="en-US" sz="1400" b="1" dirty="0"/>
              <a:t>Not the most ideal coding style for verification</a:t>
            </a:r>
          </a:p>
        </p:txBody>
      </p:sp>
      <p:sp>
        <p:nvSpPr>
          <p:cNvPr id="8" name="TextBox 7">
            <a:extLst>
              <a:ext uri="{FF2B5EF4-FFF2-40B4-BE49-F238E27FC236}">
                <a16:creationId xmlns:a16="http://schemas.microsoft.com/office/drawing/2014/main" id="{47D18764-BF44-48BD-9DA8-D7706D829E71}"/>
              </a:ext>
            </a:extLst>
          </p:cNvPr>
          <p:cNvSpPr txBox="1"/>
          <p:nvPr/>
        </p:nvSpPr>
        <p:spPr>
          <a:xfrm>
            <a:off x="1181443" y="2242188"/>
            <a:ext cx="2662053" cy="20313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fifo</a:t>
            </a:r>
            <a:r>
              <a:rPr lang="en-US" sz="900" b="1" kern="0" dirty="0">
                <a:solidFill>
                  <a:srgbClr val="000000"/>
                </a:solidFill>
                <a:latin typeface="Arial"/>
              </a:rPr>
              <a:t> (int *</a:t>
            </a:r>
            <a:r>
              <a:rPr lang="en-US" sz="900" b="1" kern="0" dirty="0" err="1">
                <a:solidFill>
                  <a:srgbClr val="000000"/>
                </a:solidFill>
                <a:latin typeface="Arial"/>
              </a:rPr>
              <a:t>d_o</a:t>
            </a: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int *</a:t>
            </a:r>
            <a:r>
              <a:rPr lang="en-US" sz="900" b="1" kern="0" dirty="0" err="1">
                <a:solidFill>
                  <a:srgbClr val="000000"/>
                </a:solidFill>
                <a:latin typeface="Arial"/>
              </a:rPr>
              <a:t>d_i</a:t>
            </a: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                )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cnt</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cnt</a:t>
            </a:r>
            <a:r>
              <a:rPr lang="en-US" sz="900" b="1" kern="0" dirty="0">
                <a:solidFill>
                  <a:srgbClr val="000000"/>
                </a:solidFill>
                <a:latin typeface="Arial"/>
              </a:rPr>
              <a:t>=0;cnt&lt;4;cnt++)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d_i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if (cnt%2==1) {</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d_o</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a:t>
            </a:r>
          </a:p>
        </p:txBody>
      </p:sp>
      <p:sp>
        <p:nvSpPr>
          <p:cNvPr id="9" name="Left Bracket 8">
            <a:extLst>
              <a:ext uri="{FF2B5EF4-FFF2-40B4-BE49-F238E27FC236}">
                <a16:creationId xmlns:a16="http://schemas.microsoft.com/office/drawing/2014/main" id="{B1B72662-E16D-4130-9D97-95E1AF51A005}"/>
              </a:ext>
            </a:extLst>
          </p:cNvPr>
          <p:cNvSpPr/>
          <p:nvPr/>
        </p:nvSpPr>
        <p:spPr>
          <a:xfrm>
            <a:off x="925475" y="3100711"/>
            <a:ext cx="409547" cy="691290"/>
          </a:xfrm>
          <a:prstGeom prst="leftBracket">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defTabSz="914400" fontAlgn="base">
              <a:spcBef>
                <a:spcPct val="0"/>
              </a:spcBef>
              <a:spcAft>
                <a:spcPct val="0"/>
              </a:spcAft>
              <a:defRPr/>
            </a:pPr>
            <a:endParaRPr lang="en-US" kern="0">
              <a:solidFill>
                <a:srgbClr val="000000"/>
              </a:solidFill>
              <a:latin typeface="Arial"/>
            </a:endParaRPr>
          </a:p>
        </p:txBody>
      </p:sp>
      <p:sp>
        <p:nvSpPr>
          <p:cNvPr id="11" name="Slide Number Placeholder 5">
            <a:extLst>
              <a:ext uri="{FF2B5EF4-FFF2-40B4-BE49-F238E27FC236}">
                <a16:creationId xmlns:a16="http://schemas.microsoft.com/office/drawing/2014/main" id="{1275DDA6-6237-4F33-AC78-A2599E3E4ED4}"/>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52</a:t>
            </a:fld>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Limited Visibility</a:t>
            </a:r>
          </a:p>
        </p:txBody>
      </p:sp>
      <p:sp>
        <p:nvSpPr>
          <p:cNvPr id="3" name="Content Placeholder 2"/>
          <p:cNvSpPr>
            <a:spLocks noGrp="1"/>
          </p:cNvSpPr>
          <p:nvPr>
            <p:ph idx="1"/>
          </p:nvPr>
        </p:nvSpPr>
        <p:spPr/>
        <p:txBody>
          <a:bodyPr/>
          <a:lstStyle/>
          <a:p>
            <a:r>
              <a:rPr lang="en-US" dirty="0"/>
              <a:t>The intermediate results are hard to use for verification</a:t>
            </a:r>
          </a:p>
          <a:p>
            <a:pPr lvl="1"/>
            <a:r>
              <a:rPr lang="en-US" dirty="0"/>
              <a:t>Only the final pointer value is passed to the test bench</a:t>
            </a:r>
          </a:p>
          <a:p>
            <a:pPr lvl="1"/>
            <a:endParaRPr lang="en-US" dirty="0"/>
          </a:p>
          <a:p>
            <a:pPr lvl="1">
              <a:buNone/>
            </a:pPr>
            <a:endParaRPr lang="en-US" dirty="0"/>
          </a:p>
          <a:p>
            <a:pPr marL="4111625" lvl="6"/>
            <a:r>
              <a:rPr lang="en-US" sz="1800" dirty="0"/>
              <a:t>The final value of *</a:t>
            </a:r>
            <a:r>
              <a:rPr lang="en-US" sz="1800" dirty="0" err="1"/>
              <a:t>d_o</a:t>
            </a:r>
            <a:r>
              <a:rPr lang="en-US" sz="1800" dirty="0"/>
              <a:t> can be captured in the test bench and compared </a:t>
            </a:r>
          </a:p>
          <a:p>
            <a:pPr marL="4111625" lvl="6"/>
            <a:r>
              <a:rPr lang="en-US" sz="1800" dirty="0"/>
              <a:t>The intermediate values can only be seen by using </a:t>
            </a:r>
            <a:r>
              <a:rPr lang="en-US" sz="1800" dirty="0" err="1"/>
              <a:t>printf</a:t>
            </a:r>
            <a:r>
              <a:rPr lang="en-US" sz="1800" dirty="0"/>
              <a:t> : they cannot be automatically verified by the test bench</a:t>
            </a:r>
          </a:p>
          <a:p>
            <a:pPr marL="4114800" lvl="1">
              <a:buNone/>
            </a:pPr>
            <a:endParaRPr lang="en-US" dirty="0"/>
          </a:p>
          <a:p>
            <a:r>
              <a:rPr lang="en-US" dirty="0"/>
              <a:t>Code could be added to the DUT</a:t>
            </a:r>
          </a:p>
          <a:p>
            <a:pPr lvl="1"/>
            <a:r>
              <a:rPr lang="en-US" dirty="0"/>
              <a:t>Use __SYNTHESIS__ to add un</a:t>
            </a:r>
            <a:r>
              <a:rPr lang="en-US" dirty="0">
                <a:highlight>
                  <a:srgbClr val="FFFF00"/>
                </a:highlight>
              </a:rPr>
              <a:t>-</a:t>
            </a:r>
            <a:r>
              <a:rPr lang="en-US" dirty="0"/>
              <a:t>synthesizable code for checking</a:t>
            </a:r>
          </a:p>
          <a:p>
            <a:pPr lvl="1"/>
            <a:r>
              <a:rPr lang="en-US" dirty="0"/>
              <a:t>Which will not be there in the RTL </a:t>
            </a:r>
          </a:p>
          <a:p>
            <a:pPr lvl="1"/>
            <a:endParaRPr lang="en-US" dirty="0"/>
          </a:p>
          <a:p>
            <a:pPr lvl="1"/>
            <a:r>
              <a:rPr lang="en-US" dirty="0"/>
              <a:t>HLS:STREAMS class can be used instead: discussed in next section</a:t>
            </a:r>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53</a:t>
            </a:fld>
            <a:endParaRPr lang="en-US" dirty="0">
              <a:solidFill>
                <a:srgbClr val="0C0C0C">
                  <a:tint val="75000"/>
                </a:srgbClr>
              </a:solidFill>
              <a:latin typeface="Arial"/>
            </a:endParaRPr>
          </a:p>
        </p:txBody>
      </p:sp>
      <p:sp>
        <p:nvSpPr>
          <p:cNvPr id="15" name="TextBox 14"/>
          <p:cNvSpPr txBox="1"/>
          <p:nvPr/>
        </p:nvSpPr>
        <p:spPr>
          <a:xfrm>
            <a:off x="1612335" y="5241072"/>
            <a:ext cx="5528880" cy="307777"/>
          </a:xfrm>
          <a:prstGeom prst="rect">
            <a:avLst/>
          </a:prstGeom>
          <a:solidFill>
            <a:srgbClr val="FFFF99"/>
          </a:solidFill>
          <a:ln>
            <a:solidFill>
              <a:schemeClr val="tx1"/>
            </a:solidFill>
          </a:ln>
          <a:effectLst>
            <a:innerShdw blurRad="63500" dist="50800" dir="2700000">
              <a:prstClr val="black">
                <a:alpha val="50000"/>
              </a:prstClr>
            </a:innerShdw>
          </a:effectLst>
        </p:spPr>
        <p:txBody>
          <a:bodyPr wrap="square" rtlCol="0">
            <a:spAutoFit/>
          </a:bodyPr>
          <a:lstStyle/>
          <a:p>
            <a:pPr algn="ctr" defTabSz="914400"/>
            <a:r>
              <a:rPr lang="en-US" sz="1400" b="1" dirty="0">
                <a:solidFill>
                  <a:srgbClr val="0C0C0C"/>
                </a:solidFill>
                <a:latin typeface="Arial"/>
              </a:rPr>
              <a:t>Not the most ideal coding style for verification</a:t>
            </a:r>
          </a:p>
        </p:txBody>
      </p:sp>
      <p:sp>
        <p:nvSpPr>
          <p:cNvPr id="8" name="TextBox 7">
            <a:extLst>
              <a:ext uri="{FF2B5EF4-FFF2-40B4-BE49-F238E27FC236}">
                <a16:creationId xmlns:a16="http://schemas.microsoft.com/office/drawing/2014/main" id="{47D18764-BF44-48BD-9DA8-D7706D829E71}"/>
              </a:ext>
            </a:extLst>
          </p:cNvPr>
          <p:cNvSpPr txBox="1"/>
          <p:nvPr/>
        </p:nvSpPr>
        <p:spPr>
          <a:xfrm>
            <a:off x="1181443" y="2185038"/>
            <a:ext cx="2662053" cy="2031325"/>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fifo</a:t>
            </a:r>
            <a:r>
              <a:rPr lang="en-US" sz="900" b="1" kern="0" dirty="0">
                <a:solidFill>
                  <a:srgbClr val="000000"/>
                </a:solidFill>
                <a:latin typeface="Arial"/>
              </a:rPr>
              <a:t> (int *</a:t>
            </a:r>
            <a:r>
              <a:rPr lang="en-US" sz="900" b="1" kern="0" dirty="0" err="1">
                <a:solidFill>
                  <a:srgbClr val="000000"/>
                </a:solidFill>
                <a:latin typeface="Arial"/>
              </a:rPr>
              <a:t>d_o</a:t>
            </a: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int *</a:t>
            </a:r>
            <a:r>
              <a:rPr lang="en-US" sz="900" b="1" kern="0" dirty="0" err="1">
                <a:solidFill>
                  <a:srgbClr val="000000"/>
                </a:solidFill>
                <a:latin typeface="Arial"/>
              </a:rPr>
              <a:t>d_i</a:t>
            </a: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                )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cnt</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cnt</a:t>
            </a:r>
            <a:r>
              <a:rPr lang="en-US" sz="900" b="1" kern="0" dirty="0">
                <a:solidFill>
                  <a:srgbClr val="000000"/>
                </a:solidFill>
                <a:latin typeface="Arial"/>
              </a:rPr>
              <a:t>=0;cnt&lt;4;cnt++)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d_i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if (cnt%2==1) {</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d_o</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a:t>
            </a:r>
          </a:p>
        </p:txBody>
      </p:sp>
      <p:sp>
        <p:nvSpPr>
          <p:cNvPr id="9" name="Left Bracket 8">
            <a:extLst>
              <a:ext uri="{FF2B5EF4-FFF2-40B4-BE49-F238E27FC236}">
                <a16:creationId xmlns:a16="http://schemas.microsoft.com/office/drawing/2014/main" id="{B1B72662-E16D-4130-9D97-95E1AF51A005}"/>
              </a:ext>
            </a:extLst>
          </p:cNvPr>
          <p:cNvSpPr/>
          <p:nvPr/>
        </p:nvSpPr>
        <p:spPr>
          <a:xfrm>
            <a:off x="925475" y="3043561"/>
            <a:ext cx="409547" cy="691290"/>
          </a:xfrm>
          <a:prstGeom prst="leftBracket">
            <a:avLst/>
          </a:prstGeom>
          <a:noFill/>
          <a:ln w="57150" cap="flat" cmpd="sng" algn="ctr">
            <a:solidFill>
              <a:srgbClr val="008CA8"/>
            </a:solidFill>
            <a:prstDash val="solid"/>
            <a:headEnd type="none" w="med" len="med"/>
            <a:tailEnd type="triangle" w="med" len="med"/>
          </a:ln>
          <a:effectLst>
            <a:outerShdw blurRad="40000" dist="20000" dir="5400000" rotWithShape="0">
              <a:srgbClr val="000000">
                <a:alpha val="38000"/>
              </a:srgbClr>
            </a:outerShdw>
          </a:effectLst>
        </p:spPr>
        <p:txBody>
          <a:bodyPr rtlCol="0" anchor="ctr"/>
          <a:lstStyle/>
          <a:p>
            <a:pPr defTabSz="914400" fontAlgn="base">
              <a:spcBef>
                <a:spcPct val="0"/>
              </a:spcBef>
              <a:spcAft>
                <a:spcPct val="0"/>
              </a:spcAft>
              <a:defRPr/>
            </a:pPr>
            <a:endParaRPr lang="en-US" kern="0">
              <a:solidFill>
                <a:srgbClr val="000000"/>
              </a:solidFill>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Test bench Depth</a:t>
            </a:r>
          </a:p>
        </p:txBody>
      </p:sp>
      <p:sp>
        <p:nvSpPr>
          <p:cNvPr id="3" name="Content Placeholder 2"/>
          <p:cNvSpPr>
            <a:spLocks noGrp="1"/>
          </p:cNvSpPr>
          <p:nvPr>
            <p:ph idx="1"/>
          </p:nvPr>
        </p:nvSpPr>
        <p:spPr>
          <a:xfrm>
            <a:off x="649119" y="1155089"/>
            <a:ext cx="10512862" cy="4759404"/>
          </a:xfrm>
        </p:spPr>
        <p:txBody>
          <a:bodyPr/>
          <a:lstStyle/>
          <a:p>
            <a:r>
              <a:rPr lang="en-US" sz="2000" dirty="0"/>
              <a:t>Let’s look at an example</a:t>
            </a:r>
          </a:p>
          <a:p>
            <a:pPr lvl="1"/>
            <a:r>
              <a:rPr lang="en-US" sz="1800" dirty="0"/>
              <a:t>This code will access four samples using a pointer</a:t>
            </a:r>
          </a:p>
          <a:p>
            <a:pPr lvl="1"/>
            <a:endParaRPr lang="en-US" sz="1800" dirty="0"/>
          </a:p>
          <a:p>
            <a:pPr lvl="2"/>
            <a:endParaRPr lang="en-US" sz="1400" dirty="0"/>
          </a:p>
          <a:p>
            <a:pPr lvl="2"/>
            <a:endParaRPr lang="en-US" sz="1400" dirty="0"/>
          </a:p>
          <a:p>
            <a:pPr lvl="1"/>
            <a:endParaRPr lang="en-US" sz="1800" dirty="0"/>
          </a:p>
          <a:p>
            <a:pPr lvl="1"/>
            <a:endParaRPr lang="en-US" sz="1800" dirty="0"/>
          </a:p>
          <a:p>
            <a:endParaRPr lang="en-US" sz="2000" dirty="0"/>
          </a:p>
          <a:p>
            <a:r>
              <a:rPr lang="en-US" sz="2000" dirty="0"/>
              <a:t>Co-Simulation(RTL Verification) only sees a pointer on the interface</a:t>
            </a:r>
          </a:p>
          <a:p>
            <a:pPr lvl="1"/>
            <a:r>
              <a:rPr lang="en-US" sz="1800" dirty="0"/>
              <a:t>And will create a SystemC co-simulation wrapper to supply or store 1 sample </a:t>
            </a:r>
          </a:p>
          <a:p>
            <a:pPr lvl="1"/>
            <a:r>
              <a:rPr lang="en-US" sz="1800" dirty="0"/>
              <a:t>Use the depth option to specify the actual depth</a:t>
            </a:r>
          </a:p>
          <a:p>
            <a:pPr lvl="1"/>
            <a:r>
              <a:rPr lang="en-US" sz="1800" dirty="0" err="1"/>
              <a:t>Vitis</a:t>
            </a:r>
            <a:r>
              <a:rPr lang="en-US" sz="1800" dirty="0"/>
              <a:t> HLS will issue a warning in case</a:t>
            </a:r>
          </a:p>
        </p:txBody>
      </p:sp>
      <p:pic>
        <p:nvPicPr>
          <p:cNvPr id="4" name="Picture 3">
            <a:extLst>
              <a:ext uri="{FF2B5EF4-FFF2-40B4-BE49-F238E27FC236}">
                <a16:creationId xmlns:a16="http://schemas.microsoft.com/office/drawing/2014/main" id="{C8B77FF6-781D-42F6-8FC4-492898DC5A3C}"/>
              </a:ext>
            </a:extLst>
          </p:cNvPr>
          <p:cNvPicPr>
            <a:picLocks noChangeAspect="1"/>
          </p:cNvPicPr>
          <p:nvPr/>
        </p:nvPicPr>
        <p:blipFill>
          <a:blip r:embed="rId3"/>
          <a:stretch>
            <a:fillRect/>
          </a:stretch>
        </p:blipFill>
        <p:spPr>
          <a:xfrm>
            <a:off x="6096001" y="7595823"/>
            <a:ext cx="2287043" cy="2382907"/>
          </a:xfrm>
          <a:prstGeom prst="rect">
            <a:avLst/>
          </a:prstGeom>
        </p:spPr>
      </p:pic>
      <p:sp>
        <p:nvSpPr>
          <p:cNvPr id="11" name="TextBox 10">
            <a:extLst>
              <a:ext uri="{FF2B5EF4-FFF2-40B4-BE49-F238E27FC236}">
                <a16:creationId xmlns:a16="http://schemas.microsoft.com/office/drawing/2014/main" id="{D73B87FB-788D-48BF-9E4D-8017244CB645}"/>
              </a:ext>
            </a:extLst>
          </p:cNvPr>
          <p:cNvSpPr txBox="1"/>
          <p:nvPr/>
        </p:nvSpPr>
        <p:spPr>
          <a:xfrm>
            <a:off x="1539796" y="2051326"/>
            <a:ext cx="1894153"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strike="sngStrike" kern="0" dirty="0">
                <a:solidFill>
                  <a:srgbClr val="000000"/>
                </a:solidFill>
                <a:latin typeface="Arial"/>
              </a:rPr>
              <a:t>#include "</a:t>
            </a:r>
            <a:r>
              <a:rPr lang="en-US" sz="900" b="1" strike="sngStrike" kern="0" dirty="0" err="1">
                <a:solidFill>
                  <a:srgbClr val="000000"/>
                </a:solidFill>
                <a:latin typeface="Arial"/>
              </a:rPr>
              <a:t>bus.h</a:t>
            </a:r>
            <a:r>
              <a:rPr lang="en-US" sz="900" b="1" strike="sngStrike" kern="0" dirty="0">
                <a:solidFill>
                  <a:srgbClr val="000000"/>
                </a:solidFill>
                <a:latin typeface="Arial"/>
              </a:rPr>
              <a:t>"</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foo</a:t>
            </a:r>
            <a:r>
              <a:rPr lang="en-US" sz="900" b="1" kern="0" dirty="0">
                <a:solidFill>
                  <a:srgbClr val="000000"/>
                </a:solidFill>
                <a:latin typeface="Arial"/>
              </a:rPr>
              <a:t> (int *d)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i</a:t>
            </a:r>
            <a:r>
              <a:rPr lang="en-US" sz="900" b="1" kern="0" dirty="0">
                <a:solidFill>
                  <a:srgbClr val="000000"/>
                </a:solidFill>
                <a:latin typeface="Arial"/>
              </a:rPr>
              <a:t>=0;i&lt;4;i++)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d+i</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a:t>
            </a:r>
          </a:p>
        </p:txBody>
      </p:sp>
      <p:sp>
        <p:nvSpPr>
          <p:cNvPr id="13" name="TextBox 12">
            <a:extLst>
              <a:ext uri="{FF2B5EF4-FFF2-40B4-BE49-F238E27FC236}">
                <a16:creationId xmlns:a16="http://schemas.microsoft.com/office/drawing/2014/main" id="{6E259EFE-8C32-475F-926B-909921007598}"/>
              </a:ext>
            </a:extLst>
          </p:cNvPr>
          <p:cNvSpPr txBox="1"/>
          <p:nvPr/>
        </p:nvSpPr>
        <p:spPr>
          <a:xfrm>
            <a:off x="7887768" y="2051324"/>
            <a:ext cx="1689380" cy="17543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int main () {</a:t>
            </a:r>
          </a:p>
          <a:p>
            <a:pPr defTabSz="914400" fontAlgn="base">
              <a:spcBef>
                <a:spcPct val="0"/>
              </a:spcBef>
              <a:spcAft>
                <a:spcPct val="0"/>
              </a:spcAft>
              <a:defRPr/>
            </a:pPr>
            <a:r>
              <a:rPr lang="en-US" sz="900" b="1" kern="0" dirty="0">
                <a:solidFill>
                  <a:srgbClr val="000000"/>
                </a:solidFill>
                <a:latin typeface="Arial"/>
              </a:rPr>
              <a:t>  int d[5];</a:t>
            </a:r>
          </a:p>
          <a:p>
            <a:pPr defTabSz="914400" fontAlgn="base">
              <a:spcBef>
                <a:spcPct val="0"/>
              </a:spcBef>
              <a:spcAft>
                <a:spcPct val="0"/>
              </a:spcAft>
              <a:defRPr/>
            </a:pPr>
            <a:r>
              <a:rPr lang="en-US" sz="900" b="1" kern="0" dirty="0">
                <a:solidFill>
                  <a:srgbClr val="000000"/>
                </a:solidFill>
                <a:latin typeface="Arial"/>
              </a:rPr>
              <a:t>  int </a:t>
            </a:r>
            <a:r>
              <a:rPr lang="en-US" sz="900" b="1" kern="0" dirty="0" err="1">
                <a:solidFill>
                  <a:srgbClr val="000000"/>
                </a:solidFill>
                <a:latin typeface="Arial"/>
              </a:rPr>
              <a:t>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for (</a:t>
            </a:r>
            <a:r>
              <a:rPr lang="en-US" sz="900" b="1" kern="0" dirty="0" err="1">
                <a:solidFill>
                  <a:srgbClr val="000000"/>
                </a:solidFill>
                <a:latin typeface="Arial"/>
              </a:rPr>
              <a:t>i</a:t>
            </a:r>
            <a:r>
              <a:rPr lang="en-US" sz="900" b="1" kern="0" dirty="0">
                <a:solidFill>
                  <a:srgbClr val="000000"/>
                </a:solidFill>
                <a:latin typeface="Arial"/>
              </a:rPr>
              <a:t>=0;i&lt;4;i++) {</a:t>
            </a:r>
          </a:p>
          <a:p>
            <a:pPr defTabSz="914400" fontAlgn="base">
              <a:spcBef>
                <a:spcPct val="0"/>
              </a:spcBef>
              <a:spcAft>
                <a:spcPct val="0"/>
              </a:spcAft>
              <a:defRPr/>
            </a:pPr>
            <a:r>
              <a:rPr lang="en-US" sz="900" b="1" kern="0" dirty="0">
                <a:solidFill>
                  <a:srgbClr val="000000"/>
                </a:solidFill>
                <a:latin typeface="Arial"/>
              </a:rPr>
              <a:t>    d[</a:t>
            </a:r>
            <a:r>
              <a:rPr lang="en-US" sz="900" b="1" kern="0" dirty="0" err="1">
                <a:solidFill>
                  <a:srgbClr val="000000"/>
                </a:solidFill>
                <a:latin typeface="Arial"/>
              </a:rPr>
              <a:t>i</a:t>
            </a:r>
            <a:r>
              <a:rPr lang="en-US" sz="900" b="1" kern="0" dirty="0">
                <a:solidFill>
                  <a:srgbClr val="000000"/>
                </a:solidFill>
                <a:latin typeface="Arial"/>
              </a:rPr>
              <a:t>] = </a:t>
            </a:r>
            <a:r>
              <a:rPr lang="en-US" sz="900" b="1" kern="0" dirty="0" err="1">
                <a:solidFill>
                  <a:srgbClr val="000000"/>
                </a:solidFill>
                <a:latin typeface="Arial"/>
              </a:rPr>
              <a:t>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err="1">
                <a:solidFill>
                  <a:srgbClr val="000000"/>
                </a:solidFill>
                <a:latin typeface="Arial"/>
              </a:rPr>
              <a:t>foo</a:t>
            </a:r>
            <a:r>
              <a:rPr lang="en-US" sz="900" b="1" kern="0" dirty="0">
                <a:solidFill>
                  <a:srgbClr val="000000"/>
                </a:solidFill>
                <a:latin typeface="Arial"/>
              </a:rPr>
              <a:t>(d);</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return 0;</a:t>
            </a:r>
          </a:p>
          <a:p>
            <a:pPr defTabSz="914400" fontAlgn="base">
              <a:spcBef>
                <a:spcPct val="0"/>
              </a:spcBef>
              <a:spcAft>
                <a:spcPct val="0"/>
              </a:spcAft>
              <a:defRPr/>
            </a:pPr>
            <a:r>
              <a:rPr lang="en-US" sz="900" b="1" kern="0" dirty="0">
                <a:solidFill>
                  <a:srgbClr val="000000"/>
                </a:solidFill>
                <a:latin typeface="Arial"/>
              </a:rPr>
              <a:t>}</a:t>
            </a:r>
          </a:p>
        </p:txBody>
      </p:sp>
      <p:sp>
        <p:nvSpPr>
          <p:cNvPr id="14" name="Right Arrow 6">
            <a:extLst>
              <a:ext uri="{FF2B5EF4-FFF2-40B4-BE49-F238E27FC236}">
                <a16:creationId xmlns:a16="http://schemas.microsoft.com/office/drawing/2014/main" id="{C6E37DCE-D21C-42BF-9BD9-2667C615E45F}"/>
              </a:ext>
            </a:extLst>
          </p:cNvPr>
          <p:cNvSpPr/>
          <p:nvPr/>
        </p:nvSpPr>
        <p:spPr>
          <a:xfrm>
            <a:off x="4048268" y="2243349"/>
            <a:ext cx="3276373" cy="161301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5" name="TextBox 14">
            <a:extLst>
              <a:ext uri="{FF2B5EF4-FFF2-40B4-BE49-F238E27FC236}">
                <a16:creationId xmlns:a16="http://schemas.microsoft.com/office/drawing/2014/main" id="{F6B2F25A-65B5-46E1-94AB-201EC27355D0}"/>
              </a:ext>
            </a:extLst>
          </p:cNvPr>
          <p:cNvSpPr txBox="1"/>
          <p:nvPr/>
        </p:nvSpPr>
        <p:spPr>
          <a:xfrm>
            <a:off x="3997075" y="2781019"/>
            <a:ext cx="3276372" cy="523220"/>
          </a:xfrm>
          <a:prstGeom prst="rect">
            <a:avLst/>
          </a:prstGeom>
          <a:noFill/>
        </p:spPr>
        <p:txBody>
          <a:bodyPr wrap="square" rtlCol="0">
            <a:spAutoFit/>
          </a:bodyPr>
          <a:lstStyle/>
          <a:p>
            <a:pPr algn="ctr" defTabSz="914400" fontAlgn="base">
              <a:spcBef>
                <a:spcPct val="0"/>
              </a:spcBef>
              <a:spcAft>
                <a:spcPct val="0"/>
              </a:spcAft>
              <a:defRPr/>
            </a:pPr>
            <a:r>
              <a:rPr lang="en-US" sz="1400" b="1" kern="0" dirty="0">
                <a:solidFill>
                  <a:srgbClr val="000000"/>
                </a:solidFill>
              </a:rPr>
              <a:t>The C test bench may correctly provide 4 values</a:t>
            </a:r>
          </a:p>
        </p:txBody>
      </p:sp>
      <p:pic>
        <p:nvPicPr>
          <p:cNvPr id="6" name="Picture 5">
            <a:extLst>
              <a:ext uri="{FF2B5EF4-FFF2-40B4-BE49-F238E27FC236}">
                <a16:creationId xmlns:a16="http://schemas.microsoft.com/office/drawing/2014/main" id="{F341C755-EA54-4B30-BDFC-0199A644F6B7}"/>
              </a:ext>
            </a:extLst>
          </p:cNvPr>
          <p:cNvPicPr>
            <a:picLocks noChangeAspect="1"/>
          </p:cNvPicPr>
          <p:nvPr/>
        </p:nvPicPr>
        <p:blipFill>
          <a:blip r:embed="rId4"/>
          <a:stretch>
            <a:fillRect/>
          </a:stretch>
        </p:blipFill>
        <p:spPr>
          <a:xfrm>
            <a:off x="9690027" y="2859239"/>
            <a:ext cx="2067523" cy="3355597"/>
          </a:xfrm>
          <a:prstGeom prst="rect">
            <a:avLst/>
          </a:prstGeom>
        </p:spPr>
      </p:pic>
      <p:sp>
        <p:nvSpPr>
          <p:cNvPr id="16" name="Slide Number Placeholder 5">
            <a:extLst>
              <a:ext uri="{FF2B5EF4-FFF2-40B4-BE49-F238E27FC236}">
                <a16:creationId xmlns:a16="http://schemas.microsoft.com/office/drawing/2014/main" id="{F1124196-25D1-49E1-97CF-2219551A30A4}"/>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54</a:t>
            </a:fld>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Multi-Access Pointers: Test bench Depth</a:t>
            </a:r>
          </a:p>
        </p:txBody>
      </p:sp>
      <p:sp>
        <p:nvSpPr>
          <p:cNvPr id="3" name="Content Placeholder 2"/>
          <p:cNvSpPr>
            <a:spLocks noGrp="1"/>
          </p:cNvSpPr>
          <p:nvPr>
            <p:ph idx="1"/>
          </p:nvPr>
        </p:nvSpPr>
        <p:spPr>
          <a:xfrm>
            <a:off x="649119" y="1155089"/>
            <a:ext cx="10512862" cy="4759404"/>
          </a:xfrm>
        </p:spPr>
        <p:txBody>
          <a:bodyPr/>
          <a:lstStyle/>
          <a:p>
            <a:r>
              <a:rPr lang="en-US" dirty="0"/>
              <a:t>Let’s look at an example</a:t>
            </a:r>
          </a:p>
          <a:p>
            <a:pPr lvl="1"/>
            <a:r>
              <a:rPr lang="en-US" dirty="0"/>
              <a:t>This code will access four samples using a pointer</a:t>
            </a:r>
          </a:p>
          <a:p>
            <a:pPr lvl="1"/>
            <a:endParaRPr lang="en-US" dirty="0"/>
          </a:p>
          <a:p>
            <a:pPr lvl="2"/>
            <a:endParaRPr lang="en-US" dirty="0"/>
          </a:p>
          <a:p>
            <a:pPr lvl="2"/>
            <a:endParaRPr lang="en-US" dirty="0"/>
          </a:p>
          <a:p>
            <a:pPr lvl="1"/>
            <a:endParaRPr lang="en-US" dirty="0"/>
          </a:p>
          <a:p>
            <a:pPr lvl="1"/>
            <a:endParaRPr lang="en-US" dirty="0"/>
          </a:p>
          <a:p>
            <a:endParaRPr lang="en-US" dirty="0"/>
          </a:p>
          <a:p>
            <a:r>
              <a:rPr lang="en-US" dirty="0"/>
              <a:t>Co-Simulation(RTL Verification) only sees a pointer on the interface</a:t>
            </a:r>
          </a:p>
          <a:p>
            <a:pPr lvl="1"/>
            <a:r>
              <a:rPr lang="en-US" dirty="0"/>
              <a:t>And will create a SystemC co-simulation wrapper to supply or store 1 sample </a:t>
            </a:r>
          </a:p>
          <a:p>
            <a:pPr lvl="1"/>
            <a:r>
              <a:rPr lang="en-US" dirty="0"/>
              <a:t>Use the depth option to specify the actual depth</a:t>
            </a:r>
          </a:p>
          <a:p>
            <a:pPr lvl="1"/>
            <a:r>
              <a:rPr lang="en-US" dirty="0" err="1">
                <a:highlight>
                  <a:srgbClr val="FFFF00"/>
                </a:highlight>
              </a:rPr>
              <a:t>Vitis</a:t>
            </a:r>
            <a:r>
              <a:rPr lang="en-US" dirty="0"/>
              <a:t> HLS will issue a warning in case</a:t>
            </a:r>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55</a:t>
            </a:fld>
            <a:endParaRPr lang="en-US" dirty="0">
              <a:solidFill>
                <a:srgbClr val="0C0C0C">
                  <a:tint val="75000"/>
                </a:srgbClr>
              </a:solidFill>
              <a:latin typeface="Arial"/>
            </a:endParaRPr>
          </a:p>
        </p:txBody>
      </p:sp>
      <p:sp>
        <p:nvSpPr>
          <p:cNvPr id="10" name="TextBox 9"/>
          <p:cNvSpPr txBox="1"/>
          <p:nvPr/>
        </p:nvSpPr>
        <p:spPr>
          <a:xfrm>
            <a:off x="1408225" y="5446674"/>
            <a:ext cx="6347973" cy="954107"/>
          </a:xfrm>
          <a:prstGeom prst="rect">
            <a:avLst/>
          </a:prstGeom>
          <a:noFill/>
        </p:spPr>
        <p:txBody>
          <a:bodyPr wrap="square" rtlCol="0">
            <a:spAutoFit/>
          </a:bodyPr>
          <a:lstStyle/>
          <a:p>
            <a:pPr defTabSz="914400"/>
            <a:r>
              <a:rPr lang="en-US" sz="1400" b="1" strike="sngStrike" dirty="0">
                <a:solidFill>
                  <a:srgbClr val="0C0C0C"/>
                </a:solidFill>
                <a:latin typeface="Arial"/>
              </a:rPr>
              <a:t>@I [SIM-76] 'd' has a depth of ‘4'. Interface directive option '-depth' can be used to set to a different value. Incorrect depth may result in simulation </a:t>
            </a:r>
            <a:r>
              <a:rPr lang="en-US" sz="1400" b="1" strike="sngStrike" dirty="0" err="1">
                <a:solidFill>
                  <a:srgbClr val="0C0C0C"/>
                </a:solidFill>
                <a:latin typeface="Arial"/>
              </a:rPr>
              <a:t>mismtach</a:t>
            </a:r>
            <a:r>
              <a:rPr lang="en-US" sz="1400" b="1" strike="sngStrike" dirty="0">
                <a:solidFill>
                  <a:srgbClr val="0C0C0C"/>
                </a:solidFill>
                <a:latin typeface="Arial"/>
              </a:rPr>
              <a:t>.</a:t>
            </a:r>
          </a:p>
          <a:p>
            <a:pPr defTabSz="914400"/>
            <a:endParaRPr lang="en-US" sz="1400" b="1" dirty="0" err="1">
              <a:solidFill>
                <a:srgbClr val="0C0C0C"/>
              </a:solidFill>
              <a:latin typeface="Arial"/>
            </a:endParaRPr>
          </a:p>
        </p:txBody>
      </p:sp>
      <p:pic>
        <p:nvPicPr>
          <p:cNvPr id="4" name="Picture 3">
            <a:extLst>
              <a:ext uri="{FF2B5EF4-FFF2-40B4-BE49-F238E27FC236}">
                <a16:creationId xmlns:a16="http://schemas.microsoft.com/office/drawing/2014/main" id="{C8B77FF6-781D-42F6-8FC4-492898DC5A3C}"/>
              </a:ext>
            </a:extLst>
          </p:cNvPr>
          <p:cNvPicPr>
            <a:picLocks noChangeAspect="1"/>
          </p:cNvPicPr>
          <p:nvPr/>
        </p:nvPicPr>
        <p:blipFill>
          <a:blip r:embed="rId3"/>
          <a:stretch>
            <a:fillRect/>
          </a:stretch>
        </p:blipFill>
        <p:spPr>
          <a:xfrm>
            <a:off x="6096001" y="7595823"/>
            <a:ext cx="2287043" cy="2382907"/>
          </a:xfrm>
          <a:prstGeom prst="rect">
            <a:avLst/>
          </a:prstGeom>
        </p:spPr>
      </p:pic>
      <p:sp>
        <p:nvSpPr>
          <p:cNvPr id="11" name="TextBox 10">
            <a:extLst>
              <a:ext uri="{FF2B5EF4-FFF2-40B4-BE49-F238E27FC236}">
                <a16:creationId xmlns:a16="http://schemas.microsoft.com/office/drawing/2014/main" id="{D73B87FB-788D-48BF-9E4D-8017244CB645}"/>
              </a:ext>
            </a:extLst>
          </p:cNvPr>
          <p:cNvSpPr txBox="1"/>
          <p:nvPr/>
        </p:nvSpPr>
        <p:spPr>
          <a:xfrm>
            <a:off x="1539796" y="2051326"/>
            <a:ext cx="1894153" cy="1615827"/>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strike="sngStrike" kern="0" dirty="0">
                <a:solidFill>
                  <a:srgbClr val="000000"/>
                </a:solidFill>
                <a:latin typeface="Arial"/>
              </a:rPr>
              <a:t>#include "</a:t>
            </a:r>
            <a:r>
              <a:rPr lang="en-US" sz="900" b="1" strike="sngStrike" kern="0" dirty="0" err="1">
                <a:solidFill>
                  <a:srgbClr val="000000"/>
                </a:solidFill>
                <a:latin typeface="Arial"/>
              </a:rPr>
              <a:t>bus.h</a:t>
            </a:r>
            <a:r>
              <a:rPr lang="en-US" sz="900" b="1" strike="sngStrike" kern="0" dirty="0">
                <a:solidFill>
                  <a:srgbClr val="000000"/>
                </a:solidFill>
                <a:latin typeface="Arial"/>
              </a:rPr>
              <a:t>"</a:t>
            </a:r>
          </a:p>
          <a:p>
            <a:pPr defTabSz="914400" fontAlgn="base">
              <a:spcBef>
                <a:spcPct val="0"/>
              </a:spcBef>
              <a:spcAft>
                <a:spcPct val="0"/>
              </a:spcAft>
              <a:defRPr/>
            </a:pPr>
            <a:endParaRPr lang="en-US" sz="900" b="1" kern="0" dirty="0">
              <a:solidFill>
                <a:srgbClr val="000000"/>
              </a:solidFill>
              <a:latin typeface="Arial"/>
            </a:endParaRPr>
          </a:p>
          <a:p>
            <a:pPr defTabSz="914400" fontAlgn="base">
              <a:spcBef>
                <a:spcPct val="0"/>
              </a:spcBef>
              <a:spcAft>
                <a:spcPct val="0"/>
              </a:spcAft>
              <a:defRPr/>
            </a:pPr>
            <a:r>
              <a:rPr lang="en-US" sz="900" b="1" kern="0" dirty="0">
                <a:solidFill>
                  <a:srgbClr val="000000"/>
                </a:solidFill>
                <a:latin typeface="Arial"/>
              </a:rPr>
              <a:t>void </a:t>
            </a:r>
            <a:r>
              <a:rPr lang="en-US" sz="900" b="1" kern="0" dirty="0" err="1">
                <a:solidFill>
                  <a:srgbClr val="000000"/>
                </a:solidFill>
                <a:latin typeface="Arial"/>
              </a:rPr>
              <a:t>foo</a:t>
            </a:r>
            <a:r>
              <a:rPr lang="en-US" sz="900" b="1" kern="0" dirty="0">
                <a:solidFill>
                  <a:srgbClr val="000000"/>
                </a:solidFill>
                <a:latin typeface="Arial"/>
              </a:rPr>
              <a:t> (int *d) {</a:t>
            </a:r>
          </a:p>
          <a:p>
            <a:pPr defTabSz="914400" fontAlgn="base">
              <a:spcBef>
                <a:spcPct val="0"/>
              </a:spcBef>
              <a:spcAft>
                <a:spcPct val="0"/>
              </a:spcAft>
              <a:defRPr/>
            </a:pPr>
            <a:r>
              <a:rPr lang="en-US" sz="900" b="1" kern="0" dirty="0">
                <a:solidFill>
                  <a:srgbClr val="000000"/>
                </a:solidFill>
                <a:latin typeface="Arial"/>
              </a:rPr>
              <a:t>  static </a:t>
            </a:r>
            <a:r>
              <a:rPr lang="en-US" sz="900" b="1" kern="0" dirty="0" err="1">
                <a:solidFill>
                  <a:srgbClr val="000000"/>
                </a:solidFill>
                <a:latin typeface="Arial"/>
              </a:rPr>
              <a:t>int</a:t>
            </a:r>
            <a:r>
              <a:rPr lang="en-US" sz="900" b="1" kern="0" dirty="0">
                <a:solidFill>
                  <a:srgbClr val="000000"/>
                </a:solidFill>
                <a:latin typeface="Arial"/>
              </a:rPr>
              <a:t> acc = 0;</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int</a:t>
            </a:r>
            <a:r>
              <a:rPr lang="en-US" sz="900" b="1" kern="0" dirty="0">
                <a:solidFill>
                  <a:srgbClr val="000000"/>
                </a:solidFill>
                <a:latin typeface="Arial"/>
              </a:rPr>
              <a:t> </a:t>
            </a:r>
            <a:r>
              <a:rPr lang="en-US" sz="900" b="1" kern="0" dirty="0" err="1">
                <a:solidFill>
                  <a:srgbClr val="000000"/>
                </a:solidFill>
                <a:latin typeface="Arial"/>
              </a:rPr>
              <a:t>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for (</a:t>
            </a:r>
            <a:r>
              <a:rPr lang="en-US" sz="900" b="1" kern="0" dirty="0" err="1">
                <a:solidFill>
                  <a:srgbClr val="000000"/>
                </a:solidFill>
                <a:latin typeface="Arial"/>
              </a:rPr>
              <a:t>i</a:t>
            </a:r>
            <a:r>
              <a:rPr lang="en-US" sz="900" b="1" kern="0" dirty="0">
                <a:solidFill>
                  <a:srgbClr val="000000"/>
                </a:solidFill>
                <a:latin typeface="Arial"/>
              </a:rPr>
              <a:t>=0;i&lt;4;i++) {</a:t>
            </a:r>
          </a:p>
          <a:p>
            <a:pPr defTabSz="914400" fontAlgn="base">
              <a:spcBef>
                <a:spcPct val="0"/>
              </a:spcBef>
              <a:spcAft>
                <a:spcPct val="0"/>
              </a:spcAft>
              <a:defRPr/>
            </a:pPr>
            <a:r>
              <a:rPr lang="en-US" sz="900" b="1" kern="0" dirty="0">
                <a:solidFill>
                  <a:srgbClr val="000000"/>
                </a:solidFill>
                <a:latin typeface="Arial"/>
              </a:rPr>
              <a:t>    acc += *(</a:t>
            </a:r>
            <a:r>
              <a:rPr lang="en-US" sz="900" b="1" kern="0" dirty="0" err="1">
                <a:solidFill>
                  <a:srgbClr val="000000"/>
                </a:solidFill>
                <a:latin typeface="Arial"/>
              </a:rPr>
              <a:t>d+i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r>
              <a:rPr lang="en-US" sz="900" b="1" kern="0" dirty="0" err="1">
                <a:solidFill>
                  <a:srgbClr val="000000"/>
                </a:solidFill>
                <a:latin typeface="Arial"/>
              </a:rPr>
              <a:t>d+i</a:t>
            </a:r>
            <a:r>
              <a:rPr lang="en-US" sz="900" b="1" kern="0" dirty="0">
                <a:solidFill>
                  <a:srgbClr val="000000"/>
                </a:solidFill>
                <a:latin typeface="Arial"/>
              </a:rPr>
              <a:t>) = acc;</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a:t>
            </a:r>
          </a:p>
        </p:txBody>
      </p:sp>
      <p:sp>
        <p:nvSpPr>
          <p:cNvPr id="13" name="TextBox 12">
            <a:extLst>
              <a:ext uri="{FF2B5EF4-FFF2-40B4-BE49-F238E27FC236}">
                <a16:creationId xmlns:a16="http://schemas.microsoft.com/office/drawing/2014/main" id="{6E259EFE-8C32-475F-926B-909921007598}"/>
              </a:ext>
            </a:extLst>
          </p:cNvPr>
          <p:cNvSpPr txBox="1"/>
          <p:nvPr/>
        </p:nvSpPr>
        <p:spPr>
          <a:xfrm>
            <a:off x="7887768" y="2051324"/>
            <a:ext cx="1689380" cy="1754326"/>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900" b="1" kern="0" dirty="0">
                <a:solidFill>
                  <a:srgbClr val="000000"/>
                </a:solidFill>
                <a:latin typeface="Arial"/>
              </a:rPr>
              <a:t>int main () {</a:t>
            </a:r>
          </a:p>
          <a:p>
            <a:pPr defTabSz="914400" fontAlgn="base">
              <a:spcBef>
                <a:spcPct val="0"/>
              </a:spcBef>
              <a:spcAft>
                <a:spcPct val="0"/>
              </a:spcAft>
              <a:defRPr/>
            </a:pPr>
            <a:r>
              <a:rPr lang="en-US" sz="900" b="1" kern="0" dirty="0">
                <a:solidFill>
                  <a:srgbClr val="000000"/>
                </a:solidFill>
                <a:latin typeface="Arial"/>
              </a:rPr>
              <a:t>  int d[5];</a:t>
            </a:r>
          </a:p>
          <a:p>
            <a:pPr defTabSz="914400" fontAlgn="base">
              <a:spcBef>
                <a:spcPct val="0"/>
              </a:spcBef>
              <a:spcAft>
                <a:spcPct val="0"/>
              </a:spcAft>
              <a:defRPr/>
            </a:pPr>
            <a:r>
              <a:rPr lang="en-US" sz="900" b="1" kern="0" dirty="0">
                <a:solidFill>
                  <a:srgbClr val="000000"/>
                </a:solidFill>
                <a:latin typeface="Arial"/>
              </a:rPr>
              <a:t>  int </a:t>
            </a:r>
            <a:r>
              <a:rPr lang="en-US" sz="900" b="1" kern="0" dirty="0" err="1">
                <a:solidFill>
                  <a:srgbClr val="000000"/>
                </a:solidFill>
                <a:latin typeface="Arial"/>
              </a:rPr>
              <a:t>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for (</a:t>
            </a:r>
            <a:r>
              <a:rPr lang="en-US" sz="900" b="1" kern="0" dirty="0" err="1">
                <a:solidFill>
                  <a:srgbClr val="000000"/>
                </a:solidFill>
                <a:latin typeface="Arial"/>
              </a:rPr>
              <a:t>i</a:t>
            </a:r>
            <a:r>
              <a:rPr lang="en-US" sz="900" b="1" kern="0" dirty="0">
                <a:solidFill>
                  <a:srgbClr val="000000"/>
                </a:solidFill>
                <a:latin typeface="Arial"/>
              </a:rPr>
              <a:t>=0;i&lt;4;i++) {</a:t>
            </a:r>
          </a:p>
          <a:p>
            <a:pPr defTabSz="914400" fontAlgn="base">
              <a:spcBef>
                <a:spcPct val="0"/>
              </a:spcBef>
              <a:spcAft>
                <a:spcPct val="0"/>
              </a:spcAft>
              <a:defRPr/>
            </a:pPr>
            <a:r>
              <a:rPr lang="en-US" sz="900" b="1" kern="0" dirty="0">
                <a:solidFill>
                  <a:srgbClr val="000000"/>
                </a:solidFill>
                <a:latin typeface="Arial"/>
              </a:rPr>
              <a:t>    d[</a:t>
            </a:r>
            <a:r>
              <a:rPr lang="en-US" sz="900" b="1" kern="0" dirty="0" err="1">
                <a:solidFill>
                  <a:srgbClr val="000000"/>
                </a:solidFill>
                <a:latin typeface="Arial"/>
              </a:rPr>
              <a:t>i</a:t>
            </a:r>
            <a:r>
              <a:rPr lang="en-US" sz="900" b="1" kern="0" dirty="0">
                <a:solidFill>
                  <a:srgbClr val="000000"/>
                </a:solidFill>
                <a:latin typeface="Arial"/>
              </a:rPr>
              <a:t>] = </a:t>
            </a:r>
            <a:r>
              <a:rPr lang="en-US" sz="900" b="1" kern="0" dirty="0" err="1">
                <a:solidFill>
                  <a:srgbClr val="000000"/>
                </a:solidFill>
                <a:latin typeface="Arial"/>
              </a:rPr>
              <a:t>i</a:t>
            </a:r>
            <a:r>
              <a:rPr lang="en-US" sz="900" b="1" kern="0" dirty="0">
                <a:solidFill>
                  <a:srgbClr val="000000"/>
                </a:solidFill>
                <a:latin typeface="Arial"/>
              </a:rPr>
              <a:t>;</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err="1">
                <a:solidFill>
                  <a:srgbClr val="000000"/>
                </a:solidFill>
                <a:latin typeface="Arial"/>
              </a:rPr>
              <a:t>foo</a:t>
            </a:r>
            <a:r>
              <a:rPr lang="en-US" sz="900" b="1" kern="0" dirty="0">
                <a:solidFill>
                  <a:srgbClr val="000000"/>
                </a:solidFill>
                <a:latin typeface="Arial"/>
              </a:rPr>
              <a:t>(d);</a:t>
            </a:r>
          </a:p>
          <a:p>
            <a:pPr defTabSz="914400" fontAlgn="base">
              <a:spcBef>
                <a:spcPct val="0"/>
              </a:spcBef>
              <a:spcAft>
                <a:spcPct val="0"/>
              </a:spcAft>
              <a:defRPr/>
            </a:pPr>
            <a:r>
              <a:rPr lang="en-US" sz="900" b="1" kern="0" dirty="0">
                <a:solidFill>
                  <a:srgbClr val="000000"/>
                </a:solidFill>
                <a:latin typeface="Arial"/>
              </a:rPr>
              <a:t>  </a:t>
            </a:r>
          </a:p>
          <a:p>
            <a:pPr defTabSz="914400" fontAlgn="base">
              <a:spcBef>
                <a:spcPct val="0"/>
              </a:spcBef>
              <a:spcAft>
                <a:spcPct val="0"/>
              </a:spcAft>
              <a:defRPr/>
            </a:pPr>
            <a:r>
              <a:rPr lang="en-US" sz="900" b="1" kern="0" dirty="0">
                <a:solidFill>
                  <a:srgbClr val="000000"/>
                </a:solidFill>
                <a:latin typeface="Arial"/>
              </a:rPr>
              <a:t>return 0;</a:t>
            </a:r>
          </a:p>
          <a:p>
            <a:pPr defTabSz="914400" fontAlgn="base">
              <a:spcBef>
                <a:spcPct val="0"/>
              </a:spcBef>
              <a:spcAft>
                <a:spcPct val="0"/>
              </a:spcAft>
              <a:defRPr/>
            </a:pPr>
            <a:r>
              <a:rPr lang="en-US" sz="900" b="1" kern="0" dirty="0">
                <a:solidFill>
                  <a:srgbClr val="000000"/>
                </a:solidFill>
                <a:latin typeface="Arial"/>
              </a:rPr>
              <a:t>}</a:t>
            </a:r>
          </a:p>
        </p:txBody>
      </p:sp>
      <p:sp>
        <p:nvSpPr>
          <p:cNvPr id="14" name="Right Arrow 6">
            <a:extLst>
              <a:ext uri="{FF2B5EF4-FFF2-40B4-BE49-F238E27FC236}">
                <a16:creationId xmlns:a16="http://schemas.microsoft.com/office/drawing/2014/main" id="{C6E37DCE-D21C-42BF-9BD9-2667C615E45F}"/>
              </a:ext>
            </a:extLst>
          </p:cNvPr>
          <p:cNvSpPr/>
          <p:nvPr/>
        </p:nvSpPr>
        <p:spPr>
          <a:xfrm>
            <a:off x="4048268" y="2243349"/>
            <a:ext cx="3276373" cy="1613010"/>
          </a:xfrm>
          <a:prstGeom prst="rightArrow">
            <a:avLst/>
          </a:prstGeom>
          <a:gradFill rotWithShape="1">
            <a:gsLst>
              <a:gs pos="0">
                <a:srgbClr val="008CA8">
                  <a:shade val="51000"/>
                  <a:satMod val="130000"/>
                </a:srgbClr>
              </a:gs>
              <a:gs pos="80000">
                <a:srgbClr val="008CA8">
                  <a:shade val="93000"/>
                  <a:satMod val="130000"/>
                </a:srgbClr>
              </a:gs>
              <a:gs pos="100000">
                <a:srgbClr val="008CA8">
                  <a:shade val="94000"/>
                  <a:satMod val="135000"/>
                </a:srgbClr>
              </a:gs>
            </a:gsLst>
            <a:lin ang="16200000" scaled="0"/>
          </a:gradFill>
          <a:ln w="9525" cap="flat" cmpd="sng" algn="ctr">
            <a:solidFill>
              <a:srgbClr val="008CA8">
                <a:shade val="95000"/>
                <a:satMod val="105000"/>
              </a:srgbClr>
            </a:solidFill>
            <a:prstDash val="solid"/>
          </a:ln>
          <a:effectLst>
            <a:outerShdw blurRad="40000" dist="23000" dir="5400000" rotWithShape="0">
              <a:srgbClr val="000000">
                <a:alpha val="35000"/>
              </a:srgbClr>
            </a:outerShdw>
          </a:effectLst>
        </p:spPr>
        <p:txBody>
          <a:bodyPr rtlCol="0" anchor="ctr"/>
          <a:lstStyle/>
          <a:p>
            <a:pPr algn="ctr" defTabSz="914400" fontAlgn="base">
              <a:spcBef>
                <a:spcPct val="0"/>
              </a:spcBef>
              <a:spcAft>
                <a:spcPct val="0"/>
              </a:spcAft>
              <a:defRPr/>
            </a:pPr>
            <a:endParaRPr lang="en-US" kern="0">
              <a:solidFill>
                <a:srgbClr val="FFFFFF"/>
              </a:solidFill>
              <a:latin typeface="Arial"/>
            </a:endParaRPr>
          </a:p>
        </p:txBody>
      </p:sp>
      <p:sp>
        <p:nvSpPr>
          <p:cNvPr id="15" name="TextBox 14">
            <a:extLst>
              <a:ext uri="{FF2B5EF4-FFF2-40B4-BE49-F238E27FC236}">
                <a16:creationId xmlns:a16="http://schemas.microsoft.com/office/drawing/2014/main" id="{F6B2F25A-65B5-46E1-94AB-201EC27355D0}"/>
              </a:ext>
            </a:extLst>
          </p:cNvPr>
          <p:cNvSpPr txBox="1"/>
          <p:nvPr/>
        </p:nvSpPr>
        <p:spPr>
          <a:xfrm>
            <a:off x="3997075" y="2781019"/>
            <a:ext cx="3276372" cy="523220"/>
          </a:xfrm>
          <a:prstGeom prst="rect">
            <a:avLst/>
          </a:prstGeom>
          <a:noFill/>
        </p:spPr>
        <p:txBody>
          <a:bodyPr wrap="square" rtlCol="0">
            <a:spAutoFit/>
          </a:bodyPr>
          <a:lstStyle/>
          <a:p>
            <a:pPr algn="ctr" defTabSz="914400" fontAlgn="base">
              <a:spcBef>
                <a:spcPct val="0"/>
              </a:spcBef>
              <a:spcAft>
                <a:spcPct val="0"/>
              </a:spcAft>
              <a:defRPr/>
            </a:pPr>
            <a:r>
              <a:rPr lang="en-US" sz="1400" b="1" kern="0" dirty="0">
                <a:solidFill>
                  <a:srgbClr val="000000"/>
                </a:solidFill>
                <a:latin typeface="Arial"/>
              </a:rPr>
              <a:t>The C test bench may correctly provide 4 values</a:t>
            </a:r>
          </a:p>
        </p:txBody>
      </p:sp>
      <p:pic>
        <p:nvPicPr>
          <p:cNvPr id="6" name="Picture 5">
            <a:extLst>
              <a:ext uri="{FF2B5EF4-FFF2-40B4-BE49-F238E27FC236}">
                <a16:creationId xmlns:a16="http://schemas.microsoft.com/office/drawing/2014/main" id="{F341C755-EA54-4B30-BDFC-0199A644F6B7}"/>
              </a:ext>
            </a:extLst>
          </p:cNvPr>
          <p:cNvPicPr>
            <a:picLocks noChangeAspect="1"/>
          </p:cNvPicPr>
          <p:nvPr/>
        </p:nvPicPr>
        <p:blipFill>
          <a:blip r:embed="rId4"/>
          <a:stretch>
            <a:fillRect/>
          </a:stretch>
        </p:blipFill>
        <p:spPr>
          <a:xfrm>
            <a:off x="9690027" y="2859239"/>
            <a:ext cx="2067523" cy="3355597"/>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FE81EF-AB02-4F75-B247-0DF6A1D18653}"/>
              </a:ext>
            </a:extLst>
          </p:cNvPr>
          <p:cNvSpPr>
            <a:spLocks noGrp="1"/>
          </p:cNvSpPr>
          <p:nvPr>
            <p:ph type="title"/>
          </p:nvPr>
        </p:nvSpPr>
        <p:spPr/>
        <p:txBody>
          <a:bodyPr/>
          <a:lstStyle/>
          <a:p>
            <a:r>
              <a:rPr lang="en-US" altLang="zh-CN" dirty="0"/>
              <a:t>Streams</a:t>
            </a:r>
            <a:endParaRPr lang="zh-CN" altLang="en-US" dirty="0"/>
          </a:p>
        </p:txBody>
      </p:sp>
    </p:spTree>
    <p:extLst>
      <p:ext uri="{BB962C8B-B14F-4D97-AF65-F5344CB8AC3E}">
        <p14:creationId xmlns:p14="http://schemas.microsoft.com/office/powerpoint/2010/main" val="18676813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Designing with Streams</a:t>
            </a:r>
          </a:p>
        </p:txBody>
      </p:sp>
      <p:sp>
        <p:nvSpPr>
          <p:cNvPr id="2" name="Content Placeholder 1"/>
          <p:cNvSpPr>
            <a:spLocks noGrp="1"/>
          </p:cNvSpPr>
          <p:nvPr>
            <p:ph idx="1"/>
          </p:nvPr>
        </p:nvSpPr>
        <p:spPr/>
        <p:txBody>
          <a:bodyPr/>
          <a:lstStyle/>
          <a:p>
            <a:pPr lvl="0"/>
            <a:r>
              <a:rPr lang="en-US" dirty="0"/>
              <a:t>Streams can be used instead of multi-access pointers</a:t>
            </a:r>
          </a:p>
          <a:p>
            <a:pPr lvl="1"/>
            <a:r>
              <a:rPr lang="en-US" dirty="0"/>
              <a:t>None of the issues</a:t>
            </a:r>
          </a:p>
          <a:p>
            <a:pPr lvl="0"/>
            <a:r>
              <a:rPr lang="en-US" dirty="0"/>
              <a:t>Streams simulate like an infinite FIFO in software</a:t>
            </a:r>
          </a:p>
          <a:p>
            <a:pPr lvl="1"/>
            <a:r>
              <a:rPr lang="en-US" dirty="0"/>
              <a:t>Implemented as a FIFO of user-defined size in hardware</a:t>
            </a:r>
          </a:p>
          <a:p>
            <a:pPr lvl="0"/>
            <a:r>
              <a:rPr lang="en-US" dirty="0"/>
              <a:t>Streams have support for multi-access</a:t>
            </a:r>
          </a:p>
          <a:p>
            <a:pPr lvl="1"/>
            <a:r>
              <a:rPr lang="en-US" dirty="0"/>
              <a:t>Streams interface to the testbench</a:t>
            </a:r>
          </a:p>
          <a:p>
            <a:pPr lvl="1"/>
            <a:r>
              <a:rPr lang="en-US" dirty="0"/>
              <a:t>Streams can be read in the testbench to check the intermediate values</a:t>
            </a:r>
          </a:p>
          <a:p>
            <a:pPr lvl="1"/>
            <a:r>
              <a:rPr lang="en-US" dirty="0"/>
              <a:t>Streams store values: no chance of the volatile effect</a:t>
            </a:r>
          </a:p>
          <a:p>
            <a:pPr lvl="0"/>
            <a:r>
              <a:rPr lang="en-US" dirty="0"/>
              <a:t>Streams are supported on the interface and internally</a:t>
            </a:r>
          </a:p>
          <a:p>
            <a:pPr lvl="1"/>
            <a:r>
              <a:rPr lang="en-US" dirty="0"/>
              <a:t>Define the stream as static to make it internal only</a:t>
            </a:r>
          </a:p>
          <a:p>
            <a:endParaRPr lang="en-US" dirty="0"/>
          </a:p>
        </p:txBody>
      </p:sp>
      <p:sp>
        <p:nvSpPr>
          <p:cNvPr id="5" name="Slide Number Placeholder 5">
            <a:extLst>
              <a:ext uri="{FF2B5EF4-FFF2-40B4-BE49-F238E27FC236}">
                <a16:creationId xmlns:a16="http://schemas.microsoft.com/office/drawing/2014/main" id="{A8FB7CE4-F6B6-47F8-B1D9-23252EFE03C7}"/>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57</a:t>
            </a:fld>
            <a:endParaRPr lang="en-US" dirty="0"/>
          </a:p>
        </p:txBody>
      </p:sp>
    </p:spTree>
    <p:extLst>
      <p:ext uri="{BB962C8B-B14F-4D97-AF65-F5344CB8AC3E}">
        <p14:creationId xmlns:p14="http://schemas.microsoft.com/office/powerpoint/2010/main" val="31780467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Designing with Streams</a:t>
            </a:r>
          </a:p>
        </p:txBody>
      </p:sp>
      <p:sp>
        <p:nvSpPr>
          <p:cNvPr id="2" name="Content Placeholder 1"/>
          <p:cNvSpPr>
            <a:spLocks noGrp="1"/>
          </p:cNvSpPr>
          <p:nvPr>
            <p:ph idx="1"/>
          </p:nvPr>
        </p:nvSpPr>
        <p:spPr/>
        <p:txBody>
          <a:bodyPr/>
          <a:lstStyle/>
          <a:p>
            <a:pPr lvl="0"/>
            <a:r>
              <a:rPr lang="en-US" dirty="0"/>
              <a:t>Streams can be used instead of multi-access pointers</a:t>
            </a:r>
          </a:p>
          <a:p>
            <a:pPr lvl="1"/>
            <a:r>
              <a:rPr lang="en-US" dirty="0"/>
              <a:t>None of the issues</a:t>
            </a:r>
          </a:p>
          <a:p>
            <a:pPr lvl="0"/>
            <a:r>
              <a:rPr lang="en-US" dirty="0"/>
              <a:t>Streams simulate like an infinite FIFO in software</a:t>
            </a:r>
          </a:p>
          <a:p>
            <a:pPr lvl="1"/>
            <a:r>
              <a:rPr lang="en-US" dirty="0"/>
              <a:t>Implemented as a FIFO of user-defined size in hardware</a:t>
            </a:r>
          </a:p>
          <a:p>
            <a:pPr lvl="0"/>
            <a:r>
              <a:rPr lang="en-US" dirty="0"/>
              <a:t>Streams have support for multi-access</a:t>
            </a:r>
          </a:p>
          <a:p>
            <a:pPr lvl="1"/>
            <a:r>
              <a:rPr lang="en-US" dirty="0"/>
              <a:t>Streams interface to the testbench</a:t>
            </a:r>
          </a:p>
          <a:p>
            <a:pPr lvl="1"/>
            <a:r>
              <a:rPr lang="en-US" dirty="0"/>
              <a:t>Streams can be read in the testbench to check the intermediate values</a:t>
            </a:r>
          </a:p>
          <a:p>
            <a:pPr lvl="1"/>
            <a:r>
              <a:rPr lang="en-US" dirty="0"/>
              <a:t>Streams store values: no chance of the volatile effect</a:t>
            </a:r>
          </a:p>
          <a:p>
            <a:pPr lvl="0"/>
            <a:r>
              <a:rPr lang="en-US" dirty="0"/>
              <a:t>Streams are supported on the interface and internally</a:t>
            </a:r>
          </a:p>
          <a:p>
            <a:pPr lvl="1"/>
            <a:r>
              <a:rPr lang="en-US" dirty="0"/>
              <a:t>Define the stream as static to make it internal only</a:t>
            </a:r>
          </a:p>
          <a:p>
            <a:endParaRPr lang="en-US" dirty="0"/>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58</a:t>
            </a:fld>
            <a:endParaRPr lang="en-US" dirty="0">
              <a:solidFill>
                <a:srgbClr val="0C0C0C">
                  <a:tint val="75000"/>
                </a:srgbClr>
              </a:solidFill>
              <a:latin typeface="Arial"/>
            </a:endParaRPr>
          </a:p>
        </p:txBody>
      </p:sp>
    </p:spTree>
    <p:extLst>
      <p:ext uri="{BB962C8B-B14F-4D97-AF65-F5344CB8AC3E}">
        <p14:creationId xmlns:p14="http://schemas.microsoft.com/office/powerpoint/2010/main" val="29322397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Using Streams</a:t>
            </a:r>
          </a:p>
        </p:txBody>
      </p:sp>
      <p:sp>
        <p:nvSpPr>
          <p:cNvPr id="6" name="Content Placeholder 5"/>
          <p:cNvSpPr>
            <a:spLocks noGrp="1"/>
          </p:cNvSpPr>
          <p:nvPr>
            <p:ph idx="1"/>
          </p:nvPr>
        </p:nvSpPr>
        <p:spPr/>
        <p:txBody>
          <a:bodyPr/>
          <a:lstStyle/>
          <a:p>
            <a:r>
              <a:rPr lang="en-US" sz="2000" dirty="0"/>
              <a:t>Streams are C++ classes</a:t>
            </a:r>
          </a:p>
          <a:p>
            <a:pPr lvl="1"/>
            <a:r>
              <a:rPr lang="en-US" sz="1800" dirty="0"/>
              <a:t>Modeled in C++ an as infinite depth FIFO</a:t>
            </a:r>
          </a:p>
          <a:p>
            <a:pPr lvl="1"/>
            <a:r>
              <a:rPr lang="en-US" sz="1800" dirty="0"/>
              <a:t>Can be written to or read from</a:t>
            </a:r>
          </a:p>
          <a:p>
            <a:r>
              <a:rPr lang="en-US" sz="2000" dirty="0"/>
              <a:t>Ideal for Hardware Modeling</a:t>
            </a:r>
          </a:p>
          <a:p>
            <a:pPr lvl="1"/>
            <a:r>
              <a:rPr lang="en-US" sz="1800" dirty="0"/>
              <a:t>Ideal for modeling designs in which the data is known to be streaming (data is always in sequential order)</a:t>
            </a:r>
          </a:p>
          <a:p>
            <a:pPr lvl="2"/>
            <a:r>
              <a:rPr lang="en-US" sz="1400" dirty="0"/>
              <a:t>Video or Communication designs typically stream data</a:t>
            </a:r>
          </a:p>
          <a:p>
            <a:pPr lvl="1"/>
            <a:r>
              <a:rPr lang="en-US" sz="1800" dirty="0"/>
              <a:t>No need to model the design in C++ as a “frame” </a:t>
            </a:r>
          </a:p>
          <a:p>
            <a:pPr lvl="1"/>
            <a:r>
              <a:rPr lang="en-US" sz="1800" dirty="0"/>
              <a:t>Streams allow it to be modeled as per-sample processing </a:t>
            </a:r>
          </a:p>
          <a:p>
            <a:pPr lvl="2"/>
            <a:r>
              <a:rPr lang="en-US" sz="1400" dirty="0"/>
              <a:t>Just fill the stream in the test bench</a:t>
            </a:r>
          </a:p>
          <a:p>
            <a:pPr lvl="2"/>
            <a:r>
              <a:rPr lang="en-US" sz="1400" dirty="0"/>
              <a:t>Read and write to the stream as if it’s an infinite FIFO</a:t>
            </a:r>
          </a:p>
          <a:p>
            <a:pPr lvl="2"/>
            <a:r>
              <a:rPr lang="en-US" sz="1400" dirty="0"/>
              <a:t>Read from the stream in the test bench to confirm results</a:t>
            </a:r>
          </a:p>
          <a:p>
            <a:r>
              <a:rPr lang="en-US" sz="2000" dirty="0"/>
              <a:t>Stream are by default implemented as a FIFO of depth 2</a:t>
            </a:r>
          </a:p>
          <a:p>
            <a:pPr lvl="1"/>
            <a:r>
              <a:rPr lang="en-US" sz="1800" dirty="0"/>
              <a:t>Can be specified by the user: needed for decimation/interpolation designs</a:t>
            </a:r>
          </a:p>
        </p:txBody>
      </p:sp>
      <p:sp>
        <p:nvSpPr>
          <p:cNvPr id="8" name="Slide Number Placeholder 5">
            <a:extLst>
              <a:ext uri="{FF2B5EF4-FFF2-40B4-BE49-F238E27FC236}">
                <a16:creationId xmlns:a16="http://schemas.microsoft.com/office/drawing/2014/main" id="{9F42F77D-6047-4C44-8A55-93E7F3012506}"/>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59</a:t>
            </a:fld>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dirty="0"/>
              <a:t>Using Streams</a:t>
            </a:r>
          </a:p>
        </p:txBody>
      </p:sp>
      <p:sp>
        <p:nvSpPr>
          <p:cNvPr id="6" name="Content Placeholder 5"/>
          <p:cNvSpPr>
            <a:spLocks noGrp="1"/>
          </p:cNvSpPr>
          <p:nvPr>
            <p:ph idx="1"/>
          </p:nvPr>
        </p:nvSpPr>
        <p:spPr/>
        <p:txBody>
          <a:bodyPr/>
          <a:lstStyle/>
          <a:p>
            <a:r>
              <a:rPr lang="en-US" dirty="0"/>
              <a:t>Streams are C++ classes</a:t>
            </a:r>
          </a:p>
          <a:p>
            <a:pPr lvl="1"/>
            <a:r>
              <a:rPr lang="en-US" dirty="0"/>
              <a:t>Modeled in C++ an as infinite depth FIFO</a:t>
            </a:r>
          </a:p>
          <a:p>
            <a:pPr lvl="1"/>
            <a:r>
              <a:rPr lang="en-US" dirty="0"/>
              <a:t>Can be written to or read from</a:t>
            </a:r>
          </a:p>
          <a:p>
            <a:r>
              <a:rPr lang="en-US" dirty="0"/>
              <a:t>Ideal for Hardware Modeling</a:t>
            </a:r>
          </a:p>
          <a:p>
            <a:pPr lvl="1"/>
            <a:r>
              <a:rPr lang="en-US" dirty="0"/>
              <a:t>Ideal for modeling designs in which the data is known to be streaming (data is always in sequential order)</a:t>
            </a:r>
          </a:p>
          <a:p>
            <a:pPr lvl="2"/>
            <a:r>
              <a:rPr lang="en-US" dirty="0"/>
              <a:t>Video or Communication designs typically stream data</a:t>
            </a:r>
          </a:p>
          <a:p>
            <a:pPr lvl="1"/>
            <a:r>
              <a:rPr lang="en-US" dirty="0"/>
              <a:t>No need to model the design in C++ as a “frame” </a:t>
            </a:r>
          </a:p>
          <a:p>
            <a:pPr lvl="1"/>
            <a:r>
              <a:rPr lang="en-US" dirty="0"/>
              <a:t>Streams allow it to be modeled as per-sample processing </a:t>
            </a:r>
          </a:p>
          <a:p>
            <a:pPr lvl="2"/>
            <a:r>
              <a:rPr lang="en-US" dirty="0"/>
              <a:t>Just fill the stream in the test bench</a:t>
            </a:r>
          </a:p>
          <a:p>
            <a:pPr lvl="2"/>
            <a:r>
              <a:rPr lang="en-US" dirty="0"/>
              <a:t>Read and write to the stream as if it’s an infinite FIFO</a:t>
            </a:r>
          </a:p>
          <a:p>
            <a:pPr lvl="2"/>
            <a:r>
              <a:rPr lang="en-US" dirty="0"/>
              <a:t>Read from the stream in the test bench to confirm results</a:t>
            </a:r>
          </a:p>
          <a:p>
            <a:r>
              <a:rPr lang="en-US" dirty="0"/>
              <a:t>Stream are by default implemented as a FIFO of depth 2</a:t>
            </a:r>
          </a:p>
          <a:p>
            <a:pPr lvl="1"/>
            <a:r>
              <a:rPr lang="en-US" dirty="0"/>
              <a:t>Can be specified by the user: needed for decimation/interpolation designs</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60</a:t>
            </a:fld>
            <a:endParaRPr lang="en-US" dirty="0">
              <a:solidFill>
                <a:srgbClr val="0C0C0C">
                  <a:tint val="75000"/>
                </a:srgbClr>
              </a:solidFill>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Stream Example</a:t>
            </a:r>
          </a:p>
        </p:txBody>
      </p:sp>
      <p:sp>
        <p:nvSpPr>
          <p:cNvPr id="2" name="Content Placeholder 1"/>
          <p:cNvSpPr>
            <a:spLocks noGrp="1"/>
          </p:cNvSpPr>
          <p:nvPr>
            <p:ph idx="1"/>
          </p:nvPr>
        </p:nvSpPr>
        <p:spPr/>
        <p:txBody>
          <a:bodyPr/>
          <a:lstStyle/>
          <a:p>
            <a:r>
              <a:rPr lang="en-US" sz="2000" dirty="0"/>
              <a:t>Create using </a:t>
            </a:r>
            <a:r>
              <a:rPr lang="en-US" sz="2000" dirty="0" err="1"/>
              <a:t>hls</a:t>
            </a:r>
            <a:r>
              <a:rPr lang="en-US" sz="2000" dirty="0"/>
              <a:t>::stream or define the </a:t>
            </a:r>
            <a:r>
              <a:rPr lang="en-US" sz="2000" dirty="0" err="1"/>
              <a:t>hls</a:t>
            </a:r>
            <a:r>
              <a:rPr lang="en-US" sz="2000" dirty="0"/>
              <a:t> namespace</a:t>
            </a:r>
          </a:p>
          <a:p>
            <a:pPr lvl="1"/>
            <a:endParaRPr lang="en-US" sz="1800" dirty="0"/>
          </a:p>
          <a:p>
            <a:pPr lvl="1"/>
            <a:endParaRPr lang="en-US" sz="1800" dirty="0"/>
          </a:p>
          <a:p>
            <a:endParaRPr lang="en-US" sz="2000" dirty="0"/>
          </a:p>
          <a:p>
            <a:r>
              <a:rPr lang="en-US" sz="2000" dirty="0"/>
              <a:t>Blocking and Non-Block accesses supported</a:t>
            </a:r>
          </a:p>
          <a:p>
            <a:pPr lvl="1">
              <a:buNone/>
            </a:pPr>
            <a:endParaRPr lang="en-US" sz="1800" dirty="0"/>
          </a:p>
        </p:txBody>
      </p:sp>
      <p:sp>
        <p:nvSpPr>
          <p:cNvPr id="13" name="TextBox 12">
            <a:extLst>
              <a:ext uri="{FF2B5EF4-FFF2-40B4-BE49-F238E27FC236}">
                <a16:creationId xmlns:a16="http://schemas.microsoft.com/office/drawing/2014/main" id="{BB73CB2D-1010-477E-B58E-6A2ACCF7DEC8}"/>
              </a:ext>
            </a:extLst>
          </p:cNvPr>
          <p:cNvSpPr txBox="1"/>
          <p:nvPr/>
        </p:nvSpPr>
        <p:spPr>
          <a:xfrm>
            <a:off x="893214" y="1837655"/>
            <a:ext cx="4747175" cy="116955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#include &lt;ap_int.h&gt;</a:t>
            </a:r>
          </a:p>
          <a:p>
            <a:pPr defTabSz="914400" fontAlgn="base">
              <a:spcBef>
                <a:spcPct val="0"/>
              </a:spcBef>
              <a:spcAft>
                <a:spcPct val="0"/>
              </a:spcAft>
              <a:defRPr/>
            </a:pPr>
            <a:r>
              <a:rPr lang="en-US" sz="1000" kern="0" dirty="0">
                <a:solidFill>
                  <a:srgbClr val="000000"/>
                </a:solidFill>
                <a:latin typeface="Arial"/>
              </a:rPr>
              <a:t>#include &lt;</a:t>
            </a:r>
            <a:r>
              <a:rPr lang="en-US" sz="1000" kern="0" dirty="0" err="1">
                <a:solidFill>
                  <a:srgbClr val="000000"/>
                </a:solidFill>
                <a:latin typeface="Arial"/>
              </a:rPr>
              <a:t>hls_stream.h</a:t>
            </a:r>
            <a:r>
              <a:rPr lang="en-US" sz="1000" kern="0" dirty="0">
                <a:solidFill>
                  <a:srgbClr val="000000"/>
                </a:solidFill>
                <a:latin typeface="Arial"/>
              </a:rPr>
              <a:t>&gt;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typedef </a:t>
            </a:r>
            <a:r>
              <a:rPr lang="en-US" sz="1000" kern="0" dirty="0" err="1">
                <a:solidFill>
                  <a:srgbClr val="000000"/>
                </a:solidFill>
                <a:latin typeface="Arial"/>
              </a:rPr>
              <a:t>ap_uint</a:t>
            </a:r>
            <a:r>
              <a:rPr lang="en-US" sz="1000" kern="0" dirty="0">
                <a:solidFill>
                  <a:srgbClr val="000000"/>
                </a:solidFill>
                <a:latin typeface="Arial"/>
              </a:rPr>
              <a:t>&lt;128&gt; uint128_t;                    // 128-bit user defined type</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::stream&lt;uint128_t&gt; </a:t>
            </a:r>
            <a:r>
              <a:rPr lang="en-US" sz="1000" kern="0" dirty="0" err="1">
                <a:solidFill>
                  <a:srgbClr val="000000"/>
                </a:solidFill>
                <a:latin typeface="Arial"/>
              </a:rPr>
              <a:t>my_wide_stream</a:t>
            </a:r>
            <a:r>
              <a:rPr lang="en-US" sz="1000" kern="0" dirty="0">
                <a:solidFill>
                  <a:srgbClr val="000000"/>
                </a:solidFill>
                <a:latin typeface="Arial"/>
              </a:rPr>
              <a:t>;    // A stream declaration</a:t>
            </a:r>
            <a:endParaRPr lang="en-US" sz="1000" b="1" kern="0" dirty="0">
              <a:solidFill>
                <a:srgbClr val="000000"/>
              </a:solidFill>
              <a:latin typeface="Arial"/>
            </a:endParaRPr>
          </a:p>
        </p:txBody>
      </p:sp>
      <p:sp>
        <p:nvSpPr>
          <p:cNvPr id="14" name="TextBox 13">
            <a:extLst>
              <a:ext uri="{FF2B5EF4-FFF2-40B4-BE49-F238E27FC236}">
                <a16:creationId xmlns:a16="http://schemas.microsoft.com/office/drawing/2014/main" id="{315A7B64-4DD6-4635-B96E-C3F9855A5532}"/>
              </a:ext>
            </a:extLst>
          </p:cNvPr>
          <p:cNvSpPr txBox="1"/>
          <p:nvPr/>
        </p:nvSpPr>
        <p:spPr>
          <a:xfrm>
            <a:off x="6479847" y="1823801"/>
            <a:ext cx="4942216" cy="116955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#include &lt;ap_int.h&gt;</a:t>
            </a:r>
          </a:p>
          <a:p>
            <a:pPr defTabSz="914400" fontAlgn="base">
              <a:spcBef>
                <a:spcPct val="0"/>
              </a:spcBef>
              <a:spcAft>
                <a:spcPct val="0"/>
              </a:spcAft>
              <a:defRPr/>
            </a:pPr>
            <a:r>
              <a:rPr lang="en-US" sz="1000" kern="0" dirty="0">
                <a:solidFill>
                  <a:srgbClr val="000000"/>
                </a:solidFill>
                <a:latin typeface="Arial"/>
              </a:rPr>
              <a:t>#include &lt;</a:t>
            </a:r>
            <a:r>
              <a:rPr lang="en-US" sz="1000" kern="0" dirty="0" err="1">
                <a:solidFill>
                  <a:srgbClr val="000000"/>
                </a:solidFill>
                <a:latin typeface="Arial"/>
              </a:rPr>
              <a:t>hls_stream.h</a:t>
            </a:r>
            <a:r>
              <a:rPr lang="en-US" sz="1000" kern="0" dirty="0">
                <a:solidFill>
                  <a:srgbClr val="000000"/>
                </a:solidFill>
                <a:latin typeface="Arial"/>
              </a:rPr>
              <a:t>&gt;</a:t>
            </a:r>
          </a:p>
          <a:p>
            <a:pPr defTabSz="914400" fontAlgn="base">
              <a:spcBef>
                <a:spcPct val="0"/>
              </a:spcBef>
              <a:spcAft>
                <a:spcPct val="0"/>
              </a:spcAft>
              <a:defRPr/>
            </a:pPr>
            <a:r>
              <a:rPr lang="en-US" sz="1000" kern="0" dirty="0">
                <a:solidFill>
                  <a:srgbClr val="000000"/>
                </a:solidFill>
                <a:latin typeface="Arial"/>
              </a:rPr>
              <a:t>using namespace </a:t>
            </a:r>
            <a:r>
              <a:rPr lang="en-US" sz="1000" kern="0" dirty="0" err="1">
                <a:solidFill>
                  <a:srgbClr val="000000"/>
                </a:solidFill>
                <a:latin typeface="Arial"/>
              </a:rPr>
              <a:t>hls</a:t>
            </a:r>
            <a:r>
              <a:rPr lang="en-US" sz="1000" kern="0" dirty="0">
                <a:solidFill>
                  <a:srgbClr val="000000"/>
                </a:solidFill>
                <a:latin typeface="Arial"/>
              </a:rPr>
              <a:t>;                            // Use </a:t>
            </a:r>
            <a:r>
              <a:rPr lang="en-US" sz="1000" kern="0" dirty="0" err="1">
                <a:solidFill>
                  <a:srgbClr val="000000"/>
                </a:solidFill>
                <a:latin typeface="Arial"/>
              </a:rPr>
              <a:t>hls</a:t>
            </a:r>
            <a:r>
              <a:rPr lang="en-US" sz="1000" kern="0" dirty="0">
                <a:solidFill>
                  <a:srgbClr val="000000"/>
                </a:solidFill>
                <a:latin typeface="Arial"/>
              </a:rPr>
              <a:t> namespace</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typedef </a:t>
            </a:r>
            <a:r>
              <a:rPr lang="en-US" sz="1000" kern="0" dirty="0" err="1">
                <a:solidFill>
                  <a:srgbClr val="000000"/>
                </a:solidFill>
                <a:latin typeface="Arial"/>
              </a:rPr>
              <a:t>ap_uint</a:t>
            </a:r>
            <a:r>
              <a:rPr lang="en-US" sz="1000" kern="0" dirty="0">
                <a:solidFill>
                  <a:srgbClr val="000000"/>
                </a:solidFill>
                <a:latin typeface="Arial"/>
              </a:rPr>
              <a:t>&lt;128&gt; uint128_t;            // 128-bit user defined type</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stream&lt;uint128_t&gt; </a:t>
            </a:r>
            <a:r>
              <a:rPr lang="en-US" sz="1000" kern="0" dirty="0" err="1">
                <a:solidFill>
                  <a:srgbClr val="000000"/>
                </a:solidFill>
                <a:latin typeface="Arial"/>
              </a:rPr>
              <a:t>my_wide_stream</a:t>
            </a:r>
            <a:r>
              <a:rPr lang="en-US" sz="1000" kern="0" dirty="0">
                <a:solidFill>
                  <a:srgbClr val="000000"/>
                </a:solidFill>
                <a:latin typeface="Arial"/>
              </a:rPr>
              <a:t>;    // </a:t>
            </a:r>
            <a:r>
              <a:rPr lang="en-US" sz="1000" kern="0" dirty="0" err="1">
                <a:solidFill>
                  <a:srgbClr val="000000"/>
                </a:solidFill>
                <a:latin typeface="Arial"/>
              </a:rPr>
              <a:t>hls</a:t>
            </a:r>
            <a:r>
              <a:rPr lang="en-US" sz="1000" kern="0" dirty="0">
                <a:solidFill>
                  <a:srgbClr val="000000"/>
                </a:solidFill>
                <a:latin typeface="Arial"/>
              </a:rPr>
              <a:t>:: no longer required</a:t>
            </a:r>
            <a:endParaRPr lang="en-US" sz="1000" b="1" kern="0" dirty="0">
              <a:solidFill>
                <a:srgbClr val="000000"/>
              </a:solidFill>
              <a:latin typeface="Arial"/>
            </a:endParaRPr>
          </a:p>
        </p:txBody>
      </p:sp>
      <p:sp>
        <p:nvSpPr>
          <p:cNvPr id="15" name="TextBox 14">
            <a:extLst>
              <a:ext uri="{FF2B5EF4-FFF2-40B4-BE49-F238E27FC236}">
                <a16:creationId xmlns:a16="http://schemas.microsoft.com/office/drawing/2014/main" id="{38EEDA55-1D01-4026-8387-4DEBFB5D8507}"/>
              </a:ext>
            </a:extLst>
          </p:cNvPr>
          <p:cNvSpPr txBox="1"/>
          <p:nvPr/>
        </p:nvSpPr>
        <p:spPr>
          <a:xfrm>
            <a:off x="876876" y="3490385"/>
            <a:ext cx="3643418" cy="10156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 Blocking Write</a:t>
            </a:r>
          </a:p>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src_var</a:t>
            </a:r>
            <a:r>
              <a:rPr lang="en-US" sz="1000" kern="0" dirty="0">
                <a:solidFill>
                  <a:srgbClr val="000000"/>
                </a:solidFill>
                <a:latin typeface="Arial"/>
              </a:rPr>
              <a:t> = 42;</a:t>
            </a:r>
          </a:p>
          <a:p>
            <a:pPr defTabSz="914400" fontAlgn="base">
              <a:spcBef>
                <a:spcPct val="0"/>
              </a:spcBef>
              <a:spcAft>
                <a:spcPct val="0"/>
              </a:spcAft>
              <a:defRPr/>
            </a:pPr>
            <a:r>
              <a:rPr lang="en-US" sz="1000" kern="0" dirty="0" err="1">
                <a:solidFill>
                  <a:srgbClr val="000000"/>
                </a:solidFill>
                <a:latin typeface="Arial"/>
              </a:rPr>
              <a:t>my_stream.write</a:t>
            </a:r>
            <a:r>
              <a:rPr lang="en-US" sz="1000" kern="0" dirty="0">
                <a:solidFill>
                  <a:srgbClr val="000000"/>
                </a:solidFill>
                <a:latin typeface="Arial"/>
              </a:rPr>
              <a:t>(</a:t>
            </a:r>
            <a:r>
              <a:rPr lang="en-US" sz="1000" kern="0" dirty="0" err="1">
                <a:solidFill>
                  <a:srgbClr val="000000"/>
                </a:solidFill>
                <a:latin typeface="Arial"/>
              </a:rPr>
              <a:t>src_var</a:t>
            </a:r>
            <a:r>
              <a:rPr lang="en-US" sz="1000" kern="0" dirty="0">
                <a:solidFill>
                  <a:srgbClr val="000000"/>
                </a:solidFill>
                <a:latin typeface="Arial"/>
              </a:rPr>
              <a:t>);</a:t>
            </a:r>
          </a:p>
          <a:p>
            <a:pPr defTabSz="914400" fontAlgn="base">
              <a:spcBef>
                <a:spcPct val="0"/>
              </a:spcBef>
              <a:spcAft>
                <a:spcPct val="0"/>
              </a:spcAft>
              <a:defRPr/>
            </a:pPr>
            <a:r>
              <a:rPr lang="en-US" sz="1000" b="1" kern="0" dirty="0">
                <a:solidFill>
                  <a:srgbClr val="000000"/>
                </a:solidFill>
                <a:latin typeface="Arial"/>
              </a:rPr>
              <a:t>// OR use:  </a:t>
            </a:r>
            <a:r>
              <a:rPr lang="en-US" sz="1000" kern="0" dirty="0" err="1">
                <a:solidFill>
                  <a:srgbClr val="000000"/>
                </a:solidFill>
                <a:latin typeface="Arial"/>
              </a:rPr>
              <a:t>my_stream</a:t>
            </a:r>
            <a:r>
              <a:rPr lang="en-US" sz="1000" kern="0" dirty="0">
                <a:solidFill>
                  <a:srgbClr val="000000"/>
                </a:solidFill>
                <a:latin typeface="Arial"/>
              </a:rPr>
              <a:t> &lt;&lt; </a:t>
            </a:r>
            <a:r>
              <a:rPr lang="en-US" sz="1000" kern="0" dirty="0" err="1">
                <a:solidFill>
                  <a:srgbClr val="000000"/>
                </a:solidFill>
                <a:latin typeface="Arial"/>
              </a:rPr>
              <a:t>src_var</a:t>
            </a:r>
            <a:r>
              <a:rPr lang="en-US" sz="1000" kern="0" dirty="0">
                <a:solidFill>
                  <a:srgbClr val="000000"/>
                </a:solidFill>
                <a:latin typeface="Arial"/>
              </a:rPr>
              <a:t>;</a:t>
            </a:r>
            <a:endParaRPr lang="en-US" sz="1000" b="1" kern="0" dirty="0">
              <a:solidFill>
                <a:srgbClr val="000000"/>
              </a:solidFill>
              <a:latin typeface="Arial"/>
            </a:endParaRPr>
          </a:p>
        </p:txBody>
      </p:sp>
      <p:sp>
        <p:nvSpPr>
          <p:cNvPr id="16" name="TextBox 15">
            <a:extLst>
              <a:ext uri="{FF2B5EF4-FFF2-40B4-BE49-F238E27FC236}">
                <a16:creationId xmlns:a16="http://schemas.microsoft.com/office/drawing/2014/main" id="{23EA21E4-76B3-4830-865F-404AACB7F4FC}"/>
              </a:ext>
            </a:extLst>
          </p:cNvPr>
          <p:cNvSpPr txBox="1"/>
          <p:nvPr/>
        </p:nvSpPr>
        <p:spPr>
          <a:xfrm>
            <a:off x="890073" y="4664035"/>
            <a:ext cx="3643418" cy="10156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 Blocking Read</a:t>
            </a:r>
          </a:p>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dst_var</a:t>
            </a:r>
            <a:r>
              <a:rPr lang="en-US" sz="1000" kern="0" dirty="0">
                <a:solidFill>
                  <a:srgbClr val="000000"/>
                </a:solidFill>
                <a:latin typeface="Arial"/>
              </a:rPr>
              <a:t>;</a:t>
            </a:r>
          </a:p>
          <a:p>
            <a:pPr defTabSz="914400" fontAlgn="base">
              <a:spcBef>
                <a:spcPct val="0"/>
              </a:spcBef>
              <a:spcAft>
                <a:spcPct val="0"/>
              </a:spcAft>
              <a:defRPr/>
            </a:pPr>
            <a:r>
              <a:rPr lang="en-US" sz="1000" kern="0" dirty="0" err="1">
                <a:solidFill>
                  <a:srgbClr val="000000"/>
                </a:solidFill>
                <a:latin typeface="Arial"/>
              </a:rPr>
              <a:t>my_stream.read</a:t>
            </a:r>
            <a:r>
              <a:rPr lang="en-US" sz="1000" kern="0" dirty="0">
                <a:solidFill>
                  <a:srgbClr val="000000"/>
                </a:solidFill>
                <a:latin typeface="Arial"/>
              </a:rPr>
              <a:t>(</a:t>
            </a:r>
            <a:r>
              <a:rPr lang="en-US" sz="1000" kern="0" dirty="0" err="1">
                <a:solidFill>
                  <a:srgbClr val="000000"/>
                </a:solidFill>
                <a:latin typeface="Arial"/>
              </a:rPr>
              <a:t>dst_var</a:t>
            </a:r>
            <a:r>
              <a:rPr lang="en-US" sz="1000" kern="0" dirty="0">
                <a:solidFill>
                  <a:srgbClr val="000000"/>
                </a:solidFill>
                <a:latin typeface="Arial"/>
              </a:rPr>
              <a:t>);</a:t>
            </a:r>
          </a:p>
          <a:p>
            <a:pPr defTabSz="914400" fontAlgn="base">
              <a:spcBef>
                <a:spcPct val="0"/>
              </a:spcBef>
              <a:spcAft>
                <a:spcPct val="0"/>
              </a:spcAft>
              <a:defRPr/>
            </a:pPr>
            <a:r>
              <a:rPr lang="en-US" sz="1000" b="1" kern="0" dirty="0">
                <a:solidFill>
                  <a:srgbClr val="000000"/>
                </a:solidFill>
                <a:latin typeface="Arial"/>
              </a:rPr>
              <a:t>// OR use: </a:t>
            </a:r>
            <a:r>
              <a:rPr lang="en-US" sz="1000" kern="0" dirty="0" err="1">
                <a:solidFill>
                  <a:srgbClr val="000000"/>
                </a:solidFill>
                <a:latin typeface="Arial"/>
              </a:rPr>
              <a:t>dst_var</a:t>
            </a:r>
            <a:r>
              <a:rPr lang="en-US" sz="1000" kern="0" dirty="0">
                <a:solidFill>
                  <a:srgbClr val="000000"/>
                </a:solidFill>
                <a:latin typeface="Arial"/>
              </a:rPr>
              <a:t> = </a:t>
            </a:r>
            <a:r>
              <a:rPr lang="en-US" sz="1000" kern="0" dirty="0" err="1">
                <a:solidFill>
                  <a:srgbClr val="000000"/>
                </a:solidFill>
                <a:latin typeface="Arial"/>
              </a:rPr>
              <a:t>my_stream.read</a:t>
            </a:r>
            <a:r>
              <a:rPr lang="en-US" sz="1000" kern="0" dirty="0">
                <a:solidFill>
                  <a:srgbClr val="000000"/>
                </a:solidFill>
                <a:latin typeface="Arial"/>
              </a:rPr>
              <a:t>();</a:t>
            </a:r>
            <a:endParaRPr lang="en-US" sz="1000" b="1" kern="0" dirty="0">
              <a:solidFill>
                <a:srgbClr val="000000"/>
              </a:solidFill>
              <a:latin typeface="Arial"/>
            </a:endParaRPr>
          </a:p>
        </p:txBody>
      </p:sp>
      <p:sp>
        <p:nvSpPr>
          <p:cNvPr id="17" name="TextBox 16">
            <a:extLst>
              <a:ext uri="{FF2B5EF4-FFF2-40B4-BE49-F238E27FC236}">
                <a16:creationId xmlns:a16="http://schemas.microsoft.com/office/drawing/2014/main" id="{28592266-ECA1-4484-B4E8-52E7778E4EC9}"/>
              </a:ext>
            </a:extLst>
          </p:cNvPr>
          <p:cNvSpPr txBox="1"/>
          <p:nvPr/>
        </p:nvSpPr>
        <p:spPr>
          <a:xfrm>
            <a:off x="4713560" y="3476530"/>
            <a:ext cx="3345319"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src_var</a:t>
            </a:r>
            <a:r>
              <a:rPr lang="en-US" sz="1000" kern="0" dirty="0">
                <a:solidFill>
                  <a:srgbClr val="000000"/>
                </a:solidFill>
                <a:latin typeface="Arial"/>
              </a:rPr>
              <a:t> = 42;</a:t>
            </a:r>
          </a:p>
          <a:p>
            <a:pPr defTabSz="914400" fontAlgn="base">
              <a:spcBef>
                <a:spcPct val="0"/>
              </a:spcBef>
              <a:spcAft>
                <a:spcPct val="0"/>
              </a:spcAft>
              <a:defRPr/>
            </a:pPr>
            <a:r>
              <a:rPr lang="en-US" sz="1000" kern="0" dirty="0">
                <a:solidFill>
                  <a:srgbClr val="000000"/>
                </a:solidFill>
                <a:latin typeface="Arial"/>
              </a:rPr>
              <a:t>bool </a:t>
            </a:r>
            <a:r>
              <a:rPr lang="en-US" sz="1000" kern="0" dirty="0" err="1">
                <a:solidFill>
                  <a:srgbClr val="000000"/>
                </a:solidFill>
                <a:latin typeface="Arial"/>
              </a:rPr>
              <a:t>stream_full</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Non-Blocking Write</a:t>
            </a:r>
          </a:p>
          <a:p>
            <a:pPr defTabSz="914400" fontAlgn="base">
              <a:spcBef>
                <a:spcPct val="0"/>
              </a:spcBef>
              <a:spcAft>
                <a:spcPct val="0"/>
              </a:spcAft>
              <a:defRPr/>
            </a:pPr>
            <a:r>
              <a:rPr lang="en-US" sz="1000" kern="0" dirty="0">
                <a:solidFill>
                  <a:srgbClr val="000000"/>
                </a:solidFill>
                <a:latin typeface="Arial"/>
              </a:rPr>
              <a:t>if (</a:t>
            </a:r>
            <a:r>
              <a:rPr lang="en-US" sz="1000" kern="0" dirty="0" err="1">
                <a:solidFill>
                  <a:srgbClr val="000000"/>
                </a:solidFill>
                <a:latin typeface="Arial"/>
              </a:rPr>
              <a:t>my_stream.write_nb</a:t>
            </a:r>
            <a:r>
              <a:rPr lang="en-US" sz="1000" kern="0" dirty="0">
                <a:solidFill>
                  <a:srgbClr val="000000"/>
                </a:solidFill>
                <a:latin typeface="Arial"/>
              </a:rPr>
              <a:t>(</a:t>
            </a:r>
            <a:r>
              <a:rPr lang="en-US" sz="1000" kern="0" dirty="0" err="1">
                <a:solidFill>
                  <a:srgbClr val="000000"/>
                </a:solidFill>
                <a:latin typeface="Arial"/>
              </a:rPr>
              <a:t>src_var</a:t>
            </a: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 Perform standard operations</a:t>
            </a:r>
          </a:p>
          <a:p>
            <a:pPr defTabSz="914400" fontAlgn="base">
              <a:spcBef>
                <a:spcPct val="0"/>
              </a:spcBef>
              <a:spcAft>
                <a:spcPct val="0"/>
              </a:spcAft>
              <a:defRPr/>
            </a:pPr>
            <a:r>
              <a:rPr lang="en-US" sz="1000" kern="0" dirty="0">
                <a:solidFill>
                  <a:srgbClr val="000000"/>
                </a:solidFill>
                <a:latin typeface="Arial"/>
              </a:rPr>
              <a:t>} else {</a:t>
            </a:r>
          </a:p>
          <a:p>
            <a:pPr defTabSz="914400" fontAlgn="base">
              <a:spcBef>
                <a:spcPct val="0"/>
              </a:spcBef>
              <a:spcAft>
                <a:spcPct val="0"/>
              </a:spcAft>
              <a:defRPr/>
            </a:pPr>
            <a:r>
              <a:rPr lang="en-US" sz="1000" kern="0" dirty="0">
                <a:solidFill>
                  <a:srgbClr val="000000"/>
                </a:solidFill>
                <a:latin typeface="Arial"/>
              </a:rPr>
              <a:t>      // Write did not happen</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Full test </a:t>
            </a:r>
          </a:p>
          <a:p>
            <a:pPr defTabSz="914400" fontAlgn="base">
              <a:spcBef>
                <a:spcPct val="0"/>
              </a:spcBef>
              <a:spcAft>
                <a:spcPct val="0"/>
              </a:spcAft>
              <a:defRPr/>
            </a:pPr>
            <a:r>
              <a:rPr lang="en-US" sz="1000" kern="0" dirty="0" err="1">
                <a:solidFill>
                  <a:srgbClr val="000000"/>
                </a:solidFill>
                <a:latin typeface="Arial"/>
              </a:rPr>
              <a:t>stream_full</a:t>
            </a:r>
            <a:r>
              <a:rPr lang="en-US" sz="1000" kern="0" dirty="0">
                <a:solidFill>
                  <a:srgbClr val="000000"/>
                </a:solidFill>
                <a:latin typeface="Arial"/>
              </a:rPr>
              <a:t> = </a:t>
            </a:r>
            <a:r>
              <a:rPr lang="en-US" sz="1000" kern="0" dirty="0" err="1">
                <a:solidFill>
                  <a:srgbClr val="000000"/>
                </a:solidFill>
                <a:latin typeface="Arial"/>
              </a:rPr>
              <a:t>my_stream.full</a:t>
            </a:r>
            <a:r>
              <a:rPr lang="en-US" sz="1000" kern="0" dirty="0">
                <a:solidFill>
                  <a:srgbClr val="000000"/>
                </a:solidFill>
                <a:latin typeface="Arial"/>
              </a:rPr>
              <a:t>();</a:t>
            </a:r>
          </a:p>
        </p:txBody>
      </p:sp>
      <p:sp>
        <p:nvSpPr>
          <p:cNvPr id="18" name="TextBox 17">
            <a:extLst>
              <a:ext uri="{FF2B5EF4-FFF2-40B4-BE49-F238E27FC236}">
                <a16:creationId xmlns:a16="http://schemas.microsoft.com/office/drawing/2014/main" id="{E059BCB5-AA61-4C5F-89E6-47448FC05922}"/>
              </a:ext>
            </a:extLst>
          </p:cNvPr>
          <p:cNvSpPr txBox="1"/>
          <p:nvPr/>
        </p:nvSpPr>
        <p:spPr>
          <a:xfrm>
            <a:off x="8160853" y="3486399"/>
            <a:ext cx="3345319"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dst_var</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bool </a:t>
            </a:r>
            <a:r>
              <a:rPr lang="en-US" sz="1000" kern="0" dirty="0" err="1">
                <a:solidFill>
                  <a:srgbClr val="000000"/>
                </a:solidFill>
                <a:latin typeface="Arial"/>
              </a:rPr>
              <a:t>stream_empty</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Non-Blocking Read</a:t>
            </a:r>
          </a:p>
          <a:p>
            <a:pPr defTabSz="914400" fontAlgn="base">
              <a:spcBef>
                <a:spcPct val="0"/>
              </a:spcBef>
              <a:spcAft>
                <a:spcPct val="0"/>
              </a:spcAft>
              <a:defRPr/>
            </a:pPr>
            <a:r>
              <a:rPr lang="en-US" sz="1000" kern="0" dirty="0">
                <a:solidFill>
                  <a:srgbClr val="000000"/>
                </a:solidFill>
                <a:latin typeface="Arial"/>
              </a:rPr>
              <a:t>if (</a:t>
            </a:r>
            <a:r>
              <a:rPr lang="en-US" sz="1000" kern="0" dirty="0" err="1">
                <a:solidFill>
                  <a:srgbClr val="000000"/>
                </a:solidFill>
                <a:latin typeface="Arial"/>
              </a:rPr>
              <a:t>my_stream.read_nb</a:t>
            </a:r>
            <a:r>
              <a:rPr lang="en-US" sz="1000" kern="0" dirty="0">
                <a:solidFill>
                  <a:srgbClr val="000000"/>
                </a:solidFill>
                <a:latin typeface="Arial"/>
              </a:rPr>
              <a:t>(</a:t>
            </a:r>
            <a:r>
              <a:rPr lang="en-US" sz="1000" kern="0" dirty="0" err="1">
                <a:solidFill>
                  <a:srgbClr val="000000"/>
                </a:solidFill>
                <a:latin typeface="Arial"/>
              </a:rPr>
              <a:t>dst_var</a:t>
            </a: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 Perform standard operations</a:t>
            </a:r>
          </a:p>
          <a:p>
            <a:pPr defTabSz="914400" fontAlgn="base">
              <a:spcBef>
                <a:spcPct val="0"/>
              </a:spcBef>
              <a:spcAft>
                <a:spcPct val="0"/>
              </a:spcAft>
              <a:defRPr/>
            </a:pPr>
            <a:r>
              <a:rPr lang="en-US" sz="1000" kern="0" dirty="0">
                <a:solidFill>
                  <a:srgbClr val="000000"/>
                </a:solidFill>
                <a:latin typeface="Arial"/>
              </a:rPr>
              <a:t>} else {</a:t>
            </a:r>
          </a:p>
          <a:p>
            <a:pPr defTabSz="914400" fontAlgn="base">
              <a:spcBef>
                <a:spcPct val="0"/>
              </a:spcBef>
              <a:spcAft>
                <a:spcPct val="0"/>
              </a:spcAft>
              <a:defRPr/>
            </a:pPr>
            <a:r>
              <a:rPr lang="en-US" sz="1000" kern="0" dirty="0">
                <a:solidFill>
                  <a:srgbClr val="000000"/>
                </a:solidFill>
                <a:latin typeface="Arial"/>
              </a:rPr>
              <a:t>        // Read did not happen</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Empty test</a:t>
            </a:r>
          </a:p>
          <a:p>
            <a:pPr defTabSz="914400" fontAlgn="base">
              <a:spcBef>
                <a:spcPct val="0"/>
              </a:spcBef>
              <a:spcAft>
                <a:spcPct val="0"/>
              </a:spcAft>
              <a:defRPr/>
            </a:pPr>
            <a:r>
              <a:rPr lang="en-US" sz="1000" kern="0" dirty="0" err="1">
                <a:solidFill>
                  <a:srgbClr val="000000"/>
                </a:solidFill>
                <a:latin typeface="Arial"/>
              </a:rPr>
              <a:t>fifo_empty</a:t>
            </a:r>
            <a:r>
              <a:rPr lang="en-US" sz="1000" kern="0" dirty="0">
                <a:solidFill>
                  <a:srgbClr val="000000"/>
                </a:solidFill>
                <a:latin typeface="Arial"/>
              </a:rPr>
              <a:t> = </a:t>
            </a:r>
            <a:r>
              <a:rPr lang="en-US" sz="1000" kern="0" dirty="0" err="1">
                <a:solidFill>
                  <a:srgbClr val="000000"/>
                </a:solidFill>
                <a:latin typeface="Arial"/>
              </a:rPr>
              <a:t>my_stream.empty</a:t>
            </a:r>
            <a:r>
              <a:rPr lang="en-US" sz="1000" kern="0" dirty="0">
                <a:solidFill>
                  <a:srgbClr val="000000"/>
                </a:solidFill>
                <a:latin typeface="Arial"/>
              </a:rPr>
              <a:t>();</a:t>
            </a:r>
          </a:p>
        </p:txBody>
      </p:sp>
      <p:sp>
        <p:nvSpPr>
          <p:cNvPr id="19" name="TextBox 18">
            <a:extLst>
              <a:ext uri="{FF2B5EF4-FFF2-40B4-BE49-F238E27FC236}">
                <a16:creationId xmlns:a16="http://schemas.microsoft.com/office/drawing/2014/main" id="{C3A7AB5D-85B4-4E9B-A647-814CBC09C63A}"/>
              </a:ext>
            </a:extLst>
          </p:cNvPr>
          <p:cNvSpPr txBox="1"/>
          <p:nvPr/>
        </p:nvSpPr>
        <p:spPr>
          <a:xfrm>
            <a:off x="2137150" y="5733167"/>
            <a:ext cx="8685394" cy="738664"/>
          </a:xfrm>
          <a:prstGeom prst="rect">
            <a:avLst/>
          </a:prstGeom>
          <a:solidFill>
            <a:srgbClr val="8B8D09">
              <a:lumMod val="40000"/>
              <a:lumOff val="60000"/>
            </a:srgbClr>
          </a:solidFill>
          <a:ln>
            <a:solidFill>
              <a:srgbClr val="000000"/>
            </a:solidFill>
          </a:ln>
          <a:effectLst>
            <a:outerShdw blurRad="50800" dist="381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400" kern="0" dirty="0">
                <a:solidFill>
                  <a:srgbClr val="000000"/>
                </a:solidFill>
              </a:rPr>
              <a:t>Stream arrays and structs are not supported for RTL simulation at this time: must be verified manually.</a:t>
            </a:r>
          </a:p>
          <a:p>
            <a:pPr algn="ctr" defTabSz="914400" fontAlgn="base">
              <a:spcBef>
                <a:spcPct val="0"/>
              </a:spcBef>
              <a:spcAft>
                <a:spcPct val="0"/>
              </a:spcAft>
              <a:defRPr/>
            </a:pPr>
            <a:endParaRPr lang="en-US" sz="1400" kern="0" dirty="0">
              <a:solidFill>
                <a:srgbClr val="000000"/>
              </a:solidFill>
            </a:endParaRPr>
          </a:p>
          <a:p>
            <a:pPr algn="ctr" defTabSz="914400" fontAlgn="base">
              <a:spcBef>
                <a:spcPct val="0"/>
              </a:spcBef>
              <a:spcAft>
                <a:spcPct val="0"/>
              </a:spcAft>
              <a:defRPr/>
            </a:pPr>
            <a:r>
              <a:rPr lang="en-US" sz="1400" kern="0" dirty="0">
                <a:solidFill>
                  <a:srgbClr val="000000"/>
                </a:solidFill>
              </a:rPr>
              <a:t>e.g. </a:t>
            </a:r>
            <a:r>
              <a:rPr lang="en-US" sz="1400" kern="0" dirty="0" err="1">
                <a:solidFill>
                  <a:srgbClr val="000000"/>
                </a:solidFill>
              </a:rPr>
              <a:t>hls</a:t>
            </a:r>
            <a:r>
              <a:rPr lang="en-US" sz="1400" kern="0" dirty="0">
                <a:solidFill>
                  <a:srgbClr val="000000"/>
                </a:solidFill>
              </a:rPr>
              <a:t>::stream&lt;uint8_t&gt; </a:t>
            </a:r>
            <a:r>
              <a:rPr lang="en-US" sz="1400" kern="0" dirty="0" err="1">
                <a:solidFill>
                  <a:srgbClr val="000000"/>
                </a:solidFill>
              </a:rPr>
              <a:t>chan</a:t>
            </a:r>
            <a:r>
              <a:rPr lang="en-US" sz="1400" kern="0" dirty="0">
                <a:solidFill>
                  <a:srgbClr val="000000"/>
                </a:solidFill>
              </a:rPr>
              <a:t>[4])</a:t>
            </a:r>
          </a:p>
        </p:txBody>
      </p:sp>
      <p:sp>
        <p:nvSpPr>
          <p:cNvPr id="20" name="Slide Number Placeholder 5">
            <a:extLst>
              <a:ext uri="{FF2B5EF4-FFF2-40B4-BE49-F238E27FC236}">
                <a16:creationId xmlns:a16="http://schemas.microsoft.com/office/drawing/2014/main" id="{BB823541-1F5A-4829-8678-A27102B5690B}"/>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61</a:t>
            </a:fld>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Stream Example</a:t>
            </a:r>
          </a:p>
        </p:txBody>
      </p:sp>
      <p:sp>
        <p:nvSpPr>
          <p:cNvPr id="2" name="Content Placeholder 1"/>
          <p:cNvSpPr>
            <a:spLocks noGrp="1"/>
          </p:cNvSpPr>
          <p:nvPr>
            <p:ph idx="1"/>
          </p:nvPr>
        </p:nvSpPr>
        <p:spPr/>
        <p:txBody>
          <a:bodyPr/>
          <a:lstStyle/>
          <a:p>
            <a:r>
              <a:rPr lang="en-US" dirty="0"/>
              <a:t>Create using </a:t>
            </a:r>
            <a:r>
              <a:rPr lang="en-US" dirty="0" err="1"/>
              <a:t>hls</a:t>
            </a:r>
            <a:r>
              <a:rPr lang="en-US" dirty="0"/>
              <a:t>::stream or define the </a:t>
            </a:r>
            <a:r>
              <a:rPr lang="en-US" dirty="0" err="1"/>
              <a:t>hls</a:t>
            </a:r>
            <a:r>
              <a:rPr lang="en-US" dirty="0"/>
              <a:t> namespace</a:t>
            </a:r>
          </a:p>
          <a:p>
            <a:pPr lvl="1"/>
            <a:endParaRPr lang="en-US" dirty="0"/>
          </a:p>
          <a:p>
            <a:pPr lvl="1"/>
            <a:endParaRPr lang="en-US" dirty="0"/>
          </a:p>
          <a:p>
            <a:endParaRPr lang="en-US" dirty="0"/>
          </a:p>
          <a:p>
            <a:r>
              <a:rPr lang="en-US" dirty="0"/>
              <a:t>Blocking and Non-Block accesses supported</a:t>
            </a:r>
          </a:p>
          <a:p>
            <a:pPr lvl="1">
              <a:buNone/>
            </a:pPr>
            <a:endParaRPr lang="en-US" dirty="0"/>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62</a:t>
            </a:fld>
            <a:endParaRPr lang="en-US" dirty="0">
              <a:solidFill>
                <a:srgbClr val="0C0C0C">
                  <a:tint val="75000"/>
                </a:srgbClr>
              </a:solidFill>
              <a:latin typeface="Arial"/>
            </a:endParaRPr>
          </a:p>
        </p:txBody>
      </p:sp>
      <p:sp>
        <p:nvSpPr>
          <p:cNvPr id="13" name="TextBox 12">
            <a:extLst>
              <a:ext uri="{FF2B5EF4-FFF2-40B4-BE49-F238E27FC236}">
                <a16:creationId xmlns:a16="http://schemas.microsoft.com/office/drawing/2014/main" id="{BB73CB2D-1010-477E-B58E-6A2ACCF7DEC8}"/>
              </a:ext>
            </a:extLst>
          </p:cNvPr>
          <p:cNvSpPr txBox="1"/>
          <p:nvPr/>
        </p:nvSpPr>
        <p:spPr>
          <a:xfrm>
            <a:off x="893214" y="1837655"/>
            <a:ext cx="4747175" cy="116955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#include &lt;ap_int.h&gt;</a:t>
            </a:r>
          </a:p>
          <a:p>
            <a:pPr defTabSz="914400" fontAlgn="base">
              <a:spcBef>
                <a:spcPct val="0"/>
              </a:spcBef>
              <a:spcAft>
                <a:spcPct val="0"/>
              </a:spcAft>
              <a:defRPr/>
            </a:pPr>
            <a:r>
              <a:rPr lang="en-US" sz="1000" kern="0" dirty="0">
                <a:solidFill>
                  <a:srgbClr val="000000"/>
                </a:solidFill>
                <a:latin typeface="Arial"/>
              </a:rPr>
              <a:t>#include &lt;</a:t>
            </a:r>
            <a:r>
              <a:rPr lang="en-US" sz="1000" kern="0" dirty="0" err="1">
                <a:solidFill>
                  <a:srgbClr val="000000"/>
                </a:solidFill>
                <a:latin typeface="Arial"/>
              </a:rPr>
              <a:t>hls_stream.h</a:t>
            </a:r>
            <a:r>
              <a:rPr lang="en-US" sz="1000" kern="0" dirty="0">
                <a:solidFill>
                  <a:srgbClr val="000000"/>
                </a:solidFill>
                <a:latin typeface="Arial"/>
              </a:rPr>
              <a:t>&gt;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typedef </a:t>
            </a:r>
            <a:r>
              <a:rPr lang="en-US" sz="1000" kern="0" dirty="0" err="1">
                <a:solidFill>
                  <a:srgbClr val="000000"/>
                </a:solidFill>
                <a:latin typeface="Arial"/>
              </a:rPr>
              <a:t>ap_uint</a:t>
            </a:r>
            <a:r>
              <a:rPr lang="en-US" sz="1000" kern="0" dirty="0">
                <a:solidFill>
                  <a:srgbClr val="000000"/>
                </a:solidFill>
                <a:latin typeface="Arial"/>
              </a:rPr>
              <a:t>&lt;128&gt; uint128_t;                    // 128-bit user defined type</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::stream&lt;uint128_t&gt; </a:t>
            </a:r>
            <a:r>
              <a:rPr lang="en-US" sz="1000" kern="0" dirty="0" err="1">
                <a:solidFill>
                  <a:srgbClr val="000000"/>
                </a:solidFill>
                <a:latin typeface="Arial"/>
              </a:rPr>
              <a:t>my_wide_stream</a:t>
            </a:r>
            <a:r>
              <a:rPr lang="en-US" sz="1000" kern="0" dirty="0">
                <a:solidFill>
                  <a:srgbClr val="000000"/>
                </a:solidFill>
                <a:latin typeface="Arial"/>
              </a:rPr>
              <a:t>;    // A stream declaration</a:t>
            </a:r>
            <a:endParaRPr lang="en-US" sz="1000" b="1" kern="0" dirty="0">
              <a:solidFill>
                <a:srgbClr val="000000"/>
              </a:solidFill>
              <a:latin typeface="Arial"/>
            </a:endParaRPr>
          </a:p>
        </p:txBody>
      </p:sp>
      <p:sp>
        <p:nvSpPr>
          <p:cNvPr id="14" name="TextBox 13">
            <a:extLst>
              <a:ext uri="{FF2B5EF4-FFF2-40B4-BE49-F238E27FC236}">
                <a16:creationId xmlns:a16="http://schemas.microsoft.com/office/drawing/2014/main" id="{315A7B64-4DD6-4635-B96E-C3F9855A5532}"/>
              </a:ext>
            </a:extLst>
          </p:cNvPr>
          <p:cNvSpPr txBox="1"/>
          <p:nvPr/>
        </p:nvSpPr>
        <p:spPr>
          <a:xfrm>
            <a:off x="6479847" y="1823801"/>
            <a:ext cx="4942216" cy="1169551"/>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a:solidFill>
                  <a:srgbClr val="000000"/>
                </a:solidFill>
                <a:latin typeface="Arial"/>
              </a:rPr>
              <a:t>#include &lt;ap_int.h&gt;</a:t>
            </a:r>
          </a:p>
          <a:p>
            <a:pPr defTabSz="914400" fontAlgn="base">
              <a:spcBef>
                <a:spcPct val="0"/>
              </a:spcBef>
              <a:spcAft>
                <a:spcPct val="0"/>
              </a:spcAft>
              <a:defRPr/>
            </a:pPr>
            <a:r>
              <a:rPr lang="en-US" sz="1000" kern="0" dirty="0">
                <a:solidFill>
                  <a:srgbClr val="000000"/>
                </a:solidFill>
                <a:latin typeface="Arial"/>
              </a:rPr>
              <a:t>#include &lt;</a:t>
            </a:r>
            <a:r>
              <a:rPr lang="en-US" sz="1000" kern="0" dirty="0" err="1">
                <a:solidFill>
                  <a:srgbClr val="000000"/>
                </a:solidFill>
                <a:latin typeface="Arial"/>
              </a:rPr>
              <a:t>hls_stream.h</a:t>
            </a:r>
            <a:r>
              <a:rPr lang="en-US" sz="1000" kern="0" dirty="0">
                <a:solidFill>
                  <a:srgbClr val="000000"/>
                </a:solidFill>
                <a:latin typeface="Arial"/>
              </a:rPr>
              <a:t>&gt;</a:t>
            </a:r>
          </a:p>
          <a:p>
            <a:pPr defTabSz="914400" fontAlgn="base">
              <a:spcBef>
                <a:spcPct val="0"/>
              </a:spcBef>
              <a:spcAft>
                <a:spcPct val="0"/>
              </a:spcAft>
              <a:defRPr/>
            </a:pPr>
            <a:r>
              <a:rPr lang="en-US" sz="1000" kern="0" dirty="0">
                <a:solidFill>
                  <a:srgbClr val="000000"/>
                </a:solidFill>
                <a:latin typeface="Arial"/>
              </a:rPr>
              <a:t>using namespace </a:t>
            </a:r>
            <a:r>
              <a:rPr lang="en-US" sz="1000" kern="0" dirty="0" err="1">
                <a:solidFill>
                  <a:srgbClr val="000000"/>
                </a:solidFill>
                <a:latin typeface="Arial"/>
              </a:rPr>
              <a:t>hls</a:t>
            </a:r>
            <a:r>
              <a:rPr lang="en-US" sz="1000" kern="0" dirty="0">
                <a:solidFill>
                  <a:srgbClr val="000000"/>
                </a:solidFill>
                <a:latin typeface="Arial"/>
              </a:rPr>
              <a:t>;                            // Use </a:t>
            </a:r>
            <a:r>
              <a:rPr lang="en-US" sz="1000" kern="0" dirty="0" err="1">
                <a:solidFill>
                  <a:srgbClr val="000000"/>
                </a:solidFill>
                <a:latin typeface="Arial"/>
              </a:rPr>
              <a:t>hls</a:t>
            </a:r>
            <a:r>
              <a:rPr lang="en-US" sz="1000" kern="0" dirty="0">
                <a:solidFill>
                  <a:srgbClr val="000000"/>
                </a:solidFill>
                <a:latin typeface="Arial"/>
              </a:rPr>
              <a:t> namespace</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typedef </a:t>
            </a:r>
            <a:r>
              <a:rPr lang="en-US" sz="1000" kern="0" dirty="0" err="1">
                <a:solidFill>
                  <a:srgbClr val="000000"/>
                </a:solidFill>
                <a:latin typeface="Arial"/>
              </a:rPr>
              <a:t>ap_uint</a:t>
            </a:r>
            <a:r>
              <a:rPr lang="en-US" sz="1000" kern="0" dirty="0">
                <a:solidFill>
                  <a:srgbClr val="000000"/>
                </a:solidFill>
                <a:latin typeface="Arial"/>
              </a:rPr>
              <a:t>&lt;128&gt; uint128_t;            // 128-bit user defined type</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stream&lt;uint128_t&gt; </a:t>
            </a:r>
            <a:r>
              <a:rPr lang="en-US" sz="1000" kern="0" dirty="0" err="1">
                <a:solidFill>
                  <a:srgbClr val="000000"/>
                </a:solidFill>
                <a:latin typeface="Arial"/>
              </a:rPr>
              <a:t>my_wide_stream</a:t>
            </a:r>
            <a:r>
              <a:rPr lang="en-US" sz="1000" kern="0" dirty="0">
                <a:solidFill>
                  <a:srgbClr val="000000"/>
                </a:solidFill>
                <a:latin typeface="Arial"/>
              </a:rPr>
              <a:t>;    // </a:t>
            </a:r>
            <a:r>
              <a:rPr lang="en-US" sz="1000" kern="0" dirty="0" err="1">
                <a:solidFill>
                  <a:srgbClr val="000000"/>
                </a:solidFill>
                <a:latin typeface="Arial"/>
              </a:rPr>
              <a:t>hls</a:t>
            </a:r>
            <a:r>
              <a:rPr lang="en-US" sz="1000" kern="0" dirty="0">
                <a:solidFill>
                  <a:srgbClr val="000000"/>
                </a:solidFill>
                <a:latin typeface="Arial"/>
              </a:rPr>
              <a:t>:: no longer required</a:t>
            </a:r>
            <a:endParaRPr lang="en-US" sz="1000" b="1" kern="0" dirty="0">
              <a:solidFill>
                <a:srgbClr val="000000"/>
              </a:solidFill>
              <a:latin typeface="Arial"/>
            </a:endParaRPr>
          </a:p>
        </p:txBody>
      </p:sp>
      <p:sp>
        <p:nvSpPr>
          <p:cNvPr id="15" name="TextBox 14">
            <a:extLst>
              <a:ext uri="{FF2B5EF4-FFF2-40B4-BE49-F238E27FC236}">
                <a16:creationId xmlns:a16="http://schemas.microsoft.com/office/drawing/2014/main" id="{38EEDA55-1D01-4026-8387-4DEBFB5D8507}"/>
              </a:ext>
            </a:extLst>
          </p:cNvPr>
          <p:cNvSpPr txBox="1"/>
          <p:nvPr/>
        </p:nvSpPr>
        <p:spPr>
          <a:xfrm>
            <a:off x="876876" y="3490385"/>
            <a:ext cx="3643418" cy="10156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 Blocking Write</a:t>
            </a:r>
          </a:p>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src_var</a:t>
            </a:r>
            <a:r>
              <a:rPr lang="en-US" sz="1000" kern="0" dirty="0">
                <a:solidFill>
                  <a:srgbClr val="000000"/>
                </a:solidFill>
                <a:latin typeface="Arial"/>
              </a:rPr>
              <a:t> = 42;</a:t>
            </a:r>
          </a:p>
          <a:p>
            <a:pPr defTabSz="914400" fontAlgn="base">
              <a:spcBef>
                <a:spcPct val="0"/>
              </a:spcBef>
              <a:spcAft>
                <a:spcPct val="0"/>
              </a:spcAft>
              <a:defRPr/>
            </a:pPr>
            <a:r>
              <a:rPr lang="en-US" sz="1000" kern="0" dirty="0" err="1">
                <a:solidFill>
                  <a:srgbClr val="000000"/>
                </a:solidFill>
                <a:latin typeface="Arial"/>
              </a:rPr>
              <a:t>my_stream.write</a:t>
            </a:r>
            <a:r>
              <a:rPr lang="en-US" sz="1000" kern="0" dirty="0">
                <a:solidFill>
                  <a:srgbClr val="000000"/>
                </a:solidFill>
                <a:latin typeface="Arial"/>
              </a:rPr>
              <a:t>(</a:t>
            </a:r>
            <a:r>
              <a:rPr lang="en-US" sz="1000" kern="0" dirty="0" err="1">
                <a:solidFill>
                  <a:srgbClr val="000000"/>
                </a:solidFill>
                <a:latin typeface="Arial"/>
              </a:rPr>
              <a:t>src_var</a:t>
            </a:r>
            <a:r>
              <a:rPr lang="en-US" sz="1000" kern="0" dirty="0">
                <a:solidFill>
                  <a:srgbClr val="000000"/>
                </a:solidFill>
                <a:latin typeface="Arial"/>
              </a:rPr>
              <a:t>);</a:t>
            </a:r>
          </a:p>
          <a:p>
            <a:pPr defTabSz="914400" fontAlgn="base">
              <a:spcBef>
                <a:spcPct val="0"/>
              </a:spcBef>
              <a:spcAft>
                <a:spcPct val="0"/>
              </a:spcAft>
              <a:defRPr/>
            </a:pPr>
            <a:r>
              <a:rPr lang="en-US" sz="1000" b="1" kern="0" dirty="0">
                <a:solidFill>
                  <a:srgbClr val="000000"/>
                </a:solidFill>
                <a:latin typeface="Arial"/>
              </a:rPr>
              <a:t>// OR use:  </a:t>
            </a:r>
            <a:r>
              <a:rPr lang="en-US" sz="1000" kern="0" dirty="0" err="1">
                <a:solidFill>
                  <a:srgbClr val="000000"/>
                </a:solidFill>
                <a:latin typeface="Arial"/>
              </a:rPr>
              <a:t>my_stream</a:t>
            </a:r>
            <a:r>
              <a:rPr lang="en-US" sz="1000" kern="0" dirty="0">
                <a:solidFill>
                  <a:srgbClr val="000000"/>
                </a:solidFill>
                <a:latin typeface="Arial"/>
              </a:rPr>
              <a:t> &lt;&lt; </a:t>
            </a:r>
            <a:r>
              <a:rPr lang="en-US" sz="1000" kern="0" dirty="0" err="1">
                <a:solidFill>
                  <a:srgbClr val="000000"/>
                </a:solidFill>
                <a:latin typeface="Arial"/>
              </a:rPr>
              <a:t>src_var</a:t>
            </a:r>
            <a:r>
              <a:rPr lang="en-US" sz="1000" kern="0" dirty="0">
                <a:solidFill>
                  <a:srgbClr val="000000"/>
                </a:solidFill>
                <a:latin typeface="Arial"/>
              </a:rPr>
              <a:t>;</a:t>
            </a:r>
            <a:endParaRPr lang="en-US" sz="1000" b="1" kern="0" dirty="0">
              <a:solidFill>
                <a:srgbClr val="000000"/>
              </a:solidFill>
              <a:latin typeface="Arial"/>
            </a:endParaRPr>
          </a:p>
        </p:txBody>
      </p:sp>
      <p:sp>
        <p:nvSpPr>
          <p:cNvPr id="16" name="TextBox 15">
            <a:extLst>
              <a:ext uri="{FF2B5EF4-FFF2-40B4-BE49-F238E27FC236}">
                <a16:creationId xmlns:a16="http://schemas.microsoft.com/office/drawing/2014/main" id="{23EA21E4-76B3-4830-865F-404AACB7F4FC}"/>
              </a:ext>
            </a:extLst>
          </p:cNvPr>
          <p:cNvSpPr txBox="1"/>
          <p:nvPr/>
        </p:nvSpPr>
        <p:spPr>
          <a:xfrm>
            <a:off x="890073" y="4664035"/>
            <a:ext cx="3643418" cy="1015663"/>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b="1" kern="0" dirty="0">
                <a:solidFill>
                  <a:srgbClr val="000000"/>
                </a:solidFill>
                <a:latin typeface="Arial"/>
              </a:rPr>
              <a:t>// Blocking Read</a:t>
            </a:r>
          </a:p>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dst_var</a:t>
            </a:r>
            <a:r>
              <a:rPr lang="en-US" sz="1000" kern="0" dirty="0">
                <a:solidFill>
                  <a:srgbClr val="000000"/>
                </a:solidFill>
                <a:latin typeface="Arial"/>
              </a:rPr>
              <a:t>;</a:t>
            </a:r>
          </a:p>
          <a:p>
            <a:pPr defTabSz="914400" fontAlgn="base">
              <a:spcBef>
                <a:spcPct val="0"/>
              </a:spcBef>
              <a:spcAft>
                <a:spcPct val="0"/>
              </a:spcAft>
              <a:defRPr/>
            </a:pPr>
            <a:r>
              <a:rPr lang="en-US" sz="1000" kern="0" dirty="0" err="1">
                <a:solidFill>
                  <a:srgbClr val="000000"/>
                </a:solidFill>
                <a:latin typeface="Arial"/>
              </a:rPr>
              <a:t>my_stream.read</a:t>
            </a:r>
            <a:r>
              <a:rPr lang="en-US" sz="1000" kern="0" dirty="0">
                <a:solidFill>
                  <a:srgbClr val="000000"/>
                </a:solidFill>
                <a:latin typeface="Arial"/>
              </a:rPr>
              <a:t>(</a:t>
            </a:r>
            <a:r>
              <a:rPr lang="en-US" sz="1000" kern="0" dirty="0" err="1">
                <a:solidFill>
                  <a:srgbClr val="000000"/>
                </a:solidFill>
                <a:latin typeface="Arial"/>
              </a:rPr>
              <a:t>dst_var</a:t>
            </a:r>
            <a:r>
              <a:rPr lang="en-US" sz="1000" kern="0" dirty="0">
                <a:solidFill>
                  <a:srgbClr val="000000"/>
                </a:solidFill>
                <a:latin typeface="Arial"/>
              </a:rPr>
              <a:t>);</a:t>
            </a:r>
          </a:p>
          <a:p>
            <a:pPr defTabSz="914400" fontAlgn="base">
              <a:spcBef>
                <a:spcPct val="0"/>
              </a:spcBef>
              <a:spcAft>
                <a:spcPct val="0"/>
              </a:spcAft>
              <a:defRPr/>
            </a:pPr>
            <a:r>
              <a:rPr lang="en-US" sz="1000" b="1" kern="0" dirty="0">
                <a:solidFill>
                  <a:srgbClr val="000000"/>
                </a:solidFill>
                <a:latin typeface="Arial"/>
              </a:rPr>
              <a:t>// OR use: </a:t>
            </a:r>
            <a:r>
              <a:rPr lang="en-US" sz="1000" kern="0" dirty="0" err="1">
                <a:solidFill>
                  <a:srgbClr val="000000"/>
                </a:solidFill>
                <a:latin typeface="Arial"/>
              </a:rPr>
              <a:t>dst_var</a:t>
            </a:r>
            <a:r>
              <a:rPr lang="en-US" sz="1000" kern="0" dirty="0">
                <a:solidFill>
                  <a:srgbClr val="000000"/>
                </a:solidFill>
                <a:latin typeface="Arial"/>
              </a:rPr>
              <a:t> = </a:t>
            </a:r>
            <a:r>
              <a:rPr lang="en-US" sz="1000" kern="0" dirty="0" err="1">
                <a:solidFill>
                  <a:srgbClr val="000000"/>
                </a:solidFill>
                <a:latin typeface="Arial"/>
              </a:rPr>
              <a:t>my_stream.read</a:t>
            </a:r>
            <a:r>
              <a:rPr lang="en-US" sz="1000" kern="0" dirty="0">
                <a:solidFill>
                  <a:srgbClr val="000000"/>
                </a:solidFill>
                <a:latin typeface="Arial"/>
              </a:rPr>
              <a:t>();</a:t>
            </a:r>
            <a:endParaRPr lang="en-US" sz="1000" b="1" kern="0" dirty="0">
              <a:solidFill>
                <a:srgbClr val="000000"/>
              </a:solidFill>
              <a:latin typeface="Arial"/>
            </a:endParaRPr>
          </a:p>
        </p:txBody>
      </p:sp>
      <p:sp>
        <p:nvSpPr>
          <p:cNvPr id="17" name="TextBox 16">
            <a:extLst>
              <a:ext uri="{FF2B5EF4-FFF2-40B4-BE49-F238E27FC236}">
                <a16:creationId xmlns:a16="http://schemas.microsoft.com/office/drawing/2014/main" id="{28592266-ECA1-4484-B4E8-52E7778E4EC9}"/>
              </a:ext>
            </a:extLst>
          </p:cNvPr>
          <p:cNvSpPr txBox="1"/>
          <p:nvPr/>
        </p:nvSpPr>
        <p:spPr>
          <a:xfrm>
            <a:off x="4713560" y="3476530"/>
            <a:ext cx="3345319"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src_var</a:t>
            </a:r>
            <a:r>
              <a:rPr lang="en-US" sz="1000" kern="0" dirty="0">
                <a:solidFill>
                  <a:srgbClr val="000000"/>
                </a:solidFill>
                <a:latin typeface="Arial"/>
              </a:rPr>
              <a:t> = 42;</a:t>
            </a:r>
          </a:p>
          <a:p>
            <a:pPr defTabSz="914400" fontAlgn="base">
              <a:spcBef>
                <a:spcPct val="0"/>
              </a:spcBef>
              <a:spcAft>
                <a:spcPct val="0"/>
              </a:spcAft>
              <a:defRPr/>
            </a:pPr>
            <a:r>
              <a:rPr lang="en-US" sz="1000" kern="0" dirty="0">
                <a:solidFill>
                  <a:srgbClr val="000000"/>
                </a:solidFill>
                <a:latin typeface="Arial"/>
              </a:rPr>
              <a:t>bool </a:t>
            </a:r>
            <a:r>
              <a:rPr lang="en-US" sz="1000" kern="0" dirty="0" err="1">
                <a:solidFill>
                  <a:srgbClr val="000000"/>
                </a:solidFill>
                <a:latin typeface="Arial"/>
              </a:rPr>
              <a:t>stream_full</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Non-Blocking Write</a:t>
            </a:r>
          </a:p>
          <a:p>
            <a:pPr defTabSz="914400" fontAlgn="base">
              <a:spcBef>
                <a:spcPct val="0"/>
              </a:spcBef>
              <a:spcAft>
                <a:spcPct val="0"/>
              </a:spcAft>
              <a:defRPr/>
            </a:pPr>
            <a:r>
              <a:rPr lang="en-US" sz="1000" kern="0" dirty="0">
                <a:solidFill>
                  <a:srgbClr val="000000"/>
                </a:solidFill>
                <a:latin typeface="Arial"/>
              </a:rPr>
              <a:t>if (</a:t>
            </a:r>
            <a:r>
              <a:rPr lang="en-US" sz="1000" kern="0" dirty="0" err="1">
                <a:solidFill>
                  <a:srgbClr val="000000"/>
                </a:solidFill>
                <a:latin typeface="Arial"/>
              </a:rPr>
              <a:t>my_stream.write_nb</a:t>
            </a:r>
            <a:r>
              <a:rPr lang="en-US" sz="1000" kern="0" dirty="0">
                <a:solidFill>
                  <a:srgbClr val="000000"/>
                </a:solidFill>
                <a:latin typeface="Arial"/>
              </a:rPr>
              <a:t>(</a:t>
            </a:r>
            <a:r>
              <a:rPr lang="en-US" sz="1000" kern="0" dirty="0" err="1">
                <a:solidFill>
                  <a:srgbClr val="000000"/>
                </a:solidFill>
                <a:latin typeface="Arial"/>
              </a:rPr>
              <a:t>src_var</a:t>
            </a: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 Perform standard operations</a:t>
            </a:r>
          </a:p>
          <a:p>
            <a:pPr defTabSz="914400" fontAlgn="base">
              <a:spcBef>
                <a:spcPct val="0"/>
              </a:spcBef>
              <a:spcAft>
                <a:spcPct val="0"/>
              </a:spcAft>
              <a:defRPr/>
            </a:pPr>
            <a:r>
              <a:rPr lang="en-US" sz="1000" kern="0" dirty="0">
                <a:solidFill>
                  <a:srgbClr val="000000"/>
                </a:solidFill>
                <a:latin typeface="Arial"/>
              </a:rPr>
              <a:t>} else {</a:t>
            </a:r>
          </a:p>
          <a:p>
            <a:pPr defTabSz="914400" fontAlgn="base">
              <a:spcBef>
                <a:spcPct val="0"/>
              </a:spcBef>
              <a:spcAft>
                <a:spcPct val="0"/>
              </a:spcAft>
              <a:defRPr/>
            </a:pPr>
            <a:r>
              <a:rPr lang="en-US" sz="1000" kern="0" dirty="0">
                <a:solidFill>
                  <a:srgbClr val="000000"/>
                </a:solidFill>
                <a:latin typeface="Arial"/>
              </a:rPr>
              <a:t>      // Write did not happen</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Full test </a:t>
            </a:r>
          </a:p>
          <a:p>
            <a:pPr defTabSz="914400" fontAlgn="base">
              <a:spcBef>
                <a:spcPct val="0"/>
              </a:spcBef>
              <a:spcAft>
                <a:spcPct val="0"/>
              </a:spcAft>
              <a:defRPr/>
            </a:pPr>
            <a:r>
              <a:rPr lang="en-US" sz="1000" kern="0" dirty="0" err="1">
                <a:solidFill>
                  <a:srgbClr val="000000"/>
                </a:solidFill>
                <a:latin typeface="Arial"/>
              </a:rPr>
              <a:t>stream_full</a:t>
            </a:r>
            <a:r>
              <a:rPr lang="en-US" sz="1000" kern="0" dirty="0">
                <a:solidFill>
                  <a:srgbClr val="000000"/>
                </a:solidFill>
                <a:latin typeface="Arial"/>
              </a:rPr>
              <a:t> = </a:t>
            </a:r>
            <a:r>
              <a:rPr lang="en-US" sz="1000" kern="0" dirty="0" err="1">
                <a:solidFill>
                  <a:srgbClr val="000000"/>
                </a:solidFill>
                <a:latin typeface="Arial"/>
              </a:rPr>
              <a:t>my_stream.full</a:t>
            </a:r>
            <a:r>
              <a:rPr lang="en-US" sz="1000" kern="0" dirty="0">
                <a:solidFill>
                  <a:srgbClr val="000000"/>
                </a:solidFill>
                <a:latin typeface="Arial"/>
              </a:rPr>
              <a:t>();</a:t>
            </a:r>
          </a:p>
        </p:txBody>
      </p:sp>
      <p:sp>
        <p:nvSpPr>
          <p:cNvPr id="18" name="TextBox 17">
            <a:extLst>
              <a:ext uri="{FF2B5EF4-FFF2-40B4-BE49-F238E27FC236}">
                <a16:creationId xmlns:a16="http://schemas.microsoft.com/office/drawing/2014/main" id="{E059BCB5-AA61-4C5F-89E6-47448FC05922}"/>
              </a:ext>
            </a:extLst>
          </p:cNvPr>
          <p:cNvSpPr txBox="1"/>
          <p:nvPr/>
        </p:nvSpPr>
        <p:spPr>
          <a:xfrm>
            <a:off x="8160853" y="3486399"/>
            <a:ext cx="3345319" cy="2246769"/>
          </a:xfrm>
          <a:prstGeom prst="rect">
            <a:avLst/>
          </a:prstGeom>
          <a:gradFill rotWithShape="1">
            <a:gsLst>
              <a:gs pos="0">
                <a:srgbClr val="008CA8">
                  <a:tint val="50000"/>
                  <a:satMod val="300000"/>
                </a:srgbClr>
              </a:gs>
              <a:gs pos="35000">
                <a:srgbClr val="008CA8">
                  <a:tint val="37000"/>
                  <a:satMod val="300000"/>
                </a:srgbClr>
              </a:gs>
              <a:gs pos="100000">
                <a:srgbClr val="008CA8">
                  <a:tint val="15000"/>
                  <a:satMod val="350000"/>
                </a:srgbClr>
              </a:gs>
            </a:gsLst>
            <a:lin ang="16200000" scaled="1"/>
          </a:gradFill>
          <a:ln w="9525" cap="flat" cmpd="sng" algn="ctr">
            <a:solidFill>
              <a:srgbClr val="008CA8">
                <a:shade val="95000"/>
                <a:satMod val="105000"/>
              </a:srgbClr>
            </a:solidFill>
            <a:prstDash val="solid"/>
          </a:ln>
          <a:effectLst>
            <a:outerShdw blurRad="50800" dist="63500" dir="2700000" algn="tl" rotWithShape="0">
              <a:prstClr val="black">
                <a:alpha val="40000"/>
              </a:prstClr>
            </a:outerShdw>
          </a:effectLst>
        </p:spPr>
        <p:txBody>
          <a:bodyPr wrap="square" rtlCol="0">
            <a:spAutoFit/>
          </a:bodyPr>
          <a:lstStyle/>
          <a:p>
            <a:pPr defTabSz="914400" fontAlgn="base">
              <a:spcBef>
                <a:spcPct val="0"/>
              </a:spcBef>
              <a:spcAft>
                <a:spcPct val="0"/>
              </a:spcAft>
              <a:defRPr/>
            </a:pPr>
            <a:r>
              <a:rPr lang="en-US" sz="1000" kern="0" dirty="0" err="1">
                <a:solidFill>
                  <a:srgbClr val="000000"/>
                </a:solidFill>
                <a:latin typeface="Arial"/>
              </a:rPr>
              <a:t>hls</a:t>
            </a:r>
            <a:r>
              <a:rPr lang="en-US" sz="1000" kern="0" dirty="0">
                <a:solidFill>
                  <a:srgbClr val="000000"/>
                </a:solidFill>
                <a:latin typeface="Arial"/>
              </a:rPr>
              <a:t>::stream&lt;int&gt; </a:t>
            </a:r>
            <a:r>
              <a:rPr lang="en-US" sz="1000" kern="0" dirty="0" err="1">
                <a:solidFill>
                  <a:srgbClr val="000000"/>
                </a:solidFill>
                <a:latin typeface="Arial"/>
              </a:rPr>
              <a:t>my_stream</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kern="0" dirty="0">
                <a:solidFill>
                  <a:srgbClr val="000000"/>
                </a:solidFill>
                <a:latin typeface="Arial"/>
              </a:rPr>
              <a:t>int </a:t>
            </a:r>
            <a:r>
              <a:rPr lang="en-US" sz="1000" kern="0" dirty="0" err="1">
                <a:solidFill>
                  <a:srgbClr val="000000"/>
                </a:solidFill>
                <a:latin typeface="Arial"/>
              </a:rPr>
              <a:t>dst_var</a:t>
            </a:r>
            <a:r>
              <a:rPr lang="en-US" sz="1000" kern="0" dirty="0">
                <a:solidFill>
                  <a:srgbClr val="000000"/>
                </a:solidFill>
                <a:latin typeface="Arial"/>
              </a:rPr>
              <a:t>;</a:t>
            </a:r>
          </a:p>
          <a:p>
            <a:pPr defTabSz="914400" fontAlgn="base">
              <a:spcBef>
                <a:spcPct val="0"/>
              </a:spcBef>
              <a:spcAft>
                <a:spcPct val="0"/>
              </a:spcAft>
              <a:defRPr/>
            </a:pPr>
            <a:r>
              <a:rPr lang="en-US" sz="1000" kern="0" dirty="0">
                <a:solidFill>
                  <a:srgbClr val="000000"/>
                </a:solidFill>
                <a:latin typeface="Arial"/>
              </a:rPr>
              <a:t>bool </a:t>
            </a:r>
            <a:r>
              <a:rPr lang="en-US" sz="1000" kern="0" dirty="0" err="1">
                <a:solidFill>
                  <a:srgbClr val="000000"/>
                </a:solidFill>
                <a:latin typeface="Arial"/>
              </a:rPr>
              <a:t>stream_empty</a:t>
            </a: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Non-Blocking Read</a:t>
            </a:r>
          </a:p>
          <a:p>
            <a:pPr defTabSz="914400" fontAlgn="base">
              <a:spcBef>
                <a:spcPct val="0"/>
              </a:spcBef>
              <a:spcAft>
                <a:spcPct val="0"/>
              </a:spcAft>
              <a:defRPr/>
            </a:pPr>
            <a:r>
              <a:rPr lang="en-US" sz="1000" kern="0" dirty="0">
                <a:solidFill>
                  <a:srgbClr val="000000"/>
                </a:solidFill>
                <a:latin typeface="Arial"/>
              </a:rPr>
              <a:t>if (</a:t>
            </a:r>
            <a:r>
              <a:rPr lang="en-US" sz="1000" kern="0" dirty="0" err="1">
                <a:solidFill>
                  <a:srgbClr val="000000"/>
                </a:solidFill>
                <a:latin typeface="Arial"/>
              </a:rPr>
              <a:t>my_stream.read_nb</a:t>
            </a:r>
            <a:r>
              <a:rPr lang="en-US" sz="1000" kern="0" dirty="0">
                <a:solidFill>
                  <a:srgbClr val="000000"/>
                </a:solidFill>
                <a:latin typeface="Arial"/>
              </a:rPr>
              <a:t>(</a:t>
            </a:r>
            <a:r>
              <a:rPr lang="en-US" sz="1000" kern="0" dirty="0" err="1">
                <a:solidFill>
                  <a:srgbClr val="000000"/>
                </a:solidFill>
                <a:latin typeface="Arial"/>
              </a:rPr>
              <a:t>dst_var</a:t>
            </a:r>
            <a:r>
              <a:rPr lang="en-US" sz="1000" kern="0" dirty="0">
                <a:solidFill>
                  <a:srgbClr val="000000"/>
                </a:solidFill>
                <a:latin typeface="Arial"/>
              </a:rPr>
              <a:t>)) {</a:t>
            </a:r>
          </a:p>
          <a:p>
            <a:pPr defTabSz="914400" fontAlgn="base">
              <a:spcBef>
                <a:spcPct val="0"/>
              </a:spcBef>
              <a:spcAft>
                <a:spcPct val="0"/>
              </a:spcAft>
              <a:defRPr/>
            </a:pPr>
            <a:r>
              <a:rPr lang="en-US" sz="1000" kern="0" dirty="0">
                <a:solidFill>
                  <a:srgbClr val="000000"/>
                </a:solidFill>
                <a:latin typeface="Arial"/>
              </a:rPr>
              <a:t>       // Perform standard operations</a:t>
            </a:r>
          </a:p>
          <a:p>
            <a:pPr defTabSz="914400" fontAlgn="base">
              <a:spcBef>
                <a:spcPct val="0"/>
              </a:spcBef>
              <a:spcAft>
                <a:spcPct val="0"/>
              </a:spcAft>
              <a:defRPr/>
            </a:pPr>
            <a:r>
              <a:rPr lang="en-US" sz="1000" kern="0" dirty="0">
                <a:solidFill>
                  <a:srgbClr val="000000"/>
                </a:solidFill>
                <a:latin typeface="Arial"/>
              </a:rPr>
              <a:t>} else {</a:t>
            </a:r>
          </a:p>
          <a:p>
            <a:pPr defTabSz="914400" fontAlgn="base">
              <a:spcBef>
                <a:spcPct val="0"/>
              </a:spcBef>
              <a:spcAft>
                <a:spcPct val="0"/>
              </a:spcAft>
              <a:defRPr/>
            </a:pPr>
            <a:r>
              <a:rPr lang="en-US" sz="1000" kern="0" dirty="0">
                <a:solidFill>
                  <a:srgbClr val="000000"/>
                </a:solidFill>
                <a:latin typeface="Arial"/>
              </a:rPr>
              <a:t>        // Read did not happen</a:t>
            </a:r>
          </a:p>
          <a:p>
            <a:pPr defTabSz="914400" fontAlgn="base">
              <a:spcBef>
                <a:spcPct val="0"/>
              </a:spcBef>
              <a:spcAft>
                <a:spcPct val="0"/>
              </a:spcAft>
              <a:defRPr/>
            </a:pPr>
            <a:r>
              <a:rPr lang="en-US" sz="1000" kern="0" dirty="0">
                <a:solidFill>
                  <a:srgbClr val="000000"/>
                </a:solidFill>
                <a:latin typeface="Arial"/>
              </a:rPr>
              <a:t>}</a:t>
            </a:r>
          </a:p>
          <a:p>
            <a:pPr defTabSz="914400" fontAlgn="base">
              <a:spcBef>
                <a:spcPct val="0"/>
              </a:spcBef>
              <a:spcAft>
                <a:spcPct val="0"/>
              </a:spcAft>
              <a:defRPr/>
            </a:pPr>
            <a:endParaRPr lang="en-US" sz="1000" kern="0" dirty="0">
              <a:solidFill>
                <a:srgbClr val="000000"/>
              </a:solidFill>
              <a:latin typeface="Arial"/>
            </a:endParaRPr>
          </a:p>
          <a:p>
            <a:pPr defTabSz="914400" fontAlgn="base">
              <a:spcBef>
                <a:spcPct val="0"/>
              </a:spcBef>
              <a:spcAft>
                <a:spcPct val="0"/>
              </a:spcAft>
              <a:defRPr/>
            </a:pPr>
            <a:r>
              <a:rPr lang="en-US" sz="1000" b="1" kern="0" dirty="0">
                <a:solidFill>
                  <a:srgbClr val="000000"/>
                </a:solidFill>
                <a:latin typeface="Arial"/>
              </a:rPr>
              <a:t>// Empty test</a:t>
            </a:r>
          </a:p>
          <a:p>
            <a:pPr defTabSz="914400" fontAlgn="base">
              <a:spcBef>
                <a:spcPct val="0"/>
              </a:spcBef>
              <a:spcAft>
                <a:spcPct val="0"/>
              </a:spcAft>
              <a:defRPr/>
            </a:pPr>
            <a:r>
              <a:rPr lang="en-US" sz="1000" kern="0" dirty="0" err="1">
                <a:solidFill>
                  <a:srgbClr val="000000"/>
                </a:solidFill>
                <a:latin typeface="Arial"/>
              </a:rPr>
              <a:t>fifo_empty</a:t>
            </a:r>
            <a:r>
              <a:rPr lang="en-US" sz="1000" kern="0" dirty="0">
                <a:solidFill>
                  <a:srgbClr val="000000"/>
                </a:solidFill>
                <a:latin typeface="Arial"/>
              </a:rPr>
              <a:t> = </a:t>
            </a:r>
            <a:r>
              <a:rPr lang="en-US" sz="1000" kern="0" dirty="0" err="1">
                <a:solidFill>
                  <a:srgbClr val="000000"/>
                </a:solidFill>
                <a:latin typeface="Arial"/>
              </a:rPr>
              <a:t>my_stream.empty</a:t>
            </a:r>
            <a:r>
              <a:rPr lang="en-US" sz="1000" kern="0" dirty="0">
                <a:solidFill>
                  <a:srgbClr val="000000"/>
                </a:solidFill>
                <a:latin typeface="Arial"/>
              </a:rPr>
              <a:t>();</a:t>
            </a:r>
          </a:p>
        </p:txBody>
      </p:sp>
      <p:sp>
        <p:nvSpPr>
          <p:cNvPr id="19" name="TextBox 18">
            <a:extLst>
              <a:ext uri="{FF2B5EF4-FFF2-40B4-BE49-F238E27FC236}">
                <a16:creationId xmlns:a16="http://schemas.microsoft.com/office/drawing/2014/main" id="{C3A7AB5D-85B4-4E9B-A647-814CBC09C63A}"/>
              </a:ext>
            </a:extLst>
          </p:cNvPr>
          <p:cNvSpPr txBox="1"/>
          <p:nvPr/>
        </p:nvSpPr>
        <p:spPr>
          <a:xfrm>
            <a:off x="2137150" y="5733167"/>
            <a:ext cx="8685394" cy="738664"/>
          </a:xfrm>
          <a:prstGeom prst="rect">
            <a:avLst/>
          </a:prstGeom>
          <a:solidFill>
            <a:srgbClr val="8B8D09">
              <a:lumMod val="40000"/>
              <a:lumOff val="60000"/>
            </a:srgbClr>
          </a:solidFill>
          <a:ln>
            <a:solidFill>
              <a:srgbClr val="000000"/>
            </a:solidFill>
          </a:ln>
          <a:effectLst>
            <a:outerShdw blurRad="50800" dist="38100" dir="2700000" algn="tl" rotWithShape="0">
              <a:prstClr val="black">
                <a:alpha val="40000"/>
              </a:prstClr>
            </a:outerShdw>
          </a:effectLst>
        </p:spPr>
        <p:txBody>
          <a:bodyPr wrap="square" rtlCol="0">
            <a:spAutoFit/>
          </a:bodyPr>
          <a:lstStyle/>
          <a:p>
            <a:pPr algn="ctr" defTabSz="914400" fontAlgn="base">
              <a:spcBef>
                <a:spcPct val="0"/>
              </a:spcBef>
              <a:spcAft>
                <a:spcPct val="0"/>
              </a:spcAft>
              <a:defRPr/>
            </a:pPr>
            <a:r>
              <a:rPr lang="en-US" sz="1400" kern="0" dirty="0">
                <a:solidFill>
                  <a:srgbClr val="000000"/>
                </a:solidFill>
                <a:latin typeface="Arial"/>
              </a:rPr>
              <a:t>Stream arrays and structs are not supported for RTL simulation at this time: must be verified manually.</a:t>
            </a:r>
          </a:p>
          <a:p>
            <a:pPr algn="ctr" defTabSz="914400" fontAlgn="base">
              <a:spcBef>
                <a:spcPct val="0"/>
              </a:spcBef>
              <a:spcAft>
                <a:spcPct val="0"/>
              </a:spcAft>
              <a:defRPr/>
            </a:pPr>
            <a:endParaRPr lang="en-US" sz="1400" kern="0" dirty="0">
              <a:solidFill>
                <a:srgbClr val="000000"/>
              </a:solidFill>
              <a:latin typeface="Arial"/>
            </a:endParaRPr>
          </a:p>
          <a:p>
            <a:pPr algn="ctr" defTabSz="914400" fontAlgn="base">
              <a:spcBef>
                <a:spcPct val="0"/>
              </a:spcBef>
              <a:spcAft>
                <a:spcPct val="0"/>
              </a:spcAft>
              <a:defRPr/>
            </a:pPr>
            <a:r>
              <a:rPr lang="en-US" sz="1400" kern="0" dirty="0">
                <a:solidFill>
                  <a:srgbClr val="000000"/>
                </a:solidFill>
                <a:latin typeface="Arial"/>
              </a:rPr>
              <a:t>e.g. </a:t>
            </a:r>
            <a:r>
              <a:rPr lang="en-US" sz="1400" kern="0" dirty="0" err="1">
                <a:solidFill>
                  <a:srgbClr val="000000"/>
                </a:solidFill>
                <a:latin typeface="Arial"/>
              </a:rPr>
              <a:t>hls</a:t>
            </a:r>
            <a:r>
              <a:rPr lang="en-US" sz="1400" kern="0" dirty="0">
                <a:solidFill>
                  <a:srgbClr val="000000"/>
                </a:solidFill>
                <a:latin typeface="Arial"/>
              </a:rPr>
              <a:t>::stream&lt;uint8_t&gt; </a:t>
            </a:r>
            <a:r>
              <a:rPr lang="en-US" sz="1400" kern="0" dirty="0" err="1">
                <a:solidFill>
                  <a:srgbClr val="000000"/>
                </a:solidFill>
                <a:latin typeface="Arial"/>
              </a:rPr>
              <a:t>chan</a:t>
            </a:r>
            <a:r>
              <a:rPr lang="en-US" sz="1400" kern="0" dirty="0">
                <a:solidFill>
                  <a:srgbClr val="000000"/>
                </a:solidFill>
                <a:latin typeface="Arial"/>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85C8A-E023-4A9C-986A-7072F951517A}"/>
              </a:ext>
            </a:extLst>
          </p:cNvPr>
          <p:cNvSpPr>
            <a:spLocks noGrp="1"/>
          </p:cNvSpPr>
          <p:nvPr>
            <p:ph type="title"/>
          </p:nvPr>
        </p:nvSpPr>
        <p:spPr/>
        <p:txBody>
          <a:bodyPr/>
          <a:lstStyle/>
          <a:p>
            <a:r>
              <a:rPr lang="en-US" altLang="zh-CN" dirty="0"/>
              <a:t>Libraries Support - </a:t>
            </a:r>
            <a:br>
              <a:rPr lang="en-US" altLang="zh-CN" dirty="0"/>
            </a:br>
            <a:r>
              <a:rPr lang="en-US" altLang="zh-CN" dirty="0"/>
              <a:t>FFT, FIR and Shift Registers</a:t>
            </a:r>
            <a:endParaRPr lang="zh-CN" altLang="en-US" dirty="0"/>
          </a:p>
        </p:txBody>
      </p:sp>
    </p:spTree>
    <p:extLst>
      <p:ext uri="{BB962C8B-B14F-4D97-AF65-F5344CB8AC3E}">
        <p14:creationId xmlns:p14="http://schemas.microsoft.com/office/powerpoint/2010/main" val="2785421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and FIR IP in HLS</a:t>
            </a:r>
          </a:p>
        </p:txBody>
      </p:sp>
      <p:sp>
        <p:nvSpPr>
          <p:cNvPr id="2" name="Content Placeholder 1"/>
          <p:cNvSpPr>
            <a:spLocks noGrp="1"/>
          </p:cNvSpPr>
          <p:nvPr>
            <p:ph idx="1"/>
          </p:nvPr>
        </p:nvSpPr>
        <p:spPr/>
        <p:txBody>
          <a:bodyPr/>
          <a:lstStyle/>
          <a:p>
            <a:r>
              <a:rPr lang="en-US" dirty="0"/>
              <a:t>The Xilinx FFT and FIR IP are available in </a:t>
            </a:r>
            <a:r>
              <a:rPr lang="en-US" dirty="0" err="1"/>
              <a:t>Vitis</a:t>
            </a:r>
            <a:r>
              <a:rPr lang="en-US" dirty="0"/>
              <a:t> HLS</a:t>
            </a:r>
          </a:p>
          <a:p>
            <a:pPr lvl="1"/>
            <a:r>
              <a:rPr lang="en-US" dirty="0"/>
              <a:t>Fully configurable within the C++ source code</a:t>
            </a:r>
          </a:p>
          <a:p>
            <a:pPr lvl="2"/>
            <a:r>
              <a:rPr lang="en-US" dirty="0"/>
              <a:t>Pre-defined C++ structs allow the IP to be configured &amp; accessed</a:t>
            </a:r>
          </a:p>
          <a:p>
            <a:r>
              <a:rPr lang="en-US" dirty="0"/>
              <a:t>Supported only for C++ </a:t>
            </a:r>
          </a:p>
          <a:p>
            <a:pPr lvl="1"/>
            <a:r>
              <a:rPr lang="en-US" dirty="0"/>
              <a:t>Implemented with templates</a:t>
            </a:r>
          </a:p>
          <a:p>
            <a:r>
              <a:rPr lang="en-US" dirty="0"/>
              <a:t>High-Quality Implementation</a:t>
            </a:r>
          </a:p>
          <a:p>
            <a:pPr lvl="1"/>
            <a:r>
              <a:rPr lang="en-US" dirty="0"/>
              <a:t>Same hardware as implemented by RTL versions of this IP </a:t>
            </a:r>
          </a:p>
          <a:p>
            <a:pPr lvl="1"/>
            <a:r>
              <a:rPr lang="en-US" dirty="0"/>
              <a:t>Functionality fully described in Xilinx Documentation</a:t>
            </a:r>
          </a:p>
          <a:p>
            <a:pPr lvl="2"/>
            <a:r>
              <a:rPr lang="en-US" dirty="0" err="1"/>
              <a:t>LogiCORE</a:t>
            </a:r>
            <a:r>
              <a:rPr lang="en-US" dirty="0"/>
              <a:t> IP Fast Fourier Transform v9.1 (document PG109)</a:t>
            </a:r>
          </a:p>
          <a:p>
            <a:pPr lvl="2"/>
            <a:r>
              <a:rPr lang="en-US" dirty="0" err="1"/>
              <a:t>LogiCORE</a:t>
            </a:r>
            <a:r>
              <a:rPr lang="en-US" dirty="0"/>
              <a:t> IP FIR Compiler v7.2 (document PG149)</a:t>
            </a:r>
          </a:p>
        </p:txBody>
      </p:sp>
      <p:sp>
        <p:nvSpPr>
          <p:cNvPr id="5" name="Slide Number Placeholder 5">
            <a:extLst>
              <a:ext uri="{FF2B5EF4-FFF2-40B4-BE49-F238E27FC236}">
                <a16:creationId xmlns:a16="http://schemas.microsoft.com/office/drawing/2014/main" id="{9EE938AF-76BE-4EA4-A47A-CDE3B027765D}"/>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64</a:t>
            </a:fld>
            <a:endParaRPr lang="en-US" dirty="0"/>
          </a:p>
        </p:txBody>
      </p:sp>
    </p:spTree>
    <p:extLst>
      <p:ext uri="{BB962C8B-B14F-4D97-AF65-F5344CB8AC3E}">
        <p14:creationId xmlns:p14="http://schemas.microsoft.com/office/powerpoint/2010/main" val="152063748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and FIR IP in HLS</a:t>
            </a:r>
          </a:p>
        </p:txBody>
      </p:sp>
      <p:sp>
        <p:nvSpPr>
          <p:cNvPr id="2" name="Content Placeholder 1"/>
          <p:cNvSpPr>
            <a:spLocks noGrp="1"/>
          </p:cNvSpPr>
          <p:nvPr>
            <p:ph idx="1"/>
          </p:nvPr>
        </p:nvSpPr>
        <p:spPr/>
        <p:txBody>
          <a:bodyPr/>
          <a:lstStyle/>
          <a:p>
            <a:r>
              <a:rPr lang="en-US" dirty="0"/>
              <a:t>The Xilinx FFT and FIR IP are available in </a:t>
            </a:r>
            <a:r>
              <a:rPr lang="en-US" dirty="0" err="1">
                <a:highlight>
                  <a:srgbClr val="FFFF00"/>
                </a:highlight>
              </a:rPr>
              <a:t>Vitis</a:t>
            </a:r>
            <a:r>
              <a:rPr lang="en-US" dirty="0"/>
              <a:t> HLS</a:t>
            </a:r>
          </a:p>
          <a:p>
            <a:pPr lvl="1"/>
            <a:r>
              <a:rPr lang="en-US" strike="sngStrike" dirty="0"/>
              <a:t>C simulates with a bit-accurate model</a:t>
            </a:r>
          </a:p>
          <a:p>
            <a:pPr lvl="1"/>
            <a:r>
              <a:rPr lang="en-US" dirty="0"/>
              <a:t>Fully configurable within the C++ source code</a:t>
            </a:r>
          </a:p>
          <a:p>
            <a:pPr lvl="2"/>
            <a:r>
              <a:rPr lang="en-US" dirty="0"/>
              <a:t>Pre-defined C++ structs allow the IP to be configured &amp; accessed</a:t>
            </a:r>
          </a:p>
          <a:p>
            <a:r>
              <a:rPr lang="en-US" dirty="0"/>
              <a:t>Supported only for C++ </a:t>
            </a:r>
          </a:p>
          <a:p>
            <a:pPr lvl="1"/>
            <a:r>
              <a:rPr lang="en-US" dirty="0"/>
              <a:t>Implemented with templates</a:t>
            </a:r>
          </a:p>
          <a:p>
            <a:r>
              <a:rPr lang="en-US" dirty="0"/>
              <a:t>High-Quality Implementation</a:t>
            </a:r>
          </a:p>
          <a:p>
            <a:pPr lvl="1"/>
            <a:r>
              <a:rPr lang="en-US" dirty="0"/>
              <a:t>Same hardware as implemented by RTL versions of this IP </a:t>
            </a:r>
          </a:p>
          <a:p>
            <a:pPr lvl="1"/>
            <a:r>
              <a:rPr lang="en-US" dirty="0"/>
              <a:t>Functionality fully described in Xilinx Documentation</a:t>
            </a:r>
          </a:p>
          <a:p>
            <a:pPr lvl="2"/>
            <a:r>
              <a:rPr lang="en-US" dirty="0" err="1"/>
              <a:t>LogiCORE</a:t>
            </a:r>
            <a:r>
              <a:rPr lang="en-US" dirty="0"/>
              <a:t> IP Fast Fourier Transform </a:t>
            </a:r>
            <a:r>
              <a:rPr lang="en-US" strike="sngStrike" dirty="0"/>
              <a:t>v9.0</a:t>
            </a:r>
            <a:r>
              <a:rPr lang="en-US" dirty="0">
                <a:highlight>
                  <a:srgbClr val="FFFF00"/>
                </a:highlight>
              </a:rPr>
              <a:t>v9.1</a:t>
            </a:r>
            <a:r>
              <a:rPr lang="en-US" dirty="0"/>
              <a:t> (document PG109)</a:t>
            </a:r>
          </a:p>
          <a:p>
            <a:pPr lvl="2"/>
            <a:r>
              <a:rPr lang="en-US" dirty="0" err="1"/>
              <a:t>LogiCORE</a:t>
            </a:r>
            <a:r>
              <a:rPr lang="en-US" dirty="0"/>
              <a:t> IP FIR Compiler v7.2 (document PG149)</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65</a:t>
            </a:fld>
            <a:endParaRPr lang="en-US" dirty="0">
              <a:solidFill>
                <a:srgbClr val="0C0C0C">
                  <a:tint val="75000"/>
                </a:srgbClr>
              </a:solidFill>
              <a:latin typeface="Arial"/>
            </a:endParaRPr>
          </a:p>
        </p:txBody>
      </p:sp>
    </p:spTree>
    <p:extLst>
      <p:ext uri="{BB962C8B-B14F-4D97-AF65-F5344CB8AC3E}">
        <p14:creationId xmlns:p14="http://schemas.microsoft.com/office/powerpoint/2010/main" val="27710185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a:t>
            </a:r>
          </a:p>
        </p:txBody>
      </p:sp>
      <p:sp>
        <p:nvSpPr>
          <p:cNvPr id="2" name="Content Placeholder 1"/>
          <p:cNvSpPr>
            <a:spLocks noGrp="1"/>
          </p:cNvSpPr>
          <p:nvPr>
            <p:ph idx="1"/>
          </p:nvPr>
        </p:nvSpPr>
        <p:spPr/>
        <p:txBody>
          <a:bodyPr/>
          <a:lstStyle/>
          <a:p>
            <a:r>
              <a:rPr lang="en-US" dirty="0"/>
              <a:t>Using the FFT</a:t>
            </a:r>
          </a:p>
          <a:p>
            <a:pPr lvl="1"/>
            <a:r>
              <a:rPr lang="en-US" dirty="0"/>
              <a:t>Include the </a:t>
            </a:r>
            <a:r>
              <a:rPr lang="en-US" dirty="0" err="1"/>
              <a:t>hls_fft.h</a:t>
            </a:r>
            <a:r>
              <a:rPr lang="en-US" dirty="0"/>
              <a:t> library in the code</a:t>
            </a:r>
          </a:p>
          <a:p>
            <a:pPr lvl="2"/>
            <a:r>
              <a:rPr lang="en-US" dirty="0"/>
              <a:t>This defines the FFT and supporting </a:t>
            </a:r>
            <a:br>
              <a:rPr lang="en-US" dirty="0"/>
            </a:br>
            <a:r>
              <a:rPr lang="en-US" dirty="0" err="1"/>
              <a:t>structs</a:t>
            </a:r>
            <a:r>
              <a:rPr lang="en-US" dirty="0"/>
              <a:t> and types</a:t>
            </a:r>
          </a:p>
          <a:p>
            <a:pPr lvl="2"/>
            <a:r>
              <a:rPr lang="en-US" dirty="0"/>
              <a:t>Allows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fft</a:t>
            </a:r>
            <a:r>
              <a:rPr lang="en-US" dirty="0">
                <a:solidFill>
                  <a:schemeClr val="accent6">
                    <a:lumMod val="75000"/>
                  </a:schemeClr>
                </a:solidFill>
              </a:rPr>
              <a:t> </a:t>
            </a:r>
            <a:r>
              <a:rPr lang="en-US" dirty="0"/>
              <a:t>to be instantiated in your code</a:t>
            </a:r>
          </a:p>
          <a:p>
            <a:pPr lvl="1"/>
            <a:r>
              <a:rPr lang="en-US" dirty="0"/>
              <a:t>Use the STATIC_PARAM template parameter to parameterize the FFT</a:t>
            </a:r>
          </a:p>
          <a:p>
            <a:pPr lvl="2"/>
            <a:r>
              <a:rPr lang="en-US" dirty="0"/>
              <a:t>The STATIC_PARAM template parameter defines all static configuration values</a:t>
            </a:r>
          </a:p>
          <a:p>
            <a:pPr lvl="2"/>
            <a:r>
              <a:rPr lang="en-US" dirty="0"/>
              <a:t>The Library provides a pre-defined struct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ip_fft</a:t>
            </a:r>
            <a:r>
              <a:rPr lang="en-US" dirty="0">
                <a:solidFill>
                  <a:schemeClr val="accent6">
                    <a:lumMod val="75000"/>
                  </a:schemeClr>
                </a:solidFill>
              </a:rPr>
              <a:t>::</a:t>
            </a:r>
            <a:r>
              <a:rPr lang="en-US" dirty="0" err="1">
                <a:solidFill>
                  <a:schemeClr val="accent6">
                    <a:lumMod val="75000"/>
                  </a:schemeClr>
                </a:solidFill>
              </a:rPr>
              <a:t>params_t</a:t>
            </a:r>
            <a:r>
              <a:rPr lang="en-US" dirty="0">
                <a:solidFill>
                  <a:schemeClr val="accent6">
                    <a:lumMod val="75000"/>
                  </a:schemeClr>
                </a:solidFill>
              </a:rPr>
              <a:t> </a:t>
            </a:r>
            <a:r>
              <a:rPr lang="en-US" dirty="0"/>
              <a:t>to perform this</a:t>
            </a:r>
          </a:p>
          <a:p>
            <a:pPr lvl="1"/>
            <a:r>
              <a:rPr lang="en-US" dirty="0"/>
              <a:t>Optionally modify the default parameters by creating a  new user defined STATIC_PARAM struct based on the default </a:t>
            </a:r>
          </a:p>
          <a:p>
            <a:pPr lvl="1"/>
            <a:endParaRPr lang="en-US" dirty="0"/>
          </a:p>
        </p:txBody>
      </p:sp>
      <p:sp>
        <p:nvSpPr>
          <p:cNvPr id="7" name="TextBox 6">
            <a:extLst>
              <a:ext uri="{FF2B5EF4-FFF2-40B4-BE49-F238E27FC236}">
                <a16:creationId xmlns:a16="http://schemas.microsoft.com/office/drawing/2014/main" id="{7D8EB1E9-6FC9-4926-937C-DD9FC31FC698}"/>
              </a:ext>
            </a:extLst>
          </p:cNvPr>
          <p:cNvSpPr txBox="1"/>
          <p:nvPr/>
        </p:nvSpPr>
        <p:spPr bwMode="auto">
          <a:xfrm>
            <a:off x="6348907" y="1618883"/>
            <a:ext cx="5117274"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kern="0" dirty="0">
                <a:solidFill>
                  <a:srgbClr val="000000"/>
                </a:solidFill>
              </a:rPr>
              <a:t>#include "</a:t>
            </a:r>
            <a:r>
              <a:rPr lang="en-US" b="1" kern="0" dirty="0" err="1">
                <a:solidFill>
                  <a:srgbClr val="000000"/>
                </a:solidFill>
              </a:rPr>
              <a:t>hls_fft.h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b="1" kern="0" dirty="0" err="1">
                <a:solidFill>
                  <a:srgbClr val="8B8D09">
                    <a:lumMod val="75000"/>
                  </a:srgbClr>
                </a:solidFill>
              </a:rPr>
              <a:t>hls</a:t>
            </a:r>
            <a:r>
              <a:rPr lang="en-US" b="1" kern="0" dirty="0">
                <a:solidFill>
                  <a:srgbClr val="8B8D09">
                    <a:lumMod val="75000"/>
                  </a:srgbClr>
                </a:solidFill>
              </a:rPr>
              <a:t>::</a:t>
            </a:r>
            <a:r>
              <a:rPr lang="en-US" b="1" kern="0" dirty="0" err="1">
                <a:solidFill>
                  <a:srgbClr val="8B8D09">
                    <a:lumMod val="75000"/>
                  </a:srgbClr>
                </a:solidFill>
              </a:rPr>
              <a:t>fft</a:t>
            </a:r>
            <a:r>
              <a:rPr lang="en-US" kern="0" dirty="0">
                <a:solidFill>
                  <a:srgbClr val="000000"/>
                </a:solidFill>
              </a:rPr>
              <a:t>&lt;</a:t>
            </a:r>
            <a:r>
              <a:rPr lang="en-US" b="1" kern="0" dirty="0">
                <a:solidFill>
                  <a:srgbClr val="000000"/>
                </a:solidFill>
              </a:rPr>
              <a:t>STATIC_PARAM</a:t>
            </a:r>
            <a:r>
              <a:rPr lang="en-US" kern="0" dirty="0">
                <a:solidFill>
                  <a:srgbClr val="000000"/>
                </a:solidFill>
              </a:rPr>
              <a:t>&gt; (                          </a:t>
            </a:r>
            <a:r>
              <a:rPr lang="en-US" b="1" kern="0" dirty="0">
                <a:solidFill>
                  <a:srgbClr val="000000"/>
                </a:solidFill>
              </a:rPr>
              <a:t>// Static Parameterization Struct</a:t>
            </a:r>
          </a:p>
          <a:p>
            <a:pPr defTabSz="914400" fontAlgn="base">
              <a:spcBef>
                <a:spcPct val="0"/>
              </a:spcBef>
              <a:spcAft>
                <a:spcPct val="0"/>
              </a:spcAft>
              <a:defRPr/>
            </a:pPr>
            <a:r>
              <a:rPr lang="en-US" kern="0" dirty="0">
                <a:solidFill>
                  <a:srgbClr val="000000"/>
                </a:solidFill>
              </a:rPr>
              <a:t>  INPUT_DATA_ARRAY,            	// Input data fixed or float</a:t>
            </a:r>
          </a:p>
          <a:p>
            <a:pPr defTabSz="914400" fontAlgn="base">
              <a:spcBef>
                <a:spcPct val="0"/>
              </a:spcBef>
              <a:spcAft>
                <a:spcPct val="0"/>
              </a:spcAft>
              <a:defRPr/>
            </a:pPr>
            <a:r>
              <a:rPr lang="en-US" kern="0" dirty="0">
                <a:solidFill>
                  <a:srgbClr val="000000"/>
                </a:solidFill>
              </a:rPr>
              <a:t>  OUTPUT_DATA_ARRAY,        	// Output data fixed or float</a:t>
            </a:r>
          </a:p>
          <a:p>
            <a:pPr defTabSz="914400" fontAlgn="base">
              <a:spcBef>
                <a:spcPct val="0"/>
              </a:spcBef>
              <a:spcAft>
                <a:spcPct val="0"/>
              </a:spcAft>
              <a:defRPr/>
            </a:pPr>
            <a:r>
              <a:rPr lang="en-US" kern="0" dirty="0">
                <a:solidFill>
                  <a:srgbClr val="000000"/>
                </a:solidFill>
              </a:rPr>
              <a:t>  OUTPUT_STATUS,                 	// Output Status</a:t>
            </a:r>
          </a:p>
          <a:p>
            <a:pPr defTabSz="914400" fontAlgn="base">
              <a:spcBef>
                <a:spcPct val="0"/>
              </a:spcBef>
              <a:spcAft>
                <a:spcPct val="0"/>
              </a:spcAft>
              <a:defRPr/>
            </a:pPr>
            <a:r>
              <a:rPr lang="en-US" kern="0" dirty="0">
                <a:solidFill>
                  <a:srgbClr val="000000"/>
                </a:solidFill>
              </a:rPr>
              <a:t>  INPUT_RUN_TIME_CONFIGURATION); 	// Input Run Time Configuration</a:t>
            </a:r>
          </a:p>
        </p:txBody>
      </p:sp>
      <p:sp>
        <p:nvSpPr>
          <p:cNvPr id="8" name="Slide Number Placeholder 5">
            <a:extLst>
              <a:ext uri="{FF2B5EF4-FFF2-40B4-BE49-F238E27FC236}">
                <a16:creationId xmlns:a16="http://schemas.microsoft.com/office/drawing/2014/main" id="{449F3570-17E4-4474-8C38-1530A01C0761}"/>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66</a:t>
            </a:fld>
            <a:endParaRPr lang="en-US" dirty="0"/>
          </a:p>
        </p:txBody>
      </p:sp>
    </p:spTree>
    <p:extLst>
      <p:ext uri="{BB962C8B-B14F-4D97-AF65-F5344CB8AC3E}">
        <p14:creationId xmlns:p14="http://schemas.microsoft.com/office/powerpoint/2010/main" val="29553310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a:t>
            </a:r>
          </a:p>
        </p:txBody>
      </p:sp>
      <p:sp>
        <p:nvSpPr>
          <p:cNvPr id="2" name="Content Placeholder 1"/>
          <p:cNvSpPr>
            <a:spLocks noGrp="1"/>
          </p:cNvSpPr>
          <p:nvPr>
            <p:ph idx="1"/>
          </p:nvPr>
        </p:nvSpPr>
        <p:spPr/>
        <p:txBody>
          <a:bodyPr/>
          <a:lstStyle/>
          <a:p>
            <a:r>
              <a:rPr lang="en-US" dirty="0"/>
              <a:t>Using the FFT</a:t>
            </a:r>
          </a:p>
          <a:p>
            <a:pPr lvl="1"/>
            <a:r>
              <a:rPr lang="en-US" dirty="0"/>
              <a:t>Include the </a:t>
            </a:r>
            <a:r>
              <a:rPr lang="en-US" dirty="0" err="1"/>
              <a:t>hls_fft.h</a:t>
            </a:r>
            <a:r>
              <a:rPr lang="en-US" dirty="0"/>
              <a:t> library in the code</a:t>
            </a:r>
          </a:p>
          <a:p>
            <a:pPr lvl="2"/>
            <a:r>
              <a:rPr lang="en-US" dirty="0"/>
              <a:t>This defines the FFT and supporting </a:t>
            </a:r>
            <a:br>
              <a:rPr lang="en-US" dirty="0"/>
            </a:br>
            <a:r>
              <a:rPr lang="en-US" dirty="0" err="1"/>
              <a:t>structs</a:t>
            </a:r>
            <a:r>
              <a:rPr lang="en-US" dirty="0"/>
              <a:t> and types</a:t>
            </a:r>
          </a:p>
          <a:p>
            <a:pPr lvl="2"/>
            <a:r>
              <a:rPr lang="en-US" dirty="0"/>
              <a:t>Allows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fft</a:t>
            </a:r>
            <a:r>
              <a:rPr lang="en-US" dirty="0">
                <a:solidFill>
                  <a:schemeClr val="accent6">
                    <a:lumMod val="75000"/>
                  </a:schemeClr>
                </a:solidFill>
              </a:rPr>
              <a:t> </a:t>
            </a:r>
            <a:r>
              <a:rPr lang="en-US" dirty="0"/>
              <a:t>to be instantiated in your code</a:t>
            </a:r>
          </a:p>
          <a:p>
            <a:pPr lvl="1"/>
            <a:r>
              <a:rPr lang="en-US" dirty="0"/>
              <a:t>Use the STATIC_PARAM template parameter to parameterize the FFT</a:t>
            </a:r>
          </a:p>
          <a:p>
            <a:pPr lvl="2"/>
            <a:r>
              <a:rPr lang="en-US" dirty="0"/>
              <a:t>The STATIC_PARAM template parameter defines all static configuration values</a:t>
            </a:r>
          </a:p>
          <a:p>
            <a:pPr lvl="2"/>
            <a:r>
              <a:rPr lang="en-US" dirty="0"/>
              <a:t>The Library provides a pre-defined struct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ip_fft</a:t>
            </a:r>
            <a:r>
              <a:rPr lang="en-US" dirty="0">
                <a:solidFill>
                  <a:schemeClr val="accent6">
                    <a:lumMod val="75000"/>
                  </a:schemeClr>
                </a:solidFill>
              </a:rPr>
              <a:t>::</a:t>
            </a:r>
            <a:r>
              <a:rPr lang="en-US" dirty="0" err="1">
                <a:solidFill>
                  <a:schemeClr val="accent6">
                    <a:lumMod val="75000"/>
                  </a:schemeClr>
                </a:solidFill>
              </a:rPr>
              <a:t>params_t</a:t>
            </a:r>
            <a:r>
              <a:rPr lang="en-US" dirty="0">
                <a:solidFill>
                  <a:schemeClr val="accent6">
                    <a:lumMod val="75000"/>
                  </a:schemeClr>
                </a:solidFill>
              </a:rPr>
              <a:t> </a:t>
            </a:r>
            <a:r>
              <a:rPr lang="en-US" dirty="0"/>
              <a:t>to perform this</a:t>
            </a:r>
          </a:p>
          <a:p>
            <a:pPr lvl="1"/>
            <a:r>
              <a:rPr lang="en-US" dirty="0"/>
              <a:t>Optionally modify the default parameters by creating a  new user defined STATIC_PARAM struct based on the default </a:t>
            </a:r>
          </a:p>
          <a:p>
            <a:pPr lvl="1"/>
            <a:endParaRPr lang="en-US" dirty="0"/>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67</a:t>
            </a:fld>
            <a:endParaRPr lang="en-US" dirty="0">
              <a:solidFill>
                <a:srgbClr val="0C0C0C">
                  <a:tint val="75000"/>
                </a:srgbClr>
              </a:solidFill>
              <a:latin typeface="Arial"/>
            </a:endParaRPr>
          </a:p>
        </p:txBody>
      </p:sp>
      <p:sp>
        <p:nvSpPr>
          <p:cNvPr id="7" name="TextBox 6">
            <a:extLst>
              <a:ext uri="{FF2B5EF4-FFF2-40B4-BE49-F238E27FC236}">
                <a16:creationId xmlns:a16="http://schemas.microsoft.com/office/drawing/2014/main" id="{7D8EB1E9-6FC9-4926-937C-DD9FC31FC698}"/>
              </a:ext>
            </a:extLst>
          </p:cNvPr>
          <p:cNvSpPr txBox="1"/>
          <p:nvPr/>
        </p:nvSpPr>
        <p:spPr bwMode="auto">
          <a:xfrm>
            <a:off x="6348907" y="1618883"/>
            <a:ext cx="5117274"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kern="0" dirty="0">
                <a:solidFill>
                  <a:srgbClr val="000000"/>
                </a:solidFill>
                <a:latin typeface="Arial"/>
              </a:rPr>
              <a:t>#include "</a:t>
            </a:r>
            <a:r>
              <a:rPr lang="en-US" b="1" kern="0" dirty="0" err="1">
                <a:solidFill>
                  <a:srgbClr val="000000"/>
                </a:solidFill>
                <a:latin typeface="Arial"/>
              </a:rPr>
              <a:t>hls_fft.h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b="1" kern="0" dirty="0" err="1">
                <a:solidFill>
                  <a:srgbClr val="8B8D09">
                    <a:lumMod val="75000"/>
                  </a:srgbClr>
                </a:solidFill>
                <a:latin typeface="Arial"/>
              </a:rPr>
              <a:t>hls</a:t>
            </a:r>
            <a:r>
              <a:rPr lang="en-US" b="1" kern="0" dirty="0">
                <a:solidFill>
                  <a:srgbClr val="8B8D09">
                    <a:lumMod val="75000"/>
                  </a:srgbClr>
                </a:solidFill>
                <a:latin typeface="Arial"/>
              </a:rPr>
              <a:t>::</a:t>
            </a:r>
            <a:r>
              <a:rPr lang="en-US" b="1" kern="0" dirty="0" err="1">
                <a:solidFill>
                  <a:srgbClr val="8B8D09">
                    <a:lumMod val="75000"/>
                  </a:srgbClr>
                </a:solidFill>
                <a:latin typeface="Arial"/>
              </a:rPr>
              <a:t>fft</a:t>
            </a:r>
            <a:r>
              <a:rPr lang="en-US" kern="0" dirty="0">
                <a:solidFill>
                  <a:srgbClr val="000000"/>
                </a:solidFill>
                <a:latin typeface="Arial"/>
              </a:rPr>
              <a:t>&lt;</a:t>
            </a:r>
            <a:r>
              <a:rPr lang="en-US" b="1" kern="0" dirty="0">
                <a:solidFill>
                  <a:srgbClr val="000000"/>
                </a:solidFill>
                <a:latin typeface="Arial"/>
              </a:rPr>
              <a:t>STATIC_PARAM</a:t>
            </a:r>
            <a:r>
              <a:rPr lang="en-US" kern="0" dirty="0">
                <a:solidFill>
                  <a:srgbClr val="000000"/>
                </a:solidFill>
                <a:latin typeface="Arial"/>
              </a:rPr>
              <a:t>&gt; (                          </a:t>
            </a:r>
            <a:r>
              <a:rPr lang="en-US" b="1" kern="0" dirty="0">
                <a:solidFill>
                  <a:srgbClr val="000000"/>
                </a:solidFill>
                <a:latin typeface="Arial"/>
              </a:rPr>
              <a:t>// Static Parameterization Struct</a:t>
            </a:r>
          </a:p>
          <a:p>
            <a:pPr defTabSz="914400" fontAlgn="base">
              <a:spcBef>
                <a:spcPct val="0"/>
              </a:spcBef>
              <a:spcAft>
                <a:spcPct val="0"/>
              </a:spcAft>
              <a:defRPr/>
            </a:pPr>
            <a:r>
              <a:rPr lang="en-US" kern="0" dirty="0">
                <a:solidFill>
                  <a:srgbClr val="000000"/>
                </a:solidFill>
                <a:latin typeface="Arial"/>
              </a:rPr>
              <a:t>  INPUT_DATA_ARRAY,            	// Input data fixed or float</a:t>
            </a:r>
          </a:p>
          <a:p>
            <a:pPr defTabSz="914400" fontAlgn="base">
              <a:spcBef>
                <a:spcPct val="0"/>
              </a:spcBef>
              <a:spcAft>
                <a:spcPct val="0"/>
              </a:spcAft>
              <a:defRPr/>
            </a:pPr>
            <a:r>
              <a:rPr lang="en-US" kern="0" dirty="0">
                <a:solidFill>
                  <a:srgbClr val="000000"/>
                </a:solidFill>
                <a:latin typeface="Arial"/>
              </a:rPr>
              <a:t>  OUTPUT_DATA_ARRAY,        	// Output data fixed or float</a:t>
            </a:r>
          </a:p>
          <a:p>
            <a:pPr defTabSz="914400" fontAlgn="base">
              <a:spcBef>
                <a:spcPct val="0"/>
              </a:spcBef>
              <a:spcAft>
                <a:spcPct val="0"/>
              </a:spcAft>
              <a:defRPr/>
            </a:pPr>
            <a:r>
              <a:rPr lang="en-US" kern="0" dirty="0">
                <a:solidFill>
                  <a:srgbClr val="000000"/>
                </a:solidFill>
                <a:latin typeface="Arial"/>
              </a:rPr>
              <a:t>  OUTPUT_STATUS,                 	// Output Status</a:t>
            </a:r>
          </a:p>
          <a:p>
            <a:pPr defTabSz="914400" fontAlgn="base">
              <a:spcBef>
                <a:spcPct val="0"/>
              </a:spcBef>
              <a:spcAft>
                <a:spcPct val="0"/>
              </a:spcAft>
              <a:defRPr/>
            </a:pPr>
            <a:r>
              <a:rPr lang="en-US" kern="0" dirty="0">
                <a:solidFill>
                  <a:srgbClr val="000000"/>
                </a:solidFill>
                <a:latin typeface="Arial"/>
              </a:rPr>
              <a:t>  INPUT_RUN_TIME_CONFIGURATION); 	// Input Run Time Configuration</a:t>
            </a:r>
          </a:p>
        </p:txBody>
      </p:sp>
    </p:spTree>
    <p:extLst>
      <p:ext uri="{BB962C8B-B14F-4D97-AF65-F5344CB8AC3E}">
        <p14:creationId xmlns:p14="http://schemas.microsoft.com/office/powerpoint/2010/main" val="414537972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Static Configuration </a:t>
            </a:r>
          </a:p>
        </p:txBody>
      </p:sp>
      <p:sp>
        <p:nvSpPr>
          <p:cNvPr id="2" name="Content Placeholder 1"/>
          <p:cNvSpPr>
            <a:spLocks noGrp="1"/>
          </p:cNvSpPr>
          <p:nvPr>
            <p:ph idx="1"/>
          </p:nvPr>
        </p:nvSpPr>
        <p:spPr/>
        <p:txBody>
          <a:bodyPr/>
          <a:lstStyle/>
          <a:p>
            <a:r>
              <a:rPr lang="en-US" sz="2000" dirty="0"/>
              <a:t>Default Configuration Pre-defined</a:t>
            </a:r>
          </a:p>
          <a:p>
            <a:pPr lvl="1"/>
            <a:r>
              <a:rPr lang="en-US" sz="1800" dirty="0"/>
              <a:t>The </a:t>
            </a:r>
            <a:r>
              <a:rPr lang="en-US" sz="1800" dirty="0" err="1"/>
              <a:t>hls_fft.h</a:t>
            </a:r>
            <a:r>
              <a:rPr lang="en-US" sz="1800" dirty="0"/>
              <a:t> header file defines struct </a:t>
            </a:r>
            <a:r>
              <a:rPr lang="en-US" sz="1800" dirty="0" err="1">
                <a:solidFill>
                  <a:schemeClr val="accent6">
                    <a:lumMod val="75000"/>
                  </a:schemeClr>
                </a:solidFill>
              </a:rPr>
              <a:t>hls</a:t>
            </a:r>
            <a:r>
              <a:rPr lang="en-US" sz="1800" dirty="0">
                <a:solidFill>
                  <a:schemeClr val="accent6">
                    <a:lumMod val="75000"/>
                  </a:schemeClr>
                </a:solidFill>
              </a:rPr>
              <a:t>::</a:t>
            </a:r>
            <a:r>
              <a:rPr lang="en-US" sz="1800" dirty="0" err="1">
                <a:solidFill>
                  <a:schemeClr val="accent6">
                    <a:lumMod val="75000"/>
                  </a:schemeClr>
                </a:solidFill>
              </a:rPr>
              <a:t>ip_fft</a:t>
            </a:r>
            <a:r>
              <a:rPr lang="en-US" sz="1800" dirty="0">
                <a:solidFill>
                  <a:schemeClr val="accent6">
                    <a:lumMod val="75000"/>
                  </a:schemeClr>
                </a:solidFill>
              </a:rPr>
              <a:t>::</a:t>
            </a:r>
            <a:r>
              <a:rPr lang="en-US" sz="1800" dirty="0" err="1">
                <a:solidFill>
                  <a:schemeClr val="accent6">
                    <a:lumMod val="75000"/>
                  </a:schemeClr>
                </a:solidFill>
              </a:rPr>
              <a:t>params_t</a:t>
            </a:r>
            <a:endParaRPr lang="en-US" sz="1800" dirty="0">
              <a:solidFill>
                <a:schemeClr val="accent6">
                  <a:lumMod val="75000"/>
                </a:schemeClr>
              </a:solidFill>
            </a:endParaRPr>
          </a:p>
          <a:p>
            <a:pPr lvl="1"/>
            <a:r>
              <a:rPr lang="en-US" sz="1800" dirty="0"/>
              <a:t>This contains the default values for configuring the FFT</a:t>
            </a:r>
          </a:p>
          <a:p>
            <a:r>
              <a:rPr lang="en-US" sz="2000" dirty="0"/>
              <a:t>User defined struct</a:t>
            </a:r>
          </a:p>
          <a:p>
            <a:pPr lvl="1"/>
            <a:r>
              <a:rPr lang="en-US" sz="1800" dirty="0"/>
              <a:t>Allows the FFT to be easily configured</a:t>
            </a:r>
          </a:p>
          <a:p>
            <a:pPr lvl="1"/>
            <a:r>
              <a:rPr lang="en-US" sz="1800" dirty="0"/>
              <a:t>Based on </a:t>
            </a:r>
            <a:r>
              <a:rPr lang="en-US" sz="1800" dirty="0" err="1">
                <a:solidFill>
                  <a:schemeClr val="accent6">
                    <a:lumMod val="75000"/>
                  </a:schemeClr>
                </a:solidFill>
              </a:rPr>
              <a:t>hls</a:t>
            </a:r>
            <a:r>
              <a:rPr lang="en-US" sz="1800" dirty="0">
                <a:solidFill>
                  <a:schemeClr val="accent6">
                    <a:lumMod val="75000"/>
                  </a:schemeClr>
                </a:solidFill>
              </a:rPr>
              <a:t>::</a:t>
            </a:r>
            <a:r>
              <a:rPr lang="en-US" sz="1800" dirty="0" err="1">
                <a:solidFill>
                  <a:schemeClr val="accent6">
                    <a:lumMod val="75000"/>
                  </a:schemeClr>
                </a:solidFill>
              </a:rPr>
              <a:t>ip_fft</a:t>
            </a:r>
            <a:r>
              <a:rPr lang="en-US" sz="1800" dirty="0">
                <a:solidFill>
                  <a:schemeClr val="accent6">
                    <a:lumMod val="75000"/>
                  </a:schemeClr>
                </a:solidFill>
              </a:rPr>
              <a:t>::</a:t>
            </a:r>
            <a:r>
              <a:rPr lang="en-US" sz="1800" dirty="0" err="1">
                <a:solidFill>
                  <a:schemeClr val="accent6">
                    <a:lumMod val="75000"/>
                  </a:schemeClr>
                </a:solidFill>
              </a:rPr>
              <a:t>params_t</a:t>
            </a:r>
            <a:endParaRPr lang="en-US" sz="1800" dirty="0">
              <a:solidFill>
                <a:schemeClr val="accent6">
                  <a:lumMod val="75000"/>
                </a:schemeClr>
              </a:solidFill>
            </a:endParaRPr>
          </a:p>
          <a:p>
            <a:pPr lvl="1"/>
            <a:r>
              <a:rPr lang="en-US" sz="1800" dirty="0"/>
              <a:t>User struct simply updates any specified value </a:t>
            </a:r>
          </a:p>
          <a:p>
            <a:pPr lvl="1"/>
            <a:endParaRPr lang="en-US" sz="1800" dirty="0"/>
          </a:p>
        </p:txBody>
      </p:sp>
      <p:sp>
        <p:nvSpPr>
          <p:cNvPr id="8" name="TextBox 7">
            <a:extLst>
              <a:ext uri="{FF2B5EF4-FFF2-40B4-BE49-F238E27FC236}">
                <a16:creationId xmlns:a16="http://schemas.microsoft.com/office/drawing/2014/main" id="{12536452-8428-4DF5-B49C-C040D3DD852C}"/>
              </a:ext>
            </a:extLst>
          </p:cNvPr>
          <p:cNvSpPr txBox="1"/>
          <p:nvPr/>
        </p:nvSpPr>
        <p:spPr bwMode="auto">
          <a:xfrm>
            <a:off x="1651221" y="4106881"/>
            <a:ext cx="4067780" cy="1785104"/>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b="1" kern="0" dirty="0">
                <a:solidFill>
                  <a:srgbClr val="3F3F3F"/>
                </a:solidFill>
              </a:rPr>
              <a:t> </a:t>
            </a:r>
            <a:r>
              <a:rPr lang="en-US" sz="1100" kern="0" dirty="0">
                <a:solidFill>
                  <a:srgbClr val="000000"/>
                </a:solidFill>
              </a:rPr>
              <a:t>#include "</a:t>
            </a:r>
            <a:r>
              <a:rPr lang="en-US" sz="1100" kern="0" dirty="0" err="1">
                <a:solidFill>
                  <a:srgbClr val="000000"/>
                </a:solidFill>
              </a:rPr>
              <a:t>hls_fft.h</a:t>
            </a:r>
            <a:r>
              <a:rPr lang="en-US" sz="1100" kern="0" dirty="0">
                <a:solidFill>
                  <a:srgbClr val="000000"/>
                </a:solidFill>
              </a:rPr>
              <a:t>“</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struct </a:t>
            </a:r>
            <a:r>
              <a:rPr lang="en-US" sz="1100" b="1" kern="0" dirty="0">
                <a:solidFill>
                  <a:srgbClr val="000000"/>
                </a:solidFill>
              </a:rPr>
              <a:t>param1</a:t>
            </a:r>
            <a:r>
              <a:rPr lang="en-US" sz="1100" kern="0" dirty="0">
                <a:solidFill>
                  <a:srgbClr val="000000"/>
                </a:solidFill>
              </a:rPr>
              <a:t> : </a:t>
            </a:r>
            <a:r>
              <a:rPr lang="en-US" sz="1100" kern="0" dirty="0" err="1">
                <a:solidFill>
                  <a:srgbClr val="8B8D09">
                    <a:lumMod val="75000"/>
                  </a:srgbClr>
                </a:solidFill>
              </a:rPr>
              <a:t>hls</a:t>
            </a:r>
            <a:r>
              <a:rPr lang="en-US" sz="1100" kern="0" dirty="0">
                <a:solidFill>
                  <a:srgbClr val="8B8D09">
                    <a:lumMod val="75000"/>
                  </a:srgbClr>
                </a:solidFill>
              </a:rPr>
              <a:t>::</a:t>
            </a:r>
            <a:r>
              <a:rPr lang="en-US" sz="1100" kern="0" dirty="0" err="1">
                <a:solidFill>
                  <a:srgbClr val="8B8D09">
                    <a:lumMod val="75000"/>
                  </a:srgbClr>
                </a:solidFill>
              </a:rPr>
              <a:t>ip_fft</a:t>
            </a:r>
            <a:r>
              <a:rPr lang="en-US" sz="1100" kern="0" dirty="0">
                <a:solidFill>
                  <a:srgbClr val="8B8D09">
                    <a:lumMod val="75000"/>
                  </a:srgbClr>
                </a:solidFill>
              </a:rPr>
              <a:t>::</a:t>
            </a:r>
            <a:r>
              <a:rPr lang="en-US" sz="1100" kern="0" dirty="0" err="1">
                <a:solidFill>
                  <a:srgbClr val="8B8D09">
                    <a:lumMod val="75000"/>
                  </a:srgbClr>
                </a:solidFill>
              </a:rPr>
              <a:t>params_t</a:t>
            </a:r>
            <a:r>
              <a:rPr lang="en-US" sz="1100" kern="0" dirty="0">
                <a:solidFill>
                  <a:srgbClr val="8B8D09">
                    <a:lumMod val="75000"/>
                  </a:srgbClr>
                </a:solidFill>
              </a:rPr>
              <a:t> </a:t>
            </a:r>
            <a:r>
              <a:rPr lang="en-US" sz="1100" kern="0" dirty="0">
                <a:solidFill>
                  <a:srgbClr val="000000"/>
                </a:solidFill>
              </a:rPr>
              <a:t>{</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unsigned </a:t>
            </a:r>
            <a:r>
              <a:rPr lang="en-US" sz="1100" kern="0" dirty="0" err="1">
                <a:solidFill>
                  <a:srgbClr val="000000"/>
                </a:solidFill>
              </a:rPr>
              <a:t>ordering_opt</a:t>
            </a:r>
            <a:r>
              <a:rPr lang="en-US" sz="1100" kern="0" dirty="0">
                <a:solidFill>
                  <a:srgbClr val="000000"/>
                </a:solidFill>
              </a:rPr>
              <a:t> = </a:t>
            </a:r>
            <a:r>
              <a:rPr lang="en-US" sz="1100" kern="0" dirty="0" err="1">
                <a:solidFill>
                  <a:srgbClr val="000000"/>
                </a:solidFill>
              </a:rPr>
              <a:t>hls</a:t>
            </a:r>
            <a:r>
              <a:rPr lang="en-US" sz="1100" kern="0" dirty="0">
                <a:solidFill>
                  <a:srgbClr val="000000"/>
                </a:solidFill>
              </a:rPr>
              <a:t>::</a:t>
            </a:r>
            <a:r>
              <a:rPr lang="en-US" sz="1100" kern="0" dirty="0" err="1">
                <a:solidFill>
                  <a:srgbClr val="000000"/>
                </a:solidFill>
              </a:rPr>
              <a:t>ip_fft</a:t>
            </a:r>
            <a:r>
              <a:rPr lang="en-US" sz="1100" kern="0" dirty="0">
                <a:solidFill>
                  <a:srgbClr val="000000"/>
                </a:solidFill>
              </a:rPr>
              <a:t>::</a:t>
            </a:r>
            <a:r>
              <a:rPr lang="en-US" sz="1100" kern="0" dirty="0" err="1">
                <a:solidFill>
                  <a:srgbClr val="000000"/>
                </a:solidFill>
              </a:rPr>
              <a:t>natural_order</a:t>
            </a:r>
            <a:r>
              <a:rPr lang="en-US" sz="1100" kern="0" dirty="0">
                <a:solidFill>
                  <a:srgbClr val="000000"/>
                </a:solidFill>
              </a:rPr>
              <a:t>;</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unsigned </a:t>
            </a:r>
            <a:r>
              <a:rPr lang="en-US" sz="1100" kern="0" dirty="0" err="1">
                <a:solidFill>
                  <a:srgbClr val="000000"/>
                </a:solidFill>
              </a:rPr>
              <a:t>config_width</a:t>
            </a:r>
            <a:r>
              <a:rPr lang="en-US" sz="1100" kern="0" dirty="0">
                <a:solidFill>
                  <a:srgbClr val="000000"/>
                </a:solidFill>
              </a:rPr>
              <a:t> = FFT_CONFIG_WIDTH;</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unsigned </a:t>
            </a:r>
            <a:r>
              <a:rPr lang="en-US" sz="1100" kern="0" dirty="0" err="1">
                <a:solidFill>
                  <a:srgbClr val="000000"/>
                </a:solidFill>
              </a:rPr>
              <a:t>status_width</a:t>
            </a:r>
            <a:r>
              <a:rPr lang="en-US" sz="1100" kern="0" dirty="0">
                <a:solidFill>
                  <a:srgbClr val="000000"/>
                </a:solidFill>
              </a:rPr>
              <a:t> = FFT_STATUS_WIDTH;</a:t>
            </a:r>
          </a:p>
          <a:p>
            <a:pPr defTabSz="914400" fontAlgn="base">
              <a:spcBef>
                <a:spcPct val="0"/>
              </a:spcBef>
              <a:spcAft>
                <a:spcPct val="0"/>
              </a:spcAft>
              <a:defRPr/>
            </a:pPr>
            <a:r>
              <a:rPr lang="en-US" sz="1100" kern="0" dirty="0">
                <a:solidFill>
                  <a:srgbClr val="000000"/>
                </a:solidFill>
              </a:rPr>
              <a:t>};</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 FFT IP</a:t>
            </a:r>
          </a:p>
          <a:p>
            <a:pPr defTabSz="914400" fontAlgn="base">
              <a:spcBef>
                <a:spcPct val="0"/>
              </a:spcBef>
              <a:spcAft>
                <a:spcPct val="0"/>
              </a:spcAft>
              <a:defRPr/>
            </a:pPr>
            <a:r>
              <a:rPr lang="en-US" sz="1100" kern="0" dirty="0">
                <a:solidFill>
                  <a:srgbClr val="000000"/>
                </a:solidFill>
              </a:rPr>
              <a:t>    </a:t>
            </a:r>
            <a:r>
              <a:rPr lang="en-US" sz="1100" kern="0" dirty="0" err="1">
                <a:solidFill>
                  <a:srgbClr val="000000"/>
                </a:solidFill>
              </a:rPr>
              <a:t>hls</a:t>
            </a:r>
            <a:r>
              <a:rPr lang="en-US" sz="1100" kern="0" dirty="0">
                <a:solidFill>
                  <a:srgbClr val="000000"/>
                </a:solidFill>
              </a:rPr>
              <a:t>::</a:t>
            </a:r>
            <a:r>
              <a:rPr lang="en-US" sz="1100" kern="0" dirty="0" err="1">
                <a:solidFill>
                  <a:srgbClr val="000000"/>
                </a:solidFill>
              </a:rPr>
              <a:t>fft</a:t>
            </a:r>
            <a:r>
              <a:rPr lang="en-US" sz="1100" kern="0" dirty="0">
                <a:solidFill>
                  <a:srgbClr val="000000"/>
                </a:solidFill>
              </a:rPr>
              <a:t>&lt;</a:t>
            </a:r>
            <a:r>
              <a:rPr lang="en-US" sz="1100" b="1" kern="0" dirty="0">
                <a:solidFill>
                  <a:srgbClr val="000000"/>
                </a:solidFill>
              </a:rPr>
              <a:t>param1</a:t>
            </a:r>
            <a:r>
              <a:rPr lang="en-US" sz="1100" kern="0" dirty="0">
                <a:solidFill>
                  <a:srgbClr val="000000"/>
                </a:solidFill>
              </a:rPr>
              <a:t>&gt; (xn1, xk1, &amp;fft_status1, &amp;fft_config1);</a:t>
            </a:r>
          </a:p>
        </p:txBody>
      </p:sp>
      <p:sp>
        <p:nvSpPr>
          <p:cNvPr id="9" name="TextBox 8">
            <a:extLst>
              <a:ext uri="{FF2B5EF4-FFF2-40B4-BE49-F238E27FC236}">
                <a16:creationId xmlns:a16="http://schemas.microsoft.com/office/drawing/2014/main" id="{ED079E11-0516-473C-B833-2C8D2FA6E612}"/>
              </a:ext>
            </a:extLst>
          </p:cNvPr>
          <p:cNvSpPr txBox="1"/>
          <p:nvPr/>
        </p:nvSpPr>
        <p:spPr bwMode="auto">
          <a:xfrm>
            <a:off x="6839880" y="4106883"/>
            <a:ext cx="2328202" cy="264111"/>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100" b="1" kern="0" dirty="0">
                <a:solidFill>
                  <a:srgbClr val="000000"/>
                </a:solidFill>
                <a:latin typeface="Arial"/>
              </a:rPr>
              <a:t>  Include Header File</a:t>
            </a:r>
          </a:p>
        </p:txBody>
      </p:sp>
      <p:sp>
        <p:nvSpPr>
          <p:cNvPr id="11" name="TextBox 10">
            <a:extLst>
              <a:ext uri="{FF2B5EF4-FFF2-40B4-BE49-F238E27FC236}">
                <a16:creationId xmlns:a16="http://schemas.microsoft.com/office/drawing/2014/main" id="{31D0321A-6061-45D3-9A33-83E12F1D9CF8}"/>
              </a:ext>
            </a:extLst>
          </p:cNvPr>
          <p:cNvSpPr txBox="1"/>
          <p:nvPr/>
        </p:nvSpPr>
        <p:spPr bwMode="auto">
          <a:xfrm>
            <a:off x="6842256" y="4539039"/>
            <a:ext cx="5024780" cy="1061829"/>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000" b="1" kern="0" dirty="0">
                <a:solidFill>
                  <a:srgbClr val="000000"/>
                </a:solidFill>
                <a:latin typeface="Arial"/>
              </a:rPr>
              <a:t>  Create struct based on </a:t>
            </a:r>
            <a:r>
              <a:rPr lang="en-US" sz="1000" b="1" kern="0" dirty="0" err="1">
                <a:solidFill>
                  <a:srgbClr val="000000"/>
                </a:solidFill>
                <a:latin typeface="Arial"/>
              </a:rPr>
              <a:t>hls</a:t>
            </a:r>
            <a:r>
              <a:rPr lang="en-US" sz="1000" b="1" kern="0" dirty="0">
                <a:solidFill>
                  <a:srgbClr val="000000"/>
                </a:solidFill>
                <a:latin typeface="Arial"/>
              </a:rPr>
              <a:t>::</a:t>
            </a:r>
            <a:r>
              <a:rPr lang="en-US" sz="1000" b="1" kern="0" dirty="0" err="1">
                <a:solidFill>
                  <a:srgbClr val="000000"/>
                </a:solidFill>
                <a:latin typeface="Arial"/>
              </a:rPr>
              <a:t>ip</a:t>
            </a:r>
            <a:r>
              <a:rPr lang="en-US" sz="1000" b="1" kern="0" dirty="0">
                <a:solidFill>
                  <a:srgbClr val="000000"/>
                </a:solidFill>
                <a:latin typeface="Arial"/>
              </a:rPr>
              <a:t>::</a:t>
            </a:r>
            <a:r>
              <a:rPr lang="en-US" sz="1000" b="1" kern="0" dirty="0" err="1">
                <a:solidFill>
                  <a:srgbClr val="000000"/>
                </a:solidFill>
                <a:latin typeface="Arial"/>
              </a:rPr>
              <a:t>fft:params_t</a:t>
            </a:r>
            <a:endParaRPr lang="en-US" sz="1000" b="1" kern="0" dirty="0">
              <a:solidFill>
                <a:srgbClr val="000000"/>
              </a:solidFill>
              <a:latin typeface="Arial"/>
            </a:endParaRP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err="1">
                <a:solidFill>
                  <a:srgbClr val="000000"/>
                </a:solidFill>
                <a:latin typeface="Arial"/>
              </a:rPr>
              <a:t>params_t</a:t>
            </a:r>
            <a:r>
              <a:rPr lang="en-US" sz="1000" b="1" kern="0" dirty="0">
                <a:solidFill>
                  <a:srgbClr val="000000"/>
                </a:solidFill>
                <a:latin typeface="Arial"/>
              </a:rPr>
              <a:t> includes the default values</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overrides 3 default values in this example</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is then used to configure the FFT </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Used as STATIC_PARAM in previous slide</a:t>
            </a:r>
          </a:p>
        </p:txBody>
      </p:sp>
      <p:sp>
        <p:nvSpPr>
          <p:cNvPr id="12" name="Slide Number Placeholder 5">
            <a:extLst>
              <a:ext uri="{FF2B5EF4-FFF2-40B4-BE49-F238E27FC236}">
                <a16:creationId xmlns:a16="http://schemas.microsoft.com/office/drawing/2014/main" id="{ED4D60D7-6DAD-4AFD-9423-ECF5D0A997C3}"/>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68</a:t>
            </a:fld>
            <a:endParaRPr lang="en-US" dirty="0"/>
          </a:p>
        </p:txBody>
      </p:sp>
    </p:spTree>
    <p:extLst>
      <p:ext uri="{BB962C8B-B14F-4D97-AF65-F5344CB8AC3E}">
        <p14:creationId xmlns:p14="http://schemas.microsoft.com/office/powerpoint/2010/main" val="31277539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Static Configuration </a:t>
            </a:r>
          </a:p>
        </p:txBody>
      </p:sp>
      <p:sp>
        <p:nvSpPr>
          <p:cNvPr id="2" name="Content Placeholder 1"/>
          <p:cNvSpPr>
            <a:spLocks noGrp="1"/>
          </p:cNvSpPr>
          <p:nvPr>
            <p:ph idx="1"/>
          </p:nvPr>
        </p:nvSpPr>
        <p:spPr/>
        <p:txBody>
          <a:bodyPr/>
          <a:lstStyle/>
          <a:p>
            <a:r>
              <a:rPr lang="en-US" dirty="0"/>
              <a:t>Default Configuration Pre-defined</a:t>
            </a:r>
          </a:p>
          <a:p>
            <a:pPr lvl="1"/>
            <a:r>
              <a:rPr lang="en-US" dirty="0"/>
              <a:t>The </a:t>
            </a:r>
            <a:r>
              <a:rPr lang="en-US" dirty="0" err="1"/>
              <a:t>hls_fft.h</a:t>
            </a:r>
            <a:r>
              <a:rPr lang="en-US" dirty="0"/>
              <a:t> header file defines struct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ip_fft</a:t>
            </a:r>
            <a:r>
              <a:rPr lang="en-US" dirty="0">
                <a:solidFill>
                  <a:schemeClr val="accent6">
                    <a:lumMod val="75000"/>
                  </a:schemeClr>
                </a:solidFill>
              </a:rPr>
              <a:t>::</a:t>
            </a:r>
            <a:r>
              <a:rPr lang="en-US" dirty="0" err="1">
                <a:solidFill>
                  <a:schemeClr val="accent6">
                    <a:lumMod val="75000"/>
                  </a:schemeClr>
                </a:solidFill>
              </a:rPr>
              <a:t>params_t</a:t>
            </a:r>
            <a:endParaRPr lang="en-US" dirty="0">
              <a:solidFill>
                <a:schemeClr val="accent6">
                  <a:lumMod val="75000"/>
                </a:schemeClr>
              </a:solidFill>
            </a:endParaRPr>
          </a:p>
          <a:p>
            <a:pPr lvl="1"/>
            <a:r>
              <a:rPr lang="en-US" dirty="0"/>
              <a:t>This contains the default values for configuring the FFT</a:t>
            </a:r>
          </a:p>
          <a:p>
            <a:r>
              <a:rPr lang="en-US" dirty="0"/>
              <a:t>User defined struct</a:t>
            </a:r>
          </a:p>
          <a:p>
            <a:pPr lvl="1"/>
            <a:r>
              <a:rPr lang="en-US" dirty="0"/>
              <a:t>Allows the FFT to be easily configured</a:t>
            </a:r>
          </a:p>
          <a:p>
            <a:pPr lvl="1"/>
            <a:r>
              <a:rPr lang="en-US" dirty="0"/>
              <a:t>Based on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ip_fft</a:t>
            </a:r>
            <a:r>
              <a:rPr lang="en-US" dirty="0">
                <a:solidFill>
                  <a:schemeClr val="accent6">
                    <a:lumMod val="75000"/>
                  </a:schemeClr>
                </a:solidFill>
              </a:rPr>
              <a:t>::</a:t>
            </a:r>
            <a:r>
              <a:rPr lang="en-US" dirty="0" err="1">
                <a:solidFill>
                  <a:schemeClr val="accent6">
                    <a:lumMod val="75000"/>
                  </a:schemeClr>
                </a:solidFill>
              </a:rPr>
              <a:t>params_t</a:t>
            </a:r>
            <a:endParaRPr lang="en-US" dirty="0">
              <a:solidFill>
                <a:schemeClr val="accent6">
                  <a:lumMod val="75000"/>
                </a:schemeClr>
              </a:solidFill>
            </a:endParaRPr>
          </a:p>
          <a:p>
            <a:pPr lvl="1"/>
            <a:r>
              <a:rPr lang="en-US" dirty="0"/>
              <a:t>User struct simply updates any specified value </a:t>
            </a:r>
          </a:p>
          <a:p>
            <a:pPr lvl="1"/>
            <a:endParaRPr lang="en-US" dirty="0"/>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69</a:t>
            </a:fld>
            <a:endParaRPr lang="en-US" dirty="0">
              <a:solidFill>
                <a:srgbClr val="0C0C0C">
                  <a:tint val="75000"/>
                </a:srgbClr>
              </a:solidFill>
              <a:latin typeface="Arial"/>
            </a:endParaRPr>
          </a:p>
        </p:txBody>
      </p:sp>
      <p:sp>
        <p:nvSpPr>
          <p:cNvPr id="8" name="TextBox 7">
            <a:extLst>
              <a:ext uri="{FF2B5EF4-FFF2-40B4-BE49-F238E27FC236}">
                <a16:creationId xmlns:a16="http://schemas.microsoft.com/office/drawing/2014/main" id="{12536452-8428-4DF5-B49C-C040D3DD852C}"/>
              </a:ext>
            </a:extLst>
          </p:cNvPr>
          <p:cNvSpPr txBox="1"/>
          <p:nvPr/>
        </p:nvSpPr>
        <p:spPr bwMode="auto">
          <a:xfrm>
            <a:off x="1651221" y="4106881"/>
            <a:ext cx="4067780" cy="1785104"/>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b="1" kern="0" dirty="0">
                <a:solidFill>
                  <a:srgbClr val="3F3F3F"/>
                </a:solidFill>
                <a:latin typeface="Arial"/>
              </a:rPr>
              <a:t> </a:t>
            </a:r>
            <a:r>
              <a:rPr lang="en-US" sz="1100" kern="0" dirty="0">
                <a:solidFill>
                  <a:srgbClr val="000000"/>
                </a:solidFill>
                <a:latin typeface="Arial"/>
              </a:rPr>
              <a:t>#include "</a:t>
            </a:r>
            <a:r>
              <a:rPr lang="en-US" sz="1100" kern="0" dirty="0" err="1">
                <a:solidFill>
                  <a:srgbClr val="000000"/>
                </a:solidFill>
                <a:latin typeface="Arial"/>
              </a:rPr>
              <a:t>hls_fft.h</a:t>
            </a:r>
            <a:r>
              <a:rPr lang="en-US" sz="1100"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struct </a:t>
            </a:r>
            <a:r>
              <a:rPr lang="en-US" sz="1100" b="1" kern="0" dirty="0">
                <a:solidFill>
                  <a:srgbClr val="000000"/>
                </a:solidFill>
                <a:latin typeface="Arial"/>
              </a:rPr>
              <a:t>param1</a:t>
            </a:r>
            <a:r>
              <a:rPr lang="en-US" sz="1100" kern="0" dirty="0">
                <a:solidFill>
                  <a:srgbClr val="000000"/>
                </a:solidFill>
                <a:latin typeface="Arial"/>
              </a:rPr>
              <a:t> : </a:t>
            </a:r>
            <a:r>
              <a:rPr lang="en-US" sz="1100" kern="0" dirty="0" err="1">
                <a:solidFill>
                  <a:srgbClr val="8B8D09">
                    <a:lumMod val="75000"/>
                  </a:srgbClr>
                </a:solidFill>
                <a:latin typeface="Arial"/>
              </a:rPr>
              <a:t>hls</a:t>
            </a:r>
            <a:r>
              <a:rPr lang="en-US" sz="1100" kern="0" dirty="0">
                <a:solidFill>
                  <a:srgbClr val="8B8D09">
                    <a:lumMod val="75000"/>
                  </a:srgbClr>
                </a:solidFill>
                <a:latin typeface="Arial"/>
              </a:rPr>
              <a:t>::</a:t>
            </a:r>
            <a:r>
              <a:rPr lang="en-US" sz="1100" kern="0" dirty="0" err="1">
                <a:solidFill>
                  <a:srgbClr val="8B8D09">
                    <a:lumMod val="75000"/>
                  </a:srgbClr>
                </a:solidFill>
                <a:latin typeface="Arial"/>
              </a:rPr>
              <a:t>ip_fft</a:t>
            </a:r>
            <a:r>
              <a:rPr lang="en-US" sz="1100" kern="0" dirty="0">
                <a:solidFill>
                  <a:srgbClr val="8B8D09">
                    <a:lumMod val="75000"/>
                  </a:srgbClr>
                </a:solidFill>
                <a:latin typeface="Arial"/>
              </a:rPr>
              <a:t>::</a:t>
            </a:r>
            <a:r>
              <a:rPr lang="en-US" sz="1100" kern="0" dirty="0" err="1">
                <a:solidFill>
                  <a:srgbClr val="8B8D09">
                    <a:lumMod val="75000"/>
                  </a:srgbClr>
                </a:solidFill>
                <a:latin typeface="Arial"/>
              </a:rPr>
              <a:t>params_t</a:t>
            </a:r>
            <a:r>
              <a:rPr lang="en-US" sz="1100" kern="0" dirty="0">
                <a:solidFill>
                  <a:srgbClr val="8B8D09">
                    <a:lumMod val="75000"/>
                  </a:srgbClr>
                </a:solidFill>
                <a:latin typeface="Arial"/>
              </a:rPr>
              <a:t> </a:t>
            </a:r>
            <a:r>
              <a:rPr lang="en-US" sz="1100" kern="0" dirty="0">
                <a:solidFill>
                  <a:srgbClr val="000000"/>
                </a:solidFill>
                <a:latin typeface="Arial"/>
              </a:rPr>
              <a:t>{</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unsigned </a:t>
            </a:r>
            <a:r>
              <a:rPr lang="en-US" sz="1100" kern="0" dirty="0" err="1">
                <a:solidFill>
                  <a:srgbClr val="000000"/>
                </a:solidFill>
                <a:latin typeface="Arial"/>
              </a:rPr>
              <a:t>ordering_opt</a:t>
            </a:r>
            <a:r>
              <a:rPr lang="en-US" sz="1100" kern="0" dirty="0">
                <a:solidFill>
                  <a:srgbClr val="000000"/>
                </a:solidFill>
                <a:latin typeface="Arial"/>
              </a:rPr>
              <a:t> = </a:t>
            </a:r>
            <a:r>
              <a:rPr lang="en-US" sz="1100" kern="0" dirty="0" err="1">
                <a:solidFill>
                  <a:srgbClr val="000000"/>
                </a:solidFill>
                <a:latin typeface="Arial"/>
              </a:rPr>
              <a:t>hls</a:t>
            </a:r>
            <a:r>
              <a:rPr lang="en-US" sz="1100" kern="0" dirty="0">
                <a:solidFill>
                  <a:srgbClr val="000000"/>
                </a:solidFill>
                <a:latin typeface="Arial"/>
              </a:rPr>
              <a:t>::</a:t>
            </a:r>
            <a:r>
              <a:rPr lang="en-US" sz="1100" kern="0" dirty="0" err="1">
                <a:solidFill>
                  <a:srgbClr val="000000"/>
                </a:solidFill>
                <a:latin typeface="Arial"/>
              </a:rPr>
              <a:t>ip_fft</a:t>
            </a:r>
            <a:r>
              <a:rPr lang="en-US" sz="1100" kern="0" dirty="0">
                <a:solidFill>
                  <a:srgbClr val="000000"/>
                </a:solidFill>
                <a:latin typeface="Arial"/>
              </a:rPr>
              <a:t>::</a:t>
            </a:r>
            <a:r>
              <a:rPr lang="en-US" sz="1100" kern="0" dirty="0" err="1">
                <a:solidFill>
                  <a:srgbClr val="000000"/>
                </a:solidFill>
                <a:latin typeface="Arial"/>
              </a:rPr>
              <a:t>natural_order</a:t>
            </a:r>
            <a:r>
              <a:rPr lang="en-US" sz="1100" kern="0" dirty="0">
                <a:solidFill>
                  <a:srgbClr val="000000"/>
                </a:solidFill>
                <a:latin typeface="Arial"/>
              </a:rPr>
              <a:t>;</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unsigned </a:t>
            </a:r>
            <a:r>
              <a:rPr lang="en-US" sz="1100" kern="0" dirty="0" err="1">
                <a:solidFill>
                  <a:srgbClr val="000000"/>
                </a:solidFill>
                <a:latin typeface="Arial"/>
              </a:rPr>
              <a:t>config_width</a:t>
            </a:r>
            <a:r>
              <a:rPr lang="en-US" sz="1100" kern="0" dirty="0">
                <a:solidFill>
                  <a:srgbClr val="000000"/>
                </a:solidFill>
                <a:latin typeface="Arial"/>
              </a:rPr>
              <a:t> = FFT_CONFIG_WIDTH;</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unsigned </a:t>
            </a:r>
            <a:r>
              <a:rPr lang="en-US" sz="1100" kern="0" dirty="0" err="1">
                <a:solidFill>
                  <a:srgbClr val="000000"/>
                </a:solidFill>
                <a:latin typeface="Arial"/>
              </a:rPr>
              <a:t>status_width</a:t>
            </a:r>
            <a:r>
              <a:rPr lang="en-US" sz="1100" kern="0" dirty="0">
                <a:solidFill>
                  <a:srgbClr val="000000"/>
                </a:solidFill>
                <a:latin typeface="Arial"/>
              </a:rPr>
              <a:t> = FFT_STATUS_WIDTH;</a:t>
            </a:r>
          </a:p>
          <a:p>
            <a:pPr defTabSz="914400" fontAlgn="base">
              <a:spcBef>
                <a:spcPct val="0"/>
              </a:spcBef>
              <a:spcAft>
                <a:spcPct val="0"/>
              </a:spcAft>
              <a:defRPr/>
            </a:pPr>
            <a:r>
              <a:rPr lang="en-US" sz="1100"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 FFT IP</a:t>
            </a:r>
          </a:p>
          <a:p>
            <a:pPr defTabSz="914400" fontAlgn="base">
              <a:spcBef>
                <a:spcPct val="0"/>
              </a:spcBef>
              <a:spcAft>
                <a:spcPct val="0"/>
              </a:spcAft>
              <a:defRPr/>
            </a:pPr>
            <a:r>
              <a:rPr lang="en-US" sz="1100" kern="0" dirty="0">
                <a:solidFill>
                  <a:srgbClr val="000000"/>
                </a:solidFill>
                <a:latin typeface="Arial"/>
              </a:rPr>
              <a:t>    </a:t>
            </a:r>
            <a:r>
              <a:rPr lang="en-US" sz="1100" kern="0" dirty="0" err="1">
                <a:solidFill>
                  <a:srgbClr val="000000"/>
                </a:solidFill>
                <a:latin typeface="Arial"/>
              </a:rPr>
              <a:t>hls</a:t>
            </a:r>
            <a:r>
              <a:rPr lang="en-US" sz="1100" kern="0" dirty="0">
                <a:solidFill>
                  <a:srgbClr val="000000"/>
                </a:solidFill>
                <a:latin typeface="Arial"/>
              </a:rPr>
              <a:t>::</a:t>
            </a:r>
            <a:r>
              <a:rPr lang="en-US" sz="1100" kern="0" dirty="0" err="1">
                <a:solidFill>
                  <a:srgbClr val="000000"/>
                </a:solidFill>
                <a:latin typeface="Arial"/>
              </a:rPr>
              <a:t>fft</a:t>
            </a:r>
            <a:r>
              <a:rPr lang="en-US" sz="1100" kern="0" dirty="0">
                <a:solidFill>
                  <a:srgbClr val="000000"/>
                </a:solidFill>
                <a:latin typeface="Arial"/>
              </a:rPr>
              <a:t>&lt;</a:t>
            </a:r>
            <a:r>
              <a:rPr lang="en-US" sz="1100" b="1" kern="0" dirty="0">
                <a:solidFill>
                  <a:srgbClr val="000000"/>
                </a:solidFill>
                <a:latin typeface="Arial"/>
              </a:rPr>
              <a:t>param1</a:t>
            </a:r>
            <a:r>
              <a:rPr lang="en-US" sz="1100" kern="0" dirty="0">
                <a:solidFill>
                  <a:srgbClr val="000000"/>
                </a:solidFill>
                <a:latin typeface="Arial"/>
              </a:rPr>
              <a:t>&gt; (xn1, xk1, &amp;fft_status1, &amp;fft_config1);</a:t>
            </a:r>
          </a:p>
        </p:txBody>
      </p:sp>
      <p:sp>
        <p:nvSpPr>
          <p:cNvPr id="9" name="TextBox 8">
            <a:extLst>
              <a:ext uri="{FF2B5EF4-FFF2-40B4-BE49-F238E27FC236}">
                <a16:creationId xmlns:a16="http://schemas.microsoft.com/office/drawing/2014/main" id="{ED079E11-0516-473C-B833-2C8D2FA6E612}"/>
              </a:ext>
            </a:extLst>
          </p:cNvPr>
          <p:cNvSpPr txBox="1"/>
          <p:nvPr/>
        </p:nvSpPr>
        <p:spPr bwMode="auto">
          <a:xfrm>
            <a:off x="6839880" y="4106883"/>
            <a:ext cx="2328202" cy="264111"/>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100" b="1" kern="0" dirty="0">
                <a:solidFill>
                  <a:srgbClr val="000000"/>
                </a:solidFill>
                <a:latin typeface="Arial"/>
              </a:rPr>
              <a:t>  Include Header File</a:t>
            </a:r>
          </a:p>
        </p:txBody>
      </p:sp>
      <p:sp>
        <p:nvSpPr>
          <p:cNvPr id="11" name="TextBox 10">
            <a:extLst>
              <a:ext uri="{FF2B5EF4-FFF2-40B4-BE49-F238E27FC236}">
                <a16:creationId xmlns:a16="http://schemas.microsoft.com/office/drawing/2014/main" id="{31D0321A-6061-45D3-9A33-83E12F1D9CF8}"/>
              </a:ext>
            </a:extLst>
          </p:cNvPr>
          <p:cNvSpPr txBox="1"/>
          <p:nvPr/>
        </p:nvSpPr>
        <p:spPr bwMode="auto">
          <a:xfrm>
            <a:off x="6842256" y="4539039"/>
            <a:ext cx="5024780" cy="1061829"/>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000" b="1" kern="0" dirty="0">
                <a:solidFill>
                  <a:srgbClr val="000000"/>
                </a:solidFill>
                <a:latin typeface="Arial"/>
              </a:rPr>
              <a:t>  Create struct based on </a:t>
            </a:r>
            <a:r>
              <a:rPr lang="en-US" sz="1000" b="1" kern="0" dirty="0" err="1">
                <a:solidFill>
                  <a:srgbClr val="000000"/>
                </a:solidFill>
                <a:latin typeface="Arial"/>
              </a:rPr>
              <a:t>hls</a:t>
            </a:r>
            <a:r>
              <a:rPr lang="en-US" sz="1000" b="1" kern="0" dirty="0">
                <a:solidFill>
                  <a:srgbClr val="000000"/>
                </a:solidFill>
                <a:latin typeface="Arial"/>
              </a:rPr>
              <a:t>::</a:t>
            </a:r>
            <a:r>
              <a:rPr lang="en-US" sz="1000" b="1" kern="0" dirty="0" err="1">
                <a:solidFill>
                  <a:srgbClr val="000000"/>
                </a:solidFill>
                <a:latin typeface="Arial"/>
              </a:rPr>
              <a:t>ip</a:t>
            </a:r>
            <a:r>
              <a:rPr lang="en-US" sz="1000" b="1" kern="0" dirty="0">
                <a:solidFill>
                  <a:srgbClr val="000000"/>
                </a:solidFill>
                <a:latin typeface="Arial"/>
              </a:rPr>
              <a:t>::</a:t>
            </a:r>
            <a:r>
              <a:rPr lang="en-US" sz="1000" b="1" kern="0" dirty="0" err="1">
                <a:solidFill>
                  <a:srgbClr val="000000"/>
                </a:solidFill>
                <a:latin typeface="Arial"/>
              </a:rPr>
              <a:t>fft:params_t</a:t>
            </a:r>
            <a:endParaRPr lang="en-US" sz="1000" b="1" kern="0" dirty="0">
              <a:solidFill>
                <a:srgbClr val="000000"/>
              </a:solidFill>
              <a:latin typeface="Arial"/>
            </a:endParaRP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err="1">
                <a:solidFill>
                  <a:srgbClr val="000000"/>
                </a:solidFill>
                <a:latin typeface="Arial"/>
              </a:rPr>
              <a:t>params_t</a:t>
            </a:r>
            <a:r>
              <a:rPr lang="en-US" sz="1000" b="1" kern="0" dirty="0">
                <a:solidFill>
                  <a:srgbClr val="000000"/>
                </a:solidFill>
                <a:latin typeface="Arial"/>
              </a:rPr>
              <a:t> includes the default values</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overrides 3 default values in this example</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is then used to configure the FFT </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Used as STATIC_PARAM in previous slide</a:t>
            </a:r>
          </a:p>
        </p:txBody>
      </p:sp>
    </p:spTree>
    <p:extLst>
      <p:ext uri="{BB962C8B-B14F-4D97-AF65-F5344CB8AC3E}">
        <p14:creationId xmlns:p14="http://schemas.microsoft.com/office/powerpoint/2010/main" val="91359556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Configuration Parameters</a:t>
            </a:r>
          </a:p>
        </p:txBody>
      </p:sp>
      <p:sp>
        <p:nvSpPr>
          <p:cNvPr id="7" name="TextBox 6"/>
          <p:cNvSpPr txBox="1"/>
          <p:nvPr/>
        </p:nvSpPr>
        <p:spPr bwMode="auto">
          <a:xfrm>
            <a:off x="548842" y="5825609"/>
            <a:ext cx="6454652" cy="404663"/>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chemeClr val="tx2"/>
              </a:buClr>
              <a:buSzPct val="88000"/>
            </a:pPr>
            <a:r>
              <a:rPr lang="en-US" sz="2000" b="1" kern="0" dirty="0">
                <a:solidFill>
                  <a:schemeClr val="accent4"/>
                </a:solidFill>
              </a:rPr>
              <a:t>These parameters are defined in </a:t>
            </a:r>
            <a:r>
              <a:rPr lang="en-US" sz="2000" b="1" kern="0" dirty="0" err="1">
                <a:solidFill>
                  <a:schemeClr val="accent6">
                    <a:lumMod val="75000"/>
                  </a:schemeClr>
                </a:solidFill>
              </a:rPr>
              <a:t>param_t</a:t>
            </a:r>
            <a:r>
              <a:rPr lang="en-US" sz="2000" b="1" kern="0" dirty="0">
                <a:solidFill>
                  <a:schemeClr val="accent4"/>
                </a:solidFill>
              </a:rPr>
              <a:t> in </a:t>
            </a:r>
            <a:r>
              <a:rPr lang="en-US" sz="2000" b="1" kern="0" dirty="0" err="1">
                <a:solidFill>
                  <a:schemeClr val="accent6">
                    <a:lumMod val="75000"/>
                  </a:schemeClr>
                </a:solidFill>
              </a:rPr>
              <a:t>hls_fft.h</a:t>
            </a:r>
            <a:endParaRPr lang="en-US" sz="2000" b="1" kern="0" dirty="0">
              <a:solidFill>
                <a:schemeClr val="accent6">
                  <a:lumMod val="75000"/>
                </a:schemeClr>
              </a:solidFill>
            </a:endParaRPr>
          </a:p>
        </p:txBody>
      </p:sp>
      <p:sp>
        <p:nvSpPr>
          <p:cNvPr id="8" name="Content Placeholder 1">
            <a:extLst>
              <a:ext uri="{FF2B5EF4-FFF2-40B4-BE49-F238E27FC236}">
                <a16:creationId xmlns:a16="http://schemas.microsoft.com/office/drawing/2014/main" id="{76314363-6BB7-4BD8-8E03-0BBB7E02C97F}"/>
              </a:ext>
            </a:extLst>
          </p:cNvPr>
          <p:cNvSpPr txBox="1">
            <a:spLocks/>
          </p:cNvSpPr>
          <p:nvPr/>
        </p:nvSpPr>
        <p:spPr>
          <a:xfrm>
            <a:off x="1085038" y="1327153"/>
            <a:ext cx="10501328" cy="4268337"/>
          </a:xfrm>
          <a:prstGeom prst="rect">
            <a:avLst/>
          </a:prstGeom>
        </p:spPr>
        <p:txBody>
          <a:bodyPr/>
          <a:lstStyle>
            <a:lvl1pPr marL="290426" indent="-290426" algn="l" rtl="0" eaLnBrk="0" fontAlgn="base" hangingPunct="0">
              <a:lnSpc>
                <a:spcPct val="110000"/>
              </a:lnSpc>
              <a:spcBef>
                <a:spcPts val="800"/>
              </a:spcBef>
              <a:spcAft>
                <a:spcPct val="0"/>
              </a:spcAft>
              <a:buClr>
                <a:schemeClr val="tx2"/>
              </a:buClr>
              <a:buSzPct val="88000"/>
              <a:buFont typeface="Wingdings" pitchFamily="2" charset="2"/>
              <a:buBlip>
                <a:blip r:embed="rId3"/>
              </a:buBlip>
              <a:defRPr lang="en-US" sz="2399" b="0" dirty="0" smtClean="0">
                <a:solidFill>
                  <a:schemeClr val="accent4"/>
                </a:solidFill>
                <a:latin typeface="+mn-lt"/>
                <a:ea typeface="+mn-ea"/>
                <a:cs typeface="+mn-cs"/>
              </a:defRPr>
            </a:lvl1pPr>
            <a:lvl2pPr marL="463411" indent="-174573" algn="l" rtl="0" eaLnBrk="1" fontAlgn="base" hangingPunct="1">
              <a:lnSpc>
                <a:spcPct val="110000"/>
              </a:lnSpc>
              <a:spcBef>
                <a:spcPct val="20000"/>
              </a:spcBef>
              <a:spcAft>
                <a:spcPct val="0"/>
              </a:spcAft>
              <a:buClr>
                <a:schemeClr val="tx1"/>
              </a:buClr>
              <a:buChar char="–"/>
              <a:defRPr lang="en-US" sz="1799" b="0">
                <a:solidFill>
                  <a:schemeClr val="tx1"/>
                </a:solidFill>
                <a:latin typeface="+mn-lt"/>
                <a:ea typeface="+mn-ea"/>
                <a:cs typeface="+mn-cs"/>
              </a:defRPr>
            </a:lvl2pPr>
            <a:lvl3pPr marL="682420" indent="-172986" algn="l" rtl="0" eaLnBrk="1" fontAlgn="base" hangingPunct="1">
              <a:lnSpc>
                <a:spcPct val="110000"/>
              </a:lnSpc>
              <a:spcBef>
                <a:spcPct val="20000"/>
              </a:spcBef>
              <a:spcAft>
                <a:spcPct val="0"/>
              </a:spcAft>
              <a:buClr>
                <a:schemeClr val="tx1"/>
              </a:buClr>
              <a:buChar char="•"/>
              <a:defRPr lang="en-US" sz="1600" b="0">
                <a:solidFill>
                  <a:schemeClr val="tx1"/>
                </a:solidFill>
                <a:latin typeface="+mn-lt"/>
                <a:ea typeface="+mn-ea"/>
                <a:cs typeface="+mn-cs"/>
              </a:defRPr>
            </a:lvl3pPr>
            <a:lvl4pPr marL="914126" indent="-172986" algn="l" rtl="0" eaLnBrk="1" fontAlgn="base" hangingPunct="1">
              <a:lnSpc>
                <a:spcPct val="110000"/>
              </a:lnSpc>
              <a:spcBef>
                <a:spcPct val="20000"/>
              </a:spcBef>
              <a:spcAft>
                <a:spcPct val="0"/>
              </a:spcAft>
              <a:buClr>
                <a:schemeClr val="tx1"/>
              </a:buClr>
              <a:buFont typeface="Arial" pitchFamily="34" charset="0"/>
              <a:buChar char="–"/>
              <a:defRPr lang="en-US" sz="1400" b="0">
                <a:solidFill>
                  <a:schemeClr val="tx1"/>
                </a:solidFill>
                <a:latin typeface="+mn-lt"/>
                <a:ea typeface="+mn-ea"/>
                <a:cs typeface="+mn-cs"/>
              </a:defRPr>
            </a:lvl4pPr>
            <a:lvl5pPr marL="1318817" indent="-347559" algn="l" rtl="0" eaLnBrk="1" fontAlgn="base" hangingPunct="1">
              <a:lnSpc>
                <a:spcPct val="110000"/>
              </a:lnSpc>
              <a:spcBef>
                <a:spcPct val="20000"/>
              </a:spcBef>
              <a:spcAft>
                <a:spcPct val="0"/>
              </a:spcAft>
              <a:buClr>
                <a:schemeClr val="tx1"/>
              </a:buClr>
              <a:buChar char="»"/>
              <a:defRPr lang="en-US" sz="1600" b="0">
                <a:solidFill>
                  <a:schemeClr val="tx1"/>
                </a:solidFill>
                <a:latin typeface="+mn-lt"/>
                <a:ea typeface="+mn-ea"/>
                <a:cs typeface="+mn-cs"/>
              </a:defRPr>
            </a:lvl5pPr>
            <a:lvl6pPr marL="2459887" indent="-174573" algn="l" rtl="0" eaLnBrk="1" fontAlgn="base" hangingPunct="1">
              <a:lnSpc>
                <a:spcPct val="110000"/>
              </a:lnSpc>
              <a:spcBef>
                <a:spcPct val="20000"/>
              </a:spcBef>
              <a:spcAft>
                <a:spcPct val="0"/>
              </a:spcAft>
              <a:buChar char="»"/>
              <a:defRPr sz="1200">
                <a:solidFill>
                  <a:schemeClr val="tx1"/>
                </a:solidFill>
                <a:latin typeface="+mn-lt"/>
              </a:defRPr>
            </a:lvl6pPr>
            <a:lvl7pPr marL="2916950" indent="-174573" algn="l" rtl="0" eaLnBrk="1" fontAlgn="base" hangingPunct="1">
              <a:lnSpc>
                <a:spcPct val="110000"/>
              </a:lnSpc>
              <a:spcBef>
                <a:spcPct val="20000"/>
              </a:spcBef>
              <a:spcAft>
                <a:spcPct val="0"/>
              </a:spcAft>
              <a:buChar char="»"/>
              <a:defRPr sz="1200">
                <a:solidFill>
                  <a:schemeClr val="tx1"/>
                </a:solidFill>
                <a:latin typeface="+mn-lt"/>
              </a:defRPr>
            </a:lvl7pPr>
            <a:lvl8pPr marL="3374012" indent="-174573" algn="l" rtl="0" eaLnBrk="1" fontAlgn="base" hangingPunct="1">
              <a:lnSpc>
                <a:spcPct val="110000"/>
              </a:lnSpc>
              <a:spcBef>
                <a:spcPct val="20000"/>
              </a:spcBef>
              <a:spcAft>
                <a:spcPct val="0"/>
              </a:spcAft>
              <a:buChar char="»"/>
              <a:defRPr sz="1200">
                <a:solidFill>
                  <a:schemeClr val="tx1"/>
                </a:solidFill>
                <a:latin typeface="+mn-lt"/>
              </a:defRPr>
            </a:lvl8pPr>
            <a:lvl9pPr marL="3831075" indent="-174573" algn="l" rtl="0" eaLnBrk="1" fontAlgn="base" hangingPunct="1">
              <a:lnSpc>
                <a:spcPct val="110000"/>
              </a:lnSpc>
              <a:spcBef>
                <a:spcPct val="20000"/>
              </a:spcBef>
              <a:spcAft>
                <a:spcPct val="0"/>
              </a:spcAft>
              <a:buChar char="»"/>
              <a:defRPr sz="1200">
                <a:solidFill>
                  <a:schemeClr val="tx1"/>
                </a:solidFill>
                <a:latin typeface="+mn-lt"/>
              </a:defRPr>
            </a:lvl9pPr>
          </a:lstStyle>
          <a:p>
            <a:pPr defTabSz="914400">
              <a:buClr>
                <a:srgbClr val="EC891D"/>
              </a:buClr>
              <a:defRPr/>
            </a:pPr>
            <a:endParaRPr lang="zh-CN" altLang="en-US" kern="0">
              <a:solidFill>
                <a:srgbClr val="3F3F3F"/>
              </a:solidFill>
              <a:latin typeface="Arial"/>
            </a:endParaRPr>
          </a:p>
        </p:txBody>
      </p:sp>
      <p:graphicFrame>
        <p:nvGraphicFramePr>
          <p:cNvPr id="9" name="Table 8">
            <a:extLst>
              <a:ext uri="{FF2B5EF4-FFF2-40B4-BE49-F238E27FC236}">
                <a16:creationId xmlns:a16="http://schemas.microsoft.com/office/drawing/2014/main" id="{C586C32B-E344-40F8-BC75-002D362F7671}"/>
              </a:ext>
            </a:extLst>
          </p:cNvPr>
          <p:cNvGraphicFramePr>
            <a:graphicFrameLocks noGrp="1"/>
          </p:cNvGraphicFramePr>
          <p:nvPr/>
        </p:nvGraphicFramePr>
        <p:xfrm>
          <a:off x="573717" y="1343607"/>
          <a:ext cx="10554902" cy="4268778"/>
        </p:xfrm>
        <a:graphic>
          <a:graphicData uri="http://schemas.openxmlformats.org/drawingml/2006/table">
            <a:tbl>
              <a:tblPr firstRow="1" firstCol="1" bandRow="1"/>
              <a:tblGrid>
                <a:gridCol w="2598616">
                  <a:extLst>
                    <a:ext uri="{9D8B030D-6E8A-4147-A177-3AD203B41FA5}">
                      <a16:colId xmlns:a16="http://schemas.microsoft.com/office/drawing/2014/main" val="20000"/>
                    </a:ext>
                  </a:extLst>
                </a:gridCol>
                <a:gridCol w="7956286">
                  <a:extLst>
                    <a:ext uri="{9D8B030D-6E8A-4147-A177-3AD203B41FA5}">
                      <a16:colId xmlns:a16="http://schemas.microsoft.com/office/drawing/2014/main" val="20001"/>
                    </a:ext>
                  </a:extLst>
                </a:gridCol>
              </a:tblGrid>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Parameter </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Description</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input_width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Data input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output_width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Data output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status_width </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Output status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config_width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Input configuration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max_nfft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The size of the FFT data set is specified as  1 &lt;&lt; </a:t>
                      </a:r>
                      <a:r>
                        <a:rPr lang="en-US" sz="1100" dirty="0" err="1">
                          <a:effectLst/>
                        </a:rPr>
                        <a:t>max_nfft</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has_nfft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Determines if the size of the FFT can be run time configurable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channels</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Number of channels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arch_opt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The implementation architecture.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phase_factor_width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Configure the internal phase factor precision</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ordering_opt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The output ordering mode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ovflo</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Enable overflow mode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scaling_opt</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 the scaling options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rounding_opt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 the rounding modes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mem_data</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Specify using block or distributed RAM for data memory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mem_phase_factors</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Specify using block or distributed RAM for phase factors memory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mem_reorder</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Specify using block or distributed RAM for output reorder memory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stages_block_ram</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Defines the number of block RAM stages used in the implementation</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55679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mem_hybrid</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When block RAMs are specified for data, phase factor, or reorder buffer, </a:t>
                      </a:r>
                      <a:r>
                        <a:rPr lang="en-US" sz="1100" dirty="0" err="1">
                          <a:effectLst/>
                        </a:rPr>
                        <a:t>mem_hybird</a:t>
                      </a:r>
                      <a:r>
                        <a:rPr lang="en-US" sz="1100" dirty="0">
                          <a:effectLst/>
                        </a:rPr>
                        <a:t> specifies where or not to use a hybrid of block and distributed RAMs to reduce block RAM count in certain configurations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complex_mult_type</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Defines the types of multiplier to use for complex multiplications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butterfly_type</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Defines the implementation used for the FFT butterfly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bl>
          </a:graphicData>
        </a:graphic>
      </p:graphicFrame>
      <p:sp>
        <p:nvSpPr>
          <p:cNvPr id="10" name="Slide Number Placeholder 5">
            <a:extLst>
              <a:ext uri="{FF2B5EF4-FFF2-40B4-BE49-F238E27FC236}">
                <a16:creationId xmlns:a16="http://schemas.microsoft.com/office/drawing/2014/main" id="{C8D1D74E-F365-4487-A1FF-906AF7A00EDC}"/>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70</a:t>
            </a:fld>
            <a:endParaRPr lang="en-US" dirty="0"/>
          </a:p>
        </p:txBody>
      </p:sp>
    </p:spTree>
    <p:extLst>
      <p:ext uri="{BB962C8B-B14F-4D97-AF65-F5344CB8AC3E}">
        <p14:creationId xmlns:p14="http://schemas.microsoft.com/office/powerpoint/2010/main" val="313391833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Configuration Parameters</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71</a:t>
            </a:fld>
            <a:endParaRPr lang="en-US" dirty="0">
              <a:solidFill>
                <a:srgbClr val="0C0C0C">
                  <a:tint val="75000"/>
                </a:srgbClr>
              </a:solidFill>
              <a:latin typeface="Arial"/>
            </a:endParaRPr>
          </a:p>
        </p:txBody>
      </p:sp>
      <p:sp>
        <p:nvSpPr>
          <p:cNvPr id="7" name="TextBox 6"/>
          <p:cNvSpPr txBox="1"/>
          <p:nvPr/>
        </p:nvSpPr>
        <p:spPr bwMode="auto">
          <a:xfrm>
            <a:off x="548842" y="5825609"/>
            <a:ext cx="6454652" cy="404663"/>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rgbClr val="161C2E"/>
              </a:buClr>
              <a:buSzPct val="88000"/>
            </a:pPr>
            <a:r>
              <a:rPr lang="en-US" sz="2000" b="1" kern="0" dirty="0">
                <a:solidFill>
                  <a:srgbClr val="1B3866"/>
                </a:solidFill>
                <a:latin typeface="Arial"/>
              </a:rPr>
              <a:t>These parameters are defined in </a:t>
            </a:r>
            <a:r>
              <a:rPr lang="en-US" sz="2000" b="1" kern="0" dirty="0" err="1">
                <a:solidFill>
                  <a:srgbClr val="1E640E">
                    <a:lumMod val="75000"/>
                  </a:srgbClr>
                </a:solidFill>
                <a:latin typeface="Arial"/>
              </a:rPr>
              <a:t>param_t</a:t>
            </a:r>
            <a:r>
              <a:rPr lang="en-US" sz="2000" b="1" kern="0" dirty="0">
                <a:solidFill>
                  <a:srgbClr val="1B3866"/>
                </a:solidFill>
                <a:latin typeface="Arial"/>
              </a:rPr>
              <a:t> in </a:t>
            </a:r>
            <a:r>
              <a:rPr lang="en-US" sz="2000" b="1" kern="0" dirty="0" err="1">
                <a:solidFill>
                  <a:srgbClr val="1E640E">
                    <a:lumMod val="75000"/>
                  </a:srgbClr>
                </a:solidFill>
                <a:latin typeface="Arial"/>
              </a:rPr>
              <a:t>hls_fft.h</a:t>
            </a:r>
            <a:endParaRPr lang="en-US" sz="2000" b="1" kern="0" dirty="0">
              <a:solidFill>
                <a:srgbClr val="1E640E">
                  <a:lumMod val="75000"/>
                </a:srgbClr>
              </a:solidFill>
              <a:latin typeface="Arial"/>
            </a:endParaRPr>
          </a:p>
        </p:txBody>
      </p:sp>
      <p:sp>
        <p:nvSpPr>
          <p:cNvPr id="8" name="Content Placeholder 1">
            <a:extLst>
              <a:ext uri="{FF2B5EF4-FFF2-40B4-BE49-F238E27FC236}">
                <a16:creationId xmlns:a16="http://schemas.microsoft.com/office/drawing/2014/main" id="{76314363-6BB7-4BD8-8E03-0BBB7E02C97F}"/>
              </a:ext>
            </a:extLst>
          </p:cNvPr>
          <p:cNvSpPr txBox="1">
            <a:spLocks/>
          </p:cNvSpPr>
          <p:nvPr/>
        </p:nvSpPr>
        <p:spPr>
          <a:xfrm>
            <a:off x="1085038" y="1327153"/>
            <a:ext cx="10501328" cy="4268337"/>
          </a:xfrm>
          <a:prstGeom prst="rect">
            <a:avLst/>
          </a:prstGeom>
        </p:spPr>
        <p:txBody>
          <a:bodyPr/>
          <a:lstStyle>
            <a:lvl1pPr marL="290426" indent="-290426" algn="l" rtl="0" eaLnBrk="0" fontAlgn="base" hangingPunct="0">
              <a:lnSpc>
                <a:spcPct val="110000"/>
              </a:lnSpc>
              <a:spcBef>
                <a:spcPts val="800"/>
              </a:spcBef>
              <a:spcAft>
                <a:spcPct val="0"/>
              </a:spcAft>
              <a:buClr>
                <a:schemeClr val="tx2"/>
              </a:buClr>
              <a:buSzPct val="88000"/>
              <a:buFont typeface="Wingdings" pitchFamily="2" charset="2"/>
              <a:buBlip>
                <a:blip r:embed="rId3"/>
              </a:buBlip>
              <a:defRPr lang="en-US" sz="2399" b="0" dirty="0" smtClean="0">
                <a:solidFill>
                  <a:schemeClr val="accent4"/>
                </a:solidFill>
                <a:latin typeface="+mn-lt"/>
                <a:ea typeface="+mn-ea"/>
                <a:cs typeface="+mn-cs"/>
              </a:defRPr>
            </a:lvl1pPr>
            <a:lvl2pPr marL="463411" indent="-174573" algn="l" rtl="0" eaLnBrk="1" fontAlgn="base" hangingPunct="1">
              <a:lnSpc>
                <a:spcPct val="110000"/>
              </a:lnSpc>
              <a:spcBef>
                <a:spcPct val="20000"/>
              </a:spcBef>
              <a:spcAft>
                <a:spcPct val="0"/>
              </a:spcAft>
              <a:buClr>
                <a:schemeClr val="tx1"/>
              </a:buClr>
              <a:buChar char="–"/>
              <a:defRPr lang="en-US" sz="1799" b="0">
                <a:solidFill>
                  <a:schemeClr val="tx1"/>
                </a:solidFill>
                <a:latin typeface="+mn-lt"/>
                <a:ea typeface="+mn-ea"/>
                <a:cs typeface="+mn-cs"/>
              </a:defRPr>
            </a:lvl2pPr>
            <a:lvl3pPr marL="682420" indent="-172986" algn="l" rtl="0" eaLnBrk="1" fontAlgn="base" hangingPunct="1">
              <a:lnSpc>
                <a:spcPct val="110000"/>
              </a:lnSpc>
              <a:spcBef>
                <a:spcPct val="20000"/>
              </a:spcBef>
              <a:spcAft>
                <a:spcPct val="0"/>
              </a:spcAft>
              <a:buClr>
                <a:schemeClr val="tx1"/>
              </a:buClr>
              <a:buChar char="•"/>
              <a:defRPr lang="en-US" sz="1600" b="0">
                <a:solidFill>
                  <a:schemeClr val="tx1"/>
                </a:solidFill>
                <a:latin typeface="+mn-lt"/>
                <a:ea typeface="+mn-ea"/>
                <a:cs typeface="+mn-cs"/>
              </a:defRPr>
            </a:lvl3pPr>
            <a:lvl4pPr marL="914126" indent="-172986" algn="l" rtl="0" eaLnBrk="1" fontAlgn="base" hangingPunct="1">
              <a:lnSpc>
                <a:spcPct val="110000"/>
              </a:lnSpc>
              <a:spcBef>
                <a:spcPct val="20000"/>
              </a:spcBef>
              <a:spcAft>
                <a:spcPct val="0"/>
              </a:spcAft>
              <a:buClr>
                <a:schemeClr val="tx1"/>
              </a:buClr>
              <a:buFont typeface="Arial" pitchFamily="34" charset="0"/>
              <a:buChar char="–"/>
              <a:defRPr lang="en-US" sz="1400" b="0">
                <a:solidFill>
                  <a:schemeClr val="tx1"/>
                </a:solidFill>
                <a:latin typeface="+mn-lt"/>
                <a:ea typeface="+mn-ea"/>
                <a:cs typeface="+mn-cs"/>
              </a:defRPr>
            </a:lvl4pPr>
            <a:lvl5pPr marL="1318817" indent="-347559" algn="l" rtl="0" eaLnBrk="1" fontAlgn="base" hangingPunct="1">
              <a:lnSpc>
                <a:spcPct val="110000"/>
              </a:lnSpc>
              <a:spcBef>
                <a:spcPct val="20000"/>
              </a:spcBef>
              <a:spcAft>
                <a:spcPct val="0"/>
              </a:spcAft>
              <a:buClr>
                <a:schemeClr val="tx1"/>
              </a:buClr>
              <a:buChar char="»"/>
              <a:defRPr lang="en-US" sz="1600" b="0">
                <a:solidFill>
                  <a:schemeClr val="tx1"/>
                </a:solidFill>
                <a:latin typeface="+mn-lt"/>
                <a:ea typeface="+mn-ea"/>
                <a:cs typeface="+mn-cs"/>
              </a:defRPr>
            </a:lvl5pPr>
            <a:lvl6pPr marL="2459887" indent="-174573" algn="l" rtl="0" eaLnBrk="1" fontAlgn="base" hangingPunct="1">
              <a:lnSpc>
                <a:spcPct val="110000"/>
              </a:lnSpc>
              <a:spcBef>
                <a:spcPct val="20000"/>
              </a:spcBef>
              <a:spcAft>
                <a:spcPct val="0"/>
              </a:spcAft>
              <a:buChar char="»"/>
              <a:defRPr sz="1200">
                <a:solidFill>
                  <a:schemeClr val="tx1"/>
                </a:solidFill>
                <a:latin typeface="+mn-lt"/>
              </a:defRPr>
            </a:lvl6pPr>
            <a:lvl7pPr marL="2916950" indent="-174573" algn="l" rtl="0" eaLnBrk="1" fontAlgn="base" hangingPunct="1">
              <a:lnSpc>
                <a:spcPct val="110000"/>
              </a:lnSpc>
              <a:spcBef>
                <a:spcPct val="20000"/>
              </a:spcBef>
              <a:spcAft>
                <a:spcPct val="0"/>
              </a:spcAft>
              <a:buChar char="»"/>
              <a:defRPr sz="1200">
                <a:solidFill>
                  <a:schemeClr val="tx1"/>
                </a:solidFill>
                <a:latin typeface="+mn-lt"/>
              </a:defRPr>
            </a:lvl7pPr>
            <a:lvl8pPr marL="3374012" indent="-174573" algn="l" rtl="0" eaLnBrk="1" fontAlgn="base" hangingPunct="1">
              <a:lnSpc>
                <a:spcPct val="110000"/>
              </a:lnSpc>
              <a:spcBef>
                <a:spcPct val="20000"/>
              </a:spcBef>
              <a:spcAft>
                <a:spcPct val="0"/>
              </a:spcAft>
              <a:buChar char="»"/>
              <a:defRPr sz="1200">
                <a:solidFill>
                  <a:schemeClr val="tx1"/>
                </a:solidFill>
                <a:latin typeface="+mn-lt"/>
              </a:defRPr>
            </a:lvl8pPr>
            <a:lvl9pPr marL="3831075" indent="-174573" algn="l" rtl="0" eaLnBrk="1" fontAlgn="base" hangingPunct="1">
              <a:lnSpc>
                <a:spcPct val="110000"/>
              </a:lnSpc>
              <a:spcBef>
                <a:spcPct val="20000"/>
              </a:spcBef>
              <a:spcAft>
                <a:spcPct val="0"/>
              </a:spcAft>
              <a:buChar char="»"/>
              <a:defRPr sz="1200">
                <a:solidFill>
                  <a:schemeClr val="tx1"/>
                </a:solidFill>
                <a:latin typeface="+mn-lt"/>
              </a:defRPr>
            </a:lvl9pPr>
          </a:lstStyle>
          <a:p>
            <a:pPr defTabSz="914400">
              <a:buClr>
                <a:srgbClr val="EC891D"/>
              </a:buClr>
              <a:defRPr/>
            </a:pPr>
            <a:endParaRPr lang="zh-CN" altLang="en-US" kern="0">
              <a:solidFill>
                <a:srgbClr val="3F3F3F"/>
              </a:solidFill>
              <a:latin typeface="Arial"/>
            </a:endParaRPr>
          </a:p>
        </p:txBody>
      </p:sp>
      <p:graphicFrame>
        <p:nvGraphicFramePr>
          <p:cNvPr id="9" name="Table 8">
            <a:extLst>
              <a:ext uri="{FF2B5EF4-FFF2-40B4-BE49-F238E27FC236}">
                <a16:creationId xmlns:a16="http://schemas.microsoft.com/office/drawing/2014/main" id="{C586C32B-E344-40F8-BC75-002D362F7671}"/>
              </a:ext>
            </a:extLst>
          </p:cNvPr>
          <p:cNvGraphicFramePr>
            <a:graphicFrameLocks noGrp="1"/>
          </p:cNvGraphicFramePr>
          <p:nvPr/>
        </p:nvGraphicFramePr>
        <p:xfrm>
          <a:off x="573717" y="1343607"/>
          <a:ext cx="10554902" cy="4268778"/>
        </p:xfrm>
        <a:graphic>
          <a:graphicData uri="http://schemas.openxmlformats.org/drawingml/2006/table">
            <a:tbl>
              <a:tblPr firstRow="1" firstCol="1" bandRow="1"/>
              <a:tblGrid>
                <a:gridCol w="2598616">
                  <a:extLst>
                    <a:ext uri="{9D8B030D-6E8A-4147-A177-3AD203B41FA5}">
                      <a16:colId xmlns:a16="http://schemas.microsoft.com/office/drawing/2014/main" val="20000"/>
                    </a:ext>
                  </a:extLst>
                </a:gridCol>
                <a:gridCol w="7956286">
                  <a:extLst>
                    <a:ext uri="{9D8B030D-6E8A-4147-A177-3AD203B41FA5}">
                      <a16:colId xmlns:a16="http://schemas.microsoft.com/office/drawing/2014/main" val="20001"/>
                    </a:ext>
                  </a:extLst>
                </a:gridCol>
              </a:tblGrid>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Parameter </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Description</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input_width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Data input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output_width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Data output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status_width </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Output status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config_width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Input configuration port width</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max_nfft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The size of the FFT data set is specified as  1 &lt;&lt; </a:t>
                      </a:r>
                      <a:r>
                        <a:rPr lang="en-US" sz="1100" dirty="0" err="1">
                          <a:effectLst/>
                        </a:rPr>
                        <a:t>max_nfft</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has_nfft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Determines if the size of the FFT can be run time configurable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channels</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Number of channels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arch_opt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The implementation architecture.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phase_factor_width</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Configure the internal phase factor precision</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ordering_opt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The output ordering mode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ovflo</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Enable overflow mode</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scaling_opt</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 the scaling options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rounding_opt</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 the rounding modes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mem_data</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Specify using block or distributed RAM for data memory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mem_phase_factors</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Specify using block or distributed RAM for phase factors memory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mem_reorder</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Specify using block or distributed RAM for output reorder memory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stages_block_ram</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Defines the number of block RAM stages used in the implementation</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55679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mem_hybrid</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When block RAMs are specified for data, phase factor, or reorder buffer, </a:t>
                      </a:r>
                      <a:r>
                        <a:rPr lang="en-US" sz="1100" dirty="0" err="1">
                          <a:effectLst/>
                        </a:rPr>
                        <a:t>mem_hybird</a:t>
                      </a:r>
                      <a:r>
                        <a:rPr lang="en-US" sz="1100" dirty="0">
                          <a:effectLst/>
                        </a:rPr>
                        <a:t> specifies where or not to use a hybrid of block and distributed RAMs to reduce block RAM count in certain configurations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complex_mult_type</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Defines the types of multiplier to use for complex multiplications</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butterfly_type</a:t>
                      </a:r>
                      <a:endParaRPr lang="en-US" sz="110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1100" dirty="0">
                          <a:effectLst/>
                        </a:rPr>
                        <a:t>Defines the implementation used for the FFT butterfly</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bl>
          </a:graphicData>
        </a:graphic>
      </p:graphicFrame>
    </p:spTree>
    <p:extLst>
      <p:ext uri="{BB962C8B-B14F-4D97-AF65-F5344CB8AC3E}">
        <p14:creationId xmlns:p14="http://schemas.microsoft.com/office/powerpoint/2010/main" val="372211853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Configuration Defaults and Valid Values</a:t>
            </a:r>
          </a:p>
        </p:txBody>
      </p:sp>
      <p:graphicFrame>
        <p:nvGraphicFramePr>
          <p:cNvPr id="7" name="Content Placeholder 3">
            <a:extLst>
              <a:ext uri="{FF2B5EF4-FFF2-40B4-BE49-F238E27FC236}">
                <a16:creationId xmlns:a16="http://schemas.microsoft.com/office/drawing/2014/main" id="{7347E18A-E9CE-4B4D-891F-56789585F0E4}"/>
              </a:ext>
            </a:extLst>
          </p:cNvPr>
          <p:cNvGraphicFramePr>
            <a:graphicFrameLocks/>
          </p:cNvGraphicFramePr>
          <p:nvPr/>
        </p:nvGraphicFramePr>
        <p:xfrm>
          <a:off x="1084263" y="1327150"/>
          <a:ext cx="10501024" cy="5030926"/>
        </p:xfrm>
        <a:graphic>
          <a:graphicData uri="http://schemas.openxmlformats.org/drawingml/2006/table">
            <a:tbl>
              <a:tblPr firstRow="1" firstCol="1" bandRow="1"/>
              <a:tblGrid>
                <a:gridCol w="2471922">
                  <a:extLst>
                    <a:ext uri="{9D8B030D-6E8A-4147-A177-3AD203B41FA5}">
                      <a16:colId xmlns:a16="http://schemas.microsoft.com/office/drawing/2014/main" val="20000"/>
                    </a:ext>
                  </a:extLst>
                </a:gridCol>
                <a:gridCol w="914557">
                  <a:extLst>
                    <a:ext uri="{9D8B030D-6E8A-4147-A177-3AD203B41FA5}">
                      <a16:colId xmlns:a16="http://schemas.microsoft.com/office/drawing/2014/main" val="20001"/>
                    </a:ext>
                  </a:extLst>
                </a:gridCol>
                <a:gridCol w="2624900">
                  <a:extLst>
                    <a:ext uri="{9D8B030D-6E8A-4147-A177-3AD203B41FA5}">
                      <a16:colId xmlns:a16="http://schemas.microsoft.com/office/drawing/2014/main" val="20002"/>
                    </a:ext>
                  </a:extLst>
                </a:gridCol>
                <a:gridCol w="4489645">
                  <a:extLst>
                    <a:ext uri="{9D8B030D-6E8A-4147-A177-3AD203B41FA5}">
                      <a16:colId xmlns:a16="http://schemas.microsoft.com/office/drawing/2014/main" val="20003"/>
                    </a:ext>
                  </a:extLst>
                </a:gridCol>
              </a:tblGrid>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Parameter </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C Type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Default Value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Valid Values</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input_width</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8-34</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24877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output_width</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input_width to (input_width + max_nfft + 1)</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status_width</a:t>
                      </a:r>
                      <a:r>
                        <a:rPr lang="en-US" sz="1100" dirty="0">
                          <a:effectLst/>
                        </a:rPr>
                        <a:t> </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 8</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Depends on FFT configuration</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config_width</a:t>
                      </a:r>
                      <a:endParaRPr lang="en-US" sz="11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Depends on FFT configuration</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max_nfft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10</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3-16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has_nfft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bool</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false</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True, False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channels</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  </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1-12</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345325">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arch_opt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  </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pipelined_streaming_io</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automatically_select</a:t>
                      </a:r>
                      <a:r>
                        <a:rPr lang="en-US" sz="900" dirty="0">
                          <a:effectLst/>
                        </a:rPr>
                        <a:t>,</a:t>
                      </a:r>
                      <a:r>
                        <a:rPr lang="en-US" sz="900" baseline="0" dirty="0">
                          <a:effectLst/>
                        </a:rPr>
                        <a:t> </a:t>
                      </a:r>
                      <a:r>
                        <a:rPr lang="en-US" sz="800" dirty="0" err="1">
                          <a:effectLst/>
                        </a:rPr>
                        <a:t>pipelined_streaming_io</a:t>
                      </a:r>
                      <a:r>
                        <a:rPr lang="en-US" sz="900" dirty="0">
                          <a:effectLst/>
                        </a:rPr>
                        <a:t>,</a:t>
                      </a:r>
                      <a:r>
                        <a:rPr lang="en-US" sz="900" baseline="0" dirty="0">
                          <a:effectLst/>
                        </a:rPr>
                        <a:t> </a:t>
                      </a:r>
                      <a:r>
                        <a:rPr lang="en-US" sz="800" dirty="0">
                          <a:effectLst/>
                        </a:rPr>
                        <a:t>radix_4_burst_io, </a:t>
                      </a:r>
                      <a:endParaRPr lang="en-US" sz="900" dirty="0">
                        <a:effectLst/>
                      </a:endParaRPr>
                    </a:p>
                    <a:p>
                      <a:pPr marL="0" marR="0">
                        <a:lnSpc>
                          <a:spcPct val="115000"/>
                        </a:lnSpc>
                        <a:spcBef>
                          <a:spcPts val="0"/>
                        </a:spcBef>
                        <a:spcAft>
                          <a:spcPts val="0"/>
                        </a:spcAft>
                      </a:pPr>
                      <a:r>
                        <a:rPr lang="en-US" sz="800" dirty="0">
                          <a:effectLst/>
                        </a:rPr>
                        <a:t>radix_2_burst_io</a:t>
                      </a:r>
                      <a:r>
                        <a:rPr lang="en-US" sz="900" dirty="0">
                          <a:effectLst/>
                        </a:rPr>
                        <a:t>,</a:t>
                      </a:r>
                      <a:r>
                        <a:rPr lang="en-US" sz="900" baseline="0" dirty="0">
                          <a:effectLst/>
                        </a:rPr>
                        <a:t> </a:t>
                      </a:r>
                      <a:r>
                        <a:rPr lang="en-US" sz="800" dirty="0">
                          <a:effectLst/>
                        </a:rPr>
                        <a:t>radix_2_lite_burst_io</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phase_factor_width</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16</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8-34</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ordering_opt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bit_reversed_order</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bit_reversed_order</a:t>
                      </a:r>
                      <a:endParaRPr lang="en-US" sz="900">
                        <a:effectLst/>
                      </a:endParaRPr>
                    </a:p>
                    <a:p>
                      <a:pPr marL="0" marR="0">
                        <a:lnSpc>
                          <a:spcPct val="115000"/>
                        </a:lnSpc>
                        <a:spcBef>
                          <a:spcPts val="0"/>
                        </a:spcBef>
                        <a:spcAft>
                          <a:spcPts val="0"/>
                        </a:spcAft>
                      </a:pPr>
                      <a:r>
                        <a:rPr lang="en-US" sz="800">
                          <a:effectLst/>
                        </a:rPr>
                        <a:t>natural_order</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ovflo</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bool</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true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false</a:t>
                      </a:r>
                      <a:endParaRPr lang="en-US" sz="900" dirty="0">
                        <a:effectLst/>
                      </a:endParaRPr>
                    </a:p>
                    <a:p>
                      <a:pPr marL="0" marR="0">
                        <a:lnSpc>
                          <a:spcPct val="115000"/>
                        </a:lnSpc>
                        <a:spcBef>
                          <a:spcPts val="0"/>
                        </a:spcBef>
                        <a:spcAft>
                          <a:spcPts val="0"/>
                        </a:spcAft>
                      </a:pPr>
                      <a:r>
                        <a:rPr lang="en-US" sz="800" dirty="0">
                          <a:effectLst/>
                        </a:rPr>
                        <a:t>true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230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scaling_opt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scaled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Scaled</a:t>
                      </a:r>
                      <a:r>
                        <a:rPr lang="en-US" sz="900" dirty="0">
                          <a:effectLst/>
                        </a:rPr>
                        <a:t>, </a:t>
                      </a:r>
                      <a:r>
                        <a:rPr lang="en-US" sz="800" dirty="0" err="1">
                          <a:effectLst/>
                        </a:rPr>
                        <a:t>unscaled</a:t>
                      </a:r>
                      <a:r>
                        <a:rPr lang="en-US" sz="900" dirty="0">
                          <a:effectLst/>
                        </a:rPr>
                        <a:t>,</a:t>
                      </a:r>
                      <a:r>
                        <a:rPr lang="en-US" sz="900" baseline="0" dirty="0">
                          <a:effectLst/>
                        </a:rPr>
                        <a:t> </a:t>
                      </a:r>
                      <a:r>
                        <a:rPr lang="en-US" sz="800" dirty="0" err="1">
                          <a:effectLst/>
                        </a:rPr>
                        <a:t>block_floating_point</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rounding_opt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truncation</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truncation</a:t>
                      </a:r>
                      <a:endParaRPr lang="en-US" sz="900" dirty="0">
                        <a:effectLst/>
                      </a:endParaRPr>
                    </a:p>
                    <a:p>
                      <a:pPr marL="0" marR="0">
                        <a:lnSpc>
                          <a:spcPct val="115000"/>
                        </a:lnSpc>
                        <a:spcBef>
                          <a:spcPts val="0"/>
                        </a:spcBef>
                        <a:spcAft>
                          <a:spcPts val="0"/>
                        </a:spcAft>
                      </a:pPr>
                      <a:r>
                        <a:rPr lang="en-US" sz="800" dirty="0" err="1">
                          <a:effectLst/>
                        </a:rPr>
                        <a:t>convergent_rounding</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mem_data</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block_ram</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block_ram</a:t>
                      </a:r>
                      <a:endParaRPr lang="en-US" sz="900" dirty="0">
                        <a:effectLst/>
                      </a:endParaRPr>
                    </a:p>
                    <a:p>
                      <a:pPr marL="0" marR="0">
                        <a:lnSpc>
                          <a:spcPct val="115000"/>
                        </a:lnSpc>
                        <a:spcBef>
                          <a:spcPts val="0"/>
                        </a:spcBef>
                        <a:spcAft>
                          <a:spcPts val="0"/>
                        </a:spcAft>
                      </a:pPr>
                      <a:r>
                        <a:rPr lang="en-US" sz="800" dirty="0" err="1">
                          <a:effectLst/>
                        </a:rPr>
                        <a:t>distributed_ram</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mem_phase_factors</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block_ram</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block_ram</a:t>
                      </a:r>
                      <a:endParaRPr lang="en-US" sz="900">
                        <a:effectLst/>
                      </a:endParaRPr>
                    </a:p>
                    <a:p>
                      <a:pPr marL="0" marR="0">
                        <a:lnSpc>
                          <a:spcPct val="115000"/>
                        </a:lnSpc>
                        <a:spcBef>
                          <a:spcPts val="0"/>
                        </a:spcBef>
                        <a:spcAft>
                          <a:spcPts val="0"/>
                        </a:spcAft>
                      </a:pPr>
                      <a:r>
                        <a:rPr lang="en-US" sz="800">
                          <a:effectLst/>
                        </a:rPr>
                        <a:t>distributed_ram</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mem_reorder</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block_ram</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block_ram</a:t>
                      </a:r>
                      <a:endParaRPr lang="en-US" sz="900" dirty="0">
                        <a:effectLst/>
                      </a:endParaRPr>
                    </a:p>
                    <a:p>
                      <a:pPr marL="0" marR="0">
                        <a:lnSpc>
                          <a:spcPct val="115000"/>
                        </a:lnSpc>
                        <a:spcBef>
                          <a:spcPts val="0"/>
                        </a:spcBef>
                        <a:spcAft>
                          <a:spcPts val="0"/>
                        </a:spcAft>
                      </a:pPr>
                      <a:r>
                        <a:rPr lang="en-US" sz="800" dirty="0" err="1">
                          <a:effectLst/>
                        </a:rPr>
                        <a:t>distributed_ram</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stages_block_ram</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(max_nfft &lt; 10) ? 0 : (max_nfft - 9)</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0-11</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mem_hybrid</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bool</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false</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false</a:t>
                      </a:r>
                      <a:endParaRPr lang="en-US" sz="900" dirty="0">
                        <a:effectLst/>
                      </a:endParaRPr>
                    </a:p>
                    <a:p>
                      <a:pPr marL="0" marR="0">
                        <a:lnSpc>
                          <a:spcPct val="115000"/>
                        </a:lnSpc>
                        <a:spcBef>
                          <a:spcPts val="0"/>
                        </a:spcBef>
                        <a:spcAft>
                          <a:spcPts val="0"/>
                        </a:spcAft>
                      </a:pPr>
                      <a:r>
                        <a:rPr lang="en-US" sz="800" dirty="0">
                          <a:effectLst/>
                        </a:rPr>
                        <a:t>true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32227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complex_mult_type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914400" rtl="0" eaLnBrk="1" fontAlgn="auto" latinLnBrk="0" hangingPunct="1">
                        <a:lnSpc>
                          <a:spcPct val="115000"/>
                        </a:lnSpc>
                        <a:spcBef>
                          <a:spcPts val="0"/>
                        </a:spcBef>
                        <a:spcAft>
                          <a:spcPts val="0"/>
                        </a:spcAft>
                        <a:buClrTx/>
                        <a:buSzTx/>
                        <a:buFontTx/>
                        <a:buNone/>
                        <a:tabLst/>
                        <a:defRPr/>
                      </a:pPr>
                      <a:r>
                        <a:rPr lang="en-US" sz="900" dirty="0" err="1">
                          <a:effectLst/>
                        </a:rPr>
                        <a:t>use_mults_resources</a:t>
                      </a:r>
                      <a:endParaRPr lang="en-US" sz="1000" dirty="0">
                        <a:effectLst/>
                      </a:endParaRPr>
                    </a:p>
                    <a:p>
                      <a:pPr marL="0" marR="0">
                        <a:lnSpc>
                          <a:spcPct val="115000"/>
                        </a:lnSpc>
                        <a:spcBef>
                          <a:spcPts val="0"/>
                        </a:spcBef>
                        <a:spcAft>
                          <a:spcPts val="0"/>
                        </a:spcAft>
                      </a:pP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use_luts</a:t>
                      </a:r>
                      <a:endParaRPr lang="en-US" sz="900" dirty="0">
                        <a:effectLst/>
                      </a:endParaRPr>
                    </a:p>
                    <a:p>
                      <a:pPr marL="0" marR="0">
                        <a:lnSpc>
                          <a:spcPct val="115000"/>
                        </a:lnSpc>
                        <a:spcBef>
                          <a:spcPts val="0"/>
                        </a:spcBef>
                        <a:spcAft>
                          <a:spcPts val="0"/>
                        </a:spcAft>
                      </a:pPr>
                      <a:r>
                        <a:rPr lang="en-US" sz="800" dirty="0" err="1">
                          <a:effectLst/>
                        </a:rPr>
                        <a:t>use_mults_resources</a:t>
                      </a:r>
                      <a:endParaRPr lang="en-US" sz="900" dirty="0">
                        <a:effectLst/>
                      </a:endParaRPr>
                    </a:p>
                    <a:p>
                      <a:pPr marL="0" marR="0">
                        <a:lnSpc>
                          <a:spcPct val="115000"/>
                        </a:lnSpc>
                        <a:spcBef>
                          <a:spcPts val="0"/>
                        </a:spcBef>
                        <a:spcAft>
                          <a:spcPts val="0"/>
                        </a:spcAft>
                      </a:pPr>
                      <a:r>
                        <a:rPr lang="en-US" sz="800" dirty="0" err="1">
                          <a:effectLst/>
                        </a:rPr>
                        <a:t>use_mults_performance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butterfly_type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use_luts</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use_luts</a:t>
                      </a:r>
                      <a:endParaRPr lang="en-US" sz="900" dirty="0">
                        <a:effectLst/>
                      </a:endParaRPr>
                    </a:p>
                    <a:p>
                      <a:pPr marL="0" marR="0">
                        <a:lnSpc>
                          <a:spcPct val="115000"/>
                        </a:lnSpc>
                        <a:spcBef>
                          <a:spcPts val="0"/>
                        </a:spcBef>
                        <a:spcAft>
                          <a:spcPts val="0"/>
                        </a:spcAft>
                      </a:pPr>
                      <a:r>
                        <a:rPr lang="en-US" sz="800" dirty="0" err="1">
                          <a:effectLst/>
                        </a:rPr>
                        <a:t>use_xtremedsp_slices</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bl>
          </a:graphicData>
        </a:graphic>
      </p:graphicFrame>
      <p:sp>
        <p:nvSpPr>
          <p:cNvPr id="5" name="Slide Number Placeholder 5">
            <a:extLst>
              <a:ext uri="{FF2B5EF4-FFF2-40B4-BE49-F238E27FC236}">
                <a16:creationId xmlns:a16="http://schemas.microsoft.com/office/drawing/2014/main" id="{4F4BEF4C-59BF-462A-A50B-B37012E2BAAE}"/>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72</a:t>
            </a:fld>
            <a:endParaRPr lang="en-US" dirty="0"/>
          </a:p>
        </p:txBody>
      </p:sp>
    </p:spTree>
    <p:extLst>
      <p:ext uri="{BB962C8B-B14F-4D97-AF65-F5344CB8AC3E}">
        <p14:creationId xmlns:p14="http://schemas.microsoft.com/office/powerpoint/2010/main" val="74977849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Configuration Defaults and Valid Values</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73</a:t>
            </a:fld>
            <a:endParaRPr lang="en-US" dirty="0">
              <a:solidFill>
                <a:srgbClr val="0C0C0C">
                  <a:tint val="75000"/>
                </a:srgbClr>
              </a:solidFill>
              <a:latin typeface="Arial"/>
            </a:endParaRPr>
          </a:p>
        </p:txBody>
      </p:sp>
      <p:graphicFrame>
        <p:nvGraphicFramePr>
          <p:cNvPr id="7" name="Content Placeholder 3">
            <a:extLst>
              <a:ext uri="{FF2B5EF4-FFF2-40B4-BE49-F238E27FC236}">
                <a16:creationId xmlns:a16="http://schemas.microsoft.com/office/drawing/2014/main" id="{7347E18A-E9CE-4B4D-891F-56789585F0E4}"/>
              </a:ext>
            </a:extLst>
          </p:cNvPr>
          <p:cNvGraphicFramePr>
            <a:graphicFrameLocks/>
          </p:cNvGraphicFramePr>
          <p:nvPr/>
        </p:nvGraphicFramePr>
        <p:xfrm>
          <a:off x="1084263" y="1327150"/>
          <a:ext cx="10501024" cy="5030926"/>
        </p:xfrm>
        <a:graphic>
          <a:graphicData uri="http://schemas.openxmlformats.org/drawingml/2006/table">
            <a:tbl>
              <a:tblPr firstRow="1" firstCol="1" bandRow="1"/>
              <a:tblGrid>
                <a:gridCol w="2471922">
                  <a:extLst>
                    <a:ext uri="{9D8B030D-6E8A-4147-A177-3AD203B41FA5}">
                      <a16:colId xmlns:a16="http://schemas.microsoft.com/office/drawing/2014/main" val="20000"/>
                    </a:ext>
                  </a:extLst>
                </a:gridCol>
                <a:gridCol w="914557">
                  <a:extLst>
                    <a:ext uri="{9D8B030D-6E8A-4147-A177-3AD203B41FA5}">
                      <a16:colId xmlns:a16="http://schemas.microsoft.com/office/drawing/2014/main" val="20001"/>
                    </a:ext>
                  </a:extLst>
                </a:gridCol>
                <a:gridCol w="2624900">
                  <a:extLst>
                    <a:ext uri="{9D8B030D-6E8A-4147-A177-3AD203B41FA5}">
                      <a16:colId xmlns:a16="http://schemas.microsoft.com/office/drawing/2014/main" val="20002"/>
                    </a:ext>
                  </a:extLst>
                </a:gridCol>
                <a:gridCol w="4489645">
                  <a:extLst>
                    <a:ext uri="{9D8B030D-6E8A-4147-A177-3AD203B41FA5}">
                      <a16:colId xmlns:a16="http://schemas.microsoft.com/office/drawing/2014/main" val="20003"/>
                    </a:ext>
                  </a:extLst>
                </a:gridCol>
              </a:tblGrid>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Parameter </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C Type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Default Value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Valid Values</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input_width</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8-34</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24877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output_width</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input_width to (input_width + max_nfft + 1)</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status_width</a:t>
                      </a:r>
                      <a:r>
                        <a:rPr lang="en-US" sz="1100" dirty="0">
                          <a:effectLst/>
                        </a:rPr>
                        <a:t> </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 8</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Depends on FFT configuration</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a:effectLst/>
                        </a:rPr>
                        <a:t>config_width</a:t>
                      </a:r>
                      <a:endParaRPr lang="en-US" sz="11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Depends on FFT configuration</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max_nfft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10</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3-16</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has_nfft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bool</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false</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True, False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a:effectLst/>
                        </a:rPr>
                        <a:t>channels</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unsigned  </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1-12</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345325">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arch_opt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  </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pipelined_streaming_io</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automatically_select</a:t>
                      </a:r>
                      <a:r>
                        <a:rPr lang="en-US" sz="900" dirty="0">
                          <a:effectLst/>
                        </a:rPr>
                        <a:t>,</a:t>
                      </a:r>
                      <a:r>
                        <a:rPr lang="en-US" sz="900" baseline="0" dirty="0">
                          <a:effectLst/>
                        </a:rPr>
                        <a:t> </a:t>
                      </a:r>
                      <a:r>
                        <a:rPr lang="en-US" sz="800" dirty="0" err="1">
                          <a:effectLst/>
                        </a:rPr>
                        <a:t>pipelined_streaming_io</a:t>
                      </a:r>
                      <a:r>
                        <a:rPr lang="en-US" sz="900" dirty="0">
                          <a:effectLst/>
                        </a:rPr>
                        <a:t>,</a:t>
                      </a:r>
                      <a:r>
                        <a:rPr lang="en-US" sz="900" baseline="0" dirty="0">
                          <a:effectLst/>
                        </a:rPr>
                        <a:t> </a:t>
                      </a:r>
                      <a:r>
                        <a:rPr lang="en-US" sz="800" dirty="0">
                          <a:effectLst/>
                        </a:rPr>
                        <a:t>radix_4_burst_io, </a:t>
                      </a:r>
                      <a:endParaRPr lang="en-US" sz="900" dirty="0">
                        <a:effectLst/>
                      </a:endParaRPr>
                    </a:p>
                    <a:p>
                      <a:pPr marL="0" marR="0">
                        <a:lnSpc>
                          <a:spcPct val="115000"/>
                        </a:lnSpc>
                        <a:spcBef>
                          <a:spcPts val="0"/>
                        </a:spcBef>
                        <a:spcAft>
                          <a:spcPts val="0"/>
                        </a:spcAft>
                      </a:pPr>
                      <a:r>
                        <a:rPr lang="en-US" sz="800" dirty="0">
                          <a:effectLst/>
                        </a:rPr>
                        <a:t>radix_2_burst_io</a:t>
                      </a:r>
                      <a:r>
                        <a:rPr lang="en-US" sz="900" dirty="0">
                          <a:effectLst/>
                        </a:rPr>
                        <a:t>,</a:t>
                      </a:r>
                      <a:r>
                        <a:rPr lang="en-US" sz="900" baseline="0" dirty="0">
                          <a:effectLst/>
                        </a:rPr>
                        <a:t> </a:t>
                      </a:r>
                      <a:r>
                        <a:rPr lang="en-US" sz="800" dirty="0">
                          <a:effectLst/>
                        </a:rPr>
                        <a:t>radix_2_lite_burst_io</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phase_factor_width</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16</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8-34</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ordering_opt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bit_reversed_order</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bit_reversed_order</a:t>
                      </a:r>
                      <a:endParaRPr lang="en-US" sz="900">
                        <a:effectLst/>
                      </a:endParaRPr>
                    </a:p>
                    <a:p>
                      <a:pPr marL="0" marR="0">
                        <a:lnSpc>
                          <a:spcPct val="115000"/>
                        </a:lnSpc>
                        <a:spcBef>
                          <a:spcPts val="0"/>
                        </a:spcBef>
                        <a:spcAft>
                          <a:spcPts val="0"/>
                        </a:spcAft>
                      </a:pPr>
                      <a:r>
                        <a:rPr lang="en-US" sz="800">
                          <a:effectLst/>
                        </a:rPr>
                        <a:t>natural_order</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ovflo</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bool</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true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false</a:t>
                      </a:r>
                      <a:endParaRPr lang="en-US" sz="900" dirty="0">
                        <a:effectLst/>
                      </a:endParaRPr>
                    </a:p>
                    <a:p>
                      <a:pPr marL="0" marR="0">
                        <a:lnSpc>
                          <a:spcPct val="115000"/>
                        </a:lnSpc>
                        <a:spcBef>
                          <a:spcPts val="0"/>
                        </a:spcBef>
                        <a:spcAft>
                          <a:spcPts val="0"/>
                        </a:spcAft>
                      </a:pPr>
                      <a:r>
                        <a:rPr lang="en-US" sz="800" dirty="0">
                          <a:effectLst/>
                        </a:rPr>
                        <a:t>true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230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scaling_opt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scaled</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Scaled</a:t>
                      </a:r>
                      <a:r>
                        <a:rPr lang="en-US" sz="900" dirty="0">
                          <a:effectLst/>
                        </a:rPr>
                        <a:t>, </a:t>
                      </a:r>
                      <a:r>
                        <a:rPr lang="en-US" sz="800" dirty="0" err="1">
                          <a:effectLst/>
                        </a:rPr>
                        <a:t>unscaled</a:t>
                      </a:r>
                      <a:r>
                        <a:rPr lang="en-US" sz="900" dirty="0">
                          <a:effectLst/>
                        </a:rPr>
                        <a:t>,</a:t>
                      </a:r>
                      <a:r>
                        <a:rPr lang="en-US" sz="900" baseline="0" dirty="0">
                          <a:effectLst/>
                        </a:rPr>
                        <a:t> </a:t>
                      </a:r>
                      <a:r>
                        <a:rPr lang="en-US" sz="800" dirty="0" err="1">
                          <a:effectLst/>
                        </a:rPr>
                        <a:t>block_floating_point</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rounding_opt</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truncation</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truncation</a:t>
                      </a:r>
                      <a:endParaRPr lang="en-US" sz="900" dirty="0">
                        <a:effectLst/>
                      </a:endParaRPr>
                    </a:p>
                    <a:p>
                      <a:pPr marL="0" marR="0">
                        <a:lnSpc>
                          <a:spcPct val="115000"/>
                        </a:lnSpc>
                        <a:spcBef>
                          <a:spcPts val="0"/>
                        </a:spcBef>
                        <a:spcAft>
                          <a:spcPts val="0"/>
                        </a:spcAft>
                      </a:pPr>
                      <a:r>
                        <a:rPr lang="en-US" sz="800" dirty="0" err="1">
                          <a:effectLst/>
                        </a:rPr>
                        <a:t>convergent_rounding</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mem_data</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err="1">
                          <a:effectLst/>
                        </a:rPr>
                        <a:t>block_ram</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block_ram</a:t>
                      </a:r>
                      <a:endParaRPr lang="en-US" sz="900" dirty="0">
                        <a:effectLst/>
                      </a:endParaRPr>
                    </a:p>
                    <a:p>
                      <a:pPr marL="0" marR="0">
                        <a:lnSpc>
                          <a:spcPct val="115000"/>
                        </a:lnSpc>
                        <a:spcBef>
                          <a:spcPts val="0"/>
                        </a:spcBef>
                        <a:spcAft>
                          <a:spcPts val="0"/>
                        </a:spcAft>
                      </a:pPr>
                      <a:r>
                        <a:rPr lang="en-US" sz="800" dirty="0" err="1">
                          <a:effectLst/>
                        </a:rPr>
                        <a:t>distributed_ram</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mem_phase_factors</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block_ram</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block_ram</a:t>
                      </a:r>
                      <a:endParaRPr lang="en-US" sz="900">
                        <a:effectLst/>
                      </a:endParaRPr>
                    </a:p>
                    <a:p>
                      <a:pPr marL="0" marR="0">
                        <a:lnSpc>
                          <a:spcPct val="115000"/>
                        </a:lnSpc>
                        <a:spcBef>
                          <a:spcPts val="0"/>
                        </a:spcBef>
                        <a:spcAft>
                          <a:spcPts val="0"/>
                        </a:spcAft>
                      </a:pPr>
                      <a:r>
                        <a:rPr lang="en-US" sz="800">
                          <a:effectLst/>
                        </a:rPr>
                        <a:t>distributed_ram</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mem_reorder</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block_ram</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block_ram</a:t>
                      </a:r>
                      <a:endParaRPr lang="en-US" sz="900" dirty="0">
                        <a:effectLst/>
                      </a:endParaRPr>
                    </a:p>
                    <a:p>
                      <a:pPr marL="0" marR="0">
                        <a:lnSpc>
                          <a:spcPct val="115000"/>
                        </a:lnSpc>
                        <a:spcBef>
                          <a:spcPts val="0"/>
                        </a:spcBef>
                        <a:spcAft>
                          <a:spcPts val="0"/>
                        </a:spcAft>
                      </a:pPr>
                      <a:r>
                        <a:rPr lang="en-US" sz="800" dirty="0" err="1">
                          <a:effectLst/>
                        </a:rPr>
                        <a:t>distributed_ram</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2438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stages_block_ram</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(max_nfft &lt; 10) ? 0 : (max_nfft - 9)</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0-11</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mem_hybrid</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bool</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false</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false</a:t>
                      </a:r>
                      <a:endParaRPr lang="en-US" sz="900" dirty="0">
                        <a:effectLst/>
                      </a:endParaRPr>
                    </a:p>
                    <a:p>
                      <a:pPr marL="0" marR="0">
                        <a:lnSpc>
                          <a:spcPct val="115000"/>
                        </a:lnSpc>
                        <a:spcBef>
                          <a:spcPts val="0"/>
                        </a:spcBef>
                        <a:spcAft>
                          <a:spcPts val="0"/>
                        </a:spcAft>
                      </a:pPr>
                      <a:r>
                        <a:rPr lang="en-US" sz="800" dirty="0">
                          <a:effectLst/>
                        </a:rPr>
                        <a:t>true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32227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complex_mult_type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indent="0" algn="l" defTabSz="914400" rtl="0" eaLnBrk="1" fontAlgn="auto" latinLnBrk="0" hangingPunct="1">
                        <a:lnSpc>
                          <a:spcPct val="115000"/>
                        </a:lnSpc>
                        <a:spcBef>
                          <a:spcPts val="0"/>
                        </a:spcBef>
                        <a:spcAft>
                          <a:spcPts val="0"/>
                        </a:spcAft>
                        <a:buClrTx/>
                        <a:buSzTx/>
                        <a:buFontTx/>
                        <a:buNone/>
                        <a:tabLst/>
                        <a:defRPr/>
                      </a:pPr>
                      <a:r>
                        <a:rPr lang="en-US" sz="900" dirty="0" err="1">
                          <a:effectLst/>
                        </a:rPr>
                        <a:t>use_mults_resources</a:t>
                      </a:r>
                      <a:endParaRPr lang="en-US" sz="1000" dirty="0">
                        <a:effectLst/>
                      </a:endParaRPr>
                    </a:p>
                    <a:p>
                      <a:pPr marL="0" marR="0">
                        <a:lnSpc>
                          <a:spcPct val="115000"/>
                        </a:lnSpc>
                        <a:spcBef>
                          <a:spcPts val="0"/>
                        </a:spcBef>
                        <a:spcAft>
                          <a:spcPts val="0"/>
                        </a:spcAft>
                      </a:pP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use_luts</a:t>
                      </a:r>
                      <a:endParaRPr lang="en-US" sz="900" dirty="0">
                        <a:effectLst/>
                      </a:endParaRPr>
                    </a:p>
                    <a:p>
                      <a:pPr marL="0" marR="0">
                        <a:lnSpc>
                          <a:spcPct val="115000"/>
                        </a:lnSpc>
                        <a:spcBef>
                          <a:spcPts val="0"/>
                        </a:spcBef>
                        <a:spcAft>
                          <a:spcPts val="0"/>
                        </a:spcAft>
                      </a:pPr>
                      <a:r>
                        <a:rPr lang="en-US" sz="800" dirty="0" err="1">
                          <a:effectLst/>
                        </a:rPr>
                        <a:t>use_mults_resources</a:t>
                      </a:r>
                      <a:endParaRPr lang="en-US" sz="900" dirty="0">
                        <a:effectLst/>
                      </a:endParaRPr>
                    </a:p>
                    <a:p>
                      <a:pPr marL="0" marR="0">
                        <a:lnSpc>
                          <a:spcPct val="115000"/>
                        </a:lnSpc>
                        <a:spcBef>
                          <a:spcPts val="0"/>
                        </a:spcBef>
                        <a:spcAft>
                          <a:spcPts val="0"/>
                        </a:spcAft>
                      </a:pPr>
                      <a:r>
                        <a:rPr lang="en-US" sz="800" dirty="0" err="1">
                          <a:effectLst/>
                        </a:rPr>
                        <a:t>use_mults_performance</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21485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100" dirty="0" err="1">
                          <a:effectLst/>
                        </a:rPr>
                        <a:t>butterfly_type</a:t>
                      </a:r>
                      <a:endParaRPr lang="en-US" sz="11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unsigned</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use_luts</a:t>
                      </a:r>
                      <a:endParaRPr lang="en-US" sz="90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use_luts</a:t>
                      </a:r>
                      <a:endParaRPr lang="en-US" sz="900" dirty="0">
                        <a:effectLst/>
                      </a:endParaRPr>
                    </a:p>
                    <a:p>
                      <a:pPr marL="0" marR="0">
                        <a:lnSpc>
                          <a:spcPct val="115000"/>
                        </a:lnSpc>
                        <a:spcBef>
                          <a:spcPts val="0"/>
                        </a:spcBef>
                        <a:spcAft>
                          <a:spcPts val="0"/>
                        </a:spcAft>
                      </a:pPr>
                      <a:r>
                        <a:rPr lang="en-US" sz="800" dirty="0" err="1">
                          <a:effectLst/>
                        </a:rPr>
                        <a:t>use_xtremedsp_slices</a:t>
                      </a:r>
                      <a:endParaRPr lang="en-US" sz="900" dirty="0">
                        <a:effectLst/>
                        <a:latin typeface="Calibri"/>
                        <a:ea typeface="Calibri"/>
                        <a:cs typeface="Times New Roman"/>
                      </a:endParaRPr>
                    </a:p>
                  </a:txBody>
                  <a:tcPr marL="56326" marR="56326"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bl>
          </a:graphicData>
        </a:graphic>
      </p:graphicFrame>
    </p:spTree>
    <p:extLst>
      <p:ext uri="{BB962C8B-B14F-4D97-AF65-F5344CB8AC3E}">
        <p14:creationId xmlns:p14="http://schemas.microsoft.com/office/powerpoint/2010/main" val="2370838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 Data</a:t>
            </a:r>
          </a:p>
        </p:txBody>
      </p:sp>
      <p:sp>
        <p:nvSpPr>
          <p:cNvPr id="2" name="Content Placeholder 1"/>
          <p:cNvSpPr>
            <a:spLocks noGrp="1"/>
          </p:cNvSpPr>
          <p:nvPr>
            <p:ph sz="half" idx="1"/>
          </p:nvPr>
        </p:nvSpPr>
        <p:spPr/>
        <p:txBody>
          <a:bodyPr/>
          <a:lstStyle/>
          <a:p>
            <a:r>
              <a:rPr lang="en-US" dirty="0"/>
              <a:t>Input &amp; Output Data</a:t>
            </a:r>
          </a:p>
          <a:p>
            <a:pPr lvl="1"/>
            <a:r>
              <a:rPr lang="en-US" dirty="0"/>
              <a:t>Data Input and Output</a:t>
            </a:r>
          </a:p>
          <a:p>
            <a:pPr lvl="2"/>
            <a:r>
              <a:rPr lang="en-US" dirty="0"/>
              <a:t>Array arguments of type </a:t>
            </a:r>
            <a:r>
              <a:rPr lang="en-US" dirty="0" err="1"/>
              <a:t>ap_fixed</a:t>
            </a:r>
            <a:r>
              <a:rPr lang="en-US" dirty="0"/>
              <a:t> or float type</a:t>
            </a:r>
          </a:p>
          <a:p>
            <a:pPr lvl="2"/>
            <a:r>
              <a:rPr lang="en-US" dirty="0"/>
              <a:t>Two-dimensional arrays are used for </a:t>
            </a:r>
            <a:br>
              <a:rPr lang="en-US" dirty="0"/>
            </a:br>
            <a:r>
              <a:rPr lang="en-US" dirty="0"/>
              <a:t>multi-channel functionality</a:t>
            </a:r>
          </a:p>
          <a:p>
            <a:pPr lvl="3"/>
            <a:r>
              <a:rPr lang="en-US" sz="1400" dirty="0"/>
              <a:t>First dimension represents the channels; Second dimension the FFT data</a:t>
            </a:r>
            <a:endParaRPr lang="en-US" sz="1400" strike="sngStrike" dirty="0"/>
          </a:p>
        </p:txBody>
      </p:sp>
      <p:sp>
        <p:nvSpPr>
          <p:cNvPr id="9" name="TextBox 8">
            <a:extLst>
              <a:ext uri="{FF2B5EF4-FFF2-40B4-BE49-F238E27FC236}">
                <a16:creationId xmlns:a16="http://schemas.microsoft.com/office/drawing/2014/main" id="{634D9E9F-434C-466E-9A15-FD9933C8C940}"/>
              </a:ext>
            </a:extLst>
          </p:cNvPr>
          <p:cNvSpPr txBox="1"/>
          <p:nvPr/>
        </p:nvSpPr>
        <p:spPr bwMode="auto">
          <a:xfrm>
            <a:off x="6096000" y="1618883"/>
            <a:ext cx="5942774"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kern="0" dirty="0">
                <a:solidFill>
                  <a:srgbClr val="000000"/>
                </a:solidFill>
              </a:rPr>
              <a:t>#include "</a:t>
            </a:r>
            <a:r>
              <a:rPr lang="en-US" kern="0" dirty="0" err="1">
                <a:solidFill>
                  <a:srgbClr val="000000"/>
                </a:solidFill>
              </a:rPr>
              <a:t>hls_fft.h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err="1">
                <a:solidFill>
                  <a:srgbClr val="000000"/>
                </a:solidFill>
              </a:rPr>
              <a:t>hls</a:t>
            </a:r>
            <a:r>
              <a:rPr lang="en-US" kern="0" dirty="0">
                <a:solidFill>
                  <a:srgbClr val="000000"/>
                </a:solidFill>
              </a:rPr>
              <a:t>::</a:t>
            </a:r>
            <a:r>
              <a:rPr lang="en-US" kern="0" dirty="0" err="1">
                <a:solidFill>
                  <a:srgbClr val="000000"/>
                </a:solidFill>
              </a:rPr>
              <a:t>fft</a:t>
            </a:r>
            <a:r>
              <a:rPr lang="en-US" kern="0" dirty="0">
                <a:solidFill>
                  <a:srgbClr val="000000"/>
                </a:solidFill>
              </a:rPr>
              <a:t>&lt;STATIC_PARAM&gt; (                           		// Static Parameterization Struct</a:t>
            </a:r>
          </a:p>
          <a:p>
            <a:pPr defTabSz="914400" fontAlgn="base">
              <a:spcBef>
                <a:spcPct val="0"/>
              </a:spcBef>
              <a:spcAft>
                <a:spcPct val="0"/>
              </a:spcAft>
              <a:defRPr/>
            </a:pPr>
            <a:r>
              <a:rPr lang="en-US" b="1" kern="0" dirty="0">
                <a:solidFill>
                  <a:srgbClr val="000000"/>
                </a:solidFill>
              </a:rPr>
              <a:t>  INPUT_DATA_ARRAY,            		// Input data fixed or float</a:t>
            </a:r>
          </a:p>
          <a:p>
            <a:pPr defTabSz="914400" fontAlgn="base">
              <a:spcBef>
                <a:spcPct val="0"/>
              </a:spcBef>
              <a:spcAft>
                <a:spcPct val="0"/>
              </a:spcAft>
              <a:defRPr/>
            </a:pPr>
            <a:r>
              <a:rPr lang="en-US" b="1" kern="0" dirty="0">
                <a:solidFill>
                  <a:srgbClr val="000000"/>
                </a:solidFill>
              </a:rPr>
              <a:t>  OUTPUT_DATA_ARRAY,        		// Output data fixed or float</a:t>
            </a:r>
          </a:p>
          <a:p>
            <a:pPr defTabSz="914400" fontAlgn="base">
              <a:spcBef>
                <a:spcPct val="0"/>
              </a:spcBef>
              <a:spcAft>
                <a:spcPct val="0"/>
              </a:spcAft>
              <a:defRPr/>
            </a:pPr>
            <a:r>
              <a:rPr lang="en-US" kern="0" dirty="0">
                <a:solidFill>
                  <a:srgbClr val="000000"/>
                </a:solidFill>
              </a:rPr>
              <a:t>  OUTPUT_STATUS,                 		// Output Status</a:t>
            </a:r>
          </a:p>
          <a:p>
            <a:pPr defTabSz="914400" fontAlgn="base">
              <a:spcBef>
                <a:spcPct val="0"/>
              </a:spcBef>
              <a:spcAft>
                <a:spcPct val="0"/>
              </a:spcAft>
              <a:defRPr/>
            </a:pPr>
            <a:r>
              <a:rPr lang="en-US" kern="0" dirty="0">
                <a:solidFill>
                  <a:srgbClr val="000000"/>
                </a:solidFill>
              </a:rPr>
              <a:t>  INPUT_RUN_TIME_CONFIGURATION); 		// Input Run Time Configuration</a:t>
            </a:r>
          </a:p>
        </p:txBody>
      </p:sp>
      <p:sp>
        <p:nvSpPr>
          <p:cNvPr id="7" name="Slide Number Placeholder 5">
            <a:extLst>
              <a:ext uri="{FF2B5EF4-FFF2-40B4-BE49-F238E27FC236}">
                <a16:creationId xmlns:a16="http://schemas.microsoft.com/office/drawing/2014/main" id="{7AFC017E-24F5-478B-A8CC-83FE92984D8A}"/>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74</a:t>
            </a:fld>
            <a:endParaRPr lang="en-US" dirty="0"/>
          </a:p>
        </p:txBody>
      </p:sp>
    </p:spTree>
    <p:extLst>
      <p:ext uri="{BB962C8B-B14F-4D97-AF65-F5344CB8AC3E}">
        <p14:creationId xmlns:p14="http://schemas.microsoft.com/office/powerpoint/2010/main" val="274086753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 Data</a:t>
            </a:r>
          </a:p>
        </p:txBody>
      </p:sp>
      <p:sp>
        <p:nvSpPr>
          <p:cNvPr id="2" name="Content Placeholder 1"/>
          <p:cNvSpPr>
            <a:spLocks noGrp="1"/>
          </p:cNvSpPr>
          <p:nvPr>
            <p:ph sz="half" idx="1"/>
          </p:nvPr>
        </p:nvSpPr>
        <p:spPr/>
        <p:txBody>
          <a:bodyPr/>
          <a:lstStyle/>
          <a:p>
            <a:r>
              <a:rPr lang="en-US" dirty="0"/>
              <a:t>Input &amp; Output Data</a:t>
            </a:r>
          </a:p>
          <a:p>
            <a:pPr lvl="1"/>
            <a:r>
              <a:rPr lang="en-US" dirty="0"/>
              <a:t>Data Input and Output</a:t>
            </a:r>
          </a:p>
          <a:p>
            <a:pPr lvl="2"/>
            <a:r>
              <a:rPr lang="en-US" dirty="0"/>
              <a:t>Array arguments of type </a:t>
            </a:r>
            <a:r>
              <a:rPr lang="en-US" dirty="0" err="1"/>
              <a:t>ap_fixed</a:t>
            </a:r>
            <a:r>
              <a:rPr lang="en-US" dirty="0"/>
              <a:t> or float type</a:t>
            </a:r>
          </a:p>
          <a:p>
            <a:pPr lvl="2"/>
            <a:r>
              <a:rPr lang="en-US" dirty="0"/>
              <a:t>Two-dimensional arrays are used for </a:t>
            </a:r>
            <a:br>
              <a:rPr lang="en-US" dirty="0"/>
            </a:br>
            <a:r>
              <a:rPr lang="en-US" dirty="0"/>
              <a:t>multi-channel functionality</a:t>
            </a:r>
          </a:p>
          <a:p>
            <a:pPr lvl="3"/>
            <a:r>
              <a:rPr lang="en-US" sz="1400" dirty="0"/>
              <a:t>First dimension represents the channels; Second dimension the FFT data </a:t>
            </a:r>
            <a:r>
              <a:rPr lang="en-US" sz="1400" strike="sngStrike" dirty="0"/>
              <a:t>for each channel</a:t>
            </a:r>
          </a:p>
          <a:p>
            <a:pPr lvl="3"/>
            <a:r>
              <a:rPr lang="en-US" sz="1400" strike="sngStrike" dirty="0"/>
              <a:t>IP only supports multi-channels for </a:t>
            </a:r>
            <a:r>
              <a:rPr lang="en-US" sz="1400" strike="sngStrike" dirty="0" err="1"/>
              <a:t>ap_fixed</a:t>
            </a:r>
            <a:r>
              <a:rPr lang="en-US" sz="1400" strike="sngStrike" dirty="0"/>
              <a:t> (not float)</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75</a:t>
            </a:fld>
            <a:endParaRPr lang="en-US" dirty="0">
              <a:solidFill>
                <a:srgbClr val="0C0C0C">
                  <a:tint val="75000"/>
                </a:srgbClr>
              </a:solidFill>
              <a:latin typeface="Arial"/>
            </a:endParaRPr>
          </a:p>
        </p:txBody>
      </p:sp>
      <p:sp>
        <p:nvSpPr>
          <p:cNvPr id="9" name="TextBox 8">
            <a:extLst>
              <a:ext uri="{FF2B5EF4-FFF2-40B4-BE49-F238E27FC236}">
                <a16:creationId xmlns:a16="http://schemas.microsoft.com/office/drawing/2014/main" id="{634D9E9F-434C-466E-9A15-FD9933C8C940}"/>
              </a:ext>
            </a:extLst>
          </p:cNvPr>
          <p:cNvSpPr txBox="1"/>
          <p:nvPr/>
        </p:nvSpPr>
        <p:spPr bwMode="auto">
          <a:xfrm>
            <a:off x="6096000" y="1618883"/>
            <a:ext cx="5942774"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kern="0" dirty="0">
                <a:solidFill>
                  <a:srgbClr val="000000"/>
                </a:solidFill>
                <a:latin typeface="Arial"/>
              </a:rPr>
              <a:t>#include "</a:t>
            </a:r>
            <a:r>
              <a:rPr lang="en-US" kern="0" dirty="0" err="1">
                <a:solidFill>
                  <a:srgbClr val="000000"/>
                </a:solidFill>
                <a:latin typeface="Arial"/>
              </a:rPr>
              <a:t>hls_fft.h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err="1">
                <a:solidFill>
                  <a:srgbClr val="000000"/>
                </a:solidFill>
                <a:latin typeface="Arial"/>
              </a:rPr>
              <a:t>hls</a:t>
            </a:r>
            <a:r>
              <a:rPr lang="en-US" kern="0" dirty="0">
                <a:solidFill>
                  <a:srgbClr val="000000"/>
                </a:solidFill>
                <a:latin typeface="Arial"/>
              </a:rPr>
              <a:t>::</a:t>
            </a:r>
            <a:r>
              <a:rPr lang="en-US" kern="0" dirty="0" err="1">
                <a:solidFill>
                  <a:srgbClr val="000000"/>
                </a:solidFill>
                <a:latin typeface="Arial"/>
              </a:rPr>
              <a:t>fft</a:t>
            </a:r>
            <a:r>
              <a:rPr lang="en-US" kern="0" dirty="0">
                <a:solidFill>
                  <a:srgbClr val="000000"/>
                </a:solidFill>
                <a:latin typeface="Arial"/>
              </a:rPr>
              <a:t>&lt;STATIC_PARAM&gt; (                           		// Static Parameterization Struct</a:t>
            </a:r>
          </a:p>
          <a:p>
            <a:pPr defTabSz="914400" fontAlgn="base">
              <a:spcBef>
                <a:spcPct val="0"/>
              </a:spcBef>
              <a:spcAft>
                <a:spcPct val="0"/>
              </a:spcAft>
              <a:defRPr/>
            </a:pPr>
            <a:r>
              <a:rPr lang="en-US" b="1" kern="0" dirty="0">
                <a:solidFill>
                  <a:srgbClr val="000000"/>
                </a:solidFill>
                <a:latin typeface="Arial"/>
              </a:rPr>
              <a:t>  INPUT_DATA_ARRAY,            		// Input data fixed or float</a:t>
            </a:r>
          </a:p>
          <a:p>
            <a:pPr defTabSz="914400" fontAlgn="base">
              <a:spcBef>
                <a:spcPct val="0"/>
              </a:spcBef>
              <a:spcAft>
                <a:spcPct val="0"/>
              </a:spcAft>
              <a:defRPr/>
            </a:pPr>
            <a:r>
              <a:rPr lang="en-US" b="1" kern="0" dirty="0">
                <a:solidFill>
                  <a:srgbClr val="000000"/>
                </a:solidFill>
                <a:latin typeface="Arial"/>
              </a:rPr>
              <a:t>  OUTPUT_DATA_ARRAY,        		// Output data fixed or float</a:t>
            </a:r>
          </a:p>
          <a:p>
            <a:pPr defTabSz="914400" fontAlgn="base">
              <a:spcBef>
                <a:spcPct val="0"/>
              </a:spcBef>
              <a:spcAft>
                <a:spcPct val="0"/>
              </a:spcAft>
              <a:defRPr/>
            </a:pPr>
            <a:r>
              <a:rPr lang="en-US" kern="0" dirty="0">
                <a:solidFill>
                  <a:srgbClr val="000000"/>
                </a:solidFill>
                <a:latin typeface="Arial"/>
              </a:rPr>
              <a:t>  OUTPUT_STATUS,                 		// Output Status</a:t>
            </a:r>
          </a:p>
          <a:p>
            <a:pPr defTabSz="914400" fontAlgn="base">
              <a:spcBef>
                <a:spcPct val="0"/>
              </a:spcBef>
              <a:spcAft>
                <a:spcPct val="0"/>
              </a:spcAft>
              <a:defRPr/>
            </a:pPr>
            <a:r>
              <a:rPr lang="en-US" kern="0" dirty="0">
                <a:solidFill>
                  <a:srgbClr val="000000"/>
                </a:solidFill>
                <a:latin typeface="Arial"/>
              </a:rPr>
              <a:t>  INPUT_RUN_TIME_CONFIGURATION); 		// Input Run Time Configuration</a:t>
            </a:r>
          </a:p>
        </p:txBody>
      </p:sp>
    </p:spTree>
    <p:extLst>
      <p:ext uri="{BB962C8B-B14F-4D97-AF65-F5344CB8AC3E}">
        <p14:creationId xmlns:p14="http://schemas.microsoft.com/office/powerpoint/2010/main" val="59644187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 Run Time Configuration</a:t>
            </a:r>
          </a:p>
        </p:txBody>
      </p:sp>
      <p:sp>
        <p:nvSpPr>
          <p:cNvPr id="2" name="Content Placeholder 1"/>
          <p:cNvSpPr>
            <a:spLocks noGrp="1"/>
          </p:cNvSpPr>
          <p:nvPr>
            <p:ph idx="1"/>
          </p:nvPr>
        </p:nvSpPr>
        <p:spPr/>
        <p:txBody>
          <a:bodyPr/>
          <a:lstStyle/>
          <a:p>
            <a:r>
              <a:rPr lang="en-US" sz="2000" dirty="0"/>
              <a:t>Dynamic Configuration</a:t>
            </a:r>
          </a:p>
          <a:p>
            <a:endParaRPr lang="en-US" sz="100" dirty="0"/>
          </a:p>
          <a:p>
            <a:pPr lvl="1"/>
            <a:r>
              <a:rPr lang="en-US" sz="1800" dirty="0"/>
              <a:t>Parameter INPUT_RUN_TIME_CONFIGURATION </a:t>
            </a:r>
            <a:br>
              <a:rPr lang="en-US" sz="1800" dirty="0"/>
            </a:br>
            <a:r>
              <a:rPr lang="en-US" sz="1800" dirty="0"/>
              <a:t>can be changed at run time</a:t>
            </a:r>
          </a:p>
          <a:p>
            <a:pPr lvl="1"/>
            <a:r>
              <a:rPr lang="en-US" sz="1800" dirty="0"/>
              <a:t>Access is made using the pre-defined </a:t>
            </a:r>
            <a:br>
              <a:rPr lang="en-US" sz="1800" dirty="0"/>
            </a:br>
            <a:r>
              <a:rPr lang="en-US" sz="1800" dirty="0" err="1"/>
              <a:t>struct</a:t>
            </a:r>
            <a:r>
              <a:rPr lang="en-US" sz="1800" dirty="0"/>
              <a:t> </a:t>
            </a:r>
            <a:r>
              <a:rPr lang="en-US" sz="1800" dirty="0" err="1">
                <a:solidFill>
                  <a:srgbClr val="008000"/>
                </a:solidFill>
              </a:rPr>
              <a:t>hls</a:t>
            </a:r>
            <a:r>
              <a:rPr lang="en-US" sz="1800" dirty="0">
                <a:solidFill>
                  <a:srgbClr val="008000"/>
                </a:solidFill>
              </a:rPr>
              <a:t>::</a:t>
            </a:r>
            <a:r>
              <a:rPr lang="en-US" sz="1800" dirty="0" err="1">
                <a:solidFill>
                  <a:srgbClr val="008000"/>
                </a:solidFill>
              </a:rPr>
              <a:t>ip_fft</a:t>
            </a:r>
            <a:r>
              <a:rPr lang="en-US" sz="1800" dirty="0">
                <a:solidFill>
                  <a:srgbClr val="008000"/>
                </a:solidFill>
              </a:rPr>
              <a:t>::</a:t>
            </a:r>
            <a:r>
              <a:rPr lang="en-US" sz="1800" dirty="0" err="1">
                <a:solidFill>
                  <a:srgbClr val="008000"/>
                </a:solidFill>
              </a:rPr>
              <a:t>config_t</a:t>
            </a:r>
            <a:r>
              <a:rPr lang="en-US" sz="1800" dirty="0">
                <a:solidFill>
                  <a:schemeClr val="accent6">
                    <a:lumMod val="75000"/>
                  </a:schemeClr>
                </a:solidFill>
              </a:rPr>
              <a:t>&lt;</a:t>
            </a:r>
            <a:r>
              <a:rPr lang="en-US" sz="1800" dirty="0">
                <a:solidFill>
                  <a:srgbClr val="7030A0"/>
                </a:solidFill>
              </a:rPr>
              <a:t>STATIC_PARAM</a:t>
            </a:r>
            <a:r>
              <a:rPr lang="en-US" sz="1800" dirty="0">
                <a:solidFill>
                  <a:schemeClr val="accent6">
                    <a:lumMod val="75000"/>
                  </a:schemeClr>
                </a:solidFill>
              </a:rPr>
              <a:t>&gt;</a:t>
            </a:r>
          </a:p>
          <a:p>
            <a:pPr lvl="2"/>
            <a:r>
              <a:rPr lang="en-US" sz="1400" dirty="0"/>
              <a:t>Notice, this also uses the FFT parameterization struct </a:t>
            </a:r>
            <a:endParaRPr lang="en-US" sz="1100" dirty="0"/>
          </a:p>
          <a:p>
            <a:pPr lvl="1"/>
            <a:endParaRPr lang="en-US" sz="1800" dirty="0"/>
          </a:p>
        </p:txBody>
      </p:sp>
      <p:sp>
        <p:nvSpPr>
          <p:cNvPr id="10" name="TextBox 9">
            <a:extLst>
              <a:ext uri="{FF2B5EF4-FFF2-40B4-BE49-F238E27FC236}">
                <a16:creationId xmlns:a16="http://schemas.microsoft.com/office/drawing/2014/main" id="{5558CCD8-68D2-4EC8-B068-B04426EABA32}"/>
              </a:ext>
            </a:extLst>
          </p:cNvPr>
          <p:cNvSpPr txBox="1"/>
          <p:nvPr/>
        </p:nvSpPr>
        <p:spPr bwMode="auto">
          <a:xfrm>
            <a:off x="6931633" y="2002879"/>
            <a:ext cx="5015523"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kern="0" dirty="0">
                <a:solidFill>
                  <a:srgbClr val="000000"/>
                </a:solidFill>
              </a:rPr>
              <a:t>#include "</a:t>
            </a:r>
            <a:r>
              <a:rPr lang="en-US" kern="0" dirty="0" err="1">
                <a:solidFill>
                  <a:srgbClr val="000000"/>
                </a:solidFill>
              </a:rPr>
              <a:t>hls_fft.h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err="1">
                <a:solidFill>
                  <a:srgbClr val="000000"/>
                </a:solidFill>
              </a:rPr>
              <a:t>hls</a:t>
            </a:r>
            <a:r>
              <a:rPr lang="en-US" kern="0" dirty="0">
                <a:solidFill>
                  <a:srgbClr val="000000"/>
                </a:solidFill>
              </a:rPr>
              <a:t>::</a:t>
            </a:r>
            <a:r>
              <a:rPr lang="en-US" kern="0" dirty="0" err="1">
                <a:solidFill>
                  <a:srgbClr val="000000"/>
                </a:solidFill>
              </a:rPr>
              <a:t>fft</a:t>
            </a:r>
            <a:r>
              <a:rPr lang="en-US" kern="0" dirty="0">
                <a:solidFill>
                  <a:srgbClr val="000000"/>
                </a:solidFill>
              </a:rPr>
              <a:t>&lt;STATIC_PARAM&gt; (                           	// Static Parameterization Struct</a:t>
            </a:r>
          </a:p>
          <a:p>
            <a:pPr defTabSz="914400" fontAlgn="base">
              <a:spcBef>
                <a:spcPct val="0"/>
              </a:spcBef>
              <a:spcAft>
                <a:spcPct val="0"/>
              </a:spcAft>
              <a:defRPr/>
            </a:pPr>
            <a:r>
              <a:rPr lang="en-US" kern="0" dirty="0">
                <a:solidFill>
                  <a:srgbClr val="000000"/>
                </a:solidFill>
              </a:rPr>
              <a:t>  INPUT_DATA_ARRAY,            	// Input data fixed or float</a:t>
            </a:r>
          </a:p>
          <a:p>
            <a:pPr defTabSz="914400" fontAlgn="base">
              <a:spcBef>
                <a:spcPct val="0"/>
              </a:spcBef>
              <a:spcAft>
                <a:spcPct val="0"/>
              </a:spcAft>
              <a:defRPr/>
            </a:pPr>
            <a:r>
              <a:rPr lang="en-US" kern="0" dirty="0">
                <a:solidFill>
                  <a:srgbClr val="000000"/>
                </a:solidFill>
              </a:rPr>
              <a:t>  OUTPUT_DATA_ARRAY,        	// Output data fixed or float</a:t>
            </a:r>
          </a:p>
          <a:p>
            <a:pPr defTabSz="914400" fontAlgn="base">
              <a:spcBef>
                <a:spcPct val="0"/>
              </a:spcBef>
              <a:spcAft>
                <a:spcPct val="0"/>
              </a:spcAft>
              <a:defRPr/>
            </a:pPr>
            <a:r>
              <a:rPr lang="en-US" kern="0" dirty="0">
                <a:solidFill>
                  <a:srgbClr val="000000"/>
                </a:solidFill>
              </a:rPr>
              <a:t>  OUTPUT_STATUS,                 	// Output Status</a:t>
            </a:r>
          </a:p>
          <a:p>
            <a:pPr defTabSz="914400" fontAlgn="base">
              <a:spcBef>
                <a:spcPct val="0"/>
              </a:spcBef>
              <a:spcAft>
                <a:spcPct val="0"/>
              </a:spcAft>
              <a:defRPr/>
            </a:pPr>
            <a:r>
              <a:rPr lang="en-US" b="1" kern="0" dirty="0">
                <a:solidFill>
                  <a:srgbClr val="000000"/>
                </a:solidFill>
              </a:rPr>
              <a:t>  INPUT_RUN_TIME_CONFIGURATION); 	// Input Run Time Configuration</a:t>
            </a:r>
          </a:p>
        </p:txBody>
      </p:sp>
      <p:sp>
        <p:nvSpPr>
          <p:cNvPr id="11" name="TextBox 10">
            <a:extLst>
              <a:ext uri="{FF2B5EF4-FFF2-40B4-BE49-F238E27FC236}">
                <a16:creationId xmlns:a16="http://schemas.microsoft.com/office/drawing/2014/main" id="{C3B81DB0-F446-4979-81AA-0E3B58CF952B}"/>
              </a:ext>
            </a:extLst>
          </p:cNvPr>
          <p:cNvSpPr txBox="1"/>
          <p:nvPr/>
        </p:nvSpPr>
        <p:spPr bwMode="auto">
          <a:xfrm>
            <a:off x="1416564" y="3636553"/>
            <a:ext cx="4223824" cy="195438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rPr>
              <a:t>#include "</a:t>
            </a:r>
            <a:r>
              <a:rPr lang="en-US" kern="0" dirty="0" err="1">
                <a:solidFill>
                  <a:srgbClr val="000000"/>
                </a:solidFill>
              </a:rPr>
              <a:t>hls_fft.h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struct </a:t>
            </a:r>
            <a:r>
              <a:rPr lang="en-US" b="1" kern="0" dirty="0">
                <a:solidFill>
                  <a:srgbClr val="7030A0"/>
                </a:solidFill>
              </a:rPr>
              <a:t>param1</a:t>
            </a:r>
            <a:r>
              <a:rPr lang="en-US" kern="0" dirty="0">
                <a:solidFill>
                  <a:srgbClr val="7030A0"/>
                </a:solidFill>
              </a:rPr>
              <a:t> </a:t>
            </a:r>
            <a:r>
              <a:rPr lang="en-US" kern="0" dirty="0">
                <a:solidFill>
                  <a:srgbClr val="000000"/>
                </a:solidFill>
              </a:rPr>
              <a:t>: </a:t>
            </a:r>
            <a:r>
              <a:rPr lang="en-US" kern="0" dirty="0" err="1">
                <a:solidFill>
                  <a:srgbClr val="8B8D09">
                    <a:lumMod val="75000"/>
                  </a:srgbClr>
                </a:solidFill>
              </a:rPr>
              <a:t>hls</a:t>
            </a:r>
            <a:r>
              <a:rPr lang="en-US" kern="0" dirty="0">
                <a:solidFill>
                  <a:srgbClr val="8B8D09">
                    <a:lumMod val="75000"/>
                  </a:srgbClr>
                </a:solidFill>
              </a:rPr>
              <a:t>::</a:t>
            </a:r>
            <a:r>
              <a:rPr lang="en-US" kern="0" dirty="0" err="1">
                <a:solidFill>
                  <a:srgbClr val="8B8D09">
                    <a:lumMod val="75000"/>
                  </a:srgbClr>
                </a:solidFill>
              </a:rPr>
              <a:t>ip_fft</a:t>
            </a:r>
            <a:r>
              <a:rPr lang="en-US" kern="0" dirty="0">
                <a:solidFill>
                  <a:srgbClr val="8B8D09">
                    <a:lumMod val="75000"/>
                  </a:srgbClr>
                </a:solidFill>
              </a:rPr>
              <a:t>::</a:t>
            </a:r>
            <a:r>
              <a:rPr lang="en-US" kern="0" dirty="0" err="1">
                <a:solidFill>
                  <a:srgbClr val="8B8D09">
                    <a:lumMod val="75000"/>
                  </a:srgbClr>
                </a:solidFill>
              </a:rPr>
              <a:t>params_t</a:t>
            </a:r>
            <a:r>
              <a:rPr lang="en-US" kern="0" dirty="0">
                <a:solidFill>
                  <a:srgbClr val="8B8D09">
                    <a:lumMod val="75000"/>
                  </a:srgbClr>
                </a:solidFill>
              </a:rPr>
              <a:t> </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ordering_opt</a:t>
            </a:r>
            <a:r>
              <a:rPr lang="en-US" kern="0" dirty="0">
                <a:solidFill>
                  <a:srgbClr val="000000"/>
                </a:solidFill>
              </a:rPr>
              <a:t> = </a:t>
            </a:r>
            <a:r>
              <a:rPr lang="en-US" kern="0" dirty="0" err="1">
                <a:solidFill>
                  <a:srgbClr val="000000"/>
                </a:solidFill>
              </a:rPr>
              <a:t>hls</a:t>
            </a:r>
            <a:r>
              <a:rPr lang="en-US" kern="0" dirty="0">
                <a:solidFill>
                  <a:srgbClr val="000000"/>
                </a:solidFill>
              </a:rPr>
              <a:t>::</a:t>
            </a:r>
            <a:r>
              <a:rPr lang="en-US" kern="0" dirty="0" err="1">
                <a:solidFill>
                  <a:srgbClr val="000000"/>
                </a:solidFill>
              </a:rPr>
              <a:t>ip_fft</a:t>
            </a:r>
            <a:r>
              <a:rPr lang="en-US" kern="0" dirty="0">
                <a:solidFill>
                  <a:srgbClr val="000000"/>
                </a:solidFill>
              </a:rPr>
              <a:t>::</a:t>
            </a:r>
            <a:r>
              <a:rPr lang="en-US" kern="0" dirty="0" err="1">
                <a:solidFill>
                  <a:srgbClr val="000000"/>
                </a:solidFill>
              </a:rPr>
              <a:t>natural_order</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config_width</a:t>
            </a:r>
            <a:r>
              <a:rPr lang="en-US" kern="0" dirty="0">
                <a:solidFill>
                  <a:srgbClr val="000000"/>
                </a:solidFill>
              </a:rPr>
              <a:t> = FFT_CONFIG_WIDTH;</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status_width</a:t>
            </a:r>
            <a:r>
              <a:rPr lang="en-US" kern="0" dirty="0">
                <a:solidFill>
                  <a:srgbClr val="000000"/>
                </a:solidFill>
              </a:rPr>
              <a:t> = FFT_STATUS_WIDTH;</a:t>
            </a:r>
          </a:p>
          <a:p>
            <a:pPr defTabSz="914400" fontAlgn="base">
              <a:spcBef>
                <a:spcPct val="0"/>
              </a:spcBef>
              <a:spcAft>
                <a:spcPct val="0"/>
              </a:spcAft>
              <a:defRPr/>
            </a:pP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err="1">
                <a:solidFill>
                  <a:srgbClr val="000000"/>
                </a:solidFill>
              </a:rPr>
              <a:t>typedef</a:t>
            </a:r>
            <a:r>
              <a:rPr lang="en-US" kern="0" dirty="0">
                <a:solidFill>
                  <a:srgbClr val="000000"/>
                </a:solidFill>
              </a:rPr>
              <a:t> </a:t>
            </a:r>
            <a:r>
              <a:rPr lang="en-US" b="1" kern="0" dirty="0" err="1">
                <a:solidFill>
                  <a:srgbClr val="008000"/>
                </a:solidFill>
              </a:rPr>
              <a:t>hls</a:t>
            </a:r>
            <a:r>
              <a:rPr lang="en-US" b="1" kern="0" dirty="0">
                <a:solidFill>
                  <a:srgbClr val="008000"/>
                </a:solidFill>
              </a:rPr>
              <a:t>::</a:t>
            </a:r>
            <a:r>
              <a:rPr lang="en-US" b="1" kern="0" dirty="0" err="1">
                <a:solidFill>
                  <a:srgbClr val="008000"/>
                </a:solidFill>
              </a:rPr>
              <a:t>ip_fft</a:t>
            </a:r>
            <a:r>
              <a:rPr lang="en-US" b="1" kern="0" dirty="0">
                <a:solidFill>
                  <a:srgbClr val="008000"/>
                </a:solidFill>
              </a:rPr>
              <a:t>::</a:t>
            </a:r>
            <a:r>
              <a:rPr lang="en-US" b="1" kern="0" dirty="0" err="1">
                <a:solidFill>
                  <a:srgbClr val="008000"/>
                </a:solidFill>
              </a:rPr>
              <a:t>config_t</a:t>
            </a:r>
            <a:r>
              <a:rPr lang="en-US" kern="0" dirty="0">
                <a:solidFill>
                  <a:srgbClr val="000000"/>
                </a:solidFill>
              </a:rPr>
              <a:t>&lt;</a:t>
            </a:r>
            <a:r>
              <a:rPr lang="en-US" b="1" kern="0" dirty="0">
                <a:solidFill>
                  <a:srgbClr val="7030A0"/>
                </a:solidFill>
              </a:rPr>
              <a:t>param1</a:t>
            </a:r>
            <a:r>
              <a:rPr lang="en-US" kern="0" dirty="0">
                <a:solidFill>
                  <a:srgbClr val="000000"/>
                </a:solidFill>
              </a:rPr>
              <a:t>&gt; </a:t>
            </a:r>
            <a:r>
              <a:rPr lang="en-US" kern="0" dirty="0" err="1">
                <a:solidFill>
                  <a:srgbClr val="000000"/>
                </a:solidFill>
              </a:rPr>
              <a:t>config_t</a:t>
            </a:r>
            <a:r>
              <a:rPr lang="en-US" kern="0" dirty="0">
                <a:solidFill>
                  <a:srgbClr val="000000"/>
                </a:solidFill>
              </a:rPr>
              <a:t>;</a:t>
            </a:r>
          </a:p>
          <a:p>
            <a:pPr defTabSz="914400" fontAlgn="base">
              <a:spcBef>
                <a:spcPct val="0"/>
              </a:spcBef>
              <a:spcAft>
                <a:spcPct val="0"/>
              </a:spcAft>
              <a:defRPr/>
            </a:pPr>
            <a:r>
              <a:rPr lang="en-US" kern="0" dirty="0" err="1">
                <a:solidFill>
                  <a:srgbClr val="000000"/>
                </a:solidFill>
              </a:rPr>
              <a:t>config_t</a:t>
            </a:r>
            <a:r>
              <a:rPr lang="en-US" kern="0" dirty="0">
                <a:solidFill>
                  <a:srgbClr val="000000"/>
                </a:solidFill>
              </a:rPr>
              <a:t> </a:t>
            </a:r>
            <a:r>
              <a:rPr lang="en-US" b="1" kern="0" dirty="0">
                <a:solidFill>
                  <a:srgbClr val="000000"/>
                </a:solidFill>
              </a:rPr>
              <a:t>fft_config1</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p:txBody>
      </p:sp>
      <p:sp>
        <p:nvSpPr>
          <p:cNvPr id="12" name="TextBox 11">
            <a:extLst>
              <a:ext uri="{FF2B5EF4-FFF2-40B4-BE49-F238E27FC236}">
                <a16:creationId xmlns:a16="http://schemas.microsoft.com/office/drawing/2014/main" id="{17D1D248-2FEC-40B6-A499-7756BDC24A82}"/>
              </a:ext>
            </a:extLst>
          </p:cNvPr>
          <p:cNvSpPr txBox="1"/>
          <p:nvPr/>
        </p:nvSpPr>
        <p:spPr bwMode="auto">
          <a:xfrm>
            <a:off x="6463892" y="3636553"/>
            <a:ext cx="3689472" cy="2292935"/>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kern="0" dirty="0">
                <a:solidFill>
                  <a:srgbClr val="000000"/>
                </a:solidFill>
              </a:rPr>
              <a:t>// Set FFT length to 512 =&gt; log2(512) =&gt;9</a:t>
            </a:r>
          </a:p>
          <a:p>
            <a:pPr defTabSz="914400" fontAlgn="base">
              <a:spcBef>
                <a:spcPct val="0"/>
              </a:spcBef>
              <a:spcAft>
                <a:spcPct val="0"/>
              </a:spcAft>
              <a:defRPr/>
            </a:pPr>
            <a:r>
              <a:rPr lang="en-US" sz="1100" b="1" kern="0" dirty="0">
                <a:solidFill>
                  <a:srgbClr val="000000"/>
                </a:solidFill>
              </a:rPr>
              <a:t>fft_config1</a:t>
            </a:r>
            <a:r>
              <a:rPr lang="en-US" sz="1100" kern="0" dirty="0">
                <a:solidFill>
                  <a:srgbClr val="000000"/>
                </a:solidFill>
              </a:rPr>
              <a:t>-&gt; </a:t>
            </a:r>
            <a:r>
              <a:rPr lang="en-US" sz="1100" kern="0" dirty="0" err="1">
                <a:solidFill>
                  <a:srgbClr val="000000"/>
                </a:solidFill>
              </a:rPr>
              <a:t>setNfft</a:t>
            </a:r>
            <a:r>
              <a:rPr lang="en-US" sz="1100" kern="0" dirty="0">
                <a:solidFill>
                  <a:srgbClr val="000000"/>
                </a:solidFill>
              </a:rPr>
              <a:t>(9);</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Forward FFT</a:t>
            </a:r>
          </a:p>
          <a:p>
            <a:pPr defTabSz="914400" fontAlgn="base">
              <a:spcBef>
                <a:spcPct val="0"/>
              </a:spcBef>
              <a:spcAft>
                <a:spcPct val="0"/>
              </a:spcAft>
              <a:defRPr/>
            </a:pPr>
            <a:r>
              <a:rPr lang="en-US" sz="1100" b="1" kern="0" dirty="0">
                <a:solidFill>
                  <a:srgbClr val="000000"/>
                </a:solidFill>
              </a:rPr>
              <a:t>fft_config1</a:t>
            </a:r>
            <a:r>
              <a:rPr lang="en-US" sz="1100" kern="0" dirty="0">
                <a:solidFill>
                  <a:srgbClr val="000000"/>
                </a:solidFill>
              </a:rPr>
              <a:t>-&gt;</a:t>
            </a:r>
            <a:r>
              <a:rPr lang="en-US" sz="1100" kern="0" dirty="0" err="1">
                <a:solidFill>
                  <a:srgbClr val="000000"/>
                </a:solidFill>
              </a:rPr>
              <a:t>setDir</a:t>
            </a:r>
            <a:r>
              <a:rPr lang="en-US" sz="1100" kern="0" dirty="0">
                <a:solidFill>
                  <a:srgbClr val="000000"/>
                </a:solidFill>
              </a:rPr>
              <a:t>(0);</a:t>
            </a:r>
          </a:p>
          <a:p>
            <a:pPr defTabSz="914400" fontAlgn="base">
              <a:spcBef>
                <a:spcPct val="0"/>
              </a:spcBef>
              <a:spcAft>
                <a:spcPct val="0"/>
              </a:spcAft>
              <a:defRPr/>
            </a:pPr>
            <a:r>
              <a:rPr lang="en-US" sz="1100" kern="0" dirty="0">
                <a:solidFill>
                  <a:srgbClr val="000000"/>
                </a:solidFill>
              </a:rPr>
              <a:t>// Inverse FFT </a:t>
            </a:r>
          </a:p>
          <a:p>
            <a:pPr defTabSz="914400" fontAlgn="base">
              <a:spcBef>
                <a:spcPct val="0"/>
              </a:spcBef>
              <a:spcAft>
                <a:spcPct val="0"/>
              </a:spcAft>
              <a:defRPr/>
            </a:pPr>
            <a:r>
              <a:rPr lang="en-US" sz="1100" b="1" kern="0" dirty="0">
                <a:solidFill>
                  <a:srgbClr val="000000"/>
                </a:solidFill>
              </a:rPr>
              <a:t>fft_config</a:t>
            </a:r>
            <a:r>
              <a:rPr lang="en-US" sz="1100" kern="0" dirty="0">
                <a:solidFill>
                  <a:srgbClr val="000000"/>
                </a:solidFill>
              </a:rPr>
              <a:t>1-&gt;</a:t>
            </a:r>
            <a:r>
              <a:rPr lang="en-US" sz="1100" kern="0" dirty="0" err="1">
                <a:solidFill>
                  <a:srgbClr val="000000"/>
                </a:solidFill>
              </a:rPr>
              <a:t>setDir</a:t>
            </a:r>
            <a:r>
              <a:rPr lang="en-US" sz="1100" kern="0" dirty="0">
                <a:solidFill>
                  <a:srgbClr val="000000"/>
                </a:solidFill>
              </a:rPr>
              <a:t>(1);</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Set FFT Scaling</a:t>
            </a:r>
          </a:p>
          <a:p>
            <a:pPr defTabSz="914400" fontAlgn="base">
              <a:spcBef>
                <a:spcPct val="0"/>
              </a:spcBef>
              <a:spcAft>
                <a:spcPct val="0"/>
              </a:spcAft>
              <a:defRPr/>
            </a:pPr>
            <a:r>
              <a:rPr lang="en-US" sz="1100" b="1" kern="0" dirty="0">
                <a:solidFill>
                  <a:srgbClr val="000000"/>
                </a:solidFill>
              </a:rPr>
              <a:t>fft_config1</a:t>
            </a:r>
            <a:r>
              <a:rPr lang="en-US" sz="1100" kern="0" dirty="0">
                <a:solidFill>
                  <a:srgbClr val="000000"/>
                </a:solidFill>
              </a:rPr>
              <a:t>-&gt;</a:t>
            </a:r>
            <a:r>
              <a:rPr lang="en-US" sz="1100" kern="0" dirty="0" err="1">
                <a:solidFill>
                  <a:srgbClr val="000000"/>
                </a:solidFill>
              </a:rPr>
              <a:t>setSch</a:t>
            </a:r>
            <a:r>
              <a:rPr lang="en-US" sz="1100" kern="0" dirty="0">
                <a:solidFill>
                  <a:srgbClr val="000000"/>
                </a:solidFill>
              </a:rPr>
              <a:t>(0x2AB);</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 FFT IP</a:t>
            </a:r>
          </a:p>
          <a:p>
            <a:pPr defTabSz="914400" fontAlgn="base">
              <a:spcBef>
                <a:spcPct val="0"/>
              </a:spcBef>
              <a:spcAft>
                <a:spcPct val="0"/>
              </a:spcAft>
              <a:defRPr/>
            </a:pPr>
            <a:r>
              <a:rPr lang="en-US" sz="1100" kern="0" dirty="0">
                <a:solidFill>
                  <a:srgbClr val="000000"/>
                </a:solidFill>
              </a:rPr>
              <a:t>    </a:t>
            </a:r>
            <a:r>
              <a:rPr lang="en-US" sz="1100" kern="0" dirty="0" err="1">
                <a:solidFill>
                  <a:srgbClr val="000000"/>
                </a:solidFill>
              </a:rPr>
              <a:t>hls</a:t>
            </a:r>
            <a:r>
              <a:rPr lang="en-US" sz="1100" kern="0" dirty="0">
                <a:solidFill>
                  <a:srgbClr val="000000"/>
                </a:solidFill>
              </a:rPr>
              <a:t>::</a:t>
            </a:r>
            <a:r>
              <a:rPr lang="en-US" sz="1100" kern="0" dirty="0" err="1">
                <a:solidFill>
                  <a:srgbClr val="000000"/>
                </a:solidFill>
              </a:rPr>
              <a:t>fft</a:t>
            </a:r>
            <a:r>
              <a:rPr lang="en-US" sz="1100" kern="0" dirty="0">
                <a:solidFill>
                  <a:srgbClr val="000000"/>
                </a:solidFill>
              </a:rPr>
              <a:t>&lt;</a:t>
            </a:r>
            <a:r>
              <a:rPr lang="en-US" sz="1100" b="1" kern="0" dirty="0">
                <a:solidFill>
                  <a:srgbClr val="7030A0"/>
                </a:solidFill>
              </a:rPr>
              <a:t>param1</a:t>
            </a:r>
            <a:r>
              <a:rPr lang="en-US" sz="1100" kern="0" dirty="0">
                <a:solidFill>
                  <a:srgbClr val="000000"/>
                </a:solidFill>
              </a:rPr>
              <a:t>&gt; (xn1, xk1, &amp;fft_status1, &amp;</a:t>
            </a:r>
            <a:r>
              <a:rPr lang="en-US" sz="1100" b="1" kern="0" dirty="0">
                <a:solidFill>
                  <a:srgbClr val="000000"/>
                </a:solidFill>
              </a:rPr>
              <a:t>fft_config1</a:t>
            </a:r>
            <a:r>
              <a:rPr lang="en-US" sz="1100" kern="0" dirty="0">
                <a:solidFill>
                  <a:srgbClr val="000000"/>
                </a:solidFill>
              </a:rPr>
              <a:t>);</a:t>
            </a:r>
          </a:p>
        </p:txBody>
      </p:sp>
      <p:sp>
        <p:nvSpPr>
          <p:cNvPr id="8" name="Slide Number Placeholder 5">
            <a:extLst>
              <a:ext uri="{FF2B5EF4-FFF2-40B4-BE49-F238E27FC236}">
                <a16:creationId xmlns:a16="http://schemas.microsoft.com/office/drawing/2014/main" id="{76477845-CE0E-4F0A-8186-992B379AAA9C}"/>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76</a:t>
            </a:fld>
            <a:endParaRPr lang="en-US" dirty="0"/>
          </a:p>
        </p:txBody>
      </p:sp>
    </p:spTree>
    <p:extLst>
      <p:ext uri="{BB962C8B-B14F-4D97-AF65-F5344CB8AC3E}">
        <p14:creationId xmlns:p14="http://schemas.microsoft.com/office/powerpoint/2010/main" val="243540738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 Run Time Configuration</a:t>
            </a:r>
          </a:p>
        </p:txBody>
      </p:sp>
      <p:sp>
        <p:nvSpPr>
          <p:cNvPr id="2" name="Content Placeholder 1"/>
          <p:cNvSpPr>
            <a:spLocks noGrp="1"/>
          </p:cNvSpPr>
          <p:nvPr>
            <p:ph idx="1"/>
          </p:nvPr>
        </p:nvSpPr>
        <p:spPr/>
        <p:txBody>
          <a:bodyPr/>
          <a:lstStyle/>
          <a:p>
            <a:r>
              <a:rPr lang="en-US" dirty="0"/>
              <a:t>Dynamic Configuration</a:t>
            </a:r>
          </a:p>
          <a:p>
            <a:endParaRPr lang="en-US" sz="200" dirty="0"/>
          </a:p>
          <a:p>
            <a:pPr lvl="1"/>
            <a:r>
              <a:rPr lang="en-US" dirty="0"/>
              <a:t>Parameter INPUT_RUN_TIME_CONFIGURATION </a:t>
            </a:r>
            <a:br>
              <a:rPr lang="en-US" dirty="0"/>
            </a:br>
            <a:r>
              <a:rPr lang="en-US" dirty="0"/>
              <a:t>can be changed at run time</a:t>
            </a:r>
          </a:p>
          <a:p>
            <a:pPr lvl="1"/>
            <a:r>
              <a:rPr lang="en-US" dirty="0"/>
              <a:t>Access is made using the pre-defined </a:t>
            </a:r>
            <a:br>
              <a:rPr lang="en-US" dirty="0"/>
            </a:br>
            <a:r>
              <a:rPr lang="en-US" dirty="0" err="1"/>
              <a:t>struct</a:t>
            </a:r>
            <a:r>
              <a:rPr lang="en-US" dirty="0"/>
              <a:t> </a:t>
            </a:r>
            <a:r>
              <a:rPr lang="en-US" dirty="0" err="1">
                <a:solidFill>
                  <a:srgbClr val="008000"/>
                </a:solidFill>
              </a:rPr>
              <a:t>hls</a:t>
            </a:r>
            <a:r>
              <a:rPr lang="en-US" dirty="0">
                <a:solidFill>
                  <a:srgbClr val="008000"/>
                </a:solidFill>
              </a:rPr>
              <a:t>::</a:t>
            </a:r>
            <a:r>
              <a:rPr lang="en-US" dirty="0" err="1">
                <a:solidFill>
                  <a:srgbClr val="008000"/>
                </a:solidFill>
              </a:rPr>
              <a:t>ip_fft</a:t>
            </a:r>
            <a:r>
              <a:rPr lang="en-US" dirty="0">
                <a:solidFill>
                  <a:srgbClr val="008000"/>
                </a:solidFill>
              </a:rPr>
              <a:t>::</a:t>
            </a:r>
            <a:r>
              <a:rPr lang="en-US" dirty="0" err="1">
                <a:solidFill>
                  <a:srgbClr val="008000"/>
                </a:solidFill>
              </a:rPr>
              <a:t>config_t</a:t>
            </a:r>
            <a:r>
              <a:rPr lang="en-US" dirty="0">
                <a:solidFill>
                  <a:schemeClr val="accent6">
                    <a:lumMod val="75000"/>
                  </a:schemeClr>
                </a:solidFill>
              </a:rPr>
              <a:t>&lt;</a:t>
            </a:r>
            <a:r>
              <a:rPr lang="en-US" dirty="0">
                <a:solidFill>
                  <a:srgbClr val="7030A0"/>
                </a:solidFill>
              </a:rPr>
              <a:t>STATIC_PARAM</a:t>
            </a:r>
            <a:r>
              <a:rPr lang="en-US" dirty="0">
                <a:solidFill>
                  <a:schemeClr val="accent6">
                    <a:lumMod val="75000"/>
                  </a:schemeClr>
                </a:solidFill>
              </a:rPr>
              <a:t>&gt;</a:t>
            </a:r>
          </a:p>
          <a:p>
            <a:pPr lvl="2"/>
            <a:r>
              <a:rPr lang="en-US" dirty="0"/>
              <a:t>Notice, this also uses the FFT parameterization struct </a:t>
            </a:r>
            <a:endParaRPr lang="en-US" sz="1200" dirty="0"/>
          </a:p>
          <a:p>
            <a:pPr lvl="1"/>
            <a:endParaRPr lang="en-US" dirty="0"/>
          </a:p>
        </p:txBody>
      </p:sp>
      <p:sp>
        <p:nvSpPr>
          <p:cNvPr id="9" name="Slide Number Placeholder 8"/>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77</a:t>
            </a:fld>
            <a:endParaRPr lang="en-US" dirty="0">
              <a:solidFill>
                <a:srgbClr val="0C0C0C">
                  <a:tint val="75000"/>
                </a:srgbClr>
              </a:solidFill>
              <a:latin typeface="Arial"/>
            </a:endParaRPr>
          </a:p>
        </p:txBody>
      </p:sp>
      <p:sp>
        <p:nvSpPr>
          <p:cNvPr id="10" name="TextBox 9">
            <a:extLst>
              <a:ext uri="{FF2B5EF4-FFF2-40B4-BE49-F238E27FC236}">
                <a16:creationId xmlns:a16="http://schemas.microsoft.com/office/drawing/2014/main" id="{5558CCD8-68D2-4EC8-B068-B04426EABA32}"/>
              </a:ext>
            </a:extLst>
          </p:cNvPr>
          <p:cNvSpPr txBox="1"/>
          <p:nvPr/>
        </p:nvSpPr>
        <p:spPr bwMode="auto">
          <a:xfrm>
            <a:off x="6931633" y="2002879"/>
            <a:ext cx="5015523"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kern="0" dirty="0">
                <a:solidFill>
                  <a:srgbClr val="000000"/>
                </a:solidFill>
                <a:latin typeface="Arial"/>
              </a:rPr>
              <a:t>#include "</a:t>
            </a:r>
            <a:r>
              <a:rPr lang="en-US" kern="0" dirty="0" err="1">
                <a:solidFill>
                  <a:srgbClr val="000000"/>
                </a:solidFill>
                <a:latin typeface="Arial"/>
              </a:rPr>
              <a:t>hls_fft.h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err="1">
                <a:solidFill>
                  <a:srgbClr val="000000"/>
                </a:solidFill>
                <a:latin typeface="Arial"/>
              </a:rPr>
              <a:t>hls</a:t>
            </a:r>
            <a:r>
              <a:rPr lang="en-US" kern="0" dirty="0">
                <a:solidFill>
                  <a:srgbClr val="000000"/>
                </a:solidFill>
                <a:latin typeface="Arial"/>
              </a:rPr>
              <a:t>::</a:t>
            </a:r>
            <a:r>
              <a:rPr lang="en-US" kern="0" dirty="0" err="1">
                <a:solidFill>
                  <a:srgbClr val="000000"/>
                </a:solidFill>
                <a:latin typeface="Arial"/>
              </a:rPr>
              <a:t>fft</a:t>
            </a:r>
            <a:r>
              <a:rPr lang="en-US" kern="0" dirty="0">
                <a:solidFill>
                  <a:srgbClr val="000000"/>
                </a:solidFill>
                <a:latin typeface="Arial"/>
              </a:rPr>
              <a:t>&lt;STATIC_PARAM&gt; (                           	// Static Parameterization Struct</a:t>
            </a:r>
          </a:p>
          <a:p>
            <a:pPr defTabSz="914400" fontAlgn="base">
              <a:spcBef>
                <a:spcPct val="0"/>
              </a:spcBef>
              <a:spcAft>
                <a:spcPct val="0"/>
              </a:spcAft>
              <a:defRPr/>
            </a:pPr>
            <a:r>
              <a:rPr lang="en-US" kern="0" dirty="0">
                <a:solidFill>
                  <a:srgbClr val="000000"/>
                </a:solidFill>
                <a:latin typeface="Arial"/>
              </a:rPr>
              <a:t>  INPUT_DATA_ARRAY,            	// Input data fixed or float</a:t>
            </a:r>
          </a:p>
          <a:p>
            <a:pPr defTabSz="914400" fontAlgn="base">
              <a:spcBef>
                <a:spcPct val="0"/>
              </a:spcBef>
              <a:spcAft>
                <a:spcPct val="0"/>
              </a:spcAft>
              <a:defRPr/>
            </a:pPr>
            <a:r>
              <a:rPr lang="en-US" kern="0" dirty="0">
                <a:solidFill>
                  <a:srgbClr val="000000"/>
                </a:solidFill>
                <a:latin typeface="Arial"/>
              </a:rPr>
              <a:t>  OUTPUT_DATA_ARRAY,        	// Output data fixed or float</a:t>
            </a:r>
          </a:p>
          <a:p>
            <a:pPr defTabSz="914400" fontAlgn="base">
              <a:spcBef>
                <a:spcPct val="0"/>
              </a:spcBef>
              <a:spcAft>
                <a:spcPct val="0"/>
              </a:spcAft>
              <a:defRPr/>
            </a:pPr>
            <a:r>
              <a:rPr lang="en-US" kern="0" dirty="0">
                <a:solidFill>
                  <a:srgbClr val="000000"/>
                </a:solidFill>
                <a:latin typeface="Arial"/>
              </a:rPr>
              <a:t>  OUTPUT_STATUS,                 	// Output Status</a:t>
            </a:r>
          </a:p>
          <a:p>
            <a:pPr defTabSz="914400" fontAlgn="base">
              <a:spcBef>
                <a:spcPct val="0"/>
              </a:spcBef>
              <a:spcAft>
                <a:spcPct val="0"/>
              </a:spcAft>
              <a:defRPr/>
            </a:pPr>
            <a:r>
              <a:rPr lang="en-US" b="1" kern="0" dirty="0">
                <a:solidFill>
                  <a:srgbClr val="000000"/>
                </a:solidFill>
                <a:latin typeface="Arial"/>
              </a:rPr>
              <a:t>  INPUT_RUN_TIME_CONFIGURATION); 	// Input Run Time Configuration</a:t>
            </a:r>
          </a:p>
        </p:txBody>
      </p:sp>
      <p:sp>
        <p:nvSpPr>
          <p:cNvPr id="11" name="TextBox 10">
            <a:extLst>
              <a:ext uri="{FF2B5EF4-FFF2-40B4-BE49-F238E27FC236}">
                <a16:creationId xmlns:a16="http://schemas.microsoft.com/office/drawing/2014/main" id="{C3B81DB0-F446-4979-81AA-0E3B58CF952B}"/>
              </a:ext>
            </a:extLst>
          </p:cNvPr>
          <p:cNvSpPr txBox="1"/>
          <p:nvPr/>
        </p:nvSpPr>
        <p:spPr bwMode="auto">
          <a:xfrm>
            <a:off x="1416564" y="3636553"/>
            <a:ext cx="4223824" cy="195438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latin typeface="Arial"/>
              </a:rPr>
              <a:t>#include "</a:t>
            </a:r>
            <a:r>
              <a:rPr lang="en-US" kern="0" dirty="0" err="1">
                <a:solidFill>
                  <a:srgbClr val="000000"/>
                </a:solidFill>
                <a:latin typeface="Arial"/>
              </a:rPr>
              <a:t>hls_fft.h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struct </a:t>
            </a:r>
            <a:r>
              <a:rPr lang="en-US" b="1" kern="0" dirty="0">
                <a:solidFill>
                  <a:srgbClr val="7030A0"/>
                </a:solidFill>
                <a:latin typeface="Arial"/>
              </a:rPr>
              <a:t>param1</a:t>
            </a:r>
            <a:r>
              <a:rPr lang="en-US" kern="0" dirty="0">
                <a:solidFill>
                  <a:srgbClr val="7030A0"/>
                </a:solidFill>
                <a:latin typeface="Arial"/>
              </a:rPr>
              <a:t> </a:t>
            </a:r>
            <a:r>
              <a:rPr lang="en-US" kern="0" dirty="0">
                <a:solidFill>
                  <a:srgbClr val="000000"/>
                </a:solidFill>
                <a:latin typeface="Arial"/>
              </a:rPr>
              <a:t>: </a:t>
            </a:r>
            <a:r>
              <a:rPr lang="en-US" kern="0" dirty="0" err="1">
                <a:solidFill>
                  <a:srgbClr val="8B8D09">
                    <a:lumMod val="75000"/>
                  </a:srgbClr>
                </a:solidFill>
                <a:latin typeface="Arial"/>
              </a:rPr>
              <a:t>hls</a:t>
            </a:r>
            <a:r>
              <a:rPr lang="en-US" kern="0" dirty="0">
                <a:solidFill>
                  <a:srgbClr val="8B8D09">
                    <a:lumMod val="75000"/>
                  </a:srgbClr>
                </a:solidFill>
                <a:latin typeface="Arial"/>
              </a:rPr>
              <a:t>::</a:t>
            </a:r>
            <a:r>
              <a:rPr lang="en-US" kern="0" dirty="0" err="1">
                <a:solidFill>
                  <a:srgbClr val="8B8D09">
                    <a:lumMod val="75000"/>
                  </a:srgbClr>
                </a:solidFill>
                <a:latin typeface="Arial"/>
              </a:rPr>
              <a:t>ip_fft</a:t>
            </a:r>
            <a:r>
              <a:rPr lang="en-US" kern="0" dirty="0">
                <a:solidFill>
                  <a:srgbClr val="8B8D09">
                    <a:lumMod val="75000"/>
                  </a:srgbClr>
                </a:solidFill>
                <a:latin typeface="Arial"/>
              </a:rPr>
              <a:t>::</a:t>
            </a:r>
            <a:r>
              <a:rPr lang="en-US" kern="0" dirty="0" err="1">
                <a:solidFill>
                  <a:srgbClr val="8B8D09">
                    <a:lumMod val="75000"/>
                  </a:srgbClr>
                </a:solidFill>
                <a:latin typeface="Arial"/>
              </a:rPr>
              <a:t>params_t</a:t>
            </a:r>
            <a:r>
              <a:rPr lang="en-US" kern="0" dirty="0">
                <a:solidFill>
                  <a:srgbClr val="8B8D09">
                    <a:lumMod val="75000"/>
                  </a:srgbClr>
                </a:solidFill>
                <a:latin typeface="Arial"/>
              </a:rPr>
              <a:t> </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ordering_opt</a:t>
            </a:r>
            <a:r>
              <a:rPr lang="en-US" kern="0" dirty="0">
                <a:solidFill>
                  <a:srgbClr val="000000"/>
                </a:solidFill>
                <a:latin typeface="Arial"/>
              </a:rPr>
              <a:t> = </a:t>
            </a:r>
            <a:r>
              <a:rPr lang="en-US" kern="0" dirty="0" err="1">
                <a:solidFill>
                  <a:srgbClr val="000000"/>
                </a:solidFill>
                <a:latin typeface="Arial"/>
              </a:rPr>
              <a:t>hls</a:t>
            </a:r>
            <a:r>
              <a:rPr lang="en-US" kern="0" dirty="0">
                <a:solidFill>
                  <a:srgbClr val="000000"/>
                </a:solidFill>
                <a:latin typeface="Arial"/>
              </a:rPr>
              <a:t>::</a:t>
            </a:r>
            <a:r>
              <a:rPr lang="en-US" kern="0" dirty="0" err="1">
                <a:solidFill>
                  <a:srgbClr val="000000"/>
                </a:solidFill>
                <a:latin typeface="Arial"/>
              </a:rPr>
              <a:t>ip_fft</a:t>
            </a:r>
            <a:r>
              <a:rPr lang="en-US" kern="0" dirty="0">
                <a:solidFill>
                  <a:srgbClr val="000000"/>
                </a:solidFill>
                <a:latin typeface="Arial"/>
              </a:rPr>
              <a:t>::</a:t>
            </a:r>
            <a:r>
              <a:rPr lang="en-US" kern="0" dirty="0" err="1">
                <a:solidFill>
                  <a:srgbClr val="000000"/>
                </a:solidFill>
                <a:latin typeface="Arial"/>
              </a:rPr>
              <a:t>natural_order</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config_width</a:t>
            </a:r>
            <a:r>
              <a:rPr lang="en-US" kern="0" dirty="0">
                <a:solidFill>
                  <a:srgbClr val="000000"/>
                </a:solidFill>
                <a:latin typeface="Arial"/>
              </a:rPr>
              <a:t> = FFT_CONFIG_WIDTH;</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status_width</a:t>
            </a:r>
            <a:r>
              <a:rPr lang="en-US" kern="0" dirty="0">
                <a:solidFill>
                  <a:srgbClr val="000000"/>
                </a:solidFill>
                <a:latin typeface="Arial"/>
              </a:rPr>
              <a:t> = FFT_STATUS_WIDTH;</a:t>
            </a:r>
          </a:p>
          <a:p>
            <a:pPr defTabSz="914400" fontAlgn="base">
              <a:spcBef>
                <a:spcPct val="0"/>
              </a:spcBef>
              <a:spcAft>
                <a:spcPct val="0"/>
              </a:spcAft>
              <a:defRPr/>
            </a:pP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err="1">
                <a:solidFill>
                  <a:srgbClr val="000000"/>
                </a:solidFill>
                <a:latin typeface="Arial"/>
              </a:rPr>
              <a:t>typedef</a:t>
            </a:r>
            <a:r>
              <a:rPr lang="en-US" kern="0" dirty="0">
                <a:solidFill>
                  <a:srgbClr val="000000"/>
                </a:solidFill>
                <a:latin typeface="Arial"/>
              </a:rPr>
              <a:t> </a:t>
            </a:r>
            <a:r>
              <a:rPr lang="en-US" b="1" kern="0" dirty="0" err="1">
                <a:solidFill>
                  <a:srgbClr val="008000"/>
                </a:solidFill>
                <a:latin typeface="Arial"/>
              </a:rPr>
              <a:t>hls</a:t>
            </a:r>
            <a:r>
              <a:rPr lang="en-US" b="1" kern="0" dirty="0">
                <a:solidFill>
                  <a:srgbClr val="008000"/>
                </a:solidFill>
                <a:latin typeface="Arial"/>
              </a:rPr>
              <a:t>::</a:t>
            </a:r>
            <a:r>
              <a:rPr lang="en-US" b="1" kern="0" dirty="0" err="1">
                <a:solidFill>
                  <a:srgbClr val="008000"/>
                </a:solidFill>
                <a:latin typeface="Arial"/>
              </a:rPr>
              <a:t>ip_fft</a:t>
            </a:r>
            <a:r>
              <a:rPr lang="en-US" b="1" kern="0" dirty="0">
                <a:solidFill>
                  <a:srgbClr val="008000"/>
                </a:solidFill>
                <a:latin typeface="Arial"/>
              </a:rPr>
              <a:t>::</a:t>
            </a:r>
            <a:r>
              <a:rPr lang="en-US" b="1" kern="0" dirty="0" err="1">
                <a:solidFill>
                  <a:srgbClr val="008000"/>
                </a:solidFill>
                <a:latin typeface="Arial"/>
              </a:rPr>
              <a:t>config_t</a:t>
            </a:r>
            <a:r>
              <a:rPr lang="en-US" kern="0" dirty="0">
                <a:solidFill>
                  <a:srgbClr val="000000"/>
                </a:solidFill>
                <a:latin typeface="Arial"/>
              </a:rPr>
              <a:t>&lt;</a:t>
            </a:r>
            <a:r>
              <a:rPr lang="en-US" b="1" kern="0" dirty="0">
                <a:solidFill>
                  <a:srgbClr val="7030A0"/>
                </a:solidFill>
                <a:latin typeface="Arial"/>
              </a:rPr>
              <a:t>param1</a:t>
            </a:r>
            <a:r>
              <a:rPr lang="en-US" kern="0" dirty="0">
                <a:solidFill>
                  <a:srgbClr val="000000"/>
                </a:solidFill>
                <a:latin typeface="Arial"/>
              </a:rPr>
              <a:t>&gt; </a:t>
            </a:r>
            <a:r>
              <a:rPr lang="en-US" kern="0" dirty="0" err="1">
                <a:solidFill>
                  <a:srgbClr val="000000"/>
                </a:solidFill>
                <a:latin typeface="Arial"/>
              </a:rPr>
              <a:t>config_t</a:t>
            </a:r>
            <a:r>
              <a:rPr lang="en-US" kern="0" dirty="0">
                <a:solidFill>
                  <a:srgbClr val="000000"/>
                </a:solidFill>
                <a:latin typeface="Arial"/>
              </a:rPr>
              <a:t>;</a:t>
            </a:r>
          </a:p>
          <a:p>
            <a:pPr defTabSz="914400" fontAlgn="base">
              <a:spcBef>
                <a:spcPct val="0"/>
              </a:spcBef>
              <a:spcAft>
                <a:spcPct val="0"/>
              </a:spcAft>
              <a:defRPr/>
            </a:pPr>
            <a:r>
              <a:rPr lang="en-US" kern="0" dirty="0" err="1">
                <a:solidFill>
                  <a:srgbClr val="000000"/>
                </a:solidFill>
                <a:latin typeface="Arial"/>
              </a:rPr>
              <a:t>config_t</a:t>
            </a:r>
            <a:r>
              <a:rPr lang="en-US" kern="0" dirty="0">
                <a:solidFill>
                  <a:srgbClr val="000000"/>
                </a:solidFill>
                <a:latin typeface="Arial"/>
              </a:rPr>
              <a:t> </a:t>
            </a:r>
            <a:r>
              <a:rPr lang="en-US" b="1" kern="0" dirty="0">
                <a:solidFill>
                  <a:srgbClr val="000000"/>
                </a:solidFill>
                <a:latin typeface="Arial"/>
              </a:rPr>
              <a:t>fft_config1</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p:txBody>
      </p:sp>
      <p:sp>
        <p:nvSpPr>
          <p:cNvPr id="12" name="TextBox 11">
            <a:extLst>
              <a:ext uri="{FF2B5EF4-FFF2-40B4-BE49-F238E27FC236}">
                <a16:creationId xmlns:a16="http://schemas.microsoft.com/office/drawing/2014/main" id="{17D1D248-2FEC-40B6-A499-7756BDC24A82}"/>
              </a:ext>
            </a:extLst>
          </p:cNvPr>
          <p:cNvSpPr txBox="1"/>
          <p:nvPr/>
        </p:nvSpPr>
        <p:spPr bwMode="auto">
          <a:xfrm>
            <a:off x="6463892" y="3636553"/>
            <a:ext cx="3689472" cy="2292935"/>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kern="0" dirty="0">
                <a:solidFill>
                  <a:srgbClr val="000000"/>
                </a:solidFill>
                <a:latin typeface="Arial"/>
              </a:rPr>
              <a:t>// Set FFT length to 512 =&gt; log2(512) =&gt;9</a:t>
            </a:r>
          </a:p>
          <a:p>
            <a:pPr defTabSz="914400" fontAlgn="base">
              <a:spcBef>
                <a:spcPct val="0"/>
              </a:spcBef>
              <a:spcAft>
                <a:spcPct val="0"/>
              </a:spcAft>
              <a:defRPr/>
            </a:pPr>
            <a:r>
              <a:rPr lang="en-US" sz="1100" b="1" kern="0" dirty="0">
                <a:solidFill>
                  <a:srgbClr val="000000"/>
                </a:solidFill>
                <a:latin typeface="Arial"/>
              </a:rPr>
              <a:t>fft_config1</a:t>
            </a:r>
            <a:r>
              <a:rPr lang="en-US" sz="1100" kern="0" dirty="0">
                <a:solidFill>
                  <a:srgbClr val="000000"/>
                </a:solidFill>
                <a:latin typeface="Arial"/>
              </a:rPr>
              <a:t>-&gt; </a:t>
            </a:r>
            <a:r>
              <a:rPr lang="en-US" sz="1100" kern="0" dirty="0" err="1">
                <a:solidFill>
                  <a:srgbClr val="000000"/>
                </a:solidFill>
                <a:latin typeface="Arial"/>
              </a:rPr>
              <a:t>setNfft</a:t>
            </a:r>
            <a:r>
              <a:rPr lang="en-US" sz="1100" kern="0" dirty="0">
                <a:solidFill>
                  <a:srgbClr val="000000"/>
                </a:solidFill>
                <a:latin typeface="Arial"/>
              </a:rPr>
              <a:t>(9);</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Forward FFT</a:t>
            </a:r>
          </a:p>
          <a:p>
            <a:pPr defTabSz="914400" fontAlgn="base">
              <a:spcBef>
                <a:spcPct val="0"/>
              </a:spcBef>
              <a:spcAft>
                <a:spcPct val="0"/>
              </a:spcAft>
              <a:defRPr/>
            </a:pPr>
            <a:r>
              <a:rPr lang="en-US" sz="1100" b="1" kern="0" dirty="0">
                <a:solidFill>
                  <a:srgbClr val="000000"/>
                </a:solidFill>
                <a:latin typeface="Arial"/>
              </a:rPr>
              <a:t>fft_config1</a:t>
            </a:r>
            <a:r>
              <a:rPr lang="en-US" sz="1100" kern="0" dirty="0">
                <a:solidFill>
                  <a:srgbClr val="000000"/>
                </a:solidFill>
                <a:latin typeface="Arial"/>
              </a:rPr>
              <a:t>-&gt;</a:t>
            </a:r>
            <a:r>
              <a:rPr lang="en-US" sz="1100" kern="0" dirty="0" err="1">
                <a:solidFill>
                  <a:srgbClr val="000000"/>
                </a:solidFill>
                <a:latin typeface="Arial"/>
              </a:rPr>
              <a:t>setDir</a:t>
            </a:r>
            <a:r>
              <a:rPr lang="en-US" sz="1100" kern="0" dirty="0">
                <a:solidFill>
                  <a:srgbClr val="000000"/>
                </a:solidFill>
                <a:latin typeface="Arial"/>
              </a:rPr>
              <a:t>(0);</a:t>
            </a:r>
          </a:p>
          <a:p>
            <a:pPr defTabSz="914400" fontAlgn="base">
              <a:spcBef>
                <a:spcPct val="0"/>
              </a:spcBef>
              <a:spcAft>
                <a:spcPct val="0"/>
              </a:spcAft>
              <a:defRPr/>
            </a:pPr>
            <a:r>
              <a:rPr lang="en-US" sz="1100" kern="0" dirty="0">
                <a:solidFill>
                  <a:srgbClr val="000000"/>
                </a:solidFill>
                <a:latin typeface="Arial"/>
              </a:rPr>
              <a:t>// Inverse FFT </a:t>
            </a:r>
          </a:p>
          <a:p>
            <a:pPr defTabSz="914400" fontAlgn="base">
              <a:spcBef>
                <a:spcPct val="0"/>
              </a:spcBef>
              <a:spcAft>
                <a:spcPct val="0"/>
              </a:spcAft>
              <a:defRPr/>
            </a:pPr>
            <a:r>
              <a:rPr lang="en-US" sz="1100" b="1" kern="0" dirty="0">
                <a:solidFill>
                  <a:srgbClr val="000000"/>
                </a:solidFill>
                <a:latin typeface="Arial"/>
              </a:rPr>
              <a:t>fft_config</a:t>
            </a:r>
            <a:r>
              <a:rPr lang="en-US" sz="1100" kern="0" dirty="0">
                <a:solidFill>
                  <a:srgbClr val="000000"/>
                </a:solidFill>
                <a:latin typeface="Arial"/>
              </a:rPr>
              <a:t>1-&gt;</a:t>
            </a:r>
            <a:r>
              <a:rPr lang="en-US" sz="1100" kern="0" dirty="0" err="1">
                <a:solidFill>
                  <a:srgbClr val="000000"/>
                </a:solidFill>
                <a:latin typeface="Arial"/>
              </a:rPr>
              <a:t>setDir</a:t>
            </a:r>
            <a:r>
              <a:rPr lang="en-US" sz="1100" kern="0" dirty="0">
                <a:solidFill>
                  <a:srgbClr val="000000"/>
                </a:solidFill>
                <a:latin typeface="Arial"/>
              </a:rPr>
              <a:t>(1);</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Set FFT Scaling</a:t>
            </a:r>
          </a:p>
          <a:p>
            <a:pPr defTabSz="914400" fontAlgn="base">
              <a:spcBef>
                <a:spcPct val="0"/>
              </a:spcBef>
              <a:spcAft>
                <a:spcPct val="0"/>
              </a:spcAft>
              <a:defRPr/>
            </a:pPr>
            <a:r>
              <a:rPr lang="en-US" sz="1100" b="1" kern="0" dirty="0">
                <a:solidFill>
                  <a:srgbClr val="000000"/>
                </a:solidFill>
                <a:latin typeface="Arial"/>
              </a:rPr>
              <a:t>fft_config1</a:t>
            </a:r>
            <a:r>
              <a:rPr lang="en-US" sz="1100" kern="0" dirty="0">
                <a:solidFill>
                  <a:srgbClr val="000000"/>
                </a:solidFill>
                <a:latin typeface="Arial"/>
              </a:rPr>
              <a:t>-&gt;</a:t>
            </a:r>
            <a:r>
              <a:rPr lang="en-US" sz="1100" kern="0" dirty="0" err="1">
                <a:solidFill>
                  <a:srgbClr val="000000"/>
                </a:solidFill>
                <a:latin typeface="Arial"/>
              </a:rPr>
              <a:t>setSch</a:t>
            </a:r>
            <a:r>
              <a:rPr lang="en-US" sz="1100" kern="0" dirty="0">
                <a:solidFill>
                  <a:srgbClr val="000000"/>
                </a:solidFill>
                <a:latin typeface="Arial"/>
              </a:rPr>
              <a:t>(0x2AB);</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 FFT IP</a:t>
            </a:r>
          </a:p>
          <a:p>
            <a:pPr defTabSz="914400" fontAlgn="base">
              <a:spcBef>
                <a:spcPct val="0"/>
              </a:spcBef>
              <a:spcAft>
                <a:spcPct val="0"/>
              </a:spcAft>
              <a:defRPr/>
            </a:pPr>
            <a:r>
              <a:rPr lang="en-US" sz="1100" kern="0" dirty="0">
                <a:solidFill>
                  <a:srgbClr val="000000"/>
                </a:solidFill>
                <a:latin typeface="Arial"/>
              </a:rPr>
              <a:t>    </a:t>
            </a:r>
            <a:r>
              <a:rPr lang="en-US" sz="1100" kern="0" dirty="0" err="1">
                <a:solidFill>
                  <a:srgbClr val="000000"/>
                </a:solidFill>
                <a:latin typeface="Arial"/>
              </a:rPr>
              <a:t>hls</a:t>
            </a:r>
            <a:r>
              <a:rPr lang="en-US" sz="1100" kern="0" dirty="0">
                <a:solidFill>
                  <a:srgbClr val="000000"/>
                </a:solidFill>
                <a:latin typeface="Arial"/>
              </a:rPr>
              <a:t>::</a:t>
            </a:r>
            <a:r>
              <a:rPr lang="en-US" sz="1100" kern="0" dirty="0" err="1">
                <a:solidFill>
                  <a:srgbClr val="000000"/>
                </a:solidFill>
                <a:latin typeface="Arial"/>
              </a:rPr>
              <a:t>fft</a:t>
            </a:r>
            <a:r>
              <a:rPr lang="en-US" sz="1100" kern="0" dirty="0">
                <a:solidFill>
                  <a:srgbClr val="000000"/>
                </a:solidFill>
                <a:latin typeface="Arial"/>
              </a:rPr>
              <a:t>&lt;</a:t>
            </a:r>
            <a:r>
              <a:rPr lang="en-US" sz="1100" b="1" kern="0" dirty="0">
                <a:solidFill>
                  <a:srgbClr val="7030A0"/>
                </a:solidFill>
                <a:latin typeface="Arial"/>
              </a:rPr>
              <a:t>param1</a:t>
            </a:r>
            <a:r>
              <a:rPr lang="en-US" sz="1100" kern="0" dirty="0">
                <a:solidFill>
                  <a:srgbClr val="000000"/>
                </a:solidFill>
                <a:latin typeface="Arial"/>
              </a:rPr>
              <a:t>&gt; (xn1, xk1, &amp;fft_status1, &amp;</a:t>
            </a:r>
            <a:r>
              <a:rPr lang="en-US" sz="1100" b="1" kern="0" dirty="0">
                <a:solidFill>
                  <a:srgbClr val="000000"/>
                </a:solidFill>
                <a:latin typeface="Arial"/>
              </a:rPr>
              <a:t>fft_config1</a:t>
            </a:r>
            <a:r>
              <a:rPr lang="en-US" sz="1100" kern="0" dirty="0">
                <a:solidFill>
                  <a:srgbClr val="000000"/>
                </a:solidFill>
                <a:latin typeface="Arial"/>
              </a:rPr>
              <a:t>);</a:t>
            </a:r>
          </a:p>
        </p:txBody>
      </p:sp>
    </p:spTree>
    <p:extLst>
      <p:ext uri="{BB962C8B-B14F-4D97-AF65-F5344CB8AC3E}">
        <p14:creationId xmlns:p14="http://schemas.microsoft.com/office/powerpoint/2010/main" val="30710873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 Run Time Output Status</a:t>
            </a:r>
          </a:p>
        </p:txBody>
      </p:sp>
      <p:sp>
        <p:nvSpPr>
          <p:cNvPr id="2" name="Content Placeholder 1"/>
          <p:cNvSpPr>
            <a:spLocks noGrp="1"/>
          </p:cNvSpPr>
          <p:nvPr>
            <p:ph idx="1"/>
          </p:nvPr>
        </p:nvSpPr>
        <p:spPr/>
        <p:txBody>
          <a:bodyPr/>
          <a:lstStyle/>
          <a:p>
            <a:r>
              <a:rPr lang="en-US" sz="2000" dirty="0"/>
              <a:t>Dynamic Status Monitoring</a:t>
            </a:r>
          </a:p>
          <a:p>
            <a:pPr lvl="1"/>
            <a:r>
              <a:rPr lang="en-US" sz="1800" dirty="0"/>
              <a:t>Parameter OUTPUT_STATUS can be read at run time</a:t>
            </a:r>
            <a:endParaRPr lang="en-US" sz="1400" dirty="0"/>
          </a:p>
          <a:p>
            <a:pPr lvl="1"/>
            <a:r>
              <a:rPr lang="en-US" sz="1800" dirty="0"/>
              <a:t>Access is made using the pre-defined </a:t>
            </a:r>
            <a:br>
              <a:rPr lang="en-US" sz="1800" dirty="0"/>
            </a:br>
            <a:r>
              <a:rPr lang="en-US" sz="1800" dirty="0" err="1"/>
              <a:t>struct</a:t>
            </a:r>
            <a:r>
              <a:rPr lang="en-US" sz="1800" dirty="0"/>
              <a:t> </a:t>
            </a:r>
            <a:r>
              <a:rPr lang="en-US" sz="1800" dirty="0" err="1">
                <a:solidFill>
                  <a:srgbClr val="0070C0"/>
                </a:solidFill>
              </a:rPr>
              <a:t>hls</a:t>
            </a:r>
            <a:r>
              <a:rPr lang="en-US" sz="1800" dirty="0">
                <a:solidFill>
                  <a:srgbClr val="0070C0"/>
                </a:solidFill>
              </a:rPr>
              <a:t>::</a:t>
            </a:r>
            <a:r>
              <a:rPr lang="en-US" sz="1800" dirty="0" err="1">
                <a:solidFill>
                  <a:srgbClr val="0070C0"/>
                </a:solidFill>
              </a:rPr>
              <a:t>ip_fft</a:t>
            </a:r>
            <a:r>
              <a:rPr lang="en-US" sz="1800" dirty="0">
                <a:solidFill>
                  <a:srgbClr val="0070C0"/>
                </a:solidFill>
              </a:rPr>
              <a:t>::</a:t>
            </a:r>
            <a:r>
              <a:rPr lang="en-US" sz="1800" dirty="0" err="1">
                <a:solidFill>
                  <a:srgbClr val="0070C0"/>
                </a:solidFill>
              </a:rPr>
              <a:t>status_t</a:t>
            </a:r>
            <a:r>
              <a:rPr lang="en-US" sz="1800" dirty="0">
                <a:solidFill>
                  <a:schemeClr val="accent6">
                    <a:lumMod val="75000"/>
                  </a:schemeClr>
                </a:solidFill>
              </a:rPr>
              <a:t>&lt;</a:t>
            </a:r>
            <a:r>
              <a:rPr lang="en-US" sz="1800" dirty="0">
                <a:solidFill>
                  <a:srgbClr val="7030A0"/>
                </a:solidFill>
              </a:rPr>
              <a:t>STATIC_PARAM</a:t>
            </a:r>
            <a:r>
              <a:rPr lang="en-US" sz="1800" dirty="0">
                <a:solidFill>
                  <a:schemeClr val="accent6">
                    <a:lumMod val="75000"/>
                  </a:schemeClr>
                </a:solidFill>
              </a:rPr>
              <a:t>&gt;</a:t>
            </a:r>
          </a:p>
          <a:p>
            <a:pPr lvl="2"/>
            <a:r>
              <a:rPr lang="en-US" sz="1400" dirty="0"/>
              <a:t>Notice, this also uses the FFT parameterization struct </a:t>
            </a:r>
          </a:p>
          <a:p>
            <a:pPr lvl="1"/>
            <a:endParaRPr lang="en-US" sz="1400" dirty="0"/>
          </a:p>
        </p:txBody>
      </p:sp>
      <p:sp>
        <p:nvSpPr>
          <p:cNvPr id="9" name="TextBox 8">
            <a:extLst>
              <a:ext uri="{FF2B5EF4-FFF2-40B4-BE49-F238E27FC236}">
                <a16:creationId xmlns:a16="http://schemas.microsoft.com/office/drawing/2014/main" id="{903102FA-B0F3-48E0-BD3B-D6D2045255C4}"/>
              </a:ext>
            </a:extLst>
          </p:cNvPr>
          <p:cNvSpPr txBox="1"/>
          <p:nvPr/>
        </p:nvSpPr>
        <p:spPr bwMode="auto">
          <a:xfrm>
            <a:off x="902215" y="3445766"/>
            <a:ext cx="5370789" cy="195438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rPr>
              <a:t>#include "</a:t>
            </a:r>
            <a:r>
              <a:rPr lang="en-US" kern="0" dirty="0" err="1">
                <a:solidFill>
                  <a:srgbClr val="000000"/>
                </a:solidFill>
              </a:rPr>
              <a:t>hls_fft.h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struct </a:t>
            </a:r>
            <a:r>
              <a:rPr lang="en-US" b="1" kern="0" dirty="0">
                <a:solidFill>
                  <a:srgbClr val="7030A0"/>
                </a:solidFill>
              </a:rPr>
              <a:t>param1</a:t>
            </a:r>
            <a:r>
              <a:rPr lang="en-US" kern="0" dirty="0">
                <a:solidFill>
                  <a:srgbClr val="7030A0"/>
                </a:solidFill>
              </a:rPr>
              <a:t> </a:t>
            </a:r>
            <a:r>
              <a:rPr lang="en-US" kern="0" dirty="0">
                <a:solidFill>
                  <a:srgbClr val="000000"/>
                </a:solidFill>
              </a:rPr>
              <a:t>: </a:t>
            </a:r>
            <a:r>
              <a:rPr lang="en-US" kern="0" dirty="0" err="1">
                <a:solidFill>
                  <a:srgbClr val="8B8D09">
                    <a:lumMod val="75000"/>
                  </a:srgbClr>
                </a:solidFill>
              </a:rPr>
              <a:t>hls</a:t>
            </a:r>
            <a:r>
              <a:rPr lang="en-US" kern="0" dirty="0">
                <a:solidFill>
                  <a:srgbClr val="8B8D09">
                    <a:lumMod val="75000"/>
                  </a:srgbClr>
                </a:solidFill>
              </a:rPr>
              <a:t>::</a:t>
            </a:r>
            <a:r>
              <a:rPr lang="en-US" kern="0" dirty="0" err="1">
                <a:solidFill>
                  <a:srgbClr val="8B8D09">
                    <a:lumMod val="75000"/>
                  </a:srgbClr>
                </a:solidFill>
              </a:rPr>
              <a:t>ip_fft</a:t>
            </a:r>
            <a:r>
              <a:rPr lang="en-US" kern="0" dirty="0">
                <a:solidFill>
                  <a:srgbClr val="8B8D09">
                    <a:lumMod val="75000"/>
                  </a:srgbClr>
                </a:solidFill>
              </a:rPr>
              <a:t>::</a:t>
            </a:r>
            <a:r>
              <a:rPr lang="en-US" kern="0" dirty="0" err="1">
                <a:solidFill>
                  <a:srgbClr val="8B8D09">
                    <a:lumMod val="75000"/>
                  </a:srgbClr>
                </a:solidFill>
              </a:rPr>
              <a:t>params_t</a:t>
            </a:r>
            <a:r>
              <a:rPr lang="en-US" kern="0" dirty="0">
                <a:solidFill>
                  <a:srgbClr val="8B8D09">
                    <a:lumMod val="75000"/>
                  </a:srgbClr>
                </a:solidFill>
              </a:rPr>
              <a:t> </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ordering_opt</a:t>
            </a:r>
            <a:r>
              <a:rPr lang="en-US" kern="0" dirty="0">
                <a:solidFill>
                  <a:srgbClr val="000000"/>
                </a:solidFill>
              </a:rPr>
              <a:t> = </a:t>
            </a:r>
            <a:r>
              <a:rPr lang="en-US" kern="0" dirty="0" err="1">
                <a:solidFill>
                  <a:srgbClr val="000000"/>
                </a:solidFill>
              </a:rPr>
              <a:t>hls</a:t>
            </a:r>
            <a:r>
              <a:rPr lang="en-US" kern="0" dirty="0">
                <a:solidFill>
                  <a:srgbClr val="000000"/>
                </a:solidFill>
              </a:rPr>
              <a:t>::</a:t>
            </a:r>
            <a:r>
              <a:rPr lang="en-US" kern="0" dirty="0" err="1">
                <a:solidFill>
                  <a:srgbClr val="000000"/>
                </a:solidFill>
              </a:rPr>
              <a:t>ip_fft</a:t>
            </a:r>
            <a:r>
              <a:rPr lang="en-US" kern="0" dirty="0">
                <a:solidFill>
                  <a:srgbClr val="000000"/>
                </a:solidFill>
              </a:rPr>
              <a:t>::</a:t>
            </a:r>
            <a:r>
              <a:rPr lang="en-US" kern="0" dirty="0" err="1">
                <a:solidFill>
                  <a:srgbClr val="000000"/>
                </a:solidFill>
              </a:rPr>
              <a:t>natural_order</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config_width</a:t>
            </a:r>
            <a:r>
              <a:rPr lang="en-US" kern="0" dirty="0">
                <a:solidFill>
                  <a:srgbClr val="000000"/>
                </a:solidFill>
              </a:rPr>
              <a:t> = FFT_CONFIG_WIDTH;</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status_width</a:t>
            </a:r>
            <a:r>
              <a:rPr lang="en-US" kern="0" dirty="0">
                <a:solidFill>
                  <a:srgbClr val="000000"/>
                </a:solidFill>
              </a:rPr>
              <a:t> = FFT_STATUS_WIDTH;</a:t>
            </a:r>
          </a:p>
          <a:p>
            <a:pPr defTabSz="914400" fontAlgn="base">
              <a:spcBef>
                <a:spcPct val="0"/>
              </a:spcBef>
              <a:spcAft>
                <a:spcPct val="0"/>
              </a:spcAft>
              <a:defRPr/>
            </a:pP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err="1">
                <a:solidFill>
                  <a:srgbClr val="000000"/>
                </a:solidFill>
              </a:rPr>
              <a:t>typedef</a:t>
            </a:r>
            <a:r>
              <a:rPr lang="en-US" kern="0" dirty="0">
                <a:solidFill>
                  <a:srgbClr val="000000"/>
                </a:solidFill>
              </a:rPr>
              <a:t> </a:t>
            </a:r>
            <a:r>
              <a:rPr lang="en-US" b="1" kern="0" dirty="0" err="1">
                <a:solidFill>
                  <a:srgbClr val="0070C0"/>
                </a:solidFill>
              </a:rPr>
              <a:t>hls</a:t>
            </a:r>
            <a:r>
              <a:rPr lang="en-US" b="1" kern="0" dirty="0">
                <a:solidFill>
                  <a:srgbClr val="0070C0"/>
                </a:solidFill>
              </a:rPr>
              <a:t>::</a:t>
            </a:r>
            <a:r>
              <a:rPr lang="en-US" b="1" kern="0" dirty="0" err="1">
                <a:solidFill>
                  <a:srgbClr val="0070C0"/>
                </a:solidFill>
              </a:rPr>
              <a:t>ip_fft</a:t>
            </a:r>
            <a:r>
              <a:rPr lang="en-US" b="1" kern="0" dirty="0">
                <a:solidFill>
                  <a:srgbClr val="0070C0"/>
                </a:solidFill>
              </a:rPr>
              <a:t>::</a:t>
            </a:r>
            <a:r>
              <a:rPr lang="en-US" b="1" kern="0" dirty="0" err="1">
                <a:solidFill>
                  <a:srgbClr val="0070C0"/>
                </a:solidFill>
              </a:rPr>
              <a:t>status_t</a:t>
            </a:r>
            <a:r>
              <a:rPr lang="en-US" kern="0" dirty="0">
                <a:solidFill>
                  <a:srgbClr val="000000"/>
                </a:solidFill>
              </a:rPr>
              <a:t>&lt;</a:t>
            </a:r>
            <a:r>
              <a:rPr lang="en-US" b="1" kern="0" dirty="0">
                <a:solidFill>
                  <a:srgbClr val="7030A0"/>
                </a:solidFill>
              </a:rPr>
              <a:t>param1</a:t>
            </a:r>
            <a:r>
              <a:rPr lang="en-US" kern="0" dirty="0">
                <a:solidFill>
                  <a:srgbClr val="000000"/>
                </a:solidFill>
              </a:rPr>
              <a:t>&gt; </a:t>
            </a:r>
            <a:r>
              <a:rPr lang="en-US" kern="0" dirty="0" err="1">
                <a:solidFill>
                  <a:srgbClr val="000000"/>
                </a:solidFill>
              </a:rPr>
              <a:t>status_t</a:t>
            </a:r>
            <a:r>
              <a:rPr lang="en-US" kern="0" dirty="0">
                <a:solidFill>
                  <a:srgbClr val="000000"/>
                </a:solidFill>
              </a:rPr>
              <a:t>;</a:t>
            </a:r>
          </a:p>
          <a:p>
            <a:pPr defTabSz="914400" fontAlgn="base">
              <a:spcBef>
                <a:spcPct val="0"/>
              </a:spcBef>
              <a:spcAft>
                <a:spcPct val="0"/>
              </a:spcAft>
              <a:defRPr/>
            </a:pPr>
            <a:r>
              <a:rPr lang="en-US" kern="0" dirty="0" err="1">
                <a:solidFill>
                  <a:srgbClr val="000000"/>
                </a:solidFill>
              </a:rPr>
              <a:t>status_t</a:t>
            </a:r>
            <a:r>
              <a:rPr lang="en-US" kern="0" dirty="0">
                <a:solidFill>
                  <a:srgbClr val="000000"/>
                </a:solidFill>
              </a:rPr>
              <a:t> </a:t>
            </a:r>
            <a:r>
              <a:rPr lang="en-US" b="1" kern="0" dirty="0">
                <a:solidFill>
                  <a:srgbClr val="000000"/>
                </a:solidFill>
              </a:rPr>
              <a:t>fft_status1</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p:txBody>
      </p:sp>
      <p:sp>
        <p:nvSpPr>
          <p:cNvPr id="11" name="TextBox 10">
            <a:extLst>
              <a:ext uri="{FF2B5EF4-FFF2-40B4-BE49-F238E27FC236}">
                <a16:creationId xmlns:a16="http://schemas.microsoft.com/office/drawing/2014/main" id="{9CF4AF0F-B78E-4984-A569-BCEC243E9789}"/>
              </a:ext>
            </a:extLst>
          </p:cNvPr>
          <p:cNvSpPr txBox="1"/>
          <p:nvPr/>
        </p:nvSpPr>
        <p:spPr bwMode="auto">
          <a:xfrm>
            <a:off x="6469889" y="3453006"/>
            <a:ext cx="3683060" cy="1615827"/>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kern="0" dirty="0">
                <a:solidFill>
                  <a:srgbClr val="000000"/>
                </a:solidFill>
              </a:rPr>
              <a:t> // FFT IP</a:t>
            </a:r>
          </a:p>
          <a:p>
            <a:pPr defTabSz="914400" fontAlgn="base">
              <a:spcBef>
                <a:spcPct val="0"/>
              </a:spcBef>
              <a:spcAft>
                <a:spcPct val="0"/>
              </a:spcAft>
              <a:defRPr/>
            </a:pPr>
            <a:r>
              <a:rPr lang="en-US" sz="1100" kern="0" dirty="0">
                <a:solidFill>
                  <a:srgbClr val="000000"/>
                </a:solidFill>
              </a:rPr>
              <a:t>    </a:t>
            </a:r>
            <a:r>
              <a:rPr lang="en-US" sz="1100" kern="0" dirty="0" err="1">
                <a:solidFill>
                  <a:srgbClr val="000000"/>
                </a:solidFill>
              </a:rPr>
              <a:t>hls</a:t>
            </a:r>
            <a:r>
              <a:rPr lang="en-US" sz="1100" kern="0" dirty="0">
                <a:solidFill>
                  <a:srgbClr val="000000"/>
                </a:solidFill>
              </a:rPr>
              <a:t>::</a:t>
            </a:r>
            <a:r>
              <a:rPr lang="en-US" sz="1100" kern="0" dirty="0" err="1">
                <a:solidFill>
                  <a:srgbClr val="000000"/>
                </a:solidFill>
              </a:rPr>
              <a:t>fft</a:t>
            </a:r>
            <a:r>
              <a:rPr lang="en-US" sz="1100" kern="0" dirty="0">
                <a:solidFill>
                  <a:srgbClr val="000000"/>
                </a:solidFill>
              </a:rPr>
              <a:t>&lt;</a:t>
            </a:r>
            <a:r>
              <a:rPr lang="en-US" sz="1100" b="1" kern="0" dirty="0">
                <a:solidFill>
                  <a:srgbClr val="7030A0"/>
                </a:solidFill>
              </a:rPr>
              <a:t>param1</a:t>
            </a:r>
            <a:r>
              <a:rPr lang="en-US" sz="1100" kern="0" dirty="0">
                <a:solidFill>
                  <a:srgbClr val="000000"/>
                </a:solidFill>
              </a:rPr>
              <a:t>&gt; (xn1, xk1, &amp;</a:t>
            </a:r>
            <a:r>
              <a:rPr lang="en-US" sz="1100" b="1" kern="0" dirty="0">
                <a:solidFill>
                  <a:srgbClr val="000000"/>
                </a:solidFill>
              </a:rPr>
              <a:t>fft_status1</a:t>
            </a:r>
            <a:r>
              <a:rPr lang="en-US" sz="1100" kern="0" dirty="0">
                <a:solidFill>
                  <a:srgbClr val="000000"/>
                </a:solidFill>
              </a:rPr>
              <a:t>, &amp;fft_config1);</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Check the overflow flag</a:t>
            </a:r>
          </a:p>
          <a:p>
            <a:pPr defTabSz="914400" fontAlgn="base">
              <a:spcBef>
                <a:spcPct val="0"/>
              </a:spcBef>
              <a:spcAft>
                <a:spcPct val="0"/>
              </a:spcAft>
              <a:defRPr/>
            </a:pPr>
            <a:r>
              <a:rPr lang="en-US" sz="1100" kern="0" dirty="0">
                <a:solidFill>
                  <a:srgbClr val="000000"/>
                </a:solidFill>
              </a:rPr>
              <a:t>    </a:t>
            </a:r>
            <a:r>
              <a:rPr lang="en-US" sz="1100" kern="0" dirty="0" err="1">
                <a:solidFill>
                  <a:srgbClr val="000000"/>
                </a:solidFill>
              </a:rPr>
              <a:t>bool</a:t>
            </a:r>
            <a:r>
              <a:rPr lang="en-US" sz="1100" kern="0" dirty="0">
                <a:solidFill>
                  <a:srgbClr val="000000"/>
                </a:solidFill>
              </a:rPr>
              <a:t> *</a:t>
            </a:r>
            <a:r>
              <a:rPr lang="en-US" sz="1100" kern="0" dirty="0" err="1">
                <a:solidFill>
                  <a:srgbClr val="000000"/>
                </a:solidFill>
              </a:rPr>
              <a:t>ovflo</a:t>
            </a:r>
            <a:r>
              <a:rPr lang="en-US" sz="1100" kern="0" dirty="0">
                <a:solidFill>
                  <a:srgbClr val="000000"/>
                </a:solidFill>
              </a:rPr>
              <a:t> = </a:t>
            </a:r>
            <a:r>
              <a:rPr lang="en-US" sz="1100" b="1" kern="0" dirty="0">
                <a:solidFill>
                  <a:srgbClr val="000000"/>
                </a:solidFill>
              </a:rPr>
              <a:t>fft_status1-</a:t>
            </a:r>
            <a:r>
              <a:rPr lang="en-US" sz="1100" kern="0" dirty="0">
                <a:solidFill>
                  <a:srgbClr val="000000"/>
                </a:solidFill>
              </a:rPr>
              <a:t>&gt;</a:t>
            </a:r>
            <a:r>
              <a:rPr lang="en-US" sz="1100" kern="0" dirty="0" err="1">
                <a:solidFill>
                  <a:srgbClr val="000000"/>
                </a:solidFill>
              </a:rPr>
              <a:t>getOvflo</a:t>
            </a:r>
            <a:r>
              <a:rPr lang="en-US" sz="1100" kern="0" dirty="0">
                <a:solidFill>
                  <a:srgbClr val="000000"/>
                </a:solidFill>
              </a:rPr>
              <a:t>();</a:t>
            </a:r>
          </a:p>
          <a:p>
            <a:pPr defTabSz="914400" fontAlgn="base">
              <a:spcBef>
                <a:spcPct val="0"/>
              </a:spcBef>
              <a:spcAft>
                <a:spcPct val="0"/>
              </a:spcAft>
              <a:defRPr/>
            </a:pPr>
            <a:r>
              <a:rPr lang="en-US" sz="1100" kern="0" dirty="0">
                <a:solidFill>
                  <a:srgbClr val="000000"/>
                </a:solidFill>
              </a:rPr>
              <a:t> </a:t>
            </a:r>
          </a:p>
          <a:p>
            <a:pPr defTabSz="914400" fontAlgn="base">
              <a:spcBef>
                <a:spcPct val="0"/>
              </a:spcBef>
              <a:spcAft>
                <a:spcPct val="0"/>
              </a:spcAft>
              <a:defRPr/>
            </a:pPr>
            <a:r>
              <a:rPr lang="en-US" sz="1100" kern="0" dirty="0">
                <a:solidFill>
                  <a:srgbClr val="000000"/>
                </a:solidFill>
              </a:rPr>
              <a:t>// Obtain the block exponent</a:t>
            </a:r>
          </a:p>
          <a:p>
            <a:pPr defTabSz="914400" fontAlgn="base">
              <a:spcBef>
                <a:spcPct val="0"/>
              </a:spcBef>
              <a:spcAft>
                <a:spcPct val="0"/>
              </a:spcAft>
              <a:defRPr/>
            </a:pPr>
            <a:r>
              <a:rPr lang="en-US" sz="1100" kern="0" dirty="0">
                <a:solidFill>
                  <a:srgbClr val="000000"/>
                </a:solidFill>
              </a:rPr>
              <a:t>    unsigned </a:t>
            </a:r>
            <a:r>
              <a:rPr lang="en-US" sz="1100" kern="0" dirty="0" err="1">
                <a:solidFill>
                  <a:srgbClr val="000000"/>
                </a:solidFill>
              </a:rPr>
              <a:t>int</a:t>
            </a:r>
            <a:r>
              <a:rPr lang="en-US" sz="1100" kern="0" dirty="0">
                <a:solidFill>
                  <a:srgbClr val="000000"/>
                </a:solidFill>
              </a:rPr>
              <a:t> *</a:t>
            </a:r>
            <a:r>
              <a:rPr lang="en-US" sz="1100" kern="0" dirty="0" err="1">
                <a:solidFill>
                  <a:srgbClr val="000000"/>
                </a:solidFill>
              </a:rPr>
              <a:t>blk_exp</a:t>
            </a:r>
            <a:r>
              <a:rPr lang="en-US" sz="1100" kern="0" dirty="0">
                <a:solidFill>
                  <a:srgbClr val="000000"/>
                </a:solidFill>
              </a:rPr>
              <a:t> = </a:t>
            </a:r>
            <a:r>
              <a:rPr lang="en-US" sz="1100" b="1" kern="0" dirty="0">
                <a:solidFill>
                  <a:srgbClr val="000000"/>
                </a:solidFill>
              </a:rPr>
              <a:t>fft_status1-</a:t>
            </a:r>
            <a:r>
              <a:rPr lang="en-US" sz="1100" kern="0" dirty="0">
                <a:solidFill>
                  <a:srgbClr val="000000"/>
                </a:solidFill>
              </a:rPr>
              <a:t>&gt; </a:t>
            </a:r>
            <a:r>
              <a:rPr lang="en-US" sz="1100" kern="0" dirty="0" err="1">
                <a:solidFill>
                  <a:srgbClr val="000000"/>
                </a:solidFill>
              </a:rPr>
              <a:t>getBlkExp</a:t>
            </a:r>
            <a:r>
              <a:rPr lang="en-US" sz="1100" kern="0" dirty="0">
                <a:solidFill>
                  <a:srgbClr val="000000"/>
                </a:solidFill>
              </a:rPr>
              <a:t>();</a:t>
            </a:r>
          </a:p>
          <a:p>
            <a:pPr defTabSz="914400" fontAlgn="base">
              <a:spcBef>
                <a:spcPct val="0"/>
              </a:spcBef>
              <a:spcAft>
                <a:spcPct val="0"/>
              </a:spcAft>
              <a:defRPr/>
            </a:pPr>
            <a:endParaRPr lang="en-US" sz="1100" kern="0" dirty="0">
              <a:solidFill>
                <a:srgbClr val="000000"/>
              </a:solidFill>
            </a:endParaRPr>
          </a:p>
        </p:txBody>
      </p:sp>
      <p:sp>
        <p:nvSpPr>
          <p:cNvPr id="12" name="TextBox 11">
            <a:extLst>
              <a:ext uri="{FF2B5EF4-FFF2-40B4-BE49-F238E27FC236}">
                <a16:creationId xmlns:a16="http://schemas.microsoft.com/office/drawing/2014/main" id="{B841CA17-B20E-48F5-9AA2-BAA03D7E1BCA}"/>
              </a:ext>
            </a:extLst>
          </p:cNvPr>
          <p:cNvSpPr txBox="1"/>
          <p:nvPr/>
        </p:nvSpPr>
        <p:spPr bwMode="auto">
          <a:xfrm>
            <a:off x="7191763" y="1830693"/>
            <a:ext cx="4852668"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kern="0" dirty="0">
                <a:solidFill>
                  <a:srgbClr val="000000"/>
                </a:solidFill>
              </a:rPr>
              <a:t>#include "</a:t>
            </a:r>
            <a:r>
              <a:rPr lang="en-US" kern="0" dirty="0" err="1">
                <a:solidFill>
                  <a:srgbClr val="000000"/>
                </a:solidFill>
              </a:rPr>
              <a:t>hls_fft.h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err="1">
                <a:solidFill>
                  <a:srgbClr val="000000"/>
                </a:solidFill>
              </a:rPr>
              <a:t>hls</a:t>
            </a:r>
            <a:r>
              <a:rPr lang="en-US" kern="0" dirty="0">
                <a:solidFill>
                  <a:srgbClr val="000000"/>
                </a:solidFill>
              </a:rPr>
              <a:t>::</a:t>
            </a:r>
            <a:r>
              <a:rPr lang="en-US" kern="0" dirty="0" err="1">
                <a:solidFill>
                  <a:srgbClr val="000000"/>
                </a:solidFill>
              </a:rPr>
              <a:t>fft</a:t>
            </a:r>
            <a:r>
              <a:rPr lang="en-US" kern="0" dirty="0">
                <a:solidFill>
                  <a:srgbClr val="000000"/>
                </a:solidFill>
              </a:rPr>
              <a:t>&lt;STATIC_PARAM&gt; (                           	// Static Parameterization Struct</a:t>
            </a:r>
          </a:p>
          <a:p>
            <a:pPr defTabSz="914400" fontAlgn="base">
              <a:spcBef>
                <a:spcPct val="0"/>
              </a:spcBef>
              <a:spcAft>
                <a:spcPct val="0"/>
              </a:spcAft>
              <a:defRPr/>
            </a:pPr>
            <a:r>
              <a:rPr lang="en-US" kern="0" dirty="0">
                <a:solidFill>
                  <a:srgbClr val="000000"/>
                </a:solidFill>
              </a:rPr>
              <a:t>  INPUT_DATA_ARRAY,            	// Input data fixed or float</a:t>
            </a:r>
          </a:p>
          <a:p>
            <a:pPr defTabSz="914400" fontAlgn="base">
              <a:spcBef>
                <a:spcPct val="0"/>
              </a:spcBef>
              <a:spcAft>
                <a:spcPct val="0"/>
              </a:spcAft>
              <a:defRPr/>
            </a:pPr>
            <a:r>
              <a:rPr lang="en-US" kern="0" dirty="0">
                <a:solidFill>
                  <a:srgbClr val="000000"/>
                </a:solidFill>
              </a:rPr>
              <a:t>  OUTPUT_DATA_ARRAY,        	// Output data fixed or float</a:t>
            </a:r>
          </a:p>
          <a:p>
            <a:pPr defTabSz="914400" fontAlgn="base">
              <a:spcBef>
                <a:spcPct val="0"/>
              </a:spcBef>
              <a:spcAft>
                <a:spcPct val="0"/>
              </a:spcAft>
              <a:defRPr/>
            </a:pPr>
            <a:r>
              <a:rPr lang="en-US" b="1" kern="0" dirty="0">
                <a:solidFill>
                  <a:srgbClr val="000000"/>
                </a:solidFill>
              </a:rPr>
              <a:t>  OUTPUT_STATUS,                 	// Output Status</a:t>
            </a:r>
          </a:p>
          <a:p>
            <a:pPr defTabSz="914400" fontAlgn="base">
              <a:spcBef>
                <a:spcPct val="0"/>
              </a:spcBef>
              <a:spcAft>
                <a:spcPct val="0"/>
              </a:spcAft>
              <a:defRPr/>
            </a:pPr>
            <a:r>
              <a:rPr lang="en-US" kern="0" dirty="0">
                <a:solidFill>
                  <a:srgbClr val="000000"/>
                </a:solidFill>
              </a:rPr>
              <a:t>  INPUT_RUN_TIME_CONFIGURATION); 	// Input Run Time Configuration</a:t>
            </a:r>
          </a:p>
        </p:txBody>
      </p:sp>
      <p:sp>
        <p:nvSpPr>
          <p:cNvPr id="10" name="Slide Number Placeholder 5">
            <a:extLst>
              <a:ext uri="{FF2B5EF4-FFF2-40B4-BE49-F238E27FC236}">
                <a16:creationId xmlns:a16="http://schemas.microsoft.com/office/drawing/2014/main" id="{470495AD-9058-490E-8706-695D33272A0C}"/>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78</a:t>
            </a:fld>
            <a:endParaRPr lang="en-US" dirty="0"/>
          </a:p>
        </p:txBody>
      </p:sp>
    </p:spTree>
    <p:extLst>
      <p:ext uri="{BB962C8B-B14F-4D97-AF65-F5344CB8AC3E}">
        <p14:creationId xmlns:p14="http://schemas.microsoft.com/office/powerpoint/2010/main" val="2997207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FFT Function: Run Time Output Status</a:t>
            </a:r>
          </a:p>
        </p:txBody>
      </p:sp>
      <p:sp>
        <p:nvSpPr>
          <p:cNvPr id="2" name="Content Placeholder 1"/>
          <p:cNvSpPr>
            <a:spLocks noGrp="1"/>
          </p:cNvSpPr>
          <p:nvPr>
            <p:ph idx="1"/>
          </p:nvPr>
        </p:nvSpPr>
        <p:spPr/>
        <p:txBody>
          <a:bodyPr/>
          <a:lstStyle/>
          <a:p>
            <a:r>
              <a:rPr lang="en-US" dirty="0"/>
              <a:t>Dynamic Status Monitoring</a:t>
            </a:r>
          </a:p>
          <a:p>
            <a:pPr lvl="1"/>
            <a:r>
              <a:rPr lang="en-US" dirty="0"/>
              <a:t>Parameter OUTPUT_STATUS can be read at run time</a:t>
            </a:r>
            <a:endParaRPr lang="en-US" sz="1600" dirty="0"/>
          </a:p>
          <a:p>
            <a:pPr lvl="1"/>
            <a:r>
              <a:rPr lang="en-US" dirty="0"/>
              <a:t>Access is made using the pre-defined </a:t>
            </a:r>
            <a:br>
              <a:rPr lang="en-US" dirty="0"/>
            </a:br>
            <a:r>
              <a:rPr lang="en-US" dirty="0" err="1"/>
              <a:t>struct</a:t>
            </a:r>
            <a:r>
              <a:rPr lang="en-US" dirty="0"/>
              <a:t> </a:t>
            </a:r>
            <a:r>
              <a:rPr lang="en-US" dirty="0" err="1">
                <a:solidFill>
                  <a:srgbClr val="0070C0"/>
                </a:solidFill>
              </a:rPr>
              <a:t>hls</a:t>
            </a:r>
            <a:r>
              <a:rPr lang="en-US" dirty="0">
                <a:solidFill>
                  <a:srgbClr val="0070C0"/>
                </a:solidFill>
              </a:rPr>
              <a:t>::</a:t>
            </a:r>
            <a:r>
              <a:rPr lang="en-US" dirty="0" err="1">
                <a:solidFill>
                  <a:srgbClr val="0070C0"/>
                </a:solidFill>
              </a:rPr>
              <a:t>ip_fft</a:t>
            </a:r>
            <a:r>
              <a:rPr lang="en-US" dirty="0">
                <a:solidFill>
                  <a:srgbClr val="0070C0"/>
                </a:solidFill>
              </a:rPr>
              <a:t>::</a:t>
            </a:r>
            <a:r>
              <a:rPr lang="en-US" dirty="0" err="1">
                <a:solidFill>
                  <a:srgbClr val="0070C0"/>
                </a:solidFill>
              </a:rPr>
              <a:t>status_t</a:t>
            </a:r>
            <a:r>
              <a:rPr lang="en-US" dirty="0">
                <a:solidFill>
                  <a:schemeClr val="accent6">
                    <a:lumMod val="75000"/>
                  </a:schemeClr>
                </a:solidFill>
              </a:rPr>
              <a:t>&lt;</a:t>
            </a:r>
            <a:r>
              <a:rPr lang="en-US" dirty="0">
                <a:solidFill>
                  <a:srgbClr val="7030A0"/>
                </a:solidFill>
              </a:rPr>
              <a:t>STATIC_PARAM</a:t>
            </a:r>
            <a:r>
              <a:rPr lang="en-US" dirty="0">
                <a:solidFill>
                  <a:schemeClr val="accent6">
                    <a:lumMod val="75000"/>
                  </a:schemeClr>
                </a:solidFill>
              </a:rPr>
              <a:t>&gt;</a:t>
            </a:r>
          </a:p>
          <a:p>
            <a:pPr lvl="2"/>
            <a:r>
              <a:rPr lang="en-US" dirty="0"/>
              <a:t>Notice, this also uses the FFT parameterization struct </a:t>
            </a:r>
          </a:p>
          <a:p>
            <a:pPr lvl="1"/>
            <a:endParaRPr lang="en-US" sz="1600" dirty="0"/>
          </a:p>
        </p:txBody>
      </p:sp>
      <p:sp>
        <p:nvSpPr>
          <p:cNvPr id="8" name="Slide Number Placeholder 7"/>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79</a:t>
            </a:fld>
            <a:endParaRPr lang="en-US" dirty="0">
              <a:solidFill>
                <a:srgbClr val="0C0C0C">
                  <a:tint val="75000"/>
                </a:srgbClr>
              </a:solidFill>
              <a:latin typeface="Arial"/>
            </a:endParaRPr>
          </a:p>
        </p:txBody>
      </p:sp>
      <p:sp>
        <p:nvSpPr>
          <p:cNvPr id="9" name="TextBox 8">
            <a:extLst>
              <a:ext uri="{FF2B5EF4-FFF2-40B4-BE49-F238E27FC236}">
                <a16:creationId xmlns:a16="http://schemas.microsoft.com/office/drawing/2014/main" id="{903102FA-B0F3-48E0-BD3B-D6D2045255C4}"/>
              </a:ext>
            </a:extLst>
          </p:cNvPr>
          <p:cNvSpPr txBox="1"/>
          <p:nvPr/>
        </p:nvSpPr>
        <p:spPr bwMode="auto">
          <a:xfrm>
            <a:off x="902215" y="3445766"/>
            <a:ext cx="5370789" cy="195438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latin typeface="Arial"/>
              </a:rPr>
              <a:t>#include "</a:t>
            </a:r>
            <a:r>
              <a:rPr lang="en-US" kern="0" dirty="0" err="1">
                <a:solidFill>
                  <a:srgbClr val="000000"/>
                </a:solidFill>
                <a:latin typeface="Arial"/>
              </a:rPr>
              <a:t>hls_fft.h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struct </a:t>
            </a:r>
            <a:r>
              <a:rPr lang="en-US" b="1" kern="0" dirty="0">
                <a:solidFill>
                  <a:srgbClr val="7030A0"/>
                </a:solidFill>
                <a:latin typeface="Arial"/>
              </a:rPr>
              <a:t>param1</a:t>
            </a:r>
            <a:r>
              <a:rPr lang="en-US" kern="0" dirty="0">
                <a:solidFill>
                  <a:srgbClr val="7030A0"/>
                </a:solidFill>
                <a:latin typeface="Arial"/>
              </a:rPr>
              <a:t> </a:t>
            </a:r>
            <a:r>
              <a:rPr lang="en-US" kern="0" dirty="0">
                <a:solidFill>
                  <a:srgbClr val="000000"/>
                </a:solidFill>
                <a:latin typeface="Arial"/>
              </a:rPr>
              <a:t>: </a:t>
            </a:r>
            <a:r>
              <a:rPr lang="en-US" kern="0" dirty="0" err="1">
                <a:solidFill>
                  <a:srgbClr val="8B8D09">
                    <a:lumMod val="75000"/>
                  </a:srgbClr>
                </a:solidFill>
                <a:latin typeface="Arial"/>
              </a:rPr>
              <a:t>hls</a:t>
            </a:r>
            <a:r>
              <a:rPr lang="en-US" kern="0" dirty="0">
                <a:solidFill>
                  <a:srgbClr val="8B8D09">
                    <a:lumMod val="75000"/>
                  </a:srgbClr>
                </a:solidFill>
                <a:latin typeface="Arial"/>
              </a:rPr>
              <a:t>::</a:t>
            </a:r>
            <a:r>
              <a:rPr lang="en-US" kern="0" dirty="0" err="1">
                <a:solidFill>
                  <a:srgbClr val="8B8D09">
                    <a:lumMod val="75000"/>
                  </a:srgbClr>
                </a:solidFill>
                <a:latin typeface="Arial"/>
              </a:rPr>
              <a:t>ip_fft</a:t>
            </a:r>
            <a:r>
              <a:rPr lang="en-US" kern="0" dirty="0">
                <a:solidFill>
                  <a:srgbClr val="8B8D09">
                    <a:lumMod val="75000"/>
                  </a:srgbClr>
                </a:solidFill>
                <a:latin typeface="Arial"/>
              </a:rPr>
              <a:t>::</a:t>
            </a:r>
            <a:r>
              <a:rPr lang="en-US" kern="0" dirty="0" err="1">
                <a:solidFill>
                  <a:srgbClr val="8B8D09">
                    <a:lumMod val="75000"/>
                  </a:srgbClr>
                </a:solidFill>
                <a:latin typeface="Arial"/>
              </a:rPr>
              <a:t>params_t</a:t>
            </a:r>
            <a:r>
              <a:rPr lang="en-US" kern="0" dirty="0">
                <a:solidFill>
                  <a:srgbClr val="8B8D09">
                    <a:lumMod val="75000"/>
                  </a:srgbClr>
                </a:solidFill>
                <a:latin typeface="Arial"/>
              </a:rPr>
              <a:t> </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ordering_opt</a:t>
            </a:r>
            <a:r>
              <a:rPr lang="en-US" kern="0" dirty="0">
                <a:solidFill>
                  <a:srgbClr val="000000"/>
                </a:solidFill>
                <a:latin typeface="Arial"/>
              </a:rPr>
              <a:t> = </a:t>
            </a:r>
            <a:r>
              <a:rPr lang="en-US" kern="0" dirty="0" err="1">
                <a:solidFill>
                  <a:srgbClr val="000000"/>
                </a:solidFill>
                <a:latin typeface="Arial"/>
              </a:rPr>
              <a:t>hls</a:t>
            </a:r>
            <a:r>
              <a:rPr lang="en-US" kern="0" dirty="0">
                <a:solidFill>
                  <a:srgbClr val="000000"/>
                </a:solidFill>
                <a:latin typeface="Arial"/>
              </a:rPr>
              <a:t>::</a:t>
            </a:r>
            <a:r>
              <a:rPr lang="en-US" kern="0" dirty="0" err="1">
                <a:solidFill>
                  <a:srgbClr val="000000"/>
                </a:solidFill>
                <a:latin typeface="Arial"/>
              </a:rPr>
              <a:t>ip_fft</a:t>
            </a:r>
            <a:r>
              <a:rPr lang="en-US" kern="0" dirty="0">
                <a:solidFill>
                  <a:srgbClr val="000000"/>
                </a:solidFill>
                <a:latin typeface="Arial"/>
              </a:rPr>
              <a:t>::</a:t>
            </a:r>
            <a:r>
              <a:rPr lang="en-US" kern="0" dirty="0" err="1">
                <a:solidFill>
                  <a:srgbClr val="000000"/>
                </a:solidFill>
                <a:latin typeface="Arial"/>
              </a:rPr>
              <a:t>natural_order</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config_width</a:t>
            </a:r>
            <a:r>
              <a:rPr lang="en-US" kern="0" dirty="0">
                <a:solidFill>
                  <a:srgbClr val="000000"/>
                </a:solidFill>
                <a:latin typeface="Arial"/>
              </a:rPr>
              <a:t> = FFT_CONFIG_WIDTH;</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status_width</a:t>
            </a:r>
            <a:r>
              <a:rPr lang="en-US" kern="0" dirty="0">
                <a:solidFill>
                  <a:srgbClr val="000000"/>
                </a:solidFill>
                <a:latin typeface="Arial"/>
              </a:rPr>
              <a:t> = FFT_STATUS_WIDTH;</a:t>
            </a:r>
          </a:p>
          <a:p>
            <a:pPr defTabSz="914400" fontAlgn="base">
              <a:spcBef>
                <a:spcPct val="0"/>
              </a:spcBef>
              <a:spcAft>
                <a:spcPct val="0"/>
              </a:spcAft>
              <a:defRPr/>
            </a:pP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err="1">
                <a:solidFill>
                  <a:srgbClr val="000000"/>
                </a:solidFill>
                <a:latin typeface="Arial"/>
              </a:rPr>
              <a:t>typedef</a:t>
            </a:r>
            <a:r>
              <a:rPr lang="en-US" kern="0" dirty="0">
                <a:solidFill>
                  <a:srgbClr val="000000"/>
                </a:solidFill>
                <a:latin typeface="Arial"/>
              </a:rPr>
              <a:t> </a:t>
            </a:r>
            <a:r>
              <a:rPr lang="en-US" b="1" kern="0" dirty="0" err="1">
                <a:solidFill>
                  <a:srgbClr val="0070C0"/>
                </a:solidFill>
                <a:latin typeface="Arial"/>
              </a:rPr>
              <a:t>hls</a:t>
            </a:r>
            <a:r>
              <a:rPr lang="en-US" b="1" kern="0" dirty="0">
                <a:solidFill>
                  <a:srgbClr val="0070C0"/>
                </a:solidFill>
                <a:latin typeface="Arial"/>
              </a:rPr>
              <a:t>::</a:t>
            </a:r>
            <a:r>
              <a:rPr lang="en-US" b="1" kern="0" dirty="0" err="1">
                <a:solidFill>
                  <a:srgbClr val="0070C0"/>
                </a:solidFill>
                <a:latin typeface="Arial"/>
              </a:rPr>
              <a:t>ip_fft</a:t>
            </a:r>
            <a:r>
              <a:rPr lang="en-US" b="1" kern="0" dirty="0">
                <a:solidFill>
                  <a:srgbClr val="0070C0"/>
                </a:solidFill>
                <a:latin typeface="Arial"/>
              </a:rPr>
              <a:t>::</a:t>
            </a:r>
            <a:r>
              <a:rPr lang="en-US" b="1" kern="0" dirty="0" err="1">
                <a:solidFill>
                  <a:srgbClr val="0070C0"/>
                </a:solidFill>
                <a:latin typeface="Arial"/>
              </a:rPr>
              <a:t>status_t</a:t>
            </a:r>
            <a:r>
              <a:rPr lang="en-US" kern="0" dirty="0">
                <a:solidFill>
                  <a:srgbClr val="000000"/>
                </a:solidFill>
                <a:latin typeface="Arial"/>
              </a:rPr>
              <a:t>&lt;</a:t>
            </a:r>
            <a:r>
              <a:rPr lang="en-US" b="1" kern="0" dirty="0">
                <a:solidFill>
                  <a:srgbClr val="7030A0"/>
                </a:solidFill>
                <a:latin typeface="Arial"/>
              </a:rPr>
              <a:t>param1</a:t>
            </a:r>
            <a:r>
              <a:rPr lang="en-US" kern="0" dirty="0">
                <a:solidFill>
                  <a:srgbClr val="000000"/>
                </a:solidFill>
                <a:latin typeface="Arial"/>
              </a:rPr>
              <a:t>&gt; </a:t>
            </a:r>
            <a:r>
              <a:rPr lang="en-US" kern="0" dirty="0" err="1">
                <a:solidFill>
                  <a:srgbClr val="000000"/>
                </a:solidFill>
                <a:latin typeface="Arial"/>
              </a:rPr>
              <a:t>status_t</a:t>
            </a:r>
            <a:r>
              <a:rPr lang="en-US" kern="0" dirty="0">
                <a:solidFill>
                  <a:srgbClr val="000000"/>
                </a:solidFill>
                <a:latin typeface="Arial"/>
              </a:rPr>
              <a:t>;</a:t>
            </a:r>
          </a:p>
          <a:p>
            <a:pPr defTabSz="914400" fontAlgn="base">
              <a:spcBef>
                <a:spcPct val="0"/>
              </a:spcBef>
              <a:spcAft>
                <a:spcPct val="0"/>
              </a:spcAft>
              <a:defRPr/>
            </a:pPr>
            <a:r>
              <a:rPr lang="en-US" kern="0" dirty="0" err="1">
                <a:solidFill>
                  <a:srgbClr val="000000"/>
                </a:solidFill>
                <a:latin typeface="Arial"/>
              </a:rPr>
              <a:t>status_t</a:t>
            </a:r>
            <a:r>
              <a:rPr lang="en-US" kern="0" dirty="0">
                <a:solidFill>
                  <a:srgbClr val="000000"/>
                </a:solidFill>
                <a:latin typeface="Arial"/>
              </a:rPr>
              <a:t> </a:t>
            </a:r>
            <a:r>
              <a:rPr lang="en-US" b="1" kern="0" dirty="0">
                <a:solidFill>
                  <a:srgbClr val="000000"/>
                </a:solidFill>
                <a:latin typeface="Arial"/>
              </a:rPr>
              <a:t>fft_status1</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p:txBody>
      </p:sp>
      <p:sp>
        <p:nvSpPr>
          <p:cNvPr id="11" name="TextBox 10">
            <a:extLst>
              <a:ext uri="{FF2B5EF4-FFF2-40B4-BE49-F238E27FC236}">
                <a16:creationId xmlns:a16="http://schemas.microsoft.com/office/drawing/2014/main" id="{9CF4AF0F-B78E-4984-A569-BCEC243E9789}"/>
              </a:ext>
            </a:extLst>
          </p:cNvPr>
          <p:cNvSpPr txBox="1"/>
          <p:nvPr/>
        </p:nvSpPr>
        <p:spPr bwMode="auto">
          <a:xfrm>
            <a:off x="6469889" y="3453006"/>
            <a:ext cx="3683060" cy="1615827"/>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kern="0" dirty="0">
                <a:solidFill>
                  <a:srgbClr val="000000"/>
                </a:solidFill>
                <a:latin typeface="Arial"/>
              </a:rPr>
              <a:t> // FFT IP</a:t>
            </a:r>
          </a:p>
          <a:p>
            <a:pPr defTabSz="914400" fontAlgn="base">
              <a:spcBef>
                <a:spcPct val="0"/>
              </a:spcBef>
              <a:spcAft>
                <a:spcPct val="0"/>
              </a:spcAft>
              <a:defRPr/>
            </a:pPr>
            <a:r>
              <a:rPr lang="en-US" sz="1100" kern="0" dirty="0">
                <a:solidFill>
                  <a:srgbClr val="000000"/>
                </a:solidFill>
                <a:latin typeface="Arial"/>
              </a:rPr>
              <a:t>    </a:t>
            </a:r>
            <a:r>
              <a:rPr lang="en-US" sz="1100" kern="0" dirty="0" err="1">
                <a:solidFill>
                  <a:srgbClr val="000000"/>
                </a:solidFill>
                <a:latin typeface="Arial"/>
              </a:rPr>
              <a:t>hls</a:t>
            </a:r>
            <a:r>
              <a:rPr lang="en-US" sz="1100" kern="0" dirty="0">
                <a:solidFill>
                  <a:srgbClr val="000000"/>
                </a:solidFill>
                <a:latin typeface="Arial"/>
              </a:rPr>
              <a:t>::</a:t>
            </a:r>
            <a:r>
              <a:rPr lang="en-US" sz="1100" kern="0" dirty="0" err="1">
                <a:solidFill>
                  <a:srgbClr val="000000"/>
                </a:solidFill>
                <a:latin typeface="Arial"/>
              </a:rPr>
              <a:t>fft</a:t>
            </a:r>
            <a:r>
              <a:rPr lang="en-US" sz="1100" kern="0" dirty="0">
                <a:solidFill>
                  <a:srgbClr val="000000"/>
                </a:solidFill>
                <a:latin typeface="Arial"/>
              </a:rPr>
              <a:t>&lt;</a:t>
            </a:r>
            <a:r>
              <a:rPr lang="en-US" sz="1100" b="1" kern="0" dirty="0">
                <a:solidFill>
                  <a:srgbClr val="7030A0"/>
                </a:solidFill>
                <a:latin typeface="Arial"/>
              </a:rPr>
              <a:t>param1</a:t>
            </a:r>
            <a:r>
              <a:rPr lang="en-US" sz="1100" kern="0" dirty="0">
                <a:solidFill>
                  <a:srgbClr val="000000"/>
                </a:solidFill>
                <a:latin typeface="Arial"/>
              </a:rPr>
              <a:t>&gt; (xn1, xk1, &amp;</a:t>
            </a:r>
            <a:r>
              <a:rPr lang="en-US" sz="1100" b="1" kern="0" dirty="0">
                <a:solidFill>
                  <a:srgbClr val="000000"/>
                </a:solidFill>
                <a:latin typeface="Arial"/>
              </a:rPr>
              <a:t>fft_status1</a:t>
            </a:r>
            <a:r>
              <a:rPr lang="en-US" sz="1100" kern="0" dirty="0">
                <a:solidFill>
                  <a:srgbClr val="000000"/>
                </a:solidFill>
                <a:latin typeface="Arial"/>
              </a:rPr>
              <a:t>, &amp;fft_config1);</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Check the overflow flag</a:t>
            </a:r>
          </a:p>
          <a:p>
            <a:pPr defTabSz="914400" fontAlgn="base">
              <a:spcBef>
                <a:spcPct val="0"/>
              </a:spcBef>
              <a:spcAft>
                <a:spcPct val="0"/>
              </a:spcAft>
              <a:defRPr/>
            </a:pPr>
            <a:r>
              <a:rPr lang="en-US" sz="1100" kern="0" dirty="0">
                <a:solidFill>
                  <a:srgbClr val="000000"/>
                </a:solidFill>
                <a:latin typeface="Arial"/>
              </a:rPr>
              <a:t>    </a:t>
            </a:r>
            <a:r>
              <a:rPr lang="en-US" sz="1100" kern="0" dirty="0" err="1">
                <a:solidFill>
                  <a:srgbClr val="000000"/>
                </a:solidFill>
                <a:latin typeface="Arial"/>
              </a:rPr>
              <a:t>bool</a:t>
            </a:r>
            <a:r>
              <a:rPr lang="en-US" sz="1100" kern="0" dirty="0">
                <a:solidFill>
                  <a:srgbClr val="000000"/>
                </a:solidFill>
                <a:latin typeface="Arial"/>
              </a:rPr>
              <a:t> *</a:t>
            </a:r>
            <a:r>
              <a:rPr lang="en-US" sz="1100" kern="0" dirty="0" err="1">
                <a:solidFill>
                  <a:srgbClr val="000000"/>
                </a:solidFill>
                <a:latin typeface="Arial"/>
              </a:rPr>
              <a:t>ovflo</a:t>
            </a:r>
            <a:r>
              <a:rPr lang="en-US" sz="1100" kern="0" dirty="0">
                <a:solidFill>
                  <a:srgbClr val="000000"/>
                </a:solidFill>
                <a:latin typeface="Arial"/>
              </a:rPr>
              <a:t> = </a:t>
            </a:r>
            <a:r>
              <a:rPr lang="en-US" sz="1100" b="1" kern="0" dirty="0">
                <a:solidFill>
                  <a:srgbClr val="000000"/>
                </a:solidFill>
                <a:latin typeface="Arial"/>
              </a:rPr>
              <a:t>fft_status1-</a:t>
            </a:r>
            <a:r>
              <a:rPr lang="en-US" sz="1100" kern="0" dirty="0">
                <a:solidFill>
                  <a:srgbClr val="000000"/>
                </a:solidFill>
                <a:latin typeface="Arial"/>
              </a:rPr>
              <a:t>&gt;</a:t>
            </a:r>
            <a:r>
              <a:rPr lang="en-US" sz="1100" kern="0" dirty="0" err="1">
                <a:solidFill>
                  <a:srgbClr val="000000"/>
                </a:solidFill>
                <a:latin typeface="Arial"/>
              </a:rPr>
              <a:t>getOvflo</a:t>
            </a:r>
            <a:r>
              <a:rPr lang="en-US" sz="1100" kern="0" dirty="0">
                <a:solidFill>
                  <a:srgbClr val="000000"/>
                </a:solidFill>
                <a:latin typeface="Arial"/>
              </a:rPr>
              <a:t>();</a:t>
            </a:r>
          </a:p>
          <a:p>
            <a:pPr defTabSz="914400" fontAlgn="base">
              <a:spcBef>
                <a:spcPct val="0"/>
              </a:spcBef>
              <a:spcAft>
                <a:spcPct val="0"/>
              </a:spcAft>
              <a:defRPr/>
            </a:pPr>
            <a:r>
              <a:rPr lang="en-US" sz="1100" kern="0" dirty="0">
                <a:solidFill>
                  <a:srgbClr val="000000"/>
                </a:solidFill>
                <a:latin typeface="Arial"/>
              </a:rPr>
              <a:t> </a:t>
            </a:r>
          </a:p>
          <a:p>
            <a:pPr defTabSz="914400" fontAlgn="base">
              <a:spcBef>
                <a:spcPct val="0"/>
              </a:spcBef>
              <a:spcAft>
                <a:spcPct val="0"/>
              </a:spcAft>
              <a:defRPr/>
            </a:pPr>
            <a:r>
              <a:rPr lang="en-US" sz="1100" kern="0" dirty="0">
                <a:solidFill>
                  <a:srgbClr val="000000"/>
                </a:solidFill>
                <a:latin typeface="Arial"/>
              </a:rPr>
              <a:t>// Obtain the block exponent</a:t>
            </a:r>
          </a:p>
          <a:p>
            <a:pPr defTabSz="914400" fontAlgn="base">
              <a:spcBef>
                <a:spcPct val="0"/>
              </a:spcBef>
              <a:spcAft>
                <a:spcPct val="0"/>
              </a:spcAft>
              <a:defRPr/>
            </a:pPr>
            <a:r>
              <a:rPr lang="en-US" sz="1100" kern="0" dirty="0">
                <a:solidFill>
                  <a:srgbClr val="000000"/>
                </a:solidFill>
                <a:latin typeface="Arial"/>
              </a:rPr>
              <a:t>    unsigned </a:t>
            </a:r>
            <a:r>
              <a:rPr lang="en-US" sz="1100" kern="0" dirty="0" err="1">
                <a:solidFill>
                  <a:srgbClr val="000000"/>
                </a:solidFill>
                <a:latin typeface="Arial"/>
              </a:rPr>
              <a:t>int</a:t>
            </a:r>
            <a:r>
              <a:rPr lang="en-US" sz="1100" kern="0" dirty="0">
                <a:solidFill>
                  <a:srgbClr val="000000"/>
                </a:solidFill>
                <a:latin typeface="Arial"/>
              </a:rPr>
              <a:t> *</a:t>
            </a:r>
            <a:r>
              <a:rPr lang="en-US" sz="1100" kern="0" dirty="0" err="1">
                <a:solidFill>
                  <a:srgbClr val="000000"/>
                </a:solidFill>
                <a:latin typeface="Arial"/>
              </a:rPr>
              <a:t>blk_exp</a:t>
            </a:r>
            <a:r>
              <a:rPr lang="en-US" sz="1100" kern="0" dirty="0">
                <a:solidFill>
                  <a:srgbClr val="000000"/>
                </a:solidFill>
                <a:latin typeface="Arial"/>
              </a:rPr>
              <a:t> = </a:t>
            </a:r>
            <a:r>
              <a:rPr lang="en-US" sz="1100" b="1" kern="0" dirty="0">
                <a:solidFill>
                  <a:srgbClr val="000000"/>
                </a:solidFill>
                <a:latin typeface="Arial"/>
              </a:rPr>
              <a:t>fft_status1-</a:t>
            </a:r>
            <a:r>
              <a:rPr lang="en-US" sz="1100" kern="0" dirty="0">
                <a:solidFill>
                  <a:srgbClr val="000000"/>
                </a:solidFill>
                <a:latin typeface="Arial"/>
              </a:rPr>
              <a:t>&gt; </a:t>
            </a:r>
            <a:r>
              <a:rPr lang="en-US" sz="1100" kern="0" dirty="0" err="1">
                <a:solidFill>
                  <a:srgbClr val="000000"/>
                </a:solidFill>
                <a:latin typeface="Arial"/>
              </a:rPr>
              <a:t>getBlkExp</a:t>
            </a:r>
            <a:r>
              <a:rPr lang="en-US" sz="1100"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p:txBody>
      </p:sp>
      <p:sp>
        <p:nvSpPr>
          <p:cNvPr id="12" name="TextBox 11">
            <a:extLst>
              <a:ext uri="{FF2B5EF4-FFF2-40B4-BE49-F238E27FC236}">
                <a16:creationId xmlns:a16="http://schemas.microsoft.com/office/drawing/2014/main" id="{B841CA17-B20E-48F5-9AA2-BAA03D7E1BCA}"/>
              </a:ext>
            </a:extLst>
          </p:cNvPr>
          <p:cNvSpPr txBox="1"/>
          <p:nvPr/>
        </p:nvSpPr>
        <p:spPr bwMode="auto">
          <a:xfrm>
            <a:off x="7191763" y="1830693"/>
            <a:ext cx="4852668" cy="1277273"/>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kern="0" dirty="0">
                <a:solidFill>
                  <a:srgbClr val="000000"/>
                </a:solidFill>
                <a:latin typeface="Arial"/>
              </a:rPr>
              <a:t>#include "</a:t>
            </a:r>
            <a:r>
              <a:rPr lang="en-US" kern="0" dirty="0" err="1">
                <a:solidFill>
                  <a:srgbClr val="000000"/>
                </a:solidFill>
                <a:latin typeface="Arial"/>
              </a:rPr>
              <a:t>hls_fft.h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err="1">
                <a:solidFill>
                  <a:srgbClr val="000000"/>
                </a:solidFill>
                <a:latin typeface="Arial"/>
              </a:rPr>
              <a:t>hls</a:t>
            </a:r>
            <a:r>
              <a:rPr lang="en-US" kern="0" dirty="0">
                <a:solidFill>
                  <a:srgbClr val="000000"/>
                </a:solidFill>
                <a:latin typeface="Arial"/>
              </a:rPr>
              <a:t>::</a:t>
            </a:r>
            <a:r>
              <a:rPr lang="en-US" kern="0" dirty="0" err="1">
                <a:solidFill>
                  <a:srgbClr val="000000"/>
                </a:solidFill>
                <a:latin typeface="Arial"/>
              </a:rPr>
              <a:t>fft</a:t>
            </a:r>
            <a:r>
              <a:rPr lang="en-US" kern="0" dirty="0">
                <a:solidFill>
                  <a:srgbClr val="000000"/>
                </a:solidFill>
                <a:latin typeface="Arial"/>
              </a:rPr>
              <a:t>&lt;STATIC_PARAM&gt; (                           	// Static Parameterization Struct</a:t>
            </a:r>
          </a:p>
          <a:p>
            <a:pPr defTabSz="914400" fontAlgn="base">
              <a:spcBef>
                <a:spcPct val="0"/>
              </a:spcBef>
              <a:spcAft>
                <a:spcPct val="0"/>
              </a:spcAft>
              <a:defRPr/>
            </a:pPr>
            <a:r>
              <a:rPr lang="en-US" kern="0" dirty="0">
                <a:solidFill>
                  <a:srgbClr val="000000"/>
                </a:solidFill>
                <a:latin typeface="Arial"/>
              </a:rPr>
              <a:t>  INPUT_DATA_ARRAY,            	// Input data fixed or float</a:t>
            </a:r>
          </a:p>
          <a:p>
            <a:pPr defTabSz="914400" fontAlgn="base">
              <a:spcBef>
                <a:spcPct val="0"/>
              </a:spcBef>
              <a:spcAft>
                <a:spcPct val="0"/>
              </a:spcAft>
              <a:defRPr/>
            </a:pPr>
            <a:r>
              <a:rPr lang="en-US" kern="0" dirty="0">
                <a:solidFill>
                  <a:srgbClr val="000000"/>
                </a:solidFill>
                <a:latin typeface="Arial"/>
              </a:rPr>
              <a:t>  OUTPUT_DATA_ARRAY,        	// Output data fixed or float</a:t>
            </a:r>
          </a:p>
          <a:p>
            <a:pPr defTabSz="914400" fontAlgn="base">
              <a:spcBef>
                <a:spcPct val="0"/>
              </a:spcBef>
              <a:spcAft>
                <a:spcPct val="0"/>
              </a:spcAft>
              <a:defRPr/>
            </a:pPr>
            <a:r>
              <a:rPr lang="en-US" b="1" kern="0" dirty="0">
                <a:solidFill>
                  <a:srgbClr val="000000"/>
                </a:solidFill>
                <a:latin typeface="Arial"/>
              </a:rPr>
              <a:t>  OUTPUT_STATUS,                 	// Output Status</a:t>
            </a:r>
          </a:p>
          <a:p>
            <a:pPr defTabSz="914400" fontAlgn="base">
              <a:spcBef>
                <a:spcPct val="0"/>
              </a:spcBef>
              <a:spcAft>
                <a:spcPct val="0"/>
              </a:spcAft>
              <a:defRPr/>
            </a:pPr>
            <a:r>
              <a:rPr lang="en-US" kern="0" dirty="0">
                <a:solidFill>
                  <a:srgbClr val="000000"/>
                </a:solidFill>
                <a:latin typeface="Arial"/>
              </a:rPr>
              <a:t>  INPUT_RUN_TIME_CONFIGURATION); 	// Input Run Time Configuration</a:t>
            </a:r>
          </a:p>
        </p:txBody>
      </p:sp>
    </p:spTree>
    <p:extLst>
      <p:ext uri="{BB962C8B-B14F-4D97-AF65-F5344CB8AC3E}">
        <p14:creationId xmlns:p14="http://schemas.microsoft.com/office/powerpoint/2010/main" val="83969600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Function</a:t>
            </a:r>
          </a:p>
        </p:txBody>
      </p:sp>
      <p:sp>
        <p:nvSpPr>
          <p:cNvPr id="2" name="Content Placeholder 1"/>
          <p:cNvSpPr>
            <a:spLocks noGrp="1"/>
          </p:cNvSpPr>
          <p:nvPr>
            <p:ph idx="1"/>
          </p:nvPr>
        </p:nvSpPr>
        <p:spPr/>
        <p:txBody>
          <a:bodyPr/>
          <a:lstStyle/>
          <a:p>
            <a:r>
              <a:rPr lang="en-US" dirty="0"/>
              <a:t>Using the FIR</a:t>
            </a:r>
          </a:p>
          <a:p>
            <a:pPr lvl="1"/>
            <a:r>
              <a:rPr lang="en-US" dirty="0"/>
              <a:t>Include the </a:t>
            </a:r>
            <a:r>
              <a:rPr lang="en-US" dirty="0" err="1"/>
              <a:t>hls_fir.h</a:t>
            </a:r>
            <a:r>
              <a:rPr lang="en-US" dirty="0"/>
              <a:t> library in the code</a:t>
            </a:r>
          </a:p>
          <a:p>
            <a:pPr lvl="2"/>
            <a:r>
              <a:rPr lang="en-US" dirty="0"/>
              <a:t>This defines the FIR and supporting structs and types</a:t>
            </a:r>
          </a:p>
          <a:p>
            <a:pPr lvl="2"/>
            <a:r>
              <a:rPr lang="en-US" dirty="0"/>
              <a:t>Allows </a:t>
            </a:r>
            <a:r>
              <a:rPr lang="en-US" dirty="0" err="1">
                <a:solidFill>
                  <a:schemeClr val="accent6">
                    <a:lumMod val="75000"/>
                  </a:schemeClr>
                </a:solidFill>
              </a:rPr>
              <a:t>hls</a:t>
            </a:r>
            <a:r>
              <a:rPr lang="en-US" dirty="0">
                <a:solidFill>
                  <a:schemeClr val="accent6">
                    <a:lumMod val="75000"/>
                  </a:schemeClr>
                </a:solidFill>
              </a:rPr>
              <a:t>::FIR </a:t>
            </a:r>
            <a:r>
              <a:rPr lang="en-US" dirty="0"/>
              <a:t>to be instantiated in your code</a:t>
            </a:r>
          </a:p>
          <a:p>
            <a:pPr lvl="2"/>
            <a:r>
              <a:rPr lang="en-US" dirty="0"/>
              <a:t>Unlike the FFT, the FIR is instantiated as a class </a:t>
            </a:r>
            <a:br>
              <a:rPr lang="en-US" dirty="0"/>
            </a:br>
            <a:r>
              <a:rPr lang="en-US" dirty="0"/>
              <a:t>and executed with the run method</a:t>
            </a:r>
          </a:p>
          <a:p>
            <a:pPr lvl="1"/>
            <a:r>
              <a:rPr lang="en-US" dirty="0"/>
              <a:t>Create the STATIC_PARAM template parameter to configure the FIR</a:t>
            </a:r>
          </a:p>
          <a:p>
            <a:pPr lvl="2"/>
            <a:r>
              <a:rPr lang="en-US" dirty="0"/>
              <a:t>The STATIC_PARAM template parameter defines all static configuration values</a:t>
            </a:r>
          </a:p>
          <a:p>
            <a:pPr lvl="2"/>
            <a:r>
              <a:rPr lang="en-US" dirty="0"/>
              <a:t>The library provides a pre-defined struct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ip_fir</a:t>
            </a:r>
            <a:r>
              <a:rPr lang="en-US" dirty="0">
                <a:solidFill>
                  <a:schemeClr val="accent6">
                    <a:lumMod val="75000"/>
                  </a:schemeClr>
                </a:solidFill>
              </a:rPr>
              <a:t>::</a:t>
            </a:r>
            <a:r>
              <a:rPr lang="en-US" dirty="0" err="1">
                <a:solidFill>
                  <a:schemeClr val="accent6">
                    <a:lumMod val="75000"/>
                  </a:schemeClr>
                </a:solidFill>
              </a:rPr>
              <a:t>params_t</a:t>
            </a:r>
            <a:r>
              <a:rPr lang="en-US" dirty="0">
                <a:solidFill>
                  <a:schemeClr val="accent6">
                    <a:lumMod val="75000"/>
                  </a:schemeClr>
                </a:solidFill>
              </a:rPr>
              <a:t> </a:t>
            </a:r>
            <a:r>
              <a:rPr lang="en-US" dirty="0"/>
              <a:t>to perform this</a:t>
            </a:r>
            <a:endParaRPr lang="en-US" sz="1800" dirty="0"/>
          </a:p>
          <a:p>
            <a:pPr lvl="1"/>
            <a:r>
              <a:rPr lang="en-US" dirty="0"/>
              <a:t>There are no default values for the Coefficients</a:t>
            </a:r>
          </a:p>
          <a:p>
            <a:pPr lvl="2"/>
            <a:r>
              <a:rPr lang="en-US" u="sng" dirty="0"/>
              <a:t>You Must Always </a:t>
            </a:r>
            <a:r>
              <a:rPr lang="en-US" dirty="0"/>
              <a:t>create a user defined struct based on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ip_fir</a:t>
            </a:r>
            <a:r>
              <a:rPr lang="en-US" dirty="0">
                <a:solidFill>
                  <a:schemeClr val="accent6">
                    <a:lumMod val="75000"/>
                  </a:schemeClr>
                </a:solidFill>
              </a:rPr>
              <a:t>::</a:t>
            </a:r>
            <a:r>
              <a:rPr lang="en-US" dirty="0" err="1">
                <a:solidFill>
                  <a:schemeClr val="accent6">
                    <a:lumMod val="75000"/>
                  </a:schemeClr>
                </a:solidFill>
              </a:rPr>
              <a:t>params_t</a:t>
            </a:r>
            <a:r>
              <a:rPr lang="en-US" dirty="0">
                <a:solidFill>
                  <a:schemeClr val="accent6">
                    <a:lumMod val="75000"/>
                  </a:schemeClr>
                </a:solidFill>
              </a:rPr>
              <a:t> </a:t>
            </a:r>
            <a:endParaRPr lang="en-US" sz="1400" dirty="0">
              <a:solidFill>
                <a:schemeClr val="accent6">
                  <a:lumMod val="75000"/>
                </a:schemeClr>
              </a:solidFill>
            </a:endParaRPr>
          </a:p>
          <a:p>
            <a:pPr lvl="2"/>
            <a:endParaRPr lang="en-US" sz="1400" dirty="0"/>
          </a:p>
          <a:p>
            <a:pPr lvl="1"/>
            <a:endParaRPr lang="en-US" dirty="0"/>
          </a:p>
        </p:txBody>
      </p:sp>
      <p:sp>
        <p:nvSpPr>
          <p:cNvPr id="6" name="TextBox 5">
            <a:extLst>
              <a:ext uri="{FF2B5EF4-FFF2-40B4-BE49-F238E27FC236}">
                <a16:creationId xmlns:a16="http://schemas.microsoft.com/office/drawing/2014/main" id="{6515FC5E-B8E1-4DC3-A9F5-6F41C921DF86}"/>
              </a:ext>
            </a:extLst>
          </p:cNvPr>
          <p:cNvSpPr txBox="1"/>
          <p:nvPr/>
        </p:nvSpPr>
        <p:spPr bwMode="auto">
          <a:xfrm>
            <a:off x="6810966" y="1723579"/>
            <a:ext cx="4591440" cy="1446550"/>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b="1" kern="0" dirty="0">
                <a:solidFill>
                  <a:srgbClr val="000000"/>
                </a:solidFill>
              </a:rPr>
              <a:t>#include "</a:t>
            </a:r>
            <a:r>
              <a:rPr lang="en-US" b="1" kern="0" dirty="0" err="1">
                <a:solidFill>
                  <a:srgbClr val="000000"/>
                </a:solidFill>
              </a:rPr>
              <a:t>hls_fir.h</a:t>
            </a:r>
            <a:r>
              <a:rPr lang="en-US" b="1"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 Create an instance of the FIR </a:t>
            </a:r>
          </a:p>
          <a:p>
            <a:pPr defTabSz="914400" fontAlgn="base">
              <a:spcBef>
                <a:spcPct val="0"/>
              </a:spcBef>
              <a:spcAft>
                <a:spcPct val="0"/>
              </a:spcAft>
              <a:defRPr/>
            </a:pPr>
            <a:r>
              <a:rPr lang="en-US" kern="0" dirty="0">
                <a:solidFill>
                  <a:srgbClr val="000000"/>
                </a:solidFill>
              </a:rPr>
              <a:t>static </a:t>
            </a:r>
            <a:r>
              <a:rPr lang="en-US" kern="0" dirty="0" err="1">
                <a:solidFill>
                  <a:srgbClr val="000000"/>
                </a:solidFill>
              </a:rPr>
              <a:t>hls</a:t>
            </a:r>
            <a:r>
              <a:rPr lang="en-US" kern="0" dirty="0">
                <a:solidFill>
                  <a:srgbClr val="000000"/>
                </a:solidFill>
              </a:rPr>
              <a:t>::FIR&lt;STATIC_PARAM&gt; </a:t>
            </a:r>
            <a:r>
              <a:rPr lang="en-US" b="1" kern="0" dirty="0">
                <a:solidFill>
                  <a:srgbClr val="000000"/>
                </a:solidFill>
              </a:rPr>
              <a:t>fir1</a:t>
            </a:r>
            <a:r>
              <a:rPr lang="en-US" kern="0" dirty="0">
                <a:solidFill>
                  <a:srgbClr val="000000"/>
                </a:solidFill>
              </a:rPr>
              <a:t>;	// Static parameterization</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 Execute the FIR instance fir1</a:t>
            </a:r>
          </a:p>
          <a:p>
            <a:pPr defTabSz="914400" fontAlgn="base">
              <a:spcBef>
                <a:spcPct val="0"/>
              </a:spcBef>
              <a:spcAft>
                <a:spcPct val="0"/>
              </a:spcAft>
              <a:defRPr/>
            </a:pPr>
            <a:r>
              <a:rPr lang="en-US" b="1" kern="0" dirty="0">
                <a:solidFill>
                  <a:srgbClr val="000000"/>
                </a:solidFill>
              </a:rPr>
              <a:t>fir1</a:t>
            </a:r>
            <a:r>
              <a:rPr lang="en-US" kern="0" dirty="0">
                <a:solidFill>
                  <a:srgbClr val="000000"/>
                </a:solidFill>
              </a:rPr>
              <a:t>.</a:t>
            </a:r>
            <a:r>
              <a:rPr lang="en-US" b="1" kern="0" dirty="0">
                <a:solidFill>
                  <a:srgbClr val="000000"/>
                </a:solidFill>
              </a:rPr>
              <a:t>run</a:t>
            </a:r>
            <a:r>
              <a:rPr lang="en-US" kern="0" dirty="0">
                <a:solidFill>
                  <a:srgbClr val="000000"/>
                </a:solidFill>
              </a:rPr>
              <a:t>(INPUT_DATA_ARRAY, 	// Input Data</a:t>
            </a:r>
          </a:p>
          <a:p>
            <a:pPr defTabSz="914400" fontAlgn="base">
              <a:spcBef>
                <a:spcPct val="0"/>
              </a:spcBef>
              <a:spcAft>
                <a:spcPct val="0"/>
              </a:spcAft>
              <a:defRPr/>
            </a:pPr>
            <a:r>
              <a:rPr lang="en-US" kern="0" dirty="0">
                <a:solidFill>
                  <a:srgbClr val="000000"/>
                </a:solidFill>
              </a:rPr>
              <a:t>             OUTPUT_DATA_ARRAY);	// Output Data</a:t>
            </a:r>
          </a:p>
        </p:txBody>
      </p:sp>
      <p:sp>
        <p:nvSpPr>
          <p:cNvPr id="8" name="Slide Number Placeholder 5">
            <a:extLst>
              <a:ext uri="{FF2B5EF4-FFF2-40B4-BE49-F238E27FC236}">
                <a16:creationId xmlns:a16="http://schemas.microsoft.com/office/drawing/2014/main" id="{0871027B-FCD0-41A6-9DE3-E2E57939C3E8}"/>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80</a:t>
            </a:fld>
            <a:endParaRPr lang="en-US" dirty="0"/>
          </a:p>
        </p:txBody>
      </p:sp>
    </p:spTree>
    <p:extLst>
      <p:ext uri="{BB962C8B-B14F-4D97-AF65-F5344CB8AC3E}">
        <p14:creationId xmlns:p14="http://schemas.microsoft.com/office/powerpoint/2010/main" val="278103123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Function</a:t>
            </a:r>
          </a:p>
        </p:txBody>
      </p:sp>
      <p:sp>
        <p:nvSpPr>
          <p:cNvPr id="2" name="Content Placeholder 1"/>
          <p:cNvSpPr>
            <a:spLocks noGrp="1"/>
          </p:cNvSpPr>
          <p:nvPr>
            <p:ph idx="1"/>
          </p:nvPr>
        </p:nvSpPr>
        <p:spPr/>
        <p:txBody>
          <a:bodyPr/>
          <a:lstStyle/>
          <a:p>
            <a:r>
              <a:rPr lang="en-US" dirty="0"/>
              <a:t>Using the FIR</a:t>
            </a:r>
          </a:p>
          <a:p>
            <a:pPr lvl="1"/>
            <a:r>
              <a:rPr lang="en-US" dirty="0"/>
              <a:t>Include the </a:t>
            </a:r>
            <a:r>
              <a:rPr lang="en-US" dirty="0" err="1"/>
              <a:t>hls_fir.h</a:t>
            </a:r>
            <a:r>
              <a:rPr lang="en-US" dirty="0"/>
              <a:t> library in the code</a:t>
            </a:r>
          </a:p>
          <a:p>
            <a:pPr lvl="2"/>
            <a:r>
              <a:rPr lang="en-US" dirty="0"/>
              <a:t>This defines the FIR and supporting structs and types</a:t>
            </a:r>
          </a:p>
          <a:p>
            <a:pPr lvl="2"/>
            <a:r>
              <a:rPr lang="en-US" dirty="0"/>
              <a:t>Allows </a:t>
            </a:r>
            <a:r>
              <a:rPr lang="en-US" dirty="0" err="1">
                <a:solidFill>
                  <a:schemeClr val="accent6">
                    <a:lumMod val="75000"/>
                  </a:schemeClr>
                </a:solidFill>
              </a:rPr>
              <a:t>hls</a:t>
            </a:r>
            <a:r>
              <a:rPr lang="en-US" dirty="0">
                <a:solidFill>
                  <a:schemeClr val="accent6">
                    <a:lumMod val="75000"/>
                  </a:schemeClr>
                </a:solidFill>
              </a:rPr>
              <a:t>::FIR </a:t>
            </a:r>
            <a:r>
              <a:rPr lang="en-US" dirty="0"/>
              <a:t>to be instantiated in your code</a:t>
            </a:r>
          </a:p>
          <a:p>
            <a:pPr lvl="2"/>
            <a:r>
              <a:rPr lang="en-US" dirty="0"/>
              <a:t>Unlike the FFT, the FIR is instantiated as a class </a:t>
            </a:r>
            <a:br>
              <a:rPr lang="en-US" dirty="0"/>
            </a:br>
            <a:r>
              <a:rPr lang="en-US" dirty="0"/>
              <a:t>and executed with the run method</a:t>
            </a:r>
          </a:p>
          <a:p>
            <a:pPr lvl="1"/>
            <a:r>
              <a:rPr lang="en-US" dirty="0"/>
              <a:t>Create the STATIC_PARAM template parameter to configure the FIR</a:t>
            </a:r>
          </a:p>
          <a:p>
            <a:pPr lvl="2"/>
            <a:r>
              <a:rPr lang="en-US" dirty="0"/>
              <a:t>The STATIC_PARAM template parameter defines all static configuration values</a:t>
            </a:r>
          </a:p>
          <a:p>
            <a:pPr lvl="2"/>
            <a:r>
              <a:rPr lang="en-US" dirty="0"/>
              <a:t>The library provides a pre-defined struct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ip_fir</a:t>
            </a:r>
            <a:r>
              <a:rPr lang="en-US" dirty="0">
                <a:solidFill>
                  <a:schemeClr val="accent6">
                    <a:lumMod val="75000"/>
                  </a:schemeClr>
                </a:solidFill>
              </a:rPr>
              <a:t>::</a:t>
            </a:r>
            <a:r>
              <a:rPr lang="en-US" dirty="0" err="1">
                <a:solidFill>
                  <a:schemeClr val="accent6">
                    <a:lumMod val="75000"/>
                  </a:schemeClr>
                </a:solidFill>
              </a:rPr>
              <a:t>params_t</a:t>
            </a:r>
            <a:r>
              <a:rPr lang="en-US" dirty="0">
                <a:solidFill>
                  <a:schemeClr val="accent6">
                    <a:lumMod val="75000"/>
                  </a:schemeClr>
                </a:solidFill>
              </a:rPr>
              <a:t> </a:t>
            </a:r>
            <a:r>
              <a:rPr lang="en-US" dirty="0"/>
              <a:t>to perform this</a:t>
            </a:r>
            <a:endParaRPr lang="en-US" sz="1800" dirty="0"/>
          </a:p>
          <a:p>
            <a:pPr lvl="1"/>
            <a:r>
              <a:rPr lang="en-US" dirty="0"/>
              <a:t>There are no default values for the Coefficients</a:t>
            </a:r>
          </a:p>
          <a:p>
            <a:pPr lvl="2"/>
            <a:r>
              <a:rPr lang="en-US" u="sng" dirty="0"/>
              <a:t>You Must Always </a:t>
            </a:r>
            <a:r>
              <a:rPr lang="en-US" dirty="0"/>
              <a:t>create a user defined struct based on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ip_fir</a:t>
            </a:r>
            <a:r>
              <a:rPr lang="en-US" dirty="0">
                <a:solidFill>
                  <a:schemeClr val="accent6">
                    <a:lumMod val="75000"/>
                  </a:schemeClr>
                </a:solidFill>
              </a:rPr>
              <a:t>::</a:t>
            </a:r>
            <a:r>
              <a:rPr lang="en-US" dirty="0" err="1">
                <a:solidFill>
                  <a:schemeClr val="accent6">
                    <a:lumMod val="75000"/>
                  </a:schemeClr>
                </a:solidFill>
              </a:rPr>
              <a:t>params_t</a:t>
            </a:r>
            <a:r>
              <a:rPr lang="en-US" dirty="0">
                <a:solidFill>
                  <a:schemeClr val="accent6">
                    <a:lumMod val="75000"/>
                  </a:schemeClr>
                </a:solidFill>
              </a:rPr>
              <a:t> </a:t>
            </a:r>
            <a:endParaRPr lang="en-US" sz="1400" dirty="0">
              <a:solidFill>
                <a:schemeClr val="accent6">
                  <a:lumMod val="75000"/>
                </a:schemeClr>
              </a:solidFill>
            </a:endParaRPr>
          </a:p>
          <a:p>
            <a:pPr lvl="2"/>
            <a:endParaRPr lang="en-US" sz="1400" dirty="0"/>
          </a:p>
          <a:p>
            <a:pPr lvl="1"/>
            <a:endParaRPr lang="en-US" dirty="0"/>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81</a:t>
            </a:fld>
            <a:endParaRPr lang="en-US" dirty="0">
              <a:solidFill>
                <a:srgbClr val="0C0C0C">
                  <a:tint val="75000"/>
                </a:srgbClr>
              </a:solidFill>
              <a:latin typeface="Arial"/>
            </a:endParaRPr>
          </a:p>
        </p:txBody>
      </p:sp>
      <p:sp>
        <p:nvSpPr>
          <p:cNvPr id="6" name="TextBox 5">
            <a:extLst>
              <a:ext uri="{FF2B5EF4-FFF2-40B4-BE49-F238E27FC236}">
                <a16:creationId xmlns:a16="http://schemas.microsoft.com/office/drawing/2014/main" id="{6515FC5E-B8E1-4DC3-A9F5-6F41C921DF86}"/>
              </a:ext>
            </a:extLst>
          </p:cNvPr>
          <p:cNvSpPr txBox="1"/>
          <p:nvPr/>
        </p:nvSpPr>
        <p:spPr bwMode="auto">
          <a:xfrm>
            <a:off x="6810966" y="1723579"/>
            <a:ext cx="4591440" cy="1446550"/>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b="1" kern="0" dirty="0">
                <a:solidFill>
                  <a:srgbClr val="000000"/>
                </a:solidFill>
                <a:latin typeface="Arial"/>
              </a:rPr>
              <a:t>#include "</a:t>
            </a:r>
            <a:r>
              <a:rPr lang="en-US" b="1" kern="0" dirty="0" err="1">
                <a:solidFill>
                  <a:srgbClr val="000000"/>
                </a:solidFill>
                <a:latin typeface="Arial"/>
              </a:rPr>
              <a:t>hls_fir.h</a:t>
            </a:r>
            <a:r>
              <a:rPr lang="en-US" b="1"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 Create an instance of the FIR </a:t>
            </a:r>
          </a:p>
          <a:p>
            <a:pPr defTabSz="914400" fontAlgn="base">
              <a:spcBef>
                <a:spcPct val="0"/>
              </a:spcBef>
              <a:spcAft>
                <a:spcPct val="0"/>
              </a:spcAft>
              <a:defRPr/>
            </a:pPr>
            <a:r>
              <a:rPr lang="en-US" kern="0" dirty="0">
                <a:solidFill>
                  <a:srgbClr val="000000"/>
                </a:solidFill>
                <a:latin typeface="Arial"/>
              </a:rPr>
              <a:t>static </a:t>
            </a:r>
            <a:r>
              <a:rPr lang="en-US" kern="0" dirty="0" err="1">
                <a:solidFill>
                  <a:srgbClr val="000000"/>
                </a:solidFill>
                <a:latin typeface="Arial"/>
              </a:rPr>
              <a:t>hls</a:t>
            </a:r>
            <a:r>
              <a:rPr lang="en-US" kern="0" dirty="0">
                <a:solidFill>
                  <a:srgbClr val="000000"/>
                </a:solidFill>
                <a:latin typeface="Arial"/>
              </a:rPr>
              <a:t>::FIR&lt;STATIC_PARAM&gt; </a:t>
            </a:r>
            <a:r>
              <a:rPr lang="en-US" b="1" kern="0" dirty="0">
                <a:solidFill>
                  <a:srgbClr val="000000"/>
                </a:solidFill>
                <a:latin typeface="Arial"/>
              </a:rPr>
              <a:t>fir1</a:t>
            </a:r>
            <a:r>
              <a:rPr lang="en-US" kern="0" dirty="0">
                <a:solidFill>
                  <a:srgbClr val="000000"/>
                </a:solidFill>
                <a:latin typeface="Arial"/>
              </a:rPr>
              <a:t>;	// Static parameterization</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 Execute the FIR instance fir1</a:t>
            </a:r>
          </a:p>
          <a:p>
            <a:pPr defTabSz="914400" fontAlgn="base">
              <a:spcBef>
                <a:spcPct val="0"/>
              </a:spcBef>
              <a:spcAft>
                <a:spcPct val="0"/>
              </a:spcAft>
              <a:defRPr/>
            </a:pPr>
            <a:r>
              <a:rPr lang="en-US" b="1" kern="0" dirty="0">
                <a:solidFill>
                  <a:srgbClr val="000000"/>
                </a:solidFill>
                <a:latin typeface="Arial"/>
              </a:rPr>
              <a:t>fir1</a:t>
            </a:r>
            <a:r>
              <a:rPr lang="en-US" kern="0" dirty="0">
                <a:solidFill>
                  <a:srgbClr val="000000"/>
                </a:solidFill>
                <a:latin typeface="Arial"/>
              </a:rPr>
              <a:t>.</a:t>
            </a:r>
            <a:r>
              <a:rPr lang="en-US" b="1" kern="0" dirty="0">
                <a:solidFill>
                  <a:srgbClr val="000000"/>
                </a:solidFill>
                <a:latin typeface="Arial"/>
              </a:rPr>
              <a:t>run</a:t>
            </a:r>
            <a:r>
              <a:rPr lang="en-US" kern="0" dirty="0">
                <a:solidFill>
                  <a:srgbClr val="000000"/>
                </a:solidFill>
                <a:latin typeface="Arial"/>
              </a:rPr>
              <a:t>(INPUT_DATA_ARRAY, 	// Input Data</a:t>
            </a:r>
          </a:p>
          <a:p>
            <a:pPr defTabSz="914400" fontAlgn="base">
              <a:spcBef>
                <a:spcPct val="0"/>
              </a:spcBef>
              <a:spcAft>
                <a:spcPct val="0"/>
              </a:spcAft>
              <a:defRPr/>
            </a:pPr>
            <a:r>
              <a:rPr lang="en-US" kern="0" dirty="0">
                <a:solidFill>
                  <a:srgbClr val="000000"/>
                </a:solidFill>
                <a:latin typeface="Arial"/>
              </a:rPr>
              <a:t>             OUTPUT_DATA_ARRAY);	// Output Data</a:t>
            </a:r>
          </a:p>
        </p:txBody>
      </p:sp>
    </p:spTree>
    <p:extLst>
      <p:ext uri="{BB962C8B-B14F-4D97-AF65-F5344CB8AC3E}">
        <p14:creationId xmlns:p14="http://schemas.microsoft.com/office/powerpoint/2010/main" val="7804404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Static Configuration </a:t>
            </a:r>
          </a:p>
        </p:txBody>
      </p:sp>
      <p:sp>
        <p:nvSpPr>
          <p:cNvPr id="2" name="Content Placeholder 1"/>
          <p:cNvSpPr>
            <a:spLocks noGrp="1"/>
          </p:cNvSpPr>
          <p:nvPr>
            <p:ph idx="1"/>
          </p:nvPr>
        </p:nvSpPr>
        <p:spPr/>
        <p:txBody>
          <a:bodyPr/>
          <a:lstStyle/>
          <a:p>
            <a:r>
              <a:rPr lang="en-US" sz="2000" dirty="0"/>
              <a:t>Default Configuration Pre-defined</a:t>
            </a:r>
          </a:p>
          <a:p>
            <a:pPr lvl="1"/>
            <a:r>
              <a:rPr lang="en-US" sz="1800" dirty="0"/>
              <a:t>The </a:t>
            </a:r>
            <a:r>
              <a:rPr lang="en-US" sz="1800" dirty="0" err="1"/>
              <a:t>hls_fir.h</a:t>
            </a:r>
            <a:r>
              <a:rPr lang="en-US" sz="1800" dirty="0"/>
              <a:t> header file defines struct </a:t>
            </a:r>
            <a:r>
              <a:rPr lang="en-US" sz="1800" dirty="0" err="1">
                <a:solidFill>
                  <a:schemeClr val="accent6">
                    <a:lumMod val="75000"/>
                  </a:schemeClr>
                </a:solidFill>
              </a:rPr>
              <a:t>hls</a:t>
            </a:r>
            <a:r>
              <a:rPr lang="en-US" sz="1800" dirty="0">
                <a:solidFill>
                  <a:schemeClr val="accent6">
                    <a:lumMod val="75000"/>
                  </a:schemeClr>
                </a:solidFill>
              </a:rPr>
              <a:t>::</a:t>
            </a:r>
            <a:r>
              <a:rPr lang="en-US" sz="1800" dirty="0" err="1">
                <a:solidFill>
                  <a:schemeClr val="accent6">
                    <a:lumMod val="75000"/>
                  </a:schemeClr>
                </a:solidFill>
              </a:rPr>
              <a:t>ip_fir</a:t>
            </a:r>
            <a:r>
              <a:rPr lang="en-US" sz="1800" dirty="0">
                <a:solidFill>
                  <a:schemeClr val="accent6">
                    <a:lumMod val="75000"/>
                  </a:schemeClr>
                </a:solidFill>
              </a:rPr>
              <a:t>::</a:t>
            </a:r>
            <a:r>
              <a:rPr lang="en-US" sz="1800" dirty="0" err="1">
                <a:solidFill>
                  <a:schemeClr val="accent6">
                    <a:lumMod val="75000"/>
                  </a:schemeClr>
                </a:solidFill>
              </a:rPr>
              <a:t>params_t</a:t>
            </a:r>
            <a:endParaRPr lang="en-US" sz="1800" dirty="0">
              <a:solidFill>
                <a:schemeClr val="accent6">
                  <a:lumMod val="75000"/>
                </a:schemeClr>
              </a:solidFill>
            </a:endParaRPr>
          </a:p>
          <a:p>
            <a:pPr lvl="1"/>
            <a:r>
              <a:rPr lang="en-US" sz="1800" dirty="0"/>
              <a:t>This contains the most default values for configuring the FIR</a:t>
            </a:r>
          </a:p>
          <a:p>
            <a:r>
              <a:rPr lang="en-US" sz="2000" dirty="0"/>
              <a:t>User defined struct must be created</a:t>
            </a:r>
          </a:p>
          <a:p>
            <a:pPr lvl="1"/>
            <a:r>
              <a:rPr lang="en-US" sz="1800" dirty="0"/>
              <a:t>Allows the FIR to be easily configured</a:t>
            </a:r>
          </a:p>
          <a:p>
            <a:pPr lvl="1"/>
            <a:r>
              <a:rPr lang="en-US" sz="1800" dirty="0"/>
              <a:t>Based on </a:t>
            </a:r>
            <a:r>
              <a:rPr lang="en-US" sz="1800" dirty="0" err="1">
                <a:solidFill>
                  <a:schemeClr val="accent6">
                    <a:lumMod val="75000"/>
                  </a:schemeClr>
                </a:solidFill>
              </a:rPr>
              <a:t>hls</a:t>
            </a:r>
            <a:r>
              <a:rPr lang="en-US" sz="1800" dirty="0">
                <a:solidFill>
                  <a:schemeClr val="accent6">
                    <a:lumMod val="75000"/>
                  </a:schemeClr>
                </a:solidFill>
              </a:rPr>
              <a:t>::</a:t>
            </a:r>
            <a:r>
              <a:rPr lang="en-US" sz="1800" dirty="0" err="1">
                <a:solidFill>
                  <a:schemeClr val="accent6">
                    <a:lumMod val="75000"/>
                  </a:schemeClr>
                </a:solidFill>
              </a:rPr>
              <a:t>ip_fir</a:t>
            </a:r>
            <a:r>
              <a:rPr lang="en-US" sz="1800" dirty="0">
                <a:solidFill>
                  <a:schemeClr val="accent6">
                    <a:lumMod val="75000"/>
                  </a:schemeClr>
                </a:solidFill>
              </a:rPr>
              <a:t>::</a:t>
            </a:r>
            <a:r>
              <a:rPr lang="en-US" sz="1800" dirty="0" err="1">
                <a:solidFill>
                  <a:schemeClr val="accent6">
                    <a:lumMod val="75000"/>
                  </a:schemeClr>
                </a:solidFill>
              </a:rPr>
              <a:t>params_t</a:t>
            </a:r>
            <a:endParaRPr lang="en-US" sz="1800" dirty="0">
              <a:solidFill>
                <a:schemeClr val="accent6">
                  <a:lumMod val="75000"/>
                </a:schemeClr>
              </a:solidFill>
            </a:endParaRPr>
          </a:p>
          <a:p>
            <a:pPr lvl="1"/>
            <a:r>
              <a:rPr lang="en-US" sz="1800" dirty="0"/>
              <a:t>User struct simply updates any specified value </a:t>
            </a:r>
          </a:p>
          <a:p>
            <a:pPr lvl="1"/>
            <a:endParaRPr lang="en-US" sz="1800" dirty="0"/>
          </a:p>
        </p:txBody>
      </p:sp>
      <p:sp>
        <p:nvSpPr>
          <p:cNvPr id="8" name="TextBox 7">
            <a:extLst>
              <a:ext uri="{FF2B5EF4-FFF2-40B4-BE49-F238E27FC236}">
                <a16:creationId xmlns:a16="http://schemas.microsoft.com/office/drawing/2014/main" id="{BC67042F-2DC3-4E20-84B5-71A7992B9123}"/>
              </a:ext>
            </a:extLst>
          </p:cNvPr>
          <p:cNvSpPr txBox="1"/>
          <p:nvPr/>
        </p:nvSpPr>
        <p:spPr bwMode="auto">
          <a:xfrm>
            <a:off x="1666167" y="4154124"/>
            <a:ext cx="4157548" cy="195438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b="1" kern="0" dirty="0">
                <a:solidFill>
                  <a:srgbClr val="3F3F3F"/>
                </a:solidFill>
              </a:rPr>
              <a:t> </a:t>
            </a:r>
            <a:r>
              <a:rPr lang="en-US" sz="1100" kern="0" dirty="0">
                <a:solidFill>
                  <a:srgbClr val="000000"/>
                </a:solidFill>
              </a:rPr>
              <a:t>#include "</a:t>
            </a:r>
            <a:r>
              <a:rPr lang="en-US" sz="1100" kern="0" dirty="0" err="1">
                <a:solidFill>
                  <a:srgbClr val="000000"/>
                </a:solidFill>
              </a:rPr>
              <a:t>hls_fir.h</a:t>
            </a:r>
            <a:r>
              <a:rPr lang="en-US" sz="1100" kern="0" dirty="0">
                <a:solidFill>
                  <a:srgbClr val="000000"/>
                </a:solidFill>
              </a:rPr>
              <a:t>“</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struct </a:t>
            </a:r>
            <a:r>
              <a:rPr lang="en-US" sz="1100" b="1" kern="0" dirty="0">
                <a:solidFill>
                  <a:srgbClr val="000000"/>
                </a:solidFill>
              </a:rPr>
              <a:t>param1</a:t>
            </a:r>
            <a:r>
              <a:rPr lang="en-US" sz="1100" kern="0" dirty="0">
                <a:solidFill>
                  <a:srgbClr val="000000"/>
                </a:solidFill>
              </a:rPr>
              <a:t> : </a:t>
            </a:r>
            <a:r>
              <a:rPr lang="en-US" sz="1100" kern="0" dirty="0" err="1">
                <a:solidFill>
                  <a:srgbClr val="8B8D09">
                    <a:lumMod val="75000"/>
                  </a:srgbClr>
                </a:solidFill>
              </a:rPr>
              <a:t>hls</a:t>
            </a:r>
            <a:r>
              <a:rPr lang="en-US" sz="1100" kern="0" dirty="0">
                <a:solidFill>
                  <a:srgbClr val="8B8D09">
                    <a:lumMod val="75000"/>
                  </a:srgbClr>
                </a:solidFill>
              </a:rPr>
              <a:t>::</a:t>
            </a:r>
            <a:r>
              <a:rPr lang="en-US" sz="1100" kern="0" dirty="0" err="1">
                <a:solidFill>
                  <a:srgbClr val="8B8D09">
                    <a:lumMod val="75000"/>
                  </a:srgbClr>
                </a:solidFill>
              </a:rPr>
              <a:t>ip_fir</a:t>
            </a:r>
            <a:r>
              <a:rPr lang="en-US" sz="1100" kern="0" dirty="0">
                <a:solidFill>
                  <a:srgbClr val="8B8D09">
                    <a:lumMod val="75000"/>
                  </a:srgbClr>
                </a:solidFill>
              </a:rPr>
              <a:t>::</a:t>
            </a:r>
            <a:r>
              <a:rPr lang="en-US" sz="1100" kern="0" dirty="0" err="1">
                <a:solidFill>
                  <a:srgbClr val="8B8D09">
                    <a:lumMod val="75000"/>
                  </a:srgbClr>
                </a:solidFill>
              </a:rPr>
              <a:t>params_t</a:t>
            </a:r>
            <a:r>
              <a:rPr lang="en-US" sz="1100" kern="0" dirty="0">
                <a:solidFill>
                  <a:srgbClr val="8B8D09">
                    <a:lumMod val="75000"/>
                  </a:srgbClr>
                </a:solidFill>
              </a:rPr>
              <a:t> </a:t>
            </a:r>
            <a:r>
              <a:rPr lang="en-US" sz="1100" kern="0" dirty="0">
                <a:solidFill>
                  <a:srgbClr val="000000"/>
                </a:solidFill>
              </a:rPr>
              <a:t>{</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double </a:t>
            </a:r>
            <a:r>
              <a:rPr lang="en-US" sz="1100" kern="0" dirty="0" err="1">
                <a:solidFill>
                  <a:srgbClr val="000000"/>
                </a:solidFill>
              </a:rPr>
              <a:t>coeff_vec</a:t>
            </a:r>
            <a:r>
              <a:rPr lang="en-US" sz="1100" kern="0" dirty="0">
                <a:solidFill>
                  <a:srgbClr val="000000"/>
                </a:solidFill>
              </a:rPr>
              <a:t>[</a:t>
            </a:r>
            <a:r>
              <a:rPr lang="en-US" sz="1100" kern="0" dirty="0" err="1">
                <a:solidFill>
                  <a:srgbClr val="000000"/>
                </a:solidFill>
              </a:rPr>
              <a:t>sg_fir_srrc_coeffs_len</a:t>
            </a:r>
            <a:r>
              <a:rPr lang="en-US" sz="1100" kern="0" dirty="0">
                <a:solidFill>
                  <a:srgbClr val="000000"/>
                </a:solidFill>
              </a:rPr>
              <a:t>];</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unsigned </a:t>
            </a:r>
            <a:r>
              <a:rPr lang="en-US" sz="1100" kern="0" dirty="0" err="1">
                <a:solidFill>
                  <a:srgbClr val="000000"/>
                </a:solidFill>
              </a:rPr>
              <a:t>num_coeffs</a:t>
            </a:r>
            <a:r>
              <a:rPr lang="en-US" sz="1100" kern="0" dirty="0">
                <a:solidFill>
                  <a:srgbClr val="000000"/>
                </a:solidFill>
              </a:rPr>
              <a:t> = </a:t>
            </a:r>
            <a:r>
              <a:rPr lang="en-US" sz="1100" kern="0" dirty="0" err="1">
                <a:solidFill>
                  <a:srgbClr val="000000"/>
                </a:solidFill>
              </a:rPr>
              <a:t>sg_fir_srrc_coeffs_len</a:t>
            </a:r>
            <a:r>
              <a:rPr lang="en-US" sz="1100" kern="0" dirty="0">
                <a:solidFill>
                  <a:srgbClr val="000000"/>
                </a:solidFill>
              </a:rPr>
              <a:t>;</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unsigned </a:t>
            </a:r>
            <a:r>
              <a:rPr lang="en-US" sz="1100" kern="0" dirty="0" err="1">
                <a:solidFill>
                  <a:srgbClr val="000000"/>
                </a:solidFill>
              </a:rPr>
              <a:t>input_width</a:t>
            </a:r>
            <a:r>
              <a:rPr lang="en-US" sz="1100" kern="0" dirty="0">
                <a:solidFill>
                  <a:srgbClr val="000000"/>
                </a:solidFill>
              </a:rPr>
              <a:t> = INPUT_WIDTH; </a:t>
            </a:r>
          </a:p>
          <a:p>
            <a:pPr defTabSz="914400" fontAlgn="base">
              <a:spcBef>
                <a:spcPct val="0"/>
              </a:spcBef>
              <a:spcAft>
                <a:spcPct val="0"/>
              </a:spcAft>
              <a:defRPr/>
            </a:pPr>
            <a:r>
              <a:rPr lang="en-US" sz="1100" kern="0" dirty="0">
                <a:solidFill>
                  <a:srgbClr val="000000"/>
                </a:solidFill>
              </a:rPr>
              <a:t>    static </a:t>
            </a:r>
            <a:r>
              <a:rPr lang="en-US" sz="1100" kern="0" dirty="0" err="1">
                <a:solidFill>
                  <a:srgbClr val="000000"/>
                </a:solidFill>
              </a:rPr>
              <a:t>const</a:t>
            </a:r>
            <a:r>
              <a:rPr lang="en-US" sz="1100" kern="0" dirty="0">
                <a:solidFill>
                  <a:srgbClr val="000000"/>
                </a:solidFill>
              </a:rPr>
              <a:t> unsigned quantization = </a:t>
            </a:r>
            <a:r>
              <a:rPr lang="en-US" sz="1100" kern="0" dirty="0" err="1">
                <a:solidFill>
                  <a:srgbClr val="000000"/>
                </a:solidFill>
              </a:rPr>
              <a:t>hls</a:t>
            </a:r>
            <a:r>
              <a:rPr lang="en-US" sz="1100" kern="0" dirty="0">
                <a:solidFill>
                  <a:srgbClr val="000000"/>
                </a:solidFill>
              </a:rPr>
              <a:t>::</a:t>
            </a:r>
            <a:r>
              <a:rPr lang="en-US" sz="1100" kern="0" dirty="0" err="1">
                <a:solidFill>
                  <a:srgbClr val="000000"/>
                </a:solidFill>
              </a:rPr>
              <a:t>ip_fir</a:t>
            </a:r>
            <a:r>
              <a:rPr lang="en-US" sz="1100" kern="0" dirty="0">
                <a:solidFill>
                  <a:srgbClr val="000000"/>
                </a:solidFill>
              </a:rPr>
              <a:t>::</a:t>
            </a:r>
            <a:r>
              <a:rPr lang="en-US" sz="1100" kern="0" dirty="0" err="1">
                <a:solidFill>
                  <a:srgbClr val="000000"/>
                </a:solidFill>
              </a:rPr>
              <a:t>quantize_only</a:t>
            </a:r>
            <a:r>
              <a:rPr lang="en-US" sz="1100" kern="0" dirty="0">
                <a:solidFill>
                  <a:srgbClr val="000000"/>
                </a:solidFill>
              </a:rPr>
              <a:t>;};</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Execute FIR</a:t>
            </a:r>
          </a:p>
          <a:p>
            <a:pPr defTabSz="914400" fontAlgn="base">
              <a:spcBef>
                <a:spcPct val="0"/>
              </a:spcBef>
              <a:spcAft>
                <a:spcPct val="0"/>
              </a:spcAft>
              <a:defRPr/>
            </a:pPr>
            <a:r>
              <a:rPr lang="en-US" sz="1100" kern="0" dirty="0">
                <a:solidFill>
                  <a:srgbClr val="000000"/>
                </a:solidFill>
              </a:rPr>
              <a:t>static </a:t>
            </a:r>
            <a:r>
              <a:rPr lang="en-US" sz="1100" kern="0" dirty="0" err="1">
                <a:solidFill>
                  <a:srgbClr val="000000"/>
                </a:solidFill>
              </a:rPr>
              <a:t>hls</a:t>
            </a:r>
            <a:r>
              <a:rPr lang="en-US" sz="1100" kern="0" dirty="0">
                <a:solidFill>
                  <a:srgbClr val="000000"/>
                </a:solidFill>
              </a:rPr>
              <a:t>::FIR&lt;</a:t>
            </a:r>
            <a:r>
              <a:rPr lang="en-US" sz="1100" b="1" kern="0" dirty="0">
                <a:solidFill>
                  <a:srgbClr val="000000"/>
                </a:solidFill>
              </a:rPr>
              <a:t>param1</a:t>
            </a:r>
            <a:r>
              <a:rPr lang="en-US" sz="1100" kern="0" dirty="0">
                <a:solidFill>
                  <a:srgbClr val="000000"/>
                </a:solidFill>
              </a:rPr>
              <a:t>&gt; fir1;</a:t>
            </a:r>
          </a:p>
          <a:p>
            <a:pPr defTabSz="914400" fontAlgn="base">
              <a:spcBef>
                <a:spcPct val="0"/>
              </a:spcBef>
              <a:spcAft>
                <a:spcPct val="0"/>
              </a:spcAft>
              <a:defRPr/>
            </a:pPr>
            <a:r>
              <a:rPr lang="en-US" sz="1100" kern="0" dirty="0">
                <a:solidFill>
                  <a:srgbClr val="000000"/>
                </a:solidFill>
              </a:rPr>
              <a:t>fir1.run(</a:t>
            </a:r>
            <a:r>
              <a:rPr lang="en-US" sz="1100" kern="0" dirty="0" err="1">
                <a:solidFill>
                  <a:srgbClr val="000000"/>
                </a:solidFill>
              </a:rPr>
              <a:t>fir_in</a:t>
            </a:r>
            <a:r>
              <a:rPr lang="en-US" sz="1100" kern="0" dirty="0">
                <a:solidFill>
                  <a:srgbClr val="000000"/>
                </a:solidFill>
              </a:rPr>
              <a:t>, </a:t>
            </a:r>
            <a:r>
              <a:rPr lang="en-US" sz="1100" kern="0" dirty="0" err="1">
                <a:solidFill>
                  <a:srgbClr val="000000"/>
                </a:solidFill>
              </a:rPr>
              <a:t>fir_out</a:t>
            </a:r>
            <a:r>
              <a:rPr lang="en-US" sz="1100" kern="0" dirty="0">
                <a:solidFill>
                  <a:srgbClr val="000000"/>
                </a:solidFill>
              </a:rPr>
              <a:t>);</a:t>
            </a:r>
          </a:p>
        </p:txBody>
      </p:sp>
      <p:sp>
        <p:nvSpPr>
          <p:cNvPr id="9" name="TextBox 8">
            <a:extLst>
              <a:ext uri="{FF2B5EF4-FFF2-40B4-BE49-F238E27FC236}">
                <a16:creationId xmlns:a16="http://schemas.microsoft.com/office/drawing/2014/main" id="{51533ECB-03FE-4508-93F1-7EB909C5833E}"/>
              </a:ext>
            </a:extLst>
          </p:cNvPr>
          <p:cNvSpPr txBox="1"/>
          <p:nvPr/>
        </p:nvSpPr>
        <p:spPr bwMode="auto">
          <a:xfrm>
            <a:off x="6839880" y="4154124"/>
            <a:ext cx="2328202" cy="264111"/>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100" b="1" kern="0" dirty="0">
                <a:solidFill>
                  <a:srgbClr val="000000"/>
                </a:solidFill>
                <a:latin typeface="Arial"/>
              </a:rPr>
              <a:t>  Include Header File</a:t>
            </a:r>
          </a:p>
        </p:txBody>
      </p:sp>
      <p:sp>
        <p:nvSpPr>
          <p:cNvPr id="11" name="TextBox 10">
            <a:extLst>
              <a:ext uri="{FF2B5EF4-FFF2-40B4-BE49-F238E27FC236}">
                <a16:creationId xmlns:a16="http://schemas.microsoft.com/office/drawing/2014/main" id="{2CC5B1CA-26D3-4CEB-B5FE-710F1F02A6D2}"/>
              </a:ext>
            </a:extLst>
          </p:cNvPr>
          <p:cNvSpPr txBox="1"/>
          <p:nvPr/>
        </p:nvSpPr>
        <p:spPr bwMode="auto">
          <a:xfrm>
            <a:off x="6842256" y="4586281"/>
            <a:ext cx="5024780" cy="1431161"/>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000" b="1" kern="0" dirty="0">
                <a:solidFill>
                  <a:srgbClr val="000000"/>
                </a:solidFill>
                <a:latin typeface="Arial"/>
              </a:rPr>
              <a:t>  Create struct based on </a:t>
            </a:r>
            <a:r>
              <a:rPr lang="en-US" sz="1000" b="1" kern="0" dirty="0" err="1">
                <a:solidFill>
                  <a:srgbClr val="000000"/>
                </a:solidFill>
                <a:latin typeface="Arial"/>
              </a:rPr>
              <a:t>hls</a:t>
            </a:r>
            <a:r>
              <a:rPr lang="en-US" sz="1000" b="1" kern="0" dirty="0">
                <a:solidFill>
                  <a:srgbClr val="000000"/>
                </a:solidFill>
                <a:latin typeface="Arial"/>
              </a:rPr>
              <a:t>::</a:t>
            </a:r>
            <a:r>
              <a:rPr lang="en-US" sz="1000" b="1" kern="0" dirty="0" err="1">
                <a:solidFill>
                  <a:srgbClr val="000000"/>
                </a:solidFill>
                <a:latin typeface="Arial"/>
              </a:rPr>
              <a:t>ip</a:t>
            </a:r>
            <a:r>
              <a:rPr lang="en-US" sz="1000" b="1" kern="0" dirty="0">
                <a:solidFill>
                  <a:srgbClr val="000000"/>
                </a:solidFill>
                <a:latin typeface="Arial"/>
              </a:rPr>
              <a:t>::</a:t>
            </a:r>
            <a:r>
              <a:rPr lang="en-US" sz="1000" b="1" kern="0" dirty="0" err="1">
                <a:solidFill>
                  <a:srgbClr val="000000"/>
                </a:solidFill>
                <a:latin typeface="Arial"/>
              </a:rPr>
              <a:t>fir:params_t</a:t>
            </a:r>
            <a:endParaRPr lang="en-US" sz="1000" b="1" kern="0" dirty="0">
              <a:solidFill>
                <a:srgbClr val="000000"/>
              </a:solidFill>
              <a:latin typeface="Arial"/>
            </a:endParaRP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err="1">
                <a:solidFill>
                  <a:srgbClr val="000000"/>
                </a:solidFill>
                <a:latin typeface="Arial"/>
              </a:rPr>
              <a:t>params_t</a:t>
            </a:r>
            <a:r>
              <a:rPr lang="en-US" sz="1000" b="1" kern="0" dirty="0">
                <a:solidFill>
                  <a:srgbClr val="000000"/>
                </a:solidFill>
                <a:latin typeface="Arial"/>
              </a:rPr>
              <a:t> includes the default values</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overrides 3 default value in this example  and specifies the coefficients </a:t>
            </a:r>
          </a:p>
          <a:p>
            <a:pPr marL="1085850" lvl="2"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The </a:t>
            </a:r>
            <a:r>
              <a:rPr lang="en-US" sz="1000" b="1" kern="0" dirty="0" err="1">
                <a:solidFill>
                  <a:srgbClr val="000000"/>
                </a:solidFill>
                <a:latin typeface="Arial"/>
              </a:rPr>
              <a:t>coeff_vec</a:t>
            </a:r>
            <a:r>
              <a:rPr lang="en-US" sz="1000" b="1" kern="0" dirty="0">
                <a:solidFill>
                  <a:srgbClr val="000000"/>
                </a:solidFill>
                <a:latin typeface="Arial"/>
              </a:rPr>
              <a:t> has no default</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is then used to configure the FIR </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Used as STATIC_PARAM in previous slide</a:t>
            </a:r>
          </a:p>
        </p:txBody>
      </p:sp>
      <p:sp>
        <p:nvSpPr>
          <p:cNvPr id="12" name="Slide Number Placeholder 5">
            <a:extLst>
              <a:ext uri="{FF2B5EF4-FFF2-40B4-BE49-F238E27FC236}">
                <a16:creationId xmlns:a16="http://schemas.microsoft.com/office/drawing/2014/main" id="{7404DA43-BAF8-43C6-A413-098DA2FB38E9}"/>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82</a:t>
            </a:fld>
            <a:endParaRPr lang="en-US" dirty="0"/>
          </a:p>
        </p:txBody>
      </p:sp>
    </p:spTree>
    <p:extLst>
      <p:ext uri="{BB962C8B-B14F-4D97-AF65-F5344CB8AC3E}">
        <p14:creationId xmlns:p14="http://schemas.microsoft.com/office/powerpoint/2010/main" val="205788654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Static Configuration </a:t>
            </a:r>
          </a:p>
        </p:txBody>
      </p:sp>
      <p:sp>
        <p:nvSpPr>
          <p:cNvPr id="2" name="Content Placeholder 1"/>
          <p:cNvSpPr>
            <a:spLocks noGrp="1"/>
          </p:cNvSpPr>
          <p:nvPr>
            <p:ph idx="1"/>
          </p:nvPr>
        </p:nvSpPr>
        <p:spPr/>
        <p:txBody>
          <a:bodyPr/>
          <a:lstStyle/>
          <a:p>
            <a:r>
              <a:rPr lang="en-US" dirty="0"/>
              <a:t>Default Configuration Pre-defined</a:t>
            </a:r>
          </a:p>
          <a:p>
            <a:pPr lvl="1"/>
            <a:r>
              <a:rPr lang="en-US" dirty="0"/>
              <a:t>The </a:t>
            </a:r>
            <a:r>
              <a:rPr lang="en-US" dirty="0" err="1"/>
              <a:t>hls_fir.h</a:t>
            </a:r>
            <a:r>
              <a:rPr lang="en-US" dirty="0"/>
              <a:t> header file defines struct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ip_fir</a:t>
            </a:r>
            <a:r>
              <a:rPr lang="en-US" dirty="0">
                <a:solidFill>
                  <a:schemeClr val="accent6">
                    <a:lumMod val="75000"/>
                  </a:schemeClr>
                </a:solidFill>
              </a:rPr>
              <a:t>::</a:t>
            </a:r>
            <a:r>
              <a:rPr lang="en-US" dirty="0" err="1">
                <a:solidFill>
                  <a:schemeClr val="accent6">
                    <a:lumMod val="75000"/>
                  </a:schemeClr>
                </a:solidFill>
              </a:rPr>
              <a:t>params_t</a:t>
            </a:r>
            <a:endParaRPr lang="en-US" dirty="0">
              <a:solidFill>
                <a:schemeClr val="accent6">
                  <a:lumMod val="75000"/>
                </a:schemeClr>
              </a:solidFill>
            </a:endParaRPr>
          </a:p>
          <a:p>
            <a:pPr lvl="1"/>
            <a:r>
              <a:rPr lang="en-US" dirty="0"/>
              <a:t>This contains the </a:t>
            </a:r>
            <a:r>
              <a:rPr lang="en-US" dirty="0">
                <a:highlight>
                  <a:srgbClr val="FFFF00"/>
                </a:highlight>
              </a:rPr>
              <a:t>most </a:t>
            </a:r>
            <a:r>
              <a:rPr lang="en-US" dirty="0"/>
              <a:t>default values for configuring the FIR</a:t>
            </a:r>
          </a:p>
          <a:p>
            <a:r>
              <a:rPr lang="en-US" dirty="0"/>
              <a:t>User defined struct must be created</a:t>
            </a:r>
          </a:p>
          <a:p>
            <a:pPr lvl="1"/>
            <a:r>
              <a:rPr lang="en-US" dirty="0"/>
              <a:t>Allows the FIR to be easily configured</a:t>
            </a:r>
          </a:p>
          <a:p>
            <a:pPr lvl="1"/>
            <a:r>
              <a:rPr lang="en-US" dirty="0"/>
              <a:t>Based on </a:t>
            </a:r>
            <a:r>
              <a:rPr lang="en-US" dirty="0" err="1">
                <a:solidFill>
                  <a:schemeClr val="accent6">
                    <a:lumMod val="75000"/>
                  </a:schemeClr>
                </a:solidFill>
              </a:rPr>
              <a:t>hls</a:t>
            </a:r>
            <a:r>
              <a:rPr lang="en-US" dirty="0">
                <a:solidFill>
                  <a:schemeClr val="accent6">
                    <a:lumMod val="75000"/>
                  </a:schemeClr>
                </a:solidFill>
              </a:rPr>
              <a:t>::</a:t>
            </a:r>
            <a:r>
              <a:rPr lang="en-US" dirty="0" err="1">
                <a:solidFill>
                  <a:schemeClr val="accent6">
                    <a:lumMod val="75000"/>
                  </a:schemeClr>
                </a:solidFill>
              </a:rPr>
              <a:t>ip_fir</a:t>
            </a:r>
            <a:r>
              <a:rPr lang="en-US" dirty="0">
                <a:solidFill>
                  <a:schemeClr val="accent6">
                    <a:lumMod val="75000"/>
                  </a:schemeClr>
                </a:solidFill>
              </a:rPr>
              <a:t>::</a:t>
            </a:r>
            <a:r>
              <a:rPr lang="en-US" dirty="0" err="1">
                <a:solidFill>
                  <a:schemeClr val="accent6">
                    <a:lumMod val="75000"/>
                  </a:schemeClr>
                </a:solidFill>
              </a:rPr>
              <a:t>params_t</a:t>
            </a:r>
            <a:endParaRPr lang="en-US" dirty="0">
              <a:solidFill>
                <a:schemeClr val="accent6">
                  <a:lumMod val="75000"/>
                </a:schemeClr>
              </a:solidFill>
            </a:endParaRPr>
          </a:p>
          <a:p>
            <a:pPr lvl="1"/>
            <a:r>
              <a:rPr lang="en-US" dirty="0"/>
              <a:t>User struct simply updates any specified value </a:t>
            </a:r>
          </a:p>
          <a:p>
            <a:pPr lvl="1"/>
            <a:endParaRPr lang="en-US" dirty="0"/>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83</a:t>
            </a:fld>
            <a:endParaRPr lang="en-US" dirty="0">
              <a:solidFill>
                <a:srgbClr val="0C0C0C">
                  <a:tint val="75000"/>
                </a:srgbClr>
              </a:solidFill>
              <a:latin typeface="Arial"/>
            </a:endParaRPr>
          </a:p>
        </p:txBody>
      </p:sp>
      <p:sp>
        <p:nvSpPr>
          <p:cNvPr id="8" name="TextBox 7">
            <a:extLst>
              <a:ext uri="{FF2B5EF4-FFF2-40B4-BE49-F238E27FC236}">
                <a16:creationId xmlns:a16="http://schemas.microsoft.com/office/drawing/2014/main" id="{BC67042F-2DC3-4E20-84B5-71A7992B9123}"/>
              </a:ext>
            </a:extLst>
          </p:cNvPr>
          <p:cNvSpPr txBox="1"/>
          <p:nvPr/>
        </p:nvSpPr>
        <p:spPr bwMode="auto">
          <a:xfrm>
            <a:off x="1666167" y="4154124"/>
            <a:ext cx="4157548" cy="195438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non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b="1" kern="0" dirty="0">
                <a:solidFill>
                  <a:srgbClr val="3F3F3F"/>
                </a:solidFill>
                <a:latin typeface="Arial"/>
              </a:rPr>
              <a:t> </a:t>
            </a:r>
            <a:r>
              <a:rPr lang="en-US" sz="1100" kern="0" dirty="0">
                <a:solidFill>
                  <a:srgbClr val="000000"/>
                </a:solidFill>
                <a:latin typeface="Arial"/>
              </a:rPr>
              <a:t>#include "</a:t>
            </a:r>
            <a:r>
              <a:rPr lang="en-US" sz="1100" kern="0" dirty="0" err="1">
                <a:solidFill>
                  <a:srgbClr val="000000"/>
                </a:solidFill>
                <a:latin typeface="Arial"/>
              </a:rPr>
              <a:t>hls_fir.h</a:t>
            </a:r>
            <a:r>
              <a:rPr lang="en-US" sz="1100"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struct </a:t>
            </a:r>
            <a:r>
              <a:rPr lang="en-US" sz="1100" b="1" kern="0" dirty="0">
                <a:solidFill>
                  <a:srgbClr val="000000"/>
                </a:solidFill>
                <a:latin typeface="Arial"/>
              </a:rPr>
              <a:t>param1</a:t>
            </a:r>
            <a:r>
              <a:rPr lang="en-US" sz="1100" kern="0" dirty="0">
                <a:solidFill>
                  <a:srgbClr val="000000"/>
                </a:solidFill>
                <a:latin typeface="Arial"/>
              </a:rPr>
              <a:t> : </a:t>
            </a:r>
            <a:r>
              <a:rPr lang="en-US" sz="1100" kern="0" dirty="0" err="1">
                <a:solidFill>
                  <a:srgbClr val="8B8D09">
                    <a:lumMod val="75000"/>
                  </a:srgbClr>
                </a:solidFill>
                <a:latin typeface="Arial"/>
              </a:rPr>
              <a:t>hls</a:t>
            </a:r>
            <a:r>
              <a:rPr lang="en-US" sz="1100" kern="0" dirty="0">
                <a:solidFill>
                  <a:srgbClr val="8B8D09">
                    <a:lumMod val="75000"/>
                  </a:srgbClr>
                </a:solidFill>
                <a:latin typeface="Arial"/>
              </a:rPr>
              <a:t>::</a:t>
            </a:r>
            <a:r>
              <a:rPr lang="en-US" sz="1100" kern="0" dirty="0" err="1">
                <a:solidFill>
                  <a:srgbClr val="8B8D09">
                    <a:lumMod val="75000"/>
                  </a:srgbClr>
                </a:solidFill>
                <a:latin typeface="Arial"/>
              </a:rPr>
              <a:t>ip_fir</a:t>
            </a:r>
            <a:r>
              <a:rPr lang="en-US" sz="1100" kern="0" dirty="0">
                <a:solidFill>
                  <a:srgbClr val="8B8D09">
                    <a:lumMod val="75000"/>
                  </a:srgbClr>
                </a:solidFill>
                <a:latin typeface="Arial"/>
              </a:rPr>
              <a:t>::</a:t>
            </a:r>
            <a:r>
              <a:rPr lang="en-US" sz="1100" kern="0" dirty="0" err="1">
                <a:solidFill>
                  <a:srgbClr val="8B8D09">
                    <a:lumMod val="75000"/>
                  </a:srgbClr>
                </a:solidFill>
                <a:latin typeface="Arial"/>
              </a:rPr>
              <a:t>params_t</a:t>
            </a:r>
            <a:r>
              <a:rPr lang="en-US" sz="1100" kern="0" dirty="0">
                <a:solidFill>
                  <a:srgbClr val="8B8D09">
                    <a:lumMod val="75000"/>
                  </a:srgbClr>
                </a:solidFill>
                <a:latin typeface="Arial"/>
              </a:rPr>
              <a:t> </a:t>
            </a:r>
            <a:r>
              <a:rPr lang="en-US" sz="1100" kern="0" dirty="0">
                <a:solidFill>
                  <a:srgbClr val="000000"/>
                </a:solidFill>
                <a:latin typeface="Arial"/>
              </a:rPr>
              <a:t>{</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double </a:t>
            </a:r>
            <a:r>
              <a:rPr lang="en-US" sz="1100" kern="0" dirty="0" err="1">
                <a:solidFill>
                  <a:srgbClr val="000000"/>
                </a:solidFill>
                <a:latin typeface="Arial"/>
              </a:rPr>
              <a:t>coeff_vec</a:t>
            </a:r>
            <a:r>
              <a:rPr lang="en-US" sz="1100" kern="0" dirty="0">
                <a:solidFill>
                  <a:srgbClr val="000000"/>
                </a:solidFill>
                <a:latin typeface="Arial"/>
              </a:rPr>
              <a:t>[</a:t>
            </a:r>
            <a:r>
              <a:rPr lang="en-US" sz="1100" kern="0" dirty="0" err="1">
                <a:solidFill>
                  <a:srgbClr val="000000"/>
                </a:solidFill>
                <a:latin typeface="Arial"/>
              </a:rPr>
              <a:t>sg_fir_srrc_coeffs_len</a:t>
            </a:r>
            <a:r>
              <a:rPr lang="en-US" sz="1100" kern="0" dirty="0">
                <a:solidFill>
                  <a:srgbClr val="000000"/>
                </a:solidFill>
                <a:latin typeface="Arial"/>
              </a:rPr>
              <a:t>];</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unsigned </a:t>
            </a:r>
            <a:r>
              <a:rPr lang="en-US" sz="1100" kern="0" dirty="0" err="1">
                <a:solidFill>
                  <a:srgbClr val="000000"/>
                </a:solidFill>
                <a:latin typeface="Arial"/>
              </a:rPr>
              <a:t>num_coeffs</a:t>
            </a:r>
            <a:r>
              <a:rPr lang="en-US" sz="1100" kern="0" dirty="0">
                <a:solidFill>
                  <a:srgbClr val="000000"/>
                </a:solidFill>
                <a:latin typeface="Arial"/>
              </a:rPr>
              <a:t> = </a:t>
            </a:r>
            <a:r>
              <a:rPr lang="en-US" sz="1100" kern="0" dirty="0" err="1">
                <a:solidFill>
                  <a:srgbClr val="000000"/>
                </a:solidFill>
                <a:latin typeface="Arial"/>
              </a:rPr>
              <a:t>sg_fir_srrc_coeffs_len</a:t>
            </a:r>
            <a:r>
              <a:rPr lang="en-US" sz="1100" kern="0" dirty="0">
                <a:solidFill>
                  <a:srgbClr val="000000"/>
                </a:solidFill>
                <a:latin typeface="Arial"/>
              </a:rPr>
              <a:t>;</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unsigned </a:t>
            </a:r>
            <a:r>
              <a:rPr lang="en-US" sz="1100" kern="0" dirty="0" err="1">
                <a:solidFill>
                  <a:srgbClr val="000000"/>
                </a:solidFill>
                <a:latin typeface="Arial"/>
              </a:rPr>
              <a:t>input_width</a:t>
            </a:r>
            <a:r>
              <a:rPr lang="en-US" sz="1100" kern="0" dirty="0">
                <a:solidFill>
                  <a:srgbClr val="000000"/>
                </a:solidFill>
                <a:latin typeface="Arial"/>
              </a:rPr>
              <a:t> = INPUT_WIDTH; </a:t>
            </a:r>
          </a:p>
          <a:p>
            <a:pPr defTabSz="914400" fontAlgn="base">
              <a:spcBef>
                <a:spcPct val="0"/>
              </a:spcBef>
              <a:spcAft>
                <a:spcPct val="0"/>
              </a:spcAft>
              <a:defRPr/>
            </a:pPr>
            <a:r>
              <a:rPr lang="en-US" sz="1100" kern="0" dirty="0">
                <a:solidFill>
                  <a:srgbClr val="000000"/>
                </a:solidFill>
                <a:latin typeface="Arial"/>
              </a:rPr>
              <a:t>    static </a:t>
            </a:r>
            <a:r>
              <a:rPr lang="en-US" sz="1100" kern="0" dirty="0" err="1">
                <a:solidFill>
                  <a:srgbClr val="000000"/>
                </a:solidFill>
                <a:latin typeface="Arial"/>
              </a:rPr>
              <a:t>const</a:t>
            </a:r>
            <a:r>
              <a:rPr lang="en-US" sz="1100" kern="0" dirty="0">
                <a:solidFill>
                  <a:srgbClr val="000000"/>
                </a:solidFill>
                <a:latin typeface="Arial"/>
              </a:rPr>
              <a:t> unsigned quantization = </a:t>
            </a:r>
            <a:r>
              <a:rPr lang="en-US" sz="1100" kern="0" dirty="0" err="1">
                <a:solidFill>
                  <a:srgbClr val="000000"/>
                </a:solidFill>
                <a:latin typeface="Arial"/>
              </a:rPr>
              <a:t>hls</a:t>
            </a:r>
            <a:r>
              <a:rPr lang="en-US" sz="1100" kern="0" dirty="0">
                <a:solidFill>
                  <a:srgbClr val="000000"/>
                </a:solidFill>
                <a:latin typeface="Arial"/>
              </a:rPr>
              <a:t>::</a:t>
            </a:r>
            <a:r>
              <a:rPr lang="en-US" sz="1100" kern="0" dirty="0" err="1">
                <a:solidFill>
                  <a:srgbClr val="000000"/>
                </a:solidFill>
                <a:latin typeface="Arial"/>
              </a:rPr>
              <a:t>ip_fir</a:t>
            </a:r>
            <a:r>
              <a:rPr lang="en-US" sz="1100" kern="0" dirty="0">
                <a:solidFill>
                  <a:srgbClr val="000000"/>
                </a:solidFill>
                <a:latin typeface="Arial"/>
              </a:rPr>
              <a:t>::</a:t>
            </a:r>
            <a:r>
              <a:rPr lang="en-US" sz="1100" kern="0" dirty="0" err="1">
                <a:solidFill>
                  <a:srgbClr val="000000"/>
                </a:solidFill>
                <a:latin typeface="Arial"/>
              </a:rPr>
              <a:t>quantize_only</a:t>
            </a:r>
            <a:r>
              <a:rPr lang="en-US" sz="1100"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Execute FIR</a:t>
            </a:r>
          </a:p>
          <a:p>
            <a:pPr defTabSz="914400" fontAlgn="base">
              <a:spcBef>
                <a:spcPct val="0"/>
              </a:spcBef>
              <a:spcAft>
                <a:spcPct val="0"/>
              </a:spcAft>
              <a:defRPr/>
            </a:pPr>
            <a:r>
              <a:rPr lang="en-US" sz="1100" kern="0" dirty="0">
                <a:solidFill>
                  <a:srgbClr val="000000"/>
                </a:solidFill>
                <a:latin typeface="Arial"/>
              </a:rPr>
              <a:t>static </a:t>
            </a:r>
            <a:r>
              <a:rPr lang="en-US" sz="1100" kern="0" dirty="0" err="1">
                <a:solidFill>
                  <a:srgbClr val="000000"/>
                </a:solidFill>
                <a:latin typeface="Arial"/>
              </a:rPr>
              <a:t>hls</a:t>
            </a:r>
            <a:r>
              <a:rPr lang="en-US" sz="1100" kern="0" dirty="0">
                <a:solidFill>
                  <a:srgbClr val="000000"/>
                </a:solidFill>
                <a:latin typeface="Arial"/>
              </a:rPr>
              <a:t>::FIR&lt;</a:t>
            </a:r>
            <a:r>
              <a:rPr lang="en-US" sz="1100" b="1" kern="0" dirty="0">
                <a:solidFill>
                  <a:srgbClr val="000000"/>
                </a:solidFill>
                <a:latin typeface="Arial"/>
              </a:rPr>
              <a:t>param1</a:t>
            </a:r>
            <a:r>
              <a:rPr lang="en-US" sz="1100" kern="0" dirty="0">
                <a:solidFill>
                  <a:srgbClr val="000000"/>
                </a:solidFill>
                <a:latin typeface="Arial"/>
              </a:rPr>
              <a:t>&gt; fir1;</a:t>
            </a:r>
          </a:p>
          <a:p>
            <a:pPr defTabSz="914400" fontAlgn="base">
              <a:spcBef>
                <a:spcPct val="0"/>
              </a:spcBef>
              <a:spcAft>
                <a:spcPct val="0"/>
              </a:spcAft>
              <a:defRPr/>
            </a:pPr>
            <a:r>
              <a:rPr lang="en-US" sz="1100" kern="0" dirty="0">
                <a:solidFill>
                  <a:srgbClr val="000000"/>
                </a:solidFill>
                <a:latin typeface="Arial"/>
              </a:rPr>
              <a:t>fir1.run(</a:t>
            </a:r>
            <a:r>
              <a:rPr lang="en-US" sz="1100" kern="0" dirty="0" err="1">
                <a:solidFill>
                  <a:srgbClr val="000000"/>
                </a:solidFill>
                <a:latin typeface="Arial"/>
              </a:rPr>
              <a:t>fir_in</a:t>
            </a:r>
            <a:r>
              <a:rPr lang="en-US" sz="1100" kern="0" dirty="0">
                <a:solidFill>
                  <a:srgbClr val="000000"/>
                </a:solidFill>
                <a:latin typeface="Arial"/>
              </a:rPr>
              <a:t>, </a:t>
            </a:r>
            <a:r>
              <a:rPr lang="en-US" sz="1100" kern="0" dirty="0" err="1">
                <a:solidFill>
                  <a:srgbClr val="000000"/>
                </a:solidFill>
                <a:latin typeface="Arial"/>
              </a:rPr>
              <a:t>fir_out</a:t>
            </a:r>
            <a:r>
              <a:rPr lang="en-US" sz="1100" kern="0" dirty="0">
                <a:solidFill>
                  <a:srgbClr val="000000"/>
                </a:solidFill>
                <a:latin typeface="Arial"/>
              </a:rPr>
              <a:t>);</a:t>
            </a:r>
          </a:p>
        </p:txBody>
      </p:sp>
      <p:sp>
        <p:nvSpPr>
          <p:cNvPr id="9" name="TextBox 8">
            <a:extLst>
              <a:ext uri="{FF2B5EF4-FFF2-40B4-BE49-F238E27FC236}">
                <a16:creationId xmlns:a16="http://schemas.microsoft.com/office/drawing/2014/main" id="{51533ECB-03FE-4508-93F1-7EB909C5833E}"/>
              </a:ext>
            </a:extLst>
          </p:cNvPr>
          <p:cNvSpPr txBox="1"/>
          <p:nvPr/>
        </p:nvSpPr>
        <p:spPr bwMode="auto">
          <a:xfrm>
            <a:off x="6839880" y="4154124"/>
            <a:ext cx="2328202" cy="264111"/>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100" b="1" kern="0" dirty="0">
                <a:solidFill>
                  <a:srgbClr val="000000"/>
                </a:solidFill>
                <a:latin typeface="Arial"/>
              </a:rPr>
              <a:t>  Include Header File</a:t>
            </a:r>
          </a:p>
        </p:txBody>
      </p:sp>
      <p:sp>
        <p:nvSpPr>
          <p:cNvPr id="11" name="TextBox 10">
            <a:extLst>
              <a:ext uri="{FF2B5EF4-FFF2-40B4-BE49-F238E27FC236}">
                <a16:creationId xmlns:a16="http://schemas.microsoft.com/office/drawing/2014/main" id="{2CC5B1CA-26D3-4CEB-B5FE-710F1F02A6D2}"/>
              </a:ext>
            </a:extLst>
          </p:cNvPr>
          <p:cNvSpPr txBox="1"/>
          <p:nvPr/>
        </p:nvSpPr>
        <p:spPr bwMode="auto">
          <a:xfrm>
            <a:off x="6842256" y="4586281"/>
            <a:ext cx="5024780" cy="1431161"/>
          </a:xfrm>
          <a:prstGeom prst="rect">
            <a:avLst/>
          </a:prstGeom>
          <a:solidFill>
            <a:srgbClr val="FFFF99"/>
          </a:solidFill>
          <a:ln>
            <a:noFill/>
            <a:headEnd/>
            <a:tailEnd/>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p:spPr>
        <p:txBody>
          <a:bodyPr vert="horz" wrap="square" lIns="0" tIns="45720" rIns="91440" bIns="45720" numCol="1" rtlCol="0" anchor="t" anchorCtr="0" compatLnSpc="1">
            <a:prstTxWarp prst="textNoShape">
              <a:avLst/>
            </a:prstTxWarp>
            <a:spAutoFit/>
          </a:bodyPr>
          <a:lstStyle/>
          <a:p>
            <a:pPr defTabSz="914400" eaLnBrk="0" fontAlgn="base" hangingPunct="0">
              <a:lnSpc>
                <a:spcPct val="110000"/>
              </a:lnSpc>
              <a:spcBef>
                <a:spcPct val="20000"/>
              </a:spcBef>
              <a:spcAft>
                <a:spcPct val="0"/>
              </a:spcAft>
              <a:buClr>
                <a:srgbClr val="EC891D"/>
              </a:buClr>
              <a:buSzPct val="88000"/>
              <a:defRPr/>
            </a:pPr>
            <a:r>
              <a:rPr lang="en-US" sz="1000" b="1" kern="0" dirty="0">
                <a:solidFill>
                  <a:srgbClr val="000000"/>
                </a:solidFill>
                <a:latin typeface="Arial"/>
              </a:rPr>
              <a:t>  Create struct based on </a:t>
            </a:r>
            <a:r>
              <a:rPr lang="en-US" sz="1000" b="1" kern="0" dirty="0" err="1">
                <a:solidFill>
                  <a:srgbClr val="000000"/>
                </a:solidFill>
                <a:latin typeface="Arial"/>
              </a:rPr>
              <a:t>hls</a:t>
            </a:r>
            <a:r>
              <a:rPr lang="en-US" sz="1000" b="1" kern="0" dirty="0">
                <a:solidFill>
                  <a:srgbClr val="000000"/>
                </a:solidFill>
                <a:latin typeface="Arial"/>
              </a:rPr>
              <a:t>::</a:t>
            </a:r>
            <a:r>
              <a:rPr lang="en-US" sz="1000" b="1" kern="0" dirty="0" err="1">
                <a:solidFill>
                  <a:srgbClr val="000000"/>
                </a:solidFill>
                <a:latin typeface="Arial"/>
              </a:rPr>
              <a:t>ip</a:t>
            </a:r>
            <a:r>
              <a:rPr lang="en-US" sz="1000" b="1" kern="0" dirty="0">
                <a:solidFill>
                  <a:srgbClr val="000000"/>
                </a:solidFill>
                <a:latin typeface="Arial"/>
              </a:rPr>
              <a:t>::</a:t>
            </a:r>
            <a:r>
              <a:rPr lang="en-US" sz="1000" b="1" kern="0" dirty="0" err="1">
                <a:solidFill>
                  <a:srgbClr val="000000"/>
                </a:solidFill>
                <a:latin typeface="Arial"/>
              </a:rPr>
              <a:t>fir:params_t</a:t>
            </a:r>
            <a:endParaRPr lang="en-US" sz="1000" b="1" kern="0" dirty="0">
              <a:solidFill>
                <a:srgbClr val="000000"/>
              </a:solidFill>
              <a:latin typeface="Arial"/>
            </a:endParaRP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err="1">
                <a:solidFill>
                  <a:srgbClr val="000000"/>
                </a:solidFill>
                <a:latin typeface="Arial"/>
              </a:rPr>
              <a:t>params_t</a:t>
            </a:r>
            <a:r>
              <a:rPr lang="en-US" sz="1000" b="1" kern="0" dirty="0">
                <a:solidFill>
                  <a:srgbClr val="000000"/>
                </a:solidFill>
                <a:latin typeface="Arial"/>
              </a:rPr>
              <a:t> includes the default values</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overrides 3 default value in this example  and specifies the coefficients </a:t>
            </a:r>
          </a:p>
          <a:p>
            <a:pPr marL="1085850" lvl="2"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The </a:t>
            </a:r>
            <a:r>
              <a:rPr lang="en-US" sz="1000" b="1" kern="0" dirty="0" err="1">
                <a:solidFill>
                  <a:srgbClr val="000000"/>
                </a:solidFill>
                <a:latin typeface="Arial"/>
              </a:rPr>
              <a:t>coeff_vec</a:t>
            </a:r>
            <a:r>
              <a:rPr lang="en-US" sz="1000" b="1" kern="0" dirty="0">
                <a:solidFill>
                  <a:srgbClr val="000000"/>
                </a:solidFill>
                <a:latin typeface="Arial"/>
              </a:rPr>
              <a:t> has no default</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Struct </a:t>
            </a:r>
            <a:r>
              <a:rPr lang="en-US" sz="1000" b="1" i="1" kern="0" dirty="0">
                <a:solidFill>
                  <a:srgbClr val="000000"/>
                </a:solidFill>
                <a:latin typeface="Arial"/>
              </a:rPr>
              <a:t>param1</a:t>
            </a:r>
            <a:r>
              <a:rPr lang="en-US" sz="1000" b="1" kern="0" dirty="0">
                <a:solidFill>
                  <a:srgbClr val="000000"/>
                </a:solidFill>
                <a:latin typeface="Arial"/>
              </a:rPr>
              <a:t> is then used to configure the FIR </a:t>
            </a:r>
          </a:p>
          <a:p>
            <a:pPr marL="628650" lvl="1" indent="-171450" defTabSz="914400" eaLnBrk="0" fontAlgn="base" hangingPunct="0">
              <a:lnSpc>
                <a:spcPct val="110000"/>
              </a:lnSpc>
              <a:spcBef>
                <a:spcPct val="20000"/>
              </a:spcBef>
              <a:spcAft>
                <a:spcPct val="0"/>
              </a:spcAft>
              <a:buClr>
                <a:srgbClr val="EC891D"/>
              </a:buClr>
              <a:buSzPct val="88000"/>
              <a:buFont typeface="Arial" pitchFamily="34" charset="0"/>
              <a:buChar char="•"/>
              <a:defRPr/>
            </a:pPr>
            <a:r>
              <a:rPr lang="en-US" sz="1000" b="1" kern="0" dirty="0">
                <a:solidFill>
                  <a:srgbClr val="000000"/>
                </a:solidFill>
                <a:latin typeface="Arial"/>
              </a:rPr>
              <a:t>Used as STATIC_PARAM in previous slide</a:t>
            </a:r>
          </a:p>
        </p:txBody>
      </p:sp>
    </p:spTree>
    <p:extLst>
      <p:ext uri="{BB962C8B-B14F-4D97-AF65-F5344CB8AC3E}">
        <p14:creationId xmlns:p14="http://schemas.microsoft.com/office/powerpoint/2010/main" val="233720960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Configuration Parameters</a:t>
            </a:r>
          </a:p>
        </p:txBody>
      </p:sp>
      <p:sp>
        <p:nvSpPr>
          <p:cNvPr id="7" name="TextBox 6"/>
          <p:cNvSpPr txBox="1"/>
          <p:nvPr/>
        </p:nvSpPr>
        <p:spPr bwMode="auto">
          <a:xfrm>
            <a:off x="1085039" y="5879126"/>
            <a:ext cx="6454652" cy="404663"/>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chemeClr val="tx2"/>
              </a:buClr>
              <a:buSzPct val="88000"/>
            </a:pPr>
            <a:r>
              <a:rPr lang="en-US" sz="2000" b="1" kern="0" dirty="0">
                <a:solidFill>
                  <a:schemeClr val="accent4"/>
                </a:solidFill>
              </a:rPr>
              <a:t>These parameters are defined in </a:t>
            </a:r>
            <a:r>
              <a:rPr lang="en-US" sz="2000" b="1" kern="0" dirty="0" err="1">
                <a:solidFill>
                  <a:schemeClr val="accent6">
                    <a:lumMod val="75000"/>
                  </a:schemeClr>
                </a:solidFill>
              </a:rPr>
              <a:t>param_t</a:t>
            </a:r>
            <a:r>
              <a:rPr lang="en-US" sz="2000" b="1" kern="0" dirty="0">
                <a:solidFill>
                  <a:schemeClr val="accent4"/>
                </a:solidFill>
              </a:rPr>
              <a:t> in </a:t>
            </a:r>
            <a:r>
              <a:rPr lang="en-US" sz="2000" b="1" kern="0" dirty="0" err="1">
                <a:solidFill>
                  <a:schemeClr val="accent6">
                    <a:lumMod val="75000"/>
                  </a:schemeClr>
                </a:solidFill>
              </a:rPr>
              <a:t>hls_fir.h</a:t>
            </a:r>
            <a:endParaRPr lang="en-US" sz="2000" b="1" kern="0" dirty="0">
              <a:solidFill>
                <a:schemeClr val="accent6">
                  <a:lumMod val="75000"/>
                </a:schemeClr>
              </a:solidFill>
            </a:endParaRPr>
          </a:p>
        </p:txBody>
      </p:sp>
      <p:graphicFrame>
        <p:nvGraphicFramePr>
          <p:cNvPr id="8" name="Table 7">
            <a:extLst>
              <a:ext uri="{FF2B5EF4-FFF2-40B4-BE49-F238E27FC236}">
                <a16:creationId xmlns:a16="http://schemas.microsoft.com/office/drawing/2014/main" id="{03EDCF55-BB70-4D70-9809-F14F12589C5F}"/>
              </a:ext>
            </a:extLst>
          </p:cNvPr>
          <p:cNvGraphicFramePr>
            <a:graphicFrameLocks noGrp="1"/>
          </p:cNvGraphicFramePr>
          <p:nvPr/>
        </p:nvGraphicFramePr>
        <p:xfrm>
          <a:off x="1172599" y="1009183"/>
          <a:ext cx="7356446" cy="4869942"/>
        </p:xfrm>
        <a:graphic>
          <a:graphicData uri="http://schemas.openxmlformats.org/drawingml/2006/table">
            <a:tbl>
              <a:tblPr firstRow="1" firstCol="1" bandRow="1"/>
              <a:tblGrid>
                <a:gridCol w="2355534">
                  <a:extLst>
                    <a:ext uri="{9D8B030D-6E8A-4147-A177-3AD203B41FA5}">
                      <a16:colId xmlns:a16="http://schemas.microsoft.com/office/drawing/2014/main" val="20000"/>
                    </a:ext>
                  </a:extLst>
                </a:gridCol>
                <a:gridCol w="5000912">
                  <a:extLst>
                    <a:ext uri="{9D8B030D-6E8A-4147-A177-3AD203B41FA5}">
                      <a16:colId xmlns:a16="http://schemas.microsoft.com/office/drawing/2014/main" val="20001"/>
                    </a:ext>
                  </a:extLst>
                </a:gridCol>
              </a:tblGrid>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a:effectLst/>
                        </a:rPr>
                        <a:t>Parameter </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a:effectLst/>
                        </a:rPr>
                        <a:t>Description</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input_width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Data input port 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input_fractional_bits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fractional bits on the input port</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Data output port 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output_fractional_bits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fractional bits on the output port</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Bit-width of the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coeff_fractional_bits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fractional bits in the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num_coeffs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err="1">
                          <a:effectLst/>
                        </a:rPr>
                        <a:t>coeff_sets</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coefficient sets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input_length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samples in the input data</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output_length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samples in the output data</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num_channels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the number of channels of data to process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total_number_coeff</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Total number of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coeff_vec[total_num_coeff]</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coefficient array</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filter_type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type implementation used for the filter</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rate_change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Specifies integer or fractional rate changes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interp_rate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interpolation 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tabLst>
                          <a:tab pos="680085" algn="ctr"/>
                        </a:tabLst>
                      </a:pPr>
                      <a:r>
                        <a:rPr lang="en-US" sz="900">
                          <a:effectLst/>
                        </a:rPr>
                        <a:t>decim_rate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decimation 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err="1">
                          <a:effectLst/>
                        </a:rPr>
                        <a:t>zero_pack_factor</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zero coefficients used in interpolation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rate_specification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the rate as frequency or period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hardware_oversampling_rate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the rate of over-sampling</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sample_period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hardware oversample period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sample_frequency</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hardware oversample frequency</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2"/>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quantization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quantitation method to be used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3"/>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best_precision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Enable or disable the best precision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4"/>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coeff_structure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type of coefficient structure to be used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5"/>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output_rounding_mode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Type of rounding used on the output </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6"/>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filter_arch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Selects a systolic or transposed architecture </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7"/>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optimization_goal</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a speed or area goal for optimization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8"/>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inter_column_pipe_length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pipeline length required between DSP columns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9"/>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column_config</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Specifies the number of DSP48 column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config_method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Specifies how the DSP48 columns are configured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3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coeff_padding</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Number of zero padding added to the front of the filter</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2"/>
                  </a:ext>
                </a:extLst>
              </a:tr>
            </a:tbl>
          </a:graphicData>
        </a:graphic>
      </p:graphicFrame>
      <p:sp>
        <p:nvSpPr>
          <p:cNvPr id="9" name="Slide Number Placeholder 5">
            <a:extLst>
              <a:ext uri="{FF2B5EF4-FFF2-40B4-BE49-F238E27FC236}">
                <a16:creationId xmlns:a16="http://schemas.microsoft.com/office/drawing/2014/main" id="{72333F16-8CA1-4D21-B6DD-C14C633C6CE2}"/>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84</a:t>
            </a:fld>
            <a:endParaRPr lang="en-US" dirty="0"/>
          </a:p>
        </p:txBody>
      </p:sp>
    </p:spTree>
    <p:extLst>
      <p:ext uri="{BB962C8B-B14F-4D97-AF65-F5344CB8AC3E}">
        <p14:creationId xmlns:p14="http://schemas.microsoft.com/office/powerpoint/2010/main" val="377652858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Configuration Parameters</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85</a:t>
            </a:fld>
            <a:endParaRPr lang="en-US" dirty="0">
              <a:solidFill>
                <a:srgbClr val="0C0C0C">
                  <a:tint val="75000"/>
                </a:srgbClr>
              </a:solidFill>
              <a:latin typeface="Arial"/>
            </a:endParaRPr>
          </a:p>
        </p:txBody>
      </p:sp>
      <p:sp>
        <p:nvSpPr>
          <p:cNvPr id="7" name="TextBox 6"/>
          <p:cNvSpPr txBox="1"/>
          <p:nvPr/>
        </p:nvSpPr>
        <p:spPr bwMode="auto">
          <a:xfrm>
            <a:off x="1085039" y="5879126"/>
            <a:ext cx="6454652" cy="404663"/>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rgbClr val="161C2E"/>
              </a:buClr>
              <a:buSzPct val="88000"/>
            </a:pPr>
            <a:r>
              <a:rPr lang="en-US" sz="2000" b="1" kern="0" dirty="0">
                <a:solidFill>
                  <a:srgbClr val="1B3866"/>
                </a:solidFill>
                <a:latin typeface="Arial"/>
              </a:rPr>
              <a:t>These parameters are defined in </a:t>
            </a:r>
            <a:r>
              <a:rPr lang="en-US" sz="2000" b="1" kern="0" dirty="0" err="1">
                <a:solidFill>
                  <a:srgbClr val="1E640E">
                    <a:lumMod val="75000"/>
                  </a:srgbClr>
                </a:solidFill>
                <a:latin typeface="Arial"/>
              </a:rPr>
              <a:t>param_t</a:t>
            </a:r>
            <a:r>
              <a:rPr lang="en-US" sz="2000" b="1" kern="0" dirty="0">
                <a:solidFill>
                  <a:srgbClr val="1B3866"/>
                </a:solidFill>
                <a:latin typeface="Arial"/>
              </a:rPr>
              <a:t> in </a:t>
            </a:r>
            <a:r>
              <a:rPr lang="en-US" sz="2000" b="1" kern="0" dirty="0" err="1">
                <a:solidFill>
                  <a:srgbClr val="1E640E">
                    <a:lumMod val="75000"/>
                  </a:srgbClr>
                </a:solidFill>
                <a:latin typeface="Arial"/>
              </a:rPr>
              <a:t>hls_fir.h</a:t>
            </a:r>
            <a:endParaRPr lang="en-US" sz="2000" b="1" kern="0" dirty="0">
              <a:solidFill>
                <a:srgbClr val="1E640E">
                  <a:lumMod val="75000"/>
                </a:srgbClr>
              </a:solidFill>
              <a:latin typeface="Arial"/>
            </a:endParaRPr>
          </a:p>
        </p:txBody>
      </p:sp>
      <p:graphicFrame>
        <p:nvGraphicFramePr>
          <p:cNvPr id="8" name="Table 7">
            <a:extLst>
              <a:ext uri="{FF2B5EF4-FFF2-40B4-BE49-F238E27FC236}">
                <a16:creationId xmlns:a16="http://schemas.microsoft.com/office/drawing/2014/main" id="{03EDCF55-BB70-4D70-9809-F14F12589C5F}"/>
              </a:ext>
            </a:extLst>
          </p:cNvPr>
          <p:cNvGraphicFramePr>
            <a:graphicFrameLocks noGrp="1"/>
          </p:cNvGraphicFramePr>
          <p:nvPr/>
        </p:nvGraphicFramePr>
        <p:xfrm>
          <a:off x="1172599" y="1009183"/>
          <a:ext cx="7356446" cy="4869942"/>
        </p:xfrm>
        <a:graphic>
          <a:graphicData uri="http://schemas.openxmlformats.org/drawingml/2006/table">
            <a:tbl>
              <a:tblPr firstRow="1" firstCol="1" bandRow="1"/>
              <a:tblGrid>
                <a:gridCol w="2355534">
                  <a:extLst>
                    <a:ext uri="{9D8B030D-6E8A-4147-A177-3AD203B41FA5}">
                      <a16:colId xmlns:a16="http://schemas.microsoft.com/office/drawing/2014/main" val="20000"/>
                    </a:ext>
                  </a:extLst>
                </a:gridCol>
                <a:gridCol w="5000912">
                  <a:extLst>
                    <a:ext uri="{9D8B030D-6E8A-4147-A177-3AD203B41FA5}">
                      <a16:colId xmlns:a16="http://schemas.microsoft.com/office/drawing/2014/main" val="20001"/>
                    </a:ext>
                  </a:extLst>
                </a:gridCol>
              </a:tblGrid>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a:effectLst/>
                        </a:rPr>
                        <a:t>Parameter </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a:effectLst/>
                        </a:rPr>
                        <a:t>Description</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input_width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Data input port 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input_fractional_bits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fractional bits on the input port</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Data output port 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output_fractional_bits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fractional bits on the output port</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coeff_width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Bit-width of the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coeff_fractional_bits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fractional bits in the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num_coeffs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err="1">
                          <a:effectLst/>
                        </a:rPr>
                        <a:t>coeff_sets</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coefficient sets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input_length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samples in the input data</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output_length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samples in the output data</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num_channels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the number of channels of data to process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total_number_coeff</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Total number of coefficients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coeff_vec[total_num_coeff]</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coefficient array</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filter_type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type implementation used for the filter</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rate_change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Specifies integer or fractional rate changes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interp_rate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interpolation 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tabLst>
                          <a:tab pos="680085" algn="ctr"/>
                        </a:tabLst>
                      </a:pPr>
                      <a:r>
                        <a:rPr lang="en-US" sz="900">
                          <a:effectLst/>
                        </a:rPr>
                        <a:t>decim_rate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decimation 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dirty="0" err="1">
                          <a:effectLst/>
                        </a:rPr>
                        <a:t>zero_pack_factor</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Number of zero coefficients used in interpolation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rate_specification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the rate as frequency or period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hardware_oversampling_rate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the rate of over-sampling</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sample_period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hardware oversample period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sample_frequency</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hardware oversample frequency</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2"/>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quantization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quantitation method to be used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3"/>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best_precision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Enable or disable the best precision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4"/>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coeff_structure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type of coefficient structure to be used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5"/>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output_rounding_mode</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Type of rounding used on the output </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6"/>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filter_arch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Selects a systolic or transposed architecture </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7"/>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optimization_goal</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Specify a speed or area goal for optimization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8"/>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inter_column_pipe_length</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The pipeline length required between DSP columns</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9"/>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column_config</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Specifies the number of DSP48 column</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0"/>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config_method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a:effectLst/>
                        </a:rPr>
                        <a:t>Specifies how the DSP48 columns are configured</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31"/>
                  </a:ext>
                </a:extLst>
              </a:tr>
              <a:tr h="129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900">
                          <a:effectLst/>
                        </a:rPr>
                        <a:t>coeff_padding</a:t>
                      </a:r>
                      <a:endParaRPr lang="en-US" sz="90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900" dirty="0">
                          <a:effectLst/>
                        </a:rPr>
                        <a:t>Number of zero padding added to the front of the filter</a:t>
                      </a:r>
                      <a:endParaRPr lang="en-US" sz="900" dirty="0">
                        <a:effectLst/>
                        <a:latin typeface="Calibri"/>
                        <a:ea typeface="Calibri"/>
                        <a:cs typeface="Times New Roman"/>
                      </a:endParaRPr>
                    </a:p>
                  </a:txBody>
                  <a:tcPr marL="61339" marR="6133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2"/>
                  </a:ext>
                </a:extLst>
              </a:tr>
            </a:tbl>
          </a:graphicData>
        </a:graphic>
      </p:graphicFrame>
    </p:spTree>
    <p:extLst>
      <p:ext uri="{BB962C8B-B14F-4D97-AF65-F5344CB8AC3E}">
        <p14:creationId xmlns:p14="http://schemas.microsoft.com/office/powerpoint/2010/main" val="5362611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Configuration Defaults and Valid Values</a:t>
            </a:r>
          </a:p>
        </p:txBody>
      </p:sp>
      <p:graphicFrame>
        <p:nvGraphicFramePr>
          <p:cNvPr id="8" name="Content Placeholder 6">
            <a:extLst>
              <a:ext uri="{FF2B5EF4-FFF2-40B4-BE49-F238E27FC236}">
                <a16:creationId xmlns:a16="http://schemas.microsoft.com/office/drawing/2014/main" id="{83C6A5DA-DC20-422B-B774-1676EFA3F735}"/>
              </a:ext>
            </a:extLst>
          </p:cNvPr>
          <p:cNvGraphicFramePr>
            <a:graphicFrameLocks/>
          </p:cNvGraphicFramePr>
          <p:nvPr/>
        </p:nvGraphicFramePr>
        <p:xfrm>
          <a:off x="1080103" y="858245"/>
          <a:ext cx="10500868" cy="5348429"/>
        </p:xfrm>
        <a:graphic>
          <a:graphicData uri="http://schemas.openxmlformats.org/drawingml/2006/table">
            <a:tbl>
              <a:tblPr firstRow="1" firstCol="1" bandRow="1"/>
              <a:tblGrid>
                <a:gridCol w="2545260">
                  <a:extLst>
                    <a:ext uri="{9D8B030D-6E8A-4147-A177-3AD203B41FA5}">
                      <a16:colId xmlns:a16="http://schemas.microsoft.com/office/drawing/2014/main" val="20000"/>
                    </a:ext>
                  </a:extLst>
                </a:gridCol>
                <a:gridCol w="1425880">
                  <a:extLst>
                    <a:ext uri="{9D8B030D-6E8A-4147-A177-3AD203B41FA5}">
                      <a16:colId xmlns:a16="http://schemas.microsoft.com/office/drawing/2014/main" val="20001"/>
                    </a:ext>
                  </a:extLst>
                </a:gridCol>
                <a:gridCol w="2252089">
                  <a:extLst>
                    <a:ext uri="{9D8B030D-6E8A-4147-A177-3AD203B41FA5}">
                      <a16:colId xmlns:a16="http://schemas.microsoft.com/office/drawing/2014/main" val="20002"/>
                    </a:ext>
                  </a:extLst>
                </a:gridCol>
                <a:gridCol w="4277639">
                  <a:extLst>
                    <a:ext uri="{9D8B030D-6E8A-4147-A177-3AD203B41FA5}">
                      <a16:colId xmlns:a16="http://schemas.microsoft.com/office/drawing/2014/main" val="20003"/>
                    </a:ext>
                  </a:extLst>
                </a:gridCol>
              </a:tblGrid>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dirty="0">
                          <a:effectLst/>
                        </a:rPr>
                        <a:t>Parameter </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 Type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Default Value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Valid Values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16</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No limitation</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input_fractional_bits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Limited by size of input_width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output_fractional_bits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Limited by size of output_width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16</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coeff_fractional_bits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Limited by size of coeff_width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num_coeffs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bool  </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Full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coeff_sets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  </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input_length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output_length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num_channels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total_number_coeff</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num_coeffs * coeff_sets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coeff_vec[total_num_coeff]</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double array</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None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Not applicable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207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filter_type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single_rate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single_rate, interpolation, decimation, hibert, interpolated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rate_change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integer</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integer, fixed_fractional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interp_rate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tabLst>
                          <a:tab pos="680085" algn="ctr"/>
                        </a:tabLst>
                      </a:pPr>
                      <a:r>
                        <a:rPr lang="en-US" sz="800">
                          <a:effectLst/>
                        </a:rPr>
                        <a:t>decim_rate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dirty="0" err="1">
                          <a:effectLst/>
                        </a:rPr>
                        <a:t>zero_pack_factor</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2-8</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rate_specification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period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frequency,period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hardware_oversampling_rate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sample_period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bool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1"/>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sample_frequency</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0.001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2"/>
                  </a:ext>
                </a:extLst>
              </a:tr>
              <a:tr h="24009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quantization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integer_coefficients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integer_coefficients , quantize_only, maximize_dynamic_range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3"/>
                  </a:ext>
                </a:extLst>
              </a:tr>
              <a:tr h="211712">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best_precision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false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false</a:t>
                      </a:r>
                      <a:endParaRPr lang="en-US" sz="800">
                        <a:effectLst/>
                      </a:endParaRPr>
                    </a:p>
                    <a:p>
                      <a:pPr marL="0" marR="0">
                        <a:lnSpc>
                          <a:spcPct val="115000"/>
                        </a:lnSpc>
                        <a:spcBef>
                          <a:spcPts val="0"/>
                        </a:spcBef>
                        <a:spcAft>
                          <a:spcPts val="0"/>
                        </a:spcAft>
                      </a:pPr>
                      <a:r>
                        <a:rPr lang="en-US" sz="700">
                          <a:effectLst/>
                        </a:rPr>
                        <a:t>true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4"/>
                  </a:ext>
                </a:extLst>
              </a:tr>
              <a:tr h="211712">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coeff_structure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non_synmetric</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inferred , non_symmetric, symmetric, negative_symmetric, half_band, hilbert</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5"/>
                  </a:ext>
                </a:extLst>
              </a:tr>
              <a:tr h="54926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output_rounding_mode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full_precision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dirty="0" err="1">
                          <a:effectLst/>
                        </a:rPr>
                        <a:t>full_precision</a:t>
                      </a:r>
                      <a:r>
                        <a:rPr lang="en-US" sz="700" dirty="0">
                          <a:effectLst/>
                        </a:rPr>
                        <a:t>, </a:t>
                      </a:r>
                      <a:r>
                        <a:rPr lang="en-US" sz="700" dirty="0" err="1">
                          <a:effectLst/>
                        </a:rPr>
                        <a:t>truncate_lsbs</a:t>
                      </a:r>
                      <a:r>
                        <a:rPr lang="en-US" sz="700" dirty="0">
                          <a:effectLst/>
                        </a:rPr>
                        <a:t>, </a:t>
                      </a:r>
                      <a:r>
                        <a:rPr lang="en-US" sz="700" dirty="0" err="1">
                          <a:effectLst/>
                        </a:rPr>
                        <a:t>non_symmetric_rounding_down</a:t>
                      </a:r>
                      <a:r>
                        <a:rPr lang="en-US" sz="700" dirty="0">
                          <a:effectLst/>
                        </a:rPr>
                        <a:t>,        </a:t>
                      </a:r>
                      <a:r>
                        <a:rPr lang="en-US" sz="700" dirty="0" err="1">
                          <a:effectLst/>
                        </a:rPr>
                        <a:t>non_symmetric_rounding_up</a:t>
                      </a:r>
                      <a:r>
                        <a:rPr lang="en-US" sz="700" dirty="0">
                          <a:effectLst/>
                        </a:rPr>
                        <a:t>, </a:t>
                      </a:r>
                      <a:r>
                        <a:rPr lang="en-US" sz="700" dirty="0" err="1">
                          <a:effectLst/>
                        </a:rPr>
                        <a:t>symmetric_rounding_to_zero</a:t>
                      </a:r>
                      <a:r>
                        <a:rPr lang="en-US" sz="700" dirty="0">
                          <a:effectLst/>
                        </a:rPr>
                        <a:t>,                       </a:t>
                      </a:r>
                      <a:r>
                        <a:rPr lang="en-US" sz="700" dirty="0" err="1">
                          <a:effectLst/>
                        </a:rPr>
                        <a:t>symmetric_rounding_to_infinity</a:t>
                      </a:r>
                      <a:r>
                        <a:rPr lang="en-US" sz="700" dirty="0">
                          <a:effectLst/>
                        </a:rPr>
                        <a:t>, </a:t>
                      </a:r>
                      <a:r>
                        <a:rPr lang="en-US" sz="700" dirty="0" err="1">
                          <a:effectLst/>
                        </a:rPr>
                        <a:t>convergent_rounding_to_even</a:t>
                      </a:r>
                      <a:r>
                        <a:rPr lang="en-US" sz="700" dirty="0">
                          <a:effectLst/>
                        </a:rPr>
                        <a:t>,        </a:t>
                      </a:r>
                      <a:r>
                        <a:rPr lang="en-US" sz="700" dirty="0" err="1">
                          <a:effectLst/>
                        </a:rPr>
                        <a:t>convergent_rounding_to_odd</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6"/>
                  </a:ext>
                </a:extLst>
              </a:tr>
              <a:tr h="254054">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filter_arch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systolic_multiply_accumulate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systolic_multiply_accumulate</a:t>
                      </a:r>
                      <a:r>
                        <a:rPr lang="en-US" sz="800" dirty="0">
                          <a:effectLst/>
                        </a:rPr>
                        <a:t>, </a:t>
                      </a:r>
                      <a:r>
                        <a:rPr lang="en-US" sz="800" dirty="0" err="1">
                          <a:effectLst/>
                        </a:rPr>
                        <a:t>transpose_multiply_accumulate</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7"/>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optimization_goal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area</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area, speed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8"/>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inter_column_pipe_length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1-16</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9"/>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column_config</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Limited by number of DSP48s used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config_method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single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single, by_channel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31"/>
                  </a:ext>
                </a:extLst>
              </a:tr>
              <a:tr h="211712">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coeff_padding</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bool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false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dirty="0">
                          <a:effectLst/>
                        </a:rPr>
                        <a:t>false</a:t>
                      </a:r>
                      <a:endParaRPr lang="en-US" sz="800" dirty="0">
                        <a:effectLst/>
                      </a:endParaRPr>
                    </a:p>
                    <a:p>
                      <a:pPr marL="0" marR="0">
                        <a:lnSpc>
                          <a:spcPct val="115000"/>
                        </a:lnSpc>
                        <a:spcBef>
                          <a:spcPts val="0"/>
                        </a:spcBef>
                        <a:spcAft>
                          <a:spcPts val="0"/>
                        </a:spcAft>
                      </a:pPr>
                      <a:r>
                        <a:rPr lang="en-US" sz="700" dirty="0">
                          <a:effectLst/>
                        </a:rPr>
                        <a:t>true</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2"/>
                  </a:ext>
                </a:extLst>
              </a:tr>
            </a:tbl>
          </a:graphicData>
        </a:graphic>
      </p:graphicFrame>
      <p:sp>
        <p:nvSpPr>
          <p:cNvPr id="6" name="Slide Number Placeholder 5">
            <a:extLst>
              <a:ext uri="{FF2B5EF4-FFF2-40B4-BE49-F238E27FC236}">
                <a16:creationId xmlns:a16="http://schemas.microsoft.com/office/drawing/2014/main" id="{D48DD964-328A-4A0D-A18E-06382EDD35D1}"/>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86</a:t>
            </a:fld>
            <a:endParaRPr lang="en-US" dirty="0"/>
          </a:p>
        </p:txBody>
      </p:sp>
    </p:spTree>
    <p:extLst>
      <p:ext uri="{BB962C8B-B14F-4D97-AF65-F5344CB8AC3E}">
        <p14:creationId xmlns:p14="http://schemas.microsoft.com/office/powerpoint/2010/main" val="345894998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Configuration Defaults and Valid Values</a:t>
            </a:r>
          </a:p>
        </p:txBody>
      </p:sp>
      <p:sp>
        <p:nvSpPr>
          <p:cNvPr id="5" name="Slide Number Placeholder 4"/>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87</a:t>
            </a:fld>
            <a:endParaRPr lang="en-US" dirty="0">
              <a:solidFill>
                <a:srgbClr val="0C0C0C">
                  <a:tint val="75000"/>
                </a:srgbClr>
              </a:solidFill>
              <a:latin typeface="Arial"/>
            </a:endParaRPr>
          </a:p>
        </p:txBody>
      </p:sp>
      <p:graphicFrame>
        <p:nvGraphicFramePr>
          <p:cNvPr id="8" name="Content Placeholder 6">
            <a:extLst>
              <a:ext uri="{FF2B5EF4-FFF2-40B4-BE49-F238E27FC236}">
                <a16:creationId xmlns:a16="http://schemas.microsoft.com/office/drawing/2014/main" id="{83C6A5DA-DC20-422B-B774-1676EFA3F735}"/>
              </a:ext>
            </a:extLst>
          </p:cNvPr>
          <p:cNvGraphicFramePr>
            <a:graphicFrameLocks/>
          </p:cNvGraphicFramePr>
          <p:nvPr/>
        </p:nvGraphicFramePr>
        <p:xfrm>
          <a:off x="1080103" y="858245"/>
          <a:ext cx="10500868" cy="5348429"/>
        </p:xfrm>
        <a:graphic>
          <a:graphicData uri="http://schemas.openxmlformats.org/drawingml/2006/table">
            <a:tbl>
              <a:tblPr firstRow="1" firstCol="1" bandRow="1"/>
              <a:tblGrid>
                <a:gridCol w="2545260">
                  <a:extLst>
                    <a:ext uri="{9D8B030D-6E8A-4147-A177-3AD203B41FA5}">
                      <a16:colId xmlns:a16="http://schemas.microsoft.com/office/drawing/2014/main" val="20000"/>
                    </a:ext>
                  </a:extLst>
                </a:gridCol>
                <a:gridCol w="1425880">
                  <a:extLst>
                    <a:ext uri="{9D8B030D-6E8A-4147-A177-3AD203B41FA5}">
                      <a16:colId xmlns:a16="http://schemas.microsoft.com/office/drawing/2014/main" val="20001"/>
                    </a:ext>
                  </a:extLst>
                </a:gridCol>
                <a:gridCol w="2252089">
                  <a:extLst>
                    <a:ext uri="{9D8B030D-6E8A-4147-A177-3AD203B41FA5}">
                      <a16:colId xmlns:a16="http://schemas.microsoft.com/office/drawing/2014/main" val="20002"/>
                    </a:ext>
                  </a:extLst>
                </a:gridCol>
                <a:gridCol w="4277639">
                  <a:extLst>
                    <a:ext uri="{9D8B030D-6E8A-4147-A177-3AD203B41FA5}">
                      <a16:colId xmlns:a16="http://schemas.microsoft.com/office/drawing/2014/main" val="20003"/>
                    </a:ext>
                  </a:extLst>
                </a:gridCol>
              </a:tblGrid>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dirty="0">
                          <a:effectLst/>
                        </a:rPr>
                        <a:t>Parameter </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 Type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Default Value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Valid Values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16</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a:effectLst/>
                        </a:rPr>
                        <a:t>No limitation</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input_fractional_bits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Limited by size of input_width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output_fractional_bits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Limited by size of output_width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16</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coeff_fractional_bits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Limited by size of coeff_width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num_coeffs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bool  </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Full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7"/>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coeff_sets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  </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8"/>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input_length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9"/>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output_length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num_channels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1"/>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total_number_coeff</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num_coeffs * coeff_sets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2"/>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coeff_vec[total_num_coeff]</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double array</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None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Not applicable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3"/>
                  </a:ext>
                </a:extLst>
              </a:tr>
              <a:tr h="20735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filter_type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single_rate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single_rate, interpolation, decimation, hibert, interpolated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4"/>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rate_change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integer</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integer, fixed_fractional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5"/>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interp_rate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6"/>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tabLst>
                          <a:tab pos="680085" algn="ctr"/>
                        </a:tabLst>
                      </a:pPr>
                      <a:r>
                        <a:rPr lang="en-US" sz="800">
                          <a:effectLst/>
                        </a:rPr>
                        <a:t>decim_rate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2-1024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7"/>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dirty="0" err="1">
                          <a:effectLst/>
                        </a:rPr>
                        <a:t>zero_pack_factor</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2-8</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18"/>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rate_specification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period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frequency,period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19"/>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hardware_oversampling_rate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sample_period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bool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1"/>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sample_frequency</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0.001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 Limitation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2"/>
                  </a:ext>
                </a:extLst>
              </a:tr>
              <a:tr h="240097">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quantization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integer_coefficients</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integer_coefficients , quantize_only, maximize_dynamic_range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3"/>
                  </a:ext>
                </a:extLst>
              </a:tr>
              <a:tr h="211712">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best_precision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false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false</a:t>
                      </a:r>
                      <a:endParaRPr lang="en-US" sz="800">
                        <a:effectLst/>
                      </a:endParaRPr>
                    </a:p>
                    <a:p>
                      <a:pPr marL="0" marR="0">
                        <a:lnSpc>
                          <a:spcPct val="115000"/>
                        </a:lnSpc>
                        <a:spcBef>
                          <a:spcPts val="0"/>
                        </a:spcBef>
                        <a:spcAft>
                          <a:spcPts val="0"/>
                        </a:spcAft>
                      </a:pPr>
                      <a:r>
                        <a:rPr lang="en-US" sz="700">
                          <a:effectLst/>
                        </a:rPr>
                        <a:t>true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4"/>
                  </a:ext>
                </a:extLst>
              </a:tr>
              <a:tr h="211712">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coeff_structure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non_synmetric</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inferred , non_symmetric, symmetric, negative_symmetric, half_band, hilbert</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5"/>
                  </a:ext>
                </a:extLst>
              </a:tr>
              <a:tr h="549263">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output_rounding_mode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full_precision</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dirty="0" err="1">
                          <a:effectLst/>
                        </a:rPr>
                        <a:t>full_precision</a:t>
                      </a:r>
                      <a:r>
                        <a:rPr lang="en-US" sz="700" dirty="0">
                          <a:effectLst/>
                        </a:rPr>
                        <a:t>, </a:t>
                      </a:r>
                      <a:r>
                        <a:rPr lang="en-US" sz="700" dirty="0" err="1">
                          <a:effectLst/>
                        </a:rPr>
                        <a:t>truncate_lsbs</a:t>
                      </a:r>
                      <a:r>
                        <a:rPr lang="en-US" sz="700" dirty="0">
                          <a:effectLst/>
                        </a:rPr>
                        <a:t>, </a:t>
                      </a:r>
                      <a:r>
                        <a:rPr lang="en-US" sz="700" dirty="0" err="1">
                          <a:effectLst/>
                        </a:rPr>
                        <a:t>non_symmetric_rounding_down</a:t>
                      </a:r>
                      <a:r>
                        <a:rPr lang="en-US" sz="700" dirty="0">
                          <a:effectLst/>
                        </a:rPr>
                        <a:t>,        </a:t>
                      </a:r>
                      <a:r>
                        <a:rPr lang="en-US" sz="700" dirty="0" err="1">
                          <a:effectLst/>
                        </a:rPr>
                        <a:t>non_symmetric_rounding_up</a:t>
                      </a:r>
                      <a:r>
                        <a:rPr lang="en-US" sz="700" dirty="0">
                          <a:effectLst/>
                        </a:rPr>
                        <a:t>, </a:t>
                      </a:r>
                      <a:r>
                        <a:rPr lang="en-US" sz="700" dirty="0" err="1">
                          <a:effectLst/>
                        </a:rPr>
                        <a:t>symmetric_rounding_to_zero</a:t>
                      </a:r>
                      <a:r>
                        <a:rPr lang="en-US" sz="700" dirty="0">
                          <a:effectLst/>
                        </a:rPr>
                        <a:t>,                       </a:t>
                      </a:r>
                      <a:r>
                        <a:rPr lang="en-US" sz="700" dirty="0" err="1">
                          <a:effectLst/>
                        </a:rPr>
                        <a:t>symmetric_rounding_to_infinity</a:t>
                      </a:r>
                      <a:r>
                        <a:rPr lang="en-US" sz="700" dirty="0">
                          <a:effectLst/>
                        </a:rPr>
                        <a:t>, </a:t>
                      </a:r>
                      <a:r>
                        <a:rPr lang="en-US" sz="700" dirty="0" err="1">
                          <a:effectLst/>
                        </a:rPr>
                        <a:t>convergent_rounding_to_even</a:t>
                      </a:r>
                      <a:r>
                        <a:rPr lang="en-US" sz="700" dirty="0">
                          <a:effectLst/>
                        </a:rPr>
                        <a:t>,        </a:t>
                      </a:r>
                      <a:r>
                        <a:rPr lang="en-US" sz="700" dirty="0" err="1">
                          <a:effectLst/>
                        </a:rPr>
                        <a:t>convergent_rounding_to_odd</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6"/>
                  </a:ext>
                </a:extLst>
              </a:tr>
              <a:tr h="254054">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filter_arch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systolic_multiply_accumulate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dirty="0" err="1">
                          <a:effectLst/>
                        </a:rPr>
                        <a:t>systolic_multiply_accumulate</a:t>
                      </a:r>
                      <a:r>
                        <a:rPr lang="en-US" sz="800" dirty="0">
                          <a:effectLst/>
                        </a:rPr>
                        <a:t>, </a:t>
                      </a:r>
                      <a:r>
                        <a:rPr lang="en-US" sz="800" dirty="0" err="1">
                          <a:effectLst/>
                        </a:rPr>
                        <a:t>transpose_multiply_accumulate</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7"/>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optimization_goal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area</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area, speed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28"/>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inter_column_pipe_length</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4</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1-16</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29"/>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column_config</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1</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Limited by number of DSP48s used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0"/>
                  </a:ext>
                </a:extLst>
              </a:tr>
              <a:tr h="127028">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config_method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unsigned</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single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a:effectLst/>
                        </a:rPr>
                        <a:t>single, by_channel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31"/>
                  </a:ext>
                </a:extLst>
              </a:tr>
              <a:tr h="211712">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800">
                          <a:effectLst/>
                        </a:rPr>
                        <a:t>coeff_padding</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bool</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800">
                          <a:effectLst/>
                        </a:rPr>
                        <a:t>false</a:t>
                      </a:r>
                      <a:endParaRPr lang="en-US" sz="80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pPr marL="0" marR="0">
                        <a:lnSpc>
                          <a:spcPct val="115000"/>
                        </a:lnSpc>
                        <a:spcBef>
                          <a:spcPts val="0"/>
                        </a:spcBef>
                        <a:spcAft>
                          <a:spcPts val="0"/>
                        </a:spcAft>
                      </a:pPr>
                      <a:r>
                        <a:rPr lang="en-US" sz="700" dirty="0">
                          <a:effectLst/>
                        </a:rPr>
                        <a:t>false</a:t>
                      </a:r>
                      <a:endParaRPr lang="en-US" sz="800" dirty="0">
                        <a:effectLst/>
                      </a:endParaRPr>
                    </a:p>
                    <a:p>
                      <a:pPr marL="0" marR="0">
                        <a:lnSpc>
                          <a:spcPct val="115000"/>
                        </a:lnSpc>
                        <a:spcBef>
                          <a:spcPts val="0"/>
                        </a:spcBef>
                        <a:spcAft>
                          <a:spcPts val="0"/>
                        </a:spcAft>
                      </a:pPr>
                      <a:r>
                        <a:rPr lang="en-US" sz="700" dirty="0">
                          <a:effectLst/>
                        </a:rPr>
                        <a:t>true</a:t>
                      </a:r>
                      <a:endParaRPr lang="en-US" sz="800" dirty="0">
                        <a:effectLst/>
                        <a:latin typeface="Calibri"/>
                        <a:ea typeface="Calibri"/>
                        <a:cs typeface="Times New Roman"/>
                      </a:endParaRPr>
                    </a:p>
                  </a:txBody>
                  <a:tcPr marL="50490" marR="50490"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32"/>
                  </a:ext>
                </a:extLst>
              </a:tr>
            </a:tbl>
          </a:graphicData>
        </a:graphic>
      </p:graphicFrame>
    </p:spTree>
    <p:extLst>
      <p:ext uri="{BB962C8B-B14F-4D97-AF65-F5344CB8AC3E}">
        <p14:creationId xmlns:p14="http://schemas.microsoft.com/office/powerpoint/2010/main" val="173432154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Function: Data</a:t>
            </a:r>
          </a:p>
        </p:txBody>
      </p:sp>
      <p:sp>
        <p:nvSpPr>
          <p:cNvPr id="2" name="Content Placeholder 1"/>
          <p:cNvSpPr>
            <a:spLocks noGrp="1"/>
          </p:cNvSpPr>
          <p:nvPr>
            <p:ph idx="1"/>
          </p:nvPr>
        </p:nvSpPr>
        <p:spPr/>
        <p:txBody>
          <a:bodyPr/>
          <a:lstStyle/>
          <a:p>
            <a:r>
              <a:rPr lang="en-US" sz="2000" dirty="0"/>
              <a:t>Input &amp; Output Data</a:t>
            </a:r>
          </a:p>
          <a:p>
            <a:pPr lvl="1"/>
            <a:r>
              <a:rPr lang="en-US" sz="1800" dirty="0"/>
              <a:t>Data Input and Output</a:t>
            </a:r>
          </a:p>
          <a:p>
            <a:pPr lvl="2"/>
            <a:r>
              <a:rPr lang="en-US" sz="1400" dirty="0"/>
              <a:t>Array arguments</a:t>
            </a:r>
            <a:r>
              <a:rPr lang="en-US" sz="1200" dirty="0"/>
              <a:t> </a:t>
            </a:r>
          </a:p>
          <a:p>
            <a:r>
              <a:rPr lang="en-US" sz="2000" dirty="0"/>
              <a:t>Multi-channel functionality</a:t>
            </a:r>
          </a:p>
          <a:p>
            <a:pPr lvl="1"/>
            <a:r>
              <a:rPr lang="en-US" sz="1800" dirty="0"/>
              <a:t>Supported through interleaving the data</a:t>
            </a:r>
          </a:p>
          <a:p>
            <a:pPr marL="288925" lvl="1" indent="0">
              <a:buNone/>
            </a:pPr>
            <a:r>
              <a:rPr lang="en-US" sz="1800" dirty="0"/>
              <a:t> </a:t>
            </a:r>
          </a:p>
          <a:p>
            <a:pPr lvl="2"/>
            <a:endParaRPr lang="en-US" sz="1200" dirty="0"/>
          </a:p>
          <a:p>
            <a:pPr lvl="1"/>
            <a:endParaRPr lang="en-US" sz="1800" dirty="0"/>
          </a:p>
        </p:txBody>
      </p:sp>
      <p:sp>
        <p:nvSpPr>
          <p:cNvPr id="4" name="TextBox 3"/>
          <p:cNvSpPr txBox="1"/>
          <p:nvPr/>
        </p:nvSpPr>
        <p:spPr bwMode="auto">
          <a:xfrm>
            <a:off x="1160527" y="3459849"/>
            <a:ext cx="2961708" cy="279757"/>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chemeClr val="tx2"/>
              </a:buClr>
              <a:buSzPct val="88000"/>
            </a:pPr>
            <a:r>
              <a:rPr lang="en-US" sz="1200" b="1" u="sng" kern="0" dirty="0">
                <a:solidFill>
                  <a:schemeClr val="accent4"/>
                </a:solidFill>
              </a:rPr>
              <a:t>Interleave 2 channels into the FIR input</a:t>
            </a:r>
          </a:p>
        </p:txBody>
      </p:sp>
      <p:sp>
        <p:nvSpPr>
          <p:cNvPr id="10" name="TextBox 9"/>
          <p:cNvSpPr txBox="1"/>
          <p:nvPr/>
        </p:nvSpPr>
        <p:spPr bwMode="auto">
          <a:xfrm>
            <a:off x="6263478" y="3459847"/>
            <a:ext cx="3368871" cy="279757"/>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chemeClr val="tx2"/>
              </a:buClr>
              <a:buSzPct val="88000"/>
            </a:pPr>
            <a:r>
              <a:rPr lang="en-US" sz="1200" b="1" u="sng" kern="0" dirty="0">
                <a:solidFill>
                  <a:schemeClr val="accent4"/>
                </a:solidFill>
              </a:rPr>
              <a:t>De-Interleave 2 channels from the FIR output</a:t>
            </a:r>
          </a:p>
        </p:txBody>
      </p:sp>
      <p:sp>
        <p:nvSpPr>
          <p:cNvPr id="11" name="TextBox 10">
            <a:extLst>
              <a:ext uri="{FF2B5EF4-FFF2-40B4-BE49-F238E27FC236}">
                <a16:creationId xmlns:a16="http://schemas.microsoft.com/office/drawing/2014/main" id="{2338EEBE-0225-4D56-89DA-E16874F37F1B}"/>
              </a:ext>
            </a:extLst>
          </p:cNvPr>
          <p:cNvSpPr txBox="1"/>
          <p:nvPr/>
        </p:nvSpPr>
        <p:spPr bwMode="auto">
          <a:xfrm>
            <a:off x="6260340" y="1791088"/>
            <a:ext cx="5118063" cy="1446550"/>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kern="0" dirty="0">
                <a:solidFill>
                  <a:srgbClr val="000000"/>
                </a:solidFill>
              </a:rPr>
              <a:t>#include "</a:t>
            </a:r>
            <a:r>
              <a:rPr lang="en-US" kern="0" dirty="0" err="1">
                <a:solidFill>
                  <a:srgbClr val="000000"/>
                </a:solidFill>
              </a:rPr>
              <a:t>hls_fir.h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 Create an instance of the FIR </a:t>
            </a:r>
          </a:p>
          <a:p>
            <a:pPr defTabSz="914400" fontAlgn="base">
              <a:spcBef>
                <a:spcPct val="0"/>
              </a:spcBef>
              <a:spcAft>
                <a:spcPct val="0"/>
              </a:spcAft>
              <a:defRPr/>
            </a:pPr>
            <a:r>
              <a:rPr lang="en-US" kern="0" dirty="0">
                <a:solidFill>
                  <a:srgbClr val="000000"/>
                </a:solidFill>
              </a:rPr>
              <a:t>static </a:t>
            </a:r>
            <a:r>
              <a:rPr lang="en-US" kern="0" dirty="0" err="1">
                <a:solidFill>
                  <a:srgbClr val="000000"/>
                </a:solidFill>
              </a:rPr>
              <a:t>hls</a:t>
            </a:r>
            <a:r>
              <a:rPr lang="en-US" kern="0" dirty="0">
                <a:solidFill>
                  <a:srgbClr val="000000"/>
                </a:solidFill>
              </a:rPr>
              <a:t>::FIR&lt;STATIC_PARAM&gt; fir1;	// Static parameterization</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 Execute the FIR instance fir1</a:t>
            </a:r>
          </a:p>
          <a:p>
            <a:pPr defTabSz="914400" fontAlgn="base">
              <a:spcBef>
                <a:spcPct val="0"/>
              </a:spcBef>
              <a:spcAft>
                <a:spcPct val="0"/>
              </a:spcAft>
              <a:defRPr/>
            </a:pPr>
            <a:r>
              <a:rPr lang="en-US" kern="0" dirty="0">
                <a:solidFill>
                  <a:srgbClr val="000000"/>
                </a:solidFill>
              </a:rPr>
              <a:t>fir1.run</a:t>
            </a:r>
            <a:r>
              <a:rPr lang="en-US" b="1" kern="0" dirty="0">
                <a:solidFill>
                  <a:srgbClr val="000000"/>
                </a:solidFill>
              </a:rPr>
              <a:t>(INPUT_DATA_ARRAY, 	// Input Data</a:t>
            </a:r>
          </a:p>
          <a:p>
            <a:pPr defTabSz="914400" fontAlgn="base">
              <a:spcBef>
                <a:spcPct val="0"/>
              </a:spcBef>
              <a:spcAft>
                <a:spcPct val="0"/>
              </a:spcAft>
              <a:defRPr/>
            </a:pPr>
            <a:r>
              <a:rPr lang="en-US" b="1" kern="0" dirty="0">
                <a:solidFill>
                  <a:srgbClr val="000000"/>
                </a:solidFill>
              </a:rPr>
              <a:t>            OUTPUT_DATA_ARRAY);	// Output Data</a:t>
            </a:r>
          </a:p>
        </p:txBody>
      </p:sp>
      <p:sp>
        <p:nvSpPr>
          <p:cNvPr id="13" name="TextBox 12">
            <a:extLst>
              <a:ext uri="{FF2B5EF4-FFF2-40B4-BE49-F238E27FC236}">
                <a16:creationId xmlns:a16="http://schemas.microsoft.com/office/drawing/2014/main" id="{987751ED-5F68-41B0-8FF0-4C62DDFF185F}"/>
              </a:ext>
            </a:extLst>
          </p:cNvPr>
          <p:cNvSpPr txBox="1"/>
          <p:nvPr/>
        </p:nvSpPr>
        <p:spPr bwMode="auto">
          <a:xfrm>
            <a:off x="1160529" y="3739606"/>
            <a:ext cx="3641965" cy="76944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rPr>
              <a:t> for (unsigned </a:t>
            </a:r>
            <a:r>
              <a:rPr lang="en-US" kern="0" dirty="0" err="1">
                <a:solidFill>
                  <a:srgbClr val="000000"/>
                </a:solidFill>
              </a:rPr>
              <a:t>i</a:t>
            </a:r>
            <a:r>
              <a:rPr lang="en-US" kern="0" dirty="0">
                <a:solidFill>
                  <a:srgbClr val="000000"/>
                </a:solidFill>
              </a:rPr>
              <a:t> = 0; </a:t>
            </a:r>
            <a:r>
              <a:rPr lang="en-US" kern="0" dirty="0" err="1">
                <a:solidFill>
                  <a:srgbClr val="000000"/>
                </a:solidFill>
              </a:rPr>
              <a:t>i</a:t>
            </a:r>
            <a:r>
              <a:rPr lang="en-US" kern="0" dirty="0">
                <a:solidFill>
                  <a:srgbClr val="000000"/>
                </a:solidFill>
              </a:rPr>
              <a:t> &lt; LENGTH; ++</a:t>
            </a:r>
            <a:r>
              <a:rPr lang="en-US" kern="0" dirty="0" err="1">
                <a:solidFill>
                  <a:srgbClr val="000000"/>
                </a:solidFill>
              </a:rPr>
              <a:t>i</a:t>
            </a:r>
            <a:r>
              <a:rPr lang="en-US" kern="0" dirty="0">
                <a:solidFill>
                  <a:srgbClr val="000000"/>
                </a:solidFill>
              </a:rPr>
              <a:t>) {</a:t>
            </a:r>
          </a:p>
          <a:p>
            <a:pPr defTabSz="914400" fontAlgn="base">
              <a:spcBef>
                <a:spcPct val="0"/>
              </a:spcBef>
              <a:spcAft>
                <a:spcPct val="0"/>
              </a:spcAft>
              <a:defRPr/>
            </a:pPr>
            <a:r>
              <a:rPr lang="en-US" kern="0" dirty="0">
                <a:solidFill>
                  <a:srgbClr val="000000"/>
                </a:solidFill>
              </a:rPr>
              <a:t>        </a:t>
            </a:r>
            <a:r>
              <a:rPr lang="en-US" kern="0" dirty="0" err="1">
                <a:solidFill>
                  <a:srgbClr val="000000"/>
                </a:solidFill>
              </a:rPr>
              <a:t>fir_input_data</a:t>
            </a:r>
            <a:r>
              <a:rPr lang="en-US" kern="0" dirty="0">
                <a:solidFill>
                  <a:srgbClr val="000000"/>
                </a:solidFill>
              </a:rPr>
              <a:t>[2*</a:t>
            </a:r>
            <a:r>
              <a:rPr lang="en-US" kern="0" dirty="0" err="1">
                <a:solidFill>
                  <a:srgbClr val="000000"/>
                </a:solidFill>
              </a:rPr>
              <a:t>i</a:t>
            </a:r>
            <a:r>
              <a:rPr lang="en-US" kern="0" dirty="0">
                <a:solidFill>
                  <a:srgbClr val="000000"/>
                </a:solidFill>
              </a:rPr>
              <a:t>] = din_ch1[</a:t>
            </a:r>
            <a:r>
              <a:rPr lang="en-US" kern="0" dirty="0" err="1">
                <a:solidFill>
                  <a:srgbClr val="000000"/>
                </a:solidFill>
              </a:rPr>
              <a:t>i</a:t>
            </a:r>
            <a:r>
              <a:rPr lang="en-US" kern="0" dirty="0">
                <a:solidFill>
                  <a:srgbClr val="000000"/>
                </a:solidFill>
              </a:rPr>
              <a:t>];</a:t>
            </a:r>
          </a:p>
          <a:p>
            <a:pPr defTabSz="914400" fontAlgn="base">
              <a:spcBef>
                <a:spcPct val="0"/>
              </a:spcBef>
              <a:spcAft>
                <a:spcPct val="0"/>
              </a:spcAft>
              <a:defRPr/>
            </a:pPr>
            <a:r>
              <a:rPr lang="en-US" kern="0" dirty="0">
                <a:solidFill>
                  <a:srgbClr val="000000"/>
                </a:solidFill>
              </a:rPr>
              <a:t>        </a:t>
            </a:r>
            <a:r>
              <a:rPr lang="en-US" kern="0" dirty="0" err="1">
                <a:solidFill>
                  <a:srgbClr val="000000"/>
                </a:solidFill>
              </a:rPr>
              <a:t>fir_input_data</a:t>
            </a:r>
            <a:r>
              <a:rPr lang="en-US" kern="0" dirty="0">
                <a:solidFill>
                  <a:srgbClr val="000000"/>
                </a:solidFill>
              </a:rPr>
              <a:t>[2*</a:t>
            </a:r>
            <a:r>
              <a:rPr lang="en-US" kern="0" dirty="0" err="1">
                <a:solidFill>
                  <a:srgbClr val="000000"/>
                </a:solidFill>
              </a:rPr>
              <a:t>i</a:t>
            </a:r>
            <a:r>
              <a:rPr lang="en-US" kern="0" dirty="0">
                <a:solidFill>
                  <a:srgbClr val="000000"/>
                </a:solidFill>
              </a:rPr>
              <a:t> + 1] = din_ch2[</a:t>
            </a:r>
            <a:r>
              <a:rPr lang="en-US" kern="0" dirty="0" err="1">
                <a:solidFill>
                  <a:srgbClr val="000000"/>
                </a:solidFill>
              </a:rPr>
              <a:t>i</a:t>
            </a:r>
            <a:r>
              <a:rPr lang="en-US" kern="0" dirty="0">
                <a:solidFill>
                  <a:srgbClr val="000000"/>
                </a:solidFill>
              </a:rPr>
              <a:t>];</a:t>
            </a:r>
          </a:p>
          <a:p>
            <a:pPr defTabSz="914400" fontAlgn="base">
              <a:spcBef>
                <a:spcPct val="0"/>
              </a:spcBef>
              <a:spcAft>
                <a:spcPct val="0"/>
              </a:spcAft>
              <a:defRPr/>
            </a:pPr>
            <a:r>
              <a:rPr lang="en-US" kern="0" dirty="0">
                <a:solidFill>
                  <a:srgbClr val="000000"/>
                </a:solidFill>
              </a:rPr>
              <a:t>    }</a:t>
            </a:r>
          </a:p>
        </p:txBody>
      </p:sp>
      <p:sp>
        <p:nvSpPr>
          <p:cNvPr id="14" name="TextBox 13">
            <a:extLst>
              <a:ext uri="{FF2B5EF4-FFF2-40B4-BE49-F238E27FC236}">
                <a16:creationId xmlns:a16="http://schemas.microsoft.com/office/drawing/2014/main" id="{42DA3E41-FD27-4A37-9EB0-1CA3FDBA450B}"/>
              </a:ext>
            </a:extLst>
          </p:cNvPr>
          <p:cNvSpPr txBox="1"/>
          <p:nvPr/>
        </p:nvSpPr>
        <p:spPr bwMode="auto">
          <a:xfrm>
            <a:off x="6260340" y="3739604"/>
            <a:ext cx="3641965" cy="76944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rPr>
              <a:t> for(unsigned </a:t>
            </a:r>
            <a:r>
              <a:rPr lang="en-US" kern="0" dirty="0" err="1">
                <a:solidFill>
                  <a:srgbClr val="000000"/>
                </a:solidFill>
              </a:rPr>
              <a:t>i</a:t>
            </a:r>
            <a:r>
              <a:rPr lang="en-US" kern="0" dirty="0">
                <a:solidFill>
                  <a:srgbClr val="000000"/>
                </a:solidFill>
              </a:rPr>
              <a:t> = 0; </a:t>
            </a:r>
            <a:r>
              <a:rPr lang="en-US" kern="0" dirty="0" err="1">
                <a:solidFill>
                  <a:srgbClr val="000000"/>
                </a:solidFill>
              </a:rPr>
              <a:t>i</a:t>
            </a:r>
            <a:r>
              <a:rPr lang="en-US" kern="0" dirty="0">
                <a:solidFill>
                  <a:srgbClr val="000000"/>
                </a:solidFill>
              </a:rPr>
              <a:t> &lt; LENGTH; ++</a:t>
            </a:r>
            <a:r>
              <a:rPr lang="en-US" kern="0" dirty="0" err="1">
                <a:solidFill>
                  <a:srgbClr val="000000"/>
                </a:solidFill>
              </a:rPr>
              <a:t>i</a:t>
            </a:r>
            <a:r>
              <a:rPr lang="en-US" kern="0" dirty="0">
                <a:solidFill>
                  <a:srgbClr val="000000"/>
                </a:solidFill>
              </a:rPr>
              <a:t>) {</a:t>
            </a:r>
          </a:p>
          <a:p>
            <a:pPr defTabSz="914400" fontAlgn="base">
              <a:spcBef>
                <a:spcPct val="0"/>
              </a:spcBef>
              <a:spcAft>
                <a:spcPct val="0"/>
              </a:spcAft>
              <a:defRPr/>
            </a:pPr>
            <a:r>
              <a:rPr lang="en-US" kern="0" dirty="0">
                <a:solidFill>
                  <a:srgbClr val="000000"/>
                </a:solidFill>
              </a:rPr>
              <a:t>        dout_ch1[</a:t>
            </a:r>
            <a:r>
              <a:rPr lang="en-US" kern="0" dirty="0" err="1">
                <a:solidFill>
                  <a:srgbClr val="000000"/>
                </a:solidFill>
              </a:rPr>
              <a:t>i</a:t>
            </a:r>
            <a:r>
              <a:rPr lang="en-US" kern="0" dirty="0">
                <a:solidFill>
                  <a:srgbClr val="000000"/>
                </a:solidFill>
              </a:rPr>
              <a:t>] = </a:t>
            </a:r>
            <a:r>
              <a:rPr lang="en-US" kern="0" dirty="0" err="1">
                <a:solidFill>
                  <a:srgbClr val="000000"/>
                </a:solidFill>
              </a:rPr>
              <a:t>fir_output_data</a:t>
            </a:r>
            <a:r>
              <a:rPr lang="en-US" kern="0" dirty="0">
                <a:solidFill>
                  <a:srgbClr val="000000"/>
                </a:solidFill>
              </a:rPr>
              <a:t>[2*</a:t>
            </a:r>
            <a:r>
              <a:rPr lang="en-US" kern="0" dirty="0" err="1">
                <a:solidFill>
                  <a:srgbClr val="000000"/>
                </a:solidFill>
              </a:rPr>
              <a:t>i</a:t>
            </a:r>
            <a:r>
              <a:rPr lang="en-US" kern="0" dirty="0">
                <a:solidFill>
                  <a:srgbClr val="000000"/>
                </a:solidFill>
              </a:rPr>
              <a:t>];</a:t>
            </a:r>
          </a:p>
          <a:p>
            <a:pPr defTabSz="914400" fontAlgn="base">
              <a:spcBef>
                <a:spcPct val="0"/>
              </a:spcBef>
              <a:spcAft>
                <a:spcPct val="0"/>
              </a:spcAft>
              <a:defRPr/>
            </a:pPr>
            <a:r>
              <a:rPr lang="en-US" kern="0" dirty="0">
                <a:solidFill>
                  <a:srgbClr val="000000"/>
                </a:solidFill>
              </a:rPr>
              <a:t>        dout_ch2[</a:t>
            </a:r>
            <a:r>
              <a:rPr lang="en-US" kern="0" dirty="0" err="1">
                <a:solidFill>
                  <a:srgbClr val="000000"/>
                </a:solidFill>
              </a:rPr>
              <a:t>i</a:t>
            </a:r>
            <a:r>
              <a:rPr lang="en-US" kern="0" dirty="0">
                <a:solidFill>
                  <a:srgbClr val="000000"/>
                </a:solidFill>
              </a:rPr>
              <a:t>] = </a:t>
            </a:r>
            <a:r>
              <a:rPr lang="en-US" kern="0" dirty="0" err="1">
                <a:solidFill>
                  <a:srgbClr val="000000"/>
                </a:solidFill>
              </a:rPr>
              <a:t>fir_output_data</a:t>
            </a:r>
            <a:r>
              <a:rPr lang="en-US" kern="0" dirty="0">
                <a:solidFill>
                  <a:srgbClr val="000000"/>
                </a:solidFill>
              </a:rPr>
              <a:t>[2*i+1];</a:t>
            </a:r>
          </a:p>
          <a:p>
            <a:pPr defTabSz="914400" fontAlgn="base">
              <a:spcBef>
                <a:spcPct val="0"/>
              </a:spcBef>
              <a:spcAft>
                <a:spcPct val="0"/>
              </a:spcAft>
              <a:defRPr/>
            </a:pPr>
            <a:r>
              <a:rPr lang="en-US" kern="0" dirty="0">
                <a:solidFill>
                  <a:srgbClr val="000000"/>
                </a:solidFill>
              </a:rPr>
              <a:t>    }</a:t>
            </a:r>
          </a:p>
        </p:txBody>
      </p:sp>
      <p:sp>
        <p:nvSpPr>
          <p:cNvPr id="15" name="Slide Number Placeholder 5">
            <a:extLst>
              <a:ext uri="{FF2B5EF4-FFF2-40B4-BE49-F238E27FC236}">
                <a16:creationId xmlns:a16="http://schemas.microsoft.com/office/drawing/2014/main" id="{765EE5AF-02FB-449B-B460-17BF8AB365B2}"/>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88</a:t>
            </a:fld>
            <a:endParaRPr lang="en-US" dirty="0"/>
          </a:p>
        </p:txBody>
      </p:sp>
    </p:spTree>
    <p:extLst>
      <p:ext uri="{BB962C8B-B14F-4D97-AF65-F5344CB8AC3E}">
        <p14:creationId xmlns:p14="http://schemas.microsoft.com/office/powerpoint/2010/main" val="34129754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Function: Data</a:t>
            </a:r>
          </a:p>
        </p:txBody>
      </p:sp>
      <p:sp>
        <p:nvSpPr>
          <p:cNvPr id="2" name="Content Placeholder 1"/>
          <p:cNvSpPr>
            <a:spLocks noGrp="1"/>
          </p:cNvSpPr>
          <p:nvPr>
            <p:ph idx="1"/>
          </p:nvPr>
        </p:nvSpPr>
        <p:spPr/>
        <p:txBody>
          <a:bodyPr/>
          <a:lstStyle/>
          <a:p>
            <a:r>
              <a:rPr lang="en-US" dirty="0"/>
              <a:t>Input &amp; Output Data</a:t>
            </a:r>
          </a:p>
          <a:p>
            <a:pPr lvl="1"/>
            <a:r>
              <a:rPr lang="en-US" dirty="0"/>
              <a:t>Data Input and Output</a:t>
            </a:r>
          </a:p>
          <a:p>
            <a:pPr lvl="2"/>
            <a:r>
              <a:rPr lang="en-US" dirty="0"/>
              <a:t>Array arguments</a:t>
            </a:r>
            <a:r>
              <a:rPr lang="en-US" sz="1400" dirty="0"/>
              <a:t> </a:t>
            </a:r>
          </a:p>
          <a:p>
            <a:r>
              <a:rPr lang="en-US" dirty="0"/>
              <a:t>Multi-channel functionality</a:t>
            </a:r>
          </a:p>
          <a:p>
            <a:pPr lvl="1"/>
            <a:r>
              <a:rPr lang="en-US" dirty="0"/>
              <a:t>Supported through interleaving the data</a:t>
            </a:r>
          </a:p>
          <a:p>
            <a:pPr marL="288925" lvl="1" indent="0">
              <a:buNone/>
            </a:pPr>
            <a:r>
              <a:rPr lang="en-US" dirty="0"/>
              <a:t> </a:t>
            </a:r>
          </a:p>
          <a:p>
            <a:pPr lvl="2"/>
            <a:endParaRPr lang="en-US" sz="1400" dirty="0"/>
          </a:p>
          <a:p>
            <a:pPr lvl="1"/>
            <a:endParaRPr lang="en-US" dirty="0"/>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89</a:t>
            </a:fld>
            <a:endParaRPr lang="en-US" dirty="0">
              <a:solidFill>
                <a:srgbClr val="0C0C0C">
                  <a:tint val="75000"/>
                </a:srgbClr>
              </a:solidFill>
              <a:latin typeface="Arial"/>
            </a:endParaRPr>
          </a:p>
        </p:txBody>
      </p:sp>
      <p:sp>
        <p:nvSpPr>
          <p:cNvPr id="4" name="TextBox 3"/>
          <p:cNvSpPr txBox="1"/>
          <p:nvPr/>
        </p:nvSpPr>
        <p:spPr bwMode="auto">
          <a:xfrm>
            <a:off x="1160527" y="3459849"/>
            <a:ext cx="2961708" cy="279757"/>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rgbClr val="161C2E"/>
              </a:buClr>
              <a:buSzPct val="88000"/>
            </a:pPr>
            <a:r>
              <a:rPr lang="en-US" sz="1200" b="1" u="sng" kern="0" dirty="0">
                <a:solidFill>
                  <a:srgbClr val="1B3866"/>
                </a:solidFill>
                <a:latin typeface="Arial"/>
              </a:rPr>
              <a:t>Interleave 2 channels into the FIR input</a:t>
            </a:r>
          </a:p>
        </p:txBody>
      </p:sp>
      <p:sp>
        <p:nvSpPr>
          <p:cNvPr id="10" name="TextBox 9"/>
          <p:cNvSpPr txBox="1"/>
          <p:nvPr/>
        </p:nvSpPr>
        <p:spPr bwMode="auto">
          <a:xfrm>
            <a:off x="6263478" y="3459847"/>
            <a:ext cx="3368871" cy="279757"/>
          </a:xfrm>
          <a:prstGeom prst="rect">
            <a:avLst/>
          </a:prstGeom>
          <a:noFill/>
          <a:ln w="9525">
            <a:noFill/>
            <a:miter lim="800000"/>
            <a:headEnd/>
            <a:tailEnd/>
          </a:ln>
        </p:spPr>
        <p:txBody>
          <a:bodyPr vert="horz" wrap="none" lIns="0" tIns="45720" rIns="91440" bIns="45720" numCol="1" rtlCol="0" anchor="t" anchorCtr="0" compatLnSpc="1">
            <a:prstTxWarp prst="textNoShape">
              <a:avLst/>
            </a:prstTxWarp>
            <a:spAutoFit/>
          </a:bodyPr>
          <a:lstStyle/>
          <a:p>
            <a:pPr marL="228600" indent="-228600" defTabSz="914400" eaLnBrk="0" fontAlgn="base" hangingPunct="0">
              <a:lnSpc>
                <a:spcPct val="110000"/>
              </a:lnSpc>
              <a:spcBef>
                <a:spcPct val="20000"/>
              </a:spcBef>
              <a:spcAft>
                <a:spcPct val="0"/>
              </a:spcAft>
              <a:buClr>
                <a:srgbClr val="161C2E"/>
              </a:buClr>
              <a:buSzPct val="88000"/>
            </a:pPr>
            <a:r>
              <a:rPr lang="en-US" sz="1200" b="1" u="sng" kern="0" dirty="0">
                <a:solidFill>
                  <a:srgbClr val="1B3866"/>
                </a:solidFill>
                <a:latin typeface="Arial"/>
              </a:rPr>
              <a:t>De-Interleave 2 channels from the FIR output</a:t>
            </a:r>
          </a:p>
        </p:txBody>
      </p:sp>
      <p:sp>
        <p:nvSpPr>
          <p:cNvPr id="11" name="TextBox 10">
            <a:extLst>
              <a:ext uri="{FF2B5EF4-FFF2-40B4-BE49-F238E27FC236}">
                <a16:creationId xmlns:a16="http://schemas.microsoft.com/office/drawing/2014/main" id="{2338EEBE-0225-4D56-89DA-E16874F37F1B}"/>
              </a:ext>
            </a:extLst>
          </p:cNvPr>
          <p:cNvSpPr txBox="1"/>
          <p:nvPr/>
        </p:nvSpPr>
        <p:spPr bwMode="auto">
          <a:xfrm>
            <a:off x="6260340" y="1791088"/>
            <a:ext cx="5118063" cy="1446550"/>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kern="0" dirty="0">
                <a:solidFill>
                  <a:srgbClr val="000000"/>
                </a:solidFill>
                <a:latin typeface="Arial"/>
              </a:rPr>
              <a:t>#include "</a:t>
            </a:r>
            <a:r>
              <a:rPr lang="en-US" kern="0" dirty="0" err="1">
                <a:solidFill>
                  <a:srgbClr val="000000"/>
                </a:solidFill>
                <a:latin typeface="Arial"/>
              </a:rPr>
              <a:t>hls_fir.h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 Create an instance of the FIR </a:t>
            </a:r>
          </a:p>
          <a:p>
            <a:pPr defTabSz="914400" fontAlgn="base">
              <a:spcBef>
                <a:spcPct val="0"/>
              </a:spcBef>
              <a:spcAft>
                <a:spcPct val="0"/>
              </a:spcAft>
              <a:defRPr/>
            </a:pPr>
            <a:r>
              <a:rPr lang="en-US" kern="0" dirty="0">
                <a:solidFill>
                  <a:srgbClr val="000000"/>
                </a:solidFill>
                <a:latin typeface="Arial"/>
              </a:rPr>
              <a:t>static </a:t>
            </a:r>
            <a:r>
              <a:rPr lang="en-US" kern="0" dirty="0" err="1">
                <a:solidFill>
                  <a:srgbClr val="000000"/>
                </a:solidFill>
                <a:latin typeface="Arial"/>
              </a:rPr>
              <a:t>hls</a:t>
            </a:r>
            <a:r>
              <a:rPr lang="en-US" kern="0" dirty="0">
                <a:solidFill>
                  <a:srgbClr val="000000"/>
                </a:solidFill>
                <a:latin typeface="Arial"/>
              </a:rPr>
              <a:t>::FIR&lt;STATIC_PARAM&gt; fir1;	// Static parameterization</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 Execute the FIR instance fir1</a:t>
            </a:r>
          </a:p>
          <a:p>
            <a:pPr defTabSz="914400" fontAlgn="base">
              <a:spcBef>
                <a:spcPct val="0"/>
              </a:spcBef>
              <a:spcAft>
                <a:spcPct val="0"/>
              </a:spcAft>
              <a:defRPr/>
            </a:pPr>
            <a:r>
              <a:rPr lang="en-US" kern="0" dirty="0">
                <a:solidFill>
                  <a:srgbClr val="000000"/>
                </a:solidFill>
                <a:latin typeface="Arial"/>
              </a:rPr>
              <a:t>fir1.run</a:t>
            </a:r>
            <a:r>
              <a:rPr lang="en-US" b="1" kern="0" dirty="0">
                <a:solidFill>
                  <a:srgbClr val="000000"/>
                </a:solidFill>
                <a:latin typeface="Arial"/>
              </a:rPr>
              <a:t>(INPUT_DATA_ARRAY, 	// Input Data</a:t>
            </a:r>
          </a:p>
          <a:p>
            <a:pPr defTabSz="914400" fontAlgn="base">
              <a:spcBef>
                <a:spcPct val="0"/>
              </a:spcBef>
              <a:spcAft>
                <a:spcPct val="0"/>
              </a:spcAft>
              <a:defRPr/>
            </a:pPr>
            <a:r>
              <a:rPr lang="en-US" b="1" kern="0" dirty="0">
                <a:solidFill>
                  <a:srgbClr val="000000"/>
                </a:solidFill>
                <a:latin typeface="Arial"/>
              </a:rPr>
              <a:t>            OUTPUT_DATA_ARRAY);	// Output Data</a:t>
            </a:r>
          </a:p>
        </p:txBody>
      </p:sp>
      <p:sp>
        <p:nvSpPr>
          <p:cNvPr id="13" name="TextBox 12">
            <a:extLst>
              <a:ext uri="{FF2B5EF4-FFF2-40B4-BE49-F238E27FC236}">
                <a16:creationId xmlns:a16="http://schemas.microsoft.com/office/drawing/2014/main" id="{987751ED-5F68-41B0-8FF0-4C62DDFF185F}"/>
              </a:ext>
            </a:extLst>
          </p:cNvPr>
          <p:cNvSpPr txBox="1"/>
          <p:nvPr/>
        </p:nvSpPr>
        <p:spPr bwMode="auto">
          <a:xfrm>
            <a:off x="1160529" y="3739606"/>
            <a:ext cx="3641965" cy="76944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latin typeface="Arial"/>
              </a:rPr>
              <a:t> for (unsigned </a:t>
            </a:r>
            <a:r>
              <a:rPr lang="en-US" kern="0" dirty="0" err="1">
                <a:solidFill>
                  <a:srgbClr val="000000"/>
                </a:solidFill>
                <a:latin typeface="Arial"/>
              </a:rPr>
              <a:t>i</a:t>
            </a:r>
            <a:r>
              <a:rPr lang="en-US" kern="0" dirty="0">
                <a:solidFill>
                  <a:srgbClr val="000000"/>
                </a:solidFill>
                <a:latin typeface="Arial"/>
              </a:rPr>
              <a:t> = 0; </a:t>
            </a:r>
            <a:r>
              <a:rPr lang="en-US" kern="0" dirty="0" err="1">
                <a:solidFill>
                  <a:srgbClr val="000000"/>
                </a:solidFill>
                <a:latin typeface="Arial"/>
              </a:rPr>
              <a:t>i</a:t>
            </a:r>
            <a:r>
              <a:rPr lang="en-US" kern="0" dirty="0">
                <a:solidFill>
                  <a:srgbClr val="000000"/>
                </a:solidFill>
                <a:latin typeface="Arial"/>
              </a:rPr>
              <a:t> &lt; LENGTH; ++</a:t>
            </a:r>
            <a:r>
              <a:rPr lang="en-US" kern="0" dirty="0" err="1">
                <a:solidFill>
                  <a:srgbClr val="000000"/>
                </a:solidFill>
                <a:latin typeface="Arial"/>
              </a:rPr>
              <a:t>i</a:t>
            </a:r>
            <a:r>
              <a:rPr lang="en-US" kern="0" dirty="0">
                <a:solidFill>
                  <a:srgbClr val="000000"/>
                </a:solidFill>
                <a:latin typeface="Arial"/>
              </a:rPr>
              <a:t>) {</a:t>
            </a:r>
          </a:p>
          <a:p>
            <a:pPr defTabSz="914400" fontAlgn="base">
              <a:spcBef>
                <a:spcPct val="0"/>
              </a:spcBef>
              <a:spcAft>
                <a:spcPct val="0"/>
              </a:spcAft>
              <a:defRPr/>
            </a:pPr>
            <a:r>
              <a:rPr lang="en-US" kern="0" dirty="0">
                <a:solidFill>
                  <a:srgbClr val="000000"/>
                </a:solidFill>
                <a:latin typeface="Arial"/>
              </a:rPr>
              <a:t>        </a:t>
            </a:r>
            <a:r>
              <a:rPr lang="en-US" kern="0" dirty="0" err="1">
                <a:solidFill>
                  <a:srgbClr val="000000"/>
                </a:solidFill>
                <a:latin typeface="Arial"/>
              </a:rPr>
              <a:t>fir_input_data</a:t>
            </a:r>
            <a:r>
              <a:rPr lang="en-US" kern="0" dirty="0">
                <a:solidFill>
                  <a:srgbClr val="000000"/>
                </a:solidFill>
                <a:latin typeface="Arial"/>
              </a:rPr>
              <a:t>[2*</a:t>
            </a:r>
            <a:r>
              <a:rPr lang="en-US" kern="0" dirty="0" err="1">
                <a:solidFill>
                  <a:srgbClr val="000000"/>
                </a:solidFill>
                <a:latin typeface="Arial"/>
              </a:rPr>
              <a:t>i</a:t>
            </a:r>
            <a:r>
              <a:rPr lang="en-US" kern="0" dirty="0">
                <a:solidFill>
                  <a:srgbClr val="000000"/>
                </a:solidFill>
                <a:latin typeface="Arial"/>
              </a:rPr>
              <a:t>] = din_ch1[</a:t>
            </a:r>
            <a:r>
              <a:rPr lang="en-US" kern="0" dirty="0" err="1">
                <a:solidFill>
                  <a:srgbClr val="000000"/>
                </a:solidFill>
                <a:latin typeface="Arial"/>
              </a:rPr>
              <a:t>i</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a:t>
            </a:r>
            <a:r>
              <a:rPr lang="en-US" kern="0" dirty="0" err="1">
                <a:solidFill>
                  <a:srgbClr val="000000"/>
                </a:solidFill>
                <a:latin typeface="Arial"/>
              </a:rPr>
              <a:t>fir_input_data</a:t>
            </a:r>
            <a:r>
              <a:rPr lang="en-US" kern="0" dirty="0">
                <a:solidFill>
                  <a:srgbClr val="000000"/>
                </a:solidFill>
                <a:latin typeface="Arial"/>
              </a:rPr>
              <a:t>[2*</a:t>
            </a:r>
            <a:r>
              <a:rPr lang="en-US" kern="0" dirty="0" err="1">
                <a:solidFill>
                  <a:srgbClr val="000000"/>
                </a:solidFill>
                <a:latin typeface="Arial"/>
              </a:rPr>
              <a:t>i</a:t>
            </a:r>
            <a:r>
              <a:rPr lang="en-US" kern="0" dirty="0">
                <a:solidFill>
                  <a:srgbClr val="000000"/>
                </a:solidFill>
                <a:latin typeface="Arial"/>
              </a:rPr>
              <a:t> + 1] = din_ch2[</a:t>
            </a:r>
            <a:r>
              <a:rPr lang="en-US" kern="0" dirty="0" err="1">
                <a:solidFill>
                  <a:srgbClr val="000000"/>
                </a:solidFill>
                <a:latin typeface="Arial"/>
              </a:rPr>
              <a:t>i</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a:t>
            </a:r>
          </a:p>
        </p:txBody>
      </p:sp>
      <p:sp>
        <p:nvSpPr>
          <p:cNvPr id="14" name="TextBox 13">
            <a:extLst>
              <a:ext uri="{FF2B5EF4-FFF2-40B4-BE49-F238E27FC236}">
                <a16:creationId xmlns:a16="http://schemas.microsoft.com/office/drawing/2014/main" id="{42DA3E41-FD27-4A37-9EB0-1CA3FDBA450B}"/>
              </a:ext>
            </a:extLst>
          </p:cNvPr>
          <p:cNvSpPr txBox="1"/>
          <p:nvPr/>
        </p:nvSpPr>
        <p:spPr bwMode="auto">
          <a:xfrm>
            <a:off x="6260340" y="3739604"/>
            <a:ext cx="3641965" cy="769441"/>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latin typeface="Arial"/>
              </a:rPr>
              <a:t> for(unsigned </a:t>
            </a:r>
            <a:r>
              <a:rPr lang="en-US" kern="0" dirty="0" err="1">
                <a:solidFill>
                  <a:srgbClr val="000000"/>
                </a:solidFill>
                <a:latin typeface="Arial"/>
              </a:rPr>
              <a:t>i</a:t>
            </a:r>
            <a:r>
              <a:rPr lang="en-US" kern="0" dirty="0">
                <a:solidFill>
                  <a:srgbClr val="000000"/>
                </a:solidFill>
                <a:latin typeface="Arial"/>
              </a:rPr>
              <a:t> = 0; </a:t>
            </a:r>
            <a:r>
              <a:rPr lang="en-US" kern="0" dirty="0" err="1">
                <a:solidFill>
                  <a:srgbClr val="000000"/>
                </a:solidFill>
                <a:latin typeface="Arial"/>
              </a:rPr>
              <a:t>i</a:t>
            </a:r>
            <a:r>
              <a:rPr lang="en-US" kern="0" dirty="0">
                <a:solidFill>
                  <a:srgbClr val="000000"/>
                </a:solidFill>
                <a:latin typeface="Arial"/>
              </a:rPr>
              <a:t> &lt; LENGTH; ++</a:t>
            </a:r>
            <a:r>
              <a:rPr lang="en-US" kern="0" dirty="0" err="1">
                <a:solidFill>
                  <a:srgbClr val="000000"/>
                </a:solidFill>
                <a:latin typeface="Arial"/>
              </a:rPr>
              <a:t>i</a:t>
            </a:r>
            <a:r>
              <a:rPr lang="en-US" kern="0" dirty="0">
                <a:solidFill>
                  <a:srgbClr val="000000"/>
                </a:solidFill>
                <a:latin typeface="Arial"/>
              </a:rPr>
              <a:t>) {</a:t>
            </a:r>
          </a:p>
          <a:p>
            <a:pPr defTabSz="914400" fontAlgn="base">
              <a:spcBef>
                <a:spcPct val="0"/>
              </a:spcBef>
              <a:spcAft>
                <a:spcPct val="0"/>
              </a:spcAft>
              <a:defRPr/>
            </a:pPr>
            <a:r>
              <a:rPr lang="en-US" kern="0" dirty="0">
                <a:solidFill>
                  <a:srgbClr val="000000"/>
                </a:solidFill>
                <a:latin typeface="Arial"/>
              </a:rPr>
              <a:t>        dout_ch1[</a:t>
            </a:r>
            <a:r>
              <a:rPr lang="en-US" kern="0" dirty="0" err="1">
                <a:solidFill>
                  <a:srgbClr val="000000"/>
                </a:solidFill>
                <a:latin typeface="Arial"/>
              </a:rPr>
              <a:t>i</a:t>
            </a:r>
            <a:r>
              <a:rPr lang="en-US" kern="0" dirty="0">
                <a:solidFill>
                  <a:srgbClr val="000000"/>
                </a:solidFill>
                <a:latin typeface="Arial"/>
              </a:rPr>
              <a:t>] = </a:t>
            </a:r>
            <a:r>
              <a:rPr lang="en-US" kern="0" dirty="0" err="1">
                <a:solidFill>
                  <a:srgbClr val="000000"/>
                </a:solidFill>
                <a:latin typeface="Arial"/>
              </a:rPr>
              <a:t>fir_output_data</a:t>
            </a:r>
            <a:r>
              <a:rPr lang="en-US" kern="0" dirty="0">
                <a:solidFill>
                  <a:srgbClr val="000000"/>
                </a:solidFill>
                <a:latin typeface="Arial"/>
              </a:rPr>
              <a:t>[2*</a:t>
            </a:r>
            <a:r>
              <a:rPr lang="en-US" kern="0" dirty="0" err="1">
                <a:solidFill>
                  <a:srgbClr val="000000"/>
                </a:solidFill>
                <a:latin typeface="Arial"/>
              </a:rPr>
              <a:t>i</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dout_ch2[</a:t>
            </a:r>
            <a:r>
              <a:rPr lang="en-US" kern="0" dirty="0" err="1">
                <a:solidFill>
                  <a:srgbClr val="000000"/>
                </a:solidFill>
                <a:latin typeface="Arial"/>
              </a:rPr>
              <a:t>i</a:t>
            </a:r>
            <a:r>
              <a:rPr lang="en-US" kern="0" dirty="0">
                <a:solidFill>
                  <a:srgbClr val="000000"/>
                </a:solidFill>
                <a:latin typeface="Arial"/>
              </a:rPr>
              <a:t>] = </a:t>
            </a:r>
            <a:r>
              <a:rPr lang="en-US" kern="0" dirty="0" err="1">
                <a:solidFill>
                  <a:srgbClr val="000000"/>
                </a:solidFill>
                <a:latin typeface="Arial"/>
              </a:rPr>
              <a:t>fir_output_data</a:t>
            </a:r>
            <a:r>
              <a:rPr lang="en-US" kern="0" dirty="0">
                <a:solidFill>
                  <a:srgbClr val="000000"/>
                </a:solidFill>
                <a:latin typeface="Arial"/>
              </a:rPr>
              <a:t>[2*i+1];</a:t>
            </a:r>
          </a:p>
          <a:p>
            <a:pPr defTabSz="914400" fontAlgn="base">
              <a:spcBef>
                <a:spcPct val="0"/>
              </a:spcBef>
              <a:spcAft>
                <a:spcPct val="0"/>
              </a:spcAft>
              <a:defRPr/>
            </a:pPr>
            <a:r>
              <a:rPr lang="en-US" kern="0" dirty="0">
                <a:solidFill>
                  <a:srgbClr val="000000"/>
                </a:solidFill>
                <a:latin typeface="Arial"/>
              </a:rPr>
              <a:t>    }</a:t>
            </a:r>
          </a:p>
        </p:txBody>
      </p:sp>
    </p:spTree>
    <p:extLst>
      <p:ext uri="{BB962C8B-B14F-4D97-AF65-F5344CB8AC3E}">
        <p14:creationId xmlns:p14="http://schemas.microsoft.com/office/powerpoint/2010/main" val="95814768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Function: Run Time Configuration</a:t>
            </a:r>
          </a:p>
        </p:txBody>
      </p:sp>
      <p:sp>
        <p:nvSpPr>
          <p:cNvPr id="2" name="Content Placeholder 1"/>
          <p:cNvSpPr>
            <a:spLocks noGrp="1"/>
          </p:cNvSpPr>
          <p:nvPr>
            <p:ph idx="1"/>
          </p:nvPr>
        </p:nvSpPr>
        <p:spPr/>
        <p:txBody>
          <a:bodyPr/>
          <a:lstStyle/>
          <a:p>
            <a:r>
              <a:rPr lang="en-US" sz="2000" dirty="0"/>
              <a:t>Dynamic Configuration</a:t>
            </a:r>
          </a:p>
          <a:p>
            <a:pPr lvl="1"/>
            <a:r>
              <a:rPr lang="en-US" sz="1800" dirty="0"/>
              <a:t>Parameter INPUT_RUN_TIME_CONFIGURATION </a:t>
            </a:r>
            <a:br>
              <a:rPr lang="en-US" sz="1800" dirty="0"/>
            </a:br>
            <a:r>
              <a:rPr lang="en-US" sz="1800" dirty="0"/>
              <a:t>can be changed at run time</a:t>
            </a:r>
            <a:endParaRPr lang="en-US" sz="1400" dirty="0"/>
          </a:p>
          <a:p>
            <a:pPr lvl="1"/>
            <a:endParaRPr lang="en-US" sz="1800" dirty="0"/>
          </a:p>
          <a:p>
            <a:pPr lvl="1"/>
            <a:r>
              <a:rPr lang="en-US" sz="1800" dirty="0"/>
              <a:t>In some modes a dynamic input can control </a:t>
            </a:r>
            <a:br>
              <a:rPr lang="en-US" sz="1800" dirty="0"/>
            </a:br>
            <a:r>
              <a:rPr lang="en-US" sz="1800" dirty="0"/>
              <a:t>how the coefficients are used</a:t>
            </a:r>
            <a:endParaRPr lang="en-US" sz="1800" dirty="0">
              <a:solidFill>
                <a:schemeClr val="accent6">
                  <a:lumMod val="75000"/>
                </a:schemeClr>
              </a:solidFill>
            </a:endParaRPr>
          </a:p>
          <a:p>
            <a:pPr lvl="2"/>
            <a:r>
              <a:rPr lang="en-US" sz="1400" dirty="0"/>
              <a:t>This is a standard 8-bit input </a:t>
            </a:r>
          </a:p>
          <a:p>
            <a:pPr lvl="1"/>
            <a:endParaRPr lang="en-US" sz="1800" dirty="0"/>
          </a:p>
        </p:txBody>
      </p:sp>
      <p:sp>
        <p:nvSpPr>
          <p:cNvPr id="9" name="TextBox 8">
            <a:extLst>
              <a:ext uri="{FF2B5EF4-FFF2-40B4-BE49-F238E27FC236}">
                <a16:creationId xmlns:a16="http://schemas.microsoft.com/office/drawing/2014/main" id="{923B0175-1235-47FB-B943-2AA8F2138F88}"/>
              </a:ext>
            </a:extLst>
          </p:cNvPr>
          <p:cNvSpPr txBox="1"/>
          <p:nvPr/>
        </p:nvSpPr>
        <p:spPr bwMode="auto">
          <a:xfrm>
            <a:off x="6255181" y="2121776"/>
            <a:ext cx="5794665" cy="1615827"/>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rPr>
              <a:t> </a:t>
            </a:r>
            <a:r>
              <a:rPr lang="en-US" kern="0" dirty="0">
                <a:solidFill>
                  <a:srgbClr val="000000"/>
                </a:solidFill>
              </a:rPr>
              <a:t>#include "</a:t>
            </a:r>
            <a:r>
              <a:rPr lang="en-US" kern="0" dirty="0" err="1">
                <a:solidFill>
                  <a:srgbClr val="000000"/>
                </a:solidFill>
              </a:rPr>
              <a:t>hls_fir.h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 Create an instance of the FIR </a:t>
            </a:r>
          </a:p>
          <a:p>
            <a:pPr defTabSz="914400" fontAlgn="base">
              <a:spcBef>
                <a:spcPct val="0"/>
              </a:spcBef>
              <a:spcAft>
                <a:spcPct val="0"/>
              </a:spcAft>
              <a:defRPr/>
            </a:pPr>
            <a:r>
              <a:rPr lang="en-US" kern="0" dirty="0">
                <a:solidFill>
                  <a:srgbClr val="000000"/>
                </a:solidFill>
              </a:rPr>
              <a:t>static </a:t>
            </a:r>
            <a:r>
              <a:rPr lang="en-US" kern="0" dirty="0" err="1">
                <a:solidFill>
                  <a:srgbClr val="000000"/>
                </a:solidFill>
              </a:rPr>
              <a:t>hls</a:t>
            </a:r>
            <a:r>
              <a:rPr lang="en-US" kern="0" dirty="0">
                <a:solidFill>
                  <a:srgbClr val="000000"/>
                </a:solidFill>
              </a:rPr>
              <a:t>::FIR&lt;STATIC_PARAM&gt; </a:t>
            </a:r>
            <a:r>
              <a:rPr lang="en-US" b="1" kern="0" dirty="0">
                <a:solidFill>
                  <a:srgbClr val="000000"/>
                </a:solidFill>
              </a:rPr>
              <a:t>fir1</a:t>
            </a:r>
            <a:r>
              <a:rPr lang="en-US" kern="0" dirty="0">
                <a:solidFill>
                  <a:srgbClr val="000000"/>
                </a:solidFill>
              </a:rPr>
              <a:t>;		// Static parameterization</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 Execute the FIR instance fir1</a:t>
            </a:r>
          </a:p>
          <a:p>
            <a:pPr defTabSz="914400" fontAlgn="base">
              <a:spcBef>
                <a:spcPct val="0"/>
              </a:spcBef>
              <a:spcAft>
                <a:spcPct val="0"/>
              </a:spcAft>
              <a:defRPr/>
            </a:pPr>
            <a:r>
              <a:rPr lang="en-US" b="1" kern="0" dirty="0">
                <a:solidFill>
                  <a:srgbClr val="000000"/>
                </a:solidFill>
              </a:rPr>
              <a:t>fir1</a:t>
            </a:r>
            <a:r>
              <a:rPr lang="en-US" kern="0" dirty="0">
                <a:solidFill>
                  <a:srgbClr val="000000"/>
                </a:solidFill>
              </a:rPr>
              <a:t>.run(INPUT_DATA_ARRAY, 		// Input Data</a:t>
            </a:r>
          </a:p>
          <a:p>
            <a:pPr defTabSz="914400" fontAlgn="base">
              <a:spcBef>
                <a:spcPct val="0"/>
              </a:spcBef>
              <a:spcAft>
                <a:spcPct val="0"/>
              </a:spcAft>
              <a:defRPr/>
            </a:pPr>
            <a:r>
              <a:rPr lang="en-US" kern="0" dirty="0">
                <a:solidFill>
                  <a:srgbClr val="000000"/>
                </a:solidFill>
              </a:rPr>
              <a:t>             OUTPUT_DATA_ARRAY,		// Output Data</a:t>
            </a:r>
          </a:p>
          <a:p>
            <a:pPr defTabSz="914400" fontAlgn="base">
              <a:spcBef>
                <a:spcPct val="0"/>
              </a:spcBef>
              <a:spcAft>
                <a:spcPct val="0"/>
              </a:spcAft>
              <a:defRPr/>
            </a:pPr>
            <a:r>
              <a:rPr lang="en-US" b="1" kern="0" dirty="0">
                <a:solidFill>
                  <a:srgbClr val="000000"/>
                </a:solidFill>
              </a:rPr>
              <a:t>             INPUT_RUN_TIME_CONFIGURATION);	// Run time input configuration</a:t>
            </a:r>
          </a:p>
        </p:txBody>
      </p:sp>
      <p:sp>
        <p:nvSpPr>
          <p:cNvPr id="11" name="TextBox 10">
            <a:extLst>
              <a:ext uri="{FF2B5EF4-FFF2-40B4-BE49-F238E27FC236}">
                <a16:creationId xmlns:a16="http://schemas.microsoft.com/office/drawing/2014/main" id="{56F6FFF8-26D5-49F0-8AD7-D8AFE9298270}"/>
              </a:ext>
            </a:extLst>
          </p:cNvPr>
          <p:cNvSpPr txBox="1"/>
          <p:nvPr/>
        </p:nvSpPr>
        <p:spPr bwMode="auto">
          <a:xfrm>
            <a:off x="1164464" y="4089755"/>
            <a:ext cx="5482348" cy="1785104"/>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rPr>
              <a:t>#include "</a:t>
            </a:r>
            <a:r>
              <a:rPr lang="en-US" kern="0" dirty="0" err="1">
                <a:solidFill>
                  <a:srgbClr val="000000"/>
                </a:solidFill>
              </a:rPr>
              <a:t>hls_fir.h</a:t>
            </a: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r>
              <a:rPr lang="en-US" kern="0" dirty="0">
                <a:solidFill>
                  <a:srgbClr val="000000"/>
                </a:solidFill>
              </a:rPr>
              <a:t>struct </a:t>
            </a:r>
            <a:r>
              <a:rPr lang="en-US" b="1" kern="0" dirty="0">
                <a:solidFill>
                  <a:srgbClr val="000000"/>
                </a:solidFill>
              </a:rPr>
              <a:t>param1</a:t>
            </a:r>
            <a:r>
              <a:rPr lang="en-US" kern="0" dirty="0">
                <a:solidFill>
                  <a:srgbClr val="000000"/>
                </a:solidFill>
              </a:rPr>
              <a:t> : </a:t>
            </a:r>
            <a:r>
              <a:rPr lang="en-US" kern="0" dirty="0" err="1">
                <a:solidFill>
                  <a:srgbClr val="8B8D09">
                    <a:lumMod val="75000"/>
                  </a:srgbClr>
                </a:solidFill>
              </a:rPr>
              <a:t>hls</a:t>
            </a:r>
            <a:r>
              <a:rPr lang="en-US" kern="0" dirty="0">
                <a:solidFill>
                  <a:srgbClr val="8B8D09">
                    <a:lumMod val="75000"/>
                  </a:srgbClr>
                </a:solidFill>
              </a:rPr>
              <a:t>::</a:t>
            </a:r>
            <a:r>
              <a:rPr lang="en-US" kern="0" dirty="0" err="1">
                <a:solidFill>
                  <a:srgbClr val="8B8D09">
                    <a:lumMod val="75000"/>
                  </a:srgbClr>
                </a:solidFill>
              </a:rPr>
              <a:t>ip_fir</a:t>
            </a:r>
            <a:r>
              <a:rPr lang="en-US" kern="0" dirty="0">
                <a:solidFill>
                  <a:srgbClr val="8B8D09">
                    <a:lumMod val="75000"/>
                  </a:srgbClr>
                </a:solidFill>
              </a:rPr>
              <a:t>::</a:t>
            </a:r>
            <a:r>
              <a:rPr lang="en-US" kern="0" dirty="0" err="1">
                <a:solidFill>
                  <a:srgbClr val="8B8D09">
                    <a:lumMod val="75000"/>
                  </a:srgbClr>
                </a:solidFill>
              </a:rPr>
              <a:t>params_t</a:t>
            </a:r>
            <a:r>
              <a:rPr lang="en-US" kern="0" dirty="0">
                <a:solidFill>
                  <a:srgbClr val="8B8D09">
                    <a:lumMod val="75000"/>
                  </a:srgbClr>
                </a:solidFill>
              </a:rPr>
              <a:t> </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double </a:t>
            </a:r>
            <a:r>
              <a:rPr lang="en-US" kern="0" dirty="0" err="1">
                <a:solidFill>
                  <a:srgbClr val="000000"/>
                </a:solidFill>
              </a:rPr>
              <a:t>coeff_vec</a:t>
            </a:r>
            <a:r>
              <a:rPr lang="en-US" kern="0" dirty="0">
                <a:solidFill>
                  <a:srgbClr val="000000"/>
                </a:solidFill>
              </a:rPr>
              <a:t>[</a:t>
            </a:r>
            <a:r>
              <a:rPr lang="en-US" kern="0" dirty="0" err="1">
                <a:solidFill>
                  <a:srgbClr val="000000"/>
                </a:solidFill>
              </a:rPr>
              <a:t>sg_fir_srrc_coeffs_len</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num_coeffs</a:t>
            </a:r>
            <a:r>
              <a:rPr lang="en-US" kern="0" dirty="0">
                <a:solidFill>
                  <a:srgbClr val="000000"/>
                </a:solidFill>
              </a:rPr>
              <a:t> = </a:t>
            </a:r>
            <a:r>
              <a:rPr lang="en-US" kern="0" dirty="0" err="1">
                <a:solidFill>
                  <a:srgbClr val="000000"/>
                </a:solidFill>
              </a:rPr>
              <a:t>sg_fir_srrc_coeffs_len</a:t>
            </a:r>
            <a:r>
              <a:rPr lang="en-US" kern="0" dirty="0">
                <a:solidFill>
                  <a:srgbClr val="000000"/>
                </a:solidFill>
              </a:rPr>
              <a:t>;</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a:t>
            </a:r>
            <a:r>
              <a:rPr lang="en-US" kern="0" dirty="0" err="1">
                <a:solidFill>
                  <a:srgbClr val="000000"/>
                </a:solidFill>
              </a:rPr>
              <a:t>input_width</a:t>
            </a:r>
            <a:r>
              <a:rPr lang="en-US" kern="0" dirty="0">
                <a:solidFill>
                  <a:srgbClr val="000000"/>
                </a:solidFill>
              </a:rPr>
              <a:t> = INPUT_WIDTH; </a:t>
            </a:r>
          </a:p>
          <a:p>
            <a:pPr defTabSz="914400" fontAlgn="base">
              <a:spcBef>
                <a:spcPct val="0"/>
              </a:spcBef>
              <a:spcAft>
                <a:spcPct val="0"/>
              </a:spcAft>
              <a:defRPr/>
            </a:pPr>
            <a:r>
              <a:rPr lang="en-US" kern="0" dirty="0">
                <a:solidFill>
                  <a:srgbClr val="000000"/>
                </a:solidFill>
              </a:rPr>
              <a:t>    static </a:t>
            </a:r>
            <a:r>
              <a:rPr lang="en-US" kern="0" dirty="0" err="1">
                <a:solidFill>
                  <a:srgbClr val="000000"/>
                </a:solidFill>
              </a:rPr>
              <a:t>const</a:t>
            </a:r>
            <a:r>
              <a:rPr lang="en-US" kern="0" dirty="0">
                <a:solidFill>
                  <a:srgbClr val="000000"/>
                </a:solidFill>
              </a:rPr>
              <a:t> unsigned quantization = </a:t>
            </a:r>
            <a:r>
              <a:rPr lang="en-US" kern="0" dirty="0" err="1">
                <a:solidFill>
                  <a:srgbClr val="000000"/>
                </a:solidFill>
              </a:rPr>
              <a:t>hls</a:t>
            </a:r>
            <a:r>
              <a:rPr lang="en-US" kern="0" dirty="0">
                <a:solidFill>
                  <a:srgbClr val="000000"/>
                </a:solidFill>
              </a:rPr>
              <a:t>::</a:t>
            </a:r>
            <a:r>
              <a:rPr lang="en-US" kern="0" dirty="0" err="1">
                <a:solidFill>
                  <a:srgbClr val="000000"/>
                </a:solidFill>
              </a:rPr>
              <a:t>ip_fir</a:t>
            </a:r>
            <a:r>
              <a:rPr lang="en-US" kern="0" dirty="0">
                <a:solidFill>
                  <a:srgbClr val="000000"/>
                </a:solidFill>
              </a:rPr>
              <a:t>::</a:t>
            </a:r>
            <a:r>
              <a:rPr lang="en-US" kern="0" dirty="0" err="1">
                <a:solidFill>
                  <a:srgbClr val="000000"/>
                </a:solidFill>
              </a:rPr>
              <a:t>quantize_only</a:t>
            </a:r>
            <a:r>
              <a:rPr lang="en-US" kern="0" dirty="0">
                <a:solidFill>
                  <a:srgbClr val="000000"/>
                </a:solidFill>
              </a:rPr>
              <a:t>;</a:t>
            </a:r>
          </a:p>
          <a:p>
            <a:pPr defTabSz="914400" fontAlgn="base">
              <a:spcBef>
                <a:spcPct val="0"/>
              </a:spcBef>
              <a:spcAft>
                <a:spcPct val="0"/>
              </a:spcAft>
              <a:defRPr/>
            </a:pPr>
            <a:r>
              <a:rPr lang="en-US" kern="0" dirty="0">
                <a:solidFill>
                  <a:srgbClr val="000000"/>
                </a:solidFill>
              </a:rPr>
              <a:t>};</a:t>
            </a:r>
          </a:p>
          <a:p>
            <a:pPr defTabSz="914400" fontAlgn="base">
              <a:spcBef>
                <a:spcPct val="0"/>
              </a:spcBef>
              <a:spcAft>
                <a:spcPct val="0"/>
              </a:spcAft>
              <a:defRPr/>
            </a:pPr>
            <a:endParaRPr lang="en-US" kern="0" dirty="0">
              <a:solidFill>
                <a:srgbClr val="000000"/>
              </a:solidFill>
            </a:endParaRPr>
          </a:p>
          <a:p>
            <a:pPr defTabSz="914400" fontAlgn="base">
              <a:spcBef>
                <a:spcPct val="0"/>
              </a:spcBef>
              <a:spcAft>
                <a:spcPct val="0"/>
              </a:spcAft>
              <a:defRPr/>
            </a:pPr>
            <a:endParaRPr lang="en-US" kern="0" dirty="0">
              <a:solidFill>
                <a:srgbClr val="000000"/>
              </a:solidFill>
            </a:endParaRPr>
          </a:p>
        </p:txBody>
      </p:sp>
      <p:sp>
        <p:nvSpPr>
          <p:cNvPr id="12" name="TextBox 11">
            <a:extLst>
              <a:ext uri="{FF2B5EF4-FFF2-40B4-BE49-F238E27FC236}">
                <a16:creationId xmlns:a16="http://schemas.microsoft.com/office/drawing/2014/main" id="{01638DF1-1E08-4203-B8D7-1F99EDF3BA68}"/>
              </a:ext>
            </a:extLst>
          </p:cNvPr>
          <p:cNvSpPr txBox="1"/>
          <p:nvPr/>
        </p:nvSpPr>
        <p:spPr bwMode="auto">
          <a:xfrm>
            <a:off x="7146454" y="4089755"/>
            <a:ext cx="4066100" cy="1785104"/>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kern="0" dirty="0">
                <a:solidFill>
                  <a:srgbClr val="000000"/>
                </a:solidFill>
              </a:rPr>
              <a:t>// Define the configuration type</a:t>
            </a:r>
          </a:p>
          <a:p>
            <a:pPr defTabSz="914400" fontAlgn="base">
              <a:spcBef>
                <a:spcPct val="0"/>
              </a:spcBef>
              <a:spcAft>
                <a:spcPct val="0"/>
              </a:spcAft>
              <a:defRPr/>
            </a:pPr>
            <a:r>
              <a:rPr lang="en-US" sz="1100" b="1" kern="0" dirty="0" err="1">
                <a:solidFill>
                  <a:srgbClr val="000000"/>
                </a:solidFill>
              </a:rPr>
              <a:t>typedef</a:t>
            </a:r>
            <a:r>
              <a:rPr lang="en-US" sz="1100" b="1" kern="0" dirty="0">
                <a:solidFill>
                  <a:srgbClr val="000000"/>
                </a:solidFill>
              </a:rPr>
              <a:t> </a:t>
            </a:r>
            <a:r>
              <a:rPr lang="en-US" sz="1100" b="1" kern="0" dirty="0" err="1">
                <a:solidFill>
                  <a:srgbClr val="000000"/>
                </a:solidFill>
              </a:rPr>
              <a:t>ap_uint</a:t>
            </a:r>
            <a:r>
              <a:rPr lang="en-US" sz="1100" b="1" kern="0" dirty="0">
                <a:solidFill>
                  <a:srgbClr val="000000"/>
                </a:solidFill>
              </a:rPr>
              <a:t>&lt;8&gt; </a:t>
            </a:r>
            <a:r>
              <a:rPr lang="en-US" sz="1100" b="1" kern="0" dirty="0" err="1">
                <a:solidFill>
                  <a:srgbClr val="000000"/>
                </a:solidFill>
              </a:rPr>
              <a:t>config_t</a:t>
            </a:r>
            <a:r>
              <a:rPr lang="en-US" sz="1100" b="1" kern="0" dirty="0">
                <a:solidFill>
                  <a:srgbClr val="000000"/>
                </a:solidFill>
              </a:rPr>
              <a:t>;</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Define the configuration variable</a:t>
            </a:r>
          </a:p>
          <a:p>
            <a:pPr defTabSz="914400" fontAlgn="base">
              <a:spcBef>
                <a:spcPct val="0"/>
              </a:spcBef>
              <a:spcAft>
                <a:spcPct val="0"/>
              </a:spcAft>
              <a:defRPr/>
            </a:pPr>
            <a:r>
              <a:rPr lang="en-US" sz="1100" kern="0" dirty="0" err="1">
                <a:solidFill>
                  <a:srgbClr val="000000"/>
                </a:solidFill>
              </a:rPr>
              <a:t>config_t</a:t>
            </a:r>
            <a:r>
              <a:rPr lang="en-US" sz="1100" kern="0" dirty="0">
                <a:solidFill>
                  <a:srgbClr val="000000"/>
                </a:solidFill>
              </a:rPr>
              <a:t> </a:t>
            </a:r>
            <a:r>
              <a:rPr lang="en-US" sz="1100" kern="0" dirty="0" err="1">
                <a:solidFill>
                  <a:srgbClr val="000000"/>
                </a:solidFill>
              </a:rPr>
              <a:t>fir_config</a:t>
            </a:r>
            <a:r>
              <a:rPr lang="en-US" sz="1100" kern="0" dirty="0">
                <a:solidFill>
                  <a:srgbClr val="000000"/>
                </a:solidFill>
              </a:rPr>
              <a:t> = 8;</a:t>
            </a:r>
          </a:p>
          <a:p>
            <a:pPr defTabSz="914400" fontAlgn="base">
              <a:spcBef>
                <a:spcPct val="0"/>
              </a:spcBef>
              <a:spcAft>
                <a:spcPct val="0"/>
              </a:spcAft>
              <a:defRPr/>
            </a:pPr>
            <a:endParaRPr lang="en-US" sz="1100" kern="0" dirty="0">
              <a:solidFill>
                <a:srgbClr val="000000"/>
              </a:solidFill>
            </a:endParaRPr>
          </a:p>
          <a:p>
            <a:pPr defTabSz="914400" fontAlgn="base">
              <a:spcBef>
                <a:spcPct val="0"/>
              </a:spcBef>
              <a:spcAft>
                <a:spcPct val="0"/>
              </a:spcAft>
              <a:defRPr/>
            </a:pPr>
            <a:r>
              <a:rPr lang="en-US" sz="1100" kern="0" dirty="0">
                <a:solidFill>
                  <a:srgbClr val="000000"/>
                </a:solidFill>
              </a:rPr>
              <a:t>// Use the configuration in the FFT</a:t>
            </a:r>
          </a:p>
          <a:p>
            <a:pPr defTabSz="914400" fontAlgn="base">
              <a:spcBef>
                <a:spcPct val="0"/>
              </a:spcBef>
              <a:spcAft>
                <a:spcPct val="0"/>
              </a:spcAft>
              <a:defRPr/>
            </a:pPr>
            <a:r>
              <a:rPr lang="en-US" sz="1100" kern="0" dirty="0">
                <a:solidFill>
                  <a:srgbClr val="000000"/>
                </a:solidFill>
              </a:rPr>
              <a:t>static </a:t>
            </a:r>
            <a:r>
              <a:rPr lang="en-US" sz="1100" kern="0" dirty="0" err="1">
                <a:solidFill>
                  <a:srgbClr val="000000"/>
                </a:solidFill>
              </a:rPr>
              <a:t>hls</a:t>
            </a:r>
            <a:r>
              <a:rPr lang="en-US" sz="1100" kern="0" dirty="0">
                <a:solidFill>
                  <a:srgbClr val="000000"/>
                </a:solidFill>
              </a:rPr>
              <a:t>::FIR&lt;</a:t>
            </a:r>
            <a:r>
              <a:rPr lang="en-US" sz="1100" b="1" kern="0" dirty="0">
                <a:solidFill>
                  <a:srgbClr val="000000"/>
                </a:solidFill>
              </a:rPr>
              <a:t>param1</a:t>
            </a:r>
            <a:r>
              <a:rPr lang="en-US" sz="1100" kern="0" dirty="0">
                <a:solidFill>
                  <a:srgbClr val="000000"/>
                </a:solidFill>
              </a:rPr>
              <a:t>&gt; fir1;</a:t>
            </a:r>
          </a:p>
          <a:p>
            <a:pPr defTabSz="914400" fontAlgn="base">
              <a:spcBef>
                <a:spcPct val="0"/>
              </a:spcBef>
              <a:spcAft>
                <a:spcPct val="0"/>
              </a:spcAft>
              <a:defRPr/>
            </a:pPr>
            <a:r>
              <a:rPr lang="en-US" sz="1100" kern="0" dirty="0">
                <a:solidFill>
                  <a:srgbClr val="000000"/>
                </a:solidFill>
              </a:rPr>
              <a:t>fir1.run(</a:t>
            </a:r>
            <a:r>
              <a:rPr lang="en-US" sz="1100" kern="0" dirty="0" err="1">
                <a:solidFill>
                  <a:srgbClr val="000000"/>
                </a:solidFill>
              </a:rPr>
              <a:t>fir_in</a:t>
            </a:r>
            <a:r>
              <a:rPr lang="en-US" sz="1100" kern="0" dirty="0">
                <a:solidFill>
                  <a:srgbClr val="000000"/>
                </a:solidFill>
              </a:rPr>
              <a:t>, </a:t>
            </a:r>
            <a:r>
              <a:rPr lang="en-US" sz="1100" kern="0" dirty="0" err="1">
                <a:solidFill>
                  <a:srgbClr val="000000"/>
                </a:solidFill>
              </a:rPr>
              <a:t>fir_out</a:t>
            </a:r>
            <a:r>
              <a:rPr lang="en-US" sz="1100" kern="0" dirty="0">
                <a:solidFill>
                  <a:srgbClr val="000000"/>
                </a:solidFill>
              </a:rPr>
              <a:t>, &amp;</a:t>
            </a:r>
            <a:r>
              <a:rPr lang="en-US" sz="1100" b="1" kern="0" dirty="0" err="1">
                <a:solidFill>
                  <a:srgbClr val="000000"/>
                </a:solidFill>
              </a:rPr>
              <a:t>fir_config</a:t>
            </a:r>
            <a:r>
              <a:rPr lang="en-US" sz="1100" kern="0" dirty="0">
                <a:solidFill>
                  <a:srgbClr val="000000"/>
                </a:solidFill>
              </a:rPr>
              <a:t>);</a:t>
            </a:r>
          </a:p>
          <a:p>
            <a:pPr defTabSz="914400" fontAlgn="base">
              <a:spcBef>
                <a:spcPct val="0"/>
              </a:spcBef>
              <a:spcAft>
                <a:spcPct val="0"/>
              </a:spcAft>
              <a:defRPr/>
            </a:pPr>
            <a:endParaRPr lang="en-US" sz="1100" kern="0" dirty="0">
              <a:solidFill>
                <a:srgbClr val="000000"/>
              </a:solidFill>
            </a:endParaRPr>
          </a:p>
        </p:txBody>
      </p:sp>
      <p:sp>
        <p:nvSpPr>
          <p:cNvPr id="8" name="Slide Number Placeholder 5">
            <a:extLst>
              <a:ext uri="{FF2B5EF4-FFF2-40B4-BE49-F238E27FC236}">
                <a16:creationId xmlns:a16="http://schemas.microsoft.com/office/drawing/2014/main" id="{DD4B1E22-391C-4B0D-9889-86AC0DE3E7D5}"/>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90</a:t>
            </a:fld>
            <a:endParaRPr lang="en-US" dirty="0"/>
          </a:p>
        </p:txBody>
      </p:sp>
    </p:spTree>
    <p:extLst>
      <p:ext uri="{BB962C8B-B14F-4D97-AF65-F5344CB8AC3E}">
        <p14:creationId xmlns:p14="http://schemas.microsoft.com/office/powerpoint/2010/main" val="13736483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FIR Function: Run Time Configuration</a:t>
            </a:r>
          </a:p>
        </p:txBody>
      </p:sp>
      <p:sp>
        <p:nvSpPr>
          <p:cNvPr id="2" name="Content Placeholder 1"/>
          <p:cNvSpPr>
            <a:spLocks noGrp="1"/>
          </p:cNvSpPr>
          <p:nvPr>
            <p:ph idx="1"/>
          </p:nvPr>
        </p:nvSpPr>
        <p:spPr/>
        <p:txBody>
          <a:bodyPr/>
          <a:lstStyle/>
          <a:p>
            <a:r>
              <a:rPr lang="en-US" dirty="0"/>
              <a:t>Dynamic Configuration</a:t>
            </a:r>
          </a:p>
          <a:p>
            <a:pPr lvl="1"/>
            <a:r>
              <a:rPr lang="en-US" dirty="0"/>
              <a:t>Parameter INPUT_RUN_TIME_CONFIGURATION </a:t>
            </a:r>
            <a:br>
              <a:rPr lang="en-US" dirty="0"/>
            </a:br>
            <a:r>
              <a:rPr lang="en-US" dirty="0"/>
              <a:t>can be changed at run time</a:t>
            </a:r>
            <a:endParaRPr lang="en-US" sz="1600" dirty="0"/>
          </a:p>
          <a:p>
            <a:pPr lvl="1"/>
            <a:endParaRPr lang="en-US" dirty="0"/>
          </a:p>
          <a:p>
            <a:pPr lvl="1"/>
            <a:r>
              <a:rPr lang="en-US" dirty="0"/>
              <a:t>In some modes a dynamic input can control </a:t>
            </a:r>
            <a:br>
              <a:rPr lang="en-US" dirty="0"/>
            </a:br>
            <a:r>
              <a:rPr lang="en-US" dirty="0"/>
              <a:t>how the coefficients are used</a:t>
            </a:r>
            <a:endParaRPr lang="en-US" dirty="0">
              <a:solidFill>
                <a:schemeClr val="accent6">
                  <a:lumMod val="75000"/>
                </a:schemeClr>
              </a:solidFill>
            </a:endParaRPr>
          </a:p>
          <a:p>
            <a:pPr lvl="2"/>
            <a:r>
              <a:rPr lang="en-US" dirty="0"/>
              <a:t>This is a standard 8-bit input </a:t>
            </a:r>
          </a:p>
          <a:p>
            <a:pPr lvl="1"/>
            <a:endParaRPr lang="en-US" dirty="0"/>
          </a:p>
        </p:txBody>
      </p:sp>
      <p:sp>
        <p:nvSpPr>
          <p:cNvPr id="10" name="Slide Number Placeholder 9"/>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91</a:t>
            </a:fld>
            <a:endParaRPr lang="en-US" dirty="0">
              <a:solidFill>
                <a:srgbClr val="0C0C0C">
                  <a:tint val="75000"/>
                </a:srgbClr>
              </a:solidFill>
              <a:latin typeface="Arial"/>
            </a:endParaRPr>
          </a:p>
        </p:txBody>
      </p:sp>
      <p:sp>
        <p:nvSpPr>
          <p:cNvPr id="9" name="TextBox 8">
            <a:extLst>
              <a:ext uri="{FF2B5EF4-FFF2-40B4-BE49-F238E27FC236}">
                <a16:creationId xmlns:a16="http://schemas.microsoft.com/office/drawing/2014/main" id="{923B0175-1235-47FB-B943-2AA8F2138F88}"/>
              </a:ext>
            </a:extLst>
          </p:cNvPr>
          <p:cNvSpPr txBox="1"/>
          <p:nvPr/>
        </p:nvSpPr>
        <p:spPr bwMode="auto">
          <a:xfrm>
            <a:off x="6255181" y="2121776"/>
            <a:ext cx="5794665" cy="1615827"/>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b="1" kern="0" dirty="0">
                <a:solidFill>
                  <a:srgbClr val="3F3F3F"/>
                </a:solidFill>
                <a:latin typeface="Arial"/>
              </a:rPr>
              <a:t> </a:t>
            </a:r>
            <a:r>
              <a:rPr lang="en-US" kern="0" dirty="0">
                <a:solidFill>
                  <a:srgbClr val="000000"/>
                </a:solidFill>
                <a:latin typeface="Arial"/>
              </a:rPr>
              <a:t>#include "</a:t>
            </a:r>
            <a:r>
              <a:rPr lang="en-US" kern="0" dirty="0" err="1">
                <a:solidFill>
                  <a:srgbClr val="000000"/>
                </a:solidFill>
                <a:latin typeface="Arial"/>
              </a:rPr>
              <a:t>hls_fir.h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 Create an instance of the FIR </a:t>
            </a:r>
          </a:p>
          <a:p>
            <a:pPr defTabSz="914400" fontAlgn="base">
              <a:spcBef>
                <a:spcPct val="0"/>
              </a:spcBef>
              <a:spcAft>
                <a:spcPct val="0"/>
              </a:spcAft>
              <a:defRPr/>
            </a:pPr>
            <a:r>
              <a:rPr lang="en-US" kern="0" dirty="0">
                <a:solidFill>
                  <a:srgbClr val="000000"/>
                </a:solidFill>
                <a:latin typeface="Arial"/>
              </a:rPr>
              <a:t>static </a:t>
            </a:r>
            <a:r>
              <a:rPr lang="en-US" kern="0" dirty="0" err="1">
                <a:solidFill>
                  <a:srgbClr val="000000"/>
                </a:solidFill>
                <a:latin typeface="Arial"/>
              </a:rPr>
              <a:t>hls</a:t>
            </a:r>
            <a:r>
              <a:rPr lang="en-US" kern="0" dirty="0">
                <a:solidFill>
                  <a:srgbClr val="000000"/>
                </a:solidFill>
                <a:latin typeface="Arial"/>
              </a:rPr>
              <a:t>::FIR&lt;STATIC_PARAM&gt; </a:t>
            </a:r>
            <a:r>
              <a:rPr lang="en-US" b="1" kern="0" dirty="0">
                <a:solidFill>
                  <a:srgbClr val="000000"/>
                </a:solidFill>
                <a:latin typeface="Arial"/>
              </a:rPr>
              <a:t>fir1</a:t>
            </a:r>
            <a:r>
              <a:rPr lang="en-US" kern="0" dirty="0">
                <a:solidFill>
                  <a:srgbClr val="000000"/>
                </a:solidFill>
                <a:latin typeface="Arial"/>
              </a:rPr>
              <a:t>;		// Static parameterization</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 Execute the FIR instance fir1</a:t>
            </a:r>
          </a:p>
          <a:p>
            <a:pPr defTabSz="914400" fontAlgn="base">
              <a:spcBef>
                <a:spcPct val="0"/>
              </a:spcBef>
              <a:spcAft>
                <a:spcPct val="0"/>
              </a:spcAft>
              <a:defRPr/>
            </a:pPr>
            <a:r>
              <a:rPr lang="en-US" b="1" kern="0" dirty="0">
                <a:solidFill>
                  <a:srgbClr val="000000"/>
                </a:solidFill>
                <a:latin typeface="Arial"/>
              </a:rPr>
              <a:t>fir1</a:t>
            </a:r>
            <a:r>
              <a:rPr lang="en-US" kern="0" dirty="0">
                <a:solidFill>
                  <a:srgbClr val="000000"/>
                </a:solidFill>
                <a:latin typeface="Arial"/>
              </a:rPr>
              <a:t>.run(INPUT_DATA_ARRAY, 		// Input Data</a:t>
            </a:r>
          </a:p>
          <a:p>
            <a:pPr defTabSz="914400" fontAlgn="base">
              <a:spcBef>
                <a:spcPct val="0"/>
              </a:spcBef>
              <a:spcAft>
                <a:spcPct val="0"/>
              </a:spcAft>
              <a:defRPr/>
            </a:pPr>
            <a:r>
              <a:rPr lang="en-US" kern="0" dirty="0">
                <a:solidFill>
                  <a:srgbClr val="000000"/>
                </a:solidFill>
                <a:latin typeface="Arial"/>
              </a:rPr>
              <a:t>             OUTPUT_DATA_ARRAY,		// Output Data</a:t>
            </a:r>
          </a:p>
          <a:p>
            <a:pPr defTabSz="914400" fontAlgn="base">
              <a:spcBef>
                <a:spcPct val="0"/>
              </a:spcBef>
              <a:spcAft>
                <a:spcPct val="0"/>
              </a:spcAft>
              <a:defRPr/>
            </a:pPr>
            <a:r>
              <a:rPr lang="en-US" b="1" kern="0" dirty="0">
                <a:solidFill>
                  <a:srgbClr val="000000"/>
                </a:solidFill>
                <a:latin typeface="Arial"/>
              </a:rPr>
              <a:t>             INPUT_RUN_TIME_CONFIGURATION);	// Run time input configuration</a:t>
            </a:r>
          </a:p>
        </p:txBody>
      </p:sp>
      <p:sp>
        <p:nvSpPr>
          <p:cNvPr id="11" name="TextBox 10">
            <a:extLst>
              <a:ext uri="{FF2B5EF4-FFF2-40B4-BE49-F238E27FC236}">
                <a16:creationId xmlns:a16="http://schemas.microsoft.com/office/drawing/2014/main" id="{56F6FFF8-26D5-49F0-8AD7-D8AFE9298270}"/>
              </a:ext>
            </a:extLst>
          </p:cNvPr>
          <p:cNvSpPr txBox="1"/>
          <p:nvPr/>
        </p:nvSpPr>
        <p:spPr bwMode="auto">
          <a:xfrm>
            <a:off x="1164464" y="4089755"/>
            <a:ext cx="5482348" cy="1785104"/>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defPPr>
              <a:defRPr lang="en-US"/>
            </a:defPPr>
            <a:lvl1pPr>
              <a:defRPr sz="1100"/>
            </a:lvl1pPr>
          </a:lstStyle>
          <a:p>
            <a:pPr defTabSz="914400" fontAlgn="base">
              <a:spcBef>
                <a:spcPct val="0"/>
              </a:spcBef>
              <a:spcAft>
                <a:spcPct val="0"/>
              </a:spcAft>
              <a:defRPr/>
            </a:pPr>
            <a:r>
              <a:rPr lang="en-US" kern="0" dirty="0">
                <a:solidFill>
                  <a:srgbClr val="000000"/>
                </a:solidFill>
                <a:latin typeface="Arial"/>
              </a:rPr>
              <a:t>#include "</a:t>
            </a:r>
            <a:r>
              <a:rPr lang="en-US" kern="0" dirty="0" err="1">
                <a:solidFill>
                  <a:srgbClr val="000000"/>
                </a:solidFill>
                <a:latin typeface="Arial"/>
              </a:rPr>
              <a:t>hls_fir.h</a:t>
            </a: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r>
              <a:rPr lang="en-US" kern="0" dirty="0">
                <a:solidFill>
                  <a:srgbClr val="000000"/>
                </a:solidFill>
                <a:latin typeface="Arial"/>
              </a:rPr>
              <a:t>struct </a:t>
            </a:r>
            <a:r>
              <a:rPr lang="en-US" b="1" kern="0" dirty="0">
                <a:solidFill>
                  <a:srgbClr val="000000"/>
                </a:solidFill>
                <a:latin typeface="Arial"/>
              </a:rPr>
              <a:t>param1</a:t>
            </a:r>
            <a:r>
              <a:rPr lang="en-US" kern="0" dirty="0">
                <a:solidFill>
                  <a:srgbClr val="000000"/>
                </a:solidFill>
                <a:latin typeface="Arial"/>
              </a:rPr>
              <a:t> : </a:t>
            </a:r>
            <a:r>
              <a:rPr lang="en-US" kern="0" dirty="0" err="1">
                <a:solidFill>
                  <a:srgbClr val="8B8D09">
                    <a:lumMod val="75000"/>
                  </a:srgbClr>
                </a:solidFill>
                <a:latin typeface="Arial"/>
              </a:rPr>
              <a:t>hls</a:t>
            </a:r>
            <a:r>
              <a:rPr lang="en-US" kern="0" dirty="0">
                <a:solidFill>
                  <a:srgbClr val="8B8D09">
                    <a:lumMod val="75000"/>
                  </a:srgbClr>
                </a:solidFill>
                <a:latin typeface="Arial"/>
              </a:rPr>
              <a:t>::</a:t>
            </a:r>
            <a:r>
              <a:rPr lang="en-US" kern="0" dirty="0" err="1">
                <a:solidFill>
                  <a:srgbClr val="8B8D09">
                    <a:lumMod val="75000"/>
                  </a:srgbClr>
                </a:solidFill>
                <a:latin typeface="Arial"/>
              </a:rPr>
              <a:t>ip_fir</a:t>
            </a:r>
            <a:r>
              <a:rPr lang="en-US" kern="0" dirty="0">
                <a:solidFill>
                  <a:srgbClr val="8B8D09">
                    <a:lumMod val="75000"/>
                  </a:srgbClr>
                </a:solidFill>
                <a:latin typeface="Arial"/>
              </a:rPr>
              <a:t>::</a:t>
            </a:r>
            <a:r>
              <a:rPr lang="en-US" kern="0" dirty="0" err="1">
                <a:solidFill>
                  <a:srgbClr val="8B8D09">
                    <a:lumMod val="75000"/>
                  </a:srgbClr>
                </a:solidFill>
                <a:latin typeface="Arial"/>
              </a:rPr>
              <a:t>params_t</a:t>
            </a:r>
            <a:r>
              <a:rPr lang="en-US" kern="0" dirty="0">
                <a:solidFill>
                  <a:srgbClr val="8B8D09">
                    <a:lumMod val="75000"/>
                  </a:srgbClr>
                </a:solidFill>
                <a:latin typeface="Arial"/>
              </a:rPr>
              <a:t> </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double </a:t>
            </a:r>
            <a:r>
              <a:rPr lang="en-US" kern="0" dirty="0" err="1">
                <a:solidFill>
                  <a:srgbClr val="000000"/>
                </a:solidFill>
                <a:latin typeface="Arial"/>
              </a:rPr>
              <a:t>coeff_vec</a:t>
            </a:r>
            <a:r>
              <a:rPr lang="en-US" kern="0" dirty="0">
                <a:solidFill>
                  <a:srgbClr val="000000"/>
                </a:solidFill>
                <a:latin typeface="Arial"/>
              </a:rPr>
              <a:t>[</a:t>
            </a:r>
            <a:r>
              <a:rPr lang="en-US" kern="0" dirty="0" err="1">
                <a:solidFill>
                  <a:srgbClr val="000000"/>
                </a:solidFill>
                <a:latin typeface="Arial"/>
              </a:rPr>
              <a:t>sg_fir_srrc_coeffs_len</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num_coeffs</a:t>
            </a:r>
            <a:r>
              <a:rPr lang="en-US" kern="0" dirty="0">
                <a:solidFill>
                  <a:srgbClr val="000000"/>
                </a:solidFill>
                <a:latin typeface="Arial"/>
              </a:rPr>
              <a:t> = </a:t>
            </a:r>
            <a:r>
              <a:rPr lang="en-US" kern="0" dirty="0" err="1">
                <a:solidFill>
                  <a:srgbClr val="000000"/>
                </a:solidFill>
                <a:latin typeface="Arial"/>
              </a:rPr>
              <a:t>sg_fir_srrc_coeffs_len</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a:t>
            </a:r>
            <a:r>
              <a:rPr lang="en-US" kern="0" dirty="0" err="1">
                <a:solidFill>
                  <a:srgbClr val="000000"/>
                </a:solidFill>
                <a:latin typeface="Arial"/>
              </a:rPr>
              <a:t>input_width</a:t>
            </a:r>
            <a:r>
              <a:rPr lang="en-US" kern="0" dirty="0">
                <a:solidFill>
                  <a:srgbClr val="000000"/>
                </a:solidFill>
                <a:latin typeface="Arial"/>
              </a:rPr>
              <a:t> = INPUT_WIDTH; </a:t>
            </a:r>
          </a:p>
          <a:p>
            <a:pPr defTabSz="914400" fontAlgn="base">
              <a:spcBef>
                <a:spcPct val="0"/>
              </a:spcBef>
              <a:spcAft>
                <a:spcPct val="0"/>
              </a:spcAft>
              <a:defRPr/>
            </a:pPr>
            <a:r>
              <a:rPr lang="en-US" kern="0" dirty="0">
                <a:solidFill>
                  <a:srgbClr val="000000"/>
                </a:solidFill>
                <a:latin typeface="Arial"/>
              </a:rPr>
              <a:t>    static </a:t>
            </a:r>
            <a:r>
              <a:rPr lang="en-US" kern="0" dirty="0" err="1">
                <a:solidFill>
                  <a:srgbClr val="000000"/>
                </a:solidFill>
                <a:latin typeface="Arial"/>
              </a:rPr>
              <a:t>const</a:t>
            </a:r>
            <a:r>
              <a:rPr lang="en-US" kern="0" dirty="0">
                <a:solidFill>
                  <a:srgbClr val="000000"/>
                </a:solidFill>
                <a:latin typeface="Arial"/>
              </a:rPr>
              <a:t> unsigned quantization = </a:t>
            </a:r>
            <a:r>
              <a:rPr lang="en-US" kern="0" dirty="0" err="1">
                <a:solidFill>
                  <a:srgbClr val="000000"/>
                </a:solidFill>
                <a:latin typeface="Arial"/>
              </a:rPr>
              <a:t>hls</a:t>
            </a:r>
            <a:r>
              <a:rPr lang="en-US" kern="0" dirty="0">
                <a:solidFill>
                  <a:srgbClr val="000000"/>
                </a:solidFill>
                <a:latin typeface="Arial"/>
              </a:rPr>
              <a:t>::</a:t>
            </a:r>
            <a:r>
              <a:rPr lang="en-US" kern="0" dirty="0" err="1">
                <a:solidFill>
                  <a:srgbClr val="000000"/>
                </a:solidFill>
                <a:latin typeface="Arial"/>
              </a:rPr>
              <a:t>ip_fir</a:t>
            </a:r>
            <a:r>
              <a:rPr lang="en-US" kern="0" dirty="0">
                <a:solidFill>
                  <a:srgbClr val="000000"/>
                </a:solidFill>
                <a:latin typeface="Arial"/>
              </a:rPr>
              <a:t>::</a:t>
            </a:r>
            <a:r>
              <a:rPr lang="en-US" kern="0" dirty="0" err="1">
                <a:solidFill>
                  <a:srgbClr val="000000"/>
                </a:solidFill>
                <a:latin typeface="Arial"/>
              </a:rPr>
              <a:t>quantize_only</a:t>
            </a:r>
            <a:r>
              <a:rPr lang="en-US" kern="0" dirty="0">
                <a:solidFill>
                  <a:srgbClr val="000000"/>
                </a:solidFill>
                <a:latin typeface="Arial"/>
              </a:rPr>
              <a:t>;</a:t>
            </a:r>
          </a:p>
          <a:p>
            <a:pPr defTabSz="914400" fontAlgn="base">
              <a:spcBef>
                <a:spcPct val="0"/>
              </a:spcBef>
              <a:spcAft>
                <a:spcPct val="0"/>
              </a:spcAft>
              <a:defRPr/>
            </a:pPr>
            <a:r>
              <a:rPr lang="en-US" kern="0" dirty="0">
                <a:solidFill>
                  <a:srgbClr val="000000"/>
                </a:solidFill>
                <a:latin typeface="Arial"/>
              </a:rPr>
              <a:t>};</a:t>
            </a:r>
          </a:p>
          <a:p>
            <a:pPr defTabSz="914400" fontAlgn="base">
              <a:spcBef>
                <a:spcPct val="0"/>
              </a:spcBef>
              <a:spcAft>
                <a:spcPct val="0"/>
              </a:spcAft>
              <a:defRPr/>
            </a:pPr>
            <a:endParaRPr lang="en-US" kern="0" dirty="0">
              <a:solidFill>
                <a:srgbClr val="000000"/>
              </a:solidFill>
              <a:latin typeface="Arial"/>
            </a:endParaRPr>
          </a:p>
          <a:p>
            <a:pPr defTabSz="914400" fontAlgn="base">
              <a:spcBef>
                <a:spcPct val="0"/>
              </a:spcBef>
              <a:spcAft>
                <a:spcPct val="0"/>
              </a:spcAft>
              <a:defRPr/>
            </a:pPr>
            <a:endParaRPr lang="en-US" kern="0" dirty="0">
              <a:solidFill>
                <a:srgbClr val="000000"/>
              </a:solidFill>
              <a:latin typeface="Arial"/>
            </a:endParaRPr>
          </a:p>
        </p:txBody>
      </p:sp>
      <p:sp>
        <p:nvSpPr>
          <p:cNvPr id="12" name="TextBox 11">
            <a:extLst>
              <a:ext uri="{FF2B5EF4-FFF2-40B4-BE49-F238E27FC236}">
                <a16:creationId xmlns:a16="http://schemas.microsoft.com/office/drawing/2014/main" id="{01638DF1-1E08-4203-B8D7-1F99EDF3BA68}"/>
              </a:ext>
            </a:extLst>
          </p:cNvPr>
          <p:cNvSpPr txBox="1"/>
          <p:nvPr/>
        </p:nvSpPr>
        <p:spPr bwMode="auto">
          <a:xfrm>
            <a:off x="7146454" y="4089755"/>
            <a:ext cx="4066100" cy="1785104"/>
          </a:xfrm>
          <a:prstGeom prst="rect">
            <a:avLst/>
          </a:prstGeom>
          <a:solidFill>
            <a:srgbClr val="008CA8">
              <a:lumMod val="20000"/>
              <a:lumOff val="80000"/>
            </a:srgbClr>
          </a:solidFill>
          <a:ln w="9525">
            <a:noFill/>
            <a:miter lim="800000"/>
            <a:headEnd/>
            <a:tailEnd/>
          </a:ln>
          <a:effectLst>
            <a:outerShdw blurRad="50800" dist="38100" dir="2700000" algn="tl" rotWithShape="0">
              <a:prstClr val="black">
                <a:alpha val="40000"/>
              </a:prstClr>
            </a:outerShdw>
          </a:effectLst>
        </p:spPr>
        <p:txBody>
          <a:bodyPr vert="horz" wrap="square" lIns="0" tIns="45720" rIns="91440" bIns="45720" numCol="1" rtlCol="0" anchor="t" anchorCtr="0" compatLnSpc="1">
            <a:prstTxWarp prst="textNoShape">
              <a:avLst/>
            </a:prstTxWarp>
            <a:spAutoFit/>
          </a:bodyPr>
          <a:lstStyle/>
          <a:p>
            <a:pPr defTabSz="914400" fontAlgn="base">
              <a:spcBef>
                <a:spcPct val="0"/>
              </a:spcBef>
              <a:spcAft>
                <a:spcPct val="0"/>
              </a:spcAft>
              <a:defRPr/>
            </a:pPr>
            <a:r>
              <a:rPr lang="en-US" sz="1100" kern="0" dirty="0">
                <a:solidFill>
                  <a:srgbClr val="000000"/>
                </a:solidFill>
                <a:latin typeface="Arial"/>
              </a:rPr>
              <a:t>// Define the configuration type</a:t>
            </a:r>
          </a:p>
          <a:p>
            <a:pPr defTabSz="914400" fontAlgn="base">
              <a:spcBef>
                <a:spcPct val="0"/>
              </a:spcBef>
              <a:spcAft>
                <a:spcPct val="0"/>
              </a:spcAft>
              <a:defRPr/>
            </a:pPr>
            <a:r>
              <a:rPr lang="en-US" sz="1100" b="1" kern="0" dirty="0" err="1">
                <a:solidFill>
                  <a:srgbClr val="000000"/>
                </a:solidFill>
                <a:latin typeface="Arial"/>
              </a:rPr>
              <a:t>typedef</a:t>
            </a:r>
            <a:r>
              <a:rPr lang="en-US" sz="1100" b="1" kern="0" dirty="0">
                <a:solidFill>
                  <a:srgbClr val="000000"/>
                </a:solidFill>
                <a:latin typeface="Arial"/>
              </a:rPr>
              <a:t> </a:t>
            </a:r>
            <a:r>
              <a:rPr lang="en-US" sz="1100" b="1" kern="0" dirty="0" err="1">
                <a:solidFill>
                  <a:srgbClr val="000000"/>
                </a:solidFill>
                <a:latin typeface="Arial"/>
              </a:rPr>
              <a:t>ap_uint</a:t>
            </a:r>
            <a:r>
              <a:rPr lang="en-US" sz="1100" b="1" kern="0" dirty="0">
                <a:solidFill>
                  <a:srgbClr val="000000"/>
                </a:solidFill>
                <a:latin typeface="Arial"/>
              </a:rPr>
              <a:t>&lt;8&gt; </a:t>
            </a:r>
            <a:r>
              <a:rPr lang="en-US" sz="1100" b="1" kern="0" dirty="0" err="1">
                <a:solidFill>
                  <a:srgbClr val="000000"/>
                </a:solidFill>
                <a:latin typeface="Arial"/>
              </a:rPr>
              <a:t>config_t</a:t>
            </a:r>
            <a:r>
              <a:rPr lang="en-US" sz="1100" b="1"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Define the configuration variable</a:t>
            </a:r>
          </a:p>
          <a:p>
            <a:pPr defTabSz="914400" fontAlgn="base">
              <a:spcBef>
                <a:spcPct val="0"/>
              </a:spcBef>
              <a:spcAft>
                <a:spcPct val="0"/>
              </a:spcAft>
              <a:defRPr/>
            </a:pPr>
            <a:r>
              <a:rPr lang="en-US" sz="1100" kern="0" dirty="0" err="1">
                <a:solidFill>
                  <a:srgbClr val="000000"/>
                </a:solidFill>
                <a:latin typeface="Arial"/>
              </a:rPr>
              <a:t>config_t</a:t>
            </a:r>
            <a:r>
              <a:rPr lang="en-US" sz="1100" kern="0" dirty="0">
                <a:solidFill>
                  <a:srgbClr val="000000"/>
                </a:solidFill>
                <a:latin typeface="Arial"/>
              </a:rPr>
              <a:t> </a:t>
            </a:r>
            <a:r>
              <a:rPr lang="en-US" sz="1100" kern="0" dirty="0" err="1">
                <a:solidFill>
                  <a:srgbClr val="000000"/>
                </a:solidFill>
                <a:latin typeface="Arial"/>
              </a:rPr>
              <a:t>fir_config</a:t>
            </a:r>
            <a:r>
              <a:rPr lang="en-US" sz="1100" kern="0" dirty="0">
                <a:solidFill>
                  <a:srgbClr val="000000"/>
                </a:solidFill>
                <a:latin typeface="Arial"/>
              </a:rPr>
              <a:t> = 8;</a:t>
            </a:r>
          </a:p>
          <a:p>
            <a:pPr defTabSz="914400" fontAlgn="base">
              <a:spcBef>
                <a:spcPct val="0"/>
              </a:spcBef>
              <a:spcAft>
                <a:spcPct val="0"/>
              </a:spcAft>
              <a:defRPr/>
            </a:pPr>
            <a:endParaRPr lang="en-US" sz="1100" kern="0" dirty="0">
              <a:solidFill>
                <a:srgbClr val="000000"/>
              </a:solidFill>
              <a:latin typeface="Arial"/>
            </a:endParaRPr>
          </a:p>
          <a:p>
            <a:pPr defTabSz="914400" fontAlgn="base">
              <a:spcBef>
                <a:spcPct val="0"/>
              </a:spcBef>
              <a:spcAft>
                <a:spcPct val="0"/>
              </a:spcAft>
              <a:defRPr/>
            </a:pPr>
            <a:r>
              <a:rPr lang="en-US" sz="1100" kern="0" dirty="0">
                <a:solidFill>
                  <a:srgbClr val="000000"/>
                </a:solidFill>
                <a:latin typeface="Arial"/>
              </a:rPr>
              <a:t>// Use the configuration in the FFT</a:t>
            </a:r>
          </a:p>
          <a:p>
            <a:pPr defTabSz="914400" fontAlgn="base">
              <a:spcBef>
                <a:spcPct val="0"/>
              </a:spcBef>
              <a:spcAft>
                <a:spcPct val="0"/>
              </a:spcAft>
              <a:defRPr/>
            </a:pPr>
            <a:r>
              <a:rPr lang="en-US" sz="1100" kern="0" dirty="0">
                <a:solidFill>
                  <a:srgbClr val="000000"/>
                </a:solidFill>
                <a:latin typeface="Arial"/>
              </a:rPr>
              <a:t>static </a:t>
            </a:r>
            <a:r>
              <a:rPr lang="en-US" sz="1100" kern="0" dirty="0" err="1">
                <a:solidFill>
                  <a:srgbClr val="000000"/>
                </a:solidFill>
                <a:latin typeface="Arial"/>
              </a:rPr>
              <a:t>hls</a:t>
            </a:r>
            <a:r>
              <a:rPr lang="en-US" sz="1100" kern="0" dirty="0">
                <a:solidFill>
                  <a:srgbClr val="000000"/>
                </a:solidFill>
                <a:latin typeface="Arial"/>
              </a:rPr>
              <a:t>::FIR&lt;</a:t>
            </a:r>
            <a:r>
              <a:rPr lang="en-US" sz="1100" b="1" kern="0" dirty="0">
                <a:solidFill>
                  <a:srgbClr val="000000"/>
                </a:solidFill>
                <a:latin typeface="Arial"/>
              </a:rPr>
              <a:t>param1</a:t>
            </a:r>
            <a:r>
              <a:rPr lang="en-US" sz="1100" kern="0" dirty="0">
                <a:solidFill>
                  <a:srgbClr val="000000"/>
                </a:solidFill>
                <a:latin typeface="Arial"/>
              </a:rPr>
              <a:t>&gt; fir1;</a:t>
            </a:r>
          </a:p>
          <a:p>
            <a:pPr defTabSz="914400" fontAlgn="base">
              <a:spcBef>
                <a:spcPct val="0"/>
              </a:spcBef>
              <a:spcAft>
                <a:spcPct val="0"/>
              </a:spcAft>
              <a:defRPr/>
            </a:pPr>
            <a:r>
              <a:rPr lang="en-US" sz="1100" kern="0" dirty="0">
                <a:solidFill>
                  <a:srgbClr val="000000"/>
                </a:solidFill>
                <a:latin typeface="Arial"/>
              </a:rPr>
              <a:t>fir1.run(</a:t>
            </a:r>
            <a:r>
              <a:rPr lang="en-US" sz="1100" kern="0" dirty="0" err="1">
                <a:solidFill>
                  <a:srgbClr val="000000"/>
                </a:solidFill>
                <a:latin typeface="Arial"/>
              </a:rPr>
              <a:t>fir_in</a:t>
            </a:r>
            <a:r>
              <a:rPr lang="en-US" sz="1100" kern="0" dirty="0">
                <a:solidFill>
                  <a:srgbClr val="000000"/>
                </a:solidFill>
                <a:latin typeface="Arial"/>
              </a:rPr>
              <a:t>, </a:t>
            </a:r>
            <a:r>
              <a:rPr lang="en-US" sz="1100" kern="0" dirty="0" err="1">
                <a:solidFill>
                  <a:srgbClr val="000000"/>
                </a:solidFill>
                <a:latin typeface="Arial"/>
              </a:rPr>
              <a:t>fir_out</a:t>
            </a:r>
            <a:r>
              <a:rPr lang="en-US" sz="1100" kern="0" dirty="0">
                <a:solidFill>
                  <a:srgbClr val="000000"/>
                </a:solidFill>
                <a:latin typeface="Arial"/>
              </a:rPr>
              <a:t>, &amp;</a:t>
            </a:r>
            <a:r>
              <a:rPr lang="en-US" sz="1100" b="1" kern="0" dirty="0" err="1">
                <a:solidFill>
                  <a:srgbClr val="000000"/>
                </a:solidFill>
                <a:latin typeface="Arial"/>
              </a:rPr>
              <a:t>fir_config</a:t>
            </a:r>
            <a:r>
              <a:rPr lang="en-US" sz="1100" kern="0" dirty="0">
                <a:solidFill>
                  <a:srgbClr val="000000"/>
                </a:solidFill>
                <a:latin typeface="Arial"/>
              </a:rPr>
              <a:t>);</a:t>
            </a:r>
          </a:p>
          <a:p>
            <a:pPr defTabSz="914400" fontAlgn="base">
              <a:spcBef>
                <a:spcPct val="0"/>
              </a:spcBef>
              <a:spcAft>
                <a:spcPct val="0"/>
              </a:spcAft>
              <a:defRPr/>
            </a:pPr>
            <a:endParaRPr lang="en-US" sz="1100" kern="0" dirty="0">
              <a:solidFill>
                <a:srgbClr val="000000"/>
              </a:solidFill>
              <a:latin typeface="Arial"/>
            </a:endParaRPr>
          </a:p>
        </p:txBody>
      </p:sp>
    </p:spTree>
    <p:extLst>
      <p:ext uri="{BB962C8B-B14F-4D97-AF65-F5344CB8AC3E}">
        <p14:creationId xmlns:p14="http://schemas.microsoft.com/office/powerpoint/2010/main" val="334379815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the FFT and FIR IP</a:t>
            </a:r>
          </a:p>
        </p:txBody>
      </p:sp>
      <p:sp>
        <p:nvSpPr>
          <p:cNvPr id="2" name="Content Placeholder 1"/>
          <p:cNvSpPr>
            <a:spLocks noGrp="1"/>
          </p:cNvSpPr>
          <p:nvPr>
            <p:ph idx="1"/>
          </p:nvPr>
        </p:nvSpPr>
        <p:spPr/>
        <p:txBody>
          <a:bodyPr/>
          <a:lstStyle/>
          <a:p>
            <a:r>
              <a:rPr lang="en-US" sz="2000" dirty="0"/>
              <a:t>FFT and FIR support pipelined implementations</a:t>
            </a:r>
          </a:p>
          <a:p>
            <a:pPr lvl="1"/>
            <a:r>
              <a:rPr lang="en-US" sz="1800" dirty="0"/>
              <a:t>The functions themselves cannot be pipelined</a:t>
            </a:r>
          </a:p>
          <a:p>
            <a:pPr lvl="1"/>
            <a:r>
              <a:rPr lang="en-US" sz="1800" dirty="0"/>
              <a:t>They should be parameterized for pipelined operation</a:t>
            </a:r>
          </a:p>
          <a:p>
            <a:r>
              <a:rPr lang="en-US" sz="2000" dirty="0"/>
              <a:t>The data arguments are always arrays</a:t>
            </a:r>
          </a:p>
          <a:p>
            <a:pPr lvl="1"/>
            <a:r>
              <a:rPr lang="en-US" sz="1800" dirty="0"/>
              <a:t>These will be implemented as AXI4 Streams in the RTL</a:t>
            </a:r>
          </a:p>
          <a:p>
            <a:pPr lvl="2"/>
            <a:r>
              <a:rPr lang="en-US" sz="1400" dirty="0"/>
              <a:t>By default, arrays are implemented as BRAM interfaces</a:t>
            </a:r>
          </a:p>
          <a:p>
            <a:r>
              <a:rPr lang="en-US" sz="2000" dirty="0"/>
              <a:t>Recommendation</a:t>
            </a:r>
          </a:p>
          <a:p>
            <a:pPr lvl="1"/>
            <a:r>
              <a:rPr lang="en-US" sz="1800" dirty="0"/>
              <a:t>Use these IP in regions where dataflow optimization is used</a:t>
            </a:r>
          </a:p>
          <a:p>
            <a:pPr lvl="1"/>
            <a:r>
              <a:rPr lang="en-US" sz="1800" dirty="0"/>
              <a:t>This will auto-convert the input and output arrays into streaming arrays</a:t>
            </a:r>
          </a:p>
          <a:p>
            <a:r>
              <a:rPr lang="en-US" sz="2000" dirty="0"/>
              <a:t>Alternatively, a Requirement:</a:t>
            </a:r>
          </a:p>
          <a:p>
            <a:pPr lvl="1"/>
            <a:r>
              <a:rPr lang="en-US" sz="1800" dirty="0"/>
              <a:t>The input and output arrays must be marked as streaming using the command </a:t>
            </a:r>
            <a:r>
              <a:rPr lang="en-US" sz="1800" dirty="0" err="1"/>
              <a:t>set_directive_stream</a:t>
            </a:r>
            <a:r>
              <a:rPr lang="en-US" sz="1800" dirty="0"/>
              <a:t> (pragma HLS STREAM)</a:t>
            </a:r>
          </a:p>
        </p:txBody>
      </p:sp>
      <p:sp>
        <p:nvSpPr>
          <p:cNvPr id="5" name="Slide Number Placeholder 5">
            <a:extLst>
              <a:ext uri="{FF2B5EF4-FFF2-40B4-BE49-F238E27FC236}">
                <a16:creationId xmlns:a16="http://schemas.microsoft.com/office/drawing/2014/main" id="{A854D226-6198-46D4-9464-8042372FBDF8}"/>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92</a:t>
            </a:fld>
            <a:endParaRPr lang="en-US" dirty="0"/>
          </a:p>
        </p:txBody>
      </p:sp>
    </p:spTree>
    <p:extLst>
      <p:ext uri="{BB962C8B-B14F-4D97-AF65-F5344CB8AC3E}">
        <p14:creationId xmlns:p14="http://schemas.microsoft.com/office/powerpoint/2010/main" val="335728606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Using the FFT and FIR IP</a:t>
            </a:r>
          </a:p>
        </p:txBody>
      </p:sp>
      <p:sp>
        <p:nvSpPr>
          <p:cNvPr id="2" name="Content Placeholder 1"/>
          <p:cNvSpPr>
            <a:spLocks noGrp="1"/>
          </p:cNvSpPr>
          <p:nvPr>
            <p:ph idx="1"/>
          </p:nvPr>
        </p:nvSpPr>
        <p:spPr/>
        <p:txBody>
          <a:bodyPr/>
          <a:lstStyle/>
          <a:p>
            <a:r>
              <a:rPr lang="en-US" dirty="0"/>
              <a:t>FFT and FIR support pipelined implementations</a:t>
            </a:r>
          </a:p>
          <a:p>
            <a:pPr lvl="1"/>
            <a:r>
              <a:rPr lang="en-US" dirty="0"/>
              <a:t>The functions themselves cannot be pipelined</a:t>
            </a:r>
          </a:p>
          <a:p>
            <a:pPr lvl="1"/>
            <a:r>
              <a:rPr lang="en-US" dirty="0"/>
              <a:t>They should be parameterized for pipelined operation</a:t>
            </a:r>
          </a:p>
          <a:p>
            <a:r>
              <a:rPr lang="en-US" dirty="0"/>
              <a:t>The data arguments are always arrays</a:t>
            </a:r>
          </a:p>
          <a:p>
            <a:pPr lvl="1"/>
            <a:r>
              <a:rPr lang="en-US" dirty="0"/>
              <a:t>These will be implemented as AXI4 Streams in the RTL</a:t>
            </a:r>
          </a:p>
          <a:p>
            <a:pPr lvl="2"/>
            <a:r>
              <a:rPr lang="en-US" dirty="0"/>
              <a:t>By default, arrays are implemented as BRAM interfaces</a:t>
            </a:r>
          </a:p>
          <a:p>
            <a:r>
              <a:rPr lang="en-US" dirty="0"/>
              <a:t>Recommendation</a:t>
            </a:r>
          </a:p>
          <a:p>
            <a:pPr lvl="1"/>
            <a:r>
              <a:rPr lang="en-US" dirty="0"/>
              <a:t>Use these IP in regions where dataflow optimization is used</a:t>
            </a:r>
          </a:p>
          <a:p>
            <a:pPr lvl="1"/>
            <a:r>
              <a:rPr lang="en-US" dirty="0"/>
              <a:t>This will auto-convert the input and output arrays into streaming arrays</a:t>
            </a:r>
          </a:p>
          <a:p>
            <a:r>
              <a:rPr lang="en-US" dirty="0"/>
              <a:t>Alternatively, a Requirement:</a:t>
            </a:r>
          </a:p>
          <a:p>
            <a:pPr lvl="1"/>
            <a:r>
              <a:rPr lang="en-US" dirty="0"/>
              <a:t>The input and output arrays must be marked as streaming using the command </a:t>
            </a:r>
            <a:r>
              <a:rPr lang="en-US" dirty="0" err="1"/>
              <a:t>set_directive_stream</a:t>
            </a:r>
            <a:r>
              <a:rPr lang="en-US" dirty="0"/>
              <a:t> (pragma </a:t>
            </a:r>
            <a:r>
              <a:rPr lang="en-US" dirty="0">
                <a:highlight>
                  <a:srgbClr val="FFFF00"/>
                </a:highlight>
              </a:rPr>
              <a:t>HLS</a:t>
            </a:r>
            <a:r>
              <a:rPr lang="en-US" dirty="0"/>
              <a:t> STREAM)</a:t>
            </a:r>
          </a:p>
        </p:txBody>
      </p:sp>
      <p:sp>
        <p:nvSpPr>
          <p:cNvPr id="7" name="Slide Number Placeholder 6"/>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93</a:t>
            </a:fld>
            <a:endParaRPr lang="en-US" dirty="0">
              <a:solidFill>
                <a:srgbClr val="0C0C0C">
                  <a:tint val="75000"/>
                </a:srgbClr>
              </a:solidFill>
              <a:latin typeface="Arial"/>
            </a:endParaRPr>
          </a:p>
        </p:txBody>
      </p:sp>
    </p:spTree>
    <p:extLst>
      <p:ext uri="{BB962C8B-B14F-4D97-AF65-F5344CB8AC3E}">
        <p14:creationId xmlns:p14="http://schemas.microsoft.com/office/powerpoint/2010/main" val="357248769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Shift Registers</a:t>
            </a:r>
          </a:p>
        </p:txBody>
      </p:sp>
      <p:sp>
        <p:nvSpPr>
          <p:cNvPr id="2" name="Content Placeholder 1"/>
          <p:cNvSpPr>
            <a:spLocks noGrp="1"/>
          </p:cNvSpPr>
          <p:nvPr>
            <p:ph idx="1"/>
          </p:nvPr>
        </p:nvSpPr>
        <p:spPr/>
        <p:txBody>
          <a:bodyPr/>
          <a:lstStyle/>
          <a:p>
            <a:r>
              <a:rPr lang="en-US" sz="2000" dirty="0"/>
              <a:t>Many C algorithms sequentially shift data through arrays</a:t>
            </a:r>
          </a:p>
          <a:p>
            <a:pPr lvl="1"/>
            <a:r>
              <a:rPr lang="en-US" sz="1800" b="0" dirty="0"/>
              <a:t>Add a new value to the start of the array, </a:t>
            </a:r>
          </a:p>
          <a:p>
            <a:pPr lvl="1"/>
            <a:r>
              <a:rPr lang="en-US" sz="1800" b="0" dirty="0"/>
              <a:t>Shift the existing data through array, and </a:t>
            </a:r>
          </a:p>
          <a:p>
            <a:pPr lvl="1"/>
            <a:r>
              <a:rPr lang="en-US" sz="1800" b="0" dirty="0"/>
              <a:t>Drop the oldest data value</a:t>
            </a:r>
          </a:p>
          <a:p>
            <a:r>
              <a:rPr lang="en-US" sz="2000" dirty="0"/>
              <a:t>Common way to implement a shift register from C into hardware </a:t>
            </a:r>
          </a:p>
          <a:p>
            <a:pPr lvl="1"/>
            <a:r>
              <a:rPr lang="en-US" sz="1800" b="0" dirty="0"/>
              <a:t>Completely partition the array into individual elements, and allow the data dependencies between the elements in the RTL to imply a shift register</a:t>
            </a:r>
          </a:p>
          <a:p>
            <a:r>
              <a:rPr lang="en-US" sz="2000" dirty="0"/>
              <a:t>SRL architectural resource is most efficient to implement the desired shift registers</a:t>
            </a:r>
          </a:p>
          <a:p>
            <a:pPr lvl="1"/>
            <a:r>
              <a:rPr lang="en-US" sz="1800" b="0" dirty="0"/>
              <a:t>When data is accessed in the middle of the shift register, logic synthesis cannot directly infer an SRL</a:t>
            </a:r>
          </a:p>
          <a:p>
            <a:pPr lvl="1"/>
            <a:r>
              <a:rPr lang="en-US" sz="1800" b="0" dirty="0"/>
              <a:t>Logic synthesis may implement the shift-resister in flip-flops, due to other factors</a:t>
            </a:r>
          </a:p>
          <a:p>
            <a:r>
              <a:rPr lang="en-US" sz="2000" dirty="0"/>
              <a:t>Use the </a:t>
            </a:r>
            <a:r>
              <a:rPr lang="en-US" sz="2000" dirty="0">
                <a:latin typeface="Courier New" panose="02070309020205020404" pitchFamily="49" charset="0"/>
                <a:cs typeface="Courier New" panose="02070309020205020404" pitchFamily="49" charset="0"/>
              </a:rPr>
              <a:t>ap_shift_reg</a:t>
            </a:r>
            <a:r>
              <a:rPr lang="en-US" sz="2000" dirty="0"/>
              <a:t> class</a:t>
            </a:r>
          </a:p>
        </p:txBody>
      </p:sp>
      <p:sp>
        <p:nvSpPr>
          <p:cNvPr id="5" name="Slide Number Placeholder 5">
            <a:extLst>
              <a:ext uri="{FF2B5EF4-FFF2-40B4-BE49-F238E27FC236}">
                <a16:creationId xmlns:a16="http://schemas.microsoft.com/office/drawing/2014/main" id="{BBD798D3-935F-4762-8C7A-C895CEECCBFD}"/>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94</a:t>
            </a:fld>
            <a:endParaRPr lang="en-US" dirty="0"/>
          </a:p>
        </p:txBody>
      </p:sp>
    </p:spTree>
    <p:extLst>
      <p:ext uri="{BB962C8B-B14F-4D97-AF65-F5344CB8AC3E}">
        <p14:creationId xmlns:p14="http://schemas.microsoft.com/office/powerpoint/2010/main" val="2451961920"/>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Shift Registers</a:t>
            </a:r>
          </a:p>
        </p:txBody>
      </p:sp>
      <p:sp>
        <p:nvSpPr>
          <p:cNvPr id="2" name="Content Placeholder 1"/>
          <p:cNvSpPr>
            <a:spLocks noGrp="1"/>
          </p:cNvSpPr>
          <p:nvPr>
            <p:ph idx="1"/>
          </p:nvPr>
        </p:nvSpPr>
        <p:spPr/>
        <p:txBody>
          <a:bodyPr/>
          <a:lstStyle/>
          <a:p>
            <a:r>
              <a:rPr lang="en-US" dirty="0"/>
              <a:t>Many C algorithms sequentially shift data through arrays</a:t>
            </a:r>
          </a:p>
          <a:p>
            <a:pPr lvl="1"/>
            <a:r>
              <a:rPr lang="en-US" b="0" dirty="0"/>
              <a:t>Add a new value to the start of the array, </a:t>
            </a:r>
          </a:p>
          <a:p>
            <a:pPr lvl="1"/>
            <a:r>
              <a:rPr lang="en-US" b="0" dirty="0"/>
              <a:t>Shift the existing data through array, and </a:t>
            </a:r>
          </a:p>
          <a:p>
            <a:pPr lvl="1"/>
            <a:r>
              <a:rPr lang="en-US" b="0" dirty="0"/>
              <a:t>Drop the oldest data value</a:t>
            </a:r>
          </a:p>
          <a:p>
            <a:r>
              <a:rPr lang="en-US" dirty="0"/>
              <a:t>Common way to implement a shift register from C into hardware </a:t>
            </a:r>
          </a:p>
          <a:p>
            <a:pPr lvl="1"/>
            <a:r>
              <a:rPr lang="en-US" b="0" dirty="0"/>
              <a:t>Completely partition the array into individual elements, and allow the data dependencies between the elements in the RTL to imply a shift register</a:t>
            </a:r>
          </a:p>
          <a:p>
            <a:r>
              <a:rPr lang="en-US" dirty="0"/>
              <a:t>SRL architectural resource is most efficient to implement the desired shift registers</a:t>
            </a:r>
          </a:p>
          <a:p>
            <a:pPr lvl="1"/>
            <a:r>
              <a:rPr lang="en-US" b="0" dirty="0"/>
              <a:t>When data is accessed in the middle of the shift register, logic synthesis cannot directly infer an SRL</a:t>
            </a:r>
          </a:p>
          <a:p>
            <a:pPr lvl="1"/>
            <a:r>
              <a:rPr lang="en-US" b="0" dirty="0"/>
              <a:t>Logic synthesis may implement the shift-resister in flip-flops, due to other factors</a:t>
            </a:r>
          </a:p>
          <a:p>
            <a:r>
              <a:rPr lang="en-US" dirty="0"/>
              <a:t>Use the </a:t>
            </a:r>
            <a:r>
              <a:rPr lang="en-US" dirty="0">
                <a:latin typeface="Courier New" panose="02070309020205020404" pitchFamily="49" charset="0"/>
                <a:cs typeface="Courier New" panose="02070309020205020404" pitchFamily="49" charset="0"/>
              </a:rPr>
              <a:t>ap_shift_reg</a:t>
            </a:r>
            <a:r>
              <a:rPr lang="en-US" dirty="0"/>
              <a:t> class</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95</a:t>
            </a:fld>
            <a:endParaRPr lang="en-US" dirty="0">
              <a:solidFill>
                <a:srgbClr val="0C0C0C">
                  <a:tint val="75000"/>
                </a:srgbClr>
              </a:solidFill>
              <a:latin typeface="Arial"/>
            </a:endParaRPr>
          </a:p>
        </p:txBody>
      </p:sp>
    </p:spTree>
    <p:extLst>
      <p:ext uri="{BB962C8B-B14F-4D97-AF65-F5344CB8AC3E}">
        <p14:creationId xmlns:p14="http://schemas.microsoft.com/office/powerpoint/2010/main" val="94105599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AP_SHIFT_REG Class</a:t>
            </a:r>
          </a:p>
        </p:txBody>
      </p:sp>
      <p:sp>
        <p:nvSpPr>
          <p:cNvPr id="2" name="Content Placeholder 1"/>
          <p:cNvSpPr>
            <a:spLocks noGrp="1"/>
          </p:cNvSpPr>
          <p:nvPr>
            <p:ph idx="1"/>
          </p:nvPr>
        </p:nvSpPr>
        <p:spPr/>
        <p:txBody>
          <a:bodyPr/>
          <a:lstStyle/>
          <a:p>
            <a:pPr lvl="0"/>
            <a:r>
              <a:rPr lang="en-US" sz="1800" dirty="0"/>
              <a:t>Class AP_SHIFT_REG infers an SRL</a:t>
            </a:r>
          </a:p>
          <a:p>
            <a:pPr lvl="1"/>
            <a:r>
              <a:rPr lang="en-US" sz="1600" dirty="0"/>
              <a:t>Ensures that the behavior of an SRL component can be modeled in C</a:t>
            </a:r>
          </a:p>
          <a:p>
            <a:pPr lvl="2"/>
            <a:r>
              <a:rPr lang="en-US" sz="1400" dirty="0"/>
              <a:t>Addressable shift register</a:t>
            </a:r>
          </a:p>
          <a:p>
            <a:pPr lvl="1"/>
            <a:r>
              <a:rPr lang="en-US" sz="1600" dirty="0"/>
              <a:t>Ensures that an SRL is in fact used in the implementation</a:t>
            </a:r>
          </a:p>
          <a:p>
            <a:pPr lvl="2"/>
            <a:r>
              <a:rPr lang="en-US" sz="1400" i="1" dirty="0"/>
              <a:t>Guarantees</a:t>
            </a:r>
            <a:r>
              <a:rPr lang="en-US" sz="1400" dirty="0"/>
              <a:t> that the high-performance Xilinx primitive is used</a:t>
            </a:r>
          </a:p>
          <a:p>
            <a:pPr lvl="0"/>
            <a:r>
              <a:rPr lang="en-US" sz="1800" dirty="0"/>
              <a:t>Using the AP_SHIFT_REG</a:t>
            </a:r>
          </a:p>
          <a:p>
            <a:pPr lvl="1"/>
            <a:r>
              <a:rPr lang="en-US" sz="1600" dirty="0"/>
              <a:t>For use in C++ designs</a:t>
            </a:r>
          </a:p>
          <a:p>
            <a:pPr lvl="1"/>
            <a:r>
              <a:rPr lang="en-US" sz="1600" dirty="0"/>
              <a:t>Defined in the </a:t>
            </a:r>
            <a:r>
              <a:rPr lang="en-US" sz="1600" dirty="0" err="1"/>
              <a:t>Vitis</a:t>
            </a:r>
            <a:r>
              <a:rPr lang="en-US" sz="1600" dirty="0"/>
              <a:t> HLS tool header file </a:t>
            </a:r>
            <a:r>
              <a:rPr lang="en-US" sz="1600" i="1" dirty="0"/>
              <a:t>ap_shift_reg.h</a:t>
            </a:r>
            <a:endParaRPr lang="en-US" sz="1600" dirty="0"/>
          </a:p>
          <a:p>
            <a:pPr lvl="2"/>
            <a:r>
              <a:rPr lang="en-US" sz="1400" dirty="0"/>
              <a:t>Must be included</a:t>
            </a:r>
          </a:p>
          <a:p>
            <a:pPr lvl="0"/>
            <a:r>
              <a:rPr lang="en-US" sz="1800" dirty="0"/>
              <a:t>SRL operations modeled in C</a:t>
            </a:r>
          </a:p>
          <a:p>
            <a:pPr lvl="1"/>
            <a:r>
              <a:rPr lang="en-US" sz="1600" dirty="0"/>
              <a:t>Supported in the C code</a:t>
            </a:r>
          </a:p>
          <a:p>
            <a:pPr lvl="1"/>
            <a:r>
              <a:rPr lang="en-US" sz="1600" dirty="0"/>
              <a:t>Addressable read from the shift register</a:t>
            </a:r>
          </a:p>
          <a:p>
            <a:pPr lvl="1"/>
            <a:r>
              <a:rPr lang="en-US" sz="1600" dirty="0"/>
              <a:t>Addressable read from the shift register and shift</a:t>
            </a:r>
          </a:p>
          <a:p>
            <a:pPr lvl="1"/>
            <a:r>
              <a:rPr lang="en-US" sz="1600" dirty="0"/>
              <a:t>Addressable read from the shift register and shift if enabled</a:t>
            </a:r>
          </a:p>
          <a:p>
            <a:endParaRPr lang="en-US" sz="1800" dirty="0"/>
          </a:p>
        </p:txBody>
      </p:sp>
      <p:sp>
        <p:nvSpPr>
          <p:cNvPr id="5" name="Slide Number Placeholder 5">
            <a:extLst>
              <a:ext uri="{FF2B5EF4-FFF2-40B4-BE49-F238E27FC236}">
                <a16:creationId xmlns:a16="http://schemas.microsoft.com/office/drawing/2014/main" id="{4078658D-9298-4724-882E-17F0BA750A44}"/>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96</a:t>
            </a:fld>
            <a:endParaRPr lang="en-US" dirty="0"/>
          </a:p>
        </p:txBody>
      </p:sp>
    </p:spTree>
    <p:extLst>
      <p:ext uri="{BB962C8B-B14F-4D97-AF65-F5344CB8AC3E}">
        <p14:creationId xmlns:p14="http://schemas.microsoft.com/office/powerpoint/2010/main" val="315694013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AP_SHIFT_REG Class</a:t>
            </a:r>
          </a:p>
        </p:txBody>
      </p:sp>
      <p:sp>
        <p:nvSpPr>
          <p:cNvPr id="2" name="Content Placeholder 1"/>
          <p:cNvSpPr>
            <a:spLocks noGrp="1"/>
          </p:cNvSpPr>
          <p:nvPr>
            <p:ph idx="1"/>
          </p:nvPr>
        </p:nvSpPr>
        <p:spPr/>
        <p:txBody>
          <a:bodyPr/>
          <a:lstStyle/>
          <a:p>
            <a:pPr lvl="0"/>
            <a:r>
              <a:rPr lang="en-US" sz="1800" dirty="0"/>
              <a:t>Class AP_SHIFT_REG infers an SRL</a:t>
            </a:r>
          </a:p>
          <a:p>
            <a:pPr lvl="1"/>
            <a:r>
              <a:rPr lang="en-US" sz="1600" dirty="0"/>
              <a:t>Ensures that the behavior of an SRL component can be modeled in C</a:t>
            </a:r>
          </a:p>
          <a:p>
            <a:pPr lvl="2"/>
            <a:r>
              <a:rPr lang="en-US" sz="1400" dirty="0"/>
              <a:t>Addressable shift register</a:t>
            </a:r>
          </a:p>
          <a:p>
            <a:pPr lvl="1"/>
            <a:r>
              <a:rPr lang="en-US" sz="1600" dirty="0"/>
              <a:t>Ensures that an SRL is in fact used in the implementation</a:t>
            </a:r>
          </a:p>
          <a:p>
            <a:pPr lvl="2"/>
            <a:r>
              <a:rPr lang="en-US" sz="1400" i="1" dirty="0"/>
              <a:t>Guarantees</a:t>
            </a:r>
            <a:r>
              <a:rPr lang="en-US" sz="1400" dirty="0"/>
              <a:t> that the high-performance Xilinx primitive is used</a:t>
            </a:r>
          </a:p>
          <a:p>
            <a:pPr lvl="0"/>
            <a:r>
              <a:rPr lang="en-US" sz="1800" dirty="0"/>
              <a:t>Using the AP_SHIFT_REG</a:t>
            </a:r>
          </a:p>
          <a:p>
            <a:pPr lvl="1"/>
            <a:r>
              <a:rPr lang="en-US" sz="1600" dirty="0"/>
              <a:t>For use in C++ designs</a:t>
            </a:r>
          </a:p>
          <a:p>
            <a:pPr lvl="1"/>
            <a:r>
              <a:rPr lang="en-US" sz="1600" dirty="0"/>
              <a:t>Defined in the </a:t>
            </a:r>
            <a:r>
              <a:rPr lang="en-US" sz="1600" dirty="0" err="1">
                <a:highlight>
                  <a:srgbClr val="FFFF00"/>
                </a:highlight>
              </a:rPr>
              <a:t>Vitis</a:t>
            </a:r>
            <a:r>
              <a:rPr lang="en-US" sz="1600" dirty="0"/>
              <a:t> HLS tool header file </a:t>
            </a:r>
            <a:r>
              <a:rPr lang="en-US" sz="1600" i="1" dirty="0"/>
              <a:t>ap_shift_reg.h</a:t>
            </a:r>
            <a:endParaRPr lang="en-US" sz="1600" dirty="0"/>
          </a:p>
          <a:p>
            <a:pPr lvl="2"/>
            <a:r>
              <a:rPr lang="en-US" sz="1400" dirty="0"/>
              <a:t>Must be included</a:t>
            </a:r>
          </a:p>
          <a:p>
            <a:pPr lvl="0"/>
            <a:r>
              <a:rPr lang="en-US" sz="1800" dirty="0"/>
              <a:t>SRL operations modeled in C</a:t>
            </a:r>
          </a:p>
          <a:p>
            <a:pPr lvl="1"/>
            <a:r>
              <a:rPr lang="en-US" sz="1600" dirty="0"/>
              <a:t>Supported in the C code</a:t>
            </a:r>
          </a:p>
          <a:p>
            <a:pPr lvl="1"/>
            <a:r>
              <a:rPr lang="en-US" sz="1600" dirty="0"/>
              <a:t>Addressable read from the shift register</a:t>
            </a:r>
          </a:p>
          <a:p>
            <a:pPr lvl="1"/>
            <a:r>
              <a:rPr lang="en-US" sz="1600" dirty="0"/>
              <a:t>Addressable read from the shift register and shift</a:t>
            </a:r>
          </a:p>
          <a:p>
            <a:pPr lvl="1"/>
            <a:r>
              <a:rPr lang="en-US" sz="1600" dirty="0"/>
              <a:t>Addressable read from the shift register and shift if enabled</a:t>
            </a:r>
          </a:p>
          <a:p>
            <a:endParaRPr lang="en-US" sz="1800" dirty="0"/>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97</a:t>
            </a:fld>
            <a:endParaRPr lang="en-US" dirty="0">
              <a:solidFill>
                <a:srgbClr val="0C0C0C">
                  <a:tint val="75000"/>
                </a:srgbClr>
              </a:solidFill>
              <a:latin typeface="Arial"/>
            </a:endParaRPr>
          </a:p>
        </p:txBody>
      </p:sp>
    </p:spTree>
    <p:extLst>
      <p:ext uri="{BB962C8B-B14F-4D97-AF65-F5344CB8AC3E}">
        <p14:creationId xmlns:p14="http://schemas.microsoft.com/office/powerpoint/2010/main" val="31498068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Using </a:t>
            </a:r>
            <a:r>
              <a:rPr lang="en-US" dirty="0" err="1"/>
              <a:t>ap_shift_reg</a:t>
            </a:r>
            <a:r>
              <a:rPr lang="en-US" dirty="0"/>
              <a:t> class</a:t>
            </a:r>
          </a:p>
        </p:txBody>
      </p:sp>
      <p:sp>
        <p:nvSpPr>
          <p:cNvPr id="2" name="Content Placeholder 1"/>
          <p:cNvSpPr>
            <a:spLocks noGrp="1"/>
          </p:cNvSpPr>
          <p:nvPr>
            <p:ph idx="1"/>
          </p:nvPr>
        </p:nvSpPr>
        <p:spPr/>
        <p:txBody>
          <a:bodyPr/>
          <a:lstStyle/>
          <a:p>
            <a:pPr lvl="0"/>
            <a:r>
              <a:rPr lang="en-US" sz="2000" dirty="0"/>
              <a:t>Read from the shift register</a:t>
            </a:r>
          </a:p>
          <a:p>
            <a:endParaRPr lang="en-US" sz="2000" dirty="0"/>
          </a:p>
          <a:p>
            <a:endParaRPr lang="en-US" sz="2000" dirty="0"/>
          </a:p>
          <a:p>
            <a:endParaRPr lang="en-US" sz="2000" dirty="0"/>
          </a:p>
          <a:p>
            <a:endParaRPr lang="en-US" sz="2000" dirty="0"/>
          </a:p>
          <a:p>
            <a:pPr lvl="0"/>
            <a:r>
              <a:rPr lang="en-US" sz="2000" dirty="0"/>
              <a:t>Read from and write to the shift register</a:t>
            </a:r>
          </a:p>
          <a:p>
            <a:pPr marL="0" indent="0">
              <a:buNone/>
            </a:pPr>
            <a:endParaRPr lang="en-US" sz="2000" dirty="0"/>
          </a:p>
        </p:txBody>
      </p:sp>
      <p:pic>
        <p:nvPicPr>
          <p:cNvPr id="102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44664" y="1812992"/>
            <a:ext cx="7771965" cy="19526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3713" y="4362450"/>
            <a:ext cx="8377384"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Slide Number Placeholder 5">
            <a:extLst>
              <a:ext uri="{FF2B5EF4-FFF2-40B4-BE49-F238E27FC236}">
                <a16:creationId xmlns:a16="http://schemas.microsoft.com/office/drawing/2014/main" id="{4BDF49E8-2340-4BB6-8FFB-0AAE537A7C29}"/>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98</a:t>
            </a:fld>
            <a:endParaRPr lang="en-US" dirty="0"/>
          </a:p>
        </p:txBody>
      </p:sp>
    </p:spTree>
    <p:extLst>
      <p:ext uri="{BB962C8B-B14F-4D97-AF65-F5344CB8AC3E}">
        <p14:creationId xmlns:p14="http://schemas.microsoft.com/office/powerpoint/2010/main" val="410385753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Using </a:t>
            </a:r>
            <a:r>
              <a:rPr lang="en-US" dirty="0" err="1"/>
              <a:t>ap_shift_reg</a:t>
            </a:r>
            <a:r>
              <a:rPr lang="en-US" dirty="0"/>
              <a:t> class</a:t>
            </a:r>
          </a:p>
        </p:txBody>
      </p:sp>
      <p:sp>
        <p:nvSpPr>
          <p:cNvPr id="2" name="Content Placeholder 1"/>
          <p:cNvSpPr>
            <a:spLocks noGrp="1"/>
          </p:cNvSpPr>
          <p:nvPr>
            <p:ph idx="1"/>
          </p:nvPr>
        </p:nvSpPr>
        <p:spPr/>
        <p:txBody>
          <a:bodyPr/>
          <a:lstStyle/>
          <a:p>
            <a:pPr lvl="0"/>
            <a:r>
              <a:rPr lang="en-US" dirty="0"/>
              <a:t>Read from the shift register</a:t>
            </a:r>
          </a:p>
          <a:p>
            <a:endParaRPr lang="en-US" dirty="0"/>
          </a:p>
          <a:p>
            <a:endParaRPr lang="en-US" dirty="0"/>
          </a:p>
          <a:p>
            <a:endParaRPr lang="en-US" dirty="0"/>
          </a:p>
          <a:p>
            <a:endParaRPr lang="en-US" dirty="0"/>
          </a:p>
          <a:p>
            <a:pPr lvl="0"/>
            <a:r>
              <a:rPr lang="en-US" dirty="0"/>
              <a:t>Read from and write to the shift register</a:t>
            </a:r>
          </a:p>
          <a:p>
            <a:pPr marL="0" indent="0">
              <a:buNone/>
            </a:pPr>
            <a:endParaRPr lang="en-US" dirty="0"/>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99</a:t>
            </a:fld>
            <a:endParaRPr lang="en-US" dirty="0">
              <a:solidFill>
                <a:srgbClr val="0C0C0C">
                  <a:tint val="75000"/>
                </a:srgbClr>
              </a:solidFill>
              <a:latin typeface="Arial"/>
            </a:endParaRPr>
          </a:p>
        </p:txBody>
      </p:sp>
      <p:pic>
        <p:nvPicPr>
          <p:cNvPr id="102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44664" y="1812992"/>
            <a:ext cx="7771965" cy="19526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3713" y="4362450"/>
            <a:ext cx="8377384" cy="2095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9803187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Using </a:t>
            </a:r>
            <a:r>
              <a:rPr lang="en-US" dirty="0" err="1"/>
              <a:t>ap_shift_reg</a:t>
            </a:r>
            <a:r>
              <a:rPr lang="en-US" dirty="0"/>
              <a:t> class</a:t>
            </a:r>
          </a:p>
        </p:txBody>
      </p:sp>
      <p:sp>
        <p:nvSpPr>
          <p:cNvPr id="2" name="Content Placeholder 1"/>
          <p:cNvSpPr>
            <a:spLocks noGrp="1"/>
          </p:cNvSpPr>
          <p:nvPr>
            <p:ph idx="1"/>
          </p:nvPr>
        </p:nvSpPr>
        <p:spPr>
          <a:xfrm>
            <a:off x="677226" y="1049298"/>
            <a:ext cx="10512862" cy="4759404"/>
          </a:xfrm>
        </p:spPr>
        <p:txBody>
          <a:bodyPr/>
          <a:lstStyle/>
          <a:p>
            <a:pPr lvl="0"/>
            <a:r>
              <a:rPr lang="en-US" sz="2000" dirty="0"/>
              <a:t>Read from and optionally write to the shift register</a:t>
            </a:r>
          </a:p>
          <a:p>
            <a:pPr lvl="0"/>
            <a:endParaRPr lang="en-US" sz="2000" dirty="0"/>
          </a:p>
          <a:p>
            <a:endParaRPr lang="en-US" sz="2000" dirty="0"/>
          </a:p>
          <a:p>
            <a:endParaRPr lang="en-US" sz="2000" dirty="0"/>
          </a:p>
          <a:p>
            <a:pPr marL="0" indent="0">
              <a:buNone/>
            </a:pPr>
            <a:endParaRPr lang="en-US" sz="2000" dirty="0"/>
          </a:p>
          <a:p>
            <a:pPr lvl="0"/>
            <a:r>
              <a:rPr lang="en-US" sz="2000" dirty="0"/>
              <a:t>Shift only</a:t>
            </a:r>
          </a:p>
          <a:p>
            <a:endParaRPr lang="en-US" sz="2000" dirty="0"/>
          </a:p>
        </p:txBody>
      </p:sp>
      <p:pic>
        <p:nvPicPr>
          <p:cNvPr id="2050"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9561" y="1425005"/>
            <a:ext cx="7267574" cy="2140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1"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9562" y="4152486"/>
            <a:ext cx="8492289"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Slide Number Placeholder 5">
            <a:extLst>
              <a:ext uri="{FF2B5EF4-FFF2-40B4-BE49-F238E27FC236}">
                <a16:creationId xmlns:a16="http://schemas.microsoft.com/office/drawing/2014/main" id="{B1EA8EBA-42A6-4FBA-A3B9-B028D741AC65}"/>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100</a:t>
            </a:fld>
            <a:endParaRPr lang="en-US" dirty="0"/>
          </a:p>
        </p:txBody>
      </p:sp>
    </p:spTree>
    <p:extLst>
      <p:ext uri="{BB962C8B-B14F-4D97-AF65-F5344CB8AC3E}">
        <p14:creationId xmlns:p14="http://schemas.microsoft.com/office/powerpoint/2010/main" val="403678006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Using </a:t>
            </a:r>
            <a:r>
              <a:rPr lang="en-US" dirty="0" err="1"/>
              <a:t>ap_shift_reg</a:t>
            </a:r>
            <a:r>
              <a:rPr lang="en-US" dirty="0"/>
              <a:t> class</a:t>
            </a:r>
          </a:p>
        </p:txBody>
      </p:sp>
      <p:sp>
        <p:nvSpPr>
          <p:cNvPr id="2" name="Content Placeholder 1"/>
          <p:cNvSpPr>
            <a:spLocks noGrp="1"/>
          </p:cNvSpPr>
          <p:nvPr>
            <p:ph idx="1"/>
          </p:nvPr>
        </p:nvSpPr>
        <p:spPr>
          <a:xfrm>
            <a:off x="677226" y="1049298"/>
            <a:ext cx="10512862" cy="4759404"/>
          </a:xfrm>
        </p:spPr>
        <p:txBody>
          <a:bodyPr/>
          <a:lstStyle/>
          <a:p>
            <a:pPr lvl="0"/>
            <a:r>
              <a:rPr lang="en-US" dirty="0"/>
              <a:t>Read from and optionally write to the shift register</a:t>
            </a:r>
          </a:p>
          <a:p>
            <a:pPr lvl="0"/>
            <a:endParaRPr lang="en-US" dirty="0"/>
          </a:p>
          <a:p>
            <a:endParaRPr lang="en-US" dirty="0"/>
          </a:p>
          <a:p>
            <a:endParaRPr lang="en-US" dirty="0"/>
          </a:p>
          <a:p>
            <a:endParaRPr lang="en-US" dirty="0"/>
          </a:p>
          <a:p>
            <a:endParaRPr lang="en-US" dirty="0"/>
          </a:p>
          <a:p>
            <a:pPr lvl="0"/>
            <a:r>
              <a:rPr lang="en-US" dirty="0"/>
              <a:t>Shift only</a:t>
            </a:r>
          </a:p>
          <a:p>
            <a:endParaRPr lang="en-US" dirty="0"/>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101</a:t>
            </a:fld>
            <a:endParaRPr lang="en-US" dirty="0">
              <a:solidFill>
                <a:srgbClr val="0C0C0C">
                  <a:tint val="75000"/>
                </a:srgbClr>
              </a:solidFill>
              <a:latin typeface="Arial"/>
            </a:endParaRPr>
          </a:p>
        </p:txBody>
      </p:sp>
      <p:pic>
        <p:nvPicPr>
          <p:cNvPr id="2050"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9561" y="1425005"/>
            <a:ext cx="7267574" cy="2140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1" name="Picture 3"/>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79562" y="4152486"/>
            <a:ext cx="8492289"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9382353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Linear Algebra Library</a:t>
            </a:r>
          </a:p>
        </p:txBody>
      </p:sp>
      <p:sp>
        <p:nvSpPr>
          <p:cNvPr id="2" name="Content Placeholder 1"/>
          <p:cNvSpPr>
            <a:spLocks noGrp="1"/>
          </p:cNvSpPr>
          <p:nvPr>
            <p:ph idx="1"/>
          </p:nvPr>
        </p:nvSpPr>
        <p:spPr/>
        <p:txBody>
          <a:bodyPr/>
          <a:lstStyle/>
          <a:p>
            <a:r>
              <a:rPr lang="en-US" dirty="0"/>
              <a:t>Provides a number of commonly used linear algebra functions</a:t>
            </a:r>
          </a:p>
          <a:p>
            <a:pPr lvl="1"/>
            <a:r>
              <a:rPr lang="en-US" b="0" dirty="0"/>
              <a:t>All functions in this library use two-dimensional arrays to represent matrices</a:t>
            </a:r>
          </a:p>
          <a:p>
            <a:endParaRPr lang="en-US" dirty="0"/>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102</a:t>
            </a:fld>
            <a:endParaRPr lang="en-US" dirty="0">
              <a:solidFill>
                <a:srgbClr val="0C0C0C">
                  <a:tint val="75000"/>
                </a:srgbClr>
              </a:solidFill>
              <a:latin typeface="Arial"/>
            </a:endParaRPr>
          </a:p>
        </p:txBody>
      </p:sp>
      <p:graphicFrame>
        <p:nvGraphicFramePr>
          <p:cNvPr id="7" name="Table 6">
            <a:extLst>
              <a:ext uri="{FF2B5EF4-FFF2-40B4-BE49-F238E27FC236}">
                <a16:creationId xmlns:a16="http://schemas.microsoft.com/office/drawing/2014/main" id="{4260D123-1F4A-4310-93EF-31A5B60B40B2}"/>
              </a:ext>
            </a:extLst>
          </p:cNvPr>
          <p:cNvGraphicFramePr>
            <a:graphicFrameLocks noGrp="1"/>
          </p:cNvGraphicFramePr>
          <p:nvPr/>
        </p:nvGraphicFramePr>
        <p:xfrm>
          <a:off x="1204106" y="2214541"/>
          <a:ext cx="10257797" cy="4104386"/>
        </p:xfrm>
        <a:graphic>
          <a:graphicData uri="http://schemas.openxmlformats.org/drawingml/2006/table">
            <a:tbl>
              <a:tblPr firstRow="1" firstCol="1" bandRow="1"/>
              <a:tblGrid>
                <a:gridCol w="1751973">
                  <a:extLst>
                    <a:ext uri="{9D8B030D-6E8A-4147-A177-3AD203B41FA5}">
                      <a16:colId xmlns:a16="http://schemas.microsoft.com/office/drawing/2014/main" val="20000"/>
                    </a:ext>
                  </a:extLst>
                </a:gridCol>
                <a:gridCol w="2038350">
                  <a:extLst>
                    <a:ext uri="{9D8B030D-6E8A-4147-A177-3AD203B41FA5}">
                      <a16:colId xmlns:a16="http://schemas.microsoft.com/office/drawing/2014/main" val="20001"/>
                    </a:ext>
                  </a:extLst>
                </a:gridCol>
                <a:gridCol w="6467474">
                  <a:extLst>
                    <a:ext uri="{9D8B030D-6E8A-4147-A177-3AD203B41FA5}">
                      <a16:colId xmlns:a16="http://schemas.microsoft.com/office/drawing/2014/main" val="20002"/>
                    </a:ext>
                  </a:extLst>
                </a:gridCol>
              </a:tblGrid>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600" dirty="0">
                          <a:effectLst/>
                        </a:rPr>
                        <a:t>Functions</a:t>
                      </a:r>
                      <a:endParaRPr lang="en-US" sz="16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600" dirty="0">
                          <a:effectLst/>
                        </a:rPr>
                        <a:t>Data Types</a:t>
                      </a:r>
                      <a:endParaRPr lang="en-US" sz="16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600" dirty="0">
                          <a:effectLst/>
                          <a:latin typeface="Calibri"/>
                          <a:ea typeface="Calibri"/>
                          <a:cs typeface="Times New Roman"/>
                        </a:rPr>
                        <a:t>Description</a:t>
                      </a:r>
                    </a:p>
                  </a:txBody>
                  <a:tcPr marL="88009" marR="88009" marT="0" marB="0">
                    <a:lnL w="12700" cmpd="sng">
                      <a:solidFill>
                        <a:srgbClr val="FFFFFF"/>
                      </a:solidFill>
                    </a:lnL>
                    <a:lnR w="12700" cmpd="sng">
                      <a:solidFill>
                        <a:srgbClr val="FFFFFF"/>
                      </a:solidFill>
                    </a:lnR>
                    <a:lnT w="12700" cmpd="sng">
                      <a:solidFill>
                        <a:srgbClr val="FFFFFF"/>
                      </a:solidFill>
                    </a:lnT>
                    <a:lnB w="38100" cmpd="sng">
                      <a:solidFill>
                        <a:srgbClr val="FFFFFF"/>
                      </a:solidFill>
                    </a:lnB>
                    <a:lnTlToBr w="12700" cmpd="sng">
                      <a:noFill/>
                      <a:prstDash val="solid"/>
                    </a:lnTlToBr>
                    <a:lnBlToTr w="12700" cmpd="sng">
                      <a:noFill/>
                      <a:prstDash val="solid"/>
                    </a:lnBlToTr>
                    <a:solidFill>
                      <a:srgbClr val="008CA8"/>
                    </a:solidFill>
                  </a:tcPr>
                </a:tc>
                <a:extLst>
                  <a:ext uri="{0D108BD9-81ED-4DB2-BD59-A6C34878D82A}">
                    <a16:rowId xmlns:a16="http://schemas.microsoft.com/office/drawing/2014/main" val="10000"/>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400" b="0" i="0" u="none" strike="noStrike" kern="1200" baseline="0" dirty="0" err="1">
                          <a:solidFill>
                            <a:schemeClr val="lt1"/>
                          </a:solidFill>
                          <a:latin typeface="+mn-lt"/>
                          <a:ea typeface="+mn-ea"/>
                          <a:cs typeface="+mn-cs"/>
                        </a:rPr>
                        <a:t>cholesky</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float</a:t>
                      </a:r>
                    </a:p>
                    <a:p>
                      <a:r>
                        <a:rPr lang="en-US" sz="1400" b="0" i="0" u="none" strike="noStrike" kern="1200" baseline="0" dirty="0" err="1">
                          <a:solidFill>
                            <a:schemeClr val="dk1"/>
                          </a:solidFill>
                          <a:latin typeface="+mn-lt"/>
                          <a:ea typeface="+mn-ea"/>
                          <a:cs typeface="+mn-cs"/>
                        </a:rPr>
                        <a:t>ap_fixed</a:t>
                      </a:r>
                      <a:endParaRPr lang="en-US" sz="1400" b="0" i="0" u="none" strike="noStrike" kern="1200" baseline="0" dirty="0">
                        <a:solidFill>
                          <a:schemeClr val="dk1"/>
                        </a:solidFill>
                        <a:latin typeface="+mn-lt"/>
                        <a:ea typeface="+mn-ea"/>
                        <a:cs typeface="+mn-cs"/>
                      </a:endParaRP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&lt;float&gt;</a:t>
                      </a: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a:t>
                      </a:r>
                      <a:r>
                        <a:rPr lang="en-US" sz="1400" b="0" i="0" u="none" strike="noStrike" kern="1200" baseline="0" dirty="0" err="1">
                          <a:solidFill>
                            <a:schemeClr val="dk1"/>
                          </a:solidFill>
                          <a:latin typeface="+mn-lt"/>
                          <a:ea typeface="+mn-ea"/>
                          <a:cs typeface="+mn-cs"/>
                        </a:rPr>
                        <a:t>ap_fixed</a:t>
                      </a:r>
                      <a:r>
                        <a:rPr lang="en-US" sz="1400" b="0" i="0" u="none" strike="noStrike" kern="1200" baseline="0" dirty="0">
                          <a:solidFill>
                            <a:schemeClr val="dk1"/>
                          </a:solidFill>
                          <a:latin typeface="+mn-lt"/>
                          <a:ea typeface="+mn-ea"/>
                          <a:cs typeface="+mn-cs"/>
                        </a:rPr>
                        <a:t>&gt;</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Computes the </a:t>
                      </a:r>
                      <a:r>
                        <a:rPr lang="en-US" sz="1400" b="0" i="0" u="none" strike="noStrike" kern="1200" baseline="0" dirty="0" err="1">
                          <a:solidFill>
                            <a:schemeClr val="dk1"/>
                          </a:solidFill>
                          <a:latin typeface="+mn-lt"/>
                          <a:ea typeface="+mn-ea"/>
                          <a:cs typeface="+mn-cs"/>
                        </a:rPr>
                        <a:t>Cholesky</a:t>
                      </a:r>
                      <a:r>
                        <a:rPr lang="en-US" sz="1400" b="0" i="0" u="none" strike="noStrike" kern="1200" baseline="0" dirty="0">
                          <a:solidFill>
                            <a:schemeClr val="dk1"/>
                          </a:solidFill>
                          <a:latin typeface="+mn-lt"/>
                          <a:ea typeface="+mn-ea"/>
                          <a:cs typeface="+mn-cs"/>
                        </a:rPr>
                        <a:t> decomposition of input matrix A, returning matrix L. Matrix L can be upper or lower</a:t>
                      </a:r>
                      <a:r>
                        <a:rPr lang="en-US" sz="1600" b="0" i="0" u="none" strike="noStrike" kern="1200" baseline="0" dirty="0">
                          <a:solidFill>
                            <a:schemeClr val="dk1"/>
                          </a:solidFill>
                          <a:latin typeface="+mn-lt"/>
                          <a:ea typeface="+mn-ea"/>
                          <a:cs typeface="+mn-cs"/>
                        </a:rPr>
                        <a:t> triangular </a:t>
                      </a:r>
                      <a:endParaRPr lang="en-US" sz="16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381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1"/>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400" b="0" i="0" u="none" strike="noStrike" kern="1200" baseline="0" dirty="0" err="1">
                          <a:solidFill>
                            <a:schemeClr val="lt1"/>
                          </a:solidFill>
                          <a:latin typeface="+mn-lt"/>
                          <a:ea typeface="+mn-ea"/>
                          <a:cs typeface="+mn-cs"/>
                        </a:rPr>
                        <a:t>cholesky_inverse</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float</a:t>
                      </a:r>
                    </a:p>
                    <a:p>
                      <a:r>
                        <a:rPr lang="en-US" sz="1400" b="0" i="0" u="none" strike="noStrike" kern="1200" baseline="0" dirty="0" err="1">
                          <a:solidFill>
                            <a:schemeClr val="dk1"/>
                          </a:solidFill>
                          <a:latin typeface="+mn-lt"/>
                          <a:ea typeface="+mn-ea"/>
                          <a:cs typeface="+mn-cs"/>
                        </a:rPr>
                        <a:t>ap_fixed</a:t>
                      </a:r>
                      <a:endParaRPr lang="en-US" sz="1400" b="0" i="0" u="none" strike="noStrike" kern="1200" baseline="0" dirty="0">
                        <a:solidFill>
                          <a:schemeClr val="dk1"/>
                        </a:solidFill>
                        <a:latin typeface="+mn-lt"/>
                        <a:ea typeface="+mn-ea"/>
                        <a:cs typeface="+mn-cs"/>
                      </a:endParaRP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&lt;float&gt;</a:t>
                      </a: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a:t>
                      </a:r>
                      <a:r>
                        <a:rPr lang="en-US" sz="1400" b="0" i="0" u="none" strike="noStrike" kern="1200" baseline="0" dirty="0" err="1">
                          <a:solidFill>
                            <a:schemeClr val="dk1"/>
                          </a:solidFill>
                          <a:latin typeface="+mn-lt"/>
                          <a:ea typeface="+mn-ea"/>
                          <a:cs typeface="+mn-cs"/>
                        </a:rPr>
                        <a:t>ap_fixed</a:t>
                      </a:r>
                      <a:r>
                        <a:rPr lang="en-US" sz="1400" b="0" i="0" u="none" strike="noStrike" kern="1200" baseline="0" dirty="0">
                          <a:solidFill>
                            <a:schemeClr val="dk1"/>
                          </a:solidFill>
                          <a:latin typeface="+mn-lt"/>
                          <a:ea typeface="+mn-ea"/>
                          <a:cs typeface="+mn-cs"/>
                        </a:rPr>
                        <a:t>&gt;</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Computes the inverse of symmetric positive definite input matrix A by the </a:t>
                      </a:r>
                      <a:r>
                        <a:rPr lang="en-US" sz="1400" b="0" i="0" u="none" strike="noStrike" kern="1200" baseline="0" dirty="0" err="1">
                          <a:solidFill>
                            <a:schemeClr val="dk1"/>
                          </a:solidFill>
                          <a:latin typeface="+mn-lt"/>
                          <a:ea typeface="+mn-ea"/>
                          <a:cs typeface="+mn-cs"/>
                        </a:rPr>
                        <a:t>Cholesky</a:t>
                      </a:r>
                      <a:r>
                        <a:rPr lang="en-US" sz="1400" b="0" i="0" u="none" strike="noStrike" kern="1200" baseline="0" dirty="0">
                          <a:solidFill>
                            <a:schemeClr val="dk1"/>
                          </a:solidFill>
                          <a:latin typeface="+mn-lt"/>
                          <a:ea typeface="+mn-ea"/>
                          <a:cs typeface="+mn-cs"/>
                        </a:rPr>
                        <a:t> decomposition method, producing matrix </a:t>
                      </a:r>
                      <a:r>
                        <a:rPr lang="en-US" sz="1400" b="0" i="0" u="none" strike="noStrike" kern="1200" baseline="0" dirty="0" err="1">
                          <a:solidFill>
                            <a:schemeClr val="dk1"/>
                          </a:solidFill>
                          <a:latin typeface="+mn-lt"/>
                          <a:ea typeface="+mn-ea"/>
                          <a:cs typeface="+mn-cs"/>
                        </a:rPr>
                        <a:t>InverseA</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2"/>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400" b="0" i="0" u="none" strike="noStrike" kern="1200" baseline="0" dirty="0" err="1">
                          <a:solidFill>
                            <a:schemeClr val="lt1"/>
                          </a:solidFill>
                          <a:latin typeface="+mn-lt"/>
                          <a:ea typeface="+mn-ea"/>
                          <a:cs typeface="+mn-cs"/>
                        </a:rPr>
                        <a:t>matrix_multiply</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float</a:t>
                      </a:r>
                    </a:p>
                    <a:p>
                      <a:r>
                        <a:rPr lang="en-US" sz="1400" b="0" i="0" u="none" strike="noStrike" kern="1200" baseline="0" dirty="0" err="1">
                          <a:solidFill>
                            <a:schemeClr val="dk1"/>
                          </a:solidFill>
                          <a:latin typeface="+mn-lt"/>
                          <a:ea typeface="+mn-ea"/>
                          <a:cs typeface="+mn-cs"/>
                        </a:rPr>
                        <a:t>ap_fixed</a:t>
                      </a:r>
                      <a:endParaRPr lang="en-US" sz="1400" b="0" i="0" u="none" strike="noStrike" kern="1200" baseline="0" dirty="0">
                        <a:solidFill>
                          <a:schemeClr val="dk1"/>
                        </a:solidFill>
                        <a:latin typeface="+mn-lt"/>
                        <a:ea typeface="+mn-ea"/>
                        <a:cs typeface="+mn-cs"/>
                      </a:endParaRP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&lt;float&gt;</a:t>
                      </a: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a:t>
                      </a:r>
                      <a:r>
                        <a:rPr lang="en-US" sz="1400" b="0" i="0" u="none" strike="noStrike" kern="1200" baseline="0" dirty="0" err="1">
                          <a:solidFill>
                            <a:schemeClr val="dk1"/>
                          </a:solidFill>
                          <a:latin typeface="+mn-lt"/>
                          <a:ea typeface="+mn-ea"/>
                          <a:cs typeface="+mn-cs"/>
                        </a:rPr>
                        <a:t>ap_fixed</a:t>
                      </a:r>
                      <a:r>
                        <a:rPr lang="en-US" sz="1400" b="0" i="0" u="none" strike="noStrike" kern="1200" baseline="0" dirty="0">
                          <a:solidFill>
                            <a:schemeClr val="dk1"/>
                          </a:solidFill>
                          <a:latin typeface="+mn-lt"/>
                          <a:ea typeface="+mn-ea"/>
                          <a:cs typeface="+mn-cs"/>
                        </a:rPr>
                        <a:t>&gt;</a:t>
                      </a:r>
                      <a:endParaRPr lang="en-US" sz="10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Computes the product of two matrices, returning a third matrix</a:t>
                      </a:r>
                      <a:endParaRPr lang="en-US" sz="8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3"/>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400" b="0" i="0" u="none" strike="noStrike" kern="1200" baseline="0" dirty="0" err="1">
                          <a:solidFill>
                            <a:schemeClr val="lt1"/>
                          </a:solidFill>
                          <a:latin typeface="+mn-lt"/>
                          <a:ea typeface="+mn-ea"/>
                          <a:cs typeface="+mn-cs"/>
                        </a:rPr>
                        <a:t>qrf</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float</a:t>
                      </a: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&lt;float&gt;</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Computes the full QR factorization (QR decomposition) of input matrix A, producing orthogonal output matrix Q and upper-triangular matrix R</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4"/>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400" b="0" i="0" u="none" strike="noStrike" kern="1200" baseline="0" dirty="0" err="1">
                          <a:solidFill>
                            <a:schemeClr val="lt1"/>
                          </a:solidFill>
                          <a:latin typeface="+mn-lt"/>
                          <a:ea typeface="+mn-ea"/>
                          <a:cs typeface="+mn-cs"/>
                        </a:rPr>
                        <a:t>qr_inverse</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float</a:t>
                      </a: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&lt;float&gt;</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Computes the inverse of input matrix A by the QR factorization method, producing matrix </a:t>
                      </a:r>
                      <a:r>
                        <a:rPr lang="en-US" sz="1400" b="0" i="0" u="none" strike="noStrike" kern="1200" baseline="0" dirty="0" err="1">
                          <a:solidFill>
                            <a:schemeClr val="dk1"/>
                          </a:solidFill>
                          <a:latin typeface="+mn-lt"/>
                          <a:ea typeface="+mn-ea"/>
                          <a:cs typeface="+mn-cs"/>
                        </a:rPr>
                        <a:t>InverseA</a:t>
                      </a:r>
                      <a:endParaRPr lang="en-US" sz="11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40000"/>
                      </a:srgbClr>
                    </a:solidFill>
                  </a:tcPr>
                </a:tc>
                <a:extLst>
                  <a:ext uri="{0D108BD9-81ED-4DB2-BD59-A6C34878D82A}">
                    <a16:rowId xmlns:a16="http://schemas.microsoft.com/office/drawing/2014/main" val="10005"/>
                  </a:ext>
                </a:extLst>
              </a:tr>
              <a:tr h="185599">
                <a:tc>
                  <a:txBody>
                    <a:bodyPr/>
                    <a:lstStyle>
                      <a:lvl1pPr marL="0" algn="l" defTabSz="914126" rtl="0" eaLnBrk="1" latinLnBrk="0" hangingPunct="1">
                        <a:defRPr sz="1799" b="1" kern="1200">
                          <a:solidFill>
                            <a:schemeClr val="lt1"/>
                          </a:solidFill>
                          <a:latin typeface="Arial"/>
                        </a:defRPr>
                      </a:lvl1pPr>
                      <a:lvl2pPr marL="457063" algn="l" defTabSz="914126" rtl="0" eaLnBrk="1" latinLnBrk="0" hangingPunct="1">
                        <a:defRPr sz="1799" b="1" kern="1200">
                          <a:solidFill>
                            <a:schemeClr val="lt1"/>
                          </a:solidFill>
                          <a:latin typeface="Arial"/>
                        </a:defRPr>
                      </a:lvl2pPr>
                      <a:lvl3pPr marL="914126" algn="l" defTabSz="914126" rtl="0" eaLnBrk="1" latinLnBrk="0" hangingPunct="1">
                        <a:defRPr sz="1799" b="1" kern="1200">
                          <a:solidFill>
                            <a:schemeClr val="lt1"/>
                          </a:solidFill>
                          <a:latin typeface="Arial"/>
                        </a:defRPr>
                      </a:lvl3pPr>
                      <a:lvl4pPr marL="1371189" algn="l" defTabSz="914126" rtl="0" eaLnBrk="1" latinLnBrk="0" hangingPunct="1">
                        <a:defRPr sz="1799" b="1" kern="1200">
                          <a:solidFill>
                            <a:schemeClr val="lt1"/>
                          </a:solidFill>
                          <a:latin typeface="Arial"/>
                        </a:defRPr>
                      </a:lvl4pPr>
                      <a:lvl5pPr marL="1828251" algn="l" defTabSz="914126" rtl="0" eaLnBrk="1" latinLnBrk="0" hangingPunct="1">
                        <a:defRPr sz="1799" b="1" kern="1200">
                          <a:solidFill>
                            <a:schemeClr val="lt1"/>
                          </a:solidFill>
                          <a:latin typeface="Arial"/>
                        </a:defRPr>
                      </a:lvl5pPr>
                      <a:lvl6pPr marL="2285314" algn="l" defTabSz="914126" rtl="0" eaLnBrk="1" latinLnBrk="0" hangingPunct="1">
                        <a:defRPr sz="1799" b="1" kern="1200">
                          <a:solidFill>
                            <a:schemeClr val="lt1"/>
                          </a:solidFill>
                          <a:latin typeface="Arial"/>
                        </a:defRPr>
                      </a:lvl6pPr>
                      <a:lvl7pPr marL="2742377" algn="l" defTabSz="914126" rtl="0" eaLnBrk="1" latinLnBrk="0" hangingPunct="1">
                        <a:defRPr sz="1799" b="1" kern="1200">
                          <a:solidFill>
                            <a:schemeClr val="lt1"/>
                          </a:solidFill>
                          <a:latin typeface="Arial"/>
                        </a:defRPr>
                      </a:lvl7pPr>
                      <a:lvl8pPr marL="3199440" algn="l" defTabSz="914126" rtl="0" eaLnBrk="1" latinLnBrk="0" hangingPunct="1">
                        <a:defRPr sz="1799" b="1" kern="1200">
                          <a:solidFill>
                            <a:schemeClr val="lt1"/>
                          </a:solidFill>
                          <a:latin typeface="Arial"/>
                        </a:defRPr>
                      </a:lvl8pPr>
                      <a:lvl9pPr marL="3656503" algn="l" defTabSz="914126" rtl="0" eaLnBrk="1" latinLnBrk="0" hangingPunct="1">
                        <a:defRPr sz="1799" b="1" kern="1200">
                          <a:solidFill>
                            <a:schemeClr val="lt1"/>
                          </a:solidFill>
                          <a:latin typeface="Arial"/>
                        </a:defRPr>
                      </a:lvl9pPr>
                    </a:lstStyle>
                    <a:p>
                      <a:pPr marL="0" marR="0">
                        <a:lnSpc>
                          <a:spcPct val="115000"/>
                        </a:lnSpc>
                        <a:spcBef>
                          <a:spcPts val="0"/>
                        </a:spcBef>
                        <a:spcAft>
                          <a:spcPts val="0"/>
                        </a:spcAft>
                      </a:pPr>
                      <a:r>
                        <a:rPr lang="en-US" sz="1400" b="0" i="0" u="none" strike="noStrike" kern="1200" baseline="0" dirty="0" err="1">
                          <a:solidFill>
                            <a:schemeClr val="lt1"/>
                          </a:solidFill>
                          <a:latin typeface="+mn-lt"/>
                          <a:ea typeface="+mn-ea"/>
                          <a:cs typeface="+mn-cs"/>
                        </a:rPr>
                        <a:t>svd</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float</a:t>
                      </a:r>
                    </a:p>
                    <a:p>
                      <a:r>
                        <a:rPr lang="en-US" sz="1400" b="0" i="0" u="none" strike="noStrike" kern="1200" baseline="0" dirty="0" err="1">
                          <a:solidFill>
                            <a:schemeClr val="dk1"/>
                          </a:solidFill>
                          <a:latin typeface="+mn-lt"/>
                          <a:ea typeface="+mn-ea"/>
                          <a:cs typeface="+mn-cs"/>
                        </a:rPr>
                        <a:t>x_complex</a:t>
                      </a:r>
                      <a:r>
                        <a:rPr lang="en-US" sz="1400" b="0" i="0" u="none" strike="noStrike" kern="1200" baseline="0" dirty="0">
                          <a:solidFill>
                            <a:schemeClr val="dk1"/>
                          </a:solidFill>
                          <a:latin typeface="+mn-lt"/>
                          <a:ea typeface="+mn-ea"/>
                          <a:cs typeface="+mn-cs"/>
                        </a:rPr>
                        <a:t>&lt;float&gt;</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tc>
                  <a:txBody>
                    <a:bodyPr/>
                    <a:lstStyle>
                      <a:lvl1pPr marL="0" algn="l" defTabSz="914126" rtl="0" eaLnBrk="1" latinLnBrk="0" hangingPunct="1">
                        <a:defRPr sz="1799" kern="1200">
                          <a:solidFill>
                            <a:schemeClr val="dk1"/>
                          </a:solidFill>
                          <a:latin typeface="Arial"/>
                        </a:defRPr>
                      </a:lvl1pPr>
                      <a:lvl2pPr marL="457063" algn="l" defTabSz="914126" rtl="0" eaLnBrk="1" latinLnBrk="0" hangingPunct="1">
                        <a:defRPr sz="1799" kern="1200">
                          <a:solidFill>
                            <a:schemeClr val="dk1"/>
                          </a:solidFill>
                          <a:latin typeface="Arial"/>
                        </a:defRPr>
                      </a:lvl2pPr>
                      <a:lvl3pPr marL="914126" algn="l" defTabSz="914126" rtl="0" eaLnBrk="1" latinLnBrk="0" hangingPunct="1">
                        <a:defRPr sz="1799" kern="1200">
                          <a:solidFill>
                            <a:schemeClr val="dk1"/>
                          </a:solidFill>
                          <a:latin typeface="Arial"/>
                        </a:defRPr>
                      </a:lvl3pPr>
                      <a:lvl4pPr marL="1371189" algn="l" defTabSz="914126" rtl="0" eaLnBrk="1" latinLnBrk="0" hangingPunct="1">
                        <a:defRPr sz="1799" kern="1200">
                          <a:solidFill>
                            <a:schemeClr val="dk1"/>
                          </a:solidFill>
                          <a:latin typeface="Arial"/>
                        </a:defRPr>
                      </a:lvl4pPr>
                      <a:lvl5pPr marL="1828251" algn="l" defTabSz="914126" rtl="0" eaLnBrk="1" latinLnBrk="0" hangingPunct="1">
                        <a:defRPr sz="1799" kern="1200">
                          <a:solidFill>
                            <a:schemeClr val="dk1"/>
                          </a:solidFill>
                          <a:latin typeface="Arial"/>
                        </a:defRPr>
                      </a:lvl5pPr>
                      <a:lvl6pPr marL="2285314" algn="l" defTabSz="914126" rtl="0" eaLnBrk="1" latinLnBrk="0" hangingPunct="1">
                        <a:defRPr sz="1799" kern="1200">
                          <a:solidFill>
                            <a:schemeClr val="dk1"/>
                          </a:solidFill>
                          <a:latin typeface="Arial"/>
                        </a:defRPr>
                      </a:lvl6pPr>
                      <a:lvl7pPr marL="2742377" algn="l" defTabSz="914126" rtl="0" eaLnBrk="1" latinLnBrk="0" hangingPunct="1">
                        <a:defRPr sz="1799" kern="1200">
                          <a:solidFill>
                            <a:schemeClr val="dk1"/>
                          </a:solidFill>
                          <a:latin typeface="Arial"/>
                        </a:defRPr>
                      </a:lvl7pPr>
                      <a:lvl8pPr marL="3199440" algn="l" defTabSz="914126" rtl="0" eaLnBrk="1" latinLnBrk="0" hangingPunct="1">
                        <a:defRPr sz="1799" kern="1200">
                          <a:solidFill>
                            <a:schemeClr val="dk1"/>
                          </a:solidFill>
                          <a:latin typeface="Arial"/>
                        </a:defRPr>
                      </a:lvl8pPr>
                      <a:lvl9pPr marL="3656503" algn="l" defTabSz="914126" rtl="0" eaLnBrk="1" latinLnBrk="0" hangingPunct="1">
                        <a:defRPr sz="1799" kern="1200">
                          <a:solidFill>
                            <a:schemeClr val="dk1"/>
                          </a:solidFill>
                          <a:latin typeface="Arial"/>
                        </a:defRPr>
                      </a:lvl9pPr>
                    </a:lstStyle>
                    <a:p>
                      <a:r>
                        <a:rPr lang="en-US" sz="1400" b="0" i="0" u="none" strike="noStrike" kern="1200" baseline="0" dirty="0">
                          <a:solidFill>
                            <a:schemeClr val="dk1"/>
                          </a:solidFill>
                          <a:latin typeface="+mn-lt"/>
                          <a:ea typeface="+mn-ea"/>
                          <a:cs typeface="+mn-cs"/>
                        </a:rPr>
                        <a:t>Computes the singular value decomposition of input matrix A, producing matrices U, S and V</a:t>
                      </a:r>
                      <a:endParaRPr lang="en-US" sz="1400" dirty="0">
                        <a:effectLst/>
                        <a:latin typeface="Calibri"/>
                        <a:ea typeface="Calibri"/>
                        <a:cs typeface="Times New Roman"/>
                      </a:endParaRPr>
                    </a:p>
                  </a:txBody>
                  <a:tcPr marL="88009" marR="88009" marT="0" marB="0">
                    <a:lnL w="12700" cmpd="sng">
                      <a:solidFill>
                        <a:srgbClr val="FFFFFF"/>
                      </a:solidFill>
                    </a:lnL>
                    <a:lnR w="12700" cmpd="sng">
                      <a:solidFill>
                        <a:srgbClr val="FFFFFF"/>
                      </a:solidFill>
                    </a:lnR>
                    <a:lnT w="12700" cmpd="sng">
                      <a:solidFill>
                        <a:srgbClr val="FFFFFF"/>
                      </a:solidFill>
                    </a:lnT>
                    <a:lnB w="12700" cmpd="sng">
                      <a:solidFill>
                        <a:srgbClr val="FFFFFF"/>
                      </a:solidFill>
                    </a:lnB>
                    <a:lnTlToBr w="12700" cmpd="sng">
                      <a:noFill/>
                      <a:prstDash val="solid"/>
                    </a:lnTlToBr>
                    <a:lnBlToTr w="12700" cmpd="sng">
                      <a:noFill/>
                      <a:prstDash val="solid"/>
                    </a:lnBlToTr>
                    <a:solidFill>
                      <a:srgbClr val="008CA8">
                        <a:tint val="20000"/>
                      </a:srgbClr>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9551150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2BA28-C6F5-4160-9EB6-5053095ED3C4}"/>
              </a:ext>
            </a:extLst>
          </p:cNvPr>
          <p:cNvSpPr>
            <a:spLocks noGrp="1"/>
          </p:cNvSpPr>
          <p:nvPr>
            <p:ph type="title"/>
          </p:nvPr>
        </p:nvSpPr>
        <p:spPr/>
        <p:txBody>
          <a:bodyPr/>
          <a:lstStyle/>
          <a:p>
            <a:r>
              <a:rPr lang="en-US" altLang="zh-CN" dirty="0"/>
              <a:t>Libraries Support - </a:t>
            </a:r>
            <a:br>
              <a:rPr lang="en-US" altLang="zh-CN" dirty="0"/>
            </a:br>
            <a:r>
              <a:rPr lang="en-US" altLang="zh-CN" dirty="0" err="1"/>
              <a:t>Vitis</a:t>
            </a:r>
            <a:r>
              <a:rPr lang="en-US" altLang="zh-CN" dirty="0"/>
              <a:t> Vision</a:t>
            </a:r>
            <a:endParaRPr lang="zh-CN" altLang="en-US" dirty="0"/>
          </a:p>
        </p:txBody>
      </p:sp>
    </p:spTree>
    <p:extLst>
      <p:ext uri="{BB962C8B-B14F-4D97-AF65-F5344CB8AC3E}">
        <p14:creationId xmlns:p14="http://schemas.microsoft.com/office/powerpoint/2010/main" val="30857817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E3B15-8AB2-46D0-A1C4-7AE39A67DFAE}"/>
              </a:ext>
            </a:extLst>
          </p:cNvPr>
          <p:cNvSpPr>
            <a:spLocks noGrp="1"/>
          </p:cNvSpPr>
          <p:nvPr>
            <p:ph type="title"/>
          </p:nvPr>
        </p:nvSpPr>
        <p:spPr/>
        <p:txBody>
          <a:bodyPr/>
          <a:lstStyle/>
          <a:p>
            <a:r>
              <a:rPr lang="en-US" b="0" dirty="0"/>
              <a:t>Migrating HLS Video Library to </a:t>
            </a:r>
            <a:r>
              <a:rPr lang="en-US" b="0" dirty="0" err="1"/>
              <a:t>Vitis</a:t>
            </a:r>
            <a:r>
              <a:rPr lang="en-US" b="0" dirty="0"/>
              <a:t> vision</a:t>
            </a:r>
            <a:endParaRPr lang="en-US" dirty="0"/>
          </a:p>
        </p:txBody>
      </p:sp>
      <p:sp>
        <p:nvSpPr>
          <p:cNvPr id="3" name="Content Placeholder 2">
            <a:extLst>
              <a:ext uri="{FF2B5EF4-FFF2-40B4-BE49-F238E27FC236}">
                <a16:creationId xmlns:a16="http://schemas.microsoft.com/office/drawing/2014/main" id="{6C273412-45CB-4F54-B18C-01FF8A5A141F}"/>
              </a:ext>
            </a:extLst>
          </p:cNvPr>
          <p:cNvSpPr>
            <a:spLocks noGrp="1"/>
          </p:cNvSpPr>
          <p:nvPr>
            <p:ph idx="1"/>
          </p:nvPr>
        </p:nvSpPr>
        <p:spPr/>
        <p:txBody>
          <a:bodyPr/>
          <a:lstStyle/>
          <a:p>
            <a:r>
              <a:rPr lang="en-US" dirty="0"/>
              <a:t>The HLS video library has been deprecated.</a:t>
            </a:r>
          </a:p>
          <a:p>
            <a:pPr lvl="1"/>
            <a:r>
              <a:rPr lang="en-US" dirty="0"/>
              <a:t>All the functions and most of the infrastructure available in HLS video library are now available in </a:t>
            </a:r>
            <a:r>
              <a:rPr lang="en-US" dirty="0" err="1"/>
              <a:t>Vitis</a:t>
            </a:r>
            <a:r>
              <a:rPr lang="en-US" dirty="0"/>
              <a:t> vision with their names changed and some modifications. </a:t>
            </a:r>
          </a:p>
          <a:p>
            <a:pPr lvl="1"/>
            <a:r>
              <a:rPr lang="en-US" dirty="0"/>
              <a:t>These HLS video library functions ported to </a:t>
            </a:r>
            <a:r>
              <a:rPr lang="en-US" dirty="0" err="1"/>
              <a:t>Vitis</a:t>
            </a:r>
            <a:r>
              <a:rPr lang="en-US" dirty="0"/>
              <a:t> vision supports build flow also.</a:t>
            </a:r>
          </a:p>
          <a:p>
            <a:r>
              <a:rPr lang="en-US" dirty="0" err="1"/>
              <a:t>Vitis</a:t>
            </a:r>
            <a:r>
              <a:rPr lang="en-US" dirty="0"/>
              <a:t> Vision Library</a:t>
            </a:r>
          </a:p>
          <a:p>
            <a:pPr lvl="1"/>
            <a:r>
              <a:rPr lang="en-US" dirty="0"/>
              <a:t>The </a:t>
            </a:r>
            <a:r>
              <a:rPr lang="en-US" dirty="0" err="1"/>
              <a:t>Vitis</a:t>
            </a:r>
            <a:r>
              <a:rPr lang="en-US" dirty="0"/>
              <a:t> Vision library is a set of 90+ kernels, optimized for Xilinx™ FPGAs, AI Engine™, and SoCs, based on the OpenCV computer vision library. </a:t>
            </a:r>
          </a:p>
          <a:p>
            <a:pPr lvl="1"/>
            <a:r>
              <a:rPr lang="en-US" dirty="0"/>
              <a:t>All the functions under L1 folder of the </a:t>
            </a:r>
            <a:r>
              <a:rPr lang="en-US" dirty="0" err="1"/>
              <a:t>Vitis</a:t>
            </a:r>
            <a:r>
              <a:rPr lang="en-US" dirty="0"/>
              <a:t> Vision library can be built through </a:t>
            </a:r>
            <a:r>
              <a:rPr lang="en-US" dirty="0" err="1"/>
              <a:t>Vitis</a:t>
            </a:r>
            <a:r>
              <a:rPr lang="en-US" dirty="0"/>
              <a:t> HLS flow in the following two modes:</a:t>
            </a:r>
          </a:p>
          <a:p>
            <a:pPr lvl="2"/>
            <a:r>
              <a:rPr lang="fr-FR" dirty="0" err="1"/>
              <a:t>Tcl</a:t>
            </a:r>
            <a:r>
              <a:rPr lang="fr-FR" dirty="0"/>
              <a:t> Script Mode</a:t>
            </a:r>
          </a:p>
          <a:p>
            <a:pPr lvl="2"/>
            <a:r>
              <a:rPr lang="fr-FR" dirty="0"/>
              <a:t>GUI Mode</a:t>
            </a:r>
          </a:p>
          <a:p>
            <a:pPr lvl="1"/>
            <a:r>
              <a:rPr lang="fr-FR" b="0" dirty="0" err="1"/>
              <a:t>Github</a:t>
            </a:r>
            <a:r>
              <a:rPr lang="fr-FR" b="0" dirty="0"/>
              <a:t>:</a:t>
            </a:r>
          </a:p>
          <a:p>
            <a:pPr lvl="2"/>
            <a:r>
              <a:rPr lang="en-US" dirty="0">
                <a:hlinkClick r:id="rId2"/>
              </a:rPr>
              <a:t>https://github.com/Xilinx/Vitis_Libraries/tree/master/vision</a:t>
            </a:r>
            <a:endParaRPr lang="en-US" dirty="0"/>
          </a:p>
          <a:p>
            <a:pPr lvl="2"/>
            <a:endParaRPr lang="en-US" b="0" dirty="0"/>
          </a:p>
        </p:txBody>
      </p:sp>
      <p:sp>
        <p:nvSpPr>
          <p:cNvPr id="4" name="Slide Number Placeholder 3">
            <a:extLst>
              <a:ext uri="{FF2B5EF4-FFF2-40B4-BE49-F238E27FC236}">
                <a16:creationId xmlns:a16="http://schemas.microsoft.com/office/drawing/2014/main" id="{A29DFA67-89FF-4558-8068-38ED64A321E8}"/>
              </a:ext>
            </a:extLst>
          </p:cNvPr>
          <p:cNvSpPr>
            <a:spLocks noGrp="1"/>
          </p:cNvSpPr>
          <p:nvPr>
            <p:ph type="sldNum" sz="quarter" idx="10"/>
          </p:nvPr>
        </p:nvSpPr>
        <p:spPr>
          <a:xfrm>
            <a:off x="579120" y="6325606"/>
            <a:ext cx="2468879" cy="365125"/>
          </a:xfrm>
        </p:spPr>
        <p:txBody>
          <a:bodyPr/>
          <a:lstStyle/>
          <a:p>
            <a:pPr>
              <a:defRPr/>
            </a:pPr>
            <a:r>
              <a:rPr lang="en-US" dirty="0"/>
              <a:t>Coding Considerations 23- </a:t>
            </a:r>
            <a:fld id="{060BD193-E118-4B16-863C-C8C12C675E3E}" type="slidenum">
              <a:rPr lang="en-US" smtClean="0"/>
              <a:pPr>
                <a:defRPr/>
              </a:pPr>
              <a:t>104</a:t>
            </a:fld>
            <a:endParaRPr lang="en-US" dirty="0"/>
          </a:p>
        </p:txBody>
      </p:sp>
    </p:spTree>
    <p:extLst>
      <p:ext uri="{BB962C8B-B14F-4D97-AF65-F5344CB8AC3E}">
        <p14:creationId xmlns:p14="http://schemas.microsoft.com/office/powerpoint/2010/main" val="378414854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2346F2-F6E3-4EA9-8794-02AF75A45909}"/>
              </a:ext>
            </a:extLst>
          </p:cNvPr>
          <p:cNvSpPr>
            <a:spLocks noGrp="1"/>
          </p:cNvSpPr>
          <p:nvPr>
            <p:ph type="title"/>
          </p:nvPr>
        </p:nvSpPr>
        <p:spPr/>
        <p:txBody>
          <a:bodyPr/>
          <a:lstStyle/>
          <a:p>
            <a:r>
              <a:rPr lang="en-US" dirty="0"/>
              <a:t>AXI Video Interface Functions</a:t>
            </a:r>
          </a:p>
        </p:txBody>
      </p:sp>
      <p:sp>
        <p:nvSpPr>
          <p:cNvPr id="3" name="Content Placeholder 2">
            <a:extLst>
              <a:ext uri="{FF2B5EF4-FFF2-40B4-BE49-F238E27FC236}">
                <a16:creationId xmlns:a16="http://schemas.microsoft.com/office/drawing/2014/main" id="{FAE33F14-201C-444B-8DF5-CCD90A200772}"/>
              </a:ext>
            </a:extLst>
          </p:cNvPr>
          <p:cNvSpPr>
            <a:spLocks noGrp="1"/>
          </p:cNvSpPr>
          <p:nvPr>
            <p:ph idx="1"/>
          </p:nvPr>
        </p:nvSpPr>
        <p:spPr>
          <a:xfrm>
            <a:off x="579121" y="1310315"/>
            <a:ext cx="10515600" cy="4759404"/>
          </a:xfrm>
        </p:spPr>
        <p:txBody>
          <a:bodyPr/>
          <a:lstStyle/>
          <a:p>
            <a:r>
              <a:rPr lang="en-US" dirty="0" err="1"/>
              <a:t>Vitis</a:t>
            </a:r>
            <a:r>
              <a:rPr lang="en-US" dirty="0"/>
              <a:t> vision has functions that will transform the </a:t>
            </a:r>
            <a:r>
              <a:rPr lang="en-US" dirty="0" err="1"/>
              <a:t>xf</a:t>
            </a:r>
            <a:r>
              <a:rPr lang="en-US" dirty="0"/>
              <a:t>::cv::Mat into Xilinx® Video Streaming interface and vice-versa</a:t>
            </a:r>
          </a:p>
          <a:p>
            <a:pPr lvl="1"/>
            <a:r>
              <a:rPr lang="en-US" dirty="0" err="1"/>
              <a:t>xf</a:t>
            </a:r>
            <a:r>
              <a:rPr lang="en-US" dirty="0"/>
              <a:t>::cv::AXIvideo2xfMat() and </a:t>
            </a:r>
            <a:r>
              <a:rPr lang="en-US" dirty="0" err="1"/>
              <a:t>xf</a:t>
            </a:r>
            <a:r>
              <a:rPr lang="en-US" dirty="0"/>
              <a:t>::cv::xfMat2AXIVideo() act as video interfaces to the </a:t>
            </a:r>
            <a:r>
              <a:rPr lang="en-US" dirty="0" err="1"/>
              <a:t>Ips</a:t>
            </a:r>
            <a:endParaRPr lang="en-US" dirty="0"/>
          </a:p>
          <a:p>
            <a:pPr lvl="1"/>
            <a:r>
              <a:rPr lang="en-US" dirty="0"/>
              <a:t>cvMat2AXIvideoxf&lt;NPC&gt; and AXIvideo2cvMatxf&lt;NPC&gt; are used on the host side</a:t>
            </a:r>
          </a:p>
        </p:txBody>
      </p:sp>
      <p:sp>
        <p:nvSpPr>
          <p:cNvPr id="4" name="Slide Number Placeholder 3">
            <a:extLst>
              <a:ext uri="{FF2B5EF4-FFF2-40B4-BE49-F238E27FC236}">
                <a16:creationId xmlns:a16="http://schemas.microsoft.com/office/drawing/2014/main" id="{AD2EB1C7-707B-46E9-A395-182856754A26}"/>
              </a:ext>
            </a:extLst>
          </p:cNvPr>
          <p:cNvSpPr>
            <a:spLocks noGrp="1"/>
          </p:cNvSpPr>
          <p:nvPr>
            <p:ph type="sldNum" sz="quarter" idx="10"/>
          </p:nvPr>
        </p:nvSpPr>
        <p:spPr>
          <a:xfrm>
            <a:off x="579121" y="6325606"/>
            <a:ext cx="2541450" cy="365125"/>
          </a:xfrm>
        </p:spPr>
        <p:txBody>
          <a:bodyPr/>
          <a:lstStyle/>
          <a:p>
            <a:pPr>
              <a:defRPr/>
            </a:pPr>
            <a:r>
              <a:rPr lang="en-US" dirty="0"/>
              <a:t>Coding Considerations 23- </a:t>
            </a:r>
            <a:fld id="{060BD193-E118-4B16-863C-C8C12C675E3E}" type="slidenum">
              <a:rPr lang="en-US" smtClean="0"/>
              <a:pPr>
                <a:defRPr/>
              </a:pPr>
              <a:t>105</a:t>
            </a:fld>
            <a:endParaRPr lang="en-US" dirty="0"/>
          </a:p>
        </p:txBody>
      </p:sp>
      <p:graphicFrame>
        <p:nvGraphicFramePr>
          <p:cNvPr id="7" name="Table 6">
            <a:extLst>
              <a:ext uri="{FF2B5EF4-FFF2-40B4-BE49-F238E27FC236}">
                <a16:creationId xmlns:a16="http://schemas.microsoft.com/office/drawing/2014/main" id="{8A73F5B4-DF26-4FB1-B604-A793C1020DF4}"/>
              </a:ext>
            </a:extLst>
          </p:cNvPr>
          <p:cNvGraphicFramePr>
            <a:graphicFrameLocks noGrp="1"/>
          </p:cNvGraphicFramePr>
          <p:nvPr>
            <p:extLst>
              <p:ext uri="{D42A27DB-BD31-4B8C-83A1-F6EECF244321}">
                <p14:modId xmlns:p14="http://schemas.microsoft.com/office/powerpoint/2010/main" val="1190011368"/>
              </p:ext>
            </p:extLst>
          </p:nvPr>
        </p:nvGraphicFramePr>
        <p:xfrm>
          <a:off x="839788" y="3194765"/>
          <a:ext cx="10515600" cy="2682240"/>
        </p:xfrm>
        <a:graphic>
          <a:graphicData uri="http://schemas.openxmlformats.org/drawingml/2006/table">
            <a:tbl>
              <a:tblPr firstRow="1" bandRow="1">
                <a:tableStyleId>{D27102A9-8310-4765-A935-A1911B00CA55}</a:tableStyleId>
              </a:tblPr>
              <a:tblGrid>
                <a:gridCol w="5257800">
                  <a:extLst>
                    <a:ext uri="{9D8B030D-6E8A-4147-A177-3AD203B41FA5}">
                      <a16:colId xmlns:a16="http://schemas.microsoft.com/office/drawing/2014/main" val="589210413"/>
                    </a:ext>
                  </a:extLst>
                </a:gridCol>
                <a:gridCol w="5257800">
                  <a:extLst>
                    <a:ext uri="{9D8B030D-6E8A-4147-A177-3AD203B41FA5}">
                      <a16:colId xmlns:a16="http://schemas.microsoft.com/office/drawing/2014/main" val="1195264950"/>
                    </a:ext>
                  </a:extLst>
                </a:gridCol>
              </a:tblGrid>
              <a:tr h="310517">
                <a:tc>
                  <a:txBody>
                    <a:bodyPr/>
                    <a:lstStyle/>
                    <a:p>
                      <a:pPr marL="0" algn="l" defTabSz="914445" rtl="0" eaLnBrk="1" fontAlgn="ctr" latinLnBrk="0" hangingPunct="1"/>
                      <a:r>
                        <a:rPr lang="en-US" sz="1400" kern="1200" dirty="0"/>
                        <a:t>Video Library Function</a:t>
                      </a:r>
                      <a:endParaRPr lang="en-US" sz="1400" b="1" kern="1200" dirty="0">
                        <a:solidFill>
                          <a:schemeClr val="tx1"/>
                        </a:solidFill>
                        <a:latin typeface="+mn-lt"/>
                        <a:ea typeface="+mn-ea"/>
                        <a:cs typeface="+mn-cs"/>
                      </a:endParaRPr>
                    </a:p>
                  </a:txBody>
                  <a:tcPr marL="152400" marR="152400" marT="76200" marB="76200" anchor="ctr"/>
                </a:tc>
                <a:tc>
                  <a:txBody>
                    <a:bodyPr/>
                    <a:lstStyle/>
                    <a:p>
                      <a:pPr marL="0" algn="l" defTabSz="914445" rtl="0" eaLnBrk="1" fontAlgn="ctr" latinLnBrk="0" hangingPunct="1"/>
                      <a:r>
                        <a:rPr lang="en-US" sz="1400" kern="1200"/>
                        <a:t>Description</a:t>
                      </a:r>
                      <a:endParaRPr lang="en-US" sz="1400" b="1" kern="1200">
                        <a:solidFill>
                          <a:schemeClr val="tx1"/>
                        </a:solidFill>
                        <a:latin typeface="+mn-lt"/>
                        <a:ea typeface="+mn-ea"/>
                        <a:cs typeface="+mn-cs"/>
                      </a:endParaRPr>
                    </a:p>
                  </a:txBody>
                  <a:tcPr marL="152400" marR="152400" marT="76200" marB="76200" anchor="ctr"/>
                </a:tc>
                <a:extLst>
                  <a:ext uri="{0D108BD9-81ED-4DB2-BD59-A6C34878D82A}">
                    <a16:rowId xmlns:a16="http://schemas.microsoft.com/office/drawing/2014/main" val="154648736"/>
                  </a:ext>
                </a:extLst>
              </a:tr>
              <a:tr h="491651">
                <a:tc>
                  <a:txBody>
                    <a:bodyPr/>
                    <a:lstStyle/>
                    <a:p>
                      <a:pPr marL="0" algn="l" defTabSz="914445" rtl="0" eaLnBrk="1" fontAlgn="ctr" latinLnBrk="0" hangingPunct="1"/>
                      <a:r>
                        <a:rPr lang="en-US" sz="1400" kern="1200" dirty="0"/>
                        <a:t>AXIvideo2xfMat</a:t>
                      </a:r>
                      <a:endParaRPr lang="en-US" sz="1400" b="1" kern="1200" dirty="0">
                        <a:solidFill>
                          <a:schemeClr val="tx1"/>
                        </a:solidFill>
                        <a:latin typeface="+mn-lt"/>
                        <a:ea typeface="+mn-ea"/>
                        <a:cs typeface="+mn-cs"/>
                      </a:endParaRPr>
                    </a:p>
                  </a:txBody>
                  <a:tcPr marL="152400" marR="152400" marT="76200" marB="76200" anchor="ctr"/>
                </a:tc>
                <a:tc>
                  <a:txBody>
                    <a:bodyPr/>
                    <a:lstStyle/>
                    <a:p>
                      <a:pPr marL="0" algn="l" defTabSz="914445" rtl="0" eaLnBrk="1" fontAlgn="ctr" latinLnBrk="0" hangingPunct="1"/>
                      <a:r>
                        <a:rPr lang="en-US" sz="1400" kern="1200"/>
                        <a:t>Converts data from an AXI4 video stream representation to xf::cv::Mat format.</a:t>
                      </a:r>
                      <a:endParaRPr lang="en-US" sz="1400" b="1" kern="1200">
                        <a:solidFill>
                          <a:schemeClr val="tx1"/>
                        </a:solidFill>
                        <a:latin typeface="+mn-lt"/>
                        <a:ea typeface="+mn-ea"/>
                        <a:cs typeface="+mn-cs"/>
                      </a:endParaRPr>
                    </a:p>
                  </a:txBody>
                  <a:tcPr marL="152400" marR="152400" marT="76200" marB="76200" anchor="ctr"/>
                </a:tc>
                <a:extLst>
                  <a:ext uri="{0D108BD9-81ED-4DB2-BD59-A6C34878D82A}">
                    <a16:rowId xmlns:a16="http://schemas.microsoft.com/office/drawing/2014/main" val="4200361066"/>
                  </a:ext>
                </a:extLst>
              </a:tr>
              <a:tr h="491651">
                <a:tc>
                  <a:txBody>
                    <a:bodyPr/>
                    <a:lstStyle/>
                    <a:p>
                      <a:pPr marL="0" algn="l" defTabSz="914445" rtl="0" eaLnBrk="1" fontAlgn="ctr" latinLnBrk="0" hangingPunct="1"/>
                      <a:r>
                        <a:rPr lang="en-US" sz="1400" kern="1200" dirty="0"/>
                        <a:t>xfMat2AXIvideo</a:t>
                      </a:r>
                      <a:endParaRPr lang="en-US" sz="1400" b="1" kern="1200" dirty="0">
                        <a:solidFill>
                          <a:schemeClr val="tx1"/>
                        </a:solidFill>
                        <a:latin typeface="+mn-lt"/>
                        <a:ea typeface="+mn-ea"/>
                        <a:cs typeface="+mn-cs"/>
                      </a:endParaRPr>
                    </a:p>
                  </a:txBody>
                  <a:tcPr marL="152400" marR="152400" marT="76200" marB="76200" anchor="ctr"/>
                </a:tc>
                <a:tc>
                  <a:txBody>
                    <a:bodyPr/>
                    <a:lstStyle/>
                    <a:p>
                      <a:pPr marL="0" algn="l" defTabSz="914445" rtl="0" eaLnBrk="1" fontAlgn="ctr" latinLnBrk="0" hangingPunct="1"/>
                      <a:r>
                        <a:rPr lang="en-US" sz="1400" kern="1200"/>
                        <a:t>Converts data stored as xf::cv::Mat format to an AXI4 video stream.</a:t>
                      </a:r>
                      <a:endParaRPr lang="en-US" sz="1400" b="1" kern="1200">
                        <a:solidFill>
                          <a:schemeClr val="tx1"/>
                        </a:solidFill>
                        <a:latin typeface="+mn-lt"/>
                        <a:ea typeface="+mn-ea"/>
                        <a:cs typeface="+mn-cs"/>
                      </a:endParaRPr>
                    </a:p>
                  </a:txBody>
                  <a:tcPr marL="152400" marR="152400" marT="76200" marB="76200" anchor="ctr"/>
                </a:tc>
                <a:extLst>
                  <a:ext uri="{0D108BD9-81ED-4DB2-BD59-A6C34878D82A}">
                    <a16:rowId xmlns:a16="http://schemas.microsoft.com/office/drawing/2014/main" val="4165366739"/>
                  </a:ext>
                </a:extLst>
              </a:tr>
              <a:tr h="491651">
                <a:tc>
                  <a:txBody>
                    <a:bodyPr/>
                    <a:lstStyle/>
                    <a:p>
                      <a:pPr marL="0" algn="l" defTabSz="914445" rtl="0" eaLnBrk="1" fontAlgn="ctr" latinLnBrk="0" hangingPunct="1"/>
                      <a:r>
                        <a:rPr lang="en-US" sz="1400" kern="1200" dirty="0"/>
                        <a:t>cvMat2AXIvideoxf</a:t>
                      </a:r>
                      <a:endParaRPr lang="en-US" sz="1400" b="1" kern="1200" dirty="0">
                        <a:solidFill>
                          <a:schemeClr val="tx1"/>
                        </a:solidFill>
                        <a:latin typeface="+mn-lt"/>
                        <a:ea typeface="+mn-ea"/>
                        <a:cs typeface="+mn-cs"/>
                      </a:endParaRPr>
                    </a:p>
                  </a:txBody>
                  <a:tcPr marL="152400" marR="152400" marT="76200" marB="76200" anchor="ctr"/>
                </a:tc>
                <a:tc>
                  <a:txBody>
                    <a:bodyPr/>
                    <a:lstStyle/>
                    <a:p>
                      <a:pPr marL="0" algn="l" defTabSz="914445" rtl="0" eaLnBrk="1" fontAlgn="ctr" latinLnBrk="0" hangingPunct="1"/>
                      <a:r>
                        <a:rPr lang="en-US" sz="1400" kern="1200" dirty="0"/>
                        <a:t>Converts data stored as cv::Mat format to an AXI4 video stream</a:t>
                      </a:r>
                      <a:endParaRPr lang="en-US" sz="1400" b="1" kern="1200" dirty="0">
                        <a:solidFill>
                          <a:schemeClr val="tx1"/>
                        </a:solidFill>
                        <a:latin typeface="+mn-lt"/>
                        <a:ea typeface="+mn-ea"/>
                        <a:cs typeface="+mn-cs"/>
                      </a:endParaRPr>
                    </a:p>
                  </a:txBody>
                  <a:tcPr marL="152400" marR="152400" marT="76200" marB="76200" anchor="ctr"/>
                </a:tc>
                <a:extLst>
                  <a:ext uri="{0D108BD9-81ED-4DB2-BD59-A6C34878D82A}">
                    <a16:rowId xmlns:a16="http://schemas.microsoft.com/office/drawing/2014/main" val="3809510690"/>
                  </a:ext>
                </a:extLst>
              </a:tr>
              <a:tr h="491651">
                <a:tc>
                  <a:txBody>
                    <a:bodyPr/>
                    <a:lstStyle/>
                    <a:p>
                      <a:pPr marL="0" algn="l" defTabSz="914445" rtl="0" eaLnBrk="1" fontAlgn="ctr" latinLnBrk="0" hangingPunct="1"/>
                      <a:r>
                        <a:rPr lang="en-US" sz="1400" kern="1200" dirty="0"/>
                        <a:t>AXIvideo2cvMatxf</a:t>
                      </a:r>
                      <a:endParaRPr lang="en-US" sz="1400" b="1" kern="1200" dirty="0">
                        <a:solidFill>
                          <a:schemeClr val="tx1"/>
                        </a:solidFill>
                        <a:latin typeface="+mn-lt"/>
                        <a:ea typeface="+mn-ea"/>
                        <a:cs typeface="+mn-cs"/>
                      </a:endParaRPr>
                    </a:p>
                  </a:txBody>
                  <a:tcPr marL="152400" marR="152400" marT="76200" marB="76200" anchor="ctr"/>
                </a:tc>
                <a:tc>
                  <a:txBody>
                    <a:bodyPr/>
                    <a:lstStyle/>
                    <a:p>
                      <a:pPr marL="0" algn="l" defTabSz="914445" rtl="0" eaLnBrk="1" fontAlgn="ctr" latinLnBrk="0" hangingPunct="1"/>
                      <a:r>
                        <a:rPr lang="en-US" sz="1400" kern="1200" dirty="0"/>
                        <a:t>Converts data from an AXI4 video stream representation to cv::Mat format.</a:t>
                      </a:r>
                      <a:endParaRPr lang="en-US" sz="1400" b="1" kern="1200" dirty="0">
                        <a:solidFill>
                          <a:schemeClr val="tx1"/>
                        </a:solidFill>
                        <a:latin typeface="+mn-lt"/>
                        <a:ea typeface="+mn-ea"/>
                        <a:cs typeface="+mn-cs"/>
                      </a:endParaRPr>
                    </a:p>
                  </a:txBody>
                  <a:tcPr marL="152400" marR="152400" marT="76200" marB="76200" anchor="ctr"/>
                </a:tc>
                <a:extLst>
                  <a:ext uri="{0D108BD9-81ED-4DB2-BD59-A6C34878D82A}">
                    <a16:rowId xmlns:a16="http://schemas.microsoft.com/office/drawing/2014/main" val="2215413344"/>
                  </a:ext>
                </a:extLst>
              </a:tr>
            </a:tbl>
          </a:graphicData>
        </a:graphic>
      </p:graphicFrame>
    </p:spTree>
    <p:extLst>
      <p:ext uri="{BB962C8B-B14F-4D97-AF65-F5344CB8AC3E}">
        <p14:creationId xmlns:p14="http://schemas.microsoft.com/office/powerpoint/2010/main" val="29276357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Video Libraries Supported in </a:t>
            </a:r>
            <a:r>
              <a:rPr lang="en-US" strike="sngStrike" dirty="0" err="1">
                <a:highlight>
                  <a:srgbClr val="FFFF00"/>
                </a:highlight>
              </a:rPr>
              <a:t>Vitis</a:t>
            </a:r>
            <a:r>
              <a:rPr lang="en-US" strike="sngStrike" dirty="0"/>
              <a:t> HLS</a:t>
            </a:r>
          </a:p>
        </p:txBody>
      </p:sp>
      <p:sp>
        <p:nvSpPr>
          <p:cNvPr id="2" name="Content Placeholder 1"/>
          <p:cNvSpPr>
            <a:spLocks noGrp="1"/>
          </p:cNvSpPr>
          <p:nvPr>
            <p:ph idx="1"/>
          </p:nvPr>
        </p:nvSpPr>
        <p:spPr/>
        <p:txBody>
          <a:bodyPr/>
          <a:lstStyle/>
          <a:p>
            <a:pPr lvl="0"/>
            <a:r>
              <a:rPr lang="en-US" dirty="0"/>
              <a:t>C video libraries</a:t>
            </a:r>
          </a:p>
          <a:p>
            <a:pPr lvl="1"/>
            <a:r>
              <a:rPr lang="en-US" dirty="0"/>
              <a:t>Available within </a:t>
            </a:r>
            <a:r>
              <a:rPr lang="en-US" dirty="0" err="1">
                <a:highlight>
                  <a:srgbClr val="FFFF00"/>
                </a:highlight>
              </a:rPr>
              <a:t>Vitis</a:t>
            </a:r>
            <a:r>
              <a:rPr lang="en-US" dirty="0"/>
              <a:t> HLS tool header files</a:t>
            </a:r>
          </a:p>
          <a:p>
            <a:pPr lvl="2"/>
            <a:r>
              <a:rPr lang="en-US" i="1" strike="sngStrike" dirty="0"/>
              <a:t>hls_video.h</a:t>
            </a:r>
            <a:r>
              <a:rPr lang="en-US" strike="sngStrike" dirty="0"/>
              <a:t> library</a:t>
            </a:r>
          </a:p>
          <a:p>
            <a:pPr lvl="2"/>
            <a:r>
              <a:rPr lang="en-US" i="1" strike="sngStrike" dirty="0"/>
              <a:t>hls_opencv.h</a:t>
            </a:r>
            <a:r>
              <a:rPr lang="en-US" strike="sngStrike" dirty="0"/>
              <a:t> library</a:t>
            </a:r>
          </a:p>
          <a:p>
            <a:pPr lvl="0"/>
            <a:r>
              <a:rPr lang="en-US" dirty="0"/>
              <a:t>Enable migration of OpenCV designs for use with the </a:t>
            </a:r>
            <a:r>
              <a:rPr lang="en-US" dirty="0" err="1">
                <a:highlight>
                  <a:srgbClr val="FFFF00"/>
                </a:highlight>
              </a:rPr>
              <a:t>Vitis</a:t>
            </a:r>
            <a:r>
              <a:rPr lang="en-US" dirty="0"/>
              <a:t> HLS tool</a:t>
            </a:r>
          </a:p>
          <a:p>
            <a:pPr lvl="0"/>
            <a:r>
              <a:rPr lang="en-US" strike="sngStrike" dirty="0"/>
              <a:t>HLS </a:t>
            </a:r>
            <a:r>
              <a:rPr lang="en-US" strike="sngStrike" dirty="0" err="1"/>
              <a:t>video</a:t>
            </a:r>
            <a:r>
              <a:rPr lang="en-US" altLang="zh-CN" dirty="0" err="1">
                <a:highlight>
                  <a:srgbClr val="FFFF00"/>
                </a:highlight>
              </a:rPr>
              <a:t>Vitis</a:t>
            </a:r>
            <a:r>
              <a:rPr lang="en-US" altLang="zh-CN" dirty="0">
                <a:highlight>
                  <a:srgbClr val="FFFF00"/>
                </a:highlight>
              </a:rPr>
              <a:t> Vision </a:t>
            </a:r>
            <a:r>
              <a:rPr lang="en-US" dirty="0"/>
              <a:t>library is intended to replace many basic OpenCV functions</a:t>
            </a:r>
          </a:p>
          <a:p>
            <a:pPr lvl="1"/>
            <a:r>
              <a:rPr lang="en-US" dirty="0"/>
              <a:t>Similar interfaces and algorithms to OpenCV</a:t>
            </a:r>
          </a:p>
          <a:p>
            <a:pPr lvl="1"/>
            <a:r>
              <a:rPr lang="en-US" dirty="0"/>
              <a:t>Focus on image processing functions implemented in FPGA fabric such as full HD video processing</a:t>
            </a:r>
          </a:p>
          <a:p>
            <a:pPr lvl="1"/>
            <a:r>
              <a:rPr lang="en-US" dirty="0"/>
              <a:t>Includes FPGA-specific optimizations</a:t>
            </a:r>
          </a:p>
          <a:p>
            <a:pPr lvl="2"/>
            <a:r>
              <a:rPr lang="en-US" dirty="0"/>
              <a:t>Fixed-point operations instead of floating point</a:t>
            </a:r>
          </a:p>
          <a:p>
            <a:pPr lvl="2"/>
            <a:r>
              <a:rPr lang="en-US" dirty="0"/>
              <a:t>On-chip line buffers and window buffers</a:t>
            </a:r>
          </a:p>
          <a:p>
            <a:pPr lvl="1"/>
            <a:r>
              <a:rPr lang="en-US" dirty="0"/>
              <a:t>Not necessarily bit-accurate</a:t>
            </a:r>
          </a:p>
          <a:p>
            <a:pPr lvl="1"/>
            <a:r>
              <a:rPr lang="en-US" dirty="0"/>
              <a:t>Libraries support standard AXI4 interfaces for easy system integration</a:t>
            </a:r>
          </a:p>
          <a:p>
            <a:endParaRPr lang="en-US" dirty="0"/>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106</a:t>
            </a:fld>
            <a:endParaRPr lang="en-US" dirty="0">
              <a:solidFill>
                <a:srgbClr val="0C0C0C">
                  <a:tint val="75000"/>
                </a:srgbClr>
              </a:solidFill>
              <a:latin typeface="Arial"/>
            </a:endParaRPr>
          </a:p>
        </p:txBody>
      </p:sp>
    </p:spTree>
    <p:extLst>
      <p:ext uri="{BB962C8B-B14F-4D97-AF65-F5344CB8AC3E}">
        <p14:creationId xmlns:p14="http://schemas.microsoft.com/office/powerpoint/2010/main" val="170184903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Video Library Functions</a:t>
            </a:r>
          </a:p>
        </p:txBody>
      </p:sp>
      <p:sp>
        <p:nvSpPr>
          <p:cNvPr id="2" name="Content Placeholder 1"/>
          <p:cNvSpPr>
            <a:spLocks noGrp="1"/>
          </p:cNvSpPr>
          <p:nvPr>
            <p:ph idx="1"/>
          </p:nvPr>
        </p:nvSpPr>
        <p:spPr/>
        <p:txBody>
          <a:bodyPr/>
          <a:lstStyle/>
          <a:p>
            <a:pPr lvl="0"/>
            <a:r>
              <a:rPr lang="en-US" dirty="0"/>
              <a:t>C++ code contained in hls namespace: #include “hls_video.h”</a:t>
            </a:r>
          </a:p>
          <a:p>
            <a:pPr lvl="0"/>
            <a:r>
              <a:rPr lang="en-US" dirty="0"/>
              <a:t>Similar interface; equivalent behavior with OpenCV</a:t>
            </a:r>
          </a:p>
          <a:p>
            <a:pPr lvl="1"/>
            <a:r>
              <a:rPr lang="en-US" dirty="0"/>
              <a:t>OpenCV library: cvScale(src, dst, scale, shift);</a:t>
            </a:r>
          </a:p>
          <a:p>
            <a:pPr lvl="1"/>
            <a:r>
              <a:rPr lang="en-US" dirty="0"/>
              <a:t>HLS video library: hls::Scale&lt;...&gt;(src, dst, scale, shift);</a:t>
            </a:r>
          </a:p>
          <a:p>
            <a:pPr lvl="0"/>
            <a:r>
              <a:rPr lang="en-US" dirty="0"/>
              <a:t>Some constructor arguments have corresponding or replacement template parameters</a:t>
            </a:r>
          </a:p>
          <a:p>
            <a:pPr lvl="1"/>
            <a:r>
              <a:rPr lang="en-US" dirty="0"/>
              <a:t>OpenCV library: cv::Mat mat(rows, cols, CV_8UC3);</a:t>
            </a:r>
          </a:p>
          <a:p>
            <a:pPr lvl="1"/>
            <a:r>
              <a:rPr lang="en-US" dirty="0"/>
              <a:t>HLS video library: hls::Mat&lt;ROWS, COLS, HLS_8UC3&gt; mat(rows, cols);</a:t>
            </a:r>
          </a:p>
          <a:p>
            <a:pPr lvl="2"/>
            <a:r>
              <a:rPr lang="en-US" dirty="0"/>
              <a:t>ROWS and COLS specify the maximum size of an image processed</a:t>
            </a:r>
          </a:p>
          <a:p>
            <a:endParaRPr lang="en-US" dirty="0"/>
          </a:p>
        </p:txBody>
      </p:sp>
      <p:sp>
        <p:nvSpPr>
          <p:cNvPr id="3" name="Slide Number Placeholder 2"/>
          <p:cNvSpPr>
            <a:spLocks noGrp="1"/>
          </p:cNvSpPr>
          <p:nvPr>
            <p:ph type="sldNum" sz="quarter" idx="10"/>
          </p:nvPr>
        </p:nvSpPr>
        <p:spPr/>
        <p:txBody>
          <a:bodyPr/>
          <a:lstStyle/>
          <a:p>
            <a:pPr defTabSz="914400">
              <a:defRPr/>
            </a:pPr>
            <a:r>
              <a:rPr lang="en-US">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107</a:t>
            </a:fld>
            <a:endParaRPr lang="en-US" dirty="0">
              <a:solidFill>
                <a:srgbClr val="0C0C0C">
                  <a:tint val="75000"/>
                </a:srgbClr>
              </a:solidFill>
              <a:latin typeface="Arial"/>
            </a:endParaRPr>
          </a:p>
        </p:txBody>
      </p:sp>
    </p:spTree>
    <p:extLst>
      <p:ext uri="{BB962C8B-B14F-4D97-AF65-F5344CB8AC3E}">
        <p14:creationId xmlns:p14="http://schemas.microsoft.com/office/powerpoint/2010/main" val="7503314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Video Library Supported Functions</a:t>
            </a:r>
          </a:p>
        </p:txBody>
      </p:sp>
      <p:sp>
        <p:nvSpPr>
          <p:cNvPr id="3" name="Slide Number Placeholder 2"/>
          <p:cNvSpPr>
            <a:spLocks noGrp="1"/>
          </p:cNvSpPr>
          <p:nvPr>
            <p:ph type="sldNum" sz="quarter" idx="10"/>
          </p:nvPr>
        </p:nvSpPr>
        <p:spPr>
          <a:xfrm>
            <a:off x="579120" y="6325606"/>
            <a:ext cx="2773679" cy="365125"/>
          </a:xfrm>
        </p:spPr>
        <p:txBody>
          <a:bodyPr/>
          <a:lstStyle/>
          <a:p>
            <a:pPr>
              <a:defRPr/>
            </a:pPr>
            <a:r>
              <a:rPr lang="en-US" dirty="0"/>
              <a:t>Coding Considerations 23- </a:t>
            </a:r>
            <a:fld id="{060BD193-E118-4B16-863C-C8C12C675E3E}" type="slidenum">
              <a:rPr lang="en-US" smtClean="0"/>
              <a:pPr>
                <a:defRPr/>
              </a:pPr>
              <a:t>108</a:t>
            </a:fld>
            <a:endParaRPr lang="en-US" dirty="0"/>
          </a:p>
        </p:txBody>
      </p:sp>
      <p:graphicFrame>
        <p:nvGraphicFramePr>
          <p:cNvPr id="4" name="Table 4">
            <a:extLst>
              <a:ext uri="{FF2B5EF4-FFF2-40B4-BE49-F238E27FC236}">
                <a16:creationId xmlns:a16="http://schemas.microsoft.com/office/drawing/2014/main" id="{F3460A92-1B2C-4264-8A7C-D672F8AE4046}"/>
              </a:ext>
            </a:extLst>
          </p:cNvPr>
          <p:cNvGraphicFramePr>
            <a:graphicFrameLocks noGrp="1"/>
          </p:cNvGraphicFramePr>
          <p:nvPr>
            <p:extLst>
              <p:ext uri="{D42A27DB-BD31-4B8C-83A1-F6EECF244321}">
                <p14:modId xmlns:p14="http://schemas.microsoft.com/office/powerpoint/2010/main" val="1433092737"/>
              </p:ext>
            </p:extLst>
          </p:nvPr>
        </p:nvGraphicFramePr>
        <p:xfrm>
          <a:off x="623218" y="1033464"/>
          <a:ext cx="4913756" cy="670560"/>
        </p:xfrm>
        <a:graphic>
          <a:graphicData uri="http://schemas.openxmlformats.org/drawingml/2006/table">
            <a:tbl>
              <a:tblPr firstRow="1" bandRow="1">
                <a:tableStyleId>{D27102A9-8310-4765-A935-A1911B00CA55}</a:tableStyleId>
              </a:tblPr>
              <a:tblGrid>
                <a:gridCol w="2456878">
                  <a:extLst>
                    <a:ext uri="{9D8B030D-6E8A-4147-A177-3AD203B41FA5}">
                      <a16:colId xmlns:a16="http://schemas.microsoft.com/office/drawing/2014/main" val="1293150969"/>
                    </a:ext>
                  </a:extLst>
                </a:gridCol>
                <a:gridCol w="2456878">
                  <a:extLst>
                    <a:ext uri="{9D8B030D-6E8A-4147-A177-3AD203B41FA5}">
                      <a16:colId xmlns:a16="http://schemas.microsoft.com/office/drawing/2014/main" val="2239407222"/>
                    </a:ext>
                  </a:extLst>
                </a:gridCol>
              </a:tblGrid>
              <a:tr h="182886">
                <a:tc gridSpan="2">
                  <a:txBody>
                    <a:bodyPr/>
                    <a:lstStyle/>
                    <a:p>
                      <a:r>
                        <a:rPr lang="en-US" sz="1600" dirty="0"/>
                        <a:t>Video Data Modeling</a:t>
                      </a:r>
                    </a:p>
                  </a:txBody>
                  <a:tcPr/>
                </a:tc>
                <a:tc hMerge="1">
                  <a:txBody>
                    <a:bodyPr/>
                    <a:lstStyle/>
                    <a:p>
                      <a:endParaRPr lang="en-US" dirty="0"/>
                    </a:p>
                  </a:txBody>
                  <a:tcPr/>
                </a:tc>
                <a:extLst>
                  <a:ext uri="{0D108BD9-81ED-4DB2-BD59-A6C34878D82A}">
                    <a16:rowId xmlns:a16="http://schemas.microsoft.com/office/drawing/2014/main" val="979508014"/>
                  </a:ext>
                </a:extLst>
              </a:tr>
              <a:tr h="320035">
                <a:tc>
                  <a:txBody>
                    <a:bodyPr/>
                    <a:lstStyle/>
                    <a:p>
                      <a:r>
                        <a:rPr lang="en-US" sz="1600" dirty="0"/>
                        <a:t>Memory Window Buffer</a:t>
                      </a:r>
                    </a:p>
                  </a:txBody>
                  <a:tcPr/>
                </a:tc>
                <a:tc>
                  <a:txBody>
                    <a:bodyPr/>
                    <a:lstStyle/>
                    <a:p>
                      <a:r>
                        <a:rPr lang="en-US" sz="1600" dirty="0"/>
                        <a:t>Memory Line Buffer</a:t>
                      </a:r>
                    </a:p>
                  </a:txBody>
                  <a:tcPr/>
                </a:tc>
                <a:extLst>
                  <a:ext uri="{0D108BD9-81ED-4DB2-BD59-A6C34878D82A}">
                    <a16:rowId xmlns:a16="http://schemas.microsoft.com/office/drawing/2014/main" val="3999701613"/>
                  </a:ext>
                </a:extLst>
              </a:tr>
            </a:tbl>
          </a:graphicData>
        </a:graphic>
      </p:graphicFrame>
      <p:graphicFrame>
        <p:nvGraphicFramePr>
          <p:cNvPr id="7" name="Table 4">
            <a:extLst>
              <a:ext uri="{FF2B5EF4-FFF2-40B4-BE49-F238E27FC236}">
                <a16:creationId xmlns:a16="http://schemas.microsoft.com/office/drawing/2014/main" id="{5B9BD53F-9ACC-469F-9EEB-86CB2FB009D3}"/>
              </a:ext>
            </a:extLst>
          </p:cNvPr>
          <p:cNvGraphicFramePr>
            <a:graphicFrameLocks noGrp="1"/>
          </p:cNvGraphicFramePr>
          <p:nvPr/>
        </p:nvGraphicFramePr>
        <p:xfrm>
          <a:off x="6206907" y="1221612"/>
          <a:ext cx="4913756" cy="1005840"/>
        </p:xfrm>
        <a:graphic>
          <a:graphicData uri="http://schemas.openxmlformats.org/drawingml/2006/table">
            <a:tbl>
              <a:tblPr firstRow="1" bandRow="1">
                <a:tableStyleId>{D27102A9-8310-4765-A935-A1911B00CA55}</a:tableStyleId>
              </a:tblPr>
              <a:tblGrid>
                <a:gridCol w="2456878">
                  <a:extLst>
                    <a:ext uri="{9D8B030D-6E8A-4147-A177-3AD203B41FA5}">
                      <a16:colId xmlns:a16="http://schemas.microsoft.com/office/drawing/2014/main" val="1293150969"/>
                    </a:ext>
                  </a:extLst>
                </a:gridCol>
                <a:gridCol w="2456878">
                  <a:extLst>
                    <a:ext uri="{9D8B030D-6E8A-4147-A177-3AD203B41FA5}">
                      <a16:colId xmlns:a16="http://schemas.microsoft.com/office/drawing/2014/main" val="2239407222"/>
                    </a:ext>
                  </a:extLst>
                </a:gridCol>
              </a:tblGrid>
              <a:tr h="182886">
                <a:tc gridSpan="2">
                  <a:txBody>
                    <a:bodyPr/>
                    <a:lstStyle/>
                    <a:p>
                      <a:r>
                        <a:rPr lang="en-US" sz="1600" dirty="0"/>
                        <a:t>AXI4-Stream I/O Functions</a:t>
                      </a:r>
                    </a:p>
                  </a:txBody>
                  <a:tcPr/>
                </a:tc>
                <a:tc hMerge="1">
                  <a:txBody>
                    <a:bodyPr/>
                    <a:lstStyle/>
                    <a:p>
                      <a:endParaRPr lang="en-US" dirty="0"/>
                    </a:p>
                  </a:txBody>
                  <a:tcPr/>
                </a:tc>
                <a:extLst>
                  <a:ext uri="{0D108BD9-81ED-4DB2-BD59-A6C34878D82A}">
                    <a16:rowId xmlns:a16="http://schemas.microsoft.com/office/drawing/2014/main" val="979508014"/>
                  </a:ext>
                </a:extLst>
              </a:tr>
              <a:tr h="320035">
                <a:tc>
                  <a:txBody>
                    <a:bodyPr/>
                    <a:lstStyle/>
                    <a:p>
                      <a:r>
                        <a:rPr lang="en-US" sz="1600" dirty="0"/>
                        <a:t>AXIvideo2xfMat</a:t>
                      </a:r>
                    </a:p>
                  </a:txBody>
                  <a:tcPr/>
                </a:tc>
                <a:tc>
                  <a:txBody>
                    <a:bodyPr/>
                    <a:lstStyle/>
                    <a:p>
                      <a:r>
                        <a:rPr lang="en-US" sz="1600" dirty="0"/>
                        <a:t>xfMat2AXIvideo</a:t>
                      </a:r>
                    </a:p>
                  </a:txBody>
                  <a:tcPr/>
                </a:tc>
                <a:extLst>
                  <a:ext uri="{0D108BD9-81ED-4DB2-BD59-A6C34878D82A}">
                    <a16:rowId xmlns:a16="http://schemas.microsoft.com/office/drawing/2014/main" val="3999701613"/>
                  </a:ext>
                </a:extLst>
              </a:tr>
              <a:tr h="320035">
                <a:tc>
                  <a:txBody>
                    <a:bodyPr/>
                    <a:lstStyle/>
                    <a:p>
                      <a:r>
                        <a:rPr lang="en-US" sz="1600" dirty="0"/>
                        <a:t>cvMat2AXIvideoxf</a:t>
                      </a:r>
                    </a:p>
                  </a:txBody>
                  <a:tcPr/>
                </a:tc>
                <a:tc>
                  <a:txBody>
                    <a:bodyPr/>
                    <a:lstStyle/>
                    <a:p>
                      <a:r>
                        <a:rPr lang="en-US" sz="1600" dirty="0"/>
                        <a:t>AXIvideo2cvMatxf</a:t>
                      </a:r>
                    </a:p>
                  </a:txBody>
                  <a:tcPr/>
                </a:tc>
                <a:extLst>
                  <a:ext uri="{0D108BD9-81ED-4DB2-BD59-A6C34878D82A}">
                    <a16:rowId xmlns:a16="http://schemas.microsoft.com/office/drawing/2014/main" val="82713413"/>
                  </a:ext>
                </a:extLst>
              </a:tr>
            </a:tbl>
          </a:graphicData>
        </a:graphic>
      </p:graphicFrame>
      <p:graphicFrame>
        <p:nvGraphicFramePr>
          <p:cNvPr id="8" name="Table 4">
            <a:extLst>
              <a:ext uri="{FF2B5EF4-FFF2-40B4-BE49-F238E27FC236}">
                <a16:creationId xmlns:a16="http://schemas.microsoft.com/office/drawing/2014/main" id="{B906E368-D751-4D64-B2C2-FF44AB531F38}"/>
              </a:ext>
            </a:extLst>
          </p:cNvPr>
          <p:cNvGraphicFramePr>
            <a:graphicFrameLocks noGrp="1"/>
          </p:cNvGraphicFramePr>
          <p:nvPr/>
        </p:nvGraphicFramePr>
        <p:xfrm>
          <a:off x="623218" y="1874394"/>
          <a:ext cx="4913756" cy="670560"/>
        </p:xfrm>
        <a:graphic>
          <a:graphicData uri="http://schemas.openxmlformats.org/drawingml/2006/table">
            <a:tbl>
              <a:tblPr firstRow="1" bandRow="1">
                <a:tableStyleId>{D27102A9-8310-4765-A935-A1911B00CA55}</a:tableStyleId>
              </a:tblPr>
              <a:tblGrid>
                <a:gridCol w="2456878">
                  <a:extLst>
                    <a:ext uri="{9D8B030D-6E8A-4147-A177-3AD203B41FA5}">
                      <a16:colId xmlns:a16="http://schemas.microsoft.com/office/drawing/2014/main" val="1293150969"/>
                    </a:ext>
                  </a:extLst>
                </a:gridCol>
                <a:gridCol w="2456878">
                  <a:extLst>
                    <a:ext uri="{9D8B030D-6E8A-4147-A177-3AD203B41FA5}">
                      <a16:colId xmlns:a16="http://schemas.microsoft.com/office/drawing/2014/main" val="2239407222"/>
                    </a:ext>
                  </a:extLst>
                </a:gridCol>
              </a:tblGrid>
              <a:tr h="182886">
                <a:tc gridSpan="2">
                  <a:txBody>
                    <a:bodyPr/>
                    <a:lstStyle/>
                    <a:p>
                      <a:r>
                        <a:rPr lang="en-US" sz="1600" dirty="0"/>
                        <a:t>OpenCV interface functions</a:t>
                      </a:r>
                    </a:p>
                  </a:txBody>
                  <a:tcPr/>
                </a:tc>
                <a:tc hMerge="1">
                  <a:txBody>
                    <a:bodyPr/>
                    <a:lstStyle/>
                    <a:p>
                      <a:endParaRPr lang="en-US" dirty="0"/>
                    </a:p>
                  </a:txBody>
                  <a:tcPr/>
                </a:tc>
                <a:extLst>
                  <a:ext uri="{0D108BD9-81ED-4DB2-BD59-A6C34878D82A}">
                    <a16:rowId xmlns:a16="http://schemas.microsoft.com/office/drawing/2014/main" val="979508014"/>
                  </a:ext>
                </a:extLst>
              </a:tr>
              <a:tr h="320035">
                <a:tc>
                  <a:txBody>
                    <a:bodyPr/>
                    <a:lstStyle/>
                    <a:p>
                      <a:r>
                        <a:rPr lang="en-US" sz="1600" dirty="0"/>
                        <a:t>cvMat2AXIvideo</a:t>
                      </a:r>
                    </a:p>
                  </a:txBody>
                  <a:tcPr/>
                </a:tc>
                <a:tc>
                  <a:txBody>
                    <a:bodyPr/>
                    <a:lstStyle/>
                    <a:p>
                      <a:r>
                        <a:rPr lang="en-US" sz="1600" dirty="0"/>
                        <a:t>AXIvideo2cvMat</a:t>
                      </a:r>
                    </a:p>
                  </a:txBody>
                  <a:tcPr/>
                </a:tc>
                <a:extLst>
                  <a:ext uri="{0D108BD9-81ED-4DB2-BD59-A6C34878D82A}">
                    <a16:rowId xmlns:a16="http://schemas.microsoft.com/office/drawing/2014/main" val="3999701613"/>
                  </a:ext>
                </a:extLst>
              </a:tr>
            </a:tbl>
          </a:graphicData>
        </a:graphic>
      </p:graphicFrame>
      <p:graphicFrame>
        <p:nvGraphicFramePr>
          <p:cNvPr id="9" name="Table 4">
            <a:extLst>
              <a:ext uri="{FF2B5EF4-FFF2-40B4-BE49-F238E27FC236}">
                <a16:creationId xmlns:a16="http://schemas.microsoft.com/office/drawing/2014/main" id="{5719A106-915C-4FC0-BF9C-E1063E557098}"/>
              </a:ext>
            </a:extLst>
          </p:cNvPr>
          <p:cNvGraphicFramePr>
            <a:graphicFrameLocks noGrp="1"/>
          </p:cNvGraphicFramePr>
          <p:nvPr>
            <p:extLst>
              <p:ext uri="{D42A27DB-BD31-4B8C-83A1-F6EECF244321}">
                <p14:modId xmlns:p14="http://schemas.microsoft.com/office/powerpoint/2010/main" val="1907692145"/>
              </p:ext>
            </p:extLst>
          </p:nvPr>
        </p:nvGraphicFramePr>
        <p:xfrm>
          <a:off x="623219" y="2715325"/>
          <a:ext cx="10497445" cy="3383153"/>
        </p:xfrm>
        <a:graphic>
          <a:graphicData uri="http://schemas.openxmlformats.org/drawingml/2006/table">
            <a:tbl>
              <a:tblPr firstRow="1" bandRow="1">
                <a:tableStyleId>{D27102A9-8310-4765-A935-A1911B00CA55}</a:tableStyleId>
              </a:tblPr>
              <a:tblGrid>
                <a:gridCol w="2099489">
                  <a:extLst>
                    <a:ext uri="{9D8B030D-6E8A-4147-A177-3AD203B41FA5}">
                      <a16:colId xmlns:a16="http://schemas.microsoft.com/office/drawing/2014/main" val="1293150969"/>
                    </a:ext>
                  </a:extLst>
                </a:gridCol>
                <a:gridCol w="2099489">
                  <a:extLst>
                    <a:ext uri="{9D8B030D-6E8A-4147-A177-3AD203B41FA5}">
                      <a16:colId xmlns:a16="http://schemas.microsoft.com/office/drawing/2014/main" val="2239407222"/>
                    </a:ext>
                  </a:extLst>
                </a:gridCol>
                <a:gridCol w="2099489">
                  <a:extLst>
                    <a:ext uri="{9D8B030D-6E8A-4147-A177-3AD203B41FA5}">
                      <a16:colId xmlns:a16="http://schemas.microsoft.com/office/drawing/2014/main" val="225172937"/>
                    </a:ext>
                  </a:extLst>
                </a:gridCol>
                <a:gridCol w="2099489">
                  <a:extLst>
                    <a:ext uri="{9D8B030D-6E8A-4147-A177-3AD203B41FA5}">
                      <a16:colId xmlns:a16="http://schemas.microsoft.com/office/drawing/2014/main" val="2989606590"/>
                    </a:ext>
                  </a:extLst>
                </a:gridCol>
                <a:gridCol w="2099489">
                  <a:extLst>
                    <a:ext uri="{9D8B030D-6E8A-4147-A177-3AD203B41FA5}">
                      <a16:colId xmlns:a16="http://schemas.microsoft.com/office/drawing/2014/main" val="203172771"/>
                    </a:ext>
                  </a:extLst>
                </a:gridCol>
              </a:tblGrid>
              <a:tr h="169816">
                <a:tc gridSpan="2">
                  <a:txBody>
                    <a:bodyPr/>
                    <a:lstStyle/>
                    <a:p>
                      <a:r>
                        <a:rPr lang="en-US" sz="1600" dirty="0"/>
                        <a:t>Videos functions</a:t>
                      </a:r>
                    </a:p>
                  </a:txBody>
                  <a:tcPr/>
                </a:tc>
                <a:tc hMerge="1">
                  <a:txBody>
                    <a:bodyPr/>
                    <a:lstStyle/>
                    <a:p>
                      <a:endParaRPr lang="en-US"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val="979508014"/>
                  </a:ext>
                </a:extLst>
              </a:tr>
              <a:tr h="0">
                <a:tc>
                  <a:txBody>
                    <a:bodyPr/>
                    <a:lstStyle/>
                    <a:p>
                      <a:r>
                        <a:rPr lang="en-US" sz="1600" dirty="0" err="1"/>
                        <a:t>addS</a:t>
                      </a:r>
                      <a:endParaRPr lang="en-US" sz="1600" dirty="0"/>
                    </a:p>
                  </a:txBody>
                  <a:tcPr/>
                </a:tc>
                <a:tc>
                  <a:txBody>
                    <a:bodyPr/>
                    <a:lstStyle/>
                    <a:p>
                      <a:r>
                        <a:rPr lang="en-US" sz="1600" dirty="0" err="1"/>
                        <a:t>AddWeighted</a:t>
                      </a:r>
                      <a:endParaRPr lang="en-US" sz="1600" dirty="0"/>
                    </a:p>
                  </a:txBody>
                  <a:tcPr/>
                </a:tc>
                <a:tc>
                  <a:txBody>
                    <a:bodyPr/>
                    <a:lstStyle/>
                    <a:p>
                      <a:r>
                        <a:rPr lang="en-US" sz="1600" dirty="0" err="1"/>
                        <a:t>Cmp</a:t>
                      </a:r>
                      <a:endParaRPr lang="en-US" sz="1600" dirty="0"/>
                    </a:p>
                  </a:txBody>
                  <a:tcPr/>
                </a:tc>
                <a:tc>
                  <a:txBody>
                    <a:bodyPr/>
                    <a:lstStyle/>
                    <a:p>
                      <a:r>
                        <a:rPr lang="en-US" sz="1600" dirty="0" err="1"/>
                        <a:t>CmpS</a:t>
                      </a:r>
                      <a:endParaRPr lang="en-US" sz="1600" dirty="0"/>
                    </a:p>
                  </a:txBody>
                  <a:tcPr/>
                </a:tc>
                <a:tc>
                  <a:txBody>
                    <a:bodyPr/>
                    <a:lstStyle/>
                    <a:p>
                      <a:r>
                        <a:rPr lang="en-US" sz="1600" dirty="0"/>
                        <a:t>Max</a:t>
                      </a:r>
                    </a:p>
                  </a:txBody>
                  <a:tcPr/>
                </a:tc>
                <a:extLst>
                  <a:ext uri="{0D108BD9-81ED-4DB2-BD59-A6C34878D82A}">
                    <a16:rowId xmlns:a16="http://schemas.microsoft.com/office/drawing/2014/main" val="3999701613"/>
                  </a:ext>
                </a:extLst>
              </a:tr>
              <a:tr h="0">
                <a:tc>
                  <a:txBody>
                    <a:bodyPr/>
                    <a:lstStyle/>
                    <a:p>
                      <a:r>
                        <a:rPr lang="en-US" sz="1600" dirty="0" err="1"/>
                        <a:t>MaxS</a:t>
                      </a:r>
                      <a:endParaRPr lang="en-US" sz="1600" dirty="0"/>
                    </a:p>
                  </a:txBody>
                  <a:tcPr/>
                </a:tc>
                <a:tc>
                  <a:txBody>
                    <a:bodyPr/>
                    <a:lstStyle/>
                    <a:p>
                      <a:r>
                        <a:rPr lang="en-US" sz="1600" dirty="0"/>
                        <a:t>Min</a:t>
                      </a:r>
                    </a:p>
                  </a:txBody>
                  <a:tcPr/>
                </a:tc>
                <a:tc>
                  <a:txBody>
                    <a:bodyPr/>
                    <a:lstStyle/>
                    <a:p>
                      <a:r>
                        <a:rPr lang="en-US" sz="1600" dirty="0" err="1"/>
                        <a:t>MinS</a:t>
                      </a:r>
                      <a:endParaRPr lang="en-US" sz="1600" dirty="0"/>
                    </a:p>
                  </a:txBody>
                  <a:tcPr/>
                </a:tc>
                <a:tc>
                  <a:txBody>
                    <a:bodyPr/>
                    <a:lstStyle/>
                    <a:p>
                      <a:r>
                        <a:rPr lang="en-US" sz="1600" dirty="0" err="1"/>
                        <a:t>PaintMask</a:t>
                      </a:r>
                      <a:r>
                        <a:rPr lang="en-US" sz="1600" dirty="0"/>
                        <a:t>	</a:t>
                      </a:r>
                    </a:p>
                  </a:txBody>
                  <a:tcPr/>
                </a:tc>
                <a:tc>
                  <a:txBody>
                    <a:bodyPr/>
                    <a:lstStyle/>
                    <a:p>
                      <a:r>
                        <a:rPr lang="en-US" sz="1600" dirty="0"/>
                        <a:t>Reduce</a:t>
                      </a:r>
                    </a:p>
                  </a:txBody>
                  <a:tcPr/>
                </a:tc>
                <a:extLst>
                  <a:ext uri="{0D108BD9-81ED-4DB2-BD59-A6C34878D82A}">
                    <a16:rowId xmlns:a16="http://schemas.microsoft.com/office/drawing/2014/main" val="44957819"/>
                  </a:ext>
                </a:extLst>
              </a:tr>
              <a:tr h="0">
                <a:tc>
                  <a:txBody>
                    <a:bodyPr/>
                    <a:lstStyle/>
                    <a:p>
                      <a:r>
                        <a:rPr lang="en-US" sz="1600" dirty="0"/>
                        <a:t>Zero</a:t>
                      </a:r>
                    </a:p>
                  </a:txBody>
                  <a:tcPr/>
                </a:tc>
                <a:tc>
                  <a:txBody>
                    <a:bodyPr/>
                    <a:lstStyle/>
                    <a:p>
                      <a:r>
                        <a:rPr lang="en-US" sz="1600" dirty="0"/>
                        <a:t>Sum</a:t>
                      </a:r>
                    </a:p>
                  </a:txBody>
                  <a:tcPr/>
                </a:tc>
                <a:tc>
                  <a:txBody>
                    <a:bodyPr/>
                    <a:lstStyle/>
                    <a:p>
                      <a:r>
                        <a:rPr lang="en-US" sz="1600" dirty="0" err="1"/>
                        <a:t>SubS</a:t>
                      </a:r>
                      <a:endParaRPr lang="en-US" sz="1600" dirty="0"/>
                    </a:p>
                  </a:txBody>
                  <a:tcPr/>
                </a:tc>
                <a:tc>
                  <a:txBody>
                    <a:bodyPr/>
                    <a:lstStyle/>
                    <a:p>
                      <a:r>
                        <a:rPr lang="en-US" sz="1600" dirty="0" err="1"/>
                        <a:t>SubRS</a:t>
                      </a:r>
                      <a:endParaRPr lang="en-US" sz="1600" dirty="0"/>
                    </a:p>
                  </a:txBody>
                  <a:tcPr/>
                </a:tc>
                <a:tc>
                  <a:txBody>
                    <a:bodyPr/>
                    <a:lstStyle/>
                    <a:p>
                      <a:r>
                        <a:rPr lang="en-US" sz="1600" dirty="0"/>
                        <a:t>Set</a:t>
                      </a:r>
                    </a:p>
                  </a:txBody>
                  <a:tcPr/>
                </a:tc>
                <a:extLst>
                  <a:ext uri="{0D108BD9-81ED-4DB2-BD59-A6C34878D82A}">
                    <a16:rowId xmlns:a16="http://schemas.microsoft.com/office/drawing/2014/main" val="2542122610"/>
                  </a:ext>
                </a:extLst>
              </a:tr>
              <a:tr h="0">
                <a:tc>
                  <a:txBody>
                    <a:bodyPr/>
                    <a:lstStyle/>
                    <a:p>
                      <a:r>
                        <a:rPr lang="en-US" sz="1600" dirty="0" err="1"/>
                        <a:t>Absdiff</a:t>
                      </a:r>
                      <a:endParaRPr lang="en-US" sz="1600" dirty="0"/>
                    </a:p>
                  </a:txBody>
                  <a:tcPr/>
                </a:tc>
                <a:tc>
                  <a:txBody>
                    <a:bodyPr/>
                    <a:lstStyle/>
                    <a:p>
                      <a:r>
                        <a:rPr lang="en-US" sz="1600" dirty="0"/>
                        <a:t>And</a:t>
                      </a:r>
                    </a:p>
                  </a:txBody>
                  <a:tcPr/>
                </a:tc>
                <a:tc>
                  <a:txBody>
                    <a:bodyPr/>
                    <a:lstStyle/>
                    <a:p>
                      <a:r>
                        <a:rPr lang="en-US" sz="1600" dirty="0"/>
                        <a:t>Dilate</a:t>
                      </a:r>
                    </a:p>
                  </a:txBody>
                  <a:tcPr/>
                </a:tc>
                <a:tc>
                  <a:txBody>
                    <a:bodyPr/>
                    <a:lstStyle/>
                    <a:p>
                      <a:r>
                        <a:rPr lang="en-US" sz="1600" dirty="0"/>
                        <a:t>Duplicate</a:t>
                      </a:r>
                    </a:p>
                  </a:txBody>
                  <a:tcPr/>
                </a:tc>
                <a:tc>
                  <a:txBody>
                    <a:bodyPr/>
                    <a:lstStyle/>
                    <a:p>
                      <a:r>
                        <a:rPr lang="en-US" sz="1600" dirty="0" err="1"/>
                        <a:t>EqualizeHist</a:t>
                      </a:r>
                      <a:endParaRPr lang="en-US" sz="1600" dirty="0"/>
                    </a:p>
                  </a:txBody>
                  <a:tcPr/>
                </a:tc>
                <a:extLst>
                  <a:ext uri="{0D108BD9-81ED-4DB2-BD59-A6C34878D82A}">
                    <a16:rowId xmlns:a16="http://schemas.microsoft.com/office/drawing/2014/main" val="1026300422"/>
                  </a:ext>
                </a:extLst>
              </a:tr>
              <a:tr h="0">
                <a:tc>
                  <a:txBody>
                    <a:bodyPr/>
                    <a:lstStyle/>
                    <a:p>
                      <a:r>
                        <a:rPr lang="en-US" sz="1600" dirty="0"/>
                        <a:t>erode</a:t>
                      </a:r>
                    </a:p>
                  </a:txBody>
                  <a:tcPr/>
                </a:tc>
                <a:tc>
                  <a:txBody>
                    <a:bodyPr/>
                    <a:lstStyle/>
                    <a:p>
                      <a:r>
                        <a:rPr lang="en-US" sz="1600" dirty="0"/>
                        <a:t>FASTX</a:t>
                      </a:r>
                    </a:p>
                  </a:txBody>
                  <a:tcPr/>
                </a:tc>
                <a:tc>
                  <a:txBody>
                    <a:bodyPr/>
                    <a:lstStyle/>
                    <a:p>
                      <a:r>
                        <a:rPr lang="en-US" sz="1600" dirty="0"/>
                        <a:t>Filter2D</a:t>
                      </a:r>
                    </a:p>
                  </a:txBody>
                  <a:tcPr/>
                </a:tc>
                <a:tc>
                  <a:txBody>
                    <a:bodyPr/>
                    <a:lstStyle/>
                    <a:p>
                      <a:r>
                        <a:rPr lang="en-US" sz="1600" dirty="0" err="1"/>
                        <a:t>GaussianBlur</a:t>
                      </a:r>
                      <a:endParaRPr lang="en-US" sz="1600" dirty="0"/>
                    </a:p>
                  </a:txBody>
                  <a:tcPr/>
                </a:tc>
                <a:tc>
                  <a:txBody>
                    <a:bodyPr/>
                    <a:lstStyle/>
                    <a:p>
                      <a:r>
                        <a:rPr lang="en-US" sz="1600" dirty="0"/>
                        <a:t>Harris</a:t>
                      </a:r>
                    </a:p>
                  </a:txBody>
                  <a:tcPr/>
                </a:tc>
                <a:extLst>
                  <a:ext uri="{0D108BD9-81ED-4DB2-BD59-A6C34878D82A}">
                    <a16:rowId xmlns:a16="http://schemas.microsoft.com/office/drawing/2014/main" val="2672163720"/>
                  </a:ext>
                </a:extLst>
              </a:tr>
              <a:tr h="0">
                <a:tc>
                  <a:txBody>
                    <a:bodyPr/>
                    <a:lstStyle/>
                    <a:p>
                      <a:r>
                        <a:rPr lang="en-US" sz="1600" dirty="0" err="1"/>
                        <a:t>CornerHarris</a:t>
                      </a:r>
                      <a:endParaRPr lang="en-US" sz="1600" dirty="0"/>
                    </a:p>
                  </a:txBody>
                  <a:tcPr/>
                </a:tc>
                <a:tc>
                  <a:txBody>
                    <a:bodyPr/>
                    <a:lstStyle/>
                    <a:p>
                      <a:r>
                        <a:rPr lang="en-US" sz="1600" dirty="0"/>
                        <a:t>HoughLines2</a:t>
                      </a:r>
                    </a:p>
                  </a:txBody>
                  <a:tcPr/>
                </a:tc>
                <a:tc>
                  <a:txBody>
                    <a:bodyPr/>
                    <a:lstStyle/>
                    <a:p>
                      <a:r>
                        <a:rPr lang="en-US" sz="1600" dirty="0"/>
                        <a:t>Integral</a:t>
                      </a:r>
                    </a:p>
                  </a:txBody>
                  <a:tcPr/>
                </a:tc>
                <a:tc>
                  <a:txBody>
                    <a:bodyPr/>
                    <a:lstStyle/>
                    <a:p>
                      <a:r>
                        <a:rPr lang="en-US" sz="1600" dirty="0"/>
                        <a:t>Merge</a:t>
                      </a:r>
                    </a:p>
                  </a:txBody>
                  <a:tcPr/>
                </a:tc>
                <a:tc>
                  <a:txBody>
                    <a:bodyPr/>
                    <a:lstStyle/>
                    <a:p>
                      <a:r>
                        <a:rPr lang="en-US" sz="1799" b="0" i="0" kern="1200" dirty="0" err="1">
                          <a:solidFill>
                            <a:schemeClr val="tx1"/>
                          </a:solidFill>
                          <a:effectLst/>
                          <a:latin typeface="+mn-lt"/>
                          <a:ea typeface="+mn-ea"/>
                          <a:cs typeface="+mn-cs"/>
                        </a:rPr>
                        <a:t>MinMaxLoc</a:t>
                      </a:r>
                      <a:endParaRPr lang="en-US" sz="1600" dirty="0"/>
                    </a:p>
                  </a:txBody>
                  <a:tcPr/>
                </a:tc>
                <a:extLst>
                  <a:ext uri="{0D108BD9-81ED-4DB2-BD59-A6C34878D82A}">
                    <a16:rowId xmlns:a16="http://schemas.microsoft.com/office/drawing/2014/main" val="4068527856"/>
                  </a:ext>
                </a:extLst>
              </a:tr>
              <a:tr h="0">
                <a:tc>
                  <a:txBody>
                    <a:bodyPr/>
                    <a:lstStyle/>
                    <a:p>
                      <a:r>
                        <a:rPr lang="en-US" sz="1600" dirty="0" err="1"/>
                        <a:t>Mul</a:t>
                      </a:r>
                      <a:endParaRPr lang="en-US" sz="1600" dirty="0"/>
                    </a:p>
                  </a:txBody>
                  <a:tcPr/>
                </a:tc>
                <a:tc>
                  <a:txBody>
                    <a:bodyPr/>
                    <a:lstStyle/>
                    <a:p>
                      <a:r>
                        <a:rPr lang="en-US" sz="1600" dirty="0"/>
                        <a:t>Not</a:t>
                      </a:r>
                    </a:p>
                  </a:txBody>
                  <a:tcPr/>
                </a:tc>
                <a:tc>
                  <a:txBody>
                    <a:bodyPr/>
                    <a:lstStyle/>
                    <a:p>
                      <a:r>
                        <a:rPr lang="en-US" sz="1600" dirty="0"/>
                        <a:t>Range</a:t>
                      </a:r>
                    </a:p>
                  </a:txBody>
                  <a:tcPr/>
                </a:tc>
                <a:tc>
                  <a:txBody>
                    <a:bodyPr/>
                    <a:lstStyle/>
                    <a:p>
                      <a:r>
                        <a:rPr lang="en-US" sz="1600" dirty="0"/>
                        <a:t>Resize</a:t>
                      </a:r>
                    </a:p>
                  </a:txBody>
                  <a:tcPr/>
                </a:tc>
                <a:tc>
                  <a:txBody>
                    <a:bodyPr/>
                    <a:lstStyle/>
                    <a:p>
                      <a:r>
                        <a:rPr lang="en-US" sz="1600" dirty="0" err="1"/>
                        <a:t>sobel</a:t>
                      </a:r>
                      <a:endParaRPr lang="en-US" sz="1600" dirty="0"/>
                    </a:p>
                  </a:txBody>
                  <a:tcPr/>
                </a:tc>
                <a:extLst>
                  <a:ext uri="{0D108BD9-81ED-4DB2-BD59-A6C34878D82A}">
                    <a16:rowId xmlns:a16="http://schemas.microsoft.com/office/drawing/2014/main" val="443224137"/>
                  </a:ext>
                </a:extLst>
              </a:tr>
              <a:tr h="0">
                <a:tc>
                  <a:txBody>
                    <a:bodyPr/>
                    <a:lstStyle/>
                    <a:p>
                      <a:r>
                        <a:rPr lang="en-US" sz="1600" dirty="0"/>
                        <a:t>split</a:t>
                      </a:r>
                    </a:p>
                  </a:txBody>
                  <a:tcPr/>
                </a:tc>
                <a:tc>
                  <a:txBody>
                    <a:bodyPr/>
                    <a:lstStyle/>
                    <a:p>
                      <a:r>
                        <a:rPr lang="en-US" sz="1600" dirty="0"/>
                        <a:t>Threshold</a:t>
                      </a:r>
                    </a:p>
                  </a:txBody>
                  <a:tcPr/>
                </a:tc>
                <a:tc>
                  <a:txBody>
                    <a:bodyPr/>
                    <a:lstStyle/>
                    <a:p>
                      <a:r>
                        <a:rPr lang="en-US" sz="1600" dirty="0"/>
                        <a:t>Scale</a:t>
                      </a:r>
                    </a:p>
                  </a:txBody>
                  <a:tcPr/>
                </a:tc>
                <a:tc>
                  <a:txBody>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lang="en-US" sz="1600" dirty="0" err="1"/>
                        <a:t>CvtColor</a:t>
                      </a:r>
                      <a:endParaRPr lang="en-US" sz="1600" dirty="0"/>
                    </a:p>
                  </a:txBody>
                  <a:tcPr/>
                </a:tc>
                <a:tc>
                  <a:txBody>
                    <a:bodyPr/>
                    <a:lstStyle/>
                    <a:p>
                      <a:endParaRPr lang="en-US" sz="1600" dirty="0"/>
                    </a:p>
                  </a:txBody>
                  <a:tcPr/>
                </a:tc>
                <a:extLst>
                  <a:ext uri="{0D108BD9-81ED-4DB2-BD59-A6C34878D82A}">
                    <a16:rowId xmlns:a16="http://schemas.microsoft.com/office/drawing/2014/main" val="2313785467"/>
                  </a:ext>
                </a:extLst>
              </a:tr>
              <a:tr h="0">
                <a:tc gridSpan="3">
                  <a:txBody>
                    <a:bodyPr/>
                    <a:lstStyle/>
                    <a:p>
                      <a:r>
                        <a:rPr lang="en-US" sz="1600" dirty="0" err="1"/>
                        <a:t>InitUndistortRectifyMapInverse</a:t>
                      </a:r>
                      <a:endParaRPr lang="en-US" sz="1600" dirty="0"/>
                    </a:p>
                  </a:txBody>
                  <a:tcPr/>
                </a:tc>
                <a:tc hMerge="1">
                  <a:txBody>
                    <a:bodyPr/>
                    <a:lstStyle/>
                    <a:p>
                      <a:endParaRPr lang="en-US" sz="1600" dirty="0"/>
                    </a:p>
                  </a:txBody>
                  <a:tcPr/>
                </a:tc>
                <a:tc hMerge="1">
                  <a:txBody>
                    <a:bodyPr/>
                    <a:lstStyle/>
                    <a:p>
                      <a:endParaRPr lang="en-US" sz="1600" dirty="0"/>
                    </a:p>
                  </a:txBody>
                  <a:tcPr/>
                </a:tc>
                <a:tc gridSpan="2">
                  <a:txBody>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lang="en-US" sz="1600" dirty="0"/>
                        <a:t>Avg, mean, </a:t>
                      </a:r>
                      <a:r>
                        <a:rPr lang="en-US" sz="1600" dirty="0" err="1"/>
                        <a:t>AvgStddev</a:t>
                      </a:r>
                      <a:endParaRPr lang="en-US" sz="1600" dirty="0"/>
                    </a:p>
                  </a:txBody>
                  <a:tcPr/>
                </a:tc>
                <a:tc hMerge="1">
                  <a:txBody>
                    <a:bodyPr/>
                    <a:lstStyle/>
                    <a:p>
                      <a:endParaRPr lang="en-US" sz="1600" dirty="0"/>
                    </a:p>
                  </a:txBody>
                  <a:tcPr/>
                </a:tc>
                <a:extLst>
                  <a:ext uri="{0D108BD9-81ED-4DB2-BD59-A6C34878D82A}">
                    <a16:rowId xmlns:a16="http://schemas.microsoft.com/office/drawing/2014/main" val="2440928803"/>
                  </a:ext>
                </a:extLst>
              </a:tr>
            </a:tbl>
          </a:graphicData>
        </a:graphic>
      </p:graphicFrame>
    </p:spTree>
    <p:extLst>
      <p:ext uri="{BB962C8B-B14F-4D97-AF65-F5344CB8AC3E}">
        <p14:creationId xmlns:p14="http://schemas.microsoft.com/office/powerpoint/2010/main" val="405854517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Video Library Supported Functions</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109</a:t>
            </a:fld>
            <a:endParaRPr lang="en-US" dirty="0">
              <a:solidFill>
                <a:srgbClr val="0C0C0C">
                  <a:tint val="75000"/>
                </a:srgbClr>
              </a:solidFill>
              <a:latin typeface="Arial"/>
            </a:endParaRPr>
          </a:p>
        </p:txBody>
      </p:sp>
      <p:pic>
        <p:nvPicPr>
          <p:cNvPr id="3074" name="Picture 2"/>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482179" y="1033465"/>
            <a:ext cx="8163133" cy="55054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4" name="Table 4">
            <a:extLst>
              <a:ext uri="{FF2B5EF4-FFF2-40B4-BE49-F238E27FC236}">
                <a16:creationId xmlns:a16="http://schemas.microsoft.com/office/drawing/2014/main" id="{F3460A92-1B2C-4264-8A7C-D672F8AE4046}"/>
              </a:ext>
            </a:extLst>
          </p:cNvPr>
          <p:cNvGraphicFramePr>
            <a:graphicFrameLocks noGrp="1"/>
          </p:cNvGraphicFramePr>
          <p:nvPr/>
        </p:nvGraphicFramePr>
        <p:xfrm>
          <a:off x="623218" y="1033464"/>
          <a:ext cx="4913756" cy="670560"/>
        </p:xfrm>
        <a:graphic>
          <a:graphicData uri="http://schemas.openxmlformats.org/drawingml/2006/table">
            <a:tbl>
              <a:tblPr firstRow="1" bandRow="1">
                <a:tableStyleId>{D27102A9-8310-4765-A935-A1911B00CA55}</a:tableStyleId>
              </a:tblPr>
              <a:tblGrid>
                <a:gridCol w="2456878">
                  <a:extLst>
                    <a:ext uri="{9D8B030D-6E8A-4147-A177-3AD203B41FA5}">
                      <a16:colId xmlns:a16="http://schemas.microsoft.com/office/drawing/2014/main" val="1293150969"/>
                    </a:ext>
                  </a:extLst>
                </a:gridCol>
                <a:gridCol w="2456878">
                  <a:extLst>
                    <a:ext uri="{9D8B030D-6E8A-4147-A177-3AD203B41FA5}">
                      <a16:colId xmlns:a16="http://schemas.microsoft.com/office/drawing/2014/main" val="2239407222"/>
                    </a:ext>
                  </a:extLst>
                </a:gridCol>
              </a:tblGrid>
              <a:tr h="182886">
                <a:tc gridSpan="2">
                  <a:txBody>
                    <a:bodyPr/>
                    <a:lstStyle/>
                    <a:p>
                      <a:r>
                        <a:rPr lang="en-US" sz="1600" dirty="0"/>
                        <a:t>Video Data Modeling</a:t>
                      </a:r>
                    </a:p>
                  </a:txBody>
                  <a:tcPr/>
                </a:tc>
                <a:tc hMerge="1">
                  <a:txBody>
                    <a:bodyPr/>
                    <a:lstStyle/>
                    <a:p>
                      <a:endParaRPr lang="en-US" dirty="0"/>
                    </a:p>
                  </a:txBody>
                  <a:tcPr/>
                </a:tc>
                <a:extLst>
                  <a:ext uri="{0D108BD9-81ED-4DB2-BD59-A6C34878D82A}">
                    <a16:rowId xmlns:a16="http://schemas.microsoft.com/office/drawing/2014/main" val="979508014"/>
                  </a:ext>
                </a:extLst>
              </a:tr>
              <a:tr h="320035">
                <a:tc>
                  <a:txBody>
                    <a:bodyPr/>
                    <a:lstStyle/>
                    <a:p>
                      <a:r>
                        <a:rPr lang="en-US" sz="1600" dirty="0"/>
                        <a:t>Memory Window Buffer</a:t>
                      </a:r>
                    </a:p>
                  </a:txBody>
                  <a:tcPr/>
                </a:tc>
                <a:tc>
                  <a:txBody>
                    <a:bodyPr/>
                    <a:lstStyle/>
                    <a:p>
                      <a:r>
                        <a:rPr lang="en-US" sz="1600" dirty="0"/>
                        <a:t>Memory Line Buffer</a:t>
                      </a:r>
                    </a:p>
                  </a:txBody>
                  <a:tcPr/>
                </a:tc>
                <a:extLst>
                  <a:ext uri="{0D108BD9-81ED-4DB2-BD59-A6C34878D82A}">
                    <a16:rowId xmlns:a16="http://schemas.microsoft.com/office/drawing/2014/main" val="3999701613"/>
                  </a:ext>
                </a:extLst>
              </a:tr>
            </a:tbl>
          </a:graphicData>
        </a:graphic>
      </p:graphicFrame>
      <p:graphicFrame>
        <p:nvGraphicFramePr>
          <p:cNvPr id="7" name="Table 4">
            <a:extLst>
              <a:ext uri="{FF2B5EF4-FFF2-40B4-BE49-F238E27FC236}">
                <a16:creationId xmlns:a16="http://schemas.microsoft.com/office/drawing/2014/main" id="{5B9BD53F-9ACC-469F-9EEB-86CB2FB009D3}"/>
              </a:ext>
            </a:extLst>
          </p:cNvPr>
          <p:cNvGraphicFramePr>
            <a:graphicFrameLocks noGrp="1"/>
          </p:cNvGraphicFramePr>
          <p:nvPr/>
        </p:nvGraphicFramePr>
        <p:xfrm>
          <a:off x="6206907" y="1221612"/>
          <a:ext cx="4913756" cy="1005840"/>
        </p:xfrm>
        <a:graphic>
          <a:graphicData uri="http://schemas.openxmlformats.org/drawingml/2006/table">
            <a:tbl>
              <a:tblPr firstRow="1" bandRow="1">
                <a:tableStyleId>{D27102A9-8310-4765-A935-A1911B00CA55}</a:tableStyleId>
              </a:tblPr>
              <a:tblGrid>
                <a:gridCol w="2456878">
                  <a:extLst>
                    <a:ext uri="{9D8B030D-6E8A-4147-A177-3AD203B41FA5}">
                      <a16:colId xmlns:a16="http://schemas.microsoft.com/office/drawing/2014/main" val="1293150969"/>
                    </a:ext>
                  </a:extLst>
                </a:gridCol>
                <a:gridCol w="2456878">
                  <a:extLst>
                    <a:ext uri="{9D8B030D-6E8A-4147-A177-3AD203B41FA5}">
                      <a16:colId xmlns:a16="http://schemas.microsoft.com/office/drawing/2014/main" val="2239407222"/>
                    </a:ext>
                  </a:extLst>
                </a:gridCol>
              </a:tblGrid>
              <a:tr h="182886">
                <a:tc gridSpan="2">
                  <a:txBody>
                    <a:bodyPr/>
                    <a:lstStyle/>
                    <a:p>
                      <a:r>
                        <a:rPr lang="en-US" sz="1600" dirty="0"/>
                        <a:t>AXI4-Stream I/O Functions</a:t>
                      </a:r>
                    </a:p>
                  </a:txBody>
                  <a:tcPr/>
                </a:tc>
                <a:tc hMerge="1">
                  <a:txBody>
                    <a:bodyPr/>
                    <a:lstStyle/>
                    <a:p>
                      <a:endParaRPr lang="en-US" dirty="0"/>
                    </a:p>
                  </a:txBody>
                  <a:tcPr/>
                </a:tc>
                <a:extLst>
                  <a:ext uri="{0D108BD9-81ED-4DB2-BD59-A6C34878D82A}">
                    <a16:rowId xmlns:a16="http://schemas.microsoft.com/office/drawing/2014/main" val="979508014"/>
                  </a:ext>
                </a:extLst>
              </a:tr>
              <a:tr h="320035">
                <a:tc>
                  <a:txBody>
                    <a:bodyPr/>
                    <a:lstStyle/>
                    <a:p>
                      <a:r>
                        <a:rPr lang="en-US" sz="1600" dirty="0"/>
                        <a:t>AXIvideo2xfMat</a:t>
                      </a:r>
                    </a:p>
                  </a:txBody>
                  <a:tcPr/>
                </a:tc>
                <a:tc>
                  <a:txBody>
                    <a:bodyPr/>
                    <a:lstStyle/>
                    <a:p>
                      <a:r>
                        <a:rPr lang="en-US" sz="1600" dirty="0"/>
                        <a:t>xfMat2AXIvideo</a:t>
                      </a:r>
                    </a:p>
                  </a:txBody>
                  <a:tcPr/>
                </a:tc>
                <a:extLst>
                  <a:ext uri="{0D108BD9-81ED-4DB2-BD59-A6C34878D82A}">
                    <a16:rowId xmlns:a16="http://schemas.microsoft.com/office/drawing/2014/main" val="3999701613"/>
                  </a:ext>
                </a:extLst>
              </a:tr>
              <a:tr h="320035">
                <a:tc>
                  <a:txBody>
                    <a:bodyPr/>
                    <a:lstStyle/>
                    <a:p>
                      <a:r>
                        <a:rPr lang="en-US" sz="1600" dirty="0"/>
                        <a:t>cvMat2AXIvideoxf</a:t>
                      </a:r>
                    </a:p>
                  </a:txBody>
                  <a:tcPr/>
                </a:tc>
                <a:tc>
                  <a:txBody>
                    <a:bodyPr/>
                    <a:lstStyle/>
                    <a:p>
                      <a:r>
                        <a:rPr lang="en-US" sz="1600" dirty="0"/>
                        <a:t>AXIvideo2cvMatxf</a:t>
                      </a:r>
                    </a:p>
                  </a:txBody>
                  <a:tcPr/>
                </a:tc>
                <a:extLst>
                  <a:ext uri="{0D108BD9-81ED-4DB2-BD59-A6C34878D82A}">
                    <a16:rowId xmlns:a16="http://schemas.microsoft.com/office/drawing/2014/main" val="82713413"/>
                  </a:ext>
                </a:extLst>
              </a:tr>
            </a:tbl>
          </a:graphicData>
        </a:graphic>
      </p:graphicFrame>
      <p:graphicFrame>
        <p:nvGraphicFramePr>
          <p:cNvPr id="8" name="Table 4">
            <a:extLst>
              <a:ext uri="{FF2B5EF4-FFF2-40B4-BE49-F238E27FC236}">
                <a16:creationId xmlns:a16="http://schemas.microsoft.com/office/drawing/2014/main" id="{B906E368-D751-4D64-B2C2-FF44AB531F38}"/>
              </a:ext>
            </a:extLst>
          </p:cNvPr>
          <p:cNvGraphicFramePr>
            <a:graphicFrameLocks noGrp="1"/>
          </p:cNvGraphicFramePr>
          <p:nvPr/>
        </p:nvGraphicFramePr>
        <p:xfrm>
          <a:off x="623218" y="1874394"/>
          <a:ext cx="4913756" cy="670560"/>
        </p:xfrm>
        <a:graphic>
          <a:graphicData uri="http://schemas.openxmlformats.org/drawingml/2006/table">
            <a:tbl>
              <a:tblPr firstRow="1" bandRow="1">
                <a:tableStyleId>{D27102A9-8310-4765-A935-A1911B00CA55}</a:tableStyleId>
              </a:tblPr>
              <a:tblGrid>
                <a:gridCol w="2456878">
                  <a:extLst>
                    <a:ext uri="{9D8B030D-6E8A-4147-A177-3AD203B41FA5}">
                      <a16:colId xmlns:a16="http://schemas.microsoft.com/office/drawing/2014/main" val="1293150969"/>
                    </a:ext>
                  </a:extLst>
                </a:gridCol>
                <a:gridCol w="2456878">
                  <a:extLst>
                    <a:ext uri="{9D8B030D-6E8A-4147-A177-3AD203B41FA5}">
                      <a16:colId xmlns:a16="http://schemas.microsoft.com/office/drawing/2014/main" val="2239407222"/>
                    </a:ext>
                  </a:extLst>
                </a:gridCol>
              </a:tblGrid>
              <a:tr h="182886">
                <a:tc gridSpan="2">
                  <a:txBody>
                    <a:bodyPr/>
                    <a:lstStyle/>
                    <a:p>
                      <a:r>
                        <a:rPr lang="en-US" sz="1600" dirty="0"/>
                        <a:t>OpenCV interface functions</a:t>
                      </a:r>
                    </a:p>
                  </a:txBody>
                  <a:tcPr/>
                </a:tc>
                <a:tc hMerge="1">
                  <a:txBody>
                    <a:bodyPr/>
                    <a:lstStyle/>
                    <a:p>
                      <a:endParaRPr lang="en-US" dirty="0"/>
                    </a:p>
                  </a:txBody>
                  <a:tcPr/>
                </a:tc>
                <a:extLst>
                  <a:ext uri="{0D108BD9-81ED-4DB2-BD59-A6C34878D82A}">
                    <a16:rowId xmlns:a16="http://schemas.microsoft.com/office/drawing/2014/main" val="979508014"/>
                  </a:ext>
                </a:extLst>
              </a:tr>
              <a:tr h="320035">
                <a:tc>
                  <a:txBody>
                    <a:bodyPr/>
                    <a:lstStyle/>
                    <a:p>
                      <a:r>
                        <a:rPr lang="en-US" sz="1600" dirty="0"/>
                        <a:t>cvMat2AXIvideo</a:t>
                      </a:r>
                    </a:p>
                  </a:txBody>
                  <a:tcPr/>
                </a:tc>
                <a:tc>
                  <a:txBody>
                    <a:bodyPr/>
                    <a:lstStyle/>
                    <a:p>
                      <a:r>
                        <a:rPr lang="en-US" sz="1600" dirty="0"/>
                        <a:t>AXIvideo2cvMat</a:t>
                      </a:r>
                    </a:p>
                  </a:txBody>
                  <a:tcPr/>
                </a:tc>
                <a:extLst>
                  <a:ext uri="{0D108BD9-81ED-4DB2-BD59-A6C34878D82A}">
                    <a16:rowId xmlns:a16="http://schemas.microsoft.com/office/drawing/2014/main" val="3999701613"/>
                  </a:ext>
                </a:extLst>
              </a:tr>
            </a:tbl>
          </a:graphicData>
        </a:graphic>
      </p:graphicFrame>
      <p:graphicFrame>
        <p:nvGraphicFramePr>
          <p:cNvPr id="9" name="Table 4">
            <a:extLst>
              <a:ext uri="{FF2B5EF4-FFF2-40B4-BE49-F238E27FC236}">
                <a16:creationId xmlns:a16="http://schemas.microsoft.com/office/drawing/2014/main" id="{5719A106-915C-4FC0-BF9C-E1063E557098}"/>
              </a:ext>
            </a:extLst>
          </p:cNvPr>
          <p:cNvGraphicFramePr>
            <a:graphicFrameLocks noGrp="1"/>
          </p:cNvGraphicFramePr>
          <p:nvPr/>
        </p:nvGraphicFramePr>
        <p:xfrm>
          <a:off x="623219" y="2715325"/>
          <a:ext cx="10497445" cy="3383153"/>
        </p:xfrm>
        <a:graphic>
          <a:graphicData uri="http://schemas.openxmlformats.org/drawingml/2006/table">
            <a:tbl>
              <a:tblPr firstRow="1" bandRow="1">
                <a:tableStyleId>{D27102A9-8310-4765-A935-A1911B00CA55}</a:tableStyleId>
              </a:tblPr>
              <a:tblGrid>
                <a:gridCol w="2099489">
                  <a:extLst>
                    <a:ext uri="{9D8B030D-6E8A-4147-A177-3AD203B41FA5}">
                      <a16:colId xmlns:a16="http://schemas.microsoft.com/office/drawing/2014/main" val="1293150969"/>
                    </a:ext>
                  </a:extLst>
                </a:gridCol>
                <a:gridCol w="2099489">
                  <a:extLst>
                    <a:ext uri="{9D8B030D-6E8A-4147-A177-3AD203B41FA5}">
                      <a16:colId xmlns:a16="http://schemas.microsoft.com/office/drawing/2014/main" val="2239407222"/>
                    </a:ext>
                  </a:extLst>
                </a:gridCol>
                <a:gridCol w="2099489">
                  <a:extLst>
                    <a:ext uri="{9D8B030D-6E8A-4147-A177-3AD203B41FA5}">
                      <a16:colId xmlns:a16="http://schemas.microsoft.com/office/drawing/2014/main" val="225172937"/>
                    </a:ext>
                  </a:extLst>
                </a:gridCol>
                <a:gridCol w="2099489">
                  <a:extLst>
                    <a:ext uri="{9D8B030D-6E8A-4147-A177-3AD203B41FA5}">
                      <a16:colId xmlns:a16="http://schemas.microsoft.com/office/drawing/2014/main" val="2989606590"/>
                    </a:ext>
                  </a:extLst>
                </a:gridCol>
                <a:gridCol w="2099489">
                  <a:extLst>
                    <a:ext uri="{9D8B030D-6E8A-4147-A177-3AD203B41FA5}">
                      <a16:colId xmlns:a16="http://schemas.microsoft.com/office/drawing/2014/main" val="203172771"/>
                    </a:ext>
                  </a:extLst>
                </a:gridCol>
              </a:tblGrid>
              <a:tr h="169816">
                <a:tc gridSpan="2">
                  <a:txBody>
                    <a:bodyPr/>
                    <a:lstStyle/>
                    <a:p>
                      <a:r>
                        <a:rPr lang="en-US" sz="1600" dirty="0"/>
                        <a:t>Videos functions</a:t>
                      </a:r>
                    </a:p>
                  </a:txBody>
                  <a:tcPr/>
                </a:tc>
                <a:tc hMerge="1">
                  <a:txBody>
                    <a:bodyPr/>
                    <a:lstStyle/>
                    <a:p>
                      <a:endParaRPr lang="en-US"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extLst>
                  <a:ext uri="{0D108BD9-81ED-4DB2-BD59-A6C34878D82A}">
                    <a16:rowId xmlns:a16="http://schemas.microsoft.com/office/drawing/2014/main" val="979508014"/>
                  </a:ext>
                </a:extLst>
              </a:tr>
              <a:tr h="0">
                <a:tc>
                  <a:txBody>
                    <a:bodyPr/>
                    <a:lstStyle/>
                    <a:p>
                      <a:r>
                        <a:rPr lang="en-US" sz="1600" dirty="0" err="1"/>
                        <a:t>addS</a:t>
                      </a:r>
                      <a:endParaRPr lang="en-US" sz="1600" dirty="0"/>
                    </a:p>
                  </a:txBody>
                  <a:tcPr/>
                </a:tc>
                <a:tc>
                  <a:txBody>
                    <a:bodyPr/>
                    <a:lstStyle/>
                    <a:p>
                      <a:r>
                        <a:rPr lang="en-US" sz="1600" dirty="0" err="1"/>
                        <a:t>AddWeighted</a:t>
                      </a:r>
                      <a:endParaRPr lang="en-US" sz="1600" dirty="0"/>
                    </a:p>
                  </a:txBody>
                  <a:tcPr/>
                </a:tc>
                <a:tc>
                  <a:txBody>
                    <a:bodyPr/>
                    <a:lstStyle/>
                    <a:p>
                      <a:r>
                        <a:rPr lang="en-US" sz="1600" dirty="0" err="1"/>
                        <a:t>Cmp</a:t>
                      </a:r>
                      <a:endParaRPr lang="en-US" sz="1600" dirty="0"/>
                    </a:p>
                  </a:txBody>
                  <a:tcPr/>
                </a:tc>
                <a:tc>
                  <a:txBody>
                    <a:bodyPr/>
                    <a:lstStyle/>
                    <a:p>
                      <a:r>
                        <a:rPr lang="en-US" sz="1600" dirty="0" err="1"/>
                        <a:t>CmpS</a:t>
                      </a:r>
                      <a:endParaRPr lang="en-US" sz="1600" dirty="0"/>
                    </a:p>
                  </a:txBody>
                  <a:tcPr/>
                </a:tc>
                <a:tc>
                  <a:txBody>
                    <a:bodyPr/>
                    <a:lstStyle/>
                    <a:p>
                      <a:r>
                        <a:rPr lang="en-US" sz="1600" dirty="0"/>
                        <a:t>Max</a:t>
                      </a:r>
                    </a:p>
                  </a:txBody>
                  <a:tcPr/>
                </a:tc>
                <a:extLst>
                  <a:ext uri="{0D108BD9-81ED-4DB2-BD59-A6C34878D82A}">
                    <a16:rowId xmlns:a16="http://schemas.microsoft.com/office/drawing/2014/main" val="3999701613"/>
                  </a:ext>
                </a:extLst>
              </a:tr>
              <a:tr h="0">
                <a:tc>
                  <a:txBody>
                    <a:bodyPr/>
                    <a:lstStyle/>
                    <a:p>
                      <a:r>
                        <a:rPr lang="en-US" sz="1600" dirty="0" err="1"/>
                        <a:t>MaxS</a:t>
                      </a:r>
                      <a:endParaRPr lang="en-US" sz="1600" dirty="0"/>
                    </a:p>
                  </a:txBody>
                  <a:tcPr/>
                </a:tc>
                <a:tc>
                  <a:txBody>
                    <a:bodyPr/>
                    <a:lstStyle/>
                    <a:p>
                      <a:r>
                        <a:rPr lang="en-US" sz="1600" dirty="0"/>
                        <a:t>Min</a:t>
                      </a:r>
                    </a:p>
                  </a:txBody>
                  <a:tcPr/>
                </a:tc>
                <a:tc>
                  <a:txBody>
                    <a:bodyPr/>
                    <a:lstStyle/>
                    <a:p>
                      <a:r>
                        <a:rPr lang="en-US" sz="1600" dirty="0" err="1"/>
                        <a:t>MinS</a:t>
                      </a:r>
                      <a:endParaRPr lang="en-US" sz="1600" dirty="0"/>
                    </a:p>
                  </a:txBody>
                  <a:tcPr/>
                </a:tc>
                <a:tc>
                  <a:txBody>
                    <a:bodyPr/>
                    <a:lstStyle/>
                    <a:p>
                      <a:r>
                        <a:rPr lang="en-US" sz="1600" dirty="0" err="1"/>
                        <a:t>PaintMask</a:t>
                      </a:r>
                      <a:r>
                        <a:rPr lang="en-US" sz="1600" dirty="0"/>
                        <a:t>	</a:t>
                      </a:r>
                    </a:p>
                  </a:txBody>
                  <a:tcPr/>
                </a:tc>
                <a:tc>
                  <a:txBody>
                    <a:bodyPr/>
                    <a:lstStyle/>
                    <a:p>
                      <a:r>
                        <a:rPr lang="en-US" sz="1600" dirty="0"/>
                        <a:t>Reduce</a:t>
                      </a:r>
                    </a:p>
                  </a:txBody>
                  <a:tcPr/>
                </a:tc>
                <a:extLst>
                  <a:ext uri="{0D108BD9-81ED-4DB2-BD59-A6C34878D82A}">
                    <a16:rowId xmlns:a16="http://schemas.microsoft.com/office/drawing/2014/main" val="44957819"/>
                  </a:ext>
                </a:extLst>
              </a:tr>
              <a:tr h="0">
                <a:tc>
                  <a:txBody>
                    <a:bodyPr/>
                    <a:lstStyle/>
                    <a:p>
                      <a:r>
                        <a:rPr lang="en-US" sz="1600" dirty="0"/>
                        <a:t>Zero</a:t>
                      </a:r>
                    </a:p>
                  </a:txBody>
                  <a:tcPr/>
                </a:tc>
                <a:tc>
                  <a:txBody>
                    <a:bodyPr/>
                    <a:lstStyle/>
                    <a:p>
                      <a:r>
                        <a:rPr lang="en-US" sz="1600" dirty="0"/>
                        <a:t>Sum</a:t>
                      </a:r>
                    </a:p>
                  </a:txBody>
                  <a:tcPr/>
                </a:tc>
                <a:tc>
                  <a:txBody>
                    <a:bodyPr/>
                    <a:lstStyle/>
                    <a:p>
                      <a:r>
                        <a:rPr lang="en-US" sz="1600" dirty="0" err="1"/>
                        <a:t>SubS</a:t>
                      </a:r>
                      <a:endParaRPr lang="en-US" sz="1600" dirty="0"/>
                    </a:p>
                  </a:txBody>
                  <a:tcPr/>
                </a:tc>
                <a:tc>
                  <a:txBody>
                    <a:bodyPr/>
                    <a:lstStyle/>
                    <a:p>
                      <a:r>
                        <a:rPr lang="en-US" sz="1600" dirty="0" err="1"/>
                        <a:t>SubRS</a:t>
                      </a:r>
                      <a:endParaRPr lang="en-US" sz="1600" dirty="0"/>
                    </a:p>
                  </a:txBody>
                  <a:tcPr/>
                </a:tc>
                <a:tc>
                  <a:txBody>
                    <a:bodyPr/>
                    <a:lstStyle/>
                    <a:p>
                      <a:r>
                        <a:rPr lang="en-US" sz="1600" dirty="0"/>
                        <a:t>Set</a:t>
                      </a:r>
                    </a:p>
                  </a:txBody>
                  <a:tcPr/>
                </a:tc>
                <a:extLst>
                  <a:ext uri="{0D108BD9-81ED-4DB2-BD59-A6C34878D82A}">
                    <a16:rowId xmlns:a16="http://schemas.microsoft.com/office/drawing/2014/main" val="2542122610"/>
                  </a:ext>
                </a:extLst>
              </a:tr>
              <a:tr h="0">
                <a:tc>
                  <a:txBody>
                    <a:bodyPr/>
                    <a:lstStyle/>
                    <a:p>
                      <a:r>
                        <a:rPr lang="en-US" sz="1600" dirty="0" err="1"/>
                        <a:t>Absdiff</a:t>
                      </a:r>
                      <a:endParaRPr lang="en-US" sz="1600" dirty="0"/>
                    </a:p>
                  </a:txBody>
                  <a:tcPr/>
                </a:tc>
                <a:tc>
                  <a:txBody>
                    <a:bodyPr/>
                    <a:lstStyle/>
                    <a:p>
                      <a:r>
                        <a:rPr lang="en-US" sz="1600" dirty="0"/>
                        <a:t>And</a:t>
                      </a:r>
                    </a:p>
                  </a:txBody>
                  <a:tcPr/>
                </a:tc>
                <a:tc>
                  <a:txBody>
                    <a:bodyPr/>
                    <a:lstStyle/>
                    <a:p>
                      <a:r>
                        <a:rPr lang="en-US" sz="1600" dirty="0"/>
                        <a:t>Dilate</a:t>
                      </a:r>
                    </a:p>
                  </a:txBody>
                  <a:tcPr/>
                </a:tc>
                <a:tc>
                  <a:txBody>
                    <a:bodyPr/>
                    <a:lstStyle/>
                    <a:p>
                      <a:r>
                        <a:rPr lang="en-US" sz="1600" dirty="0"/>
                        <a:t>Duplicate</a:t>
                      </a:r>
                    </a:p>
                  </a:txBody>
                  <a:tcPr/>
                </a:tc>
                <a:tc>
                  <a:txBody>
                    <a:bodyPr/>
                    <a:lstStyle/>
                    <a:p>
                      <a:r>
                        <a:rPr lang="en-US" sz="1600" dirty="0" err="1"/>
                        <a:t>EqualizeHist</a:t>
                      </a:r>
                      <a:endParaRPr lang="en-US" sz="1600" dirty="0"/>
                    </a:p>
                  </a:txBody>
                  <a:tcPr/>
                </a:tc>
                <a:extLst>
                  <a:ext uri="{0D108BD9-81ED-4DB2-BD59-A6C34878D82A}">
                    <a16:rowId xmlns:a16="http://schemas.microsoft.com/office/drawing/2014/main" val="1026300422"/>
                  </a:ext>
                </a:extLst>
              </a:tr>
              <a:tr h="0">
                <a:tc>
                  <a:txBody>
                    <a:bodyPr/>
                    <a:lstStyle/>
                    <a:p>
                      <a:r>
                        <a:rPr lang="en-US" sz="1600" dirty="0"/>
                        <a:t>erode</a:t>
                      </a:r>
                    </a:p>
                  </a:txBody>
                  <a:tcPr/>
                </a:tc>
                <a:tc>
                  <a:txBody>
                    <a:bodyPr/>
                    <a:lstStyle/>
                    <a:p>
                      <a:r>
                        <a:rPr lang="en-US" sz="1600" dirty="0"/>
                        <a:t>FASTX</a:t>
                      </a:r>
                    </a:p>
                  </a:txBody>
                  <a:tcPr/>
                </a:tc>
                <a:tc>
                  <a:txBody>
                    <a:bodyPr/>
                    <a:lstStyle/>
                    <a:p>
                      <a:r>
                        <a:rPr lang="en-US" sz="1600" dirty="0"/>
                        <a:t>Filter2D</a:t>
                      </a:r>
                    </a:p>
                  </a:txBody>
                  <a:tcPr/>
                </a:tc>
                <a:tc>
                  <a:txBody>
                    <a:bodyPr/>
                    <a:lstStyle/>
                    <a:p>
                      <a:r>
                        <a:rPr lang="en-US" sz="1600" dirty="0" err="1"/>
                        <a:t>GaussianBlur</a:t>
                      </a:r>
                      <a:endParaRPr lang="en-US" sz="1600" dirty="0"/>
                    </a:p>
                  </a:txBody>
                  <a:tcPr/>
                </a:tc>
                <a:tc>
                  <a:txBody>
                    <a:bodyPr/>
                    <a:lstStyle/>
                    <a:p>
                      <a:r>
                        <a:rPr lang="en-US" sz="1600" dirty="0"/>
                        <a:t>Harris</a:t>
                      </a:r>
                    </a:p>
                  </a:txBody>
                  <a:tcPr/>
                </a:tc>
                <a:extLst>
                  <a:ext uri="{0D108BD9-81ED-4DB2-BD59-A6C34878D82A}">
                    <a16:rowId xmlns:a16="http://schemas.microsoft.com/office/drawing/2014/main" val="2672163720"/>
                  </a:ext>
                </a:extLst>
              </a:tr>
              <a:tr h="0">
                <a:tc>
                  <a:txBody>
                    <a:bodyPr/>
                    <a:lstStyle/>
                    <a:p>
                      <a:r>
                        <a:rPr lang="en-US" sz="1600" dirty="0" err="1"/>
                        <a:t>CornerHarris</a:t>
                      </a:r>
                      <a:endParaRPr lang="en-US" sz="1600" dirty="0"/>
                    </a:p>
                  </a:txBody>
                  <a:tcPr/>
                </a:tc>
                <a:tc>
                  <a:txBody>
                    <a:bodyPr/>
                    <a:lstStyle/>
                    <a:p>
                      <a:r>
                        <a:rPr lang="en-US" sz="1600" dirty="0"/>
                        <a:t>HoughLines2</a:t>
                      </a:r>
                    </a:p>
                  </a:txBody>
                  <a:tcPr/>
                </a:tc>
                <a:tc>
                  <a:txBody>
                    <a:bodyPr/>
                    <a:lstStyle/>
                    <a:p>
                      <a:r>
                        <a:rPr lang="en-US" sz="1600" dirty="0"/>
                        <a:t>Integral</a:t>
                      </a:r>
                    </a:p>
                  </a:txBody>
                  <a:tcPr/>
                </a:tc>
                <a:tc>
                  <a:txBody>
                    <a:bodyPr/>
                    <a:lstStyle/>
                    <a:p>
                      <a:r>
                        <a:rPr lang="en-US" sz="1600" dirty="0"/>
                        <a:t>Merge</a:t>
                      </a:r>
                    </a:p>
                  </a:txBody>
                  <a:tcPr/>
                </a:tc>
                <a:tc>
                  <a:txBody>
                    <a:bodyPr/>
                    <a:lstStyle/>
                    <a:p>
                      <a:r>
                        <a:rPr lang="en-US" sz="1799" b="0" i="0" kern="1200" dirty="0" err="1">
                          <a:solidFill>
                            <a:schemeClr val="tx1"/>
                          </a:solidFill>
                          <a:effectLst/>
                          <a:latin typeface="+mn-lt"/>
                          <a:ea typeface="+mn-ea"/>
                          <a:cs typeface="+mn-cs"/>
                        </a:rPr>
                        <a:t>MinMaxLoc</a:t>
                      </a:r>
                      <a:endParaRPr lang="en-US" sz="1600" dirty="0"/>
                    </a:p>
                  </a:txBody>
                  <a:tcPr/>
                </a:tc>
                <a:extLst>
                  <a:ext uri="{0D108BD9-81ED-4DB2-BD59-A6C34878D82A}">
                    <a16:rowId xmlns:a16="http://schemas.microsoft.com/office/drawing/2014/main" val="4068527856"/>
                  </a:ext>
                </a:extLst>
              </a:tr>
              <a:tr h="0">
                <a:tc>
                  <a:txBody>
                    <a:bodyPr/>
                    <a:lstStyle/>
                    <a:p>
                      <a:r>
                        <a:rPr lang="en-US" sz="1600" dirty="0" err="1"/>
                        <a:t>Mul</a:t>
                      </a:r>
                      <a:endParaRPr lang="en-US" sz="1600" dirty="0"/>
                    </a:p>
                  </a:txBody>
                  <a:tcPr/>
                </a:tc>
                <a:tc>
                  <a:txBody>
                    <a:bodyPr/>
                    <a:lstStyle/>
                    <a:p>
                      <a:r>
                        <a:rPr lang="en-US" sz="1600" dirty="0"/>
                        <a:t>Not</a:t>
                      </a:r>
                    </a:p>
                  </a:txBody>
                  <a:tcPr/>
                </a:tc>
                <a:tc>
                  <a:txBody>
                    <a:bodyPr/>
                    <a:lstStyle/>
                    <a:p>
                      <a:r>
                        <a:rPr lang="en-US" sz="1600" dirty="0"/>
                        <a:t>Range</a:t>
                      </a:r>
                    </a:p>
                  </a:txBody>
                  <a:tcPr/>
                </a:tc>
                <a:tc>
                  <a:txBody>
                    <a:bodyPr/>
                    <a:lstStyle/>
                    <a:p>
                      <a:r>
                        <a:rPr lang="en-US" sz="1600" dirty="0"/>
                        <a:t>Resize</a:t>
                      </a:r>
                    </a:p>
                  </a:txBody>
                  <a:tcPr/>
                </a:tc>
                <a:tc>
                  <a:txBody>
                    <a:bodyPr/>
                    <a:lstStyle/>
                    <a:p>
                      <a:r>
                        <a:rPr lang="en-US" sz="1600" dirty="0" err="1"/>
                        <a:t>sobel</a:t>
                      </a:r>
                      <a:endParaRPr lang="en-US" sz="1600" dirty="0"/>
                    </a:p>
                  </a:txBody>
                  <a:tcPr/>
                </a:tc>
                <a:extLst>
                  <a:ext uri="{0D108BD9-81ED-4DB2-BD59-A6C34878D82A}">
                    <a16:rowId xmlns:a16="http://schemas.microsoft.com/office/drawing/2014/main" val="443224137"/>
                  </a:ext>
                </a:extLst>
              </a:tr>
              <a:tr h="0">
                <a:tc>
                  <a:txBody>
                    <a:bodyPr/>
                    <a:lstStyle/>
                    <a:p>
                      <a:r>
                        <a:rPr lang="en-US" sz="1600" dirty="0"/>
                        <a:t>split</a:t>
                      </a:r>
                    </a:p>
                  </a:txBody>
                  <a:tcPr/>
                </a:tc>
                <a:tc>
                  <a:txBody>
                    <a:bodyPr/>
                    <a:lstStyle/>
                    <a:p>
                      <a:r>
                        <a:rPr lang="en-US" sz="1600" dirty="0"/>
                        <a:t>Threshold</a:t>
                      </a:r>
                    </a:p>
                  </a:txBody>
                  <a:tcPr/>
                </a:tc>
                <a:tc>
                  <a:txBody>
                    <a:bodyPr/>
                    <a:lstStyle/>
                    <a:p>
                      <a:r>
                        <a:rPr lang="en-US" sz="1600" dirty="0"/>
                        <a:t>Scale</a:t>
                      </a:r>
                    </a:p>
                  </a:txBody>
                  <a:tcPr/>
                </a:tc>
                <a:tc>
                  <a:txBody>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lang="en-US" sz="1600" dirty="0" err="1"/>
                        <a:t>CvtColor</a:t>
                      </a:r>
                      <a:endParaRPr lang="en-US" sz="1600" dirty="0"/>
                    </a:p>
                  </a:txBody>
                  <a:tcPr/>
                </a:tc>
                <a:tc>
                  <a:txBody>
                    <a:bodyPr/>
                    <a:lstStyle/>
                    <a:p>
                      <a:endParaRPr lang="en-US" sz="1600" dirty="0"/>
                    </a:p>
                  </a:txBody>
                  <a:tcPr/>
                </a:tc>
                <a:extLst>
                  <a:ext uri="{0D108BD9-81ED-4DB2-BD59-A6C34878D82A}">
                    <a16:rowId xmlns:a16="http://schemas.microsoft.com/office/drawing/2014/main" val="2313785467"/>
                  </a:ext>
                </a:extLst>
              </a:tr>
              <a:tr h="0">
                <a:tc gridSpan="3">
                  <a:txBody>
                    <a:bodyPr/>
                    <a:lstStyle/>
                    <a:p>
                      <a:r>
                        <a:rPr lang="en-US" sz="1600" dirty="0" err="1"/>
                        <a:t>InitUndistortRectifyMapInverse</a:t>
                      </a:r>
                      <a:endParaRPr lang="en-US" sz="1600" dirty="0"/>
                    </a:p>
                  </a:txBody>
                  <a:tcPr/>
                </a:tc>
                <a:tc hMerge="1">
                  <a:txBody>
                    <a:bodyPr/>
                    <a:lstStyle/>
                    <a:p>
                      <a:endParaRPr lang="en-US" sz="1600" dirty="0"/>
                    </a:p>
                  </a:txBody>
                  <a:tcPr/>
                </a:tc>
                <a:tc hMerge="1">
                  <a:txBody>
                    <a:bodyPr/>
                    <a:lstStyle/>
                    <a:p>
                      <a:endParaRPr lang="en-US" sz="1600" dirty="0"/>
                    </a:p>
                  </a:txBody>
                  <a:tcPr/>
                </a:tc>
                <a:tc gridSpan="2">
                  <a:txBody>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lang="en-US" sz="1600" dirty="0"/>
                        <a:t>Avg, mean, </a:t>
                      </a:r>
                      <a:r>
                        <a:rPr lang="en-US" sz="1600" dirty="0" err="1"/>
                        <a:t>AvgStddev</a:t>
                      </a:r>
                      <a:endParaRPr lang="en-US" sz="1600" dirty="0"/>
                    </a:p>
                  </a:txBody>
                  <a:tcPr/>
                </a:tc>
                <a:tc hMerge="1">
                  <a:txBody>
                    <a:bodyPr/>
                    <a:lstStyle/>
                    <a:p>
                      <a:endParaRPr lang="en-US" sz="1600" dirty="0"/>
                    </a:p>
                  </a:txBody>
                  <a:tcPr/>
                </a:tc>
                <a:extLst>
                  <a:ext uri="{0D108BD9-81ED-4DB2-BD59-A6C34878D82A}">
                    <a16:rowId xmlns:a16="http://schemas.microsoft.com/office/drawing/2014/main" val="2440928803"/>
                  </a:ext>
                </a:extLst>
              </a:tr>
            </a:tbl>
          </a:graphicData>
        </a:graphic>
      </p:graphicFrame>
    </p:spTree>
    <p:extLst>
      <p:ext uri="{BB962C8B-B14F-4D97-AF65-F5344CB8AC3E}">
        <p14:creationId xmlns:p14="http://schemas.microsoft.com/office/powerpoint/2010/main" val="119724461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Using </a:t>
            </a:r>
            <a:r>
              <a:rPr lang="en-US" dirty="0" err="1"/>
              <a:t>OpenCV</a:t>
            </a:r>
            <a:r>
              <a:rPr lang="en-US" dirty="0"/>
              <a:t> in FPGA Designs</a:t>
            </a:r>
          </a:p>
        </p:txBody>
      </p:sp>
      <p:sp>
        <p:nvSpPr>
          <p:cNvPr id="3" name="Slide Number Placeholder 2"/>
          <p:cNvSpPr>
            <a:spLocks noGrp="1"/>
          </p:cNvSpPr>
          <p:nvPr>
            <p:ph type="sldNum" sz="quarter" idx="10"/>
          </p:nvPr>
        </p:nvSpPr>
        <p:spPr>
          <a:xfrm>
            <a:off x="579121" y="6325606"/>
            <a:ext cx="2309222" cy="365125"/>
          </a:xfrm>
        </p:spPr>
        <p:txBody>
          <a:bodyPr/>
          <a:lstStyle/>
          <a:p>
            <a:pPr>
              <a:defRPr/>
            </a:pPr>
            <a:r>
              <a:rPr lang="en-US" dirty="0"/>
              <a:t>Coding Considerations 23- </a:t>
            </a:r>
            <a:fld id="{060BD193-E118-4B16-863C-C8C12C675E3E}" type="slidenum">
              <a:rPr lang="en-US" smtClean="0"/>
              <a:pPr>
                <a:defRPr/>
              </a:pPr>
              <a:t>110</a:t>
            </a:fld>
            <a:endParaRPr lang="en-US" dirty="0"/>
          </a:p>
        </p:txBody>
      </p:sp>
      <p:pic>
        <p:nvPicPr>
          <p:cNvPr id="4098"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2635" y="1271732"/>
            <a:ext cx="8067947" cy="461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06793230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Using </a:t>
            </a:r>
            <a:r>
              <a:rPr lang="en-US" dirty="0" err="1"/>
              <a:t>OpenCV</a:t>
            </a:r>
            <a:r>
              <a:rPr lang="en-US" dirty="0"/>
              <a:t> in FPGA Designs</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111</a:t>
            </a:fld>
            <a:endParaRPr lang="en-US" dirty="0">
              <a:solidFill>
                <a:srgbClr val="0C0C0C">
                  <a:tint val="75000"/>
                </a:srgbClr>
              </a:solidFill>
              <a:latin typeface="Arial"/>
            </a:endParaRPr>
          </a:p>
        </p:txBody>
      </p:sp>
      <p:pic>
        <p:nvPicPr>
          <p:cNvPr id="4098"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2635" y="1271732"/>
            <a:ext cx="8067947" cy="46124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67502587"/>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Partitioned </a:t>
            </a:r>
            <a:r>
              <a:rPr lang="en-US" dirty="0" err="1"/>
              <a:t>OpenCV</a:t>
            </a:r>
            <a:r>
              <a:rPr lang="en-US" dirty="0"/>
              <a:t> Application</a:t>
            </a:r>
          </a:p>
        </p:txBody>
      </p:sp>
      <p:sp>
        <p:nvSpPr>
          <p:cNvPr id="3" name="Slide Number Placeholder 2"/>
          <p:cNvSpPr>
            <a:spLocks noGrp="1"/>
          </p:cNvSpPr>
          <p:nvPr>
            <p:ph type="sldNum" sz="quarter" idx="10"/>
          </p:nvPr>
        </p:nvSpPr>
        <p:spPr>
          <a:xfrm>
            <a:off x="579120" y="6325606"/>
            <a:ext cx="2468879" cy="365125"/>
          </a:xfrm>
        </p:spPr>
        <p:txBody>
          <a:bodyPr/>
          <a:lstStyle/>
          <a:p>
            <a:pPr>
              <a:defRPr/>
            </a:pPr>
            <a:r>
              <a:rPr lang="en-US" dirty="0"/>
              <a:t>Coding Considerations 23- </a:t>
            </a:r>
            <a:fld id="{060BD193-E118-4B16-863C-C8C12C675E3E}" type="slidenum">
              <a:rPr lang="en-US" smtClean="0"/>
              <a:pPr>
                <a:defRPr/>
              </a:pPr>
              <a:t>112</a:t>
            </a:fld>
            <a:endParaRPr lang="en-US" dirty="0"/>
          </a:p>
        </p:txBody>
      </p:sp>
      <p:pic>
        <p:nvPicPr>
          <p:cNvPr id="5122"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39359" y="1176338"/>
            <a:ext cx="7531722" cy="450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50993101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Partitioned </a:t>
            </a:r>
            <a:r>
              <a:rPr lang="en-US" dirty="0" err="1"/>
              <a:t>OpenCV</a:t>
            </a:r>
            <a:r>
              <a:rPr lang="en-US" dirty="0"/>
              <a:t> Application</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113</a:t>
            </a:fld>
            <a:endParaRPr lang="en-US" dirty="0">
              <a:solidFill>
                <a:srgbClr val="0C0C0C">
                  <a:tint val="75000"/>
                </a:srgbClr>
              </a:solidFill>
              <a:latin typeface="Arial"/>
            </a:endParaRPr>
          </a:p>
        </p:txBody>
      </p:sp>
      <p:pic>
        <p:nvPicPr>
          <p:cNvPr id="5122"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39359" y="1176338"/>
            <a:ext cx="7531722" cy="4505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214494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err="1"/>
              <a:t>OpenCV</a:t>
            </a:r>
            <a:r>
              <a:rPr lang="en-US" dirty="0"/>
              <a:t> Design Flow</a:t>
            </a:r>
          </a:p>
        </p:txBody>
      </p:sp>
      <p:sp>
        <p:nvSpPr>
          <p:cNvPr id="2" name="Content Placeholder 1"/>
          <p:cNvSpPr>
            <a:spLocks noGrp="1"/>
          </p:cNvSpPr>
          <p:nvPr>
            <p:ph sz="half" idx="1"/>
          </p:nvPr>
        </p:nvSpPr>
        <p:spPr/>
        <p:txBody>
          <a:bodyPr/>
          <a:lstStyle/>
          <a:p>
            <a:pPr lvl="0"/>
            <a:r>
              <a:rPr lang="en-US" dirty="0"/>
              <a:t>Develop OpenCV application on desktop</a:t>
            </a:r>
          </a:p>
          <a:p>
            <a:pPr lvl="0"/>
            <a:r>
              <a:rPr lang="en-US" dirty="0"/>
              <a:t>Run OpenCV application on ARM® cores </a:t>
            </a:r>
            <a:br>
              <a:rPr lang="en-US" dirty="0"/>
            </a:br>
            <a:r>
              <a:rPr lang="en-US" dirty="0"/>
              <a:t>without modification</a:t>
            </a:r>
          </a:p>
          <a:p>
            <a:pPr lvl="0"/>
            <a:r>
              <a:rPr lang="en-US" dirty="0"/>
              <a:t>Abstract FPGA portion using I/O functions</a:t>
            </a:r>
          </a:p>
          <a:p>
            <a:pPr lvl="0"/>
            <a:r>
              <a:rPr lang="en-US" dirty="0"/>
              <a:t>Replace OpenCV function calls with </a:t>
            </a:r>
            <a:br>
              <a:rPr lang="en-US" dirty="0"/>
            </a:br>
            <a:r>
              <a:rPr lang="en-US" dirty="0"/>
              <a:t>synthesizable code</a:t>
            </a:r>
          </a:p>
          <a:p>
            <a:pPr lvl="0"/>
            <a:r>
              <a:rPr lang="en-US" dirty="0"/>
              <a:t>Run HLS to generate FPGA accelerator</a:t>
            </a:r>
          </a:p>
          <a:p>
            <a:r>
              <a:rPr lang="en-US" dirty="0"/>
              <a:t>Replace call to synthesizable code with call to </a:t>
            </a:r>
            <a:br>
              <a:rPr lang="en-US" dirty="0"/>
            </a:br>
            <a:r>
              <a:rPr lang="en-US" dirty="0"/>
              <a:t>FPGA accelerator</a:t>
            </a:r>
          </a:p>
        </p:txBody>
      </p:sp>
      <p:sp>
        <p:nvSpPr>
          <p:cNvPr id="3" name="Slide Number Placeholder 2"/>
          <p:cNvSpPr>
            <a:spLocks noGrp="1"/>
          </p:cNvSpPr>
          <p:nvPr>
            <p:ph type="sldNum" sz="quarter" idx="10"/>
          </p:nvPr>
        </p:nvSpPr>
        <p:spPr>
          <a:xfrm>
            <a:off x="579120" y="6325606"/>
            <a:ext cx="2686593" cy="365125"/>
          </a:xfrm>
        </p:spPr>
        <p:txBody>
          <a:bodyPr/>
          <a:lstStyle/>
          <a:p>
            <a:pPr>
              <a:defRPr/>
            </a:pPr>
            <a:r>
              <a:rPr lang="en-US" dirty="0"/>
              <a:t>Coding Considerations 23- </a:t>
            </a:r>
            <a:fld id="{060BD193-E118-4B16-863C-C8C12C675E3E}" type="slidenum">
              <a:rPr lang="en-US" smtClean="0"/>
              <a:pPr>
                <a:defRPr/>
              </a:pPr>
              <a:t>114</a:t>
            </a:fld>
            <a:endParaRPr lang="en-US" dirty="0"/>
          </a:p>
        </p:txBody>
      </p:sp>
      <p:pic>
        <p:nvPicPr>
          <p:cNvPr id="614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79649" y="832262"/>
            <a:ext cx="3209925" cy="4698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976823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err="1"/>
              <a:t>OpenCV</a:t>
            </a:r>
            <a:r>
              <a:rPr lang="en-US" dirty="0"/>
              <a:t> Design Flow</a:t>
            </a:r>
          </a:p>
        </p:txBody>
      </p:sp>
      <p:sp>
        <p:nvSpPr>
          <p:cNvPr id="2" name="Content Placeholder 1"/>
          <p:cNvSpPr>
            <a:spLocks noGrp="1"/>
          </p:cNvSpPr>
          <p:nvPr>
            <p:ph sz="half" idx="1"/>
          </p:nvPr>
        </p:nvSpPr>
        <p:spPr/>
        <p:txBody>
          <a:bodyPr/>
          <a:lstStyle/>
          <a:p>
            <a:pPr lvl="0"/>
            <a:r>
              <a:rPr lang="en-US" dirty="0"/>
              <a:t>Develop OpenCV application on desktop</a:t>
            </a:r>
          </a:p>
          <a:p>
            <a:pPr lvl="0"/>
            <a:r>
              <a:rPr lang="en-US" dirty="0"/>
              <a:t>Run OpenCV application on ARM® cores </a:t>
            </a:r>
            <a:br>
              <a:rPr lang="en-US" dirty="0"/>
            </a:br>
            <a:r>
              <a:rPr lang="en-US" dirty="0"/>
              <a:t>without modification</a:t>
            </a:r>
          </a:p>
          <a:p>
            <a:pPr lvl="0"/>
            <a:r>
              <a:rPr lang="en-US" dirty="0"/>
              <a:t>Abstract FPGA portion using I/O functions</a:t>
            </a:r>
          </a:p>
          <a:p>
            <a:pPr lvl="0"/>
            <a:r>
              <a:rPr lang="en-US" dirty="0"/>
              <a:t>Replace OpenCV function calls with </a:t>
            </a:r>
            <a:br>
              <a:rPr lang="en-US" dirty="0"/>
            </a:br>
            <a:r>
              <a:rPr lang="en-US" dirty="0"/>
              <a:t>synthesizable code</a:t>
            </a:r>
          </a:p>
          <a:p>
            <a:pPr lvl="0"/>
            <a:r>
              <a:rPr lang="en-US" dirty="0"/>
              <a:t>Run HLS to generate FPGA accelerator</a:t>
            </a:r>
          </a:p>
          <a:p>
            <a:r>
              <a:rPr lang="en-US" dirty="0"/>
              <a:t>Replace call to synthesizable code with call to </a:t>
            </a:r>
            <a:br>
              <a:rPr lang="en-US" dirty="0"/>
            </a:br>
            <a:r>
              <a:rPr lang="en-US" dirty="0"/>
              <a:t>FPGA accelerator</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115</a:t>
            </a:fld>
            <a:endParaRPr lang="en-US" dirty="0">
              <a:solidFill>
                <a:srgbClr val="0C0C0C">
                  <a:tint val="75000"/>
                </a:srgbClr>
              </a:solidFill>
              <a:latin typeface="Arial"/>
            </a:endParaRPr>
          </a:p>
        </p:txBody>
      </p:sp>
      <p:pic>
        <p:nvPicPr>
          <p:cNvPr id="6146"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79649" y="832262"/>
            <a:ext cx="3209925" cy="46985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40959808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C </a:t>
            </a:r>
            <a:r>
              <a:rPr lang="en-US" strike="sngStrike" dirty="0" err="1"/>
              <a:t>Testbench</a:t>
            </a:r>
            <a:r>
              <a:rPr lang="en-US" strike="sngStrike" dirty="0"/>
              <a:t>: Interface Library Example</a:t>
            </a:r>
          </a:p>
        </p:txBody>
      </p:sp>
      <p:sp>
        <p:nvSpPr>
          <p:cNvPr id="2" name="Content Placeholder 1"/>
          <p:cNvSpPr>
            <a:spLocks noGrp="1"/>
          </p:cNvSpPr>
          <p:nvPr>
            <p:ph idx="1"/>
          </p:nvPr>
        </p:nvSpPr>
        <p:spPr/>
        <p:txBody>
          <a:bodyPr/>
          <a:lstStyle/>
          <a:p>
            <a:pPr lvl="0"/>
            <a:r>
              <a:rPr lang="en-US" dirty="0"/>
              <a:t>Interface libraries convert to/from OpenCV image to HLS type</a:t>
            </a:r>
          </a:p>
          <a:p>
            <a:pPr lvl="1"/>
            <a:r>
              <a:rPr lang="en-US" dirty="0"/>
              <a:t>HLS MAT format: synthesizable and AXI4 Stream support </a:t>
            </a:r>
          </a:p>
        </p:txBody>
      </p:sp>
      <p:sp>
        <p:nvSpPr>
          <p:cNvPr id="3" name="Slide Number Placeholder 2"/>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116</a:t>
            </a:fld>
            <a:endParaRPr lang="en-US" dirty="0">
              <a:solidFill>
                <a:srgbClr val="0C0C0C">
                  <a:tint val="75000"/>
                </a:srgbClr>
              </a:solidFill>
              <a:latin typeface="Arial"/>
            </a:endParaRPr>
          </a:p>
        </p:txBody>
      </p:sp>
      <p:pic>
        <p:nvPicPr>
          <p:cNvPr id="7170"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01788" y="2552700"/>
            <a:ext cx="8904238" cy="3771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926260241"/>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strike="sngStrike" dirty="0"/>
              <a:t>Synthesizable C Function Example</a:t>
            </a:r>
          </a:p>
        </p:txBody>
      </p:sp>
      <p:sp>
        <p:nvSpPr>
          <p:cNvPr id="3" name="Slide Number Placeholder 2"/>
          <p:cNvSpPr>
            <a:spLocks noGrp="1"/>
          </p:cNvSpPr>
          <p:nvPr>
            <p:ph type="sldNum" sz="quarter" idx="10"/>
          </p:nvPr>
        </p:nvSpPr>
        <p:spPr/>
        <p:txBody>
          <a:bodyPr/>
          <a:lstStyle/>
          <a:p>
            <a:pPr defTabSz="914400">
              <a:defRPr/>
            </a:pPr>
            <a:r>
              <a:rPr lang="en-US">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117</a:t>
            </a:fld>
            <a:endParaRPr lang="en-US" dirty="0">
              <a:solidFill>
                <a:srgbClr val="0C0C0C">
                  <a:tint val="75000"/>
                </a:srgbClr>
              </a:solidFill>
              <a:latin typeface="Arial"/>
            </a:endParaRPr>
          </a:p>
        </p:txBody>
      </p:sp>
      <p:pic>
        <p:nvPicPr>
          <p:cNvPr id="8194" name="Picture 2"/>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92238" y="1581150"/>
            <a:ext cx="9400556" cy="476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57942676"/>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45210-F2A8-4F0E-841F-5CA988952A38}"/>
              </a:ext>
            </a:extLst>
          </p:cNvPr>
          <p:cNvSpPr>
            <a:spLocks noGrp="1"/>
          </p:cNvSpPr>
          <p:nvPr>
            <p:ph type="title"/>
          </p:nvPr>
        </p:nvSpPr>
        <p:spPr/>
        <p:txBody>
          <a:bodyPr/>
          <a:lstStyle/>
          <a:p>
            <a:r>
              <a:rPr lang="en-US" altLang="zh-CN" dirty="0"/>
              <a:t>Summary</a:t>
            </a:r>
            <a:endParaRPr lang="zh-CN" altLang="en-US" dirty="0"/>
          </a:p>
        </p:txBody>
      </p:sp>
    </p:spTree>
    <p:extLst>
      <p:ext uri="{BB962C8B-B14F-4D97-AF65-F5344CB8AC3E}">
        <p14:creationId xmlns:p14="http://schemas.microsoft.com/office/powerpoint/2010/main" val="781057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rmAutofit fontScale="92500" lnSpcReduction="20000"/>
          </a:bodyPr>
          <a:lstStyle/>
          <a:p>
            <a:r>
              <a:rPr lang="en-US" dirty="0" err="1"/>
              <a:t>Vitis</a:t>
            </a:r>
            <a:r>
              <a:rPr lang="en-US" dirty="0"/>
              <a:t> HLS supports C, C++</a:t>
            </a:r>
          </a:p>
          <a:p>
            <a:r>
              <a:rPr lang="en-US" dirty="0"/>
              <a:t>Vast majority of constructs are synthesizable provided they are statically defined at compile time</a:t>
            </a:r>
          </a:p>
          <a:p>
            <a:r>
              <a:rPr lang="en-US" dirty="0"/>
              <a:t>Some of the unsupported constructs are</a:t>
            </a:r>
          </a:p>
          <a:p>
            <a:pPr lvl="1"/>
            <a:r>
              <a:rPr lang="en-US" dirty="0"/>
              <a:t>System calls and function pointer</a:t>
            </a:r>
          </a:p>
          <a:p>
            <a:pPr lvl="1"/>
            <a:r>
              <a:rPr lang="en-US" dirty="0"/>
              <a:t>Forward declared data type</a:t>
            </a:r>
          </a:p>
          <a:p>
            <a:pPr lvl="1"/>
            <a:r>
              <a:rPr lang="en-US" dirty="0"/>
              <a:t>Recursive type functions</a:t>
            </a:r>
          </a:p>
          <a:p>
            <a:pPr lvl="1"/>
            <a:r>
              <a:rPr lang="en-US" dirty="0"/>
              <a:t>Dynamic memory allocation</a:t>
            </a:r>
          </a:p>
          <a:p>
            <a:pPr lvl="1"/>
            <a:r>
              <a:rPr lang="en-US" dirty="0"/>
              <a:t>Dynamic virtual calls</a:t>
            </a:r>
          </a:p>
          <a:p>
            <a:pPr lvl="1"/>
            <a:r>
              <a:rPr lang="en-US" dirty="0"/>
              <a:t>Pointer reinterpretation</a:t>
            </a:r>
          </a:p>
          <a:p>
            <a:r>
              <a:rPr lang="en-US" dirty="0"/>
              <a:t>Multi-access pointer is a pointer which is read and written to multiple times</a:t>
            </a:r>
          </a:p>
          <a:p>
            <a:pPr lvl="1"/>
            <a:r>
              <a:rPr lang="en-US" dirty="0"/>
              <a:t>Must be marked as volatile or reads and writes will be optimized away</a:t>
            </a:r>
          </a:p>
          <a:p>
            <a:pPr lvl="1"/>
            <a:r>
              <a:rPr lang="en-US" dirty="0"/>
              <a:t>Cannot be rigorously validated with C simulation</a:t>
            </a:r>
          </a:p>
          <a:p>
            <a:pPr lvl="1"/>
            <a:r>
              <a:rPr lang="en-US" dirty="0"/>
              <a:t>Require a depth specification for RTL simulation</a:t>
            </a:r>
          </a:p>
        </p:txBody>
      </p:sp>
      <p:sp>
        <p:nvSpPr>
          <p:cNvPr id="5" name="Slide Number Placeholder 5">
            <a:extLst>
              <a:ext uri="{FF2B5EF4-FFF2-40B4-BE49-F238E27FC236}">
                <a16:creationId xmlns:a16="http://schemas.microsoft.com/office/drawing/2014/main" id="{A0B4CBD9-1B36-4979-9B98-DB58AE39B003}"/>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119</a:t>
            </a:fld>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rmAutofit/>
          </a:bodyPr>
          <a:lstStyle/>
          <a:p>
            <a:r>
              <a:rPr lang="en-US" dirty="0" err="1">
                <a:highlight>
                  <a:srgbClr val="FFFF00"/>
                </a:highlight>
              </a:rPr>
              <a:t>Vitis</a:t>
            </a:r>
            <a:r>
              <a:rPr lang="en-US" dirty="0"/>
              <a:t> HLS supports C, C++, </a:t>
            </a:r>
            <a:r>
              <a:rPr lang="en-US" strike="sngStrike" dirty="0"/>
              <a:t>and </a:t>
            </a:r>
            <a:r>
              <a:rPr lang="en-US" strike="sngStrike" dirty="0" err="1"/>
              <a:t>SystemC</a:t>
            </a:r>
            <a:endParaRPr lang="en-US" strike="sngStrike" dirty="0"/>
          </a:p>
          <a:p>
            <a:pPr lvl="1"/>
            <a:r>
              <a:rPr lang="en-US" dirty="0"/>
              <a:t>Vast majority of constructs are synthesizable provided they are statically defined at compile time</a:t>
            </a:r>
          </a:p>
          <a:p>
            <a:r>
              <a:rPr lang="en-US" dirty="0"/>
              <a:t>Some of the unsupported constructs are</a:t>
            </a:r>
          </a:p>
          <a:p>
            <a:pPr lvl="1"/>
            <a:r>
              <a:rPr lang="en-US" dirty="0"/>
              <a:t>System calls and function pointer</a:t>
            </a:r>
          </a:p>
          <a:p>
            <a:pPr lvl="1"/>
            <a:r>
              <a:rPr lang="en-US" dirty="0"/>
              <a:t>Forward declared data type</a:t>
            </a:r>
          </a:p>
          <a:p>
            <a:pPr lvl="1"/>
            <a:r>
              <a:rPr lang="en-US" dirty="0"/>
              <a:t>Recursive type functions</a:t>
            </a:r>
          </a:p>
          <a:p>
            <a:pPr lvl="1"/>
            <a:r>
              <a:rPr lang="en-US" dirty="0"/>
              <a:t>Dynamic memory allocation</a:t>
            </a:r>
          </a:p>
          <a:p>
            <a:pPr lvl="1"/>
            <a:r>
              <a:rPr lang="en-US" dirty="0"/>
              <a:t>Dynamic virtual calls</a:t>
            </a:r>
          </a:p>
          <a:p>
            <a:pPr lvl="1"/>
            <a:r>
              <a:rPr lang="en-US" dirty="0"/>
              <a:t>Pointer reinterpretation</a:t>
            </a:r>
          </a:p>
          <a:p>
            <a:r>
              <a:rPr lang="en-US" dirty="0"/>
              <a:t>Multi-access pointer is a pointer which is read and written to multiple times</a:t>
            </a:r>
          </a:p>
          <a:p>
            <a:pPr lvl="1"/>
            <a:r>
              <a:rPr lang="en-US" dirty="0"/>
              <a:t>Must be marked as volatile or reads and writes will be optimized away</a:t>
            </a:r>
          </a:p>
          <a:p>
            <a:pPr lvl="1"/>
            <a:r>
              <a:rPr lang="en-US" dirty="0"/>
              <a:t>Cannot be rigorously validated with C simulation</a:t>
            </a:r>
          </a:p>
          <a:p>
            <a:pPr lvl="1"/>
            <a:r>
              <a:rPr lang="en-US" dirty="0"/>
              <a:t>Require a depth specification for RTL simulation</a:t>
            </a:r>
          </a:p>
        </p:txBody>
      </p:sp>
      <p:sp>
        <p:nvSpPr>
          <p:cNvPr id="6" name="Slide Number Placeholder 5"/>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120</a:t>
            </a:fld>
            <a:endParaRPr lang="en-US" dirty="0">
              <a:solidFill>
                <a:srgbClr val="0C0C0C">
                  <a:tint val="75000"/>
                </a:srgbClr>
              </a:solidFill>
              <a:latin typeface="Arial"/>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t>When </a:t>
            </a:r>
            <a:r>
              <a:rPr lang="en-US" dirty="0" err="1"/>
              <a:t>struct</a:t>
            </a:r>
            <a:r>
              <a:rPr lang="en-US" dirty="0"/>
              <a:t> is passed as a pointer the data are accessed as pass-by-reference</a:t>
            </a:r>
          </a:p>
          <a:p>
            <a:r>
              <a:rPr lang="en-US" dirty="0"/>
              <a:t>When </a:t>
            </a:r>
            <a:r>
              <a:rPr lang="en-US" dirty="0" err="1"/>
              <a:t>struct</a:t>
            </a:r>
            <a:r>
              <a:rPr lang="en-US" dirty="0"/>
              <a:t> is not passed a pointer the data are accessed as by value</a:t>
            </a:r>
          </a:p>
          <a:p>
            <a:r>
              <a:rPr lang="en-US" dirty="0"/>
              <a:t>Stream can be used instead of multiple-access pointer</a:t>
            </a:r>
          </a:p>
          <a:p>
            <a:r>
              <a:rPr lang="en-US" dirty="0" err="1"/>
              <a:t>Vitis</a:t>
            </a:r>
            <a:r>
              <a:rPr lang="en-US" dirty="0"/>
              <a:t> HLS provides support for FFT, FIR, SRL</a:t>
            </a:r>
          </a:p>
          <a:p>
            <a:r>
              <a:rPr lang="en-US" dirty="0"/>
              <a:t>Stream and shift registers classes may model and implement hardware better</a:t>
            </a:r>
          </a:p>
          <a:p>
            <a:pPr lvl="0"/>
            <a:r>
              <a:rPr lang="en-US" dirty="0" err="1"/>
              <a:t>Vitis</a:t>
            </a:r>
            <a:r>
              <a:rPr lang="en-US" dirty="0"/>
              <a:t> Vision</a:t>
            </a:r>
          </a:p>
          <a:p>
            <a:pPr marL="0" indent="0">
              <a:buNone/>
            </a:pPr>
            <a:endParaRPr lang="en-US" dirty="0"/>
          </a:p>
          <a:p>
            <a:endParaRPr lang="en-US" dirty="0"/>
          </a:p>
        </p:txBody>
      </p:sp>
      <p:sp>
        <p:nvSpPr>
          <p:cNvPr id="5" name="Slide Number Placeholder 5">
            <a:extLst>
              <a:ext uri="{FF2B5EF4-FFF2-40B4-BE49-F238E27FC236}">
                <a16:creationId xmlns:a16="http://schemas.microsoft.com/office/drawing/2014/main" id="{A6BFB9B7-F94E-4E1E-A05B-FF5E2C4E089E}"/>
              </a:ext>
            </a:extLst>
          </p:cNvPr>
          <p:cNvSpPr>
            <a:spLocks noGrp="1"/>
          </p:cNvSpPr>
          <p:nvPr>
            <p:ph type="sldNum" sz="quarter" idx="10"/>
          </p:nvPr>
        </p:nvSpPr>
        <p:spPr>
          <a:xfrm>
            <a:off x="579120" y="6325606"/>
            <a:ext cx="2261733" cy="365125"/>
          </a:xfrm>
        </p:spPr>
        <p:txBody>
          <a:bodyPr/>
          <a:lstStyle/>
          <a:p>
            <a:pPr>
              <a:defRPr/>
            </a:pPr>
            <a:r>
              <a:rPr lang="en-US" dirty="0"/>
              <a:t>Coding Considerations 23- </a:t>
            </a:r>
            <a:fld id="{060BD193-E118-4B16-863C-C8C12C675E3E}" type="slidenum">
              <a:rPr lang="en-US" smtClean="0"/>
              <a:pPr>
                <a:defRPr/>
              </a:pPr>
              <a:t>121</a:t>
            </a:fld>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t>When </a:t>
            </a:r>
            <a:r>
              <a:rPr lang="en-US" dirty="0" err="1"/>
              <a:t>struct</a:t>
            </a:r>
            <a:r>
              <a:rPr lang="en-US" dirty="0"/>
              <a:t> is passed as a pointer the data are accessed as pass-by-reference</a:t>
            </a:r>
          </a:p>
          <a:p>
            <a:r>
              <a:rPr lang="en-US" dirty="0"/>
              <a:t>When </a:t>
            </a:r>
            <a:r>
              <a:rPr lang="en-US" dirty="0" err="1"/>
              <a:t>struct</a:t>
            </a:r>
            <a:r>
              <a:rPr lang="en-US" dirty="0"/>
              <a:t> is not passed a pointer the data are accessed as by value</a:t>
            </a:r>
          </a:p>
          <a:p>
            <a:r>
              <a:rPr lang="en-US" strike="sngStrike" dirty="0"/>
              <a:t>When pointer arithmetic is performed, argument may be implemented as </a:t>
            </a:r>
            <a:r>
              <a:rPr lang="en-US" strike="sngStrike" dirty="0" err="1"/>
              <a:t>ap_bus</a:t>
            </a:r>
            <a:r>
              <a:rPr lang="en-US" strike="sngStrike" dirty="0"/>
              <a:t> or </a:t>
            </a:r>
            <a:r>
              <a:rPr lang="en-US" strike="sngStrike" dirty="0" err="1"/>
              <a:t>ap_fifo</a:t>
            </a:r>
            <a:endParaRPr lang="en-US" strike="sngStrike" dirty="0"/>
          </a:p>
          <a:p>
            <a:r>
              <a:rPr lang="en-US" dirty="0"/>
              <a:t>Stream can be used instead of multiple-access pointer</a:t>
            </a:r>
          </a:p>
          <a:p>
            <a:r>
              <a:rPr lang="en-US" dirty="0" err="1">
                <a:highlight>
                  <a:srgbClr val="FFFF00"/>
                </a:highlight>
              </a:rPr>
              <a:t>Vitis</a:t>
            </a:r>
            <a:r>
              <a:rPr lang="en-US" dirty="0"/>
              <a:t> HLS provides support for FFT, FIR, SRL, </a:t>
            </a:r>
            <a:r>
              <a:rPr lang="en-US" strike="sngStrike" dirty="0"/>
              <a:t>and Linear Algebra</a:t>
            </a:r>
          </a:p>
          <a:p>
            <a:pPr lvl="0"/>
            <a:r>
              <a:rPr lang="en-US" dirty="0"/>
              <a:t>Stream and shift registers classes may model and implement hardware better</a:t>
            </a:r>
          </a:p>
          <a:p>
            <a:pPr lvl="0"/>
            <a:r>
              <a:rPr lang="en-US" strike="sngStrike" dirty="0"/>
              <a:t>HLS video </a:t>
            </a:r>
            <a:r>
              <a:rPr lang="en-US" strike="sngStrike" dirty="0" err="1"/>
              <a:t>libraries</a:t>
            </a:r>
            <a:r>
              <a:rPr lang="en-US" altLang="zh-CN" dirty="0" err="1">
                <a:highlight>
                  <a:srgbClr val="FFFF00"/>
                </a:highlight>
              </a:rPr>
              <a:t>Vitis</a:t>
            </a:r>
            <a:r>
              <a:rPr lang="en-US" altLang="zh-CN" dirty="0">
                <a:highlight>
                  <a:srgbClr val="FFFF00"/>
                </a:highlight>
              </a:rPr>
              <a:t> Vision</a:t>
            </a:r>
            <a:endParaRPr lang="en-US" strike="sngStrike" dirty="0"/>
          </a:p>
          <a:p>
            <a:pPr lvl="1"/>
            <a:r>
              <a:rPr lang="en-US" strike="sngStrike" dirty="0"/>
              <a:t>Drop-in replacement for OpenCV and provide high QoR</a:t>
            </a:r>
          </a:p>
          <a:p>
            <a:endParaRPr lang="en-US" sz="2400" dirty="0"/>
          </a:p>
          <a:p>
            <a:endParaRPr lang="en-US" dirty="0"/>
          </a:p>
        </p:txBody>
      </p:sp>
      <p:sp>
        <p:nvSpPr>
          <p:cNvPr id="12" name="Slide Number Placeholder 11"/>
          <p:cNvSpPr>
            <a:spLocks noGrp="1"/>
          </p:cNvSpPr>
          <p:nvPr>
            <p:ph type="sldNum" sz="quarter" idx="10"/>
          </p:nvPr>
        </p:nvSpPr>
        <p:spPr/>
        <p:txBody>
          <a:bodyPr/>
          <a:lstStyle/>
          <a:p>
            <a:pPr defTabSz="914400">
              <a:defRPr/>
            </a:pPr>
            <a:r>
              <a:rPr lang="en-US" dirty="0">
                <a:solidFill>
                  <a:srgbClr val="0C0C0C">
                    <a:tint val="75000"/>
                  </a:srgbClr>
                </a:solidFill>
                <a:latin typeface="Arial"/>
              </a:rPr>
              <a:t>Coding Considerations 23- </a:t>
            </a:r>
            <a:fld id="{060BD193-E118-4B16-863C-C8C12C675E3E}" type="slidenum">
              <a:rPr lang="en-US">
                <a:solidFill>
                  <a:srgbClr val="0C0C0C">
                    <a:tint val="75000"/>
                  </a:srgbClr>
                </a:solidFill>
                <a:latin typeface="Arial"/>
              </a:rPr>
              <a:pPr defTabSz="914400">
                <a:defRPr/>
              </a:pPr>
              <a:t>122</a:t>
            </a:fld>
            <a:endParaRPr lang="en-US" dirty="0">
              <a:solidFill>
                <a:srgbClr val="0C0C0C">
                  <a:tint val="75000"/>
                </a:srgbClr>
              </a:solidFill>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48152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1_Xilinx-5">
  <a:themeElements>
    <a:clrScheme name="Custom 1">
      <a:dk1>
        <a:srgbClr val="0C0C0C"/>
      </a:dk1>
      <a:lt1>
        <a:srgbClr val="FFFFFF"/>
      </a:lt1>
      <a:dk2>
        <a:srgbClr val="161C2E"/>
      </a:dk2>
      <a:lt2>
        <a:srgbClr val="7F7F7F"/>
      </a:lt2>
      <a:accent1>
        <a:srgbClr val="EB1C23"/>
      </a:accent1>
      <a:accent2>
        <a:srgbClr val="30364B"/>
      </a:accent2>
      <a:accent3>
        <a:srgbClr val="5F5F5F"/>
      </a:accent3>
      <a:accent4>
        <a:srgbClr val="1B3866"/>
      </a:accent4>
      <a:accent5>
        <a:srgbClr val="AC171F"/>
      </a:accent5>
      <a:accent6>
        <a:srgbClr val="1E640E"/>
      </a:accent6>
      <a:hlink>
        <a:srgbClr val="055C99"/>
      </a:hlink>
      <a:folHlink>
        <a:srgbClr val="5F5F5F"/>
      </a:folHlink>
    </a:clrScheme>
    <a:fontScheme name="Xilinx Temp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 Template-2018_Final" id="{59614F72-ED6C-4F13-AF1A-893C27C977D5}" vid="{23EBD899-BF60-4C88-B6F9-094F3CC04C9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customXml/itemProps2.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3.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0</TotalTime>
  <Words>19871</Words>
  <Application>Microsoft Office PowerPoint</Application>
  <PresentationFormat>宽屏</PresentationFormat>
  <Paragraphs>3318</Paragraphs>
  <Slides>123</Slides>
  <Notes>36</Notes>
  <HiddenSlides>59</HiddenSlides>
  <MMClips>0</MMClips>
  <ScaleCrop>false</ScaleCrop>
  <HeadingPairs>
    <vt:vector size="6" baseType="variant">
      <vt:variant>
        <vt:lpstr>已用的字体</vt:lpstr>
      </vt:variant>
      <vt:variant>
        <vt:i4>9</vt:i4>
      </vt:variant>
      <vt:variant>
        <vt:lpstr>主题</vt:lpstr>
      </vt:variant>
      <vt:variant>
        <vt:i4>2</vt:i4>
      </vt:variant>
      <vt:variant>
        <vt:lpstr>幻灯片标题</vt:lpstr>
      </vt:variant>
      <vt:variant>
        <vt:i4>123</vt:i4>
      </vt:variant>
    </vt:vector>
  </HeadingPairs>
  <TitlesOfParts>
    <vt:vector size="134" baseType="lpstr">
      <vt:lpstr>Arial</vt:lpstr>
      <vt:lpstr>Arial Black</vt:lpstr>
      <vt:lpstr>Arial Narrow</vt:lpstr>
      <vt:lpstr>Calibri</vt:lpstr>
      <vt:lpstr>Courier New</vt:lpstr>
      <vt:lpstr>Microsoft Sans Serif</vt:lpstr>
      <vt:lpstr>Webdings</vt:lpstr>
      <vt:lpstr>Wingdings</vt:lpstr>
      <vt:lpstr>Wingdings 3</vt:lpstr>
      <vt:lpstr>Xilinx-5</vt:lpstr>
      <vt:lpstr>1_Xilinx-5</vt:lpstr>
      <vt:lpstr>Coding Considerations</vt:lpstr>
      <vt:lpstr>Objectives</vt:lpstr>
      <vt:lpstr>Objectives</vt:lpstr>
      <vt:lpstr>Outline</vt:lpstr>
      <vt:lpstr>Outline</vt:lpstr>
      <vt:lpstr>C/C++ Support</vt:lpstr>
      <vt:lpstr>Comprehensive C/C++ Support</vt:lpstr>
      <vt:lpstr>C/C++ Support</vt:lpstr>
      <vt:lpstr>Comprehensive C/C++ Support</vt:lpstr>
      <vt:lpstr>C, C++ Support</vt:lpstr>
      <vt:lpstr>C, C++ and SystemC Support</vt:lpstr>
      <vt:lpstr>FIR Filter with C</vt:lpstr>
      <vt:lpstr>FIR Filter with C</vt:lpstr>
      <vt:lpstr>Arrays to RAMs : Initialization</vt:lpstr>
      <vt:lpstr>Arrays to RAMs : Initialization</vt:lpstr>
      <vt:lpstr>FIR Filter with C++</vt:lpstr>
      <vt:lpstr>FIR Filter with C++</vt:lpstr>
      <vt:lpstr>FIR Filter with SystemC</vt:lpstr>
      <vt:lpstr>Unsupported C/C++ Constructs: Overview</vt:lpstr>
      <vt:lpstr>Unsupported C/C++ Constructs: Overview</vt:lpstr>
      <vt:lpstr>Unsupported: Dynamic Memory Allocation</vt:lpstr>
      <vt:lpstr>Unsupported: Dynamic Memory Allocation</vt:lpstr>
      <vt:lpstr>Unsupported: System Calls</vt:lpstr>
      <vt:lpstr>Unsupported: System Calls</vt:lpstr>
      <vt:lpstr>Unsupported: General Pointer Casting </vt:lpstr>
      <vt:lpstr>Unsupported: General Pointer Casting </vt:lpstr>
      <vt:lpstr>Unsupported: Recursive Functions</vt:lpstr>
      <vt:lpstr>Unsupported: Recursive Functions</vt:lpstr>
      <vt:lpstr>Test Bench: Gotcha 1</vt:lpstr>
      <vt:lpstr>Test Bench : Gotcha 2</vt:lpstr>
      <vt:lpstr>Pointers</vt:lpstr>
      <vt:lpstr>Using Pointer </vt:lpstr>
      <vt:lpstr>Using Pointer </vt:lpstr>
      <vt:lpstr>Pointer &amp; Structs</vt:lpstr>
      <vt:lpstr>Pointer &amp; Structs</vt:lpstr>
      <vt:lpstr>Struct Access</vt:lpstr>
      <vt:lpstr>Struct Access</vt:lpstr>
      <vt:lpstr>Pointer Arithmetic: One Interface</vt:lpstr>
      <vt:lpstr>Pointer Arithmetic: One Interface</vt:lpstr>
      <vt:lpstr>Converting Malloc Pointers</vt:lpstr>
      <vt:lpstr>Converting Malloc Pointers</vt:lpstr>
      <vt:lpstr>Converting Malloc Pointers</vt:lpstr>
      <vt:lpstr>Coding Considerations and IO</vt:lpstr>
      <vt:lpstr>Coding and IO</vt:lpstr>
      <vt:lpstr>Coding and IO</vt:lpstr>
      <vt:lpstr>Coding and IO</vt:lpstr>
      <vt:lpstr>Multi-Access Pointers: Use Volatile!!!</vt:lpstr>
      <vt:lpstr>Multi-Access Pointers: Use Volatile!!!</vt:lpstr>
      <vt:lpstr>Multi-Access Pointers: Use Volatile!!!</vt:lpstr>
      <vt:lpstr>Multi-Access Pointers: the effect of volatile</vt:lpstr>
      <vt:lpstr>Multi-Access Pointers: the effect of volatile</vt:lpstr>
      <vt:lpstr>Multi-Access Pointers: Limited Visibility</vt:lpstr>
      <vt:lpstr>Multi-Access Pointers: Limited Visibility</vt:lpstr>
      <vt:lpstr>Multi-Access Pointers: Test bench Depth</vt:lpstr>
      <vt:lpstr>Multi-Access Pointers: Test bench Depth</vt:lpstr>
      <vt:lpstr>Streams</vt:lpstr>
      <vt:lpstr>Designing with Streams</vt:lpstr>
      <vt:lpstr>Designing with Streams</vt:lpstr>
      <vt:lpstr>Using Streams</vt:lpstr>
      <vt:lpstr>Using Streams</vt:lpstr>
      <vt:lpstr>Stream Example</vt:lpstr>
      <vt:lpstr>Stream Example</vt:lpstr>
      <vt:lpstr>Libraries Support -  FFT, FIR and Shift Registers</vt:lpstr>
      <vt:lpstr>FFT and FIR IP in HLS</vt:lpstr>
      <vt:lpstr>FFT and FIR IP in HLS</vt:lpstr>
      <vt:lpstr>FFT Function</vt:lpstr>
      <vt:lpstr>FFT Function</vt:lpstr>
      <vt:lpstr>FFT Static Configuration </vt:lpstr>
      <vt:lpstr>FFT Static Configuration </vt:lpstr>
      <vt:lpstr>FFT Configuration Parameters</vt:lpstr>
      <vt:lpstr>FFT Configuration Parameters</vt:lpstr>
      <vt:lpstr>FFT Configuration Defaults and Valid Values</vt:lpstr>
      <vt:lpstr>FFT Configuration Defaults and Valid Values</vt:lpstr>
      <vt:lpstr>FFT Function: Data</vt:lpstr>
      <vt:lpstr>FFT Function: Data</vt:lpstr>
      <vt:lpstr>FFT Function: Run Time Configuration</vt:lpstr>
      <vt:lpstr>FFT Function: Run Time Configuration</vt:lpstr>
      <vt:lpstr>FFT Function: Run Time Output Status</vt:lpstr>
      <vt:lpstr>FFT Function: Run Time Output Status</vt:lpstr>
      <vt:lpstr>FIR Function</vt:lpstr>
      <vt:lpstr>FIR Function</vt:lpstr>
      <vt:lpstr>FIR Static Configuration </vt:lpstr>
      <vt:lpstr>FIR Static Configuration </vt:lpstr>
      <vt:lpstr>FIR Configuration Parameters</vt:lpstr>
      <vt:lpstr>FIR Configuration Parameters</vt:lpstr>
      <vt:lpstr>FIR Configuration Defaults and Valid Values</vt:lpstr>
      <vt:lpstr>FIR Configuration Defaults and Valid Values</vt:lpstr>
      <vt:lpstr>FIR Function: Data</vt:lpstr>
      <vt:lpstr>FIR Function: Data</vt:lpstr>
      <vt:lpstr>FIR Function: Run Time Configuration</vt:lpstr>
      <vt:lpstr>FIR Function: Run Time Configuration</vt:lpstr>
      <vt:lpstr>Using the FFT and FIR IP</vt:lpstr>
      <vt:lpstr>Using the FFT and FIR IP</vt:lpstr>
      <vt:lpstr>Shift Registers</vt:lpstr>
      <vt:lpstr>Shift Registers</vt:lpstr>
      <vt:lpstr>AP_SHIFT_REG Class</vt:lpstr>
      <vt:lpstr>AP_SHIFT_REG Class</vt:lpstr>
      <vt:lpstr>Using ap_shift_reg class</vt:lpstr>
      <vt:lpstr>Using ap_shift_reg class</vt:lpstr>
      <vt:lpstr>Using ap_shift_reg class</vt:lpstr>
      <vt:lpstr>Using ap_shift_reg class</vt:lpstr>
      <vt:lpstr>Linear Algebra Library</vt:lpstr>
      <vt:lpstr>Libraries Support -  Vitis Vision</vt:lpstr>
      <vt:lpstr>Migrating HLS Video Library to Vitis vision</vt:lpstr>
      <vt:lpstr>AXI Video Interface Functions</vt:lpstr>
      <vt:lpstr>Video Libraries Supported in Vitis HLS</vt:lpstr>
      <vt:lpstr>Video Library Functions</vt:lpstr>
      <vt:lpstr>Video Library Supported Functions</vt:lpstr>
      <vt:lpstr>Video Library Supported Functions</vt:lpstr>
      <vt:lpstr>Using OpenCV in FPGA Designs</vt:lpstr>
      <vt:lpstr>Using OpenCV in FPGA Designs</vt:lpstr>
      <vt:lpstr>Partitioned OpenCV Application</vt:lpstr>
      <vt:lpstr>Partitioned OpenCV Application</vt:lpstr>
      <vt:lpstr>OpenCV Design Flow</vt:lpstr>
      <vt:lpstr>OpenCV Design Flow</vt:lpstr>
      <vt:lpstr>C Testbench: Interface Library Example</vt:lpstr>
      <vt:lpstr>Synthesizable C Function Example</vt:lpstr>
      <vt:lpstr>Summary</vt:lpstr>
      <vt:lpstr>Summary</vt:lpstr>
      <vt:lpstr>Summary</vt:lpstr>
      <vt:lpstr>Summary</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2022-03-14T17:52:39Z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a413d598-f1be-4df0-b170-66a66f988779</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