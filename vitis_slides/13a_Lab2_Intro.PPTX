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11"/>
  </p:notesMasterIdLst>
  <p:handoutMasterIdLst>
    <p:handoutMasterId r:id="rId12"/>
  </p:handoutMasterIdLst>
  <p:sldIdLst>
    <p:sldId id="1052" r:id="rId5"/>
    <p:sldId id="960" r:id="rId6"/>
    <p:sldId id="961" r:id="rId7"/>
    <p:sldId id="962" r:id="rId8"/>
    <p:sldId id="963" r:id="rId9"/>
    <p:sldId id="911" r:id="rId10"/>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8"/>
    <p:restoredTop sz="94694"/>
  </p:normalViewPr>
  <p:slideViewPr>
    <p:cSldViewPr snapToGrid="0">
      <p:cViewPr varScale="1">
        <p:scale>
          <a:sx n="81" d="100"/>
          <a:sy n="81" d="100"/>
        </p:scale>
        <p:origin x="307" y="5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3/14/2022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3/14/2022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lvl1pPr>
              <a:defRPr>
                <a:solidFill>
                  <a:schemeClr val="tx1"/>
                </a:solidFill>
              </a:defRPr>
            </a:lvl1p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1A8B06E9-672B-49AA-8789-D576D5680872}"/>
              </a:ext>
            </a:extLst>
          </p:cNvPr>
          <p:cNvSpPr>
            <a:spLocks noGrp="1"/>
          </p:cNvSpPr>
          <p:nvPr>
            <p:ph type="sldNum" sz="quarter" idx="4"/>
          </p:nvPr>
        </p:nvSpPr>
        <p:spPr>
          <a:xfrm>
            <a:off x="586646" y="6363709"/>
            <a:ext cx="975360" cy="365125"/>
          </a:xfrm>
          <a:prstGeom prst="rect">
            <a:avLst/>
          </a:prstGeom>
        </p:spPr>
        <p:txBody>
          <a:bodyPr vert="horz" lIns="91440" tIns="45720" rIns="91440" bIns="45720" rtlCol="0" anchor="b"/>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7" name="Slide Number Placeholder 4">
            <a:extLst>
              <a:ext uri="{FF2B5EF4-FFF2-40B4-BE49-F238E27FC236}">
                <a16:creationId xmlns:a16="http://schemas.microsoft.com/office/drawing/2014/main" id="{1E052772-3EFC-D34C-AA1A-1135DE3C5541}"/>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5B8CD8B4-2837-BA4D-9DA4-67F8481F164B}"/>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Lab2 Intro 13a-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075300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5" name="Slide Number Placeholder 4"/>
          <p:cNvSpPr>
            <a:spLocks noGrp="1"/>
          </p:cNvSpPr>
          <p:nvPr>
            <p:ph type="sldNum" sz="quarter" idx="4"/>
          </p:nvPr>
        </p:nvSpPr>
        <p:spPr>
          <a:xfrm>
            <a:off x="579121" y="6325606"/>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c" descr=" ">
            <a:extLst>
              <a:ext uri="{FF2B5EF4-FFF2-40B4-BE49-F238E27FC236}">
                <a16:creationId xmlns:a16="http://schemas.microsoft.com/office/drawing/2014/main" id="{2512EF35-E7CE-4F2F-A701-CEDB43450107}"/>
              </a:ext>
            </a:extLst>
          </p:cNvPr>
          <p:cNvSpPr txBox="1"/>
          <p:nvPr userDrawn="1"/>
        </p:nvSpPr>
        <p:spPr>
          <a:xfrm>
            <a:off x="0" y="6537960"/>
            <a:ext cx="12192000" cy="223138"/>
          </a:xfrm>
          <a:prstGeom prst="rect">
            <a:avLst/>
          </a:prstGeom>
          <a:noFill/>
        </p:spPr>
        <p:txBody>
          <a:bodyPr vert="horz" rtlCol="0">
            <a:spAutoFit/>
          </a:bodyPr>
          <a:lstStyle/>
          <a:p>
            <a:pPr algn="ctr"/>
            <a:r>
              <a:rPr lang="en-US" sz="850" b="0" i="0" u="none" baseline="0">
                <a:solidFill>
                  <a:srgbClr val="000000"/>
                </a:solidFill>
                <a:latin typeface="Microsoft Sans Serif" panose="020B0604020202020204" pitchFamily="34" charset="0"/>
              </a:rPr>
              <a:t> </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2"/>
          <a:stretch>
            <a:fillRect/>
          </a:stretch>
        </p:blipFill>
        <p:spPr>
          <a:xfrm>
            <a:off x="11028823" y="6279370"/>
            <a:ext cx="576531" cy="357077"/>
          </a:xfrm>
          <a:prstGeom prst="rect">
            <a:avLst/>
          </a:prstGeom>
        </p:spPr>
      </p:pic>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Lab2 Intro</a:t>
            </a:r>
            <a:br>
              <a:rPr lang="en-US" altLang="zh-CN" dirty="0">
                <a:ea typeface="SimSun" pitchFamily="2" charset="-122"/>
              </a:rPr>
            </a:br>
            <a:r>
              <a:rPr lang="en-US" altLang="zh-CN" dirty="0">
                <a:ea typeface="SimSun" pitchFamily="2" charset="-122"/>
              </a:rPr>
              <a:t>Improving Performance</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r>
              <a:rPr lang="en-US" dirty="0"/>
              <a:t>XUP</a:t>
            </a:r>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lab, you will be able to:</a:t>
            </a:r>
          </a:p>
          <a:p>
            <a:pPr>
              <a:lnSpc>
                <a:spcPts val="1000"/>
              </a:lnSpc>
              <a:buNone/>
            </a:pPr>
            <a:endParaRPr lang="en-US" altLang="zh-CN" dirty="0">
              <a:solidFill>
                <a:schemeClr val="tx1"/>
              </a:solidFill>
            </a:endParaRPr>
          </a:p>
          <a:p>
            <a:pPr lvl="1"/>
            <a:r>
              <a:rPr lang="en-US" dirty="0"/>
              <a:t>Add directives to your design</a:t>
            </a:r>
          </a:p>
          <a:p>
            <a:pPr lvl="1"/>
            <a:r>
              <a:rPr lang="en-US" dirty="0"/>
              <a:t>Observe the effect of PIPELINE-</a:t>
            </a:r>
            <a:r>
              <a:rPr lang="en-US" dirty="0" err="1"/>
              <a:t>ing</a:t>
            </a:r>
            <a:r>
              <a:rPr lang="en-US" dirty="0"/>
              <a:t> functions</a:t>
            </a:r>
          </a:p>
          <a:p>
            <a:pPr lvl="1"/>
            <a:r>
              <a:rPr lang="en-US" dirty="0"/>
              <a:t>Improve the performance using various directives</a:t>
            </a:r>
          </a:p>
        </p:txBody>
      </p:sp>
      <p:sp>
        <p:nvSpPr>
          <p:cNvPr id="3" name="Slide Number Placeholder 2">
            <a:extLst>
              <a:ext uri="{FF2B5EF4-FFF2-40B4-BE49-F238E27FC236}">
                <a16:creationId xmlns:a16="http://schemas.microsoft.com/office/drawing/2014/main" id="{D4D23026-85F4-45F8-BA1D-BA2C787AF20A}"/>
              </a:ext>
            </a:extLst>
          </p:cNvPr>
          <p:cNvSpPr>
            <a:spLocks noGrp="1"/>
          </p:cNvSpPr>
          <p:nvPr>
            <p:ph type="sldNum" sz="quarter" idx="10"/>
          </p:nvPr>
        </p:nvSpPr>
        <p:spPr/>
        <p:txBody>
          <a:bodyPr/>
          <a:lstStyle/>
          <a:p>
            <a:pPr>
              <a:defRPr/>
            </a:pPr>
            <a:r>
              <a:rPr lang="en-US"/>
              <a:t>Lab2 Intro 13a- </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Design</a:t>
            </a:r>
          </a:p>
        </p:txBody>
      </p:sp>
      <p:sp>
        <p:nvSpPr>
          <p:cNvPr id="3" name="Content Placeholder 2"/>
          <p:cNvSpPr>
            <a:spLocks noGrp="1"/>
          </p:cNvSpPr>
          <p:nvPr>
            <p:ph idx="1"/>
          </p:nvPr>
        </p:nvSpPr>
        <p:spPr/>
        <p:txBody>
          <a:bodyPr>
            <a:normAutofit/>
          </a:bodyPr>
          <a:lstStyle/>
          <a:p>
            <a:r>
              <a:rPr lang="en-US" dirty="0"/>
              <a:t>The design consists of YUV filter typically used in video processing.   The design consists of three functions – rgb2yuv, </a:t>
            </a:r>
            <a:r>
              <a:rPr lang="en-US" dirty="0" err="1"/>
              <a:t>yuv_scale</a:t>
            </a:r>
            <a:r>
              <a:rPr lang="en-US" dirty="0"/>
              <a:t>, and yuv2rgb  </a:t>
            </a:r>
          </a:p>
          <a:p>
            <a:pPr lvl="1"/>
            <a:r>
              <a:rPr lang="en-US" dirty="0"/>
              <a:t>Each of these functions iterates over the </a:t>
            </a:r>
            <a:br>
              <a:rPr lang="en-US" dirty="0"/>
            </a:br>
            <a:r>
              <a:rPr lang="en-US" dirty="0"/>
              <a:t>entire source image, requiring a single </a:t>
            </a:r>
            <a:br>
              <a:rPr lang="en-US" dirty="0"/>
            </a:br>
            <a:r>
              <a:rPr lang="en-US" dirty="0"/>
              <a:t>source pixel to produce a pixel in the result </a:t>
            </a:r>
            <a:br>
              <a:rPr lang="en-US" dirty="0"/>
            </a:br>
            <a:r>
              <a:rPr lang="en-US" dirty="0"/>
              <a:t>image </a:t>
            </a:r>
          </a:p>
          <a:p>
            <a:pPr lvl="1"/>
            <a:r>
              <a:rPr lang="en-US" dirty="0"/>
              <a:t>The scale function simply applies individual </a:t>
            </a:r>
            <a:br>
              <a:rPr lang="en-US" dirty="0"/>
            </a:br>
            <a:r>
              <a:rPr lang="en-US" dirty="0"/>
              <a:t>scale factors, supplied through top-level </a:t>
            </a:r>
            <a:br>
              <a:rPr lang="en-US" dirty="0"/>
            </a:br>
            <a:r>
              <a:rPr lang="en-US" dirty="0"/>
              <a:t>arguments</a:t>
            </a:r>
          </a:p>
          <a:p>
            <a:endParaRPr lang="en-US" dirty="0"/>
          </a:p>
        </p:txBody>
      </p:sp>
      <p:pic>
        <p:nvPicPr>
          <p:cNvPr id="7" name="Picture 2"/>
          <p:cNvPicPr>
            <a:picLocks noChangeAspect="1" noChangeArrowheads="1"/>
          </p:cNvPicPr>
          <p:nvPr/>
        </p:nvPicPr>
        <p:blipFill>
          <a:blip r:embed="rId2"/>
          <a:srcRect/>
          <a:stretch>
            <a:fillRect/>
          </a:stretch>
        </p:blipFill>
        <p:spPr bwMode="auto">
          <a:xfrm>
            <a:off x="5966461" y="2200786"/>
            <a:ext cx="5894417" cy="3917310"/>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62F2EF60-B1E1-4A01-9A78-A55431A5B7ED}"/>
              </a:ext>
            </a:extLst>
          </p:cNvPr>
          <p:cNvSpPr>
            <a:spLocks noGrp="1"/>
          </p:cNvSpPr>
          <p:nvPr>
            <p:ph type="sldNum" sz="quarter" idx="10"/>
          </p:nvPr>
        </p:nvSpPr>
        <p:spPr/>
        <p:txBody>
          <a:bodyPr/>
          <a:lstStyle/>
          <a:p>
            <a:pPr>
              <a:defRPr/>
            </a:pPr>
            <a:r>
              <a:rPr lang="en-US"/>
              <a:t>Lab2 Intro 13a- </a:t>
            </a:r>
            <a:fld id="{060BD193-E118-4B16-863C-C8C12C675E3E}"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a:t>
            </a:r>
          </a:p>
        </p:txBody>
      </p:sp>
      <p:sp>
        <p:nvSpPr>
          <p:cNvPr id="24" name="Content Placeholder 23"/>
          <p:cNvSpPr>
            <a:spLocks noGrp="1"/>
          </p:cNvSpPr>
          <p:nvPr>
            <p:ph idx="1"/>
          </p:nvPr>
        </p:nvSpPr>
        <p:spPr/>
        <p:txBody>
          <a:bodyPr>
            <a:normAutofit/>
          </a:bodyPr>
          <a:lstStyle/>
          <a:p>
            <a:r>
              <a:rPr lang="en-US" dirty="0"/>
              <a:t>Create a Vitis HLS project by executing script from </a:t>
            </a:r>
            <a:r>
              <a:rPr lang="en-US"/>
              <a:t>the terminal</a:t>
            </a:r>
            <a:endParaRPr lang="en-US" dirty="0"/>
          </a:p>
          <a:p>
            <a:r>
              <a:rPr lang="en-US" dirty="0"/>
              <a:t>Open the created project in Vitis HLS GUI and analyze </a:t>
            </a:r>
          </a:p>
          <a:p>
            <a:r>
              <a:rPr lang="en-US" dirty="0"/>
              <a:t>Apply TRIPCOUNT directive using PRAGMA</a:t>
            </a:r>
          </a:p>
          <a:p>
            <a:r>
              <a:rPr lang="en-US" dirty="0"/>
              <a:t>Apply PIPELINE directive, generate solution, and analyze output</a:t>
            </a:r>
          </a:p>
          <a:p>
            <a:r>
              <a:rPr lang="en-US" dirty="0"/>
              <a:t>Apply DATAFLOW directive to improve performance</a:t>
            </a:r>
          </a:p>
          <a:p>
            <a:r>
              <a:rPr lang="en-US" dirty="0"/>
              <a:t>Export and Implement the design</a:t>
            </a:r>
          </a:p>
          <a:p>
            <a:pPr marL="0" indent="0">
              <a:buNone/>
            </a:pPr>
            <a:endParaRPr lang="en-US" dirty="0"/>
          </a:p>
        </p:txBody>
      </p:sp>
      <p:sp>
        <p:nvSpPr>
          <p:cNvPr id="3" name="Slide Number Placeholder 2">
            <a:extLst>
              <a:ext uri="{FF2B5EF4-FFF2-40B4-BE49-F238E27FC236}">
                <a16:creationId xmlns:a16="http://schemas.microsoft.com/office/drawing/2014/main" id="{A0E088E5-5AE2-47B3-B26F-4E252971D797}"/>
              </a:ext>
            </a:extLst>
          </p:cNvPr>
          <p:cNvSpPr>
            <a:spLocks noGrp="1"/>
          </p:cNvSpPr>
          <p:nvPr>
            <p:ph type="sldNum" sz="quarter" idx="10"/>
          </p:nvPr>
        </p:nvSpPr>
        <p:spPr/>
        <p:txBody>
          <a:bodyPr/>
          <a:lstStyle/>
          <a:p>
            <a:pPr>
              <a:defRPr/>
            </a:pPr>
            <a:r>
              <a:rPr lang="en-US"/>
              <a:t>Lab2 Intro 13a- </a:t>
            </a:r>
            <a:fld id="{060BD193-E118-4B16-863C-C8C12C675E3E}"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dirty="0"/>
              <a:t>In this lab you learned that even though this design could not be pipelined at the top-level, a strategy of pipelining the individual loops and then using dataflow optimization to make the functions operate in parallel was able to achieve the same high throughput, processing one pixel per clock. When DATAFLOW directive is applied, the default memory buffers (of ping-pong type) are automatically inserted between the functions. Using the fact that the design used only sequential (streaming) data accesses allowed the costly memory buffers associated with dataflow optimization to be replaced with simple 2 element FIFOs using the Dataflow command configuration</a:t>
            </a:r>
          </a:p>
        </p:txBody>
      </p:sp>
      <p:sp>
        <p:nvSpPr>
          <p:cNvPr id="4" name="Slide Number Placeholder 3">
            <a:extLst>
              <a:ext uri="{FF2B5EF4-FFF2-40B4-BE49-F238E27FC236}">
                <a16:creationId xmlns:a16="http://schemas.microsoft.com/office/drawing/2014/main" id="{31CDC360-BBB4-4426-94BF-A1354C313BBE}"/>
              </a:ext>
            </a:extLst>
          </p:cNvPr>
          <p:cNvSpPr>
            <a:spLocks noGrp="1"/>
          </p:cNvSpPr>
          <p:nvPr>
            <p:ph type="sldNum" sz="quarter" idx="10"/>
          </p:nvPr>
        </p:nvSpPr>
        <p:spPr/>
        <p:txBody>
          <a:bodyPr/>
          <a:lstStyle/>
          <a:p>
            <a:pPr>
              <a:defRPr/>
            </a:pPr>
            <a:r>
              <a:rPr lang="en-US"/>
              <a:t>Lab2 Intro 13a- </a:t>
            </a:r>
            <a:fld id="{060BD193-E118-4B16-863C-C8C12C675E3E}"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54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3.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281</Words>
  <Application>Microsoft Office PowerPoint</Application>
  <PresentationFormat>宽屏</PresentationFormat>
  <Paragraphs>25</Paragraphs>
  <Slides>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Arial</vt:lpstr>
      <vt:lpstr>Microsoft Sans Serif</vt:lpstr>
      <vt:lpstr>Webdings</vt:lpstr>
      <vt:lpstr>Wingdings 3</vt:lpstr>
      <vt:lpstr>Xilinx-5</vt:lpstr>
      <vt:lpstr>Lab2 Intro Improving Performance</vt:lpstr>
      <vt:lpstr>Objectives</vt:lpstr>
      <vt:lpstr>The Design</vt:lpstr>
      <vt:lpstr>Procedure</vt:lpstr>
      <vt:lpstr>Summary</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
  <dc:description/>
  <cp:revision>2</cp:revision>
  <dcterms:created xsi:type="dcterms:W3CDTF">2019-10-16T21:50:31Z</dcterms:created>
  <dcterms:modified xsi:type="dcterms:W3CDTF">2022-03-14T10:25:05Z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No Markings</vt:lpwstr>
  </property>
  <property fmtid="{D5CDD505-2E9C-101B-9397-08002B2CF9AE}" pid="3" name="IDENTIFIER">
    <vt:lpwstr>12B622CE-7949-4BC8-8A85-7A5041597B9E</vt:lpwstr>
  </property>
  <property fmtid="{D5CDD505-2E9C-101B-9397-08002B2CF9AE}" pid="4" name="TitusGUID">
    <vt:lpwstr>3ccd02ed-9359-48e8-b527-ff05ab9cddfa</vt:lpwstr>
  </property>
  <property fmtid="{D5CDD505-2E9C-101B-9397-08002B2CF9AE}" pid="5" name="ContentTypeId">
    <vt:lpwstr>0x01010058A00A9B6178BD498632E37D0AD5CC8E</vt:lpwstr>
  </property>
</Properties>
</file>